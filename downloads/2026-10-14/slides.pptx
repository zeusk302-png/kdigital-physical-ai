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15bbcd34ba4330" /><Relationship Type="http://schemas.openxmlformats.org/officeDocument/2006/relationships/extended-properties" Target="/docProps/app.xml" Id="Ra4ce788ec6304848" /><Relationship Type="http://schemas.openxmlformats.org/officeDocument/2006/relationships/officeDocument" Target="/ppt/presentation.xml" Id="R8bbb5df7242745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d13ac1f2b24c00"/>
  </p:sldMasterIdLst>
  <p:notesMasterIdLst>
    <p:notesMasterId xmlns:r="http://schemas.openxmlformats.org/officeDocument/2006/relationships" r:id="R6361327037644bc1"/>
  </p:notesMasterIdLst>
  <p:sldIdLst>
    <p:sldId xmlns:r="http://schemas.openxmlformats.org/officeDocument/2006/relationships" id="256" r:id="Ra444554877e74e2a"/>
    <p:sldId xmlns:r="http://schemas.openxmlformats.org/officeDocument/2006/relationships" id="257" r:id="R99b03e96df154528"/>
    <p:sldId xmlns:r="http://schemas.openxmlformats.org/officeDocument/2006/relationships" id="258" r:id="Re1fb5bb8f56f49a2"/>
    <p:sldId xmlns:r="http://schemas.openxmlformats.org/officeDocument/2006/relationships" id="259" r:id="R91a751bbfa6440f1"/>
    <p:sldId xmlns:r="http://schemas.openxmlformats.org/officeDocument/2006/relationships" id="260" r:id="R94a571d6145c4690"/>
    <p:sldId xmlns:r="http://schemas.openxmlformats.org/officeDocument/2006/relationships" id="261" r:id="R02975b3c50cb4b86"/>
    <p:sldId xmlns:r="http://schemas.openxmlformats.org/officeDocument/2006/relationships" id="262" r:id="R3ece23c069d649e0"/>
    <p:sldId xmlns:r="http://schemas.openxmlformats.org/officeDocument/2006/relationships" id="263" r:id="R142119fe360c4eb1"/>
    <p:sldId xmlns:r="http://schemas.openxmlformats.org/officeDocument/2006/relationships" id="264" r:id="R31497de457054747"/>
    <p:sldId xmlns:r="http://schemas.openxmlformats.org/officeDocument/2006/relationships" id="265" r:id="R7523ecca0d644ac2"/>
    <p:sldId xmlns:r="http://schemas.openxmlformats.org/officeDocument/2006/relationships" id="266" r:id="Rb6bf9aeed97b4656"/>
    <p:sldId xmlns:r="http://schemas.openxmlformats.org/officeDocument/2006/relationships" id="267" r:id="Ref22cef004644e55"/>
    <p:sldId xmlns:r="http://schemas.openxmlformats.org/officeDocument/2006/relationships" id="268" r:id="R9aa5db740e3b472d"/>
    <p:sldId xmlns:r="http://schemas.openxmlformats.org/officeDocument/2006/relationships" id="269" r:id="R525c8763c1ff4ea3"/>
    <p:sldId xmlns:r="http://schemas.openxmlformats.org/officeDocument/2006/relationships" id="270" r:id="R7231681910584732"/>
    <p:sldId xmlns:r="http://schemas.openxmlformats.org/officeDocument/2006/relationships" id="271" r:id="Rd05f45ccb0ca462a"/>
    <p:sldId xmlns:r="http://schemas.openxmlformats.org/officeDocument/2006/relationships" id="272" r:id="R83fba9cceee3404a"/>
    <p:sldId xmlns:r="http://schemas.openxmlformats.org/officeDocument/2006/relationships" id="273" r:id="R163d338a2a1b4f8d"/>
    <p:sldId xmlns:r="http://schemas.openxmlformats.org/officeDocument/2006/relationships" id="274" r:id="Rf5657cc2b03b465c"/>
    <p:sldId xmlns:r="http://schemas.openxmlformats.org/officeDocument/2006/relationships" id="275" r:id="Rb0e6162fa1e64733"/>
    <p:sldId xmlns:r="http://schemas.openxmlformats.org/officeDocument/2006/relationships" id="276" r:id="Rcb3fdb2ae78a4974"/>
    <p:sldId xmlns:r="http://schemas.openxmlformats.org/officeDocument/2006/relationships" id="277" r:id="Rad69cbec23b6477d"/>
    <p:sldId xmlns:r="http://schemas.openxmlformats.org/officeDocument/2006/relationships" id="278" r:id="R45083e8838f64b6b"/>
    <p:sldId xmlns:r="http://schemas.openxmlformats.org/officeDocument/2006/relationships" id="279" r:id="R449c19200171411c"/>
    <p:sldId xmlns:r="http://schemas.openxmlformats.org/officeDocument/2006/relationships" id="280" r:id="R7b507e45109f4898"/>
    <p:sldId xmlns:r="http://schemas.openxmlformats.org/officeDocument/2006/relationships" id="281" r:id="R2fdd54c5879c49da"/>
    <p:sldId xmlns:r="http://schemas.openxmlformats.org/officeDocument/2006/relationships" id="282" r:id="R129c7532ec564020"/>
    <p:sldId xmlns:r="http://schemas.openxmlformats.org/officeDocument/2006/relationships" id="283" r:id="R63495ca0cda74f7b"/>
    <p:sldId xmlns:r="http://schemas.openxmlformats.org/officeDocument/2006/relationships" id="284" r:id="Rf71c07e91fcc488f"/>
    <p:sldId xmlns:r="http://schemas.openxmlformats.org/officeDocument/2006/relationships" id="285" r:id="R79531cf63fe84010"/>
    <p:sldId xmlns:r="http://schemas.openxmlformats.org/officeDocument/2006/relationships" id="286" r:id="R0d44bb5337424bcc"/>
    <p:sldId xmlns:r="http://schemas.openxmlformats.org/officeDocument/2006/relationships" id="287" r:id="Rb28fb9901e9a4094"/>
    <p:sldId xmlns:r="http://schemas.openxmlformats.org/officeDocument/2006/relationships" id="288" r:id="Rc38fe79a197a443f"/>
    <p:sldId xmlns:r="http://schemas.openxmlformats.org/officeDocument/2006/relationships" id="289" r:id="R918ae21eafbe437b"/>
    <p:sldId xmlns:r="http://schemas.openxmlformats.org/officeDocument/2006/relationships" id="290" r:id="Rbc5c082d7cc64e20"/>
    <p:sldId xmlns:r="http://schemas.openxmlformats.org/officeDocument/2006/relationships" id="291" r:id="R2b92635ab6ca4e88"/>
    <p:sldId xmlns:r="http://schemas.openxmlformats.org/officeDocument/2006/relationships" id="292" r:id="R8a379c507d414b1a"/>
    <p:sldId xmlns:r="http://schemas.openxmlformats.org/officeDocument/2006/relationships" id="293" r:id="R4855641c5121445a"/>
    <p:sldId xmlns:r="http://schemas.openxmlformats.org/officeDocument/2006/relationships" id="294" r:id="Rd24adeff78604463"/>
    <p:sldId xmlns:r="http://schemas.openxmlformats.org/officeDocument/2006/relationships" id="295" r:id="Rff05804a03e340b8"/>
    <p:sldId xmlns:r="http://schemas.openxmlformats.org/officeDocument/2006/relationships" id="296" r:id="R2af7285d7dcd4dca"/>
    <p:sldId xmlns:r="http://schemas.openxmlformats.org/officeDocument/2006/relationships" id="297" r:id="R3c44dd0c008b4838"/>
    <p:sldId xmlns:r="http://schemas.openxmlformats.org/officeDocument/2006/relationships" id="298" r:id="R7f40b7ef65dd4d7f"/>
    <p:sldId xmlns:r="http://schemas.openxmlformats.org/officeDocument/2006/relationships" id="299" r:id="R5084dac6eea241cf"/>
    <p:sldId xmlns:r="http://schemas.openxmlformats.org/officeDocument/2006/relationships" id="300" r:id="R6957be938c424ab2"/>
    <p:sldId xmlns:r="http://schemas.openxmlformats.org/officeDocument/2006/relationships" id="301" r:id="R9b8a31f3b85e4c73"/>
    <p:sldId xmlns:r="http://schemas.openxmlformats.org/officeDocument/2006/relationships" id="302" r:id="R9cef3f3a833449a8"/>
    <p:sldId xmlns:r="http://schemas.openxmlformats.org/officeDocument/2006/relationships" id="303" r:id="Rcac9e2e1f7f54890"/>
    <p:sldId xmlns:r="http://schemas.openxmlformats.org/officeDocument/2006/relationships" id="304" r:id="Rb253c774d9ad43de"/>
    <p:sldId xmlns:r="http://schemas.openxmlformats.org/officeDocument/2006/relationships" id="305" r:id="R3833fb6af7164237"/>
    <p:sldId xmlns:r="http://schemas.openxmlformats.org/officeDocument/2006/relationships" id="306" r:id="R93ccca4513a4406f"/>
    <p:sldId xmlns:r="http://schemas.openxmlformats.org/officeDocument/2006/relationships" id="307" r:id="R9c04a9dbebf3459f"/>
    <p:sldId xmlns:r="http://schemas.openxmlformats.org/officeDocument/2006/relationships" id="308" r:id="R112328df753d4be2"/>
    <p:sldId xmlns:r="http://schemas.openxmlformats.org/officeDocument/2006/relationships" id="309" r:id="R7eb1ff740baf441c"/>
    <p:sldId xmlns:r="http://schemas.openxmlformats.org/officeDocument/2006/relationships" id="310" r:id="Rc8f0d6df7c494719"/>
    <p:sldId xmlns:r="http://schemas.openxmlformats.org/officeDocument/2006/relationships" id="311" r:id="Rbffaac8ca3f7459d"/>
    <p:sldId xmlns:r="http://schemas.openxmlformats.org/officeDocument/2006/relationships" id="312" r:id="Ra4b03d21296e4476"/>
    <p:sldId xmlns:r="http://schemas.openxmlformats.org/officeDocument/2006/relationships" id="313" r:id="Rdfdcb4e043664800"/>
    <p:sldId xmlns:r="http://schemas.openxmlformats.org/officeDocument/2006/relationships" id="314" r:id="R48dd0dee85a94775"/>
    <p:sldId xmlns:r="http://schemas.openxmlformats.org/officeDocument/2006/relationships" id="315" r:id="Rbd79daca13e84ec0"/>
    <p:sldId xmlns:r="http://schemas.openxmlformats.org/officeDocument/2006/relationships" id="316" r:id="R6d10c166c736493d"/>
    <p:sldId xmlns:r="http://schemas.openxmlformats.org/officeDocument/2006/relationships" id="317" r:id="Ra328b05063dc40e8"/>
    <p:sldId xmlns:r="http://schemas.openxmlformats.org/officeDocument/2006/relationships" id="318" r:id="R4b6247fdf6124a29"/>
    <p:sldId xmlns:r="http://schemas.openxmlformats.org/officeDocument/2006/relationships" id="319" r:id="R2a78e414f25f42f0"/>
    <p:sldId xmlns:r="http://schemas.openxmlformats.org/officeDocument/2006/relationships" id="320" r:id="Re0afe9572fb44918"/>
    <p:sldId xmlns:r="http://schemas.openxmlformats.org/officeDocument/2006/relationships" id="321" r:id="Rae6b3239b227469b"/>
    <p:sldId xmlns:r="http://schemas.openxmlformats.org/officeDocument/2006/relationships" id="322" r:id="Rf4593c60443246fb"/>
    <p:sldId xmlns:r="http://schemas.openxmlformats.org/officeDocument/2006/relationships" id="323" r:id="R10e908ac5a06498d"/>
    <p:sldId xmlns:r="http://schemas.openxmlformats.org/officeDocument/2006/relationships" id="324" r:id="Rd2e28269646b4d06"/>
    <p:sldId xmlns:r="http://schemas.openxmlformats.org/officeDocument/2006/relationships" id="325" r:id="Rc6b7cd0e18954640"/>
    <p:sldId xmlns:r="http://schemas.openxmlformats.org/officeDocument/2006/relationships" id="326" r:id="R0504de7d4abf47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5d3348e7d64e8a" /><Relationship Type="http://schemas.openxmlformats.org/officeDocument/2006/relationships/slideMaster" Target="/ppt/slideMasters/slideMaster1.xml" Id="Rdad13ac1f2b24c00" /><Relationship Type="http://schemas.openxmlformats.org/officeDocument/2006/relationships/notesMaster" Target="/ppt/notesMasters/notesMaster1.xml" Id="R6361327037644bc1" /><Relationship Type="http://schemas.openxmlformats.org/officeDocument/2006/relationships/presProps" Target="/ppt/presProps.xml" Id="R7c22400dae344d9b" /><Relationship Type="http://schemas.openxmlformats.org/officeDocument/2006/relationships/tableStyles" Target="/ppt/tableStyles.xml" Id="R818f68bacdf14942" /><Relationship Type="http://schemas.openxmlformats.org/officeDocument/2006/relationships/slide" Target="/ppt/slides/slide1.xml" Id="Ra444554877e74e2a" /><Relationship Type="http://schemas.openxmlformats.org/officeDocument/2006/relationships/slide" Target="/ppt/slides/slide2.xml" Id="R99b03e96df154528" /><Relationship Type="http://schemas.openxmlformats.org/officeDocument/2006/relationships/slide" Target="/ppt/slides/slide3.xml" Id="Re1fb5bb8f56f49a2" /><Relationship Type="http://schemas.openxmlformats.org/officeDocument/2006/relationships/slide" Target="/ppt/slides/slide4.xml" Id="R91a751bbfa6440f1" /><Relationship Type="http://schemas.openxmlformats.org/officeDocument/2006/relationships/slide" Target="/ppt/slides/slide5.xml" Id="R94a571d6145c4690" /><Relationship Type="http://schemas.openxmlformats.org/officeDocument/2006/relationships/slide" Target="/ppt/slides/slide6.xml" Id="R02975b3c50cb4b86" /><Relationship Type="http://schemas.openxmlformats.org/officeDocument/2006/relationships/slide" Target="/ppt/slides/slide7.xml" Id="R3ece23c069d649e0" /><Relationship Type="http://schemas.openxmlformats.org/officeDocument/2006/relationships/slide" Target="/ppt/slides/slide8.xml" Id="R142119fe360c4eb1" /><Relationship Type="http://schemas.openxmlformats.org/officeDocument/2006/relationships/slide" Target="/ppt/slides/slide9.xml" Id="R31497de457054747" /><Relationship Type="http://schemas.openxmlformats.org/officeDocument/2006/relationships/slide" Target="/ppt/slides/slide10.xml" Id="R7523ecca0d644ac2" /><Relationship Type="http://schemas.openxmlformats.org/officeDocument/2006/relationships/slide" Target="/ppt/slides/slide11.xml" Id="Rb6bf9aeed97b4656" /><Relationship Type="http://schemas.openxmlformats.org/officeDocument/2006/relationships/slide" Target="/ppt/slides/slide12.xml" Id="Ref22cef004644e55" /><Relationship Type="http://schemas.openxmlformats.org/officeDocument/2006/relationships/slide" Target="/ppt/slides/slide13.xml" Id="R9aa5db740e3b472d" /><Relationship Type="http://schemas.openxmlformats.org/officeDocument/2006/relationships/slide" Target="/ppt/slides/slide14.xml" Id="R525c8763c1ff4ea3" /><Relationship Type="http://schemas.openxmlformats.org/officeDocument/2006/relationships/slide" Target="/ppt/slides/slide15.xml" Id="R7231681910584732" /><Relationship Type="http://schemas.openxmlformats.org/officeDocument/2006/relationships/slide" Target="/ppt/slides/slide16.xml" Id="Rd05f45ccb0ca462a" /><Relationship Type="http://schemas.openxmlformats.org/officeDocument/2006/relationships/slide" Target="/ppt/slides/slide17.xml" Id="R83fba9cceee3404a" /><Relationship Type="http://schemas.openxmlformats.org/officeDocument/2006/relationships/slide" Target="/ppt/slides/slide18.xml" Id="R163d338a2a1b4f8d" /><Relationship Type="http://schemas.openxmlformats.org/officeDocument/2006/relationships/slide" Target="/ppt/slides/slide19.xml" Id="Rf5657cc2b03b465c" /><Relationship Type="http://schemas.openxmlformats.org/officeDocument/2006/relationships/slide" Target="/ppt/slides/slide20.xml" Id="Rb0e6162fa1e64733" /><Relationship Type="http://schemas.openxmlformats.org/officeDocument/2006/relationships/slide" Target="/ppt/slides/slide21.xml" Id="Rcb3fdb2ae78a4974" /><Relationship Type="http://schemas.openxmlformats.org/officeDocument/2006/relationships/slide" Target="/ppt/slides/slide22.xml" Id="Rad69cbec23b6477d" /><Relationship Type="http://schemas.openxmlformats.org/officeDocument/2006/relationships/slide" Target="/ppt/slides/slide23.xml" Id="R45083e8838f64b6b" /><Relationship Type="http://schemas.openxmlformats.org/officeDocument/2006/relationships/slide" Target="/ppt/slides/slide24.xml" Id="R449c19200171411c" /><Relationship Type="http://schemas.openxmlformats.org/officeDocument/2006/relationships/slide" Target="/ppt/slides/slide25.xml" Id="R7b507e45109f4898" /><Relationship Type="http://schemas.openxmlformats.org/officeDocument/2006/relationships/slide" Target="/ppt/slides/slide26.xml" Id="R2fdd54c5879c49da" /><Relationship Type="http://schemas.openxmlformats.org/officeDocument/2006/relationships/slide" Target="/ppt/slides/slide27.xml" Id="R129c7532ec564020" /><Relationship Type="http://schemas.openxmlformats.org/officeDocument/2006/relationships/slide" Target="/ppt/slides/slide28.xml" Id="R63495ca0cda74f7b" /><Relationship Type="http://schemas.openxmlformats.org/officeDocument/2006/relationships/slide" Target="/ppt/slides/slide29.xml" Id="Rf71c07e91fcc488f" /><Relationship Type="http://schemas.openxmlformats.org/officeDocument/2006/relationships/slide" Target="/ppt/slides/slide30.xml" Id="R79531cf63fe84010" /><Relationship Type="http://schemas.openxmlformats.org/officeDocument/2006/relationships/slide" Target="/ppt/slides/slide31.xml" Id="R0d44bb5337424bcc" /><Relationship Type="http://schemas.openxmlformats.org/officeDocument/2006/relationships/slide" Target="/ppt/slides/slide32.xml" Id="Rb28fb9901e9a4094" /><Relationship Type="http://schemas.openxmlformats.org/officeDocument/2006/relationships/slide" Target="/ppt/slides/slide33.xml" Id="Rc38fe79a197a443f" /><Relationship Type="http://schemas.openxmlformats.org/officeDocument/2006/relationships/slide" Target="/ppt/slides/slide34.xml" Id="R918ae21eafbe437b" /><Relationship Type="http://schemas.openxmlformats.org/officeDocument/2006/relationships/slide" Target="/ppt/slides/slide35.xml" Id="Rbc5c082d7cc64e20" /><Relationship Type="http://schemas.openxmlformats.org/officeDocument/2006/relationships/slide" Target="/ppt/slides/slide36.xml" Id="R2b92635ab6ca4e88" /><Relationship Type="http://schemas.openxmlformats.org/officeDocument/2006/relationships/slide" Target="/ppt/slides/slide37.xml" Id="R8a379c507d414b1a" /><Relationship Type="http://schemas.openxmlformats.org/officeDocument/2006/relationships/slide" Target="/ppt/slides/slide38.xml" Id="R4855641c5121445a" /><Relationship Type="http://schemas.openxmlformats.org/officeDocument/2006/relationships/slide" Target="/ppt/slides/slide39.xml" Id="Rd24adeff78604463" /><Relationship Type="http://schemas.openxmlformats.org/officeDocument/2006/relationships/slide" Target="/ppt/slides/slide40.xml" Id="Rff05804a03e340b8" /><Relationship Type="http://schemas.openxmlformats.org/officeDocument/2006/relationships/slide" Target="/ppt/slides/slide41.xml" Id="R2af7285d7dcd4dca" /><Relationship Type="http://schemas.openxmlformats.org/officeDocument/2006/relationships/slide" Target="/ppt/slides/slide42.xml" Id="R3c44dd0c008b4838" /><Relationship Type="http://schemas.openxmlformats.org/officeDocument/2006/relationships/slide" Target="/ppt/slides/slide43.xml" Id="R7f40b7ef65dd4d7f" /><Relationship Type="http://schemas.openxmlformats.org/officeDocument/2006/relationships/slide" Target="/ppt/slides/slide44.xml" Id="R5084dac6eea241cf" /><Relationship Type="http://schemas.openxmlformats.org/officeDocument/2006/relationships/slide" Target="/ppt/slides/slide45.xml" Id="R6957be938c424ab2" /><Relationship Type="http://schemas.openxmlformats.org/officeDocument/2006/relationships/slide" Target="/ppt/slides/slide46.xml" Id="R9b8a31f3b85e4c73" /><Relationship Type="http://schemas.openxmlformats.org/officeDocument/2006/relationships/slide" Target="/ppt/slides/slide47.xml" Id="R9cef3f3a833449a8" /><Relationship Type="http://schemas.openxmlformats.org/officeDocument/2006/relationships/slide" Target="/ppt/slides/slide48.xml" Id="Rcac9e2e1f7f54890" /><Relationship Type="http://schemas.openxmlformats.org/officeDocument/2006/relationships/slide" Target="/ppt/slides/slide49.xml" Id="Rb253c774d9ad43de" /><Relationship Type="http://schemas.openxmlformats.org/officeDocument/2006/relationships/slide" Target="/ppt/slides/slide50.xml" Id="R3833fb6af7164237" /><Relationship Type="http://schemas.openxmlformats.org/officeDocument/2006/relationships/slide" Target="/ppt/slides/slide51.xml" Id="R93ccca4513a4406f" /><Relationship Type="http://schemas.openxmlformats.org/officeDocument/2006/relationships/slide" Target="/ppt/slides/slide52.xml" Id="R9c04a9dbebf3459f" /><Relationship Type="http://schemas.openxmlformats.org/officeDocument/2006/relationships/slide" Target="/ppt/slides/slide53.xml" Id="R112328df753d4be2" /><Relationship Type="http://schemas.openxmlformats.org/officeDocument/2006/relationships/slide" Target="/ppt/slides/slide54.xml" Id="R7eb1ff740baf441c" /><Relationship Type="http://schemas.openxmlformats.org/officeDocument/2006/relationships/slide" Target="/ppt/slides/slide55.xml" Id="Rc8f0d6df7c494719" /><Relationship Type="http://schemas.openxmlformats.org/officeDocument/2006/relationships/slide" Target="/ppt/slides/slide56.xml" Id="Rbffaac8ca3f7459d" /><Relationship Type="http://schemas.openxmlformats.org/officeDocument/2006/relationships/slide" Target="/ppt/slides/slide57.xml" Id="Ra4b03d21296e4476" /><Relationship Type="http://schemas.openxmlformats.org/officeDocument/2006/relationships/slide" Target="/ppt/slides/slide58.xml" Id="Rdfdcb4e043664800" /><Relationship Type="http://schemas.openxmlformats.org/officeDocument/2006/relationships/slide" Target="/ppt/slides/slide59.xml" Id="R48dd0dee85a94775" /><Relationship Type="http://schemas.openxmlformats.org/officeDocument/2006/relationships/slide" Target="/ppt/slides/slide60.xml" Id="Rbd79daca13e84ec0" /><Relationship Type="http://schemas.openxmlformats.org/officeDocument/2006/relationships/slide" Target="/ppt/slides/slide61.xml" Id="R6d10c166c736493d" /><Relationship Type="http://schemas.openxmlformats.org/officeDocument/2006/relationships/slide" Target="/ppt/slides/slide62.xml" Id="Ra328b05063dc40e8" /><Relationship Type="http://schemas.openxmlformats.org/officeDocument/2006/relationships/slide" Target="/ppt/slides/slide63.xml" Id="R4b6247fdf6124a29" /><Relationship Type="http://schemas.openxmlformats.org/officeDocument/2006/relationships/slide" Target="/ppt/slides/slide64.xml" Id="R2a78e414f25f42f0" /><Relationship Type="http://schemas.openxmlformats.org/officeDocument/2006/relationships/slide" Target="/ppt/slides/slide65.xml" Id="Re0afe9572fb44918" /><Relationship Type="http://schemas.openxmlformats.org/officeDocument/2006/relationships/slide" Target="/ppt/slides/slide66.xml" Id="Rae6b3239b227469b" /><Relationship Type="http://schemas.openxmlformats.org/officeDocument/2006/relationships/slide" Target="/ppt/slides/slide67.xml" Id="Rf4593c60443246fb" /><Relationship Type="http://schemas.openxmlformats.org/officeDocument/2006/relationships/slide" Target="/ppt/slides/slide68.xml" Id="R10e908ac5a06498d" /><Relationship Type="http://schemas.openxmlformats.org/officeDocument/2006/relationships/slide" Target="/ppt/slides/slide69.xml" Id="Rd2e28269646b4d06" /><Relationship Type="http://schemas.openxmlformats.org/officeDocument/2006/relationships/slide" Target="/ppt/slides/slide70.xml" Id="Rc6b7cd0e18954640" /><Relationship Type="http://schemas.openxmlformats.org/officeDocument/2006/relationships/slide" Target="/ppt/slides/slide71.xml" Id="R0504de7d4abf47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b7fb6930dc44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185ae04b6942f2" /><Relationship Type="http://schemas.openxmlformats.org/officeDocument/2006/relationships/notesMaster" Target="/ppt/notesMasters/notesMaster1.xml" Id="R96aa386a0e5348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735c7bd5b844ff" /><Relationship Type="http://schemas.openxmlformats.org/officeDocument/2006/relationships/notesMaster" Target="/ppt/notesMasters/notesMaster1.xml" Id="Re0b9f1272e0145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5225a42ac94912" /><Relationship Type="http://schemas.openxmlformats.org/officeDocument/2006/relationships/notesMaster" Target="/ppt/notesMasters/notesMaster1.xml" Id="Rbf80f239ad7341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a156675e674c4f" /><Relationship Type="http://schemas.openxmlformats.org/officeDocument/2006/relationships/notesMaster" Target="/ppt/notesMasters/notesMaster1.xml" Id="R004e1dc19b1246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bc07cc138046c2" /><Relationship Type="http://schemas.openxmlformats.org/officeDocument/2006/relationships/notesMaster" Target="/ppt/notesMasters/notesMaster1.xml" Id="Radf69e7157af40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8e3f380f394f38" /><Relationship Type="http://schemas.openxmlformats.org/officeDocument/2006/relationships/notesMaster" Target="/ppt/notesMasters/notesMaster1.xml" Id="Rcfd76a3708a046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a1dd06ee8444bf" /><Relationship Type="http://schemas.openxmlformats.org/officeDocument/2006/relationships/notesMaster" Target="/ppt/notesMasters/notesMaster1.xml" Id="Rfbc07af848f548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8c8d0cbe214172" /><Relationship Type="http://schemas.openxmlformats.org/officeDocument/2006/relationships/notesMaster" Target="/ppt/notesMasters/notesMaster1.xml" Id="Rea005d33602f42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7054ee73784709" /><Relationship Type="http://schemas.openxmlformats.org/officeDocument/2006/relationships/notesMaster" Target="/ppt/notesMasters/notesMaster1.xml" Id="R67d8ac03f64c47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b857362ed74dd4" /><Relationship Type="http://schemas.openxmlformats.org/officeDocument/2006/relationships/notesMaster" Target="/ppt/notesMasters/notesMaster1.xml" Id="R3c5cac1376d245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22021dba354748" /><Relationship Type="http://schemas.openxmlformats.org/officeDocument/2006/relationships/notesMaster" Target="/ppt/notesMasters/notesMaster1.xml" Id="Rb268a1a3bbcc4f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3696b7b511420a" /><Relationship Type="http://schemas.openxmlformats.org/officeDocument/2006/relationships/notesMaster" Target="/ppt/notesMasters/notesMaster1.xml" Id="R997f019916ac46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b9c1be50d84a32" /><Relationship Type="http://schemas.openxmlformats.org/officeDocument/2006/relationships/notesMaster" Target="/ppt/notesMasters/notesMaster1.xml" Id="Re63a298cb0e24b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76de2b05094a7d" /><Relationship Type="http://schemas.openxmlformats.org/officeDocument/2006/relationships/notesMaster" Target="/ppt/notesMasters/notesMaster1.xml" Id="Re407c00fe67b41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82a9384deb4c9b" /><Relationship Type="http://schemas.openxmlformats.org/officeDocument/2006/relationships/notesMaster" Target="/ppt/notesMasters/notesMaster1.xml" Id="Rc28758b2071049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f706de0c624e4c" /><Relationship Type="http://schemas.openxmlformats.org/officeDocument/2006/relationships/notesMaster" Target="/ppt/notesMasters/notesMaster1.xml" Id="R7ad8d744deca43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26d1c34ec34641" /><Relationship Type="http://schemas.openxmlformats.org/officeDocument/2006/relationships/notesMaster" Target="/ppt/notesMasters/notesMaster1.xml" Id="Rabb3721c385b47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a2b0866a354b1b" /><Relationship Type="http://schemas.openxmlformats.org/officeDocument/2006/relationships/notesMaster" Target="/ppt/notesMasters/notesMaster1.xml" Id="R2752d48dae92451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ed4e2523e54be1" /><Relationship Type="http://schemas.openxmlformats.org/officeDocument/2006/relationships/notesMaster" Target="/ppt/notesMasters/notesMaster1.xml" Id="R94d3b19055e74be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04dac6e1a347c0" /><Relationship Type="http://schemas.openxmlformats.org/officeDocument/2006/relationships/notesMaster" Target="/ppt/notesMasters/notesMaster1.xml" Id="Rbf4420688f82403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878a5070f3b426b" /><Relationship Type="http://schemas.openxmlformats.org/officeDocument/2006/relationships/notesMaster" Target="/ppt/notesMasters/notesMaster1.xml" Id="Rcf41b9ee10e04c9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9b6e556cb0482c" /><Relationship Type="http://schemas.openxmlformats.org/officeDocument/2006/relationships/notesMaster" Target="/ppt/notesMasters/notesMaster1.xml" Id="R334abe4da7014ae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8a200e8b4f45e8" /><Relationship Type="http://schemas.openxmlformats.org/officeDocument/2006/relationships/notesMaster" Target="/ppt/notesMasters/notesMaster1.xml" Id="Reb4f128e5124478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a5267aef644baa" /><Relationship Type="http://schemas.openxmlformats.org/officeDocument/2006/relationships/notesMaster" Target="/ppt/notesMasters/notesMaster1.xml" Id="Rd3e579f2165e42f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2af759148c745a1" /><Relationship Type="http://schemas.openxmlformats.org/officeDocument/2006/relationships/notesMaster" Target="/ppt/notesMasters/notesMaster1.xml" Id="R9b3b294576da435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d0ef3813ee247b9" /><Relationship Type="http://schemas.openxmlformats.org/officeDocument/2006/relationships/notesMaster" Target="/ppt/notesMasters/notesMaster1.xml" Id="R01f03499751a4d3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3e00d82809c4953" /><Relationship Type="http://schemas.openxmlformats.org/officeDocument/2006/relationships/notesMaster" Target="/ppt/notesMasters/notesMaster1.xml" Id="Rbaa4dc18db97464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ee604f9c73d419f" /><Relationship Type="http://schemas.openxmlformats.org/officeDocument/2006/relationships/notesMaster" Target="/ppt/notesMasters/notesMaster1.xml" Id="R701dd3f55c4744a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b4a4727d3fa4280" /><Relationship Type="http://schemas.openxmlformats.org/officeDocument/2006/relationships/notesMaster" Target="/ppt/notesMasters/notesMaster1.xml" Id="Ra6e9d32fb45d495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b23ee58f55b4d43" /><Relationship Type="http://schemas.openxmlformats.org/officeDocument/2006/relationships/notesMaster" Target="/ppt/notesMasters/notesMaster1.xml" Id="R5993bb763f4c44c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797d17da3cb4583" /><Relationship Type="http://schemas.openxmlformats.org/officeDocument/2006/relationships/notesMaster" Target="/ppt/notesMasters/notesMaster1.xml" Id="R83a2ce11933c4c2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a72f09ab10e4aa6" /><Relationship Type="http://schemas.openxmlformats.org/officeDocument/2006/relationships/notesMaster" Target="/ppt/notesMasters/notesMaster1.xml" Id="Rf3cfa74865ef46a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683f288aa814016" /><Relationship Type="http://schemas.openxmlformats.org/officeDocument/2006/relationships/notesMaster" Target="/ppt/notesMasters/notesMaster1.xml" Id="R70d588274007455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a3f9df36d2b45b9" /><Relationship Type="http://schemas.openxmlformats.org/officeDocument/2006/relationships/notesMaster" Target="/ppt/notesMasters/notesMaster1.xml" Id="R145a8d12a667495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206d42530734618" /><Relationship Type="http://schemas.openxmlformats.org/officeDocument/2006/relationships/notesMaster" Target="/ppt/notesMasters/notesMaster1.xml" Id="R95b776185a78435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923d6cfe6044341" /><Relationship Type="http://schemas.openxmlformats.org/officeDocument/2006/relationships/notesMaster" Target="/ppt/notesMasters/notesMaster1.xml" Id="Rbe181c01534e401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be4c28e2eec4c9b" /><Relationship Type="http://schemas.openxmlformats.org/officeDocument/2006/relationships/notesMaster" Target="/ppt/notesMasters/notesMaster1.xml" Id="R5c1ed36ddca34a5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2f0c5c5a8724254" /><Relationship Type="http://schemas.openxmlformats.org/officeDocument/2006/relationships/notesMaster" Target="/ppt/notesMasters/notesMaster1.xml" Id="Raa7e94afc654426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c9aaf1e416241cf" /><Relationship Type="http://schemas.openxmlformats.org/officeDocument/2006/relationships/notesMaster" Target="/ppt/notesMasters/notesMaster1.xml" Id="R4641cf37234d4b8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f23590d729748e6" /><Relationship Type="http://schemas.openxmlformats.org/officeDocument/2006/relationships/notesMaster" Target="/ppt/notesMasters/notesMaster1.xml" Id="R29fef5c17fa7419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599de48194c4089" /><Relationship Type="http://schemas.openxmlformats.org/officeDocument/2006/relationships/notesMaster" Target="/ppt/notesMasters/notesMaster1.xml" Id="R75f0431a8a304cc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e40781659fe4a9c" /><Relationship Type="http://schemas.openxmlformats.org/officeDocument/2006/relationships/notesMaster" Target="/ppt/notesMasters/notesMaster1.xml" Id="R025bf47ceee546f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39cd29ea57b4cdd" /><Relationship Type="http://schemas.openxmlformats.org/officeDocument/2006/relationships/notesMaster" Target="/ppt/notesMasters/notesMaster1.xml" Id="R44ecd59135ed461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92dbcc6b22e40a5" /><Relationship Type="http://schemas.openxmlformats.org/officeDocument/2006/relationships/notesMaster" Target="/ppt/notesMasters/notesMaster1.xml" Id="R7f82f4b27f29456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8e45233eed141b9" /><Relationship Type="http://schemas.openxmlformats.org/officeDocument/2006/relationships/notesMaster" Target="/ppt/notesMasters/notesMaster1.xml" Id="R9f4810b1c5aa444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fb04b97a56b4906" /><Relationship Type="http://schemas.openxmlformats.org/officeDocument/2006/relationships/notesMaster" Target="/ppt/notesMasters/notesMaster1.xml" Id="R8cb0ed42e7d94a7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ddbd594ecee41d3" /><Relationship Type="http://schemas.openxmlformats.org/officeDocument/2006/relationships/notesMaster" Target="/ppt/notesMasters/notesMaster1.xml" Id="R592a7a9168094f4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371ef48db944071" /><Relationship Type="http://schemas.openxmlformats.org/officeDocument/2006/relationships/notesMaster" Target="/ppt/notesMasters/notesMaster1.xml" Id="Rc2245b2fd58e457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aaafed69ce54116" /><Relationship Type="http://schemas.openxmlformats.org/officeDocument/2006/relationships/notesMaster" Target="/ppt/notesMasters/notesMaster1.xml" Id="Rf8c7fb57196346b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e00aa231d004a36" /><Relationship Type="http://schemas.openxmlformats.org/officeDocument/2006/relationships/notesMaster" Target="/ppt/notesMasters/notesMaster1.xml" Id="R9f095987589c482f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78f4bd1be2e4f1c" /><Relationship Type="http://schemas.openxmlformats.org/officeDocument/2006/relationships/notesMaster" Target="/ppt/notesMasters/notesMaster1.xml" Id="R25621c8116784a9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7d429d1020d4957" /><Relationship Type="http://schemas.openxmlformats.org/officeDocument/2006/relationships/notesMaster" Target="/ppt/notesMasters/notesMaster1.xml" Id="R046ff3dc78ee4a2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8d1c91896cc4010" /><Relationship Type="http://schemas.openxmlformats.org/officeDocument/2006/relationships/notesMaster" Target="/ppt/notesMasters/notesMaster1.xml" Id="R7cb977491663468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51ff441a36b4db3" /><Relationship Type="http://schemas.openxmlformats.org/officeDocument/2006/relationships/notesMaster" Target="/ppt/notesMasters/notesMaster1.xml" Id="R4b53a87f71d74d7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189dc01fd744f12" /><Relationship Type="http://schemas.openxmlformats.org/officeDocument/2006/relationships/notesMaster" Target="/ppt/notesMasters/notesMaster1.xml" Id="R7a2dab3d7290415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cea976e28f34928" /><Relationship Type="http://schemas.openxmlformats.org/officeDocument/2006/relationships/notesMaster" Target="/ppt/notesMasters/notesMaster1.xml" Id="R9ed17f14090247d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3768e8d1b264326" /><Relationship Type="http://schemas.openxmlformats.org/officeDocument/2006/relationships/notesMaster" Target="/ppt/notesMasters/notesMaster1.xml" Id="R4f72bd72f703417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996392c7f694fe1" /><Relationship Type="http://schemas.openxmlformats.org/officeDocument/2006/relationships/notesMaster" Target="/ppt/notesMasters/notesMaster1.xml" Id="R80af35ba6fa1475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dd75c48ccaf4f95" /><Relationship Type="http://schemas.openxmlformats.org/officeDocument/2006/relationships/notesMaster" Target="/ppt/notesMasters/notesMaster1.xml" Id="R862d18b235c0413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091c37b2b3ac4485" /><Relationship Type="http://schemas.openxmlformats.org/officeDocument/2006/relationships/notesMaster" Target="/ppt/notesMasters/notesMaster1.xml" Id="Rbfe13659d401440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b7335e70571d44b6" /><Relationship Type="http://schemas.openxmlformats.org/officeDocument/2006/relationships/notesMaster" Target="/ppt/notesMasters/notesMaster1.xml" Id="Rec58eb0f93bb4fc6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ab0413e679fa40af" /><Relationship Type="http://schemas.openxmlformats.org/officeDocument/2006/relationships/notesMaster" Target="/ppt/notesMasters/notesMaster1.xml" Id="R5e4c7086ef5541b0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417b54ea5684a81" /><Relationship Type="http://schemas.openxmlformats.org/officeDocument/2006/relationships/notesMaster" Target="/ppt/notesMasters/notesMaster1.xml" Id="R305b3ca6a64345d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f2f7ae74597141a3" /><Relationship Type="http://schemas.openxmlformats.org/officeDocument/2006/relationships/notesMaster" Target="/ppt/notesMasters/notesMaster1.xml" Id="Race2fb09f39d4653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84f32ee74bd64999" /><Relationship Type="http://schemas.openxmlformats.org/officeDocument/2006/relationships/notesMaster" Target="/ppt/notesMasters/notesMaster1.xml" Id="R341fb44ac8314064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8d0e1878d4c24145" /><Relationship Type="http://schemas.openxmlformats.org/officeDocument/2006/relationships/notesMaster" Target="/ppt/notesMasters/notesMaster1.xml" Id="Rcd5a4c3d1d95415b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abc99236fcce43a3" /><Relationship Type="http://schemas.openxmlformats.org/officeDocument/2006/relationships/notesMaster" Target="/ppt/notesMasters/notesMaster1.xml" Id="R1027e4ff40cc4550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b7675981df604631" /><Relationship Type="http://schemas.openxmlformats.org/officeDocument/2006/relationships/notesMaster" Target="/ppt/notesMasters/notesMaster1.xml" Id="Ree926ec4d4254baf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fedd915e73254e7d" /><Relationship Type="http://schemas.openxmlformats.org/officeDocument/2006/relationships/notesMaster" Target="/ppt/notesMasters/notesMaster1.xml" Id="Rbeae446550d94fab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712de0f0340d466a" /><Relationship Type="http://schemas.openxmlformats.org/officeDocument/2006/relationships/notesMaster" Target="/ppt/notesMasters/notesMaster1.xml" Id="Rc280d3ea411946a5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af5a6fae8e0448ca" /><Relationship Type="http://schemas.openxmlformats.org/officeDocument/2006/relationships/notesMaster" Target="/ppt/notesMasters/notesMaster1.xml" Id="R457f01cd5ce644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프로그램은 입력으로 받은 값을 정해진 순서대로 처리하여 결과를 만드는 명령의 묶음입니다. 주문서를 받아 금액을 계산한 뒤 영수증을 쓰는 일과 비슷하지만, 컴퓨터는 작성자가 생략한 의도를 알아서 채우지 않습니다.</a:t>
            </a:r>
          </a:p>
          <a:p xmlns:a="http://schemas.openxmlformats.org/drawingml/2006/main">
            <a:r>
              <a:t>필요성: 코드와 결과를 구별해야 어디를 고쳤고 무엇이 바뀌었는지 설명할 수 있습니다. .py는 Python 코드를 담는 파일의 확장자이며, 파일을 열어 읽는 행동과 실행하는 행동은 다릅니다.</a:t>
            </a:r>
          </a:p>
          <a:p xmlns:a="http://schemas.openxmlformats.org/drawingml/2006/main">
            <a:r>
              <a:t>예: 10/8의 온도 22.5와 수업 기준 24.0을 입력이라고 해 봅니다. 두 수를 비교하는 것이 처리이고 ‘정상’이라는 표시가 출력입니다. 기준은 수업에서 만든 규칙이며 실제 장비 안전 판정이 아닙니다.</a:t>
            </a:r>
          </a:p>
          <a:p xmlns:a="http://schemas.openxmlformats.org/drawingml/2006/main">
            <a:r>
              <a:t>반례: 파일 이름을 result.py로 바꾼다고 결과 파일이 되지 않습니다. 내용을 읽어 명령인지 기록인지 확인해야 합니다. 화면에서 ‘정상’이라는 글자를 보았어도 어느 파일을 어떤 값으로 실행했는지 모르면 재현하기 어렵습니다.</a:t>
            </a:r>
          </a:p>
          <a:p xmlns:a="http://schemas.openxmlformats.org/drawingml/2006/main">
            <a:r>
              <a:t>질문: 기준을 22.0으로 바꾸면 어느 단계의 값이 바뀌며 출력은 어떻게 될까요?</a:t>
            </a:r>
          </a:p>
          <a:p xmlns:a="http://schemas.openxmlformats.org/drawingml/2006/main">
            <a:r>
              <a:t>풀이: 기준 입력이 바뀌며 22.5 &gt; 22.0이 참이어서 확인으로 바뀝니다. 프로그램의 비교 규칙은 그대로입니다.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프로그램은 입력으로 받은 값을 정해진 순서대로 처리하여 결과를 만드는 명령의 묶음입니다. 주문서를 받아 금액을 계산한 뒤 영수증을 쓰는 일과 비슷하지만, 컴퓨터는 작성자가 생략한 의도를 알아서 채우지 않습니다.</a:t>
            </a:r>
          </a:p>
          <a:p xmlns:a="http://schemas.openxmlformats.org/drawingml/2006/main">
            <a:r>
              <a:t>필요성: 코드와 결과를 구별해야 어디를 고쳤고 무엇이 바뀌었는지 설명할 수 있습니다. .py는 Python 코드를 담는 파일의 확장자이며, 파일을 열어 읽는 행동과 실행하는 행동은 다릅니다.</a:t>
            </a:r>
          </a:p>
          <a:p xmlns:a="http://schemas.openxmlformats.org/drawingml/2006/main">
            <a:r>
              <a:t>예: 10/8의 온도 22.5와 수업 기준 24.0을 입력이라고 해 봅니다. 두 수를 비교하는 것이 처리이고 ‘정상’이라는 표시가 출력입니다. 기준은 수업에서 만든 규칙이며 실제 장비 안전 판정이 아닙니다.</a:t>
            </a:r>
          </a:p>
          <a:p xmlns:a="http://schemas.openxmlformats.org/drawingml/2006/main">
            <a:r>
              <a:t>반례: 파일 이름을 result.py로 바꾼다고 결과 파일이 되지 않습니다. 내용을 읽어 명령인지 기록인지 확인해야 합니다. 화면에서 ‘정상’이라는 글자를 보았어도 어느 파일을 어떤 값으로 실행했는지 모르면 재현하기 어렵습니다.</a:t>
            </a:r>
          </a:p>
          <a:p xmlns:a="http://schemas.openxmlformats.org/drawingml/2006/main">
            <a:r>
              <a:t>질문: 기준을 22.0으로 바꾸면 어느 단계의 값이 바뀌며 출력은 어떻게 될까요?</a:t>
            </a:r>
          </a:p>
          <a:p xmlns:a="http://schemas.openxmlformats.org/drawingml/2006/main">
            <a:r>
              <a:t>풀이: 기준 입력이 바뀌며 22.5 &gt; 22.0이 참이어서 확인으로 바뀝니다. 프로그램의 비교 규칙은 그대로입니다.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프로그램은 입력으로 받은 값을 정해진 순서대로 처리하여 결과를 만드는 명령의 묶음입니다. 주문서를 받아 금액을 계산한 뒤 영수증을 쓰는 일과 비슷하지만, 컴퓨터는 작성자가 생략한 의도를 알아서 채우지 않습니다.</a:t>
            </a:r>
          </a:p>
          <a:p xmlns:a="http://schemas.openxmlformats.org/drawingml/2006/main">
            <a:r>
              <a:t>필요성: 코드와 결과를 구별해야 어디를 고쳤고 무엇이 바뀌었는지 설명할 수 있습니다. .py는 Python 코드를 담는 파일의 확장자이며, 파일을 열어 읽는 행동과 실행하는 행동은 다릅니다.</a:t>
            </a:r>
          </a:p>
          <a:p xmlns:a="http://schemas.openxmlformats.org/drawingml/2006/main">
            <a:r>
              <a:t>예: 10/8의 온도 22.5와 수업 기준 24.0을 입력이라고 해 봅니다. 두 수를 비교하는 것이 처리이고 ‘정상’이라는 표시가 출력입니다. 기준은 수업에서 만든 규칙이며 실제 장비 안전 판정이 아닙니다.</a:t>
            </a:r>
          </a:p>
          <a:p xmlns:a="http://schemas.openxmlformats.org/drawingml/2006/main">
            <a:r>
              <a:t>반례: 파일 이름을 result.py로 바꾼다고 결과 파일이 되지 않습니다. 내용을 읽어 명령인지 기록인지 확인해야 합니다. 화면에서 ‘정상’이라는 글자를 보았어도 어느 파일을 어떤 값으로 실행했는지 모르면 재현하기 어렵습니다.</a:t>
            </a:r>
          </a:p>
          <a:p xmlns:a="http://schemas.openxmlformats.org/drawingml/2006/main">
            <a:r>
              <a:t>질문: 기준을 22.0으로 바꾸면 어느 단계의 값이 바뀌며 출력은 어떻게 될까요?</a:t>
            </a:r>
          </a:p>
          <a:p xmlns:a="http://schemas.openxmlformats.org/drawingml/2006/main">
            <a:r>
              <a:t>풀이: 기준 입력이 바뀌며 22.5 &gt; 22.0이 참이어서 확인으로 바뀝니다. 프로그램의 비교 규칙은 그대로입니다.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print는 전달받은 값을 화면에 보여 주는 기본 함수입니다. 함수라는 말은 우선 이름 붙은 일을 호출하는 도구로 이해합니다. 괄호 안에 보여 줄 내용을 넣고, 문자열은 따옴표로 감쌉니다.</a:t>
            </a:r>
          </a:p>
          <a:p xmlns:a="http://schemas.openxmlformats.org/drawingml/2006/main">
            <a:r>
              <a:t>필요성: 짧은 출력을 직접 바꾸면 편집한 내용이 실행에 반영되는 과정을 볼 수 있습니다. 복잡한 프로그램을 만들기 전에 실행 통로를 확인하는 작은 성공 기준입니다.</a:t>
            </a:r>
          </a:p>
          <a:p xmlns:a="http://schemas.openxmlformats.org/drawingml/2006/main">
            <a:r>
              <a:t>예: 첫 줄의 # 뒤 문장은 사람이 읽는 설명인 주석입니다. Python은 이 주석을 실행하지 않습니다. 따옴표 안의 #는 글자의 일부이므로 주석이 아니라는 점도 비교합니다.</a:t>
            </a:r>
          </a:p>
          <a:p xmlns:a="http://schemas.openxmlformats.org/drawingml/2006/main">
            <a:r>
              <a:t>반례: print라는 이름을 Print로 쓰면 같은 도구가 아닙니다. 큰따옴표는 키보드로 입력하는 곧은 따옴표이며 문서 편집기의 장식 따옴표로 바꾸면 문법 문제가 생길 수 있습니다.</a:t>
            </a:r>
          </a:p>
          <a:p xmlns:a="http://schemas.openxmlformats.org/drawingml/2006/main">
            <a:r>
              <a:t>질문: 주석의 문구만 바꾸면 출력은 달라질까요?</a:t>
            </a:r>
          </a:p>
          <a:p xmlns:a="http://schemas.openxmlformats.org/drawingml/2006/main">
            <a:r>
              <a:t>풀이: 주석은 실행하지 않으므로 출력은 유지됩니다. 따옴표 안에 든 #는 문자열이므로 다른 경우입니다.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print는 전달받은 값을 화면에 보여 주는 기본 함수입니다. 함수라는 말은 우선 이름 붙은 일을 호출하는 도구로 이해합니다. 괄호 안에 보여 줄 내용을 넣고, 문자열은 따옴표로 감쌉니다.</a:t>
            </a:r>
          </a:p>
          <a:p xmlns:a="http://schemas.openxmlformats.org/drawingml/2006/main">
            <a:r>
              <a:t>필요성: 짧은 출력을 직접 바꾸면 편집한 내용이 실행에 반영되는 과정을 볼 수 있습니다. 복잡한 프로그램을 만들기 전에 실행 통로를 확인하는 작은 성공 기준입니다.</a:t>
            </a:r>
          </a:p>
          <a:p xmlns:a="http://schemas.openxmlformats.org/drawingml/2006/main">
            <a:r>
              <a:t>예: 첫 줄의 # 뒤 문장은 사람이 읽는 설명인 주석입니다. Python은 이 주석을 실행하지 않습니다. 따옴표 안의 #는 글자의 일부이므로 주석이 아니라는 점도 비교합니다.</a:t>
            </a:r>
          </a:p>
          <a:p xmlns:a="http://schemas.openxmlformats.org/drawingml/2006/main">
            <a:r>
              <a:t>반례: print라는 이름을 Print로 쓰면 같은 도구가 아닙니다. 큰따옴표는 키보드로 입력하는 곧은 따옴표이며 문서 편집기의 장식 따옴표로 바꾸면 문법 문제가 생길 수 있습니다.</a:t>
            </a:r>
          </a:p>
          <a:p xmlns:a="http://schemas.openxmlformats.org/drawingml/2006/main">
            <a:r>
              <a:t>질문: 주석의 문구만 바꾸면 출력은 달라질까요?</a:t>
            </a:r>
          </a:p>
          <a:p xmlns:a="http://schemas.openxmlformats.org/drawingml/2006/main">
            <a:r>
              <a:t>풀이: 주석은 실행하지 않으므로 출력은 유지됩니다. 따옴표 안에 든 #는 문자열이므로 다른 경우입니다.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print는 전달받은 값을 화면에 보여 주는 기본 함수입니다. 함수라는 말은 우선 이름 붙은 일을 호출하는 도구로 이해합니다. 괄호 안에 보여 줄 내용을 넣고, 문자열은 따옴표로 감쌉니다.</a:t>
            </a:r>
          </a:p>
          <a:p xmlns:a="http://schemas.openxmlformats.org/drawingml/2006/main">
            <a:r>
              <a:t>필요성: 짧은 출력을 직접 바꾸면 편집한 내용이 실행에 반영되는 과정을 볼 수 있습니다. 복잡한 프로그램을 만들기 전에 실행 통로를 확인하는 작은 성공 기준입니다.</a:t>
            </a:r>
          </a:p>
          <a:p xmlns:a="http://schemas.openxmlformats.org/drawingml/2006/main">
            <a:r>
              <a:t>예: 첫 줄의 # 뒤 문장은 사람이 읽는 설명인 주석입니다. Python은 이 주석을 실행하지 않습니다. 따옴표 안의 #는 글자의 일부이므로 주석이 아니라는 점도 비교합니다.</a:t>
            </a:r>
          </a:p>
          <a:p xmlns:a="http://schemas.openxmlformats.org/drawingml/2006/main">
            <a:r>
              <a:t>반례: print라는 이름을 Print로 쓰면 같은 도구가 아닙니다. 큰따옴표는 키보드로 입력하는 곧은 따옴표이며 문서 편집기의 장식 따옴표로 바꾸면 문법 문제가 생길 수 있습니다.</a:t>
            </a:r>
          </a:p>
          <a:p xmlns:a="http://schemas.openxmlformats.org/drawingml/2006/main">
            <a:r>
              <a:t>질문: 주석의 문구만 바꾸면 출력은 달라질까요?</a:t>
            </a:r>
          </a:p>
          <a:p xmlns:a="http://schemas.openxmlformats.org/drawingml/2006/main">
            <a:r>
              <a:t>풀이: 주석은 실행하지 않으므로 출력은 유지됩니다. 따옴표 안에 든 #는 문자열이므로 다른 경우입니다.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print는 전달받은 값을 화면에 보여 주는 기본 함수입니다. 함수라는 말은 우선 이름 붙은 일을 호출하는 도구로 이해합니다. 괄호 안에 보여 줄 내용을 넣고, 문자열은 따옴표로 감쌉니다.</a:t>
            </a:r>
          </a:p>
          <a:p xmlns:a="http://schemas.openxmlformats.org/drawingml/2006/main">
            <a:r>
              <a:t>필요성: 짧은 출력을 직접 바꾸면 편집한 내용이 실행에 반영되는 과정을 볼 수 있습니다. 복잡한 프로그램을 만들기 전에 실행 통로를 확인하는 작은 성공 기준입니다.</a:t>
            </a:r>
          </a:p>
          <a:p xmlns:a="http://schemas.openxmlformats.org/drawingml/2006/main">
            <a:r>
              <a:t>예: 첫 줄의 # 뒤 문장은 사람이 읽는 설명인 주석입니다. Python은 이 주석을 실행하지 않습니다. 따옴표 안의 #는 글자의 일부이므로 주석이 아니라는 점도 비교합니다.</a:t>
            </a:r>
          </a:p>
          <a:p xmlns:a="http://schemas.openxmlformats.org/drawingml/2006/main">
            <a:r>
              <a:t>반례: print라는 이름을 Print로 쓰면 같은 도구가 아닙니다. 큰따옴표는 키보드로 입력하는 곧은 따옴표이며 문서 편집기의 장식 따옴표로 바꾸면 문법 문제가 생길 수 있습니다.</a:t>
            </a:r>
          </a:p>
          <a:p xmlns:a="http://schemas.openxmlformats.org/drawingml/2006/main">
            <a:r>
              <a:t>질문: 주석의 문구만 바꾸면 출력은 달라질까요?</a:t>
            </a:r>
          </a:p>
          <a:p xmlns:a="http://schemas.openxmlformats.org/drawingml/2006/main">
            <a:r>
              <a:t>풀이: 주석은 실행하지 않으므로 출력은 유지됩니다. 따옴표 안에 든 #는 문자열이므로 다른 경우입니다.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편집기의 변경 내용은 저장하기 전까지 파일에 반영되지 않을 수 있습니다. 실행 명령은 디스크에 저장된 특정 파일을 읽습니다. 터미널은 명령을 입력하고 실행 결과를 보는 창이며 코드 편집기와 역할이 다릅니다.</a:t>
            </a:r>
          </a:p>
          <a:p xmlns:a="http://schemas.openxmlformats.org/drawingml/2006/main">
            <a:r>
              <a:t>필요성: 같은 이름의 원본과 작업본이 있을 때 다른 파일을 실행하면 수정한 문구가 나오지 않습니다. 재실행을 반복하기 전에 파일 경로와 저장 여부를 확인하면 원인을 좁힐 수 있습니다.</a:t>
            </a:r>
          </a:p>
          <a:p xmlns:a="http://schemas.openxmlformats.org/drawingml/2006/main">
            <a:r>
              <a:t>예: 작업본에는 새 문구가 보이지만 code/A02_print.py를 실행했다면 원본 문구가 나오는 것이 자연스럽습니다. 명령 끝의 경로를 work/A02_print.py로 맞춰야 작업본을 실행합니다.</a:t>
            </a:r>
          </a:p>
          <a:p xmlns:a="http://schemas.openxmlformats.org/drawingml/2006/main">
            <a:r>
              <a:t>반례: SyntaxError는 Python이 코드를 문장으로 읽지 못했다는 단서입니다. 화면 전체를 지우거나 Python을 재설치하기 전에 마지막 오류 종류와 해당 줄, 바로 앞 줄의 따옴표·괄호를 확인합니다.</a:t>
            </a:r>
          </a:p>
          <a:p xmlns:a="http://schemas.openxmlformats.org/drawingml/2006/main">
            <a:r>
              <a:t>질문: 오류 줄 번호가 마지막 줄을 가리키면 그 줄만 보면 충분할까요?</a:t>
            </a:r>
          </a:p>
          <a:p xmlns:a="http://schemas.openxmlformats.org/drawingml/2006/main">
            <a:r>
              <a:t>풀이: 바로 앞 줄의 닫히지 않은 따옴표나 괄호가 원인일 수 있으므로 앞부분도 확인합니다.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편집기의 변경 내용은 저장하기 전까지 파일에 반영되지 않을 수 있습니다. 실행 명령은 디스크에 저장된 특정 파일을 읽습니다. 터미널은 명령을 입력하고 실행 결과를 보는 창이며 코드 편집기와 역할이 다릅니다.</a:t>
            </a:r>
          </a:p>
          <a:p xmlns:a="http://schemas.openxmlformats.org/drawingml/2006/main">
            <a:r>
              <a:t>필요성: 같은 이름의 원본과 작업본이 있을 때 다른 파일을 실행하면 수정한 문구가 나오지 않습니다. 재실행을 반복하기 전에 파일 경로와 저장 여부를 확인하면 원인을 좁힐 수 있습니다.</a:t>
            </a:r>
          </a:p>
          <a:p xmlns:a="http://schemas.openxmlformats.org/drawingml/2006/main">
            <a:r>
              <a:t>예: 작업본에는 새 문구가 보이지만 code/A02_print.py를 실행했다면 원본 문구가 나오는 것이 자연스럽습니다. 명령 끝의 경로를 work/A02_print.py로 맞춰야 작업본을 실행합니다.</a:t>
            </a:r>
          </a:p>
          <a:p xmlns:a="http://schemas.openxmlformats.org/drawingml/2006/main">
            <a:r>
              <a:t>반례: SyntaxError는 Python이 코드를 문장으로 읽지 못했다는 단서입니다. 화면 전체를 지우거나 Python을 재설치하기 전에 마지막 오류 종류와 해당 줄, 바로 앞 줄의 따옴표·괄호를 확인합니다.</a:t>
            </a:r>
          </a:p>
          <a:p xmlns:a="http://schemas.openxmlformats.org/drawingml/2006/main">
            <a:r>
              <a:t>질문: 오류 줄 번호가 마지막 줄을 가리키면 그 줄만 보면 충분할까요?</a:t>
            </a:r>
          </a:p>
          <a:p xmlns:a="http://schemas.openxmlformats.org/drawingml/2006/main">
            <a:r>
              <a:t>풀이: 바로 앞 줄의 닫히지 않은 따옴표나 괄호가 원인일 수 있으므로 앞부분도 확인합니다.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편집기의 변경 내용은 저장하기 전까지 파일에 반영되지 않을 수 있습니다. 실행 명령은 디스크에 저장된 특정 파일을 읽습니다. 터미널은 명령을 입력하고 실행 결과를 보는 창이며 코드 편집기와 역할이 다릅니다.</a:t>
            </a:r>
          </a:p>
          <a:p xmlns:a="http://schemas.openxmlformats.org/drawingml/2006/main">
            <a:r>
              <a:t>필요성: 같은 이름의 원본과 작업본이 있을 때 다른 파일을 실행하면 수정한 문구가 나오지 않습니다. 재실행을 반복하기 전에 파일 경로와 저장 여부를 확인하면 원인을 좁힐 수 있습니다.</a:t>
            </a:r>
          </a:p>
          <a:p xmlns:a="http://schemas.openxmlformats.org/drawingml/2006/main">
            <a:r>
              <a:t>예: 작업본에는 새 문구가 보이지만 code/A02_print.py를 실행했다면 원본 문구가 나오는 것이 자연스럽습니다. 명령 끝의 경로를 work/A02_print.py로 맞춰야 작업본을 실행합니다.</a:t>
            </a:r>
          </a:p>
          <a:p xmlns:a="http://schemas.openxmlformats.org/drawingml/2006/main">
            <a:r>
              <a:t>반례: SyntaxError는 Python이 코드를 문장으로 읽지 못했다는 단서입니다. 화면 전체를 지우거나 Python을 재설치하기 전에 마지막 오류 종류와 해당 줄, 바로 앞 줄의 따옴표·괄호를 확인합니다.</a:t>
            </a:r>
          </a:p>
          <a:p xmlns:a="http://schemas.openxmlformats.org/drawingml/2006/main">
            <a:r>
              <a:t>질문: 오류 줄 번호가 마지막 줄을 가리키면 그 줄만 보면 충분할까요?</a:t>
            </a:r>
          </a:p>
          <a:p xmlns:a="http://schemas.openxmlformats.org/drawingml/2006/main">
            <a:r>
              <a:t>풀이: 바로 앞 줄의 닫히지 않은 따옴표나 괄호가 원인일 수 있으므로 앞부분도 확인합니다.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변수는 프로그램이 값을 다시 찾을 수 있도록 붙인 이름입니다. location = "입구"는 왼쪽 이름에 오른쪽 값을 연결합니다. 수학에서 등식의 양변이 같다는 주장과 Python의 대입 동작을 구별합니다.</a:t>
            </a:r>
          </a:p>
          <a:p xmlns:a="http://schemas.openxmlformats.org/drawingml/2006/main">
            <a:r>
              <a:t>필요성: 값을 여러 번 사용할 때 이름을 붙이면 목적이 드러나고 한 곳에서 바꾸기 쉽습니다. 10/8의 표에서 location과 temperature_c라는 항목을 읽었던 경험을 코드 안의 이름으로 연결합니다.</a:t>
            </a:r>
          </a:p>
          <a:p xmlns:a="http://schemas.openxmlformats.org/drawingml/2006/main">
            <a:r>
              <a:t>예: location과 temperature_c를 출력하면 이름 자체의 글자가 아니라 그 이름이 가리키는 값이 나옵니다. print("location")처럼 따옴표를 붙이면 이름을 찾지 않고 글자 location을 보여 줍니다.</a:t>
            </a:r>
          </a:p>
          <a:p xmlns:a="http://schemas.openxmlformats.org/drawingml/2006/main">
            <a:r>
              <a:t>반례: 한 이름이 무엇을 뜻하는지는 작성자가 정한 약속입니다. 온도를 x로 저장해도 실행될 수 있지만 업무 목적을 읽기 어렵습니다. 의미가 분명한 이름을 쓰되 이름만 보고 단위가 맞다고 단정하지 않습니다.</a:t>
            </a:r>
          </a:p>
          <a:p xmlns:a="http://schemas.openxmlformats.org/drawingml/2006/main">
            <a:r>
              <a:t>질문: print(location)과 print("location")은 왜 다를까요?</a:t>
            </a:r>
          </a:p>
          <a:p xmlns:a="http://schemas.openxmlformats.org/drawingml/2006/main">
            <a:r>
              <a:t>풀이: 전자는 이름의 값을 찾고 후자는 문자열 자체를 출력합니다.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변수는 프로그램이 값을 다시 찾을 수 있도록 붙인 이름입니다. location = "입구"는 왼쪽 이름에 오른쪽 값을 연결합니다. 수학에서 등식의 양변이 같다는 주장과 Python의 대입 동작을 구별합니다.</a:t>
            </a:r>
          </a:p>
          <a:p xmlns:a="http://schemas.openxmlformats.org/drawingml/2006/main">
            <a:r>
              <a:t>필요성: 값을 여러 번 사용할 때 이름을 붙이면 목적이 드러나고 한 곳에서 바꾸기 쉽습니다. 10/8의 표에서 location과 temperature_c라는 항목을 읽었던 경험을 코드 안의 이름으로 연결합니다.</a:t>
            </a:r>
          </a:p>
          <a:p xmlns:a="http://schemas.openxmlformats.org/drawingml/2006/main">
            <a:r>
              <a:t>예: location과 temperature_c를 출력하면 이름 자체의 글자가 아니라 그 이름이 가리키는 값이 나옵니다. print("location")처럼 따옴표를 붙이면 이름을 찾지 않고 글자 location을 보여 줍니다.</a:t>
            </a:r>
          </a:p>
          <a:p xmlns:a="http://schemas.openxmlformats.org/drawingml/2006/main">
            <a:r>
              <a:t>반례: 한 이름이 무엇을 뜻하는지는 작성자가 정한 약속입니다. 온도를 x로 저장해도 실행될 수 있지만 업무 목적을 읽기 어렵습니다. 의미가 분명한 이름을 쓰되 이름만 보고 단위가 맞다고 단정하지 않습니다.</a:t>
            </a:r>
          </a:p>
          <a:p xmlns:a="http://schemas.openxmlformats.org/drawingml/2006/main">
            <a:r>
              <a:t>질문: print(location)과 print("location")은 왜 다를까요?</a:t>
            </a:r>
          </a:p>
          <a:p xmlns:a="http://schemas.openxmlformats.org/drawingml/2006/main">
            <a:r>
              <a:t>풀이: 전자는 이름의 값을 찾고 후자는 문자열 자체를 출력합니다.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변수는 프로그램이 값을 다시 찾을 수 있도록 붙인 이름입니다. location = "입구"는 왼쪽 이름에 오른쪽 값을 연결합니다. 수학에서 등식의 양변이 같다는 주장과 Python의 대입 동작을 구별합니다.</a:t>
            </a:r>
          </a:p>
          <a:p xmlns:a="http://schemas.openxmlformats.org/drawingml/2006/main">
            <a:r>
              <a:t>필요성: 값을 여러 번 사용할 때 이름을 붙이면 목적이 드러나고 한 곳에서 바꾸기 쉽습니다. 10/8의 표에서 location과 temperature_c라는 항목을 읽었던 경험을 코드 안의 이름으로 연결합니다.</a:t>
            </a:r>
          </a:p>
          <a:p xmlns:a="http://schemas.openxmlformats.org/drawingml/2006/main">
            <a:r>
              <a:t>예: location과 temperature_c를 출력하면 이름 자체의 글자가 아니라 그 이름이 가리키는 값이 나옵니다. print("location")처럼 따옴표를 붙이면 이름을 찾지 않고 글자 location을 보여 줍니다.</a:t>
            </a:r>
          </a:p>
          <a:p xmlns:a="http://schemas.openxmlformats.org/drawingml/2006/main">
            <a:r>
              <a:t>반례: 한 이름이 무엇을 뜻하는지는 작성자가 정한 약속입니다. 온도를 x로 저장해도 실행될 수 있지만 업무 목적을 읽기 어렵습니다. 의미가 분명한 이름을 쓰되 이름만 보고 단위가 맞다고 단정하지 않습니다.</a:t>
            </a:r>
          </a:p>
          <a:p xmlns:a="http://schemas.openxmlformats.org/drawingml/2006/main">
            <a:r>
              <a:t>질문: print(location)과 print("location")은 왜 다를까요?</a:t>
            </a:r>
          </a:p>
          <a:p xmlns:a="http://schemas.openxmlformats.org/drawingml/2006/main">
            <a:r>
              <a:t>풀이: 전자는 이름의 값을 찾고 후자는 문자열 자체를 출력합니다.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변수는 프로그램이 값을 다시 찾을 수 있도록 붙인 이름입니다. location = "입구"는 왼쪽 이름에 오른쪽 값을 연결합니다. 수학에서 등식의 양변이 같다는 주장과 Python의 대입 동작을 구별합니다.</a:t>
            </a:r>
          </a:p>
          <a:p xmlns:a="http://schemas.openxmlformats.org/drawingml/2006/main">
            <a:r>
              <a:t>필요성: 값을 여러 번 사용할 때 이름을 붙이면 목적이 드러나고 한 곳에서 바꾸기 쉽습니다. 10/8의 표에서 location과 temperature_c라는 항목을 읽었던 경험을 코드 안의 이름으로 연결합니다.</a:t>
            </a:r>
          </a:p>
          <a:p xmlns:a="http://schemas.openxmlformats.org/drawingml/2006/main">
            <a:r>
              <a:t>예: location과 temperature_c를 출력하면 이름 자체의 글자가 아니라 그 이름이 가리키는 값이 나옵니다. print("location")처럼 따옴표를 붙이면 이름을 찾지 않고 글자 location을 보여 줍니다.</a:t>
            </a:r>
          </a:p>
          <a:p xmlns:a="http://schemas.openxmlformats.org/drawingml/2006/main">
            <a:r>
              <a:t>반례: 한 이름이 무엇을 뜻하는지는 작성자가 정한 약속입니다. 온도를 x로 저장해도 실행될 수 있지만 업무 목적을 읽기 어렵습니다. 의미가 분명한 이름을 쓰되 이름만 보고 단위가 맞다고 단정하지 않습니다.</a:t>
            </a:r>
          </a:p>
          <a:p xmlns:a="http://schemas.openxmlformats.org/drawingml/2006/main">
            <a:r>
              <a:t>질문: print(location)과 print("location")은 왜 다를까요?</a:t>
            </a:r>
          </a:p>
          <a:p xmlns:a="http://schemas.openxmlformats.org/drawingml/2006/main">
            <a:r>
              <a:t>풀이: 전자는 이름의 값을 찾고 후자는 문자열 자체를 출력합니다.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코드는 위에서 아래로 실행됩니다. 같은 이름에 새 값을 대입하면 이후에 그 이름을 읽을 때 새 값을 사용합니다. 이전 출력은 이미 화면에 남은 결과이며 새 대입이 과거 화면을 다시 계산하지는 않습니다.</a:t>
            </a:r>
          </a:p>
          <a:p xmlns:a="http://schemas.openxmlformats.org/drawingml/2006/main">
            <a:r>
              <a:t>필요성: 업무 기록을 갱신하는 코드의 순서를 이해하려면 어느 시점의 값을 보고 있는지 추적해야 합니다. 이름은 같은데 출력이 다른 상황을 오류로 오해하지 않도록 한 줄씩 현재 값을 적습니다.</a:t>
            </a:r>
          </a:p>
          <a:p xmlns:a="http://schemas.openxmlformats.org/drawingml/2006/main">
            <a:r>
              <a:t>예: 아래 코드에서 첫 출력은 22.5이고, 새 대입 다음 출력은 24.0입니다. 이 순서를 작업 전·작업 후 카드로 나누면 값 변화가 보입니다.</a:t>
            </a:r>
          </a:p>
          <a:p xmlns:a="http://schemas.openxmlformats.org/drawingml/2006/main">
            <a:r>
              <a:t>반례: temperature_c = temperature_c + 1은 양변이 같다는 수학식이 아닙니다. 기존 값을 읽고 1을 더한 결과를 같은 이름에 다시 연결하는 명령입니다. 이 활동에서는 단순 재대입부터 확인합니다.</a:t>
            </a:r>
          </a:p>
          <a:p xmlns:a="http://schemas.openxmlformats.org/drawingml/2006/main">
            <a:r>
              <a:t>질문: 마지막 print를 첫 대입 앞에 옮기면 어떤 문제가 생길까요?</a:t>
            </a:r>
          </a:p>
          <a:p xmlns:a="http://schemas.openxmlformats.org/drawingml/2006/main">
            <a:r>
              <a:t>풀이: 해당 이름이 아직 정의되지 않아 NameError가 생길 수 있습니다. 실행 순서가 중요합니다.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코드는 위에서 아래로 실행됩니다. 같은 이름에 새 값을 대입하면 이후에 그 이름을 읽을 때 새 값을 사용합니다. 이전 출력은 이미 화면에 남은 결과이며 새 대입이 과거 화면을 다시 계산하지는 않습니다.</a:t>
            </a:r>
          </a:p>
          <a:p xmlns:a="http://schemas.openxmlformats.org/drawingml/2006/main">
            <a:r>
              <a:t>필요성: 업무 기록을 갱신하는 코드의 순서를 이해하려면 어느 시점의 값을 보고 있는지 추적해야 합니다. 이름은 같은데 출력이 다른 상황을 오류로 오해하지 않도록 한 줄씩 현재 값을 적습니다.</a:t>
            </a:r>
          </a:p>
          <a:p xmlns:a="http://schemas.openxmlformats.org/drawingml/2006/main">
            <a:r>
              <a:t>예: 아래 코드에서 첫 출력은 22.5이고, 새 대입 다음 출력은 24.0입니다. 이 순서를 작업 전·작업 후 카드로 나누면 값 변화가 보입니다.</a:t>
            </a:r>
          </a:p>
          <a:p xmlns:a="http://schemas.openxmlformats.org/drawingml/2006/main">
            <a:r>
              <a:t>반례: temperature_c = temperature_c + 1은 양변이 같다는 수학식이 아닙니다. 기존 값을 읽고 1을 더한 결과를 같은 이름에 다시 연결하는 명령입니다. 이 활동에서는 단순 재대입부터 확인합니다.</a:t>
            </a:r>
          </a:p>
          <a:p xmlns:a="http://schemas.openxmlformats.org/drawingml/2006/main">
            <a:r>
              <a:t>질문: 마지막 print를 첫 대입 앞에 옮기면 어떤 문제가 생길까요?</a:t>
            </a:r>
          </a:p>
          <a:p xmlns:a="http://schemas.openxmlformats.org/drawingml/2006/main">
            <a:r>
              <a:t>풀이: 해당 이름이 아직 정의되지 않아 NameError가 생길 수 있습니다. 실행 순서가 중요합니다.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코드는 위에서 아래로 실행됩니다. 같은 이름에 새 값을 대입하면 이후에 그 이름을 읽을 때 새 값을 사용합니다. 이전 출력은 이미 화면에 남은 결과이며 새 대입이 과거 화면을 다시 계산하지는 않습니다.</a:t>
            </a:r>
          </a:p>
          <a:p xmlns:a="http://schemas.openxmlformats.org/drawingml/2006/main">
            <a:r>
              <a:t>필요성: 업무 기록을 갱신하는 코드의 순서를 이해하려면 어느 시점의 값을 보고 있는지 추적해야 합니다. 이름은 같은데 출력이 다른 상황을 오류로 오해하지 않도록 한 줄씩 현재 값을 적습니다.</a:t>
            </a:r>
          </a:p>
          <a:p xmlns:a="http://schemas.openxmlformats.org/drawingml/2006/main">
            <a:r>
              <a:t>예: 아래 코드에서 첫 출력은 22.5이고, 새 대입 다음 출력은 24.0입니다. 이 순서를 작업 전·작업 후 카드로 나누면 값 변화가 보입니다.</a:t>
            </a:r>
          </a:p>
          <a:p xmlns:a="http://schemas.openxmlformats.org/drawingml/2006/main">
            <a:r>
              <a:t>반례: temperature_c = temperature_c + 1은 양변이 같다는 수학식이 아닙니다. 기존 값을 읽고 1을 더한 결과를 같은 이름에 다시 연결하는 명령입니다. 이 활동에서는 단순 재대입부터 확인합니다.</a:t>
            </a:r>
          </a:p>
          <a:p xmlns:a="http://schemas.openxmlformats.org/drawingml/2006/main">
            <a:r>
              <a:t>질문: 마지막 print를 첫 대입 앞에 옮기면 어떤 문제가 생길까요?</a:t>
            </a:r>
          </a:p>
          <a:p xmlns:a="http://schemas.openxmlformats.org/drawingml/2006/main">
            <a:r>
              <a:t>풀이: 해당 이름이 아직 정의되지 않아 NameError가 생길 수 있습니다. 실행 순서가 중요합니다.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코드는 위에서 아래로 실행됩니다. 같은 이름에 새 값을 대입하면 이후에 그 이름을 읽을 때 새 값을 사용합니다. 이전 출력은 이미 화면에 남은 결과이며 새 대입이 과거 화면을 다시 계산하지는 않습니다.</a:t>
            </a:r>
          </a:p>
          <a:p xmlns:a="http://schemas.openxmlformats.org/drawingml/2006/main">
            <a:r>
              <a:t>필요성: 업무 기록을 갱신하는 코드의 순서를 이해하려면 어느 시점의 값을 보고 있는지 추적해야 합니다. 이름은 같은데 출력이 다른 상황을 오류로 오해하지 않도록 한 줄씩 현재 값을 적습니다.</a:t>
            </a:r>
          </a:p>
          <a:p xmlns:a="http://schemas.openxmlformats.org/drawingml/2006/main">
            <a:r>
              <a:t>예: 아래 코드에서 첫 출력은 22.5이고, 새 대입 다음 출력은 24.0입니다. 이 순서를 작업 전·작업 후 카드로 나누면 값 변화가 보입니다.</a:t>
            </a:r>
          </a:p>
          <a:p xmlns:a="http://schemas.openxmlformats.org/drawingml/2006/main">
            <a:r>
              <a:t>반례: temperature_c = temperature_c + 1은 양변이 같다는 수학식이 아닙니다. 기존 값을 읽고 1을 더한 결과를 같은 이름에 다시 연결하는 명령입니다. 이 활동에서는 단순 재대입부터 확인합니다.</a:t>
            </a:r>
          </a:p>
          <a:p xmlns:a="http://schemas.openxmlformats.org/drawingml/2006/main">
            <a:r>
              <a:t>질문: 마지막 print를 첫 대입 앞에 옮기면 어떤 문제가 생길까요?</a:t>
            </a:r>
          </a:p>
          <a:p xmlns:a="http://schemas.openxmlformats.org/drawingml/2006/main">
            <a:r>
              <a:t>풀이: 해당 이름이 아직 정의되지 않아 NameError가 생길 수 있습니다. 실행 순서가 중요합니다.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오류를 고치는 일은 프로그램을 무작정 바꾸는 것이 아니라 보이는 단서로 원인을 좁히는 작업입니다. NameError는 실행 중 찾으려는 이름을 알 수 없다는 뜻입니다.</a:t>
            </a:r>
          </a:p>
          <a:p xmlns:a="http://schemas.openxmlformats.org/drawingml/2006/main">
            <a:r>
              <a:t>필요성: 변수의 철자가 다르면 컴퓨터는 서로 다른 이름으로 취급합니다. 업무 의미가 같아 보인다는 이유로 temp와 temperature_c를 자동 연결하지 않습니다. 작성한 이름과 사용한 이름의 일치를 확인해야 합니다.</a:t>
            </a:r>
          </a:p>
          <a:p xmlns:a="http://schemas.openxmlformats.org/drawingml/2006/main">
            <a:r>
              <a:t>예: 아래 정상 예는 sensor_id와 temperature_c를 각각 정의한 뒤 출력합니다. 고의 오류 카드에는 print(temperature)가 있으며, 정의된 이름은 temperature_c뿐입니다.</a:t>
            </a:r>
          </a:p>
          <a:p xmlns:a="http://schemas.openxmlformats.org/drawingml/2006/main">
            <a:r>
              <a:t>반례: 오류를 없애려고 새 변수 temperature = 0을 무조건 추가하면 원래 온도가 아닌 0이 출력될 수 있습니다. 의도한 값이 어떤 이름에 들어 있는지 먼저 찾아야 합니다.</a:t>
            </a:r>
          </a:p>
          <a:p xmlns:a="http://schemas.openxmlformats.org/drawingml/2006/main">
            <a:r>
              <a:t>질문: 오류가 사라졌다는 것만으로 올바른 수정이라고 할 수 있나요?</a:t>
            </a:r>
          </a:p>
          <a:p xmlns:a="http://schemas.openxmlformats.org/drawingml/2006/main">
            <a:r>
              <a:t>풀이: 실제 의도한 값이 나오는지 확인해야 합니다. 새 0을 넣어 오류만 없애면 의미가 바뀔 수 있습니다.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오류를 고치는 일은 프로그램을 무작정 바꾸는 것이 아니라 보이는 단서로 원인을 좁히는 작업입니다. NameError는 실행 중 찾으려는 이름을 알 수 없다는 뜻입니다.</a:t>
            </a:r>
          </a:p>
          <a:p xmlns:a="http://schemas.openxmlformats.org/drawingml/2006/main">
            <a:r>
              <a:t>필요성: 변수의 철자가 다르면 컴퓨터는 서로 다른 이름으로 취급합니다. 업무 의미가 같아 보인다는 이유로 temp와 temperature_c를 자동 연결하지 않습니다. 작성한 이름과 사용한 이름의 일치를 확인해야 합니다.</a:t>
            </a:r>
          </a:p>
          <a:p xmlns:a="http://schemas.openxmlformats.org/drawingml/2006/main">
            <a:r>
              <a:t>예: 아래 정상 예는 sensor_id와 temperature_c를 각각 정의한 뒤 출력합니다. 고의 오류 카드에는 print(temperature)가 있으며, 정의된 이름은 temperature_c뿐입니다.</a:t>
            </a:r>
          </a:p>
          <a:p xmlns:a="http://schemas.openxmlformats.org/drawingml/2006/main">
            <a:r>
              <a:t>반례: 오류를 없애려고 새 변수 temperature = 0을 무조건 추가하면 원래 온도가 아닌 0이 출력될 수 있습니다. 의도한 값이 어떤 이름에 들어 있는지 먼저 찾아야 합니다.</a:t>
            </a:r>
          </a:p>
          <a:p xmlns:a="http://schemas.openxmlformats.org/drawingml/2006/main">
            <a:r>
              <a:t>질문: 오류가 사라졌다는 것만으로 올바른 수정이라고 할 수 있나요?</a:t>
            </a:r>
          </a:p>
          <a:p xmlns:a="http://schemas.openxmlformats.org/drawingml/2006/main">
            <a:r>
              <a:t>풀이: 실제 의도한 값이 나오는지 확인해야 합니다. 새 0을 넣어 오류만 없애면 의미가 바뀔 수 있습니다.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오류를 고치는 일은 프로그램을 무작정 바꾸는 것이 아니라 보이는 단서로 원인을 좁히는 작업입니다. NameError는 실행 중 찾으려는 이름을 알 수 없다는 뜻입니다.</a:t>
            </a:r>
          </a:p>
          <a:p xmlns:a="http://schemas.openxmlformats.org/drawingml/2006/main">
            <a:r>
              <a:t>필요성: 변수의 철자가 다르면 컴퓨터는 서로 다른 이름으로 취급합니다. 업무 의미가 같아 보인다는 이유로 temp와 temperature_c를 자동 연결하지 않습니다. 작성한 이름과 사용한 이름의 일치를 확인해야 합니다.</a:t>
            </a:r>
          </a:p>
          <a:p xmlns:a="http://schemas.openxmlformats.org/drawingml/2006/main">
            <a:r>
              <a:t>예: 아래 정상 예는 sensor_id와 temperature_c를 각각 정의한 뒤 출력합니다. 고의 오류 카드에는 print(temperature)가 있으며, 정의된 이름은 temperature_c뿐입니다.</a:t>
            </a:r>
          </a:p>
          <a:p xmlns:a="http://schemas.openxmlformats.org/drawingml/2006/main">
            <a:r>
              <a:t>반례: 오류를 없애려고 새 변수 temperature = 0을 무조건 추가하면 원래 온도가 아닌 0이 출력될 수 있습니다. 의도한 값이 어떤 이름에 들어 있는지 먼저 찾아야 합니다.</a:t>
            </a:r>
          </a:p>
          <a:p xmlns:a="http://schemas.openxmlformats.org/drawingml/2006/main">
            <a:r>
              <a:t>질문: 오류가 사라졌다는 것만으로 올바른 수정이라고 할 수 있나요?</a:t>
            </a:r>
          </a:p>
          <a:p xmlns:a="http://schemas.openxmlformats.org/drawingml/2006/main">
            <a:r>
              <a:t>풀이: 실제 의도한 값이 나오는지 확인해야 합니다. 새 0을 넣어 오류만 없애면 의미가 바뀔 수 있습니다.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오류를 고치는 일은 프로그램을 무작정 바꾸는 것이 아니라 보이는 단서로 원인을 좁히는 작업입니다. NameError는 실행 중 찾으려는 이름을 알 수 없다는 뜻입니다.</a:t>
            </a:r>
          </a:p>
          <a:p xmlns:a="http://schemas.openxmlformats.org/drawingml/2006/main">
            <a:r>
              <a:t>필요성: 변수의 철자가 다르면 컴퓨터는 서로 다른 이름으로 취급합니다. 업무 의미가 같아 보인다는 이유로 temp와 temperature_c를 자동 연결하지 않습니다. 작성한 이름과 사용한 이름의 일치를 확인해야 합니다.</a:t>
            </a:r>
          </a:p>
          <a:p xmlns:a="http://schemas.openxmlformats.org/drawingml/2006/main">
            <a:r>
              <a:t>예: 아래 정상 예는 sensor_id와 temperature_c를 각각 정의한 뒤 출력합니다. 고의 오류 카드에는 print(temperature)가 있으며, 정의된 이름은 temperature_c뿐입니다.</a:t>
            </a:r>
          </a:p>
          <a:p xmlns:a="http://schemas.openxmlformats.org/drawingml/2006/main">
            <a:r>
              <a:t>반례: 오류를 없애려고 새 변수 temperature = 0을 무조건 추가하면 원래 온도가 아닌 0이 출력될 수 있습니다. 의도한 값이 어떤 이름에 들어 있는지 먼저 찾아야 합니다.</a:t>
            </a:r>
          </a:p>
          <a:p xmlns:a="http://schemas.openxmlformats.org/drawingml/2006/main">
            <a:r>
              <a:t>질문: 오류가 사라졌다는 것만으로 올바른 수정이라고 할 수 있나요?</a:t>
            </a:r>
          </a:p>
          <a:p xmlns:a="http://schemas.openxmlformats.org/drawingml/2006/main">
            <a:r>
              <a:t>풀이: 실제 의도한 값이 나오는지 확인해야 합니다. 새 0을 넣어 오류만 없애면 의미가 바뀔 수 있습니다.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숫자의 +는 수치 덧셈을 하고 문자열의 +는 글자를 이어 붙입니다. 같은 모양의 3이라도 따옴표 유무에 따라 저장 자료형이 달라지며 연산의 결과도 달라집니다.</a:t>
            </a:r>
          </a:p>
          <a:p xmlns:a="http://schemas.openxmlformats.org/drawingml/2006/main">
            <a:r>
              <a:t>필요성: CSV의 셀을 기본 방식으로 읽으면 문자열이 된다는 10/8의 내용을 떠올립니다. 수량을 계산하려고 글자를 그대로 이어 붙이면 합계처럼 보이는 잘못된 결과가 생길 수 있습니다.</a:t>
            </a:r>
          </a:p>
          <a:p xmlns:a="http://schemas.openxmlformats.org/drawingml/2006/main">
            <a:r>
              <a:t>예: 3 + 2는 5이고 "3" + "2"는 글자 32입니다. 10/8의 사번 001처럼 앞의 0을 유지해야 하는 이름표는 문자열이 적절할 수 있으므로 모든 숫자 모양을 변환하지 않습니다.</a:t>
            </a:r>
          </a:p>
          <a:p xmlns:a="http://schemas.openxmlformats.org/drawingml/2006/main">
            <a:r>
              <a:t>반례: 문자열을 무조건 숫자로 바꾸는 것도 정답이 아닙니다. 사번을 숫자로 바꾸면 식별 표현을 잃을 수 있습니다. 먼저 의미상 수량인지, 이름표인지 판단합니다.</a:t>
            </a:r>
          </a:p>
          <a:p xmlns:a="http://schemas.openxmlformats.org/drawingml/2006/main">
            <a:r>
              <a:t>질문: "001"에 1을 더해 다음 직원을 정하는 것이 항상 적절할까요?</a:t>
            </a:r>
          </a:p>
          <a:p xmlns:a="http://schemas.openxmlformats.org/drawingml/2006/main">
            <a:r>
              <a:t>풀이: 식별자의 생성 규칙은 별도 계약입니다. 문자열 이름표를 계산량으로 가정하면 안 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숫자의 +는 수치 덧셈을 하고 문자열의 +는 글자를 이어 붙입니다. 같은 모양의 3이라도 따옴표 유무에 따라 저장 자료형이 달라지며 연산의 결과도 달라집니다.</a:t>
            </a:r>
          </a:p>
          <a:p xmlns:a="http://schemas.openxmlformats.org/drawingml/2006/main">
            <a:r>
              <a:t>필요성: CSV의 셀을 기본 방식으로 읽으면 문자열이 된다는 10/8의 내용을 떠올립니다. 수량을 계산하려고 글자를 그대로 이어 붙이면 합계처럼 보이는 잘못된 결과가 생길 수 있습니다.</a:t>
            </a:r>
          </a:p>
          <a:p xmlns:a="http://schemas.openxmlformats.org/drawingml/2006/main">
            <a:r>
              <a:t>예: 3 + 2는 5이고 "3" + "2"는 글자 32입니다. 10/8의 사번 001처럼 앞의 0을 유지해야 하는 이름표는 문자열이 적절할 수 있으므로 모든 숫자 모양을 변환하지 않습니다.</a:t>
            </a:r>
          </a:p>
          <a:p xmlns:a="http://schemas.openxmlformats.org/drawingml/2006/main">
            <a:r>
              <a:t>반례: 문자열을 무조건 숫자로 바꾸는 것도 정답이 아닙니다. 사번을 숫자로 바꾸면 식별 표현을 잃을 수 있습니다. 먼저 의미상 수량인지, 이름표인지 판단합니다.</a:t>
            </a:r>
          </a:p>
          <a:p xmlns:a="http://schemas.openxmlformats.org/drawingml/2006/main">
            <a:r>
              <a:t>질문: "001"에 1을 더해 다음 직원을 정하는 것이 항상 적절할까요?</a:t>
            </a:r>
          </a:p>
          <a:p xmlns:a="http://schemas.openxmlformats.org/drawingml/2006/main">
            <a:r>
              <a:t>풀이: 식별자의 생성 규칙은 별도 계약입니다. 문자열 이름표를 계산량으로 가정하면 안 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숫자의 +는 수치 덧셈을 하고 문자열의 +는 글자를 이어 붙입니다. 같은 모양의 3이라도 따옴표 유무에 따라 저장 자료형이 달라지며 연산의 결과도 달라집니다.</a:t>
            </a:r>
          </a:p>
          <a:p xmlns:a="http://schemas.openxmlformats.org/drawingml/2006/main">
            <a:r>
              <a:t>필요성: CSV의 셀을 기본 방식으로 읽으면 문자열이 된다는 10/8의 내용을 떠올립니다. 수량을 계산하려고 글자를 그대로 이어 붙이면 합계처럼 보이는 잘못된 결과가 생길 수 있습니다.</a:t>
            </a:r>
          </a:p>
          <a:p xmlns:a="http://schemas.openxmlformats.org/drawingml/2006/main">
            <a:r>
              <a:t>예: 3 + 2는 5이고 "3" + "2"는 글자 32입니다. 10/8의 사번 001처럼 앞의 0을 유지해야 하는 이름표는 문자열이 적절할 수 있으므로 모든 숫자 모양을 변환하지 않습니다.</a:t>
            </a:r>
          </a:p>
          <a:p xmlns:a="http://schemas.openxmlformats.org/drawingml/2006/main">
            <a:r>
              <a:t>반례: 문자열을 무조건 숫자로 바꾸는 것도 정답이 아닙니다. 사번을 숫자로 바꾸면 식별 표현을 잃을 수 있습니다. 먼저 의미상 수량인지, 이름표인지 판단합니다.</a:t>
            </a:r>
          </a:p>
          <a:p xmlns:a="http://schemas.openxmlformats.org/drawingml/2006/main">
            <a:r>
              <a:t>질문: "001"에 1을 더해 다음 직원을 정하는 것이 항상 적절할까요?</a:t>
            </a:r>
          </a:p>
          <a:p xmlns:a="http://schemas.openxmlformats.org/drawingml/2006/main">
            <a:r>
              <a:t>풀이: 식별자의 생성 규칙은 별도 계약입니다. 문자열 이름표를 계산량으로 가정하면 안 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숫자의 +는 수치 덧셈을 하고 문자열의 +는 글자를 이어 붙입니다. 같은 모양의 3이라도 따옴표 유무에 따라 저장 자료형이 달라지며 연산의 결과도 달라집니다.</a:t>
            </a:r>
          </a:p>
          <a:p xmlns:a="http://schemas.openxmlformats.org/drawingml/2006/main">
            <a:r>
              <a:t>필요성: CSV의 셀을 기본 방식으로 읽으면 문자열이 된다는 10/8의 내용을 떠올립니다. 수량을 계산하려고 글자를 그대로 이어 붙이면 합계처럼 보이는 잘못된 결과가 생길 수 있습니다.</a:t>
            </a:r>
          </a:p>
          <a:p xmlns:a="http://schemas.openxmlformats.org/drawingml/2006/main">
            <a:r>
              <a:t>예: 3 + 2는 5이고 "3" + "2"는 글자 32입니다. 10/8의 사번 001처럼 앞의 0을 유지해야 하는 이름표는 문자열이 적절할 수 있으므로 모든 숫자 모양을 변환하지 않습니다.</a:t>
            </a:r>
          </a:p>
          <a:p xmlns:a="http://schemas.openxmlformats.org/drawingml/2006/main">
            <a:r>
              <a:t>반례: 문자열을 무조건 숫자로 바꾸는 것도 정답이 아닙니다. 사번을 숫자로 바꾸면 식별 표현을 잃을 수 있습니다. 먼저 의미상 수량인지, 이름표인지 판단합니다.</a:t>
            </a:r>
          </a:p>
          <a:p xmlns:a="http://schemas.openxmlformats.org/drawingml/2006/main">
            <a:r>
              <a:t>질문: "001"에 1을 더해 다음 직원을 정하는 것이 항상 적절할까요?</a:t>
            </a:r>
          </a:p>
          <a:p xmlns:a="http://schemas.openxmlformats.org/drawingml/2006/main">
            <a:r>
              <a:t>풀이: 식별자의 생성 규칙은 별도 계약입니다. 문자열 이름표를 계산량으로 가정하면 안 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형 변환은 정해진 규칙으로 다른 자료형의 값을 만드는 일입니다. float("22.5")는 숫자를 나타내는 문자열을 실수값으로 해석합니다. 원문 문자열이 저절로 바뀌는 것은 아니며 결과를 다른 이름에 연결할 수 있습니다.</a:t>
            </a:r>
          </a:p>
          <a:p xmlns:a="http://schemas.openxmlformats.org/drawingml/2006/main">
            <a:r>
              <a:t>필요성: 외부에서 읽은 온도 글자를 계산하려면 숫자로 다룰 값인지 확인하고 변환해야 합니다. 데이터의 의미가 수치라는 사실과 현재 저장 형태가 문자열이라는 사실을 연결하는 단계입니다.</a:t>
            </a:r>
          </a:p>
          <a:p xmlns:a="http://schemas.openxmlformats.org/drawingml/2006/main">
            <a:r>
              <a:t>예: raw와 temperature_c를 나누어 두면 받은 원문과 해석 결과를 비교하기 쉽습니다. 출력에서는 두 값의 모양이 같아도 자료형이 str과 float로 다릅니다.</a:t>
            </a:r>
          </a:p>
          <a:p xmlns:a="http://schemas.openxmlformats.org/drawingml/2006/main">
            <a:r>
              <a:t>반례: float("뜨거움")은 수치로 해석할 수 없어 ValueError가 납니다. 빈칸을 0으로 바꾸는 것으로 해결하면 미측정을 실제 0℃로 바꾸게 됩니다. 값 없음 처리는 다음 활동과 다음 날에 별도로 배웁니다.</a:t>
            </a:r>
          </a:p>
          <a:p xmlns:a="http://schemas.openxmlformats.org/drawingml/2006/main">
            <a:r>
              <a:t>질문: 원문 raw를 남기는 이유는 무엇일까요?</a:t>
            </a:r>
          </a:p>
          <a:p xmlns:a="http://schemas.openxmlformats.org/drawingml/2006/main">
            <a:r>
              <a:t>풀이: 해석 결과가 잘못됐을 때 어떤 입력에서 왔는지 비교할 수 있습니다.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형 변환은 정해진 규칙으로 다른 자료형의 값을 만드는 일입니다. float("22.5")는 숫자를 나타내는 문자열을 실수값으로 해석합니다. 원문 문자열이 저절로 바뀌는 것은 아니며 결과를 다른 이름에 연결할 수 있습니다.</a:t>
            </a:r>
          </a:p>
          <a:p xmlns:a="http://schemas.openxmlformats.org/drawingml/2006/main">
            <a:r>
              <a:t>필요성: 외부에서 읽은 온도 글자를 계산하려면 숫자로 다룰 값인지 확인하고 변환해야 합니다. 데이터의 의미가 수치라는 사실과 현재 저장 형태가 문자열이라는 사실을 연결하는 단계입니다.</a:t>
            </a:r>
          </a:p>
          <a:p xmlns:a="http://schemas.openxmlformats.org/drawingml/2006/main">
            <a:r>
              <a:t>예: raw와 temperature_c를 나누어 두면 받은 원문과 해석 결과를 비교하기 쉽습니다. 출력에서는 두 값의 모양이 같아도 자료형이 str과 float로 다릅니다.</a:t>
            </a:r>
          </a:p>
          <a:p xmlns:a="http://schemas.openxmlformats.org/drawingml/2006/main">
            <a:r>
              <a:t>반례: float("뜨거움")은 수치로 해석할 수 없어 ValueError가 납니다. 빈칸을 0으로 바꾸는 것으로 해결하면 미측정을 실제 0℃로 바꾸게 됩니다. 값 없음 처리는 다음 활동과 다음 날에 별도로 배웁니다.</a:t>
            </a:r>
          </a:p>
          <a:p xmlns:a="http://schemas.openxmlformats.org/drawingml/2006/main">
            <a:r>
              <a:t>질문: 원문 raw를 남기는 이유는 무엇일까요?</a:t>
            </a:r>
          </a:p>
          <a:p xmlns:a="http://schemas.openxmlformats.org/drawingml/2006/main">
            <a:r>
              <a:t>풀이: 해석 결과가 잘못됐을 때 어떤 입력에서 왔는지 비교할 수 있습니다.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형 변환은 정해진 규칙으로 다른 자료형의 값을 만드는 일입니다. float("22.5")는 숫자를 나타내는 문자열을 실수값으로 해석합니다. 원문 문자열이 저절로 바뀌는 것은 아니며 결과를 다른 이름에 연결할 수 있습니다.</a:t>
            </a:r>
          </a:p>
          <a:p xmlns:a="http://schemas.openxmlformats.org/drawingml/2006/main">
            <a:r>
              <a:t>필요성: 외부에서 읽은 온도 글자를 계산하려면 숫자로 다룰 값인지 확인하고 변환해야 합니다. 데이터의 의미가 수치라는 사실과 현재 저장 형태가 문자열이라는 사실을 연결하는 단계입니다.</a:t>
            </a:r>
          </a:p>
          <a:p xmlns:a="http://schemas.openxmlformats.org/drawingml/2006/main">
            <a:r>
              <a:t>예: raw와 temperature_c를 나누어 두면 받은 원문과 해석 결과를 비교하기 쉽습니다. 출력에서는 두 값의 모양이 같아도 자료형이 str과 float로 다릅니다.</a:t>
            </a:r>
          </a:p>
          <a:p xmlns:a="http://schemas.openxmlformats.org/drawingml/2006/main">
            <a:r>
              <a:t>반례: float("뜨거움")은 수치로 해석할 수 없어 ValueError가 납니다. 빈칸을 0으로 바꾸는 것으로 해결하면 미측정을 실제 0℃로 바꾸게 됩니다. 값 없음 처리는 다음 활동과 다음 날에 별도로 배웁니다.</a:t>
            </a:r>
          </a:p>
          <a:p xmlns:a="http://schemas.openxmlformats.org/drawingml/2006/main">
            <a:r>
              <a:t>질문: 원문 raw를 남기는 이유는 무엇일까요?</a:t>
            </a:r>
          </a:p>
          <a:p xmlns:a="http://schemas.openxmlformats.org/drawingml/2006/main">
            <a:r>
              <a:t>풀이: 해석 결과가 잘못됐을 때 어떤 입력에서 왔는지 비교할 수 있습니다.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형 변환은 정해진 규칙으로 다른 자료형의 값을 만드는 일입니다. float("22.5")는 숫자를 나타내는 문자열을 실수값으로 해석합니다. 원문 문자열이 저절로 바뀌는 것은 아니며 결과를 다른 이름에 연결할 수 있습니다.</a:t>
            </a:r>
          </a:p>
          <a:p xmlns:a="http://schemas.openxmlformats.org/drawingml/2006/main">
            <a:r>
              <a:t>필요성: 외부에서 읽은 온도 글자를 계산하려면 숫자로 다룰 값인지 확인하고 변환해야 합니다. 데이터의 의미가 수치라는 사실과 현재 저장 형태가 문자열이라는 사실을 연결하는 단계입니다.</a:t>
            </a:r>
          </a:p>
          <a:p xmlns:a="http://schemas.openxmlformats.org/drawingml/2006/main">
            <a:r>
              <a:t>예: raw와 temperature_c를 나누어 두면 받은 원문과 해석 결과를 비교하기 쉽습니다. 출력에서는 두 값의 모양이 같아도 자료형이 str과 float로 다릅니다.</a:t>
            </a:r>
          </a:p>
          <a:p xmlns:a="http://schemas.openxmlformats.org/drawingml/2006/main">
            <a:r>
              <a:t>반례: float("뜨거움")은 수치로 해석할 수 없어 ValueError가 납니다. 빈칸을 0으로 바꾸는 것으로 해결하면 미측정을 실제 0℃로 바꾸게 됩니다. 값 없음 처리는 다음 활동과 다음 날에 별도로 배웁니다.</a:t>
            </a:r>
          </a:p>
          <a:p xmlns:a="http://schemas.openxmlformats.org/drawingml/2006/main">
            <a:r>
              <a:t>질문: 원문 raw를 남기는 이유는 무엇일까요?</a:t>
            </a:r>
          </a:p>
          <a:p xmlns:a="http://schemas.openxmlformats.org/drawingml/2006/main">
            <a:r>
              <a:t>풀이: 해석 결과가 잘못됐을 때 어떤 입력에서 왔는지 비교할 수 있습니다.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연산자는 값으로 계산하는 기호입니다. +, -, *, /를 읽고 괄호로 먼저 계산할 부분을 정합니다. Python에서 /의 결과는 나누어떨어져도 실수 형태가 될 수 있습니다.</a:t>
            </a:r>
          </a:p>
          <a:p xmlns:a="http://schemas.openxmlformats.org/drawingml/2006/main">
            <a:r>
              <a:t>필요성: 합계와 개수를 따로 확인해야 평균의 분모를 잘못 고르는 일을 막을 수 있습니다. 오늘은 이미 확인된 숫자 세 개만 계산하고, 미측정과 잘못된 값이 있는 파일 처리는 다음 날로 넘깁니다.</a:t>
            </a:r>
          </a:p>
          <a:p xmlns:a="http://schemas.openxmlformats.org/drawingml/2006/main">
            <a:r>
              <a:t>예: 22.5, 24.0, 23.5의 합은 70.0이며 세 값의 평균은 23.333…입니다. round는 표시를 짧게 하는 데 쓰지만 원래 센서가 정확히 두 자리까지 측정했다는 뜻은 아닙니다.</a:t>
            </a:r>
          </a:p>
          <a:p xmlns:a="http://schemas.openxmlformats.org/drawingml/2006/main">
            <a:r>
              <a:t>반례: 22.5 + 24.0 + 23.5 / 3은 전체 합을 3으로 나누는 식과 다릅니다. 괄호나 합계 이름을 사용해 의도한 계산 순서를 드러냅니다.</a:t>
            </a:r>
          </a:p>
          <a:p xmlns:a="http://schemas.openxmlformats.org/drawingml/2006/main">
            <a:r>
              <a:t>질문: 코드가 종료 코드 0으로 끝났다면 평균의 업무 의미도 보장되나요?</a:t>
            </a:r>
          </a:p>
          <a:p xmlns:a="http://schemas.openxmlformats.org/drawingml/2006/main">
            <a:r>
              <a:t>풀이: 아닙니다. 어떤 값과 개수를 사용했는지 별도로 대조해야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연산자는 값으로 계산하는 기호입니다. +, -, *, /를 읽고 괄호로 먼저 계산할 부분을 정합니다. Python에서 /의 결과는 나누어떨어져도 실수 형태가 될 수 있습니다.</a:t>
            </a:r>
          </a:p>
          <a:p xmlns:a="http://schemas.openxmlformats.org/drawingml/2006/main">
            <a:r>
              <a:t>필요성: 합계와 개수를 따로 확인해야 평균의 분모를 잘못 고르는 일을 막을 수 있습니다. 오늘은 이미 확인된 숫자 세 개만 계산하고, 미측정과 잘못된 값이 있는 파일 처리는 다음 날로 넘깁니다.</a:t>
            </a:r>
          </a:p>
          <a:p xmlns:a="http://schemas.openxmlformats.org/drawingml/2006/main">
            <a:r>
              <a:t>예: 22.5, 24.0, 23.5의 합은 70.0이며 세 값의 평균은 23.333…입니다. round는 표시를 짧게 하는 데 쓰지만 원래 센서가 정확히 두 자리까지 측정했다는 뜻은 아닙니다.</a:t>
            </a:r>
          </a:p>
          <a:p xmlns:a="http://schemas.openxmlformats.org/drawingml/2006/main">
            <a:r>
              <a:t>반례: 22.5 + 24.0 + 23.5 / 3은 전체 합을 3으로 나누는 식과 다릅니다. 괄호나 합계 이름을 사용해 의도한 계산 순서를 드러냅니다.</a:t>
            </a:r>
          </a:p>
          <a:p xmlns:a="http://schemas.openxmlformats.org/drawingml/2006/main">
            <a:r>
              <a:t>질문: 코드가 종료 코드 0으로 끝났다면 평균의 업무 의미도 보장되나요?</a:t>
            </a:r>
          </a:p>
          <a:p xmlns:a="http://schemas.openxmlformats.org/drawingml/2006/main">
            <a:r>
              <a:t>풀이: 아닙니다. 어떤 값과 개수를 사용했는지 별도로 대조해야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연산자는 값으로 계산하는 기호입니다. +, -, *, /를 읽고 괄호로 먼저 계산할 부분을 정합니다. Python에서 /의 결과는 나누어떨어져도 실수 형태가 될 수 있습니다.</a:t>
            </a:r>
          </a:p>
          <a:p xmlns:a="http://schemas.openxmlformats.org/drawingml/2006/main">
            <a:r>
              <a:t>필요성: 합계와 개수를 따로 확인해야 평균의 분모를 잘못 고르는 일을 막을 수 있습니다. 오늘은 이미 확인된 숫자 세 개만 계산하고, 미측정과 잘못된 값이 있는 파일 처리는 다음 날로 넘깁니다.</a:t>
            </a:r>
          </a:p>
          <a:p xmlns:a="http://schemas.openxmlformats.org/drawingml/2006/main">
            <a:r>
              <a:t>예: 22.5, 24.0, 23.5의 합은 70.0이며 세 값의 평균은 23.333…입니다. round는 표시를 짧게 하는 데 쓰지만 원래 센서가 정확히 두 자리까지 측정했다는 뜻은 아닙니다.</a:t>
            </a:r>
          </a:p>
          <a:p xmlns:a="http://schemas.openxmlformats.org/drawingml/2006/main">
            <a:r>
              <a:t>반례: 22.5 + 24.0 + 23.5 / 3은 전체 합을 3으로 나누는 식과 다릅니다. 괄호나 합계 이름을 사용해 의도한 계산 순서를 드러냅니다.</a:t>
            </a:r>
          </a:p>
          <a:p xmlns:a="http://schemas.openxmlformats.org/drawingml/2006/main">
            <a:r>
              <a:t>질문: 코드가 종료 코드 0으로 끝났다면 평균의 업무 의미도 보장되나요?</a:t>
            </a:r>
          </a:p>
          <a:p xmlns:a="http://schemas.openxmlformats.org/drawingml/2006/main">
            <a:r>
              <a:t>풀이: 아닙니다. 어떤 값과 개수를 사용했는지 별도로 대조해야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연산자는 값으로 계산하는 기호입니다. +, -, *, /를 읽고 괄호로 먼저 계산할 부분을 정합니다. Python에서 /의 결과는 나누어떨어져도 실수 형태가 될 수 있습니다.</a:t>
            </a:r>
          </a:p>
          <a:p xmlns:a="http://schemas.openxmlformats.org/drawingml/2006/main">
            <a:r>
              <a:t>필요성: 합계와 개수를 따로 확인해야 평균의 분모를 잘못 고르는 일을 막을 수 있습니다. 오늘은 이미 확인된 숫자 세 개만 계산하고, 미측정과 잘못된 값이 있는 파일 처리는 다음 날로 넘깁니다.</a:t>
            </a:r>
          </a:p>
          <a:p xmlns:a="http://schemas.openxmlformats.org/drawingml/2006/main">
            <a:r>
              <a:t>예: 22.5, 24.0, 23.5의 합은 70.0이며 세 값의 평균은 23.333…입니다. round는 표시를 짧게 하는 데 쓰지만 원래 센서가 정확히 두 자리까지 측정했다는 뜻은 아닙니다.</a:t>
            </a:r>
          </a:p>
          <a:p xmlns:a="http://schemas.openxmlformats.org/drawingml/2006/main">
            <a:r>
              <a:t>반례: 22.5 + 24.0 + 23.5 / 3은 전체 합을 3으로 나누는 식과 다릅니다. 괄호나 합계 이름을 사용해 의도한 계산 순서를 드러냅니다.</a:t>
            </a:r>
          </a:p>
          <a:p xmlns:a="http://schemas.openxmlformats.org/drawingml/2006/main">
            <a:r>
              <a:t>질문: 코드가 종료 코드 0으로 끝났다면 평균의 업무 의미도 보장되나요?</a:t>
            </a:r>
          </a:p>
          <a:p xmlns:a="http://schemas.openxmlformats.org/drawingml/2006/main">
            <a:r>
              <a:t>풀이: 아닙니다. 어떤 값과 개수를 사용했는지 별도로 대조해야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A09: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비교 연산은 두 값의 관계를 물어 True 또는 False를 만듭니다. &gt;는 초과, &gt;=는 이상, ==는 같은지 확인합니다. =는 대입이므로 역할이 다릅니다.</a:t>
            </a:r>
          </a:p>
          <a:p xmlns:a="http://schemas.openxmlformats.org/drawingml/2006/main">
            <a:r>
              <a:t>필요성: 정책 문구를 코드로 옮길 때 ‘이상’과 ‘초과’를 혼동하면 경계값에서 다른 결과가 나옵니다. 기준과 정확히 같은 입력을 확인해야 차이가 보입니다.</a:t>
            </a:r>
          </a:p>
          <a:p xmlns:a="http://schemas.openxmlformats.org/drawingml/2006/main">
            <a:r>
              <a:t>예: 온도 24.0과 기준 24.0에서 &gt;는 False, &gt;=는 True입니다. 참·거짓은 비교 질문의 답이며 온도 자체가 참이나 거짓이라는 의미가 아닙니다.</a:t>
            </a:r>
          </a:p>
          <a:p xmlns:a="http://schemas.openxmlformats.org/drawingml/2006/main">
            <a:r>
              <a:t>반례: ‘확인 필요’라는 출력은 이 연습의 입력 점검 규칙입니다. 실제 안전 판단이나 센서 성능을 보증하는 말로 사용하지 않습니다.</a:t>
            </a:r>
          </a:p>
          <a:p xmlns:a="http://schemas.openxmlformats.org/drawingml/2006/main">
            <a:r>
              <a:t>질문: 변수에 값을 넣는 =와 비교하는 ==를 같은 기호처럼 쓰면 될까요?</a:t>
            </a:r>
          </a:p>
          <a:p xmlns:a="http://schemas.openxmlformats.org/drawingml/2006/main">
            <a:r>
              <a:t>풀이: 역할이 다릅니다. 대입과 비교를 구별해야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비교 연산은 두 값의 관계를 물어 True 또는 False를 만듭니다. &gt;는 초과, &gt;=는 이상, ==는 같은지 확인합니다. =는 대입이므로 역할이 다릅니다.</a:t>
            </a:r>
          </a:p>
          <a:p xmlns:a="http://schemas.openxmlformats.org/drawingml/2006/main">
            <a:r>
              <a:t>필요성: 정책 문구를 코드로 옮길 때 ‘이상’과 ‘초과’를 혼동하면 경계값에서 다른 결과가 나옵니다. 기준과 정확히 같은 입력을 확인해야 차이가 보입니다.</a:t>
            </a:r>
          </a:p>
          <a:p xmlns:a="http://schemas.openxmlformats.org/drawingml/2006/main">
            <a:r>
              <a:t>예: 온도 24.0과 기준 24.0에서 &gt;는 False, &gt;=는 True입니다. 참·거짓은 비교 질문의 답이며 온도 자체가 참이나 거짓이라는 의미가 아닙니다.</a:t>
            </a:r>
          </a:p>
          <a:p xmlns:a="http://schemas.openxmlformats.org/drawingml/2006/main">
            <a:r>
              <a:t>반례: ‘확인 필요’라는 출력은 이 연습의 입력 점검 규칙입니다. 실제 안전 판단이나 센서 성능을 보증하는 말로 사용하지 않습니다.</a:t>
            </a:r>
          </a:p>
          <a:p xmlns:a="http://schemas.openxmlformats.org/drawingml/2006/main">
            <a:r>
              <a:t>질문: 변수에 값을 넣는 =와 비교하는 ==를 같은 기호처럼 쓰면 될까요?</a:t>
            </a:r>
          </a:p>
          <a:p xmlns:a="http://schemas.openxmlformats.org/drawingml/2006/main">
            <a:r>
              <a:t>풀이: 역할이 다릅니다. 대입과 비교를 구별해야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비교 연산은 두 값의 관계를 물어 True 또는 False를 만듭니다. &gt;는 초과, &gt;=는 이상, ==는 같은지 확인합니다. =는 대입이므로 역할이 다릅니다.</a:t>
            </a:r>
          </a:p>
          <a:p xmlns:a="http://schemas.openxmlformats.org/drawingml/2006/main">
            <a:r>
              <a:t>필요성: 정책 문구를 코드로 옮길 때 ‘이상’과 ‘초과’를 혼동하면 경계값에서 다른 결과가 나옵니다. 기준과 정확히 같은 입력을 확인해야 차이가 보입니다.</a:t>
            </a:r>
          </a:p>
          <a:p xmlns:a="http://schemas.openxmlformats.org/drawingml/2006/main">
            <a:r>
              <a:t>예: 온도 24.0과 기준 24.0에서 &gt;는 False, &gt;=는 True입니다. 참·거짓은 비교 질문의 답이며 온도 자체가 참이나 거짓이라는 의미가 아닙니다.</a:t>
            </a:r>
          </a:p>
          <a:p xmlns:a="http://schemas.openxmlformats.org/drawingml/2006/main">
            <a:r>
              <a:t>반례: ‘확인 필요’라는 출력은 이 연습의 입력 점검 규칙입니다. 실제 안전 판단이나 센서 성능을 보증하는 말로 사용하지 않습니다.</a:t>
            </a:r>
          </a:p>
          <a:p xmlns:a="http://schemas.openxmlformats.org/drawingml/2006/main">
            <a:r>
              <a:t>질문: 변수에 값을 넣는 =와 비교하는 ==를 같은 기호처럼 쓰면 될까요?</a:t>
            </a:r>
          </a:p>
          <a:p xmlns:a="http://schemas.openxmlformats.org/drawingml/2006/main">
            <a:r>
              <a:t>풀이: 역할이 다릅니다. 대입과 비교를 구별해야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비교 연산은 두 값의 관계를 물어 True 또는 False를 만듭니다. &gt;는 초과, &gt;=는 이상, ==는 같은지 확인합니다. =는 대입이므로 역할이 다릅니다.</a:t>
            </a:r>
          </a:p>
          <a:p xmlns:a="http://schemas.openxmlformats.org/drawingml/2006/main">
            <a:r>
              <a:t>필요성: 정책 문구를 코드로 옮길 때 ‘이상’과 ‘초과’를 혼동하면 경계값에서 다른 결과가 나옵니다. 기준과 정확히 같은 입력을 확인해야 차이가 보입니다.</a:t>
            </a:r>
          </a:p>
          <a:p xmlns:a="http://schemas.openxmlformats.org/drawingml/2006/main">
            <a:r>
              <a:t>예: 온도 24.0과 기준 24.0에서 &gt;는 False, &gt;=는 True입니다. 참·거짓은 비교 질문의 답이며 온도 자체가 참이나 거짓이라는 의미가 아닙니다.</a:t>
            </a:r>
          </a:p>
          <a:p xmlns:a="http://schemas.openxmlformats.org/drawingml/2006/main">
            <a:r>
              <a:t>반례: ‘확인 필요’라는 출력은 이 연습의 입력 점검 규칙입니다. 실제 안전 판단이나 센서 성능을 보증하는 말로 사용하지 않습니다.</a:t>
            </a:r>
          </a:p>
          <a:p xmlns:a="http://schemas.openxmlformats.org/drawingml/2006/main">
            <a:r>
              <a:t>질문: 변수에 값을 넣는 =와 비교하는 ==를 같은 기호처럼 쓰면 될까요?</a:t>
            </a:r>
          </a:p>
          <a:p xmlns:a="http://schemas.openxmlformats.org/drawingml/2006/main">
            <a:r>
              <a:t>풀이: 역할이 다릅니다. 대입과 비교를 구별해야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A10: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if는 조건이 참일 때 실행할 묶음을 선택합니다. else는 그 조건이 거짓일 때 실행할 묶음입니다. 콜론 뒤의 들여쓴 줄들이 그 묶음에 속합니다.</a:t>
            </a:r>
          </a:p>
          <a:p xmlns:a="http://schemas.openxmlformats.org/drawingml/2006/main">
            <a:r>
              <a:t>필요성: 비교 결과를 화면에 보여 주는 단계에서 한 걸음 더 나아가, 비교에 따라 다른 일을 할 수 있습니다. 두 갈래 중 어느 쪽이 실행되는지 먼저 손으로 따라가면 코드를 읽기 쉽습니다.</a:t>
            </a:r>
          </a:p>
          <a:p xmlns:a="http://schemas.openxmlformats.org/drawingml/2006/main">
            <a:r>
              <a:t>예: 23.5는 기준 24.0을 넘지 않으므로 else 쪽의 정상이 출력됩니다. 25.0을 넣으면 if 쪽의 확인이 출력됩니다. 두 print를 모두 실행하는 코드와 차이를 비교합니다.</a:t>
            </a:r>
          </a:p>
          <a:p xmlns:a="http://schemas.openxmlformats.org/drawingml/2006/main">
            <a:r>
              <a:t>반례: 들여쓰기를 지우면 문법 오류가 나거나 의도한 묶음이 달라질 수 있습니다. 보기 좋게 정렬하는 장식이 아니라 Python 문장의 구조입니다.</a:t>
            </a:r>
          </a:p>
          <a:p xmlns:a="http://schemas.openxmlformats.org/drawingml/2006/main">
            <a:r>
              <a:t>질문: print("완료")를 들여쓰기 없이 맨 아래에 넣으면 언제 실행될까요?</a:t>
            </a:r>
          </a:p>
          <a:p xmlns:a="http://schemas.openxmlformats.org/drawingml/2006/main">
            <a:r>
              <a:t>풀이: if/else 바깥이므로 어느 갈래를 택하든 그다음에 실행됩니다.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if는 조건이 참일 때 실행할 묶음을 선택합니다. else는 그 조건이 거짓일 때 실행할 묶음입니다. 콜론 뒤의 들여쓴 줄들이 그 묶음에 속합니다.</a:t>
            </a:r>
          </a:p>
          <a:p xmlns:a="http://schemas.openxmlformats.org/drawingml/2006/main">
            <a:r>
              <a:t>필요성: 비교 결과를 화면에 보여 주는 단계에서 한 걸음 더 나아가, 비교에 따라 다른 일을 할 수 있습니다. 두 갈래 중 어느 쪽이 실행되는지 먼저 손으로 따라가면 코드를 읽기 쉽습니다.</a:t>
            </a:r>
          </a:p>
          <a:p xmlns:a="http://schemas.openxmlformats.org/drawingml/2006/main">
            <a:r>
              <a:t>예: 23.5는 기준 24.0을 넘지 않으므로 else 쪽의 정상이 출력됩니다. 25.0을 넣으면 if 쪽의 확인이 출력됩니다. 두 print를 모두 실행하는 코드와 차이를 비교합니다.</a:t>
            </a:r>
          </a:p>
          <a:p xmlns:a="http://schemas.openxmlformats.org/drawingml/2006/main">
            <a:r>
              <a:t>반례: 들여쓰기를 지우면 문법 오류가 나거나 의도한 묶음이 달라질 수 있습니다. 보기 좋게 정렬하는 장식이 아니라 Python 문장의 구조입니다.</a:t>
            </a:r>
          </a:p>
          <a:p xmlns:a="http://schemas.openxmlformats.org/drawingml/2006/main">
            <a:r>
              <a:t>질문: print("완료")를 들여쓰기 없이 맨 아래에 넣으면 언제 실행될까요?</a:t>
            </a:r>
          </a:p>
          <a:p xmlns:a="http://schemas.openxmlformats.org/drawingml/2006/main">
            <a:r>
              <a:t>풀이: if/else 바깥이므로 어느 갈래를 택하든 그다음에 실행됩니다.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if는 조건이 참일 때 실행할 묶음을 선택합니다. else는 그 조건이 거짓일 때 실행할 묶음입니다. 콜론 뒤의 들여쓴 줄들이 그 묶음에 속합니다.</a:t>
            </a:r>
          </a:p>
          <a:p xmlns:a="http://schemas.openxmlformats.org/drawingml/2006/main">
            <a:r>
              <a:t>필요성: 비교 결과를 화면에 보여 주는 단계에서 한 걸음 더 나아가, 비교에 따라 다른 일을 할 수 있습니다. 두 갈래 중 어느 쪽이 실행되는지 먼저 손으로 따라가면 코드를 읽기 쉽습니다.</a:t>
            </a:r>
          </a:p>
          <a:p xmlns:a="http://schemas.openxmlformats.org/drawingml/2006/main">
            <a:r>
              <a:t>예: 23.5는 기준 24.0을 넘지 않으므로 else 쪽의 정상이 출력됩니다. 25.0을 넣으면 if 쪽의 확인이 출력됩니다. 두 print를 모두 실행하는 코드와 차이를 비교합니다.</a:t>
            </a:r>
          </a:p>
          <a:p xmlns:a="http://schemas.openxmlformats.org/drawingml/2006/main">
            <a:r>
              <a:t>반례: 들여쓰기를 지우면 문법 오류가 나거나 의도한 묶음이 달라질 수 있습니다. 보기 좋게 정렬하는 장식이 아니라 Python 문장의 구조입니다.</a:t>
            </a:r>
          </a:p>
          <a:p xmlns:a="http://schemas.openxmlformats.org/drawingml/2006/main">
            <a:r>
              <a:t>질문: print("완료")를 들여쓰기 없이 맨 아래에 넣으면 언제 실행될까요?</a:t>
            </a:r>
          </a:p>
          <a:p xmlns:a="http://schemas.openxmlformats.org/drawingml/2006/main">
            <a:r>
              <a:t>풀이: if/else 바깥이므로 어느 갈래를 택하든 그다음에 실행됩니다.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if는 조건이 참일 때 실행할 묶음을 선택합니다. else는 그 조건이 거짓일 때 실행할 묶음입니다. 콜론 뒤의 들여쓴 줄들이 그 묶음에 속합니다.</a:t>
            </a:r>
          </a:p>
          <a:p xmlns:a="http://schemas.openxmlformats.org/drawingml/2006/main">
            <a:r>
              <a:t>필요성: 비교 결과를 화면에 보여 주는 단계에서 한 걸음 더 나아가, 비교에 따라 다른 일을 할 수 있습니다. 두 갈래 중 어느 쪽이 실행되는지 먼저 손으로 따라가면 코드를 읽기 쉽습니다.</a:t>
            </a:r>
          </a:p>
          <a:p xmlns:a="http://schemas.openxmlformats.org/drawingml/2006/main">
            <a:r>
              <a:t>예: 23.5는 기준 24.0을 넘지 않으므로 else 쪽의 정상이 출력됩니다. 25.0을 넣으면 if 쪽의 확인이 출력됩니다. 두 print를 모두 실행하는 코드와 차이를 비교합니다.</a:t>
            </a:r>
          </a:p>
          <a:p xmlns:a="http://schemas.openxmlformats.org/drawingml/2006/main">
            <a:r>
              <a:t>반례: 들여쓰기를 지우면 문법 오류가 나거나 의도한 묶음이 달라질 수 있습니다. 보기 좋게 정렬하는 장식이 아니라 Python 문장의 구조입니다.</a:t>
            </a:r>
          </a:p>
          <a:p xmlns:a="http://schemas.openxmlformats.org/drawingml/2006/main">
            <a:r>
              <a:t>질문: print("완료")를 들여쓰기 없이 맨 아래에 넣으면 언제 실행될까요?</a:t>
            </a:r>
          </a:p>
          <a:p xmlns:a="http://schemas.openxmlformats.org/drawingml/2006/main">
            <a:r>
              <a:t>풀이: if/else 바깥이므로 어느 갈래를 택하든 그다음에 실행됩니다.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A11: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elif는 앞 조건이 거짓일 때 다음 조건을 확인합니다. 값이 없다는 상태 None을 먼저 확인하면 숫자가 없는 값을 기준과 비교하는 일을 피할 수 있습니다.</a:t>
            </a:r>
          </a:p>
          <a:p xmlns:a="http://schemas.openxmlformats.org/drawingml/2006/main">
            <a:r>
              <a:t>필요성: 10/8의 미측정을 숫자 0으로 바꾸지 않고 프로그램 안에서도 유지해야 합니다. 미측정·기준 초과·그 밖의 측정을 서로 다른 상태로 구분합니다.</a:t>
            </a:r>
          </a:p>
          <a:p xmlns:a="http://schemas.openxmlformats.org/drawingml/2006/main">
            <a:r>
              <a:t>예: None이면 미측정, 숫자 25.0이면 확인, 24.0이면 정상입니다. 기준은 ‘24.0 초과’이므로 같은 값은 정상 쪽입니다. 숫자 비교는 값이 있는 경우에만 진행됩니다.</a:t>
            </a:r>
          </a:p>
          <a:p xmlns:a="http://schemas.openxmlformats.org/drawingml/2006/main">
            <a:r>
              <a:t>반례: if not temperature_c처럼 쓰면 0.0도 거짓으로 취급될 수 있어 미측정과 섞일 수 있습니다. 오늘은 값 없음의 정확한 비교인 is None을 사용합니다.</a:t>
            </a:r>
          </a:p>
          <a:p xmlns:a="http://schemas.openxmlformats.org/drawingml/2006/main">
            <a:r>
              <a:t>질문: None에 직접 &gt; 24.0을 적용하면 어떻게 될까요?</a:t>
            </a:r>
          </a:p>
          <a:p xmlns:a="http://schemas.openxmlformats.org/drawingml/2006/main">
            <a:r>
              <a:t>풀이: 서로 비교할 수 없는 자료형이라 TypeError가 납니다. 값 없음 처리를 먼저 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elif는 앞 조건이 거짓일 때 다음 조건을 확인합니다. 값이 없다는 상태 None을 먼저 확인하면 숫자가 없는 값을 기준과 비교하는 일을 피할 수 있습니다.</a:t>
            </a:r>
          </a:p>
          <a:p xmlns:a="http://schemas.openxmlformats.org/drawingml/2006/main">
            <a:r>
              <a:t>필요성: 10/8의 미측정을 숫자 0으로 바꾸지 않고 프로그램 안에서도 유지해야 합니다. 미측정·기준 초과·그 밖의 측정을 서로 다른 상태로 구분합니다.</a:t>
            </a:r>
          </a:p>
          <a:p xmlns:a="http://schemas.openxmlformats.org/drawingml/2006/main">
            <a:r>
              <a:t>예: None이면 미측정, 숫자 25.0이면 확인, 24.0이면 정상입니다. 기준은 ‘24.0 초과’이므로 같은 값은 정상 쪽입니다. 숫자 비교는 값이 있는 경우에만 진행됩니다.</a:t>
            </a:r>
          </a:p>
          <a:p xmlns:a="http://schemas.openxmlformats.org/drawingml/2006/main">
            <a:r>
              <a:t>반례: if not temperature_c처럼 쓰면 0.0도 거짓으로 취급될 수 있어 미측정과 섞일 수 있습니다. 오늘은 값 없음의 정확한 비교인 is None을 사용합니다.</a:t>
            </a:r>
          </a:p>
          <a:p xmlns:a="http://schemas.openxmlformats.org/drawingml/2006/main">
            <a:r>
              <a:t>질문: None에 직접 &gt; 24.0을 적용하면 어떻게 될까요?</a:t>
            </a:r>
          </a:p>
          <a:p xmlns:a="http://schemas.openxmlformats.org/drawingml/2006/main">
            <a:r>
              <a:t>풀이: 서로 비교할 수 없는 자료형이라 TypeError가 납니다. 값 없음 처리를 먼저 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elif는 앞 조건이 거짓일 때 다음 조건을 확인합니다. 값이 없다는 상태 None을 먼저 확인하면 숫자가 없는 값을 기준과 비교하는 일을 피할 수 있습니다.</a:t>
            </a:r>
          </a:p>
          <a:p xmlns:a="http://schemas.openxmlformats.org/drawingml/2006/main">
            <a:r>
              <a:t>필요성: 10/8의 미측정을 숫자 0으로 바꾸지 않고 프로그램 안에서도 유지해야 합니다. 미측정·기준 초과·그 밖의 측정을 서로 다른 상태로 구분합니다.</a:t>
            </a:r>
          </a:p>
          <a:p xmlns:a="http://schemas.openxmlformats.org/drawingml/2006/main">
            <a:r>
              <a:t>예: None이면 미측정, 숫자 25.0이면 확인, 24.0이면 정상입니다. 기준은 ‘24.0 초과’이므로 같은 값은 정상 쪽입니다. 숫자 비교는 값이 있는 경우에만 진행됩니다.</a:t>
            </a:r>
          </a:p>
          <a:p xmlns:a="http://schemas.openxmlformats.org/drawingml/2006/main">
            <a:r>
              <a:t>반례: if not temperature_c처럼 쓰면 0.0도 거짓으로 취급될 수 있어 미측정과 섞일 수 있습니다. 오늘은 값 없음의 정확한 비교인 is None을 사용합니다.</a:t>
            </a:r>
          </a:p>
          <a:p xmlns:a="http://schemas.openxmlformats.org/drawingml/2006/main">
            <a:r>
              <a:t>질문: None에 직접 &gt; 24.0을 적용하면 어떻게 될까요?</a:t>
            </a:r>
          </a:p>
          <a:p xmlns:a="http://schemas.openxmlformats.org/drawingml/2006/main">
            <a:r>
              <a:t>풀이: 서로 비교할 수 없는 자료형이라 TypeError가 납니다. 값 없음 처리를 먼저 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elif는 앞 조건이 거짓일 때 다음 조건을 확인합니다. 값이 없다는 상태 None을 먼저 확인하면 숫자가 없는 값을 기준과 비교하는 일을 피할 수 있습니다.</a:t>
            </a:r>
          </a:p>
          <a:p xmlns:a="http://schemas.openxmlformats.org/drawingml/2006/main">
            <a:r>
              <a:t>필요성: 10/8의 미측정을 숫자 0으로 바꾸지 않고 프로그램 안에서도 유지해야 합니다. 미측정·기준 초과·그 밖의 측정을 서로 다른 상태로 구분합니다.</a:t>
            </a:r>
          </a:p>
          <a:p xmlns:a="http://schemas.openxmlformats.org/drawingml/2006/main">
            <a:r>
              <a:t>예: None이면 미측정, 숫자 25.0이면 확인, 24.0이면 정상입니다. 기준은 ‘24.0 초과’이므로 같은 값은 정상 쪽입니다. 숫자 비교는 값이 있는 경우에만 진행됩니다.</a:t>
            </a:r>
          </a:p>
          <a:p xmlns:a="http://schemas.openxmlformats.org/drawingml/2006/main">
            <a:r>
              <a:t>반례: if not temperature_c처럼 쓰면 0.0도 거짓으로 취급될 수 있어 미측정과 섞일 수 있습니다. 오늘은 값 없음의 정확한 비교인 is None을 사용합니다.</a:t>
            </a:r>
          </a:p>
          <a:p xmlns:a="http://schemas.openxmlformats.org/drawingml/2006/main">
            <a:r>
              <a:t>질문: None에 직접 &gt; 24.0을 적용하면 어떻게 될까요?</a:t>
            </a:r>
          </a:p>
          <a:p xmlns:a="http://schemas.openxmlformats.org/drawingml/2006/main">
            <a:r>
              <a:t>풀이: 서로 비교할 수 없는 자료형이라 TypeError가 납니다. 값 없음 처리를 먼저 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A12: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리스트는 여러 값을 순서대로 묶는 Python 자료구조입니다. 대괄호로 묶고 쉼표로 항목을 나눕니다. 위치 번호는 0부터 시작하며 len은 항목 개수를 돌려줍니다.</a:t>
            </a:r>
          </a:p>
          <a:p xmlns:a="http://schemas.openxmlformats.org/drawingml/2006/main">
            <a:r>
              <a:t>필요성: 측정값이 세 개에서 네 개로 늘어날 때 이름을 계속 만드는 대신 하나의 목록으로 다룰 수 있습니다. 10/8에 읽었던 순서 구조를 직접 작은 값 수정으로 연결합니다.</a:t>
            </a:r>
          </a:p>
          <a:p xmlns:a="http://schemas.openxmlformats.org/drawingml/2006/main">
            <a:r>
              <a:t>예: temperatures[0]은 첫 값 22.5이고 len은 3입니다. 마지막 위치 번호는 2이지 3이 아닙니다. 개수와 위치 번호를 서로 다른 질문으로 적습니다.</a:t>
            </a:r>
          </a:p>
          <a:p xmlns:a="http://schemas.openxmlformats.org/drawingml/2006/main">
            <a:r>
              <a:t>반례: [22.5, 24.0]은 두 값의 목록이고 "22.5, 24.0"은 쉼표가 들어 있는 문자열입니다. 겉에 어떤 괄호나 따옴표가 있는지 확인합니다.</a:t>
            </a:r>
          </a:p>
          <a:p xmlns:a="http://schemas.openxmlformats.org/drawingml/2006/main">
            <a:r>
              <a:t>질문: 값 하나를 수정하는 것과 append로 추가하는 것은 개수에 어떤 차이가 있나요?</a:t>
            </a:r>
          </a:p>
          <a:p xmlns:a="http://schemas.openxmlformats.org/drawingml/2006/main">
            <a:r>
              <a:t>풀이: 기존 위치 수정은 개수를 유지하고 append는 하나 늘립니다.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리스트는 여러 값을 순서대로 묶는 Python 자료구조입니다. 대괄호로 묶고 쉼표로 항목을 나눕니다. 위치 번호는 0부터 시작하며 len은 항목 개수를 돌려줍니다.</a:t>
            </a:r>
          </a:p>
          <a:p xmlns:a="http://schemas.openxmlformats.org/drawingml/2006/main">
            <a:r>
              <a:t>필요성: 측정값이 세 개에서 네 개로 늘어날 때 이름을 계속 만드는 대신 하나의 목록으로 다룰 수 있습니다. 10/8에 읽었던 순서 구조를 직접 작은 값 수정으로 연결합니다.</a:t>
            </a:r>
          </a:p>
          <a:p xmlns:a="http://schemas.openxmlformats.org/drawingml/2006/main">
            <a:r>
              <a:t>예: temperatures[0]은 첫 값 22.5이고 len은 3입니다. 마지막 위치 번호는 2이지 3이 아닙니다. 개수와 위치 번호를 서로 다른 질문으로 적습니다.</a:t>
            </a:r>
          </a:p>
          <a:p xmlns:a="http://schemas.openxmlformats.org/drawingml/2006/main">
            <a:r>
              <a:t>반례: [22.5, 24.0]은 두 값의 목록이고 "22.5, 24.0"은 쉼표가 들어 있는 문자열입니다. 겉에 어떤 괄호나 따옴표가 있는지 확인합니다.</a:t>
            </a:r>
          </a:p>
          <a:p xmlns:a="http://schemas.openxmlformats.org/drawingml/2006/main">
            <a:r>
              <a:t>질문: 값 하나를 수정하는 것과 append로 추가하는 것은 개수에 어떤 차이가 있나요?</a:t>
            </a:r>
          </a:p>
          <a:p xmlns:a="http://schemas.openxmlformats.org/drawingml/2006/main">
            <a:r>
              <a:t>풀이: 기존 위치 수정은 개수를 유지하고 append는 하나 늘립니다.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리스트는 여러 값을 순서대로 묶는 Python 자료구조입니다. 대괄호로 묶고 쉼표로 항목을 나눕니다. 위치 번호는 0부터 시작하며 len은 항목 개수를 돌려줍니다.</a:t>
            </a:r>
          </a:p>
          <a:p xmlns:a="http://schemas.openxmlformats.org/drawingml/2006/main">
            <a:r>
              <a:t>필요성: 측정값이 세 개에서 네 개로 늘어날 때 이름을 계속 만드는 대신 하나의 목록으로 다룰 수 있습니다. 10/8에 읽었던 순서 구조를 직접 작은 값 수정으로 연결합니다.</a:t>
            </a:r>
          </a:p>
          <a:p xmlns:a="http://schemas.openxmlformats.org/drawingml/2006/main">
            <a:r>
              <a:t>예: temperatures[0]은 첫 값 22.5이고 len은 3입니다. 마지막 위치 번호는 2이지 3이 아닙니다. 개수와 위치 번호를 서로 다른 질문으로 적습니다.</a:t>
            </a:r>
          </a:p>
          <a:p xmlns:a="http://schemas.openxmlformats.org/drawingml/2006/main">
            <a:r>
              <a:t>반례: [22.5, 24.0]은 두 값의 목록이고 "22.5, 24.0"은 쉼표가 들어 있는 문자열입니다. 겉에 어떤 괄호나 따옴표가 있는지 확인합니다.</a:t>
            </a:r>
          </a:p>
          <a:p xmlns:a="http://schemas.openxmlformats.org/drawingml/2006/main">
            <a:r>
              <a:t>질문: 값 하나를 수정하는 것과 append로 추가하는 것은 개수에 어떤 차이가 있나요?</a:t>
            </a:r>
          </a:p>
          <a:p xmlns:a="http://schemas.openxmlformats.org/drawingml/2006/main">
            <a:r>
              <a:t>풀이: 기존 위치 수정은 개수를 유지하고 append는 하나 늘립니다.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리스트는 여러 값을 순서대로 묶는 Python 자료구조입니다. 대괄호로 묶고 쉼표로 항목을 나눕니다. 위치 번호는 0부터 시작하며 len은 항목 개수를 돌려줍니다.</a:t>
            </a:r>
          </a:p>
          <a:p xmlns:a="http://schemas.openxmlformats.org/drawingml/2006/main">
            <a:r>
              <a:t>필요성: 측정값이 세 개에서 네 개로 늘어날 때 이름을 계속 만드는 대신 하나의 목록으로 다룰 수 있습니다. 10/8에 읽었던 순서 구조를 직접 작은 값 수정으로 연결합니다.</a:t>
            </a:r>
          </a:p>
          <a:p xmlns:a="http://schemas.openxmlformats.org/drawingml/2006/main">
            <a:r>
              <a:t>예: temperatures[0]은 첫 값 22.5이고 len은 3입니다. 마지막 위치 번호는 2이지 3이 아닙니다. 개수와 위치 번호를 서로 다른 질문으로 적습니다.</a:t>
            </a:r>
          </a:p>
          <a:p xmlns:a="http://schemas.openxmlformats.org/drawingml/2006/main">
            <a:r>
              <a:t>반례: [22.5, 24.0]은 두 값의 목록이고 "22.5, 24.0"은 쉼표가 들어 있는 문자열입니다. 겉에 어떤 괄호나 따옴표가 있는지 확인합니다.</a:t>
            </a:r>
          </a:p>
          <a:p xmlns:a="http://schemas.openxmlformats.org/drawingml/2006/main">
            <a:r>
              <a:t>질문: 값 하나를 수정하는 것과 append로 추가하는 것은 개수에 어떤 차이가 있나요?</a:t>
            </a:r>
          </a:p>
          <a:p xmlns:a="http://schemas.openxmlformats.org/drawingml/2006/main">
            <a:r>
              <a:t>풀이: 기존 위치 수정은 개수를 유지하고 append는 하나 늘립니다.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A13: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for는 묶음에서 항목을 차례로 꺼내 같은 코드 묶음을 실행합니다. 반복 변수 temperature_c는 이번 차례의 값을 가리키는 이름입니다.</a:t>
            </a:r>
          </a:p>
          <a:p xmlns:a="http://schemas.openxmlformats.org/drawingml/2006/main">
            <a:r>
              <a:t>필요성: 여러 온도에 같은 출력이나 비교를 적용할 때 같은 코드를 복사하지 않아도 됩니다. 항목 수가 늘어나면 반복 횟수도 따라 늘어나는 관계를 관찰합니다.</a:t>
            </a:r>
          </a:p>
          <a:p xmlns:a="http://schemas.openxmlformats.org/drawingml/2006/main">
            <a:r>
              <a:t>예: 목록의 첫 22.5가 temperature_c가 되어 출력되고, 다음 차례에는 24.0, 그다음에는 23.5가 됩니다. 반복이 끝난 뒤 들여쓰기 없는 완료가 한 번 출력됩니다.</a:t>
            </a:r>
          </a:p>
          <a:p xmlns:a="http://schemas.openxmlformats.org/drawingml/2006/main">
            <a:r>
              <a:t>반례: 반복 변수에 값을 붙인다고 원래 리스트의 모든 값이 자동 수정되는 것은 아닙니다. 오늘은 목록을 읽는 반복이며 목록 구조를 변경하는 고급 패턴은 다루지 않습니다.</a:t>
            </a:r>
          </a:p>
          <a:p xmlns:a="http://schemas.openxmlformats.org/drawingml/2006/main">
            <a:r>
              <a:t>질문: 완료 출력도 네 칸 들여쓰면 무엇이 바뀔까요?</a:t>
            </a:r>
          </a:p>
          <a:p xmlns:a="http://schemas.openxmlformats.org/drawingml/2006/main">
            <a:r>
              <a:t>풀이: 반복 안으로 들어가 항목마다 한 번씩 출력됩니다.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for는 묶음에서 항목을 차례로 꺼내 같은 코드 묶음을 실행합니다. 반복 변수 temperature_c는 이번 차례의 값을 가리키는 이름입니다.</a:t>
            </a:r>
          </a:p>
          <a:p xmlns:a="http://schemas.openxmlformats.org/drawingml/2006/main">
            <a:r>
              <a:t>필요성: 여러 온도에 같은 출력이나 비교를 적용할 때 같은 코드를 복사하지 않아도 됩니다. 항목 수가 늘어나면 반복 횟수도 따라 늘어나는 관계를 관찰합니다.</a:t>
            </a:r>
          </a:p>
          <a:p xmlns:a="http://schemas.openxmlformats.org/drawingml/2006/main">
            <a:r>
              <a:t>예: 목록의 첫 22.5가 temperature_c가 되어 출력되고, 다음 차례에는 24.0, 그다음에는 23.5가 됩니다. 반복이 끝난 뒤 들여쓰기 없는 완료가 한 번 출력됩니다.</a:t>
            </a:r>
          </a:p>
          <a:p xmlns:a="http://schemas.openxmlformats.org/drawingml/2006/main">
            <a:r>
              <a:t>반례: 반복 변수에 값을 붙인다고 원래 리스트의 모든 값이 자동 수정되는 것은 아닙니다. 오늘은 목록을 읽는 반복이며 목록 구조를 변경하는 고급 패턴은 다루지 않습니다.</a:t>
            </a:r>
          </a:p>
          <a:p xmlns:a="http://schemas.openxmlformats.org/drawingml/2006/main">
            <a:r>
              <a:t>질문: 완료 출력도 네 칸 들여쓰면 무엇이 바뀔까요?</a:t>
            </a:r>
          </a:p>
          <a:p xmlns:a="http://schemas.openxmlformats.org/drawingml/2006/main">
            <a:r>
              <a:t>풀이: 반복 안으로 들어가 항목마다 한 번씩 출력됩니다.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for는 묶음에서 항목을 차례로 꺼내 같은 코드 묶음을 실행합니다. 반복 변수 temperature_c는 이번 차례의 값을 가리키는 이름입니다.</a:t>
            </a:r>
          </a:p>
          <a:p xmlns:a="http://schemas.openxmlformats.org/drawingml/2006/main">
            <a:r>
              <a:t>필요성: 여러 온도에 같은 출력이나 비교를 적용할 때 같은 코드를 복사하지 않아도 됩니다. 항목 수가 늘어나면 반복 횟수도 따라 늘어나는 관계를 관찰합니다.</a:t>
            </a:r>
          </a:p>
          <a:p xmlns:a="http://schemas.openxmlformats.org/drawingml/2006/main">
            <a:r>
              <a:t>예: 목록의 첫 22.5가 temperature_c가 되어 출력되고, 다음 차례에는 24.0, 그다음에는 23.5가 됩니다. 반복이 끝난 뒤 들여쓰기 없는 완료가 한 번 출력됩니다.</a:t>
            </a:r>
          </a:p>
          <a:p xmlns:a="http://schemas.openxmlformats.org/drawingml/2006/main">
            <a:r>
              <a:t>반례: 반복 변수에 값을 붙인다고 원래 리스트의 모든 값이 자동 수정되는 것은 아닙니다. 오늘은 목록을 읽는 반복이며 목록 구조를 변경하는 고급 패턴은 다루지 않습니다.</a:t>
            </a:r>
          </a:p>
          <a:p xmlns:a="http://schemas.openxmlformats.org/drawingml/2006/main">
            <a:r>
              <a:t>질문: 완료 출력도 네 칸 들여쓰면 무엇이 바뀔까요?</a:t>
            </a:r>
          </a:p>
          <a:p xmlns:a="http://schemas.openxmlformats.org/drawingml/2006/main">
            <a:r>
              <a:t>풀이: 반복 안으로 들어가 항목마다 한 번씩 출력됩니다.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for는 묶음에서 항목을 차례로 꺼내 같은 코드 묶음을 실행합니다. 반복 변수 temperature_c는 이번 차례의 값을 가리키는 이름입니다.</a:t>
            </a:r>
          </a:p>
          <a:p xmlns:a="http://schemas.openxmlformats.org/drawingml/2006/main">
            <a:r>
              <a:t>필요성: 여러 온도에 같은 출력이나 비교를 적용할 때 같은 코드를 복사하지 않아도 됩니다. 항목 수가 늘어나면 반복 횟수도 따라 늘어나는 관계를 관찰합니다.</a:t>
            </a:r>
          </a:p>
          <a:p xmlns:a="http://schemas.openxmlformats.org/drawingml/2006/main">
            <a:r>
              <a:t>예: 목록의 첫 22.5가 temperature_c가 되어 출력되고, 다음 차례에는 24.0, 그다음에는 23.5가 됩니다. 반복이 끝난 뒤 들여쓰기 없는 완료가 한 번 출력됩니다.</a:t>
            </a:r>
          </a:p>
          <a:p xmlns:a="http://schemas.openxmlformats.org/drawingml/2006/main">
            <a:r>
              <a:t>반례: 반복 변수에 값을 붙인다고 원래 리스트의 모든 값이 자동 수정되는 것은 아닙니다. 오늘은 목록을 읽는 반복이며 목록 구조를 변경하는 고급 패턴은 다루지 않습니다.</a:t>
            </a:r>
          </a:p>
          <a:p xmlns:a="http://schemas.openxmlformats.org/drawingml/2006/main">
            <a:r>
              <a:t>질문: 완료 출력도 네 칸 들여쓰면 무엇이 바뀔까요?</a:t>
            </a:r>
          </a:p>
          <a:p xmlns:a="http://schemas.openxmlformats.org/drawingml/2006/main">
            <a:r>
              <a:t>풀이: 반복 안으로 들어가 항목마다 한 번씩 출력됩니다.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A14: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반복 안에 조건을 넣으면 각 항목에 같은 판단을 적용할 수 있습니다. 개수를 세는 이름은 반복 전에 0으로 준비하고 조건을 만족할 때 1씩 더합니다.</a:t>
            </a:r>
          </a:p>
          <a:p xmlns:a="http://schemas.openxmlformats.org/drawingml/2006/main">
            <a:r>
              <a:t>필요성: 어떤 기록이 기준을 넘었는지와 전체 몇 건인지 함께 확인할 수 있습니다. 초기화를 반복 안에 넣으면 매번 0으로 돌아가므로 준비 위치가 결과에 영향을 줍니다.</a:t>
            </a:r>
          </a:p>
          <a:p xmlns:a="http://schemas.openxmlformats.org/drawingml/2006/main">
            <a:r>
              <a:t>예: 22.5, 24.0, 25.0에서 ‘24.0 초과’는 마지막 한 건입니다. 24.0은 같은 값이므로 포함하지 않습니다. &gt;를 &gt;=로 바꾸면 두 건이 됩니다.</a:t>
            </a:r>
          </a:p>
          <a:p xmlns:a="http://schemas.openxmlformats.org/drawingml/2006/main">
            <a:r>
              <a:t>반례: count = count + 1은 새 값을 누적하는 대입입니다. 반복 안에서 count = 0을 매번 실행하면 이전 차례의 누적을 잃습니다.</a:t>
            </a:r>
          </a:p>
          <a:p xmlns:a="http://schemas.openxmlformats.org/drawingml/2006/main">
            <a:r>
              <a:t>질문: 한 번의 print인데 세 항목을 검사할 수 있는 이유는 무엇인가요?</a:t>
            </a:r>
          </a:p>
          <a:p xmlns:a="http://schemas.openxmlformats.org/drawingml/2006/main">
            <a:r>
              <a:t>풀이: 검사와 누적은 반복 안에서 여러 번 하고 마지막 결과 출력은 반복 밖에서 한 번 하기 때문입니다.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반복 안에 조건을 넣으면 각 항목에 같은 판단을 적용할 수 있습니다. 개수를 세는 이름은 반복 전에 0으로 준비하고 조건을 만족할 때 1씩 더합니다.</a:t>
            </a:r>
          </a:p>
          <a:p xmlns:a="http://schemas.openxmlformats.org/drawingml/2006/main">
            <a:r>
              <a:t>필요성: 어떤 기록이 기준을 넘었는지와 전체 몇 건인지 함께 확인할 수 있습니다. 초기화를 반복 안에 넣으면 매번 0으로 돌아가므로 준비 위치가 결과에 영향을 줍니다.</a:t>
            </a:r>
          </a:p>
          <a:p xmlns:a="http://schemas.openxmlformats.org/drawingml/2006/main">
            <a:r>
              <a:t>예: 22.5, 24.0, 25.0에서 ‘24.0 초과’는 마지막 한 건입니다. 24.0은 같은 값이므로 포함하지 않습니다. &gt;를 &gt;=로 바꾸면 두 건이 됩니다.</a:t>
            </a:r>
          </a:p>
          <a:p xmlns:a="http://schemas.openxmlformats.org/drawingml/2006/main">
            <a:r>
              <a:t>반례: count = count + 1은 새 값을 누적하는 대입입니다. 반복 안에서 count = 0을 매번 실행하면 이전 차례의 누적을 잃습니다.</a:t>
            </a:r>
          </a:p>
          <a:p xmlns:a="http://schemas.openxmlformats.org/drawingml/2006/main">
            <a:r>
              <a:t>질문: 한 번의 print인데 세 항목을 검사할 수 있는 이유는 무엇인가요?</a:t>
            </a:r>
          </a:p>
          <a:p xmlns:a="http://schemas.openxmlformats.org/drawingml/2006/main">
            <a:r>
              <a:t>풀이: 검사와 누적은 반복 안에서 여러 번 하고 마지막 결과 출력은 반복 밖에서 한 번 하기 때문입니다.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반복 안에 조건을 넣으면 각 항목에 같은 판단을 적용할 수 있습니다. 개수를 세는 이름은 반복 전에 0으로 준비하고 조건을 만족할 때 1씩 더합니다.</a:t>
            </a:r>
          </a:p>
          <a:p xmlns:a="http://schemas.openxmlformats.org/drawingml/2006/main">
            <a:r>
              <a:t>필요성: 어떤 기록이 기준을 넘었는지와 전체 몇 건인지 함께 확인할 수 있습니다. 초기화를 반복 안에 넣으면 매번 0으로 돌아가므로 준비 위치가 결과에 영향을 줍니다.</a:t>
            </a:r>
          </a:p>
          <a:p xmlns:a="http://schemas.openxmlformats.org/drawingml/2006/main">
            <a:r>
              <a:t>예: 22.5, 24.0, 25.0에서 ‘24.0 초과’는 마지막 한 건입니다. 24.0은 같은 값이므로 포함하지 않습니다. &gt;를 &gt;=로 바꾸면 두 건이 됩니다.</a:t>
            </a:r>
          </a:p>
          <a:p xmlns:a="http://schemas.openxmlformats.org/drawingml/2006/main">
            <a:r>
              <a:t>반례: count = count + 1은 새 값을 누적하는 대입입니다. 반복 안에서 count = 0을 매번 실행하면 이전 차례의 누적을 잃습니다.</a:t>
            </a:r>
          </a:p>
          <a:p xmlns:a="http://schemas.openxmlformats.org/drawingml/2006/main">
            <a:r>
              <a:t>질문: 한 번의 print인데 세 항목을 검사할 수 있는 이유는 무엇인가요?</a:t>
            </a:r>
          </a:p>
          <a:p xmlns:a="http://schemas.openxmlformats.org/drawingml/2006/main">
            <a:r>
              <a:t>풀이: 검사와 누적은 반복 안에서 여러 번 하고 마지막 결과 출력은 반복 밖에서 한 번 하기 때문입니다.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반복 안에 조건을 넣으면 각 항목에 같은 판단을 적용할 수 있습니다. 개수를 세는 이름은 반복 전에 0으로 준비하고 조건을 만족할 때 1씩 더합니다.</a:t>
            </a:r>
          </a:p>
          <a:p xmlns:a="http://schemas.openxmlformats.org/drawingml/2006/main">
            <a:r>
              <a:t>필요성: 어떤 기록이 기준을 넘었는지와 전체 몇 건인지 함께 확인할 수 있습니다. 초기화를 반복 안에 넣으면 매번 0으로 돌아가므로 준비 위치가 결과에 영향을 줍니다.</a:t>
            </a:r>
          </a:p>
          <a:p xmlns:a="http://schemas.openxmlformats.org/drawingml/2006/main">
            <a:r>
              <a:t>예: 22.5, 24.0, 25.0에서 ‘24.0 초과’는 마지막 한 건입니다. 24.0은 같은 값이므로 포함하지 않습니다. &gt;를 &gt;=로 바꾸면 두 건이 됩니다.</a:t>
            </a:r>
          </a:p>
          <a:p xmlns:a="http://schemas.openxmlformats.org/drawingml/2006/main">
            <a:r>
              <a:t>반례: count = count + 1은 새 값을 누적하는 대입입니다. 반복 안에서 count = 0을 매번 실행하면 이전 차례의 누적을 잃습니다.</a:t>
            </a:r>
          </a:p>
          <a:p xmlns:a="http://schemas.openxmlformats.org/drawingml/2006/main">
            <a:r>
              <a:t>질문: 한 번의 print인데 세 항목을 검사할 수 있는 이유는 무엇인가요?</a:t>
            </a:r>
          </a:p>
          <a:p xmlns:a="http://schemas.openxmlformats.org/drawingml/2006/main">
            <a:r>
              <a:t>풀이: 검사와 누적은 반복 안에서 여러 번 하고 마지막 결과 출력은 반복 밖에서 한 번 하기 때문입니다.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A15: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딕셔너리는 이름표인 키와 값의 묶음입니다. 여러 관찰 딕셔너리를 리스트로 묶으면 ‘기록 여러 건’의 구조가 됩니다. 이 개념은 10/8의 표 행과 JSON 객체를 프로그램 안에 옮긴 것입니다.</a:t>
            </a:r>
          </a:p>
          <a:p xmlns:a="http://schemas.openxmlformats.org/drawingml/2006/main">
            <a:r>
              <a:t>필요성: 온도만 나열하면 어느 센서인지 놓치기 쉽습니다. 식별자와 온도를 한 기록으로 묶어 처리하면 출력의 대상을 분명히 할 수 있습니다. 오늘은 제공된 구조를 읽고 한 값만 바꿉니다.</a:t>
            </a:r>
          </a:p>
          <a:p xmlns:a="http://schemas.openxmlformats.org/drawingml/2006/main">
            <a:r>
              <a:t>예: records는 기록 두 건의 목록입니다. 첫 기록의 sensor_id는 S01이고 temperature_c는 22.5입니다. for의 record는 이번 차례의 딕셔너리 한 개를 가리킵니다.</a:t>
            </a:r>
          </a:p>
          <a:p xmlns:a="http://schemas.openxmlformats.org/drawingml/2006/main">
            <a:r>
              <a:t>반례: record[0]처럼 위치로 읽는 것과 record["sensor_id"]처럼 키로 읽는 것을 섞지 않습니다. 이 딕셔너리에는 숫자 0이라는 키를 준비하지 않았습니다.</a:t>
            </a:r>
          </a:p>
          <a:p xmlns:a="http://schemas.openxmlformats.org/drawingml/2006/main">
            <a:r>
              <a:t>질문: 딕셔너리 키 temperature_c를 오타로 읽으면 무엇부터 확인하나요?</a:t>
            </a:r>
          </a:p>
          <a:p xmlns:a="http://schemas.openxmlformats.org/drawingml/2006/main">
            <a:r>
              <a:t>풀이: 정의한 키 이름과 사용하는 문자열을 비교합니다. KeyError는 없는 키를 읽었다는 단서입니다.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딕셔너리는 이름표인 키와 값의 묶음입니다. 여러 관찰 딕셔너리를 리스트로 묶으면 ‘기록 여러 건’의 구조가 됩니다. 이 개념은 10/8의 표 행과 JSON 객체를 프로그램 안에 옮긴 것입니다.</a:t>
            </a:r>
          </a:p>
          <a:p xmlns:a="http://schemas.openxmlformats.org/drawingml/2006/main">
            <a:r>
              <a:t>필요성: 온도만 나열하면 어느 센서인지 놓치기 쉽습니다. 식별자와 온도를 한 기록으로 묶어 처리하면 출력의 대상을 분명히 할 수 있습니다. 오늘은 제공된 구조를 읽고 한 값만 바꿉니다.</a:t>
            </a:r>
          </a:p>
          <a:p xmlns:a="http://schemas.openxmlformats.org/drawingml/2006/main">
            <a:r>
              <a:t>예: records는 기록 두 건의 목록입니다. 첫 기록의 sensor_id는 S01이고 temperature_c는 22.5입니다. for의 record는 이번 차례의 딕셔너리 한 개를 가리킵니다.</a:t>
            </a:r>
          </a:p>
          <a:p xmlns:a="http://schemas.openxmlformats.org/drawingml/2006/main">
            <a:r>
              <a:t>반례: record[0]처럼 위치로 읽는 것과 record["sensor_id"]처럼 키로 읽는 것을 섞지 않습니다. 이 딕셔너리에는 숫자 0이라는 키를 준비하지 않았습니다.</a:t>
            </a:r>
          </a:p>
          <a:p xmlns:a="http://schemas.openxmlformats.org/drawingml/2006/main">
            <a:r>
              <a:t>질문: 딕셔너리 키 temperature_c를 오타로 읽으면 무엇부터 확인하나요?</a:t>
            </a:r>
          </a:p>
          <a:p xmlns:a="http://schemas.openxmlformats.org/drawingml/2006/main">
            <a:r>
              <a:t>풀이: 정의한 키 이름과 사용하는 문자열을 비교합니다. KeyError는 없는 키를 읽었다는 단서입니다.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딕셔너리는 이름표인 키와 값의 묶음입니다. 여러 관찰 딕셔너리를 리스트로 묶으면 ‘기록 여러 건’의 구조가 됩니다. 이 개념은 10/8의 표 행과 JSON 객체를 프로그램 안에 옮긴 것입니다.</a:t>
            </a:r>
          </a:p>
          <a:p xmlns:a="http://schemas.openxmlformats.org/drawingml/2006/main">
            <a:r>
              <a:t>필요성: 온도만 나열하면 어느 센서인지 놓치기 쉽습니다. 식별자와 온도를 한 기록으로 묶어 처리하면 출력의 대상을 분명히 할 수 있습니다. 오늘은 제공된 구조를 읽고 한 값만 바꿉니다.</a:t>
            </a:r>
          </a:p>
          <a:p xmlns:a="http://schemas.openxmlformats.org/drawingml/2006/main">
            <a:r>
              <a:t>예: records는 기록 두 건의 목록입니다. 첫 기록의 sensor_id는 S01이고 temperature_c는 22.5입니다. for의 record는 이번 차례의 딕셔너리 한 개를 가리킵니다.</a:t>
            </a:r>
          </a:p>
          <a:p xmlns:a="http://schemas.openxmlformats.org/drawingml/2006/main">
            <a:r>
              <a:t>반례: record[0]처럼 위치로 읽는 것과 record["sensor_id"]처럼 키로 읽는 것을 섞지 않습니다. 이 딕셔너리에는 숫자 0이라는 키를 준비하지 않았습니다.</a:t>
            </a:r>
          </a:p>
          <a:p xmlns:a="http://schemas.openxmlformats.org/drawingml/2006/main">
            <a:r>
              <a:t>질문: 딕셔너리 키 temperature_c를 오타로 읽으면 무엇부터 확인하나요?</a:t>
            </a:r>
          </a:p>
          <a:p xmlns:a="http://schemas.openxmlformats.org/drawingml/2006/main">
            <a:r>
              <a:t>풀이: 정의한 키 이름과 사용하는 문자열을 비교합니다. KeyError는 없는 키를 읽었다는 단서입니다.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딕셔너리는 이름표인 키와 값의 묶음입니다. 여러 관찰 딕셔너리를 리스트로 묶으면 ‘기록 여러 건’의 구조가 됩니다. 이 개념은 10/8의 표 행과 JSON 객체를 프로그램 안에 옮긴 것입니다.</a:t>
            </a:r>
          </a:p>
          <a:p xmlns:a="http://schemas.openxmlformats.org/drawingml/2006/main">
            <a:r>
              <a:t>필요성: 온도만 나열하면 어느 센서인지 놓치기 쉽습니다. 식별자와 온도를 한 기록으로 묶어 처리하면 출력의 대상을 분명히 할 수 있습니다. 오늘은 제공된 구조를 읽고 한 값만 바꿉니다.</a:t>
            </a:r>
          </a:p>
          <a:p xmlns:a="http://schemas.openxmlformats.org/drawingml/2006/main">
            <a:r>
              <a:t>예: records는 기록 두 건의 목록입니다. 첫 기록의 sensor_id는 S01이고 temperature_c는 22.5입니다. for의 record는 이번 차례의 딕셔너리 한 개를 가리킵니다.</a:t>
            </a:r>
          </a:p>
          <a:p xmlns:a="http://schemas.openxmlformats.org/drawingml/2006/main">
            <a:r>
              <a:t>반례: record[0]처럼 위치로 읽는 것과 record["sensor_id"]처럼 키로 읽는 것을 섞지 않습니다. 이 딕셔너리에는 숫자 0이라는 키를 준비하지 않았습니다.</a:t>
            </a:r>
          </a:p>
          <a:p xmlns:a="http://schemas.openxmlformats.org/drawingml/2006/main">
            <a:r>
              <a:t>질문: 딕셔너리 키 temperature_c를 오타로 읽으면 무엇부터 확인하나요?</a:t>
            </a:r>
          </a:p>
          <a:p xmlns:a="http://schemas.openxmlformats.org/drawingml/2006/main">
            <a:r>
              <a:t>풀이: 정의한 키 이름과 사용하는 문자열을 비교합니다. KeyError는 없는 키를 읽었다는 단서입니다.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A16: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종합 예제는 목록·반복·조건을 결합하여 각 관찰의 상태를 출력합니다. 새 문법을 많이 더하기보다 이미 읽은 조각이 어디에 놓였는지 연결합니다.</a:t>
            </a:r>
          </a:p>
          <a:p xmlns:a="http://schemas.openxmlformats.org/drawingml/2006/main">
            <a:r>
              <a:t>필요성: 실무에서는 한 줄의 문법을 아는 것과 여러 단계가 연결된 프로그램을 읽는 것이 다릅니다. 준비한 입력, 각 차례의 처리, 최종 출력을 나누어 표시하면 긴 코드도 추적할 수 있습니다.</a:t>
            </a:r>
          </a:p>
          <a:p xmlns:a="http://schemas.openxmlformats.org/drawingml/2006/main">
            <a:r>
              <a:t>예: S01의 22.5는 정상, S02의 25.0은 확인, S03의 None은 미측정입니다. 상태 문자열을 status라는 이름에 넣은 뒤 공통 print 한 곳에서 센서명과 함께 출력합니다.</a:t>
            </a:r>
          </a:p>
          <a:p xmlns:a="http://schemas.openxmlformats.org/drawingml/2006/main">
            <a:r>
              <a:t>반례: 상태 표시만으로 실제 장비의 안전을 판정하지 않습니다. 24.0이라는 숫자는 수업 비교 규칙입니다. 상태가 None인지 먼저 검사하므로 미측정을 실제 0으로 채우지 않습니다.</a:t>
            </a:r>
          </a:p>
          <a:p xmlns:a="http://schemas.openxmlformats.org/drawingml/2006/main">
            <a:r>
              <a:t>질문: 기준만 바꿨는데 미측정 상태가 달라진다면 무엇을 점검해야 할까요?</a:t>
            </a:r>
          </a:p>
          <a:p xmlns:a="http://schemas.openxmlformats.org/drawingml/2006/main">
            <a:r>
              <a:t>풀이: 수정 범위가 기준 한 곳인지, None 확인을 바꾸지 않았는지 확인해야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종합 예제는 목록·반복·조건을 결합하여 각 관찰의 상태를 출력합니다. 새 문법을 많이 더하기보다 이미 읽은 조각이 어디에 놓였는지 연결합니다.</a:t>
            </a:r>
          </a:p>
          <a:p xmlns:a="http://schemas.openxmlformats.org/drawingml/2006/main">
            <a:r>
              <a:t>필요성: 실무에서는 한 줄의 문법을 아는 것과 여러 단계가 연결된 프로그램을 읽는 것이 다릅니다. 준비한 입력, 각 차례의 처리, 최종 출력을 나누어 표시하면 긴 코드도 추적할 수 있습니다.</a:t>
            </a:r>
          </a:p>
          <a:p xmlns:a="http://schemas.openxmlformats.org/drawingml/2006/main">
            <a:r>
              <a:t>예: S01의 22.5는 정상, S02의 25.0은 확인, S03의 None은 미측정입니다. 상태 문자열을 status라는 이름에 넣은 뒤 공통 print 한 곳에서 센서명과 함께 출력합니다.</a:t>
            </a:r>
          </a:p>
          <a:p xmlns:a="http://schemas.openxmlformats.org/drawingml/2006/main">
            <a:r>
              <a:t>반례: 상태 표시만으로 실제 장비의 안전을 판정하지 않습니다. 24.0이라는 숫자는 수업 비교 규칙입니다. 상태가 None인지 먼저 검사하므로 미측정을 실제 0으로 채우지 않습니다.</a:t>
            </a:r>
          </a:p>
          <a:p xmlns:a="http://schemas.openxmlformats.org/drawingml/2006/main">
            <a:r>
              <a:t>질문: 기준만 바꿨는데 미측정 상태가 달라진다면 무엇을 점검해야 할까요?</a:t>
            </a:r>
          </a:p>
          <a:p xmlns:a="http://schemas.openxmlformats.org/drawingml/2006/main">
            <a:r>
              <a:t>풀이: 수정 범위가 기준 한 곳인지, None 확인을 바꾸지 않았는지 확인해야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종합 예제는 목록·반복·조건을 결합하여 각 관찰의 상태를 출력합니다. 새 문법을 많이 더하기보다 이미 읽은 조각이 어디에 놓였는지 연결합니다.</a:t>
            </a:r>
          </a:p>
          <a:p xmlns:a="http://schemas.openxmlformats.org/drawingml/2006/main">
            <a:r>
              <a:t>필요성: 실무에서는 한 줄의 문법을 아는 것과 여러 단계가 연결된 프로그램을 읽는 것이 다릅니다. 준비한 입력, 각 차례의 처리, 최종 출력을 나누어 표시하면 긴 코드도 추적할 수 있습니다.</a:t>
            </a:r>
          </a:p>
          <a:p xmlns:a="http://schemas.openxmlformats.org/drawingml/2006/main">
            <a:r>
              <a:t>예: S01의 22.5는 정상, S02의 25.0은 확인, S03의 None은 미측정입니다. 상태 문자열을 status라는 이름에 넣은 뒤 공통 print 한 곳에서 센서명과 함께 출력합니다.</a:t>
            </a:r>
          </a:p>
          <a:p xmlns:a="http://schemas.openxmlformats.org/drawingml/2006/main">
            <a:r>
              <a:t>반례: 상태 표시만으로 실제 장비의 안전을 판정하지 않습니다. 24.0이라는 숫자는 수업 비교 규칙입니다. 상태가 None인지 먼저 검사하므로 미측정을 실제 0으로 채우지 않습니다.</a:t>
            </a:r>
          </a:p>
          <a:p xmlns:a="http://schemas.openxmlformats.org/drawingml/2006/main">
            <a:r>
              <a:t>질문: 기준만 바꿨는데 미측정 상태가 달라진다면 무엇을 점검해야 할까요?</a:t>
            </a:r>
          </a:p>
          <a:p xmlns:a="http://schemas.openxmlformats.org/drawingml/2006/main">
            <a:r>
              <a:t>풀이: 수정 범위가 기준 한 곳인지, None 확인을 바꾸지 않았는지 확인해야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종합 예제는 목록·반복·조건을 결합하여 각 관찰의 상태를 출력합니다. 새 문법을 많이 더하기보다 이미 읽은 조각이 어디에 놓였는지 연결합니다.</a:t>
            </a:r>
          </a:p>
          <a:p xmlns:a="http://schemas.openxmlformats.org/drawingml/2006/main">
            <a:r>
              <a:t>필요성: 실무에서는 한 줄의 문법을 아는 것과 여러 단계가 연결된 프로그램을 읽는 것이 다릅니다. 준비한 입력, 각 차례의 처리, 최종 출력을 나누어 표시하면 긴 코드도 추적할 수 있습니다.</a:t>
            </a:r>
          </a:p>
          <a:p xmlns:a="http://schemas.openxmlformats.org/drawingml/2006/main">
            <a:r>
              <a:t>예: S01의 22.5는 정상, S02의 25.0은 확인, S03의 None은 미측정입니다. 상태 문자열을 status라는 이름에 넣은 뒤 공통 print 한 곳에서 센서명과 함께 출력합니다.</a:t>
            </a:r>
          </a:p>
          <a:p xmlns:a="http://schemas.openxmlformats.org/drawingml/2006/main">
            <a:r>
              <a:t>반례: 상태 표시만으로 실제 장비의 안전을 판정하지 않습니다. 24.0이라는 숫자는 수업 비교 규칙입니다. 상태가 None인지 먼저 검사하므로 미측정을 실제 0으로 채우지 않습니다.</a:t>
            </a:r>
          </a:p>
          <a:p xmlns:a="http://schemas.openxmlformats.org/drawingml/2006/main">
            <a:r>
              <a:t>질문: 기준만 바꿨는데 미측정 상태가 달라진다면 무엇을 점검해야 할까요?</a:t>
            </a:r>
          </a:p>
          <a:p xmlns:a="http://schemas.openxmlformats.org/drawingml/2006/main">
            <a:r>
              <a:t>풀이: 수정 범위가 기준 한 곳인지, None 확인을 바꾸지 않았는지 확인해야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종합 예제는 목록·반복·조건을 결합하여 각 관찰의 상태를 출력합니다. 새 문법을 많이 더하기보다 이미 읽은 조각이 어디에 놓였는지 연결합니다.</a:t>
            </a:r>
          </a:p>
          <a:p xmlns:a="http://schemas.openxmlformats.org/drawingml/2006/main">
            <a:r>
              <a:t>필요성: 실무에서는 한 줄의 문법을 아는 것과 여러 단계가 연결된 프로그램을 읽는 것이 다릅니다. 준비한 입력, 각 차례의 처리, 최종 출력을 나누어 표시하면 긴 코드도 추적할 수 있습니다.</a:t>
            </a:r>
          </a:p>
          <a:p xmlns:a="http://schemas.openxmlformats.org/drawingml/2006/main">
            <a:r>
              <a:t>예: S01의 22.5는 정상, S02의 25.0은 확인, S03의 None은 미측정입니다. 상태 문자열을 status라는 이름에 넣은 뒤 공통 print 한 곳에서 센서명과 함께 출력합니다.</a:t>
            </a:r>
          </a:p>
          <a:p xmlns:a="http://schemas.openxmlformats.org/drawingml/2006/main">
            <a:r>
              <a:t>반례: 상태 표시만으로 실제 장비의 안전을 판정하지 않습니다. 24.0이라는 숫자는 수업 비교 규칙입니다. 상태가 None인지 먼저 검사하므로 미측정을 실제 0으로 채우지 않습니다.</a:t>
            </a:r>
          </a:p>
          <a:p xmlns:a="http://schemas.openxmlformats.org/drawingml/2006/main">
            <a:r>
              <a:t>질문: 기준만 바꿨는데 미측정 상태가 달라진다면 무엇을 점검해야 할까요?</a:t>
            </a:r>
          </a:p>
          <a:p xmlns:a="http://schemas.openxmlformats.org/drawingml/2006/main">
            <a:r>
              <a:t>풀이: 수정 범위가 기준 한 곳인지, None 확인을 바꾸지 않았는지 확인해야 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A17: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프로그램 사용 결과는 파일·입력·명령·출력·판단 근거를 함께 남길 때 다른 사람이 확인할 수 있습니다. 잘 실행되었다는 한 문장보다 어떤 사례를 확인했는지가 중요합니다.</a:t>
            </a:r>
          </a:p>
          <a:p xmlns:a="http://schemas.openxmlformats.org/drawingml/2006/main">
            <a:r>
              <a:t>필요성: 새 입력에서 경계값과 미측정을 다시 확인하면 예제 답을 외운 것인지 원리를 이해했는지 볼 수 있습니다. 실행하지 못한 경우에는 예상·강사 관찰·개인 실행을 정확히 구별합니다.</a:t>
            </a:r>
          </a:p>
          <a:p xmlns:a="http://schemas.openxmlformats.org/drawingml/2006/main">
            <a:r>
              <a:t>예: 새 입력은 S04의 24.0, S05의 0.0, S06의 None입니다. 기준은 24.0 초과입니다. 정상·정상·미측정으로 예상하고, 기존 A17 작업본의 기록 목록만 바꾸는 수정안을 작성합니다.</a:t>
            </a:r>
          </a:p>
          <a:p xmlns:a="http://schemas.openxmlformats.org/drawingml/2006/main">
            <a:r>
              <a:t>반례: 과거 A17 출력 화면을 새 입력의 결과라고 제출하면 재현 근거가 맞지 않습니다. 파일을 저장한 시점과 실행한 경로, 새 입력값을 함께 확인해야 합니다.</a:t>
            </a:r>
          </a:p>
          <a:p xmlns:a="http://schemas.openxmlformats.org/drawingml/2006/main">
            <a:r>
              <a:t>질문: 내일 파일에서 읽은 "24.0"을 그대로 이 코드에 넣으면 무엇이 추가로 필요할까요?</a:t>
            </a:r>
          </a:p>
          <a:p xmlns:a="http://schemas.openxmlformats.org/drawingml/2006/main">
            <a:r>
              <a:t>풀이: 문자열을 숫자로 해석하는 과정과 빈값·오류 처리가 필요합니다. 다음 날 파일·함수 수업으로 연결합니다.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프로그램 사용 결과는 파일·입력·명령·출력·판단 근거를 함께 남길 때 다른 사람이 확인할 수 있습니다. 잘 실행되었다는 한 문장보다 어떤 사례를 확인했는지가 중요합니다.</a:t>
            </a:r>
          </a:p>
          <a:p xmlns:a="http://schemas.openxmlformats.org/drawingml/2006/main">
            <a:r>
              <a:t>필요성: 새 입력에서 경계값과 미측정을 다시 확인하면 예제 답을 외운 것인지 원리를 이해했는지 볼 수 있습니다. 실행하지 못한 경우에는 예상·강사 관찰·개인 실행을 정확히 구별합니다.</a:t>
            </a:r>
          </a:p>
          <a:p xmlns:a="http://schemas.openxmlformats.org/drawingml/2006/main">
            <a:r>
              <a:t>예: 새 입력은 S04의 24.0, S05의 0.0, S06의 None입니다. 기준은 24.0 초과입니다. 정상·정상·미측정으로 예상하고, 기존 A17 작업본의 기록 목록만 바꾸는 수정안을 작성합니다.</a:t>
            </a:r>
          </a:p>
          <a:p xmlns:a="http://schemas.openxmlformats.org/drawingml/2006/main">
            <a:r>
              <a:t>반례: 과거 A17 출력 화면을 새 입력의 결과라고 제출하면 재현 근거가 맞지 않습니다. 파일을 저장한 시점과 실행한 경로, 새 입력값을 함께 확인해야 합니다.</a:t>
            </a:r>
          </a:p>
          <a:p xmlns:a="http://schemas.openxmlformats.org/drawingml/2006/main">
            <a:r>
              <a:t>질문: 내일 파일에서 읽은 "24.0"을 그대로 이 코드에 넣으면 무엇이 추가로 필요할까요?</a:t>
            </a:r>
          </a:p>
          <a:p xmlns:a="http://schemas.openxmlformats.org/drawingml/2006/main">
            <a:r>
              <a:t>풀이: 문자열을 숫자로 해석하는 과정과 빈값·오류 처리가 필요합니다. 다음 날 파일·함수 수업으로 연결합니다.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개념: 프로그램 사용 결과는 파일·입력·명령·출력·판단 근거를 함께 남길 때 다른 사람이 확인할 수 있습니다. 잘 실행되었다는 한 문장보다 어떤 사례를 확인했는지가 중요합니다.</a:t>
            </a:r>
          </a:p>
          <a:p xmlns:a="http://schemas.openxmlformats.org/drawingml/2006/main">
            <a:r>
              <a:t>필요성: 새 입력에서 경계값과 미측정을 다시 확인하면 예제 답을 외운 것인지 원리를 이해했는지 볼 수 있습니다. 실행하지 못한 경우에는 예상·강사 관찰·개인 실행을 정확히 구별합니다.</a:t>
            </a:r>
          </a:p>
          <a:p xmlns:a="http://schemas.openxmlformats.org/drawingml/2006/main">
            <a:r>
              <a:t>예: 새 입력은 S04의 24.0, S05의 0.0, S06의 None입니다. 기준은 24.0 초과입니다. 정상·정상·미측정으로 예상하고, 기존 A17 작업본의 기록 목록만 바꾸는 수정안을 작성합니다.</a:t>
            </a:r>
          </a:p>
          <a:p xmlns:a="http://schemas.openxmlformats.org/drawingml/2006/main">
            <a:r>
              <a:t>반례: 과거 A17 출력 화면을 새 입력의 결과라고 제출하면 재현 근거가 맞지 않습니다. 파일을 저장한 시점과 실행한 경로, 새 입력값을 함께 확인해야 합니다.</a:t>
            </a:r>
          </a:p>
          <a:p xmlns:a="http://schemas.openxmlformats.org/drawingml/2006/main">
            <a:r>
              <a:t>질문: 내일 파일에서 읽은 "24.0"을 그대로 이 코드에 넣으면 무엇이 추가로 필요할까요?</a:t>
            </a:r>
          </a:p>
          <a:p xmlns:a="http://schemas.openxmlformats.org/drawingml/2006/main">
            <a:r>
              <a:t>풀이: 문자열을 숫자로 해석하는 과정과 빈값·오류 처리가 필요합니다. 다음 날 파일·함수 수업으로 연결합니다.</a:t>
            </a:r>
          </a:p>
          <a:p xmlns:a="http://schemas.openxmlformats.org/drawingml/2006/main">
            <a:r>
              <a:t>출처: https://docs.python.org/3/tutorial/introduction.html; https://docs.python.org/3/tutorial/controlflow.html; https://docs.python.org/3/library/functions.html</a:t>
            </a:r>
          </a:p>
          <a:p xmlns:a="http://schemas.openxmlformats.org/drawingml/2006/main">
            <a:r>
              <a:t>활동 A18: 설명 6 + 시연 4 + 학생 작업 8 + 풀이 2 = 20분. 각 슬라이드는 이 배정 안에서 사용하며 시간을 더하지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029647eab41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7de7d7885d475b" /><Relationship Type="http://schemas.openxmlformats.org/officeDocument/2006/relationships/slideLayout" Target="/ppt/slideLayouts/slideLayout1.xml" Id="R8a8ff950662141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8ff950662141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5095495e645f8" /><Relationship Type="http://schemas.openxmlformats.org/officeDocument/2006/relationships/notesSlide" Target="/ppt/notesSlides/notesSlide1.xml" Id="Rcc1996064a9546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6ece8de3a4e12" /><Relationship Type="http://schemas.openxmlformats.org/officeDocument/2006/relationships/notesSlide" Target="/ppt/notesSlides/notesSlide2.xml" Id="R24cd85b83af446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4dbb4473847f6" /><Relationship Type="http://schemas.openxmlformats.org/officeDocument/2006/relationships/notesSlide" Target="/ppt/notesSlides/notesSlide3.xml" Id="R0d3fd4b36bb04c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ce88c20cf4092" /><Relationship Type="http://schemas.openxmlformats.org/officeDocument/2006/relationships/notesSlide" Target="/ppt/notesSlides/notesSlide4.xml" Id="R4e2091cffc9745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06457fe2043c1" /><Relationship Type="http://schemas.openxmlformats.org/officeDocument/2006/relationships/notesSlide" Target="/ppt/notesSlides/notesSlide5.xml" Id="R8757b705d59f4a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cc96c731c40dd" /><Relationship Type="http://schemas.openxmlformats.org/officeDocument/2006/relationships/notesSlide" Target="/ppt/notesSlides/notesSlide6.xml" Id="Rba1b4365753c4d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5d3275715438a" /><Relationship Type="http://schemas.openxmlformats.org/officeDocument/2006/relationships/notesSlide" Target="/ppt/notesSlides/notesSlide7.xml" Id="R0e7687a87edb42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3edb0d94e41f8" /><Relationship Type="http://schemas.openxmlformats.org/officeDocument/2006/relationships/notesSlide" Target="/ppt/notesSlides/notesSlide8.xml" Id="R8e1b22dd3e174e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057c6586c4633" /><Relationship Type="http://schemas.openxmlformats.org/officeDocument/2006/relationships/notesSlide" Target="/ppt/notesSlides/notesSlide9.xml" Id="R714c32b833ae42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2066411d442d9" /><Relationship Type="http://schemas.openxmlformats.org/officeDocument/2006/relationships/notesSlide" Target="/ppt/notesSlides/notesSlide10.xml" Id="Radeffff8cc5140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5f951fea24798" /><Relationship Type="http://schemas.openxmlformats.org/officeDocument/2006/relationships/notesSlide" Target="/ppt/notesSlides/notesSlide11.xml" Id="Rf064020d803349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f321d497744cb" /><Relationship Type="http://schemas.openxmlformats.org/officeDocument/2006/relationships/notesSlide" Target="/ppt/notesSlides/notesSlide12.xml" Id="R3a8ac0c0f6e942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5d606f2274fa0" /><Relationship Type="http://schemas.openxmlformats.org/officeDocument/2006/relationships/notesSlide" Target="/ppt/notesSlides/notesSlide13.xml" Id="R0e7eef9536dd4c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96bd141e54aad" /><Relationship Type="http://schemas.openxmlformats.org/officeDocument/2006/relationships/notesSlide" Target="/ppt/notesSlides/notesSlide14.xml" Id="Re99a3e00d8cc4c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c5569f32f410a" /><Relationship Type="http://schemas.openxmlformats.org/officeDocument/2006/relationships/notesSlide" Target="/ppt/notesSlides/notesSlide15.xml" Id="R1dc0f134cca740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cfa66d01c469f" /><Relationship Type="http://schemas.openxmlformats.org/officeDocument/2006/relationships/notesSlide" Target="/ppt/notesSlides/notesSlide16.xml" Id="Rd72da5e165384f4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32b4706ef4d01" /><Relationship Type="http://schemas.openxmlformats.org/officeDocument/2006/relationships/notesSlide" Target="/ppt/notesSlides/notesSlide17.xml" Id="R6b393093ac4449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0dba37b8d4e6e" /><Relationship Type="http://schemas.openxmlformats.org/officeDocument/2006/relationships/notesSlide" Target="/ppt/notesSlides/notesSlide18.xml" Id="R408a2d67fe24425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c523eb3b7469e" /><Relationship Type="http://schemas.openxmlformats.org/officeDocument/2006/relationships/notesSlide" Target="/ppt/notesSlides/notesSlide19.xml" Id="Rf0cede655f224a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ef67322934354" /><Relationship Type="http://schemas.openxmlformats.org/officeDocument/2006/relationships/notesSlide" Target="/ppt/notesSlides/notesSlide20.xml" Id="R56124c068b8e40f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dee5d34b947f8" /><Relationship Type="http://schemas.openxmlformats.org/officeDocument/2006/relationships/notesSlide" Target="/ppt/notesSlides/notesSlide21.xml" Id="Ra7eafc689bf9465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e086f9e804ddd" /><Relationship Type="http://schemas.openxmlformats.org/officeDocument/2006/relationships/notesSlide" Target="/ppt/notesSlides/notesSlide22.xml" Id="Rbaa1418686a3432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4cd5449614eb8" /><Relationship Type="http://schemas.openxmlformats.org/officeDocument/2006/relationships/notesSlide" Target="/ppt/notesSlides/notesSlide23.xml" Id="Reb8125b85e30496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bd074d4dc49fb" /><Relationship Type="http://schemas.openxmlformats.org/officeDocument/2006/relationships/notesSlide" Target="/ppt/notesSlides/notesSlide24.xml" Id="Rfd397eb9da784a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7d4777f164c8f" /><Relationship Type="http://schemas.openxmlformats.org/officeDocument/2006/relationships/notesSlide" Target="/ppt/notesSlides/notesSlide25.xml" Id="Rf5f3d32195fc4c1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a58683ca14e6b" /><Relationship Type="http://schemas.openxmlformats.org/officeDocument/2006/relationships/notesSlide" Target="/ppt/notesSlides/notesSlide26.xml" Id="R28dcb34646c140c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9e1d33c454899" /><Relationship Type="http://schemas.openxmlformats.org/officeDocument/2006/relationships/notesSlide" Target="/ppt/notesSlides/notesSlide27.xml" Id="R7bca50edd888448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bbd3f1c064eb5" /><Relationship Type="http://schemas.openxmlformats.org/officeDocument/2006/relationships/notesSlide" Target="/ppt/notesSlides/notesSlide28.xml" Id="Rccec0367c16f441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4f994d020457f" /><Relationship Type="http://schemas.openxmlformats.org/officeDocument/2006/relationships/notesSlide" Target="/ppt/notesSlides/notesSlide29.xml" Id="Rdbd99139f77142d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0a7639bd54ba5" /><Relationship Type="http://schemas.openxmlformats.org/officeDocument/2006/relationships/notesSlide" Target="/ppt/notesSlides/notesSlide30.xml" Id="Rbd9960c5d07945f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bbc1c6d9149d3" /><Relationship Type="http://schemas.openxmlformats.org/officeDocument/2006/relationships/notesSlide" Target="/ppt/notesSlides/notesSlide31.xml" Id="Re665a6dcc42a4f6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8a35af3694673" /><Relationship Type="http://schemas.openxmlformats.org/officeDocument/2006/relationships/notesSlide" Target="/ppt/notesSlides/notesSlide32.xml" Id="Ra4a76170aa1d419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662288185467e" /><Relationship Type="http://schemas.openxmlformats.org/officeDocument/2006/relationships/notesSlide" Target="/ppt/notesSlides/notesSlide33.xml" Id="R6964bcb3b0c848e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0b4772fe24064" /><Relationship Type="http://schemas.openxmlformats.org/officeDocument/2006/relationships/notesSlide" Target="/ppt/notesSlides/notesSlide34.xml" Id="R1c2772c3981f438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348452a6c42b7" /><Relationship Type="http://schemas.openxmlformats.org/officeDocument/2006/relationships/notesSlide" Target="/ppt/notesSlides/notesSlide35.xml" Id="Re00d03645b424c9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894af62064fc9" /><Relationship Type="http://schemas.openxmlformats.org/officeDocument/2006/relationships/notesSlide" Target="/ppt/notesSlides/notesSlide36.xml" Id="R7aa6d479b632489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5ab3216c54f36" /><Relationship Type="http://schemas.openxmlformats.org/officeDocument/2006/relationships/notesSlide" Target="/ppt/notesSlides/notesSlide37.xml" Id="R1892fe81b1d5486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0be193b7b46b9" /><Relationship Type="http://schemas.openxmlformats.org/officeDocument/2006/relationships/notesSlide" Target="/ppt/notesSlides/notesSlide38.xml" Id="Ra111f6316916440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4496ce109430b" /><Relationship Type="http://schemas.openxmlformats.org/officeDocument/2006/relationships/notesSlide" Target="/ppt/notesSlides/notesSlide39.xml" Id="R7d634bddaf894d5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a9ac1f5bf4bc6" /><Relationship Type="http://schemas.openxmlformats.org/officeDocument/2006/relationships/notesSlide" Target="/ppt/notesSlides/notesSlide40.xml" Id="R8992907710ec48d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ec253e21341b8" /><Relationship Type="http://schemas.openxmlformats.org/officeDocument/2006/relationships/notesSlide" Target="/ppt/notesSlides/notesSlide41.xml" Id="R6f037e91312f488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8bdf1e6c64793" /><Relationship Type="http://schemas.openxmlformats.org/officeDocument/2006/relationships/notesSlide" Target="/ppt/notesSlides/notesSlide42.xml" Id="R917e4ed2d32c470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8335fdcc44cef" /><Relationship Type="http://schemas.openxmlformats.org/officeDocument/2006/relationships/notesSlide" Target="/ppt/notesSlides/notesSlide43.xml" Id="R4e7d08cf7c0242d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1fd87984c46e6" /><Relationship Type="http://schemas.openxmlformats.org/officeDocument/2006/relationships/notesSlide" Target="/ppt/notesSlides/notesSlide44.xml" Id="R3aa674cea1ee416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f028189d94c90" /><Relationship Type="http://schemas.openxmlformats.org/officeDocument/2006/relationships/notesSlide" Target="/ppt/notesSlides/notesSlide45.xml" Id="R886fcc19c4dd4d2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cc87005414488" /><Relationship Type="http://schemas.openxmlformats.org/officeDocument/2006/relationships/notesSlide" Target="/ppt/notesSlides/notesSlide46.xml" Id="R7ada37041b65405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b76c188004949" /><Relationship Type="http://schemas.openxmlformats.org/officeDocument/2006/relationships/notesSlide" Target="/ppt/notesSlides/notesSlide47.xml" Id="Rd3cbc6c1294142d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ebb23fb3542b4" /><Relationship Type="http://schemas.openxmlformats.org/officeDocument/2006/relationships/notesSlide" Target="/ppt/notesSlides/notesSlide48.xml" Id="Rf2411293b09c46e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084cb86284404" /><Relationship Type="http://schemas.openxmlformats.org/officeDocument/2006/relationships/notesSlide" Target="/ppt/notesSlides/notesSlide49.xml" Id="Rd8678534cc554bc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71a63eff74c47" /><Relationship Type="http://schemas.openxmlformats.org/officeDocument/2006/relationships/notesSlide" Target="/ppt/notesSlides/notesSlide50.xml" Id="R11035292ecee47d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3d1f2cc854623" /><Relationship Type="http://schemas.openxmlformats.org/officeDocument/2006/relationships/notesSlide" Target="/ppt/notesSlides/notesSlide51.xml" Id="R436ac15980a847d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e8f08c9cc41d4" /><Relationship Type="http://schemas.openxmlformats.org/officeDocument/2006/relationships/notesSlide" Target="/ppt/notesSlides/notesSlide52.xml" Id="Rfe794b28324849c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582ca493c469a" /><Relationship Type="http://schemas.openxmlformats.org/officeDocument/2006/relationships/notesSlide" Target="/ppt/notesSlides/notesSlide53.xml" Id="R93cfaa7f1eb5465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70c3e106343e5" /><Relationship Type="http://schemas.openxmlformats.org/officeDocument/2006/relationships/notesSlide" Target="/ppt/notesSlides/notesSlide54.xml" Id="Reaa7dc4fb55143c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366a159944b0f" /><Relationship Type="http://schemas.openxmlformats.org/officeDocument/2006/relationships/notesSlide" Target="/ppt/notesSlides/notesSlide55.xml" Id="R084810d5aaaf448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f32893c0a46c3" /><Relationship Type="http://schemas.openxmlformats.org/officeDocument/2006/relationships/notesSlide" Target="/ppt/notesSlides/notesSlide56.xml" Id="R4dbc0d2de68e48b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8fddcee7e4087" /><Relationship Type="http://schemas.openxmlformats.org/officeDocument/2006/relationships/notesSlide" Target="/ppt/notesSlides/notesSlide57.xml" Id="R80609c803abb423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3a81659a047f3" /><Relationship Type="http://schemas.openxmlformats.org/officeDocument/2006/relationships/notesSlide" Target="/ppt/notesSlides/notesSlide58.xml" Id="Rb70d7682d9204b7b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a9d0dbd674873" /><Relationship Type="http://schemas.openxmlformats.org/officeDocument/2006/relationships/notesSlide" Target="/ppt/notesSlides/notesSlide59.xml" Id="R4fcd47b4ff23446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fa462fbe54f14" /><Relationship Type="http://schemas.openxmlformats.org/officeDocument/2006/relationships/notesSlide" Target="/ppt/notesSlides/notesSlide60.xml" Id="Ra92a8e8dcc5f4fe7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75abc56c14be7" /><Relationship Type="http://schemas.openxmlformats.org/officeDocument/2006/relationships/notesSlide" Target="/ppt/notesSlides/notesSlide61.xml" Id="R4c6d5c4d71f749a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79f3c4d1b4f89" /><Relationship Type="http://schemas.openxmlformats.org/officeDocument/2006/relationships/notesSlide" Target="/ppt/notesSlides/notesSlide62.xml" Id="R9d5906ae36ac44cc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a783eb59d4927" /><Relationship Type="http://schemas.openxmlformats.org/officeDocument/2006/relationships/notesSlide" Target="/ppt/notesSlides/notesSlide63.xml" Id="Ra69036eaa06f4bdd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6c3bb45404f3f" /><Relationship Type="http://schemas.openxmlformats.org/officeDocument/2006/relationships/notesSlide" Target="/ppt/notesSlides/notesSlide64.xml" Id="R81efaaa742da4b3c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a13dd07d84b94" /><Relationship Type="http://schemas.openxmlformats.org/officeDocument/2006/relationships/notesSlide" Target="/ppt/notesSlides/notesSlide65.xml" Id="Rea8acdcb1c844169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80c27a6c34bc1" /><Relationship Type="http://schemas.openxmlformats.org/officeDocument/2006/relationships/notesSlide" Target="/ppt/notesSlides/notesSlide66.xml" Id="Rb87550037a684c5d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fd285f49f47d8" /><Relationship Type="http://schemas.openxmlformats.org/officeDocument/2006/relationships/notesSlide" Target="/ppt/notesSlides/notesSlide67.xml" Id="R7d5ed6a0f7f54814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d23953ff814b46" /><Relationship Type="http://schemas.openxmlformats.org/officeDocument/2006/relationships/notesSlide" Target="/ppt/notesSlides/notesSlide68.xml" Id="R54ca87df6d9c46c7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1e37333d44686" /><Relationship Type="http://schemas.openxmlformats.org/officeDocument/2006/relationships/notesSlide" Target="/ppt/notesSlides/notesSlide69.xml" Id="Rcfebc7dcc13f439f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f019565fd475a" /><Relationship Type="http://schemas.openxmlformats.org/officeDocument/2006/relationships/notesSlide" Target="/ppt/notesSlides/notesSlide70.xml" Id="R6e85e05b51e34067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555f8d5664672" /><Relationship Type="http://schemas.openxmlformats.org/officeDocument/2006/relationships/notesSlide" Target="/ppt/notesSlides/notesSlide71.xml" Id="Rb1fd151bbb3949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7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A3A2D-F8F6-415D-BA45-023AF57C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2026-10-14  Python 기초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D1C26-B190-4104-96AC-9F0477C5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Python 기초 · 값과 실행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922CA-3F05-429C-A636-72D4052D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K-Digital 피지컬AI  /  2026-10-14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74667-3D16-4B6F-8A90-5D68269C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5257D-4F01-458B-87F9-EA817CAA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109728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7F4EB"/>
                </a:solidFill>
                <a:latin typeface="Malgun Gothic"/>
                <a:ea typeface="Malgun Gothic"/>
                <a:cs typeface="Malgun Gothic"/>
              </a:rPr>
              <a:t>Python 기초 · 값과 실행 흐름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0E73E-F2F7-421E-A140-160A3038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개념을 이해하고 예제에서 직접 확인합니다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00BD9-584B-4AF3-9BF6-231CF691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82C7CB"/>
                </a:solidFill>
                <a:latin typeface="Malgun Gothic"/>
                <a:ea typeface="Malgun Gothic"/>
                <a:cs typeface="Malgun Gothic"/>
              </a:rPr>
              <a:t>6구간 수업 자료  ·  실교육 360분 운영안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3572B-D7F6-436E-A12E-8743B28C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Python 기초</a:t>
            </a:r>
          </a:p>
        </p:txBody>
      </p:sp>
    </p:spTree>
    <p:extLst>
      <p:ext uri="{BB962C8B-B14F-4D97-AF65-F5344CB8AC3E}">
        <p14:creationId xmlns:p14="http://schemas.microsoft.com/office/powerpoint/2010/main" val="1604638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24813-5A40-4219-AD56-AD3E0A62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DB668-D8AF-46EA-9154-2E8F20A1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입력·처리·출력과 코드 파일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54D85-D03C-45F0-BFE5-5EB52447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3EF24-6722-4415-9F0E-C39D51CB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프로그램은 값을 받아 순서대로 처리합니다.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저장한 파일과 출력 화면은 다릅니다.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어느 파일을 실행했는지 기록합니다.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34256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F0BE7-CE7B-4FB0-AA9B-DC28233F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C4D80-69A0-4488-8546-C56E797B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A01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A9044-5EB2-49A8-BB4C-50967A69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7AE1C-31E7-462B-8626-9E77C9D0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75C674-F992-4A9C-A45C-790544C8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FA36B-1063-4A43-BF65-FB2C2DCF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저장한 파일과 출력 화면은 다릅니다.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0A23D-EC49-4802-987B-5299E1E0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58B5F-F95E-43A7-AAB2-86B27E43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어느 파일을 실행했는지 기록합니다.</a:t>
            </a:r>
          </a:p>
        </p:txBody>
      </p:sp>
    </p:spTree>
    <p:extLst>
      <p:ext uri="{BB962C8B-B14F-4D97-AF65-F5344CB8AC3E}">
        <p14:creationId xmlns:p14="http://schemas.microsoft.com/office/powerpoint/2010/main" val="20233663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92275-52E0-4B3F-8E26-8F3AEFD0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A01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18661-7A42-4963-B481-036C274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A01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89410-B44C-4209-844E-04768710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4E108-62C8-42F0-90B3-EF443AF9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D4EF1-5D6E-439E-AEB6-8F595281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입력·처리·출력과 코드 파일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DB837-4AD1-42F5-8CBE-8BD464C2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카드에서 입력 두 값과 처리 규칙을 밑줄로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9BF83-5972-4912-88EF-89076655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예상 출력 한 단어와 그렇게 판단한 이유를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51FD3-3AC5-411F-A07A-0DAF0895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원본 코드와 작업 코드의 폴더를 찾아 서로 다른 파일임을 표시합니다.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3A9D9-6D10-4332-ABC3-10D54816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코드 열기·저장·실행·출력을 자신의 말로 한 문장씩 설명합니다.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4E63C-2940-4E94-A64D-7FE28898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A01_notes.md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4DF10-1D1D-4ED2-8F6C-688E1536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기준을 22.0으로 바꾸면 어느 단계의 값이 바뀌며 출력은 어떻게 될까요?</a:t>
            </a:r>
          </a:p>
        </p:txBody>
      </p:sp>
    </p:spTree>
    <p:extLst>
      <p:ext uri="{BB962C8B-B14F-4D97-AF65-F5344CB8AC3E}">
        <p14:creationId xmlns:p14="http://schemas.microsoft.com/office/powerpoint/2010/main" val="8362009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967F9-6979-4B81-B7BD-C904784A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BF826-CBE9-44CF-880F-1095E4B7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첫 출력과 주석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083D5-55FE-4508-9C9F-B643D9E2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C6CC7-D337-4857-AC18-98BD8795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print의 괄호 안은 보여 줄 값입니다.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따옴표 안은 문자열입니다.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 뒤 주석은 사람이 읽는 설명입니다.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9420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49ED9-4A97-44DC-9C3F-9DF33430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27E64-43E2-4AF8-8E56-D2B16FFD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A02 코드 1–3행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EB089-7463-4C84-99DA-27AD986F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C916A-3C07-4D93-85F7-16435060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9EBAE-DA76-4A6D-8CB3-D338123B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8EB09-2F6B-4B31-896B-5606D5DD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# 화면에 수업 시작을 표시합니다.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print("Python 점검 시작")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print("S01", 22.5)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08E10-BA82-409F-A652-A398959C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code/A02_print.py</a:t>
            </a:r>
          </a:p>
        </p:txBody>
      </p:sp>
    </p:spTree>
    <p:extLst>
      <p:ext uri="{BB962C8B-B14F-4D97-AF65-F5344CB8AC3E}">
        <p14:creationId xmlns:p14="http://schemas.microsoft.com/office/powerpoint/2010/main" val="825724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DA94D-7064-49C6-B649-E35D69E5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08F4D-8FC0-4598-80E5-A2B0D790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A02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4F6F7-8F70-4EE6-B632-0B71D246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47C7B-E7DF-4F9A-9968-441AB4E2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526D4-C66E-4F7E-A52E-E7980622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75706-2E35-483D-9159-F1384A12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Python 점검 시작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S01 22.5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975B5-DEC7-47EC-9D35-600A5CFA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# 뒤 주석은 사람이 읽는 설명입니다.</a:t>
            </a:r>
          </a:p>
        </p:txBody>
      </p:sp>
    </p:spTree>
    <p:extLst>
      <p:ext uri="{BB962C8B-B14F-4D97-AF65-F5344CB8AC3E}">
        <p14:creationId xmlns:p14="http://schemas.microsoft.com/office/powerpoint/2010/main" val="451923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21C47-9B80-419D-8E99-AADBBB3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A02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E3BBB-43B6-40C0-B476-74623EA9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A02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198A4-C9AA-44DB-8A5A-6138B63E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0E4F8-E93E-4E7A-B8E2-DF4D2514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0D212-B151-4E6F-974D-9C02533E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첫 출력과 주석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692DC-AAFA-48E1-B265-F44F1D88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work/A02_print.py를 텍스트 편집기로 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0BF53-3A78-40E9-812E-9813D2A7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수정 전 출력 두 줄을 예상해 노트에 씁니다.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7FCD1-0738-4B37-9AE7-BAE2810A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첫 안내 문구를 ‘오늘의 점검 시작’으로 바꾸고 저장합니다.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64761-C5C4-4CD5-A517-6021B3E8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course 폴더의 터미널에서 python -X utf8 work/A02_print.py를 실행하고 예상과 대조합니다.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CA65A-39E4-4019-A4F5-608E88E8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A02_notes.md, A02_print.py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75B80-4935-4649-BDFF-7794C8D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주석의 문구만 바꾸면 출력은 달라질까요?</a:t>
            </a:r>
          </a:p>
        </p:txBody>
      </p:sp>
    </p:spTree>
    <p:extLst>
      <p:ext uri="{BB962C8B-B14F-4D97-AF65-F5344CB8AC3E}">
        <p14:creationId xmlns:p14="http://schemas.microsoft.com/office/powerpoint/2010/main" val="688440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716B5-0A01-49F4-AB1F-C88A8C9A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1751F-3E1E-4297-A236-34BC6CA7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저장·실행 순서와 오류 단서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F0031-ADCE-4DFE-8BE5-BB176FD9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1D0EF-099D-43FA-AF52-8AF28371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실행한 경로를 먼저 확인합니다.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종류와 줄 위치가 단서입니다.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뒤 같은 파일을 다시 실행합니다.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668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E9953-ACA4-4C8A-BD09-7DADFE43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A40E4-F47B-41B9-9F2E-1C254FD5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A03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E5C14-82CA-4176-AEB4-9886F31E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481F9-49BE-4F54-8066-F0126F93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3E9B5-1189-451C-BFF1-7D6CFA9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2D055-0BB7-45A8-8BCA-996EFFC7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오류 종류와 줄 위치가 단서입니다.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CCC1A-90D4-4B43-9702-216E3670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BEDA5-E437-4A33-BF84-CA1FCA8A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저장 뒤 같은 파일을 다시 실행합니다.</a:t>
            </a:r>
          </a:p>
        </p:txBody>
      </p:sp>
    </p:spTree>
    <p:extLst>
      <p:ext uri="{BB962C8B-B14F-4D97-AF65-F5344CB8AC3E}">
        <p14:creationId xmlns:p14="http://schemas.microsoft.com/office/powerpoint/2010/main" val="14130211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CF09B-4F5F-404B-B4D3-E373171F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A03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EE98C-C718-4B05-B7D0-7834677A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A03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4F823-70B2-4D35-BDD4-D411677B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D0ECF-8076-4D2D-A5BD-8C6825A1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C7419-16EA-4C78-A1A1-4BEFB00F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저장·실행 순서와 오류 단서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3870A-C2B4-48B6-86BB-891384F8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사례에서 보이는 사실과 추정 원인을 다른 칸에 적습니다.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B8AF9-0B6A-4FBE-B3CC-0474A405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각 사례의 다음 확인 동작을 하나만 고릅니다.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0DD57-2A8F-499A-B3F6-959A0E58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잘못된 따옴표 코드를 종이에 고친 뒤 괄호와 따옴표의 짝을 표시합니다.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9E44A-6428-46C6-B628-73518D37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작업본 저장 후 동일 경로를 실행하는 순서를 네 단계로 작성합니다.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431ED-A1EB-4DF6-B07C-7D1728B6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A03_notes.md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9A0CF-09BF-4E4D-BEDB-CEC8CCF8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오류 줄 번호가 마지막 줄을 가리키면 그 줄만 보면 충분할까요?</a:t>
            </a:r>
          </a:p>
        </p:txBody>
      </p:sp>
    </p:spTree>
    <p:extLst>
      <p:ext uri="{BB962C8B-B14F-4D97-AF65-F5344CB8AC3E}">
        <p14:creationId xmlns:p14="http://schemas.microsoft.com/office/powerpoint/2010/main" val="18079540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B9A49-D7D4-4421-92E6-D5920A6A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39A42-2C70-415A-B00C-AD51B3C7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변수는 값에 붙인 이름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85089-7A21-49CB-8D93-CAFE14D1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D101C-E57C-45C8-883A-7EBB17B0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왼쪽 이름이 오른쪽 값을 가리킵니다.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따옴표 유무가 읽는 방법을 바꿉니다.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이름은 값의 업무 의미를 드러냅니다.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3142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9D39A-E21F-4633-9CBF-A2A87D8B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073FA-0AF7-4D9C-97BB-74270B07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A04 코드 1–5행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C7F78-2797-4E31-8629-929ABEB2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CD400-1D40-485B-852D-BBED925C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A0788-52F4-40EE-801B-4F86E8C8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9912C-47F0-42D1-AF45-583AB8F9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location = "입구"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temperature_c = 22.5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print(location)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print(temperature_c)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print("location")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24272-7C3A-4DEE-9172-B824B02C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code/A04_example.py</a:t>
            </a:r>
          </a:p>
        </p:txBody>
      </p:sp>
    </p:spTree>
    <p:extLst>
      <p:ext uri="{BB962C8B-B14F-4D97-AF65-F5344CB8AC3E}">
        <p14:creationId xmlns:p14="http://schemas.microsoft.com/office/powerpoint/2010/main" val="10730767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7B54C-4C77-49C7-94FB-F84D4F9F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DCD514-9F54-4A78-9DD9-C1227E70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A04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10FDE-DE8A-4C29-B3F1-D5C26E99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77A70-4756-4603-8795-E6B580C7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BAD28-30FB-4586-8F67-60FC6342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4111A-B49B-46E5-A5F2-265ED26A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입구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22.5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location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9F73B-6D9C-494D-B142-A06DB8AB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이름은 값의 업무 의미를 드러냅니다.</a:t>
            </a:r>
          </a:p>
        </p:txBody>
      </p:sp>
    </p:spTree>
    <p:extLst>
      <p:ext uri="{BB962C8B-B14F-4D97-AF65-F5344CB8AC3E}">
        <p14:creationId xmlns:p14="http://schemas.microsoft.com/office/powerpoint/2010/main" val="4995640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6A064-05EF-4304-8620-2453E422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A04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3D841-D32F-49D4-80FC-17E54832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A04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88E1A-6C32-4083-AB20-58513300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F0C07-A420-476E-B86A-83E657F0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3EE73-2D92-4712-916B-4046049D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변수는 값에 붙인 이름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811EE-038D-42EF-8C8D-A14B3B02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값과 이름을 서로 다른 색으로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9081F-74BC-475D-A65F-3695A4E3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location을 창고로 바꾸면 변할 출력 줄을 먼저 고릅니다.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7DD59-A487-48AE-A71D-A3D566CF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작업본에서 문자열 한 곳만 바꾸고 저장·실행합니다.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6EFDC-2446-4AC9-9D56-4A0576FF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변하지 않은 두 출력 줄의 이유를 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C5FEA-CC54-47BF-8CA6-CD3A0AE6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A04_notes.md, A04_example.py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C7540-42E3-434E-AEB9-472440DE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print(location)과 print("location")은 왜 다를까요?</a:t>
            </a:r>
          </a:p>
        </p:txBody>
      </p:sp>
    </p:spTree>
    <p:extLst>
      <p:ext uri="{BB962C8B-B14F-4D97-AF65-F5344CB8AC3E}">
        <p14:creationId xmlns:p14="http://schemas.microsoft.com/office/powerpoint/2010/main" val="14011581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89E9B-BA31-425F-8CDD-058B8555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BF63D-16CC-4A54-BC91-C39C6020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다시 대입하면 현재 값이 바뀐다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FBFF2-4AFC-400A-992B-426C1BAE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53A6A-2DDC-46CE-BBCE-95A38643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위에서 아래로 순서대로 실행합니다.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재대입은 이후에 읽는 값을 바꿉니다.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출력된 과거 결과는 그대로 남습니다.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8607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84D49-4674-4A31-8FB4-54206E56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BD370-A879-4986-AD5A-41600B0B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A05 코드 1–4행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21E81-35FC-45A0-B801-1FB59C0D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9C63C-6BB1-47B3-B990-06D1115D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AADF6-A0C0-4833-B07D-1B555FF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1F817-F986-4047-BBEA-E071476B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temperature_c = 22.5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print(temperature_c)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temperature_c = 24.0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print(temperature_c)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59C75-ABB1-4B14-90AA-B86FE9D9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code/A05_example.py</a:t>
            </a:r>
          </a:p>
        </p:txBody>
      </p:sp>
    </p:spTree>
    <p:extLst>
      <p:ext uri="{BB962C8B-B14F-4D97-AF65-F5344CB8AC3E}">
        <p14:creationId xmlns:p14="http://schemas.microsoft.com/office/powerpoint/2010/main" val="18982953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AA747-12B1-4EE1-8D38-09034F42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CF8E7-A05D-4428-9137-9A48EB28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A05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E4C04-98A5-471C-BD62-AF838935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FFF96-D162-4E36-BE6C-D78D3921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DBCA0-5E99-416A-B6F4-2F6116E2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866FC-3071-4F7D-9ADC-6E4E4B90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22.5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24.0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81916-8CC5-475D-A63A-B1D1DEA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출력된 과거 결과는 그대로 남습니다.</a:t>
            </a:r>
          </a:p>
        </p:txBody>
      </p:sp>
    </p:spTree>
    <p:extLst>
      <p:ext uri="{BB962C8B-B14F-4D97-AF65-F5344CB8AC3E}">
        <p14:creationId xmlns:p14="http://schemas.microsoft.com/office/powerpoint/2010/main" val="15115503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0A693-E216-4878-91B8-2047E230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A05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622A4-F79D-4673-B6E1-EAC7B20D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A05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DEE1A-D9EF-4D44-B0CA-FE6587A9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625A8-DB55-495C-84C2-463BF776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9F34A-0934-41B7-97E0-C3CC10B4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다시 대입하면 현재 값이 바뀐다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F9375-E5BC-4DC9-A856-988B4372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각 줄 실행 뒤 현재 temperature_c 값을 표에 적습니다.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673CE-ACF4-41E8-82F1-F6F187D2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두 번째 대입값을 25.0으로 바꿀 때 출력 두 줄을 예상합니다.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38DC6-87F3-4394-93A5-64DEF906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작업본을 수정해 실행하거나 강사 실행과 대조합니다.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6A184-0DA2-43C2-8DEC-833B2BB9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첫 출력이 그대로인 이유를 자신의 말로 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9B43B-3EAA-43B6-B314-AF31C8DE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A05_notes.md, A05_example.py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1435E-42A0-4C9D-B440-2E04304D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마지막 print를 첫 대입 앞에 옮기면 어떤 문제가 생길까요?</a:t>
            </a:r>
          </a:p>
        </p:txBody>
      </p:sp>
    </p:spTree>
    <p:extLst>
      <p:ext uri="{BB962C8B-B14F-4D97-AF65-F5344CB8AC3E}">
        <p14:creationId xmlns:p14="http://schemas.microsoft.com/office/powerpoint/2010/main" val="11221649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698C8-DEB6-4610-8E28-0EE9A4DA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5EB4E-42FB-44B0-BB64-ED5AF593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이름 오류를 근거로 고치기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FA4AD-D59C-4875-BF86-8F308BF5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63377-EF3C-44F1-9683-0DA6E8AE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정의한 이름과 사용하는 이름을 비교합니다.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제거 뒤 출력의 뜻도 확인합니다.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추측값을 넣어 문제를 숨기지 않습니다.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6923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D5388-4F48-4E9C-9CBA-0B9462C0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33257-C724-4DD3-BB5E-D479F0CF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A06 코드 1–3행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C8378-9179-4C96-93C8-9B6DA7EF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F0FEF-6613-447C-B4EC-04E4BE1A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86EB6-7132-4EA9-994A-0627774F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CCAB1-0285-4029-AA9B-5B4EA0AB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sensor_id = "S01"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temperature_c = 22.5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print(sensor_id, temperature_c)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A443A-34D3-42CA-8D17-E29EA3F0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code/A06_example.py</a:t>
            </a:r>
          </a:p>
        </p:txBody>
      </p:sp>
    </p:spTree>
    <p:extLst>
      <p:ext uri="{BB962C8B-B14F-4D97-AF65-F5344CB8AC3E}">
        <p14:creationId xmlns:p14="http://schemas.microsoft.com/office/powerpoint/2010/main" val="17460889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56E74-C659-4C2F-BFA2-2F5A3D7B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13BCB-1483-42F0-B0E4-147BE4BE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A06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B6C6B-3107-42BA-ADC0-0B4D29C9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BF188-E65B-40BE-90E9-B31AEF46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6E243-CA00-4DFD-8207-9F5F4695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62F43-6500-4EBF-A429-07ACE2E6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S01 22.5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A6352-B118-4E09-AB8C-CD33A00E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추측값을 넣어 문제를 숨기지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101872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BF5E9-3C26-4DA1-B118-AAF4C66C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A06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7164C-EF3A-4871-B8DB-921F4C9B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A06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8AC48-E4F3-412B-9BD1-B305C846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25F28-0671-4DB8-B941-BEAA321E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6947E-62A1-4949-85DF-D084974C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이름 오류를 근거로 고치기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415C4-4892-4199-BD8F-C4291DFD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data/A06_input.md의 오류 코드에서 정의한 이름과 사용하는 이름을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25CB6-D2A4-4ED7-BA44-13813344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원래 뜻을 유지하는 수정 한 곳을 정합니다.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39373-DF68-4216-A3E4-B6C92E94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work의 정상 예와 비교하며 수정안을 적고 실행 결과를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8EE0A-7E92-4559-8960-054D4739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원인·수정 위치·다시 확인한 출력을 노트에 기록합니다.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85D44-CAB1-4F5E-B731-EA51D69D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A06_notes.md, A06_example.py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21156-6FF2-46A5-81D7-DCDDBCDA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오류가 사라졌다는 것만으로 올바른 수정이라고 할 수 있나요?</a:t>
            </a:r>
          </a:p>
        </p:txBody>
      </p:sp>
    </p:spTree>
    <p:extLst>
      <p:ext uri="{BB962C8B-B14F-4D97-AF65-F5344CB8AC3E}">
        <p14:creationId xmlns:p14="http://schemas.microsoft.com/office/powerpoint/2010/main" val="213848332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E4366-8065-4E62-AC09-943FAAC1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452C1-46ED-4D68-8F3E-DD58EF7B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숫자 더하기와 문자열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E28CD-4A7A-42B7-885E-E2F728FE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36C3E-C2E8-419B-BB49-05128184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값의 모양과 자료형은 다릅니다.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숫자 +는 더하기입니다.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 +는 글자 연결입니다.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4742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5EA7A-CDFE-42CC-9176-4D0100F5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EAF2B-5308-440E-943A-AAF68644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A07 코드 1–5행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4B444-3679-4ACE-A492-6C20FD56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F5A95-BEE5-4B0B-83BC-45407A5E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95C8B-E291-4297-8591-028EB2D8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72B33-8A41-4637-AE4F-C1DB2A1E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count = 3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text_count = "3"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print(count + 2)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print(text_count + "2")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print(type(count).__name__, type(text_count).__name__)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4941E-6F1C-4C8E-A0A4-307C97CF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code/A07_example.py</a:t>
            </a:r>
          </a:p>
        </p:txBody>
      </p:sp>
    </p:spTree>
    <p:extLst>
      <p:ext uri="{BB962C8B-B14F-4D97-AF65-F5344CB8AC3E}">
        <p14:creationId xmlns:p14="http://schemas.microsoft.com/office/powerpoint/2010/main" val="18042339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021A7-981C-4235-8A1D-5650DC73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A4F6F-469A-47B2-847E-B2BAADFB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A07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B59D7-1FB0-4F4B-8A4F-77F39B0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F94E8-F7E0-4DA4-9EAE-66DB6EE4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B242E-A99C-4C66-9E6D-F6C70C55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476E0-C69D-4887-94E2-3F9198D5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int str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9BFFF-39A8-457E-AE23-34655F22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문자열 +는 글자 연결입니다.</a:t>
            </a:r>
          </a:p>
        </p:txBody>
      </p:sp>
    </p:spTree>
    <p:extLst>
      <p:ext uri="{BB962C8B-B14F-4D97-AF65-F5344CB8AC3E}">
        <p14:creationId xmlns:p14="http://schemas.microsoft.com/office/powerpoint/2010/main" val="199724564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CA8AE-C7B9-49C0-8171-548C571E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A07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1C38D-1FD7-4325-A78D-D1977D45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A07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BD67A-D664-4791-B4D9-28425DFF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352B6-C598-495B-A5B2-625AF54C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AB62A-975C-47C3-8085-8DBCF8BC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숫자 더하기와 문자열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E066B-FBA7-43A9-8C13-C3FBED61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출력 줄을 예상하고 각각 계산인지 글자 연결인지 적습니다.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39EE2-E8F1-421E-A572-0F3C8882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숫자와 문자열의 +를 같은 기준으로 읽지 않았는지 비교합니다.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F87A3-5420-4436-B1D6-68269DF1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고의 오류 text_count + 2에서 서로 다른 자료형을 표시합니다.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24DD0-BD0F-4918-A671-EF9A9113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수량과 사번 중 무엇을 숫자로 바꿀지 이유를 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0DF26-3F6A-4797-BB2B-E69E957C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A07_notes.md, A07_example.py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9F8EE-C3CC-41CC-AC9B-D677D531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"001"에 1을 더해 다음 직원을 정하는 것이 항상 적절할까요?</a:t>
            </a:r>
          </a:p>
        </p:txBody>
      </p:sp>
    </p:spTree>
    <p:extLst>
      <p:ext uri="{BB962C8B-B14F-4D97-AF65-F5344CB8AC3E}">
        <p14:creationId xmlns:p14="http://schemas.microsoft.com/office/powerpoint/2010/main" val="64227749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109B9-7CD3-45F1-9D69-0284EA56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554AE-02CD-4628-8A3C-95571DC5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수치 문자열을 숫자로 변환하기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17EB4-9667-48EE-AB5F-79DB974D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63F91-B3F7-4068-AE55-EFE690E0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원문과 해석한 결과를 나눠 둡니다.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float는 수치 글자를 숫자로 해석합니다.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모든 글자가 숫자로 변환되지는 않습니다.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307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6B8AB-EC7B-42FC-8819-7CAF0889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D5859-F199-4DA4-96D6-087D7A56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A08 코드 1–5행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BBC09-4115-4720-99F4-170DAD65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C1A23-920D-41BC-A604-DA69DF14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DAD16-2E30-4A0F-B22E-8379CA73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BF384-1394-4FE6-8AA3-9D1489F0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raw = "22.5"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temperature_c = float(raw)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print(raw, type(raw).__name__)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print(temperature_c, type(temperature_c).__name__)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print(temperature_c + 1)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6F002-010E-44DB-99ED-E7AF4820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code/A08_example.py</a:t>
            </a:r>
          </a:p>
        </p:txBody>
      </p:sp>
    </p:spTree>
    <p:extLst>
      <p:ext uri="{BB962C8B-B14F-4D97-AF65-F5344CB8AC3E}">
        <p14:creationId xmlns:p14="http://schemas.microsoft.com/office/powerpoint/2010/main" val="169088810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498BA-D22A-44DB-8FB6-9816BC5E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C4A15-4795-4F43-90A9-38A78648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A08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36B86-7FF5-439C-9001-717842E1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1A358-6B74-4075-8BBE-EE19E95A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ACA86-9D8B-403B-B127-88EE2319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255D2-92D1-4F33-A322-80385E29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22.5 str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22.5 float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23.5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F9B70-1702-4146-966B-FE94ADC6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모든 글자가 숫자로 변환되지는 않습니다.</a:t>
            </a:r>
          </a:p>
        </p:txBody>
      </p:sp>
    </p:spTree>
    <p:extLst>
      <p:ext uri="{BB962C8B-B14F-4D97-AF65-F5344CB8AC3E}">
        <p14:creationId xmlns:p14="http://schemas.microsoft.com/office/powerpoint/2010/main" val="4067248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A4808-F3F4-42DC-9748-A6A7934E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A08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6B433-7367-4F3C-9968-C514F02E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A08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21868-9B18-46D4-A749-EF9437AD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F3E36-528C-4A20-B1F3-50C0AC80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B75C0-AC20-45B0-BD7D-8ECD9E4C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수치 문자열을 숫자로 변환하기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2546D-6582-4928-9B03-4FA0D919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원문과 변환 결과의 이름을 구별합니다.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A97F9-726D-48AD-9AAC-5ABF09D3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원문을 "24.0"으로 바꾸고 출력 세 줄을 예상합니다.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BB66D-2C74-42F2-AADD-67E5D66B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저장·실행 뒤 값과 자료형을 대조합니다.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9E904-5395-4BC5-97BD-AF97FDFC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고의 오류 "뜨거움" 사례의 원문·오류 종류·확인 질문을 기록합니다.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3046C-7B29-4317-BCC0-1E124D28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A08_notes.md, A08_example.py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410A2-B69B-431C-BF7D-3694B2EE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원문 raw를 남기는 이유는 무엇일까요?</a:t>
            </a:r>
          </a:p>
        </p:txBody>
      </p:sp>
    </p:spTree>
    <p:extLst>
      <p:ext uri="{BB962C8B-B14F-4D97-AF65-F5344CB8AC3E}">
        <p14:creationId xmlns:p14="http://schemas.microsoft.com/office/powerpoint/2010/main" val="10103430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3A988-7AE7-4B7F-B32E-57B3D2FA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2C84C-5D24-4D26-A3B9-68C5834C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연산과 괄호로 작은 계산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D02A8-B700-4667-8255-8FD6B497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8A201-1845-4459-9E3D-47B9862F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합계와 사용한 개수를 함께 확인합니다.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괄호는 계산 순서를 드러냅니다.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성공과 계산 의미를 따로 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15194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00FDB-3ECD-44DF-9E3B-A3424FE8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2716E-2175-48E3-9AEE-8902D026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A09 코드 1–5행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67F29-5DDE-48FA-9026-7C8440B1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2357E-653E-4779-ACE6-AFF3E8A1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DC899-A9EA-417E-9F80-5D580354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E947B-F229-47C4-B4B1-908534D1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total = 22.5 + 24.0 + 23.5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count = 3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average = total / count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print(total)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print(round(average, 2))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DAE62-505C-41DA-B5BC-1DB13C16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code/A09_example.py</a:t>
            </a:r>
          </a:p>
        </p:txBody>
      </p:sp>
    </p:spTree>
    <p:extLst>
      <p:ext uri="{BB962C8B-B14F-4D97-AF65-F5344CB8AC3E}">
        <p14:creationId xmlns:p14="http://schemas.microsoft.com/office/powerpoint/2010/main" val="84971688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456B0-EE8E-4C28-82A5-11ECA40A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6573A-A609-4E25-A58A-1DFD3469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A09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ECBBB-F948-4FC2-9011-FDBDB417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BACE5-2514-4FD0-AD16-3AF02064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333E4-FC1B-40EE-ADAA-243CB8D7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A2356-AC38-4D84-A37F-77B98C6B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70.0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23.33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A1A35-7662-44CF-A8E9-3DFDFDE5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실행 성공과 계산 의미를 따로 봅니다.</a:t>
            </a:r>
          </a:p>
        </p:txBody>
      </p:sp>
    </p:spTree>
    <p:extLst>
      <p:ext uri="{BB962C8B-B14F-4D97-AF65-F5344CB8AC3E}">
        <p14:creationId xmlns:p14="http://schemas.microsoft.com/office/powerpoint/2010/main" val="91193844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1C53D-E580-413B-9772-2521CB42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A09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AFC8A-806B-495E-AD64-7863DF5A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A09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5F085-D193-404F-B215-97C172EC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A09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4EF46-D775-4FD4-AFA9-BC389911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4B18C-3E37-4BE9-8536-EC815641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연산과 괄호로 작은 계산 만들기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516C5-2146-40C8-98D6-8E1B3F56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합계와 개수를 손으로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8FA77-B069-465F-92CD-C4CA5465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코드 각 계산의 입력과 결과를 표로 적습니다.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C77D2-43FF-40EA-9D90-F1FB72DC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count를 2로 바꾼 출력 35.0이 계산은 되지만 의미상 맞는지 판단합니다.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62521-4E0A-43A8-B19C-C5D611C2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정상 분모를 복원하고 0으로 나눌 때 오류 단서를 비교합니다.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88EE9-6756-4F7C-8862-AC14FF1F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A09_notes.md, A09_example.py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F6A97-4FB1-4B66-9F9D-9013CDD1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코드가 종료 코드 0으로 끝났다면 평균의 업무 의미도 보장되나요?</a:t>
            </a:r>
          </a:p>
        </p:txBody>
      </p:sp>
    </p:spTree>
    <p:extLst>
      <p:ext uri="{BB962C8B-B14F-4D97-AF65-F5344CB8AC3E}">
        <p14:creationId xmlns:p14="http://schemas.microsoft.com/office/powerpoint/2010/main" val="163720519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9F5C6-F80A-47A7-BDD1-51286DDB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6BA5C-09C0-48AD-9DD0-64F1DDDC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비교 결과는 참 또는 거짓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B7469-8E9C-4D39-8F59-F67A83AC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303A1-736C-4103-99F3-782E3B12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비교는 True 또는 False를 만듭니다.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초과와 이상은 경계값에서 다릅니다.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대입 =와 비교 ==를 구별합니다.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15725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29527-ADFC-437D-88A3-C31A9230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CEB7B-9CF8-40FD-9C85-280D674E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A10 코드 1–5행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24CA8-5D68-45AA-BD70-32FA3B9B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FE360-94D4-437D-8DE5-F5F2B187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9C1C7-8687-413B-BE36-44E1F59E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97698-C598-4B97-8427-8D07EBE3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temperature_c = 24.0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limit = 24.0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print(temperature_c &gt; limit)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print(temperature_c &gt;= limit)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print(temperature_c == limit)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075DC-9108-4783-BE56-BE248496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code/A10_example.py</a:t>
            </a:r>
          </a:p>
        </p:txBody>
      </p:sp>
    </p:spTree>
    <p:extLst>
      <p:ext uri="{BB962C8B-B14F-4D97-AF65-F5344CB8AC3E}">
        <p14:creationId xmlns:p14="http://schemas.microsoft.com/office/powerpoint/2010/main" val="45125948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CB5AA-5C60-4941-8AFB-465FEA6A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E10E7-42B8-41D5-8A48-9E5E346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A10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7683C-7358-42FC-AF56-27799019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7D9C1-7A16-4422-BE62-DD4D3CAF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31EB9-E8B8-40A2-9B4E-8379221C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F0254-B3ED-46E9-93C5-EFDFEC16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False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True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8BCA8-25D5-4AAF-BE6E-4CC9BBAD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대입 =와 비교 ==를 구별합니다.</a:t>
            </a:r>
          </a:p>
        </p:txBody>
      </p:sp>
    </p:spTree>
    <p:extLst>
      <p:ext uri="{BB962C8B-B14F-4D97-AF65-F5344CB8AC3E}">
        <p14:creationId xmlns:p14="http://schemas.microsoft.com/office/powerpoint/2010/main" val="157228394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03059-9507-465E-BBE1-9DB0B5B4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A10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693AE-8231-4C4E-9386-0BC95E51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A10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AE1AC-89E8-404A-BB99-0F7E27B2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A10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80FC3-B04C-400A-969C-BE38C790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DA3B8-B399-4DE1-A289-4841536F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비교 결과는 참 또는 거짓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73EC3-D7A4-47B4-8237-42ADC03D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초과·이상·같음의 문장을 기호와 연결합니다.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B81F5-31C3-46DC-8D6C-684A97E2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기준 아래·같음·위 세 입력에서 True/False를 예상합니다.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7C96C-16E1-402A-90BC-4C7016EC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한 번에 온도 한 곳만 바꿔 비교 출력 세 줄을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AEEAB-026D-4E7E-B7AF-6A18A14F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업무 규칙 ‘24.0 이상’에 맞는 기호를 고르고 이유를 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D5B3B-4AB2-4C3D-9C7B-DF60E652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A10_notes.md, A10_example.py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C7BCA-91F9-4B8C-BD30-7EF512AC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변수에 값을 넣는 =와 비교하는 ==를 같은 기호처럼 쓰면 될까요?</a:t>
            </a:r>
          </a:p>
        </p:txBody>
      </p:sp>
    </p:spTree>
    <p:extLst>
      <p:ext uri="{BB962C8B-B14F-4D97-AF65-F5344CB8AC3E}">
        <p14:creationId xmlns:p14="http://schemas.microsoft.com/office/powerpoint/2010/main" val="70867452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B34B2-01D2-4863-8F3B-D0806A9A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0CA48-1832-4AFC-BD65-5CAA0BC6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if와 else로 출력 선택하기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7DF8E-5D7F-43D1-9376-A57D7200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3176A-C6F7-45E7-B6E7-9F8D2307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조건이 실행할 묶음을 고릅니다.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콜론과 들여쓰기가 범위를 만듭니다.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입력이 어느 갈래로 갔는지 설명합니다.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004152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EA0E6-A005-4F16-B663-F51EBA3C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41225-A067-44D0-9012-71EDFCDC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A11 코드 1–6행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E24E9-08E3-4972-9C69-CE55FB5B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9E75E-8996-4947-9A10-6C9A0C14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B972A-25B0-490D-BD6D-D6D0FA53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26853-EE15-44D3-B726-84316810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temperature_c = 23.5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limit = 24.0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if temperature_c &gt; limit: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print("확인")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else: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print("정상")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458A9-6089-42BA-A2A6-C74FCE95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code/A11_example.py</a:t>
            </a:r>
          </a:p>
        </p:txBody>
      </p:sp>
    </p:spTree>
    <p:extLst>
      <p:ext uri="{BB962C8B-B14F-4D97-AF65-F5344CB8AC3E}">
        <p14:creationId xmlns:p14="http://schemas.microsoft.com/office/powerpoint/2010/main" val="65399456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58A88-51FF-4B81-BEA1-8D8380DE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0D93C-0E78-4AD1-A082-B6E4BFA2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A11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409E0-8819-4641-BAC1-114DEE85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F7635-F69A-4E68-B0F5-C0C08E4A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17403-C3C3-4B4D-82BF-3976922E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3BA0A-3B66-4C11-A9D5-7E07FEBD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정상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639B7-32AC-4AB2-A436-95C003E8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한 입력이 어느 갈래로 갔는지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37659833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D96FE-F218-41E1-AB72-1DBAE9E9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A11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8F44F-E05E-40B9-B1E0-2D63C437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A11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882A7-D468-40AA-8CCE-DCB78655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A11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5C7D9-6802-4F65-92D8-D4DF2207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82F8C-29B0-40F5-ADD1-5F9BB577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if와 else로 출력 선택하기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A1954-5087-4AF6-B185-EAAFA250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조건식을 동그라미로 표시하고 두 갈래를 말로 설명합니다.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6F15E-DDEA-4199-B13E-D60F4B46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25.0으로 바꿨을 때 실행될 줄만 표시합니다.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22E82-787E-465F-BD10-3467E683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들여쓰기를 유지한 채 값 한 곳을 수정해 실행합니다.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9CA76-4178-425D-A323-D35DEA00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수정한 값·실행된 갈래·출력을 노트에 연결합니다.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6453D-4251-4C28-AF6E-9AAD0039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A11_notes.md, A11_example.py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9ED98-DD03-4DCA-BF14-96144BC7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print("완료")를 들여쓰기 없이 맨 아래에 넣으면 언제 실행될까요?</a:t>
            </a:r>
          </a:p>
        </p:txBody>
      </p:sp>
    </p:spTree>
    <p:extLst>
      <p:ext uri="{BB962C8B-B14F-4D97-AF65-F5344CB8AC3E}">
        <p14:creationId xmlns:p14="http://schemas.microsoft.com/office/powerpoint/2010/main" val="67850756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4AE60-22B5-4F56-B970-8910FE4A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AF5EE-265C-466F-9D10-689B27AA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미측정과 경계값의 세 갈래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C56C9-1B24-46B9-B562-CEBDB7D5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B94D6-A4FA-486F-AF2C-3FBB672F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 없음부터 확인합니다.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0.0은 실제 측정값입니다.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elif는 앞 조건이 거짓일 때 확인합니다.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17059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5FDFC-C94B-49F4-BAA8-FD54759B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24BCE-0951-4F93-80CE-B109E335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A12 코드 1–7행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5D5A3-D6E2-4223-A34A-320E3222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16312-7920-4BDB-BEBA-EF9F3261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A2E54-1C09-41C6-AE8C-98F8BBA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BBFC4-D555-4E59-8D44-00150310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temperature_c = None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if temperature_c is None: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print("미측정")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elif temperature_c &gt; 24.0: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print("확인")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else: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print("정상")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B5385-72E1-4C19-891F-07E9B510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code/A12_example.py</a:t>
            </a:r>
          </a:p>
        </p:txBody>
      </p:sp>
    </p:spTree>
    <p:extLst>
      <p:ext uri="{BB962C8B-B14F-4D97-AF65-F5344CB8AC3E}">
        <p14:creationId xmlns:p14="http://schemas.microsoft.com/office/powerpoint/2010/main" val="134366679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125EB-49A9-47B2-99E2-1E486E10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48637-C751-4787-9B11-1EA87AC8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A12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48718-8D85-4B35-8239-0D8747DC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FDD20-4C03-4CB7-B8ED-D16E2B6D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F4E05-AAD7-45A5-8F66-A777215D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7482F-409F-4D22-AD5A-A0EC2DCD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미측정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8DDE7-2EB2-4866-935E-A28A02FB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elif는 앞 조건이 거짓일 때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37383081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D3FDA-3B95-4169-82D2-DDCA4C6F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A12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99BDC-F272-4F8B-9AF3-99519C21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A12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1CB18-2941-422D-AADB-A1424508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A12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CE7AA-3B85-47B6-8B06-595C117F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1537C-6477-497D-8449-E8E6940B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미측정과 경계값의 세 갈래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30E2D-F613-42F1-9A35-A11AA1B8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None·0.0·24.0·24.1의 예상 갈래를 표에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48B2A-5F8D-4718-8BFB-CB0450CF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원본에서 미측정 확인이 숫자 비교보다 앞선 이유를 설명합니다.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036FA-3A75-474B-B7B6-98948FE5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work 코드에 하나씩 대입해 출력 또는 강사 실행을 대조합니다.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A0420-2CAC-4BEB-8F70-2C598642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0.0과 None을 같은 답으로 쓰지 않았는지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1610D-734B-4ECC-BA5B-5A99F769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A12_notes.md, A12_example.py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E1757-4C7F-4934-A2FB-55F4DE5A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None에 직접 &gt; 24.0을 적용하면 어떻게 될까요?</a:t>
            </a:r>
          </a:p>
        </p:txBody>
      </p:sp>
    </p:spTree>
    <p:extLst>
      <p:ext uri="{BB962C8B-B14F-4D97-AF65-F5344CB8AC3E}">
        <p14:creationId xmlns:p14="http://schemas.microsoft.com/office/powerpoint/2010/main" val="8304487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C367F-A637-4664-AC82-8AC347D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B196E-F7E1-438B-9122-56D78112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리스트와 위치로 여러 값 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3C0E6-9CA8-4F5C-848F-A3189048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8A915-516A-4DC6-B757-0863F27A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개수와 위치 번호를 구별합니다.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append는 끝에 값을 추가합니다.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추가하기 전의 목록 상태를 확인합니다.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35143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3D5C4-1DC5-4D23-99F5-96ABD972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F97FA-D52E-4E40-BD23-393CFB64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A13 코드 1–6행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17BED-7290-4119-A360-0E5858AB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90F0E-3EB4-404B-8E03-900820C6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FA6B2-8143-45F2-9C37-90DF3012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73DC0-0A3D-4B53-A26B-04B7355C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temperatures = [22.5, 24.0, 23.5]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print(temperatures[0])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print(len(temperatures))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temperatures.append(25.0)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print(len(temperatures))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print(temperatures[3])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20196-D8EA-4438-B8E1-611D60F4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code/A13_example.py</a:t>
            </a:r>
          </a:p>
        </p:txBody>
      </p:sp>
    </p:spTree>
    <p:extLst>
      <p:ext uri="{BB962C8B-B14F-4D97-AF65-F5344CB8AC3E}">
        <p14:creationId xmlns:p14="http://schemas.microsoft.com/office/powerpoint/2010/main" val="101343323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806D8-B87A-4BDD-A945-85581AF1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4997B-2DB0-47B0-9390-D7FF919C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A13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8AA49-BD50-42EB-B908-B7F7832E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50B2C-9FEF-4133-A504-E582CF7E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27DB3-1807-45F1-A59B-00A332A3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75D05-3A36-40CA-8A2F-4BD8488C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22.5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25.0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C6A73-000A-435F-90A3-8031424D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추가하기 전의 목록 상태를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19340904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EE25D-8895-4CAB-BB96-AAD6956F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A13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5C806-2255-49CA-9D90-46F2D3A4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A13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B23F4-CF2C-43FA-A57C-8EBEC88F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A13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E3BB9-91DA-4D2D-A38B-2625A720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3C811-191F-411C-9B38-4E219CB9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리스트와 위치로 여러 값 담기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C7331-C471-46C0-AAB4-464FB63E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추가 전과 후의 목록을 종이에 그립니다.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EC887-7CEA-4AB3-BE81-A8571BF8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각 위치 번호와 개수를 따로 표시합니다.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AFCDD-3AF3-48A2-AF05-5184EC8F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추가할 값을 26.0으로 바꾸고 출력 변화를 예상합니다.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926C0-F9EF-4254-B1A8-34C7434E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아직 없는 위치를 읽는 오류 사례를 설명합니다.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ABEAD-D84C-42B5-8953-C1C62856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A13_notes.md, A13_example.py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8E076-DAC8-4B0D-93A4-37335FC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값 하나를 수정하는 것과 append로 추가하는 것은 개수에 어떤 차이가 있나요?</a:t>
            </a:r>
          </a:p>
        </p:txBody>
      </p:sp>
    </p:spTree>
    <p:extLst>
      <p:ext uri="{BB962C8B-B14F-4D97-AF65-F5344CB8AC3E}">
        <p14:creationId xmlns:p14="http://schemas.microsoft.com/office/powerpoint/2010/main" val="129201623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12EBD-0C03-44A6-A6C4-691231E3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EE6A1-FAD3-4626-8AC0-D2559A7D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for로 목록을 한 항목씩 읽기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FD9EF-BE68-40AF-96D1-B1ADC602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FDD17-3327-47F4-8CDC-DEB93B06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변수는 이번 차례의 값입니다.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들여쓴 묶음을 항목마다 실행합니다.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바깥의 줄은 나중에 한 번 실행합니다.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53974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44E2B0-23CA-46AC-8B76-66BF7650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9E48F1-5B4D-4E7D-94CC-A8106B12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A14 코드 1–4행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EACEB-4864-4AC3-8554-08048D34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68E2E-E232-456A-93E2-4F4627EF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8EAFC-C308-49C7-BAB6-5C22F2C2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DB448-095C-4150-BAE4-3351FCDD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temperatures = [22.5, 24.0, 23.5]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for temperature_c in temperatures: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print(temperature_c)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print("완료")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7A2B5-EAA1-4251-AB97-31161051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code/A14_example.py</a:t>
            </a:r>
          </a:p>
        </p:txBody>
      </p:sp>
    </p:spTree>
    <p:extLst>
      <p:ext uri="{BB962C8B-B14F-4D97-AF65-F5344CB8AC3E}">
        <p14:creationId xmlns:p14="http://schemas.microsoft.com/office/powerpoint/2010/main" val="213597486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D9ED4-0E31-4EA4-893E-A7FA977E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60854-6739-4541-9F75-F7F0C64C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A14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8E522-190F-4D4E-9D4C-AFE9ABB0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57C0C-54CD-410D-B7A0-0CCF61C0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5E745-4D0B-4A74-AED1-5A1741A0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4D40E-D59F-44F6-9942-C1957DA6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22.5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24.0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23.5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A0F67-9708-491C-9F42-C87F661E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반복 바깥의 줄은 나중에 한 번 실행합니다.</a:t>
            </a:r>
          </a:p>
        </p:txBody>
      </p:sp>
    </p:spTree>
    <p:extLst>
      <p:ext uri="{BB962C8B-B14F-4D97-AF65-F5344CB8AC3E}">
        <p14:creationId xmlns:p14="http://schemas.microsoft.com/office/powerpoint/2010/main" val="157258289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80CC1-3A3F-4AA6-87E9-2E8B9BFF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A14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A963A-A865-4554-9047-41AF8409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A14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1C027-61DF-4E86-B51B-10FCDB86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A14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72B38-921C-4A3C-B8E2-ADDB63FE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60E82-91D4-4474-BE45-136B4199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for로 목록을 한 항목씩 읽기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8C96F-42EC-4DB0-AC82-FF7E2F90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세 차례에 temperature_c가 가리키는 값을 표에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2ABBE-4752-482F-A4AA-F7397F41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완료가 몇 번 나올지 예상하고 들여쓰기를 근거로 설명합니다.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02259-BB24-4350-9E6D-0B0ED58E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목록에 25.0을 추가하고 반복 출력 수를 비교합니다.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7C8EE-E5E0-4A12-B1E8-029B9E7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목록이 비어 있으면 어느 줄이 실행될지 적습니다.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8D34B-6ACF-42C3-BD05-90EF937B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A14_notes.md, A14_example.py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A045F-D05D-415C-B7E5-21D6E2E6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완료 출력도 네 칸 들여쓰면 무엇이 바뀔까요?</a:t>
            </a:r>
          </a:p>
        </p:txBody>
      </p:sp>
    </p:spTree>
    <p:extLst>
      <p:ext uri="{BB962C8B-B14F-4D97-AF65-F5344CB8AC3E}">
        <p14:creationId xmlns:p14="http://schemas.microsoft.com/office/powerpoint/2010/main" val="210388371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85D2C-2444-47CA-88B4-3E6A3F5F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9C91B-4633-4B21-80EF-61F7B489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반복 안에서 조건 확인과 개수 세기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5A8E3-231C-451C-AF01-ABD5B64F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F3E9D-2D63-4576-9814-C2BE6771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누적값은 반복 전에 준비합니다.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항목마다 조건을 확인합니다.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경계값이 집계 결과를 바꿉니다.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81843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11A08-B69F-4A88-9348-BD048727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B1525-E80F-4FCC-88E1-6940FC92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A15 코드 1–6행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42C8F-67A8-43F5-A107-378CCF60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C2194-D0AD-45D7-91A6-AECBDECA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E0854-E238-43FA-80A5-B312F143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1C8D2-7A55-43AE-9B52-5CB1D850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temperatures = [22.5, 24.0, 25.0]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count = 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for temperature_c in temperatures: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temperature_c &gt; 24.0: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count = count + 1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print("확인 건수", count)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6B4C0-2373-4218-AD72-121FC008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code/A15_example.py</a:t>
            </a:r>
          </a:p>
        </p:txBody>
      </p:sp>
    </p:spTree>
    <p:extLst>
      <p:ext uri="{BB962C8B-B14F-4D97-AF65-F5344CB8AC3E}">
        <p14:creationId xmlns:p14="http://schemas.microsoft.com/office/powerpoint/2010/main" val="210225625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6C1EE-FF67-4327-BA50-7378724F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BAFFE-98CB-451F-B32F-49A18280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A15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71F04-346A-4CEB-B3ED-408500CE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35159-8E02-4C8D-B6F1-F13006E1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85693-859F-4C56-B02D-633A7298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B24D0-2F5D-4822-84C4-4E22760F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확인 건수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FA483-5CE9-4D8A-978A-D35EB705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경계값이 집계 결과를 바꿉니다.</a:t>
            </a:r>
          </a:p>
        </p:txBody>
      </p:sp>
    </p:spTree>
    <p:extLst>
      <p:ext uri="{BB962C8B-B14F-4D97-AF65-F5344CB8AC3E}">
        <p14:creationId xmlns:p14="http://schemas.microsoft.com/office/powerpoint/2010/main" val="133448931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99CF7-FF38-404A-A54A-97A58861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A15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CE496-E7DD-4553-A945-BD311067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A15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CFA3E-0ED4-40F2-B67E-8C2DD5DB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A15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30CBF-7F23-497E-81DE-AFC55DC7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67E7D-DC00-42C0-9520-2CE44AEE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반복 안에서 조건 확인과 개수 세기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890E9-321C-47D9-97BF-75EAC6D7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각 차례의 온도·조건 결과·누적 count를 표로 씁니다.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FE280-0DA3-4746-A789-3E6CEB20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초과를 이상으로 바꾸었을 때 영향을 받는 값을 표시합니다.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4426F-697E-46EB-B7D6-86E8A3CD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연산자 한 곳을 바꾸고 결과를 대조합니다.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C8CFF-E94A-4D84-9A87-0442AB88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count의 준비 위치를 반복 앞에 둔 이유를 설명합니다.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51273-37C4-49EB-AA6B-34F27108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A15_notes.md, A15_example.py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2126C-6B1C-4927-898F-3480F06D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한 번의 print인데 세 항목을 검사할 수 있는 이유는 무엇인가요?</a:t>
            </a:r>
          </a:p>
        </p:txBody>
      </p:sp>
    </p:spTree>
    <p:extLst>
      <p:ext uri="{BB962C8B-B14F-4D97-AF65-F5344CB8AC3E}">
        <p14:creationId xmlns:p14="http://schemas.microsoft.com/office/powerpoint/2010/main" val="66297015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00D80-20A0-4427-92B6-260D4FE2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EC072-478C-427D-8FD5-6676CD6F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관찰 한 건과 점검표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92D59-0B92-4163-A331-3DF56A7B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9BD59-7DCF-4DB2-9E66-30092B72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리스트는 관찰 여러 건을 묶습니다.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딕셔너리는 한 관찰의 항목을 묶습니다.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키로 이번 관찰의 값을 찾습니다.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578286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69BBA-427E-4F89-B32F-D765827D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67E01-CF03-4B6F-8013-BF021493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A16 코드 1–6행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4C0CE-9E4F-4826-8D05-E39801B6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7884E-341F-40C3-BE4B-30FF1FC5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B7B61-CC45-450B-940D-5B580E55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47038-2DCC-4602-B735-F9AD2E08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records = [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{"sensor_id": "S01", "temperature_c": 22.5},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{"sensor_id": "S02", "temperature_c": 24.0},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for record in records: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print(record["sensor_id"], record["temperature_c"])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5FC23-43E2-422A-AA1F-BFC0C51D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code/A16_example.py</a:t>
            </a:r>
          </a:p>
        </p:txBody>
      </p:sp>
    </p:spTree>
    <p:extLst>
      <p:ext uri="{BB962C8B-B14F-4D97-AF65-F5344CB8AC3E}">
        <p14:creationId xmlns:p14="http://schemas.microsoft.com/office/powerpoint/2010/main" val="923776157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102B5-A953-4C3C-810E-5617A013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C1705-5675-491F-B2B3-5512810B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A16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08412-CA9A-494A-8A88-564E1FBA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A4B93-24A3-4C6D-AF6F-053C4E01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79971-9813-4EF0-9E3C-38C031FC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62FED-6E7E-472D-904C-E99E74EB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S01 22.5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S02 24.0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242A2-86D3-4E1B-8BAD-21220694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키로 이번 관찰의 값을 찾습니다.</a:t>
            </a:r>
          </a:p>
        </p:txBody>
      </p:sp>
    </p:spTree>
    <p:extLst>
      <p:ext uri="{BB962C8B-B14F-4D97-AF65-F5344CB8AC3E}">
        <p14:creationId xmlns:p14="http://schemas.microsoft.com/office/powerpoint/2010/main" val="2043319073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2418A-F261-4A1D-9607-CD771B6B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A16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AC0A6-D596-4359-8D58-A3D58C40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A16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E1102-9575-42DF-8FD3-C3591DFD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A16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93564-DDB9-4EEF-A922-BAB1A302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8C75E-27D4-4551-BF68-77AFC8B8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관찰 한 건과 점검표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277B1-8B25-4E58-B69F-5ECE530A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바깥 리스트와 안쪽 딕셔너리를 표시합니다.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F40BE-49F0-40A0-8988-98095EF4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S02의 온도를 바꾸었을 때 어느 출력만 바뀌는지 예상합니다.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D56B5-674C-4129-BF4E-6D7207FD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값 한 곳을 수정해 출력과 관찰 대상이 유지되는지 확인합니다.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F6F7B-AC27-4D4E-9AB2-02602121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표의 한 행과 record의 관계를 문장으로 설명합니다.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3EA91-F56C-4CEB-A850-48BCA88F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A16_notes.md, A16_example.py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4AB9F-F3E3-44C8-932B-CE965698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딕셔너리 키 temperature_c를 오타로 읽으면 무엇부터 확인하나요?</a:t>
            </a:r>
          </a:p>
        </p:txBody>
      </p:sp>
    </p:spTree>
    <p:extLst>
      <p:ext uri="{BB962C8B-B14F-4D97-AF65-F5344CB8AC3E}">
        <p14:creationId xmlns:p14="http://schemas.microsoft.com/office/powerpoint/2010/main" val="98735895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866BF-1F7E-4037-97A3-2124E4C9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DABBF-9EEF-4A42-B82D-FB447E78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수업용 센서 요약 완성 예제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81426-BEC6-4AF9-B15C-A2E43FF1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C1B0E-C485-44C8-B107-DE0E1D23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 배운 조각을 연결합니다.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 검사가 숫자 비교보다 먼저입니다.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한 곳 변경의 영향을 추적합니다.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25856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63C14-41BB-4CC1-BB28-ACD32400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D6F8E-2B35-40BE-B1F0-5675EB8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A17 코드 1–10행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7A1A8-F282-4961-B91B-DA516300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6DB305-F066-4C7E-9348-F2D695D9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54087-9C2D-4AC8-AA88-640A7AB8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91361-46C4-436F-B092-28D75DC1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records = [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{"sensor_id": "S01", "temperature_c": 22.5},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{"sensor_id": "S02", "temperature_c": 25.0},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{"sensor_id": "S03", "temperature_c": None},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limit = 24.0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for record in records: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temperature_c = record["temperature_c"]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if temperature_c is None: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status = "미측정"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6C2E9-FC47-46E9-996F-41A99CA4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code/A17_sensor_summary.py</a:t>
            </a:r>
          </a:p>
        </p:txBody>
      </p:sp>
    </p:spTree>
    <p:extLst>
      <p:ext uri="{BB962C8B-B14F-4D97-AF65-F5344CB8AC3E}">
        <p14:creationId xmlns:p14="http://schemas.microsoft.com/office/powerpoint/2010/main" val="183493769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F47AD-221E-420F-9F59-4D6A5CDA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전체 코드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67FF2-BBD3-4084-906E-C40507A1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A17 코드 11–15행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871D2-C7F3-4817-9191-E09E5AAD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9AEFE-3B62-4087-B0B1-FEA8CB74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384D1-A1F2-484D-9B64-23141A0E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AA219-EA8F-4FEE-AB12-7F3A961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elif temperature_c &gt; limit: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status = "확인"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else: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    status = "정상"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    print(record["sensor_id"], status)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0B576-BA3F-4905-86E5-5CEF1AC8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전체 파일: code/A17_sensor_summary.py</a:t>
            </a:r>
          </a:p>
        </p:txBody>
      </p:sp>
    </p:spTree>
    <p:extLst>
      <p:ext uri="{BB962C8B-B14F-4D97-AF65-F5344CB8AC3E}">
        <p14:creationId xmlns:p14="http://schemas.microsoft.com/office/powerpoint/2010/main" val="1608565161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20157-3A4B-49F5-AB90-457B8062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출력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9417D-330A-44E3-B8D9-8C4121EB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A17 출력과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44014-A187-427F-A719-9DC0CD5D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16FF9-B457-41AD-BC4E-E73BB1FF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78649-2670-480B-A231-1B40ED0E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37F21-8490-4984-8C39-EFCCCFEC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051560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S01 정상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S02 확인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S03 미측정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7B618-1ABB-465F-9F35-122641D5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기준 한 곳 변경의 영향을 추적합니다.</a:t>
            </a:r>
          </a:p>
        </p:txBody>
      </p:sp>
    </p:spTree>
    <p:extLst>
      <p:ext uri="{BB962C8B-B14F-4D97-AF65-F5344CB8AC3E}">
        <p14:creationId xmlns:p14="http://schemas.microsoft.com/office/powerpoint/2010/main" val="2066137490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07FC0-E5AE-4BF7-B03B-7DE2DB29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A17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61307-FFA5-4565-BE79-4E557A1B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A17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77597-241E-4140-B356-EDE465C1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A17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2A81D-4C17-4A98-8360-B6EF559A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2AA26-68C6-4B3A-A951-46440AED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수업용 센서 요약 완성 예제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E626F-8294-4E6F-ADB2-BC3560A1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각 기록의 입력·조건·예상 상태를 작성합니다.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F7718-9D1E-4898-8A2B-C411FF73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limit만 25.0으로 바꾸고 달라질 기록을 고릅니다.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DC74F-E527-4573-9D77-E0ED55D9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전체 파일을 저장·실행하고 세 출력 줄을 대조합니다.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CF4E3-07D6-4C75-805F-97E11916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미측정 처리와 기준 비교의 실행 순서를 짝에게 설명합니다.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C3CAD-2CD2-49E0-B87E-558478DF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A17_notes.md, A17_sensor_summary.py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1A1A9-AF37-4ED9-B6C6-360DBAA5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기준만 바꿨는데 미측정 상태가 달라진다면 무엇을 점검해야 할까요?</a:t>
            </a:r>
          </a:p>
        </p:txBody>
      </p:sp>
    </p:spTree>
    <p:extLst>
      <p:ext uri="{BB962C8B-B14F-4D97-AF65-F5344CB8AC3E}">
        <p14:creationId xmlns:p14="http://schemas.microsoft.com/office/powerpoint/2010/main" val="2105380786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83156-BF71-49A4-97A4-7D0AC7E9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개념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8BB3B-858C-482B-8E44-74EFFA52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새 입력 검수와 실행 인계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B4F17-A755-47E0-A96F-1100A97B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6943A-A8BB-40D6-8FAA-528E4977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69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7353300"/>
              </a:tblGrid>
              <a:tr h="1062038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내용</a:t>
                      </a:r>
                    </a:p>
                  </a:txBody>
                  <a:tcPr marL="133350" marR="95250" marT="57150" marB="57150" anchor="ctr">
                    <a:solidFill>
                      <a:srgbClr val="087F8C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개념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입력에서도 경계값을 확인합니다.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예상과 실제 확인 방식을 구별합니다.</a:t>
                      </a:r>
                    </a:p>
                  </a:txBody>
                  <a:tcPr marL="133350" marR="95250" marT="57150" marB="57150" anchor="ctr">
                    <a:solidFill>
                      <a:srgbClr val="E9ECE5"/>
                    </a:solidFill>
                  </a:tcPr>
                </a:tc>
              </a:tr>
              <a:tr h="106203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827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파일·명령·출력을 함께 전달합니다.</a:t>
                      </a:r>
                    </a:p>
                  </a:txBody>
                  <a:tcPr marL="133350" marR="952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203630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77E88-40F2-4F6A-817E-DB880E87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790FE-E32A-4223-87B8-54335C97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A18 판단의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51196-5109-4B92-B293-A12559B1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7D577-8553-4C13-8B67-0565FB25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A0374-7569-4ED8-97AA-7F9FFA39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살펴볼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19DA8-D076-4168-B97F-F3B59AB1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예상과 실제 확인 방식을 구별합니다.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A6AC9-9EBC-410E-A6A9-0E86CE78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4307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설명할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6DDDC-EA9A-4537-95F8-1D574CC0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86000"/>
            <a:ext cx="5286375" cy="3152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파일·명령·출력을 함께 전달합니다.</a:t>
            </a:r>
          </a:p>
        </p:txBody>
      </p:sp>
    </p:spTree>
    <p:extLst>
      <p:ext uri="{BB962C8B-B14F-4D97-AF65-F5344CB8AC3E}">
        <p14:creationId xmlns:p14="http://schemas.microsoft.com/office/powerpoint/2010/main" val="1150569169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8E470-ACE8-41BC-98D5-272903F0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A18  학생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2B751-95FA-475B-81C7-F6022C7B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A18 직접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7784F-D19F-44E4-A38F-2C2B27A2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134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A18  /  활동 전체 20분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326A4-FE3E-49BA-A641-F6C48730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71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1C641-5D44-421B-B173-7DAF4780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입력  새 입력 검수와 실행 인계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749D5-7FA0-437F-9A2A-2C070937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1. 새 관찰 세 개의 예상 상태와 근거를 적습니다.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55D3A-A314-4B90-B52C-F5984850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2. A17 구조를 재사용해 work/A18_final.py의 기록 목록을 새 자료로 바꿉니다.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98C61-63EB-424C-90F8-80B847FB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3. 같은 기준으로 실행하거나 제공 출력과 수동 대조하고 확인 방식을 기록합니다.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0643D-A260-4C05-A3DE-C965686A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4. 짝이 같은 파일을 찾고 결과를 설명할 수 있게 인계 세 문장을 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F2BB2-BB6B-4738-90A0-416F4A71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8272C"/>
                </a:solidFill>
                <a:latin typeface="Malgun Gothic"/>
                <a:ea typeface="Malgun Gothic"/>
                <a:cs typeface="Malgun Gothic"/>
              </a:rPr>
              <a:t>남길 결과  A18_notes.md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A2774-729A-4FEA-9DDE-E802015B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476"/>
                </a:solidFill>
                <a:latin typeface="Malgun Gothic"/>
                <a:ea typeface="Malgun Gothic"/>
                <a:cs typeface="Malgun Gothic"/>
              </a:rPr>
              <a:t>확인  내일 파일에서 읽은 "24.0"을 그대로 이 코드에 넣으면 무엇이 추가로 필요할까요?</a:t>
            </a:r>
          </a:p>
        </p:txBody>
      </p:sp>
    </p:spTree>
    <p:extLst>
      <p:ext uri="{BB962C8B-B14F-4D97-AF65-F5344CB8AC3E}">
        <p14:creationId xmlns:p14="http://schemas.microsoft.com/office/powerpoint/2010/main" val="1860979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2026-09-25T16:30:34.8890000Z</dcterms:created>
  <dcterms:modified xsi:type="dcterms:W3CDTF">2026-09-25T16:30:34.8890000Z</dcterms:modified>
</coreProperties>
</file>