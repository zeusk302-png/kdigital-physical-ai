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207b345df664616" /><Relationship Type="http://schemas.openxmlformats.org/officeDocument/2006/relationships/extended-properties" Target="/docProps/app.xml" Id="R511eae0c361b4a43" /><Relationship Type="http://schemas.openxmlformats.org/officeDocument/2006/relationships/officeDocument" Target="/ppt/presentation.xml" Id="R77e4d8990f754857" /></Relationships>
</file>

<file path=ppt/presentation.xml><?xml version="1.0" encoding="utf-8"?>
<p:presentation xmlns:p="http://schemas.openxmlformats.org/presentationml/2006/main">
  <p:sldMasterIdLst>
    <p:sldMasterId xmlns:r="http://schemas.openxmlformats.org/officeDocument/2006/relationships" id="2147483648" r:id="R20c4f8a782e94189"/>
  </p:sldMasterIdLst>
  <p:notesMasterIdLst>
    <p:notesMasterId xmlns:r="http://schemas.openxmlformats.org/officeDocument/2006/relationships" r:id="R4920900638a14057"/>
  </p:notesMasterIdLst>
  <p:sldIdLst>
    <p:sldId xmlns:r="http://schemas.openxmlformats.org/officeDocument/2006/relationships" id="256" r:id="R8e0d6db31ed34b13"/>
    <p:sldId xmlns:r="http://schemas.openxmlformats.org/officeDocument/2006/relationships" id="257" r:id="R1d88521bb802450a"/>
    <p:sldId xmlns:r="http://schemas.openxmlformats.org/officeDocument/2006/relationships" id="258" r:id="R4a3a10dbde6f4b4c"/>
    <p:sldId xmlns:r="http://schemas.openxmlformats.org/officeDocument/2006/relationships" id="259" r:id="R9563894a2bb6491e"/>
    <p:sldId xmlns:r="http://schemas.openxmlformats.org/officeDocument/2006/relationships" id="260" r:id="Rd3c467efa3d644ca"/>
    <p:sldId xmlns:r="http://schemas.openxmlformats.org/officeDocument/2006/relationships" id="261" r:id="Re4ca16d4cbd2469d"/>
    <p:sldId xmlns:r="http://schemas.openxmlformats.org/officeDocument/2006/relationships" id="262" r:id="R8707f60cbf714deb"/>
    <p:sldId xmlns:r="http://schemas.openxmlformats.org/officeDocument/2006/relationships" id="263" r:id="R4233bc65530d43de"/>
    <p:sldId xmlns:r="http://schemas.openxmlformats.org/officeDocument/2006/relationships" id="264" r:id="Ra89c4f6620b541de"/>
    <p:sldId xmlns:r="http://schemas.openxmlformats.org/officeDocument/2006/relationships" id="265" r:id="Rbf3d00ba1dff4565"/>
    <p:sldId xmlns:r="http://schemas.openxmlformats.org/officeDocument/2006/relationships" id="266" r:id="Rae4d12d92bc54dda"/>
    <p:sldId xmlns:r="http://schemas.openxmlformats.org/officeDocument/2006/relationships" id="267" r:id="R990632e428dc4dff"/>
    <p:sldId xmlns:r="http://schemas.openxmlformats.org/officeDocument/2006/relationships" id="268" r:id="Rdf9fc6930ed042de"/>
    <p:sldId xmlns:r="http://schemas.openxmlformats.org/officeDocument/2006/relationships" id="269" r:id="Rce5c3c343e8845f8"/>
    <p:sldId xmlns:r="http://schemas.openxmlformats.org/officeDocument/2006/relationships" id="270" r:id="Rc1f9ddeff405413e"/>
    <p:sldId xmlns:r="http://schemas.openxmlformats.org/officeDocument/2006/relationships" id="271" r:id="R9b55b1406b9f4a8b"/>
    <p:sldId xmlns:r="http://schemas.openxmlformats.org/officeDocument/2006/relationships" id="272" r:id="R32181fea3135493b"/>
    <p:sldId xmlns:r="http://schemas.openxmlformats.org/officeDocument/2006/relationships" id="273" r:id="R8e16ac88fac74c75"/>
    <p:sldId xmlns:r="http://schemas.openxmlformats.org/officeDocument/2006/relationships" id="274" r:id="Ra05b3ee1f0394983"/>
    <p:sldId xmlns:r="http://schemas.openxmlformats.org/officeDocument/2006/relationships" id="275" r:id="R8c651fd1d1d946eb"/>
    <p:sldId xmlns:r="http://schemas.openxmlformats.org/officeDocument/2006/relationships" id="276" r:id="R77b02c91fc5543c5"/>
    <p:sldId xmlns:r="http://schemas.openxmlformats.org/officeDocument/2006/relationships" id="277" r:id="R9c72ce8a2de6429e"/>
    <p:sldId xmlns:r="http://schemas.openxmlformats.org/officeDocument/2006/relationships" id="278" r:id="R076f462ef3ce479f"/>
    <p:sldId xmlns:r="http://schemas.openxmlformats.org/officeDocument/2006/relationships" id="279" r:id="R75cf3a61462e4b5d"/>
    <p:sldId xmlns:r="http://schemas.openxmlformats.org/officeDocument/2006/relationships" id="280" r:id="Rcf7c229c05744822"/>
    <p:sldId xmlns:r="http://schemas.openxmlformats.org/officeDocument/2006/relationships" id="281" r:id="R836e4520bd0b4057"/>
    <p:sldId xmlns:r="http://schemas.openxmlformats.org/officeDocument/2006/relationships" id="282" r:id="R605d7518743b4d02"/>
    <p:sldId xmlns:r="http://schemas.openxmlformats.org/officeDocument/2006/relationships" id="283" r:id="R26e32246c8aa46dd"/>
    <p:sldId xmlns:r="http://schemas.openxmlformats.org/officeDocument/2006/relationships" id="284" r:id="R7eb18e1928a94da2"/>
    <p:sldId xmlns:r="http://schemas.openxmlformats.org/officeDocument/2006/relationships" id="285" r:id="Ra36dddb2d5574c91"/>
    <p:sldId xmlns:r="http://schemas.openxmlformats.org/officeDocument/2006/relationships" id="286" r:id="R094212c3b2e44f37"/>
    <p:sldId xmlns:r="http://schemas.openxmlformats.org/officeDocument/2006/relationships" id="287" r:id="R73ae5e3923df42cf"/>
    <p:sldId xmlns:r="http://schemas.openxmlformats.org/officeDocument/2006/relationships" id="288" r:id="R0ad49fdc2eeb4ebe"/>
    <p:sldId xmlns:r="http://schemas.openxmlformats.org/officeDocument/2006/relationships" id="289" r:id="Rc49389fc71eb4774"/>
    <p:sldId xmlns:r="http://schemas.openxmlformats.org/officeDocument/2006/relationships" id="290" r:id="R0e1b64a8279f4c4f"/>
    <p:sldId xmlns:r="http://schemas.openxmlformats.org/officeDocument/2006/relationships" id="291" r:id="R5d92940b0db4435c"/>
    <p:sldId xmlns:r="http://schemas.openxmlformats.org/officeDocument/2006/relationships" id="292" r:id="Rc624546fadfa4c4f"/>
    <p:sldId xmlns:r="http://schemas.openxmlformats.org/officeDocument/2006/relationships" id="293" r:id="Ra752945a767b4f97"/>
    <p:sldId xmlns:r="http://schemas.openxmlformats.org/officeDocument/2006/relationships" id="294" r:id="R2d09e390423c47a4"/>
    <p:sldId xmlns:r="http://schemas.openxmlformats.org/officeDocument/2006/relationships" id="295" r:id="R987210a92db54003"/>
    <p:sldId xmlns:r="http://schemas.openxmlformats.org/officeDocument/2006/relationships" id="296" r:id="Ra116a695ca714778"/>
    <p:sldId xmlns:r="http://schemas.openxmlformats.org/officeDocument/2006/relationships" id="297" r:id="R0d461c50fcca4725"/>
    <p:sldId xmlns:r="http://schemas.openxmlformats.org/officeDocument/2006/relationships" id="298" r:id="R570a748c044f44e2"/>
    <p:sldId xmlns:r="http://schemas.openxmlformats.org/officeDocument/2006/relationships" id="299" r:id="R25a673566bb04947"/>
    <p:sldId xmlns:r="http://schemas.openxmlformats.org/officeDocument/2006/relationships" id="300" r:id="R94c6d2d6917a4489"/>
    <p:sldId xmlns:r="http://schemas.openxmlformats.org/officeDocument/2006/relationships" id="301" r:id="R4e119d51ac494179"/>
    <p:sldId xmlns:r="http://schemas.openxmlformats.org/officeDocument/2006/relationships" id="302" r:id="R36857b8dd28a41e1"/>
    <p:sldId xmlns:r="http://schemas.openxmlformats.org/officeDocument/2006/relationships" id="303" r:id="Rc2009e57274e4bd0"/>
    <p:sldId xmlns:r="http://schemas.openxmlformats.org/officeDocument/2006/relationships" id="304" r:id="Re5835fbc96df4a62"/>
    <p:sldId xmlns:r="http://schemas.openxmlformats.org/officeDocument/2006/relationships" id="305" r:id="Rc11a8e5769004a4f"/>
    <p:sldId xmlns:r="http://schemas.openxmlformats.org/officeDocument/2006/relationships" id="306" r:id="R6a9e0015505d4e22"/>
    <p:sldId xmlns:r="http://schemas.openxmlformats.org/officeDocument/2006/relationships" id="307" r:id="R56627d32279d4ad2"/>
    <p:sldId xmlns:r="http://schemas.openxmlformats.org/officeDocument/2006/relationships" id="308" r:id="R259496ee45cb451e"/>
    <p:sldId xmlns:r="http://schemas.openxmlformats.org/officeDocument/2006/relationships" id="309" r:id="R328f067c65a949c6"/>
    <p:sldId xmlns:r="http://schemas.openxmlformats.org/officeDocument/2006/relationships" id="310" r:id="R0b08a8e992dc48a1"/>
    <p:sldId xmlns:r="http://schemas.openxmlformats.org/officeDocument/2006/relationships" id="311" r:id="R3c0dbda0992b4385"/>
    <p:sldId xmlns:r="http://schemas.openxmlformats.org/officeDocument/2006/relationships" id="312" r:id="R888206a1664343d5"/>
    <p:sldId xmlns:r="http://schemas.openxmlformats.org/officeDocument/2006/relationships" id="313" r:id="R4ccb3a28de024ed3"/>
    <p:sldId xmlns:r="http://schemas.openxmlformats.org/officeDocument/2006/relationships" id="314" r:id="R2a7a1828bf6646f6"/>
    <p:sldId xmlns:r="http://schemas.openxmlformats.org/officeDocument/2006/relationships" id="315" r:id="R68974c69d7834f5e"/>
    <p:sldId xmlns:r="http://schemas.openxmlformats.org/officeDocument/2006/relationships" id="316" r:id="R381f03d47ae14cd5"/>
    <p:sldId xmlns:r="http://schemas.openxmlformats.org/officeDocument/2006/relationships" id="317" r:id="Rf35895004c3145a3"/>
    <p:sldId xmlns:r="http://schemas.openxmlformats.org/officeDocument/2006/relationships" id="318" r:id="R6198e26912f04b75"/>
    <p:sldId xmlns:r="http://schemas.openxmlformats.org/officeDocument/2006/relationships" id="319" r:id="Rc38143c90eca4ac0"/>
    <p:sldId xmlns:r="http://schemas.openxmlformats.org/officeDocument/2006/relationships" id="320" r:id="R418f19d636b942e0"/>
    <p:sldId xmlns:r="http://schemas.openxmlformats.org/officeDocument/2006/relationships" id="321" r:id="R2d7cb275a07e4743"/>
    <p:sldId xmlns:r="http://schemas.openxmlformats.org/officeDocument/2006/relationships" id="322" r:id="R8b41f4dc82344c01"/>
    <p:sldId xmlns:r="http://schemas.openxmlformats.org/officeDocument/2006/relationships" id="323" r:id="R818099ddaee74ed9"/>
    <p:sldId xmlns:r="http://schemas.openxmlformats.org/officeDocument/2006/relationships" id="324" r:id="Ra82eafee129646ea"/>
    <p:sldId xmlns:r="http://schemas.openxmlformats.org/officeDocument/2006/relationships" id="325" r:id="R37a8d976702f4997"/>
    <p:sldId xmlns:r="http://schemas.openxmlformats.org/officeDocument/2006/relationships" id="326" r:id="Ra71e0419c73e4b26"/>
    <p:sldId xmlns:r="http://schemas.openxmlformats.org/officeDocument/2006/relationships" id="327" r:id="Rb4bd2603c24f4cc6"/>
    <p:sldId xmlns:r="http://schemas.openxmlformats.org/officeDocument/2006/relationships" id="328" r:id="Re8a1663c15c84680"/>
    <p:sldId xmlns:r="http://schemas.openxmlformats.org/officeDocument/2006/relationships" id="329" r:id="R487529510eb34875"/>
    <p:sldId xmlns:r="http://schemas.openxmlformats.org/officeDocument/2006/relationships" id="330" r:id="Rc45da5879a9e4023"/>
    <p:sldId xmlns:r="http://schemas.openxmlformats.org/officeDocument/2006/relationships" id="331" r:id="R1342111aa28846fb"/>
    <p:sldId xmlns:r="http://schemas.openxmlformats.org/officeDocument/2006/relationships" id="332" r:id="R598e1de456fd47b3"/>
    <p:sldId xmlns:r="http://schemas.openxmlformats.org/officeDocument/2006/relationships" id="333" r:id="R5c24c4402f1549a9"/>
    <p:sldId xmlns:r="http://schemas.openxmlformats.org/officeDocument/2006/relationships" id="334" r:id="R8bdb8817fbeb4cc0"/>
    <p:sldId xmlns:r="http://schemas.openxmlformats.org/officeDocument/2006/relationships" id="335" r:id="R15b38c10edfc4b1b"/>
    <p:sldId xmlns:r="http://schemas.openxmlformats.org/officeDocument/2006/relationships" id="336" r:id="Rb02b8ba5f98f42d0"/>
    <p:sldId xmlns:r="http://schemas.openxmlformats.org/officeDocument/2006/relationships" id="337" r:id="Rb07b726a43064bc0"/>
    <p:sldId xmlns:r="http://schemas.openxmlformats.org/officeDocument/2006/relationships" id="338" r:id="R2840f59cc26e4db7"/>
    <p:sldId xmlns:r="http://schemas.openxmlformats.org/officeDocument/2006/relationships" id="339" r:id="Rfb6d64f77eb146b3"/>
    <p:sldId xmlns:r="http://schemas.openxmlformats.org/officeDocument/2006/relationships" id="340" r:id="Rb5ed0386aa0b4b31"/>
    <p:sldId xmlns:r="http://schemas.openxmlformats.org/officeDocument/2006/relationships" id="341" r:id="Rc3e1ba7b42154254"/>
    <p:sldId xmlns:r="http://schemas.openxmlformats.org/officeDocument/2006/relationships" id="342" r:id="Rcaae55f45c6f4e16"/>
    <p:sldId xmlns:r="http://schemas.openxmlformats.org/officeDocument/2006/relationships" id="343" r:id="R2e3988c0ccc84689"/>
    <p:sldId xmlns:r="http://schemas.openxmlformats.org/officeDocument/2006/relationships" id="344" r:id="R9039371293ff4698"/>
    <p:sldId xmlns:r="http://schemas.openxmlformats.org/officeDocument/2006/relationships" id="345" r:id="Rf43eca4398e54929"/>
    <p:sldId xmlns:r="http://schemas.openxmlformats.org/officeDocument/2006/relationships" id="346" r:id="R449a1955b8d14368"/>
    <p:sldId xmlns:r="http://schemas.openxmlformats.org/officeDocument/2006/relationships" id="347" r:id="R3813d4fea7454b0a"/>
    <p:sldId xmlns:r="http://schemas.openxmlformats.org/officeDocument/2006/relationships" id="348" r:id="R242049386482490a"/>
    <p:sldId xmlns:r="http://schemas.openxmlformats.org/officeDocument/2006/relationships" id="349" r:id="Re90cb6e777a14c4c"/>
    <p:sldId xmlns:r="http://schemas.openxmlformats.org/officeDocument/2006/relationships" id="350" r:id="R626be0d14d124428"/>
    <p:sldId xmlns:r="http://schemas.openxmlformats.org/officeDocument/2006/relationships" id="351" r:id="Ra471e9e27baf47c6"/>
    <p:sldId xmlns:r="http://schemas.openxmlformats.org/officeDocument/2006/relationships" id="352" r:id="R0d8f04874faf4a5c"/>
    <p:sldId xmlns:r="http://schemas.openxmlformats.org/officeDocument/2006/relationships" id="353" r:id="Re52d545cf4fb44fb"/>
    <p:sldId xmlns:r="http://schemas.openxmlformats.org/officeDocument/2006/relationships" id="354" r:id="Rf4e03ded25f44c8b"/>
    <p:sldId xmlns:r="http://schemas.openxmlformats.org/officeDocument/2006/relationships" id="355" r:id="R5064d74e27484235"/>
    <p:sldId xmlns:r="http://schemas.openxmlformats.org/officeDocument/2006/relationships" id="356" r:id="Re256df6fbcb845f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7327ea9b8fa4786" /><Relationship Type="http://schemas.openxmlformats.org/officeDocument/2006/relationships/slideMaster" Target="/ppt/slideMasters/slideMaster1.xml" Id="R20c4f8a782e94189" /><Relationship Type="http://schemas.openxmlformats.org/officeDocument/2006/relationships/notesMaster" Target="/ppt/notesMasters/notesMaster1.xml" Id="R4920900638a14057" /><Relationship Type="http://schemas.openxmlformats.org/officeDocument/2006/relationships/presProps" Target="/ppt/presProps.xml" Id="Reab1cc0ea899456f" /><Relationship Type="http://schemas.openxmlformats.org/officeDocument/2006/relationships/tableStyles" Target="/ppt/tableStyles.xml" Id="Rf1b0c9a1271e413c" /><Relationship Type="http://schemas.openxmlformats.org/officeDocument/2006/relationships/slide" Target="/ppt/slides/slide1.xml" Id="R8e0d6db31ed34b13" /><Relationship Type="http://schemas.openxmlformats.org/officeDocument/2006/relationships/slide" Target="/ppt/slides/slide2.xml" Id="R1d88521bb802450a" /><Relationship Type="http://schemas.openxmlformats.org/officeDocument/2006/relationships/slide" Target="/ppt/slides/slide3.xml" Id="R4a3a10dbde6f4b4c" /><Relationship Type="http://schemas.openxmlformats.org/officeDocument/2006/relationships/slide" Target="/ppt/slides/slide4.xml" Id="R9563894a2bb6491e" /><Relationship Type="http://schemas.openxmlformats.org/officeDocument/2006/relationships/slide" Target="/ppt/slides/slide5.xml" Id="Rd3c467efa3d644ca" /><Relationship Type="http://schemas.openxmlformats.org/officeDocument/2006/relationships/slide" Target="/ppt/slides/slide6.xml" Id="Re4ca16d4cbd2469d" /><Relationship Type="http://schemas.openxmlformats.org/officeDocument/2006/relationships/slide" Target="/ppt/slides/slide7.xml" Id="R8707f60cbf714deb" /><Relationship Type="http://schemas.openxmlformats.org/officeDocument/2006/relationships/slide" Target="/ppt/slides/slide8.xml" Id="R4233bc65530d43de" /><Relationship Type="http://schemas.openxmlformats.org/officeDocument/2006/relationships/slide" Target="/ppt/slides/slide9.xml" Id="Ra89c4f6620b541de" /><Relationship Type="http://schemas.openxmlformats.org/officeDocument/2006/relationships/slide" Target="/ppt/slides/slide10.xml" Id="Rbf3d00ba1dff4565" /><Relationship Type="http://schemas.openxmlformats.org/officeDocument/2006/relationships/slide" Target="/ppt/slides/slide11.xml" Id="Rae4d12d92bc54dda" /><Relationship Type="http://schemas.openxmlformats.org/officeDocument/2006/relationships/slide" Target="/ppt/slides/slide12.xml" Id="R990632e428dc4dff" /><Relationship Type="http://schemas.openxmlformats.org/officeDocument/2006/relationships/slide" Target="/ppt/slides/slide13.xml" Id="Rdf9fc6930ed042de" /><Relationship Type="http://schemas.openxmlformats.org/officeDocument/2006/relationships/slide" Target="/ppt/slides/slide14.xml" Id="Rce5c3c343e8845f8" /><Relationship Type="http://schemas.openxmlformats.org/officeDocument/2006/relationships/slide" Target="/ppt/slides/slide15.xml" Id="Rc1f9ddeff405413e" /><Relationship Type="http://schemas.openxmlformats.org/officeDocument/2006/relationships/slide" Target="/ppt/slides/slide16.xml" Id="R9b55b1406b9f4a8b" /><Relationship Type="http://schemas.openxmlformats.org/officeDocument/2006/relationships/slide" Target="/ppt/slides/slide17.xml" Id="R32181fea3135493b" /><Relationship Type="http://schemas.openxmlformats.org/officeDocument/2006/relationships/slide" Target="/ppt/slides/slide18.xml" Id="R8e16ac88fac74c75" /><Relationship Type="http://schemas.openxmlformats.org/officeDocument/2006/relationships/slide" Target="/ppt/slides/slide19.xml" Id="Ra05b3ee1f0394983" /><Relationship Type="http://schemas.openxmlformats.org/officeDocument/2006/relationships/slide" Target="/ppt/slides/slide20.xml" Id="R8c651fd1d1d946eb" /><Relationship Type="http://schemas.openxmlformats.org/officeDocument/2006/relationships/slide" Target="/ppt/slides/slide21.xml" Id="R77b02c91fc5543c5" /><Relationship Type="http://schemas.openxmlformats.org/officeDocument/2006/relationships/slide" Target="/ppt/slides/slide22.xml" Id="R9c72ce8a2de6429e" /><Relationship Type="http://schemas.openxmlformats.org/officeDocument/2006/relationships/slide" Target="/ppt/slides/slide23.xml" Id="R076f462ef3ce479f" /><Relationship Type="http://schemas.openxmlformats.org/officeDocument/2006/relationships/slide" Target="/ppt/slides/slide24.xml" Id="R75cf3a61462e4b5d" /><Relationship Type="http://schemas.openxmlformats.org/officeDocument/2006/relationships/slide" Target="/ppt/slides/slide25.xml" Id="Rcf7c229c05744822" /><Relationship Type="http://schemas.openxmlformats.org/officeDocument/2006/relationships/slide" Target="/ppt/slides/slide26.xml" Id="R836e4520bd0b4057" /><Relationship Type="http://schemas.openxmlformats.org/officeDocument/2006/relationships/slide" Target="/ppt/slides/slide27.xml" Id="R605d7518743b4d02" /><Relationship Type="http://schemas.openxmlformats.org/officeDocument/2006/relationships/slide" Target="/ppt/slides/slide28.xml" Id="R26e32246c8aa46dd" /><Relationship Type="http://schemas.openxmlformats.org/officeDocument/2006/relationships/slide" Target="/ppt/slides/slide29.xml" Id="R7eb18e1928a94da2" /><Relationship Type="http://schemas.openxmlformats.org/officeDocument/2006/relationships/slide" Target="/ppt/slides/slide30.xml" Id="Ra36dddb2d5574c91" /><Relationship Type="http://schemas.openxmlformats.org/officeDocument/2006/relationships/slide" Target="/ppt/slides/slide31.xml" Id="R094212c3b2e44f37" /><Relationship Type="http://schemas.openxmlformats.org/officeDocument/2006/relationships/slide" Target="/ppt/slides/slide32.xml" Id="R73ae5e3923df42cf" /><Relationship Type="http://schemas.openxmlformats.org/officeDocument/2006/relationships/slide" Target="/ppt/slides/slide33.xml" Id="R0ad49fdc2eeb4ebe" /><Relationship Type="http://schemas.openxmlformats.org/officeDocument/2006/relationships/slide" Target="/ppt/slides/slide34.xml" Id="Rc49389fc71eb4774" /><Relationship Type="http://schemas.openxmlformats.org/officeDocument/2006/relationships/slide" Target="/ppt/slides/slide35.xml" Id="R0e1b64a8279f4c4f" /><Relationship Type="http://schemas.openxmlformats.org/officeDocument/2006/relationships/slide" Target="/ppt/slides/slide36.xml" Id="R5d92940b0db4435c" /><Relationship Type="http://schemas.openxmlformats.org/officeDocument/2006/relationships/slide" Target="/ppt/slides/slide37.xml" Id="Rc624546fadfa4c4f" /><Relationship Type="http://schemas.openxmlformats.org/officeDocument/2006/relationships/slide" Target="/ppt/slides/slide38.xml" Id="Ra752945a767b4f97" /><Relationship Type="http://schemas.openxmlformats.org/officeDocument/2006/relationships/slide" Target="/ppt/slides/slide39.xml" Id="R2d09e390423c47a4" /><Relationship Type="http://schemas.openxmlformats.org/officeDocument/2006/relationships/slide" Target="/ppt/slides/slide40.xml" Id="R987210a92db54003" /><Relationship Type="http://schemas.openxmlformats.org/officeDocument/2006/relationships/slide" Target="/ppt/slides/slide41.xml" Id="Ra116a695ca714778" /><Relationship Type="http://schemas.openxmlformats.org/officeDocument/2006/relationships/slide" Target="/ppt/slides/slide42.xml" Id="R0d461c50fcca4725" /><Relationship Type="http://schemas.openxmlformats.org/officeDocument/2006/relationships/slide" Target="/ppt/slides/slide43.xml" Id="R570a748c044f44e2" /><Relationship Type="http://schemas.openxmlformats.org/officeDocument/2006/relationships/slide" Target="/ppt/slides/slide44.xml" Id="R25a673566bb04947" /><Relationship Type="http://schemas.openxmlformats.org/officeDocument/2006/relationships/slide" Target="/ppt/slides/slide45.xml" Id="R94c6d2d6917a4489" /><Relationship Type="http://schemas.openxmlformats.org/officeDocument/2006/relationships/slide" Target="/ppt/slides/slide46.xml" Id="R4e119d51ac494179" /><Relationship Type="http://schemas.openxmlformats.org/officeDocument/2006/relationships/slide" Target="/ppt/slides/slide47.xml" Id="R36857b8dd28a41e1" /><Relationship Type="http://schemas.openxmlformats.org/officeDocument/2006/relationships/slide" Target="/ppt/slides/slide48.xml" Id="Rc2009e57274e4bd0" /><Relationship Type="http://schemas.openxmlformats.org/officeDocument/2006/relationships/slide" Target="/ppt/slides/slide49.xml" Id="Re5835fbc96df4a62" /><Relationship Type="http://schemas.openxmlformats.org/officeDocument/2006/relationships/slide" Target="/ppt/slides/slide50.xml" Id="Rc11a8e5769004a4f" /><Relationship Type="http://schemas.openxmlformats.org/officeDocument/2006/relationships/slide" Target="/ppt/slides/slide51.xml" Id="R6a9e0015505d4e22" /><Relationship Type="http://schemas.openxmlformats.org/officeDocument/2006/relationships/slide" Target="/ppt/slides/slide52.xml" Id="R56627d32279d4ad2" /><Relationship Type="http://schemas.openxmlformats.org/officeDocument/2006/relationships/slide" Target="/ppt/slides/slide53.xml" Id="R259496ee45cb451e" /><Relationship Type="http://schemas.openxmlformats.org/officeDocument/2006/relationships/slide" Target="/ppt/slides/slide54.xml" Id="R328f067c65a949c6" /><Relationship Type="http://schemas.openxmlformats.org/officeDocument/2006/relationships/slide" Target="/ppt/slides/slide55.xml" Id="R0b08a8e992dc48a1" /><Relationship Type="http://schemas.openxmlformats.org/officeDocument/2006/relationships/slide" Target="/ppt/slides/slide56.xml" Id="R3c0dbda0992b4385" /><Relationship Type="http://schemas.openxmlformats.org/officeDocument/2006/relationships/slide" Target="/ppt/slides/slide57.xml" Id="R888206a1664343d5" /><Relationship Type="http://schemas.openxmlformats.org/officeDocument/2006/relationships/slide" Target="/ppt/slides/slide58.xml" Id="R4ccb3a28de024ed3" /><Relationship Type="http://schemas.openxmlformats.org/officeDocument/2006/relationships/slide" Target="/ppt/slides/slide59.xml" Id="R2a7a1828bf6646f6" /><Relationship Type="http://schemas.openxmlformats.org/officeDocument/2006/relationships/slide" Target="/ppt/slides/slide60.xml" Id="R68974c69d7834f5e" /><Relationship Type="http://schemas.openxmlformats.org/officeDocument/2006/relationships/slide" Target="/ppt/slides/slide61.xml" Id="R381f03d47ae14cd5" /><Relationship Type="http://schemas.openxmlformats.org/officeDocument/2006/relationships/slide" Target="/ppt/slides/slide62.xml" Id="Rf35895004c3145a3" /><Relationship Type="http://schemas.openxmlformats.org/officeDocument/2006/relationships/slide" Target="/ppt/slides/slide63.xml" Id="R6198e26912f04b75" /><Relationship Type="http://schemas.openxmlformats.org/officeDocument/2006/relationships/slide" Target="/ppt/slides/slide64.xml" Id="Rc38143c90eca4ac0" /><Relationship Type="http://schemas.openxmlformats.org/officeDocument/2006/relationships/slide" Target="/ppt/slides/slide65.xml" Id="R418f19d636b942e0" /><Relationship Type="http://schemas.openxmlformats.org/officeDocument/2006/relationships/slide" Target="/ppt/slides/slide66.xml" Id="R2d7cb275a07e4743" /><Relationship Type="http://schemas.openxmlformats.org/officeDocument/2006/relationships/slide" Target="/ppt/slides/slide67.xml" Id="R8b41f4dc82344c01" /><Relationship Type="http://schemas.openxmlformats.org/officeDocument/2006/relationships/slide" Target="/ppt/slides/slide68.xml" Id="R818099ddaee74ed9" /><Relationship Type="http://schemas.openxmlformats.org/officeDocument/2006/relationships/slide" Target="/ppt/slides/slide69.xml" Id="Ra82eafee129646ea" /><Relationship Type="http://schemas.openxmlformats.org/officeDocument/2006/relationships/slide" Target="/ppt/slides/slide70.xml" Id="R37a8d976702f4997" /><Relationship Type="http://schemas.openxmlformats.org/officeDocument/2006/relationships/slide" Target="/ppt/slides/slide71.xml" Id="Ra71e0419c73e4b26" /><Relationship Type="http://schemas.openxmlformats.org/officeDocument/2006/relationships/slide" Target="/ppt/slides/slide72.xml" Id="Rb4bd2603c24f4cc6" /><Relationship Type="http://schemas.openxmlformats.org/officeDocument/2006/relationships/slide" Target="/ppt/slides/slide73.xml" Id="Re8a1663c15c84680" /><Relationship Type="http://schemas.openxmlformats.org/officeDocument/2006/relationships/slide" Target="/ppt/slides/slide74.xml" Id="R487529510eb34875" /><Relationship Type="http://schemas.openxmlformats.org/officeDocument/2006/relationships/slide" Target="/ppt/slides/slide75.xml" Id="Rc45da5879a9e4023" /><Relationship Type="http://schemas.openxmlformats.org/officeDocument/2006/relationships/slide" Target="/ppt/slides/slide76.xml" Id="R1342111aa28846fb" /><Relationship Type="http://schemas.openxmlformats.org/officeDocument/2006/relationships/slide" Target="/ppt/slides/slide77.xml" Id="R598e1de456fd47b3" /><Relationship Type="http://schemas.openxmlformats.org/officeDocument/2006/relationships/slide" Target="/ppt/slides/slide78.xml" Id="R5c24c4402f1549a9" /><Relationship Type="http://schemas.openxmlformats.org/officeDocument/2006/relationships/slide" Target="/ppt/slides/slide79.xml" Id="R8bdb8817fbeb4cc0" /><Relationship Type="http://schemas.openxmlformats.org/officeDocument/2006/relationships/slide" Target="/ppt/slides/slide80.xml" Id="R15b38c10edfc4b1b" /><Relationship Type="http://schemas.openxmlformats.org/officeDocument/2006/relationships/slide" Target="/ppt/slides/slide81.xml" Id="Rb02b8ba5f98f42d0" /><Relationship Type="http://schemas.openxmlformats.org/officeDocument/2006/relationships/slide" Target="/ppt/slides/slide82.xml" Id="Rb07b726a43064bc0" /><Relationship Type="http://schemas.openxmlformats.org/officeDocument/2006/relationships/slide" Target="/ppt/slides/slide83.xml" Id="R2840f59cc26e4db7" /><Relationship Type="http://schemas.openxmlformats.org/officeDocument/2006/relationships/slide" Target="/ppt/slides/slide84.xml" Id="Rfb6d64f77eb146b3" /><Relationship Type="http://schemas.openxmlformats.org/officeDocument/2006/relationships/slide" Target="/ppt/slides/slide85.xml" Id="Rb5ed0386aa0b4b31" /><Relationship Type="http://schemas.openxmlformats.org/officeDocument/2006/relationships/slide" Target="/ppt/slides/slide86.xml" Id="Rc3e1ba7b42154254" /><Relationship Type="http://schemas.openxmlformats.org/officeDocument/2006/relationships/slide" Target="/ppt/slides/slide87.xml" Id="Rcaae55f45c6f4e16" /><Relationship Type="http://schemas.openxmlformats.org/officeDocument/2006/relationships/slide" Target="/ppt/slides/slide88.xml" Id="R2e3988c0ccc84689" /><Relationship Type="http://schemas.openxmlformats.org/officeDocument/2006/relationships/slide" Target="/ppt/slides/slide89.xml" Id="R9039371293ff4698" /><Relationship Type="http://schemas.openxmlformats.org/officeDocument/2006/relationships/slide" Target="/ppt/slides/slide90.xml" Id="Rf43eca4398e54929" /><Relationship Type="http://schemas.openxmlformats.org/officeDocument/2006/relationships/slide" Target="/ppt/slides/slide91.xml" Id="R449a1955b8d14368" /><Relationship Type="http://schemas.openxmlformats.org/officeDocument/2006/relationships/slide" Target="/ppt/slides/slide92.xml" Id="R3813d4fea7454b0a" /><Relationship Type="http://schemas.openxmlformats.org/officeDocument/2006/relationships/slide" Target="/ppt/slides/slide93.xml" Id="R242049386482490a" /><Relationship Type="http://schemas.openxmlformats.org/officeDocument/2006/relationships/slide" Target="/ppt/slides/slide94.xml" Id="Re90cb6e777a14c4c" /><Relationship Type="http://schemas.openxmlformats.org/officeDocument/2006/relationships/slide" Target="/ppt/slides/slide95.xml" Id="R626be0d14d124428" /><Relationship Type="http://schemas.openxmlformats.org/officeDocument/2006/relationships/slide" Target="/ppt/slides/slide96.xml" Id="Ra471e9e27baf47c6" /><Relationship Type="http://schemas.openxmlformats.org/officeDocument/2006/relationships/slide" Target="/ppt/slides/slide97.xml" Id="R0d8f04874faf4a5c" /><Relationship Type="http://schemas.openxmlformats.org/officeDocument/2006/relationships/slide" Target="/ppt/slides/slide98.xml" Id="Re52d545cf4fb44fb" /><Relationship Type="http://schemas.openxmlformats.org/officeDocument/2006/relationships/slide" Target="/ppt/slides/slide99.xml" Id="Rf4e03ded25f44c8b" /><Relationship Type="http://schemas.openxmlformats.org/officeDocument/2006/relationships/slide" Target="/ppt/slides/slide100.xml" Id="R5064d74e27484235" /><Relationship Type="http://schemas.openxmlformats.org/officeDocument/2006/relationships/slide" Target="/ppt/slides/slide101.xml" Id="Re256df6fbcb845f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e5ff35fcdd24df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6db8045d2db4be8" /><Relationship Type="http://schemas.openxmlformats.org/officeDocument/2006/relationships/notesMaster" Target="/ppt/notesMasters/notesMaster1.xml" Id="Rb3f950baa540486e" /></Relationships>
</file>

<file path=ppt/notesSlides/_rels/notesSlide2.xml.rels>&#65279;<?xml version="1.0" encoding="utf-8"?><Relationships xmlns="http://schemas.openxmlformats.org/package/2006/relationships"><Relationship Type="http://schemas.openxmlformats.org/officeDocument/2006/relationships/slide" Target="/ppt/slides/slide2.xml" Id="R289dde566fb4425b" /><Relationship Type="http://schemas.openxmlformats.org/officeDocument/2006/relationships/notesMaster" Target="/ppt/notesMasters/notesMaster1.xml" Id="Ra17d55dbd97f4ee3" /></Relationships>
</file>

<file path=ppt/notesSlides/_rels/notesSlide3.xml.rels>&#65279;<?xml version="1.0" encoding="utf-8"?><Relationships xmlns="http://schemas.openxmlformats.org/package/2006/relationships"><Relationship Type="http://schemas.openxmlformats.org/officeDocument/2006/relationships/slide" Target="/ppt/slides/slide3.xml" Id="Rb0277705578c48c0" /><Relationship Type="http://schemas.openxmlformats.org/officeDocument/2006/relationships/notesMaster" Target="/ppt/notesMasters/notesMaster1.xml" Id="Rb0e66b9bf68f4606" /></Relationships>
</file>

<file path=ppt/notesSlides/_rels/notesSlide4.xml.rels>&#65279;<?xml version="1.0" encoding="utf-8"?><Relationships xmlns="http://schemas.openxmlformats.org/package/2006/relationships"><Relationship Type="http://schemas.openxmlformats.org/officeDocument/2006/relationships/slide" Target="/ppt/slides/slide4.xml" Id="R1cc1638cbc2f4c5e" /><Relationship Type="http://schemas.openxmlformats.org/officeDocument/2006/relationships/notesMaster" Target="/ppt/notesMasters/notesMaster1.xml" Id="Rb7e27177432d4526" /></Relationships>
</file>

<file path=ppt/notesSlides/_rels/notesSlide5.xml.rels>&#65279;<?xml version="1.0" encoding="utf-8"?><Relationships xmlns="http://schemas.openxmlformats.org/package/2006/relationships"><Relationship Type="http://schemas.openxmlformats.org/officeDocument/2006/relationships/slide" Target="/ppt/slides/slide5.xml" Id="Rb073e7038379418d" /><Relationship Type="http://schemas.openxmlformats.org/officeDocument/2006/relationships/notesMaster" Target="/ppt/notesMasters/notesMaster1.xml" Id="R71bf61d3f8c1496d" /></Relationships>
</file>

<file path=ppt/notesSlides/_rels/notesSlide6.xml.rels>&#65279;<?xml version="1.0" encoding="utf-8"?><Relationships xmlns="http://schemas.openxmlformats.org/package/2006/relationships"><Relationship Type="http://schemas.openxmlformats.org/officeDocument/2006/relationships/slide" Target="/ppt/slides/slide6.xml" Id="Rc3353fb362324cd6" /><Relationship Type="http://schemas.openxmlformats.org/officeDocument/2006/relationships/notesMaster" Target="/ppt/notesMasters/notesMaster1.xml" Id="R055acec1e6664619" /></Relationships>
</file>

<file path=ppt/notesSlides/_rels/notesSlide7.xml.rels>&#65279;<?xml version="1.0" encoding="utf-8"?><Relationships xmlns="http://schemas.openxmlformats.org/package/2006/relationships"><Relationship Type="http://schemas.openxmlformats.org/officeDocument/2006/relationships/slide" Target="/ppt/slides/slide7.xml" Id="R09fce896aa964061" /><Relationship Type="http://schemas.openxmlformats.org/officeDocument/2006/relationships/notesMaster" Target="/ppt/notesMasters/notesMaster1.xml" Id="Rb8c94f7209234295" /></Relationships>
</file>

<file path=ppt/notesSlides/_rels/notesSlide8.xml.rels>&#65279;<?xml version="1.0" encoding="utf-8"?><Relationships xmlns="http://schemas.openxmlformats.org/package/2006/relationships"><Relationship Type="http://schemas.openxmlformats.org/officeDocument/2006/relationships/slide" Target="/ppt/slides/slide8.xml" Id="R71b126d524294a95" /><Relationship Type="http://schemas.openxmlformats.org/officeDocument/2006/relationships/notesMaster" Target="/ppt/notesMasters/notesMaster1.xml" Id="Rb255b4fbf03f4044" /></Relationships>
</file>

<file path=ppt/notesSlides/_rels/notesSlide9.xml.rels>&#65279;<?xml version="1.0" encoding="utf-8"?><Relationships xmlns="http://schemas.openxmlformats.org/package/2006/relationships"><Relationship Type="http://schemas.openxmlformats.org/officeDocument/2006/relationships/slide" Target="/ppt/slides/slide9.xml" Id="R5a48bf3e710441fd" /><Relationship Type="http://schemas.openxmlformats.org/officeDocument/2006/relationships/notesMaster" Target="/ppt/notesMasters/notesMaster1.xml" Id="R71042d513f28498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7331aefd9b3433a" /><Relationship Type="http://schemas.openxmlformats.org/officeDocument/2006/relationships/notesMaster" Target="/ppt/notesMasters/notesMaster1.xml" Id="R563f2302bae641d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b2d4284aa7d41b5" /><Relationship Type="http://schemas.openxmlformats.org/officeDocument/2006/relationships/notesMaster" Target="/ppt/notesMasters/notesMaster1.xml" Id="Rf68f298534694de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b49e75b8ad54926" /><Relationship Type="http://schemas.openxmlformats.org/officeDocument/2006/relationships/notesMaster" Target="/ppt/notesMasters/notesMaster1.xml" Id="R0d138478d2d14bc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7fda4179cad46c5" /><Relationship Type="http://schemas.openxmlformats.org/officeDocument/2006/relationships/notesMaster" Target="/ppt/notesMasters/notesMaster1.xml" Id="Rd0e09cbdbce3470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58d2584c1984add" /><Relationship Type="http://schemas.openxmlformats.org/officeDocument/2006/relationships/notesMaster" Target="/ppt/notesMasters/notesMaster1.xml" Id="R87a7f97f21264af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3c052e627954e43" /><Relationship Type="http://schemas.openxmlformats.org/officeDocument/2006/relationships/notesMaster" Target="/ppt/notesMasters/notesMaster1.xml" Id="Ra7d68016ca6c4e5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4fcc11ee09c4088" /><Relationship Type="http://schemas.openxmlformats.org/officeDocument/2006/relationships/notesMaster" Target="/ppt/notesMasters/notesMaster1.xml" Id="R4bd6185189684e8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cb4d4dcf95c44fb" /><Relationship Type="http://schemas.openxmlformats.org/officeDocument/2006/relationships/notesMaster" Target="/ppt/notesMasters/notesMaster1.xml" Id="R5022896590004b4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d81330455b44d7b" /><Relationship Type="http://schemas.openxmlformats.org/officeDocument/2006/relationships/notesMaster" Target="/ppt/notesMasters/notesMaster1.xml" Id="Rfdae35c04dc742d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95a941d250d46e1" /><Relationship Type="http://schemas.openxmlformats.org/officeDocument/2006/relationships/notesMaster" Target="/ppt/notesMasters/notesMaster1.xml" Id="R6bd370fe33c4457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f35a6b57bab4c00" /><Relationship Type="http://schemas.openxmlformats.org/officeDocument/2006/relationships/notesMaster" Target="/ppt/notesMasters/notesMaster1.xml" Id="R79e326701a714e0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1dbf1dd700f40d0" /><Relationship Type="http://schemas.openxmlformats.org/officeDocument/2006/relationships/notesMaster" Target="/ppt/notesMasters/notesMaster1.xml" Id="Rb706a0dc6e0143e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89489d2e9b24d35" /><Relationship Type="http://schemas.openxmlformats.org/officeDocument/2006/relationships/notesMaster" Target="/ppt/notesMasters/notesMaster1.xml" Id="R6a55badb4c7640f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35abde11189141bc" /><Relationship Type="http://schemas.openxmlformats.org/officeDocument/2006/relationships/notesMaster" Target="/ppt/notesMasters/notesMaster1.xml" Id="R7683a8a085c9499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09d9fe41c344cda" /><Relationship Type="http://schemas.openxmlformats.org/officeDocument/2006/relationships/notesMaster" Target="/ppt/notesMasters/notesMaster1.xml" Id="Rf53b37768e5a4a2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7aac1bfb223400b" /><Relationship Type="http://schemas.openxmlformats.org/officeDocument/2006/relationships/notesMaster" Target="/ppt/notesMasters/notesMaster1.xml" Id="Rb025cdcbadc540b6"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69c494d0a66465f" /><Relationship Type="http://schemas.openxmlformats.org/officeDocument/2006/relationships/notesMaster" Target="/ppt/notesMasters/notesMaster1.xml" Id="R29b7921c826c41c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23b49da26b44968" /><Relationship Type="http://schemas.openxmlformats.org/officeDocument/2006/relationships/notesMaster" Target="/ppt/notesMasters/notesMaster1.xml" Id="R3e2d2eea5ceb441e"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b8b8db08f1134ebd" /><Relationship Type="http://schemas.openxmlformats.org/officeDocument/2006/relationships/notesMaster" Target="/ppt/notesMasters/notesMaster1.xml" Id="R13d9ceb0d2884097"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38ae51a2541e4542" /><Relationship Type="http://schemas.openxmlformats.org/officeDocument/2006/relationships/notesMaster" Target="/ppt/notesMasters/notesMaster1.xml" Id="Rc050b571d04741f1"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6bf4b8830cf64918" /><Relationship Type="http://schemas.openxmlformats.org/officeDocument/2006/relationships/notesMaster" Target="/ppt/notesMasters/notesMaster1.xml" Id="Rff82da22bf6840a2"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875245ee35ee42a5" /><Relationship Type="http://schemas.openxmlformats.org/officeDocument/2006/relationships/notesMaster" Target="/ppt/notesMasters/notesMaster1.xml" Id="Rea7a9d14c91747f8"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30e2575b0f1c43d4" /><Relationship Type="http://schemas.openxmlformats.org/officeDocument/2006/relationships/notesMaster" Target="/ppt/notesMasters/notesMaster1.xml" Id="Rba20d8b16fe44ab7"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710e2d61f20b4272" /><Relationship Type="http://schemas.openxmlformats.org/officeDocument/2006/relationships/notesMaster" Target="/ppt/notesMasters/notesMaster1.xml" Id="Rea90e24247ca4ad4"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fab18c6571684f76" /><Relationship Type="http://schemas.openxmlformats.org/officeDocument/2006/relationships/notesMaster" Target="/ppt/notesMasters/notesMaster1.xml" Id="Rd886d993c8644578"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91baf58c15654ec1" /><Relationship Type="http://schemas.openxmlformats.org/officeDocument/2006/relationships/notesMaster" Target="/ppt/notesMasters/notesMaster1.xml" Id="R3c87b76446fc401f"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4806a2458bdc4b31" /><Relationship Type="http://schemas.openxmlformats.org/officeDocument/2006/relationships/notesMaster" Target="/ppt/notesMasters/notesMaster1.xml" Id="R8461a9c477ff4d6f"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cc74b6a266ad49e2" /><Relationship Type="http://schemas.openxmlformats.org/officeDocument/2006/relationships/notesMaster" Target="/ppt/notesMasters/notesMaster1.xml" Id="Rec343ae29f1b414a"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e9af4a717f9f4946" /><Relationship Type="http://schemas.openxmlformats.org/officeDocument/2006/relationships/notesMaster" Target="/ppt/notesMasters/notesMaster1.xml" Id="Rafea081444804687"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646b3b86e5d94690" /><Relationship Type="http://schemas.openxmlformats.org/officeDocument/2006/relationships/notesMaster" Target="/ppt/notesMasters/notesMaster1.xml" Id="Rfb1f28b74fdc4043"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af614cefd6b24da2" /><Relationship Type="http://schemas.openxmlformats.org/officeDocument/2006/relationships/notesMaster" Target="/ppt/notesMasters/notesMaster1.xml" Id="R0932add1acb5413c"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3a65080e258a4368" /><Relationship Type="http://schemas.openxmlformats.org/officeDocument/2006/relationships/notesMaster" Target="/ppt/notesMasters/notesMaster1.xml" Id="R1d981a721d9f46cd"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d5cdac93038e49da" /><Relationship Type="http://schemas.openxmlformats.org/officeDocument/2006/relationships/notesMaster" Target="/ppt/notesMasters/notesMaster1.xml" Id="R3c1c84fa06cf4305"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36d7d637413f4cfc" /><Relationship Type="http://schemas.openxmlformats.org/officeDocument/2006/relationships/notesMaster" Target="/ppt/notesMasters/notesMaster1.xml" Id="Ra607e8ef8b754257"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34c3a6b5aca04b71" /><Relationship Type="http://schemas.openxmlformats.org/officeDocument/2006/relationships/notesMaster" Target="/ppt/notesMasters/notesMaster1.xml" Id="R488a5c4184f04607"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a6f0d3ea2ca14111" /><Relationship Type="http://schemas.openxmlformats.org/officeDocument/2006/relationships/notesMaster" Target="/ppt/notesMasters/notesMaster1.xml" Id="R19c9aefb4b514805"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edaaca870847413f" /><Relationship Type="http://schemas.openxmlformats.org/officeDocument/2006/relationships/notesMaster" Target="/ppt/notesMasters/notesMaster1.xml" Id="R88a44b1a5184479f"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5b5f51b780624c72" /><Relationship Type="http://schemas.openxmlformats.org/officeDocument/2006/relationships/notesMaster" Target="/ppt/notesMasters/notesMaster1.xml" Id="R8cb53a3eb5bf4b79"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7761ec8288f54e68" /><Relationship Type="http://schemas.openxmlformats.org/officeDocument/2006/relationships/notesMaster" Target="/ppt/notesMasters/notesMaster1.xml" Id="R3943e9909874435c"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4f91c769a116450b" /><Relationship Type="http://schemas.openxmlformats.org/officeDocument/2006/relationships/notesMaster" Target="/ppt/notesMasters/notesMaster1.xml" Id="Rfa47444527b84e3e"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3ff1158d55a04307" /><Relationship Type="http://schemas.openxmlformats.org/officeDocument/2006/relationships/notesMaster" Target="/ppt/notesMasters/notesMaster1.xml" Id="R21f476f591374670"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2f694638cdc342b9" /><Relationship Type="http://schemas.openxmlformats.org/officeDocument/2006/relationships/notesMaster" Target="/ppt/notesMasters/notesMaster1.xml" Id="Rac94c820f9de4895"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ad80a6bf6ce04a76" /><Relationship Type="http://schemas.openxmlformats.org/officeDocument/2006/relationships/notesMaster" Target="/ppt/notesMasters/notesMaster1.xml" Id="Rb96a8034b82f4845"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87f09ad145aa4479" /><Relationship Type="http://schemas.openxmlformats.org/officeDocument/2006/relationships/notesMaster" Target="/ppt/notesMasters/notesMaster1.xml" Id="R038d9911e03f4c68"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7114c380b3c14c2d" /><Relationship Type="http://schemas.openxmlformats.org/officeDocument/2006/relationships/notesMaster" Target="/ppt/notesMasters/notesMaster1.xml" Id="R2eb6e5c7f4e64829"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a7f312c1a15d49cc" /><Relationship Type="http://schemas.openxmlformats.org/officeDocument/2006/relationships/notesMaster" Target="/ppt/notesMasters/notesMaster1.xml" Id="R469567c573634942"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2251e554973c4383" /><Relationship Type="http://schemas.openxmlformats.org/officeDocument/2006/relationships/notesMaster" Target="/ppt/notesMasters/notesMaster1.xml" Id="R71051a8bac934c44"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95ef8d2fa8a24493" /><Relationship Type="http://schemas.openxmlformats.org/officeDocument/2006/relationships/notesMaster" Target="/ppt/notesMasters/notesMaster1.xml" Id="R96e4bfb064df47b1"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5046731748034b6e" /><Relationship Type="http://schemas.openxmlformats.org/officeDocument/2006/relationships/notesMaster" Target="/ppt/notesMasters/notesMaster1.xml" Id="R76f2a7a98b7b4db0"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25424cd652564689" /><Relationship Type="http://schemas.openxmlformats.org/officeDocument/2006/relationships/notesMaster" Target="/ppt/notesMasters/notesMaster1.xml" Id="R0cf710d3a22c4173"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8096d0ec93044afa" /><Relationship Type="http://schemas.openxmlformats.org/officeDocument/2006/relationships/notesMaster" Target="/ppt/notesMasters/notesMaster1.xml" Id="R66af9d6483fe410a"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e221394f04a04684" /><Relationship Type="http://schemas.openxmlformats.org/officeDocument/2006/relationships/notesMaster" Target="/ppt/notesMasters/notesMaster1.xml" Id="Rc606d8ecd75e44e4"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7724d2d662904476" /><Relationship Type="http://schemas.openxmlformats.org/officeDocument/2006/relationships/notesMaster" Target="/ppt/notesMasters/notesMaster1.xml" Id="R852aa28eaf2b4611"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02dc49d1824447a2" /><Relationship Type="http://schemas.openxmlformats.org/officeDocument/2006/relationships/notesMaster" Target="/ppt/notesMasters/notesMaster1.xml" Id="R9474e169ecf348ca"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539d06dbd78247d9" /><Relationship Type="http://schemas.openxmlformats.org/officeDocument/2006/relationships/notesMaster" Target="/ppt/notesMasters/notesMaster1.xml" Id="Raa473c9d2a14452b"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456db7c1635141e9" /><Relationship Type="http://schemas.openxmlformats.org/officeDocument/2006/relationships/notesMaster" Target="/ppt/notesMasters/notesMaster1.xml" Id="Rcb5a6d876cd44915"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0532012a79244b9e" /><Relationship Type="http://schemas.openxmlformats.org/officeDocument/2006/relationships/notesMaster" Target="/ppt/notesMasters/notesMaster1.xml" Id="Reb3a5a93c5c0475d"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79f73e3c61a54913" /><Relationship Type="http://schemas.openxmlformats.org/officeDocument/2006/relationships/notesMaster" Target="/ppt/notesMasters/notesMaster1.xml" Id="Rbcebf062f7c842f2"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6719c0a717a04d7b" /><Relationship Type="http://schemas.openxmlformats.org/officeDocument/2006/relationships/notesMaster" Target="/ppt/notesMasters/notesMaster1.xml" Id="R70ea09e7e85041a7"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e85f749b972648cb" /><Relationship Type="http://schemas.openxmlformats.org/officeDocument/2006/relationships/notesMaster" Target="/ppt/notesMasters/notesMaster1.xml" Id="Rddd3cf0baf6a4218"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fe77495f2a9242b7" /><Relationship Type="http://schemas.openxmlformats.org/officeDocument/2006/relationships/notesMaster" Target="/ppt/notesMasters/notesMaster1.xml" Id="R32c7ce1b9e28423b"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28062a3b47ca412f" /><Relationship Type="http://schemas.openxmlformats.org/officeDocument/2006/relationships/notesMaster" Target="/ppt/notesMasters/notesMaster1.xml" Id="R4d3f452830b446f4"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602fe84c9eea4bfe" /><Relationship Type="http://schemas.openxmlformats.org/officeDocument/2006/relationships/notesMaster" Target="/ppt/notesMasters/notesMaster1.xml" Id="R5298f132b428491a"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055b55f8e99c4598" /><Relationship Type="http://schemas.openxmlformats.org/officeDocument/2006/relationships/notesMaster" Target="/ppt/notesMasters/notesMaster1.xml" Id="R022b1c4bcee947e4"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41ce98710c9d435a" /><Relationship Type="http://schemas.openxmlformats.org/officeDocument/2006/relationships/notesMaster" Target="/ppt/notesMasters/notesMaster1.xml" Id="Rbd9b7131da214cef"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45537be3e03c4abf" /><Relationship Type="http://schemas.openxmlformats.org/officeDocument/2006/relationships/notesMaster" Target="/ppt/notesMasters/notesMaster1.xml" Id="Ra1653e21348142e6"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9780642cd52145cf" /><Relationship Type="http://schemas.openxmlformats.org/officeDocument/2006/relationships/notesMaster" Target="/ppt/notesMasters/notesMaster1.xml" Id="Rbe3df16d27cd4ec8"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70b4f8b6599748f6" /><Relationship Type="http://schemas.openxmlformats.org/officeDocument/2006/relationships/notesMaster" Target="/ppt/notesMasters/notesMaster1.xml" Id="R470dea3da2da442d"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b1e29f7e399e4593" /><Relationship Type="http://schemas.openxmlformats.org/officeDocument/2006/relationships/notesMaster" Target="/ppt/notesMasters/notesMaster1.xml" Id="R80de29cb82564efd"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38384b8959a947ef" /><Relationship Type="http://schemas.openxmlformats.org/officeDocument/2006/relationships/notesMaster" Target="/ppt/notesMasters/notesMaster1.xml" Id="R21077145d9a14a1f"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853eed6140624c29" /><Relationship Type="http://schemas.openxmlformats.org/officeDocument/2006/relationships/notesMaster" Target="/ppt/notesMasters/notesMaster1.xml" Id="Reec3ef7b417b4ff0"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ddc9d0ebdc7242a9" /><Relationship Type="http://schemas.openxmlformats.org/officeDocument/2006/relationships/notesMaster" Target="/ppt/notesMasters/notesMaster1.xml" Id="R92e2070ca0ea471e"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d35401561f8145e9" /><Relationship Type="http://schemas.openxmlformats.org/officeDocument/2006/relationships/notesMaster" Target="/ppt/notesMasters/notesMaster1.xml" Id="R2415817846d6458d"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281b564d28164810" /><Relationship Type="http://schemas.openxmlformats.org/officeDocument/2006/relationships/notesMaster" Target="/ppt/notesMasters/notesMaster1.xml" Id="Re6d198ff770d4f98"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2b22c1d66aab447d" /><Relationship Type="http://schemas.openxmlformats.org/officeDocument/2006/relationships/notesMaster" Target="/ppt/notesMasters/notesMaster1.xml" Id="Rb9c01d74ba5748b4"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993d9614074e416b" /><Relationship Type="http://schemas.openxmlformats.org/officeDocument/2006/relationships/notesMaster" Target="/ppt/notesMasters/notesMaster1.xml" Id="Rda5f130bd6854cbf"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7544a23463924ff4" /><Relationship Type="http://schemas.openxmlformats.org/officeDocument/2006/relationships/notesMaster" Target="/ppt/notesMasters/notesMaster1.xml" Id="Rc825934c20dc4f9b"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de0c12c3376a41cc" /><Relationship Type="http://schemas.openxmlformats.org/officeDocument/2006/relationships/notesMaster" Target="/ppt/notesMasters/notesMaster1.xml" Id="R7d342f373f9a403f"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c637008bc595499b" /><Relationship Type="http://schemas.openxmlformats.org/officeDocument/2006/relationships/notesMaster" Target="/ppt/notesMasters/notesMaster1.xml" Id="Ra6c51f2bc8284f28"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a68862a0749e4e51" /><Relationship Type="http://schemas.openxmlformats.org/officeDocument/2006/relationships/notesMaster" Target="/ppt/notesMasters/notesMaster1.xml" Id="Rfc85a9df39d74003"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6594581494c748f5" /><Relationship Type="http://schemas.openxmlformats.org/officeDocument/2006/relationships/notesMaster" Target="/ppt/notesMasters/notesMaster1.xml" Id="R52c3eb95954f4b1e"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502c0525c5434a5a" /><Relationship Type="http://schemas.openxmlformats.org/officeDocument/2006/relationships/notesMaster" Target="/ppt/notesMasters/notesMaster1.xml" Id="R5f1fc4b983d547fa"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6ec33b84ae374cd6" /><Relationship Type="http://schemas.openxmlformats.org/officeDocument/2006/relationships/notesMaster" Target="/ppt/notesMasters/notesMaster1.xml" Id="R29db96c6f80d493f"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b49aaa1a6b424d2f" /><Relationship Type="http://schemas.openxmlformats.org/officeDocument/2006/relationships/notesMaster" Target="/ppt/notesMasters/notesMaster1.xml" Id="Rddbc0fef30884fe3"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472fe2d958134a36" /><Relationship Type="http://schemas.openxmlformats.org/officeDocument/2006/relationships/notesMaster" Target="/ppt/notesMasters/notesMaster1.xml" Id="Rbb9be3136b1044cf"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f68452ccdf2845c5" /><Relationship Type="http://schemas.openxmlformats.org/officeDocument/2006/relationships/notesMaster" Target="/ppt/notesMasters/notesMaster1.xml" Id="R84d7c836e1504c4c"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6bd2156e63e149f6" /><Relationship Type="http://schemas.openxmlformats.org/officeDocument/2006/relationships/notesMaster" Target="/ppt/notesMasters/notesMaster1.xml" Id="R13db5403a74e41ef"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e57a48b66c01490f" /><Relationship Type="http://schemas.openxmlformats.org/officeDocument/2006/relationships/notesMaster" Target="/ppt/notesMasters/notesMaster1.xml" Id="R052a5108b25b46a3"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17a719809c6147f1" /><Relationship Type="http://schemas.openxmlformats.org/officeDocument/2006/relationships/notesMaster" Target="/ppt/notesMasters/notesMaster1.xml" Id="R1088b586b6b44112"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a1b21f14ae5d4754" /><Relationship Type="http://schemas.openxmlformats.org/officeDocument/2006/relationships/notesMaster" Target="/ppt/notesMasters/notesMaster1.xml" Id="R61b383eb03fc4188"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63f765744ead4bdd" /><Relationship Type="http://schemas.openxmlformats.org/officeDocument/2006/relationships/notesMaster" Target="/ppt/notesMasters/notesMaster1.xml" Id="R03c2fb1682b14160"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2b65a2e74b684db0" /><Relationship Type="http://schemas.openxmlformats.org/officeDocument/2006/relationships/notesMaster" Target="/ppt/notesMasters/notesMaster1.xml" Id="R0ca32b80214d485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코딩을 처음 배우는 학생을 기준으로 설명합니다. 자세한 내용은 교안에서 함께 확인하세요. 수업 예제에는 연습용 데이터를 사용합니다.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https://docs.python.org/3/tutorial/errors.html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순수 수업 300분, 중식 70분, 기타 휴식 50분입니다. 원본 6H 표기와 실제 수업 운영 분을 구별합니다.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https://docs.python.org/3/tutorial/errors.html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파일을 여는 것과 실행하는 것을 구별합니다. Windows라는 제작 가정 아래 탐색기의 파일 확장명 표시를 확인합니다. 압축 파일 안이 아닌 모두 추출한 폴더에서 시작합니다.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https://docs.python.org/3/tutorial/errors.html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Python 기초 · 값과 실행 흐름</a:t>
            </a:r>
          </a:p>
          <a:p xmlns:a="http://schemas.openxmlformats.org/drawingml/2006/main">
            <a:r>
              <a:t/>
            </a:r>
          </a:p>
          <a:p xmlns:a="http://schemas.openxmlformats.org/drawingml/2006/main">
            <a:r>
              <a:t>2026-10-14 · Python 기초</a:t>
            </a:r>
          </a:p>
          <a:p xmlns:a="http://schemas.openxmlformats.org/drawingml/2006/main">
            <a:r>
              <a:t/>
            </a:r>
          </a:p>
          <a:p xmlns:a="http://schemas.openxmlformats.org/drawingml/2006/main">
            <a:r>
              <a:t>10/8에 읽었던 온도와 식별자를 Python 값으로 옮깁니다. 파일 저장과 실행을 구별하고 변수·자료형·연산·조건·반복을 짧은 코드에서 확인한 뒤 수업용 점검표를 완성합니다.</a:t>
            </a:r>
          </a:p>
          <a:p xmlns:a="http://schemas.openxmlformats.org/drawingml/2006/main">
            <a:r>
              <a:t/>
            </a:r>
          </a:p>
          <a:p xmlns:a="http://schemas.openxmlformats.org/drawingml/2006/main">
            <a:r>
              <a:t>**수업은 50분씩 6교시입니다.** 원본은 그대로 두고 work 폴더의 파일에서 안내한 부분을 고칩니다. 계정이나 실제 장비 없이 연습용 자료를 사용합니다.</a:t>
            </a:r>
          </a:p>
          <a:p xmlns:a="http://schemas.openxmlformats.org/drawingml/2006/main">
            <a:r>
              <a:t/>
            </a:r>
          </a:p>
          <a:p xmlns:a="http://schemas.openxmlformats.org/drawingml/2006/main">
            <a:r>
              <a:t>## 오늘의 연결</a:t>
            </a:r>
          </a:p>
          <a:p xmlns:a="http://schemas.openxmlformats.org/drawingml/2006/main">
            <a:r>
              <a:t/>
            </a:r>
          </a:p>
          <a:p xmlns:a="http://schemas.openxmlformats.org/drawingml/2006/main">
            <a:r>
              <a:t>10/8에는 기록의 의미와 파일 표현을 읽었습니다. 오늘은 10/8에 읽었던 온도와 식별자를 Python 값으로 옮깁니다. 파일 저장과 실행을 구별하고 변수·자료형·연산·조건·반복을 짧은 코드에서 확인한 뒤 수업용 점검표를 완성합니다.</a:t>
            </a:r>
          </a:p>
          <a:p xmlns:a="http://schemas.openxmlformats.org/drawingml/2006/main">
            <a:r>
              <a:t/>
            </a:r>
          </a:p>
          <a:p xmlns:a="http://schemas.openxmlformats.org/drawingml/2006/main">
            <a:r>
              <a:t>## 먼저 구별할 화면</a:t>
            </a:r>
          </a:p>
          <a:p xmlns:a="http://schemas.openxmlformats.org/drawingml/2006/main">
            <a:r>
              <a:t/>
            </a:r>
          </a:p>
          <a:p xmlns:a="http://schemas.openxmlformats.org/drawingml/2006/main">
            <a:r>
              <a:t>- 파일 탐색기는 저장한 파일의 위치를 찾습니다.</a:t>
            </a:r>
          </a:p>
          <a:p xmlns:a="http://schemas.openxmlformats.org/drawingml/2006/main">
            <a:r>
              <a:t>- 텍스트 편집기는 코드와 데이터를 읽고 고칩니다.</a:t>
            </a:r>
          </a:p>
          <a:p xmlns:a="http://schemas.openxmlformats.org/drawingml/2006/main">
            <a:r>
              <a:t>- 터미널은 명령을 입력하고 실제 실행 결과를 확인합니다.</a:t>
            </a:r>
          </a:p>
          <a:p xmlns:a="http://schemas.openxmlformats.org/drawingml/2006/main">
            <a:r>
              <a:t>- 웹 교안은 설명·원문·출력 예를 제공합니다. Python 실행기는 아닙니다.</a:t>
            </a:r>
          </a:p>
          <a:p xmlns:a="http://schemas.openxmlformats.org/drawingml/2006/main">
            <a:r>
              <a:t/>
            </a:r>
          </a:p>
          <a:p xmlns:a="http://schemas.openxmlformats.org/drawingml/2006/main">
            <a:r>
              <a:t>## 참여 순서</a:t>
            </a:r>
          </a:p>
          <a:p xmlns:a="http://schemas.openxmlformats.org/drawingml/2006/main">
            <a:r>
              <a:t/>
            </a:r>
          </a:p>
          <a:p xmlns:a="http://schemas.openxmlformats.org/drawingml/2006/main">
            <a:r>
              <a:t>1. 압축을 일반 폴더에 풀고 data·code·work의 위치를 유지합니다.</a:t>
            </a:r>
          </a:p>
          <a:p xmlns:a="http://schemas.openxmlformats.org/drawingml/2006/main">
            <a:r>
              <a:t>2. lesson의 개념을 읽고 activity-guide의 해당 활동 입력을 엽니다.</a:t>
            </a:r>
          </a:p>
          <a:p xmlns:a="http://schemas.openxmlformats.org/drawingml/2006/main">
            <a:r>
              <a:t>3. work의 답칸에 예상과 이유를 먼저 쓰고 지정한 값을 수정합니다.</a:t>
            </a:r>
          </a:p>
          <a:p xmlns:a="http://schemas.openxmlformats.org/drawingml/2006/main">
            <a:r>
              <a:t>4. 저장한 work 파일을 실행합니다. 실행할 수 없으면 예상한 결과를 강사의 출력이나 제공된 예와 비교합니다.</a:t>
            </a:r>
          </a:p>
          <a:p xmlns:a="http://schemas.openxmlformats.org/drawingml/2006/main">
            <a:r>
              <a:t>5. 확인 방식을 기록합니다. 개인 실행을 하지 않았으면 실행 성공으로 적지 않습니다.</a:t>
            </a:r>
          </a:p>
          <a:p xmlns:a="http://schemas.openxmlformats.org/drawingml/2006/main">
            <a:r>
              <a:t/>
            </a:r>
          </a:p>
          <a:p xmlns:a="http://schemas.openxmlformats.org/drawingml/2006/main">
            <a:r>
              <a:t>## 도구를 준비하지 못했을 때</a:t>
            </a:r>
          </a:p>
          <a:p xmlns:a="http://schemas.openxmlformats.org/drawingml/2006/main">
            <a:r>
              <a:t/>
            </a:r>
          </a:p>
          <a:p xmlns:a="http://schemas.openxmlformats.org/drawingml/2006/main">
            <a:r>
              <a:t>설치가 안 되면 제공된 코드와 출력으로 수업을 따라갑니다. 같은 입력값을 넣고 한 줄씩 처리한 뒤의 값을 종이에 적어 봅니다. 강사가 실행 환경을 준비하면 직접 실행해 확인합니다.</a:t>
            </a:r>
          </a:p>
          <a:p xmlns:a="http://schemas.openxmlformats.org/drawingml/2006/main">
            <a:r>
              <a:t/>
            </a:r>
          </a:p>
          <a:p xmlns:a="http://schemas.openxmlformats.org/drawingml/2006/main">
            <a:r>
              <a:t>[교안](lesson.md) · [실습](practice-guide.md) · [용어](glossary.md)</a:t>
            </a:r>
          </a:p>
          <a:p xmlns:a="http://schemas.openxmlformats.org/drawingml/2006/main">
            <a:r>
              <a:t/>
            </a:r>
          </a:p>
          <a:p xmlns:a="http://schemas.openxmlformats.org/drawingml/2006/main">
            <a:r>
              <a:t/>
            </a:r>
          </a:p>
          <a:p xmlns:a="http://schemas.openxmlformats.org/drawingml/2006/main">
            <a:r>
              <a:t>## Windows · 처음 실행할 위치 만들기</a:t>
            </a:r>
          </a:p>
          <a:p xmlns:a="http://schemas.openxmlformats.org/drawingml/2006/main">
            <a:r>
              <a:t/>
            </a:r>
          </a:p>
          <a:p xmlns:a="http://schemas.openxmlformats.org/drawingml/2006/main">
            <a:r>
              <a:t>제작 가정: Windows 탐색기와 PowerShell을 사용합니다. 다른 OS는 강사의 해당 환경 안내를 따릅니다. 설치 문제는 개념 평가와 따로 기록합니다.</a:t>
            </a:r>
          </a:p>
          <a:p xmlns:a="http://schemas.openxmlformats.org/drawingml/2006/main">
            <a:r>
              <a:t/>
            </a:r>
          </a:p>
          <a:p xmlns:a="http://schemas.openxmlformats.org/drawingml/2006/main">
            <a:r>
              <a:t>1. 예제 ZIP을 우클릭 → **모두 추출** → **추출**합니다. ZIP 안을 보는 창에서 실행하지 않습니다.</a:t>
            </a:r>
          </a:p>
          <a:p xmlns:a="http://schemas.openxmlformats.org/drawingml/2006/main">
            <a:r>
              <a:t>2. 탐색기로 압축을 푼 곳의 `course` 폴더를 엽니다. 안에 `data`, `code`, `work` 세 폴더가 실제로 보이는지 확인합니다. 폴더가 한 겹 더 있으면 그 안으로 들어갑니다.</a:t>
            </a:r>
          </a:p>
          <a:p xmlns:a="http://schemas.openxmlformats.org/drawingml/2006/main">
            <a:r>
              <a:t>3. 탐색기 위 주소 표시줄을 클릭해 `powershell`을 입력하고 Enter를 누릅니다. 현재 폴더에서 PowerShell 창이 열립니다. 편집기에서 파일을 연 것만으로 실행 위치가 정해지지는 않습니다.</a:t>
            </a:r>
          </a:p>
          <a:p xmlns:a="http://schemas.openxmlformats.org/drawingml/2006/main">
            <a:r>
              <a:t>4. 아래 명령을 한 줄씩 입력하고 Enter를 누릅니다. 앞의 `PS ...&gt;` 문구는 입력하지 않습니다.</a:t>
            </a:r>
          </a:p>
          <a:p xmlns:a="http://schemas.openxmlformats.org/drawingml/2006/main">
            <a:r>
              <a:t/>
            </a:r>
          </a:p>
          <a:p xmlns:a="http://schemas.openxmlformats.org/drawingml/2006/main">
            <a:r>
              <a:t>```powershell</a:t>
            </a:r>
          </a:p>
          <a:p xmlns:a="http://schemas.openxmlformats.org/drawingml/2006/main">
            <a:r>
              <a:t>Get-Location</a:t>
            </a:r>
          </a:p>
          <a:p xmlns:a="http://schemas.openxmlformats.org/drawingml/2006/main">
            <a:r>
              <a:t>Get-ChildItem -Directory</a:t>
            </a:r>
          </a:p>
          <a:p xmlns:a="http://schemas.openxmlformats.org/drawingml/2006/main">
            <a:r>
              <a:t>Test-Path .\work\A02_print.py</a:t>
            </a:r>
          </a:p>
          <a:p xmlns:a="http://schemas.openxmlformats.org/drawingml/2006/main">
            <a:r>
              <a:t>```</a:t>
            </a:r>
          </a:p>
          <a:p xmlns:a="http://schemas.openxmlformats.org/drawingml/2006/main">
            <a:r>
              <a:t/>
            </a:r>
          </a:p>
          <a:p xmlns:a="http://schemas.openxmlformats.org/drawingml/2006/main">
            <a:r>
              <a:t>`Get-Location`은 지금 실행할 폴더의 실제 경로를 보여 줍니다. 끝이 `course`인지 확인합니다. `Get-ChildItem` 목록에는 `data`, `code`, `work`가 보여야 합니다. 마지막 명령은 파일이 있는지 확인하며 정상 결과는 `True`입니다. 내 실제 경로: _____ / 확인 결과: _____.</a:t>
            </a:r>
          </a:p>
          <a:p xmlns:a="http://schemas.openxmlformats.org/drawingml/2006/main">
            <a:r>
              <a:t/>
            </a:r>
          </a:p>
          <a:p xmlns:a="http://schemas.openxmlformats.org/drawingml/2006/main">
            <a:r>
              <a:t>5. `work/A02_print.py` 첫 print 문구를 `오늘의 점검 시작`으로 고치고 저장합니다. 같은 PowerShell 창에서 실행합니다.</a:t>
            </a:r>
          </a:p>
          <a:p xmlns:a="http://schemas.openxmlformats.org/drawingml/2006/main">
            <a:r>
              <a:t/>
            </a:r>
          </a:p>
          <a:p xmlns:a="http://schemas.openxmlformats.org/drawingml/2006/main">
            <a:r>
              <a:t>```powershell</a:t>
            </a:r>
          </a:p>
          <a:p xmlns:a="http://schemas.openxmlformats.org/drawingml/2006/main">
            <a:r>
              <a:t>python -X utf8 work/A02_print.py</a:t>
            </a:r>
          </a:p>
          <a:p xmlns:a="http://schemas.openxmlformats.org/drawingml/2006/main">
            <a:r>
              <a:t>```</a:t>
            </a:r>
          </a:p>
          <a:p xmlns:a="http://schemas.openxmlformats.org/drawingml/2006/main">
            <a:r>
              <a:t/>
            </a:r>
          </a:p>
          <a:p xmlns:a="http://schemas.openxmlformats.org/drawingml/2006/main">
            <a:r>
              <a:t>예상 두 줄은 다음과 같습니다.</a:t>
            </a:r>
          </a:p>
          <a:p xmlns:a="http://schemas.openxmlformats.org/drawingml/2006/main">
            <a:r>
              <a:t/>
            </a:r>
          </a:p>
          <a:p xmlns:a="http://schemas.openxmlformats.org/drawingml/2006/main">
            <a:r>
              <a:t>```text</a:t>
            </a:r>
          </a:p>
          <a:p xmlns:a="http://schemas.openxmlformats.org/drawingml/2006/main">
            <a:r>
              <a:t>오늘의 점검 시작</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 `False`, `can't open file`, `No such file`: 실제 폴더를 탐색기로 다시 열고 2~4단계를 반복합니다. 파일 이름이 `.py.txt`가 아닌지 탐색기의 **보기 → 표시 → 파일 확장명**에서 확인합니다.</a:t>
            </a:r>
          </a:p>
          <a:p xmlns:a="http://schemas.openxmlformats.org/drawingml/2006/main">
            <a:r>
              <a:t>- 첫 줄이 `Python 점검 시작`: 수정 파일을 저장했는지, 실행 명령이 `code/`가 아닌 `work/`를 가리키는지 확인합니다.</a:t>
            </a:r>
          </a:p>
          <a:p xmlns:a="http://schemas.openxmlformats.org/drawingml/2006/main">
            <a:r>
              <a:t>- `python`을 찾지 못하거나 Store 안내가 뜸: 강사에게 설치 상태를 확인받습니다. 설치는 강사와 확인하고 예상한 결과를 제공된 출력과 비교하며 **개인 실행 미완료**를 적습니다.</a:t>
            </a:r>
          </a:p>
          <a:p xmlns:a="http://schemas.openxmlformats.org/drawingml/2006/main">
            <a:r>
              <a:t/>
            </a:r>
          </a:p>
          <a:p xmlns:a="http://schemas.openxmlformats.org/drawingml/2006/main">
            <a:r>
              <a:t>실행 위치 확인 → 파일 저장 → 명령 입력 → 실제 출력 기록을 서로 다른 행동으로 확인합니다.</a:t>
            </a:r>
          </a:p>
          <a:p xmlns:a="http://schemas.openxmlformats.org/drawingml/2006/main">
            <a:r>
              <a:t/>
            </a:r>
          </a:p>
          <a:p xmlns:a="http://schemas.openxmlformats.org/drawingml/2006/main">
            <a:r>
              <a:t/>
            </a:r>
          </a:p>
          <a:p xmlns:a="http://schemas.openxmlformats.org/drawingml/2006/main">
            <a:r>
              <a:t>## 수업 전, 이 세 가지부터 확인하세요</a:t>
            </a:r>
          </a:p>
          <a:p xmlns:a="http://schemas.openxmlformats.org/drawingml/2006/main">
            <a:r>
              <a:t/>
            </a:r>
          </a:p>
          <a:p xmlns:a="http://schemas.openxmlformats.org/drawingml/2006/main">
            <a:r>
              <a:t>앞선 수업을 기억하지 못해도 아래 질문과 풀이부터 다시 읽으면 됩니다. 먼저 답을 적어 보고 풀이와 비교하세요.</a:t>
            </a:r>
          </a:p>
          <a:p xmlns:a="http://schemas.openxmlformats.org/drawingml/2006/main">
            <a:r>
              <a:t/>
            </a:r>
          </a:p>
          <a:p xmlns:a="http://schemas.openxmlformats.org/drawingml/2006/main">
            <a:r>
              <a:t>### 데이터와 명령</a:t>
            </a:r>
          </a:p>
          <a:p xmlns:a="http://schemas.openxmlformats.org/drawingml/2006/main">
            <a:r>
              <a:t/>
            </a:r>
          </a:p>
          <a:p xmlns:a="http://schemas.openxmlformats.org/drawingml/2006/main">
            <a:r>
              <a:t>질문: 22.5와 print(22.5)는 무엇이 다른가요?</a:t>
            </a:r>
          </a:p>
          <a:p xmlns:a="http://schemas.openxmlformats.org/drawingml/2006/main">
            <a:r>
              <a:t/>
            </a:r>
          </a:p>
          <a:p xmlns:a="http://schemas.openxmlformats.org/drawingml/2006/main">
            <a:r>
              <a:t>풀이: 22.5는 값입니다. print(22.5)는 그 값을 화면에 표시하라는 호출입니다. 저장된 명령을 실행해야 출력이 생깁니다.</a:t>
            </a:r>
          </a:p>
          <a:p xmlns:a="http://schemas.openxmlformats.org/drawingml/2006/main">
            <a:r>
              <a:t/>
            </a:r>
          </a:p>
          <a:p xmlns:a="http://schemas.openxmlformats.org/drawingml/2006/main">
            <a:r>
              <a:t>### 따옴표</a:t>
            </a:r>
          </a:p>
          <a:p xmlns:a="http://schemas.openxmlformats.org/drawingml/2006/main">
            <a:r>
              <a:t/>
            </a:r>
          </a:p>
          <a:p xmlns:a="http://schemas.openxmlformats.org/drawingml/2006/main">
            <a:r>
              <a:t>질문: "22.5" + "1"의 결과가 23.5인가요?</a:t>
            </a:r>
          </a:p>
          <a:p xmlns:a="http://schemas.openxmlformats.org/drawingml/2006/main">
            <a:r>
              <a:t/>
            </a:r>
          </a:p>
          <a:p xmlns:a="http://schemas.openxmlformats.org/drawingml/2006/main">
            <a:r>
              <a:t>풀이: 문자열을 잇는 결과는 "22.51"입니다. 계산할 숫자인지 식별자인지 먼저 결정하고 자료형을 확인합니다.</a:t>
            </a:r>
          </a:p>
          <a:p xmlns:a="http://schemas.openxmlformats.org/drawingml/2006/main">
            <a:r>
              <a:t/>
            </a:r>
          </a:p>
          <a:p xmlns:a="http://schemas.openxmlformats.org/drawingml/2006/main">
            <a:r>
              <a:t>### 분기</a:t>
            </a:r>
          </a:p>
          <a:p xmlns:a="http://schemas.openxmlformats.org/drawingml/2006/main">
            <a:r>
              <a:t/>
            </a:r>
          </a:p>
          <a:p xmlns:a="http://schemas.openxmlformats.org/drawingml/2006/main">
            <a:r>
              <a:t>질문: 온도가 기준과 정확히 같으면 &gt; 조건은 참인가요?</a:t>
            </a:r>
          </a:p>
          <a:p xmlns:a="http://schemas.openxmlformats.org/drawingml/2006/main">
            <a:r>
              <a:t/>
            </a:r>
          </a:p>
          <a:p xmlns:a="http://schemas.openxmlformats.org/drawingml/2006/main">
            <a:r>
              <a:t>풀이: 거짓입니다. 경계값을 직접 비교해야 &gt;와 &gt;=의 업무 의미 차이를 이해할 수 있습니다.</a:t>
            </a:r>
          </a:p>
          <a:p xmlns:a="http://schemas.openxmlformats.org/drawingml/2006/main">
            <a:r>
              <a:t/>
            </a:r>
          </a:p>
          <a:p xmlns:a="http://schemas.openxmlformats.org/drawingml/2006/main">
            <a:r>
              <a:t>## 오늘의 수업과 복습을 나누는 방법</a:t>
            </a:r>
          </a:p>
          <a:p xmlns:a="http://schemas.openxmlformats.org/drawingml/2006/main">
            <a:r>
              <a:t/>
            </a:r>
          </a:p>
          <a:p xmlns:a="http://schemas.openxmlformats.org/drawingml/2006/main">
            <a:r>
              <a:t>수업은 10:00~10:50, 11:00~11:50, 13:00~13:50, 14:00~14:50, 15:00~15:50, 16:00~16:50입니다. 중식은 11:50~13:00이며 수업 사이에는 10분 쉽니다. 마지막 16:50~17:00은 휴식과 저장·퇴실 준비로 배치했습니다.</a:t>
            </a:r>
          </a:p>
          <a:p xmlns:a="http://schemas.openxmlformats.org/drawingml/2006/main">
            <a:r>
              <a:t/>
            </a:r>
          </a:p>
          <a:p xmlns:a="http://schemas.openxmlformats.org/drawingml/2006/main">
            <a:r>
              <a:t>| 교시 | 수업에서 먼저 확인할 활동 | 추가·복습 |</a:t>
            </a:r>
          </a:p>
          <a:p xmlns:a="http://schemas.openxmlformats.org/drawingml/2006/main">
            <a:r>
              <a:t>|---|---|---|</a:t>
            </a:r>
          </a:p>
          <a:p xmlns:a="http://schemas.openxmlformats.org/drawingml/2006/main">
            <a:r>
              <a:t>| 1 | A01, A02 | A03 |</a:t>
            </a:r>
          </a:p>
          <a:p xmlns:a="http://schemas.openxmlformats.org/drawingml/2006/main">
            <a:r>
              <a:t>| 2 | A04, A05, A06 | 새 입력으로 한 번 더 확인 |</a:t>
            </a:r>
          </a:p>
          <a:p xmlns:a="http://schemas.openxmlformats.org/drawingml/2006/main">
            <a:r>
              <a:t>| 3 | A07, A08, A09 | 새 입력으로 한 번 더 확인 |</a:t>
            </a:r>
          </a:p>
          <a:p xmlns:a="http://schemas.openxmlformats.org/drawingml/2006/main">
            <a:r>
              <a:t>| 4 | A10, A11, A12 | 새 입력으로 한 번 더 확인 |</a:t>
            </a:r>
          </a:p>
          <a:p xmlns:a="http://schemas.openxmlformats.org/drawingml/2006/main">
            <a:r>
              <a:t>| 5 | A13, A14, A15 | 새 입력으로 한 번 더 확인 |</a:t>
            </a:r>
          </a:p>
          <a:p xmlns:a="http://schemas.openxmlformats.org/drawingml/2006/main">
            <a:r>
              <a:t>| 6 | A16, A17, A18 | 새 입력으로 한 번 더 확인 |</a:t>
            </a:r>
          </a:p>
          <a:p xmlns:a="http://schemas.openxmlformats.org/drawingml/2006/main">
            <a:r>
              <a:t/>
            </a:r>
          </a:p>
          <a:p xmlns:a="http://schemas.openxmlformats.org/drawingml/2006/main">
            <a:r>
              <a:t>교안의 사례와 풀이를 읽고 필수 활동을 해 봅니다. 결과를 확인했으면 추가 문제로 복습하세요. 모든 페이지를 수업 시간 안에 마칠 필요는 없습니다. 실행이 안 되면 제공된 출력과 비교하며 코드의 처리 순서를 적어 봅니다. 직접 실행했는지는 따로 표시합니다.</a:t>
            </a:r>
          </a:p>
          <a:p xmlns:a="http://schemas.openxmlformats.org/drawingml/2006/main">
            <a:r>
              <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https://docs.python.org/3/tutorial/errors.html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전날 지식을 기억한다고 가정하지 않습니다. .py 파일, 저장, 실행 위치부터 다시 확인합니다.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https://docs.python.org/3/tutorial/errors.html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강사가 먼저 예를 보여 준 뒤 학생과 함께 확인합니다. 학생이 직접 해 본 결과를 예상과 비교하고, 달라진 이유를 설명하게 합니다.</a:t>
            </a:r>
          </a:p>
          <a:p xmlns:a="http://schemas.openxmlformats.org/drawingml/2006/main">
            <a:r>
              <a:t/>
            </a:r>
          </a:p>
          <a:p xmlns:a="http://schemas.openxmlformats.org/drawingml/2006/main">
            <a:r>
              <a:t>[활동 A01 상세 원문]</a:t>
            </a:r>
          </a:p>
          <a:p xmlns:a="http://schemas.openxmlformats.org/drawingml/2006/main">
            <a:r>
              <a:t>### 사례로 이해하기 · 편집 화면·저장 파일·실행 결과의 세 상태</a:t>
            </a:r>
          </a:p>
          <a:p xmlns:a="http://schemas.openxmlformats.org/drawingml/2006/main">
            <a:r>
              <a:t/>
            </a:r>
          </a:p>
          <a:p xmlns:a="http://schemas.openxmlformats.org/drawingml/2006/main">
            <a:r>
              <a:t/>
            </a:r>
          </a:p>
          <a:p xmlns:a="http://schemas.openxmlformats.org/drawingml/2006/main">
            <a:r>
              <a:t/>
            </a:r>
          </a:p>
          <a:p xmlns:a="http://schemas.openxmlformats.org/drawingml/2006/main">
            <a:r>
              <a:t>접수 담당자가 안내 문구를 ‘오늘 접수’에서 ‘예약 접수’로 고쳤는데 실행 화면에는 여전히 이전 문구가 나옵니다. 컴퓨터가 마음대로 문구를 바꾼 것이 아닐 수 있습니다. 편집기에 보이는 글, 디스크에 저장된 파일, 그 파일을 실행해 얻은 화면은 서로 다른 상태입니다. 종이에 작성 중인 신청서와 제출한 사본과 처리 결과를 구별하는 것처럼 세 상태를 순서대로 확인합니다. 저장 전 편집 내용은 실행 대상 파일에 아직 반영되지 않았을 수 있습니다.</a:t>
            </a:r>
          </a:p>
          <a:p xmlns:a="http://schemas.openxmlformats.org/drawingml/2006/main">
            <a:r>
              <a:t/>
            </a:r>
          </a:p>
          <a:p xmlns:a="http://schemas.openxmlformats.org/drawingml/2006/main">
            <a:r>
              <a:t>폴더는 파일을 모은 위치이고 경로는 특정 파일까지 가는 주소입니다. course 안의 code는 완성 예제, work는 학생 작업본으로 사용합니다. 둘 다 notice.py라는 이름이어도 주소가 다르면 다른 파일입니다. .py는 Python 명령을 담은 파일의 확장자입니다. 텍스트 편집기로 내용을 읽는 일은 실행이 아닙니다. 실행은 터미널에서 Python에게 파일 주소를 주고 명령을 처리하도록 요청하는 행동입니다. 명령 뒤 화면에 나온 문구는 출력이며 파일 내용과 역할이 다릅니다.</a:t>
            </a:r>
          </a:p>
          <a:p xmlns:a="http://schemas.openxmlformats.org/drawingml/2006/main">
            <a:r>
              <a:t/>
            </a:r>
          </a:p>
          <a:p xmlns:a="http://schemas.openxmlformats.org/drawingml/2006/main">
            <a:r>
              <a:t>추적표의 완성 예를 봅니다. work/notice.py를 열어 문구 수정 → 저장 → course 폴더의 터미널에서 work/notice.py를 실행 → 예약 접수 출력 순서입니다. 수정하고 code/notice.py를 실행했다면 원본의 오늘 접수가 나올 수 있습니다. 저장하지 않았다면 work를 실행해도 이전 내용이 나올 수 있습니다. 실행 파일 주소와 저장 여부를 각각 확인하므로 같은 증상이 같은 원인이라고 단정하지 않습니다. 오류가 나면 입력 명령과 파일 이름을 그대로 남기고 파일 확장명이 .py.txt인지도 확인합니다. 개인 실행이 준비되지 않았다면 세 상태 그림과 예상 결과를 종이에 작성합니다.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편집기는 work/check.py에 ‘검사 B’를 보여 줍니다. 실행 명령은 code/check.py를 가리키고 출력은 ‘검사 A’입니다. 확인된 사실 세 가지와 다음 확인 동작 두 가지를 적으세요. 새 설치나 임의 파일 삭제는 필요하지 않습니다.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편집한 파일과 실행한 파일의 위치가 다르며 화면에는 A가 나왔습니다. work 파일을 저장했는지 확인하고 같은 work 주소를 실행합니다. 파일이 다르다는 증거는 있지만 저장 여부는 아직 미확인입니다. ‘Python 고장’은 증거 없는 원인 단정입니다.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**저장과 실행은 같은 행동인가요?** 저장은 파일 내용을 남기고 실행은 그 파일의 명령을 처리합니다.</a:t>
            </a:r>
          </a:p>
          <a:p xmlns:a="http://schemas.openxmlformats.org/drawingml/2006/main">
            <a:r>
              <a:t/>
            </a:r>
          </a:p>
          <a:p xmlns:a="http://schemas.openxmlformats.org/drawingml/2006/main">
            <a:r>
              <a:t>2. **파일 이름만 같으면 같은 파일인가요?** 폴더까지 포함한 경로가 같아야 같은 대상을 찾습니다.</a:t>
            </a:r>
          </a:p>
          <a:p xmlns:a="http://schemas.openxmlformats.org/drawingml/2006/main">
            <a:r>
              <a:t/>
            </a:r>
          </a:p>
          <a:p xmlns:a="http://schemas.openxmlformats.org/drawingml/2006/main">
            <a:r>
              <a:t>3. **설치 실패면 개념도 틀린가요?** 환경 준비와 파일·실행 개념의 이해는 따로 확인합니다.</a:t>
            </a:r>
          </a:p>
          <a:p xmlns:a="http://schemas.openxmlformats.org/drawingml/2006/main">
            <a:r>
              <a:t/>
            </a:r>
          </a:p>
          <a:p xmlns:a="http://schemas.openxmlformats.org/drawingml/2006/main">
            <a:r>
              <a:t/>
            </a:r>
          </a:p>
          <a:p xmlns:a="http://schemas.openxmlformats.org/drawingml/2006/main">
            <a:r>
              <a:t>**개념.** 프로그램은 입력으로 받은 값을 정해진 순서대로 처리하여 결과를 만드는 명령의 묶음입니다. 주문서를 받아 금액을 계산한 뒤 영수증을 쓰는 일과 비슷하지만, 컴퓨터는 작성자가 생략한 의도를 알아서 채우지 않습니다.</a:t>
            </a:r>
          </a:p>
          <a:p xmlns:a="http://schemas.openxmlformats.org/drawingml/2006/main">
            <a:r>
              <a:t/>
            </a:r>
          </a:p>
          <a:p xmlns:a="http://schemas.openxmlformats.org/drawingml/2006/main">
            <a:r>
              <a:t>**왜 필요한가.** 코드와 결과를 구별해야 어디를 고쳤고 무엇이 바뀌었는지 설명할 수 있습니다. .py는 Python 코드를 담는 파일의 확장자이며, 파일을 열어 읽는 행동과 실행하는 행동은 다릅니다.</a:t>
            </a:r>
          </a:p>
          <a:p xmlns:a="http://schemas.openxmlformats.org/drawingml/2006/main">
            <a:r>
              <a:t/>
            </a:r>
          </a:p>
          <a:p xmlns:a="http://schemas.openxmlformats.org/drawingml/2006/main">
            <a:r>
              <a:t>**함께 보는 예.** 10/8의 온도 22.5와 수업 기준 24.0을 입력이라고 해 봅니다. 두 수를 비교하는 것이 처리이고 ‘정상’이라는 표시가 출력입니다. 기준은 수업에서 만든 규칙이며 실제 장비 안전 판정이 아닙니다.</a:t>
            </a:r>
          </a:p>
          <a:p xmlns:a="http://schemas.openxmlformats.org/drawingml/2006/main">
            <a:r>
              <a:t/>
            </a:r>
          </a:p>
          <a:p xmlns:a="http://schemas.openxmlformats.org/drawingml/2006/main">
            <a:r>
              <a:t>**헷갈리는 경우.** 파일 이름을 result.py로 바꾼다고 결과 파일이 되지 않습니다. 내용을 읽어 명령인지 기록인지 확인해야 합니다. 화면에서 ‘정상’이라는 글자를 보았어도 어느 파일을 어떤 값으로 실행했는지 모르면 재현하기 어렵습니다.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업무 카드: S01 온도 22.5℃, 기준 24.0℃. 기준보다 크면 ‘확인’, 아니면 ‘정상’. 파일 카드: code/A02_print.py, work/A02_print.py, 출력창.</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카드에서 입력 두 값과 처리 규칙을 밑줄로 구분합니다.</a:t>
            </a:r>
          </a:p>
          <a:p xmlns:a="http://schemas.openxmlformats.org/drawingml/2006/main">
            <a:r>
              <a:t>2. 예상 출력 한 단어와 그렇게 판단한 이유를 씁니다.</a:t>
            </a:r>
          </a:p>
          <a:p xmlns:a="http://schemas.openxmlformats.org/drawingml/2006/main">
            <a:r>
              <a:t>3. 원본 코드와 작업 코드의 폴더를 찾아 서로 다른 파일임을 표시합니다.</a:t>
            </a:r>
          </a:p>
          <a:p xmlns:a="http://schemas.openxmlformats.org/drawingml/2006/main">
            <a:r>
              <a:t>4. 코드 열기·저장·실행·출력을 자신의 말로 한 문장씩 설명합니다.</a:t>
            </a:r>
          </a:p>
          <a:p xmlns:a="http://schemas.openxmlformats.org/drawingml/2006/main">
            <a:r>
              <a:t/>
            </a:r>
          </a:p>
          <a:p xmlns:a="http://schemas.openxmlformats.org/drawingml/2006/main">
            <a:r>
              <a:t>예상 결과: 입력 22.5/24.0, 처리 &gt; 비교, 출력 정상. 파일을 여는 것과 실행하는 것을 구별합니다.</a:t>
            </a:r>
          </a:p>
          <a:p xmlns:a="http://schemas.openxmlformats.org/drawingml/2006/main">
            <a:r>
              <a:t/>
            </a:r>
          </a:p>
          <a:p xmlns:a="http://schemas.openxmlformats.org/drawingml/2006/main">
            <a:r>
              <a:t>확인 질문: 기준을 22.0으로 바꾸면 어느 단계의 값이 바뀌며 출력은 어떻게 될까요?</a:t>
            </a:r>
          </a:p>
          <a:p xmlns:a="http://schemas.openxmlformats.org/drawingml/2006/main">
            <a:r>
              <a:t/>
            </a:r>
          </a:p>
          <a:p xmlns:a="http://schemas.openxmlformats.org/drawingml/2006/main">
            <a:r>
              <a:t>막혔을 때: 입력과 출력이 섞이면 컴퓨터가 일을 하기 전 이미 주어진 값과 일을 한 뒤 생긴 표시를 다른 색으로 적습니다.</a:t>
            </a:r>
          </a:p>
          <a:p xmlns:a="http://schemas.openxmlformats.org/drawingml/2006/main">
            <a:r>
              <a:t/>
            </a:r>
          </a:p>
          <a:p xmlns:a="http://schemas.openxmlformats.org/drawingml/2006/main">
            <a:r>
              <a:t>[활동 자료와 작성칸](practice-guide.md#a01--입력처리출력과-코드-파일)에서 A01를 엽니다.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https://zeusk302-png.github.io/kdigital-physical-ai/#/sessions/2026-10-14/lesson?activity=A01</a:t>
            </a:r>
          </a:p>
          <a:p xmlns:a="http://schemas.openxmlformats.org/drawingml/2006/main">
            <a:r>
              <a:t>공식 자료: https://docs.python.org/3/tutorial/introduction.html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A01 상세 원문]</a:t>
            </a:r>
          </a:p>
          <a:p xmlns:a="http://schemas.openxmlformats.org/drawingml/2006/main">
            <a:r>
              <a:t>### 사례로 이해하기 · 편집 화면·저장 파일·실행 결과의 세 상태</a:t>
            </a:r>
          </a:p>
          <a:p xmlns:a="http://schemas.openxmlformats.org/drawingml/2006/main">
            <a:r>
              <a:t/>
            </a:r>
          </a:p>
          <a:p xmlns:a="http://schemas.openxmlformats.org/drawingml/2006/main">
            <a:r>
              <a:t/>
            </a:r>
          </a:p>
          <a:p xmlns:a="http://schemas.openxmlformats.org/drawingml/2006/main">
            <a:r>
              <a:t/>
            </a:r>
          </a:p>
          <a:p xmlns:a="http://schemas.openxmlformats.org/drawingml/2006/main">
            <a:r>
              <a:t>접수 담당자가 안내 문구를 ‘오늘 접수’에서 ‘예약 접수’로 고쳤는데 실행 화면에는 여전히 이전 문구가 나옵니다. 컴퓨터가 마음대로 문구를 바꾼 것이 아닐 수 있습니다. 편집기에 보이는 글, 디스크에 저장된 파일, 그 파일을 실행해 얻은 화면은 서로 다른 상태입니다. 종이에 작성 중인 신청서와 제출한 사본과 처리 결과를 구별하는 것처럼 세 상태를 순서대로 확인합니다. 저장 전 편집 내용은 실행 대상 파일에 아직 반영되지 않았을 수 있습니다.</a:t>
            </a:r>
          </a:p>
          <a:p xmlns:a="http://schemas.openxmlformats.org/drawingml/2006/main">
            <a:r>
              <a:t/>
            </a:r>
          </a:p>
          <a:p xmlns:a="http://schemas.openxmlformats.org/drawingml/2006/main">
            <a:r>
              <a:t>폴더는 파일을 모은 위치이고 경로는 특정 파일까지 가는 주소입니다. course 안의 code는 완성 예제, work는 학생 작업본으로 사용합니다. 둘 다 notice.py라는 이름이어도 주소가 다르면 다른 파일입니다. .py는 Python 명령을 담은 파일의 확장자입니다. 텍스트 편집기로 내용을 읽는 일은 실행이 아닙니다. 실행은 터미널에서 Python에게 파일 주소를 주고 명령을 처리하도록 요청하는 행동입니다. 명령 뒤 화면에 나온 문구는 출력이며 파일 내용과 역할이 다릅니다.</a:t>
            </a:r>
          </a:p>
          <a:p xmlns:a="http://schemas.openxmlformats.org/drawingml/2006/main">
            <a:r>
              <a:t/>
            </a:r>
          </a:p>
          <a:p xmlns:a="http://schemas.openxmlformats.org/drawingml/2006/main">
            <a:r>
              <a:t>추적표의 완성 예를 봅니다. work/notice.py를 열어 문구 수정 → 저장 → course 폴더의 터미널에서 work/notice.py를 실행 → 예약 접수 출력 순서입니다. 수정하고 code/notice.py를 실행했다면 원본의 오늘 접수가 나올 수 있습니다. 저장하지 않았다면 work를 실행해도 이전 내용이 나올 수 있습니다. 실행 파일 주소와 저장 여부를 각각 확인하므로 같은 증상이 같은 원인이라고 단정하지 않습니다. 오류가 나면 입력 명령과 파일 이름을 그대로 남기고 파일 확장명이 .py.txt인지도 확인합니다. 개인 실행이 준비되지 않았다면 세 상태 그림과 예상 결과를 종이에 작성합니다.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편집기는 work/check.py에 ‘검사 B’를 보여 줍니다. 실행 명령은 code/check.py를 가리키고 출력은 ‘검사 A’입니다. 확인된 사실 세 가지와 다음 확인 동작 두 가지를 적으세요. 새 설치나 임의 파일 삭제는 필요하지 않습니다.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편집한 파일과 실행한 파일의 위치가 다르며 화면에는 A가 나왔습니다. work 파일을 저장했는지 확인하고 같은 work 주소를 실행합니다. 파일이 다르다는 증거는 있지만 저장 여부는 아직 미확인입니다. ‘Python 고장’은 증거 없는 원인 단정입니다.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**저장과 실행은 같은 행동인가요?** 저장은 파일 내용을 남기고 실행은 그 파일의 명령을 처리합니다.</a:t>
            </a:r>
          </a:p>
          <a:p xmlns:a="http://schemas.openxmlformats.org/drawingml/2006/main">
            <a:r>
              <a:t/>
            </a:r>
          </a:p>
          <a:p xmlns:a="http://schemas.openxmlformats.org/drawingml/2006/main">
            <a:r>
              <a:t>2. **파일 이름만 같으면 같은 파일인가요?** 폴더까지 포함한 경로가 같아야 같은 대상을 찾습니다.</a:t>
            </a:r>
          </a:p>
          <a:p xmlns:a="http://schemas.openxmlformats.org/drawingml/2006/main">
            <a:r>
              <a:t/>
            </a:r>
          </a:p>
          <a:p xmlns:a="http://schemas.openxmlformats.org/drawingml/2006/main">
            <a:r>
              <a:t>3. **설치 실패면 개념도 틀린가요?** 환경 준비와 파일·실행 개념의 이해는 따로 확인합니다.</a:t>
            </a:r>
          </a:p>
          <a:p xmlns:a="http://schemas.openxmlformats.org/drawingml/2006/main">
            <a:r>
              <a:t/>
            </a:r>
          </a:p>
          <a:p xmlns:a="http://schemas.openxmlformats.org/drawingml/2006/main">
            <a:r>
              <a:t/>
            </a:r>
          </a:p>
          <a:p xmlns:a="http://schemas.openxmlformats.org/drawingml/2006/main">
            <a:r>
              <a:t>**개념.** 프로그램은 입력으로 받은 값을 정해진 순서대로 처리하여 결과를 만드는 명령의 묶음입니다. 주문서를 받아 금액을 계산한 뒤 영수증을 쓰는 일과 비슷하지만, 컴퓨터는 작성자가 생략한 의도를 알아서 채우지 않습니다.</a:t>
            </a:r>
          </a:p>
          <a:p xmlns:a="http://schemas.openxmlformats.org/drawingml/2006/main">
            <a:r>
              <a:t/>
            </a:r>
          </a:p>
          <a:p xmlns:a="http://schemas.openxmlformats.org/drawingml/2006/main">
            <a:r>
              <a:t>**왜 필요한가.** 코드와 결과를 구별해야 어디를 고쳤고 무엇이 바뀌었는지 설명할 수 있습니다. .py는 Python 코드를 담는 파일의 확장자이며, 파일을 열어 읽는 행동과 실행하는 행동은 다릅니다.</a:t>
            </a:r>
          </a:p>
          <a:p xmlns:a="http://schemas.openxmlformats.org/drawingml/2006/main">
            <a:r>
              <a:t/>
            </a:r>
          </a:p>
          <a:p xmlns:a="http://schemas.openxmlformats.org/drawingml/2006/main">
            <a:r>
              <a:t>**함께 보는 예.** 10/8의 온도 22.5와 수업 기준 24.0을 입력이라고 해 봅니다. 두 수를 비교하는 것이 처리이고 ‘정상’이라는 표시가 출력입니다. 기준은 수업에서 만든 규칙이며 실제 장비 안전 판정이 아닙니다.</a:t>
            </a:r>
          </a:p>
          <a:p xmlns:a="http://schemas.openxmlformats.org/drawingml/2006/main">
            <a:r>
              <a:t/>
            </a:r>
          </a:p>
          <a:p xmlns:a="http://schemas.openxmlformats.org/drawingml/2006/main">
            <a:r>
              <a:t>**헷갈리는 경우.** 파일 이름을 result.py로 바꾼다고 결과 파일이 되지 않습니다. 내용을 읽어 명령인지 기록인지 확인해야 합니다. 화면에서 ‘정상’이라는 글자를 보았어도 어느 파일을 어떤 값으로 실행했는지 모르면 재현하기 어렵습니다.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업무 카드: S01 온도 22.5℃, 기준 24.0℃. 기준보다 크면 ‘확인’, 아니면 ‘정상’. 파일 카드: code/A02_print.py, work/A02_print.py, 출력창.</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카드에서 입력 두 값과 처리 규칙을 밑줄로 구분합니다.</a:t>
            </a:r>
          </a:p>
          <a:p xmlns:a="http://schemas.openxmlformats.org/drawingml/2006/main">
            <a:r>
              <a:t>2. 예상 출력 한 단어와 그렇게 판단한 이유를 씁니다.</a:t>
            </a:r>
          </a:p>
          <a:p xmlns:a="http://schemas.openxmlformats.org/drawingml/2006/main">
            <a:r>
              <a:t>3. 원본 코드와 작업 코드의 폴더를 찾아 서로 다른 파일임을 표시합니다.</a:t>
            </a:r>
          </a:p>
          <a:p xmlns:a="http://schemas.openxmlformats.org/drawingml/2006/main">
            <a:r>
              <a:t>4. 코드 열기·저장·실행·출력을 자신의 말로 한 문장씩 설명합니다.</a:t>
            </a:r>
          </a:p>
          <a:p xmlns:a="http://schemas.openxmlformats.org/drawingml/2006/main">
            <a:r>
              <a:t/>
            </a:r>
          </a:p>
          <a:p xmlns:a="http://schemas.openxmlformats.org/drawingml/2006/main">
            <a:r>
              <a:t>예상 결과: 입력 22.5/24.0, 처리 &gt; 비교, 출력 정상. 파일을 여는 것과 실행하는 것을 구별합니다.</a:t>
            </a:r>
          </a:p>
          <a:p xmlns:a="http://schemas.openxmlformats.org/drawingml/2006/main">
            <a:r>
              <a:t/>
            </a:r>
          </a:p>
          <a:p xmlns:a="http://schemas.openxmlformats.org/drawingml/2006/main">
            <a:r>
              <a:t>확인 질문: 기준을 22.0으로 바꾸면 어느 단계의 값이 바뀌며 출력은 어떻게 될까요?</a:t>
            </a:r>
          </a:p>
          <a:p xmlns:a="http://schemas.openxmlformats.org/drawingml/2006/main">
            <a:r>
              <a:t/>
            </a:r>
          </a:p>
          <a:p xmlns:a="http://schemas.openxmlformats.org/drawingml/2006/main">
            <a:r>
              <a:t>막혔을 때: 입력과 출력이 섞이면 컴퓨터가 일을 하기 전 이미 주어진 값과 일을 한 뒤 생긴 표시를 다른 색으로 적습니다.</a:t>
            </a:r>
          </a:p>
          <a:p xmlns:a="http://schemas.openxmlformats.org/drawingml/2006/main">
            <a:r>
              <a:t/>
            </a:r>
          </a:p>
          <a:p xmlns:a="http://schemas.openxmlformats.org/drawingml/2006/main">
            <a:r>
              <a:t>[활동 자료와 작성칸](practice-guide.md#a01--입력처리출력과-코드-파일)에서 A01를 엽니다.</a:t>
            </a:r>
          </a:p>
          <a:p xmlns:a="http://schemas.openxmlformats.org/drawingml/2006/main">
            <a:r>
              <a:t/>
            </a:r>
          </a:p>
          <a:p xmlns:a="http://schemas.openxmlformats.org/drawingml/2006/main">
            <a:r>
              <a:t>화면 예의 출처: D:/KDigital_PhysicalAI/.build/copyedited-ppt/spec-2026-10-14.json#slide-9;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https://zeusk302-png.github.io/kdigital-physical-ai/#/sessions/2026-10-14/lesson?activity=A01</a:t>
            </a:r>
          </a:p>
          <a:p xmlns:a="http://schemas.openxmlformats.org/drawingml/2006/main">
            <a:r>
              <a:t>공식 자료: https://docs.python.org/3/tutorial/introduction.html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A01 상세 원문]</a:t>
            </a:r>
          </a:p>
          <a:p xmlns:a="http://schemas.openxmlformats.org/drawingml/2006/main">
            <a:r>
              <a:t>### 사례로 이해하기 · 편집 화면·저장 파일·실행 결과의 세 상태</a:t>
            </a:r>
          </a:p>
          <a:p xmlns:a="http://schemas.openxmlformats.org/drawingml/2006/main">
            <a:r>
              <a:t/>
            </a:r>
          </a:p>
          <a:p xmlns:a="http://schemas.openxmlformats.org/drawingml/2006/main">
            <a:r>
              <a:t/>
            </a:r>
          </a:p>
          <a:p xmlns:a="http://schemas.openxmlformats.org/drawingml/2006/main">
            <a:r>
              <a:t/>
            </a:r>
          </a:p>
          <a:p xmlns:a="http://schemas.openxmlformats.org/drawingml/2006/main">
            <a:r>
              <a:t>접수 담당자가 안내 문구를 ‘오늘 접수’에서 ‘예약 접수’로 고쳤는데 실행 화면에는 여전히 이전 문구가 나옵니다. 컴퓨터가 마음대로 문구를 바꾼 것이 아닐 수 있습니다. 편집기에 보이는 글, 디스크에 저장된 파일, 그 파일을 실행해 얻은 화면은 서로 다른 상태입니다. 종이에 작성 중인 신청서와 제출한 사본과 처리 결과를 구별하는 것처럼 세 상태를 순서대로 확인합니다. 저장 전 편집 내용은 실행 대상 파일에 아직 반영되지 않았을 수 있습니다.</a:t>
            </a:r>
          </a:p>
          <a:p xmlns:a="http://schemas.openxmlformats.org/drawingml/2006/main">
            <a:r>
              <a:t/>
            </a:r>
          </a:p>
          <a:p xmlns:a="http://schemas.openxmlformats.org/drawingml/2006/main">
            <a:r>
              <a:t>폴더는 파일을 모은 위치이고 경로는 특정 파일까지 가는 주소입니다. course 안의 code는 완성 예제, work는 학생 작업본으로 사용합니다. 둘 다 notice.py라는 이름이어도 주소가 다르면 다른 파일입니다. .py는 Python 명령을 담은 파일의 확장자입니다. 텍스트 편집기로 내용을 읽는 일은 실행이 아닙니다. 실행은 터미널에서 Python에게 파일 주소를 주고 명령을 처리하도록 요청하는 행동입니다. 명령 뒤 화면에 나온 문구는 출력이며 파일 내용과 역할이 다릅니다.</a:t>
            </a:r>
          </a:p>
          <a:p xmlns:a="http://schemas.openxmlformats.org/drawingml/2006/main">
            <a:r>
              <a:t/>
            </a:r>
          </a:p>
          <a:p xmlns:a="http://schemas.openxmlformats.org/drawingml/2006/main">
            <a:r>
              <a:t>추적표의 완성 예를 봅니다. work/notice.py를 열어 문구 수정 → 저장 → course 폴더의 터미널에서 work/notice.py를 실행 → 예약 접수 출력 순서입니다. 수정하고 code/notice.py를 실행했다면 원본의 오늘 접수가 나올 수 있습니다. 저장하지 않았다면 work를 실행해도 이전 내용이 나올 수 있습니다. 실행 파일 주소와 저장 여부를 각각 확인하므로 같은 증상이 같은 원인이라고 단정하지 않습니다. 오류가 나면 입력 명령과 파일 이름을 그대로 남기고 파일 확장명이 .py.txt인지도 확인합니다. 개인 실행이 준비되지 않았다면 세 상태 그림과 예상 결과를 종이에 작성합니다.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편집기는 work/check.py에 ‘검사 B’를 보여 줍니다. 실행 명령은 code/check.py를 가리키고 출력은 ‘검사 A’입니다. 확인된 사실 세 가지와 다음 확인 동작 두 가지를 적으세요. 새 설치나 임의 파일 삭제는 필요하지 않습니다.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편집한 파일과 실행한 파일의 위치가 다르며 화면에는 A가 나왔습니다. work 파일을 저장했는지 확인하고 같은 work 주소를 실행합니다. 파일이 다르다는 증거는 있지만 저장 여부는 아직 미확인입니다. ‘Python 고장’은 증거 없는 원인 단정입니다.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**저장과 실행은 같은 행동인가요?** 저장은 파일 내용을 남기고 실행은 그 파일의 명령을 처리합니다.</a:t>
            </a:r>
          </a:p>
          <a:p xmlns:a="http://schemas.openxmlformats.org/drawingml/2006/main">
            <a:r>
              <a:t/>
            </a:r>
          </a:p>
          <a:p xmlns:a="http://schemas.openxmlformats.org/drawingml/2006/main">
            <a:r>
              <a:t>2. **파일 이름만 같으면 같은 파일인가요?** 폴더까지 포함한 경로가 같아야 같은 대상을 찾습니다.</a:t>
            </a:r>
          </a:p>
          <a:p xmlns:a="http://schemas.openxmlformats.org/drawingml/2006/main">
            <a:r>
              <a:t/>
            </a:r>
          </a:p>
          <a:p xmlns:a="http://schemas.openxmlformats.org/drawingml/2006/main">
            <a:r>
              <a:t>3. **설치 실패면 개념도 틀린가요?** 환경 준비와 파일·실행 개념의 이해는 따로 확인합니다.</a:t>
            </a:r>
          </a:p>
          <a:p xmlns:a="http://schemas.openxmlformats.org/drawingml/2006/main">
            <a:r>
              <a:t/>
            </a:r>
          </a:p>
          <a:p xmlns:a="http://schemas.openxmlformats.org/drawingml/2006/main">
            <a:r>
              <a:t/>
            </a:r>
          </a:p>
          <a:p xmlns:a="http://schemas.openxmlformats.org/drawingml/2006/main">
            <a:r>
              <a:t>**개념.** 프로그램은 입력으로 받은 값을 정해진 순서대로 처리하여 결과를 만드는 명령의 묶음입니다. 주문서를 받아 금액을 계산한 뒤 영수증을 쓰는 일과 비슷하지만, 컴퓨터는 작성자가 생략한 의도를 알아서 채우지 않습니다.</a:t>
            </a:r>
          </a:p>
          <a:p xmlns:a="http://schemas.openxmlformats.org/drawingml/2006/main">
            <a:r>
              <a:t/>
            </a:r>
          </a:p>
          <a:p xmlns:a="http://schemas.openxmlformats.org/drawingml/2006/main">
            <a:r>
              <a:t>**왜 필요한가.** 코드와 결과를 구별해야 어디를 고쳤고 무엇이 바뀌었는지 설명할 수 있습니다. .py는 Python 코드를 담는 파일의 확장자이며, 파일을 열어 읽는 행동과 실행하는 행동은 다릅니다.</a:t>
            </a:r>
          </a:p>
          <a:p xmlns:a="http://schemas.openxmlformats.org/drawingml/2006/main">
            <a:r>
              <a:t/>
            </a:r>
          </a:p>
          <a:p xmlns:a="http://schemas.openxmlformats.org/drawingml/2006/main">
            <a:r>
              <a:t>**함께 보는 예.** 10/8의 온도 22.5와 수업 기준 24.0을 입력이라고 해 봅니다. 두 수를 비교하는 것이 처리이고 ‘정상’이라는 표시가 출력입니다. 기준은 수업에서 만든 규칙이며 실제 장비 안전 판정이 아닙니다.</a:t>
            </a:r>
          </a:p>
          <a:p xmlns:a="http://schemas.openxmlformats.org/drawingml/2006/main">
            <a:r>
              <a:t/>
            </a:r>
          </a:p>
          <a:p xmlns:a="http://schemas.openxmlformats.org/drawingml/2006/main">
            <a:r>
              <a:t>**헷갈리는 경우.** 파일 이름을 result.py로 바꾼다고 결과 파일이 되지 않습니다. 내용을 읽어 명령인지 기록인지 확인해야 합니다. 화면에서 ‘정상’이라는 글자를 보았어도 어느 파일을 어떤 값으로 실행했는지 모르면 재현하기 어렵습니다.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업무 카드: S01 온도 22.5℃, 기준 24.0℃. 기준보다 크면 ‘확인’, 아니면 ‘정상’. 파일 카드: code/A02_print.py, work/A02_print.py, 출력창.</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카드에서 입력 두 값과 처리 규칙을 밑줄로 구분합니다.</a:t>
            </a:r>
          </a:p>
          <a:p xmlns:a="http://schemas.openxmlformats.org/drawingml/2006/main">
            <a:r>
              <a:t>2. 예상 출력 한 단어와 그렇게 판단한 이유를 씁니다.</a:t>
            </a:r>
          </a:p>
          <a:p xmlns:a="http://schemas.openxmlformats.org/drawingml/2006/main">
            <a:r>
              <a:t>3. 원본 코드와 작업 코드의 폴더를 찾아 서로 다른 파일임을 표시합니다.</a:t>
            </a:r>
          </a:p>
          <a:p xmlns:a="http://schemas.openxmlformats.org/drawingml/2006/main">
            <a:r>
              <a:t>4. 코드 열기·저장·실행·출력을 자신의 말로 한 문장씩 설명합니다.</a:t>
            </a:r>
          </a:p>
          <a:p xmlns:a="http://schemas.openxmlformats.org/drawingml/2006/main">
            <a:r>
              <a:t/>
            </a:r>
          </a:p>
          <a:p xmlns:a="http://schemas.openxmlformats.org/drawingml/2006/main">
            <a:r>
              <a:t>예상 결과: 입력 22.5/24.0, 처리 &gt; 비교, 출력 정상. 파일을 여는 것과 실행하는 것을 구별합니다.</a:t>
            </a:r>
          </a:p>
          <a:p xmlns:a="http://schemas.openxmlformats.org/drawingml/2006/main">
            <a:r>
              <a:t/>
            </a:r>
          </a:p>
          <a:p xmlns:a="http://schemas.openxmlformats.org/drawingml/2006/main">
            <a:r>
              <a:t>확인 질문: 기준을 22.0으로 바꾸면 어느 단계의 값이 바뀌며 출력은 어떻게 될까요?</a:t>
            </a:r>
          </a:p>
          <a:p xmlns:a="http://schemas.openxmlformats.org/drawingml/2006/main">
            <a:r>
              <a:t/>
            </a:r>
          </a:p>
          <a:p xmlns:a="http://schemas.openxmlformats.org/drawingml/2006/main">
            <a:r>
              <a:t>막혔을 때: 입력과 출력이 섞이면 컴퓨터가 일을 하기 전 이미 주어진 값과 일을 한 뒤 생긴 표시를 다른 색으로 적습니다.</a:t>
            </a:r>
          </a:p>
          <a:p xmlns:a="http://schemas.openxmlformats.org/drawingml/2006/main">
            <a:r>
              <a:t/>
            </a:r>
          </a:p>
          <a:p xmlns:a="http://schemas.openxmlformats.org/drawingml/2006/main">
            <a:r>
              <a:t>[활동 자료와 작성칸](practice-guide.md#a01--입력처리출력과-코드-파일)에서 A01를 엽니다.</a:t>
            </a:r>
          </a:p>
          <a:p xmlns:a="http://schemas.openxmlformats.org/drawingml/2006/main">
            <a:r>
              <a:t/>
            </a:r>
          </a:p>
          <a:p xmlns:a="http://schemas.openxmlformats.org/drawingml/2006/main">
            <a:r>
              <a:t>화면 예의 출처: D:/KDigital_PhysicalAI/.build/copyedited-ppt/spec-2026-10-14.json#slide-13;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https://zeusk302-png.github.io/kdigital-physical-ai/#/sessions/2026-10-14/lesson?activity=A01</a:t>
            </a:r>
          </a:p>
          <a:p xmlns:a="http://schemas.openxmlformats.org/drawingml/2006/main">
            <a:r>
              <a:t>공식 자료: https://docs.python.org/3/tutorial/introduction.html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code/A02_print.py</a:t>
            </a:r>
          </a:p>
          <a:p xmlns:a="http://schemas.openxmlformats.org/drawingml/2006/main">
            <a:r>
              <a:t>수정한 파일을 실행할 때는 code 대신 work 폴더를 지정합니다. 직접 실행할 수 없으면 입력값부터 코드의 처리 순서를 따라 적고 강사의 결과와 비교합니다.</a:t>
            </a:r>
          </a:p>
          <a:p xmlns:a="http://schemas.openxmlformats.org/drawingml/2006/main">
            <a:r>
              <a:t/>
            </a:r>
          </a:p>
          <a:p xmlns:a="http://schemas.openxmlformats.org/drawingml/2006/main">
            <a:r>
              <a:t>[활동 A02 상세 원문]</a:t>
            </a:r>
          </a:p>
          <a:p xmlns:a="http://schemas.openxmlformats.org/drawingml/2006/main">
            <a:r>
              <a:t>**개념.** print는 전달받은 값을 화면에 보여 주는 기본 함수입니다. 함수라는 말은 우선 이름 붙은 일을 호출하는 도구로 이해합니다. 괄호 안에 보여 줄 내용을 넣고, 문자열은 따옴표로 감쌉니다.</a:t>
            </a:r>
          </a:p>
          <a:p xmlns:a="http://schemas.openxmlformats.org/drawingml/2006/main">
            <a:r>
              <a:t/>
            </a:r>
          </a:p>
          <a:p xmlns:a="http://schemas.openxmlformats.org/drawingml/2006/main">
            <a:r>
              <a:t>**왜 필요한가.** 짧은 출력을 직접 바꾸면 편집한 내용이 실행에 반영되는 과정을 볼 수 있습니다. 복잡한 프로그램을 만들기 전에 실행 통로를 확인하는 작은 성공 기준입니다.</a:t>
            </a:r>
          </a:p>
          <a:p xmlns:a="http://schemas.openxmlformats.org/drawingml/2006/main">
            <a:r>
              <a:t/>
            </a:r>
          </a:p>
          <a:p xmlns:a="http://schemas.openxmlformats.org/drawingml/2006/main">
            <a:r>
              <a:t>**함께 보는 예.** 첫 줄의 # 뒤 문장은 사람이 읽는 설명인 주석입니다. Python은 이 주석을 실행하지 않습니다. 따옴표 안의 #는 글자의 일부이므로 주석이 아니라는 점도 비교합니다.</a:t>
            </a:r>
          </a:p>
          <a:p xmlns:a="http://schemas.openxmlformats.org/drawingml/2006/main">
            <a:r>
              <a:t/>
            </a:r>
          </a:p>
          <a:p xmlns:a="http://schemas.openxmlformats.org/drawingml/2006/main">
            <a:r>
              <a:t>**헷갈리는 경우.** print라는 이름을 Print로 쓰면 같은 도구가 아닙니다. 큰따옴표는 키보드로 입력하는 곧은 따옴표이며 문서 편집기의 장식 따옴표로 바꾸면 문법 문제가 생길 수 있습니다.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 화면에 수업 시작을 표시합니다.</a:t>
            </a:r>
          </a:p>
          <a:p xmlns:a="http://schemas.openxmlformats.org/drawingml/2006/main">
            <a:r>
              <a:t>print("Python 점검 시작")</a:t>
            </a:r>
          </a:p>
          <a:p xmlns:a="http://schemas.openxmlformats.org/drawingml/2006/main">
            <a:r>
              <a:t>print("S01", 22.5)</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 화면에 수업 시작을 표시합니다.` | 사람을 위한 설명이며 실행 결과를 만들지 않습니다. |</a:t>
            </a:r>
          </a:p>
          <a:p xmlns:a="http://schemas.openxmlformats.org/drawingml/2006/main">
            <a:r>
              <a:t>| 2 | `print("Python 점검 시작")` | 문자열 한 개를 화면에 보여 줍니다. |</a:t>
            </a:r>
          </a:p>
          <a:p xmlns:a="http://schemas.openxmlformats.org/drawingml/2006/main">
            <a:r>
              <a:t>| 3 | `print("S01", 22.5)` | 문자열과 숫자를 쉼표로 나누어 한 줄에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code/A02_print.py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work/A02_print.py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점검 시작</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작은 수정: `Python 점검 시작`를 `오늘의 점검 시작`로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오늘의 점검 시작</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work/A02_print.py를 텍스트 편집기로 엽니다.</a:t>
            </a:r>
          </a:p>
          <a:p xmlns:a="http://schemas.openxmlformats.org/drawingml/2006/main">
            <a:r>
              <a:t>2. 수정 전 출력 두 줄을 예상해 노트에 씁니다.</a:t>
            </a:r>
          </a:p>
          <a:p xmlns:a="http://schemas.openxmlformats.org/drawingml/2006/main">
            <a:r>
              <a:t>3. 첫 안내 문구를 ‘오늘의 점검 시작’으로 바꾸고 저장합니다.</a:t>
            </a:r>
          </a:p>
          <a:p xmlns:a="http://schemas.openxmlformats.org/drawingml/2006/main">
            <a:r>
              <a:t>4. course 폴더의 터미널에서 python -X utf8 work/A02_print.py를 실행하고 예상과 대조합니다.</a:t>
            </a:r>
          </a:p>
          <a:p xmlns:a="http://schemas.openxmlformats.org/drawingml/2006/main">
            <a:r>
              <a:t/>
            </a:r>
          </a:p>
          <a:p xmlns:a="http://schemas.openxmlformats.org/drawingml/2006/main">
            <a:r>
              <a:t>예상 결과: 첫 안내 문구만 바뀌며 둘째 줄 S01 22.5는 유지됩니다.</a:t>
            </a:r>
          </a:p>
          <a:p xmlns:a="http://schemas.openxmlformats.org/drawingml/2006/main">
            <a:r>
              <a:t/>
            </a:r>
          </a:p>
          <a:p xmlns:a="http://schemas.openxmlformats.org/drawingml/2006/main">
            <a:r>
              <a:t>확인 질문: 주석의 문구만 바꾸면 출력은 달라질까요?</a:t>
            </a:r>
          </a:p>
          <a:p xmlns:a="http://schemas.openxmlformats.org/drawingml/2006/main">
            <a:r>
              <a:t/>
            </a:r>
          </a:p>
          <a:p xmlns:a="http://schemas.openxmlformats.org/drawingml/2006/main">
            <a:r>
              <a:t>막혔을 때: python을 찾지 못하면 설치를 혼자 진행하지 말고 강사에게 환경을 확인합니다. 그동안 제공된 출력과 수정안을 비교하고 개인 실행 미완료를 표시합니다.</a:t>
            </a:r>
          </a:p>
          <a:p xmlns:a="http://schemas.openxmlformats.org/drawingml/2006/main">
            <a:r>
              <a:t/>
            </a:r>
          </a:p>
          <a:p xmlns:a="http://schemas.openxmlformats.org/drawingml/2006/main">
            <a:r>
              <a:t>[활동 자료와 작성칸](practice-guide.md#a02--첫-출력과-주석)에서 A02를 엽니다.</a:t>
            </a:r>
          </a:p>
          <a:p xmlns:a="http://schemas.openxmlformats.org/drawingml/2006/main">
            <a:r>
              <a:t/>
            </a:r>
          </a:p>
          <a:p xmlns:a="http://schemas.openxmlformats.org/drawingml/2006/main">
            <a:r>
              <a:t>### Windows · 처음 실행할 위치 만들기</a:t>
            </a:r>
          </a:p>
          <a:p xmlns:a="http://schemas.openxmlformats.org/drawingml/2006/main">
            <a:r>
              <a:t/>
            </a:r>
          </a:p>
          <a:p xmlns:a="http://schemas.openxmlformats.org/drawingml/2006/main">
            <a:r>
              <a:t>제작 가정: Windows 탐색기와 PowerShell을 사용합니다. 다른 OS는 강사의 해당 환경 안내를 따릅니다. 설치 문제는 개념 평가와 따로 기록합니다.</a:t>
            </a:r>
          </a:p>
          <a:p xmlns:a="http://schemas.openxmlformats.org/drawingml/2006/main">
            <a:r>
              <a:t/>
            </a:r>
          </a:p>
          <a:p xmlns:a="http://schemas.openxmlformats.org/drawingml/2006/main">
            <a:r>
              <a:t>1. 예제 ZIP을 우클릭 → **모두 추출** → **추출**합니다. ZIP 안을 보는 창에서 실행하지 않습니다.</a:t>
            </a:r>
          </a:p>
          <a:p xmlns:a="http://schemas.openxmlformats.org/drawingml/2006/main">
            <a:r>
              <a:t>2. 탐색기로 압축을 푼 곳의 `course` 폴더를 엽니다. 안에 `data`, `code`, `work` 세 폴더가 실제로 보이는지 확인합니다. 폴더가 한 겹 더 있으면 그 안으로 들어갑니다.</a:t>
            </a:r>
          </a:p>
          <a:p xmlns:a="http://schemas.openxmlformats.org/drawingml/2006/main">
            <a:r>
              <a:t>3. 탐색기 위 주소 표시줄을 클릭해 `powershell`을 입력하고 Enter를 누릅니다. 현재 폴더에서 PowerShell 창이 열립니다. 편집기에서 파일을 연 것만으로 실행 위치가 정해지지는 않습니다.</a:t>
            </a:r>
          </a:p>
          <a:p xmlns:a="http://schemas.openxmlformats.org/drawingml/2006/main">
            <a:r>
              <a:t>4. 아래 명령을 한 줄씩 입력하고 Enter를 누릅니다. 앞의 `PS ...&gt;` 문구는 입력하지 않습니다.</a:t>
            </a:r>
          </a:p>
          <a:p xmlns:a="http://schemas.openxmlformats.org/drawingml/2006/main">
            <a:r>
              <a:t/>
            </a:r>
          </a:p>
          <a:p xmlns:a="http://schemas.openxmlformats.org/drawingml/2006/main">
            <a:r>
              <a:t>```powershell</a:t>
            </a:r>
          </a:p>
          <a:p xmlns:a="http://schemas.openxmlformats.org/drawingml/2006/main">
            <a:r>
              <a:t>Get-Location</a:t>
            </a:r>
          </a:p>
          <a:p xmlns:a="http://schemas.openxmlformats.org/drawingml/2006/main">
            <a:r>
              <a:t>Get-ChildItem -Directory</a:t>
            </a:r>
          </a:p>
          <a:p xmlns:a="http://schemas.openxmlformats.org/drawingml/2006/main">
            <a:r>
              <a:t>Test-Path .\work\A02_print.py</a:t>
            </a:r>
          </a:p>
          <a:p xmlns:a="http://schemas.openxmlformats.org/drawingml/2006/main">
            <a:r>
              <a:t>```</a:t>
            </a:r>
          </a:p>
          <a:p xmlns:a="http://schemas.openxmlformats.org/drawingml/2006/main">
            <a:r>
              <a:t/>
            </a:r>
          </a:p>
          <a:p xmlns:a="http://schemas.openxmlformats.org/drawingml/2006/main">
            <a:r>
              <a:t>`Get-Location`은 지금 실행할 폴더의 실제 경로를 보여 줍니다. 끝이 `course`인지 확인합니다. `Get-ChildItem` 목록에는 `data`, `code`, `work`가 보여야 합니다. 마지막 명령은 파일이 있는지 확인하며 정상 결과는 `True`입니다. 내 실제 경로: _____ / 확인 결과: _____.</a:t>
            </a:r>
          </a:p>
          <a:p xmlns:a="http://schemas.openxmlformats.org/drawingml/2006/main">
            <a:r>
              <a:t/>
            </a:r>
          </a:p>
          <a:p xmlns:a="http://schemas.openxmlformats.org/drawingml/2006/main">
            <a:r>
              <a:t>5. `work/A02_print.py` 첫 print 문구를 `오늘의 점검 시작`으로 고치고 저장합니다. 같은 PowerShell 창에서 실행합니다.</a:t>
            </a:r>
          </a:p>
          <a:p xmlns:a="http://schemas.openxmlformats.org/drawingml/2006/main">
            <a:r>
              <a:t/>
            </a:r>
          </a:p>
          <a:p xmlns:a="http://schemas.openxmlformats.org/drawingml/2006/main">
            <a:r>
              <a:t>```powershell</a:t>
            </a:r>
          </a:p>
          <a:p xmlns:a="http://schemas.openxmlformats.org/drawingml/2006/main">
            <a:r>
              <a:t>python -X utf8 work/A02_print.py</a:t>
            </a:r>
          </a:p>
          <a:p xmlns:a="http://schemas.openxmlformats.org/drawingml/2006/main">
            <a:r>
              <a:t>```</a:t>
            </a:r>
          </a:p>
          <a:p xmlns:a="http://schemas.openxmlformats.org/drawingml/2006/main">
            <a:r>
              <a:t/>
            </a:r>
          </a:p>
          <a:p xmlns:a="http://schemas.openxmlformats.org/drawingml/2006/main">
            <a:r>
              <a:t>예상 두 줄은 다음과 같습니다.</a:t>
            </a:r>
          </a:p>
          <a:p xmlns:a="http://schemas.openxmlformats.org/drawingml/2006/main">
            <a:r>
              <a:t/>
            </a:r>
          </a:p>
          <a:p xmlns:a="http://schemas.openxmlformats.org/drawingml/2006/main">
            <a:r>
              <a:t>```text</a:t>
            </a:r>
          </a:p>
          <a:p xmlns:a="http://schemas.openxmlformats.org/drawingml/2006/main">
            <a:r>
              <a:t>오늘의 점검 시작</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 `False`, `can't open file`, `No such file`: 실제 폴더를 탐색기로 다시 열고 2~4단계를 반복합니다. 파일 이름이 `.py.txt`가 아닌지 탐색기의 **보기 → 표시 → 파일 확장명**에서 확인합니다.</a:t>
            </a:r>
          </a:p>
          <a:p xmlns:a="http://schemas.openxmlformats.org/drawingml/2006/main">
            <a:r>
              <a:t>- 첫 줄이 `Python 점검 시작`: 수정 파일을 저장했는지, 실행 명령이 `code/`가 아닌 `work/`를 가리키는지 확인합니다.</a:t>
            </a:r>
          </a:p>
          <a:p xmlns:a="http://schemas.openxmlformats.org/drawingml/2006/main">
            <a:r>
              <a:t>- `python`을 찾지 못하거나 Store 안내가 뜸: 강사에게 설치 상태를 확인받습니다. 설치는 강사와 확인하고 예상한 결과를 제공된 출력과 비교하며 **개인 실행 미완료**를 적습니다.</a:t>
            </a:r>
          </a:p>
          <a:p xmlns:a="http://schemas.openxmlformats.org/drawingml/2006/main">
            <a:r>
              <a:t/>
            </a:r>
          </a:p>
          <a:p xmlns:a="http://schemas.openxmlformats.org/drawingml/2006/main">
            <a:r>
              <a:t>실행 위치 확인 → 파일 저장 → 명령 입력 → 실제 출력 기록을 서로 다른 행동으로 확인합니다.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https://zeusk302-png.github.io/kdigital-physical-ai/#/sessions/2026-10-14/lesson?activity=A02</a:t>
            </a:r>
          </a:p>
          <a:p xmlns:a="http://schemas.openxmlformats.org/drawingml/2006/main">
            <a:r>
              <a:t>공식 자료: https://docs.python.org/3/tutorial/introduction.html</a:t>
            </a:r>
          </a:p>
          <a:p xmlns:a="http://schemas.openxmlformats.org/drawingml/2006/main">
            <a:r>
              <a:t/>
            </a:r>
          </a:p>
          <a:p xmlns:a="http://schemas.openxmlformats.org/drawingml/2006/main">
            <a:r>
              <a:t>코드와 개념 해설: # 줄은 실행할 명령이 아닌 주석입니다</a:t>
            </a:r>
          </a:p>
          <a:p xmlns:a="http://schemas.openxmlformats.org/drawingml/2006/main">
            <a:r>
              <a:t>print의 괄호 안 값이 화면에 나옵니다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A02 상세 원문]</a:t>
            </a:r>
          </a:p>
          <a:p xmlns:a="http://schemas.openxmlformats.org/drawingml/2006/main">
            <a:r>
              <a:t>**개념.** print는 전달받은 값을 화면에 보여 주는 기본 함수입니다. 함수라는 말은 우선 이름 붙은 일을 호출하는 도구로 이해합니다. 괄호 안에 보여 줄 내용을 넣고, 문자열은 따옴표로 감쌉니다.</a:t>
            </a:r>
          </a:p>
          <a:p xmlns:a="http://schemas.openxmlformats.org/drawingml/2006/main">
            <a:r>
              <a:t/>
            </a:r>
          </a:p>
          <a:p xmlns:a="http://schemas.openxmlformats.org/drawingml/2006/main">
            <a:r>
              <a:t>**왜 필요한가.** 짧은 출력을 직접 바꾸면 편집한 내용이 실행에 반영되는 과정을 볼 수 있습니다. 복잡한 프로그램을 만들기 전에 실행 통로를 확인하는 작은 성공 기준입니다.</a:t>
            </a:r>
          </a:p>
          <a:p xmlns:a="http://schemas.openxmlformats.org/drawingml/2006/main">
            <a:r>
              <a:t/>
            </a:r>
          </a:p>
          <a:p xmlns:a="http://schemas.openxmlformats.org/drawingml/2006/main">
            <a:r>
              <a:t>**함께 보는 예.** 첫 줄의 # 뒤 문장은 사람이 읽는 설명인 주석입니다. Python은 이 주석을 실행하지 않습니다. 따옴표 안의 #는 글자의 일부이므로 주석이 아니라는 점도 비교합니다.</a:t>
            </a:r>
          </a:p>
          <a:p xmlns:a="http://schemas.openxmlformats.org/drawingml/2006/main">
            <a:r>
              <a:t/>
            </a:r>
          </a:p>
          <a:p xmlns:a="http://schemas.openxmlformats.org/drawingml/2006/main">
            <a:r>
              <a:t>**헷갈리는 경우.** print라는 이름을 Print로 쓰면 같은 도구가 아닙니다. 큰따옴표는 키보드로 입력하는 곧은 따옴표이며 문서 편집기의 장식 따옴표로 바꾸면 문법 문제가 생길 수 있습니다.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 화면에 수업 시작을 표시합니다.</a:t>
            </a:r>
          </a:p>
          <a:p xmlns:a="http://schemas.openxmlformats.org/drawingml/2006/main">
            <a:r>
              <a:t>print("Python 점검 시작")</a:t>
            </a:r>
          </a:p>
          <a:p xmlns:a="http://schemas.openxmlformats.org/drawingml/2006/main">
            <a:r>
              <a:t>print("S01", 22.5)</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 화면에 수업 시작을 표시합니다.` | 사람을 위한 설명이며 실행 결과를 만들지 않습니다. |</a:t>
            </a:r>
          </a:p>
          <a:p xmlns:a="http://schemas.openxmlformats.org/drawingml/2006/main">
            <a:r>
              <a:t>| 2 | `print("Python 점검 시작")` | 문자열 한 개를 화면에 보여 줍니다. |</a:t>
            </a:r>
          </a:p>
          <a:p xmlns:a="http://schemas.openxmlformats.org/drawingml/2006/main">
            <a:r>
              <a:t>| 3 | `print("S01", 22.5)` | 문자열과 숫자를 쉼표로 나누어 한 줄에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code/A02_print.py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work/A02_print.py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점검 시작</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작은 수정: `Python 점검 시작`를 `오늘의 점검 시작`로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오늘의 점검 시작</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work/A02_print.py를 텍스트 편집기로 엽니다.</a:t>
            </a:r>
          </a:p>
          <a:p xmlns:a="http://schemas.openxmlformats.org/drawingml/2006/main">
            <a:r>
              <a:t>2. 수정 전 출력 두 줄을 예상해 노트에 씁니다.</a:t>
            </a:r>
          </a:p>
          <a:p xmlns:a="http://schemas.openxmlformats.org/drawingml/2006/main">
            <a:r>
              <a:t>3. 첫 안내 문구를 ‘오늘의 점검 시작’으로 바꾸고 저장합니다.</a:t>
            </a:r>
          </a:p>
          <a:p xmlns:a="http://schemas.openxmlformats.org/drawingml/2006/main">
            <a:r>
              <a:t>4. course 폴더의 터미널에서 python -X utf8 work/A02_print.py를 실행하고 예상과 대조합니다.</a:t>
            </a:r>
          </a:p>
          <a:p xmlns:a="http://schemas.openxmlformats.org/drawingml/2006/main">
            <a:r>
              <a:t/>
            </a:r>
          </a:p>
          <a:p xmlns:a="http://schemas.openxmlformats.org/drawingml/2006/main">
            <a:r>
              <a:t>예상 결과: 첫 안내 문구만 바뀌며 둘째 줄 S01 22.5는 유지됩니다.</a:t>
            </a:r>
          </a:p>
          <a:p xmlns:a="http://schemas.openxmlformats.org/drawingml/2006/main">
            <a:r>
              <a:t/>
            </a:r>
          </a:p>
          <a:p xmlns:a="http://schemas.openxmlformats.org/drawingml/2006/main">
            <a:r>
              <a:t>확인 질문: 주석의 문구만 바꾸면 출력은 달라질까요?</a:t>
            </a:r>
          </a:p>
          <a:p xmlns:a="http://schemas.openxmlformats.org/drawingml/2006/main">
            <a:r>
              <a:t/>
            </a:r>
          </a:p>
          <a:p xmlns:a="http://schemas.openxmlformats.org/drawingml/2006/main">
            <a:r>
              <a:t>막혔을 때: python을 찾지 못하면 설치를 혼자 진행하지 말고 강사에게 환경을 확인합니다. 그동안 제공된 출력과 수정안을 비교하고 개인 실행 미완료를 표시합니다.</a:t>
            </a:r>
          </a:p>
          <a:p xmlns:a="http://schemas.openxmlformats.org/drawingml/2006/main">
            <a:r>
              <a:t/>
            </a:r>
          </a:p>
          <a:p xmlns:a="http://schemas.openxmlformats.org/drawingml/2006/main">
            <a:r>
              <a:t>[활동 자료와 작성칸](practice-guide.md#a02--첫-출력과-주석)에서 A02를 엽니다.</a:t>
            </a:r>
          </a:p>
          <a:p xmlns:a="http://schemas.openxmlformats.org/drawingml/2006/main">
            <a:r>
              <a:t/>
            </a:r>
          </a:p>
          <a:p xmlns:a="http://schemas.openxmlformats.org/drawingml/2006/main">
            <a:r>
              <a:t>### Windows · 처음 실행할 위치 만들기</a:t>
            </a:r>
          </a:p>
          <a:p xmlns:a="http://schemas.openxmlformats.org/drawingml/2006/main">
            <a:r>
              <a:t/>
            </a:r>
          </a:p>
          <a:p xmlns:a="http://schemas.openxmlformats.org/drawingml/2006/main">
            <a:r>
              <a:t>제작 가정: Windows 탐색기와 PowerShell을 사용합니다. 다른 OS는 강사의 해당 환경 안내를 따릅니다. 설치 문제는 개념 평가와 따로 기록합니다.</a:t>
            </a:r>
          </a:p>
          <a:p xmlns:a="http://schemas.openxmlformats.org/drawingml/2006/main">
            <a:r>
              <a:t/>
            </a:r>
          </a:p>
          <a:p xmlns:a="http://schemas.openxmlformats.org/drawingml/2006/main">
            <a:r>
              <a:t>1. 예제 ZIP을 우클릭 → **모두 추출** → **추출**합니다. ZIP 안을 보는 창에서 실행하지 않습니다.</a:t>
            </a:r>
          </a:p>
          <a:p xmlns:a="http://schemas.openxmlformats.org/drawingml/2006/main">
            <a:r>
              <a:t>2. 탐색기로 압축을 푼 곳의 `course` 폴더를 엽니다. 안에 `data`, `code`, `work` 세 폴더가 실제로 보이는지 확인합니다. 폴더가 한 겹 더 있으면 그 안으로 들어갑니다.</a:t>
            </a:r>
          </a:p>
          <a:p xmlns:a="http://schemas.openxmlformats.org/drawingml/2006/main">
            <a:r>
              <a:t>3. 탐색기 위 주소 표시줄을 클릭해 `powershell`을 입력하고 Enter를 누릅니다. 현재 폴더에서 PowerShell 창이 열립니다. 편집기에서 파일을 연 것만으로 실행 위치가 정해지지는 않습니다.</a:t>
            </a:r>
          </a:p>
          <a:p xmlns:a="http://schemas.openxmlformats.org/drawingml/2006/main">
            <a:r>
              <a:t>4. 아래 명령을 한 줄씩 입력하고 Enter를 누릅니다. 앞의 `PS ...&gt;` 문구는 입력하지 않습니다.</a:t>
            </a:r>
          </a:p>
          <a:p xmlns:a="http://schemas.openxmlformats.org/drawingml/2006/main">
            <a:r>
              <a:t/>
            </a:r>
          </a:p>
          <a:p xmlns:a="http://schemas.openxmlformats.org/drawingml/2006/main">
            <a:r>
              <a:t>```powershell</a:t>
            </a:r>
          </a:p>
          <a:p xmlns:a="http://schemas.openxmlformats.org/drawingml/2006/main">
            <a:r>
              <a:t>Get-Location</a:t>
            </a:r>
          </a:p>
          <a:p xmlns:a="http://schemas.openxmlformats.org/drawingml/2006/main">
            <a:r>
              <a:t>Get-ChildItem -Directory</a:t>
            </a:r>
          </a:p>
          <a:p xmlns:a="http://schemas.openxmlformats.org/drawingml/2006/main">
            <a:r>
              <a:t>Test-Path .\work\A02_print.py</a:t>
            </a:r>
          </a:p>
          <a:p xmlns:a="http://schemas.openxmlformats.org/drawingml/2006/main">
            <a:r>
              <a:t>```</a:t>
            </a:r>
          </a:p>
          <a:p xmlns:a="http://schemas.openxmlformats.org/drawingml/2006/main">
            <a:r>
              <a:t/>
            </a:r>
          </a:p>
          <a:p xmlns:a="http://schemas.openxmlformats.org/drawingml/2006/main">
            <a:r>
              <a:t>`Get-Location`은 지금 실행할 폴더의 실제 경로를 보여 줍니다. 끝이 `course`인지 확인합니다. `Get-ChildItem` 목록에는 `data`, `code`, `work`가 보여야 합니다. 마지막 명령은 파일이 있는지 확인하며 정상 결과는 `True`입니다. 내 실제 경로: _____ / 확인 결과: _____.</a:t>
            </a:r>
          </a:p>
          <a:p xmlns:a="http://schemas.openxmlformats.org/drawingml/2006/main">
            <a:r>
              <a:t/>
            </a:r>
          </a:p>
          <a:p xmlns:a="http://schemas.openxmlformats.org/drawingml/2006/main">
            <a:r>
              <a:t>5. `work/A02_print.py` 첫 print 문구를 `오늘의 점검 시작`으로 고치고 저장합니다. 같은 PowerShell 창에서 실행합니다.</a:t>
            </a:r>
          </a:p>
          <a:p xmlns:a="http://schemas.openxmlformats.org/drawingml/2006/main">
            <a:r>
              <a:t/>
            </a:r>
          </a:p>
          <a:p xmlns:a="http://schemas.openxmlformats.org/drawingml/2006/main">
            <a:r>
              <a:t>```powershell</a:t>
            </a:r>
          </a:p>
          <a:p xmlns:a="http://schemas.openxmlformats.org/drawingml/2006/main">
            <a:r>
              <a:t>python -X utf8 work/A02_print.py</a:t>
            </a:r>
          </a:p>
          <a:p xmlns:a="http://schemas.openxmlformats.org/drawingml/2006/main">
            <a:r>
              <a:t>```</a:t>
            </a:r>
          </a:p>
          <a:p xmlns:a="http://schemas.openxmlformats.org/drawingml/2006/main">
            <a:r>
              <a:t/>
            </a:r>
          </a:p>
          <a:p xmlns:a="http://schemas.openxmlformats.org/drawingml/2006/main">
            <a:r>
              <a:t>예상 두 줄은 다음과 같습니다.</a:t>
            </a:r>
          </a:p>
          <a:p xmlns:a="http://schemas.openxmlformats.org/drawingml/2006/main">
            <a:r>
              <a:t/>
            </a:r>
          </a:p>
          <a:p xmlns:a="http://schemas.openxmlformats.org/drawingml/2006/main">
            <a:r>
              <a:t>```text</a:t>
            </a:r>
          </a:p>
          <a:p xmlns:a="http://schemas.openxmlformats.org/drawingml/2006/main">
            <a:r>
              <a:t>오늘의 점검 시작</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 `False`, `can't open file`, `No such file`: 실제 폴더를 탐색기로 다시 열고 2~4단계를 반복합니다. 파일 이름이 `.py.txt`가 아닌지 탐색기의 **보기 → 표시 → 파일 확장명**에서 확인합니다.</a:t>
            </a:r>
          </a:p>
          <a:p xmlns:a="http://schemas.openxmlformats.org/drawingml/2006/main">
            <a:r>
              <a:t>- 첫 줄이 `Python 점검 시작`: 수정 파일을 저장했는지, 실행 명령이 `code/`가 아닌 `work/`를 가리키는지 확인합니다.</a:t>
            </a:r>
          </a:p>
          <a:p xmlns:a="http://schemas.openxmlformats.org/drawingml/2006/main">
            <a:r>
              <a:t>- `python`을 찾지 못하거나 Store 안내가 뜸: 강사에게 설치 상태를 확인받습니다. 설치는 강사와 확인하고 예상한 결과를 제공된 출력과 비교하며 **개인 실행 미완료**를 적습니다.</a:t>
            </a:r>
          </a:p>
          <a:p xmlns:a="http://schemas.openxmlformats.org/drawingml/2006/main">
            <a:r>
              <a:t/>
            </a:r>
          </a:p>
          <a:p xmlns:a="http://schemas.openxmlformats.org/drawingml/2006/main">
            <a:r>
              <a:t>실행 위치 확인 → 파일 저장 → 명령 입력 → 실제 출력 기록을 서로 다른 행동으로 확인합니다.</a:t>
            </a:r>
          </a:p>
          <a:p xmlns:a="http://schemas.openxmlformats.org/drawingml/2006/main">
            <a:r>
              <a:t/>
            </a:r>
          </a:p>
          <a:p xmlns:a="http://schemas.openxmlformats.org/drawingml/2006/main">
            <a:r>
              <a:t>화면 예의 출처: D:/KDigital_PhysicalAI/.build/copyedited-ppt/spec-2026-10-14.json#slide-9;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https://zeusk302-png.github.io/kdigital-physical-ai/#/sessions/2026-10-14/lesson?activity=A02</a:t>
            </a:r>
          </a:p>
          <a:p xmlns:a="http://schemas.openxmlformats.org/drawingml/2006/main">
            <a:r>
              <a:t>공식 자료: https://docs.python.org/3/tutorial/introduction.html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출력 예이며 실행할 코드가 아닙니다. 첫 print가 안내를, 둘째 print가 두 값을 공백으로 나누어 보여 줍니다.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https://docs.python.org/3/tutorial/introduction.html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A03 상세 원문]</a:t>
            </a:r>
          </a:p>
          <a:p xmlns:a="http://schemas.openxmlformats.org/drawingml/2006/main">
            <a:r>
              <a:t>**개념.** 편집기의 변경 내용은 저장하기 전까지 파일에 반영되지 않을 수 있습니다. 실행 명령은 디스크에 저장된 특정 파일을 읽습니다. 터미널은 명령을 입력하고 실행 결과를 보는 창이며 코드 편집기와 역할이 다릅니다.</a:t>
            </a:r>
          </a:p>
          <a:p xmlns:a="http://schemas.openxmlformats.org/drawingml/2006/main">
            <a:r>
              <a:t/>
            </a:r>
          </a:p>
          <a:p xmlns:a="http://schemas.openxmlformats.org/drawingml/2006/main">
            <a:r>
              <a:t>**왜 필요한가.** 같은 이름의 원본과 작업본이 있을 때 다른 파일을 실행하면 수정한 문구가 나오지 않습니다. 재실행을 반복하기 전에 파일 경로와 저장 여부를 확인하면 원인을 좁힐 수 있습니다.</a:t>
            </a:r>
          </a:p>
          <a:p xmlns:a="http://schemas.openxmlformats.org/drawingml/2006/main">
            <a:r>
              <a:t/>
            </a:r>
          </a:p>
          <a:p xmlns:a="http://schemas.openxmlformats.org/drawingml/2006/main">
            <a:r>
              <a:t>**함께 보는 예.** 작업본에는 새 문구가 보이지만 code/A02_print.py를 실행했다면 원본 문구가 나오는 것이 자연스럽습니다. 명령 끝의 경로를 work/A02_print.py로 맞춰야 작업본을 실행합니다.</a:t>
            </a:r>
          </a:p>
          <a:p xmlns:a="http://schemas.openxmlformats.org/drawingml/2006/main">
            <a:r>
              <a:t/>
            </a:r>
          </a:p>
          <a:p xmlns:a="http://schemas.openxmlformats.org/drawingml/2006/main">
            <a:r>
              <a:t>**헷갈리는 경우.** SyntaxError는 Python이 코드를 문장으로 읽지 못했다는 단서입니다. 화면 전체를 지우거나 Python을 재설치하기 전에 마지막 오류 종류와 해당 줄, 바로 앞 줄의 따옴표·괄호를 확인합니다.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사례 1: 편집기 탭에는 work/A02_print.py, 터미널 명령은 python -X utf8 code/A02_print.py.</a:t>
            </a:r>
          </a:p>
          <a:p xmlns:a="http://schemas.openxmlformats.org/drawingml/2006/main">
            <a:r>
              <a:t>사례 2: print("점검 시작) → SyntaxError.</a:t>
            </a:r>
          </a:p>
          <a:p xmlns:a="http://schemas.openxmlformats.org/drawingml/2006/main">
            <a:r>
              <a:t>사례 3: print("점검 시작")를 고쳤지만 저장 표시가 남아 있음.</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세 사례에서 보이는 사실과 추정 원인을 다른 칸에 적습니다.</a:t>
            </a:r>
          </a:p>
          <a:p xmlns:a="http://schemas.openxmlformats.org/drawingml/2006/main">
            <a:r>
              <a:t>2. 각 사례의 다음 확인 동작을 하나만 고릅니다.</a:t>
            </a:r>
          </a:p>
          <a:p xmlns:a="http://schemas.openxmlformats.org/drawingml/2006/main">
            <a:r>
              <a:t>3. 잘못된 따옴표 코드를 종이에 고친 뒤 괄호와 따옴표의 짝을 표시합니다.</a:t>
            </a:r>
          </a:p>
          <a:p xmlns:a="http://schemas.openxmlformats.org/drawingml/2006/main">
            <a:r>
              <a:t>4. 작업본 저장 후 동일 경로를 실행하는 순서를 네 단계로 작성합니다.</a:t>
            </a:r>
          </a:p>
          <a:p xmlns:a="http://schemas.openxmlformats.org/drawingml/2006/main">
            <a:r>
              <a:t/>
            </a:r>
          </a:p>
          <a:p xmlns:a="http://schemas.openxmlformats.org/drawingml/2006/main">
            <a:r>
              <a:t>예상 결과: 다른 파일 실행·닫는 따옴표 누락·미저장 가능성을 각각 구별합니다.</a:t>
            </a:r>
          </a:p>
          <a:p xmlns:a="http://schemas.openxmlformats.org/drawingml/2006/main">
            <a:r>
              <a:t/>
            </a:r>
          </a:p>
          <a:p xmlns:a="http://schemas.openxmlformats.org/drawingml/2006/main">
            <a:r>
              <a:t>확인 질문: 오류 줄 번호가 마지막 줄을 가리키면 그 줄만 보면 충분할까요?</a:t>
            </a:r>
          </a:p>
          <a:p xmlns:a="http://schemas.openxmlformats.org/drawingml/2006/main">
            <a:r>
              <a:t/>
            </a:r>
          </a:p>
          <a:p xmlns:a="http://schemas.openxmlformats.org/drawingml/2006/main">
            <a:r>
              <a:t>막혔을 때: 오류 메시지를 해석하기 어렵다면 명령, 실행 파일 경로, 오류 마지막 줄을 그대로 기록해 강사에게 보여 줍니다. 비슷한 문구로 요약해 단서를 잃지 않습니다.</a:t>
            </a:r>
          </a:p>
          <a:p xmlns:a="http://schemas.openxmlformats.org/drawingml/2006/main">
            <a:r>
              <a:t/>
            </a:r>
          </a:p>
          <a:p xmlns:a="http://schemas.openxmlformats.org/drawingml/2006/main">
            <a:r>
              <a:t>[활동 자료와 작성칸](practice-guide.md#a03--저장실행-순서와-오류-단서)에서 A03를 엽니다.</a:t>
            </a:r>
          </a:p>
          <a:p xmlns:a="http://schemas.openxmlformats.org/drawingml/2006/main">
            <a:r>
              <a:t/>
            </a:r>
          </a:p>
          <a:p xmlns:a="http://schemas.openxmlformats.org/drawingml/2006/main">
            <a:r>
              <a:t># 2구간 · 값에 이름 붙이기</a:t>
            </a:r>
          </a:p>
          <a:p xmlns:a="http://schemas.openxmlformats.org/drawingml/2006/main">
            <a:r>
              <a:t/>
            </a:r>
          </a:p>
          <a:p xmlns:a="http://schemas.openxmlformats.org/drawingml/2006/main">
            <a:r>
              <a:t>화면 예의 출처: D:/KDigital_PhysicalAI/.build/copyedited-ppt/spec-2026-10-14.json#slide-13;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https://zeusk302-png.github.io/kdigital-physical-ai/#/sessions/2026-10-14/lesson?activity=A03</a:t>
            </a:r>
          </a:p>
          <a:p xmlns:a="http://schemas.openxmlformats.org/drawingml/2006/main">
            <a:r>
              <a:t>공식 자료: https://docs.python.org/3/tutorial/introduction.html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course 폴더가 현재 위치입니다. 첫 줄은 원본 실행이고 work/A02_print.py를 고쳤다면 work 경로로 실행합니다. Windows 제작 가정이며 다른 운영체제에서는 강사 안내를 따릅니다.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https://docs.python.org/3/tutorial/introduction.html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A03 상세 원문]</a:t>
            </a:r>
          </a:p>
          <a:p xmlns:a="http://schemas.openxmlformats.org/drawingml/2006/main">
            <a:r>
              <a:t>**개념.** 편집기의 변경 내용은 저장하기 전까지 파일에 반영되지 않을 수 있습니다. 실행 명령은 디스크에 저장된 특정 파일을 읽습니다. 터미널은 명령을 입력하고 실행 결과를 보는 창이며 코드 편집기와 역할이 다릅니다.</a:t>
            </a:r>
          </a:p>
          <a:p xmlns:a="http://schemas.openxmlformats.org/drawingml/2006/main">
            <a:r>
              <a:t/>
            </a:r>
          </a:p>
          <a:p xmlns:a="http://schemas.openxmlformats.org/drawingml/2006/main">
            <a:r>
              <a:t>**왜 필요한가.** 같은 이름의 원본과 작업본이 있을 때 다른 파일을 실행하면 수정한 문구가 나오지 않습니다. 재실행을 반복하기 전에 파일 경로와 저장 여부를 확인하면 원인을 좁힐 수 있습니다.</a:t>
            </a:r>
          </a:p>
          <a:p xmlns:a="http://schemas.openxmlformats.org/drawingml/2006/main">
            <a:r>
              <a:t/>
            </a:r>
          </a:p>
          <a:p xmlns:a="http://schemas.openxmlformats.org/drawingml/2006/main">
            <a:r>
              <a:t>**함께 보는 예.** 작업본에는 새 문구가 보이지만 code/A02_print.py를 실행했다면 원본 문구가 나오는 것이 자연스럽습니다. 명령 끝의 경로를 work/A02_print.py로 맞춰야 작업본을 실행합니다.</a:t>
            </a:r>
          </a:p>
          <a:p xmlns:a="http://schemas.openxmlformats.org/drawingml/2006/main">
            <a:r>
              <a:t/>
            </a:r>
          </a:p>
          <a:p xmlns:a="http://schemas.openxmlformats.org/drawingml/2006/main">
            <a:r>
              <a:t>**헷갈리는 경우.** SyntaxError는 Python이 코드를 문장으로 읽지 못했다는 단서입니다. 화면 전체를 지우거나 Python을 재설치하기 전에 마지막 오류 종류와 해당 줄, 바로 앞 줄의 따옴표·괄호를 확인합니다.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사례 1: 편집기 탭에는 work/A02_print.py, 터미널 명령은 python -X utf8 code/A02_print.py.</a:t>
            </a:r>
          </a:p>
          <a:p xmlns:a="http://schemas.openxmlformats.org/drawingml/2006/main">
            <a:r>
              <a:t>사례 2: print("점검 시작) → SyntaxError.</a:t>
            </a:r>
          </a:p>
          <a:p xmlns:a="http://schemas.openxmlformats.org/drawingml/2006/main">
            <a:r>
              <a:t>사례 3: print("점검 시작")를 고쳤지만 저장 표시가 남아 있음.</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세 사례에서 보이는 사실과 추정 원인을 다른 칸에 적습니다.</a:t>
            </a:r>
          </a:p>
          <a:p xmlns:a="http://schemas.openxmlformats.org/drawingml/2006/main">
            <a:r>
              <a:t>2. 각 사례의 다음 확인 동작을 하나만 고릅니다.</a:t>
            </a:r>
          </a:p>
          <a:p xmlns:a="http://schemas.openxmlformats.org/drawingml/2006/main">
            <a:r>
              <a:t>3. 잘못된 따옴표 코드를 종이에 고친 뒤 괄호와 따옴표의 짝을 표시합니다.</a:t>
            </a:r>
          </a:p>
          <a:p xmlns:a="http://schemas.openxmlformats.org/drawingml/2006/main">
            <a:r>
              <a:t>4. 작업본 저장 후 동일 경로를 실행하는 순서를 네 단계로 작성합니다.</a:t>
            </a:r>
          </a:p>
          <a:p xmlns:a="http://schemas.openxmlformats.org/drawingml/2006/main">
            <a:r>
              <a:t/>
            </a:r>
          </a:p>
          <a:p xmlns:a="http://schemas.openxmlformats.org/drawingml/2006/main">
            <a:r>
              <a:t>예상 결과: 다른 파일 실행·닫는 따옴표 누락·미저장 가능성을 각각 구별합니다.</a:t>
            </a:r>
          </a:p>
          <a:p xmlns:a="http://schemas.openxmlformats.org/drawingml/2006/main">
            <a:r>
              <a:t/>
            </a:r>
          </a:p>
          <a:p xmlns:a="http://schemas.openxmlformats.org/drawingml/2006/main">
            <a:r>
              <a:t>확인 질문: 오류 줄 번호가 마지막 줄을 가리키면 그 줄만 보면 충분할까요?</a:t>
            </a:r>
          </a:p>
          <a:p xmlns:a="http://schemas.openxmlformats.org/drawingml/2006/main">
            <a:r>
              <a:t/>
            </a:r>
          </a:p>
          <a:p xmlns:a="http://schemas.openxmlformats.org/drawingml/2006/main">
            <a:r>
              <a:t>막혔을 때: 오류 메시지를 해석하기 어렵다면 명령, 실행 파일 경로, 오류 마지막 줄을 그대로 기록해 강사에게 보여 줍니다. 비슷한 문구로 요약해 단서를 잃지 않습니다.</a:t>
            </a:r>
          </a:p>
          <a:p xmlns:a="http://schemas.openxmlformats.org/drawingml/2006/main">
            <a:r>
              <a:t/>
            </a:r>
          </a:p>
          <a:p xmlns:a="http://schemas.openxmlformats.org/drawingml/2006/main">
            <a:r>
              <a:t>[활동 자료와 작성칸](practice-guide.md#a03--저장실행-순서와-오류-단서)에서 A03를 엽니다.</a:t>
            </a:r>
          </a:p>
          <a:p xmlns:a="http://schemas.openxmlformats.org/drawingml/2006/main">
            <a:r>
              <a:t/>
            </a:r>
          </a:p>
          <a:p xmlns:a="http://schemas.openxmlformats.org/drawingml/2006/main">
            <a:r>
              <a:t># 2구간 · 값에 이름 붙이기</a:t>
            </a:r>
          </a:p>
          <a:p xmlns:a="http://schemas.openxmlformats.org/drawingml/2006/main">
            <a:r>
              <a:t/>
            </a:r>
          </a:p>
          <a:p xmlns:a="http://schemas.openxmlformats.org/drawingml/2006/main">
            <a:r>
              <a:t>화면 예의 출처: D:/KDigital_PhysicalAI/.build/copyedited-ppt/spec-2026-10-14.json#slide-16;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https://zeusk302-png.github.io/kdigital-physical-ai/#/sessions/2026-10-14/lesson?activity=A03</a:t>
            </a:r>
          </a:p>
          <a:p xmlns:a="http://schemas.openxmlformats.org/drawingml/2006/main">
            <a:r>
              <a:t>공식 자료: https://docs.python.org/3/tutorial/introduction.html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접수 담당자가 안내 문구를 ‘오늘 접수’에서 ‘예약 접수’로 고쳤는데 실행 화면에는 여전히 이전 문구가 나옵니다. 컴퓨터가 마음대로 문구를 바꾼 것이 아닐 수 있습니다. 편집기에 보이는 글, 디스크에 저장된 파일, 그 파일을 실행해 얻은 화면은 서로 다른 상태입니다. 종이에 작성 중인 신청서와 제출한 사본과 처리 결과를 구별하는 것처럼 세 상태를 순서대로 확인합니다. 저장 전 편집 내용은 실행 대상 파일에 아직 반영되지 않았을 수 있습니다.</a:t>
            </a:r>
          </a:p>
          <a:p xmlns:a="http://schemas.openxmlformats.org/drawingml/2006/main">
            <a:r>
              <a:t/>
            </a:r>
          </a:p>
          <a:p xmlns:a="http://schemas.openxmlformats.org/drawingml/2006/main">
            <a:r>
              <a:t>폴더는 파일을 모은 위치이고 경로는 특정 파일까지 가는 주소입니다. course 안의 code는 완성 예제, work는 학생 작업본으로 사용합니다. 둘 다 notice.py라는 이름이어도 주소가 다르면 다른 파일입니다. .py는 Python 명령을 담은 파일의 확장자입니다. 텍스트 편집기로 내용을 읽는 일은 실행이 아닙니다. 실행은 터미널에서 Python에게 파일 주소를 주고 명령을 처리하도록 요청하는 행동입니다. 명령 뒤 화면에 나온 문구는 출력이며 파일 내용과 역할이 다릅니다.</a:t>
            </a:r>
          </a:p>
          <a:p xmlns:a="http://schemas.openxmlformats.org/drawingml/2006/main">
            <a:r>
              <a:t/>
            </a:r>
          </a:p>
          <a:p xmlns:a="http://schemas.openxmlformats.org/drawingml/2006/main">
            <a:r>
              <a:t>추적표의 완성 예를 봅니다. work/notice.py를 열어 문구 수정 → 저장 → course 폴더의 터미널에서 work/notice.py를 실행 → 예약 접수 출력 순서입니다. 수정하고 code/notice.py를 실행했다면 원본의 오늘 접수가 나올 수 있습니다. 저장하지 않았다면 work를 실행해도 이전 내용이 나올 수 있습니다. 실행 파일 주소와 저장 여부를 각각 확인하므로 같은 증상이 같은 원인이라고 단정하지 않습니다. 오류가 나면 입력 명령과 파일 이름을 그대로 남기고 파일 확장명이 .py.txt인지도 확인합니다. 개인 실행이 준비되지 않았다면 세 상태 그림과 예상 결과를 종이에 작성합니다.</a:t>
            </a:r>
          </a:p>
          <a:p xmlns:a="http://schemas.openxmlformats.org/drawingml/2006/main">
            <a:r>
              <a:t/>
            </a:r>
          </a:p>
          <a:p xmlns:a="http://schemas.openxmlformats.org/drawingml/2006/main">
            <a:r>
              <a:t>화면 예의 출처: D:/KDigital_PhysicalAI/.build/copyedited-ppt/spec-2026-10-14.json#slide-16;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https://docs.python.org/3/tutorial/introduction.html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접수 담당자가 안내 문구를 ‘오늘 접수’에서 ‘예약 접수’로 고쳤는데 실행 화면에는 여전히 이전 문구가 나옵니다. 컴퓨터가 마음대로 문구를 바꾼 것이 아닐 수 있습니다. 편집기에 보이는 글, 디스크에 저장된 파일, 그 파일을 실행해 얻은 화면은 서로 다른 상태입니다. 종이에 작성 중인 신청서와 제출한 사본과 처리 결과를 구별하는 것처럼 세 상태를 순서대로 확인합니다. 저장 전 편집 내용은 실행 대상 파일에 아직 반영되지 않았을 수 있습니다.</a:t>
            </a:r>
          </a:p>
          <a:p xmlns:a="http://schemas.openxmlformats.org/drawingml/2006/main">
            <a:r>
              <a:t/>
            </a:r>
          </a:p>
          <a:p xmlns:a="http://schemas.openxmlformats.org/drawingml/2006/main">
            <a:r>
              <a:t>폴더는 파일을 모은 위치이고 경로는 특정 파일까지 가는 주소입니다. course 안의 code는 완성 예제, work는 학생 작업본으로 사용합니다. 둘 다 notice.py라는 이름이어도 주소가 다르면 다른 파일입니다. .py는 Python 명령을 담은 파일의 확장자입니다. 텍스트 편집기로 내용을 읽는 일은 실행이 아닙니다. 실행은 터미널에서 Python에게 파일 주소를 주고 명령을 처리하도록 요청하는 행동입니다. 명령 뒤 화면에 나온 문구는 출력이며 파일 내용과 역할이 다릅니다.</a:t>
            </a:r>
          </a:p>
          <a:p xmlns:a="http://schemas.openxmlformats.org/drawingml/2006/main">
            <a:r>
              <a:t/>
            </a:r>
          </a:p>
          <a:p xmlns:a="http://schemas.openxmlformats.org/drawingml/2006/main">
            <a:r>
              <a:t>추적표의 완성 예를 봅니다. work/notice.py를 열어 문구 수정 → 저장 → course 폴더의 터미널에서 work/notice.py를 실행 → 예약 접수 출력 순서입니다. 수정하고 code/notice.py를 실행했다면 원본의 오늘 접수가 나올 수 있습니다. 저장하지 않았다면 work를 실행해도 이전 내용이 나올 수 있습니다. 실행 파일 주소와 저장 여부를 각각 확인하므로 같은 증상이 같은 원인이라고 단정하지 않습니다. 오류가 나면 입력 명령과 파일 이름을 그대로 남기고 파일 확장명이 .py.txt인지도 확인합니다. 개인 실행이 준비되지 않았다면 세 상태 그림과 예상 결과를 종이에 작성합니다.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https://docs.python.org/3/tutorial/introduction.html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편집기는 work/check.py에 ‘검사 B’를 보여 줍니다. 실행 명령은 code/check.py를 가리키고 출력은 ‘검사 A’입니다. 확인된 사실 세 가지와 다음 확인 동작 두 가지를 적으세요. 새 설치나 임의 파일 삭제는 필요하지 않습니다.</a:t>
            </a:r>
          </a:p>
          <a:p xmlns:a="http://schemas.openxmlformats.org/drawingml/2006/main">
            <a:r>
              <a:t/>
            </a:r>
          </a:p>
          <a:p xmlns:a="http://schemas.openxmlformats.org/drawingml/2006/main">
            <a:r>
              <a:t>학생이 먼저 답을 적은 뒤 풀이를 보여 줍니다. 이 문제는 필수 활동을 마친 뒤 추가로 사용합니다.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https://docs.python.org/3/tutorial/introduction.html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편집한 파일과 실행한 파일의 위치가 다르며 화면에는 A가 나왔습니다. work 파일을 저장했는지 확인하고 같은 work 주소를 실행합니다. 파일이 다르다는 증거는 있지만 저장 여부는 아직 미확인입니다. ‘Python 고장’은 증거 없는 원인 단정입니다.</a:t>
            </a:r>
          </a:p>
          <a:p xmlns:a="http://schemas.openxmlformats.org/drawingml/2006/main">
            <a:r>
              <a:t/>
            </a:r>
          </a:p>
          <a:p xmlns:a="http://schemas.openxmlformats.org/drawingml/2006/main">
            <a:r>
              <a:t>핵심 질문과 해설:</a:t>
            </a:r>
          </a:p>
          <a:p xmlns:a="http://schemas.openxmlformats.org/drawingml/2006/main">
            <a:r>
              <a:t>저장과 실행은 같은 행동인가요? 저장은 파일 내용을 남기고 실행은 그 파일의 명령을 처리합니다.</a:t>
            </a:r>
          </a:p>
          <a:p xmlns:a="http://schemas.openxmlformats.org/drawingml/2006/main">
            <a:r>
              <a:t>파일 이름만 같으면 같은 파일인가요? 폴더까지 포함한 경로가 같아야 같은 대상을 찾습니다.</a:t>
            </a:r>
          </a:p>
          <a:p xmlns:a="http://schemas.openxmlformats.org/drawingml/2006/main">
            <a:r>
              <a:t>설치 실패면 개념도 틀린가요? 환경 준비와 파일·실행 개념의 이해는 따로 확인합니다.</a:t>
            </a:r>
          </a:p>
          <a:p xmlns:a="http://schemas.openxmlformats.org/drawingml/2006/main">
            <a:r>
              <a:t/>
            </a:r>
          </a:p>
          <a:p xmlns:a="http://schemas.openxmlformats.org/drawingml/2006/main">
            <a:r>
              <a:t>화면 예의 출처: D:/KDigital_PhysicalAI/.build/copyedited-ppt/spec-2026-10-14.json#slide-17;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https://docs.python.org/3/tutorial/introduction.html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A02 상세 원문]</a:t>
            </a:r>
          </a:p>
          <a:p xmlns:a="http://schemas.openxmlformats.org/drawingml/2006/main">
            <a:r>
              <a:t>**개념.** print는 전달받은 값을 화면에 보여 주는 기본 함수입니다. 함수라는 말은 우선 이름 붙은 일을 호출하는 도구로 이해합니다. 괄호 안에 보여 줄 내용을 넣고, 문자열은 따옴표로 감쌉니다.</a:t>
            </a:r>
          </a:p>
          <a:p xmlns:a="http://schemas.openxmlformats.org/drawingml/2006/main">
            <a:r>
              <a:t/>
            </a:r>
          </a:p>
          <a:p xmlns:a="http://schemas.openxmlformats.org/drawingml/2006/main">
            <a:r>
              <a:t>**왜 필요한가.** 짧은 출력을 직접 바꾸면 편집한 내용이 실행에 반영되는 과정을 볼 수 있습니다. 복잡한 프로그램을 만들기 전에 실행 통로를 확인하는 작은 성공 기준입니다.</a:t>
            </a:r>
          </a:p>
          <a:p xmlns:a="http://schemas.openxmlformats.org/drawingml/2006/main">
            <a:r>
              <a:t/>
            </a:r>
          </a:p>
          <a:p xmlns:a="http://schemas.openxmlformats.org/drawingml/2006/main">
            <a:r>
              <a:t>**함께 보는 예.** 첫 줄의 # 뒤 문장은 사람이 읽는 설명인 주석입니다. Python은 이 주석을 실행하지 않습니다. 따옴표 안의 #는 글자의 일부이므로 주석이 아니라는 점도 비교합니다.</a:t>
            </a:r>
          </a:p>
          <a:p xmlns:a="http://schemas.openxmlformats.org/drawingml/2006/main">
            <a:r>
              <a:t/>
            </a:r>
          </a:p>
          <a:p xmlns:a="http://schemas.openxmlformats.org/drawingml/2006/main">
            <a:r>
              <a:t>**헷갈리는 경우.** print라는 이름을 Print로 쓰면 같은 도구가 아닙니다. 큰따옴표는 키보드로 입력하는 곧은 따옴표이며 문서 편집기의 장식 따옴표로 바꾸면 문법 문제가 생길 수 있습니다.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 화면에 수업 시작을 표시합니다.</a:t>
            </a:r>
          </a:p>
          <a:p xmlns:a="http://schemas.openxmlformats.org/drawingml/2006/main">
            <a:r>
              <a:t>print("Python 점검 시작")</a:t>
            </a:r>
          </a:p>
          <a:p xmlns:a="http://schemas.openxmlformats.org/drawingml/2006/main">
            <a:r>
              <a:t>print("S01", 22.5)</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 화면에 수업 시작을 표시합니다.` | 사람을 위한 설명이며 실행 결과를 만들지 않습니다. |</a:t>
            </a:r>
          </a:p>
          <a:p xmlns:a="http://schemas.openxmlformats.org/drawingml/2006/main">
            <a:r>
              <a:t>| 2 | `print("Python 점검 시작")` | 문자열 한 개를 화면에 보여 줍니다. |</a:t>
            </a:r>
          </a:p>
          <a:p xmlns:a="http://schemas.openxmlformats.org/drawingml/2006/main">
            <a:r>
              <a:t>| 3 | `print("S01", 22.5)` | 문자열과 숫자를 쉼표로 나누어 한 줄에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code/A02_print.py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work/A02_print.py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점검 시작</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작은 수정: `Python 점검 시작`를 `오늘의 점검 시작`로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오늘의 점검 시작</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work/A02_print.py를 텍스트 편집기로 엽니다.</a:t>
            </a:r>
          </a:p>
          <a:p xmlns:a="http://schemas.openxmlformats.org/drawingml/2006/main">
            <a:r>
              <a:t>2. 수정 전 출력 두 줄을 예상해 노트에 씁니다.</a:t>
            </a:r>
          </a:p>
          <a:p xmlns:a="http://schemas.openxmlformats.org/drawingml/2006/main">
            <a:r>
              <a:t>3. 첫 안내 문구를 ‘오늘의 점검 시작’으로 바꾸고 저장합니다.</a:t>
            </a:r>
          </a:p>
          <a:p xmlns:a="http://schemas.openxmlformats.org/drawingml/2006/main">
            <a:r>
              <a:t>4. course 폴더의 터미널에서 python -X utf8 work/A02_print.py를 실행하고 예상과 대조합니다.</a:t>
            </a:r>
          </a:p>
          <a:p xmlns:a="http://schemas.openxmlformats.org/drawingml/2006/main">
            <a:r>
              <a:t/>
            </a:r>
          </a:p>
          <a:p xmlns:a="http://schemas.openxmlformats.org/drawingml/2006/main">
            <a:r>
              <a:t>예상 결과: 첫 안내 문구만 바뀌며 둘째 줄 S01 22.5는 유지됩니다.</a:t>
            </a:r>
          </a:p>
          <a:p xmlns:a="http://schemas.openxmlformats.org/drawingml/2006/main">
            <a:r>
              <a:t/>
            </a:r>
          </a:p>
          <a:p xmlns:a="http://schemas.openxmlformats.org/drawingml/2006/main">
            <a:r>
              <a:t>확인 질문: 주석의 문구만 바꾸면 출력은 달라질까요?</a:t>
            </a:r>
          </a:p>
          <a:p xmlns:a="http://schemas.openxmlformats.org/drawingml/2006/main">
            <a:r>
              <a:t/>
            </a:r>
          </a:p>
          <a:p xmlns:a="http://schemas.openxmlformats.org/drawingml/2006/main">
            <a:r>
              <a:t>막혔을 때: python을 찾지 못하면 설치를 혼자 진행하지 말고 강사에게 환경을 확인합니다. 그동안 제공된 출력과 수정안을 비교하고 개인 실행 미완료를 표시합니다.</a:t>
            </a:r>
          </a:p>
          <a:p xmlns:a="http://schemas.openxmlformats.org/drawingml/2006/main">
            <a:r>
              <a:t/>
            </a:r>
          </a:p>
          <a:p xmlns:a="http://schemas.openxmlformats.org/drawingml/2006/main">
            <a:r>
              <a:t>[활동 자료와 작성칸](practice-guide.md#a02--첫-출력과-주석)에서 A02를 엽니다.</a:t>
            </a:r>
          </a:p>
          <a:p xmlns:a="http://schemas.openxmlformats.org/drawingml/2006/main">
            <a:r>
              <a:t/>
            </a:r>
          </a:p>
          <a:p xmlns:a="http://schemas.openxmlformats.org/drawingml/2006/main">
            <a:r>
              <a:t>### Windows · 처음 실행할 위치 만들기</a:t>
            </a:r>
          </a:p>
          <a:p xmlns:a="http://schemas.openxmlformats.org/drawingml/2006/main">
            <a:r>
              <a:t/>
            </a:r>
          </a:p>
          <a:p xmlns:a="http://schemas.openxmlformats.org/drawingml/2006/main">
            <a:r>
              <a:t>제작 가정: Windows 탐색기와 PowerShell을 사용합니다. 다른 OS는 강사의 해당 환경 안내를 따릅니다. 설치 문제는 개념 평가와 따로 기록합니다.</a:t>
            </a:r>
          </a:p>
          <a:p xmlns:a="http://schemas.openxmlformats.org/drawingml/2006/main">
            <a:r>
              <a:t/>
            </a:r>
          </a:p>
          <a:p xmlns:a="http://schemas.openxmlformats.org/drawingml/2006/main">
            <a:r>
              <a:t>1. 예제 ZIP을 우클릭 → **모두 추출** → **추출**합니다. ZIP 안을 보는 창에서 실행하지 않습니다.</a:t>
            </a:r>
          </a:p>
          <a:p xmlns:a="http://schemas.openxmlformats.org/drawingml/2006/main">
            <a:r>
              <a:t>2. 탐색기로 압축을 푼 곳의 `course` 폴더를 엽니다. 안에 `data`, `code`, `work` 세 폴더가 실제로 보이는지 확인합니다. 폴더가 한 겹 더 있으면 그 안으로 들어갑니다.</a:t>
            </a:r>
          </a:p>
          <a:p xmlns:a="http://schemas.openxmlformats.org/drawingml/2006/main">
            <a:r>
              <a:t>3. 탐색기 위 주소 표시줄을 클릭해 `powershell`을 입력하고 Enter를 누릅니다. 현재 폴더에서 PowerShell 창이 열립니다. 편집기에서 파일을 연 것만으로 실행 위치가 정해지지는 않습니다.</a:t>
            </a:r>
          </a:p>
          <a:p xmlns:a="http://schemas.openxmlformats.org/drawingml/2006/main">
            <a:r>
              <a:t>4. 아래 명령을 한 줄씩 입력하고 Enter를 누릅니다. 앞의 `PS ...&gt;` 문구는 입력하지 않습니다.</a:t>
            </a:r>
          </a:p>
          <a:p xmlns:a="http://schemas.openxmlformats.org/drawingml/2006/main">
            <a:r>
              <a:t/>
            </a:r>
          </a:p>
          <a:p xmlns:a="http://schemas.openxmlformats.org/drawingml/2006/main">
            <a:r>
              <a:t>```powershell</a:t>
            </a:r>
          </a:p>
          <a:p xmlns:a="http://schemas.openxmlformats.org/drawingml/2006/main">
            <a:r>
              <a:t>Get-Location</a:t>
            </a:r>
          </a:p>
          <a:p xmlns:a="http://schemas.openxmlformats.org/drawingml/2006/main">
            <a:r>
              <a:t>Get-ChildItem -Directory</a:t>
            </a:r>
          </a:p>
          <a:p xmlns:a="http://schemas.openxmlformats.org/drawingml/2006/main">
            <a:r>
              <a:t>Test-Path .\work\A02_print.py</a:t>
            </a:r>
          </a:p>
          <a:p xmlns:a="http://schemas.openxmlformats.org/drawingml/2006/main">
            <a:r>
              <a:t>```</a:t>
            </a:r>
          </a:p>
          <a:p xmlns:a="http://schemas.openxmlformats.org/drawingml/2006/main">
            <a:r>
              <a:t/>
            </a:r>
          </a:p>
          <a:p xmlns:a="http://schemas.openxmlformats.org/drawingml/2006/main">
            <a:r>
              <a:t>`Get-Location`은 지금 실행할 폴더의 실제 경로를 보여 줍니다. 끝이 `course`인지 확인합니다. `Get-ChildItem` 목록에는 `data`, `code`, `work`가 보여야 합니다. 마지막 명령은 파일이 있는지 확인하며 정상 결과는 `True`입니다. 내 실제 경로: _____ / 확인 결과: _____.</a:t>
            </a:r>
          </a:p>
          <a:p xmlns:a="http://schemas.openxmlformats.org/drawingml/2006/main">
            <a:r>
              <a:t/>
            </a:r>
          </a:p>
          <a:p xmlns:a="http://schemas.openxmlformats.org/drawingml/2006/main">
            <a:r>
              <a:t>5. `work/A02_print.py` 첫 print 문구를 `오늘의 점검 시작`으로 고치고 저장합니다. 같은 PowerShell 창에서 실행합니다.</a:t>
            </a:r>
          </a:p>
          <a:p xmlns:a="http://schemas.openxmlformats.org/drawingml/2006/main">
            <a:r>
              <a:t/>
            </a:r>
          </a:p>
          <a:p xmlns:a="http://schemas.openxmlformats.org/drawingml/2006/main">
            <a:r>
              <a:t>```powershell</a:t>
            </a:r>
          </a:p>
          <a:p xmlns:a="http://schemas.openxmlformats.org/drawingml/2006/main">
            <a:r>
              <a:t>python -X utf8 work/A02_print.py</a:t>
            </a:r>
          </a:p>
          <a:p xmlns:a="http://schemas.openxmlformats.org/drawingml/2006/main">
            <a:r>
              <a:t>```</a:t>
            </a:r>
          </a:p>
          <a:p xmlns:a="http://schemas.openxmlformats.org/drawingml/2006/main">
            <a:r>
              <a:t/>
            </a:r>
          </a:p>
          <a:p xmlns:a="http://schemas.openxmlformats.org/drawingml/2006/main">
            <a:r>
              <a:t>예상 두 줄은 다음과 같습니다.</a:t>
            </a:r>
          </a:p>
          <a:p xmlns:a="http://schemas.openxmlformats.org/drawingml/2006/main">
            <a:r>
              <a:t/>
            </a:r>
          </a:p>
          <a:p xmlns:a="http://schemas.openxmlformats.org/drawingml/2006/main">
            <a:r>
              <a:t>```text</a:t>
            </a:r>
          </a:p>
          <a:p xmlns:a="http://schemas.openxmlformats.org/drawingml/2006/main">
            <a:r>
              <a:t>오늘의 점검 시작</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 `False`, `can't open file`, `No such file`: 실제 폴더를 탐색기로 다시 열고 2~4단계를 반복합니다. 파일 이름이 `.py.txt`가 아닌지 탐색기의 **보기 → 표시 → 파일 확장명**에서 확인합니다.</a:t>
            </a:r>
          </a:p>
          <a:p xmlns:a="http://schemas.openxmlformats.org/drawingml/2006/main">
            <a:r>
              <a:t>- 첫 줄이 `Python 점검 시작`: 수정 파일을 저장했는지, 실행 명령이 `code/`가 아닌 `work/`를 가리키는지 확인합니다.</a:t>
            </a:r>
          </a:p>
          <a:p xmlns:a="http://schemas.openxmlformats.org/drawingml/2006/main">
            <a:r>
              <a:t>- `python`을 찾지 못하거나 Store 안내가 뜸: 강사에게 설치 상태를 확인받습니다. 설치는 강사와 확인하고 예상한 결과를 제공된 출력과 비교하며 **개인 실행 미완료**를 적습니다.</a:t>
            </a:r>
          </a:p>
          <a:p xmlns:a="http://schemas.openxmlformats.org/drawingml/2006/main">
            <a:r>
              <a:t/>
            </a:r>
          </a:p>
          <a:p xmlns:a="http://schemas.openxmlformats.org/drawingml/2006/main">
            <a:r>
              <a:t>실행 위치 확인 → 파일 저장 → 명령 입력 → 실제 출력 기록을 서로 다른 행동으로 확인합니다.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https://zeusk302-png.github.io/kdigital-physical-ai/#/sessions/2026-10-14/lesson?activity=A02</a:t>
            </a:r>
          </a:p>
          <a:p xmlns:a="http://schemas.openxmlformats.org/drawingml/2006/main">
            <a:r>
              <a:t>공식 자료: https://docs.python.org/3/tutorial/introduction.html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열기·저장·실행은 서로 다른 행동입니다.</a:t>
            </a:r>
          </a:p>
          <a:p xmlns:a="http://schemas.openxmlformats.org/drawingml/2006/main">
            <a:r>
              <a:t>원본과 작업본의 경로를 구별합니다.</a:t>
            </a:r>
          </a:p>
          <a:p xmlns:a="http://schemas.openxmlformats.org/drawingml/2006/main">
            <a:r>
              <a:t>실행 환경 문제만으로 내용을 이해하지 못했다고 판단하지 않습니다.</a:t>
            </a:r>
          </a:p>
          <a:p xmlns:a="http://schemas.openxmlformats.org/drawingml/2006/main">
            <a:r>
              <a:t/>
            </a:r>
          </a:p>
          <a:p xmlns:a="http://schemas.openxmlformats.org/drawingml/2006/main">
            <a:r>
              <a:t>관련 교시의 상세 원문:</a:t>
            </a:r>
          </a:p>
          <a:p xmlns:a="http://schemas.openxmlformats.org/drawingml/2006/main">
            <a:r>
              <a:t>### 사례로 이해하기 · 편집 화면·저장 파일·실행 결과의 세 상태</a:t>
            </a:r>
          </a:p>
          <a:p xmlns:a="http://schemas.openxmlformats.org/drawingml/2006/main">
            <a:r>
              <a:t/>
            </a:r>
          </a:p>
          <a:p xmlns:a="http://schemas.openxmlformats.org/drawingml/2006/main">
            <a:r>
              <a:t/>
            </a:r>
          </a:p>
          <a:p xmlns:a="http://schemas.openxmlformats.org/drawingml/2006/main">
            <a:r>
              <a:t/>
            </a:r>
          </a:p>
          <a:p xmlns:a="http://schemas.openxmlformats.org/drawingml/2006/main">
            <a:r>
              <a:t>접수 담당자가 안내 문구를 ‘오늘 접수’에서 ‘예약 접수’로 고쳤는데 실행 화면에는 여전히 이전 문구가 나옵니다. 컴퓨터가 마음대로 문구를 바꾼 것이 아닐 수 있습니다. 편집기에 보이는 글, 디스크에 저장된 파일, 그 파일을 실행해 얻은 화면은 서로 다른 상태입니다. 종이에 작성 중인 신청서와 제출한 사본과 처리 결과를 구별하는 것처럼 세 상태를 순서대로 확인합니다. 저장 전 편집 내용은 실행 대상 파일에 아직 반영되지 않았을 수 있습니다.</a:t>
            </a:r>
          </a:p>
          <a:p xmlns:a="http://schemas.openxmlformats.org/drawingml/2006/main">
            <a:r>
              <a:t/>
            </a:r>
          </a:p>
          <a:p xmlns:a="http://schemas.openxmlformats.org/drawingml/2006/main">
            <a:r>
              <a:t>폴더는 파일을 모은 위치이고 경로는 특정 파일까지 가는 주소입니다. course 안의 code는 완성 예제, work는 학생 작업본으로 사용합니다. 둘 다 notice.py라는 이름이어도 주소가 다르면 다른 파일입니다. .py는 Python 명령을 담은 파일의 확장자입니다. 텍스트 편집기로 내용을 읽는 일은 실행이 아닙니다. 실행은 터미널에서 Python에게 파일 주소를 주고 명령을 처리하도록 요청하는 행동입니다. 명령 뒤 화면에 나온 문구는 출력이며 파일 내용과 역할이 다릅니다.</a:t>
            </a:r>
          </a:p>
          <a:p xmlns:a="http://schemas.openxmlformats.org/drawingml/2006/main">
            <a:r>
              <a:t/>
            </a:r>
          </a:p>
          <a:p xmlns:a="http://schemas.openxmlformats.org/drawingml/2006/main">
            <a:r>
              <a:t>추적표의 완성 예를 봅니다. work/notice.py를 열어 문구 수정 → 저장 → course 폴더의 터미널에서 work/notice.py를 실행 → 예약 접수 출력 순서입니다. 수정하고 code/notice.py를 실행했다면 원본의 오늘 접수가 나올 수 있습니다. 저장하지 않았다면 work를 실행해도 이전 내용이 나올 수 있습니다. 실행 파일 주소와 저장 여부를 각각 확인하므로 같은 증상이 같은 원인이라고 단정하지 않습니다. 오류가 나면 입력 명령과 파일 이름을 그대로 남기고 파일 확장명이 .py.txt인지도 확인합니다. 개인 실행이 준비되지 않았다면 세 상태 그림과 예상 결과를 종이에 작성합니다.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편집기는 work/check.py에 ‘검사 B’를 보여 줍니다. 실행 명령은 code/check.py를 가리키고 출력은 ‘검사 A’입니다. 확인된 사실 세 가지와 다음 확인 동작 두 가지를 적으세요. 새 설치나 임의 파일 삭제는 필요하지 않습니다.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편집한 파일과 실행한 파일의 위치가 다르며 화면에는 A가 나왔습니다. work 파일을 저장했는지 확인하고 같은 work 주소를 실행합니다. 파일이 다르다는 증거는 있지만 저장 여부는 아직 미확인입니다. ‘Python 고장’은 증거 없는 원인 단정입니다.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**저장과 실행은 같은 행동인가요?** 저장은 파일 내용을 남기고 실행은 그 파일의 명령을 처리합니다.</a:t>
            </a:r>
          </a:p>
          <a:p xmlns:a="http://schemas.openxmlformats.org/drawingml/2006/main">
            <a:r>
              <a:t/>
            </a:r>
          </a:p>
          <a:p xmlns:a="http://schemas.openxmlformats.org/drawingml/2006/main">
            <a:r>
              <a:t>2. **파일 이름만 같으면 같은 파일인가요?** 폴더까지 포함한 경로가 같아야 같은 대상을 찾습니다.</a:t>
            </a:r>
          </a:p>
          <a:p xmlns:a="http://schemas.openxmlformats.org/drawingml/2006/main">
            <a:r>
              <a:t/>
            </a:r>
          </a:p>
          <a:p xmlns:a="http://schemas.openxmlformats.org/drawingml/2006/main">
            <a:r>
              <a:t>3. **설치 실패면 개념도 틀린가요?** 환경 준비와 파일·실행 개념의 이해는 따로 확인합니다.</a:t>
            </a:r>
          </a:p>
          <a:p xmlns:a="http://schemas.openxmlformats.org/drawingml/2006/main">
            <a:r>
              <a:t/>
            </a:r>
          </a:p>
          <a:p xmlns:a="http://schemas.openxmlformats.org/drawingml/2006/main">
            <a:r>
              <a:t/>
            </a:r>
          </a:p>
          <a:p xmlns:a="http://schemas.openxmlformats.org/drawingml/2006/main">
            <a:r>
              <a:t>**개념.** 프로그램은 입력으로 받은 값을 정해진 순서대로 처리하여 결과를 만드는 명령의 묶음입니다. 주문서를 받아 금액을 계산한 뒤 영수증을 쓰는 일과 비슷하지만, 컴퓨터는 작성자가 생략한 의도를 알아서 채우지 않습니다.</a:t>
            </a:r>
          </a:p>
          <a:p xmlns:a="http://schemas.openxmlformats.org/drawingml/2006/main">
            <a:r>
              <a:t/>
            </a:r>
          </a:p>
          <a:p xmlns:a="http://schemas.openxmlformats.org/drawingml/2006/main">
            <a:r>
              <a:t>**왜 필요한가.** 코드와 결과를 구별해야 어디를 고쳤고 무엇이 바뀌었는지 설명할 수 있습니다. .py는 Python 코드를 담는 파일의 확장자이며, 파일을 열어 읽는 행동과 실행하는 행동은 다릅니다.</a:t>
            </a:r>
          </a:p>
          <a:p xmlns:a="http://schemas.openxmlformats.org/drawingml/2006/main">
            <a:r>
              <a:t/>
            </a:r>
          </a:p>
          <a:p xmlns:a="http://schemas.openxmlformats.org/drawingml/2006/main">
            <a:r>
              <a:t>**함께 보는 예.** 10/8의 온도 22.5와 수업 기준 24.0을 입력이라고 해 봅니다. 두 수를 비교하는 것이 처리이고 ‘정상’이라는 표시가 출력입니다. 기준은 수업에서 만든 규칙이며 실제 장비 안전 판정이 아닙니다.</a:t>
            </a:r>
          </a:p>
          <a:p xmlns:a="http://schemas.openxmlformats.org/drawingml/2006/main">
            <a:r>
              <a:t/>
            </a:r>
          </a:p>
          <a:p xmlns:a="http://schemas.openxmlformats.org/drawingml/2006/main">
            <a:r>
              <a:t>**헷갈리는 경우.** 파일 이름을 result.py로 바꾼다고 결과 파일이 되지 않습니다. 내용을 읽어 명령인지 기록인지 확인해야 합니다. 화면에서 ‘정상’이라는 글자를 보았어도 어느 파일을 어떤 값으로 실행했는지 모르면 재현하기 어렵습니다.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업무 카드: S01 온도 22.5℃, 기준 24.0℃. 기준보다 크면 ‘확인’, 아니면 ‘정상’. 파일 카드: code/A02_print.py, work/A02_print.py, 출력창.</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카드에서 입력 두 값과 처리 규칙을 밑줄로 구분합니다.</a:t>
            </a:r>
          </a:p>
          <a:p xmlns:a="http://schemas.openxmlformats.org/drawingml/2006/main">
            <a:r>
              <a:t>2. 예상 출력 한 단어와 그렇게 판단한 이유를 씁니다.</a:t>
            </a:r>
          </a:p>
          <a:p xmlns:a="http://schemas.openxmlformats.org/drawingml/2006/main">
            <a:r>
              <a:t>3. 원본 코드와 작업 코드의 폴더를 찾아 서로 다른 파일임을 표시합니다.</a:t>
            </a:r>
          </a:p>
          <a:p xmlns:a="http://schemas.openxmlformats.org/drawingml/2006/main">
            <a:r>
              <a:t>4. 코드 열기·저장·실행·출력을 자신의 말로 한 문장씩 설명합니다.</a:t>
            </a:r>
          </a:p>
          <a:p xmlns:a="http://schemas.openxmlformats.org/drawingml/2006/main">
            <a:r>
              <a:t/>
            </a:r>
          </a:p>
          <a:p xmlns:a="http://schemas.openxmlformats.org/drawingml/2006/main">
            <a:r>
              <a:t>예상 결과: 입력 22.5/24.0, 처리 &gt; 비교, 출력 정상. 파일을 여는 것과 실행하는 것을 구별합니다.</a:t>
            </a:r>
          </a:p>
          <a:p xmlns:a="http://schemas.openxmlformats.org/drawingml/2006/main">
            <a:r>
              <a:t/>
            </a:r>
          </a:p>
          <a:p xmlns:a="http://schemas.openxmlformats.org/drawingml/2006/main">
            <a:r>
              <a:t>확인 질문: 기준을 22.0으로 바꾸면 어느 단계의 값이 바뀌며 출력은 어떻게 될까요?</a:t>
            </a:r>
          </a:p>
          <a:p xmlns:a="http://schemas.openxmlformats.org/drawingml/2006/main">
            <a:r>
              <a:t/>
            </a:r>
          </a:p>
          <a:p xmlns:a="http://schemas.openxmlformats.org/drawingml/2006/main">
            <a:r>
              <a:t>막혔을 때: 입력과 출력이 섞이면 컴퓨터가 일을 하기 전 이미 주어진 값과 일을 한 뒤 생긴 표시를 다른 색으로 적습니다.</a:t>
            </a:r>
          </a:p>
          <a:p xmlns:a="http://schemas.openxmlformats.org/drawingml/2006/main">
            <a:r>
              <a:t/>
            </a:r>
          </a:p>
          <a:p xmlns:a="http://schemas.openxmlformats.org/drawingml/2006/main">
            <a:r>
              <a:t>[활동 자료와 작성칸](practice-guide.md#a01--입력처리출력과-코드-파일)에서 A01를 엽니다.</a:t>
            </a:r>
          </a:p>
          <a:p xmlns:a="http://schemas.openxmlformats.org/drawingml/2006/main">
            <a:r>
              <a:t/>
            </a:r>
          </a:p>
          <a:p xmlns:a="http://schemas.openxmlformats.org/drawingml/2006/main">
            <a:r>
              <a:t>화면 예의 출처: D:/KDigital_PhysicalAI/.build/copyedited-ppt/spec-2026-10-14.json#slide-16;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https://docs.python.org/3/tutorial/introduction.html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강사가 먼저 예를 보여 준 뒤 학생과 함께 확인합니다. 학생이 직접 해 본 결과를 예상과 비교하고, 달라진 이유를 설명하게 합니다.</a:t>
            </a:r>
          </a:p>
          <a:p xmlns:a="http://schemas.openxmlformats.org/drawingml/2006/main">
            <a:r>
              <a:t/>
            </a:r>
          </a:p>
          <a:p xmlns:a="http://schemas.openxmlformats.org/drawingml/2006/main">
            <a:r>
              <a:t>[활동 A04 상세 원문]</a:t>
            </a:r>
          </a:p>
          <a:p xmlns:a="http://schemas.openxmlformats.org/drawingml/2006/main">
            <a:r>
              <a:t>### 사례로 이해하기 · 재고 갱신을 한 줄씩 추적하기</a:t>
            </a:r>
          </a:p>
          <a:p xmlns:a="http://schemas.openxmlformats.org/drawingml/2006/main">
            <a:r>
              <a:t/>
            </a:r>
          </a:p>
          <a:p xmlns:a="http://schemas.openxmlformats.org/drawingml/2006/main">
            <a:r>
              <a:t/>
            </a:r>
          </a:p>
          <a:p xmlns:a="http://schemas.openxmlformats.org/drawingml/2006/main">
            <a:r>
              <a:t/>
            </a:r>
          </a:p>
          <a:p xmlns:a="http://schemas.openxmlformats.org/drawingml/2006/main">
            <a:r>
              <a:t>창고에서 새 물품이 들어오고 일부가 나갑니다. 담당자는 ‘처음 8개, 입고 3개, 출고 2개’를 순서대로 기록합니다. Python에서는 현재 재고에 stock이라는 이름을 붙이고 각 작업이 끝날 때의 값을 연결합니다. 변수는 여러 값을 자동으로 보관하는 이력표가 아닙니다. 같은 이름에 새 값을 대입하면 그 시점의 값이 바뀝니다. 과거 기록이 필요하면 별도의 기록을 남겨야 합니다. 먼저 종이에 실행 줄·현재 값·출력 세 열을 만듭니다.</a:t>
            </a:r>
          </a:p>
          <a:p xmlns:a="http://schemas.openxmlformats.org/drawingml/2006/main">
            <a:r>
              <a:t/>
            </a:r>
          </a:p>
          <a:p xmlns:a="http://schemas.openxmlformats.org/drawingml/2006/main">
            <a:r>
              <a:t>이 사례의 완결 코드는 다음과 같습니다. work 폴더에 새 파일 E02_stock.py를 UTF-8로 저장하고 course 폴더의 터미널에서 `python -X utf8 work/E02_stock.py`를 실행합니다. 기존 파일을 덮어쓰지 않습니다.</a:t>
            </a:r>
          </a:p>
          <a:p xmlns:a="http://schemas.openxmlformats.org/drawingml/2006/main">
            <a:r>
              <a:t/>
            </a:r>
          </a:p>
          <a:p xmlns:a="http://schemas.openxmlformats.org/drawingml/2006/main">
            <a:r>
              <a:t>```python</a:t>
            </a:r>
          </a:p>
          <a:p xmlns:a="http://schemas.openxmlformats.org/drawingml/2006/main">
            <a:r>
              <a:t>stock = 8</a:t>
            </a:r>
          </a:p>
          <a:p xmlns:a="http://schemas.openxmlformats.org/drawingml/2006/main">
            <a:r>
              <a:t>stock = stock + 3</a:t>
            </a:r>
          </a:p>
          <a:p xmlns:a="http://schemas.openxmlformats.org/drawingml/2006/main">
            <a:r>
              <a:t>print(stock)</a:t>
            </a:r>
          </a:p>
          <a:p xmlns:a="http://schemas.openxmlformats.org/drawingml/2006/main">
            <a:r>
              <a:t>stock = stock - 2</a:t>
            </a:r>
          </a:p>
          <a:p xmlns:a="http://schemas.openxmlformats.org/drawingml/2006/main">
            <a:r>
              <a:t>print(stock)</a:t>
            </a:r>
          </a:p>
          <a:p xmlns:a="http://schemas.openxmlformats.org/drawingml/2006/main">
            <a:r>
              <a:t>```</a:t>
            </a:r>
          </a:p>
          <a:p xmlns:a="http://schemas.openxmlformats.org/drawingml/2006/main">
            <a:r>
              <a:t/>
            </a:r>
          </a:p>
          <a:p xmlns:a="http://schemas.openxmlformats.org/drawingml/2006/main">
            <a:r>
              <a:t>첫 줄은 stock에 정수 8을 연결합니다. 둘째 줄은 오른쪽의 현재 stock 8에 3을 더해 11을 만든 다음 왼쪽 이름에 연결합니다. 셋째 줄은 그때의 11을 화면에 표시합니다. 넷째 줄은 현재 11에서 2를 빼 9로 갱신합니다. 마지막 줄은 9를 출력합니다. 따라서 예상 출력은 첫 줄 11, 둘째 줄 9입니다. =는 수학의 양쪽이 같다는 설명이 아니라 오른쪽 계산 결과를 왼쪽 이름에 연결하는 대입 기호입니다.</a:t>
            </a:r>
          </a:p>
          <a:p xmlns:a="http://schemas.openxmlformats.org/drawingml/2006/main">
            <a:r>
              <a:t/>
            </a:r>
          </a:p>
          <a:p xmlns:a="http://schemas.openxmlformats.org/drawingml/2006/main">
            <a:r>
              <a:t>입고와 출고를 모두 처리한 뒤 출력 두 줄을 적는 것이 아니라 print를 만나는 순간의 값을 기록합니다. 뒤의 갱신이 이미 나온 첫 출력을 고치지는 않습니다. NameError이면 stock 철자와 대소문자, 처음 대입한 줄을 확인합니다. can't open file이면 작업 파일 저장 위치를 먼저 확인합니다. 실행 환경이 없으면 같은 추적표를 쓰고 강사 실행과 비교했다는 표시를 남깁니다.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물 12병을 준비하고 4병을 배부한 뒤 현재 수량을 안내합니다. 다시 6병을 받아 최종 수량을 안내합니다. 두 안내값과 세 번의 대입 뒤 현재 수량을 표로 작성하고, 두 print를 어디에 놓을지 판단하세요.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대입 뒤 현재 값은 12→8→14이고 안내값은 8과 14입니다. 배부 직후와 추가 입고 직후에 출력해야 합니다. 모든 대입 뒤에 같은 이름을 두 번 출력하면 14·14가 되어 중간 안내를 잃습니다.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**오른쪽 stock은 언제 읽나요?** 그 줄을 실행하는 시점에 연결된 현재 값을 먼저 읽습니다.</a:t>
            </a:r>
          </a:p>
          <a:p xmlns:a="http://schemas.openxmlformats.org/drawingml/2006/main">
            <a:r>
              <a:t/>
            </a:r>
          </a:p>
          <a:p xmlns:a="http://schemas.openxmlformats.org/drawingml/2006/main">
            <a:r>
              <a:t>2. **=는 ==와 같은가요?** =는 대입이고 ==는 같은지 비교하는 기호입니다.</a:t>
            </a:r>
          </a:p>
          <a:p xmlns:a="http://schemas.openxmlformats.org/drawingml/2006/main">
            <a:r>
              <a:t/>
            </a:r>
          </a:p>
          <a:p xmlns:a="http://schemas.openxmlformats.org/drawingml/2006/main">
            <a:r>
              <a:t>3. **나중 갱신이 이전 화면을 바꾸나요?** 이미 출력한 결과는 그때의 값으로 남습니다.</a:t>
            </a:r>
          </a:p>
          <a:p xmlns:a="http://schemas.openxmlformats.org/drawingml/2006/main">
            <a:r>
              <a:t/>
            </a:r>
          </a:p>
          <a:p xmlns:a="http://schemas.openxmlformats.org/drawingml/2006/main">
            <a:r>
              <a:t/>
            </a:r>
          </a:p>
          <a:p xmlns:a="http://schemas.openxmlformats.org/drawingml/2006/main">
            <a:r>
              <a:t>**개념.** 변수는 프로그램이 값을 다시 찾을 수 있도록 붙인 이름입니다. location = "입구"는 왼쪽 이름에 오른쪽 값을 연결합니다. 수학에서 등식의 양변이 같다는 주장과 Python의 대입 동작을 구별합니다.</a:t>
            </a:r>
          </a:p>
          <a:p xmlns:a="http://schemas.openxmlformats.org/drawingml/2006/main">
            <a:r>
              <a:t/>
            </a:r>
          </a:p>
          <a:p xmlns:a="http://schemas.openxmlformats.org/drawingml/2006/main">
            <a:r>
              <a:t>**왜 필요한가.** 값을 여러 번 사용할 때 이름을 붙이면 목적이 드러나고 한 곳에서 바꾸기 쉽습니다. 10/8의 표에서 location과 temperature_c라는 항목을 읽었던 경험을 코드 안의 이름으로 연결합니다.</a:t>
            </a:r>
          </a:p>
          <a:p xmlns:a="http://schemas.openxmlformats.org/drawingml/2006/main">
            <a:r>
              <a:t/>
            </a:r>
          </a:p>
          <a:p xmlns:a="http://schemas.openxmlformats.org/drawingml/2006/main">
            <a:r>
              <a:t>**함께 보는 예.** location과 temperature_c를 출력하면 이름 자체의 글자가 아니라 그 이름이 가리키는 값이 나옵니다. print("location")처럼 따옴표를 붙이면 이름을 찾지 않고 글자 location을 보여 줍니다.</a:t>
            </a:r>
          </a:p>
          <a:p xmlns:a="http://schemas.openxmlformats.org/drawingml/2006/main">
            <a:r>
              <a:t/>
            </a:r>
          </a:p>
          <a:p xmlns:a="http://schemas.openxmlformats.org/drawingml/2006/main">
            <a:r>
              <a:t>**헷갈리는 경우.** 한 이름이 무엇을 뜻하는지는 작성자가 정한 약속입니다. 온도를 x로 저장해도 실행될 수 있지만 업무 목적을 읽기 어렵습니다. 의미가 분명한 이름을 쓰되 이름만 보고 단위가 맞다고 단정하지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location = "입구"</a:t>
            </a:r>
          </a:p>
          <a:p xmlns:a="http://schemas.openxmlformats.org/drawingml/2006/main">
            <a:r>
              <a:t>temperature_c = 22.5</a:t>
            </a:r>
          </a:p>
          <a:p xmlns:a="http://schemas.openxmlformats.org/drawingml/2006/main">
            <a:r>
              <a:t>print(location)</a:t>
            </a:r>
          </a:p>
          <a:p xmlns:a="http://schemas.openxmlformats.org/drawingml/2006/main">
            <a:r>
              <a:t>print(temperature_c)</a:t>
            </a:r>
          </a:p>
          <a:p xmlns:a="http://schemas.openxmlformats.org/drawingml/2006/main">
            <a:r>
              <a:t>print("location")</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`location = "입구"` | 장소 문자열을 location이라는 이름에 연결합니다. |</a:t>
            </a:r>
          </a:p>
          <a:p xmlns:a="http://schemas.openxmlformats.org/drawingml/2006/main">
            <a:r>
              <a:t>| 2 | `temperature_c = 22.5` | 숫자 22.5를 temperature_c라는 이름에 연결합니다. |</a:t>
            </a:r>
          </a:p>
          <a:p xmlns:a="http://schemas.openxmlformats.org/drawingml/2006/main">
            <a:r>
              <a:t>| 3 | `print(location)` | 이름이 가리키는 장소 값을 보여 줍니다. |</a:t>
            </a:r>
          </a:p>
          <a:p xmlns:a="http://schemas.openxmlformats.org/drawingml/2006/main">
            <a:r>
              <a:t>| 4 | `print(temperature_c)` | 이름이 가리키는 온도 값을 보여 줍니다. |</a:t>
            </a:r>
          </a:p>
          <a:p xmlns:a="http://schemas.openxmlformats.org/drawingml/2006/main">
            <a:r>
              <a:t>| 5 | `print("location")` | 따옴표 안의 글자 location을 그대로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code/A04_example.py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work/A04_example.py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입구</a:t>
            </a:r>
          </a:p>
          <a:p xmlns:a="http://schemas.openxmlformats.org/drawingml/2006/main">
            <a:r>
              <a:t>22.5</a:t>
            </a:r>
          </a:p>
          <a:p xmlns:a="http://schemas.openxmlformats.org/drawingml/2006/main">
            <a:r>
              <a:t>location</a:t>
            </a:r>
          </a:p>
          <a:p xmlns:a="http://schemas.openxmlformats.org/drawingml/2006/main">
            <a:r>
              <a:t>```</a:t>
            </a:r>
          </a:p>
          <a:p xmlns:a="http://schemas.openxmlformats.org/drawingml/2006/main">
            <a:r>
              <a:t/>
            </a:r>
          </a:p>
          <a:p xmlns:a="http://schemas.openxmlformats.org/drawingml/2006/main">
            <a:r>
              <a:t>작은 수정: `입구`를 `창고`로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창고</a:t>
            </a:r>
          </a:p>
          <a:p xmlns:a="http://schemas.openxmlformats.org/drawingml/2006/main">
            <a:r>
              <a:t>22.5</a:t>
            </a:r>
          </a:p>
          <a:p xmlns:a="http://schemas.openxmlformats.org/drawingml/2006/main">
            <a:r>
              <a:t>location</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값과 이름을 서로 다른 색으로 표시합니다.</a:t>
            </a:r>
          </a:p>
          <a:p xmlns:a="http://schemas.openxmlformats.org/drawingml/2006/main">
            <a:r>
              <a:t>2. location을 창고로 바꾸면 변할 출력 줄을 먼저 고릅니다.</a:t>
            </a:r>
          </a:p>
          <a:p xmlns:a="http://schemas.openxmlformats.org/drawingml/2006/main">
            <a:r>
              <a:t>3. 작업본에서 문자열 한 곳만 바꾸고 저장·실행합니다.</a:t>
            </a:r>
          </a:p>
          <a:p xmlns:a="http://schemas.openxmlformats.org/drawingml/2006/main">
            <a:r>
              <a:t>4. 변하지 않은 두 출력 줄의 이유를 씁니다.</a:t>
            </a:r>
          </a:p>
          <a:p xmlns:a="http://schemas.openxmlformats.org/drawingml/2006/main">
            <a:r>
              <a:t/>
            </a:r>
          </a:p>
          <a:p xmlns:a="http://schemas.openxmlformats.org/drawingml/2006/main">
            <a:r>
              <a:t>예상 결과: 첫 출력만 창고로 바뀌고 온도와 글자 location은 유지됩니다.</a:t>
            </a:r>
          </a:p>
          <a:p xmlns:a="http://schemas.openxmlformats.org/drawingml/2006/main">
            <a:r>
              <a:t/>
            </a:r>
          </a:p>
          <a:p xmlns:a="http://schemas.openxmlformats.org/drawingml/2006/main">
            <a:r>
              <a:t>확인 질문: print(location)과 print("location")은 왜 다를까요?</a:t>
            </a:r>
          </a:p>
          <a:p xmlns:a="http://schemas.openxmlformats.org/drawingml/2006/main">
            <a:r>
              <a:t/>
            </a:r>
          </a:p>
          <a:p xmlns:a="http://schemas.openxmlformats.org/drawingml/2006/main">
            <a:r>
              <a:t>막혔을 때: NameError가 나오면 대문자·소문자와 밑줄을 비교하고 그 이름에 값을 연결한 줄이 먼저 실행되는지 확인합니다.</a:t>
            </a:r>
          </a:p>
          <a:p xmlns:a="http://schemas.openxmlformats.org/drawingml/2006/main">
            <a:r>
              <a:t/>
            </a:r>
          </a:p>
          <a:p xmlns:a="http://schemas.openxmlformats.org/drawingml/2006/main">
            <a:r>
              <a:t>[활동 자료와 작성칸](practice-guide.md#a04--변수는-값에-붙인-이름)에서 A04를 엽니다.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https://zeusk302-png.github.io/kdigital-physical-ai/#/sessions/2026-10-14/lesson?activity=A04</a:t>
            </a:r>
          </a:p>
          <a:p xmlns:a="http://schemas.openxmlformats.org/drawingml/2006/main">
            <a:r>
              <a:t>공식 자료: https://docs.python.org/3/tutorial/controlflow.html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code/A04_example.py</a:t>
            </a:r>
          </a:p>
          <a:p xmlns:a="http://schemas.openxmlformats.org/drawingml/2006/main">
            <a:r>
              <a:t>수정한 파일을 실행할 때는 code 대신 work 폴더를 지정합니다. 직접 실행할 수 없으면 입력값부터 코드의 처리 순서를 따라 적고 강사의 결과와 비교합니다.</a:t>
            </a:r>
          </a:p>
          <a:p xmlns:a="http://schemas.openxmlformats.org/drawingml/2006/main">
            <a:r>
              <a:t/>
            </a:r>
          </a:p>
          <a:p xmlns:a="http://schemas.openxmlformats.org/drawingml/2006/main">
            <a:r>
              <a:t>[활동 A04 상세 원문]</a:t>
            </a:r>
          </a:p>
          <a:p xmlns:a="http://schemas.openxmlformats.org/drawingml/2006/main">
            <a:r>
              <a:t>### 사례로 이해하기 · 재고 갱신을 한 줄씩 추적하기</a:t>
            </a:r>
          </a:p>
          <a:p xmlns:a="http://schemas.openxmlformats.org/drawingml/2006/main">
            <a:r>
              <a:t/>
            </a:r>
          </a:p>
          <a:p xmlns:a="http://schemas.openxmlformats.org/drawingml/2006/main">
            <a:r>
              <a:t/>
            </a:r>
          </a:p>
          <a:p xmlns:a="http://schemas.openxmlformats.org/drawingml/2006/main">
            <a:r>
              <a:t/>
            </a:r>
          </a:p>
          <a:p xmlns:a="http://schemas.openxmlformats.org/drawingml/2006/main">
            <a:r>
              <a:t>창고에서 새 물품이 들어오고 일부가 나갑니다. 담당자는 ‘처음 8개, 입고 3개, 출고 2개’를 순서대로 기록합니다. Python에서는 현재 재고에 stock이라는 이름을 붙이고 각 작업이 끝날 때의 값을 연결합니다. 변수는 여러 값을 자동으로 보관하는 이력표가 아닙니다. 같은 이름에 새 값을 대입하면 그 시점의 값이 바뀝니다. 과거 기록이 필요하면 별도의 기록을 남겨야 합니다. 먼저 종이에 실행 줄·현재 값·출력 세 열을 만듭니다.</a:t>
            </a:r>
          </a:p>
          <a:p xmlns:a="http://schemas.openxmlformats.org/drawingml/2006/main">
            <a:r>
              <a:t/>
            </a:r>
          </a:p>
          <a:p xmlns:a="http://schemas.openxmlformats.org/drawingml/2006/main">
            <a:r>
              <a:t>이 사례의 완결 코드는 다음과 같습니다. work 폴더에 새 파일 E02_stock.py를 UTF-8로 저장하고 course 폴더의 터미널에서 `python -X utf8 work/E02_stock.py`를 실행합니다. 기존 파일을 덮어쓰지 않습니다.</a:t>
            </a:r>
          </a:p>
          <a:p xmlns:a="http://schemas.openxmlformats.org/drawingml/2006/main">
            <a:r>
              <a:t/>
            </a:r>
          </a:p>
          <a:p xmlns:a="http://schemas.openxmlformats.org/drawingml/2006/main">
            <a:r>
              <a:t>```python</a:t>
            </a:r>
          </a:p>
          <a:p xmlns:a="http://schemas.openxmlformats.org/drawingml/2006/main">
            <a:r>
              <a:t>stock = 8</a:t>
            </a:r>
          </a:p>
          <a:p xmlns:a="http://schemas.openxmlformats.org/drawingml/2006/main">
            <a:r>
              <a:t>stock = stock + 3</a:t>
            </a:r>
          </a:p>
          <a:p xmlns:a="http://schemas.openxmlformats.org/drawingml/2006/main">
            <a:r>
              <a:t>print(stock)</a:t>
            </a:r>
          </a:p>
          <a:p xmlns:a="http://schemas.openxmlformats.org/drawingml/2006/main">
            <a:r>
              <a:t>stock = stock - 2</a:t>
            </a:r>
          </a:p>
          <a:p xmlns:a="http://schemas.openxmlformats.org/drawingml/2006/main">
            <a:r>
              <a:t>print(stock)</a:t>
            </a:r>
          </a:p>
          <a:p xmlns:a="http://schemas.openxmlformats.org/drawingml/2006/main">
            <a:r>
              <a:t>```</a:t>
            </a:r>
          </a:p>
          <a:p xmlns:a="http://schemas.openxmlformats.org/drawingml/2006/main">
            <a:r>
              <a:t/>
            </a:r>
          </a:p>
          <a:p xmlns:a="http://schemas.openxmlformats.org/drawingml/2006/main">
            <a:r>
              <a:t>첫 줄은 stock에 정수 8을 연결합니다. 둘째 줄은 오른쪽의 현재 stock 8에 3을 더해 11을 만든 다음 왼쪽 이름에 연결합니다. 셋째 줄은 그때의 11을 화면에 표시합니다. 넷째 줄은 현재 11에서 2를 빼 9로 갱신합니다. 마지막 줄은 9를 출력합니다. 따라서 예상 출력은 첫 줄 11, 둘째 줄 9입니다. =는 수학의 양쪽이 같다는 설명이 아니라 오른쪽 계산 결과를 왼쪽 이름에 연결하는 대입 기호입니다.</a:t>
            </a:r>
          </a:p>
          <a:p xmlns:a="http://schemas.openxmlformats.org/drawingml/2006/main">
            <a:r>
              <a:t/>
            </a:r>
          </a:p>
          <a:p xmlns:a="http://schemas.openxmlformats.org/drawingml/2006/main">
            <a:r>
              <a:t>입고와 출고를 모두 처리한 뒤 출력 두 줄을 적는 것이 아니라 print를 만나는 순간의 값을 기록합니다. 뒤의 갱신이 이미 나온 첫 출력을 고치지는 않습니다. NameError이면 stock 철자와 대소문자, 처음 대입한 줄을 확인합니다. can't open file이면 작업 파일 저장 위치를 먼저 확인합니다. 실행 환경이 없으면 같은 추적표를 쓰고 강사 실행과 비교했다는 표시를 남깁니다.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물 12병을 준비하고 4병을 배부한 뒤 현재 수량을 안내합니다. 다시 6병을 받아 최종 수량을 안내합니다. 두 안내값과 세 번의 대입 뒤 현재 수량을 표로 작성하고, 두 print를 어디에 놓을지 판단하세요.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대입 뒤 현재 값은 12→8→14이고 안내값은 8과 14입니다. 배부 직후와 추가 입고 직후에 출력해야 합니다. 모든 대입 뒤에 같은 이름을 두 번 출력하면 14·14가 되어 중간 안내를 잃습니다.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**오른쪽 stock은 언제 읽나요?** 그 줄을 실행하는 시점에 연결된 현재 값을 먼저 읽습니다.</a:t>
            </a:r>
          </a:p>
          <a:p xmlns:a="http://schemas.openxmlformats.org/drawingml/2006/main">
            <a:r>
              <a:t/>
            </a:r>
          </a:p>
          <a:p xmlns:a="http://schemas.openxmlformats.org/drawingml/2006/main">
            <a:r>
              <a:t>2. **=는 ==와 같은가요?** =는 대입이고 ==는 같은지 비교하는 기호입니다.</a:t>
            </a:r>
          </a:p>
          <a:p xmlns:a="http://schemas.openxmlformats.org/drawingml/2006/main">
            <a:r>
              <a:t/>
            </a:r>
          </a:p>
          <a:p xmlns:a="http://schemas.openxmlformats.org/drawingml/2006/main">
            <a:r>
              <a:t>3. **나중 갱신이 이전 화면을 바꾸나요?** 이미 출력한 결과는 그때의 값으로 남습니다.</a:t>
            </a:r>
          </a:p>
          <a:p xmlns:a="http://schemas.openxmlformats.org/drawingml/2006/main">
            <a:r>
              <a:t/>
            </a:r>
          </a:p>
          <a:p xmlns:a="http://schemas.openxmlformats.org/drawingml/2006/main">
            <a:r>
              <a:t/>
            </a:r>
          </a:p>
          <a:p xmlns:a="http://schemas.openxmlformats.org/drawingml/2006/main">
            <a:r>
              <a:t>**개념.** 변수는 프로그램이 값을 다시 찾을 수 있도록 붙인 이름입니다. location = "입구"는 왼쪽 이름에 오른쪽 값을 연결합니다. 수학에서 등식의 양변이 같다는 주장과 Python의 대입 동작을 구별합니다.</a:t>
            </a:r>
          </a:p>
          <a:p xmlns:a="http://schemas.openxmlformats.org/drawingml/2006/main">
            <a:r>
              <a:t/>
            </a:r>
          </a:p>
          <a:p xmlns:a="http://schemas.openxmlformats.org/drawingml/2006/main">
            <a:r>
              <a:t>**왜 필요한가.** 값을 여러 번 사용할 때 이름을 붙이면 목적이 드러나고 한 곳에서 바꾸기 쉽습니다. 10/8의 표에서 location과 temperature_c라는 항목을 읽었던 경험을 코드 안의 이름으로 연결합니다.</a:t>
            </a:r>
          </a:p>
          <a:p xmlns:a="http://schemas.openxmlformats.org/drawingml/2006/main">
            <a:r>
              <a:t/>
            </a:r>
          </a:p>
          <a:p xmlns:a="http://schemas.openxmlformats.org/drawingml/2006/main">
            <a:r>
              <a:t>**함께 보는 예.** location과 temperature_c를 출력하면 이름 자체의 글자가 아니라 그 이름이 가리키는 값이 나옵니다. print("location")처럼 따옴표를 붙이면 이름을 찾지 않고 글자 location을 보여 줍니다.</a:t>
            </a:r>
          </a:p>
          <a:p xmlns:a="http://schemas.openxmlformats.org/drawingml/2006/main">
            <a:r>
              <a:t/>
            </a:r>
          </a:p>
          <a:p xmlns:a="http://schemas.openxmlformats.org/drawingml/2006/main">
            <a:r>
              <a:t>**헷갈리는 경우.** 한 이름이 무엇을 뜻하는지는 작성자가 정한 약속입니다. 온도를 x로 저장해도 실행될 수 있지만 업무 목적을 읽기 어렵습니다. 의미가 분명한 이름을 쓰되 이름만 보고 단위가 맞다고 단정하지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location = "입구"</a:t>
            </a:r>
          </a:p>
          <a:p xmlns:a="http://schemas.openxmlformats.org/drawingml/2006/main">
            <a:r>
              <a:t>temperature_c = 22.5</a:t>
            </a:r>
          </a:p>
          <a:p xmlns:a="http://schemas.openxmlformats.org/drawingml/2006/main">
            <a:r>
              <a:t>print(location)</a:t>
            </a:r>
          </a:p>
          <a:p xmlns:a="http://schemas.openxmlformats.org/drawingml/2006/main">
            <a:r>
              <a:t>print(temperature_c)</a:t>
            </a:r>
          </a:p>
          <a:p xmlns:a="http://schemas.openxmlformats.org/drawingml/2006/main">
            <a:r>
              <a:t>print("location")</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`location = "입구"` | 장소 문자열을 location이라는 이름에 연결합니다. |</a:t>
            </a:r>
          </a:p>
          <a:p xmlns:a="http://schemas.openxmlformats.org/drawingml/2006/main">
            <a:r>
              <a:t>| 2 | `temperature_c = 22.5` | 숫자 22.5를 temperature_c라는 이름에 연결합니다. |</a:t>
            </a:r>
          </a:p>
          <a:p xmlns:a="http://schemas.openxmlformats.org/drawingml/2006/main">
            <a:r>
              <a:t>| 3 | `print(location)` | 이름이 가리키는 장소 값을 보여 줍니다. |</a:t>
            </a:r>
          </a:p>
          <a:p xmlns:a="http://schemas.openxmlformats.org/drawingml/2006/main">
            <a:r>
              <a:t>| 4 | `print(temperature_c)` | 이름이 가리키는 온도 값을 보여 줍니다. |</a:t>
            </a:r>
          </a:p>
          <a:p xmlns:a="http://schemas.openxmlformats.org/drawingml/2006/main">
            <a:r>
              <a:t>| 5 | `print("location")` | 따옴표 안의 글자 location을 그대로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code/A04_example.py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work/A04_example.py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입구</a:t>
            </a:r>
          </a:p>
          <a:p xmlns:a="http://schemas.openxmlformats.org/drawingml/2006/main">
            <a:r>
              <a:t>22.5</a:t>
            </a:r>
          </a:p>
          <a:p xmlns:a="http://schemas.openxmlformats.org/drawingml/2006/main">
            <a:r>
              <a:t>location</a:t>
            </a:r>
          </a:p>
          <a:p xmlns:a="http://schemas.openxmlformats.org/drawingml/2006/main">
            <a:r>
              <a:t>```</a:t>
            </a:r>
          </a:p>
          <a:p xmlns:a="http://schemas.openxmlformats.org/drawingml/2006/main">
            <a:r>
              <a:t/>
            </a:r>
          </a:p>
          <a:p xmlns:a="http://schemas.openxmlformats.org/drawingml/2006/main">
            <a:r>
              <a:t>작은 수정: `입구`를 `창고`로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창고</a:t>
            </a:r>
          </a:p>
          <a:p xmlns:a="http://schemas.openxmlformats.org/drawingml/2006/main">
            <a:r>
              <a:t>22.5</a:t>
            </a:r>
          </a:p>
          <a:p xmlns:a="http://schemas.openxmlformats.org/drawingml/2006/main">
            <a:r>
              <a:t>location</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값과 이름을 서로 다른 색으로 표시합니다.</a:t>
            </a:r>
          </a:p>
          <a:p xmlns:a="http://schemas.openxmlformats.org/drawingml/2006/main">
            <a:r>
              <a:t>2. location을 창고로 바꾸면 변할 출력 줄을 먼저 고릅니다.</a:t>
            </a:r>
          </a:p>
          <a:p xmlns:a="http://schemas.openxmlformats.org/drawingml/2006/main">
            <a:r>
              <a:t>3. 작업본에서 문자열 한 곳만 바꾸고 저장·실행합니다.</a:t>
            </a:r>
          </a:p>
          <a:p xmlns:a="http://schemas.openxmlformats.org/drawingml/2006/main">
            <a:r>
              <a:t>4. 변하지 않은 두 출력 줄의 이유를 씁니다.</a:t>
            </a:r>
          </a:p>
          <a:p xmlns:a="http://schemas.openxmlformats.org/drawingml/2006/main">
            <a:r>
              <a:t/>
            </a:r>
          </a:p>
          <a:p xmlns:a="http://schemas.openxmlformats.org/drawingml/2006/main">
            <a:r>
              <a:t>예상 결과: 첫 출력만 창고로 바뀌고 온도와 글자 location은 유지됩니다.</a:t>
            </a:r>
          </a:p>
          <a:p xmlns:a="http://schemas.openxmlformats.org/drawingml/2006/main">
            <a:r>
              <a:t/>
            </a:r>
          </a:p>
          <a:p xmlns:a="http://schemas.openxmlformats.org/drawingml/2006/main">
            <a:r>
              <a:t>확인 질문: print(location)과 print("location")은 왜 다를까요?</a:t>
            </a:r>
          </a:p>
          <a:p xmlns:a="http://schemas.openxmlformats.org/drawingml/2006/main">
            <a:r>
              <a:t/>
            </a:r>
          </a:p>
          <a:p xmlns:a="http://schemas.openxmlformats.org/drawingml/2006/main">
            <a:r>
              <a:t>막혔을 때: NameError가 나오면 대문자·소문자와 밑줄을 비교하고 그 이름에 값을 연결한 줄이 먼저 실행되는지 확인합니다.</a:t>
            </a:r>
          </a:p>
          <a:p xmlns:a="http://schemas.openxmlformats.org/drawingml/2006/main">
            <a:r>
              <a:t/>
            </a:r>
          </a:p>
          <a:p xmlns:a="http://schemas.openxmlformats.org/drawingml/2006/main">
            <a:r>
              <a:t>[활동 자료와 작성칸](practice-guide.md#a04--변수는-값에-붙인-이름)에서 A04를 엽니다.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https://zeusk302-png.github.io/kdigital-physical-ai/#/sessions/2026-10-14/lesson?activity=A04</a:t>
            </a:r>
          </a:p>
          <a:p xmlns:a="http://schemas.openxmlformats.org/drawingml/2006/main">
            <a:r>
              <a:t>공식 자료: https://docs.python.org/3/tutorial/controlflow.html</a:t>
            </a:r>
          </a:p>
          <a:p xmlns:a="http://schemas.openxmlformats.org/drawingml/2006/main">
            <a:r>
              <a:t/>
            </a:r>
          </a:p>
          <a:p xmlns:a="http://schemas.openxmlformats.org/drawingml/2006/main">
            <a:r>
              <a:t>코드와 개념 해설: 따옴표 없는 location은 현재 값을 가져옵니다</a:t>
            </a:r>
          </a:p>
          <a:p xmlns:a="http://schemas.openxmlformats.org/drawingml/2006/main">
            <a:r>
              <a:t>"location"은 이름의 글자 자체입니다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A04 상세 원문]</a:t>
            </a:r>
          </a:p>
          <a:p xmlns:a="http://schemas.openxmlformats.org/drawingml/2006/main">
            <a:r>
              <a:t>### 사례로 이해하기 · 재고 갱신을 한 줄씩 추적하기</a:t>
            </a:r>
          </a:p>
          <a:p xmlns:a="http://schemas.openxmlformats.org/drawingml/2006/main">
            <a:r>
              <a:t/>
            </a:r>
          </a:p>
          <a:p xmlns:a="http://schemas.openxmlformats.org/drawingml/2006/main">
            <a:r>
              <a:t/>
            </a:r>
          </a:p>
          <a:p xmlns:a="http://schemas.openxmlformats.org/drawingml/2006/main">
            <a:r>
              <a:t/>
            </a:r>
          </a:p>
          <a:p xmlns:a="http://schemas.openxmlformats.org/drawingml/2006/main">
            <a:r>
              <a:t>창고에서 새 물품이 들어오고 일부가 나갑니다. 담당자는 ‘처음 8개, 입고 3개, 출고 2개’를 순서대로 기록합니다. Python에서는 현재 재고에 stock이라는 이름을 붙이고 각 작업이 끝날 때의 값을 연결합니다. 변수는 여러 값을 자동으로 보관하는 이력표가 아닙니다. 같은 이름에 새 값을 대입하면 그 시점의 값이 바뀝니다. 과거 기록이 필요하면 별도의 기록을 남겨야 합니다. 먼저 종이에 실행 줄·현재 값·출력 세 열을 만듭니다.</a:t>
            </a:r>
          </a:p>
          <a:p xmlns:a="http://schemas.openxmlformats.org/drawingml/2006/main">
            <a:r>
              <a:t/>
            </a:r>
          </a:p>
          <a:p xmlns:a="http://schemas.openxmlformats.org/drawingml/2006/main">
            <a:r>
              <a:t>이 사례의 완결 코드는 다음과 같습니다. work 폴더에 새 파일 E02_stock.py를 UTF-8로 저장하고 course 폴더의 터미널에서 `python -X utf8 work/E02_stock.py`를 실행합니다. 기존 파일을 덮어쓰지 않습니다.</a:t>
            </a:r>
          </a:p>
          <a:p xmlns:a="http://schemas.openxmlformats.org/drawingml/2006/main">
            <a:r>
              <a:t/>
            </a:r>
          </a:p>
          <a:p xmlns:a="http://schemas.openxmlformats.org/drawingml/2006/main">
            <a:r>
              <a:t>```python</a:t>
            </a:r>
          </a:p>
          <a:p xmlns:a="http://schemas.openxmlformats.org/drawingml/2006/main">
            <a:r>
              <a:t>stock = 8</a:t>
            </a:r>
          </a:p>
          <a:p xmlns:a="http://schemas.openxmlformats.org/drawingml/2006/main">
            <a:r>
              <a:t>stock = stock + 3</a:t>
            </a:r>
          </a:p>
          <a:p xmlns:a="http://schemas.openxmlformats.org/drawingml/2006/main">
            <a:r>
              <a:t>print(stock)</a:t>
            </a:r>
          </a:p>
          <a:p xmlns:a="http://schemas.openxmlformats.org/drawingml/2006/main">
            <a:r>
              <a:t>stock = stock - 2</a:t>
            </a:r>
          </a:p>
          <a:p xmlns:a="http://schemas.openxmlformats.org/drawingml/2006/main">
            <a:r>
              <a:t>print(stock)</a:t>
            </a:r>
          </a:p>
          <a:p xmlns:a="http://schemas.openxmlformats.org/drawingml/2006/main">
            <a:r>
              <a:t>```</a:t>
            </a:r>
          </a:p>
          <a:p xmlns:a="http://schemas.openxmlformats.org/drawingml/2006/main">
            <a:r>
              <a:t/>
            </a:r>
          </a:p>
          <a:p xmlns:a="http://schemas.openxmlformats.org/drawingml/2006/main">
            <a:r>
              <a:t>첫 줄은 stock에 정수 8을 연결합니다. 둘째 줄은 오른쪽의 현재 stock 8에 3을 더해 11을 만든 다음 왼쪽 이름에 연결합니다. 셋째 줄은 그때의 11을 화면에 표시합니다. 넷째 줄은 현재 11에서 2를 빼 9로 갱신합니다. 마지막 줄은 9를 출력합니다. 따라서 예상 출력은 첫 줄 11, 둘째 줄 9입니다. =는 수학의 양쪽이 같다는 설명이 아니라 오른쪽 계산 결과를 왼쪽 이름에 연결하는 대입 기호입니다.</a:t>
            </a:r>
          </a:p>
          <a:p xmlns:a="http://schemas.openxmlformats.org/drawingml/2006/main">
            <a:r>
              <a:t/>
            </a:r>
          </a:p>
          <a:p xmlns:a="http://schemas.openxmlformats.org/drawingml/2006/main">
            <a:r>
              <a:t>입고와 출고를 모두 처리한 뒤 출력 두 줄을 적는 것이 아니라 print를 만나는 순간의 값을 기록합니다. 뒤의 갱신이 이미 나온 첫 출력을 고치지는 않습니다. NameError이면 stock 철자와 대소문자, 처음 대입한 줄을 확인합니다. can't open file이면 작업 파일 저장 위치를 먼저 확인합니다. 실행 환경이 없으면 같은 추적표를 쓰고 강사 실행과 비교했다는 표시를 남깁니다.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물 12병을 준비하고 4병을 배부한 뒤 현재 수량을 안내합니다. 다시 6병을 받아 최종 수량을 안내합니다. 두 안내값과 세 번의 대입 뒤 현재 수량을 표로 작성하고, 두 print를 어디에 놓을지 판단하세요.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대입 뒤 현재 값은 12→8→14이고 안내값은 8과 14입니다. 배부 직후와 추가 입고 직후에 출력해야 합니다. 모든 대입 뒤에 같은 이름을 두 번 출력하면 14·14가 되어 중간 안내를 잃습니다.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**오른쪽 stock은 언제 읽나요?** 그 줄을 실행하는 시점에 연결된 현재 값을 먼저 읽습니다.</a:t>
            </a:r>
          </a:p>
          <a:p xmlns:a="http://schemas.openxmlformats.org/drawingml/2006/main">
            <a:r>
              <a:t/>
            </a:r>
          </a:p>
          <a:p xmlns:a="http://schemas.openxmlformats.org/drawingml/2006/main">
            <a:r>
              <a:t>2. **=는 ==와 같은가요?** =는 대입이고 ==는 같은지 비교하는 기호입니다.</a:t>
            </a:r>
          </a:p>
          <a:p xmlns:a="http://schemas.openxmlformats.org/drawingml/2006/main">
            <a:r>
              <a:t/>
            </a:r>
          </a:p>
          <a:p xmlns:a="http://schemas.openxmlformats.org/drawingml/2006/main">
            <a:r>
              <a:t>3. **나중 갱신이 이전 화면을 바꾸나요?** 이미 출력한 결과는 그때의 값으로 남습니다.</a:t>
            </a:r>
          </a:p>
          <a:p xmlns:a="http://schemas.openxmlformats.org/drawingml/2006/main">
            <a:r>
              <a:t/>
            </a:r>
          </a:p>
          <a:p xmlns:a="http://schemas.openxmlformats.org/drawingml/2006/main">
            <a:r>
              <a:t/>
            </a:r>
          </a:p>
          <a:p xmlns:a="http://schemas.openxmlformats.org/drawingml/2006/main">
            <a:r>
              <a:t>**개념.** 변수는 프로그램이 값을 다시 찾을 수 있도록 붙인 이름입니다. location = "입구"는 왼쪽 이름에 오른쪽 값을 연결합니다. 수학에서 등식의 양변이 같다는 주장과 Python의 대입 동작을 구별합니다.</a:t>
            </a:r>
          </a:p>
          <a:p xmlns:a="http://schemas.openxmlformats.org/drawingml/2006/main">
            <a:r>
              <a:t/>
            </a:r>
          </a:p>
          <a:p xmlns:a="http://schemas.openxmlformats.org/drawingml/2006/main">
            <a:r>
              <a:t>**왜 필요한가.** 값을 여러 번 사용할 때 이름을 붙이면 목적이 드러나고 한 곳에서 바꾸기 쉽습니다. 10/8의 표에서 location과 temperature_c라는 항목을 읽었던 경험을 코드 안의 이름으로 연결합니다.</a:t>
            </a:r>
          </a:p>
          <a:p xmlns:a="http://schemas.openxmlformats.org/drawingml/2006/main">
            <a:r>
              <a:t/>
            </a:r>
          </a:p>
          <a:p xmlns:a="http://schemas.openxmlformats.org/drawingml/2006/main">
            <a:r>
              <a:t>**함께 보는 예.** location과 temperature_c를 출력하면 이름 자체의 글자가 아니라 그 이름이 가리키는 값이 나옵니다. print("location")처럼 따옴표를 붙이면 이름을 찾지 않고 글자 location을 보여 줍니다.</a:t>
            </a:r>
          </a:p>
          <a:p xmlns:a="http://schemas.openxmlformats.org/drawingml/2006/main">
            <a:r>
              <a:t/>
            </a:r>
          </a:p>
          <a:p xmlns:a="http://schemas.openxmlformats.org/drawingml/2006/main">
            <a:r>
              <a:t>**헷갈리는 경우.** 한 이름이 무엇을 뜻하는지는 작성자가 정한 약속입니다. 온도를 x로 저장해도 실행될 수 있지만 업무 목적을 읽기 어렵습니다. 의미가 분명한 이름을 쓰되 이름만 보고 단위가 맞다고 단정하지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location = "입구"</a:t>
            </a:r>
          </a:p>
          <a:p xmlns:a="http://schemas.openxmlformats.org/drawingml/2006/main">
            <a:r>
              <a:t>temperature_c = 22.5</a:t>
            </a:r>
          </a:p>
          <a:p xmlns:a="http://schemas.openxmlformats.org/drawingml/2006/main">
            <a:r>
              <a:t>print(location)</a:t>
            </a:r>
          </a:p>
          <a:p xmlns:a="http://schemas.openxmlformats.org/drawingml/2006/main">
            <a:r>
              <a:t>print(temperature_c)</a:t>
            </a:r>
          </a:p>
          <a:p xmlns:a="http://schemas.openxmlformats.org/drawingml/2006/main">
            <a:r>
              <a:t>print("location")</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`location = "입구"` | 장소 문자열을 location이라는 이름에 연결합니다. |</a:t>
            </a:r>
          </a:p>
          <a:p xmlns:a="http://schemas.openxmlformats.org/drawingml/2006/main">
            <a:r>
              <a:t>| 2 | `temperature_c = 22.5` | 숫자 22.5를 temperature_c라는 이름에 연결합니다. |</a:t>
            </a:r>
          </a:p>
          <a:p xmlns:a="http://schemas.openxmlformats.org/drawingml/2006/main">
            <a:r>
              <a:t>| 3 | `print(location)` | 이름이 가리키는 장소 값을 보여 줍니다. |</a:t>
            </a:r>
          </a:p>
          <a:p xmlns:a="http://schemas.openxmlformats.org/drawingml/2006/main">
            <a:r>
              <a:t>| 4 | `print(temperature_c)` | 이름이 가리키는 온도 값을 보여 줍니다. |</a:t>
            </a:r>
          </a:p>
          <a:p xmlns:a="http://schemas.openxmlformats.org/drawingml/2006/main">
            <a:r>
              <a:t>| 5 | `print("location")` | 따옴표 안의 글자 location을 그대로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code/A04_example.py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work/A04_example.py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입구</a:t>
            </a:r>
          </a:p>
          <a:p xmlns:a="http://schemas.openxmlformats.org/drawingml/2006/main">
            <a:r>
              <a:t>22.5</a:t>
            </a:r>
          </a:p>
          <a:p xmlns:a="http://schemas.openxmlformats.org/drawingml/2006/main">
            <a:r>
              <a:t>location</a:t>
            </a:r>
          </a:p>
          <a:p xmlns:a="http://schemas.openxmlformats.org/drawingml/2006/main">
            <a:r>
              <a:t>```</a:t>
            </a:r>
          </a:p>
          <a:p xmlns:a="http://schemas.openxmlformats.org/drawingml/2006/main">
            <a:r>
              <a:t/>
            </a:r>
          </a:p>
          <a:p xmlns:a="http://schemas.openxmlformats.org/drawingml/2006/main">
            <a:r>
              <a:t>작은 수정: `입구`를 `창고`로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창고</a:t>
            </a:r>
          </a:p>
          <a:p xmlns:a="http://schemas.openxmlformats.org/drawingml/2006/main">
            <a:r>
              <a:t>22.5</a:t>
            </a:r>
          </a:p>
          <a:p xmlns:a="http://schemas.openxmlformats.org/drawingml/2006/main">
            <a:r>
              <a:t>location</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값과 이름을 서로 다른 색으로 표시합니다.</a:t>
            </a:r>
          </a:p>
          <a:p xmlns:a="http://schemas.openxmlformats.org/drawingml/2006/main">
            <a:r>
              <a:t>2. location을 창고로 바꾸면 변할 출력 줄을 먼저 고릅니다.</a:t>
            </a:r>
          </a:p>
          <a:p xmlns:a="http://schemas.openxmlformats.org/drawingml/2006/main">
            <a:r>
              <a:t>3. 작업본에서 문자열 한 곳만 바꾸고 저장·실행합니다.</a:t>
            </a:r>
          </a:p>
          <a:p xmlns:a="http://schemas.openxmlformats.org/drawingml/2006/main">
            <a:r>
              <a:t>4. 변하지 않은 두 출력 줄의 이유를 씁니다.</a:t>
            </a:r>
          </a:p>
          <a:p xmlns:a="http://schemas.openxmlformats.org/drawingml/2006/main">
            <a:r>
              <a:t/>
            </a:r>
          </a:p>
          <a:p xmlns:a="http://schemas.openxmlformats.org/drawingml/2006/main">
            <a:r>
              <a:t>예상 결과: 첫 출력만 창고로 바뀌고 온도와 글자 location은 유지됩니다.</a:t>
            </a:r>
          </a:p>
          <a:p xmlns:a="http://schemas.openxmlformats.org/drawingml/2006/main">
            <a:r>
              <a:t/>
            </a:r>
          </a:p>
          <a:p xmlns:a="http://schemas.openxmlformats.org/drawingml/2006/main">
            <a:r>
              <a:t>확인 질문: print(location)과 print("location")은 왜 다를까요?</a:t>
            </a:r>
          </a:p>
          <a:p xmlns:a="http://schemas.openxmlformats.org/drawingml/2006/main">
            <a:r>
              <a:t/>
            </a:r>
          </a:p>
          <a:p xmlns:a="http://schemas.openxmlformats.org/drawingml/2006/main">
            <a:r>
              <a:t>막혔을 때: NameError가 나오면 대문자·소문자와 밑줄을 비교하고 그 이름에 값을 연결한 줄이 먼저 실행되는지 확인합니다.</a:t>
            </a:r>
          </a:p>
          <a:p xmlns:a="http://schemas.openxmlformats.org/drawingml/2006/main">
            <a:r>
              <a:t/>
            </a:r>
          </a:p>
          <a:p xmlns:a="http://schemas.openxmlformats.org/drawingml/2006/main">
            <a:r>
              <a:t>[활동 자료와 작성칸](practice-guide.md#a04--변수는-값에-붙인-이름)에서 A04를 엽니다.</a:t>
            </a:r>
          </a:p>
          <a:p xmlns:a="http://schemas.openxmlformats.org/drawingml/2006/main">
            <a:r>
              <a:t/>
            </a:r>
          </a:p>
          <a:p xmlns:a="http://schemas.openxmlformats.org/drawingml/2006/main">
            <a:r>
              <a:t>화면 예의 출처: D:/KDigital_PhysicalAI/.build/copyedited-ppt/spec-2026-10-14.json#slide-22;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https://zeusk302-png.github.io/kdigital-physical-ai/#/sessions/2026-10-14/lesson?activity=A04</a:t>
            </a:r>
          </a:p>
          <a:p xmlns:a="http://schemas.openxmlformats.org/drawingml/2006/main">
            <a:r>
              <a:t>공식 자료: https://docs.python.org/3/tutorial/controlflow.html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A04 제공 코드 출력입니다. 장소를 창고로 바꾸면 첫 줄만 창고가 되고 온도와 글자 location은 그대로입니다.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https://docs.python.org/3/tutorial/controlflow.html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code/A05_example.py</a:t>
            </a:r>
          </a:p>
          <a:p xmlns:a="http://schemas.openxmlformats.org/drawingml/2006/main">
            <a:r>
              <a:t>수정한 파일을 실행할 때는 code 대신 work 폴더를 지정합니다. 직접 실행할 수 없으면 입력값부터 코드의 처리 순서를 따라 적고 강사의 결과와 비교합니다.</a:t>
            </a:r>
          </a:p>
          <a:p xmlns:a="http://schemas.openxmlformats.org/drawingml/2006/main">
            <a:r>
              <a:t/>
            </a:r>
          </a:p>
          <a:p xmlns:a="http://schemas.openxmlformats.org/drawingml/2006/main">
            <a:r>
              <a:t>[활동 A05 상세 원문]</a:t>
            </a:r>
          </a:p>
          <a:p xmlns:a="http://schemas.openxmlformats.org/drawingml/2006/main">
            <a:r>
              <a:t>**개념.** 코드는 위에서 아래로 실행됩니다. 같은 이름에 새 값을 대입하면 이후에 그 이름을 읽을 때 새 값을 사용합니다. 이전 출력은 이미 화면에 남은 결과이며 새 대입이 과거 화면을 다시 계산하지는 않습니다.</a:t>
            </a:r>
          </a:p>
          <a:p xmlns:a="http://schemas.openxmlformats.org/drawingml/2006/main">
            <a:r>
              <a:t/>
            </a:r>
          </a:p>
          <a:p xmlns:a="http://schemas.openxmlformats.org/drawingml/2006/main">
            <a:r>
              <a:t>**왜 필요한가.** 업무 기록을 갱신하는 코드의 순서를 이해하려면 어느 시점의 값을 보고 있는지 추적해야 합니다. 이름은 같은데 출력이 다른 상황을 오류로 오해하지 않도록 한 줄씩 현재 값을 적습니다.</a:t>
            </a:r>
          </a:p>
          <a:p xmlns:a="http://schemas.openxmlformats.org/drawingml/2006/main">
            <a:r>
              <a:t/>
            </a:r>
          </a:p>
          <a:p xmlns:a="http://schemas.openxmlformats.org/drawingml/2006/main">
            <a:r>
              <a:t>**함께 보는 예.** 아래 코드에서 첫 출력은 22.5이고, 새 대입 다음 출력은 24.0입니다. 이 순서를 작업 전·작업 후 카드로 나누면 값 변화가 보입니다.</a:t>
            </a:r>
          </a:p>
          <a:p xmlns:a="http://schemas.openxmlformats.org/drawingml/2006/main">
            <a:r>
              <a:t/>
            </a:r>
          </a:p>
          <a:p xmlns:a="http://schemas.openxmlformats.org/drawingml/2006/main">
            <a:r>
              <a:t>**헷갈리는 경우.** temperature_c = temperature_c + 1은 양변이 같다는 수학식이 아닙니다. 기존 값을 읽고 1을 더한 결과를 같은 이름에 다시 연결하는 명령입니다. 이 활동에서는 단순 재대입부터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22.5</a:t>
            </a:r>
          </a:p>
          <a:p xmlns:a="http://schemas.openxmlformats.org/drawingml/2006/main">
            <a:r>
              <a:t>print(temperature_c)</a:t>
            </a:r>
          </a:p>
          <a:p xmlns:a="http://schemas.openxmlformats.org/drawingml/2006/main">
            <a:r>
              <a:t>temperature_c = 24.0</a:t>
            </a:r>
          </a:p>
          <a:p xmlns:a="http://schemas.openxmlformats.org/drawingml/2006/main">
            <a:r>
              <a:t>print(temperature_c)</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22.5` | 처음 온도를 22.5로 정합니다. |</a:t>
            </a:r>
          </a:p>
          <a:p xmlns:a="http://schemas.openxmlformats.org/drawingml/2006/main">
            <a:r>
              <a:t>| 2 | `print(temperature_c)` | 현재 값을 출력합니다. |</a:t>
            </a:r>
          </a:p>
          <a:p xmlns:a="http://schemas.openxmlformats.org/drawingml/2006/main">
            <a:r>
              <a:t>| 3 | `temperature_c = 24.0` | 같은 이름에 새 값 24.0을 연결합니다. |</a:t>
            </a:r>
          </a:p>
          <a:p xmlns:a="http://schemas.openxmlformats.org/drawingml/2006/main">
            <a:r>
              <a:t>| 4 | `print(temperature_c)` | 새로 연결된 현재 값을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code/A05_example.py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work/A05_example.py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24.0</a:t>
            </a:r>
          </a:p>
          <a:p xmlns:a="http://schemas.openxmlformats.org/drawingml/2006/main">
            <a:r>
              <a:t>```</a:t>
            </a:r>
          </a:p>
          <a:p xmlns:a="http://schemas.openxmlformats.org/drawingml/2006/main">
            <a:r>
              <a:t/>
            </a:r>
          </a:p>
          <a:p xmlns:a="http://schemas.openxmlformats.org/drawingml/2006/main">
            <a:r>
              <a:t>작은 수정: `24.0`를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25.0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각 줄 실행 뒤 현재 temperature_c 값을 표에 적습니다.</a:t>
            </a:r>
          </a:p>
          <a:p xmlns:a="http://schemas.openxmlformats.org/drawingml/2006/main">
            <a:r>
              <a:t>2. 두 번째 대입값을 25.0으로 바꿀 때 출력 두 줄을 예상합니다.</a:t>
            </a:r>
          </a:p>
          <a:p xmlns:a="http://schemas.openxmlformats.org/drawingml/2006/main">
            <a:r>
              <a:t>3. 작업본을 수정해 실행하거나 강사 실행과 대조합니다.</a:t>
            </a:r>
          </a:p>
          <a:p xmlns:a="http://schemas.openxmlformats.org/drawingml/2006/main">
            <a:r>
              <a:t>4. 첫 출력이 그대로인 이유를 자신의 말로 씁니다.</a:t>
            </a:r>
          </a:p>
          <a:p xmlns:a="http://schemas.openxmlformats.org/drawingml/2006/main">
            <a:r>
              <a:t/>
            </a:r>
          </a:p>
          <a:p xmlns:a="http://schemas.openxmlformats.org/drawingml/2006/main">
            <a:r>
              <a:t>예상 결과: 첫 출력 22.5, 둘째 출력 25.0.</a:t>
            </a:r>
          </a:p>
          <a:p xmlns:a="http://schemas.openxmlformats.org/drawingml/2006/main">
            <a:r>
              <a:t/>
            </a:r>
          </a:p>
          <a:p xmlns:a="http://schemas.openxmlformats.org/drawingml/2006/main">
            <a:r>
              <a:t>확인 질문: 마지막 print를 첫 대입 앞에 옮기면 어떤 문제가 생길까요?</a:t>
            </a:r>
          </a:p>
          <a:p xmlns:a="http://schemas.openxmlformats.org/drawingml/2006/main">
            <a:r>
              <a:t/>
            </a:r>
          </a:p>
          <a:p xmlns:a="http://schemas.openxmlformats.org/drawingml/2006/main">
            <a:r>
              <a:t>막혔을 때: 값이 예상과 다르면 실행 순서대로 현재 값을 다시 써 봅니다. 편집기의 위치와 실제 실행 순서를 건너뛰지 않습니다.</a:t>
            </a:r>
          </a:p>
          <a:p xmlns:a="http://schemas.openxmlformats.org/drawingml/2006/main">
            <a:r>
              <a:t/>
            </a:r>
          </a:p>
          <a:p xmlns:a="http://schemas.openxmlformats.org/drawingml/2006/main">
            <a:r>
              <a:t>[활동 자료와 작성칸](practice-guide.md#a05--다시-대입하면-현재-값이-바뀐다)에서 A05를 엽니다.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https://zeusk302-png.github.io/kdigital-physical-ai/#/sessions/2026-10-14/lesson?activity=A05</a:t>
            </a:r>
          </a:p>
          <a:p xmlns:a="http://schemas.openxmlformats.org/drawingml/2006/main">
            <a:r>
              <a:t>공식 자료: https://docs.python.org/3/tutorial/controlflow.html</a:t>
            </a:r>
          </a:p>
          <a:p xmlns:a="http://schemas.openxmlformats.org/drawingml/2006/main">
            <a:r>
              <a:t/>
            </a:r>
          </a:p>
          <a:p xmlns:a="http://schemas.openxmlformats.org/drawingml/2006/main">
            <a:r>
              <a:t>코드와 개념 해설: 첫 print 이후의 대입은 첫 출력을 바꾸지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A05 상세 원문]</a:t>
            </a:r>
          </a:p>
          <a:p xmlns:a="http://schemas.openxmlformats.org/drawingml/2006/main">
            <a:r>
              <a:t>**개념.** 코드는 위에서 아래로 실행됩니다. 같은 이름에 새 값을 대입하면 이후에 그 이름을 읽을 때 새 값을 사용합니다. 이전 출력은 이미 화면에 남은 결과이며 새 대입이 과거 화면을 다시 계산하지는 않습니다.</a:t>
            </a:r>
          </a:p>
          <a:p xmlns:a="http://schemas.openxmlformats.org/drawingml/2006/main">
            <a:r>
              <a:t/>
            </a:r>
          </a:p>
          <a:p xmlns:a="http://schemas.openxmlformats.org/drawingml/2006/main">
            <a:r>
              <a:t>**왜 필요한가.** 업무 기록을 갱신하는 코드의 순서를 이해하려면 어느 시점의 값을 보고 있는지 추적해야 합니다. 이름은 같은데 출력이 다른 상황을 오류로 오해하지 않도록 한 줄씩 현재 값을 적습니다.</a:t>
            </a:r>
          </a:p>
          <a:p xmlns:a="http://schemas.openxmlformats.org/drawingml/2006/main">
            <a:r>
              <a:t/>
            </a:r>
          </a:p>
          <a:p xmlns:a="http://schemas.openxmlformats.org/drawingml/2006/main">
            <a:r>
              <a:t>**함께 보는 예.** 아래 코드에서 첫 출력은 22.5이고, 새 대입 다음 출력은 24.0입니다. 이 순서를 작업 전·작업 후 카드로 나누면 값 변화가 보입니다.</a:t>
            </a:r>
          </a:p>
          <a:p xmlns:a="http://schemas.openxmlformats.org/drawingml/2006/main">
            <a:r>
              <a:t/>
            </a:r>
          </a:p>
          <a:p xmlns:a="http://schemas.openxmlformats.org/drawingml/2006/main">
            <a:r>
              <a:t>**헷갈리는 경우.** temperature_c = temperature_c + 1은 양변이 같다는 수학식이 아닙니다. 기존 값을 읽고 1을 더한 결과를 같은 이름에 다시 연결하는 명령입니다. 이 활동에서는 단순 재대입부터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22.5</a:t>
            </a:r>
          </a:p>
          <a:p xmlns:a="http://schemas.openxmlformats.org/drawingml/2006/main">
            <a:r>
              <a:t>print(temperature_c)</a:t>
            </a:r>
          </a:p>
          <a:p xmlns:a="http://schemas.openxmlformats.org/drawingml/2006/main">
            <a:r>
              <a:t>temperature_c = 24.0</a:t>
            </a:r>
          </a:p>
          <a:p xmlns:a="http://schemas.openxmlformats.org/drawingml/2006/main">
            <a:r>
              <a:t>print(temperature_c)</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22.5` | 처음 온도를 22.5로 정합니다. |</a:t>
            </a:r>
          </a:p>
          <a:p xmlns:a="http://schemas.openxmlformats.org/drawingml/2006/main">
            <a:r>
              <a:t>| 2 | `print(temperature_c)` | 현재 값을 출력합니다. |</a:t>
            </a:r>
          </a:p>
          <a:p xmlns:a="http://schemas.openxmlformats.org/drawingml/2006/main">
            <a:r>
              <a:t>| 3 | `temperature_c = 24.0` | 같은 이름에 새 값 24.0을 연결합니다. |</a:t>
            </a:r>
          </a:p>
          <a:p xmlns:a="http://schemas.openxmlformats.org/drawingml/2006/main">
            <a:r>
              <a:t>| 4 | `print(temperature_c)` | 새로 연결된 현재 값을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code/A05_example.py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work/A05_example.py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24.0</a:t>
            </a:r>
          </a:p>
          <a:p xmlns:a="http://schemas.openxmlformats.org/drawingml/2006/main">
            <a:r>
              <a:t>```</a:t>
            </a:r>
          </a:p>
          <a:p xmlns:a="http://schemas.openxmlformats.org/drawingml/2006/main">
            <a:r>
              <a:t/>
            </a:r>
          </a:p>
          <a:p xmlns:a="http://schemas.openxmlformats.org/drawingml/2006/main">
            <a:r>
              <a:t>작은 수정: `24.0`를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25.0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각 줄 실행 뒤 현재 temperature_c 값을 표에 적습니다.</a:t>
            </a:r>
          </a:p>
          <a:p xmlns:a="http://schemas.openxmlformats.org/drawingml/2006/main">
            <a:r>
              <a:t>2. 두 번째 대입값을 25.0으로 바꿀 때 출력 두 줄을 예상합니다.</a:t>
            </a:r>
          </a:p>
          <a:p xmlns:a="http://schemas.openxmlformats.org/drawingml/2006/main">
            <a:r>
              <a:t>3. 작업본을 수정해 실행하거나 강사 실행과 대조합니다.</a:t>
            </a:r>
          </a:p>
          <a:p xmlns:a="http://schemas.openxmlformats.org/drawingml/2006/main">
            <a:r>
              <a:t>4. 첫 출력이 그대로인 이유를 자신의 말로 씁니다.</a:t>
            </a:r>
          </a:p>
          <a:p xmlns:a="http://schemas.openxmlformats.org/drawingml/2006/main">
            <a:r>
              <a:t/>
            </a:r>
          </a:p>
          <a:p xmlns:a="http://schemas.openxmlformats.org/drawingml/2006/main">
            <a:r>
              <a:t>예상 결과: 첫 출력 22.5, 둘째 출력 25.0.</a:t>
            </a:r>
          </a:p>
          <a:p xmlns:a="http://schemas.openxmlformats.org/drawingml/2006/main">
            <a:r>
              <a:t/>
            </a:r>
          </a:p>
          <a:p xmlns:a="http://schemas.openxmlformats.org/drawingml/2006/main">
            <a:r>
              <a:t>확인 질문: 마지막 print를 첫 대입 앞에 옮기면 어떤 문제가 생길까요?</a:t>
            </a:r>
          </a:p>
          <a:p xmlns:a="http://schemas.openxmlformats.org/drawingml/2006/main">
            <a:r>
              <a:t/>
            </a:r>
          </a:p>
          <a:p xmlns:a="http://schemas.openxmlformats.org/drawingml/2006/main">
            <a:r>
              <a:t>막혔을 때: 값이 예상과 다르면 실행 순서대로 현재 값을 다시 써 봅니다. 편집기의 위치와 실제 실행 순서를 건너뛰지 않습니다.</a:t>
            </a:r>
          </a:p>
          <a:p xmlns:a="http://schemas.openxmlformats.org/drawingml/2006/main">
            <a:r>
              <a:t/>
            </a:r>
          </a:p>
          <a:p xmlns:a="http://schemas.openxmlformats.org/drawingml/2006/main">
            <a:r>
              <a:t>[활동 자료와 작성칸](practice-guide.md#a05--다시-대입하면-현재-값이-바뀐다)에서 A05를 엽니다.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https://zeusk302-png.github.io/kdigital-physical-ai/#/sessions/2026-10-14/lesson?activity=A05</a:t>
            </a:r>
          </a:p>
          <a:p xmlns:a="http://schemas.openxmlformats.org/drawingml/2006/main">
            <a:r>
              <a:t>공식 자료: https://docs.python.org/3/tutorial/controlflow.html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A05 상세 원문]</a:t>
            </a:r>
          </a:p>
          <a:p xmlns:a="http://schemas.openxmlformats.org/drawingml/2006/main">
            <a:r>
              <a:t>**개념.** 코드는 위에서 아래로 실행됩니다. 같은 이름에 새 값을 대입하면 이후에 그 이름을 읽을 때 새 값을 사용합니다. 이전 출력은 이미 화면에 남은 결과이며 새 대입이 과거 화면을 다시 계산하지는 않습니다.</a:t>
            </a:r>
          </a:p>
          <a:p xmlns:a="http://schemas.openxmlformats.org/drawingml/2006/main">
            <a:r>
              <a:t/>
            </a:r>
          </a:p>
          <a:p xmlns:a="http://schemas.openxmlformats.org/drawingml/2006/main">
            <a:r>
              <a:t>**왜 필요한가.** 업무 기록을 갱신하는 코드의 순서를 이해하려면 어느 시점의 값을 보고 있는지 추적해야 합니다. 이름은 같은데 출력이 다른 상황을 오류로 오해하지 않도록 한 줄씩 현재 값을 적습니다.</a:t>
            </a:r>
          </a:p>
          <a:p xmlns:a="http://schemas.openxmlformats.org/drawingml/2006/main">
            <a:r>
              <a:t/>
            </a:r>
          </a:p>
          <a:p xmlns:a="http://schemas.openxmlformats.org/drawingml/2006/main">
            <a:r>
              <a:t>**함께 보는 예.** 아래 코드에서 첫 출력은 22.5이고, 새 대입 다음 출력은 24.0입니다. 이 순서를 작업 전·작업 후 카드로 나누면 값 변화가 보입니다.</a:t>
            </a:r>
          </a:p>
          <a:p xmlns:a="http://schemas.openxmlformats.org/drawingml/2006/main">
            <a:r>
              <a:t/>
            </a:r>
          </a:p>
          <a:p xmlns:a="http://schemas.openxmlformats.org/drawingml/2006/main">
            <a:r>
              <a:t>**헷갈리는 경우.** temperature_c = temperature_c + 1은 양변이 같다는 수학식이 아닙니다. 기존 값을 읽고 1을 더한 결과를 같은 이름에 다시 연결하는 명령입니다. 이 활동에서는 단순 재대입부터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22.5</a:t>
            </a:r>
          </a:p>
          <a:p xmlns:a="http://schemas.openxmlformats.org/drawingml/2006/main">
            <a:r>
              <a:t>print(temperature_c)</a:t>
            </a:r>
          </a:p>
          <a:p xmlns:a="http://schemas.openxmlformats.org/drawingml/2006/main">
            <a:r>
              <a:t>temperature_c = 24.0</a:t>
            </a:r>
          </a:p>
          <a:p xmlns:a="http://schemas.openxmlformats.org/drawingml/2006/main">
            <a:r>
              <a:t>print(temperature_c)</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22.5` | 처음 온도를 22.5로 정합니다. |</a:t>
            </a:r>
          </a:p>
          <a:p xmlns:a="http://schemas.openxmlformats.org/drawingml/2006/main">
            <a:r>
              <a:t>| 2 | `print(temperature_c)` | 현재 값을 출력합니다. |</a:t>
            </a:r>
          </a:p>
          <a:p xmlns:a="http://schemas.openxmlformats.org/drawingml/2006/main">
            <a:r>
              <a:t>| 3 | `temperature_c = 24.0` | 같은 이름에 새 값 24.0을 연결합니다. |</a:t>
            </a:r>
          </a:p>
          <a:p xmlns:a="http://schemas.openxmlformats.org/drawingml/2006/main">
            <a:r>
              <a:t>| 4 | `print(temperature_c)` | 새로 연결된 현재 값을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code/A05_example.py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work/A05_example.py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24.0</a:t>
            </a:r>
          </a:p>
          <a:p xmlns:a="http://schemas.openxmlformats.org/drawingml/2006/main">
            <a:r>
              <a:t>```</a:t>
            </a:r>
          </a:p>
          <a:p xmlns:a="http://schemas.openxmlformats.org/drawingml/2006/main">
            <a:r>
              <a:t/>
            </a:r>
          </a:p>
          <a:p xmlns:a="http://schemas.openxmlformats.org/drawingml/2006/main">
            <a:r>
              <a:t>작은 수정: `24.0`를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25.0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각 줄 실행 뒤 현재 temperature_c 값을 표에 적습니다.</a:t>
            </a:r>
          </a:p>
          <a:p xmlns:a="http://schemas.openxmlformats.org/drawingml/2006/main">
            <a:r>
              <a:t>2. 두 번째 대입값을 25.0으로 바꿀 때 출력 두 줄을 예상합니다.</a:t>
            </a:r>
          </a:p>
          <a:p xmlns:a="http://schemas.openxmlformats.org/drawingml/2006/main">
            <a:r>
              <a:t>3. 작업본을 수정해 실행하거나 강사 실행과 대조합니다.</a:t>
            </a:r>
          </a:p>
          <a:p xmlns:a="http://schemas.openxmlformats.org/drawingml/2006/main">
            <a:r>
              <a:t>4. 첫 출력이 그대로인 이유를 자신의 말로 씁니다.</a:t>
            </a:r>
          </a:p>
          <a:p xmlns:a="http://schemas.openxmlformats.org/drawingml/2006/main">
            <a:r>
              <a:t/>
            </a:r>
          </a:p>
          <a:p xmlns:a="http://schemas.openxmlformats.org/drawingml/2006/main">
            <a:r>
              <a:t>예상 결과: 첫 출력 22.5, 둘째 출력 25.0.</a:t>
            </a:r>
          </a:p>
          <a:p xmlns:a="http://schemas.openxmlformats.org/drawingml/2006/main">
            <a:r>
              <a:t/>
            </a:r>
          </a:p>
          <a:p xmlns:a="http://schemas.openxmlformats.org/drawingml/2006/main">
            <a:r>
              <a:t>확인 질문: 마지막 print를 첫 대입 앞에 옮기면 어떤 문제가 생길까요?</a:t>
            </a:r>
          </a:p>
          <a:p xmlns:a="http://schemas.openxmlformats.org/drawingml/2006/main">
            <a:r>
              <a:t/>
            </a:r>
          </a:p>
          <a:p xmlns:a="http://schemas.openxmlformats.org/drawingml/2006/main">
            <a:r>
              <a:t>막혔을 때: 값이 예상과 다르면 실행 순서대로 현재 값을 다시 써 봅니다. 편집기의 위치와 실제 실행 순서를 건너뛰지 않습니다.</a:t>
            </a:r>
          </a:p>
          <a:p xmlns:a="http://schemas.openxmlformats.org/drawingml/2006/main">
            <a:r>
              <a:t/>
            </a:r>
          </a:p>
          <a:p xmlns:a="http://schemas.openxmlformats.org/drawingml/2006/main">
            <a:r>
              <a:t>[활동 자료와 작성칸](practice-guide.md#a05--다시-대입하면-현재-값이-바뀐다)에서 A05를 엽니다.</a:t>
            </a:r>
          </a:p>
          <a:p xmlns:a="http://schemas.openxmlformats.org/drawingml/2006/main">
            <a:r>
              <a:t/>
            </a:r>
          </a:p>
          <a:p xmlns:a="http://schemas.openxmlformats.org/drawingml/2006/main">
            <a:r>
              <a:t>화면 예의 출처: D:/KDigital_PhysicalAI/.build/copyedited-ppt/spec-2026-10-14.json#slide-26;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https://zeusk302-png.github.io/kdigital-physical-ai/#/sessions/2026-10-14/lesson?activity=A05</a:t>
            </a:r>
          </a:p>
          <a:p xmlns:a="http://schemas.openxmlformats.org/drawingml/2006/main">
            <a:r>
              <a:t>공식 자료: https://docs.python.org/3/tutorial/controlflow.html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code/A06_example.py</a:t>
            </a:r>
          </a:p>
          <a:p xmlns:a="http://schemas.openxmlformats.org/drawingml/2006/main">
            <a:r>
              <a:t>수정한 파일을 실행할 때는 code 대신 work 폴더를 지정합니다. 직접 실행할 수 없으면 입력값부터 코드의 처리 순서를 따라 적고 강사의 결과와 비교합니다.</a:t>
            </a:r>
          </a:p>
          <a:p xmlns:a="http://schemas.openxmlformats.org/drawingml/2006/main">
            <a:r>
              <a:t/>
            </a:r>
          </a:p>
          <a:p xmlns:a="http://schemas.openxmlformats.org/drawingml/2006/main">
            <a:r>
              <a:t>[활동 A06 상세 원문]</a:t>
            </a:r>
          </a:p>
          <a:p xmlns:a="http://schemas.openxmlformats.org/drawingml/2006/main">
            <a:r>
              <a:t>**개념.** 오류를 고치는 일은 프로그램을 무작정 바꾸는 것이 아니라 보이는 단서로 원인을 좁히는 작업입니다. NameError는 실행 중 찾으려는 이름을 알 수 없다는 뜻입니다.</a:t>
            </a:r>
          </a:p>
          <a:p xmlns:a="http://schemas.openxmlformats.org/drawingml/2006/main">
            <a:r>
              <a:t/>
            </a:r>
          </a:p>
          <a:p xmlns:a="http://schemas.openxmlformats.org/drawingml/2006/main">
            <a:r>
              <a:t>**왜 필요한가.** 변수의 철자가 다르면 컴퓨터는 서로 다른 이름으로 취급합니다. 업무 의미가 같아 보인다는 이유로 temp와 temperature_c를 자동 연결하지 않습니다. 작성한 이름과 사용한 이름의 일치를 확인해야 합니다.</a:t>
            </a:r>
          </a:p>
          <a:p xmlns:a="http://schemas.openxmlformats.org/drawingml/2006/main">
            <a:r>
              <a:t/>
            </a:r>
          </a:p>
          <a:p xmlns:a="http://schemas.openxmlformats.org/drawingml/2006/main">
            <a:r>
              <a:t>**함께 보는 예.** 아래 정상 예는 sensor_id와 temperature_c를 각각 정의한 뒤 출력합니다. 고의 오류 카드에는 print(temperature)가 있으며, 정의된 이름은 temperature_c뿐입니다.</a:t>
            </a:r>
          </a:p>
          <a:p xmlns:a="http://schemas.openxmlformats.org/drawingml/2006/main">
            <a:r>
              <a:t/>
            </a:r>
          </a:p>
          <a:p xmlns:a="http://schemas.openxmlformats.org/drawingml/2006/main">
            <a:r>
              <a:t>**헷갈리는 경우.** 오류를 없애려고 새 변수 temperature = 0을 무조건 추가하면 원래 온도가 아닌 0이 출력될 수 있습니다. 의도한 값이 어떤 이름에 들어 있는지 먼저 찾아야 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sensor_id = "S01"</a:t>
            </a:r>
          </a:p>
          <a:p xmlns:a="http://schemas.openxmlformats.org/drawingml/2006/main">
            <a:r>
              <a:t>temperature_c = 22.5</a:t>
            </a:r>
          </a:p>
          <a:p xmlns:a="http://schemas.openxmlformats.org/drawingml/2006/main">
            <a:r>
              <a:t>print(sensor_id, temperature_c)</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`sensor_id = "S01"` | 센서를 구별할 문자열을 정합니다. |</a:t>
            </a:r>
          </a:p>
          <a:p xmlns:a="http://schemas.openxmlformats.org/drawingml/2006/main">
            <a:r>
              <a:t>| 2 | `temperature_c = 22.5` | 섭씨 온도 값을 정합니다. |</a:t>
            </a:r>
          </a:p>
          <a:p xmlns:a="http://schemas.openxmlformats.org/drawingml/2006/main">
            <a:r>
              <a:t>| 3 | `print(sensor_id, temperature_c)` | 두 이름이 가리키는 값을 함께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code/A06_example.py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work/A06_example.py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data/A06_input.md의 오류 코드에서 정의한 이름과 사용하는 이름을 표시합니다.</a:t>
            </a:r>
          </a:p>
          <a:p xmlns:a="http://schemas.openxmlformats.org/drawingml/2006/main">
            <a:r>
              <a:t>2. 원래 뜻을 유지하는 수정 한 곳을 정합니다.</a:t>
            </a:r>
          </a:p>
          <a:p xmlns:a="http://schemas.openxmlformats.org/drawingml/2006/main">
            <a:r>
              <a:t>3. work의 정상 예와 비교하며 수정안을 적고 실행 결과를 확인합니다.</a:t>
            </a:r>
          </a:p>
          <a:p xmlns:a="http://schemas.openxmlformats.org/drawingml/2006/main">
            <a:r>
              <a:t>4. 원인·수정 위치·다시 확인한 출력을 노트에 기록합니다.</a:t>
            </a:r>
          </a:p>
          <a:p xmlns:a="http://schemas.openxmlformats.org/drawingml/2006/main">
            <a:r>
              <a:t/>
            </a:r>
          </a:p>
          <a:p xmlns:a="http://schemas.openxmlformats.org/drawingml/2006/main">
            <a:r>
              <a:t>예상 결과: temperature를 temperature_c로 맞추면 S01 22.5가 출력됩니다.</a:t>
            </a:r>
          </a:p>
          <a:p xmlns:a="http://schemas.openxmlformats.org/drawingml/2006/main">
            <a:r>
              <a:t/>
            </a:r>
          </a:p>
          <a:p xmlns:a="http://schemas.openxmlformats.org/drawingml/2006/main">
            <a:r>
              <a:t>확인 질문: 오류가 사라졌다는 것만으로 올바른 수정이라고 할 수 있나요?</a:t>
            </a:r>
          </a:p>
          <a:p xmlns:a="http://schemas.openxmlformats.org/drawingml/2006/main">
            <a:r>
              <a:t/>
            </a:r>
          </a:p>
          <a:p xmlns:a="http://schemas.openxmlformats.org/drawingml/2006/main">
            <a:r>
              <a:t>막혔을 때: 철자 차이를 찾지 못하면 이름을 한 글자씩 비교합니다. 영문 대소문자와 밑줄도 이름의 일부입니다.</a:t>
            </a:r>
          </a:p>
          <a:p xmlns:a="http://schemas.openxmlformats.org/drawingml/2006/main">
            <a:r>
              <a:t/>
            </a:r>
          </a:p>
          <a:p xmlns:a="http://schemas.openxmlformats.org/drawingml/2006/main">
            <a:r>
              <a:t>[활동 자료와 작성칸](practice-guide.md#a06--이름-오류를-근거로-고치기)에서 A06를 엽니다.</a:t>
            </a:r>
          </a:p>
          <a:p xmlns:a="http://schemas.openxmlformats.org/drawingml/2006/main">
            <a:r>
              <a:t/>
            </a:r>
          </a:p>
          <a:p xmlns:a="http://schemas.openxmlformats.org/drawingml/2006/main">
            <a:r>
              <a:t># 3구간 · 문자와 숫자의 연산</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https://zeusk302-png.github.io/kdigital-physical-ai/#/sessions/2026-10-14/lesson?activity=A06</a:t>
            </a:r>
          </a:p>
          <a:p xmlns:a="http://schemas.openxmlformats.org/drawingml/2006/main">
            <a:r>
              <a:t>공식 자료: https://docs.python.org/3/tutorial/controlflow.html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A06 상세 원문]</a:t>
            </a:r>
          </a:p>
          <a:p xmlns:a="http://schemas.openxmlformats.org/drawingml/2006/main">
            <a:r>
              <a:t>**개념.** 오류를 고치는 일은 프로그램을 무작정 바꾸는 것이 아니라 보이는 단서로 원인을 좁히는 작업입니다. NameError는 실행 중 찾으려는 이름을 알 수 없다는 뜻입니다.</a:t>
            </a:r>
          </a:p>
          <a:p xmlns:a="http://schemas.openxmlformats.org/drawingml/2006/main">
            <a:r>
              <a:t/>
            </a:r>
          </a:p>
          <a:p xmlns:a="http://schemas.openxmlformats.org/drawingml/2006/main">
            <a:r>
              <a:t>**왜 필요한가.** 변수의 철자가 다르면 컴퓨터는 서로 다른 이름으로 취급합니다. 업무 의미가 같아 보인다는 이유로 temp와 temperature_c를 자동 연결하지 않습니다. 작성한 이름과 사용한 이름의 일치를 확인해야 합니다.</a:t>
            </a:r>
          </a:p>
          <a:p xmlns:a="http://schemas.openxmlformats.org/drawingml/2006/main">
            <a:r>
              <a:t/>
            </a:r>
          </a:p>
          <a:p xmlns:a="http://schemas.openxmlformats.org/drawingml/2006/main">
            <a:r>
              <a:t>**함께 보는 예.** 아래 정상 예는 sensor_id와 temperature_c를 각각 정의한 뒤 출력합니다. 고의 오류 카드에는 print(temperature)가 있으며, 정의된 이름은 temperature_c뿐입니다.</a:t>
            </a:r>
          </a:p>
          <a:p xmlns:a="http://schemas.openxmlformats.org/drawingml/2006/main">
            <a:r>
              <a:t/>
            </a:r>
          </a:p>
          <a:p xmlns:a="http://schemas.openxmlformats.org/drawingml/2006/main">
            <a:r>
              <a:t>**헷갈리는 경우.** 오류를 없애려고 새 변수 temperature = 0을 무조건 추가하면 원래 온도가 아닌 0이 출력될 수 있습니다. 의도한 값이 어떤 이름에 들어 있는지 먼저 찾아야 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sensor_id = "S01"</a:t>
            </a:r>
          </a:p>
          <a:p xmlns:a="http://schemas.openxmlformats.org/drawingml/2006/main">
            <a:r>
              <a:t>temperature_c = 22.5</a:t>
            </a:r>
          </a:p>
          <a:p xmlns:a="http://schemas.openxmlformats.org/drawingml/2006/main">
            <a:r>
              <a:t>print(sensor_id, temperature_c)</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`sensor_id = "S01"` | 센서를 구별할 문자열을 정합니다. |</a:t>
            </a:r>
          </a:p>
          <a:p xmlns:a="http://schemas.openxmlformats.org/drawingml/2006/main">
            <a:r>
              <a:t>| 2 | `temperature_c = 22.5` | 섭씨 온도 값을 정합니다. |</a:t>
            </a:r>
          </a:p>
          <a:p xmlns:a="http://schemas.openxmlformats.org/drawingml/2006/main">
            <a:r>
              <a:t>| 3 | `print(sensor_id, temperature_c)` | 두 이름이 가리키는 값을 함께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code/A06_example.py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work/A06_example.py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data/A06_input.md의 오류 코드에서 정의한 이름과 사용하는 이름을 표시합니다.</a:t>
            </a:r>
          </a:p>
          <a:p xmlns:a="http://schemas.openxmlformats.org/drawingml/2006/main">
            <a:r>
              <a:t>2. 원래 뜻을 유지하는 수정 한 곳을 정합니다.</a:t>
            </a:r>
          </a:p>
          <a:p xmlns:a="http://schemas.openxmlformats.org/drawingml/2006/main">
            <a:r>
              <a:t>3. work의 정상 예와 비교하며 수정안을 적고 실행 결과를 확인합니다.</a:t>
            </a:r>
          </a:p>
          <a:p xmlns:a="http://schemas.openxmlformats.org/drawingml/2006/main">
            <a:r>
              <a:t>4. 원인·수정 위치·다시 확인한 출력을 노트에 기록합니다.</a:t>
            </a:r>
          </a:p>
          <a:p xmlns:a="http://schemas.openxmlformats.org/drawingml/2006/main">
            <a:r>
              <a:t/>
            </a:r>
          </a:p>
          <a:p xmlns:a="http://schemas.openxmlformats.org/drawingml/2006/main">
            <a:r>
              <a:t>예상 결과: temperature를 temperature_c로 맞추면 S01 22.5가 출력됩니다.</a:t>
            </a:r>
          </a:p>
          <a:p xmlns:a="http://schemas.openxmlformats.org/drawingml/2006/main">
            <a:r>
              <a:t/>
            </a:r>
          </a:p>
          <a:p xmlns:a="http://schemas.openxmlformats.org/drawingml/2006/main">
            <a:r>
              <a:t>확인 질문: 오류가 사라졌다는 것만으로 올바른 수정이라고 할 수 있나요?</a:t>
            </a:r>
          </a:p>
          <a:p xmlns:a="http://schemas.openxmlformats.org/drawingml/2006/main">
            <a:r>
              <a:t/>
            </a:r>
          </a:p>
          <a:p xmlns:a="http://schemas.openxmlformats.org/drawingml/2006/main">
            <a:r>
              <a:t>막혔을 때: 철자 차이를 찾지 못하면 이름을 한 글자씩 비교합니다. 영문 대소문자와 밑줄도 이름의 일부입니다.</a:t>
            </a:r>
          </a:p>
          <a:p xmlns:a="http://schemas.openxmlformats.org/drawingml/2006/main">
            <a:r>
              <a:t/>
            </a:r>
          </a:p>
          <a:p xmlns:a="http://schemas.openxmlformats.org/drawingml/2006/main">
            <a:r>
              <a:t>[활동 자료와 작성칸](practice-guide.md#a06--이름-오류를-근거로-고치기)에서 A06를 엽니다.</a:t>
            </a:r>
          </a:p>
          <a:p xmlns:a="http://schemas.openxmlformats.org/drawingml/2006/main">
            <a:r>
              <a:t/>
            </a:r>
          </a:p>
          <a:p xmlns:a="http://schemas.openxmlformats.org/drawingml/2006/main">
            <a:r>
              <a:t># 3구간 · 문자와 숫자의 연산</a:t>
            </a:r>
          </a:p>
          <a:p xmlns:a="http://schemas.openxmlformats.org/drawingml/2006/main">
            <a:r>
              <a:t/>
            </a:r>
          </a:p>
          <a:p xmlns:a="http://schemas.openxmlformats.org/drawingml/2006/main">
            <a:r>
              <a:t>화면 예의 출처: D:/KDigital_PhysicalAI/.build/copyedited-ppt/spec-2026-10-14.json#slide-28;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https://zeusk302-png.github.io/kdigital-physical-ai/#/sessions/2026-10-14/lesson?activity=A06</a:t>
            </a:r>
          </a:p>
          <a:p xmlns:a="http://schemas.openxmlformats.org/drawingml/2006/main">
            <a:r>
              <a:t>공식 자료: https://docs.python.org/3/tutorial/controlflow.html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창고에서 새 물품이 들어오고 일부가 나갑니다. 담당자는 ‘처음 8개, 입고 3개, 출고 2개’를 순서대로 기록합니다. Python에서는 현재 재고에 stock이라는 이름을 붙이고 각 작업이 끝날 때의 값을 연결합니다. 변수는 여러 값을 자동으로 보관하는 이력표가 아닙니다. 같은 이름에 새 값을 대입하면 그 시점의 값이 바뀝니다. 과거 기록이 필요하면 별도의 기록을 남겨야 합니다. 먼저 종이에 실행 줄·현재 값·출력 세 열을 만듭니다.</a:t>
            </a:r>
          </a:p>
          <a:p xmlns:a="http://schemas.openxmlformats.org/drawingml/2006/main">
            <a:r>
              <a:t/>
            </a:r>
          </a:p>
          <a:p xmlns:a="http://schemas.openxmlformats.org/drawingml/2006/main">
            <a:r>
              <a:t>이 사례의 완결 코드는 다음과 같습니다. work 폴더에 새 파일 E02_stock.py를 UTF-8로 저장하고 course 폴더의 터미널에서 `python -X utf8 work/E02_stock.py`를 실행합니다. 기존 파일을 덮어쓰지 않습니다.</a:t>
            </a:r>
          </a:p>
          <a:p xmlns:a="http://schemas.openxmlformats.org/drawingml/2006/main">
            <a:r>
              <a:t/>
            </a:r>
          </a:p>
          <a:p xmlns:a="http://schemas.openxmlformats.org/drawingml/2006/main">
            <a:r>
              <a:t>```python</a:t>
            </a:r>
          </a:p>
          <a:p xmlns:a="http://schemas.openxmlformats.org/drawingml/2006/main">
            <a:r>
              <a:t>stock = 8</a:t>
            </a:r>
          </a:p>
          <a:p xmlns:a="http://schemas.openxmlformats.org/drawingml/2006/main">
            <a:r>
              <a:t>stock = stock + 3</a:t>
            </a:r>
          </a:p>
          <a:p xmlns:a="http://schemas.openxmlformats.org/drawingml/2006/main">
            <a:r>
              <a:t>print(stock)</a:t>
            </a:r>
          </a:p>
          <a:p xmlns:a="http://schemas.openxmlformats.org/drawingml/2006/main">
            <a:r>
              <a:t>stock = stock - 2</a:t>
            </a:r>
          </a:p>
          <a:p xmlns:a="http://schemas.openxmlformats.org/drawingml/2006/main">
            <a:r>
              <a:t>print(stock)</a:t>
            </a:r>
          </a:p>
          <a:p xmlns:a="http://schemas.openxmlformats.org/drawingml/2006/main">
            <a:r>
              <a:t>```</a:t>
            </a:r>
          </a:p>
          <a:p xmlns:a="http://schemas.openxmlformats.org/drawingml/2006/main">
            <a:r>
              <a:t/>
            </a:r>
          </a:p>
          <a:p xmlns:a="http://schemas.openxmlformats.org/drawingml/2006/main">
            <a:r>
              <a:t>첫 줄은 stock에 정수 8을 연결합니다. 둘째 줄은 오른쪽의 현재 stock 8에 3을 더해 11을 만든 다음 왼쪽 이름에 연결합니다. 셋째 줄은 그때의 11을 화면에 표시합니다. 넷째 줄은 현재 11에서 2를 빼 9로 갱신합니다. 마지막 줄은 9를 출력합니다. 따라서 예상 출력은 첫 줄 11, 둘째 줄 9입니다. =는 수학의 양쪽이 같다는 설명이 아니라 오른쪽 계산 결과를 왼쪽 이름에 연결하는 대입 기호입니다.</a:t>
            </a:r>
          </a:p>
          <a:p xmlns:a="http://schemas.openxmlformats.org/drawingml/2006/main">
            <a:r>
              <a:t/>
            </a:r>
          </a:p>
          <a:p xmlns:a="http://schemas.openxmlformats.org/drawingml/2006/main">
            <a:r>
              <a:t>입고와 출고를 모두 처리한 뒤 출력 두 줄을 적는 것이 아니라 print를 만나는 순간의 값을 기록합니다. 뒤의 갱신이 이미 나온 첫 출력을 고치지는 않습니다. NameError이면 stock 철자와 대소문자, 처음 대입한 줄을 확인합니다. can't open file이면 작업 파일 저장 위치를 먼저 확인합니다. 실행 환경이 없으면 같은 추적표를 쓰고 강사 실행과 비교했다는 표시를 남깁니다.</a:t>
            </a:r>
          </a:p>
          <a:p xmlns:a="http://schemas.openxmlformats.org/drawingml/2006/main">
            <a:r>
              <a:t/>
            </a:r>
          </a:p>
          <a:p xmlns:a="http://schemas.openxmlformats.org/drawingml/2006/main">
            <a:r>
              <a:t>화면 예의 출처: D:/KDigital_PhysicalAI/.build/copyedited-ppt/spec-2026-10-14.json#slide-31;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https://docs.python.org/3/tutorial/controlflow.html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창고에서 새 물품이 들어오고 일부가 나갑니다. 담당자는 ‘처음 8개, 입고 3개, 출고 2개’를 순서대로 기록합니다. Python에서는 현재 재고에 stock이라는 이름을 붙이고 각 작업이 끝날 때의 값을 연결합니다. 변수는 여러 값을 자동으로 보관하는 이력표가 아닙니다. 같은 이름에 새 값을 대입하면 그 시점의 값이 바뀝니다. 과거 기록이 필요하면 별도의 기록을 남겨야 합니다. 먼저 종이에 실행 줄·현재 값·출력 세 열을 만듭니다.</a:t>
            </a:r>
          </a:p>
          <a:p xmlns:a="http://schemas.openxmlformats.org/drawingml/2006/main">
            <a:r>
              <a:t/>
            </a:r>
          </a:p>
          <a:p xmlns:a="http://schemas.openxmlformats.org/drawingml/2006/main">
            <a:r>
              <a:t>이 사례의 완결 코드는 다음과 같습니다. work 폴더에 새 파일 E02_stock.py를 UTF-8로 저장하고 course 폴더의 터미널에서 `python -X utf8 work/E02_stock.py`를 실행합니다. 기존 파일을 덮어쓰지 않습니다.</a:t>
            </a:r>
          </a:p>
          <a:p xmlns:a="http://schemas.openxmlformats.org/drawingml/2006/main">
            <a:r>
              <a:t/>
            </a:r>
          </a:p>
          <a:p xmlns:a="http://schemas.openxmlformats.org/drawingml/2006/main">
            <a:r>
              <a:t>```python</a:t>
            </a:r>
          </a:p>
          <a:p xmlns:a="http://schemas.openxmlformats.org/drawingml/2006/main">
            <a:r>
              <a:t>stock = 8</a:t>
            </a:r>
          </a:p>
          <a:p xmlns:a="http://schemas.openxmlformats.org/drawingml/2006/main">
            <a:r>
              <a:t>stock = stock + 3</a:t>
            </a:r>
          </a:p>
          <a:p xmlns:a="http://schemas.openxmlformats.org/drawingml/2006/main">
            <a:r>
              <a:t>print(stock)</a:t>
            </a:r>
          </a:p>
          <a:p xmlns:a="http://schemas.openxmlformats.org/drawingml/2006/main">
            <a:r>
              <a:t>stock = stock - 2</a:t>
            </a:r>
          </a:p>
          <a:p xmlns:a="http://schemas.openxmlformats.org/drawingml/2006/main">
            <a:r>
              <a:t>print(stock)</a:t>
            </a:r>
          </a:p>
          <a:p xmlns:a="http://schemas.openxmlformats.org/drawingml/2006/main">
            <a:r>
              <a:t>```</a:t>
            </a:r>
          </a:p>
          <a:p xmlns:a="http://schemas.openxmlformats.org/drawingml/2006/main">
            <a:r>
              <a:t/>
            </a:r>
          </a:p>
          <a:p xmlns:a="http://schemas.openxmlformats.org/drawingml/2006/main">
            <a:r>
              <a:t>첫 줄은 stock에 정수 8을 연결합니다. 둘째 줄은 오른쪽의 현재 stock 8에 3을 더해 11을 만든 다음 왼쪽 이름에 연결합니다. 셋째 줄은 그때의 11을 화면에 표시합니다. 넷째 줄은 현재 11에서 2를 빼 9로 갱신합니다. 마지막 줄은 9를 출력합니다. 따라서 예상 출력은 첫 줄 11, 둘째 줄 9입니다. =는 수학의 양쪽이 같다는 설명이 아니라 오른쪽 계산 결과를 왼쪽 이름에 연결하는 대입 기호입니다.</a:t>
            </a:r>
          </a:p>
          <a:p xmlns:a="http://schemas.openxmlformats.org/drawingml/2006/main">
            <a:r>
              <a:t/>
            </a:r>
          </a:p>
          <a:p xmlns:a="http://schemas.openxmlformats.org/drawingml/2006/main">
            <a:r>
              <a:t>입고와 출고를 모두 처리한 뒤 출력 두 줄을 적는 것이 아니라 print를 만나는 순간의 값을 기록합니다. 뒤의 갱신이 이미 나온 첫 출력을 고치지는 않습니다. NameError이면 stock 철자와 대소문자, 처음 대입한 줄을 확인합니다. can't open file이면 작업 파일 저장 위치를 먼저 확인합니다. 실행 환경이 없으면 같은 추적표를 쓰고 강사 실행과 비교했다는 표시를 남깁니다.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https://docs.python.org/3/tutorial/controlflow.html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물 12병을 준비하고 4병을 배부한 뒤 현재 수량을 안내합니다. 다시 6병을 받아 최종 수량을 안내합니다. 두 안내값과 세 번의 대입 뒤 현재 수량을 표로 작성하고, 두 print를 어디에 놓을지 판단하세요.</a:t>
            </a:r>
          </a:p>
          <a:p xmlns:a="http://schemas.openxmlformats.org/drawingml/2006/main">
            <a:r>
              <a:t/>
            </a:r>
          </a:p>
          <a:p xmlns:a="http://schemas.openxmlformats.org/drawingml/2006/main">
            <a:r>
              <a:t>학생이 먼저 답을 적은 뒤 풀이를 보여 줍니다. 이 문제는 필수 활동을 마친 뒤 추가로 사용합니다.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https://docs.python.org/3/tutorial/controlflow.html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대입 뒤 현재 값은 12→8→14이고 안내값은 8과 14입니다. 배부 직후와 추가 입고 직후에 출력해야 합니다. 모든 대입 뒤에 같은 이름을 두 번 출력하면 14·14가 되어 중간 안내를 잃습니다.</a:t>
            </a:r>
          </a:p>
          <a:p xmlns:a="http://schemas.openxmlformats.org/drawingml/2006/main">
            <a:r>
              <a:t/>
            </a:r>
          </a:p>
          <a:p xmlns:a="http://schemas.openxmlformats.org/drawingml/2006/main">
            <a:r>
              <a:t>핵심 질문과 해설:</a:t>
            </a:r>
          </a:p>
          <a:p xmlns:a="http://schemas.openxmlformats.org/drawingml/2006/main">
            <a:r>
              <a:t>오른쪽 stock은 언제 읽나요? 그 줄을 실행하는 시점에 연결된 현재 값을 먼저 읽습니다.</a:t>
            </a:r>
          </a:p>
          <a:p xmlns:a="http://schemas.openxmlformats.org/drawingml/2006/main">
            <a:r>
              <a:t>=는 ==와 같은가요? =는 대입이고 ==는 같은지 비교하는 기호입니다.</a:t>
            </a:r>
          </a:p>
          <a:p xmlns:a="http://schemas.openxmlformats.org/drawingml/2006/main">
            <a:r>
              <a:t>나중 갱신이 이전 화면을 바꾸나요? 이미 출력한 결과는 그때의 값으로 남습니다.</a:t>
            </a:r>
          </a:p>
          <a:p xmlns:a="http://schemas.openxmlformats.org/drawingml/2006/main">
            <a:r>
              <a:t/>
            </a:r>
          </a:p>
          <a:p xmlns:a="http://schemas.openxmlformats.org/drawingml/2006/main">
            <a:r>
              <a:t>화면 예의 출처: D:/KDigital_PhysicalAI/.build/copyedited-ppt/spec-2026-10-14.json#slide-32;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https://docs.python.org/3/tutorial/controlflow.html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A06 상세 원문]</a:t>
            </a:r>
          </a:p>
          <a:p xmlns:a="http://schemas.openxmlformats.org/drawingml/2006/main">
            <a:r>
              <a:t>**개념.** 오류를 고치는 일은 프로그램을 무작정 바꾸는 것이 아니라 보이는 단서로 원인을 좁히는 작업입니다. NameError는 실행 중 찾으려는 이름을 알 수 없다는 뜻입니다.</a:t>
            </a:r>
          </a:p>
          <a:p xmlns:a="http://schemas.openxmlformats.org/drawingml/2006/main">
            <a:r>
              <a:t/>
            </a:r>
          </a:p>
          <a:p xmlns:a="http://schemas.openxmlformats.org/drawingml/2006/main">
            <a:r>
              <a:t>**왜 필요한가.** 변수의 철자가 다르면 컴퓨터는 서로 다른 이름으로 취급합니다. 업무 의미가 같아 보인다는 이유로 temp와 temperature_c를 자동 연결하지 않습니다. 작성한 이름과 사용한 이름의 일치를 확인해야 합니다.</a:t>
            </a:r>
          </a:p>
          <a:p xmlns:a="http://schemas.openxmlformats.org/drawingml/2006/main">
            <a:r>
              <a:t/>
            </a:r>
          </a:p>
          <a:p xmlns:a="http://schemas.openxmlformats.org/drawingml/2006/main">
            <a:r>
              <a:t>**함께 보는 예.** 아래 정상 예는 sensor_id와 temperature_c를 각각 정의한 뒤 출력합니다. 고의 오류 카드에는 print(temperature)가 있으며, 정의된 이름은 temperature_c뿐입니다.</a:t>
            </a:r>
          </a:p>
          <a:p xmlns:a="http://schemas.openxmlformats.org/drawingml/2006/main">
            <a:r>
              <a:t/>
            </a:r>
          </a:p>
          <a:p xmlns:a="http://schemas.openxmlformats.org/drawingml/2006/main">
            <a:r>
              <a:t>**헷갈리는 경우.** 오류를 없애려고 새 변수 temperature = 0을 무조건 추가하면 원래 온도가 아닌 0이 출력될 수 있습니다. 의도한 값이 어떤 이름에 들어 있는지 먼저 찾아야 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sensor_id = "S01"</a:t>
            </a:r>
          </a:p>
          <a:p xmlns:a="http://schemas.openxmlformats.org/drawingml/2006/main">
            <a:r>
              <a:t>temperature_c = 22.5</a:t>
            </a:r>
          </a:p>
          <a:p xmlns:a="http://schemas.openxmlformats.org/drawingml/2006/main">
            <a:r>
              <a:t>print(sensor_id, temperature_c)</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`sensor_id = "S01"` | 센서를 구별할 문자열을 정합니다. |</a:t>
            </a:r>
          </a:p>
          <a:p xmlns:a="http://schemas.openxmlformats.org/drawingml/2006/main">
            <a:r>
              <a:t>| 2 | `temperature_c = 22.5` | 섭씨 온도 값을 정합니다. |</a:t>
            </a:r>
          </a:p>
          <a:p xmlns:a="http://schemas.openxmlformats.org/drawingml/2006/main">
            <a:r>
              <a:t>| 3 | `print(sensor_id, temperature_c)` | 두 이름이 가리키는 값을 함께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code/A06_example.py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work/A06_example.py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data/A06_input.md의 오류 코드에서 정의한 이름과 사용하는 이름을 표시합니다.</a:t>
            </a:r>
          </a:p>
          <a:p xmlns:a="http://schemas.openxmlformats.org/drawingml/2006/main">
            <a:r>
              <a:t>2. 원래 뜻을 유지하는 수정 한 곳을 정합니다.</a:t>
            </a:r>
          </a:p>
          <a:p xmlns:a="http://schemas.openxmlformats.org/drawingml/2006/main">
            <a:r>
              <a:t>3. work의 정상 예와 비교하며 수정안을 적고 실행 결과를 확인합니다.</a:t>
            </a:r>
          </a:p>
          <a:p xmlns:a="http://schemas.openxmlformats.org/drawingml/2006/main">
            <a:r>
              <a:t>4. 원인·수정 위치·다시 확인한 출력을 노트에 기록합니다.</a:t>
            </a:r>
          </a:p>
          <a:p xmlns:a="http://schemas.openxmlformats.org/drawingml/2006/main">
            <a:r>
              <a:t/>
            </a:r>
          </a:p>
          <a:p xmlns:a="http://schemas.openxmlformats.org/drawingml/2006/main">
            <a:r>
              <a:t>예상 결과: temperature를 temperature_c로 맞추면 S01 22.5가 출력됩니다.</a:t>
            </a:r>
          </a:p>
          <a:p xmlns:a="http://schemas.openxmlformats.org/drawingml/2006/main">
            <a:r>
              <a:t/>
            </a:r>
          </a:p>
          <a:p xmlns:a="http://schemas.openxmlformats.org/drawingml/2006/main">
            <a:r>
              <a:t>확인 질문: 오류가 사라졌다는 것만으로 올바른 수정이라고 할 수 있나요?</a:t>
            </a:r>
          </a:p>
          <a:p xmlns:a="http://schemas.openxmlformats.org/drawingml/2006/main">
            <a:r>
              <a:t/>
            </a:r>
          </a:p>
          <a:p xmlns:a="http://schemas.openxmlformats.org/drawingml/2006/main">
            <a:r>
              <a:t>막혔을 때: 철자 차이를 찾지 못하면 이름을 한 글자씩 비교합니다. 영문 대소문자와 밑줄도 이름의 일부입니다.</a:t>
            </a:r>
          </a:p>
          <a:p xmlns:a="http://schemas.openxmlformats.org/drawingml/2006/main">
            <a:r>
              <a:t/>
            </a:r>
          </a:p>
          <a:p xmlns:a="http://schemas.openxmlformats.org/drawingml/2006/main">
            <a:r>
              <a:t>[활동 자료와 작성칸](practice-guide.md#a06--이름-오류를-근거로-고치기)에서 A06를 엽니다.</a:t>
            </a:r>
          </a:p>
          <a:p xmlns:a="http://schemas.openxmlformats.org/drawingml/2006/main">
            <a:r>
              <a:t/>
            </a:r>
          </a:p>
          <a:p xmlns:a="http://schemas.openxmlformats.org/drawingml/2006/main">
            <a:r>
              <a:t># 3구간 · 문자와 숫자의 연산</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https://zeusk302-png.github.io/kdigital-physical-ai/#/sessions/2026-10-14/lesson?activity=A06</a:t>
            </a:r>
          </a:p>
          <a:p xmlns:a="http://schemas.openxmlformats.org/drawingml/2006/main">
            <a:r>
              <a:t>공식 자료: https://docs.python.org/3/tutorial/controlflow.html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다시 대입하면 변수의 값이 바뀝니다.</a:t>
            </a:r>
          </a:p>
          <a:p xmlns:a="http://schemas.openxmlformats.org/drawingml/2006/main">
            <a:r>
              <a:t>이미 나온 출력은 나중에 바뀌지 않습니다.</a:t>
            </a:r>
          </a:p>
          <a:p xmlns:a="http://schemas.openxmlformats.org/drawingml/2006/main">
            <a:r>
              <a:t>이름을 따옴표로 감싸면 글자가 됩니다.</a:t>
            </a:r>
          </a:p>
          <a:p xmlns:a="http://schemas.openxmlformats.org/drawingml/2006/main">
            <a:r>
              <a:t/>
            </a:r>
          </a:p>
          <a:p xmlns:a="http://schemas.openxmlformats.org/drawingml/2006/main">
            <a:r>
              <a:t>관련 교시의 상세 원문:</a:t>
            </a:r>
          </a:p>
          <a:p xmlns:a="http://schemas.openxmlformats.org/drawingml/2006/main">
            <a:r>
              <a:t>### 사례로 이해하기 · 재고 갱신을 한 줄씩 추적하기</a:t>
            </a:r>
          </a:p>
          <a:p xmlns:a="http://schemas.openxmlformats.org/drawingml/2006/main">
            <a:r>
              <a:t/>
            </a:r>
          </a:p>
          <a:p xmlns:a="http://schemas.openxmlformats.org/drawingml/2006/main">
            <a:r>
              <a:t/>
            </a:r>
          </a:p>
          <a:p xmlns:a="http://schemas.openxmlformats.org/drawingml/2006/main">
            <a:r>
              <a:t/>
            </a:r>
          </a:p>
          <a:p xmlns:a="http://schemas.openxmlformats.org/drawingml/2006/main">
            <a:r>
              <a:t>창고에서 새 물품이 들어오고 일부가 나갑니다. 담당자는 ‘처음 8개, 입고 3개, 출고 2개’를 순서대로 기록합니다. Python에서는 현재 재고에 stock이라는 이름을 붙이고 각 작업이 끝날 때의 값을 연결합니다. 변수는 여러 값을 자동으로 보관하는 이력표가 아닙니다. 같은 이름에 새 값을 대입하면 그 시점의 값이 바뀝니다. 과거 기록이 필요하면 별도의 기록을 남겨야 합니다. 먼저 종이에 실행 줄·현재 값·출력 세 열을 만듭니다.</a:t>
            </a:r>
          </a:p>
          <a:p xmlns:a="http://schemas.openxmlformats.org/drawingml/2006/main">
            <a:r>
              <a:t/>
            </a:r>
          </a:p>
          <a:p xmlns:a="http://schemas.openxmlformats.org/drawingml/2006/main">
            <a:r>
              <a:t>이 사례의 완결 코드는 다음과 같습니다. work 폴더에 새 파일 E02_stock.py를 UTF-8로 저장하고 course 폴더의 터미널에서 `python -X utf8 work/E02_stock.py`를 실행합니다. 기존 파일을 덮어쓰지 않습니다.</a:t>
            </a:r>
          </a:p>
          <a:p xmlns:a="http://schemas.openxmlformats.org/drawingml/2006/main">
            <a:r>
              <a:t/>
            </a:r>
          </a:p>
          <a:p xmlns:a="http://schemas.openxmlformats.org/drawingml/2006/main">
            <a:r>
              <a:t>```python</a:t>
            </a:r>
          </a:p>
          <a:p xmlns:a="http://schemas.openxmlformats.org/drawingml/2006/main">
            <a:r>
              <a:t>stock = 8</a:t>
            </a:r>
          </a:p>
          <a:p xmlns:a="http://schemas.openxmlformats.org/drawingml/2006/main">
            <a:r>
              <a:t>stock = stock + 3</a:t>
            </a:r>
          </a:p>
          <a:p xmlns:a="http://schemas.openxmlformats.org/drawingml/2006/main">
            <a:r>
              <a:t>print(stock)</a:t>
            </a:r>
          </a:p>
          <a:p xmlns:a="http://schemas.openxmlformats.org/drawingml/2006/main">
            <a:r>
              <a:t>stock = stock - 2</a:t>
            </a:r>
          </a:p>
          <a:p xmlns:a="http://schemas.openxmlformats.org/drawingml/2006/main">
            <a:r>
              <a:t>print(stock)</a:t>
            </a:r>
          </a:p>
          <a:p xmlns:a="http://schemas.openxmlformats.org/drawingml/2006/main">
            <a:r>
              <a:t>```</a:t>
            </a:r>
          </a:p>
          <a:p xmlns:a="http://schemas.openxmlformats.org/drawingml/2006/main">
            <a:r>
              <a:t/>
            </a:r>
          </a:p>
          <a:p xmlns:a="http://schemas.openxmlformats.org/drawingml/2006/main">
            <a:r>
              <a:t>첫 줄은 stock에 정수 8을 연결합니다. 둘째 줄은 오른쪽의 현재 stock 8에 3을 더해 11을 만든 다음 왼쪽 이름에 연결합니다. 셋째 줄은 그때의 11을 화면에 표시합니다. 넷째 줄은 현재 11에서 2를 빼 9로 갱신합니다. 마지막 줄은 9를 출력합니다. 따라서 예상 출력은 첫 줄 11, 둘째 줄 9입니다. =는 수학의 양쪽이 같다는 설명이 아니라 오른쪽 계산 결과를 왼쪽 이름에 연결하는 대입 기호입니다.</a:t>
            </a:r>
          </a:p>
          <a:p xmlns:a="http://schemas.openxmlformats.org/drawingml/2006/main">
            <a:r>
              <a:t/>
            </a:r>
          </a:p>
          <a:p xmlns:a="http://schemas.openxmlformats.org/drawingml/2006/main">
            <a:r>
              <a:t>입고와 출고를 모두 처리한 뒤 출력 두 줄을 적는 것이 아니라 print를 만나는 순간의 값을 기록합니다. 뒤의 갱신이 이미 나온 첫 출력을 고치지는 않습니다. NameError이면 stock 철자와 대소문자, 처음 대입한 줄을 확인합니다. can't open file이면 작업 파일 저장 위치를 먼저 확인합니다. 실행 환경이 없으면 같은 추적표를 쓰고 강사 실행과 비교했다는 표시를 남깁니다.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물 12병을 준비하고 4병을 배부한 뒤 현재 수량을 안내합니다. 다시 6병을 받아 최종 수량을 안내합니다. 두 안내값과 세 번의 대입 뒤 현재 수량을 표로 작성하고, 두 print를 어디에 놓을지 판단하세요.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대입 뒤 현재 값은 12→8→14이고 안내값은 8과 14입니다. 배부 직후와 추가 입고 직후에 출력해야 합니다. 모든 대입 뒤에 같은 이름을 두 번 출력하면 14·14가 되어 중간 안내를 잃습니다.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**오른쪽 stock은 언제 읽나요?** 그 줄을 실행하는 시점에 연결된 현재 값을 먼저 읽습니다.</a:t>
            </a:r>
          </a:p>
          <a:p xmlns:a="http://schemas.openxmlformats.org/drawingml/2006/main">
            <a:r>
              <a:t/>
            </a:r>
          </a:p>
          <a:p xmlns:a="http://schemas.openxmlformats.org/drawingml/2006/main">
            <a:r>
              <a:t>2. **=는 ==와 같은가요?** =는 대입이고 ==는 같은지 비교하는 기호입니다.</a:t>
            </a:r>
          </a:p>
          <a:p xmlns:a="http://schemas.openxmlformats.org/drawingml/2006/main">
            <a:r>
              <a:t/>
            </a:r>
          </a:p>
          <a:p xmlns:a="http://schemas.openxmlformats.org/drawingml/2006/main">
            <a:r>
              <a:t>3. **나중 갱신이 이전 화면을 바꾸나요?** 이미 출력한 결과는 그때의 값으로 남습니다.</a:t>
            </a:r>
          </a:p>
          <a:p xmlns:a="http://schemas.openxmlformats.org/drawingml/2006/main">
            <a:r>
              <a:t/>
            </a:r>
          </a:p>
          <a:p xmlns:a="http://schemas.openxmlformats.org/drawingml/2006/main">
            <a:r>
              <a:t/>
            </a:r>
          </a:p>
          <a:p xmlns:a="http://schemas.openxmlformats.org/drawingml/2006/main">
            <a:r>
              <a:t>**개념.** 변수는 프로그램이 값을 다시 찾을 수 있도록 붙인 이름입니다. location = "입구"는 왼쪽 이름에 오른쪽 값을 연결합니다. 수학에서 등식의 양변이 같다는 주장과 Python의 대입 동작을 구별합니다.</a:t>
            </a:r>
          </a:p>
          <a:p xmlns:a="http://schemas.openxmlformats.org/drawingml/2006/main">
            <a:r>
              <a:t/>
            </a:r>
          </a:p>
          <a:p xmlns:a="http://schemas.openxmlformats.org/drawingml/2006/main">
            <a:r>
              <a:t>**왜 필요한가.** 값을 여러 번 사용할 때 이름을 붙이면 목적이 드러나고 한 곳에서 바꾸기 쉽습니다. 10/8의 표에서 location과 temperature_c라는 항목을 읽었던 경험을 코드 안의 이름으로 연결합니다.</a:t>
            </a:r>
          </a:p>
          <a:p xmlns:a="http://schemas.openxmlformats.org/drawingml/2006/main">
            <a:r>
              <a:t/>
            </a:r>
          </a:p>
          <a:p xmlns:a="http://schemas.openxmlformats.org/drawingml/2006/main">
            <a:r>
              <a:t>**함께 보는 예.** location과 temperature_c를 출력하면 이름 자체의 글자가 아니라 그 이름이 가리키는 값이 나옵니다. print("location")처럼 따옴표를 붙이면 이름을 찾지 않고 글자 location을 보여 줍니다.</a:t>
            </a:r>
          </a:p>
          <a:p xmlns:a="http://schemas.openxmlformats.org/drawingml/2006/main">
            <a:r>
              <a:t/>
            </a:r>
          </a:p>
          <a:p xmlns:a="http://schemas.openxmlformats.org/drawingml/2006/main">
            <a:r>
              <a:t>**헷갈리는 경우.** 한 이름이 무엇을 뜻하는지는 작성자가 정한 약속입니다. 온도를 x로 저장해도 실행될 수 있지만 업무 목적을 읽기 어렵습니다. 의미가 분명한 이름을 쓰되 이름만 보고 단위가 맞다고 단정하지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location = "입구"</a:t>
            </a:r>
          </a:p>
          <a:p xmlns:a="http://schemas.openxmlformats.org/drawingml/2006/main">
            <a:r>
              <a:t>temperature_c = 22.5</a:t>
            </a:r>
          </a:p>
          <a:p xmlns:a="http://schemas.openxmlformats.org/drawingml/2006/main">
            <a:r>
              <a:t>print(location)</a:t>
            </a:r>
          </a:p>
          <a:p xmlns:a="http://schemas.openxmlformats.org/drawingml/2006/main">
            <a:r>
              <a:t>print(temperature_c)</a:t>
            </a:r>
          </a:p>
          <a:p xmlns:a="http://schemas.openxmlformats.org/drawingml/2006/main">
            <a:r>
              <a:t>print("location")</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`location = "입구"` | 장소 문자열을 location이라는 이름에 연결합니다. |</a:t>
            </a:r>
          </a:p>
          <a:p xmlns:a="http://schemas.openxmlformats.org/drawingml/2006/main">
            <a:r>
              <a:t>| 2 | `temperature_c = 22.5` | 숫자 22.5를 temperature_c라는 이름에 연결합니다. |</a:t>
            </a:r>
          </a:p>
          <a:p xmlns:a="http://schemas.openxmlformats.org/drawingml/2006/main">
            <a:r>
              <a:t>| 3 | `print(location)` | 이름이 가리키는 장소 값을 보여 줍니다. |</a:t>
            </a:r>
          </a:p>
          <a:p xmlns:a="http://schemas.openxmlformats.org/drawingml/2006/main">
            <a:r>
              <a:t>| 4 | `print(temperature_c)` | 이름이 가리키는 온도 값을 보여 줍니다. |</a:t>
            </a:r>
          </a:p>
          <a:p xmlns:a="http://schemas.openxmlformats.org/drawingml/2006/main">
            <a:r>
              <a:t>| 5 | `print("location")` | 따옴표 안의 글자 location을 그대로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code/A04_example.py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work/A04_example.py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입구</a:t>
            </a:r>
          </a:p>
          <a:p xmlns:a="http://schemas.openxmlformats.org/drawingml/2006/main">
            <a:r>
              <a:t>22.5</a:t>
            </a:r>
          </a:p>
          <a:p xmlns:a="http://schemas.openxmlformats.org/drawingml/2006/main">
            <a:r>
              <a:t>location</a:t>
            </a:r>
          </a:p>
          <a:p xmlns:a="http://schemas.openxmlformats.org/drawingml/2006/main">
            <a:r>
              <a:t>```</a:t>
            </a:r>
          </a:p>
          <a:p xmlns:a="http://schemas.openxmlformats.org/drawingml/2006/main">
            <a:r>
              <a:t/>
            </a:r>
          </a:p>
          <a:p xmlns:a="http://schemas.openxmlformats.org/drawingml/2006/main">
            <a:r>
              <a:t>작은 수정: `입구`를 `창고`로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창고</a:t>
            </a:r>
          </a:p>
          <a:p xmlns:a="http://schemas.openxmlformats.org/drawingml/2006/main">
            <a:r>
              <a:t>22.5</a:t>
            </a:r>
          </a:p>
          <a:p xmlns:a="http://schemas.openxmlformats.org/drawingml/2006/main">
            <a:r>
              <a:t>location</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값과 이름을 서로 다른 색으로 표시합니다.</a:t>
            </a:r>
          </a:p>
          <a:p xmlns:a="http://schemas.openxmlformats.org/drawingml/2006/main">
            <a:r>
              <a:t>2. location을 창고로 바꾸면 변할 출력 줄을 먼저 고릅니다.</a:t>
            </a:r>
          </a:p>
          <a:p xmlns:a="http://schemas.openxmlformats.org/drawingml/2006/main">
            <a:r>
              <a:t>3. 작업본에서 문자열 한 곳만 바꾸고 저장·실행합니다.</a:t>
            </a:r>
          </a:p>
          <a:p xmlns:a="http://schemas.openxmlformats.org/drawingml/2006/main">
            <a:r>
              <a:t>4. 변하지 않은 두 출력 줄의 이유를 씁니다.</a:t>
            </a:r>
          </a:p>
          <a:p xmlns:a="http://schemas.openxmlformats.org/drawingml/2006/main">
            <a:r>
              <a:t/>
            </a:r>
          </a:p>
          <a:p xmlns:a="http://schemas.openxmlformats.org/drawingml/2006/main">
            <a:r>
              <a:t>예상 결과: 첫 출력만 창고로 바뀌고 온도와 글자 location은 유지됩니다.</a:t>
            </a:r>
          </a:p>
          <a:p xmlns:a="http://schemas.openxmlformats.org/drawingml/2006/main">
            <a:r>
              <a:t/>
            </a:r>
          </a:p>
          <a:p xmlns:a="http://schemas.openxmlformats.org/drawingml/2006/main">
            <a:r>
              <a:t>확인 질문: print(location)과 print("location")은 왜 다를까요?</a:t>
            </a:r>
          </a:p>
          <a:p xmlns:a="http://schemas.openxmlformats.org/drawingml/2006/main">
            <a:r>
              <a:t/>
            </a:r>
          </a:p>
          <a:p xmlns:a="http://schemas.openxmlformats.org/drawingml/2006/main">
            <a:r>
              <a:t>막혔을 때: NameError가 나오면 대문자·소문자와 밑줄을 비교하고 그 이름에 값을 연결한 줄이 먼저 실행되는지 확인합니다.</a:t>
            </a:r>
          </a:p>
          <a:p xmlns:a="http://schemas.openxmlformats.org/drawingml/2006/main">
            <a:r>
              <a:t/>
            </a:r>
          </a:p>
          <a:p xmlns:a="http://schemas.openxmlformats.org/drawingml/2006/main">
            <a:r>
              <a:t>[활동 자료와 작성칸](practice-guide.md#a04--변수는-값에-붙인-이름)에서 A04를 엽니다.</a:t>
            </a:r>
          </a:p>
          <a:p xmlns:a="http://schemas.openxmlformats.org/drawingml/2006/main">
            <a:r>
              <a:t/>
            </a:r>
          </a:p>
          <a:p xmlns:a="http://schemas.openxmlformats.org/drawingml/2006/main">
            <a:r>
              <a:t>화면 예의 출처: D:/KDigital_PhysicalAI/.build/copyedited-ppt/spec-2026-10-14.json#slide-26;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https://docs.python.org/3/tutorial/controlflow.html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강사가 먼저 예를 보여 준 뒤 학생과 함께 확인합니다. 학생이 직접 해 본 결과를 예상과 비교하고, 달라진 이유를 설명하게 합니다.</a:t>
            </a:r>
          </a:p>
          <a:p xmlns:a="http://schemas.openxmlformats.org/drawingml/2006/main">
            <a:r>
              <a:t/>
            </a:r>
          </a:p>
          <a:p xmlns:a="http://schemas.openxmlformats.org/drawingml/2006/main">
            <a:r>
              <a:t>[활동 A07 상세 원문]</a:t>
            </a:r>
          </a:p>
          <a:p xmlns:a="http://schemas.openxmlformats.org/drawingml/2006/main">
            <a:r>
              <a:t>### 사례로 이해하기 · 운송비 계산에서 문자열과 숫자 나누기</a:t>
            </a:r>
          </a:p>
          <a:p xmlns:a="http://schemas.openxmlformats.org/drawingml/2006/main">
            <a:r>
              <a:t/>
            </a:r>
          </a:p>
          <a:p xmlns:a="http://schemas.openxmlformats.org/drawingml/2006/main">
            <a:r>
              <a:t/>
            </a:r>
          </a:p>
          <a:p xmlns:a="http://schemas.openxmlformats.org/drawingml/2006/main">
            <a:r>
              <a:t/>
            </a:r>
          </a:p>
          <a:p xmlns:a="http://schemas.openxmlformats.org/drawingml/2006/main">
            <a:r>
              <a:t>택배 접수표에는 상품번호 “0012”, 무게 “2.5”, 포장비 1000이 있습니다. CSV에서 읽은 무게 칸은 숫자처럼 보여도 문자열일 수 있습니다. 문자열은 글자 순서를 보존하고 숫자는 수량을 계산합니다. 따옴표로 감싼 “2.5”와 실수 2.5의 저장 종류가 다르므로 계산 전 의미에 맞는 변환을 해야 합니다. 상품번호는 계산용 수량이 아니므로 앞의 0을 보존한 문자열을 유지합니다. 같은 모양의 숫자라도 변환 여부는 업무 목적에 따라 결정합니다.</a:t>
            </a:r>
          </a:p>
          <a:p xmlns:a="http://schemas.openxmlformats.org/drawingml/2006/main">
            <a:r>
              <a:t/>
            </a:r>
          </a:p>
          <a:p xmlns:a="http://schemas.openxmlformats.org/drawingml/2006/main">
            <a:r>
              <a:t>수업용 요금은 무게 1kg당 2000원에 포장비 1000원을 더하는 것으로 정합니다. 반올림·최소요금 등 실제 운송 규칙은 이번 합성 예에 포함하지 않습니다. “2.5”를 실수 2.5로 읽으면 2.5×2000+1000=6000원입니다. 먼저 곱셈으로 무게 요금을 계산하고 포장비를 더합니다. 문자열 “2”와 “5”를 +로 붙이면 “25”가 되어 무게 7이 아닙니다. 문자열을 이어 붙이는 연결과 수치 덧셈을 같은 기호가 다른 종류에 적용된 사례로 비교합니다.</a:t>
            </a:r>
          </a:p>
          <a:p xmlns:a="http://schemas.openxmlformats.org/drawingml/2006/main">
            <a:r>
              <a:t/>
            </a:r>
          </a:p>
          <a:p xmlns:a="http://schemas.openxmlformats.org/drawingml/2006/main">
            <a:r>
              <a:t>값 추적표는 원문 “2.5”·저장 종류 문자열 → 변환 값 2.5·실수 → 계산값 6000.0·실수 → 업무 표시 6000원 순서입니다. 계산 결과의 .0은 이 예의 저장·표시 방식이지 비용이 소수 원이라는 업무 확정은 아닙니다. 무게 원문이 “미확인”이라면 임의의 0kg로 바꾸지 않고 숫자 변환 전에 확인을 요청합니다. 문자열과 숫자를 +로 바로 섞으면 TypeError가 날 수 있고 “2.5”를 정수로 바로 읽으려 하면 ValueError가 납니다. 종류를 확인한 뒤 실수 변환을 고르고 상품번호까지 함께 바꾸지 않습니다.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판매표의 주문번호 “0009”, 단가 “1500”, 수량 “3”을 보고 총액과 각 항목의 저장 계획을 쓰세요. 단가는 원 단위의 정수이고, 수량은 개수로 정했습니다. 배송비 2000원을 포함한 최종액도 계산하세요.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주문번호는 문자열 유지, 단가와 수량은 정수로 해석합니다. 상품 총액 1500×3=4500원, 최종액 6500원입니다. “1500”+“3”의 문자열 연결은 “15003”으로 금액 계산이 아닙니다. 주문번호를 정수 9로 바꾸면 앞 0을 잃습니다.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**숫자처럼 보이면 모두 변환하나요?** 식별자·등급인지 실제 계산량인지 의미를 먼저 봅니다.</a:t>
            </a:r>
          </a:p>
          <a:p xmlns:a="http://schemas.openxmlformats.org/drawingml/2006/main">
            <a:r>
              <a:t/>
            </a:r>
          </a:p>
          <a:p xmlns:a="http://schemas.openxmlformats.org/drawingml/2006/main">
            <a:r>
              <a:t>2. **소수 문자열을 정수로 바로 읽나요?** 소수가 있는 표현에는 float 같은 의미에 맞는 변환이 필요합니다.</a:t>
            </a:r>
          </a:p>
          <a:p xmlns:a="http://schemas.openxmlformats.org/drawingml/2006/main">
            <a:r>
              <a:t/>
            </a:r>
          </a:p>
          <a:p xmlns:a="http://schemas.openxmlformats.org/drawingml/2006/main">
            <a:r>
              <a:t>3. **정상 종료면 요금도 맞나요?** 단위·요금 규칙·입력 해석이 맞는지 별도 확인해야 합니다.</a:t>
            </a:r>
          </a:p>
          <a:p xmlns:a="http://schemas.openxmlformats.org/drawingml/2006/main">
            <a:r>
              <a:t/>
            </a:r>
          </a:p>
          <a:p xmlns:a="http://schemas.openxmlformats.org/drawingml/2006/main">
            <a:r>
              <a:t/>
            </a:r>
          </a:p>
          <a:p xmlns:a="http://schemas.openxmlformats.org/drawingml/2006/main">
            <a:r>
              <a:t>**개념.** 숫자의 +는 수치 덧셈을 하고 문자열의 +는 글자를 이어 붙입니다. 같은 모양의 3이라도 따옴표 유무에 따라 저장 자료형이 달라지며 연산의 결과도 달라집니다.</a:t>
            </a:r>
          </a:p>
          <a:p xmlns:a="http://schemas.openxmlformats.org/drawingml/2006/main">
            <a:r>
              <a:t/>
            </a:r>
          </a:p>
          <a:p xmlns:a="http://schemas.openxmlformats.org/drawingml/2006/main">
            <a:r>
              <a:t>**왜 필요한가.** CSV의 셀을 기본 방식으로 읽으면 문자열이 된다는 10/8의 내용을 떠올립니다. 수량을 계산하려고 글자를 그대로 이어 붙이면 합계처럼 보이는 잘못된 결과가 생길 수 있습니다.</a:t>
            </a:r>
          </a:p>
          <a:p xmlns:a="http://schemas.openxmlformats.org/drawingml/2006/main">
            <a:r>
              <a:t/>
            </a:r>
          </a:p>
          <a:p xmlns:a="http://schemas.openxmlformats.org/drawingml/2006/main">
            <a:r>
              <a:t>**함께 보는 예.** 3 + 2는 5이고 "3" + "2"는 글자 32입니다. 10/8의 사번 001처럼 앞의 0을 유지해야 하는 이름표는 문자열이 적절할 수 있으므로 모든 숫자 모양을 변환하지 않습니다.</a:t>
            </a:r>
          </a:p>
          <a:p xmlns:a="http://schemas.openxmlformats.org/drawingml/2006/main">
            <a:r>
              <a:t/>
            </a:r>
          </a:p>
          <a:p xmlns:a="http://schemas.openxmlformats.org/drawingml/2006/main">
            <a:r>
              <a:t>**헷갈리는 경우.** 문자열을 무조건 숫자로 바꾸는 것도 정답이 아닙니다. 사번을 숫자로 바꾸면 식별 표현을 잃을 수 있습니다. 먼저 의미상 수량인지, 이름표인지 판단합니다.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count = 3</a:t>
            </a:r>
          </a:p>
          <a:p xmlns:a="http://schemas.openxmlformats.org/drawingml/2006/main">
            <a:r>
              <a:t>text_count = "3"</a:t>
            </a:r>
          </a:p>
          <a:p xmlns:a="http://schemas.openxmlformats.org/drawingml/2006/main">
            <a:r>
              <a:t>print(count + 2)</a:t>
            </a:r>
          </a:p>
          <a:p xmlns:a="http://schemas.openxmlformats.org/drawingml/2006/main">
            <a:r>
              <a:t>print(text_count + "2")</a:t>
            </a:r>
          </a:p>
          <a:p xmlns:a="http://schemas.openxmlformats.org/drawingml/2006/main">
            <a:r>
              <a:t>print(type(count).__name__, type(text_count).__name__)</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`count = 3` | 숫자 3을 저장합니다. |</a:t>
            </a:r>
          </a:p>
          <a:p xmlns:a="http://schemas.openxmlformats.org/drawingml/2006/main">
            <a:r>
              <a:t>| 2 | `text_count = "3"` | 글자 3을 저장합니다. |</a:t>
            </a:r>
          </a:p>
          <a:p xmlns:a="http://schemas.openxmlformats.org/drawingml/2006/main">
            <a:r>
              <a:t>| 3 | `print(count + 2)` | 숫자끼리 덧셈합니다. |</a:t>
            </a:r>
          </a:p>
          <a:p xmlns:a="http://schemas.openxmlformats.org/drawingml/2006/main">
            <a:r>
              <a:t>| 4 | `print(text_count + "2")` | 문자열끼리 이어 붙입니다. |</a:t>
            </a:r>
          </a:p>
          <a:p xmlns:a="http://schemas.openxmlformats.org/drawingml/2006/main">
            <a:r>
              <a:t>| 5 | `print(type(count).__name__, type(text_count).__name__)` | 두 값의 자료형 이름을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code/A07_example.py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work/A07_example.py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a:t>
            </a:r>
          </a:p>
          <a:p xmlns:a="http://schemas.openxmlformats.org/drawingml/2006/main">
            <a:r>
              <a:t>32</a:t>
            </a:r>
          </a:p>
          <a:p xmlns:a="http://schemas.openxmlformats.org/drawingml/2006/main">
            <a:r>
              <a:t>int str</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세 출력 줄을 예상하고 각각 계산인지 글자 연결인지 적습니다.</a:t>
            </a:r>
          </a:p>
          <a:p xmlns:a="http://schemas.openxmlformats.org/drawingml/2006/main">
            <a:r>
              <a:t>2. 숫자와 문자열의 +를 같은 기준으로 읽지 않았는지 비교합니다.</a:t>
            </a:r>
          </a:p>
          <a:p xmlns:a="http://schemas.openxmlformats.org/drawingml/2006/main">
            <a:r>
              <a:t>3. 고의 오류 text_count + 2에서 서로 다른 자료형을 표시합니다.</a:t>
            </a:r>
          </a:p>
          <a:p xmlns:a="http://schemas.openxmlformats.org/drawingml/2006/main">
            <a:r>
              <a:t>4. 수량과 사번 중 무엇을 숫자로 바꿀지 이유를 씁니다.</a:t>
            </a:r>
          </a:p>
          <a:p xmlns:a="http://schemas.openxmlformats.org/drawingml/2006/main">
            <a:r>
              <a:t/>
            </a:r>
          </a:p>
          <a:p xmlns:a="http://schemas.openxmlformats.org/drawingml/2006/main">
            <a:r>
              <a:t>예상 결과: 5와 문자열 32, int와 str을 구별합니다. 혼합 +는 TypeError가 기대 결과입니다.</a:t>
            </a:r>
          </a:p>
          <a:p xmlns:a="http://schemas.openxmlformats.org/drawingml/2006/main">
            <a:r>
              <a:t/>
            </a:r>
          </a:p>
          <a:p xmlns:a="http://schemas.openxmlformats.org/drawingml/2006/main">
            <a:r>
              <a:t>확인 질문: "001"에 1을 더해 다음 직원을 정하는 것이 항상 적절할까요?</a:t>
            </a:r>
          </a:p>
          <a:p xmlns:a="http://schemas.openxmlformats.org/drawingml/2006/main">
            <a:r>
              <a:t/>
            </a:r>
          </a:p>
          <a:p xmlns:a="http://schemas.openxmlformats.org/drawingml/2006/main">
            <a:r>
              <a:t>막혔을 때: 화면에서 따옴표 없이 32가 보이면 type 출력도 함께 확인합니다. 표시 모양만으로 자료형을 판단하지 않습니다.</a:t>
            </a:r>
          </a:p>
          <a:p xmlns:a="http://schemas.openxmlformats.org/drawingml/2006/main">
            <a:r>
              <a:t/>
            </a:r>
          </a:p>
          <a:p xmlns:a="http://schemas.openxmlformats.org/drawingml/2006/main">
            <a:r>
              <a:t>[활동 자료와 작성칸](practice-guide.md#a07--숫자-더하기와-문자열-연결)에서 A07를 엽니다.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https://zeusk302-png.github.io/kdigital-physical-ai/#/sessions/2026-10-14/lesson?activity=A07</a:t>
            </a:r>
          </a:p>
          <a:p xmlns:a="http://schemas.openxmlformats.org/drawingml/2006/main">
            <a:r>
              <a:t>공식 자료: https://docs.python.org/3/tutorial/errors.html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code/A07_example.py</a:t>
            </a:r>
          </a:p>
          <a:p xmlns:a="http://schemas.openxmlformats.org/drawingml/2006/main">
            <a:r>
              <a:t>수정한 파일을 실행할 때는 code 대신 work 폴더를 지정합니다. 직접 실행할 수 없으면 입력값부터 코드의 처리 순서를 따라 적고 강사의 결과와 비교합니다.</a:t>
            </a:r>
          </a:p>
          <a:p xmlns:a="http://schemas.openxmlformats.org/drawingml/2006/main">
            <a:r>
              <a:t/>
            </a:r>
          </a:p>
          <a:p xmlns:a="http://schemas.openxmlformats.org/drawingml/2006/main">
            <a:r>
              <a:t>[활동 A07 상세 원문]</a:t>
            </a:r>
          </a:p>
          <a:p xmlns:a="http://schemas.openxmlformats.org/drawingml/2006/main">
            <a:r>
              <a:t>### 사례로 이해하기 · 운송비 계산에서 문자열과 숫자 나누기</a:t>
            </a:r>
          </a:p>
          <a:p xmlns:a="http://schemas.openxmlformats.org/drawingml/2006/main">
            <a:r>
              <a:t/>
            </a:r>
          </a:p>
          <a:p xmlns:a="http://schemas.openxmlformats.org/drawingml/2006/main">
            <a:r>
              <a:t/>
            </a:r>
          </a:p>
          <a:p xmlns:a="http://schemas.openxmlformats.org/drawingml/2006/main">
            <a:r>
              <a:t/>
            </a:r>
          </a:p>
          <a:p xmlns:a="http://schemas.openxmlformats.org/drawingml/2006/main">
            <a:r>
              <a:t>택배 접수표에는 상품번호 “0012”, 무게 “2.5”, 포장비 1000이 있습니다. CSV에서 읽은 무게 칸은 숫자처럼 보여도 문자열일 수 있습니다. 문자열은 글자 순서를 보존하고 숫자는 수량을 계산합니다. 따옴표로 감싼 “2.5”와 실수 2.5의 저장 종류가 다르므로 계산 전 의미에 맞는 변환을 해야 합니다. 상품번호는 계산용 수량이 아니므로 앞의 0을 보존한 문자열을 유지합니다. 같은 모양의 숫자라도 변환 여부는 업무 목적에 따라 결정합니다.</a:t>
            </a:r>
          </a:p>
          <a:p xmlns:a="http://schemas.openxmlformats.org/drawingml/2006/main">
            <a:r>
              <a:t/>
            </a:r>
          </a:p>
          <a:p xmlns:a="http://schemas.openxmlformats.org/drawingml/2006/main">
            <a:r>
              <a:t>수업용 요금은 무게 1kg당 2000원에 포장비 1000원을 더하는 것으로 정합니다. 반올림·최소요금 등 실제 운송 규칙은 이번 합성 예에 포함하지 않습니다. “2.5”를 실수 2.5로 읽으면 2.5×2000+1000=6000원입니다. 먼저 곱셈으로 무게 요금을 계산하고 포장비를 더합니다. 문자열 “2”와 “5”를 +로 붙이면 “25”가 되어 무게 7이 아닙니다. 문자열을 이어 붙이는 연결과 수치 덧셈을 같은 기호가 다른 종류에 적용된 사례로 비교합니다.</a:t>
            </a:r>
          </a:p>
          <a:p xmlns:a="http://schemas.openxmlformats.org/drawingml/2006/main">
            <a:r>
              <a:t/>
            </a:r>
          </a:p>
          <a:p xmlns:a="http://schemas.openxmlformats.org/drawingml/2006/main">
            <a:r>
              <a:t>값 추적표는 원문 “2.5”·저장 종류 문자열 → 변환 값 2.5·실수 → 계산값 6000.0·실수 → 업무 표시 6000원 순서입니다. 계산 결과의 .0은 이 예의 저장·표시 방식이지 비용이 소수 원이라는 업무 확정은 아닙니다. 무게 원문이 “미확인”이라면 임의의 0kg로 바꾸지 않고 숫자 변환 전에 확인을 요청합니다. 문자열과 숫자를 +로 바로 섞으면 TypeError가 날 수 있고 “2.5”를 정수로 바로 읽으려 하면 ValueError가 납니다. 종류를 확인한 뒤 실수 변환을 고르고 상품번호까지 함께 바꾸지 않습니다.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판매표의 주문번호 “0009”, 단가 “1500”, 수량 “3”을 보고 총액과 각 항목의 저장 계획을 쓰세요. 단가는 원 단위의 정수이고, 수량은 개수로 정했습니다. 배송비 2000원을 포함한 최종액도 계산하세요.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주문번호는 문자열 유지, 단가와 수량은 정수로 해석합니다. 상품 총액 1500×3=4500원, 최종액 6500원입니다. “1500”+“3”의 문자열 연결은 “15003”으로 금액 계산이 아닙니다. 주문번호를 정수 9로 바꾸면 앞 0을 잃습니다.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**숫자처럼 보이면 모두 변환하나요?** 식별자·등급인지 실제 계산량인지 의미를 먼저 봅니다.</a:t>
            </a:r>
          </a:p>
          <a:p xmlns:a="http://schemas.openxmlformats.org/drawingml/2006/main">
            <a:r>
              <a:t/>
            </a:r>
          </a:p>
          <a:p xmlns:a="http://schemas.openxmlformats.org/drawingml/2006/main">
            <a:r>
              <a:t>2. **소수 문자열을 정수로 바로 읽나요?** 소수가 있는 표현에는 float 같은 의미에 맞는 변환이 필요합니다.</a:t>
            </a:r>
          </a:p>
          <a:p xmlns:a="http://schemas.openxmlformats.org/drawingml/2006/main">
            <a:r>
              <a:t/>
            </a:r>
          </a:p>
          <a:p xmlns:a="http://schemas.openxmlformats.org/drawingml/2006/main">
            <a:r>
              <a:t>3. **정상 종료면 요금도 맞나요?** 단위·요금 규칙·입력 해석이 맞는지 별도 확인해야 합니다.</a:t>
            </a:r>
          </a:p>
          <a:p xmlns:a="http://schemas.openxmlformats.org/drawingml/2006/main">
            <a:r>
              <a:t/>
            </a:r>
          </a:p>
          <a:p xmlns:a="http://schemas.openxmlformats.org/drawingml/2006/main">
            <a:r>
              <a:t/>
            </a:r>
          </a:p>
          <a:p xmlns:a="http://schemas.openxmlformats.org/drawingml/2006/main">
            <a:r>
              <a:t>**개념.** 숫자의 +는 수치 덧셈을 하고 문자열의 +는 글자를 이어 붙입니다. 같은 모양의 3이라도 따옴표 유무에 따라 저장 자료형이 달라지며 연산의 결과도 달라집니다.</a:t>
            </a:r>
          </a:p>
          <a:p xmlns:a="http://schemas.openxmlformats.org/drawingml/2006/main">
            <a:r>
              <a:t/>
            </a:r>
          </a:p>
          <a:p xmlns:a="http://schemas.openxmlformats.org/drawingml/2006/main">
            <a:r>
              <a:t>**왜 필요한가.** CSV의 셀을 기본 방식으로 읽으면 문자열이 된다는 10/8의 내용을 떠올립니다. 수량을 계산하려고 글자를 그대로 이어 붙이면 합계처럼 보이는 잘못된 결과가 생길 수 있습니다.</a:t>
            </a:r>
          </a:p>
          <a:p xmlns:a="http://schemas.openxmlformats.org/drawingml/2006/main">
            <a:r>
              <a:t/>
            </a:r>
          </a:p>
          <a:p xmlns:a="http://schemas.openxmlformats.org/drawingml/2006/main">
            <a:r>
              <a:t>**함께 보는 예.** 3 + 2는 5이고 "3" + "2"는 글자 32입니다. 10/8의 사번 001처럼 앞의 0을 유지해야 하는 이름표는 문자열이 적절할 수 있으므로 모든 숫자 모양을 변환하지 않습니다.</a:t>
            </a:r>
          </a:p>
          <a:p xmlns:a="http://schemas.openxmlformats.org/drawingml/2006/main">
            <a:r>
              <a:t/>
            </a:r>
          </a:p>
          <a:p xmlns:a="http://schemas.openxmlformats.org/drawingml/2006/main">
            <a:r>
              <a:t>**헷갈리는 경우.** 문자열을 무조건 숫자로 바꾸는 것도 정답이 아닙니다. 사번을 숫자로 바꾸면 식별 표현을 잃을 수 있습니다. 먼저 의미상 수량인지, 이름표인지 판단합니다.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count = 3</a:t>
            </a:r>
          </a:p>
          <a:p xmlns:a="http://schemas.openxmlformats.org/drawingml/2006/main">
            <a:r>
              <a:t>text_count = "3"</a:t>
            </a:r>
          </a:p>
          <a:p xmlns:a="http://schemas.openxmlformats.org/drawingml/2006/main">
            <a:r>
              <a:t>print(count + 2)</a:t>
            </a:r>
          </a:p>
          <a:p xmlns:a="http://schemas.openxmlformats.org/drawingml/2006/main">
            <a:r>
              <a:t>print(text_count + "2")</a:t>
            </a:r>
          </a:p>
          <a:p xmlns:a="http://schemas.openxmlformats.org/drawingml/2006/main">
            <a:r>
              <a:t>print(type(count).__name__, type(text_count).__name__)</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`count = 3` | 숫자 3을 저장합니다. |</a:t>
            </a:r>
          </a:p>
          <a:p xmlns:a="http://schemas.openxmlformats.org/drawingml/2006/main">
            <a:r>
              <a:t>| 2 | `text_count = "3"` | 글자 3을 저장합니다. |</a:t>
            </a:r>
          </a:p>
          <a:p xmlns:a="http://schemas.openxmlformats.org/drawingml/2006/main">
            <a:r>
              <a:t>| 3 | `print(count + 2)` | 숫자끼리 덧셈합니다. |</a:t>
            </a:r>
          </a:p>
          <a:p xmlns:a="http://schemas.openxmlformats.org/drawingml/2006/main">
            <a:r>
              <a:t>| 4 | `print(text_count + "2")` | 문자열끼리 이어 붙입니다. |</a:t>
            </a:r>
          </a:p>
          <a:p xmlns:a="http://schemas.openxmlformats.org/drawingml/2006/main">
            <a:r>
              <a:t>| 5 | `print(type(count).__name__, type(text_count).__name__)` | 두 값의 자료형 이름을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code/A07_example.py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work/A07_example.py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a:t>
            </a:r>
          </a:p>
          <a:p xmlns:a="http://schemas.openxmlformats.org/drawingml/2006/main">
            <a:r>
              <a:t>32</a:t>
            </a:r>
          </a:p>
          <a:p xmlns:a="http://schemas.openxmlformats.org/drawingml/2006/main">
            <a:r>
              <a:t>int str</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세 출력 줄을 예상하고 각각 계산인지 글자 연결인지 적습니다.</a:t>
            </a:r>
          </a:p>
          <a:p xmlns:a="http://schemas.openxmlformats.org/drawingml/2006/main">
            <a:r>
              <a:t>2. 숫자와 문자열의 +를 같은 기준으로 읽지 않았는지 비교합니다.</a:t>
            </a:r>
          </a:p>
          <a:p xmlns:a="http://schemas.openxmlformats.org/drawingml/2006/main">
            <a:r>
              <a:t>3. 고의 오류 text_count + 2에서 서로 다른 자료형을 표시합니다.</a:t>
            </a:r>
          </a:p>
          <a:p xmlns:a="http://schemas.openxmlformats.org/drawingml/2006/main">
            <a:r>
              <a:t>4. 수량과 사번 중 무엇을 숫자로 바꿀지 이유를 씁니다.</a:t>
            </a:r>
          </a:p>
          <a:p xmlns:a="http://schemas.openxmlformats.org/drawingml/2006/main">
            <a:r>
              <a:t/>
            </a:r>
          </a:p>
          <a:p xmlns:a="http://schemas.openxmlformats.org/drawingml/2006/main">
            <a:r>
              <a:t>예상 결과: 5와 문자열 32, int와 str을 구별합니다. 혼합 +는 TypeError가 기대 결과입니다.</a:t>
            </a:r>
          </a:p>
          <a:p xmlns:a="http://schemas.openxmlformats.org/drawingml/2006/main">
            <a:r>
              <a:t/>
            </a:r>
          </a:p>
          <a:p xmlns:a="http://schemas.openxmlformats.org/drawingml/2006/main">
            <a:r>
              <a:t>확인 질문: "001"에 1을 더해 다음 직원을 정하는 것이 항상 적절할까요?</a:t>
            </a:r>
          </a:p>
          <a:p xmlns:a="http://schemas.openxmlformats.org/drawingml/2006/main">
            <a:r>
              <a:t/>
            </a:r>
          </a:p>
          <a:p xmlns:a="http://schemas.openxmlformats.org/drawingml/2006/main">
            <a:r>
              <a:t>막혔을 때: 화면에서 따옴표 없이 32가 보이면 type 출력도 함께 확인합니다. 표시 모양만으로 자료형을 판단하지 않습니다.</a:t>
            </a:r>
          </a:p>
          <a:p xmlns:a="http://schemas.openxmlformats.org/drawingml/2006/main">
            <a:r>
              <a:t/>
            </a:r>
          </a:p>
          <a:p xmlns:a="http://schemas.openxmlformats.org/drawingml/2006/main">
            <a:r>
              <a:t>[활동 자료와 작성칸](practice-guide.md#a07--숫자-더하기와-문자열-연결)에서 A07를 엽니다.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https://zeusk302-png.github.io/kdigital-physical-ai/#/sessions/2026-10-14/lesson?activity=A07</a:t>
            </a:r>
          </a:p>
          <a:p xmlns:a="http://schemas.openxmlformats.org/drawingml/2006/main">
            <a:r>
              <a:t>공식 자료: https://docs.python.org/3/tutorial/errors.html</a:t>
            </a:r>
          </a:p>
          <a:p xmlns:a="http://schemas.openxmlformats.org/drawingml/2006/main">
            <a:r>
              <a:t/>
            </a:r>
          </a:p>
          <a:p xmlns:a="http://schemas.openxmlformats.org/drawingml/2006/main">
            <a:r>
              <a:t>코드와 개념 해설: 숫자 +는 덧셈, 문자열 +는 연결입니다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A07 상세 원문]</a:t>
            </a:r>
          </a:p>
          <a:p xmlns:a="http://schemas.openxmlformats.org/drawingml/2006/main">
            <a:r>
              <a:t>### 사례로 이해하기 · 운송비 계산에서 문자열과 숫자 나누기</a:t>
            </a:r>
          </a:p>
          <a:p xmlns:a="http://schemas.openxmlformats.org/drawingml/2006/main">
            <a:r>
              <a:t/>
            </a:r>
          </a:p>
          <a:p xmlns:a="http://schemas.openxmlformats.org/drawingml/2006/main">
            <a:r>
              <a:t/>
            </a:r>
          </a:p>
          <a:p xmlns:a="http://schemas.openxmlformats.org/drawingml/2006/main">
            <a:r>
              <a:t/>
            </a:r>
          </a:p>
          <a:p xmlns:a="http://schemas.openxmlformats.org/drawingml/2006/main">
            <a:r>
              <a:t>택배 접수표에는 상품번호 “0012”, 무게 “2.5”, 포장비 1000이 있습니다. CSV에서 읽은 무게 칸은 숫자처럼 보여도 문자열일 수 있습니다. 문자열은 글자 순서를 보존하고 숫자는 수량을 계산합니다. 따옴표로 감싼 “2.5”와 실수 2.5의 저장 종류가 다르므로 계산 전 의미에 맞는 변환을 해야 합니다. 상품번호는 계산용 수량이 아니므로 앞의 0을 보존한 문자열을 유지합니다. 같은 모양의 숫자라도 변환 여부는 업무 목적에 따라 결정합니다.</a:t>
            </a:r>
          </a:p>
          <a:p xmlns:a="http://schemas.openxmlformats.org/drawingml/2006/main">
            <a:r>
              <a:t/>
            </a:r>
          </a:p>
          <a:p xmlns:a="http://schemas.openxmlformats.org/drawingml/2006/main">
            <a:r>
              <a:t>수업용 요금은 무게 1kg당 2000원에 포장비 1000원을 더하는 것으로 정합니다. 반올림·최소요금 등 실제 운송 규칙은 이번 합성 예에 포함하지 않습니다. “2.5”를 실수 2.5로 읽으면 2.5×2000+1000=6000원입니다. 먼저 곱셈으로 무게 요금을 계산하고 포장비를 더합니다. 문자열 “2”와 “5”를 +로 붙이면 “25”가 되어 무게 7이 아닙니다. 문자열을 이어 붙이는 연결과 수치 덧셈을 같은 기호가 다른 종류에 적용된 사례로 비교합니다.</a:t>
            </a:r>
          </a:p>
          <a:p xmlns:a="http://schemas.openxmlformats.org/drawingml/2006/main">
            <a:r>
              <a:t/>
            </a:r>
          </a:p>
          <a:p xmlns:a="http://schemas.openxmlformats.org/drawingml/2006/main">
            <a:r>
              <a:t>값 추적표는 원문 “2.5”·저장 종류 문자열 → 변환 값 2.5·실수 → 계산값 6000.0·실수 → 업무 표시 6000원 순서입니다. 계산 결과의 .0은 이 예의 저장·표시 방식이지 비용이 소수 원이라는 업무 확정은 아닙니다. 무게 원문이 “미확인”이라면 임의의 0kg로 바꾸지 않고 숫자 변환 전에 확인을 요청합니다. 문자열과 숫자를 +로 바로 섞으면 TypeError가 날 수 있고 “2.5”를 정수로 바로 읽으려 하면 ValueError가 납니다. 종류를 확인한 뒤 실수 변환을 고르고 상품번호까지 함께 바꾸지 않습니다.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판매표의 주문번호 “0009”, 단가 “1500”, 수량 “3”을 보고 총액과 각 항목의 저장 계획을 쓰세요. 단가는 원 단위의 정수이고, 수량은 개수로 정했습니다. 배송비 2000원을 포함한 최종액도 계산하세요.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주문번호는 문자열 유지, 단가와 수량은 정수로 해석합니다. 상품 총액 1500×3=4500원, 최종액 6500원입니다. “1500”+“3”의 문자열 연결은 “15003”으로 금액 계산이 아닙니다. 주문번호를 정수 9로 바꾸면 앞 0을 잃습니다.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**숫자처럼 보이면 모두 변환하나요?** 식별자·등급인지 실제 계산량인지 의미를 먼저 봅니다.</a:t>
            </a:r>
          </a:p>
          <a:p xmlns:a="http://schemas.openxmlformats.org/drawingml/2006/main">
            <a:r>
              <a:t/>
            </a:r>
          </a:p>
          <a:p xmlns:a="http://schemas.openxmlformats.org/drawingml/2006/main">
            <a:r>
              <a:t>2. **소수 문자열을 정수로 바로 읽나요?** 소수가 있는 표현에는 float 같은 의미에 맞는 변환이 필요합니다.</a:t>
            </a:r>
          </a:p>
          <a:p xmlns:a="http://schemas.openxmlformats.org/drawingml/2006/main">
            <a:r>
              <a:t/>
            </a:r>
          </a:p>
          <a:p xmlns:a="http://schemas.openxmlformats.org/drawingml/2006/main">
            <a:r>
              <a:t>3. **정상 종료면 요금도 맞나요?** 단위·요금 규칙·입력 해석이 맞는지 별도 확인해야 합니다.</a:t>
            </a:r>
          </a:p>
          <a:p xmlns:a="http://schemas.openxmlformats.org/drawingml/2006/main">
            <a:r>
              <a:t/>
            </a:r>
          </a:p>
          <a:p xmlns:a="http://schemas.openxmlformats.org/drawingml/2006/main">
            <a:r>
              <a:t/>
            </a:r>
          </a:p>
          <a:p xmlns:a="http://schemas.openxmlformats.org/drawingml/2006/main">
            <a:r>
              <a:t>**개념.** 숫자의 +는 수치 덧셈을 하고 문자열의 +는 글자를 이어 붙입니다. 같은 모양의 3이라도 따옴표 유무에 따라 저장 자료형이 달라지며 연산의 결과도 달라집니다.</a:t>
            </a:r>
          </a:p>
          <a:p xmlns:a="http://schemas.openxmlformats.org/drawingml/2006/main">
            <a:r>
              <a:t/>
            </a:r>
          </a:p>
          <a:p xmlns:a="http://schemas.openxmlformats.org/drawingml/2006/main">
            <a:r>
              <a:t>**왜 필요한가.** CSV의 셀을 기본 방식으로 읽으면 문자열이 된다는 10/8의 내용을 떠올립니다. 수량을 계산하려고 글자를 그대로 이어 붙이면 합계처럼 보이는 잘못된 결과가 생길 수 있습니다.</a:t>
            </a:r>
          </a:p>
          <a:p xmlns:a="http://schemas.openxmlformats.org/drawingml/2006/main">
            <a:r>
              <a:t/>
            </a:r>
          </a:p>
          <a:p xmlns:a="http://schemas.openxmlformats.org/drawingml/2006/main">
            <a:r>
              <a:t>**함께 보는 예.** 3 + 2는 5이고 "3" + "2"는 글자 32입니다. 10/8의 사번 001처럼 앞의 0을 유지해야 하는 이름표는 문자열이 적절할 수 있으므로 모든 숫자 모양을 변환하지 않습니다.</a:t>
            </a:r>
          </a:p>
          <a:p xmlns:a="http://schemas.openxmlformats.org/drawingml/2006/main">
            <a:r>
              <a:t/>
            </a:r>
          </a:p>
          <a:p xmlns:a="http://schemas.openxmlformats.org/drawingml/2006/main">
            <a:r>
              <a:t>**헷갈리는 경우.** 문자열을 무조건 숫자로 바꾸는 것도 정답이 아닙니다. 사번을 숫자로 바꾸면 식별 표현을 잃을 수 있습니다. 먼저 의미상 수량인지, 이름표인지 판단합니다.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count = 3</a:t>
            </a:r>
          </a:p>
          <a:p xmlns:a="http://schemas.openxmlformats.org/drawingml/2006/main">
            <a:r>
              <a:t>text_count = "3"</a:t>
            </a:r>
          </a:p>
          <a:p xmlns:a="http://schemas.openxmlformats.org/drawingml/2006/main">
            <a:r>
              <a:t>print(count + 2)</a:t>
            </a:r>
          </a:p>
          <a:p xmlns:a="http://schemas.openxmlformats.org/drawingml/2006/main">
            <a:r>
              <a:t>print(text_count + "2")</a:t>
            </a:r>
          </a:p>
          <a:p xmlns:a="http://schemas.openxmlformats.org/drawingml/2006/main">
            <a:r>
              <a:t>print(type(count).__name__, type(text_count).__name__)</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`count = 3` | 숫자 3을 저장합니다. |</a:t>
            </a:r>
          </a:p>
          <a:p xmlns:a="http://schemas.openxmlformats.org/drawingml/2006/main">
            <a:r>
              <a:t>| 2 | `text_count = "3"` | 글자 3을 저장합니다. |</a:t>
            </a:r>
          </a:p>
          <a:p xmlns:a="http://schemas.openxmlformats.org/drawingml/2006/main">
            <a:r>
              <a:t>| 3 | `print(count + 2)` | 숫자끼리 덧셈합니다. |</a:t>
            </a:r>
          </a:p>
          <a:p xmlns:a="http://schemas.openxmlformats.org/drawingml/2006/main">
            <a:r>
              <a:t>| 4 | `print(text_count + "2")` | 문자열끼리 이어 붙입니다. |</a:t>
            </a:r>
          </a:p>
          <a:p xmlns:a="http://schemas.openxmlformats.org/drawingml/2006/main">
            <a:r>
              <a:t>| 5 | `print(type(count).__name__, type(text_count).__name__)` | 두 값의 자료형 이름을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code/A07_example.py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work/A07_example.py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a:t>
            </a:r>
          </a:p>
          <a:p xmlns:a="http://schemas.openxmlformats.org/drawingml/2006/main">
            <a:r>
              <a:t>32</a:t>
            </a:r>
          </a:p>
          <a:p xmlns:a="http://schemas.openxmlformats.org/drawingml/2006/main">
            <a:r>
              <a:t>int str</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세 출력 줄을 예상하고 각각 계산인지 글자 연결인지 적습니다.</a:t>
            </a:r>
          </a:p>
          <a:p xmlns:a="http://schemas.openxmlformats.org/drawingml/2006/main">
            <a:r>
              <a:t>2. 숫자와 문자열의 +를 같은 기준으로 읽지 않았는지 비교합니다.</a:t>
            </a:r>
          </a:p>
          <a:p xmlns:a="http://schemas.openxmlformats.org/drawingml/2006/main">
            <a:r>
              <a:t>3. 고의 오류 text_count + 2에서 서로 다른 자료형을 표시합니다.</a:t>
            </a:r>
          </a:p>
          <a:p xmlns:a="http://schemas.openxmlformats.org/drawingml/2006/main">
            <a:r>
              <a:t>4. 수량과 사번 중 무엇을 숫자로 바꿀지 이유를 씁니다.</a:t>
            </a:r>
          </a:p>
          <a:p xmlns:a="http://schemas.openxmlformats.org/drawingml/2006/main">
            <a:r>
              <a:t/>
            </a:r>
          </a:p>
          <a:p xmlns:a="http://schemas.openxmlformats.org/drawingml/2006/main">
            <a:r>
              <a:t>예상 결과: 5와 문자열 32, int와 str을 구별합니다. 혼합 +는 TypeError가 기대 결과입니다.</a:t>
            </a:r>
          </a:p>
          <a:p xmlns:a="http://schemas.openxmlformats.org/drawingml/2006/main">
            <a:r>
              <a:t/>
            </a:r>
          </a:p>
          <a:p xmlns:a="http://schemas.openxmlformats.org/drawingml/2006/main">
            <a:r>
              <a:t>확인 질문: "001"에 1을 더해 다음 직원을 정하는 것이 항상 적절할까요?</a:t>
            </a:r>
          </a:p>
          <a:p xmlns:a="http://schemas.openxmlformats.org/drawingml/2006/main">
            <a:r>
              <a:t/>
            </a:r>
          </a:p>
          <a:p xmlns:a="http://schemas.openxmlformats.org/drawingml/2006/main">
            <a:r>
              <a:t>막혔을 때: 화면에서 따옴표 없이 32가 보이면 type 출력도 함께 확인합니다. 표시 모양만으로 자료형을 판단하지 않습니다.</a:t>
            </a:r>
          </a:p>
          <a:p xmlns:a="http://schemas.openxmlformats.org/drawingml/2006/main">
            <a:r>
              <a:t/>
            </a:r>
          </a:p>
          <a:p xmlns:a="http://schemas.openxmlformats.org/drawingml/2006/main">
            <a:r>
              <a:t>[활동 자료와 작성칸](practice-guide.md#a07--숫자-더하기와-문자열-연결)에서 A07를 엽니다.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https://zeusk302-png.github.io/kdigital-physical-ai/#/sessions/2026-10-14/lesson?activity=A07</a:t>
            </a:r>
          </a:p>
          <a:p xmlns:a="http://schemas.openxmlformats.org/drawingml/2006/main">
            <a:r>
              <a:t>공식 자료: https://docs.python.org/3/tutorial/errors.html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A07 상세 원문]</a:t>
            </a:r>
          </a:p>
          <a:p xmlns:a="http://schemas.openxmlformats.org/drawingml/2006/main">
            <a:r>
              <a:t>### 사례로 이해하기 · 운송비 계산에서 문자열과 숫자 나누기</a:t>
            </a:r>
          </a:p>
          <a:p xmlns:a="http://schemas.openxmlformats.org/drawingml/2006/main">
            <a:r>
              <a:t/>
            </a:r>
          </a:p>
          <a:p xmlns:a="http://schemas.openxmlformats.org/drawingml/2006/main">
            <a:r>
              <a:t/>
            </a:r>
          </a:p>
          <a:p xmlns:a="http://schemas.openxmlformats.org/drawingml/2006/main">
            <a:r>
              <a:t/>
            </a:r>
          </a:p>
          <a:p xmlns:a="http://schemas.openxmlformats.org/drawingml/2006/main">
            <a:r>
              <a:t>택배 접수표에는 상품번호 “0012”, 무게 “2.5”, 포장비 1000이 있습니다. CSV에서 읽은 무게 칸은 숫자처럼 보여도 문자열일 수 있습니다. 문자열은 글자 순서를 보존하고 숫자는 수량을 계산합니다. 따옴표로 감싼 “2.5”와 실수 2.5의 저장 종류가 다르므로 계산 전 의미에 맞는 변환을 해야 합니다. 상품번호는 계산용 수량이 아니므로 앞의 0을 보존한 문자열을 유지합니다. 같은 모양의 숫자라도 변환 여부는 업무 목적에 따라 결정합니다.</a:t>
            </a:r>
          </a:p>
          <a:p xmlns:a="http://schemas.openxmlformats.org/drawingml/2006/main">
            <a:r>
              <a:t/>
            </a:r>
          </a:p>
          <a:p xmlns:a="http://schemas.openxmlformats.org/drawingml/2006/main">
            <a:r>
              <a:t>수업용 요금은 무게 1kg당 2000원에 포장비 1000원을 더하는 것으로 정합니다. 반올림·최소요금 등 실제 운송 규칙은 이번 합성 예에 포함하지 않습니다. “2.5”를 실수 2.5로 읽으면 2.5×2000+1000=6000원입니다. 먼저 곱셈으로 무게 요금을 계산하고 포장비를 더합니다. 문자열 “2”와 “5”를 +로 붙이면 “25”가 되어 무게 7이 아닙니다. 문자열을 이어 붙이는 연결과 수치 덧셈을 같은 기호가 다른 종류에 적용된 사례로 비교합니다.</a:t>
            </a:r>
          </a:p>
          <a:p xmlns:a="http://schemas.openxmlformats.org/drawingml/2006/main">
            <a:r>
              <a:t/>
            </a:r>
          </a:p>
          <a:p xmlns:a="http://schemas.openxmlformats.org/drawingml/2006/main">
            <a:r>
              <a:t>값 추적표는 원문 “2.5”·저장 종류 문자열 → 변환 값 2.5·실수 → 계산값 6000.0·실수 → 업무 표시 6000원 순서입니다. 계산 결과의 .0은 이 예의 저장·표시 방식이지 비용이 소수 원이라는 업무 확정은 아닙니다. 무게 원문이 “미확인”이라면 임의의 0kg로 바꾸지 않고 숫자 변환 전에 확인을 요청합니다. 문자열과 숫자를 +로 바로 섞으면 TypeError가 날 수 있고 “2.5”를 정수로 바로 읽으려 하면 ValueError가 납니다. 종류를 확인한 뒤 실수 변환을 고르고 상품번호까지 함께 바꾸지 않습니다.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판매표의 주문번호 “0009”, 단가 “1500”, 수량 “3”을 보고 총액과 각 항목의 저장 계획을 쓰세요. 단가는 원 단위의 정수이고, 수량은 개수로 정했습니다. 배송비 2000원을 포함한 최종액도 계산하세요.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주문번호는 문자열 유지, 단가와 수량은 정수로 해석합니다. 상품 총액 1500×3=4500원, 최종액 6500원입니다. “1500”+“3”의 문자열 연결은 “15003”으로 금액 계산이 아닙니다. 주문번호를 정수 9로 바꾸면 앞 0을 잃습니다.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**숫자처럼 보이면 모두 변환하나요?** 식별자·등급인지 실제 계산량인지 의미를 먼저 봅니다.</a:t>
            </a:r>
          </a:p>
          <a:p xmlns:a="http://schemas.openxmlformats.org/drawingml/2006/main">
            <a:r>
              <a:t/>
            </a:r>
          </a:p>
          <a:p xmlns:a="http://schemas.openxmlformats.org/drawingml/2006/main">
            <a:r>
              <a:t>2. **소수 문자열을 정수로 바로 읽나요?** 소수가 있는 표현에는 float 같은 의미에 맞는 변환이 필요합니다.</a:t>
            </a:r>
          </a:p>
          <a:p xmlns:a="http://schemas.openxmlformats.org/drawingml/2006/main">
            <a:r>
              <a:t/>
            </a:r>
          </a:p>
          <a:p xmlns:a="http://schemas.openxmlformats.org/drawingml/2006/main">
            <a:r>
              <a:t>3. **정상 종료면 요금도 맞나요?** 단위·요금 규칙·입력 해석이 맞는지 별도 확인해야 합니다.</a:t>
            </a:r>
          </a:p>
          <a:p xmlns:a="http://schemas.openxmlformats.org/drawingml/2006/main">
            <a:r>
              <a:t/>
            </a:r>
          </a:p>
          <a:p xmlns:a="http://schemas.openxmlformats.org/drawingml/2006/main">
            <a:r>
              <a:t/>
            </a:r>
          </a:p>
          <a:p xmlns:a="http://schemas.openxmlformats.org/drawingml/2006/main">
            <a:r>
              <a:t>**개념.** 숫자의 +는 수치 덧셈을 하고 문자열의 +는 글자를 이어 붙입니다. 같은 모양의 3이라도 따옴표 유무에 따라 저장 자료형이 달라지며 연산의 결과도 달라집니다.</a:t>
            </a:r>
          </a:p>
          <a:p xmlns:a="http://schemas.openxmlformats.org/drawingml/2006/main">
            <a:r>
              <a:t/>
            </a:r>
          </a:p>
          <a:p xmlns:a="http://schemas.openxmlformats.org/drawingml/2006/main">
            <a:r>
              <a:t>**왜 필요한가.** CSV의 셀을 기본 방식으로 읽으면 문자열이 된다는 10/8의 내용을 떠올립니다. 수량을 계산하려고 글자를 그대로 이어 붙이면 합계처럼 보이는 잘못된 결과가 생길 수 있습니다.</a:t>
            </a:r>
          </a:p>
          <a:p xmlns:a="http://schemas.openxmlformats.org/drawingml/2006/main">
            <a:r>
              <a:t/>
            </a:r>
          </a:p>
          <a:p xmlns:a="http://schemas.openxmlformats.org/drawingml/2006/main">
            <a:r>
              <a:t>**함께 보는 예.** 3 + 2는 5이고 "3" + "2"는 글자 32입니다. 10/8의 사번 001처럼 앞의 0을 유지해야 하는 이름표는 문자열이 적절할 수 있으므로 모든 숫자 모양을 변환하지 않습니다.</a:t>
            </a:r>
          </a:p>
          <a:p xmlns:a="http://schemas.openxmlformats.org/drawingml/2006/main">
            <a:r>
              <a:t/>
            </a:r>
          </a:p>
          <a:p xmlns:a="http://schemas.openxmlformats.org/drawingml/2006/main">
            <a:r>
              <a:t>**헷갈리는 경우.** 문자열을 무조건 숫자로 바꾸는 것도 정답이 아닙니다. 사번을 숫자로 바꾸면 식별 표현을 잃을 수 있습니다. 먼저 의미상 수량인지, 이름표인지 판단합니다.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count = 3</a:t>
            </a:r>
          </a:p>
          <a:p xmlns:a="http://schemas.openxmlformats.org/drawingml/2006/main">
            <a:r>
              <a:t>text_count = "3"</a:t>
            </a:r>
          </a:p>
          <a:p xmlns:a="http://schemas.openxmlformats.org/drawingml/2006/main">
            <a:r>
              <a:t>print(count + 2)</a:t>
            </a:r>
          </a:p>
          <a:p xmlns:a="http://schemas.openxmlformats.org/drawingml/2006/main">
            <a:r>
              <a:t>print(text_count + "2")</a:t>
            </a:r>
          </a:p>
          <a:p xmlns:a="http://schemas.openxmlformats.org/drawingml/2006/main">
            <a:r>
              <a:t>print(type(count).__name__, type(text_count).__name__)</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`count = 3` | 숫자 3을 저장합니다. |</a:t>
            </a:r>
          </a:p>
          <a:p xmlns:a="http://schemas.openxmlformats.org/drawingml/2006/main">
            <a:r>
              <a:t>| 2 | `text_count = "3"` | 글자 3을 저장합니다. |</a:t>
            </a:r>
          </a:p>
          <a:p xmlns:a="http://schemas.openxmlformats.org/drawingml/2006/main">
            <a:r>
              <a:t>| 3 | `print(count + 2)` | 숫자끼리 덧셈합니다. |</a:t>
            </a:r>
          </a:p>
          <a:p xmlns:a="http://schemas.openxmlformats.org/drawingml/2006/main">
            <a:r>
              <a:t>| 4 | `print(text_count + "2")` | 문자열끼리 이어 붙입니다. |</a:t>
            </a:r>
          </a:p>
          <a:p xmlns:a="http://schemas.openxmlformats.org/drawingml/2006/main">
            <a:r>
              <a:t>| 5 | `print(type(count).__name__, type(text_count).__name__)` | 두 값의 자료형 이름을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code/A07_example.py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work/A07_example.py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a:t>
            </a:r>
          </a:p>
          <a:p xmlns:a="http://schemas.openxmlformats.org/drawingml/2006/main">
            <a:r>
              <a:t>32</a:t>
            </a:r>
          </a:p>
          <a:p xmlns:a="http://schemas.openxmlformats.org/drawingml/2006/main">
            <a:r>
              <a:t>int str</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세 출력 줄을 예상하고 각각 계산인지 글자 연결인지 적습니다.</a:t>
            </a:r>
          </a:p>
          <a:p xmlns:a="http://schemas.openxmlformats.org/drawingml/2006/main">
            <a:r>
              <a:t>2. 숫자와 문자열의 +를 같은 기준으로 읽지 않았는지 비교합니다.</a:t>
            </a:r>
          </a:p>
          <a:p xmlns:a="http://schemas.openxmlformats.org/drawingml/2006/main">
            <a:r>
              <a:t>3. 고의 오류 text_count + 2에서 서로 다른 자료형을 표시합니다.</a:t>
            </a:r>
          </a:p>
          <a:p xmlns:a="http://schemas.openxmlformats.org/drawingml/2006/main">
            <a:r>
              <a:t>4. 수량과 사번 중 무엇을 숫자로 바꿀지 이유를 씁니다.</a:t>
            </a:r>
          </a:p>
          <a:p xmlns:a="http://schemas.openxmlformats.org/drawingml/2006/main">
            <a:r>
              <a:t/>
            </a:r>
          </a:p>
          <a:p xmlns:a="http://schemas.openxmlformats.org/drawingml/2006/main">
            <a:r>
              <a:t>예상 결과: 5와 문자열 32, int와 str을 구별합니다. 혼합 +는 TypeError가 기대 결과입니다.</a:t>
            </a:r>
          </a:p>
          <a:p xmlns:a="http://schemas.openxmlformats.org/drawingml/2006/main">
            <a:r>
              <a:t/>
            </a:r>
          </a:p>
          <a:p xmlns:a="http://schemas.openxmlformats.org/drawingml/2006/main">
            <a:r>
              <a:t>확인 질문: "001"에 1을 더해 다음 직원을 정하는 것이 항상 적절할까요?</a:t>
            </a:r>
          </a:p>
          <a:p xmlns:a="http://schemas.openxmlformats.org/drawingml/2006/main">
            <a:r>
              <a:t/>
            </a:r>
          </a:p>
          <a:p xmlns:a="http://schemas.openxmlformats.org/drawingml/2006/main">
            <a:r>
              <a:t>막혔을 때: 화면에서 따옴표 없이 32가 보이면 type 출력도 함께 확인합니다. 표시 모양만으로 자료형을 판단하지 않습니다.</a:t>
            </a:r>
          </a:p>
          <a:p xmlns:a="http://schemas.openxmlformats.org/drawingml/2006/main">
            <a:r>
              <a:t/>
            </a:r>
          </a:p>
          <a:p xmlns:a="http://schemas.openxmlformats.org/drawingml/2006/main">
            <a:r>
              <a:t>[활동 자료와 작성칸](practice-guide.md#a07--숫자-더하기와-문자열-연결)에서 A07를 엽니다.</a:t>
            </a:r>
          </a:p>
          <a:p xmlns:a="http://schemas.openxmlformats.org/drawingml/2006/main">
            <a:r>
              <a:t/>
            </a:r>
          </a:p>
          <a:p xmlns:a="http://schemas.openxmlformats.org/drawingml/2006/main">
            <a:r>
              <a:t>화면 예의 출처: D:/KDigital_PhysicalAI/.build/copyedited-ppt/spec-2026-10-14.json#slide-38;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https://zeusk302-png.github.io/kdigital-physical-ai/#/sessions/2026-10-14/lesson?activity=A07</a:t>
            </a:r>
          </a:p>
          <a:p xmlns:a="http://schemas.openxmlformats.org/drawingml/2006/main">
            <a:r>
              <a:t>공식 자료: https://docs.python.org/3/tutorial/errors.html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code/A08_example.py</a:t>
            </a:r>
          </a:p>
          <a:p xmlns:a="http://schemas.openxmlformats.org/drawingml/2006/main">
            <a:r>
              <a:t>수정한 파일을 실행할 때는 code 대신 work 폴더를 지정합니다. 직접 실행할 수 없으면 입력값부터 코드의 처리 순서를 따라 적고 강사의 결과와 비교합니다.</a:t>
            </a:r>
          </a:p>
          <a:p xmlns:a="http://schemas.openxmlformats.org/drawingml/2006/main">
            <a:r>
              <a:t/>
            </a:r>
          </a:p>
          <a:p xmlns:a="http://schemas.openxmlformats.org/drawingml/2006/main">
            <a:r>
              <a:t>[활동 A08 상세 원문]</a:t>
            </a:r>
          </a:p>
          <a:p xmlns:a="http://schemas.openxmlformats.org/drawingml/2006/main">
            <a:r>
              <a:t>**개념.** 형 변환은 정해진 규칙으로 다른 자료형의 값을 만드는 일입니다. float("22.5")는 숫자를 나타내는 문자열을 실수값으로 해석합니다. 원문 문자열이 저절로 바뀌는 것은 아니며 결과를 다른 이름에 연결할 수 있습니다.</a:t>
            </a:r>
          </a:p>
          <a:p xmlns:a="http://schemas.openxmlformats.org/drawingml/2006/main">
            <a:r>
              <a:t/>
            </a:r>
          </a:p>
          <a:p xmlns:a="http://schemas.openxmlformats.org/drawingml/2006/main">
            <a:r>
              <a:t>**왜 필요한가.** 외부에서 읽은 온도 글자를 계산하려면 숫자로 다룰 값인지 확인하고 변환해야 합니다. 데이터의 의미가 수치라는 사실과 현재 저장 형태가 문자열이라는 사실을 연결하는 단계입니다.</a:t>
            </a:r>
          </a:p>
          <a:p xmlns:a="http://schemas.openxmlformats.org/drawingml/2006/main">
            <a:r>
              <a:t/>
            </a:r>
          </a:p>
          <a:p xmlns:a="http://schemas.openxmlformats.org/drawingml/2006/main">
            <a:r>
              <a:t>**함께 보는 예.** raw와 temperature_c를 나누어 두면 받은 원문과 해석 결과를 비교하기 쉽습니다. 출력에서는 두 값의 모양이 같아도 자료형이 str과 float로 다릅니다.</a:t>
            </a:r>
          </a:p>
          <a:p xmlns:a="http://schemas.openxmlformats.org/drawingml/2006/main">
            <a:r>
              <a:t/>
            </a:r>
          </a:p>
          <a:p xmlns:a="http://schemas.openxmlformats.org/drawingml/2006/main">
            <a:r>
              <a:t>**헷갈리는 경우.** float("뜨거움")은 수치로 해석할 수 없어 ValueError가 납니다. 빈칸을 0으로 바꾸는 것으로 해결하면 미측정을 실제 0℃로 바꾸게 됩니다. 값 없음 처리는 다음 활동과 다음 날에 별도로 배웁니다.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raw = "22.5"</a:t>
            </a:r>
          </a:p>
          <a:p xmlns:a="http://schemas.openxmlformats.org/drawingml/2006/main">
            <a:r>
              <a:t>temperature_c = float(raw)</a:t>
            </a:r>
          </a:p>
          <a:p xmlns:a="http://schemas.openxmlformats.org/drawingml/2006/main">
            <a:r>
              <a:t>print(raw, type(raw).__name__)</a:t>
            </a:r>
          </a:p>
          <a:p xmlns:a="http://schemas.openxmlformats.org/drawingml/2006/main">
            <a:r>
              <a:t>print(temperature_c, type(temperature_c).__name__)</a:t>
            </a:r>
          </a:p>
          <a:p xmlns:a="http://schemas.openxmlformats.org/drawingml/2006/main">
            <a:r>
              <a:t>print(temperature_c + 1)</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`raw = "22.5"` | 받은 원문 글자를 저장합니다. |</a:t>
            </a:r>
          </a:p>
          <a:p xmlns:a="http://schemas.openxmlformats.org/drawingml/2006/main">
            <a:r>
              <a:t>| 2 | `temperature_c = float(raw)` | 숫자로 해석한 결과를 새 이름에 연결합니다. |</a:t>
            </a:r>
          </a:p>
          <a:p xmlns:a="http://schemas.openxmlformats.org/drawingml/2006/main">
            <a:r>
              <a:t>| 3 | `print(raw, type(raw).__name__)` | 원문의 값과 문자열 자료형을 확인합니다. |</a:t>
            </a:r>
          </a:p>
          <a:p xmlns:a="http://schemas.openxmlformats.org/drawingml/2006/main">
            <a:r>
              <a:t>| 4 | `print(temperature_c, type(temperature_c).__name__)` | 변환 결과와 실수 자료형을 확인합니다. |</a:t>
            </a:r>
          </a:p>
          <a:p xmlns:a="http://schemas.openxmlformats.org/drawingml/2006/main">
            <a:r>
              <a:t>| 5 | `print(temperature_c + 1)` | 변환한 숫자에 1을 더합니다.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code/A08_example.py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work/A08_example.py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 str</a:t>
            </a:r>
          </a:p>
          <a:p xmlns:a="http://schemas.openxmlformats.org/drawingml/2006/main">
            <a:r>
              <a:t>22.5 float</a:t>
            </a:r>
          </a:p>
          <a:p xmlns:a="http://schemas.openxmlformats.org/drawingml/2006/main">
            <a:r>
              <a:t>23.5</a:t>
            </a:r>
          </a:p>
          <a:p xmlns:a="http://schemas.openxmlformats.org/drawingml/2006/main">
            <a:r>
              <a:t>```</a:t>
            </a:r>
          </a:p>
          <a:p xmlns:a="http://schemas.openxmlformats.org/drawingml/2006/main">
            <a:r>
              <a:t/>
            </a:r>
          </a:p>
          <a:p xmlns:a="http://schemas.openxmlformats.org/drawingml/2006/main">
            <a:r>
              <a:t>작은 수정: `"22.5"`를 `"24.0"`로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24.0 str</a:t>
            </a:r>
          </a:p>
          <a:p xmlns:a="http://schemas.openxmlformats.org/drawingml/2006/main">
            <a:r>
              <a:t>24.0 float</a:t>
            </a:r>
          </a:p>
          <a:p xmlns:a="http://schemas.openxmlformats.org/drawingml/2006/main">
            <a:r>
              <a:t>25.0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원문과 변환 결과의 이름을 구별합니다.</a:t>
            </a:r>
          </a:p>
          <a:p xmlns:a="http://schemas.openxmlformats.org/drawingml/2006/main">
            <a:r>
              <a:t>2. 원문을 "24.0"으로 바꾸고 출력 세 줄을 예상합니다.</a:t>
            </a:r>
          </a:p>
          <a:p xmlns:a="http://schemas.openxmlformats.org/drawingml/2006/main">
            <a:r>
              <a:t>3. 저장·실행 뒤 값과 자료형을 대조합니다.</a:t>
            </a:r>
          </a:p>
          <a:p xmlns:a="http://schemas.openxmlformats.org/drawingml/2006/main">
            <a:r>
              <a:t>4. 고의 오류 "뜨거움" 사례의 원문·오류 종류·확인 질문을 기록합니다.</a:t>
            </a:r>
          </a:p>
          <a:p xmlns:a="http://schemas.openxmlformats.org/drawingml/2006/main">
            <a:r>
              <a:t/>
            </a:r>
          </a:p>
          <a:p xmlns:a="http://schemas.openxmlformats.org/drawingml/2006/main">
            <a:r>
              <a:t>예상 결과: 변환 후 계산 결과는 25.0. 숫자가 아닌 글자에서는 ValueError.</a:t>
            </a:r>
          </a:p>
          <a:p xmlns:a="http://schemas.openxmlformats.org/drawingml/2006/main">
            <a:r>
              <a:t/>
            </a:r>
          </a:p>
          <a:p xmlns:a="http://schemas.openxmlformats.org/drawingml/2006/main">
            <a:r>
              <a:t>확인 질문: 원문 raw를 남기는 이유는 무엇일까요?</a:t>
            </a:r>
          </a:p>
          <a:p xmlns:a="http://schemas.openxmlformats.org/drawingml/2006/main">
            <a:r>
              <a:t/>
            </a:r>
          </a:p>
          <a:p xmlns:a="http://schemas.openxmlformats.org/drawingml/2006/main">
            <a:r>
              <a:t>막혔을 때: ValueError가 보이면 입력 문자열을 먼저 확인합니다. °C 같은 단위 글자가 붙었는지, 빈칸인지 구별하고 확인되지 않은 값을 만들어 채우지 않습니다.</a:t>
            </a:r>
          </a:p>
          <a:p xmlns:a="http://schemas.openxmlformats.org/drawingml/2006/main">
            <a:r>
              <a:t/>
            </a:r>
          </a:p>
          <a:p xmlns:a="http://schemas.openxmlformats.org/drawingml/2006/main">
            <a:r>
              <a:t>[활동 자료와 작성칸](practice-guide.md#a08--수치-문자열을-숫자로-변환하기)에서 A08를 엽니다.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https://zeusk302-png.github.io/kdigital-physical-ai/#/sessions/2026-10-14/lesson?activity=A08</a:t>
            </a:r>
          </a:p>
          <a:p xmlns:a="http://schemas.openxmlformats.org/drawingml/2006/main">
            <a:r>
              <a:t>공식 자료: https://docs.python.org/3/tutorial/errors.html</a:t>
            </a:r>
          </a:p>
          <a:p xmlns:a="http://schemas.openxmlformats.org/drawingml/2006/main">
            <a:r>
              <a:t/>
            </a:r>
          </a:p>
          <a:p xmlns:a="http://schemas.openxmlformats.org/drawingml/2006/main">
            <a:r>
              <a:t>코드와 개념 해설: float(raw)로 문자열을 수치로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A08 상세 원문]</a:t>
            </a:r>
          </a:p>
          <a:p xmlns:a="http://schemas.openxmlformats.org/drawingml/2006/main">
            <a:r>
              <a:t>**개념.** 형 변환은 정해진 규칙으로 다른 자료형의 값을 만드는 일입니다. float("22.5")는 숫자를 나타내는 문자열을 실수값으로 해석합니다. 원문 문자열이 저절로 바뀌는 것은 아니며 결과를 다른 이름에 연결할 수 있습니다.</a:t>
            </a:r>
          </a:p>
          <a:p xmlns:a="http://schemas.openxmlformats.org/drawingml/2006/main">
            <a:r>
              <a:t/>
            </a:r>
          </a:p>
          <a:p xmlns:a="http://schemas.openxmlformats.org/drawingml/2006/main">
            <a:r>
              <a:t>**왜 필요한가.** 외부에서 읽은 온도 글자를 계산하려면 숫자로 다룰 값인지 확인하고 변환해야 합니다. 데이터의 의미가 수치라는 사실과 현재 저장 형태가 문자열이라는 사실을 연결하는 단계입니다.</a:t>
            </a:r>
          </a:p>
          <a:p xmlns:a="http://schemas.openxmlformats.org/drawingml/2006/main">
            <a:r>
              <a:t/>
            </a:r>
          </a:p>
          <a:p xmlns:a="http://schemas.openxmlformats.org/drawingml/2006/main">
            <a:r>
              <a:t>**함께 보는 예.** raw와 temperature_c를 나누어 두면 받은 원문과 해석 결과를 비교하기 쉽습니다. 출력에서는 두 값의 모양이 같아도 자료형이 str과 float로 다릅니다.</a:t>
            </a:r>
          </a:p>
          <a:p xmlns:a="http://schemas.openxmlformats.org/drawingml/2006/main">
            <a:r>
              <a:t/>
            </a:r>
          </a:p>
          <a:p xmlns:a="http://schemas.openxmlformats.org/drawingml/2006/main">
            <a:r>
              <a:t>**헷갈리는 경우.** float("뜨거움")은 수치로 해석할 수 없어 ValueError가 납니다. 빈칸을 0으로 바꾸는 것으로 해결하면 미측정을 실제 0℃로 바꾸게 됩니다. 값 없음 처리는 다음 활동과 다음 날에 별도로 배웁니다.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raw = "22.5"</a:t>
            </a:r>
          </a:p>
          <a:p xmlns:a="http://schemas.openxmlformats.org/drawingml/2006/main">
            <a:r>
              <a:t>temperature_c = float(raw)</a:t>
            </a:r>
          </a:p>
          <a:p xmlns:a="http://schemas.openxmlformats.org/drawingml/2006/main">
            <a:r>
              <a:t>print(raw, type(raw).__name__)</a:t>
            </a:r>
          </a:p>
          <a:p xmlns:a="http://schemas.openxmlformats.org/drawingml/2006/main">
            <a:r>
              <a:t>print(temperature_c, type(temperature_c).__name__)</a:t>
            </a:r>
          </a:p>
          <a:p xmlns:a="http://schemas.openxmlformats.org/drawingml/2006/main">
            <a:r>
              <a:t>print(temperature_c + 1)</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`raw = "22.5"` | 받은 원문 글자를 저장합니다. |</a:t>
            </a:r>
          </a:p>
          <a:p xmlns:a="http://schemas.openxmlformats.org/drawingml/2006/main">
            <a:r>
              <a:t>| 2 | `temperature_c = float(raw)` | 숫자로 해석한 결과를 새 이름에 연결합니다. |</a:t>
            </a:r>
          </a:p>
          <a:p xmlns:a="http://schemas.openxmlformats.org/drawingml/2006/main">
            <a:r>
              <a:t>| 3 | `print(raw, type(raw).__name__)` | 원문의 값과 문자열 자료형을 확인합니다. |</a:t>
            </a:r>
          </a:p>
          <a:p xmlns:a="http://schemas.openxmlformats.org/drawingml/2006/main">
            <a:r>
              <a:t>| 4 | `print(temperature_c, type(temperature_c).__name__)` | 변환 결과와 실수 자료형을 확인합니다. |</a:t>
            </a:r>
          </a:p>
          <a:p xmlns:a="http://schemas.openxmlformats.org/drawingml/2006/main">
            <a:r>
              <a:t>| 5 | `print(temperature_c + 1)` | 변환한 숫자에 1을 더합니다.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code/A08_example.py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work/A08_example.py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 str</a:t>
            </a:r>
          </a:p>
          <a:p xmlns:a="http://schemas.openxmlformats.org/drawingml/2006/main">
            <a:r>
              <a:t>22.5 float</a:t>
            </a:r>
          </a:p>
          <a:p xmlns:a="http://schemas.openxmlformats.org/drawingml/2006/main">
            <a:r>
              <a:t>23.5</a:t>
            </a:r>
          </a:p>
          <a:p xmlns:a="http://schemas.openxmlformats.org/drawingml/2006/main">
            <a:r>
              <a:t>```</a:t>
            </a:r>
          </a:p>
          <a:p xmlns:a="http://schemas.openxmlformats.org/drawingml/2006/main">
            <a:r>
              <a:t/>
            </a:r>
          </a:p>
          <a:p xmlns:a="http://schemas.openxmlformats.org/drawingml/2006/main">
            <a:r>
              <a:t>작은 수정: `"22.5"`를 `"24.0"`로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24.0 str</a:t>
            </a:r>
          </a:p>
          <a:p xmlns:a="http://schemas.openxmlformats.org/drawingml/2006/main">
            <a:r>
              <a:t>24.0 float</a:t>
            </a:r>
          </a:p>
          <a:p xmlns:a="http://schemas.openxmlformats.org/drawingml/2006/main">
            <a:r>
              <a:t>25.0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원문과 변환 결과의 이름을 구별합니다.</a:t>
            </a:r>
          </a:p>
          <a:p xmlns:a="http://schemas.openxmlformats.org/drawingml/2006/main">
            <a:r>
              <a:t>2. 원문을 "24.0"으로 바꾸고 출력 세 줄을 예상합니다.</a:t>
            </a:r>
          </a:p>
          <a:p xmlns:a="http://schemas.openxmlformats.org/drawingml/2006/main">
            <a:r>
              <a:t>3. 저장·실행 뒤 값과 자료형을 대조합니다.</a:t>
            </a:r>
          </a:p>
          <a:p xmlns:a="http://schemas.openxmlformats.org/drawingml/2006/main">
            <a:r>
              <a:t>4. 고의 오류 "뜨거움" 사례의 원문·오류 종류·확인 질문을 기록합니다.</a:t>
            </a:r>
          </a:p>
          <a:p xmlns:a="http://schemas.openxmlformats.org/drawingml/2006/main">
            <a:r>
              <a:t/>
            </a:r>
          </a:p>
          <a:p xmlns:a="http://schemas.openxmlformats.org/drawingml/2006/main">
            <a:r>
              <a:t>예상 결과: 변환 후 계산 결과는 25.0. 숫자가 아닌 글자에서는 ValueError.</a:t>
            </a:r>
          </a:p>
          <a:p xmlns:a="http://schemas.openxmlformats.org/drawingml/2006/main">
            <a:r>
              <a:t/>
            </a:r>
          </a:p>
          <a:p xmlns:a="http://schemas.openxmlformats.org/drawingml/2006/main">
            <a:r>
              <a:t>확인 질문: 원문 raw를 남기는 이유는 무엇일까요?</a:t>
            </a:r>
          </a:p>
          <a:p xmlns:a="http://schemas.openxmlformats.org/drawingml/2006/main">
            <a:r>
              <a:t/>
            </a:r>
          </a:p>
          <a:p xmlns:a="http://schemas.openxmlformats.org/drawingml/2006/main">
            <a:r>
              <a:t>막혔을 때: ValueError가 보이면 입력 문자열을 먼저 확인합니다. °C 같은 단위 글자가 붙었는지, 빈칸인지 구별하고 확인되지 않은 값을 만들어 채우지 않습니다.</a:t>
            </a:r>
          </a:p>
          <a:p xmlns:a="http://schemas.openxmlformats.org/drawingml/2006/main">
            <a:r>
              <a:t/>
            </a:r>
          </a:p>
          <a:p xmlns:a="http://schemas.openxmlformats.org/drawingml/2006/main">
            <a:r>
              <a:t>[활동 자료와 작성칸](practice-guide.md#a08--수치-문자열을-숫자로-변환하기)에서 A08를 엽니다.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https://zeusk302-png.github.io/kdigital-physical-ai/#/sessions/2026-10-14/lesson?activity=A08</a:t>
            </a:r>
          </a:p>
          <a:p xmlns:a="http://schemas.openxmlformats.org/drawingml/2006/main">
            <a:r>
              <a:t>공식 자료: https://docs.python.org/3/tutorial/errors.html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A08 상세 원문]</a:t>
            </a:r>
          </a:p>
          <a:p xmlns:a="http://schemas.openxmlformats.org/drawingml/2006/main">
            <a:r>
              <a:t>**개념.** 형 변환은 정해진 규칙으로 다른 자료형의 값을 만드는 일입니다. float("22.5")는 숫자를 나타내는 문자열을 실수값으로 해석합니다. 원문 문자열이 저절로 바뀌는 것은 아니며 결과를 다른 이름에 연결할 수 있습니다.</a:t>
            </a:r>
          </a:p>
          <a:p xmlns:a="http://schemas.openxmlformats.org/drawingml/2006/main">
            <a:r>
              <a:t/>
            </a:r>
          </a:p>
          <a:p xmlns:a="http://schemas.openxmlformats.org/drawingml/2006/main">
            <a:r>
              <a:t>**왜 필요한가.** 외부에서 읽은 온도 글자를 계산하려면 숫자로 다룰 값인지 확인하고 변환해야 합니다. 데이터의 의미가 수치라는 사실과 현재 저장 형태가 문자열이라는 사실을 연결하는 단계입니다.</a:t>
            </a:r>
          </a:p>
          <a:p xmlns:a="http://schemas.openxmlformats.org/drawingml/2006/main">
            <a:r>
              <a:t/>
            </a:r>
          </a:p>
          <a:p xmlns:a="http://schemas.openxmlformats.org/drawingml/2006/main">
            <a:r>
              <a:t>**함께 보는 예.** raw와 temperature_c를 나누어 두면 받은 원문과 해석 결과를 비교하기 쉽습니다. 출력에서는 두 값의 모양이 같아도 자료형이 str과 float로 다릅니다.</a:t>
            </a:r>
          </a:p>
          <a:p xmlns:a="http://schemas.openxmlformats.org/drawingml/2006/main">
            <a:r>
              <a:t/>
            </a:r>
          </a:p>
          <a:p xmlns:a="http://schemas.openxmlformats.org/drawingml/2006/main">
            <a:r>
              <a:t>**헷갈리는 경우.** float("뜨거움")은 수치로 해석할 수 없어 ValueError가 납니다. 빈칸을 0으로 바꾸는 것으로 해결하면 미측정을 실제 0℃로 바꾸게 됩니다. 값 없음 처리는 다음 활동과 다음 날에 별도로 배웁니다.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raw = "22.5"</a:t>
            </a:r>
          </a:p>
          <a:p xmlns:a="http://schemas.openxmlformats.org/drawingml/2006/main">
            <a:r>
              <a:t>temperature_c = float(raw)</a:t>
            </a:r>
          </a:p>
          <a:p xmlns:a="http://schemas.openxmlformats.org/drawingml/2006/main">
            <a:r>
              <a:t>print(raw, type(raw).__name__)</a:t>
            </a:r>
          </a:p>
          <a:p xmlns:a="http://schemas.openxmlformats.org/drawingml/2006/main">
            <a:r>
              <a:t>print(temperature_c, type(temperature_c).__name__)</a:t>
            </a:r>
          </a:p>
          <a:p xmlns:a="http://schemas.openxmlformats.org/drawingml/2006/main">
            <a:r>
              <a:t>print(temperature_c + 1)</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`raw = "22.5"` | 받은 원문 글자를 저장합니다. |</a:t>
            </a:r>
          </a:p>
          <a:p xmlns:a="http://schemas.openxmlformats.org/drawingml/2006/main">
            <a:r>
              <a:t>| 2 | `temperature_c = float(raw)` | 숫자로 해석한 결과를 새 이름에 연결합니다. |</a:t>
            </a:r>
          </a:p>
          <a:p xmlns:a="http://schemas.openxmlformats.org/drawingml/2006/main">
            <a:r>
              <a:t>| 3 | `print(raw, type(raw).__name__)` | 원문의 값과 문자열 자료형을 확인합니다. |</a:t>
            </a:r>
          </a:p>
          <a:p xmlns:a="http://schemas.openxmlformats.org/drawingml/2006/main">
            <a:r>
              <a:t>| 4 | `print(temperature_c, type(temperature_c).__name__)` | 변환 결과와 실수 자료형을 확인합니다. |</a:t>
            </a:r>
          </a:p>
          <a:p xmlns:a="http://schemas.openxmlformats.org/drawingml/2006/main">
            <a:r>
              <a:t>| 5 | `print(temperature_c + 1)` | 변환한 숫자에 1을 더합니다.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code/A08_example.py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work/A08_example.py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 str</a:t>
            </a:r>
          </a:p>
          <a:p xmlns:a="http://schemas.openxmlformats.org/drawingml/2006/main">
            <a:r>
              <a:t>22.5 float</a:t>
            </a:r>
          </a:p>
          <a:p xmlns:a="http://schemas.openxmlformats.org/drawingml/2006/main">
            <a:r>
              <a:t>23.5</a:t>
            </a:r>
          </a:p>
          <a:p xmlns:a="http://schemas.openxmlformats.org/drawingml/2006/main">
            <a:r>
              <a:t>```</a:t>
            </a:r>
          </a:p>
          <a:p xmlns:a="http://schemas.openxmlformats.org/drawingml/2006/main">
            <a:r>
              <a:t/>
            </a:r>
          </a:p>
          <a:p xmlns:a="http://schemas.openxmlformats.org/drawingml/2006/main">
            <a:r>
              <a:t>작은 수정: `"22.5"`를 `"24.0"`로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24.0 str</a:t>
            </a:r>
          </a:p>
          <a:p xmlns:a="http://schemas.openxmlformats.org/drawingml/2006/main">
            <a:r>
              <a:t>24.0 float</a:t>
            </a:r>
          </a:p>
          <a:p xmlns:a="http://schemas.openxmlformats.org/drawingml/2006/main">
            <a:r>
              <a:t>25.0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원문과 변환 결과의 이름을 구별합니다.</a:t>
            </a:r>
          </a:p>
          <a:p xmlns:a="http://schemas.openxmlformats.org/drawingml/2006/main">
            <a:r>
              <a:t>2. 원문을 "24.0"으로 바꾸고 출력 세 줄을 예상합니다.</a:t>
            </a:r>
          </a:p>
          <a:p xmlns:a="http://schemas.openxmlformats.org/drawingml/2006/main">
            <a:r>
              <a:t>3. 저장·실행 뒤 값과 자료형을 대조합니다.</a:t>
            </a:r>
          </a:p>
          <a:p xmlns:a="http://schemas.openxmlformats.org/drawingml/2006/main">
            <a:r>
              <a:t>4. 고의 오류 "뜨거움" 사례의 원문·오류 종류·확인 질문을 기록합니다.</a:t>
            </a:r>
          </a:p>
          <a:p xmlns:a="http://schemas.openxmlformats.org/drawingml/2006/main">
            <a:r>
              <a:t/>
            </a:r>
          </a:p>
          <a:p xmlns:a="http://schemas.openxmlformats.org/drawingml/2006/main">
            <a:r>
              <a:t>예상 결과: 변환 후 계산 결과는 25.0. 숫자가 아닌 글자에서는 ValueError.</a:t>
            </a:r>
          </a:p>
          <a:p xmlns:a="http://schemas.openxmlformats.org/drawingml/2006/main">
            <a:r>
              <a:t/>
            </a:r>
          </a:p>
          <a:p xmlns:a="http://schemas.openxmlformats.org/drawingml/2006/main">
            <a:r>
              <a:t>확인 질문: 원문 raw를 남기는 이유는 무엇일까요?</a:t>
            </a:r>
          </a:p>
          <a:p xmlns:a="http://schemas.openxmlformats.org/drawingml/2006/main">
            <a:r>
              <a:t/>
            </a:r>
          </a:p>
          <a:p xmlns:a="http://schemas.openxmlformats.org/drawingml/2006/main">
            <a:r>
              <a:t>막혔을 때: ValueError가 보이면 입력 문자열을 먼저 확인합니다. °C 같은 단위 글자가 붙었는지, 빈칸인지 구별하고 확인되지 않은 값을 만들어 채우지 않습니다.</a:t>
            </a:r>
          </a:p>
          <a:p xmlns:a="http://schemas.openxmlformats.org/drawingml/2006/main">
            <a:r>
              <a:t/>
            </a:r>
          </a:p>
          <a:p xmlns:a="http://schemas.openxmlformats.org/drawingml/2006/main">
            <a:r>
              <a:t>[활동 자료와 작성칸](practice-guide.md#a08--수치-문자열을-숫자로-변환하기)에서 A08를 엽니다.</a:t>
            </a:r>
          </a:p>
          <a:p xmlns:a="http://schemas.openxmlformats.org/drawingml/2006/main">
            <a:r>
              <a:t/>
            </a:r>
          </a:p>
          <a:p xmlns:a="http://schemas.openxmlformats.org/drawingml/2006/main">
            <a:r>
              <a:t>화면 예의 출처: D:/KDigital_PhysicalAI/.build/copyedited-ppt/spec-2026-10-14.json#slide-41;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https://zeusk302-png.github.io/kdigital-physical-ai/#/sessions/2026-10-14/lesson?activity=A08</a:t>
            </a:r>
          </a:p>
          <a:p xmlns:a="http://schemas.openxmlformats.org/drawingml/2006/main">
            <a:r>
              <a:t>공식 자료: https://docs.python.org/3/tutorial/errors.html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code/A09_example.py</a:t>
            </a:r>
          </a:p>
          <a:p xmlns:a="http://schemas.openxmlformats.org/drawingml/2006/main">
            <a:r>
              <a:t>수정한 파일을 실행할 때는 code 대신 work 폴더를 지정합니다. 직접 실행할 수 없으면 입력값부터 코드의 처리 순서를 따라 적고 강사의 결과와 비교합니다.</a:t>
            </a:r>
          </a:p>
          <a:p xmlns:a="http://schemas.openxmlformats.org/drawingml/2006/main">
            <a:r>
              <a:t/>
            </a:r>
          </a:p>
          <a:p xmlns:a="http://schemas.openxmlformats.org/drawingml/2006/main">
            <a:r>
              <a:t>[활동 A09 상세 원문]</a:t>
            </a:r>
          </a:p>
          <a:p xmlns:a="http://schemas.openxmlformats.org/drawingml/2006/main">
            <a:r>
              <a:t>**개념.** 연산자는 값으로 계산하는 기호입니다. +, -, *, /를 읽고 괄호로 먼저 계산할 부분을 정합니다. Python에서 /의 결과는 나누어떨어져도 실수 형태가 될 수 있습니다.</a:t>
            </a:r>
          </a:p>
          <a:p xmlns:a="http://schemas.openxmlformats.org/drawingml/2006/main">
            <a:r>
              <a:t/>
            </a:r>
          </a:p>
          <a:p xmlns:a="http://schemas.openxmlformats.org/drawingml/2006/main">
            <a:r>
              <a:t>**왜 필요한가.** 합계와 개수를 따로 확인해야 평균의 분모를 잘못 고르는 일을 막을 수 있습니다. 오늘은 이미 확인된 숫자 세 개만 계산하고, 미측정과 잘못된 값이 있는 파일 처리는 다음 날로 넘깁니다.</a:t>
            </a:r>
          </a:p>
          <a:p xmlns:a="http://schemas.openxmlformats.org/drawingml/2006/main">
            <a:r>
              <a:t/>
            </a:r>
          </a:p>
          <a:p xmlns:a="http://schemas.openxmlformats.org/drawingml/2006/main">
            <a:r>
              <a:t>**함께 보는 예.** 22.5, 24.0, 23.5의 합은 70.0이며 세 값의 평균은 23.333…입니다. round는 표시를 짧게 하는 데 쓰지만 원래 센서가 정확히 두 자리까지 측정했다는 뜻은 아닙니다.</a:t>
            </a:r>
          </a:p>
          <a:p xmlns:a="http://schemas.openxmlformats.org/drawingml/2006/main">
            <a:r>
              <a:t/>
            </a:r>
          </a:p>
          <a:p xmlns:a="http://schemas.openxmlformats.org/drawingml/2006/main">
            <a:r>
              <a:t>**헷갈리는 경우.** 22.5 + 24.0 + 23.5 / 3은 전체 합을 3으로 나누는 식과 다릅니다. 괄호나 합계 이름을 사용해 의도한 계산 순서를 드러냅니다.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total = 22.5 + 24.0 + 23.5</a:t>
            </a:r>
          </a:p>
          <a:p xmlns:a="http://schemas.openxmlformats.org/drawingml/2006/main">
            <a:r>
              <a:t>count = 3</a:t>
            </a:r>
          </a:p>
          <a:p xmlns:a="http://schemas.openxmlformats.org/drawingml/2006/main">
            <a:r>
              <a:t>average = total / count</a:t>
            </a:r>
          </a:p>
          <a:p xmlns:a="http://schemas.openxmlformats.org/drawingml/2006/main">
            <a:r>
              <a:t>print(total)</a:t>
            </a:r>
          </a:p>
          <a:p xmlns:a="http://schemas.openxmlformats.org/drawingml/2006/main">
            <a:r>
              <a:t>print(round(average, 2))</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`total = 22.5 + 24.0 + 23.5` | 확인된 온도 세 값의 합을 계산합니다. |</a:t>
            </a:r>
          </a:p>
          <a:p xmlns:a="http://schemas.openxmlformats.org/drawingml/2006/main">
            <a:r>
              <a:t>| 2 | `count = 3` | 계산에 사용한 값의 개수를 저장합니다. |</a:t>
            </a:r>
          </a:p>
          <a:p xmlns:a="http://schemas.openxmlformats.org/drawingml/2006/main">
            <a:r>
              <a:t>| 3 | `average = total / count` | 합을 개수로 나눕니다. |</a:t>
            </a:r>
          </a:p>
          <a:p xmlns:a="http://schemas.openxmlformats.org/drawingml/2006/main">
            <a:r>
              <a:t>| 4 | `print(total)` | 합계를 출력합니다. |</a:t>
            </a:r>
          </a:p>
          <a:p xmlns:a="http://schemas.openxmlformats.org/drawingml/2006/main">
            <a:r>
              <a:t>| 5 | `print(round(average, 2))` | 평균을 소수 둘째 자리까지 반올림해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code/A09_example.py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work/A09_example.py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70.0</a:t>
            </a:r>
          </a:p>
          <a:p xmlns:a="http://schemas.openxmlformats.org/drawingml/2006/main">
            <a:r>
              <a:t>23.33</a:t>
            </a:r>
          </a:p>
          <a:p xmlns:a="http://schemas.openxmlformats.org/drawingml/2006/main">
            <a:r>
              <a:t>```</a:t>
            </a:r>
          </a:p>
          <a:p xmlns:a="http://schemas.openxmlformats.org/drawingml/2006/main">
            <a:r>
              <a:t/>
            </a:r>
          </a:p>
          <a:p xmlns:a="http://schemas.openxmlformats.org/drawingml/2006/main">
            <a:r>
              <a:t>작은 수정: `count = 3`를 `count = 2`로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70.0</a:t>
            </a:r>
          </a:p>
          <a:p xmlns:a="http://schemas.openxmlformats.org/drawingml/2006/main">
            <a:r>
              <a:t>35.0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합계와 개수를 손으로 확인합니다.</a:t>
            </a:r>
          </a:p>
          <a:p xmlns:a="http://schemas.openxmlformats.org/drawingml/2006/main">
            <a:r>
              <a:t>2. 코드 각 계산의 입력과 결과를 표로 적습니다.</a:t>
            </a:r>
          </a:p>
          <a:p xmlns:a="http://schemas.openxmlformats.org/drawingml/2006/main">
            <a:r>
              <a:t>3. count를 2로 바꾼 출력 35.0이 계산은 되지만 의미상 맞는지 판단합니다.</a:t>
            </a:r>
          </a:p>
          <a:p xmlns:a="http://schemas.openxmlformats.org/drawingml/2006/main">
            <a:r>
              <a:t>4. 정상 분모를 복원하고 0으로 나눌 때 오류 단서를 비교합니다.</a:t>
            </a:r>
          </a:p>
          <a:p xmlns:a="http://schemas.openxmlformats.org/drawingml/2006/main">
            <a:r>
              <a:t/>
            </a:r>
          </a:p>
          <a:p xmlns:a="http://schemas.openxmlformats.org/drawingml/2006/main">
            <a:r>
              <a:t>예상 결과: 정상 합계 70.0, 평균 23.33. 잘못된 분모는 실행 성공과 별개로 검수해야 합니다.</a:t>
            </a:r>
          </a:p>
          <a:p xmlns:a="http://schemas.openxmlformats.org/drawingml/2006/main">
            <a:r>
              <a:t/>
            </a:r>
          </a:p>
          <a:p xmlns:a="http://schemas.openxmlformats.org/drawingml/2006/main">
            <a:r>
              <a:t>확인 질문: 코드가 종료 코드 0으로 끝났다면 평균의 업무 의미도 보장되나요?</a:t>
            </a:r>
          </a:p>
          <a:p xmlns:a="http://schemas.openxmlformats.org/drawingml/2006/main">
            <a:r>
              <a:t/>
            </a:r>
          </a:p>
          <a:p xmlns:a="http://schemas.openxmlformats.org/drawingml/2006/main">
            <a:r>
              <a:t>막혔을 때: ZeroDivisionError가 생기면 분모가 왜 0인지 먼저 확인합니다. 임의로 1을 넣어 원인을 숨기지 않습니다.</a:t>
            </a:r>
          </a:p>
          <a:p xmlns:a="http://schemas.openxmlformats.org/drawingml/2006/main">
            <a:r>
              <a:t/>
            </a:r>
          </a:p>
          <a:p xmlns:a="http://schemas.openxmlformats.org/drawingml/2006/main">
            <a:r>
              <a:t>[활동 자료와 작성칸](practice-guide.md#a09--연산과-괄호로-작은-계산-만들기)에서 A09를 엽니다.</a:t>
            </a:r>
          </a:p>
          <a:p xmlns:a="http://schemas.openxmlformats.org/drawingml/2006/main">
            <a:r>
              <a:t/>
            </a:r>
          </a:p>
          <a:p xmlns:a="http://schemas.openxmlformats.org/drawingml/2006/main">
            <a:r>
              <a:t># 4구간 · 기준에 따라 나누기</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https://zeusk302-png.github.io/kdigital-physical-ai/#/sessions/2026-10-14/lesson?activity=A09</a:t>
            </a:r>
          </a:p>
          <a:p xmlns:a="http://schemas.openxmlformats.org/drawingml/2006/main">
            <a:r>
              <a:t>공식 자료: https://docs.python.org/3/tutorial/errors.html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A09 상세 원문]</a:t>
            </a:r>
          </a:p>
          <a:p xmlns:a="http://schemas.openxmlformats.org/drawingml/2006/main">
            <a:r>
              <a:t>**개념.** 연산자는 값으로 계산하는 기호입니다. +, -, *, /를 읽고 괄호로 먼저 계산할 부분을 정합니다. Python에서 /의 결과는 나누어떨어져도 실수 형태가 될 수 있습니다.</a:t>
            </a:r>
          </a:p>
          <a:p xmlns:a="http://schemas.openxmlformats.org/drawingml/2006/main">
            <a:r>
              <a:t/>
            </a:r>
          </a:p>
          <a:p xmlns:a="http://schemas.openxmlformats.org/drawingml/2006/main">
            <a:r>
              <a:t>**왜 필요한가.** 합계와 개수를 따로 확인해야 평균의 분모를 잘못 고르는 일을 막을 수 있습니다. 오늘은 이미 확인된 숫자 세 개만 계산하고, 미측정과 잘못된 값이 있는 파일 처리는 다음 날로 넘깁니다.</a:t>
            </a:r>
          </a:p>
          <a:p xmlns:a="http://schemas.openxmlformats.org/drawingml/2006/main">
            <a:r>
              <a:t/>
            </a:r>
          </a:p>
          <a:p xmlns:a="http://schemas.openxmlformats.org/drawingml/2006/main">
            <a:r>
              <a:t>**함께 보는 예.** 22.5, 24.0, 23.5의 합은 70.0이며 세 값의 평균은 23.333…입니다. round는 표시를 짧게 하는 데 쓰지만 원래 센서가 정확히 두 자리까지 측정했다는 뜻은 아닙니다.</a:t>
            </a:r>
          </a:p>
          <a:p xmlns:a="http://schemas.openxmlformats.org/drawingml/2006/main">
            <a:r>
              <a:t/>
            </a:r>
          </a:p>
          <a:p xmlns:a="http://schemas.openxmlformats.org/drawingml/2006/main">
            <a:r>
              <a:t>**헷갈리는 경우.** 22.5 + 24.0 + 23.5 / 3은 전체 합을 3으로 나누는 식과 다릅니다. 괄호나 합계 이름을 사용해 의도한 계산 순서를 드러냅니다.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total = 22.5 + 24.0 + 23.5</a:t>
            </a:r>
          </a:p>
          <a:p xmlns:a="http://schemas.openxmlformats.org/drawingml/2006/main">
            <a:r>
              <a:t>count = 3</a:t>
            </a:r>
          </a:p>
          <a:p xmlns:a="http://schemas.openxmlformats.org/drawingml/2006/main">
            <a:r>
              <a:t>average = total / count</a:t>
            </a:r>
          </a:p>
          <a:p xmlns:a="http://schemas.openxmlformats.org/drawingml/2006/main">
            <a:r>
              <a:t>print(total)</a:t>
            </a:r>
          </a:p>
          <a:p xmlns:a="http://schemas.openxmlformats.org/drawingml/2006/main">
            <a:r>
              <a:t>print(round(average, 2))</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`total = 22.5 + 24.0 + 23.5` | 확인된 온도 세 값의 합을 계산합니다. |</a:t>
            </a:r>
          </a:p>
          <a:p xmlns:a="http://schemas.openxmlformats.org/drawingml/2006/main">
            <a:r>
              <a:t>| 2 | `count = 3` | 계산에 사용한 값의 개수를 저장합니다. |</a:t>
            </a:r>
          </a:p>
          <a:p xmlns:a="http://schemas.openxmlformats.org/drawingml/2006/main">
            <a:r>
              <a:t>| 3 | `average = total / count` | 합을 개수로 나눕니다. |</a:t>
            </a:r>
          </a:p>
          <a:p xmlns:a="http://schemas.openxmlformats.org/drawingml/2006/main">
            <a:r>
              <a:t>| 4 | `print(total)` | 합계를 출력합니다. |</a:t>
            </a:r>
          </a:p>
          <a:p xmlns:a="http://schemas.openxmlformats.org/drawingml/2006/main">
            <a:r>
              <a:t>| 5 | `print(round(average, 2))` | 평균을 소수 둘째 자리까지 반올림해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code/A09_example.py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work/A09_example.py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70.0</a:t>
            </a:r>
          </a:p>
          <a:p xmlns:a="http://schemas.openxmlformats.org/drawingml/2006/main">
            <a:r>
              <a:t>23.33</a:t>
            </a:r>
          </a:p>
          <a:p xmlns:a="http://schemas.openxmlformats.org/drawingml/2006/main">
            <a:r>
              <a:t>```</a:t>
            </a:r>
          </a:p>
          <a:p xmlns:a="http://schemas.openxmlformats.org/drawingml/2006/main">
            <a:r>
              <a:t/>
            </a:r>
          </a:p>
          <a:p xmlns:a="http://schemas.openxmlformats.org/drawingml/2006/main">
            <a:r>
              <a:t>작은 수정: `count = 3`를 `count = 2`로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70.0</a:t>
            </a:r>
          </a:p>
          <a:p xmlns:a="http://schemas.openxmlformats.org/drawingml/2006/main">
            <a:r>
              <a:t>35.0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합계와 개수를 손으로 확인합니다.</a:t>
            </a:r>
          </a:p>
          <a:p xmlns:a="http://schemas.openxmlformats.org/drawingml/2006/main">
            <a:r>
              <a:t>2. 코드 각 계산의 입력과 결과를 표로 적습니다.</a:t>
            </a:r>
          </a:p>
          <a:p xmlns:a="http://schemas.openxmlformats.org/drawingml/2006/main">
            <a:r>
              <a:t>3. count를 2로 바꾼 출력 35.0이 계산은 되지만 의미상 맞는지 판단합니다.</a:t>
            </a:r>
          </a:p>
          <a:p xmlns:a="http://schemas.openxmlformats.org/drawingml/2006/main">
            <a:r>
              <a:t>4. 정상 분모를 복원하고 0으로 나눌 때 오류 단서를 비교합니다.</a:t>
            </a:r>
          </a:p>
          <a:p xmlns:a="http://schemas.openxmlformats.org/drawingml/2006/main">
            <a:r>
              <a:t/>
            </a:r>
          </a:p>
          <a:p xmlns:a="http://schemas.openxmlformats.org/drawingml/2006/main">
            <a:r>
              <a:t>예상 결과: 정상 합계 70.0, 평균 23.33. 잘못된 분모는 실행 성공과 별개로 검수해야 합니다.</a:t>
            </a:r>
          </a:p>
          <a:p xmlns:a="http://schemas.openxmlformats.org/drawingml/2006/main">
            <a:r>
              <a:t/>
            </a:r>
          </a:p>
          <a:p xmlns:a="http://schemas.openxmlformats.org/drawingml/2006/main">
            <a:r>
              <a:t>확인 질문: 코드가 종료 코드 0으로 끝났다면 평균의 업무 의미도 보장되나요?</a:t>
            </a:r>
          </a:p>
          <a:p xmlns:a="http://schemas.openxmlformats.org/drawingml/2006/main">
            <a:r>
              <a:t/>
            </a:r>
          </a:p>
          <a:p xmlns:a="http://schemas.openxmlformats.org/drawingml/2006/main">
            <a:r>
              <a:t>막혔을 때: ZeroDivisionError가 생기면 분모가 왜 0인지 먼저 확인합니다. 임의로 1을 넣어 원인을 숨기지 않습니다.</a:t>
            </a:r>
          </a:p>
          <a:p xmlns:a="http://schemas.openxmlformats.org/drawingml/2006/main">
            <a:r>
              <a:t/>
            </a:r>
          </a:p>
          <a:p xmlns:a="http://schemas.openxmlformats.org/drawingml/2006/main">
            <a:r>
              <a:t>[활동 자료와 작성칸](practice-guide.md#a09--연산과-괄호로-작은-계산-만들기)에서 A09를 엽니다.</a:t>
            </a:r>
          </a:p>
          <a:p xmlns:a="http://schemas.openxmlformats.org/drawingml/2006/main">
            <a:r>
              <a:t/>
            </a:r>
          </a:p>
          <a:p xmlns:a="http://schemas.openxmlformats.org/drawingml/2006/main">
            <a:r>
              <a:t># 4구간 · 기준에 따라 나누기</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https://zeusk302-png.github.io/kdigital-physical-ai/#/sessions/2026-10-14/lesson?activity=A09</a:t>
            </a:r>
          </a:p>
          <a:p xmlns:a="http://schemas.openxmlformats.org/drawingml/2006/main">
            <a:r>
              <a:t>공식 자료: https://docs.python.org/3/tutorial/errors.html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A09 상세 원문]</a:t>
            </a:r>
          </a:p>
          <a:p xmlns:a="http://schemas.openxmlformats.org/drawingml/2006/main">
            <a:r>
              <a:t>**개념.** 연산자는 값으로 계산하는 기호입니다. +, -, *, /를 읽고 괄호로 먼저 계산할 부분을 정합니다. Python에서 /의 결과는 나누어떨어져도 실수 형태가 될 수 있습니다.</a:t>
            </a:r>
          </a:p>
          <a:p xmlns:a="http://schemas.openxmlformats.org/drawingml/2006/main">
            <a:r>
              <a:t/>
            </a:r>
          </a:p>
          <a:p xmlns:a="http://schemas.openxmlformats.org/drawingml/2006/main">
            <a:r>
              <a:t>**왜 필요한가.** 합계와 개수를 따로 확인해야 평균의 분모를 잘못 고르는 일을 막을 수 있습니다. 오늘은 이미 확인된 숫자 세 개만 계산하고, 미측정과 잘못된 값이 있는 파일 처리는 다음 날로 넘깁니다.</a:t>
            </a:r>
          </a:p>
          <a:p xmlns:a="http://schemas.openxmlformats.org/drawingml/2006/main">
            <a:r>
              <a:t/>
            </a:r>
          </a:p>
          <a:p xmlns:a="http://schemas.openxmlformats.org/drawingml/2006/main">
            <a:r>
              <a:t>**함께 보는 예.** 22.5, 24.0, 23.5의 합은 70.0이며 세 값의 평균은 23.333…입니다. round는 표시를 짧게 하는 데 쓰지만 원래 센서가 정확히 두 자리까지 측정했다는 뜻은 아닙니다.</a:t>
            </a:r>
          </a:p>
          <a:p xmlns:a="http://schemas.openxmlformats.org/drawingml/2006/main">
            <a:r>
              <a:t/>
            </a:r>
          </a:p>
          <a:p xmlns:a="http://schemas.openxmlformats.org/drawingml/2006/main">
            <a:r>
              <a:t>**헷갈리는 경우.** 22.5 + 24.0 + 23.5 / 3은 전체 합을 3으로 나누는 식과 다릅니다. 괄호나 합계 이름을 사용해 의도한 계산 순서를 드러냅니다.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total = 22.5 + 24.0 + 23.5</a:t>
            </a:r>
          </a:p>
          <a:p xmlns:a="http://schemas.openxmlformats.org/drawingml/2006/main">
            <a:r>
              <a:t>count = 3</a:t>
            </a:r>
          </a:p>
          <a:p xmlns:a="http://schemas.openxmlformats.org/drawingml/2006/main">
            <a:r>
              <a:t>average = total / count</a:t>
            </a:r>
          </a:p>
          <a:p xmlns:a="http://schemas.openxmlformats.org/drawingml/2006/main">
            <a:r>
              <a:t>print(total)</a:t>
            </a:r>
          </a:p>
          <a:p xmlns:a="http://schemas.openxmlformats.org/drawingml/2006/main">
            <a:r>
              <a:t>print(round(average, 2))</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`total = 22.5 + 24.0 + 23.5` | 확인된 온도 세 값의 합을 계산합니다. |</a:t>
            </a:r>
          </a:p>
          <a:p xmlns:a="http://schemas.openxmlformats.org/drawingml/2006/main">
            <a:r>
              <a:t>| 2 | `count = 3` | 계산에 사용한 값의 개수를 저장합니다. |</a:t>
            </a:r>
          </a:p>
          <a:p xmlns:a="http://schemas.openxmlformats.org/drawingml/2006/main">
            <a:r>
              <a:t>| 3 | `average = total / count` | 합을 개수로 나눕니다. |</a:t>
            </a:r>
          </a:p>
          <a:p xmlns:a="http://schemas.openxmlformats.org/drawingml/2006/main">
            <a:r>
              <a:t>| 4 | `print(total)` | 합계를 출력합니다. |</a:t>
            </a:r>
          </a:p>
          <a:p xmlns:a="http://schemas.openxmlformats.org/drawingml/2006/main">
            <a:r>
              <a:t>| 5 | `print(round(average, 2))` | 평균을 소수 둘째 자리까지 반올림해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code/A09_example.py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work/A09_example.py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70.0</a:t>
            </a:r>
          </a:p>
          <a:p xmlns:a="http://schemas.openxmlformats.org/drawingml/2006/main">
            <a:r>
              <a:t>23.33</a:t>
            </a:r>
          </a:p>
          <a:p xmlns:a="http://schemas.openxmlformats.org/drawingml/2006/main">
            <a:r>
              <a:t>```</a:t>
            </a:r>
          </a:p>
          <a:p xmlns:a="http://schemas.openxmlformats.org/drawingml/2006/main">
            <a:r>
              <a:t/>
            </a:r>
          </a:p>
          <a:p xmlns:a="http://schemas.openxmlformats.org/drawingml/2006/main">
            <a:r>
              <a:t>작은 수정: `count = 3`를 `count = 2`로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70.0</a:t>
            </a:r>
          </a:p>
          <a:p xmlns:a="http://schemas.openxmlformats.org/drawingml/2006/main">
            <a:r>
              <a:t>35.0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합계와 개수를 손으로 확인합니다.</a:t>
            </a:r>
          </a:p>
          <a:p xmlns:a="http://schemas.openxmlformats.org/drawingml/2006/main">
            <a:r>
              <a:t>2. 코드 각 계산의 입력과 결과를 표로 적습니다.</a:t>
            </a:r>
          </a:p>
          <a:p xmlns:a="http://schemas.openxmlformats.org/drawingml/2006/main">
            <a:r>
              <a:t>3. count를 2로 바꾼 출력 35.0이 계산은 되지만 의미상 맞는지 판단합니다.</a:t>
            </a:r>
          </a:p>
          <a:p xmlns:a="http://schemas.openxmlformats.org/drawingml/2006/main">
            <a:r>
              <a:t>4. 정상 분모를 복원하고 0으로 나눌 때 오류 단서를 비교합니다.</a:t>
            </a:r>
          </a:p>
          <a:p xmlns:a="http://schemas.openxmlformats.org/drawingml/2006/main">
            <a:r>
              <a:t/>
            </a:r>
          </a:p>
          <a:p xmlns:a="http://schemas.openxmlformats.org/drawingml/2006/main">
            <a:r>
              <a:t>예상 결과: 정상 합계 70.0, 평균 23.33. 잘못된 분모는 실행 성공과 별개로 검수해야 합니다.</a:t>
            </a:r>
          </a:p>
          <a:p xmlns:a="http://schemas.openxmlformats.org/drawingml/2006/main">
            <a:r>
              <a:t/>
            </a:r>
          </a:p>
          <a:p xmlns:a="http://schemas.openxmlformats.org/drawingml/2006/main">
            <a:r>
              <a:t>확인 질문: 코드가 종료 코드 0으로 끝났다면 평균의 업무 의미도 보장되나요?</a:t>
            </a:r>
          </a:p>
          <a:p xmlns:a="http://schemas.openxmlformats.org/drawingml/2006/main">
            <a:r>
              <a:t/>
            </a:r>
          </a:p>
          <a:p xmlns:a="http://schemas.openxmlformats.org/drawingml/2006/main">
            <a:r>
              <a:t>막혔을 때: ZeroDivisionError가 생기면 분모가 왜 0인지 먼저 확인합니다. 임의로 1을 넣어 원인을 숨기지 않습니다.</a:t>
            </a:r>
          </a:p>
          <a:p xmlns:a="http://schemas.openxmlformats.org/drawingml/2006/main">
            <a:r>
              <a:t/>
            </a:r>
          </a:p>
          <a:p xmlns:a="http://schemas.openxmlformats.org/drawingml/2006/main">
            <a:r>
              <a:t>[활동 자료와 작성칸](practice-guide.md#a09--연산과-괄호로-작은-계산-만들기)에서 A09를 엽니다.</a:t>
            </a:r>
          </a:p>
          <a:p xmlns:a="http://schemas.openxmlformats.org/drawingml/2006/main">
            <a:r>
              <a:t/>
            </a:r>
          </a:p>
          <a:p xmlns:a="http://schemas.openxmlformats.org/drawingml/2006/main">
            <a:r>
              <a:t># 4구간 · 기준에 따라 나누기</a:t>
            </a:r>
          </a:p>
          <a:p xmlns:a="http://schemas.openxmlformats.org/drawingml/2006/main">
            <a:r>
              <a:t/>
            </a:r>
          </a:p>
          <a:p xmlns:a="http://schemas.openxmlformats.org/drawingml/2006/main">
            <a:r>
              <a:t>화면 예의 출처: D:/KDigital_PhysicalAI/.build/copyedited-ppt/spec-2026-10-14.json#slide-44;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https://zeusk302-png.github.io/kdigital-physical-ai/#/sessions/2026-10-14/lesson?activity=A09</a:t>
            </a:r>
          </a:p>
          <a:p xmlns:a="http://schemas.openxmlformats.org/drawingml/2006/main">
            <a:r>
              <a:t>공식 자료: https://docs.python.org/3/tutorial/errors.html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택배 접수표에는 상품번호 “0012”, 무게 “2.5”, 포장비 1000이 있습니다. CSV에서 읽은 무게 칸은 숫자처럼 보여도 문자열일 수 있습니다. 문자열은 글자 순서를 보존하고 숫자는 수량을 계산합니다. 따옴표로 감싼 “2.5”와 실수 2.5의 저장 종류가 다르므로 계산 전 의미에 맞는 변환을 해야 합니다. 상품번호는 계산용 수량이 아니므로 앞의 0을 보존한 문자열을 유지합니다. 같은 모양의 숫자라도 변환 여부는 업무 목적에 따라 결정합니다.</a:t>
            </a:r>
          </a:p>
          <a:p xmlns:a="http://schemas.openxmlformats.org/drawingml/2006/main">
            <a:r>
              <a:t/>
            </a:r>
          </a:p>
          <a:p xmlns:a="http://schemas.openxmlformats.org/drawingml/2006/main">
            <a:r>
              <a:t>수업용 요금은 무게 1kg당 2000원에 포장비 1000원을 더하는 것으로 정합니다. 반올림·최소요금 등 실제 운송 규칙은 이번 합성 예에 포함하지 않습니다. “2.5”를 실수 2.5로 읽으면 2.5×2000+1000=6000원입니다. 먼저 곱셈으로 무게 요금을 계산하고 포장비를 더합니다. 문자열 “2”와 “5”를 +로 붙이면 “25”가 되어 무게 7이 아닙니다. 문자열을 이어 붙이는 연결과 수치 덧셈을 같은 기호가 다른 종류에 적용된 사례로 비교합니다.</a:t>
            </a:r>
          </a:p>
          <a:p xmlns:a="http://schemas.openxmlformats.org/drawingml/2006/main">
            <a:r>
              <a:t/>
            </a:r>
          </a:p>
          <a:p xmlns:a="http://schemas.openxmlformats.org/drawingml/2006/main">
            <a:r>
              <a:t>값 추적표는 원문 “2.5”·저장 종류 문자열 → 변환 값 2.5·실수 → 계산값 6000.0·실수 → 업무 표시 6000원 순서입니다. 계산 결과의 .0은 이 예의 저장·표시 방식이지 비용이 소수 원이라는 업무 확정은 아닙니다. 무게 원문이 “미확인”이라면 임의의 0kg로 바꾸지 않고 숫자 변환 전에 확인을 요청합니다. 문자열과 숫자를 +로 바로 섞으면 TypeError가 날 수 있고 “2.5”를 정수로 바로 읽으려 하면 ValueError가 납니다. 종류를 확인한 뒤 실수 변환을 고르고 상품번호까지 함께 바꾸지 않습니다.</a:t>
            </a:r>
          </a:p>
          <a:p xmlns:a="http://schemas.openxmlformats.org/drawingml/2006/main">
            <a:r>
              <a:t/>
            </a:r>
          </a:p>
          <a:p xmlns:a="http://schemas.openxmlformats.org/drawingml/2006/main">
            <a:r>
              <a:t>화면 예의 출처: D:/KDigital_PhysicalAI/.build/copyedited-ppt/spec-2026-10-14.json#slide-47;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https://docs.python.org/3/tutorial/errors.html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택배 접수표에는 상품번호 “0012”, 무게 “2.5”, 포장비 1000이 있습니다. CSV에서 읽은 무게 칸은 숫자처럼 보여도 문자열일 수 있습니다. 문자열은 글자 순서를 보존하고 숫자는 수량을 계산합니다. 따옴표로 감싼 “2.5”와 실수 2.5의 저장 종류가 다르므로 계산 전 의미에 맞는 변환을 해야 합니다. 상품번호는 계산용 수량이 아니므로 앞의 0을 보존한 문자열을 유지합니다. 같은 모양의 숫자라도 변환 여부는 업무 목적에 따라 결정합니다.</a:t>
            </a:r>
          </a:p>
          <a:p xmlns:a="http://schemas.openxmlformats.org/drawingml/2006/main">
            <a:r>
              <a:t/>
            </a:r>
          </a:p>
          <a:p xmlns:a="http://schemas.openxmlformats.org/drawingml/2006/main">
            <a:r>
              <a:t>수업용 요금은 무게 1kg당 2000원에 포장비 1000원을 더하는 것으로 정합니다. 반올림·최소요금 등 실제 운송 규칙은 이번 합성 예에 포함하지 않습니다. “2.5”를 실수 2.5로 읽으면 2.5×2000+1000=6000원입니다. 먼저 곱셈으로 무게 요금을 계산하고 포장비를 더합니다. 문자열 “2”와 “5”를 +로 붙이면 “25”가 되어 무게 7이 아닙니다. 문자열을 이어 붙이는 연결과 수치 덧셈을 같은 기호가 다른 종류에 적용된 사례로 비교합니다.</a:t>
            </a:r>
          </a:p>
          <a:p xmlns:a="http://schemas.openxmlformats.org/drawingml/2006/main">
            <a:r>
              <a:t/>
            </a:r>
          </a:p>
          <a:p xmlns:a="http://schemas.openxmlformats.org/drawingml/2006/main">
            <a:r>
              <a:t>값 추적표는 원문 “2.5”·저장 종류 문자열 → 변환 값 2.5·실수 → 계산값 6000.0·실수 → 업무 표시 6000원 순서입니다. 계산 결과의 .0은 이 예의 저장·표시 방식이지 비용이 소수 원이라는 업무 확정은 아닙니다. 무게 원문이 “미확인”이라면 임의의 0kg로 바꾸지 않고 숫자 변환 전에 확인을 요청합니다. 문자열과 숫자를 +로 바로 섞으면 TypeError가 날 수 있고 “2.5”를 정수로 바로 읽으려 하면 ValueError가 납니다. 종류를 확인한 뒤 실수 변환을 고르고 상품번호까지 함께 바꾸지 않습니다.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https://docs.python.org/3/tutorial/errors.html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판매표의 주문번호 “0009”, 단가 “1500”, 수량 “3”을 보고 총액과 각 항목의 저장 계획을 쓰세요. 단가는 원 단위의 정수이고, 수량은 개수로 정했습니다. 배송비 2000원을 포함한 최종액도 계산하세요.</a:t>
            </a:r>
          </a:p>
          <a:p xmlns:a="http://schemas.openxmlformats.org/drawingml/2006/main">
            <a:r>
              <a:t/>
            </a:r>
          </a:p>
          <a:p xmlns:a="http://schemas.openxmlformats.org/drawingml/2006/main">
            <a:r>
              <a:t>학생이 먼저 답을 적은 뒤 풀이를 보여 줍니다. 이 문제는 필수 활동을 마친 뒤 추가로 사용합니다.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https://docs.python.org/3/tutorial/errors.html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주문번호는 문자열 유지, 단가와 수량은 정수로 해석합니다. 상품 총액 1500×3=4500원, 최종액 6500원입니다. “1500”+“3”의 문자열 연결은 “15003”으로 금액 계산이 아닙니다. 주문번호를 정수 9로 바꾸면 앞 0을 잃습니다.</a:t>
            </a:r>
          </a:p>
          <a:p xmlns:a="http://schemas.openxmlformats.org/drawingml/2006/main">
            <a:r>
              <a:t/>
            </a:r>
          </a:p>
          <a:p xmlns:a="http://schemas.openxmlformats.org/drawingml/2006/main">
            <a:r>
              <a:t>핵심 질문과 해설:</a:t>
            </a:r>
          </a:p>
          <a:p xmlns:a="http://schemas.openxmlformats.org/drawingml/2006/main">
            <a:r>
              <a:t>숫자처럼 보이면 모두 변환하나요? 식별자·등급인지 실제 계산량인지 의미를 먼저 봅니다.</a:t>
            </a:r>
          </a:p>
          <a:p xmlns:a="http://schemas.openxmlformats.org/drawingml/2006/main">
            <a:r>
              <a:t>소수 문자열을 정수로 바로 읽나요? 소수가 있는 표현에는 float 같은 의미에 맞는 변환이 필요합니다.</a:t>
            </a:r>
          </a:p>
          <a:p xmlns:a="http://schemas.openxmlformats.org/drawingml/2006/main">
            <a:r>
              <a:t>정상 종료면 요금도 맞나요? 단위·요금 규칙·입력 해석이 맞는지 별도 확인해야 합니다.</a:t>
            </a:r>
          </a:p>
          <a:p xmlns:a="http://schemas.openxmlformats.org/drawingml/2006/main">
            <a:r>
              <a:t/>
            </a:r>
          </a:p>
          <a:p xmlns:a="http://schemas.openxmlformats.org/drawingml/2006/main">
            <a:r>
              <a:t>화면 예의 출처: D:/KDigital_PhysicalAI/.build/copyedited-ppt/spec-2026-10-14.json#slide-48;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https://docs.python.org/3/tutorial/errors.html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A09 상세 원문]</a:t>
            </a:r>
          </a:p>
          <a:p xmlns:a="http://schemas.openxmlformats.org/drawingml/2006/main">
            <a:r>
              <a:t>**개념.** 연산자는 값으로 계산하는 기호입니다. +, -, *, /를 읽고 괄호로 먼저 계산할 부분을 정합니다. Python에서 /의 결과는 나누어떨어져도 실수 형태가 될 수 있습니다.</a:t>
            </a:r>
          </a:p>
          <a:p xmlns:a="http://schemas.openxmlformats.org/drawingml/2006/main">
            <a:r>
              <a:t/>
            </a:r>
          </a:p>
          <a:p xmlns:a="http://schemas.openxmlformats.org/drawingml/2006/main">
            <a:r>
              <a:t>**왜 필요한가.** 합계와 개수를 따로 확인해야 평균의 분모를 잘못 고르는 일을 막을 수 있습니다. 오늘은 이미 확인된 숫자 세 개만 계산하고, 미측정과 잘못된 값이 있는 파일 처리는 다음 날로 넘깁니다.</a:t>
            </a:r>
          </a:p>
          <a:p xmlns:a="http://schemas.openxmlformats.org/drawingml/2006/main">
            <a:r>
              <a:t/>
            </a:r>
          </a:p>
          <a:p xmlns:a="http://schemas.openxmlformats.org/drawingml/2006/main">
            <a:r>
              <a:t>**함께 보는 예.** 22.5, 24.0, 23.5의 합은 70.0이며 세 값의 평균은 23.333…입니다. round는 표시를 짧게 하는 데 쓰지만 원래 센서가 정확히 두 자리까지 측정했다는 뜻은 아닙니다.</a:t>
            </a:r>
          </a:p>
          <a:p xmlns:a="http://schemas.openxmlformats.org/drawingml/2006/main">
            <a:r>
              <a:t/>
            </a:r>
          </a:p>
          <a:p xmlns:a="http://schemas.openxmlformats.org/drawingml/2006/main">
            <a:r>
              <a:t>**헷갈리는 경우.** 22.5 + 24.0 + 23.5 / 3은 전체 합을 3으로 나누는 식과 다릅니다. 괄호나 합계 이름을 사용해 의도한 계산 순서를 드러냅니다.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total = 22.5 + 24.0 + 23.5</a:t>
            </a:r>
          </a:p>
          <a:p xmlns:a="http://schemas.openxmlformats.org/drawingml/2006/main">
            <a:r>
              <a:t>count = 3</a:t>
            </a:r>
          </a:p>
          <a:p xmlns:a="http://schemas.openxmlformats.org/drawingml/2006/main">
            <a:r>
              <a:t>average = total / count</a:t>
            </a:r>
          </a:p>
          <a:p xmlns:a="http://schemas.openxmlformats.org/drawingml/2006/main">
            <a:r>
              <a:t>print(total)</a:t>
            </a:r>
          </a:p>
          <a:p xmlns:a="http://schemas.openxmlformats.org/drawingml/2006/main">
            <a:r>
              <a:t>print(round(average, 2))</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`total = 22.5 + 24.0 + 23.5` | 확인된 온도 세 값의 합을 계산합니다. |</a:t>
            </a:r>
          </a:p>
          <a:p xmlns:a="http://schemas.openxmlformats.org/drawingml/2006/main">
            <a:r>
              <a:t>| 2 | `count = 3` | 계산에 사용한 값의 개수를 저장합니다. |</a:t>
            </a:r>
          </a:p>
          <a:p xmlns:a="http://schemas.openxmlformats.org/drawingml/2006/main">
            <a:r>
              <a:t>| 3 | `average = total / count` | 합을 개수로 나눕니다. |</a:t>
            </a:r>
          </a:p>
          <a:p xmlns:a="http://schemas.openxmlformats.org/drawingml/2006/main">
            <a:r>
              <a:t>| 4 | `print(total)` | 합계를 출력합니다. |</a:t>
            </a:r>
          </a:p>
          <a:p xmlns:a="http://schemas.openxmlformats.org/drawingml/2006/main">
            <a:r>
              <a:t>| 5 | `print(round(average, 2))` | 평균을 소수 둘째 자리까지 반올림해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code/A09_example.py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work/A09_example.py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70.0</a:t>
            </a:r>
          </a:p>
          <a:p xmlns:a="http://schemas.openxmlformats.org/drawingml/2006/main">
            <a:r>
              <a:t>23.33</a:t>
            </a:r>
          </a:p>
          <a:p xmlns:a="http://schemas.openxmlformats.org/drawingml/2006/main">
            <a:r>
              <a:t>```</a:t>
            </a:r>
          </a:p>
          <a:p xmlns:a="http://schemas.openxmlformats.org/drawingml/2006/main">
            <a:r>
              <a:t/>
            </a:r>
          </a:p>
          <a:p xmlns:a="http://schemas.openxmlformats.org/drawingml/2006/main">
            <a:r>
              <a:t>작은 수정: `count = 3`를 `count = 2`로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70.0</a:t>
            </a:r>
          </a:p>
          <a:p xmlns:a="http://schemas.openxmlformats.org/drawingml/2006/main">
            <a:r>
              <a:t>35.0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합계와 개수를 손으로 확인합니다.</a:t>
            </a:r>
          </a:p>
          <a:p xmlns:a="http://schemas.openxmlformats.org/drawingml/2006/main">
            <a:r>
              <a:t>2. 코드 각 계산의 입력과 결과를 표로 적습니다.</a:t>
            </a:r>
          </a:p>
          <a:p xmlns:a="http://schemas.openxmlformats.org/drawingml/2006/main">
            <a:r>
              <a:t>3. count를 2로 바꾼 출력 35.0이 계산은 되지만 의미상 맞는지 판단합니다.</a:t>
            </a:r>
          </a:p>
          <a:p xmlns:a="http://schemas.openxmlformats.org/drawingml/2006/main">
            <a:r>
              <a:t>4. 정상 분모를 복원하고 0으로 나눌 때 오류 단서를 비교합니다.</a:t>
            </a:r>
          </a:p>
          <a:p xmlns:a="http://schemas.openxmlformats.org/drawingml/2006/main">
            <a:r>
              <a:t/>
            </a:r>
          </a:p>
          <a:p xmlns:a="http://schemas.openxmlformats.org/drawingml/2006/main">
            <a:r>
              <a:t>예상 결과: 정상 합계 70.0, 평균 23.33. 잘못된 분모는 실행 성공과 별개로 검수해야 합니다.</a:t>
            </a:r>
          </a:p>
          <a:p xmlns:a="http://schemas.openxmlformats.org/drawingml/2006/main">
            <a:r>
              <a:t/>
            </a:r>
          </a:p>
          <a:p xmlns:a="http://schemas.openxmlformats.org/drawingml/2006/main">
            <a:r>
              <a:t>확인 질문: 코드가 종료 코드 0으로 끝났다면 평균의 업무 의미도 보장되나요?</a:t>
            </a:r>
          </a:p>
          <a:p xmlns:a="http://schemas.openxmlformats.org/drawingml/2006/main">
            <a:r>
              <a:t/>
            </a:r>
          </a:p>
          <a:p xmlns:a="http://schemas.openxmlformats.org/drawingml/2006/main">
            <a:r>
              <a:t>막혔을 때: ZeroDivisionError가 생기면 분모가 왜 0인지 먼저 확인합니다. 임의로 1을 넣어 원인을 숨기지 않습니다.</a:t>
            </a:r>
          </a:p>
          <a:p xmlns:a="http://schemas.openxmlformats.org/drawingml/2006/main">
            <a:r>
              <a:t/>
            </a:r>
          </a:p>
          <a:p xmlns:a="http://schemas.openxmlformats.org/drawingml/2006/main">
            <a:r>
              <a:t>[활동 자료와 작성칸](practice-guide.md#a09--연산과-괄호로-작은-계산-만들기)에서 A09를 엽니다.</a:t>
            </a:r>
          </a:p>
          <a:p xmlns:a="http://schemas.openxmlformats.org/drawingml/2006/main">
            <a:r>
              <a:t/>
            </a:r>
          </a:p>
          <a:p xmlns:a="http://schemas.openxmlformats.org/drawingml/2006/main">
            <a:r>
              <a:t># 4구간 · 기준에 따라 나누기</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https://zeusk302-png.github.io/kdigital-physical-ai/#/sessions/2026-10-14/lesson?activity=A09</a:t>
            </a:r>
          </a:p>
          <a:p xmlns:a="http://schemas.openxmlformats.org/drawingml/2006/main">
            <a:r>
              <a:t>공식 자료: https://docs.python.org/3/tutorial/errors.html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번호가 숫자처럼 보여도 수량처럼 더하거나 평균 내지 않습니다.</a:t>
            </a:r>
          </a:p>
          <a:p xmlns:a="http://schemas.openxmlformats.org/drawingml/2006/main">
            <a:r>
              <a:t>실행 성공과 업무 계산의 정확성은 다릅니다.</a:t>
            </a:r>
          </a:p>
          <a:p xmlns:a="http://schemas.openxmlformats.org/drawingml/2006/main">
            <a:r>
              <a:t/>
            </a:r>
          </a:p>
          <a:p xmlns:a="http://schemas.openxmlformats.org/drawingml/2006/main">
            <a:r>
              <a:t>관련 교시의 상세 원문:</a:t>
            </a:r>
          </a:p>
          <a:p xmlns:a="http://schemas.openxmlformats.org/drawingml/2006/main">
            <a:r>
              <a:t>### 사례로 이해하기 · 운송비 계산에서 문자열과 숫자 나누기</a:t>
            </a:r>
          </a:p>
          <a:p xmlns:a="http://schemas.openxmlformats.org/drawingml/2006/main">
            <a:r>
              <a:t/>
            </a:r>
          </a:p>
          <a:p xmlns:a="http://schemas.openxmlformats.org/drawingml/2006/main">
            <a:r>
              <a:t/>
            </a:r>
          </a:p>
          <a:p xmlns:a="http://schemas.openxmlformats.org/drawingml/2006/main">
            <a:r>
              <a:t/>
            </a:r>
          </a:p>
          <a:p xmlns:a="http://schemas.openxmlformats.org/drawingml/2006/main">
            <a:r>
              <a:t>택배 접수표에는 상품번호 “0012”, 무게 “2.5”, 포장비 1000이 있습니다. CSV에서 읽은 무게 칸은 숫자처럼 보여도 문자열일 수 있습니다. 문자열은 글자 순서를 보존하고 숫자는 수량을 계산합니다. 따옴표로 감싼 “2.5”와 실수 2.5의 저장 종류가 다르므로 계산 전 의미에 맞는 변환을 해야 합니다. 상품번호는 계산용 수량이 아니므로 앞의 0을 보존한 문자열을 유지합니다. 같은 모양의 숫자라도 변환 여부는 업무 목적에 따라 결정합니다.</a:t>
            </a:r>
          </a:p>
          <a:p xmlns:a="http://schemas.openxmlformats.org/drawingml/2006/main">
            <a:r>
              <a:t/>
            </a:r>
          </a:p>
          <a:p xmlns:a="http://schemas.openxmlformats.org/drawingml/2006/main">
            <a:r>
              <a:t>수업용 요금은 무게 1kg당 2000원에 포장비 1000원을 더하는 것으로 정합니다. 반올림·최소요금 등 실제 운송 규칙은 이번 합성 예에 포함하지 않습니다. “2.5”를 실수 2.5로 읽으면 2.5×2000+1000=6000원입니다. 먼저 곱셈으로 무게 요금을 계산하고 포장비를 더합니다. 문자열 “2”와 “5”를 +로 붙이면 “25”가 되어 무게 7이 아닙니다. 문자열을 이어 붙이는 연결과 수치 덧셈을 같은 기호가 다른 종류에 적용된 사례로 비교합니다.</a:t>
            </a:r>
          </a:p>
          <a:p xmlns:a="http://schemas.openxmlformats.org/drawingml/2006/main">
            <a:r>
              <a:t/>
            </a:r>
          </a:p>
          <a:p xmlns:a="http://schemas.openxmlformats.org/drawingml/2006/main">
            <a:r>
              <a:t>값 추적표는 원문 “2.5”·저장 종류 문자열 → 변환 값 2.5·실수 → 계산값 6000.0·실수 → 업무 표시 6000원 순서입니다. 계산 결과의 .0은 이 예의 저장·표시 방식이지 비용이 소수 원이라는 업무 확정은 아닙니다. 무게 원문이 “미확인”이라면 임의의 0kg로 바꾸지 않고 숫자 변환 전에 확인을 요청합니다. 문자열과 숫자를 +로 바로 섞으면 TypeError가 날 수 있고 “2.5”를 정수로 바로 읽으려 하면 ValueError가 납니다. 종류를 확인한 뒤 실수 변환을 고르고 상품번호까지 함께 바꾸지 않습니다.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판매표의 주문번호 “0009”, 단가 “1500”, 수량 “3”을 보고 총액과 각 항목의 저장 계획을 쓰세요. 단가는 원 단위의 정수이고, 수량은 개수로 정했습니다. 배송비 2000원을 포함한 최종액도 계산하세요.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주문번호는 문자열 유지, 단가와 수량은 정수로 해석합니다. 상품 총액 1500×3=4500원, 최종액 6500원입니다. “1500”+“3”의 문자열 연결은 “15003”으로 금액 계산이 아닙니다. 주문번호를 정수 9로 바꾸면 앞 0을 잃습니다.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**숫자처럼 보이면 모두 변환하나요?** 식별자·등급인지 실제 계산량인지 의미를 먼저 봅니다.</a:t>
            </a:r>
          </a:p>
          <a:p xmlns:a="http://schemas.openxmlformats.org/drawingml/2006/main">
            <a:r>
              <a:t/>
            </a:r>
          </a:p>
          <a:p xmlns:a="http://schemas.openxmlformats.org/drawingml/2006/main">
            <a:r>
              <a:t>2. **소수 문자열을 정수로 바로 읽나요?** 소수가 있는 표현에는 float 같은 의미에 맞는 변환이 필요합니다.</a:t>
            </a:r>
          </a:p>
          <a:p xmlns:a="http://schemas.openxmlformats.org/drawingml/2006/main">
            <a:r>
              <a:t/>
            </a:r>
          </a:p>
          <a:p xmlns:a="http://schemas.openxmlformats.org/drawingml/2006/main">
            <a:r>
              <a:t>3. **정상 종료면 요금도 맞나요?** 단위·요금 규칙·입력 해석이 맞는지 별도 확인해야 합니다.</a:t>
            </a:r>
          </a:p>
          <a:p xmlns:a="http://schemas.openxmlformats.org/drawingml/2006/main">
            <a:r>
              <a:t/>
            </a:r>
          </a:p>
          <a:p xmlns:a="http://schemas.openxmlformats.org/drawingml/2006/main">
            <a:r>
              <a:t/>
            </a:r>
          </a:p>
          <a:p xmlns:a="http://schemas.openxmlformats.org/drawingml/2006/main">
            <a:r>
              <a:t>**개념.** 숫자의 +는 수치 덧셈을 하고 문자열의 +는 글자를 이어 붙입니다. 같은 모양의 3이라도 따옴표 유무에 따라 저장 자료형이 달라지며 연산의 결과도 달라집니다.</a:t>
            </a:r>
          </a:p>
          <a:p xmlns:a="http://schemas.openxmlformats.org/drawingml/2006/main">
            <a:r>
              <a:t/>
            </a:r>
          </a:p>
          <a:p xmlns:a="http://schemas.openxmlformats.org/drawingml/2006/main">
            <a:r>
              <a:t>**왜 필요한가.** CSV의 셀을 기본 방식으로 읽으면 문자열이 된다는 10/8의 내용을 떠올립니다. 수량을 계산하려고 글자를 그대로 이어 붙이면 합계처럼 보이는 잘못된 결과가 생길 수 있습니다.</a:t>
            </a:r>
          </a:p>
          <a:p xmlns:a="http://schemas.openxmlformats.org/drawingml/2006/main">
            <a:r>
              <a:t/>
            </a:r>
          </a:p>
          <a:p xmlns:a="http://schemas.openxmlformats.org/drawingml/2006/main">
            <a:r>
              <a:t>**함께 보는 예.** 3 + 2는 5이고 "3" + "2"는 글자 32입니다. 10/8의 사번 001처럼 앞의 0을 유지해야 하는 이름표는 문자열이 적절할 수 있으므로 모든 숫자 모양을 변환하지 않습니다.</a:t>
            </a:r>
          </a:p>
          <a:p xmlns:a="http://schemas.openxmlformats.org/drawingml/2006/main">
            <a:r>
              <a:t/>
            </a:r>
          </a:p>
          <a:p xmlns:a="http://schemas.openxmlformats.org/drawingml/2006/main">
            <a:r>
              <a:t>**헷갈리는 경우.** 문자열을 무조건 숫자로 바꾸는 것도 정답이 아닙니다. 사번을 숫자로 바꾸면 식별 표현을 잃을 수 있습니다. 먼저 의미상 수량인지, 이름표인지 판단합니다.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count = 3</a:t>
            </a:r>
          </a:p>
          <a:p xmlns:a="http://schemas.openxmlformats.org/drawingml/2006/main">
            <a:r>
              <a:t>text_count = "3"</a:t>
            </a:r>
          </a:p>
          <a:p xmlns:a="http://schemas.openxmlformats.org/drawingml/2006/main">
            <a:r>
              <a:t>print(count + 2)</a:t>
            </a:r>
          </a:p>
          <a:p xmlns:a="http://schemas.openxmlformats.org/drawingml/2006/main">
            <a:r>
              <a:t>print(text_count + "2")</a:t>
            </a:r>
          </a:p>
          <a:p xmlns:a="http://schemas.openxmlformats.org/drawingml/2006/main">
            <a:r>
              <a:t>print(type(count).__name__, type(text_count).__name__)</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`count = 3` | 숫자 3을 저장합니다. |</a:t>
            </a:r>
          </a:p>
          <a:p xmlns:a="http://schemas.openxmlformats.org/drawingml/2006/main">
            <a:r>
              <a:t>| 2 | `text_count = "3"` | 글자 3을 저장합니다. |</a:t>
            </a:r>
          </a:p>
          <a:p xmlns:a="http://schemas.openxmlformats.org/drawingml/2006/main">
            <a:r>
              <a:t>| 3 | `print(count + 2)` | 숫자끼리 덧셈합니다. |</a:t>
            </a:r>
          </a:p>
          <a:p xmlns:a="http://schemas.openxmlformats.org/drawingml/2006/main">
            <a:r>
              <a:t>| 4 | `print(text_count + "2")` | 문자열끼리 이어 붙입니다. |</a:t>
            </a:r>
          </a:p>
          <a:p xmlns:a="http://schemas.openxmlformats.org/drawingml/2006/main">
            <a:r>
              <a:t>| 5 | `print(type(count).__name__, type(text_count).__name__)` | 두 값의 자료형 이름을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code/A07_example.py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work/A07_example.py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a:t>
            </a:r>
          </a:p>
          <a:p xmlns:a="http://schemas.openxmlformats.org/drawingml/2006/main">
            <a:r>
              <a:t>32</a:t>
            </a:r>
          </a:p>
          <a:p xmlns:a="http://schemas.openxmlformats.org/drawingml/2006/main">
            <a:r>
              <a:t>int str</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세 출력 줄을 예상하고 각각 계산인지 글자 연결인지 적습니다.</a:t>
            </a:r>
          </a:p>
          <a:p xmlns:a="http://schemas.openxmlformats.org/drawingml/2006/main">
            <a:r>
              <a:t>2. 숫자와 문자열의 +를 같은 기준으로 읽지 않았는지 비교합니다.</a:t>
            </a:r>
          </a:p>
          <a:p xmlns:a="http://schemas.openxmlformats.org/drawingml/2006/main">
            <a:r>
              <a:t>3. 고의 오류 text_count + 2에서 서로 다른 자료형을 표시합니다.</a:t>
            </a:r>
          </a:p>
          <a:p xmlns:a="http://schemas.openxmlformats.org/drawingml/2006/main">
            <a:r>
              <a:t>4. 수량과 사번 중 무엇을 숫자로 바꿀지 이유를 씁니다.</a:t>
            </a:r>
          </a:p>
          <a:p xmlns:a="http://schemas.openxmlformats.org/drawingml/2006/main">
            <a:r>
              <a:t/>
            </a:r>
          </a:p>
          <a:p xmlns:a="http://schemas.openxmlformats.org/drawingml/2006/main">
            <a:r>
              <a:t>예상 결과: 5와 문자열 32, int와 str을 구별합니다. 혼합 +는 TypeError가 기대 결과입니다.</a:t>
            </a:r>
          </a:p>
          <a:p xmlns:a="http://schemas.openxmlformats.org/drawingml/2006/main">
            <a:r>
              <a:t/>
            </a:r>
          </a:p>
          <a:p xmlns:a="http://schemas.openxmlformats.org/drawingml/2006/main">
            <a:r>
              <a:t>확인 질문: "001"에 1을 더해 다음 직원을 정하는 것이 항상 적절할까요?</a:t>
            </a:r>
          </a:p>
          <a:p xmlns:a="http://schemas.openxmlformats.org/drawingml/2006/main">
            <a:r>
              <a:t/>
            </a:r>
          </a:p>
          <a:p xmlns:a="http://schemas.openxmlformats.org/drawingml/2006/main">
            <a:r>
              <a:t>막혔을 때: 화면에서 따옴표 없이 32가 보이면 type 출력도 함께 확인합니다. 표시 모양만으로 자료형을 판단하지 않습니다.</a:t>
            </a:r>
          </a:p>
          <a:p xmlns:a="http://schemas.openxmlformats.org/drawingml/2006/main">
            <a:r>
              <a:t/>
            </a:r>
          </a:p>
          <a:p xmlns:a="http://schemas.openxmlformats.org/drawingml/2006/main">
            <a:r>
              <a:t>[활동 자료와 작성칸](practice-guide.md#a07--숫자-더하기와-문자열-연결)에서 A07를 엽니다.</a:t>
            </a:r>
          </a:p>
          <a:p xmlns:a="http://schemas.openxmlformats.org/drawingml/2006/main">
            <a:r>
              <a:t/>
            </a:r>
          </a:p>
          <a:p xmlns:a="http://schemas.openxmlformats.org/drawingml/2006/main">
            <a:r>
              <a:t>화면 예의 출처: D:/KDigital_PhysicalAI/.build/copyedited-ppt/spec-2026-10-14.json#slide-47;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https://docs.python.org/3/tutorial/errors.html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강사가 먼저 예를 보여 준 뒤 학생과 함께 확인합니다. 학생이 직접 해 본 결과를 예상과 비교하고, 달라진 이유를 설명하게 합니다.</a:t>
            </a:r>
          </a:p>
          <a:p xmlns:a="http://schemas.openxmlformats.org/drawingml/2006/main">
            <a:r>
              <a:t/>
            </a:r>
          </a:p>
          <a:p xmlns:a="http://schemas.openxmlformats.org/drawingml/2006/main">
            <a:r>
              <a:t>[활동 A10 상세 원문]</a:t>
            </a:r>
          </a:p>
          <a:p xmlns:a="http://schemas.openxmlformats.org/drawingml/2006/main">
            <a:r>
              <a:t>### 사례로 이해하기 · 이상과 초과를 업무 문장으로 읽기</a:t>
            </a:r>
          </a:p>
          <a:p xmlns:a="http://schemas.openxmlformats.org/drawingml/2006/main">
            <a:r>
              <a:t/>
            </a:r>
          </a:p>
          <a:p xmlns:a="http://schemas.openxmlformats.org/drawingml/2006/main">
            <a:r>
              <a:t/>
            </a:r>
          </a:p>
          <a:p xmlns:a="http://schemas.openxmlformats.org/drawingml/2006/main">
            <a:r>
              <a:t/>
            </a:r>
          </a:p>
          <a:p xmlns:a="http://schemas.openxmlformats.org/drawingml/2006/main">
            <a:r>
              <a:t>현장 교육의 수업용 점검 규칙은 ‘인원이 10명 이상이면 큰 실습실을 배정한다’입니다. 이상은 경계값 10을 포함합니다. ‘10명 초과’라고 쓰면 11명부터 포함합니다. 말 한 글자의 차이가 비교 기호와 경계 결과를 바꿉니다. 코드를 먼저 외우지 말고 인원 수를 적은 수직선에서 10에 동그라미를 그리고 포함 여부를 표시합니다. 이 규칙은 강의용 공간 배정 예시이며 실제 기관의 정원 기준이 아닙니다.</a:t>
            </a:r>
          </a:p>
          <a:p xmlns:a="http://schemas.openxmlformats.org/drawingml/2006/main">
            <a:r>
              <a:t/>
            </a:r>
          </a:p>
          <a:p xmlns:a="http://schemas.openxmlformats.org/drawingml/2006/main">
            <a:r>
              <a:t>비교는 질문을 참 또는 거짓으로 답한 값입니다. 9&gt;=10은 False, 10&gt;=10은 True, 11&gt;=10은 True입니다. &gt;는 초과, &gt;=는 이상, &lt;는 미만, &lt;=는 이하를 나타냅니다. ==는 같은지 묻고 =는 값에 이름을 붙입니다. 참이라는 결과가 안전하다는 뜻은 아닙니다. 무엇을 비교했는지에 따라 ‘큰 실습실 대상이다’처럼 구체적인 의미를 붙입니다. 참/거짓과 정상/위험은 업무 규칙을 연결해야 설명할 수 있습니다.</a:t>
            </a:r>
          </a:p>
          <a:p xmlns:a="http://schemas.openxmlformats.org/drawingml/2006/main">
            <a:r>
              <a:t/>
            </a:r>
          </a:p>
          <a:p xmlns:a="http://schemas.openxmlformats.org/drawingml/2006/main">
            <a:r>
              <a:t>그다음 두 갈래 선택을 손으로 추적합니다. 인원 10은 조건이 참이므로 큰 실습실 안내를 선택하고 작은 실습실 안내는 선택하지 않습니다. 인원 9는 조건이 거짓이므로 다른 안내를 선택합니다. 값이 미확인이면 숫자와 비교하기 전에 미확인 갈래로 처리해야 합니다. None을 0으로 바꾸어 작은 방을 정하면 실제 인원 확인이 사라집니다. 최소 검수 표에는 경계 아래 9, 경계 10, 경계 위 11, 미확인 네 사례를 넣습니다. 5와 20만 확인하면 &gt;와 &gt;=를 잘못 골라도 둘 다 통과할 수 있습니다. 예상값은 코드보다 먼저 업무 문장으로 정합니다.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대여 정책은 ‘잔여 수량이 5개 이하이면 보충 요청’입니다. 4, 5, 6, 미확인 네 입력의 결과와 비교 기호를 정하세요. 미확인은 보충 확정 대신 확인 요청으로 처리합니다.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기호는 &lt;=이며 4와 5는 보충 요청, 6은 요청 없음, 미확인은 확인 요청입니다. &lt;를 고르면 경계 5를 놓칩니다. 미확인을 0으로 채우면 수량을 실제 관찰한 것처럼 처리하는 오답입니다.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**이상과 초과의 차이를 어느 입력으로 보나요?** 경계값 자체를 넣어 포함 여부를 확인합니다.</a:t>
            </a:r>
          </a:p>
          <a:p xmlns:a="http://schemas.openxmlformats.org/drawingml/2006/main">
            <a:r>
              <a:t/>
            </a:r>
          </a:p>
          <a:p xmlns:a="http://schemas.openxmlformats.org/drawingml/2006/main">
            <a:r>
              <a:t>2. **True는 늘 정상인가요?** 질문의 의미에 따라 보충·배정·초과 등 다른 업무 뜻이 됩니다.</a:t>
            </a:r>
          </a:p>
          <a:p xmlns:a="http://schemas.openxmlformats.org/drawingml/2006/main">
            <a:r>
              <a:t/>
            </a:r>
          </a:p>
          <a:p xmlns:a="http://schemas.openxmlformats.org/drawingml/2006/main">
            <a:r>
              <a:t>3. **기대 결과를 실행 뒤 정해도 되나요?** 먼저 업무 문장으로 예상해야 잘못된 결과를 그대로 정답으로 삼지 않습니다.</a:t>
            </a:r>
          </a:p>
          <a:p xmlns:a="http://schemas.openxmlformats.org/drawingml/2006/main">
            <a:r>
              <a:t/>
            </a:r>
          </a:p>
          <a:p xmlns:a="http://schemas.openxmlformats.org/drawingml/2006/main">
            <a:r>
              <a:t/>
            </a:r>
          </a:p>
          <a:p xmlns:a="http://schemas.openxmlformats.org/drawingml/2006/main">
            <a:r>
              <a:t>**개념.** 비교 연산은 두 값의 관계를 물어 True 또는 False를 만듭니다. &gt;는 초과, &gt;=는 이상, ==는 같은지 확인합니다. =는 대입이므로 역할이 다릅니다.</a:t>
            </a:r>
          </a:p>
          <a:p xmlns:a="http://schemas.openxmlformats.org/drawingml/2006/main">
            <a:r>
              <a:t/>
            </a:r>
          </a:p>
          <a:p xmlns:a="http://schemas.openxmlformats.org/drawingml/2006/main">
            <a:r>
              <a:t>**왜 필요한가.** 정책 문구를 코드로 옮길 때 ‘이상’과 ‘초과’를 혼동하면 경계값에서 다른 결과가 나옵니다. 기준과 정확히 같은 입력을 확인해야 차이가 보입니다.</a:t>
            </a:r>
          </a:p>
          <a:p xmlns:a="http://schemas.openxmlformats.org/drawingml/2006/main">
            <a:r>
              <a:t/>
            </a:r>
          </a:p>
          <a:p xmlns:a="http://schemas.openxmlformats.org/drawingml/2006/main">
            <a:r>
              <a:t>**함께 보는 예.** 온도 24.0과 기준 24.0에서 &gt;는 False, &gt;=는 True입니다. 참·거짓은 비교 질문의 답이며 온도 자체가 참이나 거짓이라는 의미가 아닙니다.</a:t>
            </a:r>
          </a:p>
          <a:p xmlns:a="http://schemas.openxmlformats.org/drawingml/2006/main">
            <a:r>
              <a:t/>
            </a:r>
          </a:p>
          <a:p xmlns:a="http://schemas.openxmlformats.org/drawingml/2006/main">
            <a:r>
              <a:t>**헷갈리는 경우.** ‘확인 필요’라는 출력은 이 연습의 입력 점검 규칙입니다. 실제 안전 판단이나 센서 성능을 보증하는 말로 사용하지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24.0</a:t>
            </a:r>
          </a:p>
          <a:p xmlns:a="http://schemas.openxmlformats.org/drawingml/2006/main">
            <a:r>
              <a:t>limit = 24.0</a:t>
            </a:r>
          </a:p>
          <a:p xmlns:a="http://schemas.openxmlformats.org/drawingml/2006/main">
            <a:r>
              <a:t>print(temperature_c &gt; limit)</a:t>
            </a:r>
          </a:p>
          <a:p xmlns:a="http://schemas.openxmlformats.org/drawingml/2006/main">
            <a:r>
              <a:t>print(temperature_c &gt;= limit)</a:t>
            </a:r>
          </a:p>
          <a:p xmlns:a="http://schemas.openxmlformats.org/drawingml/2006/main">
            <a:r>
              <a:t>print(temperature_c == limit)</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24.0` | 비교할 측정값을 정합니다. |</a:t>
            </a:r>
          </a:p>
          <a:p xmlns:a="http://schemas.openxmlformats.org/drawingml/2006/main">
            <a:r>
              <a:t>| 2 | `limit = 24.0` | 수업용 기준을 정합니다. |</a:t>
            </a:r>
          </a:p>
          <a:p xmlns:a="http://schemas.openxmlformats.org/drawingml/2006/main">
            <a:r>
              <a:t>| 3 | `print(temperature_c &gt; limit)` | 기준을 초과했는지 묻습니다. |</a:t>
            </a:r>
          </a:p>
          <a:p xmlns:a="http://schemas.openxmlformats.org/drawingml/2006/main">
            <a:r>
              <a:t>| 4 | `print(temperature_c &gt;= limit)` | 기준 이상인지 묻습니다. |</a:t>
            </a:r>
          </a:p>
          <a:p xmlns:a="http://schemas.openxmlformats.org/drawingml/2006/main">
            <a:r>
              <a:t>| 5 | `print(temperature_c == limit)` | 기준과 같은지 묻습니다.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code/A10_example.py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work/A10_example.py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False</a:t>
            </a:r>
          </a:p>
          <a:p xmlns:a="http://schemas.openxmlformats.org/drawingml/2006/main">
            <a:r>
              <a:t>True</a:t>
            </a:r>
          </a:p>
          <a:p xmlns:a="http://schemas.openxmlformats.org/drawingml/2006/main">
            <a:r>
              <a:t>True</a:t>
            </a:r>
          </a:p>
          <a:p xmlns:a="http://schemas.openxmlformats.org/drawingml/2006/main">
            <a:r>
              <a:t>```</a:t>
            </a:r>
          </a:p>
          <a:p xmlns:a="http://schemas.openxmlformats.org/drawingml/2006/main">
            <a:r>
              <a:t/>
            </a:r>
          </a:p>
          <a:p xmlns:a="http://schemas.openxmlformats.org/drawingml/2006/main">
            <a:r>
              <a:t>작은 수정: `temperature_c = 24.0`를 `temperature_c = 23.9`로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False</a:t>
            </a:r>
          </a:p>
          <a:p xmlns:a="http://schemas.openxmlformats.org/drawingml/2006/main">
            <a:r>
              <a:t>False</a:t>
            </a:r>
          </a:p>
          <a:p xmlns:a="http://schemas.openxmlformats.org/drawingml/2006/main">
            <a:r>
              <a:t>False</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초과·이상·같음의 문장을 기호와 연결합니다.</a:t>
            </a:r>
          </a:p>
          <a:p xmlns:a="http://schemas.openxmlformats.org/drawingml/2006/main">
            <a:r>
              <a:t>2. 기준 아래·같음·위 세 입력에서 True/False를 예상합니다.</a:t>
            </a:r>
          </a:p>
          <a:p xmlns:a="http://schemas.openxmlformats.org/drawingml/2006/main">
            <a:r>
              <a:t>3. 한 번에 온도 한 곳만 바꿔 비교 출력 세 줄을 확인합니다.</a:t>
            </a:r>
          </a:p>
          <a:p xmlns:a="http://schemas.openxmlformats.org/drawingml/2006/main">
            <a:r>
              <a:t>4. 업무 규칙 ‘24.0 이상’에 맞는 기호를 고르고 이유를 씁니다.</a:t>
            </a:r>
          </a:p>
          <a:p xmlns:a="http://schemas.openxmlformats.org/drawingml/2006/main">
            <a:r>
              <a:t/>
            </a:r>
          </a:p>
          <a:p xmlns:a="http://schemas.openxmlformats.org/drawingml/2006/main">
            <a:r>
              <a:t>예상 결과: 같은 값에서 &gt;와 &gt;=의 차이를 설명합니다.</a:t>
            </a:r>
          </a:p>
          <a:p xmlns:a="http://schemas.openxmlformats.org/drawingml/2006/main">
            <a:r>
              <a:t/>
            </a:r>
          </a:p>
          <a:p xmlns:a="http://schemas.openxmlformats.org/drawingml/2006/main">
            <a:r>
              <a:t>확인 질문: 변수에 값을 넣는 =와 비교하는 ==를 같은 기호처럼 쓰면 될까요?</a:t>
            </a:r>
          </a:p>
          <a:p xmlns:a="http://schemas.openxmlformats.org/drawingml/2006/main">
            <a:r>
              <a:t/>
            </a:r>
          </a:p>
          <a:p xmlns:a="http://schemas.openxmlformats.org/drawingml/2006/main">
            <a:r>
              <a:t>막혔을 때: True/False를 외우기보다 ‘왼쪽 값이 오른쪽 기준보다 큰가?’라는 질문을 실제 숫자로 다시 읽습니다.</a:t>
            </a:r>
          </a:p>
          <a:p xmlns:a="http://schemas.openxmlformats.org/drawingml/2006/main">
            <a:r>
              <a:t/>
            </a:r>
          </a:p>
          <a:p xmlns:a="http://schemas.openxmlformats.org/drawingml/2006/main">
            <a:r>
              <a:t>[활동 자료와 작성칸](practice-guide.md#a10--비교-결과는-참-또는-거짓)에서 A10를 엽니다.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https://zeusk302-png.github.io/kdigital-physical-ai/#/sessions/2026-10-14/lesson?activity=A10</a:t>
            </a:r>
          </a:p>
          <a:p xmlns:a="http://schemas.openxmlformats.org/drawingml/2006/main">
            <a:r>
              <a:t>공식 자료: https://docs.python.org/3/tutorial/introduction.html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code/A10_example.py</a:t>
            </a:r>
          </a:p>
          <a:p xmlns:a="http://schemas.openxmlformats.org/drawingml/2006/main">
            <a:r>
              <a:t>수정한 파일을 실행할 때는 code 대신 work 폴더를 지정합니다. 직접 실행할 수 없으면 입력값부터 코드의 처리 순서를 따라 적고 강사의 결과와 비교합니다.</a:t>
            </a:r>
          </a:p>
          <a:p xmlns:a="http://schemas.openxmlformats.org/drawingml/2006/main">
            <a:r>
              <a:t/>
            </a:r>
          </a:p>
          <a:p xmlns:a="http://schemas.openxmlformats.org/drawingml/2006/main">
            <a:r>
              <a:t>[활동 A10 상세 원문]</a:t>
            </a:r>
          </a:p>
          <a:p xmlns:a="http://schemas.openxmlformats.org/drawingml/2006/main">
            <a:r>
              <a:t>### 사례로 이해하기 · 이상과 초과를 업무 문장으로 읽기</a:t>
            </a:r>
          </a:p>
          <a:p xmlns:a="http://schemas.openxmlformats.org/drawingml/2006/main">
            <a:r>
              <a:t/>
            </a:r>
          </a:p>
          <a:p xmlns:a="http://schemas.openxmlformats.org/drawingml/2006/main">
            <a:r>
              <a:t/>
            </a:r>
          </a:p>
          <a:p xmlns:a="http://schemas.openxmlformats.org/drawingml/2006/main">
            <a:r>
              <a:t/>
            </a:r>
          </a:p>
          <a:p xmlns:a="http://schemas.openxmlformats.org/drawingml/2006/main">
            <a:r>
              <a:t>현장 교육의 수업용 점검 규칙은 ‘인원이 10명 이상이면 큰 실습실을 배정한다’입니다. 이상은 경계값 10을 포함합니다. ‘10명 초과’라고 쓰면 11명부터 포함합니다. 말 한 글자의 차이가 비교 기호와 경계 결과를 바꿉니다. 코드를 먼저 외우지 말고 인원 수를 적은 수직선에서 10에 동그라미를 그리고 포함 여부를 표시합니다. 이 규칙은 강의용 공간 배정 예시이며 실제 기관의 정원 기준이 아닙니다.</a:t>
            </a:r>
          </a:p>
          <a:p xmlns:a="http://schemas.openxmlformats.org/drawingml/2006/main">
            <a:r>
              <a:t/>
            </a:r>
          </a:p>
          <a:p xmlns:a="http://schemas.openxmlformats.org/drawingml/2006/main">
            <a:r>
              <a:t>비교는 질문을 참 또는 거짓으로 답한 값입니다. 9&gt;=10은 False, 10&gt;=10은 True, 11&gt;=10은 True입니다. &gt;는 초과, &gt;=는 이상, &lt;는 미만, &lt;=는 이하를 나타냅니다. ==는 같은지 묻고 =는 값에 이름을 붙입니다. 참이라는 결과가 안전하다는 뜻은 아닙니다. 무엇을 비교했는지에 따라 ‘큰 실습실 대상이다’처럼 구체적인 의미를 붙입니다. 참/거짓과 정상/위험은 업무 규칙을 연결해야 설명할 수 있습니다.</a:t>
            </a:r>
          </a:p>
          <a:p xmlns:a="http://schemas.openxmlformats.org/drawingml/2006/main">
            <a:r>
              <a:t/>
            </a:r>
          </a:p>
          <a:p xmlns:a="http://schemas.openxmlformats.org/drawingml/2006/main">
            <a:r>
              <a:t>그다음 두 갈래 선택을 손으로 추적합니다. 인원 10은 조건이 참이므로 큰 실습실 안내를 선택하고 작은 실습실 안내는 선택하지 않습니다. 인원 9는 조건이 거짓이므로 다른 안내를 선택합니다. 값이 미확인이면 숫자와 비교하기 전에 미확인 갈래로 처리해야 합니다. None을 0으로 바꾸어 작은 방을 정하면 실제 인원 확인이 사라집니다. 최소 검수 표에는 경계 아래 9, 경계 10, 경계 위 11, 미확인 네 사례를 넣습니다. 5와 20만 확인하면 &gt;와 &gt;=를 잘못 골라도 둘 다 통과할 수 있습니다. 예상값은 코드보다 먼저 업무 문장으로 정합니다.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대여 정책은 ‘잔여 수량이 5개 이하이면 보충 요청’입니다. 4, 5, 6, 미확인 네 입력의 결과와 비교 기호를 정하세요. 미확인은 보충 확정 대신 확인 요청으로 처리합니다.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기호는 &lt;=이며 4와 5는 보충 요청, 6은 요청 없음, 미확인은 확인 요청입니다. &lt;를 고르면 경계 5를 놓칩니다. 미확인을 0으로 채우면 수량을 실제 관찰한 것처럼 처리하는 오답입니다.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**이상과 초과의 차이를 어느 입력으로 보나요?** 경계값 자체를 넣어 포함 여부를 확인합니다.</a:t>
            </a:r>
          </a:p>
          <a:p xmlns:a="http://schemas.openxmlformats.org/drawingml/2006/main">
            <a:r>
              <a:t/>
            </a:r>
          </a:p>
          <a:p xmlns:a="http://schemas.openxmlformats.org/drawingml/2006/main">
            <a:r>
              <a:t>2. **True는 늘 정상인가요?** 질문의 의미에 따라 보충·배정·초과 등 다른 업무 뜻이 됩니다.</a:t>
            </a:r>
          </a:p>
          <a:p xmlns:a="http://schemas.openxmlformats.org/drawingml/2006/main">
            <a:r>
              <a:t/>
            </a:r>
          </a:p>
          <a:p xmlns:a="http://schemas.openxmlformats.org/drawingml/2006/main">
            <a:r>
              <a:t>3. **기대 결과를 실행 뒤 정해도 되나요?** 먼저 업무 문장으로 예상해야 잘못된 결과를 그대로 정답으로 삼지 않습니다.</a:t>
            </a:r>
          </a:p>
          <a:p xmlns:a="http://schemas.openxmlformats.org/drawingml/2006/main">
            <a:r>
              <a:t/>
            </a:r>
          </a:p>
          <a:p xmlns:a="http://schemas.openxmlformats.org/drawingml/2006/main">
            <a:r>
              <a:t/>
            </a:r>
          </a:p>
          <a:p xmlns:a="http://schemas.openxmlformats.org/drawingml/2006/main">
            <a:r>
              <a:t>**개념.** 비교 연산은 두 값의 관계를 물어 True 또는 False를 만듭니다. &gt;는 초과, &gt;=는 이상, ==는 같은지 확인합니다. =는 대입이므로 역할이 다릅니다.</a:t>
            </a:r>
          </a:p>
          <a:p xmlns:a="http://schemas.openxmlformats.org/drawingml/2006/main">
            <a:r>
              <a:t/>
            </a:r>
          </a:p>
          <a:p xmlns:a="http://schemas.openxmlformats.org/drawingml/2006/main">
            <a:r>
              <a:t>**왜 필요한가.** 정책 문구를 코드로 옮길 때 ‘이상’과 ‘초과’를 혼동하면 경계값에서 다른 결과가 나옵니다. 기준과 정확히 같은 입력을 확인해야 차이가 보입니다.</a:t>
            </a:r>
          </a:p>
          <a:p xmlns:a="http://schemas.openxmlformats.org/drawingml/2006/main">
            <a:r>
              <a:t/>
            </a:r>
          </a:p>
          <a:p xmlns:a="http://schemas.openxmlformats.org/drawingml/2006/main">
            <a:r>
              <a:t>**함께 보는 예.** 온도 24.0과 기준 24.0에서 &gt;는 False, &gt;=는 True입니다. 참·거짓은 비교 질문의 답이며 온도 자체가 참이나 거짓이라는 의미가 아닙니다.</a:t>
            </a:r>
          </a:p>
          <a:p xmlns:a="http://schemas.openxmlformats.org/drawingml/2006/main">
            <a:r>
              <a:t/>
            </a:r>
          </a:p>
          <a:p xmlns:a="http://schemas.openxmlformats.org/drawingml/2006/main">
            <a:r>
              <a:t>**헷갈리는 경우.** ‘확인 필요’라는 출력은 이 연습의 입력 점검 규칙입니다. 실제 안전 판단이나 센서 성능을 보증하는 말로 사용하지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24.0</a:t>
            </a:r>
          </a:p>
          <a:p xmlns:a="http://schemas.openxmlformats.org/drawingml/2006/main">
            <a:r>
              <a:t>limit = 24.0</a:t>
            </a:r>
          </a:p>
          <a:p xmlns:a="http://schemas.openxmlformats.org/drawingml/2006/main">
            <a:r>
              <a:t>print(temperature_c &gt; limit)</a:t>
            </a:r>
          </a:p>
          <a:p xmlns:a="http://schemas.openxmlformats.org/drawingml/2006/main">
            <a:r>
              <a:t>print(temperature_c &gt;= limit)</a:t>
            </a:r>
          </a:p>
          <a:p xmlns:a="http://schemas.openxmlformats.org/drawingml/2006/main">
            <a:r>
              <a:t>print(temperature_c == limit)</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24.0` | 비교할 측정값을 정합니다. |</a:t>
            </a:r>
          </a:p>
          <a:p xmlns:a="http://schemas.openxmlformats.org/drawingml/2006/main">
            <a:r>
              <a:t>| 2 | `limit = 24.0` | 수업용 기준을 정합니다. |</a:t>
            </a:r>
          </a:p>
          <a:p xmlns:a="http://schemas.openxmlformats.org/drawingml/2006/main">
            <a:r>
              <a:t>| 3 | `print(temperature_c &gt; limit)` | 기준을 초과했는지 묻습니다. |</a:t>
            </a:r>
          </a:p>
          <a:p xmlns:a="http://schemas.openxmlformats.org/drawingml/2006/main">
            <a:r>
              <a:t>| 4 | `print(temperature_c &gt;= limit)` | 기준 이상인지 묻습니다. |</a:t>
            </a:r>
          </a:p>
          <a:p xmlns:a="http://schemas.openxmlformats.org/drawingml/2006/main">
            <a:r>
              <a:t>| 5 | `print(temperature_c == limit)` | 기준과 같은지 묻습니다.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code/A10_example.py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work/A10_example.py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False</a:t>
            </a:r>
          </a:p>
          <a:p xmlns:a="http://schemas.openxmlformats.org/drawingml/2006/main">
            <a:r>
              <a:t>True</a:t>
            </a:r>
          </a:p>
          <a:p xmlns:a="http://schemas.openxmlformats.org/drawingml/2006/main">
            <a:r>
              <a:t>True</a:t>
            </a:r>
          </a:p>
          <a:p xmlns:a="http://schemas.openxmlformats.org/drawingml/2006/main">
            <a:r>
              <a:t>```</a:t>
            </a:r>
          </a:p>
          <a:p xmlns:a="http://schemas.openxmlformats.org/drawingml/2006/main">
            <a:r>
              <a:t/>
            </a:r>
          </a:p>
          <a:p xmlns:a="http://schemas.openxmlformats.org/drawingml/2006/main">
            <a:r>
              <a:t>작은 수정: `temperature_c = 24.0`를 `temperature_c = 23.9`로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False</a:t>
            </a:r>
          </a:p>
          <a:p xmlns:a="http://schemas.openxmlformats.org/drawingml/2006/main">
            <a:r>
              <a:t>False</a:t>
            </a:r>
          </a:p>
          <a:p xmlns:a="http://schemas.openxmlformats.org/drawingml/2006/main">
            <a:r>
              <a:t>False</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초과·이상·같음의 문장을 기호와 연결합니다.</a:t>
            </a:r>
          </a:p>
          <a:p xmlns:a="http://schemas.openxmlformats.org/drawingml/2006/main">
            <a:r>
              <a:t>2. 기준 아래·같음·위 세 입력에서 True/False를 예상합니다.</a:t>
            </a:r>
          </a:p>
          <a:p xmlns:a="http://schemas.openxmlformats.org/drawingml/2006/main">
            <a:r>
              <a:t>3. 한 번에 온도 한 곳만 바꿔 비교 출력 세 줄을 확인합니다.</a:t>
            </a:r>
          </a:p>
          <a:p xmlns:a="http://schemas.openxmlformats.org/drawingml/2006/main">
            <a:r>
              <a:t>4. 업무 규칙 ‘24.0 이상’에 맞는 기호를 고르고 이유를 씁니다.</a:t>
            </a:r>
          </a:p>
          <a:p xmlns:a="http://schemas.openxmlformats.org/drawingml/2006/main">
            <a:r>
              <a:t/>
            </a:r>
          </a:p>
          <a:p xmlns:a="http://schemas.openxmlformats.org/drawingml/2006/main">
            <a:r>
              <a:t>예상 결과: 같은 값에서 &gt;와 &gt;=의 차이를 설명합니다.</a:t>
            </a:r>
          </a:p>
          <a:p xmlns:a="http://schemas.openxmlformats.org/drawingml/2006/main">
            <a:r>
              <a:t/>
            </a:r>
          </a:p>
          <a:p xmlns:a="http://schemas.openxmlformats.org/drawingml/2006/main">
            <a:r>
              <a:t>확인 질문: 변수에 값을 넣는 =와 비교하는 ==를 같은 기호처럼 쓰면 될까요?</a:t>
            </a:r>
          </a:p>
          <a:p xmlns:a="http://schemas.openxmlformats.org/drawingml/2006/main">
            <a:r>
              <a:t/>
            </a:r>
          </a:p>
          <a:p xmlns:a="http://schemas.openxmlformats.org/drawingml/2006/main">
            <a:r>
              <a:t>막혔을 때: True/False를 외우기보다 ‘왼쪽 값이 오른쪽 기준보다 큰가?’라는 질문을 실제 숫자로 다시 읽습니다.</a:t>
            </a:r>
          </a:p>
          <a:p xmlns:a="http://schemas.openxmlformats.org/drawingml/2006/main">
            <a:r>
              <a:t/>
            </a:r>
          </a:p>
          <a:p xmlns:a="http://schemas.openxmlformats.org/drawingml/2006/main">
            <a:r>
              <a:t>[활동 자료와 작성칸](practice-guide.md#a10--비교-결과는-참-또는-거짓)에서 A10를 엽니다.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https://zeusk302-png.github.io/kdigital-physical-ai/#/sessions/2026-10-14/lesson?activity=A10</a:t>
            </a:r>
          </a:p>
          <a:p xmlns:a="http://schemas.openxmlformats.org/drawingml/2006/main">
            <a:r>
              <a:t>공식 자료: https://docs.python.org/3/tutorial/introduction.html</a:t>
            </a:r>
          </a:p>
          <a:p xmlns:a="http://schemas.openxmlformats.org/drawingml/2006/main">
            <a:r>
              <a:t/>
            </a:r>
          </a:p>
          <a:p xmlns:a="http://schemas.openxmlformats.org/drawingml/2006/main">
            <a:r>
              <a:t>코드와 개념 해설: 24.0 &gt; 24.0은 False입니다</a:t>
            </a:r>
          </a:p>
          <a:p xmlns:a="http://schemas.openxmlformats.org/drawingml/2006/main">
            <a:r>
              <a:t>&gt;=는 같은 경계도 포함합니다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A10 상세 원문]</a:t>
            </a:r>
          </a:p>
          <a:p xmlns:a="http://schemas.openxmlformats.org/drawingml/2006/main">
            <a:r>
              <a:t>### 사례로 이해하기 · 이상과 초과를 업무 문장으로 읽기</a:t>
            </a:r>
          </a:p>
          <a:p xmlns:a="http://schemas.openxmlformats.org/drawingml/2006/main">
            <a:r>
              <a:t/>
            </a:r>
          </a:p>
          <a:p xmlns:a="http://schemas.openxmlformats.org/drawingml/2006/main">
            <a:r>
              <a:t/>
            </a:r>
          </a:p>
          <a:p xmlns:a="http://schemas.openxmlformats.org/drawingml/2006/main">
            <a:r>
              <a:t/>
            </a:r>
          </a:p>
          <a:p xmlns:a="http://schemas.openxmlformats.org/drawingml/2006/main">
            <a:r>
              <a:t>현장 교육의 수업용 점검 규칙은 ‘인원이 10명 이상이면 큰 실습실을 배정한다’입니다. 이상은 경계값 10을 포함합니다. ‘10명 초과’라고 쓰면 11명부터 포함합니다. 말 한 글자의 차이가 비교 기호와 경계 결과를 바꿉니다. 코드를 먼저 외우지 말고 인원 수를 적은 수직선에서 10에 동그라미를 그리고 포함 여부를 표시합니다. 이 규칙은 강의용 공간 배정 예시이며 실제 기관의 정원 기준이 아닙니다.</a:t>
            </a:r>
          </a:p>
          <a:p xmlns:a="http://schemas.openxmlformats.org/drawingml/2006/main">
            <a:r>
              <a:t/>
            </a:r>
          </a:p>
          <a:p xmlns:a="http://schemas.openxmlformats.org/drawingml/2006/main">
            <a:r>
              <a:t>비교는 질문을 참 또는 거짓으로 답한 값입니다. 9&gt;=10은 False, 10&gt;=10은 True, 11&gt;=10은 True입니다. &gt;는 초과, &gt;=는 이상, &lt;는 미만, &lt;=는 이하를 나타냅니다. ==는 같은지 묻고 =는 값에 이름을 붙입니다. 참이라는 결과가 안전하다는 뜻은 아닙니다. 무엇을 비교했는지에 따라 ‘큰 실습실 대상이다’처럼 구체적인 의미를 붙입니다. 참/거짓과 정상/위험은 업무 규칙을 연결해야 설명할 수 있습니다.</a:t>
            </a:r>
          </a:p>
          <a:p xmlns:a="http://schemas.openxmlformats.org/drawingml/2006/main">
            <a:r>
              <a:t/>
            </a:r>
          </a:p>
          <a:p xmlns:a="http://schemas.openxmlformats.org/drawingml/2006/main">
            <a:r>
              <a:t>그다음 두 갈래 선택을 손으로 추적합니다. 인원 10은 조건이 참이므로 큰 실습실 안내를 선택하고 작은 실습실 안내는 선택하지 않습니다. 인원 9는 조건이 거짓이므로 다른 안내를 선택합니다. 값이 미확인이면 숫자와 비교하기 전에 미확인 갈래로 처리해야 합니다. None을 0으로 바꾸어 작은 방을 정하면 실제 인원 확인이 사라집니다. 최소 검수 표에는 경계 아래 9, 경계 10, 경계 위 11, 미확인 네 사례를 넣습니다. 5와 20만 확인하면 &gt;와 &gt;=를 잘못 골라도 둘 다 통과할 수 있습니다. 예상값은 코드보다 먼저 업무 문장으로 정합니다.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대여 정책은 ‘잔여 수량이 5개 이하이면 보충 요청’입니다. 4, 5, 6, 미확인 네 입력의 결과와 비교 기호를 정하세요. 미확인은 보충 확정 대신 확인 요청으로 처리합니다.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기호는 &lt;=이며 4와 5는 보충 요청, 6은 요청 없음, 미확인은 확인 요청입니다. &lt;를 고르면 경계 5를 놓칩니다. 미확인을 0으로 채우면 수량을 실제 관찰한 것처럼 처리하는 오답입니다.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**이상과 초과의 차이를 어느 입력으로 보나요?** 경계값 자체를 넣어 포함 여부를 확인합니다.</a:t>
            </a:r>
          </a:p>
          <a:p xmlns:a="http://schemas.openxmlformats.org/drawingml/2006/main">
            <a:r>
              <a:t/>
            </a:r>
          </a:p>
          <a:p xmlns:a="http://schemas.openxmlformats.org/drawingml/2006/main">
            <a:r>
              <a:t>2. **True는 늘 정상인가요?** 질문의 의미에 따라 보충·배정·초과 등 다른 업무 뜻이 됩니다.</a:t>
            </a:r>
          </a:p>
          <a:p xmlns:a="http://schemas.openxmlformats.org/drawingml/2006/main">
            <a:r>
              <a:t/>
            </a:r>
          </a:p>
          <a:p xmlns:a="http://schemas.openxmlformats.org/drawingml/2006/main">
            <a:r>
              <a:t>3. **기대 결과를 실행 뒤 정해도 되나요?** 먼저 업무 문장으로 예상해야 잘못된 결과를 그대로 정답으로 삼지 않습니다.</a:t>
            </a:r>
          </a:p>
          <a:p xmlns:a="http://schemas.openxmlformats.org/drawingml/2006/main">
            <a:r>
              <a:t/>
            </a:r>
          </a:p>
          <a:p xmlns:a="http://schemas.openxmlformats.org/drawingml/2006/main">
            <a:r>
              <a:t/>
            </a:r>
          </a:p>
          <a:p xmlns:a="http://schemas.openxmlformats.org/drawingml/2006/main">
            <a:r>
              <a:t>**개념.** 비교 연산은 두 값의 관계를 물어 True 또는 False를 만듭니다. &gt;는 초과, &gt;=는 이상, ==는 같은지 확인합니다. =는 대입이므로 역할이 다릅니다.</a:t>
            </a:r>
          </a:p>
          <a:p xmlns:a="http://schemas.openxmlformats.org/drawingml/2006/main">
            <a:r>
              <a:t/>
            </a:r>
          </a:p>
          <a:p xmlns:a="http://schemas.openxmlformats.org/drawingml/2006/main">
            <a:r>
              <a:t>**왜 필요한가.** 정책 문구를 코드로 옮길 때 ‘이상’과 ‘초과’를 혼동하면 경계값에서 다른 결과가 나옵니다. 기준과 정확히 같은 입력을 확인해야 차이가 보입니다.</a:t>
            </a:r>
          </a:p>
          <a:p xmlns:a="http://schemas.openxmlformats.org/drawingml/2006/main">
            <a:r>
              <a:t/>
            </a:r>
          </a:p>
          <a:p xmlns:a="http://schemas.openxmlformats.org/drawingml/2006/main">
            <a:r>
              <a:t>**함께 보는 예.** 온도 24.0과 기준 24.0에서 &gt;는 False, &gt;=는 True입니다. 참·거짓은 비교 질문의 답이며 온도 자체가 참이나 거짓이라는 의미가 아닙니다.</a:t>
            </a:r>
          </a:p>
          <a:p xmlns:a="http://schemas.openxmlformats.org/drawingml/2006/main">
            <a:r>
              <a:t/>
            </a:r>
          </a:p>
          <a:p xmlns:a="http://schemas.openxmlformats.org/drawingml/2006/main">
            <a:r>
              <a:t>**헷갈리는 경우.** ‘확인 필요’라는 출력은 이 연습의 입력 점검 규칙입니다. 실제 안전 판단이나 센서 성능을 보증하는 말로 사용하지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24.0</a:t>
            </a:r>
          </a:p>
          <a:p xmlns:a="http://schemas.openxmlformats.org/drawingml/2006/main">
            <a:r>
              <a:t>limit = 24.0</a:t>
            </a:r>
          </a:p>
          <a:p xmlns:a="http://schemas.openxmlformats.org/drawingml/2006/main">
            <a:r>
              <a:t>print(temperature_c &gt; limit)</a:t>
            </a:r>
          </a:p>
          <a:p xmlns:a="http://schemas.openxmlformats.org/drawingml/2006/main">
            <a:r>
              <a:t>print(temperature_c &gt;= limit)</a:t>
            </a:r>
          </a:p>
          <a:p xmlns:a="http://schemas.openxmlformats.org/drawingml/2006/main">
            <a:r>
              <a:t>print(temperature_c == limit)</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24.0` | 비교할 측정값을 정합니다. |</a:t>
            </a:r>
          </a:p>
          <a:p xmlns:a="http://schemas.openxmlformats.org/drawingml/2006/main">
            <a:r>
              <a:t>| 2 | `limit = 24.0` | 수업용 기준을 정합니다. |</a:t>
            </a:r>
          </a:p>
          <a:p xmlns:a="http://schemas.openxmlformats.org/drawingml/2006/main">
            <a:r>
              <a:t>| 3 | `print(temperature_c &gt; limit)` | 기준을 초과했는지 묻습니다. |</a:t>
            </a:r>
          </a:p>
          <a:p xmlns:a="http://schemas.openxmlformats.org/drawingml/2006/main">
            <a:r>
              <a:t>| 4 | `print(temperature_c &gt;= limit)` | 기준 이상인지 묻습니다. |</a:t>
            </a:r>
          </a:p>
          <a:p xmlns:a="http://schemas.openxmlformats.org/drawingml/2006/main">
            <a:r>
              <a:t>| 5 | `print(temperature_c == limit)` | 기준과 같은지 묻습니다.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code/A10_example.py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work/A10_example.py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False</a:t>
            </a:r>
          </a:p>
          <a:p xmlns:a="http://schemas.openxmlformats.org/drawingml/2006/main">
            <a:r>
              <a:t>True</a:t>
            </a:r>
          </a:p>
          <a:p xmlns:a="http://schemas.openxmlformats.org/drawingml/2006/main">
            <a:r>
              <a:t>True</a:t>
            </a:r>
          </a:p>
          <a:p xmlns:a="http://schemas.openxmlformats.org/drawingml/2006/main">
            <a:r>
              <a:t>```</a:t>
            </a:r>
          </a:p>
          <a:p xmlns:a="http://schemas.openxmlformats.org/drawingml/2006/main">
            <a:r>
              <a:t/>
            </a:r>
          </a:p>
          <a:p xmlns:a="http://schemas.openxmlformats.org/drawingml/2006/main">
            <a:r>
              <a:t>작은 수정: `temperature_c = 24.0`를 `temperature_c = 23.9`로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False</a:t>
            </a:r>
          </a:p>
          <a:p xmlns:a="http://schemas.openxmlformats.org/drawingml/2006/main">
            <a:r>
              <a:t>False</a:t>
            </a:r>
          </a:p>
          <a:p xmlns:a="http://schemas.openxmlformats.org/drawingml/2006/main">
            <a:r>
              <a:t>False</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초과·이상·같음의 문장을 기호와 연결합니다.</a:t>
            </a:r>
          </a:p>
          <a:p xmlns:a="http://schemas.openxmlformats.org/drawingml/2006/main">
            <a:r>
              <a:t>2. 기준 아래·같음·위 세 입력에서 True/False를 예상합니다.</a:t>
            </a:r>
          </a:p>
          <a:p xmlns:a="http://schemas.openxmlformats.org/drawingml/2006/main">
            <a:r>
              <a:t>3. 한 번에 온도 한 곳만 바꿔 비교 출력 세 줄을 확인합니다.</a:t>
            </a:r>
          </a:p>
          <a:p xmlns:a="http://schemas.openxmlformats.org/drawingml/2006/main">
            <a:r>
              <a:t>4. 업무 규칙 ‘24.0 이상’에 맞는 기호를 고르고 이유를 씁니다.</a:t>
            </a:r>
          </a:p>
          <a:p xmlns:a="http://schemas.openxmlformats.org/drawingml/2006/main">
            <a:r>
              <a:t/>
            </a:r>
          </a:p>
          <a:p xmlns:a="http://schemas.openxmlformats.org/drawingml/2006/main">
            <a:r>
              <a:t>예상 결과: 같은 값에서 &gt;와 &gt;=의 차이를 설명합니다.</a:t>
            </a:r>
          </a:p>
          <a:p xmlns:a="http://schemas.openxmlformats.org/drawingml/2006/main">
            <a:r>
              <a:t/>
            </a:r>
          </a:p>
          <a:p xmlns:a="http://schemas.openxmlformats.org/drawingml/2006/main">
            <a:r>
              <a:t>확인 질문: 변수에 값을 넣는 =와 비교하는 ==를 같은 기호처럼 쓰면 될까요?</a:t>
            </a:r>
          </a:p>
          <a:p xmlns:a="http://schemas.openxmlformats.org/drawingml/2006/main">
            <a:r>
              <a:t/>
            </a:r>
          </a:p>
          <a:p xmlns:a="http://schemas.openxmlformats.org/drawingml/2006/main">
            <a:r>
              <a:t>막혔을 때: True/False를 외우기보다 ‘왼쪽 값이 오른쪽 기준보다 큰가?’라는 질문을 실제 숫자로 다시 읽습니다.</a:t>
            </a:r>
          </a:p>
          <a:p xmlns:a="http://schemas.openxmlformats.org/drawingml/2006/main">
            <a:r>
              <a:t/>
            </a:r>
          </a:p>
          <a:p xmlns:a="http://schemas.openxmlformats.org/drawingml/2006/main">
            <a:r>
              <a:t>[활동 자료와 작성칸](practice-guide.md#a10--비교-결과는-참-또는-거짓)에서 A10를 엽니다.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https://zeusk302-png.github.io/kdigital-physical-ai/#/sessions/2026-10-14/lesson?activity=A10</a:t>
            </a:r>
          </a:p>
          <a:p xmlns:a="http://schemas.openxmlformats.org/drawingml/2006/main">
            <a:r>
              <a:t>공식 자료: https://docs.python.org/3/tutorial/introduction.html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A10 상세 원문]</a:t>
            </a:r>
          </a:p>
          <a:p xmlns:a="http://schemas.openxmlformats.org/drawingml/2006/main">
            <a:r>
              <a:t>### 사례로 이해하기 · 이상과 초과를 업무 문장으로 읽기</a:t>
            </a:r>
          </a:p>
          <a:p xmlns:a="http://schemas.openxmlformats.org/drawingml/2006/main">
            <a:r>
              <a:t/>
            </a:r>
          </a:p>
          <a:p xmlns:a="http://schemas.openxmlformats.org/drawingml/2006/main">
            <a:r>
              <a:t/>
            </a:r>
          </a:p>
          <a:p xmlns:a="http://schemas.openxmlformats.org/drawingml/2006/main">
            <a:r>
              <a:t/>
            </a:r>
          </a:p>
          <a:p xmlns:a="http://schemas.openxmlformats.org/drawingml/2006/main">
            <a:r>
              <a:t>현장 교육의 수업용 점검 규칙은 ‘인원이 10명 이상이면 큰 실습실을 배정한다’입니다. 이상은 경계값 10을 포함합니다. ‘10명 초과’라고 쓰면 11명부터 포함합니다. 말 한 글자의 차이가 비교 기호와 경계 결과를 바꿉니다. 코드를 먼저 외우지 말고 인원 수를 적은 수직선에서 10에 동그라미를 그리고 포함 여부를 표시합니다. 이 규칙은 강의용 공간 배정 예시이며 실제 기관의 정원 기준이 아닙니다.</a:t>
            </a:r>
          </a:p>
          <a:p xmlns:a="http://schemas.openxmlformats.org/drawingml/2006/main">
            <a:r>
              <a:t/>
            </a:r>
          </a:p>
          <a:p xmlns:a="http://schemas.openxmlformats.org/drawingml/2006/main">
            <a:r>
              <a:t>비교는 질문을 참 또는 거짓으로 답한 값입니다. 9&gt;=10은 False, 10&gt;=10은 True, 11&gt;=10은 True입니다. &gt;는 초과, &gt;=는 이상, &lt;는 미만, &lt;=는 이하를 나타냅니다. ==는 같은지 묻고 =는 값에 이름을 붙입니다. 참이라는 결과가 안전하다는 뜻은 아닙니다. 무엇을 비교했는지에 따라 ‘큰 실습실 대상이다’처럼 구체적인 의미를 붙입니다. 참/거짓과 정상/위험은 업무 규칙을 연결해야 설명할 수 있습니다.</a:t>
            </a:r>
          </a:p>
          <a:p xmlns:a="http://schemas.openxmlformats.org/drawingml/2006/main">
            <a:r>
              <a:t/>
            </a:r>
          </a:p>
          <a:p xmlns:a="http://schemas.openxmlformats.org/drawingml/2006/main">
            <a:r>
              <a:t>그다음 두 갈래 선택을 손으로 추적합니다. 인원 10은 조건이 참이므로 큰 실습실 안내를 선택하고 작은 실습실 안내는 선택하지 않습니다. 인원 9는 조건이 거짓이므로 다른 안내를 선택합니다. 값이 미확인이면 숫자와 비교하기 전에 미확인 갈래로 처리해야 합니다. None을 0으로 바꾸어 작은 방을 정하면 실제 인원 확인이 사라집니다. 최소 검수 표에는 경계 아래 9, 경계 10, 경계 위 11, 미확인 네 사례를 넣습니다. 5와 20만 확인하면 &gt;와 &gt;=를 잘못 골라도 둘 다 통과할 수 있습니다. 예상값은 코드보다 먼저 업무 문장으로 정합니다.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대여 정책은 ‘잔여 수량이 5개 이하이면 보충 요청’입니다. 4, 5, 6, 미확인 네 입력의 결과와 비교 기호를 정하세요. 미확인은 보충 확정 대신 확인 요청으로 처리합니다.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기호는 &lt;=이며 4와 5는 보충 요청, 6은 요청 없음, 미확인은 확인 요청입니다. &lt;를 고르면 경계 5를 놓칩니다. 미확인을 0으로 채우면 수량을 실제 관찰한 것처럼 처리하는 오답입니다.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**이상과 초과의 차이를 어느 입력으로 보나요?** 경계값 자체를 넣어 포함 여부를 확인합니다.</a:t>
            </a:r>
          </a:p>
          <a:p xmlns:a="http://schemas.openxmlformats.org/drawingml/2006/main">
            <a:r>
              <a:t/>
            </a:r>
          </a:p>
          <a:p xmlns:a="http://schemas.openxmlformats.org/drawingml/2006/main">
            <a:r>
              <a:t>2. **True는 늘 정상인가요?** 질문의 의미에 따라 보충·배정·초과 등 다른 업무 뜻이 됩니다.</a:t>
            </a:r>
          </a:p>
          <a:p xmlns:a="http://schemas.openxmlformats.org/drawingml/2006/main">
            <a:r>
              <a:t/>
            </a:r>
          </a:p>
          <a:p xmlns:a="http://schemas.openxmlformats.org/drawingml/2006/main">
            <a:r>
              <a:t>3. **기대 결과를 실행 뒤 정해도 되나요?** 먼저 업무 문장으로 예상해야 잘못된 결과를 그대로 정답으로 삼지 않습니다.</a:t>
            </a:r>
          </a:p>
          <a:p xmlns:a="http://schemas.openxmlformats.org/drawingml/2006/main">
            <a:r>
              <a:t/>
            </a:r>
          </a:p>
          <a:p xmlns:a="http://schemas.openxmlformats.org/drawingml/2006/main">
            <a:r>
              <a:t/>
            </a:r>
          </a:p>
          <a:p xmlns:a="http://schemas.openxmlformats.org/drawingml/2006/main">
            <a:r>
              <a:t>**개념.** 비교 연산은 두 값의 관계를 물어 True 또는 False를 만듭니다. &gt;는 초과, &gt;=는 이상, ==는 같은지 확인합니다. =는 대입이므로 역할이 다릅니다.</a:t>
            </a:r>
          </a:p>
          <a:p xmlns:a="http://schemas.openxmlformats.org/drawingml/2006/main">
            <a:r>
              <a:t/>
            </a:r>
          </a:p>
          <a:p xmlns:a="http://schemas.openxmlformats.org/drawingml/2006/main">
            <a:r>
              <a:t>**왜 필요한가.** 정책 문구를 코드로 옮길 때 ‘이상’과 ‘초과’를 혼동하면 경계값에서 다른 결과가 나옵니다. 기준과 정확히 같은 입력을 확인해야 차이가 보입니다.</a:t>
            </a:r>
          </a:p>
          <a:p xmlns:a="http://schemas.openxmlformats.org/drawingml/2006/main">
            <a:r>
              <a:t/>
            </a:r>
          </a:p>
          <a:p xmlns:a="http://schemas.openxmlformats.org/drawingml/2006/main">
            <a:r>
              <a:t>**함께 보는 예.** 온도 24.0과 기준 24.0에서 &gt;는 False, &gt;=는 True입니다. 참·거짓은 비교 질문의 답이며 온도 자체가 참이나 거짓이라는 의미가 아닙니다.</a:t>
            </a:r>
          </a:p>
          <a:p xmlns:a="http://schemas.openxmlformats.org/drawingml/2006/main">
            <a:r>
              <a:t/>
            </a:r>
          </a:p>
          <a:p xmlns:a="http://schemas.openxmlformats.org/drawingml/2006/main">
            <a:r>
              <a:t>**헷갈리는 경우.** ‘확인 필요’라는 출력은 이 연습의 입력 점검 규칙입니다. 실제 안전 판단이나 센서 성능을 보증하는 말로 사용하지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24.0</a:t>
            </a:r>
          </a:p>
          <a:p xmlns:a="http://schemas.openxmlformats.org/drawingml/2006/main">
            <a:r>
              <a:t>limit = 24.0</a:t>
            </a:r>
          </a:p>
          <a:p xmlns:a="http://schemas.openxmlformats.org/drawingml/2006/main">
            <a:r>
              <a:t>print(temperature_c &gt; limit)</a:t>
            </a:r>
          </a:p>
          <a:p xmlns:a="http://schemas.openxmlformats.org/drawingml/2006/main">
            <a:r>
              <a:t>print(temperature_c &gt;= limit)</a:t>
            </a:r>
          </a:p>
          <a:p xmlns:a="http://schemas.openxmlformats.org/drawingml/2006/main">
            <a:r>
              <a:t>print(temperature_c == limit)</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24.0` | 비교할 측정값을 정합니다. |</a:t>
            </a:r>
          </a:p>
          <a:p xmlns:a="http://schemas.openxmlformats.org/drawingml/2006/main">
            <a:r>
              <a:t>| 2 | `limit = 24.0` | 수업용 기준을 정합니다. |</a:t>
            </a:r>
          </a:p>
          <a:p xmlns:a="http://schemas.openxmlformats.org/drawingml/2006/main">
            <a:r>
              <a:t>| 3 | `print(temperature_c &gt; limit)` | 기준을 초과했는지 묻습니다. |</a:t>
            </a:r>
          </a:p>
          <a:p xmlns:a="http://schemas.openxmlformats.org/drawingml/2006/main">
            <a:r>
              <a:t>| 4 | `print(temperature_c &gt;= limit)` | 기준 이상인지 묻습니다. |</a:t>
            </a:r>
          </a:p>
          <a:p xmlns:a="http://schemas.openxmlformats.org/drawingml/2006/main">
            <a:r>
              <a:t>| 5 | `print(temperature_c == limit)` | 기준과 같은지 묻습니다.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code/A10_example.py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work/A10_example.py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False</a:t>
            </a:r>
          </a:p>
          <a:p xmlns:a="http://schemas.openxmlformats.org/drawingml/2006/main">
            <a:r>
              <a:t>True</a:t>
            </a:r>
          </a:p>
          <a:p xmlns:a="http://schemas.openxmlformats.org/drawingml/2006/main">
            <a:r>
              <a:t>True</a:t>
            </a:r>
          </a:p>
          <a:p xmlns:a="http://schemas.openxmlformats.org/drawingml/2006/main">
            <a:r>
              <a:t>```</a:t>
            </a:r>
          </a:p>
          <a:p xmlns:a="http://schemas.openxmlformats.org/drawingml/2006/main">
            <a:r>
              <a:t/>
            </a:r>
          </a:p>
          <a:p xmlns:a="http://schemas.openxmlformats.org/drawingml/2006/main">
            <a:r>
              <a:t>작은 수정: `temperature_c = 24.0`를 `temperature_c = 23.9`로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False</a:t>
            </a:r>
          </a:p>
          <a:p xmlns:a="http://schemas.openxmlformats.org/drawingml/2006/main">
            <a:r>
              <a:t>False</a:t>
            </a:r>
          </a:p>
          <a:p xmlns:a="http://schemas.openxmlformats.org/drawingml/2006/main">
            <a:r>
              <a:t>False</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초과·이상·같음의 문장을 기호와 연결합니다.</a:t>
            </a:r>
          </a:p>
          <a:p xmlns:a="http://schemas.openxmlformats.org/drawingml/2006/main">
            <a:r>
              <a:t>2. 기준 아래·같음·위 세 입력에서 True/False를 예상합니다.</a:t>
            </a:r>
          </a:p>
          <a:p xmlns:a="http://schemas.openxmlformats.org/drawingml/2006/main">
            <a:r>
              <a:t>3. 한 번에 온도 한 곳만 바꿔 비교 출력 세 줄을 확인합니다.</a:t>
            </a:r>
          </a:p>
          <a:p xmlns:a="http://schemas.openxmlformats.org/drawingml/2006/main">
            <a:r>
              <a:t>4. 업무 규칙 ‘24.0 이상’에 맞는 기호를 고르고 이유를 씁니다.</a:t>
            </a:r>
          </a:p>
          <a:p xmlns:a="http://schemas.openxmlformats.org/drawingml/2006/main">
            <a:r>
              <a:t/>
            </a:r>
          </a:p>
          <a:p xmlns:a="http://schemas.openxmlformats.org/drawingml/2006/main">
            <a:r>
              <a:t>예상 결과: 같은 값에서 &gt;와 &gt;=의 차이를 설명합니다.</a:t>
            </a:r>
          </a:p>
          <a:p xmlns:a="http://schemas.openxmlformats.org/drawingml/2006/main">
            <a:r>
              <a:t/>
            </a:r>
          </a:p>
          <a:p xmlns:a="http://schemas.openxmlformats.org/drawingml/2006/main">
            <a:r>
              <a:t>확인 질문: 변수에 값을 넣는 =와 비교하는 ==를 같은 기호처럼 쓰면 될까요?</a:t>
            </a:r>
          </a:p>
          <a:p xmlns:a="http://schemas.openxmlformats.org/drawingml/2006/main">
            <a:r>
              <a:t/>
            </a:r>
          </a:p>
          <a:p xmlns:a="http://schemas.openxmlformats.org/drawingml/2006/main">
            <a:r>
              <a:t>막혔을 때: True/False를 외우기보다 ‘왼쪽 값이 오른쪽 기준보다 큰가?’라는 질문을 실제 숫자로 다시 읽습니다.</a:t>
            </a:r>
          </a:p>
          <a:p xmlns:a="http://schemas.openxmlformats.org/drawingml/2006/main">
            <a:r>
              <a:t/>
            </a:r>
          </a:p>
          <a:p xmlns:a="http://schemas.openxmlformats.org/drawingml/2006/main">
            <a:r>
              <a:t>[활동 자료와 작성칸](practice-guide.md#a10--비교-결과는-참-또는-거짓)에서 A10를 엽니다.</a:t>
            </a:r>
          </a:p>
          <a:p xmlns:a="http://schemas.openxmlformats.org/drawingml/2006/main">
            <a:r>
              <a:t/>
            </a:r>
          </a:p>
          <a:p xmlns:a="http://schemas.openxmlformats.org/drawingml/2006/main">
            <a:r>
              <a:t>화면 예의 출처: D:/KDigital_PhysicalAI/.build/copyedited-ppt/spec-2026-10-14.json#slide-54;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https://zeusk302-png.github.io/kdigital-physical-ai/#/sessions/2026-10-14/lesson?activity=A10</a:t>
            </a:r>
          </a:p>
          <a:p xmlns:a="http://schemas.openxmlformats.org/drawingml/2006/main">
            <a:r>
              <a:t>공식 자료: https://docs.python.org/3/tutorial/introduction.html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code/A11_example.py</a:t>
            </a:r>
          </a:p>
          <a:p xmlns:a="http://schemas.openxmlformats.org/drawingml/2006/main">
            <a:r>
              <a:t>수정한 파일을 실행할 때는 code 대신 work 폴더를 지정합니다. 직접 실행할 수 없으면 입력값부터 코드의 처리 순서를 따라 적고 강사의 결과와 비교합니다.</a:t>
            </a:r>
          </a:p>
          <a:p xmlns:a="http://schemas.openxmlformats.org/drawingml/2006/main">
            <a:r>
              <a:t/>
            </a:r>
          </a:p>
          <a:p xmlns:a="http://schemas.openxmlformats.org/drawingml/2006/main">
            <a:r>
              <a:t>[활동 A11 상세 원문]</a:t>
            </a:r>
          </a:p>
          <a:p xmlns:a="http://schemas.openxmlformats.org/drawingml/2006/main">
            <a:r>
              <a:t>**개념.** if는 조건이 참일 때 실행할 묶음을 선택합니다. else는 그 조건이 거짓일 때 실행할 묶음입니다. 콜론 뒤의 들여쓴 줄들이 그 묶음에 속합니다.</a:t>
            </a:r>
          </a:p>
          <a:p xmlns:a="http://schemas.openxmlformats.org/drawingml/2006/main">
            <a:r>
              <a:t/>
            </a:r>
          </a:p>
          <a:p xmlns:a="http://schemas.openxmlformats.org/drawingml/2006/main">
            <a:r>
              <a:t>**왜 필요한가.** 비교 결과를 화면에 보여 주는 단계에서 한 걸음 더 나아가, 비교에 따라 다른 일을 할 수 있습니다. 두 갈래 중 어느 쪽이 실행되는지 먼저 손으로 따라가면 코드를 읽기 쉽습니다.</a:t>
            </a:r>
          </a:p>
          <a:p xmlns:a="http://schemas.openxmlformats.org/drawingml/2006/main">
            <a:r>
              <a:t/>
            </a:r>
          </a:p>
          <a:p xmlns:a="http://schemas.openxmlformats.org/drawingml/2006/main">
            <a:r>
              <a:t>**함께 보는 예.** 23.5는 기준 24.0을 넘지 않으므로 else 쪽의 정상이 출력됩니다. 25.0을 넣으면 if 쪽의 확인이 출력됩니다. 두 print를 모두 실행하는 코드와 차이를 비교합니다.</a:t>
            </a:r>
          </a:p>
          <a:p xmlns:a="http://schemas.openxmlformats.org/drawingml/2006/main">
            <a:r>
              <a:t/>
            </a:r>
          </a:p>
          <a:p xmlns:a="http://schemas.openxmlformats.org/drawingml/2006/main">
            <a:r>
              <a:t>**헷갈리는 경우.** 들여쓰기를 지우면 문법 오류가 나거나 의도한 묶음이 달라질 수 있습니다. 보기 좋게 정렬하는 장식이 아니라 Python 문장의 구조입니다.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23.5</a:t>
            </a:r>
          </a:p>
          <a:p xmlns:a="http://schemas.openxmlformats.org/drawingml/2006/main">
            <a:r>
              <a:t>limit = 24.0</a:t>
            </a:r>
          </a:p>
          <a:p xmlns:a="http://schemas.openxmlformats.org/drawingml/2006/main">
            <a:r>
              <a:t>if temperature_c &gt; limit:</a:t>
            </a:r>
          </a:p>
          <a:p xmlns:a="http://schemas.openxmlformats.org/drawingml/2006/main">
            <a:r>
              <a:t>    print("확인")</a:t>
            </a:r>
          </a:p>
          <a:p xmlns:a="http://schemas.openxmlformats.org/drawingml/2006/main">
            <a:r>
              <a:t>else:</a:t>
            </a:r>
          </a:p>
          <a:p xmlns:a="http://schemas.openxmlformats.org/drawingml/2006/main">
            <a:r>
              <a:t>    print("정상")</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23.5` | 측정값을 정합니다. |</a:t>
            </a:r>
          </a:p>
          <a:p xmlns:a="http://schemas.openxmlformats.org/drawingml/2006/main">
            <a:r>
              <a:t>| 2 | `limit = 24.0` | 수업용 비교 기준을 정합니다. |</a:t>
            </a:r>
          </a:p>
          <a:p xmlns:a="http://schemas.openxmlformats.org/drawingml/2006/main">
            <a:r>
              <a:t>| 3 | `if temperature_c &gt; limit:` | 비교가 참인지 확인하고 아래 묶음을 선택합니다. |</a:t>
            </a:r>
          </a:p>
          <a:p xmlns:a="http://schemas.openxmlformats.org/drawingml/2006/main">
            <a:r>
              <a:t>| 4 | `    print("확인")` | 참일 때 확인을 출력합니다. |</a:t>
            </a:r>
          </a:p>
          <a:p xmlns:a="http://schemas.openxmlformats.org/drawingml/2006/main">
            <a:r>
              <a:t>| 5 | `else:` | 비교가 거짓인 경우의 묶음입니다. |</a:t>
            </a:r>
          </a:p>
          <a:p xmlns:a="http://schemas.openxmlformats.org/drawingml/2006/main">
            <a:r>
              <a:t>| 6 | `    print("정상")` | 거짓일 때 정상을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code/A11_example.py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work/A11_example.py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정상</a:t>
            </a:r>
          </a:p>
          <a:p xmlns:a="http://schemas.openxmlformats.org/drawingml/2006/main">
            <a:r>
              <a:t>```</a:t>
            </a:r>
          </a:p>
          <a:p xmlns:a="http://schemas.openxmlformats.org/drawingml/2006/main">
            <a:r>
              <a:t/>
            </a:r>
          </a:p>
          <a:p xmlns:a="http://schemas.openxmlformats.org/drawingml/2006/main">
            <a:r>
              <a:t>작은 수정: `23.5`를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확인</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조건식을 동그라미로 표시하고 두 갈래를 말로 설명합니다.</a:t>
            </a:r>
          </a:p>
          <a:p xmlns:a="http://schemas.openxmlformats.org/drawingml/2006/main">
            <a:r>
              <a:t>2. 25.0으로 바꿨을 때 실행될 줄만 표시합니다.</a:t>
            </a:r>
          </a:p>
          <a:p xmlns:a="http://schemas.openxmlformats.org/drawingml/2006/main">
            <a:r>
              <a:t>3. 들여쓰기를 유지한 채 값 한 곳을 수정해 실행합니다.</a:t>
            </a:r>
          </a:p>
          <a:p xmlns:a="http://schemas.openxmlformats.org/drawingml/2006/main">
            <a:r>
              <a:t>4. 수정한 값·실행된 갈래·출력을 노트에 연결합니다.</a:t>
            </a:r>
          </a:p>
          <a:p xmlns:a="http://schemas.openxmlformats.org/drawingml/2006/main">
            <a:r>
              <a:t/>
            </a:r>
          </a:p>
          <a:p xmlns:a="http://schemas.openxmlformats.org/drawingml/2006/main">
            <a:r>
              <a:t>예상 결과: 23.5는 정상, 25.0은 확인. 양쪽 출력이 동시에 나오지 않습니다.</a:t>
            </a:r>
          </a:p>
          <a:p xmlns:a="http://schemas.openxmlformats.org/drawingml/2006/main">
            <a:r>
              <a:t/>
            </a:r>
          </a:p>
          <a:p xmlns:a="http://schemas.openxmlformats.org/drawingml/2006/main">
            <a:r>
              <a:t>확인 질문: print("완료")를 들여쓰기 없이 맨 아래에 넣으면 언제 실행될까요?</a:t>
            </a:r>
          </a:p>
          <a:p xmlns:a="http://schemas.openxmlformats.org/drawingml/2006/main">
            <a:r>
              <a:t/>
            </a:r>
          </a:p>
          <a:p xmlns:a="http://schemas.openxmlformats.org/drawingml/2006/main">
            <a:r>
              <a:t>막혔을 때: IndentationError가 나면 콜론 다음 줄의 공백을 원본과 비교합니다. 탭과 공백을 혼용하지 않고 제공 예의 네 칸 공백을 유지합니다.</a:t>
            </a:r>
          </a:p>
          <a:p xmlns:a="http://schemas.openxmlformats.org/drawingml/2006/main">
            <a:r>
              <a:t/>
            </a:r>
          </a:p>
          <a:p xmlns:a="http://schemas.openxmlformats.org/drawingml/2006/main">
            <a:r>
              <a:t>[활동 자료와 작성칸](practice-guide.md#a11--if와-else로-출력-선택하기)에서 A11를 엽니다.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https://zeusk302-png.github.io/kdigital-physical-ai/#/sessions/2026-10-14/lesson?activity=A11</a:t>
            </a:r>
          </a:p>
          <a:p xmlns:a="http://schemas.openxmlformats.org/drawingml/2006/main">
            <a:r>
              <a:t>공식 자료: https://docs.python.org/3/tutorial/introduction.html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A11 상세 원문]</a:t>
            </a:r>
          </a:p>
          <a:p xmlns:a="http://schemas.openxmlformats.org/drawingml/2006/main">
            <a:r>
              <a:t>**개념.** if는 조건이 참일 때 실행할 묶음을 선택합니다. else는 그 조건이 거짓일 때 실행할 묶음입니다. 콜론 뒤의 들여쓴 줄들이 그 묶음에 속합니다.</a:t>
            </a:r>
          </a:p>
          <a:p xmlns:a="http://schemas.openxmlformats.org/drawingml/2006/main">
            <a:r>
              <a:t/>
            </a:r>
          </a:p>
          <a:p xmlns:a="http://schemas.openxmlformats.org/drawingml/2006/main">
            <a:r>
              <a:t>**왜 필요한가.** 비교 결과를 화면에 보여 주는 단계에서 한 걸음 더 나아가, 비교에 따라 다른 일을 할 수 있습니다. 두 갈래 중 어느 쪽이 실행되는지 먼저 손으로 따라가면 코드를 읽기 쉽습니다.</a:t>
            </a:r>
          </a:p>
          <a:p xmlns:a="http://schemas.openxmlformats.org/drawingml/2006/main">
            <a:r>
              <a:t/>
            </a:r>
          </a:p>
          <a:p xmlns:a="http://schemas.openxmlformats.org/drawingml/2006/main">
            <a:r>
              <a:t>**함께 보는 예.** 23.5는 기준 24.0을 넘지 않으므로 else 쪽의 정상이 출력됩니다. 25.0을 넣으면 if 쪽의 확인이 출력됩니다. 두 print를 모두 실행하는 코드와 차이를 비교합니다.</a:t>
            </a:r>
          </a:p>
          <a:p xmlns:a="http://schemas.openxmlformats.org/drawingml/2006/main">
            <a:r>
              <a:t/>
            </a:r>
          </a:p>
          <a:p xmlns:a="http://schemas.openxmlformats.org/drawingml/2006/main">
            <a:r>
              <a:t>**헷갈리는 경우.** 들여쓰기를 지우면 문법 오류가 나거나 의도한 묶음이 달라질 수 있습니다. 보기 좋게 정렬하는 장식이 아니라 Python 문장의 구조입니다.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23.5</a:t>
            </a:r>
          </a:p>
          <a:p xmlns:a="http://schemas.openxmlformats.org/drawingml/2006/main">
            <a:r>
              <a:t>limit = 24.0</a:t>
            </a:r>
          </a:p>
          <a:p xmlns:a="http://schemas.openxmlformats.org/drawingml/2006/main">
            <a:r>
              <a:t>if temperature_c &gt; limit:</a:t>
            </a:r>
          </a:p>
          <a:p xmlns:a="http://schemas.openxmlformats.org/drawingml/2006/main">
            <a:r>
              <a:t>    print("확인")</a:t>
            </a:r>
          </a:p>
          <a:p xmlns:a="http://schemas.openxmlformats.org/drawingml/2006/main">
            <a:r>
              <a:t>else:</a:t>
            </a:r>
          </a:p>
          <a:p xmlns:a="http://schemas.openxmlformats.org/drawingml/2006/main">
            <a:r>
              <a:t>    print("정상")</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23.5` | 측정값을 정합니다. |</a:t>
            </a:r>
          </a:p>
          <a:p xmlns:a="http://schemas.openxmlformats.org/drawingml/2006/main">
            <a:r>
              <a:t>| 2 | `limit = 24.0` | 수업용 비교 기준을 정합니다. |</a:t>
            </a:r>
          </a:p>
          <a:p xmlns:a="http://schemas.openxmlformats.org/drawingml/2006/main">
            <a:r>
              <a:t>| 3 | `if temperature_c &gt; limit:` | 비교가 참인지 확인하고 아래 묶음을 선택합니다. |</a:t>
            </a:r>
          </a:p>
          <a:p xmlns:a="http://schemas.openxmlformats.org/drawingml/2006/main">
            <a:r>
              <a:t>| 4 | `    print("확인")` | 참일 때 확인을 출력합니다. |</a:t>
            </a:r>
          </a:p>
          <a:p xmlns:a="http://schemas.openxmlformats.org/drawingml/2006/main">
            <a:r>
              <a:t>| 5 | `else:` | 비교가 거짓인 경우의 묶음입니다. |</a:t>
            </a:r>
          </a:p>
          <a:p xmlns:a="http://schemas.openxmlformats.org/drawingml/2006/main">
            <a:r>
              <a:t>| 6 | `    print("정상")` | 거짓일 때 정상을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code/A11_example.py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work/A11_example.py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정상</a:t>
            </a:r>
          </a:p>
          <a:p xmlns:a="http://schemas.openxmlformats.org/drawingml/2006/main">
            <a:r>
              <a:t>```</a:t>
            </a:r>
          </a:p>
          <a:p xmlns:a="http://schemas.openxmlformats.org/drawingml/2006/main">
            <a:r>
              <a:t/>
            </a:r>
          </a:p>
          <a:p xmlns:a="http://schemas.openxmlformats.org/drawingml/2006/main">
            <a:r>
              <a:t>작은 수정: `23.5`를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확인</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조건식을 동그라미로 표시하고 두 갈래를 말로 설명합니다.</a:t>
            </a:r>
          </a:p>
          <a:p xmlns:a="http://schemas.openxmlformats.org/drawingml/2006/main">
            <a:r>
              <a:t>2. 25.0으로 바꿨을 때 실행될 줄만 표시합니다.</a:t>
            </a:r>
          </a:p>
          <a:p xmlns:a="http://schemas.openxmlformats.org/drawingml/2006/main">
            <a:r>
              <a:t>3. 들여쓰기를 유지한 채 값 한 곳을 수정해 실행합니다.</a:t>
            </a:r>
          </a:p>
          <a:p xmlns:a="http://schemas.openxmlformats.org/drawingml/2006/main">
            <a:r>
              <a:t>4. 수정한 값·실행된 갈래·출력을 노트에 연결합니다.</a:t>
            </a:r>
          </a:p>
          <a:p xmlns:a="http://schemas.openxmlformats.org/drawingml/2006/main">
            <a:r>
              <a:t/>
            </a:r>
          </a:p>
          <a:p xmlns:a="http://schemas.openxmlformats.org/drawingml/2006/main">
            <a:r>
              <a:t>예상 결과: 23.5는 정상, 25.0은 확인. 양쪽 출력이 동시에 나오지 않습니다.</a:t>
            </a:r>
          </a:p>
          <a:p xmlns:a="http://schemas.openxmlformats.org/drawingml/2006/main">
            <a:r>
              <a:t/>
            </a:r>
          </a:p>
          <a:p xmlns:a="http://schemas.openxmlformats.org/drawingml/2006/main">
            <a:r>
              <a:t>확인 질문: print("완료")를 들여쓰기 없이 맨 아래에 넣으면 언제 실행될까요?</a:t>
            </a:r>
          </a:p>
          <a:p xmlns:a="http://schemas.openxmlformats.org/drawingml/2006/main">
            <a:r>
              <a:t/>
            </a:r>
          </a:p>
          <a:p xmlns:a="http://schemas.openxmlformats.org/drawingml/2006/main">
            <a:r>
              <a:t>막혔을 때: IndentationError가 나면 콜론 다음 줄의 공백을 원본과 비교합니다. 탭과 공백을 혼용하지 않고 제공 예의 네 칸 공백을 유지합니다.</a:t>
            </a:r>
          </a:p>
          <a:p xmlns:a="http://schemas.openxmlformats.org/drawingml/2006/main">
            <a:r>
              <a:t/>
            </a:r>
          </a:p>
          <a:p xmlns:a="http://schemas.openxmlformats.org/drawingml/2006/main">
            <a:r>
              <a:t>[활동 자료와 작성칸](practice-guide.md#a11--if와-else로-출력-선택하기)에서 A11를 엽니다.</a:t>
            </a:r>
          </a:p>
          <a:p xmlns:a="http://schemas.openxmlformats.org/drawingml/2006/main">
            <a:r>
              <a:t/>
            </a:r>
          </a:p>
          <a:p xmlns:a="http://schemas.openxmlformats.org/drawingml/2006/main">
            <a:r>
              <a:t>화면 예의 출처: D:/KDigital_PhysicalAI/.build/copyedited-ppt/spec-2026-10-14.json#slide-56;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https://zeusk302-png.github.io/kdigital-physical-ai/#/sessions/2026-10-14/lesson?activity=A11</a:t>
            </a:r>
          </a:p>
          <a:p xmlns:a="http://schemas.openxmlformats.org/drawingml/2006/main">
            <a:r>
              <a:t>공식 자료: https://docs.python.org/3/tutorial/introduction.html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A11 상세 원문]</a:t>
            </a:r>
          </a:p>
          <a:p xmlns:a="http://schemas.openxmlformats.org/drawingml/2006/main">
            <a:r>
              <a:t>**개념.** if는 조건이 참일 때 실행할 묶음을 선택합니다. else는 그 조건이 거짓일 때 실행할 묶음입니다. 콜론 뒤의 들여쓴 줄들이 그 묶음에 속합니다.</a:t>
            </a:r>
          </a:p>
          <a:p xmlns:a="http://schemas.openxmlformats.org/drawingml/2006/main">
            <a:r>
              <a:t/>
            </a:r>
          </a:p>
          <a:p xmlns:a="http://schemas.openxmlformats.org/drawingml/2006/main">
            <a:r>
              <a:t>**왜 필요한가.** 비교 결과를 화면에 보여 주는 단계에서 한 걸음 더 나아가, 비교에 따라 다른 일을 할 수 있습니다. 두 갈래 중 어느 쪽이 실행되는지 먼저 손으로 따라가면 코드를 읽기 쉽습니다.</a:t>
            </a:r>
          </a:p>
          <a:p xmlns:a="http://schemas.openxmlformats.org/drawingml/2006/main">
            <a:r>
              <a:t/>
            </a:r>
          </a:p>
          <a:p xmlns:a="http://schemas.openxmlformats.org/drawingml/2006/main">
            <a:r>
              <a:t>**함께 보는 예.** 23.5는 기준 24.0을 넘지 않으므로 else 쪽의 정상이 출력됩니다. 25.0을 넣으면 if 쪽의 확인이 출력됩니다. 두 print를 모두 실행하는 코드와 차이를 비교합니다.</a:t>
            </a:r>
          </a:p>
          <a:p xmlns:a="http://schemas.openxmlformats.org/drawingml/2006/main">
            <a:r>
              <a:t/>
            </a:r>
          </a:p>
          <a:p xmlns:a="http://schemas.openxmlformats.org/drawingml/2006/main">
            <a:r>
              <a:t>**헷갈리는 경우.** 들여쓰기를 지우면 문법 오류가 나거나 의도한 묶음이 달라질 수 있습니다. 보기 좋게 정렬하는 장식이 아니라 Python 문장의 구조입니다.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23.5</a:t>
            </a:r>
          </a:p>
          <a:p xmlns:a="http://schemas.openxmlformats.org/drawingml/2006/main">
            <a:r>
              <a:t>limit = 24.0</a:t>
            </a:r>
          </a:p>
          <a:p xmlns:a="http://schemas.openxmlformats.org/drawingml/2006/main">
            <a:r>
              <a:t>if temperature_c &gt; limit:</a:t>
            </a:r>
          </a:p>
          <a:p xmlns:a="http://schemas.openxmlformats.org/drawingml/2006/main">
            <a:r>
              <a:t>    print("확인")</a:t>
            </a:r>
          </a:p>
          <a:p xmlns:a="http://schemas.openxmlformats.org/drawingml/2006/main">
            <a:r>
              <a:t>else:</a:t>
            </a:r>
          </a:p>
          <a:p xmlns:a="http://schemas.openxmlformats.org/drawingml/2006/main">
            <a:r>
              <a:t>    print("정상")</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23.5` | 측정값을 정합니다. |</a:t>
            </a:r>
          </a:p>
          <a:p xmlns:a="http://schemas.openxmlformats.org/drawingml/2006/main">
            <a:r>
              <a:t>| 2 | `limit = 24.0` | 수업용 비교 기준을 정합니다. |</a:t>
            </a:r>
          </a:p>
          <a:p xmlns:a="http://schemas.openxmlformats.org/drawingml/2006/main">
            <a:r>
              <a:t>| 3 | `if temperature_c &gt; limit:` | 비교가 참인지 확인하고 아래 묶음을 선택합니다. |</a:t>
            </a:r>
          </a:p>
          <a:p xmlns:a="http://schemas.openxmlformats.org/drawingml/2006/main">
            <a:r>
              <a:t>| 4 | `    print("확인")` | 참일 때 확인을 출력합니다. |</a:t>
            </a:r>
          </a:p>
          <a:p xmlns:a="http://schemas.openxmlformats.org/drawingml/2006/main">
            <a:r>
              <a:t>| 5 | `else:` | 비교가 거짓인 경우의 묶음입니다. |</a:t>
            </a:r>
          </a:p>
          <a:p xmlns:a="http://schemas.openxmlformats.org/drawingml/2006/main">
            <a:r>
              <a:t>| 6 | `    print("정상")` | 거짓일 때 정상을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code/A11_example.py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work/A11_example.py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정상</a:t>
            </a:r>
          </a:p>
          <a:p xmlns:a="http://schemas.openxmlformats.org/drawingml/2006/main">
            <a:r>
              <a:t>```</a:t>
            </a:r>
          </a:p>
          <a:p xmlns:a="http://schemas.openxmlformats.org/drawingml/2006/main">
            <a:r>
              <a:t/>
            </a:r>
          </a:p>
          <a:p xmlns:a="http://schemas.openxmlformats.org/drawingml/2006/main">
            <a:r>
              <a:t>작은 수정: `23.5`를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확인</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조건식을 동그라미로 표시하고 두 갈래를 말로 설명합니다.</a:t>
            </a:r>
          </a:p>
          <a:p xmlns:a="http://schemas.openxmlformats.org/drawingml/2006/main">
            <a:r>
              <a:t>2. 25.0으로 바꿨을 때 실행될 줄만 표시합니다.</a:t>
            </a:r>
          </a:p>
          <a:p xmlns:a="http://schemas.openxmlformats.org/drawingml/2006/main">
            <a:r>
              <a:t>3. 들여쓰기를 유지한 채 값 한 곳을 수정해 실행합니다.</a:t>
            </a:r>
          </a:p>
          <a:p xmlns:a="http://schemas.openxmlformats.org/drawingml/2006/main">
            <a:r>
              <a:t>4. 수정한 값·실행된 갈래·출력을 노트에 연결합니다.</a:t>
            </a:r>
          </a:p>
          <a:p xmlns:a="http://schemas.openxmlformats.org/drawingml/2006/main">
            <a:r>
              <a:t/>
            </a:r>
          </a:p>
          <a:p xmlns:a="http://schemas.openxmlformats.org/drawingml/2006/main">
            <a:r>
              <a:t>예상 결과: 23.5는 정상, 25.0은 확인. 양쪽 출력이 동시에 나오지 않습니다.</a:t>
            </a:r>
          </a:p>
          <a:p xmlns:a="http://schemas.openxmlformats.org/drawingml/2006/main">
            <a:r>
              <a:t/>
            </a:r>
          </a:p>
          <a:p xmlns:a="http://schemas.openxmlformats.org/drawingml/2006/main">
            <a:r>
              <a:t>확인 질문: print("완료")를 들여쓰기 없이 맨 아래에 넣으면 언제 실행될까요?</a:t>
            </a:r>
          </a:p>
          <a:p xmlns:a="http://schemas.openxmlformats.org/drawingml/2006/main">
            <a:r>
              <a:t/>
            </a:r>
          </a:p>
          <a:p xmlns:a="http://schemas.openxmlformats.org/drawingml/2006/main">
            <a:r>
              <a:t>막혔을 때: IndentationError가 나면 콜론 다음 줄의 공백을 원본과 비교합니다. 탭과 공백을 혼용하지 않고 제공 예의 네 칸 공백을 유지합니다.</a:t>
            </a:r>
          </a:p>
          <a:p xmlns:a="http://schemas.openxmlformats.org/drawingml/2006/main">
            <a:r>
              <a:t/>
            </a:r>
          </a:p>
          <a:p xmlns:a="http://schemas.openxmlformats.org/drawingml/2006/main">
            <a:r>
              <a:t>[활동 자료와 작성칸](practice-guide.md#a11--if와-else로-출력-선택하기)에서 A11를 엽니다.</a:t>
            </a:r>
          </a:p>
          <a:p xmlns:a="http://schemas.openxmlformats.org/drawingml/2006/main">
            <a:r>
              <a:t/>
            </a:r>
          </a:p>
          <a:p xmlns:a="http://schemas.openxmlformats.org/drawingml/2006/main">
            <a:r>
              <a:t>화면 예의 출처: D:/KDigital_PhysicalAI/.build/copyedited-ppt/spec-2026-10-14.json#slide-54;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https://zeusk302-png.github.io/kdigital-physical-ai/#/sessions/2026-10-14/lesson?activity=A11</a:t>
            </a:r>
          </a:p>
          <a:p xmlns:a="http://schemas.openxmlformats.org/drawingml/2006/main">
            <a:r>
              <a:t>공식 자료: https://docs.python.org/3/tutorial/introduction.html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code/A12_example.py</a:t>
            </a:r>
          </a:p>
          <a:p xmlns:a="http://schemas.openxmlformats.org/drawingml/2006/main">
            <a:r>
              <a:t>수정한 파일을 실행할 때는 code 대신 work 폴더를 지정합니다. 직접 실행할 수 없으면 입력값부터 코드의 처리 순서를 따라 적고 강사의 결과와 비교합니다.</a:t>
            </a:r>
          </a:p>
          <a:p xmlns:a="http://schemas.openxmlformats.org/drawingml/2006/main">
            <a:r>
              <a:t/>
            </a:r>
          </a:p>
          <a:p xmlns:a="http://schemas.openxmlformats.org/drawingml/2006/main">
            <a:r>
              <a:t>[활동 A12 상세 원문]</a:t>
            </a:r>
          </a:p>
          <a:p xmlns:a="http://schemas.openxmlformats.org/drawingml/2006/main">
            <a:r>
              <a:t>**개념.** elif는 앞 조건이 거짓일 때 다음 조건을 확인합니다. 값이 없다는 상태 None을 먼저 확인하면 숫자가 없는 값을 기준과 비교하는 일을 피할 수 있습니다.</a:t>
            </a:r>
          </a:p>
          <a:p xmlns:a="http://schemas.openxmlformats.org/drawingml/2006/main">
            <a:r>
              <a:t/>
            </a:r>
          </a:p>
          <a:p xmlns:a="http://schemas.openxmlformats.org/drawingml/2006/main">
            <a:r>
              <a:t>**왜 필요한가.** 10/8의 미측정을 숫자 0으로 바꾸지 않고 프로그램 안에서도 유지해야 합니다. 미측정·기준 초과·그 밖의 측정을 서로 다른 상태로 구분합니다.</a:t>
            </a:r>
          </a:p>
          <a:p xmlns:a="http://schemas.openxmlformats.org/drawingml/2006/main">
            <a:r>
              <a:t/>
            </a:r>
          </a:p>
          <a:p xmlns:a="http://schemas.openxmlformats.org/drawingml/2006/main">
            <a:r>
              <a:t>**함께 보는 예.** None이면 미측정, 숫자 25.0이면 확인, 24.0이면 정상입니다. 기준은 ‘24.0 초과’이므로 같은 값은 정상 쪽입니다. 숫자 비교는 값이 있는 경우에만 진행됩니다.</a:t>
            </a:r>
          </a:p>
          <a:p xmlns:a="http://schemas.openxmlformats.org/drawingml/2006/main">
            <a:r>
              <a:t/>
            </a:r>
          </a:p>
          <a:p xmlns:a="http://schemas.openxmlformats.org/drawingml/2006/main">
            <a:r>
              <a:t>**헷갈리는 경우.** if not temperature_c처럼 쓰면 0.0도 거짓으로 취급될 수 있어 미측정과 섞일 수 있습니다. 오늘은 값 없음의 정확한 비교인 is None을 사용합니다.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None</a:t>
            </a:r>
          </a:p>
          <a:p xmlns:a="http://schemas.openxmlformats.org/drawingml/2006/main">
            <a:r>
              <a:t>if temperature_c is None:</a:t>
            </a:r>
          </a:p>
          <a:p xmlns:a="http://schemas.openxmlformats.org/drawingml/2006/main">
            <a:r>
              <a:t>    print("미측정")</a:t>
            </a:r>
          </a:p>
          <a:p xmlns:a="http://schemas.openxmlformats.org/drawingml/2006/main">
            <a:r>
              <a:t>elif temperature_c &gt; 24.0:</a:t>
            </a:r>
          </a:p>
          <a:p xmlns:a="http://schemas.openxmlformats.org/drawingml/2006/main">
            <a:r>
              <a:t>    print("확인")</a:t>
            </a:r>
          </a:p>
          <a:p xmlns:a="http://schemas.openxmlformats.org/drawingml/2006/main">
            <a:r>
              <a:t>else:</a:t>
            </a:r>
          </a:p>
          <a:p xmlns:a="http://schemas.openxmlformats.org/drawingml/2006/main">
            <a:r>
              <a:t>    print("정상")</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None` | 측정값이 없다는 상태를 정합니다. |</a:t>
            </a:r>
          </a:p>
          <a:p xmlns:a="http://schemas.openxmlformats.org/drawingml/2006/main">
            <a:r>
              <a:t>| 2 | `if temperature_c is None:` | 값 없음인지 먼저 확인합니다. |</a:t>
            </a:r>
          </a:p>
          <a:p xmlns:a="http://schemas.openxmlformats.org/drawingml/2006/main">
            <a:r>
              <a:t>| 3 | `    print("미측정")` | 값이 없으면 미측정이라고 출력합니다. |</a:t>
            </a:r>
          </a:p>
          <a:p xmlns:a="http://schemas.openxmlformats.org/drawingml/2006/main">
            <a:r>
              <a:t>| 4 | `elif temperature_c &gt; 24.0:` | 값이 있을 때 기준 초과인지 확인합니다. |</a:t>
            </a:r>
          </a:p>
          <a:p xmlns:a="http://schemas.openxmlformats.org/drawingml/2006/main">
            <a:r>
              <a:t>| 5 | `    print("확인")` | 초과하면 확인을 출력합니다. |</a:t>
            </a:r>
          </a:p>
          <a:p xmlns:a="http://schemas.openxmlformats.org/drawingml/2006/main">
            <a:r>
              <a:t>| 6 | `else:` | 나머지 측정값을 처리합니다. |</a:t>
            </a:r>
          </a:p>
          <a:p xmlns:a="http://schemas.openxmlformats.org/drawingml/2006/main">
            <a:r>
              <a:t>| 7 | `    print("정상")` | 나머지는 정상으로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code/A12_example.py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work/A12_example.py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미측정</a:t>
            </a:r>
          </a:p>
          <a:p xmlns:a="http://schemas.openxmlformats.org/drawingml/2006/main">
            <a:r>
              <a:t>```</a:t>
            </a:r>
          </a:p>
          <a:p xmlns:a="http://schemas.openxmlformats.org/drawingml/2006/main">
            <a:r>
              <a:t/>
            </a:r>
          </a:p>
          <a:p xmlns:a="http://schemas.openxmlformats.org/drawingml/2006/main">
            <a:r>
              <a:t>작은 수정: `temperature_c = None`를 `temperature_c = 0.0`로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정상</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None·0.0·24.0·24.1의 예상 갈래를 표에 씁니다.</a:t>
            </a:r>
          </a:p>
          <a:p xmlns:a="http://schemas.openxmlformats.org/drawingml/2006/main">
            <a:r>
              <a:t>2. 원본에서 미측정 확인이 숫자 비교보다 앞선 이유를 설명합니다.</a:t>
            </a:r>
          </a:p>
          <a:p xmlns:a="http://schemas.openxmlformats.org/drawingml/2006/main">
            <a:r>
              <a:t>3. work 코드에 하나씩 대입해 출력 또는 강사 실행을 대조합니다.</a:t>
            </a:r>
          </a:p>
          <a:p xmlns:a="http://schemas.openxmlformats.org/drawingml/2006/main">
            <a:r>
              <a:t>4. 0.0과 None을 같은 답으로 쓰지 않았는지 확인합니다.</a:t>
            </a:r>
          </a:p>
          <a:p xmlns:a="http://schemas.openxmlformats.org/drawingml/2006/main">
            <a:r>
              <a:t/>
            </a:r>
          </a:p>
          <a:p xmlns:a="http://schemas.openxmlformats.org/drawingml/2006/main">
            <a:r>
              <a:t>예상 결과: 미측정/정상/정상/확인의 순서입니다.</a:t>
            </a:r>
          </a:p>
          <a:p xmlns:a="http://schemas.openxmlformats.org/drawingml/2006/main">
            <a:r>
              <a:t/>
            </a:r>
          </a:p>
          <a:p xmlns:a="http://schemas.openxmlformats.org/drawingml/2006/main">
            <a:r>
              <a:t>확인 질문: None에 직접 &gt; 24.0을 적용하면 어떻게 될까요?</a:t>
            </a:r>
          </a:p>
          <a:p xmlns:a="http://schemas.openxmlformats.org/drawingml/2006/main">
            <a:r>
              <a:t/>
            </a:r>
          </a:p>
          <a:p xmlns:a="http://schemas.openxmlformats.org/drawingml/2006/main">
            <a:r>
              <a:t>막혔을 때: None을 "None"이라는 문자열로 바꾸지 않습니다. 따옴표가 붙으면 다른 값입니다.</a:t>
            </a:r>
          </a:p>
          <a:p xmlns:a="http://schemas.openxmlformats.org/drawingml/2006/main">
            <a:r>
              <a:t/>
            </a:r>
          </a:p>
          <a:p xmlns:a="http://schemas.openxmlformats.org/drawingml/2006/main">
            <a:r>
              <a:t>[활동 자료와 작성칸](practice-guide.md#a12--미측정과-경계값의-세-갈래)에서 A12를 엽니다.</a:t>
            </a:r>
          </a:p>
          <a:p xmlns:a="http://schemas.openxmlformats.org/drawingml/2006/main">
            <a:r>
              <a:t/>
            </a:r>
          </a:p>
          <a:p xmlns:a="http://schemas.openxmlformats.org/drawingml/2006/main">
            <a:r>
              <a:t># 5구간 · 여러 기록을 반복하기</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https://zeusk302-png.github.io/kdigital-physical-ai/#/sessions/2026-10-14/lesson?activity=A12</a:t>
            </a:r>
          </a:p>
          <a:p xmlns:a="http://schemas.openxmlformats.org/drawingml/2006/main">
            <a:r>
              <a:t>공식 자료: https://docs.python.org/3/tutorial/introduction.html</a:t>
            </a:r>
          </a:p>
          <a:p xmlns:a="http://schemas.openxmlformats.org/drawingml/2006/main">
            <a:r>
              <a:t/>
            </a:r>
          </a:p>
          <a:p xmlns:a="http://schemas.openxmlformats.org/drawingml/2006/main">
            <a:r>
              <a:t>코드와 개념 해설: None 갈래가 숫자 비교보다 먼저입니다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A12 상세 원문]</a:t>
            </a:r>
          </a:p>
          <a:p xmlns:a="http://schemas.openxmlformats.org/drawingml/2006/main">
            <a:r>
              <a:t>**개념.** elif는 앞 조건이 거짓일 때 다음 조건을 확인합니다. 값이 없다는 상태 None을 먼저 확인하면 숫자가 없는 값을 기준과 비교하는 일을 피할 수 있습니다.</a:t>
            </a:r>
          </a:p>
          <a:p xmlns:a="http://schemas.openxmlformats.org/drawingml/2006/main">
            <a:r>
              <a:t/>
            </a:r>
          </a:p>
          <a:p xmlns:a="http://schemas.openxmlformats.org/drawingml/2006/main">
            <a:r>
              <a:t>**왜 필요한가.** 10/8의 미측정을 숫자 0으로 바꾸지 않고 프로그램 안에서도 유지해야 합니다. 미측정·기준 초과·그 밖의 측정을 서로 다른 상태로 구분합니다.</a:t>
            </a:r>
          </a:p>
          <a:p xmlns:a="http://schemas.openxmlformats.org/drawingml/2006/main">
            <a:r>
              <a:t/>
            </a:r>
          </a:p>
          <a:p xmlns:a="http://schemas.openxmlformats.org/drawingml/2006/main">
            <a:r>
              <a:t>**함께 보는 예.** None이면 미측정, 숫자 25.0이면 확인, 24.0이면 정상입니다. 기준은 ‘24.0 초과’이므로 같은 값은 정상 쪽입니다. 숫자 비교는 값이 있는 경우에만 진행됩니다.</a:t>
            </a:r>
          </a:p>
          <a:p xmlns:a="http://schemas.openxmlformats.org/drawingml/2006/main">
            <a:r>
              <a:t/>
            </a:r>
          </a:p>
          <a:p xmlns:a="http://schemas.openxmlformats.org/drawingml/2006/main">
            <a:r>
              <a:t>**헷갈리는 경우.** if not temperature_c처럼 쓰면 0.0도 거짓으로 취급될 수 있어 미측정과 섞일 수 있습니다. 오늘은 값 없음의 정확한 비교인 is None을 사용합니다.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None</a:t>
            </a:r>
          </a:p>
          <a:p xmlns:a="http://schemas.openxmlformats.org/drawingml/2006/main">
            <a:r>
              <a:t>if temperature_c is None:</a:t>
            </a:r>
          </a:p>
          <a:p xmlns:a="http://schemas.openxmlformats.org/drawingml/2006/main">
            <a:r>
              <a:t>    print("미측정")</a:t>
            </a:r>
          </a:p>
          <a:p xmlns:a="http://schemas.openxmlformats.org/drawingml/2006/main">
            <a:r>
              <a:t>elif temperature_c &gt; 24.0:</a:t>
            </a:r>
          </a:p>
          <a:p xmlns:a="http://schemas.openxmlformats.org/drawingml/2006/main">
            <a:r>
              <a:t>    print("확인")</a:t>
            </a:r>
          </a:p>
          <a:p xmlns:a="http://schemas.openxmlformats.org/drawingml/2006/main">
            <a:r>
              <a:t>else:</a:t>
            </a:r>
          </a:p>
          <a:p xmlns:a="http://schemas.openxmlformats.org/drawingml/2006/main">
            <a:r>
              <a:t>    print("정상")</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None` | 측정값이 없다는 상태를 정합니다. |</a:t>
            </a:r>
          </a:p>
          <a:p xmlns:a="http://schemas.openxmlformats.org/drawingml/2006/main">
            <a:r>
              <a:t>| 2 | `if temperature_c is None:` | 값 없음인지 먼저 확인합니다. |</a:t>
            </a:r>
          </a:p>
          <a:p xmlns:a="http://schemas.openxmlformats.org/drawingml/2006/main">
            <a:r>
              <a:t>| 3 | `    print("미측정")` | 값이 없으면 미측정이라고 출력합니다. |</a:t>
            </a:r>
          </a:p>
          <a:p xmlns:a="http://schemas.openxmlformats.org/drawingml/2006/main">
            <a:r>
              <a:t>| 4 | `elif temperature_c &gt; 24.0:` | 값이 있을 때 기준 초과인지 확인합니다. |</a:t>
            </a:r>
          </a:p>
          <a:p xmlns:a="http://schemas.openxmlformats.org/drawingml/2006/main">
            <a:r>
              <a:t>| 5 | `    print("확인")` | 초과하면 확인을 출력합니다. |</a:t>
            </a:r>
          </a:p>
          <a:p xmlns:a="http://schemas.openxmlformats.org/drawingml/2006/main">
            <a:r>
              <a:t>| 6 | `else:` | 나머지 측정값을 처리합니다. |</a:t>
            </a:r>
          </a:p>
          <a:p xmlns:a="http://schemas.openxmlformats.org/drawingml/2006/main">
            <a:r>
              <a:t>| 7 | `    print("정상")` | 나머지는 정상으로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code/A12_example.py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work/A12_example.py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미측정</a:t>
            </a:r>
          </a:p>
          <a:p xmlns:a="http://schemas.openxmlformats.org/drawingml/2006/main">
            <a:r>
              <a:t>```</a:t>
            </a:r>
          </a:p>
          <a:p xmlns:a="http://schemas.openxmlformats.org/drawingml/2006/main">
            <a:r>
              <a:t/>
            </a:r>
          </a:p>
          <a:p xmlns:a="http://schemas.openxmlformats.org/drawingml/2006/main">
            <a:r>
              <a:t>작은 수정: `temperature_c = None`를 `temperature_c = 0.0`로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정상</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None·0.0·24.0·24.1의 예상 갈래를 표에 씁니다.</a:t>
            </a:r>
          </a:p>
          <a:p xmlns:a="http://schemas.openxmlformats.org/drawingml/2006/main">
            <a:r>
              <a:t>2. 원본에서 미측정 확인이 숫자 비교보다 앞선 이유를 설명합니다.</a:t>
            </a:r>
          </a:p>
          <a:p xmlns:a="http://schemas.openxmlformats.org/drawingml/2006/main">
            <a:r>
              <a:t>3. work 코드에 하나씩 대입해 출력 또는 강사 실행을 대조합니다.</a:t>
            </a:r>
          </a:p>
          <a:p xmlns:a="http://schemas.openxmlformats.org/drawingml/2006/main">
            <a:r>
              <a:t>4. 0.0과 None을 같은 답으로 쓰지 않았는지 확인합니다.</a:t>
            </a:r>
          </a:p>
          <a:p xmlns:a="http://schemas.openxmlformats.org/drawingml/2006/main">
            <a:r>
              <a:t/>
            </a:r>
          </a:p>
          <a:p xmlns:a="http://schemas.openxmlformats.org/drawingml/2006/main">
            <a:r>
              <a:t>예상 결과: 미측정/정상/정상/확인의 순서입니다.</a:t>
            </a:r>
          </a:p>
          <a:p xmlns:a="http://schemas.openxmlformats.org/drawingml/2006/main">
            <a:r>
              <a:t/>
            </a:r>
          </a:p>
          <a:p xmlns:a="http://schemas.openxmlformats.org/drawingml/2006/main">
            <a:r>
              <a:t>확인 질문: None에 직접 &gt; 24.0을 적용하면 어떻게 될까요?</a:t>
            </a:r>
          </a:p>
          <a:p xmlns:a="http://schemas.openxmlformats.org/drawingml/2006/main">
            <a:r>
              <a:t/>
            </a:r>
          </a:p>
          <a:p xmlns:a="http://schemas.openxmlformats.org/drawingml/2006/main">
            <a:r>
              <a:t>막혔을 때: None을 "None"이라는 문자열로 바꾸지 않습니다. 따옴표가 붙으면 다른 값입니다.</a:t>
            </a:r>
          </a:p>
          <a:p xmlns:a="http://schemas.openxmlformats.org/drawingml/2006/main">
            <a:r>
              <a:t/>
            </a:r>
          </a:p>
          <a:p xmlns:a="http://schemas.openxmlformats.org/drawingml/2006/main">
            <a:r>
              <a:t>[활동 자료와 작성칸](practice-guide.md#a12--미측정과-경계값의-세-갈래)에서 A12를 엽니다.</a:t>
            </a:r>
          </a:p>
          <a:p xmlns:a="http://schemas.openxmlformats.org/drawingml/2006/main">
            <a:r>
              <a:t/>
            </a:r>
          </a:p>
          <a:p xmlns:a="http://schemas.openxmlformats.org/drawingml/2006/main">
            <a:r>
              <a:t># 5구간 · 여러 기록을 반복하기</a:t>
            </a:r>
          </a:p>
          <a:p xmlns:a="http://schemas.openxmlformats.org/drawingml/2006/main">
            <a:r>
              <a:t/>
            </a:r>
          </a:p>
          <a:p xmlns:a="http://schemas.openxmlformats.org/drawingml/2006/main">
            <a:r>
              <a:t>화면 예의 출처: D:/KDigital_PhysicalAI/.build/copyedited-ppt/spec-2026-10-14.json#slide-59;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https://zeusk302-png.github.io/kdigital-physical-ai/#/sessions/2026-10-14/lesson?activity=A12</a:t>
            </a:r>
          </a:p>
          <a:p xmlns:a="http://schemas.openxmlformats.org/drawingml/2006/main">
            <a:r>
              <a:t>공식 자료: https://docs.python.org/3/tutorial/introduction.html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현장 교육의 수업용 점검 규칙은 ‘인원이 10명 이상이면 큰 실습실을 배정한다’입니다. 이상은 경계값 10을 포함합니다. ‘10명 초과’라고 쓰면 11명부터 포함합니다. 말 한 글자의 차이가 비교 기호와 경계 결과를 바꿉니다. 코드를 먼저 외우지 말고 인원 수를 적은 수직선에서 10에 동그라미를 그리고 포함 여부를 표시합니다. 이 규칙은 강의용 공간 배정 예시이며 실제 기관의 정원 기준이 아닙니다.</a:t>
            </a:r>
          </a:p>
          <a:p xmlns:a="http://schemas.openxmlformats.org/drawingml/2006/main">
            <a:r>
              <a:t/>
            </a:r>
          </a:p>
          <a:p xmlns:a="http://schemas.openxmlformats.org/drawingml/2006/main">
            <a:r>
              <a:t>비교는 질문을 참 또는 거짓으로 답한 값입니다. 9&gt;=10은 False, 10&gt;=10은 True, 11&gt;=10은 True입니다. &gt;는 초과, &gt;=는 이상, &lt;는 미만, &lt;=는 이하를 나타냅니다. ==는 같은지 묻고 =는 값에 이름을 붙입니다. 참이라는 결과가 안전하다는 뜻은 아닙니다. 무엇을 비교했는지에 따라 ‘큰 실습실 대상이다’처럼 구체적인 의미를 붙입니다. 참/거짓과 정상/위험은 업무 규칙을 연결해야 설명할 수 있습니다.</a:t>
            </a:r>
          </a:p>
          <a:p xmlns:a="http://schemas.openxmlformats.org/drawingml/2006/main">
            <a:r>
              <a:t/>
            </a:r>
          </a:p>
          <a:p xmlns:a="http://schemas.openxmlformats.org/drawingml/2006/main">
            <a:r>
              <a:t>그다음 두 갈래 선택을 손으로 추적합니다. 인원 10은 조건이 참이므로 큰 실습실 안내를 선택하고 작은 실습실 안내는 선택하지 않습니다. 인원 9는 조건이 거짓이므로 다른 안내를 선택합니다. 값이 미확인이면 숫자와 비교하기 전에 미확인 갈래로 처리해야 합니다. None을 0으로 바꾸어 작은 방을 정하면 실제 인원 확인이 사라집니다. 최소 검수 표에는 경계 아래 9, 경계 10, 경계 위 11, 미확인 네 사례를 넣습니다. 5와 20만 확인하면 &gt;와 &gt;=를 잘못 골라도 둘 다 통과할 수 있습니다. 예상값은 코드보다 먼저 업무 문장으로 정합니다.</a:t>
            </a:r>
          </a:p>
          <a:p xmlns:a="http://schemas.openxmlformats.org/drawingml/2006/main">
            <a:r>
              <a:t/>
            </a:r>
          </a:p>
          <a:p xmlns:a="http://schemas.openxmlformats.org/drawingml/2006/main">
            <a:r>
              <a:t>화면 예의 출처: D:/KDigital_PhysicalAI/.build/copyedited-ppt/spec-2026-10-14.json#slide-62;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https://docs.python.org/3/tutorial/introduction.html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현장 교육의 수업용 점검 규칙은 ‘인원이 10명 이상이면 큰 실습실을 배정한다’입니다. 이상은 경계값 10을 포함합니다. ‘10명 초과’라고 쓰면 11명부터 포함합니다. 말 한 글자의 차이가 비교 기호와 경계 결과를 바꿉니다. 코드를 먼저 외우지 말고 인원 수를 적은 수직선에서 10에 동그라미를 그리고 포함 여부를 표시합니다. 이 규칙은 강의용 공간 배정 예시이며 실제 기관의 정원 기준이 아닙니다.</a:t>
            </a:r>
          </a:p>
          <a:p xmlns:a="http://schemas.openxmlformats.org/drawingml/2006/main">
            <a:r>
              <a:t/>
            </a:r>
          </a:p>
          <a:p xmlns:a="http://schemas.openxmlformats.org/drawingml/2006/main">
            <a:r>
              <a:t>비교는 질문을 참 또는 거짓으로 답한 값입니다. 9&gt;=10은 False, 10&gt;=10은 True, 11&gt;=10은 True입니다. &gt;는 초과, &gt;=는 이상, &lt;는 미만, &lt;=는 이하를 나타냅니다. ==는 같은지 묻고 =는 값에 이름을 붙입니다. 참이라는 결과가 안전하다는 뜻은 아닙니다. 무엇을 비교했는지에 따라 ‘큰 실습실 대상이다’처럼 구체적인 의미를 붙입니다. 참/거짓과 정상/위험은 업무 규칙을 연결해야 설명할 수 있습니다.</a:t>
            </a:r>
          </a:p>
          <a:p xmlns:a="http://schemas.openxmlformats.org/drawingml/2006/main">
            <a:r>
              <a:t/>
            </a:r>
          </a:p>
          <a:p xmlns:a="http://schemas.openxmlformats.org/drawingml/2006/main">
            <a:r>
              <a:t>그다음 두 갈래 선택을 손으로 추적합니다. 인원 10은 조건이 참이므로 큰 실습실 안내를 선택하고 작은 실습실 안내는 선택하지 않습니다. 인원 9는 조건이 거짓이므로 다른 안내를 선택합니다. 값이 미확인이면 숫자와 비교하기 전에 미확인 갈래로 처리해야 합니다. None을 0으로 바꾸어 작은 방을 정하면 실제 인원 확인이 사라집니다. 최소 검수 표에는 경계 아래 9, 경계 10, 경계 위 11, 미확인 네 사례를 넣습니다. 5와 20만 확인하면 &gt;와 &gt;=를 잘못 골라도 둘 다 통과할 수 있습니다. 예상값은 코드보다 먼저 업무 문장으로 정합니다.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https://docs.python.org/3/tutorial/introduction.html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대여 정책은 ‘잔여 수량이 5개 이하이면 보충 요청’입니다. 4, 5, 6, 미확인 네 입력의 결과와 비교 기호를 정하세요. 미확인은 보충 확정 대신 확인 요청으로 처리합니다.</a:t>
            </a:r>
          </a:p>
          <a:p xmlns:a="http://schemas.openxmlformats.org/drawingml/2006/main">
            <a:r>
              <a:t/>
            </a:r>
          </a:p>
          <a:p xmlns:a="http://schemas.openxmlformats.org/drawingml/2006/main">
            <a:r>
              <a:t>학생이 먼저 답을 적은 뒤 풀이를 보여 줍니다. 이 문제는 필수 활동을 마친 뒤 추가로 사용합니다.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https://docs.python.org/3/tutorial/introduction.html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기호는 &lt;=이며 4와 5는 보충 요청, 6은 요청 없음, 미확인은 확인 요청입니다. &lt;를 고르면 경계 5를 놓칩니다. 미확인을 0으로 채우면 수량을 실제 관찰한 것처럼 처리하는 오답입니다.</a:t>
            </a:r>
          </a:p>
          <a:p xmlns:a="http://schemas.openxmlformats.org/drawingml/2006/main">
            <a:r>
              <a:t/>
            </a:r>
          </a:p>
          <a:p xmlns:a="http://schemas.openxmlformats.org/drawingml/2006/main">
            <a:r>
              <a:t>핵심 질문과 해설:</a:t>
            </a:r>
          </a:p>
          <a:p xmlns:a="http://schemas.openxmlformats.org/drawingml/2006/main">
            <a:r>
              <a:t>이상과 초과의 차이를 어느 입력으로 보나요? 경계값 자체를 넣어 포함 여부를 확인합니다.</a:t>
            </a:r>
          </a:p>
          <a:p xmlns:a="http://schemas.openxmlformats.org/drawingml/2006/main">
            <a:r>
              <a:t>True는 늘 정상인가요? 질문의 의미에 따라 보충·배정·초과 등 다른 업무 뜻이 됩니다.</a:t>
            </a:r>
          </a:p>
          <a:p xmlns:a="http://schemas.openxmlformats.org/drawingml/2006/main">
            <a:r>
              <a:t>기대 결과를 실행 뒤 정해도 되나요? 먼저 업무 문장으로 예상해야 잘못된 결과를 그대로 정답으로 삼지 않습니다.</a:t>
            </a:r>
          </a:p>
          <a:p xmlns:a="http://schemas.openxmlformats.org/drawingml/2006/main">
            <a:r>
              <a:t/>
            </a:r>
          </a:p>
          <a:p xmlns:a="http://schemas.openxmlformats.org/drawingml/2006/main">
            <a:r>
              <a:t>화면 예의 출처: D:/KDigital_PhysicalAI/.build/copyedited-ppt/spec-2026-10-14.json#slide-63;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https://docs.python.org/3/tutorial/introduction.html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A12 상세 원문]</a:t>
            </a:r>
          </a:p>
          <a:p xmlns:a="http://schemas.openxmlformats.org/drawingml/2006/main">
            <a:r>
              <a:t>**개념.** elif는 앞 조건이 거짓일 때 다음 조건을 확인합니다. 값이 없다는 상태 None을 먼저 확인하면 숫자가 없는 값을 기준과 비교하는 일을 피할 수 있습니다.</a:t>
            </a:r>
          </a:p>
          <a:p xmlns:a="http://schemas.openxmlformats.org/drawingml/2006/main">
            <a:r>
              <a:t/>
            </a:r>
          </a:p>
          <a:p xmlns:a="http://schemas.openxmlformats.org/drawingml/2006/main">
            <a:r>
              <a:t>**왜 필요한가.** 10/8의 미측정을 숫자 0으로 바꾸지 않고 프로그램 안에서도 유지해야 합니다. 미측정·기준 초과·그 밖의 측정을 서로 다른 상태로 구분합니다.</a:t>
            </a:r>
          </a:p>
          <a:p xmlns:a="http://schemas.openxmlformats.org/drawingml/2006/main">
            <a:r>
              <a:t/>
            </a:r>
          </a:p>
          <a:p xmlns:a="http://schemas.openxmlformats.org/drawingml/2006/main">
            <a:r>
              <a:t>**함께 보는 예.** None이면 미측정, 숫자 25.0이면 확인, 24.0이면 정상입니다. 기준은 ‘24.0 초과’이므로 같은 값은 정상 쪽입니다. 숫자 비교는 값이 있는 경우에만 진행됩니다.</a:t>
            </a:r>
          </a:p>
          <a:p xmlns:a="http://schemas.openxmlformats.org/drawingml/2006/main">
            <a:r>
              <a:t/>
            </a:r>
          </a:p>
          <a:p xmlns:a="http://schemas.openxmlformats.org/drawingml/2006/main">
            <a:r>
              <a:t>**헷갈리는 경우.** if not temperature_c처럼 쓰면 0.0도 거짓으로 취급될 수 있어 미측정과 섞일 수 있습니다. 오늘은 값 없음의 정확한 비교인 is None을 사용합니다.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None</a:t>
            </a:r>
          </a:p>
          <a:p xmlns:a="http://schemas.openxmlformats.org/drawingml/2006/main">
            <a:r>
              <a:t>if temperature_c is None:</a:t>
            </a:r>
          </a:p>
          <a:p xmlns:a="http://schemas.openxmlformats.org/drawingml/2006/main">
            <a:r>
              <a:t>    print("미측정")</a:t>
            </a:r>
          </a:p>
          <a:p xmlns:a="http://schemas.openxmlformats.org/drawingml/2006/main">
            <a:r>
              <a:t>elif temperature_c &gt; 24.0:</a:t>
            </a:r>
          </a:p>
          <a:p xmlns:a="http://schemas.openxmlformats.org/drawingml/2006/main">
            <a:r>
              <a:t>    print("확인")</a:t>
            </a:r>
          </a:p>
          <a:p xmlns:a="http://schemas.openxmlformats.org/drawingml/2006/main">
            <a:r>
              <a:t>else:</a:t>
            </a:r>
          </a:p>
          <a:p xmlns:a="http://schemas.openxmlformats.org/drawingml/2006/main">
            <a:r>
              <a:t>    print("정상")</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None` | 측정값이 없다는 상태를 정합니다. |</a:t>
            </a:r>
          </a:p>
          <a:p xmlns:a="http://schemas.openxmlformats.org/drawingml/2006/main">
            <a:r>
              <a:t>| 2 | `if temperature_c is None:` | 값 없음인지 먼저 확인합니다. |</a:t>
            </a:r>
          </a:p>
          <a:p xmlns:a="http://schemas.openxmlformats.org/drawingml/2006/main">
            <a:r>
              <a:t>| 3 | `    print("미측정")` | 값이 없으면 미측정이라고 출력합니다. |</a:t>
            </a:r>
          </a:p>
          <a:p xmlns:a="http://schemas.openxmlformats.org/drawingml/2006/main">
            <a:r>
              <a:t>| 4 | `elif temperature_c &gt; 24.0:` | 값이 있을 때 기준 초과인지 확인합니다. |</a:t>
            </a:r>
          </a:p>
          <a:p xmlns:a="http://schemas.openxmlformats.org/drawingml/2006/main">
            <a:r>
              <a:t>| 5 | `    print("확인")` | 초과하면 확인을 출력합니다. |</a:t>
            </a:r>
          </a:p>
          <a:p xmlns:a="http://schemas.openxmlformats.org/drawingml/2006/main">
            <a:r>
              <a:t>| 6 | `else:` | 나머지 측정값을 처리합니다. |</a:t>
            </a:r>
          </a:p>
          <a:p xmlns:a="http://schemas.openxmlformats.org/drawingml/2006/main">
            <a:r>
              <a:t>| 7 | `    print("정상")` | 나머지는 정상으로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code/A12_example.py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work/A12_example.py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미측정</a:t>
            </a:r>
          </a:p>
          <a:p xmlns:a="http://schemas.openxmlformats.org/drawingml/2006/main">
            <a:r>
              <a:t>```</a:t>
            </a:r>
          </a:p>
          <a:p xmlns:a="http://schemas.openxmlformats.org/drawingml/2006/main">
            <a:r>
              <a:t/>
            </a:r>
          </a:p>
          <a:p xmlns:a="http://schemas.openxmlformats.org/drawingml/2006/main">
            <a:r>
              <a:t>작은 수정: `temperature_c = None`를 `temperature_c = 0.0`로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정상</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None·0.0·24.0·24.1의 예상 갈래를 표에 씁니다.</a:t>
            </a:r>
          </a:p>
          <a:p xmlns:a="http://schemas.openxmlformats.org/drawingml/2006/main">
            <a:r>
              <a:t>2. 원본에서 미측정 확인이 숫자 비교보다 앞선 이유를 설명합니다.</a:t>
            </a:r>
          </a:p>
          <a:p xmlns:a="http://schemas.openxmlformats.org/drawingml/2006/main">
            <a:r>
              <a:t>3. work 코드에 하나씩 대입해 출력 또는 강사 실행을 대조합니다.</a:t>
            </a:r>
          </a:p>
          <a:p xmlns:a="http://schemas.openxmlformats.org/drawingml/2006/main">
            <a:r>
              <a:t>4. 0.0과 None을 같은 답으로 쓰지 않았는지 확인합니다.</a:t>
            </a:r>
          </a:p>
          <a:p xmlns:a="http://schemas.openxmlformats.org/drawingml/2006/main">
            <a:r>
              <a:t/>
            </a:r>
          </a:p>
          <a:p xmlns:a="http://schemas.openxmlformats.org/drawingml/2006/main">
            <a:r>
              <a:t>예상 결과: 미측정/정상/정상/확인의 순서입니다.</a:t>
            </a:r>
          </a:p>
          <a:p xmlns:a="http://schemas.openxmlformats.org/drawingml/2006/main">
            <a:r>
              <a:t/>
            </a:r>
          </a:p>
          <a:p xmlns:a="http://schemas.openxmlformats.org/drawingml/2006/main">
            <a:r>
              <a:t>확인 질문: None에 직접 &gt; 24.0을 적용하면 어떻게 될까요?</a:t>
            </a:r>
          </a:p>
          <a:p xmlns:a="http://schemas.openxmlformats.org/drawingml/2006/main">
            <a:r>
              <a:t/>
            </a:r>
          </a:p>
          <a:p xmlns:a="http://schemas.openxmlformats.org/drawingml/2006/main">
            <a:r>
              <a:t>막혔을 때: None을 "None"이라는 문자열로 바꾸지 않습니다. 따옴표가 붙으면 다른 값입니다.</a:t>
            </a:r>
          </a:p>
          <a:p xmlns:a="http://schemas.openxmlformats.org/drawingml/2006/main">
            <a:r>
              <a:t/>
            </a:r>
          </a:p>
          <a:p xmlns:a="http://schemas.openxmlformats.org/drawingml/2006/main">
            <a:r>
              <a:t>[활동 자료와 작성칸](practice-guide.md#a12--미측정과-경계값의-세-갈래)에서 A12를 엽니다.</a:t>
            </a:r>
          </a:p>
          <a:p xmlns:a="http://schemas.openxmlformats.org/drawingml/2006/main">
            <a:r>
              <a:t/>
            </a:r>
          </a:p>
          <a:p xmlns:a="http://schemas.openxmlformats.org/drawingml/2006/main">
            <a:r>
              <a:t># 5구간 · 여러 기록을 반복하기</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https://zeusk302-png.github.io/kdigital-physical-ai/#/sessions/2026-10-14/lesson?activity=A12</a:t>
            </a:r>
          </a:p>
          <a:p xmlns:a="http://schemas.openxmlformats.org/drawingml/2006/main">
            <a:r>
              <a:t>공식 자료: https://docs.python.org/3/tutorial/introduction.html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이상은 경계를 포함하고 초과는 제외합니다.</a:t>
            </a:r>
          </a:p>
          <a:p xmlns:a="http://schemas.openxmlformats.org/drawingml/2006/main">
            <a:r>
              <a:t>=는 대입, ==는 같은지 비교입니다.</a:t>
            </a:r>
          </a:p>
          <a:p xmlns:a="http://schemas.openxmlformats.org/drawingml/2006/main">
            <a:r>
              <a:t>경계 아래·경계·경계 위를 확인합니다.</a:t>
            </a:r>
          </a:p>
          <a:p xmlns:a="http://schemas.openxmlformats.org/drawingml/2006/main">
            <a:r>
              <a:t/>
            </a:r>
          </a:p>
          <a:p xmlns:a="http://schemas.openxmlformats.org/drawingml/2006/main">
            <a:r>
              <a:t>관련 교시의 상세 원문:</a:t>
            </a:r>
          </a:p>
          <a:p xmlns:a="http://schemas.openxmlformats.org/drawingml/2006/main">
            <a:r>
              <a:t>### 사례로 이해하기 · 이상과 초과를 업무 문장으로 읽기</a:t>
            </a:r>
          </a:p>
          <a:p xmlns:a="http://schemas.openxmlformats.org/drawingml/2006/main">
            <a:r>
              <a:t/>
            </a:r>
          </a:p>
          <a:p xmlns:a="http://schemas.openxmlformats.org/drawingml/2006/main">
            <a:r>
              <a:t/>
            </a:r>
          </a:p>
          <a:p xmlns:a="http://schemas.openxmlformats.org/drawingml/2006/main">
            <a:r>
              <a:t/>
            </a:r>
          </a:p>
          <a:p xmlns:a="http://schemas.openxmlformats.org/drawingml/2006/main">
            <a:r>
              <a:t>현장 교육의 수업용 점검 규칙은 ‘인원이 10명 이상이면 큰 실습실을 배정한다’입니다. 이상은 경계값 10을 포함합니다. ‘10명 초과’라고 쓰면 11명부터 포함합니다. 말 한 글자의 차이가 비교 기호와 경계 결과를 바꿉니다. 코드를 먼저 외우지 말고 인원 수를 적은 수직선에서 10에 동그라미를 그리고 포함 여부를 표시합니다. 이 규칙은 강의용 공간 배정 예시이며 실제 기관의 정원 기준이 아닙니다.</a:t>
            </a:r>
          </a:p>
          <a:p xmlns:a="http://schemas.openxmlformats.org/drawingml/2006/main">
            <a:r>
              <a:t/>
            </a:r>
          </a:p>
          <a:p xmlns:a="http://schemas.openxmlformats.org/drawingml/2006/main">
            <a:r>
              <a:t>비교는 질문을 참 또는 거짓으로 답한 값입니다. 9&gt;=10은 False, 10&gt;=10은 True, 11&gt;=10은 True입니다. &gt;는 초과, &gt;=는 이상, &lt;는 미만, &lt;=는 이하를 나타냅니다. ==는 같은지 묻고 =는 값에 이름을 붙입니다. 참이라는 결과가 안전하다는 뜻은 아닙니다. 무엇을 비교했는지에 따라 ‘큰 실습실 대상이다’처럼 구체적인 의미를 붙입니다. 참/거짓과 정상/위험은 업무 규칙을 연결해야 설명할 수 있습니다.</a:t>
            </a:r>
          </a:p>
          <a:p xmlns:a="http://schemas.openxmlformats.org/drawingml/2006/main">
            <a:r>
              <a:t/>
            </a:r>
          </a:p>
          <a:p xmlns:a="http://schemas.openxmlformats.org/drawingml/2006/main">
            <a:r>
              <a:t>그다음 두 갈래 선택을 손으로 추적합니다. 인원 10은 조건이 참이므로 큰 실습실 안내를 선택하고 작은 실습실 안내는 선택하지 않습니다. 인원 9는 조건이 거짓이므로 다른 안내를 선택합니다. 값이 미확인이면 숫자와 비교하기 전에 미확인 갈래로 처리해야 합니다. None을 0으로 바꾸어 작은 방을 정하면 실제 인원 확인이 사라집니다. 최소 검수 표에는 경계 아래 9, 경계 10, 경계 위 11, 미확인 네 사례를 넣습니다. 5와 20만 확인하면 &gt;와 &gt;=를 잘못 골라도 둘 다 통과할 수 있습니다. 예상값은 코드보다 먼저 업무 문장으로 정합니다.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대여 정책은 ‘잔여 수량이 5개 이하이면 보충 요청’입니다. 4, 5, 6, 미확인 네 입력의 결과와 비교 기호를 정하세요. 미확인은 보충 확정 대신 확인 요청으로 처리합니다.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기호는 &lt;=이며 4와 5는 보충 요청, 6은 요청 없음, 미확인은 확인 요청입니다. &lt;를 고르면 경계 5를 놓칩니다. 미확인을 0으로 채우면 수량을 실제 관찰한 것처럼 처리하는 오답입니다.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**이상과 초과의 차이를 어느 입력으로 보나요?** 경계값 자체를 넣어 포함 여부를 확인합니다.</a:t>
            </a:r>
          </a:p>
          <a:p xmlns:a="http://schemas.openxmlformats.org/drawingml/2006/main">
            <a:r>
              <a:t/>
            </a:r>
          </a:p>
          <a:p xmlns:a="http://schemas.openxmlformats.org/drawingml/2006/main">
            <a:r>
              <a:t>2. **True는 늘 정상인가요?** 질문의 의미에 따라 보충·배정·초과 등 다른 업무 뜻이 됩니다.</a:t>
            </a:r>
          </a:p>
          <a:p xmlns:a="http://schemas.openxmlformats.org/drawingml/2006/main">
            <a:r>
              <a:t/>
            </a:r>
          </a:p>
          <a:p xmlns:a="http://schemas.openxmlformats.org/drawingml/2006/main">
            <a:r>
              <a:t>3. **기대 결과를 실행 뒤 정해도 되나요?** 먼저 업무 문장으로 예상해야 잘못된 결과를 그대로 정답으로 삼지 않습니다.</a:t>
            </a:r>
          </a:p>
          <a:p xmlns:a="http://schemas.openxmlformats.org/drawingml/2006/main">
            <a:r>
              <a:t/>
            </a:r>
          </a:p>
          <a:p xmlns:a="http://schemas.openxmlformats.org/drawingml/2006/main">
            <a:r>
              <a:t/>
            </a:r>
          </a:p>
          <a:p xmlns:a="http://schemas.openxmlformats.org/drawingml/2006/main">
            <a:r>
              <a:t>**개념.** 비교 연산은 두 값의 관계를 물어 True 또는 False를 만듭니다. &gt;는 초과, &gt;=는 이상, ==는 같은지 확인합니다. =는 대입이므로 역할이 다릅니다.</a:t>
            </a:r>
          </a:p>
          <a:p xmlns:a="http://schemas.openxmlformats.org/drawingml/2006/main">
            <a:r>
              <a:t/>
            </a:r>
          </a:p>
          <a:p xmlns:a="http://schemas.openxmlformats.org/drawingml/2006/main">
            <a:r>
              <a:t>**왜 필요한가.** 정책 문구를 코드로 옮길 때 ‘이상’과 ‘초과’를 혼동하면 경계값에서 다른 결과가 나옵니다. 기준과 정확히 같은 입력을 확인해야 차이가 보입니다.</a:t>
            </a:r>
          </a:p>
          <a:p xmlns:a="http://schemas.openxmlformats.org/drawingml/2006/main">
            <a:r>
              <a:t/>
            </a:r>
          </a:p>
          <a:p xmlns:a="http://schemas.openxmlformats.org/drawingml/2006/main">
            <a:r>
              <a:t>**함께 보는 예.** 온도 24.0과 기준 24.0에서 &gt;는 False, &gt;=는 True입니다. 참·거짓은 비교 질문의 답이며 온도 자체가 참이나 거짓이라는 의미가 아닙니다.</a:t>
            </a:r>
          </a:p>
          <a:p xmlns:a="http://schemas.openxmlformats.org/drawingml/2006/main">
            <a:r>
              <a:t/>
            </a:r>
          </a:p>
          <a:p xmlns:a="http://schemas.openxmlformats.org/drawingml/2006/main">
            <a:r>
              <a:t>**헷갈리는 경우.** ‘확인 필요’라는 출력은 이 연습의 입력 점검 규칙입니다. 실제 안전 판단이나 센서 성능을 보증하는 말로 사용하지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24.0</a:t>
            </a:r>
          </a:p>
          <a:p xmlns:a="http://schemas.openxmlformats.org/drawingml/2006/main">
            <a:r>
              <a:t>limit = 24.0</a:t>
            </a:r>
          </a:p>
          <a:p xmlns:a="http://schemas.openxmlformats.org/drawingml/2006/main">
            <a:r>
              <a:t>print(temperature_c &gt; limit)</a:t>
            </a:r>
          </a:p>
          <a:p xmlns:a="http://schemas.openxmlformats.org/drawingml/2006/main">
            <a:r>
              <a:t>print(temperature_c &gt;= limit)</a:t>
            </a:r>
          </a:p>
          <a:p xmlns:a="http://schemas.openxmlformats.org/drawingml/2006/main">
            <a:r>
              <a:t>print(temperature_c == limit)</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24.0` | 비교할 측정값을 정합니다. |</a:t>
            </a:r>
          </a:p>
          <a:p xmlns:a="http://schemas.openxmlformats.org/drawingml/2006/main">
            <a:r>
              <a:t>| 2 | `limit = 24.0` | 수업용 기준을 정합니다. |</a:t>
            </a:r>
          </a:p>
          <a:p xmlns:a="http://schemas.openxmlformats.org/drawingml/2006/main">
            <a:r>
              <a:t>| 3 | `print(temperature_c &gt; limit)` | 기준을 초과했는지 묻습니다. |</a:t>
            </a:r>
          </a:p>
          <a:p xmlns:a="http://schemas.openxmlformats.org/drawingml/2006/main">
            <a:r>
              <a:t>| 4 | `print(temperature_c &gt;= limit)` | 기준 이상인지 묻습니다. |</a:t>
            </a:r>
          </a:p>
          <a:p xmlns:a="http://schemas.openxmlformats.org/drawingml/2006/main">
            <a:r>
              <a:t>| 5 | `print(temperature_c == limit)` | 기준과 같은지 묻습니다.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code/A10_example.py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work/A10_example.py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False</a:t>
            </a:r>
          </a:p>
          <a:p xmlns:a="http://schemas.openxmlformats.org/drawingml/2006/main">
            <a:r>
              <a:t>True</a:t>
            </a:r>
          </a:p>
          <a:p xmlns:a="http://schemas.openxmlformats.org/drawingml/2006/main">
            <a:r>
              <a:t>True</a:t>
            </a:r>
          </a:p>
          <a:p xmlns:a="http://schemas.openxmlformats.org/drawingml/2006/main">
            <a:r>
              <a:t>```</a:t>
            </a:r>
          </a:p>
          <a:p xmlns:a="http://schemas.openxmlformats.org/drawingml/2006/main">
            <a:r>
              <a:t/>
            </a:r>
          </a:p>
          <a:p xmlns:a="http://schemas.openxmlformats.org/drawingml/2006/main">
            <a:r>
              <a:t>작은 수정: `temperature_c = 24.0`를 `temperature_c = 23.9`로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False</a:t>
            </a:r>
          </a:p>
          <a:p xmlns:a="http://schemas.openxmlformats.org/drawingml/2006/main">
            <a:r>
              <a:t>False</a:t>
            </a:r>
          </a:p>
          <a:p xmlns:a="http://schemas.openxmlformats.org/drawingml/2006/main">
            <a:r>
              <a:t>False</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초과·이상·같음의 문장을 기호와 연결합니다.</a:t>
            </a:r>
          </a:p>
          <a:p xmlns:a="http://schemas.openxmlformats.org/drawingml/2006/main">
            <a:r>
              <a:t>2. 기준 아래·같음·위 세 입력에서 True/False를 예상합니다.</a:t>
            </a:r>
          </a:p>
          <a:p xmlns:a="http://schemas.openxmlformats.org/drawingml/2006/main">
            <a:r>
              <a:t>3. 한 번에 온도 한 곳만 바꿔 비교 출력 세 줄을 확인합니다.</a:t>
            </a:r>
          </a:p>
          <a:p xmlns:a="http://schemas.openxmlformats.org/drawingml/2006/main">
            <a:r>
              <a:t>4. 업무 규칙 ‘24.0 이상’에 맞는 기호를 고르고 이유를 씁니다.</a:t>
            </a:r>
          </a:p>
          <a:p xmlns:a="http://schemas.openxmlformats.org/drawingml/2006/main">
            <a:r>
              <a:t/>
            </a:r>
          </a:p>
          <a:p xmlns:a="http://schemas.openxmlformats.org/drawingml/2006/main">
            <a:r>
              <a:t>예상 결과: 같은 값에서 &gt;와 &gt;=의 차이를 설명합니다.</a:t>
            </a:r>
          </a:p>
          <a:p xmlns:a="http://schemas.openxmlformats.org/drawingml/2006/main">
            <a:r>
              <a:t/>
            </a:r>
          </a:p>
          <a:p xmlns:a="http://schemas.openxmlformats.org/drawingml/2006/main">
            <a:r>
              <a:t>확인 질문: 변수에 값을 넣는 =와 비교하는 ==를 같은 기호처럼 쓰면 될까요?</a:t>
            </a:r>
          </a:p>
          <a:p xmlns:a="http://schemas.openxmlformats.org/drawingml/2006/main">
            <a:r>
              <a:t/>
            </a:r>
          </a:p>
          <a:p xmlns:a="http://schemas.openxmlformats.org/drawingml/2006/main">
            <a:r>
              <a:t>막혔을 때: True/False를 외우기보다 ‘왼쪽 값이 오른쪽 기준보다 큰가?’라는 질문을 실제 숫자로 다시 읽습니다.</a:t>
            </a:r>
          </a:p>
          <a:p xmlns:a="http://schemas.openxmlformats.org/drawingml/2006/main">
            <a:r>
              <a:t/>
            </a:r>
          </a:p>
          <a:p xmlns:a="http://schemas.openxmlformats.org/drawingml/2006/main">
            <a:r>
              <a:t>[활동 자료와 작성칸](practice-guide.md#a10--비교-결과는-참-또는-거짓)에서 A10를 엽니다.</a:t>
            </a:r>
          </a:p>
          <a:p xmlns:a="http://schemas.openxmlformats.org/drawingml/2006/main">
            <a:r>
              <a:t/>
            </a:r>
          </a:p>
          <a:p xmlns:a="http://schemas.openxmlformats.org/drawingml/2006/main">
            <a:r>
              <a:t>화면 예의 출처: D:/KDigital_PhysicalAI/.build/copyedited-ppt/spec-2026-10-14.json#slide-54;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https://docs.python.org/3/tutorial/introduction.html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강사가 먼저 예를 보여 준 뒤 학생과 함께 확인합니다. 학생이 직접 해 본 결과를 예상과 비교하고, 달라진 이유를 설명하게 합니다.</a:t>
            </a:r>
          </a:p>
          <a:p xmlns:a="http://schemas.openxmlformats.org/drawingml/2006/main">
            <a:r>
              <a:t/>
            </a:r>
          </a:p>
          <a:p xmlns:a="http://schemas.openxmlformats.org/drawingml/2006/main">
            <a:r>
              <a:t>[활동 A13 상세 원문]</a:t>
            </a:r>
          </a:p>
          <a:p xmlns:a="http://schemas.openxmlformats.org/drawingml/2006/main">
            <a:r>
              <a:t>### 사례로 이해하기 · 목록의 위치와 반복 누적을 함께 추적하기</a:t>
            </a:r>
          </a:p>
          <a:p xmlns:a="http://schemas.openxmlformats.org/drawingml/2006/main">
            <a:r>
              <a:t/>
            </a:r>
          </a:p>
          <a:p xmlns:a="http://schemas.openxmlformats.org/drawingml/2006/main">
            <a:r>
              <a:t/>
            </a:r>
          </a:p>
          <a:p xmlns:a="http://schemas.openxmlformats.org/drawingml/2006/main">
            <a:r>
              <a:t/>
            </a:r>
          </a:p>
          <a:p xmlns:a="http://schemas.openxmlformats.org/drawingml/2006/main">
            <a:r>
              <a:t>세 배송 상자의 무게가 순서대로 2, 5, 1kg입니다. 목록은 여러 값을 정해진 순서로 묶는 방법입니다. Python의 리스트에서 첫 위치 번호는 0이고 두 번째는 1, 세 번째는 2입니다. 위치 번호는 상자 이름이 아니라 그 목록 안의 순서이므로 정렬하거나 삽입하면 달라질 수 있습니다. 길이 3은 항목 수이며 마지막 위치 번호는 2입니다. 3번째 위치라고 생각해 번호 3으로 읽으면 없는 칸을 찾는 오류가 생깁니다.</a:t>
            </a:r>
          </a:p>
          <a:p xmlns:a="http://schemas.openxmlformats.org/drawingml/2006/main">
            <a:r>
              <a:t/>
            </a:r>
          </a:p>
          <a:p xmlns:a="http://schemas.openxmlformats.org/drawingml/2006/main">
            <a:r>
              <a:t>각 상자의 무게를 합하려면 반복문으로 한 항목씩 읽고 합계의 현재 값을 갱신합니다. 합계는 반복 전에 0으로 시작합니다. 첫 바퀴는 현재 합계 0에 2를 더해 2, 두 번째는 2에 5를 더해 7, 세 번째는 7에 1을 더해 8입니다. 손 추적표에는 바퀴·현재 항목·변경 전 합계·변경 후 합계를 씁니다. 반복 끝의 총합은 8kg입니다. 반복 안에서 매번 합계를 0으로 다시 만들면 2→5→1처럼 마지막 상자만 남을 수 있습니다.</a:t>
            </a:r>
          </a:p>
          <a:p xmlns:a="http://schemas.openxmlformats.org/drawingml/2006/main">
            <a:r>
              <a:t/>
            </a:r>
          </a:p>
          <a:p xmlns:a="http://schemas.openxmlformats.org/drawingml/2006/main">
            <a:r>
              <a:t>또 다른 질문은 ‘4kg 초과인 상자가 몇 개인가’입니다. 첫 2는 조건 거짓이라 건수 0, 다음 5는 참이라 건수 1, 마지막 1은 거짓이라 건수 1입니다. 총무게 8과 초과 상자 수 1은 서로 다른 결과입니다. 누적하는 대상이 무게인지 참인 항목의 개수인지 먼저 정합니다. 반복 본문을 들여쓰는 것은 같은 일을 각 항목에 적용한다는 표시입니다. 완료 안내가 반복 안에 있으면 상자마다 나오고 밖에 있으면 끝에 한 번 나옵니다. 목록이 비어 있으면 바퀴가 없으므로 합계의 초기값과 완료 안내의 위치를 그대로 추적합니다.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주문별 수량 목록은 3, 0, 7, 2입니다. 총수량과 2개 초과 주문 수를 각각 손 추적표로 구하세요. 길이와 마지막 위치 번호, 빈 목록일 때 두 결과도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총수량은 12개이고 초과 주문은 3과 7 두 건입니다. 길이 4, 마지막 번호 3입니다. 빈 목록은 초기 합계 0·건수 0을 유지합니다. 0을 오류라고 임의 삭제하거나 수량 합 12를 주문 건수로 쓰면 서로 다른 질문을 혼동한 것입니다.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**첫 위치가 왜 0인가요?** Python 리스트가 정한 위치 번호 약속이므로 실제 목록을 그 규칙으로 읽습니다.</a:t>
            </a:r>
          </a:p>
          <a:p xmlns:a="http://schemas.openxmlformats.org/drawingml/2006/main">
            <a:r>
              <a:t/>
            </a:r>
          </a:p>
          <a:p xmlns:a="http://schemas.openxmlformats.org/drawingml/2006/main">
            <a:r>
              <a:t>2. **합계 초기화는 어디에 놓나요?** 이전 바퀴 결과를 유지하도록 반복 전에 한 번 놓습니다.</a:t>
            </a:r>
          </a:p>
          <a:p xmlns:a="http://schemas.openxmlformats.org/drawingml/2006/main">
            <a:r>
              <a:t/>
            </a:r>
          </a:p>
          <a:p xmlns:a="http://schemas.openxmlformats.org/drawingml/2006/main">
            <a:r>
              <a:t>3. **길이 4이면 번호 4를 읽나요?** 마지막 번호는 3이며 번호 4는 범위 밖입니다.</a:t>
            </a:r>
          </a:p>
          <a:p xmlns:a="http://schemas.openxmlformats.org/drawingml/2006/main">
            <a:r>
              <a:t/>
            </a:r>
          </a:p>
          <a:p xmlns:a="http://schemas.openxmlformats.org/drawingml/2006/main">
            <a:r>
              <a:t/>
            </a:r>
          </a:p>
          <a:p xmlns:a="http://schemas.openxmlformats.org/drawingml/2006/main">
            <a:r>
              <a:t>**개념.** 리스트는 여러 값을 순서대로 묶는 Python 자료구조입니다. 대괄호로 묶고 쉼표로 항목을 나눕니다. 위치 번호는 0부터 시작하며 len은 항목 개수를 돌려줍니다.</a:t>
            </a:r>
          </a:p>
          <a:p xmlns:a="http://schemas.openxmlformats.org/drawingml/2006/main">
            <a:r>
              <a:t/>
            </a:r>
          </a:p>
          <a:p xmlns:a="http://schemas.openxmlformats.org/drawingml/2006/main">
            <a:r>
              <a:t>**왜 필요한가.** 측정값이 세 개에서 네 개로 늘어날 때 이름을 계속 만드는 대신 하나의 목록으로 다룰 수 있습니다. 10/8에 읽었던 순서 구조를 직접 작은 값 수정으로 연결합니다.</a:t>
            </a:r>
          </a:p>
          <a:p xmlns:a="http://schemas.openxmlformats.org/drawingml/2006/main">
            <a:r>
              <a:t/>
            </a:r>
          </a:p>
          <a:p xmlns:a="http://schemas.openxmlformats.org/drawingml/2006/main">
            <a:r>
              <a:t>**함께 보는 예.** temperatures[0]은 첫 값 22.5이고 len은 3입니다. 마지막 위치 번호는 2이지 3이 아닙니다. 개수와 위치 번호를 서로 다른 질문으로 적습니다.</a:t>
            </a:r>
          </a:p>
          <a:p xmlns:a="http://schemas.openxmlformats.org/drawingml/2006/main">
            <a:r>
              <a:t/>
            </a:r>
          </a:p>
          <a:p xmlns:a="http://schemas.openxmlformats.org/drawingml/2006/main">
            <a:r>
              <a:t>**헷갈리는 경우.** [22.5, 24.0]은 두 값의 목록이고 "22.5, 24.0"은 쉼표가 들어 있는 문자열입니다. 겉에 어떤 괄호나 따옴표가 있는지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temperatures = [22.5, 24.0, 23.5]</a:t>
            </a:r>
          </a:p>
          <a:p xmlns:a="http://schemas.openxmlformats.org/drawingml/2006/main">
            <a:r>
              <a:t>print(temperatures[0])</a:t>
            </a:r>
          </a:p>
          <a:p xmlns:a="http://schemas.openxmlformats.org/drawingml/2006/main">
            <a:r>
              <a:t>print(len(temperatures))</a:t>
            </a:r>
          </a:p>
          <a:p xmlns:a="http://schemas.openxmlformats.org/drawingml/2006/main">
            <a:r>
              <a:t>temperatures.append(25.0)</a:t>
            </a:r>
          </a:p>
          <a:p xmlns:a="http://schemas.openxmlformats.org/drawingml/2006/main">
            <a:r>
              <a:t>print(len(temperatures))</a:t>
            </a:r>
          </a:p>
          <a:p xmlns:a="http://schemas.openxmlformats.org/drawingml/2006/main">
            <a:r>
              <a:t>print(temperatures[3])</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`temperatures = [22.5, 24.0, 23.5]` | 온도 세 개를 순서대로 묶습니다. |</a:t>
            </a:r>
          </a:p>
          <a:p xmlns:a="http://schemas.openxmlformats.org/drawingml/2006/main">
            <a:r>
              <a:t>| 2 | `print(temperatures[0])` | 첫 값을 읽습니다. |</a:t>
            </a:r>
          </a:p>
          <a:p xmlns:a="http://schemas.openxmlformats.org/drawingml/2006/main">
            <a:r>
              <a:t>| 3 | `print(len(temperatures))` | 현재 개수를 출력합니다. |</a:t>
            </a:r>
          </a:p>
          <a:p xmlns:a="http://schemas.openxmlformats.org/drawingml/2006/main">
            <a:r>
              <a:t>| 4 | `temperatures.append(25.0)` | 목록 끝에 새 값을 덧붙입니다. |</a:t>
            </a:r>
          </a:p>
          <a:p xmlns:a="http://schemas.openxmlformats.org/drawingml/2006/main">
            <a:r>
              <a:t>| 5 | `print(len(temperatures))` | 추가 뒤 개수를 확인합니다. |</a:t>
            </a:r>
          </a:p>
          <a:p xmlns:a="http://schemas.openxmlformats.org/drawingml/2006/main">
            <a:r>
              <a:t>| 6 | `print(temperatures[3])` | 네 번째 값을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3</a:t>
            </a:r>
          </a:p>
          <a:p xmlns:a="http://schemas.openxmlformats.org/drawingml/2006/main">
            <a:r>
              <a:t>4</a:t>
            </a:r>
          </a:p>
          <a:p xmlns:a="http://schemas.openxmlformats.org/drawingml/2006/main">
            <a:r>
              <a:t>25.0</a:t>
            </a:r>
          </a:p>
          <a:p xmlns:a="http://schemas.openxmlformats.org/drawingml/2006/main">
            <a:r>
              <a:t>```</a:t>
            </a:r>
          </a:p>
          <a:p xmlns:a="http://schemas.openxmlformats.org/drawingml/2006/main">
            <a:r>
              <a:t/>
            </a:r>
          </a:p>
          <a:p xmlns:a="http://schemas.openxmlformats.org/drawingml/2006/main">
            <a:r>
              <a:t>작은 수정: `append(25.0)`를 `append(26.0)`로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3</a:t>
            </a:r>
          </a:p>
          <a:p xmlns:a="http://schemas.openxmlformats.org/drawingml/2006/main">
            <a:r>
              <a:t>4</a:t>
            </a:r>
          </a:p>
          <a:p xmlns:a="http://schemas.openxmlformats.org/drawingml/2006/main">
            <a:r>
              <a:t>26.0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추가 전과 후의 목록을 종이에 그립니다.</a:t>
            </a:r>
          </a:p>
          <a:p xmlns:a="http://schemas.openxmlformats.org/drawingml/2006/main">
            <a:r>
              <a:t>2. 각 위치 번호와 개수를 따로 표시합니다.</a:t>
            </a:r>
          </a:p>
          <a:p xmlns:a="http://schemas.openxmlformats.org/drawingml/2006/main">
            <a:r>
              <a:t>3. 추가할 값을 26.0으로 바꾸고 출력 변화를 예상합니다.</a:t>
            </a:r>
          </a:p>
          <a:p xmlns:a="http://schemas.openxmlformats.org/drawingml/2006/main">
            <a:r>
              <a:t>4. 아직 없는 위치를 읽는 오류 사례를 설명합니다.</a:t>
            </a:r>
          </a:p>
          <a:p xmlns:a="http://schemas.openxmlformats.org/drawingml/2006/main">
            <a:r>
              <a:t/>
            </a:r>
          </a:p>
          <a:p xmlns:a="http://schemas.openxmlformats.org/drawingml/2006/main">
            <a:r>
              <a:t>예상 결과: 추가 후 개수 4, 마지막 값 26.0. 기존 첫 값은 유지됩니다.</a:t>
            </a:r>
          </a:p>
          <a:p xmlns:a="http://schemas.openxmlformats.org/drawingml/2006/main">
            <a:r>
              <a:t/>
            </a:r>
          </a:p>
          <a:p xmlns:a="http://schemas.openxmlformats.org/drawingml/2006/main">
            <a:r>
              <a:t>확인 질문: 값 하나를 수정하는 것과 append로 추가하는 것은 개수에 어떤 차이가 있나요?</a:t>
            </a:r>
          </a:p>
          <a:p xmlns:a="http://schemas.openxmlformats.org/drawingml/2006/main">
            <a:r>
              <a:t/>
            </a:r>
          </a:p>
          <a:p xmlns:a="http://schemas.openxmlformats.org/drawingml/2006/main">
            <a:r>
              <a:t>막혔을 때: IndexError가 나면 읽는 시점의 목록 길이와 위치 번호를 확인합니다. 뒤에서 추가된다고 앞에서 이미 존재하는 것은 아닙니다.</a:t>
            </a:r>
          </a:p>
          <a:p xmlns:a="http://schemas.openxmlformats.org/drawingml/2006/main">
            <a:r>
              <a:t/>
            </a:r>
          </a:p>
          <a:p xmlns:a="http://schemas.openxmlformats.org/drawingml/2006/main">
            <a:r>
              <a:t>[활동 자료와 작성칸](practice-guide.md#a13--리스트와-위치로-여러-값-담기)에서 A13를 엽니다.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https://zeusk302-png.github.io/kdigital-physical-ai/#/sessions/2026-10-14/lesson?activity=A13</a:t>
            </a:r>
          </a:p>
          <a:p xmlns:a="http://schemas.openxmlformats.org/drawingml/2006/main">
            <a:r>
              <a:t>공식 자료: https://docs.python.org/3/tutorial/controlflow.html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code/A13_example.py</a:t>
            </a:r>
          </a:p>
          <a:p xmlns:a="http://schemas.openxmlformats.org/drawingml/2006/main">
            <a:r>
              <a:t>수정한 파일을 실행할 때는 code 대신 work 폴더를 지정합니다. 직접 실행할 수 없으면 입력값부터 코드의 처리 순서를 따라 적고 강사의 결과와 비교합니다.</a:t>
            </a:r>
          </a:p>
          <a:p xmlns:a="http://schemas.openxmlformats.org/drawingml/2006/main">
            <a:r>
              <a:t/>
            </a:r>
          </a:p>
          <a:p xmlns:a="http://schemas.openxmlformats.org/drawingml/2006/main">
            <a:r>
              <a:t>[활동 A13 상세 원문]</a:t>
            </a:r>
          </a:p>
          <a:p xmlns:a="http://schemas.openxmlformats.org/drawingml/2006/main">
            <a:r>
              <a:t>### 사례로 이해하기 · 목록의 위치와 반복 누적을 함께 추적하기</a:t>
            </a:r>
          </a:p>
          <a:p xmlns:a="http://schemas.openxmlformats.org/drawingml/2006/main">
            <a:r>
              <a:t/>
            </a:r>
          </a:p>
          <a:p xmlns:a="http://schemas.openxmlformats.org/drawingml/2006/main">
            <a:r>
              <a:t/>
            </a:r>
          </a:p>
          <a:p xmlns:a="http://schemas.openxmlformats.org/drawingml/2006/main">
            <a:r>
              <a:t/>
            </a:r>
          </a:p>
          <a:p xmlns:a="http://schemas.openxmlformats.org/drawingml/2006/main">
            <a:r>
              <a:t>세 배송 상자의 무게가 순서대로 2, 5, 1kg입니다. 목록은 여러 값을 정해진 순서로 묶는 방법입니다. Python의 리스트에서 첫 위치 번호는 0이고 두 번째는 1, 세 번째는 2입니다. 위치 번호는 상자 이름이 아니라 그 목록 안의 순서이므로 정렬하거나 삽입하면 달라질 수 있습니다. 길이 3은 항목 수이며 마지막 위치 번호는 2입니다. 3번째 위치라고 생각해 번호 3으로 읽으면 없는 칸을 찾는 오류가 생깁니다.</a:t>
            </a:r>
          </a:p>
          <a:p xmlns:a="http://schemas.openxmlformats.org/drawingml/2006/main">
            <a:r>
              <a:t/>
            </a:r>
          </a:p>
          <a:p xmlns:a="http://schemas.openxmlformats.org/drawingml/2006/main">
            <a:r>
              <a:t>각 상자의 무게를 합하려면 반복문으로 한 항목씩 읽고 합계의 현재 값을 갱신합니다. 합계는 반복 전에 0으로 시작합니다. 첫 바퀴는 현재 합계 0에 2를 더해 2, 두 번째는 2에 5를 더해 7, 세 번째는 7에 1을 더해 8입니다. 손 추적표에는 바퀴·현재 항목·변경 전 합계·변경 후 합계를 씁니다. 반복 끝의 총합은 8kg입니다. 반복 안에서 매번 합계를 0으로 다시 만들면 2→5→1처럼 마지막 상자만 남을 수 있습니다.</a:t>
            </a:r>
          </a:p>
          <a:p xmlns:a="http://schemas.openxmlformats.org/drawingml/2006/main">
            <a:r>
              <a:t/>
            </a:r>
          </a:p>
          <a:p xmlns:a="http://schemas.openxmlformats.org/drawingml/2006/main">
            <a:r>
              <a:t>또 다른 질문은 ‘4kg 초과인 상자가 몇 개인가’입니다. 첫 2는 조건 거짓이라 건수 0, 다음 5는 참이라 건수 1, 마지막 1은 거짓이라 건수 1입니다. 총무게 8과 초과 상자 수 1은 서로 다른 결과입니다. 누적하는 대상이 무게인지 참인 항목의 개수인지 먼저 정합니다. 반복 본문을 들여쓰는 것은 같은 일을 각 항목에 적용한다는 표시입니다. 완료 안내가 반복 안에 있으면 상자마다 나오고 밖에 있으면 끝에 한 번 나옵니다. 목록이 비어 있으면 바퀴가 없으므로 합계의 초기값과 완료 안내의 위치를 그대로 추적합니다.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주문별 수량 목록은 3, 0, 7, 2입니다. 총수량과 2개 초과 주문 수를 각각 손 추적표로 구하세요. 길이와 마지막 위치 번호, 빈 목록일 때 두 결과도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총수량은 12개이고 초과 주문은 3과 7 두 건입니다. 길이 4, 마지막 번호 3입니다. 빈 목록은 초기 합계 0·건수 0을 유지합니다. 0을 오류라고 임의 삭제하거나 수량 합 12를 주문 건수로 쓰면 서로 다른 질문을 혼동한 것입니다.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**첫 위치가 왜 0인가요?** Python 리스트가 정한 위치 번호 약속이므로 실제 목록을 그 규칙으로 읽습니다.</a:t>
            </a:r>
          </a:p>
          <a:p xmlns:a="http://schemas.openxmlformats.org/drawingml/2006/main">
            <a:r>
              <a:t/>
            </a:r>
          </a:p>
          <a:p xmlns:a="http://schemas.openxmlformats.org/drawingml/2006/main">
            <a:r>
              <a:t>2. **합계 초기화는 어디에 놓나요?** 이전 바퀴 결과를 유지하도록 반복 전에 한 번 놓습니다.</a:t>
            </a:r>
          </a:p>
          <a:p xmlns:a="http://schemas.openxmlformats.org/drawingml/2006/main">
            <a:r>
              <a:t/>
            </a:r>
          </a:p>
          <a:p xmlns:a="http://schemas.openxmlformats.org/drawingml/2006/main">
            <a:r>
              <a:t>3. **길이 4이면 번호 4를 읽나요?** 마지막 번호는 3이며 번호 4는 범위 밖입니다.</a:t>
            </a:r>
          </a:p>
          <a:p xmlns:a="http://schemas.openxmlformats.org/drawingml/2006/main">
            <a:r>
              <a:t/>
            </a:r>
          </a:p>
          <a:p xmlns:a="http://schemas.openxmlformats.org/drawingml/2006/main">
            <a:r>
              <a:t/>
            </a:r>
          </a:p>
          <a:p xmlns:a="http://schemas.openxmlformats.org/drawingml/2006/main">
            <a:r>
              <a:t>**개념.** 리스트는 여러 값을 순서대로 묶는 Python 자료구조입니다. 대괄호로 묶고 쉼표로 항목을 나눕니다. 위치 번호는 0부터 시작하며 len은 항목 개수를 돌려줍니다.</a:t>
            </a:r>
          </a:p>
          <a:p xmlns:a="http://schemas.openxmlformats.org/drawingml/2006/main">
            <a:r>
              <a:t/>
            </a:r>
          </a:p>
          <a:p xmlns:a="http://schemas.openxmlformats.org/drawingml/2006/main">
            <a:r>
              <a:t>**왜 필요한가.** 측정값이 세 개에서 네 개로 늘어날 때 이름을 계속 만드는 대신 하나의 목록으로 다룰 수 있습니다. 10/8에 읽었던 순서 구조를 직접 작은 값 수정으로 연결합니다.</a:t>
            </a:r>
          </a:p>
          <a:p xmlns:a="http://schemas.openxmlformats.org/drawingml/2006/main">
            <a:r>
              <a:t/>
            </a:r>
          </a:p>
          <a:p xmlns:a="http://schemas.openxmlformats.org/drawingml/2006/main">
            <a:r>
              <a:t>**함께 보는 예.** temperatures[0]은 첫 값 22.5이고 len은 3입니다. 마지막 위치 번호는 2이지 3이 아닙니다. 개수와 위치 번호를 서로 다른 질문으로 적습니다.</a:t>
            </a:r>
          </a:p>
          <a:p xmlns:a="http://schemas.openxmlformats.org/drawingml/2006/main">
            <a:r>
              <a:t/>
            </a:r>
          </a:p>
          <a:p xmlns:a="http://schemas.openxmlformats.org/drawingml/2006/main">
            <a:r>
              <a:t>**헷갈리는 경우.** [22.5, 24.0]은 두 값의 목록이고 "22.5, 24.0"은 쉼표가 들어 있는 문자열입니다. 겉에 어떤 괄호나 따옴표가 있는지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temperatures = [22.5, 24.0, 23.5]</a:t>
            </a:r>
          </a:p>
          <a:p xmlns:a="http://schemas.openxmlformats.org/drawingml/2006/main">
            <a:r>
              <a:t>print(temperatures[0])</a:t>
            </a:r>
          </a:p>
          <a:p xmlns:a="http://schemas.openxmlformats.org/drawingml/2006/main">
            <a:r>
              <a:t>print(len(temperatures))</a:t>
            </a:r>
          </a:p>
          <a:p xmlns:a="http://schemas.openxmlformats.org/drawingml/2006/main">
            <a:r>
              <a:t>temperatures.append(25.0)</a:t>
            </a:r>
          </a:p>
          <a:p xmlns:a="http://schemas.openxmlformats.org/drawingml/2006/main">
            <a:r>
              <a:t>print(len(temperatures))</a:t>
            </a:r>
          </a:p>
          <a:p xmlns:a="http://schemas.openxmlformats.org/drawingml/2006/main">
            <a:r>
              <a:t>print(temperatures[3])</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`temperatures = [22.5, 24.0, 23.5]` | 온도 세 개를 순서대로 묶습니다. |</a:t>
            </a:r>
          </a:p>
          <a:p xmlns:a="http://schemas.openxmlformats.org/drawingml/2006/main">
            <a:r>
              <a:t>| 2 | `print(temperatures[0])` | 첫 값을 읽습니다. |</a:t>
            </a:r>
          </a:p>
          <a:p xmlns:a="http://schemas.openxmlformats.org/drawingml/2006/main">
            <a:r>
              <a:t>| 3 | `print(len(temperatures))` | 현재 개수를 출력합니다. |</a:t>
            </a:r>
          </a:p>
          <a:p xmlns:a="http://schemas.openxmlformats.org/drawingml/2006/main">
            <a:r>
              <a:t>| 4 | `temperatures.append(25.0)` | 목록 끝에 새 값을 덧붙입니다. |</a:t>
            </a:r>
          </a:p>
          <a:p xmlns:a="http://schemas.openxmlformats.org/drawingml/2006/main">
            <a:r>
              <a:t>| 5 | `print(len(temperatures))` | 추가 뒤 개수를 확인합니다. |</a:t>
            </a:r>
          </a:p>
          <a:p xmlns:a="http://schemas.openxmlformats.org/drawingml/2006/main">
            <a:r>
              <a:t>| 6 | `print(temperatures[3])` | 네 번째 값을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3</a:t>
            </a:r>
          </a:p>
          <a:p xmlns:a="http://schemas.openxmlformats.org/drawingml/2006/main">
            <a:r>
              <a:t>4</a:t>
            </a:r>
          </a:p>
          <a:p xmlns:a="http://schemas.openxmlformats.org/drawingml/2006/main">
            <a:r>
              <a:t>25.0</a:t>
            </a:r>
          </a:p>
          <a:p xmlns:a="http://schemas.openxmlformats.org/drawingml/2006/main">
            <a:r>
              <a:t>```</a:t>
            </a:r>
          </a:p>
          <a:p xmlns:a="http://schemas.openxmlformats.org/drawingml/2006/main">
            <a:r>
              <a:t/>
            </a:r>
          </a:p>
          <a:p xmlns:a="http://schemas.openxmlformats.org/drawingml/2006/main">
            <a:r>
              <a:t>작은 수정: `append(25.0)`를 `append(26.0)`로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3</a:t>
            </a:r>
          </a:p>
          <a:p xmlns:a="http://schemas.openxmlformats.org/drawingml/2006/main">
            <a:r>
              <a:t>4</a:t>
            </a:r>
          </a:p>
          <a:p xmlns:a="http://schemas.openxmlformats.org/drawingml/2006/main">
            <a:r>
              <a:t>26.0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추가 전과 후의 목록을 종이에 그립니다.</a:t>
            </a:r>
          </a:p>
          <a:p xmlns:a="http://schemas.openxmlformats.org/drawingml/2006/main">
            <a:r>
              <a:t>2. 각 위치 번호와 개수를 따로 표시합니다.</a:t>
            </a:r>
          </a:p>
          <a:p xmlns:a="http://schemas.openxmlformats.org/drawingml/2006/main">
            <a:r>
              <a:t>3. 추가할 값을 26.0으로 바꾸고 출력 변화를 예상합니다.</a:t>
            </a:r>
          </a:p>
          <a:p xmlns:a="http://schemas.openxmlformats.org/drawingml/2006/main">
            <a:r>
              <a:t>4. 아직 없는 위치를 읽는 오류 사례를 설명합니다.</a:t>
            </a:r>
          </a:p>
          <a:p xmlns:a="http://schemas.openxmlformats.org/drawingml/2006/main">
            <a:r>
              <a:t/>
            </a:r>
          </a:p>
          <a:p xmlns:a="http://schemas.openxmlformats.org/drawingml/2006/main">
            <a:r>
              <a:t>예상 결과: 추가 후 개수 4, 마지막 값 26.0. 기존 첫 값은 유지됩니다.</a:t>
            </a:r>
          </a:p>
          <a:p xmlns:a="http://schemas.openxmlformats.org/drawingml/2006/main">
            <a:r>
              <a:t/>
            </a:r>
          </a:p>
          <a:p xmlns:a="http://schemas.openxmlformats.org/drawingml/2006/main">
            <a:r>
              <a:t>확인 질문: 값 하나를 수정하는 것과 append로 추가하는 것은 개수에 어떤 차이가 있나요?</a:t>
            </a:r>
          </a:p>
          <a:p xmlns:a="http://schemas.openxmlformats.org/drawingml/2006/main">
            <a:r>
              <a:t/>
            </a:r>
          </a:p>
          <a:p xmlns:a="http://schemas.openxmlformats.org/drawingml/2006/main">
            <a:r>
              <a:t>막혔을 때: IndexError가 나면 읽는 시점의 목록 길이와 위치 번호를 확인합니다. 뒤에서 추가된다고 앞에서 이미 존재하는 것은 아닙니다.</a:t>
            </a:r>
          </a:p>
          <a:p xmlns:a="http://schemas.openxmlformats.org/drawingml/2006/main">
            <a:r>
              <a:t/>
            </a:r>
          </a:p>
          <a:p xmlns:a="http://schemas.openxmlformats.org/drawingml/2006/main">
            <a:r>
              <a:t>[활동 자료와 작성칸](practice-guide.md#a13--리스트와-위치로-여러-값-담기)에서 A13를 엽니다.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https://zeusk302-png.github.io/kdigital-physical-ai/#/sessions/2026-10-14/lesson?activity=A13</a:t>
            </a:r>
          </a:p>
          <a:p xmlns:a="http://schemas.openxmlformats.org/drawingml/2006/main">
            <a:r>
              <a:t>공식 자료: https://docs.python.org/3/tutorial/controlflow.html</a:t>
            </a:r>
          </a:p>
          <a:p xmlns:a="http://schemas.openxmlformats.org/drawingml/2006/main">
            <a:r>
              <a:t/>
            </a:r>
          </a:p>
          <a:p xmlns:a="http://schemas.openxmlformats.org/drawingml/2006/main">
            <a:r>
              <a:t>코드와 개념 해설: 첫 위치는 0, 길이 3의 마지막 위치는 2입니다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A13 상세 원문]</a:t>
            </a:r>
          </a:p>
          <a:p xmlns:a="http://schemas.openxmlformats.org/drawingml/2006/main">
            <a:r>
              <a:t>### 사례로 이해하기 · 목록의 위치와 반복 누적을 함께 추적하기</a:t>
            </a:r>
          </a:p>
          <a:p xmlns:a="http://schemas.openxmlformats.org/drawingml/2006/main">
            <a:r>
              <a:t/>
            </a:r>
          </a:p>
          <a:p xmlns:a="http://schemas.openxmlformats.org/drawingml/2006/main">
            <a:r>
              <a:t/>
            </a:r>
          </a:p>
          <a:p xmlns:a="http://schemas.openxmlformats.org/drawingml/2006/main">
            <a:r>
              <a:t/>
            </a:r>
          </a:p>
          <a:p xmlns:a="http://schemas.openxmlformats.org/drawingml/2006/main">
            <a:r>
              <a:t>세 배송 상자의 무게가 순서대로 2, 5, 1kg입니다. 목록은 여러 값을 정해진 순서로 묶는 방법입니다. Python의 리스트에서 첫 위치 번호는 0이고 두 번째는 1, 세 번째는 2입니다. 위치 번호는 상자 이름이 아니라 그 목록 안의 순서이므로 정렬하거나 삽입하면 달라질 수 있습니다. 길이 3은 항목 수이며 마지막 위치 번호는 2입니다. 3번째 위치라고 생각해 번호 3으로 읽으면 없는 칸을 찾는 오류가 생깁니다.</a:t>
            </a:r>
          </a:p>
          <a:p xmlns:a="http://schemas.openxmlformats.org/drawingml/2006/main">
            <a:r>
              <a:t/>
            </a:r>
          </a:p>
          <a:p xmlns:a="http://schemas.openxmlformats.org/drawingml/2006/main">
            <a:r>
              <a:t>각 상자의 무게를 합하려면 반복문으로 한 항목씩 읽고 합계의 현재 값을 갱신합니다. 합계는 반복 전에 0으로 시작합니다. 첫 바퀴는 현재 합계 0에 2를 더해 2, 두 번째는 2에 5를 더해 7, 세 번째는 7에 1을 더해 8입니다. 손 추적표에는 바퀴·현재 항목·변경 전 합계·변경 후 합계를 씁니다. 반복 끝의 총합은 8kg입니다. 반복 안에서 매번 합계를 0으로 다시 만들면 2→5→1처럼 마지막 상자만 남을 수 있습니다.</a:t>
            </a:r>
          </a:p>
          <a:p xmlns:a="http://schemas.openxmlformats.org/drawingml/2006/main">
            <a:r>
              <a:t/>
            </a:r>
          </a:p>
          <a:p xmlns:a="http://schemas.openxmlformats.org/drawingml/2006/main">
            <a:r>
              <a:t>또 다른 질문은 ‘4kg 초과인 상자가 몇 개인가’입니다. 첫 2는 조건 거짓이라 건수 0, 다음 5는 참이라 건수 1, 마지막 1은 거짓이라 건수 1입니다. 총무게 8과 초과 상자 수 1은 서로 다른 결과입니다. 누적하는 대상이 무게인지 참인 항목의 개수인지 먼저 정합니다. 반복 본문을 들여쓰는 것은 같은 일을 각 항목에 적용한다는 표시입니다. 완료 안내가 반복 안에 있으면 상자마다 나오고 밖에 있으면 끝에 한 번 나옵니다. 목록이 비어 있으면 바퀴가 없으므로 합계의 초기값과 완료 안내의 위치를 그대로 추적합니다.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주문별 수량 목록은 3, 0, 7, 2입니다. 총수량과 2개 초과 주문 수를 각각 손 추적표로 구하세요. 길이와 마지막 위치 번호, 빈 목록일 때 두 결과도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총수량은 12개이고 초과 주문은 3과 7 두 건입니다. 길이 4, 마지막 번호 3입니다. 빈 목록은 초기 합계 0·건수 0을 유지합니다. 0을 오류라고 임의 삭제하거나 수량 합 12를 주문 건수로 쓰면 서로 다른 질문을 혼동한 것입니다.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**첫 위치가 왜 0인가요?** Python 리스트가 정한 위치 번호 약속이므로 실제 목록을 그 규칙으로 읽습니다.</a:t>
            </a:r>
          </a:p>
          <a:p xmlns:a="http://schemas.openxmlformats.org/drawingml/2006/main">
            <a:r>
              <a:t/>
            </a:r>
          </a:p>
          <a:p xmlns:a="http://schemas.openxmlformats.org/drawingml/2006/main">
            <a:r>
              <a:t>2. **합계 초기화는 어디에 놓나요?** 이전 바퀴 결과를 유지하도록 반복 전에 한 번 놓습니다.</a:t>
            </a:r>
          </a:p>
          <a:p xmlns:a="http://schemas.openxmlformats.org/drawingml/2006/main">
            <a:r>
              <a:t/>
            </a:r>
          </a:p>
          <a:p xmlns:a="http://schemas.openxmlformats.org/drawingml/2006/main">
            <a:r>
              <a:t>3. **길이 4이면 번호 4를 읽나요?** 마지막 번호는 3이며 번호 4는 범위 밖입니다.</a:t>
            </a:r>
          </a:p>
          <a:p xmlns:a="http://schemas.openxmlformats.org/drawingml/2006/main">
            <a:r>
              <a:t/>
            </a:r>
          </a:p>
          <a:p xmlns:a="http://schemas.openxmlformats.org/drawingml/2006/main">
            <a:r>
              <a:t/>
            </a:r>
          </a:p>
          <a:p xmlns:a="http://schemas.openxmlformats.org/drawingml/2006/main">
            <a:r>
              <a:t>**개념.** 리스트는 여러 값을 순서대로 묶는 Python 자료구조입니다. 대괄호로 묶고 쉼표로 항목을 나눕니다. 위치 번호는 0부터 시작하며 len은 항목 개수를 돌려줍니다.</a:t>
            </a:r>
          </a:p>
          <a:p xmlns:a="http://schemas.openxmlformats.org/drawingml/2006/main">
            <a:r>
              <a:t/>
            </a:r>
          </a:p>
          <a:p xmlns:a="http://schemas.openxmlformats.org/drawingml/2006/main">
            <a:r>
              <a:t>**왜 필요한가.** 측정값이 세 개에서 네 개로 늘어날 때 이름을 계속 만드는 대신 하나의 목록으로 다룰 수 있습니다. 10/8에 읽었던 순서 구조를 직접 작은 값 수정으로 연결합니다.</a:t>
            </a:r>
          </a:p>
          <a:p xmlns:a="http://schemas.openxmlformats.org/drawingml/2006/main">
            <a:r>
              <a:t/>
            </a:r>
          </a:p>
          <a:p xmlns:a="http://schemas.openxmlformats.org/drawingml/2006/main">
            <a:r>
              <a:t>**함께 보는 예.** temperatures[0]은 첫 값 22.5이고 len은 3입니다. 마지막 위치 번호는 2이지 3이 아닙니다. 개수와 위치 번호를 서로 다른 질문으로 적습니다.</a:t>
            </a:r>
          </a:p>
          <a:p xmlns:a="http://schemas.openxmlformats.org/drawingml/2006/main">
            <a:r>
              <a:t/>
            </a:r>
          </a:p>
          <a:p xmlns:a="http://schemas.openxmlformats.org/drawingml/2006/main">
            <a:r>
              <a:t>**헷갈리는 경우.** [22.5, 24.0]은 두 값의 목록이고 "22.5, 24.0"은 쉼표가 들어 있는 문자열입니다. 겉에 어떤 괄호나 따옴표가 있는지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temperatures = [22.5, 24.0, 23.5]</a:t>
            </a:r>
          </a:p>
          <a:p xmlns:a="http://schemas.openxmlformats.org/drawingml/2006/main">
            <a:r>
              <a:t>print(temperatures[0])</a:t>
            </a:r>
          </a:p>
          <a:p xmlns:a="http://schemas.openxmlformats.org/drawingml/2006/main">
            <a:r>
              <a:t>print(len(temperatures))</a:t>
            </a:r>
          </a:p>
          <a:p xmlns:a="http://schemas.openxmlformats.org/drawingml/2006/main">
            <a:r>
              <a:t>temperatures.append(25.0)</a:t>
            </a:r>
          </a:p>
          <a:p xmlns:a="http://schemas.openxmlformats.org/drawingml/2006/main">
            <a:r>
              <a:t>print(len(temperatures))</a:t>
            </a:r>
          </a:p>
          <a:p xmlns:a="http://schemas.openxmlformats.org/drawingml/2006/main">
            <a:r>
              <a:t>print(temperatures[3])</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`temperatures = [22.5, 24.0, 23.5]` | 온도 세 개를 순서대로 묶습니다. |</a:t>
            </a:r>
          </a:p>
          <a:p xmlns:a="http://schemas.openxmlformats.org/drawingml/2006/main">
            <a:r>
              <a:t>| 2 | `print(temperatures[0])` | 첫 값을 읽습니다. |</a:t>
            </a:r>
          </a:p>
          <a:p xmlns:a="http://schemas.openxmlformats.org/drawingml/2006/main">
            <a:r>
              <a:t>| 3 | `print(len(temperatures))` | 현재 개수를 출력합니다. |</a:t>
            </a:r>
          </a:p>
          <a:p xmlns:a="http://schemas.openxmlformats.org/drawingml/2006/main">
            <a:r>
              <a:t>| 4 | `temperatures.append(25.0)` | 목록 끝에 새 값을 덧붙입니다. |</a:t>
            </a:r>
          </a:p>
          <a:p xmlns:a="http://schemas.openxmlformats.org/drawingml/2006/main">
            <a:r>
              <a:t>| 5 | `print(len(temperatures))` | 추가 뒤 개수를 확인합니다. |</a:t>
            </a:r>
          </a:p>
          <a:p xmlns:a="http://schemas.openxmlformats.org/drawingml/2006/main">
            <a:r>
              <a:t>| 6 | `print(temperatures[3])` | 네 번째 값을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3</a:t>
            </a:r>
          </a:p>
          <a:p xmlns:a="http://schemas.openxmlformats.org/drawingml/2006/main">
            <a:r>
              <a:t>4</a:t>
            </a:r>
          </a:p>
          <a:p xmlns:a="http://schemas.openxmlformats.org/drawingml/2006/main">
            <a:r>
              <a:t>25.0</a:t>
            </a:r>
          </a:p>
          <a:p xmlns:a="http://schemas.openxmlformats.org/drawingml/2006/main">
            <a:r>
              <a:t>```</a:t>
            </a:r>
          </a:p>
          <a:p xmlns:a="http://schemas.openxmlformats.org/drawingml/2006/main">
            <a:r>
              <a:t/>
            </a:r>
          </a:p>
          <a:p xmlns:a="http://schemas.openxmlformats.org/drawingml/2006/main">
            <a:r>
              <a:t>작은 수정: `append(25.0)`를 `append(26.0)`로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3</a:t>
            </a:r>
          </a:p>
          <a:p xmlns:a="http://schemas.openxmlformats.org/drawingml/2006/main">
            <a:r>
              <a:t>4</a:t>
            </a:r>
          </a:p>
          <a:p xmlns:a="http://schemas.openxmlformats.org/drawingml/2006/main">
            <a:r>
              <a:t>26.0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추가 전과 후의 목록을 종이에 그립니다.</a:t>
            </a:r>
          </a:p>
          <a:p xmlns:a="http://schemas.openxmlformats.org/drawingml/2006/main">
            <a:r>
              <a:t>2. 각 위치 번호와 개수를 따로 표시합니다.</a:t>
            </a:r>
          </a:p>
          <a:p xmlns:a="http://schemas.openxmlformats.org/drawingml/2006/main">
            <a:r>
              <a:t>3. 추가할 값을 26.0으로 바꾸고 출력 변화를 예상합니다.</a:t>
            </a:r>
          </a:p>
          <a:p xmlns:a="http://schemas.openxmlformats.org/drawingml/2006/main">
            <a:r>
              <a:t>4. 아직 없는 위치를 읽는 오류 사례를 설명합니다.</a:t>
            </a:r>
          </a:p>
          <a:p xmlns:a="http://schemas.openxmlformats.org/drawingml/2006/main">
            <a:r>
              <a:t/>
            </a:r>
          </a:p>
          <a:p xmlns:a="http://schemas.openxmlformats.org/drawingml/2006/main">
            <a:r>
              <a:t>예상 결과: 추가 후 개수 4, 마지막 값 26.0. 기존 첫 값은 유지됩니다.</a:t>
            </a:r>
          </a:p>
          <a:p xmlns:a="http://schemas.openxmlformats.org/drawingml/2006/main">
            <a:r>
              <a:t/>
            </a:r>
          </a:p>
          <a:p xmlns:a="http://schemas.openxmlformats.org/drawingml/2006/main">
            <a:r>
              <a:t>확인 질문: 값 하나를 수정하는 것과 append로 추가하는 것은 개수에 어떤 차이가 있나요?</a:t>
            </a:r>
          </a:p>
          <a:p xmlns:a="http://schemas.openxmlformats.org/drawingml/2006/main">
            <a:r>
              <a:t/>
            </a:r>
          </a:p>
          <a:p xmlns:a="http://schemas.openxmlformats.org/drawingml/2006/main">
            <a:r>
              <a:t>막혔을 때: IndexError가 나면 읽는 시점의 목록 길이와 위치 번호를 확인합니다. 뒤에서 추가된다고 앞에서 이미 존재하는 것은 아닙니다.</a:t>
            </a:r>
          </a:p>
          <a:p xmlns:a="http://schemas.openxmlformats.org/drawingml/2006/main">
            <a:r>
              <a:t/>
            </a:r>
          </a:p>
          <a:p xmlns:a="http://schemas.openxmlformats.org/drawingml/2006/main">
            <a:r>
              <a:t>[활동 자료와 작성칸](practice-guide.md#a13--리스트와-위치로-여러-값-담기)에서 A13를 엽니다.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https://zeusk302-png.github.io/kdigital-physical-ai/#/sessions/2026-10-14/lesson?activity=A13</a:t>
            </a:r>
          </a:p>
          <a:p xmlns:a="http://schemas.openxmlformats.org/drawingml/2006/main">
            <a:r>
              <a:t>공식 자료: https://docs.python.org/3/tutorial/controlflow.html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A13 상세 원문]</a:t>
            </a:r>
          </a:p>
          <a:p xmlns:a="http://schemas.openxmlformats.org/drawingml/2006/main">
            <a:r>
              <a:t>### 사례로 이해하기 · 목록의 위치와 반복 누적을 함께 추적하기</a:t>
            </a:r>
          </a:p>
          <a:p xmlns:a="http://schemas.openxmlformats.org/drawingml/2006/main">
            <a:r>
              <a:t/>
            </a:r>
          </a:p>
          <a:p xmlns:a="http://schemas.openxmlformats.org/drawingml/2006/main">
            <a:r>
              <a:t/>
            </a:r>
          </a:p>
          <a:p xmlns:a="http://schemas.openxmlformats.org/drawingml/2006/main">
            <a:r>
              <a:t/>
            </a:r>
          </a:p>
          <a:p xmlns:a="http://schemas.openxmlformats.org/drawingml/2006/main">
            <a:r>
              <a:t>세 배송 상자의 무게가 순서대로 2, 5, 1kg입니다. 목록은 여러 값을 정해진 순서로 묶는 방법입니다. Python의 리스트에서 첫 위치 번호는 0이고 두 번째는 1, 세 번째는 2입니다. 위치 번호는 상자 이름이 아니라 그 목록 안의 순서이므로 정렬하거나 삽입하면 달라질 수 있습니다. 길이 3은 항목 수이며 마지막 위치 번호는 2입니다. 3번째 위치라고 생각해 번호 3으로 읽으면 없는 칸을 찾는 오류가 생깁니다.</a:t>
            </a:r>
          </a:p>
          <a:p xmlns:a="http://schemas.openxmlformats.org/drawingml/2006/main">
            <a:r>
              <a:t/>
            </a:r>
          </a:p>
          <a:p xmlns:a="http://schemas.openxmlformats.org/drawingml/2006/main">
            <a:r>
              <a:t>각 상자의 무게를 합하려면 반복문으로 한 항목씩 읽고 합계의 현재 값을 갱신합니다. 합계는 반복 전에 0으로 시작합니다. 첫 바퀴는 현재 합계 0에 2를 더해 2, 두 번째는 2에 5를 더해 7, 세 번째는 7에 1을 더해 8입니다. 손 추적표에는 바퀴·현재 항목·변경 전 합계·변경 후 합계를 씁니다. 반복 끝의 총합은 8kg입니다. 반복 안에서 매번 합계를 0으로 다시 만들면 2→5→1처럼 마지막 상자만 남을 수 있습니다.</a:t>
            </a:r>
          </a:p>
          <a:p xmlns:a="http://schemas.openxmlformats.org/drawingml/2006/main">
            <a:r>
              <a:t/>
            </a:r>
          </a:p>
          <a:p xmlns:a="http://schemas.openxmlformats.org/drawingml/2006/main">
            <a:r>
              <a:t>또 다른 질문은 ‘4kg 초과인 상자가 몇 개인가’입니다. 첫 2는 조건 거짓이라 건수 0, 다음 5는 참이라 건수 1, 마지막 1은 거짓이라 건수 1입니다. 총무게 8과 초과 상자 수 1은 서로 다른 결과입니다. 누적하는 대상이 무게인지 참인 항목의 개수인지 먼저 정합니다. 반복 본문을 들여쓰는 것은 같은 일을 각 항목에 적용한다는 표시입니다. 완료 안내가 반복 안에 있으면 상자마다 나오고 밖에 있으면 끝에 한 번 나옵니다. 목록이 비어 있으면 바퀴가 없으므로 합계의 초기값과 완료 안내의 위치를 그대로 추적합니다.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주문별 수량 목록은 3, 0, 7, 2입니다. 총수량과 2개 초과 주문 수를 각각 손 추적표로 구하세요. 길이와 마지막 위치 번호, 빈 목록일 때 두 결과도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총수량은 12개이고 초과 주문은 3과 7 두 건입니다. 길이 4, 마지막 번호 3입니다. 빈 목록은 초기 합계 0·건수 0을 유지합니다. 0을 오류라고 임의 삭제하거나 수량 합 12를 주문 건수로 쓰면 서로 다른 질문을 혼동한 것입니다.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**첫 위치가 왜 0인가요?** Python 리스트가 정한 위치 번호 약속이므로 실제 목록을 그 규칙으로 읽습니다.</a:t>
            </a:r>
          </a:p>
          <a:p xmlns:a="http://schemas.openxmlformats.org/drawingml/2006/main">
            <a:r>
              <a:t/>
            </a:r>
          </a:p>
          <a:p xmlns:a="http://schemas.openxmlformats.org/drawingml/2006/main">
            <a:r>
              <a:t>2. **합계 초기화는 어디에 놓나요?** 이전 바퀴 결과를 유지하도록 반복 전에 한 번 놓습니다.</a:t>
            </a:r>
          </a:p>
          <a:p xmlns:a="http://schemas.openxmlformats.org/drawingml/2006/main">
            <a:r>
              <a:t/>
            </a:r>
          </a:p>
          <a:p xmlns:a="http://schemas.openxmlformats.org/drawingml/2006/main">
            <a:r>
              <a:t>3. **길이 4이면 번호 4를 읽나요?** 마지막 번호는 3이며 번호 4는 범위 밖입니다.</a:t>
            </a:r>
          </a:p>
          <a:p xmlns:a="http://schemas.openxmlformats.org/drawingml/2006/main">
            <a:r>
              <a:t/>
            </a:r>
          </a:p>
          <a:p xmlns:a="http://schemas.openxmlformats.org/drawingml/2006/main">
            <a:r>
              <a:t/>
            </a:r>
          </a:p>
          <a:p xmlns:a="http://schemas.openxmlformats.org/drawingml/2006/main">
            <a:r>
              <a:t>**개념.** 리스트는 여러 값을 순서대로 묶는 Python 자료구조입니다. 대괄호로 묶고 쉼표로 항목을 나눕니다. 위치 번호는 0부터 시작하며 len은 항목 개수를 돌려줍니다.</a:t>
            </a:r>
          </a:p>
          <a:p xmlns:a="http://schemas.openxmlformats.org/drawingml/2006/main">
            <a:r>
              <a:t/>
            </a:r>
          </a:p>
          <a:p xmlns:a="http://schemas.openxmlformats.org/drawingml/2006/main">
            <a:r>
              <a:t>**왜 필요한가.** 측정값이 세 개에서 네 개로 늘어날 때 이름을 계속 만드는 대신 하나의 목록으로 다룰 수 있습니다. 10/8에 읽었던 순서 구조를 직접 작은 값 수정으로 연결합니다.</a:t>
            </a:r>
          </a:p>
          <a:p xmlns:a="http://schemas.openxmlformats.org/drawingml/2006/main">
            <a:r>
              <a:t/>
            </a:r>
          </a:p>
          <a:p xmlns:a="http://schemas.openxmlformats.org/drawingml/2006/main">
            <a:r>
              <a:t>**함께 보는 예.** temperatures[0]은 첫 값 22.5이고 len은 3입니다. 마지막 위치 번호는 2이지 3이 아닙니다. 개수와 위치 번호를 서로 다른 질문으로 적습니다.</a:t>
            </a:r>
          </a:p>
          <a:p xmlns:a="http://schemas.openxmlformats.org/drawingml/2006/main">
            <a:r>
              <a:t/>
            </a:r>
          </a:p>
          <a:p xmlns:a="http://schemas.openxmlformats.org/drawingml/2006/main">
            <a:r>
              <a:t>**헷갈리는 경우.** [22.5, 24.0]은 두 값의 목록이고 "22.5, 24.0"은 쉼표가 들어 있는 문자열입니다. 겉에 어떤 괄호나 따옴표가 있는지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temperatures = [22.5, 24.0, 23.5]</a:t>
            </a:r>
          </a:p>
          <a:p xmlns:a="http://schemas.openxmlformats.org/drawingml/2006/main">
            <a:r>
              <a:t>print(temperatures[0])</a:t>
            </a:r>
          </a:p>
          <a:p xmlns:a="http://schemas.openxmlformats.org/drawingml/2006/main">
            <a:r>
              <a:t>print(len(temperatures))</a:t>
            </a:r>
          </a:p>
          <a:p xmlns:a="http://schemas.openxmlformats.org/drawingml/2006/main">
            <a:r>
              <a:t>temperatures.append(25.0)</a:t>
            </a:r>
          </a:p>
          <a:p xmlns:a="http://schemas.openxmlformats.org/drawingml/2006/main">
            <a:r>
              <a:t>print(len(temperatures))</a:t>
            </a:r>
          </a:p>
          <a:p xmlns:a="http://schemas.openxmlformats.org/drawingml/2006/main">
            <a:r>
              <a:t>print(temperatures[3])</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`temperatures = [22.5, 24.0, 23.5]` | 온도 세 개를 순서대로 묶습니다. |</a:t>
            </a:r>
          </a:p>
          <a:p xmlns:a="http://schemas.openxmlformats.org/drawingml/2006/main">
            <a:r>
              <a:t>| 2 | `print(temperatures[0])` | 첫 값을 읽습니다. |</a:t>
            </a:r>
          </a:p>
          <a:p xmlns:a="http://schemas.openxmlformats.org/drawingml/2006/main">
            <a:r>
              <a:t>| 3 | `print(len(temperatures))` | 현재 개수를 출력합니다. |</a:t>
            </a:r>
          </a:p>
          <a:p xmlns:a="http://schemas.openxmlformats.org/drawingml/2006/main">
            <a:r>
              <a:t>| 4 | `temperatures.append(25.0)` | 목록 끝에 새 값을 덧붙입니다. |</a:t>
            </a:r>
          </a:p>
          <a:p xmlns:a="http://schemas.openxmlformats.org/drawingml/2006/main">
            <a:r>
              <a:t>| 5 | `print(len(temperatures))` | 추가 뒤 개수를 확인합니다. |</a:t>
            </a:r>
          </a:p>
          <a:p xmlns:a="http://schemas.openxmlformats.org/drawingml/2006/main">
            <a:r>
              <a:t>| 6 | `print(temperatures[3])` | 네 번째 값을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3</a:t>
            </a:r>
          </a:p>
          <a:p xmlns:a="http://schemas.openxmlformats.org/drawingml/2006/main">
            <a:r>
              <a:t>4</a:t>
            </a:r>
          </a:p>
          <a:p xmlns:a="http://schemas.openxmlformats.org/drawingml/2006/main">
            <a:r>
              <a:t>25.0</a:t>
            </a:r>
          </a:p>
          <a:p xmlns:a="http://schemas.openxmlformats.org/drawingml/2006/main">
            <a:r>
              <a:t>```</a:t>
            </a:r>
          </a:p>
          <a:p xmlns:a="http://schemas.openxmlformats.org/drawingml/2006/main">
            <a:r>
              <a:t/>
            </a:r>
          </a:p>
          <a:p xmlns:a="http://schemas.openxmlformats.org/drawingml/2006/main">
            <a:r>
              <a:t>작은 수정: `append(25.0)`를 `append(26.0)`로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3</a:t>
            </a:r>
          </a:p>
          <a:p xmlns:a="http://schemas.openxmlformats.org/drawingml/2006/main">
            <a:r>
              <a:t>4</a:t>
            </a:r>
          </a:p>
          <a:p xmlns:a="http://schemas.openxmlformats.org/drawingml/2006/main">
            <a:r>
              <a:t>26.0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추가 전과 후의 목록을 종이에 그립니다.</a:t>
            </a:r>
          </a:p>
          <a:p xmlns:a="http://schemas.openxmlformats.org/drawingml/2006/main">
            <a:r>
              <a:t>2. 각 위치 번호와 개수를 따로 표시합니다.</a:t>
            </a:r>
          </a:p>
          <a:p xmlns:a="http://schemas.openxmlformats.org/drawingml/2006/main">
            <a:r>
              <a:t>3. 추가할 값을 26.0으로 바꾸고 출력 변화를 예상합니다.</a:t>
            </a:r>
          </a:p>
          <a:p xmlns:a="http://schemas.openxmlformats.org/drawingml/2006/main">
            <a:r>
              <a:t>4. 아직 없는 위치를 읽는 오류 사례를 설명합니다.</a:t>
            </a:r>
          </a:p>
          <a:p xmlns:a="http://schemas.openxmlformats.org/drawingml/2006/main">
            <a:r>
              <a:t/>
            </a:r>
          </a:p>
          <a:p xmlns:a="http://schemas.openxmlformats.org/drawingml/2006/main">
            <a:r>
              <a:t>예상 결과: 추가 후 개수 4, 마지막 값 26.0. 기존 첫 값은 유지됩니다.</a:t>
            </a:r>
          </a:p>
          <a:p xmlns:a="http://schemas.openxmlformats.org/drawingml/2006/main">
            <a:r>
              <a:t/>
            </a:r>
          </a:p>
          <a:p xmlns:a="http://schemas.openxmlformats.org/drawingml/2006/main">
            <a:r>
              <a:t>확인 질문: 값 하나를 수정하는 것과 append로 추가하는 것은 개수에 어떤 차이가 있나요?</a:t>
            </a:r>
          </a:p>
          <a:p xmlns:a="http://schemas.openxmlformats.org/drawingml/2006/main">
            <a:r>
              <a:t/>
            </a:r>
          </a:p>
          <a:p xmlns:a="http://schemas.openxmlformats.org/drawingml/2006/main">
            <a:r>
              <a:t>막혔을 때: IndexError가 나면 읽는 시점의 목록 길이와 위치 번호를 확인합니다. 뒤에서 추가된다고 앞에서 이미 존재하는 것은 아닙니다.</a:t>
            </a:r>
          </a:p>
          <a:p xmlns:a="http://schemas.openxmlformats.org/drawingml/2006/main">
            <a:r>
              <a:t/>
            </a:r>
          </a:p>
          <a:p xmlns:a="http://schemas.openxmlformats.org/drawingml/2006/main">
            <a:r>
              <a:t>[활동 자료와 작성칸](practice-guide.md#a13--리스트와-위치로-여러-값-담기)에서 A13를 엽니다.</a:t>
            </a:r>
          </a:p>
          <a:p xmlns:a="http://schemas.openxmlformats.org/drawingml/2006/main">
            <a:r>
              <a:t/>
            </a:r>
          </a:p>
          <a:p xmlns:a="http://schemas.openxmlformats.org/drawingml/2006/main">
            <a:r>
              <a:t>화면 예의 출처: D:/KDigital_PhysicalAI/.build/copyedited-ppt/spec-2026-10-14.json#slide-69;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https://zeusk302-png.github.io/kdigital-physical-ai/#/sessions/2026-10-14/lesson?activity=A13</a:t>
            </a:r>
          </a:p>
          <a:p xmlns:a="http://schemas.openxmlformats.org/drawingml/2006/main">
            <a:r>
              <a:t>공식 자료: https://docs.python.org/3/tutorial/controlflow.html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A13 상세 원문]</a:t>
            </a:r>
          </a:p>
          <a:p xmlns:a="http://schemas.openxmlformats.org/drawingml/2006/main">
            <a:r>
              <a:t>### 사례로 이해하기 · 목록의 위치와 반복 누적을 함께 추적하기</a:t>
            </a:r>
          </a:p>
          <a:p xmlns:a="http://schemas.openxmlformats.org/drawingml/2006/main">
            <a:r>
              <a:t/>
            </a:r>
          </a:p>
          <a:p xmlns:a="http://schemas.openxmlformats.org/drawingml/2006/main">
            <a:r>
              <a:t/>
            </a:r>
          </a:p>
          <a:p xmlns:a="http://schemas.openxmlformats.org/drawingml/2006/main">
            <a:r>
              <a:t/>
            </a:r>
          </a:p>
          <a:p xmlns:a="http://schemas.openxmlformats.org/drawingml/2006/main">
            <a:r>
              <a:t>세 배송 상자의 무게가 순서대로 2, 5, 1kg입니다. 목록은 여러 값을 정해진 순서로 묶는 방법입니다. Python의 리스트에서 첫 위치 번호는 0이고 두 번째는 1, 세 번째는 2입니다. 위치 번호는 상자 이름이 아니라 그 목록 안의 순서이므로 정렬하거나 삽입하면 달라질 수 있습니다. 길이 3은 항목 수이며 마지막 위치 번호는 2입니다. 3번째 위치라고 생각해 번호 3으로 읽으면 없는 칸을 찾는 오류가 생깁니다.</a:t>
            </a:r>
          </a:p>
          <a:p xmlns:a="http://schemas.openxmlformats.org/drawingml/2006/main">
            <a:r>
              <a:t/>
            </a:r>
          </a:p>
          <a:p xmlns:a="http://schemas.openxmlformats.org/drawingml/2006/main">
            <a:r>
              <a:t>각 상자의 무게를 합하려면 반복문으로 한 항목씩 읽고 합계의 현재 값을 갱신합니다. 합계는 반복 전에 0으로 시작합니다. 첫 바퀴는 현재 합계 0에 2를 더해 2, 두 번째는 2에 5를 더해 7, 세 번째는 7에 1을 더해 8입니다. 손 추적표에는 바퀴·현재 항목·변경 전 합계·변경 후 합계를 씁니다. 반복 끝의 총합은 8kg입니다. 반복 안에서 매번 합계를 0으로 다시 만들면 2→5→1처럼 마지막 상자만 남을 수 있습니다.</a:t>
            </a:r>
          </a:p>
          <a:p xmlns:a="http://schemas.openxmlformats.org/drawingml/2006/main">
            <a:r>
              <a:t/>
            </a:r>
          </a:p>
          <a:p xmlns:a="http://schemas.openxmlformats.org/drawingml/2006/main">
            <a:r>
              <a:t>또 다른 질문은 ‘4kg 초과인 상자가 몇 개인가’입니다. 첫 2는 조건 거짓이라 건수 0, 다음 5는 참이라 건수 1, 마지막 1은 거짓이라 건수 1입니다. 총무게 8과 초과 상자 수 1은 서로 다른 결과입니다. 누적하는 대상이 무게인지 참인 항목의 개수인지 먼저 정합니다. 반복 본문을 들여쓰는 것은 같은 일을 각 항목에 적용한다는 표시입니다. 완료 안내가 반복 안에 있으면 상자마다 나오고 밖에 있으면 끝에 한 번 나옵니다. 목록이 비어 있으면 바퀴가 없으므로 합계의 초기값과 완료 안내의 위치를 그대로 추적합니다.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주문별 수량 목록은 3, 0, 7, 2입니다. 총수량과 2개 초과 주문 수를 각각 손 추적표로 구하세요. 길이와 마지막 위치 번호, 빈 목록일 때 두 결과도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총수량은 12개이고 초과 주문은 3과 7 두 건입니다. 길이 4, 마지막 번호 3입니다. 빈 목록은 초기 합계 0·건수 0을 유지합니다. 0을 오류라고 임의 삭제하거나 수량 합 12를 주문 건수로 쓰면 서로 다른 질문을 혼동한 것입니다.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**첫 위치가 왜 0인가요?** Python 리스트가 정한 위치 번호 약속이므로 실제 목록을 그 규칙으로 읽습니다.</a:t>
            </a:r>
          </a:p>
          <a:p xmlns:a="http://schemas.openxmlformats.org/drawingml/2006/main">
            <a:r>
              <a:t/>
            </a:r>
          </a:p>
          <a:p xmlns:a="http://schemas.openxmlformats.org/drawingml/2006/main">
            <a:r>
              <a:t>2. **합계 초기화는 어디에 놓나요?** 이전 바퀴 결과를 유지하도록 반복 전에 한 번 놓습니다.</a:t>
            </a:r>
          </a:p>
          <a:p xmlns:a="http://schemas.openxmlformats.org/drawingml/2006/main">
            <a:r>
              <a:t/>
            </a:r>
          </a:p>
          <a:p xmlns:a="http://schemas.openxmlformats.org/drawingml/2006/main">
            <a:r>
              <a:t>3. **길이 4이면 번호 4를 읽나요?** 마지막 번호는 3이며 번호 4는 범위 밖입니다.</a:t>
            </a:r>
          </a:p>
          <a:p xmlns:a="http://schemas.openxmlformats.org/drawingml/2006/main">
            <a:r>
              <a:t/>
            </a:r>
          </a:p>
          <a:p xmlns:a="http://schemas.openxmlformats.org/drawingml/2006/main">
            <a:r>
              <a:t/>
            </a:r>
          </a:p>
          <a:p xmlns:a="http://schemas.openxmlformats.org/drawingml/2006/main">
            <a:r>
              <a:t>**개념.** 리스트는 여러 값을 순서대로 묶는 Python 자료구조입니다. 대괄호로 묶고 쉼표로 항목을 나눕니다. 위치 번호는 0부터 시작하며 len은 항목 개수를 돌려줍니다.</a:t>
            </a:r>
          </a:p>
          <a:p xmlns:a="http://schemas.openxmlformats.org/drawingml/2006/main">
            <a:r>
              <a:t/>
            </a:r>
          </a:p>
          <a:p xmlns:a="http://schemas.openxmlformats.org/drawingml/2006/main">
            <a:r>
              <a:t>**왜 필요한가.** 측정값이 세 개에서 네 개로 늘어날 때 이름을 계속 만드는 대신 하나의 목록으로 다룰 수 있습니다. 10/8에 읽었던 순서 구조를 직접 작은 값 수정으로 연결합니다.</a:t>
            </a:r>
          </a:p>
          <a:p xmlns:a="http://schemas.openxmlformats.org/drawingml/2006/main">
            <a:r>
              <a:t/>
            </a:r>
          </a:p>
          <a:p xmlns:a="http://schemas.openxmlformats.org/drawingml/2006/main">
            <a:r>
              <a:t>**함께 보는 예.** temperatures[0]은 첫 값 22.5이고 len은 3입니다. 마지막 위치 번호는 2이지 3이 아닙니다. 개수와 위치 번호를 서로 다른 질문으로 적습니다.</a:t>
            </a:r>
          </a:p>
          <a:p xmlns:a="http://schemas.openxmlformats.org/drawingml/2006/main">
            <a:r>
              <a:t/>
            </a:r>
          </a:p>
          <a:p xmlns:a="http://schemas.openxmlformats.org/drawingml/2006/main">
            <a:r>
              <a:t>**헷갈리는 경우.** [22.5, 24.0]은 두 값의 목록이고 "22.5, 24.0"은 쉼표가 들어 있는 문자열입니다. 겉에 어떤 괄호나 따옴표가 있는지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temperatures = [22.5, 24.0, 23.5]</a:t>
            </a:r>
          </a:p>
          <a:p xmlns:a="http://schemas.openxmlformats.org/drawingml/2006/main">
            <a:r>
              <a:t>print(temperatures[0])</a:t>
            </a:r>
          </a:p>
          <a:p xmlns:a="http://schemas.openxmlformats.org/drawingml/2006/main">
            <a:r>
              <a:t>print(len(temperatures))</a:t>
            </a:r>
          </a:p>
          <a:p xmlns:a="http://schemas.openxmlformats.org/drawingml/2006/main">
            <a:r>
              <a:t>temperatures.append(25.0)</a:t>
            </a:r>
          </a:p>
          <a:p xmlns:a="http://schemas.openxmlformats.org/drawingml/2006/main">
            <a:r>
              <a:t>print(len(temperatures))</a:t>
            </a:r>
          </a:p>
          <a:p xmlns:a="http://schemas.openxmlformats.org/drawingml/2006/main">
            <a:r>
              <a:t>print(temperatures[3])</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`temperatures = [22.5, 24.0, 23.5]` | 온도 세 개를 순서대로 묶습니다. |</a:t>
            </a:r>
          </a:p>
          <a:p xmlns:a="http://schemas.openxmlformats.org/drawingml/2006/main">
            <a:r>
              <a:t>| 2 | `print(temperatures[0])` | 첫 값을 읽습니다. |</a:t>
            </a:r>
          </a:p>
          <a:p xmlns:a="http://schemas.openxmlformats.org/drawingml/2006/main">
            <a:r>
              <a:t>| 3 | `print(len(temperatures))` | 현재 개수를 출력합니다. |</a:t>
            </a:r>
          </a:p>
          <a:p xmlns:a="http://schemas.openxmlformats.org/drawingml/2006/main">
            <a:r>
              <a:t>| 4 | `temperatures.append(25.0)` | 목록 끝에 새 값을 덧붙입니다. |</a:t>
            </a:r>
          </a:p>
          <a:p xmlns:a="http://schemas.openxmlformats.org/drawingml/2006/main">
            <a:r>
              <a:t>| 5 | `print(len(temperatures))` | 추가 뒤 개수를 확인합니다. |</a:t>
            </a:r>
          </a:p>
          <a:p xmlns:a="http://schemas.openxmlformats.org/drawingml/2006/main">
            <a:r>
              <a:t>| 6 | `print(temperatures[3])` | 네 번째 값을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3</a:t>
            </a:r>
          </a:p>
          <a:p xmlns:a="http://schemas.openxmlformats.org/drawingml/2006/main">
            <a:r>
              <a:t>4</a:t>
            </a:r>
          </a:p>
          <a:p xmlns:a="http://schemas.openxmlformats.org/drawingml/2006/main">
            <a:r>
              <a:t>25.0</a:t>
            </a:r>
          </a:p>
          <a:p xmlns:a="http://schemas.openxmlformats.org/drawingml/2006/main">
            <a:r>
              <a:t>```</a:t>
            </a:r>
          </a:p>
          <a:p xmlns:a="http://schemas.openxmlformats.org/drawingml/2006/main">
            <a:r>
              <a:t/>
            </a:r>
          </a:p>
          <a:p xmlns:a="http://schemas.openxmlformats.org/drawingml/2006/main">
            <a:r>
              <a:t>작은 수정: `append(25.0)`를 `append(26.0)`로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3</a:t>
            </a:r>
          </a:p>
          <a:p xmlns:a="http://schemas.openxmlformats.org/drawingml/2006/main">
            <a:r>
              <a:t>4</a:t>
            </a:r>
          </a:p>
          <a:p xmlns:a="http://schemas.openxmlformats.org/drawingml/2006/main">
            <a:r>
              <a:t>26.0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추가 전과 후의 목록을 종이에 그립니다.</a:t>
            </a:r>
          </a:p>
          <a:p xmlns:a="http://schemas.openxmlformats.org/drawingml/2006/main">
            <a:r>
              <a:t>2. 각 위치 번호와 개수를 따로 표시합니다.</a:t>
            </a:r>
          </a:p>
          <a:p xmlns:a="http://schemas.openxmlformats.org/drawingml/2006/main">
            <a:r>
              <a:t>3. 추가할 값을 26.0으로 바꾸고 출력 변화를 예상합니다.</a:t>
            </a:r>
          </a:p>
          <a:p xmlns:a="http://schemas.openxmlformats.org/drawingml/2006/main">
            <a:r>
              <a:t>4. 아직 없는 위치를 읽는 오류 사례를 설명합니다.</a:t>
            </a:r>
          </a:p>
          <a:p xmlns:a="http://schemas.openxmlformats.org/drawingml/2006/main">
            <a:r>
              <a:t/>
            </a:r>
          </a:p>
          <a:p xmlns:a="http://schemas.openxmlformats.org/drawingml/2006/main">
            <a:r>
              <a:t>예상 결과: 추가 후 개수 4, 마지막 값 26.0. 기존 첫 값은 유지됩니다.</a:t>
            </a:r>
          </a:p>
          <a:p xmlns:a="http://schemas.openxmlformats.org/drawingml/2006/main">
            <a:r>
              <a:t/>
            </a:r>
          </a:p>
          <a:p xmlns:a="http://schemas.openxmlformats.org/drawingml/2006/main">
            <a:r>
              <a:t>확인 질문: 값 하나를 수정하는 것과 append로 추가하는 것은 개수에 어떤 차이가 있나요?</a:t>
            </a:r>
          </a:p>
          <a:p xmlns:a="http://schemas.openxmlformats.org/drawingml/2006/main">
            <a:r>
              <a:t/>
            </a:r>
          </a:p>
          <a:p xmlns:a="http://schemas.openxmlformats.org/drawingml/2006/main">
            <a:r>
              <a:t>막혔을 때: IndexError가 나면 읽는 시점의 목록 길이와 위치 번호를 확인합니다. 뒤에서 추가된다고 앞에서 이미 존재하는 것은 아닙니다.</a:t>
            </a:r>
          </a:p>
          <a:p xmlns:a="http://schemas.openxmlformats.org/drawingml/2006/main">
            <a:r>
              <a:t/>
            </a:r>
          </a:p>
          <a:p xmlns:a="http://schemas.openxmlformats.org/drawingml/2006/main">
            <a:r>
              <a:t>[활동 자료와 작성칸](practice-guide.md#a13--리스트와-위치로-여러-값-담기)에서 A13를 엽니다.</a:t>
            </a:r>
          </a:p>
          <a:p xmlns:a="http://schemas.openxmlformats.org/drawingml/2006/main">
            <a:r>
              <a:t/>
            </a:r>
          </a:p>
          <a:p xmlns:a="http://schemas.openxmlformats.org/drawingml/2006/main">
            <a:r>
              <a:t>화면 예의 출처: D:/KDigital_PhysicalAI/.build/copyedited-ppt/spec-2026-10-14.json#slide-69;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https://zeusk302-png.github.io/kdigital-physical-ai/#/sessions/2026-10-14/lesson?activity=A13</a:t>
            </a:r>
          </a:p>
          <a:p xmlns:a="http://schemas.openxmlformats.org/drawingml/2006/main">
            <a:r>
              <a:t>공식 자료: https://docs.python.org/3/tutorial/controlflow.html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code/A14_example.py</a:t>
            </a:r>
          </a:p>
          <a:p xmlns:a="http://schemas.openxmlformats.org/drawingml/2006/main">
            <a:r>
              <a:t>수정한 파일을 실행할 때는 code 대신 work 폴더를 지정합니다. 직접 실행할 수 없으면 입력값부터 코드의 처리 순서를 따라 적고 강사의 결과와 비교합니다.</a:t>
            </a:r>
          </a:p>
          <a:p xmlns:a="http://schemas.openxmlformats.org/drawingml/2006/main">
            <a:r>
              <a:t/>
            </a:r>
          </a:p>
          <a:p xmlns:a="http://schemas.openxmlformats.org/drawingml/2006/main">
            <a:r>
              <a:t>[활동 A14 상세 원문]</a:t>
            </a:r>
          </a:p>
          <a:p xmlns:a="http://schemas.openxmlformats.org/drawingml/2006/main">
            <a:r>
              <a:t>**개념.** for는 묶음에서 항목을 차례로 꺼내 같은 코드 묶음을 실행합니다. 반복 변수 temperature_c는 이번 차례의 값을 가리키는 이름입니다.</a:t>
            </a:r>
          </a:p>
          <a:p xmlns:a="http://schemas.openxmlformats.org/drawingml/2006/main">
            <a:r>
              <a:t/>
            </a:r>
          </a:p>
          <a:p xmlns:a="http://schemas.openxmlformats.org/drawingml/2006/main">
            <a:r>
              <a:t>**왜 필요한가.** 여러 온도에 같은 출력이나 비교를 적용할 때 같은 코드를 복사하지 않아도 됩니다. 항목 수가 늘어나면 반복 횟수도 따라 늘어나는 관계를 관찰합니다.</a:t>
            </a:r>
          </a:p>
          <a:p xmlns:a="http://schemas.openxmlformats.org/drawingml/2006/main">
            <a:r>
              <a:t/>
            </a:r>
          </a:p>
          <a:p xmlns:a="http://schemas.openxmlformats.org/drawingml/2006/main">
            <a:r>
              <a:t>**함께 보는 예.** 목록의 첫 22.5가 temperature_c가 되어 출력되고, 다음 차례에는 24.0, 그다음에는 23.5가 됩니다. 반복이 끝난 뒤 들여쓰기 없는 완료가 한 번 출력됩니다.</a:t>
            </a:r>
          </a:p>
          <a:p xmlns:a="http://schemas.openxmlformats.org/drawingml/2006/main">
            <a:r>
              <a:t/>
            </a:r>
          </a:p>
          <a:p xmlns:a="http://schemas.openxmlformats.org/drawingml/2006/main">
            <a:r>
              <a:t>**헷갈리는 경우.** 반복 변수에 값을 붙인다고 원래 리스트의 모든 값이 자동 수정되는 것은 아닙니다. 오늘은 목록을 읽는 반복이며 목록 구조를 변경하는 고급 패턴은 다루지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temperatures = [22.5, 24.0, 23.5]</a:t>
            </a:r>
          </a:p>
          <a:p xmlns:a="http://schemas.openxmlformats.org/drawingml/2006/main">
            <a:r>
              <a:t>for temperature_c in temperatures:</a:t>
            </a:r>
          </a:p>
          <a:p xmlns:a="http://schemas.openxmlformats.org/drawingml/2006/main">
            <a:r>
              <a:t>    print(temperature_c)</a:t>
            </a:r>
          </a:p>
          <a:p xmlns:a="http://schemas.openxmlformats.org/drawingml/2006/main">
            <a:r>
              <a:t>print("완료")</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`temperatures = [22.5, 24.0, 23.5]` | 읽을 값의 순서를 준비합니다. |</a:t>
            </a:r>
          </a:p>
          <a:p xmlns:a="http://schemas.openxmlformats.org/drawingml/2006/main">
            <a:r>
              <a:t>| 2 | `for temperature_c in temperatures:` | 한 항목씩 현재 값의 이름에 연결합니다. |</a:t>
            </a:r>
          </a:p>
          <a:p xmlns:a="http://schemas.openxmlformats.org/drawingml/2006/main">
            <a:r>
              <a:t>| 3 | `    print(temperature_c)` | 각 차례의 값을 출력합니다. |</a:t>
            </a:r>
          </a:p>
          <a:p xmlns:a="http://schemas.openxmlformats.org/drawingml/2006/main">
            <a:r>
              <a:t>| 4 | `print("완료")` | 반복이 모두 끝난 뒤 한 번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code/A14_example.py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work/A14_example.py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24.0</a:t>
            </a:r>
          </a:p>
          <a:p xmlns:a="http://schemas.openxmlformats.org/drawingml/2006/main">
            <a:r>
              <a:t>23.5</a:t>
            </a:r>
          </a:p>
          <a:p xmlns:a="http://schemas.openxmlformats.org/drawingml/2006/main">
            <a:r>
              <a:t>완료</a:t>
            </a:r>
          </a:p>
          <a:p xmlns:a="http://schemas.openxmlformats.org/drawingml/2006/main">
            <a:r>
              <a:t>```</a:t>
            </a:r>
          </a:p>
          <a:p xmlns:a="http://schemas.openxmlformats.org/drawingml/2006/main">
            <a:r>
              <a:t/>
            </a:r>
          </a:p>
          <a:p xmlns:a="http://schemas.openxmlformats.org/drawingml/2006/main">
            <a:r>
              <a:t>작은 수정: `[22.5, 24.0, 23.5]`를 `[22.5, 24.0, 23.5,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24.0</a:t>
            </a:r>
          </a:p>
          <a:p xmlns:a="http://schemas.openxmlformats.org/drawingml/2006/main">
            <a:r>
              <a:t>23.5</a:t>
            </a:r>
          </a:p>
          <a:p xmlns:a="http://schemas.openxmlformats.org/drawingml/2006/main">
            <a:r>
              <a:t>25.0</a:t>
            </a:r>
          </a:p>
          <a:p xmlns:a="http://schemas.openxmlformats.org/drawingml/2006/main">
            <a:r>
              <a:t>완료</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세 차례에 temperature_c가 가리키는 값을 표에 씁니다.</a:t>
            </a:r>
          </a:p>
          <a:p xmlns:a="http://schemas.openxmlformats.org/drawingml/2006/main">
            <a:r>
              <a:t>2. 완료가 몇 번 나올지 예상하고, 들여쓰기 위치를 보며 이유를 설명합니다.</a:t>
            </a:r>
          </a:p>
          <a:p xmlns:a="http://schemas.openxmlformats.org/drawingml/2006/main">
            <a:r>
              <a:t>3. 목록에 25.0을 추가하고 반복 출력 수를 비교합니다.</a:t>
            </a:r>
          </a:p>
          <a:p xmlns:a="http://schemas.openxmlformats.org/drawingml/2006/main">
            <a:r>
              <a:t>4. 목록이 비어 있으면 어느 줄이 실행될지 적습니다.</a:t>
            </a:r>
          </a:p>
          <a:p xmlns:a="http://schemas.openxmlformats.org/drawingml/2006/main">
            <a:r>
              <a:t/>
            </a:r>
          </a:p>
          <a:p xmlns:a="http://schemas.openxmlformats.org/drawingml/2006/main">
            <a:r>
              <a:t>예상 결과: 값은 항목 수만큼 출력되고 완료는 한 번 출력됩니다.</a:t>
            </a:r>
          </a:p>
          <a:p xmlns:a="http://schemas.openxmlformats.org/drawingml/2006/main">
            <a:r>
              <a:t/>
            </a:r>
          </a:p>
          <a:p xmlns:a="http://schemas.openxmlformats.org/drawingml/2006/main">
            <a:r>
              <a:t>확인 질문: 완료 출력도 네 칸 들여쓰면 무엇이 바뀔까요?</a:t>
            </a:r>
          </a:p>
          <a:p xmlns:a="http://schemas.openxmlformats.org/drawingml/2006/main">
            <a:r>
              <a:t/>
            </a:r>
          </a:p>
          <a:p xmlns:a="http://schemas.openxmlformats.org/drawingml/2006/main">
            <a:r>
              <a:t>막혔을 때: 출력 횟수가 다르면 들여쓰기 범위를 먼저 확인합니다. 코드 줄 수와 실행 횟수는 다를 수 있습니다.</a:t>
            </a:r>
          </a:p>
          <a:p xmlns:a="http://schemas.openxmlformats.org/drawingml/2006/main">
            <a:r>
              <a:t/>
            </a:r>
          </a:p>
          <a:p xmlns:a="http://schemas.openxmlformats.org/drawingml/2006/main">
            <a:r>
              <a:t>[활동 자료와 작성칸](practice-guide.md#a14--for로-목록을-한-항목씩-읽기)에서 A14를 엽니다.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https://zeusk302-png.github.io/kdigital-physical-ai/#/sessions/2026-10-14/lesson?activity=A14</a:t>
            </a:r>
          </a:p>
          <a:p xmlns:a="http://schemas.openxmlformats.org/drawingml/2006/main">
            <a:r>
              <a:t>공식 자료: https://docs.python.org/3/tutorial/controlflow.html</a:t>
            </a:r>
          </a:p>
          <a:p xmlns:a="http://schemas.openxmlformats.org/drawingml/2006/main">
            <a:r>
              <a:t/>
            </a:r>
          </a:p>
          <a:p xmlns:a="http://schemas.openxmlformats.org/drawingml/2006/main">
            <a:r>
              <a:t>코드와 개념 해설: 들여쓴 print는 매 항목마다 실행됩니다</a:t>
            </a:r>
          </a:p>
          <a:p xmlns:a="http://schemas.openxmlformats.org/drawingml/2006/main">
            <a:r>
              <a:t>들여쓰지 않은 완료 출력은 반복 뒤 한 번입니다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A14 상세 원문]</a:t>
            </a:r>
          </a:p>
          <a:p xmlns:a="http://schemas.openxmlformats.org/drawingml/2006/main">
            <a:r>
              <a:t>**개념.** for는 묶음에서 항목을 차례로 꺼내 같은 코드 묶음을 실행합니다. 반복 변수 temperature_c는 이번 차례의 값을 가리키는 이름입니다.</a:t>
            </a:r>
          </a:p>
          <a:p xmlns:a="http://schemas.openxmlformats.org/drawingml/2006/main">
            <a:r>
              <a:t/>
            </a:r>
          </a:p>
          <a:p xmlns:a="http://schemas.openxmlformats.org/drawingml/2006/main">
            <a:r>
              <a:t>**왜 필요한가.** 여러 온도에 같은 출력이나 비교를 적용할 때 같은 코드를 복사하지 않아도 됩니다. 항목 수가 늘어나면 반복 횟수도 따라 늘어나는 관계를 관찰합니다.</a:t>
            </a:r>
          </a:p>
          <a:p xmlns:a="http://schemas.openxmlformats.org/drawingml/2006/main">
            <a:r>
              <a:t/>
            </a:r>
          </a:p>
          <a:p xmlns:a="http://schemas.openxmlformats.org/drawingml/2006/main">
            <a:r>
              <a:t>**함께 보는 예.** 목록의 첫 22.5가 temperature_c가 되어 출력되고, 다음 차례에는 24.0, 그다음에는 23.5가 됩니다. 반복이 끝난 뒤 들여쓰기 없는 완료가 한 번 출력됩니다.</a:t>
            </a:r>
          </a:p>
          <a:p xmlns:a="http://schemas.openxmlformats.org/drawingml/2006/main">
            <a:r>
              <a:t/>
            </a:r>
          </a:p>
          <a:p xmlns:a="http://schemas.openxmlformats.org/drawingml/2006/main">
            <a:r>
              <a:t>**헷갈리는 경우.** 반복 변수에 값을 붙인다고 원래 리스트의 모든 값이 자동 수정되는 것은 아닙니다. 오늘은 목록을 읽는 반복이며 목록 구조를 변경하는 고급 패턴은 다루지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temperatures = [22.5, 24.0, 23.5]</a:t>
            </a:r>
          </a:p>
          <a:p xmlns:a="http://schemas.openxmlformats.org/drawingml/2006/main">
            <a:r>
              <a:t>for temperature_c in temperatures:</a:t>
            </a:r>
          </a:p>
          <a:p xmlns:a="http://schemas.openxmlformats.org/drawingml/2006/main">
            <a:r>
              <a:t>    print(temperature_c)</a:t>
            </a:r>
          </a:p>
          <a:p xmlns:a="http://schemas.openxmlformats.org/drawingml/2006/main">
            <a:r>
              <a:t>print("완료")</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`temperatures = [22.5, 24.0, 23.5]` | 읽을 값의 순서를 준비합니다. |</a:t>
            </a:r>
          </a:p>
          <a:p xmlns:a="http://schemas.openxmlformats.org/drawingml/2006/main">
            <a:r>
              <a:t>| 2 | `for temperature_c in temperatures:` | 한 항목씩 현재 값의 이름에 연결합니다. |</a:t>
            </a:r>
          </a:p>
          <a:p xmlns:a="http://schemas.openxmlformats.org/drawingml/2006/main">
            <a:r>
              <a:t>| 3 | `    print(temperature_c)` | 각 차례의 값을 출력합니다. |</a:t>
            </a:r>
          </a:p>
          <a:p xmlns:a="http://schemas.openxmlformats.org/drawingml/2006/main">
            <a:r>
              <a:t>| 4 | `print("완료")` | 반복이 모두 끝난 뒤 한 번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code/A14_example.py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work/A14_example.py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24.0</a:t>
            </a:r>
          </a:p>
          <a:p xmlns:a="http://schemas.openxmlformats.org/drawingml/2006/main">
            <a:r>
              <a:t>23.5</a:t>
            </a:r>
          </a:p>
          <a:p xmlns:a="http://schemas.openxmlformats.org/drawingml/2006/main">
            <a:r>
              <a:t>완료</a:t>
            </a:r>
          </a:p>
          <a:p xmlns:a="http://schemas.openxmlformats.org/drawingml/2006/main">
            <a:r>
              <a:t>```</a:t>
            </a:r>
          </a:p>
          <a:p xmlns:a="http://schemas.openxmlformats.org/drawingml/2006/main">
            <a:r>
              <a:t/>
            </a:r>
          </a:p>
          <a:p xmlns:a="http://schemas.openxmlformats.org/drawingml/2006/main">
            <a:r>
              <a:t>작은 수정: `[22.5, 24.0, 23.5]`를 `[22.5, 24.0, 23.5,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24.0</a:t>
            </a:r>
          </a:p>
          <a:p xmlns:a="http://schemas.openxmlformats.org/drawingml/2006/main">
            <a:r>
              <a:t>23.5</a:t>
            </a:r>
          </a:p>
          <a:p xmlns:a="http://schemas.openxmlformats.org/drawingml/2006/main">
            <a:r>
              <a:t>25.0</a:t>
            </a:r>
          </a:p>
          <a:p xmlns:a="http://schemas.openxmlformats.org/drawingml/2006/main">
            <a:r>
              <a:t>완료</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세 차례에 temperature_c가 가리키는 값을 표에 씁니다.</a:t>
            </a:r>
          </a:p>
          <a:p xmlns:a="http://schemas.openxmlformats.org/drawingml/2006/main">
            <a:r>
              <a:t>2. 완료가 몇 번 나올지 예상하고, 들여쓰기 위치를 보며 이유를 설명합니다.</a:t>
            </a:r>
          </a:p>
          <a:p xmlns:a="http://schemas.openxmlformats.org/drawingml/2006/main">
            <a:r>
              <a:t>3. 목록에 25.0을 추가하고 반복 출력 수를 비교합니다.</a:t>
            </a:r>
          </a:p>
          <a:p xmlns:a="http://schemas.openxmlformats.org/drawingml/2006/main">
            <a:r>
              <a:t>4. 목록이 비어 있으면 어느 줄이 실행될지 적습니다.</a:t>
            </a:r>
          </a:p>
          <a:p xmlns:a="http://schemas.openxmlformats.org/drawingml/2006/main">
            <a:r>
              <a:t/>
            </a:r>
          </a:p>
          <a:p xmlns:a="http://schemas.openxmlformats.org/drawingml/2006/main">
            <a:r>
              <a:t>예상 결과: 값은 항목 수만큼 출력되고 완료는 한 번 출력됩니다.</a:t>
            </a:r>
          </a:p>
          <a:p xmlns:a="http://schemas.openxmlformats.org/drawingml/2006/main">
            <a:r>
              <a:t/>
            </a:r>
          </a:p>
          <a:p xmlns:a="http://schemas.openxmlformats.org/drawingml/2006/main">
            <a:r>
              <a:t>확인 질문: 완료 출력도 네 칸 들여쓰면 무엇이 바뀔까요?</a:t>
            </a:r>
          </a:p>
          <a:p xmlns:a="http://schemas.openxmlformats.org/drawingml/2006/main">
            <a:r>
              <a:t/>
            </a:r>
          </a:p>
          <a:p xmlns:a="http://schemas.openxmlformats.org/drawingml/2006/main">
            <a:r>
              <a:t>막혔을 때: 출력 횟수가 다르면 들여쓰기 범위를 먼저 확인합니다. 코드 줄 수와 실행 횟수는 다를 수 있습니다.</a:t>
            </a:r>
          </a:p>
          <a:p xmlns:a="http://schemas.openxmlformats.org/drawingml/2006/main">
            <a:r>
              <a:t/>
            </a:r>
          </a:p>
          <a:p xmlns:a="http://schemas.openxmlformats.org/drawingml/2006/main">
            <a:r>
              <a:t>[활동 자료와 작성칸](practice-guide.md#a14--for로-목록을-한-항목씩-읽기)에서 A14를 엽니다.</a:t>
            </a:r>
          </a:p>
          <a:p xmlns:a="http://schemas.openxmlformats.org/drawingml/2006/main">
            <a:r>
              <a:t/>
            </a:r>
          </a:p>
          <a:p xmlns:a="http://schemas.openxmlformats.org/drawingml/2006/main">
            <a:r>
              <a:t>화면 예의 출처: D:/KDigital_PhysicalAI/.build/copyedited-ppt/spec-2026-10-14.json#slide-72;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https://zeusk302-png.github.io/kdigital-physical-ai/#/sessions/2026-10-14/lesson?activity=A14</a:t>
            </a:r>
          </a:p>
          <a:p xmlns:a="http://schemas.openxmlformats.org/drawingml/2006/main">
            <a:r>
              <a:t>공식 자료: https://docs.python.org/3/tutorial/controlflow.html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A14의 완료 print는 반복문 밖에 있으므로 한 번입니다. 반복 안으로 옮기면 각 항목 뒤에 안내가 반복됩니다.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https://docs.python.org/3/tutorial/controlflow.html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code/A15_example.py</a:t>
            </a:r>
          </a:p>
          <a:p xmlns:a="http://schemas.openxmlformats.org/drawingml/2006/main">
            <a:r>
              <a:t>수정한 파일을 실행할 때는 code 대신 work 폴더를 지정합니다. 직접 실행할 수 없으면 입력값부터 코드의 처리 순서를 따라 적고 강사의 결과와 비교합니다.</a:t>
            </a:r>
          </a:p>
          <a:p xmlns:a="http://schemas.openxmlformats.org/drawingml/2006/main">
            <a:r>
              <a:t/>
            </a:r>
          </a:p>
          <a:p xmlns:a="http://schemas.openxmlformats.org/drawingml/2006/main">
            <a:r>
              <a:t>[활동 A15 상세 원문]</a:t>
            </a:r>
          </a:p>
          <a:p xmlns:a="http://schemas.openxmlformats.org/drawingml/2006/main">
            <a:r>
              <a:t>**개념.** 반복 안에 조건을 넣으면 각 항목에 같은 판단을 적용할 수 있습니다. 개수를 세는 이름은 반복 전에 0으로 준비하고 조건을 만족할 때 1씩 더합니다.</a:t>
            </a:r>
          </a:p>
          <a:p xmlns:a="http://schemas.openxmlformats.org/drawingml/2006/main">
            <a:r>
              <a:t/>
            </a:r>
          </a:p>
          <a:p xmlns:a="http://schemas.openxmlformats.org/drawingml/2006/main">
            <a:r>
              <a:t>**왜 필요한가.** 어떤 기록이 기준을 넘었는지와 전체 몇 건인지 함께 확인할 수 있습니다. 초기화를 반복 안에 넣으면 매번 0으로 돌아가므로 준비 위치가 결과에 영향을 줍니다.</a:t>
            </a:r>
          </a:p>
          <a:p xmlns:a="http://schemas.openxmlformats.org/drawingml/2006/main">
            <a:r>
              <a:t/>
            </a:r>
          </a:p>
          <a:p xmlns:a="http://schemas.openxmlformats.org/drawingml/2006/main">
            <a:r>
              <a:t>**함께 보는 예.** 22.5, 24.0, 25.0에서 ‘24.0 초과’는 마지막 한 건입니다. 24.0은 같은 값이므로 포함하지 않습니다. &gt;를 &gt;=로 바꾸면 두 건이 됩니다.</a:t>
            </a:r>
          </a:p>
          <a:p xmlns:a="http://schemas.openxmlformats.org/drawingml/2006/main">
            <a:r>
              <a:t/>
            </a:r>
          </a:p>
          <a:p xmlns:a="http://schemas.openxmlformats.org/drawingml/2006/main">
            <a:r>
              <a:t>**헷갈리는 경우.** count = count + 1은 새 값을 누적하는 대입입니다. 반복 안에서 count = 0을 매번 실행하면 이전 차례의 누적을 잃습니다.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temperatures = [22.5, 24.0, 25.0]</a:t>
            </a:r>
          </a:p>
          <a:p xmlns:a="http://schemas.openxmlformats.org/drawingml/2006/main">
            <a:r>
              <a:t>count = 0</a:t>
            </a:r>
          </a:p>
          <a:p xmlns:a="http://schemas.openxmlformats.org/drawingml/2006/main">
            <a:r>
              <a:t>for temperature_c in temperatures:</a:t>
            </a:r>
          </a:p>
          <a:p xmlns:a="http://schemas.openxmlformats.org/drawingml/2006/main">
            <a:r>
              <a:t>    if temperature_c &gt; 24.0:</a:t>
            </a:r>
          </a:p>
          <a:p xmlns:a="http://schemas.openxmlformats.org/drawingml/2006/main">
            <a:r>
              <a:t>        count = count + 1</a:t>
            </a:r>
          </a:p>
          <a:p xmlns:a="http://schemas.openxmlformats.org/drawingml/2006/main">
            <a:r>
              <a:t>print("확인 건수", count)</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`temperatures = [22.5, 24.0, 25.0]` | 점검할 온도 목록을 준비합니다. |</a:t>
            </a:r>
          </a:p>
          <a:p xmlns:a="http://schemas.openxmlformats.org/drawingml/2006/main">
            <a:r>
              <a:t>| 2 | `count = 0` | 아직 센 기록이 없어서 0으로 시작합니다. |</a:t>
            </a:r>
          </a:p>
          <a:p xmlns:a="http://schemas.openxmlformats.org/drawingml/2006/main">
            <a:r>
              <a:t>| 3 | `for temperature_c in temperatures:` | 각 온도를 차례로 확인합니다. |</a:t>
            </a:r>
          </a:p>
          <a:p xmlns:a="http://schemas.openxmlformats.org/drawingml/2006/main">
            <a:r>
              <a:t>| 4 | `    if temperature_c &gt; 24.0:` | 이번 온도가 기준을 초과했는지 묻습니다. |</a:t>
            </a:r>
          </a:p>
          <a:p xmlns:a="http://schemas.openxmlformats.org/drawingml/2006/main">
            <a:r>
              <a:t>| 5 | `        count = count + 1` | 조건이 참인 경우만 누적 개수를 하나 늘립니다. |</a:t>
            </a:r>
          </a:p>
          <a:p xmlns:a="http://schemas.openxmlformats.org/drawingml/2006/main">
            <a:r>
              <a:t>| 6 | `print("확인 건수", count)` | 모든 점검 뒤 최종 개수를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code/A15_example.py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work/A15_example.py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확인 건수 1</a:t>
            </a:r>
          </a:p>
          <a:p xmlns:a="http://schemas.openxmlformats.org/drawingml/2006/main">
            <a:r>
              <a:t>```</a:t>
            </a:r>
          </a:p>
          <a:p xmlns:a="http://schemas.openxmlformats.org/drawingml/2006/main">
            <a:r>
              <a:t/>
            </a:r>
          </a:p>
          <a:p xmlns:a="http://schemas.openxmlformats.org/drawingml/2006/main">
            <a:r>
              <a:t>작은 수정: `&gt; 24.0`를 `&gt;= 24.0`로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확인 건수 2</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각 차례의 온도·조건 결과·누적 count를 표로 씁니다.</a:t>
            </a:r>
          </a:p>
          <a:p xmlns:a="http://schemas.openxmlformats.org/drawingml/2006/main">
            <a:r>
              <a:t>2. 초과를 이상으로 바꾸었을 때 영향을 받는 값을 표시합니다.</a:t>
            </a:r>
          </a:p>
          <a:p xmlns:a="http://schemas.openxmlformats.org/drawingml/2006/main">
            <a:r>
              <a:t>3. 연산자 한 곳을 바꾸고 결과를 대조합니다.</a:t>
            </a:r>
          </a:p>
          <a:p xmlns:a="http://schemas.openxmlformats.org/drawingml/2006/main">
            <a:r>
              <a:t>4. count의 준비 위치를 반복 앞에 둔 이유를 설명합니다.</a:t>
            </a:r>
          </a:p>
          <a:p xmlns:a="http://schemas.openxmlformats.org/drawingml/2006/main">
            <a:r>
              <a:t/>
            </a:r>
          </a:p>
          <a:p xmlns:a="http://schemas.openxmlformats.org/drawingml/2006/main">
            <a:r>
              <a:t>예상 결과: 초과는 1건, 이상은 2건이며 경계값 24.0이 차이를 만듭니다.</a:t>
            </a:r>
          </a:p>
          <a:p xmlns:a="http://schemas.openxmlformats.org/drawingml/2006/main">
            <a:r>
              <a:t/>
            </a:r>
          </a:p>
          <a:p xmlns:a="http://schemas.openxmlformats.org/drawingml/2006/main">
            <a:r>
              <a:t>확인 질문: 한 번의 print인데 세 항목을 검사할 수 있는 이유는 무엇인가요?</a:t>
            </a:r>
          </a:p>
          <a:p xmlns:a="http://schemas.openxmlformats.org/drawingml/2006/main">
            <a:r>
              <a:t/>
            </a:r>
          </a:p>
          <a:p xmlns:a="http://schemas.openxmlformats.org/drawingml/2006/main">
            <a:r>
              <a:t>막혔을 때: 건수가 항상 0 또는 1이면 초기화 위치와 누적 줄의 들여쓰기를 확인합니다.</a:t>
            </a:r>
          </a:p>
          <a:p xmlns:a="http://schemas.openxmlformats.org/drawingml/2006/main">
            <a:r>
              <a:t/>
            </a:r>
          </a:p>
          <a:p xmlns:a="http://schemas.openxmlformats.org/drawingml/2006/main">
            <a:r>
              <a:t>[활동 자료와 작성칸](practice-guide.md#a15--반복-안에서-조건-확인과-개수-세기)에서 A15를 엽니다.</a:t>
            </a:r>
          </a:p>
          <a:p xmlns:a="http://schemas.openxmlformats.org/drawingml/2006/main">
            <a:r>
              <a:t/>
            </a:r>
          </a:p>
          <a:p xmlns:a="http://schemas.openxmlformats.org/drawingml/2006/main">
            <a:r>
              <a:t># 6구간 · 작은 점검 프로그램</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https://zeusk302-png.github.io/kdigital-physical-ai/#/sessions/2026-10-14/lesson?activity=A15</a:t>
            </a:r>
          </a:p>
          <a:p xmlns:a="http://schemas.openxmlformats.org/drawingml/2006/main">
            <a:r>
              <a:t>공식 자료: https://docs.python.org/3/tutorial/controlflow.html</a:t>
            </a:r>
          </a:p>
          <a:p xmlns:a="http://schemas.openxmlformats.org/drawingml/2006/main">
            <a:r>
              <a:t/>
            </a:r>
          </a:p>
          <a:p xmlns:a="http://schemas.openxmlformats.org/drawingml/2006/main">
            <a:r>
              <a:t>코드와 개념 해설: count는 반복 전에 한 번 0으로 둡니다</a:t>
            </a:r>
          </a:p>
          <a:p xmlns:a="http://schemas.openxmlformats.org/drawingml/2006/main">
            <a:r>
              <a:t>25.0일 때만 count가 1 늘어납니다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A15 상세 원문]</a:t>
            </a:r>
          </a:p>
          <a:p xmlns:a="http://schemas.openxmlformats.org/drawingml/2006/main">
            <a:r>
              <a:t>**개념.** 반복 안에 조건을 넣으면 각 항목에 같은 판단을 적용할 수 있습니다. 개수를 세는 이름은 반복 전에 0으로 준비하고 조건을 만족할 때 1씩 더합니다.</a:t>
            </a:r>
          </a:p>
          <a:p xmlns:a="http://schemas.openxmlformats.org/drawingml/2006/main">
            <a:r>
              <a:t/>
            </a:r>
          </a:p>
          <a:p xmlns:a="http://schemas.openxmlformats.org/drawingml/2006/main">
            <a:r>
              <a:t>**왜 필요한가.** 어떤 기록이 기준을 넘었는지와 전체 몇 건인지 함께 확인할 수 있습니다. 초기화를 반복 안에 넣으면 매번 0으로 돌아가므로 준비 위치가 결과에 영향을 줍니다.</a:t>
            </a:r>
          </a:p>
          <a:p xmlns:a="http://schemas.openxmlformats.org/drawingml/2006/main">
            <a:r>
              <a:t/>
            </a:r>
          </a:p>
          <a:p xmlns:a="http://schemas.openxmlformats.org/drawingml/2006/main">
            <a:r>
              <a:t>**함께 보는 예.** 22.5, 24.0, 25.0에서 ‘24.0 초과’는 마지막 한 건입니다. 24.0은 같은 값이므로 포함하지 않습니다. &gt;를 &gt;=로 바꾸면 두 건이 됩니다.</a:t>
            </a:r>
          </a:p>
          <a:p xmlns:a="http://schemas.openxmlformats.org/drawingml/2006/main">
            <a:r>
              <a:t/>
            </a:r>
          </a:p>
          <a:p xmlns:a="http://schemas.openxmlformats.org/drawingml/2006/main">
            <a:r>
              <a:t>**헷갈리는 경우.** count = count + 1은 새 값을 누적하는 대입입니다. 반복 안에서 count = 0을 매번 실행하면 이전 차례의 누적을 잃습니다.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temperatures = [22.5, 24.0, 25.0]</a:t>
            </a:r>
          </a:p>
          <a:p xmlns:a="http://schemas.openxmlformats.org/drawingml/2006/main">
            <a:r>
              <a:t>count = 0</a:t>
            </a:r>
          </a:p>
          <a:p xmlns:a="http://schemas.openxmlformats.org/drawingml/2006/main">
            <a:r>
              <a:t>for temperature_c in temperatures:</a:t>
            </a:r>
          </a:p>
          <a:p xmlns:a="http://schemas.openxmlformats.org/drawingml/2006/main">
            <a:r>
              <a:t>    if temperature_c &gt; 24.0:</a:t>
            </a:r>
          </a:p>
          <a:p xmlns:a="http://schemas.openxmlformats.org/drawingml/2006/main">
            <a:r>
              <a:t>        count = count + 1</a:t>
            </a:r>
          </a:p>
          <a:p xmlns:a="http://schemas.openxmlformats.org/drawingml/2006/main">
            <a:r>
              <a:t>print("확인 건수", count)</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`temperatures = [22.5, 24.0, 25.0]` | 점검할 온도 목록을 준비합니다. |</a:t>
            </a:r>
          </a:p>
          <a:p xmlns:a="http://schemas.openxmlformats.org/drawingml/2006/main">
            <a:r>
              <a:t>| 2 | `count = 0` | 아직 센 기록이 없어서 0으로 시작합니다. |</a:t>
            </a:r>
          </a:p>
          <a:p xmlns:a="http://schemas.openxmlformats.org/drawingml/2006/main">
            <a:r>
              <a:t>| 3 | `for temperature_c in temperatures:` | 각 온도를 차례로 확인합니다. |</a:t>
            </a:r>
          </a:p>
          <a:p xmlns:a="http://schemas.openxmlformats.org/drawingml/2006/main">
            <a:r>
              <a:t>| 4 | `    if temperature_c &gt; 24.0:` | 이번 온도가 기준을 초과했는지 묻습니다. |</a:t>
            </a:r>
          </a:p>
          <a:p xmlns:a="http://schemas.openxmlformats.org/drawingml/2006/main">
            <a:r>
              <a:t>| 5 | `        count = count + 1` | 조건이 참인 경우만 누적 개수를 하나 늘립니다. |</a:t>
            </a:r>
          </a:p>
          <a:p xmlns:a="http://schemas.openxmlformats.org/drawingml/2006/main">
            <a:r>
              <a:t>| 6 | `print("확인 건수", count)` | 모든 점검 뒤 최종 개수를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code/A15_example.py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work/A15_example.py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확인 건수 1</a:t>
            </a:r>
          </a:p>
          <a:p xmlns:a="http://schemas.openxmlformats.org/drawingml/2006/main">
            <a:r>
              <a:t>```</a:t>
            </a:r>
          </a:p>
          <a:p xmlns:a="http://schemas.openxmlformats.org/drawingml/2006/main">
            <a:r>
              <a:t/>
            </a:r>
          </a:p>
          <a:p xmlns:a="http://schemas.openxmlformats.org/drawingml/2006/main">
            <a:r>
              <a:t>작은 수정: `&gt; 24.0`를 `&gt;= 24.0`로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확인 건수 2</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각 차례의 온도·조건 결과·누적 count를 표로 씁니다.</a:t>
            </a:r>
          </a:p>
          <a:p xmlns:a="http://schemas.openxmlformats.org/drawingml/2006/main">
            <a:r>
              <a:t>2. 초과를 이상으로 바꾸었을 때 영향을 받는 값을 표시합니다.</a:t>
            </a:r>
          </a:p>
          <a:p xmlns:a="http://schemas.openxmlformats.org/drawingml/2006/main">
            <a:r>
              <a:t>3. 연산자 한 곳을 바꾸고 결과를 대조합니다.</a:t>
            </a:r>
          </a:p>
          <a:p xmlns:a="http://schemas.openxmlformats.org/drawingml/2006/main">
            <a:r>
              <a:t>4. count의 준비 위치를 반복 앞에 둔 이유를 설명합니다.</a:t>
            </a:r>
          </a:p>
          <a:p xmlns:a="http://schemas.openxmlformats.org/drawingml/2006/main">
            <a:r>
              <a:t/>
            </a:r>
          </a:p>
          <a:p xmlns:a="http://schemas.openxmlformats.org/drawingml/2006/main">
            <a:r>
              <a:t>예상 결과: 초과는 1건, 이상은 2건이며 경계값 24.0이 차이를 만듭니다.</a:t>
            </a:r>
          </a:p>
          <a:p xmlns:a="http://schemas.openxmlformats.org/drawingml/2006/main">
            <a:r>
              <a:t/>
            </a:r>
          </a:p>
          <a:p xmlns:a="http://schemas.openxmlformats.org/drawingml/2006/main">
            <a:r>
              <a:t>확인 질문: 한 번의 print인데 세 항목을 검사할 수 있는 이유는 무엇인가요?</a:t>
            </a:r>
          </a:p>
          <a:p xmlns:a="http://schemas.openxmlformats.org/drawingml/2006/main">
            <a:r>
              <a:t/>
            </a:r>
          </a:p>
          <a:p xmlns:a="http://schemas.openxmlformats.org/drawingml/2006/main">
            <a:r>
              <a:t>막혔을 때: 건수가 항상 0 또는 1이면 초기화 위치와 누적 줄의 들여쓰기를 확인합니다.</a:t>
            </a:r>
          </a:p>
          <a:p xmlns:a="http://schemas.openxmlformats.org/drawingml/2006/main">
            <a:r>
              <a:t/>
            </a:r>
          </a:p>
          <a:p xmlns:a="http://schemas.openxmlformats.org/drawingml/2006/main">
            <a:r>
              <a:t>[활동 자료와 작성칸](practice-guide.md#a15--반복-안에서-조건-확인과-개수-세기)에서 A15를 엽니다.</a:t>
            </a:r>
          </a:p>
          <a:p xmlns:a="http://schemas.openxmlformats.org/drawingml/2006/main">
            <a:r>
              <a:t/>
            </a:r>
          </a:p>
          <a:p xmlns:a="http://schemas.openxmlformats.org/drawingml/2006/main">
            <a:r>
              <a:t># 6구간 · 작은 점검 프로그램</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https://zeusk302-png.github.io/kdigital-physical-ai/#/sessions/2026-10-14/lesson?activity=A15</a:t>
            </a:r>
          </a:p>
          <a:p xmlns:a="http://schemas.openxmlformats.org/drawingml/2006/main">
            <a:r>
              <a:t>공식 자료: https://docs.python.org/3/tutorial/controlflow.html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세 배송 상자의 무게가 순서대로 2, 5, 1kg입니다. 목록은 여러 값을 정해진 순서로 묶는 방법입니다. Python의 리스트에서 첫 위치 번호는 0이고 두 번째는 1, 세 번째는 2입니다. 위치 번호는 상자 이름이 아니라 그 목록 안의 순서이므로 정렬하거나 삽입하면 달라질 수 있습니다. 길이 3은 항목 수이며 마지막 위치 번호는 2입니다. 3번째 위치라고 생각해 번호 3으로 읽으면 없는 칸을 찾는 오류가 생깁니다.</a:t>
            </a:r>
          </a:p>
          <a:p xmlns:a="http://schemas.openxmlformats.org/drawingml/2006/main">
            <a:r>
              <a:t/>
            </a:r>
          </a:p>
          <a:p xmlns:a="http://schemas.openxmlformats.org/drawingml/2006/main">
            <a:r>
              <a:t>각 상자의 무게를 합하려면 반복문으로 한 항목씩 읽고 합계의 현재 값을 갱신합니다. 합계는 반복 전에 0으로 시작합니다. 첫 바퀴는 현재 합계 0에 2를 더해 2, 두 번째는 2에 5를 더해 7, 세 번째는 7에 1을 더해 8입니다. 손 추적표에는 바퀴·현재 항목·변경 전 합계·변경 후 합계를 씁니다. 반복 끝의 총합은 8kg입니다. 반복 안에서 매번 합계를 0으로 다시 만들면 2→5→1처럼 마지막 상자만 남을 수 있습니다.</a:t>
            </a:r>
          </a:p>
          <a:p xmlns:a="http://schemas.openxmlformats.org/drawingml/2006/main">
            <a:r>
              <a:t/>
            </a:r>
          </a:p>
          <a:p xmlns:a="http://schemas.openxmlformats.org/drawingml/2006/main">
            <a:r>
              <a:t>또 다른 질문은 ‘4kg 초과인 상자가 몇 개인가’입니다. 첫 2는 조건 거짓이라 건수 0, 다음 5는 참이라 건수 1, 마지막 1은 거짓이라 건수 1입니다. 총무게 8과 초과 상자 수 1은 서로 다른 결과입니다. 누적하는 대상이 무게인지 참인 항목의 개수인지 먼저 정합니다. 반복 본문을 들여쓰는 것은 같은 일을 각 항목에 적용한다는 표시입니다. 완료 안내가 반복 안에 있으면 상자마다 나오고 밖에 있으면 끝에 한 번 나옵니다. 목록이 비어 있으면 바퀴가 없으므로 합계의 초기값과 완료 안내의 위치를 그대로 추적합니다.</a:t>
            </a:r>
          </a:p>
          <a:p xmlns:a="http://schemas.openxmlformats.org/drawingml/2006/main">
            <a:r>
              <a:t/>
            </a:r>
          </a:p>
          <a:p xmlns:a="http://schemas.openxmlformats.org/drawingml/2006/main">
            <a:r>
              <a:t>화면 예의 출처: D:/KDigital_PhysicalAI/.build/copyedited-ppt/spec-2026-10-14.json#slide-78;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https://docs.python.org/3/tutorial/controlflow.html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세 배송 상자의 무게가 순서대로 2, 5, 1kg입니다. 목록은 여러 값을 정해진 순서로 묶는 방법입니다. Python의 리스트에서 첫 위치 번호는 0이고 두 번째는 1, 세 번째는 2입니다. 위치 번호는 상자 이름이 아니라 그 목록 안의 순서이므로 정렬하거나 삽입하면 달라질 수 있습니다. 길이 3은 항목 수이며 마지막 위치 번호는 2입니다. 3번째 위치라고 생각해 번호 3으로 읽으면 없는 칸을 찾는 오류가 생깁니다.</a:t>
            </a:r>
          </a:p>
          <a:p xmlns:a="http://schemas.openxmlformats.org/drawingml/2006/main">
            <a:r>
              <a:t/>
            </a:r>
          </a:p>
          <a:p xmlns:a="http://schemas.openxmlformats.org/drawingml/2006/main">
            <a:r>
              <a:t>각 상자의 무게를 합하려면 반복문으로 한 항목씩 읽고 합계의 현재 값을 갱신합니다. 합계는 반복 전에 0으로 시작합니다. 첫 바퀴는 현재 합계 0에 2를 더해 2, 두 번째는 2에 5를 더해 7, 세 번째는 7에 1을 더해 8입니다. 손 추적표에는 바퀴·현재 항목·변경 전 합계·변경 후 합계를 씁니다. 반복 끝의 총합은 8kg입니다. 반복 안에서 매번 합계를 0으로 다시 만들면 2→5→1처럼 마지막 상자만 남을 수 있습니다.</a:t>
            </a:r>
          </a:p>
          <a:p xmlns:a="http://schemas.openxmlformats.org/drawingml/2006/main">
            <a:r>
              <a:t/>
            </a:r>
          </a:p>
          <a:p xmlns:a="http://schemas.openxmlformats.org/drawingml/2006/main">
            <a:r>
              <a:t>또 다른 질문은 ‘4kg 초과인 상자가 몇 개인가’입니다. 첫 2는 조건 거짓이라 건수 0, 다음 5는 참이라 건수 1, 마지막 1은 거짓이라 건수 1입니다. 총무게 8과 초과 상자 수 1은 서로 다른 결과입니다. 누적하는 대상이 무게인지 참인 항목의 개수인지 먼저 정합니다. 반복 본문을 들여쓰는 것은 같은 일을 각 항목에 적용한다는 표시입니다. 완료 안내가 반복 안에 있으면 상자마다 나오고 밖에 있으면 끝에 한 번 나옵니다. 목록이 비어 있으면 바퀴가 없으므로 합계의 초기값과 완료 안내의 위치를 그대로 추적합니다.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https://docs.python.org/3/tutorial/controlflow.html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주문별 수량 목록은 3, 0, 7, 2입니다. 총수량과 2개 초과 주문 수를 각각 손 추적표로 구하세요. 길이와 마지막 위치 번호, 빈 목록일 때 두 결과도 적으세요.</a:t>
            </a:r>
          </a:p>
          <a:p xmlns:a="http://schemas.openxmlformats.org/drawingml/2006/main">
            <a:r>
              <a:t/>
            </a:r>
          </a:p>
          <a:p xmlns:a="http://schemas.openxmlformats.org/drawingml/2006/main">
            <a:r>
              <a:t>학생이 먼저 답을 적은 뒤 풀이를 보여 줍니다. 이 문제는 필수 활동을 마친 뒤 추가로 사용합니다.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https://docs.python.org/3/tutorial/controlflow.html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총수량은 12개이고 초과 주문은 3과 7 두 건입니다. 길이 4, 마지막 번호 3입니다. 빈 목록은 초기 합계 0·건수 0을 유지합니다. 0을 오류라고 임의 삭제하거나 수량 합 12를 주문 건수로 쓰면 서로 다른 질문을 혼동한 것입니다.</a:t>
            </a:r>
          </a:p>
          <a:p xmlns:a="http://schemas.openxmlformats.org/drawingml/2006/main">
            <a:r>
              <a:t/>
            </a:r>
          </a:p>
          <a:p xmlns:a="http://schemas.openxmlformats.org/drawingml/2006/main">
            <a:r>
              <a:t>핵심 질문과 해설:</a:t>
            </a:r>
          </a:p>
          <a:p xmlns:a="http://schemas.openxmlformats.org/drawingml/2006/main">
            <a:r>
              <a:t>첫 위치가 왜 0인가요? Python 리스트가 정한 위치 번호 약속이므로 실제 목록을 그 규칙으로 읽습니다.</a:t>
            </a:r>
          </a:p>
          <a:p xmlns:a="http://schemas.openxmlformats.org/drawingml/2006/main">
            <a:r>
              <a:t>합계 초기화는 어디에 놓나요? 이전 바퀴 결과를 유지하도록 반복 전에 한 번 놓습니다.</a:t>
            </a:r>
          </a:p>
          <a:p xmlns:a="http://schemas.openxmlformats.org/drawingml/2006/main">
            <a:r>
              <a:t>길이 4이면 번호 4를 읽나요? 마지막 번호는 3이며 번호 4는 범위 밖입니다.</a:t>
            </a:r>
          </a:p>
          <a:p xmlns:a="http://schemas.openxmlformats.org/drawingml/2006/main">
            <a:r>
              <a:t/>
            </a:r>
          </a:p>
          <a:p xmlns:a="http://schemas.openxmlformats.org/drawingml/2006/main">
            <a:r>
              <a:t>화면 예의 출처: D:/KDigital_PhysicalAI/.build/copyedited-ppt/spec-2026-10-14.json#slide-79;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https://docs.python.org/3/tutorial/controlflow.html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A15 상세 원문]</a:t>
            </a:r>
          </a:p>
          <a:p xmlns:a="http://schemas.openxmlformats.org/drawingml/2006/main">
            <a:r>
              <a:t>**개념.** 반복 안에 조건을 넣으면 각 항목에 같은 판단을 적용할 수 있습니다. 개수를 세는 이름은 반복 전에 0으로 준비하고 조건을 만족할 때 1씩 더합니다.</a:t>
            </a:r>
          </a:p>
          <a:p xmlns:a="http://schemas.openxmlformats.org/drawingml/2006/main">
            <a:r>
              <a:t/>
            </a:r>
          </a:p>
          <a:p xmlns:a="http://schemas.openxmlformats.org/drawingml/2006/main">
            <a:r>
              <a:t>**왜 필요한가.** 어떤 기록이 기준을 넘었는지와 전체 몇 건인지 함께 확인할 수 있습니다. 초기화를 반복 안에 넣으면 매번 0으로 돌아가므로 준비 위치가 결과에 영향을 줍니다.</a:t>
            </a:r>
          </a:p>
          <a:p xmlns:a="http://schemas.openxmlformats.org/drawingml/2006/main">
            <a:r>
              <a:t/>
            </a:r>
          </a:p>
          <a:p xmlns:a="http://schemas.openxmlformats.org/drawingml/2006/main">
            <a:r>
              <a:t>**함께 보는 예.** 22.5, 24.0, 25.0에서 ‘24.0 초과’는 마지막 한 건입니다. 24.0은 같은 값이므로 포함하지 않습니다. &gt;를 &gt;=로 바꾸면 두 건이 됩니다.</a:t>
            </a:r>
          </a:p>
          <a:p xmlns:a="http://schemas.openxmlformats.org/drawingml/2006/main">
            <a:r>
              <a:t/>
            </a:r>
          </a:p>
          <a:p xmlns:a="http://schemas.openxmlformats.org/drawingml/2006/main">
            <a:r>
              <a:t>**헷갈리는 경우.** count = count + 1은 새 값을 누적하는 대입입니다. 반복 안에서 count = 0을 매번 실행하면 이전 차례의 누적을 잃습니다.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temperatures = [22.5, 24.0, 25.0]</a:t>
            </a:r>
          </a:p>
          <a:p xmlns:a="http://schemas.openxmlformats.org/drawingml/2006/main">
            <a:r>
              <a:t>count = 0</a:t>
            </a:r>
          </a:p>
          <a:p xmlns:a="http://schemas.openxmlformats.org/drawingml/2006/main">
            <a:r>
              <a:t>for temperature_c in temperatures:</a:t>
            </a:r>
          </a:p>
          <a:p xmlns:a="http://schemas.openxmlformats.org/drawingml/2006/main">
            <a:r>
              <a:t>    if temperature_c &gt; 24.0:</a:t>
            </a:r>
          </a:p>
          <a:p xmlns:a="http://schemas.openxmlformats.org/drawingml/2006/main">
            <a:r>
              <a:t>        count = count + 1</a:t>
            </a:r>
          </a:p>
          <a:p xmlns:a="http://schemas.openxmlformats.org/drawingml/2006/main">
            <a:r>
              <a:t>print("확인 건수", count)</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`temperatures = [22.5, 24.0, 25.0]` | 점검할 온도 목록을 준비합니다. |</a:t>
            </a:r>
          </a:p>
          <a:p xmlns:a="http://schemas.openxmlformats.org/drawingml/2006/main">
            <a:r>
              <a:t>| 2 | `count = 0` | 아직 센 기록이 없어서 0으로 시작합니다. |</a:t>
            </a:r>
          </a:p>
          <a:p xmlns:a="http://schemas.openxmlformats.org/drawingml/2006/main">
            <a:r>
              <a:t>| 3 | `for temperature_c in temperatures:` | 각 온도를 차례로 확인합니다. |</a:t>
            </a:r>
          </a:p>
          <a:p xmlns:a="http://schemas.openxmlformats.org/drawingml/2006/main">
            <a:r>
              <a:t>| 4 | `    if temperature_c &gt; 24.0:` | 이번 온도가 기준을 초과했는지 묻습니다. |</a:t>
            </a:r>
          </a:p>
          <a:p xmlns:a="http://schemas.openxmlformats.org/drawingml/2006/main">
            <a:r>
              <a:t>| 5 | `        count = count + 1` | 조건이 참인 경우만 누적 개수를 하나 늘립니다. |</a:t>
            </a:r>
          </a:p>
          <a:p xmlns:a="http://schemas.openxmlformats.org/drawingml/2006/main">
            <a:r>
              <a:t>| 6 | `print("확인 건수", count)` | 모든 점검 뒤 최종 개수를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code/A15_example.py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work/A15_example.py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확인 건수 1</a:t>
            </a:r>
          </a:p>
          <a:p xmlns:a="http://schemas.openxmlformats.org/drawingml/2006/main">
            <a:r>
              <a:t>```</a:t>
            </a:r>
          </a:p>
          <a:p xmlns:a="http://schemas.openxmlformats.org/drawingml/2006/main">
            <a:r>
              <a:t/>
            </a:r>
          </a:p>
          <a:p xmlns:a="http://schemas.openxmlformats.org/drawingml/2006/main">
            <a:r>
              <a:t>작은 수정: `&gt; 24.0`를 `&gt;= 24.0`로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확인 건수 2</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각 차례의 온도·조건 결과·누적 count를 표로 씁니다.</a:t>
            </a:r>
          </a:p>
          <a:p xmlns:a="http://schemas.openxmlformats.org/drawingml/2006/main">
            <a:r>
              <a:t>2. 초과를 이상으로 바꾸었을 때 영향을 받는 값을 표시합니다.</a:t>
            </a:r>
          </a:p>
          <a:p xmlns:a="http://schemas.openxmlformats.org/drawingml/2006/main">
            <a:r>
              <a:t>3. 연산자 한 곳을 바꾸고 결과를 대조합니다.</a:t>
            </a:r>
          </a:p>
          <a:p xmlns:a="http://schemas.openxmlformats.org/drawingml/2006/main">
            <a:r>
              <a:t>4. count의 준비 위치를 반복 앞에 둔 이유를 설명합니다.</a:t>
            </a:r>
          </a:p>
          <a:p xmlns:a="http://schemas.openxmlformats.org/drawingml/2006/main">
            <a:r>
              <a:t/>
            </a:r>
          </a:p>
          <a:p xmlns:a="http://schemas.openxmlformats.org/drawingml/2006/main">
            <a:r>
              <a:t>예상 결과: 초과는 1건, 이상은 2건이며 경계값 24.0이 차이를 만듭니다.</a:t>
            </a:r>
          </a:p>
          <a:p xmlns:a="http://schemas.openxmlformats.org/drawingml/2006/main">
            <a:r>
              <a:t/>
            </a:r>
          </a:p>
          <a:p xmlns:a="http://schemas.openxmlformats.org/drawingml/2006/main">
            <a:r>
              <a:t>확인 질문: 한 번의 print인데 세 항목을 검사할 수 있는 이유는 무엇인가요?</a:t>
            </a:r>
          </a:p>
          <a:p xmlns:a="http://schemas.openxmlformats.org/drawingml/2006/main">
            <a:r>
              <a:t/>
            </a:r>
          </a:p>
          <a:p xmlns:a="http://schemas.openxmlformats.org/drawingml/2006/main">
            <a:r>
              <a:t>막혔을 때: 건수가 항상 0 또는 1이면 초기화 위치와 누적 줄의 들여쓰기를 확인합니다.</a:t>
            </a:r>
          </a:p>
          <a:p xmlns:a="http://schemas.openxmlformats.org/drawingml/2006/main">
            <a:r>
              <a:t/>
            </a:r>
          </a:p>
          <a:p xmlns:a="http://schemas.openxmlformats.org/drawingml/2006/main">
            <a:r>
              <a:t>[활동 자료와 작성칸](practice-guide.md#a15--반복-안에서-조건-확인과-개수-세기)에서 A15를 엽니다.</a:t>
            </a:r>
          </a:p>
          <a:p xmlns:a="http://schemas.openxmlformats.org/drawingml/2006/main">
            <a:r>
              <a:t/>
            </a:r>
          </a:p>
          <a:p xmlns:a="http://schemas.openxmlformats.org/drawingml/2006/main">
            <a:r>
              <a:t># 6구간 · 작은 점검 프로그램</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https://zeusk302-png.github.io/kdigital-physical-ai/#/sessions/2026-10-14/lesson?activity=A15</a:t>
            </a:r>
          </a:p>
          <a:p xmlns:a="http://schemas.openxmlformats.org/drawingml/2006/main">
            <a:r>
              <a:t>공식 자료: https://docs.python.org/3/tutorial/controlflow.html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초기 합계와 건수는 반복 전에 둡니다.</a:t>
            </a:r>
          </a:p>
          <a:p xmlns:a="http://schemas.openxmlformats.org/drawingml/2006/main">
            <a:r>
              <a:t>총수량과 해당 주문 수는 다른 질문입니다.</a:t>
            </a:r>
          </a:p>
          <a:p xmlns:a="http://schemas.openxmlformats.org/drawingml/2006/main">
            <a:r>
              <a:t>반복 안팎의 들여쓰기를 확인합니다.</a:t>
            </a:r>
          </a:p>
          <a:p xmlns:a="http://schemas.openxmlformats.org/drawingml/2006/main">
            <a:r>
              <a:t/>
            </a:r>
          </a:p>
          <a:p xmlns:a="http://schemas.openxmlformats.org/drawingml/2006/main">
            <a:r>
              <a:t>관련 교시의 상세 원문:</a:t>
            </a:r>
          </a:p>
          <a:p xmlns:a="http://schemas.openxmlformats.org/drawingml/2006/main">
            <a:r>
              <a:t>### 사례로 이해하기 · 목록의 위치와 반복 누적을 함께 추적하기</a:t>
            </a:r>
          </a:p>
          <a:p xmlns:a="http://schemas.openxmlformats.org/drawingml/2006/main">
            <a:r>
              <a:t/>
            </a:r>
          </a:p>
          <a:p xmlns:a="http://schemas.openxmlformats.org/drawingml/2006/main">
            <a:r>
              <a:t/>
            </a:r>
          </a:p>
          <a:p xmlns:a="http://schemas.openxmlformats.org/drawingml/2006/main">
            <a:r>
              <a:t/>
            </a:r>
          </a:p>
          <a:p xmlns:a="http://schemas.openxmlformats.org/drawingml/2006/main">
            <a:r>
              <a:t>세 배송 상자의 무게가 순서대로 2, 5, 1kg입니다. 목록은 여러 값을 정해진 순서로 묶는 방법입니다. Python의 리스트에서 첫 위치 번호는 0이고 두 번째는 1, 세 번째는 2입니다. 위치 번호는 상자 이름이 아니라 그 목록 안의 순서이므로 정렬하거나 삽입하면 달라질 수 있습니다. 길이 3은 항목 수이며 마지막 위치 번호는 2입니다. 3번째 위치라고 생각해 번호 3으로 읽으면 없는 칸을 찾는 오류가 생깁니다.</a:t>
            </a:r>
          </a:p>
          <a:p xmlns:a="http://schemas.openxmlformats.org/drawingml/2006/main">
            <a:r>
              <a:t/>
            </a:r>
          </a:p>
          <a:p xmlns:a="http://schemas.openxmlformats.org/drawingml/2006/main">
            <a:r>
              <a:t>각 상자의 무게를 합하려면 반복문으로 한 항목씩 읽고 합계의 현재 값을 갱신합니다. 합계는 반복 전에 0으로 시작합니다. 첫 바퀴는 현재 합계 0에 2를 더해 2, 두 번째는 2에 5를 더해 7, 세 번째는 7에 1을 더해 8입니다. 손 추적표에는 바퀴·현재 항목·변경 전 합계·변경 후 합계를 씁니다. 반복 끝의 총합은 8kg입니다. 반복 안에서 매번 합계를 0으로 다시 만들면 2→5→1처럼 마지막 상자만 남을 수 있습니다.</a:t>
            </a:r>
          </a:p>
          <a:p xmlns:a="http://schemas.openxmlformats.org/drawingml/2006/main">
            <a:r>
              <a:t/>
            </a:r>
          </a:p>
          <a:p xmlns:a="http://schemas.openxmlformats.org/drawingml/2006/main">
            <a:r>
              <a:t>또 다른 질문은 ‘4kg 초과인 상자가 몇 개인가’입니다. 첫 2는 조건 거짓이라 건수 0, 다음 5는 참이라 건수 1, 마지막 1은 거짓이라 건수 1입니다. 총무게 8과 초과 상자 수 1은 서로 다른 결과입니다. 누적하는 대상이 무게인지 참인 항목의 개수인지 먼저 정합니다. 반복 본문을 들여쓰는 것은 같은 일을 각 항목에 적용한다는 표시입니다. 완료 안내가 반복 안에 있으면 상자마다 나오고 밖에 있으면 끝에 한 번 나옵니다. 목록이 비어 있으면 바퀴가 없으므로 합계의 초기값과 완료 안내의 위치를 그대로 추적합니다.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주문별 수량 목록은 3, 0, 7, 2입니다. 총수량과 2개 초과 주문 수를 각각 손 추적표로 구하세요. 길이와 마지막 위치 번호, 빈 목록일 때 두 결과도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총수량은 12개이고 초과 주문은 3과 7 두 건입니다. 길이 4, 마지막 번호 3입니다. 빈 목록은 초기 합계 0·건수 0을 유지합니다. 0을 오류라고 임의 삭제하거나 수량 합 12를 주문 건수로 쓰면 서로 다른 질문을 혼동한 것입니다.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**첫 위치가 왜 0인가요?** Python 리스트가 정한 위치 번호 약속이므로 실제 목록을 그 규칙으로 읽습니다.</a:t>
            </a:r>
          </a:p>
          <a:p xmlns:a="http://schemas.openxmlformats.org/drawingml/2006/main">
            <a:r>
              <a:t/>
            </a:r>
          </a:p>
          <a:p xmlns:a="http://schemas.openxmlformats.org/drawingml/2006/main">
            <a:r>
              <a:t>2. **합계 초기화는 어디에 놓나요?** 이전 바퀴 결과를 유지하도록 반복 전에 한 번 놓습니다.</a:t>
            </a:r>
          </a:p>
          <a:p xmlns:a="http://schemas.openxmlformats.org/drawingml/2006/main">
            <a:r>
              <a:t/>
            </a:r>
          </a:p>
          <a:p xmlns:a="http://schemas.openxmlformats.org/drawingml/2006/main">
            <a:r>
              <a:t>3. **길이 4이면 번호 4를 읽나요?** 마지막 번호는 3이며 번호 4는 범위 밖입니다.</a:t>
            </a:r>
          </a:p>
          <a:p xmlns:a="http://schemas.openxmlformats.org/drawingml/2006/main">
            <a:r>
              <a:t/>
            </a:r>
          </a:p>
          <a:p xmlns:a="http://schemas.openxmlformats.org/drawingml/2006/main">
            <a:r>
              <a:t/>
            </a:r>
          </a:p>
          <a:p xmlns:a="http://schemas.openxmlformats.org/drawingml/2006/main">
            <a:r>
              <a:t>**개념.** 리스트는 여러 값을 순서대로 묶는 Python 자료구조입니다. 대괄호로 묶고 쉼표로 항목을 나눕니다. 위치 번호는 0부터 시작하며 len은 항목 개수를 돌려줍니다.</a:t>
            </a:r>
          </a:p>
          <a:p xmlns:a="http://schemas.openxmlformats.org/drawingml/2006/main">
            <a:r>
              <a:t/>
            </a:r>
          </a:p>
          <a:p xmlns:a="http://schemas.openxmlformats.org/drawingml/2006/main">
            <a:r>
              <a:t>**왜 필요한가.** 측정값이 세 개에서 네 개로 늘어날 때 이름을 계속 만드는 대신 하나의 목록으로 다룰 수 있습니다. 10/8에 읽었던 순서 구조를 직접 작은 값 수정으로 연결합니다.</a:t>
            </a:r>
          </a:p>
          <a:p xmlns:a="http://schemas.openxmlformats.org/drawingml/2006/main">
            <a:r>
              <a:t/>
            </a:r>
          </a:p>
          <a:p xmlns:a="http://schemas.openxmlformats.org/drawingml/2006/main">
            <a:r>
              <a:t>**함께 보는 예.** temperatures[0]은 첫 값 22.5이고 len은 3입니다. 마지막 위치 번호는 2이지 3이 아닙니다. 개수와 위치 번호를 서로 다른 질문으로 적습니다.</a:t>
            </a:r>
          </a:p>
          <a:p xmlns:a="http://schemas.openxmlformats.org/drawingml/2006/main">
            <a:r>
              <a:t/>
            </a:r>
          </a:p>
          <a:p xmlns:a="http://schemas.openxmlformats.org/drawingml/2006/main">
            <a:r>
              <a:t>**헷갈리는 경우.** [22.5, 24.0]은 두 값의 목록이고 "22.5, 24.0"은 쉼표가 들어 있는 문자열입니다. 겉에 어떤 괄호나 따옴표가 있는지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temperatures = [22.5, 24.0, 23.5]</a:t>
            </a:r>
          </a:p>
          <a:p xmlns:a="http://schemas.openxmlformats.org/drawingml/2006/main">
            <a:r>
              <a:t>print(temperatures[0])</a:t>
            </a:r>
          </a:p>
          <a:p xmlns:a="http://schemas.openxmlformats.org/drawingml/2006/main">
            <a:r>
              <a:t>print(len(temperatures))</a:t>
            </a:r>
          </a:p>
          <a:p xmlns:a="http://schemas.openxmlformats.org/drawingml/2006/main">
            <a:r>
              <a:t>temperatures.append(25.0)</a:t>
            </a:r>
          </a:p>
          <a:p xmlns:a="http://schemas.openxmlformats.org/drawingml/2006/main">
            <a:r>
              <a:t>print(len(temperatures))</a:t>
            </a:r>
          </a:p>
          <a:p xmlns:a="http://schemas.openxmlformats.org/drawingml/2006/main">
            <a:r>
              <a:t>print(temperatures[3])</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`temperatures = [22.5, 24.0, 23.5]` | 온도 세 개를 순서대로 묶습니다. |</a:t>
            </a:r>
          </a:p>
          <a:p xmlns:a="http://schemas.openxmlformats.org/drawingml/2006/main">
            <a:r>
              <a:t>| 2 | `print(temperatures[0])` | 첫 값을 읽습니다. |</a:t>
            </a:r>
          </a:p>
          <a:p xmlns:a="http://schemas.openxmlformats.org/drawingml/2006/main">
            <a:r>
              <a:t>| 3 | `print(len(temperatures))` | 현재 개수를 출력합니다. |</a:t>
            </a:r>
          </a:p>
          <a:p xmlns:a="http://schemas.openxmlformats.org/drawingml/2006/main">
            <a:r>
              <a:t>| 4 | `temperatures.append(25.0)` | 목록 끝에 새 값을 덧붙입니다. |</a:t>
            </a:r>
          </a:p>
          <a:p xmlns:a="http://schemas.openxmlformats.org/drawingml/2006/main">
            <a:r>
              <a:t>| 5 | `print(len(temperatures))` | 추가 뒤 개수를 확인합니다. |</a:t>
            </a:r>
          </a:p>
          <a:p xmlns:a="http://schemas.openxmlformats.org/drawingml/2006/main">
            <a:r>
              <a:t>| 6 | `print(temperatures[3])` | 네 번째 값을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3</a:t>
            </a:r>
          </a:p>
          <a:p xmlns:a="http://schemas.openxmlformats.org/drawingml/2006/main">
            <a:r>
              <a:t>4</a:t>
            </a:r>
          </a:p>
          <a:p xmlns:a="http://schemas.openxmlformats.org/drawingml/2006/main">
            <a:r>
              <a:t>25.0</a:t>
            </a:r>
          </a:p>
          <a:p xmlns:a="http://schemas.openxmlformats.org/drawingml/2006/main">
            <a:r>
              <a:t>```</a:t>
            </a:r>
          </a:p>
          <a:p xmlns:a="http://schemas.openxmlformats.org/drawingml/2006/main">
            <a:r>
              <a:t/>
            </a:r>
          </a:p>
          <a:p xmlns:a="http://schemas.openxmlformats.org/drawingml/2006/main">
            <a:r>
              <a:t>작은 수정: `append(25.0)`를 `append(26.0)`로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3</a:t>
            </a:r>
          </a:p>
          <a:p xmlns:a="http://schemas.openxmlformats.org/drawingml/2006/main">
            <a:r>
              <a:t>4</a:t>
            </a:r>
          </a:p>
          <a:p xmlns:a="http://schemas.openxmlformats.org/drawingml/2006/main">
            <a:r>
              <a:t>26.0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추가 전과 후의 목록을 종이에 그립니다.</a:t>
            </a:r>
          </a:p>
          <a:p xmlns:a="http://schemas.openxmlformats.org/drawingml/2006/main">
            <a:r>
              <a:t>2. 각 위치 번호와 개수를 따로 표시합니다.</a:t>
            </a:r>
          </a:p>
          <a:p xmlns:a="http://schemas.openxmlformats.org/drawingml/2006/main">
            <a:r>
              <a:t>3. 추가할 값을 26.0으로 바꾸고 출력 변화를 예상합니다.</a:t>
            </a:r>
          </a:p>
          <a:p xmlns:a="http://schemas.openxmlformats.org/drawingml/2006/main">
            <a:r>
              <a:t>4. 아직 없는 위치를 읽는 오류 사례를 설명합니다.</a:t>
            </a:r>
          </a:p>
          <a:p xmlns:a="http://schemas.openxmlformats.org/drawingml/2006/main">
            <a:r>
              <a:t/>
            </a:r>
          </a:p>
          <a:p xmlns:a="http://schemas.openxmlformats.org/drawingml/2006/main">
            <a:r>
              <a:t>예상 결과: 추가 후 개수 4, 마지막 값 26.0. 기존 첫 값은 유지됩니다.</a:t>
            </a:r>
          </a:p>
          <a:p xmlns:a="http://schemas.openxmlformats.org/drawingml/2006/main">
            <a:r>
              <a:t/>
            </a:r>
          </a:p>
          <a:p xmlns:a="http://schemas.openxmlformats.org/drawingml/2006/main">
            <a:r>
              <a:t>확인 질문: 값 하나를 수정하는 것과 append로 추가하는 것은 개수에 어떤 차이가 있나요?</a:t>
            </a:r>
          </a:p>
          <a:p xmlns:a="http://schemas.openxmlformats.org/drawingml/2006/main">
            <a:r>
              <a:t/>
            </a:r>
          </a:p>
          <a:p xmlns:a="http://schemas.openxmlformats.org/drawingml/2006/main">
            <a:r>
              <a:t>막혔을 때: IndexError가 나면 읽는 시점의 목록 길이와 위치 번호를 확인합니다. 뒤에서 추가된다고 앞에서 이미 존재하는 것은 아닙니다.</a:t>
            </a:r>
          </a:p>
          <a:p xmlns:a="http://schemas.openxmlformats.org/drawingml/2006/main">
            <a:r>
              <a:t/>
            </a:r>
          </a:p>
          <a:p xmlns:a="http://schemas.openxmlformats.org/drawingml/2006/main">
            <a:r>
              <a:t>[활동 자료와 작성칸](practice-guide.md#a13--리스트와-위치로-여러-값-담기)에서 A13를 엽니다.</a:t>
            </a:r>
          </a:p>
          <a:p xmlns:a="http://schemas.openxmlformats.org/drawingml/2006/main">
            <a:r>
              <a:t/>
            </a:r>
          </a:p>
          <a:p xmlns:a="http://schemas.openxmlformats.org/drawingml/2006/main">
            <a:r>
              <a:t>화면 예의 출처: D:/KDigital_PhysicalAI/.build/copyedited-ppt/spec-2026-10-14.json#slide-76;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https://docs.python.org/3/tutorial/controlflow.html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강사가 먼저 예를 보여 준 뒤 학생과 함께 확인합니다. 학생이 직접 해 본 결과를 예상과 비교하고, 달라진 이유를 설명하게 합니다.</a:t>
            </a:r>
          </a:p>
          <a:p xmlns:a="http://schemas.openxmlformats.org/drawingml/2006/main">
            <a:r>
              <a:t/>
            </a:r>
          </a:p>
          <a:p xmlns:a="http://schemas.openxmlformats.org/drawingml/2006/main">
            <a:r>
              <a:t>[활동 A16 상세 원문]</a:t>
            </a:r>
          </a:p>
          <a:p xmlns:a="http://schemas.openxmlformats.org/drawingml/2006/main">
            <a:r>
              <a:t>### 사례로 이해하기 · 한 기록의 이름표를 지키며 상태표 만들기</a:t>
            </a:r>
          </a:p>
          <a:p xmlns:a="http://schemas.openxmlformats.org/drawingml/2006/main">
            <a:r>
              <a:t/>
            </a:r>
          </a:p>
          <a:p xmlns:a="http://schemas.openxmlformats.org/drawingml/2006/main">
            <a:r>
              <a:t/>
            </a:r>
          </a:p>
          <a:p xmlns:a="http://schemas.openxmlformats.org/drawingml/2006/main">
            <a:r>
              <a:t/>
            </a:r>
          </a:p>
          <a:p xmlns:a="http://schemas.openxmlformats.org/drawingml/2006/main">
            <a:r>
              <a:t>점검 기록 세 건에 장치명과 온도가 함께 있습니다. 순서대로 D01은 18℃, D02는 미확인, D03은 26℃입니다. 온도만 따로 출력하면 어느 장치의 값인지 잃습니다. 한 관찰을 이름표가 붙은 값 묶음, 즉 딕셔너리로 만들고 여러 관찰을 리스트로 모읍니다. 바깥 목록은 기록들을 차례로 묶고 안쪽 이름표는 같은 기록의 항목을 구별합니다. 위치 번호와 항목 이름은 찾는 방식이 다르므로 두 겹 구조를 분리해서 봅니다.</a:t>
            </a:r>
          </a:p>
          <a:p xmlns:a="http://schemas.openxmlformats.org/drawingml/2006/main">
            <a:r>
              <a:t/>
            </a:r>
          </a:p>
          <a:p xmlns:a="http://schemas.openxmlformats.org/drawingml/2006/main">
            <a:r>
              <a:t>완성 원문은 D01/18, D02/None, D03/26 세 기록입니다. 수업용 기준은 ‘온도가 25℃ 초과이면 확인, 그 외 숫자는 정상, 미확인은 미측정’입니다. 첫 기록에서 장치명 D01과 숫자 18을 꺼내고 None인지 먼저 묻습니다. 아니므로 18&gt;25를 확인해 정상으로 표시합니다. 둘째는 None이라 미측정으로 표시하고 숫자 비교를 하지 않습니다. 셋째는 26&gt;25가 참이므로 확인입니다. 최종 세 줄은 D01 정상, D02 미측정, D03 확인입니다.</a:t>
            </a:r>
          </a:p>
          <a:p xmlns:a="http://schemas.openxmlformats.org/drawingml/2006/main">
            <a:r>
              <a:t/>
            </a:r>
          </a:p>
          <a:p xmlns:a="http://schemas.openxmlformats.org/drawingml/2006/main">
            <a:r>
              <a:t>이름표 temperature_c와 temperature는 비슷한 뜻이어도 다른 키입니다. 없는 이름표를 직접 찾으면 KeyError가 발생할 수 있습니다. 오류가 없어지도록 임의로 새 키를 만들기 전에 원자료와 약속한 헤더를 비교합니다. 같은 장치가 다른 시각에 다시 측정되면 기록이 하나 더 생길 수 있으므로 장치명만으로 중복 삭제하지 않습니다. 오늘의 상태 프로그램은 제공 숫자를 기준과 비교할 뿐 실제 센서 고장이나 안전을 확정하지 않습니다. 새 입력을 넘길 때 기록의 출처·기준·미확인 처리·예상 결과를 함께 적어 다음 사람이 같은 판단을 재현할 수 있게 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세 물품 P01 수량 0, P02 수량 미확인, P03 수량 2를 대상으로 ‘2개 이하이면 주문 요청’ 상태표를 새로 설계하세요. 물품번호와 수량의 이름표, 미확인 갈래를 먼저 정하고 세 줄을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이름표는 예를 들어 product_id와 quantity입니다. P01·P03은 주문 요청, P02는 수량 확인입니다. 0은 실제 수량이라 포함하고 None은 비교 전에 처리합니다. temperature_c 키를 그대로 쓰는 답은 새 업무의 항목 뜻을 맞추지 못한 것입니다.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**목록과 딕셔너리가 함께 필요한 이유는?** 여러 건의 순서와 한 건 안의 항목 이름을 각각 보존하기 위해서입니다.</a:t>
            </a:r>
          </a:p>
          <a:p xmlns:a="http://schemas.openxmlformats.org/drawingml/2006/main">
            <a:r>
              <a:t/>
            </a:r>
          </a:p>
          <a:p xmlns:a="http://schemas.openxmlformats.org/drawingml/2006/main">
            <a:r>
              <a:t>2. **미확인을 숫자 비교 뒤에 두나요?** 숫자로 비교할 수 없으므로 먼저 분기합니다.</a:t>
            </a:r>
          </a:p>
          <a:p xmlns:a="http://schemas.openxmlformats.org/drawingml/2006/main">
            <a:r>
              <a:t/>
            </a:r>
          </a:p>
          <a:p xmlns:a="http://schemas.openxmlformats.org/drawingml/2006/main">
            <a:r>
              <a:t>3. **상태표는 실제 고장을 증명하나요?** 제공 입력과 수업 규칙을 적용한 결과이며 실제 원인은 별도 확인합니다.</a:t>
            </a:r>
          </a:p>
          <a:p xmlns:a="http://schemas.openxmlformats.org/drawingml/2006/main">
            <a:r>
              <a:t/>
            </a:r>
          </a:p>
          <a:p xmlns:a="http://schemas.openxmlformats.org/drawingml/2006/main">
            <a:r>
              <a:t/>
            </a:r>
          </a:p>
          <a:p xmlns:a="http://schemas.openxmlformats.org/drawingml/2006/main">
            <a:r>
              <a:t>**개념.** 딕셔너리는 이름표인 키와 값의 묶음입니다. 여러 관찰 딕셔너리를 리스트로 묶으면 ‘기록 여러 건’의 구조가 됩니다. 이 개념은 10/8의 표 행과 JSON 객체를 프로그램 안에 옮긴 것입니다.</a:t>
            </a:r>
          </a:p>
          <a:p xmlns:a="http://schemas.openxmlformats.org/drawingml/2006/main">
            <a:r>
              <a:t/>
            </a:r>
          </a:p>
          <a:p xmlns:a="http://schemas.openxmlformats.org/drawingml/2006/main">
            <a:r>
              <a:t>**왜 필요한가.** 온도만 나열하면 어느 센서인지 놓치기 쉽습니다. 식별자와 온도를 한 기록으로 묶어 처리하면 출력의 대상을 분명히 할 수 있습니다. 오늘은 제공된 구조를 읽고 한 값만 바꿉니다.</a:t>
            </a:r>
          </a:p>
          <a:p xmlns:a="http://schemas.openxmlformats.org/drawingml/2006/main">
            <a:r>
              <a:t/>
            </a:r>
          </a:p>
          <a:p xmlns:a="http://schemas.openxmlformats.org/drawingml/2006/main">
            <a:r>
              <a:t>**함께 보는 예.** records는 기록 두 건의 목록입니다. 첫 기록의 sensor_id는 S01이고 temperature_c는 22.5입니다. for의 record는 이번 차례의 딕셔너리 한 개를 가리킵니다.</a:t>
            </a:r>
          </a:p>
          <a:p xmlns:a="http://schemas.openxmlformats.org/drawingml/2006/main">
            <a:r>
              <a:t/>
            </a:r>
          </a:p>
          <a:p xmlns:a="http://schemas.openxmlformats.org/drawingml/2006/main">
            <a:r>
              <a:t>**헷갈리는 경우.** record[0]처럼 위치로 읽는 것과 record["sensor_id"]처럼 키로 읽는 것을 섞지 않습니다. 이 딕셔너리에는 숫자 0이라는 키를 준비하지 않았습니다.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records = [</a:t>
            </a:r>
          </a:p>
          <a:p xmlns:a="http://schemas.openxmlformats.org/drawingml/2006/main">
            <a:r>
              <a:t>    {"sensor_id": "S01", "temperature_c": 22.5},</a:t>
            </a:r>
          </a:p>
          <a:p xmlns:a="http://schemas.openxmlformats.org/drawingml/2006/main">
            <a:r>
              <a:t>    {"sensor_id": "S02", "temperature_c": 24.0},</a:t>
            </a:r>
          </a:p>
          <a:p xmlns:a="http://schemas.openxmlformats.org/drawingml/2006/main">
            <a:r>
              <a:t>]</a:t>
            </a:r>
          </a:p>
          <a:p xmlns:a="http://schemas.openxmlformats.org/drawingml/2006/main">
            <a:r>
              <a:t>for record in records:</a:t>
            </a:r>
          </a:p>
          <a:p xmlns:a="http://schemas.openxmlformats.org/drawingml/2006/main">
            <a:r>
              <a:t>    print(record["sensor_id"], record["temperature_c"])</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`records = [` | 기록을 담을 리스트를 시작합니다. |</a:t>
            </a:r>
          </a:p>
          <a:p xmlns:a="http://schemas.openxmlformats.org/drawingml/2006/main">
            <a:r>
              <a:t>| 2 | `    {"sensor_id": "S01", "temperature_c": 22.5},` | 첫 관찰을 두 키의 딕셔너리로 넣습니다. |</a:t>
            </a:r>
          </a:p>
          <a:p xmlns:a="http://schemas.openxmlformats.org/drawingml/2006/main">
            <a:r>
              <a:t>| 3 | `    {"sensor_id": "S02", "temperature_c": 24.0},` | 둘째 관찰을 넣습니다. |</a:t>
            </a:r>
          </a:p>
          <a:p xmlns:a="http://schemas.openxmlformats.org/drawingml/2006/main">
            <a:r>
              <a:t>| 4 | `]` | 리스트를 닫습니다. |</a:t>
            </a:r>
          </a:p>
          <a:p xmlns:a="http://schemas.openxmlformats.org/drawingml/2006/main">
            <a:r>
              <a:t>| 5 | `for record in records:` | 딕셔너리 한 개씩 읽습니다. |</a:t>
            </a:r>
          </a:p>
          <a:p xmlns:a="http://schemas.openxmlformats.org/drawingml/2006/main">
            <a:r>
              <a:t>| 6 | `    print(record["sensor_id"], record["temperature_c"])` | 이번 관찰의 이름표로 두 값을 찾아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code/A16_example.py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work/A16_example.py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S02 24.0</a:t>
            </a:r>
          </a:p>
          <a:p xmlns:a="http://schemas.openxmlformats.org/drawingml/2006/main">
            <a:r>
              <a:t>```</a:t>
            </a:r>
          </a:p>
          <a:p xmlns:a="http://schemas.openxmlformats.org/drawingml/2006/main">
            <a:r>
              <a:t/>
            </a:r>
          </a:p>
          <a:p xmlns:a="http://schemas.openxmlformats.org/drawingml/2006/main">
            <a:r>
              <a:t>작은 수정: `"temperature_c": 24.0`를 `"temperature_c":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S02 25.0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바깥 리스트와 안쪽 딕셔너리를 표시합니다.</a:t>
            </a:r>
          </a:p>
          <a:p xmlns:a="http://schemas.openxmlformats.org/drawingml/2006/main">
            <a:r>
              <a:t>2. S02의 온도를 바꾸었을 때 어느 출력만 바뀌는지 예상합니다.</a:t>
            </a:r>
          </a:p>
          <a:p xmlns:a="http://schemas.openxmlformats.org/drawingml/2006/main">
            <a:r>
              <a:t>3. 값 한 곳을 수정해 출력과 관찰 대상이 유지되는지 확인합니다.</a:t>
            </a:r>
          </a:p>
          <a:p xmlns:a="http://schemas.openxmlformats.org/drawingml/2006/main">
            <a:r>
              <a:t>4. 표의 한 행과 record의 관계를 문장으로 설명합니다.</a:t>
            </a:r>
          </a:p>
          <a:p xmlns:a="http://schemas.openxmlformats.org/drawingml/2006/main">
            <a:r>
              <a:t/>
            </a:r>
          </a:p>
          <a:p xmlns:a="http://schemas.openxmlformats.org/drawingml/2006/main">
            <a:r>
              <a:t>예상 결과: S02의 온도만 25.0으로 바뀝니다. 기록 수는 두 건입니다.</a:t>
            </a:r>
          </a:p>
          <a:p xmlns:a="http://schemas.openxmlformats.org/drawingml/2006/main">
            <a:r>
              <a:t/>
            </a:r>
          </a:p>
          <a:p xmlns:a="http://schemas.openxmlformats.org/drawingml/2006/main">
            <a:r>
              <a:t>확인 질문: 딕셔너리 키 temperature_c를 오타로 읽으면 무엇부터 확인하나요?</a:t>
            </a:r>
          </a:p>
          <a:p xmlns:a="http://schemas.openxmlformats.org/drawingml/2006/main">
            <a:r>
              <a:t/>
            </a:r>
          </a:p>
          <a:p xmlns:a="http://schemas.openxmlformats.org/drawingml/2006/main">
            <a:r>
              <a:t>막혔을 때: 괄호 짝을 찾기 어렵다면 먼저 리스트 외곽, 다음 각 딕셔너리 외곽을 따로 표시합니다.</a:t>
            </a:r>
          </a:p>
          <a:p xmlns:a="http://schemas.openxmlformats.org/drawingml/2006/main">
            <a:r>
              <a:t/>
            </a:r>
          </a:p>
          <a:p xmlns:a="http://schemas.openxmlformats.org/drawingml/2006/main">
            <a:r>
              <a:t>[활동 자료와 작성칸](practice-guide.md#a16--관찰-한-건과-점검표-구조)에서 A16를 엽니다.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https://zeusk302-png.github.io/kdigital-physical-ai/#/sessions/2026-10-14/lesson?activity=A16</a:t>
            </a:r>
          </a:p>
          <a:p xmlns:a="http://schemas.openxmlformats.org/drawingml/2006/main">
            <a:r>
              <a:t>공식 자료: https://docs.python.org/3/tutorial/errors.html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code/A16_example.py</a:t>
            </a:r>
          </a:p>
          <a:p xmlns:a="http://schemas.openxmlformats.org/drawingml/2006/main">
            <a:r>
              <a:t>수정한 파일을 실행할 때는 code 대신 work 폴더를 지정합니다. 직접 실행할 수 없으면 입력값부터 코드의 처리 순서를 따라 적고 강사의 결과와 비교합니다.</a:t>
            </a:r>
          </a:p>
          <a:p xmlns:a="http://schemas.openxmlformats.org/drawingml/2006/main">
            <a:r>
              <a:t/>
            </a:r>
          </a:p>
          <a:p xmlns:a="http://schemas.openxmlformats.org/drawingml/2006/main">
            <a:r>
              <a:t>[활동 A16 상세 원문]</a:t>
            </a:r>
          </a:p>
          <a:p xmlns:a="http://schemas.openxmlformats.org/drawingml/2006/main">
            <a:r>
              <a:t>### 사례로 이해하기 · 한 기록의 이름표를 지키며 상태표 만들기</a:t>
            </a:r>
          </a:p>
          <a:p xmlns:a="http://schemas.openxmlformats.org/drawingml/2006/main">
            <a:r>
              <a:t/>
            </a:r>
          </a:p>
          <a:p xmlns:a="http://schemas.openxmlformats.org/drawingml/2006/main">
            <a:r>
              <a:t/>
            </a:r>
          </a:p>
          <a:p xmlns:a="http://schemas.openxmlformats.org/drawingml/2006/main">
            <a:r>
              <a:t/>
            </a:r>
          </a:p>
          <a:p xmlns:a="http://schemas.openxmlformats.org/drawingml/2006/main">
            <a:r>
              <a:t>점검 기록 세 건에 장치명과 온도가 함께 있습니다. 순서대로 D01은 18℃, D02는 미확인, D03은 26℃입니다. 온도만 따로 출력하면 어느 장치의 값인지 잃습니다. 한 관찰을 이름표가 붙은 값 묶음, 즉 딕셔너리로 만들고 여러 관찰을 리스트로 모읍니다. 바깥 목록은 기록들을 차례로 묶고 안쪽 이름표는 같은 기록의 항목을 구별합니다. 위치 번호와 항목 이름은 찾는 방식이 다르므로 두 겹 구조를 분리해서 봅니다.</a:t>
            </a:r>
          </a:p>
          <a:p xmlns:a="http://schemas.openxmlformats.org/drawingml/2006/main">
            <a:r>
              <a:t/>
            </a:r>
          </a:p>
          <a:p xmlns:a="http://schemas.openxmlformats.org/drawingml/2006/main">
            <a:r>
              <a:t>완성 원문은 D01/18, D02/None, D03/26 세 기록입니다. 수업용 기준은 ‘온도가 25℃ 초과이면 확인, 그 외 숫자는 정상, 미확인은 미측정’입니다. 첫 기록에서 장치명 D01과 숫자 18을 꺼내고 None인지 먼저 묻습니다. 아니므로 18&gt;25를 확인해 정상으로 표시합니다. 둘째는 None이라 미측정으로 표시하고 숫자 비교를 하지 않습니다. 셋째는 26&gt;25가 참이므로 확인입니다. 최종 세 줄은 D01 정상, D02 미측정, D03 확인입니다.</a:t>
            </a:r>
          </a:p>
          <a:p xmlns:a="http://schemas.openxmlformats.org/drawingml/2006/main">
            <a:r>
              <a:t/>
            </a:r>
          </a:p>
          <a:p xmlns:a="http://schemas.openxmlformats.org/drawingml/2006/main">
            <a:r>
              <a:t>이름표 temperature_c와 temperature는 비슷한 뜻이어도 다른 키입니다. 없는 이름표를 직접 찾으면 KeyError가 발생할 수 있습니다. 오류가 없어지도록 임의로 새 키를 만들기 전에 원자료와 약속한 헤더를 비교합니다. 같은 장치가 다른 시각에 다시 측정되면 기록이 하나 더 생길 수 있으므로 장치명만으로 중복 삭제하지 않습니다. 오늘의 상태 프로그램은 제공 숫자를 기준과 비교할 뿐 실제 센서 고장이나 안전을 확정하지 않습니다. 새 입력을 넘길 때 기록의 출처·기준·미확인 처리·예상 결과를 함께 적어 다음 사람이 같은 판단을 재현할 수 있게 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세 물품 P01 수량 0, P02 수량 미확인, P03 수량 2를 대상으로 ‘2개 이하이면 주문 요청’ 상태표를 새로 설계하세요. 물품번호와 수량의 이름표, 미확인 갈래를 먼저 정하고 세 줄을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이름표는 예를 들어 product_id와 quantity입니다. P01·P03은 주문 요청, P02는 수량 확인입니다. 0은 실제 수량이라 포함하고 None은 비교 전에 처리합니다. temperature_c 키를 그대로 쓰는 답은 새 업무의 항목 뜻을 맞추지 못한 것입니다.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**목록과 딕셔너리가 함께 필요한 이유는?** 여러 건의 순서와 한 건 안의 항목 이름을 각각 보존하기 위해서입니다.</a:t>
            </a:r>
          </a:p>
          <a:p xmlns:a="http://schemas.openxmlformats.org/drawingml/2006/main">
            <a:r>
              <a:t/>
            </a:r>
          </a:p>
          <a:p xmlns:a="http://schemas.openxmlformats.org/drawingml/2006/main">
            <a:r>
              <a:t>2. **미확인을 숫자 비교 뒤에 두나요?** 숫자로 비교할 수 없으므로 먼저 분기합니다.</a:t>
            </a:r>
          </a:p>
          <a:p xmlns:a="http://schemas.openxmlformats.org/drawingml/2006/main">
            <a:r>
              <a:t/>
            </a:r>
          </a:p>
          <a:p xmlns:a="http://schemas.openxmlformats.org/drawingml/2006/main">
            <a:r>
              <a:t>3. **상태표는 실제 고장을 증명하나요?** 제공 입력과 수업 규칙을 적용한 결과이며 실제 원인은 별도 확인합니다.</a:t>
            </a:r>
          </a:p>
          <a:p xmlns:a="http://schemas.openxmlformats.org/drawingml/2006/main">
            <a:r>
              <a:t/>
            </a:r>
          </a:p>
          <a:p xmlns:a="http://schemas.openxmlformats.org/drawingml/2006/main">
            <a:r>
              <a:t/>
            </a:r>
          </a:p>
          <a:p xmlns:a="http://schemas.openxmlformats.org/drawingml/2006/main">
            <a:r>
              <a:t>**개념.** 딕셔너리는 이름표인 키와 값의 묶음입니다. 여러 관찰 딕셔너리를 리스트로 묶으면 ‘기록 여러 건’의 구조가 됩니다. 이 개념은 10/8의 표 행과 JSON 객체를 프로그램 안에 옮긴 것입니다.</a:t>
            </a:r>
          </a:p>
          <a:p xmlns:a="http://schemas.openxmlformats.org/drawingml/2006/main">
            <a:r>
              <a:t/>
            </a:r>
          </a:p>
          <a:p xmlns:a="http://schemas.openxmlformats.org/drawingml/2006/main">
            <a:r>
              <a:t>**왜 필요한가.** 온도만 나열하면 어느 센서인지 놓치기 쉽습니다. 식별자와 온도를 한 기록으로 묶어 처리하면 출력의 대상을 분명히 할 수 있습니다. 오늘은 제공된 구조를 읽고 한 값만 바꿉니다.</a:t>
            </a:r>
          </a:p>
          <a:p xmlns:a="http://schemas.openxmlformats.org/drawingml/2006/main">
            <a:r>
              <a:t/>
            </a:r>
          </a:p>
          <a:p xmlns:a="http://schemas.openxmlformats.org/drawingml/2006/main">
            <a:r>
              <a:t>**함께 보는 예.** records는 기록 두 건의 목록입니다. 첫 기록의 sensor_id는 S01이고 temperature_c는 22.5입니다. for의 record는 이번 차례의 딕셔너리 한 개를 가리킵니다.</a:t>
            </a:r>
          </a:p>
          <a:p xmlns:a="http://schemas.openxmlformats.org/drawingml/2006/main">
            <a:r>
              <a:t/>
            </a:r>
          </a:p>
          <a:p xmlns:a="http://schemas.openxmlformats.org/drawingml/2006/main">
            <a:r>
              <a:t>**헷갈리는 경우.** record[0]처럼 위치로 읽는 것과 record["sensor_id"]처럼 키로 읽는 것을 섞지 않습니다. 이 딕셔너리에는 숫자 0이라는 키를 준비하지 않았습니다.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records = [</a:t>
            </a:r>
          </a:p>
          <a:p xmlns:a="http://schemas.openxmlformats.org/drawingml/2006/main">
            <a:r>
              <a:t>    {"sensor_id": "S01", "temperature_c": 22.5},</a:t>
            </a:r>
          </a:p>
          <a:p xmlns:a="http://schemas.openxmlformats.org/drawingml/2006/main">
            <a:r>
              <a:t>    {"sensor_id": "S02", "temperature_c": 24.0},</a:t>
            </a:r>
          </a:p>
          <a:p xmlns:a="http://schemas.openxmlformats.org/drawingml/2006/main">
            <a:r>
              <a:t>]</a:t>
            </a:r>
          </a:p>
          <a:p xmlns:a="http://schemas.openxmlformats.org/drawingml/2006/main">
            <a:r>
              <a:t>for record in records:</a:t>
            </a:r>
          </a:p>
          <a:p xmlns:a="http://schemas.openxmlformats.org/drawingml/2006/main">
            <a:r>
              <a:t>    print(record["sensor_id"], record["temperature_c"])</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`records = [` | 기록을 담을 리스트를 시작합니다. |</a:t>
            </a:r>
          </a:p>
          <a:p xmlns:a="http://schemas.openxmlformats.org/drawingml/2006/main">
            <a:r>
              <a:t>| 2 | `    {"sensor_id": "S01", "temperature_c": 22.5},` | 첫 관찰을 두 키의 딕셔너리로 넣습니다. |</a:t>
            </a:r>
          </a:p>
          <a:p xmlns:a="http://schemas.openxmlformats.org/drawingml/2006/main">
            <a:r>
              <a:t>| 3 | `    {"sensor_id": "S02", "temperature_c": 24.0},` | 둘째 관찰을 넣습니다. |</a:t>
            </a:r>
          </a:p>
          <a:p xmlns:a="http://schemas.openxmlformats.org/drawingml/2006/main">
            <a:r>
              <a:t>| 4 | `]` | 리스트를 닫습니다. |</a:t>
            </a:r>
          </a:p>
          <a:p xmlns:a="http://schemas.openxmlformats.org/drawingml/2006/main">
            <a:r>
              <a:t>| 5 | `for record in records:` | 딕셔너리 한 개씩 읽습니다. |</a:t>
            </a:r>
          </a:p>
          <a:p xmlns:a="http://schemas.openxmlformats.org/drawingml/2006/main">
            <a:r>
              <a:t>| 6 | `    print(record["sensor_id"], record["temperature_c"])` | 이번 관찰의 이름표로 두 값을 찾아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code/A16_example.py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work/A16_example.py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S02 24.0</a:t>
            </a:r>
          </a:p>
          <a:p xmlns:a="http://schemas.openxmlformats.org/drawingml/2006/main">
            <a:r>
              <a:t>```</a:t>
            </a:r>
          </a:p>
          <a:p xmlns:a="http://schemas.openxmlformats.org/drawingml/2006/main">
            <a:r>
              <a:t/>
            </a:r>
          </a:p>
          <a:p xmlns:a="http://schemas.openxmlformats.org/drawingml/2006/main">
            <a:r>
              <a:t>작은 수정: `"temperature_c": 24.0`를 `"temperature_c":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S02 25.0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바깥 리스트와 안쪽 딕셔너리를 표시합니다.</a:t>
            </a:r>
          </a:p>
          <a:p xmlns:a="http://schemas.openxmlformats.org/drawingml/2006/main">
            <a:r>
              <a:t>2. S02의 온도를 바꾸었을 때 어느 출력만 바뀌는지 예상합니다.</a:t>
            </a:r>
          </a:p>
          <a:p xmlns:a="http://schemas.openxmlformats.org/drawingml/2006/main">
            <a:r>
              <a:t>3. 값 한 곳을 수정해 출력과 관찰 대상이 유지되는지 확인합니다.</a:t>
            </a:r>
          </a:p>
          <a:p xmlns:a="http://schemas.openxmlformats.org/drawingml/2006/main">
            <a:r>
              <a:t>4. 표의 한 행과 record의 관계를 문장으로 설명합니다.</a:t>
            </a:r>
          </a:p>
          <a:p xmlns:a="http://schemas.openxmlformats.org/drawingml/2006/main">
            <a:r>
              <a:t/>
            </a:r>
          </a:p>
          <a:p xmlns:a="http://schemas.openxmlformats.org/drawingml/2006/main">
            <a:r>
              <a:t>예상 결과: S02의 온도만 25.0으로 바뀝니다. 기록 수는 두 건입니다.</a:t>
            </a:r>
          </a:p>
          <a:p xmlns:a="http://schemas.openxmlformats.org/drawingml/2006/main">
            <a:r>
              <a:t/>
            </a:r>
          </a:p>
          <a:p xmlns:a="http://schemas.openxmlformats.org/drawingml/2006/main">
            <a:r>
              <a:t>확인 질문: 딕셔너리 키 temperature_c를 오타로 읽으면 무엇부터 확인하나요?</a:t>
            </a:r>
          </a:p>
          <a:p xmlns:a="http://schemas.openxmlformats.org/drawingml/2006/main">
            <a:r>
              <a:t/>
            </a:r>
          </a:p>
          <a:p xmlns:a="http://schemas.openxmlformats.org/drawingml/2006/main">
            <a:r>
              <a:t>막혔을 때: 괄호 짝을 찾기 어렵다면 먼저 리스트 외곽, 다음 각 딕셔너리 외곽을 따로 표시합니다.</a:t>
            </a:r>
          </a:p>
          <a:p xmlns:a="http://schemas.openxmlformats.org/drawingml/2006/main">
            <a:r>
              <a:t/>
            </a:r>
          </a:p>
          <a:p xmlns:a="http://schemas.openxmlformats.org/drawingml/2006/main">
            <a:r>
              <a:t>[활동 자료와 작성칸](practice-guide.md#a16--관찰-한-건과-점검표-구조)에서 A16를 엽니다.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https://zeusk302-png.github.io/kdigital-physical-ai/#/sessions/2026-10-14/lesson?activity=A16</a:t>
            </a:r>
          </a:p>
          <a:p xmlns:a="http://schemas.openxmlformats.org/drawingml/2006/main">
            <a:r>
              <a:t>공식 자료: https://docs.python.org/3/tutorial/errors.html</a:t>
            </a:r>
          </a:p>
          <a:p xmlns:a="http://schemas.openxmlformats.org/drawingml/2006/main">
            <a:r>
              <a:t/>
            </a:r>
          </a:p>
          <a:p xmlns:a="http://schemas.openxmlformats.org/drawingml/2006/main">
            <a:r>
              <a:t>코드와 개념 해설: 대괄호는 기록 목록, 중괄호는 한 기록입니다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A16 상세 원문]</a:t>
            </a:r>
          </a:p>
          <a:p xmlns:a="http://schemas.openxmlformats.org/drawingml/2006/main">
            <a:r>
              <a:t>### 사례로 이해하기 · 한 기록의 이름표를 지키며 상태표 만들기</a:t>
            </a:r>
          </a:p>
          <a:p xmlns:a="http://schemas.openxmlformats.org/drawingml/2006/main">
            <a:r>
              <a:t/>
            </a:r>
          </a:p>
          <a:p xmlns:a="http://schemas.openxmlformats.org/drawingml/2006/main">
            <a:r>
              <a:t/>
            </a:r>
          </a:p>
          <a:p xmlns:a="http://schemas.openxmlformats.org/drawingml/2006/main">
            <a:r>
              <a:t/>
            </a:r>
          </a:p>
          <a:p xmlns:a="http://schemas.openxmlformats.org/drawingml/2006/main">
            <a:r>
              <a:t>점검 기록 세 건에 장치명과 온도가 함께 있습니다. 순서대로 D01은 18℃, D02는 미확인, D03은 26℃입니다. 온도만 따로 출력하면 어느 장치의 값인지 잃습니다. 한 관찰을 이름표가 붙은 값 묶음, 즉 딕셔너리로 만들고 여러 관찰을 리스트로 모읍니다. 바깥 목록은 기록들을 차례로 묶고 안쪽 이름표는 같은 기록의 항목을 구별합니다. 위치 번호와 항목 이름은 찾는 방식이 다르므로 두 겹 구조를 분리해서 봅니다.</a:t>
            </a:r>
          </a:p>
          <a:p xmlns:a="http://schemas.openxmlformats.org/drawingml/2006/main">
            <a:r>
              <a:t/>
            </a:r>
          </a:p>
          <a:p xmlns:a="http://schemas.openxmlformats.org/drawingml/2006/main">
            <a:r>
              <a:t>완성 원문은 D01/18, D02/None, D03/26 세 기록입니다. 수업용 기준은 ‘온도가 25℃ 초과이면 확인, 그 외 숫자는 정상, 미확인은 미측정’입니다. 첫 기록에서 장치명 D01과 숫자 18을 꺼내고 None인지 먼저 묻습니다. 아니므로 18&gt;25를 확인해 정상으로 표시합니다. 둘째는 None이라 미측정으로 표시하고 숫자 비교를 하지 않습니다. 셋째는 26&gt;25가 참이므로 확인입니다. 최종 세 줄은 D01 정상, D02 미측정, D03 확인입니다.</a:t>
            </a:r>
          </a:p>
          <a:p xmlns:a="http://schemas.openxmlformats.org/drawingml/2006/main">
            <a:r>
              <a:t/>
            </a:r>
          </a:p>
          <a:p xmlns:a="http://schemas.openxmlformats.org/drawingml/2006/main">
            <a:r>
              <a:t>이름표 temperature_c와 temperature는 비슷한 뜻이어도 다른 키입니다. 없는 이름표를 직접 찾으면 KeyError가 발생할 수 있습니다. 오류가 없어지도록 임의로 새 키를 만들기 전에 원자료와 약속한 헤더를 비교합니다. 같은 장치가 다른 시각에 다시 측정되면 기록이 하나 더 생길 수 있으므로 장치명만으로 중복 삭제하지 않습니다. 오늘의 상태 프로그램은 제공 숫자를 기준과 비교할 뿐 실제 센서 고장이나 안전을 확정하지 않습니다. 새 입력을 넘길 때 기록의 출처·기준·미확인 처리·예상 결과를 함께 적어 다음 사람이 같은 판단을 재현할 수 있게 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세 물품 P01 수량 0, P02 수량 미확인, P03 수량 2를 대상으로 ‘2개 이하이면 주문 요청’ 상태표를 새로 설계하세요. 물품번호와 수량의 이름표, 미확인 갈래를 먼저 정하고 세 줄을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이름표는 예를 들어 product_id와 quantity입니다. P01·P03은 주문 요청, P02는 수량 확인입니다. 0은 실제 수량이라 포함하고 None은 비교 전에 처리합니다. temperature_c 키를 그대로 쓰는 답은 새 업무의 항목 뜻을 맞추지 못한 것입니다.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**목록과 딕셔너리가 함께 필요한 이유는?** 여러 건의 순서와 한 건 안의 항목 이름을 각각 보존하기 위해서입니다.</a:t>
            </a:r>
          </a:p>
          <a:p xmlns:a="http://schemas.openxmlformats.org/drawingml/2006/main">
            <a:r>
              <a:t/>
            </a:r>
          </a:p>
          <a:p xmlns:a="http://schemas.openxmlformats.org/drawingml/2006/main">
            <a:r>
              <a:t>2. **미확인을 숫자 비교 뒤에 두나요?** 숫자로 비교할 수 없으므로 먼저 분기합니다.</a:t>
            </a:r>
          </a:p>
          <a:p xmlns:a="http://schemas.openxmlformats.org/drawingml/2006/main">
            <a:r>
              <a:t/>
            </a:r>
          </a:p>
          <a:p xmlns:a="http://schemas.openxmlformats.org/drawingml/2006/main">
            <a:r>
              <a:t>3. **상태표는 실제 고장을 증명하나요?** 제공 입력과 수업 규칙을 적용한 결과이며 실제 원인은 별도 확인합니다.</a:t>
            </a:r>
          </a:p>
          <a:p xmlns:a="http://schemas.openxmlformats.org/drawingml/2006/main">
            <a:r>
              <a:t/>
            </a:r>
          </a:p>
          <a:p xmlns:a="http://schemas.openxmlformats.org/drawingml/2006/main">
            <a:r>
              <a:t/>
            </a:r>
          </a:p>
          <a:p xmlns:a="http://schemas.openxmlformats.org/drawingml/2006/main">
            <a:r>
              <a:t>**개념.** 딕셔너리는 이름표인 키와 값의 묶음입니다. 여러 관찰 딕셔너리를 리스트로 묶으면 ‘기록 여러 건’의 구조가 됩니다. 이 개념은 10/8의 표 행과 JSON 객체를 프로그램 안에 옮긴 것입니다.</a:t>
            </a:r>
          </a:p>
          <a:p xmlns:a="http://schemas.openxmlformats.org/drawingml/2006/main">
            <a:r>
              <a:t/>
            </a:r>
          </a:p>
          <a:p xmlns:a="http://schemas.openxmlformats.org/drawingml/2006/main">
            <a:r>
              <a:t>**왜 필요한가.** 온도만 나열하면 어느 센서인지 놓치기 쉽습니다. 식별자와 온도를 한 기록으로 묶어 처리하면 출력의 대상을 분명히 할 수 있습니다. 오늘은 제공된 구조를 읽고 한 값만 바꿉니다.</a:t>
            </a:r>
          </a:p>
          <a:p xmlns:a="http://schemas.openxmlformats.org/drawingml/2006/main">
            <a:r>
              <a:t/>
            </a:r>
          </a:p>
          <a:p xmlns:a="http://schemas.openxmlformats.org/drawingml/2006/main">
            <a:r>
              <a:t>**함께 보는 예.** records는 기록 두 건의 목록입니다. 첫 기록의 sensor_id는 S01이고 temperature_c는 22.5입니다. for의 record는 이번 차례의 딕셔너리 한 개를 가리킵니다.</a:t>
            </a:r>
          </a:p>
          <a:p xmlns:a="http://schemas.openxmlformats.org/drawingml/2006/main">
            <a:r>
              <a:t/>
            </a:r>
          </a:p>
          <a:p xmlns:a="http://schemas.openxmlformats.org/drawingml/2006/main">
            <a:r>
              <a:t>**헷갈리는 경우.** record[0]처럼 위치로 읽는 것과 record["sensor_id"]처럼 키로 읽는 것을 섞지 않습니다. 이 딕셔너리에는 숫자 0이라는 키를 준비하지 않았습니다.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records = [</a:t>
            </a:r>
          </a:p>
          <a:p xmlns:a="http://schemas.openxmlformats.org/drawingml/2006/main">
            <a:r>
              <a:t>    {"sensor_id": "S01", "temperature_c": 22.5},</a:t>
            </a:r>
          </a:p>
          <a:p xmlns:a="http://schemas.openxmlformats.org/drawingml/2006/main">
            <a:r>
              <a:t>    {"sensor_id": "S02", "temperature_c": 24.0},</a:t>
            </a:r>
          </a:p>
          <a:p xmlns:a="http://schemas.openxmlformats.org/drawingml/2006/main">
            <a:r>
              <a:t>]</a:t>
            </a:r>
          </a:p>
          <a:p xmlns:a="http://schemas.openxmlformats.org/drawingml/2006/main">
            <a:r>
              <a:t>for record in records:</a:t>
            </a:r>
          </a:p>
          <a:p xmlns:a="http://schemas.openxmlformats.org/drawingml/2006/main">
            <a:r>
              <a:t>    print(record["sensor_id"], record["temperature_c"])</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`records = [` | 기록을 담을 리스트를 시작합니다. |</a:t>
            </a:r>
          </a:p>
          <a:p xmlns:a="http://schemas.openxmlformats.org/drawingml/2006/main">
            <a:r>
              <a:t>| 2 | `    {"sensor_id": "S01", "temperature_c": 22.5},` | 첫 관찰을 두 키의 딕셔너리로 넣습니다. |</a:t>
            </a:r>
          </a:p>
          <a:p xmlns:a="http://schemas.openxmlformats.org/drawingml/2006/main">
            <a:r>
              <a:t>| 3 | `    {"sensor_id": "S02", "temperature_c": 24.0},` | 둘째 관찰을 넣습니다. |</a:t>
            </a:r>
          </a:p>
          <a:p xmlns:a="http://schemas.openxmlformats.org/drawingml/2006/main">
            <a:r>
              <a:t>| 4 | `]` | 리스트를 닫습니다. |</a:t>
            </a:r>
          </a:p>
          <a:p xmlns:a="http://schemas.openxmlformats.org/drawingml/2006/main">
            <a:r>
              <a:t>| 5 | `for record in records:` | 딕셔너리 한 개씩 읽습니다. |</a:t>
            </a:r>
          </a:p>
          <a:p xmlns:a="http://schemas.openxmlformats.org/drawingml/2006/main">
            <a:r>
              <a:t>| 6 | `    print(record["sensor_id"], record["temperature_c"])` | 이번 관찰의 이름표로 두 값을 찾아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code/A16_example.py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work/A16_example.py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S02 24.0</a:t>
            </a:r>
          </a:p>
          <a:p xmlns:a="http://schemas.openxmlformats.org/drawingml/2006/main">
            <a:r>
              <a:t>```</a:t>
            </a:r>
          </a:p>
          <a:p xmlns:a="http://schemas.openxmlformats.org/drawingml/2006/main">
            <a:r>
              <a:t/>
            </a:r>
          </a:p>
          <a:p xmlns:a="http://schemas.openxmlformats.org/drawingml/2006/main">
            <a:r>
              <a:t>작은 수정: `"temperature_c": 24.0`를 `"temperature_c":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S02 25.0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바깥 리스트와 안쪽 딕셔너리를 표시합니다.</a:t>
            </a:r>
          </a:p>
          <a:p xmlns:a="http://schemas.openxmlformats.org/drawingml/2006/main">
            <a:r>
              <a:t>2. S02의 온도를 바꾸었을 때 어느 출력만 바뀌는지 예상합니다.</a:t>
            </a:r>
          </a:p>
          <a:p xmlns:a="http://schemas.openxmlformats.org/drawingml/2006/main">
            <a:r>
              <a:t>3. 값 한 곳을 수정해 출력과 관찰 대상이 유지되는지 확인합니다.</a:t>
            </a:r>
          </a:p>
          <a:p xmlns:a="http://schemas.openxmlformats.org/drawingml/2006/main">
            <a:r>
              <a:t>4. 표의 한 행과 record의 관계를 문장으로 설명합니다.</a:t>
            </a:r>
          </a:p>
          <a:p xmlns:a="http://schemas.openxmlformats.org/drawingml/2006/main">
            <a:r>
              <a:t/>
            </a:r>
          </a:p>
          <a:p xmlns:a="http://schemas.openxmlformats.org/drawingml/2006/main">
            <a:r>
              <a:t>예상 결과: S02의 온도만 25.0으로 바뀝니다. 기록 수는 두 건입니다.</a:t>
            </a:r>
          </a:p>
          <a:p xmlns:a="http://schemas.openxmlformats.org/drawingml/2006/main">
            <a:r>
              <a:t/>
            </a:r>
          </a:p>
          <a:p xmlns:a="http://schemas.openxmlformats.org/drawingml/2006/main">
            <a:r>
              <a:t>확인 질문: 딕셔너리 키 temperature_c를 오타로 읽으면 무엇부터 확인하나요?</a:t>
            </a:r>
          </a:p>
          <a:p xmlns:a="http://schemas.openxmlformats.org/drawingml/2006/main">
            <a:r>
              <a:t/>
            </a:r>
          </a:p>
          <a:p xmlns:a="http://schemas.openxmlformats.org/drawingml/2006/main">
            <a:r>
              <a:t>막혔을 때: 괄호 짝을 찾기 어렵다면 먼저 리스트 외곽, 다음 각 딕셔너리 외곽을 따로 표시합니다.</a:t>
            </a:r>
          </a:p>
          <a:p xmlns:a="http://schemas.openxmlformats.org/drawingml/2006/main">
            <a:r>
              <a:t/>
            </a:r>
          </a:p>
          <a:p xmlns:a="http://schemas.openxmlformats.org/drawingml/2006/main">
            <a:r>
              <a:t>[활동 자료와 작성칸](practice-guide.md#a16--관찰-한-건과-점검표-구조)에서 A16를 엽니다.</a:t>
            </a:r>
          </a:p>
          <a:p xmlns:a="http://schemas.openxmlformats.org/drawingml/2006/main">
            <a:r>
              <a:t/>
            </a:r>
          </a:p>
          <a:p xmlns:a="http://schemas.openxmlformats.org/drawingml/2006/main">
            <a:r>
              <a:t>화면 예의 출처: D:/KDigital_PhysicalAI/.build/copyedited-ppt/spec-2026-10-14.json#slide-84;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https://zeusk302-png.github.io/kdigital-physical-ai/#/sessions/2026-10-14/lesson?activity=A16</a:t>
            </a:r>
          </a:p>
          <a:p xmlns:a="http://schemas.openxmlformats.org/drawingml/2006/main">
            <a:r>
              <a:t>공식 자료: https://docs.python.org/3/tutorial/errors.html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A16 제공 코드의 실제 예측 출력입니다. 다른 시각의 같은 장치 기록은 삭제할 중복이라고 단정하지 않습니다.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https://docs.python.org/3/tutorial/errors.html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A17 전체 코드는 16줄이므로 노트와 제공 파일에 원문 보존합니다. 한 장에 작게 압축하지 않습니다. 다음 슬라이드들에서 한 기록의 전체 분류를 짧은 완결 코드로 설명합니다.</a:t>
            </a:r>
          </a:p>
          <a:p xmlns:a="http://schemas.openxmlformats.org/drawingml/2006/main">
            <a:r>
              <a:t/>
            </a:r>
          </a:p>
          <a:p xmlns:a="http://schemas.openxmlformats.org/drawingml/2006/main">
            <a:r>
              <a:t>[활동 A17 상세 원문]</a:t>
            </a:r>
          </a:p>
          <a:p xmlns:a="http://schemas.openxmlformats.org/drawingml/2006/main">
            <a:r>
              <a:t>**개념.** 종합 예제는 목록·반복·조건을 결합하여 각 관찰의 상태를 출력합니다. 앞에서 배운 목록·반복·조건이 코드의 어디에 쓰였는지 짚어 줍니다.</a:t>
            </a:r>
          </a:p>
          <a:p xmlns:a="http://schemas.openxmlformats.org/drawingml/2006/main">
            <a:r>
              <a:t/>
            </a:r>
          </a:p>
          <a:p xmlns:a="http://schemas.openxmlformats.org/drawingml/2006/main">
            <a:r>
              <a:t>**왜 필요한가.** 실무에서는 한 줄의 문법을 아는 것과 여러 단계가 연결된 프로그램을 읽는 것이 다릅니다. 준비한 입력, 각 차례의 처리, 최종 출력을 나누어 표시하면 긴 코드도 추적할 수 있습니다.</a:t>
            </a:r>
          </a:p>
          <a:p xmlns:a="http://schemas.openxmlformats.org/drawingml/2006/main">
            <a:r>
              <a:t/>
            </a:r>
          </a:p>
          <a:p xmlns:a="http://schemas.openxmlformats.org/drawingml/2006/main">
            <a:r>
              <a:t>**함께 보는 예.** S01의 22.5는 정상, S02의 25.0은 확인, S03의 None은 미측정입니다. 상태 문자열을 status라는 이름에 넣은 뒤 공통 print 한 곳에서 센서명과 함께 출력합니다.</a:t>
            </a:r>
          </a:p>
          <a:p xmlns:a="http://schemas.openxmlformats.org/drawingml/2006/main">
            <a:r>
              <a:t/>
            </a:r>
          </a:p>
          <a:p xmlns:a="http://schemas.openxmlformats.org/drawingml/2006/main">
            <a:r>
              <a:t>**헷갈리는 경우.** 상태 표시만으로 실제 장비의 안전을 판정하지 않습니다. 24.0이라는 숫자는 수업 비교 규칙입니다. 상태가 None인지 먼저 검사하므로 미측정을 실제 0으로 채우지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records = [</a:t>
            </a:r>
          </a:p>
          <a:p xmlns:a="http://schemas.openxmlformats.org/drawingml/2006/main">
            <a:r>
              <a:t>    {"sensor_id": "S01", "temperature_c": 22.5},</a:t>
            </a:r>
          </a:p>
          <a:p xmlns:a="http://schemas.openxmlformats.org/drawingml/2006/main">
            <a:r>
              <a:t>    {"sensor_id": "S02", "temperature_c": 25.0},</a:t>
            </a:r>
          </a:p>
          <a:p xmlns:a="http://schemas.openxmlformats.org/drawingml/2006/main">
            <a:r>
              <a:t>    {"sensor_id": "S03", "temperature_c": None},</a:t>
            </a:r>
          </a:p>
          <a:p xmlns:a="http://schemas.openxmlformats.org/drawingml/2006/main">
            <a:r>
              <a:t>]</a:t>
            </a:r>
          </a:p>
          <a:p xmlns:a="http://schemas.openxmlformats.org/drawingml/2006/main">
            <a:r>
              <a:t>limit = 24.0</a:t>
            </a:r>
          </a:p>
          <a:p xmlns:a="http://schemas.openxmlformats.org/drawingml/2006/main">
            <a:r>
              <a:t>for record in records:</a:t>
            </a:r>
          </a:p>
          <a:p xmlns:a="http://schemas.openxmlformats.org/drawingml/2006/main">
            <a:r>
              <a:t>    temperature_c = record["temperature_c"]</a:t>
            </a:r>
          </a:p>
          <a:p xmlns:a="http://schemas.openxmlformats.org/drawingml/2006/main">
            <a:r>
              <a:t>    if temperature_c is None:</a:t>
            </a:r>
          </a:p>
          <a:p xmlns:a="http://schemas.openxmlformats.org/drawingml/2006/main">
            <a:r>
              <a:t>        status = "미측정"</a:t>
            </a:r>
          </a:p>
          <a:p xmlns:a="http://schemas.openxmlformats.org/drawingml/2006/main">
            <a:r>
              <a:t>    elif temperature_c &gt; limit:</a:t>
            </a:r>
          </a:p>
          <a:p xmlns:a="http://schemas.openxmlformats.org/drawingml/2006/main">
            <a:r>
              <a:t>        status = "확인"</a:t>
            </a:r>
          </a:p>
          <a:p xmlns:a="http://schemas.openxmlformats.org/drawingml/2006/main">
            <a:r>
              <a:t>    else:</a:t>
            </a:r>
          </a:p>
          <a:p xmlns:a="http://schemas.openxmlformats.org/drawingml/2006/main">
            <a:r>
              <a:t>        status = "정상"</a:t>
            </a:r>
          </a:p>
          <a:p xmlns:a="http://schemas.openxmlformats.org/drawingml/2006/main">
            <a:r>
              <a:t>    print(record["sensor_id"], status)</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`records = [` | 관찰 목록을 시작합니다. |</a:t>
            </a:r>
          </a:p>
          <a:p xmlns:a="http://schemas.openxmlformats.org/drawingml/2006/main">
            <a:r>
              <a:t>| 2 | `    {"sensor_id": "S01", "temperature_c": 22.5},` | 첫 측정 기록입니다. |</a:t>
            </a:r>
          </a:p>
          <a:p xmlns:a="http://schemas.openxmlformats.org/drawingml/2006/main">
            <a:r>
              <a:t>| 3 | `    {"sensor_id": "S02", "temperature_c": 25.0},` | 둘째 측정 기록입니다. |</a:t>
            </a:r>
          </a:p>
          <a:p xmlns:a="http://schemas.openxmlformats.org/drawingml/2006/main">
            <a:r>
              <a:t>| 4 | `    {"sensor_id": "S03", "temperature_c": None},` | 온도가 없는 셋째 기록입니다. |</a:t>
            </a:r>
          </a:p>
          <a:p xmlns:a="http://schemas.openxmlformats.org/drawingml/2006/main">
            <a:r>
              <a:t>| 5 | `]` | 목록을 닫습니다. |</a:t>
            </a:r>
          </a:p>
          <a:p xmlns:a="http://schemas.openxmlformats.org/drawingml/2006/main">
            <a:r>
              <a:t>| 6 | `limit = 24.0` | 수업용 기준을 정합니다. |</a:t>
            </a:r>
          </a:p>
          <a:p xmlns:a="http://schemas.openxmlformats.org/drawingml/2006/main">
            <a:r>
              <a:t>| 7 | `for record in records:` | 기록 한 건씩 처리합니다. |</a:t>
            </a:r>
          </a:p>
          <a:p xmlns:a="http://schemas.openxmlformats.org/drawingml/2006/main">
            <a:r>
              <a:t>| 8 | `    temperature_c = record["temperature_c"]` | 이번 기록의 온도를 읽습니다. |</a:t>
            </a:r>
          </a:p>
          <a:p xmlns:a="http://schemas.openxmlformats.org/drawingml/2006/main">
            <a:r>
              <a:t>| 9 | `    if temperature_c is None:` | 값 없음부터 확인합니다. |</a:t>
            </a:r>
          </a:p>
          <a:p xmlns:a="http://schemas.openxmlformats.org/drawingml/2006/main">
            <a:r>
              <a:t>| 10 | `        status = "미측정"` | 값이 없을 때의 상태를 정합니다. |</a:t>
            </a:r>
          </a:p>
          <a:p xmlns:a="http://schemas.openxmlformats.org/drawingml/2006/main">
            <a:r>
              <a:t>| 11 | `    elif temperature_c &gt; limit:` | 값이 있으면 초과 여부를 묻습니다. |</a:t>
            </a:r>
          </a:p>
          <a:p xmlns:a="http://schemas.openxmlformats.org/drawingml/2006/main">
            <a:r>
              <a:t>| 12 | `        status = "확인"` | 초과한 경우의 상태를 정합니다. |</a:t>
            </a:r>
          </a:p>
          <a:p xmlns:a="http://schemas.openxmlformats.org/drawingml/2006/main">
            <a:r>
              <a:t>| 13 | `    else:` | 앞의 두 경우가 아닐 때의 묶음입니다. |</a:t>
            </a:r>
          </a:p>
          <a:p xmlns:a="http://schemas.openxmlformats.org/drawingml/2006/main">
            <a:r>
              <a:t>| 14 | `        status = "정상"` | 나머지 측정의 상태를 정합니다. |</a:t>
            </a:r>
          </a:p>
          <a:p xmlns:a="http://schemas.openxmlformats.org/drawingml/2006/main">
            <a:r>
              <a:t>| 15 | `    print(record["sensor_id"], status)` | 이번 센서와 판정 상태를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code/A17_sensor_summary.py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work/A17_sensor_summary.py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정상</a:t>
            </a:r>
          </a:p>
          <a:p xmlns:a="http://schemas.openxmlformats.org/drawingml/2006/main">
            <a:r>
              <a:t>S02 확인</a:t>
            </a:r>
          </a:p>
          <a:p xmlns:a="http://schemas.openxmlformats.org/drawingml/2006/main">
            <a:r>
              <a:t>S03 미측정</a:t>
            </a:r>
          </a:p>
          <a:p xmlns:a="http://schemas.openxmlformats.org/drawingml/2006/main">
            <a:r>
              <a:t>```</a:t>
            </a:r>
          </a:p>
          <a:p xmlns:a="http://schemas.openxmlformats.org/drawingml/2006/main">
            <a:r>
              <a:t/>
            </a:r>
          </a:p>
          <a:p xmlns:a="http://schemas.openxmlformats.org/drawingml/2006/main">
            <a:r>
              <a:t>작은 수정: `limit = 24.0`를 `limit =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정상</a:t>
            </a:r>
          </a:p>
          <a:p xmlns:a="http://schemas.openxmlformats.org/drawingml/2006/main">
            <a:r>
              <a:t>S02 정상</a:t>
            </a:r>
          </a:p>
          <a:p xmlns:a="http://schemas.openxmlformats.org/drawingml/2006/main">
            <a:r>
              <a:t>S03 미측정</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각 기록의 입력·조건·예상 상태를 작성합니다.</a:t>
            </a:r>
          </a:p>
          <a:p xmlns:a="http://schemas.openxmlformats.org/drawingml/2006/main">
            <a:r>
              <a:t>2. limit만 25.0으로 바꾸고 달라질 기록을 고릅니다.</a:t>
            </a:r>
          </a:p>
          <a:p xmlns:a="http://schemas.openxmlformats.org/drawingml/2006/main">
            <a:r>
              <a:t>3. 전체 파일을 저장·실행하고 세 출력 줄을 대조합니다.</a:t>
            </a:r>
          </a:p>
          <a:p xmlns:a="http://schemas.openxmlformats.org/drawingml/2006/main">
            <a:r>
              <a:t>4. 미측정 처리와 기준 비교의 실행 순서를 짝에게 설명합니다.</a:t>
            </a:r>
          </a:p>
          <a:p xmlns:a="http://schemas.openxmlformats.org/drawingml/2006/main">
            <a:r>
              <a:t/>
            </a:r>
          </a:p>
          <a:p xmlns:a="http://schemas.openxmlformats.org/drawingml/2006/main">
            <a:r>
              <a:t>예상 결과: 기준을 25.0으로 바꾸면 S02는 같은 값이므로 정상이며 S03은 계속 미측정입니다.</a:t>
            </a:r>
          </a:p>
          <a:p xmlns:a="http://schemas.openxmlformats.org/drawingml/2006/main">
            <a:r>
              <a:t/>
            </a:r>
          </a:p>
          <a:p xmlns:a="http://schemas.openxmlformats.org/drawingml/2006/main">
            <a:r>
              <a:t>확인 질문: 기준만 바꿨는데 미측정 상태가 달라진다면 무엇을 점검해야 할까요?</a:t>
            </a:r>
          </a:p>
          <a:p xmlns:a="http://schemas.openxmlformats.org/drawingml/2006/main">
            <a:r>
              <a:t/>
            </a:r>
          </a:p>
          <a:p xmlns:a="http://schemas.openxmlformats.org/drawingml/2006/main">
            <a:r>
              <a:t>막혔을 때: 한꺼번에 여러 곳을 수정하지 않습니다. 원본과 작업본을 나란히 보고 지정한 기준 한 곳부터 다시 비교합니다.</a:t>
            </a:r>
          </a:p>
          <a:p xmlns:a="http://schemas.openxmlformats.org/drawingml/2006/main">
            <a:r>
              <a:t/>
            </a:r>
          </a:p>
          <a:p xmlns:a="http://schemas.openxmlformats.org/drawingml/2006/main">
            <a:r>
              <a:t>[활동 자료와 작성칸](practice-guide.md#a17--수업용-센서-요약-완성-예제)에서 A17를 엽니다.</a:t>
            </a:r>
          </a:p>
          <a:p xmlns:a="http://schemas.openxmlformats.org/drawingml/2006/main">
            <a:r>
              <a:t/>
            </a:r>
          </a:p>
          <a:p xmlns:a="http://schemas.openxmlformats.org/drawingml/2006/main">
            <a:r>
              <a:t>화면 예의 출처: D:/KDigital_PhysicalAI/.build/copyedited-ppt/spec-2026-10-14.json#slide-89;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https://zeusk302-png.github.io/kdigital-physical-ai/#/sessions/2026-10-14/lesson?activity=A17</a:t>
            </a:r>
          </a:p>
          <a:p xmlns:a="http://schemas.openxmlformats.org/drawingml/2006/main">
            <a:r>
              <a:t>공식 자료: https://docs.python.org/3/tutorial/errors.html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A17 규칙을 한 기록에 적용하는 독립 완결 예입니다. value=25.0이면 확인, 24.0이면 정상, None이면 미측정입니다. 여러 기록 반복은 기존 A17 전체 파일로 연결합니다. 별도 생성 파일을 실행했다고 주장하지 않습니다.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https://docs.python.org/3/tutorial/errors.html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A17 상세 원문]</a:t>
            </a:r>
          </a:p>
          <a:p xmlns:a="http://schemas.openxmlformats.org/drawingml/2006/main">
            <a:r>
              <a:t>**개념.** 종합 예제는 목록·반복·조건을 결합하여 각 관찰의 상태를 출력합니다. 앞에서 배운 목록·반복·조건이 코드의 어디에 쓰였는지 짚어 줍니다.</a:t>
            </a:r>
          </a:p>
          <a:p xmlns:a="http://schemas.openxmlformats.org/drawingml/2006/main">
            <a:r>
              <a:t/>
            </a:r>
          </a:p>
          <a:p xmlns:a="http://schemas.openxmlformats.org/drawingml/2006/main">
            <a:r>
              <a:t>**왜 필요한가.** 실무에서는 한 줄의 문법을 아는 것과 여러 단계가 연결된 프로그램을 읽는 것이 다릅니다. 준비한 입력, 각 차례의 처리, 최종 출력을 나누어 표시하면 긴 코드도 추적할 수 있습니다.</a:t>
            </a:r>
          </a:p>
          <a:p xmlns:a="http://schemas.openxmlformats.org/drawingml/2006/main">
            <a:r>
              <a:t/>
            </a:r>
          </a:p>
          <a:p xmlns:a="http://schemas.openxmlformats.org/drawingml/2006/main">
            <a:r>
              <a:t>**함께 보는 예.** S01의 22.5는 정상, S02의 25.0은 확인, S03의 None은 미측정입니다. 상태 문자열을 status라는 이름에 넣은 뒤 공통 print 한 곳에서 센서명과 함께 출력합니다.</a:t>
            </a:r>
          </a:p>
          <a:p xmlns:a="http://schemas.openxmlformats.org/drawingml/2006/main">
            <a:r>
              <a:t/>
            </a:r>
          </a:p>
          <a:p xmlns:a="http://schemas.openxmlformats.org/drawingml/2006/main">
            <a:r>
              <a:t>**헷갈리는 경우.** 상태 표시만으로 실제 장비의 안전을 판정하지 않습니다. 24.0이라는 숫자는 수업 비교 규칙입니다. 상태가 None인지 먼저 검사하므로 미측정을 실제 0으로 채우지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records = [</a:t>
            </a:r>
          </a:p>
          <a:p xmlns:a="http://schemas.openxmlformats.org/drawingml/2006/main">
            <a:r>
              <a:t>    {"sensor_id": "S01", "temperature_c": 22.5},</a:t>
            </a:r>
          </a:p>
          <a:p xmlns:a="http://schemas.openxmlformats.org/drawingml/2006/main">
            <a:r>
              <a:t>    {"sensor_id": "S02", "temperature_c": 25.0},</a:t>
            </a:r>
          </a:p>
          <a:p xmlns:a="http://schemas.openxmlformats.org/drawingml/2006/main">
            <a:r>
              <a:t>    {"sensor_id": "S03", "temperature_c": None},</a:t>
            </a:r>
          </a:p>
          <a:p xmlns:a="http://schemas.openxmlformats.org/drawingml/2006/main">
            <a:r>
              <a:t>]</a:t>
            </a:r>
          </a:p>
          <a:p xmlns:a="http://schemas.openxmlformats.org/drawingml/2006/main">
            <a:r>
              <a:t>limit = 24.0</a:t>
            </a:r>
          </a:p>
          <a:p xmlns:a="http://schemas.openxmlformats.org/drawingml/2006/main">
            <a:r>
              <a:t>for record in records:</a:t>
            </a:r>
          </a:p>
          <a:p xmlns:a="http://schemas.openxmlformats.org/drawingml/2006/main">
            <a:r>
              <a:t>    temperature_c = record["temperature_c"]</a:t>
            </a:r>
          </a:p>
          <a:p xmlns:a="http://schemas.openxmlformats.org/drawingml/2006/main">
            <a:r>
              <a:t>    if temperature_c is None:</a:t>
            </a:r>
          </a:p>
          <a:p xmlns:a="http://schemas.openxmlformats.org/drawingml/2006/main">
            <a:r>
              <a:t>        status = "미측정"</a:t>
            </a:r>
          </a:p>
          <a:p xmlns:a="http://schemas.openxmlformats.org/drawingml/2006/main">
            <a:r>
              <a:t>    elif temperature_c &gt; limit:</a:t>
            </a:r>
          </a:p>
          <a:p xmlns:a="http://schemas.openxmlformats.org/drawingml/2006/main">
            <a:r>
              <a:t>        status = "확인"</a:t>
            </a:r>
          </a:p>
          <a:p xmlns:a="http://schemas.openxmlformats.org/drawingml/2006/main">
            <a:r>
              <a:t>    else:</a:t>
            </a:r>
          </a:p>
          <a:p xmlns:a="http://schemas.openxmlformats.org/drawingml/2006/main">
            <a:r>
              <a:t>        status = "정상"</a:t>
            </a:r>
          </a:p>
          <a:p xmlns:a="http://schemas.openxmlformats.org/drawingml/2006/main">
            <a:r>
              <a:t>    print(record["sensor_id"], status)</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`records = [` | 관찰 목록을 시작합니다. |</a:t>
            </a:r>
          </a:p>
          <a:p xmlns:a="http://schemas.openxmlformats.org/drawingml/2006/main">
            <a:r>
              <a:t>| 2 | `    {"sensor_id": "S01", "temperature_c": 22.5},` | 첫 측정 기록입니다. |</a:t>
            </a:r>
          </a:p>
          <a:p xmlns:a="http://schemas.openxmlformats.org/drawingml/2006/main">
            <a:r>
              <a:t>| 3 | `    {"sensor_id": "S02", "temperature_c": 25.0},` | 둘째 측정 기록입니다. |</a:t>
            </a:r>
          </a:p>
          <a:p xmlns:a="http://schemas.openxmlformats.org/drawingml/2006/main">
            <a:r>
              <a:t>| 4 | `    {"sensor_id": "S03", "temperature_c": None},` | 온도가 없는 셋째 기록입니다. |</a:t>
            </a:r>
          </a:p>
          <a:p xmlns:a="http://schemas.openxmlformats.org/drawingml/2006/main">
            <a:r>
              <a:t>| 5 | `]` | 목록을 닫습니다. |</a:t>
            </a:r>
          </a:p>
          <a:p xmlns:a="http://schemas.openxmlformats.org/drawingml/2006/main">
            <a:r>
              <a:t>| 6 | `limit = 24.0` | 수업용 기준을 정합니다. |</a:t>
            </a:r>
          </a:p>
          <a:p xmlns:a="http://schemas.openxmlformats.org/drawingml/2006/main">
            <a:r>
              <a:t>| 7 | `for record in records:` | 기록 한 건씩 처리합니다. |</a:t>
            </a:r>
          </a:p>
          <a:p xmlns:a="http://schemas.openxmlformats.org/drawingml/2006/main">
            <a:r>
              <a:t>| 8 | `    temperature_c = record["temperature_c"]` | 이번 기록의 온도를 읽습니다. |</a:t>
            </a:r>
          </a:p>
          <a:p xmlns:a="http://schemas.openxmlformats.org/drawingml/2006/main">
            <a:r>
              <a:t>| 9 | `    if temperature_c is None:` | 값 없음부터 확인합니다. |</a:t>
            </a:r>
          </a:p>
          <a:p xmlns:a="http://schemas.openxmlformats.org/drawingml/2006/main">
            <a:r>
              <a:t>| 10 | `        status = "미측정"` | 값이 없을 때의 상태를 정합니다. |</a:t>
            </a:r>
          </a:p>
          <a:p xmlns:a="http://schemas.openxmlformats.org/drawingml/2006/main">
            <a:r>
              <a:t>| 11 | `    elif temperature_c &gt; limit:` | 값이 있으면 초과 여부를 묻습니다. |</a:t>
            </a:r>
          </a:p>
          <a:p xmlns:a="http://schemas.openxmlformats.org/drawingml/2006/main">
            <a:r>
              <a:t>| 12 | `        status = "확인"` | 초과한 경우의 상태를 정합니다. |</a:t>
            </a:r>
          </a:p>
          <a:p xmlns:a="http://schemas.openxmlformats.org/drawingml/2006/main">
            <a:r>
              <a:t>| 13 | `    else:` | 앞의 두 경우가 아닐 때의 묶음입니다. |</a:t>
            </a:r>
          </a:p>
          <a:p xmlns:a="http://schemas.openxmlformats.org/drawingml/2006/main">
            <a:r>
              <a:t>| 14 | `        status = "정상"` | 나머지 측정의 상태를 정합니다. |</a:t>
            </a:r>
          </a:p>
          <a:p xmlns:a="http://schemas.openxmlformats.org/drawingml/2006/main">
            <a:r>
              <a:t>| 15 | `    print(record["sensor_id"], status)` | 이번 센서와 판정 상태를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code/A17_sensor_summary.py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work/A17_sensor_summary.py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정상</a:t>
            </a:r>
          </a:p>
          <a:p xmlns:a="http://schemas.openxmlformats.org/drawingml/2006/main">
            <a:r>
              <a:t>S02 확인</a:t>
            </a:r>
          </a:p>
          <a:p xmlns:a="http://schemas.openxmlformats.org/drawingml/2006/main">
            <a:r>
              <a:t>S03 미측정</a:t>
            </a:r>
          </a:p>
          <a:p xmlns:a="http://schemas.openxmlformats.org/drawingml/2006/main">
            <a:r>
              <a:t>```</a:t>
            </a:r>
          </a:p>
          <a:p xmlns:a="http://schemas.openxmlformats.org/drawingml/2006/main">
            <a:r>
              <a:t/>
            </a:r>
          </a:p>
          <a:p xmlns:a="http://schemas.openxmlformats.org/drawingml/2006/main">
            <a:r>
              <a:t>작은 수정: `limit = 24.0`를 `limit =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정상</a:t>
            </a:r>
          </a:p>
          <a:p xmlns:a="http://schemas.openxmlformats.org/drawingml/2006/main">
            <a:r>
              <a:t>S02 정상</a:t>
            </a:r>
          </a:p>
          <a:p xmlns:a="http://schemas.openxmlformats.org/drawingml/2006/main">
            <a:r>
              <a:t>S03 미측정</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각 기록의 입력·조건·예상 상태를 작성합니다.</a:t>
            </a:r>
          </a:p>
          <a:p xmlns:a="http://schemas.openxmlformats.org/drawingml/2006/main">
            <a:r>
              <a:t>2. limit만 25.0으로 바꾸고 달라질 기록을 고릅니다.</a:t>
            </a:r>
          </a:p>
          <a:p xmlns:a="http://schemas.openxmlformats.org/drawingml/2006/main">
            <a:r>
              <a:t>3. 전체 파일을 저장·실행하고 세 출력 줄을 대조합니다.</a:t>
            </a:r>
          </a:p>
          <a:p xmlns:a="http://schemas.openxmlformats.org/drawingml/2006/main">
            <a:r>
              <a:t>4. 미측정 처리와 기준 비교의 실행 순서를 짝에게 설명합니다.</a:t>
            </a:r>
          </a:p>
          <a:p xmlns:a="http://schemas.openxmlformats.org/drawingml/2006/main">
            <a:r>
              <a:t/>
            </a:r>
          </a:p>
          <a:p xmlns:a="http://schemas.openxmlformats.org/drawingml/2006/main">
            <a:r>
              <a:t>예상 결과: 기준을 25.0으로 바꾸면 S02는 같은 값이므로 정상이며 S03은 계속 미측정입니다.</a:t>
            </a:r>
          </a:p>
          <a:p xmlns:a="http://schemas.openxmlformats.org/drawingml/2006/main">
            <a:r>
              <a:t/>
            </a:r>
          </a:p>
          <a:p xmlns:a="http://schemas.openxmlformats.org/drawingml/2006/main">
            <a:r>
              <a:t>확인 질문: 기준만 바꿨는데 미측정 상태가 달라진다면 무엇을 점검해야 할까요?</a:t>
            </a:r>
          </a:p>
          <a:p xmlns:a="http://schemas.openxmlformats.org/drawingml/2006/main">
            <a:r>
              <a:t/>
            </a:r>
          </a:p>
          <a:p xmlns:a="http://schemas.openxmlformats.org/drawingml/2006/main">
            <a:r>
              <a:t>막혔을 때: 한꺼번에 여러 곳을 수정하지 않습니다. 원본과 작업본을 나란히 보고 지정한 기준 한 곳부터 다시 비교합니다.</a:t>
            </a:r>
          </a:p>
          <a:p xmlns:a="http://schemas.openxmlformats.org/drawingml/2006/main">
            <a:r>
              <a:t/>
            </a:r>
          </a:p>
          <a:p xmlns:a="http://schemas.openxmlformats.org/drawingml/2006/main">
            <a:r>
              <a:t>[활동 자료와 작성칸](practice-guide.md#a17--수업용-센서-요약-완성-예제)에서 A17를 엽니다.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https://zeusk302-png.github.io/kdigital-physical-ai/#/sessions/2026-10-14/lesson?activity=A17</a:t>
            </a:r>
          </a:p>
          <a:p xmlns:a="http://schemas.openxmlformats.org/drawingml/2006/main">
            <a:r>
              <a:t>공식 자료: https://docs.python.org/3/tutorial/errors.html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A18 상세 원문]</a:t>
            </a:r>
          </a:p>
          <a:p xmlns:a="http://schemas.openxmlformats.org/drawingml/2006/main">
            <a:r>
              <a:t>**개념.** 프로그램 사용 결과는 파일·입력·명령·출력·판단 근거를 함께 남길 때 다른 사람이 확인할 수 있습니다. 잘 실행되었다는 한 문장보다 어떤 사례를 확인했는지가 중요합니다.</a:t>
            </a:r>
          </a:p>
          <a:p xmlns:a="http://schemas.openxmlformats.org/drawingml/2006/main">
            <a:r>
              <a:t/>
            </a:r>
          </a:p>
          <a:p xmlns:a="http://schemas.openxmlformats.org/drawingml/2006/main">
            <a:r>
              <a:t>**왜 필요한가.** 새 입력에서 경계값과 미측정을 다시 확인하면 예제 답을 외운 것인지 원리를 이해했는지 볼 수 있습니다. 실행하지 못한 경우에는 예상·강사 관찰·개인 실행을 정확히 구별합니다.</a:t>
            </a:r>
          </a:p>
          <a:p xmlns:a="http://schemas.openxmlformats.org/drawingml/2006/main">
            <a:r>
              <a:t/>
            </a:r>
          </a:p>
          <a:p xmlns:a="http://schemas.openxmlformats.org/drawingml/2006/main">
            <a:r>
              <a:t>**함께 보는 예.** 새 입력은 S04의 24.0, S05의 0.0, S06의 None입니다. 기준은 24.0 초과입니다. 정상·정상·미측정으로 예상하고, 기존 A17 작업본의 기록 목록만 바꾸는 수정안을 작성합니다.</a:t>
            </a:r>
          </a:p>
          <a:p xmlns:a="http://schemas.openxmlformats.org/drawingml/2006/main">
            <a:r>
              <a:t/>
            </a:r>
          </a:p>
          <a:p xmlns:a="http://schemas.openxmlformats.org/drawingml/2006/main">
            <a:r>
              <a:t>**헷갈리는 경우.** 과거 A17 출력 화면을 새 입력의 결과라고 제출하면 재현 근거가 맞지 않습니다. 파일을 저장한 시점과 실행한 경로, 새 입력값을 함께 확인해야 합니다.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새 관찰: S04=24.0, S05=0.0, S06=None. 기준 24.0 초과.</a:t>
            </a:r>
          </a:p>
          <a:p xmlns:a="http://schemas.openxmlformats.org/drawingml/2006/main">
            <a:r>
              <a:t>인계 양식: 실행 파일 / 바꾼 입력 / 실행 명령 / 예상 출력 / 실제 확인 방식 / 남은 질문.</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새 관찰 세 개의 예상 상태와 근거를 적습니다.</a:t>
            </a:r>
          </a:p>
          <a:p xmlns:a="http://schemas.openxmlformats.org/drawingml/2006/main">
            <a:r>
              <a:t>2. A17 구조를 재사용해 work/A18_final.py의 기록 목록을 새 자료로 바꿉니다.</a:t>
            </a:r>
          </a:p>
          <a:p xmlns:a="http://schemas.openxmlformats.org/drawingml/2006/main">
            <a:r>
              <a:t>3. 같은 기준으로 실행하거나 제공 출력과 수동 대조하고 확인 방식을 기록합니다.</a:t>
            </a:r>
          </a:p>
          <a:p xmlns:a="http://schemas.openxmlformats.org/drawingml/2006/main">
            <a:r>
              <a:t>4. 짝이 같은 파일을 찾고 결과를 설명할 수 있게 인계 세 문장을 씁니다.</a:t>
            </a:r>
          </a:p>
          <a:p xmlns:a="http://schemas.openxmlformats.org/drawingml/2006/main">
            <a:r>
              <a:t/>
            </a:r>
          </a:p>
          <a:p xmlns:a="http://schemas.openxmlformats.org/drawingml/2006/main">
            <a:r>
              <a:t>예상 결과: S04 정상, S05 정상, S06 미측정. 0.0과 None이 다르게 처리됩니다.</a:t>
            </a:r>
          </a:p>
          <a:p xmlns:a="http://schemas.openxmlformats.org/drawingml/2006/main">
            <a:r>
              <a:t/>
            </a:r>
          </a:p>
          <a:p xmlns:a="http://schemas.openxmlformats.org/drawingml/2006/main">
            <a:r>
              <a:t>확인 질문: 내일 파일에서 읽은 "24.0"을 그대로 이 코드에 넣으면 무엇이 추가로 필요할까요?</a:t>
            </a:r>
          </a:p>
          <a:p xmlns:a="http://schemas.openxmlformats.org/drawingml/2006/main">
            <a:r>
              <a:t/>
            </a:r>
          </a:p>
          <a:p xmlns:a="http://schemas.openxmlformats.org/drawingml/2006/main">
            <a:r>
              <a:t>막혔을 때: 새 파일이 실행되지 않으면 먼저 원본 A17을 실행해 실행 환경 문제인지, 새로 수정한 코드의 문제인지 확인합니다. 원본까지 실패하면 환경 단서부터 확인합니다.</a:t>
            </a:r>
          </a:p>
          <a:p xmlns:a="http://schemas.openxmlformats.org/drawingml/2006/main">
            <a:r>
              <a:t/>
            </a:r>
          </a:p>
          <a:p xmlns:a="http://schemas.openxmlformats.org/drawingml/2006/main">
            <a:r>
              <a:t>[활동 자료와 작성칸](practice-guide.md#a18--새-입력-검수와-실행-인계)에서 A18를 엽니다.</a:t>
            </a:r>
          </a:p>
          <a:p xmlns:a="http://schemas.openxmlformats.org/drawingml/2006/main">
            <a:r>
              <a:t/>
            </a:r>
          </a:p>
          <a:p xmlns:a="http://schemas.openxmlformats.org/drawingml/2006/main">
            <a:r>
              <a:t>## 공식 참고자료</a:t>
            </a:r>
          </a:p>
          <a:p xmlns:a="http://schemas.openxmlformats.org/drawingml/2006/main">
            <a:r>
              <a:t/>
            </a:r>
          </a:p>
          <a:p xmlns:a="http://schemas.openxmlformats.org/drawingml/2006/main">
            <a:r>
              <a:t>- [introduction.html](https://docs.python.org/3/tutorial/introduction.html)</a:t>
            </a:r>
          </a:p>
          <a:p xmlns:a="http://schemas.openxmlformats.org/drawingml/2006/main">
            <a:r>
              <a:t>- [controlflow.html](https://docs.python.org/3/tutorial/controlflow.html)</a:t>
            </a:r>
          </a:p>
          <a:p xmlns:a="http://schemas.openxmlformats.org/drawingml/2006/main">
            <a:r>
              <a:t>- [functions.html](https://docs.python.org/3/library/functions.html)</a:t>
            </a:r>
          </a:p>
          <a:p xmlns:a="http://schemas.openxmlformats.org/drawingml/2006/main">
            <a:r>
              <a:t/>
            </a:r>
          </a:p>
          <a:p xmlns:a="http://schemas.openxmlformats.org/drawingml/2006/main">
            <a:r>
              <a:t>공식 동작은 2026-09-26 확인했습니다. 자체 합성 사례로 설명하며 현재 교실 환경이나 학습 효과를 실측한 결과는 아닙니다.</a:t>
            </a:r>
          </a:p>
          <a:p xmlns:a="http://schemas.openxmlformats.org/drawingml/2006/main">
            <a:r>
              <a:t/>
            </a:r>
          </a:p>
          <a:p xmlns:a="http://schemas.openxmlformats.org/drawingml/2006/main">
            <a:r>
              <a:t>화면 예의 출처: D:/KDigital_PhysicalAI/.build/copyedited-ppt/spec-2026-10-14.json#slide-89;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https://zeusk302-png.github.io/kdigital-physical-ai/#/sessions/2026-10-14/lesson?activity=A18</a:t>
            </a:r>
          </a:p>
          <a:p xmlns:a="http://schemas.openxmlformats.org/drawingml/2006/main">
            <a:r>
              <a:t>공식 자료: https://docs.python.org/3/tutorial/errors.html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A18 상세 원문]</a:t>
            </a:r>
          </a:p>
          <a:p xmlns:a="http://schemas.openxmlformats.org/drawingml/2006/main">
            <a:r>
              <a:t>**개념.** 프로그램 사용 결과는 파일·입력·명령·출력·판단 근거를 함께 남길 때 다른 사람이 확인할 수 있습니다. 잘 실행되었다는 한 문장보다 어떤 사례를 확인했는지가 중요합니다.</a:t>
            </a:r>
          </a:p>
          <a:p xmlns:a="http://schemas.openxmlformats.org/drawingml/2006/main">
            <a:r>
              <a:t/>
            </a:r>
          </a:p>
          <a:p xmlns:a="http://schemas.openxmlformats.org/drawingml/2006/main">
            <a:r>
              <a:t>**왜 필요한가.** 새 입력에서 경계값과 미측정을 다시 확인하면 예제 답을 외운 것인지 원리를 이해했는지 볼 수 있습니다. 실행하지 못한 경우에는 예상·강사 관찰·개인 실행을 정확히 구별합니다.</a:t>
            </a:r>
          </a:p>
          <a:p xmlns:a="http://schemas.openxmlformats.org/drawingml/2006/main">
            <a:r>
              <a:t/>
            </a:r>
          </a:p>
          <a:p xmlns:a="http://schemas.openxmlformats.org/drawingml/2006/main">
            <a:r>
              <a:t>**함께 보는 예.** 새 입력은 S04의 24.0, S05의 0.0, S06의 None입니다. 기준은 24.0 초과입니다. 정상·정상·미측정으로 예상하고, 기존 A17 작업본의 기록 목록만 바꾸는 수정안을 작성합니다.</a:t>
            </a:r>
          </a:p>
          <a:p xmlns:a="http://schemas.openxmlformats.org/drawingml/2006/main">
            <a:r>
              <a:t/>
            </a:r>
          </a:p>
          <a:p xmlns:a="http://schemas.openxmlformats.org/drawingml/2006/main">
            <a:r>
              <a:t>**헷갈리는 경우.** 과거 A17 출력 화면을 새 입력의 결과라고 제출하면 재현 근거가 맞지 않습니다. 파일을 저장한 시점과 실행한 경로, 새 입력값을 함께 확인해야 합니다.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새 관찰: S04=24.0, S05=0.0, S06=None. 기준 24.0 초과.</a:t>
            </a:r>
          </a:p>
          <a:p xmlns:a="http://schemas.openxmlformats.org/drawingml/2006/main">
            <a:r>
              <a:t>인계 양식: 실행 파일 / 바꾼 입력 / 실행 명령 / 예상 출력 / 실제 확인 방식 / 남은 질문.</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새 관찰 세 개의 예상 상태와 근거를 적습니다.</a:t>
            </a:r>
          </a:p>
          <a:p xmlns:a="http://schemas.openxmlformats.org/drawingml/2006/main">
            <a:r>
              <a:t>2. A17 구조를 재사용해 work/A18_final.py의 기록 목록을 새 자료로 바꿉니다.</a:t>
            </a:r>
          </a:p>
          <a:p xmlns:a="http://schemas.openxmlformats.org/drawingml/2006/main">
            <a:r>
              <a:t>3. 같은 기준으로 실행하거나 제공 출력과 수동 대조하고 확인 방식을 기록합니다.</a:t>
            </a:r>
          </a:p>
          <a:p xmlns:a="http://schemas.openxmlformats.org/drawingml/2006/main">
            <a:r>
              <a:t>4. 짝이 같은 파일을 찾고 결과를 설명할 수 있게 인계 세 문장을 씁니다.</a:t>
            </a:r>
          </a:p>
          <a:p xmlns:a="http://schemas.openxmlformats.org/drawingml/2006/main">
            <a:r>
              <a:t/>
            </a:r>
          </a:p>
          <a:p xmlns:a="http://schemas.openxmlformats.org/drawingml/2006/main">
            <a:r>
              <a:t>예상 결과: S04 정상, S05 정상, S06 미측정. 0.0과 None이 다르게 처리됩니다.</a:t>
            </a:r>
          </a:p>
          <a:p xmlns:a="http://schemas.openxmlformats.org/drawingml/2006/main">
            <a:r>
              <a:t/>
            </a:r>
          </a:p>
          <a:p xmlns:a="http://schemas.openxmlformats.org/drawingml/2006/main">
            <a:r>
              <a:t>확인 질문: 내일 파일에서 읽은 "24.0"을 그대로 이 코드에 넣으면 무엇이 추가로 필요할까요?</a:t>
            </a:r>
          </a:p>
          <a:p xmlns:a="http://schemas.openxmlformats.org/drawingml/2006/main">
            <a:r>
              <a:t/>
            </a:r>
          </a:p>
          <a:p xmlns:a="http://schemas.openxmlformats.org/drawingml/2006/main">
            <a:r>
              <a:t>막혔을 때: 새 파일이 실행되지 않으면 먼저 원본 A17을 실행해 실행 환경 문제인지, 새로 수정한 코드의 문제인지 확인합니다. 원본까지 실패하면 환경 단서부터 확인합니다.</a:t>
            </a:r>
          </a:p>
          <a:p xmlns:a="http://schemas.openxmlformats.org/drawingml/2006/main">
            <a:r>
              <a:t/>
            </a:r>
          </a:p>
          <a:p xmlns:a="http://schemas.openxmlformats.org/drawingml/2006/main">
            <a:r>
              <a:t>[활동 자료와 작성칸](practice-guide.md#a18--새-입력-검수와-실행-인계)에서 A18를 엽니다.</a:t>
            </a:r>
          </a:p>
          <a:p xmlns:a="http://schemas.openxmlformats.org/drawingml/2006/main">
            <a:r>
              <a:t/>
            </a:r>
          </a:p>
          <a:p xmlns:a="http://schemas.openxmlformats.org/drawingml/2006/main">
            <a:r>
              <a:t>## 공식 참고자료</a:t>
            </a:r>
          </a:p>
          <a:p xmlns:a="http://schemas.openxmlformats.org/drawingml/2006/main">
            <a:r>
              <a:t/>
            </a:r>
          </a:p>
          <a:p xmlns:a="http://schemas.openxmlformats.org/drawingml/2006/main">
            <a:r>
              <a:t>- [introduction.html](https://docs.python.org/3/tutorial/introduction.html)</a:t>
            </a:r>
          </a:p>
          <a:p xmlns:a="http://schemas.openxmlformats.org/drawingml/2006/main">
            <a:r>
              <a:t>- [controlflow.html](https://docs.python.org/3/tutorial/controlflow.html)</a:t>
            </a:r>
          </a:p>
          <a:p xmlns:a="http://schemas.openxmlformats.org/drawingml/2006/main">
            <a:r>
              <a:t>- [functions.html](https://docs.python.org/3/library/functions.html)</a:t>
            </a:r>
          </a:p>
          <a:p xmlns:a="http://schemas.openxmlformats.org/drawingml/2006/main">
            <a:r>
              <a:t/>
            </a:r>
          </a:p>
          <a:p xmlns:a="http://schemas.openxmlformats.org/drawingml/2006/main">
            <a:r>
              <a:t>공식 동작은 2026-09-26 확인했습니다. 자체 합성 사례로 설명하며 현재 교실 환경이나 학습 효과를 실측한 결과는 아닙니다.</a:t>
            </a:r>
          </a:p>
          <a:p xmlns:a="http://schemas.openxmlformats.org/drawingml/2006/main">
            <a:r>
              <a:t/>
            </a:r>
          </a:p>
          <a:p xmlns:a="http://schemas.openxmlformats.org/drawingml/2006/main">
            <a:r>
              <a:t>화면 예의 출처: D:/KDigital_PhysicalAI/.build/copyedited-ppt/spec-2026-10-14.json#slide-84;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https://zeusk302-png.github.io/kdigital-physical-ai/#/sessions/2026-10-14/lesson?activity=A18</a:t>
            </a:r>
          </a:p>
          <a:p xmlns:a="http://schemas.openxmlformats.org/drawingml/2006/main">
            <a:r>
              <a:t>공식 자료: https://docs.python.org/3/tutorial/errors.html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점검 기록 세 건에 장치명과 온도가 함께 있습니다. 순서대로 D01은 18℃, D02는 미확인, D03은 26℃입니다. 온도만 따로 출력하면 어느 장치의 값인지 잃습니다. 한 관찰을 이름표가 붙은 값 묶음, 즉 딕셔너리로 만들고 여러 관찰을 리스트로 모읍니다. 바깥 목록은 기록들을 차례로 묶고 안쪽 이름표는 같은 기록의 항목을 구별합니다. 위치 번호와 항목 이름은 찾는 방식이 다르므로 두 겹 구조를 분리해서 봅니다.</a:t>
            </a:r>
          </a:p>
          <a:p xmlns:a="http://schemas.openxmlformats.org/drawingml/2006/main">
            <a:r>
              <a:t/>
            </a:r>
          </a:p>
          <a:p xmlns:a="http://schemas.openxmlformats.org/drawingml/2006/main">
            <a:r>
              <a:t>완성 원문은 D01/18, D02/None, D03/26 세 기록입니다. 수업용 기준은 ‘온도가 25℃ 초과이면 확인, 그 외 숫자는 정상, 미확인은 미측정’입니다. 첫 기록에서 장치명 D01과 숫자 18을 꺼내고 None인지 먼저 묻습니다. 아니므로 18&gt;25를 확인해 정상으로 표시합니다. 둘째는 None이라 미측정으로 표시하고 숫자 비교를 하지 않습니다. 셋째는 26&gt;25가 참이므로 확인입니다. 최종 세 줄은 D01 정상, D02 미측정, D03 확인입니다.</a:t>
            </a:r>
          </a:p>
          <a:p xmlns:a="http://schemas.openxmlformats.org/drawingml/2006/main">
            <a:r>
              <a:t/>
            </a:r>
          </a:p>
          <a:p xmlns:a="http://schemas.openxmlformats.org/drawingml/2006/main">
            <a:r>
              <a:t>이름표 temperature_c와 temperature는 비슷한 뜻이어도 다른 키입니다. 없는 이름표를 직접 찾으면 KeyError가 발생할 수 있습니다. 오류가 없어지도록 임의로 새 키를 만들기 전에 원자료와 약속한 헤더를 비교합니다. 같은 장치가 다른 시각에 다시 측정되면 기록이 하나 더 생길 수 있으므로 장치명만으로 중복 삭제하지 않습니다. 오늘의 상태 프로그램은 제공 숫자를 기준과 비교할 뿐 실제 센서 고장이나 안전을 확정하지 않습니다. 새 입력을 넘길 때 기록의 출처·기준·미확인 처리·예상 결과를 함께 적어 다음 사람이 같은 판단을 재현할 수 있게 합니다.</a:t>
            </a:r>
          </a:p>
          <a:p xmlns:a="http://schemas.openxmlformats.org/drawingml/2006/main">
            <a:r>
              <a:t/>
            </a:r>
          </a:p>
          <a:p xmlns:a="http://schemas.openxmlformats.org/drawingml/2006/main">
            <a:r>
              <a:t>화면 예의 출처: D:/KDigital_PhysicalAI/.build/copyedited-ppt/spec-2026-10-14.json#slide-93;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https://docs.python.org/3/tutorial/errors.html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점검 기록 세 건에 장치명과 온도가 함께 있습니다. 순서대로 D01은 18℃, D02는 미확인, D03은 26℃입니다. 온도만 따로 출력하면 어느 장치의 값인지 잃습니다. 한 관찰을 이름표가 붙은 값 묶음, 즉 딕셔너리로 만들고 여러 관찰을 리스트로 모읍니다. 바깥 목록은 기록들을 차례로 묶고 안쪽 이름표는 같은 기록의 항목을 구별합니다. 위치 번호와 항목 이름은 찾는 방식이 다르므로 두 겹 구조를 분리해서 봅니다.</a:t>
            </a:r>
          </a:p>
          <a:p xmlns:a="http://schemas.openxmlformats.org/drawingml/2006/main">
            <a:r>
              <a:t/>
            </a:r>
          </a:p>
          <a:p xmlns:a="http://schemas.openxmlformats.org/drawingml/2006/main">
            <a:r>
              <a:t>완성 원문은 D01/18, D02/None, D03/26 세 기록입니다. 수업용 기준은 ‘온도가 25℃ 초과이면 확인, 그 외 숫자는 정상, 미확인은 미측정’입니다. 첫 기록에서 장치명 D01과 숫자 18을 꺼내고 None인지 먼저 묻습니다. 아니므로 18&gt;25를 확인해 정상으로 표시합니다. 둘째는 None이라 미측정으로 표시하고 숫자 비교를 하지 않습니다. 셋째는 26&gt;25가 참이므로 확인입니다. 최종 세 줄은 D01 정상, D02 미측정, D03 확인입니다.</a:t>
            </a:r>
          </a:p>
          <a:p xmlns:a="http://schemas.openxmlformats.org/drawingml/2006/main">
            <a:r>
              <a:t/>
            </a:r>
          </a:p>
          <a:p xmlns:a="http://schemas.openxmlformats.org/drawingml/2006/main">
            <a:r>
              <a:t>이름표 temperature_c와 temperature는 비슷한 뜻이어도 다른 키입니다. 없는 이름표를 직접 찾으면 KeyError가 발생할 수 있습니다. 오류가 없어지도록 임의로 새 키를 만들기 전에 원자료와 약속한 헤더를 비교합니다. 같은 장치가 다른 시각에 다시 측정되면 기록이 하나 더 생길 수 있으므로 장치명만으로 중복 삭제하지 않습니다. 오늘의 상태 프로그램은 제공 숫자를 기준과 비교할 뿐 실제 센서 고장이나 안전을 확정하지 않습니다. 새 입력을 넘길 때 기록의 출처·기준·미확인 처리·예상 결과를 함께 적어 다음 사람이 같은 판단을 재현할 수 있게 합니다.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https://docs.python.org/3/tutorial/errors.html</a:t>
            </a:r>
          </a:p>
          <a:p xmlns:a="http://schemas.openxmlformats.org/drawingml/2006/main">
            <a:r>
              <a:t/>
            </a:r>
          </a:p>
          <a:p xmlns:a="http://schemas.openxmlformats.org/drawingml/2006/main">
            <a:r>
              <a:t>코드와 개념 해설: 이 예의 기준은 25℃ 초과입니다</a:t>
            </a:r>
          </a:p>
          <a:p xmlns:a="http://schemas.openxmlformats.org/drawingml/2006/main">
            <a:r>
              <a:t>D02는 0℃로 바꾸지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세 물품 P01 수량 0, P02 수량 미확인, P03 수량 2를 대상으로 ‘2개 이하이면 주문 요청’ 상태표를 새로 설계하세요. 물품번호와 수량의 이름표, 미확인 갈래를 먼저 정하고 세 줄을 작성하세요.</a:t>
            </a:r>
          </a:p>
          <a:p xmlns:a="http://schemas.openxmlformats.org/drawingml/2006/main">
            <a:r>
              <a:t/>
            </a:r>
          </a:p>
          <a:p xmlns:a="http://schemas.openxmlformats.org/drawingml/2006/main">
            <a:r>
              <a:t>학생이 먼저 답을 적은 뒤 풀이를 보여 줍니다. 이 문제는 필수 활동을 마친 뒤 추가로 사용합니다.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https://docs.python.org/3/tutorial/errors.html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이름표는 예를 들어 product_id와 quantity입니다. P01·P03은 주문 요청, P02는 수량 확인입니다. 0은 실제 수량이라 포함하고 None은 비교 전에 처리합니다. temperature_c 키를 그대로 쓰는 답은 새 업무의 항목 뜻을 맞추지 못한 것입니다.</a:t>
            </a:r>
          </a:p>
          <a:p xmlns:a="http://schemas.openxmlformats.org/drawingml/2006/main">
            <a:r>
              <a:t/>
            </a:r>
          </a:p>
          <a:p xmlns:a="http://schemas.openxmlformats.org/drawingml/2006/main">
            <a:r>
              <a:t>핵심 질문과 해설:</a:t>
            </a:r>
          </a:p>
          <a:p xmlns:a="http://schemas.openxmlformats.org/drawingml/2006/main">
            <a:r>
              <a:t>목록과 딕셔너리가 함께 필요한 이유는? 여러 건의 순서와 한 건 안의 항목 이름을 각각 보존하기 위해서입니다.</a:t>
            </a:r>
          </a:p>
          <a:p xmlns:a="http://schemas.openxmlformats.org/drawingml/2006/main">
            <a:r>
              <a:t>미확인을 숫자 비교 뒤에 두나요? 숫자로 비교할 수 없으므로 먼저 분기합니다.</a:t>
            </a:r>
          </a:p>
          <a:p xmlns:a="http://schemas.openxmlformats.org/drawingml/2006/main">
            <a:r>
              <a:t>상태표는 실제 고장을 증명하나요? 제공 입력과 수업 규칙을 적용한 결과이며 실제 원인은 별도 확인합니다.</a:t>
            </a:r>
          </a:p>
          <a:p xmlns:a="http://schemas.openxmlformats.org/drawingml/2006/main">
            <a:r>
              <a:t/>
            </a:r>
          </a:p>
          <a:p xmlns:a="http://schemas.openxmlformats.org/drawingml/2006/main">
            <a:r>
              <a:t>화면 예의 출처: D:/KDigital_PhysicalAI/.build/copyedited-ppt/spec-2026-10-14.json#slide-94;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https://docs.python.org/3/tutorial/errors.html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A18 상세 원문]</a:t>
            </a:r>
          </a:p>
          <a:p xmlns:a="http://schemas.openxmlformats.org/drawingml/2006/main">
            <a:r>
              <a:t>**개념.** 프로그램 사용 결과는 파일·입력·명령·출력·판단 근거를 함께 남길 때 다른 사람이 확인할 수 있습니다. 잘 실행되었다는 한 문장보다 어떤 사례를 확인했는지가 중요합니다.</a:t>
            </a:r>
          </a:p>
          <a:p xmlns:a="http://schemas.openxmlformats.org/drawingml/2006/main">
            <a:r>
              <a:t/>
            </a:r>
          </a:p>
          <a:p xmlns:a="http://schemas.openxmlformats.org/drawingml/2006/main">
            <a:r>
              <a:t>**왜 필요한가.** 새 입력에서 경계값과 미측정을 다시 확인하면 예제 답을 외운 것인지 원리를 이해했는지 볼 수 있습니다. 실행하지 못한 경우에는 예상·강사 관찰·개인 실행을 정확히 구별합니다.</a:t>
            </a:r>
          </a:p>
          <a:p xmlns:a="http://schemas.openxmlformats.org/drawingml/2006/main">
            <a:r>
              <a:t/>
            </a:r>
          </a:p>
          <a:p xmlns:a="http://schemas.openxmlformats.org/drawingml/2006/main">
            <a:r>
              <a:t>**함께 보는 예.** 새 입력은 S04의 24.0, S05의 0.0, S06의 None입니다. 기준은 24.0 초과입니다. 정상·정상·미측정으로 예상하고, 기존 A17 작업본의 기록 목록만 바꾸는 수정안을 작성합니다.</a:t>
            </a:r>
          </a:p>
          <a:p xmlns:a="http://schemas.openxmlformats.org/drawingml/2006/main">
            <a:r>
              <a:t/>
            </a:r>
          </a:p>
          <a:p xmlns:a="http://schemas.openxmlformats.org/drawingml/2006/main">
            <a:r>
              <a:t>**헷갈리는 경우.** 과거 A17 출력 화면을 새 입력의 결과라고 제출하면 재현 근거가 맞지 않습니다. 파일을 저장한 시점과 실행한 경로, 새 입력값을 함께 확인해야 합니다.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새 관찰: S04=24.0, S05=0.0, S06=None. 기준 24.0 초과.</a:t>
            </a:r>
          </a:p>
          <a:p xmlns:a="http://schemas.openxmlformats.org/drawingml/2006/main">
            <a:r>
              <a:t>인계 양식: 실행 파일 / 바꾼 입력 / 실행 명령 / 예상 출력 / 실제 확인 방식 / 남은 질문.</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새 관찰 세 개의 예상 상태와 근거를 적습니다.</a:t>
            </a:r>
          </a:p>
          <a:p xmlns:a="http://schemas.openxmlformats.org/drawingml/2006/main">
            <a:r>
              <a:t>2. A17 구조를 재사용해 work/A18_final.py의 기록 목록을 새 자료로 바꿉니다.</a:t>
            </a:r>
          </a:p>
          <a:p xmlns:a="http://schemas.openxmlformats.org/drawingml/2006/main">
            <a:r>
              <a:t>3. 같은 기준으로 실행하거나 제공 출력과 수동 대조하고 확인 방식을 기록합니다.</a:t>
            </a:r>
          </a:p>
          <a:p xmlns:a="http://schemas.openxmlformats.org/drawingml/2006/main">
            <a:r>
              <a:t>4. 짝이 같은 파일을 찾고 결과를 설명할 수 있게 인계 세 문장을 씁니다.</a:t>
            </a:r>
          </a:p>
          <a:p xmlns:a="http://schemas.openxmlformats.org/drawingml/2006/main">
            <a:r>
              <a:t/>
            </a:r>
          </a:p>
          <a:p xmlns:a="http://schemas.openxmlformats.org/drawingml/2006/main">
            <a:r>
              <a:t>예상 결과: S04 정상, S05 정상, S06 미측정. 0.0과 None이 다르게 처리됩니다.</a:t>
            </a:r>
          </a:p>
          <a:p xmlns:a="http://schemas.openxmlformats.org/drawingml/2006/main">
            <a:r>
              <a:t/>
            </a:r>
          </a:p>
          <a:p xmlns:a="http://schemas.openxmlformats.org/drawingml/2006/main">
            <a:r>
              <a:t>확인 질문: 내일 파일에서 읽은 "24.0"을 그대로 이 코드에 넣으면 무엇이 추가로 필요할까요?</a:t>
            </a:r>
          </a:p>
          <a:p xmlns:a="http://schemas.openxmlformats.org/drawingml/2006/main">
            <a:r>
              <a:t/>
            </a:r>
          </a:p>
          <a:p xmlns:a="http://schemas.openxmlformats.org/drawingml/2006/main">
            <a:r>
              <a:t>막혔을 때: 새 파일이 실행되지 않으면 먼저 원본 A17을 실행해 실행 환경 문제인지, 새로 수정한 코드의 문제인지 확인합니다. 원본까지 실패하면 환경 단서부터 확인합니다.</a:t>
            </a:r>
          </a:p>
          <a:p xmlns:a="http://schemas.openxmlformats.org/drawingml/2006/main">
            <a:r>
              <a:t/>
            </a:r>
          </a:p>
          <a:p xmlns:a="http://schemas.openxmlformats.org/drawingml/2006/main">
            <a:r>
              <a:t>[활동 자료와 작성칸](practice-guide.md#a18--새-입력-검수와-실행-인계)에서 A18를 엽니다.</a:t>
            </a:r>
          </a:p>
          <a:p xmlns:a="http://schemas.openxmlformats.org/drawingml/2006/main">
            <a:r>
              <a:t/>
            </a:r>
          </a:p>
          <a:p xmlns:a="http://schemas.openxmlformats.org/drawingml/2006/main">
            <a:r>
              <a:t>## 공식 참고자료</a:t>
            </a:r>
          </a:p>
          <a:p xmlns:a="http://schemas.openxmlformats.org/drawingml/2006/main">
            <a:r>
              <a:t/>
            </a:r>
          </a:p>
          <a:p xmlns:a="http://schemas.openxmlformats.org/drawingml/2006/main">
            <a:r>
              <a:t>- [introduction.html](https://docs.python.org/3/tutorial/introduction.html)</a:t>
            </a:r>
          </a:p>
          <a:p xmlns:a="http://schemas.openxmlformats.org/drawingml/2006/main">
            <a:r>
              <a:t>- [controlflow.html](https://docs.python.org/3/tutorial/controlflow.html)</a:t>
            </a:r>
          </a:p>
          <a:p xmlns:a="http://schemas.openxmlformats.org/drawingml/2006/main">
            <a:r>
              <a:t>- [functions.html](https://docs.python.org/3/library/functions.html)</a:t>
            </a:r>
          </a:p>
          <a:p xmlns:a="http://schemas.openxmlformats.org/drawingml/2006/main">
            <a:r>
              <a:t/>
            </a:r>
          </a:p>
          <a:p xmlns:a="http://schemas.openxmlformats.org/drawingml/2006/main">
            <a:r>
              <a:t>공식 동작은 2026-09-26 확인했습니다. 자체 합성 사례로 설명하며 현재 교실 환경이나 학습 효과를 실측한 결과는 아닙니다.</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https://zeusk302-png.github.io/kdigital-physical-ai/#/sessions/2026-10-14/lesson?activity=A18</a:t>
            </a:r>
          </a:p>
          <a:p xmlns:a="http://schemas.openxmlformats.org/drawingml/2006/main">
            <a:r>
              <a:t>공식 자료: https://docs.python.org/3/tutorial/errors.html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한 기록의 값과 장치명을 함께 보존합니다.</a:t>
            </a:r>
          </a:p>
          <a:p xmlns:a="http://schemas.openxmlformats.org/drawingml/2006/main">
            <a:r>
              <a:t>미측정 갈래를 숫자 비교보다 앞에 둡니다.</a:t>
            </a:r>
          </a:p>
          <a:p xmlns:a="http://schemas.openxmlformats.org/drawingml/2006/main">
            <a:r>
              <a:t>연습용 데이터를 검사한 결과로 실제 센서 성능을 판단하지 않습니다.</a:t>
            </a:r>
          </a:p>
          <a:p xmlns:a="http://schemas.openxmlformats.org/drawingml/2006/main">
            <a:r>
              <a:t/>
            </a:r>
          </a:p>
          <a:p xmlns:a="http://schemas.openxmlformats.org/drawingml/2006/main">
            <a:r>
              <a:t>관련 교시의 상세 원문:</a:t>
            </a:r>
          </a:p>
          <a:p xmlns:a="http://schemas.openxmlformats.org/drawingml/2006/main">
            <a:r>
              <a:t>### 사례로 이해하기 · 한 기록의 이름표를 지키며 상태표 만들기</a:t>
            </a:r>
          </a:p>
          <a:p xmlns:a="http://schemas.openxmlformats.org/drawingml/2006/main">
            <a:r>
              <a:t/>
            </a:r>
          </a:p>
          <a:p xmlns:a="http://schemas.openxmlformats.org/drawingml/2006/main">
            <a:r>
              <a:t/>
            </a:r>
          </a:p>
          <a:p xmlns:a="http://schemas.openxmlformats.org/drawingml/2006/main">
            <a:r>
              <a:t/>
            </a:r>
          </a:p>
          <a:p xmlns:a="http://schemas.openxmlformats.org/drawingml/2006/main">
            <a:r>
              <a:t>점검 기록 세 건에 장치명과 온도가 함께 있습니다. 순서대로 D01은 18℃, D02는 미확인, D03은 26℃입니다. 온도만 따로 출력하면 어느 장치의 값인지 잃습니다. 한 관찰을 이름표가 붙은 값 묶음, 즉 딕셔너리로 만들고 여러 관찰을 리스트로 모읍니다. 바깥 목록은 기록들을 차례로 묶고 안쪽 이름표는 같은 기록의 항목을 구별합니다. 위치 번호와 항목 이름은 찾는 방식이 다르므로 두 겹 구조를 분리해서 봅니다.</a:t>
            </a:r>
          </a:p>
          <a:p xmlns:a="http://schemas.openxmlformats.org/drawingml/2006/main">
            <a:r>
              <a:t/>
            </a:r>
          </a:p>
          <a:p xmlns:a="http://schemas.openxmlformats.org/drawingml/2006/main">
            <a:r>
              <a:t>완성 원문은 D01/18, D02/None, D03/26 세 기록입니다. 수업용 기준은 ‘온도가 25℃ 초과이면 확인, 그 외 숫자는 정상, 미확인은 미측정’입니다. 첫 기록에서 장치명 D01과 숫자 18을 꺼내고 None인지 먼저 묻습니다. 아니므로 18&gt;25를 확인해 정상으로 표시합니다. 둘째는 None이라 미측정으로 표시하고 숫자 비교를 하지 않습니다. 셋째는 26&gt;25가 참이므로 확인입니다. 최종 세 줄은 D01 정상, D02 미측정, D03 확인입니다.</a:t>
            </a:r>
          </a:p>
          <a:p xmlns:a="http://schemas.openxmlformats.org/drawingml/2006/main">
            <a:r>
              <a:t/>
            </a:r>
          </a:p>
          <a:p xmlns:a="http://schemas.openxmlformats.org/drawingml/2006/main">
            <a:r>
              <a:t>이름표 temperature_c와 temperature는 비슷한 뜻이어도 다른 키입니다. 없는 이름표를 직접 찾으면 KeyError가 발생할 수 있습니다. 오류가 없어지도록 임의로 새 키를 만들기 전에 원자료와 약속한 헤더를 비교합니다. 같은 장치가 다른 시각에 다시 측정되면 기록이 하나 더 생길 수 있으므로 장치명만으로 중복 삭제하지 않습니다. 오늘의 상태 프로그램은 제공 숫자를 기준과 비교할 뿐 실제 센서 고장이나 안전을 확정하지 않습니다. 새 입력을 넘길 때 기록의 출처·기준·미확인 처리·예상 결과를 함께 적어 다음 사람이 같은 판단을 재현할 수 있게 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세 물품 P01 수량 0, P02 수량 미확인, P03 수량 2를 대상으로 ‘2개 이하이면 주문 요청’ 상태표를 새로 설계하세요. 물품번호와 수량의 이름표, 미확인 갈래를 먼저 정하고 세 줄을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이름표는 예를 들어 product_id와 quantity입니다. P01·P03은 주문 요청, P02는 수량 확인입니다. 0은 실제 수량이라 포함하고 None은 비교 전에 처리합니다. temperature_c 키를 그대로 쓰는 답은 새 업무의 항목 뜻을 맞추지 못한 것입니다.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**목록과 딕셔너리가 함께 필요한 이유는?** 여러 건의 순서와 한 건 안의 항목 이름을 각각 보존하기 위해서입니다.</a:t>
            </a:r>
          </a:p>
          <a:p xmlns:a="http://schemas.openxmlformats.org/drawingml/2006/main">
            <a:r>
              <a:t/>
            </a:r>
          </a:p>
          <a:p xmlns:a="http://schemas.openxmlformats.org/drawingml/2006/main">
            <a:r>
              <a:t>2. **미확인을 숫자 비교 뒤에 두나요?** 숫자로 비교할 수 없으므로 먼저 분기합니다.</a:t>
            </a:r>
          </a:p>
          <a:p xmlns:a="http://schemas.openxmlformats.org/drawingml/2006/main">
            <a:r>
              <a:t/>
            </a:r>
          </a:p>
          <a:p xmlns:a="http://schemas.openxmlformats.org/drawingml/2006/main">
            <a:r>
              <a:t>3. **상태표는 실제 고장을 증명하나요?** 제공 입력과 수업 규칙을 적용한 결과이며 실제 원인은 별도 확인합니다.</a:t>
            </a:r>
          </a:p>
          <a:p xmlns:a="http://schemas.openxmlformats.org/drawingml/2006/main">
            <a:r>
              <a:t/>
            </a:r>
          </a:p>
          <a:p xmlns:a="http://schemas.openxmlformats.org/drawingml/2006/main">
            <a:r>
              <a:t/>
            </a:r>
          </a:p>
          <a:p xmlns:a="http://schemas.openxmlformats.org/drawingml/2006/main">
            <a:r>
              <a:t>**개념.** 딕셔너리는 이름표인 키와 값의 묶음입니다. 여러 관찰 딕셔너리를 리스트로 묶으면 ‘기록 여러 건’의 구조가 됩니다. 이 개념은 10/8의 표 행과 JSON 객체를 프로그램 안에 옮긴 것입니다.</a:t>
            </a:r>
          </a:p>
          <a:p xmlns:a="http://schemas.openxmlformats.org/drawingml/2006/main">
            <a:r>
              <a:t/>
            </a:r>
          </a:p>
          <a:p xmlns:a="http://schemas.openxmlformats.org/drawingml/2006/main">
            <a:r>
              <a:t>**왜 필요한가.** 온도만 나열하면 어느 센서인지 놓치기 쉽습니다. 식별자와 온도를 한 기록으로 묶어 처리하면 출력의 대상을 분명히 할 수 있습니다. 오늘은 제공된 구조를 읽고 한 값만 바꿉니다.</a:t>
            </a:r>
          </a:p>
          <a:p xmlns:a="http://schemas.openxmlformats.org/drawingml/2006/main">
            <a:r>
              <a:t/>
            </a:r>
          </a:p>
          <a:p xmlns:a="http://schemas.openxmlformats.org/drawingml/2006/main">
            <a:r>
              <a:t>**함께 보는 예.** records는 기록 두 건의 목록입니다. 첫 기록의 sensor_id는 S01이고 temperature_c는 22.5입니다. for의 record는 이번 차례의 딕셔너리 한 개를 가리킵니다.</a:t>
            </a:r>
          </a:p>
          <a:p xmlns:a="http://schemas.openxmlformats.org/drawingml/2006/main">
            <a:r>
              <a:t/>
            </a:r>
          </a:p>
          <a:p xmlns:a="http://schemas.openxmlformats.org/drawingml/2006/main">
            <a:r>
              <a:t>**헷갈리는 경우.** record[0]처럼 위치로 읽는 것과 record["sensor_id"]처럼 키로 읽는 것을 섞지 않습니다. 이 딕셔너리에는 숫자 0이라는 키를 준비하지 않았습니다.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records = [</a:t>
            </a:r>
          </a:p>
          <a:p xmlns:a="http://schemas.openxmlformats.org/drawingml/2006/main">
            <a:r>
              <a:t>    {"sensor_id": "S01", "temperature_c": 22.5},</a:t>
            </a:r>
          </a:p>
          <a:p xmlns:a="http://schemas.openxmlformats.org/drawingml/2006/main">
            <a:r>
              <a:t>    {"sensor_id": "S02", "temperature_c": 24.0},</a:t>
            </a:r>
          </a:p>
          <a:p xmlns:a="http://schemas.openxmlformats.org/drawingml/2006/main">
            <a:r>
              <a:t>]</a:t>
            </a:r>
          </a:p>
          <a:p xmlns:a="http://schemas.openxmlformats.org/drawingml/2006/main">
            <a:r>
              <a:t>for record in records:</a:t>
            </a:r>
          </a:p>
          <a:p xmlns:a="http://schemas.openxmlformats.org/drawingml/2006/main">
            <a:r>
              <a:t>    print(record["sensor_id"], record["temperature_c"])</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`records = [` | 기록을 담을 리스트를 시작합니다. |</a:t>
            </a:r>
          </a:p>
          <a:p xmlns:a="http://schemas.openxmlformats.org/drawingml/2006/main">
            <a:r>
              <a:t>| 2 | `    {"sensor_id": "S01", "temperature_c": 22.5},` | 첫 관찰을 두 키의 딕셔너리로 넣습니다. |</a:t>
            </a:r>
          </a:p>
          <a:p xmlns:a="http://schemas.openxmlformats.org/drawingml/2006/main">
            <a:r>
              <a:t>| 3 | `    {"sensor_id": "S02", "temperature_c": 24.0},` | 둘째 관찰을 넣습니다. |</a:t>
            </a:r>
          </a:p>
          <a:p xmlns:a="http://schemas.openxmlformats.org/drawingml/2006/main">
            <a:r>
              <a:t>| 4 | `]` | 리스트를 닫습니다. |</a:t>
            </a:r>
          </a:p>
          <a:p xmlns:a="http://schemas.openxmlformats.org/drawingml/2006/main">
            <a:r>
              <a:t>| 5 | `for record in records:` | 딕셔너리 한 개씩 읽습니다. |</a:t>
            </a:r>
          </a:p>
          <a:p xmlns:a="http://schemas.openxmlformats.org/drawingml/2006/main">
            <a:r>
              <a:t>| 6 | `    print(record["sensor_id"], record["temperature_c"])` | 이번 관찰의 이름표로 두 값을 찾아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code/A16_example.py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work/A16_example.py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S02 24.0</a:t>
            </a:r>
          </a:p>
          <a:p xmlns:a="http://schemas.openxmlformats.org/drawingml/2006/main">
            <a:r>
              <a:t>```</a:t>
            </a:r>
          </a:p>
          <a:p xmlns:a="http://schemas.openxmlformats.org/drawingml/2006/main">
            <a:r>
              <a:t/>
            </a:r>
          </a:p>
          <a:p xmlns:a="http://schemas.openxmlformats.org/drawingml/2006/main">
            <a:r>
              <a:t>작은 수정: `"temperature_c": 24.0`를 `"temperature_c":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S02 25.0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바깥 리스트와 안쪽 딕셔너리를 표시합니다.</a:t>
            </a:r>
          </a:p>
          <a:p xmlns:a="http://schemas.openxmlformats.org/drawingml/2006/main">
            <a:r>
              <a:t>2. S02의 온도를 바꾸었을 때 어느 출력만 바뀌는지 예상합니다.</a:t>
            </a:r>
          </a:p>
          <a:p xmlns:a="http://schemas.openxmlformats.org/drawingml/2006/main">
            <a:r>
              <a:t>3. 값 한 곳을 수정해 출력과 관찰 대상이 유지되는지 확인합니다.</a:t>
            </a:r>
          </a:p>
          <a:p xmlns:a="http://schemas.openxmlformats.org/drawingml/2006/main">
            <a:r>
              <a:t>4. 표의 한 행과 record의 관계를 문장으로 설명합니다.</a:t>
            </a:r>
          </a:p>
          <a:p xmlns:a="http://schemas.openxmlformats.org/drawingml/2006/main">
            <a:r>
              <a:t/>
            </a:r>
          </a:p>
          <a:p xmlns:a="http://schemas.openxmlformats.org/drawingml/2006/main">
            <a:r>
              <a:t>예상 결과: S02의 온도만 25.0으로 바뀝니다. 기록 수는 두 건입니다.</a:t>
            </a:r>
          </a:p>
          <a:p xmlns:a="http://schemas.openxmlformats.org/drawingml/2006/main">
            <a:r>
              <a:t/>
            </a:r>
          </a:p>
          <a:p xmlns:a="http://schemas.openxmlformats.org/drawingml/2006/main">
            <a:r>
              <a:t>확인 질문: 딕셔너리 키 temperature_c를 오타로 읽으면 무엇부터 확인하나요?</a:t>
            </a:r>
          </a:p>
          <a:p xmlns:a="http://schemas.openxmlformats.org/drawingml/2006/main">
            <a:r>
              <a:t/>
            </a:r>
          </a:p>
          <a:p xmlns:a="http://schemas.openxmlformats.org/drawingml/2006/main">
            <a:r>
              <a:t>막혔을 때: 괄호 짝을 찾기 어렵다면 먼저 리스트 외곽, 다음 각 딕셔너리 외곽을 따로 표시합니다.</a:t>
            </a:r>
          </a:p>
          <a:p xmlns:a="http://schemas.openxmlformats.org/drawingml/2006/main">
            <a:r>
              <a:t/>
            </a:r>
          </a:p>
          <a:p xmlns:a="http://schemas.openxmlformats.org/drawingml/2006/main">
            <a:r>
              <a:t>[활동 자료와 작성칸](practice-guide.md#a16--관찰-한-건과-점검표-구조)에서 A16를 엽니다.</a:t>
            </a:r>
          </a:p>
          <a:p xmlns:a="http://schemas.openxmlformats.org/drawingml/2006/main">
            <a:r>
              <a:t/>
            </a:r>
          </a:p>
          <a:p xmlns:a="http://schemas.openxmlformats.org/drawingml/2006/main">
            <a:r>
              <a:t>화면 예의 출처: D:/KDigital_PhysicalAI/.build/copyedited-ppt/spec-2026-10-14.json#slide-89; D:\KDigital_PhysicalAI\outputs\2026-10-14\lesson.md</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https://docs.python.org/3/tutorial/errors.html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Python 기초 확인과 평가</a:t>
            </a:r>
          </a:p>
          <a:p xmlns:a="http://schemas.openxmlformats.org/drawingml/2006/main">
            <a:r>
              <a:t/>
            </a:r>
          </a:p>
          <a:p xmlns:a="http://schemas.openxmlformats.org/drawingml/2006/main">
            <a:r>
              <a:t>**18활동의 작성·예상·실제 확인을 분리해 봅니다. 속도나 설치 성공만 평가하지 않습니다.**</a:t>
            </a:r>
          </a:p>
          <a:p xmlns:a="http://schemas.openxmlformats.org/drawingml/2006/main">
            <a:r>
              <a:t/>
            </a:r>
          </a:p>
          <a:p xmlns:a="http://schemas.openxmlformats.org/drawingml/2006/main">
            <a:r>
              <a:t>| 기준 | 확인할 증거 | 보완이 필요한 경우 |</a:t>
            </a:r>
          </a:p>
          <a:p xmlns:a="http://schemas.openxmlformats.org/drawingml/2006/main">
            <a:r>
              <a:t>| --- | --- | --- |</a:t>
            </a:r>
          </a:p>
          <a:p xmlns:a="http://schemas.openxmlformats.org/drawingml/2006/main">
            <a:r>
              <a:t>| 개념 | 입력·처리·출력 또는 변경 단계의 역할 설명 | 결과 이름만 외우고 근거를 말하지 못함 |</a:t>
            </a:r>
          </a:p>
          <a:p xmlns:a="http://schemas.openxmlformats.org/drawingml/2006/main">
            <a:r>
              <a:t>| 수정 | 지정한 위치와 변경 전후를 연결 | 여러 곳을 바꾸어 원인을 설명하지 못함 |</a:t>
            </a:r>
          </a:p>
          <a:p xmlns:a="http://schemas.openxmlformats.org/drawingml/2006/main">
            <a:r>
              <a:t>| 확인 | 정상·경계·오류 사례의 예상과 실제 구별 | 실행 성공을 내용 정확성으로 단정 |</a:t>
            </a:r>
          </a:p>
          <a:p xmlns:a="http://schemas.openxmlformats.org/drawingml/2006/main">
            <a:r>
              <a:t>| 전달 | 파일·명령·결과·남은 질문을 재현 가능하게 기록 | 어느 파일을 사용했는지 불명확 |</a:t>
            </a:r>
          </a:p>
          <a:p xmlns:a="http://schemas.openxmlformats.org/drawingml/2006/main">
            <a:r>
              <a:t/>
            </a:r>
          </a:p>
          <a:p xmlns:a="http://schemas.openxmlformats.org/drawingml/2006/main">
            <a:r>
              <a:t>각 항목은 ‘혼자 설명할 수 있음 / 힌트를 받으면 설명할 수 있음 / 다시 연습 필요’로 표시합니다. 직접 실행했는지도 따로 확인합니다. 실행하지 못했더라도 답과 설명으로 이해한 내용을 확인합니다.</a:t>
            </a:r>
          </a:p>
          <a:p xmlns:a="http://schemas.openxmlformats.org/drawingml/2006/main">
            <a:r>
              <a:t/>
            </a:r>
          </a:p>
          <a:p xmlns:a="http://schemas.openxmlformats.org/drawingml/2006/main">
            <a:r>
              <a:t>## 구간별 확인 질문</a:t>
            </a:r>
          </a:p>
          <a:p xmlns:a="http://schemas.openxmlformats.org/drawingml/2006/main">
            <a:r>
              <a:t/>
            </a:r>
          </a:p>
          <a:p xmlns:a="http://schemas.openxmlformats.org/drawingml/2006/main">
            <a:r>
              <a:t>1. 오류 줄 번호가 마지막 줄을 가리키면 그 줄만 보면 충분할까요?</a:t>
            </a:r>
          </a:p>
          <a:p xmlns:a="http://schemas.openxmlformats.org/drawingml/2006/main">
            <a:r>
              <a:t>2. 오류가 사라졌다는 것만으로 올바른 수정이라고 할 수 있나요?</a:t>
            </a:r>
          </a:p>
          <a:p xmlns:a="http://schemas.openxmlformats.org/drawingml/2006/main">
            <a:r>
              <a:t>3. 코드가 종료 코드 0으로 끝났다면 평균의 업무 의미도 보장되나요?</a:t>
            </a:r>
          </a:p>
          <a:p xmlns:a="http://schemas.openxmlformats.org/drawingml/2006/main">
            <a:r>
              <a:t>4. None에 직접 &gt; 24.0을 적용하면 어떻게 될까요?</a:t>
            </a:r>
          </a:p>
          <a:p xmlns:a="http://schemas.openxmlformats.org/drawingml/2006/main">
            <a:r>
              <a:t>5. 한 번의 print인데 세 항목을 검사할 수 있는 이유는 무엇인가요?</a:t>
            </a:r>
          </a:p>
          <a:p xmlns:a="http://schemas.openxmlformats.org/drawingml/2006/main">
            <a:r>
              <a:t>6. 내일 파일에서 읽은 "24.0"을 그대로 이 코드에 넣으면 무엇이 추가로 필요할까요?</a:t>
            </a:r>
          </a:p>
          <a:p xmlns:a="http://schemas.openxmlformats.org/drawingml/2006/main">
            <a:r>
              <a:t/>
            </a:r>
          </a:p>
          <a:p xmlns:a="http://schemas.openxmlformats.org/drawingml/2006/main">
            <a:r>
              <a:t>## 제출</a:t>
            </a:r>
          </a:p>
          <a:p xmlns:a="http://schemas.openxmlformats.org/drawingml/2006/main">
            <a:r>
              <a:t/>
            </a:r>
          </a:p>
          <a:p xmlns:a="http://schemas.openxmlformats.org/drawingml/2006/main">
            <a:r>
              <a:t>work의 활동 노트와 수정 파일, 마지막 종합 작업, 확인한 명령·출력 또는 수동 추적 기록을 제출합니다. 기관 제출 위치는 미확인입니다. 정답 폴더를 학생 결과에 복사하지 않습니다.</a:t>
            </a:r>
          </a:p>
          <a:p xmlns:a="http://schemas.openxmlformats.org/drawingml/2006/main">
            <a:r>
              <a:t/>
            </a:r>
          </a:p>
          <a:p xmlns:a="http://schemas.openxmlformats.org/drawingml/2006/main">
            <a:r>
              <a:t/>
            </a:r>
          </a:p>
          <a:p xmlns:a="http://schemas.openxmlformats.org/drawingml/2006/main">
            <a:r>
              <a:t>## 다른 사례로 연습하기</a:t>
            </a:r>
          </a:p>
          <a:p xmlns:a="http://schemas.openxmlformats.org/drawingml/2006/main">
            <a:r>
              <a:t/>
            </a:r>
          </a:p>
          <a:p xmlns:a="http://schemas.openxmlformats.org/drawingml/2006/main">
            <a:r>
              <a:t>아래 여섯 문제는 추가 복습용입니다. 풀이를 보기 전에 답과 그렇게 생각한 이유를 적으세요. 프로그램 설치 여부와 별개로 내용을 이해했는지 확인하는 문제입니다.</a:t>
            </a:r>
          </a:p>
          <a:p xmlns:a="http://schemas.openxmlformats.org/drawingml/2006/main">
            <a:r>
              <a:t/>
            </a:r>
          </a:p>
          <a:p xmlns:a="http://schemas.openxmlformats.org/drawingml/2006/main">
            <a:r>
              <a:t>### 문제 1 · 편집 화면·저장 파일·실행 결과의 세 상태</a:t>
            </a:r>
          </a:p>
          <a:p xmlns:a="http://schemas.openxmlformats.org/drawingml/2006/main">
            <a:r>
              <a:t/>
            </a:r>
          </a:p>
          <a:p xmlns:a="http://schemas.openxmlformats.org/drawingml/2006/main">
            <a:r>
              <a:t>복습·도전: 편집기는 work/check.py에 ‘검사 B’를 보여 줍니다. 실행 명령은 code/check.py를 가리키고 출력은 ‘검사 A’입니다. 확인된 사실 세 가지와 다음 확인 동작 두 가지를 적으세요. 새 설치나 임의 파일 삭제는 필요하지 않습니다.</a:t>
            </a:r>
          </a:p>
          <a:p xmlns:a="http://schemas.openxmlformats.org/drawingml/2006/main">
            <a:r>
              <a:t/>
            </a:r>
          </a:p>
          <a:p xmlns:a="http://schemas.openxmlformats.org/drawingml/2006/main">
            <a:r>
              <a:t>**정답·해설:** 편집한 파일과 실행한 파일의 위치가 다르며 화면에는 A가 나왔습니다. work 파일을 저장했는지 확인하고 같은 work 주소를 실행합니다. 파일이 다르다는 증거는 있지만 저장 여부는 아직 미확인입니다. ‘Python 고장’은 증거 없는 원인 단정입니다.</a:t>
            </a:r>
          </a:p>
          <a:p xmlns:a="http://schemas.openxmlformats.org/drawingml/2006/main">
            <a:r>
              <a:t/>
            </a:r>
          </a:p>
          <a:p xmlns:a="http://schemas.openxmlformats.org/drawingml/2006/main">
            <a:r>
              <a:t>### 문제 2 · 재고 갱신을 한 줄씩 추적하기</a:t>
            </a:r>
          </a:p>
          <a:p xmlns:a="http://schemas.openxmlformats.org/drawingml/2006/main">
            <a:r>
              <a:t/>
            </a:r>
          </a:p>
          <a:p xmlns:a="http://schemas.openxmlformats.org/drawingml/2006/main">
            <a:r>
              <a:t>복습·도전: 물 12병을 준비하고 4병을 배부한 뒤 현재 수량을 안내합니다. 다시 6병을 받아 최종 수량을 안내합니다. 두 안내값과 세 번의 대입 뒤 현재 수량을 표로 작성하고, 두 print를 어디에 놓을지 판단하세요.</a:t>
            </a:r>
          </a:p>
          <a:p xmlns:a="http://schemas.openxmlformats.org/drawingml/2006/main">
            <a:r>
              <a:t/>
            </a:r>
          </a:p>
          <a:p xmlns:a="http://schemas.openxmlformats.org/drawingml/2006/main">
            <a:r>
              <a:t>**정답·해설:** 대입 뒤 현재 값은 12→8→14이고 안내값은 8과 14입니다. 배부 직후와 추가 입고 직후에 출력해야 합니다. 모든 대입 뒤에 같은 이름을 두 번 출력하면 14·14가 되어 중간 안내를 잃습니다.</a:t>
            </a:r>
          </a:p>
          <a:p xmlns:a="http://schemas.openxmlformats.org/drawingml/2006/main">
            <a:r>
              <a:t/>
            </a:r>
          </a:p>
          <a:p xmlns:a="http://schemas.openxmlformats.org/drawingml/2006/main">
            <a:r>
              <a:t>### 문제 3 · 운송비 계산에서 문자열과 숫자 나누기</a:t>
            </a:r>
          </a:p>
          <a:p xmlns:a="http://schemas.openxmlformats.org/drawingml/2006/main">
            <a:r>
              <a:t/>
            </a:r>
          </a:p>
          <a:p xmlns:a="http://schemas.openxmlformats.org/drawingml/2006/main">
            <a:r>
              <a:t>복습·도전: 판매표의 주문번호 “0009”, 단가 “1500”, 수량 “3”을 보고 총액과 각 항목의 저장 계획을 쓰세요. 단가는 원 단위의 정수이고, 수량은 개수로 정했습니다. 배송비 2000원을 포함한 최종액도 계산하세요.</a:t>
            </a:r>
          </a:p>
          <a:p xmlns:a="http://schemas.openxmlformats.org/drawingml/2006/main">
            <a:r>
              <a:t/>
            </a:r>
          </a:p>
          <a:p xmlns:a="http://schemas.openxmlformats.org/drawingml/2006/main">
            <a:r>
              <a:t>**정답·해설:** 주문번호는 문자열 유지, 단가와 수량은 정수로 해석합니다. 상품 총액 1500×3=4500원, 최종액 6500원입니다. “1500”+“3”의 문자열 연결은 “15003”으로 금액 계산이 아닙니다. 주문번호를 정수 9로 바꾸면 앞 0을 잃습니다.</a:t>
            </a:r>
          </a:p>
          <a:p xmlns:a="http://schemas.openxmlformats.org/drawingml/2006/main">
            <a:r>
              <a:t/>
            </a:r>
          </a:p>
          <a:p xmlns:a="http://schemas.openxmlformats.org/drawingml/2006/main">
            <a:r>
              <a:t>### 문제 4 · 이상과 초과를 업무 문장으로 읽기</a:t>
            </a:r>
          </a:p>
          <a:p xmlns:a="http://schemas.openxmlformats.org/drawingml/2006/main">
            <a:r>
              <a:t/>
            </a:r>
          </a:p>
          <a:p xmlns:a="http://schemas.openxmlformats.org/drawingml/2006/main">
            <a:r>
              <a:t>복습·도전: 대여 정책은 ‘잔여 수량이 5개 이하이면 보충 요청’입니다. 4, 5, 6, 미확인 네 입력의 결과와 비교 기호를 정하세요. 미확인은 보충 확정 대신 확인 요청으로 처리합니다.</a:t>
            </a:r>
          </a:p>
          <a:p xmlns:a="http://schemas.openxmlformats.org/drawingml/2006/main">
            <a:r>
              <a:t/>
            </a:r>
          </a:p>
          <a:p xmlns:a="http://schemas.openxmlformats.org/drawingml/2006/main">
            <a:r>
              <a:t>**정답·해설:** 기호는 &lt;=이며 4와 5는 보충 요청, 6은 요청 없음, 미확인은 확인 요청입니다. &lt;를 고르면 경계 5를 놓칩니다. 미확인을 0으로 채우면 수량을 실제 관찰한 것처럼 처리하는 오답입니다.</a:t>
            </a:r>
          </a:p>
          <a:p xmlns:a="http://schemas.openxmlformats.org/drawingml/2006/main">
            <a:r>
              <a:t/>
            </a:r>
          </a:p>
          <a:p xmlns:a="http://schemas.openxmlformats.org/drawingml/2006/main">
            <a:r>
              <a:t>### 문제 5 · 목록의 위치와 반복 누적을 함께 추적하기</a:t>
            </a:r>
          </a:p>
          <a:p xmlns:a="http://schemas.openxmlformats.org/drawingml/2006/main">
            <a:r>
              <a:t/>
            </a:r>
          </a:p>
          <a:p xmlns:a="http://schemas.openxmlformats.org/drawingml/2006/main">
            <a:r>
              <a:t>복습·도전: 주문별 수량 목록은 3, 0, 7, 2입니다. 총수량과 2개 초과 주문 수를 각각 손 추적표로 구하세요. 길이와 마지막 위치 번호, 빈 목록일 때 두 결과도 적으세요.</a:t>
            </a:r>
          </a:p>
          <a:p xmlns:a="http://schemas.openxmlformats.org/drawingml/2006/main">
            <a:r>
              <a:t/>
            </a:r>
          </a:p>
          <a:p xmlns:a="http://schemas.openxmlformats.org/drawingml/2006/main">
            <a:r>
              <a:t>**정답·해설:** 총수량은 12개이고 초과 주문은 3과 7 두 건입니다. 길이 4, 마지막 번호 3입니다. 빈 목록은 초기 합계 0·건수 0을 유지합니다. 0을 오류라고 임의 삭제하거나 수량 합 12를 주문 건수로 쓰면 서로 다른 질문을 혼동한 것입니다.</a:t>
            </a:r>
          </a:p>
          <a:p xmlns:a="http://schemas.openxmlformats.org/drawingml/2006/main">
            <a:r>
              <a:t/>
            </a:r>
          </a:p>
          <a:p xmlns:a="http://schemas.openxmlformats.org/drawingml/2006/main">
            <a:r>
              <a:t>### 문제 6 · 한 기록의 이름표를 지키며 상태표 만들기</a:t>
            </a:r>
          </a:p>
          <a:p xmlns:a="http://schemas.openxmlformats.org/drawingml/2006/main">
            <a:r>
              <a:t/>
            </a:r>
          </a:p>
          <a:p xmlns:a="http://schemas.openxmlformats.org/drawingml/2006/main">
            <a:r>
              <a:t>복습·도전: 세 물품 P01 수량 0, P02 수량 미확인, P03 수량 2를 대상으로 ‘2개 이하이면 주문 요청’ 상태표를 새로 설계하세요. 물품번호와 수량의 이름표, 미확인 갈래를 먼저 정하고 세 줄을 작성하세요.</a:t>
            </a:r>
          </a:p>
          <a:p xmlns:a="http://schemas.openxmlformats.org/drawingml/2006/main">
            <a:r>
              <a:t/>
            </a:r>
          </a:p>
          <a:p xmlns:a="http://schemas.openxmlformats.org/drawingml/2006/main">
            <a:r>
              <a:t>**정답·해설:** 이름표는 예를 들어 product_id와 quantity입니다. P01·P03은 주문 요청, P02는 수량 확인입니다. 0은 실제 수량이라 포함하고 None은 비교 전에 처리합니다. temperature_c 키를 그대로 쓰는 답은 새 업무의 항목 뜻을 맞추지 못한 것입니다.</a:t>
            </a:r>
          </a:p>
          <a:p xmlns:a="http://schemas.openxmlformats.org/drawingml/2006/main">
            <a:r>
              <a:t/>
            </a:r>
          </a:p>
          <a:p xmlns:a="http://schemas.openxmlformats.org/drawingml/2006/main">
            <a:r>
              <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https://docs.python.org/3/tutorial/errors.html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Python 기초 · 값과 실행 흐름</a:t>
            </a:r>
          </a:p>
          <a:p xmlns:a="http://schemas.openxmlformats.org/drawingml/2006/main">
            <a:r>
              <a:t/>
            </a:r>
          </a:p>
          <a:p xmlns:a="http://schemas.openxmlformats.org/drawingml/2006/main">
            <a:r>
              <a:t>2026-10-14 · Python 기초</a:t>
            </a:r>
          </a:p>
          <a:p xmlns:a="http://schemas.openxmlformats.org/drawingml/2006/main">
            <a:r>
              <a:t/>
            </a:r>
          </a:p>
          <a:p xmlns:a="http://schemas.openxmlformats.org/drawingml/2006/main">
            <a:r>
              <a:t>10/8에 읽었던 온도와 식별자를 Python 값으로 옮깁니다. 파일 저장과 실행을 구별하고 변수·자료형·연산·조건·반복을 짧은 코드에서 확인한 뒤 수업용 점검표를 완성합니다.</a:t>
            </a:r>
          </a:p>
          <a:p xmlns:a="http://schemas.openxmlformats.org/drawingml/2006/main">
            <a:r>
              <a:t/>
            </a:r>
          </a:p>
          <a:p xmlns:a="http://schemas.openxmlformats.org/drawingml/2006/main">
            <a:r>
              <a:t>**수업은 50분씩 6교시입니다.** 원본은 그대로 두고 work 폴더의 파일에서 안내한 부분을 고칩니다. 계정이나 실제 장비 없이 연습용 자료를 사용합니다.</a:t>
            </a:r>
          </a:p>
          <a:p xmlns:a="http://schemas.openxmlformats.org/drawingml/2006/main">
            <a:r>
              <a:t/>
            </a:r>
          </a:p>
          <a:p xmlns:a="http://schemas.openxmlformats.org/drawingml/2006/main">
            <a:r>
              <a:t>현재 실행 명령 예시는 course 폴더 기준입니다. Windows PowerShell과 다른 OS에서는 파일을 찾고 저장하는 화면이 다를 수 있습니다. 설치는 강사가 확인하며, 실행할 수 없을 때는 동일 입력으로 예상·수동 추적을 작성합니다.</a:t>
            </a:r>
          </a:p>
          <a:p xmlns:a="http://schemas.openxmlformats.org/drawingml/2006/main">
            <a:r>
              <a:t/>
            </a:r>
          </a:p>
          <a:p xmlns:a="http://schemas.openxmlformats.org/drawingml/2006/main">
            <a:r>
              <a:t>## A01 · 입력·처리·출력과 코드 파일</a:t>
            </a:r>
          </a:p>
          <a:p xmlns:a="http://schemas.openxmlformats.org/drawingml/2006/main">
            <a:r>
              <a:t/>
            </a:r>
          </a:p>
          <a:p xmlns:a="http://schemas.openxmlformats.org/drawingml/2006/main">
            <a:r>
              <a:t>**목적:** 코드와 결과를 구별해야 어디를 고쳤고 무엇이 바뀌었는지 설명할 수 있습니다. .py는 Python 코드를 담는 파일의 확장자이며, 파일을 열어 읽는 행동과 실행하는 행동은 다릅니다.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[A01_input.md](examples/course/data/A01_input.md)</a:t>
            </a:r>
          </a:p>
          <a:p xmlns:a="http://schemas.openxmlformats.org/drawingml/2006/main">
            <a:r>
              <a:t>- [A01_notes.md](examples/course/work/A01_notes.md)</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카드에서 입력 두 값과 처리 규칙을 밑줄로 구분합니다.</a:t>
            </a:r>
          </a:p>
          <a:p xmlns:a="http://schemas.openxmlformats.org/drawingml/2006/main">
            <a:r>
              <a:t>2. 예상 출력 한 단어와 그렇게 판단한 이유를 씁니다.</a:t>
            </a:r>
          </a:p>
          <a:p xmlns:a="http://schemas.openxmlformats.org/drawingml/2006/main">
            <a:r>
              <a:t>3. 원본 코드와 작업 코드의 폴더를 찾아 서로 다른 파일임을 표시합니다.</a:t>
            </a:r>
          </a:p>
          <a:p xmlns:a="http://schemas.openxmlformats.org/drawingml/2006/main">
            <a:r>
              <a:t>4. 코드 열기·저장·실행·출력을 자신의 말로 한 문장씩 설명합니다.</a:t>
            </a:r>
          </a:p>
          <a:p xmlns:a="http://schemas.openxmlformats.org/drawingml/2006/main">
            <a:r>
              <a:t/>
            </a:r>
          </a:p>
          <a:p xmlns:a="http://schemas.openxmlformats.org/drawingml/2006/main">
            <a:r>
              <a:t>**예상 결과:** 입력 22.5/24.0, 처리 &gt; 비교, 출력 정상. 파일을 여는 것과 실행하는 것을 구별합니다.</a:t>
            </a:r>
          </a:p>
          <a:p xmlns:a="http://schemas.openxmlformats.org/drawingml/2006/main">
            <a:r>
              <a:t/>
            </a:r>
          </a:p>
          <a:p xmlns:a="http://schemas.openxmlformats.org/drawingml/2006/main">
            <a:r>
              <a:t>**확인 방법:** 기준을 22.0으로 바꾸면 어느 단계의 값이 바뀌며 출력은 어떻게 될까요?</a:t>
            </a:r>
          </a:p>
          <a:p xmlns:a="http://schemas.openxmlformats.org/drawingml/2006/main">
            <a:r>
              <a:t/>
            </a:r>
          </a:p>
          <a:p xmlns:a="http://schemas.openxmlformats.org/drawingml/2006/main">
            <a:r>
              <a:t>**오류 해결:** 입력과 출력이 섞이면 컴퓨터가 일을 하기 전 이미 주어진 값과 일을 한 뒤 생긴 표시를 다른 색으로 적습니다.</a:t>
            </a:r>
          </a:p>
          <a:p xmlns:a="http://schemas.openxmlformats.org/drawingml/2006/main">
            <a:r>
              <a:t/>
            </a:r>
          </a:p>
          <a:p xmlns:a="http://schemas.openxmlformats.org/drawingml/2006/main">
            <a:r>
              <a:t>## A02 · 첫 출력과 주석</a:t>
            </a:r>
          </a:p>
          <a:p xmlns:a="http://schemas.openxmlformats.org/drawingml/2006/main">
            <a:r>
              <a:t/>
            </a:r>
          </a:p>
          <a:p xmlns:a="http://schemas.openxmlformats.org/drawingml/2006/main">
            <a:r>
              <a:t>**목적:** 짧은 출력을 직접 바꾸면 편집한 내용이 실행에 반영되는 과정을 볼 수 있습니다. 복잡한 프로그램을 만들기 전에 실행 통로를 확인하는 작은 성공 기준입니다.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[A02_input.md](examples/course/data/A02_input.md)</a:t>
            </a:r>
          </a:p>
          <a:p xmlns:a="http://schemas.openxmlformats.org/drawingml/2006/main">
            <a:r>
              <a:t>- [A02_print.py](examples/course/code/A02_print.py)</a:t>
            </a:r>
          </a:p>
          <a:p xmlns:a="http://schemas.openxmlformats.org/drawingml/2006/main">
            <a:r>
              <a:t>- [A02_notes.md](examples/course/work/A02_notes.md)</a:t>
            </a:r>
          </a:p>
          <a:p xmlns:a="http://schemas.openxmlformats.org/drawingml/2006/main">
            <a:r>
              <a:t>- [A02_print.py](examples/course/work/A02_print.py)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work/A02_print.py를 텍스트 편집기로 엽니다.</a:t>
            </a:r>
          </a:p>
          <a:p xmlns:a="http://schemas.openxmlformats.org/drawingml/2006/main">
            <a:r>
              <a:t>2. 수정 전 출력 두 줄을 예상해 노트에 씁니다.</a:t>
            </a:r>
          </a:p>
          <a:p xmlns:a="http://schemas.openxmlformats.org/drawingml/2006/main">
            <a:r>
              <a:t>3. 첫 안내 문구를 ‘오늘의 점검 시작’으로 바꾸고 저장합니다.</a:t>
            </a:r>
          </a:p>
          <a:p xmlns:a="http://schemas.openxmlformats.org/drawingml/2006/main">
            <a:r>
              <a:t>4. course 폴더의 터미널에서 python -X utf8 work/A02_print.py를 실행하고 예상과 대조합니다.</a:t>
            </a:r>
          </a:p>
          <a:p xmlns:a="http://schemas.openxmlformats.org/drawingml/2006/main">
            <a:r>
              <a:t/>
            </a:r>
          </a:p>
          <a:p xmlns:a="http://schemas.openxmlformats.org/drawingml/2006/main">
            <a:r>
              <a:t>**예상 결과:** 첫 안내 문구만 바뀌며 둘째 줄 S01 22.5는 유지됩니다.</a:t>
            </a:r>
          </a:p>
          <a:p xmlns:a="http://schemas.openxmlformats.org/drawingml/2006/main">
            <a:r>
              <a:t/>
            </a:r>
          </a:p>
          <a:p xmlns:a="http://schemas.openxmlformats.org/drawingml/2006/main">
            <a:r>
              <a:t>**확인 방법:** 주석의 문구만 바꾸면 출력은 달라질까요?</a:t>
            </a:r>
          </a:p>
          <a:p xmlns:a="http://schemas.openxmlformats.org/drawingml/2006/main">
            <a:r>
              <a:t/>
            </a:r>
          </a:p>
          <a:p xmlns:a="http://schemas.openxmlformats.org/drawingml/2006/main">
            <a:r>
              <a:t>**오류 해결:** python을 찾지 못하면 설치를 혼자 진행하지 말고 강사에게 환경을 확인합니다. 그동안 제공된 출력과 수정안을 비교하고 개인 실행 미완료를 표시합니다.</a:t>
            </a:r>
          </a:p>
          <a:p xmlns:a="http://schemas.openxmlformats.org/drawingml/2006/main">
            <a:r>
              <a:t/>
            </a:r>
          </a:p>
          <a:p xmlns:a="http://schemas.openxmlformats.org/drawingml/2006/main">
            <a:r>
              <a:t>### Windows · 처음 실행할 위치 만들기</a:t>
            </a:r>
          </a:p>
          <a:p xmlns:a="http://schemas.openxmlformats.org/drawingml/2006/main">
            <a:r>
              <a:t/>
            </a:r>
          </a:p>
          <a:p xmlns:a="http://schemas.openxmlformats.org/drawingml/2006/main">
            <a:r>
              <a:t>제작 가정: Windows 탐색기와 PowerShell을 사용합니다. 다른 OS는 강사의 해당 환경 안내를 따릅니다. 설치 문제는 개념 평가와 따로 기록합니다.</a:t>
            </a:r>
          </a:p>
          <a:p xmlns:a="http://schemas.openxmlformats.org/drawingml/2006/main">
            <a:r>
              <a:t/>
            </a:r>
          </a:p>
          <a:p xmlns:a="http://schemas.openxmlformats.org/drawingml/2006/main">
            <a:r>
              <a:t>1. 예제 ZIP을 우클릭 → **모두 추출** → **추출**합니다. ZIP 안을 보는 창에서 실행하지 않습니다.</a:t>
            </a:r>
          </a:p>
          <a:p xmlns:a="http://schemas.openxmlformats.org/drawingml/2006/main">
            <a:r>
              <a:t>2. 탐색기로 압축을 푼 곳의 `course` 폴더를 엽니다. 안에 `data`, `code`, `work` 세 폴더가 실제로 보이는지 확인합니다. 폴더가 한 겹 더 있으면 그 안으로 들어갑니다.</a:t>
            </a:r>
          </a:p>
          <a:p xmlns:a="http://schemas.openxmlformats.org/drawingml/2006/main">
            <a:r>
              <a:t>3. 탐색기 위 주소 표시줄을 클릭해 `powershell`을 입력하고 Enter를 누릅니다. 현재 폴더에서 PowerShell 창이 열립니다. 편집기에서 파일을 연 것만으로 실행 위치가 정해지지는 않습니다.</a:t>
            </a:r>
          </a:p>
          <a:p xmlns:a="http://schemas.openxmlformats.org/drawingml/2006/main">
            <a:r>
              <a:t>4. 아래 명령을 한 줄씩 입력하고 Enter를 누릅니다. 앞의 `PS ...&gt;` 문구는 입력하지 않습니다.</a:t>
            </a:r>
          </a:p>
          <a:p xmlns:a="http://schemas.openxmlformats.org/drawingml/2006/main">
            <a:r>
              <a:t/>
            </a:r>
          </a:p>
          <a:p xmlns:a="http://schemas.openxmlformats.org/drawingml/2006/main">
            <a:r>
              <a:t>```powershell</a:t>
            </a:r>
          </a:p>
          <a:p xmlns:a="http://schemas.openxmlformats.org/drawingml/2006/main">
            <a:r>
              <a:t>Get-Location</a:t>
            </a:r>
          </a:p>
          <a:p xmlns:a="http://schemas.openxmlformats.org/drawingml/2006/main">
            <a:r>
              <a:t>Get-ChildItem -Directory</a:t>
            </a:r>
          </a:p>
          <a:p xmlns:a="http://schemas.openxmlformats.org/drawingml/2006/main">
            <a:r>
              <a:t>Test-Path .\work\A02_print.py</a:t>
            </a:r>
          </a:p>
          <a:p xmlns:a="http://schemas.openxmlformats.org/drawingml/2006/main">
            <a:r>
              <a:t>```</a:t>
            </a:r>
          </a:p>
          <a:p xmlns:a="http://schemas.openxmlformats.org/drawingml/2006/main">
            <a:r>
              <a:t/>
            </a:r>
          </a:p>
          <a:p xmlns:a="http://schemas.openxmlformats.org/drawingml/2006/main">
            <a:r>
              <a:t>`Get-Location`은 지금 실행할 폴더의 실제 경로를 보여 줍니다. 끝이 `course`인지 확인합니다. `Get-ChildItem` 목록에는 `data`, `code`, `work`가 보여야 합니다. 마지막 명령은 파일이 있는지 확인하며 정상 결과는 `True`입니다. 내 실제 경로: _____ / 확인 결과: _____.</a:t>
            </a:r>
          </a:p>
          <a:p xmlns:a="http://schemas.openxmlformats.org/drawingml/2006/main">
            <a:r>
              <a:t/>
            </a:r>
          </a:p>
          <a:p xmlns:a="http://schemas.openxmlformats.org/drawingml/2006/main">
            <a:r>
              <a:t>5. `work/A02_print.py` 첫 print 문구를 `오늘의 점검 시작`으로 고치고 저장합니다. 같은 PowerShell 창에서 실행합니다.</a:t>
            </a:r>
          </a:p>
          <a:p xmlns:a="http://schemas.openxmlformats.org/drawingml/2006/main">
            <a:r>
              <a:t/>
            </a:r>
          </a:p>
          <a:p xmlns:a="http://schemas.openxmlformats.org/drawingml/2006/main">
            <a:r>
              <a:t>```powershell</a:t>
            </a:r>
          </a:p>
          <a:p xmlns:a="http://schemas.openxmlformats.org/drawingml/2006/main">
            <a:r>
              <a:t>python -X utf8 work/A02_print.py</a:t>
            </a:r>
          </a:p>
          <a:p xmlns:a="http://schemas.openxmlformats.org/drawingml/2006/main">
            <a:r>
              <a:t>```</a:t>
            </a:r>
          </a:p>
          <a:p xmlns:a="http://schemas.openxmlformats.org/drawingml/2006/main">
            <a:r>
              <a:t/>
            </a:r>
          </a:p>
          <a:p xmlns:a="http://schemas.openxmlformats.org/drawingml/2006/main">
            <a:r>
              <a:t>예상 두 줄은 다음과 같습니다.</a:t>
            </a:r>
          </a:p>
          <a:p xmlns:a="http://schemas.openxmlformats.org/drawingml/2006/main">
            <a:r>
              <a:t/>
            </a:r>
          </a:p>
          <a:p xmlns:a="http://schemas.openxmlformats.org/drawingml/2006/main">
            <a:r>
              <a:t>```text</a:t>
            </a:r>
          </a:p>
          <a:p xmlns:a="http://schemas.openxmlformats.org/drawingml/2006/main">
            <a:r>
              <a:t>오늘의 점검 시작</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 `False`, `can't open file`, `No such file`: 실제 폴더를 탐색기로 다시 열고 2~4단계를 반복합니다. 파일 이름이 `.py.txt`가 아닌지 탐색기의 **보기 → 표시 → 파일 확장명**에서 확인합니다.</a:t>
            </a:r>
          </a:p>
          <a:p xmlns:a="http://schemas.openxmlformats.org/drawingml/2006/main">
            <a:r>
              <a:t>- 첫 줄이 `Python 점검 시작`: 수정 파일을 저장했는지, 실행 명령이 `code/`가 아닌 `work/`를 가리키는지 확인합니다.</a:t>
            </a:r>
          </a:p>
          <a:p xmlns:a="http://schemas.openxmlformats.org/drawingml/2006/main">
            <a:r>
              <a:t>- `python`을 찾지 못하거나 Store 안내가 뜸: 강사에게 설치 상태를 확인받습니다. 설치는 강사와 확인하고 예상한 결과를 제공된 출력과 비교하며 **개인 실행 미완료**를 적습니다.</a:t>
            </a:r>
          </a:p>
          <a:p xmlns:a="http://schemas.openxmlformats.org/drawingml/2006/main">
            <a:r>
              <a:t/>
            </a:r>
          </a:p>
          <a:p xmlns:a="http://schemas.openxmlformats.org/drawingml/2006/main">
            <a:r>
              <a:t>실행 위치 확인 → 파일 저장 → 명령 입력 → 실제 출력 기록을 서로 다른 행동으로 확인합니다.</a:t>
            </a:r>
          </a:p>
          <a:p xmlns:a="http://schemas.openxmlformats.org/drawingml/2006/main">
            <a:r>
              <a:t/>
            </a:r>
          </a:p>
          <a:p xmlns:a="http://schemas.openxmlformats.org/drawingml/2006/main">
            <a:r>
              <a:t>## A03 · 저장·실행 순서와 오류 단서</a:t>
            </a:r>
          </a:p>
          <a:p xmlns:a="http://schemas.openxmlformats.org/drawingml/2006/main">
            <a:r>
              <a:t/>
            </a:r>
          </a:p>
          <a:p xmlns:a="http://schemas.openxmlformats.org/drawingml/2006/main">
            <a:r>
              <a:t>**목적:** 같은 이름의 원본과 작업본이 있을 때 다른 파일을 실행하면 수정한 문구가 나오지 않습니다. 재실행을 반복하기 전에 파일 경로와 저장 여부를 확인하면 원인을 좁힐 수 있습니다.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[A03_input.md](examples/course/data/A03_input.md)</a:t>
            </a:r>
          </a:p>
          <a:p xmlns:a="http://schemas.openxmlformats.org/drawingml/2006/main">
            <a:r>
              <a:t>- [A03_notes.md](examples/course/work/A03_notes.md)</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세 사례에서 보이는 사실과 추정 원인을 다른 칸에 적습니다.</a:t>
            </a:r>
          </a:p>
          <a:p xmlns:a="http://schemas.openxmlformats.org/drawingml/2006/main">
            <a:r>
              <a:t>2. 각 사례의 다음 확인 동작을 하나만 고릅니다.</a:t>
            </a:r>
          </a:p>
          <a:p xmlns:a="http://schemas.openxmlformats.org/drawingml/2006/main">
            <a:r>
              <a:t>3. 잘못된 따옴표 코드를 종이에 고친 뒤 괄호와 따옴표의 짝을 표시합니다.</a:t>
            </a:r>
          </a:p>
          <a:p xmlns:a="http://schemas.openxmlformats.org/drawingml/2006/main">
            <a:r>
              <a:t>4. 작업본 저장 후 동일 경로를 실행하는 순서를 네 단계로 작성합니다.</a:t>
            </a:r>
          </a:p>
          <a:p xmlns:a="http://schemas.openxmlformats.org/drawingml/2006/main">
            <a:r>
              <a:t/>
            </a:r>
          </a:p>
          <a:p xmlns:a="http://schemas.openxmlformats.org/drawingml/2006/main">
            <a:r>
              <a:t>**예상 결과:** 다른 파일 실행·닫는 따옴표 누락·미저장 가능성을 각각 구별합니다.</a:t>
            </a:r>
          </a:p>
          <a:p xmlns:a="http://schemas.openxmlformats.org/drawingml/2006/main">
            <a:r>
              <a:t/>
            </a:r>
          </a:p>
          <a:p xmlns:a="http://schemas.openxmlformats.org/drawingml/2006/main">
            <a:r>
              <a:t>**확인 방법:** 오류 줄 번호가 마지막 줄을 가리키면 그 줄만 보면 충분할까요?</a:t>
            </a:r>
          </a:p>
          <a:p xmlns:a="http://schemas.openxmlformats.org/drawingml/2006/main">
            <a:r>
              <a:t/>
            </a:r>
          </a:p>
          <a:p xmlns:a="http://schemas.openxmlformats.org/drawingml/2006/main">
            <a:r>
              <a:t>**오류 해결:** 오류 메시지를 해석하기 어렵다면 명령, 실행 파일 경로, 오류 마지막 줄을 그대로 기록해 강사에게 보여 줍니다. 비슷한 문구로 요약해 단서를 잃지 않습니다.</a:t>
            </a:r>
          </a:p>
          <a:p xmlns:a="http://schemas.openxmlformats.org/drawingml/2006/main">
            <a:r>
              <a:t/>
            </a:r>
          </a:p>
          <a:p xmlns:a="http://schemas.openxmlformats.org/drawingml/2006/main">
            <a:r>
              <a:t>## A04 · 변수는 값에 붙인 이름</a:t>
            </a:r>
          </a:p>
          <a:p xmlns:a="http://schemas.openxmlformats.org/drawingml/2006/main">
            <a:r>
              <a:t/>
            </a:r>
          </a:p>
          <a:p xmlns:a="http://schemas.openxmlformats.org/drawingml/2006/main">
            <a:r>
              <a:t>**목적:** 값을 여러 번 사용할 때 이름을 붙이면 목적이 드러나고 한 곳에서 바꾸기 쉽습니다. 10/8의 표에서 location과 temperature_c라는 항목을 읽었던 경험을 코드 안의 이름으로 연결합니다.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[A04_input.md](examples/course/data/A04_input.md)</a:t>
            </a:r>
          </a:p>
          <a:p xmlns:a="http://schemas.openxmlformats.org/drawingml/2006/main">
            <a:r>
              <a:t>- [A04_example.py](examples/course/code/A04_example.py)</a:t>
            </a:r>
          </a:p>
          <a:p xmlns:a="http://schemas.openxmlformats.org/drawingml/2006/main">
            <a:r>
              <a:t>- [A04_notes.md](examples/course/work/A04_notes.md)</a:t>
            </a:r>
          </a:p>
          <a:p xmlns:a="http://schemas.openxmlformats.org/drawingml/2006/main">
            <a:r>
              <a:t>- [A04_example.py](examples/course/work/A04_example.py)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값과 이름을 서로 다른 색으로 표시합니다.</a:t>
            </a:r>
          </a:p>
          <a:p xmlns:a="http://schemas.openxmlformats.org/drawingml/2006/main">
            <a:r>
              <a:t>2. location을 창고로 바꾸면 변할 출력 줄을 먼저 고릅니다.</a:t>
            </a:r>
          </a:p>
          <a:p xmlns:a="http://schemas.openxmlformats.org/drawingml/2006/main">
            <a:r>
              <a:t>3. 작업본에서 문자열 한 곳만 바꾸고 저장·실행합니다.</a:t>
            </a:r>
          </a:p>
          <a:p xmlns:a="http://schemas.openxmlformats.org/drawingml/2006/main">
            <a:r>
              <a:t>4. 변하지 않은 두 출력 줄의 이유를 씁니다.</a:t>
            </a:r>
          </a:p>
          <a:p xmlns:a="http://schemas.openxmlformats.org/drawingml/2006/main">
            <a:r>
              <a:t/>
            </a:r>
          </a:p>
          <a:p xmlns:a="http://schemas.openxmlformats.org/drawingml/2006/main">
            <a:r>
              <a:t>**예상 결과:** 첫 출력만 창고로 바뀌고 온도와 글자 location은 유지됩니다.</a:t>
            </a:r>
          </a:p>
          <a:p xmlns:a="http://schemas.openxmlformats.org/drawingml/2006/main">
            <a:r>
              <a:t/>
            </a:r>
          </a:p>
          <a:p xmlns:a="http://schemas.openxmlformats.org/drawingml/2006/main">
            <a:r>
              <a:t>**확인 방법:** print(location)과 print("location")은 왜 다를까요?</a:t>
            </a:r>
          </a:p>
          <a:p xmlns:a="http://schemas.openxmlformats.org/drawingml/2006/main">
            <a:r>
              <a:t/>
            </a:r>
          </a:p>
          <a:p xmlns:a="http://schemas.openxmlformats.org/drawingml/2006/main">
            <a:r>
              <a:t>**오류 해결:** NameError가 나오면 대문자·소문자와 밑줄을 비교하고 그 이름에 값을 연결한 줄이 먼저 실행되는지 확인합니다.</a:t>
            </a:r>
          </a:p>
          <a:p xmlns:a="http://schemas.openxmlformats.org/drawingml/2006/main">
            <a:r>
              <a:t/>
            </a:r>
          </a:p>
          <a:p xmlns:a="http://schemas.openxmlformats.org/drawingml/2006/main">
            <a:r>
              <a:t>## A05 · 다시 대입하면 현재 값이 바뀐다</a:t>
            </a:r>
          </a:p>
          <a:p xmlns:a="http://schemas.openxmlformats.org/drawingml/2006/main">
            <a:r>
              <a:t/>
            </a:r>
          </a:p>
          <a:p xmlns:a="http://schemas.openxmlformats.org/drawingml/2006/main">
            <a:r>
              <a:t>**목적:** 업무 기록을 갱신하는 코드의 순서를 이해하려면 어느 시점의 값을 보고 있는지 추적해야 합니다. 이름은 같은데 출력이 다른 상황을 오류로 오해하지 않도록 한 줄씩 현재 값을 적습니다.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[A05_input.md](examples/course/data/A05_input.md)</a:t>
            </a:r>
          </a:p>
          <a:p xmlns:a="http://schemas.openxmlformats.org/drawingml/2006/main">
            <a:r>
              <a:t>- [A05_example.py](examples/course/code/A05_example.py)</a:t>
            </a:r>
          </a:p>
          <a:p xmlns:a="http://schemas.openxmlformats.org/drawingml/2006/main">
            <a:r>
              <a:t>- [A05_notes.md](examples/course/work/A05_notes.md)</a:t>
            </a:r>
          </a:p>
          <a:p xmlns:a="http://schemas.openxmlformats.org/drawingml/2006/main">
            <a:r>
              <a:t>- [A05_example.py](examples/course/work/A05_example.py)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각 줄 실행 뒤 현재 temperature_c 값을 표에 적습니다.</a:t>
            </a:r>
          </a:p>
          <a:p xmlns:a="http://schemas.openxmlformats.org/drawingml/2006/main">
            <a:r>
              <a:t>2. 두 번째 대입값을 25.0으로 바꿀 때 출력 두 줄을 예상합니다.</a:t>
            </a:r>
          </a:p>
          <a:p xmlns:a="http://schemas.openxmlformats.org/drawingml/2006/main">
            <a:r>
              <a:t>3. 작업본을 수정해 실행하거나 강사 실행과 대조합니다.</a:t>
            </a:r>
          </a:p>
          <a:p xmlns:a="http://schemas.openxmlformats.org/drawingml/2006/main">
            <a:r>
              <a:t>4. 첫 출력이 그대로인 이유를 자신의 말로 씁니다.</a:t>
            </a:r>
          </a:p>
          <a:p xmlns:a="http://schemas.openxmlformats.org/drawingml/2006/main">
            <a:r>
              <a:t/>
            </a:r>
          </a:p>
          <a:p xmlns:a="http://schemas.openxmlformats.org/drawingml/2006/main">
            <a:r>
              <a:t>**예상 결과:** 첫 출력 22.5, 둘째 출력 25.0.</a:t>
            </a:r>
          </a:p>
          <a:p xmlns:a="http://schemas.openxmlformats.org/drawingml/2006/main">
            <a:r>
              <a:t/>
            </a:r>
          </a:p>
          <a:p xmlns:a="http://schemas.openxmlformats.org/drawingml/2006/main">
            <a:r>
              <a:t>**확인 방법:** 마지막 print를 첫 대입 앞에 옮기면 어떤 문제가 생길까요?</a:t>
            </a:r>
          </a:p>
          <a:p xmlns:a="http://schemas.openxmlformats.org/drawingml/2006/main">
            <a:r>
              <a:t/>
            </a:r>
          </a:p>
          <a:p xmlns:a="http://schemas.openxmlformats.org/drawingml/2006/main">
            <a:r>
              <a:t>**오류 해결:** 값이 예상과 다르면 실행 순서대로 현재 값을 다시 써 봅니다. 편집기의 위치와 실제 실행 순서를 건너뛰지 않습니다.</a:t>
            </a:r>
          </a:p>
          <a:p xmlns:a="http://schemas.openxmlformats.org/drawingml/2006/main">
            <a:r>
              <a:t/>
            </a:r>
          </a:p>
          <a:p xmlns:a="http://schemas.openxmlformats.org/drawingml/2006/main">
            <a:r>
              <a:t>## A06 · 이름 오류를 근거로 고치기</a:t>
            </a:r>
          </a:p>
          <a:p xmlns:a="http://schemas.openxmlformats.org/drawingml/2006/main">
            <a:r>
              <a:t/>
            </a:r>
          </a:p>
          <a:p xmlns:a="http://schemas.openxmlformats.org/drawingml/2006/main">
            <a:r>
              <a:t>**목적:** 변수의 철자가 다르면 컴퓨터는 서로 다른 이름으로 취급합니다. 업무 의미가 같아 보인다는 이유로 temp와 temperature_c를 자동 연결하지 않습니다. 작성한 이름과 사용한 이름의 일치를 확인해야 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[A06_input.md](examples/course/data/A06_input.md)</a:t>
            </a:r>
          </a:p>
          <a:p xmlns:a="http://schemas.openxmlformats.org/drawingml/2006/main">
            <a:r>
              <a:t>- [A06_example.py](examples/course/code/A06_example.py)</a:t>
            </a:r>
          </a:p>
          <a:p xmlns:a="http://schemas.openxmlformats.org/drawingml/2006/main">
            <a:r>
              <a:t>- [A06_notes.md](examples/course/work/A06_notes.md)</a:t>
            </a:r>
          </a:p>
          <a:p xmlns:a="http://schemas.openxmlformats.org/drawingml/2006/main">
            <a:r>
              <a:t>- [A06_example.py](examples/course/work/A06_example.py)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data/A06_input.md의 오류 코드에서 정의한 이름과 사용하는 이름을 표시합니다.</a:t>
            </a:r>
          </a:p>
          <a:p xmlns:a="http://schemas.openxmlformats.org/drawingml/2006/main">
            <a:r>
              <a:t>2. 원래 뜻을 유지하는 수정 한 곳을 정합니다.</a:t>
            </a:r>
          </a:p>
          <a:p xmlns:a="http://schemas.openxmlformats.org/drawingml/2006/main">
            <a:r>
              <a:t>3. work의 정상 예와 비교하며 수정안을 적고 실행 결과를 확인합니다.</a:t>
            </a:r>
          </a:p>
          <a:p xmlns:a="http://schemas.openxmlformats.org/drawingml/2006/main">
            <a:r>
              <a:t>4. 원인·수정 위치·다시 확인한 출력을 노트에 기록합니다.</a:t>
            </a:r>
          </a:p>
          <a:p xmlns:a="http://schemas.openxmlformats.org/drawingml/2006/main">
            <a:r>
              <a:t/>
            </a:r>
          </a:p>
          <a:p xmlns:a="http://schemas.openxmlformats.org/drawingml/2006/main">
            <a:r>
              <a:t>**예상 결과:** temperature를 temperature_c로 맞추면 S01 22.5가 출력됩니다.</a:t>
            </a:r>
          </a:p>
          <a:p xmlns:a="http://schemas.openxmlformats.org/drawingml/2006/main">
            <a:r>
              <a:t/>
            </a:r>
          </a:p>
          <a:p xmlns:a="http://schemas.openxmlformats.org/drawingml/2006/main">
            <a:r>
              <a:t>**확인 방법:** 오류가 사라졌다는 것만으로 올바른 수정이라고 할 수 있나요?</a:t>
            </a:r>
          </a:p>
          <a:p xmlns:a="http://schemas.openxmlformats.org/drawingml/2006/main">
            <a:r>
              <a:t/>
            </a:r>
          </a:p>
          <a:p xmlns:a="http://schemas.openxmlformats.org/drawingml/2006/main">
            <a:r>
              <a:t>**오류 해결:** 철자 차이를 찾지 못하면 이름을 한 글자씩 비교합니다. 영문 대소문자와 밑줄도 이름의 일부입니다.</a:t>
            </a:r>
          </a:p>
          <a:p xmlns:a="http://schemas.openxmlformats.org/drawingml/2006/main">
            <a:r>
              <a:t/>
            </a:r>
          </a:p>
          <a:p xmlns:a="http://schemas.openxmlformats.org/drawingml/2006/main">
            <a:r>
              <a:t>## A07 · 숫자 더하기와 문자열 연결</a:t>
            </a:r>
          </a:p>
          <a:p xmlns:a="http://schemas.openxmlformats.org/drawingml/2006/main">
            <a:r>
              <a:t/>
            </a:r>
          </a:p>
          <a:p xmlns:a="http://schemas.openxmlformats.org/drawingml/2006/main">
            <a:r>
              <a:t>**목적:** CSV의 셀을 기본 방식으로 읽으면 문자열이 된다는 10/8의 내용을 떠올립니다. 수량을 계산하려고 글자를 그대로 이어 붙이면 합계처럼 보이는 잘못된 결과가 생길 수 있습니다.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[A07_input.md](examples/course/data/A07_input.md)</a:t>
            </a:r>
          </a:p>
          <a:p xmlns:a="http://schemas.openxmlformats.org/drawingml/2006/main">
            <a:r>
              <a:t>- [A07_example.py](examples/course/code/A07_example.py)</a:t>
            </a:r>
          </a:p>
          <a:p xmlns:a="http://schemas.openxmlformats.org/drawingml/2006/main">
            <a:r>
              <a:t>- [A07_notes.md](examples/course/work/A07_notes.md)</a:t>
            </a:r>
          </a:p>
          <a:p xmlns:a="http://schemas.openxmlformats.org/drawingml/2006/main">
            <a:r>
              <a:t>- [A07_example.py](examples/course/work/A07_example.py)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세 출력 줄을 예상하고 각각 계산인지 글자 연결인지 적습니다.</a:t>
            </a:r>
          </a:p>
          <a:p xmlns:a="http://schemas.openxmlformats.org/drawingml/2006/main">
            <a:r>
              <a:t>2. 숫자와 문자열의 +를 같은 기준으로 읽지 않았는지 비교합니다.</a:t>
            </a:r>
          </a:p>
          <a:p xmlns:a="http://schemas.openxmlformats.org/drawingml/2006/main">
            <a:r>
              <a:t>3. 고의 오류 text_count + 2에서 서로 다른 자료형을 표시합니다.</a:t>
            </a:r>
          </a:p>
          <a:p xmlns:a="http://schemas.openxmlformats.org/drawingml/2006/main">
            <a:r>
              <a:t>4. 수량과 사번 중 무엇을 숫자로 바꿀지 이유를 씁니다.</a:t>
            </a:r>
          </a:p>
          <a:p xmlns:a="http://schemas.openxmlformats.org/drawingml/2006/main">
            <a:r>
              <a:t/>
            </a:r>
          </a:p>
          <a:p xmlns:a="http://schemas.openxmlformats.org/drawingml/2006/main">
            <a:r>
              <a:t>**예상 결과:** 5와 문자열 32, int와 str을 구별합니다. 혼합 +는 TypeError가 기대 결과입니다.</a:t>
            </a:r>
          </a:p>
          <a:p xmlns:a="http://schemas.openxmlformats.org/drawingml/2006/main">
            <a:r>
              <a:t/>
            </a:r>
          </a:p>
          <a:p xmlns:a="http://schemas.openxmlformats.org/drawingml/2006/main">
            <a:r>
              <a:t>**확인 방법:** "001"에 1을 더해 다음 직원을 정하는 것이 항상 적절할까요?</a:t>
            </a:r>
          </a:p>
          <a:p xmlns:a="http://schemas.openxmlformats.org/drawingml/2006/main">
            <a:r>
              <a:t/>
            </a:r>
          </a:p>
          <a:p xmlns:a="http://schemas.openxmlformats.org/drawingml/2006/main">
            <a:r>
              <a:t>**오류 해결:** 화면에서 따옴표 없이 32가 보이면 type 출력도 함께 확인합니다. 표시 모양만으로 자료형을 판단하지 않습니다.</a:t>
            </a:r>
          </a:p>
          <a:p xmlns:a="http://schemas.openxmlformats.org/drawingml/2006/main">
            <a:r>
              <a:t/>
            </a:r>
          </a:p>
          <a:p xmlns:a="http://schemas.openxmlformats.org/drawingml/2006/main">
            <a:r>
              <a:t>## A08 · 수치 문자열을 숫자로 변환하기</a:t>
            </a:r>
          </a:p>
          <a:p xmlns:a="http://schemas.openxmlformats.org/drawingml/2006/main">
            <a:r>
              <a:t/>
            </a:r>
          </a:p>
          <a:p xmlns:a="http://schemas.openxmlformats.org/drawingml/2006/main">
            <a:r>
              <a:t>**목적:** 외부에서 읽은 온도 글자를 계산하려면 숫자로 다룰 값인지 확인하고 변환해야 합니다. 데이터의 의미가 수치라는 사실과 현재 저장 형태가 문자열이라는 사실을 연결하는 단계입니다.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[A08_input.md](examples/course/data/A08_input.md)</a:t>
            </a:r>
          </a:p>
          <a:p xmlns:a="http://schemas.openxmlformats.org/drawingml/2006/main">
            <a:r>
              <a:t>- [A08_example.py](examples/course/code/A08_example.py)</a:t>
            </a:r>
          </a:p>
          <a:p xmlns:a="http://schemas.openxmlformats.org/drawingml/2006/main">
            <a:r>
              <a:t>- [A08_notes.md](examples/course/work/A08_notes.md)</a:t>
            </a:r>
          </a:p>
          <a:p xmlns:a="http://schemas.openxmlformats.org/drawingml/2006/main">
            <a:r>
              <a:t>- [A08_example.py](examples/course/work/A08_example.py)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원문과 변환 결과의 이름을 구별합니다.</a:t>
            </a:r>
          </a:p>
          <a:p xmlns:a="http://schemas.openxmlformats.org/drawingml/2006/main">
            <a:r>
              <a:t>2. 원문을 "24.0"으로 바꾸고 출력 세 줄을 예상합니다.</a:t>
            </a:r>
          </a:p>
          <a:p xmlns:a="http://schemas.openxmlformats.org/drawingml/2006/main">
            <a:r>
              <a:t>3. 저장·실행 뒤 값과 자료형을 대조합니다.</a:t>
            </a:r>
          </a:p>
          <a:p xmlns:a="http://schemas.openxmlformats.org/drawingml/2006/main">
            <a:r>
              <a:t>4. 고의 오류 "뜨거움" 사례의 원문·오류 종류·확인 질문을 기록합니다.</a:t>
            </a:r>
          </a:p>
          <a:p xmlns:a="http://schemas.openxmlformats.org/drawingml/2006/main">
            <a:r>
              <a:t/>
            </a:r>
          </a:p>
          <a:p xmlns:a="http://schemas.openxmlformats.org/drawingml/2006/main">
            <a:r>
              <a:t>**예상 결과:** 변환 후 계산 결과는 25.0. 숫자가 아닌 글자에서는 ValueError.</a:t>
            </a:r>
          </a:p>
          <a:p xmlns:a="http://schemas.openxmlformats.org/drawingml/2006/main">
            <a:r>
              <a:t/>
            </a:r>
          </a:p>
          <a:p xmlns:a="http://schemas.openxmlformats.org/drawingml/2006/main">
            <a:r>
              <a:t>**확인 방법:** 원문 raw를 남기는 이유는 무엇일까요?</a:t>
            </a:r>
          </a:p>
          <a:p xmlns:a="http://schemas.openxmlformats.org/drawingml/2006/main">
            <a:r>
              <a:t/>
            </a:r>
          </a:p>
          <a:p xmlns:a="http://schemas.openxmlformats.org/drawingml/2006/main">
            <a:r>
              <a:t>**오류 해결:** ValueError가 보이면 입력 문자열을 먼저 확인합니다. °C 같은 단위 글자가 붙었는지, 빈칸인지 구별하고 확인되지 않은 값을 만들어 채우지 않습니다.</a:t>
            </a:r>
          </a:p>
          <a:p xmlns:a="http://schemas.openxmlformats.org/drawingml/2006/main">
            <a:r>
              <a:t/>
            </a:r>
          </a:p>
          <a:p xmlns:a="http://schemas.openxmlformats.org/drawingml/2006/main">
            <a:r>
              <a:t>## A09 · 연산과 괄호로 작은 계산 만들기</a:t>
            </a:r>
          </a:p>
          <a:p xmlns:a="http://schemas.openxmlformats.org/drawingml/2006/main">
            <a:r>
              <a:t/>
            </a:r>
          </a:p>
          <a:p xmlns:a="http://schemas.openxmlformats.org/drawingml/2006/main">
            <a:r>
              <a:t>**목적:** 합계와 개수를 따로 확인해야 평균의 분모를 잘못 고르는 일을 막을 수 있습니다. 오늘은 이미 확인된 숫자 세 개만 계산하고, 미측정과 잘못된 값이 있는 파일 처리는 다음 날로 넘깁니다.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[A09_input.md](examples/course/data/A09_input.md)</a:t>
            </a:r>
          </a:p>
          <a:p xmlns:a="http://schemas.openxmlformats.org/drawingml/2006/main">
            <a:r>
              <a:t>- [A09_example.py](examples/course/code/A09_example.py)</a:t>
            </a:r>
          </a:p>
          <a:p xmlns:a="http://schemas.openxmlformats.org/drawingml/2006/main">
            <a:r>
              <a:t>- [A09_notes.md](examples/course/work/A09_notes.md)</a:t>
            </a:r>
          </a:p>
          <a:p xmlns:a="http://schemas.openxmlformats.org/drawingml/2006/main">
            <a:r>
              <a:t>- [A09_example.py](examples/course/work/A09_example.py)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합계와 개수를 손으로 확인합니다.</a:t>
            </a:r>
          </a:p>
          <a:p xmlns:a="http://schemas.openxmlformats.org/drawingml/2006/main">
            <a:r>
              <a:t>2. 코드 각 계산의 입력과 결과를 표로 적습니다.</a:t>
            </a:r>
          </a:p>
          <a:p xmlns:a="http://schemas.openxmlformats.org/drawingml/2006/main">
            <a:r>
              <a:t>3. count를 2로 바꾼 출력 35.0이 계산은 되지만 의미상 맞는지 판단합니다.</a:t>
            </a:r>
          </a:p>
          <a:p xmlns:a="http://schemas.openxmlformats.org/drawingml/2006/main">
            <a:r>
              <a:t>4. 정상 분모를 복원하고 0으로 나눌 때 오류 단서를 비교합니다.</a:t>
            </a:r>
          </a:p>
          <a:p xmlns:a="http://schemas.openxmlformats.org/drawingml/2006/main">
            <a:r>
              <a:t/>
            </a:r>
          </a:p>
          <a:p xmlns:a="http://schemas.openxmlformats.org/drawingml/2006/main">
            <a:r>
              <a:t>**예상 결과:** 정상 합계 70.0, 평균 23.33. 잘못된 분모는 실행 성공과 별개로 검수해야 합니다.</a:t>
            </a:r>
          </a:p>
          <a:p xmlns:a="http://schemas.openxmlformats.org/drawingml/2006/main">
            <a:r>
              <a:t/>
            </a:r>
          </a:p>
          <a:p xmlns:a="http://schemas.openxmlformats.org/drawingml/2006/main">
            <a:r>
              <a:t>**확인 방법:** 코드가 종료 코드 0으로 끝났다면 평균의 업무 의미도 보장되나요?</a:t>
            </a:r>
          </a:p>
          <a:p xmlns:a="http://schemas.openxmlformats.org/drawingml/2006/main">
            <a:r>
              <a:t/>
            </a:r>
          </a:p>
          <a:p xmlns:a="http://schemas.openxmlformats.org/drawingml/2006/main">
            <a:r>
              <a:t>**오류 해결:** ZeroDivisionError가 생기면 분모가 왜 0인지 먼저 확인합니다. 임의로 1을 넣어 원인을 숨기지 않습니다.</a:t>
            </a:r>
          </a:p>
          <a:p xmlns:a="http://schemas.openxmlformats.org/drawingml/2006/main">
            <a:r>
              <a:t/>
            </a:r>
          </a:p>
          <a:p xmlns:a="http://schemas.openxmlformats.org/drawingml/2006/main">
            <a:r>
              <a:t>## A10 · 비교 결과는 참 또는 거짓</a:t>
            </a:r>
          </a:p>
          <a:p xmlns:a="http://schemas.openxmlformats.org/drawingml/2006/main">
            <a:r>
              <a:t/>
            </a:r>
          </a:p>
          <a:p xmlns:a="http://schemas.openxmlformats.org/drawingml/2006/main">
            <a:r>
              <a:t>**목적:** 정책 문구를 코드로 옮길 때 ‘이상’과 ‘초과’를 혼동하면 경계값에서 다른 결과가 나옵니다. 기준과 정확히 같은 입력을 확인해야 차이가 보입니다.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[A10_input.md](examples/course/data/A10_input.md)</a:t>
            </a:r>
          </a:p>
          <a:p xmlns:a="http://schemas.openxmlformats.org/drawingml/2006/main">
            <a:r>
              <a:t>- [A10_example.py](examples/course/code/A10_example.py)</a:t>
            </a:r>
          </a:p>
          <a:p xmlns:a="http://schemas.openxmlformats.org/drawingml/2006/main">
            <a:r>
              <a:t>- [A10_notes.md](examples/course/work/A10_notes.md)</a:t>
            </a:r>
          </a:p>
          <a:p xmlns:a="http://schemas.openxmlformats.org/drawingml/2006/main">
            <a:r>
              <a:t>- [A10_example.py](examples/course/work/A10_example.py)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초과·이상·같음의 문장을 기호와 연결합니다.</a:t>
            </a:r>
          </a:p>
          <a:p xmlns:a="http://schemas.openxmlformats.org/drawingml/2006/main">
            <a:r>
              <a:t>2. 기준 아래·같음·위 세 입력에서 True/False를 예상합니다.</a:t>
            </a:r>
          </a:p>
          <a:p xmlns:a="http://schemas.openxmlformats.org/drawingml/2006/main">
            <a:r>
              <a:t>3. 한 번에 온도 한 곳만 바꿔 비교 출력 세 줄을 확인합니다.</a:t>
            </a:r>
          </a:p>
          <a:p xmlns:a="http://schemas.openxmlformats.org/drawingml/2006/main">
            <a:r>
              <a:t>4. 업무 규칙 ‘24.0 이상’에 맞는 기호를 고르고 이유를 씁니다.</a:t>
            </a:r>
          </a:p>
          <a:p xmlns:a="http://schemas.openxmlformats.org/drawingml/2006/main">
            <a:r>
              <a:t/>
            </a:r>
          </a:p>
          <a:p xmlns:a="http://schemas.openxmlformats.org/drawingml/2006/main">
            <a:r>
              <a:t>**예상 결과:** 같은 값에서 &gt;와 &gt;=의 차이를 설명합니다.</a:t>
            </a:r>
          </a:p>
          <a:p xmlns:a="http://schemas.openxmlformats.org/drawingml/2006/main">
            <a:r>
              <a:t/>
            </a:r>
          </a:p>
          <a:p xmlns:a="http://schemas.openxmlformats.org/drawingml/2006/main">
            <a:r>
              <a:t>**확인 방법:** 변수에 값을 넣는 =와 비교하는 ==를 같은 기호처럼 쓰면 될까요?</a:t>
            </a:r>
          </a:p>
          <a:p xmlns:a="http://schemas.openxmlformats.org/drawingml/2006/main">
            <a:r>
              <a:t/>
            </a:r>
          </a:p>
          <a:p xmlns:a="http://schemas.openxmlformats.org/drawingml/2006/main">
            <a:r>
              <a:t>**오류 해결:** True/False를 외우기보다 ‘왼쪽 값이 오른쪽 기준보다 큰가?’라는 질문을 실제 숫자로 다시 읽습니다.</a:t>
            </a:r>
          </a:p>
          <a:p xmlns:a="http://schemas.openxmlformats.org/drawingml/2006/main">
            <a:r>
              <a:t/>
            </a:r>
          </a:p>
          <a:p xmlns:a="http://schemas.openxmlformats.org/drawingml/2006/main">
            <a:r>
              <a:t>## A11 · if와 else로 출력 선택하기</a:t>
            </a:r>
          </a:p>
          <a:p xmlns:a="http://schemas.openxmlformats.org/drawingml/2006/main">
            <a:r>
              <a:t/>
            </a:r>
          </a:p>
          <a:p xmlns:a="http://schemas.openxmlformats.org/drawingml/2006/main">
            <a:r>
              <a:t>**목적:** 비교 결과를 화면에 보여 주는 단계에서 한 걸음 더 나아가, 비교에 따라 다른 일을 할 수 있습니다. 두 갈래 중 어느 쪽이 실행되는지 먼저 손으로 따라가면 코드를 읽기 쉽습니다.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[A11_input.md](examples/course/data/A11_input.md)</a:t>
            </a:r>
          </a:p>
          <a:p xmlns:a="http://schemas.openxmlformats.org/drawingml/2006/main">
            <a:r>
              <a:t>- [A11_example.py](examples/course/code/A11_example.py)</a:t>
            </a:r>
          </a:p>
          <a:p xmlns:a="http://schemas.openxmlformats.org/drawingml/2006/main">
            <a:r>
              <a:t>- [A11_notes.md](examples/course/work/A11_notes.md)</a:t>
            </a:r>
          </a:p>
          <a:p xmlns:a="http://schemas.openxmlformats.org/drawingml/2006/main">
            <a:r>
              <a:t>- [A11_example.py](examples/course/work/A11_example.py)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조건식을 동그라미로 표시하고 두 갈래를 말로 설명합니다.</a:t>
            </a:r>
          </a:p>
          <a:p xmlns:a="http://schemas.openxmlformats.org/drawingml/2006/main">
            <a:r>
              <a:t>2. 25.0으로 바꿨을 때 실행될 줄만 표시합니다.</a:t>
            </a:r>
          </a:p>
          <a:p xmlns:a="http://schemas.openxmlformats.org/drawingml/2006/main">
            <a:r>
              <a:t>3. 들여쓰기를 유지한 채 값 한 곳을 수정해 실행합니다.</a:t>
            </a:r>
          </a:p>
          <a:p xmlns:a="http://schemas.openxmlformats.org/drawingml/2006/main">
            <a:r>
              <a:t>4. 수정한 값·실행된 갈래·출력을 노트에 연결합니다.</a:t>
            </a:r>
          </a:p>
          <a:p xmlns:a="http://schemas.openxmlformats.org/drawingml/2006/main">
            <a:r>
              <a:t/>
            </a:r>
          </a:p>
          <a:p xmlns:a="http://schemas.openxmlformats.org/drawingml/2006/main">
            <a:r>
              <a:t>**예상 결과:** 23.5는 정상, 25.0은 확인. 양쪽 출력이 동시에 나오지 않습니다.</a:t>
            </a:r>
          </a:p>
          <a:p xmlns:a="http://schemas.openxmlformats.org/drawingml/2006/main">
            <a:r>
              <a:t/>
            </a:r>
          </a:p>
          <a:p xmlns:a="http://schemas.openxmlformats.org/drawingml/2006/main">
            <a:r>
              <a:t>**확인 방법:** print("완료")를 들여쓰기 없이 맨 아래에 넣으면 언제 실행될까요?</a:t>
            </a:r>
          </a:p>
          <a:p xmlns:a="http://schemas.openxmlformats.org/drawingml/2006/main">
            <a:r>
              <a:t/>
            </a:r>
          </a:p>
          <a:p xmlns:a="http://schemas.openxmlformats.org/drawingml/2006/main">
            <a:r>
              <a:t>**오류 해결:** IndentationError가 나면 콜론 다음 줄의 공백을 원본과 비교합니다. 탭과 공백을 혼용하지 않고 제공 예의 네 칸 공백을 유지합니다.</a:t>
            </a:r>
          </a:p>
          <a:p xmlns:a="http://schemas.openxmlformats.org/drawingml/2006/main">
            <a:r>
              <a:t/>
            </a:r>
          </a:p>
          <a:p xmlns:a="http://schemas.openxmlformats.org/drawingml/2006/main">
            <a:r>
              <a:t>## A12 · 미측정과 경계값의 세 갈래</a:t>
            </a:r>
          </a:p>
          <a:p xmlns:a="http://schemas.openxmlformats.org/drawingml/2006/main">
            <a:r>
              <a:t/>
            </a:r>
          </a:p>
          <a:p xmlns:a="http://schemas.openxmlformats.org/drawingml/2006/main">
            <a:r>
              <a:t>**목적:** 10/8의 미측정을 숫자 0으로 바꾸지 않고 프로그램 안에서도 유지해야 합니다. 미측정·기준 초과·그 밖의 측정을 서로 다른 상태로 구분합니다.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[A12_input.md](examples/course/data/A12_input.md)</a:t>
            </a:r>
          </a:p>
          <a:p xmlns:a="http://schemas.openxmlformats.org/drawingml/2006/main">
            <a:r>
              <a:t>- [A12_example.py](examples/course/code/A12_example.py)</a:t>
            </a:r>
          </a:p>
          <a:p xmlns:a="http://schemas.openxmlformats.org/drawingml/2006/main">
            <a:r>
              <a:t>- [A12_notes.md](examples/course/work/A12_notes.md)</a:t>
            </a:r>
          </a:p>
          <a:p xmlns:a="http://schemas.openxmlformats.org/drawingml/2006/main">
            <a:r>
              <a:t>- [A12_example.py](examples/course/work/A12_example.py)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None·0.0·24.0·24.1의 예상 갈래를 표에 씁니다.</a:t>
            </a:r>
          </a:p>
          <a:p xmlns:a="http://schemas.openxmlformats.org/drawingml/2006/main">
            <a:r>
              <a:t>2. 원본에서 미측정 확인이 숫자 비교보다 앞선 이유를 설명합니다.</a:t>
            </a:r>
          </a:p>
          <a:p xmlns:a="http://schemas.openxmlformats.org/drawingml/2006/main">
            <a:r>
              <a:t>3. work 코드에 하나씩 대입해 출력 또는 강사 실행을 대조합니다.</a:t>
            </a:r>
          </a:p>
          <a:p xmlns:a="http://schemas.openxmlformats.org/drawingml/2006/main">
            <a:r>
              <a:t>4. 0.0과 None을 같은 답으로 쓰지 않았는지 확인합니다.</a:t>
            </a:r>
          </a:p>
          <a:p xmlns:a="http://schemas.openxmlformats.org/drawingml/2006/main">
            <a:r>
              <a:t/>
            </a:r>
          </a:p>
          <a:p xmlns:a="http://schemas.openxmlformats.org/drawingml/2006/main">
            <a:r>
              <a:t>**예상 결과:** 미측정/정상/정상/확인의 순서입니다.</a:t>
            </a:r>
          </a:p>
          <a:p xmlns:a="http://schemas.openxmlformats.org/drawingml/2006/main">
            <a:r>
              <a:t/>
            </a:r>
          </a:p>
          <a:p xmlns:a="http://schemas.openxmlformats.org/drawingml/2006/main">
            <a:r>
              <a:t>**확인 방법:** None에 직접 &gt; 24.0을 적용하면 어떻게 될까요?</a:t>
            </a:r>
          </a:p>
          <a:p xmlns:a="http://schemas.openxmlformats.org/drawingml/2006/main">
            <a:r>
              <a:t/>
            </a:r>
          </a:p>
          <a:p xmlns:a="http://schemas.openxmlformats.org/drawingml/2006/main">
            <a:r>
              <a:t>**오류 해결:** None을 "None"이라는 문자열로 바꾸지 않습니다. 따옴표가 붙으면 다른 값입니다.</a:t>
            </a:r>
          </a:p>
          <a:p xmlns:a="http://schemas.openxmlformats.org/drawingml/2006/main">
            <a:r>
              <a:t/>
            </a:r>
          </a:p>
          <a:p xmlns:a="http://schemas.openxmlformats.org/drawingml/2006/main">
            <a:r>
              <a:t>## A13 · 리스트와 위치로 여러 값 담기</a:t>
            </a:r>
          </a:p>
          <a:p xmlns:a="http://schemas.openxmlformats.org/drawingml/2006/main">
            <a:r>
              <a:t/>
            </a:r>
          </a:p>
          <a:p xmlns:a="http://schemas.openxmlformats.org/drawingml/2006/main">
            <a:r>
              <a:t>**목적:** 측정값이 세 개에서 네 개로 늘어날 때 이름을 계속 만드는 대신 하나의 목록으로 다룰 수 있습니다. 10/8에 읽었던 순서 구조를 직접 작은 값 수정으로 연결합니다.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[A13_input.md](examples/course/data/A13_input.md)</a:t>
            </a:r>
          </a:p>
          <a:p xmlns:a="http://schemas.openxmlformats.org/drawingml/2006/main">
            <a:r>
              <a:t>- [A13_example.py](examples/course/code/A13_example.py)</a:t>
            </a:r>
          </a:p>
          <a:p xmlns:a="http://schemas.openxmlformats.org/drawingml/2006/main">
            <a:r>
              <a:t>- [A13_notes.md](examples/course/work/A13_notes.md)</a:t>
            </a:r>
          </a:p>
          <a:p xmlns:a="http://schemas.openxmlformats.org/drawingml/2006/main">
            <a:r>
              <a:t>- [A13_example.py](examples/course/work/A13_example.py)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추가 전과 후의 목록을 종이에 그립니다.</a:t>
            </a:r>
          </a:p>
          <a:p xmlns:a="http://schemas.openxmlformats.org/drawingml/2006/main">
            <a:r>
              <a:t>2. 각 위치 번호와 개수를 따로 표시합니다.</a:t>
            </a:r>
          </a:p>
          <a:p xmlns:a="http://schemas.openxmlformats.org/drawingml/2006/main">
            <a:r>
              <a:t>3. 추가할 값을 26.0으로 바꾸고 출력 변화를 예상합니다.</a:t>
            </a:r>
          </a:p>
          <a:p xmlns:a="http://schemas.openxmlformats.org/drawingml/2006/main">
            <a:r>
              <a:t>4. 아직 없는 위치를 읽는 오류 사례를 설명합니다.</a:t>
            </a:r>
          </a:p>
          <a:p xmlns:a="http://schemas.openxmlformats.org/drawingml/2006/main">
            <a:r>
              <a:t/>
            </a:r>
          </a:p>
          <a:p xmlns:a="http://schemas.openxmlformats.org/drawingml/2006/main">
            <a:r>
              <a:t>**예상 결과:** 추가 후 개수 4, 마지막 값 26.0. 기존 첫 값은 유지됩니다.</a:t>
            </a:r>
          </a:p>
          <a:p xmlns:a="http://schemas.openxmlformats.org/drawingml/2006/main">
            <a:r>
              <a:t/>
            </a:r>
          </a:p>
          <a:p xmlns:a="http://schemas.openxmlformats.org/drawingml/2006/main">
            <a:r>
              <a:t>**확인 방법:** 값 하나를 수정하는 것과 append로 추가하는 것은 개수에 어떤 차이가 있나요?</a:t>
            </a:r>
          </a:p>
          <a:p xmlns:a="http://schemas.openxmlformats.org/drawingml/2006/main">
            <a:r>
              <a:t/>
            </a:r>
          </a:p>
          <a:p xmlns:a="http://schemas.openxmlformats.org/drawingml/2006/main">
            <a:r>
              <a:t>**오류 해결:** IndexError가 나면 읽는 시점의 목록 길이와 위치 번호를 확인합니다. 뒤에서 추가된다고 앞에서 이미 존재하는 것은 아닙니다.</a:t>
            </a:r>
          </a:p>
          <a:p xmlns:a="http://schemas.openxmlformats.org/drawingml/2006/main">
            <a:r>
              <a:t/>
            </a:r>
          </a:p>
          <a:p xmlns:a="http://schemas.openxmlformats.org/drawingml/2006/main">
            <a:r>
              <a:t>## A14 · for로 목록을 한 항목씩 읽기</a:t>
            </a:r>
          </a:p>
          <a:p xmlns:a="http://schemas.openxmlformats.org/drawingml/2006/main">
            <a:r>
              <a:t/>
            </a:r>
          </a:p>
          <a:p xmlns:a="http://schemas.openxmlformats.org/drawingml/2006/main">
            <a:r>
              <a:t>**목적:** 여러 온도에 같은 출력이나 비교를 적용할 때 같은 코드를 복사하지 않아도 됩니다. 항목 수가 늘어나면 반복 횟수도 따라 늘어나는 관계를 관찰합니다.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[A14_input.md](examples/course/data/A14_input.md)</a:t>
            </a:r>
          </a:p>
          <a:p xmlns:a="http://schemas.openxmlformats.org/drawingml/2006/main">
            <a:r>
              <a:t>- [A14_example.py](examples/course/code/A14_example.py)</a:t>
            </a:r>
          </a:p>
          <a:p xmlns:a="http://schemas.openxmlformats.org/drawingml/2006/main">
            <a:r>
              <a:t>- [A14_notes.md](examples/course/work/A14_notes.md)</a:t>
            </a:r>
          </a:p>
          <a:p xmlns:a="http://schemas.openxmlformats.org/drawingml/2006/main">
            <a:r>
              <a:t>- [A14_example.py](examples/course/work/A14_example.py)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세 차례에 temperature_c가 가리키는 값을 표에 씁니다.</a:t>
            </a:r>
          </a:p>
          <a:p xmlns:a="http://schemas.openxmlformats.org/drawingml/2006/main">
            <a:r>
              <a:t>2. 완료가 몇 번 나올지 예상하고, 들여쓰기 위치를 보며 이유를 설명합니다.</a:t>
            </a:r>
          </a:p>
          <a:p xmlns:a="http://schemas.openxmlformats.org/drawingml/2006/main">
            <a:r>
              <a:t>3. 목록에 25.0을 추가하고 반복 출력 수를 비교합니다.</a:t>
            </a:r>
          </a:p>
          <a:p xmlns:a="http://schemas.openxmlformats.org/drawingml/2006/main">
            <a:r>
              <a:t>4. 목록이 비어 있으면 어느 줄이 실행될지 적습니다.</a:t>
            </a:r>
          </a:p>
          <a:p xmlns:a="http://schemas.openxmlformats.org/drawingml/2006/main">
            <a:r>
              <a:t/>
            </a:r>
          </a:p>
          <a:p xmlns:a="http://schemas.openxmlformats.org/drawingml/2006/main">
            <a:r>
              <a:t>**예상 결과:** 값은 항목 수만큼 출력되고 완료는 한 번 출력됩니다.</a:t>
            </a:r>
          </a:p>
          <a:p xmlns:a="http://schemas.openxmlformats.org/drawingml/2006/main">
            <a:r>
              <a:t/>
            </a:r>
          </a:p>
          <a:p xmlns:a="http://schemas.openxmlformats.org/drawingml/2006/main">
            <a:r>
              <a:t>**확인 방법:** 완료 출력도 네 칸 들여쓰면 무엇이 바뀔까요?</a:t>
            </a:r>
          </a:p>
          <a:p xmlns:a="http://schemas.openxmlformats.org/drawingml/2006/main">
            <a:r>
              <a:t/>
            </a:r>
          </a:p>
          <a:p xmlns:a="http://schemas.openxmlformats.org/drawingml/2006/main">
            <a:r>
              <a:t>**오류 해결:** 출력 횟수가 다르면 들여쓰기 범위를 먼저 확인합니다. 코드 줄 수와 실행 횟수는 다를 수 있습니다.</a:t>
            </a:r>
          </a:p>
          <a:p xmlns:a="http://schemas.openxmlformats.org/drawingml/2006/main">
            <a:r>
              <a:t/>
            </a:r>
          </a:p>
          <a:p xmlns:a="http://schemas.openxmlformats.org/drawingml/2006/main">
            <a:r>
              <a:t>## A15 · 반복 안에서 조건 확인과 개수 세기</a:t>
            </a:r>
          </a:p>
          <a:p xmlns:a="http://schemas.openxmlformats.org/drawingml/2006/main">
            <a:r>
              <a:t/>
            </a:r>
          </a:p>
          <a:p xmlns:a="http://schemas.openxmlformats.org/drawingml/2006/main">
            <a:r>
              <a:t>**목적:** 어떤 기록이 기준을 넘었는지와 전체 몇 건인지 함께 확인할 수 있습니다. 초기화를 반복 안에 넣으면 매번 0으로 돌아가므로 준비 위치가 결과에 영향을 줍니다.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[A15_input.md](examples/course/data/A15_input.md)</a:t>
            </a:r>
          </a:p>
          <a:p xmlns:a="http://schemas.openxmlformats.org/drawingml/2006/main">
            <a:r>
              <a:t>- [A15_example.py](examples/course/code/A15_example.py)</a:t>
            </a:r>
          </a:p>
          <a:p xmlns:a="http://schemas.openxmlformats.org/drawingml/2006/main">
            <a:r>
              <a:t>- [A15_notes.md](examples/course/work/A15_notes.md)</a:t>
            </a:r>
          </a:p>
          <a:p xmlns:a="http://schemas.openxmlformats.org/drawingml/2006/main">
            <a:r>
              <a:t>- [A15_example.py](examples/course/work/A15_example.py)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각 차례의 온도·조건 결과·누적 count를 표로 씁니다.</a:t>
            </a:r>
          </a:p>
          <a:p xmlns:a="http://schemas.openxmlformats.org/drawingml/2006/main">
            <a:r>
              <a:t>2. 초과를 이상으로 바꾸었을 때 영향을 받는 값을 표시합니다.</a:t>
            </a:r>
          </a:p>
          <a:p xmlns:a="http://schemas.openxmlformats.org/drawingml/2006/main">
            <a:r>
              <a:t>3. 연산자 한 곳을 바꾸고 결과를 대조합니다.</a:t>
            </a:r>
          </a:p>
          <a:p xmlns:a="http://schemas.openxmlformats.org/drawingml/2006/main">
            <a:r>
              <a:t>4. count의 준비 위치를 반복 앞에 둔 이유를 설명합니다.</a:t>
            </a:r>
          </a:p>
          <a:p xmlns:a="http://schemas.openxmlformats.org/drawingml/2006/main">
            <a:r>
              <a:t/>
            </a:r>
          </a:p>
          <a:p xmlns:a="http://schemas.openxmlformats.org/drawingml/2006/main">
            <a:r>
              <a:t>**예상 결과:** 초과는 1건, 이상은 2건이며 경계값 24.0이 차이를 만듭니다.</a:t>
            </a:r>
          </a:p>
          <a:p xmlns:a="http://schemas.openxmlformats.org/drawingml/2006/main">
            <a:r>
              <a:t/>
            </a:r>
          </a:p>
          <a:p xmlns:a="http://schemas.openxmlformats.org/drawingml/2006/main">
            <a:r>
              <a:t>**확인 방법:** 한 번의 print인데 세 항목을 검사할 수 있는 이유는 무엇인가요?</a:t>
            </a:r>
          </a:p>
          <a:p xmlns:a="http://schemas.openxmlformats.org/drawingml/2006/main">
            <a:r>
              <a:t/>
            </a:r>
          </a:p>
          <a:p xmlns:a="http://schemas.openxmlformats.org/drawingml/2006/main">
            <a:r>
              <a:t>**오류 해결:** 건수가 항상 0 또는 1이면 초기화 위치와 누적 줄의 들여쓰기를 확인합니다.</a:t>
            </a:r>
          </a:p>
          <a:p xmlns:a="http://schemas.openxmlformats.org/drawingml/2006/main">
            <a:r>
              <a:t/>
            </a:r>
          </a:p>
          <a:p xmlns:a="http://schemas.openxmlformats.org/drawingml/2006/main">
            <a:r>
              <a:t>## A16 · 관찰 한 건과 점검표 구조</a:t>
            </a:r>
          </a:p>
          <a:p xmlns:a="http://schemas.openxmlformats.org/drawingml/2006/main">
            <a:r>
              <a:t/>
            </a:r>
          </a:p>
          <a:p xmlns:a="http://schemas.openxmlformats.org/drawingml/2006/main">
            <a:r>
              <a:t>**목적:** 온도만 나열하면 어느 센서인지 놓치기 쉽습니다. 식별자와 온도를 한 기록으로 묶어 처리하면 출력의 대상을 분명히 할 수 있습니다. 오늘은 제공된 구조를 읽고 한 값만 바꿉니다.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[A16_input.md](examples/course/data/A16_input.md)</a:t>
            </a:r>
          </a:p>
          <a:p xmlns:a="http://schemas.openxmlformats.org/drawingml/2006/main">
            <a:r>
              <a:t>- [A16_example.py](examples/course/code/A16_example.py)</a:t>
            </a:r>
          </a:p>
          <a:p xmlns:a="http://schemas.openxmlformats.org/drawingml/2006/main">
            <a:r>
              <a:t>- [A16_notes.md](examples/course/work/A16_notes.md)</a:t>
            </a:r>
          </a:p>
          <a:p xmlns:a="http://schemas.openxmlformats.org/drawingml/2006/main">
            <a:r>
              <a:t>- [A16_example.py](examples/course/work/A16_example.py)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바깥 리스트와 안쪽 딕셔너리를 표시합니다.</a:t>
            </a:r>
          </a:p>
          <a:p xmlns:a="http://schemas.openxmlformats.org/drawingml/2006/main">
            <a:r>
              <a:t>2. S02의 온도를 바꾸었을 때 어느 출력만 바뀌는지 예상합니다.</a:t>
            </a:r>
          </a:p>
          <a:p xmlns:a="http://schemas.openxmlformats.org/drawingml/2006/main">
            <a:r>
              <a:t>3. 값 한 곳을 수정해 출력과 관찰 대상이 유지되는지 확인합니다.</a:t>
            </a:r>
          </a:p>
          <a:p xmlns:a="http://schemas.openxmlformats.org/drawingml/2006/main">
            <a:r>
              <a:t>4. 표의 한 행과 record의 관계를 문장으로 설명합니다.</a:t>
            </a:r>
          </a:p>
          <a:p xmlns:a="http://schemas.openxmlformats.org/drawingml/2006/main">
            <a:r>
              <a:t/>
            </a:r>
          </a:p>
          <a:p xmlns:a="http://schemas.openxmlformats.org/drawingml/2006/main">
            <a:r>
              <a:t>**예상 결과:** S02의 온도만 25.0으로 바뀝니다. 기록 수는 두 건입니다.</a:t>
            </a:r>
          </a:p>
          <a:p xmlns:a="http://schemas.openxmlformats.org/drawingml/2006/main">
            <a:r>
              <a:t/>
            </a:r>
          </a:p>
          <a:p xmlns:a="http://schemas.openxmlformats.org/drawingml/2006/main">
            <a:r>
              <a:t>**확인 방법:** 딕셔너리 키 temperature_c를 오타로 읽으면 무엇부터 확인하나요?</a:t>
            </a:r>
          </a:p>
          <a:p xmlns:a="http://schemas.openxmlformats.org/drawingml/2006/main">
            <a:r>
              <a:t/>
            </a:r>
          </a:p>
          <a:p xmlns:a="http://schemas.openxmlformats.org/drawingml/2006/main">
            <a:r>
              <a:t>**오류 해결:** 괄호 짝을 찾기 어렵다면 먼저 리스트 외곽, 다음 각 딕셔너리 외곽을 따로 표시합니다.</a:t>
            </a:r>
          </a:p>
          <a:p xmlns:a="http://schemas.openxmlformats.org/drawingml/2006/main">
            <a:r>
              <a:t/>
            </a:r>
          </a:p>
          <a:p xmlns:a="http://schemas.openxmlformats.org/drawingml/2006/main">
            <a:r>
              <a:t>## A17 · 수업용 센서 요약 완성 예제</a:t>
            </a:r>
          </a:p>
          <a:p xmlns:a="http://schemas.openxmlformats.org/drawingml/2006/main">
            <a:r>
              <a:t/>
            </a:r>
          </a:p>
          <a:p xmlns:a="http://schemas.openxmlformats.org/drawingml/2006/main">
            <a:r>
              <a:t>**목적:** 실무에서는 한 줄의 문법을 아는 것과 여러 단계가 연결된 프로그램을 읽는 것이 다릅니다. 준비한 입력, 각 차례의 처리, 최종 출력을 나누어 표시하면 긴 코드도 추적할 수 있습니다.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[A17_input.md](examples/course/data/A17_input.md)</a:t>
            </a:r>
          </a:p>
          <a:p xmlns:a="http://schemas.openxmlformats.org/drawingml/2006/main">
            <a:r>
              <a:t>- [A17_sensor_summary.py](examples/course/code/A17_sensor_summary.py)</a:t>
            </a:r>
          </a:p>
          <a:p xmlns:a="http://schemas.openxmlformats.org/drawingml/2006/main">
            <a:r>
              <a:t>- [A17_notes.md](examples/course/work/A17_notes.md)</a:t>
            </a:r>
          </a:p>
          <a:p xmlns:a="http://schemas.openxmlformats.org/drawingml/2006/main">
            <a:r>
              <a:t>- [A17_sensor_summary.py](examples/course/work/A17_sensor_summary.py)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각 기록의 입력·조건·예상 상태를 작성합니다.</a:t>
            </a:r>
          </a:p>
          <a:p xmlns:a="http://schemas.openxmlformats.org/drawingml/2006/main">
            <a:r>
              <a:t>2. limit만 25.0으로 바꾸고 달라질 기록을 고릅니다.</a:t>
            </a:r>
          </a:p>
          <a:p xmlns:a="http://schemas.openxmlformats.org/drawingml/2006/main">
            <a:r>
              <a:t>3. 전체 파일을 저장·실행하고 세 출력 줄을 대조합니다.</a:t>
            </a:r>
          </a:p>
          <a:p xmlns:a="http://schemas.openxmlformats.org/drawingml/2006/main">
            <a:r>
              <a:t>4. 미측정 처리와 기준 비교의 실행 순서를 짝에게 설명합니다.</a:t>
            </a:r>
          </a:p>
          <a:p xmlns:a="http://schemas.openxmlformats.org/drawingml/2006/main">
            <a:r>
              <a:t/>
            </a:r>
          </a:p>
          <a:p xmlns:a="http://schemas.openxmlformats.org/drawingml/2006/main">
            <a:r>
              <a:t>**예상 결과:** 기준을 25.0으로 바꾸면 S02는 같은 값이므로 정상이며 S03은 계속 미측정입니다.</a:t>
            </a:r>
          </a:p>
          <a:p xmlns:a="http://schemas.openxmlformats.org/drawingml/2006/main">
            <a:r>
              <a:t/>
            </a:r>
          </a:p>
          <a:p xmlns:a="http://schemas.openxmlformats.org/drawingml/2006/main">
            <a:r>
              <a:t>**확인 방법:** 기준만 바꿨는데 미측정 상태가 달라진다면 무엇을 점검해야 할까요?</a:t>
            </a:r>
          </a:p>
          <a:p xmlns:a="http://schemas.openxmlformats.org/drawingml/2006/main">
            <a:r>
              <a:t/>
            </a:r>
          </a:p>
          <a:p xmlns:a="http://schemas.openxmlformats.org/drawingml/2006/main">
            <a:r>
              <a:t>**오류 해결:** 한꺼번에 여러 곳을 수정하지 않습니다. 원본과 작업본을 나란히 보고 지정한 기준 한 곳부터 다시 비교합니다.</a:t>
            </a:r>
          </a:p>
          <a:p xmlns:a="http://schemas.openxmlformats.org/drawingml/2006/main">
            <a:r>
              <a:t/>
            </a:r>
          </a:p>
          <a:p xmlns:a="http://schemas.openxmlformats.org/drawingml/2006/main">
            <a:r>
              <a:t>## A18 · 새 입력 검수와 실행 인계</a:t>
            </a:r>
          </a:p>
          <a:p xmlns:a="http://schemas.openxmlformats.org/drawingml/2006/main">
            <a:r>
              <a:t/>
            </a:r>
          </a:p>
          <a:p xmlns:a="http://schemas.openxmlformats.org/drawingml/2006/main">
            <a:r>
              <a:t>추가 원문·작업 파일:</a:t>
            </a:r>
          </a:p>
          <a:p xmlns:a="http://schemas.openxmlformats.org/drawingml/2006/main">
            <a:r>
              <a:t/>
            </a:r>
          </a:p>
          <a:p xmlns:a="http://schemas.openxmlformats.org/drawingml/2006/main">
            <a:r>
              <a:t>- [A18_input.md](examples/course/data/A18_input.md)</a:t>
            </a:r>
          </a:p>
          <a:p xmlns:a="http://schemas.openxmlformats.org/drawingml/2006/main">
            <a:r>
              <a:t>- [A18_notes.md](examples/course/work/A18_notes.md)</a:t>
            </a:r>
          </a:p>
          <a:p xmlns:a="http://schemas.openxmlformats.org/drawingml/2006/main">
            <a:r>
              <a:t>- [A18_final.py](examples/course/work/A18_final.py)</a:t>
            </a:r>
          </a:p>
          <a:p xmlns:a="http://schemas.openxmlformats.org/drawingml/2006/main">
            <a:r>
              <a:t/>
            </a:r>
          </a:p>
          <a:p xmlns:a="http://schemas.openxmlformats.org/drawingml/2006/main">
            <a:r>
              <a:t>**목적:** 새 입력에서 경계값과 미측정을 다시 확인하면 예제 답을 외운 것인지 원리를 이해했는지 볼 수 있습니다. 실행하지 못한 경우에는 예상·강사 관찰·개인 실행을 정확히 구별합니다.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[A18_input.md](examples/course/data/A18_input.md)</a:t>
            </a:r>
          </a:p>
          <a:p xmlns:a="http://schemas.openxmlformats.org/drawingml/2006/main">
            <a:r>
              <a:t>- [A18_notes.md](examples/course/work/A18_notes.md)</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새 관찰 세 개의 예상 상태와 근거를 적습니다.</a:t>
            </a:r>
          </a:p>
          <a:p xmlns:a="http://schemas.openxmlformats.org/drawingml/2006/main">
            <a:r>
              <a:t>2. A17 구조를 재사용해 work/A18_final.py의 기록 목록을 새 자료로 바꿉니다.</a:t>
            </a:r>
          </a:p>
          <a:p xmlns:a="http://schemas.openxmlformats.org/drawingml/2006/main">
            <a:r>
              <a:t>3. 같은 기준으로 실행하거나 제공 출력과 수동 대조하고 확인 방식을 기록합니다.</a:t>
            </a:r>
          </a:p>
          <a:p xmlns:a="http://schemas.openxmlformats.org/drawingml/2006/main">
            <a:r>
              <a:t>4. 짝이 같은 파일을 찾고 결과를 설명할 수 있게 인계 세 문장을 씁니다.</a:t>
            </a:r>
          </a:p>
          <a:p xmlns:a="http://schemas.openxmlformats.org/drawingml/2006/main">
            <a:r>
              <a:t/>
            </a:r>
          </a:p>
          <a:p xmlns:a="http://schemas.openxmlformats.org/drawingml/2006/main">
            <a:r>
              <a:t>**예상 결과:** S04 정상, S05 정상, S06 미측정. 0.0과 None이 다르게 처리됩니다.</a:t>
            </a:r>
          </a:p>
          <a:p xmlns:a="http://schemas.openxmlformats.org/drawingml/2006/main">
            <a:r>
              <a:t/>
            </a:r>
          </a:p>
          <a:p xmlns:a="http://schemas.openxmlformats.org/drawingml/2006/main">
            <a:r>
              <a:t>**확인 방법:** 내일 파일에서 읽은 "24.0"을 그대로 이 코드에 넣으면 무엇이 추가로 필요할까요?</a:t>
            </a:r>
          </a:p>
          <a:p xmlns:a="http://schemas.openxmlformats.org/drawingml/2006/main">
            <a:r>
              <a:t/>
            </a:r>
          </a:p>
          <a:p xmlns:a="http://schemas.openxmlformats.org/drawingml/2006/main">
            <a:r>
              <a:t>**오류 해결:** 새 파일이 실행되지 않으면 먼저 원본 A17을 실행해 실행 환경 문제인지, 새로 수정한 코드의 문제인지 확인합니다. 원본까지 실패하면 환경 단서부터 확인합니다.</a:t>
            </a:r>
          </a:p>
          <a:p xmlns:a="http://schemas.openxmlformats.org/drawingml/2006/main">
            <a:r>
              <a:t/>
            </a:r>
          </a:p>
          <a:p xmlns:a="http://schemas.openxmlformats.org/drawingml/2006/main">
            <a:r>
              <a:t/>
            </a:r>
          </a:p>
          <a:p xmlns:a="http://schemas.openxmlformats.org/drawingml/2006/main">
            <a:r>
              <a:t>학생 교안: https://zeusk302-png.github.io/kdigital-physical-ai/#/sessions/2026-10-14/lesson</a:t>
            </a:r>
          </a:p>
          <a:p xmlns:a="http://schemas.openxmlformats.org/drawingml/2006/main">
            <a:r>
              <a:t>실습: https://zeusk302-png.github.io/kdigital-physical-ai/#/sessions/2026-10-14/lesson</a:t>
            </a:r>
          </a:p>
          <a:p xmlns:a="http://schemas.openxmlformats.org/drawingml/2006/main">
            <a:r>
              <a:t>공식 자료: https://docs.python.org/3/tutorial/errors.html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처음 시작 안내</a:t>
            </a:r>
          </a:p>
          <a:p xmlns:a="http://schemas.openxmlformats.org/drawingml/2006/main">
            <a:r>
              <a:t>https://zeusk302-png.github.io/kdigital-physical-ai/#/sessions/2026-10-14/start</a:t>
            </a:r>
          </a:p>
          <a:p xmlns:a="http://schemas.openxmlformats.org/drawingml/2006/main">
            <a:r>
              <a:t/>
            </a:r>
          </a:p>
          <a:p xmlns:a="http://schemas.openxmlformats.org/drawingml/2006/main">
            <a:r>
              <a:t>학생 교안</a:t>
            </a:r>
          </a:p>
          <a:p xmlns:a="http://schemas.openxmlformats.org/drawingml/2006/main">
            <a:r>
              <a:t>https://zeusk302-png.github.io/kdigital-physical-ai/#/sessions/2026-10-14/lesson</a:t>
            </a:r>
          </a:p>
          <a:p xmlns:a="http://schemas.openxmlformats.org/drawingml/2006/main">
            <a:r>
              <a:t/>
            </a:r>
          </a:p>
          <a:p xmlns:a="http://schemas.openxmlformats.org/drawingml/2006/main">
            <a:r>
              <a:t>실습 활동</a:t>
            </a:r>
          </a:p>
          <a:p xmlns:a="http://schemas.openxmlformats.org/drawingml/2006/main">
            <a:r>
              <a:t>https://zeusk302-png.github.io/kdigital-physical-ai/#/sessions/2026-10-14/workbook</a:t>
            </a:r>
          </a:p>
          <a:p xmlns:a="http://schemas.openxmlformats.org/drawingml/2006/main">
            <a:r>
              <a:t/>
            </a:r>
          </a:p>
          <a:p xmlns:a="http://schemas.openxmlformats.org/drawingml/2006/main">
            <a:r>
              <a:t>예제 코드와 데이터 ZIP</a:t>
            </a:r>
          </a:p>
          <a:p xmlns:a="http://schemas.openxmlformats.org/drawingml/2006/main">
            <a:r>
              <a:t>https://zeusk302-png.github.io/kdigital-physical-ai/downloads/2026-10-14/student-examples.zip</a:t>
            </a:r>
          </a:p>
          <a:p xmlns:a="http://schemas.openxmlformats.org/drawingml/2006/main">
            <a:r>
              <a:t/>
            </a:r>
          </a:p>
          <a:p xmlns:a="http://schemas.openxmlformats.org/drawingml/2006/main">
            <a:r>
              <a:t>날짜별 자료 다운로드</a:t>
            </a:r>
          </a:p>
          <a:p xmlns:a="http://schemas.openxmlformats.org/drawingml/2006/main">
            <a:r>
              <a:t>https://zeusk302-png.github.io/kdigital-physical-ai/#/sessions/2026-10-14/files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숫자·문자열 · Python</a:t>
            </a:r>
          </a:p>
          <a:p xmlns:a="http://schemas.openxmlformats.org/drawingml/2006/main">
            <a:r>
              <a:t>https://docs.python.org/3/tutorial/introduction.html</a:t>
            </a:r>
          </a:p>
          <a:p xmlns:a="http://schemas.openxmlformats.org/drawingml/2006/main">
            <a:r>
              <a:t/>
            </a:r>
          </a:p>
          <a:p xmlns:a="http://schemas.openxmlformats.org/drawingml/2006/main">
            <a:r>
              <a:t>조건과 반복 · Python</a:t>
            </a:r>
          </a:p>
          <a:p xmlns:a="http://schemas.openxmlformats.org/drawingml/2006/main">
            <a:r>
              <a:t>https://docs.python.org/3/tutorial/controlflow.html</a:t>
            </a:r>
          </a:p>
          <a:p xmlns:a="http://schemas.openxmlformats.org/drawingml/2006/main">
            <a:r>
              <a:t/>
            </a:r>
          </a:p>
          <a:p xmlns:a="http://schemas.openxmlformats.org/drawingml/2006/main">
            <a:r>
              <a:t>오류 읽기 · Python</a:t>
            </a:r>
          </a:p>
          <a:p xmlns:a="http://schemas.openxmlformats.org/drawingml/2006/main">
            <a:r>
              <a:t>https://docs.python.org/3/tutorial/errors.html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8834c7db3ab492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0be6da582fd432f" /><Relationship Type="http://schemas.openxmlformats.org/officeDocument/2006/relationships/slideLayout" Target="/ppt/slideLayouts/slideLayout1.xml" Id="Rcce817ae32b44f0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ce817ae32b44f0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ns0:Relationships xmlns:ns0="http://schemas.openxmlformats.org/package/2006/relationships"><ns0:Relationship Type="http://schemas.openxmlformats.org/officeDocument/2006/relationships/slideLayout" Target="/ppt/slideLayouts/slideLayout1.xml" Id="R2580b980eaf04b48" /><ns0:Relationship Type="http://schemas.openxmlformats.org/officeDocument/2006/relationships/image" Target="/ppt/media/image.png" Id="Rfd7fc49e92fa4dc8" /><ns0:Relationship Type="http://schemas.openxmlformats.org/officeDocument/2006/relationships/notesSlide" Target="/ppt/notesSlides/notesSlide1.xml" Id="R20adab1f89454ab4"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errors.html" TargetMode="External" /></ns0:Relationships>
</file>

<file path=ppt/slides/_rels/slide2.xml.rels><?xml version='1.0' encoding='utf-8'?>
<ns0:Relationships xmlns:ns0="http://schemas.openxmlformats.org/package/2006/relationships"><ns0:Relationship Type="http://schemas.openxmlformats.org/officeDocument/2006/relationships/slideLayout" Target="/ppt/slideLayouts/slideLayout1.xml" Id="R9680d4ae9b6e4bfc" /><ns0:Relationship Type="http://schemas.openxmlformats.org/officeDocument/2006/relationships/notesSlide" Target="/ppt/notesSlides/notesSlide2.xml" Id="R91a2f485385f4214"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errors.html" TargetMode="External" /></ns0:Relationships>
</file>

<file path=ppt/slides/_rels/slide3.xml.rels><?xml version='1.0' encoding='utf-8'?>
<ns0:Relationships xmlns:ns0="http://schemas.openxmlformats.org/package/2006/relationships"><ns0:Relationship Type="http://schemas.openxmlformats.org/officeDocument/2006/relationships/slideLayout" Target="/ppt/slideLayouts/slideLayout1.xml" Id="R772bd1049a7e41b6" /><ns0:Relationship Type="http://schemas.openxmlformats.org/officeDocument/2006/relationships/notesSlide" Target="/ppt/notesSlides/notesSlide3.xml" Id="Rc6afee97e47c4d21"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errors.html" TargetMode="External" /></ns0:Relationships>
</file>

<file path=ppt/slides/_rels/slide4.xml.rels><?xml version='1.0' encoding='utf-8'?>
<ns0:Relationships xmlns:ns0="http://schemas.openxmlformats.org/package/2006/relationships"><ns0:Relationship Type="http://schemas.openxmlformats.org/officeDocument/2006/relationships/slideLayout" Target="/ppt/slideLayouts/slideLayout1.xml" Id="Rf95d57d8f47a4c0d" /><ns0:Relationship Type="http://schemas.openxmlformats.org/officeDocument/2006/relationships/notesSlide" Target="/ppt/notesSlides/notesSlide4.xml" Id="Re472fc5459e14ff1"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errors.html" TargetMode="External" /></ns0:Relationships>
</file>

<file path=ppt/slides/_rels/slide5.xml.rels><?xml version='1.0' encoding='utf-8'?>
<ns0:Relationships xmlns:ns0="http://schemas.openxmlformats.org/package/2006/relationships"><ns0:Relationship Type="http://schemas.openxmlformats.org/officeDocument/2006/relationships/slideLayout" Target="/ppt/slideLayouts/slideLayout1.xml" Id="R524d589795c6498f" /><ns0:Relationship Type="http://schemas.openxmlformats.org/officeDocument/2006/relationships/notesSlide" Target="/ppt/notesSlides/notesSlide5.xml" Id="R24341cb17a3d4d4f"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errors.html" TargetMode="External" /></ns0:Relationships>
</file>

<file path=ppt/slides/_rels/slide6.xml.rels><?xml version='1.0' encoding='utf-8'?>
<ns0:Relationships xmlns:ns0="http://schemas.openxmlformats.org/package/2006/relationships"><ns0:Relationship Type="http://schemas.openxmlformats.org/officeDocument/2006/relationships/slideLayout" Target="/ppt/slideLayouts/slideLayout1.xml" Id="R576d931f1abf4a15" /><ns0:Relationship Type="http://schemas.openxmlformats.org/officeDocument/2006/relationships/notesSlide" Target="/ppt/notesSlides/notesSlide6.xml" Id="R2919a9e780504883"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01" TargetMode="External" /><ns0:Relationship Id="rIdLink3" Type="http://schemas.openxmlformats.org/officeDocument/2006/relationships/hyperlink" Target="https://docs.python.org/3/tutorial/introduction.html" TargetMode="External" /></ns0:Relationships>
</file>

<file path=ppt/slides/_rels/slide7.xml.rels><?xml version='1.0' encoding='utf-8'?>
<ns0:Relationships xmlns:ns0="http://schemas.openxmlformats.org/package/2006/relationships"><ns0:Relationship Type="http://schemas.openxmlformats.org/officeDocument/2006/relationships/slideLayout" Target="/ppt/slideLayouts/slideLayout1.xml" Id="R3ed4f77188c140ad" /><ns0:Relationship Type="http://schemas.openxmlformats.org/officeDocument/2006/relationships/notesSlide" Target="/ppt/notesSlides/notesSlide7.xml" Id="R307e7224853c4e64"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01" TargetMode="External" /><ns0:Relationship Id="rIdLink3" Type="http://schemas.openxmlformats.org/officeDocument/2006/relationships/hyperlink" Target="https://docs.python.org/3/tutorial/introduction.html" TargetMode="External" /></ns0:Relationships>
</file>

<file path=ppt/slides/_rels/slide8.xml.rels><?xml version='1.0' encoding='utf-8'?>
<ns0:Relationships xmlns:ns0="http://schemas.openxmlformats.org/package/2006/relationships"><ns0:Relationship Type="http://schemas.openxmlformats.org/officeDocument/2006/relationships/slideLayout" Target="/ppt/slideLayouts/slideLayout1.xml" Id="R375d13ce1ada49f7" /><ns0:Relationship Type="http://schemas.openxmlformats.org/officeDocument/2006/relationships/notesSlide" Target="/ppt/notesSlides/notesSlide8.xml" Id="R6c1e558182164878"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01" TargetMode="External" /><ns0:Relationship Id="rIdLink3" Type="http://schemas.openxmlformats.org/officeDocument/2006/relationships/hyperlink" Target="https://docs.python.org/3/tutorial/introduction.html" TargetMode="External" /></ns0:Relationships>
</file>

<file path=ppt/slides/_rels/slide9.xml.rels><?xml version='1.0' encoding='utf-8'?>
<ns0:Relationships xmlns:ns0="http://schemas.openxmlformats.org/package/2006/relationships"><ns0:Relationship Type="http://schemas.openxmlformats.org/officeDocument/2006/relationships/slideLayout" Target="/ppt/slideLayouts/slideLayout1.xml" Id="Rb2a6c7d6026a4c07" /><ns0:Relationship Type="http://schemas.openxmlformats.org/officeDocument/2006/relationships/notesSlide" Target="/ppt/notesSlides/notesSlide9.xml" Id="R50d6ca04e7b6455d"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02" TargetMode="External" /><ns0:Relationship Id="rIdLink3" Type="http://schemas.openxmlformats.org/officeDocument/2006/relationships/hyperlink" Target="https://docs.python.org/3/tutorial/introduction.html" TargetMode="External" /></ns0:Relationships>
</file>

<file path=ppt/slides/_rels/slide10.xml.rels><?xml version='1.0' encoding='utf-8'?>
<ns0:Relationships xmlns:ns0="http://schemas.openxmlformats.org/package/2006/relationships"><ns0:Relationship Type="http://schemas.openxmlformats.org/officeDocument/2006/relationships/slideLayout" Target="/ppt/slideLayouts/slideLayout1.xml" Id="R5ab3a7fc21c34912" /><ns0:Relationship Type="http://schemas.openxmlformats.org/officeDocument/2006/relationships/notesSlide" Target="/ppt/notesSlides/notesSlide10.xml" Id="Rd2f3c0597e684686"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02" TargetMode="External" /><ns0:Relationship Id="rIdLink3" Type="http://schemas.openxmlformats.org/officeDocument/2006/relationships/hyperlink" Target="https://docs.python.org/3/tutorial/introduction.html" TargetMode="External" /></ns0:Relationships>
</file>

<file path=ppt/slides/_rels/slide11.xml.rels><?xml version='1.0' encoding='utf-8'?>
<ns0:Relationships xmlns:ns0="http://schemas.openxmlformats.org/package/2006/relationships"><ns0:Relationship Type="http://schemas.openxmlformats.org/officeDocument/2006/relationships/slideLayout" Target="/ppt/slideLayouts/slideLayout1.xml" Id="Rc58a272ac45a421a" /><ns0:Relationship Type="http://schemas.openxmlformats.org/officeDocument/2006/relationships/notesSlide" Target="/ppt/notesSlides/notesSlide11.xml" Id="R068695bd125f406b"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introduction.html" TargetMode="External" /></ns0:Relationships>
</file>

<file path=ppt/slides/_rels/slide12.xml.rels><?xml version='1.0' encoding='utf-8'?>
<ns0:Relationships xmlns:ns0="http://schemas.openxmlformats.org/package/2006/relationships"><ns0:Relationship Type="http://schemas.openxmlformats.org/officeDocument/2006/relationships/slideLayout" Target="/ppt/slideLayouts/slideLayout1.xml" Id="R8b09f0b29a2d4eca" /><ns0:Relationship Type="http://schemas.openxmlformats.org/officeDocument/2006/relationships/notesSlide" Target="/ppt/notesSlides/notesSlide12.xml" Id="Ra0746d4b4c944c57"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03" TargetMode="External" /><ns0:Relationship Id="rIdLink3" Type="http://schemas.openxmlformats.org/officeDocument/2006/relationships/hyperlink" Target="https://docs.python.org/3/tutorial/introduction.html" TargetMode="External" /></ns0:Relationships>
</file>

<file path=ppt/slides/_rels/slide13.xml.rels><?xml version='1.0' encoding='utf-8'?>
<ns0:Relationships xmlns:ns0="http://schemas.openxmlformats.org/package/2006/relationships"><ns0:Relationship Type="http://schemas.openxmlformats.org/officeDocument/2006/relationships/slideLayout" Target="/ppt/slideLayouts/slideLayout1.xml" Id="R0302d8eb01644c4d" /><ns0:Relationship Type="http://schemas.openxmlformats.org/officeDocument/2006/relationships/notesSlide" Target="/ppt/notesSlides/notesSlide13.xml" Id="Recb73f6c62c14d0d"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introduction.html" TargetMode="External" /></ns0:Relationships>
</file>

<file path=ppt/slides/_rels/slide14.xml.rels><?xml version='1.0' encoding='utf-8'?>
<ns0:Relationships xmlns:ns0="http://schemas.openxmlformats.org/package/2006/relationships"><ns0:Relationship Type="http://schemas.openxmlformats.org/officeDocument/2006/relationships/slideLayout" Target="/ppt/slideLayouts/slideLayout1.xml" Id="R11d20cff681f4c20" /><ns0:Relationship Type="http://schemas.openxmlformats.org/officeDocument/2006/relationships/notesSlide" Target="/ppt/notesSlides/notesSlide14.xml" Id="Ra39b93a09d804dfd"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03" TargetMode="External" /><ns0:Relationship Id="rIdLink3" Type="http://schemas.openxmlformats.org/officeDocument/2006/relationships/hyperlink" Target="https://docs.python.org/3/tutorial/introduction.html" TargetMode="External" /></ns0:Relationships>
</file>

<file path=ppt/slides/_rels/slide15.xml.rels><?xml version='1.0' encoding='utf-8'?>
<ns0:Relationships xmlns:ns0="http://schemas.openxmlformats.org/package/2006/relationships"><ns0:Relationship Type="http://schemas.openxmlformats.org/officeDocument/2006/relationships/slideLayout" Target="/ppt/slideLayouts/slideLayout1.xml" Id="R4ffa443bccc346c9" /><ns0:Relationship Type="http://schemas.openxmlformats.org/officeDocument/2006/relationships/notesSlide" Target="/ppt/notesSlides/notesSlide15.xml" Id="R22313260db26453a"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introduction.html" TargetMode="External" /></ns0:Relationships>
</file>

<file path=ppt/slides/_rels/slide16.xml.rels><?xml version='1.0' encoding='utf-8'?>
<ns0:Relationships xmlns:ns0="http://schemas.openxmlformats.org/package/2006/relationships"><ns0:Relationship Type="http://schemas.openxmlformats.org/officeDocument/2006/relationships/slideLayout" Target="/ppt/slideLayouts/slideLayout1.xml" Id="Ref523f36fd864074" /><ns0:Relationship Type="http://schemas.openxmlformats.org/officeDocument/2006/relationships/notesSlide" Target="/ppt/notesSlides/notesSlide16.xml" Id="R42d58b142d154fd2"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introduction.html" TargetMode="External" /></ns0:Relationships>
</file>

<file path=ppt/slides/_rels/slide17.xml.rels><?xml version='1.0' encoding='utf-8'?>
<ns0:Relationships xmlns:ns0="http://schemas.openxmlformats.org/package/2006/relationships"><ns0:Relationship Type="http://schemas.openxmlformats.org/officeDocument/2006/relationships/slideLayout" Target="/ppt/slideLayouts/slideLayout1.xml" Id="Raebe19828eb64881" /><ns0:Relationship Type="http://schemas.openxmlformats.org/officeDocument/2006/relationships/notesSlide" Target="/ppt/notesSlides/notesSlide17.xml" Id="R00ae0b4455a04deb"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introduction.html" TargetMode="External" /></ns0:Relationships>
</file>

<file path=ppt/slides/_rels/slide18.xml.rels><?xml version='1.0' encoding='utf-8'?>
<ns0:Relationships xmlns:ns0="http://schemas.openxmlformats.org/package/2006/relationships"><ns0:Relationship Type="http://schemas.openxmlformats.org/officeDocument/2006/relationships/slideLayout" Target="/ppt/slideLayouts/slideLayout1.xml" Id="Re534094d3e3b49b6" /><ns0:Relationship Type="http://schemas.openxmlformats.org/officeDocument/2006/relationships/notesSlide" Target="/ppt/notesSlides/notesSlide18.xml" Id="R9181dae0188b4a71"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introduction.html" TargetMode="External" /></ns0:Relationships>
</file>

<file path=ppt/slides/_rels/slide19.xml.rels><?xml version='1.0' encoding='utf-8'?>
<ns0:Relationships xmlns:ns0="http://schemas.openxmlformats.org/package/2006/relationships"><ns0:Relationship Type="http://schemas.openxmlformats.org/officeDocument/2006/relationships/slideLayout" Target="/ppt/slideLayouts/slideLayout1.xml" Id="Rdc2c15a2454648ca" /><ns0:Relationship Type="http://schemas.openxmlformats.org/officeDocument/2006/relationships/notesSlide" Target="/ppt/notesSlides/notesSlide19.xml" Id="R7de2d39e6b0f41eb"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02" TargetMode="External" /><ns0:Relationship Id="rIdLink3" Type="http://schemas.openxmlformats.org/officeDocument/2006/relationships/hyperlink" Target="https://docs.python.org/3/tutorial/introduction.html" TargetMode="External" /></ns0:Relationships>
</file>

<file path=ppt/slides/_rels/slide20.xml.rels><?xml version='1.0' encoding='utf-8'?>
<ns0:Relationships xmlns:ns0="http://schemas.openxmlformats.org/package/2006/relationships"><ns0:Relationship Type="http://schemas.openxmlformats.org/officeDocument/2006/relationships/slideLayout" Target="/ppt/slideLayouts/slideLayout1.xml" Id="R34281118e13f431f" /><ns0:Relationship Type="http://schemas.openxmlformats.org/officeDocument/2006/relationships/notesSlide" Target="/ppt/notesSlides/notesSlide20.xml" Id="R6b309f317d4b40c6"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introduction.html" TargetMode="External" /></ns0:Relationships>
</file>

<file path=ppt/slides/_rels/slide21.xml.rels><?xml version='1.0' encoding='utf-8'?>
<ns0:Relationships xmlns:ns0="http://schemas.openxmlformats.org/package/2006/relationships"><ns0:Relationship Type="http://schemas.openxmlformats.org/officeDocument/2006/relationships/slideLayout" Target="/ppt/slideLayouts/slideLayout1.xml" Id="R1b455da5b8404297" /><ns0:Relationship Type="http://schemas.openxmlformats.org/officeDocument/2006/relationships/notesSlide" Target="/ppt/notesSlides/notesSlide21.xml" Id="R64c3e81dd921483f"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04" TargetMode="External" /><ns0:Relationship Id="rIdLink3" Type="http://schemas.openxmlformats.org/officeDocument/2006/relationships/hyperlink" Target="https://docs.python.org/3/tutorial/controlflow.html" TargetMode="External" /></ns0:Relationships>
</file>

<file path=ppt/slides/_rels/slide22.xml.rels><?xml version='1.0' encoding='utf-8'?>
<ns0:Relationships xmlns:ns0="http://schemas.openxmlformats.org/package/2006/relationships"><ns0:Relationship Type="http://schemas.openxmlformats.org/officeDocument/2006/relationships/slideLayout" Target="/ppt/slideLayouts/slideLayout1.xml" Id="Rf15d9a7aa60f4972" /><ns0:Relationship Type="http://schemas.openxmlformats.org/officeDocument/2006/relationships/notesSlide" Target="/ppt/notesSlides/notesSlide22.xml" Id="Ra4d36ae051264060"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04" TargetMode="External" /><ns0:Relationship Id="rIdLink3" Type="http://schemas.openxmlformats.org/officeDocument/2006/relationships/hyperlink" Target="https://docs.python.org/3/tutorial/controlflow.html" TargetMode="External" /></ns0:Relationships>
</file>

<file path=ppt/slides/_rels/slide23.xml.rels><?xml version='1.0' encoding='utf-8'?>
<ns0:Relationships xmlns:ns0="http://schemas.openxmlformats.org/package/2006/relationships"><ns0:Relationship Type="http://schemas.openxmlformats.org/officeDocument/2006/relationships/slideLayout" Target="/ppt/slideLayouts/slideLayout1.xml" Id="Rf890ba62a9e84b9e" /><ns0:Relationship Type="http://schemas.openxmlformats.org/officeDocument/2006/relationships/notesSlide" Target="/ppt/notesSlides/notesSlide23.xml" Id="R584a9be1f9ca4987"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04" TargetMode="External" /><ns0:Relationship Id="rIdLink3" Type="http://schemas.openxmlformats.org/officeDocument/2006/relationships/hyperlink" Target="https://docs.python.org/3/tutorial/controlflow.html" TargetMode="External" /></ns0:Relationships>
</file>

<file path=ppt/slides/_rels/slide24.xml.rels><?xml version='1.0' encoding='utf-8'?>
<ns0:Relationships xmlns:ns0="http://schemas.openxmlformats.org/package/2006/relationships"><ns0:Relationship Type="http://schemas.openxmlformats.org/officeDocument/2006/relationships/slideLayout" Target="/ppt/slideLayouts/slideLayout1.xml" Id="Rf81bc8ab320048b2" /><ns0:Relationship Type="http://schemas.openxmlformats.org/officeDocument/2006/relationships/notesSlide" Target="/ppt/notesSlides/notesSlide24.xml" Id="R5b34d054f2f54111"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controlflow.html" TargetMode="External" /></ns0:Relationships>
</file>

<file path=ppt/slides/_rels/slide25.xml.rels><?xml version='1.0' encoding='utf-8'?>
<ns0:Relationships xmlns:ns0="http://schemas.openxmlformats.org/package/2006/relationships"><ns0:Relationship Type="http://schemas.openxmlformats.org/officeDocument/2006/relationships/slideLayout" Target="/ppt/slideLayouts/slideLayout1.xml" Id="R5d873537e7114ed3" /><ns0:Relationship Type="http://schemas.openxmlformats.org/officeDocument/2006/relationships/notesSlide" Target="/ppt/notesSlides/notesSlide25.xml" Id="Rbc7aa7a3d10e4f97"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05" TargetMode="External" /><ns0:Relationship Id="rIdLink3" Type="http://schemas.openxmlformats.org/officeDocument/2006/relationships/hyperlink" Target="https://docs.python.org/3/tutorial/controlflow.html" TargetMode="External" /></ns0:Relationships>
</file>

<file path=ppt/slides/_rels/slide26.xml.rels><?xml version='1.0' encoding='utf-8'?>
<ns0:Relationships xmlns:ns0="http://schemas.openxmlformats.org/package/2006/relationships"><ns0:Relationship Type="http://schemas.openxmlformats.org/officeDocument/2006/relationships/slideLayout" Target="/ppt/slideLayouts/slideLayout1.xml" Id="R33f85017e7704b2f" /><ns0:Relationship Type="http://schemas.openxmlformats.org/officeDocument/2006/relationships/notesSlide" Target="/ppt/notesSlides/notesSlide26.xml" Id="Rcb3d5be128b64ccb"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05" TargetMode="External" /><ns0:Relationship Id="rIdLink3" Type="http://schemas.openxmlformats.org/officeDocument/2006/relationships/hyperlink" Target="https://docs.python.org/3/tutorial/controlflow.html" TargetMode="External" /></ns0:Relationships>
</file>

<file path=ppt/slides/_rels/slide27.xml.rels><?xml version='1.0' encoding='utf-8'?>
<ns0:Relationships xmlns:ns0="http://schemas.openxmlformats.org/package/2006/relationships"><ns0:Relationship Type="http://schemas.openxmlformats.org/officeDocument/2006/relationships/slideLayout" Target="/ppt/slideLayouts/slideLayout1.xml" Id="Rd06d7df9eb83493c" /><ns0:Relationship Type="http://schemas.openxmlformats.org/officeDocument/2006/relationships/notesSlide" Target="/ppt/notesSlides/notesSlide27.xml" Id="Rfd4e3c6a1f30403b"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05" TargetMode="External" /><ns0:Relationship Id="rIdLink3" Type="http://schemas.openxmlformats.org/officeDocument/2006/relationships/hyperlink" Target="https://docs.python.org/3/tutorial/controlflow.html" TargetMode="External" /></ns0:Relationships>
</file>

<file path=ppt/slides/_rels/slide28.xml.rels><?xml version='1.0' encoding='utf-8'?>
<ns0:Relationships xmlns:ns0="http://schemas.openxmlformats.org/package/2006/relationships"><ns0:Relationship Type="http://schemas.openxmlformats.org/officeDocument/2006/relationships/slideLayout" Target="/ppt/slideLayouts/slideLayout1.xml" Id="Rd8babe3b1c184b57" /><ns0:Relationship Type="http://schemas.openxmlformats.org/officeDocument/2006/relationships/notesSlide" Target="/ppt/notesSlides/notesSlide28.xml" Id="R0806c518f47146af"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06" TargetMode="External" /><ns0:Relationship Id="rIdLink3" Type="http://schemas.openxmlformats.org/officeDocument/2006/relationships/hyperlink" Target="https://docs.python.org/3/tutorial/controlflow.html" TargetMode="External" /></ns0:Relationships>
</file>

<file path=ppt/slides/_rels/slide29.xml.rels><?xml version='1.0' encoding='utf-8'?>
<ns0:Relationships xmlns:ns0="http://schemas.openxmlformats.org/package/2006/relationships"><ns0:Relationship Type="http://schemas.openxmlformats.org/officeDocument/2006/relationships/slideLayout" Target="/ppt/slideLayouts/slideLayout1.xml" Id="R20ea39673a3f48e0" /><ns0:Relationship Type="http://schemas.openxmlformats.org/officeDocument/2006/relationships/notesSlide" Target="/ppt/notesSlides/notesSlide29.xml" Id="Rd9a211ef22fc4da5"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06" TargetMode="External" /><ns0:Relationship Id="rIdLink3" Type="http://schemas.openxmlformats.org/officeDocument/2006/relationships/hyperlink" Target="https://docs.python.org/3/tutorial/controlflow.html" TargetMode="External" /></ns0:Relationships>
</file>

<file path=ppt/slides/_rels/slide30.xml.rels><?xml version='1.0' encoding='utf-8'?>
<ns0:Relationships xmlns:ns0="http://schemas.openxmlformats.org/package/2006/relationships"><ns0:Relationship Type="http://schemas.openxmlformats.org/officeDocument/2006/relationships/slideLayout" Target="/ppt/slideLayouts/slideLayout1.xml" Id="Rea6f08dd737d4d85" /><ns0:Relationship Type="http://schemas.openxmlformats.org/officeDocument/2006/relationships/notesSlide" Target="/ppt/notesSlides/notesSlide30.xml" Id="R4b33ed8c3efe429b"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controlflow.html" TargetMode="External" /></ns0:Relationships>
</file>

<file path=ppt/slides/_rels/slide31.xml.rels><?xml version='1.0' encoding='utf-8'?>
<ns0:Relationships xmlns:ns0="http://schemas.openxmlformats.org/package/2006/relationships"><ns0:Relationship Type="http://schemas.openxmlformats.org/officeDocument/2006/relationships/slideLayout" Target="/ppt/slideLayouts/slideLayout1.xml" Id="R3aeea81307784bd4" /><ns0:Relationship Type="http://schemas.openxmlformats.org/officeDocument/2006/relationships/notesSlide" Target="/ppt/notesSlides/notesSlide31.xml" Id="Rc71ef82c203844b4"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controlflow.html" TargetMode="External" /></ns0:Relationships>
</file>

<file path=ppt/slides/_rels/slide32.xml.rels><?xml version='1.0' encoding='utf-8'?>
<ns0:Relationships xmlns:ns0="http://schemas.openxmlformats.org/package/2006/relationships"><ns0:Relationship Type="http://schemas.openxmlformats.org/officeDocument/2006/relationships/slideLayout" Target="/ppt/slideLayouts/slideLayout1.xml" Id="R7b52ea226ea742be" /><ns0:Relationship Type="http://schemas.openxmlformats.org/officeDocument/2006/relationships/notesSlide" Target="/ppt/notesSlides/notesSlide32.xml" Id="R88eaa8d3a6c94ea0"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controlflow.html" TargetMode="External" /></ns0:Relationships>
</file>

<file path=ppt/slides/_rels/slide33.xml.rels><?xml version='1.0' encoding='utf-8'?>
<ns0:Relationships xmlns:ns0="http://schemas.openxmlformats.org/package/2006/relationships"><ns0:Relationship Type="http://schemas.openxmlformats.org/officeDocument/2006/relationships/slideLayout" Target="/ppt/slideLayouts/slideLayout1.xml" Id="Ra3e6c7e7be18428d" /><ns0:Relationship Type="http://schemas.openxmlformats.org/officeDocument/2006/relationships/notesSlide" Target="/ppt/notesSlides/notesSlide33.xml" Id="R5ca5008caff84003"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controlflow.html" TargetMode="External" /></ns0:Relationships>
</file>

<file path=ppt/slides/_rels/slide34.xml.rels><?xml version='1.0' encoding='utf-8'?>
<ns0:Relationships xmlns:ns0="http://schemas.openxmlformats.org/package/2006/relationships"><ns0:Relationship Type="http://schemas.openxmlformats.org/officeDocument/2006/relationships/slideLayout" Target="/ppt/slideLayouts/slideLayout1.xml" Id="R9e840474fe9741c2" /><ns0:Relationship Type="http://schemas.openxmlformats.org/officeDocument/2006/relationships/notesSlide" Target="/ppt/notesSlides/notesSlide34.xml" Id="R8af51d5ab743496a"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06" TargetMode="External" /><ns0:Relationship Id="rIdLink3" Type="http://schemas.openxmlformats.org/officeDocument/2006/relationships/hyperlink" Target="https://docs.python.org/3/tutorial/controlflow.html" TargetMode="External" /></ns0:Relationships>
</file>

<file path=ppt/slides/_rels/slide35.xml.rels><?xml version='1.0' encoding='utf-8'?>
<ns0:Relationships xmlns:ns0="http://schemas.openxmlformats.org/package/2006/relationships"><ns0:Relationship Type="http://schemas.openxmlformats.org/officeDocument/2006/relationships/slideLayout" Target="/ppt/slideLayouts/slideLayout1.xml" Id="R1821a1d8340f43be" /><ns0:Relationship Type="http://schemas.openxmlformats.org/officeDocument/2006/relationships/notesSlide" Target="/ppt/notesSlides/notesSlide35.xml" Id="R1b8d2494332742d6"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controlflow.html" TargetMode="External" /></ns0:Relationships>
</file>

<file path=ppt/slides/_rels/slide36.xml.rels><?xml version='1.0' encoding='utf-8'?>
<ns0:Relationships xmlns:ns0="http://schemas.openxmlformats.org/package/2006/relationships"><ns0:Relationship Type="http://schemas.openxmlformats.org/officeDocument/2006/relationships/slideLayout" Target="/ppt/slideLayouts/slideLayout1.xml" Id="R079578126f38421c" /><ns0:Relationship Type="http://schemas.openxmlformats.org/officeDocument/2006/relationships/notesSlide" Target="/ppt/notesSlides/notesSlide36.xml" Id="R4da0c13d0ec64211"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07" TargetMode="External" /><ns0:Relationship Id="rIdLink3" Type="http://schemas.openxmlformats.org/officeDocument/2006/relationships/hyperlink" Target="https://docs.python.org/3/tutorial/errors.html" TargetMode="External" /></ns0:Relationships>
</file>

<file path=ppt/slides/_rels/slide37.xml.rels><?xml version='1.0' encoding='utf-8'?>
<ns0:Relationships xmlns:ns0="http://schemas.openxmlformats.org/package/2006/relationships"><ns0:Relationship Type="http://schemas.openxmlformats.org/officeDocument/2006/relationships/slideLayout" Target="/ppt/slideLayouts/slideLayout1.xml" Id="R8d6b867508a34398" /><ns0:Relationship Type="http://schemas.openxmlformats.org/officeDocument/2006/relationships/notesSlide" Target="/ppt/notesSlides/notesSlide37.xml" Id="R67d12bbbd81e4273"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07" TargetMode="External" /><ns0:Relationship Id="rIdLink3" Type="http://schemas.openxmlformats.org/officeDocument/2006/relationships/hyperlink" Target="https://docs.python.org/3/tutorial/errors.html" TargetMode="External" /></ns0:Relationships>
</file>

<file path=ppt/slides/_rels/slide38.xml.rels><?xml version='1.0' encoding='utf-8'?>
<ns0:Relationships xmlns:ns0="http://schemas.openxmlformats.org/package/2006/relationships"><ns0:Relationship Type="http://schemas.openxmlformats.org/officeDocument/2006/relationships/slideLayout" Target="/ppt/slideLayouts/slideLayout1.xml" Id="Ra4bdb71ea8c74415" /><ns0:Relationship Type="http://schemas.openxmlformats.org/officeDocument/2006/relationships/notesSlide" Target="/ppt/notesSlides/notesSlide38.xml" Id="R6272df6b029647f2"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07" TargetMode="External" /><ns0:Relationship Id="rIdLink3" Type="http://schemas.openxmlformats.org/officeDocument/2006/relationships/hyperlink" Target="https://docs.python.org/3/tutorial/errors.html" TargetMode="External" /></ns0:Relationships>
</file>

<file path=ppt/slides/_rels/slide39.xml.rels><?xml version='1.0' encoding='utf-8'?>
<ns0:Relationships xmlns:ns0="http://schemas.openxmlformats.org/package/2006/relationships"><ns0:Relationship Type="http://schemas.openxmlformats.org/officeDocument/2006/relationships/slideLayout" Target="/ppt/slideLayouts/slideLayout1.xml" Id="R86adf84fb18c4700" /><ns0:Relationship Type="http://schemas.openxmlformats.org/officeDocument/2006/relationships/notesSlide" Target="/ppt/notesSlides/notesSlide39.xml" Id="Rc320eca02ef44705"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07" TargetMode="External" /><ns0:Relationship Id="rIdLink3" Type="http://schemas.openxmlformats.org/officeDocument/2006/relationships/hyperlink" Target="https://docs.python.org/3/tutorial/errors.html" TargetMode="External" /></ns0:Relationships>
</file>

<file path=ppt/slides/_rels/slide40.xml.rels><?xml version='1.0' encoding='utf-8'?>
<ns0:Relationships xmlns:ns0="http://schemas.openxmlformats.org/package/2006/relationships"><ns0:Relationship Type="http://schemas.openxmlformats.org/officeDocument/2006/relationships/slideLayout" Target="/ppt/slideLayouts/slideLayout1.xml" Id="R86132488fe1045c7" /><ns0:Relationship Type="http://schemas.openxmlformats.org/officeDocument/2006/relationships/notesSlide" Target="/ppt/notesSlides/notesSlide40.xml" Id="R2de4f38b182842b7"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08" TargetMode="External" /><ns0:Relationship Id="rIdLink3" Type="http://schemas.openxmlformats.org/officeDocument/2006/relationships/hyperlink" Target="https://docs.python.org/3/tutorial/errors.html" TargetMode="External" /></ns0:Relationships>
</file>

<file path=ppt/slides/_rels/slide41.xml.rels><?xml version='1.0' encoding='utf-8'?>
<ns0:Relationships xmlns:ns0="http://schemas.openxmlformats.org/package/2006/relationships"><ns0:Relationship Type="http://schemas.openxmlformats.org/officeDocument/2006/relationships/slideLayout" Target="/ppt/slideLayouts/slideLayout1.xml" Id="Rac113e3c67fa483e" /><ns0:Relationship Type="http://schemas.openxmlformats.org/officeDocument/2006/relationships/notesSlide" Target="/ppt/notesSlides/notesSlide41.xml" Id="R4509cc46f5984d42"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08" TargetMode="External" /><ns0:Relationship Id="rIdLink3" Type="http://schemas.openxmlformats.org/officeDocument/2006/relationships/hyperlink" Target="https://docs.python.org/3/tutorial/errors.html" TargetMode="External" /></ns0:Relationships>
</file>

<file path=ppt/slides/_rels/slide42.xml.rels><?xml version='1.0' encoding='utf-8'?>
<ns0:Relationships xmlns:ns0="http://schemas.openxmlformats.org/package/2006/relationships"><ns0:Relationship Type="http://schemas.openxmlformats.org/officeDocument/2006/relationships/slideLayout" Target="/ppt/slideLayouts/slideLayout1.xml" Id="Rba326e926eb74f3b" /><ns0:Relationship Type="http://schemas.openxmlformats.org/officeDocument/2006/relationships/notesSlide" Target="/ppt/notesSlides/notesSlide42.xml" Id="R3c008170f4fb4371"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08" TargetMode="External" /><ns0:Relationship Id="rIdLink3" Type="http://schemas.openxmlformats.org/officeDocument/2006/relationships/hyperlink" Target="https://docs.python.org/3/tutorial/errors.html" TargetMode="External" /></ns0:Relationships>
</file>

<file path=ppt/slides/_rels/slide43.xml.rels><?xml version='1.0' encoding='utf-8'?>
<ns0:Relationships xmlns:ns0="http://schemas.openxmlformats.org/package/2006/relationships"><ns0:Relationship Type="http://schemas.openxmlformats.org/officeDocument/2006/relationships/slideLayout" Target="/ppt/slideLayouts/slideLayout1.xml" Id="R83fd41bc17be47fb" /><ns0:Relationship Type="http://schemas.openxmlformats.org/officeDocument/2006/relationships/notesSlide" Target="/ppt/notesSlides/notesSlide43.xml" Id="R85bb0f8d449f40ca"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09" TargetMode="External" /><ns0:Relationship Id="rIdLink3" Type="http://schemas.openxmlformats.org/officeDocument/2006/relationships/hyperlink" Target="https://docs.python.org/3/tutorial/errors.html" TargetMode="External" /></ns0:Relationships>
</file>

<file path=ppt/slides/_rels/slide44.xml.rels><?xml version='1.0' encoding='utf-8'?>
<ns0:Relationships xmlns:ns0="http://schemas.openxmlformats.org/package/2006/relationships"><ns0:Relationship Type="http://schemas.openxmlformats.org/officeDocument/2006/relationships/slideLayout" Target="/ppt/slideLayouts/slideLayout1.xml" Id="R741684f5321f4ab7" /><ns0:Relationship Type="http://schemas.openxmlformats.org/officeDocument/2006/relationships/notesSlide" Target="/ppt/notesSlides/notesSlide44.xml" Id="R816c624271884f07"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09" TargetMode="External" /><ns0:Relationship Id="rIdLink3" Type="http://schemas.openxmlformats.org/officeDocument/2006/relationships/hyperlink" Target="https://docs.python.org/3/tutorial/errors.html" TargetMode="External" /></ns0:Relationships>
</file>

<file path=ppt/slides/_rels/slide45.xml.rels><?xml version='1.0' encoding='utf-8'?>
<ns0:Relationships xmlns:ns0="http://schemas.openxmlformats.org/package/2006/relationships"><ns0:Relationship Type="http://schemas.openxmlformats.org/officeDocument/2006/relationships/slideLayout" Target="/ppt/slideLayouts/slideLayout1.xml" Id="R13139b7b4cba4b5a" /><ns0:Relationship Type="http://schemas.openxmlformats.org/officeDocument/2006/relationships/notesSlide" Target="/ppt/notesSlides/notesSlide45.xml" Id="Rea641e256da44624"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09" TargetMode="External" /><ns0:Relationship Id="rIdLink3" Type="http://schemas.openxmlformats.org/officeDocument/2006/relationships/hyperlink" Target="https://docs.python.org/3/tutorial/errors.html" TargetMode="External" /></ns0:Relationships>
</file>

<file path=ppt/slides/_rels/slide46.xml.rels><?xml version='1.0' encoding='utf-8'?>
<ns0:Relationships xmlns:ns0="http://schemas.openxmlformats.org/package/2006/relationships"><ns0:Relationship Type="http://schemas.openxmlformats.org/officeDocument/2006/relationships/slideLayout" Target="/ppt/slideLayouts/slideLayout1.xml" Id="R04cca4470c864826" /><ns0:Relationship Type="http://schemas.openxmlformats.org/officeDocument/2006/relationships/notesSlide" Target="/ppt/notesSlides/notesSlide46.xml" Id="R58c8c0beae0e4c3a"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errors.html" TargetMode="External" /></ns0:Relationships>
</file>

<file path=ppt/slides/_rels/slide47.xml.rels><?xml version='1.0' encoding='utf-8'?>
<ns0:Relationships xmlns:ns0="http://schemas.openxmlformats.org/package/2006/relationships"><ns0:Relationship Type="http://schemas.openxmlformats.org/officeDocument/2006/relationships/slideLayout" Target="/ppt/slideLayouts/slideLayout1.xml" Id="R9cf07925c5454948" /><ns0:Relationship Type="http://schemas.openxmlformats.org/officeDocument/2006/relationships/notesSlide" Target="/ppt/notesSlides/notesSlide47.xml" Id="R8c0ae8f963c54a05"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errors.html" TargetMode="External" /></ns0:Relationships>
</file>

<file path=ppt/slides/_rels/slide48.xml.rels><?xml version='1.0' encoding='utf-8'?>
<ns0:Relationships xmlns:ns0="http://schemas.openxmlformats.org/package/2006/relationships"><ns0:Relationship Type="http://schemas.openxmlformats.org/officeDocument/2006/relationships/slideLayout" Target="/ppt/slideLayouts/slideLayout1.xml" Id="R82f32527e59444ae" /><ns0:Relationship Type="http://schemas.openxmlformats.org/officeDocument/2006/relationships/notesSlide" Target="/ppt/notesSlides/notesSlide48.xml" Id="R6e96dee8e36b4b68"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errors.html" TargetMode="External" /></ns0:Relationships>
</file>

<file path=ppt/slides/_rels/slide49.xml.rels><?xml version='1.0' encoding='utf-8'?>
<ns0:Relationships xmlns:ns0="http://schemas.openxmlformats.org/package/2006/relationships"><ns0:Relationship Type="http://schemas.openxmlformats.org/officeDocument/2006/relationships/slideLayout" Target="/ppt/slideLayouts/slideLayout1.xml" Id="Rd4f4d2abfb3c4bc6" /><ns0:Relationship Type="http://schemas.openxmlformats.org/officeDocument/2006/relationships/notesSlide" Target="/ppt/notesSlides/notesSlide49.xml" Id="Rd1cd64cd3c90435a"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errors.html" TargetMode="External" /></ns0:Relationships>
</file>

<file path=ppt/slides/_rels/slide50.xml.rels><?xml version='1.0' encoding='utf-8'?>
<ns0:Relationships xmlns:ns0="http://schemas.openxmlformats.org/package/2006/relationships"><ns0:Relationship Type="http://schemas.openxmlformats.org/officeDocument/2006/relationships/slideLayout" Target="/ppt/slideLayouts/slideLayout1.xml" Id="R04c195e2e5f54fcb" /><ns0:Relationship Type="http://schemas.openxmlformats.org/officeDocument/2006/relationships/notesSlide" Target="/ppt/notesSlides/notesSlide50.xml" Id="Rb55d0f93e7fc429f"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09" TargetMode="External" /><ns0:Relationship Id="rIdLink3" Type="http://schemas.openxmlformats.org/officeDocument/2006/relationships/hyperlink" Target="https://docs.python.org/3/tutorial/errors.html" TargetMode="External" /></ns0:Relationships>
</file>

<file path=ppt/slides/_rels/slide51.xml.rels><?xml version='1.0' encoding='utf-8'?>
<ns0:Relationships xmlns:ns0="http://schemas.openxmlformats.org/package/2006/relationships"><ns0:Relationship Type="http://schemas.openxmlformats.org/officeDocument/2006/relationships/slideLayout" Target="/ppt/slideLayouts/slideLayout1.xml" Id="R854336f2e25f42ef" /><ns0:Relationship Type="http://schemas.openxmlformats.org/officeDocument/2006/relationships/notesSlide" Target="/ppt/notesSlides/notesSlide51.xml" Id="R8773f4d57bcd427f"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errors.html" TargetMode="External" /></ns0:Relationships>
</file>

<file path=ppt/slides/_rels/slide52.xml.rels><?xml version='1.0' encoding='utf-8'?>
<ns0:Relationships xmlns:ns0="http://schemas.openxmlformats.org/package/2006/relationships"><ns0:Relationship Type="http://schemas.openxmlformats.org/officeDocument/2006/relationships/slideLayout" Target="/ppt/slideLayouts/slideLayout1.xml" Id="Rd85b796fa33d4244" /><ns0:Relationship Type="http://schemas.openxmlformats.org/officeDocument/2006/relationships/notesSlide" Target="/ppt/notesSlides/notesSlide52.xml" Id="R1279dafd5eb645f3"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10" TargetMode="External" /><ns0:Relationship Id="rIdLink3" Type="http://schemas.openxmlformats.org/officeDocument/2006/relationships/hyperlink" Target="https://docs.python.org/3/tutorial/introduction.html" TargetMode="External" /></ns0:Relationships>
</file>

<file path=ppt/slides/_rels/slide53.xml.rels><?xml version='1.0' encoding='utf-8'?>
<ns0:Relationships xmlns:ns0="http://schemas.openxmlformats.org/package/2006/relationships"><ns0:Relationship Type="http://schemas.openxmlformats.org/officeDocument/2006/relationships/slideLayout" Target="/ppt/slideLayouts/slideLayout1.xml" Id="Rfbdd02880b674b6f" /><ns0:Relationship Type="http://schemas.openxmlformats.org/officeDocument/2006/relationships/notesSlide" Target="/ppt/notesSlides/notesSlide53.xml" Id="R6a006a0c44bc437f"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10" TargetMode="External" /><ns0:Relationship Id="rIdLink3" Type="http://schemas.openxmlformats.org/officeDocument/2006/relationships/hyperlink" Target="https://docs.python.org/3/tutorial/introduction.html" TargetMode="External" /></ns0:Relationships>
</file>

<file path=ppt/slides/_rels/slide54.xml.rels><?xml version='1.0' encoding='utf-8'?>
<ns0:Relationships xmlns:ns0="http://schemas.openxmlformats.org/package/2006/relationships"><ns0:Relationship Type="http://schemas.openxmlformats.org/officeDocument/2006/relationships/slideLayout" Target="/ppt/slideLayouts/slideLayout1.xml" Id="Ra480524e77df4d1d" /><ns0:Relationship Type="http://schemas.openxmlformats.org/officeDocument/2006/relationships/notesSlide" Target="/ppt/notesSlides/notesSlide54.xml" Id="R27d586c9a91c47fc"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10" TargetMode="External" /><ns0:Relationship Id="rIdLink3" Type="http://schemas.openxmlformats.org/officeDocument/2006/relationships/hyperlink" Target="https://docs.python.org/3/tutorial/introduction.html" TargetMode="External" /></ns0:Relationships>
</file>

<file path=ppt/slides/_rels/slide55.xml.rels><?xml version='1.0' encoding='utf-8'?>
<ns0:Relationships xmlns:ns0="http://schemas.openxmlformats.org/package/2006/relationships"><ns0:Relationship Type="http://schemas.openxmlformats.org/officeDocument/2006/relationships/slideLayout" Target="/ppt/slideLayouts/slideLayout1.xml" Id="Rbc30888877f245d2" /><ns0:Relationship Type="http://schemas.openxmlformats.org/officeDocument/2006/relationships/notesSlide" Target="/ppt/notesSlides/notesSlide55.xml" Id="R20073797154f4afd"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10" TargetMode="External" /><ns0:Relationship Id="rIdLink3" Type="http://schemas.openxmlformats.org/officeDocument/2006/relationships/hyperlink" Target="https://docs.python.org/3/tutorial/introduction.html" TargetMode="External" /></ns0:Relationships>
</file>

<file path=ppt/slides/_rels/slide56.xml.rels><?xml version='1.0' encoding='utf-8'?>
<ns0:Relationships xmlns:ns0="http://schemas.openxmlformats.org/package/2006/relationships"><ns0:Relationship Type="http://schemas.openxmlformats.org/officeDocument/2006/relationships/slideLayout" Target="/ppt/slideLayouts/slideLayout1.xml" Id="R8101be053e10493e" /><ns0:Relationship Type="http://schemas.openxmlformats.org/officeDocument/2006/relationships/notesSlide" Target="/ppt/notesSlides/notesSlide56.xml" Id="R427bd21949974390"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11" TargetMode="External" /><ns0:Relationship Id="rIdLink3" Type="http://schemas.openxmlformats.org/officeDocument/2006/relationships/hyperlink" Target="https://docs.python.org/3/tutorial/introduction.html" TargetMode="External" /></ns0:Relationships>
</file>

<file path=ppt/slides/_rels/slide57.xml.rels><?xml version='1.0' encoding='utf-8'?>
<ns0:Relationships xmlns:ns0="http://schemas.openxmlformats.org/package/2006/relationships"><ns0:Relationship Type="http://schemas.openxmlformats.org/officeDocument/2006/relationships/slideLayout" Target="/ppt/slideLayouts/slideLayout1.xml" Id="R0c7c360c20594186" /><ns0:Relationship Type="http://schemas.openxmlformats.org/officeDocument/2006/relationships/notesSlide" Target="/ppt/notesSlides/notesSlide57.xml" Id="Rdd88c8b19d9f467a"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11" TargetMode="External" /><ns0:Relationship Id="rIdLink3" Type="http://schemas.openxmlformats.org/officeDocument/2006/relationships/hyperlink" Target="https://docs.python.org/3/tutorial/introduction.html" TargetMode="External" /></ns0:Relationships>
</file>

<file path=ppt/slides/_rels/slide58.xml.rels><?xml version='1.0' encoding='utf-8'?>
<ns0:Relationships xmlns:ns0="http://schemas.openxmlformats.org/package/2006/relationships"><ns0:Relationship Type="http://schemas.openxmlformats.org/officeDocument/2006/relationships/slideLayout" Target="/ppt/slideLayouts/slideLayout1.xml" Id="Rc00d33f3064f40bb" /><ns0:Relationship Type="http://schemas.openxmlformats.org/officeDocument/2006/relationships/notesSlide" Target="/ppt/notesSlides/notesSlide58.xml" Id="R434ad18e6da54ef1"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11" TargetMode="External" /><ns0:Relationship Id="rIdLink3" Type="http://schemas.openxmlformats.org/officeDocument/2006/relationships/hyperlink" Target="https://docs.python.org/3/tutorial/introduction.html" TargetMode="External" /></ns0:Relationships>
</file>

<file path=ppt/slides/_rels/slide59.xml.rels><?xml version='1.0' encoding='utf-8'?>
<ns0:Relationships xmlns:ns0="http://schemas.openxmlformats.org/package/2006/relationships"><ns0:Relationship Type="http://schemas.openxmlformats.org/officeDocument/2006/relationships/slideLayout" Target="/ppt/slideLayouts/slideLayout1.xml" Id="R72f1343026a34e6d" /><ns0:Relationship Type="http://schemas.openxmlformats.org/officeDocument/2006/relationships/notesSlide" Target="/ppt/notesSlides/notesSlide59.xml" Id="R1d3893894e364ab5"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12" TargetMode="External" /><ns0:Relationship Id="rIdLink3" Type="http://schemas.openxmlformats.org/officeDocument/2006/relationships/hyperlink" Target="https://docs.python.org/3/tutorial/introduction.html" TargetMode="External" /></ns0:Relationships>
</file>

<file path=ppt/slides/_rels/slide60.xml.rels><?xml version='1.0' encoding='utf-8'?>
<ns0:Relationships xmlns:ns0="http://schemas.openxmlformats.org/package/2006/relationships"><ns0:Relationship Type="http://schemas.openxmlformats.org/officeDocument/2006/relationships/slideLayout" Target="/ppt/slideLayouts/slideLayout1.xml" Id="R96c5d25e88194c74" /><ns0:Relationship Type="http://schemas.openxmlformats.org/officeDocument/2006/relationships/notesSlide" Target="/ppt/notesSlides/notesSlide60.xml" Id="R9a59c7bc6b8f4980"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12" TargetMode="External" /><ns0:Relationship Id="rIdLink3" Type="http://schemas.openxmlformats.org/officeDocument/2006/relationships/hyperlink" Target="https://docs.python.org/3/tutorial/introduction.html" TargetMode="External" /></ns0:Relationships>
</file>

<file path=ppt/slides/_rels/slide61.xml.rels><?xml version='1.0' encoding='utf-8'?>
<ns0:Relationships xmlns:ns0="http://schemas.openxmlformats.org/package/2006/relationships"><ns0:Relationship Type="http://schemas.openxmlformats.org/officeDocument/2006/relationships/slideLayout" Target="/ppt/slideLayouts/slideLayout1.xml" Id="Rf591853dceb44b9c" /><ns0:Relationship Type="http://schemas.openxmlformats.org/officeDocument/2006/relationships/notesSlide" Target="/ppt/notesSlides/notesSlide61.xml" Id="R348297cad02746ef"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introduction.html" TargetMode="External" /></ns0:Relationships>
</file>

<file path=ppt/slides/_rels/slide62.xml.rels><?xml version='1.0' encoding='utf-8'?>
<ns0:Relationships xmlns:ns0="http://schemas.openxmlformats.org/package/2006/relationships"><ns0:Relationship Type="http://schemas.openxmlformats.org/officeDocument/2006/relationships/slideLayout" Target="/ppt/slideLayouts/slideLayout1.xml" Id="R25f581f65d75446b" /><ns0:Relationship Type="http://schemas.openxmlformats.org/officeDocument/2006/relationships/notesSlide" Target="/ppt/notesSlides/notesSlide62.xml" Id="R3caf065a9a914720"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introduction.html" TargetMode="External" /></ns0:Relationships>
</file>

<file path=ppt/slides/_rels/slide63.xml.rels><?xml version='1.0' encoding='utf-8'?>
<ns0:Relationships xmlns:ns0="http://schemas.openxmlformats.org/package/2006/relationships"><ns0:Relationship Type="http://schemas.openxmlformats.org/officeDocument/2006/relationships/slideLayout" Target="/ppt/slideLayouts/slideLayout1.xml" Id="R04ad1d13dd834ed8" /><ns0:Relationship Type="http://schemas.openxmlformats.org/officeDocument/2006/relationships/notesSlide" Target="/ppt/notesSlides/notesSlide63.xml" Id="R11f9e2fdf7534865"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introduction.html" TargetMode="External" /></ns0:Relationships>
</file>

<file path=ppt/slides/_rels/slide64.xml.rels><?xml version='1.0' encoding='utf-8'?>
<ns0:Relationships xmlns:ns0="http://schemas.openxmlformats.org/package/2006/relationships"><ns0:Relationship Type="http://schemas.openxmlformats.org/officeDocument/2006/relationships/slideLayout" Target="/ppt/slideLayouts/slideLayout1.xml" Id="Ra8c11e8e985e4d21" /><ns0:Relationship Type="http://schemas.openxmlformats.org/officeDocument/2006/relationships/notesSlide" Target="/ppt/notesSlides/notesSlide64.xml" Id="R708018d987284708"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introduction.html" TargetMode="External" /></ns0:Relationships>
</file>

<file path=ppt/slides/_rels/slide65.xml.rels><?xml version='1.0' encoding='utf-8'?>
<ns0:Relationships xmlns:ns0="http://schemas.openxmlformats.org/package/2006/relationships"><ns0:Relationship Type="http://schemas.openxmlformats.org/officeDocument/2006/relationships/slideLayout" Target="/ppt/slideLayouts/slideLayout1.xml" Id="R55e5fc984d70429e" /><ns0:Relationship Type="http://schemas.openxmlformats.org/officeDocument/2006/relationships/notesSlide" Target="/ppt/notesSlides/notesSlide65.xml" Id="Ra3e49319a7024c8a"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12" TargetMode="External" /><ns0:Relationship Id="rIdLink3" Type="http://schemas.openxmlformats.org/officeDocument/2006/relationships/hyperlink" Target="https://docs.python.org/3/tutorial/introduction.html" TargetMode="External" /></ns0:Relationships>
</file>

<file path=ppt/slides/_rels/slide66.xml.rels><?xml version='1.0' encoding='utf-8'?>
<ns0:Relationships xmlns:ns0="http://schemas.openxmlformats.org/package/2006/relationships"><ns0:Relationship Type="http://schemas.openxmlformats.org/officeDocument/2006/relationships/slideLayout" Target="/ppt/slideLayouts/slideLayout1.xml" Id="Rb88f0635f2fb4550" /><ns0:Relationship Type="http://schemas.openxmlformats.org/officeDocument/2006/relationships/notesSlide" Target="/ppt/notesSlides/notesSlide66.xml" Id="R9d30fb3427ce4bac"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introduction.html" TargetMode="External" /></ns0:Relationships>
</file>

<file path=ppt/slides/_rels/slide67.xml.rels><?xml version='1.0' encoding='utf-8'?>
<ns0:Relationships xmlns:ns0="http://schemas.openxmlformats.org/package/2006/relationships"><ns0:Relationship Type="http://schemas.openxmlformats.org/officeDocument/2006/relationships/slideLayout" Target="/ppt/slideLayouts/slideLayout1.xml" Id="R75945927d9a04213" /><ns0:Relationship Type="http://schemas.openxmlformats.org/officeDocument/2006/relationships/notesSlide" Target="/ppt/notesSlides/notesSlide67.xml" Id="R4aa36135a98845c6"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13" TargetMode="External" /><ns0:Relationship Id="rIdLink3" Type="http://schemas.openxmlformats.org/officeDocument/2006/relationships/hyperlink" Target="https://docs.python.org/3/tutorial/controlflow.html" TargetMode="External" /></ns0:Relationships>
</file>

<file path=ppt/slides/_rels/slide68.xml.rels><?xml version='1.0' encoding='utf-8'?>
<ns0:Relationships xmlns:ns0="http://schemas.openxmlformats.org/package/2006/relationships"><ns0:Relationship Type="http://schemas.openxmlformats.org/officeDocument/2006/relationships/slideLayout" Target="/ppt/slideLayouts/slideLayout1.xml" Id="R2815b963d2b74ac5" /><ns0:Relationship Type="http://schemas.openxmlformats.org/officeDocument/2006/relationships/notesSlide" Target="/ppt/notesSlides/notesSlide68.xml" Id="Re50ee5176c314e2e"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13" TargetMode="External" /><ns0:Relationship Id="rIdLink3" Type="http://schemas.openxmlformats.org/officeDocument/2006/relationships/hyperlink" Target="https://docs.python.org/3/tutorial/controlflow.html" TargetMode="External" /></ns0:Relationships>
</file>

<file path=ppt/slides/_rels/slide69.xml.rels><?xml version='1.0' encoding='utf-8'?>
<ns0:Relationships xmlns:ns0="http://schemas.openxmlformats.org/package/2006/relationships"><ns0:Relationship Type="http://schemas.openxmlformats.org/officeDocument/2006/relationships/slideLayout" Target="/ppt/slideLayouts/slideLayout1.xml" Id="R769d64da58ca4ccf" /><ns0:Relationship Type="http://schemas.openxmlformats.org/officeDocument/2006/relationships/notesSlide" Target="/ppt/notesSlides/notesSlide69.xml" Id="R6da868d2950a4de3"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13" TargetMode="External" /><ns0:Relationship Id="rIdLink3" Type="http://schemas.openxmlformats.org/officeDocument/2006/relationships/hyperlink" Target="https://docs.python.org/3/tutorial/controlflow.html" TargetMode="External" /></ns0:Relationships>
</file>

<file path=ppt/slides/_rels/slide70.xml.rels><?xml version='1.0' encoding='utf-8'?>
<ns0:Relationships xmlns:ns0="http://schemas.openxmlformats.org/package/2006/relationships"><ns0:Relationship Type="http://schemas.openxmlformats.org/officeDocument/2006/relationships/slideLayout" Target="/ppt/slideLayouts/slideLayout1.xml" Id="Rb4da187581be49ed" /><ns0:Relationship Type="http://schemas.openxmlformats.org/officeDocument/2006/relationships/notesSlide" Target="/ppt/notesSlides/notesSlide70.xml" Id="Rb3542b23b49b4f0f"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13" TargetMode="External" /><ns0:Relationship Id="rIdLink3" Type="http://schemas.openxmlformats.org/officeDocument/2006/relationships/hyperlink" Target="https://docs.python.org/3/tutorial/controlflow.html" TargetMode="External" /></ns0:Relationships>
</file>

<file path=ppt/slides/_rels/slide71.xml.rels><?xml version='1.0' encoding='utf-8'?>
<ns0:Relationships xmlns:ns0="http://schemas.openxmlformats.org/package/2006/relationships"><ns0:Relationship Type="http://schemas.openxmlformats.org/officeDocument/2006/relationships/slideLayout" Target="/ppt/slideLayouts/slideLayout1.xml" Id="R1aa8a7a6f16d40dc" /><ns0:Relationship Type="http://schemas.openxmlformats.org/officeDocument/2006/relationships/notesSlide" Target="/ppt/notesSlides/notesSlide71.xml" Id="Rd1da923e790f4a1a"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13" TargetMode="External" /><ns0:Relationship Id="rIdLink3" Type="http://schemas.openxmlformats.org/officeDocument/2006/relationships/hyperlink" Target="https://docs.python.org/3/tutorial/controlflow.html" TargetMode="External" /></ns0:Relationships>
</file>

<file path=ppt/slides/_rels/slide72.xml.rels><?xml version='1.0' encoding='utf-8'?>
<ns0:Relationships xmlns:ns0="http://schemas.openxmlformats.org/package/2006/relationships"><ns0:Relationship Type="http://schemas.openxmlformats.org/officeDocument/2006/relationships/slideLayout" Target="/ppt/slideLayouts/slideLayout1.xml" Id="Re508267970b84fe9" /><ns0:Relationship Type="http://schemas.openxmlformats.org/officeDocument/2006/relationships/notesSlide" Target="/ppt/notesSlides/notesSlide72.xml" Id="Re72c99db78a84f2c"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14" TargetMode="External" /><ns0:Relationship Id="rIdLink3" Type="http://schemas.openxmlformats.org/officeDocument/2006/relationships/hyperlink" Target="https://docs.python.org/3/tutorial/controlflow.html" TargetMode="External" /></ns0:Relationships>
</file>

<file path=ppt/slides/_rels/slide73.xml.rels><?xml version='1.0' encoding='utf-8'?>
<ns0:Relationships xmlns:ns0="http://schemas.openxmlformats.org/package/2006/relationships"><ns0:Relationship Type="http://schemas.openxmlformats.org/officeDocument/2006/relationships/slideLayout" Target="/ppt/slideLayouts/slideLayout1.xml" Id="Re67f092107bf4c6d" /><ns0:Relationship Type="http://schemas.openxmlformats.org/officeDocument/2006/relationships/notesSlide" Target="/ppt/notesSlides/notesSlide73.xml" Id="Rc290ec26b4bf4fd0"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14" TargetMode="External" /><ns0:Relationship Id="rIdLink3" Type="http://schemas.openxmlformats.org/officeDocument/2006/relationships/hyperlink" Target="https://docs.python.org/3/tutorial/controlflow.html" TargetMode="External" /></ns0:Relationships>
</file>

<file path=ppt/slides/_rels/slide74.xml.rels><?xml version='1.0' encoding='utf-8'?>
<ns0:Relationships xmlns:ns0="http://schemas.openxmlformats.org/package/2006/relationships"><ns0:Relationship Type="http://schemas.openxmlformats.org/officeDocument/2006/relationships/slideLayout" Target="/ppt/slideLayouts/slideLayout1.xml" Id="R0e5a497f6f4a415f" /><ns0:Relationship Type="http://schemas.openxmlformats.org/officeDocument/2006/relationships/notesSlide" Target="/ppt/notesSlides/notesSlide74.xml" Id="R69927c03f1fd4b80"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controlflow.html" TargetMode="External" /></ns0:Relationships>
</file>

<file path=ppt/slides/_rels/slide75.xml.rels><?xml version='1.0' encoding='utf-8'?>
<ns0:Relationships xmlns:ns0="http://schemas.openxmlformats.org/package/2006/relationships"><ns0:Relationship Type="http://schemas.openxmlformats.org/officeDocument/2006/relationships/slideLayout" Target="/ppt/slideLayouts/slideLayout1.xml" Id="R83bd0591d340421b" /><ns0:Relationship Type="http://schemas.openxmlformats.org/officeDocument/2006/relationships/notesSlide" Target="/ppt/notesSlides/notesSlide75.xml" Id="R57f78ecffe914e91"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15" TargetMode="External" /><ns0:Relationship Id="rIdLink3" Type="http://schemas.openxmlformats.org/officeDocument/2006/relationships/hyperlink" Target="https://docs.python.org/3/tutorial/controlflow.html" TargetMode="External" /></ns0:Relationships>
</file>

<file path=ppt/slides/_rels/slide76.xml.rels><?xml version='1.0' encoding='utf-8'?>
<ns0:Relationships xmlns:ns0="http://schemas.openxmlformats.org/package/2006/relationships"><ns0:Relationship Type="http://schemas.openxmlformats.org/officeDocument/2006/relationships/slideLayout" Target="/ppt/slideLayouts/slideLayout1.xml" Id="R79849c7fff2c48df" /><ns0:Relationship Type="http://schemas.openxmlformats.org/officeDocument/2006/relationships/notesSlide" Target="/ppt/notesSlides/notesSlide76.xml" Id="Raefcf13735c94109"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15" TargetMode="External" /><ns0:Relationship Id="rIdLink3" Type="http://schemas.openxmlformats.org/officeDocument/2006/relationships/hyperlink" Target="https://docs.python.org/3/tutorial/controlflow.html" TargetMode="External" /></ns0:Relationships>
</file>

<file path=ppt/slides/_rels/slide77.xml.rels><?xml version='1.0' encoding='utf-8'?>
<ns0:Relationships xmlns:ns0="http://schemas.openxmlformats.org/package/2006/relationships"><ns0:Relationship Type="http://schemas.openxmlformats.org/officeDocument/2006/relationships/slideLayout" Target="/ppt/slideLayouts/slideLayout1.xml" Id="R0f887d0c46db4753" /><ns0:Relationship Type="http://schemas.openxmlformats.org/officeDocument/2006/relationships/notesSlide" Target="/ppt/notesSlides/notesSlide77.xml" Id="Rf86ae83bbeed4660"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controlflow.html" TargetMode="External" /></ns0:Relationships>
</file>

<file path=ppt/slides/_rels/slide78.xml.rels><?xml version='1.0' encoding='utf-8'?>
<ns0:Relationships xmlns:ns0="http://schemas.openxmlformats.org/package/2006/relationships"><ns0:Relationship Type="http://schemas.openxmlformats.org/officeDocument/2006/relationships/slideLayout" Target="/ppt/slideLayouts/slideLayout1.xml" Id="R504cf3b175a14574" /><ns0:Relationship Type="http://schemas.openxmlformats.org/officeDocument/2006/relationships/notesSlide" Target="/ppt/notesSlides/notesSlide78.xml" Id="R6a87a0cab3044793"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controlflow.html" TargetMode="External" /></ns0:Relationships>
</file>

<file path=ppt/slides/_rels/slide79.xml.rels><?xml version='1.0' encoding='utf-8'?>
<ns0:Relationships xmlns:ns0="http://schemas.openxmlformats.org/package/2006/relationships"><ns0:Relationship Type="http://schemas.openxmlformats.org/officeDocument/2006/relationships/slideLayout" Target="/ppt/slideLayouts/slideLayout1.xml" Id="R0a02b336cf54469c" /><ns0:Relationship Type="http://schemas.openxmlformats.org/officeDocument/2006/relationships/notesSlide" Target="/ppt/notesSlides/notesSlide79.xml" Id="R90bbe566b0e14553"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controlflow.html" TargetMode="External" /></ns0:Relationships>
</file>

<file path=ppt/slides/_rels/slide80.xml.rels><?xml version='1.0' encoding='utf-8'?>
<ns0:Relationships xmlns:ns0="http://schemas.openxmlformats.org/package/2006/relationships"><ns0:Relationship Type="http://schemas.openxmlformats.org/officeDocument/2006/relationships/slideLayout" Target="/ppt/slideLayouts/slideLayout1.xml" Id="Rc30e3c1fab97419c" /><ns0:Relationship Type="http://schemas.openxmlformats.org/officeDocument/2006/relationships/notesSlide" Target="/ppt/notesSlides/notesSlide80.xml" Id="Rb10039d136dd4a43"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controlflow.html" TargetMode="External" /></ns0:Relationships>
</file>

<file path=ppt/slides/_rels/slide81.xml.rels><?xml version='1.0' encoding='utf-8'?>
<ns0:Relationships xmlns:ns0="http://schemas.openxmlformats.org/package/2006/relationships"><ns0:Relationship Type="http://schemas.openxmlformats.org/officeDocument/2006/relationships/slideLayout" Target="/ppt/slideLayouts/slideLayout1.xml" Id="Re0dcc37bd6384fd0" /><ns0:Relationship Type="http://schemas.openxmlformats.org/officeDocument/2006/relationships/notesSlide" Target="/ppt/notesSlides/notesSlide81.xml" Id="R0f5aa89b44ab4e79"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15" TargetMode="External" /><ns0:Relationship Id="rIdLink3" Type="http://schemas.openxmlformats.org/officeDocument/2006/relationships/hyperlink" Target="https://docs.python.org/3/tutorial/controlflow.html" TargetMode="External" /></ns0:Relationships>
</file>

<file path=ppt/slides/_rels/slide82.xml.rels><?xml version='1.0' encoding='utf-8'?>
<ns0:Relationships xmlns:ns0="http://schemas.openxmlformats.org/package/2006/relationships"><ns0:Relationship Type="http://schemas.openxmlformats.org/officeDocument/2006/relationships/slideLayout" Target="/ppt/slideLayouts/slideLayout1.xml" Id="R73815d8a6b5f4571" /><ns0:Relationship Type="http://schemas.openxmlformats.org/officeDocument/2006/relationships/notesSlide" Target="/ppt/notesSlides/notesSlide82.xml" Id="R20d13e6192c941a9"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controlflow.html" TargetMode="External" /></ns0:Relationships>
</file>

<file path=ppt/slides/_rels/slide83.xml.rels><?xml version='1.0' encoding='utf-8'?>
<ns0:Relationships xmlns:ns0="http://schemas.openxmlformats.org/package/2006/relationships"><ns0:Relationship Type="http://schemas.openxmlformats.org/officeDocument/2006/relationships/slideLayout" Target="/ppt/slideLayouts/slideLayout1.xml" Id="R5c6f89c1fc374bdc" /><ns0:Relationship Type="http://schemas.openxmlformats.org/officeDocument/2006/relationships/notesSlide" Target="/ppt/notesSlides/notesSlide83.xml" Id="Re4f06301e3024700"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16" TargetMode="External" /><ns0:Relationship Id="rIdLink3" Type="http://schemas.openxmlformats.org/officeDocument/2006/relationships/hyperlink" Target="https://docs.python.org/3/tutorial/errors.html" TargetMode="External" /></ns0:Relationships>
</file>

<file path=ppt/slides/_rels/slide84.xml.rels><?xml version='1.0' encoding='utf-8'?>
<ns0:Relationships xmlns:ns0="http://schemas.openxmlformats.org/package/2006/relationships"><ns0:Relationship Type="http://schemas.openxmlformats.org/officeDocument/2006/relationships/slideLayout" Target="/ppt/slideLayouts/slideLayout1.xml" Id="R6bb6a5eb792a45ad" /><ns0:Relationship Type="http://schemas.openxmlformats.org/officeDocument/2006/relationships/notesSlide" Target="/ppt/notesSlides/notesSlide84.xml" Id="R1b1dc0d064e84b6a"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16" TargetMode="External" /><ns0:Relationship Id="rIdLink3" Type="http://schemas.openxmlformats.org/officeDocument/2006/relationships/hyperlink" Target="https://docs.python.org/3/tutorial/errors.html" TargetMode="External" /></ns0:Relationships>
</file>

<file path=ppt/slides/_rels/slide85.xml.rels><?xml version='1.0' encoding='utf-8'?>
<ns0:Relationships xmlns:ns0="http://schemas.openxmlformats.org/package/2006/relationships"><ns0:Relationship Type="http://schemas.openxmlformats.org/officeDocument/2006/relationships/slideLayout" Target="/ppt/slideLayouts/slideLayout1.xml" Id="Rb40172159adf4ab5" /><ns0:Relationship Type="http://schemas.openxmlformats.org/officeDocument/2006/relationships/notesSlide" Target="/ppt/notesSlides/notesSlide85.xml" Id="Rd5e046ee2c304219"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16" TargetMode="External" /><ns0:Relationship Id="rIdLink3" Type="http://schemas.openxmlformats.org/officeDocument/2006/relationships/hyperlink" Target="https://docs.python.org/3/tutorial/errors.html" TargetMode="External" /></ns0:Relationships>
</file>

<file path=ppt/slides/_rels/slide86.xml.rels><?xml version='1.0' encoding='utf-8'?>
<ns0:Relationships xmlns:ns0="http://schemas.openxmlformats.org/package/2006/relationships"><ns0:Relationship Type="http://schemas.openxmlformats.org/officeDocument/2006/relationships/slideLayout" Target="/ppt/slideLayouts/slideLayout1.xml" Id="R7d55539fc5754db1" /><ns0:Relationship Type="http://schemas.openxmlformats.org/officeDocument/2006/relationships/notesSlide" Target="/ppt/notesSlides/notesSlide86.xml" Id="Re395848da0a14db0"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errors.html" TargetMode="External" /></ns0:Relationships>
</file>

<file path=ppt/slides/_rels/slide87.xml.rels><?xml version='1.0' encoding='utf-8'?>
<ns0:Relationships xmlns:ns0="http://schemas.openxmlformats.org/package/2006/relationships"><ns0:Relationship Type="http://schemas.openxmlformats.org/officeDocument/2006/relationships/slideLayout" Target="/ppt/slideLayouts/slideLayout1.xml" Id="Re6b0e83f42574b7a" /><ns0:Relationship Type="http://schemas.openxmlformats.org/officeDocument/2006/relationships/notesSlide" Target="/ppt/notesSlides/notesSlide87.xml" Id="R784b3ce7dbdb4927"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17" TargetMode="External" /><ns0:Relationship Id="rIdLink3" Type="http://schemas.openxmlformats.org/officeDocument/2006/relationships/hyperlink" Target="https://docs.python.org/3/tutorial/errors.html" TargetMode="External" /></ns0:Relationships>
</file>

<file path=ppt/slides/_rels/slide88.xml.rels><?xml version='1.0' encoding='utf-8'?>
<ns0:Relationships xmlns:ns0="http://schemas.openxmlformats.org/package/2006/relationships"><ns0:Relationship Type="http://schemas.openxmlformats.org/officeDocument/2006/relationships/slideLayout" Target="/ppt/slideLayouts/slideLayout1.xml" Id="R7b3b5c74fcf749b6" /><ns0:Relationship Type="http://schemas.openxmlformats.org/officeDocument/2006/relationships/notesSlide" Target="/ppt/notesSlides/notesSlide88.xml" Id="R54955d5578834f8e"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errors.html" TargetMode="External" /></ns0:Relationships>
</file>

<file path=ppt/slides/_rels/slide89.xml.rels><?xml version='1.0' encoding='utf-8'?>
<ns0:Relationships xmlns:ns0="http://schemas.openxmlformats.org/package/2006/relationships"><ns0:Relationship Type="http://schemas.openxmlformats.org/officeDocument/2006/relationships/slideLayout" Target="/ppt/slideLayouts/slideLayout1.xml" Id="R747d61dcb39c4475" /><ns0:Relationship Type="http://schemas.openxmlformats.org/officeDocument/2006/relationships/notesSlide" Target="/ppt/notesSlides/notesSlide89.xml" Id="R1d13e35a720b428a"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17" TargetMode="External" /><ns0:Relationship Id="rIdLink3" Type="http://schemas.openxmlformats.org/officeDocument/2006/relationships/hyperlink" Target="https://docs.python.org/3/tutorial/errors.html" TargetMode="External" /></ns0:Relationships>
</file>

<file path=ppt/slides/_rels/slide90.xml.rels><?xml version='1.0' encoding='utf-8'?>
<ns0:Relationships xmlns:ns0="http://schemas.openxmlformats.org/package/2006/relationships"><ns0:Relationship Type="http://schemas.openxmlformats.org/officeDocument/2006/relationships/slideLayout" Target="/ppt/slideLayouts/slideLayout1.xml" Id="R0eac40ff17834ccd" /><ns0:Relationship Type="http://schemas.openxmlformats.org/officeDocument/2006/relationships/notesSlide" Target="/ppt/notesSlides/notesSlide90.xml" Id="R58a7a987493c4f49"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18" TargetMode="External" /><ns0:Relationship Id="rIdLink3" Type="http://schemas.openxmlformats.org/officeDocument/2006/relationships/hyperlink" Target="https://docs.python.org/3/tutorial/errors.html" TargetMode="External" /></ns0:Relationships>
</file>

<file path=ppt/slides/_rels/slide91.xml.rels><?xml version='1.0' encoding='utf-8'?>
<ns0:Relationships xmlns:ns0="http://schemas.openxmlformats.org/package/2006/relationships"><ns0:Relationship Type="http://schemas.openxmlformats.org/officeDocument/2006/relationships/slideLayout" Target="/ppt/slideLayouts/slideLayout1.xml" Id="R93f6482c517f4b2f" /><ns0:Relationship Type="http://schemas.openxmlformats.org/officeDocument/2006/relationships/notesSlide" Target="/ppt/notesSlides/notesSlide91.xml" Id="R4f1c19cd2f5f40d2"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18" TargetMode="External" /><ns0:Relationship Id="rIdLink3" Type="http://schemas.openxmlformats.org/officeDocument/2006/relationships/hyperlink" Target="https://docs.python.org/3/tutorial/errors.html" TargetMode="External" /></ns0:Relationships>
</file>

<file path=ppt/slides/_rels/slide92.xml.rels><?xml version='1.0' encoding='utf-8'?>
<ns0:Relationships xmlns:ns0="http://schemas.openxmlformats.org/package/2006/relationships"><ns0:Relationship Type="http://schemas.openxmlformats.org/officeDocument/2006/relationships/slideLayout" Target="/ppt/slideLayouts/slideLayout1.xml" Id="R98402b980aea403c" /><ns0:Relationship Type="http://schemas.openxmlformats.org/officeDocument/2006/relationships/notesSlide" Target="/ppt/notesSlides/notesSlide92.xml" Id="R153db480a93949dc"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errors.html" TargetMode="External" /></ns0:Relationships>
</file>

<file path=ppt/slides/_rels/slide93.xml.rels><?xml version='1.0' encoding='utf-8'?>
<ns0:Relationships xmlns:ns0="http://schemas.openxmlformats.org/package/2006/relationships"><ns0:Relationship Type="http://schemas.openxmlformats.org/officeDocument/2006/relationships/slideLayout" Target="/ppt/slideLayouts/slideLayout1.xml" Id="R4ff3127986e44b94" /><ns0:Relationship Type="http://schemas.openxmlformats.org/officeDocument/2006/relationships/notesSlide" Target="/ppt/notesSlides/notesSlide93.xml" Id="R5ed501d0768d4796"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errors.html" TargetMode="External" /></ns0:Relationships>
</file>

<file path=ppt/slides/_rels/slide94.xml.rels><?xml version='1.0' encoding='utf-8'?>
<ns0:Relationships xmlns:ns0="http://schemas.openxmlformats.org/package/2006/relationships"><ns0:Relationship Type="http://schemas.openxmlformats.org/officeDocument/2006/relationships/slideLayout" Target="/ppt/slideLayouts/slideLayout1.xml" Id="Raf33e911832e4160" /><ns0:Relationship Type="http://schemas.openxmlformats.org/officeDocument/2006/relationships/notesSlide" Target="/ppt/notesSlides/notesSlide94.xml" Id="R2d0635e6611344e4"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errors.html" TargetMode="External" /></ns0:Relationships>
</file>

<file path=ppt/slides/_rels/slide95.xml.rels><?xml version='1.0' encoding='utf-8'?>
<ns0:Relationships xmlns:ns0="http://schemas.openxmlformats.org/package/2006/relationships"><ns0:Relationship Type="http://schemas.openxmlformats.org/officeDocument/2006/relationships/slideLayout" Target="/ppt/slideLayouts/slideLayout1.xml" Id="R11e94c119271412d" /><ns0:Relationship Type="http://schemas.openxmlformats.org/officeDocument/2006/relationships/notesSlide" Target="/ppt/notesSlides/notesSlide95.xml" Id="R5dc3017344a44423"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errors.html" TargetMode="External" /></ns0:Relationships>
</file>

<file path=ppt/slides/_rels/slide96.xml.rels><?xml version='1.0' encoding='utf-8'?>
<ns0:Relationships xmlns:ns0="http://schemas.openxmlformats.org/package/2006/relationships"><ns0:Relationship Type="http://schemas.openxmlformats.org/officeDocument/2006/relationships/slideLayout" Target="/ppt/slideLayouts/slideLayout1.xml" Id="R43615bafd8454789" /><ns0:Relationship Type="http://schemas.openxmlformats.org/officeDocument/2006/relationships/notesSlide" Target="/ppt/notesSlides/notesSlide96.xml" Id="R50cc27c9dcda4e02"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activity=A18" TargetMode="External" /><ns0:Relationship Id="rIdLink3" Type="http://schemas.openxmlformats.org/officeDocument/2006/relationships/hyperlink" Target="https://docs.python.org/3/tutorial/errors.html" TargetMode="External" /></ns0:Relationships>
</file>

<file path=ppt/slides/_rels/slide97.xml.rels><?xml version='1.0' encoding='utf-8'?>
<ns0:Relationships xmlns:ns0="http://schemas.openxmlformats.org/package/2006/relationships"><ns0:Relationship Type="http://schemas.openxmlformats.org/officeDocument/2006/relationships/slideLayout" Target="/ppt/slideLayouts/slideLayout1.xml" Id="R5d36b057fa484e3e" /><ns0:Relationship Type="http://schemas.openxmlformats.org/officeDocument/2006/relationships/notesSlide" Target="/ppt/notesSlides/notesSlide97.xml" Id="Rd25bcbf4e3294003"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errors.html" TargetMode="External" /></ns0:Relationships>
</file>

<file path=ppt/slides/_rels/slide98.xml.rels><?xml version='1.0' encoding='utf-8'?>
<ns0:Relationships xmlns:ns0="http://schemas.openxmlformats.org/package/2006/relationships"><ns0:Relationship Type="http://schemas.openxmlformats.org/officeDocument/2006/relationships/slideLayout" Target="/ppt/slideLayouts/slideLayout1.xml" Id="R275350bb815b49c7" /><ns0:Relationship Type="http://schemas.openxmlformats.org/officeDocument/2006/relationships/notesSlide" Target="/ppt/notesSlides/notesSlide98.xml" Id="Rebbca5e01dec4fb3"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errors.html" TargetMode="External" /></ns0:Relationships>
</file>

<file path=ppt/slides/_rels/slide99.xml.rels><?xml version='1.0' encoding='utf-8'?>
<ns0:Relationships xmlns:ns0="http://schemas.openxmlformats.org/package/2006/relationships"><ns0:Relationship Type="http://schemas.openxmlformats.org/officeDocument/2006/relationships/slideLayout" Target="/ppt/slideLayouts/slideLayout1.xml" Id="R156a9e3bd9a54d58" /><ns0:Relationship Type="http://schemas.openxmlformats.org/officeDocument/2006/relationships/notesSlide" Target="/ppt/notesSlides/notesSlide99.xml" Id="Rb830648c4782435c"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lesson" TargetMode="External" /><ns0:Relationship Id="rIdLink3" Type="http://schemas.openxmlformats.org/officeDocument/2006/relationships/hyperlink" Target="https://docs.python.org/3/tutorial/errors.html" TargetMode="External" /></ns0:Relationships>
</file>

<file path=ppt/slides/_rels/slide100.xml.rels><?xml version='1.0' encoding='utf-8'?>
<ns0:Relationships xmlns:ns0="http://schemas.openxmlformats.org/package/2006/relationships"><ns0:Relationship Type="http://schemas.openxmlformats.org/officeDocument/2006/relationships/slideLayout" Target="/ppt/slideLayouts/slideLayout1.xml" Id="Rea10ec88d1154cec" /><ns0:Relationship Type="http://schemas.openxmlformats.org/officeDocument/2006/relationships/notesSlide" Target="/ppt/notesSlides/notesSlide100.xml" Id="R5e44e616815a495b"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practice" TargetMode="External" /><ns0:Relationship Id="rIdLink3" Type="http://schemas.openxmlformats.org/officeDocument/2006/relationships/hyperlink" Target="https://docs.python.org/3/tutorial/introduction.html" TargetMode="External" /><ns0:Relationship Id="rIdLink4" Type="http://schemas.openxmlformats.org/officeDocument/2006/relationships/hyperlink" Target="https://zeusk302-png.github.io/kdigital-physical-ai/#/sessions/2026-10-14/start" TargetMode="External" /><ns0:Relationship Id="rIdLink5" Type="http://schemas.openxmlformats.org/officeDocument/2006/relationships/hyperlink" Target="https://zeusk302-png.github.io/kdigital-physical-ai/#/sessions/2026-10-14/lesson" TargetMode="External" /><ns0:Relationship Id="rIdLink6" Type="http://schemas.openxmlformats.org/officeDocument/2006/relationships/hyperlink" Target="https://zeusk302-png.github.io/kdigital-physical-ai/#/sessions/2026-10-14/workbook" TargetMode="External" /><ns0:Relationship Id="rIdLink7" Type="http://schemas.openxmlformats.org/officeDocument/2006/relationships/hyperlink" Target="https://zeusk302-png.github.io/kdigital-physical-ai/downloads/2026-10-14/student-examples.zip" TargetMode="External" /><ns0:Relationship Id="rIdLink8" Type="http://schemas.openxmlformats.org/officeDocument/2006/relationships/hyperlink" Target="https://zeusk302-png.github.io/kdigital-physical-ai/#/sessions/2026-10-14/files" TargetMode="External" /></ns0:Relationships>
</file>

<file path=ppt/slides/_rels/slide101.xml.rels><?xml version='1.0' encoding='utf-8'?>
<ns0:Relationships xmlns:ns0="http://schemas.openxmlformats.org/package/2006/relationships"><ns0:Relationship Type="http://schemas.openxmlformats.org/officeDocument/2006/relationships/slideLayout" Target="/ppt/slideLayouts/slideLayout1.xml" Id="R95184da0152d4371" /><ns0:Relationship Type="http://schemas.openxmlformats.org/officeDocument/2006/relationships/notesSlide" Target="/ppt/notesSlides/notesSlide101.xml" Id="R49397a655c664eab" /><ns0:Relationship Id="rIdLink1" Type="http://schemas.openxmlformats.org/officeDocument/2006/relationships/hyperlink" Target="https://zeusk302-png.github.io/kdigital-physical-ai/#/sessions/2026-10-14/lesson" TargetMode="External" /><ns0:Relationship Id="rIdLink2" Type="http://schemas.openxmlformats.org/officeDocument/2006/relationships/hyperlink" Target="https://zeusk302-png.github.io/kdigital-physical-ai/#/sessions/2026-10-14/practice" TargetMode="External" /><ns0:Relationship Id="rIdLink3" Type="http://schemas.openxmlformats.org/officeDocument/2006/relationships/hyperlink" Target="https://docs.python.org/3/tutorial/introduction.html" TargetMode="External" /><ns0:Relationship Id="rIdLink4" Type="http://schemas.openxmlformats.org/officeDocument/2006/relationships/hyperlink" Target="https://docs.python.org/3/tutorial/introduction.html" TargetMode="External" /><ns0:Relationship Id="rIdLink5" Type="http://schemas.openxmlformats.org/officeDocument/2006/relationships/hyperlink" Target="https://docs.python.org/3/tutorial/controlflow.html" TargetMode="External" /><ns0:Relationship Id="rIdLink6" Type="http://schemas.openxmlformats.org/officeDocument/2006/relationships/hyperlink" Target="https://docs.python.org/3/tutorial/errors.html" TargetMode="External" /></ns0:Relationships>
</file>

<file path=ppt/slides/slide1.xml><?xml version="1.0" encoding="utf-8"?>
<p:sld xmlns:a="http://schemas.openxmlformats.org/drawingml/2006/main" xmlns:ns3="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pic>
        <p:nvPicPr>
          <p:cNvPr id="11" name=""/>
          <p:cNvPicPr>
            <a:picLocks noChangeAspect="1"/>
          </p:cNvPicPr>
          <p:nvPr/>
        </p:nvPicPr>
        <p:blipFill>
          <a:blip r:embed="Rfd7fc49e92fa4dc8"/>
          <a:srcRect l="0" t="27" r="0" b="27"/>
          <a:stretch>
            <a:fillRect l="0" t="0" r="0" b="0"/>
          </a:stretch>
        </p:blipFill>
        <p:spPr>
          <a:xfrm>
            <a:off x="0" y="0"/>
            <a:ext cx="12192000" cy="6858000"/>
          </a:xfrm>
          <a:prstGeom prst="rect">
            <a:avLst/>
          </a:prstGeom>
        </p:spPr>
      </p:pic>
      <p:sp>
        <p:nvSpPr>
          <p:cNvPr id="2" name="">
            <a:extLst>
              <a:ext uri="{FF2B5EF4-FFF2-40B4-BE49-F238E27FC236}">
                <ns3:creationId id="{1902282A-D151-4991-8319-6AFF16FF63DD}"/>
              </a:ext>
            </a:extLst>
          </p:cNvPr>
          <p:cNvSpPr>
            <a:spLocks noGrp="1"/>
          </p:cNvSpPr>
          <p:nvPr/>
        </p:nvSpPr>
        <p:spPr>
          <a:xfrm>
            <a:off x="685800" y="733425"/>
            <a:ext cx="5715000" cy="428625"/>
          </a:xfrm>
          <a:prstGeom prst="rect">
            <a:avLst/>
          </a:prstGeom>
          <a:noFill/>
          <a:ln w="0">
            <a:noFill/>
          </a:ln>
        </p:spPr>
        <p:txBody>
          <a:bodyPr wrap="square" lIns="0" tIns="0" rIns="0" bIns="0">
            <a:noAutofit/>
          </a:bodyPr>
          <a:lstStyle/>
          <a:p>
            <a:pPr>
              <a:defRPr sz="1800" b="1">
                <a:solidFill>
                  <a:srgbClr val="08786F"/>
                </a:solidFill>
                <a:latin typeface="Noto Sans KR"/>
                <a:ea typeface="Noto Sans KR"/>
                <a:cs typeface="Noto Sans KR"/>
              </a:defRPr>
            </a:pPr>
            <a:r>
              <a:t>피지컬AI 직무훈련</a:t>
            </a:r>
          </a:p>
        </p:txBody>
      </p:sp>
      <p:sp>
        <p:nvSpPr>
          <p:cNvPr id="3" name="">
            <a:extLst>
              <a:ext uri="{FF2B5EF4-FFF2-40B4-BE49-F238E27FC236}">
                <ns3:creationId id="{BCA9AA77-15B7-44D3-A6F9-14AAD1E51C31}"/>
              </a:ext>
            </a:extLst>
          </p:cNvPr>
          <p:cNvSpPr>
            <a:spLocks noGrp="1"/>
          </p:cNvSpPr>
          <p:nvPr/>
        </p:nvSpPr>
        <p:spPr>
          <a:xfrm>
            <a:off x="685800" y="1562100"/>
            <a:ext cx="5667375" cy="2571750"/>
          </a:xfrm>
          <a:prstGeom prst="rect">
            <a:avLst/>
          </a:prstGeom>
          <a:noFill/>
          <a:ln w="0">
            <a:noFill/>
          </a:ln>
        </p:spPr>
        <p:txBody>
          <a:bodyPr wrap="square" lIns="0" tIns="0" rIns="0" bIns="0">
            <a:noAutofit/>
          </a:bodyPr>
          <a:lstStyle/>
          <a:p>
            <a:pPr>
              <a:defRPr sz="4650" b="1">
                <a:solidFill>
                  <a:srgbClr val="172F39"/>
                </a:solidFill>
                <a:latin typeface="Noto Sans KR"/>
                <a:ea typeface="Noto Sans KR"/>
                <a:cs typeface="Noto Sans KR"/>
              </a:defRPr>
            </a:pPr>
            <a:r>
              <a:t>Python 기초</a:t>
            </a:r>
          </a:p>
          <a:p>
            <a:pPr>
              <a:defRPr sz="4650" b="1">
                <a:solidFill>
                  <a:srgbClr val="172F39"/>
                </a:solidFill>
                <a:latin typeface="Noto Sans KR"/>
                <a:ea typeface="Noto Sans KR"/>
                <a:cs typeface="Noto Sans KR"/>
              </a:defRPr>
            </a:pPr>
            <a:r>
              <a:t>값과 실행 흐름</a:t>
            </a:r>
          </a:p>
        </p:txBody>
      </p:sp>
      <p:sp>
        <p:nvSpPr>
          <p:cNvPr id="4" name="">
            <a:extLst>
              <a:ext uri="{FF2B5EF4-FFF2-40B4-BE49-F238E27FC236}">
                <ns3:creationId id="{387FA06A-98BC-4B86-847F-DE2C6DE0061F}"/>
              </a:ext>
            </a:extLst>
          </p:cNvPr>
          <p:cNvSpPr>
            <a:spLocks noGrp="1"/>
          </p:cNvSpPr>
          <p:nvPr/>
        </p:nvSpPr>
        <p:spPr>
          <a:xfrm>
            <a:off x="685800" y="4267200"/>
            <a:ext cx="5619750" cy="395288"/>
          </a:xfrm>
          <a:prstGeom prst="rect">
            <a:avLst/>
          </a:prstGeom>
          <a:noFill/>
          <a:ln w="0">
            <a:noFill/>
          </a:ln>
        </p:spPr>
        <p:txBody>
          <a:bodyPr wrap="square" lIns="0" tIns="0" rIns="0" bIns="0">
            <a:noAutofit/>
          </a:bodyPr>
          <a:lstStyle/>
          <a:p>
            <a:pPr>
              <a:defRPr sz="1875" b="0">
                <a:solidFill>
                  <a:srgbClr val="52636B"/>
                </a:solidFill>
                <a:latin typeface="Noto Sans KR"/>
                <a:ea typeface="Noto Sans KR"/>
                <a:cs typeface="Noto Sans KR"/>
              </a:defRPr>
            </a:pPr>
            <a:r>
              <a:t>2026-10-14</a:t>
            </a:r>
          </a:p>
        </p:txBody>
      </p:sp>
      <p:sp>
        <p:nvSpPr>
          <p:cNvPr id="5" name="">
            <a:extLst>
              <a:ext uri="{FF2B5EF4-FFF2-40B4-BE49-F238E27FC236}">
                <ns3:creationId id="{D849A697-64D1-47B0-AC01-35B744F17DB7}"/>
              </a:ext>
            </a:extLst>
          </p:cNvPr>
          <p:cNvSpPr>
            <a:spLocks noGrp="1"/>
          </p:cNvSpPr>
          <p:nvPr/>
        </p:nvSpPr>
        <p:spPr>
          <a:xfrm>
            <a:off x="685800" y="4710113"/>
            <a:ext cx="5619750" cy="395288"/>
          </a:xfrm>
          <a:prstGeom prst="rect">
            <a:avLst/>
          </a:prstGeom>
          <a:noFill/>
          <a:ln w="0">
            <a:noFill/>
          </a:ln>
        </p:spPr>
        <p:txBody>
          <a:bodyPr wrap="square" lIns="0" tIns="0" rIns="0" bIns="0">
            <a:noAutofit/>
          </a:bodyPr>
          <a:lstStyle/>
          <a:p>
            <a:pPr>
              <a:defRPr sz="1875" b="0">
                <a:solidFill>
                  <a:srgbClr val="52636B"/>
                </a:solidFill>
                <a:latin typeface="Noto Sans KR"/>
                <a:ea typeface="Noto Sans KR"/>
                <a:cs typeface="Noto Sans KR"/>
              </a:defRPr>
            </a:pPr>
            <a:r>
              <a:t>처음 배우는 사람을 위한 실무 수업</a:t>
            </a:r>
          </a:p>
        </p:txBody>
      </p:sp>
      <p:sp>
        <p:nvSpPr>
          <p:cNvPr id="6" name="">
            <a:extLst>
              <a:ext uri="{FF2B5EF4-FFF2-40B4-BE49-F238E27FC236}">
                <ns3:creationId id="{1C855565-FC26-432E-88CB-69452D03DA84}"/>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3:creationId id="{F97139F2-8643-46A7-B8B4-1E07A6A6D73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3:creationId id="{E3F548DC-8241-48B1-B011-543B455762C9}"/>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3:creationId id="{C9F5663D-3716-405B-9D5A-014C3DC1346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3:creationId id="{BA3301A7-ADD4-4A35-B5A8-98153BAE274C}"/>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001</a:t>
            </a:r>
          </a:p>
        </p:txBody>
      </p:sp>
    </p:spTree>
    <p:extLst>
      <p:ext uri="{BB962C8B-B14F-4D97-AF65-F5344CB8AC3E}">
        <ns4:creationId val="297472507"/>
      </p:ext>
    </p:extLst>
  </p:cSld>
</p:sld>
</file>

<file path=ppt/slides/slide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3647931E-AB1E-477C-9A5B-95222BEEBB94}"/>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10/14 수업</a:t>
            </a:r>
          </a:p>
        </p:txBody>
      </p:sp>
      <p:sp>
        <p:nvSpPr>
          <p:cNvPr id="2" name="">
            <a:extLst>
              <a:ext uri="{FF2B5EF4-FFF2-40B4-BE49-F238E27FC236}">
                <ns2:creationId id="{B311E9ED-1447-495F-940E-707E7D174142}"/>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하루 수업의 약속</a:t>
            </a:r>
          </a:p>
        </p:txBody>
      </p:sp>
      <p:sp>
        <p:nvSpPr>
          <p:cNvPr id="3" name="">
            <a:extLst>
              <a:ext uri="{FF2B5EF4-FFF2-40B4-BE49-F238E27FC236}">
                <ns2:creationId id="{18D125C0-4C5C-4FAC-994D-7184261D9130}"/>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수업 10:00~17:00 · 50분씩 6교시</a:t>
            </a:r>
          </a:p>
        </p:txBody>
      </p:sp>
      <p:sp>
        <p:nvSpPr>
          <p:cNvPr id="4" name="">
            <a:extLst>
              <a:ext uri="{FF2B5EF4-FFF2-40B4-BE49-F238E27FC236}">
                <ns2:creationId id="{06ADF5A4-4E0D-413D-BFA4-8027C7925F96}"/>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중식 11:50~13:00 · 13:00 복귀</a:t>
            </a:r>
          </a:p>
        </p:txBody>
      </p:sp>
      <p:sp>
        <p:nvSpPr>
          <p:cNvPr id="5" name="">
            <a:extLst>
              <a:ext uri="{FF2B5EF4-FFF2-40B4-BE49-F238E27FC236}">
                <ns2:creationId id="{0AB1FA47-A3FF-4D7A-ABAC-39A5817DC144}"/>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수업 사이 10분 휴식</a:t>
            </a:r>
          </a:p>
        </p:txBody>
      </p:sp>
      <p:sp>
        <p:nvSpPr>
          <p:cNvPr id="6" name="">
            <a:extLst>
              <a:ext uri="{FF2B5EF4-FFF2-40B4-BE49-F238E27FC236}">
                <ns2:creationId id="{05F2ED52-B447-4602-8582-5D368D4F9FE9}"/>
              </a:ext>
            </a:extLst>
          </p:cNvPr>
          <p:cNvSpPr>
            <a:spLocks noGrp="1"/>
          </p:cNvSpPr>
          <p:nvPr/>
        </p:nvSpPr>
        <p:spPr>
          <a:xfrm>
            <a:off x="685800" y="3622929"/>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마지막 10분은 저장 확인과 종료 준비입니다.</a:t>
            </a:r>
          </a:p>
        </p:txBody>
      </p:sp>
      <p:sp>
        <p:nvSpPr>
          <p:cNvPr id="7" name="">
            <a:extLst>
              <a:ext uri="{FF2B5EF4-FFF2-40B4-BE49-F238E27FC236}">
                <ns2:creationId id="{3FC7F8B8-6EAF-4AF9-AA69-0CC9322DCBAF}"/>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D183BE9F-299D-4607-8A57-6358D08E7CD2}"/>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EDE8E0E9-F2C6-419D-BF44-507945E011DD}"/>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ED845682-9B0E-4E79-AA9A-40B5FC025CC6}"/>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9FDC5890-5A5F-4BD5-BAB9-7CCB95771BCC}"/>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002</a:t>
            </a:r>
          </a:p>
        </p:txBody>
      </p:sp>
    </p:spTree>
    <p:extLst>
      <p:ext uri="{BB962C8B-B14F-4D97-AF65-F5344CB8AC3E}">
        <ns4:creationId val="1222385635"/>
      </p:ext>
    </p:extLst>
  </p:cSld>
</p:sld>
</file>

<file path=ppt/slides/slide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D8F11CAC-7317-4774-A851-0B42AA1554C2}"/>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10/14 수업</a:t>
            </a:r>
          </a:p>
        </p:txBody>
      </p:sp>
      <p:sp>
        <p:nvSpPr>
          <p:cNvPr id="2" name="">
            <a:extLst>
              <a:ext uri="{FF2B5EF4-FFF2-40B4-BE49-F238E27FC236}">
                <ns2:creationId id="{A43E78B9-2629-40C4-AA7D-A703B769535F}"/>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파일과 폴더부터</a:t>
            </a:r>
          </a:p>
        </p:txBody>
      </p:sp>
      <p:sp>
        <p:nvSpPr>
          <p:cNvPr id="3" name="">
            <a:extLst>
              <a:ext uri="{FF2B5EF4-FFF2-40B4-BE49-F238E27FC236}">
                <ns2:creationId id="{74337697-E48B-4FE0-9B73-E234FD43DE67}"/>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파일은 저장한 문서나 코드 한 개입니다.</a:t>
            </a:r>
          </a:p>
        </p:txBody>
      </p:sp>
      <p:sp>
        <p:nvSpPr>
          <p:cNvPr id="4" name="">
            <a:extLst>
              <a:ext uri="{FF2B5EF4-FFF2-40B4-BE49-F238E27FC236}">
                <ns2:creationId id="{5DD625C1-DC01-49A0-860D-4DE6BA0ADFA5}"/>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폴더는 파일을 모아 둔 위치입니다.</a:t>
            </a:r>
          </a:p>
        </p:txBody>
      </p:sp>
      <p:sp>
        <p:nvSpPr>
          <p:cNvPr id="5" name="">
            <a:extLst>
              <a:ext uri="{FF2B5EF4-FFF2-40B4-BE49-F238E27FC236}">
                <ns2:creationId id="{81EB5423-F059-459A-8989-4906A72D9F58}"/>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확장자는 이름 끝의 .csv, .json, .py입니다.</a:t>
            </a:r>
          </a:p>
        </p:txBody>
      </p:sp>
      <p:sp>
        <p:nvSpPr>
          <p:cNvPr id="6" name="">
            <a:extLst>
              <a:ext uri="{FF2B5EF4-FFF2-40B4-BE49-F238E27FC236}">
                <ns2:creationId id="{B78C6BD4-E5C4-4436-AE71-C48A68F65E66}"/>
              </a:ext>
            </a:extLst>
          </p:cNvPr>
          <p:cNvSpPr>
            <a:spLocks noGrp="1"/>
          </p:cNvSpPr>
          <p:nvPr/>
        </p:nvSpPr>
        <p:spPr>
          <a:xfrm>
            <a:off x="685800" y="3622929"/>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원본은 그대로 두고 복사한 파일을 수정합니다.</a:t>
            </a:r>
          </a:p>
        </p:txBody>
      </p:sp>
      <p:sp>
        <p:nvSpPr>
          <p:cNvPr id="7" name="">
            <a:extLst>
              <a:ext uri="{FF2B5EF4-FFF2-40B4-BE49-F238E27FC236}">
                <ns2:creationId id="{84B18442-F688-48E4-BE42-7C98494F61A5}"/>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734BA72C-05D3-47D0-B509-D273B4821407}"/>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47935034-298D-4E2A-A81A-FFA8F635CA68}"/>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9CE2336F-9BBE-4908-A508-34655FCE800C}"/>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E2284717-6944-467D-8C51-DC36A509FEC4}"/>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003</a:t>
            </a:r>
          </a:p>
        </p:txBody>
      </p:sp>
    </p:spTree>
    <p:extLst>
      <p:ext uri="{BB962C8B-B14F-4D97-AF65-F5344CB8AC3E}">
        <ns4:creationId val="763238375"/>
      </p:ext>
    </p:extLst>
  </p:cSld>
</p:sld>
</file>

<file path=ppt/slides/slide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14CCB4DF-AF76-4F8A-87C3-907B5D86BA27}"/>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10/14 수업</a:t>
            </a:r>
          </a:p>
        </p:txBody>
      </p:sp>
      <p:sp>
        <p:nvSpPr>
          <p:cNvPr id="2" name="">
            <a:extLst>
              <a:ext uri="{FF2B5EF4-FFF2-40B4-BE49-F238E27FC236}">
                <ns2:creationId id="{85FB1E14-834A-489F-BA2B-E2A0032FB8C9}"/>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실행이 안 될 때 수업 따라가기</a:t>
            </a:r>
          </a:p>
        </p:txBody>
      </p:sp>
      <p:sp>
        <p:nvSpPr>
          <p:cNvPr id="3" name="">
            <a:extLst>
              <a:ext uri="{FF2B5EF4-FFF2-40B4-BE49-F238E27FC236}">
                <ns2:creationId id="{C60087D3-338C-40A8-A663-21BD2779C32D}"/>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설치가 안 된 것과 내용을 이해하지 못한 것은 따로 확인합니다.</a:t>
            </a:r>
          </a:p>
        </p:txBody>
      </p:sp>
      <p:sp>
        <p:nvSpPr>
          <p:cNvPr id="4" name="">
            <a:extLst>
              <a:ext uri="{FF2B5EF4-FFF2-40B4-BE49-F238E27FC236}">
                <ns2:creationId id="{513E6C18-C8F4-442C-B2B3-7BAD21CAA18B}"/>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실행이 안 되면 코드가 처리하는 순서를 종이에 적어 봅니다.</a:t>
            </a:r>
          </a:p>
        </p:txBody>
      </p:sp>
      <p:sp>
        <p:nvSpPr>
          <p:cNvPr id="5" name="">
            <a:extLst>
              <a:ext uri="{FF2B5EF4-FFF2-40B4-BE49-F238E27FC236}">
                <ns2:creationId id="{4F4EA907-9AC0-4139-9581-11B3A9966B4A}"/>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직접 실행했는지, 강사의 시연을 보았는지 적습니다.</a:t>
            </a:r>
          </a:p>
        </p:txBody>
      </p:sp>
      <p:sp>
        <p:nvSpPr>
          <p:cNvPr id="6" name="">
            <a:extLst>
              <a:ext uri="{FF2B5EF4-FFF2-40B4-BE49-F238E27FC236}">
                <ns2:creationId id="{181EA785-1D0C-4C11-8B49-EDE7549FB35E}"/>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94F1773D-7896-4233-96DB-C2EDE32BF418}"/>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DB405012-D51C-4877-A623-9F87BA823DC9}"/>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F5B4D8A1-B8BE-4CCF-8624-D2EADDE300B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F927DD36-D3E2-4717-9818-299B7DC0B7BC}"/>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004</a:t>
            </a:r>
          </a:p>
        </p:txBody>
      </p:sp>
    </p:spTree>
    <p:extLst>
      <p:ext uri="{BB962C8B-B14F-4D97-AF65-F5344CB8AC3E}">
        <ns4:creationId val="1736704771"/>
      </p:ext>
    </p:extLst>
  </p:cSld>
</p:sld>
</file>

<file path=ppt/slides/slide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B04ADD82-F327-4083-8251-B945F44C0543}"/>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10/14 수업</a:t>
            </a:r>
          </a:p>
        </p:txBody>
      </p:sp>
      <p:sp>
        <p:nvSpPr>
          <p:cNvPr id="2" name="">
            <a:extLst>
              <a:ext uri="{FF2B5EF4-FFF2-40B4-BE49-F238E27FC236}">
                <ns2:creationId id="{275CCF54-D1BB-48BA-945B-4BB9979C1F5D}"/>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오늘 배울 여섯 가지</a:t>
            </a:r>
          </a:p>
        </p:txBody>
      </p:sp>
      <p:sp>
        <p:nvSpPr>
          <p:cNvPr id="3" name="">
            <a:extLst>
              <a:ext uri="{FF2B5EF4-FFF2-40B4-BE49-F238E27FC236}">
                <ns2:creationId id="{619B64C1-4E4D-4670-A8D7-BF98EBF8F854}"/>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파일 실행 → 변수 → 자료형과 연산</a:t>
            </a:r>
          </a:p>
        </p:txBody>
      </p:sp>
      <p:sp>
        <p:nvSpPr>
          <p:cNvPr id="4" name="">
            <a:extLst>
              <a:ext uri="{FF2B5EF4-FFF2-40B4-BE49-F238E27FC236}">
                <ns2:creationId id="{4CB81C9F-EBE2-4198-A53B-1A408C9ABA6E}"/>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비교와 조건 → 반복 → 작은 점검표</a:t>
            </a:r>
          </a:p>
        </p:txBody>
      </p:sp>
      <p:sp>
        <p:nvSpPr>
          <p:cNvPr id="5" name="">
            <a:extLst>
              <a:ext uri="{FF2B5EF4-FFF2-40B4-BE49-F238E27FC236}">
                <ns2:creationId id="{A32090B5-01CD-4320-934B-FDDE7E2EA2FD}"/>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92329FB4-4F19-42EF-915C-70B694E50E0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A6E9967B-A9D9-41B9-BC41-9F055AF75C69}"/>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08F178C4-7C9B-47BB-B33F-BC23611C756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9848B0CA-943E-4488-8A0B-C06090C3D97C}"/>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005</a:t>
            </a:r>
          </a:p>
        </p:txBody>
      </p:sp>
    </p:spTree>
    <p:extLst>
      <p:ext uri="{BB962C8B-B14F-4D97-AF65-F5344CB8AC3E}">
        <ns4:creationId val="1818427212"/>
      </p:ext>
    </p:extLst>
  </p:cSld>
</p:sld>
</file>

<file path=ppt/slides/slide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5F312371-2F91-4962-9E22-891B41702EF6}"/>
              </a:ext>
            </a:extLst>
          </p:cNvPr>
          <p:cNvSpPr>
            <a:spLocks noGrp="1"/>
          </p:cNvSpPr>
          <p:nvPr/>
        </p:nvSpPr>
        <p:spPr>
          <a:xfrm>
            <a:off x="685800" y="657225"/>
            <a:ext cx="10820400" cy="400050"/>
          </a:xfrm>
          <a:prstGeom prst="rect">
            <a:avLst/>
          </a:prstGeom>
          <a:noFill/>
          <a:ln w="0">
            <a:noFill/>
          </a:ln>
        </p:spPr>
        <p:txBody>
          <a:bodyPr wrap="square" lIns="0" tIns="0" rIns="0" bIns="0">
            <a:noAutofit/>
          </a:bodyPr>
          <a:lstStyle/>
          <a:p>
            <a:pPr>
              <a:defRPr sz="1950" b="1">
                <a:solidFill>
                  <a:srgbClr val="08786F"/>
                </a:solidFill>
                <a:latin typeface="Noto Sans KR"/>
                <a:ea typeface="Noto Sans KR"/>
                <a:cs typeface="Noto Sans KR"/>
              </a:defRPr>
            </a:pPr>
            <a:r>
              <a:t>1교시</a:t>
            </a:r>
          </a:p>
        </p:txBody>
      </p:sp>
      <p:sp>
        <p:nvSpPr>
          <p:cNvPr id="2" name="">
            <a:extLst>
              <a:ext uri="{FF2B5EF4-FFF2-40B4-BE49-F238E27FC236}">
                <ns2:creationId id="{5728F2C0-D628-461B-96EC-7B0DA8909104}"/>
              </a:ext>
            </a:extLst>
          </p:cNvPr>
          <p:cNvSpPr>
            <a:spLocks noGrp="1"/>
          </p:cNvSpPr>
          <p:nvPr/>
        </p:nvSpPr>
        <p:spPr>
          <a:xfrm>
            <a:off x="685800" y="1552575"/>
            <a:ext cx="10668000" cy="1905000"/>
          </a:xfrm>
          <a:prstGeom prst="rect">
            <a:avLst/>
          </a:prstGeom>
          <a:noFill/>
          <a:ln w="0">
            <a:noFill/>
          </a:ln>
        </p:spPr>
        <p:txBody>
          <a:bodyPr wrap="square" lIns="0" tIns="0" rIns="0" bIns="0">
            <a:noAutofit/>
          </a:bodyPr>
          <a:lstStyle/>
          <a:p>
            <a:pPr>
              <a:defRPr sz="4725" b="1">
                <a:solidFill>
                  <a:srgbClr val="172F39"/>
                </a:solidFill>
                <a:latin typeface="Noto Sans KR"/>
                <a:ea typeface="Noto Sans KR"/>
                <a:cs typeface="Noto Sans KR"/>
              </a:defRPr>
            </a:pPr>
            <a:r>
              <a:t>파일에서 출력까지</a:t>
            </a:r>
          </a:p>
        </p:txBody>
      </p:sp>
      <p:sp>
        <p:nvSpPr>
          <p:cNvPr id="3" name="">
            <a:extLst>
              <a:ext uri="{FF2B5EF4-FFF2-40B4-BE49-F238E27FC236}">
                <ns2:creationId id="{C2B69C81-AC08-499C-948B-6B808F96B751}"/>
              </a:ext>
            </a:extLst>
          </p:cNvPr>
          <p:cNvSpPr>
            <a:spLocks noGrp="1"/>
          </p:cNvSpPr>
          <p:nvPr/>
        </p:nvSpPr>
        <p:spPr>
          <a:xfrm>
            <a:off x="723900" y="3638550"/>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10:00~10:50 · 50분</a:t>
            </a:r>
          </a:p>
        </p:txBody>
      </p:sp>
      <p:sp>
        <p:nvSpPr>
          <p:cNvPr id="4" name="">
            <a:extLst>
              <a:ext uri="{FF2B5EF4-FFF2-40B4-BE49-F238E27FC236}">
                <ns2:creationId id="{671A9C97-4D1C-467F-8931-5E847546E74A}"/>
              </a:ext>
            </a:extLst>
          </p:cNvPr>
          <p:cNvSpPr>
            <a:spLocks noGrp="1"/>
          </p:cNvSpPr>
          <p:nvPr/>
        </p:nvSpPr>
        <p:spPr>
          <a:xfrm>
            <a:off x="723900" y="4160139"/>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먼저 할 활동: A01, A02, A03</a:t>
            </a:r>
          </a:p>
        </p:txBody>
      </p:sp>
      <p:sp>
        <p:nvSpPr>
          <p:cNvPr id="5" name="">
            <a:extLst>
              <a:ext uri="{FF2B5EF4-FFF2-40B4-BE49-F238E27FC236}">
                <ns2:creationId id="{4B3E98AD-966B-4C6D-A078-01D46476A1C2}"/>
              </a:ext>
            </a:extLst>
          </p:cNvPr>
          <p:cNvSpPr>
            <a:spLocks noGrp="1"/>
          </p:cNvSpPr>
          <p:nvPr/>
        </p:nvSpPr>
        <p:spPr>
          <a:xfrm>
            <a:off x="723900" y="4681728"/>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필수 활동을 마쳤으면 추가 문제를 풀어 보세요.</a:t>
            </a:r>
          </a:p>
        </p:txBody>
      </p:sp>
      <p:sp>
        <p:nvSpPr>
          <p:cNvPr id="6" name="">
            <a:extLst>
              <a:ext uri="{FF2B5EF4-FFF2-40B4-BE49-F238E27FC236}">
                <ns2:creationId id="{06BE7A99-1106-459C-9786-6F49AEC0AE68}"/>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AE9F2DA5-252C-4A37-9146-C270D4D07E2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EC0A3CFE-EC0D-490A-975E-5F6D994FAA7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0A7211A0-CC1D-4F6C-9EF7-B94AA6E3BD9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2DB5F64C-3EE5-4FD4-9689-ADE2484FA976}"/>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006</a:t>
            </a:r>
          </a:p>
        </p:txBody>
      </p:sp>
    </p:spTree>
    <p:extLst>
      <p:ext uri="{BB962C8B-B14F-4D97-AF65-F5344CB8AC3E}">
        <ns4:creationId val="124926233"/>
      </p:ext>
    </p:extLst>
  </p:cSld>
</p:sld>
</file>

<file path=ppt/slides/slide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9" name="">
            <a:extLst>
              <a:ext uri="{FF2B5EF4-FFF2-40B4-BE49-F238E27FC236}">
                <ns2:creationId id="{AE90CFE6-7E53-4AC9-83F8-E9B3AC2564E8}"/>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1F77C786-B8B6-4EC8-83A3-5DA10E61B5BB}"/>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입력·처리·출력</a:t>
            </a:r>
          </a:p>
        </p:txBody>
      </p:sp>
      <p:sp>
        <p:nvSpPr>
          <p:cNvPr id="3" name="">
            <a:extLst>
              <a:ext uri="{FF2B5EF4-FFF2-40B4-BE49-F238E27FC236}">
                <ns2:creationId id="{CD6739BA-2FFC-483C-96A6-4C6969DCECC9}"/>
              </a:ext>
            </a:extLst>
          </p:cNvPr>
          <p:cNvSpPr>
            <a:spLocks noGrp="1"/>
          </p:cNvSpPr>
          <p:nvPr/>
        </p:nvSpPr>
        <p:spPr>
          <a:xfrm>
            <a:off x="685800" y="193357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입력: 일을 시작하기 전에 주어진 값</a:t>
            </a:r>
          </a:p>
        </p:txBody>
      </p:sp>
      <p:sp>
        <p:nvSpPr>
          <p:cNvPr id="4" name="">
            <a:extLst>
              <a:ext uri="{FF2B5EF4-FFF2-40B4-BE49-F238E27FC236}">
                <ns2:creationId id="{0AACDCA8-267D-4EAF-BCEB-5ADD0253D077}"/>
              </a:ext>
            </a:extLst>
          </p:cNvPr>
          <p:cNvSpPr>
            <a:spLocks noGrp="1"/>
          </p:cNvSpPr>
          <p:nvPr/>
        </p:nvSpPr>
        <p:spPr>
          <a:xfrm>
            <a:off x="685800" y="243268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처리: 정해진 규칙을 적용하는 순서</a:t>
            </a:r>
          </a:p>
        </p:txBody>
      </p:sp>
      <p:sp>
        <p:nvSpPr>
          <p:cNvPr id="5" name="">
            <a:extLst>
              <a:ext uri="{FF2B5EF4-FFF2-40B4-BE49-F238E27FC236}">
                <ns2:creationId id="{4B57A8E0-077A-4FD1-9D2B-F3C874351B45}"/>
              </a:ext>
            </a:extLst>
          </p:cNvPr>
          <p:cNvSpPr>
            <a:spLocks noGrp="1"/>
          </p:cNvSpPr>
          <p:nvPr/>
        </p:nvSpPr>
        <p:spPr>
          <a:xfrm>
            <a:off x="685800" y="293179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출력: 처리한 뒤 보여 주는 결과</a:t>
            </a:r>
          </a:p>
        </p:txBody>
      </p:sp>
      <p:sp>
        <p:nvSpPr>
          <p:cNvPr id="6" name="">
            <a:extLst>
              <a:ext uri="{FF2B5EF4-FFF2-40B4-BE49-F238E27FC236}">
                <ns2:creationId id="{C36239AB-7CDC-472B-90B9-D4538AC61626}"/>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완성 예 · 첫 출력</a:t>
            </a:r>
          </a:p>
        </p:txBody>
      </p:sp>
      <p:sp>
        <p:nvSpPr>
          <p:cNvPr id="7" name="">
            <a:extLst>
              <a:ext uri="{FF2B5EF4-FFF2-40B4-BE49-F238E27FC236}">
                <ns2:creationId id="{4872422F-3872-415B-993F-351D4D53E954}"/>
              </a:ext>
            </a:extLst>
          </p:cNvPr>
          <p:cNvSpPr>
            <a:spLocks noGrp="1"/>
          </p:cNvSpPr>
          <p:nvPr/>
        </p:nvSpPr>
        <p:spPr>
          <a:xfrm>
            <a:off x="6267450" y="2628900"/>
            <a:ext cx="5238750" cy="1201674"/>
          </a:xfrm>
          <a:prstGeom prst="rect">
            <a:avLst/>
          </a:prstGeom>
          <a:solidFill>
            <a:srgbClr val="F1F6F5"/>
          </a:solidFill>
          <a:ln w="0">
            <a:noFill/>
          </a:ln>
        </p:spPr>
      </p:sp>
      <p:sp>
        <p:nvSpPr>
          <p:cNvPr id="8" name="">
            <a:extLst>
              <a:ext uri="{FF2B5EF4-FFF2-40B4-BE49-F238E27FC236}">
                <ns2:creationId id="{17D7532A-05AE-478F-B333-3D412CE5150C}"/>
              </a:ext>
            </a:extLst>
          </p:cNvPr>
          <p:cNvSpPr>
            <a:spLocks noGrp="1"/>
          </p:cNvSpPr>
          <p:nvPr/>
        </p:nvSpPr>
        <p:spPr>
          <a:xfrm>
            <a:off x="6410325" y="2790825"/>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9" name="">
            <a:extLst>
              <a:ext uri="{FF2B5EF4-FFF2-40B4-BE49-F238E27FC236}">
                <ns2:creationId id="{E51E6C45-80E6-4B3D-A08F-B3EB8E45B475}"/>
              </a:ext>
            </a:extLst>
          </p:cNvPr>
          <p:cNvSpPr>
            <a:spLocks noGrp="1"/>
          </p:cNvSpPr>
          <p:nvPr/>
        </p:nvSpPr>
        <p:spPr>
          <a:xfrm>
            <a:off x="6858000" y="2752725"/>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 화면에 수업 시작을 표시합니다.</a:t>
            </a:r>
          </a:p>
        </p:txBody>
      </p:sp>
      <p:sp>
        <p:nvSpPr>
          <p:cNvPr id="10" name="">
            <a:extLst>
              <a:ext uri="{FF2B5EF4-FFF2-40B4-BE49-F238E27FC236}">
                <ns2:creationId id="{FA62F7F1-E7A8-40C0-9FD1-298E5FE470F1}"/>
              </a:ext>
            </a:extLst>
          </p:cNvPr>
          <p:cNvSpPr>
            <a:spLocks noGrp="1"/>
          </p:cNvSpPr>
          <p:nvPr/>
        </p:nvSpPr>
        <p:spPr>
          <a:xfrm>
            <a:off x="6410325" y="3083433"/>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11" name="">
            <a:extLst>
              <a:ext uri="{FF2B5EF4-FFF2-40B4-BE49-F238E27FC236}">
                <ns2:creationId id="{1158A4DA-634E-488E-8AD1-25EA910CFA7D}"/>
              </a:ext>
            </a:extLst>
          </p:cNvPr>
          <p:cNvSpPr>
            <a:spLocks noGrp="1"/>
          </p:cNvSpPr>
          <p:nvPr/>
        </p:nvSpPr>
        <p:spPr>
          <a:xfrm>
            <a:off x="6858000" y="3045333"/>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print("Python 점검 시작")</a:t>
            </a:r>
          </a:p>
        </p:txBody>
      </p:sp>
      <p:sp>
        <p:nvSpPr>
          <p:cNvPr id="12" name="">
            <a:extLst>
              <a:ext uri="{FF2B5EF4-FFF2-40B4-BE49-F238E27FC236}">
                <ns2:creationId id="{64918B43-4251-47C9-A857-6F3C37E94349}"/>
              </a:ext>
            </a:extLst>
          </p:cNvPr>
          <p:cNvSpPr>
            <a:spLocks noGrp="1"/>
          </p:cNvSpPr>
          <p:nvPr/>
        </p:nvSpPr>
        <p:spPr>
          <a:xfrm>
            <a:off x="6410325" y="3376041"/>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3" name="">
            <a:extLst>
              <a:ext uri="{FF2B5EF4-FFF2-40B4-BE49-F238E27FC236}">
                <ns2:creationId id="{D4E25FBF-F368-4D69-829C-E03C30EDA71C}"/>
              </a:ext>
            </a:extLst>
          </p:cNvPr>
          <p:cNvSpPr>
            <a:spLocks noGrp="1"/>
          </p:cNvSpPr>
          <p:nvPr/>
        </p:nvSpPr>
        <p:spPr>
          <a:xfrm>
            <a:off x="6858000" y="3337941"/>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print("S01", 22.5)</a:t>
            </a:r>
          </a:p>
        </p:txBody>
      </p:sp>
      <p:sp>
        <p:nvSpPr>
          <p:cNvPr id="14" name="">
            <a:extLst>
              <a:ext uri="{FF2B5EF4-FFF2-40B4-BE49-F238E27FC236}">
                <ns2:creationId id="{D6793362-C3C4-4E3A-9E50-42CE13481514}"/>
              </a:ext>
            </a:extLst>
          </p:cNvPr>
          <p:cNvSpPr>
            <a:spLocks noGrp="1"/>
          </p:cNvSpPr>
          <p:nvPr/>
        </p:nvSpPr>
        <p:spPr>
          <a:xfrm>
            <a:off x="685800" y="6172200"/>
            <a:ext cx="10820400" cy="9525"/>
          </a:xfrm>
          <a:prstGeom prst="rect">
            <a:avLst/>
          </a:prstGeom>
          <a:solidFill>
            <a:srgbClr val="D5DEDD"/>
          </a:solidFill>
          <a:ln w="0">
            <a:noFill/>
          </a:ln>
        </p:spPr>
      </p:sp>
      <p:sp>
        <p:nvSpPr>
          <p:cNvPr id="15" name="">
            <a:extLst>
              <a:ext uri="{FF2B5EF4-FFF2-40B4-BE49-F238E27FC236}">
                <ns2:creationId id="{AB6EAD90-1CCF-4A9F-986D-335E61BDE46A}"/>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6" name="">
            <a:extLst>
              <a:ext uri="{FF2B5EF4-FFF2-40B4-BE49-F238E27FC236}">
                <ns2:creationId id="{A71A5B6C-5F7E-46FA-860C-A695A10632AE}"/>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7" name="">
            <a:extLst>
              <a:ext uri="{FF2B5EF4-FFF2-40B4-BE49-F238E27FC236}">
                <ns2:creationId id="{473C5174-D21B-4360-99C8-D5DB06605DB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8" name="">
            <a:extLst>
              <a:ext uri="{FF2B5EF4-FFF2-40B4-BE49-F238E27FC236}">
                <ns2:creationId id="{906C4FCA-CDCA-4592-A563-6D301CB87FA0}"/>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007</a:t>
            </a:r>
          </a:p>
        </p:txBody>
      </p:sp>
    </p:spTree>
    <p:extLst>
      <p:ext uri="{BB962C8B-B14F-4D97-AF65-F5344CB8AC3E}">
        <ns4:creationId val="489713132"/>
      </p:ext>
    </p:extLst>
  </p:cSld>
</p:sld>
</file>

<file path=ppt/slides/slide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65A0AEB2-1D16-498B-99B1-808C43150295}"/>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4B5C6AE5-499E-4146-A381-F26F848EA2D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파일 열기와 코드 실행하기</a:t>
            </a:r>
          </a:p>
        </p:txBody>
      </p:sp>
      <p:sp>
        <p:nvSpPr>
          <p:cNvPr id="3" name="">
            <a:extLst>
              <a:ext uri="{FF2B5EF4-FFF2-40B4-BE49-F238E27FC236}">
                <ns2:creationId id="{52D4CB17-A233-439E-AC88-4E50E67FE779}"/>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편집기에서 열기</a:t>
            </a:r>
          </a:p>
        </p:txBody>
      </p:sp>
      <p:sp>
        <p:nvSpPr>
          <p:cNvPr id="4" name="">
            <a:extLst>
              <a:ext uri="{FF2B5EF4-FFF2-40B4-BE49-F238E27FC236}">
                <ns2:creationId id="{123B2F7E-1956-4127-A65E-7EC7D34D6DE2}"/>
              </a:ext>
            </a:extLst>
          </p:cNvPr>
          <p:cNvSpPr>
            <a:spLocks noGrp="1"/>
          </p:cNvSpPr>
          <p:nvPr/>
        </p:nvSpPr>
        <p:spPr>
          <a:xfrm>
            <a:off x="685800" y="2447925"/>
            <a:ext cx="4953000" cy="473964"/>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편집기는 코드 내용을 보여 줍니다.</a:t>
            </a:r>
          </a:p>
        </p:txBody>
      </p:sp>
      <p:sp>
        <p:nvSpPr>
          <p:cNvPr id="5" name="">
            <a:extLst>
              <a:ext uri="{FF2B5EF4-FFF2-40B4-BE49-F238E27FC236}">
                <ns2:creationId id="{B20A3003-1E75-465E-BD60-74CCBE97CBD5}"/>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Python으로 실행</a:t>
            </a:r>
          </a:p>
        </p:txBody>
      </p:sp>
      <p:sp>
        <p:nvSpPr>
          <p:cNvPr id="6" name="">
            <a:extLst>
              <a:ext uri="{FF2B5EF4-FFF2-40B4-BE49-F238E27FC236}">
                <ns2:creationId id="{0E57B126-14EC-46FB-8D10-6EF5BE7D1D7C}"/>
              </a:ext>
            </a:extLst>
          </p:cNvPr>
          <p:cNvSpPr>
            <a:spLocks noGrp="1"/>
          </p:cNvSpPr>
          <p:nvPr/>
        </p:nvSpPr>
        <p:spPr>
          <a:xfrm>
            <a:off x="6400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Python은 파일의 명령을 처리합니다.</a:t>
            </a:r>
          </a:p>
        </p:txBody>
      </p:sp>
      <p:sp>
        <p:nvSpPr>
          <p:cNvPr id="7" name="">
            <a:extLst>
              <a:ext uri="{FF2B5EF4-FFF2-40B4-BE49-F238E27FC236}">
                <ns2:creationId id="{E41786F8-CD3E-4F04-9706-A696FD699720}"/>
              </a:ext>
            </a:extLst>
          </p:cNvPr>
          <p:cNvSpPr>
            <a:spLocks noGrp="1"/>
          </p:cNvSpPr>
          <p:nvPr/>
        </p:nvSpPr>
        <p:spPr>
          <a:xfrm>
            <a:off x="685800" y="4943475"/>
            <a:ext cx="10820400" cy="9525"/>
          </a:xfrm>
          <a:prstGeom prst="rect">
            <a:avLst/>
          </a:prstGeom>
          <a:solidFill>
            <a:srgbClr val="D5DEDD"/>
          </a:solidFill>
          <a:ln w="0">
            <a:noFill/>
          </a:ln>
        </p:spPr>
      </p:sp>
      <p:sp>
        <p:nvSpPr>
          <p:cNvPr id="8" name="">
            <a:extLst>
              <a:ext uri="{FF2B5EF4-FFF2-40B4-BE49-F238E27FC236}">
                <ns2:creationId id="{A7B651B6-968F-4599-915F-C1804D6F3331}"/>
              </a:ext>
            </a:extLst>
          </p:cNvPr>
          <p:cNvSpPr>
            <a:spLocks noGrp="1"/>
          </p:cNvSpPr>
          <p:nvPr/>
        </p:nvSpPr>
        <p:spPr>
          <a:xfrm>
            <a:off x="685800" y="5191125"/>
            <a:ext cx="10820400" cy="417767"/>
          </a:xfrm>
          <a:prstGeom prst="rect">
            <a:avLst/>
          </a:prstGeom>
          <a:noFill/>
          <a:ln w="0">
            <a:noFill/>
          </a:ln>
        </p:spPr>
        <p:txBody>
          <a:bodyPr wrap="square" lIns="0" tIns="0" rIns="0" bIns="0">
            <a:noAutofit/>
          </a:bodyPr>
          <a:lstStyle/>
          <a:p>
            <a:pPr>
              <a:defRPr sz="2025" b="1">
                <a:solidFill>
                  <a:srgbClr val="52636B"/>
                </a:solidFill>
                <a:latin typeface="Noto Sans KR"/>
                <a:ea typeface="Noto Sans KR"/>
                <a:cs typeface="Noto Sans KR"/>
              </a:defRPr>
            </a:pPr>
            <a:r>
              <a:t>화면 출력은 코드 파일과 다릅니다.</a:t>
            </a:r>
          </a:p>
        </p:txBody>
      </p:sp>
      <p:sp>
        <p:nvSpPr>
          <p:cNvPr id="9" name="">
            <a:extLst>
              <a:ext uri="{FF2B5EF4-FFF2-40B4-BE49-F238E27FC236}">
                <ns2:creationId id="{35B84BCF-B7C0-4A61-930B-C52A6774C665}"/>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A4A79B2E-D833-4F8D-968E-61CCD3A59CE7}"/>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11984EFA-0A92-48B1-923F-B4ECE0CCB9DB}"/>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9DEEA7BA-EAD3-46A1-90F5-FA7E19B41E2E}"/>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C7D3B91F-446D-44A9-8C7D-F4F61C99AC17}"/>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008</a:t>
            </a:r>
          </a:p>
        </p:txBody>
      </p:sp>
    </p:spTree>
    <p:extLst>
      <p:ext uri="{BB962C8B-B14F-4D97-AF65-F5344CB8AC3E}">
        <ns4:creationId val="149798437"/>
      </p:ext>
    </p:extLst>
  </p:cSld>
</p:sld>
</file>

<file path=ppt/slides/slide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8" name="">
            <a:extLst>
              <a:ext uri="{FF2B5EF4-FFF2-40B4-BE49-F238E27FC236}">
                <ns2:creationId id="{EEA1AF35-8047-4766-B6EF-52354C7E478A}"/>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4FC93F81-AD61-4EAB-8484-EDD06FAB94CD}"/>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완성 예 · 첫 출력</a:t>
            </a:r>
          </a:p>
        </p:txBody>
      </p:sp>
      <p:sp>
        <p:nvSpPr>
          <p:cNvPr id="3" name="">
            <a:extLst>
              <a:ext uri="{FF2B5EF4-FFF2-40B4-BE49-F238E27FC236}">
                <ns2:creationId id="{C49FE4F7-61A8-4983-BF6F-B8EB908B20B9}"/>
              </a:ext>
            </a:extLst>
          </p:cNvPr>
          <p:cNvSpPr>
            <a:spLocks noGrp="1"/>
          </p:cNvSpPr>
          <p:nvPr/>
        </p:nvSpPr>
        <p:spPr>
          <a:xfrm>
            <a:off x="685800" y="1809750"/>
            <a:ext cx="6953250" cy="1274826"/>
          </a:xfrm>
          <a:prstGeom prst="rect">
            <a:avLst/>
          </a:prstGeom>
          <a:solidFill>
            <a:srgbClr val="F1F6F5"/>
          </a:solidFill>
          <a:ln w="0">
            <a:noFill/>
          </a:ln>
        </p:spPr>
      </p:sp>
      <p:sp>
        <p:nvSpPr>
          <p:cNvPr id="4" name="">
            <a:extLst>
              <a:ext uri="{FF2B5EF4-FFF2-40B4-BE49-F238E27FC236}">
                <ns2:creationId id="{8CF9EB7A-23AB-40D7-8ACA-600A258E69AC}"/>
              </a:ext>
            </a:extLst>
          </p:cNvPr>
          <p:cNvSpPr>
            <a:spLocks noGrp="1"/>
          </p:cNvSpPr>
          <p:nvPr/>
        </p:nvSpPr>
        <p:spPr>
          <a:xfrm>
            <a:off x="828675" y="197167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5" name="">
            <a:extLst>
              <a:ext uri="{FF2B5EF4-FFF2-40B4-BE49-F238E27FC236}">
                <ns2:creationId id="{34B71ACA-227B-4AB1-B8A7-39B40ED0DEA3}"/>
              </a:ext>
            </a:extLst>
          </p:cNvPr>
          <p:cNvSpPr>
            <a:spLocks noGrp="1"/>
          </p:cNvSpPr>
          <p:nvPr/>
        </p:nvSpPr>
        <p:spPr>
          <a:xfrm>
            <a:off x="1276350" y="1933575"/>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 화면에 수업 시작을 표시합니다.</a:t>
            </a:r>
          </a:p>
        </p:txBody>
      </p:sp>
      <p:sp>
        <p:nvSpPr>
          <p:cNvPr id="6" name="">
            <a:extLst>
              <a:ext uri="{FF2B5EF4-FFF2-40B4-BE49-F238E27FC236}">
                <ns2:creationId id="{571B7A16-3A7B-46A3-B729-097490F037FF}"/>
              </a:ext>
            </a:extLst>
          </p:cNvPr>
          <p:cNvSpPr>
            <a:spLocks noGrp="1"/>
          </p:cNvSpPr>
          <p:nvPr/>
        </p:nvSpPr>
        <p:spPr>
          <a:xfrm>
            <a:off x="828675" y="228866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7" name="">
            <a:extLst>
              <a:ext uri="{FF2B5EF4-FFF2-40B4-BE49-F238E27FC236}">
                <ns2:creationId id="{8E10CCE5-AA8E-4D4E-9523-FEEA668C4A74}"/>
              </a:ext>
            </a:extLst>
          </p:cNvPr>
          <p:cNvSpPr>
            <a:spLocks noGrp="1"/>
          </p:cNvSpPr>
          <p:nvPr/>
        </p:nvSpPr>
        <p:spPr>
          <a:xfrm>
            <a:off x="1276350" y="2250567"/>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print("Python 점검 시작")</a:t>
            </a:r>
          </a:p>
        </p:txBody>
      </p:sp>
      <p:sp>
        <p:nvSpPr>
          <p:cNvPr id="8" name="">
            <a:extLst>
              <a:ext uri="{FF2B5EF4-FFF2-40B4-BE49-F238E27FC236}">
                <ns2:creationId id="{06EA1F91-E122-4F78-BF98-6E9F49EA95CD}"/>
              </a:ext>
            </a:extLst>
          </p:cNvPr>
          <p:cNvSpPr>
            <a:spLocks noGrp="1"/>
          </p:cNvSpPr>
          <p:nvPr/>
        </p:nvSpPr>
        <p:spPr>
          <a:xfrm>
            <a:off x="828675" y="260565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9" name="">
            <a:extLst>
              <a:ext uri="{FF2B5EF4-FFF2-40B4-BE49-F238E27FC236}">
                <ns2:creationId id="{A1F321CF-17F6-49E7-82EF-7576046969C1}"/>
              </a:ext>
            </a:extLst>
          </p:cNvPr>
          <p:cNvSpPr>
            <a:spLocks noGrp="1"/>
          </p:cNvSpPr>
          <p:nvPr/>
        </p:nvSpPr>
        <p:spPr>
          <a:xfrm>
            <a:off x="1276350" y="2567559"/>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print("S01", 22.5)</a:t>
            </a:r>
          </a:p>
        </p:txBody>
      </p:sp>
      <p:sp>
        <p:nvSpPr>
          <p:cNvPr id="10" name="">
            <a:extLst>
              <a:ext uri="{FF2B5EF4-FFF2-40B4-BE49-F238E27FC236}">
                <ns2:creationId id="{02D8C1AD-43CF-4476-8A62-03B8742E022F}"/>
              </a:ext>
            </a:extLst>
          </p:cNvPr>
          <p:cNvSpPr>
            <a:spLocks noGrp="1"/>
          </p:cNvSpPr>
          <p:nvPr/>
        </p:nvSpPr>
        <p:spPr>
          <a:xfrm>
            <a:off x="8143875" y="1828800"/>
            <a:ext cx="3333750" cy="4095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실행 결과</a:t>
            </a:r>
          </a:p>
        </p:txBody>
      </p:sp>
      <p:sp>
        <p:nvSpPr>
          <p:cNvPr id="11" name="">
            <a:extLst>
              <a:ext uri="{FF2B5EF4-FFF2-40B4-BE49-F238E27FC236}">
                <ns2:creationId id="{1205365F-A9A6-4919-9DC6-E0F9A654C793}"/>
              </a:ext>
            </a:extLst>
          </p:cNvPr>
          <p:cNvSpPr>
            <a:spLocks noGrp="1"/>
          </p:cNvSpPr>
          <p:nvPr/>
        </p:nvSpPr>
        <p:spPr>
          <a:xfrm>
            <a:off x="8143875" y="2409825"/>
            <a:ext cx="3333750" cy="417767"/>
          </a:xfrm>
          <a:prstGeom prst="rect">
            <a:avLst/>
          </a:prstGeom>
          <a:noFill/>
          <a:ln w="0">
            <a:noFill/>
          </a:ln>
        </p:spPr>
        <p:txBody>
          <a:bodyPr wrap="square" lIns="0" tIns="0" rIns="0" bIns="0">
            <a:noAutofit/>
          </a:bodyPr>
          <a:lstStyle/>
          <a:p>
            <a:pPr>
              <a:defRPr sz="2025" b="0">
                <a:solidFill>
                  <a:srgbClr val="172F39"/>
                </a:solidFill>
                <a:latin typeface="Noto Sans KR"/>
                <a:ea typeface="Noto Sans KR"/>
                <a:cs typeface="Noto Sans KR"/>
              </a:defRPr>
            </a:pPr>
            <a:r>
              <a:t>Python 점검 시작</a:t>
            </a:r>
          </a:p>
        </p:txBody>
      </p:sp>
      <p:sp>
        <p:nvSpPr>
          <p:cNvPr id="12" name="">
            <a:extLst>
              <a:ext uri="{FF2B5EF4-FFF2-40B4-BE49-F238E27FC236}">
                <ns2:creationId id="{DABA3FED-B256-4001-AEE1-219590A8CCEC}"/>
              </a:ext>
            </a:extLst>
          </p:cNvPr>
          <p:cNvSpPr>
            <a:spLocks noGrp="1"/>
          </p:cNvSpPr>
          <p:nvPr/>
        </p:nvSpPr>
        <p:spPr>
          <a:xfrm>
            <a:off x="8143875" y="2875217"/>
            <a:ext cx="3333750" cy="417767"/>
          </a:xfrm>
          <a:prstGeom prst="rect">
            <a:avLst/>
          </a:prstGeom>
          <a:noFill/>
          <a:ln w="0">
            <a:noFill/>
          </a:ln>
        </p:spPr>
        <p:txBody>
          <a:bodyPr wrap="square" lIns="0" tIns="0" rIns="0" bIns="0">
            <a:noAutofit/>
          </a:bodyPr>
          <a:lstStyle/>
          <a:p>
            <a:pPr>
              <a:defRPr sz="2025" b="0">
                <a:solidFill>
                  <a:srgbClr val="172F39"/>
                </a:solidFill>
                <a:latin typeface="Noto Sans KR"/>
                <a:ea typeface="Noto Sans KR"/>
                <a:cs typeface="Noto Sans KR"/>
              </a:defRPr>
            </a:pPr>
            <a:r>
              <a:t>S01 22.5</a:t>
            </a:r>
          </a:p>
        </p:txBody>
      </p:sp>
      <p:sp>
        <p:nvSpPr>
          <p:cNvPr id="13" name="">
            <a:extLst>
              <a:ext uri="{FF2B5EF4-FFF2-40B4-BE49-F238E27FC236}">
                <ns2:creationId id="{6A81EB74-23D1-439E-8BFE-E1824A1CB57C}"/>
              </a:ext>
            </a:extLst>
          </p:cNvPr>
          <p:cNvSpPr>
            <a:spLocks noGrp="1"/>
          </p:cNvSpPr>
          <p:nvPr/>
        </p:nvSpPr>
        <p:spPr>
          <a:xfrm>
            <a:off x="685800" y="6172200"/>
            <a:ext cx="10820400" cy="9525"/>
          </a:xfrm>
          <a:prstGeom prst="rect">
            <a:avLst/>
          </a:prstGeom>
          <a:solidFill>
            <a:srgbClr val="D5DEDD"/>
          </a:solidFill>
          <a:ln w="0">
            <a:noFill/>
          </a:ln>
        </p:spPr>
      </p:sp>
      <p:sp>
        <p:nvSpPr>
          <p:cNvPr id="14" name="">
            <a:extLst>
              <a:ext uri="{FF2B5EF4-FFF2-40B4-BE49-F238E27FC236}">
                <ns2:creationId id="{B6E19696-9BE0-4C42-8732-479C3BC4FF47}"/>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5" name="">
            <a:extLst>
              <a:ext uri="{FF2B5EF4-FFF2-40B4-BE49-F238E27FC236}">
                <ns2:creationId id="{0BF620D9-B04E-4DDF-8B64-CD4C2764349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6" name="">
            <a:extLst>
              <a:ext uri="{FF2B5EF4-FFF2-40B4-BE49-F238E27FC236}">
                <ns2:creationId id="{8DE3BEE7-07C7-4C21-9736-FEC1F4F828E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7" name="">
            <a:extLst>
              <a:ext uri="{FF2B5EF4-FFF2-40B4-BE49-F238E27FC236}">
                <ns2:creationId id="{619916B4-6008-4427-8DA5-4EA8EC6FBB8D}"/>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009</a:t>
            </a:r>
          </a:p>
        </p:txBody>
      </p:sp>
    </p:spTree>
    <p:extLst>
      <p:ext uri="{BB962C8B-B14F-4D97-AF65-F5344CB8AC3E}">
        <ns4:creationId val="1066966612"/>
      </p:ext>
    </p:extLst>
  </p:cSld>
</p:sld>
</file>

<file path=ppt/slides/slide1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9" name="">
            <a:extLst>
              <a:ext uri="{FF2B5EF4-FFF2-40B4-BE49-F238E27FC236}">
                <ns2:creationId id="{59AAB9E2-B9CA-4B7D-84B2-32AFA5A79861}"/>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B767846F-E804-40A7-8ACD-E5C6E6D8FAB8}"/>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첫 코드의 세 줄</a:t>
            </a:r>
          </a:p>
        </p:txBody>
      </p:sp>
      <p:sp>
        <p:nvSpPr>
          <p:cNvPr id="3" name="">
            <a:extLst>
              <a:ext uri="{FF2B5EF4-FFF2-40B4-BE49-F238E27FC236}">
                <ns2:creationId id="{0D482732-FACE-4764-A910-47D387EF69F7}"/>
              </a:ext>
            </a:extLst>
          </p:cNvPr>
          <p:cNvSpPr>
            <a:spLocks noGrp="1"/>
          </p:cNvSpPr>
          <p:nvPr/>
        </p:nvSpPr>
        <p:spPr>
          <a:xfrm>
            <a:off x="685800" y="193357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#으로 시작한 줄은 주석입니다.</a:t>
            </a:r>
          </a:p>
        </p:txBody>
      </p:sp>
      <p:sp>
        <p:nvSpPr>
          <p:cNvPr id="4" name="">
            <a:extLst>
              <a:ext uri="{FF2B5EF4-FFF2-40B4-BE49-F238E27FC236}">
                <ns2:creationId id="{A8296B88-641C-4B3B-A939-B4C1C311AA16}"/>
              </a:ext>
            </a:extLst>
          </p:cNvPr>
          <p:cNvSpPr>
            <a:spLocks noGrp="1"/>
          </p:cNvSpPr>
          <p:nvPr/>
        </p:nvSpPr>
        <p:spPr>
          <a:xfrm>
            <a:off x="685800" y="243268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print는 괄호 안 값을 화면에 보여 줍니다.</a:t>
            </a:r>
          </a:p>
        </p:txBody>
      </p:sp>
      <p:sp>
        <p:nvSpPr>
          <p:cNvPr id="5" name="">
            <a:extLst>
              <a:ext uri="{FF2B5EF4-FFF2-40B4-BE49-F238E27FC236}">
                <ns2:creationId id="{E8160DC4-6C0D-4307-BCB2-AD3B51A19C3A}"/>
              </a:ext>
            </a:extLst>
          </p:cNvPr>
          <p:cNvSpPr>
            <a:spLocks noGrp="1"/>
          </p:cNvSpPr>
          <p:nvPr/>
        </p:nvSpPr>
        <p:spPr>
          <a:xfrm>
            <a:off x="685800" y="326898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큰따옴표 안 글자는 문자열입니다.</a:t>
            </a:r>
          </a:p>
        </p:txBody>
      </p:sp>
      <p:sp>
        <p:nvSpPr>
          <p:cNvPr id="6" name="">
            <a:extLst>
              <a:ext uri="{FF2B5EF4-FFF2-40B4-BE49-F238E27FC236}">
                <ns2:creationId id="{0F041632-178A-496E-89E1-0FEE822281A4}"/>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완성 예 · 첫 출력</a:t>
            </a:r>
          </a:p>
        </p:txBody>
      </p:sp>
      <p:sp>
        <p:nvSpPr>
          <p:cNvPr id="7" name="">
            <a:extLst>
              <a:ext uri="{FF2B5EF4-FFF2-40B4-BE49-F238E27FC236}">
                <ns2:creationId id="{192F951D-3F94-4483-BBF3-7A0A0B8B133A}"/>
              </a:ext>
            </a:extLst>
          </p:cNvPr>
          <p:cNvSpPr>
            <a:spLocks noGrp="1"/>
          </p:cNvSpPr>
          <p:nvPr/>
        </p:nvSpPr>
        <p:spPr>
          <a:xfrm>
            <a:off x="6267450" y="2628900"/>
            <a:ext cx="5238750" cy="1201674"/>
          </a:xfrm>
          <a:prstGeom prst="rect">
            <a:avLst/>
          </a:prstGeom>
          <a:solidFill>
            <a:srgbClr val="F1F6F5"/>
          </a:solidFill>
          <a:ln w="0">
            <a:noFill/>
          </a:ln>
        </p:spPr>
      </p:sp>
      <p:sp>
        <p:nvSpPr>
          <p:cNvPr id="8" name="">
            <a:extLst>
              <a:ext uri="{FF2B5EF4-FFF2-40B4-BE49-F238E27FC236}">
                <ns2:creationId id="{EDFF0D12-3094-43BD-894A-E72E2DFA785D}"/>
              </a:ext>
            </a:extLst>
          </p:cNvPr>
          <p:cNvSpPr>
            <a:spLocks noGrp="1"/>
          </p:cNvSpPr>
          <p:nvPr/>
        </p:nvSpPr>
        <p:spPr>
          <a:xfrm>
            <a:off x="6410325" y="2790825"/>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9" name="">
            <a:extLst>
              <a:ext uri="{FF2B5EF4-FFF2-40B4-BE49-F238E27FC236}">
                <ns2:creationId id="{B1D0D337-062A-4AFC-A876-04AF3A52CF47}"/>
              </a:ext>
            </a:extLst>
          </p:cNvPr>
          <p:cNvSpPr>
            <a:spLocks noGrp="1"/>
          </p:cNvSpPr>
          <p:nvPr/>
        </p:nvSpPr>
        <p:spPr>
          <a:xfrm>
            <a:off x="6858000" y="2752725"/>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 화면에 수업 시작을 표시합니다.</a:t>
            </a:r>
          </a:p>
        </p:txBody>
      </p:sp>
      <p:sp>
        <p:nvSpPr>
          <p:cNvPr id="10" name="">
            <a:extLst>
              <a:ext uri="{FF2B5EF4-FFF2-40B4-BE49-F238E27FC236}">
                <ns2:creationId id="{AF312472-264E-47B0-B9AA-2A9CD6C8EAF6}"/>
              </a:ext>
            </a:extLst>
          </p:cNvPr>
          <p:cNvSpPr>
            <a:spLocks noGrp="1"/>
          </p:cNvSpPr>
          <p:nvPr/>
        </p:nvSpPr>
        <p:spPr>
          <a:xfrm>
            <a:off x="6410325" y="3083433"/>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11" name="">
            <a:extLst>
              <a:ext uri="{FF2B5EF4-FFF2-40B4-BE49-F238E27FC236}">
                <ns2:creationId id="{A49B2674-A275-4834-96FF-C8AB389E80AC}"/>
              </a:ext>
            </a:extLst>
          </p:cNvPr>
          <p:cNvSpPr>
            <a:spLocks noGrp="1"/>
          </p:cNvSpPr>
          <p:nvPr/>
        </p:nvSpPr>
        <p:spPr>
          <a:xfrm>
            <a:off x="6858000" y="3045333"/>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print("Python 점검 시작")</a:t>
            </a:r>
          </a:p>
        </p:txBody>
      </p:sp>
      <p:sp>
        <p:nvSpPr>
          <p:cNvPr id="12" name="">
            <a:extLst>
              <a:ext uri="{FF2B5EF4-FFF2-40B4-BE49-F238E27FC236}">
                <ns2:creationId id="{F52CF477-65AE-4831-B929-176CD623FB4B}"/>
              </a:ext>
            </a:extLst>
          </p:cNvPr>
          <p:cNvSpPr>
            <a:spLocks noGrp="1"/>
          </p:cNvSpPr>
          <p:nvPr/>
        </p:nvSpPr>
        <p:spPr>
          <a:xfrm>
            <a:off x="6410325" y="3376041"/>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3" name="">
            <a:extLst>
              <a:ext uri="{FF2B5EF4-FFF2-40B4-BE49-F238E27FC236}">
                <ns2:creationId id="{5A0B84B8-DEDA-4625-AA2F-D8F6BDBD4B34}"/>
              </a:ext>
            </a:extLst>
          </p:cNvPr>
          <p:cNvSpPr>
            <a:spLocks noGrp="1"/>
          </p:cNvSpPr>
          <p:nvPr/>
        </p:nvSpPr>
        <p:spPr>
          <a:xfrm>
            <a:off x="6858000" y="3337941"/>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print("S01", 22.5)</a:t>
            </a:r>
          </a:p>
        </p:txBody>
      </p:sp>
      <p:sp>
        <p:nvSpPr>
          <p:cNvPr id="14" name="">
            <a:extLst>
              <a:ext uri="{FF2B5EF4-FFF2-40B4-BE49-F238E27FC236}">
                <ns2:creationId id="{A2E95E32-C3C6-42CC-9B46-F23E78919010}"/>
              </a:ext>
            </a:extLst>
          </p:cNvPr>
          <p:cNvSpPr>
            <a:spLocks noGrp="1"/>
          </p:cNvSpPr>
          <p:nvPr/>
        </p:nvSpPr>
        <p:spPr>
          <a:xfrm>
            <a:off x="685800" y="6172200"/>
            <a:ext cx="10820400" cy="9525"/>
          </a:xfrm>
          <a:prstGeom prst="rect">
            <a:avLst/>
          </a:prstGeom>
          <a:solidFill>
            <a:srgbClr val="D5DEDD"/>
          </a:solidFill>
          <a:ln w="0">
            <a:noFill/>
          </a:ln>
        </p:spPr>
      </p:sp>
      <p:sp>
        <p:nvSpPr>
          <p:cNvPr id="15" name="">
            <a:extLst>
              <a:ext uri="{FF2B5EF4-FFF2-40B4-BE49-F238E27FC236}">
                <ns2:creationId id="{9350AC76-C292-4320-9877-5BB4D81EB76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6" name="">
            <a:extLst>
              <a:ext uri="{FF2B5EF4-FFF2-40B4-BE49-F238E27FC236}">
                <ns2:creationId id="{54E61191-2A79-450F-AE09-C4F1FCFB1614}"/>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7" name="">
            <a:extLst>
              <a:ext uri="{FF2B5EF4-FFF2-40B4-BE49-F238E27FC236}">
                <ns2:creationId id="{33375629-D22D-4E4A-9D5E-394BB2CE952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8" name="">
            <a:extLst>
              <a:ext uri="{FF2B5EF4-FFF2-40B4-BE49-F238E27FC236}">
                <ns2:creationId id="{1E01CA6C-BB93-4F83-98DE-6DD433A2C118}"/>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010</a:t>
            </a:r>
          </a:p>
        </p:txBody>
      </p:sp>
    </p:spTree>
    <p:extLst>
      <p:ext uri="{BB962C8B-B14F-4D97-AF65-F5344CB8AC3E}">
        <ns4:creationId val="1714444705"/>
      </p:ext>
    </p:extLst>
  </p:cSld>
</p:sld>
</file>

<file path=ppt/slides/slide1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72779AD3-79DA-43A8-9701-4A261FD5AA11}"/>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B4608D20-12C1-4F76-9CCC-C9FCF1382314}"/>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예상 출력 · 두 줄</a:t>
            </a:r>
          </a:p>
        </p:txBody>
      </p:sp>
      <p:sp>
        <p:nvSpPr>
          <p:cNvPr id="3" name="">
            <a:extLst>
              <a:ext uri="{FF2B5EF4-FFF2-40B4-BE49-F238E27FC236}">
                <ns2:creationId id="{F4B998AD-5F07-44C6-99D9-8D75B055CABB}"/>
              </a:ext>
            </a:extLst>
          </p:cNvPr>
          <p:cNvSpPr>
            <a:spLocks noGrp="1"/>
          </p:cNvSpPr>
          <p:nvPr/>
        </p:nvSpPr>
        <p:spPr>
          <a:xfrm>
            <a:off x="685800" y="1809750"/>
            <a:ext cx="10820400" cy="957834"/>
          </a:xfrm>
          <a:prstGeom prst="rect">
            <a:avLst/>
          </a:prstGeom>
          <a:solidFill>
            <a:srgbClr val="F1F6F5"/>
          </a:solidFill>
          <a:ln w="0">
            <a:noFill/>
          </a:ln>
        </p:spPr>
      </p:sp>
      <p:sp>
        <p:nvSpPr>
          <p:cNvPr id="4" name="">
            <a:extLst>
              <a:ext uri="{FF2B5EF4-FFF2-40B4-BE49-F238E27FC236}">
                <ns2:creationId id="{CFC7CBE4-40A7-4082-A0DA-4D40BA95C8DD}"/>
              </a:ext>
            </a:extLst>
          </p:cNvPr>
          <p:cNvSpPr>
            <a:spLocks noGrp="1"/>
          </p:cNvSpPr>
          <p:nvPr/>
        </p:nvSpPr>
        <p:spPr>
          <a:xfrm>
            <a:off x="828675" y="197167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5" name="">
            <a:extLst>
              <a:ext uri="{FF2B5EF4-FFF2-40B4-BE49-F238E27FC236}">
                <ns2:creationId id="{BED91566-418F-4A7F-AC75-DE6E9AB9A591}"/>
              </a:ext>
            </a:extLst>
          </p:cNvPr>
          <p:cNvSpPr>
            <a:spLocks noGrp="1"/>
          </p:cNvSpPr>
          <p:nvPr/>
        </p:nvSpPr>
        <p:spPr>
          <a:xfrm>
            <a:off x="1276350" y="193357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Python 점검 시작</a:t>
            </a:r>
          </a:p>
        </p:txBody>
      </p:sp>
      <p:sp>
        <p:nvSpPr>
          <p:cNvPr id="6" name="">
            <a:extLst>
              <a:ext uri="{FF2B5EF4-FFF2-40B4-BE49-F238E27FC236}">
                <ns2:creationId id="{424AAB98-5FA0-4AF9-A7B0-8522DA4DD5A1}"/>
              </a:ext>
            </a:extLst>
          </p:cNvPr>
          <p:cNvSpPr>
            <a:spLocks noGrp="1"/>
          </p:cNvSpPr>
          <p:nvPr/>
        </p:nvSpPr>
        <p:spPr>
          <a:xfrm>
            <a:off x="828675" y="228866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7" name="">
            <a:extLst>
              <a:ext uri="{FF2B5EF4-FFF2-40B4-BE49-F238E27FC236}">
                <ns2:creationId id="{EE3B3A48-2DB1-4086-AC4B-418DDFDCB663}"/>
              </a:ext>
            </a:extLst>
          </p:cNvPr>
          <p:cNvSpPr>
            <a:spLocks noGrp="1"/>
          </p:cNvSpPr>
          <p:nvPr/>
        </p:nvSpPr>
        <p:spPr>
          <a:xfrm>
            <a:off x="1276350" y="225056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S01 22.5</a:t>
            </a:r>
          </a:p>
        </p:txBody>
      </p:sp>
      <p:sp>
        <p:nvSpPr>
          <p:cNvPr id="8" name="">
            <a:extLst>
              <a:ext uri="{FF2B5EF4-FFF2-40B4-BE49-F238E27FC236}">
                <ns2:creationId id="{D1079BCC-B584-424D-8161-609A50B84EF1}"/>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CB1334A1-CA4E-4D88-BC64-DFAA8557349D}"/>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3A056F98-B3DA-4452-8F0D-FC17D9A35DC9}"/>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62803C6B-FD03-4438-A637-E00375672F2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8EAFC1A1-E00B-44A6-9ECE-14BE47430F16}"/>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011</a:t>
            </a:r>
          </a:p>
        </p:txBody>
      </p:sp>
    </p:spTree>
    <p:extLst>
      <p:ext uri="{BB962C8B-B14F-4D97-AF65-F5344CB8AC3E}">
        <ns4:creationId val="720858086"/>
      </p:ext>
    </p:extLst>
  </p:cSld>
</p:sld>
</file>

<file path=ppt/slides/slide1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5" name="">
            <a:extLst>
              <a:ext uri="{FF2B5EF4-FFF2-40B4-BE49-F238E27FC236}">
                <ns2:creationId id="{8DE3E2AC-FE66-441D-95A4-888443853C9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B8F51851-17F7-43BA-8D5F-3A76E1F6F0A1}"/>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실행 위치를 확인하기</a:t>
            </a:r>
          </a:p>
        </p:txBody>
      </p:sp>
      <p:sp>
        <p:nvSpPr>
          <p:cNvPr id="3" name="">
            <a:extLst>
              <a:ext uri="{FF2B5EF4-FFF2-40B4-BE49-F238E27FC236}">
                <ns2:creationId id="{5E998E68-9235-4585-8687-A64FC033CBED}"/>
              </a:ext>
            </a:extLst>
          </p:cNvPr>
          <p:cNvSpPr>
            <a:spLocks noGrp="1"/>
          </p:cNvSpPr>
          <p:nvPr/>
        </p:nvSpPr>
        <p:spPr>
          <a:xfrm>
            <a:off x="685800" y="193357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ZIP을 모두 추출합니다.</a:t>
            </a:r>
          </a:p>
        </p:txBody>
      </p:sp>
      <p:sp>
        <p:nvSpPr>
          <p:cNvPr id="4" name="">
            <a:extLst>
              <a:ext uri="{FF2B5EF4-FFF2-40B4-BE49-F238E27FC236}">
                <ns2:creationId id="{C543B3F7-770B-49EE-BDE7-3EFC1F492233}"/>
              </a:ext>
            </a:extLst>
          </p:cNvPr>
          <p:cNvSpPr>
            <a:spLocks noGrp="1"/>
          </p:cNvSpPr>
          <p:nvPr/>
        </p:nvSpPr>
        <p:spPr>
          <a:xfrm>
            <a:off x="685800" y="243268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course 폴더에서 PowerShell을 엽니다.</a:t>
            </a:r>
          </a:p>
        </p:txBody>
      </p:sp>
      <p:sp>
        <p:nvSpPr>
          <p:cNvPr id="5" name="">
            <a:extLst>
              <a:ext uri="{FF2B5EF4-FFF2-40B4-BE49-F238E27FC236}">
                <ns2:creationId id="{B84CD02C-CFA4-412A-893D-F8E5B4FF1842}"/>
              </a:ext>
            </a:extLst>
          </p:cNvPr>
          <p:cNvSpPr>
            <a:spLocks noGrp="1"/>
          </p:cNvSpPr>
          <p:nvPr/>
        </p:nvSpPr>
        <p:spPr>
          <a:xfrm>
            <a:off x="685800" y="326898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code·data·work가 보이는지 확인합니다.</a:t>
            </a:r>
          </a:p>
        </p:txBody>
      </p:sp>
      <p:sp>
        <p:nvSpPr>
          <p:cNvPr id="6" name="">
            <a:extLst>
              <a:ext uri="{FF2B5EF4-FFF2-40B4-BE49-F238E27FC236}">
                <ns2:creationId id="{82FAE87A-D8F4-4B6D-ACA8-23F727B63921}"/>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입력할 실행 명령</a:t>
            </a:r>
          </a:p>
        </p:txBody>
      </p:sp>
      <p:sp>
        <p:nvSpPr>
          <p:cNvPr id="7" name="">
            <a:extLst>
              <a:ext uri="{FF2B5EF4-FFF2-40B4-BE49-F238E27FC236}">
                <ns2:creationId id="{27CAD3BD-3209-460A-9AED-AB34C82EDC9C}"/>
              </a:ext>
            </a:extLst>
          </p:cNvPr>
          <p:cNvSpPr>
            <a:spLocks noGrp="1"/>
          </p:cNvSpPr>
          <p:nvPr/>
        </p:nvSpPr>
        <p:spPr>
          <a:xfrm>
            <a:off x="6267450" y="2628900"/>
            <a:ext cx="5238750" cy="616458"/>
          </a:xfrm>
          <a:prstGeom prst="rect">
            <a:avLst/>
          </a:prstGeom>
          <a:solidFill>
            <a:srgbClr val="F1F6F5"/>
          </a:solidFill>
          <a:ln w="0">
            <a:noFill/>
          </a:ln>
        </p:spPr>
      </p:sp>
      <p:sp>
        <p:nvSpPr>
          <p:cNvPr id="8" name="">
            <a:extLst>
              <a:ext uri="{FF2B5EF4-FFF2-40B4-BE49-F238E27FC236}">
                <ns2:creationId id="{81FF0073-D9C4-4892-9EB6-15FC1D1CAA45}"/>
              </a:ext>
            </a:extLst>
          </p:cNvPr>
          <p:cNvSpPr>
            <a:spLocks noGrp="1"/>
          </p:cNvSpPr>
          <p:nvPr/>
        </p:nvSpPr>
        <p:spPr>
          <a:xfrm>
            <a:off x="6410325" y="2790825"/>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9" name="">
            <a:extLst>
              <a:ext uri="{FF2B5EF4-FFF2-40B4-BE49-F238E27FC236}">
                <ns2:creationId id="{01F40340-D5FD-4CB0-8202-D4AA86ABF4A5}"/>
              </a:ext>
            </a:extLst>
          </p:cNvPr>
          <p:cNvSpPr>
            <a:spLocks noGrp="1"/>
          </p:cNvSpPr>
          <p:nvPr/>
        </p:nvSpPr>
        <p:spPr>
          <a:xfrm>
            <a:off x="6858000" y="2752725"/>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python -X utf8 code/A02_print.py</a:t>
            </a:r>
          </a:p>
        </p:txBody>
      </p:sp>
      <p:sp>
        <p:nvSpPr>
          <p:cNvPr id="10" name="">
            <a:extLst>
              <a:ext uri="{FF2B5EF4-FFF2-40B4-BE49-F238E27FC236}">
                <ns2:creationId id="{835B51A7-04C4-4FFF-A97F-295A0FC551BE}"/>
              </a:ext>
            </a:extLst>
          </p:cNvPr>
          <p:cNvSpPr>
            <a:spLocks noGrp="1"/>
          </p:cNvSpPr>
          <p:nvPr/>
        </p:nvSpPr>
        <p:spPr>
          <a:xfrm>
            <a:off x="685800" y="6172200"/>
            <a:ext cx="10820400" cy="9525"/>
          </a:xfrm>
          <a:prstGeom prst="rect">
            <a:avLst/>
          </a:prstGeom>
          <a:solidFill>
            <a:srgbClr val="D5DEDD"/>
          </a:solidFill>
          <a:ln w="0">
            <a:noFill/>
          </a:ln>
        </p:spPr>
      </p:sp>
      <p:sp>
        <p:nvSpPr>
          <p:cNvPr id="11" name="">
            <a:extLst>
              <a:ext uri="{FF2B5EF4-FFF2-40B4-BE49-F238E27FC236}">
                <ns2:creationId id="{8C5DD8CC-83A0-4C39-9755-925A789E4764}"/>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2" name="">
            <a:extLst>
              <a:ext uri="{FF2B5EF4-FFF2-40B4-BE49-F238E27FC236}">
                <ns2:creationId id="{ABBB70D7-FF86-4709-AF82-12900A27258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3" name="">
            <a:extLst>
              <a:ext uri="{FF2B5EF4-FFF2-40B4-BE49-F238E27FC236}">
                <ns2:creationId id="{3360281D-35AD-4CD3-BF59-C1DA1528C738}"/>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4" name="">
            <a:extLst>
              <a:ext uri="{FF2B5EF4-FFF2-40B4-BE49-F238E27FC236}">
                <ns2:creationId id="{B0C582AC-7325-4272-AD9D-F939179192E5}"/>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012</a:t>
            </a:r>
          </a:p>
        </p:txBody>
      </p:sp>
    </p:spTree>
    <p:extLst>
      <p:ext uri="{BB962C8B-B14F-4D97-AF65-F5344CB8AC3E}">
        <ns4:creationId val="433950890"/>
      </p:ext>
    </p:extLst>
  </p:cSld>
</p:sld>
</file>

<file path=ppt/slides/slide1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FEDA8CE6-BAFF-4296-B033-F2B7A593B332}"/>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FAB4B4B3-3AB9-4C13-B121-C90A667DB392}"/>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입력할 실행 명령</a:t>
            </a:r>
          </a:p>
        </p:txBody>
      </p:sp>
      <p:sp>
        <p:nvSpPr>
          <p:cNvPr id="3" name="">
            <a:extLst>
              <a:ext uri="{FF2B5EF4-FFF2-40B4-BE49-F238E27FC236}">
                <ns2:creationId id="{9301B743-E69E-4F36-B336-7850C6D4B8FB}"/>
              </a:ext>
            </a:extLst>
          </p:cNvPr>
          <p:cNvSpPr>
            <a:spLocks noGrp="1"/>
          </p:cNvSpPr>
          <p:nvPr/>
        </p:nvSpPr>
        <p:spPr>
          <a:xfrm>
            <a:off x="685800" y="1704975"/>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PS ...&gt; 안내 문구는 입력하지 않습니다.</a:t>
            </a:r>
          </a:p>
        </p:txBody>
      </p:sp>
      <p:sp>
        <p:nvSpPr>
          <p:cNvPr id="4" name="">
            <a:extLst>
              <a:ext uri="{FF2B5EF4-FFF2-40B4-BE49-F238E27FC236}">
                <ns2:creationId id="{3AF41CF5-027C-42D9-ADFA-DBB7998892F8}"/>
              </a:ext>
            </a:extLst>
          </p:cNvPr>
          <p:cNvSpPr>
            <a:spLocks noGrp="1"/>
          </p:cNvSpPr>
          <p:nvPr/>
        </p:nvSpPr>
        <p:spPr>
          <a:xfrm>
            <a:off x="685800" y="2262188"/>
            <a:ext cx="10820400" cy="640842"/>
          </a:xfrm>
          <a:prstGeom prst="rect">
            <a:avLst/>
          </a:prstGeom>
          <a:solidFill>
            <a:srgbClr val="F1F6F5"/>
          </a:solidFill>
          <a:ln w="0">
            <a:noFill/>
          </a:ln>
        </p:spPr>
      </p:sp>
      <p:sp>
        <p:nvSpPr>
          <p:cNvPr id="5" name="">
            <a:extLst>
              <a:ext uri="{FF2B5EF4-FFF2-40B4-BE49-F238E27FC236}">
                <ns2:creationId id="{E61C8DF0-146B-489B-9A47-336E68B02915}"/>
              </a:ext>
            </a:extLst>
          </p:cNvPr>
          <p:cNvSpPr>
            <a:spLocks noGrp="1"/>
          </p:cNvSpPr>
          <p:nvPr/>
        </p:nvSpPr>
        <p:spPr>
          <a:xfrm>
            <a:off x="828675" y="242411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6" name="">
            <a:extLst>
              <a:ext uri="{FF2B5EF4-FFF2-40B4-BE49-F238E27FC236}">
                <ns2:creationId id="{6CD55B26-43BC-4608-9B7F-1C81DD338EB7}"/>
              </a:ext>
            </a:extLst>
          </p:cNvPr>
          <p:cNvSpPr>
            <a:spLocks noGrp="1"/>
          </p:cNvSpPr>
          <p:nvPr/>
        </p:nvSpPr>
        <p:spPr>
          <a:xfrm>
            <a:off x="1276350" y="2386013"/>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python -X utf8 code/A02_print.py</a:t>
            </a:r>
          </a:p>
        </p:txBody>
      </p:sp>
      <p:sp>
        <p:nvSpPr>
          <p:cNvPr id="7" name="">
            <a:extLst>
              <a:ext uri="{FF2B5EF4-FFF2-40B4-BE49-F238E27FC236}">
                <ns2:creationId id="{B359508C-C60C-478C-9B6F-6128EED9648A}"/>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B2EE03F4-C765-48C6-BD38-5EC3163B1D94}"/>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80486589-58CA-420E-9191-98310280A2FE}"/>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03A17C5F-7CB9-44CD-B6A4-121DD978CF1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44220952-E552-4776-B5CF-9268C2FCB9D3}"/>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013</a:t>
            </a:r>
          </a:p>
        </p:txBody>
      </p:sp>
    </p:spTree>
    <p:extLst>
      <p:ext uri="{BB962C8B-B14F-4D97-AF65-F5344CB8AC3E}">
        <ns4:creationId val="183968627"/>
      </p:ext>
    </p:extLst>
  </p:cSld>
</p:sld>
</file>

<file path=ppt/slides/slide1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D784D4E1-BEB5-46E9-9C33-8B89D5524CEF}"/>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F0EC8AF5-81CC-4998-A526-EC9193F67B26}"/>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오류가 나면 무엇부터 볼까요?</a:t>
            </a:r>
          </a:p>
        </p:txBody>
      </p:sp>
      <p:sp>
        <p:nvSpPr>
          <p:cNvPr id="3" name="">
            <a:extLst>
              <a:ext uri="{FF2B5EF4-FFF2-40B4-BE49-F238E27FC236}">
                <ns2:creationId id="{0594AE66-438B-4CF9-82F9-4111AB0D58BF}"/>
              </a:ext>
            </a:extLst>
          </p:cNvPr>
          <p:cNvSpPr>
            <a:spLocks noGrp="1"/>
          </p:cNvSpPr>
          <p:nvPr/>
        </p:nvSpPr>
        <p:spPr>
          <a:xfrm>
            <a:off x="685800" y="193357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파일 없음: 위치·이름·확장자를 봅니다.</a:t>
            </a:r>
          </a:p>
        </p:txBody>
      </p:sp>
      <p:sp>
        <p:nvSpPr>
          <p:cNvPr id="4" name="">
            <a:extLst>
              <a:ext uri="{FF2B5EF4-FFF2-40B4-BE49-F238E27FC236}">
                <ns2:creationId id="{14F1F6BD-69D2-444C-A9A9-DDC7A81429DE}"/>
              </a:ext>
            </a:extLst>
          </p:cNvPr>
          <p:cNvSpPr>
            <a:spLocks noGrp="1"/>
          </p:cNvSpPr>
          <p:nvPr/>
        </p:nvSpPr>
        <p:spPr>
          <a:xfrm>
            <a:off x="685800" y="276987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문법 오류: 따옴표와 괄호의 짝을 봅니다.</a:t>
            </a:r>
          </a:p>
        </p:txBody>
      </p:sp>
      <p:sp>
        <p:nvSpPr>
          <p:cNvPr id="5" name="">
            <a:extLst>
              <a:ext uri="{FF2B5EF4-FFF2-40B4-BE49-F238E27FC236}">
                <ns2:creationId id="{CC229DB8-3B30-47AF-AC9B-3C3EA2AED1A2}"/>
              </a:ext>
            </a:extLst>
          </p:cNvPr>
          <p:cNvSpPr>
            <a:spLocks noGrp="1"/>
          </p:cNvSpPr>
          <p:nvPr/>
        </p:nvSpPr>
        <p:spPr>
          <a:xfrm>
            <a:off x="685800" y="360616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옛 문구: 저장 여부와 실행 경로를 봅니다.</a:t>
            </a:r>
          </a:p>
        </p:txBody>
      </p:sp>
      <p:sp>
        <p:nvSpPr>
          <p:cNvPr id="6" name="">
            <a:extLst>
              <a:ext uri="{FF2B5EF4-FFF2-40B4-BE49-F238E27FC236}">
                <ns2:creationId id="{AF7D2464-2B29-42AC-A5A1-AD0CA026CCC4}"/>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편집한 파일과 실행한 파일</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1488281"/>
                <a:gridCol w="3750469"/>
              </a:tblGrid>
              <a:tr h="514350">
                <a:tc>
                  <a:txBody>
                    <a:bodyPr wrap="square"/>
                    <a:lstStyle/>
                    <a:p>
                      <a:pPr>
                        <a:lnSpc>
                          <a:spcPct val="102000"/>
                        </a:lnSpc>
                        <a:buNone/>
                      </a:pPr>
                      <a:r>
                        <a:rPr sz="1875" b="1">
                          <a:solidFill>
                            <a:srgbClr val="172F39"/>
                          </a:solidFill>
                          <a:latin typeface="Noto Sans KR"/>
                          <a:ea typeface="Noto Sans KR"/>
                          <a:cs typeface="Noto Sans KR"/>
                        </a:rPr>
                        <a:t>단계</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확인 대상</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편집</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화면에 쓴 새 글</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저장</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디스크의 work 파일</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실행</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명령이 가리키는 파일</a:t>
                      </a:r>
                    </a:p>
                  </a:txBody>
                  <a:tcPr marL="114300" marR="114300" marT="76200" marB="76200" anchor="ctr">
                    <a:solidFill>
                      <a:srgbClr val="FFFFFF"/>
                    </a:solidFill>
                  </a:tcPr>
                </a:tc>
              </a:tr>
            </a:tbl>
          </a:graphicData>
        </a:graphic>
      </p:graphicFrame>
      <p:sp>
        <p:nvSpPr>
          <p:cNvPr id="8" name="">
            <a:extLst>
              <a:ext uri="{FF2B5EF4-FFF2-40B4-BE49-F238E27FC236}">
                <ns2:creationId id="{08DF58EF-1C69-4029-8B3F-1BA3DBC05058}"/>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716DA136-C390-4A43-9CC3-A7CDFF13FCB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495831A3-0A19-4472-99FD-FA1976A3EBBA}"/>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6F3AFEF6-84B7-41DD-BB3D-53B3875330EC}"/>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9368A883-91B7-4188-9919-1960E47B201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014</a:t>
            </a:r>
          </a:p>
        </p:txBody>
      </p:sp>
    </p:spTree>
    <p:extLst>
      <p:ext uri="{BB962C8B-B14F-4D97-AF65-F5344CB8AC3E}">
        <ns4:creationId val="1533724815"/>
      </p:ext>
    </p:extLst>
  </p:cSld>
</p:sld>
</file>

<file path=ppt/slides/slide1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522D7011-96CD-4456-84FE-FE9B24585499}"/>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88C20E36-5676-45A1-8C49-8D9D8F8741A4}"/>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고쳤는데 이전 문구가 나와요</a:t>
            </a:r>
          </a:p>
        </p:txBody>
      </p:sp>
      <p:sp>
        <p:nvSpPr>
          <p:cNvPr id="3" name="">
            <a:extLst>
              <a:ext uri="{FF2B5EF4-FFF2-40B4-BE49-F238E27FC236}">
                <ns2:creationId id="{044664B0-6DA3-4905-BDDF-36C2E2CEEC97}"/>
              </a:ext>
            </a:extLst>
          </p:cNvPr>
          <p:cNvSpPr>
            <a:spLocks noGrp="1"/>
          </p:cNvSpPr>
          <p:nvPr/>
        </p:nvSpPr>
        <p:spPr>
          <a:xfrm>
            <a:off x="685800" y="1933575"/>
            <a:ext cx="4800600" cy="788670"/>
          </a:xfrm>
          <a:prstGeom prst="rect">
            <a:avLst/>
          </a:prstGeom>
          <a:noFill/>
          <a:ln w="0">
            <a:noFill/>
          </a:ln>
        </p:spPr>
        <p:txBody>
          <a:bodyPr wrap="square" lIns="0" tIns="0" rIns="0" bIns="0">
            <a:noAutofit/>
          </a:bodyPr>
          <a:lstStyle/>
          <a:p>
            <a:pPr>
              <a:defRPr sz="2250" b="1">
                <a:solidFill>
                  <a:srgbClr val="172F39"/>
                </a:solidFill>
                <a:latin typeface="Noto Sans KR"/>
                <a:ea typeface="Noto Sans KR"/>
                <a:cs typeface="Noto Sans KR"/>
              </a:defRPr>
            </a:pPr>
            <a:r>
              <a:t>문구를 고쳤는데 실행 결과는 이전 문구입니다.</a:t>
            </a:r>
          </a:p>
        </p:txBody>
      </p:sp>
      <p:sp>
        <p:nvSpPr>
          <p:cNvPr id="4" name="">
            <a:extLst>
              <a:ext uri="{FF2B5EF4-FFF2-40B4-BE49-F238E27FC236}">
                <ns2:creationId id="{FA31DD28-E741-47C8-9982-1C3FD8EEB63A}"/>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편집한 파일과 실행한 파일</a:t>
            </a:r>
          </a:p>
        </p:txBody>
      </p:sp>
      <p:graphicFrame>
        <p:nvGraphicFramePr>
          <p:cNvPr id="15" name=""/>
          <p:cNvGraphicFramePr/>
          <p:nvPr/>
        </p:nvGraphicFramePr>
        <p:xfrm>
          <a:off x="6267450" y="2628900"/>
          <a:ext cx="5238750" cy="2057400"/>
        </p:xfrm>
        <a:graphic>
          <a:graphicData uri="http://schemas.openxmlformats.org/drawingml/2006/table">
            <a:tbl>
              <a:tblPr firstRow="1" bandRow="0"/>
              <a:tblGrid>
                <a:gridCol w="1488281"/>
                <a:gridCol w="3750469"/>
              </a:tblGrid>
              <a:tr h="514350">
                <a:tc>
                  <a:txBody>
                    <a:bodyPr wrap="square"/>
                    <a:lstStyle/>
                    <a:p>
                      <a:pPr>
                        <a:lnSpc>
                          <a:spcPct val="102000"/>
                        </a:lnSpc>
                        <a:buNone/>
                      </a:pPr>
                      <a:r>
                        <a:rPr sz="1875" b="1">
                          <a:solidFill>
                            <a:srgbClr val="172F39"/>
                          </a:solidFill>
                          <a:latin typeface="Noto Sans KR"/>
                          <a:ea typeface="Noto Sans KR"/>
                          <a:cs typeface="Noto Sans KR"/>
                        </a:rPr>
                        <a:t>단계</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확인 대상</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편집</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화면에 쓴 새 글</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저장</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디스크의 work 파일</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실행</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명령이 가리키는 파일</a:t>
                      </a:r>
                    </a:p>
                  </a:txBody>
                  <a:tcPr marL="114300" marR="114300" marT="76200" marB="76200" anchor="ctr">
                    <a:solidFill>
                      <a:srgbClr val="FFFFFF"/>
                    </a:solidFill>
                  </a:tcPr>
                </a:tc>
              </a:tr>
            </a:tbl>
          </a:graphicData>
        </a:graphic>
      </p:graphicFrame>
      <p:sp>
        <p:nvSpPr>
          <p:cNvPr id="6" name="">
            <a:extLst>
              <a:ext uri="{FF2B5EF4-FFF2-40B4-BE49-F238E27FC236}">
                <ns2:creationId id="{7EDD9871-8C05-4A91-976B-2D563AA86C6D}"/>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FC7D3B3A-908F-4F1C-812C-930B6531DCD5}"/>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A6368A6C-800C-4F6E-8829-985EF0251A37}"/>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8DCA3AE3-CA6B-4232-97F3-20B4876C7F6C}"/>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98B9368B-1C0A-4985-AD4B-195273F7915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015</a:t>
            </a:r>
          </a:p>
        </p:txBody>
      </p:sp>
    </p:spTree>
    <p:extLst>
      <p:ext uri="{BB962C8B-B14F-4D97-AF65-F5344CB8AC3E}">
        <ns4:creationId val="477120411"/>
      </p:ext>
    </p:extLst>
  </p:cSld>
</p:sld>
</file>

<file path=ppt/slides/slide1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9" name="">
            <a:extLst>
              <a:ext uri="{FF2B5EF4-FFF2-40B4-BE49-F238E27FC236}">
                <ns2:creationId id="{86A0AF91-2678-4280-9900-9BA29B2C3AB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13C81E8C-68C5-4C27-B313-7AA0954A777C}"/>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편집한 파일과 실행한 파일</a:t>
            </a:r>
          </a:p>
        </p:txBody>
      </p:sp>
      <p:graphicFrame>
        <p:nvGraphicFramePr>
          <p:cNvPr id="11" name=""/>
          <p:cNvGraphicFramePr/>
          <p:nvPr/>
        </p:nvGraphicFramePr>
        <p:xfrm>
          <a:off x="685800" y="1809750"/>
          <a:ext cx="10820400" cy="2145792"/>
        </p:xfrm>
        <a:graphic>
          <a:graphicData uri="http://schemas.openxmlformats.org/drawingml/2006/table">
            <a:tbl>
              <a:tblPr firstRow="1" bandRow="0"/>
              <a:tblGrid>
                <a:gridCol w="3073977"/>
                <a:gridCol w="7746423"/>
              </a:tblGrid>
              <a:tr h="536448">
                <a:tc>
                  <a:txBody>
                    <a:bodyPr wrap="square"/>
                    <a:lstStyle/>
                    <a:p>
                      <a:pPr>
                        <a:lnSpc>
                          <a:spcPct val="102000"/>
                        </a:lnSpc>
                        <a:buNone/>
                      </a:pPr>
                      <a:r>
                        <a:rPr sz="2025" b="1">
                          <a:solidFill>
                            <a:srgbClr val="172F39"/>
                          </a:solidFill>
                          <a:latin typeface="Noto Sans KR"/>
                          <a:ea typeface="Noto Sans KR"/>
                          <a:cs typeface="Noto Sans KR"/>
                        </a:rPr>
                        <a:t>단계</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확인 대상</a:t>
                      </a:r>
                    </a:p>
                  </a:txBody>
                  <a:tcPr marL="114300" marR="114300" marT="76200" marB="76200" anchor="ctr">
                    <a:solidFill>
                      <a:srgbClr val="DCECE8"/>
                    </a:solidFill>
                  </a:tcPr>
                </a:tc>
              </a:tr>
              <a:tr h="536448">
                <a:tc>
                  <a:txBody>
                    <a:bodyPr wrap="square"/>
                    <a:lstStyle/>
                    <a:p>
                      <a:pPr>
                        <a:lnSpc>
                          <a:spcPct val="102000"/>
                        </a:lnSpc>
                        <a:buNone/>
                      </a:pPr>
                      <a:r>
                        <a:rPr sz="2025" b="0">
                          <a:solidFill>
                            <a:srgbClr val="172F39"/>
                          </a:solidFill>
                          <a:latin typeface="Noto Sans KR"/>
                          <a:ea typeface="Noto Sans KR"/>
                          <a:cs typeface="Noto Sans KR"/>
                        </a:rPr>
                        <a:t>편집</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화면에 쓴 새 글</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저장</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디스크의 work 파일</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실행</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명령이 가리키는 파일</a:t>
                      </a:r>
                    </a:p>
                  </a:txBody>
                  <a:tcPr marL="114300" marR="114300" marT="76200" marB="76200" anchor="ctr">
                    <a:solidFill>
                      <a:srgbClr val="FFFFFF"/>
                    </a:solidFill>
                  </a:tcPr>
                </a:tc>
              </a:tr>
            </a:tbl>
          </a:graphicData>
        </a:graphic>
      </p:graphicFrame>
      <p:sp>
        <p:nvSpPr>
          <p:cNvPr id="4" name="">
            <a:extLst>
              <a:ext uri="{FF2B5EF4-FFF2-40B4-BE49-F238E27FC236}">
                <ns2:creationId id="{E9BFCA72-0965-463C-AB4D-BD343274EE2B}"/>
              </a:ext>
            </a:extLst>
          </p:cNvPr>
          <p:cNvSpPr>
            <a:spLocks noGrp="1"/>
          </p:cNvSpPr>
          <p:nvPr/>
        </p:nvSpPr>
        <p:spPr>
          <a:xfrm>
            <a:off x="685800" y="6172200"/>
            <a:ext cx="10820400" cy="9525"/>
          </a:xfrm>
          <a:prstGeom prst="rect">
            <a:avLst/>
          </a:prstGeom>
          <a:solidFill>
            <a:srgbClr val="D5DEDD"/>
          </a:solidFill>
          <a:ln w="0">
            <a:noFill/>
          </a:ln>
        </p:spPr>
      </p:sp>
      <p:sp>
        <p:nvSpPr>
          <p:cNvPr id="5" name="">
            <a:extLst>
              <a:ext uri="{FF2B5EF4-FFF2-40B4-BE49-F238E27FC236}">
                <ns2:creationId id="{5B0C0CBF-8733-4432-B6AD-33A5D5493B5C}"/>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6" name="">
            <a:extLst>
              <a:ext uri="{FF2B5EF4-FFF2-40B4-BE49-F238E27FC236}">
                <ns2:creationId id="{4A4D2212-F864-46FB-8887-969E02FE513D}"/>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7" name="">
            <a:extLst>
              <a:ext uri="{FF2B5EF4-FFF2-40B4-BE49-F238E27FC236}">
                <ns2:creationId id="{7047B4A0-96FD-4D9E-94FC-DA435018CEA0}"/>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8" name="">
            <a:extLst>
              <a:ext uri="{FF2B5EF4-FFF2-40B4-BE49-F238E27FC236}">
                <ns2:creationId id="{C16E31E5-7B9C-436E-A94A-780DB058F743}"/>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016</a:t>
            </a:r>
          </a:p>
        </p:txBody>
      </p:sp>
    </p:spTree>
    <p:extLst>
      <p:ext uri="{BB962C8B-B14F-4D97-AF65-F5344CB8AC3E}">
        <ns4:creationId val="682399388"/>
      </p:ext>
    </p:extLst>
  </p:cSld>
</p:sld>
</file>

<file path=ppt/slides/slide1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47077E07-91BC-4FA4-8390-018535D2CE99}"/>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732E263E-ED00-4F02-8AEC-E3FE7EB2171D}"/>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추가 복습 · 새 문제</a:t>
            </a:r>
          </a:p>
        </p:txBody>
      </p:sp>
      <p:sp>
        <p:nvSpPr>
          <p:cNvPr id="3" name="">
            <a:extLst>
              <a:ext uri="{FF2B5EF4-FFF2-40B4-BE49-F238E27FC236}">
                <ns2:creationId id="{5C7DA005-5079-4BE6-95AB-EAA64C05E0B8}"/>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추가 복습: work에는 검사 B가 보입니다.</a:t>
            </a:r>
          </a:p>
        </p:txBody>
      </p:sp>
      <p:sp>
        <p:nvSpPr>
          <p:cNvPr id="4" name="">
            <a:extLst>
              <a:ext uri="{FF2B5EF4-FFF2-40B4-BE49-F238E27FC236}">
                <ns2:creationId id="{6A5E7363-251E-44FC-A5D1-B4C78E5FE970}"/>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code를 실행하니 검사 A가 나옵니다.</a:t>
            </a:r>
          </a:p>
        </p:txBody>
      </p:sp>
      <p:sp>
        <p:nvSpPr>
          <p:cNvPr id="5" name="">
            <a:extLst>
              <a:ext uri="{FF2B5EF4-FFF2-40B4-BE49-F238E27FC236}">
                <ns2:creationId id="{431B921D-9E0F-4BDE-8C66-552FADB08E63}"/>
              </a:ext>
            </a:extLst>
          </p:cNvPr>
          <p:cNvSpPr>
            <a:spLocks noGrp="1"/>
          </p:cNvSpPr>
          <p:nvPr/>
        </p:nvSpPr>
        <p:spPr>
          <a:xfrm>
            <a:off x="685800" y="3123819"/>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확인할 사실과 다음 행동을 적으세요.</a:t>
            </a:r>
          </a:p>
        </p:txBody>
      </p:sp>
      <p:sp>
        <p:nvSpPr>
          <p:cNvPr id="6" name="">
            <a:extLst>
              <a:ext uri="{FF2B5EF4-FFF2-40B4-BE49-F238E27FC236}">
                <ns2:creationId id="{11086577-7EA1-4DDA-95AC-E6F202A1BB9A}"/>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E35FE066-123F-4BBE-A436-AA9014837636}"/>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2B5BA12F-4D26-4FED-ACFE-B994F9FAD19E}"/>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ADEEB7DB-81AC-4F14-8B5B-E64391BDE1C3}"/>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643B7CC1-BA5A-4457-93C7-9F47FBC784F1}"/>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017</a:t>
            </a:r>
          </a:p>
        </p:txBody>
      </p:sp>
    </p:spTree>
    <p:extLst>
      <p:ext uri="{BB962C8B-B14F-4D97-AF65-F5344CB8AC3E}">
        <ns4:creationId val="1258415897"/>
      </p:ext>
    </p:extLst>
  </p:cSld>
</p:sld>
</file>

<file path=ppt/slides/slide1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8EB543AA-D9D6-41D0-B55E-1B61460FEE27}"/>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8CBB8AA7-FF62-45E6-A857-240B5E0990BF}"/>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같은 work 파일 저장·실행</a:t>
            </a:r>
          </a:p>
        </p:txBody>
      </p:sp>
      <p:sp>
        <p:nvSpPr>
          <p:cNvPr id="3" name="">
            <a:extLst>
              <a:ext uri="{FF2B5EF4-FFF2-40B4-BE49-F238E27FC236}">
                <ns2:creationId id="{C223240E-65CE-48DB-B89F-969190CA304A}"/>
              </a:ext>
            </a:extLst>
          </p:cNvPr>
          <p:cNvSpPr>
            <a:spLocks noGrp="1"/>
          </p:cNvSpPr>
          <p:nvPr/>
        </p:nvSpPr>
        <p:spPr>
          <a:xfrm>
            <a:off x="685800" y="193357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편집 경로와 실행 경로가 다릅니다.</a:t>
            </a:r>
          </a:p>
        </p:txBody>
      </p:sp>
      <p:sp>
        <p:nvSpPr>
          <p:cNvPr id="4" name="">
            <a:extLst>
              <a:ext uri="{FF2B5EF4-FFF2-40B4-BE49-F238E27FC236}">
                <ns2:creationId id="{4E4D48AB-B1FF-463B-971B-EC6D129116A6}"/>
              </a:ext>
            </a:extLst>
          </p:cNvPr>
          <p:cNvSpPr>
            <a:spLocks noGrp="1"/>
          </p:cNvSpPr>
          <p:nvPr/>
        </p:nvSpPr>
        <p:spPr>
          <a:xfrm>
            <a:off x="685800" y="243268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work를 저장한 뒤 같은 주소를 실행합니다.</a:t>
            </a:r>
          </a:p>
        </p:txBody>
      </p:sp>
      <p:sp>
        <p:nvSpPr>
          <p:cNvPr id="5" name="">
            <a:extLst>
              <a:ext uri="{FF2B5EF4-FFF2-40B4-BE49-F238E27FC236}">
                <ns2:creationId id="{5F4F29F6-B004-459C-8E68-75E92672878D}"/>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추가 복습 · 새 문제</a:t>
            </a:r>
          </a:p>
        </p:txBody>
      </p:sp>
      <p:sp>
        <p:nvSpPr>
          <p:cNvPr id="6" name="">
            <a:extLst>
              <a:ext uri="{FF2B5EF4-FFF2-40B4-BE49-F238E27FC236}">
                <ns2:creationId id="{1160529F-0BA1-4D83-A3FB-833E2A3E31DC}"/>
              </a:ext>
            </a:extLst>
          </p:cNvPr>
          <p:cNvSpPr>
            <a:spLocks noGrp="1"/>
          </p:cNvSpPr>
          <p:nvPr/>
        </p:nvSpPr>
        <p:spPr>
          <a:xfrm>
            <a:off x="6267450" y="2628900"/>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추가 복습: work에는 검사 B가 보입니다.</a:t>
            </a:r>
          </a:p>
        </p:txBody>
      </p:sp>
      <p:sp>
        <p:nvSpPr>
          <p:cNvPr id="7" name="">
            <a:extLst>
              <a:ext uri="{FF2B5EF4-FFF2-40B4-BE49-F238E27FC236}">
                <ns2:creationId id="{38473291-86E5-450F-B67A-75FDBB2AFE7C}"/>
              </a:ext>
            </a:extLst>
          </p:cNvPr>
          <p:cNvSpPr>
            <a:spLocks noGrp="1"/>
          </p:cNvSpPr>
          <p:nvPr/>
        </p:nvSpPr>
        <p:spPr>
          <a:xfrm>
            <a:off x="6267450" y="3116771"/>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code를 실행하니 검사 A가 나옵니다.</a:t>
            </a:r>
          </a:p>
        </p:txBody>
      </p:sp>
      <p:sp>
        <p:nvSpPr>
          <p:cNvPr id="8" name="">
            <a:extLst>
              <a:ext uri="{FF2B5EF4-FFF2-40B4-BE49-F238E27FC236}">
                <ns2:creationId id="{36CB6278-2789-464E-A97A-2859EDEA8D57}"/>
              </a:ext>
            </a:extLst>
          </p:cNvPr>
          <p:cNvSpPr>
            <a:spLocks noGrp="1"/>
          </p:cNvSpPr>
          <p:nvPr/>
        </p:nvSpPr>
        <p:spPr>
          <a:xfrm>
            <a:off x="6267450" y="3604641"/>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확인할 사실과 다음 행동을 적으세요.</a:t>
            </a:r>
          </a:p>
        </p:txBody>
      </p:sp>
      <p:sp>
        <p:nvSpPr>
          <p:cNvPr id="9" name="">
            <a:extLst>
              <a:ext uri="{FF2B5EF4-FFF2-40B4-BE49-F238E27FC236}">
                <ns2:creationId id="{43002402-248D-4DCA-A2C4-3A080A7A7447}"/>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F7E5FC8E-BD19-4063-A4B0-86C730D23508}"/>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D7C804C3-8935-4952-B251-2579414BD640}"/>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9927110F-6C35-4E4F-999E-881249379643}"/>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F4A472B6-8F54-4ACF-8CD9-2FDA17A74007}"/>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018</a:t>
            </a:r>
          </a:p>
        </p:txBody>
      </p:sp>
    </p:spTree>
    <p:extLst>
      <p:ext uri="{BB962C8B-B14F-4D97-AF65-F5344CB8AC3E}">
        <ns4:creationId val="440598771"/>
      </p:ext>
    </p:extLst>
  </p:cSld>
</p:sld>
</file>

<file path=ppt/slides/slide1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5C52FB59-955F-48C8-BC4F-4FEAE7AFD32E}"/>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BF967D3D-1B74-4349-820A-94B7C6109C6B}"/>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먼저 할 일 · 저장과 실행</a:t>
            </a:r>
          </a:p>
        </p:txBody>
      </p:sp>
      <p:sp>
        <p:nvSpPr>
          <p:cNvPr id="3" name="">
            <a:extLst>
              <a:ext uri="{FF2B5EF4-FFF2-40B4-BE49-F238E27FC236}">
                <ns2:creationId id="{70729B15-7268-46DC-B3BA-E7534713FFEB}"/>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A02 작업본 안내 문구를 바꿉니다.</a:t>
            </a:r>
          </a:p>
        </p:txBody>
      </p:sp>
      <p:sp>
        <p:nvSpPr>
          <p:cNvPr id="4" name="">
            <a:extLst>
              <a:ext uri="{FF2B5EF4-FFF2-40B4-BE49-F238E27FC236}">
                <ns2:creationId id="{925DC816-07B0-4367-B6AD-12285BB6D26A}"/>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저장한 뒤 work 파일을 실행합니다.</a:t>
            </a:r>
          </a:p>
        </p:txBody>
      </p:sp>
      <p:sp>
        <p:nvSpPr>
          <p:cNvPr id="5" name="">
            <a:extLst>
              <a:ext uri="{FF2B5EF4-FFF2-40B4-BE49-F238E27FC236}">
                <ns2:creationId id="{DC811FDA-D0D5-4F43-ACBE-B342CE540EBA}"/>
              </a:ext>
            </a:extLst>
          </p:cNvPr>
          <p:cNvSpPr>
            <a:spLocks noGrp="1"/>
          </p:cNvSpPr>
          <p:nvPr/>
        </p:nvSpPr>
        <p:spPr>
          <a:xfrm>
            <a:off x="685800" y="3123819"/>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예상과 실제 두 줄을 비교합니다.</a:t>
            </a:r>
          </a:p>
        </p:txBody>
      </p:sp>
      <p:sp>
        <p:nvSpPr>
          <p:cNvPr id="6" name="">
            <a:extLst>
              <a:ext uri="{FF2B5EF4-FFF2-40B4-BE49-F238E27FC236}">
                <ns2:creationId id="{72A1C366-2B1F-4B4A-9AB3-A9B23F6A1630}"/>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1BBAA652-B84A-494A-8910-7A3934CF1175}"/>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5E140B78-454E-4062-A9BF-3BF1EF7F6556}"/>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4383CF3B-B867-4587-B772-37CC233D5C63}"/>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2A7C2E10-A2B6-4692-B47D-6441EEB4DF5C}"/>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019</a:t>
            </a:r>
          </a:p>
        </p:txBody>
      </p:sp>
    </p:spTree>
    <p:extLst>
      <p:ext uri="{BB962C8B-B14F-4D97-AF65-F5344CB8AC3E}">
        <ns4:creationId val="895030983"/>
      </p:ext>
    </p:extLst>
  </p:cSld>
</p:sld>
</file>

<file path=ppt/slides/slide2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0EAA31CE-18F2-4FC7-A4BE-F5768D54CF3A}"/>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6895D8CD-EFBC-4B3C-ACB4-ACDBB6A6155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1교시 확인</a:t>
            </a:r>
          </a:p>
        </p:txBody>
      </p:sp>
      <p:sp>
        <p:nvSpPr>
          <p:cNvPr id="3" name="">
            <a:extLst>
              <a:ext uri="{FF2B5EF4-FFF2-40B4-BE49-F238E27FC236}">
                <ns2:creationId id="{BB933A33-6235-43ED-9463-21C7F43CF31B}"/>
              </a:ext>
            </a:extLst>
          </p:cNvPr>
          <p:cNvSpPr>
            <a:spLocks noGrp="1"/>
          </p:cNvSpPr>
          <p:nvPr/>
        </p:nvSpPr>
        <p:spPr>
          <a:xfrm>
            <a:off x="685800" y="193357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열기·저장·실행은 서로 다른 행동입니다.</a:t>
            </a:r>
          </a:p>
        </p:txBody>
      </p:sp>
      <p:sp>
        <p:nvSpPr>
          <p:cNvPr id="4" name="">
            <a:extLst>
              <a:ext uri="{FF2B5EF4-FFF2-40B4-BE49-F238E27FC236}">
                <ns2:creationId id="{9639956D-479D-4979-BCC9-B104BFB9D13B}"/>
              </a:ext>
            </a:extLst>
          </p:cNvPr>
          <p:cNvSpPr>
            <a:spLocks noGrp="1"/>
          </p:cNvSpPr>
          <p:nvPr/>
        </p:nvSpPr>
        <p:spPr>
          <a:xfrm>
            <a:off x="685800" y="276987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원본과 작업본의 경로를 구별합니다.</a:t>
            </a:r>
          </a:p>
        </p:txBody>
      </p:sp>
      <p:sp>
        <p:nvSpPr>
          <p:cNvPr id="5" name="">
            <a:extLst>
              <a:ext uri="{FF2B5EF4-FFF2-40B4-BE49-F238E27FC236}">
                <ns2:creationId id="{0C028345-F6B3-44D0-8702-39C937B689E6}"/>
              </a:ext>
            </a:extLst>
          </p:cNvPr>
          <p:cNvSpPr>
            <a:spLocks noGrp="1"/>
          </p:cNvSpPr>
          <p:nvPr/>
        </p:nvSpPr>
        <p:spPr>
          <a:xfrm>
            <a:off x="685800" y="326898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실행 환경 문제만으로 내용을 이해하지 못했다고 판단하지 않습니다.</a:t>
            </a:r>
          </a:p>
        </p:txBody>
      </p:sp>
      <p:sp>
        <p:nvSpPr>
          <p:cNvPr id="6" name="">
            <a:extLst>
              <a:ext uri="{FF2B5EF4-FFF2-40B4-BE49-F238E27FC236}">
                <ns2:creationId id="{BAAFCB5B-8806-44AB-ADC9-69B7ED12090D}"/>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편집한 파일과 실행한 파일</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1488281"/>
                <a:gridCol w="3750469"/>
              </a:tblGrid>
              <a:tr h="514350">
                <a:tc>
                  <a:txBody>
                    <a:bodyPr wrap="square"/>
                    <a:lstStyle/>
                    <a:p>
                      <a:pPr>
                        <a:lnSpc>
                          <a:spcPct val="102000"/>
                        </a:lnSpc>
                        <a:buNone/>
                      </a:pPr>
                      <a:r>
                        <a:rPr sz="1875" b="1">
                          <a:solidFill>
                            <a:srgbClr val="172F39"/>
                          </a:solidFill>
                          <a:latin typeface="Noto Sans KR"/>
                          <a:ea typeface="Noto Sans KR"/>
                          <a:cs typeface="Noto Sans KR"/>
                        </a:rPr>
                        <a:t>단계</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확인 대상</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편집</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화면에 쓴 새 글</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저장</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디스크의 work 파일</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실행</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명령이 가리키는 파일</a:t>
                      </a:r>
                    </a:p>
                  </a:txBody>
                  <a:tcPr marL="114300" marR="114300" marT="76200" marB="76200" anchor="ctr">
                    <a:solidFill>
                      <a:srgbClr val="FFFFFF"/>
                    </a:solidFill>
                  </a:tcPr>
                </a:tc>
              </a:tr>
            </a:tbl>
          </a:graphicData>
        </a:graphic>
      </p:graphicFrame>
      <p:sp>
        <p:nvSpPr>
          <p:cNvPr id="8" name="">
            <a:extLst>
              <a:ext uri="{FF2B5EF4-FFF2-40B4-BE49-F238E27FC236}">
                <ns2:creationId id="{A17FD8CC-891B-4AF9-9C0B-D15969DA3BB2}"/>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7614FAC7-6854-44F4-8817-257B6DA8D6E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29ADAABC-BEC4-435C-827F-3C4DACCAFEEB}"/>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8DA4F0F6-5C10-4DBE-8B89-FDA1537F2F0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2B7F995A-7F1E-4703-A73F-1FE2E31489E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020</a:t>
            </a:r>
          </a:p>
        </p:txBody>
      </p:sp>
    </p:spTree>
    <p:extLst>
      <p:ext uri="{BB962C8B-B14F-4D97-AF65-F5344CB8AC3E}">
        <ns4:creationId val="1913590969"/>
      </p:ext>
    </p:extLst>
  </p:cSld>
</p:sld>
</file>

<file path=ppt/slides/slide2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3213F134-34F9-42A7-9DBE-0F9BBC2D8AB6}"/>
              </a:ext>
            </a:extLst>
          </p:cNvPr>
          <p:cNvSpPr>
            <a:spLocks noGrp="1"/>
          </p:cNvSpPr>
          <p:nvPr/>
        </p:nvSpPr>
        <p:spPr>
          <a:xfrm>
            <a:off x="685800" y="657225"/>
            <a:ext cx="10820400" cy="400050"/>
          </a:xfrm>
          <a:prstGeom prst="rect">
            <a:avLst/>
          </a:prstGeom>
          <a:noFill/>
          <a:ln w="0">
            <a:noFill/>
          </a:ln>
        </p:spPr>
        <p:txBody>
          <a:bodyPr wrap="square" lIns="0" tIns="0" rIns="0" bIns="0">
            <a:noAutofit/>
          </a:bodyPr>
          <a:lstStyle/>
          <a:p>
            <a:pPr>
              <a:defRPr sz="1950" b="1">
                <a:solidFill>
                  <a:srgbClr val="08786F"/>
                </a:solidFill>
                <a:latin typeface="Noto Sans KR"/>
                <a:ea typeface="Noto Sans KR"/>
                <a:cs typeface="Noto Sans KR"/>
              </a:defRPr>
            </a:pPr>
            <a:r>
              <a:t>2교시</a:t>
            </a:r>
          </a:p>
        </p:txBody>
      </p:sp>
      <p:sp>
        <p:nvSpPr>
          <p:cNvPr id="2" name="">
            <a:extLst>
              <a:ext uri="{FF2B5EF4-FFF2-40B4-BE49-F238E27FC236}">
                <ns2:creationId id="{5B3581BD-C33C-4AB6-8534-B90449B9B84A}"/>
              </a:ext>
            </a:extLst>
          </p:cNvPr>
          <p:cNvSpPr>
            <a:spLocks noGrp="1"/>
          </p:cNvSpPr>
          <p:nvPr/>
        </p:nvSpPr>
        <p:spPr>
          <a:xfrm>
            <a:off x="685800" y="1552575"/>
            <a:ext cx="10668000" cy="1905000"/>
          </a:xfrm>
          <a:prstGeom prst="rect">
            <a:avLst/>
          </a:prstGeom>
          <a:noFill/>
          <a:ln w="0">
            <a:noFill/>
          </a:ln>
        </p:spPr>
        <p:txBody>
          <a:bodyPr wrap="square" lIns="0" tIns="0" rIns="0" bIns="0">
            <a:noAutofit/>
          </a:bodyPr>
          <a:lstStyle/>
          <a:p>
            <a:pPr>
              <a:defRPr sz="4725" b="1">
                <a:solidFill>
                  <a:srgbClr val="172F39"/>
                </a:solidFill>
                <a:latin typeface="Noto Sans KR"/>
                <a:ea typeface="Noto Sans KR"/>
                <a:cs typeface="Noto Sans KR"/>
              </a:defRPr>
            </a:pPr>
            <a:r>
              <a:t>값에 이름 붙이기</a:t>
            </a:r>
          </a:p>
        </p:txBody>
      </p:sp>
      <p:sp>
        <p:nvSpPr>
          <p:cNvPr id="3" name="">
            <a:extLst>
              <a:ext uri="{FF2B5EF4-FFF2-40B4-BE49-F238E27FC236}">
                <ns2:creationId id="{371BB067-3CA1-4C60-BEE0-150C215F76E8}"/>
              </a:ext>
            </a:extLst>
          </p:cNvPr>
          <p:cNvSpPr>
            <a:spLocks noGrp="1"/>
          </p:cNvSpPr>
          <p:nvPr/>
        </p:nvSpPr>
        <p:spPr>
          <a:xfrm>
            <a:off x="723900" y="3638550"/>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11:00~11:50 · 50분</a:t>
            </a:r>
          </a:p>
        </p:txBody>
      </p:sp>
      <p:sp>
        <p:nvSpPr>
          <p:cNvPr id="4" name="">
            <a:extLst>
              <a:ext uri="{FF2B5EF4-FFF2-40B4-BE49-F238E27FC236}">
                <ns2:creationId id="{B3708A06-0CA2-423C-A7A7-2454FC908F20}"/>
              </a:ext>
            </a:extLst>
          </p:cNvPr>
          <p:cNvSpPr>
            <a:spLocks noGrp="1"/>
          </p:cNvSpPr>
          <p:nvPr/>
        </p:nvSpPr>
        <p:spPr>
          <a:xfrm>
            <a:off x="723900" y="4160139"/>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먼저 할 활동: A04, A05, A06</a:t>
            </a:r>
          </a:p>
        </p:txBody>
      </p:sp>
      <p:sp>
        <p:nvSpPr>
          <p:cNvPr id="5" name="">
            <a:extLst>
              <a:ext uri="{FF2B5EF4-FFF2-40B4-BE49-F238E27FC236}">
                <ns2:creationId id="{2E9EA3EC-95B7-4F84-9867-B8926B155E88}"/>
              </a:ext>
            </a:extLst>
          </p:cNvPr>
          <p:cNvSpPr>
            <a:spLocks noGrp="1"/>
          </p:cNvSpPr>
          <p:nvPr/>
        </p:nvSpPr>
        <p:spPr>
          <a:xfrm>
            <a:off x="723900" y="4681728"/>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필수 활동을 마쳤으면 추가 문제를 풀어 보세요.</a:t>
            </a:r>
          </a:p>
        </p:txBody>
      </p:sp>
      <p:sp>
        <p:nvSpPr>
          <p:cNvPr id="6" name="">
            <a:extLst>
              <a:ext uri="{FF2B5EF4-FFF2-40B4-BE49-F238E27FC236}">
                <ns2:creationId id="{12DA6F40-CE60-4175-8746-6C6A8C1CF259}"/>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652A9B0C-B439-4FDB-BC77-FA1C45022FB1}"/>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A81A6E3B-AE0C-47A1-A7DD-88F32A7BA6B5}"/>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ED63FAF2-5818-4EAC-A0CD-8ECEA4029578}"/>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8417E451-279C-4E3A-83FD-328FF1A31DF8}"/>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021</a:t>
            </a:r>
          </a:p>
        </p:txBody>
      </p:sp>
    </p:spTree>
    <p:extLst>
      <p:ext uri="{BB962C8B-B14F-4D97-AF65-F5344CB8AC3E}">
        <ns4:creationId val="500743860"/>
      </p:ext>
    </p:extLst>
  </p:cSld>
</p:sld>
</file>

<file path=ppt/slides/slide2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23" name="">
            <a:extLst>
              <a:ext uri="{FF2B5EF4-FFF2-40B4-BE49-F238E27FC236}">
                <ns2:creationId id="{A62F89AF-24B4-4B25-95E0-1E1E1BC66F6F}"/>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02A35DA4-E0B6-4C3D-B349-4048ED9C307D}"/>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완성 예 · 변수 이름</a:t>
            </a:r>
          </a:p>
        </p:txBody>
      </p:sp>
      <p:sp>
        <p:nvSpPr>
          <p:cNvPr id="3" name="">
            <a:extLst>
              <a:ext uri="{FF2B5EF4-FFF2-40B4-BE49-F238E27FC236}">
                <ns2:creationId id="{12F40FF4-9083-4477-B2E5-D983D9485006}"/>
              </a:ext>
            </a:extLst>
          </p:cNvPr>
          <p:cNvSpPr>
            <a:spLocks noGrp="1"/>
          </p:cNvSpPr>
          <p:nvPr/>
        </p:nvSpPr>
        <p:spPr>
          <a:xfrm>
            <a:off x="685800" y="1809750"/>
            <a:ext cx="6953250" cy="1908810"/>
          </a:xfrm>
          <a:prstGeom prst="rect">
            <a:avLst/>
          </a:prstGeom>
          <a:solidFill>
            <a:srgbClr val="F1F6F5"/>
          </a:solidFill>
          <a:ln w="0">
            <a:noFill/>
          </a:ln>
        </p:spPr>
      </p:sp>
      <p:sp>
        <p:nvSpPr>
          <p:cNvPr id="4" name="">
            <a:extLst>
              <a:ext uri="{FF2B5EF4-FFF2-40B4-BE49-F238E27FC236}">
                <ns2:creationId id="{528AE1AA-605F-4F77-930D-6BE15656C827}"/>
              </a:ext>
            </a:extLst>
          </p:cNvPr>
          <p:cNvSpPr>
            <a:spLocks noGrp="1"/>
          </p:cNvSpPr>
          <p:nvPr/>
        </p:nvSpPr>
        <p:spPr>
          <a:xfrm>
            <a:off x="828675" y="197167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5" name="">
            <a:extLst>
              <a:ext uri="{FF2B5EF4-FFF2-40B4-BE49-F238E27FC236}">
                <ns2:creationId id="{204980A7-E7F3-4993-8E7E-B2853CACAD78}"/>
              </a:ext>
            </a:extLst>
          </p:cNvPr>
          <p:cNvSpPr>
            <a:spLocks noGrp="1"/>
          </p:cNvSpPr>
          <p:nvPr/>
        </p:nvSpPr>
        <p:spPr>
          <a:xfrm>
            <a:off x="1276350" y="1933575"/>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location = "입구"</a:t>
            </a:r>
          </a:p>
        </p:txBody>
      </p:sp>
      <p:sp>
        <p:nvSpPr>
          <p:cNvPr id="6" name="">
            <a:extLst>
              <a:ext uri="{FF2B5EF4-FFF2-40B4-BE49-F238E27FC236}">
                <ns2:creationId id="{B2944477-430A-4616-BC2B-B4AB67D5B2CF}"/>
              </a:ext>
            </a:extLst>
          </p:cNvPr>
          <p:cNvSpPr>
            <a:spLocks noGrp="1"/>
          </p:cNvSpPr>
          <p:nvPr/>
        </p:nvSpPr>
        <p:spPr>
          <a:xfrm>
            <a:off x="828675" y="228866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7" name="">
            <a:extLst>
              <a:ext uri="{FF2B5EF4-FFF2-40B4-BE49-F238E27FC236}">
                <ns2:creationId id="{2CEB043D-2798-4259-8361-C0A0CAA248A7}"/>
              </a:ext>
            </a:extLst>
          </p:cNvPr>
          <p:cNvSpPr>
            <a:spLocks noGrp="1"/>
          </p:cNvSpPr>
          <p:nvPr/>
        </p:nvSpPr>
        <p:spPr>
          <a:xfrm>
            <a:off x="1276350" y="2250567"/>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temperature_c = 22.5</a:t>
            </a:r>
          </a:p>
        </p:txBody>
      </p:sp>
      <p:sp>
        <p:nvSpPr>
          <p:cNvPr id="8" name="">
            <a:extLst>
              <a:ext uri="{FF2B5EF4-FFF2-40B4-BE49-F238E27FC236}">
                <ns2:creationId id="{F4287ED1-70C8-4DC7-AF06-96D4535009FB}"/>
              </a:ext>
            </a:extLst>
          </p:cNvPr>
          <p:cNvSpPr>
            <a:spLocks noGrp="1"/>
          </p:cNvSpPr>
          <p:nvPr/>
        </p:nvSpPr>
        <p:spPr>
          <a:xfrm>
            <a:off x="828675" y="260565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9" name="">
            <a:extLst>
              <a:ext uri="{FF2B5EF4-FFF2-40B4-BE49-F238E27FC236}">
                <ns2:creationId id="{3891C1BB-2D63-4FAE-896D-B0B426A506E0}"/>
              </a:ext>
            </a:extLst>
          </p:cNvPr>
          <p:cNvSpPr>
            <a:spLocks noGrp="1"/>
          </p:cNvSpPr>
          <p:nvPr/>
        </p:nvSpPr>
        <p:spPr>
          <a:xfrm>
            <a:off x="1276350" y="2567559"/>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print(location)</a:t>
            </a:r>
          </a:p>
        </p:txBody>
      </p:sp>
      <p:sp>
        <p:nvSpPr>
          <p:cNvPr id="10" name="">
            <a:extLst>
              <a:ext uri="{FF2B5EF4-FFF2-40B4-BE49-F238E27FC236}">
                <ns2:creationId id="{B71E152A-5629-40A3-971B-C71B489F435B}"/>
              </a:ext>
            </a:extLst>
          </p:cNvPr>
          <p:cNvSpPr>
            <a:spLocks noGrp="1"/>
          </p:cNvSpPr>
          <p:nvPr/>
        </p:nvSpPr>
        <p:spPr>
          <a:xfrm>
            <a:off x="828675" y="2922651"/>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1" name="">
            <a:extLst>
              <a:ext uri="{FF2B5EF4-FFF2-40B4-BE49-F238E27FC236}">
                <ns2:creationId id="{BA439441-84F7-4F58-AB1F-8739D1F3E99A}"/>
              </a:ext>
            </a:extLst>
          </p:cNvPr>
          <p:cNvSpPr>
            <a:spLocks noGrp="1"/>
          </p:cNvSpPr>
          <p:nvPr/>
        </p:nvSpPr>
        <p:spPr>
          <a:xfrm>
            <a:off x="1276350" y="2884551"/>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print(temperature_c)</a:t>
            </a:r>
          </a:p>
        </p:txBody>
      </p:sp>
      <p:sp>
        <p:nvSpPr>
          <p:cNvPr id="12" name="">
            <a:extLst>
              <a:ext uri="{FF2B5EF4-FFF2-40B4-BE49-F238E27FC236}">
                <ns2:creationId id="{E5AAF9BA-0914-4170-9ABB-861408B4EB9C}"/>
              </a:ext>
            </a:extLst>
          </p:cNvPr>
          <p:cNvSpPr>
            <a:spLocks noGrp="1"/>
          </p:cNvSpPr>
          <p:nvPr/>
        </p:nvSpPr>
        <p:spPr>
          <a:xfrm>
            <a:off x="828675" y="323964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05</a:t>
            </a:r>
          </a:p>
        </p:txBody>
      </p:sp>
      <p:sp>
        <p:nvSpPr>
          <p:cNvPr id="13" name="">
            <a:extLst>
              <a:ext uri="{FF2B5EF4-FFF2-40B4-BE49-F238E27FC236}">
                <ns2:creationId id="{A1ACED68-D413-46B5-A298-54EF7BC6B4ED}"/>
              </a:ext>
            </a:extLst>
          </p:cNvPr>
          <p:cNvSpPr>
            <a:spLocks noGrp="1"/>
          </p:cNvSpPr>
          <p:nvPr/>
        </p:nvSpPr>
        <p:spPr>
          <a:xfrm>
            <a:off x="1276350" y="3201543"/>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print("location")</a:t>
            </a:r>
          </a:p>
        </p:txBody>
      </p:sp>
      <p:sp>
        <p:nvSpPr>
          <p:cNvPr id="14" name="">
            <a:extLst>
              <a:ext uri="{FF2B5EF4-FFF2-40B4-BE49-F238E27FC236}">
                <ns2:creationId id="{3FC62AEC-A5FF-48F9-A2C8-BB5E079C7A03}"/>
              </a:ext>
            </a:extLst>
          </p:cNvPr>
          <p:cNvSpPr>
            <a:spLocks noGrp="1"/>
          </p:cNvSpPr>
          <p:nvPr/>
        </p:nvSpPr>
        <p:spPr>
          <a:xfrm>
            <a:off x="8143875" y="1828800"/>
            <a:ext cx="3333750" cy="4095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실행 결과</a:t>
            </a:r>
          </a:p>
        </p:txBody>
      </p:sp>
      <p:sp>
        <p:nvSpPr>
          <p:cNvPr id="15" name="">
            <a:extLst>
              <a:ext uri="{FF2B5EF4-FFF2-40B4-BE49-F238E27FC236}">
                <ns2:creationId id="{F439EFEE-81FF-4827-B6A6-4009F0F4F8F9}"/>
              </a:ext>
            </a:extLst>
          </p:cNvPr>
          <p:cNvSpPr>
            <a:spLocks noGrp="1"/>
          </p:cNvSpPr>
          <p:nvPr/>
        </p:nvSpPr>
        <p:spPr>
          <a:xfrm>
            <a:off x="8143875" y="2409825"/>
            <a:ext cx="3333750" cy="417767"/>
          </a:xfrm>
          <a:prstGeom prst="rect">
            <a:avLst/>
          </a:prstGeom>
          <a:noFill/>
          <a:ln w="0">
            <a:noFill/>
          </a:ln>
        </p:spPr>
        <p:txBody>
          <a:bodyPr wrap="square" lIns="0" tIns="0" rIns="0" bIns="0">
            <a:noAutofit/>
          </a:bodyPr>
          <a:lstStyle/>
          <a:p>
            <a:pPr>
              <a:defRPr sz="2025" b="0">
                <a:solidFill>
                  <a:srgbClr val="172F39"/>
                </a:solidFill>
                <a:latin typeface="Noto Sans KR"/>
                <a:ea typeface="Noto Sans KR"/>
                <a:cs typeface="Noto Sans KR"/>
              </a:defRPr>
            </a:pPr>
            <a:r>
              <a:t>입구</a:t>
            </a:r>
          </a:p>
        </p:txBody>
      </p:sp>
      <p:sp>
        <p:nvSpPr>
          <p:cNvPr id="16" name="">
            <a:extLst>
              <a:ext uri="{FF2B5EF4-FFF2-40B4-BE49-F238E27FC236}">
                <ns2:creationId id="{93A56C65-9F42-40E5-8F01-61DA40DEBA7A}"/>
              </a:ext>
            </a:extLst>
          </p:cNvPr>
          <p:cNvSpPr>
            <a:spLocks noGrp="1"/>
          </p:cNvSpPr>
          <p:nvPr/>
        </p:nvSpPr>
        <p:spPr>
          <a:xfrm>
            <a:off x="8143875" y="2875217"/>
            <a:ext cx="3333750" cy="417767"/>
          </a:xfrm>
          <a:prstGeom prst="rect">
            <a:avLst/>
          </a:prstGeom>
          <a:noFill/>
          <a:ln w="0">
            <a:noFill/>
          </a:ln>
        </p:spPr>
        <p:txBody>
          <a:bodyPr wrap="square" lIns="0" tIns="0" rIns="0" bIns="0">
            <a:noAutofit/>
          </a:bodyPr>
          <a:lstStyle/>
          <a:p>
            <a:pPr>
              <a:defRPr sz="2025" b="0">
                <a:solidFill>
                  <a:srgbClr val="172F39"/>
                </a:solidFill>
                <a:latin typeface="Noto Sans KR"/>
                <a:ea typeface="Noto Sans KR"/>
                <a:cs typeface="Noto Sans KR"/>
              </a:defRPr>
            </a:pPr>
            <a:r>
              <a:t>22.5</a:t>
            </a:r>
          </a:p>
        </p:txBody>
      </p:sp>
      <p:sp>
        <p:nvSpPr>
          <p:cNvPr id="17" name="">
            <a:extLst>
              <a:ext uri="{FF2B5EF4-FFF2-40B4-BE49-F238E27FC236}">
                <ns2:creationId id="{C60AAAAF-D633-43B7-8160-039E5B09E35D}"/>
              </a:ext>
            </a:extLst>
          </p:cNvPr>
          <p:cNvSpPr>
            <a:spLocks noGrp="1"/>
          </p:cNvSpPr>
          <p:nvPr/>
        </p:nvSpPr>
        <p:spPr>
          <a:xfrm>
            <a:off x="8143875" y="3340608"/>
            <a:ext cx="3333750" cy="417767"/>
          </a:xfrm>
          <a:prstGeom prst="rect">
            <a:avLst/>
          </a:prstGeom>
          <a:noFill/>
          <a:ln w="0">
            <a:noFill/>
          </a:ln>
        </p:spPr>
        <p:txBody>
          <a:bodyPr wrap="square" lIns="0" tIns="0" rIns="0" bIns="0">
            <a:noAutofit/>
          </a:bodyPr>
          <a:lstStyle/>
          <a:p>
            <a:pPr>
              <a:defRPr sz="2025" b="0">
                <a:solidFill>
                  <a:srgbClr val="172F39"/>
                </a:solidFill>
                <a:latin typeface="Noto Sans KR"/>
                <a:ea typeface="Noto Sans KR"/>
                <a:cs typeface="Noto Sans KR"/>
              </a:defRPr>
            </a:pPr>
            <a:r>
              <a:t>location</a:t>
            </a:r>
          </a:p>
        </p:txBody>
      </p:sp>
      <p:sp>
        <p:nvSpPr>
          <p:cNvPr id="18" name="">
            <a:extLst>
              <a:ext uri="{FF2B5EF4-FFF2-40B4-BE49-F238E27FC236}">
                <ns2:creationId id="{D885CF10-A9F3-401A-A14E-C939204D2E2E}"/>
              </a:ext>
            </a:extLst>
          </p:cNvPr>
          <p:cNvSpPr>
            <a:spLocks noGrp="1"/>
          </p:cNvSpPr>
          <p:nvPr/>
        </p:nvSpPr>
        <p:spPr>
          <a:xfrm>
            <a:off x="685800" y="6172200"/>
            <a:ext cx="10820400" cy="9525"/>
          </a:xfrm>
          <a:prstGeom prst="rect">
            <a:avLst/>
          </a:prstGeom>
          <a:solidFill>
            <a:srgbClr val="D5DEDD"/>
          </a:solidFill>
          <a:ln w="0">
            <a:noFill/>
          </a:ln>
        </p:spPr>
      </p:sp>
      <p:sp>
        <p:nvSpPr>
          <p:cNvPr id="19" name="">
            <a:extLst>
              <a:ext uri="{FF2B5EF4-FFF2-40B4-BE49-F238E27FC236}">
                <ns2:creationId id="{0E31AEAB-8C45-4B18-A4D3-EB9F1F52C17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20" name="">
            <a:extLst>
              <a:ext uri="{FF2B5EF4-FFF2-40B4-BE49-F238E27FC236}">
                <ns2:creationId id="{6B40FB5C-4D08-4486-B860-913490DE18BB}"/>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21" name="">
            <a:extLst>
              <a:ext uri="{FF2B5EF4-FFF2-40B4-BE49-F238E27FC236}">
                <ns2:creationId id="{AF42406F-8715-4B97-8A9D-9F9875C71837}"/>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22" name="">
            <a:extLst>
              <a:ext uri="{FF2B5EF4-FFF2-40B4-BE49-F238E27FC236}">
                <ns2:creationId id="{13DF9C25-8D01-4FB5-B6EA-71591B261E4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022</a:t>
            </a:r>
          </a:p>
        </p:txBody>
      </p:sp>
    </p:spTree>
    <p:extLst>
      <p:ext uri="{BB962C8B-B14F-4D97-AF65-F5344CB8AC3E}">
        <ns4:creationId val="1010497703"/>
      </p:ext>
    </p:extLst>
  </p:cSld>
</p:sld>
</file>

<file path=ppt/slides/slide2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FAB90049-24D6-4888-90A6-01FC520D3FF8}"/>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0C6DBDA2-E410-4370-BCAE-9FBE818B08F1}"/>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변수와 문자열은 다릅니다</a:t>
            </a:r>
          </a:p>
        </p:txBody>
      </p:sp>
      <p:sp>
        <p:nvSpPr>
          <p:cNvPr id="3" name="">
            <a:extLst>
              <a:ext uri="{FF2B5EF4-FFF2-40B4-BE49-F238E27FC236}">
                <ns2:creationId id="{88F402F8-8E0F-4E9F-8076-4F8A3CE38FA1}"/>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location</a:t>
            </a:r>
          </a:p>
        </p:txBody>
      </p:sp>
      <p:sp>
        <p:nvSpPr>
          <p:cNvPr id="4" name="">
            <a:extLst>
              <a:ext uri="{FF2B5EF4-FFF2-40B4-BE49-F238E27FC236}">
                <ns2:creationId id="{92B33DBA-7755-49F1-A2CB-6E8181EE47FB}"/>
              </a:ext>
            </a:extLst>
          </p:cNvPr>
          <p:cNvSpPr>
            <a:spLocks noGrp="1"/>
          </p:cNvSpPr>
          <p:nvPr/>
        </p:nvSpPr>
        <p:spPr>
          <a:xfrm>
            <a:off x="685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location을 쓰면 그 변수의 현재 값을 가져옵니다.</a:t>
            </a:r>
          </a:p>
        </p:txBody>
      </p:sp>
      <p:sp>
        <p:nvSpPr>
          <p:cNvPr id="5" name="">
            <a:extLst>
              <a:ext uri="{FF2B5EF4-FFF2-40B4-BE49-F238E27FC236}">
                <ns2:creationId id="{096EA8F0-EBE2-43BE-8EFE-9917AC7B31A2}"/>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"location"</a:t>
            </a:r>
          </a:p>
        </p:txBody>
      </p:sp>
      <p:sp>
        <p:nvSpPr>
          <p:cNvPr id="6" name="">
            <a:extLst>
              <a:ext uri="{FF2B5EF4-FFF2-40B4-BE49-F238E27FC236}">
                <ns2:creationId id="{1DC62BB8-8147-41D1-8D72-45A09B353981}"/>
              </a:ext>
            </a:extLst>
          </p:cNvPr>
          <p:cNvSpPr>
            <a:spLocks noGrp="1"/>
          </p:cNvSpPr>
          <p:nvPr/>
        </p:nvSpPr>
        <p:spPr>
          <a:xfrm>
            <a:off x="6400800" y="2447925"/>
            <a:ext cx="4953000" cy="473964"/>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"location"은 글자 자체입니다.</a:t>
            </a:r>
          </a:p>
        </p:txBody>
      </p:sp>
      <p:sp>
        <p:nvSpPr>
          <p:cNvPr id="7" name="">
            <a:extLst>
              <a:ext uri="{FF2B5EF4-FFF2-40B4-BE49-F238E27FC236}">
                <ns2:creationId id="{A21C4890-5AA4-4948-A2BF-6345B66ABECB}"/>
              </a:ext>
            </a:extLst>
          </p:cNvPr>
          <p:cNvSpPr>
            <a:spLocks noGrp="1"/>
          </p:cNvSpPr>
          <p:nvPr/>
        </p:nvSpPr>
        <p:spPr>
          <a:xfrm>
            <a:off x="685800" y="4943475"/>
            <a:ext cx="10820400" cy="9525"/>
          </a:xfrm>
          <a:prstGeom prst="rect">
            <a:avLst/>
          </a:prstGeom>
          <a:solidFill>
            <a:srgbClr val="D5DEDD"/>
          </a:solidFill>
          <a:ln w="0">
            <a:noFill/>
          </a:ln>
        </p:spPr>
      </p:sp>
      <p:sp>
        <p:nvSpPr>
          <p:cNvPr id="8" name="">
            <a:extLst>
              <a:ext uri="{FF2B5EF4-FFF2-40B4-BE49-F238E27FC236}">
                <ns2:creationId id="{06D18EFE-6E2A-42A2-A8A2-8F3F819E85CE}"/>
              </a:ext>
            </a:extLst>
          </p:cNvPr>
          <p:cNvSpPr>
            <a:spLocks noGrp="1"/>
          </p:cNvSpPr>
          <p:nvPr/>
        </p:nvSpPr>
        <p:spPr>
          <a:xfrm>
            <a:off x="685800" y="5191125"/>
            <a:ext cx="10820400" cy="417767"/>
          </a:xfrm>
          <a:prstGeom prst="rect">
            <a:avLst/>
          </a:prstGeom>
          <a:noFill/>
          <a:ln w="0">
            <a:noFill/>
          </a:ln>
        </p:spPr>
        <p:txBody>
          <a:bodyPr wrap="square" lIns="0" tIns="0" rIns="0" bIns="0">
            <a:noAutofit/>
          </a:bodyPr>
          <a:lstStyle/>
          <a:p>
            <a:pPr>
              <a:defRPr sz="2025" b="1">
                <a:solidFill>
                  <a:srgbClr val="52636B"/>
                </a:solidFill>
                <a:latin typeface="Noto Sans KR"/>
                <a:ea typeface="Noto Sans KR"/>
                <a:cs typeface="Noto Sans KR"/>
              </a:defRPr>
            </a:pPr>
            <a:r>
              <a:t>=는 오른쪽 값을 왼쪽 이름에 연결합니다.</a:t>
            </a:r>
          </a:p>
        </p:txBody>
      </p:sp>
      <p:sp>
        <p:nvSpPr>
          <p:cNvPr id="9" name="">
            <a:extLst>
              <a:ext uri="{FF2B5EF4-FFF2-40B4-BE49-F238E27FC236}">
                <ns2:creationId id="{A1D014C8-2AD4-4CEF-9261-989C68751210}"/>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51270C59-8A36-43AF-B6F8-1EF14BE3E7B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2986627C-5561-4DB0-9CDF-BDBD7B598947}"/>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BE1E33FD-65FE-4DD6-8672-B648749F4C94}"/>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08E02FDC-33AA-4250-8E25-7796D306D36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023</a:t>
            </a:r>
          </a:p>
        </p:txBody>
      </p:sp>
    </p:spTree>
    <p:extLst>
      <p:ext uri="{BB962C8B-B14F-4D97-AF65-F5344CB8AC3E}">
        <ns4:creationId val="1539975411"/>
      </p:ext>
    </p:extLst>
  </p:cSld>
</p:sld>
</file>

<file path=ppt/slides/slide2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5" name="">
            <a:extLst>
              <a:ext uri="{FF2B5EF4-FFF2-40B4-BE49-F238E27FC236}">
                <ns2:creationId id="{8E33593F-6D47-44A7-A822-A16E55C0F81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39FE4F1C-0503-470C-A8E5-7351A7597AA9}"/>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예상 출력 · 이름과 글자</a:t>
            </a:r>
          </a:p>
        </p:txBody>
      </p:sp>
      <p:sp>
        <p:nvSpPr>
          <p:cNvPr id="3" name="">
            <a:extLst>
              <a:ext uri="{FF2B5EF4-FFF2-40B4-BE49-F238E27FC236}">
                <ns2:creationId id="{939DD025-AA69-4DC0-AC83-6B18694CBEAB}"/>
              </a:ext>
            </a:extLst>
          </p:cNvPr>
          <p:cNvSpPr>
            <a:spLocks noGrp="1"/>
          </p:cNvSpPr>
          <p:nvPr/>
        </p:nvSpPr>
        <p:spPr>
          <a:xfrm>
            <a:off x="685800" y="1809750"/>
            <a:ext cx="10820400" cy="1274826"/>
          </a:xfrm>
          <a:prstGeom prst="rect">
            <a:avLst/>
          </a:prstGeom>
          <a:solidFill>
            <a:srgbClr val="F1F6F5"/>
          </a:solidFill>
          <a:ln w="0">
            <a:noFill/>
          </a:ln>
        </p:spPr>
      </p:sp>
      <p:sp>
        <p:nvSpPr>
          <p:cNvPr id="4" name="">
            <a:extLst>
              <a:ext uri="{FF2B5EF4-FFF2-40B4-BE49-F238E27FC236}">
                <ns2:creationId id="{464AEE94-FB51-4C0B-8FEC-88E0D6167570}"/>
              </a:ext>
            </a:extLst>
          </p:cNvPr>
          <p:cNvSpPr>
            <a:spLocks noGrp="1"/>
          </p:cNvSpPr>
          <p:nvPr/>
        </p:nvSpPr>
        <p:spPr>
          <a:xfrm>
            <a:off x="828675" y="197167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5" name="">
            <a:extLst>
              <a:ext uri="{FF2B5EF4-FFF2-40B4-BE49-F238E27FC236}">
                <ns2:creationId id="{8203241D-6492-49E4-8326-7C7C53110FAF}"/>
              </a:ext>
            </a:extLst>
          </p:cNvPr>
          <p:cNvSpPr>
            <a:spLocks noGrp="1"/>
          </p:cNvSpPr>
          <p:nvPr/>
        </p:nvSpPr>
        <p:spPr>
          <a:xfrm>
            <a:off x="1276350" y="193357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입구</a:t>
            </a:r>
          </a:p>
        </p:txBody>
      </p:sp>
      <p:sp>
        <p:nvSpPr>
          <p:cNvPr id="6" name="">
            <a:extLst>
              <a:ext uri="{FF2B5EF4-FFF2-40B4-BE49-F238E27FC236}">
                <ns2:creationId id="{3760FD85-CA8A-4C99-9EC1-4CC05910075F}"/>
              </a:ext>
            </a:extLst>
          </p:cNvPr>
          <p:cNvSpPr>
            <a:spLocks noGrp="1"/>
          </p:cNvSpPr>
          <p:nvPr/>
        </p:nvSpPr>
        <p:spPr>
          <a:xfrm>
            <a:off x="828675" y="228866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7" name="">
            <a:extLst>
              <a:ext uri="{FF2B5EF4-FFF2-40B4-BE49-F238E27FC236}">
                <ns2:creationId id="{F8FE5703-0409-4AF2-AA4C-BAC1F2E5B85D}"/>
              </a:ext>
            </a:extLst>
          </p:cNvPr>
          <p:cNvSpPr>
            <a:spLocks noGrp="1"/>
          </p:cNvSpPr>
          <p:nvPr/>
        </p:nvSpPr>
        <p:spPr>
          <a:xfrm>
            <a:off x="1276350" y="225056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22.5</a:t>
            </a:r>
          </a:p>
        </p:txBody>
      </p:sp>
      <p:sp>
        <p:nvSpPr>
          <p:cNvPr id="8" name="">
            <a:extLst>
              <a:ext uri="{FF2B5EF4-FFF2-40B4-BE49-F238E27FC236}">
                <ns2:creationId id="{7D671469-EAFF-4E2A-821F-0075B45F8CEB}"/>
              </a:ext>
            </a:extLst>
          </p:cNvPr>
          <p:cNvSpPr>
            <a:spLocks noGrp="1"/>
          </p:cNvSpPr>
          <p:nvPr/>
        </p:nvSpPr>
        <p:spPr>
          <a:xfrm>
            <a:off x="828675" y="260565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9" name="">
            <a:extLst>
              <a:ext uri="{FF2B5EF4-FFF2-40B4-BE49-F238E27FC236}">
                <ns2:creationId id="{E819AE39-B764-4562-AA23-4E3908A44C92}"/>
              </a:ext>
            </a:extLst>
          </p:cNvPr>
          <p:cNvSpPr>
            <a:spLocks noGrp="1"/>
          </p:cNvSpPr>
          <p:nvPr/>
        </p:nvSpPr>
        <p:spPr>
          <a:xfrm>
            <a:off x="1276350" y="2567559"/>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location</a:t>
            </a:r>
          </a:p>
        </p:txBody>
      </p:sp>
      <p:sp>
        <p:nvSpPr>
          <p:cNvPr id="10" name="">
            <a:extLst>
              <a:ext uri="{FF2B5EF4-FFF2-40B4-BE49-F238E27FC236}">
                <ns2:creationId id="{82C7B28E-1057-4178-A04E-C72503A5DA9F}"/>
              </a:ext>
            </a:extLst>
          </p:cNvPr>
          <p:cNvSpPr>
            <a:spLocks noGrp="1"/>
          </p:cNvSpPr>
          <p:nvPr/>
        </p:nvSpPr>
        <p:spPr>
          <a:xfrm>
            <a:off x="685800" y="6172200"/>
            <a:ext cx="10820400" cy="9525"/>
          </a:xfrm>
          <a:prstGeom prst="rect">
            <a:avLst/>
          </a:prstGeom>
          <a:solidFill>
            <a:srgbClr val="D5DEDD"/>
          </a:solidFill>
          <a:ln w="0">
            <a:noFill/>
          </a:ln>
        </p:spPr>
      </p:sp>
      <p:sp>
        <p:nvSpPr>
          <p:cNvPr id="11" name="">
            <a:extLst>
              <a:ext uri="{FF2B5EF4-FFF2-40B4-BE49-F238E27FC236}">
                <ns2:creationId id="{389098EB-382F-4DC9-9C5E-D95097F54151}"/>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2" name="">
            <a:extLst>
              <a:ext uri="{FF2B5EF4-FFF2-40B4-BE49-F238E27FC236}">
                <ns2:creationId id="{A2E40814-CCCF-4D3F-A366-AAA5217AECC5}"/>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3" name="">
            <a:extLst>
              <a:ext uri="{FF2B5EF4-FFF2-40B4-BE49-F238E27FC236}">
                <ns2:creationId id="{23B0F252-0DE9-4BA7-B7BE-95F69742B257}"/>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4" name="">
            <a:extLst>
              <a:ext uri="{FF2B5EF4-FFF2-40B4-BE49-F238E27FC236}">
                <ns2:creationId id="{CAB10AB7-0551-4677-8744-50A062DFD633}"/>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024</a:t>
            </a:r>
          </a:p>
        </p:txBody>
      </p:sp>
    </p:spTree>
    <p:extLst>
      <p:ext uri="{BB962C8B-B14F-4D97-AF65-F5344CB8AC3E}">
        <ns4:creationId val="963572412"/>
      </p:ext>
    </p:extLst>
  </p:cSld>
</p:sld>
</file>

<file path=ppt/slides/slide2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7" name="">
            <a:extLst>
              <a:ext uri="{FF2B5EF4-FFF2-40B4-BE49-F238E27FC236}">
                <ns2:creationId id="{02022355-28D3-4289-838E-F76812671EDA}"/>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F2940169-D366-49A1-AC14-70A14A055772}"/>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완성 예 · 다시 대입하기</a:t>
            </a:r>
          </a:p>
        </p:txBody>
      </p:sp>
      <p:sp>
        <p:nvSpPr>
          <p:cNvPr id="3" name="">
            <a:extLst>
              <a:ext uri="{FF2B5EF4-FFF2-40B4-BE49-F238E27FC236}">
                <ns2:creationId id="{974CB287-D813-4035-BF6F-35CE19D33927}"/>
              </a:ext>
            </a:extLst>
          </p:cNvPr>
          <p:cNvSpPr>
            <a:spLocks noGrp="1"/>
          </p:cNvSpPr>
          <p:nvPr/>
        </p:nvSpPr>
        <p:spPr>
          <a:xfrm>
            <a:off x="685800" y="1809750"/>
            <a:ext cx="10820400" cy="1591818"/>
          </a:xfrm>
          <a:prstGeom prst="rect">
            <a:avLst/>
          </a:prstGeom>
          <a:solidFill>
            <a:srgbClr val="F1F6F5"/>
          </a:solidFill>
          <a:ln w="0">
            <a:noFill/>
          </a:ln>
        </p:spPr>
      </p:sp>
      <p:sp>
        <p:nvSpPr>
          <p:cNvPr id="4" name="">
            <a:extLst>
              <a:ext uri="{FF2B5EF4-FFF2-40B4-BE49-F238E27FC236}">
                <ns2:creationId id="{43F8F1B1-ACF9-490A-B038-A81E58789994}"/>
              </a:ext>
            </a:extLst>
          </p:cNvPr>
          <p:cNvSpPr>
            <a:spLocks noGrp="1"/>
          </p:cNvSpPr>
          <p:nvPr/>
        </p:nvSpPr>
        <p:spPr>
          <a:xfrm>
            <a:off x="828675" y="197167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5" name="">
            <a:extLst>
              <a:ext uri="{FF2B5EF4-FFF2-40B4-BE49-F238E27FC236}">
                <ns2:creationId id="{24E0DC40-CDB5-4978-870A-C6954B8E2138}"/>
              </a:ext>
            </a:extLst>
          </p:cNvPr>
          <p:cNvSpPr>
            <a:spLocks noGrp="1"/>
          </p:cNvSpPr>
          <p:nvPr/>
        </p:nvSpPr>
        <p:spPr>
          <a:xfrm>
            <a:off x="1276350" y="193357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temperature_c = 22.5</a:t>
            </a:r>
          </a:p>
        </p:txBody>
      </p:sp>
      <p:sp>
        <p:nvSpPr>
          <p:cNvPr id="6" name="">
            <a:extLst>
              <a:ext uri="{FF2B5EF4-FFF2-40B4-BE49-F238E27FC236}">
                <ns2:creationId id="{E6CBCE86-4614-474A-ABB6-CA2E373510CB}"/>
              </a:ext>
            </a:extLst>
          </p:cNvPr>
          <p:cNvSpPr>
            <a:spLocks noGrp="1"/>
          </p:cNvSpPr>
          <p:nvPr/>
        </p:nvSpPr>
        <p:spPr>
          <a:xfrm>
            <a:off x="828675" y="228866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7" name="">
            <a:extLst>
              <a:ext uri="{FF2B5EF4-FFF2-40B4-BE49-F238E27FC236}">
                <ns2:creationId id="{EFB4FFCC-1D07-4A27-976E-551E8A02F4A4}"/>
              </a:ext>
            </a:extLst>
          </p:cNvPr>
          <p:cNvSpPr>
            <a:spLocks noGrp="1"/>
          </p:cNvSpPr>
          <p:nvPr/>
        </p:nvSpPr>
        <p:spPr>
          <a:xfrm>
            <a:off x="1276350" y="225056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print(temperature_c)</a:t>
            </a:r>
          </a:p>
        </p:txBody>
      </p:sp>
      <p:sp>
        <p:nvSpPr>
          <p:cNvPr id="8" name="">
            <a:extLst>
              <a:ext uri="{FF2B5EF4-FFF2-40B4-BE49-F238E27FC236}">
                <ns2:creationId id="{3F5D15A5-432B-4F15-9AED-B5043C5743ED}"/>
              </a:ext>
            </a:extLst>
          </p:cNvPr>
          <p:cNvSpPr>
            <a:spLocks noGrp="1"/>
          </p:cNvSpPr>
          <p:nvPr/>
        </p:nvSpPr>
        <p:spPr>
          <a:xfrm>
            <a:off x="828675" y="260565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9" name="">
            <a:extLst>
              <a:ext uri="{FF2B5EF4-FFF2-40B4-BE49-F238E27FC236}">
                <ns2:creationId id="{E90F7A03-AAB7-4E1D-A82D-18493DF3878D}"/>
              </a:ext>
            </a:extLst>
          </p:cNvPr>
          <p:cNvSpPr>
            <a:spLocks noGrp="1"/>
          </p:cNvSpPr>
          <p:nvPr/>
        </p:nvSpPr>
        <p:spPr>
          <a:xfrm>
            <a:off x="1276350" y="2567559"/>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temperature_c = 24.0</a:t>
            </a:r>
          </a:p>
        </p:txBody>
      </p:sp>
      <p:sp>
        <p:nvSpPr>
          <p:cNvPr id="10" name="">
            <a:extLst>
              <a:ext uri="{FF2B5EF4-FFF2-40B4-BE49-F238E27FC236}">
                <ns2:creationId id="{56584241-75C3-4E44-949A-7CE85C2DECAC}"/>
              </a:ext>
            </a:extLst>
          </p:cNvPr>
          <p:cNvSpPr>
            <a:spLocks noGrp="1"/>
          </p:cNvSpPr>
          <p:nvPr/>
        </p:nvSpPr>
        <p:spPr>
          <a:xfrm>
            <a:off x="828675" y="2922651"/>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1" name="">
            <a:extLst>
              <a:ext uri="{FF2B5EF4-FFF2-40B4-BE49-F238E27FC236}">
                <ns2:creationId id="{946038F5-1301-4D4F-91FC-FBCEA5DB80F3}"/>
              </a:ext>
            </a:extLst>
          </p:cNvPr>
          <p:cNvSpPr>
            <a:spLocks noGrp="1"/>
          </p:cNvSpPr>
          <p:nvPr/>
        </p:nvSpPr>
        <p:spPr>
          <a:xfrm>
            <a:off x="1276350" y="2884551"/>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print(temperature_c)</a:t>
            </a:r>
          </a:p>
        </p:txBody>
      </p:sp>
      <p:sp>
        <p:nvSpPr>
          <p:cNvPr id="12" name="">
            <a:extLst>
              <a:ext uri="{FF2B5EF4-FFF2-40B4-BE49-F238E27FC236}">
                <ns2:creationId id="{22790AA0-24FE-457C-81A5-2E1CA5442AE6}"/>
              </a:ext>
            </a:extLst>
          </p:cNvPr>
          <p:cNvSpPr>
            <a:spLocks noGrp="1"/>
          </p:cNvSpPr>
          <p:nvPr/>
        </p:nvSpPr>
        <p:spPr>
          <a:xfrm>
            <a:off x="685800" y="6172200"/>
            <a:ext cx="10820400" cy="9525"/>
          </a:xfrm>
          <a:prstGeom prst="rect">
            <a:avLst/>
          </a:prstGeom>
          <a:solidFill>
            <a:srgbClr val="D5DEDD"/>
          </a:solidFill>
          <a:ln w="0">
            <a:noFill/>
          </a:ln>
        </p:spPr>
      </p:sp>
      <p:sp>
        <p:nvSpPr>
          <p:cNvPr id="13" name="">
            <a:extLst>
              <a:ext uri="{FF2B5EF4-FFF2-40B4-BE49-F238E27FC236}">
                <ns2:creationId id="{E1601B7A-E545-4A41-99E7-181EDB382E6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4" name="">
            <a:extLst>
              <a:ext uri="{FF2B5EF4-FFF2-40B4-BE49-F238E27FC236}">
                <ns2:creationId id="{687D16A9-ED9E-48E8-8099-03068418A5DB}"/>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5" name="">
            <a:extLst>
              <a:ext uri="{FF2B5EF4-FFF2-40B4-BE49-F238E27FC236}">
                <ns2:creationId id="{536A9A2A-ED04-448F-9B97-DF2DD3B54031}"/>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6" name="">
            <a:extLst>
              <a:ext uri="{FF2B5EF4-FFF2-40B4-BE49-F238E27FC236}">
                <ns2:creationId id="{392CCF27-7995-4B98-8295-2149933FEE7F}"/>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025</a:t>
            </a:r>
          </a:p>
        </p:txBody>
      </p:sp>
    </p:spTree>
    <p:extLst>
      <p:ext uri="{BB962C8B-B14F-4D97-AF65-F5344CB8AC3E}">
        <ns4:creationId val="1741201162"/>
      </p:ext>
    </p:extLst>
  </p:cSld>
</p:sld>
</file>

<file path=ppt/slides/slide2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9" name="">
            <a:extLst>
              <a:ext uri="{FF2B5EF4-FFF2-40B4-BE49-F238E27FC236}">
                <ns2:creationId id="{8BA54AD9-2F85-4937-90DA-41BFACDBF70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83AFB173-4B4F-480B-BE30-46800290BB84}"/>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실행 순서로 현재 값 보기</a:t>
            </a:r>
          </a:p>
        </p:txBody>
      </p:sp>
      <p:graphicFrame>
        <p:nvGraphicFramePr>
          <p:cNvPr id="11" name=""/>
          <p:cNvGraphicFramePr/>
          <p:nvPr/>
        </p:nvGraphicFramePr>
        <p:xfrm>
          <a:off x="685800" y="1809750"/>
          <a:ext cx="10820400" cy="2682240"/>
        </p:xfrm>
        <a:graphic>
          <a:graphicData uri="http://schemas.openxmlformats.org/drawingml/2006/table">
            <a:tbl>
              <a:tblPr firstRow="1" bandRow="0"/>
              <a:tblGrid>
                <a:gridCol w="4223118"/>
                <a:gridCol w="3912279"/>
                <a:gridCol w="2685003"/>
              </a:tblGrid>
              <a:tr h="536448">
                <a:tc>
                  <a:txBody>
                    <a:bodyPr wrap="square"/>
                    <a:lstStyle/>
                    <a:p>
                      <a:pPr>
                        <a:lnSpc>
                          <a:spcPct val="102000"/>
                        </a:lnSpc>
                        <a:buNone/>
                      </a:pPr>
                      <a:r>
                        <a:rPr sz="2025" b="1">
                          <a:solidFill>
                            <a:srgbClr val="172F39"/>
                          </a:solidFill>
                          <a:latin typeface="Noto Sans KR"/>
                          <a:ea typeface="Noto Sans KR"/>
                          <a:cs typeface="Noto Sans KR"/>
                        </a:rPr>
                        <a:t>행동</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현재 온도</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출력</a:t>
                      </a:r>
                    </a:p>
                  </a:txBody>
                  <a:tcPr marL="114300" marR="114300" marT="76200" marB="76200" anchor="ctr">
                    <a:solidFill>
                      <a:srgbClr val="DCECE8"/>
                    </a:solidFill>
                  </a:tcPr>
                </a:tc>
              </a:tr>
              <a:tr h="536448">
                <a:tc>
                  <a:txBody>
                    <a:bodyPr wrap="square"/>
                    <a:lstStyle/>
                    <a:p>
                      <a:pPr>
                        <a:lnSpc>
                          <a:spcPct val="102000"/>
                        </a:lnSpc>
                        <a:buNone/>
                      </a:pPr>
                      <a:r>
                        <a:rPr sz="2025" b="0">
                          <a:solidFill>
                            <a:srgbClr val="172F39"/>
                          </a:solidFill>
                          <a:latin typeface="Noto Sans KR"/>
                          <a:ea typeface="Noto Sans KR"/>
                          <a:cs typeface="Noto Sans KR"/>
                        </a:rPr>
                        <a:t>22.5 대입</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22.5</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없음</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첫 print</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22.5</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22.5</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24.0 대입</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24.0</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없음</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둘째 print</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24.0</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24.0</a:t>
                      </a:r>
                    </a:p>
                  </a:txBody>
                  <a:tcPr marL="114300" marR="114300" marT="76200" marB="76200" anchor="ctr">
                    <a:solidFill>
                      <a:srgbClr val="FFFFFF"/>
                    </a:solidFill>
                  </a:tcPr>
                </a:tc>
              </a:tr>
            </a:tbl>
          </a:graphicData>
        </a:graphic>
      </p:graphicFrame>
      <p:sp>
        <p:nvSpPr>
          <p:cNvPr id="4" name="">
            <a:extLst>
              <a:ext uri="{FF2B5EF4-FFF2-40B4-BE49-F238E27FC236}">
                <ns2:creationId id="{B22E6428-5A8F-424A-96FE-CA77696B1AFA}"/>
              </a:ext>
            </a:extLst>
          </p:cNvPr>
          <p:cNvSpPr>
            <a:spLocks noGrp="1"/>
          </p:cNvSpPr>
          <p:nvPr/>
        </p:nvSpPr>
        <p:spPr>
          <a:xfrm>
            <a:off x="685800" y="6172200"/>
            <a:ext cx="10820400" cy="9525"/>
          </a:xfrm>
          <a:prstGeom prst="rect">
            <a:avLst/>
          </a:prstGeom>
          <a:solidFill>
            <a:srgbClr val="D5DEDD"/>
          </a:solidFill>
          <a:ln w="0">
            <a:noFill/>
          </a:ln>
        </p:spPr>
      </p:sp>
      <p:sp>
        <p:nvSpPr>
          <p:cNvPr id="5" name="">
            <a:extLst>
              <a:ext uri="{FF2B5EF4-FFF2-40B4-BE49-F238E27FC236}">
                <ns2:creationId id="{C8E2E3C5-B8E6-4647-BBE8-0FFFCD8B8053}"/>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6" name="">
            <a:extLst>
              <a:ext uri="{FF2B5EF4-FFF2-40B4-BE49-F238E27FC236}">
                <ns2:creationId id="{2644CB30-8345-44B2-9E61-1464DA0FB289}"/>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7" name="">
            <a:extLst>
              <a:ext uri="{FF2B5EF4-FFF2-40B4-BE49-F238E27FC236}">
                <ns2:creationId id="{7C1278AA-520B-4D09-B4C1-3A88898C821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8" name="">
            <a:extLst>
              <a:ext uri="{FF2B5EF4-FFF2-40B4-BE49-F238E27FC236}">
                <ns2:creationId id="{AB3B3786-101D-4BC4-9BFA-49D92EFC511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026</a:t>
            </a:r>
          </a:p>
        </p:txBody>
      </p:sp>
    </p:spTree>
    <p:extLst>
      <p:ext uri="{BB962C8B-B14F-4D97-AF65-F5344CB8AC3E}">
        <ns4:creationId val="2041957197"/>
      </p:ext>
    </p:extLst>
  </p:cSld>
</p:sld>
</file>

<file path=ppt/slides/slide2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D8F4B2A4-32F6-421E-945A-0D35512846EA}"/>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A3DAA134-A995-41FD-8369-40ED79311CBC}"/>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수정 뒤 어떤 출력이 바뀌나요?</a:t>
            </a:r>
          </a:p>
        </p:txBody>
      </p:sp>
      <p:sp>
        <p:nvSpPr>
          <p:cNvPr id="3" name="">
            <a:extLst>
              <a:ext uri="{FF2B5EF4-FFF2-40B4-BE49-F238E27FC236}">
                <ns2:creationId id="{418FEFEE-AB41-4642-ACFD-2FF26587EB5A}"/>
              </a:ext>
            </a:extLst>
          </p:cNvPr>
          <p:cNvSpPr>
            <a:spLocks noGrp="1"/>
          </p:cNvSpPr>
          <p:nvPr/>
        </p:nvSpPr>
        <p:spPr>
          <a:xfrm>
            <a:off x="685800" y="193357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둘째 대입을 25.0으로 바꿉니다.</a:t>
            </a:r>
          </a:p>
        </p:txBody>
      </p:sp>
      <p:sp>
        <p:nvSpPr>
          <p:cNvPr id="4" name="">
            <a:extLst>
              <a:ext uri="{FF2B5EF4-FFF2-40B4-BE49-F238E27FC236}">
                <ns2:creationId id="{DE02D627-9712-450B-9537-02D9BF149D16}"/>
              </a:ext>
            </a:extLst>
          </p:cNvPr>
          <p:cNvSpPr>
            <a:spLocks noGrp="1"/>
          </p:cNvSpPr>
          <p:nvPr/>
        </p:nvSpPr>
        <p:spPr>
          <a:xfrm>
            <a:off x="685800" y="243268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첫 출력은 22.5를 유지합니다.</a:t>
            </a:r>
          </a:p>
        </p:txBody>
      </p:sp>
      <p:sp>
        <p:nvSpPr>
          <p:cNvPr id="5" name="">
            <a:extLst>
              <a:ext uri="{FF2B5EF4-FFF2-40B4-BE49-F238E27FC236}">
                <ns2:creationId id="{3708DDA3-3CCB-483B-8084-01828C113835}"/>
              </a:ext>
            </a:extLst>
          </p:cNvPr>
          <p:cNvSpPr>
            <a:spLocks noGrp="1"/>
          </p:cNvSpPr>
          <p:nvPr/>
        </p:nvSpPr>
        <p:spPr>
          <a:xfrm>
            <a:off x="685800" y="293179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둘째 출력은 25.0이 됩니다.</a:t>
            </a:r>
          </a:p>
        </p:txBody>
      </p:sp>
      <p:sp>
        <p:nvSpPr>
          <p:cNvPr id="6" name="">
            <a:extLst>
              <a:ext uri="{FF2B5EF4-FFF2-40B4-BE49-F238E27FC236}">
                <ns2:creationId id="{0387C45A-D7C6-43E6-993F-BA6B3C7EBB4F}"/>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수정 전 · 실행 순서로 현재 값 보기</a:t>
            </a:r>
          </a:p>
        </p:txBody>
      </p:sp>
      <p:graphicFrame>
        <p:nvGraphicFramePr>
          <p:cNvPr id="19" name=""/>
          <p:cNvGraphicFramePr/>
          <p:nvPr/>
        </p:nvGraphicFramePr>
        <p:xfrm>
          <a:off x="6267450" y="2628900"/>
          <a:ext cx="5238750" cy="2571750"/>
        </p:xfrm>
        <a:graphic>
          <a:graphicData uri="http://schemas.openxmlformats.org/drawingml/2006/table">
            <a:tbl>
              <a:tblPr firstRow="1" bandRow="0"/>
              <a:tblGrid>
                <a:gridCol w="2044643"/>
                <a:gridCol w="1894149"/>
                <a:gridCol w="1299957"/>
              </a:tblGrid>
              <a:tr h="514350">
                <a:tc>
                  <a:txBody>
                    <a:bodyPr wrap="square"/>
                    <a:lstStyle/>
                    <a:p>
                      <a:pPr>
                        <a:lnSpc>
                          <a:spcPct val="102000"/>
                        </a:lnSpc>
                        <a:buNone/>
                      </a:pPr>
                      <a:r>
                        <a:rPr sz="1875" b="1">
                          <a:solidFill>
                            <a:srgbClr val="172F39"/>
                          </a:solidFill>
                          <a:latin typeface="Noto Sans KR"/>
                          <a:ea typeface="Noto Sans KR"/>
                          <a:cs typeface="Noto Sans KR"/>
                        </a:rPr>
                        <a:t>행동</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현재 온도</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출력</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22.5 대입</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22.5</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없음</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첫 print</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22.5</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22.5</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24.0 대입</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24.0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없음</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둘째 print</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24.0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24.0</a:t>
                      </a:r>
                    </a:p>
                  </a:txBody>
                  <a:tcPr marL="114300" marR="114300" marT="76200" marB="76200" anchor="ctr">
                    <a:solidFill>
                      <a:srgbClr val="FFFFFF"/>
                    </a:solidFill>
                  </a:tcPr>
                </a:tc>
              </a:tr>
            </a:tbl>
          </a:graphicData>
        </a:graphic>
      </p:graphicFrame>
      <p:sp>
        <p:nvSpPr>
          <p:cNvPr id="8" name="">
            <a:extLst>
              <a:ext uri="{FF2B5EF4-FFF2-40B4-BE49-F238E27FC236}">
                <ns2:creationId id="{A74BF79E-72AF-4BBA-B24E-2C9C7B4B0FE2}"/>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66C5D656-965B-4881-A8D8-65DC593889BD}"/>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F0288BF6-B87F-4111-85FD-2F8E3834E4F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A8CD710F-DC0B-4656-BB6C-63CAB145CDFE}"/>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A51C9C4B-95B3-4950-811E-52EA8F9536F6}"/>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027</a:t>
            </a:r>
          </a:p>
        </p:txBody>
      </p:sp>
    </p:spTree>
    <p:extLst>
      <p:ext uri="{BB962C8B-B14F-4D97-AF65-F5344CB8AC3E}">
        <ns4:creationId val="1226999470"/>
      </p:ext>
    </p:extLst>
  </p:cSld>
</p:sld>
</file>

<file path=ppt/slides/slide2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5" name="">
            <a:extLst>
              <a:ext uri="{FF2B5EF4-FFF2-40B4-BE49-F238E27FC236}">
                <ns2:creationId id="{48EE24BF-626B-4CBA-8A9C-2A88F9195931}"/>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42934189-4E39-4161-8111-C74D850F710F}"/>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완성 예 · 이름을 똑같이 쓰기</a:t>
            </a:r>
          </a:p>
        </p:txBody>
      </p:sp>
      <p:sp>
        <p:nvSpPr>
          <p:cNvPr id="3" name="">
            <a:extLst>
              <a:ext uri="{FF2B5EF4-FFF2-40B4-BE49-F238E27FC236}">
                <ns2:creationId id="{295C3A9F-31AD-4181-A0E4-288158875FFC}"/>
              </a:ext>
            </a:extLst>
          </p:cNvPr>
          <p:cNvSpPr>
            <a:spLocks noGrp="1"/>
          </p:cNvSpPr>
          <p:nvPr/>
        </p:nvSpPr>
        <p:spPr>
          <a:xfrm>
            <a:off x="685800" y="1809750"/>
            <a:ext cx="10820400" cy="1274826"/>
          </a:xfrm>
          <a:prstGeom prst="rect">
            <a:avLst/>
          </a:prstGeom>
          <a:solidFill>
            <a:srgbClr val="F1F6F5"/>
          </a:solidFill>
          <a:ln w="0">
            <a:noFill/>
          </a:ln>
        </p:spPr>
      </p:sp>
      <p:sp>
        <p:nvSpPr>
          <p:cNvPr id="4" name="">
            <a:extLst>
              <a:ext uri="{FF2B5EF4-FFF2-40B4-BE49-F238E27FC236}">
                <ns2:creationId id="{4C17B378-78EC-45CF-B419-ECB34453B10D}"/>
              </a:ext>
            </a:extLst>
          </p:cNvPr>
          <p:cNvSpPr>
            <a:spLocks noGrp="1"/>
          </p:cNvSpPr>
          <p:nvPr/>
        </p:nvSpPr>
        <p:spPr>
          <a:xfrm>
            <a:off x="828675" y="197167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5" name="">
            <a:extLst>
              <a:ext uri="{FF2B5EF4-FFF2-40B4-BE49-F238E27FC236}">
                <ns2:creationId id="{83494BBF-27C3-4DF5-B801-9068B9EF78F3}"/>
              </a:ext>
            </a:extLst>
          </p:cNvPr>
          <p:cNvSpPr>
            <a:spLocks noGrp="1"/>
          </p:cNvSpPr>
          <p:nvPr/>
        </p:nvSpPr>
        <p:spPr>
          <a:xfrm>
            <a:off x="1276350" y="193357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sensor_id = "S01"</a:t>
            </a:r>
          </a:p>
        </p:txBody>
      </p:sp>
      <p:sp>
        <p:nvSpPr>
          <p:cNvPr id="6" name="">
            <a:extLst>
              <a:ext uri="{FF2B5EF4-FFF2-40B4-BE49-F238E27FC236}">
                <ns2:creationId id="{02EA6204-24CD-4F23-AA51-7E088719C2EF}"/>
              </a:ext>
            </a:extLst>
          </p:cNvPr>
          <p:cNvSpPr>
            <a:spLocks noGrp="1"/>
          </p:cNvSpPr>
          <p:nvPr/>
        </p:nvSpPr>
        <p:spPr>
          <a:xfrm>
            <a:off x="828675" y="228866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7" name="">
            <a:extLst>
              <a:ext uri="{FF2B5EF4-FFF2-40B4-BE49-F238E27FC236}">
                <ns2:creationId id="{0899AF46-43DB-4693-86F3-C29A804103A4}"/>
              </a:ext>
            </a:extLst>
          </p:cNvPr>
          <p:cNvSpPr>
            <a:spLocks noGrp="1"/>
          </p:cNvSpPr>
          <p:nvPr/>
        </p:nvSpPr>
        <p:spPr>
          <a:xfrm>
            <a:off x="1276350" y="225056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temperature_c = 22.5</a:t>
            </a:r>
          </a:p>
        </p:txBody>
      </p:sp>
      <p:sp>
        <p:nvSpPr>
          <p:cNvPr id="8" name="">
            <a:extLst>
              <a:ext uri="{FF2B5EF4-FFF2-40B4-BE49-F238E27FC236}">
                <ns2:creationId id="{A6F4D695-EDD5-4DF5-8AC6-C5E083E4581E}"/>
              </a:ext>
            </a:extLst>
          </p:cNvPr>
          <p:cNvSpPr>
            <a:spLocks noGrp="1"/>
          </p:cNvSpPr>
          <p:nvPr/>
        </p:nvSpPr>
        <p:spPr>
          <a:xfrm>
            <a:off x="828675" y="260565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9" name="">
            <a:extLst>
              <a:ext uri="{FF2B5EF4-FFF2-40B4-BE49-F238E27FC236}">
                <ns2:creationId id="{7FF432D1-A890-4148-9203-AD4E064D939A}"/>
              </a:ext>
            </a:extLst>
          </p:cNvPr>
          <p:cNvSpPr>
            <a:spLocks noGrp="1"/>
          </p:cNvSpPr>
          <p:nvPr/>
        </p:nvSpPr>
        <p:spPr>
          <a:xfrm>
            <a:off x="1276350" y="2567559"/>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print(sensor_id, temperature_c)</a:t>
            </a:r>
          </a:p>
        </p:txBody>
      </p:sp>
      <p:sp>
        <p:nvSpPr>
          <p:cNvPr id="10" name="">
            <a:extLst>
              <a:ext uri="{FF2B5EF4-FFF2-40B4-BE49-F238E27FC236}">
                <ns2:creationId id="{5951355C-748B-4375-A6A9-D929B30A136D}"/>
              </a:ext>
            </a:extLst>
          </p:cNvPr>
          <p:cNvSpPr>
            <a:spLocks noGrp="1"/>
          </p:cNvSpPr>
          <p:nvPr/>
        </p:nvSpPr>
        <p:spPr>
          <a:xfrm>
            <a:off x="685800" y="6172200"/>
            <a:ext cx="10820400" cy="9525"/>
          </a:xfrm>
          <a:prstGeom prst="rect">
            <a:avLst/>
          </a:prstGeom>
          <a:solidFill>
            <a:srgbClr val="D5DEDD"/>
          </a:solidFill>
          <a:ln w="0">
            <a:noFill/>
          </a:ln>
        </p:spPr>
      </p:sp>
      <p:sp>
        <p:nvSpPr>
          <p:cNvPr id="11" name="">
            <a:extLst>
              <a:ext uri="{FF2B5EF4-FFF2-40B4-BE49-F238E27FC236}">
                <ns2:creationId id="{C2066758-AABB-4CF5-A540-601191B53CB7}"/>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2" name="">
            <a:extLst>
              <a:ext uri="{FF2B5EF4-FFF2-40B4-BE49-F238E27FC236}">
                <ns2:creationId id="{05C1E958-2873-410D-9837-89DCC432F131}"/>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3" name="">
            <a:extLst>
              <a:ext uri="{FF2B5EF4-FFF2-40B4-BE49-F238E27FC236}">
                <ns2:creationId id="{B9997261-AB28-42BF-8C11-F5B1F68F7883}"/>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4" name="">
            <a:extLst>
              <a:ext uri="{FF2B5EF4-FFF2-40B4-BE49-F238E27FC236}">
                <ns2:creationId id="{142FA497-08DF-4FDE-831B-F2BB16D3DFA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028</a:t>
            </a:r>
          </a:p>
        </p:txBody>
      </p:sp>
    </p:spTree>
    <p:extLst>
      <p:ext uri="{BB962C8B-B14F-4D97-AF65-F5344CB8AC3E}">
        <ns4:creationId val="357793611"/>
      </p:ext>
    </p:extLst>
  </p:cSld>
</p:sld>
</file>

<file path=ppt/slides/slide2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9" name="">
            <a:extLst>
              <a:ext uri="{FF2B5EF4-FFF2-40B4-BE49-F238E27FC236}">
                <ns2:creationId id="{2813785F-3339-4B3C-8EB9-5BDA07A7DED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68590E7A-BB16-4014-A0FF-76B15A3EB42F}"/>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이름 오류는 철자부터 확인합니다</a:t>
            </a:r>
          </a:p>
        </p:txBody>
      </p:sp>
      <p:sp>
        <p:nvSpPr>
          <p:cNvPr id="3" name="">
            <a:extLst>
              <a:ext uri="{FF2B5EF4-FFF2-40B4-BE49-F238E27FC236}">
                <ns2:creationId id="{C6CF3C51-809A-411F-9CE8-1274BCA01D4A}"/>
              </a:ext>
            </a:extLst>
          </p:cNvPr>
          <p:cNvSpPr>
            <a:spLocks noGrp="1"/>
          </p:cNvSpPr>
          <p:nvPr/>
        </p:nvSpPr>
        <p:spPr>
          <a:xfrm>
            <a:off x="685800" y="193357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sensor_id와 Sensor_id는 다른 이름입니다.</a:t>
            </a:r>
          </a:p>
        </p:txBody>
      </p:sp>
      <p:sp>
        <p:nvSpPr>
          <p:cNvPr id="4" name="">
            <a:extLst>
              <a:ext uri="{FF2B5EF4-FFF2-40B4-BE49-F238E27FC236}">
                <ns2:creationId id="{96A3DCDB-0228-463E-9EF2-65D66945C4FD}"/>
              </a:ext>
            </a:extLst>
          </p:cNvPr>
          <p:cNvSpPr>
            <a:spLocks noGrp="1"/>
          </p:cNvSpPr>
          <p:nvPr/>
        </p:nvSpPr>
        <p:spPr>
          <a:xfrm>
            <a:off x="685800" y="276987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정의한 이름과 사용하는 이름을 비교합니다.</a:t>
            </a:r>
          </a:p>
        </p:txBody>
      </p:sp>
      <p:sp>
        <p:nvSpPr>
          <p:cNvPr id="5" name="">
            <a:extLst>
              <a:ext uri="{FF2B5EF4-FFF2-40B4-BE49-F238E27FC236}">
                <ns2:creationId id="{456B27B7-D8EB-4B75-8517-CA5188EB0734}"/>
              </a:ext>
            </a:extLst>
          </p:cNvPr>
          <p:cNvSpPr>
            <a:spLocks noGrp="1"/>
          </p:cNvSpPr>
          <p:nvPr/>
        </p:nvSpPr>
        <p:spPr>
          <a:xfrm>
            <a:off x="685800" y="360616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사용하기 전에 대입한 줄이 실행되어야 합니다.</a:t>
            </a:r>
          </a:p>
        </p:txBody>
      </p:sp>
      <p:sp>
        <p:nvSpPr>
          <p:cNvPr id="6" name="">
            <a:extLst>
              <a:ext uri="{FF2B5EF4-FFF2-40B4-BE49-F238E27FC236}">
                <ns2:creationId id="{EC08891D-1AB3-4656-AEDB-DB1F56F7B7AF}"/>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완성 예 · 이름을 똑같이 쓰기</a:t>
            </a:r>
          </a:p>
        </p:txBody>
      </p:sp>
      <p:sp>
        <p:nvSpPr>
          <p:cNvPr id="7" name="">
            <a:extLst>
              <a:ext uri="{FF2B5EF4-FFF2-40B4-BE49-F238E27FC236}">
                <ns2:creationId id="{C36C2851-1993-490F-A5F0-6135B9E8B383}"/>
              </a:ext>
            </a:extLst>
          </p:cNvPr>
          <p:cNvSpPr>
            <a:spLocks noGrp="1"/>
          </p:cNvSpPr>
          <p:nvPr/>
        </p:nvSpPr>
        <p:spPr>
          <a:xfrm>
            <a:off x="6267450" y="2628900"/>
            <a:ext cx="5238750" cy="1201674"/>
          </a:xfrm>
          <a:prstGeom prst="rect">
            <a:avLst/>
          </a:prstGeom>
          <a:solidFill>
            <a:srgbClr val="F1F6F5"/>
          </a:solidFill>
          <a:ln w="0">
            <a:noFill/>
          </a:ln>
        </p:spPr>
      </p:sp>
      <p:sp>
        <p:nvSpPr>
          <p:cNvPr id="8" name="">
            <a:extLst>
              <a:ext uri="{FF2B5EF4-FFF2-40B4-BE49-F238E27FC236}">
                <ns2:creationId id="{1AC418AD-E918-4DA9-BC92-32D2DCE76D65}"/>
              </a:ext>
            </a:extLst>
          </p:cNvPr>
          <p:cNvSpPr>
            <a:spLocks noGrp="1"/>
          </p:cNvSpPr>
          <p:nvPr/>
        </p:nvSpPr>
        <p:spPr>
          <a:xfrm>
            <a:off x="6410325" y="2790825"/>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9" name="">
            <a:extLst>
              <a:ext uri="{FF2B5EF4-FFF2-40B4-BE49-F238E27FC236}">
                <ns2:creationId id="{596A1C63-FDF8-4333-82A2-4DBA1B132DB0}"/>
              </a:ext>
            </a:extLst>
          </p:cNvPr>
          <p:cNvSpPr>
            <a:spLocks noGrp="1"/>
          </p:cNvSpPr>
          <p:nvPr/>
        </p:nvSpPr>
        <p:spPr>
          <a:xfrm>
            <a:off x="6858000" y="2752725"/>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sensor_id = "S01"</a:t>
            </a:r>
          </a:p>
        </p:txBody>
      </p:sp>
      <p:sp>
        <p:nvSpPr>
          <p:cNvPr id="10" name="">
            <a:extLst>
              <a:ext uri="{FF2B5EF4-FFF2-40B4-BE49-F238E27FC236}">
                <ns2:creationId id="{363D5E89-FFCD-4AAA-BDDE-682AAE3866F5}"/>
              </a:ext>
            </a:extLst>
          </p:cNvPr>
          <p:cNvSpPr>
            <a:spLocks noGrp="1"/>
          </p:cNvSpPr>
          <p:nvPr/>
        </p:nvSpPr>
        <p:spPr>
          <a:xfrm>
            <a:off x="6410325" y="3083433"/>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11" name="">
            <a:extLst>
              <a:ext uri="{FF2B5EF4-FFF2-40B4-BE49-F238E27FC236}">
                <ns2:creationId id="{F5019F07-2FDF-46E1-A89B-23B9457CB79C}"/>
              </a:ext>
            </a:extLst>
          </p:cNvPr>
          <p:cNvSpPr>
            <a:spLocks noGrp="1"/>
          </p:cNvSpPr>
          <p:nvPr/>
        </p:nvSpPr>
        <p:spPr>
          <a:xfrm>
            <a:off x="6858000" y="3045333"/>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temperature_c = 22.5</a:t>
            </a:r>
          </a:p>
        </p:txBody>
      </p:sp>
      <p:sp>
        <p:nvSpPr>
          <p:cNvPr id="12" name="">
            <a:extLst>
              <a:ext uri="{FF2B5EF4-FFF2-40B4-BE49-F238E27FC236}">
                <ns2:creationId id="{9A417B9C-C3F2-432C-8CDA-33652F7AF42E}"/>
              </a:ext>
            </a:extLst>
          </p:cNvPr>
          <p:cNvSpPr>
            <a:spLocks noGrp="1"/>
          </p:cNvSpPr>
          <p:nvPr/>
        </p:nvSpPr>
        <p:spPr>
          <a:xfrm>
            <a:off x="6410325" y="3376041"/>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3" name="">
            <a:extLst>
              <a:ext uri="{FF2B5EF4-FFF2-40B4-BE49-F238E27FC236}">
                <ns2:creationId id="{28073BB0-94C1-44D1-8560-79BD37331108}"/>
              </a:ext>
            </a:extLst>
          </p:cNvPr>
          <p:cNvSpPr>
            <a:spLocks noGrp="1"/>
          </p:cNvSpPr>
          <p:nvPr/>
        </p:nvSpPr>
        <p:spPr>
          <a:xfrm>
            <a:off x="6858000" y="3337941"/>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print(sensor_id, temperature_c)</a:t>
            </a:r>
          </a:p>
        </p:txBody>
      </p:sp>
      <p:sp>
        <p:nvSpPr>
          <p:cNvPr id="14" name="">
            <a:extLst>
              <a:ext uri="{FF2B5EF4-FFF2-40B4-BE49-F238E27FC236}">
                <ns2:creationId id="{D45EEEB0-77D5-4E84-AE93-747CC0F92C35}"/>
              </a:ext>
            </a:extLst>
          </p:cNvPr>
          <p:cNvSpPr>
            <a:spLocks noGrp="1"/>
          </p:cNvSpPr>
          <p:nvPr/>
        </p:nvSpPr>
        <p:spPr>
          <a:xfrm>
            <a:off x="685800" y="6172200"/>
            <a:ext cx="10820400" cy="9525"/>
          </a:xfrm>
          <a:prstGeom prst="rect">
            <a:avLst/>
          </a:prstGeom>
          <a:solidFill>
            <a:srgbClr val="D5DEDD"/>
          </a:solidFill>
          <a:ln w="0">
            <a:noFill/>
          </a:ln>
        </p:spPr>
      </p:sp>
      <p:sp>
        <p:nvSpPr>
          <p:cNvPr id="15" name="">
            <a:extLst>
              <a:ext uri="{FF2B5EF4-FFF2-40B4-BE49-F238E27FC236}">
                <ns2:creationId id="{CB74A9E3-3D6F-471E-AAEB-344A2317EAA2}"/>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6" name="">
            <a:extLst>
              <a:ext uri="{FF2B5EF4-FFF2-40B4-BE49-F238E27FC236}">
                <ns2:creationId id="{F94AEB59-ED12-4760-ACBC-FF1384EABF2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7" name="">
            <a:extLst>
              <a:ext uri="{FF2B5EF4-FFF2-40B4-BE49-F238E27FC236}">
                <ns2:creationId id="{53EAB4AC-00B3-4E3E-92BC-42FDDE61546A}"/>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8" name="">
            <a:extLst>
              <a:ext uri="{FF2B5EF4-FFF2-40B4-BE49-F238E27FC236}">
                <ns2:creationId id="{4414CE2A-2359-4778-A375-5E7889CB7327}"/>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029</a:t>
            </a:r>
          </a:p>
        </p:txBody>
      </p:sp>
    </p:spTree>
    <p:extLst>
      <p:ext uri="{BB962C8B-B14F-4D97-AF65-F5344CB8AC3E}">
        <ns4:creationId val="1236244779"/>
      </p:ext>
    </p:extLst>
  </p:cSld>
</p:sld>
</file>

<file path=ppt/slides/slide3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0AD227DA-5BDB-4C7F-81EB-B82B46F4CD2D}"/>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CD925C06-7C91-4289-98BA-3BB8D4B2DF98}"/>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입고와 출고 뒤 재고</a:t>
            </a:r>
          </a:p>
        </p:txBody>
      </p:sp>
      <p:sp>
        <p:nvSpPr>
          <p:cNvPr id="3" name="">
            <a:extLst>
              <a:ext uri="{FF2B5EF4-FFF2-40B4-BE49-F238E27FC236}">
                <ns2:creationId id="{2C6EA81F-BC59-4439-B4A6-8C1A4E096F10}"/>
              </a:ext>
            </a:extLst>
          </p:cNvPr>
          <p:cNvSpPr>
            <a:spLocks noGrp="1"/>
          </p:cNvSpPr>
          <p:nvPr/>
        </p:nvSpPr>
        <p:spPr>
          <a:xfrm>
            <a:off x="685800" y="1933575"/>
            <a:ext cx="4800600" cy="788670"/>
          </a:xfrm>
          <a:prstGeom prst="rect">
            <a:avLst/>
          </a:prstGeom>
          <a:noFill/>
          <a:ln w="0">
            <a:noFill/>
          </a:ln>
        </p:spPr>
        <p:txBody>
          <a:bodyPr wrap="square" lIns="0" tIns="0" rIns="0" bIns="0">
            <a:noAutofit/>
          </a:bodyPr>
          <a:lstStyle/>
          <a:p>
            <a:pPr>
              <a:defRPr sz="2250" b="1">
                <a:solidFill>
                  <a:srgbClr val="172F39"/>
                </a:solidFill>
                <a:latin typeface="Noto Sans KR"/>
                <a:ea typeface="Noto Sans KR"/>
                <a:cs typeface="Noto Sans KR"/>
              </a:defRPr>
            </a:pPr>
            <a:r>
              <a:t>재고 8개에 3개 입고, 2개 출고가 이어집니다.</a:t>
            </a:r>
          </a:p>
        </p:txBody>
      </p:sp>
      <p:sp>
        <p:nvSpPr>
          <p:cNvPr id="4" name="">
            <a:extLst>
              <a:ext uri="{FF2B5EF4-FFF2-40B4-BE49-F238E27FC236}">
                <ns2:creationId id="{1F1844DE-EF60-4090-B731-BCF37BAF7DD6}"/>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현재 재고를 순서대로 계산</a:t>
            </a:r>
          </a:p>
        </p:txBody>
      </p:sp>
      <p:graphicFrame>
        <p:nvGraphicFramePr>
          <p:cNvPr id="15" name=""/>
          <p:cNvGraphicFramePr/>
          <p:nvPr/>
        </p:nvGraphicFramePr>
        <p:xfrm>
          <a:off x="6267450" y="2628900"/>
          <a:ext cx="5238750" cy="2057400"/>
        </p:xfrm>
        <a:graphic>
          <a:graphicData uri="http://schemas.openxmlformats.org/drawingml/2006/table">
            <a:tbl>
              <a:tblPr firstRow="1" bandRow="0"/>
              <a:tblGrid>
                <a:gridCol w="1800296"/>
                <a:gridCol w="1397745"/>
                <a:gridCol w="2040708"/>
              </a:tblGrid>
              <a:tr h="514350">
                <a:tc>
                  <a:txBody>
                    <a:bodyPr wrap="square"/>
                    <a:lstStyle/>
                    <a:p>
                      <a:pPr>
                        <a:lnSpc>
                          <a:spcPct val="102000"/>
                        </a:lnSpc>
                        <a:buNone/>
                      </a:pPr>
                      <a:r>
                        <a:rPr sz="1875" b="1">
                          <a:solidFill>
                            <a:srgbClr val="172F39"/>
                          </a:solidFill>
                          <a:latin typeface="Noto Sans KR"/>
                          <a:ea typeface="Noto Sans KR"/>
                          <a:cs typeface="Noto Sans KR"/>
                        </a:rPr>
                        <a:t>단계</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재고</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안내</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처음</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8</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아직 없음</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입고 +3</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11</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11</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출고 -2</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9</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9</a:t>
                      </a:r>
                    </a:p>
                  </a:txBody>
                  <a:tcPr marL="114300" marR="114300" marT="76200" marB="76200" anchor="ctr">
                    <a:solidFill>
                      <a:srgbClr val="FFFFFF"/>
                    </a:solidFill>
                  </a:tcPr>
                </a:tc>
              </a:tr>
            </a:tbl>
          </a:graphicData>
        </a:graphic>
      </p:graphicFrame>
      <p:sp>
        <p:nvSpPr>
          <p:cNvPr id="6" name="">
            <a:extLst>
              <a:ext uri="{FF2B5EF4-FFF2-40B4-BE49-F238E27FC236}">
                <ns2:creationId id="{FD7DE9ED-9B46-4BD6-99BB-86B981F4AF34}"/>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F54C0CD2-DE49-490F-B912-A4436AF983D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2FD1432B-C634-4D72-B992-5820743D37E6}"/>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3BD3BA84-C1CB-44BD-AD21-134CD156134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7C247B90-74D2-4717-9A01-6C803DE4DAC3}"/>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030</a:t>
            </a:r>
          </a:p>
        </p:txBody>
      </p:sp>
    </p:spTree>
    <p:extLst>
      <p:ext uri="{BB962C8B-B14F-4D97-AF65-F5344CB8AC3E}">
        <ns4:creationId val="1339882533"/>
      </p:ext>
    </p:extLst>
  </p:cSld>
</p:sld>
</file>

<file path=ppt/slides/slide3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9" name="">
            <a:extLst>
              <a:ext uri="{FF2B5EF4-FFF2-40B4-BE49-F238E27FC236}">
                <ns2:creationId id="{20E3CA0C-A6E7-4185-8EE4-80FEFCFD603F}"/>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FBFFECAB-4699-4A45-B004-508C7300A6C7}"/>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현재 재고를 순서대로 계산</a:t>
            </a:r>
          </a:p>
        </p:txBody>
      </p:sp>
      <p:graphicFrame>
        <p:nvGraphicFramePr>
          <p:cNvPr id="11" name=""/>
          <p:cNvGraphicFramePr/>
          <p:nvPr/>
        </p:nvGraphicFramePr>
        <p:xfrm>
          <a:off x="685800" y="1809750"/>
          <a:ext cx="10820400" cy="2145792"/>
        </p:xfrm>
        <a:graphic>
          <a:graphicData uri="http://schemas.openxmlformats.org/drawingml/2006/table">
            <a:tbl>
              <a:tblPr firstRow="1" bandRow="0"/>
              <a:tblGrid>
                <a:gridCol w="3718430"/>
                <a:gridCol w="2886980"/>
                <a:gridCol w="4214990"/>
              </a:tblGrid>
              <a:tr h="536448">
                <a:tc>
                  <a:txBody>
                    <a:bodyPr wrap="square"/>
                    <a:lstStyle/>
                    <a:p>
                      <a:pPr>
                        <a:lnSpc>
                          <a:spcPct val="102000"/>
                        </a:lnSpc>
                        <a:buNone/>
                      </a:pPr>
                      <a:r>
                        <a:rPr sz="2025" b="1">
                          <a:solidFill>
                            <a:srgbClr val="172F39"/>
                          </a:solidFill>
                          <a:latin typeface="Noto Sans KR"/>
                          <a:ea typeface="Noto Sans KR"/>
                          <a:cs typeface="Noto Sans KR"/>
                        </a:rPr>
                        <a:t>단계</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재고</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안내</a:t>
                      </a:r>
                    </a:p>
                  </a:txBody>
                  <a:tcPr marL="114300" marR="114300" marT="76200" marB="76200" anchor="ctr">
                    <a:solidFill>
                      <a:srgbClr val="DCECE8"/>
                    </a:solidFill>
                  </a:tcPr>
                </a:tc>
              </a:tr>
              <a:tr h="536448">
                <a:tc>
                  <a:txBody>
                    <a:bodyPr wrap="square"/>
                    <a:lstStyle/>
                    <a:p>
                      <a:pPr>
                        <a:lnSpc>
                          <a:spcPct val="102000"/>
                        </a:lnSpc>
                        <a:buNone/>
                      </a:pPr>
                      <a:r>
                        <a:rPr sz="2025" b="0">
                          <a:solidFill>
                            <a:srgbClr val="172F39"/>
                          </a:solidFill>
                          <a:latin typeface="Noto Sans KR"/>
                          <a:ea typeface="Noto Sans KR"/>
                          <a:cs typeface="Noto Sans KR"/>
                        </a:rPr>
                        <a:t>처음</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8</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아직 없음</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입고 +3</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11</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11</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출고 -2</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9</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9</a:t>
                      </a:r>
                    </a:p>
                  </a:txBody>
                  <a:tcPr marL="114300" marR="114300" marT="76200" marB="76200" anchor="ctr">
                    <a:solidFill>
                      <a:srgbClr val="FFFFFF"/>
                    </a:solidFill>
                  </a:tcPr>
                </a:tc>
              </a:tr>
            </a:tbl>
          </a:graphicData>
        </a:graphic>
      </p:graphicFrame>
      <p:sp>
        <p:nvSpPr>
          <p:cNvPr id="4" name="">
            <a:extLst>
              <a:ext uri="{FF2B5EF4-FFF2-40B4-BE49-F238E27FC236}">
                <ns2:creationId id="{2DA74661-8CB1-4E8A-BE5B-F9BAEA2E6672}"/>
              </a:ext>
            </a:extLst>
          </p:cNvPr>
          <p:cNvSpPr>
            <a:spLocks noGrp="1"/>
          </p:cNvSpPr>
          <p:nvPr/>
        </p:nvSpPr>
        <p:spPr>
          <a:xfrm>
            <a:off x="685800" y="6172200"/>
            <a:ext cx="10820400" cy="9525"/>
          </a:xfrm>
          <a:prstGeom prst="rect">
            <a:avLst/>
          </a:prstGeom>
          <a:solidFill>
            <a:srgbClr val="D5DEDD"/>
          </a:solidFill>
          <a:ln w="0">
            <a:noFill/>
          </a:ln>
        </p:spPr>
      </p:sp>
      <p:sp>
        <p:nvSpPr>
          <p:cNvPr id="5" name="">
            <a:extLst>
              <a:ext uri="{FF2B5EF4-FFF2-40B4-BE49-F238E27FC236}">
                <ns2:creationId id="{96952A60-B0BC-440A-8A48-7E45AE02B207}"/>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6" name="">
            <a:extLst>
              <a:ext uri="{FF2B5EF4-FFF2-40B4-BE49-F238E27FC236}">
                <ns2:creationId id="{D4620AD6-1634-42BF-AF2A-E423AE9650A0}"/>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7" name="">
            <a:extLst>
              <a:ext uri="{FF2B5EF4-FFF2-40B4-BE49-F238E27FC236}">
                <ns2:creationId id="{CEA574EF-E774-4D73-AB3E-F663EBE971C7}"/>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8" name="">
            <a:extLst>
              <a:ext uri="{FF2B5EF4-FFF2-40B4-BE49-F238E27FC236}">
                <ns2:creationId id="{A0102668-A7A5-4EB9-9C54-701577C36FAC}"/>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031</a:t>
            </a:r>
          </a:p>
        </p:txBody>
      </p:sp>
    </p:spTree>
    <p:extLst>
      <p:ext uri="{BB962C8B-B14F-4D97-AF65-F5344CB8AC3E}">
        <ns4:creationId val="1282910867"/>
      </p:ext>
    </p:extLst>
  </p:cSld>
</p:sld>
</file>

<file path=ppt/slides/slide3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D99D9BE2-AFCC-4C03-A91B-E7EFF6C095E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982BCC98-1460-49F9-AC33-7491BC33EDE3}"/>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추가 복습 · 새 문제</a:t>
            </a:r>
          </a:p>
        </p:txBody>
      </p:sp>
      <p:sp>
        <p:nvSpPr>
          <p:cNvPr id="3" name="">
            <a:extLst>
              <a:ext uri="{FF2B5EF4-FFF2-40B4-BE49-F238E27FC236}">
                <ns2:creationId id="{B51DAE01-086B-4C0C-A5B7-0E12D3F0C37B}"/>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추가 복습: 물 12병에서 4병을 배부합니다.</a:t>
            </a:r>
          </a:p>
        </p:txBody>
      </p:sp>
      <p:sp>
        <p:nvSpPr>
          <p:cNvPr id="4" name="">
            <a:extLst>
              <a:ext uri="{FF2B5EF4-FFF2-40B4-BE49-F238E27FC236}">
                <ns2:creationId id="{877B03AD-ADEF-498A-BC30-7FBBC1C171B9}"/>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다시 6병을 받은 뒤 안내합니다.</a:t>
            </a:r>
          </a:p>
        </p:txBody>
      </p:sp>
      <p:sp>
        <p:nvSpPr>
          <p:cNvPr id="5" name="">
            <a:extLst>
              <a:ext uri="{FF2B5EF4-FFF2-40B4-BE49-F238E27FC236}">
                <ns2:creationId id="{875F6486-A3D5-4791-A93F-D3A8B496ABA0}"/>
              </a:ext>
            </a:extLst>
          </p:cNvPr>
          <p:cNvSpPr>
            <a:spLocks noGrp="1"/>
          </p:cNvSpPr>
          <p:nvPr/>
        </p:nvSpPr>
        <p:spPr>
          <a:xfrm>
            <a:off x="685800" y="3123819"/>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두 안내값과 print 위치를 정하세요.</a:t>
            </a:r>
          </a:p>
        </p:txBody>
      </p:sp>
      <p:sp>
        <p:nvSpPr>
          <p:cNvPr id="6" name="">
            <a:extLst>
              <a:ext uri="{FF2B5EF4-FFF2-40B4-BE49-F238E27FC236}">
                <ns2:creationId id="{53226B48-5388-45FE-842B-ECA7E64F9E59}"/>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A4BD06E5-4262-403E-86F5-406DB4E11BD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2872AFB7-BFC7-46A3-806A-8DB13CC78F79}"/>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7C726360-F7A9-4FD7-953F-6956BA2D81F5}"/>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690B0BB6-499B-4B08-8C6C-B0F2789B3800}"/>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032</a:t>
            </a:r>
          </a:p>
        </p:txBody>
      </p:sp>
    </p:spTree>
    <p:extLst>
      <p:ext uri="{BB962C8B-B14F-4D97-AF65-F5344CB8AC3E}">
        <ns4:creationId val="1132799871"/>
      </p:ext>
    </p:extLst>
  </p:cSld>
</p:sld>
</file>

<file path=ppt/slides/slide3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326A485A-1A59-433F-9B8E-2399ECAF4366}"/>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AED2BC7A-D49A-44A3-A8E9-312D2D0B91D3}"/>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언제 출력해야 8과 14일까요?</a:t>
            </a:r>
          </a:p>
        </p:txBody>
      </p:sp>
      <p:sp>
        <p:nvSpPr>
          <p:cNvPr id="3" name="">
            <a:extLst>
              <a:ext uri="{FF2B5EF4-FFF2-40B4-BE49-F238E27FC236}">
                <ns2:creationId id="{E54C8130-0305-4228-9A88-23DC90471A43}"/>
              </a:ext>
            </a:extLst>
          </p:cNvPr>
          <p:cNvSpPr>
            <a:spLocks noGrp="1"/>
          </p:cNvSpPr>
          <p:nvPr/>
        </p:nvSpPr>
        <p:spPr>
          <a:xfrm>
            <a:off x="685800" y="193357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배부 뒤 8, 추가 입고 뒤 14입니다.</a:t>
            </a:r>
          </a:p>
        </p:txBody>
      </p:sp>
      <p:sp>
        <p:nvSpPr>
          <p:cNvPr id="4" name="">
            <a:extLst>
              <a:ext uri="{FF2B5EF4-FFF2-40B4-BE49-F238E27FC236}">
                <ns2:creationId id="{A62AF9B5-0BB6-401D-987B-DCE35D83A84C}"/>
              </a:ext>
            </a:extLst>
          </p:cNvPr>
          <p:cNvSpPr>
            <a:spLocks noGrp="1"/>
          </p:cNvSpPr>
          <p:nvPr/>
        </p:nvSpPr>
        <p:spPr>
          <a:xfrm>
            <a:off x="685800" y="243268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모든 대입 뒤 두 번 출력하면 14·14가 됩니다.</a:t>
            </a:r>
          </a:p>
        </p:txBody>
      </p:sp>
      <p:sp>
        <p:nvSpPr>
          <p:cNvPr id="5" name="">
            <a:extLst>
              <a:ext uri="{FF2B5EF4-FFF2-40B4-BE49-F238E27FC236}">
                <ns2:creationId id="{07DCB4D5-5083-41CA-8908-1CA7380B34BD}"/>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추가 복습 · 새 문제</a:t>
            </a:r>
          </a:p>
        </p:txBody>
      </p:sp>
      <p:sp>
        <p:nvSpPr>
          <p:cNvPr id="6" name="">
            <a:extLst>
              <a:ext uri="{FF2B5EF4-FFF2-40B4-BE49-F238E27FC236}">
                <ns2:creationId id="{5671FD6A-10B0-4CB9-8BEB-E8B1EA7416D1}"/>
              </a:ext>
            </a:extLst>
          </p:cNvPr>
          <p:cNvSpPr>
            <a:spLocks noGrp="1"/>
          </p:cNvSpPr>
          <p:nvPr/>
        </p:nvSpPr>
        <p:spPr>
          <a:xfrm>
            <a:off x="6267450" y="2628900"/>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추가 복습: 물 12병에서 4병을 배부합니다.</a:t>
            </a:r>
          </a:p>
        </p:txBody>
      </p:sp>
      <p:sp>
        <p:nvSpPr>
          <p:cNvPr id="7" name="">
            <a:extLst>
              <a:ext uri="{FF2B5EF4-FFF2-40B4-BE49-F238E27FC236}">
                <ns2:creationId id="{F66E5B1F-90E1-4E5D-84FB-47CF298A4A63}"/>
              </a:ext>
            </a:extLst>
          </p:cNvPr>
          <p:cNvSpPr>
            <a:spLocks noGrp="1"/>
          </p:cNvSpPr>
          <p:nvPr/>
        </p:nvSpPr>
        <p:spPr>
          <a:xfrm>
            <a:off x="6267450" y="3116771"/>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다시 6병을 받은 뒤 안내합니다.</a:t>
            </a:r>
          </a:p>
        </p:txBody>
      </p:sp>
      <p:sp>
        <p:nvSpPr>
          <p:cNvPr id="8" name="">
            <a:extLst>
              <a:ext uri="{FF2B5EF4-FFF2-40B4-BE49-F238E27FC236}">
                <ns2:creationId id="{148C8F11-9FCC-474F-8024-C19725594C9A}"/>
              </a:ext>
            </a:extLst>
          </p:cNvPr>
          <p:cNvSpPr>
            <a:spLocks noGrp="1"/>
          </p:cNvSpPr>
          <p:nvPr/>
        </p:nvSpPr>
        <p:spPr>
          <a:xfrm>
            <a:off x="6267450" y="3604641"/>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두 안내값과 print 위치를 정하세요.</a:t>
            </a:r>
          </a:p>
        </p:txBody>
      </p:sp>
      <p:sp>
        <p:nvSpPr>
          <p:cNvPr id="9" name="">
            <a:extLst>
              <a:ext uri="{FF2B5EF4-FFF2-40B4-BE49-F238E27FC236}">
                <ns2:creationId id="{9981B195-1F25-4FBE-93CF-0118DA10C55E}"/>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B2AC3FBA-2417-40D4-929C-04534E7A74B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FC633C4E-C430-4C30-A976-48C5E9E4BBED}"/>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C61ABBC7-7C1B-4B8C-841C-715B712CF22F}"/>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20120228-A119-4537-85C9-FFDFD0CCF166}"/>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033</a:t>
            </a:r>
          </a:p>
        </p:txBody>
      </p:sp>
    </p:spTree>
    <p:extLst>
      <p:ext uri="{BB962C8B-B14F-4D97-AF65-F5344CB8AC3E}">
        <ns4:creationId val="347016502"/>
      </p:ext>
    </p:extLst>
  </p:cSld>
</p:sld>
</file>

<file path=ppt/slides/slide3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AF9A452F-C1D4-40AD-8E85-DF2C8FB56F49}"/>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5DB9532A-DF98-411B-BC67-F8CFA00DFD3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먼저 할 일 · 현재 값 추적</a:t>
            </a:r>
          </a:p>
        </p:txBody>
      </p:sp>
      <p:sp>
        <p:nvSpPr>
          <p:cNvPr id="3" name="">
            <a:extLst>
              <a:ext uri="{FF2B5EF4-FFF2-40B4-BE49-F238E27FC236}">
                <ns2:creationId id="{7C54538A-95A1-4000-A216-A0F49591109A}"/>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A05 각 줄 뒤의 현재 값을 적습니다.</a:t>
            </a:r>
          </a:p>
        </p:txBody>
      </p:sp>
      <p:sp>
        <p:nvSpPr>
          <p:cNvPr id="4" name="">
            <a:extLst>
              <a:ext uri="{FF2B5EF4-FFF2-40B4-BE49-F238E27FC236}">
                <ns2:creationId id="{C6AF1F51-862F-4F76-90FF-BE6E0B01A2FE}"/>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A06의 오류 메시지를 보고 변수 이름을 고칩니다.</a:t>
            </a:r>
          </a:p>
        </p:txBody>
      </p:sp>
      <p:sp>
        <p:nvSpPr>
          <p:cNvPr id="5" name="">
            <a:extLst>
              <a:ext uri="{FF2B5EF4-FFF2-40B4-BE49-F238E27FC236}">
                <ns2:creationId id="{8B639C4D-CE9C-48EE-AC8B-0D3D502A9337}"/>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7624F609-92CF-40D2-A646-DFFD2D69420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CF8FB227-4744-43CD-AEF7-5F9391A49A9F}"/>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705E8260-E252-4915-9B95-A780B133CB2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C29618E6-CC81-4ED6-B402-DA02E83A92BD}"/>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034</a:t>
            </a:r>
          </a:p>
        </p:txBody>
      </p:sp>
    </p:spTree>
    <p:extLst>
      <p:ext uri="{BB962C8B-B14F-4D97-AF65-F5344CB8AC3E}">
        <ns4:creationId val="1363459596"/>
      </p:ext>
    </p:extLst>
  </p:cSld>
</p:sld>
</file>

<file path=ppt/slides/slide3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C492AB4E-E86E-4383-8169-A094EEE2E1E2}"/>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18EC01BC-0D93-42DD-902B-9F830C34E220}"/>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2교시 확인</a:t>
            </a:r>
          </a:p>
        </p:txBody>
      </p:sp>
      <p:sp>
        <p:nvSpPr>
          <p:cNvPr id="3" name="">
            <a:extLst>
              <a:ext uri="{FF2B5EF4-FFF2-40B4-BE49-F238E27FC236}">
                <ns2:creationId id="{AE3F15F0-CBFC-46D8-9BD2-1CBEE9FDD8D3}"/>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다시 대입한 값</a:t>
            </a:r>
          </a:p>
        </p:txBody>
      </p:sp>
      <p:sp>
        <p:nvSpPr>
          <p:cNvPr id="4" name="">
            <a:extLst>
              <a:ext uri="{FF2B5EF4-FFF2-40B4-BE49-F238E27FC236}">
                <ns2:creationId id="{818FABE5-DA8D-4005-AEBD-E881681A23FA}"/>
              </a:ext>
            </a:extLst>
          </p:cNvPr>
          <p:cNvSpPr>
            <a:spLocks noGrp="1"/>
          </p:cNvSpPr>
          <p:nvPr/>
        </p:nvSpPr>
        <p:spPr>
          <a:xfrm>
            <a:off x="685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다시 대입하면 변수의 값이 바뀝니다.</a:t>
            </a:r>
          </a:p>
        </p:txBody>
      </p:sp>
      <p:sp>
        <p:nvSpPr>
          <p:cNvPr id="5" name="">
            <a:extLst>
              <a:ext uri="{FF2B5EF4-FFF2-40B4-BE49-F238E27FC236}">
                <ns2:creationId id="{054595C5-6719-4EF7-9610-7EB1B47F1FB7}"/>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이미 나온 출력</a:t>
            </a:r>
          </a:p>
        </p:txBody>
      </p:sp>
      <p:sp>
        <p:nvSpPr>
          <p:cNvPr id="6" name="">
            <a:extLst>
              <a:ext uri="{FF2B5EF4-FFF2-40B4-BE49-F238E27FC236}">
                <ns2:creationId id="{517333DB-BDBC-4889-8786-D264B57EF292}"/>
              </a:ext>
            </a:extLst>
          </p:cNvPr>
          <p:cNvSpPr>
            <a:spLocks noGrp="1"/>
          </p:cNvSpPr>
          <p:nvPr/>
        </p:nvSpPr>
        <p:spPr>
          <a:xfrm>
            <a:off x="6400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이미 나온 출력은 나중에 바뀌지 않습니다.</a:t>
            </a:r>
          </a:p>
        </p:txBody>
      </p:sp>
      <p:sp>
        <p:nvSpPr>
          <p:cNvPr id="7" name="">
            <a:extLst>
              <a:ext uri="{FF2B5EF4-FFF2-40B4-BE49-F238E27FC236}">
                <ns2:creationId id="{EB7557A1-36D8-4D56-A806-6C764D985D90}"/>
              </a:ext>
            </a:extLst>
          </p:cNvPr>
          <p:cNvSpPr>
            <a:spLocks noGrp="1"/>
          </p:cNvSpPr>
          <p:nvPr/>
        </p:nvSpPr>
        <p:spPr>
          <a:xfrm>
            <a:off x="685800" y="4943475"/>
            <a:ext cx="10820400" cy="9525"/>
          </a:xfrm>
          <a:prstGeom prst="rect">
            <a:avLst/>
          </a:prstGeom>
          <a:solidFill>
            <a:srgbClr val="D5DEDD"/>
          </a:solidFill>
          <a:ln w="0">
            <a:noFill/>
          </a:ln>
        </p:spPr>
      </p:sp>
      <p:sp>
        <p:nvSpPr>
          <p:cNvPr id="8" name="">
            <a:extLst>
              <a:ext uri="{FF2B5EF4-FFF2-40B4-BE49-F238E27FC236}">
                <ns2:creationId id="{BE9E24D7-DE8E-414B-86E1-9FFF15A3F914}"/>
              </a:ext>
            </a:extLst>
          </p:cNvPr>
          <p:cNvSpPr>
            <a:spLocks noGrp="1"/>
          </p:cNvSpPr>
          <p:nvPr/>
        </p:nvSpPr>
        <p:spPr>
          <a:xfrm>
            <a:off x="685800" y="5191125"/>
            <a:ext cx="10820400" cy="417767"/>
          </a:xfrm>
          <a:prstGeom prst="rect">
            <a:avLst/>
          </a:prstGeom>
          <a:noFill/>
          <a:ln w="0">
            <a:noFill/>
          </a:ln>
        </p:spPr>
        <p:txBody>
          <a:bodyPr wrap="square" lIns="0" tIns="0" rIns="0" bIns="0">
            <a:noAutofit/>
          </a:bodyPr>
          <a:lstStyle/>
          <a:p>
            <a:pPr>
              <a:defRPr sz="2025" b="1">
                <a:solidFill>
                  <a:srgbClr val="52636B"/>
                </a:solidFill>
                <a:latin typeface="Noto Sans KR"/>
                <a:ea typeface="Noto Sans KR"/>
                <a:cs typeface="Noto Sans KR"/>
              </a:defRPr>
            </a:pPr>
            <a:r>
              <a:t>이름을 따옴표로 감싸면 글자가 됩니다.</a:t>
            </a:r>
          </a:p>
        </p:txBody>
      </p:sp>
      <p:sp>
        <p:nvSpPr>
          <p:cNvPr id="9" name="">
            <a:extLst>
              <a:ext uri="{FF2B5EF4-FFF2-40B4-BE49-F238E27FC236}">
                <ns2:creationId id="{7E8A7BB4-AE47-4165-97D7-623894EF84FD}"/>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3F93FE56-2AEF-4B3F-A3DB-D3BFB5C4A746}"/>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9CD8DCA0-28BA-4F59-907C-B4B6C8965288}"/>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68A98594-3F4D-47AC-85E5-15EE3B7FA02E}"/>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611751E2-A97D-40EE-AD55-467CA1A00E3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035</a:t>
            </a:r>
          </a:p>
        </p:txBody>
      </p:sp>
    </p:spTree>
    <p:extLst>
      <p:ext uri="{BB962C8B-B14F-4D97-AF65-F5344CB8AC3E}">
        <ns4:creationId val="1199712260"/>
      </p:ext>
    </p:extLst>
  </p:cSld>
</p:sld>
</file>

<file path=ppt/slides/slide3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1A533A6B-8187-491B-905B-DEBC727B4977}"/>
              </a:ext>
            </a:extLst>
          </p:cNvPr>
          <p:cNvSpPr>
            <a:spLocks noGrp="1"/>
          </p:cNvSpPr>
          <p:nvPr/>
        </p:nvSpPr>
        <p:spPr>
          <a:xfrm>
            <a:off x="685800" y="657225"/>
            <a:ext cx="10820400" cy="400050"/>
          </a:xfrm>
          <a:prstGeom prst="rect">
            <a:avLst/>
          </a:prstGeom>
          <a:noFill/>
          <a:ln w="0">
            <a:noFill/>
          </a:ln>
        </p:spPr>
        <p:txBody>
          <a:bodyPr wrap="square" lIns="0" tIns="0" rIns="0" bIns="0">
            <a:noAutofit/>
          </a:bodyPr>
          <a:lstStyle/>
          <a:p>
            <a:pPr>
              <a:defRPr sz="1950" b="1">
                <a:solidFill>
                  <a:srgbClr val="08786F"/>
                </a:solidFill>
                <a:latin typeface="Noto Sans KR"/>
                <a:ea typeface="Noto Sans KR"/>
                <a:cs typeface="Noto Sans KR"/>
              </a:defRPr>
            </a:pPr>
            <a:r>
              <a:t>3교시</a:t>
            </a:r>
          </a:p>
        </p:txBody>
      </p:sp>
      <p:sp>
        <p:nvSpPr>
          <p:cNvPr id="2" name="">
            <a:extLst>
              <a:ext uri="{FF2B5EF4-FFF2-40B4-BE49-F238E27FC236}">
                <ns2:creationId id="{E044C448-6E39-4C33-94BE-CDB32A57BA22}"/>
              </a:ext>
            </a:extLst>
          </p:cNvPr>
          <p:cNvSpPr>
            <a:spLocks noGrp="1"/>
          </p:cNvSpPr>
          <p:nvPr/>
        </p:nvSpPr>
        <p:spPr>
          <a:xfrm>
            <a:off x="685800" y="1552575"/>
            <a:ext cx="10668000" cy="1905000"/>
          </a:xfrm>
          <a:prstGeom prst="rect">
            <a:avLst/>
          </a:prstGeom>
          <a:noFill/>
          <a:ln w="0">
            <a:noFill/>
          </a:ln>
        </p:spPr>
        <p:txBody>
          <a:bodyPr wrap="square" lIns="0" tIns="0" rIns="0" bIns="0">
            <a:noAutofit/>
          </a:bodyPr>
          <a:lstStyle/>
          <a:p>
            <a:pPr>
              <a:defRPr sz="4725" b="1">
                <a:solidFill>
                  <a:srgbClr val="172F39"/>
                </a:solidFill>
                <a:latin typeface="Noto Sans KR"/>
                <a:ea typeface="Noto Sans KR"/>
                <a:cs typeface="Noto Sans KR"/>
              </a:defRPr>
            </a:pPr>
            <a:r>
              <a:t>문자와 숫자의 연산</a:t>
            </a:r>
          </a:p>
        </p:txBody>
      </p:sp>
      <p:sp>
        <p:nvSpPr>
          <p:cNvPr id="3" name="">
            <a:extLst>
              <a:ext uri="{FF2B5EF4-FFF2-40B4-BE49-F238E27FC236}">
                <ns2:creationId id="{BE358CFF-EFF1-4415-9D66-717A0D92FBD7}"/>
              </a:ext>
            </a:extLst>
          </p:cNvPr>
          <p:cNvSpPr>
            <a:spLocks noGrp="1"/>
          </p:cNvSpPr>
          <p:nvPr/>
        </p:nvSpPr>
        <p:spPr>
          <a:xfrm>
            <a:off x="723900" y="3638550"/>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13:00~13:50 · 50분</a:t>
            </a:r>
          </a:p>
        </p:txBody>
      </p:sp>
      <p:sp>
        <p:nvSpPr>
          <p:cNvPr id="4" name="">
            <a:extLst>
              <a:ext uri="{FF2B5EF4-FFF2-40B4-BE49-F238E27FC236}">
                <ns2:creationId id="{8A569B6C-67D4-4B24-B3E4-77E7F29F21A7}"/>
              </a:ext>
            </a:extLst>
          </p:cNvPr>
          <p:cNvSpPr>
            <a:spLocks noGrp="1"/>
          </p:cNvSpPr>
          <p:nvPr/>
        </p:nvSpPr>
        <p:spPr>
          <a:xfrm>
            <a:off x="723900" y="4160139"/>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먼저 할 활동: A07, A08, A09</a:t>
            </a:r>
          </a:p>
        </p:txBody>
      </p:sp>
      <p:sp>
        <p:nvSpPr>
          <p:cNvPr id="5" name="">
            <a:extLst>
              <a:ext uri="{FF2B5EF4-FFF2-40B4-BE49-F238E27FC236}">
                <ns2:creationId id="{3A8AF88F-F2A6-4E60-84D8-BA6B89EE8331}"/>
              </a:ext>
            </a:extLst>
          </p:cNvPr>
          <p:cNvSpPr>
            <a:spLocks noGrp="1"/>
          </p:cNvSpPr>
          <p:nvPr/>
        </p:nvSpPr>
        <p:spPr>
          <a:xfrm>
            <a:off x="723900" y="4681728"/>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필수 활동을 마쳤으면 추가 문제를 풀어 보세요.</a:t>
            </a:r>
          </a:p>
        </p:txBody>
      </p:sp>
      <p:sp>
        <p:nvSpPr>
          <p:cNvPr id="6" name="">
            <a:extLst>
              <a:ext uri="{FF2B5EF4-FFF2-40B4-BE49-F238E27FC236}">
                <ns2:creationId id="{1205B359-8E80-4DE5-AAF9-E8DEC3CB4742}"/>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72896AB5-0A24-441D-ABC9-42C1E577F80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7FB4F8F6-3E44-4713-90F3-B485074EFECA}"/>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9E5745EE-35F3-4127-88C6-2B2D6360CD9A}"/>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95CC5DAA-822D-4930-84FA-E9F157CB576E}"/>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036</a:t>
            </a:r>
          </a:p>
        </p:txBody>
      </p:sp>
    </p:spTree>
    <p:extLst>
      <p:ext uri="{BB962C8B-B14F-4D97-AF65-F5344CB8AC3E}">
        <ns4:creationId val="88236070"/>
      </p:ext>
    </p:extLst>
  </p:cSld>
</p:sld>
</file>

<file path=ppt/slides/slide3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9" name="">
            <a:extLst>
              <a:ext uri="{FF2B5EF4-FFF2-40B4-BE49-F238E27FC236}">
                <ns2:creationId id="{F86EBB87-3656-4D34-BC72-BFE51B6A1761}"/>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660A318C-92E1-4A0C-BA90-26A20658D9B5}"/>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완성 예 · 덧셈과 연결</a:t>
            </a:r>
          </a:p>
        </p:txBody>
      </p:sp>
      <p:sp>
        <p:nvSpPr>
          <p:cNvPr id="3" name="">
            <a:extLst>
              <a:ext uri="{FF2B5EF4-FFF2-40B4-BE49-F238E27FC236}">
                <ns2:creationId id="{7C76E8FF-A6D4-4A82-B807-2F0934584D95}"/>
              </a:ext>
            </a:extLst>
          </p:cNvPr>
          <p:cNvSpPr>
            <a:spLocks noGrp="1"/>
          </p:cNvSpPr>
          <p:nvPr/>
        </p:nvSpPr>
        <p:spPr>
          <a:xfrm>
            <a:off x="685800" y="1809750"/>
            <a:ext cx="10820400" cy="1908810"/>
          </a:xfrm>
          <a:prstGeom prst="rect">
            <a:avLst/>
          </a:prstGeom>
          <a:solidFill>
            <a:srgbClr val="F1F6F5"/>
          </a:solidFill>
          <a:ln w="0">
            <a:noFill/>
          </a:ln>
        </p:spPr>
      </p:sp>
      <p:sp>
        <p:nvSpPr>
          <p:cNvPr id="4" name="">
            <a:extLst>
              <a:ext uri="{FF2B5EF4-FFF2-40B4-BE49-F238E27FC236}">
                <ns2:creationId id="{9A72ACD7-C4F3-4496-9E79-643966672957}"/>
              </a:ext>
            </a:extLst>
          </p:cNvPr>
          <p:cNvSpPr>
            <a:spLocks noGrp="1"/>
          </p:cNvSpPr>
          <p:nvPr/>
        </p:nvSpPr>
        <p:spPr>
          <a:xfrm>
            <a:off x="828675" y="197167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5" name="">
            <a:extLst>
              <a:ext uri="{FF2B5EF4-FFF2-40B4-BE49-F238E27FC236}">
                <ns2:creationId id="{4CF818F2-5D60-4A9E-9CA3-4B28237B35F3}"/>
              </a:ext>
            </a:extLst>
          </p:cNvPr>
          <p:cNvSpPr>
            <a:spLocks noGrp="1"/>
          </p:cNvSpPr>
          <p:nvPr/>
        </p:nvSpPr>
        <p:spPr>
          <a:xfrm>
            <a:off x="1276350" y="193357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count = 3</a:t>
            </a:r>
          </a:p>
        </p:txBody>
      </p:sp>
      <p:sp>
        <p:nvSpPr>
          <p:cNvPr id="6" name="">
            <a:extLst>
              <a:ext uri="{FF2B5EF4-FFF2-40B4-BE49-F238E27FC236}">
                <ns2:creationId id="{DB71C696-2359-4874-881E-ABA0D8BC66B4}"/>
              </a:ext>
            </a:extLst>
          </p:cNvPr>
          <p:cNvSpPr>
            <a:spLocks noGrp="1"/>
          </p:cNvSpPr>
          <p:nvPr/>
        </p:nvSpPr>
        <p:spPr>
          <a:xfrm>
            <a:off x="828675" y="228866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7" name="">
            <a:extLst>
              <a:ext uri="{FF2B5EF4-FFF2-40B4-BE49-F238E27FC236}">
                <ns2:creationId id="{D62C2644-91AA-4812-AE25-7881C50EE7A5}"/>
              </a:ext>
            </a:extLst>
          </p:cNvPr>
          <p:cNvSpPr>
            <a:spLocks noGrp="1"/>
          </p:cNvSpPr>
          <p:nvPr/>
        </p:nvSpPr>
        <p:spPr>
          <a:xfrm>
            <a:off x="1276350" y="225056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text_count = "3"</a:t>
            </a:r>
          </a:p>
        </p:txBody>
      </p:sp>
      <p:sp>
        <p:nvSpPr>
          <p:cNvPr id="8" name="">
            <a:extLst>
              <a:ext uri="{FF2B5EF4-FFF2-40B4-BE49-F238E27FC236}">
                <ns2:creationId id="{464A72E4-B1CE-4DC9-9472-1738C60A8FAA}"/>
              </a:ext>
            </a:extLst>
          </p:cNvPr>
          <p:cNvSpPr>
            <a:spLocks noGrp="1"/>
          </p:cNvSpPr>
          <p:nvPr/>
        </p:nvSpPr>
        <p:spPr>
          <a:xfrm>
            <a:off x="828675" y="260565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9" name="">
            <a:extLst>
              <a:ext uri="{FF2B5EF4-FFF2-40B4-BE49-F238E27FC236}">
                <ns2:creationId id="{BAD56AAE-E0D7-4387-B12B-40DA84349B23}"/>
              </a:ext>
            </a:extLst>
          </p:cNvPr>
          <p:cNvSpPr>
            <a:spLocks noGrp="1"/>
          </p:cNvSpPr>
          <p:nvPr/>
        </p:nvSpPr>
        <p:spPr>
          <a:xfrm>
            <a:off x="1276350" y="2567559"/>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print(count + 2)</a:t>
            </a:r>
          </a:p>
        </p:txBody>
      </p:sp>
      <p:sp>
        <p:nvSpPr>
          <p:cNvPr id="10" name="">
            <a:extLst>
              <a:ext uri="{FF2B5EF4-FFF2-40B4-BE49-F238E27FC236}">
                <ns2:creationId id="{A690B839-79CB-40E1-A092-3367C6FCE065}"/>
              </a:ext>
            </a:extLst>
          </p:cNvPr>
          <p:cNvSpPr>
            <a:spLocks noGrp="1"/>
          </p:cNvSpPr>
          <p:nvPr/>
        </p:nvSpPr>
        <p:spPr>
          <a:xfrm>
            <a:off x="828675" y="2922651"/>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1" name="">
            <a:extLst>
              <a:ext uri="{FF2B5EF4-FFF2-40B4-BE49-F238E27FC236}">
                <ns2:creationId id="{D3A9EED0-FF49-4049-B1A5-756E137B3F74}"/>
              </a:ext>
            </a:extLst>
          </p:cNvPr>
          <p:cNvSpPr>
            <a:spLocks noGrp="1"/>
          </p:cNvSpPr>
          <p:nvPr/>
        </p:nvSpPr>
        <p:spPr>
          <a:xfrm>
            <a:off x="1276350" y="2884551"/>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print(text_count + "2")</a:t>
            </a:r>
          </a:p>
        </p:txBody>
      </p:sp>
      <p:sp>
        <p:nvSpPr>
          <p:cNvPr id="12" name="">
            <a:extLst>
              <a:ext uri="{FF2B5EF4-FFF2-40B4-BE49-F238E27FC236}">
                <ns2:creationId id="{51DFDD9D-4A6C-4AA3-B60A-A6F3D58AB0DB}"/>
              </a:ext>
            </a:extLst>
          </p:cNvPr>
          <p:cNvSpPr>
            <a:spLocks noGrp="1"/>
          </p:cNvSpPr>
          <p:nvPr/>
        </p:nvSpPr>
        <p:spPr>
          <a:xfrm>
            <a:off x="828675" y="323964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05</a:t>
            </a:r>
          </a:p>
        </p:txBody>
      </p:sp>
      <p:sp>
        <p:nvSpPr>
          <p:cNvPr id="13" name="">
            <a:extLst>
              <a:ext uri="{FF2B5EF4-FFF2-40B4-BE49-F238E27FC236}">
                <ns2:creationId id="{D62A311E-5DFE-44D4-A13E-7199C8074B88}"/>
              </a:ext>
            </a:extLst>
          </p:cNvPr>
          <p:cNvSpPr>
            <a:spLocks noGrp="1"/>
          </p:cNvSpPr>
          <p:nvPr/>
        </p:nvSpPr>
        <p:spPr>
          <a:xfrm>
            <a:off x="1276350" y="3201543"/>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print(type(count).__name__, type(text_count).__name__)</a:t>
            </a:r>
          </a:p>
        </p:txBody>
      </p:sp>
      <p:sp>
        <p:nvSpPr>
          <p:cNvPr id="14" name="">
            <a:extLst>
              <a:ext uri="{FF2B5EF4-FFF2-40B4-BE49-F238E27FC236}">
                <ns2:creationId id="{5917CF48-E0CF-4234-A2F9-F24624977F26}"/>
              </a:ext>
            </a:extLst>
          </p:cNvPr>
          <p:cNvSpPr>
            <a:spLocks noGrp="1"/>
          </p:cNvSpPr>
          <p:nvPr/>
        </p:nvSpPr>
        <p:spPr>
          <a:xfrm>
            <a:off x="685800" y="6172200"/>
            <a:ext cx="10820400" cy="9525"/>
          </a:xfrm>
          <a:prstGeom prst="rect">
            <a:avLst/>
          </a:prstGeom>
          <a:solidFill>
            <a:srgbClr val="D5DEDD"/>
          </a:solidFill>
          <a:ln w="0">
            <a:noFill/>
          </a:ln>
        </p:spPr>
      </p:sp>
      <p:sp>
        <p:nvSpPr>
          <p:cNvPr id="15" name="">
            <a:extLst>
              <a:ext uri="{FF2B5EF4-FFF2-40B4-BE49-F238E27FC236}">
                <ns2:creationId id="{67337B48-0463-4EAB-844F-EB4CE3225A7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6" name="">
            <a:extLst>
              <a:ext uri="{FF2B5EF4-FFF2-40B4-BE49-F238E27FC236}">
                <ns2:creationId id="{3B2232BD-1E38-4480-AD56-012673AE22D0}"/>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7" name="">
            <a:extLst>
              <a:ext uri="{FF2B5EF4-FFF2-40B4-BE49-F238E27FC236}">
                <ns2:creationId id="{A5F59C49-D06E-46D4-A4A7-5E639FB4A865}"/>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8" name="">
            <a:extLst>
              <a:ext uri="{FF2B5EF4-FFF2-40B4-BE49-F238E27FC236}">
                <ns2:creationId id="{E8E91D32-08FF-461A-93D7-81E5DF97FC29}"/>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037</a:t>
            </a:r>
          </a:p>
        </p:txBody>
      </p:sp>
    </p:spTree>
    <p:extLst>
      <p:ext uri="{BB962C8B-B14F-4D97-AF65-F5344CB8AC3E}">
        <ns4:creationId val="2004562282"/>
      </p:ext>
    </p:extLst>
  </p:cSld>
</p:sld>
</file>

<file path=ppt/slides/slide3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9" name="">
            <a:extLst>
              <a:ext uri="{FF2B5EF4-FFF2-40B4-BE49-F238E27FC236}">
                <ns2:creationId id="{DD1B5601-0C0E-448F-8C41-EE711382B245}"/>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F654FE9B-DE29-4F43-94F6-52034ABCA6D4}"/>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같은 +, 다른 역할</a:t>
            </a:r>
          </a:p>
        </p:txBody>
      </p:sp>
      <p:graphicFrame>
        <p:nvGraphicFramePr>
          <p:cNvPr id="11" name=""/>
          <p:cNvGraphicFramePr/>
          <p:nvPr/>
        </p:nvGraphicFramePr>
        <p:xfrm>
          <a:off x="685800" y="1809750"/>
          <a:ext cx="10820400" cy="1609344"/>
        </p:xfrm>
        <a:graphic>
          <a:graphicData uri="http://schemas.openxmlformats.org/drawingml/2006/table">
            <a:tbl>
              <a:tblPr firstRow="1" bandRow="0"/>
              <a:tblGrid>
                <a:gridCol w="3879397"/>
                <a:gridCol w="2698711"/>
                <a:gridCol w="4242292"/>
              </a:tblGrid>
              <a:tr h="536448">
                <a:tc>
                  <a:txBody>
                    <a:bodyPr wrap="square"/>
                    <a:lstStyle/>
                    <a:p>
                      <a:pPr>
                        <a:lnSpc>
                          <a:spcPct val="102000"/>
                        </a:lnSpc>
                        <a:buNone/>
                      </a:pPr>
                      <a:r>
                        <a:rPr sz="2025" b="1">
                          <a:solidFill>
                            <a:srgbClr val="172F39"/>
                          </a:solidFill>
                          <a:latin typeface="Noto Sans KR"/>
                          <a:ea typeface="Noto Sans KR"/>
                          <a:cs typeface="Noto Sans KR"/>
                        </a:rPr>
                        <a:t>표현</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결과</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이유</a:t>
                      </a:r>
                    </a:p>
                  </a:txBody>
                  <a:tcPr marL="114300" marR="114300" marT="76200" marB="76200" anchor="ctr">
                    <a:solidFill>
                      <a:srgbClr val="DCECE8"/>
                    </a:solidFill>
                  </a:tcPr>
                </a:tc>
              </a:tr>
              <a:tr h="536448">
                <a:tc>
                  <a:txBody>
                    <a:bodyPr wrap="square"/>
                    <a:lstStyle/>
                    <a:p>
                      <a:pPr>
                        <a:lnSpc>
                          <a:spcPct val="102000"/>
                        </a:lnSpc>
                        <a:buNone/>
                      </a:pPr>
                      <a:r>
                        <a:rPr sz="2025" b="0">
                          <a:solidFill>
                            <a:srgbClr val="172F39"/>
                          </a:solidFill>
                          <a:latin typeface="Noto Sans KR"/>
                          <a:ea typeface="Noto Sans KR"/>
                          <a:cs typeface="Noto Sans KR"/>
                        </a:rPr>
                        <a:t>3 + 2</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5</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수치 덧셈</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"3" + "2"</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"32"</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문자열 연결</a:t>
                      </a:r>
                    </a:p>
                  </a:txBody>
                  <a:tcPr marL="114300" marR="114300" marT="76200" marB="76200" anchor="ctr">
                    <a:solidFill>
                      <a:srgbClr val="FFFFFF"/>
                    </a:solidFill>
                  </a:tcPr>
                </a:tc>
              </a:tr>
            </a:tbl>
          </a:graphicData>
        </a:graphic>
      </p:graphicFrame>
      <p:sp>
        <p:nvSpPr>
          <p:cNvPr id="4" name="">
            <a:extLst>
              <a:ext uri="{FF2B5EF4-FFF2-40B4-BE49-F238E27FC236}">
                <ns2:creationId id="{F8F77D50-1A0A-48B0-B7FD-35571CAD6D8F}"/>
              </a:ext>
            </a:extLst>
          </p:cNvPr>
          <p:cNvSpPr>
            <a:spLocks noGrp="1"/>
          </p:cNvSpPr>
          <p:nvPr/>
        </p:nvSpPr>
        <p:spPr>
          <a:xfrm>
            <a:off x="685800" y="6172200"/>
            <a:ext cx="10820400" cy="9525"/>
          </a:xfrm>
          <a:prstGeom prst="rect">
            <a:avLst/>
          </a:prstGeom>
          <a:solidFill>
            <a:srgbClr val="D5DEDD"/>
          </a:solidFill>
          <a:ln w="0">
            <a:noFill/>
          </a:ln>
        </p:spPr>
      </p:sp>
      <p:sp>
        <p:nvSpPr>
          <p:cNvPr id="5" name="">
            <a:extLst>
              <a:ext uri="{FF2B5EF4-FFF2-40B4-BE49-F238E27FC236}">
                <ns2:creationId id="{B184A5E2-BC85-4043-8561-77B6D7BF5F31}"/>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6" name="">
            <a:extLst>
              <a:ext uri="{FF2B5EF4-FFF2-40B4-BE49-F238E27FC236}">
                <ns2:creationId id="{AFE56EC6-5ACD-4007-97D1-476FFA070764}"/>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7" name="">
            <a:extLst>
              <a:ext uri="{FF2B5EF4-FFF2-40B4-BE49-F238E27FC236}">
                <ns2:creationId id="{D5F244AC-9582-494B-BAEE-04EC9BB4B863}"/>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8" name="">
            <a:extLst>
              <a:ext uri="{FF2B5EF4-FFF2-40B4-BE49-F238E27FC236}">
                <ns2:creationId id="{94699AE7-C227-4D89-B5B2-6AC2C7BF8C46}"/>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038</a:t>
            </a:r>
          </a:p>
        </p:txBody>
      </p:sp>
    </p:spTree>
    <p:extLst>
      <p:ext uri="{BB962C8B-B14F-4D97-AF65-F5344CB8AC3E}">
        <ns4:creationId val="1518352464"/>
      </p:ext>
    </p:extLst>
  </p:cSld>
</p:sld>
</file>

<file path=ppt/slides/slide3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23DCC1CA-C652-4510-877D-37F74721542E}"/>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0F4A1AA6-29BD-4541-B43A-73908E4A3C23}"/>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자료형 이름을 읽기</a:t>
            </a:r>
          </a:p>
        </p:txBody>
      </p:sp>
      <p:sp>
        <p:nvSpPr>
          <p:cNvPr id="3" name="">
            <a:extLst>
              <a:ext uri="{FF2B5EF4-FFF2-40B4-BE49-F238E27FC236}">
                <ns2:creationId id="{A610922F-ABD6-49ED-95EC-1E5012A9CF56}"/>
              </a:ext>
            </a:extLst>
          </p:cNvPr>
          <p:cNvSpPr>
            <a:spLocks noGrp="1"/>
          </p:cNvSpPr>
          <p:nvPr/>
        </p:nvSpPr>
        <p:spPr>
          <a:xfrm>
            <a:off x="685800" y="193357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int는 정수입니다.</a:t>
            </a:r>
          </a:p>
        </p:txBody>
      </p:sp>
      <p:sp>
        <p:nvSpPr>
          <p:cNvPr id="4" name="">
            <a:extLst>
              <a:ext uri="{FF2B5EF4-FFF2-40B4-BE49-F238E27FC236}">
                <ns2:creationId id="{2BA13FE4-04EE-4804-859F-891F1A894331}"/>
              </a:ext>
            </a:extLst>
          </p:cNvPr>
          <p:cNvSpPr>
            <a:spLocks noGrp="1"/>
          </p:cNvSpPr>
          <p:nvPr/>
        </p:nvSpPr>
        <p:spPr>
          <a:xfrm>
            <a:off x="685800" y="243268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str은 문자열입니다.</a:t>
            </a:r>
          </a:p>
        </p:txBody>
      </p:sp>
      <p:sp>
        <p:nvSpPr>
          <p:cNvPr id="5" name="">
            <a:extLst>
              <a:ext uri="{FF2B5EF4-FFF2-40B4-BE49-F238E27FC236}">
                <ns2:creationId id="{7208000E-D507-4E92-AC31-C717568229B2}"/>
              </a:ext>
            </a:extLst>
          </p:cNvPr>
          <p:cNvSpPr>
            <a:spLocks noGrp="1"/>
          </p:cNvSpPr>
          <p:nvPr/>
        </p:nvSpPr>
        <p:spPr>
          <a:xfrm>
            <a:off x="685800" y="293179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float는 소수가 있는 수를 다룹니다.</a:t>
            </a:r>
          </a:p>
        </p:txBody>
      </p:sp>
      <p:sp>
        <p:nvSpPr>
          <p:cNvPr id="6" name="">
            <a:extLst>
              <a:ext uri="{FF2B5EF4-FFF2-40B4-BE49-F238E27FC236}">
                <ns2:creationId id="{E9687048-F79A-48B6-A088-55444BF0AF17}"/>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같은 +, 다른 역할</a:t>
            </a:r>
          </a:p>
        </p:txBody>
      </p:sp>
      <p:graphicFrame>
        <p:nvGraphicFramePr>
          <p:cNvPr id="19" name=""/>
          <p:cNvGraphicFramePr/>
          <p:nvPr/>
        </p:nvGraphicFramePr>
        <p:xfrm>
          <a:off x="6267450" y="2628900"/>
          <a:ext cx="5238750" cy="1543050"/>
        </p:xfrm>
        <a:graphic>
          <a:graphicData uri="http://schemas.openxmlformats.org/drawingml/2006/table">
            <a:tbl>
              <a:tblPr firstRow="1" bandRow="0"/>
              <a:tblGrid>
                <a:gridCol w="1878229"/>
                <a:gridCol w="1306594"/>
                <a:gridCol w="2053927"/>
              </a:tblGrid>
              <a:tr h="514350">
                <a:tc>
                  <a:txBody>
                    <a:bodyPr wrap="square"/>
                    <a:lstStyle/>
                    <a:p>
                      <a:pPr>
                        <a:lnSpc>
                          <a:spcPct val="102000"/>
                        </a:lnSpc>
                        <a:buNone/>
                      </a:pPr>
                      <a:r>
                        <a:rPr sz="1875" b="1">
                          <a:solidFill>
                            <a:srgbClr val="172F39"/>
                          </a:solidFill>
                          <a:latin typeface="Noto Sans KR"/>
                          <a:ea typeface="Noto Sans KR"/>
                          <a:cs typeface="Noto Sans KR"/>
                        </a:rPr>
                        <a:t>표현</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결과</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이유</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3 + 2</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5</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수치 덧셈</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"3" + "2"</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"32"</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문자열 연결</a:t>
                      </a:r>
                    </a:p>
                  </a:txBody>
                  <a:tcPr marL="114300" marR="114300" marT="76200" marB="76200" anchor="ctr">
                    <a:solidFill>
                      <a:srgbClr val="FFFFFF"/>
                    </a:solidFill>
                  </a:tcPr>
                </a:tc>
              </a:tr>
            </a:tbl>
          </a:graphicData>
        </a:graphic>
      </p:graphicFrame>
      <p:sp>
        <p:nvSpPr>
          <p:cNvPr id="8" name="">
            <a:extLst>
              <a:ext uri="{FF2B5EF4-FFF2-40B4-BE49-F238E27FC236}">
                <ns2:creationId id="{1884E9FA-A2C8-41F4-9D32-3C54A4D43AFE}"/>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F6BF4AE3-E6BA-4446-AB31-C35C36A8FE7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0C6C9E83-4E14-4950-97DD-3741B88421A4}"/>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98FD690B-53BB-48F9-99B4-C17EE8F5169F}"/>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6E543059-A56C-4E4E-80DE-4753AA9E465E}"/>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039</a:t>
            </a:r>
          </a:p>
        </p:txBody>
      </p:sp>
    </p:spTree>
    <p:extLst>
      <p:ext uri="{BB962C8B-B14F-4D97-AF65-F5344CB8AC3E}">
        <ns4:creationId val="2144371875"/>
      </p:ext>
    </p:extLst>
  </p:cSld>
</p:sld>
</file>

<file path=ppt/slides/slide4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9" name="">
            <a:extLst>
              <a:ext uri="{FF2B5EF4-FFF2-40B4-BE49-F238E27FC236}">
                <ns2:creationId id="{F2CD7A84-BFDD-4D68-903E-4F03EBC454F9}"/>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371DB73F-F51E-49C2-8232-58F2C94E6469}"/>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완성 예 · 숫자 문자열 해석</a:t>
            </a:r>
          </a:p>
        </p:txBody>
      </p:sp>
      <p:sp>
        <p:nvSpPr>
          <p:cNvPr id="3" name="">
            <a:extLst>
              <a:ext uri="{FF2B5EF4-FFF2-40B4-BE49-F238E27FC236}">
                <ns2:creationId id="{E331F40A-EE47-4995-8AC6-21D3DAB1ECA3}"/>
              </a:ext>
            </a:extLst>
          </p:cNvPr>
          <p:cNvSpPr>
            <a:spLocks noGrp="1"/>
          </p:cNvSpPr>
          <p:nvPr/>
        </p:nvSpPr>
        <p:spPr>
          <a:xfrm>
            <a:off x="685800" y="1809750"/>
            <a:ext cx="10820400" cy="1908810"/>
          </a:xfrm>
          <a:prstGeom prst="rect">
            <a:avLst/>
          </a:prstGeom>
          <a:solidFill>
            <a:srgbClr val="F1F6F5"/>
          </a:solidFill>
          <a:ln w="0">
            <a:noFill/>
          </a:ln>
        </p:spPr>
      </p:sp>
      <p:sp>
        <p:nvSpPr>
          <p:cNvPr id="4" name="">
            <a:extLst>
              <a:ext uri="{FF2B5EF4-FFF2-40B4-BE49-F238E27FC236}">
                <ns2:creationId id="{E37B86D1-7D0A-498B-8624-68130068F2F6}"/>
              </a:ext>
            </a:extLst>
          </p:cNvPr>
          <p:cNvSpPr>
            <a:spLocks noGrp="1"/>
          </p:cNvSpPr>
          <p:nvPr/>
        </p:nvSpPr>
        <p:spPr>
          <a:xfrm>
            <a:off x="828675" y="197167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5" name="">
            <a:extLst>
              <a:ext uri="{FF2B5EF4-FFF2-40B4-BE49-F238E27FC236}">
                <ns2:creationId id="{4DADE593-543E-4FC2-9211-B765107EAD2E}"/>
              </a:ext>
            </a:extLst>
          </p:cNvPr>
          <p:cNvSpPr>
            <a:spLocks noGrp="1"/>
          </p:cNvSpPr>
          <p:nvPr/>
        </p:nvSpPr>
        <p:spPr>
          <a:xfrm>
            <a:off x="1276350" y="193357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raw = "22.5"</a:t>
            </a:r>
          </a:p>
        </p:txBody>
      </p:sp>
      <p:sp>
        <p:nvSpPr>
          <p:cNvPr id="6" name="">
            <a:extLst>
              <a:ext uri="{FF2B5EF4-FFF2-40B4-BE49-F238E27FC236}">
                <ns2:creationId id="{629FB5E2-B49C-494C-B0B3-D28430739C3C}"/>
              </a:ext>
            </a:extLst>
          </p:cNvPr>
          <p:cNvSpPr>
            <a:spLocks noGrp="1"/>
          </p:cNvSpPr>
          <p:nvPr/>
        </p:nvSpPr>
        <p:spPr>
          <a:xfrm>
            <a:off x="828675" y="228866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7" name="">
            <a:extLst>
              <a:ext uri="{FF2B5EF4-FFF2-40B4-BE49-F238E27FC236}">
                <ns2:creationId id="{C635F84E-3FD8-4042-B65D-D422DBFFA616}"/>
              </a:ext>
            </a:extLst>
          </p:cNvPr>
          <p:cNvSpPr>
            <a:spLocks noGrp="1"/>
          </p:cNvSpPr>
          <p:nvPr/>
        </p:nvSpPr>
        <p:spPr>
          <a:xfrm>
            <a:off x="1276350" y="225056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temperature_c = float(raw)</a:t>
            </a:r>
          </a:p>
        </p:txBody>
      </p:sp>
      <p:sp>
        <p:nvSpPr>
          <p:cNvPr id="8" name="">
            <a:extLst>
              <a:ext uri="{FF2B5EF4-FFF2-40B4-BE49-F238E27FC236}">
                <ns2:creationId id="{D2B80CC2-9EB8-4C95-B1D2-7620FEC76A25}"/>
              </a:ext>
            </a:extLst>
          </p:cNvPr>
          <p:cNvSpPr>
            <a:spLocks noGrp="1"/>
          </p:cNvSpPr>
          <p:nvPr/>
        </p:nvSpPr>
        <p:spPr>
          <a:xfrm>
            <a:off x="828675" y="260565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9" name="">
            <a:extLst>
              <a:ext uri="{FF2B5EF4-FFF2-40B4-BE49-F238E27FC236}">
                <ns2:creationId id="{5221625D-C2B2-4265-8C6C-9CA2E4E8598C}"/>
              </a:ext>
            </a:extLst>
          </p:cNvPr>
          <p:cNvSpPr>
            <a:spLocks noGrp="1"/>
          </p:cNvSpPr>
          <p:nvPr/>
        </p:nvSpPr>
        <p:spPr>
          <a:xfrm>
            <a:off x="1276350" y="2567559"/>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print(raw, type(raw).__name__)</a:t>
            </a:r>
          </a:p>
        </p:txBody>
      </p:sp>
      <p:sp>
        <p:nvSpPr>
          <p:cNvPr id="10" name="">
            <a:extLst>
              <a:ext uri="{FF2B5EF4-FFF2-40B4-BE49-F238E27FC236}">
                <ns2:creationId id="{BA76421C-E20D-48DA-88AF-A528E75BD936}"/>
              </a:ext>
            </a:extLst>
          </p:cNvPr>
          <p:cNvSpPr>
            <a:spLocks noGrp="1"/>
          </p:cNvSpPr>
          <p:nvPr/>
        </p:nvSpPr>
        <p:spPr>
          <a:xfrm>
            <a:off x="828675" y="2922651"/>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1" name="">
            <a:extLst>
              <a:ext uri="{FF2B5EF4-FFF2-40B4-BE49-F238E27FC236}">
                <ns2:creationId id="{6EF5CB81-42EF-4B77-BA56-13CAE53E9B99}"/>
              </a:ext>
            </a:extLst>
          </p:cNvPr>
          <p:cNvSpPr>
            <a:spLocks noGrp="1"/>
          </p:cNvSpPr>
          <p:nvPr/>
        </p:nvSpPr>
        <p:spPr>
          <a:xfrm>
            <a:off x="1276350" y="2884551"/>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print(temperature_c, type(temperature_c).__name__)</a:t>
            </a:r>
          </a:p>
        </p:txBody>
      </p:sp>
      <p:sp>
        <p:nvSpPr>
          <p:cNvPr id="12" name="">
            <a:extLst>
              <a:ext uri="{FF2B5EF4-FFF2-40B4-BE49-F238E27FC236}">
                <ns2:creationId id="{B2802649-E75E-4460-AEAF-4545BB624B40}"/>
              </a:ext>
            </a:extLst>
          </p:cNvPr>
          <p:cNvSpPr>
            <a:spLocks noGrp="1"/>
          </p:cNvSpPr>
          <p:nvPr/>
        </p:nvSpPr>
        <p:spPr>
          <a:xfrm>
            <a:off x="828675" y="323964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05</a:t>
            </a:r>
          </a:p>
        </p:txBody>
      </p:sp>
      <p:sp>
        <p:nvSpPr>
          <p:cNvPr id="13" name="">
            <a:extLst>
              <a:ext uri="{FF2B5EF4-FFF2-40B4-BE49-F238E27FC236}">
                <ns2:creationId id="{90D9D34D-8EA7-434D-A7CA-85671B247BBC}"/>
              </a:ext>
            </a:extLst>
          </p:cNvPr>
          <p:cNvSpPr>
            <a:spLocks noGrp="1"/>
          </p:cNvSpPr>
          <p:nvPr/>
        </p:nvSpPr>
        <p:spPr>
          <a:xfrm>
            <a:off x="1276350" y="3201543"/>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print(temperature_c + 1)</a:t>
            </a:r>
          </a:p>
        </p:txBody>
      </p:sp>
      <p:sp>
        <p:nvSpPr>
          <p:cNvPr id="14" name="">
            <a:extLst>
              <a:ext uri="{FF2B5EF4-FFF2-40B4-BE49-F238E27FC236}">
                <ns2:creationId id="{CCDE9635-D489-4C72-B0E5-D423D22098D0}"/>
              </a:ext>
            </a:extLst>
          </p:cNvPr>
          <p:cNvSpPr>
            <a:spLocks noGrp="1"/>
          </p:cNvSpPr>
          <p:nvPr/>
        </p:nvSpPr>
        <p:spPr>
          <a:xfrm>
            <a:off x="685800" y="6172200"/>
            <a:ext cx="10820400" cy="9525"/>
          </a:xfrm>
          <a:prstGeom prst="rect">
            <a:avLst/>
          </a:prstGeom>
          <a:solidFill>
            <a:srgbClr val="D5DEDD"/>
          </a:solidFill>
          <a:ln w="0">
            <a:noFill/>
          </a:ln>
        </p:spPr>
      </p:sp>
      <p:sp>
        <p:nvSpPr>
          <p:cNvPr id="15" name="">
            <a:extLst>
              <a:ext uri="{FF2B5EF4-FFF2-40B4-BE49-F238E27FC236}">
                <ns2:creationId id="{EC96DA51-F72C-4C01-B6ED-370B26FD96DA}"/>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6" name="">
            <a:extLst>
              <a:ext uri="{FF2B5EF4-FFF2-40B4-BE49-F238E27FC236}">
                <ns2:creationId id="{85CE7F7D-70F4-41E1-B85E-71DCAC4B1349}"/>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7" name="">
            <a:extLst>
              <a:ext uri="{FF2B5EF4-FFF2-40B4-BE49-F238E27FC236}">
                <ns2:creationId id="{8DBDD8DD-2858-41F5-A8A6-F9102A6D16C4}"/>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8" name="">
            <a:extLst>
              <a:ext uri="{FF2B5EF4-FFF2-40B4-BE49-F238E27FC236}">
                <ns2:creationId id="{7055EC46-A11E-4E94-A330-E0AE35BC7831}"/>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040</a:t>
            </a:r>
          </a:p>
        </p:txBody>
      </p:sp>
    </p:spTree>
    <p:extLst>
      <p:ext uri="{BB962C8B-B14F-4D97-AF65-F5344CB8AC3E}">
        <ns4:creationId val="705275166"/>
      </p:ext>
    </p:extLst>
  </p:cSld>
</p:sld>
</file>

<file path=ppt/slides/slide4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9" name="">
            <a:extLst>
              <a:ext uri="{FF2B5EF4-FFF2-40B4-BE49-F238E27FC236}">
                <ns2:creationId id="{DC954CDE-DF93-477D-BFF7-03CDD3C7400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E67F61FE-7266-42B4-A7ED-C31D9F661DF9}"/>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문자열을 숫자로 바꾸는 순서</a:t>
            </a:r>
          </a:p>
        </p:txBody>
      </p:sp>
      <p:graphicFrame>
        <p:nvGraphicFramePr>
          <p:cNvPr id="11" name=""/>
          <p:cNvGraphicFramePr/>
          <p:nvPr/>
        </p:nvGraphicFramePr>
        <p:xfrm>
          <a:off x="685800" y="1809750"/>
          <a:ext cx="10820400" cy="2145792"/>
        </p:xfrm>
        <a:graphic>
          <a:graphicData uri="http://schemas.openxmlformats.org/drawingml/2006/table">
            <a:tbl>
              <a:tblPr firstRow="1" bandRow="0"/>
              <a:tblGrid>
                <a:gridCol w="4256852"/>
                <a:gridCol w="3322290"/>
                <a:gridCol w="3241258"/>
              </a:tblGrid>
              <a:tr h="536448">
                <a:tc>
                  <a:txBody>
                    <a:bodyPr wrap="square"/>
                    <a:lstStyle/>
                    <a:p>
                      <a:pPr>
                        <a:lnSpc>
                          <a:spcPct val="102000"/>
                        </a:lnSpc>
                        <a:buNone/>
                      </a:pPr>
                      <a:r>
                        <a:rPr sz="2025" b="1">
                          <a:solidFill>
                            <a:srgbClr val="172F39"/>
                          </a:solidFill>
                          <a:latin typeface="Noto Sans KR"/>
                          <a:ea typeface="Noto Sans KR"/>
                          <a:cs typeface="Noto Sans KR"/>
                        </a:rPr>
                        <a:t>단계</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값</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종류</a:t>
                      </a:r>
                    </a:p>
                  </a:txBody>
                  <a:tcPr marL="114300" marR="114300" marT="76200" marB="76200" anchor="ctr">
                    <a:solidFill>
                      <a:srgbClr val="DCECE8"/>
                    </a:solidFill>
                  </a:tcPr>
                </a:tc>
              </a:tr>
              <a:tr h="536448">
                <a:tc>
                  <a:txBody>
                    <a:bodyPr wrap="square"/>
                    <a:lstStyle/>
                    <a:p>
                      <a:pPr>
                        <a:lnSpc>
                          <a:spcPct val="102000"/>
                        </a:lnSpc>
                        <a:buNone/>
                      </a:pPr>
                      <a:r>
                        <a:rPr sz="2025" b="0">
                          <a:solidFill>
                            <a:srgbClr val="172F39"/>
                          </a:solidFill>
                          <a:latin typeface="Noto Sans KR"/>
                          <a:ea typeface="Noto Sans KR"/>
                          <a:cs typeface="Noto Sans KR"/>
                        </a:rPr>
                        <a:t>원문</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"22.5"</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문자열</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float 변환</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22.5</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실수</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1 더하기</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23.5</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실수</a:t>
                      </a:r>
                    </a:p>
                  </a:txBody>
                  <a:tcPr marL="114300" marR="114300" marT="76200" marB="76200" anchor="ctr">
                    <a:solidFill>
                      <a:srgbClr val="FFFFFF"/>
                    </a:solidFill>
                  </a:tcPr>
                </a:tc>
              </a:tr>
            </a:tbl>
          </a:graphicData>
        </a:graphic>
      </p:graphicFrame>
      <p:sp>
        <p:nvSpPr>
          <p:cNvPr id="4" name="">
            <a:extLst>
              <a:ext uri="{FF2B5EF4-FFF2-40B4-BE49-F238E27FC236}">
                <ns2:creationId id="{D3B8C393-9A2B-4610-9053-CF9E7C6812EA}"/>
              </a:ext>
            </a:extLst>
          </p:cNvPr>
          <p:cNvSpPr>
            <a:spLocks noGrp="1"/>
          </p:cNvSpPr>
          <p:nvPr/>
        </p:nvSpPr>
        <p:spPr>
          <a:xfrm>
            <a:off x="685800" y="6172200"/>
            <a:ext cx="10820400" cy="9525"/>
          </a:xfrm>
          <a:prstGeom prst="rect">
            <a:avLst/>
          </a:prstGeom>
          <a:solidFill>
            <a:srgbClr val="D5DEDD"/>
          </a:solidFill>
          <a:ln w="0">
            <a:noFill/>
          </a:ln>
        </p:spPr>
      </p:sp>
      <p:sp>
        <p:nvSpPr>
          <p:cNvPr id="5" name="">
            <a:extLst>
              <a:ext uri="{FF2B5EF4-FFF2-40B4-BE49-F238E27FC236}">
                <ns2:creationId id="{503E19EA-4EB2-4B74-A85E-8D814FEBBAEA}"/>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6" name="">
            <a:extLst>
              <a:ext uri="{FF2B5EF4-FFF2-40B4-BE49-F238E27FC236}">
                <ns2:creationId id="{022C0A80-AE91-467E-A2FA-02D47F5DE566}"/>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7" name="">
            <a:extLst>
              <a:ext uri="{FF2B5EF4-FFF2-40B4-BE49-F238E27FC236}">
                <ns2:creationId id="{7DABEFBB-B789-47E4-B2AE-CAC5A21B9E8A}"/>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8" name="">
            <a:extLst>
              <a:ext uri="{FF2B5EF4-FFF2-40B4-BE49-F238E27FC236}">
                <ns2:creationId id="{C42A7984-D4C2-4CEC-88FE-EDF5028F770F}"/>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041</a:t>
            </a:r>
          </a:p>
        </p:txBody>
      </p:sp>
    </p:spTree>
    <p:extLst>
      <p:ext uri="{BB962C8B-B14F-4D97-AF65-F5344CB8AC3E}">
        <ns4:creationId val="582719726"/>
      </p:ext>
    </p:extLst>
  </p:cSld>
</p:sld>
</file>

<file path=ppt/slides/slide4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AD31D095-EE84-4293-9FBE-C377E481CAA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19E23736-7899-4F68-BCFA-329B90ACFDCD}"/>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변환 오류를 무시하지 않습니다</a:t>
            </a:r>
          </a:p>
        </p:txBody>
      </p:sp>
      <p:sp>
        <p:nvSpPr>
          <p:cNvPr id="3" name="">
            <a:extLst>
              <a:ext uri="{FF2B5EF4-FFF2-40B4-BE49-F238E27FC236}">
                <ns2:creationId id="{F0061323-5C77-436E-8A6B-AC82528E91C4}"/>
              </a:ext>
            </a:extLst>
          </p:cNvPr>
          <p:cNvSpPr>
            <a:spLocks noGrp="1"/>
          </p:cNvSpPr>
          <p:nvPr/>
        </p:nvSpPr>
        <p:spPr>
          <a:xfrm>
            <a:off x="685800" y="193357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"22.5"는 실수 표현으로 읽습니다.</a:t>
            </a:r>
          </a:p>
        </p:txBody>
      </p:sp>
      <p:sp>
        <p:nvSpPr>
          <p:cNvPr id="4" name="">
            <a:extLst>
              <a:ext uri="{FF2B5EF4-FFF2-40B4-BE49-F238E27FC236}">
                <ns2:creationId id="{ADE77E91-0736-41D1-84D0-3EEEB58870B1}"/>
              </a:ext>
            </a:extLst>
          </p:cNvPr>
          <p:cNvSpPr>
            <a:spLocks noGrp="1"/>
          </p:cNvSpPr>
          <p:nvPr/>
        </p:nvSpPr>
        <p:spPr>
          <a:xfrm>
            <a:off x="685800" y="243268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"뜨거움"은 숫자로 읽을 수 없습니다.</a:t>
            </a:r>
          </a:p>
        </p:txBody>
      </p:sp>
      <p:sp>
        <p:nvSpPr>
          <p:cNvPr id="5" name="">
            <a:extLst>
              <a:ext uri="{FF2B5EF4-FFF2-40B4-BE49-F238E27FC236}">
                <ns2:creationId id="{A88DC64A-5E58-443B-8892-879365DE41E5}"/>
              </a:ext>
            </a:extLst>
          </p:cNvPr>
          <p:cNvSpPr>
            <a:spLocks noGrp="1"/>
          </p:cNvSpPr>
          <p:nvPr/>
        </p:nvSpPr>
        <p:spPr>
          <a:xfrm>
            <a:off x="685800" y="29317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원문을 보존하고 종류와 뜻을 확인합니다.</a:t>
            </a:r>
          </a:p>
        </p:txBody>
      </p:sp>
      <p:sp>
        <p:nvSpPr>
          <p:cNvPr id="6" name="">
            <a:extLst>
              <a:ext uri="{FF2B5EF4-FFF2-40B4-BE49-F238E27FC236}">
                <ns2:creationId id="{908F4298-AF98-43D3-BFF5-11E6DF0253E3}"/>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문자열을 숫자로 바꾸는 순서</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2060976"/>
                <a:gridCol w="1608503"/>
                <a:gridCol w="1569271"/>
              </a:tblGrid>
              <a:tr h="514350">
                <a:tc>
                  <a:txBody>
                    <a:bodyPr wrap="square"/>
                    <a:lstStyle/>
                    <a:p>
                      <a:pPr>
                        <a:lnSpc>
                          <a:spcPct val="102000"/>
                        </a:lnSpc>
                        <a:buNone/>
                      </a:pPr>
                      <a:r>
                        <a:rPr sz="1875" b="1">
                          <a:solidFill>
                            <a:srgbClr val="172F39"/>
                          </a:solidFill>
                          <a:latin typeface="Noto Sans KR"/>
                          <a:ea typeface="Noto Sans KR"/>
                          <a:cs typeface="Noto Sans KR"/>
                        </a:rPr>
                        <a:t>단계</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값</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종류</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원문</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"22.5"</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문자열</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float 변환</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22.5</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실수</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1 더하기</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23.5</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실수</a:t>
                      </a:r>
                    </a:p>
                  </a:txBody>
                  <a:tcPr marL="114300" marR="114300" marT="76200" marB="76200" anchor="ctr">
                    <a:solidFill>
                      <a:srgbClr val="FFFFFF"/>
                    </a:solidFill>
                  </a:tcPr>
                </a:tc>
              </a:tr>
            </a:tbl>
          </a:graphicData>
        </a:graphic>
      </p:graphicFrame>
      <p:sp>
        <p:nvSpPr>
          <p:cNvPr id="8" name="">
            <a:extLst>
              <a:ext uri="{FF2B5EF4-FFF2-40B4-BE49-F238E27FC236}">
                <ns2:creationId id="{72BAF0AE-5898-45AD-8084-38DB60000A8F}"/>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5F9916C6-C636-4729-B3C3-E1D150D9B8E4}"/>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28FF4587-D57F-4FCA-A766-54AC6866010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21E34C5A-E43B-4070-9AF5-661415F2F09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6582AEFD-230F-44A7-AB19-A8EEAA61CE9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042</a:t>
            </a:r>
          </a:p>
        </p:txBody>
      </p:sp>
    </p:spTree>
    <p:extLst>
      <p:ext uri="{BB962C8B-B14F-4D97-AF65-F5344CB8AC3E}">
        <ns4:creationId val="420854307"/>
      </p:ext>
    </p:extLst>
  </p:cSld>
</p:sld>
</file>

<file path=ppt/slides/slide4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9" name="">
            <a:extLst>
              <a:ext uri="{FF2B5EF4-FFF2-40B4-BE49-F238E27FC236}">
                <ns2:creationId id="{E81B6B3C-A1BF-483D-ADD3-03F865B1A379}"/>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DE073B53-C199-48D9-B8CB-94044BB52A1D}"/>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완성 예 · 평균 계산</a:t>
            </a:r>
          </a:p>
        </p:txBody>
      </p:sp>
      <p:sp>
        <p:nvSpPr>
          <p:cNvPr id="3" name="">
            <a:extLst>
              <a:ext uri="{FF2B5EF4-FFF2-40B4-BE49-F238E27FC236}">
                <ns2:creationId id="{19F0C02F-55ED-4D3B-A0CA-148F90BB64E1}"/>
              </a:ext>
            </a:extLst>
          </p:cNvPr>
          <p:cNvSpPr>
            <a:spLocks noGrp="1"/>
          </p:cNvSpPr>
          <p:nvPr/>
        </p:nvSpPr>
        <p:spPr>
          <a:xfrm>
            <a:off x="685800" y="1809750"/>
            <a:ext cx="10820400" cy="1908810"/>
          </a:xfrm>
          <a:prstGeom prst="rect">
            <a:avLst/>
          </a:prstGeom>
          <a:solidFill>
            <a:srgbClr val="F1F6F5"/>
          </a:solidFill>
          <a:ln w="0">
            <a:noFill/>
          </a:ln>
        </p:spPr>
      </p:sp>
      <p:sp>
        <p:nvSpPr>
          <p:cNvPr id="4" name="">
            <a:extLst>
              <a:ext uri="{FF2B5EF4-FFF2-40B4-BE49-F238E27FC236}">
                <ns2:creationId id="{6F59A1F3-0096-4D49-9EB6-48FC9E0CC15B}"/>
              </a:ext>
            </a:extLst>
          </p:cNvPr>
          <p:cNvSpPr>
            <a:spLocks noGrp="1"/>
          </p:cNvSpPr>
          <p:nvPr/>
        </p:nvSpPr>
        <p:spPr>
          <a:xfrm>
            <a:off x="828675" y="197167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5" name="">
            <a:extLst>
              <a:ext uri="{FF2B5EF4-FFF2-40B4-BE49-F238E27FC236}">
                <ns2:creationId id="{CB6AC44C-AE21-4937-AEB4-5E7E8DF97B75}"/>
              </a:ext>
            </a:extLst>
          </p:cNvPr>
          <p:cNvSpPr>
            <a:spLocks noGrp="1"/>
          </p:cNvSpPr>
          <p:nvPr/>
        </p:nvSpPr>
        <p:spPr>
          <a:xfrm>
            <a:off x="1276350" y="193357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total = 22.5 + 24.0 + 23.5</a:t>
            </a:r>
          </a:p>
        </p:txBody>
      </p:sp>
      <p:sp>
        <p:nvSpPr>
          <p:cNvPr id="6" name="">
            <a:extLst>
              <a:ext uri="{FF2B5EF4-FFF2-40B4-BE49-F238E27FC236}">
                <ns2:creationId id="{96D67081-84B1-4B47-A9C7-36683992BAF6}"/>
              </a:ext>
            </a:extLst>
          </p:cNvPr>
          <p:cNvSpPr>
            <a:spLocks noGrp="1"/>
          </p:cNvSpPr>
          <p:nvPr/>
        </p:nvSpPr>
        <p:spPr>
          <a:xfrm>
            <a:off x="828675" y="228866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7" name="">
            <a:extLst>
              <a:ext uri="{FF2B5EF4-FFF2-40B4-BE49-F238E27FC236}">
                <ns2:creationId id="{25770C20-E09F-4405-A808-A6D46A3DC35C}"/>
              </a:ext>
            </a:extLst>
          </p:cNvPr>
          <p:cNvSpPr>
            <a:spLocks noGrp="1"/>
          </p:cNvSpPr>
          <p:nvPr/>
        </p:nvSpPr>
        <p:spPr>
          <a:xfrm>
            <a:off x="1276350" y="225056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count = 3</a:t>
            </a:r>
          </a:p>
        </p:txBody>
      </p:sp>
      <p:sp>
        <p:nvSpPr>
          <p:cNvPr id="8" name="">
            <a:extLst>
              <a:ext uri="{FF2B5EF4-FFF2-40B4-BE49-F238E27FC236}">
                <ns2:creationId id="{1D2BFDBD-6E24-4992-9DE3-D1FBD362787C}"/>
              </a:ext>
            </a:extLst>
          </p:cNvPr>
          <p:cNvSpPr>
            <a:spLocks noGrp="1"/>
          </p:cNvSpPr>
          <p:nvPr/>
        </p:nvSpPr>
        <p:spPr>
          <a:xfrm>
            <a:off x="828675" y="260565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9" name="">
            <a:extLst>
              <a:ext uri="{FF2B5EF4-FFF2-40B4-BE49-F238E27FC236}">
                <ns2:creationId id="{F295717A-A9E7-40F3-B3DB-C131DDB9632B}"/>
              </a:ext>
            </a:extLst>
          </p:cNvPr>
          <p:cNvSpPr>
            <a:spLocks noGrp="1"/>
          </p:cNvSpPr>
          <p:nvPr/>
        </p:nvSpPr>
        <p:spPr>
          <a:xfrm>
            <a:off x="1276350" y="2567559"/>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average = total / count</a:t>
            </a:r>
          </a:p>
        </p:txBody>
      </p:sp>
      <p:sp>
        <p:nvSpPr>
          <p:cNvPr id="10" name="">
            <a:extLst>
              <a:ext uri="{FF2B5EF4-FFF2-40B4-BE49-F238E27FC236}">
                <ns2:creationId id="{E8BC9928-205E-43F1-AE05-7054D4D80FA6}"/>
              </a:ext>
            </a:extLst>
          </p:cNvPr>
          <p:cNvSpPr>
            <a:spLocks noGrp="1"/>
          </p:cNvSpPr>
          <p:nvPr/>
        </p:nvSpPr>
        <p:spPr>
          <a:xfrm>
            <a:off x="828675" y="2922651"/>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1" name="">
            <a:extLst>
              <a:ext uri="{FF2B5EF4-FFF2-40B4-BE49-F238E27FC236}">
                <ns2:creationId id="{E76692CC-AD4F-4DB2-8E47-2DC2E896C933}"/>
              </a:ext>
            </a:extLst>
          </p:cNvPr>
          <p:cNvSpPr>
            <a:spLocks noGrp="1"/>
          </p:cNvSpPr>
          <p:nvPr/>
        </p:nvSpPr>
        <p:spPr>
          <a:xfrm>
            <a:off x="1276350" y="2884551"/>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print(total)</a:t>
            </a:r>
          </a:p>
        </p:txBody>
      </p:sp>
      <p:sp>
        <p:nvSpPr>
          <p:cNvPr id="12" name="">
            <a:extLst>
              <a:ext uri="{FF2B5EF4-FFF2-40B4-BE49-F238E27FC236}">
                <ns2:creationId id="{75218267-02DE-493E-A727-885CCDDE0D7C}"/>
              </a:ext>
            </a:extLst>
          </p:cNvPr>
          <p:cNvSpPr>
            <a:spLocks noGrp="1"/>
          </p:cNvSpPr>
          <p:nvPr/>
        </p:nvSpPr>
        <p:spPr>
          <a:xfrm>
            <a:off x="828675" y="323964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05</a:t>
            </a:r>
          </a:p>
        </p:txBody>
      </p:sp>
      <p:sp>
        <p:nvSpPr>
          <p:cNvPr id="13" name="">
            <a:extLst>
              <a:ext uri="{FF2B5EF4-FFF2-40B4-BE49-F238E27FC236}">
                <ns2:creationId id="{4F3DDD53-2F42-4E5B-95E2-6E5867C05C08}"/>
              </a:ext>
            </a:extLst>
          </p:cNvPr>
          <p:cNvSpPr>
            <a:spLocks noGrp="1"/>
          </p:cNvSpPr>
          <p:nvPr/>
        </p:nvSpPr>
        <p:spPr>
          <a:xfrm>
            <a:off x="1276350" y="3201543"/>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print(round(average, 2))</a:t>
            </a:r>
          </a:p>
        </p:txBody>
      </p:sp>
      <p:sp>
        <p:nvSpPr>
          <p:cNvPr id="14" name="">
            <a:extLst>
              <a:ext uri="{FF2B5EF4-FFF2-40B4-BE49-F238E27FC236}">
                <ns2:creationId id="{D918A40C-4057-4FE0-96EA-EFCF6E0173DD}"/>
              </a:ext>
            </a:extLst>
          </p:cNvPr>
          <p:cNvSpPr>
            <a:spLocks noGrp="1"/>
          </p:cNvSpPr>
          <p:nvPr/>
        </p:nvSpPr>
        <p:spPr>
          <a:xfrm>
            <a:off x="685800" y="6172200"/>
            <a:ext cx="10820400" cy="9525"/>
          </a:xfrm>
          <a:prstGeom prst="rect">
            <a:avLst/>
          </a:prstGeom>
          <a:solidFill>
            <a:srgbClr val="D5DEDD"/>
          </a:solidFill>
          <a:ln w="0">
            <a:noFill/>
          </a:ln>
        </p:spPr>
      </p:sp>
      <p:sp>
        <p:nvSpPr>
          <p:cNvPr id="15" name="">
            <a:extLst>
              <a:ext uri="{FF2B5EF4-FFF2-40B4-BE49-F238E27FC236}">
                <ns2:creationId id="{D31151E6-59BE-435D-9137-733B6D4D9DF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6" name="">
            <a:extLst>
              <a:ext uri="{FF2B5EF4-FFF2-40B4-BE49-F238E27FC236}">
                <ns2:creationId id="{4FD67695-FB49-499A-A51D-6D703ABE7E06}"/>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7" name="">
            <a:extLst>
              <a:ext uri="{FF2B5EF4-FFF2-40B4-BE49-F238E27FC236}">
                <ns2:creationId id="{CBBE78A1-4679-41A7-821D-5DFE3C59D774}"/>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8" name="">
            <a:extLst>
              <a:ext uri="{FF2B5EF4-FFF2-40B4-BE49-F238E27FC236}">
                <ns2:creationId id="{9E3A17B6-23EE-46A9-8C98-DFBD2CEA1307}"/>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043</a:t>
            </a:r>
          </a:p>
        </p:txBody>
      </p:sp>
    </p:spTree>
    <p:extLst>
      <p:ext uri="{BB962C8B-B14F-4D97-AF65-F5344CB8AC3E}">
        <ns4:creationId val="364666715"/>
      </p:ext>
    </p:extLst>
  </p:cSld>
</p:sld>
</file>

<file path=ppt/slides/slide4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9" name="">
            <a:extLst>
              <a:ext uri="{FF2B5EF4-FFF2-40B4-BE49-F238E27FC236}">
                <ns2:creationId id="{C9231625-EDA6-43BB-AB9D-F162FD766AE7}"/>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7F107EAE-DB15-4AF0-9119-D2DEFE662448}"/>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평균의 계산 순서</a:t>
            </a:r>
          </a:p>
        </p:txBody>
      </p:sp>
      <p:graphicFrame>
        <p:nvGraphicFramePr>
          <p:cNvPr id="11" name=""/>
          <p:cNvGraphicFramePr/>
          <p:nvPr/>
        </p:nvGraphicFramePr>
        <p:xfrm>
          <a:off x="685800" y="1809750"/>
          <a:ext cx="10820400" cy="2145792"/>
        </p:xfrm>
        <a:graphic>
          <a:graphicData uri="http://schemas.openxmlformats.org/drawingml/2006/table">
            <a:tbl>
              <a:tblPr firstRow="1" bandRow="0"/>
              <a:tblGrid>
                <a:gridCol w="7145062"/>
                <a:gridCol w="3675338"/>
              </a:tblGrid>
              <a:tr h="536448">
                <a:tc>
                  <a:txBody>
                    <a:bodyPr wrap="square"/>
                    <a:lstStyle/>
                    <a:p>
                      <a:pPr>
                        <a:lnSpc>
                          <a:spcPct val="102000"/>
                        </a:lnSpc>
                        <a:buNone/>
                      </a:pPr>
                      <a:r>
                        <a:rPr sz="2025" b="1">
                          <a:solidFill>
                            <a:srgbClr val="172F39"/>
                          </a:solidFill>
                          <a:latin typeface="Noto Sans KR"/>
                          <a:ea typeface="Noto Sans KR"/>
                          <a:cs typeface="Noto Sans KR"/>
                        </a:rPr>
                        <a:t>계산</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결과</a:t>
                      </a:r>
                    </a:p>
                  </a:txBody>
                  <a:tcPr marL="114300" marR="114300" marT="76200" marB="76200" anchor="ctr">
                    <a:solidFill>
                      <a:srgbClr val="DCECE8"/>
                    </a:solidFill>
                  </a:tcPr>
                </a:tc>
              </a:tr>
              <a:tr h="536448">
                <a:tc>
                  <a:txBody>
                    <a:bodyPr wrap="square"/>
                    <a:lstStyle/>
                    <a:p>
                      <a:pPr>
                        <a:lnSpc>
                          <a:spcPct val="102000"/>
                        </a:lnSpc>
                        <a:buNone/>
                      </a:pPr>
                      <a:r>
                        <a:rPr sz="2025" b="0">
                          <a:solidFill>
                            <a:srgbClr val="172F39"/>
                          </a:solidFill>
                          <a:latin typeface="Noto Sans KR"/>
                          <a:ea typeface="Noto Sans KR"/>
                          <a:cs typeface="Noto Sans KR"/>
                        </a:rPr>
                        <a:t>22.5+24.0+23.5</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70.0</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70.0÷3</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23.333…</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소수 둘째 자리로 반올림</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23.33</a:t>
                      </a:r>
                    </a:p>
                  </a:txBody>
                  <a:tcPr marL="114300" marR="114300" marT="76200" marB="76200" anchor="ctr">
                    <a:solidFill>
                      <a:srgbClr val="FFFFFF"/>
                    </a:solidFill>
                  </a:tcPr>
                </a:tc>
              </a:tr>
            </a:tbl>
          </a:graphicData>
        </a:graphic>
      </p:graphicFrame>
      <p:sp>
        <p:nvSpPr>
          <p:cNvPr id="4" name="">
            <a:extLst>
              <a:ext uri="{FF2B5EF4-FFF2-40B4-BE49-F238E27FC236}">
                <ns2:creationId id="{D538E5D8-A4F9-42A1-80DE-369625A04D05}"/>
              </a:ext>
            </a:extLst>
          </p:cNvPr>
          <p:cNvSpPr>
            <a:spLocks noGrp="1"/>
          </p:cNvSpPr>
          <p:nvPr/>
        </p:nvSpPr>
        <p:spPr>
          <a:xfrm>
            <a:off x="685800" y="6172200"/>
            <a:ext cx="10820400" cy="9525"/>
          </a:xfrm>
          <a:prstGeom prst="rect">
            <a:avLst/>
          </a:prstGeom>
          <a:solidFill>
            <a:srgbClr val="D5DEDD"/>
          </a:solidFill>
          <a:ln w="0">
            <a:noFill/>
          </a:ln>
        </p:spPr>
      </p:sp>
      <p:sp>
        <p:nvSpPr>
          <p:cNvPr id="5" name="">
            <a:extLst>
              <a:ext uri="{FF2B5EF4-FFF2-40B4-BE49-F238E27FC236}">
                <ns2:creationId id="{EC839BDC-763D-4643-8521-39585E54E77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6" name="">
            <a:extLst>
              <a:ext uri="{FF2B5EF4-FFF2-40B4-BE49-F238E27FC236}">
                <ns2:creationId id="{083BED03-875E-421C-B3FA-306644D4BC9E}"/>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7" name="">
            <a:extLst>
              <a:ext uri="{FF2B5EF4-FFF2-40B4-BE49-F238E27FC236}">
                <ns2:creationId id="{243A3EF4-8135-47A1-8533-2985F59CE057}"/>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8" name="">
            <a:extLst>
              <a:ext uri="{FF2B5EF4-FFF2-40B4-BE49-F238E27FC236}">
                <ns2:creationId id="{28497E5C-6C38-4D91-9F76-BF0BA8214423}"/>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044</a:t>
            </a:r>
          </a:p>
        </p:txBody>
      </p:sp>
    </p:spTree>
    <p:extLst>
      <p:ext uri="{BB962C8B-B14F-4D97-AF65-F5344CB8AC3E}">
        <ns4:creationId val="1367793849"/>
      </p:ext>
    </p:extLst>
  </p:cSld>
</p:sld>
</file>

<file path=ppt/slides/slide4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48E2ABF8-5841-4F28-B9AF-4B6C61C74F38}"/>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8810A485-6A3D-4270-9F1B-37AA4888E187}"/>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평균을 낼 대상부터 정합니다</a:t>
            </a:r>
          </a:p>
        </p:txBody>
      </p:sp>
      <p:sp>
        <p:nvSpPr>
          <p:cNvPr id="3" name="">
            <a:extLst>
              <a:ext uri="{FF2B5EF4-FFF2-40B4-BE49-F238E27FC236}">
                <ns2:creationId id="{36CB3630-7D6D-45BB-9C6B-E4435913D879}"/>
              </a:ext>
            </a:extLst>
          </p:cNvPr>
          <p:cNvSpPr>
            <a:spLocks noGrp="1"/>
          </p:cNvSpPr>
          <p:nvPr/>
        </p:nvSpPr>
        <p:spPr>
          <a:xfrm>
            <a:off x="685800" y="193357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같은 단위와 의미의 값을 모읍니다.</a:t>
            </a:r>
          </a:p>
        </p:txBody>
      </p:sp>
      <p:sp>
        <p:nvSpPr>
          <p:cNvPr id="4" name="">
            <a:extLst>
              <a:ext uri="{FF2B5EF4-FFF2-40B4-BE49-F238E27FC236}">
                <ns2:creationId id="{3B61A12E-BA3D-4E97-8C1F-947A1EE65F4C}"/>
              </a:ext>
            </a:extLst>
          </p:cNvPr>
          <p:cNvSpPr>
            <a:spLocks noGrp="1"/>
          </p:cNvSpPr>
          <p:nvPr/>
        </p:nvSpPr>
        <p:spPr>
          <a:xfrm>
            <a:off x="685800" y="243268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실제 수치 0은 포함합니다.</a:t>
            </a:r>
          </a:p>
        </p:txBody>
      </p:sp>
      <p:sp>
        <p:nvSpPr>
          <p:cNvPr id="5" name="">
            <a:extLst>
              <a:ext uri="{FF2B5EF4-FFF2-40B4-BE49-F238E27FC236}">
                <ns2:creationId id="{1485B057-AB9D-41D5-852D-FBCCDFCB7A17}"/>
              </a:ext>
            </a:extLst>
          </p:cNvPr>
          <p:cNvSpPr>
            <a:spLocks noGrp="1"/>
          </p:cNvSpPr>
          <p:nvPr/>
        </p:nvSpPr>
        <p:spPr>
          <a:xfrm>
            <a:off x="685800" y="29317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미측정은 임의의 0으로 넣지 않습니다.</a:t>
            </a:r>
          </a:p>
        </p:txBody>
      </p:sp>
      <p:sp>
        <p:nvSpPr>
          <p:cNvPr id="6" name="">
            <a:extLst>
              <a:ext uri="{FF2B5EF4-FFF2-40B4-BE49-F238E27FC236}">
                <ns2:creationId id="{0BD49E78-8841-440D-ABE5-2E79DB588B68}"/>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평균의 계산 순서</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3459317"/>
                <a:gridCol w="1779433"/>
              </a:tblGrid>
              <a:tr h="514350">
                <a:tc>
                  <a:txBody>
                    <a:bodyPr wrap="square"/>
                    <a:lstStyle/>
                    <a:p>
                      <a:pPr>
                        <a:lnSpc>
                          <a:spcPct val="102000"/>
                        </a:lnSpc>
                        <a:buNone/>
                      </a:pPr>
                      <a:r>
                        <a:rPr sz="1875" b="1">
                          <a:solidFill>
                            <a:srgbClr val="172F39"/>
                          </a:solidFill>
                          <a:latin typeface="Noto Sans KR"/>
                          <a:ea typeface="Noto Sans KR"/>
                          <a:cs typeface="Noto Sans KR"/>
                        </a:rPr>
                        <a:t>계산</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결과</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22.5+24.0+23.5</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70.0</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70.0÷3</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23.333…</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소수 둘째 자리로 반올림</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23.33</a:t>
                      </a:r>
                    </a:p>
                  </a:txBody>
                  <a:tcPr marL="114300" marR="114300" marT="76200" marB="76200" anchor="ctr">
                    <a:solidFill>
                      <a:srgbClr val="FFFFFF"/>
                    </a:solidFill>
                  </a:tcPr>
                </a:tc>
              </a:tr>
            </a:tbl>
          </a:graphicData>
        </a:graphic>
      </p:graphicFrame>
      <p:sp>
        <p:nvSpPr>
          <p:cNvPr id="8" name="">
            <a:extLst>
              <a:ext uri="{FF2B5EF4-FFF2-40B4-BE49-F238E27FC236}">
                <ns2:creationId id="{4BE7104D-4989-400D-B347-2EED678CBD72}"/>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C90CD971-DCD1-47B0-8BF8-A7BB43CB9BF4}"/>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B80AE6B3-50ED-4754-A16A-F7029157B028}"/>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AAA4E111-1B29-4C53-9CB9-C6D9E08B5A2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D39461CF-5E55-4DB7-A9BB-7E1446B9BC14}"/>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045</a:t>
            </a:r>
          </a:p>
        </p:txBody>
      </p:sp>
    </p:spTree>
    <p:extLst>
      <p:ext uri="{BB962C8B-B14F-4D97-AF65-F5344CB8AC3E}">
        <ns4:creationId val="950737400"/>
      </p:ext>
    </p:extLst>
  </p:cSld>
</p:sld>
</file>

<file path=ppt/slides/slide4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BC296EFA-33B9-483D-B78E-22F41399F601}"/>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F2297F82-07A4-4D4F-99FD-7933CCD7D6C7}"/>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상품번호와 무게 문자열</a:t>
            </a:r>
          </a:p>
        </p:txBody>
      </p:sp>
      <p:sp>
        <p:nvSpPr>
          <p:cNvPr id="3" name="">
            <a:extLst>
              <a:ext uri="{FF2B5EF4-FFF2-40B4-BE49-F238E27FC236}">
                <ns2:creationId id="{5FDB8041-0120-4851-8560-C8B42F2F8853}"/>
              </a:ext>
            </a:extLst>
          </p:cNvPr>
          <p:cNvSpPr>
            <a:spLocks noGrp="1"/>
          </p:cNvSpPr>
          <p:nvPr/>
        </p:nvSpPr>
        <p:spPr>
          <a:xfrm>
            <a:off x="685800" y="1933575"/>
            <a:ext cx="4800600" cy="788670"/>
          </a:xfrm>
          <a:prstGeom prst="rect">
            <a:avLst/>
          </a:prstGeom>
          <a:noFill/>
          <a:ln w="0">
            <a:noFill/>
          </a:ln>
        </p:spPr>
        <p:txBody>
          <a:bodyPr wrap="square" lIns="0" tIns="0" rIns="0" bIns="0">
            <a:noAutofit/>
          </a:bodyPr>
          <a:lstStyle/>
          <a:p>
            <a:pPr>
              <a:defRPr sz="2250" b="1">
                <a:solidFill>
                  <a:srgbClr val="172F39"/>
                </a:solidFill>
                <a:latin typeface="Noto Sans KR"/>
                <a:ea typeface="Noto Sans KR"/>
                <a:cs typeface="Noto Sans KR"/>
              </a:defRPr>
            </a:pPr>
            <a:r>
              <a:t>상품번호 0012와 무게 "2.5"를 함께 받았습니다.</a:t>
            </a:r>
          </a:p>
        </p:txBody>
      </p:sp>
      <p:sp>
        <p:nvSpPr>
          <p:cNvPr id="4" name="">
            <a:extLst>
              <a:ext uri="{FF2B5EF4-FFF2-40B4-BE49-F238E27FC236}">
                <ns2:creationId id="{FF8C0D98-B29D-4908-B194-EB6AD4A1E485}"/>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번호는 보존하고 무게는 계산</a:t>
            </a:r>
          </a:p>
        </p:txBody>
      </p:sp>
      <p:graphicFrame>
        <p:nvGraphicFramePr>
          <p:cNvPr id="15" name=""/>
          <p:cNvGraphicFramePr/>
          <p:nvPr/>
        </p:nvGraphicFramePr>
        <p:xfrm>
          <a:off x="6267450" y="2628900"/>
          <a:ext cx="5238750" cy="2057400"/>
        </p:xfrm>
        <a:graphic>
          <a:graphicData uri="http://schemas.openxmlformats.org/drawingml/2006/table">
            <a:tbl>
              <a:tblPr firstRow="1" bandRow="0"/>
              <a:tblGrid>
                <a:gridCol w="1508484"/>
                <a:gridCol w="2185147"/>
                <a:gridCol w="1545119"/>
              </a:tblGrid>
              <a:tr h="514350">
                <a:tc>
                  <a:txBody>
                    <a:bodyPr wrap="square"/>
                    <a:lstStyle/>
                    <a:p>
                      <a:pPr>
                        <a:lnSpc>
                          <a:spcPct val="102000"/>
                        </a:lnSpc>
                        <a:buNone/>
                      </a:pPr>
                      <a:r>
                        <a:rPr sz="1875" b="1">
                          <a:solidFill>
                            <a:srgbClr val="172F39"/>
                          </a:solidFill>
                          <a:latin typeface="Noto Sans KR"/>
                          <a:ea typeface="Noto Sans KR"/>
                          <a:cs typeface="Noto Sans KR"/>
                        </a:rPr>
                        <a:t>항목</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처리</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결과</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상품번호</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문자열 유지</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앞 0 보존</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무게</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실수 해석</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2.5kg</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운송비</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2.5×2000+1000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6000원</a:t>
                      </a:r>
                    </a:p>
                  </a:txBody>
                  <a:tcPr marL="114300" marR="114300" marT="76200" marB="76200" anchor="ctr">
                    <a:solidFill>
                      <a:srgbClr val="FFFFFF"/>
                    </a:solidFill>
                  </a:tcPr>
                </a:tc>
              </a:tr>
            </a:tbl>
          </a:graphicData>
        </a:graphic>
      </p:graphicFrame>
      <p:sp>
        <p:nvSpPr>
          <p:cNvPr id="6" name="">
            <a:extLst>
              <a:ext uri="{FF2B5EF4-FFF2-40B4-BE49-F238E27FC236}">
                <ns2:creationId id="{A37B1FFD-6C05-4157-A54C-554AB5D78783}"/>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D16180B6-3D3C-4FC7-817F-58FC0E0B3F6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BB059470-CA49-43C0-AD1B-5130B1595487}"/>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0CC8A16B-7FF3-4EC1-845C-AA4E6CBE4B14}"/>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4BE7C35F-6F51-4AC9-B9DD-8D7DD1B7763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046</a:t>
            </a:r>
          </a:p>
        </p:txBody>
      </p:sp>
    </p:spTree>
    <p:extLst>
      <p:ext uri="{BB962C8B-B14F-4D97-AF65-F5344CB8AC3E}">
        <ns4:creationId val="741154697"/>
      </p:ext>
    </p:extLst>
  </p:cSld>
</p:sld>
</file>

<file path=ppt/slides/slide4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9" name="">
            <a:extLst>
              <a:ext uri="{FF2B5EF4-FFF2-40B4-BE49-F238E27FC236}">
                <ns2:creationId id="{0179B1EB-B655-43C2-A374-8DA00EB18141}"/>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0AF5BD41-1BB0-4774-9DA0-1043109CE51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번호는 보존하고 무게는 계산</a:t>
            </a:r>
          </a:p>
        </p:txBody>
      </p:sp>
      <p:graphicFrame>
        <p:nvGraphicFramePr>
          <p:cNvPr id="11" name=""/>
          <p:cNvGraphicFramePr/>
          <p:nvPr/>
        </p:nvGraphicFramePr>
        <p:xfrm>
          <a:off x="685800" y="1809750"/>
          <a:ext cx="10820400" cy="2145792"/>
        </p:xfrm>
        <a:graphic>
          <a:graphicData uri="http://schemas.openxmlformats.org/drawingml/2006/table">
            <a:tbl>
              <a:tblPr firstRow="1" bandRow="0"/>
              <a:tblGrid>
                <a:gridCol w="3115705"/>
                <a:gridCol w="4513322"/>
                <a:gridCol w="3191373"/>
              </a:tblGrid>
              <a:tr h="536448">
                <a:tc>
                  <a:txBody>
                    <a:bodyPr wrap="square"/>
                    <a:lstStyle/>
                    <a:p>
                      <a:pPr>
                        <a:lnSpc>
                          <a:spcPct val="102000"/>
                        </a:lnSpc>
                        <a:buNone/>
                      </a:pPr>
                      <a:r>
                        <a:rPr sz="2025" b="1">
                          <a:solidFill>
                            <a:srgbClr val="172F39"/>
                          </a:solidFill>
                          <a:latin typeface="Noto Sans KR"/>
                          <a:ea typeface="Noto Sans KR"/>
                          <a:cs typeface="Noto Sans KR"/>
                        </a:rPr>
                        <a:t>항목</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처리</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결과</a:t>
                      </a:r>
                    </a:p>
                  </a:txBody>
                  <a:tcPr marL="114300" marR="114300" marT="76200" marB="76200" anchor="ctr">
                    <a:solidFill>
                      <a:srgbClr val="DCECE8"/>
                    </a:solidFill>
                  </a:tcPr>
                </a:tc>
              </a:tr>
              <a:tr h="536448">
                <a:tc>
                  <a:txBody>
                    <a:bodyPr wrap="square"/>
                    <a:lstStyle/>
                    <a:p>
                      <a:pPr>
                        <a:lnSpc>
                          <a:spcPct val="102000"/>
                        </a:lnSpc>
                        <a:buNone/>
                      </a:pPr>
                      <a:r>
                        <a:rPr sz="2025" b="0">
                          <a:solidFill>
                            <a:srgbClr val="172F39"/>
                          </a:solidFill>
                          <a:latin typeface="Noto Sans KR"/>
                          <a:ea typeface="Noto Sans KR"/>
                          <a:cs typeface="Noto Sans KR"/>
                        </a:rPr>
                        <a:t>상품번호</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문자열 유지</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앞 0 보존</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무게</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실수 해석</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2.5kg</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운송비</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2.5×2000+1000</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6000원</a:t>
                      </a:r>
                    </a:p>
                  </a:txBody>
                  <a:tcPr marL="114300" marR="114300" marT="76200" marB="76200" anchor="ctr">
                    <a:solidFill>
                      <a:srgbClr val="FFFFFF"/>
                    </a:solidFill>
                  </a:tcPr>
                </a:tc>
              </a:tr>
            </a:tbl>
          </a:graphicData>
        </a:graphic>
      </p:graphicFrame>
      <p:sp>
        <p:nvSpPr>
          <p:cNvPr id="4" name="">
            <a:extLst>
              <a:ext uri="{FF2B5EF4-FFF2-40B4-BE49-F238E27FC236}">
                <ns2:creationId id="{576CFB41-1C1C-46DF-A433-BF2762E218F3}"/>
              </a:ext>
            </a:extLst>
          </p:cNvPr>
          <p:cNvSpPr>
            <a:spLocks noGrp="1"/>
          </p:cNvSpPr>
          <p:nvPr/>
        </p:nvSpPr>
        <p:spPr>
          <a:xfrm>
            <a:off x="685800" y="6172200"/>
            <a:ext cx="10820400" cy="9525"/>
          </a:xfrm>
          <a:prstGeom prst="rect">
            <a:avLst/>
          </a:prstGeom>
          <a:solidFill>
            <a:srgbClr val="D5DEDD"/>
          </a:solidFill>
          <a:ln w="0">
            <a:noFill/>
          </a:ln>
        </p:spPr>
      </p:sp>
      <p:sp>
        <p:nvSpPr>
          <p:cNvPr id="5" name="">
            <a:extLst>
              <a:ext uri="{FF2B5EF4-FFF2-40B4-BE49-F238E27FC236}">
                <ns2:creationId id="{94080A01-55C7-4D9F-9B16-1744979E07C6}"/>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6" name="">
            <a:extLst>
              <a:ext uri="{FF2B5EF4-FFF2-40B4-BE49-F238E27FC236}">
                <ns2:creationId id="{22B3670B-308E-4760-8E82-BDA2EBB0780E}"/>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7" name="">
            <a:extLst>
              <a:ext uri="{FF2B5EF4-FFF2-40B4-BE49-F238E27FC236}">
                <ns2:creationId id="{F1DBD0ED-0AAE-4036-8457-544F55AAC2FD}"/>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8" name="">
            <a:extLst>
              <a:ext uri="{FF2B5EF4-FFF2-40B4-BE49-F238E27FC236}">
                <ns2:creationId id="{0E767D3A-C36D-4D4C-8587-1370240252A1}"/>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047</a:t>
            </a:r>
          </a:p>
        </p:txBody>
      </p:sp>
    </p:spTree>
    <p:extLst>
      <p:ext uri="{BB962C8B-B14F-4D97-AF65-F5344CB8AC3E}">
        <ns4:creationId val="934033221"/>
      </p:ext>
    </p:extLst>
  </p:cSld>
</p:sld>
</file>

<file path=ppt/slides/slide4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195CFBA4-0186-4018-9B84-0B692CA56F46}"/>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65C1E800-F1CA-424B-979F-AE2FB3E7681A}"/>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추가 복습 · 새 문제</a:t>
            </a:r>
          </a:p>
        </p:txBody>
      </p:sp>
      <p:sp>
        <p:nvSpPr>
          <p:cNvPr id="3" name="">
            <a:extLst>
              <a:ext uri="{FF2B5EF4-FFF2-40B4-BE49-F238E27FC236}">
                <ns2:creationId id="{6E68B699-3B91-475B-BF93-385A04EEBD08}"/>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추가 복습: 주문번호 0009, 단가 "1500"</a:t>
            </a:r>
          </a:p>
        </p:txBody>
      </p:sp>
      <p:sp>
        <p:nvSpPr>
          <p:cNvPr id="4" name="">
            <a:extLst>
              <a:ext uri="{FF2B5EF4-FFF2-40B4-BE49-F238E27FC236}">
                <ns2:creationId id="{4EC17A97-F4B1-4382-8A98-1B7DEA4E054A}"/>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수량 "3", 배송비 2000원입니다.</a:t>
            </a:r>
          </a:p>
        </p:txBody>
      </p:sp>
      <p:sp>
        <p:nvSpPr>
          <p:cNvPr id="5" name="">
            <a:extLst>
              <a:ext uri="{FF2B5EF4-FFF2-40B4-BE49-F238E27FC236}">
                <ns2:creationId id="{2728F82B-EA7F-4246-8025-3D98CCA48445}"/>
              </a:ext>
            </a:extLst>
          </p:cNvPr>
          <p:cNvSpPr>
            <a:spLocks noGrp="1"/>
          </p:cNvSpPr>
          <p:nvPr/>
        </p:nvSpPr>
        <p:spPr>
          <a:xfrm>
            <a:off x="685800" y="3123819"/>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종류와 상품 총액·최종액을 적으세요.</a:t>
            </a:r>
          </a:p>
        </p:txBody>
      </p:sp>
      <p:sp>
        <p:nvSpPr>
          <p:cNvPr id="6" name="">
            <a:extLst>
              <a:ext uri="{FF2B5EF4-FFF2-40B4-BE49-F238E27FC236}">
                <ns2:creationId id="{703A2E50-91A4-40CD-8ECD-0DF07B52F09A}"/>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DA91B67B-3B26-49EC-BC79-3F0E0D464492}"/>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D5778048-7D2A-4A75-B76F-FB5A7C1A301B}"/>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89D0182E-D1F4-4C1A-9F4C-0A084F1EC2A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F277C688-E301-4513-AC15-9F702A4CC065}"/>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048</a:t>
            </a:r>
          </a:p>
        </p:txBody>
      </p:sp>
    </p:spTree>
    <p:extLst>
      <p:ext uri="{BB962C8B-B14F-4D97-AF65-F5344CB8AC3E}">
        <ns4:creationId val="1553738381"/>
      </p:ext>
    </p:extLst>
  </p:cSld>
</p:sld>
</file>

<file path=ppt/slides/slide4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E5E51972-4119-4A80-9527-21AF8F676896}"/>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630B3B03-AA2F-4757-A418-CAC2E8CBD2B5}"/>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상품 금액과 배송비 계산</a:t>
            </a:r>
          </a:p>
        </p:txBody>
      </p:sp>
      <p:sp>
        <p:nvSpPr>
          <p:cNvPr id="3" name="">
            <a:extLst>
              <a:ext uri="{FF2B5EF4-FFF2-40B4-BE49-F238E27FC236}">
                <ns2:creationId id="{0D315BC6-02F3-43B9-AE10-E73DBD8B35DB}"/>
              </a:ext>
            </a:extLst>
          </p:cNvPr>
          <p:cNvSpPr>
            <a:spLocks noGrp="1"/>
          </p:cNvSpPr>
          <p:nvPr/>
        </p:nvSpPr>
        <p:spPr>
          <a:xfrm>
            <a:off x="685800" y="193357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주문번호는 문자열, 단가·수량은 정수입니다.</a:t>
            </a:r>
          </a:p>
        </p:txBody>
      </p:sp>
      <p:sp>
        <p:nvSpPr>
          <p:cNvPr id="4" name="">
            <a:extLst>
              <a:ext uri="{FF2B5EF4-FFF2-40B4-BE49-F238E27FC236}">
                <ns2:creationId id="{F119DEC9-246D-4965-8C0E-90B41E830059}"/>
              </a:ext>
            </a:extLst>
          </p:cNvPr>
          <p:cNvSpPr>
            <a:spLocks noGrp="1"/>
          </p:cNvSpPr>
          <p:nvPr/>
        </p:nvSpPr>
        <p:spPr>
          <a:xfrm>
            <a:off x="685800" y="276987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총액 4500원, 배송비 포함 6500원입니다.</a:t>
            </a:r>
          </a:p>
        </p:txBody>
      </p:sp>
      <p:sp>
        <p:nvSpPr>
          <p:cNvPr id="5" name="">
            <a:extLst>
              <a:ext uri="{FF2B5EF4-FFF2-40B4-BE49-F238E27FC236}">
                <ns2:creationId id="{9D0BF1A2-9DAA-435A-BAD8-D8EBDCE83F6A}"/>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추가 복습 · 새 문제</a:t>
            </a:r>
          </a:p>
        </p:txBody>
      </p:sp>
      <p:sp>
        <p:nvSpPr>
          <p:cNvPr id="6" name="">
            <a:extLst>
              <a:ext uri="{FF2B5EF4-FFF2-40B4-BE49-F238E27FC236}">
                <ns2:creationId id="{A51C67DD-1643-421F-BFC3-EA8255E26353}"/>
              </a:ext>
            </a:extLst>
          </p:cNvPr>
          <p:cNvSpPr>
            <a:spLocks noGrp="1"/>
          </p:cNvSpPr>
          <p:nvPr/>
        </p:nvSpPr>
        <p:spPr>
          <a:xfrm>
            <a:off x="6267450" y="2628900"/>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추가 복습: 주문번호 0009, 단가 "1500"</a:t>
            </a:r>
          </a:p>
        </p:txBody>
      </p:sp>
      <p:sp>
        <p:nvSpPr>
          <p:cNvPr id="7" name="">
            <a:extLst>
              <a:ext uri="{FF2B5EF4-FFF2-40B4-BE49-F238E27FC236}">
                <ns2:creationId id="{B1A6009F-3FF2-4D3A-95F5-A19B6D7F5D25}"/>
              </a:ext>
            </a:extLst>
          </p:cNvPr>
          <p:cNvSpPr>
            <a:spLocks noGrp="1"/>
          </p:cNvSpPr>
          <p:nvPr/>
        </p:nvSpPr>
        <p:spPr>
          <a:xfrm>
            <a:off x="6267450" y="3116771"/>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수량 "3", 배송비 2000원입니다.</a:t>
            </a:r>
          </a:p>
        </p:txBody>
      </p:sp>
      <p:sp>
        <p:nvSpPr>
          <p:cNvPr id="8" name="">
            <a:extLst>
              <a:ext uri="{FF2B5EF4-FFF2-40B4-BE49-F238E27FC236}">
                <ns2:creationId id="{07C908DD-8EDE-47B6-B972-1D10FE2B5D40}"/>
              </a:ext>
            </a:extLst>
          </p:cNvPr>
          <p:cNvSpPr>
            <a:spLocks noGrp="1"/>
          </p:cNvSpPr>
          <p:nvPr/>
        </p:nvSpPr>
        <p:spPr>
          <a:xfrm>
            <a:off x="6267450" y="3604641"/>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종류와 상품 총액·최종액을 적으세요.</a:t>
            </a:r>
          </a:p>
        </p:txBody>
      </p:sp>
      <p:sp>
        <p:nvSpPr>
          <p:cNvPr id="9" name="">
            <a:extLst>
              <a:ext uri="{FF2B5EF4-FFF2-40B4-BE49-F238E27FC236}">
                <ns2:creationId id="{8B6F5BC8-95CC-4D14-8027-02158288271E}"/>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CCABD8CC-F98D-4BBC-A83B-45E2C3A5B6C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0319E5D6-69A8-4428-9537-BD43A34FF53A}"/>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4648B396-42E9-455D-BB2E-2E985E4C07F0}"/>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D1F82602-47DB-4F82-A71B-9B8AE0C4C21C}"/>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049</a:t>
            </a:r>
          </a:p>
        </p:txBody>
      </p:sp>
    </p:spTree>
    <p:extLst>
      <p:ext uri="{BB962C8B-B14F-4D97-AF65-F5344CB8AC3E}">
        <ns4:creationId val="1927530546"/>
      </p:ext>
    </p:extLst>
  </p:cSld>
</p:sld>
</file>

<file path=ppt/slides/slide5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623D62DB-0AEB-4C8F-9F56-749874D3E364}"/>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772AB335-8D7B-40B9-9131-0C366FB283F9}"/>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먼저 할 일 · 계산 과정 확인</a:t>
            </a:r>
          </a:p>
        </p:txBody>
      </p:sp>
      <p:sp>
        <p:nvSpPr>
          <p:cNvPr id="3" name="">
            <a:extLst>
              <a:ext uri="{FF2B5EF4-FFF2-40B4-BE49-F238E27FC236}">
                <ns2:creationId id="{82AC6E31-5F4D-4324-85C4-37909315256D}"/>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A07 문자열과 숫자 결과를 비교합니다.</a:t>
            </a:r>
          </a:p>
        </p:txBody>
      </p:sp>
      <p:sp>
        <p:nvSpPr>
          <p:cNvPr id="4" name="">
            <a:extLst>
              <a:ext uri="{FF2B5EF4-FFF2-40B4-BE49-F238E27FC236}">
                <ns2:creationId id="{9F852EC1-654F-4FD0-B789-E82D8FDFE82D}"/>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A08의 변환 뒤 값을 확인합니다.</a:t>
            </a:r>
          </a:p>
        </p:txBody>
      </p:sp>
      <p:sp>
        <p:nvSpPr>
          <p:cNvPr id="5" name="">
            <a:extLst>
              <a:ext uri="{FF2B5EF4-FFF2-40B4-BE49-F238E27FC236}">
                <ns2:creationId id="{A76AA4AF-0595-4642-93E1-73685FC66C0A}"/>
              </a:ext>
            </a:extLst>
          </p:cNvPr>
          <p:cNvSpPr>
            <a:spLocks noGrp="1"/>
          </p:cNvSpPr>
          <p:nvPr/>
        </p:nvSpPr>
        <p:spPr>
          <a:xfrm>
            <a:off x="685800" y="3123819"/>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A09 평균의 분모를 설명합니다.</a:t>
            </a:r>
          </a:p>
        </p:txBody>
      </p:sp>
      <p:sp>
        <p:nvSpPr>
          <p:cNvPr id="6" name="">
            <a:extLst>
              <a:ext uri="{FF2B5EF4-FFF2-40B4-BE49-F238E27FC236}">
                <ns2:creationId id="{79F23E44-E92D-43E1-AA67-BC086E09049F}"/>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892E44C5-C2C8-40E6-BF7B-AF1D1F5D3E93}"/>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9F762B26-C559-478C-AFD9-1054091445CE}"/>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8667172B-0161-4F18-8F68-8F4A6EEE1FA6}"/>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A9659554-53CE-4BE5-A703-8740E58D14F8}"/>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050</a:t>
            </a:r>
          </a:p>
        </p:txBody>
      </p:sp>
    </p:spTree>
    <p:extLst>
      <p:ext uri="{BB962C8B-B14F-4D97-AF65-F5344CB8AC3E}">
        <ns4:creationId val="1142965460"/>
      </p:ext>
    </p:extLst>
  </p:cSld>
</p:sld>
</file>

<file path=ppt/slides/slide5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A59C1965-A95D-4F6B-8105-1E7C3F430DAA}"/>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27B2E808-A1FA-4678-A9CE-2D4019A0C976}"/>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3교시 확인</a:t>
            </a:r>
          </a:p>
        </p:txBody>
      </p:sp>
      <p:sp>
        <p:nvSpPr>
          <p:cNvPr id="3" name="">
            <a:extLst>
              <a:ext uri="{FF2B5EF4-FFF2-40B4-BE49-F238E27FC236}">
                <ns2:creationId id="{66D60FDB-BF5C-43D4-B4DA-4807EFCA0E2D}"/>
              </a:ext>
            </a:extLst>
          </p:cNvPr>
          <p:cNvSpPr>
            <a:spLocks noGrp="1"/>
          </p:cNvSpPr>
          <p:nvPr/>
        </p:nvSpPr>
        <p:spPr>
          <a:xfrm>
            <a:off x="685800" y="193357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번호가 숫자처럼 보여도 수량처럼 더하거나 평균 내지 않습니다.</a:t>
            </a:r>
          </a:p>
        </p:txBody>
      </p:sp>
      <p:sp>
        <p:nvSpPr>
          <p:cNvPr id="4" name="">
            <a:extLst>
              <a:ext uri="{FF2B5EF4-FFF2-40B4-BE49-F238E27FC236}">
                <ns2:creationId id="{6627F05C-769F-4DBD-A8F1-34087AEAB157}"/>
              </a:ext>
            </a:extLst>
          </p:cNvPr>
          <p:cNvSpPr>
            <a:spLocks noGrp="1"/>
          </p:cNvSpPr>
          <p:nvPr/>
        </p:nvSpPr>
        <p:spPr>
          <a:xfrm>
            <a:off x="685800" y="276987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실행 성공과 업무 계산의 정확성은 다릅니다.</a:t>
            </a:r>
          </a:p>
        </p:txBody>
      </p:sp>
      <p:sp>
        <p:nvSpPr>
          <p:cNvPr id="5" name="">
            <a:extLst>
              <a:ext uri="{FF2B5EF4-FFF2-40B4-BE49-F238E27FC236}">
                <ns2:creationId id="{00D83B3E-EFE2-4F80-91D1-092F7DA34AF6}"/>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번호는 보존하고 무게는 계산</a:t>
            </a:r>
          </a:p>
        </p:txBody>
      </p:sp>
      <p:graphicFrame>
        <p:nvGraphicFramePr>
          <p:cNvPr id="17" name=""/>
          <p:cNvGraphicFramePr/>
          <p:nvPr/>
        </p:nvGraphicFramePr>
        <p:xfrm>
          <a:off x="6267450" y="2628900"/>
          <a:ext cx="5238750" cy="2057400"/>
        </p:xfrm>
        <a:graphic>
          <a:graphicData uri="http://schemas.openxmlformats.org/drawingml/2006/table">
            <a:tbl>
              <a:tblPr firstRow="1" bandRow="0"/>
              <a:tblGrid>
                <a:gridCol w="1508484"/>
                <a:gridCol w="2185147"/>
                <a:gridCol w="1545119"/>
              </a:tblGrid>
              <a:tr h="514350">
                <a:tc>
                  <a:txBody>
                    <a:bodyPr wrap="square"/>
                    <a:lstStyle/>
                    <a:p>
                      <a:pPr>
                        <a:lnSpc>
                          <a:spcPct val="102000"/>
                        </a:lnSpc>
                        <a:buNone/>
                      </a:pPr>
                      <a:r>
                        <a:rPr sz="1875" b="1">
                          <a:solidFill>
                            <a:srgbClr val="172F39"/>
                          </a:solidFill>
                          <a:latin typeface="Noto Sans KR"/>
                          <a:ea typeface="Noto Sans KR"/>
                          <a:cs typeface="Noto Sans KR"/>
                        </a:rPr>
                        <a:t>항목</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처리</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결과</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상품번호</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문자열 유지</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앞 0 보존</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무게</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실수 해석</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2.5kg</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운송비</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2.5×2000+1000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6000원</a:t>
                      </a:r>
                    </a:p>
                  </a:txBody>
                  <a:tcPr marL="114300" marR="114300" marT="76200" marB="76200" anchor="ctr">
                    <a:solidFill>
                      <a:srgbClr val="FFFFFF"/>
                    </a:solidFill>
                  </a:tcPr>
                </a:tc>
              </a:tr>
            </a:tbl>
          </a:graphicData>
        </a:graphic>
      </p:graphicFrame>
      <p:sp>
        <p:nvSpPr>
          <p:cNvPr id="7" name="">
            <a:extLst>
              <a:ext uri="{FF2B5EF4-FFF2-40B4-BE49-F238E27FC236}">
                <ns2:creationId id="{B55A4431-35FA-4419-9F58-C7CC828E4721}"/>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A6665760-72F6-4513-91EE-B19E172869C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8496A540-4780-42D1-8EC5-BF078BAEE952}"/>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7DE879CB-3C3B-4CD5-9D4E-923A1C88BCDA}"/>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9AF7C5AF-D80A-416C-A384-3C244C6AEFF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051</a:t>
            </a:r>
          </a:p>
        </p:txBody>
      </p:sp>
    </p:spTree>
    <p:extLst>
      <p:ext uri="{BB962C8B-B14F-4D97-AF65-F5344CB8AC3E}">
        <ns4:creationId val="1413991364"/>
      </p:ext>
    </p:extLst>
  </p:cSld>
</p:sld>
</file>

<file path=ppt/slides/slide5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6DA4BBAF-B020-495B-BBC4-7980D928EF22}"/>
              </a:ext>
            </a:extLst>
          </p:cNvPr>
          <p:cNvSpPr>
            <a:spLocks noGrp="1"/>
          </p:cNvSpPr>
          <p:nvPr/>
        </p:nvSpPr>
        <p:spPr>
          <a:xfrm>
            <a:off x="685800" y="657225"/>
            <a:ext cx="10820400" cy="400050"/>
          </a:xfrm>
          <a:prstGeom prst="rect">
            <a:avLst/>
          </a:prstGeom>
          <a:noFill/>
          <a:ln w="0">
            <a:noFill/>
          </a:ln>
        </p:spPr>
        <p:txBody>
          <a:bodyPr wrap="square" lIns="0" tIns="0" rIns="0" bIns="0">
            <a:noAutofit/>
          </a:bodyPr>
          <a:lstStyle/>
          <a:p>
            <a:pPr>
              <a:defRPr sz="1950" b="1">
                <a:solidFill>
                  <a:srgbClr val="08786F"/>
                </a:solidFill>
                <a:latin typeface="Noto Sans KR"/>
                <a:ea typeface="Noto Sans KR"/>
                <a:cs typeface="Noto Sans KR"/>
              </a:defRPr>
            </a:pPr>
            <a:r>
              <a:t>4교시</a:t>
            </a:r>
          </a:p>
        </p:txBody>
      </p:sp>
      <p:sp>
        <p:nvSpPr>
          <p:cNvPr id="2" name="">
            <a:extLst>
              <a:ext uri="{FF2B5EF4-FFF2-40B4-BE49-F238E27FC236}">
                <ns2:creationId id="{BDCC96B4-F800-4691-B9F0-83043E7F9936}"/>
              </a:ext>
            </a:extLst>
          </p:cNvPr>
          <p:cNvSpPr>
            <a:spLocks noGrp="1"/>
          </p:cNvSpPr>
          <p:nvPr/>
        </p:nvSpPr>
        <p:spPr>
          <a:xfrm>
            <a:off x="685800" y="1552575"/>
            <a:ext cx="10668000" cy="1905000"/>
          </a:xfrm>
          <a:prstGeom prst="rect">
            <a:avLst/>
          </a:prstGeom>
          <a:noFill/>
          <a:ln w="0">
            <a:noFill/>
          </a:ln>
        </p:spPr>
        <p:txBody>
          <a:bodyPr wrap="square" lIns="0" tIns="0" rIns="0" bIns="0">
            <a:noAutofit/>
          </a:bodyPr>
          <a:lstStyle/>
          <a:p>
            <a:pPr>
              <a:defRPr sz="4725" b="1">
                <a:solidFill>
                  <a:srgbClr val="172F39"/>
                </a:solidFill>
                <a:latin typeface="Noto Sans KR"/>
                <a:ea typeface="Noto Sans KR"/>
                <a:cs typeface="Noto Sans KR"/>
              </a:defRPr>
            </a:pPr>
            <a:r>
              <a:t>기준에 따라 나누기</a:t>
            </a:r>
          </a:p>
        </p:txBody>
      </p:sp>
      <p:sp>
        <p:nvSpPr>
          <p:cNvPr id="3" name="">
            <a:extLst>
              <a:ext uri="{FF2B5EF4-FFF2-40B4-BE49-F238E27FC236}">
                <ns2:creationId id="{BE772D83-3F74-41A9-956B-7845F32C6CA6}"/>
              </a:ext>
            </a:extLst>
          </p:cNvPr>
          <p:cNvSpPr>
            <a:spLocks noGrp="1"/>
          </p:cNvSpPr>
          <p:nvPr/>
        </p:nvSpPr>
        <p:spPr>
          <a:xfrm>
            <a:off x="723900" y="3638550"/>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14:00~14:50 · 50분</a:t>
            </a:r>
          </a:p>
        </p:txBody>
      </p:sp>
      <p:sp>
        <p:nvSpPr>
          <p:cNvPr id="4" name="">
            <a:extLst>
              <a:ext uri="{FF2B5EF4-FFF2-40B4-BE49-F238E27FC236}">
                <ns2:creationId id="{0E5492EB-3FD6-42BA-8A7A-D9EE1E467CD1}"/>
              </a:ext>
            </a:extLst>
          </p:cNvPr>
          <p:cNvSpPr>
            <a:spLocks noGrp="1"/>
          </p:cNvSpPr>
          <p:nvPr/>
        </p:nvSpPr>
        <p:spPr>
          <a:xfrm>
            <a:off x="723900" y="4160139"/>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먼저 할 활동: A10, A11, A12</a:t>
            </a:r>
          </a:p>
        </p:txBody>
      </p:sp>
      <p:sp>
        <p:nvSpPr>
          <p:cNvPr id="5" name="">
            <a:extLst>
              <a:ext uri="{FF2B5EF4-FFF2-40B4-BE49-F238E27FC236}">
                <ns2:creationId id="{7D37492A-5175-4B75-BD63-04BBF466D51C}"/>
              </a:ext>
            </a:extLst>
          </p:cNvPr>
          <p:cNvSpPr>
            <a:spLocks noGrp="1"/>
          </p:cNvSpPr>
          <p:nvPr/>
        </p:nvSpPr>
        <p:spPr>
          <a:xfrm>
            <a:off x="723900" y="4681728"/>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필수 활동을 마쳤으면 추가 문제를 풀어 보세요.</a:t>
            </a:r>
          </a:p>
        </p:txBody>
      </p:sp>
      <p:sp>
        <p:nvSpPr>
          <p:cNvPr id="6" name="">
            <a:extLst>
              <a:ext uri="{FF2B5EF4-FFF2-40B4-BE49-F238E27FC236}">
                <ns2:creationId id="{5035A447-BD99-433B-BE1C-A49BD148C8EE}"/>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90DF1FB1-3B05-46A1-8785-73659CFE5493}"/>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0968F90D-6322-4CFC-9ED4-298F0604983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234877F3-2750-4930-8E3B-C0A50BA77FD4}"/>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6273D227-5EF5-4E3B-BA35-19F817087974}"/>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052</a:t>
            </a:r>
          </a:p>
        </p:txBody>
      </p:sp>
    </p:spTree>
    <p:extLst>
      <p:ext uri="{BB962C8B-B14F-4D97-AF65-F5344CB8AC3E}">
        <ns4:creationId val="1466572429"/>
      </p:ext>
    </p:extLst>
  </p:cSld>
</p:sld>
</file>

<file path=ppt/slides/slide5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9" name="">
            <a:extLst>
              <a:ext uri="{FF2B5EF4-FFF2-40B4-BE49-F238E27FC236}">
                <ns2:creationId id="{C1E84AAA-6500-4EED-AE43-0DCB0496F0DC}"/>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1AC8EAC2-4E36-4F1D-9B26-996635612967}"/>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완성 예 · 세 비교</a:t>
            </a:r>
          </a:p>
        </p:txBody>
      </p:sp>
      <p:sp>
        <p:nvSpPr>
          <p:cNvPr id="3" name="">
            <a:extLst>
              <a:ext uri="{FF2B5EF4-FFF2-40B4-BE49-F238E27FC236}">
                <ns2:creationId id="{82A7E9EB-81BF-4CBC-8A5C-CB90F1117303}"/>
              </a:ext>
            </a:extLst>
          </p:cNvPr>
          <p:cNvSpPr>
            <a:spLocks noGrp="1"/>
          </p:cNvSpPr>
          <p:nvPr/>
        </p:nvSpPr>
        <p:spPr>
          <a:xfrm>
            <a:off x="685800" y="1809750"/>
            <a:ext cx="10820400" cy="1908810"/>
          </a:xfrm>
          <a:prstGeom prst="rect">
            <a:avLst/>
          </a:prstGeom>
          <a:solidFill>
            <a:srgbClr val="F1F6F5"/>
          </a:solidFill>
          <a:ln w="0">
            <a:noFill/>
          </a:ln>
        </p:spPr>
      </p:sp>
      <p:sp>
        <p:nvSpPr>
          <p:cNvPr id="4" name="">
            <a:extLst>
              <a:ext uri="{FF2B5EF4-FFF2-40B4-BE49-F238E27FC236}">
                <ns2:creationId id="{566843F7-F988-4FDC-905F-467682839AFF}"/>
              </a:ext>
            </a:extLst>
          </p:cNvPr>
          <p:cNvSpPr>
            <a:spLocks noGrp="1"/>
          </p:cNvSpPr>
          <p:nvPr/>
        </p:nvSpPr>
        <p:spPr>
          <a:xfrm>
            <a:off x="828675" y="197167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5" name="">
            <a:extLst>
              <a:ext uri="{FF2B5EF4-FFF2-40B4-BE49-F238E27FC236}">
                <ns2:creationId id="{0DE44B7B-D9CA-4683-A93E-E37034F6846D}"/>
              </a:ext>
            </a:extLst>
          </p:cNvPr>
          <p:cNvSpPr>
            <a:spLocks noGrp="1"/>
          </p:cNvSpPr>
          <p:nvPr/>
        </p:nvSpPr>
        <p:spPr>
          <a:xfrm>
            <a:off x="1276350" y="193357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temperature_c = 24.0</a:t>
            </a:r>
          </a:p>
        </p:txBody>
      </p:sp>
      <p:sp>
        <p:nvSpPr>
          <p:cNvPr id="6" name="">
            <a:extLst>
              <a:ext uri="{FF2B5EF4-FFF2-40B4-BE49-F238E27FC236}">
                <ns2:creationId id="{E7FF99A2-D4EB-4D2B-900E-675540C53C89}"/>
              </a:ext>
            </a:extLst>
          </p:cNvPr>
          <p:cNvSpPr>
            <a:spLocks noGrp="1"/>
          </p:cNvSpPr>
          <p:nvPr/>
        </p:nvSpPr>
        <p:spPr>
          <a:xfrm>
            <a:off x="828675" y="228866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7" name="">
            <a:extLst>
              <a:ext uri="{FF2B5EF4-FFF2-40B4-BE49-F238E27FC236}">
                <ns2:creationId id="{6179FF7F-9498-4589-9D3E-4746FC1E3564}"/>
              </a:ext>
            </a:extLst>
          </p:cNvPr>
          <p:cNvSpPr>
            <a:spLocks noGrp="1"/>
          </p:cNvSpPr>
          <p:nvPr/>
        </p:nvSpPr>
        <p:spPr>
          <a:xfrm>
            <a:off x="1276350" y="225056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limit = 24.0</a:t>
            </a:r>
          </a:p>
        </p:txBody>
      </p:sp>
      <p:sp>
        <p:nvSpPr>
          <p:cNvPr id="8" name="">
            <a:extLst>
              <a:ext uri="{FF2B5EF4-FFF2-40B4-BE49-F238E27FC236}">
                <ns2:creationId id="{1E16F0FB-20CD-49FA-B06A-005C0667619E}"/>
              </a:ext>
            </a:extLst>
          </p:cNvPr>
          <p:cNvSpPr>
            <a:spLocks noGrp="1"/>
          </p:cNvSpPr>
          <p:nvPr/>
        </p:nvSpPr>
        <p:spPr>
          <a:xfrm>
            <a:off x="828675" y="260565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9" name="">
            <a:extLst>
              <a:ext uri="{FF2B5EF4-FFF2-40B4-BE49-F238E27FC236}">
                <ns2:creationId id="{6A33F477-2D13-4A19-9045-7E1B839B1382}"/>
              </a:ext>
            </a:extLst>
          </p:cNvPr>
          <p:cNvSpPr>
            <a:spLocks noGrp="1"/>
          </p:cNvSpPr>
          <p:nvPr/>
        </p:nvSpPr>
        <p:spPr>
          <a:xfrm>
            <a:off x="1276350" y="2567559"/>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print(temperature_c &gt; limit)</a:t>
            </a:r>
          </a:p>
        </p:txBody>
      </p:sp>
      <p:sp>
        <p:nvSpPr>
          <p:cNvPr id="10" name="">
            <a:extLst>
              <a:ext uri="{FF2B5EF4-FFF2-40B4-BE49-F238E27FC236}">
                <ns2:creationId id="{88297D10-7A13-492D-9CF6-646E720B9AEE}"/>
              </a:ext>
            </a:extLst>
          </p:cNvPr>
          <p:cNvSpPr>
            <a:spLocks noGrp="1"/>
          </p:cNvSpPr>
          <p:nvPr/>
        </p:nvSpPr>
        <p:spPr>
          <a:xfrm>
            <a:off x="828675" y="2922651"/>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1" name="">
            <a:extLst>
              <a:ext uri="{FF2B5EF4-FFF2-40B4-BE49-F238E27FC236}">
                <ns2:creationId id="{9C01529A-F939-4358-9515-487344B5A628}"/>
              </a:ext>
            </a:extLst>
          </p:cNvPr>
          <p:cNvSpPr>
            <a:spLocks noGrp="1"/>
          </p:cNvSpPr>
          <p:nvPr/>
        </p:nvSpPr>
        <p:spPr>
          <a:xfrm>
            <a:off x="1276350" y="2884551"/>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print(temperature_c &gt;= limit)</a:t>
            </a:r>
          </a:p>
        </p:txBody>
      </p:sp>
      <p:sp>
        <p:nvSpPr>
          <p:cNvPr id="12" name="">
            <a:extLst>
              <a:ext uri="{FF2B5EF4-FFF2-40B4-BE49-F238E27FC236}">
                <ns2:creationId id="{CB9E39F7-4EF7-4D27-8D7E-59085150B46C}"/>
              </a:ext>
            </a:extLst>
          </p:cNvPr>
          <p:cNvSpPr>
            <a:spLocks noGrp="1"/>
          </p:cNvSpPr>
          <p:nvPr/>
        </p:nvSpPr>
        <p:spPr>
          <a:xfrm>
            <a:off x="828675" y="323964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05</a:t>
            </a:r>
          </a:p>
        </p:txBody>
      </p:sp>
      <p:sp>
        <p:nvSpPr>
          <p:cNvPr id="13" name="">
            <a:extLst>
              <a:ext uri="{FF2B5EF4-FFF2-40B4-BE49-F238E27FC236}">
                <ns2:creationId id="{7751E9EB-DE53-45B3-BACB-470B4A6DD317}"/>
              </a:ext>
            </a:extLst>
          </p:cNvPr>
          <p:cNvSpPr>
            <a:spLocks noGrp="1"/>
          </p:cNvSpPr>
          <p:nvPr/>
        </p:nvSpPr>
        <p:spPr>
          <a:xfrm>
            <a:off x="1276350" y="3201543"/>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print(temperature_c == limit)</a:t>
            </a:r>
          </a:p>
        </p:txBody>
      </p:sp>
      <p:sp>
        <p:nvSpPr>
          <p:cNvPr id="14" name="">
            <a:extLst>
              <a:ext uri="{FF2B5EF4-FFF2-40B4-BE49-F238E27FC236}">
                <ns2:creationId id="{C0A32E5A-95BE-428A-A402-218E3591C2C7}"/>
              </a:ext>
            </a:extLst>
          </p:cNvPr>
          <p:cNvSpPr>
            <a:spLocks noGrp="1"/>
          </p:cNvSpPr>
          <p:nvPr/>
        </p:nvSpPr>
        <p:spPr>
          <a:xfrm>
            <a:off x="685800" y="6172200"/>
            <a:ext cx="10820400" cy="9525"/>
          </a:xfrm>
          <a:prstGeom prst="rect">
            <a:avLst/>
          </a:prstGeom>
          <a:solidFill>
            <a:srgbClr val="D5DEDD"/>
          </a:solidFill>
          <a:ln w="0">
            <a:noFill/>
          </a:ln>
        </p:spPr>
      </p:sp>
      <p:sp>
        <p:nvSpPr>
          <p:cNvPr id="15" name="">
            <a:extLst>
              <a:ext uri="{FF2B5EF4-FFF2-40B4-BE49-F238E27FC236}">
                <ns2:creationId id="{D947A5D3-0260-4E3E-BEF1-B652B34D7EC2}"/>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6" name="">
            <a:extLst>
              <a:ext uri="{FF2B5EF4-FFF2-40B4-BE49-F238E27FC236}">
                <ns2:creationId id="{6031CE88-A7E1-4C4F-908A-6DA94E5F2D12}"/>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7" name="">
            <a:extLst>
              <a:ext uri="{FF2B5EF4-FFF2-40B4-BE49-F238E27FC236}">
                <ns2:creationId id="{01F208E9-32AF-4E98-A530-29C717845537}"/>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8" name="">
            <a:extLst>
              <a:ext uri="{FF2B5EF4-FFF2-40B4-BE49-F238E27FC236}">
                <ns2:creationId id="{7966344F-DDC5-42D4-8026-3058C5294698}"/>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053</a:t>
            </a:r>
          </a:p>
        </p:txBody>
      </p:sp>
    </p:spTree>
    <p:extLst>
      <p:ext uri="{BB962C8B-B14F-4D97-AF65-F5344CB8AC3E}">
        <ns4:creationId val="2120638713"/>
      </p:ext>
    </p:extLst>
  </p:cSld>
</p:sld>
</file>

<file path=ppt/slides/slide5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9" name="">
            <a:extLst>
              <a:ext uri="{FF2B5EF4-FFF2-40B4-BE49-F238E27FC236}">
                <ns2:creationId id="{3A1953A1-1DFC-4BED-B928-E64E348C14A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1E25B9D1-3108-4D3B-9AAB-5E6779988883}"/>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경계값 24.0에서 비교하기</a:t>
            </a:r>
          </a:p>
        </p:txBody>
      </p:sp>
      <p:graphicFrame>
        <p:nvGraphicFramePr>
          <p:cNvPr id="11" name=""/>
          <p:cNvGraphicFramePr/>
          <p:nvPr/>
        </p:nvGraphicFramePr>
        <p:xfrm>
          <a:off x="685800" y="1809750"/>
          <a:ext cx="10820400" cy="2145792"/>
        </p:xfrm>
        <a:graphic>
          <a:graphicData uri="http://schemas.openxmlformats.org/drawingml/2006/table">
            <a:tbl>
              <a:tblPr firstRow="1" bandRow="0"/>
              <a:tblGrid>
                <a:gridCol w="6609951"/>
                <a:gridCol w="4210449"/>
              </a:tblGrid>
              <a:tr h="536448">
                <a:tc>
                  <a:txBody>
                    <a:bodyPr wrap="square"/>
                    <a:lstStyle/>
                    <a:p>
                      <a:pPr>
                        <a:lnSpc>
                          <a:spcPct val="102000"/>
                        </a:lnSpc>
                        <a:buNone/>
                      </a:pPr>
                      <a:r>
                        <a:rPr sz="2025" b="1">
                          <a:solidFill>
                            <a:srgbClr val="172F39"/>
                          </a:solidFill>
                          <a:latin typeface="Noto Sans KR"/>
                          <a:ea typeface="Noto Sans KR"/>
                          <a:cs typeface="Noto Sans KR"/>
                        </a:rPr>
                        <a:t>질문</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결과</a:t>
                      </a:r>
                    </a:p>
                  </a:txBody>
                  <a:tcPr marL="114300" marR="114300" marT="76200" marB="76200" anchor="ctr">
                    <a:solidFill>
                      <a:srgbClr val="DCECE8"/>
                    </a:solidFill>
                  </a:tcPr>
                </a:tc>
              </a:tr>
              <a:tr h="536448">
                <a:tc>
                  <a:txBody>
                    <a:bodyPr wrap="square"/>
                    <a:lstStyle/>
                    <a:p>
                      <a:pPr>
                        <a:lnSpc>
                          <a:spcPct val="102000"/>
                        </a:lnSpc>
                        <a:buNone/>
                      </a:pPr>
                      <a:r>
                        <a:rPr sz="2025" b="0">
                          <a:solidFill>
                            <a:srgbClr val="172F39"/>
                          </a:solidFill>
                          <a:latin typeface="Noto Sans KR"/>
                          <a:ea typeface="Noto Sans KR"/>
                          <a:cs typeface="Noto Sans KR"/>
                        </a:rPr>
                        <a:t>24.0 &gt; 24.0</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False</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24.0 &gt;= 24.0</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True</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24.0 == 24.0</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True</a:t>
                      </a:r>
                    </a:p>
                  </a:txBody>
                  <a:tcPr marL="114300" marR="114300" marT="76200" marB="76200" anchor="ctr">
                    <a:solidFill>
                      <a:srgbClr val="FFFFFF"/>
                    </a:solidFill>
                  </a:tcPr>
                </a:tc>
              </a:tr>
            </a:tbl>
          </a:graphicData>
        </a:graphic>
      </p:graphicFrame>
      <p:sp>
        <p:nvSpPr>
          <p:cNvPr id="4" name="">
            <a:extLst>
              <a:ext uri="{FF2B5EF4-FFF2-40B4-BE49-F238E27FC236}">
                <ns2:creationId id="{9B3CB7F7-C91E-4255-8582-1CE258D7EF50}"/>
              </a:ext>
            </a:extLst>
          </p:cNvPr>
          <p:cNvSpPr>
            <a:spLocks noGrp="1"/>
          </p:cNvSpPr>
          <p:nvPr/>
        </p:nvSpPr>
        <p:spPr>
          <a:xfrm>
            <a:off x="685800" y="6172200"/>
            <a:ext cx="10820400" cy="9525"/>
          </a:xfrm>
          <a:prstGeom prst="rect">
            <a:avLst/>
          </a:prstGeom>
          <a:solidFill>
            <a:srgbClr val="D5DEDD"/>
          </a:solidFill>
          <a:ln w="0">
            <a:noFill/>
          </a:ln>
        </p:spPr>
      </p:sp>
      <p:sp>
        <p:nvSpPr>
          <p:cNvPr id="5" name="">
            <a:extLst>
              <a:ext uri="{FF2B5EF4-FFF2-40B4-BE49-F238E27FC236}">
                <ns2:creationId id="{654D49B5-845F-44C7-B191-025FB706CE63}"/>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6" name="">
            <a:extLst>
              <a:ext uri="{FF2B5EF4-FFF2-40B4-BE49-F238E27FC236}">
                <ns2:creationId id="{C0D48365-FE62-4BC4-8FF7-3872634CB0DA}"/>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7" name="">
            <a:extLst>
              <a:ext uri="{FF2B5EF4-FFF2-40B4-BE49-F238E27FC236}">
                <ns2:creationId id="{24C9E2D8-278D-49AF-A8C2-2F775BE33811}"/>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8" name="">
            <a:extLst>
              <a:ext uri="{FF2B5EF4-FFF2-40B4-BE49-F238E27FC236}">
                <ns2:creationId id="{C014EC11-78CE-4D34-B703-49CA071469C5}"/>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054</a:t>
            </a:r>
          </a:p>
        </p:txBody>
      </p:sp>
    </p:spTree>
    <p:extLst>
      <p:ext uri="{BB962C8B-B14F-4D97-AF65-F5344CB8AC3E}">
        <ns4:creationId val="835104817"/>
      </p:ext>
    </p:extLst>
  </p:cSld>
</p:sld>
</file>

<file path=ppt/slides/slide5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E6B265AB-5F80-4280-89EC-2F39F07B8438}"/>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E0D7CBEB-7114-47EF-9D8B-31ACDA729DBB}"/>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True와 False는 조건의 결과입니다</a:t>
            </a:r>
          </a:p>
        </p:txBody>
      </p:sp>
      <p:sp>
        <p:nvSpPr>
          <p:cNvPr id="3" name="">
            <a:extLst>
              <a:ext uri="{FF2B5EF4-FFF2-40B4-BE49-F238E27FC236}">
                <ns2:creationId id="{40AE46CB-A2D2-4F38-A113-64D5E93EE560}"/>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True</a:t>
            </a:r>
          </a:p>
        </p:txBody>
      </p:sp>
      <p:sp>
        <p:nvSpPr>
          <p:cNvPr id="4" name="">
            <a:extLst>
              <a:ext uri="{FF2B5EF4-FFF2-40B4-BE49-F238E27FC236}">
                <ns2:creationId id="{E611ADF9-DA77-4264-AB14-5F4A5F6F209D}"/>
              </a:ext>
            </a:extLst>
          </p:cNvPr>
          <p:cNvSpPr>
            <a:spLocks noGrp="1"/>
          </p:cNvSpPr>
          <p:nvPr/>
        </p:nvSpPr>
        <p:spPr>
          <a:xfrm>
            <a:off x="685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True는 비교한 조건이 맞다는 뜻입니다.</a:t>
            </a:r>
          </a:p>
        </p:txBody>
      </p:sp>
      <p:sp>
        <p:nvSpPr>
          <p:cNvPr id="5" name="">
            <a:extLst>
              <a:ext uri="{FF2B5EF4-FFF2-40B4-BE49-F238E27FC236}">
                <ns2:creationId id="{577DC902-8BF6-4B0B-916B-69C5838A524F}"/>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False</a:t>
            </a:r>
          </a:p>
        </p:txBody>
      </p:sp>
      <p:sp>
        <p:nvSpPr>
          <p:cNvPr id="6" name="">
            <a:extLst>
              <a:ext uri="{FF2B5EF4-FFF2-40B4-BE49-F238E27FC236}">
                <ns2:creationId id="{6D272FAE-9B53-4A1E-B395-C13BF672B49B}"/>
              </a:ext>
            </a:extLst>
          </p:cNvPr>
          <p:cNvSpPr>
            <a:spLocks noGrp="1"/>
          </p:cNvSpPr>
          <p:nvPr/>
        </p:nvSpPr>
        <p:spPr>
          <a:xfrm>
            <a:off x="6400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False는 비교한 조건이 맞지 않는다는 뜻입니다.</a:t>
            </a:r>
          </a:p>
        </p:txBody>
      </p:sp>
      <p:sp>
        <p:nvSpPr>
          <p:cNvPr id="7" name="">
            <a:extLst>
              <a:ext uri="{FF2B5EF4-FFF2-40B4-BE49-F238E27FC236}">
                <ns2:creationId id="{7F372338-B28A-4D55-A32A-0223762F43C2}"/>
              </a:ext>
            </a:extLst>
          </p:cNvPr>
          <p:cNvSpPr>
            <a:spLocks noGrp="1"/>
          </p:cNvSpPr>
          <p:nvPr/>
        </p:nvSpPr>
        <p:spPr>
          <a:xfrm>
            <a:off x="685800" y="4943475"/>
            <a:ext cx="10820400" cy="9525"/>
          </a:xfrm>
          <a:prstGeom prst="rect">
            <a:avLst/>
          </a:prstGeom>
          <a:solidFill>
            <a:srgbClr val="D5DEDD"/>
          </a:solidFill>
          <a:ln w="0">
            <a:noFill/>
          </a:ln>
        </p:spPr>
      </p:sp>
      <p:sp>
        <p:nvSpPr>
          <p:cNvPr id="8" name="">
            <a:extLst>
              <a:ext uri="{FF2B5EF4-FFF2-40B4-BE49-F238E27FC236}">
                <ns2:creationId id="{B70A9A23-6854-4B6B-81E8-CB587D411CD6}"/>
              </a:ext>
            </a:extLst>
          </p:cNvPr>
          <p:cNvSpPr>
            <a:spLocks noGrp="1"/>
          </p:cNvSpPr>
          <p:nvPr/>
        </p:nvSpPr>
        <p:spPr>
          <a:xfrm>
            <a:off x="685800" y="5191125"/>
            <a:ext cx="10820400" cy="417767"/>
          </a:xfrm>
          <a:prstGeom prst="rect">
            <a:avLst/>
          </a:prstGeom>
          <a:noFill/>
          <a:ln w="0">
            <a:noFill/>
          </a:ln>
        </p:spPr>
        <p:txBody>
          <a:bodyPr wrap="square" lIns="0" tIns="0" rIns="0" bIns="0">
            <a:noAutofit/>
          </a:bodyPr>
          <a:lstStyle/>
          <a:p>
            <a:pPr>
              <a:defRPr sz="2025" b="1">
                <a:solidFill>
                  <a:srgbClr val="52636B"/>
                </a:solidFill>
                <a:latin typeface="Noto Sans KR"/>
                <a:ea typeface="Noto Sans KR"/>
                <a:cs typeface="Noto Sans KR"/>
              </a:defRPr>
            </a:pPr>
            <a:r>
              <a:t>참이 늘 정상이나 안전을 뜻하지는 않습니다.</a:t>
            </a:r>
          </a:p>
        </p:txBody>
      </p:sp>
      <p:sp>
        <p:nvSpPr>
          <p:cNvPr id="9" name="">
            <a:extLst>
              <a:ext uri="{FF2B5EF4-FFF2-40B4-BE49-F238E27FC236}">
                <ns2:creationId id="{CAECE250-851F-44F5-A466-4D5D96170BD4}"/>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1DCB5AAC-BA4E-476B-AD9C-792D5F906664}"/>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DADCE55B-7779-4B9E-81DE-B24FA5AA43EA}"/>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3BF32D45-3DB9-41D7-AE8D-AD509ED60428}"/>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7D0139C4-85F6-47B9-B576-765AA4FC180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055</a:t>
            </a:r>
          </a:p>
        </p:txBody>
      </p:sp>
    </p:spTree>
    <p:extLst>
      <p:ext uri="{BB962C8B-B14F-4D97-AF65-F5344CB8AC3E}">
        <ns4:creationId val="1361185340"/>
      </p:ext>
    </p:extLst>
  </p:cSld>
</p:sld>
</file>

<file path=ppt/slides/slide5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21" name="">
            <a:extLst>
              <a:ext uri="{FF2B5EF4-FFF2-40B4-BE49-F238E27FC236}">
                <ns2:creationId id="{35FC5874-30C8-41FE-84FF-BA6FF7D28721}"/>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25C1BDB2-B172-459A-B3BF-99B1A3EBE703}"/>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완성 예 · 두 갈래 선택</a:t>
            </a:r>
          </a:p>
        </p:txBody>
      </p:sp>
      <p:sp>
        <p:nvSpPr>
          <p:cNvPr id="3" name="">
            <a:extLst>
              <a:ext uri="{FF2B5EF4-FFF2-40B4-BE49-F238E27FC236}">
                <ns2:creationId id="{C33EC842-083A-46B6-A102-2D30893D90F1}"/>
              </a:ext>
            </a:extLst>
          </p:cNvPr>
          <p:cNvSpPr>
            <a:spLocks noGrp="1"/>
          </p:cNvSpPr>
          <p:nvPr/>
        </p:nvSpPr>
        <p:spPr>
          <a:xfrm>
            <a:off x="685800" y="1809750"/>
            <a:ext cx="10820400" cy="2225802"/>
          </a:xfrm>
          <a:prstGeom prst="rect">
            <a:avLst/>
          </a:prstGeom>
          <a:solidFill>
            <a:srgbClr val="F1F6F5"/>
          </a:solidFill>
          <a:ln w="0">
            <a:noFill/>
          </a:ln>
        </p:spPr>
      </p:sp>
      <p:sp>
        <p:nvSpPr>
          <p:cNvPr id="4" name="">
            <a:extLst>
              <a:ext uri="{FF2B5EF4-FFF2-40B4-BE49-F238E27FC236}">
                <ns2:creationId id="{57C21A5E-4BCC-48DC-8BE1-68D75FB0C5C6}"/>
              </a:ext>
            </a:extLst>
          </p:cNvPr>
          <p:cNvSpPr>
            <a:spLocks noGrp="1"/>
          </p:cNvSpPr>
          <p:nvPr/>
        </p:nvSpPr>
        <p:spPr>
          <a:xfrm>
            <a:off x="828675" y="197167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5" name="">
            <a:extLst>
              <a:ext uri="{FF2B5EF4-FFF2-40B4-BE49-F238E27FC236}">
                <ns2:creationId id="{B0BE2E1C-13A6-4881-BD61-65EA84EA3969}"/>
              </a:ext>
            </a:extLst>
          </p:cNvPr>
          <p:cNvSpPr>
            <a:spLocks noGrp="1"/>
          </p:cNvSpPr>
          <p:nvPr/>
        </p:nvSpPr>
        <p:spPr>
          <a:xfrm>
            <a:off x="1276350" y="193357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temperature_c = 23.5</a:t>
            </a:r>
          </a:p>
        </p:txBody>
      </p:sp>
      <p:sp>
        <p:nvSpPr>
          <p:cNvPr id="6" name="">
            <a:extLst>
              <a:ext uri="{FF2B5EF4-FFF2-40B4-BE49-F238E27FC236}">
                <ns2:creationId id="{9A2A77E9-05F2-4725-8376-EC8605C184A7}"/>
              </a:ext>
            </a:extLst>
          </p:cNvPr>
          <p:cNvSpPr>
            <a:spLocks noGrp="1"/>
          </p:cNvSpPr>
          <p:nvPr/>
        </p:nvSpPr>
        <p:spPr>
          <a:xfrm>
            <a:off x="828675" y="228866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7" name="">
            <a:extLst>
              <a:ext uri="{FF2B5EF4-FFF2-40B4-BE49-F238E27FC236}">
                <ns2:creationId id="{DBA0B823-5CBC-45BE-9D56-0C0FD6949182}"/>
              </a:ext>
            </a:extLst>
          </p:cNvPr>
          <p:cNvSpPr>
            <a:spLocks noGrp="1"/>
          </p:cNvSpPr>
          <p:nvPr/>
        </p:nvSpPr>
        <p:spPr>
          <a:xfrm>
            <a:off x="1276350" y="225056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limit = 24.0</a:t>
            </a:r>
          </a:p>
        </p:txBody>
      </p:sp>
      <p:sp>
        <p:nvSpPr>
          <p:cNvPr id="8" name="">
            <a:extLst>
              <a:ext uri="{FF2B5EF4-FFF2-40B4-BE49-F238E27FC236}">
                <ns2:creationId id="{FD91EF46-8582-44E9-9AD2-35A470BEBF6E}"/>
              </a:ext>
            </a:extLst>
          </p:cNvPr>
          <p:cNvSpPr>
            <a:spLocks noGrp="1"/>
          </p:cNvSpPr>
          <p:nvPr/>
        </p:nvSpPr>
        <p:spPr>
          <a:xfrm>
            <a:off x="828675" y="260565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9" name="">
            <a:extLst>
              <a:ext uri="{FF2B5EF4-FFF2-40B4-BE49-F238E27FC236}">
                <ns2:creationId id="{ABFE49E5-5441-4722-846B-F765B30C4175}"/>
              </a:ext>
            </a:extLst>
          </p:cNvPr>
          <p:cNvSpPr>
            <a:spLocks noGrp="1"/>
          </p:cNvSpPr>
          <p:nvPr/>
        </p:nvSpPr>
        <p:spPr>
          <a:xfrm>
            <a:off x="1276350" y="2567559"/>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if temperature_c &gt; limit:</a:t>
            </a:r>
          </a:p>
        </p:txBody>
      </p:sp>
      <p:sp>
        <p:nvSpPr>
          <p:cNvPr id="10" name="">
            <a:extLst>
              <a:ext uri="{FF2B5EF4-FFF2-40B4-BE49-F238E27FC236}">
                <ns2:creationId id="{5DC7B045-4C25-4725-B33B-336B4C352DF0}"/>
              </a:ext>
            </a:extLst>
          </p:cNvPr>
          <p:cNvSpPr>
            <a:spLocks noGrp="1"/>
          </p:cNvSpPr>
          <p:nvPr/>
        </p:nvSpPr>
        <p:spPr>
          <a:xfrm>
            <a:off x="828675" y="2922651"/>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1" name="">
            <a:extLst>
              <a:ext uri="{FF2B5EF4-FFF2-40B4-BE49-F238E27FC236}">
                <ns2:creationId id="{5B1AE332-D304-4726-82B0-8EF255A7C53C}"/>
              </a:ext>
            </a:extLst>
          </p:cNvPr>
          <p:cNvSpPr>
            <a:spLocks noGrp="1"/>
          </p:cNvSpPr>
          <p:nvPr/>
        </p:nvSpPr>
        <p:spPr>
          <a:xfrm>
            <a:off x="1276350" y="2884551"/>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    print("확인")</a:t>
            </a:r>
          </a:p>
        </p:txBody>
      </p:sp>
      <p:sp>
        <p:nvSpPr>
          <p:cNvPr id="12" name="">
            <a:extLst>
              <a:ext uri="{FF2B5EF4-FFF2-40B4-BE49-F238E27FC236}">
                <ns2:creationId id="{10EE3D3C-52C2-4543-B9AF-4EA64A831422}"/>
              </a:ext>
            </a:extLst>
          </p:cNvPr>
          <p:cNvSpPr>
            <a:spLocks noGrp="1"/>
          </p:cNvSpPr>
          <p:nvPr/>
        </p:nvSpPr>
        <p:spPr>
          <a:xfrm>
            <a:off x="828675" y="323964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05</a:t>
            </a:r>
          </a:p>
        </p:txBody>
      </p:sp>
      <p:sp>
        <p:nvSpPr>
          <p:cNvPr id="13" name="">
            <a:extLst>
              <a:ext uri="{FF2B5EF4-FFF2-40B4-BE49-F238E27FC236}">
                <ns2:creationId id="{C7ABD3E7-1426-4A46-B41B-6698253409FD}"/>
              </a:ext>
            </a:extLst>
          </p:cNvPr>
          <p:cNvSpPr>
            <a:spLocks noGrp="1"/>
          </p:cNvSpPr>
          <p:nvPr/>
        </p:nvSpPr>
        <p:spPr>
          <a:xfrm>
            <a:off x="1276350" y="3201543"/>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else:</a:t>
            </a:r>
          </a:p>
        </p:txBody>
      </p:sp>
      <p:sp>
        <p:nvSpPr>
          <p:cNvPr id="14" name="">
            <a:extLst>
              <a:ext uri="{FF2B5EF4-FFF2-40B4-BE49-F238E27FC236}">
                <ns2:creationId id="{EF10BB6A-029E-4EA0-A75D-805E08269D17}"/>
              </a:ext>
            </a:extLst>
          </p:cNvPr>
          <p:cNvSpPr>
            <a:spLocks noGrp="1"/>
          </p:cNvSpPr>
          <p:nvPr/>
        </p:nvSpPr>
        <p:spPr>
          <a:xfrm>
            <a:off x="828675" y="355663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06</a:t>
            </a:r>
          </a:p>
        </p:txBody>
      </p:sp>
      <p:sp>
        <p:nvSpPr>
          <p:cNvPr id="15" name="">
            <a:extLst>
              <a:ext uri="{FF2B5EF4-FFF2-40B4-BE49-F238E27FC236}">
                <ns2:creationId id="{B2DED1A7-BD4F-49A3-BE6A-217C141513F6}"/>
              </a:ext>
            </a:extLst>
          </p:cNvPr>
          <p:cNvSpPr>
            <a:spLocks noGrp="1"/>
          </p:cNvSpPr>
          <p:nvPr/>
        </p:nvSpPr>
        <p:spPr>
          <a:xfrm>
            <a:off x="1276350" y="351853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    print("정상")</a:t>
            </a:r>
          </a:p>
        </p:txBody>
      </p:sp>
      <p:sp>
        <p:nvSpPr>
          <p:cNvPr id="16" name="">
            <a:extLst>
              <a:ext uri="{FF2B5EF4-FFF2-40B4-BE49-F238E27FC236}">
                <ns2:creationId id="{1646359B-39D8-45FF-85F0-361DE4C95198}"/>
              </a:ext>
            </a:extLst>
          </p:cNvPr>
          <p:cNvSpPr>
            <a:spLocks noGrp="1"/>
          </p:cNvSpPr>
          <p:nvPr/>
        </p:nvSpPr>
        <p:spPr>
          <a:xfrm>
            <a:off x="685800" y="6172200"/>
            <a:ext cx="10820400" cy="9525"/>
          </a:xfrm>
          <a:prstGeom prst="rect">
            <a:avLst/>
          </a:prstGeom>
          <a:solidFill>
            <a:srgbClr val="D5DEDD"/>
          </a:solidFill>
          <a:ln w="0">
            <a:noFill/>
          </a:ln>
        </p:spPr>
      </p:sp>
      <p:sp>
        <p:nvSpPr>
          <p:cNvPr id="17" name="">
            <a:extLst>
              <a:ext uri="{FF2B5EF4-FFF2-40B4-BE49-F238E27FC236}">
                <ns2:creationId id="{946B2B9C-AC7D-4C6C-A595-9DA2F760FDF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8" name="">
            <a:extLst>
              <a:ext uri="{FF2B5EF4-FFF2-40B4-BE49-F238E27FC236}">
                <ns2:creationId id="{605E2877-5E2B-484B-BB2D-92185FD26B6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9" name="">
            <a:extLst>
              <a:ext uri="{FF2B5EF4-FFF2-40B4-BE49-F238E27FC236}">
                <ns2:creationId id="{7C7FACDC-8FDD-4077-9C9B-969745B49B90}"/>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20" name="">
            <a:extLst>
              <a:ext uri="{FF2B5EF4-FFF2-40B4-BE49-F238E27FC236}">
                <ns2:creationId id="{67A31006-2028-499F-99EE-6DE6A37505A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056</a:t>
            </a:r>
          </a:p>
        </p:txBody>
      </p:sp>
    </p:spTree>
    <p:extLst>
      <p:ext uri="{BB962C8B-B14F-4D97-AF65-F5344CB8AC3E}">
        <ns4:creationId val="1587099260"/>
      </p:ext>
    </p:extLst>
  </p:cSld>
</p:sld>
</file>

<file path=ppt/slides/slide5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25" name="">
            <a:extLst>
              <a:ext uri="{FF2B5EF4-FFF2-40B4-BE49-F238E27FC236}">
                <ns2:creationId id="{642FD105-DB2D-4140-9E0B-CBBD25D9889F}"/>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379659AD-E721-4DE6-B18F-A94A8676776F}"/>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if와 else를 읽기</a:t>
            </a:r>
          </a:p>
        </p:txBody>
      </p:sp>
      <p:sp>
        <p:nvSpPr>
          <p:cNvPr id="3" name="">
            <a:extLst>
              <a:ext uri="{FF2B5EF4-FFF2-40B4-BE49-F238E27FC236}">
                <ns2:creationId id="{60A8E489-0A22-4570-85F3-EA827BEA85BD}"/>
              </a:ext>
            </a:extLst>
          </p:cNvPr>
          <p:cNvSpPr>
            <a:spLocks noGrp="1"/>
          </p:cNvSpPr>
          <p:nvPr/>
        </p:nvSpPr>
        <p:spPr>
          <a:xfrm>
            <a:off x="685800" y="193357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if 뒤 조건을 먼저 확인합니다.</a:t>
            </a:r>
          </a:p>
        </p:txBody>
      </p:sp>
      <p:sp>
        <p:nvSpPr>
          <p:cNvPr id="4" name="">
            <a:extLst>
              <a:ext uri="{FF2B5EF4-FFF2-40B4-BE49-F238E27FC236}">
                <ns2:creationId id="{659873F7-5CEB-4AA3-9EE0-72C2C20B9A7D}"/>
              </a:ext>
            </a:extLst>
          </p:cNvPr>
          <p:cNvSpPr>
            <a:spLocks noGrp="1"/>
          </p:cNvSpPr>
          <p:nvPr/>
        </p:nvSpPr>
        <p:spPr>
          <a:xfrm>
            <a:off x="685800" y="243268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참이면 들여쓴 첫 갈래를 실행합니다.</a:t>
            </a:r>
          </a:p>
        </p:txBody>
      </p:sp>
      <p:sp>
        <p:nvSpPr>
          <p:cNvPr id="5" name="">
            <a:extLst>
              <a:ext uri="{FF2B5EF4-FFF2-40B4-BE49-F238E27FC236}">
                <ns2:creationId id="{415537B8-4F55-4228-928F-0A5FA59E1703}"/>
              </a:ext>
            </a:extLst>
          </p:cNvPr>
          <p:cNvSpPr>
            <a:spLocks noGrp="1"/>
          </p:cNvSpPr>
          <p:nvPr/>
        </p:nvSpPr>
        <p:spPr>
          <a:xfrm>
            <a:off x="685800" y="293179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거짓이면 else 갈래를 실행합니다.</a:t>
            </a:r>
          </a:p>
        </p:txBody>
      </p:sp>
      <p:sp>
        <p:nvSpPr>
          <p:cNvPr id="6" name="">
            <a:extLst>
              <a:ext uri="{FF2B5EF4-FFF2-40B4-BE49-F238E27FC236}">
                <ns2:creationId id="{CE5368E1-359D-4D3F-9938-EA7638F9EDAF}"/>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완성 예 · 두 갈래 선택</a:t>
            </a:r>
          </a:p>
        </p:txBody>
      </p:sp>
      <p:sp>
        <p:nvSpPr>
          <p:cNvPr id="7" name="">
            <a:extLst>
              <a:ext uri="{FF2B5EF4-FFF2-40B4-BE49-F238E27FC236}">
                <ns2:creationId id="{C187F7C2-4D62-4837-9DF7-4046297CEE6D}"/>
              </a:ext>
            </a:extLst>
          </p:cNvPr>
          <p:cNvSpPr>
            <a:spLocks noGrp="1"/>
          </p:cNvSpPr>
          <p:nvPr/>
        </p:nvSpPr>
        <p:spPr>
          <a:xfrm>
            <a:off x="6267450" y="2628900"/>
            <a:ext cx="5238750" cy="2079498"/>
          </a:xfrm>
          <a:prstGeom prst="rect">
            <a:avLst/>
          </a:prstGeom>
          <a:solidFill>
            <a:srgbClr val="F1F6F5"/>
          </a:solidFill>
          <a:ln w="0">
            <a:noFill/>
          </a:ln>
        </p:spPr>
      </p:sp>
      <p:sp>
        <p:nvSpPr>
          <p:cNvPr id="8" name="">
            <a:extLst>
              <a:ext uri="{FF2B5EF4-FFF2-40B4-BE49-F238E27FC236}">
                <ns2:creationId id="{7FB62AC1-9A19-405A-B5FB-B9FEFC895645}"/>
              </a:ext>
            </a:extLst>
          </p:cNvPr>
          <p:cNvSpPr>
            <a:spLocks noGrp="1"/>
          </p:cNvSpPr>
          <p:nvPr/>
        </p:nvSpPr>
        <p:spPr>
          <a:xfrm>
            <a:off x="6410325" y="2790825"/>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9" name="">
            <a:extLst>
              <a:ext uri="{FF2B5EF4-FFF2-40B4-BE49-F238E27FC236}">
                <ns2:creationId id="{0F877A1A-1F37-4F9C-B13E-9972D183825A}"/>
              </a:ext>
            </a:extLst>
          </p:cNvPr>
          <p:cNvSpPr>
            <a:spLocks noGrp="1"/>
          </p:cNvSpPr>
          <p:nvPr/>
        </p:nvSpPr>
        <p:spPr>
          <a:xfrm>
            <a:off x="6858000" y="2752725"/>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temperature_c = 23.5</a:t>
            </a:r>
          </a:p>
        </p:txBody>
      </p:sp>
      <p:sp>
        <p:nvSpPr>
          <p:cNvPr id="10" name="">
            <a:extLst>
              <a:ext uri="{FF2B5EF4-FFF2-40B4-BE49-F238E27FC236}">
                <ns2:creationId id="{D8A1836E-F7DD-4BBB-A98F-56FBFB6294EF}"/>
              </a:ext>
            </a:extLst>
          </p:cNvPr>
          <p:cNvSpPr>
            <a:spLocks noGrp="1"/>
          </p:cNvSpPr>
          <p:nvPr/>
        </p:nvSpPr>
        <p:spPr>
          <a:xfrm>
            <a:off x="6410325" y="3083433"/>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11" name="">
            <a:extLst>
              <a:ext uri="{FF2B5EF4-FFF2-40B4-BE49-F238E27FC236}">
                <ns2:creationId id="{4DDCD7D4-2678-41BA-937E-343C2F6D725B}"/>
              </a:ext>
            </a:extLst>
          </p:cNvPr>
          <p:cNvSpPr>
            <a:spLocks noGrp="1"/>
          </p:cNvSpPr>
          <p:nvPr/>
        </p:nvSpPr>
        <p:spPr>
          <a:xfrm>
            <a:off x="6858000" y="3045333"/>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limit = 24.0</a:t>
            </a:r>
          </a:p>
        </p:txBody>
      </p:sp>
      <p:sp>
        <p:nvSpPr>
          <p:cNvPr id="12" name="">
            <a:extLst>
              <a:ext uri="{FF2B5EF4-FFF2-40B4-BE49-F238E27FC236}">
                <ns2:creationId id="{4B07794F-73DD-4002-9F62-9DA021AD1CC4}"/>
              </a:ext>
            </a:extLst>
          </p:cNvPr>
          <p:cNvSpPr>
            <a:spLocks noGrp="1"/>
          </p:cNvSpPr>
          <p:nvPr/>
        </p:nvSpPr>
        <p:spPr>
          <a:xfrm>
            <a:off x="6410325" y="3376041"/>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3" name="">
            <a:extLst>
              <a:ext uri="{FF2B5EF4-FFF2-40B4-BE49-F238E27FC236}">
                <ns2:creationId id="{9938A5C7-E20F-4691-AB68-94662F35790A}"/>
              </a:ext>
            </a:extLst>
          </p:cNvPr>
          <p:cNvSpPr>
            <a:spLocks noGrp="1"/>
          </p:cNvSpPr>
          <p:nvPr/>
        </p:nvSpPr>
        <p:spPr>
          <a:xfrm>
            <a:off x="6858000" y="3337941"/>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if temperature_c &gt; limit:</a:t>
            </a:r>
          </a:p>
        </p:txBody>
      </p:sp>
      <p:sp>
        <p:nvSpPr>
          <p:cNvPr id="14" name="">
            <a:extLst>
              <a:ext uri="{FF2B5EF4-FFF2-40B4-BE49-F238E27FC236}">
                <ns2:creationId id="{A84C83BE-6831-4DA5-80C0-EB0D51D80B6A}"/>
              </a:ext>
            </a:extLst>
          </p:cNvPr>
          <p:cNvSpPr>
            <a:spLocks noGrp="1"/>
          </p:cNvSpPr>
          <p:nvPr/>
        </p:nvSpPr>
        <p:spPr>
          <a:xfrm>
            <a:off x="6410325" y="3668649"/>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5" name="">
            <a:extLst>
              <a:ext uri="{FF2B5EF4-FFF2-40B4-BE49-F238E27FC236}">
                <ns2:creationId id="{2486C7CE-B5FF-4D85-86B4-6F9ED791EE05}"/>
              </a:ext>
            </a:extLst>
          </p:cNvPr>
          <p:cNvSpPr>
            <a:spLocks noGrp="1"/>
          </p:cNvSpPr>
          <p:nvPr/>
        </p:nvSpPr>
        <p:spPr>
          <a:xfrm>
            <a:off x="6858000" y="3630549"/>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    print("확인")</a:t>
            </a:r>
          </a:p>
        </p:txBody>
      </p:sp>
      <p:sp>
        <p:nvSpPr>
          <p:cNvPr id="16" name="">
            <a:extLst>
              <a:ext uri="{FF2B5EF4-FFF2-40B4-BE49-F238E27FC236}">
                <ns2:creationId id="{56AA60DE-F50A-48DA-80CB-73F19B259E80}"/>
              </a:ext>
            </a:extLst>
          </p:cNvPr>
          <p:cNvSpPr>
            <a:spLocks noGrp="1"/>
          </p:cNvSpPr>
          <p:nvPr/>
        </p:nvSpPr>
        <p:spPr>
          <a:xfrm>
            <a:off x="6410325" y="3961257"/>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05</a:t>
            </a:r>
          </a:p>
        </p:txBody>
      </p:sp>
      <p:sp>
        <p:nvSpPr>
          <p:cNvPr id="17" name="">
            <a:extLst>
              <a:ext uri="{FF2B5EF4-FFF2-40B4-BE49-F238E27FC236}">
                <ns2:creationId id="{256C996B-ADC2-4230-8246-8EAEB10B958C}"/>
              </a:ext>
            </a:extLst>
          </p:cNvPr>
          <p:cNvSpPr>
            <a:spLocks noGrp="1"/>
          </p:cNvSpPr>
          <p:nvPr/>
        </p:nvSpPr>
        <p:spPr>
          <a:xfrm>
            <a:off x="6858000" y="3923157"/>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else:</a:t>
            </a:r>
          </a:p>
        </p:txBody>
      </p:sp>
      <p:sp>
        <p:nvSpPr>
          <p:cNvPr id="18" name="">
            <a:extLst>
              <a:ext uri="{FF2B5EF4-FFF2-40B4-BE49-F238E27FC236}">
                <ns2:creationId id="{150BA093-BB41-4C1B-9C63-E313E3965C3C}"/>
              </a:ext>
            </a:extLst>
          </p:cNvPr>
          <p:cNvSpPr>
            <a:spLocks noGrp="1"/>
          </p:cNvSpPr>
          <p:nvPr/>
        </p:nvSpPr>
        <p:spPr>
          <a:xfrm>
            <a:off x="6410325" y="4253865"/>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06</a:t>
            </a:r>
          </a:p>
        </p:txBody>
      </p:sp>
      <p:sp>
        <p:nvSpPr>
          <p:cNvPr id="19" name="">
            <a:extLst>
              <a:ext uri="{FF2B5EF4-FFF2-40B4-BE49-F238E27FC236}">
                <ns2:creationId id="{12CDD877-AB72-490C-8864-BFDB9A40FD7F}"/>
              </a:ext>
            </a:extLst>
          </p:cNvPr>
          <p:cNvSpPr>
            <a:spLocks noGrp="1"/>
          </p:cNvSpPr>
          <p:nvPr/>
        </p:nvSpPr>
        <p:spPr>
          <a:xfrm>
            <a:off x="6858000" y="4215765"/>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    print("정상")</a:t>
            </a:r>
          </a:p>
        </p:txBody>
      </p:sp>
      <p:sp>
        <p:nvSpPr>
          <p:cNvPr id="20" name="">
            <a:extLst>
              <a:ext uri="{FF2B5EF4-FFF2-40B4-BE49-F238E27FC236}">
                <ns2:creationId id="{305A0E15-E7F3-4138-8624-0A4F62A48810}"/>
              </a:ext>
            </a:extLst>
          </p:cNvPr>
          <p:cNvSpPr>
            <a:spLocks noGrp="1"/>
          </p:cNvSpPr>
          <p:nvPr/>
        </p:nvSpPr>
        <p:spPr>
          <a:xfrm>
            <a:off x="685800" y="6172200"/>
            <a:ext cx="10820400" cy="9525"/>
          </a:xfrm>
          <a:prstGeom prst="rect">
            <a:avLst/>
          </a:prstGeom>
          <a:solidFill>
            <a:srgbClr val="D5DEDD"/>
          </a:solidFill>
          <a:ln w="0">
            <a:noFill/>
          </a:ln>
        </p:spPr>
      </p:sp>
      <p:sp>
        <p:nvSpPr>
          <p:cNvPr id="21" name="">
            <a:extLst>
              <a:ext uri="{FF2B5EF4-FFF2-40B4-BE49-F238E27FC236}">
                <ns2:creationId id="{04F0F6CD-91D8-44CD-A0DF-1BB41C59F4F7}"/>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22" name="">
            <a:extLst>
              <a:ext uri="{FF2B5EF4-FFF2-40B4-BE49-F238E27FC236}">
                <ns2:creationId id="{F59EA730-3580-471C-9BAA-577244642D1A}"/>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23" name="">
            <a:extLst>
              <a:ext uri="{FF2B5EF4-FFF2-40B4-BE49-F238E27FC236}">
                <ns2:creationId id="{B365AD12-E265-4C1C-8A3F-D230ADB4236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24" name="">
            <a:extLst>
              <a:ext uri="{FF2B5EF4-FFF2-40B4-BE49-F238E27FC236}">
                <ns2:creationId id="{3E07A355-76FD-4FF0-8AC2-96C5E5CCD746}"/>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057</a:t>
            </a:r>
          </a:p>
        </p:txBody>
      </p:sp>
    </p:spTree>
    <p:extLst>
      <p:ext uri="{BB962C8B-B14F-4D97-AF65-F5344CB8AC3E}">
        <ns4:creationId val="1258462856"/>
      </p:ext>
    </p:extLst>
  </p:cSld>
</p:sld>
</file>

<file path=ppt/slides/slide5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2E169B29-EEC5-401F-BD10-FE53ED3B7434}"/>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3E3929BB-78B7-4C4C-A6BD-ACC72C95C413}"/>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예상과 수정 결과</a:t>
            </a:r>
          </a:p>
        </p:txBody>
      </p:sp>
      <p:sp>
        <p:nvSpPr>
          <p:cNvPr id="3" name="">
            <a:extLst>
              <a:ext uri="{FF2B5EF4-FFF2-40B4-BE49-F238E27FC236}">
                <ns2:creationId id="{100A9C2B-43F9-488E-99EE-3D776A51F8AA}"/>
              </a:ext>
            </a:extLst>
          </p:cNvPr>
          <p:cNvSpPr>
            <a:spLocks noGrp="1"/>
          </p:cNvSpPr>
          <p:nvPr/>
        </p:nvSpPr>
        <p:spPr>
          <a:xfrm>
            <a:off x="685800" y="193357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23.5는 24.0 초과가 아니므로 정상입니다.</a:t>
            </a:r>
          </a:p>
        </p:txBody>
      </p:sp>
      <p:sp>
        <p:nvSpPr>
          <p:cNvPr id="4" name="">
            <a:extLst>
              <a:ext uri="{FF2B5EF4-FFF2-40B4-BE49-F238E27FC236}">
                <ns2:creationId id="{1D345F46-12E2-4811-AAD6-8E071C37D910}"/>
              </a:ext>
            </a:extLst>
          </p:cNvPr>
          <p:cNvSpPr>
            <a:spLocks noGrp="1"/>
          </p:cNvSpPr>
          <p:nvPr/>
        </p:nvSpPr>
        <p:spPr>
          <a:xfrm>
            <a:off x="685800" y="276987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25.0으로 바꾸면 확인을 출력합니다.</a:t>
            </a:r>
          </a:p>
        </p:txBody>
      </p:sp>
      <p:sp>
        <p:nvSpPr>
          <p:cNvPr id="5" name="">
            <a:extLst>
              <a:ext uri="{FF2B5EF4-FFF2-40B4-BE49-F238E27FC236}">
                <ns2:creationId id="{79ACEAB0-D572-4313-8460-912F6EF7BD9E}"/>
              </a:ext>
            </a:extLst>
          </p:cNvPr>
          <p:cNvSpPr>
            <a:spLocks noGrp="1"/>
          </p:cNvSpPr>
          <p:nvPr/>
        </p:nvSpPr>
        <p:spPr>
          <a:xfrm>
            <a:off x="685800" y="326898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24.0 자체는 초과에 포함되지 않습니다.</a:t>
            </a:r>
          </a:p>
        </p:txBody>
      </p:sp>
      <p:sp>
        <p:nvSpPr>
          <p:cNvPr id="6" name="">
            <a:extLst>
              <a:ext uri="{FF2B5EF4-FFF2-40B4-BE49-F238E27FC236}">
                <ns2:creationId id="{73046346-1154-4FC2-97A5-781797D1BBE2}"/>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경계값 24.0에서 비교하기</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3200241"/>
                <a:gridCol w="2038509"/>
              </a:tblGrid>
              <a:tr h="514350">
                <a:tc>
                  <a:txBody>
                    <a:bodyPr wrap="square"/>
                    <a:lstStyle/>
                    <a:p>
                      <a:pPr>
                        <a:lnSpc>
                          <a:spcPct val="102000"/>
                        </a:lnSpc>
                        <a:buNone/>
                      </a:pPr>
                      <a:r>
                        <a:rPr sz="1875" b="1">
                          <a:solidFill>
                            <a:srgbClr val="172F39"/>
                          </a:solidFill>
                          <a:latin typeface="Noto Sans KR"/>
                          <a:ea typeface="Noto Sans KR"/>
                          <a:cs typeface="Noto Sans KR"/>
                        </a:rPr>
                        <a:t>질문</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결과</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24.0 &gt; 24.0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False</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24.0 &gt;= 24.0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True</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24.0 == 24.0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True</a:t>
                      </a:r>
                    </a:p>
                  </a:txBody>
                  <a:tcPr marL="114300" marR="114300" marT="76200" marB="76200" anchor="ctr">
                    <a:solidFill>
                      <a:srgbClr val="FFFFFF"/>
                    </a:solidFill>
                  </a:tcPr>
                </a:tc>
              </a:tr>
            </a:tbl>
          </a:graphicData>
        </a:graphic>
      </p:graphicFrame>
      <p:sp>
        <p:nvSpPr>
          <p:cNvPr id="8" name="">
            <a:extLst>
              <a:ext uri="{FF2B5EF4-FFF2-40B4-BE49-F238E27FC236}">
                <ns2:creationId id="{F9880CBB-3969-4256-8976-861B4F7F2DED}"/>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E606FF32-0C34-416E-B6E6-A63541BD1F02}"/>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0CF845B2-8399-4AFB-800B-0425DC3C887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DD68F026-AE46-46A8-B942-42CD6707E5F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BDF0155D-DAD9-49C4-80B6-253F576D66FE}"/>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058</a:t>
            </a:r>
          </a:p>
        </p:txBody>
      </p:sp>
    </p:spTree>
    <p:extLst>
      <p:ext uri="{BB962C8B-B14F-4D97-AF65-F5344CB8AC3E}">
        <ns4:creationId val="823665224"/>
      </p:ext>
    </p:extLst>
  </p:cSld>
</p:sld>
</file>

<file path=ppt/slides/slide5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23" name="">
            <a:extLst>
              <a:ext uri="{FF2B5EF4-FFF2-40B4-BE49-F238E27FC236}">
                <ns2:creationId id="{2A7A1B50-05EA-4A67-90D3-E54DBB3B408C}"/>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E3FADE70-9551-4CAC-B802-77206BC6FA2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완성 예 · 미측정 먼저 처리</a:t>
            </a:r>
          </a:p>
        </p:txBody>
      </p:sp>
      <p:sp>
        <p:nvSpPr>
          <p:cNvPr id="3" name="">
            <a:extLst>
              <a:ext uri="{FF2B5EF4-FFF2-40B4-BE49-F238E27FC236}">
                <ns2:creationId id="{8CC08D01-EE45-445D-BED4-D21878109E77}"/>
              </a:ext>
            </a:extLst>
          </p:cNvPr>
          <p:cNvSpPr>
            <a:spLocks noGrp="1"/>
          </p:cNvSpPr>
          <p:nvPr/>
        </p:nvSpPr>
        <p:spPr>
          <a:xfrm>
            <a:off x="685800" y="1809750"/>
            <a:ext cx="10820400" cy="2542794"/>
          </a:xfrm>
          <a:prstGeom prst="rect">
            <a:avLst/>
          </a:prstGeom>
          <a:solidFill>
            <a:srgbClr val="F1F6F5"/>
          </a:solidFill>
          <a:ln w="0">
            <a:noFill/>
          </a:ln>
        </p:spPr>
      </p:sp>
      <p:sp>
        <p:nvSpPr>
          <p:cNvPr id="4" name="">
            <a:extLst>
              <a:ext uri="{FF2B5EF4-FFF2-40B4-BE49-F238E27FC236}">
                <ns2:creationId id="{9ABA131E-2F9B-4D48-95BE-8C8E3836DDE0}"/>
              </a:ext>
            </a:extLst>
          </p:cNvPr>
          <p:cNvSpPr>
            <a:spLocks noGrp="1"/>
          </p:cNvSpPr>
          <p:nvPr/>
        </p:nvSpPr>
        <p:spPr>
          <a:xfrm>
            <a:off x="828675" y="197167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5" name="">
            <a:extLst>
              <a:ext uri="{FF2B5EF4-FFF2-40B4-BE49-F238E27FC236}">
                <ns2:creationId id="{D35F59AF-D85D-4E16-87C8-C7F4298F644B}"/>
              </a:ext>
            </a:extLst>
          </p:cNvPr>
          <p:cNvSpPr>
            <a:spLocks noGrp="1"/>
          </p:cNvSpPr>
          <p:nvPr/>
        </p:nvSpPr>
        <p:spPr>
          <a:xfrm>
            <a:off x="1276350" y="193357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temperature_c = None</a:t>
            </a:r>
          </a:p>
        </p:txBody>
      </p:sp>
      <p:sp>
        <p:nvSpPr>
          <p:cNvPr id="6" name="">
            <a:extLst>
              <a:ext uri="{FF2B5EF4-FFF2-40B4-BE49-F238E27FC236}">
                <ns2:creationId id="{A47555C1-C8CF-4D3E-ABA3-785381347270}"/>
              </a:ext>
            </a:extLst>
          </p:cNvPr>
          <p:cNvSpPr>
            <a:spLocks noGrp="1"/>
          </p:cNvSpPr>
          <p:nvPr/>
        </p:nvSpPr>
        <p:spPr>
          <a:xfrm>
            <a:off x="828675" y="228866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7" name="">
            <a:extLst>
              <a:ext uri="{FF2B5EF4-FFF2-40B4-BE49-F238E27FC236}">
                <ns2:creationId id="{9ED3D358-2838-48EB-9F1F-6B8C2EA3C55C}"/>
              </a:ext>
            </a:extLst>
          </p:cNvPr>
          <p:cNvSpPr>
            <a:spLocks noGrp="1"/>
          </p:cNvSpPr>
          <p:nvPr/>
        </p:nvSpPr>
        <p:spPr>
          <a:xfrm>
            <a:off x="1276350" y="225056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if temperature_c is None:</a:t>
            </a:r>
          </a:p>
        </p:txBody>
      </p:sp>
      <p:sp>
        <p:nvSpPr>
          <p:cNvPr id="8" name="">
            <a:extLst>
              <a:ext uri="{FF2B5EF4-FFF2-40B4-BE49-F238E27FC236}">
                <ns2:creationId id="{77FFEDA8-2C38-4B20-ACCE-003F4F1BFB34}"/>
              </a:ext>
            </a:extLst>
          </p:cNvPr>
          <p:cNvSpPr>
            <a:spLocks noGrp="1"/>
          </p:cNvSpPr>
          <p:nvPr/>
        </p:nvSpPr>
        <p:spPr>
          <a:xfrm>
            <a:off x="828675" y="260565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9" name="">
            <a:extLst>
              <a:ext uri="{FF2B5EF4-FFF2-40B4-BE49-F238E27FC236}">
                <ns2:creationId id="{52C191AD-1B74-4D29-B1E5-A1D9B1584DED}"/>
              </a:ext>
            </a:extLst>
          </p:cNvPr>
          <p:cNvSpPr>
            <a:spLocks noGrp="1"/>
          </p:cNvSpPr>
          <p:nvPr/>
        </p:nvSpPr>
        <p:spPr>
          <a:xfrm>
            <a:off x="1276350" y="2567559"/>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    print("미측정")</a:t>
            </a:r>
          </a:p>
        </p:txBody>
      </p:sp>
      <p:sp>
        <p:nvSpPr>
          <p:cNvPr id="10" name="">
            <a:extLst>
              <a:ext uri="{FF2B5EF4-FFF2-40B4-BE49-F238E27FC236}">
                <ns2:creationId id="{5DC9D1F2-BD7A-4716-BF4E-E9164BE121A5}"/>
              </a:ext>
            </a:extLst>
          </p:cNvPr>
          <p:cNvSpPr>
            <a:spLocks noGrp="1"/>
          </p:cNvSpPr>
          <p:nvPr/>
        </p:nvSpPr>
        <p:spPr>
          <a:xfrm>
            <a:off x="828675" y="2922651"/>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1" name="">
            <a:extLst>
              <a:ext uri="{FF2B5EF4-FFF2-40B4-BE49-F238E27FC236}">
                <ns2:creationId id="{D7CE7828-416B-4860-A4CC-37C4269E5D2C}"/>
              </a:ext>
            </a:extLst>
          </p:cNvPr>
          <p:cNvSpPr>
            <a:spLocks noGrp="1"/>
          </p:cNvSpPr>
          <p:nvPr/>
        </p:nvSpPr>
        <p:spPr>
          <a:xfrm>
            <a:off x="1276350" y="2884551"/>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elif temperature_c &gt; 24.0:</a:t>
            </a:r>
          </a:p>
        </p:txBody>
      </p:sp>
      <p:sp>
        <p:nvSpPr>
          <p:cNvPr id="12" name="">
            <a:extLst>
              <a:ext uri="{FF2B5EF4-FFF2-40B4-BE49-F238E27FC236}">
                <ns2:creationId id="{6FB64C5F-D3F8-47BA-B69E-9C08868F172D}"/>
              </a:ext>
            </a:extLst>
          </p:cNvPr>
          <p:cNvSpPr>
            <a:spLocks noGrp="1"/>
          </p:cNvSpPr>
          <p:nvPr/>
        </p:nvSpPr>
        <p:spPr>
          <a:xfrm>
            <a:off x="828675" y="323964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05</a:t>
            </a:r>
          </a:p>
        </p:txBody>
      </p:sp>
      <p:sp>
        <p:nvSpPr>
          <p:cNvPr id="13" name="">
            <a:extLst>
              <a:ext uri="{FF2B5EF4-FFF2-40B4-BE49-F238E27FC236}">
                <ns2:creationId id="{E739E79D-1D54-4143-B85F-358A27FBAE6A}"/>
              </a:ext>
            </a:extLst>
          </p:cNvPr>
          <p:cNvSpPr>
            <a:spLocks noGrp="1"/>
          </p:cNvSpPr>
          <p:nvPr/>
        </p:nvSpPr>
        <p:spPr>
          <a:xfrm>
            <a:off x="1276350" y="3201543"/>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    print("확인")</a:t>
            </a:r>
          </a:p>
        </p:txBody>
      </p:sp>
      <p:sp>
        <p:nvSpPr>
          <p:cNvPr id="14" name="">
            <a:extLst>
              <a:ext uri="{FF2B5EF4-FFF2-40B4-BE49-F238E27FC236}">
                <ns2:creationId id="{E3203FD0-A4B1-4946-8A2D-58EA6B2CE7EC}"/>
              </a:ext>
            </a:extLst>
          </p:cNvPr>
          <p:cNvSpPr>
            <a:spLocks noGrp="1"/>
          </p:cNvSpPr>
          <p:nvPr/>
        </p:nvSpPr>
        <p:spPr>
          <a:xfrm>
            <a:off x="828675" y="355663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06</a:t>
            </a:r>
          </a:p>
        </p:txBody>
      </p:sp>
      <p:sp>
        <p:nvSpPr>
          <p:cNvPr id="15" name="">
            <a:extLst>
              <a:ext uri="{FF2B5EF4-FFF2-40B4-BE49-F238E27FC236}">
                <ns2:creationId id="{5A24645D-36AE-44B2-B927-E7D944AA5D6B}"/>
              </a:ext>
            </a:extLst>
          </p:cNvPr>
          <p:cNvSpPr>
            <a:spLocks noGrp="1"/>
          </p:cNvSpPr>
          <p:nvPr/>
        </p:nvSpPr>
        <p:spPr>
          <a:xfrm>
            <a:off x="1276350" y="351853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else:</a:t>
            </a:r>
          </a:p>
        </p:txBody>
      </p:sp>
      <p:sp>
        <p:nvSpPr>
          <p:cNvPr id="16" name="">
            <a:extLst>
              <a:ext uri="{FF2B5EF4-FFF2-40B4-BE49-F238E27FC236}">
                <ns2:creationId id="{1BF823B6-87D3-479D-9A1E-F575257CCE89}"/>
              </a:ext>
            </a:extLst>
          </p:cNvPr>
          <p:cNvSpPr>
            <a:spLocks noGrp="1"/>
          </p:cNvSpPr>
          <p:nvPr/>
        </p:nvSpPr>
        <p:spPr>
          <a:xfrm>
            <a:off x="828675" y="387362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07</a:t>
            </a:r>
          </a:p>
        </p:txBody>
      </p:sp>
      <p:sp>
        <p:nvSpPr>
          <p:cNvPr id="17" name="">
            <a:extLst>
              <a:ext uri="{FF2B5EF4-FFF2-40B4-BE49-F238E27FC236}">
                <ns2:creationId id="{691DA4FF-D85A-41DD-A122-B0CDB05CC7C3}"/>
              </a:ext>
            </a:extLst>
          </p:cNvPr>
          <p:cNvSpPr>
            <a:spLocks noGrp="1"/>
          </p:cNvSpPr>
          <p:nvPr/>
        </p:nvSpPr>
        <p:spPr>
          <a:xfrm>
            <a:off x="1276350" y="383552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    print("정상")</a:t>
            </a:r>
          </a:p>
        </p:txBody>
      </p:sp>
      <p:sp>
        <p:nvSpPr>
          <p:cNvPr id="18" name="">
            <a:extLst>
              <a:ext uri="{FF2B5EF4-FFF2-40B4-BE49-F238E27FC236}">
                <ns2:creationId id="{FE25CED8-89B1-44D2-8102-428DE8AA16FB}"/>
              </a:ext>
            </a:extLst>
          </p:cNvPr>
          <p:cNvSpPr>
            <a:spLocks noGrp="1"/>
          </p:cNvSpPr>
          <p:nvPr/>
        </p:nvSpPr>
        <p:spPr>
          <a:xfrm>
            <a:off x="685800" y="6172200"/>
            <a:ext cx="10820400" cy="9525"/>
          </a:xfrm>
          <a:prstGeom prst="rect">
            <a:avLst/>
          </a:prstGeom>
          <a:solidFill>
            <a:srgbClr val="D5DEDD"/>
          </a:solidFill>
          <a:ln w="0">
            <a:noFill/>
          </a:ln>
        </p:spPr>
      </p:sp>
      <p:sp>
        <p:nvSpPr>
          <p:cNvPr id="19" name="">
            <a:extLst>
              <a:ext uri="{FF2B5EF4-FFF2-40B4-BE49-F238E27FC236}">
                <ns2:creationId id="{0CE5671B-B557-49A0-85E7-EF586AA56552}"/>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20" name="">
            <a:extLst>
              <a:ext uri="{FF2B5EF4-FFF2-40B4-BE49-F238E27FC236}">
                <ns2:creationId id="{1FB66C49-70EB-4FA3-BC1A-20D51792A8AE}"/>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21" name="">
            <a:extLst>
              <a:ext uri="{FF2B5EF4-FFF2-40B4-BE49-F238E27FC236}">
                <ns2:creationId id="{56994400-CB34-4676-B1D6-7BDC662ED04D}"/>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22" name="">
            <a:extLst>
              <a:ext uri="{FF2B5EF4-FFF2-40B4-BE49-F238E27FC236}">
                <ns2:creationId id="{2D085D85-202F-4BB9-B6F8-94B02DC1BB29}"/>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059</a:t>
            </a:r>
          </a:p>
        </p:txBody>
      </p:sp>
    </p:spTree>
    <p:extLst>
      <p:ext uri="{BB962C8B-B14F-4D97-AF65-F5344CB8AC3E}">
        <ns4:creationId val="552833205"/>
      </p:ext>
    </p:extLst>
  </p:cSld>
</p:sld>
</file>

<file path=ppt/slides/slide6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27" name="">
            <a:extLst>
              <a:ext uri="{FF2B5EF4-FFF2-40B4-BE49-F238E27FC236}">
                <ns2:creationId id="{B898174C-5574-49EC-AD46-FFE394DCB3D4}"/>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6443982F-33B1-4321-ABFE-4B6AAD80709B}"/>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None을 숫자와 먼저 비교하지 않습니다</a:t>
            </a:r>
          </a:p>
        </p:txBody>
      </p:sp>
      <p:sp>
        <p:nvSpPr>
          <p:cNvPr id="3" name="">
            <a:extLst>
              <a:ext uri="{FF2B5EF4-FFF2-40B4-BE49-F238E27FC236}">
                <ns2:creationId id="{CEAD8276-521F-4999-891E-147AAD37D3E4}"/>
              </a:ext>
            </a:extLst>
          </p:cNvPr>
          <p:cNvSpPr>
            <a:spLocks noGrp="1"/>
          </p:cNvSpPr>
          <p:nvPr/>
        </p:nvSpPr>
        <p:spPr>
          <a:xfrm>
            <a:off x="685800" y="193357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None이면 미측정을 출력합니다.</a:t>
            </a:r>
          </a:p>
        </p:txBody>
      </p:sp>
      <p:sp>
        <p:nvSpPr>
          <p:cNvPr id="4" name="">
            <a:extLst>
              <a:ext uri="{FF2B5EF4-FFF2-40B4-BE49-F238E27FC236}">
                <ns2:creationId id="{758E1BB1-96AE-4BD3-9CF0-27C863C78625}"/>
              </a:ext>
            </a:extLst>
          </p:cNvPr>
          <p:cNvSpPr>
            <a:spLocks noGrp="1"/>
          </p:cNvSpPr>
          <p:nvPr/>
        </p:nvSpPr>
        <p:spPr>
          <a:xfrm>
            <a:off x="685800" y="243268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숫자일 때만 기준과 비교합니다.</a:t>
            </a:r>
          </a:p>
        </p:txBody>
      </p:sp>
      <p:sp>
        <p:nvSpPr>
          <p:cNvPr id="5" name="">
            <a:extLst>
              <a:ext uri="{FF2B5EF4-FFF2-40B4-BE49-F238E27FC236}">
                <ns2:creationId id="{845D5735-6C09-413D-B53F-A65A66DD0D28}"/>
              </a:ext>
            </a:extLst>
          </p:cNvPr>
          <p:cNvSpPr>
            <a:spLocks noGrp="1"/>
          </p:cNvSpPr>
          <p:nvPr/>
        </p:nvSpPr>
        <p:spPr>
          <a:xfrm>
            <a:off x="685800" y="29317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미측정을 0으로 바꾸면 뜻이 달라집니다.</a:t>
            </a:r>
          </a:p>
        </p:txBody>
      </p:sp>
      <p:sp>
        <p:nvSpPr>
          <p:cNvPr id="6" name="">
            <a:extLst>
              <a:ext uri="{FF2B5EF4-FFF2-40B4-BE49-F238E27FC236}">
                <ns2:creationId id="{04AA6741-5EE0-41E4-B4FC-1A70FDE7BFAE}"/>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완성 예 · 미측정 먼저 처리</a:t>
            </a:r>
          </a:p>
        </p:txBody>
      </p:sp>
      <p:sp>
        <p:nvSpPr>
          <p:cNvPr id="7" name="">
            <a:extLst>
              <a:ext uri="{FF2B5EF4-FFF2-40B4-BE49-F238E27FC236}">
                <ns2:creationId id="{BA725C4B-D019-4BB6-B4EE-C097F99A92E4}"/>
              </a:ext>
            </a:extLst>
          </p:cNvPr>
          <p:cNvSpPr>
            <a:spLocks noGrp="1"/>
          </p:cNvSpPr>
          <p:nvPr/>
        </p:nvSpPr>
        <p:spPr>
          <a:xfrm>
            <a:off x="6267450" y="2628900"/>
            <a:ext cx="5238750" cy="2372106"/>
          </a:xfrm>
          <a:prstGeom prst="rect">
            <a:avLst/>
          </a:prstGeom>
          <a:solidFill>
            <a:srgbClr val="F1F6F5"/>
          </a:solidFill>
          <a:ln w="0">
            <a:noFill/>
          </a:ln>
        </p:spPr>
      </p:sp>
      <p:sp>
        <p:nvSpPr>
          <p:cNvPr id="8" name="">
            <a:extLst>
              <a:ext uri="{FF2B5EF4-FFF2-40B4-BE49-F238E27FC236}">
                <ns2:creationId id="{06FC8CC5-3A7A-42BE-9F24-A7C375B60C67}"/>
              </a:ext>
            </a:extLst>
          </p:cNvPr>
          <p:cNvSpPr>
            <a:spLocks noGrp="1"/>
          </p:cNvSpPr>
          <p:nvPr/>
        </p:nvSpPr>
        <p:spPr>
          <a:xfrm>
            <a:off x="6410325" y="2790825"/>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9" name="">
            <a:extLst>
              <a:ext uri="{FF2B5EF4-FFF2-40B4-BE49-F238E27FC236}">
                <ns2:creationId id="{063EDA5B-28AF-4426-89DE-6AB92F089020}"/>
              </a:ext>
            </a:extLst>
          </p:cNvPr>
          <p:cNvSpPr>
            <a:spLocks noGrp="1"/>
          </p:cNvSpPr>
          <p:nvPr/>
        </p:nvSpPr>
        <p:spPr>
          <a:xfrm>
            <a:off x="6858000" y="2752725"/>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temperature_c = None</a:t>
            </a:r>
          </a:p>
        </p:txBody>
      </p:sp>
      <p:sp>
        <p:nvSpPr>
          <p:cNvPr id="10" name="">
            <a:extLst>
              <a:ext uri="{FF2B5EF4-FFF2-40B4-BE49-F238E27FC236}">
                <ns2:creationId id="{2DB63273-2690-4715-9F19-1B51D3184B24}"/>
              </a:ext>
            </a:extLst>
          </p:cNvPr>
          <p:cNvSpPr>
            <a:spLocks noGrp="1"/>
          </p:cNvSpPr>
          <p:nvPr/>
        </p:nvSpPr>
        <p:spPr>
          <a:xfrm>
            <a:off x="6410325" y="3083433"/>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11" name="">
            <a:extLst>
              <a:ext uri="{FF2B5EF4-FFF2-40B4-BE49-F238E27FC236}">
                <ns2:creationId id="{24E60DA5-4182-4F3B-8F10-6EA71952B5BA}"/>
              </a:ext>
            </a:extLst>
          </p:cNvPr>
          <p:cNvSpPr>
            <a:spLocks noGrp="1"/>
          </p:cNvSpPr>
          <p:nvPr/>
        </p:nvSpPr>
        <p:spPr>
          <a:xfrm>
            <a:off x="6858000" y="3045333"/>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if temperature_c is None:</a:t>
            </a:r>
          </a:p>
        </p:txBody>
      </p:sp>
      <p:sp>
        <p:nvSpPr>
          <p:cNvPr id="12" name="">
            <a:extLst>
              <a:ext uri="{FF2B5EF4-FFF2-40B4-BE49-F238E27FC236}">
                <ns2:creationId id="{9829D503-F280-458D-8BC8-AEC2D1003939}"/>
              </a:ext>
            </a:extLst>
          </p:cNvPr>
          <p:cNvSpPr>
            <a:spLocks noGrp="1"/>
          </p:cNvSpPr>
          <p:nvPr/>
        </p:nvSpPr>
        <p:spPr>
          <a:xfrm>
            <a:off x="6410325" y="3376041"/>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3" name="">
            <a:extLst>
              <a:ext uri="{FF2B5EF4-FFF2-40B4-BE49-F238E27FC236}">
                <ns2:creationId id="{BBE52251-B7C3-4B87-8ADE-940B158D71A6}"/>
              </a:ext>
            </a:extLst>
          </p:cNvPr>
          <p:cNvSpPr>
            <a:spLocks noGrp="1"/>
          </p:cNvSpPr>
          <p:nvPr/>
        </p:nvSpPr>
        <p:spPr>
          <a:xfrm>
            <a:off x="6858000" y="3337941"/>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    print("미측정")</a:t>
            </a:r>
          </a:p>
        </p:txBody>
      </p:sp>
      <p:sp>
        <p:nvSpPr>
          <p:cNvPr id="14" name="">
            <a:extLst>
              <a:ext uri="{FF2B5EF4-FFF2-40B4-BE49-F238E27FC236}">
                <ns2:creationId id="{06890ADA-EB98-4ED4-9EC7-B83F4991A892}"/>
              </a:ext>
            </a:extLst>
          </p:cNvPr>
          <p:cNvSpPr>
            <a:spLocks noGrp="1"/>
          </p:cNvSpPr>
          <p:nvPr/>
        </p:nvSpPr>
        <p:spPr>
          <a:xfrm>
            <a:off x="6410325" y="3668649"/>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5" name="">
            <a:extLst>
              <a:ext uri="{FF2B5EF4-FFF2-40B4-BE49-F238E27FC236}">
                <ns2:creationId id="{D2BB44E9-FD08-4517-A829-D7EF944EDBD9}"/>
              </a:ext>
            </a:extLst>
          </p:cNvPr>
          <p:cNvSpPr>
            <a:spLocks noGrp="1"/>
          </p:cNvSpPr>
          <p:nvPr/>
        </p:nvSpPr>
        <p:spPr>
          <a:xfrm>
            <a:off x="6858000" y="3630549"/>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elif temperature_c &gt; 24.0:</a:t>
            </a:r>
          </a:p>
        </p:txBody>
      </p:sp>
      <p:sp>
        <p:nvSpPr>
          <p:cNvPr id="16" name="">
            <a:extLst>
              <a:ext uri="{FF2B5EF4-FFF2-40B4-BE49-F238E27FC236}">
                <ns2:creationId id="{1C1EDB95-CF83-41D7-9125-D9F0502C3AC0}"/>
              </a:ext>
            </a:extLst>
          </p:cNvPr>
          <p:cNvSpPr>
            <a:spLocks noGrp="1"/>
          </p:cNvSpPr>
          <p:nvPr/>
        </p:nvSpPr>
        <p:spPr>
          <a:xfrm>
            <a:off x="6410325" y="3961257"/>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05</a:t>
            </a:r>
          </a:p>
        </p:txBody>
      </p:sp>
      <p:sp>
        <p:nvSpPr>
          <p:cNvPr id="17" name="">
            <a:extLst>
              <a:ext uri="{FF2B5EF4-FFF2-40B4-BE49-F238E27FC236}">
                <ns2:creationId id="{75887731-F303-4FF2-9139-F61D93F2A6BA}"/>
              </a:ext>
            </a:extLst>
          </p:cNvPr>
          <p:cNvSpPr>
            <a:spLocks noGrp="1"/>
          </p:cNvSpPr>
          <p:nvPr/>
        </p:nvSpPr>
        <p:spPr>
          <a:xfrm>
            <a:off x="6858000" y="3923157"/>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    print("확인")</a:t>
            </a:r>
          </a:p>
        </p:txBody>
      </p:sp>
      <p:sp>
        <p:nvSpPr>
          <p:cNvPr id="18" name="">
            <a:extLst>
              <a:ext uri="{FF2B5EF4-FFF2-40B4-BE49-F238E27FC236}">
                <ns2:creationId id="{45EE19AA-FCAF-4B23-902B-A87353CB4665}"/>
              </a:ext>
            </a:extLst>
          </p:cNvPr>
          <p:cNvSpPr>
            <a:spLocks noGrp="1"/>
          </p:cNvSpPr>
          <p:nvPr/>
        </p:nvSpPr>
        <p:spPr>
          <a:xfrm>
            <a:off x="6410325" y="4253865"/>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06</a:t>
            </a:r>
          </a:p>
        </p:txBody>
      </p:sp>
      <p:sp>
        <p:nvSpPr>
          <p:cNvPr id="19" name="">
            <a:extLst>
              <a:ext uri="{FF2B5EF4-FFF2-40B4-BE49-F238E27FC236}">
                <ns2:creationId id="{1FDBA9D1-FFEE-4207-84CA-C7F45BC0B416}"/>
              </a:ext>
            </a:extLst>
          </p:cNvPr>
          <p:cNvSpPr>
            <a:spLocks noGrp="1"/>
          </p:cNvSpPr>
          <p:nvPr/>
        </p:nvSpPr>
        <p:spPr>
          <a:xfrm>
            <a:off x="6858000" y="4215765"/>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else:</a:t>
            </a:r>
          </a:p>
        </p:txBody>
      </p:sp>
      <p:sp>
        <p:nvSpPr>
          <p:cNvPr id="20" name="">
            <a:extLst>
              <a:ext uri="{FF2B5EF4-FFF2-40B4-BE49-F238E27FC236}">
                <ns2:creationId id="{DFCA89D7-F164-4667-B3EA-F10D0A70B2C4}"/>
              </a:ext>
            </a:extLst>
          </p:cNvPr>
          <p:cNvSpPr>
            <a:spLocks noGrp="1"/>
          </p:cNvSpPr>
          <p:nvPr/>
        </p:nvSpPr>
        <p:spPr>
          <a:xfrm>
            <a:off x="6410325" y="4546473"/>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07</a:t>
            </a:r>
          </a:p>
        </p:txBody>
      </p:sp>
      <p:sp>
        <p:nvSpPr>
          <p:cNvPr id="21" name="">
            <a:extLst>
              <a:ext uri="{FF2B5EF4-FFF2-40B4-BE49-F238E27FC236}">
                <ns2:creationId id="{ABD7D869-8BFC-4127-B92C-2684F9A0D42F}"/>
              </a:ext>
            </a:extLst>
          </p:cNvPr>
          <p:cNvSpPr>
            <a:spLocks noGrp="1"/>
          </p:cNvSpPr>
          <p:nvPr/>
        </p:nvSpPr>
        <p:spPr>
          <a:xfrm>
            <a:off x="6858000" y="4508373"/>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    print("정상")</a:t>
            </a:r>
          </a:p>
        </p:txBody>
      </p:sp>
      <p:sp>
        <p:nvSpPr>
          <p:cNvPr id="22" name="">
            <a:extLst>
              <a:ext uri="{FF2B5EF4-FFF2-40B4-BE49-F238E27FC236}">
                <ns2:creationId id="{C268B470-C58D-4564-8279-33360E4DA70B}"/>
              </a:ext>
            </a:extLst>
          </p:cNvPr>
          <p:cNvSpPr>
            <a:spLocks noGrp="1"/>
          </p:cNvSpPr>
          <p:nvPr/>
        </p:nvSpPr>
        <p:spPr>
          <a:xfrm>
            <a:off x="685800" y="6172200"/>
            <a:ext cx="10820400" cy="9525"/>
          </a:xfrm>
          <a:prstGeom prst="rect">
            <a:avLst/>
          </a:prstGeom>
          <a:solidFill>
            <a:srgbClr val="D5DEDD"/>
          </a:solidFill>
          <a:ln w="0">
            <a:noFill/>
          </a:ln>
        </p:spPr>
      </p:sp>
      <p:sp>
        <p:nvSpPr>
          <p:cNvPr id="23" name="">
            <a:extLst>
              <a:ext uri="{FF2B5EF4-FFF2-40B4-BE49-F238E27FC236}">
                <ns2:creationId id="{918671C5-16C4-46A7-BD61-BC7181A0C3A5}"/>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24" name="">
            <a:extLst>
              <a:ext uri="{FF2B5EF4-FFF2-40B4-BE49-F238E27FC236}">
                <ns2:creationId id="{28EA3CDD-3B4F-403A-A848-296DD4692BC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25" name="">
            <a:extLst>
              <a:ext uri="{FF2B5EF4-FFF2-40B4-BE49-F238E27FC236}">
                <ns2:creationId id="{D9737B8D-E503-4B86-81B6-B6B8F91BAA3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26" name="">
            <a:extLst>
              <a:ext uri="{FF2B5EF4-FFF2-40B4-BE49-F238E27FC236}">
                <ns2:creationId id="{42DDBAA6-93A2-403F-BC9E-CD005F0DCF43}"/>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060</a:t>
            </a:r>
          </a:p>
        </p:txBody>
      </p:sp>
    </p:spTree>
    <p:extLst>
      <p:ext uri="{BB962C8B-B14F-4D97-AF65-F5344CB8AC3E}">
        <ns4:creationId val="925579597"/>
      </p:ext>
    </p:extLst>
  </p:cSld>
</p:sld>
</file>

<file path=ppt/slides/slide6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B2129E41-FBDC-470D-8F77-AEC1441FC60A}"/>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F62AB0E7-0426-4CC9-9819-29474BCA135B}"/>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10명 이상이면 큰 실습실</a:t>
            </a:r>
          </a:p>
        </p:txBody>
      </p:sp>
      <p:sp>
        <p:nvSpPr>
          <p:cNvPr id="3" name="">
            <a:extLst>
              <a:ext uri="{FF2B5EF4-FFF2-40B4-BE49-F238E27FC236}">
                <ns2:creationId id="{04963857-3966-41DE-8E63-AA2B221ADB4F}"/>
              </a:ext>
            </a:extLst>
          </p:cNvPr>
          <p:cNvSpPr>
            <a:spLocks noGrp="1"/>
          </p:cNvSpPr>
          <p:nvPr/>
        </p:nvSpPr>
        <p:spPr>
          <a:xfrm>
            <a:off x="685800" y="1933575"/>
            <a:ext cx="4800600" cy="788670"/>
          </a:xfrm>
          <a:prstGeom prst="rect">
            <a:avLst/>
          </a:prstGeom>
          <a:noFill/>
          <a:ln w="0">
            <a:noFill/>
          </a:ln>
        </p:spPr>
        <p:txBody>
          <a:bodyPr wrap="square" lIns="0" tIns="0" rIns="0" bIns="0">
            <a:noAutofit/>
          </a:bodyPr>
          <a:lstStyle/>
          <a:p>
            <a:pPr>
              <a:defRPr sz="2250" b="1">
                <a:solidFill>
                  <a:srgbClr val="172F39"/>
                </a:solidFill>
                <a:latin typeface="Noto Sans KR"/>
                <a:ea typeface="Noto Sans KR"/>
                <a:cs typeface="Noto Sans KR"/>
              </a:defRPr>
            </a:pPr>
            <a:r>
              <a:t>10명 이상이면 큰 실습실을 배정합니다.</a:t>
            </a:r>
          </a:p>
        </p:txBody>
      </p:sp>
      <p:sp>
        <p:nvSpPr>
          <p:cNvPr id="4" name="">
            <a:extLst>
              <a:ext uri="{FF2B5EF4-FFF2-40B4-BE49-F238E27FC236}">
                <ns2:creationId id="{C8913E5F-E57A-41F8-8CB4-362884013BDC}"/>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9명·10명·11명 비교</a:t>
            </a:r>
          </a:p>
        </p:txBody>
      </p:sp>
      <p:graphicFrame>
        <p:nvGraphicFramePr>
          <p:cNvPr id="15" name=""/>
          <p:cNvGraphicFramePr/>
          <p:nvPr/>
        </p:nvGraphicFramePr>
        <p:xfrm>
          <a:off x="6267450" y="2628900"/>
          <a:ext cx="5238750" cy="2571750"/>
        </p:xfrm>
        <a:graphic>
          <a:graphicData uri="http://schemas.openxmlformats.org/drawingml/2006/table">
            <a:tbl>
              <a:tblPr firstRow="1" bandRow="0"/>
              <a:tblGrid>
                <a:gridCol w="1455208"/>
                <a:gridCol w="1770503"/>
                <a:gridCol w="2013038"/>
              </a:tblGrid>
              <a:tr h="514350">
                <a:tc>
                  <a:txBody>
                    <a:bodyPr wrap="square"/>
                    <a:lstStyle/>
                    <a:p>
                      <a:pPr>
                        <a:lnSpc>
                          <a:spcPct val="102000"/>
                        </a:lnSpc>
                        <a:buNone/>
                      </a:pPr>
                      <a:r>
                        <a:rPr sz="1875" b="1">
                          <a:solidFill>
                            <a:srgbClr val="172F39"/>
                          </a:solidFill>
                          <a:latin typeface="Noto Sans KR"/>
                          <a:ea typeface="Noto Sans KR"/>
                          <a:cs typeface="Noto Sans KR"/>
                        </a:rPr>
                        <a:t>입력</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10 이상?</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배정</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9</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False</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작은 실습실</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10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True</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큰 실습실</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11</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True</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큰 실습실</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미확인</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비교 보류</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인원 확인</a:t>
                      </a:r>
                    </a:p>
                  </a:txBody>
                  <a:tcPr marL="114300" marR="114300" marT="76200" marB="76200" anchor="ctr">
                    <a:solidFill>
                      <a:srgbClr val="FFFFFF"/>
                    </a:solidFill>
                  </a:tcPr>
                </a:tc>
              </a:tr>
            </a:tbl>
          </a:graphicData>
        </a:graphic>
      </p:graphicFrame>
      <p:sp>
        <p:nvSpPr>
          <p:cNvPr id="6" name="">
            <a:extLst>
              <a:ext uri="{FF2B5EF4-FFF2-40B4-BE49-F238E27FC236}">
                <ns2:creationId id="{EA623445-81F0-4715-A511-64F3C70B2B73}"/>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3FB8A45C-95FA-47DB-ABC5-5332790C06B3}"/>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636EF053-E566-4E2C-9D6D-2A4155F15AB7}"/>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EA9BC93E-EA79-4159-88EB-D0D24D0D656D}"/>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B59F0DB7-95F7-481E-8CB0-CCD95BB94D27}"/>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061</a:t>
            </a:r>
          </a:p>
        </p:txBody>
      </p:sp>
    </p:spTree>
    <p:extLst>
      <p:ext uri="{BB962C8B-B14F-4D97-AF65-F5344CB8AC3E}">
        <ns4:creationId val="720548217"/>
      </p:ext>
    </p:extLst>
  </p:cSld>
</p:sld>
</file>

<file path=ppt/slides/slide6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9" name="">
            <a:extLst>
              <a:ext uri="{FF2B5EF4-FFF2-40B4-BE49-F238E27FC236}">
                <ns2:creationId id="{318D4DF6-DC58-4AB6-B13C-612133891E2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477023E5-59BD-4C9D-AE22-0C03954B6731}"/>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9명·10명·11명 비교</a:t>
            </a:r>
          </a:p>
        </p:txBody>
      </p:sp>
      <p:graphicFrame>
        <p:nvGraphicFramePr>
          <p:cNvPr id="11" name=""/>
          <p:cNvGraphicFramePr/>
          <p:nvPr/>
        </p:nvGraphicFramePr>
        <p:xfrm>
          <a:off x="685800" y="1809750"/>
          <a:ext cx="10820400" cy="2682240"/>
        </p:xfrm>
        <a:graphic>
          <a:graphicData uri="http://schemas.openxmlformats.org/drawingml/2006/table">
            <a:tbl>
              <a:tblPr firstRow="1" bandRow="0"/>
              <a:tblGrid>
                <a:gridCol w="3005667"/>
                <a:gridCol w="3656894"/>
                <a:gridCol w="4157839"/>
              </a:tblGrid>
              <a:tr h="536448">
                <a:tc>
                  <a:txBody>
                    <a:bodyPr wrap="square"/>
                    <a:lstStyle/>
                    <a:p>
                      <a:pPr>
                        <a:lnSpc>
                          <a:spcPct val="102000"/>
                        </a:lnSpc>
                        <a:buNone/>
                      </a:pPr>
                      <a:r>
                        <a:rPr sz="2025" b="1">
                          <a:solidFill>
                            <a:srgbClr val="172F39"/>
                          </a:solidFill>
                          <a:latin typeface="Noto Sans KR"/>
                          <a:ea typeface="Noto Sans KR"/>
                          <a:cs typeface="Noto Sans KR"/>
                        </a:rPr>
                        <a:t>입력</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10 이상?</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배정</a:t>
                      </a:r>
                    </a:p>
                  </a:txBody>
                  <a:tcPr marL="114300" marR="114300" marT="76200" marB="76200" anchor="ctr">
                    <a:solidFill>
                      <a:srgbClr val="DCECE8"/>
                    </a:solidFill>
                  </a:tcPr>
                </a:tc>
              </a:tr>
              <a:tr h="536448">
                <a:tc>
                  <a:txBody>
                    <a:bodyPr wrap="square"/>
                    <a:lstStyle/>
                    <a:p>
                      <a:pPr>
                        <a:lnSpc>
                          <a:spcPct val="102000"/>
                        </a:lnSpc>
                        <a:buNone/>
                      </a:pPr>
                      <a:r>
                        <a:rPr sz="2025" b="0">
                          <a:solidFill>
                            <a:srgbClr val="172F39"/>
                          </a:solidFill>
                          <a:latin typeface="Noto Sans KR"/>
                          <a:ea typeface="Noto Sans KR"/>
                          <a:cs typeface="Noto Sans KR"/>
                        </a:rPr>
                        <a:t>9</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False</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작은 실습실</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10</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True</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큰 실습실</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11</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True</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큰 실습실</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미확인</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비교 보류</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인원 확인</a:t>
                      </a:r>
                    </a:p>
                  </a:txBody>
                  <a:tcPr marL="114300" marR="114300" marT="76200" marB="76200" anchor="ctr">
                    <a:solidFill>
                      <a:srgbClr val="FFFFFF"/>
                    </a:solidFill>
                  </a:tcPr>
                </a:tc>
              </a:tr>
            </a:tbl>
          </a:graphicData>
        </a:graphic>
      </p:graphicFrame>
      <p:sp>
        <p:nvSpPr>
          <p:cNvPr id="4" name="">
            <a:extLst>
              <a:ext uri="{FF2B5EF4-FFF2-40B4-BE49-F238E27FC236}">
                <ns2:creationId id="{FB07136C-2188-4C4D-9656-772676EC46A9}"/>
              </a:ext>
            </a:extLst>
          </p:cNvPr>
          <p:cNvSpPr>
            <a:spLocks noGrp="1"/>
          </p:cNvSpPr>
          <p:nvPr/>
        </p:nvSpPr>
        <p:spPr>
          <a:xfrm>
            <a:off x="685800" y="6172200"/>
            <a:ext cx="10820400" cy="9525"/>
          </a:xfrm>
          <a:prstGeom prst="rect">
            <a:avLst/>
          </a:prstGeom>
          <a:solidFill>
            <a:srgbClr val="D5DEDD"/>
          </a:solidFill>
          <a:ln w="0">
            <a:noFill/>
          </a:ln>
        </p:spPr>
      </p:sp>
      <p:sp>
        <p:nvSpPr>
          <p:cNvPr id="5" name="">
            <a:extLst>
              <a:ext uri="{FF2B5EF4-FFF2-40B4-BE49-F238E27FC236}">
                <ns2:creationId id="{6C713176-71BF-4451-B05F-389CDF3BD1C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6" name="">
            <a:extLst>
              <a:ext uri="{FF2B5EF4-FFF2-40B4-BE49-F238E27FC236}">
                <ns2:creationId id="{1FE1DBD4-B2CD-4076-B394-B569BBEE56AA}"/>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7" name="">
            <a:extLst>
              <a:ext uri="{FF2B5EF4-FFF2-40B4-BE49-F238E27FC236}">
                <ns2:creationId id="{06A6BB55-6C97-4477-9009-E9566CBF3BFC}"/>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8" name="">
            <a:extLst>
              <a:ext uri="{FF2B5EF4-FFF2-40B4-BE49-F238E27FC236}">
                <ns2:creationId id="{71C8C070-734C-4541-9E23-E3E0C2BD1328}"/>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062</a:t>
            </a:r>
          </a:p>
        </p:txBody>
      </p:sp>
    </p:spTree>
    <p:extLst>
      <p:ext uri="{BB962C8B-B14F-4D97-AF65-F5344CB8AC3E}">
        <ns4:creationId val="1080145082"/>
      </p:ext>
    </p:extLst>
  </p:cSld>
</p:sld>
</file>

<file path=ppt/slides/slide6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995234E9-8257-44D3-94CA-9A3AD50AC0F8}"/>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59DB8118-997E-4A0F-B864-05F109225734}"/>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추가 복습 · 새 문제</a:t>
            </a:r>
          </a:p>
        </p:txBody>
      </p:sp>
      <p:sp>
        <p:nvSpPr>
          <p:cNvPr id="3" name="">
            <a:extLst>
              <a:ext uri="{FF2B5EF4-FFF2-40B4-BE49-F238E27FC236}">
                <ns2:creationId id="{83EC61D3-94B0-48B9-A592-16ECC200AC54}"/>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추가 복습: 5개 이하이면 보충 요청</a:t>
            </a:r>
          </a:p>
        </p:txBody>
      </p:sp>
      <p:sp>
        <p:nvSpPr>
          <p:cNvPr id="4" name="">
            <a:extLst>
              <a:ext uri="{FF2B5EF4-FFF2-40B4-BE49-F238E27FC236}">
                <ns2:creationId id="{F44A93FB-3480-4D19-A5EA-43B05C00DA53}"/>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입력 4·5·6·미확인의 결과를 적으세요.</a:t>
            </a:r>
          </a:p>
        </p:txBody>
      </p:sp>
      <p:sp>
        <p:nvSpPr>
          <p:cNvPr id="5" name="">
            <a:extLst>
              <a:ext uri="{FF2B5EF4-FFF2-40B4-BE49-F238E27FC236}">
                <ns2:creationId id="{CFAAEA5B-C5D3-493F-9578-E863DBB767DA}"/>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DE315891-AF8A-4E24-B6F9-C4012484F028}"/>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9D5DC3DC-7295-483F-A32C-6662E6B3A76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5DFBFA06-6BD7-4588-8180-4B346DABFA90}"/>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E136CEB5-4098-4450-8034-C35ACB40F1B7}"/>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063</a:t>
            </a:r>
          </a:p>
        </p:txBody>
      </p:sp>
    </p:spTree>
    <p:extLst>
      <p:ext uri="{BB962C8B-B14F-4D97-AF65-F5344CB8AC3E}">
        <ns4:creationId val="2103001390"/>
      </p:ext>
    </p:extLst>
  </p:cSld>
</p:sld>
</file>

<file path=ppt/slides/slide6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9D87D8C6-C50D-445E-BEE8-FF9B20730AAF}"/>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0490B92E-1F31-4B3E-A2BC-7F0A4F882D53}"/>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4·5·6·미확인의 결과</a:t>
            </a:r>
          </a:p>
        </p:txBody>
      </p:sp>
      <p:sp>
        <p:nvSpPr>
          <p:cNvPr id="3" name="">
            <a:extLst>
              <a:ext uri="{FF2B5EF4-FFF2-40B4-BE49-F238E27FC236}">
                <ns2:creationId id="{ECA31C0A-7D91-422B-9306-DCDE6A2FE1B7}"/>
              </a:ext>
            </a:extLst>
          </p:cNvPr>
          <p:cNvSpPr>
            <a:spLocks noGrp="1"/>
          </p:cNvSpPr>
          <p:nvPr/>
        </p:nvSpPr>
        <p:spPr>
          <a:xfrm>
            <a:off x="685800" y="193357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4와 5는 보충, 6은 요청 없음입니다.</a:t>
            </a:r>
          </a:p>
        </p:txBody>
      </p:sp>
      <p:sp>
        <p:nvSpPr>
          <p:cNvPr id="4" name="">
            <a:extLst>
              <a:ext uri="{FF2B5EF4-FFF2-40B4-BE49-F238E27FC236}">
                <ns2:creationId id="{FB0CAFE9-14F9-41A2-9BF3-8885AAB730AD}"/>
              </a:ext>
            </a:extLst>
          </p:cNvPr>
          <p:cNvSpPr>
            <a:spLocks noGrp="1"/>
          </p:cNvSpPr>
          <p:nvPr/>
        </p:nvSpPr>
        <p:spPr>
          <a:xfrm>
            <a:off x="685800" y="243268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미확인은 확인 요청이며 0으로 채우지 않습니다.</a:t>
            </a:r>
          </a:p>
        </p:txBody>
      </p:sp>
      <p:sp>
        <p:nvSpPr>
          <p:cNvPr id="5" name="">
            <a:extLst>
              <a:ext uri="{FF2B5EF4-FFF2-40B4-BE49-F238E27FC236}">
                <ns2:creationId id="{14879811-86AA-49E1-BBF6-E19457F76290}"/>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추가 복습 · 새 문제</a:t>
            </a:r>
          </a:p>
        </p:txBody>
      </p:sp>
      <p:sp>
        <p:nvSpPr>
          <p:cNvPr id="6" name="">
            <a:extLst>
              <a:ext uri="{FF2B5EF4-FFF2-40B4-BE49-F238E27FC236}">
                <ns2:creationId id="{58848A2B-67AD-4EB9-BD49-501506DD0FBC}"/>
              </a:ext>
            </a:extLst>
          </p:cNvPr>
          <p:cNvSpPr>
            <a:spLocks noGrp="1"/>
          </p:cNvSpPr>
          <p:nvPr/>
        </p:nvSpPr>
        <p:spPr>
          <a:xfrm>
            <a:off x="6267450" y="2628900"/>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추가 복습: 5개 이하이면 보충 요청</a:t>
            </a:r>
          </a:p>
        </p:txBody>
      </p:sp>
      <p:sp>
        <p:nvSpPr>
          <p:cNvPr id="7" name="">
            <a:extLst>
              <a:ext uri="{FF2B5EF4-FFF2-40B4-BE49-F238E27FC236}">
                <ns2:creationId id="{44C8115D-90F5-47E5-A5F4-070D3B660E0C}"/>
              </a:ext>
            </a:extLst>
          </p:cNvPr>
          <p:cNvSpPr>
            <a:spLocks noGrp="1"/>
          </p:cNvSpPr>
          <p:nvPr/>
        </p:nvSpPr>
        <p:spPr>
          <a:xfrm>
            <a:off x="6267450" y="3116771"/>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입력 4·5·6·미확인의 결과를 적으세요.</a:t>
            </a:r>
          </a:p>
        </p:txBody>
      </p:sp>
      <p:sp>
        <p:nvSpPr>
          <p:cNvPr id="8" name="">
            <a:extLst>
              <a:ext uri="{FF2B5EF4-FFF2-40B4-BE49-F238E27FC236}">
                <ns2:creationId id="{0CDD1D4B-1D9D-4CC6-A6D8-1D68B9D86930}"/>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A2096602-6025-4277-A102-6633D5645646}"/>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E6DE1E26-8534-413B-B27C-BA01DC37D802}"/>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E2410115-0B28-465B-86F0-5D7EB5B15DE0}"/>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89A4B2DB-A60E-4AC1-917B-7082BB11D83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064</a:t>
            </a:r>
          </a:p>
        </p:txBody>
      </p:sp>
    </p:spTree>
    <p:extLst>
      <p:ext uri="{BB962C8B-B14F-4D97-AF65-F5344CB8AC3E}">
        <ns4:creationId val="842827037"/>
      </p:ext>
    </p:extLst>
  </p:cSld>
</p:sld>
</file>

<file path=ppt/slides/slide6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2EC611B1-352F-40C7-BCD6-7B5EEEBA571E}"/>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1B0C902C-4E23-475C-A22B-691F75DADEE6}"/>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먼저 할 일 · 경계와 미측정</a:t>
            </a:r>
          </a:p>
        </p:txBody>
      </p:sp>
      <p:sp>
        <p:nvSpPr>
          <p:cNvPr id="3" name="">
            <a:extLst>
              <a:ext uri="{FF2B5EF4-FFF2-40B4-BE49-F238E27FC236}">
                <ns2:creationId id="{3CB39F6C-41E6-4DE3-9C0D-08A383817436}"/>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A10에서 &gt;와 &gt;=를 비교합니다.</a:t>
            </a:r>
          </a:p>
        </p:txBody>
      </p:sp>
      <p:sp>
        <p:nvSpPr>
          <p:cNvPr id="4" name="">
            <a:extLst>
              <a:ext uri="{FF2B5EF4-FFF2-40B4-BE49-F238E27FC236}">
                <ns2:creationId id="{B1472550-9E81-422C-9DDB-05669E27B172}"/>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A12에서 None 갈래를 먼저 확인합니다.</a:t>
            </a:r>
          </a:p>
        </p:txBody>
      </p:sp>
      <p:sp>
        <p:nvSpPr>
          <p:cNvPr id="5" name="">
            <a:extLst>
              <a:ext uri="{FF2B5EF4-FFF2-40B4-BE49-F238E27FC236}">
                <ns2:creationId id="{D76C8205-F3CA-47B6-8C1F-FB8FDC7958A6}"/>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5D0303BC-3BBB-4C7C-9C30-1616E76B99B4}"/>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9D4B87C9-9074-439B-8347-332D04660BB8}"/>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A57F9FCB-B85E-49FD-9A62-F956A16F5014}"/>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0241F258-E519-4072-A551-7664C2D75B5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065</a:t>
            </a:r>
          </a:p>
        </p:txBody>
      </p:sp>
    </p:spTree>
    <p:extLst>
      <p:ext uri="{BB962C8B-B14F-4D97-AF65-F5344CB8AC3E}">
        <ns4:creationId val="2052108137"/>
      </p:ext>
    </p:extLst>
  </p:cSld>
</p:sld>
</file>

<file path=ppt/slides/slide6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B8F017D4-EBEC-4088-92E0-3322ADF5173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90E9D735-0421-4671-98B3-C0BB50D660E1}"/>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4교시 확인</a:t>
            </a:r>
          </a:p>
        </p:txBody>
      </p:sp>
      <p:sp>
        <p:nvSpPr>
          <p:cNvPr id="3" name="">
            <a:extLst>
              <a:ext uri="{FF2B5EF4-FFF2-40B4-BE49-F238E27FC236}">
                <ns2:creationId id="{428BF2D8-7C09-4A68-B44F-FC92724E8307}"/>
              </a:ext>
            </a:extLst>
          </p:cNvPr>
          <p:cNvSpPr>
            <a:spLocks noGrp="1"/>
          </p:cNvSpPr>
          <p:nvPr/>
        </p:nvSpPr>
        <p:spPr>
          <a:xfrm>
            <a:off x="685800" y="193357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이상은 경계를 포함하고 초과는 제외합니다.</a:t>
            </a:r>
          </a:p>
        </p:txBody>
      </p:sp>
      <p:sp>
        <p:nvSpPr>
          <p:cNvPr id="4" name="">
            <a:extLst>
              <a:ext uri="{FF2B5EF4-FFF2-40B4-BE49-F238E27FC236}">
                <ns2:creationId id="{90754633-85D0-4751-AFEB-BA38316EDDA6}"/>
              </a:ext>
            </a:extLst>
          </p:cNvPr>
          <p:cNvSpPr>
            <a:spLocks noGrp="1"/>
          </p:cNvSpPr>
          <p:nvPr/>
        </p:nvSpPr>
        <p:spPr>
          <a:xfrm>
            <a:off x="685800" y="276987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=는 대입, ==는 같은지 비교입니다.</a:t>
            </a:r>
          </a:p>
        </p:txBody>
      </p:sp>
      <p:sp>
        <p:nvSpPr>
          <p:cNvPr id="5" name="">
            <a:extLst>
              <a:ext uri="{FF2B5EF4-FFF2-40B4-BE49-F238E27FC236}">
                <ns2:creationId id="{871AA8D2-4C03-4FEB-B1A9-8F04FB806F36}"/>
              </a:ext>
            </a:extLst>
          </p:cNvPr>
          <p:cNvSpPr>
            <a:spLocks noGrp="1"/>
          </p:cNvSpPr>
          <p:nvPr/>
        </p:nvSpPr>
        <p:spPr>
          <a:xfrm>
            <a:off x="685800" y="326898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경계 아래·경계·경계 위를 확인합니다.</a:t>
            </a:r>
          </a:p>
        </p:txBody>
      </p:sp>
      <p:sp>
        <p:nvSpPr>
          <p:cNvPr id="6" name="">
            <a:extLst>
              <a:ext uri="{FF2B5EF4-FFF2-40B4-BE49-F238E27FC236}">
                <ns2:creationId id="{9C12A37C-EC70-4AC6-8F99-C9048400219D}"/>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경계값 24.0에서 비교하기</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3200241"/>
                <a:gridCol w="2038509"/>
              </a:tblGrid>
              <a:tr h="514350">
                <a:tc>
                  <a:txBody>
                    <a:bodyPr wrap="square"/>
                    <a:lstStyle/>
                    <a:p>
                      <a:pPr>
                        <a:lnSpc>
                          <a:spcPct val="102000"/>
                        </a:lnSpc>
                        <a:buNone/>
                      </a:pPr>
                      <a:r>
                        <a:rPr sz="1875" b="1">
                          <a:solidFill>
                            <a:srgbClr val="172F39"/>
                          </a:solidFill>
                          <a:latin typeface="Noto Sans KR"/>
                          <a:ea typeface="Noto Sans KR"/>
                          <a:cs typeface="Noto Sans KR"/>
                        </a:rPr>
                        <a:t>질문</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결과</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24.0 &gt; 24.0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False</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24.0 &gt;= 24.0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True</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24.0 == 24.0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True</a:t>
                      </a:r>
                    </a:p>
                  </a:txBody>
                  <a:tcPr marL="114300" marR="114300" marT="76200" marB="76200" anchor="ctr">
                    <a:solidFill>
                      <a:srgbClr val="FFFFFF"/>
                    </a:solidFill>
                  </a:tcPr>
                </a:tc>
              </a:tr>
            </a:tbl>
          </a:graphicData>
        </a:graphic>
      </p:graphicFrame>
      <p:sp>
        <p:nvSpPr>
          <p:cNvPr id="8" name="">
            <a:extLst>
              <a:ext uri="{FF2B5EF4-FFF2-40B4-BE49-F238E27FC236}">
                <ns2:creationId id="{DEBAC14B-4F1D-438C-9872-C3238CF81388}"/>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8353FFBC-AF24-4A72-9492-614C16C6040D}"/>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064D0CA9-46E0-44C9-820B-FACE3F7DB139}"/>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766D30D2-E714-450F-807B-F70B63C95AD4}"/>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D3B77CD6-3107-41E8-814C-4DB559857886}"/>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066</a:t>
            </a:r>
          </a:p>
        </p:txBody>
      </p:sp>
    </p:spTree>
    <p:extLst>
      <p:ext uri="{BB962C8B-B14F-4D97-AF65-F5344CB8AC3E}">
        <ns4:creationId val="2025451104"/>
      </p:ext>
    </p:extLst>
  </p:cSld>
</p:sld>
</file>

<file path=ppt/slides/slide6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420A50A0-EA21-4AFA-AC41-A780854FF34C}"/>
              </a:ext>
            </a:extLst>
          </p:cNvPr>
          <p:cNvSpPr>
            <a:spLocks noGrp="1"/>
          </p:cNvSpPr>
          <p:nvPr/>
        </p:nvSpPr>
        <p:spPr>
          <a:xfrm>
            <a:off x="685800" y="657225"/>
            <a:ext cx="10820400" cy="400050"/>
          </a:xfrm>
          <a:prstGeom prst="rect">
            <a:avLst/>
          </a:prstGeom>
          <a:noFill/>
          <a:ln w="0">
            <a:noFill/>
          </a:ln>
        </p:spPr>
        <p:txBody>
          <a:bodyPr wrap="square" lIns="0" tIns="0" rIns="0" bIns="0">
            <a:noAutofit/>
          </a:bodyPr>
          <a:lstStyle/>
          <a:p>
            <a:pPr>
              <a:defRPr sz="1950" b="1">
                <a:solidFill>
                  <a:srgbClr val="08786F"/>
                </a:solidFill>
                <a:latin typeface="Noto Sans KR"/>
                <a:ea typeface="Noto Sans KR"/>
                <a:cs typeface="Noto Sans KR"/>
              </a:defRPr>
            </a:pPr>
            <a:r>
              <a:t>5교시</a:t>
            </a:r>
          </a:p>
        </p:txBody>
      </p:sp>
      <p:sp>
        <p:nvSpPr>
          <p:cNvPr id="2" name="">
            <a:extLst>
              <a:ext uri="{FF2B5EF4-FFF2-40B4-BE49-F238E27FC236}">
                <ns2:creationId id="{05C65FDB-E2D8-4527-8C3F-E2B5AF06D10D}"/>
              </a:ext>
            </a:extLst>
          </p:cNvPr>
          <p:cNvSpPr>
            <a:spLocks noGrp="1"/>
          </p:cNvSpPr>
          <p:nvPr/>
        </p:nvSpPr>
        <p:spPr>
          <a:xfrm>
            <a:off x="685800" y="1552575"/>
            <a:ext cx="10668000" cy="1905000"/>
          </a:xfrm>
          <a:prstGeom prst="rect">
            <a:avLst/>
          </a:prstGeom>
          <a:noFill/>
          <a:ln w="0">
            <a:noFill/>
          </a:ln>
        </p:spPr>
        <p:txBody>
          <a:bodyPr wrap="square" lIns="0" tIns="0" rIns="0" bIns="0">
            <a:noAutofit/>
          </a:bodyPr>
          <a:lstStyle/>
          <a:p>
            <a:pPr>
              <a:defRPr sz="4725" b="1">
                <a:solidFill>
                  <a:srgbClr val="172F39"/>
                </a:solidFill>
                <a:latin typeface="Noto Sans KR"/>
                <a:ea typeface="Noto Sans KR"/>
                <a:cs typeface="Noto Sans KR"/>
              </a:defRPr>
            </a:pPr>
            <a:r>
              <a:t>여러 기록을 반복하기</a:t>
            </a:r>
          </a:p>
        </p:txBody>
      </p:sp>
      <p:sp>
        <p:nvSpPr>
          <p:cNvPr id="3" name="">
            <a:extLst>
              <a:ext uri="{FF2B5EF4-FFF2-40B4-BE49-F238E27FC236}">
                <ns2:creationId id="{00E45DE5-17C1-4761-8AAE-5C6BC3686F5C}"/>
              </a:ext>
            </a:extLst>
          </p:cNvPr>
          <p:cNvSpPr>
            <a:spLocks noGrp="1"/>
          </p:cNvSpPr>
          <p:nvPr/>
        </p:nvSpPr>
        <p:spPr>
          <a:xfrm>
            <a:off x="723900" y="3638550"/>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15:00~15:50 · 50분</a:t>
            </a:r>
          </a:p>
        </p:txBody>
      </p:sp>
      <p:sp>
        <p:nvSpPr>
          <p:cNvPr id="4" name="">
            <a:extLst>
              <a:ext uri="{FF2B5EF4-FFF2-40B4-BE49-F238E27FC236}">
                <ns2:creationId id="{CA3F45ED-5D3D-4BCB-9D00-3D9196AE88DA}"/>
              </a:ext>
            </a:extLst>
          </p:cNvPr>
          <p:cNvSpPr>
            <a:spLocks noGrp="1"/>
          </p:cNvSpPr>
          <p:nvPr/>
        </p:nvSpPr>
        <p:spPr>
          <a:xfrm>
            <a:off x="723900" y="4160139"/>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먼저 할 활동: A13, A14, A15</a:t>
            </a:r>
          </a:p>
        </p:txBody>
      </p:sp>
      <p:sp>
        <p:nvSpPr>
          <p:cNvPr id="5" name="">
            <a:extLst>
              <a:ext uri="{FF2B5EF4-FFF2-40B4-BE49-F238E27FC236}">
                <ns2:creationId id="{E5805F47-35A7-4A92-858F-D964D3C3B9EE}"/>
              </a:ext>
            </a:extLst>
          </p:cNvPr>
          <p:cNvSpPr>
            <a:spLocks noGrp="1"/>
          </p:cNvSpPr>
          <p:nvPr/>
        </p:nvSpPr>
        <p:spPr>
          <a:xfrm>
            <a:off x="723900" y="4681728"/>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필수 활동을 마쳤으면 추가 문제를 풀어 보세요.</a:t>
            </a:r>
          </a:p>
        </p:txBody>
      </p:sp>
      <p:sp>
        <p:nvSpPr>
          <p:cNvPr id="6" name="">
            <a:extLst>
              <a:ext uri="{FF2B5EF4-FFF2-40B4-BE49-F238E27FC236}">
                <ns2:creationId id="{724C317F-35D9-4B01-B1E2-5D97AFE5E87E}"/>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7B05B3EC-BFA5-4334-99D5-3F752F26777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3D63D34F-84A8-4C23-8FB5-87CB5970161D}"/>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86749864-DC7A-4011-A7ED-A8AF5AE4B617}"/>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965A061E-80FE-4DE1-9235-8CA1118C803F}"/>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067</a:t>
            </a:r>
          </a:p>
        </p:txBody>
      </p:sp>
    </p:spTree>
    <p:extLst>
      <p:ext uri="{BB962C8B-B14F-4D97-AF65-F5344CB8AC3E}">
        <ns4:creationId val="299845926"/>
      </p:ext>
    </p:extLst>
  </p:cSld>
</p:sld>
</file>

<file path=ppt/slides/slide6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21" name="">
            <a:extLst>
              <a:ext uri="{FF2B5EF4-FFF2-40B4-BE49-F238E27FC236}">
                <ns2:creationId id="{5CAAC99E-E747-4DCB-9EBB-80E66CA47695}"/>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179F2A32-F36C-49AD-BFAC-7BEBDBEBA946}"/>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완성 예 · 목록과 위치</a:t>
            </a:r>
          </a:p>
        </p:txBody>
      </p:sp>
      <p:sp>
        <p:nvSpPr>
          <p:cNvPr id="3" name="">
            <a:extLst>
              <a:ext uri="{FF2B5EF4-FFF2-40B4-BE49-F238E27FC236}">
                <ns2:creationId id="{4A81FDEF-0125-4011-8122-30CCCE766634}"/>
              </a:ext>
            </a:extLst>
          </p:cNvPr>
          <p:cNvSpPr>
            <a:spLocks noGrp="1"/>
          </p:cNvSpPr>
          <p:nvPr/>
        </p:nvSpPr>
        <p:spPr>
          <a:xfrm>
            <a:off x="685800" y="1809750"/>
            <a:ext cx="10820400" cy="2225802"/>
          </a:xfrm>
          <a:prstGeom prst="rect">
            <a:avLst/>
          </a:prstGeom>
          <a:solidFill>
            <a:srgbClr val="F1F6F5"/>
          </a:solidFill>
          <a:ln w="0">
            <a:noFill/>
          </a:ln>
        </p:spPr>
      </p:sp>
      <p:sp>
        <p:nvSpPr>
          <p:cNvPr id="4" name="">
            <a:extLst>
              <a:ext uri="{FF2B5EF4-FFF2-40B4-BE49-F238E27FC236}">
                <ns2:creationId id="{68185ACA-49B1-4076-8956-20BA97EDCB96}"/>
              </a:ext>
            </a:extLst>
          </p:cNvPr>
          <p:cNvSpPr>
            <a:spLocks noGrp="1"/>
          </p:cNvSpPr>
          <p:nvPr/>
        </p:nvSpPr>
        <p:spPr>
          <a:xfrm>
            <a:off x="828675" y="197167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5" name="">
            <a:extLst>
              <a:ext uri="{FF2B5EF4-FFF2-40B4-BE49-F238E27FC236}">
                <ns2:creationId id="{91F2AC85-F70E-4460-B1F0-4754783063F8}"/>
              </a:ext>
            </a:extLst>
          </p:cNvPr>
          <p:cNvSpPr>
            <a:spLocks noGrp="1"/>
          </p:cNvSpPr>
          <p:nvPr/>
        </p:nvSpPr>
        <p:spPr>
          <a:xfrm>
            <a:off x="1276350" y="193357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temperatures = [22.5, 24.0, 23.5]</a:t>
            </a:r>
          </a:p>
        </p:txBody>
      </p:sp>
      <p:sp>
        <p:nvSpPr>
          <p:cNvPr id="6" name="">
            <a:extLst>
              <a:ext uri="{FF2B5EF4-FFF2-40B4-BE49-F238E27FC236}">
                <ns2:creationId id="{1015563A-9BDD-49A6-B5C5-9C8AC0048B8F}"/>
              </a:ext>
            </a:extLst>
          </p:cNvPr>
          <p:cNvSpPr>
            <a:spLocks noGrp="1"/>
          </p:cNvSpPr>
          <p:nvPr/>
        </p:nvSpPr>
        <p:spPr>
          <a:xfrm>
            <a:off x="828675" y="228866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7" name="">
            <a:extLst>
              <a:ext uri="{FF2B5EF4-FFF2-40B4-BE49-F238E27FC236}">
                <ns2:creationId id="{F3980052-402A-47C4-B10E-FB5AE2840346}"/>
              </a:ext>
            </a:extLst>
          </p:cNvPr>
          <p:cNvSpPr>
            <a:spLocks noGrp="1"/>
          </p:cNvSpPr>
          <p:nvPr/>
        </p:nvSpPr>
        <p:spPr>
          <a:xfrm>
            <a:off x="1276350" y="225056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print(temperatures[0])</a:t>
            </a:r>
          </a:p>
        </p:txBody>
      </p:sp>
      <p:sp>
        <p:nvSpPr>
          <p:cNvPr id="8" name="">
            <a:extLst>
              <a:ext uri="{FF2B5EF4-FFF2-40B4-BE49-F238E27FC236}">
                <ns2:creationId id="{AA17D320-8A1D-4E40-B033-E8FA3FA54D81}"/>
              </a:ext>
            </a:extLst>
          </p:cNvPr>
          <p:cNvSpPr>
            <a:spLocks noGrp="1"/>
          </p:cNvSpPr>
          <p:nvPr/>
        </p:nvSpPr>
        <p:spPr>
          <a:xfrm>
            <a:off x="828675" y="260565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9" name="">
            <a:extLst>
              <a:ext uri="{FF2B5EF4-FFF2-40B4-BE49-F238E27FC236}">
                <ns2:creationId id="{3C58F6A5-A5C9-47DF-B906-06FAB406DD58}"/>
              </a:ext>
            </a:extLst>
          </p:cNvPr>
          <p:cNvSpPr>
            <a:spLocks noGrp="1"/>
          </p:cNvSpPr>
          <p:nvPr/>
        </p:nvSpPr>
        <p:spPr>
          <a:xfrm>
            <a:off x="1276350" y="2567559"/>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print(len(temperatures))</a:t>
            </a:r>
          </a:p>
        </p:txBody>
      </p:sp>
      <p:sp>
        <p:nvSpPr>
          <p:cNvPr id="10" name="">
            <a:extLst>
              <a:ext uri="{FF2B5EF4-FFF2-40B4-BE49-F238E27FC236}">
                <ns2:creationId id="{A2F3FFDA-9A34-4153-B953-909567AE5E07}"/>
              </a:ext>
            </a:extLst>
          </p:cNvPr>
          <p:cNvSpPr>
            <a:spLocks noGrp="1"/>
          </p:cNvSpPr>
          <p:nvPr/>
        </p:nvSpPr>
        <p:spPr>
          <a:xfrm>
            <a:off x="828675" y="2922651"/>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1" name="">
            <a:extLst>
              <a:ext uri="{FF2B5EF4-FFF2-40B4-BE49-F238E27FC236}">
                <ns2:creationId id="{22093524-3A51-45CB-AC35-96D55926F513}"/>
              </a:ext>
            </a:extLst>
          </p:cNvPr>
          <p:cNvSpPr>
            <a:spLocks noGrp="1"/>
          </p:cNvSpPr>
          <p:nvPr/>
        </p:nvSpPr>
        <p:spPr>
          <a:xfrm>
            <a:off x="1276350" y="2884551"/>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temperatures.append(25.0)</a:t>
            </a:r>
          </a:p>
        </p:txBody>
      </p:sp>
      <p:sp>
        <p:nvSpPr>
          <p:cNvPr id="12" name="">
            <a:extLst>
              <a:ext uri="{FF2B5EF4-FFF2-40B4-BE49-F238E27FC236}">
                <ns2:creationId id="{39424A36-382B-4E11-A4AF-B24C254085B9}"/>
              </a:ext>
            </a:extLst>
          </p:cNvPr>
          <p:cNvSpPr>
            <a:spLocks noGrp="1"/>
          </p:cNvSpPr>
          <p:nvPr/>
        </p:nvSpPr>
        <p:spPr>
          <a:xfrm>
            <a:off x="828675" y="323964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05</a:t>
            </a:r>
          </a:p>
        </p:txBody>
      </p:sp>
      <p:sp>
        <p:nvSpPr>
          <p:cNvPr id="13" name="">
            <a:extLst>
              <a:ext uri="{FF2B5EF4-FFF2-40B4-BE49-F238E27FC236}">
                <ns2:creationId id="{9F4CC16E-2553-41FD-AC34-81D2F565255B}"/>
              </a:ext>
            </a:extLst>
          </p:cNvPr>
          <p:cNvSpPr>
            <a:spLocks noGrp="1"/>
          </p:cNvSpPr>
          <p:nvPr/>
        </p:nvSpPr>
        <p:spPr>
          <a:xfrm>
            <a:off x="1276350" y="3201543"/>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print(len(temperatures))</a:t>
            </a:r>
          </a:p>
        </p:txBody>
      </p:sp>
      <p:sp>
        <p:nvSpPr>
          <p:cNvPr id="14" name="">
            <a:extLst>
              <a:ext uri="{FF2B5EF4-FFF2-40B4-BE49-F238E27FC236}">
                <ns2:creationId id="{94329B75-C74E-4014-831A-4CA90DEB484A}"/>
              </a:ext>
            </a:extLst>
          </p:cNvPr>
          <p:cNvSpPr>
            <a:spLocks noGrp="1"/>
          </p:cNvSpPr>
          <p:nvPr/>
        </p:nvSpPr>
        <p:spPr>
          <a:xfrm>
            <a:off x="828675" y="355663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06</a:t>
            </a:r>
          </a:p>
        </p:txBody>
      </p:sp>
      <p:sp>
        <p:nvSpPr>
          <p:cNvPr id="15" name="">
            <a:extLst>
              <a:ext uri="{FF2B5EF4-FFF2-40B4-BE49-F238E27FC236}">
                <ns2:creationId id="{8222A2E5-BFB7-4D05-86E7-5DFB51DBD780}"/>
              </a:ext>
            </a:extLst>
          </p:cNvPr>
          <p:cNvSpPr>
            <a:spLocks noGrp="1"/>
          </p:cNvSpPr>
          <p:nvPr/>
        </p:nvSpPr>
        <p:spPr>
          <a:xfrm>
            <a:off x="1276350" y="351853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print(temperatures[3])</a:t>
            </a:r>
          </a:p>
        </p:txBody>
      </p:sp>
      <p:sp>
        <p:nvSpPr>
          <p:cNvPr id="16" name="">
            <a:extLst>
              <a:ext uri="{FF2B5EF4-FFF2-40B4-BE49-F238E27FC236}">
                <ns2:creationId id="{23E49AE9-D6C0-4DA0-9D11-974373244388}"/>
              </a:ext>
            </a:extLst>
          </p:cNvPr>
          <p:cNvSpPr>
            <a:spLocks noGrp="1"/>
          </p:cNvSpPr>
          <p:nvPr/>
        </p:nvSpPr>
        <p:spPr>
          <a:xfrm>
            <a:off x="685800" y="6172200"/>
            <a:ext cx="10820400" cy="9525"/>
          </a:xfrm>
          <a:prstGeom prst="rect">
            <a:avLst/>
          </a:prstGeom>
          <a:solidFill>
            <a:srgbClr val="D5DEDD"/>
          </a:solidFill>
          <a:ln w="0">
            <a:noFill/>
          </a:ln>
        </p:spPr>
      </p:sp>
      <p:sp>
        <p:nvSpPr>
          <p:cNvPr id="17" name="">
            <a:extLst>
              <a:ext uri="{FF2B5EF4-FFF2-40B4-BE49-F238E27FC236}">
                <ns2:creationId id="{215732D7-891F-4A53-B08B-BB566AB6E6E4}"/>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8" name="">
            <a:extLst>
              <a:ext uri="{FF2B5EF4-FFF2-40B4-BE49-F238E27FC236}">
                <ns2:creationId id="{A9773B97-D7AF-4960-B5CF-FA583EE57A84}"/>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9" name="">
            <a:extLst>
              <a:ext uri="{FF2B5EF4-FFF2-40B4-BE49-F238E27FC236}">
                <ns2:creationId id="{424BEC21-7631-4B73-BF75-DAC6969DE45C}"/>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20" name="">
            <a:extLst>
              <a:ext uri="{FF2B5EF4-FFF2-40B4-BE49-F238E27FC236}">
                <ns2:creationId id="{FF719BD1-AF87-44BD-A166-994F677313D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068</a:t>
            </a:r>
          </a:p>
        </p:txBody>
      </p:sp>
    </p:spTree>
    <p:extLst>
      <p:ext uri="{BB962C8B-B14F-4D97-AF65-F5344CB8AC3E}">
        <ns4:creationId val="561999759"/>
      </p:ext>
    </p:extLst>
  </p:cSld>
</p:sld>
</file>

<file path=ppt/slides/slide6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9" name="">
            <a:extLst>
              <a:ext uri="{FF2B5EF4-FFF2-40B4-BE49-F238E27FC236}">
                <ns2:creationId id="{CE1D7D5E-36B2-4392-A0BA-DFD96DF1B06D}"/>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27DCC86F-0020-4EB7-8D37-5FEE2448EF20}"/>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리스트 위치의 약속</a:t>
            </a:r>
          </a:p>
        </p:txBody>
      </p:sp>
      <p:graphicFrame>
        <p:nvGraphicFramePr>
          <p:cNvPr id="11" name=""/>
          <p:cNvGraphicFramePr/>
          <p:nvPr/>
        </p:nvGraphicFramePr>
        <p:xfrm>
          <a:off x="685800" y="1809750"/>
          <a:ext cx="10820400" cy="2145792"/>
        </p:xfrm>
        <a:graphic>
          <a:graphicData uri="http://schemas.openxmlformats.org/drawingml/2006/table">
            <a:tbl>
              <a:tblPr firstRow="1" bandRow="0"/>
              <a:tblGrid>
                <a:gridCol w="5808009"/>
                <a:gridCol w="5012391"/>
              </a:tblGrid>
              <a:tr h="536448">
                <a:tc>
                  <a:txBody>
                    <a:bodyPr wrap="square"/>
                    <a:lstStyle/>
                    <a:p>
                      <a:pPr>
                        <a:lnSpc>
                          <a:spcPct val="102000"/>
                        </a:lnSpc>
                        <a:buNone/>
                      </a:pPr>
                      <a:r>
                        <a:rPr sz="2025" b="1">
                          <a:solidFill>
                            <a:srgbClr val="172F39"/>
                          </a:solidFill>
                          <a:latin typeface="Noto Sans KR"/>
                          <a:ea typeface="Noto Sans KR"/>
                          <a:cs typeface="Noto Sans KR"/>
                        </a:rPr>
                        <a:t>위치 번호</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처음 값</a:t>
                      </a:r>
                    </a:p>
                  </a:txBody>
                  <a:tcPr marL="114300" marR="114300" marT="76200" marB="76200" anchor="ctr">
                    <a:solidFill>
                      <a:srgbClr val="DCECE8"/>
                    </a:solidFill>
                  </a:tcPr>
                </a:tc>
              </a:tr>
              <a:tr h="536448">
                <a:tc>
                  <a:txBody>
                    <a:bodyPr wrap="square"/>
                    <a:lstStyle/>
                    <a:p>
                      <a:pPr>
                        <a:lnSpc>
                          <a:spcPct val="102000"/>
                        </a:lnSpc>
                        <a:buNone/>
                      </a:pPr>
                      <a:r>
                        <a:rPr sz="2025" b="0">
                          <a:solidFill>
                            <a:srgbClr val="172F39"/>
                          </a:solidFill>
                          <a:latin typeface="Noto Sans KR"/>
                          <a:ea typeface="Noto Sans KR"/>
                          <a:cs typeface="Noto Sans KR"/>
                        </a:rPr>
                        <a:t>0</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22.5</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1</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24.0</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2</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23.5</a:t>
                      </a:r>
                    </a:p>
                  </a:txBody>
                  <a:tcPr marL="114300" marR="114300" marT="76200" marB="76200" anchor="ctr">
                    <a:solidFill>
                      <a:srgbClr val="FFFFFF"/>
                    </a:solidFill>
                  </a:tcPr>
                </a:tc>
              </a:tr>
            </a:tbl>
          </a:graphicData>
        </a:graphic>
      </p:graphicFrame>
      <p:sp>
        <p:nvSpPr>
          <p:cNvPr id="4" name="">
            <a:extLst>
              <a:ext uri="{FF2B5EF4-FFF2-40B4-BE49-F238E27FC236}">
                <ns2:creationId id="{E735636A-1E4F-47E9-8A53-17703ABE08A8}"/>
              </a:ext>
            </a:extLst>
          </p:cNvPr>
          <p:cNvSpPr>
            <a:spLocks noGrp="1"/>
          </p:cNvSpPr>
          <p:nvPr/>
        </p:nvSpPr>
        <p:spPr>
          <a:xfrm>
            <a:off x="685800" y="6172200"/>
            <a:ext cx="10820400" cy="9525"/>
          </a:xfrm>
          <a:prstGeom prst="rect">
            <a:avLst/>
          </a:prstGeom>
          <a:solidFill>
            <a:srgbClr val="D5DEDD"/>
          </a:solidFill>
          <a:ln w="0">
            <a:noFill/>
          </a:ln>
        </p:spPr>
      </p:sp>
      <p:sp>
        <p:nvSpPr>
          <p:cNvPr id="5" name="">
            <a:extLst>
              <a:ext uri="{FF2B5EF4-FFF2-40B4-BE49-F238E27FC236}">
                <ns2:creationId id="{74095A52-6E87-4F2B-85BA-1CE73C27433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6" name="">
            <a:extLst>
              <a:ext uri="{FF2B5EF4-FFF2-40B4-BE49-F238E27FC236}">
                <ns2:creationId id="{87F47F94-961F-4AA8-AC99-E327BE70FD1D}"/>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7" name="">
            <a:extLst>
              <a:ext uri="{FF2B5EF4-FFF2-40B4-BE49-F238E27FC236}">
                <ns2:creationId id="{D1688F03-BCD0-4825-BDE1-C41A8CD7677A}"/>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8" name="">
            <a:extLst>
              <a:ext uri="{FF2B5EF4-FFF2-40B4-BE49-F238E27FC236}">
                <ns2:creationId id="{F98A9DB4-8F77-4E1F-B051-DBFC6D599E6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069</a:t>
            </a:r>
          </a:p>
        </p:txBody>
      </p:sp>
    </p:spTree>
    <p:extLst>
      <p:ext uri="{BB962C8B-B14F-4D97-AF65-F5344CB8AC3E}">
        <ns4:creationId val="1857093051"/>
      </p:ext>
    </p:extLst>
  </p:cSld>
</p:sld>
</file>

<file path=ppt/slides/slide7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F802BBCF-A57E-4654-8FA5-4A1BFC1BF641}"/>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58E4E6E1-45A2-4243-828E-29401BEAF032}"/>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길이와 마지막 위치는 다릅니다</a:t>
            </a:r>
          </a:p>
        </p:txBody>
      </p:sp>
      <p:sp>
        <p:nvSpPr>
          <p:cNvPr id="3" name="">
            <a:extLst>
              <a:ext uri="{FF2B5EF4-FFF2-40B4-BE49-F238E27FC236}">
                <ns2:creationId id="{E75503E0-1DAB-4420-9799-D68B3E4519B3}"/>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항목 수 3</a:t>
            </a:r>
          </a:p>
        </p:txBody>
      </p:sp>
      <p:sp>
        <p:nvSpPr>
          <p:cNvPr id="4" name="">
            <a:extLst>
              <a:ext uri="{FF2B5EF4-FFF2-40B4-BE49-F238E27FC236}">
                <ns2:creationId id="{B66D0D54-F743-47F1-8B47-A81E668F787B}"/>
              </a:ext>
            </a:extLst>
          </p:cNvPr>
          <p:cNvSpPr>
            <a:spLocks noGrp="1"/>
          </p:cNvSpPr>
          <p:nvPr/>
        </p:nvSpPr>
        <p:spPr>
          <a:xfrm>
            <a:off x="685800" y="2447925"/>
            <a:ext cx="4953000" cy="473964"/>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처음 항목 수는 3개입니다.</a:t>
            </a:r>
          </a:p>
        </p:txBody>
      </p:sp>
      <p:sp>
        <p:nvSpPr>
          <p:cNvPr id="5" name="">
            <a:extLst>
              <a:ext uri="{FF2B5EF4-FFF2-40B4-BE49-F238E27FC236}">
                <ns2:creationId id="{666B61B2-5D36-476F-9985-94E735B21B84}"/>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마지막 번호 2</a:t>
            </a:r>
          </a:p>
        </p:txBody>
      </p:sp>
      <p:sp>
        <p:nvSpPr>
          <p:cNvPr id="6" name="">
            <a:extLst>
              <a:ext uri="{FF2B5EF4-FFF2-40B4-BE49-F238E27FC236}">
                <ns2:creationId id="{7EA5C77C-1AEE-4C5E-9699-DED383736573}"/>
              </a:ext>
            </a:extLst>
          </p:cNvPr>
          <p:cNvSpPr>
            <a:spLocks noGrp="1"/>
          </p:cNvSpPr>
          <p:nvPr/>
        </p:nvSpPr>
        <p:spPr>
          <a:xfrm>
            <a:off x="6400800" y="2447925"/>
            <a:ext cx="4953000" cy="473964"/>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마지막 위치 번호는 2입니다.</a:t>
            </a:r>
          </a:p>
        </p:txBody>
      </p:sp>
      <p:sp>
        <p:nvSpPr>
          <p:cNvPr id="7" name="">
            <a:extLst>
              <a:ext uri="{FF2B5EF4-FFF2-40B4-BE49-F238E27FC236}">
                <ns2:creationId id="{F6EB006C-7180-49F8-87F6-617FBA8C187E}"/>
              </a:ext>
            </a:extLst>
          </p:cNvPr>
          <p:cNvSpPr>
            <a:spLocks noGrp="1"/>
          </p:cNvSpPr>
          <p:nvPr/>
        </p:nvSpPr>
        <p:spPr>
          <a:xfrm>
            <a:off x="685800" y="4943475"/>
            <a:ext cx="10820400" cy="9525"/>
          </a:xfrm>
          <a:prstGeom prst="rect">
            <a:avLst/>
          </a:prstGeom>
          <a:solidFill>
            <a:srgbClr val="D5DEDD"/>
          </a:solidFill>
          <a:ln w="0">
            <a:noFill/>
          </a:ln>
        </p:spPr>
      </p:sp>
      <p:sp>
        <p:nvSpPr>
          <p:cNvPr id="8" name="">
            <a:extLst>
              <a:ext uri="{FF2B5EF4-FFF2-40B4-BE49-F238E27FC236}">
                <ns2:creationId id="{1A77A01B-3E2D-4FBC-9359-1D8260A7E83B}"/>
              </a:ext>
            </a:extLst>
          </p:cNvPr>
          <p:cNvSpPr>
            <a:spLocks noGrp="1"/>
          </p:cNvSpPr>
          <p:nvPr/>
        </p:nvSpPr>
        <p:spPr>
          <a:xfrm>
            <a:off x="685800" y="5191125"/>
            <a:ext cx="10820400" cy="417767"/>
          </a:xfrm>
          <a:prstGeom prst="rect">
            <a:avLst/>
          </a:prstGeom>
          <a:noFill/>
          <a:ln w="0">
            <a:noFill/>
          </a:ln>
        </p:spPr>
        <p:txBody>
          <a:bodyPr wrap="square" lIns="0" tIns="0" rIns="0" bIns="0">
            <a:noAutofit/>
          </a:bodyPr>
          <a:lstStyle/>
          <a:p>
            <a:pPr>
              <a:defRPr sz="2025" b="1">
                <a:solidFill>
                  <a:srgbClr val="52636B"/>
                </a:solidFill>
                <a:latin typeface="Noto Sans KR"/>
                <a:ea typeface="Noto Sans KR"/>
                <a:cs typeface="Noto Sans KR"/>
              </a:defRPr>
            </a:pPr>
            <a:r>
              <a:t>append 뒤에는 4개, 마지막 번호는 3입니다.</a:t>
            </a:r>
          </a:p>
        </p:txBody>
      </p:sp>
      <p:sp>
        <p:nvSpPr>
          <p:cNvPr id="9" name="">
            <a:extLst>
              <a:ext uri="{FF2B5EF4-FFF2-40B4-BE49-F238E27FC236}">
                <ns2:creationId id="{12486EBA-73C0-4CBB-B75F-2F48C33BD5F6}"/>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3375D606-220C-4817-950D-DB758240ED2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6FF5DA8C-4114-4B00-A988-5C41490141E8}"/>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7328D43C-B4D2-4D98-8FC7-93875F7E5E8D}"/>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3248D729-763A-4968-A674-5C393484E2C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070</a:t>
            </a:r>
          </a:p>
        </p:txBody>
      </p:sp>
    </p:spTree>
    <p:extLst>
      <p:ext uri="{BB962C8B-B14F-4D97-AF65-F5344CB8AC3E}">
        <ns4:creationId val="1775280459"/>
      </p:ext>
    </p:extLst>
  </p:cSld>
</p:sld>
</file>

<file path=ppt/slides/slide7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7289F49A-8EE7-495A-ADCD-56A70FDBE49C}"/>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AF249BC2-BAED-4733-9D1A-86EC476E508F}"/>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없는 위치를 찾으면 어떻게 될까요?</a:t>
            </a:r>
          </a:p>
        </p:txBody>
      </p:sp>
      <p:sp>
        <p:nvSpPr>
          <p:cNvPr id="3" name="">
            <a:extLst>
              <a:ext uri="{FF2B5EF4-FFF2-40B4-BE49-F238E27FC236}">
                <ns2:creationId id="{E9466C78-8DEF-4D7F-8F57-68E83D090FF6}"/>
              </a:ext>
            </a:extLst>
          </p:cNvPr>
          <p:cNvSpPr>
            <a:spLocks noGrp="1"/>
          </p:cNvSpPr>
          <p:nvPr/>
        </p:nvSpPr>
        <p:spPr>
          <a:xfrm>
            <a:off x="685800" y="193357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길이 3인 목록에 위치 3은 없습니다.</a:t>
            </a:r>
          </a:p>
        </p:txBody>
      </p:sp>
      <p:sp>
        <p:nvSpPr>
          <p:cNvPr id="4" name="">
            <a:extLst>
              <a:ext uri="{FF2B5EF4-FFF2-40B4-BE49-F238E27FC236}">
                <ns2:creationId id="{A9231EED-DD6F-4C49-A559-C20C5CC6820E}"/>
              </a:ext>
            </a:extLst>
          </p:cNvPr>
          <p:cNvSpPr>
            <a:spLocks noGrp="1"/>
          </p:cNvSpPr>
          <p:nvPr/>
        </p:nvSpPr>
        <p:spPr>
          <a:xfrm>
            <a:off x="685800" y="243268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IndexError가 나면 길이와 위치를 확인합니다.</a:t>
            </a:r>
          </a:p>
        </p:txBody>
      </p:sp>
      <p:sp>
        <p:nvSpPr>
          <p:cNvPr id="5" name="">
            <a:extLst>
              <a:ext uri="{FF2B5EF4-FFF2-40B4-BE49-F238E27FC236}">
                <ns2:creationId id="{E88AD743-5BF7-4C6B-BD40-E83228673743}"/>
              </a:ext>
            </a:extLst>
          </p:cNvPr>
          <p:cNvSpPr>
            <a:spLocks noGrp="1"/>
          </p:cNvSpPr>
          <p:nvPr/>
        </p:nvSpPr>
        <p:spPr>
          <a:xfrm>
            <a:off x="685800" y="326898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항목을 추가한 시점도 확인합니다.</a:t>
            </a:r>
          </a:p>
        </p:txBody>
      </p:sp>
      <p:sp>
        <p:nvSpPr>
          <p:cNvPr id="6" name="">
            <a:extLst>
              <a:ext uri="{FF2B5EF4-FFF2-40B4-BE49-F238E27FC236}">
                <ns2:creationId id="{1E8D22C1-4723-4B31-8B7D-D959C7A36DF9}"/>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리스트 위치의 약속</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2811976"/>
                <a:gridCol w="2426774"/>
              </a:tblGrid>
              <a:tr h="514350">
                <a:tc>
                  <a:txBody>
                    <a:bodyPr wrap="square"/>
                    <a:lstStyle/>
                    <a:p>
                      <a:pPr>
                        <a:lnSpc>
                          <a:spcPct val="102000"/>
                        </a:lnSpc>
                        <a:buNone/>
                      </a:pPr>
                      <a:r>
                        <a:rPr sz="1875" b="1">
                          <a:solidFill>
                            <a:srgbClr val="172F39"/>
                          </a:solidFill>
                          <a:latin typeface="Noto Sans KR"/>
                          <a:ea typeface="Noto Sans KR"/>
                          <a:cs typeface="Noto Sans KR"/>
                        </a:rPr>
                        <a:t>위치 번호</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처음 값</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22.5</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1</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24.0</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2</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23.5</a:t>
                      </a:r>
                    </a:p>
                  </a:txBody>
                  <a:tcPr marL="114300" marR="114300" marT="76200" marB="76200" anchor="ctr">
                    <a:solidFill>
                      <a:srgbClr val="FFFFFF"/>
                    </a:solidFill>
                  </a:tcPr>
                </a:tc>
              </a:tr>
            </a:tbl>
          </a:graphicData>
        </a:graphic>
      </p:graphicFrame>
      <p:sp>
        <p:nvSpPr>
          <p:cNvPr id="8" name="">
            <a:extLst>
              <a:ext uri="{FF2B5EF4-FFF2-40B4-BE49-F238E27FC236}">
                <ns2:creationId id="{7EF2AC81-34AF-4AF9-82B3-E0F1DBAC7B7C}"/>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4C04D1E8-42F9-4DFF-AA79-D81ED64ADC4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19406E84-8C87-407B-9356-0BAA3BF096C4}"/>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4E2DD0CD-FBF8-4556-AD6D-C31AD8951F8F}"/>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171E7F9B-FB39-4913-A10D-30761027B599}"/>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071</a:t>
            </a:r>
          </a:p>
        </p:txBody>
      </p:sp>
    </p:spTree>
    <p:extLst>
      <p:ext uri="{BB962C8B-B14F-4D97-AF65-F5344CB8AC3E}">
        <ns4:creationId val="288803372"/>
      </p:ext>
    </p:extLst>
  </p:cSld>
</p:sld>
</file>

<file path=ppt/slides/slide7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7" name="">
            <a:extLst>
              <a:ext uri="{FF2B5EF4-FFF2-40B4-BE49-F238E27FC236}">
                <ns2:creationId id="{E238F55B-C1FC-4861-996E-DF42C063418E}"/>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CEE2BA43-E9AE-41BD-865E-76EFD1EDCF7A}"/>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완성 예 · 한 항목씩 읽기</a:t>
            </a:r>
          </a:p>
        </p:txBody>
      </p:sp>
      <p:sp>
        <p:nvSpPr>
          <p:cNvPr id="3" name="">
            <a:extLst>
              <a:ext uri="{FF2B5EF4-FFF2-40B4-BE49-F238E27FC236}">
                <ns2:creationId id="{73BA8372-F075-4D50-85FC-D7E4F790195A}"/>
              </a:ext>
            </a:extLst>
          </p:cNvPr>
          <p:cNvSpPr>
            <a:spLocks noGrp="1"/>
          </p:cNvSpPr>
          <p:nvPr/>
        </p:nvSpPr>
        <p:spPr>
          <a:xfrm>
            <a:off x="685800" y="1809750"/>
            <a:ext cx="10820400" cy="1591818"/>
          </a:xfrm>
          <a:prstGeom prst="rect">
            <a:avLst/>
          </a:prstGeom>
          <a:solidFill>
            <a:srgbClr val="F1F6F5"/>
          </a:solidFill>
          <a:ln w="0">
            <a:noFill/>
          </a:ln>
        </p:spPr>
      </p:sp>
      <p:sp>
        <p:nvSpPr>
          <p:cNvPr id="4" name="">
            <a:extLst>
              <a:ext uri="{FF2B5EF4-FFF2-40B4-BE49-F238E27FC236}">
                <ns2:creationId id="{2885FEBA-1369-4350-BA2C-A29980058593}"/>
              </a:ext>
            </a:extLst>
          </p:cNvPr>
          <p:cNvSpPr>
            <a:spLocks noGrp="1"/>
          </p:cNvSpPr>
          <p:nvPr/>
        </p:nvSpPr>
        <p:spPr>
          <a:xfrm>
            <a:off x="828675" y="197167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5" name="">
            <a:extLst>
              <a:ext uri="{FF2B5EF4-FFF2-40B4-BE49-F238E27FC236}">
                <ns2:creationId id="{354E3721-A688-4529-90BC-C782F8926E98}"/>
              </a:ext>
            </a:extLst>
          </p:cNvPr>
          <p:cNvSpPr>
            <a:spLocks noGrp="1"/>
          </p:cNvSpPr>
          <p:nvPr/>
        </p:nvSpPr>
        <p:spPr>
          <a:xfrm>
            <a:off x="1276350" y="193357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temperatures = [22.5, 24.0, 23.5]</a:t>
            </a:r>
          </a:p>
        </p:txBody>
      </p:sp>
      <p:sp>
        <p:nvSpPr>
          <p:cNvPr id="6" name="">
            <a:extLst>
              <a:ext uri="{FF2B5EF4-FFF2-40B4-BE49-F238E27FC236}">
                <ns2:creationId id="{D7EB8835-63F8-4444-9E76-C481E5EA2857}"/>
              </a:ext>
            </a:extLst>
          </p:cNvPr>
          <p:cNvSpPr>
            <a:spLocks noGrp="1"/>
          </p:cNvSpPr>
          <p:nvPr/>
        </p:nvSpPr>
        <p:spPr>
          <a:xfrm>
            <a:off x="828675" y="228866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7" name="">
            <a:extLst>
              <a:ext uri="{FF2B5EF4-FFF2-40B4-BE49-F238E27FC236}">
                <ns2:creationId id="{C787BAA5-221A-4000-BC12-3650167D0456}"/>
              </a:ext>
            </a:extLst>
          </p:cNvPr>
          <p:cNvSpPr>
            <a:spLocks noGrp="1"/>
          </p:cNvSpPr>
          <p:nvPr/>
        </p:nvSpPr>
        <p:spPr>
          <a:xfrm>
            <a:off x="1276350" y="225056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for temperature_c in temperatures:</a:t>
            </a:r>
          </a:p>
        </p:txBody>
      </p:sp>
      <p:sp>
        <p:nvSpPr>
          <p:cNvPr id="8" name="">
            <a:extLst>
              <a:ext uri="{FF2B5EF4-FFF2-40B4-BE49-F238E27FC236}">
                <ns2:creationId id="{CEC329EE-1932-4C7C-B0B7-83ED15E3FEAC}"/>
              </a:ext>
            </a:extLst>
          </p:cNvPr>
          <p:cNvSpPr>
            <a:spLocks noGrp="1"/>
          </p:cNvSpPr>
          <p:nvPr/>
        </p:nvSpPr>
        <p:spPr>
          <a:xfrm>
            <a:off x="828675" y="260565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9" name="">
            <a:extLst>
              <a:ext uri="{FF2B5EF4-FFF2-40B4-BE49-F238E27FC236}">
                <ns2:creationId id="{710C7667-ED68-432A-8E7D-6912820F0D37}"/>
              </a:ext>
            </a:extLst>
          </p:cNvPr>
          <p:cNvSpPr>
            <a:spLocks noGrp="1"/>
          </p:cNvSpPr>
          <p:nvPr/>
        </p:nvSpPr>
        <p:spPr>
          <a:xfrm>
            <a:off x="1276350" y="2567559"/>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    print(temperature_c)</a:t>
            </a:r>
          </a:p>
        </p:txBody>
      </p:sp>
      <p:sp>
        <p:nvSpPr>
          <p:cNvPr id="10" name="">
            <a:extLst>
              <a:ext uri="{FF2B5EF4-FFF2-40B4-BE49-F238E27FC236}">
                <ns2:creationId id="{DC961282-98BC-4CC2-A835-344D2F7A649F}"/>
              </a:ext>
            </a:extLst>
          </p:cNvPr>
          <p:cNvSpPr>
            <a:spLocks noGrp="1"/>
          </p:cNvSpPr>
          <p:nvPr/>
        </p:nvSpPr>
        <p:spPr>
          <a:xfrm>
            <a:off x="828675" y="2922651"/>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1" name="">
            <a:extLst>
              <a:ext uri="{FF2B5EF4-FFF2-40B4-BE49-F238E27FC236}">
                <ns2:creationId id="{5614BCC5-6D6C-4060-8D0D-A7F719D2DFE5}"/>
              </a:ext>
            </a:extLst>
          </p:cNvPr>
          <p:cNvSpPr>
            <a:spLocks noGrp="1"/>
          </p:cNvSpPr>
          <p:nvPr/>
        </p:nvSpPr>
        <p:spPr>
          <a:xfrm>
            <a:off x="1276350" y="2884551"/>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print("완료")</a:t>
            </a:r>
          </a:p>
        </p:txBody>
      </p:sp>
      <p:sp>
        <p:nvSpPr>
          <p:cNvPr id="12" name="">
            <a:extLst>
              <a:ext uri="{FF2B5EF4-FFF2-40B4-BE49-F238E27FC236}">
                <ns2:creationId id="{538DDAB3-F71B-4EF9-8BA6-44CAE2021814}"/>
              </a:ext>
            </a:extLst>
          </p:cNvPr>
          <p:cNvSpPr>
            <a:spLocks noGrp="1"/>
          </p:cNvSpPr>
          <p:nvPr/>
        </p:nvSpPr>
        <p:spPr>
          <a:xfrm>
            <a:off x="685800" y="6172200"/>
            <a:ext cx="10820400" cy="9525"/>
          </a:xfrm>
          <a:prstGeom prst="rect">
            <a:avLst/>
          </a:prstGeom>
          <a:solidFill>
            <a:srgbClr val="D5DEDD"/>
          </a:solidFill>
          <a:ln w="0">
            <a:noFill/>
          </a:ln>
        </p:spPr>
      </p:sp>
      <p:sp>
        <p:nvSpPr>
          <p:cNvPr id="13" name="">
            <a:extLst>
              <a:ext uri="{FF2B5EF4-FFF2-40B4-BE49-F238E27FC236}">
                <ns2:creationId id="{AB5D9A94-7E73-432D-9757-F6EBA8FE0CD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4" name="">
            <a:extLst>
              <a:ext uri="{FF2B5EF4-FFF2-40B4-BE49-F238E27FC236}">
                <ns2:creationId id="{93A48377-2CF9-4816-89C5-71A4C3A4D0B6}"/>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5" name="">
            <a:extLst>
              <a:ext uri="{FF2B5EF4-FFF2-40B4-BE49-F238E27FC236}">
                <ns2:creationId id="{6989CBF2-B981-4697-ABC1-6137917315D4}"/>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6" name="">
            <a:extLst>
              <a:ext uri="{FF2B5EF4-FFF2-40B4-BE49-F238E27FC236}">
                <ns2:creationId id="{92D8517E-B148-4D7E-8893-57B47F1AFE44}"/>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072</a:t>
            </a:r>
          </a:p>
        </p:txBody>
      </p:sp>
    </p:spTree>
    <p:extLst>
      <p:ext uri="{BB962C8B-B14F-4D97-AF65-F5344CB8AC3E}">
        <ns4:creationId val="1512606276"/>
      </p:ext>
    </p:extLst>
  </p:cSld>
</p:sld>
</file>

<file path=ppt/slides/slide7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21" name="">
            <a:extLst>
              <a:ext uri="{FF2B5EF4-FFF2-40B4-BE49-F238E27FC236}">
                <ns2:creationId id="{74D02153-3836-4D5C-AE7A-00E49578B84C}"/>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1C376C7A-F53C-406C-B4FA-2563F80B057B}"/>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for의 한 바퀴를 따라가기</a:t>
            </a:r>
          </a:p>
        </p:txBody>
      </p:sp>
      <p:sp>
        <p:nvSpPr>
          <p:cNvPr id="3" name="">
            <a:extLst>
              <a:ext uri="{FF2B5EF4-FFF2-40B4-BE49-F238E27FC236}">
                <ns2:creationId id="{219EA171-09CA-44DA-A15D-304908A8A4B7}"/>
              </a:ext>
            </a:extLst>
          </p:cNvPr>
          <p:cNvSpPr>
            <a:spLocks noGrp="1"/>
          </p:cNvSpPr>
          <p:nvPr/>
        </p:nvSpPr>
        <p:spPr>
          <a:xfrm>
            <a:off x="685800" y="193357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목록에서 다음 값을 하나 꺼냅니다.</a:t>
            </a:r>
          </a:p>
        </p:txBody>
      </p:sp>
      <p:sp>
        <p:nvSpPr>
          <p:cNvPr id="4" name="">
            <a:extLst>
              <a:ext uri="{FF2B5EF4-FFF2-40B4-BE49-F238E27FC236}">
                <ns2:creationId id="{E5743019-6963-4755-BF0C-726424F2E99A}"/>
              </a:ext>
            </a:extLst>
          </p:cNvPr>
          <p:cNvSpPr>
            <a:spLocks noGrp="1"/>
          </p:cNvSpPr>
          <p:nvPr/>
        </p:nvSpPr>
        <p:spPr>
          <a:xfrm>
            <a:off x="685800" y="243268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들여쓴 본문을 그 값으로 실행합니다.</a:t>
            </a:r>
          </a:p>
        </p:txBody>
      </p:sp>
      <p:sp>
        <p:nvSpPr>
          <p:cNvPr id="5" name="">
            <a:extLst>
              <a:ext uri="{FF2B5EF4-FFF2-40B4-BE49-F238E27FC236}">
                <ns2:creationId id="{3AAD4B81-C787-4540-8779-CEDDA863A12E}"/>
              </a:ext>
            </a:extLst>
          </p:cNvPr>
          <p:cNvSpPr>
            <a:spLocks noGrp="1"/>
          </p:cNvSpPr>
          <p:nvPr/>
        </p:nvSpPr>
        <p:spPr>
          <a:xfrm>
            <a:off x="685800" y="29317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목록을 다 읽으면 반복문 다음 코드를 실행합니다.</a:t>
            </a:r>
          </a:p>
        </p:txBody>
      </p:sp>
      <p:sp>
        <p:nvSpPr>
          <p:cNvPr id="6" name="">
            <a:extLst>
              <a:ext uri="{FF2B5EF4-FFF2-40B4-BE49-F238E27FC236}">
                <ns2:creationId id="{83E06579-DD6E-4693-86D6-CDEDB81B262F}"/>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완성 예 · 한 항목씩 읽기</a:t>
            </a:r>
          </a:p>
        </p:txBody>
      </p:sp>
      <p:sp>
        <p:nvSpPr>
          <p:cNvPr id="7" name="">
            <a:extLst>
              <a:ext uri="{FF2B5EF4-FFF2-40B4-BE49-F238E27FC236}">
                <ns2:creationId id="{A5636834-EA39-4D01-99F1-BECB32B4A63A}"/>
              </a:ext>
            </a:extLst>
          </p:cNvPr>
          <p:cNvSpPr>
            <a:spLocks noGrp="1"/>
          </p:cNvSpPr>
          <p:nvPr/>
        </p:nvSpPr>
        <p:spPr>
          <a:xfrm>
            <a:off x="6267450" y="2628900"/>
            <a:ext cx="5238750" cy="1494282"/>
          </a:xfrm>
          <a:prstGeom prst="rect">
            <a:avLst/>
          </a:prstGeom>
          <a:solidFill>
            <a:srgbClr val="F1F6F5"/>
          </a:solidFill>
          <a:ln w="0">
            <a:noFill/>
          </a:ln>
        </p:spPr>
      </p:sp>
      <p:sp>
        <p:nvSpPr>
          <p:cNvPr id="8" name="">
            <a:extLst>
              <a:ext uri="{FF2B5EF4-FFF2-40B4-BE49-F238E27FC236}">
                <ns2:creationId id="{BFFEF5F5-42F0-4E20-AEB3-25895A967DA2}"/>
              </a:ext>
            </a:extLst>
          </p:cNvPr>
          <p:cNvSpPr>
            <a:spLocks noGrp="1"/>
          </p:cNvSpPr>
          <p:nvPr/>
        </p:nvSpPr>
        <p:spPr>
          <a:xfrm>
            <a:off x="6410325" y="2790825"/>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9" name="">
            <a:extLst>
              <a:ext uri="{FF2B5EF4-FFF2-40B4-BE49-F238E27FC236}">
                <ns2:creationId id="{6B1C9F8D-E5F6-4344-8080-C6DCE7637930}"/>
              </a:ext>
            </a:extLst>
          </p:cNvPr>
          <p:cNvSpPr>
            <a:spLocks noGrp="1"/>
          </p:cNvSpPr>
          <p:nvPr/>
        </p:nvSpPr>
        <p:spPr>
          <a:xfrm>
            <a:off x="6858000" y="2752725"/>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temperatures = [22.5, 24.0, 23.5]</a:t>
            </a:r>
          </a:p>
        </p:txBody>
      </p:sp>
      <p:sp>
        <p:nvSpPr>
          <p:cNvPr id="10" name="">
            <a:extLst>
              <a:ext uri="{FF2B5EF4-FFF2-40B4-BE49-F238E27FC236}">
                <ns2:creationId id="{152A284D-4EAD-4F02-9138-A047E258684E}"/>
              </a:ext>
            </a:extLst>
          </p:cNvPr>
          <p:cNvSpPr>
            <a:spLocks noGrp="1"/>
          </p:cNvSpPr>
          <p:nvPr/>
        </p:nvSpPr>
        <p:spPr>
          <a:xfrm>
            <a:off x="6410325" y="3083433"/>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11" name="">
            <a:extLst>
              <a:ext uri="{FF2B5EF4-FFF2-40B4-BE49-F238E27FC236}">
                <ns2:creationId id="{DA0A4BF3-347D-419D-9095-539C59337B68}"/>
              </a:ext>
            </a:extLst>
          </p:cNvPr>
          <p:cNvSpPr>
            <a:spLocks noGrp="1"/>
          </p:cNvSpPr>
          <p:nvPr/>
        </p:nvSpPr>
        <p:spPr>
          <a:xfrm>
            <a:off x="6858000" y="3045333"/>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for temperature_c in temperatures:</a:t>
            </a:r>
          </a:p>
        </p:txBody>
      </p:sp>
      <p:sp>
        <p:nvSpPr>
          <p:cNvPr id="12" name="">
            <a:extLst>
              <a:ext uri="{FF2B5EF4-FFF2-40B4-BE49-F238E27FC236}">
                <ns2:creationId id="{947DD995-27FF-4C7D-85E1-6B12A65583C0}"/>
              </a:ext>
            </a:extLst>
          </p:cNvPr>
          <p:cNvSpPr>
            <a:spLocks noGrp="1"/>
          </p:cNvSpPr>
          <p:nvPr/>
        </p:nvSpPr>
        <p:spPr>
          <a:xfrm>
            <a:off x="6410325" y="3376041"/>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3" name="">
            <a:extLst>
              <a:ext uri="{FF2B5EF4-FFF2-40B4-BE49-F238E27FC236}">
                <ns2:creationId id="{F4551E0C-4DEE-4D50-84E1-C84F09F37B88}"/>
              </a:ext>
            </a:extLst>
          </p:cNvPr>
          <p:cNvSpPr>
            <a:spLocks noGrp="1"/>
          </p:cNvSpPr>
          <p:nvPr/>
        </p:nvSpPr>
        <p:spPr>
          <a:xfrm>
            <a:off x="6858000" y="3337941"/>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    print(temperature_c)</a:t>
            </a:r>
          </a:p>
        </p:txBody>
      </p:sp>
      <p:sp>
        <p:nvSpPr>
          <p:cNvPr id="14" name="">
            <a:extLst>
              <a:ext uri="{FF2B5EF4-FFF2-40B4-BE49-F238E27FC236}">
                <ns2:creationId id="{A6E84197-EC3E-41F9-91F3-31DDD3B53E9D}"/>
              </a:ext>
            </a:extLst>
          </p:cNvPr>
          <p:cNvSpPr>
            <a:spLocks noGrp="1"/>
          </p:cNvSpPr>
          <p:nvPr/>
        </p:nvSpPr>
        <p:spPr>
          <a:xfrm>
            <a:off x="6410325" y="3668649"/>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5" name="">
            <a:extLst>
              <a:ext uri="{FF2B5EF4-FFF2-40B4-BE49-F238E27FC236}">
                <ns2:creationId id="{A2067EA8-4860-44CF-BBB3-25DF1B8E40CD}"/>
              </a:ext>
            </a:extLst>
          </p:cNvPr>
          <p:cNvSpPr>
            <a:spLocks noGrp="1"/>
          </p:cNvSpPr>
          <p:nvPr/>
        </p:nvSpPr>
        <p:spPr>
          <a:xfrm>
            <a:off x="6858000" y="3630549"/>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print("완료")</a:t>
            </a:r>
          </a:p>
        </p:txBody>
      </p:sp>
      <p:sp>
        <p:nvSpPr>
          <p:cNvPr id="16" name="">
            <a:extLst>
              <a:ext uri="{FF2B5EF4-FFF2-40B4-BE49-F238E27FC236}">
                <ns2:creationId id="{6CE37A08-A1B9-45AA-92A3-FCAD3E45A9C9}"/>
              </a:ext>
            </a:extLst>
          </p:cNvPr>
          <p:cNvSpPr>
            <a:spLocks noGrp="1"/>
          </p:cNvSpPr>
          <p:nvPr/>
        </p:nvSpPr>
        <p:spPr>
          <a:xfrm>
            <a:off x="685800" y="6172200"/>
            <a:ext cx="10820400" cy="9525"/>
          </a:xfrm>
          <a:prstGeom prst="rect">
            <a:avLst/>
          </a:prstGeom>
          <a:solidFill>
            <a:srgbClr val="D5DEDD"/>
          </a:solidFill>
          <a:ln w="0">
            <a:noFill/>
          </a:ln>
        </p:spPr>
      </p:sp>
      <p:sp>
        <p:nvSpPr>
          <p:cNvPr id="17" name="">
            <a:extLst>
              <a:ext uri="{FF2B5EF4-FFF2-40B4-BE49-F238E27FC236}">
                <ns2:creationId id="{8830A5D5-CAE9-4377-9538-8C3749D3B9D4}"/>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8" name="">
            <a:extLst>
              <a:ext uri="{FF2B5EF4-FFF2-40B4-BE49-F238E27FC236}">
                <ns2:creationId id="{9840D5C1-FA91-4F79-90F2-0AB5B8BE634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9" name="">
            <a:extLst>
              <a:ext uri="{FF2B5EF4-FFF2-40B4-BE49-F238E27FC236}">
                <ns2:creationId id="{9EBDDCEF-2A4D-4E2B-AF1A-ED1CE46B019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20" name="">
            <a:extLst>
              <a:ext uri="{FF2B5EF4-FFF2-40B4-BE49-F238E27FC236}">
                <ns2:creationId id="{6B61AB55-AB75-452E-A6D4-BB45CD81AFE0}"/>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073</a:t>
            </a:r>
          </a:p>
        </p:txBody>
      </p:sp>
    </p:spTree>
    <p:extLst>
      <p:ext uri="{BB962C8B-B14F-4D97-AF65-F5344CB8AC3E}">
        <ns4:creationId val="340394174"/>
      </p:ext>
    </p:extLst>
  </p:cSld>
</p:sld>
</file>

<file path=ppt/slides/slide7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7" name="">
            <a:extLst>
              <a:ext uri="{FF2B5EF4-FFF2-40B4-BE49-F238E27FC236}">
                <ns2:creationId id="{08798134-E821-4B76-807D-F1FE66440087}"/>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A7D544A4-5D34-4D97-AAAB-2DA85DD028D7}"/>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예상 출력 · 반복과 완료</a:t>
            </a:r>
          </a:p>
        </p:txBody>
      </p:sp>
      <p:sp>
        <p:nvSpPr>
          <p:cNvPr id="3" name="">
            <a:extLst>
              <a:ext uri="{FF2B5EF4-FFF2-40B4-BE49-F238E27FC236}">
                <ns2:creationId id="{1C877476-A1B1-4981-83ED-DDB7FE845B70}"/>
              </a:ext>
            </a:extLst>
          </p:cNvPr>
          <p:cNvSpPr>
            <a:spLocks noGrp="1"/>
          </p:cNvSpPr>
          <p:nvPr/>
        </p:nvSpPr>
        <p:spPr>
          <a:xfrm>
            <a:off x="685800" y="1809750"/>
            <a:ext cx="10820400" cy="1591818"/>
          </a:xfrm>
          <a:prstGeom prst="rect">
            <a:avLst/>
          </a:prstGeom>
          <a:solidFill>
            <a:srgbClr val="F1F6F5"/>
          </a:solidFill>
          <a:ln w="0">
            <a:noFill/>
          </a:ln>
        </p:spPr>
      </p:sp>
      <p:sp>
        <p:nvSpPr>
          <p:cNvPr id="4" name="">
            <a:extLst>
              <a:ext uri="{FF2B5EF4-FFF2-40B4-BE49-F238E27FC236}">
                <ns2:creationId id="{70F76776-D01B-4D1B-91C5-D85BF22419C5}"/>
              </a:ext>
            </a:extLst>
          </p:cNvPr>
          <p:cNvSpPr>
            <a:spLocks noGrp="1"/>
          </p:cNvSpPr>
          <p:nvPr/>
        </p:nvSpPr>
        <p:spPr>
          <a:xfrm>
            <a:off x="828675" y="197167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5" name="">
            <a:extLst>
              <a:ext uri="{FF2B5EF4-FFF2-40B4-BE49-F238E27FC236}">
                <ns2:creationId id="{7D76165A-4844-4E53-8A8F-1232A89597DF}"/>
              </a:ext>
            </a:extLst>
          </p:cNvPr>
          <p:cNvSpPr>
            <a:spLocks noGrp="1"/>
          </p:cNvSpPr>
          <p:nvPr/>
        </p:nvSpPr>
        <p:spPr>
          <a:xfrm>
            <a:off x="1276350" y="193357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22.5</a:t>
            </a:r>
          </a:p>
        </p:txBody>
      </p:sp>
      <p:sp>
        <p:nvSpPr>
          <p:cNvPr id="6" name="">
            <a:extLst>
              <a:ext uri="{FF2B5EF4-FFF2-40B4-BE49-F238E27FC236}">
                <ns2:creationId id="{A7B609F4-2432-4679-865C-29F7923D7E16}"/>
              </a:ext>
            </a:extLst>
          </p:cNvPr>
          <p:cNvSpPr>
            <a:spLocks noGrp="1"/>
          </p:cNvSpPr>
          <p:nvPr/>
        </p:nvSpPr>
        <p:spPr>
          <a:xfrm>
            <a:off x="828675" y="228866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7" name="">
            <a:extLst>
              <a:ext uri="{FF2B5EF4-FFF2-40B4-BE49-F238E27FC236}">
                <ns2:creationId id="{A1B132D1-5176-41BA-B7E8-A15CEDD323CA}"/>
              </a:ext>
            </a:extLst>
          </p:cNvPr>
          <p:cNvSpPr>
            <a:spLocks noGrp="1"/>
          </p:cNvSpPr>
          <p:nvPr/>
        </p:nvSpPr>
        <p:spPr>
          <a:xfrm>
            <a:off x="1276350" y="225056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24.0</a:t>
            </a:r>
          </a:p>
        </p:txBody>
      </p:sp>
      <p:sp>
        <p:nvSpPr>
          <p:cNvPr id="8" name="">
            <a:extLst>
              <a:ext uri="{FF2B5EF4-FFF2-40B4-BE49-F238E27FC236}">
                <ns2:creationId id="{F51B326B-7177-4B37-85E7-4C8D041FE892}"/>
              </a:ext>
            </a:extLst>
          </p:cNvPr>
          <p:cNvSpPr>
            <a:spLocks noGrp="1"/>
          </p:cNvSpPr>
          <p:nvPr/>
        </p:nvSpPr>
        <p:spPr>
          <a:xfrm>
            <a:off x="828675" y="260565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9" name="">
            <a:extLst>
              <a:ext uri="{FF2B5EF4-FFF2-40B4-BE49-F238E27FC236}">
                <ns2:creationId id="{1E755874-25E1-49FC-A819-E80D7F02097D}"/>
              </a:ext>
            </a:extLst>
          </p:cNvPr>
          <p:cNvSpPr>
            <a:spLocks noGrp="1"/>
          </p:cNvSpPr>
          <p:nvPr/>
        </p:nvSpPr>
        <p:spPr>
          <a:xfrm>
            <a:off x="1276350" y="2567559"/>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23.5</a:t>
            </a:r>
          </a:p>
        </p:txBody>
      </p:sp>
      <p:sp>
        <p:nvSpPr>
          <p:cNvPr id="10" name="">
            <a:extLst>
              <a:ext uri="{FF2B5EF4-FFF2-40B4-BE49-F238E27FC236}">
                <ns2:creationId id="{21425EBD-320E-4A76-86F1-7AA388D6A3B2}"/>
              </a:ext>
            </a:extLst>
          </p:cNvPr>
          <p:cNvSpPr>
            <a:spLocks noGrp="1"/>
          </p:cNvSpPr>
          <p:nvPr/>
        </p:nvSpPr>
        <p:spPr>
          <a:xfrm>
            <a:off x="828675" y="2922651"/>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1" name="">
            <a:extLst>
              <a:ext uri="{FF2B5EF4-FFF2-40B4-BE49-F238E27FC236}">
                <ns2:creationId id="{B747A218-19BE-4421-8EC6-2196F073AA3B}"/>
              </a:ext>
            </a:extLst>
          </p:cNvPr>
          <p:cNvSpPr>
            <a:spLocks noGrp="1"/>
          </p:cNvSpPr>
          <p:nvPr/>
        </p:nvSpPr>
        <p:spPr>
          <a:xfrm>
            <a:off x="1276350" y="2884551"/>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완료</a:t>
            </a:r>
          </a:p>
        </p:txBody>
      </p:sp>
      <p:sp>
        <p:nvSpPr>
          <p:cNvPr id="12" name="">
            <a:extLst>
              <a:ext uri="{FF2B5EF4-FFF2-40B4-BE49-F238E27FC236}">
                <ns2:creationId id="{44F8FFF4-5203-47DA-BE5E-58A91D7E0F0F}"/>
              </a:ext>
            </a:extLst>
          </p:cNvPr>
          <p:cNvSpPr>
            <a:spLocks noGrp="1"/>
          </p:cNvSpPr>
          <p:nvPr/>
        </p:nvSpPr>
        <p:spPr>
          <a:xfrm>
            <a:off x="685800" y="6172200"/>
            <a:ext cx="10820400" cy="9525"/>
          </a:xfrm>
          <a:prstGeom prst="rect">
            <a:avLst/>
          </a:prstGeom>
          <a:solidFill>
            <a:srgbClr val="D5DEDD"/>
          </a:solidFill>
          <a:ln w="0">
            <a:noFill/>
          </a:ln>
        </p:spPr>
      </p:sp>
      <p:sp>
        <p:nvSpPr>
          <p:cNvPr id="13" name="">
            <a:extLst>
              <a:ext uri="{FF2B5EF4-FFF2-40B4-BE49-F238E27FC236}">
                <ns2:creationId id="{24A5995F-AE12-4346-B3CA-635FD4F624A3}"/>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4" name="">
            <a:extLst>
              <a:ext uri="{FF2B5EF4-FFF2-40B4-BE49-F238E27FC236}">
                <ns2:creationId id="{EA9F9B38-CDA4-4099-8C35-387E5FA5C4C8}"/>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5" name="">
            <a:extLst>
              <a:ext uri="{FF2B5EF4-FFF2-40B4-BE49-F238E27FC236}">
                <ns2:creationId id="{67837966-65FC-49E5-BF95-0AABD01DF3A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6" name="">
            <a:extLst>
              <a:ext uri="{FF2B5EF4-FFF2-40B4-BE49-F238E27FC236}">
                <ns2:creationId id="{8AD31605-36A5-4C4C-B7C7-6DC21517D73E}"/>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074</a:t>
            </a:r>
          </a:p>
        </p:txBody>
      </p:sp>
    </p:spTree>
    <p:extLst>
      <p:ext uri="{BB962C8B-B14F-4D97-AF65-F5344CB8AC3E}">
        <ns4:creationId val="1110853144"/>
      </p:ext>
    </p:extLst>
  </p:cSld>
</p:sld>
</file>

<file path=ppt/slides/slide7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21" name="">
            <a:extLst>
              <a:ext uri="{FF2B5EF4-FFF2-40B4-BE49-F238E27FC236}">
                <ns2:creationId id="{04933601-161E-4D4B-A381-C0A97CBFAFD5}"/>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C2146A23-8403-4A40-8178-31E3D08FCE4F}"/>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완성 예 · 조건에 맞는 건수</a:t>
            </a:r>
          </a:p>
        </p:txBody>
      </p:sp>
      <p:sp>
        <p:nvSpPr>
          <p:cNvPr id="3" name="">
            <a:extLst>
              <a:ext uri="{FF2B5EF4-FFF2-40B4-BE49-F238E27FC236}">
                <ns2:creationId id="{3B428430-1CE1-47DB-9DB7-1215EC6D5290}"/>
              </a:ext>
            </a:extLst>
          </p:cNvPr>
          <p:cNvSpPr>
            <a:spLocks noGrp="1"/>
          </p:cNvSpPr>
          <p:nvPr/>
        </p:nvSpPr>
        <p:spPr>
          <a:xfrm>
            <a:off x="685800" y="1809750"/>
            <a:ext cx="10820400" cy="2225802"/>
          </a:xfrm>
          <a:prstGeom prst="rect">
            <a:avLst/>
          </a:prstGeom>
          <a:solidFill>
            <a:srgbClr val="F1F6F5"/>
          </a:solidFill>
          <a:ln w="0">
            <a:noFill/>
          </a:ln>
        </p:spPr>
      </p:sp>
      <p:sp>
        <p:nvSpPr>
          <p:cNvPr id="4" name="">
            <a:extLst>
              <a:ext uri="{FF2B5EF4-FFF2-40B4-BE49-F238E27FC236}">
                <ns2:creationId id="{17869528-B60B-4903-A89B-8D23CD3720B4}"/>
              </a:ext>
            </a:extLst>
          </p:cNvPr>
          <p:cNvSpPr>
            <a:spLocks noGrp="1"/>
          </p:cNvSpPr>
          <p:nvPr/>
        </p:nvSpPr>
        <p:spPr>
          <a:xfrm>
            <a:off x="828675" y="197167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5" name="">
            <a:extLst>
              <a:ext uri="{FF2B5EF4-FFF2-40B4-BE49-F238E27FC236}">
                <ns2:creationId id="{6C25F8BF-C214-4935-916A-7F698B7C0784}"/>
              </a:ext>
            </a:extLst>
          </p:cNvPr>
          <p:cNvSpPr>
            <a:spLocks noGrp="1"/>
          </p:cNvSpPr>
          <p:nvPr/>
        </p:nvSpPr>
        <p:spPr>
          <a:xfrm>
            <a:off x="1276350" y="193357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temperatures = [22.5, 24.0, 25.0]</a:t>
            </a:r>
          </a:p>
        </p:txBody>
      </p:sp>
      <p:sp>
        <p:nvSpPr>
          <p:cNvPr id="6" name="">
            <a:extLst>
              <a:ext uri="{FF2B5EF4-FFF2-40B4-BE49-F238E27FC236}">
                <ns2:creationId id="{5941605E-8B0F-4130-BB48-9E78A599EAB0}"/>
              </a:ext>
            </a:extLst>
          </p:cNvPr>
          <p:cNvSpPr>
            <a:spLocks noGrp="1"/>
          </p:cNvSpPr>
          <p:nvPr/>
        </p:nvSpPr>
        <p:spPr>
          <a:xfrm>
            <a:off x="828675" y="228866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7" name="">
            <a:extLst>
              <a:ext uri="{FF2B5EF4-FFF2-40B4-BE49-F238E27FC236}">
                <ns2:creationId id="{26FCC6EF-8E6C-4C93-8182-A2F681DCFE1A}"/>
              </a:ext>
            </a:extLst>
          </p:cNvPr>
          <p:cNvSpPr>
            <a:spLocks noGrp="1"/>
          </p:cNvSpPr>
          <p:nvPr/>
        </p:nvSpPr>
        <p:spPr>
          <a:xfrm>
            <a:off x="1276350" y="225056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count = 0</a:t>
            </a:r>
          </a:p>
        </p:txBody>
      </p:sp>
      <p:sp>
        <p:nvSpPr>
          <p:cNvPr id="8" name="">
            <a:extLst>
              <a:ext uri="{FF2B5EF4-FFF2-40B4-BE49-F238E27FC236}">
                <ns2:creationId id="{4D7D9DA9-1A73-4FB5-8996-6D032CC4EA7E}"/>
              </a:ext>
            </a:extLst>
          </p:cNvPr>
          <p:cNvSpPr>
            <a:spLocks noGrp="1"/>
          </p:cNvSpPr>
          <p:nvPr/>
        </p:nvSpPr>
        <p:spPr>
          <a:xfrm>
            <a:off x="828675" y="260565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9" name="">
            <a:extLst>
              <a:ext uri="{FF2B5EF4-FFF2-40B4-BE49-F238E27FC236}">
                <ns2:creationId id="{AA276CD9-DC36-43CB-8A0B-B2793B33B6B0}"/>
              </a:ext>
            </a:extLst>
          </p:cNvPr>
          <p:cNvSpPr>
            <a:spLocks noGrp="1"/>
          </p:cNvSpPr>
          <p:nvPr/>
        </p:nvSpPr>
        <p:spPr>
          <a:xfrm>
            <a:off x="1276350" y="2567559"/>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for temperature_c in temperatures:</a:t>
            </a:r>
          </a:p>
        </p:txBody>
      </p:sp>
      <p:sp>
        <p:nvSpPr>
          <p:cNvPr id="10" name="">
            <a:extLst>
              <a:ext uri="{FF2B5EF4-FFF2-40B4-BE49-F238E27FC236}">
                <ns2:creationId id="{E3907F4C-A87F-4A01-99D3-4F2D15CE60E8}"/>
              </a:ext>
            </a:extLst>
          </p:cNvPr>
          <p:cNvSpPr>
            <a:spLocks noGrp="1"/>
          </p:cNvSpPr>
          <p:nvPr/>
        </p:nvSpPr>
        <p:spPr>
          <a:xfrm>
            <a:off x="828675" y="2922651"/>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1" name="">
            <a:extLst>
              <a:ext uri="{FF2B5EF4-FFF2-40B4-BE49-F238E27FC236}">
                <ns2:creationId id="{88D593F4-6357-4505-843C-F884E124B569}"/>
              </a:ext>
            </a:extLst>
          </p:cNvPr>
          <p:cNvSpPr>
            <a:spLocks noGrp="1"/>
          </p:cNvSpPr>
          <p:nvPr/>
        </p:nvSpPr>
        <p:spPr>
          <a:xfrm>
            <a:off x="1276350" y="2884551"/>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    if temperature_c &gt; 24.0:</a:t>
            </a:r>
          </a:p>
        </p:txBody>
      </p:sp>
      <p:sp>
        <p:nvSpPr>
          <p:cNvPr id="12" name="">
            <a:extLst>
              <a:ext uri="{FF2B5EF4-FFF2-40B4-BE49-F238E27FC236}">
                <ns2:creationId id="{A57E614E-9E25-4095-8A6C-6A79E251C1F5}"/>
              </a:ext>
            </a:extLst>
          </p:cNvPr>
          <p:cNvSpPr>
            <a:spLocks noGrp="1"/>
          </p:cNvSpPr>
          <p:nvPr/>
        </p:nvSpPr>
        <p:spPr>
          <a:xfrm>
            <a:off x="828675" y="323964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05</a:t>
            </a:r>
          </a:p>
        </p:txBody>
      </p:sp>
      <p:sp>
        <p:nvSpPr>
          <p:cNvPr id="13" name="">
            <a:extLst>
              <a:ext uri="{FF2B5EF4-FFF2-40B4-BE49-F238E27FC236}">
                <ns2:creationId id="{2881D90D-B6F8-4ABB-B0BB-86DCD08E8D1B}"/>
              </a:ext>
            </a:extLst>
          </p:cNvPr>
          <p:cNvSpPr>
            <a:spLocks noGrp="1"/>
          </p:cNvSpPr>
          <p:nvPr/>
        </p:nvSpPr>
        <p:spPr>
          <a:xfrm>
            <a:off x="1276350" y="3201543"/>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        count = count + 1</a:t>
            </a:r>
          </a:p>
        </p:txBody>
      </p:sp>
      <p:sp>
        <p:nvSpPr>
          <p:cNvPr id="14" name="">
            <a:extLst>
              <a:ext uri="{FF2B5EF4-FFF2-40B4-BE49-F238E27FC236}">
                <ns2:creationId id="{C1A88AC2-6A99-478D-8D0F-033D6B861F0B}"/>
              </a:ext>
            </a:extLst>
          </p:cNvPr>
          <p:cNvSpPr>
            <a:spLocks noGrp="1"/>
          </p:cNvSpPr>
          <p:nvPr/>
        </p:nvSpPr>
        <p:spPr>
          <a:xfrm>
            <a:off x="828675" y="355663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06</a:t>
            </a:r>
          </a:p>
        </p:txBody>
      </p:sp>
      <p:sp>
        <p:nvSpPr>
          <p:cNvPr id="15" name="">
            <a:extLst>
              <a:ext uri="{FF2B5EF4-FFF2-40B4-BE49-F238E27FC236}">
                <ns2:creationId id="{8E7B6211-FFE8-4E0E-8AC1-C8F38DA852FA}"/>
              </a:ext>
            </a:extLst>
          </p:cNvPr>
          <p:cNvSpPr>
            <a:spLocks noGrp="1"/>
          </p:cNvSpPr>
          <p:nvPr/>
        </p:nvSpPr>
        <p:spPr>
          <a:xfrm>
            <a:off x="1276350" y="351853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print("확인 건수", count)</a:t>
            </a:r>
          </a:p>
        </p:txBody>
      </p:sp>
      <p:sp>
        <p:nvSpPr>
          <p:cNvPr id="16" name="">
            <a:extLst>
              <a:ext uri="{FF2B5EF4-FFF2-40B4-BE49-F238E27FC236}">
                <ns2:creationId id="{5FF6F7D3-FA09-44CC-8029-6BCD5929F0D8}"/>
              </a:ext>
            </a:extLst>
          </p:cNvPr>
          <p:cNvSpPr>
            <a:spLocks noGrp="1"/>
          </p:cNvSpPr>
          <p:nvPr/>
        </p:nvSpPr>
        <p:spPr>
          <a:xfrm>
            <a:off x="685800" y="6172200"/>
            <a:ext cx="10820400" cy="9525"/>
          </a:xfrm>
          <a:prstGeom prst="rect">
            <a:avLst/>
          </a:prstGeom>
          <a:solidFill>
            <a:srgbClr val="D5DEDD"/>
          </a:solidFill>
          <a:ln w="0">
            <a:noFill/>
          </a:ln>
        </p:spPr>
      </p:sp>
      <p:sp>
        <p:nvSpPr>
          <p:cNvPr id="17" name="">
            <a:extLst>
              <a:ext uri="{FF2B5EF4-FFF2-40B4-BE49-F238E27FC236}">
                <ns2:creationId id="{7840BDBF-3099-4A01-A753-6B7BE2B4EC5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8" name="">
            <a:extLst>
              <a:ext uri="{FF2B5EF4-FFF2-40B4-BE49-F238E27FC236}">
                <ns2:creationId id="{9B53F86F-310C-4427-890C-78F7232C6961}"/>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9" name="">
            <a:extLst>
              <a:ext uri="{FF2B5EF4-FFF2-40B4-BE49-F238E27FC236}">
                <ns2:creationId id="{21049B7B-7134-43DE-977F-9D4E56706CA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20" name="">
            <a:extLst>
              <a:ext uri="{FF2B5EF4-FFF2-40B4-BE49-F238E27FC236}">
                <ns2:creationId id="{A49592A4-BF1C-45D0-95C6-E15332F7C2DE}"/>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075</a:t>
            </a:r>
          </a:p>
        </p:txBody>
      </p:sp>
    </p:spTree>
    <p:extLst>
      <p:ext uri="{BB962C8B-B14F-4D97-AF65-F5344CB8AC3E}">
        <ns4:creationId val="673114620"/>
      </p:ext>
    </p:extLst>
  </p:cSld>
</p:sld>
</file>

<file path=ppt/slides/slide7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9" name="">
            <a:extLst>
              <a:ext uri="{FF2B5EF4-FFF2-40B4-BE49-F238E27FC236}">
                <ns2:creationId id="{60A386C1-2501-4562-BF53-4BFF98271D07}"/>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C21AD186-83CB-4F34-9C2D-DA1FB8AD86FD}"/>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확인 건수의 현재 값</a:t>
            </a:r>
          </a:p>
        </p:txBody>
      </p:sp>
      <p:graphicFrame>
        <p:nvGraphicFramePr>
          <p:cNvPr id="11" name=""/>
          <p:cNvGraphicFramePr/>
          <p:nvPr/>
        </p:nvGraphicFramePr>
        <p:xfrm>
          <a:off x="685800" y="1809750"/>
          <a:ext cx="10820400" cy="2145792"/>
        </p:xfrm>
        <a:graphic>
          <a:graphicData uri="http://schemas.openxmlformats.org/drawingml/2006/table">
            <a:tbl>
              <a:tblPr firstRow="1" bandRow="0"/>
              <a:tblGrid>
                <a:gridCol w="3185088"/>
                <a:gridCol w="4456581"/>
                <a:gridCol w="3178731"/>
              </a:tblGrid>
              <a:tr h="536448">
                <a:tc>
                  <a:txBody>
                    <a:bodyPr wrap="square"/>
                    <a:lstStyle/>
                    <a:p>
                      <a:pPr>
                        <a:lnSpc>
                          <a:spcPct val="102000"/>
                        </a:lnSpc>
                        <a:buNone/>
                      </a:pPr>
                      <a:r>
                        <a:rPr sz="2025" b="1">
                          <a:solidFill>
                            <a:srgbClr val="172F39"/>
                          </a:solidFill>
                          <a:latin typeface="Noto Sans KR"/>
                          <a:ea typeface="Noto Sans KR"/>
                          <a:cs typeface="Noto Sans KR"/>
                        </a:rPr>
                        <a:t>온도</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24 초과?</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건수</a:t>
                      </a:r>
                    </a:p>
                  </a:txBody>
                  <a:tcPr marL="114300" marR="114300" marT="76200" marB="76200" anchor="ctr">
                    <a:solidFill>
                      <a:srgbClr val="DCECE8"/>
                    </a:solidFill>
                  </a:tcPr>
                </a:tc>
              </a:tr>
              <a:tr h="536448">
                <a:tc>
                  <a:txBody>
                    <a:bodyPr wrap="square"/>
                    <a:lstStyle/>
                    <a:p>
                      <a:pPr>
                        <a:lnSpc>
                          <a:spcPct val="102000"/>
                        </a:lnSpc>
                        <a:buNone/>
                      </a:pPr>
                      <a:r>
                        <a:rPr sz="2025" b="0">
                          <a:solidFill>
                            <a:srgbClr val="172F39"/>
                          </a:solidFill>
                          <a:latin typeface="Noto Sans KR"/>
                          <a:ea typeface="Noto Sans KR"/>
                          <a:cs typeface="Noto Sans KR"/>
                        </a:rPr>
                        <a:t>22.5</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거짓</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0</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24.0</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거짓</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0</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25.0</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참</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1</a:t>
                      </a:r>
                    </a:p>
                  </a:txBody>
                  <a:tcPr marL="114300" marR="114300" marT="76200" marB="76200" anchor="ctr">
                    <a:solidFill>
                      <a:srgbClr val="FFFFFF"/>
                    </a:solidFill>
                  </a:tcPr>
                </a:tc>
              </a:tr>
            </a:tbl>
          </a:graphicData>
        </a:graphic>
      </p:graphicFrame>
      <p:sp>
        <p:nvSpPr>
          <p:cNvPr id="4" name="">
            <a:extLst>
              <a:ext uri="{FF2B5EF4-FFF2-40B4-BE49-F238E27FC236}">
                <ns2:creationId id="{E8E9D121-A94D-416F-AC40-1A57538C845A}"/>
              </a:ext>
            </a:extLst>
          </p:cNvPr>
          <p:cNvSpPr>
            <a:spLocks noGrp="1"/>
          </p:cNvSpPr>
          <p:nvPr/>
        </p:nvSpPr>
        <p:spPr>
          <a:xfrm>
            <a:off x="685800" y="6172200"/>
            <a:ext cx="10820400" cy="9525"/>
          </a:xfrm>
          <a:prstGeom prst="rect">
            <a:avLst/>
          </a:prstGeom>
          <a:solidFill>
            <a:srgbClr val="D5DEDD"/>
          </a:solidFill>
          <a:ln w="0">
            <a:noFill/>
          </a:ln>
        </p:spPr>
      </p:sp>
      <p:sp>
        <p:nvSpPr>
          <p:cNvPr id="5" name="">
            <a:extLst>
              <a:ext uri="{FF2B5EF4-FFF2-40B4-BE49-F238E27FC236}">
                <ns2:creationId id="{388E9822-85FB-436D-888A-132D2F064C26}"/>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6" name="">
            <a:extLst>
              <a:ext uri="{FF2B5EF4-FFF2-40B4-BE49-F238E27FC236}">
                <ns2:creationId id="{B263FC62-E2C7-48A0-B44C-1CA1C3CC9C79}"/>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7" name="">
            <a:extLst>
              <a:ext uri="{FF2B5EF4-FFF2-40B4-BE49-F238E27FC236}">
                <ns2:creationId id="{4A47BCA1-CA56-4CF3-989D-90A5A40CA627}"/>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8" name="">
            <a:extLst>
              <a:ext uri="{FF2B5EF4-FFF2-40B4-BE49-F238E27FC236}">
                <ns2:creationId id="{96180832-986A-426B-A07C-EF1FBA97F49E}"/>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076</a:t>
            </a:r>
          </a:p>
        </p:txBody>
      </p:sp>
    </p:spTree>
    <p:extLst>
      <p:ext uri="{BB962C8B-B14F-4D97-AF65-F5344CB8AC3E}">
        <ns4:creationId val="501683951"/>
      </p:ext>
    </p:extLst>
  </p:cSld>
</p:sld>
</file>

<file path=ppt/slides/slide7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3CE3A5A2-E8AB-4C4B-957D-424F1E8F7A07}"/>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C85ADE13-6832-4077-AA31-3B8CD79560CB}"/>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상자 무게 합과 초과 건수</a:t>
            </a:r>
          </a:p>
        </p:txBody>
      </p:sp>
      <p:sp>
        <p:nvSpPr>
          <p:cNvPr id="3" name="">
            <a:extLst>
              <a:ext uri="{FF2B5EF4-FFF2-40B4-BE49-F238E27FC236}">
                <ns2:creationId id="{A01073F6-97C8-4AFA-89E0-4D183B718C7A}"/>
              </a:ext>
            </a:extLst>
          </p:cNvPr>
          <p:cNvSpPr>
            <a:spLocks noGrp="1"/>
          </p:cNvSpPr>
          <p:nvPr/>
        </p:nvSpPr>
        <p:spPr>
          <a:xfrm>
            <a:off x="685800" y="1933575"/>
            <a:ext cx="4800600" cy="788670"/>
          </a:xfrm>
          <a:prstGeom prst="rect">
            <a:avLst/>
          </a:prstGeom>
          <a:noFill/>
          <a:ln w="0">
            <a:noFill/>
          </a:ln>
        </p:spPr>
        <p:txBody>
          <a:bodyPr wrap="square" lIns="0" tIns="0" rIns="0" bIns="0">
            <a:noAutofit/>
          </a:bodyPr>
          <a:lstStyle/>
          <a:p>
            <a:pPr>
              <a:defRPr sz="2250" b="1">
                <a:solidFill>
                  <a:srgbClr val="172F39"/>
                </a:solidFill>
                <a:latin typeface="Noto Sans KR"/>
                <a:ea typeface="Noto Sans KR"/>
                <a:cs typeface="Noto Sans KR"/>
              </a:defRPr>
            </a:pPr>
            <a:r>
              <a:t>상자 무게 2·5·1kg의 합과 초과 건수를 셉니다.</a:t>
            </a:r>
          </a:p>
        </p:txBody>
      </p:sp>
      <p:sp>
        <p:nvSpPr>
          <p:cNvPr id="4" name="">
            <a:extLst>
              <a:ext uri="{FF2B5EF4-FFF2-40B4-BE49-F238E27FC236}">
                <ns2:creationId id="{84F420E9-323C-45FA-B1EB-2AA1E20DAF59}"/>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무게 합과 상자 수 따로 세기</a:t>
            </a:r>
          </a:p>
        </p:txBody>
      </p:sp>
      <p:graphicFrame>
        <p:nvGraphicFramePr>
          <p:cNvPr id="15" name=""/>
          <p:cNvGraphicFramePr/>
          <p:nvPr/>
        </p:nvGraphicFramePr>
        <p:xfrm>
          <a:off x="6267450" y="2628900"/>
          <a:ext cx="5238750" cy="2571750"/>
        </p:xfrm>
        <a:graphic>
          <a:graphicData uri="http://schemas.openxmlformats.org/drawingml/2006/table">
            <a:tbl>
              <a:tblPr firstRow="1" bandRow="0"/>
              <a:tblGrid>
                <a:gridCol w="3559663"/>
                <a:gridCol w="1679087"/>
              </a:tblGrid>
              <a:tr h="514350">
                <a:tc>
                  <a:txBody>
                    <a:bodyPr wrap="square"/>
                    <a:lstStyle/>
                    <a:p>
                      <a:pPr>
                        <a:lnSpc>
                          <a:spcPct val="102000"/>
                        </a:lnSpc>
                        <a:buNone/>
                      </a:pPr>
                      <a:r>
                        <a:rPr sz="1875" b="1">
                          <a:solidFill>
                            <a:srgbClr val="172F39"/>
                          </a:solidFill>
                          <a:latin typeface="Noto Sans KR"/>
                          <a:ea typeface="Noto Sans KR"/>
                          <a:cs typeface="Noto Sans KR"/>
                        </a:rPr>
                        <a:t>질문</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결과</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총무게</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8kg</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4kg 초과 상자</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1건</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목록 길이</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3</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마지막 위치 번호</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a:t>
                      </a:r>
                    </a:p>
                  </a:txBody>
                  <a:tcPr marL="114300" marR="114300" marT="76200" marB="76200" anchor="ctr">
                    <a:solidFill>
                      <a:srgbClr val="FFFFFF"/>
                    </a:solidFill>
                  </a:tcPr>
                </a:tc>
              </a:tr>
            </a:tbl>
          </a:graphicData>
        </a:graphic>
      </p:graphicFrame>
      <p:sp>
        <p:nvSpPr>
          <p:cNvPr id="6" name="">
            <a:extLst>
              <a:ext uri="{FF2B5EF4-FFF2-40B4-BE49-F238E27FC236}">
                <ns2:creationId id="{A10CF99E-63B7-4FB7-A417-EE225E15E72F}"/>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DB4D1C71-DB38-492A-B6B6-7F382D255314}"/>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EDF7364F-49C4-4340-9C86-E2E21EFC8BCB}"/>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6625AFB0-FFB2-4494-ACBE-9977B4450A3E}"/>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DA04CF1B-3CCB-4F87-B10F-1F48DBE3474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077</a:t>
            </a:r>
          </a:p>
        </p:txBody>
      </p:sp>
    </p:spTree>
    <p:extLst>
      <p:ext uri="{BB962C8B-B14F-4D97-AF65-F5344CB8AC3E}">
        <ns4:creationId val="95393120"/>
      </p:ext>
    </p:extLst>
  </p:cSld>
</p:sld>
</file>

<file path=ppt/slides/slide7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9" name="">
            <a:extLst>
              <a:ext uri="{FF2B5EF4-FFF2-40B4-BE49-F238E27FC236}">
                <ns2:creationId id="{4C19A4BC-2043-4999-9CFC-6D6D91969CE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35B99D51-E00C-4538-910D-C8F3C4DFA2B8}"/>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무게 합과 상자 수 따로 세기</a:t>
            </a:r>
          </a:p>
        </p:txBody>
      </p:sp>
      <p:graphicFrame>
        <p:nvGraphicFramePr>
          <p:cNvPr id="11" name=""/>
          <p:cNvGraphicFramePr/>
          <p:nvPr/>
        </p:nvGraphicFramePr>
        <p:xfrm>
          <a:off x="685800" y="1809750"/>
          <a:ext cx="10820400" cy="2682240"/>
        </p:xfrm>
        <a:graphic>
          <a:graphicData uri="http://schemas.openxmlformats.org/drawingml/2006/table">
            <a:tbl>
              <a:tblPr firstRow="1" bandRow="0"/>
              <a:tblGrid>
                <a:gridCol w="7352323"/>
                <a:gridCol w="3468077"/>
              </a:tblGrid>
              <a:tr h="536448">
                <a:tc>
                  <a:txBody>
                    <a:bodyPr wrap="square"/>
                    <a:lstStyle/>
                    <a:p>
                      <a:pPr>
                        <a:lnSpc>
                          <a:spcPct val="102000"/>
                        </a:lnSpc>
                        <a:buNone/>
                      </a:pPr>
                      <a:r>
                        <a:rPr sz="2025" b="1">
                          <a:solidFill>
                            <a:srgbClr val="172F39"/>
                          </a:solidFill>
                          <a:latin typeface="Noto Sans KR"/>
                          <a:ea typeface="Noto Sans KR"/>
                          <a:cs typeface="Noto Sans KR"/>
                        </a:rPr>
                        <a:t>질문</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결과</a:t>
                      </a:r>
                    </a:p>
                  </a:txBody>
                  <a:tcPr marL="114300" marR="114300" marT="76200" marB="76200" anchor="ctr">
                    <a:solidFill>
                      <a:srgbClr val="DCECE8"/>
                    </a:solidFill>
                  </a:tcPr>
                </a:tc>
              </a:tr>
              <a:tr h="536448">
                <a:tc>
                  <a:txBody>
                    <a:bodyPr wrap="square"/>
                    <a:lstStyle/>
                    <a:p>
                      <a:pPr>
                        <a:lnSpc>
                          <a:spcPct val="102000"/>
                        </a:lnSpc>
                        <a:buNone/>
                      </a:pPr>
                      <a:r>
                        <a:rPr sz="2025" b="0">
                          <a:solidFill>
                            <a:srgbClr val="172F39"/>
                          </a:solidFill>
                          <a:latin typeface="Noto Sans KR"/>
                          <a:ea typeface="Noto Sans KR"/>
                          <a:cs typeface="Noto Sans KR"/>
                        </a:rPr>
                        <a:t>총무게</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8kg</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4kg 초과 상자</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1건</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목록 길이</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3</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마지막 위치 번호</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2</a:t>
                      </a:r>
                    </a:p>
                  </a:txBody>
                  <a:tcPr marL="114300" marR="114300" marT="76200" marB="76200" anchor="ctr">
                    <a:solidFill>
                      <a:srgbClr val="FFFFFF"/>
                    </a:solidFill>
                  </a:tcPr>
                </a:tc>
              </a:tr>
            </a:tbl>
          </a:graphicData>
        </a:graphic>
      </p:graphicFrame>
      <p:sp>
        <p:nvSpPr>
          <p:cNvPr id="4" name="">
            <a:extLst>
              <a:ext uri="{FF2B5EF4-FFF2-40B4-BE49-F238E27FC236}">
                <ns2:creationId id="{794BA387-D238-4252-AC37-3EA8791B43DE}"/>
              </a:ext>
            </a:extLst>
          </p:cNvPr>
          <p:cNvSpPr>
            <a:spLocks noGrp="1"/>
          </p:cNvSpPr>
          <p:nvPr/>
        </p:nvSpPr>
        <p:spPr>
          <a:xfrm>
            <a:off x="685800" y="6172200"/>
            <a:ext cx="10820400" cy="9525"/>
          </a:xfrm>
          <a:prstGeom prst="rect">
            <a:avLst/>
          </a:prstGeom>
          <a:solidFill>
            <a:srgbClr val="D5DEDD"/>
          </a:solidFill>
          <a:ln w="0">
            <a:noFill/>
          </a:ln>
        </p:spPr>
      </p:sp>
      <p:sp>
        <p:nvSpPr>
          <p:cNvPr id="5" name="">
            <a:extLst>
              <a:ext uri="{FF2B5EF4-FFF2-40B4-BE49-F238E27FC236}">
                <ns2:creationId id="{C66E3856-6D3F-4E7F-BC99-2B9C2057E89A}"/>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6" name="">
            <a:extLst>
              <a:ext uri="{FF2B5EF4-FFF2-40B4-BE49-F238E27FC236}">
                <ns2:creationId id="{7AB784CD-13B3-41D9-9CC0-03E3C417ED25}"/>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7" name="">
            <a:extLst>
              <a:ext uri="{FF2B5EF4-FFF2-40B4-BE49-F238E27FC236}">
                <ns2:creationId id="{33E1B936-520B-4AF7-A4A5-1E1FD7819D6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8" name="">
            <a:extLst>
              <a:ext uri="{FF2B5EF4-FFF2-40B4-BE49-F238E27FC236}">
                <ns2:creationId id="{86CD5BE1-46B1-49C4-8532-042A0285F648}"/>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078</a:t>
            </a:r>
          </a:p>
        </p:txBody>
      </p:sp>
    </p:spTree>
    <p:extLst>
      <p:ext uri="{BB962C8B-B14F-4D97-AF65-F5344CB8AC3E}">
        <ns4:creationId val="374795036"/>
      </p:ext>
    </p:extLst>
  </p:cSld>
</p:sld>
</file>

<file path=ppt/slides/slide7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E8D47864-6C38-49F0-8052-C5BCFB502709}"/>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62C81CC3-7F33-4811-95F4-37D9D2F64E34}"/>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추가 복습 · 새 문제</a:t>
            </a:r>
          </a:p>
        </p:txBody>
      </p:sp>
      <p:sp>
        <p:nvSpPr>
          <p:cNvPr id="3" name="">
            <a:extLst>
              <a:ext uri="{FF2B5EF4-FFF2-40B4-BE49-F238E27FC236}">
                <ns2:creationId id="{07FB366D-9BAF-4979-B6A9-157806DE49E8}"/>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추가 복습: 수량 목록 3·0·7·2</a:t>
            </a:r>
          </a:p>
        </p:txBody>
      </p:sp>
      <p:sp>
        <p:nvSpPr>
          <p:cNvPr id="4" name="">
            <a:extLst>
              <a:ext uri="{FF2B5EF4-FFF2-40B4-BE49-F238E27FC236}">
                <ns2:creationId id="{B0BD8186-B32B-4FD7-B6C2-21468AC58052}"/>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총수량과 2개 초과 주문 수를 구하세요.</a:t>
            </a:r>
          </a:p>
        </p:txBody>
      </p:sp>
      <p:sp>
        <p:nvSpPr>
          <p:cNvPr id="5" name="">
            <a:extLst>
              <a:ext uri="{FF2B5EF4-FFF2-40B4-BE49-F238E27FC236}">
                <ns2:creationId id="{91BC9095-3F54-45AB-99B8-97FD07E5693D}"/>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FB53C7EB-2EDE-40F3-AA12-26FFF756FFD5}"/>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4C0928E9-1F6F-4D25-8E67-30431CD24FB1}"/>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5C81E42D-31FC-40EA-BB95-DB00CC22BB94}"/>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D756D611-2D53-4AD2-85F0-2DAC78EE398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079</a:t>
            </a:r>
          </a:p>
        </p:txBody>
      </p:sp>
    </p:spTree>
    <p:extLst>
      <p:ext uri="{BB962C8B-B14F-4D97-AF65-F5344CB8AC3E}">
        <ns4:creationId val="1208025015"/>
      </p:ext>
    </p:extLst>
  </p:cSld>
</p:sld>
</file>

<file path=ppt/slides/slide8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792BC625-893F-4DCD-ABFF-138C119DCEB6}"/>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3999C554-0C87-4545-B81B-1C7B9A679FE2}"/>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총수량과 초과 주문 수</a:t>
            </a:r>
          </a:p>
        </p:txBody>
      </p:sp>
      <p:sp>
        <p:nvSpPr>
          <p:cNvPr id="3" name="">
            <a:extLst>
              <a:ext uri="{FF2B5EF4-FFF2-40B4-BE49-F238E27FC236}">
                <ns2:creationId id="{89C1E882-2018-4A1E-8042-C69BAD886311}"/>
              </a:ext>
            </a:extLst>
          </p:cNvPr>
          <p:cNvSpPr>
            <a:spLocks noGrp="1"/>
          </p:cNvSpPr>
          <p:nvPr/>
        </p:nvSpPr>
        <p:spPr>
          <a:xfrm>
            <a:off x="685800" y="193357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총수량은 12개, 초과 주문은 2건입니다.</a:t>
            </a:r>
          </a:p>
        </p:txBody>
      </p:sp>
      <p:sp>
        <p:nvSpPr>
          <p:cNvPr id="4" name="">
            <a:extLst>
              <a:ext uri="{FF2B5EF4-FFF2-40B4-BE49-F238E27FC236}">
                <ns2:creationId id="{F52ED2EF-E058-4B6A-839B-C84C320D62FA}"/>
              </a:ext>
            </a:extLst>
          </p:cNvPr>
          <p:cNvSpPr>
            <a:spLocks noGrp="1"/>
          </p:cNvSpPr>
          <p:nvPr/>
        </p:nvSpPr>
        <p:spPr>
          <a:xfrm>
            <a:off x="685800" y="276987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빈 목록에서는 반복하지 않아 합계와 건수가 처음 값 0입니다.</a:t>
            </a:r>
          </a:p>
        </p:txBody>
      </p:sp>
      <p:sp>
        <p:nvSpPr>
          <p:cNvPr id="5" name="">
            <a:extLst>
              <a:ext uri="{FF2B5EF4-FFF2-40B4-BE49-F238E27FC236}">
                <ns2:creationId id="{F33849CA-8F47-4845-9267-E5A1D0276CF8}"/>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추가 복습 · 새 문제</a:t>
            </a:r>
          </a:p>
        </p:txBody>
      </p:sp>
      <p:sp>
        <p:nvSpPr>
          <p:cNvPr id="6" name="">
            <a:extLst>
              <a:ext uri="{FF2B5EF4-FFF2-40B4-BE49-F238E27FC236}">
                <ns2:creationId id="{535C5ADC-7CFE-4108-AA4F-583ACC8E8F54}"/>
              </a:ext>
            </a:extLst>
          </p:cNvPr>
          <p:cNvSpPr>
            <a:spLocks noGrp="1"/>
          </p:cNvSpPr>
          <p:nvPr/>
        </p:nvSpPr>
        <p:spPr>
          <a:xfrm>
            <a:off x="6267450" y="2628900"/>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추가 복습: 수량 목록 3·0·7·2</a:t>
            </a:r>
          </a:p>
        </p:txBody>
      </p:sp>
      <p:sp>
        <p:nvSpPr>
          <p:cNvPr id="7" name="">
            <a:extLst>
              <a:ext uri="{FF2B5EF4-FFF2-40B4-BE49-F238E27FC236}">
                <ns2:creationId id="{E477C101-E1BC-4AA7-8F06-DE0D23FF5828}"/>
              </a:ext>
            </a:extLst>
          </p:cNvPr>
          <p:cNvSpPr>
            <a:spLocks noGrp="1"/>
          </p:cNvSpPr>
          <p:nvPr/>
        </p:nvSpPr>
        <p:spPr>
          <a:xfrm>
            <a:off x="6267450" y="3116771"/>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총수량과 2개 초과 주문 수를 구하세요.</a:t>
            </a:r>
          </a:p>
        </p:txBody>
      </p:sp>
      <p:sp>
        <p:nvSpPr>
          <p:cNvPr id="8" name="">
            <a:extLst>
              <a:ext uri="{FF2B5EF4-FFF2-40B4-BE49-F238E27FC236}">
                <ns2:creationId id="{1F9CB97E-A32A-4DE8-A615-D8FE960023FB}"/>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E2BC4EF5-BFD1-4B20-B1B4-361A3998D7B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D5ED666F-8DA4-4E83-9935-A5897BF73F6F}"/>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2457D50B-F6E4-41CD-A785-58C3F242E476}"/>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A8C36C07-9013-44CE-8FF7-944F3E34447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080</a:t>
            </a:r>
          </a:p>
        </p:txBody>
      </p:sp>
    </p:spTree>
    <p:extLst>
      <p:ext uri="{BB962C8B-B14F-4D97-AF65-F5344CB8AC3E}">
        <ns4:creationId val="1585829787"/>
      </p:ext>
    </p:extLst>
  </p:cSld>
</p:sld>
</file>

<file path=ppt/slides/slide8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8F3B21F0-5E5B-42CC-AFC9-110E5626514C}"/>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316D0073-BC4C-4D52-BAC9-B71B923E0E49}"/>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먼저 할 일 · 한 바퀴 추적</a:t>
            </a:r>
          </a:p>
        </p:txBody>
      </p:sp>
      <p:sp>
        <p:nvSpPr>
          <p:cNvPr id="3" name="">
            <a:extLst>
              <a:ext uri="{FF2B5EF4-FFF2-40B4-BE49-F238E27FC236}">
                <ns2:creationId id="{C1C3E697-99B3-4491-90AD-08D0FD63E558}"/>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A14 현재 항목과 출력을 적습니다.</a:t>
            </a:r>
          </a:p>
        </p:txBody>
      </p:sp>
      <p:sp>
        <p:nvSpPr>
          <p:cNvPr id="4" name="">
            <a:extLst>
              <a:ext uri="{FF2B5EF4-FFF2-40B4-BE49-F238E27FC236}">
                <ns2:creationId id="{042474FA-331A-4DBC-BB33-C10503E19A6D}"/>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A15 조건과 건수 변화를 적습니다.</a:t>
            </a:r>
          </a:p>
        </p:txBody>
      </p:sp>
      <p:sp>
        <p:nvSpPr>
          <p:cNvPr id="5" name="">
            <a:extLst>
              <a:ext uri="{FF2B5EF4-FFF2-40B4-BE49-F238E27FC236}">
                <ns2:creationId id="{A6AE4E9F-1BDC-40FB-92E1-CFCF8E4ECE67}"/>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869EE3F7-E288-4C64-9C42-3D5F3F636D2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26B69D78-E355-43B1-85DD-E57C4681823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CB367B08-5A84-48FC-8708-F33132379173}"/>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D1AB83DE-6C4D-434E-BF75-681AC837AD18}"/>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081</a:t>
            </a:r>
          </a:p>
        </p:txBody>
      </p:sp>
    </p:spTree>
    <p:extLst>
      <p:ext uri="{BB962C8B-B14F-4D97-AF65-F5344CB8AC3E}">
        <ns4:creationId val="1797094300"/>
      </p:ext>
    </p:extLst>
  </p:cSld>
</p:sld>
</file>

<file path=ppt/slides/slide8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54D3305B-BE84-49E9-894E-08B7AA1837A3}"/>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290DAD2D-9AD3-4BD2-A4AC-17D1FC799A6B}"/>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5교시 확인</a:t>
            </a:r>
          </a:p>
        </p:txBody>
      </p:sp>
      <p:sp>
        <p:nvSpPr>
          <p:cNvPr id="3" name="">
            <a:extLst>
              <a:ext uri="{FF2B5EF4-FFF2-40B4-BE49-F238E27FC236}">
                <ns2:creationId id="{A41ABDB6-C906-4E20-B9F8-6FF542C129D3}"/>
              </a:ext>
            </a:extLst>
          </p:cNvPr>
          <p:cNvSpPr>
            <a:spLocks noGrp="1"/>
          </p:cNvSpPr>
          <p:nvPr/>
        </p:nvSpPr>
        <p:spPr>
          <a:xfrm>
            <a:off x="685800" y="193357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초기 합계와 건수는 반복 전에 둡니다.</a:t>
            </a:r>
          </a:p>
        </p:txBody>
      </p:sp>
      <p:sp>
        <p:nvSpPr>
          <p:cNvPr id="4" name="">
            <a:extLst>
              <a:ext uri="{FF2B5EF4-FFF2-40B4-BE49-F238E27FC236}">
                <ns2:creationId id="{2E6FF474-4B9F-4EAC-BA33-1C3CA07FE0D5}"/>
              </a:ext>
            </a:extLst>
          </p:cNvPr>
          <p:cNvSpPr>
            <a:spLocks noGrp="1"/>
          </p:cNvSpPr>
          <p:nvPr/>
        </p:nvSpPr>
        <p:spPr>
          <a:xfrm>
            <a:off x="685800" y="243268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총수량과 해당 주문 수는 다른 질문입니다.</a:t>
            </a:r>
          </a:p>
        </p:txBody>
      </p:sp>
      <p:sp>
        <p:nvSpPr>
          <p:cNvPr id="5" name="">
            <a:extLst>
              <a:ext uri="{FF2B5EF4-FFF2-40B4-BE49-F238E27FC236}">
                <ns2:creationId id="{878F3B28-EBA5-4B67-B4AD-9D72B12B148D}"/>
              </a:ext>
            </a:extLst>
          </p:cNvPr>
          <p:cNvSpPr>
            <a:spLocks noGrp="1"/>
          </p:cNvSpPr>
          <p:nvPr/>
        </p:nvSpPr>
        <p:spPr>
          <a:xfrm>
            <a:off x="685800" y="326898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반복 안팎의 들여쓰기를 확인합니다.</a:t>
            </a:r>
          </a:p>
        </p:txBody>
      </p:sp>
      <p:sp>
        <p:nvSpPr>
          <p:cNvPr id="6" name="">
            <a:extLst>
              <a:ext uri="{FF2B5EF4-FFF2-40B4-BE49-F238E27FC236}">
                <ns2:creationId id="{B1A7FD30-C810-4D22-8113-32CF2F55EA1D}"/>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 건수의 현재 값</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1542076"/>
                <a:gridCol w="2157676"/>
                <a:gridCol w="1538998"/>
              </a:tblGrid>
              <a:tr h="514350">
                <a:tc>
                  <a:txBody>
                    <a:bodyPr wrap="square"/>
                    <a:lstStyle/>
                    <a:p>
                      <a:pPr>
                        <a:lnSpc>
                          <a:spcPct val="102000"/>
                        </a:lnSpc>
                        <a:buNone/>
                      </a:pPr>
                      <a:r>
                        <a:rPr sz="1875" b="1">
                          <a:solidFill>
                            <a:srgbClr val="172F39"/>
                          </a:solidFill>
                          <a:latin typeface="Noto Sans KR"/>
                          <a:ea typeface="Noto Sans KR"/>
                          <a:cs typeface="Noto Sans KR"/>
                        </a:rPr>
                        <a:t>온도</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24 초과?</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건수</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22.5</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거짓</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0</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24.0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거짓</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0</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25.0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참</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1</a:t>
                      </a:r>
                    </a:p>
                  </a:txBody>
                  <a:tcPr marL="114300" marR="114300" marT="76200" marB="76200" anchor="ctr">
                    <a:solidFill>
                      <a:srgbClr val="FFFFFF"/>
                    </a:solidFill>
                  </a:tcPr>
                </a:tc>
              </a:tr>
            </a:tbl>
          </a:graphicData>
        </a:graphic>
      </p:graphicFrame>
      <p:sp>
        <p:nvSpPr>
          <p:cNvPr id="8" name="">
            <a:extLst>
              <a:ext uri="{FF2B5EF4-FFF2-40B4-BE49-F238E27FC236}">
                <ns2:creationId id="{4577442E-696A-4337-A005-B3F780CEF2D0}"/>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2106034B-2548-4828-8A55-75359EC6DE5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0F3ED643-B430-42DF-B21E-279573F4DB72}"/>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2B05A0B1-898C-4418-BE46-8F0A7E0E688C}"/>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332013ED-8211-4F45-9AD4-142754BCD40C}"/>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082</a:t>
            </a:r>
          </a:p>
        </p:txBody>
      </p:sp>
    </p:spTree>
    <p:extLst>
      <p:ext uri="{BB962C8B-B14F-4D97-AF65-F5344CB8AC3E}">
        <ns4:creationId val="689008184"/>
      </p:ext>
    </p:extLst>
  </p:cSld>
</p:sld>
</file>

<file path=ppt/slides/slide8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8BAA1305-16FC-4639-AF11-1E4AC709DA5F}"/>
              </a:ext>
            </a:extLst>
          </p:cNvPr>
          <p:cNvSpPr>
            <a:spLocks noGrp="1"/>
          </p:cNvSpPr>
          <p:nvPr/>
        </p:nvSpPr>
        <p:spPr>
          <a:xfrm>
            <a:off x="685800" y="657225"/>
            <a:ext cx="10820400" cy="400050"/>
          </a:xfrm>
          <a:prstGeom prst="rect">
            <a:avLst/>
          </a:prstGeom>
          <a:noFill/>
          <a:ln w="0">
            <a:noFill/>
          </a:ln>
        </p:spPr>
        <p:txBody>
          <a:bodyPr wrap="square" lIns="0" tIns="0" rIns="0" bIns="0">
            <a:noAutofit/>
          </a:bodyPr>
          <a:lstStyle/>
          <a:p>
            <a:pPr>
              <a:defRPr sz="1950" b="1">
                <a:solidFill>
                  <a:srgbClr val="08786F"/>
                </a:solidFill>
                <a:latin typeface="Noto Sans KR"/>
                <a:ea typeface="Noto Sans KR"/>
                <a:cs typeface="Noto Sans KR"/>
              </a:defRPr>
            </a:pPr>
            <a:r>
              <a:t>6교시</a:t>
            </a:r>
          </a:p>
        </p:txBody>
      </p:sp>
      <p:sp>
        <p:nvSpPr>
          <p:cNvPr id="2" name="">
            <a:extLst>
              <a:ext uri="{FF2B5EF4-FFF2-40B4-BE49-F238E27FC236}">
                <ns2:creationId id="{D239BB74-361A-44C2-B81A-AE2DA6C7AAA3}"/>
              </a:ext>
            </a:extLst>
          </p:cNvPr>
          <p:cNvSpPr>
            <a:spLocks noGrp="1"/>
          </p:cNvSpPr>
          <p:nvPr/>
        </p:nvSpPr>
        <p:spPr>
          <a:xfrm>
            <a:off x="685800" y="1552575"/>
            <a:ext cx="10668000" cy="1905000"/>
          </a:xfrm>
          <a:prstGeom prst="rect">
            <a:avLst/>
          </a:prstGeom>
          <a:noFill/>
          <a:ln w="0">
            <a:noFill/>
          </a:ln>
        </p:spPr>
        <p:txBody>
          <a:bodyPr wrap="square" lIns="0" tIns="0" rIns="0" bIns="0">
            <a:noAutofit/>
          </a:bodyPr>
          <a:lstStyle/>
          <a:p>
            <a:pPr>
              <a:defRPr sz="4725" b="1">
                <a:solidFill>
                  <a:srgbClr val="172F39"/>
                </a:solidFill>
                <a:latin typeface="Noto Sans KR"/>
                <a:ea typeface="Noto Sans KR"/>
                <a:cs typeface="Noto Sans KR"/>
              </a:defRPr>
            </a:pPr>
            <a:r>
              <a:t>작은 점검 프로그램</a:t>
            </a:r>
          </a:p>
        </p:txBody>
      </p:sp>
      <p:sp>
        <p:nvSpPr>
          <p:cNvPr id="3" name="">
            <a:extLst>
              <a:ext uri="{FF2B5EF4-FFF2-40B4-BE49-F238E27FC236}">
                <ns2:creationId id="{40169253-3745-428C-A4F1-76D29042886E}"/>
              </a:ext>
            </a:extLst>
          </p:cNvPr>
          <p:cNvSpPr>
            <a:spLocks noGrp="1"/>
          </p:cNvSpPr>
          <p:nvPr/>
        </p:nvSpPr>
        <p:spPr>
          <a:xfrm>
            <a:off x="723900" y="3638550"/>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16:00~16:50 · 50분</a:t>
            </a:r>
          </a:p>
        </p:txBody>
      </p:sp>
      <p:sp>
        <p:nvSpPr>
          <p:cNvPr id="4" name="">
            <a:extLst>
              <a:ext uri="{FF2B5EF4-FFF2-40B4-BE49-F238E27FC236}">
                <ns2:creationId id="{3E4DF8A5-4FC5-4851-BE01-98F37B292C90}"/>
              </a:ext>
            </a:extLst>
          </p:cNvPr>
          <p:cNvSpPr>
            <a:spLocks noGrp="1"/>
          </p:cNvSpPr>
          <p:nvPr/>
        </p:nvSpPr>
        <p:spPr>
          <a:xfrm>
            <a:off x="723900" y="4160139"/>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먼저 할 활동: A16, A17, A18</a:t>
            </a:r>
          </a:p>
        </p:txBody>
      </p:sp>
      <p:sp>
        <p:nvSpPr>
          <p:cNvPr id="5" name="">
            <a:extLst>
              <a:ext uri="{FF2B5EF4-FFF2-40B4-BE49-F238E27FC236}">
                <ns2:creationId id="{519EDC1D-D402-42A6-9CBE-CEE418B7445E}"/>
              </a:ext>
            </a:extLst>
          </p:cNvPr>
          <p:cNvSpPr>
            <a:spLocks noGrp="1"/>
          </p:cNvSpPr>
          <p:nvPr/>
        </p:nvSpPr>
        <p:spPr>
          <a:xfrm>
            <a:off x="723900" y="4681728"/>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필수 활동을 마쳤으면 추가 문제를 풀어 보세요.</a:t>
            </a:r>
          </a:p>
        </p:txBody>
      </p:sp>
      <p:sp>
        <p:nvSpPr>
          <p:cNvPr id="6" name="">
            <a:extLst>
              <a:ext uri="{FF2B5EF4-FFF2-40B4-BE49-F238E27FC236}">
                <ns2:creationId id="{91AE40B4-6536-42FD-B1E2-12F5331E79CD}"/>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8DA15E2A-007E-4C52-B2E7-B53729BB7856}"/>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2B6ECFE9-77DF-4E01-A9A6-82153E85110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60D7CF8F-8260-4CC6-939A-C4A2DDBFAAFA}"/>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C12C4569-3063-4E99-9CE9-943ECBCA2CA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083</a:t>
            </a:r>
          </a:p>
        </p:txBody>
      </p:sp>
    </p:spTree>
    <p:extLst>
      <p:ext uri="{BB962C8B-B14F-4D97-AF65-F5344CB8AC3E}">
        <ns4:creationId val="520957625"/>
      </p:ext>
    </p:extLst>
  </p:cSld>
</p:sld>
</file>

<file path=ppt/slides/slide8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21" name="">
            <a:extLst>
              <a:ext uri="{FF2B5EF4-FFF2-40B4-BE49-F238E27FC236}">
                <ns2:creationId id="{9C0286D9-9D77-4263-85BF-AFE0621E65E5}"/>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82E1DADB-ED8B-48CF-8F9A-3AB5CFF4888F}"/>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완성 예 · 이름표가 있는 기록</a:t>
            </a:r>
          </a:p>
        </p:txBody>
      </p:sp>
      <p:sp>
        <p:nvSpPr>
          <p:cNvPr id="3" name="">
            <a:extLst>
              <a:ext uri="{FF2B5EF4-FFF2-40B4-BE49-F238E27FC236}">
                <ns2:creationId id="{1BF8128A-AC8C-493F-A00A-06137401B1A0}"/>
              </a:ext>
            </a:extLst>
          </p:cNvPr>
          <p:cNvSpPr>
            <a:spLocks noGrp="1"/>
          </p:cNvSpPr>
          <p:nvPr/>
        </p:nvSpPr>
        <p:spPr>
          <a:xfrm>
            <a:off x="685800" y="1809750"/>
            <a:ext cx="10820400" cy="2225802"/>
          </a:xfrm>
          <a:prstGeom prst="rect">
            <a:avLst/>
          </a:prstGeom>
          <a:solidFill>
            <a:srgbClr val="F1F6F5"/>
          </a:solidFill>
          <a:ln w="0">
            <a:noFill/>
          </a:ln>
        </p:spPr>
      </p:sp>
      <p:sp>
        <p:nvSpPr>
          <p:cNvPr id="4" name="">
            <a:extLst>
              <a:ext uri="{FF2B5EF4-FFF2-40B4-BE49-F238E27FC236}">
                <ns2:creationId id="{C56AE3DB-654D-49ED-AC74-DAB54F5B4954}"/>
              </a:ext>
            </a:extLst>
          </p:cNvPr>
          <p:cNvSpPr>
            <a:spLocks noGrp="1"/>
          </p:cNvSpPr>
          <p:nvPr/>
        </p:nvSpPr>
        <p:spPr>
          <a:xfrm>
            <a:off x="828675" y="197167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5" name="">
            <a:extLst>
              <a:ext uri="{FF2B5EF4-FFF2-40B4-BE49-F238E27FC236}">
                <ns2:creationId id="{A7F6A603-EAE4-4E99-8627-3D4391ECDFBE}"/>
              </a:ext>
            </a:extLst>
          </p:cNvPr>
          <p:cNvSpPr>
            <a:spLocks noGrp="1"/>
          </p:cNvSpPr>
          <p:nvPr/>
        </p:nvSpPr>
        <p:spPr>
          <a:xfrm>
            <a:off x="1276350" y="193357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records = [</a:t>
            </a:r>
          </a:p>
        </p:txBody>
      </p:sp>
      <p:sp>
        <p:nvSpPr>
          <p:cNvPr id="6" name="">
            <a:extLst>
              <a:ext uri="{FF2B5EF4-FFF2-40B4-BE49-F238E27FC236}">
                <ns2:creationId id="{858B49BA-407C-49B4-BE61-8069A08EFEA0}"/>
              </a:ext>
            </a:extLst>
          </p:cNvPr>
          <p:cNvSpPr>
            <a:spLocks noGrp="1"/>
          </p:cNvSpPr>
          <p:nvPr/>
        </p:nvSpPr>
        <p:spPr>
          <a:xfrm>
            <a:off x="828675" y="228866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7" name="">
            <a:extLst>
              <a:ext uri="{FF2B5EF4-FFF2-40B4-BE49-F238E27FC236}">
                <ns2:creationId id="{A4922785-0D3D-4B65-8892-B927F4AFEFA5}"/>
              </a:ext>
            </a:extLst>
          </p:cNvPr>
          <p:cNvSpPr>
            <a:spLocks noGrp="1"/>
          </p:cNvSpPr>
          <p:nvPr/>
        </p:nvSpPr>
        <p:spPr>
          <a:xfrm>
            <a:off x="1276350" y="225056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    {"sensor_id": "S01", "temperature_c": 22.5},</a:t>
            </a:r>
          </a:p>
        </p:txBody>
      </p:sp>
      <p:sp>
        <p:nvSpPr>
          <p:cNvPr id="8" name="">
            <a:extLst>
              <a:ext uri="{FF2B5EF4-FFF2-40B4-BE49-F238E27FC236}">
                <ns2:creationId id="{999D0CA9-B2CF-45A9-A509-010B383FC480}"/>
              </a:ext>
            </a:extLst>
          </p:cNvPr>
          <p:cNvSpPr>
            <a:spLocks noGrp="1"/>
          </p:cNvSpPr>
          <p:nvPr/>
        </p:nvSpPr>
        <p:spPr>
          <a:xfrm>
            <a:off x="828675" y="260565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9" name="">
            <a:extLst>
              <a:ext uri="{FF2B5EF4-FFF2-40B4-BE49-F238E27FC236}">
                <ns2:creationId id="{4079AC61-1FEB-4759-B7FC-F0E59B8DBC0C}"/>
              </a:ext>
            </a:extLst>
          </p:cNvPr>
          <p:cNvSpPr>
            <a:spLocks noGrp="1"/>
          </p:cNvSpPr>
          <p:nvPr/>
        </p:nvSpPr>
        <p:spPr>
          <a:xfrm>
            <a:off x="1276350" y="2567559"/>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    {"sensor_id": "S02", "temperature_c": 24.0},</a:t>
            </a:r>
          </a:p>
        </p:txBody>
      </p:sp>
      <p:sp>
        <p:nvSpPr>
          <p:cNvPr id="10" name="">
            <a:extLst>
              <a:ext uri="{FF2B5EF4-FFF2-40B4-BE49-F238E27FC236}">
                <ns2:creationId id="{339100B9-61F7-4F2D-A2F2-E72A0F3A7CA5}"/>
              </a:ext>
            </a:extLst>
          </p:cNvPr>
          <p:cNvSpPr>
            <a:spLocks noGrp="1"/>
          </p:cNvSpPr>
          <p:nvPr/>
        </p:nvSpPr>
        <p:spPr>
          <a:xfrm>
            <a:off x="828675" y="2922651"/>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1" name="">
            <a:extLst>
              <a:ext uri="{FF2B5EF4-FFF2-40B4-BE49-F238E27FC236}">
                <ns2:creationId id="{4BA39F82-FE6C-44E0-B63B-E26F5427C873}"/>
              </a:ext>
            </a:extLst>
          </p:cNvPr>
          <p:cNvSpPr>
            <a:spLocks noGrp="1"/>
          </p:cNvSpPr>
          <p:nvPr/>
        </p:nvSpPr>
        <p:spPr>
          <a:xfrm>
            <a:off x="1276350" y="2884551"/>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a:t>
            </a:r>
          </a:p>
        </p:txBody>
      </p:sp>
      <p:sp>
        <p:nvSpPr>
          <p:cNvPr id="12" name="">
            <a:extLst>
              <a:ext uri="{FF2B5EF4-FFF2-40B4-BE49-F238E27FC236}">
                <ns2:creationId id="{E5C7722E-34FC-46C7-A13C-92E315A96913}"/>
              </a:ext>
            </a:extLst>
          </p:cNvPr>
          <p:cNvSpPr>
            <a:spLocks noGrp="1"/>
          </p:cNvSpPr>
          <p:nvPr/>
        </p:nvSpPr>
        <p:spPr>
          <a:xfrm>
            <a:off x="828675" y="323964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05</a:t>
            </a:r>
          </a:p>
        </p:txBody>
      </p:sp>
      <p:sp>
        <p:nvSpPr>
          <p:cNvPr id="13" name="">
            <a:extLst>
              <a:ext uri="{FF2B5EF4-FFF2-40B4-BE49-F238E27FC236}">
                <ns2:creationId id="{2B7FD949-1D26-42D5-853F-561C0754760A}"/>
              </a:ext>
            </a:extLst>
          </p:cNvPr>
          <p:cNvSpPr>
            <a:spLocks noGrp="1"/>
          </p:cNvSpPr>
          <p:nvPr/>
        </p:nvSpPr>
        <p:spPr>
          <a:xfrm>
            <a:off x="1276350" y="3201543"/>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for record in records:</a:t>
            </a:r>
          </a:p>
        </p:txBody>
      </p:sp>
      <p:sp>
        <p:nvSpPr>
          <p:cNvPr id="14" name="">
            <a:extLst>
              <a:ext uri="{FF2B5EF4-FFF2-40B4-BE49-F238E27FC236}">
                <ns2:creationId id="{945A7708-4C7E-4154-B905-222B06FE00A2}"/>
              </a:ext>
            </a:extLst>
          </p:cNvPr>
          <p:cNvSpPr>
            <a:spLocks noGrp="1"/>
          </p:cNvSpPr>
          <p:nvPr/>
        </p:nvSpPr>
        <p:spPr>
          <a:xfrm>
            <a:off x="828675" y="355663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06</a:t>
            </a:r>
          </a:p>
        </p:txBody>
      </p:sp>
      <p:sp>
        <p:nvSpPr>
          <p:cNvPr id="15" name="">
            <a:extLst>
              <a:ext uri="{FF2B5EF4-FFF2-40B4-BE49-F238E27FC236}">
                <ns2:creationId id="{E741045B-AC4A-42CF-A1A6-8BC3EDE7DEAA}"/>
              </a:ext>
            </a:extLst>
          </p:cNvPr>
          <p:cNvSpPr>
            <a:spLocks noGrp="1"/>
          </p:cNvSpPr>
          <p:nvPr/>
        </p:nvSpPr>
        <p:spPr>
          <a:xfrm>
            <a:off x="1276350" y="351853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    print(record["sensor_id"], record["temperature_c"])</a:t>
            </a:r>
          </a:p>
        </p:txBody>
      </p:sp>
      <p:sp>
        <p:nvSpPr>
          <p:cNvPr id="16" name="">
            <a:extLst>
              <a:ext uri="{FF2B5EF4-FFF2-40B4-BE49-F238E27FC236}">
                <ns2:creationId id="{5AF9897E-B938-450B-B98B-937D78B57417}"/>
              </a:ext>
            </a:extLst>
          </p:cNvPr>
          <p:cNvSpPr>
            <a:spLocks noGrp="1"/>
          </p:cNvSpPr>
          <p:nvPr/>
        </p:nvSpPr>
        <p:spPr>
          <a:xfrm>
            <a:off x="685800" y="6172200"/>
            <a:ext cx="10820400" cy="9525"/>
          </a:xfrm>
          <a:prstGeom prst="rect">
            <a:avLst/>
          </a:prstGeom>
          <a:solidFill>
            <a:srgbClr val="D5DEDD"/>
          </a:solidFill>
          <a:ln w="0">
            <a:noFill/>
          </a:ln>
        </p:spPr>
      </p:sp>
      <p:sp>
        <p:nvSpPr>
          <p:cNvPr id="17" name="">
            <a:extLst>
              <a:ext uri="{FF2B5EF4-FFF2-40B4-BE49-F238E27FC236}">
                <ns2:creationId id="{AE169EE4-C430-4F0A-A421-536B80988511}"/>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8" name="">
            <a:extLst>
              <a:ext uri="{FF2B5EF4-FFF2-40B4-BE49-F238E27FC236}">
                <ns2:creationId id="{B2AE9D1D-A0C4-462F-978E-ED056B35056B}"/>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9" name="">
            <a:extLst>
              <a:ext uri="{FF2B5EF4-FFF2-40B4-BE49-F238E27FC236}">
                <ns2:creationId id="{2B267E8C-5075-43FD-A637-049D227885C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20" name="">
            <a:extLst>
              <a:ext uri="{FF2B5EF4-FFF2-40B4-BE49-F238E27FC236}">
                <ns2:creationId id="{2AE2BFBA-B051-4F93-95A0-7FA48C63347E}"/>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084</a:t>
            </a:r>
          </a:p>
        </p:txBody>
      </p:sp>
    </p:spTree>
    <p:extLst>
      <p:ext uri="{BB962C8B-B14F-4D97-AF65-F5344CB8AC3E}">
        <ns4:creationId val="983760409"/>
      </p:ext>
    </p:extLst>
  </p:cSld>
</p:sld>
</file>

<file path=ppt/slides/slide8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DE82D4C5-AC03-4D39-8864-9B9377E2D5A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B708883A-6DA1-4343-BB0F-80D832852FFB}"/>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목록 안의 딕셔너리 읽기</a:t>
            </a:r>
          </a:p>
        </p:txBody>
      </p:sp>
      <p:sp>
        <p:nvSpPr>
          <p:cNvPr id="3" name="">
            <a:extLst>
              <a:ext uri="{FF2B5EF4-FFF2-40B4-BE49-F238E27FC236}">
                <ns2:creationId id="{B923C3A3-72EF-43C5-9DF3-57BAD0E9FFA4}"/>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리스트</a:t>
            </a:r>
          </a:p>
        </p:txBody>
      </p:sp>
      <p:sp>
        <p:nvSpPr>
          <p:cNvPr id="4" name="">
            <a:extLst>
              <a:ext uri="{FF2B5EF4-FFF2-40B4-BE49-F238E27FC236}">
                <ns2:creationId id="{DC1A3BE5-1ED7-4AB5-B82C-B0A7CC2307C9}"/>
              </a:ext>
            </a:extLst>
          </p:cNvPr>
          <p:cNvSpPr>
            <a:spLocks noGrp="1"/>
          </p:cNvSpPr>
          <p:nvPr/>
        </p:nvSpPr>
        <p:spPr>
          <a:xfrm>
            <a:off x="685800" y="2447925"/>
            <a:ext cx="4953000" cy="473964"/>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리스트는 여러 기록을 묶습니다.</a:t>
            </a:r>
          </a:p>
        </p:txBody>
      </p:sp>
      <p:sp>
        <p:nvSpPr>
          <p:cNvPr id="5" name="">
            <a:extLst>
              <a:ext uri="{FF2B5EF4-FFF2-40B4-BE49-F238E27FC236}">
                <ns2:creationId id="{30C0A059-AC97-4303-80B4-D0B6ADF765D3}"/>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딕셔너리</a:t>
            </a:r>
          </a:p>
        </p:txBody>
      </p:sp>
      <p:sp>
        <p:nvSpPr>
          <p:cNvPr id="6" name="">
            <a:extLst>
              <a:ext uri="{FF2B5EF4-FFF2-40B4-BE49-F238E27FC236}">
                <ns2:creationId id="{062BCAC7-7320-4BDC-A217-61C650B70D19}"/>
              </a:ext>
            </a:extLst>
          </p:cNvPr>
          <p:cNvSpPr>
            <a:spLocks noGrp="1"/>
          </p:cNvSpPr>
          <p:nvPr/>
        </p:nvSpPr>
        <p:spPr>
          <a:xfrm>
            <a:off x="6400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딕셔너리는 한 기록의 이름과 값을 묶습니다.</a:t>
            </a:r>
          </a:p>
        </p:txBody>
      </p:sp>
      <p:sp>
        <p:nvSpPr>
          <p:cNvPr id="7" name="">
            <a:extLst>
              <a:ext uri="{FF2B5EF4-FFF2-40B4-BE49-F238E27FC236}">
                <ns2:creationId id="{F9BCD203-3481-44D7-9C24-DC683E864045}"/>
              </a:ext>
            </a:extLst>
          </p:cNvPr>
          <p:cNvSpPr>
            <a:spLocks noGrp="1"/>
          </p:cNvSpPr>
          <p:nvPr/>
        </p:nvSpPr>
        <p:spPr>
          <a:xfrm>
            <a:off x="685800" y="4943475"/>
            <a:ext cx="10820400" cy="9525"/>
          </a:xfrm>
          <a:prstGeom prst="rect">
            <a:avLst/>
          </a:prstGeom>
          <a:solidFill>
            <a:srgbClr val="D5DEDD"/>
          </a:solidFill>
          <a:ln w="0">
            <a:noFill/>
          </a:ln>
        </p:spPr>
      </p:sp>
      <p:sp>
        <p:nvSpPr>
          <p:cNvPr id="8" name="">
            <a:extLst>
              <a:ext uri="{FF2B5EF4-FFF2-40B4-BE49-F238E27FC236}">
                <ns2:creationId id="{B23E22A3-1837-4EB6-B2E0-C9F007F61291}"/>
              </a:ext>
            </a:extLst>
          </p:cNvPr>
          <p:cNvSpPr>
            <a:spLocks noGrp="1"/>
          </p:cNvSpPr>
          <p:nvPr/>
        </p:nvSpPr>
        <p:spPr>
          <a:xfrm>
            <a:off x="685800" y="5191125"/>
            <a:ext cx="10820400" cy="417767"/>
          </a:xfrm>
          <a:prstGeom prst="rect">
            <a:avLst/>
          </a:prstGeom>
          <a:noFill/>
          <a:ln w="0">
            <a:noFill/>
          </a:ln>
        </p:spPr>
        <p:txBody>
          <a:bodyPr wrap="square" lIns="0" tIns="0" rIns="0" bIns="0">
            <a:noAutofit/>
          </a:bodyPr>
          <a:lstStyle/>
          <a:p>
            <a:pPr>
              <a:defRPr sz="2025" b="1">
                <a:solidFill>
                  <a:srgbClr val="52636B"/>
                </a:solidFill>
                <a:latin typeface="Noto Sans KR"/>
                <a:ea typeface="Noto Sans KR"/>
                <a:cs typeface="Noto Sans KR"/>
              </a:defRPr>
            </a:pPr>
            <a:r>
              <a:t>장치명과 온도를 같은 기록에서 꺼냅니다.</a:t>
            </a:r>
          </a:p>
        </p:txBody>
      </p:sp>
      <p:sp>
        <p:nvSpPr>
          <p:cNvPr id="9" name="">
            <a:extLst>
              <a:ext uri="{FF2B5EF4-FFF2-40B4-BE49-F238E27FC236}">
                <ns2:creationId id="{CA30E289-FA94-46F8-8B30-B4344A7DCA80}"/>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FCF2E0B5-557A-4701-A582-9DDE94668101}"/>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1A3FBFA4-C598-4645-B8F3-D86041EE2350}"/>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9EE2244B-B57A-40AD-B86F-1878B523162D}"/>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D84A3601-9BB8-40AB-B316-B5C2CF7A2405}"/>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085</a:t>
            </a:r>
          </a:p>
        </p:txBody>
      </p:sp>
    </p:spTree>
    <p:extLst>
      <p:ext uri="{BB962C8B-B14F-4D97-AF65-F5344CB8AC3E}">
        <ns4:creationId val="2130975924"/>
      </p:ext>
    </p:extLst>
  </p:cSld>
</p:sld>
</file>

<file path=ppt/slides/slide8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6F3FD72F-A2E5-4244-B76E-9530591B9723}"/>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1C18B5CB-5863-4CDE-8CAC-8226638A8954}"/>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예상 출력 · 두 기록</a:t>
            </a:r>
          </a:p>
        </p:txBody>
      </p:sp>
      <p:sp>
        <p:nvSpPr>
          <p:cNvPr id="3" name="">
            <a:extLst>
              <a:ext uri="{FF2B5EF4-FFF2-40B4-BE49-F238E27FC236}">
                <ns2:creationId id="{82181435-BAF2-4C78-AB0E-881EDD132DA0}"/>
              </a:ext>
            </a:extLst>
          </p:cNvPr>
          <p:cNvSpPr>
            <a:spLocks noGrp="1"/>
          </p:cNvSpPr>
          <p:nvPr/>
        </p:nvSpPr>
        <p:spPr>
          <a:xfrm>
            <a:off x="685800" y="1809750"/>
            <a:ext cx="10820400" cy="957834"/>
          </a:xfrm>
          <a:prstGeom prst="rect">
            <a:avLst/>
          </a:prstGeom>
          <a:solidFill>
            <a:srgbClr val="F1F6F5"/>
          </a:solidFill>
          <a:ln w="0">
            <a:noFill/>
          </a:ln>
        </p:spPr>
      </p:sp>
      <p:sp>
        <p:nvSpPr>
          <p:cNvPr id="4" name="">
            <a:extLst>
              <a:ext uri="{FF2B5EF4-FFF2-40B4-BE49-F238E27FC236}">
                <ns2:creationId id="{F409F66A-6246-4EA7-91E9-D0011D8E5349}"/>
              </a:ext>
            </a:extLst>
          </p:cNvPr>
          <p:cNvSpPr>
            <a:spLocks noGrp="1"/>
          </p:cNvSpPr>
          <p:nvPr/>
        </p:nvSpPr>
        <p:spPr>
          <a:xfrm>
            <a:off x="828675" y="197167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5" name="">
            <a:extLst>
              <a:ext uri="{FF2B5EF4-FFF2-40B4-BE49-F238E27FC236}">
                <ns2:creationId id="{DBEE6F85-C925-411A-9D7F-CA03853DFF94}"/>
              </a:ext>
            </a:extLst>
          </p:cNvPr>
          <p:cNvSpPr>
            <a:spLocks noGrp="1"/>
          </p:cNvSpPr>
          <p:nvPr/>
        </p:nvSpPr>
        <p:spPr>
          <a:xfrm>
            <a:off x="1276350" y="193357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S01 22.5</a:t>
            </a:r>
          </a:p>
        </p:txBody>
      </p:sp>
      <p:sp>
        <p:nvSpPr>
          <p:cNvPr id="6" name="">
            <a:extLst>
              <a:ext uri="{FF2B5EF4-FFF2-40B4-BE49-F238E27FC236}">
                <ns2:creationId id="{1449810E-1A6D-4501-858A-A4A5DB6834D5}"/>
              </a:ext>
            </a:extLst>
          </p:cNvPr>
          <p:cNvSpPr>
            <a:spLocks noGrp="1"/>
          </p:cNvSpPr>
          <p:nvPr/>
        </p:nvSpPr>
        <p:spPr>
          <a:xfrm>
            <a:off x="828675" y="228866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7" name="">
            <a:extLst>
              <a:ext uri="{FF2B5EF4-FFF2-40B4-BE49-F238E27FC236}">
                <ns2:creationId id="{5B21B43D-AFD0-427C-9445-2A8835F01A3D}"/>
              </a:ext>
            </a:extLst>
          </p:cNvPr>
          <p:cNvSpPr>
            <a:spLocks noGrp="1"/>
          </p:cNvSpPr>
          <p:nvPr/>
        </p:nvSpPr>
        <p:spPr>
          <a:xfrm>
            <a:off x="1276350" y="225056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S02 24.0</a:t>
            </a:r>
          </a:p>
        </p:txBody>
      </p:sp>
      <p:sp>
        <p:nvSpPr>
          <p:cNvPr id="8" name="">
            <a:extLst>
              <a:ext uri="{FF2B5EF4-FFF2-40B4-BE49-F238E27FC236}">
                <ns2:creationId id="{3969D126-E151-4715-8F68-512E4862F5CD}"/>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B4CAEA99-9749-4537-99C8-B2F0488B72EC}"/>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AB9E237C-B2E3-4155-B0CE-77D9FE1FCEE7}"/>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5748CAC7-1A1C-4B62-BB38-C98420ACF5B0}"/>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F77100BA-24F1-4085-B4A5-36B45B615553}"/>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086</a:t>
            </a:r>
          </a:p>
        </p:txBody>
      </p:sp>
    </p:spTree>
    <p:extLst>
      <p:ext uri="{BB962C8B-B14F-4D97-AF65-F5344CB8AC3E}">
        <ns4:creationId val="29352072"/>
      </p:ext>
    </p:extLst>
  </p:cSld>
</p:sld>
</file>

<file path=ppt/slides/slide8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49050A1E-F7A3-414B-B859-24AE2053AC11}"/>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4CCEA055-0B0E-42EB-AC10-15A47E4337D7}"/>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온도 상태표의 세 갈래</a:t>
            </a:r>
          </a:p>
        </p:txBody>
      </p:sp>
      <p:sp>
        <p:nvSpPr>
          <p:cNvPr id="3" name="">
            <a:extLst>
              <a:ext uri="{FF2B5EF4-FFF2-40B4-BE49-F238E27FC236}">
                <ns2:creationId id="{C27F5141-D586-4D50-9AA2-BC8EFEAF7A54}"/>
              </a:ext>
            </a:extLst>
          </p:cNvPr>
          <p:cNvSpPr>
            <a:spLocks noGrp="1"/>
          </p:cNvSpPr>
          <p:nvPr/>
        </p:nvSpPr>
        <p:spPr>
          <a:xfrm>
            <a:off x="685800" y="193357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None이면 미측정입니다.</a:t>
            </a:r>
          </a:p>
        </p:txBody>
      </p:sp>
      <p:sp>
        <p:nvSpPr>
          <p:cNvPr id="4" name="">
            <a:extLst>
              <a:ext uri="{FF2B5EF4-FFF2-40B4-BE49-F238E27FC236}">
                <ns2:creationId id="{1022EF0E-37DA-48EF-8A2B-CA2C26413BA2}"/>
              </a:ext>
            </a:extLst>
          </p:cNvPr>
          <p:cNvSpPr>
            <a:spLocks noGrp="1"/>
          </p:cNvSpPr>
          <p:nvPr/>
        </p:nvSpPr>
        <p:spPr>
          <a:xfrm>
            <a:off x="685800" y="243268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24.0 초과이면 확인입니다.</a:t>
            </a:r>
          </a:p>
        </p:txBody>
      </p:sp>
      <p:sp>
        <p:nvSpPr>
          <p:cNvPr id="5" name="">
            <a:extLst>
              <a:ext uri="{FF2B5EF4-FFF2-40B4-BE49-F238E27FC236}">
                <ns2:creationId id="{6F3C5897-529E-4E15-BBED-FFE4642D8B9D}"/>
              </a:ext>
            </a:extLst>
          </p:cNvPr>
          <p:cNvSpPr>
            <a:spLocks noGrp="1"/>
          </p:cNvSpPr>
          <p:nvPr/>
        </p:nvSpPr>
        <p:spPr>
          <a:xfrm>
            <a:off x="685800" y="293179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그 외 숫자는 정상입니다.</a:t>
            </a:r>
          </a:p>
        </p:txBody>
      </p:sp>
      <p:sp>
        <p:nvSpPr>
          <p:cNvPr id="6" name="">
            <a:extLst>
              <a:ext uri="{FF2B5EF4-FFF2-40B4-BE49-F238E27FC236}">
                <ns2:creationId id="{6724AA84-03F1-4163-AF62-5FFC88748D48}"/>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제공 점검표의 결과</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1608953"/>
                <a:gridCol w="1699054"/>
                <a:gridCol w="1930743"/>
              </a:tblGrid>
              <a:tr h="514350">
                <a:tc>
                  <a:txBody>
                    <a:bodyPr wrap="square"/>
                    <a:lstStyle/>
                    <a:p>
                      <a:pPr>
                        <a:lnSpc>
                          <a:spcPct val="102000"/>
                        </a:lnSpc>
                        <a:buNone/>
                      </a:pPr>
                      <a:r>
                        <a:rPr sz="1875" b="1">
                          <a:solidFill>
                            <a:srgbClr val="172F39"/>
                          </a:solidFill>
                          <a:latin typeface="Noto Sans KR"/>
                          <a:ea typeface="Noto Sans KR"/>
                          <a:cs typeface="Noto Sans KR"/>
                        </a:rPr>
                        <a:t>장치</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온도</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상태</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S01</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22.5</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정상</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S02</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25.0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확인</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S03</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None</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미측정</a:t>
                      </a:r>
                    </a:p>
                  </a:txBody>
                  <a:tcPr marL="114300" marR="114300" marT="76200" marB="76200" anchor="ctr">
                    <a:solidFill>
                      <a:srgbClr val="FFFFFF"/>
                    </a:solidFill>
                  </a:tcPr>
                </a:tc>
              </a:tr>
            </a:tbl>
          </a:graphicData>
        </a:graphic>
      </p:graphicFrame>
      <p:sp>
        <p:nvSpPr>
          <p:cNvPr id="8" name="">
            <a:extLst>
              <a:ext uri="{FF2B5EF4-FFF2-40B4-BE49-F238E27FC236}">
                <ns2:creationId id="{C25D3114-C869-4FC1-8EF8-B93BB1E68109}"/>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F7EA0EBD-D9EF-4BA9-B99D-8B4A3D2DF6E7}"/>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27BFF878-E767-46A8-8252-6B3B726D7459}"/>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DFCBF381-ECC1-4783-B001-F5D686433CC3}"/>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2AC83708-4660-464E-BD10-DCCECBD99C48}"/>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087</a:t>
            </a:r>
          </a:p>
        </p:txBody>
      </p:sp>
    </p:spTree>
    <p:extLst>
      <p:ext uri="{BB962C8B-B14F-4D97-AF65-F5344CB8AC3E}">
        <ns4:creationId val="1222105452"/>
      </p:ext>
    </p:extLst>
  </p:cSld>
</p:sld>
</file>

<file path=ppt/slides/slide8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25" name="">
            <a:extLst>
              <a:ext uri="{FF2B5EF4-FFF2-40B4-BE49-F238E27FC236}">
                <ns2:creationId id="{6686F34C-7799-4FBD-802D-2107B1C6A194}"/>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25369629-4A75-4968-843D-4A840AA35612}"/>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완성 예 · 기록 하나의 상태</a:t>
            </a:r>
          </a:p>
        </p:txBody>
      </p:sp>
      <p:sp>
        <p:nvSpPr>
          <p:cNvPr id="3" name="">
            <a:extLst>
              <a:ext uri="{FF2B5EF4-FFF2-40B4-BE49-F238E27FC236}">
                <ns2:creationId id="{5548FECA-6449-48F6-900B-9DB9012D90A3}"/>
              </a:ext>
            </a:extLst>
          </p:cNvPr>
          <p:cNvSpPr>
            <a:spLocks noGrp="1"/>
          </p:cNvSpPr>
          <p:nvPr/>
        </p:nvSpPr>
        <p:spPr>
          <a:xfrm>
            <a:off x="685800" y="1809750"/>
            <a:ext cx="10820400" cy="2859786"/>
          </a:xfrm>
          <a:prstGeom prst="rect">
            <a:avLst/>
          </a:prstGeom>
          <a:solidFill>
            <a:srgbClr val="F1F6F5"/>
          </a:solidFill>
          <a:ln w="0">
            <a:noFill/>
          </a:ln>
        </p:spPr>
      </p:sp>
      <p:sp>
        <p:nvSpPr>
          <p:cNvPr id="4" name="">
            <a:extLst>
              <a:ext uri="{FF2B5EF4-FFF2-40B4-BE49-F238E27FC236}">
                <ns2:creationId id="{13B9ECF4-929E-4A07-ABE0-640891EE2078}"/>
              </a:ext>
            </a:extLst>
          </p:cNvPr>
          <p:cNvSpPr>
            <a:spLocks noGrp="1"/>
          </p:cNvSpPr>
          <p:nvPr/>
        </p:nvSpPr>
        <p:spPr>
          <a:xfrm>
            <a:off x="828675" y="197167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5" name="">
            <a:extLst>
              <a:ext uri="{FF2B5EF4-FFF2-40B4-BE49-F238E27FC236}">
                <ns2:creationId id="{0072AC09-B758-4928-A976-0CEFE81C30C2}"/>
              </a:ext>
            </a:extLst>
          </p:cNvPr>
          <p:cNvSpPr>
            <a:spLocks noGrp="1"/>
          </p:cNvSpPr>
          <p:nvPr/>
        </p:nvSpPr>
        <p:spPr>
          <a:xfrm>
            <a:off x="1276350" y="193357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value = None</a:t>
            </a:r>
          </a:p>
        </p:txBody>
      </p:sp>
      <p:sp>
        <p:nvSpPr>
          <p:cNvPr id="6" name="">
            <a:extLst>
              <a:ext uri="{FF2B5EF4-FFF2-40B4-BE49-F238E27FC236}">
                <ns2:creationId id="{1C13F71D-81AE-4C84-985A-657FEE71AF86}"/>
              </a:ext>
            </a:extLst>
          </p:cNvPr>
          <p:cNvSpPr>
            <a:spLocks noGrp="1"/>
          </p:cNvSpPr>
          <p:nvPr/>
        </p:nvSpPr>
        <p:spPr>
          <a:xfrm>
            <a:off x="828675" y="228866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7" name="">
            <a:extLst>
              <a:ext uri="{FF2B5EF4-FFF2-40B4-BE49-F238E27FC236}">
                <ns2:creationId id="{035126C7-193E-4CE3-94B5-D625BAB6078C}"/>
              </a:ext>
            </a:extLst>
          </p:cNvPr>
          <p:cNvSpPr>
            <a:spLocks noGrp="1"/>
          </p:cNvSpPr>
          <p:nvPr/>
        </p:nvSpPr>
        <p:spPr>
          <a:xfrm>
            <a:off x="1276350" y="225056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if value is None:</a:t>
            </a:r>
          </a:p>
        </p:txBody>
      </p:sp>
      <p:sp>
        <p:nvSpPr>
          <p:cNvPr id="8" name="">
            <a:extLst>
              <a:ext uri="{FF2B5EF4-FFF2-40B4-BE49-F238E27FC236}">
                <ns2:creationId id="{0515B64A-BCA3-407C-8435-5068DAB94DDA}"/>
              </a:ext>
            </a:extLst>
          </p:cNvPr>
          <p:cNvSpPr>
            <a:spLocks noGrp="1"/>
          </p:cNvSpPr>
          <p:nvPr/>
        </p:nvSpPr>
        <p:spPr>
          <a:xfrm>
            <a:off x="828675" y="260565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9" name="">
            <a:extLst>
              <a:ext uri="{FF2B5EF4-FFF2-40B4-BE49-F238E27FC236}">
                <ns2:creationId id="{DA10D5EE-771B-4253-919B-5104547803A1}"/>
              </a:ext>
            </a:extLst>
          </p:cNvPr>
          <p:cNvSpPr>
            <a:spLocks noGrp="1"/>
          </p:cNvSpPr>
          <p:nvPr/>
        </p:nvSpPr>
        <p:spPr>
          <a:xfrm>
            <a:off x="1276350" y="2567559"/>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    status = "미측정"</a:t>
            </a:r>
          </a:p>
        </p:txBody>
      </p:sp>
      <p:sp>
        <p:nvSpPr>
          <p:cNvPr id="10" name="">
            <a:extLst>
              <a:ext uri="{FF2B5EF4-FFF2-40B4-BE49-F238E27FC236}">
                <ns2:creationId id="{4D248273-2205-43A6-8D56-719C1072BF15}"/>
              </a:ext>
            </a:extLst>
          </p:cNvPr>
          <p:cNvSpPr>
            <a:spLocks noGrp="1"/>
          </p:cNvSpPr>
          <p:nvPr/>
        </p:nvSpPr>
        <p:spPr>
          <a:xfrm>
            <a:off x="828675" y="2922651"/>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1" name="">
            <a:extLst>
              <a:ext uri="{FF2B5EF4-FFF2-40B4-BE49-F238E27FC236}">
                <ns2:creationId id="{11C13DDA-11B6-492D-BAFB-B7A76DFF7BB6}"/>
              </a:ext>
            </a:extLst>
          </p:cNvPr>
          <p:cNvSpPr>
            <a:spLocks noGrp="1"/>
          </p:cNvSpPr>
          <p:nvPr/>
        </p:nvSpPr>
        <p:spPr>
          <a:xfrm>
            <a:off x="1276350" y="2884551"/>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elif value &gt; 24.0:</a:t>
            </a:r>
          </a:p>
        </p:txBody>
      </p:sp>
      <p:sp>
        <p:nvSpPr>
          <p:cNvPr id="12" name="">
            <a:extLst>
              <a:ext uri="{FF2B5EF4-FFF2-40B4-BE49-F238E27FC236}">
                <ns2:creationId id="{2B00CE8D-6E87-48F2-A635-AC6AFF879075}"/>
              </a:ext>
            </a:extLst>
          </p:cNvPr>
          <p:cNvSpPr>
            <a:spLocks noGrp="1"/>
          </p:cNvSpPr>
          <p:nvPr/>
        </p:nvSpPr>
        <p:spPr>
          <a:xfrm>
            <a:off x="828675" y="323964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05</a:t>
            </a:r>
          </a:p>
        </p:txBody>
      </p:sp>
      <p:sp>
        <p:nvSpPr>
          <p:cNvPr id="13" name="">
            <a:extLst>
              <a:ext uri="{FF2B5EF4-FFF2-40B4-BE49-F238E27FC236}">
                <ns2:creationId id="{31EA6A5A-EAB7-4833-A8EF-D67E85432E53}"/>
              </a:ext>
            </a:extLst>
          </p:cNvPr>
          <p:cNvSpPr>
            <a:spLocks noGrp="1"/>
          </p:cNvSpPr>
          <p:nvPr/>
        </p:nvSpPr>
        <p:spPr>
          <a:xfrm>
            <a:off x="1276350" y="3201543"/>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    status = "확인"</a:t>
            </a:r>
          </a:p>
        </p:txBody>
      </p:sp>
      <p:sp>
        <p:nvSpPr>
          <p:cNvPr id="14" name="">
            <a:extLst>
              <a:ext uri="{FF2B5EF4-FFF2-40B4-BE49-F238E27FC236}">
                <ns2:creationId id="{A95BF820-1207-4126-A844-7E7E0B2DBE84}"/>
              </a:ext>
            </a:extLst>
          </p:cNvPr>
          <p:cNvSpPr>
            <a:spLocks noGrp="1"/>
          </p:cNvSpPr>
          <p:nvPr/>
        </p:nvSpPr>
        <p:spPr>
          <a:xfrm>
            <a:off x="828675" y="355663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06</a:t>
            </a:r>
          </a:p>
        </p:txBody>
      </p:sp>
      <p:sp>
        <p:nvSpPr>
          <p:cNvPr id="15" name="">
            <a:extLst>
              <a:ext uri="{FF2B5EF4-FFF2-40B4-BE49-F238E27FC236}">
                <ns2:creationId id="{EB062921-470F-43AA-9837-52624B5766D3}"/>
              </a:ext>
            </a:extLst>
          </p:cNvPr>
          <p:cNvSpPr>
            <a:spLocks noGrp="1"/>
          </p:cNvSpPr>
          <p:nvPr/>
        </p:nvSpPr>
        <p:spPr>
          <a:xfrm>
            <a:off x="1276350" y="351853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else:</a:t>
            </a:r>
          </a:p>
        </p:txBody>
      </p:sp>
      <p:sp>
        <p:nvSpPr>
          <p:cNvPr id="16" name="">
            <a:extLst>
              <a:ext uri="{FF2B5EF4-FFF2-40B4-BE49-F238E27FC236}">
                <ns2:creationId id="{3293B6E8-DA55-4ED6-A9A5-3C658A6203B2}"/>
              </a:ext>
            </a:extLst>
          </p:cNvPr>
          <p:cNvSpPr>
            <a:spLocks noGrp="1"/>
          </p:cNvSpPr>
          <p:nvPr/>
        </p:nvSpPr>
        <p:spPr>
          <a:xfrm>
            <a:off x="828675" y="387362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07</a:t>
            </a:r>
          </a:p>
        </p:txBody>
      </p:sp>
      <p:sp>
        <p:nvSpPr>
          <p:cNvPr id="17" name="">
            <a:extLst>
              <a:ext uri="{FF2B5EF4-FFF2-40B4-BE49-F238E27FC236}">
                <ns2:creationId id="{7C0B96A4-E078-4CD3-A6FF-C3B0C6E4F4B7}"/>
              </a:ext>
            </a:extLst>
          </p:cNvPr>
          <p:cNvSpPr>
            <a:spLocks noGrp="1"/>
          </p:cNvSpPr>
          <p:nvPr/>
        </p:nvSpPr>
        <p:spPr>
          <a:xfrm>
            <a:off x="1276350" y="383552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    status = "정상"</a:t>
            </a:r>
          </a:p>
        </p:txBody>
      </p:sp>
      <p:sp>
        <p:nvSpPr>
          <p:cNvPr id="18" name="">
            <a:extLst>
              <a:ext uri="{FF2B5EF4-FFF2-40B4-BE49-F238E27FC236}">
                <ns2:creationId id="{15E09A81-C7E7-47C8-9DAC-A0C3445210F4}"/>
              </a:ext>
            </a:extLst>
          </p:cNvPr>
          <p:cNvSpPr>
            <a:spLocks noGrp="1"/>
          </p:cNvSpPr>
          <p:nvPr/>
        </p:nvSpPr>
        <p:spPr>
          <a:xfrm>
            <a:off x="828675" y="419061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08</a:t>
            </a:r>
          </a:p>
        </p:txBody>
      </p:sp>
      <p:sp>
        <p:nvSpPr>
          <p:cNvPr id="19" name="">
            <a:extLst>
              <a:ext uri="{FF2B5EF4-FFF2-40B4-BE49-F238E27FC236}">
                <ns2:creationId id="{4E39400E-1E3B-4CFF-834D-0463BE38BC36}"/>
              </a:ext>
            </a:extLst>
          </p:cNvPr>
          <p:cNvSpPr>
            <a:spLocks noGrp="1"/>
          </p:cNvSpPr>
          <p:nvPr/>
        </p:nvSpPr>
        <p:spPr>
          <a:xfrm>
            <a:off x="1276350" y="4152519"/>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print(status)</a:t>
            </a:r>
          </a:p>
        </p:txBody>
      </p:sp>
      <p:sp>
        <p:nvSpPr>
          <p:cNvPr id="20" name="">
            <a:extLst>
              <a:ext uri="{FF2B5EF4-FFF2-40B4-BE49-F238E27FC236}">
                <ns2:creationId id="{2F110061-C4B9-494F-9FDF-1DD3C859A6BC}"/>
              </a:ext>
            </a:extLst>
          </p:cNvPr>
          <p:cNvSpPr>
            <a:spLocks noGrp="1"/>
          </p:cNvSpPr>
          <p:nvPr/>
        </p:nvSpPr>
        <p:spPr>
          <a:xfrm>
            <a:off x="685800" y="6172200"/>
            <a:ext cx="10820400" cy="9525"/>
          </a:xfrm>
          <a:prstGeom prst="rect">
            <a:avLst/>
          </a:prstGeom>
          <a:solidFill>
            <a:srgbClr val="D5DEDD"/>
          </a:solidFill>
          <a:ln w="0">
            <a:noFill/>
          </a:ln>
        </p:spPr>
      </p:sp>
      <p:sp>
        <p:nvSpPr>
          <p:cNvPr id="21" name="">
            <a:extLst>
              <a:ext uri="{FF2B5EF4-FFF2-40B4-BE49-F238E27FC236}">
                <ns2:creationId id="{FBAB0B68-489A-4202-8C5B-CB797EC45F9C}"/>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22" name="">
            <a:extLst>
              <a:ext uri="{FF2B5EF4-FFF2-40B4-BE49-F238E27FC236}">
                <ns2:creationId id="{B1110E41-E9AC-4DE1-BFC7-9D41455F24AA}"/>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23" name="">
            <a:extLst>
              <a:ext uri="{FF2B5EF4-FFF2-40B4-BE49-F238E27FC236}">
                <ns2:creationId id="{728539F9-76FB-4F82-A76F-85D263F88CD6}"/>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24" name="">
            <a:extLst>
              <a:ext uri="{FF2B5EF4-FFF2-40B4-BE49-F238E27FC236}">
                <ns2:creationId id="{C52AEC43-FBA4-4D8A-94E8-6168B0C356CC}"/>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088</a:t>
            </a:r>
          </a:p>
        </p:txBody>
      </p:sp>
    </p:spTree>
    <p:extLst>
      <p:ext uri="{BB962C8B-B14F-4D97-AF65-F5344CB8AC3E}">
        <ns4:creationId val="1454132286"/>
      </p:ext>
    </p:extLst>
  </p:cSld>
</p:sld>
</file>

<file path=ppt/slides/slide8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9" name="">
            <a:extLst>
              <a:ext uri="{FF2B5EF4-FFF2-40B4-BE49-F238E27FC236}">
                <ns2:creationId id="{67CF25F4-65FD-4F60-87E1-CB412815E93D}"/>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837930FF-D4F7-490C-99C6-18339BE5A92C}"/>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제공 점검표의 결과</a:t>
            </a:r>
          </a:p>
        </p:txBody>
      </p:sp>
      <p:graphicFrame>
        <p:nvGraphicFramePr>
          <p:cNvPr id="11" name=""/>
          <p:cNvGraphicFramePr/>
          <p:nvPr/>
        </p:nvGraphicFramePr>
        <p:xfrm>
          <a:off x="685800" y="1809750"/>
          <a:ext cx="10820400" cy="2145792"/>
        </p:xfrm>
        <a:graphic>
          <a:graphicData uri="http://schemas.openxmlformats.org/drawingml/2006/table">
            <a:tbl>
              <a:tblPr firstRow="1" bandRow="0"/>
              <a:tblGrid>
                <a:gridCol w="3323219"/>
                <a:gridCol w="3509319"/>
                <a:gridCol w="3987862"/>
              </a:tblGrid>
              <a:tr h="536448">
                <a:tc>
                  <a:txBody>
                    <a:bodyPr wrap="square"/>
                    <a:lstStyle/>
                    <a:p>
                      <a:pPr>
                        <a:lnSpc>
                          <a:spcPct val="102000"/>
                        </a:lnSpc>
                        <a:buNone/>
                      </a:pPr>
                      <a:r>
                        <a:rPr sz="2025" b="1">
                          <a:solidFill>
                            <a:srgbClr val="172F39"/>
                          </a:solidFill>
                          <a:latin typeface="Noto Sans KR"/>
                          <a:ea typeface="Noto Sans KR"/>
                          <a:cs typeface="Noto Sans KR"/>
                        </a:rPr>
                        <a:t>장치</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온도</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상태</a:t>
                      </a:r>
                    </a:p>
                  </a:txBody>
                  <a:tcPr marL="114300" marR="114300" marT="76200" marB="76200" anchor="ctr">
                    <a:solidFill>
                      <a:srgbClr val="DCECE8"/>
                    </a:solidFill>
                  </a:tcPr>
                </a:tc>
              </a:tr>
              <a:tr h="536448">
                <a:tc>
                  <a:txBody>
                    <a:bodyPr wrap="square"/>
                    <a:lstStyle/>
                    <a:p>
                      <a:pPr>
                        <a:lnSpc>
                          <a:spcPct val="102000"/>
                        </a:lnSpc>
                        <a:buNone/>
                      </a:pPr>
                      <a:r>
                        <a:rPr sz="2025" b="0">
                          <a:solidFill>
                            <a:srgbClr val="172F39"/>
                          </a:solidFill>
                          <a:latin typeface="Noto Sans KR"/>
                          <a:ea typeface="Noto Sans KR"/>
                          <a:cs typeface="Noto Sans KR"/>
                        </a:rPr>
                        <a:t>S01</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22.5</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정상</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S02</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25.0</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확인</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S03</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None</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미측정</a:t>
                      </a:r>
                    </a:p>
                  </a:txBody>
                  <a:tcPr marL="114300" marR="114300" marT="76200" marB="76200" anchor="ctr">
                    <a:solidFill>
                      <a:srgbClr val="FFFFFF"/>
                    </a:solidFill>
                  </a:tcPr>
                </a:tc>
              </a:tr>
            </a:tbl>
          </a:graphicData>
        </a:graphic>
      </p:graphicFrame>
      <p:sp>
        <p:nvSpPr>
          <p:cNvPr id="4" name="">
            <a:extLst>
              <a:ext uri="{FF2B5EF4-FFF2-40B4-BE49-F238E27FC236}">
                <ns2:creationId id="{D3A01AF3-C5E5-42B7-8FF1-B43518752482}"/>
              </a:ext>
            </a:extLst>
          </p:cNvPr>
          <p:cNvSpPr>
            <a:spLocks noGrp="1"/>
          </p:cNvSpPr>
          <p:nvPr/>
        </p:nvSpPr>
        <p:spPr>
          <a:xfrm>
            <a:off x="685800" y="6172200"/>
            <a:ext cx="10820400" cy="9525"/>
          </a:xfrm>
          <a:prstGeom prst="rect">
            <a:avLst/>
          </a:prstGeom>
          <a:solidFill>
            <a:srgbClr val="D5DEDD"/>
          </a:solidFill>
          <a:ln w="0">
            <a:noFill/>
          </a:ln>
        </p:spPr>
      </p:sp>
      <p:sp>
        <p:nvSpPr>
          <p:cNvPr id="5" name="">
            <a:extLst>
              <a:ext uri="{FF2B5EF4-FFF2-40B4-BE49-F238E27FC236}">
                <ns2:creationId id="{A725EE37-0AC8-48F3-9393-AF6F94F59002}"/>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6" name="">
            <a:extLst>
              <a:ext uri="{FF2B5EF4-FFF2-40B4-BE49-F238E27FC236}">
                <ns2:creationId id="{77BE88F0-C37C-4B42-8924-0F5F5ED46370}"/>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7" name="">
            <a:extLst>
              <a:ext uri="{FF2B5EF4-FFF2-40B4-BE49-F238E27FC236}">
                <ns2:creationId id="{B62159A4-9274-4DC3-AB7B-CC8139706008}"/>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8" name="">
            <a:extLst>
              <a:ext uri="{FF2B5EF4-FFF2-40B4-BE49-F238E27FC236}">
                <ns2:creationId id="{6FBCC369-29F6-4355-8DD7-3C2D6ADBB16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089</a:t>
            </a:r>
          </a:p>
        </p:txBody>
      </p:sp>
    </p:spTree>
    <p:extLst>
      <p:ext uri="{BB962C8B-B14F-4D97-AF65-F5344CB8AC3E}">
        <ns4:creationId val="1048200767"/>
      </p:ext>
    </p:extLst>
  </p:cSld>
</p:sld>
</file>

<file path=ppt/slides/slide9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21C14157-9EC3-44D7-86B7-5B1A803DEE32}"/>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0C14DE18-3773-4A90-A1EE-DD92D10760E8}"/>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새 입력을 검수하기</a:t>
            </a:r>
          </a:p>
        </p:txBody>
      </p:sp>
      <p:sp>
        <p:nvSpPr>
          <p:cNvPr id="3" name="">
            <a:extLst>
              <a:ext uri="{FF2B5EF4-FFF2-40B4-BE49-F238E27FC236}">
                <ns2:creationId id="{BAB8BE95-87B0-4981-9891-3F741A11947B}"/>
              </a:ext>
            </a:extLst>
          </p:cNvPr>
          <p:cNvSpPr>
            <a:spLocks noGrp="1"/>
          </p:cNvSpPr>
          <p:nvPr/>
        </p:nvSpPr>
        <p:spPr>
          <a:xfrm>
            <a:off x="685800" y="193357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기준과 미측정 규칙을 유지합니다.</a:t>
            </a:r>
          </a:p>
        </p:txBody>
      </p:sp>
      <p:sp>
        <p:nvSpPr>
          <p:cNvPr id="4" name="">
            <a:extLst>
              <a:ext uri="{FF2B5EF4-FFF2-40B4-BE49-F238E27FC236}">
                <ns2:creationId id="{B2FEF425-31EB-4852-9AB0-EDCED082FFAB}"/>
              </a:ext>
            </a:extLst>
          </p:cNvPr>
          <p:cNvSpPr>
            <a:spLocks noGrp="1"/>
          </p:cNvSpPr>
          <p:nvPr/>
        </p:nvSpPr>
        <p:spPr>
          <a:xfrm>
            <a:off x="685800" y="243268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문자 "24.0"은 숫자와 저장 종류가 다릅니다.</a:t>
            </a:r>
          </a:p>
        </p:txBody>
      </p:sp>
      <p:sp>
        <p:nvSpPr>
          <p:cNvPr id="5" name="">
            <a:extLst>
              <a:ext uri="{FF2B5EF4-FFF2-40B4-BE49-F238E27FC236}">
                <ns2:creationId id="{1AB51D1B-8627-43F8-8123-AB2F18ADD635}"/>
              </a:ext>
            </a:extLst>
          </p:cNvPr>
          <p:cNvSpPr>
            <a:spLocks noGrp="1"/>
          </p:cNvSpPr>
          <p:nvPr/>
        </p:nvSpPr>
        <p:spPr>
          <a:xfrm>
            <a:off x="685800" y="326898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어떤 종류의 값을 받을 수 있는지 다음 담당자에게 알려 줍니다.</a:t>
            </a:r>
          </a:p>
        </p:txBody>
      </p:sp>
      <p:sp>
        <p:nvSpPr>
          <p:cNvPr id="6" name="">
            <a:extLst>
              <a:ext uri="{FF2B5EF4-FFF2-40B4-BE49-F238E27FC236}">
                <ns2:creationId id="{CC468A51-F933-4435-9D3A-FBA5C81BB965}"/>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제공 점검표의 결과</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1608953"/>
                <a:gridCol w="1699054"/>
                <a:gridCol w="1930743"/>
              </a:tblGrid>
              <a:tr h="514350">
                <a:tc>
                  <a:txBody>
                    <a:bodyPr wrap="square"/>
                    <a:lstStyle/>
                    <a:p>
                      <a:pPr>
                        <a:lnSpc>
                          <a:spcPct val="102000"/>
                        </a:lnSpc>
                        <a:buNone/>
                      </a:pPr>
                      <a:r>
                        <a:rPr sz="1875" b="1">
                          <a:solidFill>
                            <a:srgbClr val="172F39"/>
                          </a:solidFill>
                          <a:latin typeface="Noto Sans KR"/>
                          <a:ea typeface="Noto Sans KR"/>
                          <a:cs typeface="Noto Sans KR"/>
                        </a:rPr>
                        <a:t>장치</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온도</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상태</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S01</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22.5</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정상</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S02</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25.0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확인</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S03</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None</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미측정</a:t>
                      </a:r>
                    </a:p>
                  </a:txBody>
                  <a:tcPr marL="114300" marR="114300" marT="76200" marB="76200" anchor="ctr">
                    <a:solidFill>
                      <a:srgbClr val="FFFFFF"/>
                    </a:solidFill>
                  </a:tcPr>
                </a:tc>
              </a:tr>
            </a:tbl>
          </a:graphicData>
        </a:graphic>
      </p:graphicFrame>
      <p:sp>
        <p:nvSpPr>
          <p:cNvPr id="8" name="">
            <a:extLst>
              <a:ext uri="{FF2B5EF4-FFF2-40B4-BE49-F238E27FC236}">
                <ns2:creationId id="{31AA6407-3D8A-479A-ABA9-14B164DE8280}"/>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5BF5A150-DD68-434F-9B21-7F97E07A8BE8}"/>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B85E920A-41EE-4D60-82A8-7574397CEAA5}"/>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2108044C-D50B-4423-ACB2-FAC831035B7F}"/>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0B5BBB0F-8768-40C5-A3D6-369FBCB8A8BF}"/>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090</a:t>
            </a:r>
          </a:p>
        </p:txBody>
      </p:sp>
    </p:spTree>
    <p:extLst>
      <p:ext uri="{BB962C8B-B14F-4D97-AF65-F5344CB8AC3E}">
        <ns4:creationId val="1127603543"/>
      </p:ext>
    </p:extLst>
  </p:cSld>
</p:sld>
</file>

<file path=ppt/slides/slide9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31" name="">
            <a:extLst>
              <a:ext uri="{FF2B5EF4-FFF2-40B4-BE49-F238E27FC236}">
                <ns2:creationId id="{D9D2A605-66FD-4702-A260-43419B502DFD}"/>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F48C9B0B-90E3-47F2-B944-0CAC752E26EB}"/>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이름표가 없으면 KeyError를 봅니다</a:t>
            </a:r>
          </a:p>
        </p:txBody>
      </p:sp>
      <p:sp>
        <p:nvSpPr>
          <p:cNvPr id="3" name="">
            <a:extLst>
              <a:ext uri="{FF2B5EF4-FFF2-40B4-BE49-F238E27FC236}">
                <ns2:creationId id="{E5A4D49C-EA74-4B84-BC71-3AACEDB4EFA5}"/>
              </a:ext>
            </a:extLst>
          </p:cNvPr>
          <p:cNvSpPr>
            <a:spLocks noGrp="1"/>
          </p:cNvSpPr>
          <p:nvPr/>
        </p:nvSpPr>
        <p:spPr>
          <a:xfrm>
            <a:off x="685800" y="193357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temperature와 temperature_c는 다릅니다.</a:t>
            </a:r>
          </a:p>
        </p:txBody>
      </p:sp>
      <p:sp>
        <p:nvSpPr>
          <p:cNvPr id="4" name="">
            <a:extLst>
              <a:ext uri="{FF2B5EF4-FFF2-40B4-BE49-F238E27FC236}">
                <ns2:creationId id="{4DA05EE5-F316-42F7-BF93-1399D5C728AF}"/>
              </a:ext>
            </a:extLst>
          </p:cNvPr>
          <p:cNvSpPr>
            <a:spLocks noGrp="1"/>
          </p:cNvSpPr>
          <p:nvPr/>
        </p:nvSpPr>
        <p:spPr>
          <a:xfrm>
            <a:off x="685800" y="276987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파일의 항목 이름과 코드에서 찾는 키를 비교합니다.</a:t>
            </a:r>
          </a:p>
        </p:txBody>
      </p:sp>
      <p:sp>
        <p:nvSpPr>
          <p:cNvPr id="5" name="">
            <a:extLst>
              <a:ext uri="{FF2B5EF4-FFF2-40B4-BE49-F238E27FC236}">
                <ns2:creationId id="{C6CD2CF1-A74D-4258-BC51-943AF679A5B8}"/>
              </a:ext>
            </a:extLst>
          </p:cNvPr>
          <p:cNvSpPr>
            <a:spLocks noGrp="1"/>
          </p:cNvSpPr>
          <p:nvPr/>
        </p:nvSpPr>
        <p:spPr>
          <a:xfrm>
            <a:off x="685800" y="360616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임의의 새 값을 만들어 오류를 숨기지 않습니다.</a:t>
            </a:r>
          </a:p>
        </p:txBody>
      </p:sp>
      <p:sp>
        <p:nvSpPr>
          <p:cNvPr id="6" name="">
            <a:extLst>
              <a:ext uri="{FF2B5EF4-FFF2-40B4-BE49-F238E27FC236}">
                <ns2:creationId id="{E75324E3-89A1-4948-9EA1-B03FA502CB1C}"/>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완성 예 · 이름표가 있는 기록</a:t>
            </a:r>
          </a:p>
        </p:txBody>
      </p:sp>
      <p:sp>
        <p:nvSpPr>
          <p:cNvPr id="7" name="">
            <a:extLst>
              <a:ext uri="{FF2B5EF4-FFF2-40B4-BE49-F238E27FC236}">
                <ns2:creationId id="{F9AC7ABA-36F3-4AB0-934B-708D5D1308A6}"/>
              </a:ext>
            </a:extLst>
          </p:cNvPr>
          <p:cNvSpPr>
            <a:spLocks noGrp="1"/>
          </p:cNvSpPr>
          <p:nvPr/>
        </p:nvSpPr>
        <p:spPr>
          <a:xfrm>
            <a:off x="6267450" y="2628900"/>
            <a:ext cx="5238750" cy="2957322"/>
          </a:xfrm>
          <a:prstGeom prst="rect">
            <a:avLst/>
          </a:prstGeom>
          <a:solidFill>
            <a:srgbClr val="F1F6F5"/>
          </a:solidFill>
          <a:ln w="0">
            <a:noFill/>
          </a:ln>
        </p:spPr>
      </p:sp>
      <p:sp>
        <p:nvSpPr>
          <p:cNvPr id="8" name="">
            <a:extLst>
              <a:ext uri="{FF2B5EF4-FFF2-40B4-BE49-F238E27FC236}">
                <ns2:creationId id="{15FF6D1E-3174-482F-8264-96686F11A716}"/>
              </a:ext>
            </a:extLst>
          </p:cNvPr>
          <p:cNvSpPr>
            <a:spLocks noGrp="1"/>
          </p:cNvSpPr>
          <p:nvPr/>
        </p:nvSpPr>
        <p:spPr>
          <a:xfrm>
            <a:off x="6410325" y="2790825"/>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9" name="">
            <a:extLst>
              <a:ext uri="{FF2B5EF4-FFF2-40B4-BE49-F238E27FC236}">
                <ns2:creationId id="{27C6F60C-6353-4C06-8278-B2A32FB643BD}"/>
              </a:ext>
            </a:extLst>
          </p:cNvPr>
          <p:cNvSpPr>
            <a:spLocks noGrp="1"/>
          </p:cNvSpPr>
          <p:nvPr/>
        </p:nvSpPr>
        <p:spPr>
          <a:xfrm>
            <a:off x="6858000" y="2752725"/>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records = [</a:t>
            </a:r>
          </a:p>
        </p:txBody>
      </p:sp>
      <p:sp>
        <p:nvSpPr>
          <p:cNvPr id="10" name="">
            <a:extLst>
              <a:ext uri="{FF2B5EF4-FFF2-40B4-BE49-F238E27FC236}">
                <ns2:creationId id="{513D9869-535B-4144-8AE8-C6D3C5946843}"/>
              </a:ext>
            </a:extLst>
          </p:cNvPr>
          <p:cNvSpPr>
            <a:spLocks noGrp="1"/>
          </p:cNvSpPr>
          <p:nvPr/>
        </p:nvSpPr>
        <p:spPr>
          <a:xfrm>
            <a:off x="6410325" y="3083433"/>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11" name="">
            <a:extLst>
              <a:ext uri="{FF2B5EF4-FFF2-40B4-BE49-F238E27FC236}">
                <ns2:creationId id="{0040B161-8ECD-4696-B147-04FB65A50EC4}"/>
              </a:ext>
            </a:extLst>
          </p:cNvPr>
          <p:cNvSpPr>
            <a:spLocks noGrp="1"/>
          </p:cNvSpPr>
          <p:nvPr/>
        </p:nvSpPr>
        <p:spPr>
          <a:xfrm>
            <a:off x="6858000" y="3045333"/>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    {"sensor_id": "S01",</a:t>
            </a:r>
          </a:p>
        </p:txBody>
      </p:sp>
      <p:sp>
        <p:nvSpPr>
          <p:cNvPr id="12" name="">
            <a:extLst>
              <a:ext uri="{FF2B5EF4-FFF2-40B4-BE49-F238E27FC236}">
                <ns2:creationId id="{9DB8F946-BC2E-4DE7-9FDB-A3D8DD34C885}"/>
              </a:ext>
            </a:extLst>
          </p:cNvPr>
          <p:cNvSpPr>
            <a:spLocks noGrp="1"/>
          </p:cNvSpPr>
          <p:nvPr/>
        </p:nvSpPr>
        <p:spPr>
          <a:xfrm>
            <a:off x="6410325" y="3376041"/>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3" name="">
            <a:extLst>
              <a:ext uri="{FF2B5EF4-FFF2-40B4-BE49-F238E27FC236}">
                <ns2:creationId id="{D08F6457-5CE3-419F-9C14-B7EFC0D0C89A}"/>
              </a:ext>
            </a:extLst>
          </p:cNvPr>
          <p:cNvSpPr>
            <a:spLocks noGrp="1"/>
          </p:cNvSpPr>
          <p:nvPr/>
        </p:nvSpPr>
        <p:spPr>
          <a:xfrm>
            <a:off x="6858000" y="3337941"/>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     "temperature_c": 22.5},</a:t>
            </a:r>
          </a:p>
        </p:txBody>
      </p:sp>
      <p:sp>
        <p:nvSpPr>
          <p:cNvPr id="14" name="">
            <a:extLst>
              <a:ext uri="{FF2B5EF4-FFF2-40B4-BE49-F238E27FC236}">
                <ns2:creationId id="{C36D8E7F-CE58-4C05-8FC3-A6830A31980E}"/>
              </a:ext>
            </a:extLst>
          </p:cNvPr>
          <p:cNvSpPr>
            <a:spLocks noGrp="1"/>
          </p:cNvSpPr>
          <p:nvPr/>
        </p:nvSpPr>
        <p:spPr>
          <a:xfrm>
            <a:off x="6410325" y="3668649"/>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5" name="">
            <a:extLst>
              <a:ext uri="{FF2B5EF4-FFF2-40B4-BE49-F238E27FC236}">
                <ns2:creationId id="{BA2D57CD-1329-4338-A0AF-7E3B38D2C6E3}"/>
              </a:ext>
            </a:extLst>
          </p:cNvPr>
          <p:cNvSpPr>
            <a:spLocks noGrp="1"/>
          </p:cNvSpPr>
          <p:nvPr/>
        </p:nvSpPr>
        <p:spPr>
          <a:xfrm>
            <a:off x="6858000" y="3630549"/>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    {"sensor_id": "S02",</a:t>
            </a:r>
          </a:p>
        </p:txBody>
      </p:sp>
      <p:sp>
        <p:nvSpPr>
          <p:cNvPr id="16" name="">
            <a:extLst>
              <a:ext uri="{FF2B5EF4-FFF2-40B4-BE49-F238E27FC236}">
                <ns2:creationId id="{5375794A-CF9B-47E2-AD1C-32D10F2E6666}"/>
              </a:ext>
            </a:extLst>
          </p:cNvPr>
          <p:cNvSpPr>
            <a:spLocks noGrp="1"/>
          </p:cNvSpPr>
          <p:nvPr/>
        </p:nvSpPr>
        <p:spPr>
          <a:xfrm>
            <a:off x="6410325" y="3961257"/>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05</a:t>
            </a:r>
          </a:p>
        </p:txBody>
      </p:sp>
      <p:sp>
        <p:nvSpPr>
          <p:cNvPr id="17" name="">
            <a:extLst>
              <a:ext uri="{FF2B5EF4-FFF2-40B4-BE49-F238E27FC236}">
                <ns2:creationId id="{F987D14C-727C-4681-BA73-9BD5F89D642C}"/>
              </a:ext>
            </a:extLst>
          </p:cNvPr>
          <p:cNvSpPr>
            <a:spLocks noGrp="1"/>
          </p:cNvSpPr>
          <p:nvPr/>
        </p:nvSpPr>
        <p:spPr>
          <a:xfrm>
            <a:off x="6858000" y="3923157"/>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     "temperature_c": 24.0},</a:t>
            </a:r>
          </a:p>
        </p:txBody>
      </p:sp>
      <p:sp>
        <p:nvSpPr>
          <p:cNvPr id="18" name="">
            <a:extLst>
              <a:ext uri="{FF2B5EF4-FFF2-40B4-BE49-F238E27FC236}">
                <ns2:creationId id="{2E4C0D31-532B-4B93-B9E1-CEF3C7D29E10}"/>
              </a:ext>
            </a:extLst>
          </p:cNvPr>
          <p:cNvSpPr>
            <a:spLocks noGrp="1"/>
          </p:cNvSpPr>
          <p:nvPr/>
        </p:nvSpPr>
        <p:spPr>
          <a:xfrm>
            <a:off x="6410325" y="4253865"/>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06</a:t>
            </a:r>
          </a:p>
        </p:txBody>
      </p:sp>
      <p:sp>
        <p:nvSpPr>
          <p:cNvPr id="19" name="">
            <a:extLst>
              <a:ext uri="{FF2B5EF4-FFF2-40B4-BE49-F238E27FC236}">
                <ns2:creationId id="{805BE3E3-EE97-4DA3-B534-253361FAFC3C}"/>
              </a:ext>
            </a:extLst>
          </p:cNvPr>
          <p:cNvSpPr>
            <a:spLocks noGrp="1"/>
          </p:cNvSpPr>
          <p:nvPr/>
        </p:nvSpPr>
        <p:spPr>
          <a:xfrm>
            <a:off x="6858000" y="4215765"/>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a:t>
            </a:r>
          </a:p>
        </p:txBody>
      </p:sp>
      <p:sp>
        <p:nvSpPr>
          <p:cNvPr id="20" name="">
            <a:extLst>
              <a:ext uri="{FF2B5EF4-FFF2-40B4-BE49-F238E27FC236}">
                <ns2:creationId id="{8AA63C3C-D26F-49A2-AB46-E340A2BF0138}"/>
              </a:ext>
            </a:extLst>
          </p:cNvPr>
          <p:cNvSpPr>
            <a:spLocks noGrp="1"/>
          </p:cNvSpPr>
          <p:nvPr/>
        </p:nvSpPr>
        <p:spPr>
          <a:xfrm>
            <a:off x="6410325" y="4546473"/>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07</a:t>
            </a:r>
          </a:p>
        </p:txBody>
      </p:sp>
      <p:sp>
        <p:nvSpPr>
          <p:cNvPr id="21" name="">
            <a:extLst>
              <a:ext uri="{FF2B5EF4-FFF2-40B4-BE49-F238E27FC236}">
                <ns2:creationId id="{FBF956D7-3084-43D9-A4EB-E6385DAD16B8}"/>
              </a:ext>
            </a:extLst>
          </p:cNvPr>
          <p:cNvSpPr>
            <a:spLocks noGrp="1"/>
          </p:cNvSpPr>
          <p:nvPr/>
        </p:nvSpPr>
        <p:spPr>
          <a:xfrm>
            <a:off x="6858000" y="4508373"/>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for r in records:</a:t>
            </a:r>
          </a:p>
        </p:txBody>
      </p:sp>
      <p:sp>
        <p:nvSpPr>
          <p:cNvPr id="22" name="">
            <a:extLst>
              <a:ext uri="{FF2B5EF4-FFF2-40B4-BE49-F238E27FC236}">
                <ns2:creationId id="{EA224022-24C5-4C88-A8A0-924FCC7E8160}"/>
              </a:ext>
            </a:extLst>
          </p:cNvPr>
          <p:cNvSpPr>
            <a:spLocks noGrp="1"/>
          </p:cNvSpPr>
          <p:nvPr/>
        </p:nvSpPr>
        <p:spPr>
          <a:xfrm>
            <a:off x="6410325" y="4839081"/>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08</a:t>
            </a:r>
          </a:p>
        </p:txBody>
      </p:sp>
      <p:sp>
        <p:nvSpPr>
          <p:cNvPr id="23" name="">
            <a:extLst>
              <a:ext uri="{FF2B5EF4-FFF2-40B4-BE49-F238E27FC236}">
                <ns2:creationId id="{2D2CBE7C-B04F-467F-A847-8BD9E1A29A62}"/>
              </a:ext>
            </a:extLst>
          </p:cNvPr>
          <p:cNvSpPr>
            <a:spLocks noGrp="1"/>
          </p:cNvSpPr>
          <p:nvPr/>
        </p:nvSpPr>
        <p:spPr>
          <a:xfrm>
            <a:off x="6858000" y="4800981"/>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    print(r["sensor_id"],</a:t>
            </a:r>
          </a:p>
        </p:txBody>
      </p:sp>
      <p:sp>
        <p:nvSpPr>
          <p:cNvPr id="24" name="">
            <a:extLst>
              <a:ext uri="{FF2B5EF4-FFF2-40B4-BE49-F238E27FC236}">
                <ns2:creationId id="{6682E612-27C8-48A1-9777-67DB065577A7}"/>
              </a:ext>
            </a:extLst>
          </p:cNvPr>
          <p:cNvSpPr>
            <a:spLocks noGrp="1"/>
          </p:cNvSpPr>
          <p:nvPr/>
        </p:nvSpPr>
        <p:spPr>
          <a:xfrm>
            <a:off x="6410325" y="5131689"/>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09</a:t>
            </a:r>
          </a:p>
        </p:txBody>
      </p:sp>
      <p:sp>
        <p:nvSpPr>
          <p:cNvPr id="25" name="">
            <a:extLst>
              <a:ext uri="{FF2B5EF4-FFF2-40B4-BE49-F238E27FC236}">
                <ns2:creationId id="{DBF1BAAF-40AC-4B37-9422-0E849BFCAF97}"/>
              </a:ext>
            </a:extLst>
          </p:cNvPr>
          <p:cNvSpPr>
            <a:spLocks noGrp="1"/>
          </p:cNvSpPr>
          <p:nvPr/>
        </p:nvSpPr>
        <p:spPr>
          <a:xfrm>
            <a:off x="6858000" y="5093589"/>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          r["temperature_c"])</a:t>
            </a:r>
          </a:p>
        </p:txBody>
      </p:sp>
      <p:sp>
        <p:nvSpPr>
          <p:cNvPr id="26" name="">
            <a:extLst>
              <a:ext uri="{FF2B5EF4-FFF2-40B4-BE49-F238E27FC236}">
                <ns2:creationId id="{130ACF3F-24F8-45FD-BA79-34C3CB829FFD}"/>
              </a:ext>
            </a:extLst>
          </p:cNvPr>
          <p:cNvSpPr>
            <a:spLocks noGrp="1"/>
          </p:cNvSpPr>
          <p:nvPr/>
        </p:nvSpPr>
        <p:spPr>
          <a:xfrm>
            <a:off x="685800" y="6172200"/>
            <a:ext cx="10820400" cy="9525"/>
          </a:xfrm>
          <a:prstGeom prst="rect">
            <a:avLst/>
          </a:prstGeom>
          <a:solidFill>
            <a:srgbClr val="D5DEDD"/>
          </a:solidFill>
          <a:ln w="0">
            <a:noFill/>
          </a:ln>
        </p:spPr>
      </p:sp>
      <p:sp>
        <p:nvSpPr>
          <p:cNvPr id="27" name="">
            <a:extLst>
              <a:ext uri="{FF2B5EF4-FFF2-40B4-BE49-F238E27FC236}">
                <ns2:creationId id="{ABD09D49-7C54-49D2-8F7C-A4B5670D18F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28" name="">
            <a:extLst>
              <a:ext uri="{FF2B5EF4-FFF2-40B4-BE49-F238E27FC236}">
                <ns2:creationId id="{E3B339FF-DD69-4948-A6DC-D1C2F152F6E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29" name="">
            <a:extLst>
              <a:ext uri="{FF2B5EF4-FFF2-40B4-BE49-F238E27FC236}">
                <ns2:creationId id="{3B1335D5-68A8-4E9F-B6D1-AEF6B230F9EA}"/>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30" name="">
            <a:extLst>
              <a:ext uri="{FF2B5EF4-FFF2-40B4-BE49-F238E27FC236}">
                <ns2:creationId id="{026D02CC-1B81-47F2-B1F6-05C5697B6383}"/>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091</a:t>
            </a:r>
          </a:p>
        </p:txBody>
      </p:sp>
    </p:spTree>
    <p:extLst>
      <p:ext uri="{BB962C8B-B14F-4D97-AF65-F5344CB8AC3E}">
        <ns4:creationId val="1490626890"/>
      </p:ext>
    </p:extLst>
  </p:cSld>
</p:sld>
</file>

<file path=ppt/slides/slide9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2D5836D5-92AD-4007-9C47-8152A0CB3CD8}"/>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076E459A-D0D8-4E25-8BC3-BC1E725F7C1C}"/>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미확인이 섞인 장치 기록</a:t>
            </a:r>
          </a:p>
        </p:txBody>
      </p:sp>
      <p:sp>
        <p:nvSpPr>
          <p:cNvPr id="3" name="">
            <a:extLst>
              <a:ext uri="{FF2B5EF4-FFF2-40B4-BE49-F238E27FC236}">
                <ns2:creationId id="{AB18E0D4-9377-41F3-BC3C-89C9689EAD65}"/>
              </a:ext>
            </a:extLst>
          </p:cNvPr>
          <p:cNvSpPr>
            <a:spLocks noGrp="1"/>
          </p:cNvSpPr>
          <p:nvPr/>
        </p:nvSpPr>
        <p:spPr>
          <a:xfrm>
            <a:off x="685800" y="1933575"/>
            <a:ext cx="4800600" cy="788670"/>
          </a:xfrm>
          <a:prstGeom prst="rect">
            <a:avLst/>
          </a:prstGeom>
          <a:noFill/>
          <a:ln w="0">
            <a:noFill/>
          </a:ln>
        </p:spPr>
        <p:txBody>
          <a:bodyPr wrap="square" lIns="0" tIns="0" rIns="0" bIns="0">
            <a:noAutofit/>
          </a:bodyPr>
          <a:lstStyle/>
          <a:p>
            <a:pPr>
              <a:defRPr sz="2250" b="1">
                <a:solidFill>
                  <a:srgbClr val="172F39"/>
                </a:solidFill>
                <a:latin typeface="Noto Sans KR"/>
                <a:ea typeface="Noto Sans KR"/>
                <a:cs typeface="Noto Sans KR"/>
              </a:defRPr>
            </a:pPr>
            <a:r>
              <a:t>D01=18, D02=미확인, D03=26을 읽습니다.</a:t>
            </a:r>
          </a:p>
        </p:txBody>
      </p:sp>
      <p:sp>
        <p:nvSpPr>
          <p:cNvPr id="4" name="">
            <a:extLst>
              <a:ext uri="{FF2B5EF4-FFF2-40B4-BE49-F238E27FC236}">
                <ns2:creationId id="{83955756-6A6C-4C3E-A72E-931AF8B5B323}"/>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온도와 미확인을 각각 처리</a:t>
            </a:r>
          </a:p>
        </p:txBody>
      </p:sp>
      <p:graphicFrame>
        <p:nvGraphicFramePr>
          <p:cNvPr id="15" name=""/>
          <p:cNvGraphicFramePr/>
          <p:nvPr/>
        </p:nvGraphicFramePr>
        <p:xfrm>
          <a:off x="6267450" y="2628900"/>
          <a:ext cx="5238750" cy="2057400"/>
        </p:xfrm>
        <a:graphic>
          <a:graphicData uri="http://schemas.openxmlformats.org/drawingml/2006/table">
            <a:tbl>
              <a:tblPr firstRow="1" bandRow="0"/>
              <a:tblGrid>
                <a:gridCol w="1262958"/>
                <a:gridCol w="2460242"/>
                <a:gridCol w="1515550"/>
              </a:tblGrid>
              <a:tr h="514350">
                <a:tc>
                  <a:txBody>
                    <a:bodyPr wrap="square"/>
                    <a:lstStyle/>
                    <a:p>
                      <a:pPr>
                        <a:lnSpc>
                          <a:spcPct val="102000"/>
                        </a:lnSpc>
                        <a:buNone/>
                      </a:pPr>
                      <a:r>
                        <a:rPr sz="1875" b="1">
                          <a:solidFill>
                            <a:srgbClr val="172F39"/>
                          </a:solidFill>
                          <a:latin typeface="Noto Sans KR"/>
                          <a:ea typeface="Noto Sans KR"/>
                          <a:cs typeface="Noto Sans KR"/>
                        </a:rPr>
                        <a:t>장치</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25℃ 초과 기준</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결과</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D01</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18</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정상</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D02</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미확인</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미측정</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D03</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26</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확인</a:t>
                      </a:r>
                    </a:p>
                  </a:txBody>
                  <a:tcPr marL="114300" marR="114300" marT="76200" marB="76200" anchor="ctr">
                    <a:solidFill>
                      <a:srgbClr val="FFFFFF"/>
                    </a:solidFill>
                  </a:tcPr>
                </a:tc>
              </a:tr>
            </a:tbl>
          </a:graphicData>
        </a:graphic>
      </p:graphicFrame>
      <p:sp>
        <p:nvSpPr>
          <p:cNvPr id="6" name="">
            <a:extLst>
              <a:ext uri="{FF2B5EF4-FFF2-40B4-BE49-F238E27FC236}">
                <ns2:creationId id="{815A65DF-A1A5-4C56-BABF-AF4720E2596D}"/>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A217077E-E36D-4B9F-A35F-1052076EA09A}"/>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CAAED0FB-9930-4628-9F6C-929F90246CB1}"/>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E1DA6154-A721-4E40-865A-E470240A4FE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CD6E713E-71E4-4BE2-A3A6-BBBE4C35B1FE}"/>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092</a:t>
            </a:r>
          </a:p>
        </p:txBody>
      </p:sp>
    </p:spTree>
    <p:extLst>
      <p:ext uri="{BB962C8B-B14F-4D97-AF65-F5344CB8AC3E}">
        <ns4:creationId val="916368474"/>
      </p:ext>
    </p:extLst>
  </p:cSld>
</p:sld>
</file>

<file path=ppt/slides/slide9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9" name="">
            <a:extLst>
              <a:ext uri="{FF2B5EF4-FFF2-40B4-BE49-F238E27FC236}">
                <ns2:creationId id="{AEDA703C-65CB-4B2D-96EE-6633F055A7CD}"/>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10625C09-404D-4766-81F3-3A9319BA536B}"/>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온도와 미확인을 각각 처리</a:t>
            </a:r>
          </a:p>
        </p:txBody>
      </p:sp>
      <p:graphicFrame>
        <p:nvGraphicFramePr>
          <p:cNvPr id="11" name=""/>
          <p:cNvGraphicFramePr/>
          <p:nvPr/>
        </p:nvGraphicFramePr>
        <p:xfrm>
          <a:off x="685800" y="1809750"/>
          <a:ext cx="10820400" cy="2145792"/>
        </p:xfrm>
        <a:graphic>
          <a:graphicData uri="http://schemas.openxmlformats.org/drawingml/2006/table">
            <a:tbl>
              <a:tblPr firstRow="1" bandRow="0"/>
              <a:tblGrid>
                <a:gridCol w="2608582"/>
                <a:gridCol w="5081519"/>
                <a:gridCol w="3130299"/>
              </a:tblGrid>
              <a:tr h="536448">
                <a:tc>
                  <a:txBody>
                    <a:bodyPr wrap="square"/>
                    <a:lstStyle/>
                    <a:p>
                      <a:pPr>
                        <a:lnSpc>
                          <a:spcPct val="102000"/>
                        </a:lnSpc>
                        <a:buNone/>
                      </a:pPr>
                      <a:r>
                        <a:rPr sz="2025" b="1">
                          <a:solidFill>
                            <a:srgbClr val="172F39"/>
                          </a:solidFill>
                          <a:latin typeface="Noto Sans KR"/>
                          <a:ea typeface="Noto Sans KR"/>
                          <a:cs typeface="Noto Sans KR"/>
                        </a:rPr>
                        <a:t>장치</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25℃ 초과 기준</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결과</a:t>
                      </a:r>
                    </a:p>
                  </a:txBody>
                  <a:tcPr marL="114300" marR="114300" marT="76200" marB="76200" anchor="ctr">
                    <a:solidFill>
                      <a:srgbClr val="DCECE8"/>
                    </a:solidFill>
                  </a:tcPr>
                </a:tc>
              </a:tr>
              <a:tr h="536448">
                <a:tc>
                  <a:txBody>
                    <a:bodyPr wrap="square"/>
                    <a:lstStyle/>
                    <a:p>
                      <a:pPr>
                        <a:lnSpc>
                          <a:spcPct val="102000"/>
                        </a:lnSpc>
                        <a:buNone/>
                      </a:pPr>
                      <a:r>
                        <a:rPr sz="2025" b="0">
                          <a:solidFill>
                            <a:srgbClr val="172F39"/>
                          </a:solidFill>
                          <a:latin typeface="Noto Sans KR"/>
                          <a:ea typeface="Noto Sans KR"/>
                          <a:cs typeface="Noto Sans KR"/>
                        </a:rPr>
                        <a:t>D01</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18</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정상</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D02</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미확인</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미측정</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D03</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26</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확인</a:t>
                      </a:r>
                    </a:p>
                  </a:txBody>
                  <a:tcPr marL="114300" marR="114300" marT="76200" marB="76200" anchor="ctr">
                    <a:solidFill>
                      <a:srgbClr val="FFFFFF"/>
                    </a:solidFill>
                  </a:tcPr>
                </a:tc>
              </a:tr>
            </a:tbl>
          </a:graphicData>
        </a:graphic>
      </p:graphicFrame>
      <p:sp>
        <p:nvSpPr>
          <p:cNvPr id="4" name="">
            <a:extLst>
              <a:ext uri="{FF2B5EF4-FFF2-40B4-BE49-F238E27FC236}">
                <ns2:creationId id="{7E0FF5E6-B619-4155-9EEC-33F15997F954}"/>
              </a:ext>
            </a:extLst>
          </p:cNvPr>
          <p:cNvSpPr>
            <a:spLocks noGrp="1"/>
          </p:cNvSpPr>
          <p:nvPr/>
        </p:nvSpPr>
        <p:spPr>
          <a:xfrm>
            <a:off x="685800" y="6172200"/>
            <a:ext cx="10820400" cy="9525"/>
          </a:xfrm>
          <a:prstGeom prst="rect">
            <a:avLst/>
          </a:prstGeom>
          <a:solidFill>
            <a:srgbClr val="D5DEDD"/>
          </a:solidFill>
          <a:ln w="0">
            <a:noFill/>
          </a:ln>
        </p:spPr>
      </p:sp>
      <p:sp>
        <p:nvSpPr>
          <p:cNvPr id="5" name="">
            <a:extLst>
              <a:ext uri="{FF2B5EF4-FFF2-40B4-BE49-F238E27FC236}">
                <ns2:creationId id="{9AD080B7-D444-4651-AE0E-95DEA92526F7}"/>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6" name="">
            <a:extLst>
              <a:ext uri="{FF2B5EF4-FFF2-40B4-BE49-F238E27FC236}">
                <ns2:creationId id="{CED2EA49-BCE3-4AD4-93E7-D9CC07B00E7E}"/>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7" name="">
            <a:extLst>
              <a:ext uri="{FF2B5EF4-FFF2-40B4-BE49-F238E27FC236}">
                <ns2:creationId id="{EDA10D6D-229F-444C-8243-E8A81BFFD8FF}"/>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8" name="">
            <a:extLst>
              <a:ext uri="{FF2B5EF4-FFF2-40B4-BE49-F238E27FC236}">
                <ns2:creationId id="{4050758D-66AF-476A-BF30-DD84A49142FF}"/>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093</a:t>
            </a:r>
          </a:p>
        </p:txBody>
      </p:sp>
    </p:spTree>
    <p:extLst>
      <p:ext uri="{BB962C8B-B14F-4D97-AF65-F5344CB8AC3E}">
        <ns4:creationId val="1678487827"/>
      </p:ext>
    </p:extLst>
  </p:cSld>
</p:sld>
</file>

<file path=ppt/slides/slide9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BC3784B5-BC32-4530-8931-05E66E169FF3}"/>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ADC2C3AF-3843-41D1-9BA8-C23FD2B875A2}"/>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추가 복습 · 새 문제</a:t>
            </a:r>
          </a:p>
        </p:txBody>
      </p:sp>
      <p:sp>
        <p:nvSpPr>
          <p:cNvPr id="3" name="">
            <a:extLst>
              <a:ext uri="{FF2B5EF4-FFF2-40B4-BE49-F238E27FC236}">
                <ns2:creationId id="{1470C7B7-5509-4261-841C-70CB266B26CA}"/>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추가 복습: P01=0개, P02=미확인, P03=2개</a:t>
            </a:r>
          </a:p>
        </p:txBody>
      </p:sp>
      <p:sp>
        <p:nvSpPr>
          <p:cNvPr id="4" name="">
            <a:extLst>
              <a:ext uri="{FF2B5EF4-FFF2-40B4-BE49-F238E27FC236}">
                <ns2:creationId id="{69068C69-BCA2-43BB-8798-884246778035}"/>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2개 이하이면 주문 요청입니다.</a:t>
            </a:r>
          </a:p>
        </p:txBody>
      </p:sp>
      <p:sp>
        <p:nvSpPr>
          <p:cNvPr id="5" name="">
            <a:extLst>
              <a:ext uri="{FF2B5EF4-FFF2-40B4-BE49-F238E27FC236}">
                <ns2:creationId id="{9E5E2ECA-6FEC-430D-B107-C724CE5862D9}"/>
              </a:ext>
            </a:extLst>
          </p:cNvPr>
          <p:cNvSpPr>
            <a:spLocks noGrp="1"/>
          </p:cNvSpPr>
          <p:nvPr/>
        </p:nvSpPr>
        <p:spPr>
          <a:xfrm>
            <a:off x="685800" y="3123819"/>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이름표와 세 상태를 설계하세요.</a:t>
            </a:r>
          </a:p>
        </p:txBody>
      </p:sp>
      <p:sp>
        <p:nvSpPr>
          <p:cNvPr id="6" name="">
            <a:extLst>
              <a:ext uri="{FF2B5EF4-FFF2-40B4-BE49-F238E27FC236}">
                <ns2:creationId id="{FE3A1D26-4C1B-4985-9A51-2602E8483F01}"/>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3F3718E4-A246-4174-89EA-A497A0DB87ED}"/>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562C8407-7FB4-4D18-8576-18D466461567}"/>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3D3F8DA7-F442-4568-A9A4-18FFB074052D}"/>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FB41D8B9-BC33-406A-B7FC-A9EA70E2A279}"/>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094</a:t>
            </a:r>
          </a:p>
        </p:txBody>
      </p:sp>
    </p:spTree>
    <p:extLst>
      <p:ext uri="{BB962C8B-B14F-4D97-AF65-F5344CB8AC3E}">
        <ns4:creationId val="923964362"/>
      </p:ext>
    </p:extLst>
  </p:cSld>
</p:sld>
</file>

<file path=ppt/slides/slide9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757CBF1F-20E4-4C72-9184-0671BE860425}"/>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6DC66C31-CD08-46C2-AD66-A5913778CAFA}"/>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주문 요청과 수량 확인</a:t>
            </a:r>
          </a:p>
        </p:txBody>
      </p:sp>
      <p:sp>
        <p:nvSpPr>
          <p:cNvPr id="3" name="">
            <a:extLst>
              <a:ext uri="{FF2B5EF4-FFF2-40B4-BE49-F238E27FC236}">
                <ns2:creationId id="{DB452925-EE2B-4353-B21E-3A544AB324DA}"/>
              </a:ext>
            </a:extLst>
          </p:cNvPr>
          <p:cNvSpPr>
            <a:spLocks noGrp="1"/>
          </p:cNvSpPr>
          <p:nvPr/>
        </p:nvSpPr>
        <p:spPr>
          <a:xfrm>
            <a:off x="685800" y="193357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P01·P03은 주문 요청, P02는 수량 확인입니다.</a:t>
            </a:r>
          </a:p>
        </p:txBody>
      </p:sp>
      <p:sp>
        <p:nvSpPr>
          <p:cNvPr id="4" name="">
            <a:extLst>
              <a:ext uri="{FF2B5EF4-FFF2-40B4-BE49-F238E27FC236}">
                <ns2:creationId id="{D84EB350-FFAB-40C6-B5DD-55FF99AD79BC}"/>
              </a:ext>
            </a:extLst>
          </p:cNvPr>
          <p:cNvSpPr>
            <a:spLocks noGrp="1"/>
          </p:cNvSpPr>
          <p:nvPr/>
        </p:nvSpPr>
        <p:spPr>
          <a:xfrm>
            <a:off x="685800" y="276987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물품번호와 수량의 이름표를 새 업무에 맞춥니다.</a:t>
            </a:r>
          </a:p>
        </p:txBody>
      </p:sp>
      <p:sp>
        <p:nvSpPr>
          <p:cNvPr id="5" name="">
            <a:extLst>
              <a:ext uri="{FF2B5EF4-FFF2-40B4-BE49-F238E27FC236}">
                <ns2:creationId id="{134CC3E5-8B77-4E35-BD27-3CA01A323625}"/>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추가 복습 · 새 문제</a:t>
            </a:r>
          </a:p>
        </p:txBody>
      </p:sp>
      <p:sp>
        <p:nvSpPr>
          <p:cNvPr id="6" name="">
            <a:extLst>
              <a:ext uri="{FF2B5EF4-FFF2-40B4-BE49-F238E27FC236}">
                <ns2:creationId id="{823F662A-CA29-4E7A-A1DE-DBBFF87B2364}"/>
              </a:ext>
            </a:extLst>
          </p:cNvPr>
          <p:cNvSpPr>
            <a:spLocks noGrp="1"/>
          </p:cNvSpPr>
          <p:nvPr/>
        </p:nvSpPr>
        <p:spPr>
          <a:xfrm>
            <a:off x="6267450" y="2628900"/>
            <a:ext cx="5238750" cy="766191"/>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추가 복습: P01=0개, P02=미확인, P03=2개</a:t>
            </a:r>
          </a:p>
        </p:txBody>
      </p:sp>
      <p:sp>
        <p:nvSpPr>
          <p:cNvPr id="7" name="">
            <a:extLst>
              <a:ext uri="{FF2B5EF4-FFF2-40B4-BE49-F238E27FC236}">
                <ns2:creationId id="{69B205E7-90B4-46FD-81E9-05A2E08B2C3F}"/>
              </a:ext>
            </a:extLst>
          </p:cNvPr>
          <p:cNvSpPr>
            <a:spLocks noGrp="1"/>
          </p:cNvSpPr>
          <p:nvPr/>
        </p:nvSpPr>
        <p:spPr>
          <a:xfrm>
            <a:off x="6267450" y="3442716"/>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2개 이하이면 주문 요청입니다.</a:t>
            </a:r>
          </a:p>
        </p:txBody>
      </p:sp>
      <p:sp>
        <p:nvSpPr>
          <p:cNvPr id="8" name="">
            <a:extLst>
              <a:ext uri="{FF2B5EF4-FFF2-40B4-BE49-F238E27FC236}">
                <ns2:creationId id="{94AE81F4-E3C4-476B-95C9-6264594F15FF}"/>
              </a:ext>
            </a:extLst>
          </p:cNvPr>
          <p:cNvSpPr>
            <a:spLocks noGrp="1"/>
          </p:cNvSpPr>
          <p:nvPr/>
        </p:nvSpPr>
        <p:spPr>
          <a:xfrm>
            <a:off x="6267450" y="3930586"/>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이름표와 세 상태를 설계하세요.</a:t>
            </a:r>
          </a:p>
        </p:txBody>
      </p:sp>
      <p:sp>
        <p:nvSpPr>
          <p:cNvPr id="9" name="">
            <a:extLst>
              <a:ext uri="{FF2B5EF4-FFF2-40B4-BE49-F238E27FC236}">
                <ns2:creationId id="{13615413-40A3-4033-9F36-958F25169F8D}"/>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BE0BC786-6480-4A0A-86C3-4555001EBFC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8949A77B-8123-47D4-BB33-13016C402ED8}"/>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0D81B08B-EE8E-41D6-9F0F-96DF41F99F61}"/>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04A9E4F2-2815-4742-907F-0ACCF9329AB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095</a:t>
            </a:r>
          </a:p>
        </p:txBody>
      </p:sp>
    </p:spTree>
    <p:extLst>
      <p:ext uri="{BB962C8B-B14F-4D97-AF65-F5344CB8AC3E}">
        <ns4:creationId val="1692961391"/>
      </p:ext>
    </p:extLst>
  </p:cSld>
</p:sld>
</file>

<file path=ppt/slides/slide9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9A3B425B-9E0E-445A-9274-49D7A9B8180E}"/>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BD9BD6F2-8A26-4439-B06D-CAC8EC679BDA}"/>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먼저 할 일 · 실행 결과 기록</a:t>
            </a:r>
          </a:p>
        </p:txBody>
      </p:sp>
      <p:sp>
        <p:nvSpPr>
          <p:cNvPr id="3" name="">
            <a:extLst>
              <a:ext uri="{FF2B5EF4-FFF2-40B4-BE49-F238E27FC236}">
                <ns2:creationId id="{4964CE10-4B01-4F29-81E9-CE21A5FCFED4}"/>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A17에서 장치별 상태를 확인합니다.</a:t>
            </a:r>
          </a:p>
        </p:txBody>
      </p:sp>
      <p:sp>
        <p:nvSpPr>
          <p:cNvPr id="4" name="">
            <a:extLst>
              <a:ext uri="{FF2B5EF4-FFF2-40B4-BE49-F238E27FC236}">
                <ns2:creationId id="{A85E2E5A-1E7B-4742-A1B6-AD58FE4FCD9B}"/>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A18에 파일·명령·입력·결과를 남깁니다.</a:t>
            </a:r>
          </a:p>
        </p:txBody>
      </p:sp>
      <p:sp>
        <p:nvSpPr>
          <p:cNvPr id="5" name="">
            <a:extLst>
              <a:ext uri="{FF2B5EF4-FFF2-40B4-BE49-F238E27FC236}">
                <ns2:creationId id="{9966E066-57F8-4EF4-9805-B1FA9B81EA6E}"/>
              </a:ext>
            </a:extLst>
          </p:cNvPr>
          <p:cNvSpPr>
            <a:spLocks noGrp="1"/>
          </p:cNvSpPr>
          <p:nvPr/>
        </p:nvSpPr>
        <p:spPr>
          <a:xfrm>
            <a:off x="685800" y="3123819"/>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실제 장비를 확인한 것처럼 적지 않습니다.</a:t>
            </a:r>
          </a:p>
        </p:txBody>
      </p:sp>
      <p:sp>
        <p:nvSpPr>
          <p:cNvPr id="6" name="">
            <a:extLst>
              <a:ext uri="{FF2B5EF4-FFF2-40B4-BE49-F238E27FC236}">
                <ns2:creationId id="{7E62BFFC-23D0-4F56-A6D4-AD8EF4DB3164}"/>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3AB72DCD-46F1-49A0-9114-4A5B20140B7C}"/>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E829B8CA-87FA-416A-80F3-3293CB2D6326}"/>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85893585-94D9-4573-84AD-1662AC7647E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4D489BCA-C684-4D1A-B48E-BA7F83918FF8}"/>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096</a:t>
            </a:r>
          </a:p>
        </p:txBody>
      </p:sp>
    </p:spTree>
    <p:extLst>
      <p:ext uri="{BB962C8B-B14F-4D97-AF65-F5344CB8AC3E}">
        <ns4:creationId val="1061550041"/>
      </p:ext>
    </p:extLst>
  </p:cSld>
</p:sld>
</file>

<file path=ppt/slides/slide9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2ADC3E37-03D6-4BB7-B294-D683C639B172}"/>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386A1A9A-302F-4E6E-9892-057B1AAACB88}"/>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6교시 확인</a:t>
            </a:r>
          </a:p>
        </p:txBody>
      </p:sp>
      <p:sp>
        <p:nvSpPr>
          <p:cNvPr id="3" name="">
            <a:extLst>
              <a:ext uri="{FF2B5EF4-FFF2-40B4-BE49-F238E27FC236}">
                <ns2:creationId id="{D7BA7AF2-F338-4A17-B276-0386138BE7EC}"/>
              </a:ext>
            </a:extLst>
          </p:cNvPr>
          <p:cNvSpPr>
            <a:spLocks noGrp="1"/>
          </p:cNvSpPr>
          <p:nvPr/>
        </p:nvSpPr>
        <p:spPr>
          <a:xfrm>
            <a:off x="685800" y="193357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한 기록의 값과 장치명을 함께 보존합니다.</a:t>
            </a:r>
          </a:p>
        </p:txBody>
      </p:sp>
      <p:sp>
        <p:nvSpPr>
          <p:cNvPr id="4" name="">
            <a:extLst>
              <a:ext uri="{FF2B5EF4-FFF2-40B4-BE49-F238E27FC236}">
                <ns2:creationId id="{4E138461-A52D-454B-B336-E685AEF0D694}"/>
              </a:ext>
            </a:extLst>
          </p:cNvPr>
          <p:cNvSpPr>
            <a:spLocks noGrp="1"/>
          </p:cNvSpPr>
          <p:nvPr/>
        </p:nvSpPr>
        <p:spPr>
          <a:xfrm>
            <a:off x="685800" y="276987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미측정 갈래를 숫자 비교보다 앞에 둡니다.</a:t>
            </a:r>
          </a:p>
        </p:txBody>
      </p:sp>
      <p:sp>
        <p:nvSpPr>
          <p:cNvPr id="5" name="">
            <a:extLst>
              <a:ext uri="{FF2B5EF4-FFF2-40B4-BE49-F238E27FC236}">
                <ns2:creationId id="{FC1A3B0F-D891-4147-82F9-7275D990EE79}"/>
              </a:ext>
            </a:extLst>
          </p:cNvPr>
          <p:cNvSpPr>
            <a:spLocks noGrp="1"/>
          </p:cNvSpPr>
          <p:nvPr/>
        </p:nvSpPr>
        <p:spPr>
          <a:xfrm>
            <a:off x="685800" y="360616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연습용 데이터를 검사한 결과로 실제 센서 성능을 판단하지 않습니다.</a:t>
            </a:r>
          </a:p>
        </p:txBody>
      </p:sp>
      <p:sp>
        <p:nvSpPr>
          <p:cNvPr id="6" name="">
            <a:extLst>
              <a:ext uri="{FF2B5EF4-FFF2-40B4-BE49-F238E27FC236}">
                <ns2:creationId id="{8113DFAD-311C-4A0C-88E5-D462223465A8}"/>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제공 점검표의 결과</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1608953"/>
                <a:gridCol w="1699054"/>
                <a:gridCol w="1930743"/>
              </a:tblGrid>
              <a:tr h="514350">
                <a:tc>
                  <a:txBody>
                    <a:bodyPr wrap="square"/>
                    <a:lstStyle/>
                    <a:p>
                      <a:pPr>
                        <a:lnSpc>
                          <a:spcPct val="102000"/>
                        </a:lnSpc>
                        <a:buNone/>
                      </a:pPr>
                      <a:r>
                        <a:rPr sz="1875" b="1">
                          <a:solidFill>
                            <a:srgbClr val="172F39"/>
                          </a:solidFill>
                          <a:latin typeface="Noto Sans KR"/>
                          <a:ea typeface="Noto Sans KR"/>
                          <a:cs typeface="Noto Sans KR"/>
                        </a:rPr>
                        <a:t>장치</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온도</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상태</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S01</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22.5</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정상</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S02</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25.0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확인</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S03</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None</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미측정</a:t>
                      </a:r>
                    </a:p>
                  </a:txBody>
                  <a:tcPr marL="114300" marR="114300" marT="76200" marB="76200" anchor="ctr">
                    <a:solidFill>
                      <a:srgbClr val="FFFFFF"/>
                    </a:solidFill>
                  </a:tcPr>
                </a:tc>
              </a:tr>
            </a:tbl>
          </a:graphicData>
        </a:graphic>
      </p:graphicFrame>
      <p:sp>
        <p:nvSpPr>
          <p:cNvPr id="8" name="">
            <a:extLst>
              <a:ext uri="{FF2B5EF4-FFF2-40B4-BE49-F238E27FC236}">
                <ns2:creationId id="{9322C68D-04CA-418E-B08D-B372E6285D9F}"/>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01904B95-0381-4CB8-8488-6DAB63EB6AC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71C74DDF-9A95-4443-BC73-CD5239C1D9A7}"/>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769424B0-CEDB-45C6-BB74-ADF9C62862F7}"/>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AECEA668-89D9-41AA-9B90-2802D3FE6F66}"/>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097</a:t>
            </a:r>
          </a:p>
        </p:txBody>
      </p:sp>
    </p:spTree>
    <p:extLst>
      <p:ext uri="{BB962C8B-B14F-4D97-AF65-F5344CB8AC3E}">
        <ns4:creationId val="959640516"/>
      </p:ext>
    </p:extLst>
  </p:cSld>
</p:sld>
</file>

<file path=ppt/slides/slide9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3E45F6B9-651C-4794-90A8-9FFA6641F18E}"/>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10/14 수업</a:t>
            </a:r>
          </a:p>
        </p:txBody>
      </p:sp>
      <p:sp>
        <p:nvSpPr>
          <p:cNvPr id="2" name="">
            <a:extLst>
              <a:ext uri="{FF2B5EF4-FFF2-40B4-BE49-F238E27FC236}">
                <ns2:creationId id="{55923D02-7939-4B44-89DC-F30BD6AE6B50}"/>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오늘 한 일을 설명해 봅시다</a:t>
            </a:r>
          </a:p>
        </p:txBody>
      </p:sp>
      <p:sp>
        <p:nvSpPr>
          <p:cNvPr id="3" name="">
            <a:extLst>
              <a:ext uri="{FF2B5EF4-FFF2-40B4-BE49-F238E27FC236}">
                <ns2:creationId id="{BC050B65-EE76-497F-BA0A-EF00B16A2121}"/>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사용한 입력값부터 설명해 보세요.</a:t>
            </a:r>
          </a:p>
        </p:txBody>
      </p:sp>
      <p:sp>
        <p:nvSpPr>
          <p:cNvPr id="4" name="">
            <a:extLst>
              <a:ext uri="{FF2B5EF4-FFF2-40B4-BE49-F238E27FC236}">
                <ns2:creationId id="{CB2F3A4A-777E-4B97-AB80-13CE1792A50B}"/>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그 값에 적용한 규칙을 설명해 보세요.</a:t>
            </a:r>
          </a:p>
        </p:txBody>
      </p:sp>
      <p:sp>
        <p:nvSpPr>
          <p:cNvPr id="5" name="">
            <a:extLst>
              <a:ext uri="{FF2B5EF4-FFF2-40B4-BE49-F238E27FC236}">
                <ns2:creationId id="{F663DB65-1E62-473F-86FE-0168BC6115C0}"/>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확인한 결과와 더 알아봐야 할 내용을 따로 말해 보세요.</a:t>
            </a:r>
          </a:p>
        </p:txBody>
      </p:sp>
      <p:sp>
        <p:nvSpPr>
          <p:cNvPr id="6" name="">
            <a:extLst>
              <a:ext uri="{FF2B5EF4-FFF2-40B4-BE49-F238E27FC236}">
                <ns2:creationId id="{55301C01-F9E5-4FFA-9AE5-1B9175382D06}"/>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CBE66A74-0A53-415D-8EE0-D3294C165AA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735D588A-B077-43E0-BC1B-21E17342638F}"/>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F78E929F-B15C-42BF-9A91-F3F1048C696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0850D8AE-B707-4F9A-B428-37F8B950503E}"/>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098</a:t>
            </a:r>
          </a:p>
        </p:txBody>
      </p:sp>
    </p:spTree>
    <p:extLst>
      <p:ext uri="{BB962C8B-B14F-4D97-AF65-F5344CB8AC3E}">
        <ns4:creationId val="111851265"/>
      </p:ext>
    </p:extLst>
  </p:cSld>
</p:sld>
</file>

<file path=ppt/slides/slide9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C600CDF8-EE28-4D3A-BC72-C9C29E38162E}"/>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10/14 수업</a:t>
            </a:r>
          </a:p>
        </p:txBody>
      </p:sp>
      <p:sp>
        <p:nvSpPr>
          <p:cNvPr id="2" name="">
            <a:extLst>
              <a:ext uri="{FF2B5EF4-FFF2-40B4-BE49-F238E27FC236}">
                <ns2:creationId id="{ED65F2C2-8495-4099-BD5C-C0C57987B314}"/>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저장하고 다음 사람에게 넘기기</a:t>
            </a:r>
          </a:p>
        </p:txBody>
      </p:sp>
      <p:sp>
        <p:nvSpPr>
          <p:cNvPr id="3" name="">
            <a:extLst>
              <a:ext uri="{FF2B5EF4-FFF2-40B4-BE49-F238E27FC236}">
                <ns2:creationId id="{0854294F-6323-4793-8A53-5BF9633D6225}"/>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수정한 파일의 이름과 저장 폴더를 적으세요.</a:t>
            </a:r>
          </a:p>
        </p:txBody>
      </p:sp>
      <p:sp>
        <p:nvSpPr>
          <p:cNvPr id="4" name="">
            <a:extLst>
              <a:ext uri="{FF2B5EF4-FFF2-40B4-BE49-F238E27FC236}">
                <ns2:creationId id="{3FDF89E3-7768-44F6-A223-44876858261D}"/>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무엇을 왜 고쳤고 결과가 어땠는지 적으세요.</a:t>
            </a:r>
          </a:p>
        </p:txBody>
      </p:sp>
      <p:sp>
        <p:nvSpPr>
          <p:cNvPr id="5" name="">
            <a:extLst>
              <a:ext uri="{FF2B5EF4-FFF2-40B4-BE49-F238E27FC236}">
                <ns2:creationId id="{86A1A83D-9C29-4043-8019-8FE7D1277D2A}"/>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아직 모르는 값은 추측해서 넣지 마세요.</a:t>
            </a:r>
          </a:p>
        </p:txBody>
      </p:sp>
      <p:sp>
        <p:nvSpPr>
          <p:cNvPr id="6" name="">
            <a:extLst>
              <a:ext uri="{FF2B5EF4-FFF2-40B4-BE49-F238E27FC236}">
                <ns2:creationId id="{AAB7B95D-FF9E-463B-A363-480A3C5A1E28}"/>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DF39816C-F047-4330-9F8E-133DA1964B5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83D38296-0D7D-4B54-8806-A0C2CF788A05}"/>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9ABF5074-6724-433D-9A27-D14C3B9A3160}"/>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B6CDAF89-3C7C-4896-9D02-A76ED07F4E67}"/>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099</a:t>
            </a:r>
          </a:p>
        </p:txBody>
      </p:sp>
    </p:spTree>
    <p:extLst>
      <p:ext uri="{BB962C8B-B14F-4D97-AF65-F5344CB8AC3E}">
        <ns4:creationId val="706001962"/>
      </p:ext>
    </p:extLst>
  </p:cSld>
</p:sld>
</file>

<file path=ppt/slides/slide10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8" name="">
            <a:extLst>
              <a:ext uri="{FF2B5EF4-FFF2-40B4-BE49-F238E27FC236}">
                <ns2:creationId id="{B6641F00-FD71-4117-AEDA-89E66FA73F68}"/>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10/14 수업</a:t>
            </a:r>
          </a:p>
        </p:txBody>
      </p:sp>
      <p:sp>
        <p:nvSpPr>
          <p:cNvPr id="2" name="">
            <a:extLst>
              <a:ext uri="{FF2B5EF4-FFF2-40B4-BE49-F238E27FC236}">
                <ns2:creationId id="{DCCA65CD-E4CD-4AAA-AA1C-DCE52BB7978A}"/>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오늘의 수업 자료</a:t>
            </a:r>
          </a:p>
        </p:txBody>
      </p:sp>
      <p:sp>
        <p:nvSpPr>
          <p:cNvPr id="3" name="">
            <a:extLst>
              <a:ext uri="{FF2B5EF4-FFF2-40B4-BE49-F238E27FC236}">
                <ns2:creationId id="{CE1ADAD9-86AF-4AFA-8736-AA7A3AF170B5}"/>
              </a:ext>
            </a:extLst>
          </p:cNvPr>
          <p:cNvSpPr>
            <a:spLocks noGrp="1"/>
          </p:cNvSpPr>
          <p:nvPr/>
        </p:nvSpPr>
        <p:spPr>
          <a:xfrm>
            <a:off x="685800" y="1885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4"/>
              </a:rPr>
              <a:t>처음 시작 안내 ↗</a:t>
            </a:r>
          </a:p>
        </p:txBody>
      </p:sp>
      <p:sp>
        <p:nvSpPr>
          <p:cNvPr id="4" name="">
            <a:extLst>
              <a:ext uri="{FF2B5EF4-FFF2-40B4-BE49-F238E27FC236}">
                <ns2:creationId id="{4D764D22-4B11-4439-89C3-961CDA7F9C42}"/>
              </a:ext>
            </a:extLst>
          </p:cNvPr>
          <p:cNvSpPr>
            <a:spLocks noGrp="1"/>
          </p:cNvSpPr>
          <p:nvPr/>
        </p:nvSpPr>
        <p:spPr>
          <a:xfrm>
            <a:off x="685800" y="2343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zeusk302-png.github.io</a:t>
            </a:r>
          </a:p>
        </p:txBody>
      </p:sp>
      <p:sp>
        <p:nvSpPr>
          <p:cNvPr id="5" name="">
            <a:extLst>
              <a:ext uri="{FF2B5EF4-FFF2-40B4-BE49-F238E27FC236}">
                <ns2:creationId id="{1D6E3AD9-322E-45EB-9F00-9FCF98475BDC}"/>
              </a:ext>
            </a:extLst>
          </p:cNvPr>
          <p:cNvSpPr>
            <a:spLocks noGrp="1"/>
          </p:cNvSpPr>
          <p:nvPr/>
        </p:nvSpPr>
        <p:spPr>
          <a:xfrm>
            <a:off x="685800" y="2647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5"/>
              </a:rPr>
              <a:t>학생 교안 ↗</a:t>
            </a:r>
          </a:p>
        </p:txBody>
      </p:sp>
      <p:sp>
        <p:nvSpPr>
          <p:cNvPr id="6" name="">
            <a:extLst>
              <a:ext uri="{FF2B5EF4-FFF2-40B4-BE49-F238E27FC236}">
                <ns2:creationId id="{24580D0A-71B3-4BAE-8C9D-B9D4EFCB396C}"/>
              </a:ext>
            </a:extLst>
          </p:cNvPr>
          <p:cNvSpPr>
            <a:spLocks noGrp="1"/>
          </p:cNvSpPr>
          <p:nvPr/>
        </p:nvSpPr>
        <p:spPr>
          <a:xfrm>
            <a:off x="685800" y="3105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zeusk302-png.github.io</a:t>
            </a:r>
          </a:p>
        </p:txBody>
      </p:sp>
      <p:sp>
        <p:nvSpPr>
          <p:cNvPr id="7" name="">
            <a:extLst>
              <a:ext uri="{FF2B5EF4-FFF2-40B4-BE49-F238E27FC236}">
                <ns2:creationId id="{BE24BC14-3CD8-4FC7-AD29-6858B3E9ACD4}"/>
              </a:ext>
            </a:extLst>
          </p:cNvPr>
          <p:cNvSpPr>
            <a:spLocks noGrp="1"/>
          </p:cNvSpPr>
          <p:nvPr/>
        </p:nvSpPr>
        <p:spPr>
          <a:xfrm>
            <a:off x="685800" y="3409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6"/>
              </a:rPr>
              <a:t>실습 활동 ↗</a:t>
            </a:r>
          </a:p>
        </p:txBody>
      </p:sp>
      <p:sp>
        <p:nvSpPr>
          <p:cNvPr id="8" name="">
            <a:extLst>
              <a:ext uri="{FF2B5EF4-FFF2-40B4-BE49-F238E27FC236}">
                <ns2:creationId id="{62066A2C-3796-47B3-A94D-91A5E3F53470}"/>
              </a:ext>
            </a:extLst>
          </p:cNvPr>
          <p:cNvSpPr>
            <a:spLocks noGrp="1"/>
          </p:cNvSpPr>
          <p:nvPr/>
        </p:nvSpPr>
        <p:spPr>
          <a:xfrm>
            <a:off x="685800" y="3867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zeusk302-png.github.io</a:t>
            </a:r>
          </a:p>
        </p:txBody>
      </p:sp>
      <p:sp>
        <p:nvSpPr>
          <p:cNvPr id="9" name="">
            <a:extLst>
              <a:ext uri="{FF2B5EF4-FFF2-40B4-BE49-F238E27FC236}">
                <ns2:creationId id="{09511F14-DEAD-4D8B-8DF7-70DAA385354A}"/>
              </a:ext>
            </a:extLst>
          </p:cNvPr>
          <p:cNvSpPr>
            <a:spLocks noGrp="1"/>
          </p:cNvSpPr>
          <p:nvPr/>
        </p:nvSpPr>
        <p:spPr>
          <a:xfrm>
            <a:off x="685800" y="4171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7"/>
              </a:rPr>
              <a:t>예제 코드와 데이터 ZIP ↗</a:t>
            </a:r>
          </a:p>
        </p:txBody>
      </p:sp>
      <p:sp>
        <p:nvSpPr>
          <p:cNvPr id="10" name="">
            <a:extLst>
              <a:ext uri="{FF2B5EF4-FFF2-40B4-BE49-F238E27FC236}">
                <ns2:creationId id="{A1D6BBE2-7485-4D29-8BB3-0573D9DF25EC}"/>
              </a:ext>
            </a:extLst>
          </p:cNvPr>
          <p:cNvSpPr>
            <a:spLocks noGrp="1"/>
          </p:cNvSpPr>
          <p:nvPr/>
        </p:nvSpPr>
        <p:spPr>
          <a:xfrm>
            <a:off x="685800" y="4629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zeusk302-png.github.io</a:t>
            </a:r>
          </a:p>
        </p:txBody>
      </p:sp>
      <p:sp>
        <p:nvSpPr>
          <p:cNvPr id="11" name="">
            <a:extLst>
              <a:ext uri="{FF2B5EF4-FFF2-40B4-BE49-F238E27FC236}">
                <ns2:creationId id="{361E689D-8F4A-48E6-8960-891A2C281C37}"/>
              </a:ext>
            </a:extLst>
          </p:cNvPr>
          <p:cNvSpPr>
            <a:spLocks noGrp="1"/>
          </p:cNvSpPr>
          <p:nvPr/>
        </p:nvSpPr>
        <p:spPr>
          <a:xfrm>
            <a:off x="685800" y="4933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8"/>
              </a:rPr>
              <a:t>날짜별 자료 다운로드 ↗</a:t>
            </a:r>
          </a:p>
        </p:txBody>
      </p:sp>
      <p:sp>
        <p:nvSpPr>
          <p:cNvPr id="12" name="">
            <a:extLst>
              <a:ext uri="{FF2B5EF4-FFF2-40B4-BE49-F238E27FC236}">
                <ns2:creationId id="{844F3239-31C8-4A78-8DD9-D1BB6FBDE88C}"/>
              </a:ext>
            </a:extLst>
          </p:cNvPr>
          <p:cNvSpPr>
            <a:spLocks noGrp="1"/>
          </p:cNvSpPr>
          <p:nvPr/>
        </p:nvSpPr>
        <p:spPr>
          <a:xfrm>
            <a:off x="685800" y="5391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zeusk302-png.github.io</a:t>
            </a:r>
          </a:p>
        </p:txBody>
      </p:sp>
      <p:sp>
        <p:nvSpPr>
          <p:cNvPr id="13" name="">
            <a:extLst>
              <a:ext uri="{FF2B5EF4-FFF2-40B4-BE49-F238E27FC236}">
                <ns2:creationId id="{467EAE8A-9983-423E-B1DE-9447EED6E40A}"/>
              </a:ext>
            </a:extLst>
          </p:cNvPr>
          <p:cNvSpPr>
            <a:spLocks noGrp="1"/>
          </p:cNvSpPr>
          <p:nvPr/>
        </p:nvSpPr>
        <p:spPr>
          <a:xfrm>
            <a:off x="685800" y="6172200"/>
            <a:ext cx="10820400" cy="9525"/>
          </a:xfrm>
          <a:prstGeom prst="rect">
            <a:avLst/>
          </a:prstGeom>
          <a:solidFill>
            <a:srgbClr val="D5DEDD"/>
          </a:solidFill>
          <a:ln w="0">
            <a:noFill/>
          </a:ln>
        </p:spPr>
      </p:sp>
      <p:sp>
        <p:nvSpPr>
          <p:cNvPr id="14" name="">
            <a:extLst>
              <a:ext uri="{FF2B5EF4-FFF2-40B4-BE49-F238E27FC236}">
                <ns2:creationId id="{4E05D5D6-452C-4134-A52C-A7067ED9C88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5" name="">
            <a:extLst>
              <a:ext uri="{FF2B5EF4-FFF2-40B4-BE49-F238E27FC236}">
                <ns2:creationId id="{B5EA0C38-D991-4ACF-B977-0692DE584C39}"/>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6" name="">
            <a:extLst>
              <a:ext uri="{FF2B5EF4-FFF2-40B4-BE49-F238E27FC236}">
                <ns2:creationId id="{2C463192-1F30-4C91-BA6E-C64BA72C026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7" name="">
            <a:extLst>
              <a:ext uri="{FF2B5EF4-FFF2-40B4-BE49-F238E27FC236}">
                <ns2:creationId id="{00130261-B1C5-4D31-ACE7-249FEE34C45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100</a:t>
            </a:r>
          </a:p>
        </p:txBody>
      </p:sp>
    </p:spTree>
    <p:extLst>
      <p:ext uri="{BB962C8B-B14F-4D97-AF65-F5344CB8AC3E}">
        <ns4:creationId val="833348153"/>
      </p:ext>
    </p:extLst>
  </p:cSld>
</p:sld>
</file>

<file path=ppt/slides/slide10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8123BE6A-9165-4D7B-A028-D171FE23E6E2}"/>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10/14 수업</a:t>
            </a:r>
          </a:p>
        </p:txBody>
      </p:sp>
      <p:sp>
        <p:nvSpPr>
          <p:cNvPr id="2" name="">
            <a:extLst>
              <a:ext uri="{FF2B5EF4-FFF2-40B4-BE49-F238E27FC236}">
                <ns2:creationId id="{2471B3C6-B8BA-4BCF-95FC-0431401D911C}"/>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공식 문서와 참고 자료</a:t>
            </a:r>
          </a:p>
        </p:txBody>
      </p:sp>
      <p:sp>
        <p:nvSpPr>
          <p:cNvPr id="3" name="">
            <a:extLst>
              <a:ext uri="{FF2B5EF4-FFF2-40B4-BE49-F238E27FC236}">
                <ns2:creationId id="{37FBACD0-7FAC-4A7A-A193-999A9709792F}"/>
              </a:ext>
            </a:extLst>
          </p:cNvPr>
          <p:cNvSpPr>
            <a:spLocks noGrp="1"/>
          </p:cNvSpPr>
          <p:nvPr/>
        </p:nvSpPr>
        <p:spPr>
          <a:xfrm>
            <a:off x="685800" y="1885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4"/>
              </a:rPr>
              <a:t>숫자·문자열 · Python ↗</a:t>
            </a:r>
          </a:p>
        </p:txBody>
      </p:sp>
      <p:sp>
        <p:nvSpPr>
          <p:cNvPr id="4" name="">
            <a:extLst>
              <a:ext uri="{FF2B5EF4-FFF2-40B4-BE49-F238E27FC236}">
                <ns2:creationId id="{F9930231-EE99-4546-9927-A506B3FBE4A6}"/>
              </a:ext>
            </a:extLst>
          </p:cNvPr>
          <p:cNvSpPr>
            <a:spLocks noGrp="1"/>
          </p:cNvSpPr>
          <p:nvPr/>
        </p:nvSpPr>
        <p:spPr>
          <a:xfrm>
            <a:off x="685800" y="2343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docs.python.org</a:t>
            </a:r>
          </a:p>
        </p:txBody>
      </p:sp>
      <p:sp>
        <p:nvSpPr>
          <p:cNvPr id="5" name="">
            <a:extLst>
              <a:ext uri="{FF2B5EF4-FFF2-40B4-BE49-F238E27FC236}">
                <ns2:creationId id="{9DB64DC0-895E-4D85-AC1B-8B2AB76801A4}"/>
              </a:ext>
            </a:extLst>
          </p:cNvPr>
          <p:cNvSpPr>
            <a:spLocks noGrp="1"/>
          </p:cNvSpPr>
          <p:nvPr/>
        </p:nvSpPr>
        <p:spPr>
          <a:xfrm>
            <a:off x="685800" y="2647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5"/>
              </a:rPr>
              <a:t>조건과 반복 · Python ↗</a:t>
            </a:r>
          </a:p>
        </p:txBody>
      </p:sp>
      <p:sp>
        <p:nvSpPr>
          <p:cNvPr id="6" name="">
            <a:extLst>
              <a:ext uri="{FF2B5EF4-FFF2-40B4-BE49-F238E27FC236}">
                <ns2:creationId id="{24611745-C3AB-4308-8C75-5EFB7469C4EE}"/>
              </a:ext>
            </a:extLst>
          </p:cNvPr>
          <p:cNvSpPr>
            <a:spLocks noGrp="1"/>
          </p:cNvSpPr>
          <p:nvPr/>
        </p:nvSpPr>
        <p:spPr>
          <a:xfrm>
            <a:off x="685800" y="3105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docs.python.org</a:t>
            </a:r>
          </a:p>
        </p:txBody>
      </p:sp>
      <p:sp>
        <p:nvSpPr>
          <p:cNvPr id="7" name="">
            <a:extLst>
              <a:ext uri="{FF2B5EF4-FFF2-40B4-BE49-F238E27FC236}">
                <ns2:creationId id="{784F7065-8DD0-4B7C-91E8-57F2F01B9537}"/>
              </a:ext>
            </a:extLst>
          </p:cNvPr>
          <p:cNvSpPr>
            <a:spLocks noGrp="1"/>
          </p:cNvSpPr>
          <p:nvPr/>
        </p:nvSpPr>
        <p:spPr>
          <a:xfrm>
            <a:off x="685800" y="3409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6"/>
              </a:rPr>
              <a:t>오류 읽기 · Python ↗</a:t>
            </a:r>
          </a:p>
        </p:txBody>
      </p:sp>
      <p:sp>
        <p:nvSpPr>
          <p:cNvPr id="8" name="">
            <a:extLst>
              <a:ext uri="{FF2B5EF4-FFF2-40B4-BE49-F238E27FC236}">
                <ns2:creationId id="{C6734DC0-BAC5-4FE2-B502-074C68B16D52}"/>
              </a:ext>
            </a:extLst>
          </p:cNvPr>
          <p:cNvSpPr>
            <a:spLocks noGrp="1"/>
          </p:cNvSpPr>
          <p:nvPr/>
        </p:nvSpPr>
        <p:spPr>
          <a:xfrm>
            <a:off x="685800" y="3867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docs.python.org</a:t>
            </a:r>
          </a:p>
        </p:txBody>
      </p:sp>
      <p:sp>
        <p:nvSpPr>
          <p:cNvPr id="9" name="">
            <a:extLst>
              <a:ext uri="{FF2B5EF4-FFF2-40B4-BE49-F238E27FC236}">
                <ns2:creationId id="{BAA32041-287A-4FF0-9906-24C43B0733A8}"/>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E3083C67-D177-4787-986D-03298EAE831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637EB9BA-4444-4F86-BCF4-FE4C14A53CF8}"/>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DA93CD7B-0311-4F7A-AB2C-16A93BECE801}"/>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C1B5B0A1-E893-4D29-8F8D-0DD5163C6D15}"/>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10/14   101</a:t>
            </a:r>
          </a:p>
        </p:txBody>
      </p:sp>
    </p:spTree>
    <p:extLst>
      <p:ext uri="{BB962C8B-B14F-4D97-AF65-F5344CB8AC3E}">
        <ns4:creationId val="88580284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2026-10-05T04:49:30.6980000Z</dcterms:created>
  <dcterms:modified xsi:type="dcterms:W3CDTF">2026-10-05T04:49:30.6980000Z</dcterms:modified>
</coreProperties>
</file>