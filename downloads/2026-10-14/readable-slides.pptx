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44c516715804a8c" /><Relationship Type="http://schemas.openxmlformats.org/officeDocument/2006/relationships/extended-properties" Target="/docProps/app.xml" Id="R512691bfb6114db8" /><Relationship Type="http://schemas.openxmlformats.org/officeDocument/2006/relationships/officeDocument" Target="/ppt/presentation.xml" Id="Rf206fa81868c4301" /></Relationships>
</file>

<file path=ppt/presentation.xml><?xml version="1.0" encoding="utf-8"?>
<p:presentation xmlns:p="http://schemas.openxmlformats.org/presentationml/2006/main">
  <p:sldMasterIdLst>
    <p:sldMasterId xmlns:r="http://schemas.openxmlformats.org/officeDocument/2006/relationships" id="2147483648" r:id="R35ffaf3f9fe548ab"/>
  </p:sldMasterIdLst>
  <p:notesMasterIdLst>
    <p:notesMasterId xmlns:r="http://schemas.openxmlformats.org/officeDocument/2006/relationships" r:id="R729e247629214224"/>
  </p:notesMasterIdLst>
  <p:sldIdLst>
    <p:sldId xmlns:r="http://schemas.openxmlformats.org/officeDocument/2006/relationships" id="256" r:id="R4dcb9310a7754c4e"/>
    <p:sldId xmlns:r="http://schemas.openxmlformats.org/officeDocument/2006/relationships" id="257" r:id="Rbd0f0fbaa8aa4e36"/>
    <p:sldId xmlns:r="http://schemas.openxmlformats.org/officeDocument/2006/relationships" id="258" r:id="Rb2a032712339446f"/>
    <p:sldId xmlns:r="http://schemas.openxmlformats.org/officeDocument/2006/relationships" id="259" r:id="R6a9a86f4cd6d48d9"/>
    <p:sldId xmlns:r="http://schemas.openxmlformats.org/officeDocument/2006/relationships" id="260" r:id="R5c3fe55e9f0f4006"/>
    <p:sldId xmlns:r="http://schemas.openxmlformats.org/officeDocument/2006/relationships" id="261" r:id="R60b0e4ec45794741"/>
    <p:sldId xmlns:r="http://schemas.openxmlformats.org/officeDocument/2006/relationships" id="262" r:id="R4d42483a1b0f4977"/>
    <p:sldId xmlns:r="http://schemas.openxmlformats.org/officeDocument/2006/relationships" id="263" r:id="Rc01aaa9ac1084609"/>
    <p:sldId xmlns:r="http://schemas.openxmlformats.org/officeDocument/2006/relationships" id="264" r:id="R15da05dc300a4d0c"/>
    <p:sldId xmlns:r="http://schemas.openxmlformats.org/officeDocument/2006/relationships" id="265" r:id="R8e524376ba5e4dda"/>
    <p:sldId xmlns:r="http://schemas.openxmlformats.org/officeDocument/2006/relationships" id="266" r:id="R4df12458cb1e42b9"/>
    <p:sldId xmlns:r="http://schemas.openxmlformats.org/officeDocument/2006/relationships" id="267" r:id="R4312451702ff4100"/>
    <p:sldId xmlns:r="http://schemas.openxmlformats.org/officeDocument/2006/relationships" id="268" r:id="R6fb341a22f574084"/>
    <p:sldId xmlns:r="http://schemas.openxmlformats.org/officeDocument/2006/relationships" id="269" r:id="R578d9d2e711c493f"/>
    <p:sldId xmlns:r="http://schemas.openxmlformats.org/officeDocument/2006/relationships" id="270" r:id="R4ffead6cb3d9457e"/>
    <p:sldId xmlns:r="http://schemas.openxmlformats.org/officeDocument/2006/relationships" id="271" r:id="R205cbb51731b49d1"/>
    <p:sldId xmlns:r="http://schemas.openxmlformats.org/officeDocument/2006/relationships" id="272" r:id="R79e7ad95159a4626"/>
    <p:sldId xmlns:r="http://schemas.openxmlformats.org/officeDocument/2006/relationships" id="273" r:id="R0120c28f7f4a4750"/>
    <p:sldId xmlns:r="http://schemas.openxmlformats.org/officeDocument/2006/relationships" id="274" r:id="R3c84e1cbbe324ff3"/>
    <p:sldId xmlns:r="http://schemas.openxmlformats.org/officeDocument/2006/relationships" id="275" r:id="R9f1f14891f954f07"/>
    <p:sldId xmlns:r="http://schemas.openxmlformats.org/officeDocument/2006/relationships" id="276" r:id="R5bdd4fb3a27f4f20"/>
    <p:sldId xmlns:r="http://schemas.openxmlformats.org/officeDocument/2006/relationships" id="277" r:id="Rfe002d12afbc4044"/>
    <p:sldId xmlns:r="http://schemas.openxmlformats.org/officeDocument/2006/relationships" id="278" r:id="Rdb4716fcb4f44eaf"/>
    <p:sldId xmlns:r="http://schemas.openxmlformats.org/officeDocument/2006/relationships" id="279" r:id="R062811407e6d4276"/>
    <p:sldId xmlns:r="http://schemas.openxmlformats.org/officeDocument/2006/relationships" id="280" r:id="Rc40bc56df0574412"/>
    <p:sldId xmlns:r="http://schemas.openxmlformats.org/officeDocument/2006/relationships" id="281" r:id="R7defb1b99f4f4ef5"/>
    <p:sldId xmlns:r="http://schemas.openxmlformats.org/officeDocument/2006/relationships" id="282" r:id="Rc1b205c715de400a"/>
    <p:sldId xmlns:r="http://schemas.openxmlformats.org/officeDocument/2006/relationships" id="283" r:id="Raa12ed7d94e14d2e"/>
    <p:sldId xmlns:r="http://schemas.openxmlformats.org/officeDocument/2006/relationships" id="284" r:id="R1a85cdca63194b63"/>
    <p:sldId xmlns:r="http://schemas.openxmlformats.org/officeDocument/2006/relationships" id="285" r:id="R8fa6ae3a2215470e"/>
    <p:sldId xmlns:r="http://schemas.openxmlformats.org/officeDocument/2006/relationships" id="286" r:id="Rf50398f14eda462f"/>
    <p:sldId xmlns:r="http://schemas.openxmlformats.org/officeDocument/2006/relationships" id="287" r:id="R1d119d94656d41e4"/>
    <p:sldId xmlns:r="http://schemas.openxmlformats.org/officeDocument/2006/relationships" id="288" r:id="Re513516c3c08405d"/>
    <p:sldId xmlns:r="http://schemas.openxmlformats.org/officeDocument/2006/relationships" id="289" r:id="R2ef4a693e5ca4791"/>
    <p:sldId xmlns:r="http://schemas.openxmlformats.org/officeDocument/2006/relationships" id="290" r:id="R8889055541f24a45"/>
    <p:sldId xmlns:r="http://schemas.openxmlformats.org/officeDocument/2006/relationships" id="291" r:id="R681b2182e65747f5"/>
    <p:sldId xmlns:r="http://schemas.openxmlformats.org/officeDocument/2006/relationships" id="292" r:id="R19263b981a4b4b36"/>
    <p:sldId xmlns:r="http://schemas.openxmlformats.org/officeDocument/2006/relationships" id="293" r:id="Rcaff5815cb8c4c4d"/>
    <p:sldId xmlns:r="http://schemas.openxmlformats.org/officeDocument/2006/relationships" id="294" r:id="R071dc7e19d3b4561"/>
    <p:sldId xmlns:r="http://schemas.openxmlformats.org/officeDocument/2006/relationships" id="295" r:id="Rf9fb330e3c9e4c5a"/>
    <p:sldId xmlns:r="http://schemas.openxmlformats.org/officeDocument/2006/relationships" id="296" r:id="R7bda6a5a6fc746f7"/>
    <p:sldId xmlns:r="http://schemas.openxmlformats.org/officeDocument/2006/relationships" id="297" r:id="Ra1b14dfa81e347b8"/>
    <p:sldId xmlns:r="http://schemas.openxmlformats.org/officeDocument/2006/relationships" id="298" r:id="Rbf12609270874d81"/>
    <p:sldId xmlns:r="http://schemas.openxmlformats.org/officeDocument/2006/relationships" id="299" r:id="R95e3e725d5024326"/>
    <p:sldId xmlns:r="http://schemas.openxmlformats.org/officeDocument/2006/relationships" id="300" r:id="R4be439436f8c481b"/>
    <p:sldId xmlns:r="http://schemas.openxmlformats.org/officeDocument/2006/relationships" id="301" r:id="R54e7b20ea06d4883"/>
    <p:sldId xmlns:r="http://schemas.openxmlformats.org/officeDocument/2006/relationships" id="302" r:id="R961c7f5f0b1d4d07"/>
    <p:sldId xmlns:r="http://schemas.openxmlformats.org/officeDocument/2006/relationships" id="303" r:id="R06f0f1dece29438f"/>
    <p:sldId xmlns:r="http://schemas.openxmlformats.org/officeDocument/2006/relationships" id="304" r:id="R8cdfe9c886aa4326"/>
    <p:sldId xmlns:r="http://schemas.openxmlformats.org/officeDocument/2006/relationships" id="305" r:id="R645e8032b9b64944"/>
    <p:sldId xmlns:r="http://schemas.openxmlformats.org/officeDocument/2006/relationships" id="306" r:id="R1d3a231eb6c64734"/>
    <p:sldId xmlns:r="http://schemas.openxmlformats.org/officeDocument/2006/relationships" id="307" r:id="Rc2b8f320ec04427b"/>
    <p:sldId xmlns:r="http://schemas.openxmlformats.org/officeDocument/2006/relationships" id="308" r:id="Rb5af052fa9e74a6b"/>
    <p:sldId xmlns:r="http://schemas.openxmlformats.org/officeDocument/2006/relationships" id="309" r:id="R8f994047daac4a29"/>
    <p:sldId xmlns:r="http://schemas.openxmlformats.org/officeDocument/2006/relationships" id="310" r:id="Rc50cdaf025cf46d1"/>
    <p:sldId xmlns:r="http://schemas.openxmlformats.org/officeDocument/2006/relationships" id="311" r:id="R6636241652a54ba6"/>
    <p:sldId xmlns:r="http://schemas.openxmlformats.org/officeDocument/2006/relationships" id="312" r:id="R1af7d636bd584b77"/>
    <p:sldId xmlns:r="http://schemas.openxmlformats.org/officeDocument/2006/relationships" id="313" r:id="Rb2a3eeda15934b0e"/>
    <p:sldId xmlns:r="http://schemas.openxmlformats.org/officeDocument/2006/relationships" id="314" r:id="Ra023c5f720de4648"/>
    <p:sldId xmlns:r="http://schemas.openxmlformats.org/officeDocument/2006/relationships" id="315" r:id="Rf6de6c878b8d4ffd"/>
    <p:sldId xmlns:r="http://schemas.openxmlformats.org/officeDocument/2006/relationships" id="316" r:id="Rfc45e372feaa4e54"/>
    <p:sldId xmlns:r="http://schemas.openxmlformats.org/officeDocument/2006/relationships" id="317" r:id="Rc6dce53e631f4805"/>
    <p:sldId xmlns:r="http://schemas.openxmlformats.org/officeDocument/2006/relationships" id="318" r:id="R15fc7a86010c451a"/>
    <p:sldId xmlns:r="http://schemas.openxmlformats.org/officeDocument/2006/relationships" id="319" r:id="R814fb1edaa8c4b89"/>
    <p:sldId xmlns:r="http://schemas.openxmlformats.org/officeDocument/2006/relationships" id="320" r:id="R2281523e6c37441e"/>
    <p:sldId xmlns:r="http://schemas.openxmlformats.org/officeDocument/2006/relationships" id="321" r:id="Rec66aab01e1c42e1"/>
    <p:sldId xmlns:r="http://schemas.openxmlformats.org/officeDocument/2006/relationships" id="322" r:id="R8ae1593990734b08"/>
    <p:sldId xmlns:r="http://schemas.openxmlformats.org/officeDocument/2006/relationships" id="323" r:id="R16d030258dd1469a"/>
    <p:sldId xmlns:r="http://schemas.openxmlformats.org/officeDocument/2006/relationships" id="324" r:id="R55d9d5efa4a746f7"/>
    <p:sldId xmlns:r="http://schemas.openxmlformats.org/officeDocument/2006/relationships" id="325" r:id="R1291bb26d60746c6"/>
    <p:sldId xmlns:r="http://schemas.openxmlformats.org/officeDocument/2006/relationships" id="326" r:id="Ra81df7fa451a4a5b"/>
    <p:sldId xmlns:r="http://schemas.openxmlformats.org/officeDocument/2006/relationships" id="327" r:id="R269bd021dfbd43af"/>
    <p:sldId xmlns:r="http://schemas.openxmlformats.org/officeDocument/2006/relationships" id="328" r:id="R09716f6f07e54a70"/>
    <p:sldId xmlns:r="http://schemas.openxmlformats.org/officeDocument/2006/relationships" id="329" r:id="R1e4cafa49e32451d"/>
    <p:sldId xmlns:r="http://schemas.openxmlformats.org/officeDocument/2006/relationships" id="330" r:id="R3c16296841884ef3"/>
    <p:sldId xmlns:r="http://schemas.openxmlformats.org/officeDocument/2006/relationships" id="331" r:id="Ra52f0cc4147d40dd"/>
    <p:sldId xmlns:r="http://schemas.openxmlformats.org/officeDocument/2006/relationships" id="332" r:id="Rf4447e15facf47d8"/>
    <p:sldId xmlns:r="http://schemas.openxmlformats.org/officeDocument/2006/relationships" id="333" r:id="Rf5b1eec12e8c4447"/>
    <p:sldId xmlns:r="http://schemas.openxmlformats.org/officeDocument/2006/relationships" id="334" r:id="R16cacba1d2b24961"/>
    <p:sldId xmlns:r="http://schemas.openxmlformats.org/officeDocument/2006/relationships" id="335" r:id="Rf197a3b5cabd41a5"/>
    <p:sldId xmlns:r="http://schemas.openxmlformats.org/officeDocument/2006/relationships" id="336" r:id="Ra18a462c86454f76"/>
    <p:sldId xmlns:r="http://schemas.openxmlformats.org/officeDocument/2006/relationships" id="337" r:id="R599156b64ff34659"/>
    <p:sldId xmlns:r="http://schemas.openxmlformats.org/officeDocument/2006/relationships" id="338" r:id="R26e39a9ceb1843db"/>
    <p:sldId xmlns:r="http://schemas.openxmlformats.org/officeDocument/2006/relationships" id="339" r:id="R49811ca1d7d7480b"/>
    <p:sldId xmlns:r="http://schemas.openxmlformats.org/officeDocument/2006/relationships" id="340" r:id="Rdab0240b94d94076"/>
    <p:sldId xmlns:r="http://schemas.openxmlformats.org/officeDocument/2006/relationships" id="341" r:id="R1a426f356b8d499c"/>
    <p:sldId xmlns:r="http://schemas.openxmlformats.org/officeDocument/2006/relationships" id="342" r:id="R8e2576c4ed604d47"/>
    <p:sldId xmlns:r="http://schemas.openxmlformats.org/officeDocument/2006/relationships" id="343" r:id="R91bc27da865e44ff"/>
    <p:sldId xmlns:r="http://schemas.openxmlformats.org/officeDocument/2006/relationships" id="344" r:id="R177edb2f66134e41"/>
    <p:sldId xmlns:r="http://schemas.openxmlformats.org/officeDocument/2006/relationships" id="345" r:id="Rc24cff712cb84a92"/>
    <p:sldId xmlns:r="http://schemas.openxmlformats.org/officeDocument/2006/relationships" id="346" r:id="R9806bd94d9a64249"/>
    <p:sldId xmlns:r="http://schemas.openxmlformats.org/officeDocument/2006/relationships" id="347" r:id="R1a45b97d93fc4eac"/>
    <p:sldId xmlns:r="http://schemas.openxmlformats.org/officeDocument/2006/relationships" id="348" r:id="R0d8a4159a07b45dd"/>
    <p:sldId xmlns:r="http://schemas.openxmlformats.org/officeDocument/2006/relationships" id="349" r:id="R5fe5c27460de47da"/>
    <p:sldId xmlns:r="http://schemas.openxmlformats.org/officeDocument/2006/relationships" id="350" r:id="R36607a07cb6941f9"/>
    <p:sldId xmlns:r="http://schemas.openxmlformats.org/officeDocument/2006/relationships" id="351" r:id="R633dd775dead41ae"/>
    <p:sldId xmlns:r="http://schemas.openxmlformats.org/officeDocument/2006/relationships" id="352" r:id="R35ac1b014a264f61"/>
    <p:sldId xmlns:r="http://schemas.openxmlformats.org/officeDocument/2006/relationships" id="353" r:id="R0b18983148694574"/>
    <p:sldId xmlns:r="http://schemas.openxmlformats.org/officeDocument/2006/relationships" id="354" r:id="Rc56f8e109403461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1f607fbcd604951" /><Relationship Type="http://schemas.openxmlformats.org/officeDocument/2006/relationships/slideMaster" Target="/ppt/slideMasters/slideMaster1.xml" Id="R35ffaf3f9fe548ab" /><Relationship Type="http://schemas.openxmlformats.org/officeDocument/2006/relationships/notesMaster" Target="/ppt/notesMasters/notesMaster1.xml" Id="R729e247629214224" /><Relationship Type="http://schemas.openxmlformats.org/officeDocument/2006/relationships/presProps" Target="/ppt/presProps.xml" Id="Rf5bad8964e0b4d77" /><Relationship Type="http://schemas.openxmlformats.org/officeDocument/2006/relationships/tableStyles" Target="/ppt/tableStyles.xml" Id="Rbe11ffded57b43d5" /><Relationship Type="http://schemas.openxmlformats.org/officeDocument/2006/relationships/slide" Target="/ppt/slides/slide1.xml" Id="R4dcb9310a7754c4e" /><Relationship Type="http://schemas.openxmlformats.org/officeDocument/2006/relationships/slide" Target="/ppt/slides/slide2.xml" Id="Rbd0f0fbaa8aa4e36" /><Relationship Type="http://schemas.openxmlformats.org/officeDocument/2006/relationships/slide" Target="/ppt/slides/slide3.xml" Id="Rb2a032712339446f" /><Relationship Type="http://schemas.openxmlformats.org/officeDocument/2006/relationships/slide" Target="/ppt/slides/slide4.xml" Id="R6a9a86f4cd6d48d9" /><Relationship Type="http://schemas.openxmlformats.org/officeDocument/2006/relationships/slide" Target="/ppt/slides/slide5.xml" Id="R5c3fe55e9f0f4006" /><Relationship Type="http://schemas.openxmlformats.org/officeDocument/2006/relationships/slide" Target="/ppt/slides/slide6.xml" Id="R60b0e4ec45794741" /><Relationship Type="http://schemas.openxmlformats.org/officeDocument/2006/relationships/slide" Target="/ppt/slides/slide7.xml" Id="R4d42483a1b0f4977" /><Relationship Type="http://schemas.openxmlformats.org/officeDocument/2006/relationships/slide" Target="/ppt/slides/slide8.xml" Id="Rc01aaa9ac1084609" /><Relationship Type="http://schemas.openxmlformats.org/officeDocument/2006/relationships/slide" Target="/ppt/slides/slide9.xml" Id="R15da05dc300a4d0c" /><Relationship Type="http://schemas.openxmlformats.org/officeDocument/2006/relationships/slide" Target="/ppt/slides/slide10.xml" Id="R8e524376ba5e4dda" /><Relationship Type="http://schemas.openxmlformats.org/officeDocument/2006/relationships/slide" Target="/ppt/slides/slide11.xml" Id="R4df12458cb1e42b9" /><Relationship Type="http://schemas.openxmlformats.org/officeDocument/2006/relationships/slide" Target="/ppt/slides/slide12.xml" Id="R4312451702ff4100" /><Relationship Type="http://schemas.openxmlformats.org/officeDocument/2006/relationships/slide" Target="/ppt/slides/slide13.xml" Id="R6fb341a22f574084" /><Relationship Type="http://schemas.openxmlformats.org/officeDocument/2006/relationships/slide" Target="/ppt/slides/slide14.xml" Id="R578d9d2e711c493f" /><Relationship Type="http://schemas.openxmlformats.org/officeDocument/2006/relationships/slide" Target="/ppt/slides/slide15.xml" Id="R4ffead6cb3d9457e" /><Relationship Type="http://schemas.openxmlformats.org/officeDocument/2006/relationships/slide" Target="/ppt/slides/slide16.xml" Id="R205cbb51731b49d1" /><Relationship Type="http://schemas.openxmlformats.org/officeDocument/2006/relationships/slide" Target="/ppt/slides/slide17.xml" Id="R79e7ad95159a4626" /><Relationship Type="http://schemas.openxmlformats.org/officeDocument/2006/relationships/slide" Target="/ppt/slides/slide18.xml" Id="R0120c28f7f4a4750" /><Relationship Type="http://schemas.openxmlformats.org/officeDocument/2006/relationships/slide" Target="/ppt/slides/slide19.xml" Id="R3c84e1cbbe324ff3" /><Relationship Type="http://schemas.openxmlformats.org/officeDocument/2006/relationships/slide" Target="/ppt/slides/slide20.xml" Id="R9f1f14891f954f07" /><Relationship Type="http://schemas.openxmlformats.org/officeDocument/2006/relationships/slide" Target="/ppt/slides/slide21.xml" Id="R5bdd4fb3a27f4f20" /><Relationship Type="http://schemas.openxmlformats.org/officeDocument/2006/relationships/slide" Target="/ppt/slides/slide22.xml" Id="Rfe002d12afbc4044" /><Relationship Type="http://schemas.openxmlformats.org/officeDocument/2006/relationships/slide" Target="/ppt/slides/slide23.xml" Id="Rdb4716fcb4f44eaf" /><Relationship Type="http://schemas.openxmlformats.org/officeDocument/2006/relationships/slide" Target="/ppt/slides/slide24.xml" Id="R062811407e6d4276" /><Relationship Type="http://schemas.openxmlformats.org/officeDocument/2006/relationships/slide" Target="/ppt/slides/slide25.xml" Id="Rc40bc56df0574412" /><Relationship Type="http://schemas.openxmlformats.org/officeDocument/2006/relationships/slide" Target="/ppt/slides/slide26.xml" Id="R7defb1b99f4f4ef5" /><Relationship Type="http://schemas.openxmlformats.org/officeDocument/2006/relationships/slide" Target="/ppt/slides/slide27.xml" Id="Rc1b205c715de400a" /><Relationship Type="http://schemas.openxmlformats.org/officeDocument/2006/relationships/slide" Target="/ppt/slides/slide28.xml" Id="Raa12ed7d94e14d2e" /><Relationship Type="http://schemas.openxmlformats.org/officeDocument/2006/relationships/slide" Target="/ppt/slides/slide29.xml" Id="R1a85cdca63194b63" /><Relationship Type="http://schemas.openxmlformats.org/officeDocument/2006/relationships/slide" Target="/ppt/slides/slide30.xml" Id="R8fa6ae3a2215470e" /><Relationship Type="http://schemas.openxmlformats.org/officeDocument/2006/relationships/slide" Target="/ppt/slides/slide31.xml" Id="Rf50398f14eda462f" /><Relationship Type="http://schemas.openxmlformats.org/officeDocument/2006/relationships/slide" Target="/ppt/slides/slide32.xml" Id="R1d119d94656d41e4" /><Relationship Type="http://schemas.openxmlformats.org/officeDocument/2006/relationships/slide" Target="/ppt/slides/slide33.xml" Id="Re513516c3c08405d" /><Relationship Type="http://schemas.openxmlformats.org/officeDocument/2006/relationships/slide" Target="/ppt/slides/slide34.xml" Id="R2ef4a693e5ca4791" /><Relationship Type="http://schemas.openxmlformats.org/officeDocument/2006/relationships/slide" Target="/ppt/slides/slide35.xml" Id="R8889055541f24a45" /><Relationship Type="http://schemas.openxmlformats.org/officeDocument/2006/relationships/slide" Target="/ppt/slides/slide36.xml" Id="R681b2182e65747f5" /><Relationship Type="http://schemas.openxmlformats.org/officeDocument/2006/relationships/slide" Target="/ppt/slides/slide37.xml" Id="R19263b981a4b4b36" /><Relationship Type="http://schemas.openxmlformats.org/officeDocument/2006/relationships/slide" Target="/ppt/slides/slide38.xml" Id="Rcaff5815cb8c4c4d" /><Relationship Type="http://schemas.openxmlformats.org/officeDocument/2006/relationships/slide" Target="/ppt/slides/slide39.xml" Id="R071dc7e19d3b4561" /><Relationship Type="http://schemas.openxmlformats.org/officeDocument/2006/relationships/slide" Target="/ppt/slides/slide40.xml" Id="Rf9fb330e3c9e4c5a" /><Relationship Type="http://schemas.openxmlformats.org/officeDocument/2006/relationships/slide" Target="/ppt/slides/slide41.xml" Id="R7bda6a5a6fc746f7" /><Relationship Type="http://schemas.openxmlformats.org/officeDocument/2006/relationships/slide" Target="/ppt/slides/slide42.xml" Id="Ra1b14dfa81e347b8" /><Relationship Type="http://schemas.openxmlformats.org/officeDocument/2006/relationships/slide" Target="/ppt/slides/slide43.xml" Id="Rbf12609270874d81" /><Relationship Type="http://schemas.openxmlformats.org/officeDocument/2006/relationships/slide" Target="/ppt/slides/slide44.xml" Id="R95e3e725d5024326" /><Relationship Type="http://schemas.openxmlformats.org/officeDocument/2006/relationships/slide" Target="/ppt/slides/slide45.xml" Id="R4be439436f8c481b" /><Relationship Type="http://schemas.openxmlformats.org/officeDocument/2006/relationships/slide" Target="/ppt/slides/slide46.xml" Id="R54e7b20ea06d4883" /><Relationship Type="http://schemas.openxmlformats.org/officeDocument/2006/relationships/slide" Target="/ppt/slides/slide47.xml" Id="R961c7f5f0b1d4d07" /><Relationship Type="http://schemas.openxmlformats.org/officeDocument/2006/relationships/slide" Target="/ppt/slides/slide48.xml" Id="R06f0f1dece29438f" /><Relationship Type="http://schemas.openxmlformats.org/officeDocument/2006/relationships/slide" Target="/ppt/slides/slide49.xml" Id="R8cdfe9c886aa4326" /><Relationship Type="http://schemas.openxmlformats.org/officeDocument/2006/relationships/slide" Target="/ppt/slides/slide50.xml" Id="R645e8032b9b64944" /><Relationship Type="http://schemas.openxmlformats.org/officeDocument/2006/relationships/slide" Target="/ppt/slides/slide51.xml" Id="R1d3a231eb6c64734" /><Relationship Type="http://schemas.openxmlformats.org/officeDocument/2006/relationships/slide" Target="/ppt/slides/slide52.xml" Id="Rc2b8f320ec04427b" /><Relationship Type="http://schemas.openxmlformats.org/officeDocument/2006/relationships/slide" Target="/ppt/slides/slide53.xml" Id="Rb5af052fa9e74a6b" /><Relationship Type="http://schemas.openxmlformats.org/officeDocument/2006/relationships/slide" Target="/ppt/slides/slide54.xml" Id="R8f994047daac4a29" /><Relationship Type="http://schemas.openxmlformats.org/officeDocument/2006/relationships/slide" Target="/ppt/slides/slide55.xml" Id="Rc50cdaf025cf46d1" /><Relationship Type="http://schemas.openxmlformats.org/officeDocument/2006/relationships/slide" Target="/ppt/slides/slide56.xml" Id="R6636241652a54ba6" /><Relationship Type="http://schemas.openxmlformats.org/officeDocument/2006/relationships/slide" Target="/ppt/slides/slide57.xml" Id="R1af7d636bd584b77" /><Relationship Type="http://schemas.openxmlformats.org/officeDocument/2006/relationships/slide" Target="/ppt/slides/slide58.xml" Id="Rb2a3eeda15934b0e" /><Relationship Type="http://schemas.openxmlformats.org/officeDocument/2006/relationships/slide" Target="/ppt/slides/slide59.xml" Id="Ra023c5f720de4648" /><Relationship Type="http://schemas.openxmlformats.org/officeDocument/2006/relationships/slide" Target="/ppt/slides/slide60.xml" Id="Rf6de6c878b8d4ffd" /><Relationship Type="http://schemas.openxmlformats.org/officeDocument/2006/relationships/slide" Target="/ppt/slides/slide61.xml" Id="Rfc45e372feaa4e54" /><Relationship Type="http://schemas.openxmlformats.org/officeDocument/2006/relationships/slide" Target="/ppt/slides/slide62.xml" Id="Rc6dce53e631f4805" /><Relationship Type="http://schemas.openxmlformats.org/officeDocument/2006/relationships/slide" Target="/ppt/slides/slide63.xml" Id="R15fc7a86010c451a" /><Relationship Type="http://schemas.openxmlformats.org/officeDocument/2006/relationships/slide" Target="/ppt/slides/slide64.xml" Id="R814fb1edaa8c4b89" /><Relationship Type="http://schemas.openxmlformats.org/officeDocument/2006/relationships/slide" Target="/ppt/slides/slide65.xml" Id="R2281523e6c37441e" /><Relationship Type="http://schemas.openxmlformats.org/officeDocument/2006/relationships/slide" Target="/ppt/slides/slide66.xml" Id="Rec66aab01e1c42e1" /><Relationship Type="http://schemas.openxmlformats.org/officeDocument/2006/relationships/slide" Target="/ppt/slides/slide67.xml" Id="R8ae1593990734b08" /><Relationship Type="http://schemas.openxmlformats.org/officeDocument/2006/relationships/slide" Target="/ppt/slides/slide68.xml" Id="R16d030258dd1469a" /><Relationship Type="http://schemas.openxmlformats.org/officeDocument/2006/relationships/slide" Target="/ppt/slides/slide69.xml" Id="R55d9d5efa4a746f7" /><Relationship Type="http://schemas.openxmlformats.org/officeDocument/2006/relationships/slide" Target="/ppt/slides/slide70.xml" Id="R1291bb26d60746c6" /><Relationship Type="http://schemas.openxmlformats.org/officeDocument/2006/relationships/slide" Target="/ppt/slides/slide71.xml" Id="Ra81df7fa451a4a5b" /><Relationship Type="http://schemas.openxmlformats.org/officeDocument/2006/relationships/slide" Target="/ppt/slides/slide72.xml" Id="R269bd021dfbd43af" /><Relationship Type="http://schemas.openxmlformats.org/officeDocument/2006/relationships/slide" Target="/ppt/slides/slide73.xml" Id="R09716f6f07e54a70" /><Relationship Type="http://schemas.openxmlformats.org/officeDocument/2006/relationships/slide" Target="/ppt/slides/slide74.xml" Id="R1e4cafa49e32451d" /><Relationship Type="http://schemas.openxmlformats.org/officeDocument/2006/relationships/slide" Target="/ppt/slides/slide75.xml" Id="R3c16296841884ef3" /><Relationship Type="http://schemas.openxmlformats.org/officeDocument/2006/relationships/slide" Target="/ppt/slides/slide76.xml" Id="Ra52f0cc4147d40dd" /><Relationship Type="http://schemas.openxmlformats.org/officeDocument/2006/relationships/slide" Target="/ppt/slides/slide77.xml" Id="Rf4447e15facf47d8" /><Relationship Type="http://schemas.openxmlformats.org/officeDocument/2006/relationships/slide" Target="/ppt/slides/slide78.xml" Id="Rf5b1eec12e8c4447" /><Relationship Type="http://schemas.openxmlformats.org/officeDocument/2006/relationships/slide" Target="/ppt/slides/slide79.xml" Id="R16cacba1d2b24961" /><Relationship Type="http://schemas.openxmlformats.org/officeDocument/2006/relationships/slide" Target="/ppt/slides/slide80.xml" Id="Rf197a3b5cabd41a5" /><Relationship Type="http://schemas.openxmlformats.org/officeDocument/2006/relationships/slide" Target="/ppt/slides/slide81.xml" Id="Ra18a462c86454f76" /><Relationship Type="http://schemas.openxmlformats.org/officeDocument/2006/relationships/slide" Target="/ppt/slides/slide82.xml" Id="R599156b64ff34659" /><Relationship Type="http://schemas.openxmlformats.org/officeDocument/2006/relationships/slide" Target="/ppt/slides/slide83.xml" Id="R26e39a9ceb1843db" /><Relationship Type="http://schemas.openxmlformats.org/officeDocument/2006/relationships/slide" Target="/ppt/slides/slide84.xml" Id="R49811ca1d7d7480b" /><Relationship Type="http://schemas.openxmlformats.org/officeDocument/2006/relationships/slide" Target="/ppt/slides/slide85.xml" Id="Rdab0240b94d94076" /><Relationship Type="http://schemas.openxmlformats.org/officeDocument/2006/relationships/slide" Target="/ppt/slides/slide86.xml" Id="R1a426f356b8d499c" /><Relationship Type="http://schemas.openxmlformats.org/officeDocument/2006/relationships/slide" Target="/ppt/slides/slide87.xml" Id="R8e2576c4ed604d47" /><Relationship Type="http://schemas.openxmlformats.org/officeDocument/2006/relationships/slide" Target="/ppt/slides/slide88.xml" Id="R91bc27da865e44ff" /><Relationship Type="http://schemas.openxmlformats.org/officeDocument/2006/relationships/slide" Target="/ppt/slides/slide89.xml" Id="R177edb2f66134e41" /><Relationship Type="http://schemas.openxmlformats.org/officeDocument/2006/relationships/slide" Target="/ppt/slides/slide90.xml" Id="Rc24cff712cb84a92" /><Relationship Type="http://schemas.openxmlformats.org/officeDocument/2006/relationships/slide" Target="/ppt/slides/slide91.xml" Id="R9806bd94d9a64249" /><Relationship Type="http://schemas.openxmlformats.org/officeDocument/2006/relationships/slide" Target="/ppt/slides/slide92.xml" Id="R1a45b97d93fc4eac" /><Relationship Type="http://schemas.openxmlformats.org/officeDocument/2006/relationships/slide" Target="/ppt/slides/slide93.xml" Id="R0d8a4159a07b45dd" /><Relationship Type="http://schemas.openxmlformats.org/officeDocument/2006/relationships/slide" Target="/ppt/slides/slide94.xml" Id="R5fe5c27460de47da" /><Relationship Type="http://schemas.openxmlformats.org/officeDocument/2006/relationships/slide" Target="/ppt/slides/slide95.xml" Id="R36607a07cb6941f9" /><Relationship Type="http://schemas.openxmlformats.org/officeDocument/2006/relationships/slide" Target="/ppt/slides/slide96.xml" Id="R633dd775dead41ae" /><Relationship Type="http://schemas.openxmlformats.org/officeDocument/2006/relationships/slide" Target="/ppt/slides/slide97.xml" Id="R35ac1b014a264f61" /><Relationship Type="http://schemas.openxmlformats.org/officeDocument/2006/relationships/slide" Target="/ppt/slides/slide98.xml" Id="R0b18983148694574" /><Relationship Type="http://schemas.openxmlformats.org/officeDocument/2006/relationships/slide" Target="/ppt/slides/slide99.xml" Id="Rc56f8e10940346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bc0fcd894794e0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7fa773233a4d76" /><Relationship Type="http://schemas.openxmlformats.org/officeDocument/2006/relationships/notesMaster" Target="/ppt/notesMasters/notesMaster1.xml" Id="Rc2c12ff6ef234b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5adf295f6a24952" /><Relationship Type="http://schemas.openxmlformats.org/officeDocument/2006/relationships/notesMaster" Target="/ppt/notesMasters/notesMaster1.xml" Id="Rf05284198883448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6ddbdbd77e44052" /><Relationship Type="http://schemas.openxmlformats.org/officeDocument/2006/relationships/notesMaster" Target="/ppt/notesMasters/notesMaster1.xml" Id="R141a85e27c8a4cec" /></Relationships>
</file>

<file path=ppt/notesSlides/_rels/notesSlide4.xml.rels>&#65279;<?xml version="1.0" encoding="utf-8"?><Relationships xmlns="http://schemas.openxmlformats.org/package/2006/relationships"><Relationship Type="http://schemas.openxmlformats.org/officeDocument/2006/relationships/slide" Target="/ppt/slides/slide4.xml" Id="R142f891507304aec" /><Relationship Type="http://schemas.openxmlformats.org/officeDocument/2006/relationships/notesMaster" Target="/ppt/notesMasters/notesMaster1.xml" Id="Rc42d387b941b4117" /></Relationships>
</file>

<file path=ppt/notesSlides/_rels/notesSlide5.xml.rels>&#65279;<?xml version="1.0" encoding="utf-8"?><Relationships xmlns="http://schemas.openxmlformats.org/package/2006/relationships"><Relationship Type="http://schemas.openxmlformats.org/officeDocument/2006/relationships/slide" Target="/ppt/slides/slide5.xml" Id="R9e750239638942c3" /><Relationship Type="http://schemas.openxmlformats.org/officeDocument/2006/relationships/notesMaster" Target="/ppt/notesMasters/notesMaster1.xml" Id="R3a627617e1dd4a56" /></Relationships>
</file>

<file path=ppt/notesSlides/_rels/notesSlide6.xml.rels>&#65279;<?xml version="1.0" encoding="utf-8"?><Relationships xmlns="http://schemas.openxmlformats.org/package/2006/relationships"><Relationship Type="http://schemas.openxmlformats.org/officeDocument/2006/relationships/slide" Target="/ppt/slides/slide6.xml" Id="R272cd0c4694b4bcf" /><Relationship Type="http://schemas.openxmlformats.org/officeDocument/2006/relationships/notesMaster" Target="/ppt/notesMasters/notesMaster1.xml" Id="R275cae684acc4574" /></Relationships>
</file>

<file path=ppt/notesSlides/_rels/notesSlide7.xml.rels>&#65279;<?xml version="1.0" encoding="utf-8"?><Relationships xmlns="http://schemas.openxmlformats.org/package/2006/relationships"><Relationship Type="http://schemas.openxmlformats.org/officeDocument/2006/relationships/slide" Target="/ppt/slides/slide7.xml" Id="R69285f37fd614e0e" /><Relationship Type="http://schemas.openxmlformats.org/officeDocument/2006/relationships/notesMaster" Target="/ppt/notesMasters/notesMaster1.xml" Id="R649c6afac7d64271" /></Relationships>
</file>

<file path=ppt/notesSlides/_rels/notesSlide8.xml.rels>&#65279;<?xml version="1.0" encoding="utf-8"?><Relationships xmlns="http://schemas.openxmlformats.org/package/2006/relationships"><Relationship Type="http://schemas.openxmlformats.org/officeDocument/2006/relationships/slide" Target="/ppt/slides/slide8.xml" Id="R2082df693d0e4e96" /><Relationship Type="http://schemas.openxmlformats.org/officeDocument/2006/relationships/notesMaster" Target="/ppt/notesMasters/notesMaster1.xml" Id="Rd40e2bcdfa5e47fd" /></Relationships>
</file>

<file path=ppt/notesSlides/_rels/notesSlide9.xml.rels>&#65279;<?xml version="1.0" encoding="utf-8"?><Relationships xmlns="http://schemas.openxmlformats.org/package/2006/relationships"><Relationship Type="http://schemas.openxmlformats.org/officeDocument/2006/relationships/slide" Target="/ppt/slides/slide9.xml" Id="R4bd50db5ee3a464e" /><Relationship Type="http://schemas.openxmlformats.org/officeDocument/2006/relationships/notesMaster" Target="/ppt/notesMasters/notesMaster1.xml" Id="R5357d026c0954ff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cce307a2ad94c09" /><Relationship Type="http://schemas.openxmlformats.org/officeDocument/2006/relationships/notesMaster" Target="/ppt/notesMasters/notesMaster1.xml" Id="Rb02b9be82da348f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0e5d95420ff44bc" /><Relationship Type="http://schemas.openxmlformats.org/officeDocument/2006/relationships/notesMaster" Target="/ppt/notesMasters/notesMaster1.xml" Id="R035c5eec48b04f9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2234ac91c6947e0" /><Relationship Type="http://schemas.openxmlformats.org/officeDocument/2006/relationships/notesMaster" Target="/ppt/notesMasters/notesMaster1.xml" Id="R90dd52b56fd6429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b5b80f48e6a4f63" /><Relationship Type="http://schemas.openxmlformats.org/officeDocument/2006/relationships/notesMaster" Target="/ppt/notesMasters/notesMaster1.xml" Id="R3a1225d0e9ab46d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4fbe87296b74bbf" /><Relationship Type="http://schemas.openxmlformats.org/officeDocument/2006/relationships/notesMaster" Target="/ppt/notesMasters/notesMaster1.xml" Id="Rd46be0a26fb94fe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b8b282161494c2b" /><Relationship Type="http://schemas.openxmlformats.org/officeDocument/2006/relationships/notesMaster" Target="/ppt/notesMasters/notesMaster1.xml" Id="Rd3d80a2fe1e445c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ee71f805b7b4527" /><Relationship Type="http://schemas.openxmlformats.org/officeDocument/2006/relationships/notesMaster" Target="/ppt/notesMasters/notesMaster1.xml" Id="R63cfb9545cfa40f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4ec9c9f153a4e52" /><Relationship Type="http://schemas.openxmlformats.org/officeDocument/2006/relationships/notesMaster" Target="/ppt/notesMasters/notesMaster1.xml" Id="R364e023de5af490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4ca3a08d1504079" /><Relationship Type="http://schemas.openxmlformats.org/officeDocument/2006/relationships/notesMaster" Target="/ppt/notesMasters/notesMaster1.xml" Id="R957f04cdb95b4a8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fd7299e4a194a00" /><Relationship Type="http://schemas.openxmlformats.org/officeDocument/2006/relationships/notesMaster" Target="/ppt/notesMasters/notesMaster1.xml" Id="R2abfe790c0e848f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833e8fdee32422b" /><Relationship Type="http://schemas.openxmlformats.org/officeDocument/2006/relationships/notesMaster" Target="/ppt/notesMasters/notesMaster1.xml" Id="R07bbb97f61b74d7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11d82cc5c4d451c" /><Relationship Type="http://schemas.openxmlformats.org/officeDocument/2006/relationships/notesMaster" Target="/ppt/notesMasters/notesMaster1.xml" Id="R5ee4a274f867474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7e23c22ca46429e" /><Relationship Type="http://schemas.openxmlformats.org/officeDocument/2006/relationships/notesMaster" Target="/ppt/notesMasters/notesMaster1.xml" Id="Ra05e7cd530634e5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50e96842e214100" /><Relationship Type="http://schemas.openxmlformats.org/officeDocument/2006/relationships/notesMaster" Target="/ppt/notesMasters/notesMaster1.xml" Id="R8aec9fbdcd854f5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e6417ef2bf84625" /><Relationship Type="http://schemas.openxmlformats.org/officeDocument/2006/relationships/notesMaster" Target="/ppt/notesMasters/notesMaster1.xml" Id="R36014c0e103a4d2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6241fce16d249ce" /><Relationship Type="http://schemas.openxmlformats.org/officeDocument/2006/relationships/notesMaster" Target="/ppt/notesMasters/notesMaster1.xml" Id="Rb594d3566fa741b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73f231b74a74808" /><Relationship Type="http://schemas.openxmlformats.org/officeDocument/2006/relationships/notesMaster" Target="/ppt/notesMasters/notesMaster1.xml" Id="Rc65fd2818fee47d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9a22069aecc46c3" /><Relationship Type="http://schemas.openxmlformats.org/officeDocument/2006/relationships/notesMaster" Target="/ppt/notesMasters/notesMaster1.xml" Id="Rbc2d48ebf395424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59ac935c2c84525" /><Relationship Type="http://schemas.openxmlformats.org/officeDocument/2006/relationships/notesMaster" Target="/ppt/notesMasters/notesMaster1.xml" Id="R820df76a130a46b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04bc0da46814044" /><Relationship Type="http://schemas.openxmlformats.org/officeDocument/2006/relationships/notesMaster" Target="/ppt/notesMasters/notesMaster1.xml" Id="Rc0b263a0a810405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6341b8c21764526" /><Relationship Type="http://schemas.openxmlformats.org/officeDocument/2006/relationships/notesMaster" Target="/ppt/notesMasters/notesMaster1.xml" Id="Raf3651e3570742c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8847f8700ad4152" /><Relationship Type="http://schemas.openxmlformats.org/officeDocument/2006/relationships/notesMaster" Target="/ppt/notesMasters/notesMaster1.xml" Id="Rb6895a620eb541d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51edca19a884a0a" /><Relationship Type="http://schemas.openxmlformats.org/officeDocument/2006/relationships/notesMaster" Target="/ppt/notesMasters/notesMaster1.xml" Id="R892691e7c7544c5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8aea333767d4f30" /><Relationship Type="http://schemas.openxmlformats.org/officeDocument/2006/relationships/notesMaster" Target="/ppt/notesMasters/notesMaster1.xml" Id="Rb41f7b03c19f4e7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45211a5453246dc" /><Relationship Type="http://schemas.openxmlformats.org/officeDocument/2006/relationships/notesMaster" Target="/ppt/notesMasters/notesMaster1.xml" Id="R344dc3fc077341b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df5508325504a3c" /><Relationship Type="http://schemas.openxmlformats.org/officeDocument/2006/relationships/notesMaster" Target="/ppt/notesMasters/notesMaster1.xml" Id="R440e3da48a5c41f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89f09ae702a469c" /><Relationship Type="http://schemas.openxmlformats.org/officeDocument/2006/relationships/notesMaster" Target="/ppt/notesMasters/notesMaster1.xml" Id="Ra08621af803c4d8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8d1480589b04012" /><Relationship Type="http://schemas.openxmlformats.org/officeDocument/2006/relationships/notesMaster" Target="/ppt/notesMasters/notesMaster1.xml" Id="Re775cc6711b94e1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8295912ad2cb49df" /><Relationship Type="http://schemas.openxmlformats.org/officeDocument/2006/relationships/notesMaster" Target="/ppt/notesMasters/notesMaster1.xml" Id="R0bc8938cd1a848d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899127753814e26" /><Relationship Type="http://schemas.openxmlformats.org/officeDocument/2006/relationships/notesMaster" Target="/ppt/notesMasters/notesMaster1.xml" Id="Rdd99619a28494f5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7993e6d14d14700" /><Relationship Type="http://schemas.openxmlformats.org/officeDocument/2006/relationships/notesMaster" Target="/ppt/notesMasters/notesMaster1.xml" Id="R14bbc12e9cad410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93e46990577f451e" /><Relationship Type="http://schemas.openxmlformats.org/officeDocument/2006/relationships/notesMaster" Target="/ppt/notesMasters/notesMaster1.xml" Id="R3257d9e28b5045d8"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d06a1fc202e494d" /><Relationship Type="http://schemas.openxmlformats.org/officeDocument/2006/relationships/notesMaster" Target="/ppt/notesMasters/notesMaster1.xml" Id="R6574225d2a594c9a"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02a1fd996a444bb4" /><Relationship Type="http://schemas.openxmlformats.org/officeDocument/2006/relationships/notesMaster" Target="/ppt/notesMasters/notesMaster1.xml" Id="R3e34dc89398b4d1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89ec93d31bbd443c" /><Relationship Type="http://schemas.openxmlformats.org/officeDocument/2006/relationships/notesMaster" Target="/ppt/notesMasters/notesMaster1.xml" Id="R8bc86a0737764f81"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dbc148c5eb744e1d" /><Relationship Type="http://schemas.openxmlformats.org/officeDocument/2006/relationships/notesMaster" Target="/ppt/notesMasters/notesMaster1.xml" Id="R8d68ec96a3514e58"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1e1f14b6f5e4a41" /><Relationship Type="http://schemas.openxmlformats.org/officeDocument/2006/relationships/notesMaster" Target="/ppt/notesMasters/notesMaster1.xml" Id="Rae5d5aa6645a4d07"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b91e35e187254439" /><Relationship Type="http://schemas.openxmlformats.org/officeDocument/2006/relationships/notesMaster" Target="/ppt/notesMasters/notesMaster1.xml" Id="R1f552850eaff46c9"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ba09a04b23804efe" /><Relationship Type="http://schemas.openxmlformats.org/officeDocument/2006/relationships/notesMaster" Target="/ppt/notesMasters/notesMaster1.xml" Id="Rfdd59a1a23a64057"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63e064b9a09f4ea2" /><Relationship Type="http://schemas.openxmlformats.org/officeDocument/2006/relationships/notesMaster" Target="/ppt/notesMasters/notesMaster1.xml" Id="Ra56ccbda20a84038"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8b4acc15fac54166" /><Relationship Type="http://schemas.openxmlformats.org/officeDocument/2006/relationships/notesMaster" Target="/ppt/notesMasters/notesMaster1.xml" Id="R1558f58005e04eee"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103da493ec4a4663" /><Relationship Type="http://schemas.openxmlformats.org/officeDocument/2006/relationships/notesMaster" Target="/ppt/notesMasters/notesMaster1.xml" Id="R07dd6aaf507646ff"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c3cbe498d4c8443c" /><Relationship Type="http://schemas.openxmlformats.org/officeDocument/2006/relationships/notesMaster" Target="/ppt/notesMasters/notesMaster1.xml" Id="Rae79222653ef4b51"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688ae7c3a09243cc" /><Relationship Type="http://schemas.openxmlformats.org/officeDocument/2006/relationships/notesMaster" Target="/ppt/notesMasters/notesMaster1.xml" Id="Re0d6af04b63e46df"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4560b8b5a8df4196" /><Relationship Type="http://schemas.openxmlformats.org/officeDocument/2006/relationships/notesMaster" Target="/ppt/notesMasters/notesMaster1.xml" Id="R08f4a13c19744c5c"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ac742e3489e94a1a" /><Relationship Type="http://schemas.openxmlformats.org/officeDocument/2006/relationships/notesMaster" Target="/ppt/notesMasters/notesMaster1.xml" Id="Rd2aca529d63e4efa"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03a4eae6f32345b8" /><Relationship Type="http://schemas.openxmlformats.org/officeDocument/2006/relationships/notesMaster" Target="/ppt/notesMasters/notesMaster1.xml" Id="Rc1233343507e4fbb"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7981d8e6d15e4c01" /><Relationship Type="http://schemas.openxmlformats.org/officeDocument/2006/relationships/notesMaster" Target="/ppt/notesMasters/notesMaster1.xml" Id="R365102e7d1e045d1"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ea4e2a49777b4cd8" /><Relationship Type="http://schemas.openxmlformats.org/officeDocument/2006/relationships/notesMaster" Target="/ppt/notesMasters/notesMaster1.xml" Id="Rb48fc94757084e8d"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1ca4ec90a69f4296" /><Relationship Type="http://schemas.openxmlformats.org/officeDocument/2006/relationships/notesMaster" Target="/ppt/notesMasters/notesMaster1.xml" Id="R10f5b01a5e5b488c"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b2e45e5461724063" /><Relationship Type="http://schemas.openxmlformats.org/officeDocument/2006/relationships/notesMaster" Target="/ppt/notesMasters/notesMaster1.xml" Id="R1893021e8a2c45c4"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be2c1ead7d574386" /><Relationship Type="http://schemas.openxmlformats.org/officeDocument/2006/relationships/notesMaster" Target="/ppt/notesMasters/notesMaster1.xml" Id="R02387276b4be41bf"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324e39346cd9453e" /><Relationship Type="http://schemas.openxmlformats.org/officeDocument/2006/relationships/notesMaster" Target="/ppt/notesMasters/notesMaster1.xml" Id="R9252323323c845c7"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3cdbfe0ebedb4789" /><Relationship Type="http://schemas.openxmlformats.org/officeDocument/2006/relationships/notesMaster" Target="/ppt/notesMasters/notesMaster1.xml" Id="R7d447b70dc3b499b"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8c287e47a9554626" /><Relationship Type="http://schemas.openxmlformats.org/officeDocument/2006/relationships/notesMaster" Target="/ppt/notesMasters/notesMaster1.xml" Id="R3a59ae8d3a284925"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ca4b0adbe83c4725" /><Relationship Type="http://schemas.openxmlformats.org/officeDocument/2006/relationships/notesMaster" Target="/ppt/notesMasters/notesMaster1.xml" Id="Rd8c1f437efdc4562"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a7d1ce5e67a0443d" /><Relationship Type="http://schemas.openxmlformats.org/officeDocument/2006/relationships/notesMaster" Target="/ppt/notesMasters/notesMaster1.xml" Id="R6e976e6e230245a3"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e0f57fe5fc854a96" /><Relationship Type="http://schemas.openxmlformats.org/officeDocument/2006/relationships/notesMaster" Target="/ppt/notesMasters/notesMaster1.xml" Id="Ra0fbfec4f2194993"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57a6d12bf0ee45e0" /><Relationship Type="http://schemas.openxmlformats.org/officeDocument/2006/relationships/notesMaster" Target="/ppt/notesMasters/notesMaster1.xml" Id="Rcccd9de096464a41"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f041a827e5a54d90" /><Relationship Type="http://schemas.openxmlformats.org/officeDocument/2006/relationships/notesMaster" Target="/ppt/notesMasters/notesMaster1.xml" Id="Rca91c021f0004a0b"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a8761d50efe3413c" /><Relationship Type="http://schemas.openxmlformats.org/officeDocument/2006/relationships/notesMaster" Target="/ppt/notesMasters/notesMaster1.xml" Id="Rd3ddb186949449ad"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af5261ffcaf44333" /><Relationship Type="http://schemas.openxmlformats.org/officeDocument/2006/relationships/notesMaster" Target="/ppt/notesMasters/notesMaster1.xml" Id="R6b96cf7fb38b45c6"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b621dfd19b2f4818" /><Relationship Type="http://schemas.openxmlformats.org/officeDocument/2006/relationships/notesMaster" Target="/ppt/notesMasters/notesMaster1.xml" Id="Rfc8010a733d64b8e"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a2fdf3739f664791" /><Relationship Type="http://schemas.openxmlformats.org/officeDocument/2006/relationships/notesMaster" Target="/ppt/notesMasters/notesMaster1.xml" Id="R62382d330e3c49fb"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bc492e1faf6d4c88" /><Relationship Type="http://schemas.openxmlformats.org/officeDocument/2006/relationships/notesMaster" Target="/ppt/notesMasters/notesMaster1.xml" Id="R90dd12b4151c4bac"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1e2a58a0498a4ffa" /><Relationship Type="http://schemas.openxmlformats.org/officeDocument/2006/relationships/notesMaster" Target="/ppt/notesMasters/notesMaster1.xml" Id="Rf9eec1a56e904a0c"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b6abc0ca87a646ed" /><Relationship Type="http://schemas.openxmlformats.org/officeDocument/2006/relationships/notesMaster" Target="/ppt/notesMasters/notesMaster1.xml" Id="R8e55667208d449ee"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023543628a52452b" /><Relationship Type="http://schemas.openxmlformats.org/officeDocument/2006/relationships/notesMaster" Target="/ppt/notesMasters/notesMaster1.xml" Id="R2d17b285761c48e1"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58e864f1acc748e3" /><Relationship Type="http://schemas.openxmlformats.org/officeDocument/2006/relationships/notesMaster" Target="/ppt/notesMasters/notesMaster1.xml" Id="Rfe361c41812a44ba"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e2e75e0d957d47b7" /><Relationship Type="http://schemas.openxmlformats.org/officeDocument/2006/relationships/notesMaster" Target="/ppt/notesMasters/notesMaster1.xml" Id="R6cea9bf440404e29"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ae3f7022b97446aa" /><Relationship Type="http://schemas.openxmlformats.org/officeDocument/2006/relationships/notesMaster" Target="/ppt/notesMasters/notesMaster1.xml" Id="Rff8e7fc610864eed"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e362bb66955d4ed3" /><Relationship Type="http://schemas.openxmlformats.org/officeDocument/2006/relationships/notesMaster" Target="/ppt/notesMasters/notesMaster1.xml" Id="Rca976adc4afa4c23"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e4957b9c16984966" /><Relationship Type="http://schemas.openxmlformats.org/officeDocument/2006/relationships/notesMaster" Target="/ppt/notesMasters/notesMaster1.xml" Id="R17844bc0d3844371"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913a791a10504d83" /><Relationship Type="http://schemas.openxmlformats.org/officeDocument/2006/relationships/notesMaster" Target="/ppt/notesMasters/notesMaster1.xml" Id="R13cceede716641d4"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644717130fe14b39" /><Relationship Type="http://schemas.openxmlformats.org/officeDocument/2006/relationships/notesMaster" Target="/ppt/notesMasters/notesMaster1.xml" Id="R947abdd7aa244441"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97bd4ea0a2b9412d" /><Relationship Type="http://schemas.openxmlformats.org/officeDocument/2006/relationships/notesMaster" Target="/ppt/notesMasters/notesMaster1.xml" Id="R3c20671bb382468c"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3d002eb7e6da4775" /><Relationship Type="http://schemas.openxmlformats.org/officeDocument/2006/relationships/notesMaster" Target="/ppt/notesMasters/notesMaster1.xml" Id="R8767b2bd69d64f29"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7245444bfc4f475f" /><Relationship Type="http://schemas.openxmlformats.org/officeDocument/2006/relationships/notesMaster" Target="/ppt/notesMasters/notesMaster1.xml" Id="R78c6c4b7446b44ca"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6c7ad3d842004c48" /><Relationship Type="http://schemas.openxmlformats.org/officeDocument/2006/relationships/notesMaster" Target="/ppt/notesMasters/notesMaster1.xml" Id="Rc27ae9850f634e7d"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b3b6b96c761c40e5" /><Relationship Type="http://schemas.openxmlformats.org/officeDocument/2006/relationships/notesMaster" Target="/ppt/notesMasters/notesMaster1.xml" Id="R0252934b84db40be"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5cb3b2402d1a4f3c" /><Relationship Type="http://schemas.openxmlformats.org/officeDocument/2006/relationships/notesMaster" Target="/ppt/notesMasters/notesMaster1.xml" Id="Rd7eb348527f24559"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ef8c230a661d49f5" /><Relationship Type="http://schemas.openxmlformats.org/officeDocument/2006/relationships/notesMaster" Target="/ppt/notesMasters/notesMaster1.xml" Id="Rba9adb31eff341ed"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77863c3cd1cd4559" /><Relationship Type="http://schemas.openxmlformats.org/officeDocument/2006/relationships/notesMaster" Target="/ppt/notesMasters/notesMaster1.xml" Id="R5620fd42ec1e4175"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609a981cc7574ef6" /><Relationship Type="http://schemas.openxmlformats.org/officeDocument/2006/relationships/notesMaster" Target="/ppt/notesMasters/notesMaster1.xml" Id="Rdd3d353c99c04efa"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9ac498534cdd401e" /><Relationship Type="http://schemas.openxmlformats.org/officeDocument/2006/relationships/notesMaster" Target="/ppt/notesMasters/notesMaster1.xml" Id="Ra2e8b30bb7bb4886"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55a2dd2392fa487f" /><Relationship Type="http://schemas.openxmlformats.org/officeDocument/2006/relationships/notesMaster" Target="/ppt/notesMasters/notesMaster1.xml" Id="Rec2f490361874c44"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67866ada9fa64cb6" /><Relationship Type="http://schemas.openxmlformats.org/officeDocument/2006/relationships/notesMaster" Target="/ppt/notesMasters/notesMaster1.xml" Id="Rdcbcda69bb02457e"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d5bd222355e744c6" /><Relationship Type="http://schemas.openxmlformats.org/officeDocument/2006/relationships/notesMaster" Target="/ppt/notesMasters/notesMaster1.xml" Id="R6751f5658718413e"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2f76e09e4af1456b" /><Relationship Type="http://schemas.openxmlformats.org/officeDocument/2006/relationships/notesMaster" Target="/ppt/notesMasters/notesMaster1.xml" Id="R3fc565c5482643c3"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c9e3b8cbec04439f" /><Relationship Type="http://schemas.openxmlformats.org/officeDocument/2006/relationships/notesMaster" Target="/ppt/notesMasters/notesMaster1.xml" Id="R90a6584e894849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코딩 경험을 선수 조건으로 삼지 않습니다. 상세 설명은 학생 교안과 발표자 노트로 연결합니다. 모든 수업 예시는 합성 데이터입니다.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순수 수업 300분, 중식 70분, 기타 휴식 50분입니다. 원본 6H 표기와 실제 수업 운영 분을 구별합니다.</a:t>
            </a:r>
          </a:p>
          <a:p xmlns:a="http://schemas.openxmlformats.org/drawingml/2006/main">
            <a:r>
              <a:t/>
            </a:r>
          </a:p>
          <a:p xmlns:a="http://schemas.openxmlformats.org/drawingml/2006/main">
            <a:r>
              <a:t>자료 위치: D:\KDigital_PhysicalAI\outputs\2026-10-14\beginner-start.md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파일을 여는 것과 실행하는 것을 구별합니다. Windows라는 제작 가정 아래 탐색기의 파일 확장명 표시를 확인합니다. 압축 파일 안이 아닌 모두 추출한 폴더에서 시작합니다.</a:t>
            </a:r>
          </a:p>
          <a:p xmlns:a="http://schemas.openxmlformats.org/drawingml/2006/main">
            <a:r>
              <a:t/>
            </a:r>
          </a:p>
          <a:p xmlns:a="http://schemas.openxmlformats.org/drawingml/2006/main">
            <a:r>
              <a:t>자료 위치: D:\KDigital_PhysicalAI\outputs\2026-10-14\beginner-start.md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Python 기초 · 값과 실행 흐름</a:t>
            </a:r>
          </a:p>
          <a:p xmlns:a="http://schemas.openxmlformats.org/drawingml/2006/main">
            <a:r>
              <a:t/>
            </a:r>
          </a:p>
          <a:p xmlns:a="http://schemas.openxmlformats.org/drawingml/2006/main">
            <a:r>
              <a:t>2026-10-14 · Python 기초</a:t>
            </a:r>
          </a:p>
          <a:p xmlns:a="http://schemas.openxmlformats.org/drawingml/2006/main">
            <a:r>
              <a:t/>
            </a:r>
          </a:p>
          <a:p xmlns:a="http://schemas.openxmlformats.org/drawingml/2006/main">
            <a:r>
              <a:t>10/8에 읽었던 온도와 식별자를 Python 값으로 옮깁니다. 파일 저장과 실행을 구별하고 변수·자료형·연산·조건·반복을 짧은 코드에서 확인한 뒤 수업용 점검표를 완성합니다.</a:t>
            </a:r>
          </a:p>
          <a:p xmlns:a="http://schemas.openxmlformats.org/drawingml/2006/main">
            <a:r>
              <a:t/>
            </a:r>
          </a:p>
          <a:p xmlns:a="http://schemas.openxmlformats.org/drawingml/2006/main">
            <a:r>
              <a:t>**50분씩 6교시의 필수 경로로 운영하며 실제 학습자 리허설 전입니다.** 원본을 보존하고 work의 지정한 부분을 수정합니다. 계정이나 실제 장비 없이 합성 자료로 진행합니다.</a:t>
            </a:r>
          </a:p>
          <a:p xmlns:a="http://schemas.openxmlformats.org/drawingml/2006/main">
            <a:r>
              <a:t/>
            </a:r>
          </a:p>
          <a:p xmlns:a="http://schemas.openxmlformats.org/drawingml/2006/main">
            <a:r>
              <a:t>## 오늘의 연결</a:t>
            </a:r>
          </a:p>
          <a:p xmlns:a="http://schemas.openxmlformats.org/drawingml/2006/main">
            <a:r>
              <a:t/>
            </a:r>
          </a:p>
          <a:p xmlns:a="http://schemas.openxmlformats.org/drawingml/2006/main">
            <a:r>
              <a:t>10/8에는 기록의 의미와 파일 표현을 읽었습니다. 오늘은 10/8에 읽었던 온도와 식별자를 Python 값으로 옮깁니다. 파일 저장과 실행을 구별하고 변수·자료형·연산·조건·반복을 짧은 코드에서 확인한 뒤 수업용 점검표를 완성합니다.</a:t>
            </a:r>
          </a:p>
          <a:p xmlns:a="http://schemas.openxmlformats.org/drawingml/2006/main">
            <a:r>
              <a:t/>
            </a:r>
          </a:p>
          <a:p xmlns:a="http://schemas.openxmlformats.org/drawingml/2006/main">
            <a:r>
              <a:t>## 먼저 구별할 화면</a:t>
            </a:r>
          </a:p>
          <a:p xmlns:a="http://schemas.openxmlformats.org/drawingml/2006/main">
            <a:r>
              <a:t/>
            </a:r>
          </a:p>
          <a:p xmlns:a="http://schemas.openxmlformats.org/drawingml/2006/main">
            <a:r>
              <a:t>- 파일 탐색기는 저장한 파일의 위치를 찾습니다.</a:t>
            </a:r>
          </a:p>
          <a:p xmlns:a="http://schemas.openxmlformats.org/drawingml/2006/main">
            <a:r>
              <a:t>- 텍스트 편집기는 코드와 데이터를 읽고 고칩니다.</a:t>
            </a:r>
          </a:p>
          <a:p xmlns:a="http://schemas.openxmlformats.org/drawingml/2006/main">
            <a:r>
              <a:t>- 터미널은 명령을 입력하고 실제 실행 결과를 확인합니다.</a:t>
            </a:r>
          </a:p>
          <a:p xmlns:a="http://schemas.openxmlformats.org/drawingml/2006/main">
            <a:r>
              <a:t>- 웹 교안은 설명·원문·출력 예를 제공합니다. Python 실행기는 아닙니다.</a:t>
            </a:r>
          </a:p>
          <a:p xmlns:a="http://schemas.openxmlformats.org/drawingml/2006/main">
            <a:r>
              <a:t/>
            </a:r>
          </a:p>
          <a:p xmlns:a="http://schemas.openxmlformats.org/drawingml/2006/main">
            <a:r>
              <a:t>## 참여 순서</a:t>
            </a:r>
          </a:p>
          <a:p xmlns:a="http://schemas.openxmlformats.org/drawingml/2006/main">
            <a:r>
              <a:t/>
            </a:r>
          </a:p>
          <a:p xmlns:a="http://schemas.openxmlformats.org/drawingml/2006/main">
            <a:r>
              <a:t>1. 압축을 일반 폴더에 풀고 data·code·work의 위치를 유지합니다.</a:t>
            </a:r>
          </a:p>
          <a:p xmlns:a="http://schemas.openxmlformats.org/drawingml/2006/main">
            <a:r>
              <a:t>2. lesson의 개념을 읽고 activity-guide의 해당 활동 입력을 엽니다.</a:t>
            </a:r>
          </a:p>
          <a:p xmlns:a="http://schemas.openxmlformats.org/drawingml/2006/main">
            <a:r>
              <a:t>3. work의 답칸에 예상과 이유를 먼저 쓰고 지정한 값을 수정합니다.</a:t>
            </a:r>
          </a:p>
          <a:p xmlns:a="http://schemas.openxmlformats.org/drawingml/2006/main">
            <a:r>
              <a:t>4. 저장 후 정확한 work 파일을 실행하거나 강사 출력·제공 예와 수동 비교합니다.</a:t>
            </a:r>
          </a:p>
          <a:p xmlns:a="http://schemas.openxmlformats.org/drawingml/2006/main">
            <a:r>
              <a:t>5. 확인 방식을 기록합니다. 개인 실행을 하지 않았으면 실행 성공으로 적지 않습니다.</a:t>
            </a:r>
          </a:p>
          <a:p xmlns:a="http://schemas.openxmlformats.org/drawingml/2006/main">
            <a:r>
              <a:t/>
            </a:r>
          </a:p>
          <a:p xmlns:a="http://schemas.openxmlformats.org/drawingml/2006/main">
            <a:r>
              <a:t>## 도구를 준비하지 못했을 때</a:t>
            </a:r>
          </a:p>
          <a:p xmlns:a="http://schemas.openxmlformats.org/drawingml/2006/main">
            <a:r>
              <a:t/>
            </a:r>
          </a:p>
          <a:p xmlns:a="http://schemas.openxmlformats.org/drawingml/2006/main">
            <a:r>
              <a:t>설치 문제로 수업을 멈추지 말고 제공한 전체 코드·출력과 동일 입력을 사용해 줄별 값을 직접 추적합니다. 종이에도 같은 답칸을 작성합니다. 개인 실행은 강사가 환경을 준비한 뒤 확인합니다.</a:t>
            </a:r>
          </a:p>
          <a:p xmlns:a="http://schemas.openxmlformats.org/drawingml/2006/main">
            <a:r>
              <a:t/>
            </a:r>
          </a:p>
          <a:p xmlns:a="http://schemas.openxmlformats.org/drawingml/2006/main">
            <a:r>
              <a:t>[교안](lesson.md) · [실습](practice-guide.md) · [용어](glossary.md)</a:t>
            </a:r>
          </a:p>
          <a:p xmlns:a="http://schemas.openxmlformats.org/drawingml/2006/main">
            <a:r>
              <a:t/>
            </a:r>
          </a:p>
          <a:p xmlns:a="http://schemas.openxmlformats.org/drawingml/2006/main">
            <a:r>
              <a:t/>
            </a:r>
          </a:p>
          <a:p xmlns:a="http://schemas.openxmlformats.org/drawingml/2006/main">
            <a:r>
              <a:t>## Windows · 처음 실행할 위치 만들기</a:t>
            </a:r>
          </a:p>
          <a:p xmlns:a="http://schemas.openxmlformats.org/drawingml/2006/main">
            <a:r>
              <a:t/>
            </a:r>
          </a:p>
          <a:p xmlns:a="http://schemas.openxmlformats.org/drawingml/2006/main">
            <a:r>
              <a:t>제작 가정: Windows 탐색기와 PowerShell을 사용합니다. 다른 OS는 강사의 해당 환경 안내를 따릅니다. 설치 문제는 개념 평가와 따로 기록합니다.</a:t>
            </a:r>
          </a:p>
          <a:p xmlns:a="http://schemas.openxmlformats.org/drawingml/2006/main">
            <a:r>
              <a:t/>
            </a:r>
          </a:p>
          <a:p xmlns:a="http://schemas.openxmlformats.org/drawingml/2006/main">
            <a:r>
              <a:t>1. 예제 ZIP을 우클릭 → **모두 추출** → **추출**합니다. ZIP 안을 보는 창에서 실행하지 않습니다.</a:t>
            </a:r>
          </a:p>
          <a:p xmlns:a="http://schemas.openxmlformats.org/drawingml/2006/main">
            <a:r>
              <a:t>2. 탐색기로 압축을 푼 곳의 `course` 폴더를 엽니다. 안에 `data`, `code`, `work` 세 폴더가 실제로 보이는지 확인합니다. 폴더가 한 겹 더 있으면 그 안으로 들어갑니다.</a:t>
            </a:r>
          </a:p>
          <a:p xmlns:a="http://schemas.openxmlformats.org/drawingml/2006/main">
            <a:r>
              <a:t>3. 탐색기 위 주소 표시줄을 클릭해 `powershell`을 입력하고 Enter를 누릅니다. 현재 폴더에서 PowerShell 창이 열립니다. 편집기에서 파일을 연 것만으로 실행 위치가 정해지지는 않습니다.</a:t>
            </a:r>
          </a:p>
          <a:p xmlns:a="http://schemas.openxmlformats.org/drawingml/2006/main">
            <a:r>
              <a:t>4. 아래 명령을 한 줄씩 입력하고 Enter를 누릅니다. 앞의 `PS ...&gt;` 문구는 입력하지 않습니다.</a:t>
            </a:r>
          </a:p>
          <a:p xmlns:a="http://schemas.openxmlformats.org/drawingml/2006/main">
            <a:r>
              <a:t/>
            </a:r>
          </a:p>
          <a:p xmlns:a="http://schemas.openxmlformats.org/drawingml/2006/main">
            <a:r>
              <a:t>```powershell</a:t>
            </a:r>
          </a:p>
          <a:p xmlns:a="http://schemas.openxmlformats.org/drawingml/2006/main">
            <a:r>
              <a:t>Get-Location</a:t>
            </a:r>
          </a:p>
          <a:p xmlns:a="http://schemas.openxmlformats.org/drawingml/2006/main">
            <a:r>
              <a:t>Get-ChildItem -Directory</a:t>
            </a:r>
          </a:p>
          <a:p xmlns:a="http://schemas.openxmlformats.org/drawingml/2006/main">
            <a:r>
              <a:t>Test-Path .\work\A02_print.py</a:t>
            </a:r>
          </a:p>
          <a:p xmlns:a="http://schemas.openxmlformats.org/drawingml/2006/main">
            <a:r>
              <a:t>```</a:t>
            </a:r>
          </a:p>
          <a:p xmlns:a="http://schemas.openxmlformats.org/drawingml/2006/main">
            <a:r>
              <a:t/>
            </a:r>
          </a:p>
          <a:p xmlns:a="http://schemas.openxmlformats.org/drawingml/2006/main">
            <a:r>
              <a:t>`Get-Location`은 지금 실행할 폴더의 실제 경로를 보여 줍니다. 끝이 `course`인지 확인합니다. `Get-ChildItem` 목록에는 `data`, `code`, `work`가 보여야 합니다. 마지막 명령은 파일이 있는지 확인하며 정상 결과는 `True`입니다. 내 실제 경로: _____ / 확인 결과: _____.</a:t>
            </a:r>
          </a:p>
          <a:p xmlns:a="http://schemas.openxmlformats.org/drawingml/2006/main">
            <a:r>
              <a:t/>
            </a:r>
          </a:p>
          <a:p xmlns:a="http://schemas.openxmlformats.org/drawingml/2006/main">
            <a:r>
              <a:t>5. `work/A02_print.py` 첫 print 문구를 `오늘의 점검 시작`으로 고치고 저장합니다. 같은 PowerShell 창에서 실행합니다.</a:t>
            </a:r>
          </a:p>
          <a:p xmlns:a="http://schemas.openxmlformats.org/drawingml/2006/main">
            <a:r>
              <a:t/>
            </a:r>
          </a:p>
          <a:p xmlns:a="http://schemas.openxmlformats.org/drawingml/2006/main">
            <a:r>
              <a:t>```powershell</a:t>
            </a:r>
          </a:p>
          <a:p xmlns:a="http://schemas.openxmlformats.org/drawingml/2006/main">
            <a:r>
              <a:t>python -X utf8 work/A02_print.py</a:t>
            </a:r>
          </a:p>
          <a:p xmlns:a="http://schemas.openxmlformats.org/drawingml/2006/main">
            <a:r>
              <a:t>```</a:t>
            </a:r>
          </a:p>
          <a:p xmlns:a="http://schemas.openxmlformats.org/drawingml/2006/main">
            <a:r>
              <a:t/>
            </a:r>
          </a:p>
          <a:p xmlns:a="http://schemas.openxmlformats.org/drawingml/2006/main">
            <a:r>
              <a:t>예상 두 줄은 다음과 같습니다.</a:t>
            </a:r>
          </a:p>
          <a:p xmlns:a="http://schemas.openxmlformats.org/drawingml/2006/main">
            <a:r>
              <a:t/>
            </a:r>
          </a:p>
          <a:p xmlns:a="http://schemas.openxmlformats.org/drawingml/2006/main">
            <a:r>
              <a:t>```text</a:t>
            </a:r>
          </a:p>
          <a:p xmlns:a="http://schemas.openxmlformats.org/drawingml/2006/main">
            <a:r>
              <a:t>오늘의 점검 시작</a:t>
            </a:r>
          </a:p>
          <a:p xmlns:a="http://schemas.openxmlformats.org/drawingml/2006/main">
            <a:r>
              <a:t>S01 22.5</a:t>
            </a:r>
          </a:p>
          <a:p xmlns:a="http://schemas.openxmlformats.org/drawingml/2006/main">
            <a:r>
              <a:t>```</a:t>
            </a:r>
          </a:p>
          <a:p xmlns:a="http://schemas.openxmlformats.org/drawingml/2006/main">
            <a:r>
              <a:t/>
            </a:r>
          </a:p>
          <a:p xmlns:a="http://schemas.openxmlformats.org/drawingml/2006/main">
            <a:r>
              <a:t>- `False`, `can't open file`, `No such file`: 실제 폴더를 탐색기로 다시 열고 2~4단계를 반복합니다. 파일 이름이 `.py.txt`가 아닌지 탐색기의 **보기 → 표시 → 파일 확장명**에서 확인합니다.</a:t>
            </a:r>
          </a:p>
          <a:p xmlns:a="http://schemas.openxmlformats.org/drawingml/2006/main">
            <a:r>
              <a:t>- 첫 줄이 `Python 점검 시작`: 수정 파일을 저장했는지, 실행 명령이 `code/`가 아닌 `work/`를 가리키는지 확인합니다.</a:t>
            </a:r>
          </a:p>
          <a:p xmlns:a="http://schemas.openxmlformats.org/drawingml/2006/main">
            <a:r>
              <a:t>- `python`을 찾지 못하거나 Store 안내가 뜸: 강사에게 설치 상태를 확인받습니다. 설치를 혼자 진행하지 말고 예상·제공 출력 비교로 합류하고 **개인 실행 미완료**를 적습니다.</a:t>
            </a:r>
          </a:p>
          <a:p xmlns:a="http://schemas.openxmlformats.org/drawingml/2006/main">
            <a:r>
              <a:t/>
            </a:r>
          </a:p>
          <a:p xmlns:a="http://schemas.openxmlformats.org/drawingml/2006/main">
            <a:r>
              <a:t>실행 위치 확인 → 파일 저장 → 명령 입력 → 실제 출력 기록을 서로 다른 행동으로 확인합니다.</a:t>
            </a:r>
          </a:p>
          <a:p xmlns:a="http://schemas.openxmlformats.org/drawingml/2006/main">
            <a:r>
              <a:t/>
            </a:r>
          </a:p>
          <a:p xmlns:a="http://schemas.openxmlformats.org/drawingml/2006/main">
            <a:r>
              <a:t/>
            </a:r>
          </a:p>
          <a:p xmlns:a="http://schemas.openxmlformats.org/drawingml/2006/main">
            <a:r>
              <a:t>## 수업 전, 이 세 가지부터 확인하세요</a:t>
            </a:r>
          </a:p>
          <a:p xmlns:a="http://schemas.openxmlformats.org/drawingml/2006/main">
            <a:r>
              <a:t/>
            </a:r>
          </a:p>
          <a:p xmlns:a="http://schemas.openxmlformats.org/drawingml/2006/main">
            <a:r>
              <a:t>앞선 수업을 기억하지 못해도 아래 질문과 풀이부터 다시 읽으면 됩니다. 먼저 자기 말로 답한 뒤 풀이와 비교하세요.</a:t>
            </a:r>
          </a:p>
          <a:p xmlns:a="http://schemas.openxmlformats.org/drawingml/2006/main">
            <a:r>
              <a:t/>
            </a:r>
          </a:p>
          <a:p xmlns:a="http://schemas.openxmlformats.org/drawingml/2006/main">
            <a:r>
              <a:t>### 데이터와 명령</a:t>
            </a:r>
          </a:p>
          <a:p xmlns:a="http://schemas.openxmlformats.org/drawingml/2006/main">
            <a:r>
              <a:t/>
            </a:r>
          </a:p>
          <a:p xmlns:a="http://schemas.openxmlformats.org/drawingml/2006/main">
            <a:r>
              <a:t>질문: 22.5와 print(22.5)는 무엇이 다른가요?</a:t>
            </a:r>
          </a:p>
          <a:p xmlns:a="http://schemas.openxmlformats.org/drawingml/2006/main">
            <a:r>
              <a:t/>
            </a:r>
          </a:p>
          <a:p xmlns:a="http://schemas.openxmlformats.org/drawingml/2006/main">
            <a:r>
              <a:t>풀이: 22.5는 값입니다. print(22.5)는 그 값을 화면에 표시하라는 호출입니다. 저장된 명령을 실행해야 출력이 생깁니다.</a:t>
            </a:r>
          </a:p>
          <a:p xmlns:a="http://schemas.openxmlformats.org/drawingml/2006/main">
            <a:r>
              <a:t/>
            </a:r>
          </a:p>
          <a:p xmlns:a="http://schemas.openxmlformats.org/drawingml/2006/main">
            <a:r>
              <a:t>### 따옴표</a:t>
            </a:r>
          </a:p>
          <a:p xmlns:a="http://schemas.openxmlformats.org/drawingml/2006/main">
            <a:r>
              <a:t/>
            </a:r>
          </a:p>
          <a:p xmlns:a="http://schemas.openxmlformats.org/drawingml/2006/main">
            <a:r>
              <a:t>질문: "22.5" + "1"의 결과가 23.5인가요?</a:t>
            </a:r>
          </a:p>
          <a:p xmlns:a="http://schemas.openxmlformats.org/drawingml/2006/main">
            <a:r>
              <a:t/>
            </a:r>
          </a:p>
          <a:p xmlns:a="http://schemas.openxmlformats.org/drawingml/2006/main">
            <a:r>
              <a:t>풀이: 문자열을 잇는 결과는 "22.51"입니다. 계산할 숫자인지 식별자인지 먼저 결정하고 자료형을 확인합니다.</a:t>
            </a:r>
          </a:p>
          <a:p xmlns:a="http://schemas.openxmlformats.org/drawingml/2006/main">
            <a:r>
              <a:t/>
            </a:r>
          </a:p>
          <a:p xmlns:a="http://schemas.openxmlformats.org/drawingml/2006/main">
            <a:r>
              <a:t>### 분기</a:t>
            </a:r>
          </a:p>
          <a:p xmlns:a="http://schemas.openxmlformats.org/drawingml/2006/main">
            <a:r>
              <a:t/>
            </a:r>
          </a:p>
          <a:p xmlns:a="http://schemas.openxmlformats.org/drawingml/2006/main">
            <a:r>
              <a:t>질문: 온도가 기준과 정확히 같으면 &gt; 조건은 참인가요?</a:t>
            </a:r>
          </a:p>
          <a:p xmlns:a="http://schemas.openxmlformats.org/drawingml/2006/main">
            <a:r>
              <a:t/>
            </a:r>
          </a:p>
          <a:p xmlns:a="http://schemas.openxmlformats.org/drawingml/2006/main">
            <a:r>
              <a:t>풀이: 거짓입니다. 경계값을 직접 비교해야 &gt;와 &gt;=의 업무 의미 차이를 이해할 수 있습니다.</a:t>
            </a:r>
          </a:p>
          <a:p xmlns:a="http://schemas.openxmlformats.org/drawingml/2006/main">
            <a:r>
              <a:t/>
            </a:r>
          </a:p>
          <a:p xmlns:a="http://schemas.openxmlformats.org/drawingml/2006/main">
            <a:r>
              <a:t>## 오늘의 수업과 복습을 나누는 방법</a:t>
            </a:r>
          </a:p>
          <a:p xmlns:a="http://schemas.openxmlformats.org/drawingml/2006/main">
            <a:r>
              <a:t/>
            </a:r>
          </a:p>
          <a:p xmlns:a="http://schemas.openxmlformats.org/drawingml/2006/main">
            <a:r>
              <a:t>수업은 10:00~10:50, 11:00~11:50, 13:00~13:50, 14:00~14:50, 15:00~15:50, 16:00~16:50입니다. 중식은 11:50~13:00이며 수업 사이에는 10분 쉽니다. 마지막 16:50~17:00은 휴식과 저장·퇴실 준비로 배치했습니다.</a:t>
            </a:r>
          </a:p>
          <a:p xmlns:a="http://schemas.openxmlformats.org/drawingml/2006/main">
            <a:r>
              <a:t/>
            </a:r>
          </a:p>
          <a:p xmlns:a="http://schemas.openxmlformats.org/drawingml/2006/main">
            <a:r>
              <a:t>| 교시 | 수업에서 먼저 확인할 활동 | 추가·복습 |</a:t>
            </a:r>
          </a:p>
          <a:p xmlns:a="http://schemas.openxmlformats.org/drawingml/2006/main">
            <a:r>
              <a:t>|---|---|---|</a:t>
            </a:r>
          </a:p>
          <a:p xmlns:a="http://schemas.openxmlformats.org/drawingml/2006/main">
            <a:r>
              <a:t>| 1 | A01, A02 | A03 |</a:t>
            </a:r>
          </a:p>
          <a:p xmlns:a="http://schemas.openxmlformats.org/drawingml/2006/main">
            <a:r>
              <a:t>| 2 | A04, A05, A06 | 새 입력으로 한 번 더 확인 |</a:t>
            </a:r>
          </a:p>
          <a:p xmlns:a="http://schemas.openxmlformats.org/drawingml/2006/main">
            <a:r>
              <a:t>| 3 | A07, A08, A09 | 새 입력으로 한 번 더 확인 |</a:t>
            </a:r>
          </a:p>
          <a:p xmlns:a="http://schemas.openxmlformats.org/drawingml/2006/main">
            <a:r>
              <a:t>| 4 | A10, A11, A12 | 새 입력으로 한 번 더 확인 |</a:t>
            </a:r>
          </a:p>
          <a:p xmlns:a="http://schemas.openxmlformats.org/drawingml/2006/main">
            <a:r>
              <a:t>| 5 | A13, A14, A15 | 새 입력으로 한 번 더 확인 |</a:t>
            </a:r>
          </a:p>
          <a:p xmlns:a="http://schemas.openxmlformats.org/drawingml/2006/main">
            <a:r>
              <a:t>| 6 | A16, A17, A18 | 새 입력으로 한 번 더 확인 |</a:t>
            </a:r>
          </a:p>
          <a:p xmlns:a="http://schemas.openxmlformats.org/drawingml/2006/main">
            <a:r>
              <a:t/>
            </a:r>
          </a:p>
          <a:p xmlns:a="http://schemas.openxmlformats.org/drawingml/2006/main">
            <a:r>
              <a:t>교안의 쉬운 사례와 단계별 풀이를 먼저 읽고 필수 결과를 직접 만들어 봅니다. 새 독립 문제는 결과를 확인한 뒤 복습하거나 도전합니다. 모든 페이지를 같은 시간에 끝내라는 뜻은 아닙니다. 설치가 막혔을 때는 제공 출력과 수동 추적으로 개념을 확인하고, 직접 실행했는지는 따로 적습니다.</a:t>
            </a:r>
          </a:p>
          <a:p xmlns:a="http://schemas.openxmlformats.org/drawingml/2006/main">
            <a:r>
              <a:t/>
            </a:r>
          </a:p>
          <a:p xmlns:a="http://schemas.openxmlformats.org/drawingml/2006/main">
            <a:r>
              <a:t/>
            </a:r>
          </a:p>
          <a:p xmlns:a="http://schemas.openxmlformats.org/drawingml/2006/main">
            <a:r>
              <a:t>자료 위치: D:\KDigital_PhysicalAI\outputs\2026-10-14\beginner-start.md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전날 지식을 기억한다고 가정하지 않습니다. .py 파일, 저장, 실행 위치부터 다시 확인합니다.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50분은 운영 배정이며 실제 학습자 수행시간을 측정한 결과가 아닙니다. 시연 → 함께 수행 → 개별 적용 → 예상과 실제 비교 → 자기 말로 설명 순서로 운영합니다.</a:t>
            </a:r>
          </a:p>
          <a:p xmlns:a="http://schemas.openxmlformats.org/drawingml/2006/main">
            <a:r>
              <a:t/>
            </a:r>
          </a:p>
          <a:p xmlns:a="http://schemas.openxmlformats.org/drawingml/2006/main">
            <a:r>
              <a:t>[활동 A01 상세 원문]</a:t>
            </a:r>
          </a:p>
          <a:p xmlns:a="http://schemas.openxmlformats.org/drawingml/2006/main">
            <a:r>
              <a:t>### 사례로 이해하기 · 편집 화면·저장 파일·실행 결과의 세 상태</a:t>
            </a:r>
          </a:p>
          <a:p xmlns:a="http://schemas.openxmlformats.org/drawingml/2006/main">
            <a:r>
              <a:t/>
            </a:r>
          </a:p>
          <a:p xmlns:a="http://schemas.openxmlformats.org/drawingml/2006/main">
            <a:r>
              <a:t>필수 설명 보충입니다. 강사 시연 → 함께 추적 → 예상과 실제 비교 → 자기 말로 설명 순서로 읽습니다. 아래 독립 문제는 복습·도전이며 기존 50분 필수 경로와 별도로 활용합니다.</a:t>
            </a:r>
          </a:p>
          <a:p xmlns:a="http://schemas.openxmlformats.org/drawingml/2006/main">
            <a:r>
              <a:t/>
            </a:r>
          </a:p>
          <a:p xmlns:a="http://schemas.openxmlformats.org/drawingml/2006/main">
            <a:r>
              <a:t>접수 담당자가 안내 문구를 ‘오늘 접수’에서 ‘예약 접수’로 고쳤는데 실행 화면에는 여전히 이전 문구가 나옵니다. 컴퓨터가 마음대로 문구를 바꾼 것이 아닐 수 있습니다. 편집기에 보이는 글, 디스크에 저장된 파일, 그 파일을 실행해 얻은 화면은 서로 다른 상태입니다. 종이에 작성 중인 신청서와 제출한 사본과 처리 결과를 구별하는 것처럼 세 상태를 순서대로 확인합니다. 저장 전 편집 내용은 실행 대상 파일에 아직 반영되지 않았을 수 있습니다.</a:t>
            </a:r>
          </a:p>
          <a:p xmlns:a="http://schemas.openxmlformats.org/drawingml/2006/main">
            <a:r>
              <a:t/>
            </a:r>
          </a:p>
          <a:p xmlns:a="http://schemas.openxmlformats.org/drawingml/2006/main">
            <a:r>
              <a:t>폴더는 파일을 모은 위치이고 경로는 특정 파일까지 가는 주소입니다. course 안의 code는 완성 예제, work는 학생 작업본으로 사용합니다. 둘 다 notice.py라는 이름이어도 주소가 다르면 다른 파일입니다. .py는 Python 명령을 담은 파일의 확장자입니다. 텍스트 편집기로 내용을 읽는 일은 실행이 아닙니다. 실행은 터미널에서 Python에게 파일 주소를 주고 명령을 처리하도록 요청하는 행동입니다. 명령 뒤 화면에 나온 문구는 출력이며 파일 내용과 역할이 다릅니다.</a:t>
            </a:r>
          </a:p>
          <a:p xmlns:a="http://schemas.openxmlformats.org/drawingml/2006/main">
            <a:r>
              <a:t/>
            </a:r>
          </a:p>
          <a:p xmlns:a="http://schemas.openxmlformats.org/drawingml/2006/main">
            <a:r>
              <a:t>추적표의 완성 예를 봅니다. work/notice.py를 열어 문구 수정 → 저장 → course 폴더의 터미널에서 work/notice.py를 실행 → 예약 접수 출력 순서입니다. 수정하고 code/notice.py를 실행했다면 원본의 오늘 접수가 나올 수 있습니다. 저장하지 않았다면 work를 실행해도 이전 내용이 나올 수 있습니다. 실행 파일 주소와 저장 여부를 각각 확인하므로 같은 증상이 같은 원인이라고 단정하지 않습니다. 오류가 나면 입력 명령과 파일 이름을 그대로 남기고 파일 확장명이 .py.txt인지도 확인합니다. 개인 실행이 준비되지 않았다면 세 상태 그림과 예상 결과를 종이에 작성합니다.</a:t>
            </a:r>
          </a:p>
          <a:p xmlns:a="http://schemas.openxmlformats.org/drawingml/2006/main">
            <a:r>
              <a:t/>
            </a:r>
          </a:p>
          <a:p xmlns:a="http://schemas.openxmlformats.org/drawingml/2006/main">
            <a:r>
              <a:t>### 새 상황에 독립적으로 적용하기</a:t>
            </a:r>
          </a:p>
          <a:p xmlns:a="http://schemas.openxmlformats.org/drawingml/2006/main">
            <a:r>
              <a:t/>
            </a:r>
          </a:p>
          <a:p xmlns:a="http://schemas.openxmlformats.org/drawingml/2006/main">
            <a:r>
              <a:t>복습·도전: 편집기는 work/check.py에 ‘검사 B’를 보여 줍니다. 실행 명령은 code/check.py를 가리키고 출력은 ‘검사 A’입니다. 확인된 사실 세 가지와 다음 확인 동작 두 가지를 적으세요. 새 설치나 임의 파일 삭제는 필요하지 않습니다.</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편집 경로·실행 경로가 다르며 화면 출력은 A입니다. work 파일을 저장했는지 확인하고 같은 work 주소를 실행합니다. 파일이 다르다는 증거는 있지만 저장 여부는 아직 미확인입니다. ‘Python 고장’은 증거 없는 원인 단정입니다.</a:t>
            </a:r>
          </a:p>
          <a:p xmlns:a="http://schemas.openxmlformats.org/drawingml/2006/main">
            <a:r>
              <a:t/>
            </a:r>
          </a:p>
          <a:p xmlns:a="http://schemas.openxmlformats.org/drawingml/2006/main">
            <a:r>
              <a:t>### 핵심 세 질문과 해설</a:t>
            </a:r>
          </a:p>
          <a:p xmlns:a="http://schemas.openxmlformats.org/drawingml/2006/main">
            <a:r>
              <a:t/>
            </a:r>
          </a:p>
          <a:p xmlns:a="http://schemas.openxmlformats.org/drawingml/2006/main">
            <a:r>
              <a:t>1. **저장과 실행은 같은 행동인가요?** 저장은 파일 내용을 남기고 실행은 그 파일의 명령을 처리합니다.</a:t>
            </a:r>
          </a:p>
          <a:p xmlns:a="http://schemas.openxmlformats.org/drawingml/2006/main">
            <a:r>
              <a:t/>
            </a:r>
          </a:p>
          <a:p xmlns:a="http://schemas.openxmlformats.org/drawingml/2006/main">
            <a:r>
              <a:t>2. **파일 이름만 같으면 같은 파일인가요?** 폴더까지 포함한 경로가 같아야 같은 대상을 찾습니다.</a:t>
            </a:r>
          </a:p>
          <a:p xmlns:a="http://schemas.openxmlformats.org/drawingml/2006/main">
            <a:r>
              <a:t/>
            </a:r>
          </a:p>
          <a:p xmlns:a="http://schemas.openxmlformats.org/drawingml/2006/main">
            <a:r>
              <a:t>3. **설치 실패면 개념도 틀린가요?** 환경 준비와 파일·실행 개념의 이해는 따로 확인합니다.</a:t>
            </a:r>
          </a:p>
          <a:p xmlns:a="http://schemas.openxmlformats.org/drawingml/2006/main">
            <a:r>
              <a:t/>
            </a:r>
          </a:p>
          <a:p xmlns:a="http://schemas.openxmlformats.org/drawingml/2006/main">
            <a:r>
              <a:t/>
            </a:r>
          </a:p>
          <a:p xmlns:a="http://schemas.openxmlformats.org/drawingml/2006/main">
            <a:r>
              <a:t>**개념.** 프로그램은 입력으로 받은 값을 정해진 순서대로 처리하여 결과를 만드는 명령의 묶음입니다. 주문서를 받아 금액을 계산한 뒤 영수증을 쓰는 일과 비슷하지만, 컴퓨터는 작성자가 생략한 의도를 알아서 채우지 않습니다.</a:t>
            </a:r>
          </a:p>
          <a:p xmlns:a="http://schemas.openxmlformats.org/drawingml/2006/main">
            <a:r>
              <a:t/>
            </a:r>
          </a:p>
          <a:p xmlns:a="http://schemas.openxmlformats.org/drawingml/2006/main">
            <a:r>
              <a:t>**왜 필요한가.** 코드와 결과를 구별해야 어디를 고쳤고 무엇이 바뀌었는지 설명할 수 있습니다. .py는 Python 코드를 담는 파일의 확장자이며, 파일을 열어 읽는 행동과 실행하는 행동은 다릅니다.</a:t>
            </a:r>
          </a:p>
          <a:p xmlns:a="http://schemas.openxmlformats.org/drawingml/2006/main">
            <a:r>
              <a:t/>
            </a:r>
          </a:p>
          <a:p xmlns:a="http://schemas.openxmlformats.org/drawingml/2006/main">
            <a:r>
              <a:t>**함께 보는 예.** 10/8의 온도 22.5와 수업 기준 24.0을 입력이라고 해 봅니다. 두 수를 비교하는 것이 처리이고 ‘정상’이라는 표시가 출력입니다. 기준은 수업에서 만든 규칙이며 실제 장비 안전 판정이 아닙니다.</a:t>
            </a:r>
          </a:p>
          <a:p xmlns:a="http://schemas.openxmlformats.org/drawingml/2006/main">
            <a:r>
              <a:t/>
            </a:r>
          </a:p>
          <a:p xmlns:a="http://schemas.openxmlformats.org/drawingml/2006/main">
            <a:r>
              <a:t>**헷갈리는 경우.** 파일 이름을 result.py로 바꾼다고 결과 파일이 되지 않습니다. 내용을 읽어 명령인지 기록인지 확인해야 합니다. 화면에서 ‘정상’이라는 글자를 보았어도 어느 파일을 어떤 값으로 실행했는지 모르면 재현하기 어렵습니다.</a:t>
            </a:r>
          </a:p>
          <a:p xmlns:a="http://schemas.openxmlformats.org/drawingml/2006/main">
            <a:r>
              <a:t/>
            </a:r>
          </a:p>
          <a:p xmlns:a="http://schemas.openxmlformats.org/drawingml/2006/main">
            <a:r>
              <a:t>### 제공 입력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업무 카드: S01 온도 22.5℃, 기준 24.0℃. 기준보다 크면 ‘확인’, 아니면 ‘정상’. 파일 카드: code/A02_print.py, work/A02_print.py, 출력창.</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카드에서 입력 두 값과 처리 규칙을 밑줄로 구분합니다.</a:t>
            </a:r>
          </a:p>
          <a:p xmlns:a="http://schemas.openxmlformats.org/drawingml/2006/main">
            <a:r>
              <a:t>2. 예상 출력 한 단어와 그렇게 판단한 이유를 씁니다.</a:t>
            </a:r>
          </a:p>
          <a:p xmlns:a="http://schemas.openxmlformats.org/drawingml/2006/main">
            <a:r>
              <a:t>3. 원본 코드와 작업 코드의 폴더를 찾아 서로 다른 파일임을 표시합니다.</a:t>
            </a:r>
          </a:p>
          <a:p xmlns:a="http://schemas.openxmlformats.org/drawingml/2006/main">
            <a:r>
              <a:t>4. 코드 열기·저장·실행·출력을 자신의 말로 한 문장씩 설명합니다.</a:t>
            </a:r>
          </a:p>
          <a:p xmlns:a="http://schemas.openxmlformats.org/drawingml/2006/main">
            <a:r>
              <a:t/>
            </a:r>
          </a:p>
          <a:p xmlns:a="http://schemas.openxmlformats.org/drawingml/2006/main">
            <a:r>
              <a:t>예상 결과: 입력 22.5/24.0, 처리 &gt; 비교, 출력 정상. 파일을 여는 것과 실행하는 것을 구별합니다.</a:t>
            </a:r>
          </a:p>
          <a:p xmlns:a="http://schemas.openxmlformats.org/drawingml/2006/main">
            <a:r>
              <a:t/>
            </a:r>
          </a:p>
          <a:p xmlns:a="http://schemas.openxmlformats.org/drawingml/2006/main">
            <a:r>
              <a:t>확인 질문: 기준을 22.0으로 바꾸면 어느 단계의 값이 바뀌며 출력은 어떻게 될까요?</a:t>
            </a:r>
          </a:p>
          <a:p xmlns:a="http://schemas.openxmlformats.org/drawingml/2006/main">
            <a:r>
              <a:t/>
            </a:r>
          </a:p>
          <a:p xmlns:a="http://schemas.openxmlformats.org/drawingml/2006/main">
            <a:r>
              <a:t>막혔을 때: 입력과 출력이 섞이면 컴퓨터가 일을 하기 전 이미 주어진 값과 일을 한 뒤 생긴 표시를 다른 색으로 적습니다.</a:t>
            </a:r>
          </a:p>
          <a:p xmlns:a="http://schemas.openxmlformats.org/drawingml/2006/main">
            <a:r>
              <a:t/>
            </a:r>
          </a:p>
          <a:p xmlns:a="http://schemas.openxmlformats.org/drawingml/2006/main">
            <a:r>
              <a:t>[활동 자료와 작성칸](practice-guide.md#a01--입력처리출력과-코드-파일)에서 A01를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A01 상세 원문]</a:t>
            </a:r>
          </a:p>
          <a:p xmlns:a="http://schemas.openxmlformats.org/drawingml/2006/main">
            <a:r>
              <a:t>### 사례로 이해하기 · 편집 화면·저장 파일·실행 결과의 세 상태</a:t>
            </a:r>
          </a:p>
          <a:p xmlns:a="http://schemas.openxmlformats.org/drawingml/2006/main">
            <a:r>
              <a:t/>
            </a:r>
          </a:p>
          <a:p xmlns:a="http://schemas.openxmlformats.org/drawingml/2006/main">
            <a:r>
              <a:t>필수 설명 보충입니다. 강사 시연 → 함께 추적 → 예상과 실제 비교 → 자기 말로 설명 순서로 읽습니다. 아래 독립 문제는 복습·도전이며 기존 50분 필수 경로와 별도로 활용합니다.</a:t>
            </a:r>
          </a:p>
          <a:p xmlns:a="http://schemas.openxmlformats.org/drawingml/2006/main">
            <a:r>
              <a:t/>
            </a:r>
          </a:p>
          <a:p xmlns:a="http://schemas.openxmlformats.org/drawingml/2006/main">
            <a:r>
              <a:t>접수 담당자가 안내 문구를 ‘오늘 접수’에서 ‘예약 접수’로 고쳤는데 실행 화면에는 여전히 이전 문구가 나옵니다. 컴퓨터가 마음대로 문구를 바꾼 것이 아닐 수 있습니다. 편집기에 보이는 글, 디스크에 저장된 파일, 그 파일을 실행해 얻은 화면은 서로 다른 상태입니다. 종이에 작성 중인 신청서와 제출한 사본과 처리 결과를 구별하는 것처럼 세 상태를 순서대로 확인합니다. 저장 전 편집 내용은 실행 대상 파일에 아직 반영되지 않았을 수 있습니다.</a:t>
            </a:r>
          </a:p>
          <a:p xmlns:a="http://schemas.openxmlformats.org/drawingml/2006/main">
            <a:r>
              <a:t/>
            </a:r>
          </a:p>
          <a:p xmlns:a="http://schemas.openxmlformats.org/drawingml/2006/main">
            <a:r>
              <a:t>폴더는 파일을 모은 위치이고 경로는 특정 파일까지 가는 주소입니다. course 안의 code는 완성 예제, work는 학생 작업본으로 사용합니다. 둘 다 notice.py라는 이름이어도 주소가 다르면 다른 파일입니다. .py는 Python 명령을 담은 파일의 확장자입니다. 텍스트 편집기로 내용을 읽는 일은 실행이 아닙니다. 실행은 터미널에서 Python에게 파일 주소를 주고 명령을 처리하도록 요청하는 행동입니다. 명령 뒤 화면에 나온 문구는 출력이며 파일 내용과 역할이 다릅니다.</a:t>
            </a:r>
          </a:p>
          <a:p xmlns:a="http://schemas.openxmlformats.org/drawingml/2006/main">
            <a:r>
              <a:t/>
            </a:r>
          </a:p>
          <a:p xmlns:a="http://schemas.openxmlformats.org/drawingml/2006/main">
            <a:r>
              <a:t>추적표의 완성 예를 봅니다. work/notice.py를 열어 문구 수정 → 저장 → course 폴더의 터미널에서 work/notice.py를 실행 → 예약 접수 출력 순서입니다. 수정하고 code/notice.py를 실행했다면 원본의 오늘 접수가 나올 수 있습니다. 저장하지 않았다면 work를 실행해도 이전 내용이 나올 수 있습니다. 실행 파일 주소와 저장 여부를 각각 확인하므로 같은 증상이 같은 원인이라고 단정하지 않습니다. 오류가 나면 입력 명령과 파일 이름을 그대로 남기고 파일 확장명이 .py.txt인지도 확인합니다. 개인 실행이 준비되지 않았다면 세 상태 그림과 예상 결과를 종이에 작성합니다.</a:t>
            </a:r>
          </a:p>
          <a:p xmlns:a="http://schemas.openxmlformats.org/drawingml/2006/main">
            <a:r>
              <a:t/>
            </a:r>
          </a:p>
          <a:p xmlns:a="http://schemas.openxmlformats.org/drawingml/2006/main">
            <a:r>
              <a:t>### 새 상황에 독립적으로 적용하기</a:t>
            </a:r>
          </a:p>
          <a:p xmlns:a="http://schemas.openxmlformats.org/drawingml/2006/main">
            <a:r>
              <a:t/>
            </a:r>
          </a:p>
          <a:p xmlns:a="http://schemas.openxmlformats.org/drawingml/2006/main">
            <a:r>
              <a:t>복습·도전: 편집기는 work/check.py에 ‘검사 B’를 보여 줍니다. 실행 명령은 code/check.py를 가리키고 출력은 ‘검사 A’입니다. 확인된 사실 세 가지와 다음 확인 동작 두 가지를 적으세요. 새 설치나 임의 파일 삭제는 필요하지 않습니다.</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편집 경로·실행 경로가 다르며 화면 출력은 A입니다. work 파일을 저장했는지 확인하고 같은 work 주소를 실행합니다. 파일이 다르다는 증거는 있지만 저장 여부는 아직 미확인입니다. ‘Python 고장’은 증거 없는 원인 단정입니다.</a:t>
            </a:r>
          </a:p>
          <a:p xmlns:a="http://schemas.openxmlformats.org/drawingml/2006/main">
            <a:r>
              <a:t/>
            </a:r>
          </a:p>
          <a:p xmlns:a="http://schemas.openxmlformats.org/drawingml/2006/main">
            <a:r>
              <a:t>### 핵심 세 질문과 해설</a:t>
            </a:r>
          </a:p>
          <a:p xmlns:a="http://schemas.openxmlformats.org/drawingml/2006/main">
            <a:r>
              <a:t/>
            </a:r>
          </a:p>
          <a:p xmlns:a="http://schemas.openxmlformats.org/drawingml/2006/main">
            <a:r>
              <a:t>1. **저장과 실행은 같은 행동인가요?** 저장은 파일 내용을 남기고 실행은 그 파일의 명령을 처리합니다.</a:t>
            </a:r>
          </a:p>
          <a:p xmlns:a="http://schemas.openxmlformats.org/drawingml/2006/main">
            <a:r>
              <a:t/>
            </a:r>
          </a:p>
          <a:p xmlns:a="http://schemas.openxmlformats.org/drawingml/2006/main">
            <a:r>
              <a:t>2. **파일 이름만 같으면 같은 파일인가요?** 폴더까지 포함한 경로가 같아야 같은 대상을 찾습니다.</a:t>
            </a:r>
          </a:p>
          <a:p xmlns:a="http://schemas.openxmlformats.org/drawingml/2006/main">
            <a:r>
              <a:t/>
            </a:r>
          </a:p>
          <a:p xmlns:a="http://schemas.openxmlformats.org/drawingml/2006/main">
            <a:r>
              <a:t>3. **설치 실패면 개념도 틀린가요?** 환경 준비와 파일·실행 개념의 이해는 따로 확인합니다.</a:t>
            </a:r>
          </a:p>
          <a:p xmlns:a="http://schemas.openxmlformats.org/drawingml/2006/main">
            <a:r>
              <a:t/>
            </a:r>
          </a:p>
          <a:p xmlns:a="http://schemas.openxmlformats.org/drawingml/2006/main">
            <a:r>
              <a:t/>
            </a:r>
          </a:p>
          <a:p xmlns:a="http://schemas.openxmlformats.org/drawingml/2006/main">
            <a:r>
              <a:t>**개념.** 프로그램은 입력으로 받은 값을 정해진 순서대로 처리하여 결과를 만드는 명령의 묶음입니다. 주문서를 받아 금액을 계산한 뒤 영수증을 쓰는 일과 비슷하지만, 컴퓨터는 작성자가 생략한 의도를 알아서 채우지 않습니다.</a:t>
            </a:r>
          </a:p>
          <a:p xmlns:a="http://schemas.openxmlformats.org/drawingml/2006/main">
            <a:r>
              <a:t/>
            </a:r>
          </a:p>
          <a:p xmlns:a="http://schemas.openxmlformats.org/drawingml/2006/main">
            <a:r>
              <a:t>**왜 필요한가.** 코드와 결과를 구별해야 어디를 고쳤고 무엇이 바뀌었는지 설명할 수 있습니다. .py는 Python 코드를 담는 파일의 확장자이며, 파일을 열어 읽는 행동과 실행하는 행동은 다릅니다.</a:t>
            </a:r>
          </a:p>
          <a:p xmlns:a="http://schemas.openxmlformats.org/drawingml/2006/main">
            <a:r>
              <a:t/>
            </a:r>
          </a:p>
          <a:p xmlns:a="http://schemas.openxmlformats.org/drawingml/2006/main">
            <a:r>
              <a:t>**함께 보는 예.** 10/8의 온도 22.5와 수업 기준 24.0을 입력이라고 해 봅니다. 두 수를 비교하는 것이 처리이고 ‘정상’이라는 표시가 출력입니다. 기준은 수업에서 만든 규칙이며 실제 장비 안전 판정이 아닙니다.</a:t>
            </a:r>
          </a:p>
          <a:p xmlns:a="http://schemas.openxmlformats.org/drawingml/2006/main">
            <a:r>
              <a:t/>
            </a:r>
          </a:p>
          <a:p xmlns:a="http://schemas.openxmlformats.org/drawingml/2006/main">
            <a:r>
              <a:t>**헷갈리는 경우.** 파일 이름을 result.py로 바꾼다고 결과 파일이 되지 않습니다. 내용을 읽어 명령인지 기록인지 확인해야 합니다. 화면에서 ‘정상’이라는 글자를 보았어도 어느 파일을 어떤 값으로 실행했는지 모르면 재현하기 어렵습니다.</a:t>
            </a:r>
          </a:p>
          <a:p xmlns:a="http://schemas.openxmlformats.org/drawingml/2006/main">
            <a:r>
              <a:t/>
            </a:r>
          </a:p>
          <a:p xmlns:a="http://schemas.openxmlformats.org/drawingml/2006/main">
            <a:r>
              <a:t>### 제공 입력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업무 카드: S01 온도 22.5℃, 기준 24.0℃. 기준보다 크면 ‘확인’, 아니면 ‘정상’. 파일 카드: code/A02_print.py, work/A02_print.py, 출력창.</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카드에서 입력 두 값과 처리 규칙을 밑줄로 구분합니다.</a:t>
            </a:r>
          </a:p>
          <a:p xmlns:a="http://schemas.openxmlformats.org/drawingml/2006/main">
            <a:r>
              <a:t>2. 예상 출력 한 단어와 그렇게 판단한 이유를 씁니다.</a:t>
            </a:r>
          </a:p>
          <a:p xmlns:a="http://schemas.openxmlformats.org/drawingml/2006/main">
            <a:r>
              <a:t>3. 원본 코드와 작업 코드의 폴더를 찾아 서로 다른 파일임을 표시합니다.</a:t>
            </a:r>
          </a:p>
          <a:p xmlns:a="http://schemas.openxmlformats.org/drawingml/2006/main">
            <a:r>
              <a:t>4. 코드 열기·저장·실행·출력을 자신의 말로 한 문장씩 설명합니다.</a:t>
            </a:r>
          </a:p>
          <a:p xmlns:a="http://schemas.openxmlformats.org/drawingml/2006/main">
            <a:r>
              <a:t/>
            </a:r>
          </a:p>
          <a:p xmlns:a="http://schemas.openxmlformats.org/drawingml/2006/main">
            <a:r>
              <a:t>예상 결과: 입력 22.5/24.0, 처리 &gt; 비교, 출력 정상. 파일을 여는 것과 실행하는 것을 구별합니다.</a:t>
            </a:r>
          </a:p>
          <a:p xmlns:a="http://schemas.openxmlformats.org/drawingml/2006/main">
            <a:r>
              <a:t/>
            </a:r>
          </a:p>
          <a:p xmlns:a="http://schemas.openxmlformats.org/drawingml/2006/main">
            <a:r>
              <a:t>확인 질문: 기준을 22.0으로 바꾸면 어느 단계의 값이 바뀌며 출력은 어떻게 될까요?</a:t>
            </a:r>
          </a:p>
          <a:p xmlns:a="http://schemas.openxmlformats.org/drawingml/2006/main">
            <a:r>
              <a:t/>
            </a:r>
          </a:p>
          <a:p xmlns:a="http://schemas.openxmlformats.org/drawingml/2006/main">
            <a:r>
              <a:t>막혔을 때: 입력과 출력이 섞이면 컴퓨터가 일을 하기 전 이미 주어진 값과 일을 한 뒤 생긴 표시를 다른 색으로 적습니다.</a:t>
            </a:r>
          </a:p>
          <a:p xmlns:a="http://schemas.openxmlformats.org/drawingml/2006/main">
            <a:r>
              <a:t/>
            </a:r>
          </a:p>
          <a:p xmlns:a="http://schemas.openxmlformats.org/drawingml/2006/main">
            <a:r>
              <a:t>[활동 자료와 작성칸](practice-guide.md#a01--입력처리출력과-코드-파일)에서 A01를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A01 상세 원문]</a:t>
            </a:r>
          </a:p>
          <a:p xmlns:a="http://schemas.openxmlformats.org/drawingml/2006/main">
            <a:r>
              <a:t>### 사례로 이해하기 · 편집 화면·저장 파일·실행 결과의 세 상태</a:t>
            </a:r>
          </a:p>
          <a:p xmlns:a="http://schemas.openxmlformats.org/drawingml/2006/main">
            <a:r>
              <a:t/>
            </a:r>
          </a:p>
          <a:p xmlns:a="http://schemas.openxmlformats.org/drawingml/2006/main">
            <a:r>
              <a:t>필수 설명 보충입니다. 강사 시연 → 함께 추적 → 예상과 실제 비교 → 자기 말로 설명 순서로 읽습니다. 아래 독립 문제는 복습·도전이며 기존 50분 필수 경로와 별도로 활용합니다.</a:t>
            </a:r>
          </a:p>
          <a:p xmlns:a="http://schemas.openxmlformats.org/drawingml/2006/main">
            <a:r>
              <a:t/>
            </a:r>
          </a:p>
          <a:p xmlns:a="http://schemas.openxmlformats.org/drawingml/2006/main">
            <a:r>
              <a:t>접수 담당자가 안내 문구를 ‘오늘 접수’에서 ‘예약 접수’로 고쳤는데 실행 화면에는 여전히 이전 문구가 나옵니다. 컴퓨터가 마음대로 문구를 바꾼 것이 아닐 수 있습니다. 편집기에 보이는 글, 디스크에 저장된 파일, 그 파일을 실행해 얻은 화면은 서로 다른 상태입니다. 종이에 작성 중인 신청서와 제출한 사본과 처리 결과를 구별하는 것처럼 세 상태를 순서대로 확인합니다. 저장 전 편집 내용은 실행 대상 파일에 아직 반영되지 않았을 수 있습니다.</a:t>
            </a:r>
          </a:p>
          <a:p xmlns:a="http://schemas.openxmlformats.org/drawingml/2006/main">
            <a:r>
              <a:t/>
            </a:r>
          </a:p>
          <a:p xmlns:a="http://schemas.openxmlformats.org/drawingml/2006/main">
            <a:r>
              <a:t>폴더는 파일을 모은 위치이고 경로는 특정 파일까지 가는 주소입니다. course 안의 code는 완성 예제, work는 학생 작업본으로 사용합니다. 둘 다 notice.py라는 이름이어도 주소가 다르면 다른 파일입니다. .py는 Python 명령을 담은 파일의 확장자입니다. 텍스트 편집기로 내용을 읽는 일은 실행이 아닙니다. 실행은 터미널에서 Python에게 파일 주소를 주고 명령을 처리하도록 요청하는 행동입니다. 명령 뒤 화면에 나온 문구는 출력이며 파일 내용과 역할이 다릅니다.</a:t>
            </a:r>
          </a:p>
          <a:p xmlns:a="http://schemas.openxmlformats.org/drawingml/2006/main">
            <a:r>
              <a:t/>
            </a:r>
          </a:p>
          <a:p xmlns:a="http://schemas.openxmlformats.org/drawingml/2006/main">
            <a:r>
              <a:t>추적표의 완성 예를 봅니다. work/notice.py를 열어 문구 수정 → 저장 → course 폴더의 터미널에서 work/notice.py를 실행 → 예약 접수 출력 순서입니다. 수정하고 code/notice.py를 실행했다면 원본의 오늘 접수가 나올 수 있습니다. 저장하지 않았다면 work를 실행해도 이전 내용이 나올 수 있습니다. 실행 파일 주소와 저장 여부를 각각 확인하므로 같은 증상이 같은 원인이라고 단정하지 않습니다. 오류가 나면 입력 명령과 파일 이름을 그대로 남기고 파일 확장명이 .py.txt인지도 확인합니다. 개인 실행이 준비되지 않았다면 세 상태 그림과 예상 결과를 종이에 작성합니다.</a:t>
            </a:r>
          </a:p>
          <a:p xmlns:a="http://schemas.openxmlformats.org/drawingml/2006/main">
            <a:r>
              <a:t/>
            </a:r>
          </a:p>
          <a:p xmlns:a="http://schemas.openxmlformats.org/drawingml/2006/main">
            <a:r>
              <a:t>### 새 상황에 독립적으로 적용하기</a:t>
            </a:r>
          </a:p>
          <a:p xmlns:a="http://schemas.openxmlformats.org/drawingml/2006/main">
            <a:r>
              <a:t/>
            </a:r>
          </a:p>
          <a:p xmlns:a="http://schemas.openxmlformats.org/drawingml/2006/main">
            <a:r>
              <a:t>복습·도전: 편집기는 work/check.py에 ‘검사 B’를 보여 줍니다. 실행 명령은 code/check.py를 가리키고 출력은 ‘검사 A’입니다. 확인된 사실 세 가지와 다음 확인 동작 두 가지를 적으세요. 새 설치나 임의 파일 삭제는 필요하지 않습니다.</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편집 경로·실행 경로가 다르며 화면 출력은 A입니다. work 파일을 저장했는지 확인하고 같은 work 주소를 실행합니다. 파일이 다르다는 증거는 있지만 저장 여부는 아직 미확인입니다. ‘Python 고장’은 증거 없는 원인 단정입니다.</a:t>
            </a:r>
          </a:p>
          <a:p xmlns:a="http://schemas.openxmlformats.org/drawingml/2006/main">
            <a:r>
              <a:t/>
            </a:r>
          </a:p>
          <a:p xmlns:a="http://schemas.openxmlformats.org/drawingml/2006/main">
            <a:r>
              <a:t>### 핵심 세 질문과 해설</a:t>
            </a:r>
          </a:p>
          <a:p xmlns:a="http://schemas.openxmlformats.org/drawingml/2006/main">
            <a:r>
              <a:t/>
            </a:r>
          </a:p>
          <a:p xmlns:a="http://schemas.openxmlformats.org/drawingml/2006/main">
            <a:r>
              <a:t>1. **저장과 실행은 같은 행동인가요?** 저장은 파일 내용을 남기고 실행은 그 파일의 명령을 처리합니다.</a:t>
            </a:r>
          </a:p>
          <a:p xmlns:a="http://schemas.openxmlformats.org/drawingml/2006/main">
            <a:r>
              <a:t/>
            </a:r>
          </a:p>
          <a:p xmlns:a="http://schemas.openxmlformats.org/drawingml/2006/main">
            <a:r>
              <a:t>2. **파일 이름만 같으면 같은 파일인가요?** 폴더까지 포함한 경로가 같아야 같은 대상을 찾습니다.</a:t>
            </a:r>
          </a:p>
          <a:p xmlns:a="http://schemas.openxmlformats.org/drawingml/2006/main">
            <a:r>
              <a:t/>
            </a:r>
          </a:p>
          <a:p xmlns:a="http://schemas.openxmlformats.org/drawingml/2006/main">
            <a:r>
              <a:t>3. **설치 실패면 개념도 틀린가요?** 환경 준비와 파일·실행 개념의 이해는 따로 확인합니다.</a:t>
            </a:r>
          </a:p>
          <a:p xmlns:a="http://schemas.openxmlformats.org/drawingml/2006/main">
            <a:r>
              <a:t/>
            </a:r>
          </a:p>
          <a:p xmlns:a="http://schemas.openxmlformats.org/drawingml/2006/main">
            <a:r>
              <a:t/>
            </a:r>
          </a:p>
          <a:p xmlns:a="http://schemas.openxmlformats.org/drawingml/2006/main">
            <a:r>
              <a:t>**개념.** 프로그램은 입력으로 받은 값을 정해진 순서대로 처리하여 결과를 만드는 명령의 묶음입니다. 주문서를 받아 금액을 계산한 뒤 영수증을 쓰는 일과 비슷하지만, 컴퓨터는 작성자가 생략한 의도를 알아서 채우지 않습니다.</a:t>
            </a:r>
          </a:p>
          <a:p xmlns:a="http://schemas.openxmlformats.org/drawingml/2006/main">
            <a:r>
              <a:t/>
            </a:r>
          </a:p>
          <a:p xmlns:a="http://schemas.openxmlformats.org/drawingml/2006/main">
            <a:r>
              <a:t>**왜 필요한가.** 코드와 결과를 구별해야 어디를 고쳤고 무엇이 바뀌었는지 설명할 수 있습니다. .py는 Python 코드를 담는 파일의 확장자이며, 파일을 열어 읽는 행동과 실행하는 행동은 다릅니다.</a:t>
            </a:r>
          </a:p>
          <a:p xmlns:a="http://schemas.openxmlformats.org/drawingml/2006/main">
            <a:r>
              <a:t/>
            </a:r>
          </a:p>
          <a:p xmlns:a="http://schemas.openxmlformats.org/drawingml/2006/main">
            <a:r>
              <a:t>**함께 보는 예.** 10/8의 온도 22.5와 수업 기준 24.0을 입력이라고 해 봅니다. 두 수를 비교하는 것이 처리이고 ‘정상’이라는 표시가 출력입니다. 기준은 수업에서 만든 규칙이며 실제 장비 안전 판정이 아닙니다.</a:t>
            </a:r>
          </a:p>
          <a:p xmlns:a="http://schemas.openxmlformats.org/drawingml/2006/main">
            <a:r>
              <a:t/>
            </a:r>
          </a:p>
          <a:p xmlns:a="http://schemas.openxmlformats.org/drawingml/2006/main">
            <a:r>
              <a:t>**헷갈리는 경우.** 파일 이름을 result.py로 바꾼다고 결과 파일이 되지 않습니다. 내용을 읽어 명령인지 기록인지 확인해야 합니다. 화면에서 ‘정상’이라는 글자를 보았어도 어느 파일을 어떤 값으로 실행했는지 모르면 재현하기 어렵습니다.</a:t>
            </a:r>
          </a:p>
          <a:p xmlns:a="http://schemas.openxmlformats.org/drawingml/2006/main">
            <a:r>
              <a:t/>
            </a:r>
          </a:p>
          <a:p xmlns:a="http://schemas.openxmlformats.org/drawingml/2006/main">
            <a:r>
              <a:t>### 제공 입력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업무 카드: S01 온도 22.5℃, 기준 24.0℃. 기준보다 크면 ‘확인’, 아니면 ‘정상’. 파일 카드: code/A02_print.py, work/A02_print.py, 출력창.</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카드에서 입력 두 값과 처리 규칙을 밑줄로 구분합니다.</a:t>
            </a:r>
          </a:p>
          <a:p xmlns:a="http://schemas.openxmlformats.org/drawingml/2006/main">
            <a:r>
              <a:t>2. 예상 출력 한 단어와 그렇게 판단한 이유를 씁니다.</a:t>
            </a:r>
          </a:p>
          <a:p xmlns:a="http://schemas.openxmlformats.org/drawingml/2006/main">
            <a:r>
              <a:t>3. 원본 코드와 작업 코드의 폴더를 찾아 서로 다른 파일임을 표시합니다.</a:t>
            </a:r>
          </a:p>
          <a:p xmlns:a="http://schemas.openxmlformats.org/drawingml/2006/main">
            <a:r>
              <a:t>4. 코드 열기·저장·실행·출력을 자신의 말로 한 문장씩 설명합니다.</a:t>
            </a:r>
          </a:p>
          <a:p xmlns:a="http://schemas.openxmlformats.org/drawingml/2006/main">
            <a:r>
              <a:t/>
            </a:r>
          </a:p>
          <a:p xmlns:a="http://schemas.openxmlformats.org/drawingml/2006/main">
            <a:r>
              <a:t>예상 결과: 입력 22.5/24.0, 처리 &gt; 비교, 출력 정상. 파일을 여는 것과 실행하는 것을 구별합니다.</a:t>
            </a:r>
          </a:p>
          <a:p xmlns:a="http://schemas.openxmlformats.org/drawingml/2006/main">
            <a:r>
              <a:t/>
            </a:r>
          </a:p>
          <a:p xmlns:a="http://schemas.openxmlformats.org/drawingml/2006/main">
            <a:r>
              <a:t>확인 질문: 기준을 22.0으로 바꾸면 어느 단계의 값이 바뀌며 출력은 어떻게 될까요?</a:t>
            </a:r>
          </a:p>
          <a:p xmlns:a="http://schemas.openxmlformats.org/drawingml/2006/main">
            <a:r>
              <a:t/>
            </a:r>
          </a:p>
          <a:p xmlns:a="http://schemas.openxmlformats.org/drawingml/2006/main">
            <a:r>
              <a:t>막혔을 때: 입력과 출력이 섞이면 컴퓨터가 일을 하기 전 이미 주어진 값과 일을 한 뒤 생긴 표시를 다른 색으로 적습니다.</a:t>
            </a:r>
          </a:p>
          <a:p xmlns:a="http://schemas.openxmlformats.org/drawingml/2006/main">
            <a:r>
              <a:t/>
            </a:r>
          </a:p>
          <a:p xmlns:a="http://schemas.openxmlformats.org/drawingml/2006/main">
            <a:r>
              <a:t>[활동 자료와 작성칸](practice-guide.md#a01--입력처리출력과-코드-파일)에서 A01를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제공된 완성 파일의 전체 코드입니다. 압축을 푼 course 폴더의 터미널에서 실행합니다.</a:t>
            </a:r>
          </a:p>
          <a:p xmlns:a="http://schemas.openxmlformats.org/drawingml/2006/main">
            <a:r>
              <a:t>명령: python -X utf8 code/A02_print.py</a:t>
            </a:r>
          </a:p>
          <a:p xmlns:a="http://schemas.openxmlformats.org/drawingml/2006/main">
            <a:r>
              <a:t>작업본은 code 대신 work 경로를 지정합니다. 개인 실행이 막히면 같은 입력으로 수동 추적 후 강사 결과와 비교합니다.</a:t>
            </a:r>
          </a:p>
          <a:p xmlns:a="http://schemas.openxmlformats.org/drawingml/2006/main">
            <a:r>
              <a:t/>
            </a:r>
          </a:p>
          <a:p xmlns:a="http://schemas.openxmlformats.org/drawingml/2006/main">
            <a:r>
              <a:t>[활동 A02 상세 원문]</a:t>
            </a:r>
          </a:p>
          <a:p xmlns:a="http://schemas.openxmlformats.org/drawingml/2006/main">
            <a:r>
              <a:t>**개념.** print는 전달받은 값을 화면에 보여 주는 기본 함수입니다. 함수라는 말은 우선 이름 붙은 일을 호출하는 도구로 이해합니다. 괄호 안에 보여 줄 내용을 넣고, 문자열은 따옴표로 감쌉니다.</a:t>
            </a:r>
          </a:p>
          <a:p xmlns:a="http://schemas.openxmlformats.org/drawingml/2006/main">
            <a:r>
              <a:t/>
            </a:r>
          </a:p>
          <a:p xmlns:a="http://schemas.openxmlformats.org/drawingml/2006/main">
            <a:r>
              <a:t>**왜 필요한가.** 짧은 출력을 직접 바꾸면 편집한 내용이 실행에 반영되는 과정을 볼 수 있습니다. 복잡한 프로그램을 만들기 전에 실행 통로를 확인하는 작은 성공 기준입니다.</a:t>
            </a:r>
          </a:p>
          <a:p xmlns:a="http://schemas.openxmlformats.org/drawingml/2006/main">
            <a:r>
              <a:t/>
            </a:r>
          </a:p>
          <a:p xmlns:a="http://schemas.openxmlformats.org/drawingml/2006/main">
            <a:r>
              <a:t>**함께 보는 예.** 첫 줄의 # 뒤 문장은 사람이 읽는 설명인 주석입니다. Python은 이 주석을 실행하지 않습니다. 따옴표 안의 #는 글자의 일부이므로 주석이 아니라는 점도 비교합니다.</a:t>
            </a:r>
          </a:p>
          <a:p xmlns:a="http://schemas.openxmlformats.org/drawingml/2006/main">
            <a:r>
              <a:t/>
            </a:r>
          </a:p>
          <a:p xmlns:a="http://schemas.openxmlformats.org/drawingml/2006/main">
            <a:r>
              <a:t>**헷갈리는 경우.** print라는 이름을 Print로 쓰면 같은 도구가 아닙니다. 큰따옴표는 키보드로 입력하는 곧은 따옴표이며 문서 편집기의 장식 따옴표로 바꾸면 문법 문제가 생길 수 있습니다.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 화면에 수업 시작을 표시합니다.</a:t>
            </a:r>
          </a:p>
          <a:p xmlns:a="http://schemas.openxmlformats.org/drawingml/2006/main">
            <a:r>
              <a:t>print("Python 점검 시작")</a:t>
            </a:r>
          </a:p>
          <a:p xmlns:a="http://schemas.openxmlformats.org/drawingml/2006/main">
            <a:r>
              <a:t>print("S01", 22.5)</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 화면에 수업 시작을 표시합니다.` | 사람을 위한 설명이며 실행 결과를 만들지 않습니다. |</a:t>
            </a:r>
          </a:p>
          <a:p xmlns:a="http://schemas.openxmlformats.org/drawingml/2006/main">
            <a:r>
              <a:t>| 2 | `print("Python 점검 시작")` | 문자열 한 개를 화면에 보여 줍니다. |</a:t>
            </a:r>
          </a:p>
          <a:p xmlns:a="http://schemas.openxmlformats.org/drawingml/2006/main">
            <a:r>
              <a:t>| 3 | `print("S01", 22.5)` | 문자열과 숫자를 쉼표로 나누어 한 줄에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code/A02_print.py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work/A02_print.py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점검 시작</a:t>
            </a:r>
          </a:p>
          <a:p xmlns:a="http://schemas.openxmlformats.org/drawingml/2006/main">
            <a:r>
              <a:t>S01 22.5</a:t>
            </a:r>
          </a:p>
          <a:p xmlns:a="http://schemas.openxmlformats.org/drawingml/2006/main">
            <a:r>
              <a:t>```</a:t>
            </a:r>
          </a:p>
          <a:p xmlns:a="http://schemas.openxmlformats.org/drawingml/2006/main">
            <a:r>
              <a:t/>
            </a:r>
          </a:p>
          <a:p xmlns:a="http://schemas.openxmlformats.org/drawingml/2006/main">
            <a:r>
              <a:t>작은 수정: `Python 점검 시작`를 `오늘의 점검 시작`로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오늘의 점검 시작</a:t>
            </a:r>
          </a:p>
          <a:p xmlns:a="http://schemas.openxmlformats.org/drawingml/2006/main">
            <a:r>
              <a:t>S01 22.5</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work/A02_print.py를 텍스트 편집기로 엽니다.</a:t>
            </a:r>
          </a:p>
          <a:p xmlns:a="http://schemas.openxmlformats.org/drawingml/2006/main">
            <a:r>
              <a:t>2. 수정 전 출력 두 줄을 예상해 노트에 씁니다.</a:t>
            </a:r>
          </a:p>
          <a:p xmlns:a="http://schemas.openxmlformats.org/drawingml/2006/main">
            <a:r>
              <a:t>3. 첫 안내 문구를 ‘오늘의 점검 시작’으로 바꾸고 저장합니다.</a:t>
            </a:r>
          </a:p>
          <a:p xmlns:a="http://schemas.openxmlformats.org/drawingml/2006/main">
            <a:r>
              <a:t>4. course 폴더의 터미널에서 python -X utf8 work/A02_print.py를 실행하고 예상과 대조합니다.</a:t>
            </a:r>
          </a:p>
          <a:p xmlns:a="http://schemas.openxmlformats.org/drawingml/2006/main">
            <a:r>
              <a:t/>
            </a:r>
          </a:p>
          <a:p xmlns:a="http://schemas.openxmlformats.org/drawingml/2006/main">
            <a:r>
              <a:t>예상 결과: 첫 안내 문구만 바뀌며 둘째 줄 S01 22.5는 유지됩니다.</a:t>
            </a:r>
          </a:p>
          <a:p xmlns:a="http://schemas.openxmlformats.org/drawingml/2006/main">
            <a:r>
              <a:t/>
            </a:r>
          </a:p>
          <a:p xmlns:a="http://schemas.openxmlformats.org/drawingml/2006/main">
            <a:r>
              <a:t>확인 질문: 주석의 문구만 바꾸면 출력은 달라질까요?</a:t>
            </a:r>
          </a:p>
          <a:p xmlns:a="http://schemas.openxmlformats.org/drawingml/2006/main">
            <a:r>
              <a:t/>
            </a:r>
          </a:p>
          <a:p xmlns:a="http://schemas.openxmlformats.org/drawingml/2006/main">
            <a:r>
              <a:t>막혔을 때: python을 찾지 못하면 설치를 혼자 진행하지 말고 강사에게 환경을 확인합니다. 그동안 제공된 출력과 수정안을 비교하고 개인 실행 미완료를 표시합니다.</a:t>
            </a:r>
          </a:p>
          <a:p xmlns:a="http://schemas.openxmlformats.org/drawingml/2006/main">
            <a:r>
              <a:t/>
            </a:r>
          </a:p>
          <a:p xmlns:a="http://schemas.openxmlformats.org/drawingml/2006/main">
            <a:r>
              <a:t>[활동 자료와 작성칸](practice-guide.md#a02--첫-출력과-주석)에서 A02를 엽니다.</a:t>
            </a:r>
          </a:p>
          <a:p xmlns:a="http://schemas.openxmlformats.org/drawingml/2006/main">
            <a:r>
              <a:t/>
            </a:r>
          </a:p>
          <a:p xmlns:a="http://schemas.openxmlformats.org/drawingml/2006/main">
            <a:r>
              <a:t>### Windows · 처음 실행할 위치 만들기</a:t>
            </a:r>
          </a:p>
          <a:p xmlns:a="http://schemas.openxmlformats.org/drawingml/2006/main">
            <a:r>
              <a:t/>
            </a:r>
          </a:p>
          <a:p xmlns:a="http://schemas.openxmlformats.org/drawingml/2006/main">
            <a:r>
              <a:t>제작 가정: Windows 탐색기와 PowerShell을 사용합니다. 다른 OS는 강사의 해당 환경 안내를 따릅니다. 설치 문제는 개념 평가와 따로 기록합니다.</a:t>
            </a:r>
          </a:p>
          <a:p xmlns:a="http://schemas.openxmlformats.org/drawingml/2006/main">
            <a:r>
              <a:t/>
            </a:r>
          </a:p>
          <a:p xmlns:a="http://schemas.openxmlformats.org/drawingml/2006/main">
            <a:r>
              <a:t>1. 예제 ZIP을 우클릭 → **모두 추출** → **추출**합니다. ZIP 안을 보는 창에서 실행하지 않습니다.</a:t>
            </a:r>
          </a:p>
          <a:p xmlns:a="http://schemas.openxmlformats.org/drawingml/2006/main">
            <a:r>
              <a:t>2. 탐색기로 압축을 푼 곳의 `course` 폴더를 엽니다. 안에 `data`, `code`, `work` 세 폴더가 실제로 보이는지 확인합니다. 폴더가 한 겹 더 있으면 그 안으로 들어갑니다.</a:t>
            </a:r>
          </a:p>
          <a:p xmlns:a="http://schemas.openxmlformats.org/drawingml/2006/main">
            <a:r>
              <a:t>3. 탐색기 위 주소 표시줄을 클릭해 `powershell`을 입력하고 Enter를 누릅니다. 현재 폴더에서 PowerShell 창이 열립니다. 편집기에서 파일을 연 것만으로 실행 위치가 정해지지는 않습니다.</a:t>
            </a:r>
          </a:p>
          <a:p xmlns:a="http://schemas.openxmlformats.org/drawingml/2006/main">
            <a:r>
              <a:t>4. 아래 명령을 한 줄씩 입력하고 Enter를 누릅니다. 앞의 `PS ...&gt;` 문구는 입력하지 않습니다.</a:t>
            </a:r>
          </a:p>
          <a:p xmlns:a="http://schemas.openxmlformats.org/drawingml/2006/main">
            <a:r>
              <a:t/>
            </a:r>
          </a:p>
          <a:p xmlns:a="http://schemas.openxmlformats.org/drawingml/2006/main">
            <a:r>
              <a:t>```powershell</a:t>
            </a:r>
          </a:p>
          <a:p xmlns:a="http://schemas.openxmlformats.org/drawingml/2006/main">
            <a:r>
              <a:t>Get-Location</a:t>
            </a:r>
          </a:p>
          <a:p xmlns:a="http://schemas.openxmlformats.org/drawingml/2006/main">
            <a:r>
              <a:t>Get-ChildItem -Directory</a:t>
            </a:r>
          </a:p>
          <a:p xmlns:a="http://schemas.openxmlformats.org/drawingml/2006/main">
            <a:r>
              <a:t>Test-Path .\work\A02_print.py</a:t>
            </a:r>
          </a:p>
          <a:p xmlns:a="http://schemas.openxmlformats.org/drawingml/2006/main">
            <a:r>
              <a:t>```</a:t>
            </a:r>
          </a:p>
          <a:p xmlns:a="http://schemas.openxmlformats.org/drawingml/2006/main">
            <a:r>
              <a:t/>
            </a:r>
          </a:p>
          <a:p xmlns:a="http://schemas.openxmlformats.org/drawingml/2006/main">
            <a:r>
              <a:t>`Get-Location`은 지금 실행할 폴더의 실제 경로를 보여 줍니다. 끝이 `course`인지 확인합니다. `Get-ChildItem` 목록에는 `data`, `code`, `work`가 보여야 합니다. 마지막 명령은 파일이 있는지 확인하며 정상 결과는 `True`입니다. 내 실제 경로: _____ / 확인 결과: _____.</a:t>
            </a:r>
          </a:p>
          <a:p xmlns:a="http://schemas.openxmlformats.org/drawingml/2006/main">
            <a:r>
              <a:t/>
            </a:r>
          </a:p>
          <a:p xmlns:a="http://schemas.openxmlformats.org/drawingml/2006/main">
            <a:r>
              <a:t>5. `work/A02_print.py` 첫 print 문구를 `오늘의 점검 시작`으로 고치고 저장합니다. 같은 PowerShell 창에서 실행합니다.</a:t>
            </a:r>
          </a:p>
          <a:p xmlns:a="http://schemas.openxmlformats.org/drawingml/2006/main">
            <a:r>
              <a:t/>
            </a:r>
          </a:p>
          <a:p xmlns:a="http://schemas.openxmlformats.org/drawingml/2006/main">
            <a:r>
              <a:t>```powershell</a:t>
            </a:r>
          </a:p>
          <a:p xmlns:a="http://schemas.openxmlformats.org/drawingml/2006/main">
            <a:r>
              <a:t>python -X utf8 work/A02_print.py</a:t>
            </a:r>
          </a:p>
          <a:p xmlns:a="http://schemas.openxmlformats.org/drawingml/2006/main">
            <a:r>
              <a:t>```</a:t>
            </a:r>
          </a:p>
          <a:p xmlns:a="http://schemas.openxmlformats.org/drawingml/2006/main">
            <a:r>
              <a:t/>
            </a:r>
          </a:p>
          <a:p xmlns:a="http://schemas.openxmlformats.org/drawingml/2006/main">
            <a:r>
              <a:t>예상 두 줄은 다음과 같습니다.</a:t>
            </a:r>
          </a:p>
          <a:p xmlns:a="http://schemas.openxmlformats.org/drawingml/2006/main">
            <a:r>
              <a:t/>
            </a:r>
          </a:p>
          <a:p xmlns:a="http://schemas.openxmlformats.org/drawingml/2006/main">
            <a:r>
              <a:t>```text</a:t>
            </a:r>
          </a:p>
          <a:p xmlns:a="http://schemas.openxmlformats.org/drawingml/2006/main">
            <a:r>
              <a:t>오늘의 점검 시작</a:t>
            </a:r>
          </a:p>
          <a:p xmlns:a="http://schemas.openxmlformats.org/drawingml/2006/main">
            <a:r>
              <a:t>S01 22.5</a:t>
            </a:r>
          </a:p>
          <a:p xmlns:a="http://schemas.openxmlformats.org/drawingml/2006/main">
            <a:r>
              <a:t>```</a:t>
            </a:r>
          </a:p>
          <a:p xmlns:a="http://schemas.openxmlformats.org/drawingml/2006/main">
            <a:r>
              <a:t/>
            </a:r>
          </a:p>
          <a:p xmlns:a="http://schemas.openxmlformats.org/drawingml/2006/main">
            <a:r>
              <a:t>- `False`, `can't open file`, `No such file`: 실제 폴더를 탐색기로 다시 열고 2~4단계를 반복합니다. 파일 이름이 `.py.txt`가 아닌지 탐색기의 **보기 → 표시 → 파일 확장명**에서 확인합니다.</a:t>
            </a:r>
          </a:p>
          <a:p xmlns:a="http://schemas.openxmlformats.org/drawingml/2006/main">
            <a:r>
              <a:t>- 첫 줄이 `Python 점검 시작`: 수정 파일을 저장했는지, 실행 명령이 `code/`가 아닌 `work/`를 가리키는지 확인합니다.</a:t>
            </a:r>
          </a:p>
          <a:p xmlns:a="http://schemas.openxmlformats.org/drawingml/2006/main">
            <a:r>
              <a:t>- `python`을 찾지 못하거나 Store 안내가 뜸: 강사에게 설치 상태를 확인받습니다. 설치를 혼자 진행하지 말고 예상·제공 출력 비교로 합류하고 **개인 실행 미완료**를 적습니다.</a:t>
            </a:r>
          </a:p>
          <a:p xmlns:a="http://schemas.openxmlformats.org/drawingml/2006/main">
            <a:r>
              <a:t/>
            </a:r>
          </a:p>
          <a:p xmlns:a="http://schemas.openxmlformats.org/drawingml/2006/main">
            <a:r>
              <a:t>실행 위치 확인 → 파일 저장 → 명령 입력 → 실제 출력 기록을 서로 다른 행동으로 확인합니다.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A02 상세 원문]</a:t>
            </a:r>
          </a:p>
          <a:p xmlns:a="http://schemas.openxmlformats.org/drawingml/2006/main">
            <a:r>
              <a:t>**개념.** print는 전달받은 값을 화면에 보여 주는 기본 함수입니다. 함수라는 말은 우선 이름 붙은 일을 호출하는 도구로 이해합니다. 괄호 안에 보여 줄 내용을 넣고, 문자열은 따옴표로 감쌉니다.</a:t>
            </a:r>
          </a:p>
          <a:p xmlns:a="http://schemas.openxmlformats.org/drawingml/2006/main">
            <a:r>
              <a:t/>
            </a:r>
          </a:p>
          <a:p xmlns:a="http://schemas.openxmlformats.org/drawingml/2006/main">
            <a:r>
              <a:t>**왜 필요한가.** 짧은 출력을 직접 바꾸면 편집한 내용이 실행에 반영되는 과정을 볼 수 있습니다. 복잡한 프로그램을 만들기 전에 실행 통로를 확인하는 작은 성공 기준입니다.</a:t>
            </a:r>
          </a:p>
          <a:p xmlns:a="http://schemas.openxmlformats.org/drawingml/2006/main">
            <a:r>
              <a:t/>
            </a:r>
          </a:p>
          <a:p xmlns:a="http://schemas.openxmlformats.org/drawingml/2006/main">
            <a:r>
              <a:t>**함께 보는 예.** 첫 줄의 # 뒤 문장은 사람이 읽는 설명인 주석입니다. Python은 이 주석을 실행하지 않습니다. 따옴표 안의 #는 글자의 일부이므로 주석이 아니라는 점도 비교합니다.</a:t>
            </a:r>
          </a:p>
          <a:p xmlns:a="http://schemas.openxmlformats.org/drawingml/2006/main">
            <a:r>
              <a:t/>
            </a:r>
          </a:p>
          <a:p xmlns:a="http://schemas.openxmlformats.org/drawingml/2006/main">
            <a:r>
              <a:t>**헷갈리는 경우.** print라는 이름을 Print로 쓰면 같은 도구가 아닙니다. 큰따옴표는 키보드로 입력하는 곧은 따옴표이며 문서 편집기의 장식 따옴표로 바꾸면 문법 문제가 생길 수 있습니다.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 화면에 수업 시작을 표시합니다.</a:t>
            </a:r>
          </a:p>
          <a:p xmlns:a="http://schemas.openxmlformats.org/drawingml/2006/main">
            <a:r>
              <a:t>print("Python 점검 시작")</a:t>
            </a:r>
          </a:p>
          <a:p xmlns:a="http://schemas.openxmlformats.org/drawingml/2006/main">
            <a:r>
              <a:t>print("S01", 22.5)</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 화면에 수업 시작을 표시합니다.` | 사람을 위한 설명이며 실행 결과를 만들지 않습니다. |</a:t>
            </a:r>
          </a:p>
          <a:p xmlns:a="http://schemas.openxmlformats.org/drawingml/2006/main">
            <a:r>
              <a:t>| 2 | `print("Python 점검 시작")` | 문자열 한 개를 화면에 보여 줍니다. |</a:t>
            </a:r>
          </a:p>
          <a:p xmlns:a="http://schemas.openxmlformats.org/drawingml/2006/main">
            <a:r>
              <a:t>| 3 | `print("S01", 22.5)` | 문자열과 숫자를 쉼표로 나누어 한 줄에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code/A02_print.py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work/A02_print.py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점검 시작</a:t>
            </a:r>
          </a:p>
          <a:p xmlns:a="http://schemas.openxmlformats.org/drawingml/2006/main">
            <a:r>
              <a:t>S01 22.5</a:t>
            </a:r>
          </a:p>
          <a:p xmlns:a="http://schemas.openxmlformats.org/drawingml/2006/main">
            <a:r>
              <a:t>```</a:t>
            </a:r>
          </a:p>
          <a:p xmlns:a="http://schemas.openxmlformats.org/drawingml/2006/main">
            <a:r>
              <a:t/>
            </a:r>
          </a:p>
          <a:p xmlns:a="http://schemas.openxmlformats.org/drawingml/2006/main">
            <a:r>
              <a:t>작은 수정: `Python 점검 시작`를 `오늘의 점검 시작`로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오늘의 점검 시작</a:t>
            </a:r>
          </a:p>
          <a:p xmlns:a="http://schemas.openxmlformats.org/drawingml/2006/main">
            <a:r>
              <a:t>S01 22.5</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work/A02_print.py를 텍스트 편집기로 엽니다.</a:t>
            </a:r>
          </a:p>
          <a:p xmlns:a="http://schemas.openxmlformats.org/drawingml/2006/main">
            <a:r>
              <a:t>2. 수정 전 출력 두 줄을 예상해 노트에 씁니다.</a:t>
            </a:r>
          </a:p>
          <a:p xmlns:a="http://schemas.openxmlformats.org/drawingml/2006/main">
            <a:r>
              <a:t>3. 첫 안내 문구를 ‘오늘의 점검 시작’으로 바꾸고 저장합니다.</a:t>
            </a:r>
          </a:p>
          <a:p xmlns:a="http://schemas.openxmlformats.org/drawingml/2006/main">
            <a:r>
              <a:t>4. course 폴더의 터미널에서 python -X utf8 work/A02_print.py를 실행하고 예상과 대조합니다.</a:t>
            </a:r>
          </a:p>
          <a:p xmlns:a="http://schemas.openxmlformats.org/drawingml/2006/main">
            <a:r>
              <a:t/>
            </a:r>
          </a:p>
          <a:p xmlns:a="http://schemas.openxmlformats.org/drawingml/2006/main">
            <a:r>
              <a:t>예상 결과: 첫 안내 문구만 바뀌며 둘째 줄 S01 22.5는 유지됩니다.</a:t>
            </a:r>
          </a:p>
          <a:p xmlns:a="http://schemas.openxmlformats.org/drawingml/2006/main">
            <a:r>
              <a:t/>
            </a:r>
          </a:p>
          <a:p xmlns:a="http://schemas.openxmlformats.org/drawingml/2006/main">
            <a:r>
              <a:t>확인 질문: 주석의 문구만 바꾸면 출력은 달라질까요?</a:t>
            </a:r>
          </a:p>
          <a:p xmlns:a="http://schemas.openxmlformats.org/drawingml/2006/main">
            <a:r>
              <a:t/>
            </a:r>
          </a:p>
          <a:p xmlns:a="http://schemas.openxmlformats.org/drawingml/2006/main">
            <a:r>
              <a:t>막혔을 때: python을 찾지 못하면 설치를 혼자 진행하지 말고 강사에게 환경을 확인합니다. 그동안 제공된 출력과 수정안을 비교하고 개인 실행 미완료를 표시합니다.</a:t>
            </a:r>
          </a:p>
          <a:p xmlns:a="http://schemas.openxmlformats.org/drawingml/2006/main">
            <a:r>
              <a:t/>
            </a:r>
          </a:p>
          <a:p xmlns:a="http://schemas.openxmlformats.org/drawingml/2006/main">
            <a:r>
              <a:t>[활동 자료와 작성칸](practice-guide.md#a02--첫-출력과-주석)에서 A02를 엽니다.</a:t>
            </a:r>
          </a:p>
          <a:p xmlns:a="http://schemas.openxmlformats.org/drawingml/2006/main">
            <a:r>
              <a:t/>
            </a:r>
          </a:p>
          <a:p xmlns:a="http://schemas.openxmlformats.org/drawingml/2006/main">
            <a:r>
              <a:t>### Windows · 처음 실행할 위치 만들기</a:t>
            </a:r>
          </a:p>
          <a:p xmlns:a="http://schemas.openxmlformats.org/drawingml/2006/main">
            <a:r>
              <a:t/>
            </a:r>
          </a:p>
          <a:p xmlns:a="http://schemas.openxmlformats.org/drawingml/2006/main">
            <a:r>
              <a:t>제작 가정: Windows 탐색기와 PowerShell을 사용합니다. 다른 OS는 강사의 해당 환경 안내를 따릅니다. 설치 문제는 개념 평가와 따로 기록합니다.</a:t>
            </a:r>
          </a:p>
          <a:p xmlns:a="http://schemas.openxmlformats.org/drawingml/2006/main">
            <a:r>
              <a:t/>
            </a:r>
          </a:p>
          <a:p xmlns:a="http://schemas.openxmlformats.org/drawingml/2006/main">
            <a:r>
              <a:t>1. 예제 ZIP을 우클릭 → **모두 추출** → **추출**합니다. ZIP 안을 보는 창에서 실행하지 않습니다.</a:t>
            </a:r>
          </a:p>
          <a:p xmlns:a="http://schemas.openxmlformats.org/drawingml/2006/main">
            <a:r>
              <a:t>2. 탐색기로 압축을 푼 곳의 `course` 폴더를 엽니다. 안에 `data`, `code`, `work` 세 폴더가 실제로 보이는지 확인합니다. 폴더가 한 겹 더 있으면 그 안으로 들어갑니다.</a:t>
            </a:r>
          </a:p>
          <a:p xmlns:a="http://schemas.openxmlformats.org/drawingml/2006/main">
            <a:r>
              <a:t>3. 탐색기 위 주소 표시줄을 클릭해 `powershell`을 입력하고 Enter를 누릅니다. 현재 폴더에서 PowerShell 창이 열립니다. 편집기에서 파일을 연 것만으로 실행 위치가 정해지지는 않습니다.</a:t>
            </a:r>
          </a:p>
          <a:p xmlns:a="http://schemas.openxmlformats.org/drawingml/2006/main">
            <a:r>
              <a:t>4. 아래 명령을 한 줄씩 입력하고 Enter를 누릅니다. 앞의 `PS ...&gt;` 문구는 입력하지 않습니다.</a:t>
            </a:r>
          </a:p>
          <a:p xmlns:a="http://schemas.openxmlformats.org/drawingml/2006/main">
            <a:r>
              <a:t/>
            </a:r>
          </a:p>
          <a:p xmlns:a="http://schemas.openxmlformats.org/drawingml/2006/main">
            <a:r>
              <a:t>```powershell</a:t>
            </a:r>
          </a:p>
          <a:p xmlns:a="http://schemas.openxmlformats.org/drawingml/2006/main">
            <a:r>
              <a:t>Get-Location</a:t>
            </a:r>
          </a:p>
          <a:p xmlns:a="http://schemas.openxmlformats.org/drawingml/2006/main">
            <a:r>
              <a:t>Get-ChildItem -Directory</a:t>
            </a:r>
          </a:p>
          <a:p xmlns:a="http://schemas.openxmlformats.org/drawingml/2006/main">
            <a:r>
              <a:t>Test-Path .\work\A02_print.py</a:t>
            </a:r>
          </a:p>
          <a:p xmlns:a="http://schemas.openxmlformats.org/drawingml/2006/main">
            <a:r>
              <a:t>```</a:t>
            </a:r>
          </a:p>
          <a:p xmlns:a="http://schemas.openxmlformats.org/drawingml/2006/main">
            <a:r>
              <a:t/>
            </a:r>
          </a:p>
          <a:p xmlns:a="http://schemas.openxmlformats.org/drawingml/2006/main">
            <a:r>
              <a:t>`Get-Location`은 지금 실행할 폴더의 실제 경로를 보여 줍니다. 끝이 `course`인지 확인합니다. `Get-ChildItem` 목록에는 `data`, `code`, `work`가 보여야 합니다. 마지막 명령은 파일이 있는지 확인하며 정상 결과는 `True`입니다. 내 실제 경로: _____ / 확인 결과: _____.</a:t>
            </a:r>
          </a:p>
          <a:p xmlns:a="http://schemas.openxmlformats.org/drawingml/2006/main">
            <a:r>
              <a:t/>
            </a:r>
          </a:p>
          <a:p xmlns:a="http://schemas.openxmlformats.org/drawingml/2006/main">
            <a:r>
              <a:t>5. `work/A02_print.py` 첫 print 문구를 `오늘의 점검 시작`으로 고치고 저장합니다. 같은 PowerShell 창에서 실행합니다.</a:t>
            </a:r>
          </a:p>
          <a:p xmlns:a="http://schemas.openxmlformats.org/drawingml/2006/main">
            <a:r>
              <a:t/>
            </a:r>
          </a:p>
          <a:p xmlns:a="http://schemas.openxmlformats.org/drawingml/2006/main">
            <a:r>
              <a:t>```powershell</a:t>
            </a:r>
          </a:p>
          <a:p xmlns:a="http://schemas.openxmlformats.org/drawingml/2006/main">
            <a:r>
              <a:t>python -X utf8 work/A02_print.py</a:t>
            </a:r>
          </a:p>
          <a:p xmlns:a="http://schemas.openxmlformats.org/drawingml/2006/main">
            <a:r>
              <a:t>```</a:t>
            </a:r>
          </a:p>
          <a:p xmlns:a="http://schemas.openxmlformats.org/drawingml/2006/main">
            <a:r>
              <a:t/>
            </a:r>
          </a:p>
          <a:p xmlns:a="http://schemas.openxmlformats.org/drawingml/2006/main">
            <a:r>
              <a:t>예상 두 줄은 다음과 같습니다.</a:t>
            </a:r>
          </a:p>
          <a:p xmlns:a="http://schemas.openxmlformats.org/drawingml/2006/main">
            <a:r>
              <a:t/>
            </a:r>
          </a:p>
          <a:p xmlns:a="http://schemas.openxmlformats.org/drawingml/2006/main">
            <a:r>
              <a:t>```text</a:t>
            </a:r>
          </a:p>
          <a:p xmlns:a="http://schemas.openxmlformats.org/drawingml/2006/main">
            <a:r>
              <a:t>오늘의 점검 시작</a:t>
            </a:r>
          </a:p>
          <a:p xmlns:a="http://schemas.openxmlformats.org/drawingml/2006/main">
            <a:r>
              <a:t>S01 22.5</a:t>
            </a:r>
          </a:p>
          <a:p xmlns:a="http://schemas.openxmlformats.org/drawingml/2006/main">
            <a:r>
              <a:t>```</a:t>
            </a:r>
          </a:p>
          <a:p xmlns:a="http://schemas.openxmlformats.org/drawingml/2006/main">
            <a:r>
              <a:t/>
            </a:r>
          </a:p>
          <a:p xmlns:a="http://schemas.openxmlformats.org/drawingml/2006/main">
            <a:r>
              <a:t>- `False`, `can't open file`, `No such file`: 실제 폴더를 탐색기로 다시 열고 2~4단계를 반복합니다. 파일 이름이 `.py.txt`가 아닌지 탐색기의 **보기 → 표시 → 파일 확장명**에서 확인합니다.</a:t>
            </a:r>
          </a:p>
          <a:p xmlns:a="http://schemas.openxmlformats.org/drawingml/2006/main">
            <a:r>
              <a:t>- 첫 줄이 `Python 점검 시작`: 수정 파일을 저장했는지, 실행 명령이 `code/`가 아닌 `work/`를 가리키는지 확인합니다.</a:t>
            </a:r>
          </a:p>
          <a:p xmlns:a="http://schemas.openxmlformats.org/drawingml/2006/main">
            <a:r>
              <a:t>- `python`을 찾지 못하거나 Store 안내가 뜸: 강사에게 설치 상태를 확인받습니다. 설치를 혼자 진행하지 말고 예상·제공 출력 비교로 합류하고 **개인 실행 미완료**를 적습니다.</a:t>
            </a:r>
          </a:p>
          <a:p xmlns:a="http://schemas.openxmlformats.org/drawingml/2006/main">
            <a:r>
              <a:t/>
            </a:r>
          </a:p>
          <a:p xmlns:a="http://schemas.openxmlformats.org/drawingml/2006/main">
            <a:r>
              <a:t>실행 위치 확인 → 파일 저장 → 명령 입력 → 실제 출력 기록을 서로 다른 행동으로 확인합니다.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출력 예이며 실행할 코드가 아닙니다. 첫 print가 안내를, 둘째 print가 두 값을 공백으로 나누어 보여 줍니다.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A03 상세 원문]</a:t>
            </a:r>
          </a:p>
          <a:p xmlns:a="http://schemas.openxmlformats.org/drawingml/2006/main">
            <a:r>
              <a:t>**개념.** 편집기의 변경 내용은 저장하기 전까지 파일에 반영되지 않을 수 있습니다. 실행 명령은 디스크에 저장된 특정 파일을 읽습니다. 터미널은 명령을 입력하고 실행 결과를 보는 창이며 코드 편집기와 역할이 다릅니다.</a:t>
            </a:r>
          </a:p>
          <a:p xmlns:a="http://schemas.openxmlformats.org/drawingml/2006/main">
            <a:r>
              <a:t/>
            </a:r>
          </a:p>
          <a:p xmlns:a="http://schemas.openxmlformats.org/drawingml/2006/main">
            <a:r>
              <a:t>**왜 필요한가.** 같은 이름의 원본과 작업본이 있을 때 다른 파일을 실행하면 수정한 문구가 나오지 않습니다. 재실행을 반복하기 전에 파일 경로와 저장 여부를 확인하면 원인을 좁힐 수 있습니다.</a:t>
            </a:r>
          </a:p>
          <a:p xmlns:a="http://schemas.openxmlformats.org/drawingml/2006/main">
            <a:r>
              <a:t/>
            </a:r>
          </a:p>
          <a:p xmlns:a="http://schemas.openxmlformats.org/drawingml/2006/main">
            <a:r>
              <a:t>**함께 보는 예.** 작업본에는 새 문구가 보이지만 code/A02_print.py를 실행했다면 원본 문구가 나오는 것이 자연스럽습니다. 명령 끝의 경로를 work/A02_print.py로 맞춰야 작업본을 실행합니다.</a:t>
            </a:r>
          </a:p>
          <a:p xmlns:a="http://schemas.openxmlformats.org/drawingml/2006/main">
            <a:r>
              <a:t/>
            </a:r>
          </a:p>
          <a:p xmlns:a="http://schemas.openxmlformats.org/drawingml/2006/main">
            <a:r>
              <a:t>**헷갈리는 경우.** SyntaxError는 Python이 코드를 문장으로 읽지 못했다는 단서입니다. 화면 전체를 지우거나 Python을 재설치하기 전에 마지막 오류 종류와 해당 줄, 바로 앞 줄의 따옴표·괄호를 확인합니다.</a:t>
            </a:r>
          </a:p>
          <a:p xmlns:a="http://schemas.openxmlformats.org/drawingml/2006/main">
            <a:r>
              <a:t/>
            </a:r>
          </a:p>
          <a:p xmlns:a="http://schemas.openxmlformats.org/drawingml/2006/main">
            <a:r>
              <a:t>### 제공 입력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사례 1: 편집기 탭에는 work/A02_print.py, 터미널 명령은 python -X utf8 code/A02_print.py.</a:t>
            </a:r>
          </a:p>
          <a:p xmlns:a="http://schemas.openxmlformats.org/drawingml/2006/main">
            <a:r>
              <a:t>사례 2: print("점검 시작) → SyntaxError.</a:t>
            </a:r>
          </a:p>
          <a:p xmlns:a="http://schemas.openxmlformats.org/drawingml/2006/main">
            <a:r>
              <a:t>사례 3: print("점검 시작")를 고쳤지만 저장 표시가 남아 있음.</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세 사례에서 보이는 사실과 추정 원인을 다른 칸에 적습니다.</a:t>
            </a:r>
          </a:p>
          <a:p xmlns:a="http://schemas.openxmlformats.org/drawingml/2006/main">
            <a:r>
              <a:t>2. 각 사례의 다음 확인 동작을 하나만 고릅니다.</a:t>
            </a:r>
          </a:p>
          <a:p xmlns:a="http://schemas.openxmlformats.org/drawingml/2006/main">
            <a:r>
              <a:t>3. 잘못된 따옴표 코드를 종이에 고친 뒤 괄호와 따옴표의 짝을 표시합니다.</a:t>
            </a:r>
          </a:p>
          <a:p xmlns:a="http://schemas.openxmlformats.org/drawingml/2006/main">
            <a:r>
              <a:t>4. 작업본 저장 후 동일 경로를 실행하는 순서를 네 단계로 작성합니다.</a:t>
            </a:r>
          </a:p>
          <a:p xmlns:a="http://schemas.openxmlformats.org/drawingml/2006/main">
            <a:r>
              <a:t/>
            </a:r>
          </a:p>
          <a:p xmlns:a="http://schemas.openxmlformats.org/drawingml/2006/main">
            <a:r>
              <a:t>예상 결과: 다른 파일 실행·닫는 따옴표 누락·미저장 가능성을 각각 구별합니다.</a:t>
            </a:r>
          </a:p>
          <a:p xmlns:a="http://schemas.openxmlformats.org/drawingml/2006/main">
            <a:r>
              <a:t/>
            </a:r>
          </a:p>
          <a:p xmlns:a="http://schemas.openxmlformats.org/drawingml/2006/main">
            <a:r>
              <a:t>확인 질문: 오류 줄 번호가 마지막 줄을 가리키면 그 줄만 보면 충분할까요?</a:t>
            </a:r>
          </a:p>
          <a:p xmlns:a="http://schemas.openxmlformats.org/drawingml/2006/main">
            <a:r>
              <a:t/>
            </a:r>
          </a:p>
          <a:p xmlns:a="http://schemas.openxmlformats.org/drawingml/2006/main">
            <a:r>
              <a:t>막혔을 때: 오류 메시지를 해석하기 어렵다면 명령, 실행 파일 경로, 오류 마지막 줄을 그대로 기록해 강사에게 보여 줍니다. 비슷한 문구로 요약해 단서를 잃지 않습니다.</a:t>
            </a:r>
          </a:p>
          <a:p xmlns:a="http://schemas.openxmlformats.org/drawingml/2006/main">
            <a:r>
              <a:t/>
            </a:r>
          </a:p>
          <a:p xmlns:a="http://schemas.openxmlformats.org/drawingml/2006/main">
            <a:r>
              <a:t>[활동 자료와 작성칸](practice-guide.md#a03--저장실행-순서와-오류-단서)에서 A03를 엽니다.</a:t>
            </a:r>
          </a:p>
          <a:p xmlns:a="http://schemas.openxmlformats.org/drawingml/2006/main">
            <a:r>
              <a:t/>
            </a:r>
          </a:p>
          <a:p xmlns:a="http://schemas.openxmlformats.org/drawingml/2006/main">
            <a:r>
              <a:t># 2구간 · 값에 이름 붙이기</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폴더가 현재 위치입니다. 첫 줄은 원본 실행이고 work/A02_print.py를 고쳤다면 work 경로로 실행합니다. Windows 제작 가정이며 다른 운영체제에서는 강사 안내를 따릅니다.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A03 상세 원문]</a:t>
            </a:r>
          </a:p>
          <a:p xmlns:a="http://schemas.openxmlformats.org/drawingml/2006/main">
            <a:r>
              <a:t>**개념.** 편집기의 변경 내용은 저장하기 전까지 파일에 반영되지 않을 수 있습니다. 실행 명령은 디스크에 저장된 특정 파일을 읽습니다. 터미널은 명령을 입력하고 실행 결과를 보는 창이며 코드 편집기와 역할이 다릅니다.</a:t>
            </a:r>
          </a:p>
          <a:p xmlns:a="http://schemas.openxmlformats.org/drawingml/2006/main">
            <a:r>
              <a:t/>
            </a:r>
          </a:p>
          <a:p xmlns:a="http://schemas.openxmlformats.org/drawingml/2006/main">
            <a:r>
              <a:t>**왜 필요한가.** 같은 이름의 원본과 작업본이 있을 때 다른 파일을 실행하면 수정한 문구가 나오지 않습니다. 재실행을 반복하기 전에 파일 경로와 저장 여부를 확인하면 원인을 좁힐 수 있습니다.</a:t>
            </a:r>
          </a:p>
          <a:p xmlns:a="http://schemas.openxmlformats.org/drawingml/2006/main">
            <a:r>
              <a:t/>
            </a:r>
          </a:p>
          <a:p xmlns:a="http://schemas.openxmlformats.org/drawingml/2006/main">
            <a:r>
              <a:t>**함께 보는 예.** 작업본에는 새 문구가 보이지만 code/A02_print.py를 실행했다면 원본 문구가 나오는 것이 자연스럽습니다. 명령 끝의 경로를 work/A02_print.py로 맞춰야 작업본을 실행합니다.</a:t>
            </a:r>
          </a:p>
          <a:p xmlns:a="http://schemas.openxmlformats.org/drawingml/2006/main">
            <a:r>
              <a:t/>
            </a:r>
          </a:p>
          <a:p xmlns:a="http://schemas.openxmlformats.org/drawingml/2006/main">
            <a:r>
              <a:t>**헷갈리는 경우.** SyntaxError는 Python이 코드를 문장으로 읽지 못했다는 단서입니다. 화면 전체를 지우거나 Python을 재설치하기 전에 마지막 오류 종류와 해당 줄, 바로 앞 줄의 따옴표·괄호를 확인합니다.</a:t>
            </a:r>
          </a:p>
          <a:p xmlns:a="http://schemas.openxmlformats.org/drawingml/2006/main">
            <a:r>
              <a:t/>
            </a:r>
          </a:p>
          <a:p xmlns:a="http://schemas.openxmlformats.org/drawingml/2006/main">
            <a:r>
              <a:t>### 제공 입력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사례 1: 편집기 탭에는 work/A02_print.py, 터미널 명령은 python -X utf8 code/A02_print.py.</a:t>
            </a:r>
          </a:p>
          <a:p xmlns:a="http://schemas.openxmlformats.org/drawingml/2006/main">
            <a:r>
              <a:t>사례 2: print("점검 시작) → SyntaxError.</a:t>
            </a:r>
          </a:p>
          <a:p xmlns:a="http://schemas.openxmlformats.org/drawingml/2006/main">
            <a:r>
              <a:t>사례 3: print("점검 시작")를 고쳤지만 저장 표시가 남아 있음.</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세 사례에서 보이는 사실과 추정 원인을 다른 칸에 적습니다.</a:t>
            </a:r>
          </a:p>
          <a:p xmlns:a="http://schemas.openxmlformats.org/drawingml/2006/main">
            <a:r>
              <a:t>2. 각 사례의 다음 확인 동작을 하나만 고릅니다.</a:t>
            </a:r>
          </a:p>
          <a:p xmlns:a="http://schemas.openxmlformats.org/drawingml/2006/main">
            <a:r>
              <a:t>3. 잘못된 따옴표 코드를 종이에 고친 뒤 괄호와 따옴표의 짝을 표시합니다.</a:t>
            </a:r>
          </a:p>
          <a:p xmlns:a="http://schemas.openxmlformats.org/drawingml/2006/main">
            <a:r>
              <a:t>4. 작업본 저장 후 동일 경로를 실행하는 순서를 네 단계로 작성합니다.</a:t>
            </a:r>
          </a:p>
          <a:p xmlns:a="http://schemas.openxmlformats.org/drawingml/2006/main">
            <a:r>
              <a:t/>
            </a:r>
          </a:p>
          <a:p xmlns:a="http://schemas.openxmlformats.org/drawingml/2006/main">
            <a:r>
              <a:t>예상 결과: 다른 파일 실행·닫는 따옴표 누락·미저장 가능성을 각각 구별합니다.</a:t>
            </a:r>
          </a:p>
          <a:p xmlns:a="http://schemas.openxmlformats.org/drawingml/2006/main">
            <a:r>
              <a:t/>
            </a:r>
          </a:p>
          <a:p xmlns:a="http://schemas.openxmlformats.org/drawingml/2006/main">
            <a:r>
              <a:t>확인 질문: 오류 줄 번호가 마지막 줄을 가리키면 그 줄만 보면 충분할까요?</a:t>
            </a:r>
          </a:p>
          <a:p xmlns:a="http://schemas.openxmlformats.org/drawingml/2006/main">
            <a:r>
              <a:t/>
            </a:r>
          </a:p>
          <a:p xmlns:a="http://schemas.openxmlformats.org/drawingml/2006/main">
            <a:r>
              <a:t>막혔을 때: 오류 메시지를 해석하기 어렵다면 명령, 실행 파일 경로, 오류 마지막 줄을 그대로 기록해 강사에게 보여 줍니다. 비슷한 문구로 요약해 단서를 잃지 않습니다.</a:t>
            </a:r>
          </a:p>
          <a:p xmlns:a="http://schemas.openxmlformats.org/drawingml/2006/main">
            <a:r>
              <a:t/>
            </a:r>
          </a:p>
          <a:p xmlns:a="http://schemas.openxmlformats.org/drawingml/2006/main">
            <a:r>
              <a:t>[활동 자료와 작성칸](practice-guide.md#a03--저장실행-순서와-오류-단서)에서 A03를 엽니다.</a:t>
            </a:r>
          </a:p>
          <a:p xmlns:a="http://schemas.openxmlformats.org/drawingml/2006/main">
            <a:r>
              <a:t/>
            </a:r>
          </a:p>
          <a:p xmlns:a="http://schemas.openxmlformats.org/drawingml/2006/main">
            <a:r>
              <a:t># 2구간 · 값에 이름 붙이기</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필수 개념 설명의 보충입니다.</a:t>
            </a:r>
          </a:p>
          <a:p xmlns:a="http://schemas.openxmlformats.org/drawingml/2006/main">
            <a:r>
              <a:t>접수 담당자가 안내 문구를 ‘오늘 접수’에서 ‘예약 접수’로 고쳤는데 실행 화면에는 여전히 이전 문구가 나옵니다. 컴퓨터가 마음대로 문구를 바꾼 것이 아닐 수 있습니다. 편집기에 보이는 글, 디스크에 저장된 파일, 그 파일을 실행해 얻은 화면은 서로 다른 상태입니다. 종이에 작성 중인 신청서와 제출한 사본과 처리 결과를 구별하는 것처럼 세 상태를 순서대로 확인합니다. 저장 전 편집 내용은 실행 대상 파일에 아직 반영되지 않았을 수 있습니다.</a:t>
            </a:r>
          </a:p>
          <a:p xmlns:a="http://schemas.openxmlformats.org/drawingml/2006/main">
            <a:r>
              <a:t/>
            </a:r>
          </a:p>
          <a:p xmlns:a="http://schemas.openxmlformats.org/drawingml/2006/main">
            <a:r>
              <a:t>폴더는 파일을 모은 위치이고 경로는 특정 파일까지 가는 주소입니다. course 안의 code는 완성 예제, work는 학생 작업본으로 사용합니다. 둘 다 notice.py라는 이름이어도 주소가 다르면 다른 파일입니다. .py는 Python 명령을 담은 파일의 확장자입니다. 텍스트 편집기로 내용을 읽는 일은 실행이 아닙니다. 실행은 터미널에서 Python에게 파일 주소를 주고 명령을 처리하도록 요청하는 행동입니다. 명령 뒤 화면에 나온 문구는 출력이며 파일 내용과 역할이 다릅니다.</a:t>
            </a:r>
          </a:p>
          <a:p xmlns:a="http://schemas.openxmlformats.org/drawingml/2006/main">
            <a:r>
              <a:t/>
            </a:r>
          </a:p>
          <a:p xmlns:a="http://schemas.openxmlformats.org/drawingml/2006/main">
            <a:r>
              <a:t>추적표의 완성 예를 봅니다. work/notice.py를 열어 문구 수정 → 저장 → course 폴더의 터미널에서 work/notice.py를 실행 → 예약 접수 출력 순서입니다. 수정하고 code/notice.py를 실행했다면 원본의 오늘 접수가 나올 수 있습니다. 저장하지 않았다면 work를 실행해도 이전 내용이 나올 수 있습니다. 실행 파일 주소와 저장 여부를 각각 확인하므로 같은 증상이 같은 원인이라고 단정하지 않습니다. 오류가 나면 입력 명령과 파일 이름을 그대로 남기고 파일 확장명이 .py.txt인지도 확인합니다. 개인 실행이 준비되지 않았다면 세 상태 그림과 예상 결과를 종이에 작성합니다.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보강 단원의 완성 추적 예입니다. 세부 이유와 경계 조건은 아래 원고를 설명합니다.</a:t>
            </a:r>
          </a:p>
          <a:p xmlns:a="http://schemas.openxmlformats.org/drawingml/2006/main">
            <a:r>
              <a:t>접수 담당자가 안내 문구를 ‘오늘 접수’에서 ‘예약 접수’로 고쳤는데 실행 화면에는 여전히 이전 문구가 나옵니다. 컴퓨터가 마음대로 문구를 바꾼 것이 아닐 수 있습니다. 편집기에 보이는 글, 디스크에 저장된 파일, 그 파일을 실행해 얻은 화면은 서로 다른 상태입니다. 종이에 작성 중인 신청서와 제출한 사본과 처리 결과를 구별하는 것처럼 세 상태를 순서대로 확인합니다. 저장 전 편집 내용은 실행 대상 파일에 아직 반영되지 않았을 수 있습니다.</a:t>
            </a:r>
          </a:p>
          <a:p xmlns:a="http://schemas.openxmlformats.org/drawingml/2006/main">
            <a:r>
              <a:t/>
            </a:r>
          </a:p>
          <a:p xmlns:a="http://schemas.openxmlformats.org/drawingml/2006/main">
            <a:r>
              <a:t>폴더는 파일을 모은 위치이고 경로는 특정 파일까지 가는 주소입니다. course 안의 code는 완성 예제, work는 학생 작업본으로 사용합니다. 둘 다 notice.py라는 이름이어도 주소가 다르면 다른 파일입니다. .py는 Python 명령을 담은 파일의 확장자입니다. 텍스트 편집기로 내용을 읽는 일은 실행이 아닙니다. 실행은 터미널에서 Python에게 파일 주소를 주고 명령을 처리하도록 요청하는 행동입니다. 명령 뒤 화면에 나온 문구는 출력이며 파일 내용과 역할이 다릅니다.</a:t>
            </a:r>
          </a:p>
          <a:p xmlns:a="http://schemas.openxmlformats.org/drawingml/2006/main">
            <a:r>
              <a:t/>
            </a:r>
          </a:p>
          <a:p xmlns:a="http://schemas.openxmlformats.org/drawingml/2006/main">
            <a:r>
              <a:t>추적표의 완성 예를 봅니다. work/notice.py를 열어 문구 수정 → 저장 → course 폴더의 터미널에서 work/notice.py를 실행 → 예약 접수 출력 순서입니다. 수정하고 code/notice.py를 실행했다면 원본의 오늘 접수가 나올 수 있습니다. 저장하지 않았다면 work를 실행해도 이전 내용이 나올 수 있습니다. 실행 파일 주소와 저장 여부를 각각 확인하므로 같은 증상이 같은 원인이라고 단정하지 않습니다. 오류가 나면 입력 명령과 파일 이름을 그대로 남기고 파일 확장명이 .py.txt인지도 확인합니다. 개인 실행이 준비되지 않았다면 세 상태 그림과 예상 결과를 종이에 작성합니다.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복습·도전: 편집기는 work/check.py에 ‘검사 B’를 보여 줍니다. 실행 명령은 code/check.py를 가리키고 출력은 ‘검사 A’입니다. 확인된 사실 세 가지와 다음 확인 동작 두 가지를 적으세요. 새 설치나 임의 파일 삭제는 필요하지 않습니다.</a:t>
            </a:r>
          </a:p>
          <a:p xmlns:a="http://schemas.openxmlformats.org/drawingml/2006/main">
            <a:r>
              <a:t/>
            </a:r>
          </a:p>
          <a:p xmlns:a="http://schemas.openxmlformats.org/drawingml/2006/main">
            <a:r>
              <a:t>학생이 독립적으로 답을 만든 뒤 다음 슬라이드로 넘어갑니다. 필수 수행에 이 문제 전체를 억지로 포함하지 않습니다.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편집 경로·실행 경로가 다르며 화면 출력은 A입니다. work 파일을 저장했는지 확인하고 같은 work 주소를 실행합니다. 파일이 다르다는 증거는 있지만 저장 여부는 아직 미확인입니다. ‘Python 고장’은 증거 없는 원인 단정입니다.</a:t>
            </a:r>
          </a:p>
          <a:p xmlns:a="http://schemas.openxmlformats.org/drawingml/2006/main">
            <a:r>
              <a:t/>
            </a:r>
          </a:p>
          <a:p xmlns:a="http://schemas.openxmlformats.org/drawingml/2006/main">
            <a:r>
              <a:t>핵심 질문과 해설:</a:t>
            </a:r>
          </a:p>
          <a:p xmlns:a="http://schemas.openxmlformats.org/drawingml/2006/main">
            <a:r>
              <a:t>저장과 실행은 같은 행동인가요? 저장은 파일 내용을 남기고 실행은 그 파일의 명령을 처리합니다.</a:t>
            </a:r>
          </a:p>
          <a:p xmlns:a="http://schemas.openxmlformats.org/drawingml/2006/main">
            <a:r>
              <a:t>파일 이름만 같으면 같은 파일인가요? 폴더까지 포함한 경로가 같아야 같은 대상을 찾습니다.</a:t>
            </a:r>
          </a:p>
          <a:p xmlns:a="http://schemas.openxmlformats.org/drawingml/2006/main">
            <a:r>
              <a:t>설치 실패면 개념도 틀린가요? 환경 준비와 파일·실행 개념의 이해는 따로 확인합니다.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A02 상세 원문]</a:t>
            </a:r>
          </a:p>
          <a:p xmlns:a="http://schemas.openxmlformats.org/drawingml/2006/main">
            <a:r>
              <a:t>**개념.** print는 전달받은 값을 화면에 보여 주는 기본 함수입니다. 함수라는 말은 우선 이름 붙은 일을 호출하는 도구로 이해합니다. 괄호 안에 보여 줄 내용을 넣고, 문자열은 따옴표로 감쌉니다.</a:t>
            </a:r>
          </a:p>
          <a:p xmlns:a="http://schemas.openxmlformats.org/drawingml/2006/main">
            <a:r>
              <a:t/>
            </a:r>
          </a:p>
          <a:p xmlns:a="http://schemas.openxmlformats.org/drawingml/2006/main">
            <a:r>
              <a:t>**왜 필요한가.** 짧은 출력을 직접 바꾸면 편집한 내용이 실행에 반영되는 과정을 볼 수 있습니다. 복잡한 프로그램을 만들기 전에 실행 통로를 확인하는 작은 성공 기준입니다.</a:t>
            </a:r>
          </a:p>
          <a:p xmlns:a="http://schemas.openxmlformats.org/drawingml/2006/main">
            <a:r>
              <a:t/>
            </a:r>
          </a:p>
          <a:p xmlns:a="http://schemas.openxmlformats.org/drawingml/2006/main">
            <a:r>
              <a:t>**함께 보는 예.** 첫 줄의 # 뒤 문장은 사람이 읽는 설명인 주석입니다. Python은 이 주석을 실행하지 않습니다. 따옴표 안의 #는 글자의 일부이므로 주석이 아니라는 점도 비교합니다.</a:t>
            </a:r>
          </a:p>
          <a:p xmlns:a="http://schemas.openxmlformats.org/drawingml/2006/main">
            <a:r>
              <a:t/>
            </a:r>
          </a:p>
          <a:p xmlns:a="http://schemas.openxmlformats.org/drawingml/2006/main">
            <a:r>
              <a:t>**헷갈리는 경우.** print라는 이름을 Print로 쓰면 같은 도구가 아닙니다. 큰따옴표는 키보드로 입력하는 곧은 따옴표이며 문서 편집기의 장식 따옴표로 바꾸면 문법 문제가 생길 수 있습니다.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 화면에 수업 시작을 표시합니다.</a:t>
            </a:r>
          </a:p>
          <a:p xmlns:a="http://schemas.openxmlformats.org/drawingml/2006/main">
            <a:r>
              <a:t>print("Python 점검 시작")</a:t>
            </a:r>
          </a:p>
          <a:p xmlns:a="http://schemas.openxmlformats.org/drawingml/2006/main">
            <a:r>
              <a:t>print("S01", 22.5)</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 화면에 수업 시작을 표시합니다.` | 사람을 위한 설명이며 실행 결과를 만들지 않습니다. |</a:t>
            </a:r>
          </a:p>
          <a:p xmlns:a="http://schemas.openxmlformats.org/drawingml/2006/main">
            <a:r>
              <a:t>| 2 | `print("Python 점검 시작")` | 문자열 한 개를 화면에 보여 줍니다. |</a:t>
            </a:r>
          </a:p>
          <a:p xmlns:a="http://schemas.openxmlformats.org/drawingml/2006/main">
            <a:r>
              <a:t>| 3 | `print("S01", 22.5)` | 문자열과 숫자를 쉼표로 나누어 한 줄에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code/A02_print.py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work/A02_print.py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점검 시작</a:t>
            </a:r>
          </a:p>
          <a:p xmlns:a="http://schemas.openxmlformats.org/drawingml/2006/main">
            <a:r>
              <a:t>S01 22.5</a:t>
            </a:r>
          </a:p>
          <a:p xmlns:a="http://schemas.openxmlformats.org/drawingml/2006/main">
            <a:r>
              <a:t>```</a:t>
            </a:r>
          </a:p>
          <a:p xmlns:a="http://schemas.openxmlformats.org/drawingml/2006/main">
            <a:r>
              <a:t/>
            </a:r>
          </a:p>
          <a:p xmlns:a="http://schemas.openxmlformats.org/drawingml/2006/main">
            <a:r>
              <a:t>작은 수정: `Python 점검 시작`를 `오늘의 점검 시작`로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오늘의 점검 시작</a:t>
            </a:r>
          </a:p>
          <a:p xmlns:a="http://schemas.openxmlformats.org/drawingml/2006/main">
            <a:r>
              <a:t>S01 22.5</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work/A02_print.py를 텍스트 편집기로 엽니다.</a:t>
            </a:r>
          </a:p>
          <a:p xmlns:a="http://schemas.openxmlformats.org/drawingml/2006/main">
            <a:r>
              <a:t>2. 수정 전 출력 두 줄을 예상해 노트에 씁니다.</a:t>
            </a:r>
          </a:p>
          <a:p xmlns:a="http://schemas.openxmlformats.org/drawingml/2006/main">
            <a:r>
              <a:t>3. 첫 안내 문구를 ‘오늘의 점검 시작’으로 바꾸고 저장합니다.</a:t>
            </a:r>
          </a:p>
          <a:p xmlns:a="http://schemas.openxmlformats.org/drawingml/2006/main">
            <a:r>
              <a:t>4. course 폴더의 터미널에서 python -X utf8 work/A02_print.py를 실행하고 예상과 대조합니다.</a:t>
            </a:r>
          </a:p>
          <a:p xmlns:a="http://schemas.openxmlformats.org/drawingml/2006/main">
            <a:r>
              <a:t/>
            </a:r>
          </a:p>
          <a:p xmlns:a="http://schemas.openxmlformats.org/drawingml/2006/main">
            <a:r>
              <a:t>예상 결과: 첫 안내 문구만 바뀌며 둘째 줄 S01 22.5는 유지됩니다.</a:t>
            </a:r>
          </a:p>
          <a:p xmlns:a="http://schemas.openxmlformats.org/drawingml/2006/main">
            <a:r>
              <a:t/>
            </a:r>
          </a:p>
          <a:p xmlns:a="http://schemas.openxmlformats.org/drawingml/2006/main">
            <a:r>
              <a:t>확인 질문: 주석의 문구만 바꾸면 출력은 달라질까요?</a:t>
            </a:r>
          </a:p>
          <a:p xmlns:a="http://schemas.openxmlformats.org/drawingml/2006/main">
            <a:r>
              <a:t/>
            </a:r>
          </a:p>
          <a:p xmlns:a="http://schemas.openxmlformats.org/drawingml/2006/main">
            <a:r>
              <a:t>막혔을 때: python을 찾지 못하면 설치를 혼자 진행하지 말고 강사에게 환경을 확인합니다. 그동안 제공된 출력과 수정안을 비교하고 개인 실행 미완료를 표시합니다.</a:t>
            </a:r>
          </a:p>
          <a:p xmlns:a="http://schemas.openxmlformats.org/drawingml/2006/main">
            <a:r>
              <a:t/>
            </a:r>
          </a:p>
          <a:p xmlns:a="http://schemas.openxmlformats.org/drawingml/2006/main">
            <a:r>
              <a:t>[활동 자료와 작성칸](practice-guide.md#a02--첫-출력과-주석)에서 A02를 엽니다.</a:t>
            </a:r>
          </a:p>
          <a:p xmlns:a="http://schemas.openxmlformats.org/drawingml/2006/main">
            <a:r>
              <a:t/>
            </a:r>
          </a:p>
          <a:p xmlns:a="http://schemas.openxmlformats.org/drawingml/2006/main">
            <a:r>
              <a:t>### Windows · 처음 실행할 위치 만들기</a:t>
            </a:r>
          </a:p>
          <a:p xmlns:a="http://schemas.openxmlformats.org/drawingml/2006/main">
            <a:r>
              <a:t/>
            </a:r>
          </a:p>
          <a:p xmlns:a="http://schemas.openxmlformats.org/drawingml/2006/main">
            <a:r>
              <a:t>제작 가정: Windows 탐색기와 PowerShell을 사용합니다. 다른 OS는 강사의 해당 환경 안내를 따릅니다. 설치 문제는 개념 평가와 따로 기록합니다.</a:t>
            </a:r>
          </a:p>
          <a:p xmlns:a="http://schemas.openxmlformats.org/drawingml/2006/main">
            <a:r>
              <a:t/>
            </a:r>
          </a:p>
          <a:p xmlns:a="http://schemas.openxmlformats.org/drawingml/2006/main">
            <a:r>
              <a:t>1. 예제 ZIP을 우클릭 → **모두 추출** → **추출**합니다. ZIP 안을 보는 창에서 실행하지 않습니다.</a:t>
            </a:r>
          </a:p>
          <a:p xmlns:a="http://schemas.openxmlformats.org/drawingml/2006/main">
            <a:r>
              <a:t>2. 탐색기로 압축을 푼 곳의 `course` 폴더를 엽니다. 안에 `data`, `code`, `work` 세 폴더가 실제로 보이는지 확인합니다. 폴더가 한 겹 더 있으면 그 안으로 들어갑니다.</a:t>
            </a:r>
          </a:p>
          <a:p xmlns:a="http://schemas.openxmlformats.org/drawingml/2006/main">
            <a:r>
              <a:t>3. 탐색기 위 주소 표시줄을 클릭해 `powershell`을 입력하고 Enter를 누릅니다. 현재 폴더에서 PowerShell 창이 열립니다. 편집기에서 파일을 연 것만으로 실행 위치가 정해지지는 않습니다.</a:t>
            </a:r>
          </a:p>
          <a:p xmlns:a="http://schemas.openxmlformats.org/drawingml/2006/main">
            <a:r>
              <a:t>4. 아래 명령을 한 줄씩 입력하고 Enter를 누릅니다. 앞의 `PS ...&gt;` 문구는 입력하지 않습니다.</a:t>
            </a:r>
          </a:p>
          <a:p xmlns:a="http://schemas.openxmlformats.org/drawingml/2006/main">
            <a:r>
              <a:t/>
            </a:r>
          </a:p>
          <a:p xmlns:a="http://schemas.openxmlformats.org/drawingml/2006/main">
            <a:r>
              <a:t>```powershell</a:t>
            </a:r>
          </a:p>
          <a:p xmlns:a="http://schemas.openxmlformats.org/drawingml/2006/main">
            <a:r>
              <a:t>Get-Location</a:t>
            </a:r>
          </a:p>
          <a:p xmlns:a="http://schemas.openxmlformats.org/drawingml/2006/main">
            <a:r>
              <a:t>Get-ChildItem -Directory</a:t>
            </a:r>
          </a:p>
          <a:p xmlns:a="http://schemas.openxmlformats.org/drawingml/2006/main">
            <a:r>
              <a:t>Test-Path .\work\A02_print.py</a:t>
            </a:r>
          </a:p>
          <a:p xmlns:a="http://schemas.openxmlformats.org/drawingml/2006/main">
            <a:r>
              <a:t>```</a:t>
            </a:r>
          </a:p>
          <a:p xmlns:a="http://schemas.openxmlformats.org/drawingml/2006/main">
            <a:r>
              <a:t/>
            </a:r>
          </a:p>
          <a:p xmlns:a="http://schemas.openxmlformats.org/drawingml/2006/main">
            <a:r>
              <a:t>`Get-Location`은 지금 실행할 폴더의 실제 경로를 보여 줍니다. 끝이 `course`인지 확인합니다. `Get-ChildItem` 목록에는 `data`, `code`, `work`가 보여야 합니다. 마지막 명령은 파일이 있는지 확인하며 정상 결과는 `True`입니다. 내 실제 경로: _____ / 확인 결과: _____.</a:t>
            </a:r>
          </a:p>
          <a:p xmlns:a="http://schemas.openxmlformats.org/drawingml/2006/main">
            <a:r>
              <a:t/>
            </a:r>
          </a:p>
          <a:p xmlns:a="http://schemas.openxmlformats.org/drawingml/2006/main">
            <a:r>
              <a:t>5. `work/A02_print.py` 첫 print 문구를 `오늘의 점검 시작`으로 고치고 저장합니다. 같은 PowerShell 창에서 실행합니다.</a:t>
            </a:r>
          </a:p>
          <a:p xmlns:a="http://schemas.openxmlformats.org/drawingml/2006/main">
            <a:r>
              <a:t/>
            </a:r>
          </a:p>
          <a:p xmlns:a="http://schemas.openxmlformats.org/drawingml/2006/main">
            <a:r>
              <a:t>```powershell</a:t>
            </a:r>
          </a:p>
          <a:p xmlns:a="http://schemas.openxmlformats.org/drawingml/2006/main">
            <a:r>
              <a:t>python -X utf8 work/A02_print.py</a:t>
            </a:r>
          </a:p>
          <a:p xmlns:a="http://schemas.openxmlformats.org/drawingml/2006/main">
            <a:r>
              <a:t>```</a:t>
            </a:r>
          </a:p>
          <a:p xmlns:a="http://schemas.openxmlformats.org/drawingml/2006/main">
            <a:r>
              <a:t/>
            </a:r>
          </a:p>
          <a:p xmlns:a="http://schemas.openxmlformats.org/drawingml/2006/main">
            <a:r>
              <a:t>예상 두 줄은 다음과 같습니다.</a:t>
            </a:r>
          </a:p>
          <a:p xmlns:a="http://schemas.openxmlformats.org/drawingml/2006/main">
            <a:r>
              <a:t/>
            </a:r>
          </a:p>
          <a:p xmlns:a="http://schemas.openxmlformats.org/drawingml/2006/main">
            <a:r>
              <a:t>```text</a:t>
            </a:r>
          </a:p>
          <a:p xmlns:a="http://schemas.openxmlformats.org/drawingml/2006/main">
            <a:r>
              <a:t>오늘의 점검 시작</a:t>
            </a:r>
          </a:p>
          <a:p xmlns:a="http://schemas.openxmlformats.org/drawingml/2006/main">
            <a:r>
              <a:t>S01 22.5</a:t>
            </a:r>
          </a:p>
          <a:p xmlns:a="http://schemas.openxmlformats.org/drawingml/2006/main">
            <a:r>
              <a:t>```</a:t>
            </a:r>
          </a:p>
          <a:p xmlns:a="http://schemas.openxmlformats.org/drawingml/2006/main">
            <a:r>
              <a:t/>
            </a:r>
          </a:p>
          <a:p xmlns:a="http://schemas.openxmlformats.org/drawingml/2006/main">
            <a:r>
              <a:t>- `False`, `can't open file`, `No such file`: 실제 폴더를 탐색기로 다시 열고 2~4단계를 반복합니다. 파일 이름이 `.py.txt`가 아닌지 탐색기의 **보기 → 표시 → 파일 확장명**에서 확인합니다.</a:t>
            </a:r>
          </a:p>
          <a:p xmlns:a="http://schemas.openxmlformats.org/drawingml/2006/main">
            <a:r>
              <a:t>- 첫 줄이 `Python 점검 시작`: 수정 파일을 저장했는지, 실행 명령이 `code/`가 아닌 `work/`를 가리키는지 확인합니다.</a:t>
            </a:r>
          </a:p>
          <a:p xmlns:a="http://schemas.openxmlformats.org/drawingml/2006/main">
            <a:r>
              <a:t>- `python`을 찾지 못하거나 Store 안내가 뜸: 강사에게 설치 상태를 확인받습니다. 설치를 혼자 진행하지 말고 예상·제공 출력 비교로 합류하고 **개인 실행 미완료**를 적습니다.</a:t>
            </a:r>
          </a:p>
          <a:p xmlns:a="http://schemas.openxmlformats.org/drawingml/2006/main">
            <a:r>
              <a:t/>
            </a:r>
          </a:p>
          <a:p xmlns:a="http://schemas.openxmlformats.org/drawingml/2006/main">
            <a:r>
              <a:t>실행 위치 확인 → 파일 저장 → 명령 입력 → 실제 출력 기록을 서로 다른 행동으로 확인합니다.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문장:</a:t>
            </a:r>
          </a:p>
          <a:p xmlns:a="http://schemas.openxmlformats.org/drawingml/2006/main">
            <a:r>
              <a:t>열기·저장·실행은 서로 다른 행동입니다.</a:t>
            </a:r>
          </a:p>
          <a:p xmlns:a="http://schemas.openxmlformats.org/drawingml/2006/main">
            <a:r>
              <a:t>원본과 작업본의 경로를 구별합니다.</a:t>
            </a:r>
          </a:p>
          <a:p xmlns:a="http://schemas.openxmlformats.org/drawingml/2006/main">
            <a:r>
              <a:t>환경 실패를 개념 실패로 처리하지 않습니다.</a:t>
            </a:r>
          </a:p>
          <a:p xmlns:a="http://schemas.openxmlformats.org/drawingml/2006/main">
            <a:r>
              <a:t/>
            </a:r>
          </a:p>
          <a:p xmlns:a="http://schemas.openxmlformats.org/drawingml/2006/main">
            <a:r>
              <a:t>관련 교시의 상세 원문:</a:t>
            </a:r>
          </a:p>
          <a:p xmlns:a="http://schemas.openxmlformats.org/drawingml/2006/main">
            <a:r>
              <a:t>### 사례로 이해하기 · 편집 화면·저장 파일·실행 결과의 세 상태</a:t>
            </a:r>
          </a:p>
          <a:p xmlns:a="http://schemas.openxmlformats.org/drawingml/2006/main">
            <a:r>
              <a:t/>
            </a:r>
          </a:p>
          <a:p xmlns:a="http://schemas.openxmlformats.org/drawingml/2006/main">
            <a:r>
              <a:t>필수 설명 보충입니다. 강사 시연 → 함께 추적 → 예상과 실제 비교 → 자기 말로 설명 순서로 읽습니다. 아래 독립 문제는 복습·도전이며 기존 50분 필수 경로와 별도로 활용합니다.</a:t>
            </a:r>
          </a:p>
          <a:p xmlns:a="http://schemas.openxmlformats.org/drawingml/2006/main">
            <a:r>
              <a:t/>
            </a:r>
          </a:p>
          <a:p xmlns:a="http://schemas.openxmlformats.org/drawingml/2006/main">
            <a:r>
              <a:t>접수 담당자가 안내 문구를 ‘오늘 접수’에서 ‘예약 접수’로 고쳤는데 실행 화면에는 여전히 이전 문구가 나옵니다. 컴퓨터가 마음대로 문구를 바꾼 것이 아닐 수 있습니다. 편집기에 보이는 글, 디스크에 저장된 파일, 그 파일을 실행해 얻은 화면은 서로 다른 상태입니다. 종이에 작성 중인 신청서와 제출한 사본과 처리 결과를 구별하는 것처럼 세 상태를 순서대로 확인합니다. 저장 전 편집 내용은 실행 대상 파일에 아직 반영되지 않았을 수 있습니다.</a:t>
            </a:r>
          </a:p>
          <a:p xmlns:a="http://schemas.openxmlformats.org/drawingml/2006/main">
            <a:r>
              <a:t/>
            </a:r>
          </a:p>
          <a:p xmlns:a="http://schemas.openxmlformats.org/drawingml/2006/main">
            <a:r>
              <a:t>폴더는 파일을 모은 위치이고 경로는 특정 파일까지 가는 주소입니다. course 안의 code는 완성 예제, work는 학생 작업본으로 사용합니다. 둘 다 notice.py라는 이름이어도 주소가 다르면 다른 파일입니다. .py는 Python 명령을 담은 파일의 확장자입니다. 텍스트 편집기로 내용을 읽는 일은 실행이 아닙니다. 실행은 터미널에서 Python에게 파일 주소를 주고 명령을 처리하도록 요청하는 행동입니다. 명령 뒤 화면에 나온 문구는 출력이며 파일 내용과 역할이 다릅니다.</a:t>
            </a:r>
          </a:p>
          <a:p xmlns:a="http://schemas.openxmlformats.org/drawingml/2006/main">
            <a:r>
              <a:t/>
            </a:r>
          </a:p>
          <a:p xmlns:a="http://schemas.openxmlformats.org/drawingml/2006/main">
            <a:r>
              <a:t>추적표의 완성 예를 봅니다. work/notice.py를 열어 문구 수정 → 저장 → course 폴더의 터미널에서 work/notice.py를 실행 → 예약 접수 출력 순서입니다. 수정하고 code/notice.py를 실행했다면 원본의 오늘 접수가 나올 수 있습니다. 저장하지 않았다면 work를 실행해도 이전 내용이 나올 수 있습니다. 실행 파일 주소와 저장 여부를 각각 확인하므로 같은 증상이 같은 원인이라고 단정하지 않습니다. 오류가 나면 입력 명령과 파일 이름을 그대로 남기고 파일 확장명이 .py.txt인지도 확인합니다. 개인 실행이 준비되지 않았다면 세 상태 그림과 예상 결과를 종이에 작성합니다.</a:t>
            </a:r>
          </a:p>
          <a:p xmlns:a="http://schemas.openxmlformats.org/drawingml/2006/main">
            <a:r>
              <a:t/>
            </a:r>
          </a:p>
          <a:p xmlns:a="http://schemas.openxmlformats.org/drawingml/2006/main">
            <a:r>
              <a:t>### 새 상황에 독립적으로 적용하기</a:t>
            </a:r>
          </a:p>
          <a:p xmlns:a="http://schemas.openxmlformats.org/drawingml/2006/main">
            <a:r>
              <a:t/>
            </a:r>
          </a:p>
          <a:p xmlns:a="http://schemas.openxmlformats.org/drawingml/2006/main">
            <a:r>
              <a:t>복습·도전: 편집기는 work/check.py에 ‘검사 B’를 보여 줍니다. 실행 명령은 code/check.py를 가리키고 출력은 ‘검사 A’입니다. 확인된 사실 세 가지와 다음 확인 동작 두 가지를 적으세요. 새 설치나 임의 파일 삭제는 필요하지 않습니다.</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편집 경로·실행 경로가 다르며 화면 출력은 A입니다. work 파일을 저장했는지 확인하고 같은 work 주소를 실행합니다. 파일이 다르다는 증거는 있지만 저장 여부는 아직 미확인입니다. ‘Python 고장’은 증거 없는 원인 단정입니다.</a:t>
            </a:r>
          </a:p>
          <a:p xmlns:a="http://schemas.openxmlformats.org/drawingml/2006/main">
            <a:r>
              <a:t/>
            </a:r>
          </a:p>
          <a:p xmlns:a="http://schemas.openxmlformats.org/drawingml/2006/main">
            <a:r>
              <a:t>### 핵심 세 질문과 해설</a:t>
            </a:r>
          </a:p>
          <a:p xmlns:a="http://schemas.openxmlformats.org/drawingml/2006/main">
            <a:r>
              <a:t/>
            </a:r>
          </a:p>
          <a:p xmlns:a="http://schemas.openxmlformats.org/drawingml/2006/main">
            <a:r>
              <a:t>1. **저장과 실행은 같은 행동인가요?** 저장은 파일 내용을 남기고 실행은 그 파일의 명령을 처리합니다.</a:t>
            </a:r>
          </a:p>
          <a:p xmlns:a="http://schemas.openxmlformats.org/drawingml/2006/main">
            <a:r>
              <a:t/>
            </a:r>
          </a:p>
          <a:p xmlns:a="http://schemas.openxmlformats.org/drawingml/2006/main">
            <a:r>
              <a:t>2. **파일 이름만 같으면 같은 파일인가요?** 폴더까지 포함한 경로가 같아야 같은 대상을 찾습니다.</a:t>
            </a:r>
          </a:p>
          <a:p xmlns:a="http://schemas.openxmlformats.org/drawingml/2006/main">
            <a:r>
              <a:t/>
            </a:r>
          </a:p>
          <a:p xmlns:a="http://schemas.openxmlformats.org/drawingml/2006/main">
            <a:r>
              <a:t>3. **설치 실패면 개념도 틀린가요?** 환경 준비와 파일·실행 개념의 이해는 따로 확인합니다.</a:t>
            </a:r>
          </a:p>
          <a:p xmlns:a="http://schemas.openxmlformats.org/drawingml/2006/main">
            <a:r>
              <a:t/>
            </a:r>
          </a:p>
          <a:p xmlns:a="http://schemas.openxmlformats.org/drawingml/2006/main">
            <a:r>
              <a:t/>
            </a:r>
          </a:p>
          <a:p xmlns:a="http://schemas.openxmlformats.org/drawingml/2006/main">
            <a:r>
              <a:t>**개념.** 프로그램은 입력으로 받은 값을 정해진 순서대로 처리하여 결과를 만드는 명령의 묶음입니다. 주문서를 받아 금액을 계산한 뒤 영수증을 쓰는 일과 비슷하지만, 컴퓨터는 작성자가 생략한 의도를 알아서 채우지 않습니다.</a:t>
            </a:r>
          </a:p>
          <a:p xmlns:a="http://schemas.openxmlformats.org/drawingml/2006/main">
            <a:r>
              <a:t/>
            </a:r>
          </a:p>
          <a:p xmlns:a="http://schemas.openxmlformats.org/drawingml/2006/main">
            <a:r>
              <a:t>**왜 필요한가.** 코드와 결과를 구별해야 어디를 고쳤고 무엇이 바뀌었는지 설명할 수 있습니다. .py는 Python 코드를 담는 파일의 확장자이며, 파일을 열어 읽는 행동과 실행하는 행동은 다릅니다.</a:t>
            </a:r>
          </a:p>
          <a:p xmlns:a="http://schemas.openxmlformats.org/drawingml/2006/main">
            <a:r>
              <a:t/>
            </a:r>
          </a:p>
          <a:p xmlns:a="http://schemas.openxmlformats.org/drawingml/2006/main">
            <a:r>
              <a:t>**함께 보는 예.** 10/8의 온도 22.5와 수업 기준 24.0을 입력이라고 해 봅니다. 두 수를 비교하는 것이 처리이고 ‘정상’이라는 표시가 출력입니다. 기준은 수업에서 만든 규칙이며 실제 장비 안전 판정이 아닙니다.</a:t>
            </a:r>
          </a:p>
          <a:p xmlns:a="http://schemas.openxmlformats.org/drawingml/2006/main">
            <a:r>
              <a:t/>
            </a:r>
          </a:p>
          <a:p xmlns:a="http://schemas.openxmlformats.org/drawingml/2006/main">
            <a:r>
              <a:t>**헷갈리는 경우.** 파일 이름을 result.py로 바꾼다고 결과 파일이 되지 않습니다. 내용을 읽어 명령인지 기록인지 확인해야 합니다. 화면에서 ‘정상’이라는 글자를 보았어도 어느 파일을 어떤 값으로 실행했는지 모르면 재현하기 어렵습니다.</a:t>
            </a:r>
          </a:p>
          <a:p xmlns:a="http://schemas.openxmlformats.org/drawingml/2006/main">
            <a:r>
              <a:t/>
            </a:r>
          </a:p>
          <a:p xmlns:a="http://schemas.openxmlformats.org/drawingml/2006/main">
            <a:r>
              <a:t>### 제공 입력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업무 카드: S01 온도 22.5℃, 기준 24.0℃. 기준보다 크면 ‘확인’, 아니면 ‘정상’. 파일 카드: code/A02_print.py, work/A02_print.py, 출력창.</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카드에서 입력 두 값과 처리 규칙을 밑줄로 구분합니다.</a:t>
            </a:r>
          </a:p>
          <a:p xmlns:a="http://schemas.openxmlformats.org/drawingml/2006/main">
            <a:r>
              <a:t>2. 예상 출력 한 단어와 그렇게 판단한 이유를 씁니다.</a:t>
            </a:r>
          </a:p>
          <a:p xmlns:a="http://schemas.openxmlformats.org/drawingml/2006/main">
            <a:r>
              <a:t>3. 원본 코드와 작업 코드의 폴더를 찾아 서로 다른 파일임을 표시합니다.</a:t>
            </a:r>
          </a:p>
          <a:p xmlns:a="http://schemas.openxmlformats.org/drawingml/2006/main">
            <a:r>
              <a:t>4. 코드 열기·저장·실행·출력을 자신의 말로 한 문장씩 설명합니다.</a:t>
            </a:r>
          </a:p>
          <a:p xmlns:a="http://schemas.openxmlformats.org/drawingml/2006/main">
            <a:r>
              <a:t/>
            </a:r>
          </a:p>
          <a:p xmlns:a="http://schemas.openxmlformats.org/drawingml/2006/main">
            <a:r>
              <a:t>예상 결과: 입력 22.5/24.0, 처리 &gt; 비교, 출력 정상. 파일을 여는 것과 실행하는 것을 구별합니다.</a:t>
            </a:r>
          </a:p>
          <a:p xmlns:a="http://schemas.openxmlformats.org/drawingml/2006/main">
            <a:r>
              <a:t/>
            </a:r>
          </a:p>
          <a:p xmlns:a="http://schemas.openxmlformats.org/drawingml/2006/main">
            <a:r>
              <a:t>확인 질문: 기준을 22.0으로 바꾸면 어느 단계의 값이 바뀌며 출력은 어떻게 될까요?</a:t>
            </a:r>
          </a:p>
          <a:p xmlns:a="http://schemas.openxmlformats.org/drawingml/2006/main">
            <a:r>
              <a:t/>
            </a:r>
          </a:p>
          <a:p xmlns:a="http://schemas.openxmlformats.org/drawingml/2006/main">
            <a:r>
              <a:t>막혔을 때: 입력과 출력이 섞이면 컴퓨터가 일을 하기 전 이미 주어진 값과 일을 한 뒤 생긴 표시를 다른 색으로 적습니다.</a:t>
            </a:r>
          </a:p>
          <a:p xmlns:a="http://schemas.openxmlformats.org/drawingml/2006/main">
            <a:r>
              <a:t/>
            </a:r>
          </a:p>
          <a:p xmlns:a="http://schemas.openxmlformats.org/drawingml/2006/main">
            <a:r>
              <a:t>[활동 자료와 작성칸](practice-guide.md#a01--입력처리출력과-코드-파일)에서 A01를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50분은 운영 배정이며 실제 학습자 수행시간을 측정한 결과가 아닙니다. 시연 → 함께 수행 → 개별 적용 → 예상과 실제 비교 → 자기 말로 설명 순서로 운영합니다.</a:t>
            </a:r>
          </a:p>
          <a:p xmlns:a="http://schemas.openxmlformats.org/drawingml/2006/main">
            <a:r>
              <a:t/>
            </a:r>
          </a:p>
          <a:p xmlns:a="http://schemas.openxmlformats.org/drawingml/2006/main">
            <a:r>
              <a:t>[활동 A04 상세 원문]</a:t>
            </a:r>
          </a:p>
          <a:p xmlns:a="http://schemas.openxmlformats.org/drawingml/2006/main">
            <a:r>
              <a:t>### 사례로 이해하기 · 재고 갱신을 한 줄씩 추적하기</a:t>
            </a:r>
          </a:p>
          <a:p xmlns:a="http://schemas.openxmlformats.org/drawingml/2006/main">
            <a:r>
              <a:t/>
            </a:r>
          </a:p>
          <a:p xmlns:a="http://schemas.openxmlformats.org/drawingml/2006/main">
            <a:r>
              <a:t>필수 설명 보충입니다. 강사 시연 → 함께 추적 → 예상과 실제 비교 → 자기 말로 설명 순서로 읽습니다. 아래 독립 문제는 복습·도전이며 기존 50분 필수 경로와 별도로 활용합니다.</a:t>
            </a:r>
          </a:p>
          <a:p xmlns:a="http://schemas.openxmlformats.org/drawingml/2006/main">
            <a:r>
              <a:t/>
            </a:r>
          </a:p>
          <a:p xmlns:a="http://schemas.openxmlformats.org/drawingml/2006/main">
            <a:r>
              <a:t>창고에서 새 물품이 들어오고 일부가 나갑니다. 담당자는 ‘처음 8개, 입고 3개, 출고 2개’를 순서대로 기록합니다. Python에서는 현재 재고에 stock이라는 이름을 붙이고 각 작업이 끝날 때의 값을 연결합니다. 변수는 여러 값을 자동으로 보관하는 이력표가 아닙니다. 같은 이름에 새 값을 대입하면 그 시점의 값이 바뀝니다. 과거 기록이 필요하면 별도의 기록을 남겨야 합니다. 먼저 종이에 실행 줄·현재 값·출력 세 열을 만듭니다.</a:t>
            </a:r>
          </a:p>
          <a:p xmlns:a="http://schemas.openxmlformats.org/drawingml/2006/main">
            <a:r>
              <a:t/>
            </a:r>
          </a:p>
          <a:p xmlns:a="http://schemas.openxmlformats.org/drawingml/2006/main">
            <a:r>
              <a:t>이 사례의 완결 코드는 다음과 같습니다. work 폴더에 새 파일 E02_stock.py를 UTF-8로 저장하고 course 폴더의 터미널에서 `python -X utf8 work/E02_stock.py`를 실행합니다. 기존 파일을 덮어쓰지 않습니다.</a:t>
            </a:r>
          </a:p>
          <a:p xmlns:a="http://schemas.openxmlformats.org/drawingml/2006/main">
            <a:r>
              <a:t/>
            </a:r>
          </a:p>
          <a:p xmlns:a="http://schemas.openxmlformats.org/drawingml/2006/main">
            <a:r>
              <a:t>```python</a:t>
            </a:r>
          </a:p>
          <a:p xmlns:a="http://schemas.openxmlformats.org/drawingml/2006/main">
            <a:r>
              <a:t>stock = 8</a:t>
            </a:r>
          </a:p>
          <a:p xmlns:a="http://schemas.openxmlformats.org/drawingml/2006/main">
            <a:r>
              <a:t>stock = stock + 3</a:t>
            </a:r>
          </a:p>
          <a:p xmlns:a="http://schemas.openxmlformats.org/drawingml/2006/main">
            <a:r>
              <a:t>print(stock)</a:t>
            </a:r>
          </a:p>
          <a:p xmlns:a="http://schemas.openxmlformats.org/drawingml/2006/main">
            <a:r>
              <a:t>stock = stock - 2</a:t>
            </a:r>
          </a:p>
          <a:p xmlns:a="http://schemas.openxmlformats.org/drawingml/2006/main">
            <a:r>
              <a:t>print(stock)</a:t>
            </a:r>
          </a:p>
          <a:p xmlns:a="http://schemas.openxmlformats.org/drawingml/2006/main">
            <a:r>
              <a:t>```</a:t>
            </a:r>
          </a:p>
          <a:p xmlns:a="http://schemas.openxmlformats.org/drawingml/2006/main">
            <a:r>
              <a:t/>
            </a:r>
          </a:p>
          <a:p xmlns:a="http://schemas.openxmlformats.org/drawingml/2006/main">
            <a:r>
              <a:t>첫 줄은 stock에 정수 8을 연결합니다. 둘째 줄은 오른쪽의 현재 stock 8에 3을 더해 11을 만든 다음 왼쪽 이름에 연결합니다. 셋째 줄은 그때의 11을 화면에 표시합니다. 넷째 줄은 현재 11에서 2를 빼 9로 갱신합니다. 마지막 줄은 9를 출력합니다. 따라서 예상 출력은 첫 줄 11, 둘째 줄 9입니다. =는 수학의 양쪽이 같다는 설명이 아니라 오른쪽 계산 결과를 왼쪽 이름에 연결하는 대입 기호입니다.</a:t>
            </a:r>
          </a:p>
          <a:p xmlns:a="http://schemas.openxmlformats.org/drawingml/2006/main">
            <a:r>
              <a:t/>
            </a:r>
          </a:p>
          <a:p xmlns:a="http://schemas.openxmlformats.org/drawingml/2006/main">
            <a:r>
              <a:t>입고와 출고를 모두 처리한 뒤 출력 두 줄을 적는 것이 아니라 print를 만나는 순간의 값을 기록합니다. 뒤의 갱신이 이미 나온 첫 출력을 고치지는 않습니다. NameError이면 stock 철자와 대소문자, 처음 대입한 줄을 확인합니다. can't open file이면 작업 파일 저장 위치를 먼저 확인합니다. 실행 환경이 없으면 같은 추적표를 쓰고 강사 실행과 비교했다는 표시를 남깁니다.</a:t>
            </a:r>
          </a:p>
          <a:p xmlns:a="http://schemas.openxmlformats.org/drawingml/2006/main">
            <a:r>
              <a:t/>
            </a:r>
          </a:p>
          <a:p xmlns:a="http://schemas.openxmlformats.org/drawingml/2006/main">
            <a:r>
              <a:t>### 새 상황에 독립적으로 적용하기</a:t>
            </a:r>
          </a:p>
          <a:p xmlns:a="http://schemas.openxmlformats.org/drawingml/2006/main">
            <a:r>
              <a:t/>
            </a:r>
          </a:p>
          <a:p xmlns:a="http://schemas.openxmlformats.org/drawingml/2006/main">
            <a:r>
              <a:t>복습·도전: 물 12병을 준비하고 4병을 배부한 뒤 현재 수량을 안내합니다. 다시 6병을 받아 최종 수량을 안내합니다. 두 안내값과 세 번의 대입 뒤 현재 수량을 표로 작성하고, 두 print를 어디에 놓을지 판단하세요.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대입 뒤 현재 값은 12→8→14이고 안내값은 8과 14입니다. 배부 직후와 추가 입고 직후에 출력해야 합니다. 모든 대입 뒤에 같은 이름을 두 번 출력하면 14·14가 되어 중간 안내를 잃습니다.</a:t>
            </a:r>
          </a:p>
          <a:p xmlns:a="http://schemas.openxmlformats.org/drawingml/2006/main">
            <a:r>
              <a:t/>
            </a:r>
          </a:p>
          <a:p xmlns:a="http://schemas.openxmlformats.org/drawingml/2006/main">
            <a:r>
              <a:t>### 핵심 세 질문과 해설</a:t>
            </a:r>
          </a:p>
          <a:p xmlns:a="http://schemas.openxmlformats.org/drawingml/2006/main">
            <a:r>
              <a:t/>
            </a:r>
          </a:p>
          <a:p xmlns:a="http://schemas.openxmlformats.org/drawingml/2006/main">
            <a:r>
              <a:t>1. **오른쪽 stock은 언제 읽나요?** 그 줄을 실행하는 시점에 연결된 현재 값을 먼저 읽습니다.</a:t>
            </a:r>
          </a:p>
          <a:p xmlns:a="http://schemas.openxmlformats.org/drawingml/2006/main">
            <a:r>
              <a:t/>
            </a:r>
          </a:p>
          <a:p xmlns:a="http://schemas.openxmlformats.org/drawingml/2006/main">
            <a:r>
              <a:t>2. **=는 ==와 같은가요?** =는 대입이고 ==는 같은지 비교하는 기호입니다.</a:t>
            </a:r>
          </a:p>
          <a:p xmlns:a="http://schemas.openxmlformats.org/drawingml/2006/main">
            <a:r>
              <a:t/>
            </a:r>
          </a:p>
          <a:p xmlns:a="http://schemas.openxmlformats.org/drawingml/2006/main">
            <a:r>
              <a:t>3. **나중 갱신이 이전 화면을 바꾸나요?** 이미 출력한 결과는 그때의 값으로 남습니다.</a:t>
            </a:r>
          </a:p>
          <a:p xmlns:a="http://schemas.openxmlformats.org/drawingml/2006/main">
            <a:r>
              <a:t/>
            </a:r>
          </a:p>
          <a:p xmlns:a="http://schemas.openxmlformats.org/drawingml/2006/main">
            <a:r>
              <a:t/>
            </a:r>
          </a:p>
          <a:p xmlns:a="http://schemas.openxmlformats.org/drawingml/2006/main">
            <a:r>
              <a:t>**개념.** 변수는 프로그램이 값을 다시 찾을 수 있도록 붙인 이름입니다. location = "입구"는 왼쪽 이름에 오른쪽 값을 연결합니다. 수학에서 등식의 양변이 같다는 주장과 Python의 대입 동작을 구별합니다.</a:t>
            </a:r>
          </a:p>
          <a:p xmlns:a="http://schemas.openxmlformats.org/drawingml/2006/main">
            <a:r>
              <a:t/>
            </a:r>
          </a:p>
          <a:p xmlns:a="http://schemas.openxmlformats.org/drawingml/2006/main">
            <a:r>
              <a:t>**왜 필요한가.** 값을 여러 번 사용할 때 이름을 붙이면 목적이 드러나고 한 곳에서 바꾸기 쉽습니다. 10/8의 표에서 location과 temperature_c라는 항목을 읽었던 경험을 코드 안의 이름으로 연결합니다.</a:t>
            </a:r>
          </a:p>
          <a:p xmlns:a="http://schemas.openxmlformats.org/drawingml/2006/main">
            <a:r>
              <a:t/>
            </a:r>
          </a:p>
          <a:p xmlns:a="http://schemas.openxmlformats.org/drawingml/2006/main">
            <a:r>
              <a:t>**함께 보는 예.** location과 temperature_c를 출력하면 이름 자체의 글자가 아니라 그 이름이 가리키는 값이 나옵니다. print("location")처럼 따옴표를 붙이면 이름을 찾지 않고 글자 location을 보여 줍니다.</a:t>
            </a:r>
          </a:p>
          <a:p xmlns:a="http://schemas.openxmlformats.org/drawingml/2006/main">
            <a:r>
              <a:t/>
            </a:r>
          </a:p>
          <a:p xmlns:a="http://schemas.openxmlformats.org/drawingml/2006/main">
            <a:r>
              <a:t>**헷갈리는 경우.** 한 이름이 무엇을 뜻하는지는 작성자가 정한 약속입니다. 온도를 x로 저장해도 실행될 수 있지만 업무 목적을 읽기 어렵습니다. 의미가 분명한 이름을 쓰되 이름만 보고 단위가 맞다고 단정하지 않습니다.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location = "입구"</a:t>
            </a:r>
          </a:p>
          <a:p xmlns:a="http://schemas.openxmlformats.org/drawingml/2006/main">
            <a:r>
              <a:t>temperature_c = 22.5</a:t>
            </a:r>
          </a:p>
          <a:p xmlns:a="http://schemas.openxmlformats.org/drawingml/2006/main">
            <a:r>
              <a:t>print(location)</a:t>
            </a:r>
          </a:p>
          <a:p xmlns:a="http://schemas.openxmlformats.org/drawingml/2006/main">
            <a:r>
              <a:t>print(temperature_c)</a:t>
            </a:r>
          </a:p>
          <a:p xmlns:a="http://schemas.openxmlformats.org/drawingml/2006/main">
            <a:r>
              <a:t>print("location")</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`location = "입구"` | 장소 문자열을 location이라는 이름에 연결합니다. |</a:t>
            </a:r>
          </a:p>
          <a:p xmlns:a="http://schemas.openxmlformats.org/drawingml/2006/main">
            <a:r>
              <a:t>| 2 | `temperature_c = 22.5` | 숫자 22.5를 temperature_c라는 이름에 연결합니다. |</a:t>
            </a:r>
          </a:p>
          <a:p xmlns:a="http://schemas.openxmlformats.org/drawingml/2006/main">
            <a:r>
              <a:t>| 3 | `print(location)` | 이름이 가리키는 장소 값을 보여 줍니다. |</a:t>
            </a:r>
          </a:p>
          <a:p xmlns:a="http://schemas.openxmlformats.org/drawingml/2006/main">
            <a:r>
              <a:t>| 4 | `print(temperature_c)` | 이름이 가리키는 온도 값을 보여 줍니다. |</a:t>
            </a:r>
          </a:p>
          <a:p xmlns:a="http://schemas.openxmlformats.org/drawingml/2006/main">
            <a:r>
              <a:t>| 5 | `print("location")` | 따옴표 안의 글자 location을 그대로 보여 줍니다.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code/A04_example.py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work/A04_example.py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입구</a:t>
            </a:r>
          </a:p>
          <a:p xmlns:a="http://schemas.openxmlformats.org/drawingml/2006/main">
            <a:r>
              <a:t>22.5</a:t>
            </a:r>
          </a:p>
          <a:p xmlns:a="http://schemas.openxmlformats.org/drawingml/2006/main">
            <a:r>
              <a:t>location</a:t>
            </a:r>
          </a:p>
          <a:p xmlns:a="http://schemas.openxmlformats.org/drawingml/2006/main">
            <a:r>
              <a:t>```</a:t>
            </a:r>
          </a:p>
          <a:p xmlns:a="http://schemas.openxmlformats.org/drawingml/2006/main">
            <a:r>
              <a:t/>
            </a:r>
          </a:p>
          <a:p xmlns:a="http://schemas.openxmlformats.org/drawingml/2006/main">
            <a:r>
              <a:t>작은 수정: `입구`를 `창고`로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창고</a:t>
            </a:r>
          </a:p>
          <a:p xmlns:a="http://schemas.openxmlformats.org/drawingml/2006/main">
            <a:r>
              <a:t>22.5</a:t>
            </a:r>
          </a:p>
          <a:p xmlns:a="http://schemas.openxmlformats.org/drawingml/2006/main">
            <a:r>
              <a:t>location</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값과 이름을 서로 다른 색으로 표시합니다.</a:t>
            </a:r>
          </a:p>
          <a:p xmlns:a="http://schemas.openxmlformats.org/drawingml/2006/main">
            <a:r>
              <a:t>2. location을 창고로 바꾸면 변할 출력 줄을 먼저 고릅니다.</a:t>
            </a:r>
          </a:p>
          <a:p xmlns:a="http://schemas.openxmlformats.org/drawingml/2006/main">
            <a:r>
              <a:t>3. 작업본에서 문자열 한 곳만 바꾸고 저장·실행합니다.</a:t>
            </a:r>
          </a:p>
          <a:p xmlns:a="http://schemas.openxmlformats.org/drawingml/2006/main">
            <a:r>
              <a:t>4. 변하지 않은 두 출력 줄의 이유를 씁니다.</a:t>
            </a:r>
          </a:p>
          <a:p xmlns:a="http://schemas.openxmlformats.org/drawingml/2006/main">
            <a:r>
              <a:t/>
            </a:r>
          </a:p>
          <a:p xmlns:a="http://schemas.openxmlformats.org/drawingml/2006/main">
            <a:r>
              <a:t>예상 결과: 첫 출력만 창고로 바뀌고 온도와 글자 location은 유지됩니다.</a:t>
            </a:r>
          </a:p>
          <a:p xmlns:a="http://schemas.openxmlformats.org/drawingml/2006/main">
            <a:r>
              <a:t/>
            </a:r>
          </a:p>
          <a:p xmlns:a="http://schemas.openxmlformats.org/drawingml/2006/main">
            <a:r>
              <a:t>확인 질문: print(location)과 print("location")은 왜 다를까요?</a:t>
            </a:r>
          </a:p>
          <a:p xmlns:a="http://schemas.openxmlformats.org/drawingml/2006/main">
            <a:r>
              <a:t/>
            </a:r>
          </a:p>
          <a:p xmlns:a="http://schemas.openxmlformats.org/drawingml/2006/main">
            <a:r>
              <a:t>막혔을 때: NameError가 나오면 대문자·소문자와 밑줄을 비교하고 그 이름에 값을 연결한 줄이 먼저 실행되는지 확인합니다.</a:t>
            </a:r>
          </a:p>
          <a:p xmlns:a="http://schemas.openxmlformats.org/drawingml/2006/main">
            <a:r>
              <a:t/>
            </a:r>
          </a:p>
          <a:p xmlns:a="http://schemas.openxmlformats.org/drawingml/2006/main">
            <a:r>
              <a:t>[활동 자료와 작성칸](practice-guide.md#a04--변수는-값에-붙인-이름)에서 A04를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제공된 완성 파일의 전체 코드입니다. 압축을 푼 course 폴더의 터미널에서 실행합니다.</a:t>
            </a:r>
          </a:p>
          <a:p xmlns:a="http://schemas.openxmlformats.org/drawingml/2006/main">
            <a:r>
              <a:t>명령: python -X utf8 code/A04_example.py</a:t>
            </a:r>
          </a:p>
          <a:p xmlns:a="http://schemas.openxmlformats.org/drawingml/2006/main">
            <a:r>
              <a:t>작업본은 code 대신 work 경로를 지정합니다. 개인 실행이 막히면 같은 입력으로 수동 추적 후 강사 결과와 비교합니다.</a:t>
            </a:r>
          </a:p>
          <a:p xmlns:a="http://schemas.openxmlformats.org/drawingml/2006/main">
            <a:r>
              <a:t/>
            </a:r>
          </a:p>
          <a:p xmlns:a="http://schemas.openxmlformats.org/drawingml/2006/main">
            <a:r>
              <a:t>[활동 A04 상세 원문]</a:t>
            </a:r>
          </a:p>
          <a:p xmlns:a="http://schemas.openxmlformats.org/drawingml/2006/main">
            <a:r>
              <a:t>### 사례로 이해하기 · 재고 갱신을 한 줄씩 추적하기</a:t>
            </a:r>
          </a:p>
          <a:p xmlns:a="http://schemas.openxmlformats.org/drawingml/2006/main">
            <a:r>
              <a:t/>
            </a:r>
          </a:p>
          <a:p xmlns:a="http://schemas.openxmlformats.org/drawingml/2006/main">
            <a:r>
              <a:t>필수 설명 보충입니다. 강사 시연 → 함께 추적 → 예상과 실제 비교 → 자기 말로 설명 순서로 읽습니다. 아래 독립 문제는 복습·도전이며 기존 50분 필수 경로와 별도로 활용합니다.</a:t>
            </a:r>
          </a:p>
          <a:p xmlns:a="http://schemas.openxmlformats.org/drawingml/2006/main">
            <a:r>
              <a:t/>
            </a:r>
          </a:p>
          <a:p xmlns:a="http://schemas.openxmlformats.org/drawingml/2006/main">
            <a:r>
              <a:t>창고에서 새 물품이 들어오고 일부가 나갑니다. 담당자는 ‘처음 8개, 입고 3개, 출고 2개’를 순서대로 기록합니다. Python에서는 현재 재고에 stock이라는 이름을 붙이고 각 작업이 끝날 때의 값을 연결합니다. 변수는 여러 값을 자동으로 보관하는 이력표가 아닙니다. 같은 이름에 새 값을 대입하면 그 시점의 값이 바뀝니다. 과거 기록이 필요하면 별도의 기록을 남겨야 합니다. 먼저 종이에 실행 줄·현재 값·출력 세 열을 만듭니다.</a:t>
            </a:r>
          </a:p>
          <a:p xmlns:a="http://schemas.openxmlformats.org/drawingml/2006/main">
            <a:r>
              <a:t/>
            </a:r>
          </a:p>
          <a:p xmlns:a="http://schemas.openxmlformats.org/drawingml/2006/main">
            <a:r>
              <a:t>이 사례의 완결 코드는 다음과 같습니다. work 폴더에 새 파일 E02_stock.py를 UTF-8로 저장하고 course 폴더의 터미널에서 `python -X utf8 work/E02_stock.py`를 실행합니다. 기존 파일을 덮어쓰지 않습니다.</a:t>
            </a:r>
          </a:p>
          <a:p xmlns:a="http://schemas.openxmlformats.org/drawingml/2006/main">
            <a:r>
              <a:t/>
            </a:r>
          </a:p>
          <a:p xmlns:a="http://schemas.openxmlformats.org/drawingml/2006/main">
            <a:r>
              <a:t>```python</a:t>
            </a:r>
          </a:p>
          <a:p xmlns:a="http://schemas.openxmlformats.org/drawingml/2006/main">
            <a:r>
              <a:t>stock = 8</a:t>
            </a:r>
          </a:p>
          <a:p xmlns:a="http://schemas.openxmlformats.org/drawingml/2006/main">
            <a:r>
              <a:t>stock = stock + 3</a:t>
            </a:r>
          </a:p>
          <a:p xmlns:a="http://schemas.openxmlformats.org/drawingml/2006/main">
            <a:r>
              <a:t>print(stock)</a:t>
            </a:r>
          </a:p>
          <a:p xmlns:a="http://schemas.openxmlformats.org/drawingml/2006/main">
            <a:r>
              <a:t>stock = stock - 2</a:t>
            </a:r>
          </a:p>
          <a:p xmlns:a="http://schemas.openxmlformats.org/drawingml/2006/main">
            <a:r>
              <a:t>print(stock)</a:t>
            </a:r>
          </a:p>
          <a:p xmlns:a="http://schemas.openxmlformats.org/drawingml/2006/main">
            <a:r>
              <a:t>```</a:t>
            </a:r>
          </a:p>
          <a:p xmlns:a="http://schemas.openxmlformats.org/drawingml/2006/main">
            <a:r>
              <a:t/>
            </a:r>
          </a:p>
          <a:p xmlns:a="http://schemas.openxmlformats.org/drawingml/2006/main">
            <a:r>
              <a:t>첫 줄은 stock에 정수 8을 연결합니다. 둘째 줄은 오른쪽의 현재 stock 8에 3을 더해 11을 만든 다음 왼쪽 이름에 연결합니다. 셋째 줄은 그때의 11을 화면에 표시합니다. 넷째 줄은 현재 11에서 2를 빼 9로 갱신합니다. 마지막 줄은 9를 출력합니다. 따라서 예상 출력은 첫 줄 11, 둘째 줄 9입니다. =는 수학의 양쪽이 같다는 설명이 아니라 오른쪽 계산 결과를 왼쪽 이름에 연결하는 대입 기호입니다.</a:t>
            </a:r>
          </a:p>
          <a:p xmlns:a="http://schemas.openxmlformats.org/drawingml/2006/main">
            <a:r>
              <a:t/>
            </a:r>
          </a:p>
          <a:p xmlns:a="http://schemas.openxmlformats.org/drawingml/2006/main">
            <a:r>
              <a:t>입고와 출고를 모두 처리한 뒤 출력 두 줄을 적는 것이 아니라 print를 만나는 순간의 값을 기록합니다. 뒤의 갱신이 이미 나온 첫 출력을 고치지는 않습니다. NameError이면 stock 철자와 대소문자, 처음 대입한 줄을 확인합니다. can't open file이면 작업 파일 저장 위치를 먼저 확인합니다. 실행 환경이 없으면 같은 추적표를 쓰고 강사 실행과 비교했다는 표시를 남깁니다.</a:t>
            </a:r>
          </a:p>
          <a:p xmlns:a="http://schemas.openxmlformats.org/drawingml/2006/main">
            <a:r>
              <a:t/>
            </a:r>
          </a:p>
          <a:p xmlns:a="http://schemas.openxmlformats.org/drawingml/2006/main">
            <a:r>
              <a:t>### 새 상황에 독립적으로 적용하기</a:t>
            </a:r>
          </a:p>
          <a:p xmlns:a="http://schemas.openxmlformats.org/drawingml/2006/main">
            <a:r>
              <a:t/>
            </a:r>
          </a:p>
          <a:p xmlns:a="http://schemas.openxmlformats.org/drawingml/2006/main">
            <a:r>
              <a:t>복습·도전: 물 12병을 준비하고 4병을 배부한 뒤 현재 수량을 안내합니다. 다시 6병을 받아 최종 수량을 안내합니다. 두 안내값과 세 번의 대입 뒤 현재 수량을 표로 작성하고, 두 print를 어디에 놓을지 판단하세요.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대입 뒤 현재 값은 12→8→14이고 안내값은 8과 14입니다. 배부 직후와 추가 입고 직후에 출력해야 합니다. 모든 대입 뒤에 같은 이름을 두 번 출력하면 14·14가 되어 중간 안내를 잃습니다.</a:t>
            </a:r>
          </a:p>
          <a:p xmlns:a="http://schemas.openxmlformats.org/drawingml/2006/main">
            <a:r>
              <a:t/>
            </a:r>
          </a:p>
          <a:p xmlns:a="http://schemas.openxmlformats.org/drawingml/2006/main">
            <a:r>
              <a:t>### 핵심 세 질문과 해설</a:t>
            </a:r>
          </a:p>
          <a:p xmlns:a="http://schemas.openxmlformats.org/drawingml/2006/main">
            <a:r>
              <a:t/>
            </a:r>
          </a:p>
          <a:p xmlns:a="http://schemas.openxmlformats.org/drawingml/2006/main">
            <a:r>
              <a:t>1. **오른쪽 stock은 언제 읽나요?** 그 줄을 실행하는 시점에 연결된 현재 값을 먼저 읽습니다.</a:t>
            </a:r>
          </a:p>
          <a:p xmlns:a="http://schemas.openxmlformats.org/drawingml/2006/main">
            <a:r>
              <a:t/>
            </a:r>
          </a:p>
          <a:p xmlns:a="http://schemas.openxmlformats.org/drawingml/2006/main">
            <a:r>
              <a:t>2. **=는 ==와 같은가요?** =는 대입이고 ==는 같은지 비교하는 기호입니다.</a:t>
            </a:r>
          </a:p>
          <a:p xmlns:a="http://schemas.openxmlformats.org/drawingml/2006/main">
            <a:r>
              <a:t/>
            </a:r>
          </a:p>
          <a:p xmlns:a="http://schemas.openxmlformats.org/drawingml/2006/main">
            <a:r>
              <a:t>3. **나중 갱신이 이전 화면을 바꾸나요?** 이미 출력한 결과는 그때의 값으로 남습니다.</a:t>
            </a:r>
          </a:p>
          <a:p xmlns:a="http://schemas.openxmlformats.org/drawingml/2006/main">
            <a:r>
              <a:t/>
            </a:r>
          </a:p>
          <a:p xmlns:a="http://schemas.openxmlformats.org/drawingml/2006/main">
            <a:r>
              <a:t/>
            </a:r>
          </a:p>
          <a:p xmlns:a="http://schemas.openxmlformats.org/drawingml/2006/main">
            <a:r>
              <a:t>**개념.** 변수는 프로그램이 값을 다시 찾을 수 있도록 붙인 이름입니다. location = "입구"는 왼쪽 이름에 오른쪽 값을 연결합니다. 수학에서 등식의 양변이 같다는 주장과 Python의 대입 동작을 구별합니다.</a:t>
            </a:r>
          </a:p>
          <a:p xmlns:a="http://schemas.openxmlformats.org/drawingml/2006/main">
            <a:r>
              <a:t/>
            </a:r>
          </a:p>
          <a:p xmlns:a="http://schemas.openxmlformats.org/drawingml/2006/main">
            <a:r>
              <a:t>**왜 필요한가.** 값을 여러 번 사용할 때 이름을 붙이면 목적이 드러나고 한 곳에서 바꾸기 쉽습니다. 10/8의 표에서 location과 temperature_c라는 항목을 읽었던 경험을 코드 안의 이름으로 연결합니다.</a:t>
            </a:r>
          </a:p>
          <a:p xmlns:a="http://schemas.openxmlformats.org/drawingml/2006/main">
            <a:r>
              <a:t/>
            </a:r>
          </a:p>
          <a:p xmlns:a="http://schemas.openxmlformats.org/drawingml/2006/main">
            <a:r>
              <a:t>**함께 보는 예.** location과 temperature_c를 출력하면 이름 자체의 글자가 아니라 그 이름이 가리키는 값이 나옵니다. print("location")처럼 따옴표를 붙이면 이름을 찾지 않고 글자 location을 보여 줍니다.</a:t>
            </a:r>
          </a:p>
          <a:p xmlns:a="http://schemas.openxmlformats.org/drawingml/2006/main">
            <a:r>
              <a:t/>
            </a:r>
          </a:p>
          <a:p xmlns:a="http://schemas.openxmlformats.org/drawingml/2006/main">
            <a:r>
              <a:t>**헷갈리는 경우.** 한 이름이 무엇을 뜻하는지는 작성자가 정한 약속입니다. 온도를 x로 저장해도 실행될 수 있지만 업무 목적을 읽기 어렵습니다. 의미가 분명한 이름을 쓰되 이름만 보고 단위가 맞다고 단정하지 않습니다.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location = "입구"</a:t>
            </a:r>
          </a:p>
          <a:p xmlns:a="http://schemas.openxmlformats.org/drawingml/2006/main">
            <a:r>
              <a:t>temperature_c = 22.5</a:t>
            </a:r>
          </a:p>
          <a:p xmlns:a="http://schemas.openxmlformats.org/drawingml/2006/main">
            <a:r>
              <a:t>print(location)</a:t>
            </a:r>
          </a:p>
          <a:p xmlns:a="http://schemas.openxmlformats.org/drawingml/2006/main">
            <a:r>
              <a:t>print(temperature_c)</a:t>
            </a:r>
          </a:p>
          <a:p xmlns:a="http://schemas.openxmlformats.org/drawingml/2006/main">
            <a:r>
              <a:t>print("location")</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`location = "입구"` | 장소 문자열을 location이라는 이름에 연결합니다. |</a:t>
            </a:r>
          </a:p>
          <a:p xmlns:a="http://schemas.openxmlformats.org/drawingml/2006/main">
            <a:r>
              <a:t>| 2 | `temperature_c = 22.5` | 숫자 22.5를 temperature_c라는 이름에 연결합니다. |</a:t>
            </a:r>
          </a:p>
          <a:p xmlns:a="http://schemas.openxmlformats.org/drawingml/2006/main">
            <a:r>
              <a:t>| 3 | `print(location)` | 이름이 가리키는 장소 값을 보여 줍니다. |</a:t>
            </a:r>
          </a:p>
          <a:p xmlns:a="http://schemas.openxmlformats.org/drawingml/2006/main">
            <a:r>
              <a:t>| 4 | `print(temperature_c)` | 이름이 가리키는 온도 값을 보여 줍니다. |</a:t>
            </a:r>
          </a:p>
          <a:p xmlns:a="http://schemas.openxmlformats.org/drawingml/2006/main">
            <a:r>
              <a:t>| 5 | `print("location")` | 따옴표 안의 글자 location을 그대로 보여 줍니다.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code/A04_example.py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work/A04_example.py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입구</a:t>
            </a:r>
          </a:p>
          <a:p xmlns:a="http://schemas.openxmlformats.org/drawingml/2006/main">
            <a:r>
              <a:t>22.5</a:t>
            </a:r>
          </a:p>
          <a:p xmlns:a="http://schemas.openxmlformats.org/drawingml/2006/main">
            <a:r>
              <a:t>location</a:t>
            </a:r>
          </a:p>
          <a:p xmlns:a="http://schemas.openxmlformats.org/drawingml/2006/main">
            <a:r>
              <a:t>```</a:t>
            </a:r>
          </a:p>
          <a:p xmlns:a="http://schemas.openxmlformats.org/drawingml/2006/main">
            <a:r>
              <a:t/>
            </a:r>
          </a:p>
          <a:p xmlns:a="http://schemas.openxmlformats.org/drawingml/2006/main">
            <a:r>
              <a:t>작은 수정: `입구`를 `창고`로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창고</a:t>
            </a:r>
          </a:p>
          <a:p xmlns:a="http://schemas.openxmlformats.org/drawingml/2006/main">
            <a:r>
              <a:t>22.5</a:t>
            </a:r>
          </a:p>
          <a:p xmlns:a="http://schemas.openxmlformats.org/drawingml/2006/main">
            <a:r>
              <a:t>location</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값과 이름을 서로 다른 색으로 표시합니다.</a:t>
            </a:r>
          </a:p>
          <a:p xmlns:a="http://schemas.openxmlformats.org/drawingml/2006/main">
            <a:r>
              <a:t>2. location을 창고로 바꾸면 변할 출력 줄을 먼저 고릅니다.</a:t>
            </a:r>
          </a:p>
          <a:p xmlns:a="http://schemas.openxmlformats.org/drawingml/2006/main">
            <a:r>
              <a:t>3. 작업본에서 문자열 한 곳만 바꾸고 저장·실행합니다.</a:t>
            </a:r>
          </a:p>
          <a:p xmlns:a="http://schemas.openxmlformats.org/drawingml/2006/main">
            <a:r>
              <a:t>4. 변하지 않은 두 출력 줄의 이유를 씁니다.</a:t>
            </a:r>
          </a:p>
          <a:p xmlns:a="http://schemas.openxmlformats.org/drawingml/2006/main">
            <a:r>
              <a:t/>
            </a:r>
          </a:p>
          <a:p xmlns:a="http://schemas.openxmlformats.org/drawingml/2006/main">
            <a:r>
              <a:t>예상 결과: 첫 출력만 창고로 바뀌고 온도와 글자 location은 유지됩니다.</a:t>
            </a:r>
          </a:p>
          <a:p xmlns:a="http://schemas.openxmlformats.org/drawingml/2006/main">
            <a:r>
              <a:t/>
            </a:r>
          </a:p>
          <a:p xmlns:a="http://schemas.openxmlformats.org/drawingml/2006/main">
            <a:r>
              <a:t>확인 질문: print(location)과 print("location")은 왜 다를까요?</a:t>
            </a:r>
          </a:p>
          <a:p xmlns:a="http://schemas.openxmlformats.org/drawingml/2006/main">
            <a:r>
              <a:t/>
            </a:r>
          </a:p>
          <a:p xmlns:a="http://schemas.openxmlformats.org/drawingml/2006/main">
            <a:r>
              <a:t>막혔을 때: NameError가 나오면 대문자·소문자와 밑줄을 비교하고 그 이름에 값을 연결한 줄이 먼저 실행되는지 확인합니다.</a:t>
            </a:r>
          </a:p>
          <a:p xmlns:a="http://schemas.openxmlformats.org/drawingml/2006/main">
            <a:r>
              <a:t/>
            </a:r>
          </a:p>
          <a:p xmlns:a="http://schemas.openxmlformats.org/drawingml/2006/main">
            <a:r>
              <a:t>[활동 자료와 작성칸](practice-guide.md#a04--변수는-값에-붙인-이름)에서 A04를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A04 상세 원문]</a:t>
            </a:r>
          </a:p>
          <a:p xmlns:a="http://schemas.openxmlformats.org/drawingml/2006/main">
            <a:r>
              <a:t>### 사례로 이해하기 · 재고 갱신을 한 줄씩 추적하기</a:t>
            </a:r>
          </a:p>
          <a:p xmlns:a="http://schemas.openxmlformats.org/drawingml/2006/main">
            <a:r>
              <a:t/>
            </a:r>
          </a:p>
          <a:p xmlns:a="http://schemas.openxmlformats.org/drawingml/2006/main">
            <a:r>
              <a:t>필수 설명 보충입니다. 강사 시연 → 함께 추적 → 예상과 실제 비교 → 자기 말로 설명 순서로 읽습니다. 아래 독립 문제는 복습·도전이며 기존 50분 필수 경로와 별도로 활용합니다.</a:t>
            </a:r>
          </a:p>
          <a:p xmlns:a="http://schemas.openxmlformats.org/drawingml/2006/main">
            <a:r>
              <a:t/>
            </a:r>
          </a:p>
          <a:p xmlns:a="http://schemas.openxmlformats.org/drawingml/2006/main">
            <a:r>
              <a:t>창고에서 새 물품이 들어오고 일부가 나갑니다. 담당자는 ‘처음 8개, 입고 3개, 출고 2개’를 순서대로 기록합니다. Python에서는 현재 재고에 stock이라는 이름을 붙이고 각 작업이 끝날 때의 값을 연결합니다. 변수는 여러 값을 자동으로 보관하는 이력표가 아닙니다. 같은 이름에 새 값을 대입하면 그 시점의 값이 바뀝니다. 과거 기록이 필요하면 별도의 기록을 남겨야 합니다. 먼저 종이에 실행 줄·현재 값·출력 세 열을 만듭니다.</a:t>
            </a:r>
          </a:p>
          <a:p xmlns:a="http://schemas.openxmlformats.org/drawingml/2006/main">
            <a:r>
              <a:t/>
            </a:r>
          </a:p>
          <a:p xmlns:a="http://schemas.openxmlformats.org/drawingml/2006/main">
            <a:r>
              <a:t>이 사례의 완결 코드는 다음과 같습니다. work 폴더에 새 파일 E02_stock.py를 UTF-8로 저장하고 course 폴더의 터미널에서 `python -X utf8 work/E02_stock.py`를 실행합니다. 기존 파일을 덮어쓰지 않습니다.</a:t>
            </a:r>
          </a:p>
          <a:p xmlns:a="http://schemas.openxmlformats.org/drawingml/2006/main">
            <a:r>
              <a:t/>
            </a:r>
          </a:p>
          <a:p xmlns:a="http://schemas.openxmlformats.org/drawingml/2006/main">
            <a:r>
              <a:t>```python</a:t>
            </a:r>
          </a:p>
          <a:p xmlns:a="http://schemas.openxmlformats.org/drawingml/2006/main">
            <a:r>
              <a:t>stock = 8</a:t>
            </a:r>
          </a:p>
          <a:p xmlns:a="http://schemas.openxmlformats.org/drawingml/2006/main">
            <a:r>
              <a:t>stock = stock + 3</a:t>
            </a:r>
          </a:p>
          <a:p xmlns:a="http://schemas.openxmlformats.org/drawingml/2006/main">
            <a:r>
              <a:t>print(stock)</a:t>
            </a:r>
          </a:p>
          <a:p xmlns:a="http://schemas.openxmlformats.org/drawingml/2006/main">
            <a:r>
              <a:t>stock = stock - 2</a:t>
            </a:r>
          </a:p>
          <a:p xmlns:a="http://schemas.openxmlformats.org/drawingml/2006/main">
            <a:r>
              <a:t>print(stock)</a:t>
            </a:r>
          </a:p>
          <a:p xmlns:a="http://schemas.openxmlformats.org/drawingml/2006/main">
            <a:r>
              <a:t>```</a:t>
            </a:r>
          </a:p>
          <a:p xmlns:a="http://schemas.openxmlformats.org/drawingml/2006/main">
            <a:r>
              <a:t/>
            </a:r>
          </a:p>
          <a:p xmlns:a="http://schemas.openxmlformats.org/drawingml/2006/main">
            <a:r>
              <a:t>첫 줄은 stock에 정수 8을 연결합니다. 둘째 줄은 오른쪽의 현재 stock 8에 3을 더해 11을 만든 다음 왼쪽 이름에 연결합니다. 셋째 줄은 그때의 11을 화면에 표시합니다. 넷째 줄은 현재 11에서 2를 빼 9로 갱신합니다. 마지막 줄은 9를 출력합니다. 따라서 예상 출력은 첫 줄 11, 둘째 줄 9입니다. =는 수학의 양쪽이 같다는 설명이 아니라 오른쪽 계산 결과를 왼쪽 이름에 연결하는 대입 기호입니다.</a:t>
            </a:r>
          </a:p>
          <a:p xmlns:a="http://schemas.openxmlformats.org/drawingml/2006/main">
            <a:r>
              <a:t/>
            </a:r>
          </a:p>
          <a:p xmlns:a="http://schemas.openxmlformats.org/drawingml/2006/main">
            <a:r>
              <a:t>입고와 출고를 모두 처리한 뒤 출력 두 줄을 적는 것이 아니라 print를 만나는 순간의 값을 기록합니다. 뒤의 갱신이 이미 나온 첫 출력을 고치지는 않습니다. NameError이면 stock 철자와 대소문자, 처음 대입한 줄을 확인합니다. can't open file이면 작업 파일 저장 위치를 먼저 확인합니다. 실행 환경이 없으면 같은 추적표를 쓰고 강사 실행과 비교했다는 표시를 남깁니다.</a:t>
            </a:r>
          </a:p>
          <a:p xmlns:a="http://schemas.openxmlformats.org/drawingml/2006/main">
            <a:r>
              <a:t/>
            </a:r>
          </a:p>
          <a:p xmlns:a="http://schemas.openxmlformats.org/drawingml/2006/main">
            <a:r>
              <a:t>### 새 상황에 독립적으로 적용하기</a:t>
            </a:r>
          </a:p>
          <a:p xmlns:a="http://schemas.openxmlformats.org/drawingml/2006/main">
            <a:r>
              <a:t/>
            </a:r>
          </a:p>
          <a:p xmlns:a="http://schemas.openxmlformats.org/drawingml/2006/main">
            <a:r>
              <a:t>복습·도전: 물 12병을 준비하고 4병을 배부한 뒤 현재 수량을 안내합니다. 다시 6병을 받아 최종 수량을 안내합니다. 두 안내값과 세 번의 대입 뒤 현재 수량을 표로 작성하고, 두 print를 어디에 놓을지 판단하세요.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대입 뒤 현재 값은 12→8→14이고 안내값은 8과 14입니다. 배부 직후와 추가 입고 직후에 출력해야 합니다. 모든 대입 뒤에 같은 이름을 두 번 출력하면 14·14가 되어 중간 안내를 잃습니다.</a:t>
            </a:r>
          </a:p>
          <a:p xmlns:a="http://schemas.openxmlformats.org/drawingml/2006/main">
            <a:r>
              <a:t/>
            </a:r>
          </a:p>
          <a:p xmlns:a="http://schemas.openxmlformats.org/drawingml/2006/main">
            <a:r>
              <a:t>### 핵심 세 질문과 해설</a:t>
            </a:r>
          </a:p>
          <a:p xmlns:a="http://schemas.openxmlformats.org/drawingml/2006/main">
            <a:r>
              <a:t/>
            </a:r>
          </a:p>
          <a:p xmlns:a="http://schemas.openxmlformats.org/drawingml/2006/main">
            <a:r>
              <a:t>1. **오른쪽 stock은 언제 읽나요?** 그 줄을 실행하는 시점에 연결된 현재 값을 먼저 읽습니다.</a:t>
            </a:r>
          </a:p>
          <a:p xmlns:a="http://schemas.openxmlformats.org/drawingml/2006/main">
            <a:r>
              <a:t/>
            </a:r>
          </a:p>
          <a:p xmlns:a="http://schemas.openxmlformats.org/drawingml/2006/main">
            <a:r>
              <a:t>2. **=는 ==와 같은가요?** =는 대입이고 ==는 같은지 비교하는 기호입니다.</a:t>
            </a:r>
          </a:p>
          <a:p xmlns:a="http://schemas.openxmlformats.org/drawingml/2006/main">
            <a:r>
              <a:t/>
            </a:r>
          </a:p>
          <a:p xmlns:a="http://schemas.openxmlformats.org/drawingml/2006/main">
            <a:r>
              <a:t>3. **나중 갱신이 이전 화면을 바꾸나요?** 이미 출력한 결과는 그때의 값으로 남습니다.</a:t>
            </a:r>
          </a:p>
          <a:p xmlns:a="http://schemas.openxmlformats.org/drawingml/2006/main">
            <a:r>
              <a:t/>
            </a:r>
          </a:p>
          <a:p xmlns:a="http://schemas.openxmlformats.org/drawingml/2006/main">
            <a:r>
              <a:t/>
            </a:r>
          </a:p>
          <a:p xmlns:a="http://schemas.openxmlformats.org/drawingml/2006/main">
            <a:r>
              <a:t>**개념.** 변수는 프로그램이 값을 다시 찾을 수 있도록 붙인 이름입니다. location = "입구"는 왼쪽 이름에 오른쪽 값을 연결합니다. 수학에서 등식의 양변이 같다는 주장과 Python의 대입 동작을 구별합니다.</a:t>
            </a:r>
          </a:p>
          <a:p xmlns:a="http://schemas.openxmlformats.org/drawingml/2006/main">
            <a:r>
              <a:t/>
            </a:r>
          </a:p>
          <a:p xmlns:a="http://schemas.openxmlformats.org/drawingml/2006/main">
            <a:r>
              <a:t>**왜 필요한가.** 값을 여러 번 사용할 때 이름을 붙이면 목적이 드러나고 한 곳에서 바꾸기 쉽습니다. 10/8의 표에서 location과 temperature_c라는 항목을 읽었던 경험을 코드 안의 이름으로 연결합니다.</a:t>
            </a:r>
          </a:p>
          <a:p xmlns:a="http://schemas.openxmlformats.org/drawingml/2006/main">
            <a:r>
              <a:t/>
            </a:r>
          </a:p>
          <a:p xmlns:a="http://schemas.openxmlformats.org/drawingml/2006/main">
            <a:r>
              <a:t>**함께 보는 예.** location과 temperature_c를 출력하면 이름 자체의 글자가 아니라 그 이름이 가리키는 값이 나옵니다. print("location")처럼 따옴표를 붙이면 이름을 찾지 않고 글자 location을 보여 줍니다.</a:t>
            </a:r>
          </a:p>
          <a:p xmlns:a="http://schemas.openxmlformats.org/drawingml/2006/main">
            <a:r>
              <a:t/>
            </a:r>
          </a:p>
          <a:p xmlns:a="http://schemas.openxmlformats.org/drawingml/2006/main">
            <a:r>
              <a:t>**헷갈리는 경우.** 한 이름이 무엇을 뜻하는지는 작성자가 정한 약속입니다. 온도를 x로 저장해도 실행될 수 있지만 업무 목적을 읽기 어렵습니다. 의미가 분명한 이름을 쓰되 이름만 보고 단위가 맞다고 단정하지 않습니다.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location = "입구"</a:t>
            </a:r>
          </a:p>
          <a:p xmlns:a="http://schemas.openxmlformats.org/drawingml/2006/main">
            <a:r>
              <a:t>temperature_c = 22.5</a:t>
            </a:r>
          </a:p>
          <a:p xmlns:a="http://schemas.openxmlformats.org/drawingml/2006/main">
            <a:r>
              <a:t>print(location)</a:t>
            </a:r>
          </a:p>
          <a:p xmlns:a="http://schemas.openxmlformats.org/drawingml/2006/main">
            <a:r>
              <a:t>print(temperature_c)</a:t>
            </a:r>
          </a:p>
          <a:p xmlns:a="http://schemas.openxmlformats.org/drawingml/2006/main">
            <a:r>
              <a:t>print("location")</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`location = "입구"` | 장소 문자열을 location이라는 이름에 연결합니다. |</a:t>
            </a:r>
          </a:p>
          <a:p xmlns:a="http://schemas.openxmlformats.org/drawingml/2006/main">
            <a:r>
              <a:t>| 2 | `temperature_c = 22.5` | 숫자 22.5를 temperature_c라는 이름에 연결합니다. |</a:t>
            </a:r>
          </a:p>
          <a:p xmlns:a="http://schemas.openxmlformats.org/drawingml/2006/main">
            <a:r>
              <a:t>| 3 | `print(location)` | 이름이 가리키는 장소 값을 보여 줍니다. |</a:t>
            </a:r>
          </a:p>
          <a:p xmlns:a="http://schemas.openxmlformats.org/drawingml/2006/main">
            <a:r>
              <a:t>| 4 | `print(temperature_c)` | 이름이 가리키는 온도 값을 보여 줍니다. |</a:t>
            </a:r>
          </a:p>
          <a:p xmlns:a="http://schemas.openxmlformats.org/drawingml/2006/main">
            <a:r>
              <a:t>| 5 | `print("location")` | 따옴표 안의 글자 location을 그대로 보여 줍니다.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code/A04_example.py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work/A04_example.py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입구</a:t>
            </a:r>
          </a:p>
          <a:p xmlns:a="http://schemas.openxmlformats.org/drawingml/2006/main">
            <a:r>
              <a:t>22.5</a:t>
            </a:r>
          </a:p>
          <a:p xmlns:a="http://schemas.openxmlformats.org/drawingml/2006/main">
            <a:r>
              <a:t>location</a:t>
            </a:r>
          </a:p>
          <a:p xmlns:a="http://schemas.openxmlformats.org/drawingml/2006/main">
            <a:r>
              <a:t>```</a:t>
            </a:r>
          </a:p>
          <a:p xmlns:a="http://schemas.openxmlformats.org/drawingml/2006/main">
            <a:r>
              <a:t/>
            </a:r>
          </a:p>
          <a:p xmlns:a="http://schemas.openxmlformats.org/drawingml/2006/main">
            <a:r>
              <a:t>작은 수정: `입구`를 `창고`로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창고</a:t>
            </a:r>
          </a:p>
          <a:p xmlns:a="http://schemas.openxmlformats.org/drawingml/2006/main">
            <a:r>
              <a:t>22.5</a:t>
            </a:r>
          </a:p>
          <a:p xmlns:a="http://schemas.openxmlformats.org/drawingml/2006/main">
            <a:r>
              <a:t>location</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값과 이름을 서로 다른 색으로 표시합니다.</a:t>
            </a:r>
          </a:p>
          <a:p xmlns:a="http://schemas.openxmlformats.org/drawingml/2006/main">
            <a:r>
              <a:t>2. location을 창고로 바꾸면 변할 출력 줄을 먼저 고릅니다.</a:t>
            </a:r>
          </a:p>
          <a:p xmlns:a="http://schemas.openxmlformats.org/drawingml/2006/main">
            <a:r>
              <a:t>3. 작업본에서 문자열 한 곳만 바꾸고 저장·실행합니다.</a:t>
            </a:r>
          </a:p>
          <a:p xmlns:a="http://schemas.openxmlformats.org/drawingml/2006/main">
            <a:r>
              <a:t>4. 변하지 않은 두 출력 줄의 이유를 씁니다.</a:t>
            </a:r>
          </a:p>
          <a:p xmlns:a="http://schemas.openxmlformats.org/drawingml/2006/main">
            <a:r>
              <a:t/>
            </a:r>
          </a:p>
          <a:p xmlns:a="http://schemas.openxmlformats.org/drawingml/2006/main">
            <a:r>
              <a:t>예상 결과: 첫 출력만 창고로 바뀌고 온도와 글자 location은 유지됩니다.</a:t>
            </a:r>
          </a:p>
          <a:p xmlns:a="http://schemas.openxmlformats.org/drawingml/2006/main">
            <a:r>
              <a:t/>
            </a:r>
          </a:p>
          <a:p xmlns:a="http://schemas.openxmlformats.org/drawingml/2006/main">
            <a:r>
              <a:t>확인 질문: print(location)과 print("location")은 왜 다를까요?</a:t>
            </a:r>
          </a:p>
          <a:p xmlns:a="http://schemas.openxmlformats.org/drawingml/2006/main">
            <a:r>
              <a:t/>
            </a:r>
          </a:p>
          <a:p xmlns:a="http://schemas.openxmlformats.org/drawingml/2006/main">
            <a:r>
              <a:t>막혔을 때: NameError가 나오면 대문자·소문자와 밑줄을 비교하고 그 이름에 값을 연결한 줄이 먼저 실행되는지 확인합니다.</a:t>
            </a:r>
          </a:p>
          <a:p xmlns:a="http://schemas.openxmlformats.org/drawingml/2006/main">
            <a:r>
              <a:t/>
            </a:r>
          </a:p>
          <a:p xmlns:a="http://schemas.openxmlformats.org/drawingml/2006/main">
            <a:r>
              <a:t>[활동 자료와 작성칸](practice-guide.md#a04--변수는-값에-붙인-이름)에서 A04를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A04 제공 코드 출력입니다. 장소를 창고로 바꾸면 첫 줄만 창고가 되고 온도와 글자 location은 그대로입니다.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제공된 완성 파일의 전체 코드입니다. 압축을 푼 course 폴더의 터미널에서 실행합니다.</a:t>
            </a:r>
          </a:p>
          <a:p xmlns:a="http://schemas.openxmlformats.org/drawingml/2006/main">
            <a:r>
              <a:t>명령: python -X utf8 code/A05_example.py</a:t>
            </a:r>
          </a:p>
          <a:p xmlns:a="http://schemas.openxmlformats.org/drawingml/2006/main">
            <a:r>
              <a:t>작업본은 code 대신 work 경로를 지정합니다. 개인 실행이 막히면 같은 입력으로 수동 추적 후 강사 결과와 비교합니다.</a:t>
            </a:r>
          </a:p>
          <a:p xmlns:a="http://schemas.openxmlformats.org/drawingml/2006/main">
            <a:r>
              <a:t/>
            </a:r>
          </a:p>
          <a:p xmlns:a="http://schemas.openxmlformats.org/drawingml/2006/main">
            <a:r>
              <a:t>[활동 A05 상세 원문]</a:t>
            </a:r>
          </a:p>
          <a:p xmlns:a="http://schemas.openxmlformats.org/drawingml/2006/main">
            <a:r>
              <a:t>**개념.** 코드는 위에서 아래로 실행됩니다. 같은 이름에 새 값을 대입하면 이후에 그 이름을 읽을 때 새 값을 사용합니다. 이전 출력은 이미 화면에 남은 결과이며 새 대입이 과거 화면을 다시 계산하지는 않습니다.</a:t>
            </a:r>
          </a:p>
          <a:p xmlns:a="http://schemas.openxmlformats.org/drawingml/2006/main">
            <a:r>
              <a:t/>
            </a:r>
          </a:p>
          <a:p xmlns:a="http://schemas.openxmlformats.org/drawingml/2006/main">
            <a:r>
              <a:t>**왜 필요한가.** 업무 기록을 갱신하는 코드의 순서를 이해하려면 어느 시점의 값을 보고 있는지 추적해야 합니다. 이름은 같은데 출력이 다른 상황을 오류로 오해하지 않도록 한 줄씩 현재 값을 적습니다.</a:t>
            </a:r>
          </a:p>
          <a:p xmlns:a="http://schemas.openxmlformats.org/drawingml/2006/main">
            <a:r>
              <a:t/>
            </a:r>
          </a:p>
          <a:p xmlns:a="http://schemas.openxmlformats.org/drawingml/2006/main">
            <a:r>
              <a:t>**함께 보는 예.** 아래 코드에서 첫 출력은 22.5이고, 새 대입 다음 출력은 24.0입니다. 이 순서를 작업 전·작업 후 카드로 나누면 값 변화가 보입니다.</a:t>
            </a:r>
          </a:p>
          <a:p xmlns:a="http://schemas.openxmlformats.org/drawingml/2006/main">
            <a:r>
              <a:t/>
            </a:r>
          </a:p>
          <a:p xmlns:a="http://schemas.openxmlformats.org/drawingml/2006/main">
            <a:r>
              <a:t>**헷갈리는 경우.** temperature_c = temperature_c + 1은 양변이 같다는 수학식이 아닙니다. 기존 값을 읽고 1을 더한 결과를 같은 이름에 다시 연결하는 명령입니다. 이 활동에서는 단순 재대입부터 확인합니다.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temperature_c = 22.5</a:t>
            </a:r>
          </a:p>
          <a:p xmlns:a="http://schemas.openxmlformats.org/drawingml/2006/main">
            <a:r>
              <a:t>print(temperature_c)</a:t>
            </a:r>
          </a:p>
          <a:p xmlns:a="http://schemas.openxmlformats.org/drawingml/2006/main">
            <a:r>
              <a:t>temperature_c = 24.0</a:t>
            </a:r>
          </a:p>
          <a:p xmlns:a="http://schemas.openxmlformats.org/drawingml/2006/main">
            <a:r>
              <a:t>print(temperature_c)</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`temperature_c = 22.5` | 처음 온도를 22.5로 정합니다. |</a:t>
            </a:r>
          </a:p>
          <a:p xmlns:a="http://schemas.openxmlformats.org/drawingml/2006/main">
            <a:r>
              <a:t>| 2 | `print(temperature_c)` | 현재 값을 출력합니다. |</a:t>
            </a:r>
          </a:p>
          <a:p xmlns:a="http://schemas.openxmlformats.org/drawingml/2006/main">
            <a:r>
              <a:t>| 3 | `temperature_c = 24.0` | 같은 이름에 새 값 24.0을 연결합니다. |</a:t>
            </a:r>
          </a:p>
          <a:p xmlns:a="http://schemas.openxmlformats.org/drawingml/2006/main">
            <a:r>
              <a:t>| 4 | `print(temperature_c)` | 새로 연결된 현재 값을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code/A05_example.py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work/A05_example.py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22.5</a:t>
            </a:r>
          </a:p>
          <a:p xmlns:a="http://schemas.openxmlformats.org/drawingml/2006/main">
            <a:r>
              <a:t>24.0</a:t>
            </a:r>
          </a:p>
          <a:p xmlns:a="http://schemas.openxmlformats.org/drawingml/2006/main">
            <a:r>
              <a:t>```</a:t>
            </a:r>
          </a:p>
          <a:p xmlns:a="http://schemas.openxmlformats.org/drawingml/2006/main">
            <a:r>
              <a:t/>
            </a:r>
          </a:p>
          <a:p xmlns:a="http://schemas.openxmlformats.org/drawingml/2006/main">
            <a:r>
              <a:t>작은 수정: `24.0`를 `25.0`로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22.5</a:t>
            </a:r>
          </a:p>
          <a:p xmlns:a="http://schemas.openxmlformats.org/drawingml/2006/main">
            <a:r>
              <a:t>25.0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각 줄 실행 뒤 현재 temperature_c 값을 표에 적습니다.</a:t>
            </a:r>
          </a:p>
          <a:p xmlns:a="http://schemas.openxmlformats.org/drawingml/2006/main">
            <a:r>
              <a:t>2. 두 번째 대입값을 25.0으로 바꿀 때 출력 두 줄을 예상합니다.</a:t>
            </a:r>
          </a:p>
          <a:p xmlns:a="http://schemas.openxmlformats.org/drawingml/2006/main">
            <a:r>
              <a:t>3. 작업본을 수정해 실행하거나 강사 실행과 대조합니다.</a:t>
            </a:r>
          </a:p>
          <a:p xmlns:a="http://schemas.openxmlformats.org/drawingml/2006/main">
            <a:r>
              <a:t>4. 첫 출력이 그대로인 이유를 자신의 말로 씁니다.</a:t>
            </a:r>
          </a:p>
          <a:p xmlns:a="http://schemas.openxmlformats.org/drawingml/2006/main">
            <a:r>
              <a:t/>
            </a:r>
          </a:p>
          <a:p xmlns:a="http://schemas.openxmlformats.org/drawingml/2006/main">
            <a:r>
              <a:t>예상 결과: 첫 출력 22.5, 둘째 출력 25.0.</a:t>
            </a:r>
          </a:p>
          <a:p xmlns:a="http://schemas.openxmlformats.org/drawingml/2006/main">
            <a:r>
              <a:t/>
            </a:r>
          </a:p>
          <a:p xmlns:a="http://schemas.openxmlformats.org/drawingml/2006/main">
            <a:r>
              <a:t>확인 질문: 마지막 print를 첫 대입 앞에 옮기면 어떤 문제가 생길까요?</a:t>
            </a:r>
          </a:p>
          <a:p xmlns:a="http://schemas.openxmlformats.org/drawingml/2006/main">
            <a:r>
              <a:t/>
            </a:r>
          </a:p>
          <a:p xmlns:a="http://schemas.openxmlformats.org/drawingml/2006/main">
            <a:r>
              <a:t>막혔을 때: 값이 예상과 다르면 실행 순서대로 현재 값을 다시 써 봅니다. 편집기의 위치와 실제 실행 순서를 건너뛰지 않습니다.</a:t>
            </a:r>
          </a:p>
          <a:p xmlns:a="http://schemas.openxmlformats.org/drawingml/2006/main">
            <a:r>
              <a:t/>
            </a:r>
          </a:p>
          <a:p xmlns:a="http://schemas.openxmlformats.org/drawingml/2006/main">
            <a:r>
              <a:t>[활동 자료와 작성칸](practice-guide.md#a05--다시-대입하면-현재-값이-바뀐다)에서 A05를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A05 상세 원문]</a:t>
            </a:r>
          </a:p>
          <a:p xmlns:a="http://schemas.openxmlformats.org/drawingml/2006/main">
            <a:r>
              <a:t>**개념.** 코드는 위에서 아래로 실행됩니다. 같은 이름에 새 값을 대입하면 이후에 그 이름을 읽을 때 새 값을 사용합니다. 이전 출력은 이미 화면에 남은 결과이며 새 대입이 과거 화면을 다시 계산하지는 않습니다.</a:t>
            </a:r>
          </a:p>
          <a:p xmlns:a="http://schemas.openxmlformats.org/drawingml/2006/main">
            <a:r>
              <a:t/>
            </a:r>
          </a:p>
          <a:p xmlns:a="http://schemas.openxmlformats.org/drawingml/2006/main">
            <a:r>
              <a:t>**왜 필요한가.** 업무 기록을 갱신하는 코드의 순서를 이해하려면 어느 시점의 값을 보고 있는지 추적해야 합니다. 이름은 같은데 출력이 다른 상황을 오류로 오해하지 않도록 한 줄씩 현재 값을 적습니다.</a:t>
            </a:r>
          </a:p>
          <a:p xmlns:a="http://schemas.openxmlformats.org/drawingml/2006/main">
            <a:r>
              <a:t/>
            </a:r>
          </a:p>
          <a:p xmlns:a="http://schemas.openxmlformats.org/drawingml/2006/main">
            <a:r>
              <a:t>**함께 보는 예.** 아래 코드에서 첫 출력은 22.5이고, 새 대입 다음 출력은 24.0입니다. 이 순서를 작업 전·작업 후 카드로 나누면 값 변화가 보입니다.</a:t>
            </a:r>
          </a:p>
          <a:p xmlns:a="http://schemas.openxmlformats.org/drawingml/2006/main">
            <a:r>
              <a:t/>
            </a:r>
          </a:p>
          <a:p xmlns:a="http://schemas.openxmlformats.org/drawingml/2006/main">
            <a:r>
              <a:t>**헷갈리는 경우.** temperature_c = temperature_c + 1은 양변이 같다는 수학식이 아닙니다. 기존 값을 읽고 1을 더한 결과를 같은 이름에 다시 연결하는 명령입니다. 이 활동에서는 단순 재대입부터 확인합니다.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temperature_c = 22.5</a:t>
            </a:r>
          </a:p>
          <a:p xmlns:a="http://schemas.openxmlformats.org/drawingml/2006/main">
            <a:r>
              <a:t>print(temperature_c)</a:t>
            </a:r>
          </a:p>
          <a:p xmlns:a="http://schemas.openxmlformats.org/drawingml/2006/main">
            <a:r>
              <a:t>temperature_c = 24.0</a:t>
            </a:r>
          </a:p>
          <a:p xmlns:a="http://schemas.openxmlformats.org/drawingml/2006/main">
            <a:r>
              <a:t>print(temperature_c)</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`temperature_c = 22.5` | 처음 온도를 22.5로 정합니다. |</a:t>
            </a:r>
          </a:p>
          <a:p xmlns:a="http://schemas.openxmlformats.org/drawingml/2006/main">
            <a:r>
              <a:t>| 2 | `print(temperature_c)` | 현재 값을 출력합니다. |</a:t>
            </a:r>
          </a:p>
          <a:p xmlns:a="http://schemas.openxmlformats.org/drawingml/2006/main">
            <a:r>
              <a:t>| 3 | `temperature_c = 24.0` | 같은 이름에 새 값 24.0을 연결합니다. |</a:t>
            </a:r>
          </a:p>
          <a:p xmlns:a="http://schemas.openxmlformats.org/drawingml/2006/main">
            <a:r>
              <a:t>| 4 | `print(temperature_c)` | 새로 연결된 현재 값을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code/A05_example.py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work/A05_example.py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22.5</a:t>
            </a:r>
          </a:p>
          <a:p xmlns:a="http://schemas.openxmlformats.org/drawingml/2006/main">
            <a:r>
              <a:t>24.0</a:t>
            </a:r>
          </a:p>
          <a:p xmlns:a="http://schemas.openxmlformats.org/drawingml/2006/main">
            <a:r>
              <a:t>```</a:t>
            </a:r>
          </a:p>
          <a:p xmlns:a="http://schemas.openxmlformats.org/drawingml/2006/main">
            <a:r>
              <a:t/>
            </a:r>
          </a:p>
          <a:p xmlns:a="http://schemas.openxmlformats.org/drawingml/2006/main">
            <a:r>
              <a:t>작은 수정: `24.0`를 `25.0`로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22.5</a:t>
            </a:r>
          </a:p>
          <a:p xmlns:a="http://schemas.openxmlformats.org/drawingml/2006/main">
            <a:r>
              <a:t>25.0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각 줄 실행 뒤 현재 temperature_c 값을 표에 적습니다.</a:t>
            </a:r>
          </a:p>
          <a:p xmlns:a="http://schemas.openxmlformats.org/drawingml/2006/main">
            <a:r>
              <a:t>2. 두 번째 대입값을 25.0으로 바꿀 때 출력 두 줄을 예상합니다.</a:t>
            </a:r>
          </a:p>
          <a:p xmlns:a="http://schemas.openxmlformats.org/drawingml/2006/main">
            <a:r>
              <a:t>3. 작업본을 수정해 실행하거나 강사 실행과 대조합니다.</a:t>
            </a:r>
          </a:p>
          <a:p xmlns:a="http://schemas.openxmlformats.org/drawingml/2006/main">
            <a:r>
              <a:t>4. 첫 출력이 그대로인 이유를 자신의 말로 씁니다.</a:t>
            </a:r>
          </a:p>
          <a:p xmlns:a="http://schemas.openxmlformats.org/drawingml/2006/main">
            <a:r>
              <a:t/>
            </a:r>
          </a:p>
          <a:p xmlns:a="http://schemas.openxmlformats.org/drawingml/2006/main">
            <a:r>
              <a:t>예상 결과: 첫 출력 22.5, 둘째 출력 25.0.</a:t>
            </a:r>
          </a:p>
          <a:p xmlns:a="http://schemas.openxmlformats.org/drawingml/2006/main">
            <a:r>
              <a:t/>
            </a:r>
          </a:p>
          <a:p xmlns:a="http://schemas.openxmlformats.org/drawingml/2006/main">
            <a:r>
              <a:t>확인 질문: 마지막 print를 첫 대입 앞에 옮기면 어떤 문제가 생길까요?</a:t>
            </a:r>
          </a:p>
          <a:p xmlns:a="http://schemas.openxmlformats.org/drawingml/2006/main">
            <a:r>
              <a:t/>
            </a:r>
          </a:p>
          <a:p xmlns:a="http://schemas.openxmlformats.org/drawingml/2006/main">
            <a:r>
              <a:t>막혔을 때: 값이 예상과 다르면 실행 순서대로 현재 값을 다시 써 봅니다. 편집기의 위치와 실제 실행 순서를 건너뛰지 않습니다.</a:t>
            </a:r>
          </a:p>
          <a:p xmlns:a="http://schemas.openxmlformats.org/drawingml/2006/main">
            <a:r>
              <a:t/>
            </a:r>
          </a:p>
          <a:p xmlns:a="http://schemas.openxmlformats.org/drawingml/2006/main">
            <a:r>
              <a:t>[활동 자료와 작성칸](practice-guide.md#a05--다시-대입하면-현재-값이-바뀐다)에서 A05를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A05 상세 원문]</a:t>
            </a:r>
          </a:p>
          <a:p xmlns:a="http://schemas.openxmlformats.org/drawingml/2006/main">
            <a:r>
              <a:t>**개념.** 코드는 위에서 아래로 실행됩니다. 같은 이름에 새 값을 대입하면 이후에 그 이름을 읽을 때 새 값을 사용합니다. 이전 출력은 이미 화면에 남은 결과이며 새 대입이 과거 화면을 다시 계산하지는 않습니다.</a:t>
            </a:r>
          </a:p>
          <a:p xmlns:a="http://schemas.openxmlformats.org/drawingml/2006/main">
            <a:r>
              <a:t/>
            </a:r>
          </a:p>
          <a:p xmlns:a="http://schemas.openxmlformats.org/drawingml/2006/main">
            <a:r>
              <a:t>**왜 필요한가.** 업무 기록을 갱신하는 코드의 순서를 이해하려면 어느 시점의 값을 보고 있는지 추적해야 합니다. 이름은 같은데 출력이 다른 상황을 오류로 오해하지 않도록 한 줄씩 현재 값을 적습니다.</a:t>
            </a:r>
          </a:p>
          <a:p xmlns:a="http://schemas.openxmlformats.org/drawingml/2006/main">
            <a:r>
              <a:t/>
            </a:r>
          </a:p>
          <a:p xmlns:a="http://schemas.openxmlformats.org/drawingml/2006/main">
            <a:r>
              <a:t>**함께 보는 예.** 아래 코드에서 첫 출력은 22.5이고, 새 대입 다음 출력은 24.0입니다. 이 순서를 작업 전·작업 후 카드로 나누면 값 변화가 보입니다.</a:t>
            </a:r>
          </a:p>
          <a:p xmlns:a="http://schemas.openxmlformats.org/drawingml/2006/main">
            <a:r>
              <a:t/>
            </a:r>
          </a:p>
          <a:p xmlns:a="http://schemas.openxmlformats.org/drawingml/2006/main">
            <a:r>
              <a:t>**헷갈리는 경우.** temperature_c = temperature_c + 1은 양변이 같다는 수학식이 아닙니다. 기존 값을 읽고 1을 더한 결과를 같은 이름에 다시 연결하는 명령입니다. 이 활동에서는 단순 재대입부터 확인합니다.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temperature_c = 22.5</a:t>
            </a:r>
          </a:p>
          <a:p xmlns:a="http://schemas.openxmlformats.org/drawingml/2006/main">
            <a:r>
              <a:t>print(temperature_c)</a:t>
            </a:r>
          </a:p>
          <a:p xmlns:a="http://schemas.openxmlformats.org/drawingml/2006/main">
            <a:r>
              <a:t>temperature_c = 24.0</a:t>
            </a:r>
          </a:p>
          <a:p xmlns:a="http://schemas.openxmlformats.org/drawingml/2006/main">
            <a:r>
              <a:t>print(temperature_c)</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`temperature_c = 22.5` | 처음 온도를 22.5로 정합니다. |</a:t>
            </a:r>
          </a:p>
          <a:p xmlns:a="http://schemas.openxmlformats.org/drawingml/2006/main">
            <a:r>
              <a:t>| 2 | `print(temperature_c)` | 현재 값을 출력합니다. |</a:t>
            </a:r>
          </a:p>
          <a:p xmlns:a="http://schemas.openxmlformats.org/drawingml/2006/main">
            <a:r>
              <a:t>| 3 | `temperature_c = 24.0` | 같은 이름에 새 값 24.0을 연결합니다. |</a:t>
            </a:r>
          </a:p>
          <a:p xmlns:a="http://schemas.openxmlformats.org/drawingml/2006/main">
            <a:r>
              <a:t>| 4 | `print(temperature_c)` | 새로 연결된 현재 값을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code/A05_example.py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work/A05_example.py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22.5</a:t>
            </a:r>
          </a:p>
          <a:p xmlns:a="http://schemas.openxmlformats.org/drawingml/2006/main">
            <a:r>
              <a:t>24.0</a:t>
            </a:r>
          </a:p>
          <a:p xmlns:a="http://schemas.openxmlformats.org/drawingml/2006/main">
            <a:r>
              <a:t>```</a:t>
            </a:r>
          </a:p>
          <a:p xmlns:a="http://schemas.openxmlformats.org/drawingml/2006/main">
            <a:r>
              <a:t/>
            </a:r>
          </a:p>
          <a:p xmlns:a="http://schemas.openxmlformats.org/drawingml/2006/main">
            <a:r>
              <a:t>작은 수정: `24.0`를 `25.0`로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22.5</a:t>
            </a:r>
          </a:p>
          <a:p xmlns:a="http://schemas.openxmlformats.org/drawingml/2006/main">
            <a:r>
              <a:t>25.0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각 줄 실행 뒤 현재 temperature_c 값을 표에 적습니다.</a:t>
            </a:r>
          </a:p>
          <a:p xmlns:a="http://schemas.openxmlformats.org/drawingml/2006/main">
            <a:r>
              <a:t>2. 두 번째 대입값을 25.0으로 바꿀 때 출력 두 줄을 예상합니다.</a:t>
            </a:r>
          </a:p>
          <a:p xmlns:a="http://schemas.openxmlformats.org/drawingml/2006/main">
            <a:r>
              <a:t>3. 작업본을 수정해 실행하거나 강사 실행과 대조합니다.</a:t>
            </a:r>
          </a:p>
          <a:p xmlns:a="http://schemas.openxmlformats.org/drawingml/2006/main">
            <a:r>
              <a:t>4. 첫 출력이 그대로인 이유를 자신의 말로 씁니다.</a:t>
            </a:r>
          </a:p>
          <a:p xmlns:a="http://schemas.openxmlformats.org/drawingml/2006/main">
            <a:r>
              <a:t/>
            </a:r>
          </a:p>
          <a:p xmlns:a="http://schemas.openxmlformats.org/drawingml/2006/main">
            <a:r>
              <a:t>예상 결과: 첫 출력 22.5, 둘째 출력 25.0.</a:t>
            </a:r>
          </a:p>
          <a:p xmlns:a="http://schemas.openxmlformats.org/drawingml/2006/main">
            <a:r>
              <a:t/>
            </a:r>
          </a:p>
          <a:p xmlns:a="http://schemas.openxmlformats.org/drawingml/2006/main">
            <a:r>
              <a:t>확인 질문: 마지막 print를 첫 대입 앞에 옮기면 어떤 문제가 생길까요?</a:t>
            </a:r>
          </a:p>
          <a:p xmlns:a="http://schemas.openxmlformats.org/drawingml/2006/main">
            <a:r>
              <a:t/>
            </a:r>
          </a:p>
          <a:p xmlns:a="http://schemas.openxmlformats.org/drawingml/2006/main">
            <a:r>
              <a:t>막혔을 때: 값이 예상과 다르면 실행 순서대로 현재 값을 다시 써 봅니다. 편집기의 위치와 실제 실행 순서를 건너뛰지 않습니다.</a:t>
            </a:r>
          </a:p>
          <a:p xmlns:a="http://schemas.openxmlformats.org/drawingml/2006/main">
            <a:r>
              <a:t/>
            </a:r>
          </a:p>
          <a:p xmlns:a="http://schemas.openxmlformats.org/drawingml/2006/main">
            <a:r>
              <a:t>[활동 자료와 작성칸](practice-guide.md#a05--다시-대입하면-현재-값이-바뀐다)에서 A05를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제공된 완성 파일의 전체 코드입니다. 압축을 푼 course 폴더의 터미널에서 실행합니다.</a:t>
            </a:r>
          </a:p>
          <a:p xmlns:a="http://schemas.openxmlformats.org/drawingml/2006/main">
            <a:r>
              <a:t>명령: python -X utf8 code/A06_example.py</a:t>
            </a:r>
          </a:p>
          <a:p xmlns:a="http://schemas.openxmlformats.org/drawingml/2006/main">
            <a:r>
              <a:t>작업본은 code 대신 work 경로를 지정합니다. 개인 실행이 막히면 같은 입력으로 수동 추적 후 강사 결과와 비교합니다.</a:t>
            </a:r>
          </a:p>
          <a:p xmlns:a="http://schemas.openxmlformats.org/drawingml/2006/main">
            <a:r>
              <a:t/>
            </a:r>
          </a:p>
          <a:p xmlns:a="http://schemas.openxmlformats.org/drawingml/2006/main">
            <a:r>
              <a:t>[활동 A06 상세 원문]</a:t>
            </a:r>
          </a:p>
          <a:p xmlns:a="http://schemas.openxmlformats.org/drawingml/2006/main">
            <a:r>
              <a:t>**개념.** 오류를 고치는 일은 프로그램을 무작정 바꾸는 것이 아니라 보이는 단서로 원인을 좁히는 작업입니다. NameError는 실행 중 찾으려는 이름을 알 수 없다는 뜻입니다.</a:t>
            </a:r>
          </a:p>
          <a:p xmlns:a="http://schemas.openxmlformats.org/drawingml/2006/main">
            <a:r>
              <a:t/>
            </a:r>
          </a:p>
          <a:p xmlns:a="http://schemas.openxmlformats.org/drawingml/2006/main">
            <a:r>
              <a:t>**왜 필요한가.** 변수의 철자가 다르면 컴퓨터는 서로 다른 이름으로 취급합니다. 업무 의미가 같아 보인다는 이유로 temp와 temperature_c를 자동 연결하지 않습니다. 작성한 이름과 사용한 이름의 일치를 확인해야 합니다.</a:t>
            </a:r>
          </a:p>
          <a:p xmlns:a="http://schemas.openxmlformats.org/drawingml/2006/main">
            <a:r>
              <a:t/>
            </a:r>
          </a:p>
          <a:p xmlns:a="http://schemas.openxmlformats.org/drawingml/2006/main">
            <a:r>
              <a:t>**함께 보는 예.** 아래 정상 예는 sensor_id와 temperature_c를 각각 정의한 뒤 출력합니다. 고의 오류 카드에는 print(temperature)가 있으며, 정의된 이름은 temperature_c뿐입니다.</a:t>
            </a:r>
          </a:p>
          <a:p xmlns:a="http://schemas.openxmlformats.org/drawingml/2006/main">
            <a:r>
              <a:t/>
            </a:r>
          </a:p>
          <a:p xmlns:a="http://schemas.openxmlformats.org/drawingml/2006/main">
            <a:r>
              <a:t>**헷갈리는 경우.** 오류를 없애려고 새 변수 temperature = 0을 무조건 추가하면 원래 온도가 아닌 0이 출력될 수 있습니다. 의도한 값이 어떤 이름에 들어 있는지 먼저 찾아야 합니다.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sensor_id = "S01"</a:t>
            </a:r>
          </a:p>
          <a:p xmlns:a="http://schemas.openxmlformats.org/drawingml/2006/main">
            <a:r>
              <a:t>temperature_c = 22.5</a:t>
            </a:r>
          </a:p>
          <a:p xmlns:a="http://schemas.openxmlformats.org/drawingml/2006/main">
            <a:r>
              <a:t>print(sensor_id, temperature_c)</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`sensor_id = "S01"` | 센서를 구별할 문자열을 정합니다. |</a:t>
            </a:r>
          </a:p>
          <a:p xmlns:a="http://schemas.openxmlformats.org/drawingml/2006/main">
            <a:r>
              <a:t>| 2 | `temperature_c = 22.5` | 섭씨 온도 값을 정합니다. |</a:t>
            </a:r>
          </a:p>
          <a:p xmlns:a="http://schemas.openxmlformats.org/drawingml/2006/main">
            <a:r>
              <a:t>| 3 | `print(sensor_id, temperature_c)` | 두 이름이 가리키는 값을 함께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code/A06_example.py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work/A06_example.py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S01 22.5</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data/A06_input.md의 오류 코드에서 정의한 이름과 사용하는 이름을 표시합니다.</a:t>
            </a:r>
          </a:p>
          <a:p xmlns:a="http://schemas.openxmlformats.org/drawingml/2006/main">
            <a:r>
              <a:t>2. 원래 뜻을 유지하는 수정 한 곳을 정합니다.</a:t>
            </a:r>
          </a:p>
          <a:p xmlns:a="http://schemas.openxmlformats.org/drawingml/2006/main">
            <a:r>
              <a:t>3. work의 정상 예와 비교하며 수정안을 적고 실행 결과를 확인합니다.</a:t>
            </a:r>
          </a:p>
          <a:p xmlns:a="http://schemas.openxmlformats.org/drawingml/2006/main">
            <a:r>
              <a:t>4. 원인·수정 위치·다시 확인한 출력을 노트에 기록합니다.</a:t>
            </a:r>
          </a:p>
          <a:p xmlns:a="http://schemas.openxmlformats.org/drawingml/2006/main">
            <a:r>
              <a:t/>
            </a:r>
          </a:p>
          <a:p xmlns:a="http://schemas.openxmlformats.org/drawingml/2006/main">
            <a:r>
              <a:t>예상 결과: temperature를 temperature_c로 맞추면 S01 22.5가 출력됩니다.</a:t>
            </a:r>
          </a:p>
          <a:p xmlns:a="http://schemas.openxmlformats.org/drawingml/2006/main">
            <a:r>
              <a:t/>
            </a:r>
          </a:p>
          <a:p xmlns:a="http://schemas.openxmlformats.org/drawingml/2006/main">
            <a:r>
              <a:t>확인 질문: 오류가 사라졌다는 것만으로 올바른 수정이라고 할 수 있나요?</a:t>
            </a:r>
          </a:p>
          <a:p xmlns:a="http://schemas.openxmlformats.org/drawingml/2006/main">
            <a:r>
              <a:t/>
            </a:r>
          </a:p>
          <a:p xmlns:a="http://schemas.openxmlformats.org/drawingml/2006/main">
            <a:r>
              <a:t>막혔을 때: 철자 차이를 찾지 못하면 이름을 한 글자씩 비교합니다. 영문 대소문자와 밑줄도 이름의 일부입니다.</a:t>
            </a:r>
          </a:p>
          <a:p xmlns:a="http://schemas.openxmlformats.org/drawingml/2006/main">
            <a:r>
              <a:t/>
            </a:r>
          </a:p>
          <a:p xmlns:a="http://schemas.openxmlformats.org/drawingml/2006/main">
            <a:r>
              <a:t>[활동 자료와 작성칸](practice-guide.md#a06--이름-오류를-근거로-고치기)에서 A06를 엽니다.</a:t>
            </a:r>
          </a:p>
          <a:p xmlns:a="http://schemas.openxmlformats.org/drawingml/2006/main">
            <a:r>
              <a:t/>
            </a:r>
          </a:p>
          <a:p xmlns:a="http://schemas.openxmlformats.org/drawingml/2006/main">
            <a:r>
              <a:t># 3구간 · 문자와 숫자의 연산</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A06 상세 원문]</a:t>
            </a:r>
          </a:p>
          <a:p xmlns:a="http://schemas.openxmlformats.org/drawingml/2006/main">
            <a:r>
              <a:t>**개념.** 오류를 고치는 일은 프로그램을 무작정 바꾸는 것이 아니라 보이는 단서로 원인을 좁히는 작업입니다. NameError는 실행 중 찾으려는 이름을 알 수 없다는 뜻입니다.</a:t>
            </a:r>
          </a:p>
          <a:p xmlns:a="http://schemas.openxmlformats.org/drawingml/2006/main">
            <a:r>
              <a:t/>
            </a:r>
          </a:p>
          <a:p xmlns:a="http://schemas.openxmlformats.org/drawingml/2006/main">
            <a:r>
              <a:t>**왜 필요한가.** 변수의 철자가 다르면 컴퓨터는 서로 다른 이름으로 취급합니다. 업무 의미가 같아 보인다는 이유로 temp와 temperature_c를 자동 연결하지 않습니다. 작성한 이름과 사용한 이름의 일치를 확인해야 합니다.</a:t>
            </a:r>
          </a:p>
          <a:p xmlns:a="http://schemas.openxmlformats.org/drawingml/2006/main">
            <a:r>
              <a:t/>
            </a:r>
          </a:p>
          <a:p xmlns:a="http://schemas.openxmlformats.org/drawingml/2006/main">
            <a:r>
              <a:t>**함께 보는 예.** 아래 정상 예는 sensor_id와 temperature_c를 각각 정의한 뒤 출력합니다. 고의 오류 카드에는 print(temperature)가 있으며, 정의된 이름은 temperature_c뿐입니다.</a:t>
            </a:r>
          </a:p>
          <a:p xmlns:a="http://schemas.openxmlformats.org/drawingml/2006/main">
            <a:r>
              <a:t/>
            </a:r>
          </a:p>
          <a:p xmlns:a="http://schemas.openxmlformats.org/drawingml/2006/main">
            <a:r>
              <a:t>**헷갈리는 경우.** 오류를 없애려고 새 변수 temperature = 0을 무조건 추가하면 원래 온도가 아닌 0이 출력될 수 있습니다. 의도한 값이 어떤 이름에 들어 있는지 먼저 찾아야 합니다.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sensor_id = "S01"</a:t>
            </a:r>
          </a:p>
          <a:p xmlns:a="http://schemas.openxmlformats.org/drawingml/2006/main">
            <a:r>
              <a:t>temperature_c = 22.5</a:t>
            </a:r>
          </a:p>
          <a:p xmlns:a="http://schemas.openxmlformats.org/drawingml/2006/main">
            <a:r>
              <a:t>print(sensor_id, temperature_c)</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`sensor_id = "S01"` | 센서를 구별할 문자열을 정합니다. |</a:t>
            </a:r>
          </a:p>
          <a:p xmlns:a="http://schemas.openxmlformats.org/drawingml/2006/main">
            <a:r>
              <a:t>| 2 | `temperature_c = 22.5` | 섭씨 온도 값을 정합니다. |</a:t>
            </a:r>
          </a:p>
          <a:p xmlns:a="http://schemas.openxmlformats.org/drawingml/2006/main">
            <a:r>
              <a:t>| 3 | `print(sensor_id, temperature_c)` | 두 이름이 가리키는 값을 함께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code/A06_example.py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work/A06_example.py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S01 22.5</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data/A06_input.md의 오류 코드에서 정의한 이름과 사용하는 이름을 표시합니다.</a:t>
            </a:r>
          </a:p>
          <a:p xmlns:a="http://schemas.openxmlformats.org/drawingml/2006/main">
            <a:r>
              <a:t>2. 원래 뜻을 유지하는 수정 한 곳을 정합니다.</a:t>
            </a:r>
          </a:p>
          <a:p xmlns:a="http://schemas.openxmlformats.org/drawingml/2006/main">
            <a:r>
              <a:t>3. work의 정상 예와 비교하며 수정안을 적고 실행 결과를 확인합니다.</a:t>
            </a:r>
          </a:p>
          <a:p xmlns:a="http://schemas.openxmlformats.org/drawingml/2006/main">
            <a:r>
              <a:t>4. 원인·수정 위치·다시 확인한 출력을 노트에 기록합니다.</a:t>
            </a:r>
          </a:p>
          <a:p xmlns:a="http://schemas.openxmlformats.org/drawingml/2006/main">
            <a:r>
              <a:t/>
            </a:r>
          </a:p>
          <a:p xmlns:a="http://schemas.openxmlformats.org/drawingml/2006/main">
            <a:r>
              <a:t>예상 결과: temperature를 temperature_c로 맞추면 S01 22.5가 출력됩니다.</a:t>
            </a:r>
          </a:p>
          <a:p xmlns:a="http://schemas.openxmlformats.org/drawingml/2006/main">
            <a:r>
              <a:t/>
            </a:r>
          </a:p>
          <a:p xmlns:a="http://schemas.openxmlformats.org/drawingml/2006/main">
            <a:r>
              <a:t>확인 질문: 오류가 사라졌다는 것만으로 올바른 수정이라고 할 수 있나요?</a:t>
            </a:r>
          </a:p>
          <a:p xmlns:a="http://schemas.openxmlformats.org/drawingml/2006/main">
            <a:r>
              <a:t/>
            </a:r>
          </a:p>
          <a:p xmlns:a="http://schemas.openxmlformats.org/drawingml/2006/main">
            <a:r>
              <a:t>막혔을 때: 철자 차이를 찾지 못하면 이름을 한 글자씩 비교합니다. 영문 대소문자와 밑줄도 이름의 일부입니다.</a:t>
            </a:r>
          </a:p>
          <a:p xmlns:a="http://schemas.openxmlformats.org/drawingml/2006/main">
            <a:r>
              <a:t/>
            </a:r>
          </a:p>
          <a:p xmlns:a="http://schemas.openxmlformats.org/drawingml/2006/main">
            <a:r>
              <a:t>[활동 자료와 작성칸](practice-guide.md#a06--이름-오류를-근거로-고치기)에서 A06를 엽니다.</a:t>
            </a:r>
          </a:p>
          <a:p xmlns:a="http://schemas.openxmlformats.org/drawingml/2006/main">
            <a:r>
              <a:t/>
            </a:r>
          </a:p>
          <a:p xmlns:a="http://schemas.openxmlformats.org/drawingml/2006/main">
            <a:r>
              <a:t># 3구간 · 문자와 숫자의 연산</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필수 개념 설명의 보충입니다.</a:t>
            </a:r>
          </a:p>
          <a:p xmlns:a="http://schemas.openxmlformats.org/drawingml/2006/main">
            <a:r>
              <a:t>창고에서 새 물품이 들어오고 일부가 나갑니다. 담당자는 ‘처음 8개, 입고 3개, 출고 2개’를 순서대로 기록합니다. Python에서는 현재 재고에 stock이라는 이름을 붙이고 각 작업이 끝날 때의 값을 연결합니다. 변수는 여러 값을 자동으로 보관하는 이력표가 아닙니다. 같은 이름에 새 값을 대입하면 그 시점의 값이 바뀝니다. 과거 기록이 필요하면 별도의 기록을 남겨야 합니다. 먼저 종이에 실행 줄·현재 값·출력 세 열을 만듭니다.</a:t>
            </a:r>
          </a:p>
          <a:p xmlns:a="http://schemas.openxmlformats.org/drawingml/2006/main">
            <a:r>
              <a:t/>
            </a:r>
          </a:p>
          <a:p xmlns:a="http://schemas.openxmlformats.org/drawingml/2006/main">
            <a:r>
              <a:t>이 사례의 완결 코드는 다음과 같습니다. work 폴더에 새 파일 E02_stock.py를 UTF-8로 저장하고 course 폴더의 터미널에서 `python -X utf8 work/E02_stock.py`를 실행합니다. 기존 파일을 덮어쓰지 않습니다.</a:t>
            </a:r>
          </a:p>
          <a:p xmlns:a="http://schemas.openxmlformats.org/drawingml/2006/main">
            <a:r>
              <a:t/>
            </a:r>
          </a:p>
          <a:p xmlns:a="http://schemas.openxmlformats.org/drawingml/2006/main">
            <a:r>
              <a:t>```python</a:t>
            </a:r>
          </a:p>
          <a:p xmlns:a="http://schemas.openxmlformats.org/drawingml/2006/main">
            <a:r>
              <a:t>stock = 8</a:t>
            </a:r>
          </a:p>
          <a:p xmlns:a="http://schemas.openxmlformats.org/drawingml/2006/main">
            <a:r>
              <a:t>stock = stock + 3</a:t>
            </a:r>
          </a:p>
          <a:p xmlns:a="http://schemas.openxmlformats.org/drawingml/2006/main">
            <a:r>
              <a:t>print(stock)</a:t>
            </a:r>
          </a:p>
          <a:p xmlns:a="http://schemas.openxmlformats.org/drawingml/2006/main">
            <a:r>
              <a:t>stock = stock - 2</a:t>
            </a:r>
          </a:p>
          <a:p xmlns:a="http://schemas.openxmlformats.org/drawingml/2006/main">
            <a:r>
              <a:t>print(stock)</a:t>
            </a:r>
          </a:p>
          <a:p xmlns:a="http://schemas.openxmlformats.org/drawingml/2006/main">
            <a:r>
              <a:t>```</a:t>
            </a:r>
          </a:p>
          <a:p xmlns:a="http://schemas.openxmlformats.org/drawingml/2006/main">
            <a:r>
              <a:t/>
            </a:r>
          </a:p>
          <a:p xmlns:a="http://schemas.openxmlformats.org/drawingml/2006/main">
            <a:r>
              <a:t>첫 줄은 stock에 정수 8을 연결합니다. 둘째 줄은 오른쪽의 현재 stock 8에 3을 더해 11을 만든 다음 왼쪽 이름에 연결합니다. 셋째 줄은 그때의 11을 화면에 표시합니다. 넷째 줄은 현재 11에서 2를 빼 9로 갱신합니다. 마지막 줄은 9를 출력합니다. 따라서 예상 출력은 첫 줄 11, 둘째 줄 9입니다. =는 수학의 양쪽이 같다는 설명이 아니라 오른쪽 계산 결과를 왼쪽 이름에 연결하는 대입 기호입니다.</a:t>
            </a:r>
          </a:p>
          <a:p xmlns:a="http://schemas.openxmlformats.org/drawingml/2006/main">
            <a:r>
              <a:t/>
            </a:r>
          </a:p>
          <a:p xmlns:a="http://schemas.openxmlformats.org/drawingml/2006/main">
            <a:r>
              <a:t>입고와 출고를 모두 처리한 뒤 출력 두 줄을 적는 것이 아니라 print를 만나는 순간의 값을 기록합니다. 뒤의 갱신이 이미 나온 첫 출력을 고치지는 않습니다. NameError이면 stock 철자와 대소문자, 처음 대입한 줄을 확인합니다. can't open file이면 작업 파일 저장 위치를 먼저 확인합니다. 실행 환경이 없으면 같은 추적표를 쓰고 강사 실행과 비교했다는 표시를 남깁니다.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보강 단원의 완성 추적 예입니다. 세부 이유와 경계 조건은 아래 원고를 설명합니다.</a:t>
            </a:r>
          </a:p>
          <a:p xmlns:a="http://schemas.openxmlformats.org/drawingml/2006/main">
            <a:r>
              <a:t>창고에서 새 물품이 들어오고 일부가 나갑니다. 담당자는 ‘처음 8개, 입고 3개, 출고 2개’를 순서대로 기록합니다. Python에서는 현재 재고에 stock이라는 이름을 붙이고 각 작업이 끝날 때의 값을 연결합니다. 변수는 여러 값을 자동으로 보관하는 이력표가 아닙니다. 같은 이름에 새 값을 대입하면 그 시점의 값이 바뀝니다. 과거 기록이 필요하면 별도의 기록을 남겨야 합니다. 먼저 종이에 실행 줄·현재 값·출력 세 열을 만듭니다.</a:t>
            </a:r>
          </a:p>
          <a:p xmlns:a="http://schemas.openxmlformats.org/drawingml/2006/main">
            <a:r>
              <a:t/>
            </a:r>
          </a:p>
          <a:p xmlns:a="http://schemas.openxmlformats.org/drawingml/2006/main">
            <a:r>
              <a:t>이 사례의 완결 코드는 다음과 같습니다. work 폴더에 새 파일 E02_stock.py를 UTF-8로 저장하고 course 폴더의 터미널에서 `python -X utf8 work/E02_stock.py`를 실행합니다. 기존 파일을 덮어쓰지 않습니다.</a:t>
            </a:r>
          </a:p>
          <a:p xmlns:a="http://schemas.openxmlformats.org/drawingml/2006/main">
            <a:r>
              <a:t/>
            </a:r>
          </a:p>
          <a:p xmlns:a="http://schemas.openxmlformats.org/drawingml/2006/main">
            <a:r>
              <a:t>```python</a:t>
            </a:r>
          </a:p>
          <a:p xmlns:a="http://schemas.openxmlformats.org/drawingml/2006/main">
            <a:r>
              <a:t>stock = 8</a:t>
            </a:r>
          </a:p>
          <a:p xmlns:a="http://schemas.openxmlformats.org/drawingml/2006/main">
            <a:r>
              <a:t>stock = stock + 3</a:t>
            </a:r>
          </a:p>
          <a:p xmlns:a="http://schemas.openxmlformats.org/drawingml/2006/main">
            <a:r>
              <a:t>print(stock)</a:t>
            </a:r>
          </a:p>
          <a:p xmlns:a="http://schemas.openxmlformats.org/drawingml/2006/main">
            <a:r>
              <a:t>stock = stock - 2</a:t>
            </a:r>
          </a:p>
          <a:p xmlns:a="http://schemas.openxmlformats.org/drawingml/2006/main">
            <a:r>
              <a:t>print(stock)</a:t>
            </a:r>
          </a:p>
          <a:p xmlns:a="http://schemas.openxmlformats.org/drawingml/2006/main">
            <a:r>
              <a:t>```</a:t>
            </a:r>
          </a:p>
          <a:p xmlns:a="http://schemas.openxmlformats.org/drawingml/2006/main">
            <a:r>
              <a:t/>
            </a:r>
          </a:p>
          <a:p xmlns:a="http://schemas.openxmlformats.org/drawingml/2006/main">
            <a:r>
              <a:t>첫 줄은 stock에 정수 8을 연결합니다. 둘째 줄은 오른쪽의 현재 stock 8에 3을 더해 11을 만든 다음 왼쪽 이름에 연결합니다. 셋째 줄은 그때의 11을 화면에 표시합니다. 넷째 줄은 현재 11에서 2를 빼 9로 갱신합니다. 마지막 줄은 9를 출력합니다. 따라서 예상 출력은 첫 줄 11, 둘째 줄 9입니다. =는 수학의 양쪽이 같다는 설명이 아니라 오른쪽 계산 결과를 왼쪽 이름에 연결하는 대입 기호입니다.</a:t>
            </a:r>
          </a:p>
          <a:p xmlns:a="http://schemas.openxmlformats.org/drawingml/2006/main">
            <a:r>
              <a:t/>
            </a:r>
          </a:p>
          <a:p xmlns:a="http://schemas.openxmlformats.org/drawingml/2006/main">
            <a:r>
              <a:t>입고와 출고를 모두 처리한 뒤 출력 두 줄을 적는 것이 아니라 print를 만나는 순간의 값을 기록합니다. 뒤의 갱신이 이미 나온 첫 출력을 고치지는 않습니다. NameError이면 stock 철자와 대소문자, 처음 대입한 줄을 확인합니다. can't open file이면 작업 파일 저장 위치를 먼저 확인합니다. 실행 환경이 없으면 같은 추적표를 쓰고 강사 실행과 비교했다는 표시를 남깁니다.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복습·도전: 물 12병을 준비하고 4병을 배부한 뒤 현재 수량을 안내합니다. 다시 6병을 받아 최종 수량을 안내합니다. 두 안내값과 세 번의 대입 뒤 현재 수량을 표로 작성하고, 두 print를 어디에 놓을지 판단하세요.</a:t>
            </a:r>
          </a:p>
          <a:p xmlns:a="http://schemas.openxmlformats.org/drawingml/2006/main">
            <a:r>
              <a:t/>
            </a:r>
          </a:p>
          <a:p xmlns:a="http://schemas.openxmlformats.org/drawingml/2006/main">
            <a:r>
              <a:t>학생이 독립적으로 답을 만든 뒤 다음 슬라이드로 넘어갑니다. 필수 수행에 이 문제 전체를 억지로 포함하지 않습니다.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대입 뒤 현재 값은 12→8→14이고 안내값은 8과 14입니다. 배부 직후와 추가 입고 직후에 출력해야 합니다. 모든 대입 뒤에 같은 이름을 두 번 출력하면 14·14가 되어 중간 안내를 잃습니다.</a:t>
            </a:r>
          </a:p>
          <a:p xmlns:a="http://schemas.openxmlformats.org/drawingml/2006/main">
            <a:r>
              <a:t/>
            </a:r>
          </a:p>
          <a:p xmlns:a="http://schemas.openxmlformats.org/drawingml/2006/main">
            <a:r>
              <a:t>핵심 질문과 해설:</a:t>
            </a:r>
          </a:p>
          <a:p xmlns:a="http://schemas.openxmlformats.org/drawingml/2006/main">
            <a:r>
              <a:t>오른쪽 stock은 언제 읽나요? 그 줄을 실행하는 시점에 연결된 현재 값을 먼저 읽습니다.</a:t>
            </a:r>
          </a:p>
          <a:p xmlns:a="http://schemas.openxmlformats.org/drawingml/2006/main">
            <a:r>
              <a:t>=는 ==와 같은가요? =는 대입이고 ==는 같은지 비교하는 기호입니다.</a:t>
            </a:r>
          </a:p>
          <a:p xmlns:a="http://schemas.openxmlformats.org/drawingml/2006/main">
            <a:r>
              <a:t>나중 갱신이 이전 화면을 바꾸나요? 이미 출력한 결과는 그때의 값으로 남습니다.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A06 상세 원문]</a:t>
            </a:r>
          </a:p>
          <a:p xmlns:a="http://schemas.openxmlformats.org/drawingml/2006/main">
            <a:r>
              <a:t>**개념.** 오류를 고치는 일은 프로그램을 무작정 바꾸는 것이 아니라 보이는 단서로 원인을 좁히는 작업입니다. NameError는 실행 중 찾으려는 이름을 알 수 없다는 뜻입니다.</a:t>
            </a:r>
          </a:p>
          <a:p xmlns:a="http://schemas.openxmlformats.org/drawingml/2006/main">
            <a:r>
              <a:t/>
            </a:r>
          </a:p>
          <a:p xmlns:a="http://schemas.openxmlformats.org/drawingml/2006/main">
            <a:r>
              <a:t>**왜 필요한가.** 변수의 철자가 다르면 컴퓨터는 서로 다른 이름으로 취급합니다. 업무 의미가 같아 보인다는 이유로 temp와 temperature_c를 자동 연결하지 않습니다. 작성한 이름과 사용한 이름의 일치를 확인해야 합니다.</a:t>
            </a:r>
          </a:p>
          <a:p xmlns:a="http://schemas.openxmlformats.org/drawingml/2006/main">
            <a:r>
              <a:t/>
            </a:r>
          </a:p>
          <a:p xmlns:a="http://schemas.openxmlformats.org/drawingml/2006/main">
            <a:r>
              <a:t>**함께 보는 예.** 아래 정상 예는 sensor_id와 temperature_c를 각각 정의한 뒤 출력합니다. 고의 오류 카드에는 print(temperature)가 있으며, 정의된 이름은 temperature_c뿐입니다.</a:t>
            </a:r>
          </a:p>
          <a:p xmlns:a="http://schemas.openxmlformats.org/drawingml/2006/main">
            <a:r>
              <a:t/>
            </a:r>
          </a:p>
          <a:p xmlns:a="http://schemas.openxmlformats.org/drawingml/2006/main">
            <a:r>
              <a:t>**헷갈리는 경우.** 오류를 없애려고 새 변수 temperature = 0을 무조건 추가하면 원래 온도가 아닌 0이 출력될 수 있습니다. 의도한 값이 어떤 이름에 들어 있는지 먼저 찾아야 합니다.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sensor_id = "S01"</a:t>
            </a:r>
          </a:p>
          <a:p xmlns:a="http://schemas.openxmlformats.org/drawingml/2006/main">
            <a:r>
              <a:t>temperature_c = 22.5</a:t>
            </a:r>
          </a:p>
          <a:p xmlns:a="http://schemas.openxmlformats.org/drawingml/2006/main">
            <a:r>
              <a:t>print(sensor_id, temperature_c)</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`sensor_id = "S01"` | 센서를 구별할 문자열을 정합니다. |</a:t>
            </a:r>
          </a:p>
          <a:p xmlns:a="http://schemas.openxmlformats.org/drawingml/2006/main">
            <a:r>
              <a:t>| 2 | `temperature_c = 22.5` | 섭씨 온도 값을 정합니다. |</a:t>
            </a:r>
          </a:p>
          <a:p xmlns:a="http://schemas.openxmlformats.org/drawingml/2006/main">
            <a:r>
              <a:t>| 3 | `print(sensor_id, temperature_c)` | 두 이름이 가리키는 값을 함께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code/A06_example.py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work/A06_example.py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S01 22.5</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data/A06_input.md의 오류 코드에서 정의한 이름과 사용하는 이름을 표시합니다.</a:t>
            </a:r>
          </a:p>
          <a:p xmlns:a="http://schemas.openxmlformats.org/drawingml/2006/main">
            <a:r>
              <a:t>2. 원래 뜻을 유지하는 수정 한 곳을 정합니다.</a:t>
            </a:r>
          </a:p>
          <a:p xmlns:a="http://schemas.openxmlformats.org/drawingml/2006/main">
            <a:r>
              <a:t>3. work의 정상 예와 비교하며 수정안을 적고 실행 결과를 확인합니다.</a:t>
            </a:r>
          </a:p>
          <a:p xmlns:a="http://schemas.openxmlformats.org/drawingml/2006/main">
            <a:r>
              <a:t>4. 원인·수정 위치·다시 확인한 출력을 노트에 기록합니다.</a:t>
            </a:r>
          </a:p>
          <a:p xmlns:a="http://schemas.openxmlformats.org/drawingml/2006/main">
            <a:r>
              <a:t/>
            </a:r>
          </a:p>
          <a:p xmlns:a="http://schemas.openxmlformats.org/drawingml/2006/main">
            <a:r>
              <a:t>예상 결과: temperature를 temperature_c로 맞추면 S01 22.5가 출력됩니다.</a:t>
            </a:r>
          </a:p>
          <a:p xmlns:a="http://schemas.openxmlformats.org/drawingml/2006/main">
            <a:r>
              <a:t/>
            </a:r>
          </a:p>
          <a:p xmlns:a="http://schemas.openxmlformats.org/drawingml/2006/main">
            <a:r>
              <a:t>확인 질문: 오류가 사라졌다는 것만으로 올바른 수정이라고 할 수 있나요?</a:t>
            </a:r>
          </a:p>
          <a:p xmlns:a="http://schemas.openxmlformats.org/drawingml/2006/main">
            <a:r>
              <a:t/>
            </a:r>
          </a:p>
          <a:p xmlns:a="http://schemas.openxmlformats.org/drawingml/2006/main">
            <a:r>
              <a:t>막혔을 때: 철자 차이를 찾지 못하면 이름을 한 글자씩 비교합니다. 영문 대소문자와 밑줄도 이름의 일부입니다.</a:t>
            </a:r>
          </a:p>
          <a:p xmlns:a="http://schemas.openxmlformats.org/drawingml/2006/main">
            <a:r>
              <a:t/>
            </a:r>
          </a:p>
          <a:p xmlns:a="http://schemas.openxmlformats.org/drawingml/2006/main">
            <a:r>
              <a:t>[활동 자료와 작성칸](practice-guide.md#a06--이름-오류를-근거로-고치기)에서 A06를 엽니다.</a:t>
            </a:r>
          </a:p>
          <a:p xmlns:a="http://schemas.openxmlformats.org/drawingml/2006/main">
            <a:r>
              <a:t/>
            </a:r>
          </a:p>
          <a:p xmlns:a="http://schemas.openxmlformats.org/drawingml/2006/main">
            <a:r>
              <a:t># 3구간 · 문자와 숫자의 연산</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문장:</a:t>
            </a:r>
          </a:p>
          <a:p xmlns:a="http://schemas.openxmlformats.org/drawingml/2006/main">
            <a:r>
              <a:t>대입은 현재 연결을 바꿉니다.</a:t>
            </a:r>
          </a:p>
          <a:p xmlns:a="http://schemas.openxmlformats.org/drawingml/2006/main">
            <a:r>
              <a:t>이미 나온 출력은 나중에 바뀌지 않습니다.</a:t>
            </a:r>
          </a:p>
          <a:p xmlns:a="http://schemas.openxmlformats.org/drawingml/2006/main">
            <a:r>
              <a:t>이름을 따옴표로 감싸면 글자가 됩니다.</a:t>
            </a:r>
          </a:p>
          <a:p xmlns:a="http://schemas.openxmlformats.org/drawingml/2006/main">
            <a:r>
              <a:t/>
            </a:r>
          </a:p>
          <a:p xmlns:a="http://schemas.openxmlformats.org/drawingml/2006/main">
            <a:r>
              <a:t>관련 교시의 상세 원문:</a:t>
            </a:r>
          </a:p>
          <a:p xmlns:a="http://schemas.openxmlformats.org/drawingml/2006/main">
            <a:r>
              <a:t>### 사례로 이해하기 · 재고 갱신을 한 줄씩 추적하기</a:t>
            </a:r>
          </a:p>
          <a:p xmlns:a="http://schemas.openxmlformats.org/drawingml/2006/main">
            <a:r>
              <a:t/>
            </a:r>
          </a:p>
          <a:p xmlns:a="http://schemas.openxmlformats.org/drawingml/2006/main">
            <a:r>
              <a:t>필수 설명 보충입니다. 강사 시연 → 함께 추적 → 예상과 실제 비교 → 자기 말로 설명 순서로 읽습니다. 아래 독립 문제는 복습·도전이며 기존 50분 필수 경로와 별도로 활용합니다.</a:t>
            </a:r>
          </a:p>
          <a:p xmlns:a="http://schemas.openxmlformats.org/drawingml/2006/main">
            <a:r>
              <a:t/>
            </a:r>
          </a:p>
          <a:p xmlns:a="http://schemas.openxmlformats.org/drawingml/2006/main">
            <a:r>
              <a:t>창고에서 새 물품이 들어오고 일부가 나갑니다. 담당자는 ‘처음 8개, 입고 3개, 출고 2개’를 순서대로 기록합니다. Python에서는 현재 재고에 stock이라는 이름을 붙이고 각 작업이 끝날 때의 값을 연결합니다. 변수는 여러 값을 자동으로 보관하는 이력표가 아닙니다. 같은 이름에 새 값을 대입하면 그 시점의 값이 바뀝니다. 과거 기록이 필요하면 별도의 기록을 남겨야 합니다. 먼저 종이에 실행 줄·현재 값·출력 세 열을 만듭니다.</a:t>
            </a:r>
          </a:p>
          <a:p xmlns:a="http://schemas.openxmlformats.org/drawingml/2006/main">
            <a:r>
              <a:t/>
            </a:r>
          </a:p>
          <a:p xmlns:a="http://schemas.openxmlformats.org/drawingml/2006/main">
            <a:r>
              <a:t>이 사례의 완결 코드는 다음과 같습니다. work 폴더에 새 파일 E02_stock.py를 UTF-8로 저장하고 course 폴더의 터미널에서 `python -X utf8 work/E02_stock.py`를 실행합니다. 기존 파일을 덮어쓰지 않습니다.</a:t>
            </a:r>
          </a:p>
          <a:p xmlns:a="http://schemas.openxmlformats.org/drawingml/2006/main">
            <a:r>
              <a:t/>
            </a:r>
          </a:p>
          <a:p xmlns:a="http://schemas.openxmlformats.org/drawingml/2006/main">
            <a:r>
              <a:t>```python</a:t>
            </a:r>
          </a:p>
          <a:p xmlns:a="http://schemas.openxmlformats.org/drawingml/2006/main">
            <a:r>
              <a:t>stock = 8</a:t>
            </a:r>
          </a:p>
          <a:p xmlns:a="http://schemas.openxmlformats.org/drawingml/2006/main">
            <a:r>
              <a:t>stock = stock + 3</a:t>
            </a:r>
          </a:p>
          <a:p xmlns:a="http://schemas.openxmlformats.org/drawingml/2006/main">
            <a:r>
              <a:t>print(stock)</a:t>
            </a:r>
          </a:p>
          <a:p xmlns:a="http://schemas.openxmlformats.org/drawingml/2006/main">
            <a:r>
              <a:t>stock = stock - 2</a:t>
            </a:r>
          </a:p>
          <a:p xmlns:a="http://schemas.openxmlformats.org/drawingml/2006/main">
            <a:r>
              <a:t>print(stock)</a:t>
            </a:r>
          </a:p>
          <a:p xmlns:a="http://schemas.openxmlformats.org/drawingml/2006/main">
            <a:r>
              <a:t>```</a:t>
            </a:r>
          </a:p>
          <a:p xmlns:a="http://schemas.openxmlformats.org/drawingml/2006/main">
            <a:r>
              <a:t/>
            </a:r>
          </a:p>
          <a:p xmlns:a="http://schemas.openxmlformats.org/drawingml/2006/main">
            <a:r>
              <a:t>첫 줄은 stock에 정수 8을 연결합니다. 둘째 줄은 오른쪽의 현재 stock 8에 3을 더해 11을 만든 다음 왼쪽 이름에 연결합니다. 셋째 줄은 그때의 11을 화면에 표시합니다. 넷째 줄은 현재 11에서 2를 빼 9로 갱신합니다. 마지막 줄은 9를 출력합니다. 따라서 예상 출력은 첫 줄 11, 둘째 줄 9입니다. =는 수학의 양쪽이 같다는 설명이 아니라 오른쪽 계산 결과를 왼쪽 이름에 연결하는 대입 기호입니다.</a:t>
            </a:r>
          </a:p>
          <a:p xmlns:a="http://schemas.openxmlformats.org/drawingml/2006/main">
            <a:r>
              <a:t/>
            </a:r>
          </a:p>
          <a:p xmlns:a="http://schemas.openxmlformats.org/drawingml/2006/main">
            <a:r>
              <a:t>입고와 출고를 모두 처리한 뒤 출력 두 줄을 적는 것이 아니라 print를 만나는 순간의 값을 기록합니다. 뒤의 갱신이 이미 나온 첫 출력을 고치지는 않습니다. NameError이면 stock 철자와 대소문자, 처음 대입한 줄을 확인합니다. can't open file이면 작업 파일 저장 위치를 먼저 확인합니다. 실행 환경이 없으면 같은 추적표를 쓰고 강사 실행과 비교했다는 표시를 남깁니다.</a:t>
            </a:r>
          </a:p>
          <a:p xmlns:a="http://schemas.openxmlformats.org/drawingml/2006/main">
            <a:r>
              <a:t/>
            </a:r>
          </a:p>
          <a:p xmlns:a="http://schemas.openxmlformats.org/drawingml/2006/main">
            <a:r>
              <a:t>### 새 상황에 독립적으로 적용하기</a:t>
            </a:r>
          </a:p>
          <a:p xmlns:a="http://schemas.openxmlformats.org/drawingml/2006/main">
            <a:r>
              <a:t/>
            </a:r>
          </a:p>
          <a:p xmlns:a="http://schemas.openxmlformats.org/drawingml/2006/main">
            <a:r>
              <a:t>복습·도전: 물 12병을 준비하고 4병을 배부한 뒤 현재 수량을 안내합니다. 다시 6병을 받아 최종 수량을 안내합니다. 두 안내값과 세 번의 대입 뒤 현재 수량을 표로 작성하고, 두 print를 어디에 놓을지 판단하세요.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대입 뒤 현재 값은 12→8→14이고 안내값은 8과 14입니다. 배부 직후와 추가 입고 직후에 출력해야 합니다. 모든 대입 뒤에 같은 이름을 두 번 출력하면 14·14가 되어 중간 안내를 잃습니다.</a:t>
            </a:r>
          </a:p>
          <a:p xmlns:a="http://schemas.openxmlformats.org/drawingml/2006/main">
            <a:r>
              <a:t/>
            </a:r>
          </a:p>
          <a:p xmlns:a="http://schemas.openxmlformats.org/drawingml/2006/main">
            <a:r>
              <a:t>### 핵심 세 질문과 해설</a:t>
            </a:r>
          </a:p>
          <a:p xmlns:a="http://schemas.openxmlformats.org/drawingml/2006/main">
            <a:r>
              <a:t/>
            </a:r>
          </a:p>
          <a:p xmlns:a="http://schemas.openxmlformats.org/drawingml/2006/main">
            <a:r>
              <a:t>1. **오른쪽 stock은 언제 읽나요?** 그 줄을 실행하는 시점에 연결된 현재 값을 먼저 읽습니다.</a:t>
            </a:r>
          </a:p>
          <a:p xmlns:a="http://schemas.openxmlformats.org/drawingml/2006/main">
            <a:r>
              <a:t/>
            </a:r>
          </a:p>
          <a:p xmlns:a="http://schemas.openxmlformats.org/drawingml/2006/main">
            <a:r>
              <a:t>2. **=는 ==와 같은가요?** =는 대입이고 ==는 같은지 비교하는 기호입니다.</a:t>
            </a:r>
          </a:p>
          <a:p xmlns:a="http://schemas.openxmlformats.org/drawingml/2006/main">
            <a:r>
              <a:t/>
            </a:r>
          </a:p>
          <a:p xmlns:a="http://schemas.openxmlformats.org/drawingml/2006/main">
            <a:r>
              <a:t>3. **나중 갱신이 이전 화면을 바꾸나요?** 이미 출력한 결과는 그때의 값으로 남습니다.</a:t>
            </a:r>
          </a:p>
          <a:p xmlns:a="http://schemas.openxmlformats.org/drawingml/2006/main">
            <a:r>
              <a:t/>
            </a:r>
          </a:p>
          <a:p xmlns:a="http://schemas.openxmlformats.org/drawingml/2006/main">
            <a:r>
              <a:t/>
            </a:r>
          </a:p>
          <a:p xmlns:a="http://schemas.openxmlformats.org/drawingml/2006/main">
            <a:r>
              <a:t>**개념.** 변수는 프로그램이 값을 다시 찾을 수 있도록 붙인 이름입니다. location = "입구"는 왼쪽 이름에 오른쪽 값을 연결합니다. 수학에서 등식의 양변이 같다는 주장과 Python의 대입 동작을 구별합니다.</a:t>
            </a:r>
          </a:p>
          <a:p xmlns:a="http://schemas.openxmlformats.org/drawingml/2006/main">
            <a:r>
              <a:t/>
            </a:r>
          </a:p>
          <a:p xmlns:a="http://schemas.openxmlformats.org/drawingml/2006/main">
            <a:r>
              <a:t>**왜 필요한가.** 값을 여러 번 사용할 때 이름을 붙이면 목적이 드러나고 한 곳에서 바꾸기 쉽습니다. 10/8의 표에서 location과 temperature_c라는 항목을 읽었던 경험을 코드 안의 이름으로 연결합니다.</a:t>
            </a:r>
          </a:p>
          <a:p xmlns:a="http://schemas.openxmlformats.org/drawingml/2006/main">
            <a:r>
              <a:t/>
            </a:r>
          </a:p>
          <a:p xmlns:a="http://schemas.openxmlformats.org/drawingml/2006/main">
            <a:r>
              <a:t>**함께 보는 예.** location과 temperature_c를 출력하면 이름 자체의 글자가 아니라 그 이름이 가리키는 값이 나옵니다. print("location")처럼 따옴표를 붙이면 이름을 찾지 않고 글자 location을 보여 줍니다.</a:t>
            </a:r>
          </a:p>
          <a:p xmlns:a="http://schemas.openxmlformats.org/drawingml/2006/main">
            <a:r>
              <a:t/>
            </a:r>
          </a:p>
          <a:p xmlns:a="http://schemas.openxmlformats.org/drawingml/2006/main">
            <a:r>
              <a:t>**헷갈리는 경우.** 한 이름이 무엇을 뜻하는지는 작성자가 정한 약속입니다. 온도를 x로 저장해도 실행될 수 있지만 업무 목적을 읽기 어렵습니다. 의미가 분명한 이름을 쓰되 이름만 보고 단위가 맞다고 단정하지 않습니다.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location = "입구"</a:t>
            </a:r>
          </a:p>
          <a:p xmlns:a="http://schemas.openxmlformats.org/drawingml/2006/main">
            <a:r>
              <a:t>temperature_c = 22.5</a:t>
            </a:r>
          </a:p>
          <a:p xmlns:a="http://schemas.openxmlformats.org/drawingml/2006/main">
            <a:r>
              <a:t>print(location)</a:t>
            </a:r>
          </a:p>
          <a:p xmlns:a="http://schemas.openxmlformats.org/drawingml/2006/main">
            <a:r>
              <a:t>print(temperature_c)</a:t>
            </a:r>
          </a:p>
          <a:p xmlns:a="http://schemas.openxmlformats.org/drawingml/2006/main">
            <a:r>
              <a:t>print("location")</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`location = "입구"` | 장소 문자열을 location이라는 이름에 연결합니다. |</a:t>
            </a:r>
          </a:p>
          <a:p xmlns:a="http://schemas.openxmlformats.org/drawingml/2006/main">
            <a:r>
              <a:t>| 2 | `temperature_c = 22.5` | 숫자 22.5를 temperature_c라는 이름에 연결합니다. |</a:t>
            </a:r>
          </a:p>
          <a:p xmlns:a="http://schemas.openxmlformats.org/drawingml/2006/main">
            <a:r>
              <a:t>| 3 | `print(location)` | 이름이 가리키는 장소 값을 보여 줍니다. |</a:t>
            </a:r>
          </a:p>
          <a:p xmlns:a="http://schemas.openxmlformats.org/drawingml/2006/main">
            <a:r>
              <a:t>| 4 | `print(temperature_c)` | 이름이 가리키는 온도 값을 보여 줍니다. |</a:t>
            </a:r>
          </a:p>
          <a:p xmlns:a="http://schemas.openxmlformats.org/drawingml/2006/main">
            <a:r>
              <a:t>| 5 | `print("location")` | 따옴표 안의 글자 location을 그대로 보여 줍니다.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code/A04_example.py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work/A04_example.py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입구</a:t>
            </a:r>
          </a:p>
          <a:p xmlns:a="http://schemas.openxmlformats.org/drawingml/2006/main">
            <a:r>
              <a:t>22.5</a:t>
            </a:r>
          </a:p>
          <a:p xmlns:a="http://schemas.openxmlformats.org/drawingml/2006/main">
            <a:r>
              <a:t>location</a:t>
            </a:r>
          </a:p>
          <a:p xmlns:a="http://schemas.openxmlformats.org/drawingml/2006/main">
            <a:r>
              <a:t>```</a:t>
            </a:r>
          </a:p>
          <a:p xmlns:a="http://schemas.openxmlformats.org/drawingml/2006/main">
            <a:r>
              <a:t/>
            </a:r>
          </a:p>
          <a:p xmlns:a="http://schemas.openxmlformats.org/drawingml/2006/main">
            <a:r>
              <a:t>작은 수정: `입구`를 `창고`로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창고</a:t>
            </a:r>
          </a:p>
          <a:p xmlns:a="http://schemas.openxmlformats.org/drawingml/2006/main">
            <a:r>
              <a:t>22.5</a:t>
            </a:r>
          </a:p>
          <a:p xmlns:a="http://schemas.openxmlformats.org/drawingml/2006/main">
            <a:r>
              <a:t>location</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값과 이름을 서로 다른 색으로 표시합니다.</a:t>
            </a:r>
          </a:p>
          <a:p xmlns:a="http://schemas.openxmlformats.org/drawingml/2006/main">
            <a:r>
              <a:t>2. location을 창고로 바꾸면 변할 출력 줄을 먼저 고릅니다.</a:t>
            </a:r>
          </a:p>
          <a:p xmlns:a="http://schemas.openxmlformats.org/drawingml/2006/main">
            <a:r>
              <a:t>3. 작업본에서 문자열 한 곳만 바꾸고 저장·실행합니다.</a:t>
            </a:r>
          </a:p>
          <a:p xmlns:a="http://schemas.openxmlformats.org/drawingml/2006/main">
            <a:r>
              <a:t>4. 변하지 않은 두 출력 줄의 이유를 씁니다.</a:t>
            </a:r>
          </a:p>
          <a:p xmlns:a="http://schemas.openxmlformats.org/drawingml/2006/main">
            <a:r>
              <a:t/>
            </a:r>
          </a:p>
          <a:p xmlns:a="http://schemas.openxmlformats.org/drawingml/2006/main">
            <a:r>
              <a:t>예상 결과: 첫 출력만 창고로 바뀌고 온도와 글자 location은 유지됩니다.</a:t>
            </a:r>
          </a:p>
          <a:p xmlns:a="http://schemas.openxmlformats.org/drawingml/2006/main">
            <a:r>
              <a:t/>
            </a:r>
          </a:p>
          <a:p xmlns:a="http://schemas.openxmlformats.org/drawingml/2006/main">
            <a:r>
              <a:t>확인 질문: print(location)과 print("location")은 왜 다를까요?</a:t>
            </a:r>
          </a:p>
          <a:p xmlns:a="http://schemas.openxmlformats.org/drawingml/2006/main">
            <a:r>
              <a:t/>
            </a:r>
          </a:p>
          <a:p xmlns:a="http://schemas.openxmlformats.org/drawingml/2006/main">
            <a:r>
              <a:t>막혔을 때: NameError가 나오면 대문자·소문자와 밑줄을 비교하고 그 이름에 값을 연결한 줄이 먼저 실행되는지 확인합니다.</a:t>
            </a:r>
          </a:p>
          <a:p xmlns:a="http://schemas.openxmlformats.org/drawingml/2006/main">
            <a:r>
              <a:t/>
            </a:r>
          </a:p>
          <a:p xmlns:a="http://schemas.openxmlformats.org/drawingml/2006/main">
            <a:r>
              <a:t>[활동 자료와 작성칸](practice-guide.md#a04--변수는-값에-붙인-이름)에서 A04를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50분은 운영 배정이며 실제 학습자 수행시간을 측정한 결과가 아닙니다. 시연 → 함께 수행 → 개별 적용 → 예상과 실제 비교 → 자기 말로 설명 순서로 운영합니다.</a:t>
            </a:r>
          </a:p>
          <a:p xmlns:a="http://schemas.openxmlformats.org/drawingml/2006/main">
            <a:r>
              <a:t/>
            </a:r>
          </a:p>
          <a:p xmlns:a="http://schemas.openxmlformats.org/drawingml/2006/main">
            <a:r>
              <a:t>[활동 A07 상세 원문]</a:t>
            </a:r>
          </a:p>
          <a:p xmlns:a="http://schemas.openxmlformats.org/drawingml/2006/main">
            <a:r>
              <a:t>### 사례로 이해하기 · 운송비 계산에서 문자열과 숫자 나누기</a:t>
            </a:r>
          </a:p>
          <a:p xmlns:a="http://schemas.openxmlformats.org/drawingml/2006/main">
            <a:r>
              <a:t/>
            </a:r>
          </a:p>
          <a:p xmlns:a="http://schemas.openxmlformats.org/drawingml/2006/main">
            <a:r>
              <a:t>필수 설명 보충입니다. 강사 시연 → 함께 추적 → 예상과 실제 비교 → 자기 말로 설명 순서로 읽습니다. 아래 독립 문제는 복습·도전이며 기존 50분 필수 경로와 별도로 활용합니다.</a:t>
            </a:r>
          </a:p>
          <a:p xmlns:a="http://schemas.openxmlformats.org/drawingml/2006/main">
            <a:r>
              <a:t/>
            </a:r>
          </a:p>
          <a:p xmlns:a="http://schemas.openxmlformats.org/drawingml/2006/main">
            <a:r>
              <a:t>택배 접수표에는 상품번호 “0012”, 무게 “2.5”, 포장비 1000이 있습니다. CSV에서 읽은 무게 칸은 숫자처럼 보여도 문자열일 수 있습니다. 문자열은 글자 순서를 보존하고 숫자는 수량을 계산합니다. 따옴표로 감싼 “2.5”와 실수 2.5의 저장 종류가 다르므로 계산 전 의미에 맞는 변환을 해야 합니다. 상품번호는 계산용 수량이 아니므로 앞의 0을 보존한 문자열을 유지합니다. 같은 모양의 숫자라도 변환 여부는 업무 목적에 따라 결정합니다.</a:t>
            </a:r>
          </a:p>
          <a:p xmlns:a="http://schemas.openxmlformats.org/drawingml/2006/main">
            <a:r>
              <a:t/>
            </a:r>
          </a:p>
          <a:p xmlns:a="http://schemas.openxmlformats.org/drawingml/2006/main">
            <a:r>
              <a:t>수업용 요금은 무게 1kg당 2000원에 포장비 1000원을 더하는 것으로 정합니다. 반올림·최소요금 등 실제 운송 규칙은 이번 합성 예에 포함하지 않습니다. “2.5”를 실수 2.5로 읽으면 2.5×2000+1000=6000원입니다. 먼저 곱셈으로 무게 요금을 계산하고 포장비를 더합니다. 문자열 “2”와 “5”를 +로 붙이면 “25”가 되어 무게 7이 아닙니다. 문자열을 이어 붙이는 연결과 수치 덧셈을 같은 기호가 다른 종류에 적용된 사례로 비교합니다.</a:t>
            </a:r>
          </a:p>
          <a:p xmlns:a="http://schemas.openxmlformats.org/drawingml/2006/main">
            <a:r>
              <a:t/>
            </a:r>
          </a:p>
          <a:p xmlns:a="http://schemas.openxmlformats.org/drawingml/2006/main">
            <a:r>
              <a:t>값 추적표는 원문 “2.5”·저장 종류 문자열 → 변환 값 2.5·실수 → 계산값 6000.0·실수 → 업무 표시 6000원 순서입니다. 계산 결과의 .0은 이 예의 저장·표시 방식이지 비용이 소수 원이라는 업무 확정은 아닙니다. 무게 원문이 “미확인”이라면 임의의 0kg로 바꾸지 않고 숫자 변환 전에 확인을 요청합니다. 문자열과 숫자를 +로 바로 섞으면 TypeError가 날 수 있고 “2.5”를 정수로 바로 읽으려 하면 ValueError가 납니다. 종류를 확인한 뒤 실수 변환을 고르고 상품번호까지 함께 바꾸지 않습니다.</a:t>
            </a:r>
          </a:p>
          <a:p xmlns:a="http://schemas.openxmlformats.org/drawingml/2006/main">
            <a:r>
              <a:t/>
            </a:r>
          </a:p>
          <a:p xmlns:a="http://schemas.openxmlformats.org/drawingml/2006/main">
            <a:r>
              <a:t>### 새 상황에 독립적으로 적용하기</a:t>
            </a:r>
          </a:p>
          <a:p xmlns:a="http://schemas.openxmlformats.org/drawingml/2006/main">
            <a:r>
              <a:t/>
            </a:r>
          </a:p>
          <a:p xmlns:a="http://schemas.openxmlformats.org/drawingml/2006/main">
            <a:r>
              <a:t>복습·도전: 판매표의 주문번호 “0009”, 단가 “1500”, 수량 “3”을 보고 총액과 각 항목의 저장 계획을 쓰세요. 단가는 정수 원, 수량은 개수라는 계약입니다. 배송비 2000원을 포함한 최종액도 계산하세요.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주문번호는 문자열 유지, 단가와 수량은 정수로 해석합니다. 상품 총액 1500×3=4500원, 최종액 6500원입니다. “1500”+“3”의 문자열 연결은 “15003”으로 금액 계산이 아닙니다. 주문번호를 정수 9로 바꾸면 앞 0을 잃습니다.</a:t>
            </a:r>
          </a:p>
          <a:p xmlns:a="http://schemas.openxmlformats.org/drawingml/2006/main">
            <a:r>
              <a:t/>
            </a:r>
          </a:p>
          <a:p xmlns:a="http://schemas.openxmlformats.org/drawingml/2006/main">
            <a:r>
              <a:t>### 핵심 세 질문과 해설</a:t>
            </a:r>
          </a:p>
          <a:p xmlns:a="http://schemas.openxmlformats.org/drawingml/2006/main">
            <a:r>
              <a:t/>
            </a:r>
          </a:p>
          <a:p xmlns:a="http://schemas.openxmlformats.org/drawingml/2006/main">
            <a:r>
              <a:t>1. **숫자처럼 보이면 모두 변환하나요?** 식별자·등급인지 실제 계산량인지 의미를 먼저 봅니다.</a:t>
            </a:r>
          </a:p>
          <a:p xmlns:a="http://schemas.openxmlformats.org/drawingml/2006/main">
            <a:r>
              <a:t/>
            </a:r>
          </a:p>
          <a:p xmlns:a="http://schemas.openxmlformats.org/drawingml/2006/main">
            <a:r>
              <a:t>2. **소수 문자열을 정수로 바로 읽나요?** 소수가 있는 표현에는 float 같은 의미에 맞는 변환이 필요합니다.</a:t>
            </a:r>
          </a:p>
          <a:p xmlns:a="http://schemas.openxmlformats.org/drawingml/2006/main">
            <a:r>
              <a:t/>
            </a:r>
          </a:p>
          <a:p xmlns:a="http://schemas.openxmlformats.org/drawingml/2006/main">
            <a:r>
              <a:t>3. **정상 종료면 요금도 맞나요?** 단위·요금 규칙·입력 해석이 맞는지 별도 확인해야 합니다.</a:t>
            </a:r>
          </a:p>
          <a:p xmlns:a="http://schemas.openxmlformats.org/drawingml/2006/main">
            <a:r>
              <a:t/>
            </a:r>
          </a:p>
          <a:p xmlns:a="http://schemas.openxmlformats.org/drawingml/2006/main">
            <a:r>
              <a:t/>
            </a:r>
          </a:p>
          <a:p xmlns:a="http://schemas.openxmlformats.org/drawingml/2006/main">
            <a:r>
              <a:t>**개념.** 숫자의 +는 수치 덧셈을 하고 문자열의 +는 글자를 이어 붙입니다. 같은 모양의 3이라도 따옴표 유무에 따라 저장 자료형이 달라지며 연산의 결과도 달라집니다.</a:t>
            </a:r>
          </a:p>
          <a:p xmlns:a="http://schemas.openxmlformats.org/drawingml/2006/main">
            <a:r>
              <a:t/>
            </a:r>
          </a:p>
          <a:p xmlns:a="http://schemas.openxmlformats.org/drawingml/2006/main">
            <a:r>
              <a:t>**왜 필요한가.** CSV의 셀을 기본 방식으로 읽으면 문자열이 된다는 10/8의 내용을 떠올립니다. 수량을 계산하려고 글자를 그대로 이어 붙이면 합계처럼 보이는 잘못된 결과가 생길 수 있습니다.</a:t>
            </a:r>
          </a:p>
          <a:p xmlns:a="http://schemas.openxmlformats.org/drawingml/2006/main">
            <a:r>
              <a:t/>
            </a:r>
          </a:p>
          <a:p xmlns:a="http://schemas.openxmlformats.org/drawingml/2006/main">
            <a:r>
              <a:t>**함께 보는 예.** 3 + 2는 5이고 "3" + "2"는 글자 32입니다. 10/8의 사번 001처럼 앞의 0을 유지해야 하는 이름표는 문자열이 적절할 수 있으므로 모든 숫자 모양을 변환하지 않습니다.</a:t>
            </a:r>
          </a:p>
          <a:p xmlns:a="http://schemas.openxmlformats.org/drawingml/2006/main">
            <a:r>
              <a:t/>
            </a:r>
          </a:p>
          <a:p xmlns:a="http://schemas.openxmlformats.org/drawingml/2006/main">
            <a:r>
              <a:t>**헷갈리는 경우.** 문자열을 무조건 숫자로 바꾸는 것도 정답이 아닙니다. 사번을 숫자로 바꾸면 식별 표현을 잃을 수 있습니다. 먼저 의미상 수량인지, 이름표인지 판단합니다.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count = 3</a:t>
            </a:r>
          </a:p>
          <a:p xmlns:a="http://schemas.openxmlformats.org/drawingml/2006/main">
            <a:r>
              <a:t>text_count = "3"</a:t>
            </a:r>
          </a:p>
          <a:p xmlns:a="http://schemas.openxmlformats.org/drawingml/2006/main">
            <a:r>
              <a:t>print(count + 2)</a:t>
            </a:r>
          </a:p>
          <a:p xmlns:a="http://schemas.openxmlformats.org/drawingml/2006/main">
            <a:r>
              <a:t>print(text_count + "2")</a:t>
            </a:r>
          </a:p>
          <a:p xmlns:a="http://schemas.openxmlformats.org/drawingml/2006/main">
            <a:r>
              <a:t>print(type(count).__name__, type(text_count).__name__)</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`count = 3` | 숫자 3을 저장합니다. |</a:t>
            </a:r>
          </a:p>
          <a:p xmlns:a="http://schemas.openxmlformats.org/drawingml/2006/main">
            <a:r>
              <a:t>| 2 | `text_count = "3"` | 글자 3을 저장합니다. |</a:t>
            </a:r>
          </a:p>
          <a:p xmlns:a="http://schemas.openxmlformats.org/drawingml/2006/main">
            <a:r>
              <a:t>| 3 | `print(count + 2)` | 숫자끼리 덧셈합니다. |</a:t>
            </a:r>
          </a:p>
          <a:p xmlns:a="http://schemas.openxmlformats.org/drawingml/2006/main">
            <a:r>
              <a:t>| 4 | `print(text_count + "2")` | 문자열끼리 이어 붙입니다. |</a:t>
            </a:r>
          </a:p>
          <a:p xmlns:a="http://schemas.openxmlformats.org/drawingml/2006/main">
            <a:r>
              <a:t>| 5 | `print(type(count).__name__, type(text_count).__name__)` | 두 값의 자료형 이름을 확인합니다.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code/A07_example.py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work/A07_example.py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5</a:t>
            </a:r>
          </a:p>
          <a:p xmlns:a="http://schemas.openxmlformats.org/drawingml/2006/main">
            <a:r>
              <a:t>32</a:t>
            </a:r>
          </a:p>
          <a:p xmlns:a="http://schemas.openxmlformats.org/drawingml/2006/main">
            <a:r>
              <a:t>int str</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세 출력 줄을 예상하고 각각 계산인지 글자 연결인지 적습니다.</a:t>
            </a:r>
          </a:p>
          <a:p xmlns:a="http://schemas.openxmlformats.org/drawingml/2006/main">
            <a:r>
              <a:t>2. 숫자와 문자열의 +를 같은 기준으로 읽지 않았는지 비교합니다.</a:t>
            </a:r>
          </a:p>
          <a:p xmlns:a="http://schemas.openxmlformats.org/drawingml/2006/main">
            <a:r>
              <a:t>3. 고의 오류 text_count + 2에서 서로 다른 자료형을 표시합니다.</a:t>
            </a:r>
          </a:p>
          <a:p xmlns:a="http://schemas.openxmlformats.org/drawingml/2006/main">
            <a:r>
              <a:t>4. 수량과 사번 중 무엇을 숫자로 바꿀지 이유를 씁니다.</a:t>
            </a:r>
          </a:p>
          <a:p xmlns:a="http://schemas.openxmlformats.org/drawingml/2006/main">
            <a:r>
              <a:t/>
            </a:r>
          </a:p>
          <a:p xmlns:a="http://schemas.openxmlformats.org/drawingml/2006/main">
            <a:r>
              <a:t>예상 결과: 5와 문자열 32, int와 str을 구별합니다. 혼합 +는 TypeError가 기대 결과입니다.</a:t>
            </a:r>
          </a:p>
          <a:p xmlns:a="http://schemas.openxmlformats.org/drawingml/2006/main">
            <a:r>
              <a:t/>
            </a:r>
          </a:p>
          <a:p xmlns:a="http://schemas.openxmlformats.org/drawingml/2006/main">
            <a:r>
              <a:t>확인 질문: "001"에 1을 더해 다음 직원을 정하는 것이 항상 적절할까요?</a:t>
            </a:r>
          </a:p>
          <a:p xmlns:a="http://schemas.openxmlformats.org/drawingml/2006/main">
            <a:r>
              <a:t/>
            </a:r>
          </a:p>
          <a:p xmlns:a="http://schemas.openxmlformats.org/drawingml/2006/main">
            <a:r>
              <a:t>막혔을 때: 화면에서 따옴표 없이 32가 보이면 type 출력도 함께 확인합니다. 표시 모양만으로 자료형을 판단하지 않습니다.</a:t>
            </a:r>
          </a:p>
          <a:p xmlns:a="http://schemas.openxmlformats.org/drawingml/2006/main">
            <a:r>
              <a:t/>
            </a:r>
          </a:p>
          <a:p xmlns:a="http://schemas.openxmlformats.org/drawingml/2006/main">
            <a:r>
              <a:t>[활동 자료와 작성칸](practice-guide.md#a07--숫자-더하기와-문자열-연결)에서 A07를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제공된 완성 파일의 전체 코드입니다. 압축을 푼 course 폴더의 터미널에서 실행합니다.</a:t>
            </a:r>
          </a:p>
          <a:p xmlns:a="http://schemas.openxmlformats.org/drawingml/2006/main">
            <a:r>
              <a:t>명령: python -X utf8 code/A07_example.py</a:t>
            </a:r>
          </a:p>
          <a:p xmlns:a="http://schemas.openxmlformats.org/drawingml/2006/main">
            <a:r>
              <a:t>작업본은 code 대신 work 경로를 지정합니다. 개인 실행이 막히면 같은 입력으로 수동 추적 후 강사 결과와 비교합니다.</a:t>
            </a:r>
          </a:p>
          <a:p xmlns:a="http://schemas.openxmlformats.org/drawingml/2006/main">
            <a:r>
              <a:t/>
            </a:r>
          </a:p>
          <a:p xmlns:a="http://schemas.openxmlformats.org/drawingml/2006/main">
            <a:r>
              <a:t>[활동 A07 상세 원문]</a:t>
            </a:r>
          </a:p>
          <a:p xmlns:a="http://schemas.openxmlformats.org/drawingml/2006/main">
            <a:r>
              <a:t>### 사례로 이해하기 · 운송비 계산에서 문자열과 숫자 나누기</a:t>
            </a:r>
          </a:p>
          <a:p xmlns:a="http://schemas.openxmlformats.org/drawingml/2006/main">
            <a:r>
              <a:t/>
            </a:r>
          </a:p>
          <a:p xmlns:a="http://schemas.openxmlformats.org/drawingml/2006/main">
            <a:r>
              <a:t>필수 설명 보충입니다. 강사 시연 → 함께 추적 → 예상과 실제 비교 → 자기 말로 설명 순서로 읽습니다. 아래 독립 문제는 복습·도전이며 기존 50분 필수 경로와 별도로 활용합니다.</a:t>
            </a:r>
          </a:p>
          <a:p xmlns:a="http://schemas.openxmlformats.org/drawingml/2006/main">
            <a:r>
              <a:t/>
            </a:r>
          </a:p>
          <a:p xmlns:a="http://schemas.openxmlformats.org/drawingml/2006/main">
            <a:r>
              <a:t>택배 접수표에는 상품번호 “0012”, 무게 “2.5”, 포장비 1000이 있습니다. CSV에서 읽은 무게 칸은 숫자처럼 보여도 문자열일 수 있습니다. 문자열은 글자 순서를 보존하고 숫자는 수량을 계산합니다. 따옴표로 감싼 “2.5”와 실수 2.5의 저장 종류가 다르므로 계산 전 의미에 맞는 변환을 해야 합니다. 상품번호는 계산용 수량이 아니므로 앞의 0을 보존한 문자열을 유지합니다. 같은 모양의 숫자라도 변환 여부는 업무 목적에 따라 결정합니다.</a:t>
            </a:r>
          </a:p>
          <a:p xmlns:a="http://schemas.openxmlformats.org/drawingml/2006/main">
            <a:r>
              <a:t/>
            </a:r>
          </a:p>
          <a:p xmlns:a="http://schemas.openxmlformats.org/drawingml/2006/main">
            <a:r>
              <a:t>수업용 요금은 무게 1kg당 2000원에 포장비 1000원을 더하는 것으로 정합니다. 반올림·최소요금 등 실제 운송 규칙은 이번 합성 예에 포함하지 않습니다. “2.5”를 실수 2.5로 읽으면 2.5×2000+1000=6000원입니다. 먼저 곱셈으로 무게 요금을 계산하고 포장비를 더합니다. 문자열 “2”와 “5”를 +로 붙이면 “25”가 되어 무게 7이 아닙니다. 문자열을 이어 붙이는 연결과 수치 덧셈을 같은 기호가 다른 종류에 적용된 사례로 비교합니다.</a:t>
            </a:r>
          </a:p>
          <a:p xmlns:a="http://schemas.openxmlformats.org/drawingml/2006/main">
            <a:r>
              <a:t/>
            </a:r>
          </a:p>
          <a:p xmlns:a="http://schemas.openxmlformats.org/drawingml/2006/main">
            <a:r>
              <a:t>값 추적표는 원문 “2.5”·저장 종류 문자열 → 변환 값 2.5·실수 → 계산값 6000.0·실수 → 업무 표시 6000원 순서입니다. 계산 결과의 .0은 이 예의 저장·표시 방식이지 비용이 소수 원이라는 업무 확정은 아닙니다. 무게 원문이 “미확인”이라면 임의의 0kg로 바꾸지 않고 숫자 변환 전에 확인을 요청합니다. 문자열과 숫자를 +로 바로 섞으면 TypeError가 날 수 있고 “2.5”를 정수로 바로 읽으려 하면 ValueError가 납니다. 종류를 확인한 뒤 실수 변환을 고르고 상품번호까지 함께 바꾸지 않습니다.</a:t>
            </a:r>
          </a:p>
          <a:p xmlns:a="http://schemas.openxmlformats.org/drawingml/2006/main">
            <a:r>
              <a:t/>
            </a:r>
          </a:p>
          <a:p xmlns:a="http://schemas.openxmlformats.org/drawingml/2006/main">
            <a:r>
              <a:t>### 새 상황에 독립적으로 적용하기</a:t>
            </a:r>
          </a:p>
          <a:p xmlns:a="http://schemas.openxmlformats.org/drawingml/2006/main">
            <a:r>
              <a:t/>
            </a:r>
          </a:p>
          <a:p xmlns:a="http://schemas.openxmlformats.org/drawingml/2006/main">
            <a:r>
              <a:t>복습·도전: 판매표의 주문번호 “0009”, 단가 “1500”, 수량 “3”을 보고 총액과 각 항목의 저장 계획을 쓰세요. 단가는 정수 원, 수량은 개수라는 계약입니다. 배송비 2000원을 포함한 최종액도 계산하세요.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주문번호는 문자열 유지, 단가와 수량은 정수로 해석합니다. 상품 총액 1500×3=4500원, 최종액 6500원입니다. “1500”+“3”의 문자열 연결은 “15003”으로 금액 계산이 아닙니다. 주문번호를 정수 9로 바꾸면 앞 0을 잃습니다.</a:t>
            </a:r>
          </a:p>
          <a:p xmlns:a="http://schemas.openxmlformats.org/drawingml/2006/main">
            <a:r>
              <a:t/>
            </a:r>
          </a:p>
          <a:p xmlns:a="http://schemas.openxmlformats.org/drawingml/2006/main">
            <a:r>
              <a:t>### 핵심 세 질문과 해설</a:t>
            </a:r>
          </a:p>
          <a:p xmlns:a="http://schemas.openxmlformats.org/drawingml/2006/main">
            <a:r>
              <a:t/>
            </a:r>
          </a:p>
          <a:p xmlns:a="http://schemas.openxmlformats.org/drawingml/2006/main">
            <a:r>
              <a:t>1. **숫자처럼 보이면 모두 변환하나요?** 식별자·등급인지 실제 계산량인지 의미를 먼저 봅니다.</a:t>
            </a:r>
          </a:p>
          <a:p xmlns:a="http://schemas.openxmlformats.org/drawingml/2006/main">
            <a:r>
              <a:t/>
            </a:r>
          </a:p>
          <a:p xmlns:a="http://schemas.openxmlformats.org/drawingml/2006/main">
            <a:r>
              <a:t>2. **소수 문자열을 정수로 바로 읽나요?** 소수가 있는 표현에는 float 같은 의미에 맞는 변환이 필요합니다.</a:t>
            </a:r>
          </a:p>
          <a:p xmlns:a="http://schemas.openxmlformats.org/drawingml/2006/main">
            <a:r>
              <a:t/>
            </a:r>
          </a:p>
          <a:p xmlns:a="http://schemas.openxmlformats.org/drawingml/2006/main">
            <a:r>
              <a:t>3. **정상 종료면 요금도 맞나요?** 단위·요금 규칙·입력 해석이 맞는지 별도 확인해야 합니다.</a:t>
            </a:r>
          </a:p>
          <a:p xmlns:a="http://schemas.openxmlformats.org/drawingml/2006/main">
            <a:r>
              <a:t/>
            </a:r>
          </a:p>
          <a:p xmlns:a="http://schemas.openxmlformats.org/drawingml/2006/main">
            <a:r>
              <a:t/>
            </a:r>
          </a:p>
          <a:p xmlns:a="http://schemas.openxmlformats.org/drawingml/2006/main">
            <a:r>
              <a:t>**개념.** 숫자의 +는 수치 덧셈을 하고 문자열의 +는 글자를 이어 붙입니다. 같은 모양의 3이라도 따옴표 유무에 따라 저장 자료형이 달라지며 연산의 결과도 달라집니다.</a:t>
            </a:r>
          </a:p>
          <a:p xmlns:a="http://schemas.openxmlformats.org/drawingml/2006/main">
            <a:r>
              <a:t/>
            </a:r>
          </a:p>
          <a:p xmlns:a="http://schemas.openxmlformats.org/drawingml/2006/main">
            <a:r>
              <a:t>**왜 필요한가.** CSV의 셀을 기본 방식으로 읽으면 문자열이 된다는 10/8의 내용을 떠올립니다. 수량을 계산하려고 글자를 그대로 이어 붙이면 합계처럼 보이는 잘못된 결과가 생길 수 있습니다.</a:t>
            </a:r>
          </a:p>
          <a:p xmlns:a="http://schemas.openxmlformats.org/drawingml/2006/main">
            <a:r>
              <a:t/>
            </a:r>
          </a:p>
          <a:p xmlns:a="http://schemas.openxmlformats.org/drawingml/2006/main">
            <a:r>
              <a:t>**함께 보는 예.** 3 + 2는 5이고 "3" + "2"는 글자 32입니다. 10/8의 사번 001처럼 앞의 0을 유지해야 하는 이름표는 문자열이 적절할 수 있으므로 모든 숫자 모양을 변환하지 않습니다.</a:t>
            </a:r>
          </a:p>
          <a:p xmlns:a="http://schemas.openxmlformats.org/drawingml/2006/main">
            <a:r>
              <a:t/>
            </a:r>
          </a:p>
          <a:p xmlns:a="http://schemas.openxmlformats.org/drawingml/2006/main">
            <a:r>
              <a:t>**헷갈리는 경우.** 문자열을 무조건 숫자로 바꾸는 것도 정답이 아닙니다. 사번을 숫자로 바꾸면 식별 표현을 잃을 수 있습니다. 먼저 의미상 수량인지, 이름표인지 판단합니다.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count = 3</a:t>
            </a:r>
          </a:p>
          <a:p xmlns:a="http://schemas.openxmlformats.org/drawingml/2006/main">
            <a:r>
              <a:t>text_count = "3"</a:t>
            </a:r>
          </a:p>
          <a:p xmlns:a="http://schemas.openxmlformats.org/drawingml/2006/main">
            <a:r>
              <a:t>print(count + 2)</a:t>
            </a:r>
          </a:p>
          <a:p xmlns:a="http://schemas.openxmlformats.org/drawingml/2006/main">
            <a:r>
              <a:t>print(text_count + "2")</a:t>
            </a:r>
          </a:p>
          <a:p xmlns:a="http://schemas.openxmlformats.org/drawingml/2006/main">
            <a:r>
              <a:t>print(type(count).__name__, type(text_count).__name__)</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`count = 3` | 숫자 3을 저장합니다. |</a:t>
            </a:r>
          </a:p>
          <a:p xmlns:a="http://schemas.openxmlformats.org/drawingml/2006/main">
            <a:r>
              <a:t>| 2 | `text_count = "3"` | 글자 3을 저장합니다. |</a:t>
            </a:r>
          </a:p>
          <a:p xmlns:a="http://schemas.openxmlformats.org/drawingml/2006/main">
            <a:r>
              <a:t>| 3 | `print(count + 2)` | 숫자끼리 덧셈합니다. |</a:t>
            </a:r>
          </a:p>
          <a:p xmlns:a="http://schemas.openxmlformats.org/drawingml/2006/main">
            <a:r>
              <a:t>| 4 | `print(text_count + "2")` | 문자열끼리 이어 붙입니다. |</a:t>
            </a:r>
          </a:p>
          <a:p xmlns:a="http://schemas.openxmlformats.org/drawingml/2006/main">
            <a:r>
              <a:t>| 5 | `print(type(count).__name__, type(text_count).__name__)` | 두 값의 자료형 이름을 확인합니다.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code/A07_example.py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work/A07_example.py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5</a:t>
            </a:r>
          </a:p>
          <a:p xmlns:a="http://schemas.openxmlformats.org/drawingml/2006/main">
            <a:r>
              <a:t>32</a:t>
            </a:r>
          </a:p>
          <a:p xmlns:a="http://schemas.openxmlformats.org/drawingml/2006/main">
            <a:r>
              <a:t>int str</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세 출력 줄을 예상하고 각각 계산인지 글자 연결인지 적습니다.</a:t>
            </a:r>
          </a:p>
          <a:p xmlns:a="http://schemas.openxmlformats.org/drawingml/2006/main">
            <a:r>
              <a:t>2. 숫자와 문자열의 +를 같은 기준으로 읽지 않았는지 비교합니다.</a:t>
            </a:r>
          </a:p>
          <a:p xmlns:a="http://schemas.openxmlformats.org/drawingml/2006/main">
            <a:r>
              <a:t>3. 고의 오류 text_count + 2에서 서로 다른 자료형을 표시합니다.</a:t>
            </a:r>
          </a:p>
          <a:p xmlns:a="http://schemas.openxmlformats.org/drawingml/2006/main">
            <a:r>
              <a:t>4. 수량과 사번 중 무엇을 숫자로 바꿀지 이유를 씁니다.</a:t>
            </a:r>
          </a:p>
          <a:p xmlns:a="http://schemas.openxmlformats.org/drawingml/2006/main">
            <a:r>
              <a:t/>
            </a:r>
          </a:p>
          <a:p xmlns:a="http://schemas.openxmlformats.org/drawingml/2006/main">
            <a:r>
              <a:t>예상 결과: 5와 문자열 32, int와 str을 구별합니다. 혼합 +는 TypeError가 기대 결과입니다.</a:t>
            </a:r>
          </a:p>
          <a:p xmlns:a="http://schemas.openxmlformats.org/drawingml/2006/main">
            <a:r>
              <a:t/>
            </a:r>
          </a:p>
          <a:p xmlns:a="http://schemas.openxmlformats.org/drawingml/2006/main">
            <a:r>
              <a:t>확인 질문: "001"에 1을 더해 다음 직원을 정하는 것이 항상 적절할까요?</a:t>
            </a:r>
          </a:p>
          <a:p xmlns:a="http://schemas.openxmlformats.org/drawingml/2006/main">
            <a:r>
              <a:t/>
            </a:r>
          </a:p>
          <a:p xmlns:a="http://schemas.openxmlformats.org/drawingml/2006/main">
            <a:r>
              <a:t>막혔을 때: 화면에서 따옴표 없이 32가 보이면 type 출력도 함께 확인합니다. 표시 모양만으로 자료형을 판단하지 않습니다.</a:t>
            </a:r>
          </a:p>
          <a:p xmlns:a="http://schemas.openxmlformats.org/drawingml/2006/main">
            <a:r>
              <a:t/>
            </a:r>
          </a:p>
          <a:p xmlns:a="http://schemas.openxmlformats.org/drawingml/2006/main">
            <a:r>
              <a:t>[활동 자료와 작성칸](practice-guide.md#a07--숫자-더하기와-문자열-연결)에서 A07를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A07 상세 원문]</a:t>
            </a:r>
          </a:p>
          <a:p xmlns:a="http://schemas.openxmlformats.org/drawingml/2006/main">
            <a:r>
              <a:t>### 사례로 이해하기 · 운송비 계산에서 문자열과 숫자 나누기</a:t>
            </a:r>
          </a:p>
          <a:p xmlns:a="http://schemas.openxmlformats.org/drawingml/2006/main">
            <a:r>
              <a:t/>
            </a:r>
          </a:p>
          <a:p xmlns:a="http://schemas.openxmlformats.org/drawingml/2006/main">
            <a:r>
              <a:t>필수 설명 보충입니다. 강사 시연 → 함께 추적 → 예상과 실제 비교 → 자기 말로 설명 순서로 읽습니다. 아래 독립 문제는 복습·도전이며 기존 50분 필수 경로와 별도로 활용합니다.</a:t>
            </a:r>
          </a:p>
          <a:p xmlns:a="http://schemas.openxmlformats.org/drawingml/2006/main">
            <a:r>
              <a:t/>
            </a:r>
          </a:p>
          <a:p xmlns:a="http://schemas.openxmlformats.org/drawingml/2006/main">
            <a:r>
              <a:t>택배 접수표에는 상품번호 “0012”, 무게 “2.5”, 포장비 1000이 있습니다. CSV에서 읽은 무게 칸은 숫자처럼 보여도 문자열일 수 있습니다. 문자열은 글자 순서를 보존하고 숫자는 수량을 계산합니다. 따옴표로 감싼 “2.5”와 실수 2.5의 저장 종류가 다르므로 계산 전 의미에 맞는 변환을 해야 합니다. 상품번호는 계산용 수량이 아니므로 앞의 0을 보존한 문자열을 유지합니다. 같은 모양의 숫자라도 변환 여부는 업무 목적에 따라 결정합니다.</a:t>
            </a:r>
          </a:p>
          <a:p xmlns:a="http://schemas.openxmlformats.org/drawingml/2006/main">
            <a:r>
              <a:t/>
            </a:r>
          </a:p>
          <a:p xmlns:a="http://schemas.openxmlformats.org/drawingml/2006/main">
            <a:r>
              <a:t>수업용 요금은 무게 1kg당 2000원에 포장비 1000원을 더하는 것으로 정합니다. 반올림·최소요금 등 실제 운송 규칙은 이번 합성 예에 포함하지 않습니다. “2.5”를 실수 2.5로 읽으면 2.5×2000+1000=6000원입니다. 먼저 곱셈으로 무게 요금을 계산하고 포장비를 더합니다. 문자열 “2”와 “5”를 +로 붙이면 “25”가 되어 무게 7이 아닙니다. 문자열을 이어 붙이는 연결과 수치 덧셈을 같은 기호가 다른 종류에 적용된 사례로 비교합니다.</a:t>
            </a:r>
          </a:p>
          <a:p xmlns:a="http://schemas.openxmlformats.org/drawingml/2006/main">
            <a:r>
              <a:t/>
            </a:r>
          </a:p>
          <a:p xmlns:a="http://schemas.openxmlformats.org/drawingml/2006/main">
            <a:r>
              <a:t>값 추적표는 원문 “2.5”·저장 종류 문자열 → 변환 값 2.5·실수 → 계산값 6000.0·실수 → 업무 표시 6000원 순서입니다. 계산 결과의 .0은 이 예의 저장·표시 방식이지 비용이 소수 원이라는 업무 확정은 아닙니다. 무게 원문이 “미확인”이라면 임의의 0kg로 바꾸지 않고 숫자 변환 전에 확인을 요청합니다. 문자열과 숫자를 +로 바로 섞으면 TypeError가 날 수 있고 “2.5”를 정수로 바로 읽으려 하면 ValueError가 납니다. 종류를 확인한 뒤 실수 변환을 고르고 상품번호까지 함께 바꾸지 않습니다.</a:t>
            </a:r>
          </a:p>
          <a:p xmlns:a="http://schemas.openxmlformats.org/drawingml/2006/main">
            <a:r>
              <a:t/>
            </a:r>
          </a:p>
          <a:p xmlns:a="http://schemas.openxmlformats.org/drawingml/2006/main">
            <a:r>
              <a:t>### 새 상황에 독립적으로 적용하기</a:t>
            </a:r>
          </a:p>
          <a:p xmlns:a="http://schemas.openxmlformats.org/drawingml/2006/main">
            <a:r>
              <a:t/>
            </a:r>
          </a:p>
          <a:p xmlns:a="http://schemas.openxmlformats.org/drawingml/2006/main">
            <a:r>
              <a:t>복습·도전: 판매표의 주문번호 “0009”, 단가 “1500”, 수량 “3”을 보고 총액과 각 항목의 저장 계획을 쓰세요. 단가는 정수 원, 수량은 개수라는 계약입니다. 배송비 2000원을 포함한 최종액도 계산하세요.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주문번호는 문자열 유지, 단가와 수량은 정수로 해석합니다. 상품 총액 1500×3=4500원, 최종액 6500원입니다. “1500”+“3”의 문자열 연결은 “15003”으로 금액 계산이 아닙니다. 주문번호를 정수 9로 바꾸면 앞 0을 잃습니다.</a:t>
            </a:r>
          </a:p>
          <a:p xmlns:a="http://schemas.openxmlformats.org/drawingml/2006/main">
            <a:r>
              <a:t/>
            </a:r>
          </a:p>
          <a:p xmlns:a="http://schemas.openxmlformats.org/drawingml/2006/main">
            <a:r>
              <a:t>### 핵심 세 질문과 해설</a:t>
            </a:r>
          </a:p>
          <a:p xmlns:a="http://schemas.openxmlformats.org/drawingml/2006/main">
            <a:r>
              <a:t/>
            </a:r>
          </a:p>
          <a:p xmlns:a="http://schemas.openxmlformats.org/drawingml/2006/main">
            <a:r>
              <a:t>1. **숫자처럼 보이면 모두 변환하나요?** 식별자·등급인지 실제 계산량인지 의미를 먼저 봅니다.</a:t>
            </a:r>
          </a:p>
          <a:p xmlns:a="http://schemas.openxmlformats.org/drawingml/2006/main">
            <a:r>
              <a:t/>
            </a:r>
          </a:p>
          <a:p xmlns:a="http://schemas.openxmlformats.org/drawingml/2006/main">
            <a:r>
              <a:t>2. **소수 문자열을 정수로 바로 읽나요?** 소수가 있는 표현에는 float 같은 의미에 맞는 변환이 필요합니다.</a:t>
            </a:r>
          </a:p>
          <a:p xmlns:a="http://schemas.openxmlformats.org/drawingml/2006/main">
            <a:r>
              <a:t/>
            </a:r>
          </a:p>
          <a:p xmlns:a="http://schemas.openxmlformats.org/drawingml/2006/main">
            <a:r>
              <a:t>3. **정상 종료면 요금도 맞나요?** 단위·요금 규칙·입력 해석이 맞는지 별도 확인해야 합니다.</a:t>
            </a:r>
          </a:p>
          <a:p xmlns:a="http://schemas.openxmlformats.org/drawingml/2006/main">
            <a:r>
              <a:t/>
            </a:r>
          </a:p>
          <a:p xmlns:a="http://schemas.openxmlformats.org/drawingml/2006/main">
            <a:r>
              <a:t/>
            </a:r>
          </a:p>
          <a:p xmlns:a="http://schemas.openxmlformats.org/drawingml/2006/main">
            <a:r>
              <a:t>**개념.** 숫자의 +는 수치 덧셈을 하고 문자열의 +는 글자를 이어 붙입니다. 같은 모양의 3이라도 따옴표 유무에 따라 저장 자료형이 달라지며 연산의 결과도 달라집니다.</a:t>
            </a:r>
          </a:p>
          <a:p xmlns:a="http://schemas.openxmlformats.org/drawingml/2006/main">
            <a:r>
              <a:t/>
            </a:r>
          </a:p>
          <a:p xmlns:a="http://schemas.openxmlformats.org/drawingml/2006/main">
            <a:r>
              <a:t>**왜 필요한가.** CSV의 셀을 기본 방식으로 읽으면 문자열이 된다는 10/8의 내용을 떠올립니다. 수량을 계산하려고 글자를 그대로 이어 붙이면 합계처럼 보이는 잘못된 결과가 생길 수 있습니다.</a:t>
            </a:r>
          </a:p>
          <a:p xmlns:a="http://schemas.openxmlformats.org/drawingml/2006/main">
            <a:r>
              <a:t/>
            </a:r>
          </a:p>
          <a:p xmlns:a="http://schemas.openxmlformats.org/drawingml/2006/main">
            <a:r>
              <a:t>**함께 보는 예.** 3 + 2는 5이고 "3" + "2"는 글자 32입니다. 10/8의 사번 001처럼 앞의 0을 유지해야 하는 이름표는 문자열이 적절할 수 있으므로 모든 숫자 모양을 변환하지 않습니다.</a:t>
            </a:r>
          </a:p>
          <a:p xmlns:a="http://schemas.openxmlformats.org/drawingml/2006/main">
            <a:r>
              <a:t/>
            </a:r>
          </a:p>
          <a:p xmlns:a="http://schemas.openxmlformats.org/drawingml/2006/main">
            <a:r>
              <a:t>**헷갈리는 경우.** 문자열을 무조건 숫자로 바꾸는 것도 정답이 아닙니다. 사번을 숫자로 바꾸면 식별 표현을 잃을 수 있습니다. 먼저 의미상 수량인지, 이름표인지 판단합니다.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count = 3</a:t>
            </a:r>
          </a:p>
          <a:p xmlns:a="http://schemas.openxmlformats.org/drawingml/2006/main">
            <a:r>
              <a:t>text_count = "3"</a:t>
            </a:r>
          </a:p>
          <a:p xmlns:a="http://schemas.openxmlformats.org/drawingml/2006/main">
            <a:r>
              <a:t>print(count + 2)</a:t>
            </a:r>
          </a:p>
          <a:p xmlns:a="http://schemas.openxmlformats.org/drawingml/2006/main">
            <a:r>
              <a:t>print(text_count + "2")</a:t>
            </a:r>
          </a:p>
          <a:p xmlns:a="http://schemas.openxmlformats.org/drawingml/2006/main">
            <a:r>
              <a:t>print(type(count).__name__, type(text_count).__name__)</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`count = 3` | 숫자 3을 저장합니다. |</a:t>
            </a:r>
          </a:p>
          <a:p xmlns:a="http://schemas.openxmlformats.org/drawingml/2006/main">
            <a:r>
              <a:t>| 2 | `text_count = "3"` | 글자 3을 저장합니다. |</a:t>
            </a:r>
          </a:p>
          <a:p xmlns:a="http://schemas.openxmlformats.org/drawingml/2006/main">
            <a:r>
              <a:t>| 3 | `print(count + 2)` | 숫자끼리 덧셈합니다. |</a:t>
            </a:r>
          </a:p>
          <a:p xmlns:a="http://schemas.openxmlformats.org/drawingml/2006/main">
            <a:r>
              <a:t>| 4 | `print(text_count + "2")` | 문자열끼리 이어 붙입니다. |</a:t>
            </a:r>
          </a:p>
          <a:p xmlns:a="http://schemas.openxmlformats.org/drawingml/2006/main">
            <a:r>
              <a:t>| 5 | `print(type(count).__name__, type(text_count).__name__)` | 두 값의 자료형 이름을 확인합니다.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code/A07_example.py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work/A07_example.py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5</a:t>
            </a:r>
          </a:p>
          <a:p xmlns:a="http://schemas.openxmlformats.org/drawingml/2006/main">
            <a:r>
              <a:t>32</a:t>
            </a:r>
          </a:p>
          <a:p xmlns:a="http://schemas.openxmlformats.org/drawingml/2006/main">
            <a:r>
              <a:t>int str</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세 출력 줄을 예상하고 각각 계산인지 글자 연결인지 적습니다.</a:t>
            </a:r>
          </a:p>
          <a:p xmlns:a="http://schemas.openxmlformats.org/drawingml/2006/main">
            <a:r>
              <a:t>2. 숫자와 문자열의 +를 같은 기준으로 읽지 않았는지 비교합니다.</a:t>
            </a:r>
          </a:p>
          <a:p xmlns:a="http://schemas.openxmlformats.org/drawingml/2006/main">
            <a:r>
              <a:t>3. 고의 오류 text_count + 2에서 서로 다른 자료형을 표시합니다.</a:t>
            </a:r>
          </a:p>
          <a:p xmlns:a="http://schemas.openxmlformats.org/drawingml/2006/main">
            <a:r>
              <a:t>4. 수량과 사번 중 무엇을 숫자로 바꿀지 이유를 씁니다.</a:t>
            </a:r>
          </a:p>
          <a:p xmlns:a="http://schemas.openxmlformats.org/drawingml/2006/main">
            <a:r>
              <a:t/>
            </a:r>
          </a:p>
          <a:p xmlns:a="http://schemas.openxmlformats.org/drawingml/2006/main">
            <a:r>
              <a:t>예상 결과: 5와 문자열 32, int와 str을 구별합니다. 혼합 +는 TypeError가 기대 결과입니다.</a:t>
            </a:r>
          </a:p>
          <a:p xmlns:a="http://schemas.openxmlformats.org/drawingml/2006/main">
            <a:r>
              <a:t/>
            </a:r>
          </a:p>
          <a:p xmlns:a="http://schemas.openxmlformats.org/drawingml/2006/main">
            <a:r>
              <a:t>확인 질문: "001"에 1을 더해 다음 직원을 정하는 것이 항상 적절할까요?</a:t>
            </a:r>
          </a:p>
          <a:p xmlns:a="http://schemas.openxmlformats.org/drawingml/2006/main">
            <a:r>
              <a:t/>
            </a:r>
          </a:p>
          <a:p xmlns:a="http://schemas.openxmlformats.org/drawingml/2006/main">
            <a:r>
              <a:t>막혔을 때: 화면에서 따옴표 없이 32가 보이면 type 출력도 함께 확인합니다. 표시 모양만으로 자료형을 판단하지 않습니다.</a:t>
            </a:r>
          </a:p>
          <a:p xmlns:a="http://schemas.openxmlformats.org/drawingml/2006/main">
            <a:r>
              <a:t/>
            </a:r>
          </a:p>
          <a:p xmlns:a="http://schemas.openxmlformats.org/drawingml/2006/main">
            <a:r>
              <a:t>[활동 자료와 작성칸](practice-guide.md#a07--숫자-더하기와-문자열-연결)에서 A07를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A07 상세 원문]</a:t>
            </a:r>
          </a:p>
          <a:p xmlns:a="http://schemas.openxmlformats.org/drawingml/2006/main">
            <a:r>
              <a:t>### 사례로 이해하기 · 운송비 계산에서 문자열과 숫자 나누기</a:t>
            </a:r>
          </a:p>
          <a:p xmlns:a="http://schemas.openxmlformats.org/drawingml/2006/main">
            <a:r>
              <a:t/>
            </a:r>
          </a:p>
          <a:p xmlns:a="http://schemas.openxmlformats.org/drawingml/2006/main">
            <a:r>
              <a:t>필수 설명 보충입니다. 강사 시연 → 함께 추적 → 예상과 실제 비교 → 자기 말로 설명 순서로 읽습니다. 아래 독립 문제는 복습·도전이며 기존 50분 필수 경로와 별도로 활용합니다.</a:t>
            </a:r>
          </a:p>
          <a:p xmlns:a="http://schemas.openxmlformats.org/drawingml/2006/main">
            <a:r>
              <a:t/>
            </a:r>
          </a:p>
          <a:p xmlns:a="http://schemas.openxmlformats.org/drawingml/2006/main">
            <a:r>
              <a:t>택배 접수표에는 상품번호 “0012”, 무게 “2.5”, 포장비 1000이 있습니다. CSV에서 읽은 무게 칸은 숫자처럼 보여도 문자열일 수 있습니다. 문자열은 글자 순서를 보존하고 숫자는 수량을 계산합니다. 따옴표로 감싼 “2.5”와 실수 2.5의 저장 종류가 다르므로 계산 전 의미에 맞는 변환을 해야 합니다. 상품번호는 계산용 수량이 아니므로 앞의 0을 보존한 문자열을 유지합니다. 같은 모양의 숫자라도 변환 여부는 업무 목적에 따라 결정합니다.</a:t>
            </a:r>
          </a:p>
          <a:p xmlns:a="http://schemas.openxmlformats.org/drawingml/2006/main">
            <a:r>
              <a:t/>
            </a:r>
          </a:p>
          <a:p xmlns:a="http://schemas.openxmlformats.org/drawingml/2006/main">
            <a:r>
              <a:t>수업용 요금은 무게 1kg당 2000원에 포장비 1000원을 더하는 것으로 정합니다. 반올림·최소요금 등 실제 운송 규칙은 이번 합성 예에 포함하지 않습니다. “2.5”를 실수 2.5로 읽으면 2.5×2000+1000=6000원입니다. 먼저 곱셈으로 무게 요금을 계산하고 포장비를 더합니다. 문자열 “2”와 “5”를 +로 붙이면 “25”가 되어 무게 7이 아닙니다. 문자열을 이어 붙이는 연결과 수치 덧셈을 같은 기호가 다른 종류에 적용된 사례로 비교합니다.</a:t>
            </a:r>
          </a:p>
          <a:p xmlns:a="http://schemas.openxmlformats.org/drawingml/2006/main">
            <a:r>
              <a:t/>
            </a:r>
          </a:p>
          <a:p xmlns:a="http://schemas.openxmlformats.org/drawingml/2006/main">
            <a:r>
              <a:t>값 추적표는 원문 “2.5”·저장 종류 문자열 → 변환 값 2.5·실수 → 계산값 6000.0·실수 → 업무 표시 6000원 순서입니다. 계산 결과의 .0은 이 예의 저장·표시 방식이지 비용이 소수 원이라는 업무 확정은 아닙니다. 무게 원문이 “미확인”이라면 임의의 0kg로 바꾸지 않고 숫자 변환 전에 확인을 요청합니다. 문자열과 숫자를 +로 바로 섞으면 TypeError가 날 수 있고 “2.5”를 정수로 바로 읽으려 하면 ValueError가 납니다. 종류를 확인한 뒤 실수 변환을 고르고 상품번호까지 함께 바꾸지 않습니다.</a:t>
            </a:r>
          </a:p>
          <a:p xmlns:a="http://schemas.openxmlformats.org/drawingml/2006/main">
            <a:r>
              <a:t/>
            </a:r>
          </a:p>
          <a:p xmlns:a="http://schemas.openxmlformats.org/drawingml/2006/main">
            <a:r>
              <a:t>### 새 상황에 독립적으로 적용하기</a:t>
            </a:r>
          </a:p>
          <a:p xmlns:a="http://schemas.openxmlformats.org/drawingml/2006/main">
            <a:r>
              <a:t/>
            </a:r>
          </a:p>
          <a:p xmlns:a="http://schemas.openxmlformats.org/drawingml/2006/main">
            <a:r>
              <a:t>복습·도전: 판매표의 주문번호 “0009”, 단가 “1500”, 수량 “3”을 보고 총액과 각 항목의 저장 계획을 쓰세요. 단가는 정수 원, 수량은 개수라는 계약입니다. 배송비 2000원을 포함한 최종액도 계산하세요.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주문번호는 문자열 유지, 단가와 수량은 정수로 해석합니다. 상품 총액 1500×3=4500원, 최종액 6500원입니다. “1500”+“3”의 문자열 연결은 “15003”으로 금액 계산이 아닙니다. 주문번호를 정수 9로 바꾸면 앞 0을 잃습니다.</a:t>
            </a:r>
          </a:p>
          <a:p xmlns:a="http://schemas.openxmlformats.org/drawingml/2006/main">
            <a:r>
              <a:t/>
            </a:r>
          </a:p>
          <a:p xmlns:a="http://schemas.openxmlformats.org/drawingml/2006/main">
            <a:r>
              <a:t>### 핵심 세 질문과 해설</a:t>
            </a:r>
          </a:p>
          <a:p xmlns:a="http://schemas.openxmlformats.org/drawingml/2006/main">
            <a:r>
              <a:t/>
            </a:r>
          </a:p>
          <a:p xmlns:a="http://schemas.openxmlformats.org/drawingml/2006/main">
            <a:r>
              <a:t>1. **숫자처럼 보이면 모두 변환하나요?** 식별자·등급인지 실제 계산량인지 의미를 먼저 봅니다.</a:t>
            </a:r>
          </a:p>
          <a:p xmlns:a="http://schemas.openxmlformats.org/drawingml/2006/main">
            <a:r>
              <a:t/>
            </a:r>
          </a:p>
          <a:p xmlns:a="http://schemas.openxmlformats.org/drawingml/2006/main">
            <a:r>
              <a:t>2. **소수 문자열을 정수로 바로 읽나요?** 소수가 있는 표현에는 float 같은 의미에 맞는 변환이 필요합니다.</a:t>
            </a:r>
          </a:p>
          <a:p xmlns:a="http://schemas.openxmlformats.org/drawingml/2006/main">
            <a:r>
              <a:t/>
            </a:r>
          </a:p>
          <a:p xmlns:a="http://schemas.openxmlformats.org/drawingml/2006/main">
            <a:r>
              <a:t>3. **정상 종료면 요금도 맞나요?** 단위·요금 규칙·입력 해석이 맞는지 별도 확인해야 합니다.</a:t>
            </a:r>
          </a:p>
          <a:p xmlns:a="http://schemas.openxmlformats.org/drawingml/2006/main">
            <a:r>
              <a:t/>
            </a:r>
          </a:p>
          <a:p xmlns:a="http://schemas.openxmlformats.org/drawingml/2006/main">
            <a:r>
              <a:t/>
            </a:r>
          </a:p>
          <a:p xmlns:a="http://schemas.openxmlformats.org/drawingml/2006/main">
            <a:r>
              <a:t>**개념.** 숫자의 +는 수치 덧셈을 하고 문자열의 +는 글자를 이어 붙입니다. 같은 모양의 3이라도 따옴표 유무에 따라 저장 자료형이 달라지며 연산의 결과도 달라집니다.</a:t>
            </a:r>
          </a:p>
          <a:p xmlns:a="http://schemas.openxmlformats.org/drawingml/2006/main">
            <a:r>
              <a:t/>
            </a:r>
          </a:p>
          <a:p xmlns:a="http://schemas.openxmlformats.org/drawingml/2006/main">
            <a:r>
              <a:t>**왜 필요한가.** CSV의 셀을 기본 방식으로 읽으면 문자열이 된다는 10/8의 내용을 떠올립니다. 수량을 계산하려고 글자를 그대로 이어 붙이면 합계처럼 보이는 잘못된 결과가 생길 수 있습니다.</a:t>
            </a:r>
          </a:p>
          <a:p xmlns:a="http://schemas.openxmlformats.org/drawingml/2006/main">
            <a:r>
              <a:t/>
            </a:r>
          </a:p>
          <a:p xmlns:a="http://schemas.openxmlformats.org/drawingml/2006/main">
            <a:r>
              <a:t>**함께 보는 예.** 3 + 2는 5이고 "3" + "2"는 글자 32입니다. 10/8의 사번 001처럼 앞의 0을 유지해야 하는 이름표는 문자열이 적절할 수 있으므로 모든 숫자 모양을 변환하지 않습니다.</a:t>
            </a:r>
          </a:p>
          <a:p xmlns:a="http://schemas.openxmlformats.org/drawingml/2006/main">
            <a:r>
              <a:t/>
            </a:r>
          </a:p>
          <a:p xmlns:a="http://schemas.openxmlformats.org/drawingml/2006/main">
            <a:r>
              <a:t>**헷갈리는 경우.** 문자열을 무조건 숫자로 바꾸는 것도 정답이 아닙니다. 사번을 숫자로 바꾸면 식별 표현을 잃을 수 있습니다. 먼저 의미상 수량인지, 이름표인지 판단합니다.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count = 3</a:t>
            </a:r>
          </a:p>
          <a:p xmlns:a="http://schemas.openxmlformats.org/drawingml/2006/main">
            <a:r>
              <a:t>text_count = "3"</a:t>
            </a:r>
          </a:p>
          <a:p xmlns:a="http://schemas.openxmlformats.org/drawingml/2006/main">
            <a:r>
              <a:t>print(count + 2)</a:t>
            </a:r>
          </a:p>
          <a:p xmlns:a="http://schemas.openxmlformats.org/drawingml/2006/main">
            <a:r>
              <a:t>print(text_count + "2")</a:t>
            </a:r>
          </a:p>
          <a:p xmlns:a="http://schemas.openxmlformats.org/drawingml/2006/main">
            <a:r>
              <a:t>print(type(count).__name__, type(text_count).__name__)</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`count = 3` | 숫자 3을 저장합니다. |</a:t>
            </a:r>
          </a:p>
          <a:p xmlns:a="http://schemas.openxmlformats.org/drawingml/2006/main">
            <a:r>
              <a:t>| 2 | `text_count = "3"` | 글자 3을 저장합니다. |</a:t>
            </a:r>
          </a:p>
          <a:p xmlns:a="http://schemas.openxmlformats.org/drawingml/2006/main">
            <a:r>
              <a:t>| 3 | `print(count + 2)` | 숫자끼리 덧셈합니다. |</a:t>
            </a:r>
          </a:p>
          <a:p xmlns:a="http://schemas.openxmlformats.org/drawingml/2006/main">
            <a:r>
              <a:t>| 4 | `print(text_count + "2")` | 문자열끼리 이어 붙입니다. |</a:t>
            </a:r>
          </a:p>
          <a:p xmlns:a="http://schemas.openxmlformats.org/drawingml/2006/main">
            <a:r>
              <a:t>| 5 | `print(type(count).__name__, type(text_count).__name__)` | 두 값의 자료형 이름을 확인합니다.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code/A07_example.py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work/A07_example.py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5</a:t>
            </a:r>
          </a:p>
          <a:p xmlns:a="http://schemas.openxmlformats.org/drawingml/2006/main">
            <a:r>
              <a:t>32</a:t>
            </a:r>
          </a:p>
          <a:p xmlns:a="http://schemas.openxmlformats.org/drawingml/2006/main">
            <a:r>
              <a:t>int str</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세 출력 줄을 예상하고 각각 계산인지 글자 연결인지 적습니다.</a:t>
            </a:r>
          </a:p>
          <a:p xmlns:a="http://schemas.openxmlformats.org/drawingml/2006/main">
            <a:r>
              <a:t>2. 숫자와 문자열의 +를 같은 기준으로 읽지 않았는지 비교합니다.</a:t>
            </a:r>
          </a:p>
          <a:p xmlns:a="http://schemas.openxmlformats.org/drawingml/2006/main">
            <a:r>
              <a:t>3. 고의 오류 text_count + 2에서 서로 다른 자료형을 표시합니다.</a:t>
            </a:r>
          </a:p>
          <a:p xmlns:a="http://schemas.openxmlformats.org/drawingml/2006/main">
            <a:r>
              <a:t>4. 수량과 사번 중 무엇을 숫자로 바꿀지 이유를 씁니다.</a:t>
            </a:r>
          </a:p>
          <a:p xmlns:a="http://schemas.openxmlformats.org/drawingml/2006/main">
            <a:r>
              <a:t/>
            </a:r>
          </a:p>
          <a:p xmlns:a="http://schemas.openxmlformats.org/drawingml/2006/main">
            <a:r>
              <a:t>예상 결과: 5와 문자열 32, int와 str을 구별합니다. 혼합 +는 TypeError가 기대 결과입니다.</a:t>
            </a:r>
          </a:p>
          <a:p xmlns:a="http://schemas.openxmlformats.org/drawingml/2006/main">
            <a:r>
              <a:t/>
            </a:r>
          </a:p>
          <a:p xmlns:a="http://schemas.openxmlformats.org/drawingml/2006/main">
            <a:r>
              <a:t>확인 질문: "001"에 1을 더해 다음 직원을 정하는 것이 항상 적절할까요?</a:t>
            </a:r>
          </a:p>
          <a:p xmlns:a="http://schemas.openxmlformats.org/drawingml/2006/main">
            <a:r>
              <a:t/>
            </a:r>
          </a:p>
          <a:p xmlns:a="http://schemas.openxmlformats.org/drawingml/2006/main">
            <a:r>
              <a:t>막혔을 때: 화면에서 따옴표 없이 32가 보이면 type 출력도 함께 확인합니다. 표시 모양만으로 자료형을 판단하지 않습니다.</a:t>
            </a:r>
          </a:p>
          <a:p xmlns:a="http://schemas.openxmlformats.org/drawingml/2006/main">
            <a:r>
              <a:t/>
            </a:r>
          </a:p>
          <a:p xmlns:a="http://schemas.openxmlformats.org/drawingml/2006/main">
            <a:r>
              <a:t>[활동 자료와 작성칸](practice-guide.md#a07--숫자-더하기와-문자열-연결)에서 A07를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제공된 완성 파일의 전체 코드입니다. 압축을 푼 course 폴더의 터미널에서 실행합니다.</a:t>
            </a:r>
          </a:p>
          <a:p xmlns:a="http://schemas.openxmlformats.org/drawingml/2006/main">
            <a:r>
              <a:t>명령: python -X utf8 code/A08_example.py</a:t>
            </a:r>
          </a:p>
          <a:p xmlns:a="http://schemas.openxmlformats.org/drawingml/2006/main">
            <a:r>
              <a:t>작업본은 code 대신 work 경로를 지정합니다. 개인 실행이 막히면 같은 입력으로 수동 추적 후 강사 결과와 비교합니다.</a:t>
            </a:r>
          </a:p>
          <a:p xmlns:a="http://schemas.openxmlformats.org/drawingml/2006/main">
            <a:r>
              <a:t/>
            </a:r>
          </a:p>
          <a:p xmlns:a="http://schemas.openxmlformats.org/drawingml/2006/main">
            <a:r>
              <a:t>[활동 A08 상세 원문]</a:t>
            </a:r>
          </a:p>
          <a:p xmlns:a="http://schemas.openxmlformats.org/drawingml/2006/main">
            <a:r>
              <a:t>**개념.** 형 변환은 정해진 규칙으로 다른 자료형의 값을 만드는 일입니다. float("22.5")는 숫자를 나타내는 문자열을 실수값으로 해석합니다. 원문 문자열이 저절로 바뀌는 것은 아니며 결과를 다른 이름에 연결할 수 있습니다.</a:t>
            </a:r>
          </a:p>
          <a:p xmlns:a="http://schemas.openxmlformats.org/drawingml/2006/main">
            <a:r>
              <a:t/>
            </a:r>
          </a:p>
          <a:p xmlns:a="http://schemas.openxmlformats.org/drawingml/2006/main">
            <a:r>
              <a:t>**왜 필요한가.** 외부에서 읽은 온도 글자를 계산하려면 숫자로 다룰 값인지 확인하고 변환해야 합니다. 데이터의 의미가 수치라는 사실과 현재 저장 형태가 문자열이라는 사실을 연결하는 단계입니다.</a:t>
            </a:r>
          </a:p>
          <a:p xmlns:a="http://schemas.openxmlformats.org/drawingml/2006/main">
            <a:r>
              <a:t/>
            </a:r>
          </a:p>
          <a:p xmlns:a="http://schemas.openxmlformats.org/drawingml/2006/main">
            <a:r>
              <a:t>**함께 보는 예.** raw와 temperature_c를 나누어 두면 받은 원문과 해석 결과를 비교하기 쉽습니다. 출력에서는 두 값의 모양이 같아도 자료형이 str과 float로 다릅니다.</a:t>
            </a:r>
          </a:p>
          <a:p xmlns:a="http://schemas.openxmlformats.org/drawingml/2006/main">
            <a:r>
              <a:t/>
            </a:r>
          </a:p>
          <a:p xmlns:a="http://schemas.openxmlformats.org/drawingml/2006/main">
            <a:r>
              <a:t>**헷갈리는 경우.** float("뜨거움")은 수치로 해석할 수 없어 ValueError가 납니다. 빈칸을 0으로 바꾸는 것으로 해결하면 미측정을 실제 0℃로 바꾸게 됩니다. 값 없음 처리는 다음 활동과 다음 날에 별도로 배웁니다.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raw = "22.5"</a:t>
            </a:r>
          </a:p>
          <a:p xmlns:a="http://schemas.openxmlformats.org/drawingml/2006/main">
            <a:r>
              <a:t>temperature_c = float(raw)</a:t>
            </a:r>
          </a:p>
          <a:p xmlns:a="http://schemas.openxmlformats.org/drawingml/2006/main">
            <a:r>
              <a:t>print(raw, type(raw).__name__)</a:t>
            </a:r>
          </a:p>
          <a:p xmlns:a="http://schemas.openxmlformats.org/drawingml/2006/main">
            <a:r>
              <a:t>print(temperature_c, type(temperature_c).__name__)</a:t>
            </a:r>
          </a:p>
          <a:p xmlns:a="http://schemas.openxmlformats.org/drawingml/2006/main">
            <a:r>
              <a:t>print(temperature_c + 1)</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`raw = "22.5"` | 받은 원문 글자를 저장합니다. |</a:t>
            </a:r>
          </a:p>
          <a:p xmlns:a="http://schemas.openxmlformats.org/drawingml/2006/main">
            <a:r>
              <a:t>| 2 | `temperature_c = float(raw)` | 숫자로 해석한 결과를 새 이름에 연결합니다. |</a:t>
            </a:r>
          </a:p>
          <a:p xmlns:a="http://schemas.openxmlformats.org/drawingml/2006/main">
            <a:r>
              <a:t>| 3 | `print(raw, type(raw).__name__)` | 원문의 값과 문자열 자료형을 확인합니다. |</a:t>
            </a:r>
          </a:p>
          <a:p xmlns:a="http://schemas.openxmlformats.org/drawingml/2006/main">
            <a:r>
              <a:t>| 4 | `print(temperature_c, type(temperature_c).__name__)` | 변환 결과와 실수 자료형을 확인합니다. |</a:t>
            </a:r>
          </a:p>
          <a:p xmlns:a="http://schemas.openxmlformats.org/drawingml/2006/main">
            <a:r>
              <a:t>| 5 | `print(temperature_c + 1)` | 변환한 숫자에 1을 더합니다.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code/A08_example.py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work/A08_example.py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22.5 str</a:t>
            </a:r>
          </a:p>
          <a:p xmlns:a="http://schemas.openxmlformats.org/drawingml/2006/main">
            <a:r>
              <a:t>22.5 float</a:t>
            </a:r>
          </a:p>
          <a:p xmlns:a="http://schemas.openxmlformats.org/drawingml/2006/main">
            <a:r>
              <a:t>23.5</a:t>
            </a:r>
          </a:p>
          <a:p xmlns:a="http://schemas.openxmlformats.org/drawingml/2006/main">
            <a:r>
              <a:t>```</a:t>
            </a:r>
          </a:p>
          <a:p xmlns:a="http://schemas.openxmlformats.org/drawingml/2006/main">
            <a:r>
              <a:t/>
            </a:r>
          </a:p>
          <a:p xmlns:a="http://schemas.openxmlformats.org/drawingml/2006/main">
            <a:r>
              <a:t>작은 수정: `"22.5"`를 `"24.0"`로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24.0 str</a:t>
            </a:r>
          </a:p>
          <a:p xmlns:a="http://schemas.openxmlformats.org/drawingml/2006/main">
            <a:r>
              <a:t>24.0 float</a:t>
            </a:r>
          </a:p>
          <a:p xmlns:a="http://schemas.openxmlformats.org/drawingml/2006/main">
            <a:r>
              <a:t>25.0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원문과 변환 결과의 이름을 구별합니다.</a:t>
            </a:r>
          </a:p>
          <a:p xmlns:a="http://schemas.openxmlformats.org/drawingml/2006/main">
            <a:r>
              <a:t>2. 원문을 "24.0"으로 바꾸고 출력 세 줄을 예상합니다.</a:t>
            </a:r>
          </a:p>
          <a:p xmlns:a="http://schemas.openxmlformats.org/drawingml/2006/main">
            <a:r>
              <a:t>3. 저장·실행 뒤 값과 자료형을 대조합니다.</a:t>
            </a:r>
          </a:p>
          <a:p xmlns:a="http://schemas.openxmlformats.org/drawingml/2006/main">
            <a:r>
              <a:t>4. 고의 오류 "뜨거움" 사례의 원문·오류 종류·확인 질문을 기록합니다.</a:t>
            </a:r>
          </a:p>
          <a:p xmlns:a="http://schemas.openxmlformats.org/drawingml/2006/main">
            <a:r>
              <a:t/>
            </a:r>
          </a:p>
          <a:p xmlns:a="http://schemas.openxmlformats.org/drawingml/2006/main">
            <a:r>
              <a:t>예상 결과: 변환 후 계산 결과는 25.0. 숫자가 아닌 글자에서는 ValueError.</a:t>
            </a:r>
          </a:p>
          <a:p xmlns:a="http://schemas.openxmlformats.org/drawingml/2006/main">
            <a:r>
              <a:t/>
            </a:r>
          </a:p>
          <a:p xmlns:a="http://schemas.openxmlformats.org/drawingml/2006/main">
            <a:r>
              <a:t>확인 질문: 원문 raw를 남기는 이유는 무엇일까요?</a:t>
            </a:r>
          </a:p>
          <a:p xmlns:a="http://schemas.openxmlformats.org/drawingml/2006/main">
            <a:r>
              <a:t/>
            </a:r>
          </a:p>
          <a:p xmlns:a="http://schemas.openxmlformats.org/drawingml/2006/main">
            <a:r>
              <a:t>막혔을 때: ValueError가 보이면 입력 문자열을 먼저 확인합니다. °C 같은 단위 글자가 붙었는지, 빈칸인지 구별하고 확인되지 않은 값을 만들어 채우지 않습니다.</a:t>
            </a:r>
          </a:p>
          <a:p xmlns:a="http://schemas.openxmlformats.org/drawingml/2006/main">
            <a:r>
              <a:t/>
            </a:r>
          </a:p>
          <a:p xmlns:a="http://schemas.openxmlformats.org/drawingml/2006/main">
            <a:r>
              <a:t>[활동 자료와 작성칸](practice-guide.md#a08--수치-문자열을-숫자로-변환하기)에서 A08를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A08 상세 원문]</a:t>
            </a:r>
          </a:p>
          <a:p xmlns:a="http://schemas.openxmlformats.org/drawingml/2006/main">
            <a:r>
              <a:t>**개념.** 형 변환은 정해진 규칙으로 다른 자료형의 값을 만드는 일입니다. float("22.5")는 숫자를 나타내는 문자열을 실수값으로 해석합니다. 원문 문자열이 저절로 바뀌는 것은 아니며 결과를 다른 이름에 연결할 수 있습니다.</a:t>
            </a:r>
          </a:p>
          <a:p xmlns:a="http://schemas.openxmlformats.org/drawingml/2006/main">
            <a:r>
              <a:t/>
            </a:r>
          </a:p>
          <a:p xmlns:a="http://schemas.openxmlformats.org/drawingml/2006/main">
            <a:r>
              <a:t>**왜 필요한가.** 외부에서 읽은 온도 글자를 계산하려면 숫자로 다룰 값인지 확인하고 변환해야 합니다. 데이터의 의미가 수치라는 사실과 현재 저장 형태가 문자열이라는 사실을 연결하는 단계입니다.</a:t>
            </a:r>
          </a:p>
          <a:p xmlns:a="http://schemas.openxmlformats.org/drawingml/2006/main">
            <a:r>
              <a:t/>
            </a:r>
          </a:p>
          <a:p xmlns:a="http://schemas.openxmlformats.org/drawingml/2006/main">
            <a:r>
              <a:t>**함께 보는 예.** raw와 temperature_c를 나누어 두면 받은 원문과 해석 결과를 비교하기 쉽습니다. 출력에서는 두 값의 모양이 같아도 자료형이 str과 float로 다릅니다.</a:t>
            </a:r>
          </a:p>
          <a:p xmlns:a="http://schemas.openxmlformats.org/drawingml/2006/main">
            <a:r>
              <a:t/>
            </a:r>
          </a:p>
          <a:p xmlns:a="http://schemas.openxmlformats.org/drawingml/2006/main">
            <a:r>
              <a:t>**헷갈리는 경우.** float("뜨거움")은 수치로 해석할 수 없어 ValueError가 납니다. 빈칸을 0으로 바꾸는 것으로 해결하면 미측정을 실제 0℃로 바꾸게 됩니다. 값 없음 처리는 다음 활동과 다음 날에 별도로 배웁니다.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raw = "22.5"</a:t>
            </a:r>
          </a:p>
          <a:p xmlns:a="http://schemas.openxmlformats.org/drawingml/2006/main">
            <a:r>
              <a:t>temperature_c = float(raw)</a:t>
            </a:r>
          </a:p>
          <a:p xmlns:a="http://schemas.openxmlformats.org/drawingml/2006/main">
            <a:r>
              <a:t>print(raw, type(raw).__name__)</a:t>
            </a:r>
          </a:p>
          <a:p xmlns:a="http://schemas.openxmlformats.org/drawingml/2006/main">
            <a:r>
              <a:t>print(temperature_c, type(temperature_c).__name__)</a:t>
            </a:r>
          </a:p>
          <a:p xmlns:a="http://schemas.openxmlformats.org/drawingml/2006/main">
            <a:r>
              <a:t>print(temperature_c + 1)</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`raw = "22.5"` | 받은 원문 글자를 저장합니다. |</a:t>
            </a:r>
          </a:p>
          <a:p xmlns:a="http://schemas.openxmlformats.org/drawingml/2006/main">
            <a:r>
              <a:t>| 2 | `temperature_c = float(raw)` | 숫자로 해석한 결과를 새 이름에 연결합니다. |</a:t>
            </a:r>
          </a:p>
          <a:p xmlns:a="http://schemas.openxmlformats.org/drawingml/2006/main">
            <a:r>
              <a:t>| 3 | `print(raw, type(raw).__name__)` | 원문의 값과 문자열 자료형을 확인합니다. |</a:t>
            </a:r>
          </a:p>
          <a:p xmlns:a="http://schemas.openxmlformats.org/drawingml/2006/main">
            <a:r>
              <a:t>| 4 | `print(temperature_c, type(temperature_c).__name__)` | 변환 결과와 실수 자료형을 확인합니다. |</a:t>
            </a:r>
          </a:p>
          <a:p xmlns:a="http://schemas.openxmlformats.org/drawingml/2006/main">
            <a:r>
              <a:t>| 5 | `print(temperature_c + 1)` | 변환한 숫자에 1을 더합니다.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code/A08_example.py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work/A08_example.py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22.5 str</a:t>
            </a:r>
          </a:p>
          <a:p xmlns:a="http://schemas.openxmlformats.org/drawingml/2006/main">
            <a:r>
              <a:t>22.5 float</a:t>
            </a:r>
          </a:p>
          <a:p xmlns:a="http://schemas.openxmlformats.org/drawingml/2006/main">
            <a:r>
              <a:t>23.5</a:t>
            </a:r>
          </a:p>
          <a:p xmlns:a="http://schemas.openxmlformats.org/drawingml/2006/main">
            <a:r>
              <a:t>```</a:t>
            </a:r>
          </a:p>
          <a:p xmlns:a="http://schemas.openxmlformats.org/drawingml/2006/main">
            <a:r>
              <a:t/>
            </a:r>
          </a:p>
          <a:p xmlns:a="http://schemas.openxmlformats.org/drawingml/2006/main">
            <a:r>
              <a:t>작은 수정: `"22.5"`를 `"24.0"`로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24.0 str</a:t>
            </a:r>
          </a:p>
          <a:p xmlns:a="http://schemas.openxmlformats.org/drawingml/2006/main">
            <a:r>
              <a:t>24.0 float</a:t>
            </a:r>
          </a:p>
          <a:p xmlns:a="http://schemas.openxmlformats.org/drawingml/2006/main">
            <a:r>
              <a:t>25.0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원문과 변환 결과의 이름을 구별합니다.</a:t>
            </a:r>
          </a:p>
          <a:p xmlns:a="http://schemas.openxmlformats.org/drawingml/2006/main">
            <a:r>
              <a:t>2. 원문을 "24.0"으로 바꾸고 출력 세 줄을 예상합니다.</a:t>
            </a:r>
          </a:p>
          <a:p xmlns:a="http://schemas.openxmlformats.org/drawingml/2006/main">
            <a:r>
              <a:t>3. 저장·실행 뒤 값과 자료형을 대조합니다.</a:t>
            </a:r>
          </a:p>
          <a:p xmlns:a="http://schemas.openxmlformats.org/drawingml/2006/main">
            <a:r>
              <a:t>4. 고의 오류 "뜨거움" 사례의 원문·오류 종류·확인 질문을 기록합니다.</a:t>
            </a:r>
          </a:p>
          <a:p xmlns:a="http://schemas.openxmlformats.org/drawingml/2006/main">
            <a:r>
              <a:t/>
            </a:r>
          </a:p>
          <a:p xmlns:a="http://schemas.openxmlformats.org/drawingml/2006/main">
            <a:r>
              <a:t>예상 결과: 변환 후 계산 결과는 25.0. 숫자가 아닌 글자에서는 ValueError.</a:t>
            </a:r>
          </a:p>
          <a:p xmlns:a="http://schemas.openxmlformats.org/drawingml/2006/main">
            <a:r>
              <a:t/>
            </a:r>
          </a:p>
          <a:p xmlns:a="http://schemas.openxmlformats.org/drawingml/2006/main">
            <a:r>
              <a:t>확인 질문: 원문 raw를 남기는 이유는 무엇일까요?</a:t>
            </a:r>
          </a:p>
          <a:p xmlns:a="http://schemas.openxmlformats.org/drawingml/2006/main">
            <a:r>
              <a:t/>
            </a:r>
          </a:p>
          <a:p xmlns:a="http://schemas.openxmlformats.org/drawingml/2006/main">
            <a:r>
              <a:t>막혔을 때: ValueError가 보이면 입력 문자열을 먼저 확인합니다. °C 같은 단위 글자가 붙었는지, 빈칸인지 구별하고 확인되지 않은 값을 만들어 채우지 않습니다.</a:t>
            </a:r>
          </a:p>
          <a:p xmlns:a="http://schemas.openxmlformats.org/drawingml/2006/main">
            <a:r>
              <a:t/>
            </a:r>
          </a:p>
          <a:p xmlns:a="http://schemas.openxmlformats.org/drawingml/2006/main">
            <a:r>
              <a:t>[활동 자료와 작성칸](practice-guide.md#a08--수치-문자열을-숫자로-변환하기)에서 A08를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A08 상세 원문]</a:t>
            </a:r>
          </a:p>
          <a:p xmlns:a="http://schemas.openxmlformats.org/drawingml/2006/main">
            <a:r>
              <a:t>**개념.** 형 변환은 정해진 규칙으로 다른 자료형의 값을 만드는 일입니다. float("22.5")는 숫자를 나타내는 문자열을 실수값으로 해석합니다. 원문 문자열이 저절로 바뀌는 것은 아니며 결과를 다른 이름에 연결할 수 있습니다.</a:t>
            </a:r>
          </a:p>
          <a:p xmlns:a="http://schemas.openxmlformats.org/drawingml/2006/main">
            <a:r>
              <a:t/>
            </a:r>
          </a:p>
          <a:p xmlns:a="http://schemas.openxmlformats.org/drawingml/2006/main">
            <a:r>
              <a:t>**왜 필요한가.** 외부에서 읽은 온도 글자를 계산하려면 숫자로 다룰 값인지 확인하고 변환해야 합니다. 데이터의 의미가 수치라는 사실과 현재 저장 형태가 문자열이라는 사실을 연결하는 단계입니다.</a:t>
            </a:r>
          </a:p>
          <a:p xmlns:a="http://schemas.openxmlformats.org/drawingml/2006/main">
            <a:r>
              <a:t/>
            </a:r>
          </a:p>
          <a:p xmlns:a="http://schemas.openxmlformats.org/drawingml/2006/main">
            <a:r>
              <a:t>**함께 보는 예.** raw와 temperature_c를 나누어 두면 받은 원문과 해석 결과를 비교하기 쉽습니다. 출력에서는 두 값의 모양이 같아도 자료형이 str과 float로 다릅니다.</a:t>
            </a:r>
          </a:p>
          <a:p xmlns:a="http://schemas.openxmlformats.org/drawingml/2006/main">
            <a:r>
              <a:t/>
            </a:r>
          </a:p>
          <a:p xmlns:a="http://schemas.openxmlformats.org/drawingml/2006/main">
            <a:r>
              <a:t>**헷갈리는 경우.** float("뜨거움")은 수치로 해석할 수 없어 ValueError가 납니다. 빈칸을 0으로 바꾸는 것으로 해결하면 미측정을 실제 0℃로 바꾸게 됩니다. 값 없음 처리는 다음 활동과 다음 날에 별도로 배웁니다.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raw = "22.5"</a:t>
            </a:r>
          </a:p>
          <a:p xmlns:a="http://schemas.openxmlformats.org/drawingml/2006/main">
            <a:r>
              <a:t>temperature_c = float(raw)</a:t>
            </a:r>
          </a:p>
          <a:p xmlns:a="http://schemas.openxmlformats.org/drawingml/2006/main">
            <a:r>
              <a:t>print(raw, type(raw).__name__)</a:t>
            </a:r>
          </a:p>
          <a:p xmlns:a="http://schemas.openxmlformats.org/drawingml/2006/main">
            <a:r>
              <a:t>print(temperature_c, type(temperature_c).__name__)</a:t>
            </a:r>
          </a:p>
          <a:p xmlns:a="http://schemas.openxmlformats.org/drawingml/2006/main">
            <a:r>
              <a:t>print(temperature_c + 1)</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`raw = "22.5"` | 받은 원문 글자를 저장합니다. |</a:t>
            </a:r>
          </a:p>
          <a:p xmlns:a="http://schemas.openxmlformats.org/drawingml/2006/main">
            <a:r>
              <a:t>| 2 | `temperature_c = float(raw)` | 숫자로 해석한 결과를 새 이름에 연결합니다. |</a:t>
            </a:r>
          </a:p>
          <a:p xmlns:a="http://schemas.openxmlformats.org/drawingml/2006/main">
            <a:r>
              <a:t>| 3 | `print(raw, type(raw).__name__)` | 원문의 값과 문자열 자료형을 확인합니다. |</a:t>
            </a:r>
          </a:p>
          <a:p xmlns:a="http://schemas.openxmlformats.org/drawingml/2006/main">
            <a:r>
              <a:t>| 4 | `print(temperature_c, type(temperature_c).__name__)` | 변환 결과와 실수 자료형을 확인합니다. |</a:t>
            </a:r>
          </a:p>
          <a:p xmlns:a="http://schemas.openxmlformats.org/drawingml/2006/main">
            <a:r>
              <a:t>| 5 | `print(temperature_c + 1)` | 변환한 숫자에 1을 더합니다.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code/A08_example.py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work/A08_example.py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22.5 str</a:t>
            </a:r>
          </a:p>
          <a:p xmlns:a="http://schemas.openxmlformats.org/drawingml/2006/main">
            <a:r>
              <a:t>22.5 float</a:t>
            </a:r>
          </a:p>
          <a:p xmlns:a="http://schemas.openxmlformats.org/drawingml/2006/main">
            <a:r>
              <a:t>23.5</a:t>
            </a:r>
          </a:p>
          <a:p xmlns:a="http://schemas.openxmlformats.org/drawingml/2006/main">
            <a:r>
              <a:t>```</a:t>
            </a:r>
          </a:p>
          <a:p xmlns:a="http://schemas.openxmlformats.org/drawingml/2006/main">
            <a:r>
              <a:t/>
            </a:r>
          </a:p>
          <a:p xmlns:a="http://schemas.openxmlformats.org/drawingml/2006/main">
            <a:r>
              <a:t>작은 수정: `"22.5"`를 `"24.0"`로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24.0 str</a:t>
            </a:r>
          </a:p>
          <a:p xmlns:a="http://schemas.openxmlformats.org/drawingml/2006/main">
            <a:r>
              <a:t>24.0 float</a:t>
            </a:r>
          </a:p>
          <a:p xmlns:a="http://schemas.openxmlformats.org/drawingml/2006/main">
            <a:r>
              <a:t>25.0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원문과 변환 결과의 이름을 구별합니다.</a:t>
            </a:r>
          </a:p>
          <a:p xmlns:a="http://schemas.openxmlformats.org/drawingml/2006/main">
            <a:r>
              <a:t>2. 원문을 "24.0"으로 바꾸고 출력 세 줄을 예상합니다.</a:t>
            </a:r>
          </a:p>
          <a:p xmlns:a="http://schemas.openxmlformats.org/drawingml/2006/main">
            <a:r>
              <a:t>3. 저장·실행 뒤 값과 자료형을 대조합니다.</a:t>
            </a:r>
          </a:p>
          <a:p xmlns:a="http://schemas.openxmlformats.org/drawingml/2006/main">
            <a:r>
              <a:t>4. 고의 오류 "뜨거움" 사례의 원문·오류 종류·확인 질문을 기록합니다.</a:t>
            </a:r>
          </a:p>
          <a:p xmlns:a="http://schemas.openxmlformats.org/drawingml/2006/main">
            <a:r>
              <a:t/>
            </a:r>
          </a:p>
          <a:p xmlns:a="http://schemas.openxmlformats.org/drawingml/2006/main">
            <a:r>
              <a:t>예상 결과: 변환 후 계산 결과는 25.0. 숫자가 아닌 글자에서는 ValueError.</a:t>
            </a:r>
          </a:p>
          <a:p xmlns:a="http://schemas.openxmlformats.org/drawingml/2006/main">
            <a:r>
              <a:t/>
            </a:r>
          </a:p>
          <a:p xmlns:a="http://schemas.openxmlformats.org/drawingml/2006/main">
            <a:r>
              <a:t>확인 질문: 원문 raw를 남기는 이유는 무엇일까요?</a:t>
            </a:r>
          </a:p>
          <a:p xmlns:a="http://schemas.openxmlformats.org/drawingml/2006/main">
            <a:r>
              <a:t/>
            </a:r>
          </a:p>
          <a:p xmlns:a="http://schemas.openxmlformats.org/drawingml/2006/main">
            <a:r>
              <a:t>막혔을 때: ValueError가 보이면 입력 문자열을 먼저 확인합니다. °C 같은 단위 글자가 붙었는지, 빈칸인지 구별하고 확인되지 않은 값을 만들어 채우지 않습니다.</a:t>
            </a:r>
          </a:p>
          <a:p xmlns:a="http://schemas.openxmlformats.org/drawingml/2006/main">
            <a:r>
              <a:t/>
            </a:r>
          </a:p>
          <a:p xmlns:a="http://schemas.openxmlformats.org/drawingml/2006/main">
            <a:r>
              <a:t>[활동 자료와 작성칸](practice-guide.md#a08--수치-문자열을-숫자로-변환하기)에서 A08를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제공된 완성 파일의 전체 코드입니다. 압축을 푼 course 폴더의 터미널에서 실행합니다.</a:t>
            </a:r>
          </a:p>
          <a:p xmlns:a="http://schemas.openxmlformats.org/drawingml/2006/main">
            <a:r>
              <a:t>명령: python -X utf8 code/A09_example.py</a:t>
            </a:r>
          </a:p>
          <a:p xmlns:a="http://schemas.openxmlformats.org/drawingml/2006/main">
            <a:r>
              <a:t>작업본은 code 대신 work 경로를 지정합니다. 개인 실행이 막히면 같은 입력으로 수동 추적 후 강사 결과와 비교합니다.</a:t>
            </a:r>
          </a:p>
          <a:p xmlns:a="http://schemas.openxmlformats.org/drawingml/2006/main">
            <a:r>
              <a:t/>
            </a:r>
          </a:p>
          <a:p xmlns:a="http://schemas.openxmlformats.org/drawingml/2006/main">
            <a:r>
              <a:t>[활동 A09 상세 원문]</a:t>
            </a:r>
          </a:p>
          <a:p xmlns:a="http://schemas.openxmlformats.org/drawingml/2006/main">
            <a:r>
              <a:t>**개념.** 연산자는 값으로 계산하는 기호입니다. +, -, *, /를 읽고 괄호로 먼저 계산할 부분을 정합니다. Python에서 /의 결과는 나누어떨어져도 실수 형태가 될 수 있습니다.</a:t>
            </a:r>
          </a:p>
          <a:p xmlns:a="http://schemas.openxmlformats.org/drawingml/2006/main">
            <a:r>
              <a:t/>
            </a:r>
          </a:p>
          <a:p xmlns:a="http://schemas.openxmlformats.org/drawingml/2006/main">
            <a:r>
              <a:t>**왜 필요한가.** 합계와 개수를 따로 확인해야 평균의 분모를 잘못 고르는 일을 막을 수 있습니다. 오늘은 이미 확인된 숫자 세 개만 계산하고, 미측정과 잘못된 값이 있는 파일 처리는 다음 날로 넘깁니다.</a:t>
            </a:r>
          </a:p>
          <a:p xmlns:a="http://schemas.openxmlformats.org/drawingml/2006/main">
            <a:r>
              <a:t/>
            </a:r>
          </a:p>
          <a:p xmlns:a="http://schemas.openxmlformats.org/drawingml/2006/main">
            <a:r>
              <a:t>**함께 보는 예.** 22.5, 24.0, 23.5의 합은 70.0이며 세 값의 평균은 23.333…입니다. round는 표시를 짧게 하는 데 쓰지만 원래 센서가 정확히 두 자리까지 측정했다는 뜻은 아닙니다.</a:t>
            </a:r>
          </a:p>
          <a:p xmlns:a="http://schemas.openxmlformats.org/drawingml/2006/main">
            <a:r>
              <a:t/>
            </a:r>
          </a:p>
          <a:p xmlns:a="http://schemas.openxmlformats.org/drawingml/2006/main">
            <a:r>
              <a:t>**헷갈리는 경우.** 22.5 + 24.0 + 23.5 / 3은 전체 합을 3으로 나누는 식과 다릅니다. 괄호나 합계 이름을 사용해 의도한 계산 순서를 드러냅니다.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total = 22.5 + 24.0 + 23.5</a:t>
            </a:r>
          </a:p>
          <a:p xmlns:a="http://schemas.openxmlformats.org/drawingml/2006/main">
            <a:r>
              <a:t>count = 3</a:t>
            </a:r>
          </a:p>
          <a:p xmlns:a="http://schemas.openxmlformats.org/drawingml/2006/main">
            <a:r>
              <a:t>average = total / count</a:t>
            </a:r>
          </a:p>
          <a:p xmlns:a="http://schemas.openxmlformats.org/drawingml/2006/main">
            <a:r>
              <a:t>print(total)</a:t>
            </a:r>
          </a:p>
          <a:p xmlns:a="http://schemas.openxmlformats.org/drawingml/2006/main">
            <a:r>
              <a:t>print(round(average, 2))</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`total = 22.5 + 24.0 + 23.5` | 확인된 온도 세 값의 합을 계산합니다. |</a:t>
            </a:r>
          </a:p>
          <a:p xmlns:a="http://schemas.openxmlformats.org/drawingml/2006/main">
            <a:r>
              <a:t>| 2 | `count = 3` | 계산에 사용한 값의 개수를 저장합니다. |</a:t>
            </a:r>
          </a:p>
          <a:p xmlns:a="http://schemas.openxmlformats.org/drawingml/2006/main">
            <a:r>
              <a:t>| 3 | `average = total / count` | 합을 개수로 나눕니다. |</a:t>
            </a:r>
          </a:p>
          <a:p xmlns:a="http://schemas.openxmlformats.org/drawingml/2006/main">
            <a:r>
              <a:t>| 4 | `print(total)` | 합계를 출력합니다. |</a:t>
            </a:r>
          </a:p>
          <a:p xmlns:a="http://schemas.openxmlformats.org/drawingml/2006/main">
            <a:r>
              <a:t>| 5 | `print(round(average, 2))` | 평균을 소수 둘째 자리까지 반올림해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code/A09_example.py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work/A09_example.py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70.0</a:t>
            </a:r>
          </a:p>
          <a:p xmlns:a="http://schemas.openxmlformats.org/drawingml/2006/main">
            <a:r>
              <a:t>23.33</a:t>
            </a:r>
          </a:p>
          <a:p xmlns:a="http://schemas.openxmlformats.org/drawingml/2006/main">
            <a:r>
              <a:t>```</a:t>
            </a:r>
          </a:p>
          <a:p xmlns:a="http://schemas.openxmlformats.org/drawingml/2006/main">
            <a:r>
              <a:t/>
            </a:r>
          </a:p>
          <a:p xmlns:a="http://schemas.openxmlformats.org/drawingml/2006/main">
            <a:r>
              <a:t>작은 수정: `count = 3`를 `count = 2`로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70.0</a:t>
            </a:r>
          </a:p>
          <a:p xmlns:a="http://schemas.openxmlformats.org/drawingml/2006/main">
            <a:r>
              <a:t>35.0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합계와 개수를 손으로 확인합니다.</a:t>
            </a:r>
          </a:p>
          <a:p xmlns:a="http://schemas.openxmlformats.org/drawingml/2006/main">
            <a:r>
              <a:t>2. 코드 각 계산의 입력과 결과를 표로 적습니다.</a:t>
            </a:r>
          </a:p>
          <a:p xmlns:a="http://schemas.openxmlformats.org/drawingml/2006/main">
            <a:r>
              <a:t>3. count를 2로 바꾼 출력 35.0이 계산은 되지만 의미상 맞는지 판단합니다.</a:t>
            </a:r>
          </a:p>
          <a:p xmlns:a="http://schemas.openxmlformats.org/drawingml/2006/main">
            <a:r>
              <a:t>4. 정상 분모를 복원하고 0으로 나눌 때 오류 단서를 비교합니다.</a:t>
            </a:r>
          </a:p>
          <a:p xmlns:a="http://schemas.openxmlformats.org/drawingml/2006/main">
            <a:r>
              <a:t/>
            </a:r>
          </a:p>
          <a:p xmlns:a="http://schemas.openxmlformats.org/drawingml/2006/main">
            <a:r>
              <a:t>예상 결과: 정상 합계 70.0, 평균 23.33. 잘못된 분모는 실행 성공과 별개로 검수해야 합니다.</a:t>
            </a:r>
          </a:p>
          <a:p xmlns:a="http://schemas.openxmlformats.org/drawingml/2006/main">
            <a:r>
              <a:t/>
            </a:r>
          </a:p>
          <a:p xmlns:a="http://schemas.openxmlformats.org/drawingml/2006/main">
            <a:r>
              <a:t>확인 질문: 코드가 종료 코드 0으로 끝났다면 평균의 업무 의미도 보장되나요?</a:t>
            </a:r>
          </a:p>
          <a:p xmlns:a="http://schemas.openxmlformats.org/drawingml/2006/main">
            <a:r>
              <a:t/>
            </a:r>
          </a:p>
          <a:p xmlns:a="http://schemas.openxmlformats.org/drawingml/2006/main">
            <a:r>
              <a:t>막혔을 때: ZeroDivisionError가 생기면 분모가 왜 0인지 먼저 확인합니다. 임의로 1을 넣어 원인을 숨기지 않습니다.</a:t>
            </a:r>
          </a:p>
          <a:p xmlns:a="http://schemas.openxmlformats.org/drawingml/2006/main">
            <a:r>
              <a:t/>
            </a:r>
          </a:p>
          <a:p xmlns:a="http://schemas.openxmlformats.org/drawingml/2006/main">
            <a:r>
              <a:t>[활동 자료와 작성칸](practice-guide.md#a09--연산과-괄호로-작은-계산-만들기)에서 A09를 엽니다.</a:t>
            </a:r>
          </a:p>
          <a:p xmlns:a="http://schemas.openxmlformats.org/drawingml/2006/main">
            <a:r>
              <a:t/>
            </a:r>
          </a:p>
          <a:p xmlns:a="http://schemas.openxmlformats.org/drawingml/2006/main">
            <a:r>
              <a:t># 4구간 · 기준에 따라 나누기</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A09 상세 원문]</a:t>
            </a:r>
          </a:p>
          <a:p xmlns:a="http://schemas.openxmlformats.org/drawingml/2006/main">
            <a:r>
              <a:t>**개념.** 연산자는 값으로 계산하는 기호입니다. +, -, *, /를 읽고 괄호로 먼저 계산할 부분을 정합니다. Python에서 /의 결과는 나누어떨어져도 실수 형태가 될 수 있습니다.</a:t>
            </a:r>
          </a:p>
          <a:p xmlns:a="http://schemas.openxmlformats.org/drawingml/2006/main">
            <a:r>
              <a:t/>
            </a:r>
          </a:p>
          <a:p xmlns:a="http://schemas.openxmlformats.org/drawingml/2006/main">
            <a:r>
              <a:t>**왜 필요한가.** 합계와 개수를 따로 확인해야 평균의 분모를 잘못 고르는 일을 막을 수 있습니다. 오늘은 이미 확인된 숫자 세 개만 계산하고, 미측정과 잘못된 값이 있는 파일 처리는 다음 날로 넘깁니다.</a:t>
            </a:r>
          </a:p>
          <a:p xmlns:a="http://schemas.openxmlformats.org/drawingml/2006/main">
            <a:r>
              <a:t/>
            </a:r>
          </a:p>
          <a:p xmlns:a="http://schemas.openxmlformats.org/drawingml/2006/main">
            <a:r>
              <a:t>**함께 보는 예.** 22.5, 24.0, 23.5의 합은 70.0이며 세 값의 평균은 23.333…입니다. round는 표시를 짧게 하는 데 쓰지만 원래 센서가 정확히 두 자리까지 측정했다는 뜻은 아닙니다.</a:t>
            </a:r>
          </a:p>
          <a:p xmlns:a="http://schemas.openxmlformats.org/drawingml/2006/main">
            <a:r>
              <a:t/>
            </a:r>
          </a:p>
          <a:p xmlns:a="http://schemas.openxmlformats.org/drawingml/2006/main">
            <a:r>
              <a:t>**헷갈리는 경우.** 22.5 + 24.0 + 23.5 / 3은 전체 합을 3으로 나누는 식과 다릅니다. 괄호나 합계 이름을 사용해 의도한 계산 순서를 드러냅니다.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total = 22.5 + 24.0 + 23.5</a:t>
            </a:r>
          </a:p>
          <a:p xmlns:a="http://schemas.openxmlformats.org/drawingml/2006/main">
            <a:r>
              <a:t>count = 3</a:t>
            </a:r>
          </a:p>
          <a:p xmlns:a="http://schemas.openxmlformats.org/drawingml/2006/main">
            <a:r>
              <a:t>average = total / count</a:t>
            </a:r>
          </a:p>
          <a:p xmlns:a="http://schemas.openxmlformats.org/drawingml/2006/main">
            <a:r>
              <a:t>print(total)</a:t>
            </a:r>
          </a:p>
          <a:p xmlns:a="http://schemas.openxmlformats.org/drawingml/2006/main">
            <a:r>
              <a:t>print(round(average, 2))</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`total = 22.5 + 24.0 + 23.5` | 확인된 온도 세 값의 합을 계산합니다. |</a:t>
            </a:r>
          </a:p>
          <a:p xmlns:a="http://schemas.openxmlformats.org/drawingml/2006/main">
            <a:r>
              <a:t>| 2 | `count = 3` | 계산에 사용한 값의 개수를 저장합니다. |</a:t>
            </a:r>
          </a:p>
          <a:p xmlns:a="http://schemas.openxmlformats.org/drawingml/2006/main">
            <a:r>
              <a:t>| 3 | `average = total / count` | 합을 개수로 나눕니다. |</a:t>
            </a:r>
          </a:p>
          <a:p xmlns:a="http://schemas.openxmlformats.org/drawingml/2006/main">
            <a:r>
              <a:t>| 4 | `print(total)` | 합계를 출력합니다. |</a:t>
            </a:r>
          </a:p>
          <a:p xmlns:a="http://schemas.openxmlformats.org/drawingml/2006/main">
            <a:r>
              <a:t>| 5 | `print(round(average, 2))` | 평균을 소수 둘째 자리까지 반올림해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code/A09_example.py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work/A09_example.py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70.0</a:t>
            </a:r>
          </a:p>
          <a:p xmlns:a="http://schemas.openxmlformats.org/drawingml/2006/main">
            <a:r>
              <a:t>23.33</a:t>
            </a:r>
          </a:p>
          <a:p xmlns:a="http://schemas.openxmlformats.org/drawingml/2006/main">
            <a:r>
              <a:t>```</a:t>
            </a:r>
          </a:p>
          <a:p xmlns:a="http://schemas.openxmlformats.org/drawingml/2006/main">
            <a:r>
              <a:t/>
            </a:r>
          </a:p>
          <a:p xmlns:a="http://schemas.openxmlformats.org/drawingml/2006/main">
            <a:r>
              <a:t>작은 수정: `count = 3`를 `count = 2`로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70.0</a:t>
            </a:r>
          </a:p>
          <a:p xmlns:a="http://schemas.openxmlformats.org/drawingml/2006/main">
            <a:r>
              <a:t>35.0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합계와 개수를 손으로 확인합니다.</a:t>
            </a:r>
          </a:p>
          <a:p xmlns:a="http://schemas.openxmlformats.org/drawingml/2006/main">
            <a:r>
              <a:t>2. 코드 각 계산의 입력과 결과를 표로 적습니다.</a:t>
            </a:r>
          </a:p>
          <a:p xmlns:a="http://schemas.openxmlformats.org/drawingml/2006/main">
            <a:r>
              <a:t>3. count를 2로 바꾼 출력 35.0이 계산은 되지만 의미상 맞는지 판단합니다.</a:t>
            </a:r>
          </a:p>
          <a:p xmlns:a="http://schemas.openxmlformats.org/drawingml/2006/main">
            <a:r>
              <a:t>4. 정상 분모를 복원하고 0으로 나눌 때 오류 단서를 비교합니다.</a:t>
            </a:r>
          </a:p>
          <a:p xmlns:a="http://schemas.openxmlformats.org/drawingml/2006/main">
            <a:r>
              <a:t/>
            </a:r>
          </a:p>
          <a:p xmlns:a="http://schemas.openxmlformats.org/drawingml/2006/main">
            <a:r>
              <a:t>예상 결과: 정상 합계 70.0, 평균 23.33. 잘못된 분모는 실행 성공과 별개로 검수해야 합니다.</a:t>
            </a:r>
          </a:p>
          <a:p xmlns:a="http://schemas.openxmlformats.org/drawingml/2006/main">
            <a:r>
              <a:t/>
            </a:r>
          </a:p>
          <a:p xmlns:a="http://schemas.openxmlformats.org/drawingml/2006/main">
            <a:r>
              <a:t>확인 질문: 코드가 종료 코드 0으로 끝났다면 평균의 업무 의미도 보장되나요?</a:t>
            </a:r>
          </a:p>
          <a:p xmlns:a="http://schemas.openxmlformats.org/drawingml/2006/main">
            <a:r>
              <a:t/>
            </a:r>
          </a:p>
          <a:p xmlns:a="http://schemas.openxmlformats.org/drawingml/2006/main">
            <a:r>
              <a:t>막혔을 때: ZeroDivisionError가 생기면 분모가 왜 0인지 먼저 확인합니다. 임의로 1을 넣어 원인을 숨기지 않습니다.</a:t>
            </a:r>
          </a:p>
          <a:p xmlns:a="http://schemas.openxmlformats.org/drawingml/2006/main">
            <a:r>
              <a:t/>
            </a:r>
          </a:p>
          <a:p xmlns:a="http://schemas.openxmlformats.org/drawingml/2006/main">
            <a:r>
              <a:t>[활동 자료와 작성칸](practice-guide.md#a09--연산과-괄호로-작은-계산-만들기)에서 A09를 엽니다.</a:t>
            </a:r>
          </a:p>
          <a:p xmlns:a="http://schemas.openxmlformats.org/drawingml/2006/main">
            <a:r>
              <a:t/>
            </a:r>
          </a:p>
          <a:p xmlns:a="http://schemas.openxmlformats.org/drawingml/2006/main">
            <a:r>
              <a:t># 4구간 · 기준에 따라 나누기</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A09 상세 원문]</a:t>
            </a:r>
          </a:p>
          <a:p xmlns:a="http://schemas.openxmlformats.org/drawingml/2006/main">
            <a:r>
              <a:t>**개념.** 연산자는 값으로 계산하는 기호입니다. +, -, *, /를 읽고 괄호로 먼저 계산할 부분을 정합니다. Python에서 /의 결과는 나누어떨어져도 실수 형태가 될 수 있습니다.</a:t>
            </a:r>
          </a:p>
          <a:p xmlns:a="http://schemas.openxmlformats.org/drawingml/2006/main">
            <a:r>
              <a:t/>
            </a:r>
          </a:p>
          <a:p xmlns:a="http://schemas.openxmlformats.org/drawingml/2006/main">
            <a:r>
              <a:t>**왜 필요한가.** 합계와 개수를 따로 확인해야 평균의 분모를 잘못 고르는 일을 막을 수 있습니다. 오늘은 이미 확인된 숫자 세 개만 계산하고, 미측정과 잘못된 값이 있는 파일 처리는 다음 날로 넘깁니다.</a:t>
            </a:r>
          </a:p>
          <a:p xmlns:a="http://schemas.openxmlformats.org/drawingml/2006/main">
            <a:r>
              <a:t/>
            </a:r>
          </a:p>
          <a:p xmlns:a="http://schemas.openxmlformats.org/drawingml/2006/main">
            <a:r>
              <a:t>**함께 보는 예.** 22.5, 24.0, 23.5의 합은 70.0이며 세 값의 평균은 23.333…입니다. round는 표시를 짧게 하는 데 쓰지만 원래 센서가 정확히 두 자리까지 측정했다는 뜻은 아닙니다.</a:t>
            </a:r>
          </a:p>
          <a:p xmlns:a="http://schemas.openxmlformats.org/drawingml/2006/main">
            <a:r>
              <a:t/>
            </a:r>
          </a:p>
          <a:p xmlns:a="http://schemas.openxmlformats.org/drawingml/2006/main">
            <a:r>
              <a:t>**헷갈리는 경우.** 22.5 + 24.0 + 23.5 / 3은 전체 합을 3으로 나누는 식과 다릅니다. 괄호나 합계 이름을 사용해 의도한 계산 순서를 드러냅니다.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total = 22.5 + 24.0 + 23.5</a:t>
            </a:r>
          </a:p>
          <a:p xmlns:a="http://schemas.openxmlformats.org/drawingml/2006/main">
            <a:r>
              <a:t>count = 3</a:t>
            </a:r>
          </a:p>
          <a:p xmlns:a="http://schemas.openxmlformats.org/drawingml/2006/main">
            <a:r>
              <a:t>average = total / count</a:t>
            </a:r>
          </a:p>
          <a:p xmlns:a="http://schemas.openxmlformats.org/drawingml/2006/main">
            <a:r>
              <a:t>print(total)</a:t>
            </a:r>
          </a:p>
          <a:p xmlns:a="http://schemas.openxmlformats.org/drawingml/2006/main">
            <a:r>
              <a:t>print(round(average, 2))</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`total = 22.5 + 24.0 + 23.5` | 확인된 온도 세 값의 합을 계산합니다. |</a:t>
            </a:r>
          </a:p>
          <a:p xmlns:a="http://schemas.openxmlformats.org/drawingml/2006/main">
            <a:r>
              <a:t>| 2 | `count = 3` | 계산에 사용한 값의 개수를 저장합니다. |</a:t>
            </a:r>
          </a:p>
          <a:p xmlns:a="http://schemas.openxmlformats.org/drawingml/2006/main">
            <a:r>
              <a:t>| 3 | `average = total / count` | 합을 개수로 나눕니다. |</a:t>
            </a:r>
          </a:p>
          <a:p xmlns:a="http://schemas.openxmlformats.org/drawingml/2006/main">
            <a:r>
              <a:t>| 4 | `print(total)` | 합계를 출력합니다. |</a:t>
            </a:r>
          </a:p>
          <a:p xmlns:a="http://schemas.openxmlformats.org/drawingml/2006/main">
            <a:r>
              <a:t>| 5 | `print(round(average, 2))` | 평균을 소수 둘째 자리까지 반올림해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code/A09_example.py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work/A09_example.py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70.0</a:t>
            </a:r>
          </a:p>
          <a:p xmlns:a="http://schemas.openxmlformats.org/drawingml/2006/main">
            <a:r>
              <a:t>23.33</a:t>
            </a:r>
          </a:p>
          <a:p xmlns:a="http://schemas.openxmlformats.org/drawingml/2006/main">
            <a:r>
              <a:t>```</a:t>
            </a:r>
          </a:p>
          <a:p xmlns:a="http://schemas.openxmlformats.org/drawingml/2006/main">
            <a:r>
              <a:t/>
            </a:r>
          </a:p>
          <a:p xmlns:a="http://schemas.openxmlformats.org/drawingml/2006/main">
            <a:r>
              <a:t>작은 수정: `count = 3`를 `count = 2`로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70.0</a:t>
            </a:r>
          </a:p>
          <a:p xmlns:a="http://schemas.openxmlformats.org/drawingml/2006/main">
            <a:r>
              <a:t>35.0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합계와 개수를 손으로 확인합니다.</a:t>
            </a:r>
          </a:p>
          <a:p xmlns:a="http://schemas.openxmlformats.org/drawingml/2006/main">
            <a:r>
              <a:t>2. 코드 각 계산의 입력과 결과를 표로 적습니다.</a:t>
            </a:r>
          </a:p>
          <a:p xmlns:a="http://schemas.openxmlformats.org/drawingml/2006/main">
            <a:r>
              <a:t>3. count를 2로 바꾼 출력 35.0이 계산은 되지만 의미상 맞는지 판단합니다.</a:t>
            </a:r>
          </a:p>
          <a:p xmlns:a="http://schemas.openxmlformats.org/drawingml/2006/main">
            <a:r>
              <a:t>4. 정상 분모를 복원하고 0으로 나눌 때 오류 단서를 비교합니다.</a:t>
            </a:r>
          </a:p>
          <a:p xmlns:a="http://schemas.openxmlformats.org/drawingml/2006/main">
            <a:r>
              <a:t/>
            </a:r>
          </a:p>
          <a:p xmlns:a="http://schemas.openxmlformats.org/drawingml/2006/main">
            <a:r>
              <a:t>예상 결과: 정상 합계 70.0, 평균 23.33. 잘못된 분모는 실행 성공과 별개로 검수해야 합니다.</a:t>
            </a:r>
          </a:p>
          <a:p xmlns:a="http://schemas.openxmlformats.org/drawingml/2006/main">
            <a:r>
              <a:t/>
            </a:r>
          </a:p>
          <a:p xmlns:a="http://schemas.openxmlformats.org/drawingml/2006/main">
            <a:r>
              <a:t>확인 질문: 코드가 종료 코드 0으로 끝났다면 평균의 업무 의미도 보장되나요?</a:t>
            </a:r>
          </a:p>
          <a:p xmlns:a="http://schemas.openxmlformats.org/drawingml/2006/main">
            <a:r>
              <a:t/>
            </a:r>
          </a:p>
          <a:p xmlns:a="http://schemas.openxmlformats.org/drawingml/2006/main">
            <a:r>
              <a:t>막혔을 때: ZeroDivisionError가 생기면 분모가 왜 0인지 먼저 확인합니다. 임의로 1을 넣어 원인을 숨기지 않습니다.</a:t>
            </a:r>
          </a:p>
          <a:p xmlns:a="http://schemas.openxmlformats.org/drawingml/2006/main">
            <a:r>
              <a:t/>
            </a:r>
          </a:p>
          <a:p xmlns:a="http://schemas.openxmlformats.org/drawingml/2006/main">
            <a:r>
              <a:t>[활동 자료와 작성칸](practice-guide.md#a09--연산과-괄호로-작은-계산-만들기)에서 A09를 엽니다.</a:t>
            </a:r>
          </a:p>
          <a:p xmlns:a="http://schemas.openxmlformats.org/drawingml/2006/main">
            <a:r>
              <a:t/>
            </a:r>
          </a:p>
          <a:p xmlns:a="http://schemas.openxmlformats.org/drawingml/2006/main">
            <a:r>
              <a:t># 4구간 · 기준에 따라 나누기</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필수 개념 설명의 보충입니다.</a:t>
            </a:r>
          </a:p>
          <a:p xmlns:a="http://schemas.openxmlformats.org/drawingml/2006/main">
            <a:r>
              <a:t>택배 접수표에는 상품번호 “0012”, 무게 “2.5”, 포장비 1000이 있습니다. CSV에서 읽은 무게 칸은 숫자처럼 보여도 문자열일 수 있습니다. 문자열은 글자 순서를 보존하고 숫자는 수량을 계산합니다. 따옴표로 감싼 “2.5”와 실수 2.5의 저장 종류가 다르므로 계산 전 의미에 맞는 변환을 해야 합니다. 상품번호는 계산용 수량이 아니므로 앞의 0을 보존한 문자열을 유지합니다. 같은 모양의 숫자라도 변환 여부는 업무 목적에 따라 결정합니다.</a:t>
            </a:r>
          </a:p>
          <a:p xmlns:a="http://schemas.openxmlformats.org/drawingml/2006/main">
            <a:r>
              <a:t/>
            </a:r>
          </a:p>
          <a:p xmlns:a="http://schemas.openxmlformats.org/drawingml/2006/main">
            <a:r>
              <a:t>수업용 요금은 무게 1kg당 2000원에 포장비 1000원을 더하는 것으로 정합니다. 반올림·최소요금 등 실제 운송 규칙은 이번 합성 예에 포함하지 않습니다. “2.5”를 실수 2.5로 읽으면 2.5×2000+1000=6000원입니다. 먼저 곱셈으로 무게 요금을 계산하고 포장비를 더합니다. 문자열 “2”와 “5”를 +로 붙이면 “25”가 되어 무게 7이 아닙니다. 문자열을 이어 붙이는 연결과 수치 덧셈을 같은 기호가 다른 종류에 적용된 사례로 비교합니다.</a:t>
            </a:r>
          </a:p>
          <a:p xmlns:a="http://schemas.openxmlformats.org/drawingml/2006/main">
            <a:r>
              <a:t/>
            </a:r>
          </a:p>
          <a:p xmlns:a="http://schemas.openxmlformats.org/drawingml/2006/main">
            <a:r>
              <a:t>값 추적표는 원문 “2.5”·저장 종류 문자열 → 변환 값 2.5·실수 → 계산값 6000.0·실수 → 업무 표시 6000원 순서입니다. 계산 결과의 .0은 이 예의 저장·표시 방식이지 비용이 소수 원이라는 업무 확정은 아닙니다. 무게 원문이 “미확인”이라면 임의의 0kg로 바꾸지 않고 숫자 변환 전에 확인을 요청합니다. 문자열과 숫자를 +로 바로 섞으면 TypeError가 날 수 있고 “2.5”를 정수로 바로 읽으려 하면 ValueError가 납니다. 종류를 확인한 뒤 실수 변환을 고르고 상품번호까지 함께 바꾸지 않습니다.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보강 단원의 완성 추적 예입니다. 세부 이유와 경계 조건은 아래 원고를 설명합니다.</a:t>
            </a:r>
          </a:p>
          <a:p xmlns:a="http://schemas.openxmlformats.org/drawingml/2006/main">
            <a:r>
              <a:t>택배 접수표에는 상품번호 “0012”, 무게 “2.5”, 포장비 1000이 있습니다. CSV에서 읽은 무게 칸은 숫자처럼 보여도 문자열일 수 있습니다. 문자열은 글자 순서를 보존하고 숫자는 수량을 계산합니다. 따옴표로 감싼 “2.5”와 실수 2.5의 저장 종류가 다르므로 계산 전 의미에 맞는 변환을 해야 합니다. 상품번호는 계산용 수량이 아니므로 앞의 0을 보존한 문자열을 유지합니다. 같은 모양의 숫자라도 변환 여부는 업무 목적에 따라 결정합니다.</a:t>
            </a:r>
          </a:p>
          <a:p xmlns:a="http://schemas.openxmlformats.org/drawingml/2006/main">
            <a:r>
              <a:t/>
            </a:r>
          </a:p>
          <a:p xmlns:a="http://schemas.openxmlformats.org/drawingml/2006/main">
            <a:r>
              <a:t>수업용 요금은 무게 1kg당 2000원에 포장비 1000원을 더하는 것으로 정합니다. 반올림·최소요금 등 실제 운송 규칙은 이번 합성 예에 포함하지 않습니다. “2.5”를 실수 2.5로 읽으면 2.5×2000+1000=6000원입니다. 먼저 곱셈으로 무게 요금을 계산하고 포장비를 더합니다. 문자열 “2”와 “5”를 +로 붙이면 “25”가 되어 무게 7이 아닙니다. 문자열을 이어 붙이는 연결과 수치 덧셈을 같은 기호가 다른 종류에 적용된 사례로 비교합니다.</a:t>
            </a:r>
          </a:p>
          <a:p xmlns:a="http://schemas.openxmlformats.org/drawingml/2006/main">
            <a:r>
              <a:t/>
            </a:r>
          </a:p>
          <a:p xmlns:a="http://schemas.openxmlformats.org/drawingml/2006/main">
            <a:r>
              <a:t>값 추적표는 원문 “2.5”·저장 종류 문자열 → 변환 값 2.5·실수 → 계산값 6000.0·실수 → 업무 표시 6000원 순서입니다. 계산 결과의 .0은 이 예의 저장·표시 방식이지 비용이 소수 원이라는 업무 확정은 아닙니다. 무게 원문이 “미확인”이라면 임의의 0kg로 바꾸지 않고 숫자 변환 전에 확인을 요청합니다. 문자열과 숫자를 +로 바로 섞으면 TypeError가 날 수 있고 “2.5”를 정수로 바로 읽으려 하면 ValueError가 납니다. 종류를 확인한 뒤 실수 변환을 고르고 상품번호까지 함께 바꾸지 않습니다.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복습·도전: 판매표의 주문번호 “0009”, 단가 “1500”, 수량 “3”을 보고 총액과 각 항목의 저장 계획을 쓰세요. 단가는 정수 원, 수량은 개수라는 계약입니다. 배송비 2000원을 포함한 최종액도 계산하세요.</a:t>
            </a:r>
          </a:p>
          <a:p xmlns:a="http://schemas.openxmlformats.org/drawingml/2006/main">
            <a:r>
              <a:t/>
            </a:r>
          </a:p>
          <a:p xmlns:a="http://schemas.openxmlformats.org/drawingml/2006/main">
            <a:r>
              <a:t>학생이 독립적으로 답을 만든 뒤 다음 슬라이드로 넘어갑니다. 필수 수행에 이 문제 전체를 억지로 포함하지 않습니다.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주문번호는 문자열 유지, 단가와 수량은 정수로 해석합니다. 상품 총액 1500×3=4500원, 최종액 6500원입니다. “1500”+“3”의 문자열 연결은 “15003”으로 금액 계산이 아닙니다. 주문번호를 정수 9로 바꾸면 앞 0을 잃습니다.</a:t>
            </a:r>
          </a:p>
          <a:p xmlns:a="http://schemas.openxmlformats.org/drawingml/2006/main">
            <a:r>
              <a:t/>
            </a:r>
          </a:p>
          <a:p xmlns:a="http://schemas.openxmlformats.org/drawingml/2006/main">
            <a:r>
              <a:t>핵심 질문과 해설:</a:t>
            </a:r>
          </a:p>
          <a:p xmlns:a="http://schemas.openxmlformats.org/drawingml/2006/main">
            <a:r>
              <a:t>숫자처럼 보이면 모두 변환하나요? 식별자·등급인지 실제 계산량인지 의미를 먼저 봅니다.</a:t>
            </a:r>
          </a:p>
          <a:p xmlns:a="http://schemas.openxmlformats.org/drawingml/2006/main">
            <a:r>
              <a:t>소수 문자열을 정수로 바로 읽나요? 소수가 있는 표현에는 float 같은 의미에 맞는 변환이 필요합니다.</a:t>
            </a:r>
          </a:p>
          <a:p xmlns:a="http://schemas.openxmlformats.org/drawingml/2006/main">
            <a:r>
              <a:t>정상 종료면 요금도 맞나요? 단위·요금 규칙·입력 해석이 맞는지 별도 확인해야 합니다.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A09 상세 원문]</a:t>
            </a:r>
          </a:p>
          <a:p xmlns:a="http://schemas.openxmlformats.org/drawingml/2006/main">
            <a:r>
              <a:t>**개념.** 연산자는 값으로 계산하는 기호입니다. +, -, *, /를 읽고 괄호로 먼저 계산할 부분을 정합니다. Python에서 /의 결과는 나누어떨어져도 실수 형태가 될 수 있습니다.</a:t>
            </a:r>
          </a:p>
          <a:p xmlns:a="http://schemas.openxmlformats.org/drawingml/2006/main">
            <a:r>
              <a:t/>
            </a:r>
          </a:p>
          <a:p xmlns:a="http://schemas.openxmlformats.org/drawingml/2006/main">
            <a:r>
              <a:t>**왜 필요한가.** 합계와 개수를 따로 확인해야 평균의 분모를 잘못 고르는 일을 막을 수 있습니다. 오늘은 이미 확인된 숫자 세 개만 계산하고, 미측정과 잘못된 값이 있는 파일 처리는 다음 날로 넘깁니다.</a:t>
            </a:r>
          </a:p>
          <a:p xmlns:a="http://schemas.openxmlformats.org/drawingml/2006/main">
            <a:r>
              <a:t/>
            </a:r>
          </a:p>
          <a:p xmlns:a="http://schemas.openxmlformats.org/drawingml/2006/main">
            <a:r>
              <a:t>**함께 보는 예.** 22.5, 24.0, 23.5의 합은 70.0이며 세 값의 평균은 23.333…입니다. round는 표시를 짧게 하는 데 쓰지만 원래 센서가 정확히 두 자리까지 측정했다는 뜻은 아닙니다.</a:t>
            </a:r>
          </a:p>
          <a:p xmlns:a="http://schemas.openxmlformats.org/drawingml/2006/main">
            <a:r>
              <a:t/>
            </a:r>
          </a:p>
          <a:p xmlns:a="http://schemas.openxmlformats.org/drawingml/2006/main">
            <a:r>
              <a:t>**헷갈리는 경우.** 22.5 + 24.0 + 23.5 / 3은 전체 합을 3으로 나누는 식과 다릅니다. 괄호나 합계 이름을 사용해 의도한 계산 순서를 드러냅니다.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total = 22.5 + 24.0 + 23.5</a:t>
            </a:r>
          </a:p>
          <a:p xmlns:a="http://schemas.openxmlformats.org/drawingml/2006/main">
            <a:r>
              <a:t>count = 3</a:t>
            </a:r>
          </a:p>
          <a:p xmlns:a="http://schemas.openxmlformats.org/drawingml/2006/main">
            <a:r>
              <a:t>average = total / count</a:t>
            </a:r>
          </a:p>
          <a:p xmlns:a="http://schemas.openxmlformats.org/drawingml/2006/main">
            <a:r>
              <a:t>print(total)</a:t>
            </a:r>
          </a:p>
          <a:p xmlns:a="http://schemas.openxmlformats.org/drawingml/2006/main">
            <a:r>
              <a:t>print(round(average, 2))</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`total = 22.5 + 24.0 + 23.5` | 확인된 온도 세 값의 합을 계산합니다. |</a:t>
            </a:r>
          </a:p>
          <a:p xmlns:a="http://schemas.openxmlformats.org/drawingml/2006/main">
            <a:r>
              <a:t>| 2 | `count = 3` | 계산에 사용한 값의 개수를 저장합니다. |</a:t>
            </a:r>
          </a:p>
          <a:p xmlns:a="http://schemas.openxmlformats.org/drawingml/2006/main">
            <a:r>
              <a:t>| 3 | `average = total / count` | 합을 개수로 나눕니다. |</a:t>
            </a:r>
          </a:p>
          <a:p xmlns:a="http://schemas.openxmlformats.org/drawingml/2006/main">
            <a:r>
              <a:t>| 4 | `print(total)` | 합계를 출력합니다. |</a:t>
            </a:r>
          </a:p>
          <a:p xmlns:a="http://schemas.openxmlformats.org/drawingml/2006/main">
            <a:r>
              <a:t>| 5 | `print(round(average, 2))` | 평균을 소수 둘째 자리까지 반올림해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code/A09_example.py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work/A09_example.py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70.0</a:t>
            </a:r>
          </a:p>
          <a:p xmlns:a="http://schemas.openxmlformats.org/drawingml/2006/main">
            <a:r>
              <a:t>23.33</a:t>
            </a:r>
          </a:p>
          <a:p xmlns:a="http://schemas.openxmlformats.org/drawingml/2006/main">
            <a:r>
              <a:t>```</a:t>
            </a:r>
          </a:p>
          <a:p xmlns:a="http://schemas.openxmlformats.org/drawingml/2006/main">
            <a:r>
              <a:t/>
            </a:r>
          </a:p>
          <a:p xmlns:a="http://schemas.openxmlformats.org/drawingml/2006/main">
            <a:r>
              <a:t>작은 수정: `count = 3`를 `count = 2`로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70.0</a:t>
            </a:r>
          </a:p>
          <a:p xmlns:a="http://schemas.openxmlformats.org/drawingml/2006/main">
            <a:r>
              <a:t>35.0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합계와 개수를 손으로 확인합니다.</a:t>
            </a:r>
          </a:p>
          <a:p xmlns:a="http://schemas.openxmlformats.org/drawingml/2006/main">
            <a:r>
              <a:t>2. 코드 각 계산의 입력과 결과를 표로 적습니다.</a:t>
            </a:r>
          </a:p>
          <a:p xmlns:a="http://schemas.openxmlformats.org/drawingml/2006/main">
            <a:r>
              <a:t>3. count를 2로 바꾼 출력 35.0이 계산은 되지만 의미상 맞는지 판단합니다.</a:t>
            </a:r>
          </a:p>
          <a:p xmlns:a="http://schemas.openxmlformats.org/drawingml/2006/main">
            <a:r>
              <a:t>4. 정상 분모를 복원하고 0으로 나눌 때 오류 단서를 비교합니다.</a:t>
            </a:r>
          </a:p>
          <a:p xmlns:a="http://schemas.openxmlformats.org/drawingml/2006/main">
            <a:r>
              <a:t/>
            </a:r>
          </a:p>
          <a:p xmlns:a="http://schemas.openxmlformats.org/drawingml/2006/main">
            <a:r>
              <a:t>예상 결과: 정상 합계 70.0, 평균 23.33. 잘못된 분모는 실행 성공과 별개로 검수해야 합니다.</a:t>
            </a:r>
          </a:p>
          <a:p xmlns:a="http://schemas.openxmlformats.org/drawingml/2006/main">
            <a:r>
              <a:t/>
            </a:r>
          </a:p>
          <a:p xmlns:a="http://schemas.openxmlformats.org/drawingml/2006/main">
            <a:r>
              <a:t>확인 질문: 코드가 종료 코드 0으로 끝났다면 평균의 업무 의미도 보장되나요?</a:t>
            </a:r>
          </a:p>
          <a:p xmlns:a="http://schemas.openxmlformats.org/drawingml/2006/main">
            <a:r>
              <a:t/>
            </a:r>
          </a:p>
          <a:p xmlns:a="http://schemas.openxmlformats.org/drawingml/2006/main">
            <a:r>
              <a:t>막혔을 때: ZeroDivisionError가 생기면 분모가 왜 0인지 먼저 확인합니다. 임의로 1을 넣어 원인을 숨기지 않습니다.</a:t>
            </a:r>
          </a:p>
          <a:p xmlns:a="http://schemas.openxmlformats.org/drawingml/2006/main">
            <a:r>
              <a:t/>
            </a:r>
          </a:p>
          <a:p xmlns:a="http://schemas.openxmlformats.org/drawingml/2006/main">
            <a:r>
              <a:t>[활동 자료와 작성칸](practice-guide.md#a09--연산과-괄호로-작은-계산-만들기)에서 A09를 엽니다.</a:t>
            </a:r>
          </a:p>
          <a:p xmlns:a="http://schemas.openxmlformats.org/drawingml/2006/main">
            <a:r>
              <a:t/>
            </a:r>
          </a:p>
          <a:p xmlns:a="http://schemas.openxmlformats.org/drawingml/2006/main">
            <a:r>
              <a:t># 4구간 · 기준에 따라 나누기</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문장:</a:t>
            </a:r>
          </a:p>
          <a:p xmlns:a="http://schemas.openxmlformats.org/drawingml/2006/main">
            <a:r>
              <a:t>숫자 모양 식별자를 계산량으로 바꾸지 않습니다.</a:t>
            </a:r>
          </a:p>
          <a:p xmlns:a="http://schemas.openxmlformats.org/drawingml/2006/main">
            <a:r>
              <a:t>실행 성공과 업무 계산의 정확성은 다릅니다.</a:t>
            </a:r>
          </a:p>
          <a:p xmlns:a="http://schemas.openxmlformats.org/drawingml/2006/main">
            <a:r>
              <a:t/>
            </a:r>
          </a:p>
          <a:p xmlns:a="http://schemas.openxmlformats.org/drawingml/2006/main">
            <a:r>
              <a:t>관련 교시의 상세 원문:</a:t>
            </a:r>
          </a:p>
          <a:p xmlns:a="http://schemas.openxmlformats.org/drawingml/2006/main">
            <a:r>
              <a:t>### 사례로 이해하기 · 운송비 계산에서 문자열과 숫자 나누기</a:t>
            </a:r>
          </a:p>
          <a:p xmlns:a="http://schemas.openxmlformats.org/drawingml/2006/main">
            <a:r>
              <a:t/>
            </a:r>
          </a:p>
          <a:p xmlns:a="http://schemas.openxmlformats.org/drawingml/2006/main">
            <a:r>
              <a:t>필수 설명 보충입니다. 강사 시연 → 함께 추적 → 예상과 실제 비교 → 자기 말로 설명 순서로 읽습니다. 아래 독립 문제는 복습·도전이며 기존 50분 필수 경로와 별도로 활용합니다.</a:t>
            </a:r>
          </a:p>
          <a:p xmlns:a="http://schemas.openxmlformats.org/drawingml/2006/main">
            <a:r>
              <a:t/>
            </a:r>
          </a:p>
          <a:p xmlns:a="http://schemas.openxmlformats.org/drawingml/2006/main">
            <a:r>
              <a:t>택배 접수표에는 상품번호 “0012”, 무게 “2.5”, 포장비 1000이 있습니다. CSV에서 읽은 무게 칸은 숫자처럼 보여도 문자열일 수 있습니다. 문자열은 글자 순서를 보존하고 숫자는 수량을 계산합니다. 따옴표로 감싼 “2.5”와 실수 2.5의 저장 종류가 다르므로 계산 전 의미에 맞는 변환을 해야 합니다. 상품번호는 계산용 수량이 아니므로 앞의 0을 보존한 문자열을 유지합니다. 같은 모양의 숫자라도 변환 여부는 업무 목적에 따라 결정합니다.</a:t>
            </a:r>
          </a:p>
          <a:p xmlns:a="http://schemas.openxmlformats.org/drawingml/2006/main">
            <a:r>
              <a:t/>
            </a:r>
          </a:p>
          <a:p xmlns:a="http://schemas.openxmlformats.org/drawingml/2006/main">
            <a:r>
              <a:t>수업용 요금은 무게 1kg당 2000원에 포장비 1000원을 더하는 것으로 정합니다. 반올림·최소요금 등 실제 운송 규칙은 이번 합성 예에 포함하지 않습니다. “2.5”를 실수 2.5로 읽으면 2.5×2000+1000=6000원입니다. 먼저 곱셈으로 무게 요금을 계산하고 포장비를 더합니다. 문자열 “2”와 “5”를 +로 붙이면 “25”가 되어 무게 7이 아닙니다. 문자열을 이어 붙이는 연결과 수치 덧셈을 같은 기호가 다른 종류에 적용된 사례로 비교합니다.</a:t>
            </a:r>
          </a:p>
          <a:p xmlns:a="http://schemas.openxmlformats.org/drawingml/2006/main">
            <a:r>
              <a:t/>
            </a:r>
          </a:p>
          <a:p xmlns:a="http://schemas.openxmlformats.org/drawingml/2006/main">
            <a:r>
              <a:t>값 추적표는 원문 “2.5”·저장 종류 문자열 → 변환 값 2.5·실수 → 계산값 6000.0·실수 → 업무 표시 6000원 순서입니다. 계산 결과의 .0은 이 예의 저장·표시 방식이지 비용이 소수 원이라는 업무 확정은 아닙니다. 무게 원문이 “미확인”이라면 임의의 0kg로 바꾸지 않고 숫자 변환 전에 확인을 요청합니다. 문자열과 숫자를 +로 바로 섞으면 TypeError가 날 수 있고 “2.5”를 정수로 바로 읽으려 하면 ValueError가 납니다. 종류를 확인한 뒤 실수 변환을 고르고 상품번호까지 함께 바꾸지 않습니다.</a:t>
            </a:r>
          </a:p>
          <a:p xmlns:a="http://schemas.openxmlformats.org/drawingml/2006/main">
            <a:r>
              <a:t/>
            </a:r>
          </a:p>
          <a:p xmlns:a="http://schemas.openxmlformats.org/drawingml/2006/main">
            <a:r>
              <a:t>### 새 상황에 독립적으로 적용하기</a:t>
            </a:r>
          </a:p>
          <a:p xmlns:a="http://schemas.openxmlformats.org/drawingml/2006/main">
            <a:r>
              <a:t/>
            </a:r>
          </a:p>
          <a:p xmlns:a="http://schemas.openxmlformats.org/drawingml/2006/main">
            <a:r>
              <a:t>복습·도전: 판매표의 주문번호 “0009”, 단가 “1500”, 수량 “3”을 보고 총액과 각 항목의 저장 계획을 쓰세요. 단가는 정수 원, 수량은 개수라는 계약입니다. 배송비 2000원을 포함한 최종액도 계산하세요.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주문번호는 문자열 유지, 단가와 수량은 정수로 해석합니다. 상품 총액 1500×3=4500원, 최종액 6500원입니다. “1500”+“3”의 문자열 연결은 “15003”으로 금액 계산이 아닙니다. 주문번호를 정수 9로 바꾸면 앞 0을 잃습니다.</a:t>
            </a:r>
          </a:p>
          <a:p xmlns:a="http://schemas.openxmlformats.org/drawingml/2006/main">
            <a:r>
              <a:t/>
            </a:r>
          </a:p>
          <a:p xmlns:a="http://schemas.openxmlformats.org/drawingml/2006/main">
            <a:r>
              <a:t>### 핵심 세 질문과 해설</a:t>
            </a:r>
          </a:p>
          <a:p xmlns:a="http://schemas.openxmlformats.org/drawingml/2006/main">
            <a:r>
              <a:t/>
            </a:r>
          </a:p>
          <a:p xmlns:a="http://schemas.openxmlformats.org/drawingml/2006/main">
            <a:r>
              <a:t>1. **숫자처럼 보이면 모두 변환하나요?** 식별자·등급인지 실제 계산량인지 의미를 먼저 봅니다.</a:t>
            </a:r>
          </a:p>
          <a:p xmlns:a="http://schemas.openxmlformats.org/drawingml/2006/main">
            <a:r>
              <a:t/>
            </a:r>
          </a:p>
          <a:p xmlns:a="http://schemas.openxmlformats.org/drawingml/2006/main">
            <a:r>
              <a:t>2. **소수 문자열을 정수로 바로 읽나요?** 소수가 있는 표현에는 float 같은 의미에 맞는 변환이 필요합니다.</a:t>
            </a:r>
          </a:p>
          <a:p xmlns:a="http://schemas.openxmlformats.org/drawingml/2006/main">
            <a:r>
              <a:t/>
            </a:r>
          </a:p>
          <a:p xmlns:a="http://schemas.openxmlformats.org/drawingml/2006/main">
            <a:r>
              <a:t>3. **정상 종료면 요금도 맞나요?** 단위·요금 규칙·입력 해석이 맞는지 별도 확인해야 합니다.</a:t>
            </a:r>
          </a:p>
          <a:p xmlns:a="http://schemas.openxmlformats.org/drawingml/2006/main">
            <a:r>
              <a:t/>
            </a:r>
          </a:p>
          <a:p xmlns:a="http://schemas.openxmlformats.org/drawingml/2006/main">
            <a:r>
              <a:t/>
            </a:r>
          </a:p>
          <a:p xmlns:a="http://schemas.openxmlformats.org/drawingml/2006/main">
            <a:r>
              <a:t>**개념.** 숫자의 +는 수치 덧셈을 하고 문자열의 +는 글자를 이어 붙입니다. 같은 모양의 3이라도 따옴표 유무에 따라 저장 자료형이 달라지며 연산의 결과도 달라집니다.</a:t>
            </a:r>
          </a:p>
          <a:p xmlns:a="http://schemas.openxmlformats.org/drawingml/2006/main">
            <a:r>
              <a:t/>
            </a:r>
          </a:p>
          <a:p xmlns:a="http://schemas.openxmlformats.org/drawingml/2006/main">
            <a:r>
              <a:t>**왜 필요한가.** CSV의 셀을 기본 방식으로 읽으면 문자열이 된다는 10/8의 내용을 떠올립니다. 수량을 계산하려고 글자를 그대로 이어 붙이면 합계처럼 보이는 잘못된 결과가 생길 수 있습니다.</a:t>
            </a:r>
          </a:p>
          <a:p xmlns:a="http://schemas.openxmlformats.org/drawingml/2006/main">
            <a:r>
              <a:t/>
            </a:r>
          </a:p>
          <a:p xmlns:a="http://schemas.openxmlformats.org/drawingml/2006/main">
            <a:r>
              <a:t>**함께 보는 예.** 3 + 2는 5이고 "3" + "2"는 글자 32입니다. 10/8의 사번 001처럼 앞의 0을 유지해야 하는 이름표는 문자열이 적절할 수 있으므로 모든 숫자 모양을 변환하지 않습니다.</a:t>
            </a:r>
          </a:p>
          <a:p xmlns:a="http://schemas.openxmlformats.org/drawingml/2006/main">
            <a:r>
              <a:t/>
            </a:r>
          </a:p>
          <a:p xmlns:a="http://schemas.openxmlformats.org/drawingml/2006/main">
            <a:r>
              <a:t>**헷갈리는 경우.** 문자열을 무조건 숫자로 바꾸는 것도 정답이 아닙니다. 사번을 숫자로 바꾸면 식별 표현을 잃을 수 있습니다. 먼저 의미상 수량인지, 이름표인지 판단합니다.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count = 3</a:t>
            </a:r>
          </a:p>
          <a:p xmlns:a="http://schemas.openxmlformats.org/drawingml/2006/main">
            <a:r>
              <a:t>text_count = "3"</a:t>
            </a:r>
          </a:p>
          <a:p xmlns:a="http://schemas.openxmlformats.org/drawingml/2006/main">
            <a:r>
              <a:t>print(count + 2)</a:t>
            </a:r>
          </a:p>
          <a:p xmlns:a="http://schemas.openxmlformats.org/drawingml/2006/main">
            <a:r>
              <a:t>print(text_count + "2")</a:t>
            </a:r>
          </a:p>
          <a:p xmlns:a="http://schemas.openxmlformats.org/drawingml/2006/main">
            <a:r>
              <a:t>print(type(count).__name__, type(text_count).__name__)</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`count = 3` | 숫자 3을 저장합니다. |</a:t>
            </a:r>
          </a:p>
          <a:p xmlns:a="http://schemas.openxmlformats.org/drawingml/2006/main">
            <a:r>
              <a:t>| 2 | `text_count = "3"` | 글자 3을 저장합니다. |</a:t>
            </a:r>
          </a:p>
          <a:p xmlns:a="http://schemas.openxmlformats.org/drawingml/2006/main">
            <a:r>
              <a:t>| 3 | `print(count + 2)` | 숫자끼리 덧셈합니다. |</a:t>
            </a:r>
          </a:p>
          <a:p xmlns:a="http://schemas.openxmlformats.org/drawingml/2006/main">
            <a:r>
              <a:t>| 4 | `print(text_count + "2")` | 문자열끼리 이어 붙입니다. |</a:t>
            </a:r>
          </a:p>
          <a:p xmlns:a="http://schemas.openxmlformats.org/drawingml/2006/main">
            <a:r>
              <a:t>| 5 | `print(type(count).__name__, type(text_count).__name__)` | 두 값의 자료형 이름을 확인합니다.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code/A07_example.py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work/A07_example.py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5</a:t>
            </a:r>
          </a:p>
          <a:p xmlns:a="http://schemas.openxmlformats.org/drawingml/2006/main">
            <a:r>
              <a:t>32</a:t>
            </a:r>
          </a:p>
          <a:p xmlns:a="http://schemas.openxmlformats.org/drawingml/2006/main">
            <a:r>
              <a:t>int str</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세 출력 줄을 예상하고 각각 계산인지 글자 연결인지 적습니다.</a:t>
            </a:r>
          </a:p>
          <a:p xmlns:a="http://schemas.openxmlformats.org/drawingml/2006/main">
            <a:r>
              <a:t>2. 숫자와 문자열의 +를 같은 기준으로 읽지 않았는지 비교합니다.</a:t>
            </a:r>
          </a:p>
          <a:p xmlns:a="http://schemas.openxmlformats.org/drawingml/2006/main">
            <a:r>
              <a:t>3. 고의 오류 text_count + 2에서 서로 다른 자료형을 표시합니다.</a:t>
            </a:r>
          </a:p>
          <a:p xmlns:a="http://schemas.openxmlformats.org/drawingml/2006/main">
            <a:r>
              <a:t>4. 수량과 사번 중 무엇을 숫자로 바꿀지 이유를 씁니다.</a:t>
            </a:r>
          </a:p>
          <a:p xmlns:a="http://schemas.openxmlformats.org/drawingml/2006/main">
            <a:r>
              <a:t/>
            </a:r>
          </a:p>
          <a:p xmlns:a="http://schemas.openxmlformats.org/drawingml/2006/main">
            <a:r>
              <a:t>예상 결과: 5와 문자열 32, int와 str을 구별합니다. 혼합 +는 TypeError가 기대 결과입니다.</a:t>
            </a:r>
          </a:p>
          <a:p xmlns:a="http://schemas.openxmlformats.org/drawingml/2006/main">
            <a:r>
              <a:t/>
            </a:r>
          </a:p>
          <a:p xmlns:a="http://schemas.openxmlformats.org/drawingml/2006/main">
            <a:r>
              <a:t>확인 질문: "001"에 1을 더해 다음 직원을 정하는 것이 항상 적절할까요?</a:t>
            </a:r>
          </a:p>
          <a:p xmlns:a="http://schemas.openxmlformats.org/drawingml/2006/main">
            <a:r>
              <a:t/>
            </a:r>
          </a:p>
          <a:p xmlns:a="http://schemas.openxmlformats.org/drawingml/2006/main">
            <a:r>
              <a:t>막혔을 때: 화면에서 따옴표 없이 32가 보이면 type 출력도 함께 확인합니다. 표시 모양만으로 자료형을 판단하지 않습니다.</a:t>
            </a:r>
          </a:p>
          <a:p xmlns:a="http://schemas.openxmlformats.org/drawingml/2006/main">
            <a:r>
              <a:t/>
            </a:r>
          </a:p>
          <a:p xmlns:a="http://schemas.openxmlformats.org/drawingml/2006/main">
            <a:r>
              <a:t>[활동 자료와 작성칸](practice-guide.md#a07--숫자-더하기와-문자열-연결)에서 A07를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50분은 운영 배정이며 실제 학습자 수행시간을 측정한 결과가 아닙니다. 시연 → 함께 수행 → 개별 적용 → 예상과 실제 비교 → 자기 말로 설명 순서로 운영합니다.</a:t>
            </a:r>
          </a:p>
          <a:p xmlns:a="http://schemas.openxmlformats.org/drawingml/2006/main">
            <a:r>
              <a:t/>
            </a:r>
          </a:p>
          <a:p xmlns:a="http://schemas.openxmlformats.org/drawingml/2006/main">
            <a:r>
              <a:t>[활동 A10 상세 원문]</a:t>
            </a:r>
          </a:p>
          <a:p xmlns:a="http://schemas.openxmlformats.org/drawingml/2006/main">
            <a:r>
              <a:t>### 사례로 이해하기 · 이상과 초과를 업무 문장으로 읽기</a:t>
            </a:r>
          </a:p>
          <a:p xmlns:a="http://schemas.openxmlformats.org/drawingml/2006/main">
            <a:r>
              <a:t/>
            </a:r>
          </a:p>
          <a:p xmlns:a="http://schemas.openxmlformats.org/drawingml/2006/main">
            <a:r>
              <a:t>필수 설명 보충입니다. 강사 시연 → 함께 추적 → 예상과 실제 비교 → 자기 말로 설명 순서로 읽습니다. 아래 독립 문제는 복습·도전이며 기존 50분 필수 경로와 별도로 활용합니다.</a:t>
            </a:r>
          </a:p>
          <a:p xmlns:a="http://schemas.openxmlformats.org/drawingml/2006/main">
            <a:r>
              <a:t/>
            </a:r>
          </a:p>
          <a:p xmlns:a="http://schemas.openxmlformats.org/drawingml/2006/main">
            <a:r>
              <a:t>현장 교육의 수업용 점검 규칙은 ‘인원이 10명 이상이면 큰 실습실을 배정한다’입니다. 이상은 경계값 10을 포함합니다. ‘10명 초과’라고 쓰면 11명부터 포함합니다. 말 한 글자의 차이가 비교 기호와 경계 결과를 바꿉니다. 코드를 먼저 외우지 말고 인원 수를 적은 수직선에서 10에 동그라미를 그리고 포함 여부를 표시합니다. 이 규칙은 강의용 공간 배정 예시이며 실제 기관의 정원 기준이 아닙니다.</a:t>
            </a:r>
          </a:p>
          <a:p xmlns:a="http://schemas.openxmlformats.org/drawingml/2006/main">
            <a:r>
              <a:t/>
            </a:r>
          </a:p>
          <a:p xmlns:a="http://schemas.openxmlformats.org/drawingml/2006/main">
            <a:r>
              <a:t>비교는 질문을 참 또는 거짓으로 답한 값입니다. 9&gt;=10은 False, 10&gt;=10은 True, 11&gt;=10은 True입니다. &gt;는 초과, &gt;=는 이상, &lt;는 미만, &lt;=는 이하를 나타냅니다. ==는 같은지 묻고 =는 값에 이름을 붙입니다. 참이라는 결과가 안전하다는 뜻은 아닙니다. 무엇을 비교했는지에 따라 ‘큰 실습실 대상이다’처럼 구체적인 의미를 붙입니다. 참/거짓과 정상/위험은 업무 규칙을 연결해야 설명할 수 있습니다.</a:t>
            </a:r>
          </a:p>
          <a:p xmlns:a="http://schemas.openxmlformats.org/drawingml/2006/main">
            <a:r>
              <a:t/>
            </a:r>
          </a:p>
          <a:p xmlns:a="http://schemas.openxmlformats.org/drawingml/2006/main">
            <a:r>
              <a:t>그다음 두 갈래 선택을 손으로 추적합니다. 인원 10은 조건이 참이므로 큰 실습실 안내를 선택하고 작은 실습실 안내는 선택하지 않습니다. 인원 9는 조건이 거짓이므로 다른 안내를 선택합니다. 값이 미확인이면 숫자와 비교하기 전에 미확인 갈래로 처리해야 합니다. None을 0으로 바꾸어 작은 방을 정하면 실제 인원 확인이 사라집니다. 최소 검수 표에는 경계 아래 9, 경계 10, 경계 위 11, 미확인 네 사례를 넣습니다. 5와 20만 확인하면 &gt;와 &gt;=를 잘못 골라도 둘 다 통과할 수 있습니다. 예상값은 코드보다 먼저 업무 문장으로 정합니다.</a:t>
            </a:r>
          </a:p>
          <a:p xmlns:a="http://schemas.openxmlformats.org/drawingml/2006/main">
            <a:r>
              <a:t/>
            </a:r>
          </a:p>
          <a:p xmlns:a="http://schemas.openxmlformats.org/drawingml/2006/main">
            <a:r>
              <a:t>### 새 상황에 독립적으로 적용하기</a:t>
            </a:r>
          </a:p>
          <a:p xmlns:a="http://schemas.openxmlformats.org/drawingml/2006/main">
            <a:r>
              <a:t/>
            </a:r>
          </a:p>
          <a:p xmlns:a="http://schemas.openxmlformats.org/drawingml/2006/main">
            <a:r>
              <a:t>복습·도전: 대여 정책은 ‘잔여 수량이 5개 이하이면 보충 요청’입니다. 4, 5, 6, 미확인 네 입력의 결과와 비교 기호를 정하세요. 미확인은 보충 확정 대신 확인 요청으로 처리합니다.</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기호는 &lt;=이며 4와 5는 보충 요청, 6은 요청 없음, 미확인은 확인 요청입니다. &lt;를 고르면 경계 5를 놓칩니다. 미확인을 0으로 채우면 수량을 실제 관찰한 것처럼 처리하는 오답입니다.</a:t>
            </a:r>
          </a:p>
          <a:p xmlns:a="http://schemas.openxmlformats.org/drawingml/2006/main">
            <a:r>
              <a:t/>
            </a:r>
          </a:p>
          <a:p xmlns:a="http://schemas.openxmlformats.org/drawingml/2006/main">
            <a:r>
              <a:t>### 핵심 세 질문과 해설</a:t>
            </a:r>
          </a:p>
          <a:p xmlns:a="http://schemas.openxmlformats.org/drawingml/2006/main">
            <a:r>
              <a:t/>
            </a:r>
          </a:p>
          <a:p xmlns:a="http://schemas.openxmlformats.org/drawingml/2006/main">
            <a:r>
              <a:t>1. **이상과 초과의 차이를 어느 입력으로 보나요?** 경계값 자체를 넣어 포함 여부를 확인합니다.</a:t>
            </a:r>
          </a:p>
          <a:p xmlns:a="http://schemas.openxmlformats.org/drawingml/2006/main">
            <a:r>
              <a:t/>
            </a:r>
          </a:p>
          <a:p xmlns:a="http://schemas.openxmlformats.org/drawingml/2006/main">
            <a:r>
              <a:t>2. **True는 늘 정상인가요?** 질문의 의미에 따라 보충·배정·초과 등 다른 업무 뜻이 됩니다.</a:t>
            </a:r>
          </a:p>
          <a:p xmlns:a="http://schemas.openxmlformats.org/drawingml/2006/main">
            <a:r>
              <a:t/>
            </a:r>
          </a:p>
          <a:p xmlns:a="http://schemas.openxmlformats.org/drawingml/2006/main">
            <a:r>
              <a:t>3. **기대 결과를 실행 뒤 정해도 되나요?** 먼저 업무 문장으로 예상해야 잘못된 결과를 그대로 정답으로 삼지 않습니다.</a:t>
            </a:r>
          </a:p>
          <a:p xmlns:a="http://schemas.openxmlformats.org/drawingml/2006/main">
            <a:r>
              <a:t/>
            </a:r>
          </a:p>
          <a:p xmlns:a="http://schemas.openxmlformats.org/drawingml/2006/main">
            <a:r>
              <a:t/>
            </a:r>
          </a:p>
          <a:p xmlns:a="http://schemas.openxmlformats.org/drawingml/2006/main">
            <a:r>
              <a:t>**개념.** 비교 연산은 두 값의 관계를 물어 True 또는 False를 만듭니다. &gt;는 초과, &gt;=는 이상, ==는 같은지 확인합니다. =는 대입이므로 역할이 다릅니다.</a:t>
            </a:r>
          </a:p>
          <a:p xmlns:a="http://schemas.openxmlformats.org/drawingml/2006/main">
            <a:r>
              <a:t/>
            </a:r>
          </a:p>
          <a:p xmlns:a="http://schemas.openxmlformats.org/drawingml/2006/main">
            <a:r>
              <a:t>**왜 필요한가.** 정책 문구를 코드로 옮길 때 ‘이상’과 ‘초과’를 혼동하면 경계값에서 다른 결과가 나옵니다. 기준과 정확히 같은 입력을 확인해야 차이가 보입니다.</a:t>
            </a:r>
          </a:p>
          <a:p xmlns:a="http://schemas.openxmlformats.org/drawingml/2006/main">
            <a:r>
              <a:t/>
            </a:r>
          </a:p>
          <a:p xmlns:a="http://schemas.openxmlformats.org/drawingml/2006/main">
            <a:r>
              <a:t>**함께 보는 예.** 온도 24.0과 기준 24.0에서 &gt;는 False, &gt;=는 True입니다. 참·거짓은 비교 질문의 답이며 온도 자체가 참이나 거짓이라는 의미가 아닙니다.</a:t>
            </a:r>
          </a:p>
          <a:p xmlns:a="http://schemas.openxmlformats.org/drawingml/2006/main">
            <a:r>
              <a:t/>
            </a:r>
          </a:p>
          <a:p xmlns:a="http://schemas.openxmlformats.org/drawingml/2006/main">
            <a:r>
              <a:t>**헷갈리는 경우.** ‘확인 필요’라는 출력은 이 연습의 입력 점검 규칙입니다. 실제 안전 판단이나 센서 성능을 보증하는 말로 사용하지 않습니다.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temperature_c = 24.0</a:t>
            </a:r>
          </a:p>
          <a:p xmlns:a="http://schemas.openxmlformats.org/drawingml/2006/main">
            <a:r>
              <a:t>limit = 24.0</a:t>
            </a:r>
          </a:p>
          <a:p xmlns:a="http://schemas.openxmlformats.org/drawingml/2006/main">
            <a:r>
              <a:t>print(temperature_c &gt; limit)</a:t>
            </a:r>
          </a:p>
          <a:p xmlns:a="http://schemas.openxmlformats.org/drawingml/2006/main">
            <a:r>
              <a:t>print(temperature_c &gt;= limit)</a:t>
            </a:r>
          </a:p>
          <a:p xmlns:a="http://schemas.openxmlformats.org/drawingml/2006/main">
            <a:r>
              <a:t>print(temperature_c == limit)</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`temperature_c = 24.0` | 비교할 측정값을 정합니다. |</a:t>
            </a:r>
          </a:p>
          <a:p xmlns:a="http://schemas.openxmlformats.org/drawingml/2006/main">
            <a:r>
              <a:t>| 2 | `limit = 24.0` | 수업용 기준을 정합니다. |</a:t>
            </a:r>
          </a:p>
          <a:p xmlns:a="http://schemas.openxmlformats.org/drawingml/2006/main">
            <a:r>
              <a:t>| 3 | `print(temperature_c &gt; limit)` | 기준을 초과했는지 묻습니다. |</a:t>
            </a:r>
          </a:p>
          <a:p xmlns:a="http://schemas.openxmlformats.org/drawingml/2006/main">
            <a:r>
              <a:t>| 4 | `print(temperature_c &gt;= limit)` | 기준 이상인지 묻습니다. |</a:t>
            </a:r>
          </a:p>
          <a:p xmlns:a="http://schemas.openxmlformats.org/drawingml/2006/main">
            <a:r>
              <a:t>| 5 | `print(temperature_c == limit)` | 기준과 같은지 묻습니다.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code/A10_example.py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work/A10_example.py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False</a:t>
            </a:r>
          </a:p>
          <a:p xmlns:a="http://schemas.openxmlformats.org/drawingml/2006/main">
            <a:r>
              <a:t>True</a:t>
            </a:r>
          </a:p>
          <a:p xmlns:a="http://schemas.openxmlformats.org/drawingml/2006/main">
            <a:r>
              <a:t>True</a:t>
            </a:r>
          </a:p>
          <a:p xmlns:a="http://schemas.openxmlformats.org/drawingml/2006/main">
            <a:r>
              <a:t>```</a:t>
            </a:r>
          </a:p>
          <a:p xmlns:a="http://schemas.openxmlformats.org/drawingml/2006/main">
            <a:r>
              <a:t/>
            </a:r>
          </a:p>
          <a:p xmlns:a="http://schemas.openxmlformats.org/drawingml/2006/main">
            <a:r>
              <a:t>작은 수정: `temperature_c = 24.0`를 `temperature_c = 23.9`로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False</a:t>
            </a:r>
          </a:p>
          <a:p xmlns:a="http://schemas.openxmlformats.org/drawingml/2006/main">
            <a:r>
              <a:t>False</a:t>
            </a:r>
          </a:p>
          <a:p xmlns:a="http://schemas.openxmlformats.org/drawingml/2006/main">
            <a:r>
              <a:t>False</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초과·이상·같음의 문장을 기호와 연결합니다.</a:t>
            </a:r>
          </a:p>
          <a:p xmlns:a="http://schemas.openxmlformats.org/drawingml/2006/main">
            <a:r>
              <a:t>2. 기준 아래·같음·위 세 입력에서 True/False를 예상합니다.</a:t>
            </a:r>
          </a:p>
          <a:p xmlns:a="http://schemas.openxmlformats.org/drawingml/2006/main">
            <a:r>
              <a:t>3. 한 번에 온도 한 곳만 바꿔 비교 출력 세 줄을 확인합니다.</a:t>
            </a:r>
          </a:p>
          <a:p xmlns:a="http://schemas.openxmlformats.org/drawingml/2006/main">
            <a:r>
              <a:t>4. 업무 규칙 ‘24.0 이상’에 맞는 기호를 고르고 이유를 씁니다.</a:t>
            </a:r>
          </a:p>
          <a:p xmlns:a="http://schemas.openxmlformats.org/drawingml/2006/main">
            <a:r>
              <a:t/>
            </a:r>
          </a:p>
          <a:p xmlns:a="http://schemas.openxmlformats.org/drawingml/2006/main">
            <a:r>
              <a:t>예상 결과: 같은 값에서 &gt;와 &gt;=의 차이를 설명합니다.</a:t>
            </a:r>
          </a:p>
          <a:p xmlns:a="http://schemas.openxmlformats.org/drawingml/2006/main">
            <a:r>
              <a:t/>
            </a:r>
          </a:p>
          <a:p xmlns:a="http://schemas.openxmlformats.org/drawingml/2006/main">
            <a:r>
              <a:t>확인 질문: 변수에 값을 넣는 =와 비교하는 ==를 같은 기호처럼 쓰면 될까요?</a:t>
            </a:r>
          </a:p>
          <a:p xmlns:a="http://schemas.openxmlformats.org/drawingml/2006/main">
            <a:r>
              <a:t/>
            </a:r>
          </a:p>
          <a:p xmlns:a="http://schemas.openxmlformats.org/drawingml/2006/main">
            <a:r>
              <a:t>막혔을 때: True/False를 외우기보다 ‘왼쪽 값이 오른쪽 기준보다 큰가?’라는 질문을 실제 숫자로 다시 읽습니다.</a:t>
            </a:r>
          </a:p>
          <a:p xmlns:a="http://schemas.openxmlformats.org/drawingml/2006/main">
            <a:r>
              <a:t/>
            </a:r>
          </a:p>
          <a:p xmlns:a="http://schemas.openxmlformats.org/drawingml/2006/main">
            <a:r>
              <a:t>[활동 자료와 작성칸](practice-guide.md#a10--비교-결과는-참-또는-거짓)에서 A10를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제공된 완성 파일의 전체 코드입니다. 압축을 푼 course 폴더의 터미널에서 실행합니다.</a:t>
            </a:r>
          </a:p>
          <a:p xmlns:a="http://schemas.openxmlformats.org/drawingml/2006/main">
            <a:r>
              <a:t>명령: python -X utf8 code/A10_example.py</a:t>
            </a:r>
          </a:p>
          <a:p xmlns:a="http://schemas.openxmlformats.org/drawingml/2006/main">
            <a:r>
              <a:t>작업본은 code 대신 work 경로를 지정합니다. 개인 실행이 막히면 같은 입력으로 수동 추적 후 강사 결과와 비교합니다.</a:t>
            </a:r>
          </a:p>
          <a:p xmlns:a="http://schemas.openxmlformats.org/drawingml/2006/main">
            <a:r>
              <a:t/>
            </a:r>
          </a:p>
          <a:p xmlns:a="http://schemas.openxmlformats.org/drawingml/2006/main">
            <a:r>
              <a:t>[활동 A10 상세 원문]</a:t>
            </a:r>
          </a:p>
          <a:p xmlns:a="http://schemas.openxmlformats.org/drawingml/2006/main">
            <a:r>
              <a:t>### 사례로 이해하기 · 이상과 초과를 업무 문장으로 읽기</a:t>
            </a:r>
          </a:p>
          <a:p xmlns:a="http://schemas.openxmlformats.org/drawingml/2006/main">
            <a:r>
              <a:t/>
            </a:r>
          </a:p>
          <a:p xmlns:a="http://schemas.openxmlformats.org/drawingml/2006/main">
            <a:r>
              <a:t>필수 설명 보충입니다. 강사 시연 → 함께 추적 → 예상과 실제 비교 → 자기 말로 설명 순서로 읽습니다. 아래 독립 문제는 복습·도전이며 기존 50분 필수 경로와 별도로 활용합니다.</a:t>
            </a:r>
          </a:p>
          <a:p xmlns:a="http://schemas.openxmlformats.org/drawingml/2006/main">
            <a:r>
              <a:t/>
            </a:r>
          </a:p>
          <a:p xmlns:a="http://schemas.openxmlformats.org/drawingml/2006/main">
            <a:r>
              <a:t>현장 교육의 수업용 점검 규칙은 ‘인원이 10명 이상이면 큰 실습실을 배정한다’입니다. 이상은 경계값 10을 포함합니다. ‘10명 초과’라고 쓰면 11명부터 포함합니다. 말 한 글자의 차이가 비교 기호와 경계 결과를 바꿉니다. 코드를 먼저 외우지 말고 인원 수를 적은 수직선에서 10에 동그라미를 그리고 포함 여부를 표시합니다. 이 규칙은 강의용 공간 배정 예시이며 실제 기관의 정원 기준이 아닙니다.</a:t>
            </a:r>
          </a:p>
          <a:p xmlns:a="http://schemas.openxmlformats.org/drawingml/2006/main">
            <a:r>
              <a:t/>
            </a:r>
          </a:p>
          <a:p xmlns:a="http://schemas.openxmlformats.org/drawingml/2006/main">
            <a:r>
              <a:t>비교는 질문을 참 또는 거짓으로 답한 값입니다. 9&gt;=10은 False, 10&gt;=10은 True, 11&gt;=10은 True입니다. &gt;는 초과, &gt;=는 이상, &lt;는 미만, &lt;=는 이하를 나타냅니다. ==는 같은지 묻고 =는 값에 이름을 붙입니다. 참이라는 결과가 안전하다는 뜻은 아닙니다. 무엇을 비교했는지에 따라 ‘큰 실습실 대상이다’처럼 구체적인 의미를 붙입니다. 참/거짓과 정상/위험은 업무 규칙을 연결해야 설명할 수 있습니다.</a:t>
            </a:r>
          </a:p>
          <a:p xmlns:a="http://schemas.openxmlformats.org/drawingml/2006/main">
            <a:r>
              <a:t/>
            </a:r>
          </a:p>
          <a:p xmlns:a="http://schemas.openxmlformats.org/drawingml/2006/main">
            <a:r>
              <a:t>그다음 두 갈래 선택을 손으로 추적합니다. 인원 10은 조건이 참이므로 큰 실습실 안내를 선택하고 작은 실습실 안내는 선택하지 않습니다. 인원 9는 조건이 거짓이므로 다른 안내를 선택합니다. 값이 미확인이면 숫자와 비교하기 전에 미확인 갈래로 처리해야 합니다. None을 0으로 바꾸어 작은 방을 정하면 실제 인원 확인이 사라집니다. 최소 검수 표에는 경계 아래 9, 경계 10, 경계 위 11, 미확인 네 사례를 넣습니다. 5와 20만 확인하면 &gt;와 &gt;=를 잘못 골라도 둘 다 통과할 수 있습니다. 예상값은 코드보다 먼저 업무 문장으로 정합니다.</a:t>
            </a:r>
          </a:p>
          <a:p xmlns:a="http://schemas.openxmlformats.org/drawingml/2006/main">
            <a:r>
              <a:t/>
            </a:r>
          </a:p>
          <a:p xmlns:a="http://schemas.openxmlformats.org/drawingml/2006/main">
            <a:r>
              <a:t>### 새 상황에 독립적으로 적용하기</a:t>
            </a:r>
          </a:p>
          <a:p xmlns:a="http://schemas.openxmlformats.org/drawingml/2006/main">
            <a:r>
              <a:t/>
            </a:r>
          </a:p>
          <a:p xmlns:a="http://schemas.openxmlformats.org/drawingml/2006/main">
            <a:r>
              <a:t>복습·도전: 대여 정책은 ‘잔여 수량이 5개 이하이면 보충 요청’입니다. 4, 5, 6, 미확인 네 입력의 결과와 비교 기호를 정하세요. 미확인은 보충 확정 대신 확인 요청으로 처리합니다.</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기호는 &lt;=이며 4와 5는 보충 요청, 6은 요청 없음, 미확인은 확인 요청입니다. &lt;를 고르면 경계 5를 놓칩니다. 미확인을 0으로 채우면 수량을 실제 관찰한 것처럼 처리하는 오답입니다.</a:t>
            </a:r>
          </a:p>
          <a:p xmlns:a="http://schemas.openxmlformats.org/drawingml/2006/main">
            <a:r>
              <a:t/>
            </a:r>
          </a:p>
          <a:p xmlns:a="http://schemas.openxmlformats.org/drawingml/2006/main">
            <a:r>
              <a:t>### 핵심 세 질문과 해설</a:t>
            </a:r>
          </a:p>
          <a:p xmlns:a="http://schemas.openxmlformats.org/drawingml/2006/main">
            <a:r>
              <a:t/>
            </a:r>
          </a:p>
          <a:p xmlns:a="http://schemas.openxmlformats.org/drawingml/2006/main">
            <a:r>
              <a:t>1. **이상과 초과의 차이를 어느 입력으로 보나요?** 경계값 자체를 넣어 포함 여부를 확인합니다.</a:t>
            </a:r>
          </a:p>
          <a:p xmlns:a="http://schemas.openxmlformats.org/drawingml/2006/main">
            <a:r>
              <a:t/>
            </a:r>
          </a:p>
          <a:p xmlns:a="http://schemas.openxmlformats.org/drawingml/2006/main">
            <a:r>
              <a:t>2. **True는 늘 정상인가요?** 질문의 의미에 따라 보충·배정·초과 등 다른 업무 뜻이 됩니다.</a:t>
            </a:r>
          </a:p>
          <a:p xmlns:a="http://schemas.openxmlformats.org/drawingml/2006/main">
            <a:r>
              <a:t/>
            </a:r>
          </a:p>
          <a:p xmlns:a="http://schemas.openxmlformats.org/drawingml/2006/main">
            <a:r>
              <a:t>3. **기대 결과를 실행 뒤 정해도 되나요?** 먼저 업무 문장으로 예상해야 잘못된 결과를 그대로 정답으로 삼지 않습니다.</a:t>
            </a:r>
          </a:p>
          <a:p xmlns:a="http://schemas.openxmlformats.org/drawingml/2006/main">
            <a:r>
              <a:t/>
            </a:r>
          </a:p>
          <a:p xmlns:a="http://schemas.openxmlformats.org/drawingml/2006/main">
            <a:r>
              <a:t/>
            </a:r>
          </a:p>
          <a:p xmlns:a="http://schemas.openxmlformats.org/drawingml/2006/main">
            <a:r>
              <a:t>**개념.** 비교 연산은 두 값의 관계를 물어 True 또는 False를 만듭니다. &gt;는 초과, &gt;=는 이상, ==는 같은지 확인합니다. =는 대입이므로 역할이 다릅니다.</a:t>
            </a:r>
          </a:p>
          <a:p xmlns:a="http://schemas.openxmlformats.org/drawingml/2006/main">
            <a:r>
              <a:t/>
            </a:r>
          </a:p>
          <a:p xmlns:a="http://schemas.openxmlformats.org/drawingml/2006/main">
            <a:r>
              <a:t>**왜 필요한가.** 정책 문구를 코드로 옮길 때 ‘이상’과 ‘초과’를 혼동하면 경계값에서 다른 결과가 나옵니다. 기준과 정확히 같은 입력을 확인해야 차이가 보입니다.</a:t>
            </a:r>
          </a:p>
          <a:p xmlns:a="http://schemas.openxmlformats.org/drawingml/2006/main">
            <a:r>
              <a:t/>
            </a:r>
          </a:p>
          <a:p xmlns:a="http://schemas.openxmlformats.org/drawingml/2006/main">
            <a:r>
              <a:t>**함께 보는 예.** 온도 24.0과 기준 24.0에서 &gt;는 False, &gt;=는 True입니다. 참·거짓은 비교 질문의 답이며 온도 자체가 참이나 거짓이라는 의미가 아닙니다.</a:t>
            </a:r>
          </a:p>
          <a:p xmlns:a="http://schemas.openxmlformats.org/drawingml/2006/main">
            <a:r>
              <a:t/>
            </a:r>
          </a:p>
          <a:p xmlns:a="http://schemas.openxmlformats.org/drawingml/2006/main">
            <a:r>
              <a:t>**헷갈리는 경우.** ‘확인 필요’라는 출력은 이 연습의 입력 점검 규칙입니다. 실제 안전 판단이나 센서 성능을 보증하는 말로 사용하지 않습니다.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temperature_c = 24.0</a:t>
            </a:r>
          </a:p>
          <a:p xmlns:a="http://schemas.openxmlformats.org/drawingml/2006/main">
            <a:r>
              <a:t>limit = 24.0</a:t>
            </a:r>
          </a:p>
          <a:p xmlns:a="http://schemas.openxmlformats.org/drawingml/2006/main">
            <a:r>
              <a:t>print(temperature_c &gt; limit)</a:t>
            </a:r>
          </a:p>
          <a:p xmlns:a="http://schemas.openxmlformats.org/drawingml/2006/main">
            <a:r>
              <a:t>print(temperature_c &gt;= limit)</a:t>
            </a:r>
          </a:p>
          <a:p xmlns:a="http://schemas.openxmlformats.org/drawingml/2006/main">
            <a:r>
              <a:t>print(temperature_c == limit)</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`temperature_c = 24.0` | 비교할 측정값을 정합니다. |</a:t>
            </a:r>
          </a:p>
          <a:p xmlns:a="http://schemas.openxmlformats.org/drawingml/2006/main">
            <a:r>
              <a:t>| 2 | `limit = 24.0` | 수업용 기준을 정합니다. |</a:t>
            </a:r>
          </a:p>
          <a:p xmlns:a="http://schemas.openxmlformats.org/drawingml/2006/main">
            <a:r>
              <a:t>| 3 | `print(temperature_c &gt; limit)` | 기준을 초과했는지 묻습니다. |</a:t>
            </a:r>
          </a:p>
          <a:p xmlns:a="http://schemas.openxmlformats.org/drawingml/2006/main">
            <a:r>
              <a:t>| 4 | `print(temperature_c &gt;= limit)` | 기준 이상인지 묻습니다. |</a:t>
            </a:r>
          </a:p>
          <a:p xmlns:a="http://schemas.openxmlformats.org/drawingml/2006/main">
            <a:r>
              <a:t>| 5 | `print(temperature_c == limit)` | 기준과 같은지 묻습니다.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code/A10_example.py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work/A10_example.py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False</a:t>
            </a:r>
          </a:p>
          <a:p xmlns:a="http://schemas.openxmlformats.org/drawingml/2006/main">
            <a:r>
              <a:t>True</a:t>
            </a:r>
          </a:p>
          <a:p xmlns:a="http://schemas.openxmlformats.org/drawingml/2006/main">
            <a:r>
              <a:t>True</a:t>
            </a:r>
          </a:p>
          <a:p xmlns:a="http://schemas.openxmlformats.org/drawingml/2006/main">
            <a:r>
              <a:t>```</a:t>
            </a:r>
          </a:p>
          <a:p xmlns:a="http://schemas.openxmlformats.org/drawingml/2006/main">
            <a:r>
              <a:t/>
            </a:r>
          </a:p>
          <a:p xmlns:a="http://schemas.openxmlformats.org/drawingml/2006/main">
            <a:r>
              <a:t>작은 수정: `temperature_c = 24.0`를 `temperature_c = 23.9`로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False</a:t>
            </a:r>
          </a:p>
          <a:p xmlns:a="http://schemas.openxmlformats.org/drawingml/2006/main">
            <a:r>
              <a:t>False</a:t>
            </a:r>
          </a:p>
          <a:p xmlns:a="http://schemas.openxmlformats.org/drawingml/2006/main">
            <a:r>
              <a:t>False</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초과·이상·같음의 문장을 기호와 연결합니다.</a:t>
            </a:r>
          </a:p>
          <a:p xmlns:a="http://schemas.openxmlformats.org/drawingml/2006/main">
            <a:r>
              <a:t>2. 기준 아래·같음·위 세 입력에서 True/False를 예상합니다.</a:t>
            </a:r>
          </a:p>
          <a:p xmlns:a="http://schemas.openxmlformats.org/drawingml/2006/main">
            <a:r>
              <a:t>3. 한 번에 온도 한 곳만 바꿔 비교 출력 세 줄을 확인합니다.</a:t>
            </a:r>
          </a:p>
          <a:p xmlns:a="http://schemas.openxmlformats.org/drawingml/2006/main">
            <a:r>
              <a:t>4. 업무 규칙 ‘24.0 이상’에 맞는 기호를 고르고 이유를 씁니다.</a:t>
            </a:r>
          </a:p>
          <a:p xmlns:a="http://schemas.openxmlformats.org/drawingml/2006/main">
            <a:r>
              <a:t/>
            </a:r>
          </a:p>
          <a:p xmlns:a="http://schemas.openxmlformats.org/drawingml/2006/main">
            <a:r>
              <a:t>예상 결과: 같은 값에서 &gt;와 &gt;=의 차이를 설명합니다.</a:t>
            </a:r>
          </a:p>
          <a:p xmlns:a="http://schemas.openxmlformats.org/drawingml/2006/main">
            <a:r>
              <a:t/>
            </a:r>
          </a:p>
          <a:p xmlns:a="http://schemas.openxmlformats.org/drawingml/2006/main">
            <a:r>
              <a:t>확인 질문: 변수에 값을 넣는 =와 비교하는 ==를 같은 기호처럼 쓰면 될까요?</a:t>
            </a:r>
          </a:p>
          <a:p xmlns:a="http://schemas.openxmlformats.org/drawingml/2006/main">
            <a:r>
              <a:t/>
            </a:r>
          </a:p>
          <a:p xmlns:a="http://schemas.openxmlformats.org/drawingml/2006/main">
            <a:r>
              <a:t>막혔을 때: True/False를 외우기보다 ‘왼쪽 값이 오른쪽 기준보다 큰가?’라는 질문을 실제 숫자로 다시 읽습니다.</a:t>
            </a:r>
          </a:p>
          <a:p xmlns:a="http://schemas.openxmlformats.org/drawingml/2006/main">
            <a:r>
              <a:t/>
            </a:r>
          </a:p>
          <a:p xmlns:a="http://schemas.openxmlformats.org/drawingml/2006/main">
            <a:r>
              <a:t>[활동 자료와 작성칸](practice-guide.md#a10--비교-결과는-참-또는-거짓)에서 A10를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A10 상세 원문]</a:t>
            </a:r>
          </a:p>
          <a:p xmlns:a="http://schemas.openxmlformats.org/drawingml/2006/main">
            <a:r>
              <a:t>### 사례로 이해하기 · 이상과 초과를 업무 문장으로 읽기</a:t>
            </a:r>
          </a:p>
          <a:p xmlns:a="http://schemas.openxmlformats.org/drawingml/2006/main">
            <a:r>
              <a:t/>
            </a:r>
          </a:p>
          <a:p xmlns:a="http://schemas.openxmlformats.org/drawingml/2006/main">
            <a:r>
              <a:t>필수 설명 보충입니다. 강사 시연 → 함께 추적 → 예상과 실제 비교 → 자기 말로 설명 순서로 읽습니다. 아래 독립 문제는 복습·도전이며 기존 50분 필수 경로와 별도로 활용합니다.</a:t>
            </a:r>
          </a:p>
          <a:p xmlns:a="http://schemas.openxmlformats.org/drawingml/2006/main">
            <a:r>
              <a:t/>
            </a:r>
          </a:p>
          <a:p xmlns:a="http://schemas.openxmlformats.org/drawingml/2006/main">
            <a:r>
              <a:t>현장 교육의 수업용 점검 규칙은 ‘인원이 10명 이상이면 큰 실습실을 배정한다’입니다. 이상은 경계값 10을 포함합니다. ‘10명 초과’라고 쓰면 11명부터 포함합니다. 말 한 글자의 차이가 비교 기호와 경계 결과를 바꿉니다. 코드를 먼저 외우지 말고 인원 수를 적은 수직선에서 10에 동그라미를 그리고 포함 여부를 표시합니다. 이 규칙은 강의용 공간 배정 예시이며 실제 기관의 정원 기준이 아닙니다.</a:t>
            </a:r>
          </a:p>
          <a:p xmlns:a="http://schemas.openxmlformats.org/drawingml/2006/main">
            <a:r>
              <a:t/>
            </a:r>
          </a:p>
          <a:p xmlns:a="http://schemas.openxmlformats.org/drawingml/2006/main">
            <a:r>
              <a:t>비교는 질문을 참 또는 거짓으로 답한 값입니다. 9&gt;=10은 False, 10&gt;=10은 True, 11&gt;=10은 True입니다. &gt;는 초과, &gt;=는 이상, &lt;는 미만, &lt;=는 이하를 나타냅니다. ==는 같은지 묻고 =는 값에 이름을 붙입니다. 참이라는 결과가 안전하다는 뜻은 아닙니다. 무엇을 비교했는지에 따라 ‘큰 실습실 대상이다’처럼 구체적인 의미를 붙입니다. 참/거짓과 정상/위험은 업무 규칙을 연결해야 설명할 수 있습니다.</a:t>
            </a:r>
          </a:p>
          <a:p xmlns:a="http://schemas.openxmlformats.org/drawingml/2006/main">
            <a:r>
              <a:t/>
            </a:r>
          </a:p>
          <a:p xmlns:a="http://schemas.openxmlformats.org/drawingml/2006/main">
            <a:r>
              <a:t>그다음 두 갈래 선택을 손으로 추적합니다. 인원 10은 조건이 참이므로 큰 실습실 안내를 선택하고 작은 실습실 안내는 선택하지 않습니다. 인원 9는 조건이 거짓이므로 다른 안내를 선택합니다. 값이 미확인이면 숫자와 비교하기 전에 미확인 갈래로 처리해야 합니다. None을 0으로 바꾸어 작은 방을 정하면 실제 인원 확인이 사라집니다. 최소 검수 표에는 경계 아래 9, 경계 10, 경계 위 11, 미확인 네 사례를 넣습니다. 5와 20만 확인하면 &gt;와 &gt;=를 잘못 골라도 둘 다 통과할 수 있습니다. 예상값은 코드보다 먼저 업무 문장으로 정합니다.</a:t>
            </a:r>
          </a:p>
          <a:p xmlns:a="http://schemas.openxmlformats.org/drawingml/2006/main">
            <a:r>
              <a:t/>
            </a:r>
          </a:p>
          <a:p xmlns:a="http://schemas.openxmlformats.org/drawingml/2006/main">
            <a:r>
              <a:t>### 새 상황에 독립적으로 적용하기</a:t>
            </a:r>
          </a:p>
          <a:p xmlns:a="http://schemas.openxmlformats.org/drawingml/2006/main">
            <a:r>
              <a:t/>
            </a:r>
          </a:p>
          <a:p xmlns:a="http://schemas.openxmlformats.org/drawingml/2006/main">
            <a:r>
              <a:t>복습·도전: 대여 정책은 ‘잔여 수량이 5개 이하이면 보충 요청’입니다. 4, 5, 6, 미확인 네 입력의 결과와 비교 기호를 정하세요. 미확인은 보충 확정 대신 확인 요청으로 처리합니다.</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기호는 &lt;=이며 4와 5는 보충 요청, 6은 요청 없음, 미확인은 확인 요청입니다. &lt;를 고르면 경계 5를 놓칩니다. 미확인을 0으로 채우면 수량을 실제 관찰한 것처럼 처리하는 오답입니다.</a:t>
            </a:r>
          </a:p>
          <a:p xmlns:a="http://schemas.openxmlformats.org/drawingml/2006/main">
            <a:r>
              <a:t/>
            </a:r>
          </a:p>
          <a:p xmlns:a="http://schemas.openxmlformats.org/drawingml/2006/main">
            <a:r>
              <a:t>### 핵심 세 질문과 해설</a:t>
            </a:r>
          </a:p>
          <a:p xmlns:a="http://schemas.openxmlformats.org/drawingml/2006/main">
            <a:r>
              <a:t/>
            </a:r>
          </a:p>
          <a:p xmlns:a="http://schemas.openxmlformats.org/drawingml/2006/main">
            <a:r>
              <a:t>1. **이상과 초과의 차이를 어느 입력으로 보나요?** 경계값 자체를 넣어 포함 여부를 확인합니다.</a:t>
            </a:r>
          </a:p>
          <a:p xmlns:a="http://schemas.openxmlformats.org/drawingml/2006/main">
            <a:r>
              <a:t/>
            </a:r>
          </a:p>
          <a:p xmlns:a="http://schemas.openxmlformats.org/drawingml/2006/main">
            <a:r>
              <a:t>2. **True는 늘 정상인가요?** 질문의 의미에 따라 보충·배정·초과 등 다른 업무 뜻이 됩니다.</a:t>
            </a:r>
          </a:p>
          <a:p xmlns:a="http://schemas.openxmlformats.org/drawingml/2006/main">
            <a:r>
              <a:t/>
            </a:r>
          </a:p>
          <a:p xmlns:a="http://schemas.openxmlformats.org/drawingml/2006/main">
            <a:r>
              <a:t>3. **기대 결과를 실행 뒤 정해도 되나요?** 먼저 업무 문장으로 예상해야 잘못된 결과를 그대로 정답으로 삼지 않습니다.</a:t>
            </a:r>
          </a:p>
          <a:p xmlns:a="http://schemas.openxmlformats.org/drawingml/2006/main">
            <a:r>
              <a:t/>
            </a:r>
          </a:p>
          <a:p xmlns:a="http://schemas.openxmlformats.org/drawingml/2006/main">
            <a:r>
              <a:t/>
            </a:r>
          </a:p>
          <a:p xmlns:a="http://schemas.openxmlformats.org/drawingml/2006/main">
            <a:r>
              <a:t>**개념.** 비교 연산은 두 값의 관계를 물어 True 또는 False를 만듭니다. &gt;는 초과, &gt;=는 이상, ==는 같은지 확인합니다. =는 대입이므로 역할이 다릅니다.</a:t>
            </a:r>
          </a:p>
          <a:p xmlns:a="http://schemas.openxmlformats.org/drawingml/2006/main">
            <a:r>
              <a:t/>
            </a:r>
          </a:p>
          <a:p xmlns:a="http://schemas.openxmlformats.org/drawingml/2006/main">
            <a:r>
              <a:t>**왜 필요한가.** 정책 문구를 코드로 옮길 때 ‘이상’과 ‘초과’를 혼동하면 경계값에서 다른 결과가 나옵니다. 기준과 정확히 같은 입력을 확인해야 차이가 보입니다.</a:t>
            </a:r>
          </a:p>
          <a:p xmlns:a="http://schemas.openxmlformats.org/drawingml/2006/main">
            <a:r>
              <a:t/>
            </a:r>
          </a:p>
          <a:p xmlns:a="http://schemas.openxmlformats.org/drawingml/2006/main">
            <a:r>
              <a:t>**함께 보는 예.** 온도 24.0과 기준 24.0에서 &gt;는 False, &gt;=는 True입니다. 참·거짓은 비교 질문의 답이며 온도 자체가 참이나 거짓이라는 의미가 아닙니다.</a:t>
            </a:r>
          </a:p>
          <a:p xmlns:a="http://schemas.openxmlformats.org/drawingml/2006/main">
            <a:r>
              <a:t/>
            </a:r>
          </a:p>
          <a:p xmlns:a="http://schemas.openxmlformats.org/drawingml/2006/main">
            <a:r>
              <a:t>**헷갈리는 경우.** ‘확인 필요’라는 출력은 이 연습의 입력 점검 규칙입니다. 실제 안전 판단이나 센서 성능을 보증하는 말로 사용하지 않습니다.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temperature_c = 24.0</a:t>
            </a:r>
          </a:p>
          <a:p xmlns:a="http://schemas.openxmlformats.org/drawingml/2006/main">
            <a:r>
              <a:t>limit = 24.0</a:t>
            </a:r>
          </a:p>
          <a:p xmlns:a="http://schemas.openxmlformats.org/drawingml/2006/main">
            <a:r>
              <a:t>print(temperature_c &gt; limit)</a:t>
            </a:r>
          </a:p>
          <a:p xmlns:a="http://schemas.openxmlformats.org/drawingml/2006/main">
            <a:r>
              <a:t>print(temperature_c &gt;= limit)</a:t>
            </a:r>
          </a:p>
          <a:p xmlns:a="http://schemas.openxmlformats.org/drawingml/2006/main">
            <a:r>
              <a:t>print(temperature_c == limit)</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`temperature_c = 24.0` | 비교할 측정값을 정합니다. |</a:t>
            </a:r>
          </a:p>
          <a:p xmlns:a="http://schemas.openxmlformats.org/drawingml/2006/main">
            <a:r>
              <a:t>| 2 | `limit = 24.0` | 수업용 기준을 정합니다. |</a:t>
            </a:r>
          </a:p>
          <a:p xmlns:a="http://schemas.openxmlformats.org/drawingml/2006/main">
            <a:r>
              <a:t>| 3 | `print(temperature_c &gt; limit)` | 기준을 초과했는지 묻습니다. |</a:t>
            </a:r>
          </a:p>
          <a:p xmlns:a="http://schemas.openxmlformats.org/drawingml/2006/main">
            <a:r>
              <a:t>| 4 | `print(temperature_c &gt;= limit)` | 기준 이상인지 묻습니다. |</a:t>
            </a:r>
          </a:p>
          <a:p xmlns:a="http://schemas.openxmlformats.org/drawingml/2006/main">
            <a:r>
              <a:t>| 5 | `print(temperature_c == limit)` | 기준과 같은지 묻습니다.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code/A10_example.py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work/A10_example.py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False</a:t>
            </a:r>
          </a:p>
          <a:p xmlns:a="http://schemas.openxmlformats.org/drawingml/2006/main">
            <a:r>
              <a:t>True</a:t>
            </a:r>
          </a:p>
          <a:p xmlns:a="http://schemas.openxmlformats.org/drawingml/2006/main">
            <a:r>
              <a:t>True</a:t>
            </a:r>
          </a:p>
          <a:p xmlns:a="http://schemas.openxmlformats.org/drawingml/2006/main">
            <a:r>
              <a:t>```</a:t>
            </a:r>
          </a:p>
          <a:p xmlns:a="http://schemas.openxmlformats.org/drawingml/2006/main">
            <a:r>
              <a:t/>
            </a:r>
          </a:p>
          <a:p xmlns:a="http://schemas.openxmlformats.org/drawingml/2006/main">
            <a:r>
              <a:t>작은 수정: `temperature_c = 24.0`를 `temperature_c = 23.9`로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False</a:t>
            </a:r>
          </a:p>
          <a:p xmlns:a="http://schemas.openxmlformats.org/drawingml/2006/main">
            <a:r>
              <a:t>False</a:t>
            </a:r>
          </a:p>
          <a:p xmlns:a="http://schemas.openxmlformats.org/drawingml/2006/main">
            <a:r>
              <a:t>False</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초과·이상·같음의 문장을 기호와 연결합니다.</a:t>
            </a:r>
          </a:p>
          <a:p xmlns:a="http://schemas.openxmlformats.org/drawingml/2006/main">
            <a:r>
              <a:t>2. 기준 아래·같음·위 세 입력에서 True/False를 예상합니다.</a:t>
            </a:r>
          </a:p>
          <a:p xmlns:a="http://schemas.openxmlformats.org/drawingml/2006/main">
            <a:r>
              <a:t>3. 한 번에 온도 한 곳만 바꿔 비교 출력 세 줄을 확인합니다.</a:t>
            </a:r>
          </a:p>
          <a:p xmlns:a="http://schemas.openxmlformats.org/drawingml/2006/main">
            <a:r>
              <a:t>4. 업무 규칙 ‘24.0 이상’에 맞는 기호를 고르고 이유를 씁니다.</a:t>
            </a:r>
          </a:p>
          <a:p xmlns:a="http://schemas.openxmlformats.org/drawingml/2006/main">
            <a:r>
              <a:t/>
            </a:r>
          </a:p>
          <a:p xmlns:a="http://schemas.openxmlformats.org/drawingml/2006/main">
            <a:r>
              <a:t>예상 결과: 같은 값에서 &gt;와 &gt;=의 차이를 설명합니다.</a:t>
            </a:r>
          </a:p>
          <a:p xmlns:a="http://schemas.openxmlformats.org/drawingml/2006/main">
            <a:r>
              <a:t/>
            </a:r>
          </a:p>
          <a:p xmlns:a="http://schemas.openxmlformats.org/drawingml/2006/main">
            <a:r>
              <a:t>확인 질문: 변수에 값을 넣는 =와 비교하는 ==를 같은 기호처럼 쓰면 될까요?</a:t>
            </a:r>
          </a:p>
          <a:p xmlns:a="http://schemas.openxmlformats.org/drawingml/2006/main">
            <a:r>
              <a:t/>
            </a:r>
          </a:p>
          <a:p xmlns:a="http://schemas.openxmlformats.org/drawingml/2006/main">
            <a:r>
              <a:t>막혔을 때: True/False를 외우기보다 ‘왼쪽 값이 오른쪽 기준보다 큰가?’라는 질문을 실제 숫자로 다시 읽습니다.</a:t>
            </a:r>
          </a:p>
          <a:p xmlns:a="http://schemas.openxmlformats.org/drawingml/2006/main">
            <a:r>
              <a:t/>
            </a:r>
          </a:p>
          <a:p xmlns:a="http://schemas.openxmlformats.org/drawingml/2006/main">
            <a:r>
              <a:t>[활동 자료와 작성칸](practice-guide.md#a10--비교-결과는-참-또는-거짓)에서 A10를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A10 상세 원문]</a:t>
            </a:r>
          </a:p>
          <a:p xmlns:a="http://schemas.openxmlformats.org/drawingml/2006/main">
            <a:r>
              <a:t>### 사례로 이해하기 · 이상과 초과를 업무 문장으로 읽기</a:t>
            </a:r>
          </a:p>
          <a:p xmlns:a="http://schemas.openxmlformats.org/drawingml/2006/main">
            <a:r>
              <a:t/>
            </a:r>
          </a:p>
          <a:p xmlns:a="http://schemas.openxmlformats.org/drawingml/2006/main">
            <a:r>
              <a:t>필수 설명 보충입니다. 강사 시연 → 함께 추적 → 예상과 실제 비교 → 자기 말로 설명 순서로 읽습니다. 아래 독립 문제는 복습·도전이며 기존 50분 필수 경로와 별도로 활용합니다.</a:t>
            </a:r>
          </a:p>
          <a:p xmlns:a="http://schemas.openxmlformats.org/drawingml/2006/main">
            <a:r>
              <a:t/>
            </a:r>
          </a:p>
          <a:p xmlns:a="http://schemas.openxmlformats.org/drawingml/2006/main">
            <a:r>
              <a:t>현장 교육의 수업용 점검 규칙은 ‘인원이 10명 이상이면 큰 실습실을 배정한다’입니다. 이상은 경계값 10을 포함합니다. ‘10명 초과’라고 쓰면 11명부터 포함합니다. 말 한 글자의 차이가 비교 기호와 경계 결과를 바꿉니다. 코드를 먼저 외우지 말고 인원 수를 적은 수직선에서 10에 동그라미를 그리고 포함 여부를 표시합니다. 이 규칙은 강의용 공간 배정 예시이며 실제 기관의 정원 기준이 아닙니다.</a:t>
            </a:r>
          </a:p>
          <a:p xmlns:a="http://schemas.openxmlformats.org/drawingml/2006/main">
            <a:r>
              <a:t/>
            </a:r>
          </a:p>
          <a:p xmlns:a="http://schemas.openxmlformats.org/drawingml/2006/main">
            <a:r>
              <a:t>비교는 질문을 참 또는 거짓으로 답한 값입니다. 9&gt;=10은 False, 10&gt;=10은 True, 11&gt;=10은 True입니다. &gt;는 초과, &gt;=는 이상, &lt;는 미만, &lt;=는 이하를 나타냅니다. ==는 같은지 묻고 =는 값에 이름을 붙입니다. 참이라는 결과가 안전하다는 뜻은 아닙니다. 무엇을 비교했는지에 따라 ‘큰 실습실 대상이다’처럼 구체적인 의미를 붙입니다. 참/거짓과 정상/위험은 업무 규칙을 연결해야 설명할 수 있습니다.</a:t>
            </a:r>
          </a:p>
          <a:p xmlns:a="http://schemas.openxmlformats.org/drawingml/2006/main">
            <a:r>
              <a:t/>
            </a:r>
          </a:p>
          <a:p xmlns:a="http://schemas.openxmlformats.org/drawingml/2006/main">
            <a:r>
              <a:t>그다음 두 갈래 선택을 손으로 추적합니다. 인원 10은 조건이 참이므로 큰 실습실 안내를 선택하고 작은 실습실 안내는 선택하지 않습니다. 인원 9는 조건이 거짓이므로 다른 안내를 선택합니다. 값이 미확인이면 숫자와 비교하기 전에 미확인 갈래로 처리해야 합니다. None을 0으로 바꾸어 작은 방을 정하면 실제 인원 확인이 사라집니다. 최소 검수 표에는 경계 아래 9, 경계 10, 경계 위 11, 미확인 네 사례를 넣습니다. 5와 20만 확인하면 &gt;와 &gt;=를 잘못 골라도 둘 다 통과할 수 있습니다. 예상값은 코드보다 먼저 업무 문장으로 정합니다.</a:t>
            </a:r>
          </a:p>
          <a:p xmlns:a="http://schemas.openxmlformats.org/drawingml/2006/main">
            <a:r>
              <a:t/>
            </a:r>
          </a:p>
          <a:p xmlns:a="http://schemas.openxmlformats.org/drawingml/2006/main">
            <a:r>
              <a:t>### 새 상황에 독립적으로 적용하기</a:t>
            </a:r>
          </a:p>
          <a:p xmlns:a="http://schemas.openxmlformats.org/drawingml/2006/main">
            <a:r>
              <a:t/>
            </a:r>
          </a:p>
          <a:p xmlns:a="http://schemas.openxmlformats.org/drawingml/2006/main">
            <a:r>
              <a:t>복습·도전: 대여 정책은 ‘잔여 수량이 5개 이하이면 보충 요청’입니다. 4, 5, 6, 미확인 네 입력의 결과와 비교 기호를 정하세요. 미확인은 보충 확정 대신 확인 요청으로 처리합니다.</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기호는 &lt;=이며 4와 5는 보충 요청, 6은 요청 없음, 미확인은 확인 요청입니다. &lt;를 고르면 경계 5를 놓칩니다. 미확인을 0으로 채우면 수량을 실제 관찰한 것처럼 처리하는 오답입니다.</a:t>
            </a:r>
          </a:p>
          <a:p xmlns:a="http://schemas.openxmlformats.org/drawingml/2006/main">
            <a:r>
              <a:t/>
            </a:r>
          </a:p>
          <a:p xmlns:a="http://schemas.openxmlformats.org/drawingml/2006/main">
            <a:r>
              <a:t>### 핵심 세 질문과 해설</a:t>
            </a:r>
          </a:p>
          <a:p xmlns:a="http://schemas.openxmlformats.org/drawingml/2006/main">
            <a:r>
              <a:t/>
            </a:r>
          </a:p>
          <a:p xmlns:a="http://schemas.openxmlformats.org/drawingml/2006/main">
            <a:r>
              <a:t>1. **이상과 초과의 차이를 어느 입력으로 보나요?** 경계값 자체를 넣어 포함 여부를 확인합니다.</a:t>
            </a:r>
          </a:p>
          <a:p xmlns:a="http://schemas.openxmlformats.org/drawingml/2006/main">
            <a:r>
              <a:t/>
            </a:r>
          </a:p>
          <a:p xmlns:a="http://schemas.openxmlformats.org/drawingml/2006/main">
            <a:r>
              <a:t>2. **True는 늘 정상인가요?** 질문의 의미에 따라 보충·배정·초과 등 다른 업무 뜻이 됩니다.</a:t>
            </a:r>
          </a:p>
          <a:p xmlns:a="http://schemas.openxmlformats.org/drawingml/2006/main">
            <a:r>
              <a:t/>
            </a:r>
          </a:p>
          <a:p xmlns:a="http://schemas.openxmlformats.org/drawingml/2006/main">
            <a:r>
              <a:t>3. **기대 결과를 실행 뒤 정해도 되나요?** 먼저 업무 문장으로 예상해야 잘못된 결과를 그대로 정답으로 삼지 않습니다.</a:t>
            </a:r>
          </a:p>
          <a:p xmlns:a="http://schemas.openxmlformats.org/drawingml/2006/main">
            <a:r>
              <a:t/>
            </a:r>
          </a:p>
          <a:p xmlns:a="http://schemas.openxmlformats.org/drawingml/2006/main">
            <a:r>
              <a:t/>
            </a:r>
          </a:p>
          <a:p xmlns:a="http://schemas.openxmlformats.org/drawingml/2006/main">
            <a:r>
              <a:t>**개념.** 비교 연산은 두 값의 관계를 물어 True 또는 False를 만듭니다. &gt;는 초과, &gt;=는 이상, ==는 같은지 확인합니다. =는 대입이므로 역할이 다릅니다.</a:t>
            </a:r>
          </a:p>
          <a:p xmlns:a="http://schemas.openxmlformats.org/drawingml/2006/main">
            <a:r>
              <a:t/>
            </a:r>
          </a:p>
          <a:p xmlns:a="http://schemas.openxmlformats.org/drawingml/2006/main">
            <a:r>
              <a:t>**왜 필요한가.** 정책 문구를 코드로 옮길 때 ‘이상’과 ‘초과’를 혼동하면 경계값에서 다른 결과가 나옵니다. 기준과 정확히 같은 입력을 확인해야 차이가 보입니다.</a:t>
            </a:r>
          </a:p>
          <a:p xmlns:a="http://schemas.openxmlformats.org/drawingml/2006/main">
            <a:r>
              <a:t/>
            </a:r>
          </a:p>
          <a:p xmlns:a="http://schemas.openxmlformats.org/drawingml/2006/main">
            <a:r>
              <a:t>**함께 보는 예.** 온도 24.0과 기준 24.0에서 &gt;는 False, &gt;=는 True입니다. 참·거짓은 비교 질문의 답이며 온도 자체가 참이나 거짓이라는 의미가 아닙니다.</a:t>
            </a:r>
          </a:p>
          <a:p xmlns:a="http://schemas.openxmlformats.org/drawingml/2006/main">
            <a:r>
              <a:t/>
            </a:r>
          </a:p>
          <a:p xmlns:a="http://schemas.openxmlformats.org/drawingml/2006/main">
            <a:r>
              <a:t>**헷갈리는 경우.** ‘확인 필요’라는 출력은 이 연습의 입력 점검 규칙입니다. 실제 안전 판단이나 센서 성능을 보증하는 말로 사용하지 않습니다.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temperature_c = 24.0</a:t>
            </a:r>
          </a:p>
          <a:p xmlns:a="http://schemas.openxmlformats.org/drawingml/2006/main">
            <a:r>
              <a:t>limit = 24.0</a:t>
            </a:r>
          </a:p>
          <a:p xmlns:a="http://schemas.openxmlformats.org/drawingml/2006/main">
            <a:r>
              <a:t>print(temperature_c &gt; limit)</a:t>
            </a:r>
          </a:p>
          <a:p xmlns:a="http://schemas.openxmlformats.org/drawingml/2006/main">
            <a:r>
              <a:t>print(temperature_c &gt;= limit)</a:t>
            </a:r>
          </a:p>
          <a:p xmlns:a="http://schemas.openxmlformats.org/drawingml/2006/main">
            <a:r>
              <a:t>print(temperature_c == limit)</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`temperature_c = 24.0` | 비교할 측정값을 정합니다. |</a:t>
            </a:r>
          </a:p>
          <a:p xmlns:a="http://schemas.openxmlformats.org/drawingml/2006/main">
            <a:r>
              <a:t>| 2 | `limit = 24.0` | 수업용 기준을 정합니다. |</a:t>
            </a:r>
          </a:p>
          <a:p xmlns:a="http://schemas.openxmlformats.org/drawingml/2006/main">
            <a:r>
              <a:t>| 3 | `print(temperature_c &gt; limit)` | 기준을 초과했는지 묻습니다. |</a:t>
            </a:r>
          </a:p>
          <a:p xmlns:a="http://schemas.openxmlformats.org/drawingml/2006/main">
            <a:r>
              <a:t>| 4 | `print(temperature_c &gt;= limit)` | 기준 이상인지 묻습니다. |</a:t>
            </a:r>
          </a:p>
          <a:p xmlns:a="http://schemas.openxmlformats.org/drawingml/2006/main">
            <a:r>
              <a:t>| 5 | `print(temperature_c == limit)` | 기준과 같은지 묻습니다.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code/A10_example.py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work/A10_example.py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False</a:t>
            </a:r>
          </a:p>
          <a:p xmlns:a="http://schemas.openxmlformats.org/drawingml/2006/main">
            <a:r>
              <a:t>True</a:t>
            </a:r>
          </a:p>
          <a:p xmlns:a="http://schemas.openxmlformats.org/drawingml/2006/main">
            <a:r>
              <a:t>True</a:t>
            </a:r>
          </a:p>
          <a:p xmlns:a="http://schemas.openxmlformats.org/drawingml/2006/main">
            <a:r>
              <a:t>```</a:t>
            </a:r>
          </a:p>
          <a:p xmlns:a="http://schemas.openxmlformats.org/drawingml/2006/main">
            <a:r>
              <a:t/>
            </a:r>
          </a:p>
          <a:p xmlns:a="http://schemas.openxmlformats.org/drawingml/2006/main">
            <a:r>
              <a:t>작은 수정: `temperature_c = 24.0`를 `temperature_c = 23.9`로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False</a:t>
            </a:r>
          </a:p>
          <a:p xmlns:a="http://schemas.openxmlformats.org/drawingml/2006/main">
            <a:r>
              <a:t>False</a:t>
            </a:r>
          </a:p>
          <a:p xmlns:a="http://schemas.openxmlformats.org/drawingml/2006/main">
            <a:r>
              <a:t>False</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초과·이상·같음의 문장을 기호와 연결합니다.</a:t>
            </a:r>
          </a:p>
          <a:p xmlns:a="http://schemas.openxmlformats.org/drawingml/2006/main">
            <a:r>
              <a:t>2. 기준 아래·같음·위 세 입력에서 True/False를 예상합니다.</a:t>
            </a:r>
          </a:p>
          <a:p xmlns:a="http://schemas.openxmlformats.org/drawingml/2006/main">
            <a:r>
              <a:t>3. 한 번에 온도 한 곳만 바꿔 비교 출력 세 줄을 확인합니다.</a:t>
            </a:r>
          </a:p>
          <a:p xmlns:a="http://schemas.openxmlformats.org/drawingml/2006/main">
            <a:r>
              <a:t>4. 업무 규칙 ‘24.0 이상’에 맞는 기호를 고르고 이유를 씁니다.</a:t>
            </a:r>
          </a:p>
          <a:p xmlns:a="http://schemas.openxmlformats.org/drawingml/2006/main">
            <a:r>
              <a:t/>
            </a:r>
          </a:p>
          <a:p xmlns:a="http://schemas.openxmlformats.org/drawingml/2006/main">
            <a:r>
              <a:t>예상 결과: 같은 값에서 &gt;와 &gt;=의 차이를 설명합니다.</a:t>
            </a:r>
          </a:p>
          <a:p xmlns:a="http://schemas.openxmlformats.org/drawingml/2006/main">
            <a:r>
              <a:t/>
            </a:r>
          </a:p>
          <a:p xmlns:a="http://schemas.openxmlformats.org/drawingml/2006/main">
            <a:r>
              <a:t>확인 질문: 변수에 값을 넣는 =와 비교하는 ==를 같은 기호처럼 쓰면 될까요?</a:t>
            </a:r>
          </a:p>
          <a:p xmlns:a="http://schemas.openxmlformats.org/drawingml/2006/main">
            <a:r>
              <a:t/>
            </a:r>
          </a:p>
          <a:p xmlns:a="http://schemas.openxmlformats.org/drawingml/2006/main">
            <a:r>
              <a:t>막혔을 때: True/False를 외우기보다 ‘왼쪽 값이 오른쪽 기준보다 큰가?’라는 질문을 실제 숫자로 다시 읽습니다.</a:t>
            </a:r>
          </a:p>
          <a:p xmlns:a="http://schemas.openxmlformats.org/drawingml/2006/main">
            <a:r>
              <a:t/>
            </a:r>
          </a:p>
          <a:p xmlns:a="http://schemas.openxmlformats.org/drawingml/2006/main">
            <a:r>
              <a:t>[활동 자료와 작성칸](practice-guide.md#a10--비교-결과는-참-또는-거짓)에서 A10를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제공된 완성 파일의 전체 코드입니다. 압축을 푼 course 폴더의 터미널에서 실행합니다.</a:t>
            </a:r>
          </a:p>
          <a:p xmlns:a="http://schemas.openxmlformats.org/drawingml/2006/main">
            <a:r>
              <a:t>명령: python -X utf8 code/A11_example.py</a:t>
            </a:r>
          </a:p>
          <a:p xmlns:a="http://schemas.openxmlformats.org/drawingml/2006/main">
            <a:r>
              <a:t>작업본은 code 대신 work 경로를 지정합니다. 개인 실행이 막히면 같은 입력으로 수동 추적 후 강사 결과와 비교합니다.</a:t>
            </a:r>
          </a:p>
          <a:p xmlns:a="http://schemas.openxmlformats.org/drawingml/2006/main">
            <a:r>
              <a:t/>
            </a:r>
          </a:p>
          <a:p xmlns:a="http://schemas.openxmlformats.org/drawingml/2006/main">
            <a:r>
              <a:t>[활동 A11 상세 원문]</a:t>
            </a:r>
          </a:p>
          <a:p xmlns:a="http://schemas.openxmlformats.org/drawingml/2006/main">
            <a:r>
              <a:t>**개념.** if는 조건이 참일 때 실행할 묶음을 선택합니다. else는 그 조건이 거짓일 때 실행할 묶음입니다. 콜론 뒤의 들여쓴 줄들이 그 묶음에 속합니다.</a:t>
            </a:r>
          </a:p>
          <a:p xmlns:a="http://schemas.openxmlformats.org/drawingml/2006/main">
            <a:r>
              <a:t/>
            </a:r>
          </a:p>
          <a:p xmlns:a="http://schemas.openxmlformats.org/drawingml/2006/main">
            <a:r>
              <a:t>**왜 필요한가.** 비교 결과를 화면에 보여 주는 단계에서 한 걸음 더 나아가, 비교에 따라 다른 일을 할 수 있습니다. 두 갈래 중 어느 쪽이 실행되는지 먼저 손으로 따라가면 코드를 읽기 쉽습니다.</a:t>
            </a:r>
          </a:p>
          <a:p xmlns:a="http://schemas.openxmlformats.org/drawingml/2006/main">
            <a:r>
              <a:t/>
            </a:r>
          </a:p>
          <a:p xmlns:a="http://schemas.openxmlformats.org/drawingml/2006/main">
            <a:r>
              <a:t>**함께 보는 예.** 23.5는 기준 24.0을 넘지 않으므로 else 쪽의 정상이 출력됩니다. 25.0을 넣으면 if 쪽의 확인이 출력됩니다. 두 print를 모두 실행하는 코드와 차이를 비교합니다.</a:t>
            </a:r>
          </a:p>
          <a:p xmlns:a="http://schemas.openxmlformats.org/drawingml/2006/main">
            <a:r>
              <a:t/>
            </a:r>
          </a:p>
          <a:p xmlns:a="http://schemas.openxmlformats.org/drawingml/2006/main">
            <a:r>
              <a:t>**헷갈리는 경우.** 들여쓰기를 지우면 문법 오류가 나거나 의도한 묶음이 달라질 수 있습니다. 보기 좋게 정렬하는 장식이 아니라 Python 문장의 구조입니다.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temperature_c = 23.5</a:t>
            </a:r>
          </a:p>
          <a:p xmlns:a="http://schemas.openxmlformats.org/drawingml/2006/main">
            <a:r>
              <a:t>limit = 24.0</a:t>
            </a:r>
          </a:p>
          <a:p xmlns:a="http://schemas.openxmlformats.org/drawingml/2006/main">
            <a:r>
              <a:t>if temperature_c &gt; limit:</a:t>
            </a:r>
          </a:p>
          <a:p xmlns:a="http://schemas.openxmlformats.org/drawingml/2006/main">
            <a:r>
              <a:t>    print("확인")</a:t>
            </a:r>
          </a:p>
          <a:p xmlns:a="http://schemas.openxmlformats.org/drawingml/2006/main">
            <a:r>
              <a:t>else:</a:t>
            </a:r>
          </a:p>
          <a:p xmlns:a="http://schemas.openxmlformats.org/drawingml/2006/main">
            <a:r>
              <a:t>    print("정상")</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`temperature_c = 23.5` | 측정값을 정합니다. |</a:t>
            </a:r>
          </a:p>
          <a:p xmlns:a="http://schemas.openxmlformats.org/drawingml/2006/main">
            <a:r>
              <a:t>| 2 | `limit = 24.0` | 수업용 비교 기준을 정합니다. |</a:t>
            </a:r>
          </a:p>
          <a:p xmlns:a="http://schemas.openxmlformats.org/drawingml/2006/main">
            <a:r>
              <a:t>| 3 | `if temperature_c &gt; limit:` | 비교가 참인지 확인하고 아래 묶음을 선택합니다. |</a:t>
            </a:r>
          </a:p>
          <a:p xmlns:a="http://schemas.openxmlformats.org/drawingml/2006/main">
            <a:r>
              <a:t>| 4 | `    print("확인")` | 참일 때 확인을 출력합니다. |</a:t>
            </a:r>
          </a:p>
          <a:p xmlns:a="http://schemas.openxmlformats.org/drawingml/2006/main">
            <a:r>
              <a:t>| 5 | `else:` | 비교가 거짓인 경우의 묶음입니다. |</a:t>
            </a:r>
          </a:p>
          <a:p xmlns:a="http://schemas.openxmlformats.org/drawingml/2006/main">
            <a:r>
              <a:t>| 6 | `    print("정상")` | 거짓일 때 정상을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code/A11_example.py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work/A11_example.py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정상</a:t>
            </a:r>
          </a:p>
          <a:p xmlns:a="http://schemas.openxmlformats.org/drawingml/2006/main">
            <a:r>
              <a:t>```</a:t>
            </a:r>
          </a:p>
          <a:p xmlns:a="http://schemas.openxmlformats.org/drawingml/2006/main">
            <a:r>
              <a:t/>
            </a:r>
          </a:p>
          <a:p xmlns:a="http://schemas.openxmlformats.org/drawingml/2006/main">
            <a:r>
              <a:t>작은 수정: `23.5`를 `25.0`로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확인</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조건식을 동그라미로 표시하고 두 갈래를 말로 설명합니다.</a:t>
            </a:r>
          </a:p>
          <a:p xmlns:a="http://schemas.openxmlformats.org/drawingml/2006/main">
            <a:r>
              <a:t>2. 25.0으로 바꿨을 때 실행될 줄만 표시합니다.</a:t>
            </a:r>
          </a:p>
          <a:p xmlns:a="http://schemas.openxmlformats.org/drawingml/2006/main">
            <a:r>
              <a:t>3. 들여쓰기를 유지한 채 값 한 곳을 수정해 실행합니다.</a:t>
            </a:r>
          </a:p>
          <a:p xmlns:a="http://schemas.openxmlformats.org/drawingml/2006/main">
            <a:r>
              <a:t>4. 수정한 값·실행된 갈래·출력을 노트에 연결합니다.</a:t>
            </a:r>
          </a:p>
          <a:p xmlns:a="http://schemas.openxmlformats.org/drawingml/2006/main">
            <a:r>
              <a:t/>
            </a:r>
          </a:p>
          <a:p xmlns:a="http://schemas.openxmlformats.org/drawingml/2006/main">
            <a:r>
              <a:t>예상 결과: 23.5는 정상, 25.0은 확인. 양쪽 출력이 동시에 나오지 않습니다.</a:t>
            </a:r>
          </a:p>
          <a:p xmlns:a="http://schemas.openxmlformats.org/drawingml/2006/main">
            <a:r>
              <a:t/>
            </a:r>
          </a:p>
          <a:p xmlns:a="http://schemas.openxmlformats.org/drawingml/2006/main">
            <a:r>
              <a:t>확인 질문: print("완료")를 들여쓰기 없이 맨 아래에 넣으면 언제 실행될까요?</a:t>
            </a:r>
          </a:p>
          <a:p xmlns:a="http://schemas.openxmlformats.org/drawingml/2006/main">
            <a:r>
              <a:t/>
            </a:r>
          </a:p>
          <a:p xmlns:a="http://schemas.openxmlformats.org/drawingml/2006/main">
            <a:r>
              <a:t>막혔을 때: IndentationError가 나면 콜론 다음 줄의 공백을 원본과 비교합니다. 탭과 공백을 혼용하지 않고 제공 예의 네 칸 공백을 유지합니다.</a:t>
            </a:r>
          </a:p>
          <a:p xmlns:a="http://schemas.openxmlformats.org/drawingml/2006/main">
            <a:r>
              <a:t/>
            </a:r>
          </a:p>
          <a:p xmlns:a="http://schemas.openxmlformats.org/drawingml/2006/main">
            <a:r>
              <a:t>[활동 자료와 작성칸](practice-guide.md#a11--if와-else로-출력-선택하기)에서 A11를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A11 상세 원문]</a:t>
            </a:r>
          </a:p>
          <a:p xmlns:a="http://schemas.openxmlformats.org/drawingml/2006/main">
            <a:r>
              <a:t>**개념.** if는 조건이 참일 때 실행할 묶음을 선택합니다. else는 그 조건이 거짓일 때 실행할 묶음입니다. 콜론 뒤의 들여쓴 줄들이 그 묶음에 속합니다.</a:t>
            </a:r>
          </a:p>
          <a:p xmlns:a="http://schemas.openxmlformats.org/drawingml/2006/main">
            <a:r>
              <a:t/>
            </a:r>
          </a:p>
          <a:p xmlns:a="http://schemas.openxmlformats.org/drawingml/2006/main">
            <a:r>
              <a:t>**왜 필요한가.** 비교 결과를 화면에 보여 주는 단계에서 한 걸음 더 나아가, 비교에 따라 다른 일을 할 수 있습니다. 두 갈래 중 어느 쪽이 실행되는지 먼저 손으로 따라가면 코드를 읽기 쉽습니다.</a:t>
            </a:r>
          </a:p>
          <a:p xmlns:a="http://schemas.openxmlformats.org/drawingml/2006/main">
            <a:r>
              <a:t/>
            </a:r>
          </a:p>
          <a:p xmlns:a="http://schemas.openxmlformats.org/drawingml/2006/main">
            <a:r>
              <a:t>**함께 보는 예.** 23.5는 기준 24.0을 넘지 않으므로 else 쪽의 정상이 출력됩니다. 25.0을 넣으면 if 쪽의 확인이 출력됩니다. 두 print를 모두 실행하는 코드와 차이를 비교합니다.</a:t>
            </a:r>
          </a:p>
          <a:p xmlns:a="http://schemas.openxmlformats.org/drawingml/2006/main">
            <a:r>
              <a:t/>
            </a:r>
          </a:p>
          <a:p xmlns:a="http://schemas.openxmlformats.org/drawingml/2006/main">
            <a:r>
              <a:t>**헷갈리는 경우.** 들여쓰기를 지우면 문법 오류가 나거나 의도한 묶음이 달라질 수 있습니다. 보기 좋게 정렬하는 장식이 아니라 Python 문장의 구조입니다.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temperature_c = 23.5</a:t>
            </a:r>
          </a:p>
          <a:p xmlns:a="http://schemas.openxmlformats.org/drawingml/2006/main">
            <a:r>
              <a:t>limit = 24.0</a:t>
            </a:r>
          </a:p>
          <a:p xmlns:a="http://schemas.openxmlformats.org/drawingml/2006/main">
            <a:r>
              <a:t>if temperature_c &gt; limit:</a:t>
            </a:r>
          </a:p>
          <a:p xmlns:a="http://schemas.openxmlformats.org/drawingml/2006/main">
            <a:r>
              <a:t>    print("확인")</a:t>
            </a:r>
          </a:p>
          <a:p xmlns:a="http://schemas.openxmlformats.org/drawingml/2006/main">
            <a:r>
              <a:t>else:</a:t>
            </a:r>
          </a:p>
          <a:p xmlns:a="http://schemas.openxmlformats.org/drawingml/2006/main">
            <a:r>
              <a:t>    print("정상")</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`temperature_c = 23.5` | 측정값을 정합니다. |</a:t>
            </a:r>
          </a:p>
          <a:p xmlns:a="http://schemas.openxmlformats.org/drawingml/2006/main">
            <a:r>
              <a:t>| 2 | `limit = 24.0` | 수업용 비교 기준을 정합니다. |</a:t>
            </a:r>
          </a:p>
          <a:p xmlns:a="http://schemas.openxmlformats.org/drawingml/2006/main">
            <a:r>
              <a:t>| 3 | `if temperature_c &gt; limit:` | 비교가 참인지 확인하고 아래 묶음을 선택합니다. |</a:t>
            </a:r>
          </a:p>
          <a:p xmlns:a="http://schemas.openxmlformats.org/drawingml/2006/main">
            <a:r>
              <a:t>| 4 | `    print("확인")` | 참일 때 확인을 출력합니다. |</a:t>
            </a:r>
          </a:p>
          <a:p xmlns:a="http://schemas.openxmlformats.org/drawingml/2006/main">
            <a:r>
              <a:t>| 5 | `else:` | 비교가 거짓인 경우의 묶음입니다. |</a:t>
            </a:r>
          </a:p>
          <a:p xmlns:a="http://schemas.openxmlformats.org/drawingml/2006/main">
            <a:r>
              <a:t>| 6 | `    print("정상")` | 거짓일 때 정상을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code/A11_example.py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work/A11_example.py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정상</a:t>
            </a:r>
          </a:p>
          <a:p xmlns:a="http://schemas.openxmlformats.org/drawingml/2006/main">
            <a:r>
              <a:t>```</a:t>
            </a:r>
          </a:p>
          <a:p xmlns:a="http://schemas.openxmlformats.org/drawingml/2006/main">
            <a:r>
              <a:t/>
            </a:r>
          </a:p>
          <a:p xmlns:a="http://schemas.openxmlformats.org/drawingml/2006/main">
            <a:r>
              <a:t>작은 수정: `23.5`를 `25.0`로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확인</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조건식을 동그라미로 표시하고 두 갈래를 말로 설명합니다.</a:t>
            </a:r>
          </a:p>
          <a:p xmlns:a="http://schemas.openxmlformats.org/drawingml/2006/main">
            <a:r>
              <a:t>2. 25.0으로 바꿨을 때 실행될 줄만 표시합니다.</a:t>
            </a:r>
          </a:p>
          <a:p xmlns:a="http://schemas.openxmlformats.org/drawingml/2006/main">
            <a:r>
              <a:t>3. 들여쓰기를 유지한 채 값 한 곳을 수정해 실행합니다.</a:t>
            </a:r>
          </a:p>
          <a:p xmlns:a="http://schemas.openxmlformats.org/drawingml/2006/main">
            <a:r>
              <a:t>4. 수정한 값·실행된 갈래·출력을 노트에 연결합니다.</a:t>
            </a:r>
          </a:p>
          <a:p xmlns:a="http://schemas.openxmlformats.org/drawingml/2006/main">
            <a:r>
              <a:t/>
            </a:r>
          </a:p>
          <a:p xmlns:a="http://schemas.openxmlformats.org/drawingml/2006/main">
            <a:r>
              <a:t>예상 결과: 23.5는 정상, 25.0은 확인. 양쪽 출력이 동시에 나오지 않습니다.</a:t>
            </a:r>
          </a:p>
          <a:p xmlns:a="http://schemas.openxmlformats.org/drawingml/2006/main">
            <a:r>
              <a:t/>
            </a:r>
          </a:p>
          <a:p xmlns:a="http://schemas.openxmlformats.org/drawingml/2006/main">
            <a:r>
              <a:t>확인 질문: print("완료")를 들여쓰기 없이 맨 아래에 넣으면 언제 실행될까요?</a:t>
            </a:r>
          </a:p>
          <a:p xmlns:a="http://schemas.openxmlformats.org/drawingml/2006/main">
            <a:r>
              <a:t/>
            </a:r>
          </a:p>
          <a:p xmlns:a="http://schemas.openxmlformats.org/drawingml/2006/main">
            <a:r>
              <a:t>막혔을 때: IndentationError가 나면 콜론 다음 줄의 공백을 원본과 비교합니다. 탭과 공백을 혼용하지 않고 제공 예의 네 칸 공백을 유지합니다.</a:t>
            </a:r>
          </a:p>
          <a:p xmlns:a="http://schemas.openxmlformats.org/drawingml/2006/main">
            <a:r>
              <a:t/>
            </a:r>
          </a:p>
          <a:p xmlns:a="http://schemas.openxmlformats.org/drawingml/2006/main">
            <a:r>
              <a:t>[활동 자료와 작성칸](practice-guide.md#a11--if와-else로-출력-선택하기)에서 A11를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A11 상세 원문]</a:t>
            </a:r>
          </a:p>
          <a:p xmlns:a="http://schemas.openxmlformats.org/drawingml/2006/main">
            <a:r>
              <a:t>**개념.** if는 조건이 참일 때 실행할 묶음을 선택합니다. else는 그 조건이 거짓일 때 실행할 묶음입니다. 콜론 뒤의 들여쓴 줄들이 그 묶음에 속합니다.</a:t>
            </a:r>
          </a:p>
          <a:p xmlns:a="http://schemas.openxmlformats.org/drawingml/2006/main">
            <a:r>
              <a:t/>
            </a:r>
          </a:p>
          <a:p xmlns:a="http://schemas.openxmlformats.org/drawingml/2006/main">
            <a:r>
              <a:t>**왜 필요한가.** 비교 결과를 화면에 보여 주는 단계에서 한 걸음 더 나아가, 비교에 따라 다른 일을 할 수 있습니다. 두 갈래 중 어느 쪽이 실행되는지 먼저 손으로 따라가면 코드를 읽기 쉽습니다.</a:t>
            </a:r>
          </a:p>
          <a:p xmlns:a="http://schemas.openxmlformats.org/drawingml/2006/main">
            <a:r>
              <a:t/>
            </a:r>
          </a:p>
          <a:p xmlns:a="http://schemas.openxmlformats.org/drawingml/2006/main">
            <a:r>
              <a:t>**함께 보는 예.** 23.5는 기준 24.0을 넘지 않으므로 else 쪽의 정상이 출력됩니다. 25.0을 넣으면 if 쪽의 확인이 출력됩니다. 두 print를 모두 실행하는 코드와 차이를 비교합니다.</a:t>
            </a:r>
          </a:p>
          <a:p xmlns:a="http://schemas.openxmlformats.org/drawingml/2006/main">
            <a:r>
              <a:t/>
            </a:r>
          </a:p>
          <a:p xmlns:a="http://schemas.openxmlformats.org/drawingml/2006/main">
            <a:r>
              <a:t>**헷갈리는 경우.** 들여쓰기를 지우면 문법 오류가 나거나 의도한 묶음이 달라질 수 있습니다. 보기 좋게 정렬하는 장식이 아니라 Python 문장의 구조입니다.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temperature_c = 23.5</a:t>
            </a:r>
          </a:p>
          <a:p xmlns:a="http://schemas.openxmlformats.org/drawingml/2006/main">
            <a:r>
              <a:t>limit = 24.0</a:t>
            </a:r>
          </a:p>
          <a:p xmlns:a="http://schemas.openxmlformats.org/drawingml/2006/main">
            <a:r>
              <a:t>if temperature_c &gt; limit:</a:t>
            </a:r>
          </a:p>
          <a:p xmlns:a="http://schemas.openxmlformats.org/drawingml/2006/main">
            <a:r>
              <a:t>    print("확인")</a:t>
            </a:r>
          </a:p>
          <a:p xmlns:a="http://schemas.openxmlformats.org/drawingml/2006/main">
            <a:r>
              <a:t>else:</a:t>
            </a:r>
          </a:p>
          <a:p xmlns:a="http://schemas.openxmlformats.org/drawingml/2006/main">
            <a:r>
              <a:t>    print("정상")</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`temperature_c = 23.5` | 측정값을 정합니다. |</a:t>
            </a:r>
          </a:p>
          <a:p xmlns:a="http://schemas.openxmlformats.org/drawingml/2006/main">
            <a:r>
              <a:t>| 2 | `limit = 24.0` | 수업용 비교 기준을 정합니다. |</a:t>
            </a:r>
          </a:p>
          <a:p xmlns:a="http://schemas.openxmlformats.org/drawingml/2006/main">
            <a:r>
              <a:t>| 3 | `if temperature_c &gt; limit:` | 비교가 참인지 확인하고 아래 묶음을 선택합니다. |</a:t>
            </a:r>
          </a:p>
          <a:p xmlns:a="http://schemas.openxmlformats.org/drawingml/2006/main">
            <a:r>
              <a:t>| 4 | `    print("확인")` | 참일 때 확인을 출력합니다. |</a:t>
            </a:r>
          </a:p>
          <a:p xmlns:a="http://schemas.openxmlformats.org/drawingml/2006/main">
            <a:r>
              <a:t>| 5 | `else:` | 비교가 거짓인 경우의 묶음입니다. |</a:t>
            </a:r>
          </a:p>
          <a:p xmlns:a="http://schemas.openxmlformats.org/drawingml/2006/main">
            <a:r>
              <a:t>| 6 | `    print("정상")` | 거짓일 때 정상을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code/A11_example.py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work/A11_example.py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정상</a:t>
            </a:r>
          </a:p>
          <a:p xmlns:a="http://schemas.openxmlformats.org/drawingml/2006/main">
            <a:r>
              <a:t>```</a:t>
            </a:r>
          </a:p>
          <a:p xmlns:a="http://schemas.openxmlformats.org/drawingml/2006/main">
            <a:r>
              <a:t/>
            </a:r>
          </a:p>
          <a:p xmlns:a="http://schemas.openxmlformats.org/drawingml/2006/main">
            <a:r>
              <a:t>작은 수정: `23.5`를 `25.0`로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확인</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조건식을 동그라미로 표시하고 두 갈래를 말로 설명합니다.</a:t>
            </a:r>
          </a:p>
          <a:p xmlns:a="http://schemas.openxmlformats.org/drawingml/2006/main">
            <a:r>
              <a:t>2. 25.0으로 바꿨을 때 실행될 줄만 표시합니다.</a:t>
            </a:r>
          </a:p>
          <a:p xmlns:a="http://schemas.openxmlformats.org/drawingml/2006/main">
            <a:r>
              <a:t>3. 들여쓰기를 유지한 채 값 한 곳을 수정해 실행합니다.</a:t>
            </a:r>
          </a:p>
          <a:p xmlns:a="http://schemas.openxmlformats.org/drawingml/2006/main">
            <a:r>
              <a:t>4. 수정한 값·실행된 갈래·출력을 노트에 연결합니다.</a:t>
            </a:r>
          </a:p>
          <a:p xmlns:a="http://schemas.openxmlformats.org/drawingml/2006/main">
            <a:r>
              <a:t/>
            </a:r>
          </a:p>
          <a:p xmlns:a="http://schemas.openxmlformats.org/drawingml/2006/main">
            <a:r>
              <a:t>예상 결과: 23.5는 정상, 25.0은 확인. 양쪽 출력이 동시에 나오지 않습니다.</a:t>
            </a:r>
          </a:p>
          <a:p xmlns:a="http://schemas.openxmlformats.org/drawingml/2006/main">
            <a:r>
              <a:t/>
            </a:r>
          </a:p>
          <a:p xmlns:a="http://schemas.openxmlformats.org/drawingml/2006/main">
            <a:r>
              <a:t>확인 질문: print("완료")를 들여쓰기 없이 맨 아래에 넣으면 언제 실행될까요?</a:t>
            </a:r>
          </a:p>
          <a:p xmlns:a="http://schemas.openxmlformats.org/drawingml/2006/main">
            <a:r>
              <a:t/>
            </a:r>
          </a:p>
          <a:p xmlns:a="http://schemas.openxmlformats.org/drawingml/2006/main">
            <a:r>
              <a:t>막혔을 때: IndentationError가 나면 콜론 다음 줄의 공백을 원본과 비교합니다. 탭과 공백을 혼용하지 않고 제공 예의 네 칸 공백을 유지합니다.</a:t>
            </a:r>
          </a:p>
          <a:p xmlns:a="http://schemas.openxmlformats.org/drawingml/2006/main">
            <a:r>
              <a:t/>
            </a:r>
          </a:p>
          <a:p xmlns:a="http://schemas.openxmlformats.org/drawingml/2006/main">
            <a:r>
              <a:t>[활동 자료와 작성칸](practice-guide.md#a11--if와-else로-출력-선택하기)에서 A11를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제공된 완성 파일의 전체 코드입니다. 압축을 푼 course 폴더의 터미널에서 실행합니다.</a:t>
            </a:r>
          </a:p>
          <a:p xmlns:a="http://schemas.openxmlformats.org/drawingml/2006/main">
            <a:r>
              <a:t>명령: python -X utf8 code/A12_example.py</a:t>
            </a:r>
          </a:p>
          <a:p xmlns:a="http://schemas.openxmlformats.org/drawingml/2006/main">
            <a:r>
              <a:t>작업본은 code 대신 work 경로를 지정합니다. 개인 실행이 막히면 같은 입력으로 수동 추적 후 강사 결과와 비교합니다.</a:t>
            </a:r>
          </a:p>
          <a:p xmlns:a="http://schemas.openxmlformats.org/drawingml/2006/main">
            <a:r>
              <a:t/>
            </a:r>
          </a:p>
          <a:p xmlns:a="http://schemas.openxmlformats.org/drawingml/2006/main">
            <a:r>
              <a:t>[활동 A12 상세 원문]</a:t>
            </a:r>
          </a:p>
          <a:p xmlns:a="http://schemas.openxmlformats.org/drawingml/2006/main">
            <a:r>
              <a:t>**개념.** elif는 앞 조건이 거짓일 때 다음 조건을 확인합니다. 값이 없다는 상태 None을 먼저 확인하면 숫자가 없는 값을 기준과 비교하는 일을 피할 수 있습니다.</a:t>
            </a:r>
          </a:p>
          <a:p xmlns:a="http://schemas.openxmlformats.org/drawingml/2006/main">
            <a:r>
              <a:t/>
            </a:r>
          </a:p>
          <a:p xmlns:a="http://schemas.openxmlformats.org/drawingml/2006/main">
            <a:r>
              <a:t>**왜 필요한가.** 10/8의 미측정을 숫자 0으로 바꾸지 않고 프로그램 안에서도 유지해야 합니다. 미측정·기준 초과·그 밖의 측정을 서로 다른 상태로 구분합니다.</a:t>
            </a:r>
          </a:p>
          <a:p xmlns:a="http://schemas.openxmlformats.org/drawingml/2006/main">
            <a:r>
              <a:t/>
            </a:r>
          </a:p>
          <a:p xmlns:a="http://schemas.openxmlformats.org/drawingml/2006/main">
            <a:r>
              <a:t>**함께 보는 예.** None이면 미측정, 숫자 25.0이면 확인, 24.0이면 정상입니다. 기준은 ‘24.0 초과’이므로 같은 값은 정상 쪽입니다. 숫자 비교는 값이 있는 경우에만 진행됩니다.</a:t>
            </a:r>
          </a:p>
          <a:p xmlns:a="http://schemas.openxmlformats.org/drawingml/2006/main">
            <a:r>
              <a:t/>
            </a:r>
          </a:p>
          <a:p xmlns:a="http://schemas.openxmlformats.org/drawingml/2006/main">
            <a:r>
              <a:t>**헷갈리는 경우.** if not temperature_c처럼 쓰면 0.0도 거짓으로 취급될 수 있어 미측정과 섞일 수 있습니다. 오늘은 값 없음의 정확한 비교인 is None을 사용합니다.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temperature_c = None</a:t>
            </a:r>
          </a:p>
          <a:p xmlns:a="http://schemas.openxmlformats.org/drawingml/2006/main">
            <a:r>
              <a:t>if temperature_c is None:</a:t>
            </a:r>
          </a:p>
          <a:p xmlns:a="http://schemas.openxmlformats.org/drawingml/2006/main">
            <a:r>
              <a:t>    print("미측정")</a:t>
            </a:r>
          </a:p>
          <a:p xmlns:a="http://schemas.openxmlformats.org/drawingml/2006/main">
            <a:r>
              <a:t>elif temperature_c &gt; 24.0:</a:t>
            </a:r>
          </a:p>
          <a:p xmlns:a="http://schemas.openxmlformats.org/drawingml/2006/main">
            <a:r>
              <a:t>    print("확인")</a:t>
            </a:r>
          </a:p>
          <a:p xmlns:a="http://schemas.openxmlformats.org/drawingml/2006/main">
            <a:r>
              <a:t>else:</a:t>
            </a:r>
          </a:p>
          <a:p xmlns:a="http://schemas.openxmlformats.org/drawingml/2006/main">
            <a:r>
              <a:t>    print("정상")</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`temperature_c = None` | 측정값이 없다는 상태를 정합니다. |</a:t>
            </a:r>
          </a:p>
          <a:p xmlns:a="http://schemas.openxmlformats.org/drawingml/2006/main">
            <a:r>
              <a:t>| 2 | `if temperature_c is None:` | 값 없음인지 먼저 확인합니다. |</a:t>
            </a:r>
          </a:p>
          <a:p xmlns:a="http://schemas.openxmlformats.org/drawingml/2006/main">
            <a:r>
              <a:t>| 3 | `    print("미측정")` | 값이 없으면 미측정이라고 출력합니다. |</a:t>
            </a:r>
          </a:p>
          <a:p xmlns:a="http://schemas.openxmlformats.org/drawingml/2006/main">
            <a:r>
              <a:t>| 4 | `elif temperature_c &gt; 24.0:` | 값이 있을 때 기준 초과인지 확인합니다. |</a:t>
            </a:r>
          </a:p>
          <a:p xmlns:a="http://schemas.openxmlformats.org/drawingml/2006/main">
            <a:r>
              <a:t>| 5 | `    print("확인")` | 초과하면 확인을 출력합니다. |</a:t>
            </a:r>
          </a:p>
          <a:p xmlns:a="http://schemas.openxmlformats.org/drawingml/2006/main">
            <a:r>
              <a:t>| 6 | `else:` | 나머지 측정값을 처리합니다. |</a:t>
            </a:r>
          </a:p>
          <a:p xmlns:a="http://schemas.openxmlformats.org/drawingml/2006/main">
            <a:r>
              <a:t>| 7 | `    print("정상")` | 나머지는 정상으로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code/A12_example.py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work/A12_example.py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미측정</a:t>
            </a:r>
          </a:p>
          <a:p xmlns:a="http://schemas.openxmlformats.org/drawingml/2006/main">
            <a:r>
              <a:t>```</a:t>
            </a:r>
          </a:p>
          <a:p xmlns:a="http://schemas.openxmlformats.org/drawingml/2006/main">
            <a:r>
              <a:t/>
            </a:r>
          </a:p>
          <a:p xmlns:a="http://schemas.openxmlformats.org/drawingml/2006/main">
            <a:r>
              <a:t>작은 수정: `temperature_c = None`를 `temperature_c = 0.0`로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정상</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None·0.0·24.0·24.1의 예상 갈래를 표에 씁니다.</a:t>
            </a:r>
          </a:p>
          <a:p xmlns:a="http://schemas.openxmlformats.org/drawingml/2006/main">
            <a:r>
              <a:t>2. 원본에서 미측정 확인이 숫자 비교보다 앞선 이유를 설명합니다.</a:t>
            </a:r>
          </a:p>
          <a:p xmlns:a="http://schemas.openxmlformats.org/drawingml/2006/main">
            <a:r>
              <a:t>3. work 코드에 하나씩 대입해 출력 또는 강사 실행을 대조합니다.</a:t>
            </a:r>
          </a:p>
          <a:p xmlns:a="http://schemas.openxmlformats.org/drawingml/2006/main">
            <a:r>
              <a:t>4. 0.0과 None을 같은 답으로 쓰지 않았는지 확인합니다.</a:t>
            </a:r>
          </a:p>
          <a:p xmlns:a="http://schemas.openxmlformats.org/drawingml/2006/main">
            <a:r>
              <a:t/>
            </a:r>
          </a:p>
          <a:p xmlns:a="http://schemas.openxmlformats.org/drawingml/2006/main">
            <a:r>
              <a:t>예상 결과: 미측정/정상/정상/확인의 순서입니다.</a:t>
            </a:r>
          </a:p>
          <a:p xmlns:a="http://schemas.openxmlformats.org/drawingml/2006/main">
            <a:r>
              <a:t/>
            </a:r>
          </a:p>
          <a:p xmlns:a="http://schemas.openxmlformats.org/drawingml/2006/main">
            <a:r>
              <a:t>확인 질문: None에 직접 &gt; 24.0을 적용하면 어떻게 될까요?</a:t>
            </a:r>
          </a:p>
          <a:p xmlns:a="http://schemas.openxmlformats.org/drawingml/2006/main">
            <a:r>
              <a:t/>
            </a:r>
          </a:p>
          <a:p xmlns:a="http://schemas.openxmlformats.org/drawingml/2006/main">
            <a:r>
              <a:t>막혔을 때: None을 "None"이라는 문자열로 바꾸지 않습니다. 따옴표가 붙으면 다른 값입니다.</a:t>
            </a:r>
          </a:p>
          <a:p xmlns:a="http://schemas.openxmlformats.org/drawingml/2006/main">
            <a:r>
              <a:t/>
            </a:r>
          </a:p>
          <a:p xmlns:a="http://schemas.openxmlformats.org/drawingml/2006/main">
            <a:r>
              <a:t>[활동 자료와 작성칸](practice-guide.md#a12--미측정과-경계값의-세-갈래)에서 A12를 엽니다.</a:t>
            </a:r>
          </a:p>
          <a:p xmlns:a="http://schemas.openxmlformats.org/drawingml/2006/main">
            <a:r>
              <a:t/>
            </a:r>
          </a:p>
          <a:p xmlns:a="http://schemas.openxmlformats.org/drawingml/2006/main">
            <a:r>
              <a:t># 5구간 · 여러 기록을 반복하기</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A12 상세 원문]</a:t>
            </a:r>
          </a:p>
          <a:p xmlns:a="http://schemas.openxmlformats.org/drawingml/2006/main">
            <a:r>
              <a:t>**개념.** elif는 앞 조건이 거짓일 때 다음 조건을 확인합니다. 값이 없다는 상태 None을 먼저 확인하면 숫자가 없는 값을 기준과 비교하는 일을 피할 수 있습니다.</a:t>
            </a:r>
          </a:p>
          <a:p xmlns:a="http://schemas.openxmlformats.org/drawingml/2006/main">
            <a:r>
              <a:t/>
            </a:r>
          </a:p>
          <a:p xmlns:a="http://schemas.openxmlformats.org/drawingml/2006/main">
            <a:r>
              <a:t>**왜 필요한가.** 10/8의 미측정을 숫자 0으로 바꾸지 않고 프로그램 안에서도 유지해야 합니다. 미측정·기준 초과·그 밖의 측정을 서로 다른 상태로 구분합니다.</a:t>
            </a:r>
          </a:p>
          <a:p xmlns:a="http://schemas.openxmlformats.org/drawingml/2006/main">
            <a:r>
              <a:t/>
            </a:r>
          </a:p>
          <a:p xmlns:a="http://schemas.openxmlformats.org/drawingml/2006/main">
            <a:r>
              <a:t>**함께 보는 예.** None이면 미측정, 숫자 25.0이면 확인, 24.0이면 정상입니다. 기준은 ‘24.0 초과’이므로 같은 값은 정상 쪽입니다. 숫자 비교는 값이 있는 경우에만 진행됩니다.</a:t>
            </a:r>
          </a:p>
          <a:p xmlns:a="http://schemas.openxmlformats.org/drawingml/2006/main">
            <a:r>
              <a:t/>
            </a:r>
          </a:p>
          <a:p xmlns:a="http://schemas.openxmlformats.org/drawingml/2006/main">
            <a:r>
              <a:t>**헷갈리는 경우.** if not temperature_c처럼 쓰면 0.0도 거짓으로 취급될 수 있어 미측정과 섞일 수 있습니다. 오늘은 값 없음의 정확한 비교인 is None을 사용합니다.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temperature_c = None</a:t>
            </a:r>
          </a:p>
          <a:p xmlns:a="http://schemas.openxmlformats.org/drawingml/2006/main">
            <a:r>
              <a:t>if temperature_c is None:</a:t>
            </a:r>
          </a:p>
          <a:p xmlns:a="http://schemas.openxmlformats.org/drawingml/2006/main">
            <a:r>
              <a:t>    print("미측정")</a:t>
            </a:r>
          </a:p>
          <a:p xmlns:a="http://schemas.openxmlformats.org/drawingml/2006/main">
            <a:r>
              <a:t>elif temperature_c &gt; 24.0:</a:t>
            </a:r>
          </a:p>
          <a:p xmlns:a="http://schemas.openxmlformats.org/drawingml/2006/main">
            <a:r>
              <a:t>    print("확인")</a:t>
            </a:r>
          </a:p>
          <a:p xmlns:a="http://schemas.openxmlformats.org/drawingml/2006/main">
            <a:r>
              <a:t>else:</a:t>
            </a:r>
          </a:p>
          <a:p xmlns:a="http://schemas.openxmlformats.org/drawingml/2006/main">
            <a:r>
              <a:t>    print("정상")</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`temperature_c = None` | 측정값이 없다는 상태를 정합니다. |</a:t>
            </a:r>
          </a:p>
          <a:p xmlns:a="http://schemas.openxmlformats.org/drawingml/2006/main">
            <a:r>
              <a:t>| 2 | `if temperature_c is None:` | 값 없음인지 먼저 확인합니다. |</a:t>
            </a:r>
          </a:p>
          <a:p xmlns:a="http://schemas.openxmlformats.org/drawingml/2006/main">
            <a:r>
              <a:t>| 3 | `    print("미측정")` | 값이 없으면 미측정이라고 출력합니다. |</a:t>
            </a:r>
          </a:p>
          <a:p xmlns:a="http://schemas.openxmlformats.org/drawingml/2006/main">
            <a:r>
              <a:t>| 4 | `elif temperature_c &gt; 24.0:` | 값이 있을 때 기준 초과인지 확인합니다. |</a:t>
            </a:r>
          </a:p>
          <a:p xmlns:a="http://schemas.openxmlformats.org/drawingml/2006/main">
            <a:r>
              <a:t>| 5 | `    print("확인")` | 초과하면 확인을 출력합니다. |</a:t>
            </a:r>
          </a:p>
          <a:p xmlns:a="http://schemas.openxmlformats.org/drawingml/2006/main">
            <a:r>
              <a:t>| 6 | `else:` | 나머지 측정값을 처리합니다. |</a:t>
            </a:r>
          </a:p>
          <a:p xmlns:a="http://schemas.openxmlformats.org/drawingml/2006/main">
            <a:r>
              <a:t>| 7 | `    print("정상")` | 나머지는 정상으로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code/A12_example.py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work/A12_example.py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미측정</a:t>
            </a:r>
          </a:p>
          <a:p xmlns:a="http://schemas.openxmlformats.org/drawingml/2006/main">
            <a:r>
              <a:t>```</a:t>
            </a:r>
          </a:p>
          <a:p xmlns:a="http://schemas.openxmlformats.org/drawingml/2006/main">
            <a:r>
              <a:t/>
            </a:r>
          </a:p>
          <a:p xmlns:a="http://schemas.openxmlformats.org/drawingml/2006/main">
            <a:r>
              <a:t>작은 수정: `temperature_c = None`를 `temperature_c = 0.0`로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정상</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None·0.0·24.0·24.1의 예상 갈래를 표에 씁니다.</a:t>
            </a:r>
          </a:p>
          <a:p xmlns:a="http://schemas.openxmlformats.org/drawingml/2006/main">
            <a:r>
              <a:t>2. 원본에서 미측정 확인이 숫자 비교보다 앞선 이유를 설명합니다.</a:t>
            </a:r>
          </a:p>
          <a:p xmlns:a="http://schemas.openxmlformats.org/drawingml/2006/main">
            <a:r>
              <a:t>3. work 코드에 하나씩 대입해 출력 또는 강사 실행을 대조합니다.</a:t>
            </a:r>
          </a:p>
          <a:p xmlns:a="http://schemas.openxmlformats.org/drawingml/2006/main">
            <a:r>
              <a:t>4. 0.0과 None을 같은 답으로 쓰지 않았는지 확인합니다.</a:t>
            </a:r>
          </a:p>
          <a:p xmlns:a="http://schemas.openxmlformats.org/drawingml/2006/main">
            <a:r>
              <a:t/>
            </a:r>
          </a:p>
          <a:p xmlns:a="http://schemas.openxmlformats.org/drawingml/2006/main">
            <a:r>
              <a:t>예상 결과: 미측정/정상/정상/확인의 순서입니다.</a:t>
            </a:r>
          </a:p>
          <a:p xmlns:a="http://schemas.openxmlformats.org/drawingml/2006/main">
            <a:r>
              <a:t/>
            </a:r>
          </a:p>
          <a:p xmlns:a="http://schemas.openxmlformats.org/drawingml/2006/main">
            <a:r>
              <a:t>확인 질문: None에 직접 &gt; 24.0을 적용하면 어떻게 될까요?</a:t>
            </a:r>
          </a:p>
          <a:p xmlns:a="http://schemas.openxmlformats.org/drawingml/2006/main">
            <a:r>
              <a:t/>
            </a:r>
          </a:p>
          <a:p xmlns:a="http://schemas.openxmlformats.org/drawingml/2006/main">
            <a:r>
              <a:t>막혔을 때: None을 "None"이라는 문자열로 바꾸지 않습니다. 따옴표가 붙으면 다른 값입니다.</a:t>
            </a:r>
          </a:p>
          <a:p xmlns:a="http://schemas.openxmlformats.org/drawingml/2006/main">
            <a:r>
              <a:t/>
            </a:r>
          </a:p>
          <a:p xmlns:a="http://schemas.openxmlformats.org/drawingml/2006/main">
            <a:r>
              <a:t>[활동 자료와 작성칸](practice-guide.md#a12--미측정과-경계값의-세-갈래)에서 A12를 엽니다.</a:t>
            </a:r>
          </a:p>
          <a:p xmlns:a="http://schemas.openxmlformats.org/drawingml/2006/main">
            <a:r>
              <a:t/>
            </a:r>
          </a:p>
          <a:p xmlns:a="http://schemas.openxmlformats.org/drawingml/2006/main">
            <a:r>
              <a:t># 5구간 · 여러 기록을 반복하기</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필수 개념 설명의 보충입니다.</a:t>
            </a:r>
          </a:p>
          <a:p xmlns:a="http://schemas.openxmlformats.org/drawingml/2006/main">
            <a:r>
              <a:t>현장 교육의 수업용 점검 규칙은 ‘인원이 10명 이상이면 큰 실습실을 배정한다’입니다. 이상은 경계값 10을 포함합니다. ‘10명 초과’라고 쓰면 11명부터 포함합니다. 말 한 글자의 차이가 비교 기호와 경계 결과를 바꿉니다. 코드를 먼저 외우지 말고 인원 수를 적은 수직선에서 10에 동그라미를 그리고 포함 여부를 표시합니다. 이 규칙은 강의용 공간 배정 예시이며 실제 기관의 정원 기준이 아닙니다.</a:t>
            </a:r>
          </a:p>
          <a:p xmlns:a="http://schemas.openxmlformats.org/drawingml/2006/main">
            <a:r>
              <a:t/>
            </a:r>
          </a:p>
          <a:p xmlns:a="http://schemas.openxmlformats.org/drawingml/2006/main">
            <a:r>
              <a:t>비교는 질문을 참 또는 거짓으로 답한 값입니다. 9&gt;=10은 False, 10&gt;=10은 True, 11&gt;=10은 True입니다. &gt;는 초과, &gt;=는 이상, &lt;는 미만, &lt;=는 이하를 나타냅니다. ==는 같은지 묻고 =는 값에 이름을 붙입니다. 참이라는 결과가 안전하다는 뜻은 아닙니다. 무엇을 비교했는지에 따라 ‘큰 실습실 대상이다’처럼 구체적인 의미를 붙입니다. 참/거짓과 정상/위험은 업무 규칙을 연결해야 설명할 수 있습니다.</a:t>
            </a:r>
          </a:p>
          <a:p xmlns:a="http://schemas.openxmlformats.org/drawingml/2006/main">
            <a:r>
              <a:t/>
            </a:r>
          </a:p>
          <a:p xmlns:a="http://schemas.openxmlformats.org/drawingml/2006/main">
            <a:r>
              <a:t>그다음 두 갈래 선택을 손으로 추적합니다. 인원 10은 조건이 참이므로 큰 실습실 안내를 선택하고 작은 실습실 안내는 선택하지 않습니다. 인원 9는 조건이 거짓이므로 다른 안내를 선택합니다. 값이 미확인이면 숫자와 비교하기 전에 미확인 갈래로 처리해야 합니다. None을 0으로 바꾸어 작은 방을 정하면 실제 인원 확인이 사라집니다. 최소 검수 표에는 경계 아래 9, 경계 10, 경계 위 11, 미확인 네 사례를 넣습니다. 5와 20만 확인하면 &gt;와 &gt;=를 잘못 골라도 둘 다 통과할 수 있습니다. 예상값은 코드보다 먼저 업무 문장으로 정합니다.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보강 단원의 완성 추적 예입니다. 세부 이유와 경계 조건은 아래 원고를 설명합니다.</a:t>
            </a:r>
          </a:p>
          <a:p xmlns:a="http://schemas.openxmlformats.org/drawingml/2006/main">
            <a:r>
              <a:t>현장 교육의 수업용 점검 규칙은 ‘인원이 10명 이상이면 큰 실습실을 배정한다’입니다. 이상은 경계값 10을 포함합니다. ‘10명 초과’라고 쓰면 11명부터 포함합니다. 말 한 글자의 차이가 비교 기호와 경계 결과를 바꿉니다. 코드를 먼저 외우지 말고 인원 수를 적은 수직선에서 10에 동그라미를 그리고 포함 여부를 표시합니다. 이 규칙은 강의용 공간 배정 예시이며 실제 기관의 정원 기준이 아닙니다.</a:t>
            </a:r>
          </a:p>
          <a:p xmlns:a="http://schemas.openxmlformats.org/drawingml/2006/main">
            <a:r>
              <a:t/>
            </a:r>
          </a:p>
          <a:p xmlns:a="http://schemas.openxmlformats.org/drawingml/2006/main">
            <a:r>
              <a:t>비교는 질문을 참 또는 거짓으로 답한 값입니다. 9&gt;=10은 False, 10&gt;=10은 True, 11&gt;=10은 True입니다. &gt;는 초과, &gt;=는 이상, &lt;는 미만, &lt;=는 이하를 나타냅니다. ==는 같은지 묻고 =는 값에 이름을 붙입니다. 참이라는 결과가 안전하다는 뜻은 아닙니다. 무엇을 비교했는지에 따라 ‘큰 실습실 대상이다’처럼 구체적인 의미를 붙입니다. 참/거짓과 정상/위험은 업무 규칙을 연결해야 설명할 수 있습니다.</a:t>
            </a:r>
          </a:p>
          <a:p xmlns:a="http://schemas.openxmlformats.org/drawingml/2006/main">
            <a:r>
              <a:t/>
            </a:r>
          </a:p>
          <a:p xmlns:a="http://schemas.openxmlformats.org/drawingml/2006/main">
            <a:r>
              <a:t>그다음 두 갈래 선택을 손으로 추적합니다. 인원 10은 조건이 참이므로 큰 실습실 안내를 선택하고 작은 실습실 안내는 선택하지 않습니다. 인원 9는 조건이 거짓이므로 다른 안내를 선택합니다. 값이 미확인이면 숫자와 비교하기 전에 미확인 갈래로 처리해야 합니다. None을 0으로 바꾸어 작은 방을 정하면 실제 인원 확인이 사라집니다. 최소 검수 표에는 경계 아래 9, 경계 10, 경계 위 11, 미확인 네 사례를 넣습니다. 5와 20만 확인하면 &gt;와 &gt;=를 잘못 골라도 둘 다 통과할 수 있습니다. 예상값은 코드보다 먼저 업무 문장으로 정합니다.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복습·도전: 대여 정책은 ‘잔여 수량이 5개 이하이면 보충 요청’입니다. 4, 5, 6, 미확인 네 입력의 결과와 비교 기호를 정하세요. 미확인은 보충 확정 대신 확인 요청으로 처리합니다.</a:t>
            </a:r>
          </a:p>
          <a:p xmlns:a="http://schemas.openxmlformats.org/drawingml/2006/main">
            <a:r>
              <a:t/>
            </a:r>
          </a:p>
          <a:p xmlns:a="http://schemas.openxmlformats.org/drawingml/2006/main">
            <a:r>
              <a:t>학생이 독립적으로 답을 만든 뒤 다음 슬라이드로 넘어갑니다. 필수 수행에 이 문제 전체를 억지로 포함하지 않습니다.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기호는 &lt;=이며 4와 5는 보충 요청, 6은 요청 없음, 미확인은 확인 요청입니다. &lt;를 고르면 경계 5를 놓칩니다. 미확인을 0으로 채우면 수량을 실제 관찰한 것처럼 처리하는 오답입니다.</a:t>
            </a:r>
          </a:p>
          <a:p xmlns:a="http://schemas.openxmlformats.org/drawingml/2006/main">
            <a:r>
              <a:t/>
            </a:r>
          </a:p>
          <a:p xmlns:a="http://schemas.openxmlformats.org/drawingml/2006/main">
            <a:r>
              <a:t>핵심 질문과 해설:</a:t>
            </a:r>
          </a:p>
          <a:p xmlns:a="http://schemas.openxmlformats.org/drawingml/2006/main">
            <a:r>
              <a:t>이상과 초과의 차이를 어느 입력으로 보나요? 경계값 자체를 넣어 포함 여부를 확인합니다.</a:t>
            </a:r>
          </a:p>
          <a:p xmlns:a="http://schemas.openxmlformats.org/drawingml/2006/main">
            <a:r>
              <a:t>True는 늘 정상인가요? 질문의 의미에 따라 보충·배정·초과 등 다른 업무 뜻이 됩니다.</a:t>
            </a:r>
          </a:p>
          <a:p xmlns:a="http://schemas.openxmlformats.org/drawingml/2006/main">
            <a:r>
              <a:t>기대 결과를 실행 뒤 정해도 되나요? 먼저 업무 문장으로 예상해야 잘못된 결과를 그대로 정답으로 삼지 않습니다.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A12 상세 원문]</a:t>
            </a:r>
          </a:p>
          <a:p xmlns:a="http://schemas.openxmlformats.org/drawingml/2006/main">
            <a:r>
              <a:t>**개념.** elif는 앞 조건이 거짓일 때 다음 조건을 확인합니다. 값이 없다는 상태 None을 먼저 확인하면 숫자가 없는 값을 기준과 비교하는 일을 피할 수 있습니다.</a:t>
            </a:r>
          </a:p>
          <a:p xmlns:a="http://schemas.openxmlformats.org/drawingml/2006/main">
            <a:r>
              <a:t/>
            </a:r>
          </a:p>
          <a:p xmlns:a="http://schemas.openxmlformats.org/drawingml/2006/main">
            <a:r>
              <a:t>**왜 필요한가.** 10/8의 미측정을 숫자 0으로 바꾸지 않고 프로그램 안에서도 유지해야 합니다. 미측정·기준 초과·그 밖의 측정을 서로 다른 상태로 구분합니다.</a:t>
            </a:r>
          </a:p>
          <a:p xmlns:a="http://schemas.openxmlformats.org/drawingml/2006/main">
            <a:r>
              <a:t/>
            </a:r>
          </a:p>
          <a:p xmlns:a="http://schemas.openxmlformats.org/drawingml/2006/main">
            <a:r>
              <a:t>**함께 보는 예.** None이면 미측정, 숫자 25.0이면 확인, 24.0이면 정상입니다. 기준은 ‘24.0 초과’이므로 같은 값은 정상 쪽입니다. 숫자 비교는 값이 있는 경우에만 진행됩니다.</a:t>
            </a:r>
          </a:p>
          <a:p xmlns:a="http://schemas.openxmlformats.org/drawingml/2006/main">
            <a:r>
              <a:t/>
            </a:r>
          </a:p>
          <a:p xmlns:a="http://schemas.openxmlformats.org/drawingml/2006/main">
            <a:r>
              <a:t>**헷갈리는 경우.** if not temperature_c처럼 쓰면 0.0도 거짓으로 취급될 수 있어 미측정과 섞일 수 있습니다. 오늘은 값 없음의 정확한 비교인 is None을 사용합니다.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temperature_c = None</a:t>
            </a:r>
          </a:p>
          <a:p xmlns:a="http://schemas.openxmlformats.org/drawingml/2006/main">
            <a:r>
              <a:t>if temperature_c is None:</a:t>
            </a:r>
          </a:p>
          <a:p xmlns:a="http://schemas.openxmlformats.org/drawingml/2006/main">
            <a:r>
              <a:t>    print("미측정")</a:t>
            </a:r>
          </a:p>
          <a:p xmlns:a="http://schemas.openxmlformats.org/drawingml/2006/main">
            <a:r>
              <a:t>elif temperature_c &gt; 24.0:</a:t>
            </a:r>
          </a:p>
          <a:p xmlns:a="http://schemas.openxmlformats.org/drawingml/2006/main">
            <a:r>
              <a:t>    print("확인")</a:t>
            </a:r>
          </a:p>
          <a:p xmlns:a="http://schemas.openxmlformats.org/drawingml/2006/main">
            <a:r>
              <a:t>else:</a:t>
            </a:r>
          </a:p>
          <a:p xmlns:a="http://schemas.openxmlformats.org/drawingml/2006/main">
            <a:r>
              <a:t>    print("정상")</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`temperature_c = None` | 측정값이 없다는 상태를 정합니다. |</a:t>
            </a:r>
          </a:p>
          <a:p xmlns:a="http://schemas.openxmlformats.org/drawingml/2006/main">
            <a:r>
              <a:t>| 2 | `if temperature_c is None:` | 값 없음인지 먼저 확인합니다. |</a:t>
            </a:r>
          </a:p>
          <a:p xmlns:a="http://schemas.openxmlformats.org/drawingml/2006/main">
            <a:r>
              <a:t>| 3 | `    print("미측정")` | 값이 없으면 미측정이라고 출력합니다. |</a:t>
            </a:r>
          </a:p>
          <a:p xmlns:a="http://schemas.openxmlformats.org/drawingml/2006/main">
            <a:r>
              <a:t>| 4 | `elif temperature_c &gt; 24.0:` | 값이 있을 때 기준 초과인지 확인합니다. |</a:t>
            </a:r>
          </a:p>
          <a:p xmlns:a="http://schemas.openxmlformats.org/drawingml/2006/main">
            <a:r>
              <a:t>| 5 | `    print("확인")` | 초과하면 확인을 출력합니다. |</a:t>
            </a:r>
          </a:p>
          <a:p xmlns:a="http://schemas.openxmlformats.org/drawingml/2006/main">
            <a:r>
              <a:t>| 6 | `else:` | 나머지 측정값을 처리합니다. |</a:t>
            </a:r>
          </a:p>
          <a:p xmlns:a="http://schemas.openxmlformats.org/drawingml/2006/main">
            <a:r>
              <a:t>| 7 | `    print("정상")` | 나머지는 정상으로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code/A12_example.py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work/A12_example.py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미측정</a:t>
            </a:r>
          </a:p>
          <a:p xmlns:a="http://schemas.openxmlformats.org/drawingml/2006/main">
            <a:r>
              <a:t>```</a:t>
            </a:r>
          </a:p>
          <a:p xmlns:a="http://schemas.openxmlformats.org/drawingml/2006/main">
            <a:r>
              <a:t/>
            </a:r>
          </a:p>
          <a:p xmlns:a="http://schemas.openxmlformats.org/drawingml/2006/main">
            <a:r>
              <a:t>작은 수정: `temperature_c = None`를 `temperature_c = 0.0`로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정상</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None·0.0·24.0·24.1의 예상 갈래를 표에 씁니다.</a:t>
            </a:r>
          </a:p>
          <a:p xmlns:a="http://schemas.openxmlformats.org/drawingml/2006/main">
            <a:r>
              <a:t>2. 원본에서 미측정 확인이 숫자 비교보다 앞선 이유를 설명합니다.</a:t>
            </a:r>
          </a:p>
          <a:p xmlns:a="http://schemas.openxmlformats.org/drawingml/2006/main">
            <a:r>
              <a:t>3. work 코드에 하나씩 대입해 출력 또는 강사 실행을 대조합니다.</a:t>
            </a:r>
          </a:p>
          <a:p xmlns:a="http://schemas.openxmlformats.org/drawingml/2006/main">
            <a:r>
              <a:t>4. 0.0과 None을 같은 답으로 쓰지 않았는지 확인합니다.</a:t>
            </a:r>
          </a:p>
          <a:p xmlns:a="http://schemas.openxmlformats.org/drawingml/2006/main">
            <a:r>
              <a:t/>
            </a:r>
          </a:p>
          <a:p xmlns:a="http://schemas.openxmlformats.org/drawingml/2006/main">
            <a:r>
              <a:t>예상 결과: 미측정/정상/정상/확인의 순서입니다.</a:t>
            </a:r>
          </a:p>
          <a:p xmlns:a="http://schemas.openxmlformats.org/drawingml/2006/main">
            <a:r>
              <a:t/>
            </a:r>
          </a:p>
          <a:p xmlns:a="http://schemas.openxmlformats.org/drawingml/2006/main">
            <a:r>
              <a:t>확인 질문: None에 직접 &gt; 24.0을 적용하면 어떻게 될까요?</a:t>
            </a:r>
          </a:p>
          <a:p xmlns:a="http://schemas.openxmlformats.org/drawingml/2006/main">
            <a:r>
              <a:t/>
            </a:r>
          </a:p>
          <a:p xmlns:a="http://schemas.openxmlformats.org/drawingml/2006/main">
            <a:r>
              <a:t>막혔을 때: None을 "None"이라는 문자열로 바꾸지 않습니다. 따옴표가 붙으면 다른 값입니다.</a:t>
            </a:r>
          </a:p>
          <a:p xmlns:a="http://schemas.openxmlformats.org/drawingml/2006/main">
            <a:r>
              <a:t/>
            </a:r>
          </a:p>
          <a:p xmlns:a="http://schemas.openxmlformats.org/drawingml/2006/main">
            <a:r>
              <a:t>[활동 자료와 작성칸](practice-guide.md#a12--미측정과-경계값의-세-갈래)에서 A12를 엽니다.</a:t>
            </a:r>
          </a:p>
          <a:p xmlns:a="http://schemas.openxmlformats.org/drawingml/2006/main">
            <a:r>
              <a:t/>
            </a:r>
          </a:p>
          <a:p xmlns:a="http://schemas.openxmlformats.org/drawingml/2006/main">
            <a:r>
              <a:t># 5구간 · 여러 기록을 반복하기</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문장:</a:t>
            </a:r>
          </a:p>
          <a:p xmlns:a="http://schemas.openxmlformats.org/drawingml/2006/main">
            <a:r>
              <a:t>이상은 경계를 포함하고 초과는 제외합니다.</a:t>
            </a:r>
          </a:p>
          <a:p xmlns:a="http://schemas.openxmlformats.org/drawingml/2006/main">
            <a:r>
              <a:t>=는 대입, ==는 같은지 비교입니다.</a:t>
            </a:r>
          </a:p>
          <a:p xmlns:a="http://schemas.openxmlformats.org/drawingml/2006/main">
            <a:r>
              <a:t>경계 아래·경계·경계 위를 확인합니다.</a:t>
            </a:r>
          </a:p>
          <a:p xmlns:a="http://schemas.openxmlformats.org/drawingml/2006/main">
            <a:r>
              <a:t/>
            </a:r>
          </a:p>
          <a:p xmlns:a="http://schemas.openxmlformats.org/drawingml/2006/main">
            <a:r>
              <a:t>관련 교시의 상세 원문:</a:t>
            </a:r>
          </a:p>
          <a:p xmlns:a="http://schemas.openxmlformats.org/drawingml/2006/main">
            <a:r>
              <a:t>### 사례로 이해하기 · 이상과 초과를 업무 문장으로 읽기</a:t>
            </a:r>
          </a:p>
          <a:p xmlns:a="http://schemas.openxmlformats.org/drawingml/2006/main">
            <a:r>
              <a:t/>
            </a:r>
          </a:p>
          <a:p xmlns:a="http://schemas.openxmlformats.org/drawingml/2006/main">
            <a:r>
              <a:t>필수 설명 보충입니다. 강사 시연 → 함께 추적 → 예상과 실제 비교 → 자기 말로 설명 순서로 읽습니다. 아래 독립 문제는 복습·도전이며 기존 50분 필수 경로와 별도로 활용합니다.</a:t>
            </a:r>
          </a:p>
          <a:p xmlns:a="http://schemas.openxmlformats.org/drawingml/2006/main">
            <a:r>
              <a:t/>
            </a:r>
          </a:p>
          <a:p xmlns:a="http://schemas.openxmlformats.org/drawingml/2006/main">
            <a:r>
              <a:t>현장 교육의 수업용 점검 규칙은 ‘인원이 10명 이상이면 큰 실습실을 배정한다’입니다. 이상은 경계값 10을 포함합니다. ‘10명 초과’라고 쓰면 11명부터 포함합니다. 말 한 글자의 차이가 비교 기호와 경계 결과를 바꿉니다. 코드를 먼저 외우지 말고 인원 수를 적은 수직선에서 10에 동그라미를 그리고 포함 여부를 표시합니다. 이 규칙은 강의용 공간 배정 예시이며 실제 기관의 정원 기준이 아닙니다.</a:t>
            </a:r>
          </a:p>
          <a:p xmlns:a="http://schemas.openxmlformats.org/drawingml/2006/main">
            <a:r>
              <a:t/>
            </a:r>
          </a:p>
          <a:p xmlns:a="http://schemas.openxmlformats.org/drawingml/2006/main">
            <a:r>
              <a:t>비교는 질문을 참 또는 거짓으로 답한 값입니다. 9&gt;=10은 False, 10&gt;=10은 True, 11&gt;=10은 True입니다. &gt;는 초과, &gt;=는 이상, &lt;는 미만, &lt;=는 이하를 나타냅니다. ==는 같은지 묻고 =는 값에 이름을 붙입니다. 참이라는 결과가 안전하다는 뜻은 아닙니다. 무엇을 비교했는지에 따라 ‘큰 실습실 대상이다’처럼 구체적인 의미를 붙입니다. 참/거짓과 정상/위험은 업무 규칙을 연결해야 설명할 수 있습니다.</a:t>
            </a:r>
          </a:p>
          <a:p xmlns:a="http://schemas.openxmlformats.org/drawingml/2006/main">
            <a:r>
              <a:t/>
            </a:r>
          </a:p>
          <a:p xmlns:a="http://schemas.openxmlformats.org/drawingml/2006/main">
            <a:r>
              <a:t>그다음 두 갈래 선택을 손으로 추적합니다. 인원 10은 조건이 참이므로 큰 실습실 안내를 선택하고 작은 실습실 안내는 선택하지 않습니다. 인원 9는 조건이 거짓이므로 다른 안내를 선택합니다. 값이 미확인이면 숫자와 비교하기 전에 미확인 갈래로 처리해야 합니다. None을 0으로 바꾸어 작은 방을 정하면 실제 인원 확인이 사라집니다. 최소 검수 표에는 경계 아래 9, 경계 10, 경계 위 11, 미확인 네 사례를 넣습니다. 5와 20만 확인하면 &gt;와 &gt;=를 잘못 골라도 둘 다 통과할 수 있습니다. 예상값은 코드보다 먼저 업무 문장으로 정합니다.</a:t>
            </a:r>
          </a:p>
          <a:p xmlns:a="http://schemas.openxmlformats.org/drawingml/2006/main">
            <a:r>
              <a:t/>
            </a:r>
          </a:p>
          <a:p xmlns:a="http://schemas.openxmlformats.org/drawingml/2006/main">
            <a:r>
              <a:t>### 새 상황에 독립적으로 적용하기</a:t>
            </a:r>
          </a:p>
          <a:p xmlns:a="http://schemas.openxmlformats.org/drawingml/2006/main">
            <a:r>
              <a:t/>
            </a:r>
          </a:p>
          <a:p xmlns:a="http://schemas.openxmlformats.org/drawingml/2006/main">
            <a:r>
              <a:t>복습·도전: 대여 정책은 ‘잔여 수량이 5개 이하이면 보충 요청’입니다. 4, 5, 6, 미확인 네 입력의 결과와 비교 기호를 정하세요. 미확인은 보충 확정 대신 확인 요청으로 처리합니다.</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기호는 &lt;=이며 4와 5는 보충 요청, 6은 요청 없음, 미확인은 확인 요청입니다. &lt;를 고르면 경계 5를 놓칩니다. 미확인을 0으로 채우면 수량을 실제 관찰한 것처럼 처리하는 오답입니다.</a:t>
            </a:r>
          </a:p>
          <a:p xmlns:a="http://schemas.openxmlformats.org/drawingml/2006/main">
            <a:r>
              <a:t/>
            </a:r>
          </a:p>
          <a:p xmlns:a="http://schemas.openxmlformats.org/drawingml/2006/main">
            <a:r>
              <a:t>### 핵심 세 질문과 해설</a:t>
            </a:r>
          </a:p>
          <a:p xmlns:a="http://schemas.openxmlformats.org/drawingml/2006/main">
            <a:r>
              <a:t/>
            </a:r>
          </a:p>
          <a:p xmlns:a="http://schemas.openxmlformats.org/drawingml/2006/main">
            <a:r>
              <a:t>1. **이상과 초과의 차이를 어느 입력으로 보나요?** 경계값 자체를 넣어 포함 여부를 확인합니다.</a:t>
            </a:r>
          </a:p>
          <a:p xmlns:a="http://schemas.openxmlformats.org/drawingml/2006/main">
            <a:r>
              <a:t/>
            </a:r>
          </a:p>
          <a:p xmlns:a="http://schemas.openxmlformats.org/drawingml/2006/main">
            <a:r>
              <a:t>2. **True는 늘 정상인가요?** 질문의 의미에 따라 보충·배정·초과 등 다른 업무 뜻이 됩니다.</a:t>
            </a:r>
          </a:p>
          <a:p xmlns:a="http://schemas.openxmlformats.org/drawingml/2006/main">
            <a:r>
              <a:t/>
            </a:r>
          </a:p>
          <a:p xmlns:a="http://schemas.openxmlformats.org/drawingml/2006/main">
            <a:r>
              <a:t>3. **기대 결과를 실행 뒤 정해도 되나요?** 먼저 업무 문장으로 예상해야 잘못된 결과를 그대로 정답으로 삼지 않습니다.</a:t>
            </a:r>
          </a:p>
          <a:p xmlns:a="http://schemas.openxmlformats.org/drawingml/2006/main">
            <a:r>
              <a:t/>
            </a:r>
          </a:p>
          <a:p xmlns:a="http://schemas.openxmlformats.org/drawingml/2006/main">
            <a:r>
              <a:t/>
            </a:r>
          </a:p>
          <a:p xmlns:a="http://schemas.openxmlformats.org/drawingml/2006/main">
            <a:r>
              <a:t>**개념.** 비교 연산은 두 값의 관계를 물어 True 또는 False를 만듭니다. &gt;는 초과, &gt;=는 이상, ==는 같은지 확인합니다. =는 대입이므로 역할이 다릅니다.</a:t>
            </a:r>
          </a:p>
          <a:p xmlns:a="http://schemas.openxmlformats.org/drawingml/2006/main">
            <a:r>
              <a:t/>
            </a:r>
          </a:p>
          <a:p xmlns:a="http://schemas.openxmlformats.org/drawingml/2006/main">
            <a:r>
              <a:t>**왜 필요한가.** 정책 문구를 코드로 옮길 때 ‘이상’과 ‘초과’를 혼동하면 경계값에서 다른 결과가 나옵니다. 기준과 정확히 같은 입력을 확인해야 차이가 보입니다.</a:t>
            </a:r>
          </a:p>
          <a:p xmlns:a="http://schemas.openxmlformats.org/drawingml/2006/main">
            <a:r>
              <a:t/>
            </a:r>
          </a:p>
          <a:p xmlns:a="http://schemas.openxmlformats.org/drawingml/2006/main">
            <a:r>
              <a:t>**함께 보는 예.** 온도 24.0과 기준 24.0에서 &gt;는 False, &gt;=는 True입니다. 참·거짓은 비교 질문의 답이며 온도 자체가 참이나 거짓이라는 의미가 아닙니다.</a:t>
            </a:r>
          </a:p>
          <a:p xmlns:a="http://schemas.openxmlformats.org/drawingml/2006/main">
            <a:r>
              <a:t/>
            </a:r>
          </a:p>
          <a:p xmlns:a="http://schemas.openxmlformats.org/drawingml/2006/main">
            <a:r>
              <a:t>**헷갈리는 경우.** ‘확인 필요’라는 출력은 이 연습의 입력 점검 규칙입니다. 실제 안전 판단이나 센서 성능을 보증하는 말로 사용하지 않습니다.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temperature_c = 24.0</a:t>
            </a:r>
          </a:p>
          <a:p xmlns:a="http://schemas.openxmlformats.org/drawingml/2006/main">
            <a:r>
              <a:t>limit = 24.0</a:t>
            </a:r>
          </a:p>
          <a:p xmlns:a="http://schemas.openxmlformats.org/drawingml/2006/main">
            <a:r>
              <a:t>print(temperature_c &gt; limit)</a:t>
            </a:r>
          </a:p>
          <a:p xmlns:a="http://schemas.openxmlformats.org/drawingml/2006/main">
            <a:r>
              <a:t>print(temperature_c &gt;= limit)</a:t>
            </a:r>
          </a:p>
          <a:p xmlns:a="http://schemas.openxmlformats.org/drawingml/2006/main">
            <a:r>
              <a:t>print(temperature_c == limit)</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`temperature_c = 24.0` | 비교할 측정값을 정합니다. |</a:t>
            </a:r>
          </a:p>
          <a:p xmlns:a="http://schemas.openxmlformats.org/drawingml/2006/main">
            <a:r>
              <a:t>| 2 | `limit = 24.0` | 수업용 기준을 정합니다. |</a:t>
            </a:r>
          </a:p>
          <a:p xmlns:a="http://schemas.openxmlformats.org/drawingml/2006/main">
            <a:r>
              <a:t>| 3 | `print(temperature_c &gt; limit)` | 기준을 초과했는지 묻습니다. |</a:t>
            </a:r>
          </a:p>
          <a:p xmlns:a="http://schemas.openxmlformats.org/drawingml/2006/main">
            <a:r>
              <a:t>| 4 | `print(temperature_c &gt;= limit)` | 기준 이상인지 묻습니다. |</a:t>
            </a:r>
          </a:p>
          <a:p xmlns:a="http://schemas.openxmlformats.org/drawingml/2006/main">
            <a:r>
              <a:t>| 5 | `print(temperature_c == limit)` | 기준과 같은지 묻습니다.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code/A10_example.py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work/A10_example.py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False</a:t>
            </a:r>
          </a:p>
          <a:p xmlns:a="http://schemas.openxmlformats.org/drawingml/2006/main">
            <a:r>
              <a:t>True</a:t>
            </a:r>
          </a:p>
          <a:p xmlns:a="http://schemas.openxmlformats.org/drawingml/2006/main">
            <a:r>
              <a:t>True</a:t>
            </a:r>
          </a:p>
          <a:p xmlns:a="http://schemas.openxmlformats.org/drawingml/2006/main">
            <a:r>
              <a:t>```</a:t>
            </a:r>
          </a:p>
          <a:p xmlns:a="http://schemas.openxmlformats.org/drawingml/2006/main">
            <a:r>
              <a:t/>
            </a:r>
          </a:p>
          <a:p xmlns:a="http://schemas.openxmlformats.org/drawingml/2006/main">
            <a:r>
              <a:t>작은 수정: `temperature_c = 24.0`를 `temperature_c = 23.9`로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False</a:t>
            </a:r>
          </a:p>
          <a:p xmlns:a="http://schemas.openxmlformats.org/drawingml/2006/main">
            <a:r>
              <a:t>False</a:t>
            </a:r>
          </a:p>
          <a:p xmlns:a="http://schemas.openxmlformats.org/drawingml/2006/main">
            <a:r>
              <a:t>False</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초과·이상·같음의 문장을 기호와 연결합니다.</a:t>
            </a:r>
          </a:p>
          <a:p xmlns:a="http://schemas.openxmlformats.org/drawingml/2006/main">
            <a:r>
              <a:t>2. 기준 아래·같음·위 세 입력에서 True/False를 예상합니다.</a:t>
            </a:r>
          </a:p>
          <a:p xmlns:a="http://schemas.openxmlformats.org/drawingml/2006/main">
            <a:r>
              <a:t>3. 한 번에 온도 한 곳만 바꿔 비교 출력 세 줄을 확인합니다.</a:t>
            </a:r>
          </a:p>
          <a:p xmlns:a="http://schemas.openxmlformats.org/drawingml/2006/main">
            <a:r>
              <a:t>4. 업무 규칙 ‘24.0 이상’에 맞는 기호를 고르고 이유를 씁니다.</a:t>
            </a:r>
          </a:p>
          <a:p xmlns:a="http://schemas.openxmlformats.org/drawingml/2006/main">
            <a:r>
              <a:t/>
            </a:r>
          </a:p>
          <a:p xmlns:a="http://schemas.openxmlformats.org/drawingml/2006/main">
            <a:r>
              <a:t>예상 결과: 같은 값에서 &gt;와 &gt;=의 차이를 설명합니다.</a:t>
            </a:r>
          </a:p>
          <a:p xmlns:a="http://schemas.openxmlformats.org/drawingml/2006/main">
            <a:r>
              <a:t/>
            </a:r>
          </a:p>
          <a:p xmlns:a="http://schemas.openxmlformats.org/drawingml/2006/main">
            <a:r>
              <a:t>확인 질문: 변수에 값을 넣는 =와 비교하는 ==를 같은 기호처럼 쓰면 될까요?</a:t>
            </a:r>
          </a:p>
          <a:p xmlns:a="http://schemas.openxmlformats.org/drawingml/2006/main">
            <a:r>
              <a:t/>
            </a:r>
          </a:p>
          <a:p xmlns:a="http://schemas.openxmlformats.org/drawingml/2006/main">
            <a:r>
              <a:t>막혔을 때: True/False를 외우기보다 ‘왼쪽 값이 오른쪽 기준보다 큰가?’라는 질문을 실제 숫자로 다시 읽습니다.</a:t>
            </a:r>
          </a:p>
          <a:p xmlns:a="http://schemas.openxmlformats.org/drawingml/2006/main">
            <a:r>
              <a:t/>
            </a:r>
          </a:p>
          <a:p xmlns:a="http://schemas.openxmlformats.org/drawingml/2006/main">
            <a:r>
              <a:t>[활동 자료와 작성칸](practice-guide.md#a10--비교-결과는-참-또는-거짓)에서 A10를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50분은 운영 배정이며 실제 학습자 수행시간을 측정한 결과가 아닙니다. 시연 → 함께 수행 → 개별 적용 → 예상과 실제 비교 → 자기 말로 설명 순서로 운영합니다.</a:t>
            </a:r>
          </a:p>
          <a:p xmlns:a="http://schemas.openxmlformats.org/drawingml/2006/main">
            <a:r>
              <a:t/>
            </a:r>
          </a:p>
          <a:p xmlns:a="http://schemas.openxmlformats.org/drawingml/2006/main">
            <a:r>
              <a:t>[활동 A13 상세 원문]</a:t>
            </a:r>
          </a:p>
          <a:p xmlns:a="http://schemas.openxmlformats.org/drawingml/2006/main">
            <a:r>
              <a:t>### 사례로 이해하기 · 목록의 위치와 반복 누적을 함께 추적하기</a:t>
            </a:r>
          </a:p>
          <a:p xmlns:a="http://schemas.openxmlformats.org/drawingml/2006/main">
            <a:r>
              <a:t/>
            </a:r>
          </a:p>
          <a:p xmlns:a="http://schemas.openxmlformats.org/drawingml/2006/main">
            <a:r>
              <a:t>필수 설명 보충입니다. 강사 시연 → 함께 추적 → 예상과 실제 비교 → 자기 말로 설명 순서로 읽습니다. 아래 독립 문제는 복습·도전이며 기존 50분 필수 경로와 별도로 활용합니다.</a:t>
            </a:r>
          </a:p>
          <a:p xmlns:a="http://schemas.openxmlformats.org/drawingml/2006/main">
            <a:r>
              <a:t/>
            </a:r>
          </a:p>
          <a:p xmlns:a="http://schemas.openxmlformats.org/drawingml/2006/main">
            <a:r>
              <a:t>세 배송 상자의 무게가 순서대로 2, 5, 1kg입니다. 목록은 여러 값을 정해진 순서로 묶는 방법입니다. Python의 리스트에서 첫 위치 번호는 0이고 두 번째는 1, 세 번째는 2입니다. 위치 번호는 상자 이름이 아니라 그 목록 안의 순서이므로 정렬하거나 삽입하면 달라질 수 있습니다. 길이 3은 항목 수이며 마지막 위치 번호는 2입니다. 3번째 위치라고 생각해 번호 3으로 읽으면 없는 칸을 찾는 오류가 생깁니다.</a:t>
            </a:r>
          </a:p>
          <a:p xmlns:a="http://schemas.openxmlformats.org/drawingml/2006/main">
            <a:r>
              <a:t/>
            </a:r>
          </a:p>
          <a:p xmlns:a="http://schemas.openxmlformats.org/drawingml/2006/main">
            <a:r>
              <a:t>각 상자의 무게를 합하려면 반복문으로 한 항목씩 읽고 합계의 현재 값을 갱신합니다. 합계는 반복 전에 0으로 시작합니다. 첫 바퀴는 현재 합계 0에 2를 더해 2, 두 번째는 2에 5를 더해 7, 세 번째는 7에 1을 더해 8입니다. 손 추적표에는 바퀴·현재 항목·변경 전 합계·변경 후 합계를 씁니다. 반복 끝의 총합은 8kg입니다. 반복 안에서 매번 합계를 0으로 다시 만들면 2→5→1처럼 마지막 상자만 남을 수 있습니다.</a:t>
            </a:r>
          </a:p>
          <a:p xmlns:a="http://schemas.openxmlformats.org/drawingml/2006/main">
            <a:r>
              <a:t/>
            </a:r>
          </a:p>
          <a:p xmlns:a="http://schemas.openxmlformats.org/drawingml/2006/main">
            <a:r>
              <a:t>또 다른 질문은 ‘4kg 초과인 상자가 몇 개인가’입니다. 첫 2는 조건 거짓이라 건수 0, 다음 5는 참이라 건수 1, 마지막 1은 거짓이라 건수 1입니다. 총무게 8과 초과 상자 수 1은 서로 다른 결과입니다. 누적하는 대상이 무게인지 참인 항목의 개수인지 먼저 정합니다. 반복 본문을 들여쓰는 것은 같은 일을 각 항목에 적용한다는 표시입니다. 완료 안내가 반복 안에 있으면 상자마다 나오고 밖에 있으면 끝에 한 번 나옵니다. 목록이 비어 있으면 바퀴가 없으므로 합계의 초기값과 완료 안내의 위치를 그대로 추적합니다.</a:t>
            </a:r>
          </a:p>
          <a:p xmlns:a="http://schemas.openxmlformats.org/drawingml/2006/main">
            <a:r>
              <a:t/>
            </a:r>
          </a:p>
          <a:p xmlns:a="http://schemas.openxmlformats.org/drawingml/2006/main">
            <a:r>
              <a:t>### 새 상황에 독립적으로 적용하기</a:t>
            </a:r>
          </a:p>
          <a:p xmlns:a="http://schemas.openxmlformats.org/drawingml/2006/main">
            <a:r>
              <a:t/>
            </a:r>
          </a:p>
          <a:p xmlns:a="http://schemas.openxmlformats.org/drawingml/2006/main">
            <a:r>
              <a:t>복습·도전: 주문별 수량 목록은 3, 0, 7, 2입니다. 총수량과 2개 초과 주문 수를 각각 손 추적표로 구하세요. 길이와 마지막 위치 번호, 빈 목록일 때 두 결과도 적으세요.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총수량은 12개이고 초과 주문은 3과 7 두 건입니다. 길이 4, 마지막 번호 3입니다. 빈 목록은 초기 합계 0·건수 0을 유지합니다. 0을 오류라고 임의 삭제하거나 수량 합 12를 주문 건수로 쓰면 서로 다른 질문을 혼동한 것입니다.</a:t>
            </a:r>
          </a:p>
          <a:p xmlns:a="http://schemas.openxmlformats.org/drawingml/2006/main">
            <a:r>
              <a:t/>
            </a:r>
          </a:p>
          <a:p xmlns:a="http://schemas.openxmlformats.org/drawingml/2006/main">
            <a:r>
              <a:t>### 핵심 세 질문과 해설</a:t>
            </a:r>
          </a:p>
          <a:p xmlns:a="http://schemas.openxmlformats.org/drawingml/2006/main">
            <a:r>
              <a:t/>
            </a:r>
          </a:p>
          <a:p xmlns:a="http://schemas.openxmlformats.org/drawingml/2006/main">
            <a:r>
              <a:t>1. **첫 위치가 왜 0인가요?** Python 리스트가 정한 위치 번호 약속이므로 실제 목록을 그 규칙으로 읽습니다.</a:t>
            </a:r>
          </a:p>
          <a:p xmlns:a="http://schemas.openxmlformats.org/drawingml/2006/main">
            <a:r>
              <a:t/>
            </a:r>
          </a:p>
          <a:p xmlns:a="http://schemas.openxmlformats.org/drawingml/2006/main">
            <a:r>
              <a:t>2. **합계 초기화는 어디에 놓나요?** 이전 바퀴 결과를 유지하도록 반복 전에 한 번 놓습니다.</a:t>
            </a:r>
          </a:p>
          <a:p xmlns:a="http://schemas.openxmlformats.org/drawingml/2006/main">
            <a:r>
              <a:t/>
            </a:r>
          </a:p>
          <a:p xmlns:a="http://schemas.openxmlformats.org/drawingml/2006/main">
            <a:r>
              <a:t>3. **길이 4이면 번호 4를 읽나요?** 마지막 번호는 3이며 번호 4는 범위 밖입니다.</a:t>
            </a:r>
          </a:p>
          <a:p xmlns:a="http://schemas.openxmlformats.org/drawingml/2006/main">
            <a:r>
              <a:t/>
            </a:r>
          </a:p>
          <a:p xmlns:a="http://schemas.openxmlformats.org/drawingml/2006/main">
            <a:r>
              <a:t/>
            </a:r>
          </a:p>
          <a:p xmlns:a="http://schemas.openxmlformats.org/drawingml/2006/main">
            <a:r>
              <a:t>**개념.** 리스트는 여러 값을 순서대로 묶는 Python 자료구조입니다. 대괄호로 묶고 쉼표로 항목을 나눕니다. 위치 번호는 0부터 시작하며 len은 항목 개수를 돌려줍니다.</a:t>
            </a:r>
          </a:p>
          <a:p xmlns:a="http://schemas.openxmlformats.org/drawingml/2006/main">
            <a:r>
              <a:t/>
            </a:r>
          </a:p>
          <a:p xmlns:a="http://schemas.openxmlformats.org/drawingml/2006/main">
            <a:r>
              <a:t>**왜 필요한가.** 측정값이 세 개에서 네 개로 늘어날 때 이름을 계속 만드는 대신 하나의 목록으로 다룰 수 있습니다. 10/8에 읽었던 순서 구조를 직접 작은 값 수정으로 연결합니다.</a:t>
            </a:r>
          </a:p>
          <a:p xmlns:a="http://schemas.openxmlformats.org/drawingml/2006/main">
            <a:r>
              <a:t/>
            </a:r>
          </a:p>
          <a:p xmlns:a="http://schemas.openxmlformats.org/drawingml/2006/main">
            <a:r>
              <a:t>**함께 보는 예.** temperatures[0]은 첫 값 22.5이고 len은 3입니다. 마지막 위치 번호는 2이지 3이 아닙니다. 개수와 위치 번호를 서로 다른 질문으로 적습니다.</a:t>
            </a:r>
          </a:p>
          <a:p xmlns:a="http://schemas.openxmlformats.org/drawingml/2006/main">
            <a:r>
              <a:t/>
            </a:r>
          </a:p>
          <a:p xmlns:a="http://schemas.openxmlformats.org/drawingml/2006/main">
            <a:r>
              <a:t>**헷갈리는 경우.** [22.5, 24.0]은 두 값의 목록이고 "22.5, 24.0"은 쉼표가 들어 있는 문자열입니다. 겉에 어떤 괄호나 따옴표가 있는지 확인합니다.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temperatures = [22.5, 24.0, 23.5]</a:t>
            </a:r>
          </a:p>
          <a:p xmlns:a="http://schemas.openxmlformats.org/drawingml/2006/main">
            <a:r>
              <a:t>print(temperatures[0])</a:t>
            </a:r>
          </a:p>
          <a:p xmlns:a="http://schemas.openxmlformats.org/drawingml/2006/main">
            <a:r>
              <a:t>print(len(temperatures))</a:t>
            </a:r>
          </a:p>
          <a:p xmlns:a="http://schemas.openxmlformats.org/drawingml/2006/main">
            <a:r>
              <a:t>temperatures.append(25.0)</a:t>
            </a:r>
          </a:p>
          <a:p xmlns:a="http://schemas.openxmlformats.org/drawingml/2006/main">
            <a:r>
              <a:t>print(len(temperatures))</a:t>
            </a:r>
          </a:p>
          <a:p xmlns:a="http://schemas.openxmlformats.org/drawingml/2006/main">
            <a:r>
              <a:t>print(temperatures[3])</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`temperatures = [22.5, 24.0, 23.5]` | 온도 세 개를 순서대로 묶습니다. |</a:t>
            </a:r>
          </a:p>
          <a:p xmlns:a="http://schemas.openxmlformats.org/drawingml/2006/main">
            <a:r>
              <a:t>| 2 | `print(temperatures[0])` | 첫 값을 읽습니다. |</a:t>
            </a:r>
          </a:p>
          <a:p xmlns:a="http://schemas.openxmlformats.org/drawingml/2006/main">
            <a:r>
              <a:t>| 3 | `print(len(temperatures))` | 현재 개수를 출력합니다. |</a:t>
            </a:r>
          </a:p>
          <a:p xmlns:a="http://schemas.openxmlformats.org/drawingml/2006/main">
            <a:r>
              <a:t>| 4 | `temperatures.append(25.0)` | 목록 끝에 새 값을 덧붙입니다. |</a:t>
            </a:r>
          </a:p>
          <a:p xmlns:a="http://schemas.openxmlformats.org/drawingml/2006/main">
            <a:r>
              <a:t>| 5 | `print(len(temperatures))` | 추가 뒤 개수를 확인합니다. |</a:t>
            </a:r>
          </a:p>
          <a:p xmlns:a="http://schemas.openxmlformats.org/drawingml/2006/main">
            <a:r>
              <a:t>| 6 | `print(temperatures[3])` | 네 번째 값을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code/A13_example.py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work/A13_example.py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22.5</a:t>
            </a:r>
          </a:p>
          <a:p xmlns:a="http://schemas.openxmlformats.org/drawingml/2006/main">
            <a:r>
              <a:t>3</a:t>
            </a:r>
          </a:p>
          <a:p xmlns:a="http://schemas.openxmlformats.org/drawingml/2006/main">
            <a:r>
              <a:t>4</a:t>
            </a:r>
          </a:p>
          <a:p xmlns:a="http://schemas.openxmlformats.org/drawingml/2006/main">
            <a:r>
              <a:t>25.0</a:t>
            </a:r>
          </a:p>
          <a:p xmlns:a="http://schemas.openxmlformats.org/drawingml/2006/main">
            <a:r>
              <a:t>```</a:t>
            </a:r>
          </a:p>
          <a:p xmlns:a="http://schemas.openxmlformats.org/drawingml/2006/main">
            <a:r>
              <a:t/>
            </a:r>
          </a:p>
          <a:p xmlns:a="http://schemas.openxmlformats.org/drawingml/2006/main">
            <a:r>
              <a:t>작은 수정: `append(25.0)`를 `append(26.0)`로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22.5</a:t>
            </a:r>
          </a:p>
          <a:p xmlns:a="http://schemas.openxmlformats.org/drawingml/2006/main">
            <a:r>
              <a:t>3</a:t>
            </a:r>
          </a:p>
          <a:p xmlns:a="http://schemas.openxmlformats.org/drawingml/2006/main">
            <a:r>
              <a:t>4</a:t>
            </a:r>
          </a:p>
          <a:p xmlns:a="http://schemas.openxmlformats.org/drawingml/2006/main">
            <a:r>
              <a:t>26.0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추가 전과 후의 목록을 종이에 그립니다.</a:t>
            </a:r>
          </a:p>
          <a:p xmlns:a="http://schemas.openxmlformats.org/drawingml/2006/main">
            <a:r>
              <a:t>2. 각 위치 번호와 개수를 따로 표시합니다.</a:t>
            </a:r>
          </a:p>
          <a:p xmlns:a="http://schemas.openxmlformats.org/drawingml/2006/main">
            <a:r>
              <a:t>3. 추가할 값을 26.0으로 바꾸고 출력 변화를 예상합니다.</a:t>
            </a:r>
          </a:p>
          <a:p xmlns:a="http://schemas.openxmlformats.org/drawingml/2006/main">
            <a:r>
              <a:t>4. 아직 없는 위치를 읽는 오류 사례를 설명합니다.</a:t>
            </a:r>
          </a:p>
          <a:p xmlns:a="http://schemas.openxmlformats.org/drawingml/2006/main">
            <a:r>
              <a:t/>
            </a:r>
          </a:p>
          <a:p xmlns:a="http://schemas.openxmlformats.org/drawingml/2006/main">
            <a:r>
              <a:t>예상 결과: 추가 후 개수 4, 마지막 값 26.0. 기존 첫 값은 유지됩니다.</a:t>
            </a:r>
          </a:p>
          <a:p xmlns:a="http://schemas.openxmlformats.org/drawingml/2006/main">
            <a:r>
              <a:t/>
            </a:r>
          </a:p>
          <a:p xmlns:a="http://schemas.openxmlformats.org/drawingml/2006/main">
            <a:r>
              <a:t>확인 질문: 값 하나를 수정하는 것과 append로 추가하는 것은 개수에 어떤 차이가 있나요?</a:t>
            </a:r>
          </a:p>
          <a:p xmlns:a="http://schemas.openxmlformats.org/drawingml/2006/main">
            <a:r>
              <a:t/>
            </a:r>
          </a:p>
          <a:p xmlns:a="http://schemas.openxmlformats.org/drawingml/2006/main">
            <a:r>
              <a:t>막혔을 때: IndexError가 나면 읽는 시점의 목록 길이와 위치 번호를 확인합니다. 뒤에서 추가된다고 앞에서 이미 존재하는 것은 아닙니다.</a:t>
            </a:r>
          </a:p>
          <a:p xmlns:a="http://schemas.openxmlformats.org/drawingml/2006/main">
            <a:r>
              <a:t/>
            </a:r>
          </a:p>
          <a:p xmlns:a="http://schemas.openxmlformats.org/drawingml/2006/main">
            <a:r>
              <a:t>[활동 자료와 작성칸](practice-guide.md#a13--리스트와-위치로-여러-값-담기)에서 A13를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제공된 완성 파일의 전체 코드입니다. 압축을 푼 course 폴더의 터미널에서 실행합니다.</a:t>
            </a:r>
          </a:p>
          <a:p xmlns:a="http://schemas.openxmlformats.org/drawingml/2006/main">
            <a:r>
              <a:t>명령: python -X utf8 code/A13_example.py</a:t>
            </a:r>
          </a:p>
          <a:p xmlns:a="http://schemas.openxmlformats.org/drawingml/2006/main">
            <a:r>
              <a:t>작업본은 code 대신 work 경로를 지정합니다. 개인 실행이 막히면 같은 입력으로 수동 추적 후 강사 결과와 비교합니다.</a:t>
            </a:r>
          </a:p>
          <a:p xmlns:a="http://schemas.openxmlformats.org/drawingml/2006/main">
            <a:r>
              <a:t/>
            </a:r>
          </a:p>
          <a:p xmlns:a="http://schemas.openxmlformats.org/drawingml/2006/main">
            <a:r>
              <a:t>[활동 A13 상세 원문]</a:t>
            </a:r>
          </a:p>
          <a:p xmlns:a="http://schemas.openxmlformats.org/drawingml/2006/main">
            <a:r>
              <a:t>### 사례로 이해하기 · 목록의 위치와 반복 누적을 함께 추적하기</a:t>
            </a:r>
          </a:p>
          <a:p xmlns:a="http://schemas.openxmlformats.org/drawingml/2006/main">
            <a:r>
              <a:t/>
            </a:r>
          </a:p>
          <a:p xmlns:a="http://schemas.openxmlformats.org/drawingml/2006/main">
            <a:r>
              <a:t>필수 설명 보충입니다. 강사 시연 → 함께 추적 → 예상과 실제 비교 → 자기 말로 설명 순서로 읽습니다. 아래 독립 문제는 복습·도전이며 기존 50분 필수 경로와 별도로 활용합니다.</a:t>
            </a:r>
          </a:p>
          <a:p xmlns:a="http://schemas.openxmlformats.org/drawingml/2006/main">
            <a:r>
              <a:t/>
            </a:r>
          </a:p>
          <a:p xmlns:a="http://schemas.openxmlformats.org/drawingml/2006/main">
            <a:r>
              <a:t>세 배송 상자의 무게가 순서대로 2, 5, 1kg입니다. 목록은 여러 값을 정해진 순서로 묶는 방법입니다. Python의 리스트에서 첫 위치 번호는 0이고 두 번째는 1, 세 번째는 2입니다. 위치 번호는 상자 이름이 아니라 그 목록 안의 순서이므로 정렬하거나 삽입하면 달라질 수 있습니다. 길이 3은 항목 수이며 마지막 위치 번호는 2입니다. 3번째 위치라고 생각해 번호 3으로 읽으면 없는 칸을 찾는 오류가 생깁니다.</a:t>
            </a:r>
          </a:p>
          <a:p xmlns:a="http://schemas.openxmlformats.org/drawingml/2006/main">
            <a:r>
              <a:t/>
            </a:r>
          </a:p>
          <a:p xmlns:a="http://schemas.openxmlformats.org/drawingml/2006/main">
            <a:r>
              <a:t>각 상자의 무게를 합하려면 반복문으로 한 항목씩 읽고 합계의 현재 값을 갱신합니다. 합계는 반복 전에 0으로 시작합니다. 첫 바퀴는 현재 합계 0에 2를 더해 2, 두 번째는 2에 5를 더해 7, 세 번째는 7에 1을 더해 8입니다. 손 추적표에는 바퀴·현재 항목·변경 전 합계·변경 후 합계를 씁니다. 반복 끝의 총합은 8kg입니다. 반복 안에서 매번 합계를 0으로 다시 만들면 2→5→1처럼 마지막 상자만 남을 수 있습니다.</a:t>
            </a:r>
          </a:p>
          <a:p xmlns:a="http://schemas.openxmlformats.org/drawingml/2006/main">
            <a:r>
              <a:t/>
            </a:r>
          </a:p>
          <a:p xmlns:a="http://schemas.openxmlformats.org/drawingml/2006/main">
            <a:r>
              <a:t>또 다른 질문은 ‘4kg 초과인 상자가 몇 개인가’입니다. 첫 2는 조건 거짓이라 건수 0, 다음 5는 참이라 건수 1, 마지막 1은 거짓이라 건수 1입니다. 총무게 8과 초과 상자 수 1은 서로 다른 결과입니다. 누적하는 대상이 무게인지 참인 항목의 개수인지 먼저 정합니다. 반복 본문을 들여쓰는 것은 같은 일을 각 항목에 적용한다는 표시입니다. 완료 안내가 반복 안에 있으면 상자마다 나오고 밖에 있으면 끝에 한 번 나옵니다. 목록이 비어 있으면 바퀴가 없으므로 합계의 초기값과 완료 안내의 위치를 그대로 추적합니다.</a:t>
            </a:r>
          </a:p>
          <a:p xmlns:a="http://schemas.openxmlformats.org/drawingml/2006/main">
            <a:r>
              <a:t/>
            </a:r>
          </a:p>
          <a:p xmlns:a="http://schemas.openxmlformats.org/drawingml/2006/main">
            <a:r>
              <a:t>### 새 상황에 독립적으로 적용하기</a:t>
            </a:r>
          </a:p>
          <a:p xmlns:a="http://schemas.openxmlformats.org/drawingml/2006/main">
            <a:r>
              <a:t/>
            </a:r>
          </a:p>
          <a:p xmlns:a="http://schemas.openxmlformats.org/drawingml/2006/main">
            <a:r>
              <a:t>복습·도전: 주문별 수량 목록은 3, 0, 7, 2입니다. 총수량과 2개 초과 주문 수를 각각 손 추적표로 구하세요. 길이와 마지막 위치 번호, 빈 목록일 때 두 결과도 적으세요.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총수량은 12개이고 초과 주문은 3과 7 두 건입니다. 길이 4, 마지막 번호 3입니다. 빈 목록은 초기 합계 0·건수 0을 유지합니다. 0을 오류라고 임의 삭제하거나 수량 합 12를 주문 건수로 쓰면 서로 다른 질문을 혼동한 것입니다.</a:t>
            </a:r>
          </a:p>
          <a:p xmlns:a="http://schemas.openxmlformats.org/drawingml/2006/main">
            <a:r>
              <a:t/>
            </a:r>
          </a:p>
          <a:p xmlns:a="http://schemas.openxmlformats.org/drawingml/2006/main">
            <a:r>
              <a:t>### 핵심 세 질문과 해설</a:t>
            </a:r>
          </a:p>
          <a:p xmlns:a="http://schemas.openxmlformats.org/drawingml/2006/main">
            <a:r>
              <a:t/>
            </a:r>
          </a:p>
          <a:p xmlns:a="http://schemas.openxmlformats.org/drawingml/2006/main">
            <a:r>
              <a:t>1. **첫 위치가 왜 0인가요?** Python 리스트가 정한 위치 번호 약속이므로 실제 목록을 그 규칙으로 읽습니다.</a:t>
            </a:r>
          </a:p>
          <a:p xmlns:a="http://schemas.openxmlformats.org/drawingml/2006/main">
            <a:r>
              <a:t/>
            </a:r>
          </a:p>
          <a:p xmlns:a="http://schemas.openxmlformats.org/drawingml/2006/main">
            <a:r>
              <a:t>2. **합계 초기화는 어디에 놓나요?** 이전 바퀴 결과를 유지하도록 반복 전에 한 번 놓습니다.</a:t>
            </a:r>
          </a:p>
          <a:p xmlns:a="http://schemas.openxmlformats.org/drawingml/2006/main">
            <a:r>
              <a:t/>
            </a:r>
          </a:p>
          <a:p xmlns:a="http://schemas.openxmlformats.org/drawingml/2006/main">
            <a:r>
              <a:t>3. **길이 4이면 번호 4를 읽나요?** 마지막 번호는 3이며 번호 4는 범위 밖입니다.</a:t>
            </a:r>
          </a:p>
          <a:p xmlns:a="http://schemas.openxmlformats.org/drawingml/2006/main">
            <a:r>
              <a:t/>
            </a:r>
          </a:p>
          <a:p xmlns:a="http://schemas.openxmlformats.org/drawingml/2006/main">
            <a:r>
              <a:t/>
            </a:r>
          </a:p>
          <a:p xmlns:a="http://schemas.openxmlformats.org/drawingml/2006/main">
            <a:r>
              <a:t>**개념.** 리스트는 여러 값을 순서대로 묶는 Python 자료구조입니다. 대괄호로 묶고 쉼표로 항목을 나눕니다. 위치 번호는 0부터 시작하며 len은 항목 개수를 돌려줍니다.</a:t>
            </a:r>
          </a:p>
          <a:p xmlns:a="http://schemas.openxmlformats.org/drawingml/2006/main">
            <a:r>
              <a:t/>
            </a:r>
          </a:p>
          <a:p xmlns:a="http://schemas.openxmlformats.org/drawingml/2006/main">
            <a:r>
              <a:t>**왜 필요한가.** 측정값이 세 개에서 네 개로 늘어날 때 이름을 계속 만드는 대신 하나의 목록으로 다룰 수 있습니다. 10/8에 읽었던 순서 구조를 직접 작은 값 수정으로 연결합니다.</a:t>
            </a:r>
          </a:p>
          <a:p xmlns:a="http://schemas.openxmlformats.org/drawingml/2006/main">
            <a:r>
              <a:t/>
            </a:r>
          </a:p>
          <a:p xmlns:a="http://schemas.openxmlformats.org/drawingml/2006/main">
            <a:r>
              <a:t>**함께 보는 예.** temperatures[0]은 첫 값 22.5이고 len은 3입니다. 마지막 위치 번호는 2이지 3이 아닙니다. 개수와 위치 번호를 서로 다른 질문으로 적습니다.</a:t>
            </a:r>
          </a:p>
          <a:p xmlns:a="http://schemas.openxmlformats.org/drawingml/2006/main">
            <a:r>
              <a:t/>
            </a:r>
          </a:p>
          <a:p xmlns:a="http://schemas.openxmlformats.org/drawingml/2006/main">
            <a:r>
              <a:t>**헷갈리는 경우.** [22.5, 24.0]은 두 값의 목록이고 "22.5, 24.0"은 쉼표가 들어 있는 문자열입니다. 겉에 어떤 괄호나 따옴표가 있는지 확인합니다.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temperatures = [22.5, 24.0, 23.5]</a:t>
            </a:r>
          </a:p>
          <a:p xmlns:a="http://schemas.openxmlformats.org/drawingml/2006/main">
            <a:r>
              <a:t>print(temperatures[0])</a:t>
            </a:r>
          </a:p>
          <a:p xmlns:a="http://schemas.openxmlformats.org/drawingml/2006/main">
            <a:r>
              <a:t>print(len(temperatures))</a:t>
            </a:r>
          </a:p>
          <a:p xmlns:a="http://schemas.openxmlformats.org/drawingml/2006/main">
            <a:r>
              <a:t>temperatures.append(25.0)</a:t>
            </a:r>
          </a:p>
          <a:p xmlns:a="http://schemas.openxmlformats.org/drawingml/2006/main">
            <a:r>
              <a:t>print(len(temperatures))</a:t>
            </a:r>
          </a:p>
          <a:p xmlns:a="http://schemas.openxmlformats.org/drawingml/2006/main">
            <a:r>
              <a:t>print(temperatures[3])</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`temperatures = [22.5, 24.0, 23.5]` | 온도 세 개를 순서대로 묶습니다. |</a:t>
            </a:r>
          </a:p>
          <a:p xmlns:a="http://schemas.openxmlformats.org/drawingml/2006/main">
            <a:r>
              <a:t>| 2 | `print(temperatures[0])` | 첫 값을 읽습니다. |</a:t>
            </a:r>
          </a:p>
          <a:p xmlns:a="http://schemas.openxmlformats.org/drawingml/2006/main">
            <a:r>
              <a:t>| 3 | `print(len(temperatures))` | 현재 개수를 출력합니다. |</a:t>
            </a:r>
          </a:p>
          <a:p xmlns:a="http://schemas.openxmlformats.org/drawingml/2006/main">
            <a:r>
              <a:t>| 4 | `temperatures.append(25.0)` | 목록 끝에 새 값을 덧붙입니다. |</a:t>
            </a:r>
          </a:p>
          <a:p xmlns:a="http://schemas.openxmlformats.org/drawingml/2006/main">
            <a:r>
              <a:t>| 5 | `print(len(temperatures))` | 추가 뒤 개수를 확인합니다. |</a:t>
            </a:r>
          </a:p>
          <a:p xmlns:a="http://schemas.openxmlformats.org/drawingml/2006/main">
            <a:r>
              <a:t>| 6 | `print(temperatures[3])` | 네 번째 값을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code/A13_example.py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work/A13_example.py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22.5</a:t>
            </a:r>
          </a:p>
          <a:p xmlns:a="http://schemas.openxmlformats.org/drawingml/2006/main">
            <a:r>
              <a:t>3</a:t>
            </a:r>
          </a:p>
          <a:p xmlns:a="http://schemas.openxmlformats.org/drawingml/2006/main">
            <a:r>
              <a:t>4</a:t>
            </a:r>
          </a:p>
          <a:p xmlns:a="http://schemas.openxmlformats.org/drawingml/2006/main">
            <a:r>
              <a:t>25.0</a:t>
            </a:r>
          </a:p>
          <a:p xmlns:a="http://schemas.openxmlformats.org/drawingml/2006/main">
            <a:r>
              <a:t>```</a:t>
            </a:r>
          </a:p>
          <a:p xmlns:a="http://schemas.openxmlformats.org/drawingml/2006/main">
            <a:r>
              <a:t/>
            </a:r>
          </a:p>
          <a:p xmlns:a="http://schemas.openxmlformats.org/drawingml/2006/main">
            <a:r>
              <a:t>작은 수정: `append(25.0)`를 `append(26.0)`로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22.5</a:t>
            </a:r>
          </a:p>
          <a:p xmlns:a="http://schemas.openxmlformats.org/drawingml/2006/main">
            <a:r>
              <a:t>3</a:t>
            </a:r>
          </a:p>
          <a:p xmlns:a="http://schemas.openxmlformats.org/drawingml/2006/main">
            <a:r>
              <a:t>4</a:t>
            </a:r>
          </a:p>
          <a:p xmlns:a="http://schemas.openxmlformats.org/drawingml/2006/main">
            <a:r>
              <a:t>26.0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추가 전과 후의 목록을 종이에 그립니다.</a:t>
            </a:r>
          </a:p>
          <a:p xmlns:a="http://schemas.openxmlformats.org/drawingml/2006/main">
            <a:r>
              <a:t>2. 각 위치 번호와 개수를 따로 표시합니다.</a:t>
            </a:r>
          </a:p>
          <a:p xmlns:a="http://schemas.openxmlformats.org/drawingml/2006/main">
            <a:r>
              <a:t>3. 추가할 값을 26.0으로 바꾸고 출력 변화를 예상합니다.</a:t>
            </a:r>
          </a:p>
          <a:p xmlns:a="http://schemas.openxmlformats.org/drawingml/2006/main">
            <a:r>
              <a:t>4. 아직 없는 위치를 읽는 오류 사례를 설명합니다.</a:t>
            </a:r>
          </a:p>
          <a:p xmlns:a="http://schemas.openxmlformats.org/drawingml/2006/main">
            <a:r>
              <a:t/>
            </a:r>
          </a:p>
          <a:p xmlns:a="http://schemas.openxmlformats.org/drawingml/2006/main">
            <a:r>
              <a:t>예상 결과: 추가 후 개수 4, 마지막 값 26.0. 기존 첫 값은 유지됩니다.</a:t>
            </a:r>
          </a:p>
          <a:p xmlns:a="http://schemas.openxmlformats.org/drawingml/2006/main">
            <a:r>
              <a:t/>
            </a:r>
          </a:p>
          <a:p xmlns:a="http://schemas.openxmlformats.org/drawingml/2006/main">
            <a:r>
              <a:t>확인 질문: 값 하나를 수정하는 것과 append로 추가하는 것은 개수에 어떤 차이가 있나요?</a:t>
            </a:r>
          </a:p>
          <a:p xmlns:a="http://schemas.openxmlformats.org/drawingml/2006/main">
            <a:r>
              <a:t/>
            </a:r>
          </a:p>
          <a:p xmlns:a="http://schemas.openxmlformats.org/drawingml/2006/main">
            <a:r>
              <a:t>막혔을 때: IndexError가 나면 읽는 시점의 목록 길이와 위치 번호를 확인합니다. 뒤에서 추가된다고 앞에서 이미 존재하는 것은 아닙니다.</a:t>
            </a:r>
          </a:p>
          <a:p xmlns:a="http://schemas.openxmlformats.org/drawingml/2006/main">
            <a:r>
              <a:t/>
            </a:r>
          </a:p>
          <a:p xmlns:a="http://schemas.openxmlformats.org/drawingml/2006/main">
            <a:r>
              <a:t>[활동 자료와 작성칸](practice-guide.md#a13--리스트와-위치로-여러-값-담기)에서 A13를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A13 상세 원문]</a:t>
            </a:r>
          </a:p>
          <a:p xmlns:a="http://schemas.openxmlformats.org/drawingml/2006/main">
            <a:r>
              <a:t>### 사례로 이해하기 · 목록의 위치와 반복 누적을 함께 추적하기</a:t>
            </a:r>
          </a:p>
          <a:p xmlns:a="http://schemas.openxmlformats.org/drawingml/2006/main">
            <a:r>
              <a:t/>
            </a:r>
          </a:p>
          <a:p xmlns:a="http://schemas.openxmlformats.org/drawingml/2006/main">
            <a:r>
              <a:t>필수 설명 보충입니다. 강사 시연 → 함께 추적 → 예상과 실제 비교 → 자기 말로 설명 순서로 읽습니다. 아래 독립 문제는 복습·도전이며 기존 50분 필수 경로와 별도로 활용합니다.</a:t>
            </a:r>
          </a:p>
          <a:p xmlns:a="http://schemas.openxmlformats.org/drawingml/2006/main">
            <a:r>
              <a:t/>
            </a:r>
          </a:p>
          <a:p xmlns:a="http://schemas.openxmlformats.org/drawingml/2006/main">
            <a:r>
              <a:t>세 배송 상자의 무게가 순서대로 2, 5, 1kg입니다. 목록은 여러 값을 정해진 순서로 묶는 방법입니다. Python의 리스트에서 첫 위치 번호는 0이고 두 번째는 1, 세 번째는 2입니다. 위치 번호는 상자 이름이 아니라 그 목록 안의 순서이므로 정렬하거나 삽입하면 달라질 수 있습니다. 길이 3은 항목 수이며 마지막 위치 번호는 2입니다. 3번째 위치라고 생각해 번호 3으로 읽으면 없는 칸을 찾는 오류가 생깁니다.</a:t>
            </a:r>
          </a:p>
          <a:p xmlns:a="http://schemas.openxmlformats.org/drawingml/2006/main">
            <a:r>
              <a:t/>
            </a:r>
          </a:p>
          <a:p xmlns:a="http://schemas.openxmlformats.org/drawingml/2006/main">
            <a:r>
              <a:t>각 상자의 무게를 합하려면 반복문으로 한 항목씩 읽고 합계의 현재 값을 갱신합니다. 합계는 반복 전에 0으로 시작합니다. 첫 바퀴는 현재 합계 0에 2를 더해 2, 두 번째는 2에 5를 더해 7, 세 번째는 7에 1을 더해 8입니다. 손 추적표에는 바퀴·현재 항목·변경 전 합계·변경 후 합계를 씁니다. 반복 끝의 총합은 8kg입니다. 반복 안에서 매번 합계를 0으로 다시 만들면 2→5→1처럼 마지막 상자만 남을 수 있습니다.</a:t>
            </a:r>
          </a:p>
          <a:p xmlns:a="http://schemas.openxmlformats.org/drawingml/2006/main">
            <a:r>
              <a:t/>
            </a:r>
          </a:p>
          <a:p xmlns:a="http://schemas.openxmlformats.org/drawingml/2006/main">
            <a:r>
              <a:t>또 다른 질문은 ‘4kg 초과인 상자가 몇 개인가’입니다. 첫 2는 조건 거짓이라 건수 0, 다음 5는 참이라 건수 1, 마지막 1은 거짓이라 건수 1입니다. 총무게 8과 초과 상자 수 1은 서로 다른 결과입니다. 누적하는 대상이 무게인지 참인 항목의 개수인지 먼저 정합니다. 반복 본문을 들여쓰는 것은 같은 일을 각 항목에 적용한다는 표시입니다. 완료 안내가 반복 안에 있으면 상자마다 나오고 밖에 있으면 끝에 한 번 나옵니다. 목록이 비어 있으면 바퀴가 없으므로 합계의 초기값과 완료 안내의 위치를 그대로 추적합니다.</a:t>
            </a:r>
          </a:p>
          <a:p xmlns:a="http://schemas.openxmlformats.org/drawingml/2006/main">
            <a:r>
              <a:t/>
            </a:r>
          </a:p>
          <a:p xmlns:a="http://schemas.openxmlformats.org/drawingml/2006/main">
            <a:r>
              <a:t>### 새 상황에 독립적으로 적용하기</a:t>
            </a:r>
          </a:p>
          <a:p xmlns:a="http://schemas.openxmlformats.org/drawingml/2006/main">
            <a:r>
              <a:t/>
            </a:r>
          </a:p>
          <a:p xmlns:a="http://schemas.openxmlformats.org/drawingml/2006/main">
            <a:r>
              <a:t>복습·도전: 주문별 수량 목록은 3, 0, 7, 2입니다. 총수량과 2개 초과 주문 수를 각각 손 추적표로 구하세요. 길이와 마지막 위치 번호, 빈 목록일 때 두 결과도 적으세요.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총수량은 12개이고 초과 주문은 3과 7 두 건입니다. 길이 4, 마지막 번호 3입니다. 빈 목록은 초기 합계 0·건수 0을 유지합니다. 0을 오류라고 임의 삭제하거나 수량 합 12를 주문 건수로 쓰면 서로 다른 질문을 혼동한 것입니다.</a:t>
            </a:r>
          </a:p>
          <a:p xmlns:a="http://schemas.openxmlformats.org/drawingml/2006/main">
            <a:r>
              <a:t/>
            </a:r>
          </a:p>
          <a:p xmlns:a="http://schemas.openxmlformats.org/drawingml/2006/main">
            <a:r>
              <a:t>### 핵심 세 질문과 해설</a:t>
            </a:r>
          </a:p>
          <a:p xmlns:a="http://schemas.openxmlformats.org/drawingml/2006/main">
            <a:r>
              <a:t/>
            </a:r>
          </a:p>
          <a:p xmlns:a="http://schemas.openxmlformats.org/drawingml/2006/main">
            <a:r>
              <a:t>1. **첫 위치가 왜 0인가요?** Python 리스트가 정한 위치 번호 약속이므로 실제 목록을 그 규칙으로 읽습니다.</a:t>
            </a:r>
          </a:p>
          <a:p xmlns:a="http://schemas.openxmlformats.org/drawingml/2006/main">
            <a:r>
              <a:t/>
            </a:r>
          </a:p>
          <a:p xmlns:a="http://schemas.openxmlformats.org/drawingml/2006/main">
            <a:r>
              <a:t>2. **합계 초기화는 어디에 놓나요?** 이전 바퀴 결과를 유지하도록 반복 전에 한 번 놓습니다.</a:t>
            </a:r>
          </a:p>
          <a:p xmlns:a="http://schemas.openxmlformats.org/drawingml/2006/main">
            <a:r>
              <a:t/>
            </a:r>
          </a:p>
          <a:p xmlns:a="http://schemas.openxmlformats.org/drawingml/2006/main">
            <a:r>
              <a:t>3. **길이 4이면 번호 4를 읽나요?** 마지막 번호는 3이며 번호 4는 범위 밖입니다.</a:t>
            </a:r>
          </a:p>
          <a:p xmlns:a="http://schemas.openxmlformats.org/drawingml/2006/main">
            <a:r>
              <a:t/>
            </a:r>
          </a:p>
          <a:p xmlns:a="http://schemas.openxmlformats.org/drawingml/2006/main">
            <a:r>
              <a:t/>
            </a:r>
          </a:p>
          <a:p xmlns:a="http://schemas.openxmlformats.org/drawingml/2006/main">
            <a:r>
              <a:t>**개념.** 리스트는 여러 값을 순서대로 묶는 Python 자료구조입니다. 대괄호로 묶고 쉼표로 항목을 나눕니다. 위치 번호는 0부터 시작하며 len은 항목 개수를 돌려줍니다.</a:t>
            </a:r>
          </a:p>
          <a:p xmlns:a="http://schemas.openxmlformats.org/drawingml/2006/main">
            <a:r>
              <a:t/>
            </a:r>
          </a:p>
          <a:p xmlns:a="http://schemas.openxmlformats.org/drawingml/2006/main">
            <a:r>
              <a:t>**왜 필요한가.** 측정값이 세 개에서 네 개로 늘어날 때 이름을 계속 만드는 대신 하나의 목록으로 다룰 수 있습니다. 10/8에 읽었던 순서 구조를 직접 작은 값 수정으로 연결합니다.</a:t>
            </a:r>
          </a:p>
          <a:p xmlns:a="http://schemas.openxmlformats.org/drawingml/2006/main">
            <a:r>
              <a:t/>
            </a:r>
          </a:p>
          <a:p xmlns:a="http://schemas.openxmlformats.org/drawingml/2006/main">
            <a:r>
              <a:t>**함께 보는 예.** temperatures[0]은 첫 값 22.5이고 len은 3입니다. 마지막 위치 번호는 2이지 3이 아닙니다. 개수와 위치 번호를 서로 다른 질문으로 적습니다.</a:t>
            </a:r>
          </a:p>
          <a:p xmlns:a="http://schemas.openxmlformats.org/drawingml/2006/main">
            <a:r>
              <a:t/>
            </a:r>
          </a:p>
          <a:p xmlns:a="http://schemas.openxmlformats.org/drawingml/2006/main">
            <a:r>
              <a:t>**헷갈리는 경우.** [22.5, 24.0]은 두 값의 목록이고 "22.5, 24.0"은 쉼표가 들어 있는 문자열입니다. 겉에 어떤 괄호나 따옴표가 있는지 확인합니다.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temperatures = [22.5, 24.0, 23.5]</a:t>
            </a:r>
          </a:p>
          <a:p xmlns:a="http://schemas.openxmlformats.org/drawingml/2006/main">
            <a:r>
              <a:t>print(temperatures[0])</a:t>
            </a:r>
          </a:p>
          <a:p xmlns:a="http://schemas.openxmlformats.org/drawingml/2006/main">
            <a:r>
              <a:t>print(len(temperatures))</a:t>
            </a:r>
          </a:p>
          <a:p xmlns:a="http://schemas.openxmlformats.org/drawingml/2006/main">
            <a:r>
              <a:t>temperatures.append(25.0)</a:t>
            </a:r>
          </a:p>
          <a:p xmlns:a="http://schemas.openxmlformats.org/drawingml/2006/main">
            <a:r>
              <a:t>print(len(temperatures))</a:t>
            </a:r>
          </a:p>
          <a:p xmlns:a="http://schemas.openxmlformats.org/drawingml/2006/main">
            <a:r>
              <a:t>print(temperatures[3])</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`temperatures = [22.5, 24.0, 23.5]` | 온도 세 개를 순서대로 묶습니다. |</a:t>
            </a:r>
          </a:p>
          <a:p xmlns:a="http://schemas.openxmlformats.org/drawingml/2006/main">
            <a:r>
              <a:t>| 2 | `print(temperatures[0])` | 첫 값을 읽습니다. |</a:t>
            </a:r>
          </a:p>
          <a:p xmlns:a="http://schemas.openxmlformats.org/drawingml/2006/main">
            <a:r>
              <a:t>| 3 | `print(len(temperatures))` | 현재 개수를 출력합니다. |</a:t>
            </a:r>
          </a:p>
          <a:p xmlns:a="http://schemas.openxmlformats.org/drawingml/2006/main">
            <a:r>
              <a:t>| 4 | `temperatures.append(25.0)` | 목록 끝에 새 값을 덧붙입니다. |</a:t>
            </a:r>
          </a:p>
          <a:p xmlns:a="http://schemas.openxmlformats.org/drawingml/2006/main">
            <a:r>
              <a:t>| 5 | `print(len(temperatures))` | 추가 뒤 개수를 확인합니다. |</a:t>
            </a:r>
          </a:p>
          <a:p xmlns:a="http://schemas.openxmlformats.org/drawingml/2006/main">
            <a:r>
              <a:t>| 6 | `print(temperatures[3])` | 네 번째 값을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code/A13_example.py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work/A13_example.py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22.5</a:t>
            </a:r>
          </a:p>
          <a:p xmlns:a="http://schemas.openxmlformats.org/drawingml/2006/main">
            <a:r>
              <a:t>3</a:t>
            </a:r>
          </a:p>
          <a:p xmlns:a="http://schemas.openxmlformats.org/drawingml/2006/main">
            <a:r>
              <a:t>4</a:t>
            </a:r>
          </a:p>
          <a:p xmlns:a="http://schemas.openxmlformats.org/drawingml/2006/main">
            <a:r>
              <a:t>25.0</a:t>
            </a:r>
          </a:p>
          <a:p xmlns:a="http://schemas.openxmlformats.org/drawingml/2006/main">
            <a:r>
              <a:t>```</a:t>
            </a:r>
          </a:p>
          <a:p xmlns:a="http://schemas.openxmlformats.org/drawingml/2006/main">
            <a:r>
              <a:t/>
            </a:r>
          </a:p>
          <a:p xmlns:a="http://schemas.openxmlformats.org/drawingml/2006/main">
            <a:r>
              <a:t>작은 수정: `append(25.0)`를 `append(26.0)`로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22.5</a:t>
            </a:r>
          </a:p>
          <a:p xmlns:a="http://schemas.openxmlformats.org/drawingml/2006/main">
            <a:r>
              <a:t>3</a:t>
            </a:r>
          </a:p>
          <a:p xmlns:a="http://schemas.openxmlformats.org/drawingml/2006/main">
            <a:r>
              <a:t>4</a:t>
            </a:r>
          </a:p>
          <a:p xmlns:a="http://schemas.openxmlformats.org/drawingml/2006/main">
            <a:r>
              <a:t>26.0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추가 전과 후의 목록을 종이에 그립니다.</a:t>
            </a:r>
          </a:p>
          <a:p xmlns:a="http://schemas.openxmlformats.org/drawingml/2006/main">
            <a:r>
              <a:t>2. 각 위치 번호와 개수를 따로 표시합니다.</a:t>
            </a:r>
          </a:p>
          <a:p xmlns:a="http://schemas.openxmlformats.org/drawingml/2006/main">
            <a:r>
              <a:t>3. 추가할 값을 26.0으로 바꾸고 출력 변화를 예상합니다.</a:t>
            </a:r>
          </a:p>
          <a:p xmlns:a="http://schemas.openxmlformats.org/drawingml/2006/main">
            <a:r>
              <a:t>4. 아직 없는 위치를 읽는 오류 사례를 설명합니다.</a:t>
            </a:r>
          </a:p>
          <a:p xmlns:a="http://schemas.openxmlformats.org/drawingml/2006/main">
            <a:r>
              <a:t/>
            </a:r>
          </a:p>
          <a:p xmlns:a="http://schemas.openxmlformats.org/drawingml/2006/main">
            <a:r>
              <a:t>예상 결과: 추가 후 개수 4, 마지막 값 26.0. 기존 첫 값은 유지됩니다.</a:t>
            </a:r>
          </a:p>
          <a:p xmlns:a="http://schemas.openxmlformats.org/drawingml/2006/main">
            <a:r>
              <a:t/>
            </a:r>
          </a:p>
          <a:p xmlns:a="http://schemas.openxmlformats.org/drawingml/2006/main">
            <a:r>
              <a:t>확인 질문: 값 하나를 수정하는 것과 append로 추가하는 것은 개수에 어떤 차이가 있나요?</a:t>
            </a:r>
          </a:p>
          <a:p xmlns:a="http://schemas.openxmlformats.org/drawingml/2006/main">
            <a:r>
              <a:t/>
            </a:r>
          </a:p>
          <a:p xmlns:a="http://schemas.openxmlformats.org/drawingml/2006/main">
            <a:r>
              <a:t>막혔을 때: IndexError가 나면 읽는 시점의 목록 길이와 위치 번호를 확인합니다. 뒤에서 추가된다고 앞에서 이미 존재하는 것은 아닙니다.</a:t>
            </a:r>
          </a:p>
          <a:p xmlns:a="http://schemas.openxmlformats.org/drawingml/2006/main">
            <a:r>
              <a:t/>
            </a:r>
          </a:p>
          <a:p xmlns:a="http://schemas.openxmlformats.org/drawingml/2006/main">
            <a:r>
              <a:t>[활동 자료와 작성칸](practice-guide.md#a13--리스트와-위치로-여러-값-담기)에서 A13를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A13 상세 원문]</a:t>
            </a:r>
          </a:p>
          <a:p xmlns:a="http://schemas.openxmlformats.org/drawingml/2006/main">
            <a:r>
              <a:t>### 사례로 이해하기 · 목록의 위치와 반복 누적을 함께 추적하기</a:t>
            </a:r>
          </a:p>
          <a:p xmlns:a="http://schemas.openxmlformats.org/drawingml/2006/main">
            <a:r>
              <a:t/>
            </a:r>
          </a:p>
          <a:p xmlns:a="http://schemas.openxmlformats.org/drawingml/2006/main">
            <a:r>
              <a:t>필수 설명 보충입니다. 강사 시연 → 함께 추적 → 예상과 실제 비교 → 자기 말로 설명 순서로 읽습니다. 아래 독립 문제는 복습·도전이며 기존 50분 필수 경로와 별도로 활용합니다.</a:t>
            </a:r>
          </a:p>
          <a:p xmlns:a="http://schemas.openxmlformats.org/drawingml/2006/main">
            <a:r>
              <a:t/>
            </a:r>
          </a:p>
          <a:p xmlns:a="http://schemas.openxmlformats.org/drawingml/2006/main">
            <a:r>
              <a:t>세 배송 상자의 무게가 순서대로 2, 5, 1kg입니다. 목록은 여러 값을 정해진 순서로 묶는 방법입니다. Python의 리스트에서 첫 위치 번호는 0이고 두 번째는 1, 세 번째는 2입니다. 위치 번호는 상자 이름이 아니라 그 목록 안의 순서이므로 정렬하거나 삽입하면 달라질 수 있습니다. 길이 3은 항목 수이며 마지막 위치 번호는 2입니다. 3번째 위치라고 생각해 번호 3으로 읽으면 없는 칸을 찾는 오류가 생깁니다.</a:t>
            </a:r>
          </a:p>
          <a:p xmlns:a="http://schemas.openxmlformats.org/drawingml/2006/main">
            <a:r>
              <a:t/>
            </a:r>
          </a:p>
          <a:p xmlns:a="http://schemas.openxmlformats.org/drawingml/2006/main">
            <a:r>
              <a:t>각 상자의 무게를 합하려면 반복문으로 한 항목씩 읽고 합계의 현재 값을 갱신합니다. 합계는 반복 전에 0으로 시작합니다. 첫 바퀴는 현재 합계 0에 2를 더해 2, 두 번째는 2에 5를 더해 7, 세 번째는 7에 1을 더해 8입니다. 손 추적표에는 바퀴·현재 항목·변경 전 합계·변경 후 합계를 씁니다. 반복 끝의 총합은 8kg입니다. 반복 안에서 매번 합계를 0으로 다시 만들면 2→5→1처럼 마지막 상자만 남을 수 있습니다.</a:t>
            </a:r>
          </a:p>
          <a:p xmlns:a="http://schemas.openxmlformats.org/drawingml/2006/main">
            <a:r>
              <a:t/>
            </a:r>
          </a:p>
          <a:p xmlns:a="http://schemas.openxmlformats.org/drawingml/2006/main">
            <a:r>
              <a:t>또 다른 질문은 ‘4kg 초과인 상자가 몇 개인가’입니다. 첫 2는 조건 거짓이라 건수 0, 다음 5는 참이라 건수 1, 마지막 1은 거짓이라 건수 1입니다. 총무게 8과 초과 상자 수 1은 서로 다른 결과입니다. 누적하는 대상이 무게인지 참인 항목의 개수인지 먼저 정합니다. 반복 본문을 들여쓰는 것은 같은 일을 각 항목에 적용한다는 표시입니다. 완료 안내가 반복 안에 있으면 상자마다 나오고 밖에 있으면 끝에 한 번 나옵니다. 목록이 비어 있으면 바퀴가 없으므로 합계의 초기값과 완료 안내의 위치를 그대로 추적합니다.</a:t>
            </a:r>
          </a:p>
          <a:p xmlns:a="http://schemas.openxmlformats.org/drawingml/2006/main">
            <a:r>
              <a:t/>
            </a:r>
          </a:p>
          <a:p xmlns:a="http://schemas.openxmlformats.org/drawingml/2006/main">
            <a:r>
              <a:t>### 새 상황에 독립적으로 적용하기</a:t>
            </a:r>
          </a:p>
          <a:p xmlns:a="http://schemas.openxmlformats.org/drawingml/2006/main">
            <a:r>
              <a:t/>
            </a:r>
          </a:p>
          <a:p xmlns:a="http://schemas.openxmlformats.org/drawingml/2006/main">
            <a:r>
              <a:t>복습·도전: 주문별 수량 목록은 3, 0, 7, 2입니다. 총수량과 2개 초과 주문 수를 각각 손 추적표로 구하세요. 길이와 마지막 위치 번호, 빈 목록일 때 두 결과도 적으세요.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총수량은 12개이고 초과 주문은 3과 7 두 건입니다. 길이 4, 마지막 번호 3입니다. 빈 목록은 초기 합계 0·건수 0을 유지합니다. 0을 오류라고 임의 삭제하거나 수량 합 12를 주문 건수로 쓰면 서로 다른 질문을 혼동한 것입니다.</a:t>
            </a:r>
          </a:p>
          <a:p xmlns:a="http://schemas.openxmlformats.org/drawingml/2006/main">
            <a:r>
              <a:t/>
            </a:r>
          </a:p>
          <a:p xmlns:a="http://schemas.openxmlformats.org/drawingml/2006/main">
            <a:r>
              <a:t>### 핵심 세 질문과 해설</a:t>
            </a:r>
          </a:p>
          <a:p xmlns:a="http://schemas.openxmlformats.org/drawingml/2006/main">
            <a:r>
              <a:t/>
            </a:r>
          </a:p>
          <a:p xmlns:a="http://schemas.openxmlformats.org/drawingml/2006/main">
            <a:r>
              <a:t>1. **첫 위치가 왜 0인가요?** Python 리스트가 정한 위치 번호 약속이므로 실제 목록을 그 규칙으로 읽습니다.</a:t>
            </a:r>
          </a:p>
          <a:p xmlns:a="http://schemas.openxmlformats.org/drawingml/2006/main">
            <a:r>
              <a:t/>
            </a:r>
          </a:p>
          <a:p xmlns:a="http://schemas.openxmlformats.org/drawingml/2006/main">
            <a:r>
              <a:t>2. **합계 초기화는 어디에 놓나요?** 이전 바퀴 결과를 유지하도록 반복 전에 한 번 놓습니다.</a:t>
            </a:r>
          </a:p>
          <a:p xmlns:a="http://schemas.openxmlformats.org/drawingml/2006/main">
            <a:r>
              <a:t/>
            </a:r>
          </a:p>
          <a:p xmlns:a="http://schemas.openxmlformats.org/drawingml/2006/main">
            <a:r>
              <a:t>3. **길이 4이면 번호 4를 읽나요?** 마지막 번호는 3이며 번호 4는 범위 밖입니다.</a:t>
            </a:r>
          </a:p>
          <a:p xmlns:a="http://schemas.openxmlformats.org/drawingml/2006/main">
            <a:r>
              <a:t/>
            </a:r>
          </a:p>
          <a:p xmlns:a="http://schemas.openxmlformats.org/drawingml/2006/main">
            <a:r>
              <a:t/>
            </a:r>
          </a:p>
          <a:p xmlns:a="http://schemas.openxmlformats.org/drawingml/2006/main">
            <a:r>
              <a:t>**개념.** 리스트는 여러 값을 순서대로 묶는 Python 자료구조입니다. 대괄호로 묶고 쉼표로 항목을 나눕니다. 위치 번호는 0부터 시작하며 len은 항목 개수를 돌려줍니다.</a:t>
            </a:r>
          </a:p>
          <a:p xmlns:a="http://schemas.openxmlformats.org/drawingml/2006/main">
            <a:r>
              <a:t/>
            </a:r>
          </a:p>
          <a:p xmlns:a="http://schemas.openxmlformats.org/drawingml/2006/main">
            <a:r>
              <a:t>**왜 필요한가.** 측정값이 세 개에서 네 개로 늘어날 때 이름을 계속 만드는 대신 하나의 목록으로 다룰 수 있습니다. 10/8에 읽었던 순서 구조를 직접 작은 값 수정으로 연결합니다.</a:t>
            </a:r>
          </a:p>
          <a:p xmlns:a="http://schemas.openxmlformats.org/drawingml/2006/main">
            <a:r>
              <a:t/>
            </a:r>
          </a:p>
          <a:p xmlns:a="http://schemas.openxmlformats.org/drawingml/2006/main">
            <a:r>
              <a:t>**함께 보는 예.** temperatures[0]은 첫 값 22.5이고 len은 3입니다. 마지막 위치 번호는 2이지 3이 아닙니다. 개수와 위치 번호를 서로 다른 질문으로 적습니다.</a:t>
            </a:r>
          </a:p>
          <a:p xmlns:a="http://schemas.openxmlformats.org/drawingml/2006/main">
            <a:r>
              <a:t/>
            </a:r>
          </a:p>
          <a:p xmlns:a="http://schemas.openxmlformats.org/drawingml/2006/main">
            <a:r>
              <a:t>**헷갈리는 경우.** [22.5, 24.0]은 두 값의 목록이고 "22.5, 24.0"은 쉼표가 들어 있는 문자열입니다. 겉에 어떤 괄호나 따옴표가 있는지 확인합니다.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temperatures = [22.5, 24.0, 23.5]</a:t>
            </a:r>
          </a:p>
          <a:p xmlns:a="http://schemas.openxmlformats.org/drawingml/2006/main">
            <a:r>
              <a:t>print(temperatures[0])</a:t>
            </a:r>
          </a:p>
          <a:p xmlns:a="http://schemas.openxmlformats.org/drawingml/2006/main">
            <a:r>
              <a:t>print(len(temperatures))</a:t>
            </a:r>
          </a:p>
          <a:p xmlns:a="http://schemas.openxmlformats.org/drawingml/2006/main">
            <a:r>
              <a:t>temperatures.append(25.0)</a:t>
            </a:r>
          </a:p>
          <a:p xmlns:a="http://schemas.openxmlformats.org/drawingml/2006/main">
            <a:r>
              <a:t>print(len(temperatures))</a:t>
            </a:r>
          </a:p>
          <a:p xmlns:a="http://schemas.openxmlformats.org/drawingml/2006/main">
            <a:r>
              <a:t>print(temperatures[3])</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`temperatures = [22.5, 24.0, 23.5]` | 온도 세 개를 순서대로 묶습니다. |</a:t>
            </a:r>
          </a:p>
          <a:p xmlns:a="http://schemas.openxmlformats.org/drawingml/2006/main">
            <a:r>
              <a:t>| 2 | `print(temperatures[0])` | 첫 값을 읽습니다. |</a:t>
            </a:r>
          </a:p>
          <a:p xmlns:a="http://schemas.openxmlformats.org/drawingml/2006/main">
            <a:r>
              <a:t>| 3 | `print(len(temperatures))` | 현재 개수를 출력합니다. |</a:t>
            </a:r>
          </a:p>
          <a:p xmlns:a="http://schemas.openxmlformats.org/drawingml/2006/main">
            <a:r>
              <a:t>| 4 | `temperatures.append(25.0)` | 목록 끝에 새 값을 덧붙입니다. |</a:t>
            </a:r>
          </a:p>
          <a:p xmlns:a="http://schemas.openxmlformats.org/drawingml/2006/main">
            <a:r>
              <a:t>| 5 | `print(len(temperatures))` | 추가 뒤 개수를 확인합니다. |</a:t>
            </a:r>
          </a:p>
          <a:p xmlns:a="http://schemas.openxmlformats.org/drawingml/2006/main">
            <a:r>
              <a:t>| 6 | `print(temperatures[3])` | 네 번째 값을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code/A13_example.py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work/A13_example.py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22.5</a:t>
            </a:r>
          </a:p>
          <a:p xmlns:a="http://schemas.openxmlformats.org/drawingml/2006/main">
            <a:r>
              <a:t>3</a:t>
            </a:r>
          </a:p>
          <a:p xmlns:a="http://schemas.openxmlformats.org/drawingml/2006/main">
            <a:r>
              <a:t>4</a:t>
            </a:r>
          </a:p>
          <a:p xmlns:a="http://schemas.openxmlformats.org/drawingml/2006/main">
            <a:r>
              <a:t>25.0</a:t>
            </a:r>
          </a:p>
          <a:p xmlns:a="http://schemas.openxmlformats.org/drawingml/2006/main">
            <a:r>
              <a:t>```</a:t>
            </a:r>
          </a:p>
          <a:p xmlns:a="http://schemas.openxmlformats.org/drawingml/2006/main">
            <a:r>
              <a:t/>
            </a:r>
          </a:p>
          <a:p xmlns:a="http://schemas.openxmlformats.org/drawingml/2006/main">
            <a:r>
              <a:t>작은 수정: `append(25.0)`를 `append(26.0)`로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22.5</a:t>
            </a:r>
          </a:p>
          <a:p xmlns:a="http://schemas.openxmlformats.org/drawingml/2006/main">
            <a:r>
              <a:t>3</a:t>
            </a:r>
          </a:p>
          <a:p xmlns:a="http://schemas.openxmlformats.org/drawingml/2006/main">
            <a:r>
              <a:t>4</a:t>
            </a:r>
          </a:p>
          <a:p xmlns:a="http://schemas.openxmlformats.org/drawingml/2006/main">
            <a:r>
              <a:t>26.0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추가 전과 후의 목록을 종이에 그립니다.</a:t>
            </a:r>
          </a:p>
          <a:p xmlns:a="http://schemas.openxmlformats.org/drawingml/2006/main">
            <a:r>
              <a:t>2. 각 위치 번호와 개수를 따로 표시합니다.</a:t>
            </a:r>
          </a:p>
          <a:p xmlns:a="http://schemas.openxmlformats.org/drawingml/2006/main">
            <a:r>
              <a:t>3. 추가할 값을 26.0으로 바꾸고 출력 변화를 예상합니다.</a:t>
            </a:r>
          </a:p>
          <a:p xmlns:a="http://schemas.openxmlformats.org/drawingml/2006/main">
            <a:r>
              <a:t>4. 아직 없는 위치를 읽는 오류 사례를 설명합니다.</a:t>
            </a:r>
          </a:p>
          <a:p xmlns:a="http://schemas.openxmlformats.org/drawingml/2006/main">
            <a:r>
              <a:t/>
            </a:r>
          </a:p>
          <a:p xmlns:a="http://schemas.openxmlformats.org/drawingml/2006/main">
            <a:r>
              <a:t>예상 결과: 추가 후 개수 4, 마지막 값 26.0. 기존 첫 값은 유지됩니다.</a:t>
            </a:r>
          </a:p>
          <a:p xmlns:a="http://schemas.openxmlformats.org/drawingml/2006/main">
            <a:r>
              <a:t/>
            </a:r>
          </a:p>
          <a:p xmlns:a="http://schemas.openxmlformats.org/drawingml/2006/main">
            <a:r>
              <a:t>확인 질문: 값 하나를 수정하는 것과 append로 추가하는 것은 개수에 어떤 차이가 있나요?</a:t>
            </a:r>
          </a:p>
          <a:p xmlns:a="http://schemas.openxmlformats.org/drawingml/2006/main">
            <a:r>
              <a:t/>
            </a:r>
          </a:p>
          <a:p xmlns:a="http://schemas.openxmlformats.org/drawingml/2006/main">
            <a:r>
              <a:t>막혔을 때: IndexError가 나면 읽는 시점의 목록 길이와 위치 번호를 확인합니다. 뒤에서 추가된다고 앞에서 이미 존재하는 것은 아닙니다.</a:t>
            </a:r>
          </a:p>
          <a:p xmlns:a="http://schemas.openxmlformats.org/drawingml/2006/main">
            <a:r>
              <a:t/>
            </a:r>
          </a:p>
          <a:p xmlns:a="http://schemas.openxmlformats.org/drawingml/2006/main">
            <a:r>
              <a:t>[활동 자료와 작성칸](practice-guide.md#a13--리스트와-위치로-여러-값-담기)에서 A13를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A13 상세 원문]</a:t>
            </a:r>
          </a:p>
          <a:p xmlns:a="http://schemas.openxmlformats.org/drawingml/2006/main">
            <a:r>
              <a:t>### 사례로 이해하기 · 목록의 위치와 반복 누적을 함께 추적하기</a:t>
            </a:r>
          </a:p>
          <a:p xmlns:a="http://schemas.openxmlformats.org/drawingml/2006/main">
            <a:r>
              <a:t/>
            </a:r>
          </a:p>
          <a:p xmlns:a="http://schemas.openxmlformats.org/drawingml/2006/main">
            <a:r>
              <a:t>필수 설명 보충입니다. 강사 시연 → 함께 추적 → 예상과 실제 비교 → 자기 말로 설명 순서로 읽습니다. 아래 독립 문제는 복습·도전이며 기존 50분 필수 경로와 별도로 활용합니다.</a:t>
            </a:r>
          </a:p>
          <a:p xmlns:a="http://schemas.openxmlformats.org/drawingml/2006/main">
            <a:r>
              <a:t/>
            </a:r>
          </a:p>
          <a:p xmlns:a="http://schemas.openxmlformats.org/drawingml/2006/main">
            <a:r>
              <a:t>세 배송 상자의 무게가 순서대로 2, 5, 1kg입니다. 목록은 여러 값을 정해진 순서로 묶는 방법입니다. Python의 리스트에서 첫 위치 번호는 0이고 두 번째는 1, 세 번째는 2입니다. 위치 번호는 상자 이름이 아니라 그 목록 안의 순서이므로 정렬하거나 삽입하면 달라질 수 있습니다. 길이 3은 항목 수이며 마지막 위치 번호는 2입니다. 3번째 위치라고 생각해 번호 3으로 읽으면 없는 칸을 찾는 오류가 생깁니다.</a:t>
            </a:r>
          </a:p>
          <a:p xmlns:a="http://schemas.openxmlformats.org/drawingml/2006/main">
            <a:r>
              <a:t/>
            </a:r>
          </a:p>
          <a:p xmlns:a="http://schemas.openxmlformats.org/drawingml/2006/main">
            <a:r>
              <a:t>각 상자의 무게를 합하려면 반복문으로 한 항목씩 읽고 합계의 현재 값을 갱신합니다. 합계는 반복 전에 0으로 시작합니다. 첫 바퀴는 현재 합계 0에 2를 더해 2, 두 번째는 2에 5를 더해 7, 세 번째는 7에 1을 더해 8입니다. 손 추적표에는 바퀴·현재 항목·변경 전 합계·변경 후 합계를 씁니다. 반복 끝의 총합은 8kg입니다. 반복 안에서 매번 합계를 0으로 다시 만들면 2→5→1처럼 마지막 상자만 남을 수 있습니다.</a:t>
            </a:r>
          </a:p>
          <a:p xmlns:a="http://schemas.openxmlformats.org/drawingml/2006/main">
            <a:r>
              <a:t/>
            </a:r>
          </a:p>
          <a:p xmlns:a="http://schemas.openxmlformats.org/drawingml/2006/main">
            <a:r>
              <a:t>또 다른 질문은 ‘4kg 초과인 상자가 몇 개인가’입니다. 첫 2는 조건 거짓이라 건수 0, 다음 5는 참이라 건수 1, 마지막 1은 거짓이라 건수 1입니다. 총무게 8과 초과 상자 수 1은 서로 다른 결과입니다. 누적하는 대상이 무게인지 참인 항목의 개수인지 먼저 정합니다. 반복 본문을 들여쓰는 것은 같은 일을 각 항목에 적용한다는 표시입니다. 완료 안내가 반복 안에 있으면 상자마다 나오고 밖에 있으면 끝에 한 번 나옵니다. 목록이 비어 있으면 바퀴가 없으므로 합계의 초기값과 완료 안내의 위치를 그대로 추적합니다.</a:t>
            </a:r>
          </a:p>
          <a:p xmlns:a="http://schemas.openxmlformats.org/drawingml/2006/main">
            <a:r>
              <a:t/>
            </a:r>
          </a:p>
          <a:p xmlns:a="http://schemas.openxmlformats.org/drawingml/2006/main">
            <a:r>
              <a:t>### 새 상황에 독립적으로 적용하기</a:t>
            </a:r>
          </a:p>
          <a:p xmlns:a="http://schemas.openxmlformats.org/drawingml/2006/main">
            <a:r>
              <a:t/>
            </a:r>
          </a:p>
          <a:p xmlns:a="http://schemas.openxmlformats.org/drawingml/2006/main">
            <a:r>
              <a:t>복습·도전: 주문별 수량 목록은 3, 0, 7, 2입니다. 총수량과 2개 초과 주문 수를 각각 손 추적표로 구하세요. 길이와 마지막 위치 번호, 빈 목록일 때 두 결과도 적으세요.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총수량은 12개이고 초과 주문은 3과 7 두 건입니다. 길이 4, 마지막 번호 3입니다. 빈 목록은 초기 합계 0·건수 0을 유지합니다. 0을 오류라고 임의 삭제하거나 수량 합 12를 주문 건수로 쓰면 서로 다른 질문을 혼동한 것입니다.</a:t>
            </a:r>
          </a:p>
          <a:p xmlns:a="http://schemas.openxmlformats.org/drawingml/2006/main">
            <a:r>
              <a:t/>
            </a:r>
          </a:p>
          <a:p xmlns:a="http://schemas.openxmlformats.org/drawingml/2006/main">
            <a:r>
              <a:t>### 핵심 세 질문과 해설</a:t>
            </a:r>
          </a:p>
          <a:p xmlns:a="http://schemas.openxmlformats.org/drawingml/2006/main">
            <a:r>
              <a:t/>
            </a:r>
          </a:p>
          <a:p xmlns:a="http://schemas.openxmlformats.org/drawingml/2006/main">
            <a:r>
              <a:t>1. **첫 위치가 왜 0인가요?** Python 리스트가 정한 위치 번호 약속이므로 실제 목록을 그 규칙으로 읽습니다.</a:t>
            </a:r>
          </a:p>
          <a:p xmlns:a="http://schemas.openxmlformats.org/drawingml/2006/main">
            <a:r>
              <a:t/>
            </a:r>
          </a:p>
          <a:p xmlns:a="http://schemas.openxmlformats.org/drawingml/2006/main">
            <a:r>
              <a:t>2. **합계 초기화는 어디에 놓나요?** 이전 바퀴 결과를 유지하도록 반복 전에 한 번 놓습니다.</a:t>
            </a:r>
          </a:p>
          <a:p xmlns:a="http://schemas.openxmlformats.org/drawingml/2006/main">
            <a:r>
              <a:t/>
            </a:r>
          </a:p>
          <a:p xmlns:a="http://schemas.openxmlformats.org/drawingml/2006/main">
            <a:r>
              <a:t>3. **길이 4이면 번호 4를 읽나요?** 마지막 번호는 3이며 번호 4는 범위 밖입니다.</a:t>
            </a:r>
          </a:p>
          <a:p xmlns:a="http://schemas.openxmlformats.org/drawingml/2006/main">
            <a:r>
              <a:t/>
            </a:r>
          </a:p>
          <a:p xmlns:a="http://schemas.openxmlformats.org/drawingml/2006/main">
            <a:r>
              <a:t/>
            </a:r>
          </a:p>
          <a:p xmlns:a="http://schemas.openxmlformats.org/drawingml/2006/main">
            <a:r>
              <a:t>**개념.** 리스트는 여러 값을 순서대로 묶는 Python 자료구조입니다. 대괄호로 묶고 쉼표로 항목을 나눕니다. 위치 번호는 0부터 시작하며 len은 항목 개수를 돌려줍니다.</a:t>
            </a:r>
          </a:p>
          <a:p xmlns:a="http://schemas.openxmlformats.org/drawingml/2006/main">
            <a:r>
              <a:t/>
            </a:r>
          </a:p>
          <a:p xmlns:a="http://schemas.openxmlformats.org/drawingml/2006/main">
            <a:r>
              <a:t>**왜 필요한가.** 측정값이 세 개에서 네 개로 늘어날 때 이름을 계속 만드는 대신 하나의 목록으로 다룰 수 있습니다. 10/8에 읽었던 순서 구조를 직접 작은 값 수정으로 연결합니다.</a:t>
            </a:r>
          </a:p>
          <a:p xmlns:a="http://schemas.openxmlformats.org/drawingml/2006/main">
            <a:r>
              <a:t/>
            </a:r>
          </a:p>
          <a:p xmlns:a="http://schemas.openxmlformats.org/drawingml/2006/main">
            <a:r>
              <a:t>**함께 보는 예.** temperatures[0]은 첫 값 22.5이고 len은 3입니다. 마지막 위치 번호는 2이지 3이 아닙니다. 개수와 위치 번호를 서로 다른 질문으로 적습니다.</a:t>
            </a:r>
          </a:p>
          <a:p xmlns:a="http://schemas.openxmlformats.org/drawingml/2006/main">
            <a:r>
              <a:t/>
            </a:r>
          </a:p>
          <a:p xmlns:a="http://schemas.openxmlformats.org/drawingml/2006/main">
            <a:r>
              <a:t>**헷갈리는 경우.** [22.5, 24.0]은 두 값의 목록이고 "22.5, 24.0"은 쉼표가 들어 있는 문자열입니다. 겉에 어떤 괄호나 따옴표가 있는지 확인합니다.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temperatures = [22.5, 24.0, 23.5]</a:t>
            </a:r>
          </a:p>
          <a:p xmlns:a="http://schemas.openxmlformats.org/drawingml/2006/main">
            <a:r>
              <a:t>print(temperatures[0])</a:t>
            </a:r>
          </a:p>
          <a:p xmlns:a="http://schemas.openxmlformats.org/drawingml/2006/main">
            <a:r>
              <a:t>print(len(temperatures))</a:t>
            </a:r>
          </a:p>
          <a:p xmlns:a="http://schemas.openxmlformats.org/drawingml/2006/main">
            <a:r>
              <a:t>temperatures.append(25.0)</a:t>
            </a:r>
          </a:p>
          <a:p xmlns:a="http://schemas.openxmlformats.org/drawingml/2006/main">
            <a:r>
              <a:t>print(len(temperatures))</a:t>
            </a:r>
          </a:p>
          <a:p xmlns:a="http://schemas.openxmlformats.org/drawingml/2006/main">
            <a:r>
              <a:t>print(temperatures[3])</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`temperatures = [22.5, 24.0, 23.5]` | 온도 세 개를 순서대로 묶습니다. |</a:t>
            </a:r>
          </a:p>
          <a:p xmlns:a="http://schemas.openxmlformats.org/drawingml/2006/main">
            <a:r>
              <a:t>| 2 | `print(temperatures[0])` | 첫 값을 읽습니다. |</a:t>
            </a:r>
          </a:p>
          <a:p xmlns:a="http://schemas.openxmlformats.org/drawingml/2006/main">
            <a:r>
              <a:t>| 3 | `print(len(temperatures))` | 현재 개수를 출력합니다. |</a:t>
            </a:r>
          </a:p>
          <a:p xmlns:a="http://schemas.openxmlformats.org/drawingml/2006/main">
            <a:r>
              <a:t>| 4 | `temperatures.append(25.0)` | 목록 끝에 새 값을 덧붙입니다. |</a:t>
            </a:r>
          </a:p>
          <a:p xmlns:a="http://schemas.openxmlformats.org/drawingml/2006/main">
            <a:r>
              <a:t>| 5 | `print(len(temperatures))` | 추가 뒤 개수를 확인합니다. |</a:t>
            </a:r>
          </a:p>
          <a:p xmlns:a="http://schemas.openxmlformats.org/drawingml/2006/main">
            <a:r>
              <a:t>| 6 | `print(temperatures[3])` | 네 번째 값을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code/A13_example.py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work/A13_example.py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22.5</a:t>
            </a:r>
          </a:p>
          <a:p xmlns:a="http://schemas.openxmlformats.org/drawingml/2006/main">
            <a:r>
              <a:t>3</a:t>
            </a:r>
          </a:p>
          <a:p xmlns:a="http://schemas.openxmlformats.org/drawingml/2006/main">
            <a:r>
              <a:t>4</a:t>
            </a:r>
          </a:p>
          <a:p xmlns:a="http://schemas.openxmlformats.org/drawingml/2006/main">
            <a:r>
              <a:t>25.0</a:t>
            </a:r>
          </a:p>
          <a:p xmlns:a="http://schemas.openxmlformats.org/drawingml/2006/main">
            <a:r>
              <a:t>```</a:t>
            </a:r>
          </a:p>
          <a:p xmlns:a="http://schemas.openxmlformats.org/drawingml/2006/main">
            <a:r>
              <a:t/>
            </a:r>
          </a:p>
          <a:p xmlns:a="http://schemas.openxmlformats.org/drawingml/2006/main">
            <a:r>
              <a:t>작은 수정: `append(25.0)`를 `append(26.0)`로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22.5</a:t>
            </a:r>
          </a:p>
          <a:p xmlns:a="http://schemas.openxmlformats.org/drawingml/2006/main">
            <a:r>
              <a:t>3</a:t>
            </a:r>
          </a:p>
          <a:p xmlns:a="http://schemas.openxmlformats.org/drawingml/2006/main">
            <a:r>
              <a:t>4</a:t>
            </a:r>
          </a:p>
          <a:p xmlns:a="http://schemas.openxmlformats.org/drawingml/2006/main">
            <a:r>
              <a:t>26.0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추가 전과 후의 목록을 종이에 그립니다.</a:t>
            </a:r>
          </a:p>
          <a:p xmlns:a="http://schemas.openxmlformats.org/drawingml/2006/main">
            <a:r>
              <a:t>2. 각 위치 번호와 개수를 따로 표시합니다.</a:t>
            </a:r>
          </a:p>
          <a:p xmlns:a="http://schemas.openxmlformats.org/drawingml/2006/main">
            <a:r>
              <a:t>3. 추가할 값을 26.0으로 바꾸고 출력 변화를 예상합니다.</a:t>
            </a:r>
          </a:p>
          <a:p xmlns:a="http://schemas.openxmlformats.org/drawingml/2006/main">
            <a:r>
              <a:t>4. 아직 없는 위치를 읽는 오류 사례를 설명합니다.</a:t>
            </a:r>
          </a:p>
          <a:p xmlns:a="http://schemas.openxmlformats.org/drawingml/2006/main">
            <a:r>
              <a:t/>
            </a:r>
          </a:p>
          <a:p xmlns:a="http://schemas.openxmlformats.org/drawingml/2006/main">
            <a:r>
              <a:t>예상 결과: 추가 후 개수 4, 마지막 값 26.0. 기존 첫 값은 유지됩니다.</a:t>
            </a:r>
          </a:p>
          <a:p xmlns:a="http://schemas.openxmlformats.org/drawingml/2006/main">
            <a:r>
              <a:t/>
            </a:r>
          </a:p>
          <a:p xmlns:a="http://schemas.openxmlformats.org/drawingml/2006/main">
            <a:r>
              <a:t>확인 질문: 값 하나를 수정하는 것과 append로 추가하는 것은 개수에 어떤 차이가 있나요?</a:t>
            </a:r>
          </a:p>
          <a:p xmlns:a="http://schemas.openxmlformats.org/drawingml/2006/main">
            <a:r>
              <a:t/>
            </a:r>
          </a:p>
          <a:p xmlns:a="http://schemas.openxmlformats.org/drawingml/2006/main">
            <a:r>
              <a:t>막혔을 때: IndexError가 나면 읽는 시점의 목록 길이와 위치 번호를 확인합니다. 뒤에서 추가된다고 앞에서 이미 존재하는 것은 아닙니다.</a:t>
            </a:r>
          </a:p>
          <a:p xmlns:a="http://schemas.openxmlformats.org/drawingml/2006/main">
            <a:r>
              <a:t/>
            </a:r>
          </a:p>
          <a:p xmlns:a="http://schemas.openxmlformats.org/drawingml/2006/main">
            <a:r>
              <a:t>[활동 자료와 작성칸](practice-guide.md#a13--리스트와-위치로-여러-값-담기)에서 A13를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제공된 완성 파일의 전체 코드입니다. 압축을 푼 course 폴더의 터미널에서 실행합니다.</a:t>
            </a:r>
          </a:p>
          <a:p xmlns:a="http://schemas.openxmlformats.org/drawingml/2006/main">
            <a:r>
              <a:t>명령: python -X utf8 code/A14_example.py</a:t>
            </a:r>
          </a:p>
          <a:p xmlns:a="http://schemas.openxmlformats.org/drawingml/2006/main">
            <a:r>
              <a:t>작업본은 code 대신 work 경로를 지정합니다. 개인 실행이 막히면 같은 입력으로 수동 추적 후 강사 결과와 비교합니다.</a:t>
            </a:r>
          </a:p>
          <a:p xmlns:a="http://schemas.openxmlformats.org/drawingml/2006/main">
            <a:r>
              <a:t/>
            </a:r>
          </a:p>
          <a:p xmlns:a="http://schemas.openxmlformats.org/drawingml/2006/main">
            <a:r>
              <a:t>[활동 A14 상세 원문]</a:t>
            </a:r>
          </a:p>
          <a:p xmlns:a="http://schemas.openxmlformats.org/drawingml/2006/main">
            <a:r>
              <a:t>**개념.** for는 묶음에서 항목을 차례로 꺼내 같은 코드 묶음을 실행합니다. 반복 변수 temperature_c는 이번 차례의 값을 가리키는 이름입니다.</a:t>
            </a:r>
          </a:p>
          <a:p xmlns:a="http://schemas.openxmlformats.org/drawingml/2006/main">
            <a:r>
              <a:t/>
            </a:r>
          </a:p>
          <a:p xmlns:a="http://schemas.openxmlformats.org/drawingml/2006/main">
            <a:r>
              <a:t>**왜 필요한가.** 여러 온도에 같은 출력이나 비교를 적용할 때 같은 코드를 복사하지 않아도 됩니다. 항목 수가 늘어나면 반복 횟수도 따라 늘어나는 관계를 관찰합니다.</a:t>
            </a:r>
          </a:p>
          <a:p xmlns:a="http://schemas.openxmlformats.org/drawingml/2006/main">
            <a:r>
              <a:t/>
            </a:r>
          </a:p>
          <a:p xmlns:a="http://schemas.openxmlformats.org/drawingml/2006/main">
            <a:r>
              <a:t>**함께 보는 예.** 목록의 첫 22.5가 temperature_c가 되어 출력되고, 다음 차례에는 24.0, 그다음에는 23.5가 됩니다. 반복이 끝난 뒤 들여쓰기 없는 완료가 한 번 출력됩니다.</a:t>
            </a:r>
          </a:p>
          <a:p xmlns:a="http://schemas.openxmlformats.org/drawingml/2006/main">
            <a:r>
              <a:t/>
            </a:r>
          </a:p>
          <a:p xmlns:a="http://schemas.openxmlformats.org/drawingml/2006/main">
            <a:r>
              <a:t>**헷갈리는 경우.** 반복 변수에 값을 붙인다고 원래 리스트의 모든 값이 자동 수정되는 것은 아닙니다. 오늘은 목록을 읽는 반복이며 목록 구조를 변경하는 고급 패턴은 다루지 않습니다.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temperatures = [22.5, 24.0, 23.5]</a:t>
            </a:r>
          </a:p>
          <a:p xmlns:a="http://schemas.openxmlformats.org/drawingml/2006/main">
            <a:r>
              <a:t>for temperature_c in temperatures:</a:t>
            </a:r>
          </a:p>
          <a:p xmlns:a="http://schemas.openxmlformats.org/drawingml/2006/main">
            <a:r>
              <a:t>    print(temperature_c)</a:t>
            </a:r>
          </a:p>
          <a:p xmlns:a="http://schemas.openxmlformats.org/drawingml/2006/main">
            <a:r>
              <a:t>print("완료")</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`temperatures = [22.5, 24.0, 23.5]` | 읽을 값의 순서를 준비합니다. |</a:t>
            </a:r>
          </a:p>
          <a:p xmlns:a="http://schemas.openxmlformats.org/drawingml/2006/main">
            <a:r>
              <a:t>| 2 | `for temperature_c in temperatures:` | 한 항목씩 현재 값의 이름에 연결합니다. |</a:t>
            </a:r>
          </a:p>
          <a:p xmlns:a="http://schemas.openxmlformats.org/drawingml/2006/main">
            <a:r>
              <a:t>| 3 | `    print(temperature_c)` | 각 차례의 값을 출력합니다. |</a:t>
            </a:r>
          </a:p>
          <a:p xmlns:a="http://schemas.openxmlformats.org/drawingml/2006/main">
            <a:r>
              <a:t>| 4 | `print("완료")` | 반복이 모두 끝난 뒤 한 번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code/A14_example.py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work/A14_example.py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22.5</a:t>
            </a:r>
          </a:p>
          <a:p xmlns:a="http://schemas.openxmlformats.org/drawingml/2006/main">
            <a:r>
              <a:t>24.0</a:t>
            </a:r>
          </a:p>
          <a:p xmlns:a="http://schemas.openxmlformats.org/drawingml/2006/main">
            <a:r>
              <a:t>23.5</a:t>
            </a:r>
          </a:p>
          <a:p xmlns:a="http://schemas.openxmlformats.org/drawingml/2006/main">
            <a:r>
              <a:t>완료</a:t>
            </a:r>
          </a:p>
          <a:p xmlns:a="http://schemas.openxmlformats.org/drawingml/2006/main">
            <a:r>
              <a:t>```</a:t>
            </a:r>
          </a:p>
          <a:p xmlns:a="http://schemas.openxmlformats.org/drawingml/2006/main">
            <a:r>
              <a:t/>
            </a:r>
          </a:p>
          <a:p xmlns:a="http://schemas.openxmlformats.org/drawingml/2006/main">
            <a:r>
              <a:t>작은 수정: `[22.5, 24.0, 23.5]`를 `[22.5, 24.0, 23.5, 25.0]`로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22.5</a:t>
            </a:r>
          </a:p>
          <a:p xmlns:a="http://schemas.openxmlformats.org/drawingml/2006/main">
            <a:r>
              <a:t>24.0</a:t>
            </a:r>
          </a:p>
          <a:p xmlns:a="http://schemas.openxmlformats.org/drawingml/2006/main">
            <a:r>
              <a:t>23.5</a:t>
            </a:r>
          </a:p>
          <a:p xmlns:a="http://schemas.openxmlformats.org/drawingml/2006/main">
            <a:r>
              <a:t>25.0</a:t>
            </a:r>
          </a:p>
          <a:p xmlns:a="http://schemas.openxmlformats.org/drawingml/2006/main">
            <a:r>
              <a:t>완료</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세 차례에 temperature_c가 가리키는 값을 표에 씁니다.</a:t>
            </a:r>
          </a:p>
          <a:p xmlns:a="http://schemas.openxmlformats.org/drawingml/2006/main">
            <a:r>
              <a:t>2. 완료가 몇 번 나올지 예상하고 들여쓰기를 근거로 설명합니다.</a:t>
            </a:r>
          </a:p>
          <a:p xmlns:a="http://schemas.openxmlformats.org/drawingml/2006/main">
            <a:r>
              <a:t>3. 목록에 25.0을 추가하고 반복 출력 수를 비교합니다.</a:t>
            </a:r>
          </a:p>
          <a:p xmlns:a="http://schemas.openxmlformats.org/drawingml/2006/main">
            <a:r>
              <a:t>4. 목록이 비어 있으면 어느 줄이 실행될지 적습니다.</a:t>
            </a:r>
          </a:p>
          <a:p xmlns:a="http://schemas.openxmlformats.org/drawingml/2006/main">
            <a:r>
              <a:t/>
            </a:r>
          </a:p>
          <a:p xmlns:a="http://schemas.openxmlformats.org/drawingml/2006/main">
            <a:r>
              <a:t>예상 결과: 값은 항목 수만큼 출력되고 완료는 한 번 출력됩니다.</a:t>
            </a:r>
          </a:p>
          <a:p xmlns:a="http://schemas.openxmlformats.org/drawingml/2006/main">
            <a:r>
              <a:t/>
            </a:r>
          </a:p>
          <a:p xmlns:a="http://schemas.openxmlformats.org/drawingml/2006/main">
            <a:r>
              <a:t>확인 질문: 완료 출력도 네 칸 들여쓰면 무엇이 바뀔까요?</a:t>
            </a:r>
          </a:p>
          <a:p xmlns:a="http://schemas.openxmlformats.org/drawingml/2006/main">
            <a:r>
              <a:t/>
            </a:r>
          </a:p>
          <a:p xmlns:a="http://schemas.openxmlformats.org/drawingml/2006/main">
            <a:r>
              <a:t>막혔을 때: 출력 횟수가 다르면 들여쓰기 범위를 먼저 확인합니다. 코드 줄 수와 실행 횟수는 다를 수 있습니다.</a:t>
            </a:r>
          </a:p>
          <a:p xmlns:a="http://schemas.openxmlformats.org/drawingml/2006/main">
            <a:r>
              <a:t/>
            </a:r>
          </a:p>
          <a:p xmlns:a="http://schemas.openxmlformats.org/drawingml/2006/main">
            <a:r>
              <a:t>[활동 자료와 작성칸](practice-guide.md#a14--for로-목록을-한-항목씩-읽기)에서 A14를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A14 상세 원문]</a:t>
            </a:r>
          </a:p>
          <a:p xmlns:a="http://schemas.openxmlformats.org/drawingml/2006/main">
            <a:r>
              <a:t>**개념.** for는 묶음에서 항목을 차례로 꺼내 같은 코드 묶음을 실행합니다. 반복 변수 temperature_c는 이번 차례의 값을 가리키는 이름입니다.</a:t>
            </a:r>
          </a:p>
          <a:p xmlns:a="http://schemas.openxmlformats.org/drawingml/2006/main">
            <a:r>
              <a:t/>
            </a:r>
          </a:p>
          <a:p xmlns:a="http://schemas.openxmlformats.org/drawingml/2006/main">
            <a:r>
              <a:t>**왜 필요한가.** 여러 온도에 같은 출력이나 비교를 적용할 때 같은 코드를 복사하지 않아도 됩니다. 항목 수가 늘어나면 반복 횟수도 따라 늘어나는 관계를 관찰합니다.</a:t>
            </a:r>
          </a:p>
          <a:p xmlns:a="http://schemas.openxmlformats.org/drawingml/2006/main">
            <a:r>
              <a:t/>
            </a:r>
          </a:p>
          <a:p xmlns:a="http://schemas.openxmlformats.org/drawingml/2006/main">
            <a:r>
              <a:t>**함께 보는 예.** 목록의 첫 22.5가 temperature_c가 되어 출력되고, 다음 차례에는 24.0, 그다음에는 23.5가 됩니다. 반복이 끝난 뒤 들여쓰기 없는 완료가 한 번 출력됩니다.</a:t>
            </a:r>
          </a:p>
          <a:p xmlns:a="http://schemas.openxmlformats.org/drawingml/2006/main">
            <a:r>
              <a:t/>
            </a:r>
          </a:p>
          <a:p xmlns:a="http://schemas.openxmlformats.org/drawingml/2006/main">
            <a:r>
              <a:t>**헷갈리는 경우.** 반복 변수에 값을 붙인다고 원래 리스트의 모든 값이 자동 수정되는 것은 아닙니다. 오늘은 목록을 읽는 반복이며 목록 구조를 변경하는 고급 패턴은 다루지 않습니다.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temperatures = [22.5, 24.0, 23.5]</a:t>
            </a:r>
          </a:p>
          <a:p xmlns:a="http://schemas.openxmlformats.org/drawingml/2006/main">
            <a:r>
              <a:t>for temperature_c in temperatures:</a:t>
            </a:r>
          </a:p>
          <a:p xmlns:a="http://schemas.openxmlformats.org/drawingml/2006/main">
            <a:r>
              <a:t>    print(temperature_c)</a:t>
            </a:r>
          </a:p>
          <a:p xmlns:a="http://schemas.openxmlformats.org/drawingml/2006/main">
            <a:r>
              <a:t>print("완료")</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`temperatures = [22.5, 24.0, 23.5]` | 읽을 값의 순서를 준비합니다. |</a:t>
            </a:r>
          </a:p>
          <a:p xmlns:a="http://schemas.openxmlformats.org/drawingml/2006/main">
            <a:r>
              <a:t>| 2 | `for temperature_c in temperatures:` | 한 항목씩 현재 값의 이름에 연결합니다. |</a:t>
            </a:r>
          </a:p>
          <a:p xmlns:a="http://schemas.openxmlformats.org/drawingml/2006/main">
            <a:r>
              <a:t>| 3 | `    print(temperature_c)` | 각 차례의 값을 출력합니다. |</a:t>
            </a:r>
          </a:p>
          <a:p xmlns:a="http://schemas.openxmlformats.org/drawingml/2006/main">
            <a:r>
              <a:t>| 4 | `print("완료")` | 반복이 모두 끝난 뒤 한 번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code/A14_example.py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work/A14_example.py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22.5</a:t>
            </a:r>
          </a:p>
          <a:p xmlns:a="http://schemas.openxmlformats.org/drawingml/2006/main">
            <a:r>
              <a:t>24.0</a:t>
            </a:r>
          </a:p>
          <a:p xmlns:a="http://schemas.openxmlformats.org/drawingml/2006/main">
            <a:r>
              <a:t>23.5</a:t>
            </a:r>
          </a:p>
          <a:p xmlns:a="http://schemas.openxmlformats.org/drawingml/2006/main">
            <a:r>
              <a:t>완료</a:t>
            </a:r>
          </a:p>
          <a:p xmlns:a="http://schemas.openxmlformats.org/drawingml/2006/main">
            <a:r>
              <a:t>```</a:t>
            </a:r>
          </a:p>
          <a:p xmlns:a="http://schemas.openxmlformats.org/drawingml/2006/main">
            <a:r>
              <a:t/>
            </a:r>
          </a:p>
          <a:p xmlns:a="http://schemas.openxmlformats.org/drawingml/2006/main">
            <a:r>
              <a:t>작은 수정: `[22.5, 24.0, 23.5]`를 `[22.5, 24.0, 23.5, 25.0]`로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22.5</a:t>
            </a:r>
          </a:p>
          <a:p xmlns:a="http://schemas.openxmlformats.org/drawingml/2006/main">
            <a:r>
              <a:t>24.0</a:t>
            </a:r>
          </a:p>
          <a:p xmlns:a="http://schemas.openxmlformats.org/drawingml/2006/main">
            <a:r>
              <a:t>23.5</a:t>
            </a:r>
          </a:p>
          <a:p xmlns:a="http://schemas.openxmlformats.org/drawingml/2006/main">
            <a:r>
              <a:t>25.0</a:t>
            </a:r>
          </a:p>
          <a:p xmlns:a="http://schemas.openxmlformats.org/drawingml/2006/main">
            <a:r>
              <a:t>완료</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세 차례에 temperature_c가 가리키는 값을 표에 씁니다.</a:t>
            </a:r>
          </a:p>
          <a:p xmlns:a="http://schemas.openxmlformats.org/drawingml/2006/main">
            <a:r>
              <a:t>2. 완료가 몇 번 나올지 예상하고 들여쓰기를 근거로 설명합니다.</a:t>
            </a:r>
          </a:p>
          <a:p xmlns:a="http://schemas.openxmlformats.org/drawingml/2006/main">
            <a:r>
              <a:t>3. 목록에 25.0을 추가하고 반복 출력 수를 비교합니다.</a:t>
            </a:r>
          </a:p>
          <a:p xmlns:a="http://schemas.openxmlformats.org/drawingml/2006/main">
            <a:r>
              <a:t>4. 목록이 비어 있으면 어느 줄이 실행될지 적습니다.</a:t>
            </a:r>
          </a:p>
          <a:p xmlns:a="http://schemas.openxmlformats.org/drawingml/2006/main">
            <a:r>
              <a:t/>
            </a:r>
          </a:p>
          <a:p xmlns:a="http://schemas.openxmlformats.org/drawingml/2006/main">
            <a:r>
              <a:t>예상 결과: 값은 항목 수만큼 출력되고 완료는 한 번 출력됩니다.</a:t>
            </a:r>
          </a:p>
          <a:p xmlns:a="http://schemas.openxmlformats.org/drawingml/2006/main">
            <a:r>
              <a:t/>
            </a:r>
          </a:p>
          <a:p xmlns:a="http://schemas.openxmlformats.org/drawingml/2006/main">
            <a:r>
              <a:t>확인 질문: 완료 출력도 네 칸 들여쓰면 무엇이 바뀔까요?</a:t>
            </a:r>
          </a:p>
          <a:p xmlns:a="http://schemas.openxmlformats.org/drawingml/2006/main">
            <a:r>
              <a:t/>
            </a:r>
          </a:p>
          <a:p xmlns:a="http://schemas.openxmlformats.org/drawingml/2006/main">
            <a:r>
              <a:t>막혔을 때: 출력 횟수가 다르면 들여쓰기 범위를 먼저 확인합니다. 코드 줄 수와 실행 횟수는 다를 수 있습니다.</a:t>
            </a:r>
          </a:p>
          <a:p xmlns:a="http://schemas.openxmlformats.org/drawingml/2006/main">
            <a:r>
              <a:t/>
            </a:r>
          </a:p>
          <a:p xmlns:a="http://schemas.openxmlformats.org/drawingml/2006/main">
            <a:r>
              <a:t>[활동 자료와 작성칸](practice-guide.md#a14--for로-목록을-한-항목씩-읽기)에서 A14를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A14의 완료 print는 반복문 밖에 있으므로 한 번입니다. 반복 안으로 옮기면 각 항목 뒤에 안내가 반복됩니다.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제공된 완성 파일의 전체 코드입니다. 압축을 푼 course 폴더의 터미널에서 실행합니다.</a:t>
            </a:r>
          </a:p>
          <a:p xmlns:a="http://schemas.openxmlformats.org/drawingml/2006/main">
            <a:r>
              <a:t>명령: python -X utf8 code/A15_example.py</a:t>
            </a:r>
          </a:p>
          <a:p xmlns:a="http://schemas.openxmlformats.org/drawingml/2006/main">
            <a:r>
              <a:t>작업본은 code 대신 work 경로를 지정합니다. 개인 실행이 막히면 같은 입력으로 수동 추적 후 강사 결과와 비교합니다.</a:t>
            </a:r>
          </a:p>
          <a:p xmlns:a="http://schemas.openxmlformats.org/drawingml/2006/main">
            <a:r>
              <a:t/>
            </a:r>
          </a:p>
          <a:p xmlns:a="http://schemas.openxmlformats.org/drawingml/2006/main">
            <a:r>
              <a:t>[활동 A15 상세 원문]</a:t>
            </a:r>
          </a:p>
          <a:p xmlns:a="http://schemas.openxmlformats.org/drawingml/2006/main">
            <a:r>
              <a:t>**개념.** 반복 안에 조건을 넣으면 각 항목에 같은 판단을 적용할 수 있습니다. 개수를 세는 이름은 반복 전에 0으로 준비하고 조건을 만족할 때 1씩 더합니다.</a:t>
            </a:r>
          </a:p>
          <a:p xmlns:a="http://schemas.openxmlformats.org/drawingml/2006/main">
            <a:r>
              <a:t/>
            </a:r>
          </a:p>
          <a:p xmlns:a="http://schemas.openxmlformats.org/drawingml/2006/main">
            <a:r>
              <a:t>**왜 필요한가.** 어떤 기록이 기준을 넘었는지와 전체 몇 건인지 함께 확인할 수 있습니다. 초기화를 반복 안에 넣으면 매번 0으로 돌아가므로 준비 위치가 결과에 영향을 줍니다.</a:t>
            </a:r>
          </a:p>
          <a:p xmlns:a="http://schemas.openxmlformats.org/drawingml/2006/main">
            <a:r>
              <a:t/>
            </a:r>
          </a:p>
          <a:p xmlns:a="http://schemas.openxmlformats.org/drawingml/2006/main">
            <a:r>
              <a:t>**함께 보는 예.** 22.5, 24.0, 25.0에서 ‘24.0 초과’는 마지막 한 건입니다. 24.0은 같은 값이므로 포함하지 않습니다. &gt;를 &gt;=로 바꾸면 두 건이 됩니다.</a:t>
            </a:r>
          </a:p>
          <a:p xmlns:a="http://schemas.openxmlformats.org/drawingml/2006/main">
            <a:r>
              <a:t/>
            </a:r>
          </a:p>
          <a:p xmlns:a="http://schemas.openxmlformats.org/drawingml/2006/main">
            <a:r>
              <a:t>**헷갈리는 경우.** count = count + 1은 새 값을 누적하는 대입입니다. 반복 안에서 count = 0을 매번 실행하면 이전 차례의 누적을 잃습니다.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temperatures = [22.5, 24.0, 25.0]</a:t>
            </a:r>
          </a:p>
          <a:p xmlns:a="http://schemas.openxmlformats.org/drawingml/2006/main">
            <a:r>
              <a:t>count = 0</a:t>
            </a:r>
          </a:p>
          <a:p xmlns:a="http://schemas.openxmlformats.org/drawingml/2006/main">
            <a:r>
              <a:t>for temperature_c in temperatures:</a:t>
            </a:r>
          </a:p>
          <a:p xmlns:a="http://schemas.openxmlformats.org/drawingml/2006/main">
            <a:r>
              <a:t>    if temperature_c &gt; 24.0:</a:t>
            </a:r>
          </a:p>
          <a:p xmlns:a="http://schemas.openxmlformats.org/drawingml/2006/main">
            <a:r>
              <a:t>        count = count + 1</a:t>
            </a:r>
          </a:p>
          <a:p xmlns:a="http://schemas.openxmlformats.org/drawingml/2006/main">
            <a:r>
              <a:t>print("확인 건수", count)</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`temperatures = [22.5, 24.0, 25.0]` | 점검할 온도 목록을 준비합니다. |</a:t>
            </a:r>
          </a:p>
          <a:p xmlns:a="http://schemas.openxmlformats.org/drawingml/2006/main">
            <a:r>
              <a:t>| 2 | `count = 0` | 아직 센 기록이 없어서 0으로 시작합니다. |</a:t>
            </a:r>
          </a:p>
          <a:p xmlns:a="http://schemas.openxmlformats.org/drawingml/2006/main">
            <a:r>
              <a:t>| 3 | `for temperature_c in temperatures:` | 각 온도를 차례로 확인합니다. |</a:t>
            </a:r>
          </a:p>
          <a:p xmlns:a="http://schemas.openxmlformats.org/drawingml/2006/main">
            <a:r>
              <a:t>| 4 | `    if temperature_c &gt; 24.0:` | 이번 온도가 기준을 초과했는지 묻습니다. |</a:t>
            </a:r>
          </a:p>
          <a:p xmlns:a="http://schemas.openxmlformats.org/drawingml/2006/main">
            <a:r>
              <a:t>| 5 | `        count = count + 1` | 조건이 참인 경우만 누적 개수를 하나 늘립니다. |</a:t>
            </a:r>
          </a:p>
          <a:p xmlns:a="http://schemas.openxmlformats.org/drawingml/2006/main">
            <a:r>
              <a:t>| 6 | `print("확인 건수", count)` | 모든 점검 뒤 최종 개수를 보여 줍니다.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code/A15_example.py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work/A15_example.py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확인 건수 1</a:t>
            </a:r>
          </a:p>
          <a:p xmlns:a="http://schemas.openxmlformats.org/drawingml/2006/main">
            <a:r>
              <a:t>```</a:t>
            </a:r>
          </a:p>
          <a:p xmlns:a="http://schemas.openxmlformats.org/drawingml/2006/main">
            <a:r>
              <a:t/>
            </a:r>
          </a:p>
          <a:p xmlns:a="http://schemas.openxmlformats.org/drawingml/2006/main">
            <a:r>
              <a:t>작은 수정: `&gt; 24.0`를 `&gt;= 24.0`로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확인 건수 2</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각 차례의 온도·조건 결과·누적 count를 표로 씁니다.</a:t>
            </a:r>
          </a:p>
          <a:p xmlns:a="http://schemas.openxmlformats.org/drawingml/2006/main">
            <a:r>
              <a:t>2. 초과를 이상으로 바꾸었을 때 영향을 받는 값을 표시합니다.</a:t>
            </a:r>
          </a:p>
          <a:p xmlns:a="http://schemas.openxmlformats.org/drawingml/2006/main">
            <a:r>
              <a:t>3. 연산자 한 곳을 바꾸고 결과를 대조합니다.</a:t>
            </a:r>
          </a:p>
          <a:p xmlns:a="http://schemas.openxmlformats.org/drawingml/2006/main">
            <a:r>
              <a:t>4. count의 준비 위치를 반복 앞에 둔 이유를 설명합니다.</a:t>
            </a:r>
          </a:p>
          <a:p xmlns:a="http://schemas.openxmlformats.org/drawingml/2006/main">
            <a:r>
              <a:t/>
            </a:r>
          </a:p>
          <a:p xmlns:a="http://schemas.openxmlformats.org/drawingml/2006/main">
            <a:r>
              <a:t>예상 결과: 초과는 1건, 이상은 2건이며 경계값 24.0이 차이를 만듭니다.</a:t>
            </a:r>
          </a:p>
          <a:p xmlns:a="http://schemas.openxmlformats.org/drawingml/2006/main">
            <a:r>
              <a:t/>
            </a:r>
          </a:p>
          <a:p xmlns:a="http://schemas.openxmlformats.org/drawingml/2006/main">
            <a:r>
              <a:t>확인 질문: 한 번의 print인데 세 항목을 검사할 수 있는 이유는 무엇인가요?</a:t>
            </a:r>
          </a:p>
          <a:p xmlns:a="http://schemas.openxmlformats.org/drawingml/2006/main">
            <a:r>
              <a:t/>
            </a:r>
          </a:p>
          <a:p xmlns:a="http://schemas.openxmlformats.org/drawingml/2006/main">
            <a:r>
              <a:t>막혔을 때: 건수가 항상 0 또는 1이면 초기화 위치와 누적 줄의 들여쓰기를 확인합니다.</a:t>
            </a:r>
          </a:p>
          <a:p xmlns:a="http://schemas.openxmlformats.org/drawingml/2006/main">
            <a:r>
              <a:t/>
            </a:r>
          </a:p>
          <a:p xmlns:a="http://schemas.openxmlformats.org/drawingml/2006/main">
            <a:r>
              <a:t>[활동 자료와 작성칸](practice-guide.md#a15--반복-안에서-조건-확인과-개수-세기)에서 A15를 엽니다.</a:t>
            </a:r>
          </a:p>
          <a:p xmlns:a="http://schemas.openxmlformats.org/drawingml/2006/main">
            <a:r>
              <a:t/>
            </a:r>
          </a:p>
          <a:p xmlns:a="http://schemas.openxmlformats.org/drawingml/2006/main">
            <a:r>
              <a:t># 6구간 · 작은 점검 프로그램</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A15 상세 원문]</a:t>
            </a:r>
          </a:p>
          <a:p xmlns:a="http://schemas.openxmlformats.org/drawingml/2006/main">
            <a:r>
              <a:t>**개념.** 반복 안에 조건을 넣으면 각 항목에 같은 판단을 적용할 수 있습니다. 개수를 세는 이름은 반복 전에 0으로 준비하고 조건을 만족할 때 1씩 더합니다.</a:t>
            </a:r>
          </a:p>
          <a:p xmlns:a="http://schemas.openxmlformats.org/drawingml/2006/main">
            <a:r>
              <a:t/>
            </a:r>
          </a:p>
          <a:p xmlns:a="http://schemas.openxmlformats.org/drawingml/2006/main">
            <a:r>
              <a:t>**왜 필요한가.** 어떤 기록이 기준을 넘었는지와 전체 몇 건인지 함께 확인할 수 있습니다. 초기화를 반복 안에 넣으면 매번 0으로 돌아가므로 준비 위치가 결과에 영향을 줍니다.</a:t>
            </a:r>
          </a:p>
          <a:p xmlns:a="http://schemas.openxmlformats.org/drawingml/2006/main">
            <a:r>
              <a:t/>
            </a:r>
          </a:p>
          <a:p xmlns:a="http://schemas.openxmlformats.org/drawingml/2006/main">
            <a:r>
              <a:t>**함께 보는 예.** 22.5, 24.0, 25.0에서 ‘24.0 초과’는 마지막 한 건입니다. 24.0은 같은 값이므로 포함하지 않습니다. &gt;를 &gt;=로 바꾸면 두 건이 됩니다.</a:t>
            </a:r>
          </a:p>
          <a:p xmlns:a="http://schemas.openxmlformats.org/drawingml/2006/main">
            <a:r>
              <a:t/>
            </a:r>
          </a:p>
          <a:p xmlns:a="http://schemas.openxmlformats.org/drawingml/2006/main">
            <a:r>
              <a:t>**헷갈리는 경우.** count = count + 1은 새 값을 누적하는 대입입니다. 반복 안에서 count = 0을 매번 실행하면 이전 차례의 누적을 잃습니다.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temperatures = [22.5, 24.0, 25.0]</a:t>
            </a:r>
          </a:p>
          <a:p xmlns:a="http://schemas.openxmlformats.org/drawingml/2006/main">
            <a:r>
              <a:t>count = 0</a:t>
            </a:r>
          </a:p>
          <a:p xmlns:a="http://schemas.openxmlformats.org/drawingml/2006/main">
            <a:r>
              <a:t>for temperature_c in temperatures:</a:t>
            </a:r>
          </a:p>
          <a:p xmlns:a="http://schemas.openxmlformats.org/drawingml/2006/main">
            <a:r>
              <a:t>    if temperature_c &gt; 24.0:</a:t>
            </a:r>
          </a:p>
          <a:p xmlns:a="http://schemas.openxmlformats.org/drawingml/2006/main">
            <a:r>
              <a:t>        count = count + 1</a:t>
            </a:r>
          </a:p>
          <a:p xmlns:a="http://schemas.openxmlformats.org/drawingml/2006/main">
            <a:r>
              <a:t>print("확인 건수", count)</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`temperatures = [22.5, 24.0, 25.0]` | 점검할 온도 목록을 준비합니다. |</a:t>
            </a:r>
          </a:p>
          <a:p xmlns:a="http://schemas.openxmlformats.org/drawingml/2006/main">
            <a:r>
              <a:t>| 2 | `count = 0` | 아직 센 기록이 없어서 0으로 시작합니다. |</a:t>
            </a:r>
          </a:p>
          <a:p xmlns:a="http://schemas.openxmlformats.org/drawingml/2006/main">
            <a:r>
              <a:t>| 3 | `for temperature_c in temperatures:` | 각 온도를 차례로 확인합니다. |</a:t>
            </a:r>
          </a:p>
          <a:p xmlns:a="http://schemas.openxmlformats.org/drawingml/2006/main">
            <a:r>
              <a:t>| 4 | `    if temperature_c &gt; 24.0:` | 이번 온도가 기준을 초과했는지 묻습니다. |</a:t>
            </a:r>
          </a:p>
          <a:p xmlns:a="http://schemas.openxmlformats.org/drawingml/2006/main">
            <a:r>
              <a:t>| 5 | `        count = count + 1` | 조건이 참인 경우만 누적 개수를 하나 늘립니다. |</a:t>
            </a:r>
          </a:p>
          <a:p xmlns:a="http://schemas.openxmlformats.org/drawingml/2006/main">
            <a:r>
              <a:t>| 6 | `print("확인 건수", count)` | 모든 점검 뒤 최종 개수를 보여 줍니다.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code/A15_example.py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work/A15_example.py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확인 건수 1</a:t>
            </a:r>
          </a:p>
          <a:p xmlns:a="http://schemas.openxmlformats.org/drawingml/2006/main">
            <a:r>
              <a:t>```</a:t>
            </a:r>
          </a:p>
          <a:p xmlns:a="http://schemas.openxmlformats.org/drawingml/2006/main">
            <a:r>
              <a:t/>
            </a:r>
          </a:p>
          <a:p xmlns:a="http://schemas.openxmlformats.org/drawingml/2006/main">
            <a:r>
              <a:t>작은 수정: `&gt; 24.0`를 `&gt;= 24.0`로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확인 건수 2</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각 차례의 온도·조건 결과·누적 count를 표로 씁니다.</a:t>
            </a:r>
          </a:p>
          <a:p xmlns:a="http://schemas.openxmlformats.org/drawingml/2006/main">
            <a:r>
              <a:t>2. 초과를 이상으로 바꾸었을 때 영향을 받는 값을 표시합니다.</a:t>
            </a:r>
          </a:p>
          <a:p xmlns:a="http://schemas.openxmlformats.org/drawingml/2006/main">
            <a:r>
              <a:t>3. 연산자 한 곳을 바꾸고 결과를 대조합니다.</a:t>
            </a:r>
          </a:p>
          <a:p xmlns:a="http://schemas.openxmlformats.org/drawingml/2006/main">
            <a:r>
              <a:t>4. count의 준비 위치를 반복 앞에 둔 이유를 설명합니다.</a:t>
            </a:r>
          </a:p>
          <a:p xmlns:a="http://schemas.openxmlformats.org/drawingml/2006/main">
            <a:r>
              <a:t/>
            </a:r>
          </a:p>
          <a:p xmlns:a="http://schemas.openxmlformats.org/drawingml/2006/main">
            <a:r>
              <a:t>예상 결과: 초과는 1건, 이상은 2건이며 경계값 24.0이 차이를 만듭니다.</a:t>
            </a:r>
          </a:p>
          <a:p xmlns:a="http://schemas.openxmlformats.org/drawingml/2006/main">
            <a:r>
              <a:t/>
            </a:r>
          </a:p>
          <a:p xmlns:a="http://schemas.openxmlformats.org/drawingml/2006/main">
            <a:r>
              <a:t>확인 질문: 한 번의 print인데 세 항목을 검사할 수 있는 이유는 무엇인가요?</a:t>
            </a:r>
          </a:p>
          <a:p xmlns:a="http://schemas.openxmlformats.org/drawingml/2006/main">
            <a:r>
              <a:t/>
            </a:r>
          </a:p>
          <a:p xmlns:a="http://schemas.openxmlformats.org/drawingml/2006/main">
            <a:r>
              <a:t>막혔을 때: 건수가 항상 0 또는 1이면 초기화 위치와 누적 줄의 들여쓰기를 확인합니다.</a:t>
            </a:r>
          </a:p>
          <a:p xmlns:a="http://schemas.openxmlformats.org/drawingml/2006/main">
            <a:r>
              <a:t/>
            </a:r>
          </a:p>
          <a:p xmlns:a="http://schemas.openxmlformats.org/drawingml/2006/main">
            <a:r>
              <a:t>[활동 자료와 작성칸](practice-guide.md#a15--반복-안에서-조건-확인과-개수-세기)에서 A15를 엽니다.</a:t>
            </a:r>
          </a:p>
          <a:p xmlns:a="http://schemas.openxmlformats.org/drawingml/2006/main">
            <a:r>
              <a:t/>
            </a:r>
          </a:p>
          <a:p xmlns:a="http://schemas.openxmlformats.org/drawingml/2006/main">
            <a:r>
              <a:t># 6구간 · 작은 점검 프로그램</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필수 개념 설명의 보충입니다.</a:t>
            </a:r>
          </a:p>
          <a:p xmlns:a="http://schemas.openxmlformats.org/drawingml/2006/main">
            <a:r>
              <a:t>세 배송 상자의 무게가 순서대로 2, 5, 1kg입니다. 목록은 여러 값을 정해진 순서로 묶는 방법입니다. Python의 리스트에서 첫 위치 번호는 0이고 두 번째는 1, 세 번째는 2입니다. 위치 번호는 상자 이름이 아니라 그 목록 안의 순서이므로 정렬하거나 삽입하면 달라질 수 있습니다. 길이 3은 항목 수이며 마지막 위치 번호는 2입니다. 3번째 위치라고 생각해 번호 3으로 읽으면 없는 칸을 찾는 오류가 생깁니다.</a:t>
            </a:r>
          </a:p>
          <a:p xmlns:a="http://schemas.openxmlformats.org/drawingml/2006/main">
            <a:r>
              <a:t/>
            </a:r>
          </a:p>
          <a:p xmlns:a="http://schemas.openxmlformats.org/drawingml/2006/main">
            <a:r>
              <a:t>각 상자의 무게를 합하려면 반복문으로 한 항목씩 읽고 합계의 현재 값을 갱신합니다. 합계는 반복 전에 0으로 시작합니다. 첫 바퀴는 현재 합계 0에 2를 더해 2, 두 번째는 2에 5를 더해 7, 세 번째는 7에 1을 더해 8입니다. 손 추적표에는 바퀴·현재 항목·변경 전 합계·변경 후 합계를 씁니다. 반복 끝의 총합은 8kg입니다. 반복 안에서 매번 합계를 0으로 다시 만들면 2→5→1처럼 마지막 상자만 남을 수 있습니다.</a:t>
            </a:r>
          </a:p>
          <a:p xmlns:a="http://schemas.openxmlformats.org/drawingml/2006/main">
            <a:r>
              <a:t/>
            </a:r>
          </a:p>
          <a:p xmlns:a="http://schemas.openxmlformats.org/drawingml/2006/main">
            <a:r>
              <a:t>또 다른 질문은 ‘4kg 초과인 상자가 몇 개인가’입니다. 첫 2는 조건 거짓이라 건수 0, 다음 5는 참이라 건수 1, 마지막 1은 거짓이라 건수 1입니다. 총무게 8과 초과 상자 수 1은 서로 다른 결과입니다. 누적하는 대상이 무게인지 참인 항목의 개수인지 먼저 정합니다. 반복 본문을 들여쓰는 것은 같은 일을 각 항목에 적용한다는 표시입니다. 완료 안내가 반복 안에 있으면 상자마다 나오고 밖에 있으면 끝에 한 번 나옵니다. 목록이 비어 있으면 바퀴가 없으므로 합계의 초기값과 완료 안내의 위치를 그대로 추적합니다.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보강 단원의 완성 추적 예입니다. 세부 이유와 경계 조건은 아래 원고를 설명합니다.</a:t>
            </a:r>
          </a:p>
          <a:p xmlns:a="http://schemas.openxmlformats.org/drawingml/2006/main">
            <a:r>
              <a:t>세 배송 상자의 무게가 순서대로 2, 5, 1kg입니다. 목록은 여러 값을 정해진 순서로 묶는 방법입니다. Python의 리스트에서 첫 위치 번호는 0이고 두 번째는 1, 세 번째는 2입니다. 위치 번호는 상자 이름이 아니라 그 목록 안의 순서이므로 정렬하거나 삽입하면 달라질 수 있습니다. 길이 3은 항목 수이며 마지막 위치 번호는 2입니다. 3번째 위치라고 생각해 번호 3으로 읽으면 없는 칸을 찾는 오류가 생깁니다.</a:t>
            </a:r>
          </a:p>
          <a:p xmlns:a="http://schemas.openxmlformats.org/drawingml/2006/main">
            <a:r>
              <a:t/>
            </a:r>
          </a:p>
          <a:p xmlns:a="http://schemas.openxmlformats.org/drawingml/2006/main">
            <a:r>
              <a:t>각 상자의 무게를 합하려면 반복문으로 한 항목씩 읽고 합계의 현재 값을 갱신합니다. 합계는 반복 전에 0으로 시작합니다. 첫 바퀴는 현재 합계 0에 2를 더해 2, 두 번째는 2에 5를 더해 7, 세 번째는 7에 1을 더해 8입니다. 손 추적표에는 바퀴·현재 항목·변경 전 합계·변경 후 합계를 씁니다. 반복 끝의 총합은 8kg입니다. 반복 안에서 매번 합계를 0으로 다시 만들면 2→5→1처럼 마지막 상자만 남을 수 있습니다.</a:t>
            </a:r>
          </a:p>
          <a:p xmlns:a="http://schemas.openxmlformats.org/drawingml/2006/main">
            <a:r>
              <a:t/>
            </a:r>
          </a:p>
          <a:p xmlns:a="http://schemas.openxmlformats.org/drawingml/2006/main">
            <a:r>
              <a:t>또 다른 질문은 ‘4kg 초과인 상자가 몇 개인가’입니다. 첫 2는 조건 거짓이라 건수 0, 다음 5는 참이라 건수 1, 마지막 1은 거짓이라 건수 1입니다. 총무게 8과 초과 상자 수 1은 서로 다른 결과입니다. 누적하는 대상이 무게인지 참인 항목의 개수인지 먼저 정합니다. 반복 본문을 들여쓰는 것은 같은 일을 각 항목에 적용한다는 표시입니다. 완료 안내가 반복 안에 있으면 상자마다 나오고 밖에 있으면 끝에 한 번 나옵니다. 목록이 비어 있으면 바퀴가 없으므로 합계의 초기값과 완료 안내의 위치를 그대로 추적합니다.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복습·도전: 주문별 수량 목록은 3, 0, 7, 2입니다. 총수량과 2개 초과 주문 수를 각각 손 추적표로 구하세요. 길이와 마지막 위치 번호, 빈 목록일 때 두 결과도 적으세요.</a:t>
            </a:r>
          </a:p>
          <a:p xmlns:a="http://schemas.openxmlformats.org/drawingml/2006/main">
            <a:r>
              <a:t/>
            </a:r>
          </a:p>
          <a:p xmlns:a="http://schemas.openxmlformats.org/drawingml/2006/main">
            <a:r>
              <a:t>학생이 독립적으로 답을 만든 뒤 다음 슬라이드로 넘어갑니다. 필수 수행에 이 문제 전체를 억지로 포함하지 않습니다.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총수량은 12개이고 초과 주문은 3과 7 두 건입니다. 길이 4, 마지막 번호 3입니다. 빈 목록은 초기 합계 0·건수 0을 유지합니다. 0을 오류라고 임의 삭제하거나 수량 합 12를 주문 건수로 쓰면 서로 다른 질문을 혼동한 것입니다.</a:t>
            </a:r>
          </a:p>
          <a:p xmlns:a="http://schemas.openxmlformats.org/drawingml/2006/main">
            <a:r>
              <a:t/>
            </a:r>
          </a:p>
          <a:p xmlns:a="http://schemas.openxmlformats.org/drawingml/2006/main">
            <a:r>
              <a:t>핵심 질문과 해설:</a:t>
            </a:r>
          </a:p>
          <a:p xmlns:a="http://schemas.openxmlformats.org/drawingml/2006/main">
            <a:r>
              <a:t>첫 위치가 왜 0인가요? Python 리스트가 정한 위치 번호 약속이므로 실제 목록을 그 규칙으로 읽습니다.</a:t>
            </a:r>
          </a:p>
          <a:p xmlns:a="http://schemas.openxmlformats.org/drawingml/2006/main">
            <a:r>
              <a:t>합계 초기화는 어디에 놓나요? 이전 바퀴 결과를 유지하도록 반복 전에 한 번 놓습니다.</a:t>
            </a:r>
          </a:p>
          <a:p xmlns:a="http://schemas.openxmlformats.org/drawingml/2006/main">
            <a:r>
              <a:t>길이 4이면 번호 4를 읽나요? 마지막 번호는 3이며 번호 4는 범위 밖입니다.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A15 상세 원문]</a:t>
            </a:r>
          </a:p>
          <a:p xmlns:a="http://schemas.openxmlformats.org/drawingml/2006/main">
            <a:r>
              <a:t>**개념.** 반복 안에 조건을 넣으면 각 항목에 같은 판단을 적용할 수 있습니다. 개수를 세는 이름은 반복 전에 0으로 준비하고 조건을 만족할 때 1씩 더합니다.</a:t>
            </a:r>
          </a:p>
          <a:p xmlns:a="http://schemas.openxmlformats.org/drawingml/2006/main">
            <a:r>
              <a:t/>
            </a:r>
          </a:p>
          <a:p xmlns:a="http://schemas.openxmlformats.org/drawingml/2006/main">
            <a:r>
              <a:t>**왜 필요한가.** 어떤 기록이 기준을 넘었는지와 전체 몇 건인지 함께 확인할 수 있습니다. 초기화를 반복 안에 넣으면 매번 0으로 돌아가므로 준비 위치가 결과에 영향을 줍니다.</a:t>
            </a:r>
          </a:p>
          <a:p xmlns:a="http://schemas.openxmlformats.org/drawingml/2006/main">
            <a:r>
              <a:t/>
            </a:r>
          </a:p>
          <a:p xmlns:a="http://schemas.openxmlformats.org/drawingml/2006/main">
            <a:r>
              <a:t>**함께 보는 예.** 22.5, 24.0, 25.0에서 ‘24.0 초과’는 마지막 한 건입니다. 24.0은 같은 값이므로 포함하지 않습니다. &gt;를 &gt;=로 바꾸면 두 건이 됩니다.</a:t>
            </a:r>
          </a:p>
          <a:p xmlns:a="http://schemas.openxmlformats.org/drawingml/2006/main">
            <a:r>
              <a:t/>
            </a:r>
          </a:p>
          <a:p xmlns:a="http://schemas.openxmlformats.org/drawingml/2006/main">
            <a:r>
              <a:t>**헷갈리는 경우.** count = count + 1은 새 값을 누적하는 대입입니다. 반복 안에서 count = 0을 매번 실행하면 이전 차례의 누적을 잃습니다.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temperatures = [22.5, 24.0, 25.0]</a:t>
            </a:r>
          </a:p>
          <a:p xmlns:a="http://schemas.openxmlformats.org/drawingml/2006/main">
            <a:r>
              <a:t>count = 0</a:t>
            </a:r>
          </a:p>
          <a:p xmlns:a="http://schemas.openxmlformats.org/drawingml/2006/main">
            <a:r>
              <a:t>for temperature_c in temperatures:</a:t>
            </a:r>
          </a:p>
          <a:p xmlns:a="http://schemas.openxmlformats.org/drawingml/2006/main">
            <a:r>
              <a:t>    if temperature_c &gt; 24.0:</a:t>
            </a:r>
          </a:p>
          <a:p xmlns:a="http://schemas.openxmlformats.org/drawingml/2006/main">
            <a:r>
              <a:t>        count = count + 1</a:t>
            </a:r>
          </a:p>
          <a:p xmlns:a="http://schemas.openxmlformats.org/drawingml/2006/main">
            <a:r>
              <a:t>print("확인 건수", count)</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`temperatures = [22.5, 24.0, 25.0]` | 점검할 온도 목록을 준비합니다. |</a:t>
            </a:r>
          </a:p>
          <a:p xmlns:a="http://schemas.openxmlformats.org/drawingml/2006/main">
            <a:r>
              <a:t>| 2 | `count = 0` | 아직 센 기록이 없어서 0으로 시작합니다. |</a:t>
            </a:r>
          </a:p>
          <a:p xmlns:a="http://schemas.openxmlformats.org/drawingml/2006/main">
            <a:r>
              <a:t>| 3 | `for temperature_c in temperatures:` | 각 온도를 차례로 확인합니다. |</a:t>
            </a:r>
          </a:p>
          <a:p xmlns:a="http://schemas.openxmlformats.org/drawingml/2006/main">
            <a:r>
              <a:t>| 4 | `    if temperature_c &gt; 24.0:` | 이번 온도가 기준을 초과했는지 묻습니다. |</a:t>
            </a:r>
          </a:p>
          <a:p xmlns:a="http://schemas.openxmlformats.org/drawingml/2006/main">
            <a:r>
              <a:t>| 5 | `        count = count + 1` | 조건이 참인 경우만 누적 개수를 하나 늘립니다. |</a:t>
            </a:r>
          </a:p>
          <a:p xmlns:a="http://schemas.openxmlformats.org/drawingml/2006/main">
            <a:r>
              <a:t>| 6 | `print("확인 건수", count)` | 모든 점검 뒤 최종 개수를 보여 줍니다.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code/A15_example.py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work/A15_example.py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확인 건수 1</a:t>
            </a:r>
          </a:p>
          <a:p xmlns:a="http://schemas.openxmlformats.org/drawingml/2006/main">
            <a:r>
              <a:t>```</a:t>
            </a:r>
          </a:p>
          <a:p xmlns:a="http://schemas.openxmlformats.org/drawingml/2006/main">
            <a:r>
              <a:t/>
            </a:r>
          </a:p>
          <a:p xmlns:a="http://schemas.openxmlformats.org/drawingml/2006/main">
            <a:r>
              <a:t>작은 수정: `&gt; 24.0`를 `&gt;= 24.0`로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확인 건수 2</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각 차례의 온도·조건 결과·누적 count를 표로 씁니다.</a:t>
            </a:r>
          </a:p>
          <a:p xmlns:a="http://schemas.openxmlformats.org/drawingml/2006/main">
            <a:r>
              <a:t>2. 초과를 이상으로 바꾸었을 때 영향을 받는 값을 표시합니다.</a:t>
            </a:r>
          </a:p>
          <a:p xmlns:a="http://schemas.openxmlformats.org/drawingml/2006/main">
            <a:r>
              <a:t>3. 연산자 한 곳을 바꾸고 결과를 대조합니다.</a:t>
            </a:r>
          </a:p>
          <a:p xmlns:a="http://schemas.openxmlformats.org/drawingml/2006/main">
            <a:r>
              <a:t>4. count의 준비 위치를 반복 앞에 둔 이유를 설명합니다.</a:t>
            </a:r>
          </a:p>
          <a:p xmlns:a="http://schemas.openxmlformats.org/drawingml/2006/main">
            <a:r>
              <a:t/>
            </a:r>
          </a:p>
          <a:p xmlns:a="http://schemas.openxmlformats.org/drawingml/2006/main">
            <a:r>
              <a:t>예상 결과: 초과는 1건, 이상은 2건이며 경계값 24.0이 차이를 만듭니다.</a:t>
            </a:r>
          </a:p>
          <a:p xmlns:a="http://schemas.openxmlformats.org/drawingml/2006/main">
            <a:r>
              <a:t/>
            </a:r>
          </a:p>
          <a:p xmlns:a="http://schemas.openxmlformats.org/drawingml/2006/main">
            <a:r>
              <a:t>확인 질문: 한 번의 print인데 세 항목을 검사할 수 있는 이유는 무엇인가요?</a:t>
            </a:r>
          </a:p>
          <a:p xmlns:a="http://schemas.openxmlformats.org/drawingml/2006/main">
            <a:r>
              <a:t/>
            </a:r>
          </a:p>
          <a:p xmlns:a="http://schemas.openxmlformats.org/drawingml/2006/main">
            <a:r>
              <a:t>막혔을 때: 건수가 항상 0 또는 1이면 초기화 위치와 누적 줄의 들여쓰기를 확인합니다.</a:t>
            </a:r>
          </a:p>
          <a:p xmlns:a="http://schemas.openxmlformats.org/drawingml/2006/main">
            <a:r>
              <a:t/>
            </a:r>
          </a:p>
          <a:p xmlns:a="http://schemas.openxmlformats.org/drawingml/2006/main">
            <a:r>
              <a:t>[활동 자료와 작성칸](practice-guide.md#a15--반복-안에서-조건-확인과-개수-세기)에서 A15를 엽니다.</a:t>
            </a:r>
          </a:p>
          <a:p xmlns:a="http://schemas.openxmlformats.org/drawingml/2006/main">
            <a:r>
              <a:t/>
            </a:r>
          </a:p>
          <a:p xmlns:a="http://schemas.openxmlformats.org/drawingml/2006/main">
            <a:r>
              <a:t># 6구간 · 작은 점검 프로그램</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문장:</a:t>
            </a:r>
          </a:p>
          <a:p xmlns:a="http://schemas.openxmlformats.org/drawingml/2006/main">
            <a:r>
              <a:t>초기 합계와 건수는 반복 전에 둡니다.</a:t>
            </a:r>
          </a:p>
          <a:p xmlns:a="http://schemas.openxmlformats.org/drawingml/2006/main">
            <a:r>
              <a:t>총수량과 해당 주문 수는 다른 질문입니다.</a:t>
            </a:r>
          </a:p>
          <a:p xmlns:a="http://schemas.openxmlformats.org/drawingml/2006/main">
            <a:r>
              <a:t>반복 안팎의 들여쓰기를 확인합니다.</a:t>
            </a:r>
          </a:p>
          <a:p xmlns:a="http://schemas.openxmlformats.org/drawingml/2006/main">
            <a:r>
              <a:t/>
            </a:r>
          </a:p>
          <a:p xmlns:a="http://schemas.openxmlformats.org/drawingml/2006/main">
            <a:r>
              <a:t>관련 교시의 상세 원문:</a:t>
            </a:r>
          </a:p>
          <a:p xmlns:a="http://schemas.openxmlformats.org/drawingml/2006/main">
            <a:r>
              <a:t>### 사례로 이해하기 · 목록의 위치와 반복 누적을 함께 추적하기</a:t>
            </a:r>
          </a:p>
          <a:p xmlns:a="http://schemas.openxmlformats.org/drawingml/2006/main">
            <a:r>
              <a:t/>
            </a:r>
          </a:p>
          <a:p xmlns:a="http://schemas.openxmlformats.org/drawingml/2006/main">
            <a:r>
              <a:t>필수 설명 보충입니다. 강사 시연 → 함께 추적 → 예상과 실제 비교 → 자기 말로 설명 순서로 읽습니다. 아래 독립 문제는 복습·도전이며 기존 50분 필수 경로와 별도로 활용합니다.</a:t>
            </a:r>
          </a:p>
          <a:p xmlns:a="http://schemas.openxmlformats.org/drawingml/2006/main">
            <a:r>
              <a:t/>
            </a:r>
          </a:p>
          <a:p xmlns:a="http://schemas.openxmlformats.org/drawingml/2006/main">
            <a:r>
              <a:t>세 배송 상자의 무게가 순서대로 2, 5, 1kg입니다. 목록은 여러 값을 정해진 순서로 묶는 방법입니다. Python의 리스트에서 첫 위치 번호는 0이고 두 번째는 1, 세 번째는 2입니다. 위치 번호는 상자 이름이 아니라 그 목록 안의 순서이므로 정렬하거나 삽입하면 달라질 수 있습니다. 길이 3은 항목 수이며 마지막 위치 번호는 2입니다. 3번째 위치라고 생각해 번호 3으로 읽으면 없는 칸을 찾는 오류가 생깁니다.</a:t>
            </a:r>
          </a:p>
          <a:p xmlns:a="http://schemas.openxmlformats.org/drawingml/2006/main">
            <a:r>
              <a:t/>
            </a:r>
          </a:p>
          <a:p xmlns:a="http://schemas.openxmlformats.org/drawingml/2006/main">
            <a:r>
              <a:t>각 상자의 무게를 합하려면 반복문으로 한 항목씩 읽고 합계의 현재 값을 갱신합니다. 합계는 반복 전에 0으로 시작합니다. 첫 바퀴는 현재 합계 0에 2를 더해 2, 두 번째는 2에 5를 더해 7, 세 번째는 7에 1을 더해 8입니다. 손 추적표에는 바퀴·현재 항목·변경 전 합계·변경 후 합계를 씁니다. 반복 끝의 총합은 8kg입니다. 반복 안에서 매번 합계를 0으로 다시 만들면 2→5→1처럼 마지막 상자만 남을 수 있습니다.</a:t>
            </a:r>
          </a:p>
          <a:p xmlns:a="http://schemas.openxmlformats.org/drawingml/2006/main">
            <a:r>
              <a:t/>
            </a:r>
          </a:p>
          <a:p xmlns:a="http://schemas.openxmlformats.org/drawingml/2006/main">
            <a:r>
              <a:t>또 다른 질문은 ‘4kg 초과인 상자가 몇 개인가’입니다. 첫 2는 조건 거짓이라 건수 0, 다음 5는 참이라 건수 1, 마지막 1은 거짓이라 건수 1입니다. 총무게 8과 초과 상자 수 1은 서로 다른 결과입니다. 누적하는 대상이 무게인지 참인 항목의 개수인지 먼저 정합니다. 반복 본문을 들여쓰는 것은 같은 일을 각 항목에 적용한다는 표시입니다. 완료 안내가 반복 안에 있으면 상자마다 나오고 밖에 있으면 끝에 한 번 나옵니다. 목록이 비어 있으면 바퀴가 없으므로 합계의 초기값과 완료 안내의 위치를 그대로 추적합니다.</a:t>
            </a:r>
          </a:p>
          <a:p xmlns:a="http://schemas.openxmlformats.org/drawingml/2006/main">
            <a:r>
              <a:t/>
            </a:r>
          </a:p>
          <a:p xmlns:a="http://schemas.openxmlformats.org/drawingml/2006/main">
            <a:r>
              <a:t>### 새 상황에 독립적으로 적용하기</a:t>
            </a:r>
          </a:p>
          <a:p xmlns:a="http://schemas.openxmlformats.org/drawingml/2006/main">
            <a:r>
              <a:t/>
            </a:r>
          </a:p>
          <a:p xmlns:a="http://schemas.openxmlformats.org/drawingml/2006/main">
            <a:r>
              <a:t>복습·도전: 주문별 수량 목록은 3, 0, 7, 2입니다. 총수량과 2개 초과 주문 수를 각각 손 추적표로 구하세요. 길이와 마지막 위치 번호, 빈 목록일 때 두 결과도 적으세요.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총수량은 12개이고 초과 주문은 3과 7 두 건입니다. 길이 4, 마지막 번호 3입니다. 빈 목록은 초기 합계 0·건수 0을 유지합니다. 0을 오류라고 임의 삭제하거나 수량 합 12를 주문 건수로 쓰면 서로 다른 질문을 혼동한 것입니다.</a:t>
            </a:r>
          </a:p>
          <a:p xmlns:a="http://schemas.openxmlformats.org/drawingml/2006/main">
            <a:r>
              <a:t/>
            </a:r>
          </a:p>
          <a:p xmlns:a="http://schemas.openxmlformats.org/drawingml/2006/main">
            <a:r>
              <a:t>### 핵심 세 질문과 해설</a:t>
            </a:r>
          </a:p>
          <a:p xmlns:a="http://schemas.openxmlformats.org/drawingml/2006/main">
            <a:r>
              <a:t/>
            </a:r>
          </a:p>
          <a:p xmlns:a="http://schemas.openxmlformats.org/drawingml/2006/main">
            <a:r>
              <a:t>1. **첫 위치가 왜 0인가요?** Python 리스트가 정한 위치 번호 약속이므로 실제 목록을 그 규칙으로 읽습니다.</a:t>
            </a:r>
          </a:p>
          <a:p xmlns:a="http://schemas.openxmlformats.org/drawingml/2006/main">
            <a:r>
              <a:t/>
            </a:r>
          </a:p>
          <a:p xmlns:a="http://schemas.openxmlformats.org/drawingml/2006/main">
            <a:r>
              <a:t>2. **합계 초기화는 어디에 놓나요?** 이전 바퀴 결과를 유지하도록 반복 전에 한 번 놓습니다.</a:t>
            </a:r>
          </a:p>
          <a:p xmlns:a="http://schemas.openxmlformats.org/drawingml/2006/main">
            <a:r>
              <a:t/>
            </a:r>
          </a:p>
          <a:p xmlns:a="http://schemas.openxmlformats.org/drawingml/2006/main">
            <a:r>
              <a:t>3. **길이 4이면 번호 4를 읽나요?** 마지막 번호는 3이며 번호 4는 범위 밖입니다.</a:t>
            </a:r>
          </a:p>
          <a:p xmlns:a="http://schemas.openxmlformats.org/drawingml/2006/main">
            <a:r>
              <a:t/>
            </a:r>
          </a:p>
          <a:p xmlns:a="http://schemas.openxmlformats.org/drawingml/2006/main">
            <a:r>
              <a:t/>
            </a:r>
          </a:p>
          <a:p xmlns:a="http://schemas.openxmlformats.org/drawingml/2006/main">
            <a:r>
              <a:t>**개념.** 리스트는 여러 값을 순서대로 묶는 Python 자료구조입니다. 대괄호로 묶고 쉼표로 항목을 나눕니다. 위치 번호는 0부터 시작하며 len은 항목 개수를 돌려줍니다.</a:t>
            </a:r>
          </a:p>
          <a:p xmlns:a="http://schemas.openxmlformats.org/drawingml/2006/main">
            <a:r>
              <a:t/>
            </a:r>
          </a:p>
          <a:p xmlns:a="http://schemas.openxmlformats.org/drawingml/2006/main">
            <a:r>
              <a:t>**왜 필요한가.** 측정값이 세 개에서 네 개로 늘어날 때 이름을 계속 만드는 대신 하나의 목록으로 다룰 수 있습니다. 10/8에 읽었던 순서 구조를 직접 작은 값 수정으로 연결합니다.</a:t>
            </a:r>
          </a:p>
          <a:p xmlns:a="http://schemas.openxmlformats.org/drawingml/2006/main">
            <a:r>
              <a:t/>
            </a:r>
          </a:p>
          <a:p xmlns:a="http://schemas.openxmlformats.org/drawingml/2006/main">
            <a:r>
              <a:t>**함께 보는 예.** temperatures[0]은 첫 값 22.5이고 len은 3입니다. 마지막 위치 번호는 2이지 3이 아닙니다. 개수와 위치 번호를 서로 다른 질문으로 적습니다.</a:t>
            </a:r>
          </a:p>
          <a:p xmlns:a="http://schemas.openxmlformats.org/drawingml/2006/main">
            <a:r>
              <a:t/>
            </a:r>
          </a:p>
          <a:p xmlns:a="http://schemas.openxmlformats.org/drawingml/2006/main">
            <a:r>
              <a:t>**헷갈리는 경우.** [22.5, 24.0]은 두 값의 목록이고 "22.5, 24.0"은 쉼표가 들어 있는 문자열입니다. 겉에 어떤 괄호나 따옴표가 있는지 확인합니다.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temperatures = [22.5, 24.0, 23.5]</a:t>
            </a:r>
          </a:p>
          <a:p xmlns:a="http://schemas.openxmlformats.org/drawingml/2006/main">
            <a:r>
              <a:t>print(temperatures[0])</a:t>
            </a:r>
          </a:p>
          <a:p xmlns:a="http://schemas.openxmlformats.org/drawingml/2006/main">
            <a:r>
              <a:t>print(len(temperatures))</a:t>
            </a:r>
          </a:p>
          <a:p xmlns:a="http://schemas.openxmlformats.org/drawingml/2006/main">
            <a:r>
              <a:t>temperatures.append(25.0)</a:t>
            </a:r>
          </a:p>
          <a:p xmlns:a="http://schemas.openxmlformats.org/drawingml/2006/main">
            <a:r>
              <a:t>print(len(temperatures))</a:t>
            </a:r>
          </a:p>
          <a:p xmlns:a="http://schemas.openxmlformats.org/drawingml/2006/main">
            <a:r>
              <a:t>print(temperatures[3])</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`temperatures = [22.5, 24.0, 23.5]` | 온도 세 개를 순서대로 묶습니다. |</a:t>
            </a:r>
          </a:p>
          <a:p xmlns:a="http://schemas.openxmlformats.org/drawingml/2006/main">
            <a:r>
              <a:t>| 2 | `print(temperatures[0])` | 첫 값을 읽습니다. |</a:t>
            </a:r>
          </a:p>
          <a:p xmlns:a="http://schemas.openxmlformats.org/drawingml/2006/main">
            <a:r>
              <a:t>| 3 | `print(len(temperatures))` | 현재 개수를 출력합니다. |</a:t>
            </a:r>
          </a:p>
          <a:p xmlns:a="http://schemas.openxmlformats.org/drawingml/2006/main">
            <a:r>
              <a:t>| 4 | `temperatures.append(25.0)` | 목록 끝에 새 값을 덧붙입니다. |</a:t>
            </a:r>
          </a:p>
          <a:p xmlns:a="http://schemas.openxmlformats.org/drawingml/2006/main">
            <a:r>
              <a:t>| 5 | `print(len(temperatures))` | 추가 뒤 개수를 확인합니다. |</a:t>
            </a:r>
          </a:p>
          <a:p xmlns:a="http://schemas.openxmlformats.org/drawingml/2006/main">
            <a:r>
              <a:t>| 6 | `print(temperatures[3])` | 네 번째 값을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code/A13_example.py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work/A13_example.py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22.5</a:t>
            </a:r>
          </a:p>
          <a:p xmlns:a="http://schemas.openxmlformats.org/drawingml/2006/main">
            <a:r>
              <a:t>3</a:t>
            </a:r>
          </a:p>
          <a:p xmlns:a="http://schemas.openxmlformats.org/drawingml/2006/main">
            <a:r>
              <a:t>4</a:t>
            </a:r>
          </a:p>
          <a:p xmlns:a="http://schemas.openxmlformats.org/drawingml/2006/main">
            <a:r>
              <a:t>25.0</a:t>
            </a:r>
          </a:p>
          <a:p xmlns:a="http://schemas.openxmlformats.org/drawingml/2006/main">
            <a:r>
              <a:t>```</a:t>
            </a:r>
          </a:p>
          <a:p xmlns:a="http://schemas.openxmlformats.org/drawingml/2006/main">
            <a:r>
              <a:t/>
            </a:r>
          </a:p>
          <a:p xmlns:a="http://schemas.openxmlformats.org/drawingml/2006/main">
            <a:r>
              <a:t>작은 수정: `append(25.0)`를 `append(26.0)`로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22.5</a:t>
            </a:r>
          </a:p>
          <a:p xmlns:a="http://schemas.openxmlformats.org/drawingml/2006/main">
            <a:r>
              <a:t>3</a:t>
            </a:r>
          </a:p>
          <a:p xmlns:a="http://schemas.openxmlformats.org/drawingml/2006/main">
            <a:r>
              <a:t>4</a:t>
            </a:r>
          </a:p>
          <a:p xmlns:a="http://schemas.openxmlformats.org/drawingml/2006/main">
            <a:r>
              <a:t>26.0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추가 전과 후의 목록을 종이에 그립니다.</a:t>
            </a:r>
          </a:p>
          <a:p xmlns:a="http://schemas.openxmlformats.org/drawingml/2006/main">
            <a:r>
              <a:t>2. 각 위치 번호와 개수를 따로 표시합니다.</a:t>
            </a:r>
          </a:p>
          <a:p xmlns:a="http://schemas.openxmlformats.org/drawingml/2006/main">
            <a:r>
              <a:t>3. 추가할 값을 26.0으로 바꾸고 출력 변화를 예상합니다.</a:t>
            </a:r>
          </a:p>
          <a:p xmlns:a="http://schemas.openxmlformats.org/drawingml/2006/main">
            <a:r>
              <a:t>4. 아직 없는 위치를 읽는 오류 사례를 설명합니다.</a:t>
            </a:r>
          </a:p>
          <a:p xmlns:a="http://schemas.openxmlformats.org/drawingml/2006/main">
            <a:r>
              <a:t/>
            </a:r>
          </a:p>
          <a:p xmlns:a="http://schemas.openxmlformats.org/drawingml/2006/main">
            <a:r>
              <a:t>예상 결과: 추가 후 개수 4, 마지막 값 26.0. 기존 첫 값은 유지됩니다.</a:t>
            </a:r>
          </a:p>
          <a:p xmlns:a="http://schemas.openxmlformats.org/drawingml/2006/main">
            <a:r>
              <a:t/>
            </a:r>
          </a:p>
          <a:p xmlns:a="http://schemas.openxmlformats.org/drawingml/2006/main">
            <a:r>
              <a:t>확인 질문: 값 하나를 수정하는 것과 append로 추가하는 것은 개수에 어떤 차이가 있나요?</a:t>
            </a:r>
          </a:p>
          <a:p xmlns:a="http://schemas.openxmlformats.org/drawingml/2006/main">
            <a:r>
              <a:t/>
            </a:r>
          </a:p>
          <a:p xmlns:a="http://schemas.openxmlformats.org/drawingml/2006/main">
            <a:r>
              <a:t>막혔을 때: IndexError가 나면 읽는 시점의 목록 길이와 위치 번호를 확인합니다. 뒤에서 추가된다고 앞에서 이미 존재하는 것은 아닙니다.</a:t>
            </a:r>
          </a:p>
          <a:p xmlns:a="http://schemas.openxmlformats.org/drawingml/2006/main">
            <a:r>
              <a:t/>
            </a:r>
          </a:p>
          <a:p xmlns:a="http://schemas.openxmlformats.org/drawingml/2006/main">
            <a:r>
              <a:t>[활동 자료와 작성칸](practice-guide.md#a13--리스트와-위치로-여러-값-담기)에서 A13를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50분은 운영 배정이며 실제 학습자 수행시간을 측정한 결과가 아닙니다. 시연 → 함께 수행 → 개별 적용 → 예상과 실제 비교 → 자기 말로 설명 순서로 운영합니다.</a:t>
            </a:r>
          </a:p>
          <a:p xmlns:a="http://schemas.openxmlformats.org/drawingml/2006/main">
            <a:r>
              <a:t/>
            </a:r>
          </a:p>
          <a:p xmlns:a="http://schemas.openxmlformats.org/drawingml/2006/main">
            <a:r>
              <a:t>[활동 A16 상세 원문]</a:t>
            </a:r>
          </a:p>
          <a:p xmlns:a="http://schemas.openxmlformats.org/drawingml/2006/main">
            <a:r>
              <a:t>### 사례로 이해하기 · 한 기록의 이름표를 지키며 상태표 만들기</a:t>
            </a:r>
          </a:p>
          <a:p xmlns:a="http://schemas.openxmlformats.org/drawingml/2006/main">
            <a:r>
              <a:t/>
            </a:r>
          </a:p>
          <a:p xmlns:a="http://schemas.openxmlformats.org/drawingml/2006/main">
            <a:r>
              <a:t>필수 설명 보충입니다. 강사 시연 → 함께 추적 → 예상과 실제 비교 → 자기 말로 설명 순서로 읽습니다. 아래 독립 문제는 복습·도전이며 기존 50분 필수 경로와 별도로 활용합니다.</a:t>
            </a:r>
          </a:p>
          <a:p xmlns:a="http://schemas.openxmlformats.org/drawingml/2006/main">
            <a:r>
              <a:t/>
            </a:r>
          </a:p>
          <a:p xmlns:a="http://schemas.openxmlformats.org/drawingml/2006/main">
            <a:r>
              <a:t>점검 기록 세 건에 장치명과 온도가 함께 있습니다. 순서대로 D01은 18℃, D02는 미확인, D03은 26℃입니다. 온도만 따로 출력하면 어느 장치의 값인지 잃습니다. 한 관찰을 이름표가 붙은 값 묶음, 즉 딕셔너리로 만들고 여러 관찰을 리스트로 모읍니다. 바깥 목록은 기록들을 차례로 묶고 안쪽 이름표는 같은 기록의 항목을 구별합니다. 위치 번호와 항목 이름은 찾는 방식이 다르므로 두 겹 구조를 분리해서 봅니다.</a:t>
            </a:r>
          </a:p>
          <a:p xmlns:a="http://schemas.openxmlformats.org/drawingml/2006/main">
            <a:r>
              <a:t/>
            </a:r>
          </a:p>
          <a:p xmlns:a="http://schemas.openxmlformats.org/drawingml/2006/main">
            <a:r>
              <a:t>완성 원문은 D01/18, D02/None, D03/26 세 기록입니다. 수업용 기준은 ‘온도가 25℃ 초과이면 확인, 그 외 숫자는 정상, 미확인은 미측정’입니다. 첫 기록에서 장치명 D01과 숫자 18을 꺼내고 None인지 먼저 묻습니다. 아니므로 18&gt;25를 확인해 정상으로 표시합니다. 둘째는 None이라 미측정으로 표시하고 숫자 비교를 하지 않습니다. 셋째는 26&gt;25가 참이므로 확인입니다. 최종 세 줄은 D01 정상, D02 미측정, D03 확인입니다.</a:t>
            </a:r>
          </a:p>
          <a:p xmlns:a="http://schemas.openxmlformats.org/drawingml/2006/main">
            <a:r>
              <a:t/>
            </a:r>
          </a:p>
          <a:p xmlns:a="http://schemas.openxmlformats.org/drawingml/2006/main">
            <a:r>
              <a:t>이름표 temperature_c와 temperature는 비슷한 뜻이어도 다른 키입니다. 없는 이름표를 직접 찾으면 KeyError가 발생할 수 있습니다. 오류가 없어지도록 임의로 새 키를 만들기 전에 원자료와 약속한 헤더를 비교합니다. 같은 장치가 다른 시각에 다시 측정되면 기록이 하나 더 생길 수 있으므로 장치명만으로 중복 삭제하지 않습니다. 오늘의 상태 프로그램은 제공 숫자를 기준과 비교할 뿐 실제 센서 고장이나 안전을 확정하지 않습니다. 새 입력을 넘길 때 기록의 출처·기준·미확인 처리·예상 결과를 함께 적어 다음 사람이 같은 판단을 재현할 수 있게 합니다.</a:t>
            </a:r>
          </a:p>
          <a:p xmlns:a="http://schemas.openxmlformats.org/drawingml/2006/main">
            <a:r>
              <a:t/>
            </a:r>
          </a:p>
          <a:p xmlns:a="http://schemas.openxmlformats.org/drawingml/2006/main">
            <a:r>
              <a:t>### 새 상황에 독립적으로 적용하기</a:t>
            </a:r>
          </a:p>
          <a:p xmlns:a="http://schemas.openxmlformats.org/drawingml/2006/main">
            <a:r>
              <a:t/>
            </a:r>
          </a:p>
          <a:p xmlns:a="http://schemas.openxmlformats.org/drawingml/2006/main">
            <a:r>
              <a:t>복습·도전: 세 물품 P01 수량 0, P02 수량 미확인, P03 수량 2를 대상으로 ‘2개 이하이면 주문 요청’ 상태표를 새로 설계하세요. 물품번호와 수량의 이름표, 미확인 갈래를 먼저 정하고 세 줄을 작성하세요.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이름표는 예를 들어 product_id와 quantity입니다. P01·P03은 주문 요청, P02는 수량 확인입니다. 0은 실제 수량이라 포함하고 None은 비교 전에 처리합니다. temperature_c 키를 그대로 쓰는 답은 새 업무의 항목 뜻을 맞추지 못한 것입니다.</a:t>
            </a:r>
          </a:p>
          <a:p xmlns:a="http://schemas.openxmlformats.org/drawingml/2006/main">
            <a:r>
              <a:t/>
            </a:r>
          </a:p>
          <a:p xmlns:a="http://schemas.openxmlformats.org/drawingml/2006/main">
            <a:r>
              <a:t>### 핵심 세 질문과 해설</a:t>
            </a:r>
          </a:p>
          <a:p xmlns:a="http://schemas.openxmlformats.org/drawingml/2006/main">
            <a:r>
              <a:t/>
            </a:r>
          </a:p>
          <a:p xmlns:a="http://schemas.openxmlformats.org/drawingml/2006/main">
            <a:r>
              <a:t>1. **목록과 딕셔너리가 함께 필요한 이유는?** 여러 건의 순서와 한 건 안의 항목 이름을 각각 보존하기 위해서입니다.</a:t>
            </a:r>
          </a:p>
          <a:p xmlns:a="http://schemas.openxmlformats.org/drawingml/2006/main">
            <a:r>
              <a:t/>
            </a:r>
          </a:p>
          <a:p xmlns:a="http://schemas.openxmlformats.org/drawingml/2006/main">
            <a:r>
              <a:t>2. **미확인을 숫자 비교 뒤에 두나요?** 숫자로 비교할 수 없으므로 먼저 분기합니다.</a:t>
            </a:r>
          </a:p>
          <a:p xmlns:a="http://schemas.openxmlformats.org/drawingml/2006/main">
            <a:r>
              <a:t/>
            </a:r>
          </a:p>
          <a:p xmlns:a="http://schemas.openxmlformats.org/drawingml/2006/main">
            <a:r>
              <a:t>3. **상태표는 실제 고장을 증명하나요?** 제공 입력과 수업 규칙을 적용한 결과이며 실제 원인은 별도 확인합니다.</a:t>
            </a:r>
          </a:p>
          <a:p xmlns:a="http://schemas.openxmlformats.org/drawingml/2006/main">
            <a:r>
              <a:t/>
            </a:r>
          </a:p>
          <a:p xmlns:a="http://schemas.openxmlformats.org/drawingml/2006/main">
            <a:r>
              <a:t/>
            </a:r>
          </a:p>
          <a:p xmlns:a="http://schemas.openxmlformats.org/drawingml/2006/main">
            <a:r>
              <a:t>**개념.** 딕셔너리는 이름표인 키와 값의 묶음입니다. 여러 관찰 딕셔너리를 리스트로 묶으면 ‘기록 여러 건’의 구조가 됩니다. 이 개념은 10/8의 표 행과 JSON 객체를 프로그램 안에 옮긴 것입니다.</a:t>
            </a:r>
          </a:p>
          <a:p xmlns:a="http://schemas.openxmlformats.org/drawingml/2006/main">
            <a:r>
              <a:t/>
            </a:r>
          </a:p>
          <a:p xmlns:a="http://schemas.openxmlformats.org/drawingml/2006/main">
            <a:r>
              <a:t>**왜 필요한가.** 온도만 나열하면 어느 센서인지 놓치기 쉽습니다. 식별자와 온도를 한 기록으로 묶어 처리하면 출력의 대상을 분명히 할 수 있습니다. 오늘은 제공된 구조를 읽고 한 값만 바꿉니다.</a:t>
            </a:r>
          </a:p>
          <a:p xmlns:a="http://schemas.openxmlformats.org/drawingml/2006/main">
            <a:r>
              <a:t/>
            </a:r>
          </a:p>
          <a:p xmlns:a="http://schemas.openxmlformats.org/drawingml/2006/main">
            <a:r>
              <a:t>**함께 보는 예.** records는 기록 두 건의 목록입니다. 첫 기록의 sensor_id는 S01이고 temperature_c는 22.5입니다. for의 record는 이번 차례의 딕셔너리 한 개를 가리킵니다.</a:t>
            </a:r>
          </a:p>
          <a:p xmlns:a="http://schemas.openxmlformats.org/drawingml/2006/main">
            <a:r>
              <a:t/>
            </a:r>
          </a:p>
          <a:p xmlns:a="http://schemas.openxmlformats.org/drawingml/2006/main">
            <a:r>
              <a:t>**헷갈리는 경우.** record[0]처럼 위치로 읽는 것과 record["sensor_id"]처럼 키로 읽는 것을 섞지 않습니다. 이 딕셔너리에는 숫자 0이라는 키를 준비하지 않았습니다.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records = [</a:t>
            </a:r>
          </a:p>
          <a:p xmlns:a="http://schemas.openxmlformats.org/drawingml/2006/main">
            <a:r>
              <a:t>    {"sensor_id": "S01", "temperature_c": 22.5},</a:t>
            </a:r>
          </a:p>
          <a:p xmlns:a="http://schemas.openxmlformats.org/drawingml/2006/main">
            <a:r>
              <a:t>    {"sensor_id": "S02", "temperature_c": 24.0},</a:t>
            </a:r>
          </a:p>
          <a:p xmlns:a="http://schemas.openxmlformats.org/drawingml/2006/main">
            <a:r>
              <a:t>]</a:t>
            </a:r>
          </a:p>
          <a:p xmlns:a="http://schemas.openxmlformats.org/drawingml/2006/main">
            <a:r>
              <a:t>for record in records:</a:t>
            </a:r>
          </a:p>
          <a:p xmlns:a="http://schemas.openxmlformats.org/drawingml/2006/main">
            <a:r>
              <a:t>    print(record["sensor_id"], record["temperature_c"])</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`records = [` | 기록을 담을 리스트를 시작합니다. |</a:t>
            </a:r>
          </a:p>
          <a:p xmlns:a="http://schemas.openxmlformats.org/drawingml/2006/main">
            <a:r>
              <a:t>| 2 | `    {"sensor_id": "S01", "temperature_c": 22.5},` | 첫 관찰을 두 키의 딕셔너리로 넣습니다. |</a:t>
            </a:r>
          </a:p>
          <a:p xmlns:a="http://schemas.openxmlformats.org/drawingml/2006/main">
            <a:r>
              <a:t>| 3 | `    {"sensor_id": "S02", "temperature_c": 24.0},` | 둘째 관찰을 넣습니다. |</a:t>
            </a:r>
          </a:p>
          <a:p xmlns:a="http://schemas.openxmlformats.org/drawingml/2006/main">
            <a:r>
              <a:t>| 4 | `]` | 리스트를 닫습니다. |</a:t>
            </a:r>
          </a:p>
          <a:p xmlns:a="http://schemas.openxmlformats.org/drawingml/2006/main">
            <a:r>
              <a:t>| 5 | `for record in records:` | 딕셔너리 한 개씩 읽습니다. |</a:t>
            </a:r>
          </a:p>
          <a:p xmlns:a="http://schemas.openxmlformats.org/drawingml/2006/main">
            <a:r>
              <a:t>| 6 | `    print(record["sensor_id"], record["temperature_c"])` | 이번 관찰의 이름표로 두 값을 찾아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code/A16_example.py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work/A16_example.py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S01 22.5</a:t>
            </a:r>
          </a:p>
          <a:p xmlns:a="http://schemas.openxmlformats.org/drawingml/2006/main">
            <a:r>
              <a:t>S02 24.0</a:t>
            </a:r>
          </a:p>
          <a:p xmlns:a="http://schemas.openxmlformats.org/drawingml/2006/main">
            <a:r>
              <a:t>```</a:t>
            </a:r>
          </a:p>
          <a:p xmlns:a="http://schemas.openxmlformats.org/drawingml/2006/main">
            <a:r>
              <a:t/>
            </a:r>
          </a:p>
          <a:p xmlns:a="http://schemas.openxmlformats.org/drawingml/2006/main">
            <a:r>
              <a:t>작은 수정: `"temperature_c": 24.0`를 `"temperature_c": 25.0`로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S01 22.5</a:t>
            </a:r>
          </a:p>
          <a:p xmlns:a="http://schemas.openxmlformats.org/drawingml/2006/main">
            <a:r>
              <a:t>S02 25.0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바깥 리스트와 안쪽 딕셔너리를 표시합니다.</a:t>
            </a:r>
          </a:p>
          <a:p xmlns:a="http://schemas.openxmlformats.org/drawingml/2006/main">
            <a:r>
              <a:t>2. S02의 온도를 바꾸었을 때 어느 출력만 바뀌는지 예상합니다.</a:t>
            </a:r>
          </a:p>
          <a:p xmlns:a="http://schemas.openxmlformats.org/drawingml/2006/main">
            <a:r>
              <a:t>3. 값 한 곳을 수정해 출력과 관찰 대상이 유지되는지 확인합니다.</a:t>
            </a:r>
          </a:p>
          <a:p xmlns:a="http://schemas.openxmlformats.org/drawingml/2006/main">
            <a:r>
              <a:t>4. 표의 한 행과 record의 관계를 문장으로 설명합니다.</a:t>
            </a:r>
          </a:p>
          <a:p xmlns:a="http://schemas.openxmlformats.org/drawingml/2006/main">
            <a:r>
              <a:t/>
            </a:r>
          </a:p>
          <a:p xmlns:a="http://schemas.openxmlformats.org/drawingml/2006/main">
            <a:r>
              <a:t>예상 결과: S02의 온도만 25.0으로 바뀝니다. 기록 수는 두 건입니다.</a:t>
            </a:r>
          </a:p>
          <a:p xmlns:a="http://schemas.openxmlformats.org/drawingml/2006/main">
            <a:r>
              <a:t/>
            </a:r>
          </a:p>
          <a:p xmlns:a="http://schemas.openxmlformats.org/drawingml/2006/main">
            <a:r>
              <a:t>확인 질문: 딕셔너리 키 temperature_c를 오타로 읽으면 무엇부터 확인하나요?</a:t>
            </a:r>
          </a:p>
          <a:p xmlns:a="http://schemas.openxmlformats.org/drawingml/2006/main">
            <a:r>
              <a:t/>
            </a:r>
          </a:p>
          <a:p xmlns:a="http://schemas.openxmlformats.org/drawingml/2006/main">
            <a:r>
              <a:t>막혔을 때: 괄호 짝을 찾기 어렵다면 먼저 리스트 외곽, 다음 각 딕셔너리 외곽을 따로 표시합니다.</a:t>
            </a:r>
          </a:p>
          <a:p xmlns:a="http://schemas.openxmlformats.org/drawingml/2006/main">
            <a:r>
              <a:t/>
            </a:r>
          </a:p>
          <a:p xmlns:a="http://schemas.openxmlformats.org/drawingml/2006/main">
            <a:r>
              <a:t>[활동 자료와 작성칸](practice-guide.md#a16--관찰-한-건과-점검표-구조)에서 A16를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제공된 완성 파일의 전체 코드입니다. 압축을 푼 course 폴더의 터미널에서 실행합니다.</a:t>
            </a:r>
          </a:p>
          <a:p xmlns:a="http://schemas.openxmlformats.org/drawingml/2006/main">
            <a:r>
              <a:t>명령: python -X utf8 code/A16_example.py</a:t>
            </a:r>
          </a:p>
          <a:p xmlns:a="http://schemas.openxmlformats.org/drawingml/2006/main">
            <a:r>
              <a:t>작업본은 code 대신 work 경로를 지정합니다. 개인 실행이 막히면 같은 입력으로 수동 추적 후 강사 결과와 비교합니다.</a:t>
            </a:r>
          </a:p>
          <a:p xmlns:a="http://schemas.openxmlformats.org/drawingml/2006/main">
            <a:r>
              <a:t/>
            </a:r>
          </a:p>
          <a:p xmlns:a="http://schemas.openxmlformats.org/drawingml/2006/main">
            <a:r>
              <a:t>[활동 A16 상세 원문]</a:t>
            </a:r>
          </a:p>
          <a:p xmlns:a="http://schemas.openxmlformats.org/drawingml/2006/main">
            <a:r>
              <a:t>### 사례로 이해하기 · 한 기록의 이름표를 지키며 상태표 만들기</a:t>
            </a:r>
          </a:p>
          <a:p xmlns:a="http://schemas.openxmlformats.org/drawingml/2006/main">
            <a:r>
              <a:t/>
            </a:r>
          </a:p>
          <a:p xmlns:a="http://schemas.openxmlformats.org/drawingml/2006/main">
            <a:r>
              <a:t>필수 설명 보충입니다. 강사 시연 → 함께 추적 → 예상과 실제 비교 → 자기 말로 설명 순서로 읽습니다. 아래 독립 문제는 복습·도전이며 기존 50분 필수 경로와 별도로 활용합니다.</a:t>
            </a:r>
          </a:p>
          <a:p xmlns:a="http://schemas.openxmlformats.org/drawingml/2006/main">
            <a:r>
              <a:t/>
            </a:r>
          </a:p>
          <a:p xmlns:a="http://schemas.openxmlformats.org/drawingml/2006/main">
            <a:r>
              <a:t>점검 기록 세 건에 장치명과 온도가 함께 있습니다. 순서대로 D01은 18℃, D02는 미확인, D03은 26℃입니다. 온도만 따로 출력하면 어느 장치의 값인지 잃습니다. 한 관찰을 이름표가 붙은 값 묶음, 즉 딕셔너리로 만들고 여러 관찰을 리스트로 모읍니다. 바깥 목록은 기록들을 차례로 묶고 안쪽 이름표는 같은 기록의 항목을 구별합니다. 위치 번호와 항목 이름은 찾는 방식이 다르므로 두 겹 구조를 분리해서 봅니다.</a:t>
            </a:r>
          </a:p>
          <a:p xmlns:a="http://schemas.openxmlformats.org/drawingml/2006/main">
            <a:r>
              <a:t/>
            </a:r>
          </a:p>
          <a:p xmlns:a="http://schemas.openxmlformats.org/drawingml/2006/main">
            <a:r>
              <a:t>완성 원문은 D01/18, D02/None, D03/26 세 기록입니다. 수업용 기준은 ‘온도가 25℃ 초과이면 확인, 그 외 숫자는 정상, 미확인은 미측정’입니다. 첫 기록에서 장치명 D01과 숫자 18을 꺼내고 None인지 먼저 묻습니다. 아니므로 18&gt;25를 확인해 정상으로 표시합니다. 둘째는 None이라 미측정으로 표시하고 숫자 비교를 하지 않습니다. 셋째는 26&gt;25가 참이므로 확인입니다. 최종 세 줄은 D01 정상, D02 미측정, D03 확인입니다.</a:t>
            </a:r>
          </a:p>
          <a:p xmlns:a="http://schemas.openxmlformats.org/drawingml/2006/main">
            <a:r>
              <a:t/>
            </a:r>
          </a:p>
          <a:p xmlns:a="http://schemas.openxmlformats.org/drawingml/2006/main">
            <a:r>
              <a:t>이름표 temperature_c와 temperature는 비슷한 뜻이어도 다른 키입니다. 없는 이름표를 직접 찾으면 KeyError가 발생할 수 있습니다. 오류가 없어지도록 임의로 새 키를 만들기 전에 원자료와 약속한 헤더를 비교합니다. 같은 장치가 다른 시각에 다시 측정되면 기록이 하나 더 생길 수 있으므로 장치명만으로 중복 삭제하지 않습니다. 오늘의 상태 프로그램은 제공 숫자를 기준과 비교할 뿐 실제 센서 고장이나 안전을 확정하지 않습니다. 새 입력을 넘길 때 기록의 출처·기준·미확인 처리·예상 결과를 함께 적어 다음 사람이 같은 판단을 재현할 수 있게 합니다.</a:t>
            </a:r>
          </a:p>
          <a:p xmlns:a="http://schemas.openxmlformats.org/drawingml/2006/main">
            <a:r>
              <a:t/>
            </a:r>
          </a:p>
          <a:p xmlns:a="http://schemas.openxmlformats.org/drawingml/2006/main">
            <a:r>
              <a:t>### 새 상황에 독립적으로 적용하기</a:t>
            </a:r>
          </a:p>
          <a:p xmlns:a="http://schemas.openxmlformats.org/drawingml/2006/main">
            <a:r>
              <a:t/>
            </a:r>
          </a:p>
          <a:p xmlns:a="http://schemas.openxmlformats.org/drawingml/2006/main">
            <a:r>
              <a:t>복습·도전: 세 물품 P01 수량 0, P02 수량 미확인, P03 수량 2를 대상으로 ‘2개 이하이면 주문 요청’ 상태표를 새로 설계하세요. 물품번호와 수량의 이름표, 미확인 갈래를 먼저 정하고 세 줄을 작성하세요.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이름표는 예를 들어 product_id와 quantity입니다. P01·P03은 주문 요청, P02는 수량 확인입니다. 0은 실제 수량이라 포함하고 None은 비교 전에 처리합니다. temperature_c 키를 그대로 쓰는 답은 새 업무의 항목 뜻을 맞추지 못한 것입니다.</a:t>
            </a:r>
          </a:p>
          <a:p xmlns:a="http://schemas.openxmlformats.org/drawingml/2006/main">
            <a:r>
              <a:t/>
            </a:r>
          </a:p>
          <a:p xmlns:a="http://schemas.openxmlformats.org/drawingml/2006/main">
            <a:r>
              <a:t>### 핵심 세 질문과 해설</a:t>
            </a:r>
          </a:p>
          <a:p xmlns:a="http://schemas.openxmlformats.org/drawingml/2006/main">
            <a:r>
              <a:t/>
            </a:r>
          </a:p>
          <a:p xmlns:a="http://schemas.openxmlformats.org/drawingml/2006/main">
            <a:r>
              <a:t>1. **목록과 딕셔너리가 함께 필요한 이유는?** 여러 건의 순서와 한 건 안의 항목 이름을 각각 보존하기 위해서입니다.</a:t>
            </a:r>
          </a:p>
          <a:p xmlns:a="http://schemas.openxmlformats.org/drawingml/2006/main">
            <a:r>
              <a:t/>
            </a:r>
          </a:p>
          <a:p xmlns:a="http://schemas.openxmlformats.org/drawingml/2006/main">
            <a:r>
              <a:t>2. **미확인을 숫자 비교 뒤에 두나요?** 숫자로 비교할 수 없으므로 먼저 분기합니다.</a:t>
            </a:r>
          </a:p>
          <a:p xmlns:a="http://schemas.openxmlformats.org/drawingml/2006/main">
            <a:r>
              <a:t/>
            </a:r>
          </a:p>
          <a:p xmlns:a="http://schemas.openxmlformats.org/drawingml/2006/main">
            <a:r>
              <a:t>3. **상태표는 실제 고장을 증명하나요?** 제공 입력과 수업 규칙을 적용한 결과이며 실제 원인은 별도 확인합니다.</a:t>
            </a:r>
          </a:p>
          <a:p xmlns:a="http://schemas.openxmlformats.org/drawingml/2006/main">
            <a:r>
              <a:t/>
            </a:r>
          </a:p>
          <a:p xmlns:a="http://schemas.openxmlformats.org/drawingml/2006/main">
            <a:r>
              <a:t/>
            </a:r>
          </a:p>
          <a:p xmlns:a="http://schemas.openxmlformats.org/drawingml/2006/main">
            <a:r>
              <a:t>**개념.** 딕셔너리는 이름표인 키와 값의 묶음입니다. 여러 관찰 딕셔너리를 리스트로 묶으면 ‘기록 여러 건’의 구조가 됩니다. 이 개념은 10/8의 표 행과 JSON 객체를 프로그램 안에 옮긴 것입니다.</a:t>
            </a:r>
          </a:p>
          <a:p xmlns:a="http://schemas.openxmlformats.org/drawingml/2006/main">
            <a:r>
              <a:t/>
            </a:r>
          </a:p>
          <a:p xmlns:a="http://schemas.openxmlformats.org/drawingml/2006/main">
            <a:r>
              <a:t>**왜 필요한가.** 온도만 나열하면 어느 센서인지 놓치기 쉽습니다. 식별자와 온도를 한 기록으로 묶어 처리하면 출력의 대상을 분명히 할 수 있습니다. 오늘은 제공된 구조를 읽고 한 값만 바꿉니다.</a:t>
            </a:r>
          </a:p>
          <a:p xmlns:a="http://schemas.openxmlformats.org/drawingml/2006/main">
            <a:r>
              <a:t/>
            </a:r>
          </a:p>
          <a:p xmlns:a="http://schemas.openxmlformats.org/drawingml/2006/main">
            <a:r>
              <a:t>**함께 보는 예.** records는 기록 두 건의 목록입니다. 첫 기록의 sensor_id는 S01이고 temperature_c는 22.5입니다. for의 record는 이번 차례의 딕셔너리 한 개를 가리킵니다.</a:t>
            </a:r>
          </a:p>
          <a:p xmlns:a="http://schemas.openxmlformats.org/drawingml/2006/main">
            <a:r>
              <a:t/>
            </a:r>
          </a:p>
          <a:p xmlns:a="http://schemas.openxmlformats.org/drawingml/2006/main">
            <a:r>
              <a:t>**헷갈리는 경우.** record[0]처럼 위치로 읽는 것과 record["sensor_id"]처럼 키로 읽는 것을 섞지 않습니다. 이 딕셔너리에는 숫자 0이라는 키를 준비하지 않았습니다.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records = [</a:t>
            </a:r>
          </a:p>
          <a:p xmlns:a="http://schemas.openxmlformats.org/drawingml/2006/main">
            <a:r>
              <a:t>    {"sensor_id": "S01", "temperature_c": 22.5},</a:t>
            </a:r>
          </a:p>
          <a:p xmlns:a="http://schemas.openxmlformats.org/drawingml/2006/main">
            <a:r>
              <a:t>    {"sensor_id": "S02", "temperature_c": 24.0},</a:t>
            </a:r>
          </a:p>
          <a:p xmlns:a="http://schemas.openxmlformats.org/drawingml/2006/main">
            <a:r>
              <a:t>]</a:t>
            </a:r>
          </a:p>
          <a:p xmlns:a="http://schemas.openxmlformats.org/drawingml/2006/main">
            <a:r>
              <a:t>for record in records:</a:t>
            </a:r>
          </a:p>
          <a:p xmlns:a="http://schemas.openxmlformats.org/drawingml/2006/main">
            <a:r>
              <a:t>    print(record["sensor_id"], record["temperature_c"])</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`records = [` | 기록을 담을 리스트를 시작합니다. |</a:t>
            </a:r>
          </a:p>
          <a:p xmlns:a="http://schemas.openxmlformats.org/drawingml/2006/main">
            <a:r>
              <a:t>| 2 | `    {"sensor_id": "S01", "temperature_c": 22.5},` | 첫 관찰을 두 키의 딕셔너리로 넣습니다. |</a:t>
            </a:r>
          </a:p>
          <a:p xmlns:a="http://schemas.openxmlformats.org/drawingml/2006/main">
            <a:r>
              <a:t>| 3 | `    {"sensor_id": "S02", "temperature_c": 24.0},` | 둘째 관찰을 넣습니다. |</a:t>
            </a:r>
          </a:p>
          <a:p xmlns:a="http://schemas.openxmlformats.org/drawingml/2006/main">
            <a:r>
              <a:t>| 4 | `]` | 리스트를 닫습니다. |</a:t>
            </a:r>
          </a:p>
          <a:p xmlns:a="http://schemas.openxmlformats.org/drawingml/2006/main">
            <a:r>
              <a:t>| 5 | `for record in records:` | 딕셔너리 한 개씩 읽습니다. |</a:t>
            </a:r>
          </a:p>
          <a:p xmlns:a="http://schemas.openxmlformats.org/drawingml/2006/main">
            <a:r>
              <a:t>| 6 | `    print(record["sensor_id"], record["temperature_c"])` | 이번 관찰의 이름표로 두 값을 찾아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code/A16_example.py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work/A16_example.py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S01 22.5</a:t>
            </a:r>
          </a:p>
          <a:p xmlns:a="http://schemas.openxmlformats.org/drawingml/2006/main">
            <a:r>
              <a:t>S02 24.0</a:t>
            </a:r>
          </a:p>
          <a:p xmlns:a="http://schemas.openxmlformats.org/drawingml/2006/main">
            <a:r>
              <a:t>```</a:t>
            </a:r>
          </a:p>
          <a:p xmlns:a="http://schemas.openxmlformats.org/drawingml/2006/main">
            <a:r>
              <a:t/>
            </a:r>
          </a:p>
          <a:p xmlns:a="http://schemas.openxmlformats.org/drawingml/2006/main">
            <a:r>
              <a:t>작은 수정: `"temperature_c": 24.0`를 `"temperature_c": 25.0`로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S01 22.5</a:t>
            </a:r>
          </a:p>
          <a:p xmlns:a="http://schemas.openxmlformats.org/drawingml/2006/main">
            <a:r>
              <a:t>S02 25.0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바깥 리스트와 안쪽 딕셔너리를 표시합니다.</a:t>
            </a:r>
          </a:p>
          <a:p xmlns:a="http://schemas.openxmlformats.org/drawingml/2006/main">
            <a:r>
              <a:t>2. S02의 온도를 바꾸었을 때 어느 출력만 바뀌는지 예상합니다.</a:t>
            </a:r>
          </a:p>
          <a:p xmlns:a="http://schemas.openxmlformats.org/drawingml/2006/main">
            <a:r>
              <a:t>3. 값 한 곳을 수정해 출력과 관찰 대상이 유지되는지 확인합니다.</a:t>
            </a:r>
          </a:p>
          <a:p xmlns:a="http://schemas.openxmlformats.org/drawingml/2006/main">
            <a:r>
              <a:t>4. 표의 한 행과 record의 관계를 문장으로 설명합니다.</a:t>
            </a:r>
          </a:p>
          <a:p xmlns:a="http://schemas.openxmlformats.org/drawingml/2006/main">
            <a:r>
              <a:t/>
            </a:r>
          </a:p>
          <a:p xmlns:a="http://schemas.openxmlformats.org/drawingml/2006/main">
            <a:r>
              <a:t>예상 결과: S02의 온도만 25.0으로 바뀝니다. 기록 수는 두 건입니다.</a:t>
            </a:r>
          </a:p>
          <a:p xmlns:a="http://schemas.openxmlformats.org/drawingml/2006/main">
            <a:r>
              <a:t/>
            </a:r>
          </a:p>
          <a:p xmlns:a="http://schemas.openxmlformats.org/drawingml/2006/main">
            <a:r>
              <a:t>확인 질문: 딕셔너리 키 temperature_c를 오타로 읽으면 무엇부터 확인하나요?</a:t>
            </a:r>
          </a:p>
          <a:p xmlns:a="http://schemas.openxmlformats.org/drawingml/2006/main">
            <a:r>
              <a:t/>
            </a:r>
          </a:p>
          <a:p xmlns:a="http://schemas.openxmlformats.org/drawingml/2006/main">
            <a:r>
              <a:t>막혔을 때: 괄호 짝을 찾기 어렵다면 먼저 리스트 외곽, 다음 각 딕셔너리 외곽을 따로 표시합니다.</a:t>
            </a:r>
          </a:p>
          <a:p xmlns:a="http://schemas.openxmlformats.org/drawingml/2006/main">
            <a:r>
              <a:t/>
            </a:r>
          </a:p>
          <a:p xmlns:a="http://schemas.openxmlformats.org/drawingml/2006/main">
            <a:r>
              <a:t>[활동 자료와 작성칸](practice-guide.md#a16--관찰-한-건과-점검표-구조)에서 A16를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A16 상세 원문]</a:t>
            </a:r>
          </a:p>
          <a:p xmlns:a="http://schemas.openxmlformats.org/drawingml/2006/main">
            <a:r>
              <a:t>### 사례로 이해하기 · 한 기록의 이름표를 지키며 상태표 만들기</a:t>
            </a:r>
          </a:p>
          <a:p xmlns:a="http://schemas.openxmlformats.org/drawingml/2006/main">
            <a:r>
              <a:t/>
            </a:r>
          </a:p>
          <a:p xmlns:a="http://schemas.openxmlformats.org/drawingml/2006/main">
            <a:r>
              <a:t>필수 설명 보충입니다. 강사 시연 → 함께 추적 → 예상과 실제 비교 → 자기 말로 설명 순서로 읽습니다. 아래 독립 문제는 복습·도전이며 기존 50분 필수 경로와 별도로 활용합니다.</a:t>
            </a:r>
          </a:p>
          <a:p xmlns:a="http://schemas.openxmlformats.org/drawingml/2006/main">
            <a:r>
              <a:t/>
            </a:r>
          </a:p>
          <a:p xmlns:a="http://schemas.openxmlformats.org/drawingml/2006/main">
            <a:r>
              <a:t>점검 기록 세 건에 장치명과 온도가 함께 있습니다. 순서대로 D01은 18℃, D02는 미확인, D03은 26℃입니다. 온도만 따로 출력하면 어느 장치의 값인지 잃습니다. 한 관찰을 이름표가 붙은 값 묶음, 즉 딕셔너리로 만들고 여러 관찰을 리스트로 모읍니다. 바깥 목록은 기록들을 차례로 묶고 안쪽 이름표는 같은 기록의 항목을 구별합니다. 위치 번호와 항목 이름은 찾는 방식이 다르므로 두 겹 구조를 분리해서 봅니다.</a:t>
            </a:r>
          </a:p>
          <a:p xmlns:a="http://schemas.openxmlformats.org/drawingml/2006/main">
            <a:r>
              <a:t/>
            </a:r>
          </a:p>
          <a:p xmlns:a="http://schemas.openxmlformats.org/drawingml/2006/main">
            <a:r>
              <a:t>완성 원문은 D01/18, D02/None, D03/26 세 기록입니다. 수업용 기준은 ‘온도가 25℃ 초과이면 확인, 그 외 숫자는 정상, 미확인은 미측정’입니다. 첫 기록에서 장치명 D01과 숫자 18을 꺼내고 None인지 먼저 묻습니다. 아니므로 18&gt;25를 확인해 정상으로 표시합니다. 둘째는 None이라 미측정으로 표시하고 숫자 비교를 하지 않습니다. 셋째는 26&gt;25가 참이므로 확인입니다. 최종 세 줄은 D01 정상, D02 미측정, D03 확인입니다.</a:t>
            </a:r>
          </a:p>
          <a:p xmlns:a="http://schemas.openxmlformats.org/drawingml/2006/main">
            <a:r>
              <a:t/>
            </a:r>
          </a:p>
          <a:p xmlns:a="http://schemas.openxmlformats.org/drawingml/2006/main">
            <a:r>
              <a:t>이름표 temperature_c와 temperature는 비슷한 뜻이어도 다른 키입니다. 없는 이름표를 직접 찾으면 KeyError가 발생할 수 있습니다. 오류가 없어지도록 임의로 새 키를 만들기 전에 원자료와 약속한 헤더를 비교합니다. 같은 장치가 다른 시각에 다시 측정되면 기록이 하나 더 생길 수 있으므로 장치명만으로 중복 삭제하지 않습니다. 오늘의 상태 프로그램은 제공 숫자를 기준과 비교할 뿐 실제 센서 고장이나 안전을 확정하지 않습니다. 새 입력을 넘길 때 기록의 출처·기준·미확인 처리·예상 결과를 함께 적어 다음 사람이 같은 판단을 재현할 수 있게 합니다.</a:t>
            </a:r>
          </a:p>
          <a:p xmlns:a="http://schemas.openxmlformats.org/drawingml/2006/main">
            <a:r>
              <a:t/>
            </a:r>
          </a:p>
          <a:p xmlns:a="http://schemas.openxmlformats.org/drawingml/2006/main">
            <a:r>
              <a:t>### 새 상황에 독립적으로 적용하기</a:t>
            </a:r>
          </a:p>
          <a:p xmlns:a="http://schemas.openxmlformats.org/drawingml/2006/main">
            <a:r>
              <a:t/>
            </a:r>
          </a:p>
          <a:p xmlns:a="http://schemas.openxmlformats.org/drawingml/2006/main">
            <a:r>
              <a:t>복습·도전: 세 물품 P01 수량 0, P02 수량 미확인, P03 수량 2를 대상으로 ‘2개 이하이면 주문 요청’ 상태표를 새로 설계하세요. 물품번호와 수량의 이름표, 미확인 갈래를 먼저 정하고 세 줄을 작성하세요.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이름표는 예를 들어 product_id와 quantity입니다. P01·P03은 주문 요청, P02는 수량 확인입니다. 0은 실제 수량이라 포함하고 None은 비교 전에 처리합니다. temperature_c 키를 그대로 쓰는 답은 새 업무의 항목 뜻을 맞추지 못한 것입니다.</a:t>
            </a:r>
          </a:p>
          <a:p xmlns:a="http://schemas.openxmlformats.org/drawingml/2006/main">
            <a:r>
              <a:t/>
            </a:r>
          </a:p>
          <a:p xmlns:a="http://schemas.openxmlformats.org/drawingml/2006/main">
            <a:r>
              <a:t>### 핵심 세 질문과 해설</a:t>
            </a:r>
          </a:p>
          <a:p xmlns:a="http://schemas.openxmlformats.org/drawingml/2006/main">
            <a:r>
              <a:t/>
            </a:r>
          </a:p>
          <a:p xmlns:a="http://schemas.openxmlformats.org/drawingml/2006/main">
            <a:r>
              <a:t>1. **목록과 딕셔너리가 함께 필요한 이유는?** 여러 건의 순서와 한 건 안의 항목 이름을 각각 보존하기 위해서입니다.</a:t>
            </a:r>
          </a:p>
          <a:p xmlns:a="http://schemas.openxmlformats.org/drawingml/2006/main">
            <a:r>
              <a:t/>
            </a:r>
          </a:p>
          <a:p xmlns:a="http://schemas.openxmlformats.org/drawingml/2006/main">
            <a:r>
              <a:t>2. **미확인을 숫자 비교 뒤에 두나요?** 숫자로 비교할 수 없으므로 먼저 분기합니다.</a:t>
            </a:r>
          </a:p>
          <a:p xmlns:a="http://schemas.openxmlformats.org/drawingml/2006/main">
            <a:r>
              <a:t/>
            </a:r>
          </a:p>
          <a:p xmlns:a="http://schemas.openxmlformats.org/drawingml/2006/main">
            <a:r>
              <a:t>3. **상태표는 실제 고장을 증명하나요?** 제공 입력과 수업 규칙을 적용한 결과이며 실제 원인은 별도 확인합니다.</a:t>
            </a:r>
          </a:p>
          <a:p xmlns:a="http://schemas.openxmlformats.org/drawingml/2006/main">
            <a:r>
              <a:t/>
            </a:r>
          </a:p>
          <a:p xmlns:a="http://schemas.openxmlformats.org/drawingml/2006/main">
            <a:r>
              <a:t/>
            </a:r>
          </a:p>
          <a:p xmlns:a="http://schemas.openxmlformats.org/drawingml/2006/main">
            <a:r>
              <a:t>**개념.** 딕셔너리는 이름표인 키와 값의 묶음입니다. 여러 관찰 딕셔너리를 리스트로 묶으면 ‘기록 여러 건’의 구조가 됩니다. 이 개념은 10/8의 표 행과 JSON 객체를 프로그램 안에 옮긴 것입니다.</a:t>
            </a:r>
          </a:p>
          <a:p xmlns:a="http://schemas.openxmlformats.org/drawingml/2006/main">
            <a:r>
              <a:t/>
            </a:r>
          </a:p>
          <a:p xmlns:a="http://schemas.openxmlformats.org/drawingml/2006/main">
            <a:r>
              <a:t>**왜 필요한가.** 온도만 나열하면 어느 센서인지 놓치기 쉽습니다. 식별자와 온도를 한 기록으로 묶어 처리하면 출력의 대상을 분명히 할 수 있습니다. 오늘은 제공된 구조를 읽고 한 값만 바꿉니다.</a:t>
            </a:r>
          </a:p>
          <a:p xmlns:a="http://schemas.openxmlformats.org/drawingml/2006/main">
            <a:r>
              <a:t/>
            </a:r>
          </a:p>
          <a:p xmlns:a="http://schemas.openxmlformats.org/drawingml/2006/main">
            <a:r>
              <a:t>**함께 보는 예.** records는 기록 두 건의 목록입니다. 첫 기록의 sensor_id는 S01이고 temperature_c는 22.5입니다. for의 record는 이번 차례의 딕셔너리 한 개를 가리킵니다.</a:t>
            </a:r>
          </a:p>
          <a:p xmlns:a="http://schemas.openxmlformats.org/drawingml/2006/main">
            <a:r>
              <a:t/>
            </a:r>
          </a:p>
          <a:p xmlns:a="http://schemas.openxmlformats.org/drawingml/2006/main">
            <a:r>
              <a:t>**헷갈리는 경우.** record[0]처럼 위치로 읽는 것과 record["sensor_id"]처럼 키로 읽는 것을 섞지 않습니다. 이 딕셔너리에는 숫자 0이라는 키를 준비하지 않았습니다.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records = [</a:t>
            </a:r>
          </a:p>
          <a:p xmlns:a="http://schemas.openxmlformats.org/drawingml/2006/main">
            <a:r>
              <a:t>    {"sensor_id": "S01", "temperature_c": 22.5},</a:t>
            </a:r>
          </a:p>
          <a:p xmlns:a="http://schemas.openxmlformats.org/drawingml/2006/main">
            <a:r>
              <a:t>    {"sensor_id": "S02", "temperature_c": 24.0},</a:t>
            </a:r>
          </a:p>
          <a:p xmlns:a="http://schemas.openxmlformats.org/drawingml/2006/main">
            <a:r>
              <a:t>]</a:t>
            </a:r>
          </a:p>
          <a:p xmlns:a="http://schemas.openxmlformats.org/drawingml/2006/main">
            <a:r>
              <a:t>for record in records:</a:t>
            </a:r>
          </a:p>
          <a:p xmlns:a="http://schemas.openxmlformats.org/drawingml/2006/main">
            <a:r>
              <a:t>    print(record["sensor_id"], record["temperature_c"])</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`records = [` | 기록을 담을 리스트를 시작합니다. |</a:t>
            </a:r>
          </a:p>
          <a:p xmlns:a="http://schemas.openxmlformats.org/drawingml/2006/main">
            <a:r>
              <a:t>| 2 | `    {"sensor_id": "S01", "temperature_c": 22.5},` | 첫 관찰을 두 키의 딕셔너리로 넣습니다. |</a:t>
            </a:r>
          </a:p>
          <a:p xmlns:a="http://schemas.openxmlformats.org/drawingml/2006/main">
            <a:r>
              <a:t>| 3 | `    {"sensor_id": "S02", "temperature_c": 24.0},` | 둘째 관찰을 넣습니다. |</a:t>
            </a:r>
          </a:p>
          <a:p xmlns:a="http://schemas.openxmlformats.org/drawingml/2006/main">
            <a:r>
              <a:t>| 4 | `]` | 리스트를 닫습니다. |</a:t>
            </a:r>
          </a:p>
          <a:p xmlns:a="http://schemas.openxmlformats.org/drawingml/2006/main">
            <a:r>
              <a:t>| 5 | `for record in records:` | 딕셔너리 한 개씩 읽습니다. |</a:t>
            </a:r>
          </a:p>
          <a:p xmlns:a="http://schemas.openxmlformats.org/drawingml/2006/main">
            <a:r>
              <a:t>| 6 | `    print(record["sensor_id"], record["temperature_c"])` | 이번 관찰의 이름표로 두 값을 찾아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code/A16_example.py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work/A16_example.py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S01 22.5</a:t>
            </a:r>
          </a:p>
          <a:p xmlns:a="http://schemas.openxmlformats.org/drawingml/2006/main">
            <a:r>
              <a:t>S02 24.0</a:t>
            </a:r>
          </a:p>
          <a:p xmlns:a="http://schemas.openxmlformats.org/drawingml/2006/main">
            <a:r>
              <a:t>```</a:t>
            </a:r>
          </a:p>
          <a:p xmlns:a="http://schemas.openxmlformats.org/drawingml/2006/main">
            <a:r>
              <a:t/>
            </a:r>
          </a:p>
          <a:p xmlns:a="http://schemas.openxmlformats.org/drawingml/2006/main">
            <a:r>
              <a:t>작은 수정: `"temperature_c": 24.0`를 `"temperature_c": 25.0`로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S01 22.5</a:t>
            </a:r>
          </a:p>
          <a:p xmlns:a="http://schemas.openxmlformats.org/drawingml/2006/main">
            <a:r>
              <a:t>S02 25.0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바깥 리스트와 안쪽 딕셔너리를 표시합니다.</a:t>
            </a:r>
          </a:p>
          <a:p xmlns:a="http://schemas.openxmlformats.org/drawingml/2006/main">
            <a:r>
              <a:t>2. S02의 온도를 바꾸었을 때 어느 출력만 바뀌는지 예상합니다.</a:t>
            </a:r>
          </a:p>
          <a:p xmlns:a="http://schemas.openxmlformats.org/drawingml/2006/main">
            <a:r>
              <a:t>3. 값 한 곳을 수정해 출력과 관찰 대상이 유지되는지 확인합니다.</a:t>
            </a:r>
          </a:p>
          <a:p xmlns:a="http://schemas.openxmlformats.org/drawingml/2006/main">
            <a:r>
              <a:t>4. 표의 한 행과 record의 관계를 문장으로 설명합니다.</a:t>
            </a:r>
          </a:p>
          <a:p xmlns:a="http://schemas.openxmlformats.org/drawingml/2006/main">
            <a:r>
              <a:t/>
            </a:r>
          </a:p>
          <a:p xmlns:a="http://schemas.openxmlformats.org/drawingml/2006/main">
            <a:r>
              <a:t>예상 결과: S02의 온도만 25.0으로 바뀝니다. 기록 수는 두 건입니다.</a:t>
            </a:r>
          </a:p>
          <a:p xmlns:a="http://schemas.openxmlformats.org/drawingml/2006/main">
            <a:r>
              <a:t/>
            </a:r>
          </a:p>
          <a:p xmlns:a="http://schemas.openxmlformats.org/drawingml/2006/main">
            <a:r>
              <a:t>확인 질문: 딕셔너리 키 temperature_c를 오타로 읽으면 무엇부터 확인하나요?</a:t>
            </a:r>
          </a:p>
          <a:p xmlns:a="http://schemas.openxmlformats.org/drawingml/2006/main">
            <a:r>
              <a:t/>
            </a:r>
          </a:p>
          <a:p xmlns:a="http://schemas.openxmlformats.org/drawingml/2006/main">
            <a:r>
              <a:t>막혔을 때: 괄호 짝을 찾기 어렵다면 먼저 리스트 외곽, 다음 각 딕셔너리 외곽을 따로 표시합니다.</a:t>
            </a:r>
          </a:p>
          <a:p xmlns:a="http://schemas.openxmlformats.org/drawingml/2006/main">
            <a:r>
              <a:t/>
            </a:r>
          </a:p>
          <a:p xmlns:a="http://schemas.openxmlformats.org/drawingml/2006/main">
            <a:r>
              <a:t>[활동 자료와 작성칸](practice-guide.md#a16--관찰-한-건과-점검표-구조)에서 A16를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A16 제공 코드의 실제 예측 출력입니다. 다른 시각의 같은 장치 기록은 삭제할 중복이라고 단정하지 않습니다.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A17 전체 코드는 16줄이므로 노트와 제공 파일에 원문 보존합니다. 한 장에 작게 압축하지 않습니다. 다음 슬라이드들에서 한 기록의 전체 분류를 짧은 완결 코드로 설명합니다.</a:t>
            </a:r>
          </a:p>
          <a:p xmlns:a="http://schemas.openxmlformats.org/drawingml/2006/main">
            <a:r>
              <a:t/>
            </a:r>
          </a:p>
          <a:p xmlns:a="http://schemas.openxmlformats.org/drawingml/2006/main">
            <a:r>
              <a:t>[활동 A17 상세 원문]</a:t>
            </a:r>
          </a:p>
          <a:p xmlns:a="http://schemas.openxmlformats.org/drawingml/2006/main">
            <a:r>
              <a:t>**개념.** 종합 예제는 목록·반복·조건을 결합하여 각 관찰의 상태를 출력합니다. 새 문법을 많이 더하기보다 이미 읽은 조각이 어디에 놓였는지 연결합니다.</a:t>
            </a:r>
          </a:p>
          <a:p xmlns:a="http://schemas.openxmlformats.org/drawingml/2006/main">
            <a:r>
              <a:t/>
            </a:r>
          </a:p>
          <a:p xmlns:a="http://schemas.openxmlformats.org/drawingml/2006/main">
            <a:r>
              <a:t>**왜 필요한가.** 실무에서는 한 줄의 문법을 아는 것과 여러 단계가 연결된 프로그램을 읽는 것이 다릅니다. 준비한 입력, 각 차례의 처리, 최종 출력을 나누어 표시하면 긴 코드도 추적할 수 있습니다.</a:t>
            </a:r>
          </a:p>
          <a:p xmlns:a="http://schemas.openxmlformats.org/drawingml/2006/main">
            <a:r>
              <a:t/>
            </a:r>
          </a:p>
          <a:p xmlns:a="http://schemas.openxmlformats.org/drawingml/2006/main">
            <a:r>
              <a:t>**함께 보는 예.** S01의 22.5는 정상, S02의 25.0은 확인, S03의 None은 미측정입니다. 상태 문자열을 status라는 이름에 넣은 뒤 공통 print 한 곳에서 센서명과 함께 출력합니다.</a:t>
            </a:r>
          </a:p>
          <a:p xmlns:a="http://schemas.openxmlformats.org/drawingml/2006/main">
            <a:r>
              <a:t/>
            </a:r>
          </a:p>
          <a:p xmlns:a="http://schemas.openxmlformats.org/drawingml/2006/main">
            <a:r>
              <a:t>**헷갈리는 경우.** 상태 표시만으로 실제 장비의 안전을 판정하지 않습니다. 24.0이라는 숫자는 수업 비교 규칙입니다. 상태가 None인지 먼저 검사하므로 미측정을 실제 0으로 채우지 않습니다.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records = [</a:t>
            </a:r>
          </a:p>
          <a:p xmlns:a="http://schemas.openxmlformats.org/drawingml/2006/main">
            <a:r>
              <a:t>    {"sensor_id": "S01", "temperature_c": 22.5},</a:t>
            </a:r>
          </a:p>
          <a:p xmlns:a="http://schemas.openxmlformats.org/drawingml/2006/main">
            <a:r>
              <a:t>    {"sensor_id": "S02", "temperature_c": 25.0},</a:t>
            </a:r>
          </a:p>
          <a:p xmlns:a="http://schemas.openxmlformats.org/drawingml/2006/main">
            <a:r>
              <a:t>    {"sensor_id": "S03", "temperature_c": None},</a:t>
            </a:r>
          </a:p>
          <a:p xmlns:a="http://schemas.openxmlformats.org/drawingml/2006/main">
            <a:r>
              <a:t>]</a:t>
            </a:r>
          </a:p>
          <a:p xmlns:a="http://schemas.openxmlformats.org/drawingml/2006/main">
            <a:r>
              <a:t>limit = 24.0</a:t>
            </a:r>
          </a:p>
          <a:p xmlns:a="http://schemas.openxmlformats.org/drawingml/2006/main">
            <a:r>
              <a:t>for record in records:</a:t>
            </a:r>
          </a:p>
          <a:p xmlns:a="http://schemas.openxmlformats.org/drawingml/2006/main">
            <a:r>
              <a:t>    temperature_c = record["temperature_c"]</a:t>
            </a:r>
          </a:p>
          <a:p xmlns:a="http://schemas.openxmlformats.org/drawingml/2006/main">
            <a:r>
              <a:t>    if temperature_c is None:</a:t>
            </a:r>
          </a:p>
          <a:p xmlns:a="http://schemas.openxmlformats.org/drawingml/2006/main">
            <a:r>
              <a:t>        status = "미측정"</a:t>
            </a:r>
          </a:p>
          <a:p xmlns:a="http://schemas.openxmlformats.org/drawingml/2006/main">
            <a:r>
              <a:t>    elif temperature_c &gt; limit:</a:t>
            </a:r>
          </a:p>
          <a:p xmlns:a="http://schemas.openxmlformats.org/drawingml/2006/main">
            <a:r>
              <a:t>        status = "확인"</a:t>
            </a:r>
          </a:p>
          <a:p xmlns:a="http://schemas.openxmlformats.org/drawingml/2006/main">
            <a:r>
              <a:t>    else:</a:t>
            </a:r>
          </a:p>
          <a:p xmlns:a="http://schemas.openxmlformats.org/drawingml/2006/main">
            <a:r>
              <a:t>        status = "정상"</a:t>
            </a:r>
          </a:p>
          <a:p xmlns:a="http://schemas.openxmlformats.org/drawingml/2006/main">
            <a:r>
              <a:t>    print(record["sensor_id"], status)</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`records = [` | 관찰 목록을 시작합니다. |</a:t>
            </a:r>
          </a:p>
          <a:p xmlns:a="http://schemas.openxmlformats.org/drawingml/2006/main">
            <a:r>
              <a:t>| 2 | `    {"sensor_id": "S01", "temperature_c": 22.5},` | 첫 측정 기록입니다. |</a:t>
            </a:r>
          </a:p>
          <a:p xmlns:a="http://schemas.openxmlformats.org/drawingml/2006/main">
            <a:r>
              <a:t>| 3 | `    {"sensor_id": "S02", "temperature_c": 25.0},` | 둘째 측정 기록입니다. |</a:t>
            </a:r>
          </a:p>
          <a:p xmlns:a="http://schemas.openxmlformats.org/drawingml/2006/main">
            <a:r>
              <a:t>| 4 | `    {"sensor_id": "S03", "temperature_c": None},` | 온도가 없는 셋째 기록입니다. |</a:t>
            </a:r>
          </a:p>
          <a:p xmlns:a="http://schemas.openxmlformats.org/drawingml/2006/main">
            <a:r>
              <a:t>| 5 | `]` | 목록을 닫습니다. |</a:t>
            </a:r>
          </a:p>
          <a:p xmlns:a="http://schemas.openxmlformats.org/drawingml/2006/main">
            <a:r>
              <a:t>| 6 | `limit = 24.0` | 수업용 기준을 정합니다. |</a:t>
            </a:r>
          </a:p>
          <a:p xmlns:a="http://schemas.openxmlformats.org/drawingml/2006/main">
            <a:r>
              <a:t>| 7 | `for record in records:` | 기록 한 건씩 처리합니다. |</a:t>
            </a:r>
          </a:p>
          <a:p xmlns:a="http://schemas.openxmlformats.org/drawingml/2006/main">
            <a:r>
              <a:t>| 8 | `    temperature_c = record["temperature_c"]` | 이번 기록의 온도를 읽습니다. |</a:t>
            </a:r>
          </a:p>
          <a:p xmlns:a="http://schemas.openxmlformats.org/drawingml/2006/main">
            <a:r>
              <a:t>| 9 | `    if temperature_c is None:` | 값 없음부터 확인합니다. |</a:t>
            </a:r>
          </a:p>
          <a:p xmlns:a="http://schemas.openxmlformats.org/drawingml/2006/main">
            <a:r>
              <a:t>| 10 | `        status = "미측정"` | 값이 없을 때의 상태를 정합니다. |</a:t>
            </a:r>
          </a:p>
          <a:p xmlns:a="http://schemas.openxmlformats.org/drawingml/2006/main">
            <a:r>
              <a:t>| 11 | `    elif temperature_c &gt; limit:` | 값이 있으면 초과 여부를 묻습니다. |</a:t>
            </a:r>
          </a:p>
          <a:p xmlns:a="http://schemas.openxmlformats.org/drawingml/2006/main">
            <a:r>
              <a:t>| 12 | `        status = "확인"` | 초과한 경우의 상태를 정합니다. |</a:t>
            </a:r>
          </a:p>
          <a:p xmlns:a="http://schemas.openxmlformats.org/drawingml/2006/main">
            <a:r>
              <a:t>| 13 | `    else:` | 앞의 두 경우가 아닐 때의 묶음입니다. |</a:t>
            </a:r>
          </a:p>
          <a:p xmlns:a="http://schemas.openxmlformats.org/drawingml/2006/main">
            <a:r>
              <a:t>| 14 | `        status = "정상"` | 나머지 측정의 상태를 정합니다. |</a:t>
            </a:r>
          </a:p>
          <a:p xmlns:a="http://schemas.openxmlformats.org/drawingml/2006/main">
            <a:r>
              <a:t>| 15 | `    print(record["sensor_id"], status)` | 이번 센서와 판정 상태를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code/A17_sensor_summary.py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work/A17_sensor_summary.py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S01 정상</a:t>
            </a:r>
          </a:p>
          <a:p xmlns:a="http://schemas.openxmlformats.org/drawingml/2006/main">
            <a:r>
              <a:t>S02 확인</a:t>
            </a:r>
          </a:p>
          <a:p xmlns:a="http://schemas.openxmlformats.org/drawingml/2006/main">
            <a:r>
              <a:t>S03 미측정</a:t>
            </a:r>
          </a:p>
          <a:p xmlns:a="http://schemas.openxmlformats.org/drawingml/2006/main">
            <a:r>
              <a:t>```</a:t>
            </a:r>
          </a:p>
          <a:p xmlns:a="http://schemas.openxmlformats.org/drawingml/2006/main">
            <a:r>
              <a:t/>
            </a:r>
          </a:p>
          <a:p xmlns:a="http://schemas.openxmlformats.org/drawingml/2006/main">
            <a:r>
              <a:t>작은 수정: `limit = 24.0`를 `limit = 25.0`로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S01 정상</a:t>
            </a:r>
          </a:p>
          <a:p xmlns:a="http://schemas.openxmlformats.org/drawingml/2006/main">
            <a:r>
              <a:t>S02 정상</a:t>
            </a:r>
          </a:p>
          <a:p xmlns:a="http://schemas.openxmlformats.org/drawingml/2006/main">
            <a:r>
              <a:t>S03 미측정</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각 기록의 입력·조건·예상 상태를 작성합니다.</a:t>
            </a:r>
          </a:p>
          <a:p xmlns:a="http://schemas.openxmlformats.org/drawingml/2006/main">
            <a:r>
              <a:t>2. limit만 25.0으로 바꾸고 달라질 기록을 고릅니다.</a:t>
            </a:r>
          </a:p>
          <a:p xmlns:a="http://schemas.openxmlformats.org/drawingml/2006/main">
            <a:r>
              <a:t>3. 전체 파일을 저장·실행하고 세 출력 줄을 대조합니다.</a:t>
            </a:r>
          </a:p>
          <a:p xmlns:a="http://schemas.openxmlformats.org/drawingml/2006/main">
            <a:r>
              <a:t>4. 미측정 처리와 기준 비교의 실행 순서를 짝에게 설명합니다.</a:t>
            </a:r>
          </a:p>
          <a:p xmlns:a="http://schemas.openxmlformats.org/drawingml/2006/main">
            <a:r>
              <a:t/>
            </a:r>
          </a:p>
          <a:p xmlns:a="http://schemas.openxmlformats.org/drawingml/2006/main">
            <a:r>
              <a:t>예상 결과: 기준을 25.0으로 바꾸면 S02는 같은 값이므로 정상이며 S03은 계속 미측정입니다.</a:t>
            </a:r>
          </a:p>
          <a:p xmlns:a="http://schemas.openxmlformats.org/drawingml/2006/main">
            <a:r>
              <a:t/>
            </a:r>
          </a:p>
          <a:p xmlns:a="http://schemas.openxmlformats.org/drawingml/2006/main">
            <a:r>
              <a:t>확인 질문: 기준만 바꿨는데 미측정 상태가 달라진다면 무엇을 점검해야 할까요?</a:t>
            </a:r>
          </a:p>
          <a:p xmlns:a="http://schemas.openxmlformats.org/drawingml/2006/main">
            <a:r>
              <a:t/>
            </a:r>
          </a:p>
          <a:p xmlns:a="http://schemas.openxmlformats.org/drawingml/2006/main">
            <a:r>
              <a:t>막혔을 때: 한꺼번에 여러 곳을 수정하지 않습니다. 원본과 작업본을 나란히 보고 지정한 기준 한 곳부터 다시 비교합니다.</a:t>
            </a:r>
          </a:p>
          <a:p xmlns:a="http://schemas.openxmlformats.org/drawingml/2006/main">
            <a:r>
              <a:t/>
            </a:r>
          </a:p>
          <a:p xmlns:a="http://schemas.openxmlformats.org/drawingml/2006/main">
            <a:r>
              <a:t>[활동 자료와 작성칸](practice-guide.md#a17--수업용-센서-요약-완성-예제)에서 A17를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A17 규칙을 한 기록에 적용하는 독립 완결 예입니다. value=25.0이면 확인, 24.0이면 정상, None이면 미측정입니다. 여러 기록 반복은 기존 A17 전체 파일로 연결합니다. 별도 생성 파일을 실행했다고 주장하지 않습니다.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A17 상세 원문]</a:t>
            </a:r>
          </a:p>
          <a:p xmlns:a="http://schemas.openxmlformats.org/drawingml/2006/main">
            <a:r>
              <a:t>**개념.** 종합 예제는 목록·반복·조건을 결합하여 각 관찰의 상태를 출력합니다. 새 문법을 많이 더하기보다 이미 읽은 조각이 어디에 놓였는지 연결합니다.</a:t>
            </a:r>
          </a:p>
          <a:p xmlns:a="http://schemas.openxmlformats.org/drawingml/2006/main">
            <a:r>
              <a:t/>
            </a:r>
          </a:p>
          <a:p xmlns:a="http://schemas.openxmlformats.org/drawingml/2006/main">
            <a:r>
              <a:t>**왜 필요한가.** 실무에서는 한 줄의 문법을 아는 것과 여러 단계가 연결된 프로그램을 읽는 것이 다릅니다. 준비한 입력, 각 차례의 처리, 최종 출력을 나누어 표시하면 긴 코드도 추적할 수 있습니다.</a:t>
            </a:r>
          </a:p>
          <a:p xmlns:a="http://schemas.openxmlformats.org/drawingml/2006/main">
            <a:r>
              <a:t/>
            </a:r>
          </a:p>
          <a:p xmlns:a="http://schemas.openxmlformats.org/drawingml/2006/main">
            <a:r>
              <a:t>**함께 보는 예.** S01의 22.5는 정상, S02의 25.0은 확인, S03의 None은 미측정입니다. 상태 문자열을 status라는 이름에 넣은 뒤 공통 print 한 곳에서 센서명과 함께 출력합니다.</a:t>
            </a:r>
          </a:p>
          <a:p xmlns:a="http://schemas.openxmlformats.org/drawingml/2006/main">
            <a:r>
              <a:t/>
            </a:r>
          </a:p>
          <a:p xmlns:a="http://schemas.openxmlformats.org/drawingml/2006/main">
            <a:r>
              <a:t>**헷갈리는 경우.** 상태 표시만으로 실제 장비의 안전을 판정하지 않습니다. 24.0이라는 숫자는 수업 비교 규칙입니다. 상태가 None인지 먼저 검사하므로 미측정을 실제 0으로 채우지 않습니다.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records = [</a:t>
            </a:r>
          </a:p>
          <a:p xmlns:a="http://schemas.openxmlformats.org/drawingml/2006/main">
            <a:r>
              <a:t>    {"sensor_id": "S01", "temperature_c": 22.5},</a:t>
            </a:r>
          </a:p>
          <a:p xmlns:a="http://schemas.openxmlformats.org/drawingml/2006/main">
            <a:r>
              <a:t>    {"sensor_id": "S02", "temperature_c": 25.0},</a:t>
            </a:r>
          </a:p>
          <a:p xmlns:a="http://schemas.openxmlformats.org/drawingml/2006/main">
            <a:r>
              <a:t>    {"sensor_id": "S03", "temperature_c": None},</a:t>
            </a:r>
          </a:p>
          <a:p xmlns:a="http://schemas.openxmlformats.org/drawingml/2006/main">
            <a:r>
              <a:t>]</a:t>
            </a:r>
          </a:p>
          <a:p xmlns:a="http://schemas.openxmlformats.org/drawingml/2006/main">
            <a:r>
              <a:t>limit = 24.0</a:t>
            </a:r>
          </a:p>
          <a:p xmlns:a="http://schemas.openxmlformats.org/drawingml/2006/main">
            <a:r>
              <a:t>for record in records:</a:t>
            </a:r>
          </a:p>
          <a:p xmlns:a="http://schemas.openxmlformats.org/drawingml/2006/main">
            <a:r>
              <a:t>    temperature_c = record["temperature_c"]</a:t>
            </a:r>
          </a:p>
          <a:p xmlns:a="http://schemas.openxmlformats.org/drawingml/2006/main">
            <a:r>
              <a:t>    if temperature_c is None:</a:t>
            </a:r>
          </a:p>
          <a:p xmlns:a="http://schemas.openxmlformats.org/drawingml/2006/main">
            <a:r>
              <a:t>        status = "미측정"</a:t>
            </a:r>
          </a:p>
          <a:p xmlns:a="http://schemas.openxmlformats.org/drawingml/2006/main">
            <a:r>
              <a:t>    elif temperature_c &gt; limit:</a:t>
            </a:r>
          </a:p>
          <a:p xmlns:a="http://schemas.openxmlformats.org/drawingml/2006/main">
            <a:r>
              <a:t>        status = "확인"</a:t>
            </a:r>
          </a:p>
          <a:p xmlns:a="http://schemas.openxmlformats.org/drawingml/2006/main">
            <a:r>
              <a:t>    else:</a:t>
            </a:r>
          </a:p>
          <a:p xmlns:a="http://schemas.openxmlformats.org/drawingml/2006/main">
            <a:r>
              <a:t>        status = "정상"</a:t>
            </a:r>
          </a:p>
          <a:p xmlns:a="http://schemas.openxmlformats.org/drawingml/2006/main">
            <a:r>
              <a:t>    print(record["sensor_id"], status)</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`records = [` | 관찰 목록을 시작합니다. |</a:t>
            </a:r>
          </a:p>
          <a:p xmlns:a="http://schemas.openxmlformats.org/drawingml/2006/main">
            <a:r>
              <a:t>| 2 | `    {"sensor_id": "S01", "temperature_c": 22.5},` | 첫 측정 기록입니다. |</a:t>
            </a:r>
          </a:p>
          <a:p xmlns:a="http://schemas.openxmlformats.org/drawingml/2006/main">
            <a:r>
              <a:t>| 3 | `    {"sensor_id": "S02", "temperature_c": 25.0},` | 둘째 측정 기록입니다. |</a:t>
            </a:r>
          </a:p>
          <a:p xmlns:a="http://schemas.openxmlformats.org/drawingml/2006/main">
            <a:r>
              <a:t>| 4 | `    {"sensor_id": "S03", "temperature_c": None},` | 온도가 없는 셋째 기록입니다. |</a:t>
            </a:r>
          </a:p>
          <a:p xmlns:a="http://schemas.openxmlformats.org/drawingml/2006/main">
            <a:r>
              <a:t>| 5 | `]` | 목록을 닫습니다. |</a:t>
            </a:r>
          </a:p>
          <a:p xmlns:a="http://schemas.openxmlformats.org/drawingml/2006/main">
            <a:r>
              <a:t>| 6 | `limit = 24.0` | 수업용 기준을 정합니다. |</a:t>
            </a:r>
          </a:p>
          <a:p xmlns:a="http://schemas.openxmlformats.org/drawingml/2006/main">
            <a:r>
              <a:t>| 7 | `for record in records:` | 기록 한 건씩 처리합니다. |</a:t>
            </a:r>
          </a:p>
          <a:p xmlns:a="http://schemas.openxmlformats.org/drawingml/2006/main">
            <a:r>
              <a:t>| 8 | `    temperature_c = record["temperature_c"]` | 이번 기록의 온도를 읽습니다. |</a:t>
            </a:r>
          </a:p>
          <a:p xmlns:a="http://schemas.openxmlformats.org/drawingml/2006/main">
            <a:r>
              <a:t>| 9 | `    if temperature_c is None:` | 값 없음부터 확인합니다. |</a:t>
            </a:r>
          </a:p>
          <a:p xmlns:a="http://schemas.openxmlformats.org/drawingml/2006/main">
            <a:r>
              <a:t>| 10 | `        status = "미측정"` | 값이 없을 때의 상태를 정합니다. |</a:t>
            </a:r>
          </a:p>
          <a:p xmlns:a="http://schemas.openxmlformats.org/drawingml/2006/main">
            <a:r>
              <a:t>| 11 | `    elif temperature_c &gt; limit:` | 값이 있으면 초과 여부를 묻습니다. |</a:t>
            </a:r>
          </a:p>
          <a:p xmlns:a="http://schemas.openxmlformats.org/drawingml/2006/main">
            <a:r>
              <a:t>| 12 | `        status = "확인"` | 초과한 경우의 상태를 정합니다. |</a:t>
            </a:r>
          </a:p>
          <a:p xmlns:a="http://schemas.openxmlformats.org/drawingml/2006/main">
            <a:r>
              <a:t>| 13 | `    else:` | 앞의 두 경우가 아닐 때의 묶음입니다. |</a:t>
            </a:r>
          </a:p>
          <a:p xmlns:a="http://schemas.openxmlformats.org/drawingml/2006/main">
            <a:r>
              <a:t>| 14 | `        status = "정상"` | 나머지 측정의 상태를 정합니다. |</a:t>
            </a:r>
          </a:p>
          <a:p xmlns:a="http://schemas.openxmlformats.org/drawingml/2006/main">
            <a:r>
              <a:t>| 15 | `    print(record["sensor_id"], status)` | 이번 센서와 판정 상태를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code/A17_sensor_summary.py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work/A17_sensor_summary.py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S01 정상</a:t>
            </a:r>
          </a:p>
          <a:p xmlns:a="http://schemas.openxmlformats.org/drawingml/2006/main">
            <a:r>
              <a:t>S02 확인</a:t>
            </a:r>
          </a:p>
          <a:p xmlns:a="http://schemas.openxmlformats.org/drawingml/2006/main">
            <a:r>
              <a:t>S03 미측정</a:t>
            </a:r>
          </a:p>
          <a:p xmlns:a="http://schemas.openxmlformats.org/drawingml/2006/main">
            <a:r>
              <a:t>```</a:t>
            </a:r>
          </a:p>
          <a:p xmlns:a="http://schemas.openxmlformats.org/drawingml/2006/main">
            <a:r>
              <a:t/>
            </a:r>
          </a:p>
          <a:p xmlns:a="http://schemas.openxmlformats.org/drawingml/2006/main">
            <a:r>
              <a:t>작은 수정: `limit = 24.0`를 `limit = 25.0`로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S01 정상</a:t>
            </a:r>
          </a:p>
          <a:p xmlns:a="http://schemas.openxmlformats.org/drawingml/2006/main">
            <a:r>
              <a:t>S02 정상</a:t>
            </a:r>
          </a:p>
          <a:p xmlns:a="http://schemas.openxmlformats.org/drawingml/2006/main">
            <a:r>
              <a:t>S03 미측정</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각 기록의 입력·조건·예상 상태를 작성합니다.</a:t>
            </a:r>
          </a:p>
          <a:p xmlns:a="http://schemas.openxmlformats.org/drawingml/2006/main">
            <a:r>
              <a:t>2. limit만 25.0으로 바꾸고 달라질 기록을 고릅니다.</a:t>
            </a:r>
          </a:p>
          <a:p xmlns:a="http://schemas.openxmlformats.org/drawingml/2006/main">
            <a:r>
              <a:t>3. 전체 파일을 저장·실행하고 세 출력 줄을 대조합니다.</a:t>
            </a:r>
          </a:p>
          <a:p xmlns:a="http://schemas.openxmlformats.org/drawingml/2006/main">
            <a:r>
              <a:t>4. 미측정 처리와 기준 비교의 실행 순서를 짝에게 설명합니다.</a:t>
            </a:r>
          </a:p>
          <a:p xmlns:a="http://schemas.openxmlformats.org/drawingml/2006/main">
            <a:r>
              <a:t/>
            </a:r>
          </a:p>
          <a:p xmlns:a="http://schemas.openxmlformats.org/drawingml/2006/main">
            <a:r>
              <a:t>예상 결과: 기준을 25.0으로 바꾸면 S02는 같은 값이므로 정상이며 S03은 계속 미측정입니다.</a:t>
            </a:r>
          </a:p>
          <a:p xmlns:a="http://schemas.openxmlformats.org/drawingml/2006/main">
            <a:r>
              <a:t/>
            </a:r>
          </a:p>
          <a:p xmlns:a="http://schemas.openxmlformats.org/drawingml/2006/main">
            <a:r>
              <a:t>확인 질문: 기준만 바꿨는데 미측정 상태가 달라진다면 무엇을 점검해야 할까요?</a:t>
            </a:r>
          </a:p>
          <a:p xmlns:a="http://schemas.openxmlformats.org/drawingml/2006/main">
            <a:r>
              <a:t/>
            </a:r>
          </a:p>
          <a:p xmlns:a="http://schemas.openxmlformats.org/drawingml/2006/main">
            <a:r>
              <a:t>막혔을 때: 한꺼번에 여러 곳을 수정하지 않습니다. 원본과 작업본을 나란히 보고 지정한 기준 한 곳부터 다시 비교합니다.</a:t>
            </a:r>
          </a:p>
          <a:p xmlns:a="http://schemas.openxmlformats.org/drawingml/2006/main">
            <a:r>
              <a:t/>
            </a:r>
          </a:p>
          <a:p xmlns:a="http://schemas.openxmlformats.org/drawingml/2006/main">
            <a:r>
              <a:t>[활동 자료와 작성칸](practice-guide.md#a17--수업용-센서-요약-완성-예제)에서 A17를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A18 상세 원문]</a:t>
            </a:r>
          </a:p>
          <a:p xmlns:a="http://schemas.openxmlformats.org/drawingml/2006/main">
            <a:r>
              <a:t>**개념.** 프로그램 사용 결과는 파일·입력·명령·출력·판단 근거를 함께 남길 때 다른 사람이 확인할 수 있습니다. 잘 실행되었다는 한 문장보다 어떤 사례를 확인했는지가 중요합니다.</a:t>
            </a:r>
          </a:p>
          <a:p xmlns:a="http://schemas.openxmlformats.org/drawingml/2006/main">
            <a:r>
              <a:t/>
            </a:r>
          </a:p>
          <a:p xmlns:a="http://schemas.openxmlformats.org/drawingml/2006/main">
            <a:r>
              <a:t>**왜 필요한가.** 새 입력에서 경계값과 미측정을 다시 확인하면 예제 답을 외운 것인지 원리를 이해했는지 볼 수 있습니다. 실행하지 못한 경우에는 예상·강사 관찰·개인 실행을 정확히 구별합니다.</a:t>
            </a:r>
          </a:p>
          <a:p xmlns:a="http://schemas.openxmlformats.org/drawingml/2006/main">
            <a:r>
              <a:t/>
            </a:r>
          </a:p>
          <a:p xmlns:a="http://schemas.openxmlformats.org/drawingml/2006/main">
            <a:r>
              <a:t>**함께 보는 예.** 새 입력은 S04의 24.0, S05의 0.0, S06의 None입니다. 기준은 24.0 초과입니다. 정상·정상·미측정으로 예상하고, 기존 A17 작업본의 기록 목록만 바꾸는 수정안을 작성합니다.</a:t>
            </a:r>
          </a:p>
          <a:p xmlns:a="http://schemas.openxmlformats.org/drawingml/2006/main">
            <a:r>
              <a:t/>
            </a:r>
          </a:p>
          <a:p xmlns:a="http://schemas.openxmlformats.org/drawingml/2006/main">
            <a:r>
              <a:t>**헷갈리는 경우.** 과거 A17 출력 화면을 새 입력의 결과라고 제출하면 재현 근거가 맞지 않습니다. 파일을 저장한 시점과 실행한 경로, 새 입력값을 함께 확인해야 합니다.</a:t>
            </a:r>
          </a:p>
          <a:p xmlns:a="http://schemas.openxmlformats.org/drawingml/2006/main">
            <a:r>
              <a:t/>
            </a:r>
          </a:p>
          <a:p xmlns:a="http://schemas.openxmlformats.org/drawingml/2006/main">
            <a:r>
              <a:t>### 제공 입력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새 관찰: S04=24.0, S05=0.0, S06=None. 기준 24.0 초과.</a:t>
            </a:r>
          </a:p>
          <a:p xmlns:a="http://schemas.openxmlformats.org/drawingml/2006/main">
            <a:r>
              <a:t>인계 양식: 실행 파일 / 바꾼 입력 / 실행 명령 / 예상 출력 / 실제 확인 방식 / 남은 질문.</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새 관찰 세 개의 예상 상태와 근거를 적습니다.</a:t>
            </a:r>
          </a:p>
          <a:p xmlns:a="http://schemas.openxmlformats.org/drawingml/2006/main">
            <a:r>
              <a:t>2. A17 구조를 재사용해 work/A18_final.py의 기록 목록을 새 자료로 바꿉니다.</a:t>
            </a:r>
          </a:p>
          <a:p xmlns:a="http://schemas.openxmlformats.org/drawingml/2006/main">
            <a:r>
              <a:t>3. 같은 기준으로 실행하거나 제공 출력과 수동 대조하고 확인 방식을 기록합니다.</a:t>
            </a:r>
          </a:p>
          <a:p xmlns:a="http://schemas.openxmlformats.org/drawingml/2006/main">
            <a:r>
              <a:t>4. 짝이 같은 파일을 찾고 결과를 설명할 수 있게 인계 세 문장을 씁니다.</a:t>
            </a:r>
          </a:p>
          <a:p xmlns:a="http://schemas.openxmlformats.org/drawingml/2006/main">
            <a:r>
              <a:t/>
            </a:r>
          </a:p>
          <a:p xmlns:a="http://schemas.openxmlformats.org/drawingml/2006/main">
            <a:r>
              <a:t>예상 결과: S04 정상, S05 정상, S06 미측정. 0.0과 None이 다르게 처리됩니다.</a:t>
            </a:r>
          </a:p>
          <a:p xmlns:a="http://schemas.openxmlformats.org/drawingml/2006/main">
            <a:r>
              <a:t/>
            </a:r>
          </a:p>
          <a:p xmlns:a="http://schemas.openxmlformats.org/drawingml/2006/main">
            <a:r>
              <a:t>확인 질문: 내일 파일에서 읽은 "24.0"을 그대로 이 코드에 넣으면 무엇이 추가로 필요할까요?</a:t>
            </a:r>
          </a:p>
          <a:p xmlns:a="http://schemas.openxmlformats.org/drawingml/2006/main">
            <a:r>
              <a:t/>
            </a:r>
          </a:p>
          <a:p xmlns:a="http://schemas.openxmlformats.org/drawingml/2006/main">
            <a:r>
              <a:t>막혔을 때: 새 파일이 실행되지 않으면 먼저 원본 A17을 실행해 실행 환경과 새 수정의 문제를 나눕니다. 원본까지 실패하면 환경 단서부터 확인합니다.</a:t>
            </a:r>
          </a:p>
          <a:p xmlns:a="http://schemas.openxmlformats.org/drawingml/2006/main">
            <a:r>
              <a:t/>
            </a:r>
          </a:p>
          <a:p xmlns:a="http://schemas.openxmlformats.org/drawingml/2006/main">
            <a:r>
              <a:t>[활동 자료와 작성칸](practice-guide.md#a18--새-입력-검수와-실행-인계)에서 A18를 엽니다.</a:t>
            </a:r>
          </a:p>
          <a:p xmlns:a="http://schemas.openxmlformats.org/drawingml/2006/main">
            <a:r>
              <a:t/>
            </a:r>
          </a:p>
          <a:p xmlns:a="http://schemas.openxmlformats.org/drawingml/2006/main">
            <a:r>
              <a:t>## 공식 참고자료</a:t>
            </a:r>
          </a:p>
          <a:p xmlns:a="http://schemas.openxmlformats.org/drawingml/2006/main">
            <a:r>
              <a:t/>
            </a:r>
          </a:p>
          <a:p xmlns:a="http://schemas.openxmlformats.org/drawingml/2006/main">
            <a:r>
              <a:t>- [introduction.html](https://docs.python.org/3/tutorial/introduction.html)</a:t>
            </a:r>
          </a:p>
          <a:p xmlns:a="http://schemas.openxmlformats.org/drawingml/2006/main">
            <a:r>
              <a:t>- [controlflow.html](https://docs.python.org/3/tutorial/controlflow.html)</a:t>
            </a:r>
          </a:p>
          <a:p xmlns:a="http://schemas.openxmlformats.org/drawingml/2006/main">
            <a:r>
              <a:t>- [functions.html](https://docs.python.org/3/library/functions.html)</a:t>
            </a:r>
          </a:p>
          <a:p xmlns:a="http://schemas.openxmlformats.org/drawingml/2006/main">
            <a:r>
              <a:t/>
            </a:r>
          </a:p>
          <a:p xmlns:a="http://schemas.openxmlformats.org/drawingml/2006/main">
            <a:r>
              <a:t>공식 동작은 2026-09-26 확인했습니다. 자체 합성 사례로 설명하며 현재 교실 환경이나 학습 효과를 실측한 결과는 아닙니다.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A18 상세 원문]</a:t>
            </a:r>
          </a:p>
          <a:p xmlns:a="http://schemas.openxmlformats.org/drawingml/2006/main">
            <a:r>
              <a:t>**개념.** 프로그램 사용 결과는 파일·입력·명령·출력·판단 근거를 함께 남길 때 다른 사람이 확인할 수 있습니다. 잘 실행되었다는 한 문장보다 어떤 사례를 확인했는지가 중요합니다.</a:t>
            </a:r>
          </a:p>
          <a:p xmlns:a="http://schemas.openxmlformats.org/drawingml/2006/main">
            <a:r>
              <a:t/>
            </a:r>
          </a:p>
          <a:p xmlns:a="http://schemas.openxmlformats.org/drawingml/2006/main">
            <a:r>
              <a:t>**왜 필요한가.** 새 입력에서 경계값과 미측정을 다시 확인하면 예제 답을 외운 것인지 원리를 이해했는지 볼 수 있습니다. 실행하지 못한 경우에는 예상·강사 관찰·개인 실행을 정확히 구별합니다.</a:t>
            </a:r>
          </a:p>
          <a:p xmlns:a="http://schemas.openxmlformats.org/drawingml/2006/main">
            <a:r>
              <a:t/>
            </a:r>
          </a:p>
          <a:p xmlns:a="http://schemas.openxmlformats.org/drawingml/2006/main">
            <a:r>
              <a:t>**함께 보는 예.** 새 입력은 S04의 24.0, S05의 0.0, S06의 None입니다. 기준은 24.0 초과입니다. 정상·정상·미측정으로 예상하고, 기존 A17 작업본의 기록 목록만 바꾸는 수정안을 작성합니다.</a:t>
            </a:r>
          </a:p>
          <a:p xmlns:a="http://schemas.openxmlformats.org/drawingml/2006/main">
            <a:r>
              <a:t/>
            </a:r>
          </a:p>
          <a:p xmlns:a="http://schemas.openxmlformats.org/drawingml/2006/main">
            <a:r>
              <a:t>**헷갈리는 경우.** 과거 A17 출력 화면을 새 입력의 결과라고 제출하면 재현 근거가 맞지 않습니다. 파일을 저장한 시점과 실행한 경로, 새 입력값을 함께 확인해야 합니다.</a:t>
            </a:r>
          </a:p>
          <a:p xmlns:a="http://schemas.openxmlformats.org/drawingml/2006/main">
            <a:r>
              <a:t/>
            </a:r>
          </a:p>
          <a:p xmlns:a="http://schemas.openxmlformats.org/drawingml/2006/main">
            <a:r>
              <a:t>### 제공 입력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새 관찰: S04=24.0, S05=0.0, S06=None. 기준 24.0 초과.</a:t>
            </a:r>
          </a:p>
          <a:p xmlns:a="http://schemas.openxmlformats.org/drawingml/2006/main">
            <a:r>
              <a:t>인계 양식: 실행 파일 / 바꾼 입력 / 실행 명령 / 예상 출력 / 실제 확인 방식 / 남은 질문.</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새 관찰 세 개의 예상 상태와 근거를 적습니다.</a:t>
            </a:r>
          </a:p>
          <a:p xmlns:a="http://schemas.openxmlformats.org/drawingml/2006/main">
            <a:r>
              <a:t>2. A17 구조를 재사용해 work/A18_final.py의 기록 목록을 새 자료로 바꿉니다.</a:t>
            </a:r>
          </a:p>
          <a:p xmlns:a="http://schemas.openxmlformats.org/drawingml/2006/main">
            <a:r>
              <a:t>3. 같은 기준으로 실행하거나 제공 출력과 수동 대조하고 확인 방식을 기록합니다.</a:t>
            </a:r>
          </a:p>
          <a:p xmlns:a="http://schemas.openxmlformats.org/drawingml/2006/main">
            <a:r>
              <a:t>4. 짝이 같은 파일을 찾고 결과를 설명할 수 있게 인계 세 문장을 씁니다.</a:t>
            </a:r>
          </a:p>
          <a:p xmlns:a="http://schemas.openxmlformats.org/drawingml/2006/main">
            <a:r>
              <a:t/>
            </a:r>
          </a:p>
          <a:p xmlns:a="http://schemas.openxmlformats.org/drawingml/2006/main">
            <a:r>
              <a:t>예상 결과: S04 정상, S05 정상, S06 미측정. 0.0과 None이 다르게 처리됩니다.</a:t>
            </a:r>
          </a:p>
          <a:p xmlns:a="http://schemas.openxmlformats.org/drawingml/2006/main">
            <a:r>
              <a:t/>
            </a:r>
          </a:p>
          <a:p xmlns:a="http://schemas.openxmlformats.org/drawingml/2006/main">
            <a:r>
              <a:t>확인 질문: 내일 파일에서 읽은 "24.0"을 그대로 이 코드에 넣으면 무엇이 추가로 필요할까요?</a:t>
            </a:r>
          </a:p>
          <a:p xmlns:a="http://schemas.openxmlformats.org/drawingml/2006/main">
            <a:r>
              <a:t/>
            </a:r>
          </a:p>
          <a:p xmlns:a="http://schemas.openxmlformats.org/drawingml/2006/main">
            <a:r>
              <a:t>막혔을 때: 새 파일이 실행되지 않으면 먼저 원본 A17을 실행해 실행 환경과 새 수정의 문제를 나눕니다. 원본까지 실패하면 환경 단서부터 확인합니다.</a:t>
            </a:r>
          </a:p>
          <a:p xmlns:a="http://schemas.openxmlformats.org/drawingml/2006/main">
            <a:r>
              <a:t/>
            </a:r>
          </a:p>
          <a:p xmlns:a="http://schemas.openxmlformats.org/drawingml/2006/main">
            <a:r>
              <a:t>[활동 자료와 작성칸](practice-guide.md#a18--새-입력-검수와-실행-인계)에서 A18를 엽니다.</a:t>
            </a:r>
          </a:p>
          <a:p xmlns:a="http://schemas.openxmlformats.org/drawingml/2006/main">
            <a:r>
              <a:t/>
            </a:r>
          </a:p>
          <a:p xmlns:a="http://schemas.openxmlformats.org/drawingml/2006/main">
            <a:r>
              <a:t>## 공식 참고자료</a:t>
            </a:r>
          </a:p>
          <a:p xmlns:a="http://schemas.openxmlformats.org/drawingml/2006/main">
            <a:r>
              <a:t/>
            </a:r>
          </a:p>
          <a:p xmlns:a="http://schemas.openxmlformats.org/drawingml/2006/main">
            <a:r>
              <a:t>- [introduction.html](https://docs.python.org/3/tutorial/introduction.html)</a:t>
            </a:r>
          </a:p>
          <a:p xmlns:a="http://schemas.openxmlformats.org/drawingml/2006/main">
            <a:r>
              <a:t>- [controlflow.html](https://docs.python.org/3/tutorial/controlflow.html)</a:t>
            </a:r>
          </a:p>
          <a:p xmlns:a="http://schemas.openxmlformats.org/drawingml/2006/main">
            <a:r>
              <a:t>- [functions.html](https://docs.python.org/3/library/functions.html)</a:t>
            </a:r>
          </a:p>
          <a:p xmlns:a="http://schemas.openxmlformats.org/drawingml/2006/main">
            <a:r>
              <a:t/>
            </a:r>
          </a:p>
          <a:p xmlns:a="http://schemas.openxmlformats.org/drawingml/2006/main">
            <a:r>
              <a:t>공식 동작은 2026-09-26 확인했습니다. 자체 합성 사례로 설명하며 현재 교실 환경이나 학습 효과를 실측한 결과는 아닙니다.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필수 개념 설명의 보충입니다.</a:t>
            </a:r>
          </a:p>
          <a:p xmlns:a="http://schemas.openxmlformats.org/drawingml/2006/main">
            <a:r>
              <a:t>점검 기록 세 건에 장치명과 온도가 함께 있습니다. 순서대로 D01은 18℃, D02는 미확인, D03은 26℃입니다. 온도만 따로 출력하면 어느 장치의 값인지 잃습니다. 한 관찰을 이름표가 붙은 값 묶음, 즉 딕셔너리로 만들고 여러 관찰을 리스트로 모읍니다. 바깥 목록은 기록들을 차례로 묶고 안쪽 이름표는 같은 기록의 항목을 구별합니다. 위치 번호와 항목 이름은 찾는 방식이 다르므로 두 겹 구조를 분리해서 봅니다.</a:t>
            </a:r>
          </a:p>
          <a:p xmlns:a="http://schemas.openxmlformats.org/drawingml/2006/main">
            <a:r>
              <a:t/>
            </a:r>
          </a:p>
          <a:p xmlns:a="http://schemas.openxmlformats.org/drawingml/2006/main">
            <a:r>
              <a:t>완성 원문은 D01/18, D02/None, D03/26 세 기록입니다. 수업용 기준은 ‘온도가 25℃ 초과이면 확인, 그 외 숫자는 정상, 미확인은 미측정’입니다. 첫 기록에서 장치명 D01과 숫자 18을 꺼내고 None인지 먼저 묻습니다. 아니므로 18&gt;25를 확인해 정상으로 표시합니다. 둘째는 None이라 미측정으로 표시하고 숫자 비교를 하지 않습니다. 셋째는 26&gt;25가 참이므로 확인입니다. 최종 세 줄은 D01 정상, D02 미측정, D03 확인입니다.</a:t>
            </a:r>
          </a:p>
          <a:p xmlns:a="http://schemas.openxmlformats.org/drawingml/2006/main">
            <a:r>
              <a:t/>
            </a:r>
          </a:p>
          <a:p xmlns:a="http://schemas.openxmlformats.org/drawingml/2006/main">
            <a:r>
              <a:t>이름표 temperature_c와 temperature는 비슷한 뜻이어도 다른 키입니다. 없는 이름표를 직접 찾으면 KeyError가 발생할 수 있습니다. 오류가 없어지도록 임의로 새 키를 만들기 전에 원자료와 약속한 헤더를 비교합니다. 같은 장치가 다른 시각에 다시 측정되면 기록이 하나 더 생길 수 있으므로 장치명만으로 중복 삭제하지 않습니다. 오늘의 상태 프로그램은 제공 숫자를 기준과 비교할 뿐 실제 센서 고장이나 안전을 확정하지 않습니다. 새 입력을 넘길 때 기록의 출처·기준·미확인 처리·예상 결과를 함께 적어 다음 사람이 같은 판단을 재현할 수 있게 합니다.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보강 단원의 완성 추적 예입니다. 세부 이유와 경계 조건은 아래 원고를 설명합니다.</a:t>
            </a:r>
          </a:p>
          <a:p xmlns:a="http://schemas.openxmlformats.org/drawingml/2006/main">
            <a:r>
              <a:t>점검 기록 세 건에 장치명과 온도가 함께 있습니다. 순서대로 D01은 18℃, D02는 미확인, D03은 26℃입니다. 온도만 따로 출력하면 어느 장치의 값인지 잃습니다. 한 관찰을 이름표가 붙은 값 묶음, 즉 딕셔너리로 만들고 여러 관찰을 리스트로 모읍니다. 바깥 목록은 기록들을 차례로 묶고 안쪽 이름표는 같은 기록의 항목을 구별합니다. 위치 번호와 항목 이름은 찾는 방식이 다르므로 두 겹 구조를 분리해서 봅니다.</a:t>
            </a:r>
          </a:p>
          <a:p xmlns:a="http://schemas.openxmlformats.org/drawingml/2006/main">
            <a:r>
              <a:t/>
            </a:r>
          </a:p>
          <a:p xmlns:a="http://schemas.openxmlformats.org/drawingml/2006/main">
            <a:r>
              <a:t>완성 원문은 D01/18, D02/None, D03/26 세 기록입니다. 수업용 기준은 ‘온도가 25℃ 초과이면 확인, 그 외 숫자는 정상, 미확인은 미측정’입니다. 첫 기록에서 장치명 D01과 숫자 18을 꺼내고 None인지 먼저 묻습니다. 아니므로 18&gt;25를 확인해 정상으로 표시합니다. 둘째는 None이라 미측정으로 표시하고 숫자 비교를 하지 않습니다. 셋째는 26&gt;25가 참이므로 확인입니다. 최종 세 줄은 D01 정상, D02 미측정, D03 확인입니다.</a:t>
            </a:r>
          </a:p>
          <a:p xmlns:a="http://schemas.openxmlformats.org/drawingml/2006/main">
            <a:r>
              <a:t/>
            </a:r>
          </a:p>
          <a:p xmlns:a="http://schemas.openxmlformats.org/drawingml/2006/main">
            <a:r>
              <a:t>이름표 temperature_c와 temperature는 비슷한 뜻이어도 다른 키입니다. 없는 이름표를 직접 찾으면 KeyError가 발생할 수 있습니다. 오류가 없어지도록 임의로 새 키를 만들기 전에 원자료와 약속한 헤더를 비교합니다. 같은 장치가 다른 시각에 다시 측정되면 기록이 하나 더 생길 수 있으므로 장치명만으로 중복 삭제하지 않습니다. 오늘의 상태 프로그램은 제공 숫자를 기준과 비교할 뿐 실제 센서 고장이나 안전을 확정하지 않습니다. 새 입력을 넘길 때 기록의 출처·기준·미확인 처리·예상 결과를 함께 적어 다음 사람이 같은 판단을 재현할 수 있게 합니다.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복습·도전: 세 물품 P01 수량 0, P02 수량 미확인, P03 수량 2를 대상으로 ‘2개 이하이면 주문 요청’ 상태표를 새로 설계하세요. 물품번호와 수량의 이름표, 미확인 갈래를 먼저 정하고 세 줄을 작성하세요.</a:t>
            </a:r>
          </a:p>
          <a:p xmlns:a="http://schemas.openxmlformats.org/drawingml/2006/main">
            <a:r>
              <a:t/>
            </a:r>
          </a:p>
          <a:p xmlns:a="http://schemas.openxmlformats.org/drawingml/2006/main">
            <a:r>
              <a:t>학생이 독립적으로 답을 만든 뒤 다음 슬라이드로 넘어갑니다. 필수 수행에 이 문제 전체를 억지로 포함하지 않습니다.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이름표는 예를 들어 product_id와 quantity입니다. P01·P03은 주문 요청, P02는 수량 확인입니다. 0은 실제 수량이라 포함하고 None은 비교 전에 처리합니다. temperature_c 키를 그대로 쓰는 답은 새 업무의 항목 뜻을 맞추지 못한 것입니다.</a:t>
            </a:r>
          </a:p>
          <a:p xmlns:a="http://schemas.openxmlformats.org/drawingml/2006/main">
            <a:r>
              <a:t/>
            </a:r>
          </a:p>
          <a:p xmlns:a="http://schemas.openxmlformats.org/drawingml/2006/main">
            <a:r>
              <a:t>핵심 질문과 해설:</a:t>
            </a:r>
          </a:p>
          <a:p xmlns:a="http://schemas.openxmlformats.org/drawingml/2006/main">
            <a:r>
              <a:t>목록과 딕셔너리가 함께 필요한 이유는? 여러 건의 순서와 한 건 안의 항목 이름을 각각 보존하기 위해서입니다.</a:t>
            </a:r>
          </a:p>
          <a:p xmlns:a="http://schemas.openxmlformats.org/drawingml/2006/main">
            <a:r>
              <a:t>미확인을 숫자 비교 뒤에 두나요? 숫자로 비교할 수 없으므로 먼저 분기합니다.</a:t>
            </a:r>
          </a:p>
          <a:p xmlns:a="http://schemas.openxmlformats.org/drawingml/2006/main">
            <a:r>
              <a:t>상태표는 실제 고장을 증명하나요? 제공 입력과 수업 규칙을 적용한 결과이며 실제 원인은 별도 확인합니다.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A18 상세 원문]</a:t>
            </a:r>
          </a:p>
          <a:p xmlns:a="http://schemas.openxmlformats.org/drawingml/2006/main">
            <a:r>
              <a:t>**개념.** 프로그램 사용 결과는 파일·입력·명령·출력·판단 근거를 함께 남길 때 다른 사람이 확인할 수 있습니다. 잘 실행되었다는 한 문장보다 어떤 사례를 확인했는지가 중요합니다.</a:t>
            </a:r>
          </a:p>
          <a:p xmlns:a="http://schemas.openxmlformats.org/drawingml/2006/main">
            <a:r>
              <a:t/>
            </a:r>
          </a:p>
          <a:p xmlns:a="http://schemas.openxmlformats.org/drawingml/2006/main">
            <a:r>
              <a:t>**왜 필요한가.** 새 입력에서 경계값과 미측정을 다시 확인하면 예제 답을 외운 것인지 원리를 이해했는지 볼 수 있습니다. 실행하지 못한 경우에는 예상·강사 관찰·개인 실행을 정확히 구별합니다.</a:t>
            </a:r>
          </a:p>
          <a:p xmlns:a="http://schemas.openxmlformats.org/drawingml/2006/main">
            <a:r>
              <a:t/>
            </a:r>
          </a:p>
          <a:p xmlns:a="http://schemas.openxmlformats.org/drawingml/2006/main">
            <a:r>
              <a:t>**함께 보는 예.** 새 입력은 S04의 24.0, S05의 0.0, S06의 None입니다. 기준은 24.0 초과입니다. 정상·정상·미측정으로 예상하고, 기존 A17 작업본의 기록 목록만 바꾸는 수정안을 작성합니다.</a:t>
            </a:r>
          </a:p>
          <a:p xmlns:a="http://schemas.openxmlformats.org/drawingml/2006/main">
            <a:r>
              <a:t/>
            </a:r>
          </a:p>
          <a:p xmlns:a="http://schemas.openxmlformats.org/drawingml/2006/main">
            <a:r>
              <a:t>**헷갈리는 경우.** 과거 A17 출력 화면을 새 입력의 결과라고 제출하면 재현 근거가 맞지 않습니다. 파일을 저장한 시점과 실행한 경로, 새 입력값을 함께 확인해야 합니다.</a:t>
            </a:r>
          </a:p>
          <a:p xmlns:a="http://schemas.openxmlformats.org/drawingml/2006/main">
            <a:r>
              <a:t/>
            </a:r>
          </a:p>
          <a:p xmlns:a="http://schemas.openxmlformats.org/drawingml/2006/main">
            <a:r>
              <a:t>### 제공 입력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새 관찰: S04=24.0, S05=0.0, S06=None. 기준 24.0 초과.</a:t>
            </a:r>
          </a:p>
          <a:p xmlns:a="http://schemas.openxmlformats.org/drawingml/2006/main">
            <a:r>
              <a:t>인계 양식: 실행 파일 / 바꾼 입력 / 실행 명령 / 예상 출력 / 실제 확인 방식 / 남은 질문.</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새 관찰 세 개의 예상 상태와 근거를 적습니다.</a:t>
            </a:r>
          </a:p>
          <a:p xmlns:a="http://schemas.openxmlformats.org/drawingml/2006/main">
            <a:r>
              <a:t>2. A17 구조를 재사용해 work/A18_final.py의 기록 목록을 새 자료로 바꿉니다.</a:t>
            </a:r>
          </a:p>
          <a:p xmlns:a="http://schemas.openxmlformats.org/drawingml/2006/main">
            <a:r>
              <a:t>3. 같은 기준으로 실행하거나 제공 출력과 수동 대조하고 확인 방식을 기록합니다.</a:t>
            </a:r>
          </a:p>
          <a:p xmlns:a="http://schemas.openxmlformats.org/drawingml/2006/main">
            <a:r>
              <a:t>4. 짝이 같은 파일을 찾고 결과를 설명할 수 있게 인계 세 문장을 씁니다.</a:t>
            </a:r>
          </a:p>
          <a:p xmlns:a="http://schemas.openxmlformats.org/drawingml/2006/main">
            <a:r>
              <a:t/>
            </a:r>
          </a:p>
          <a:p xmlns:a="http://schemas.openxmlformats.org/drawingml/2006/main">
            <a:r>
              <a:t>예상 결과: S04 정상, S05 정상, S06 미측정. 0.0과 None이 다르게 처리됩니다.</a:t>
            </a:r>
          </a:p>
          <a:p xmlns:a="http://schemas.openxmlformats.org/drawingml/2006/main">
            <a:r>
              <a:t/>
            </a:r>
          </a:p>
          <a:p xmlns:a="http://schemas.openxmlformats.org/drawingml/2006/main">
            <a:r>
              <a:t>확인 질문: 내일 파일에서 읽은 "24.0"을 그대로 이 코드에 넣으면 무엇이 추가로 필요할까요?</a:t>
            </a:r>
          </a:p>
          <a:p xmlns:a="http://schemas.openxmlformats.org/drawingml/2006/main">
            <a:r>
              <a:t/>
            </a:r>
          </a:p>
          <a:p xmlns:a="http://schemas.openxmlformats.org/drawingml/2006/main">
            <a:r>
              <a:t>막혔을 때: 새 파일이 실행되지 않으면 먼저 원본 A17을 실행해 실행 환경과 새 수정의 문제를 나눕니다. 원본까지 실패하면 환경 단서부터 확인합니다.</a:t>
            </a:r>
          </a:p>
          <a:p xmlns:a="http://schemas.openxmlformats.org/drawingml/2006/main">
            <a:r>
              <a:t/>
            </a:r>
          </a:p>
          <a:p xmlns:a="http://schemas.openxmlformats.org/drawingml/2006/main">
            <a:r>
              <a:t>[활동 자료와 작성칸](practice-guide.md#a18--새-입력-검수와-실행-인계)에서 A18를 엽니다.</a:t>
            </a:r>
          </a:p>
          <a:p xmlns:a="http://schemas.openxmlformats.org/drawingml/2006/main">
            <a:r>
              <a:t/>
            </a:r>
          </a:p>
          <a:p xmlns:a="http://schemas.openxmlformats.org/drawingml/2006/main">
            <a:r>
              <a:t>## 공식 참고자료</a:t>
            </a:r>
          </a:p>
          <a:p xmlns:a="http://schemas.openxmlformats.org/drawingml/2006/main">
            <a:r>
              <a:t/>
            </a:r>
          </a:p>
          <a:p xmlns:a="http://schemas.openxmlformats.org/drawingml/2006/main">
            <a:r>
              <a:t>- [introduction.html](https://docs.python.org/3/tutorial/introduction.html)</a:t>
            </a:r>
          </a:p>
          <a:p xmlns:a="http://schemas.openxmlformats.org/drawingml/2006/main">
            <a:r>
              <a:t>- [controlflow.html](https://docs.python.org/3/tutorial/controlflow.html)</a:t>
            </a:r>
          </a:p>
          <a:p xmlns:a="http://schemas.openxmlformats.org/drawingml/2006/main">
            <a:r>
              <a:t>- [functions.html](https://docs.python.org/3/library/functions.html)</a:t>
            </a:r>
          </a:p>
          <a:p xmlns:a="http://schemas.openxmlformats.org/drawingml/2006/main">
            <a:r>
              <a:t/>
            </a:r>
          </a:p>
          <a:p xmlns:a="http://schemas.openxmlformats.org/drawingml/2006/main">
            <a:r>
              <a:t>공식 동작은 2026-09-26 확인했습니다. 자체 합성 사례로 설명하며 현재 교실 환경이나 학습 효과를 실측한 결과는 아닙니다.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문장:</a:t>
            </a:r>
          </a:p>
          <a:p xmlns:a="http://schemas.openxmlformats.org/drawingml/2006/main">
            <a:r>
              <a:t>한 기록의 값과 장치명을 함께 보존합니다.</a:t>
            </a:r>
          </a:p>
          <a:p xmlns:a="http://schemas.openxmlformats.org/drawingml/2006/main">
            <a:r>
              <a:t>미측정 갈래를 숫자 비교보다 앞에 둡니다.</a:t>
            </a:r>
          </a:p>
          <a:p xmlns:a="http://schemas.openxmlformats.org/drawingml/2006/main">
            <a:r>
              <a:t>합성 데이터 점검과 센서 성능 검증은 다릅니다.</a:t>
            </a:r>
          </a:p>
          <a:p xmlns:a="http://schemas.openxmlformats.org/drawingml/2006/main">
            <a:r>
              <a:t/>
            </a:r>
          </a:p>
          <a:p xmlns:a="http://schemas.openxmlformats.org/drawingml/2006/main">
            <a:r>
              <a:t>관련 교시의 상세 원문:</a:t>
            </a:r>
          </a:p>
          <a:p xmlns:a="http://schemas.openxmlformats.org/drawingml/2006/main">
            <a:r>
              <a:t>### 사례로 이해하기 · 한 기록의 이름표를 지키며 상태표 만들기</a:t>
            </a:r>
          </a:p>
          <a:p xmlns:a="http://schemas.openxmlformats.org/drawingml/2006/main">
            <a:r>
              <a:t/>
            </a:r>
          </a:p>
          <a:p xmlns:a="http://schemas.openxmlformats.org/drawingml/2006/main">
            <a:r>
              <a:t>필수 설명 보충입니다. 강사 시연 → 함께 추적 → 예상과 실제 비교 → 자기 말로 설명 순서로 읽습니다. 아래 독립 문제는 복습·도전이며 기존 50분 필수 경로와 별도로 활용합니다.</a:t>
            </a:r>
          </a:p>
          <a:p xmlns:a="http://schemas.openxmlformats.org/drawingml/2006/main">
            <a:r>
              <a:t/>
            </a:r>
          </a:p>
          <a:p xmlns:a="http://schemas.openxmlformats.org/drawingml/2006/main">
            <a:r>
              <a:t>점검 기록 세 건에 장치명과 온도가 함께 있습니다. 순서대로 D01은 18℃, D02는 미확인, D03은 26℃입니다. 온도만 따로 출력하면 어느 장치의 값인지 잃습니다. 한 관찰을 이름표가 붙은 값 묶음, 즉 딕셔너리로 만들고 여러 관찰을 리스트로 모읍니다. 바깥 목록은 기록들을 차례로 묶고 안쪽 이름표는 같은 기록의 항목을 구별합니다. 위치 번호와 항목 이름은 찾는 방식이 다르므로 두 겹 구조를 분리해서 봅니다.</a:t>
            </a:r>
          </a:p>
          <a:p xmlns:a="http://schemas.openxmlformats.org/drawingml/2006/main">
            <a:r>
              <a:t/>
            </a:r>
          </a:p>
          <a:p xmlns:a="http://schemas.openxmlformats.org/drawingml/2006/main">
            <a:r>
              <a:t>완성 원문은 D01/18, D02/None, D03/26 세 기록입니다. 수업용 기준은 ‘온도가 25℃ 초과이면 확인, 그 외 숫자는 정상, 미확인은 미측정’입니다. 첫 기록에서 장치명 D01과 숫자 18을 꺼내고 None인지 먼저 묻습니다. 아니므로 18&gt;25를 확인해 정상으로 표시합니다. 둘째는 None이라 미측정으로 표시하고 숫자 비교를 하지 않습니다. 셋째는 26&gt;25가 참이므로 확인입니다. 최종 세 줄은 D01 정상, D02 미측정, D03 확인입니다.</a:t>
            </a:r>
          </a:p>
          <a:p xmlns:a="http://schemas.openxmlformats.org/drawingml/2006/main">
            <a:r>
              <a:t/>
            </a:r>
          </a:p>
          <a:p xmlns:a="http://schemas.openxmlformats.org/drawingml/2006/main">
            <a:r>
              <a:t>이름표 temperature_c와 temperature는 비슷한 뜻이어도 다른 키입니다. 없는 이름표를 직접 찾으면 KeyError가 발생할 수 있습니다. 오류가 없어지도록 임의로 새 키를 만들기 전에 원자료와 약속한 헤더를 비교합니다. 같은 장치가 다른 시각에 다시 측정되면 기록이 하나 더 생길 수 있으므로 장치명만으로 중복 삭제하지 않습니다. 오늘의 상태 프로그램은 제공 숫자를 기준과 비교할 뿐 실제 센서 고장이나 안전을 확정하지 않습니다. 새 입력을 넘길 때 기록의 출처·기준·미확인 처리·예상 결과를 함께 적어 다음 사람이 같은 판단을 재현할 수 있게 합니다.</a:t>
            </a:r>
          </a:p>
          <a:p xmlns:a="http://schemas.openxmlformats.org/drawingml/2006/main">
            <a:r>
              <a:t/>
            </a:r>
          </a:p>
          <a:p xmlns:a="http://schemas.openxmlformats.org/drawingml/2006/main">
            <a:r>
              <a:t>### 새 상황에 독립적으로 적용하기</a:t>
            </a:r>
          </a:p>
          <a:p xmlns:a="http://schemas.openxmlformats.org/drawingml/2006/main">
            <a:r>
              <a:t/>
            </a:r>
          </a:p>
          <a:p xmlns:a="http://schemas.openxmlformats.org/drawingml/2006/main">
            <a:r>
              <a:t>복습·도전: 세 물품 P01 수량 0, P02 수량 미확인, P03 수량 2를 대상으로 ‘2개 이하이면 주문 요청’ 상태표를 새로 설계하세요. 물품번호와 수량의 이름표, 미확인 갈래를 먼저 정하고 세 줄을 작성하세요.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이름표는 예를 들어 product_id와 quantity입니다. P01·P03은 주문 요청, P02는 수량 확인입니다. 0은 실제 수량이라 포함하고 None은 비교 전에 처리합니다. temperature_c 키를 그대로 쓰는 답은 새 업무의 항목 뜻을 맞추지 못한 것입니다.</a:t>
            </a:r>
          </a:p>
          <a:p xmlns:a="http://schemas.openxmlformats.org/drawingml/2006/main">
            <a:r>
              <a:t/>
            </a:r>
          </a:p>
          <a:p xmlns:a="http://schemas.openxmlformats.org/drawingml/2006/main">
            <a:r>
              <a:t>### 핵심 세 질문과 해설</a:t>
            </a:r>
          </a:p>
          <a:p xmlns:a="http://schemas.openxmlformats.org/drawingml/2006/main">
            <a:r>
              <a:t/>
            </a:r>
          </a:p>
          <a:p xmlns:a="http://schemas.openxmlformats.org/drawingml/2006/main">
            <a:r>
              <a:t>1. **목록과 딕셔너리가 함께 필요한 이유는?** 여러 건의 순서와 한 건 안의 항목 이름을 각각 보존하기 위해서입니다.</a:t>
            </a:r>
          </a:p>
          <a:p xmlns:a="http://schemas.openxmlformats.org/drawingml/2006/main">
            <a:r>
              <a:t/>
            </a:r>
          </a:p>
          <a:p xmlns:a="http://schemas.openxmlformats.org/drawingml/2006/main">
            <a:r>
              <a:t>2. **미확인을 숫자 비교 뒤에 두나요?** 숫자로 비교할 수 없으므로 먼저 분기합니다.</a:t>
            </a:r>
          </a:p>
          <a:p xmlns:a="http://schemas.openxmlformats.org/drawingml/2006/main">
            <a:r>
              <a:t/>
            </a:r>
          </a:p>
          <a:p xmlns:a="http://schemas.openxmlformats.org/drawingml/2006/main">
            <a:r>
              <a:t>3. **상태표는 실제 고장을 증명하나요?** 제공 입력과 수업 규칙을 적용한 결과이며 실제 원인은 별도 확인합니다.</a:t>
            </a:r>
          </a:p>
          <a:p xmlns:a="http://schemas.openxmlformats.org/drawingml/2006/main">
            <a:r>
              <a:t/>
            </a:r>
          </a:p>
          <a:p xmlns:a="http://schemas.openxmlformats.org/drawingml/2006/main">
            <a:r>
              <a:t/>
            </a:r>
          </a:p>
          <a:p xmlns:a="http://schemas.openxmlformats.org/drawingml/2006/main">
            <a:r>
              <a:t>**개념.** 딕셔너리는 이름표인 키와 값의 묶음입니다. 여러 관찰 딕셔너리를 리스트로 묶으면 ‘기록 여러 건’의 구조가 됩니다. 이 개념은 10/8의 표 행과 JSON 객체를 프로그램 안에 옮긴 것입니다.</a:t>
            </a:r>
          </a:p>
          <a:p xmlns:a="http://schemas.openxmlformats.org/drawingml/2006/main">
            <a:r>
              <a:t/>
            </a:r>
          </a:p>
          <a:p xmlns:a="http://schemas.openxmlformats.org/drawingml/2006/main">
            <a:r>
              <a:t>**왜 필요한가.** 온도만 나열하면 어느 센서인지 놓치기 쉽습니다. 식별자와 온도를 한 기록으로 묶어 처리하면 출력의 대상을 분명히 할 수 있습니다. 오늘은 제공된 구조를 읽고 한 값만 바꿉니다.</a:t>
            </a:r>
          </a:p>
          <a:p xmlns:a="http://schemas.openxmlformats.org/drawingml/2006/main">
            <a:r>
              <a:t/>
            </a:r>
          </a:p>
          <a:p xmlns:a="http://schemas.openxmlformats.org/drawingml/2006/main">
            <a:r>
              <a:t>**함께 보는 예.** records는 기록 두 건의 목록입니다. 첫 기록의 sensor_id는 S01이고 temperature_c는 22.5입니다. for의 record는 이번 차례의 딕셔너리 한 개를 가리킵니다.</a:t>
            </a:r>
          </a:p>
          <a:p xmlns:a="http://schemas.openxmlformats.org/drawingml/2006/main">
            <a:r>
              <a:t/>
            </a:r>
          </a:p>
          <a:p xmlns:a="http://schemas.openxmlformats.org/drawingml/2006/main">
            <a:r>
              <a:t>**헷갈리는 경우.** record[0]처럼 위치로 읽는 것과 record["sensor_id"]처럼 키로 읽는 것을 섞지 않습니다. 이 딕셔너리에는 숫자 0이라는 키를 준비하지 않았습니다.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records = [</a:t>
            </a:r>
          </a:p>
          <a:p xmlns:a="http://schemas.openxmlformats.org/drawingml/2006/main">
            <a:r>
              <a:t>    {"sensor_id": "S01", "temperature_c": 22.5},</a:t>
            </a:r>
          </a:p>
          <a:p xmlns:a="http://schemas.openxmlformats.org/drawingml/2006/main">
            <a:r>
              <a:t>    {"sensor_id": "S02", "temperature_c": 24.0},</a:t>
            </a:r>
          </a:p>
          <a:p xmlns:a="http://schemas.openxmlformats.org/drawingml/2006/main">
            <a:r>
              <a:t>]</a:t>
            </a:r>
          </a:p>
          <a:p xmlns:a="http://schemas.openxmlformats.org/drawingml/2006/main">
            <a:r>
              <a:t>for record in records:</a:t>
            </a:r>
          </a:p>
          <a:p xmlns:a="http://schemas.openxmlformats.org/drawingml/2006/main">
            <a:r>
              <a:t>    print(record["sensor_id"], record["temperature_c"])</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`records = [` | 기록을 담을 리스트를 시작합니다. |</a:t>
            </a:r>
          </a:p>
          <a:p xmlns:a="http://schemas.openxmlformats.org/drawingml/2006/main">
            <a:r>
              <a:t>| 2 | `    {"sensor_id": "S01", "temperature_c": 22.5},` | 첫 관찰을 두 키의 딕셔너리로 넣습니다. |</a:t>
            </a:r>
          </a:p>
          <a:p xmlns:a="http://schemas.openxmlformats.org/drawingml/2006/main">
            <a:r>
              <a:t>| 3 | `    {"sensor_id": "S02", "temperature_c": 24.0},` | 둘째 관찰을 넣습니다. |</a:t>
            </a:r>
          </a:p>
          <a:p xmlns:a="http://schemas.openxmlformats.org/drawingml/2006/main">
            <a:r>
              <a:t>| 4 | `]` | 리스트를 닫습니다. |</a:t>
            </a:r>
          </a:p>
          <a:p xmlns:a="http://schemas.openxmlformats.org/drawingml/2006/main">
            <a:r>
              <a:t>| 5 | `for record in records:` | 딕셔너리 한 개씩 읽습니다. |</a:t>
            </a:r>
          </a:p>
          <a:p xmlns:a="http://schemas.openxmlformats.org/drawingml/2006/main">
            <a:r>
              <a:t>| 6 | `    print(record["sensor_id"], record["temperature_c"])` | 이번 관찰의 이름표로 두 값을 찾아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code/A16_example.py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work/A16_example.py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S01 22.5</a:t>
            </a:r>
          </a:p>
          <a:p xmlns:a="http://schemas.openxmlformats.org/drawingml/2006/main">
            <a:r>
              <a:t>S02 24.0</a:t>
            </a:r>
          </a:p>
          <a:p xmlns:a="http://schemas.openxmlformats.org/drawingml/2006/main">
            <a:r>
              <a:t>```</a:t>
            </a:r>
          </a:p>
          <a:p xmlns:a="http://schemas.openxmlformats.org/drawingml/2006/main">
            <a:r>
              <a:t/>
            </a:r>
          </a:p>
          <a:p xmlns:a="http://schemas.openxmlformats.org/drawingml/2006/main">
            <a:r>
              <a:t>작은 수정: `"temperature_c": 24.0`를 `"temperature_c": 25.0`로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S01 22.5</a:t>
            </a:r>
          </a:p>
          <a:p xmlns:a="http://schemas.openxmlformats.org/drawingml/2006/main">
            <a:r>
              <a:t>S02 25.0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바깥 리스트와 안쪽 딕셔너리를 표시합니다.</a:t>
            </a:r>
          </a:p>
          <a:p xmlns:a="http://schemas.openxmlformats.org/drawingml/2006/main">
            <a:r>
              <a:t>2. S02의 온도를 바꾸었을 때 어느 출력만 바뀌는지 예상합니다.</a:t>
            </a:r>
          </a:p>
          <a:p xmlns:a="http://schemas.openxmlformats.org/drawingml/2006/main">
            <a:r>
              <a:t>3. 값 한 곳을 수정해 출력과 관찰 대상이 유지되는지 확인합니다.</a:t>
            </a:r>
          </a:p>
          <a:p xmlns:a="http://schemas.openxmlformats.org/drawingml/2006/main">
            <a:r>
              <a:t>4. 표의 한 행과 record의 관계를 문장으로 설명합니다.</a:t>
            </a:r>
          </a:p>
          <a:p xmlns:a="http://schemas.openxmlformats.org/drawingml/2006/main">
            <a:r>
              <a:t/>
            </a:r>
          </a:p>
          <a:p xmlns:a="http://schemas.openxmlformats.org/drawingml/2006/main">
            <a:r>
              <a:t>예상 결과: S02의 온도만 25.0으로 바뀝니다. 기록 수는 두 건입니다.</a:t>
            </a:r>
          </a:p>
          <a:p xmlns:a="http://schemas.openxmlformats.org/drawingml/2006/main">
            <a:r>
              <a:t/>
            </a:r>
          </a:p>
          <a:p xmlns:a="http://schemas.openxmlformats.org/drawingml/2006/main">
            <a:r>
              <a:t>확인 질문: 딕셔너리 키 temperature_c를 오타로 읽으면 무엇부터 확인하나요?</a:t>
            </a:r>
          </a:p>
          <a:p xmlns:a="http://schemas.openxmlformats.org/drawingml/2006/main">
            <a:r>
              <a:t/>
            </a:r>
          </a:p>
          <a:p xmlns:a="http://schemas.openxmlformats.org/drawingml/2006/main">
            <a:r>
              <a:t>막혔을 때: 괄호 짝을 찾기 어렵다면 먼저 리스트 외곽, 다음 각 딕셔너리 외곽을 따로 표시합니다.</a:t>
            </a:r>
          </a:p>
          <a:p xmlns:a="http://schemas.openxmlformats.org/drawingml/2006/main">
            <a:r>
              <a:t/>
            </a:r>
          </a:p>
          <a:p xmlns:a="http://schemas.openxmlformats.org/drawingml/2006/main">
            <a:r>
              <a:t>[활동 자료와 작성칸](practice-guide.md#a16--관찰-한-건과-점검표-구조)에서 A16를 엽니다.</a:t>
            </a:r>
          </a:p>
          <a:p xmlns:a="http://schemas.openxmlformats.org/drawingml/2006/main">
            <a:r>
              <a:t/>
            </a:r>
          </a:p>
          <a:p xmlns:a="http://schemas.openxmlformats.org/drawingml/2006/main">
            <a:r>
              <a:t>자료 위치: D:\KDigital_PhysicalAI\outputs\2026-10-14\lesson.md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Python 기초 확인과 평가</a:t>
            </a:r>
          </a:p>
          <a:p xmlns:a="http://schemas.openxmlformats.org/drawingml/2006/main">
            <a:r>
              <a:t/>
            </a:r>
          </a:p>
          <a:p xmlns:a="http://schemas.openxmlformats.org/drawingml/2006/main">
            <a:r>
              <a:t>**18활동의 작성·예상·실제 확인을 분리해 봅니다. 속도나 설치 성공만 평가하지 않습니다.**</a:t>
            </a:r>
          </a:p>
          <a:p xmlns:a="http://schemas.openxmlformats.org/drawingml/2006/main">
            <a:r>
              <a:t/>
            </a:r>
          </a:p>
          <a:p xmlns:a="http://schemas.openxmlformats.org/drawingml/2006/main">
            <a:r>
              <a:t>| 기준 | 확인할 증거 | 보완이 필요한 경우 |</a:t>
            </a:r>
          </a:p>
          <a:p xmlns:a="http://schemas.openxmlformats.org/drawingml/2006/main">
            <a:r>
              <a:t>| --- | --- | --- |</a:t>
            </a:r>
          </a:p>
          <a:p xmlns:a="http://schemas.openxmlformats.org/drawingml/2006/main">
            <a:r>
              <a:t>| 개념 | 입력·처리·출력 또는 변경 단계의 역할 설명 | 결과 이름만 외우고 근거를 말하지 못함 |</a:t>
            </a:r>
          </a:p>
          <a:p xmlns:a="http://schemas.openxmlformats.org/drawingml/2006/main">
            <a:r>
              <a:t>| 수정 | 지정한 위치와 변경 전후를 연결 | 여러 곳을 바꾸어 원인을 설명하지 못함 |</a:t>
            </a:r>
          </a:p>
          <a:p xmlns:a="http://schemas.openxmlformats.org/drawingml/2006/main">
            <a:r>
              <a:t>| 확인 | 정상·경계·오류 사례의 예상과 실제 구별 | 실행 성공을 내용 정확성으로 단정 |</a:t>
            </a:r>
          </a:p>
          <a:p xmlns:a="http://schemas.openxmlformats.org/drawingml/2006/main">
            <a:r>
              <a:t>| 전달 | 파일·명령·결과·남은 질문을 재현 가능하게 기록 | 어느 파일을 사용했는지 불명확 |</a:t>
            </a:r>
          </a:p>
          <a:p xmlns:a="http://schemas.openxmlformats.org/drawingml/2006/main">
            <a:r>
              <a:t/>
            </a:r>
          </a:p>
          <a:p xmlns:a="http://schemas.openxmlformats.org/drawingml/2006/main">
            <a:r>
              <a:t>각 기준은 ‘독립 설명 가능 / 힌트 후 가능 / 다시 연습’으로 기록합니다. 개인 실행 여부는 별도 체크하며 미실행을 실패한 개념 이해로 간주하지 않습니다.</a:t>
            </a:r>
          </a:p>
          <a:p xmlns:a="http://schemas.openxmlformats.org/drawingml/2006/main">
            <a:r>
              <a:t/>
            </a:r>
          </a:p>
          <a:p xmlns:a="http://schemas.openxmlformats.org/drawingml/2006/main">
            <a:r>
              <a:t>## 구간별 확인 질문</a:t>
            </a:r>
          </a:p>
          <a:p xmlns:a="http://schemas.openxmlformats.org/drawingml/2006/main">
            <a:r>
              <a:t/>
            </a:r>
          </a:p>
          <a:p xmlns:a="http://schemas.openxmlformats.org/drawingml/2006/main">
            <a:r>
              <a:t>1. 오류 줄 번호가 마지막 줄을 가리키면 그 줄만 보면 충분할까요?</a:t>
            </a:r>
          </a:p>
          <a:p xmlns:a="http://schemas.openxmlformats.org/drawingml/2006/main">
            <a:r>
              <a:t>2. 오류가 사라졌다는 것만으로 올바른 수정이라고 할 수 있나요?</a:t>
            </a:r>
          </a:p>
          <a:p xmlns:a="http://schemas.openxmlformats.org/drawingml/2006/main">
            <a:r>
              <a:t>3. 코드가 종료 코드 0으로 끝났다면 평균의 업무 의미도 보장되나요?</a:t>
            </a:r>
          </a:p>
          <a:p xmlns:a="http://schemas.openxmlformats.org/drawingml/2006/main">
            <a:r>
              <a:t>4. None에 직접 &gt; 24.0을 적용하면 어떻게 될까요?</a:t>
            </a:r>
          </a:p>
          <a:p xmlns:a="http://schemas.openxmlformats.org/drawingml/2006/main">
            <a:r>
              <a:t>5. 한 번의 print인데 세 항목을 검사할 수 있는 이유는 무엇인가요?</a:t>
            </a:r>
          </a:p>
          <a:p xmlns:a="http://schemas.openxmlformats.org/drawingml/2006/main">
            <a:r>
              <a:t>6. 내일 파일에서 읽은 "24.0"을 그대로 이 코드에 넣으면 무엇이 추가로 필요할까요?</a:t>
            </a:r>
          </a:p>
          <a:p xmlns:a="http://schemas.openxmlformats.org/drawingml/2006/main">
            <a:r>
              <a:t/>
            </a:r>
          </a:p>
          <a:p xmlns:a="http://schemas.openxmlformats.org/drawingml/2006/main">
            <a:r>
              <a:t>## 제출</a:t>
            </a:r>
          </a:p>
          <a:p xmlns:a="http://schemas.openxmlformats.org/drawingml/2006/main">
            <a:r>
              <a:t/>
            </a:r>
          </a:p>
          <a:p xmlns:a="http://schemas.openxmlformats.org/drawingml/2006/main">
            <a:r>
              <a:t>work의 활동 노트와 수정 파일, 마지막 종합 작업, 확인한 명령·출력 또는 수동 추적 기록을 제출합니다. 기관 제출 위치는 미확인입니다. 정답 폴더를 학생 결과에 복사하지 않습니다.</a:t>
            </a:r>
          </a:p>
          <a:p xmlns:a="http://schemas.openxmlformats.org/drawingml/2006/main">
            <a:r>
              <a:t/>
            </a:r>
          </a:p>
          <a:p xmlns:a="http://schemas.openxmlformats.org/drawingml/2006/main">
            <a:r>
              <a:t/>
            </a:r>
          </a:p>
          <a:p xmlns:a="http://schemas.openxmlformats.org/drawingml/2006/main">
            <a:r>
              <a:t>## 2026-10-05 보강 · 새 사례 전이 문제</a:t>
            </a:r>
          </a:p>
          <a:p xmlns:a="http://schemas.openxmlformats.org/drawingml/2006/main">
            <a:r>
              <a:t/>
            </a:r>
          </a:p>
          <a:p xmlns:a="http://schemas.openxmlformats.org/drawingml/2006/main">
            <a:r>
              <a:t>기존 평가를 보존합니다. 아래 여섯 문제는 복습·도전용이며 설치 성공과 개념 이해를 구별해 평가합니다. 답을 먼저 읽지 말고 근거와 예상값을 기록합니다.</a:t>
            </a:r>
          </a:p>
          <a:p xmlns:a="http://schemas.openxmlformats.org/drawingml/2006/main">
            <a:r>
              <a:t/>
            </a:r>
          </a:p>
          <a:p xmlns:a="http://schemas.openxmlformats.org/drawingml/2006/main">
            <a:r>
              <a:t>### 문제 1 · 편집 화면·저장 파일·실행 결과의 세 상태</a:t>
            </a:r>
          </a:p>
          <a:p xmlns:a="http://schemas.openxmlformats.org/drawingml/2006/main">
            <a:r>
              <a:t/>
            </a:r>
          </a:p>
          <a:p xmlns:a="http://schemas.openxmlformats.org/drawingml/2006/main">
            <a:r>
              <a:t>복습·도전: 편집기는 work/check.py에 ‘검사 B’를 보여 줍니다. 실행 명령은 code/check.py를 가리키고 출력은 ‘검사 A’입니다. 확인된 사실 세 가지와 다음 확인 동작 두 가지를 적으세요. 새 설치나 임의 파일 삭제는 필요하지 않습니다.</a:t>
            </a:r>
          </a:p>
          <a:p xmlns:a="http://schemas.openxmlformats.org/drawingml/2006/main">
            <a:r>
              <a:t/>
            </a:r>
          </a:p>
          <a:p xmlns:a="http://schemas.openxmlformats.org/drawingml/2006/main">
            <a:r>
              <a:t>**정답·해설:** 편집 경로·실행 경로가 다르며 화면 출력은 A입니다. work 파일을 저장했는지 확인하고 같은 work 주소를 실행합니다. 파일이 다르다는 증거는 있지만 저장 여부는 아직 미확인입니다. ‘Python 고장’은 증거 없는 원인 단정입니다.</a:t>
            </a:r>
          </a:p>
          <a:p xmlns:a="http://schemas.openxmlformats.org/drawingml/2006/main">
            <a:r>
              <a:t/>
            </a:r>
          </a:p>
          <a:p xmlns:a="http://schemas.openxmlformats.org/drawingml/2006/main">
            <a:r>
              <a:t>### 문제 2 · 재고 갱신을 한 줄씩 추적하기</a:t>
            </a:r>
          </a:p>
          <a:p xmlns:a="http://schemas.openxmlformats.org/drawingml/2006/main">
            <a:r>
              <a:t/>
            </a:r>
          </a:p>
          <a:p xmlns:a="http://schemas.openxmlformats.org/drawingml/2006/main">
            <a:r>
              <a:t>복습·도전: 물 12병을 준비하고 4병을 배부한 뒤 현재 수량을 안내합니다. 다시 6병을 받아 최종 수량을 안내합니다. 두 안내값과 세 번의 대입 뒤 현재 수량을 표로 작성하고, 두 print를 어디에 놓을지 판단하세요.</a:t>
            </a:r>
          </a:p>
          <a:p xmlns:a="http://schemas.openxmlformats.org/drawingml/2006/main">
            <a:r>
              <a:t/>
            </a:r>
          </a:p>
          <a:p xmlns:a="http://schemas.openxmlformats.org/drawingml/2006/main">
            <a:r>
              <a:t>**정답·해설:** 대입 뒤 현재 값은 12→8→14이고 안내값은 8과 14입니다. 배부 직후와 추가 입고 직후에 출력해야 합니다. 모든 대입 뒤에 같은 이름을 두 번 출력하면 14·14가 되어 중간 안내를 잃습니다.</a:t>
            </a:r>
          </a:p>
          <a:p xmlns:a="http://schemas.openxmlformats.org/drawingml/2006/main">
            <a:r>
              <a:t/>
            </a:r>
          </a:p>
          <a:p xmlns:a="http://schemas.openxmlformats.org/drawingml/2006/main">
            <a:r>
              <a:t>### 문제 3 · 운송비 계산에서 문자열과 숫자 나누기</a:t>
            </a:r>
          </a:p>
          <a:p xmlns:a="http://schemas.openxmlformats.org/drawingml/2006/main">
            <a:r>
              <a:t/>
            </a:r>
          </a:p>
          <a:p xmlns:a="http://schemas.openxmlformats.org/drawingml/2006/main">
            <a:r>
              <a:t>복습·도전: 판매표의 주문번호 “0009”, 단가 “1500”, 수량 “3”을 보고 총액과 각 항목의 저장 계획을 쓰세요. 단가는 정수 원, 수량은 개수라는 계약입니다. 배송비 2000원을 포함한 최종액도 계산하세요.</a:t>
            </a:r>
          </a:p>
          <a:p xmlns:a="http://schemas.openxmlformats.org/drawingml/2006/main">
            <a:r>
              <a:t/>
            </a:r>
          </a:p>
          <a:p xmlns:a="http://schemas.openxmlformats.org/drawingml/2006/main">
            <a:r>
              <a:t>**정답·해설:** 주문번호는 문자열 유지, 단가와 수량은 정수로 해석합니다. 상품 총액 1500×3=4500원, 최종액 6500원입니다. “1500”+“3”의 문자열 연결은 “15003”으로 금액 계산이 아닙니다. 주문번호를 정수 9로 바꾸면 앞 0을 잃습니다.</a:t>
            </a:r>
          </a:p>
          <a:p xmlns:a="http://schemas.openxmlformats.org/drawingml/2006/main">
            <a:r>
              <a:t/>
            </a:r>
          </a:p>
          <a:p xmlns:a="http://schemas.openxmlformats.org/drawingml/2006/main">
            <a:r>
              <a:t>### 문제 4 · 이상과 초과를 업무 문장으로 읽기</a:t>
            </a:r>
          </a:p>
          <a:p xmlns:a="http://schemas.openxmlformats.org/drawingml/2006/main">
            <a:r>
              <a:t/>
            </a:r>
          </a:p>
          <a:p xmlns:a="http://schemas.openxmlformats.org/drawingml/2006/main">
            <a:r>
              <a:t>복습·도전: 대여 정책은 ‘잔여 수량이 5개 이하이면 보충 요청’입니다. 4, 5, 6, 미확인 네 입력의 결과와 비교 기호를 정하세요. 미확인은 보충 확정 대신 확인 요청으로 처리합니다.</a:t>
            </a:r>
          </a:p>
          <a:p xmlns:a="http://schemas.openxmlformats.org/drawingml/2006/main">
            <a:r>
              <a:t/>
            </a:r>
          </a:p>
          <a:p xmlns:a="http://schemas.openxmlformats.org/drawingml/2006/main">
            <a:r>
              <a:t>**정답·해설:** 기호는 &lt;=이며 4와 5는 보충 요청, 6은 요청 없음, 미확인은 확인 요청입니다. &lt;를 고르면 경계 5를 놓칩니다. 미확인을 0으로 채우면 수량을 실제 관찰한 것처럼 처리하는 오답입니다.</a:t>
            </a:r>
          </a:p>
          <a:p xmlns:a="http://schemas.openxmlformats.org/drawingml/2006/main">
            <a:r>
              <a:t/>
            </a:r>
          </a:p>
          <a:p xmlns:a="http://schemas.openxmlformats.org/drawingml/2006/main">
            <a:r>
              <a:t>### 문제 5 · 목록의 위치와 반복 누적을 함께 추적하기</a:t>
            </a:r>
          </a:p>
          <a:p xmlns:a="http://schemas.openxmlformats.org/drawingml/2006/main">
            <a:r>
              <a:t/>
            </a:r>
          </a:p>
          <a:p xmlns:a="http://schemas.openxmlformats.org/drawingml/2006/main">
            <a:r>
              <a:t>복습·도전: 주문별 수량 목록은 3, 0, 7, 2입니다. 총수량과 2개 초과 주문 수를 각각 손 추적표로 구하세요. 길이와 마지막 위치 번호, 빈 목록일 때 두 결과도 적으세요.</a:t>
            </a:r>
          </a:p>
          <a:p xmlns:a="http://schemas.openxmlformats.org/drawingml/2006/main">
            <a:r>
              <a:t/>
            </a:r>
          </a:p>
          <a:p xmlns:a="http://schemas.openxmlformats.org/drawingml/2006/main">
            <a:r>
              <a:t>**정답·해설:** 총수량은 12개이고 초과 주문은 3과 7 두 건입니다. 길이 4, 마지막 번호 3입니다. 빈 목록은 초기 합계 0·건수 0을 유지합니다. 0을 오류라고 임의 삭제하거나 수량 합 12를 주문 건수로 쓰면 서로 다른 질문을 혼동한 것입니다.</a:t>
            </a:r>
          </a:p>
          <a:p xmlns:a="http://schemas.openxmlformats.org/drawingml/2006/main">
            <a:r>
              <a:t/>
            </a:r>
          </a:p>
          <a:p xmlns:a="http://schemas.openxmlformats.org/drawingml/2006/main">
            <a:r>
              <a:t>### 문제 6 · 한 기록의 이름표를 지키며 상태표 만들기</a:t>
            </a:r>
          </a:p>
          <a:p xmlns:a="http://schemas.openxmlformats.org/drawingml/2006/main">
            <a:r>
              <a:t/>
            </a:r>
          </a:p>
          <a:p xmlns:a="http://schemas.openxmlformats.org/drawingml/2006/main">
            <a:r>
              <a:t>복습·도전: 세 물품 P01 수량 0, P02 수량 미확인, P03 수량 2를 대상으로 ‘2개 이하이면 주문 요청’ 상태표를 새로 설계하세요. 물품번호와 수량의 이름표, 미확인 갈래를 먼저 정하고 세 줄을 작성하세요.</a:t>
            </a:r>
          </a:p>
          <a:p xmlns:a="http://schemas.openxmlformats.org/drawingml/2006/main">
            <a:r>
              <a:t/>
            </a:r>
          </a:p>
          <a:p xmlns:a="http://schemas.openxmlformats.org/drawingml/2006/main">
            <a:r>
              <a:t>**정답·해설:** 이름표는 예를 들어 product_id와 quantity입니다. P01·P03은 주문 요청, P02는 수량 확인입니다. 0은 실제 수량이라 포함하고 None은 비교 전에 처리합니다. temperature_c 키를 그대로 쓰는 답은 새 업무의 항목 뜻을 맞추지 못한 것입니다.</a:t>
            </a:r>
          </a:p>
          <a:p xmlns:a="http://schemas.openxmlformats.org/drawingml/2006/main">
            <a:r>
              <a:t/>
            </a:r>
          </a:p>
          <a:p xmlns:a="http://schemas.openxmlformats.org/drawingml/2006/main">
            <a:r>
              <a:t/>
            </a:r>
          </a:p>
          <a:p xmlns:a="http://schemas.openxmlformats.org/drawingml/2006/main">
            <a:r>
              <a:t/>
            </a:r>
          </a:p>
          <a:p xmlns:a="http://schemas.openxmlformats.org/drawingml/2006/main">
            <a:r>
              <a:t>자료 위치: D:\KDigital_PhysicalAI\outputs\2026-10-14\assessment.md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Python 기초 · 값과 실행 흐름</a:t>
            </a:r>
          </a:p>
          <a:p xmlns:a="http://schemas.openxmlformats.org/drawingml/2006/main">
            <a:r>
              <a:t/>
            </a:r>
          </a:p>
          <a:p xmlns:a="http://schemas.openxmlformats.org/drawingml/2006/main">
            <a:r>
              <a:t>2026-10-14 · Python 기초</a:t>
            </a:r>
          </a:p>
          <a:p xmlns:a="http://schemas.openxmlformats.org/drawingml/2006/main">
            <a:r>
              <a:t/>
            </a:r>
          </a:p>
          <a:p xmlns:a="http://schemas.openxmlformats.org/drawingml/2006/main">
            <a:r>
              <a:t>10/8에 읽었던 온도와 식별자를 Python 값으로 옮깁니다. 파일 저장과 실행을 구별하고 변수·자료형·연산·조건·반복을 짧은 코드에서 확인한 뒤 수업용 점검표를 완성합니다.</a:t>
            </a:r>
          </a:p>
          <a:p xmlns:a="http://schemas.openxmlformats.org/drawingml/2006/main">
            <a:r>
              <a:t/>
            </a:r>
          </a:p>
          <a:p xmlns:a="http://schemas.openxmlformats.org/drawingml/2006/main">
            <a:r>
              <a:t>**50분씩 6교시의 필수 경로로 운영하며 실제 학습자 리허설 전입니다.** 원본을 보존하고 work의 지정한 부분을 수정합니다. 계정이나 실제 장비 없이 합성 자료로 진행합니다.</a:t>
            </a:r>
          </a:p>
          <a:p xmlns:a="http://schemas.openxmlformats.org/drawingml/2006/main">
            <a:r>
              <a:t/>
            </a:r>
          </a:p>
          <a:p xmlns:a="http://schemas.openxmlformats.org/drawingml/2006/main">
            <a:r>
              <a:t>현재 실행 명령 예시는 course 폴더 기준입니다. Windows PowerShell과 다른 OS에서는 파일을 찾고 저장하는 화면이 다를 수 있습니다. 설치는 강사가 확인하며, 실행할 수 없을 때는 동일 입력으로 예상·수동 추적을 작성합니다.</a:t>
            </a:r>
          </a:p>
          <a:p xmlns:a="http://schemas.openxmlformats.org/drawingml/2006/main">
            <a:r>
              <a:t/>
            </a:r>
          </a:p>
          <a:p xmlns:a="http://schemas.openxmlformats.org/drawingml/2006/main">
            <a:r>
              <a:t>## A01 · 입력·처리·출력과 코드 파일</a:t>
            </a:r>
          </a:p>
          <a:p xmlns:a="http://schemas.openxmlformats.org/drawingml/2006/main">
            <a:r>
              <a:t/>
            </a:r>
          </a:p>
          <a:p xmlns:a="http://schemas.openxmlformats.org/drawingml/2006/main">
            <a:r>
              <a:t>**목적:** 코드와 결과를 구별해야 어디를 고쳤고 무엇이 바뀌었는지 설명할 수 있습니다. .py는 Python 코드를 담는 파일의 확장자이며, 파일을 열어 읽는 행동과 실행하는 행동은 다릅니다.</a:t>
            </a:r>
          </a:p>
          <a:p xmlns:a="http://schemas.openxmlformats.org/drawingml/2006/main">
            <a:r>
              <a:t/>
            </a:r>
          </a:p>
          <a:p xmlns:a="http://schemas.openxmlformats.org/drawingml/2006/main">
            <a:r>
              <a:t>**준비:** 원자료와 작업 파일을 나란히 엽니다. 원본은 보존하고 work 파일에 기록합니다. 실행 환경이 없으면 같은 입력·코드·출력으로 수동 추적합니다.</a:t>
            </a:r>
          </a:p>
          <a:p xmlns:a="http://schemas.openxmlformats.org/drawingml/2006/main">
            <a:r>
              <a:t/>
            </a:r>
          </a:p>
          <a:p xmlns:a="http://schemas.openxmlformats.org/drawingml/2006/main">
            <a:r>
              <a:t>- [A01_input.md](examples/course/data/A01_input.md)</a:t>
            </a:r>
          </a:p>
          <a:p xmlns:a="http://schemas.openxmlformats.org/drawingml/2006/main">
            <a:r>
              <a:t>- [A01_notes.md](examples/course/work/A01_notes.md)</a:t>
            </a:r>
          </a:p>
          <a:p xmlns:a="http://schemas.openxmlformats.org/drawingml/2006/main">
            <a:r>
              <a:t/>
            </a:r>
          </a:p>
          <a:p xmlns:a="http://schemas.openxmlformats.org/drawingml/2006/main">
            <a:r>
              <a:t>**단계**</a:t>
            </a:r>
          </a:p>
          <a:p xmlns:a="http://schemas.openxmlformats.org/drawingml/2006/main">
            <a:r>
              <a:t/>
            </a:r>
          </a:p>
          <a:p xmlns:a="http://schemas.openxmlformats.org/drawingml/2006/main">
            <a:r>
              <a:t>1. 카드에서 입력 두 값과 처리 규칙을 밑줄로 구분합니다.</a:t>
            </a:r>
          </a:p>
          <a:p xmlns:a="http://schemas.openxmlformats.org/drawingml/2006/main">
            <a:r>
              <a:t>2. 예상 출력 한 단어와 그렇게 판단한 이유를 씁니다.</a:t>
            </a:r>
          </a:p>
          <a:p xmlns:a="http://schemas.openxmlformats.org/drawingml/2006/main">
            <a:r>
              <a:t>3. 원본 코드와 작업 코드의 폴더를 찾아 서로 다른 파일임을 표시합니다.</a:t>
            </a:r>
          </a:p>
          <a:p xmlns:a="http://schemas.openxmlformats.org/drawingml/2006/main">
            <a:r>
              <a:t>4. 코드 열기·저장·실행·출력을 자신의 말로 한 문장씩 설명합니다.</a:t>
            </a:r>
          </a:p>
          <a:p xmlns:a="http://schemas.openxmlformats.org/drawingml/2006/main">
            <a:r>
              <a:t/>
            </a:r>
          </a:p>
          <a:p xmlns:a="http://schemas.openxmlformats.org/drawingml/2006/main">
            <a:r>
              <a:t>**예상 결과:** 입력 22.5/24.0, 처리 &gt; 비교, 출력 정상. 파일을 여는 것과 실행하는 것을 구별합니다.</a:t>
            </a:r>
          </a:p>
          <a:p xmlns:a="http://schemas.openxmlformats.org/drawingml/2006/main">
            <a:r>
              <a:t/>
            </a:r>
          </a:p>
          <a:p xmlns:a="http://schemas.openxmlformats.org/drawingml/2006/main">
            <a:r>
              <a:t>**확인 방법:** 기준을 22.0으로 바꾸면 어느 단계의 값이 바뀌며 출력은 어떻게 될까요?</a:t>
            </a:r>
          </a:p>
          <a:p xmlns:a="http://schemas.openxmlformats.org/drawingml/2006/main">
            <a:r>
              <a:t/>
            </a:r>
          </a:p>
          <a:p xmlns:a="http://schemas.openxmlformats.org/drawingml/2006/main">
            <a:r>
              <a:t>**오류 해결:** 입력과 출력이 섞이면 컴퓨터가 일을 하기 전 이미 주어진 값과 일을 한 뒤 생긴 표시를 다른 색으로 적습니다.</a:t>
            </a:r>
          </a:p>
          <a:p xmlns:a="http://schemas.openxmlformats.org/drawingml/2006/main">
            <a:r>
              <a:t/>
            </a:r>
          </a:p>
          <a:p xmlns:a="http://schemas.openxmlformats.org/drawingml/2006/main">
            <a:r>
              <a:t>## A02 · 첫 출력과 주석</a:t>
            </a:r>
          </a:p>
          <a:p xmlns:a="http://schemas.openxmlformats.org/drawingml/2006/main">
            <a:r>
              <a:t/>
            </a:r>
          </a:p>
          <a:p xmlns:a="http://schemas.openxmlformats.org/drawingml/2006/main">
            <a:r>
              <a:t>**목적:** 짧은 출력을 직접 바꾸면 편집한 내용이 실행에 반영되는 과정을 볼 수 있습니다. 복잡한 프로그램을 만들기 전에 실행 통로를 확인하는 작은 성공 기준입니다.</a:t>
            </a:r>
          </a:p>
          <a:p xmlns:a="http://schemas.openxmlformats.org/drawingml/2006/main">
            <a:r>
              <a:t/>
            </a:r>
          </a:p>
          <a:p xmlns:a="http://schemas.openxmlformats.org/drawingml/2006/main">
            <a:r>
              <a:t>**준비:** 원자료와 작업 파일을 나란히 엽니다. 원본은 보존하고 work 파일에 기록합니다. 실행 환경이 없으면 같은 입력·코드·출력으로 수동 추적합니다.</a:t>
            </a:r>
          </a:p>
          <a:p xmlns:a="http://schemas.openxmlformats.org/drawingml/2006/main">
            <a:r>
              <a:t/>
            </a:r>
          </a:p>
          <a:p xmlns:a="http://schemas.openxmlformats.org/drawingml/2006/main">
            <a:r>
              <a:t>- [A02_input.md](examples/course/data/A02_input.md)</a:t>
            </a:r>
          </a:p>
          <a:p xmlns:a="http://schemas.openxmlformats.org/drawingml/2006/main">
            <a:r>
              <a:t>- [A02_print.py](examples/course/code/A02_print.py)</a:t>
            </a:r>
          </a:p>
          <a:p xmlns:a="http://schemas.openxmlformats.org/drawingml/2006/main">
            <a:r>
              <a:t>- [A02_notes.md](examples/course/work/A02_notes.md)</a:t>
            </a:r>
          </a:p>
          <a:p xmlns:a="http://schemas.openxmlformats.org/drawingml/2006/main">
            <a:r>
              <a:t>- [A02_print.py](examples/course/work/A02_print.py)</a:t>
            </a:r>
          </a:p>
          <a:p xmlns:a="http://schemas.openxmlformats.org/drawingml/2006/main">
            <a:r>
              <a:t/>
            </a:r>
          </a:p>
          <a:p xmlns:a="http://schemas.openxmlformats.org/drawingml/2006/main">
            <a:r>
              <a:t>**단계**</a:t>
            </a:r>
          </a:p>
          <a:p xmlns:a="http://schemas.openxmlformats.org/drawingml/2006/main">
            <a:r>
              <a:t/>
            </a:r>
          </a:p>
          <a:p xmlns:a="http://schemas.openxmlformats.org/drawingml/2006/main">
            <a:r>
              <a:t>1. work/A02_print.py를 텍스트 편집기로 엽니다.</a:t>
            </a:r>
          </a:p>
          <a:p xmlns:a="http://schemas.openxmlformats.org/drawingml/2006/main">
            <a:r>
              <a:t>2. 수정 전 출력 두 줄을 예상해 노트에 씁니다.</a:t>
            </a:r>
          </a:p>
          <a:p xmlns:a="http://schemas.openxmlformats.org/drawingml/2006/main">
            <a:r>
              <a:t>3. 첫 안내 문구를 ‘오늘의 점검 시작’으로 바꾸고 저장합니다.</a:t>
            </a:r>
          </a:p>
          <a:p xmlns:a="http://schemas.openxmlformats.org/drawingml/2006/main">
            <a:r>
              <a:t>4. course 폴더의 터미널에서 python -X utf8 work/A02_print.py를 실행하고 예상과 대조합니다.</a:t>
            </a:r>
          </a:p>
          <a:p xmlns:a="http://schemas.openxmlformats.org/drawingml/2006/main">
            <a:r>
              <a:t/>
            </a:r>
          </a:p>
          <a:p xmlns:a="http://schemas.openxmlformats.org/drawingml/2006/main">
            <a:r>
              <a:t>**예상 결과:** 첫 안내 문구만 바뀌며 둘째 줄 S01 22.5는 유지됩니다.</a:t>
            </a:r>
          </a:p>
          <a:p xmlns:a="http://schemas.openxmlformats.org/drawingml/2006/main">
            <a:r>
              <a:t/>
            </a:r>
          </a:p>
          <a:p xmlns:a="http://schemas.openxmlformats.org/drawingml/2006/main">
            <a:r>
              <a:t>**확인 방법:** 주석의 문구만 바꾸면 출력은 달라질까요?</a:t>
            </a:r>
          </a:p>
          <a:p xmlns:a="http://schemas.openxmlformats.org/drawingml/2006/main">
            <a:r>
              <a:t/>
            </a:r>
          </a:p>
          <a:p xmlns:a="http://schemas.openxmlformats.org/drawingml/2006/main">
            <a:r>
              <a:t>**오류 해결:** python을 찾지 못하면 설치를 혼자 진행하지 말고 강사에게 환경을 확인합니다. 그동안 제공된 출력과 수정안을 비교하고 개인 실행 미완료를 표시합니다.</a:t>
            </a:r>
          </a:p>
          <a:p xmlns:a="http://schemas.openxmlformats.org/drawingml/2006/main">
            <a:r>
              <a:t/>
            </a:r>
          </a:p>
          <a:p xmlns:a="http://schemas.openxmlformats.org/drawingml/2006/main">
            <a:r>
              <a:t>### Windows · 처음 실행할 위치 만들기</a:t>
            </a:r>
          </a:p>
          <a:p xmlns:a="http://schemas.openxmlformats.org/drawingml/2006/main">
            <a:r>
              <a:t/>
            </a:r>
          </a:p>
          <a:p xmlns:a="http://schemas.openxmlformats.org/drawingml/2006/main">
            <a:r>
              <a:t>제작 가정: Windows 탐색기와 PowerShell을 사용합니다. 다른 OS는 강사의 해당 환경 안내를 따릅니다. 설치 문제는 개념 평가와 따로 기록합니다.</a:t>
            </a:r>
          </a:p>
          <a:p xmlns:a="http://schemas.openxmlformats.org/drawingml/2006/main">
            <a:r>
              <a:t/>
            </a:r>
          </a:p>
          <a:p xmlns:a="http://schemas.openxmlformats.org/drawingml/2006/main">
            <a:r>
              <a:t>1. 예제 ZIP을 우클릭 → **모두 추출** → **추출**합니다. ZIP 안을 보는 창에서 실행하지 않습니다.</a:t>
            </a:r>
          </a:p>
          <a:p xmlns:a="http://schemas.openxmlformats.org/drawingml/2006/main">
            <a:r>
              <a:t>2. 탐색기로 압축을 푼 곳의 `course` 폴더를 엽니다. 안에 `data`, `code`, `work` 세 폴더가 실제로 보이는지 확인합니다. 폴더가 한 겹 더 있으면 그 안으로 들어갑니다.</a:t>
            </a:r>
          </a:p>
          <a:p xmlns:a="http://schemas.openxmlformats.org/drawingml/2006/main">
            <a:r>
              <a:t>3. 탐색기 위 주소 표시줄을 클릭해 `powershell`을 입력하고 Enter를 누릅니다. 현재 폴더에서 PowerShell 창이 열립니다. 편집기에서 파일을 연 것만으로 실행 위치가 정해지지는 않습니다.</a:t>
            </a:r>
          </a:p>
          <a:p xmlns:a="http://schemas.openxmlformats.org/drawingml/2006/main">
            <a:r>
              <a:t>4. 아래 명령을 한 줄씩 입력하고 Enter를 누릅니다. 앞의 `PS ...&gt;` 문구는 입력하지 않습니다.</a:t>
            </a:r>
          </a:p>
          <a:p xmlns:a="http://schemas.openxmlformats.org/drawingml/2006/main">
            <a:r>
              <a:t/>
            </a:r>
          </a:p>
          <a:p xmlns:a="http://schemas.openxmlformats.org/drawingml/2006/main">
            <a:r>
              <a:t>```powershell</a:t>
            </a:r>
          </a:p>
          <a:p xmlns:a="http://schemas.openxmlformats.org/drawingml/2006/main">
            <a:r>
              <a:t>Get-Location</a:t>
            </a:r>
          </a:p>
          <a:p xmlns:a="http://schemas.openxmlformats.org/drawingml/2006/main">
            <a:r>
              <a:t>Get-ChildItem -Directory</a:t>
            </a:r>
          </a:p>
          <a:p xmlns:a="http://schemas.openxmlformats.org/drawingml/2006/main">
            <a:r>
              <a:t>Test-Path .\work\A02_print.py</a:t>
            </a:r>
          </a:p>
          <a:p xmlns:a="http://schemas.openxmlformats.org/drawingml/2006/main">
            <a:r>
              <a:t>```</a:t>
            </a:r>
          </a:p>
          <a:p xmlns:a="http://schemas.openxmlformats.org/drawingml/2006/main">
            <a:r>
              <a:t/>
            </a:r>
          </a:p>
          <a:p xmlns:a="http://schemas.openxmlformats.org/drawingml/2006/main">
            <a:r>
              <a:t>`Get-Location`은 지금 실행할 폴더의 실제 경로를 보여 줍니다. 끝이 `course`인지 확인합니다. `Get-ChildItem` 목록에는 `data`, `code`, `work`가 보여야 합니다. 마지막 명령은 파일이 있는지 확인하며 정상 결과는 `True`입니다. 내 실제 경로: _____ / 확인 결과: _____.</a:t>
            </a:r>
          </a:p>
          <a:p xmlns:a="http://schemas.openxmlformats.org/drawingml/2006/main">
            <a:r>
              <a:t/>
            </a:r>
          </a:p>
          <a:p xmlns:a="http://schemas.openxmlformats.org/drawingml/2006/main">
            <a:r>
              <a:t>5. `work/A02_print.py` 첫 print 문구를 `오늘의 점검 시작`으로 고치고 저장합니다. 같은 PowerShell 창에서 실행합니다.</a:t>
            </a:r>
          </a:p>
          <a:p xmlns:a="http://schemas.openxmlformats.org/drawingml/2006/main">
            <a:r>
              <a:t/>
            </a:r>
          </a:p>
          <a:p xmlns:a="http://schemas.openxmlformats.org/drawingml/2006/main">
            <a:r>
              <a:t>```powershell</a:t>
            </a:r>
          </a:p>
          <a:p xmlns:a="http://schemas.openxmlformats.org/drawingml/2006/main">
            <a:r>
              <a:t>python -X utf8 work/A02_print.py</a:t>
            </a:r>
          </a:p>
          <a:p xmlns:a="http://schemas.openxmlformats.org/drawingml/2006/main">
            <a:r>
              <a:t>```</a:t>
            </a:r>
          </a:p>
          <a:p xmlns:a="http://schemas.openxmlformats.org/drawingml/2006/main">
            <a:r>
              <a:t/>
            </a:r>
          </a:p>
          <a:p xmlns:a="http://schemas.openxmlformats.org/drawingml/2006/main">
            <a:r>
              <a:t>예상 두 줄은 다음과 같습니다.</a:t>
            </a:r>
          </a:p>
          <a:p xmlns:a="http://schemas.openxmlformats.org/drawingml/2006/main">
            <a:r>
              <a:t/>
            </a:r>
          </a:p>
          <a:p xmlns:a="http://schemas.openxmlformats.org/drawingml/2006/main">
            <a:r>
              <a:t>```text</a:t>
            </a:r>
          </a:p>
          <a:p xmlns:a="http://schemas.openxmlformats.org/drawingml/2006/main">
            <a:r>
              <a:t>오늘의 점검 시작</a:t>
            </a:r>
          </a:p>
          <a:p xmlns:a="http://schemas.openxmlformats.org/drawingml/2006/main">
            <a:r>
              <a:t>S01 22.5</a:t>
            </a:r>
          </a:p>
          <a:p xmlns:a="http://schemas.openxmlformats.org/drawingml/2006/main">
            <a:r>
              <a:t>```</a:t>
            </a:r>
          </a:p>
          <a:p xmlns:a="http://schemas.openxmlformats.org/drawingml/2006/main">
            <a:r>
              <a:t/>
            </a:r>
          </a:p>
          <a:p xmlns:a="http://schemas.openxmlformats.org/drawingml/2006/main">
            <a:r>
              <a:t>- `False`, `can't open file`, `No such file`: 실제 폴더를 탐색기로 다시 열고 2~4단계를 반복합니다. 파일 이름이 `.py.txt`가 아닌지 탐색기의 **보기 → 표시 → 파일 확장명**에서 확인합니다.</a:t>
            </a:r>
          </a:p>
          <a:p xmlns:a="http://schemas.openxmlformats.org/drawingml/2006/main">
            <a:r>
              <a:t>- 첫 줄이 `Python 점검 시작`: 수정 파일을 저장했는지, 실행 명령이 `code/`가 아닌 `work/`를 가리키는지 확인합니다.</a:t>
            </a:r>
          </a:p>
          <a:p xmlns:a="http://schemas.openxmlformats.org/drawingml/2006/main">
            <a:r>
              <a:t>- `python`을 찾지 못하거나 Store 안내가 뜸: 강사에게 설치 상태를 확인받습니다. 설치를 혼자 진행하지 말고 예상·제공 출력 비교로 합류하고 **개인 실행 미완료**를 적습니다.</a:t>
            </a:r>
          </a:p>
          <a:p xmlns:a="http://schemas.openxmlformats.org/drawingml/2006/main">
            <a:r>
              <a:t/>
            </a:r>
          </a:p>
          <a:p xmlns:a="http://schemas.openxmlformats.org/drawingml/2006/main">
            <a:r>
              <a:t>실행 위치 확인 → 파일 저장 → 명령 입력 → 실제 출력 기록을 서로 다른 행동으로 확인합니다.</a:t>
            </a:r>
          </a:p>
          <a:p xmlns:a="http://schemas.openxmlformats.org/drawingml/2006/main">
            <a:r>
              <a:t/>
            </a:r>
          </a:p>
          <a:p xmlns:a="http://schemas.openxmlformats.org/drawingml/2006/main">
            <a:r>
              <a:t>## A03 · 저장·실행 순서와 오류 단서</a:t>
            </a:r>
          </a:p>
          <a:p xmlns:a="http://schemas.openxmlformats.org/drawingml/2006/main">
            <a:r>
              <a:t/>
            </a:r>
          </a:p>
          <a:p xmlns:a="http://schemas.openxmlformats.org/drawingml/2006/main">
            <a:r>
              <a:t>**목적:** 같은 이름의 원본과 작업본이 있을 때 다른 파일을 실행하면 수정한 문구가 나오지 않습니다. 재실행을 반복하기 전에 파일 경로와 저장 여부를 확인하면 원인을 좁힐 수 있습니다.</a:t>
            </a:r>
          </a:p>
          <a:p xmlns:a="http://schemas.openxmlformats.org/drawingml/2006/main">
            <a:r>
              <a:t/>
            </a:r>
          </a:p>
          <a:p xmlns:a="http://schemas.openxmlformats.org/drawingml/2006/main">
            <a:r>
              <a:t>**준비:** 원자료와 작업 파일을 나란히 엽니다. 원본은 보존하고 work 파일에 기록합니다. 실행 환경이 없으면 같은 입력·코드·출력으로 수동 추적합니다.</a:t>
            </a:r>
          </a:p>
          <a:p xmlns:a="http://schemas.openxmlformats.org/drawingml/2006/main">
            <a:r>
              <a:t/>
            </a:r>
          </a:p>
          <a:p xmlns:a="http://schemas.openxmlformats.org/drawingml/2006/main">
            <a:r>
              <a:t>- [A03_input.md](examples/course/data/A03_input.md)</a:t>
            </a:r>
          </a:p>
          <a:p xmlns:a="http://schemas.openxmlformats.org/drawingml/2006/main">
            <a:r>
              <a:t>- [A03_notes.md](examples/course/work/A03_notes.md)</a:t>
            </a:r>
          </a:p>
          <a:p xmlns:a="http://schemas.openxmlformats.org/drawingml/2006/main">
            <a:r>
              <a:t/>
            </a:r>
          </a:p>
          <a:p xmlns:a="http://schemas.openxmlformats.org/drawingml/2006/main">
            <a:r>
              <a:t>**단계**</a:t>
            </a:r>
          </a:p>
          <a:p xmlns:a="http://schemas.openxmlformats.org/drawingml/2006/main">
            <a:r>
              <a:t/>
            </a:r>
          </a:p>
          <a:p xmlns:a="http://schemas.openxmlformats.org/drawingml/2006/main">
            <a:r>
              <a:t>1. 세 사례에서 보이는 사실과 추정 원인을 다른 칸에 적습니다.</a:t>
            </a:r>
          </a:p>
          <a:p xmlns:a="http://schemas.openxmlformats.org/drawingml/2006/main">
            <a:r>
              <a:t>2. 각 사례의 다음 확인 동작을 하나만 고릅니다.</a:t>
            </a:r>
          </a:p>
          <a:p xmlns:a="http://schemas.openxmlformats.org/drawingml/2006/main">
            <a:r>
              <a:t>3. 잘못된 따옴표 코드를 종이에 고친 뒤 괄호와 따옴표의 짝을 표시합니다.</a:t>
            </a:r>
          </a:p>
          <a:p xmlns:a="http://schemas.openxmlformats.org/drawingml/2006/main">
            <a:r>
              <a:t>4. 작업본 저장 후 동일 경로를 실행하는 순서를 네 단계로 작성합니다.</a:t>
            </a:r>
          </a:p>
          <a:p xmlns:a="http://schemas.openxmlformats.org/drawingml/2006/main">
            <a:r>
              <a:t/>
            </a:r>
          </a:p>
          <a:p xmlns:a="http://schemas.openxmlformats.org/drawingml/2006/main">
            <a:r>
              <a:t>**예상 결과:** 다른 파일 실행·닫는 따옴표 누락·미저장 가능성을 각각 구별합니다.</a:t>
            </a:r>
          </a:p>
          <a:p xmlns:a="http://schemas.openxmlformats.org/drawingml/2006/main">
            <a:r>
              <a:t/>
            </a:r>
          </a:p>
          <a:p xmlns:a="http://schemas.openxmlformats.org/drawingml/2006/main">
            <a:r>
              <a:t>**확인 방법:** 오류 줄 번호가 마지막 줄을 가리키면 그 줄만 보면 충분할까요?</a:t>
            </a:r>
          </a:p>
          <a:p xmlns:a="http://schemas.openxmlformats.org/drawingml/2006/main">
            <a:r>
              <a:t/>
            </a:r>
          </a:p>
          <a:p xmlns:a="http://schemas.openxmlformats.org/drawingml/2006/main">
            <a:r>
              <a:t>**오류 해결:** 오류 메시지를 해석하기 어렵다면 명령, 실행 파일 경로, 오류 마지막 줄을 그대로 기록해 강사에게 보여 줍니다. 비슷한 문구로 요약해 단서를 잃지 않습니다.</a:t>
            </a:r>
          </a:p>
          <a:p xmlns:a="http://schemas.openxmlformats.org/drawingml/2006/main">
            <a:r>
              <a:t/>
            </a:r>
          </a:p>
          <a:p xmlns:a="http://schemas.openxmlformats.org/drawingml/2006/main">
            <a:r>
              <a:t>## A04 · 변수는 값에 붙인 이름</a:t>
            </a:r>
          </a:p>
          <a:p xmlns:a="http://schemas.openxmlformats.org/drawingml/2006/main">
            <a:r>
              <a:t/>
            </a:r>
          </a:p>
          <a:p xmlns:a="http://schemas.openxmlformats.org/drawingml/2006/main">
            <a:r>
              <a:t>**목적:** 값을 여러 번 사용할 때 이름을 붙이면 목적이 드러나고 한 곳에서 바꾸기 쉽습니다. 10/8의 표에서 location과 temperature_c라는 항목을 읽었던 경험을 코드 안의 이름으로 연결합니다.</a:t>
            </a:r>
          </a:p>
          <a:p xmlns:a="http://schemas.openxmlformats.org/drawingml/2006/main">
            <a:r>
              <a:t/>
            </a:r>
          </a:p>
          <a:p xmlns:a="http://schemas.openxmlformats.org/drawingml/2006/main">
            <a:r>
              <a:t>**준비:** 원자료와 작업 파일을 나란히 엽니다. 원본은 보존하고 work 파일에 기록합니다. 실행 환경이 없으면 같은 입력·코드·출력으로 수동 추적합니다.</a:t>
            </a:r>
          </a:p>
          <a:p xmlns:a="http://schemas.openxmlformats.org/drawingml/2006/main">
            <a:r>
              <a:t/>
            </a:r>
          </a:p>
          <a:p xmlns:a="http://schemas.openxmlformats.org/drawingml/2006/main">
            <a:r>
              <a:t>- [A04_input.md](examples/course/data/A04_input.md)</a:t>
            </a:r>
          </a:p>
          <a:p xmlns:a="http://schemas.openxmlformats.org/drawingml/2006/main">
            <a:r>
              <a:t>- [A04_example.py](examples/course/code/A04_example.py)</a:t>
            </a:r>
          </a:p>
          <a:p xmlns:a="http://schemas.openxmlformats.org/drawingml/2006/main">
            <a:r>
              <a:t>- [A04_notes.md](examples/course/work/A04_notes.md)</a:t>
            </a:r>
          </a:p>
          <a:p xmlns:a="http://schemas.openxmlformats.org/drawingml/2006/main">
            <a:r>
              <a:t>- [A04_example.py](examples/course/work/A04_example.py)</a:t>
            </a:r>
          </a:p>
          <a:p xmlns:a="http://schemas.openxmlformats.org/drawingml/2006/main">
            <a:r>
              <a:t/>
            </a:r>
          </a:p>
          <a:p xmlns:a="http://schemas.openxmlformats.org/drawingml/2006/main">
            <a:r>
              <a:t>**단계**</a:t>
            </a:r>
          </a:p>
          <a:p xmlns:a="http://schemas.openxmlformats.org/drawingml/2006/main">
            <a:r>
              <a:t/>
            </a:r>
          </a:p>
          <a:p xmlns:a="http://schemas.openxmlformats.org/drawingml/2006/main">
            <a:r>
              <a:t>1. 값과 이름을 서로 다른 색으로 표시합니다.</a:t>
            </a:r>
          </a:p>
          <a:p xmlns:a="http://schemas.openxmlformats.org/drawingml/2006/main">
            <a:r>
              <a:t>2. location을 창고로 바꾸면 변할 출력 줄을 먼저 고릅니다.</a:t>
            </a:r>
          </a:p>
          <a:p xmlns:a="http://schemas.openxmlformats.org/drawingml/2006/main">
            <a:r>
              <a:t>3. 작업본에서 문자열 한 곳만 바꾸고 저장·실행합니다.</a:t>
            </a:r>
          </a:p>
          <a:p xmlns:a="http://schemas.openxmlformats.org/drawingml/2006/main">
            <a:r>
              <a:t>4. 변하지 않은 두 출력 줄의 이유를 씁니다.</a:t>
            </a:r>
          </a:p>
          <a:p xmlns:a="http://schemas.openxmlformats.org/drawingml/2006/main">
            <a:r>
              <a:t/>
            </a:r>
          </a:p>
          <a:p xmlns:a="http://schemas.openxmlformats.org/drawingml/2006/main">
            <a:r>
              <a:t>**예상 결과:** 첫 출력만 창고로 바뀌고 온도와 글자 location은 유지됩니다.</a:t>
            </a:r>
          </a:p>
          <a:p xmlns:a="http://schemas.openxmlformats.org/drawingml/2006/main">
            <a:r>
              <a:t/>
            </a:r>
          </a:p>
          <a:p xmlns:a="http://schemas.openxmlformats.org/drawingml/2006/main">
            <a:r>
              <a:t>**확인 방법:** print(location)과 print("location")은 왜 다를까요?</a:t>
            </a:r>
          </a:p>
          <a:p xmlns:a="http://schemas.openxmlformats.org/drawingml/2006/main">
            <a:r>
              <a:t/>
            </a:r>
          </a:p>
          <a:p xmlns:a="http://schemas.openxmlformats.org/drawingml/2006/main">
            <a:r>
              <a:t>**오류 해결:** NameError가 나오면 대문자·소문자와 밑줄을 비교하고 그 이름에 값을 연결한 줄이 먼저 실행되는지 확인합니다.</a:t>
            </a:r>
          </a:p>
          <a:p xmlns:a="http://schemas.openxmlformats.org/drawingml/2006/main">
            <a:r>
              <a:t/>
            </a:r>
          </a:p>
          <a:p xmlns:a="http://schemas.openxmlformats.org/drawingml/2006/main">
            <a:r>
              <a:t>## A05 · 다시 대입하면 현재 값이 바뀐다</a:t>
            </a:r>
          </a:p>
          <a:p xmlns:a="http://schemas.openxmlformats.org/drawingml/2006/main">
            <a:r>
              <a:t/>
            </a:r>
          </a:p>
          <a:p xmlns:a="http://schemas.openxmlformats.org/drawingml/2006/main">
            <a:r>
              <a:t>**목적:** 업무 기록을 갱신하는 코드의 순서를 이해하려면 어느 시점의 값을 보고 있는지 추적해야 합니다. 이름은 같은데 출력이 다른 상황을 오류로 오해하지 않도록 한 줄씩 현재 값을 적습니다.</a:t>
            </a:r>
          </a:p>
          <a:p xmlns:a="http://schemas.openxmlformats.org/drawingml/2006/main">
            <a:r>
              <a:t/>
            </a:r>
          </a:p>
          <a:p xmlns:a="http://schemas.openxmlformats.org/drawingml/2006/main">
            <a:r>
              <a:t>**준비:** 원자료와 작업 파일을 나란히 엽니다. 원본은 보존하고 work 파일에 기록합니다. 실행 환경이 없으면 같은 입력·코드·출력으로 수동 추적합니다.</a:t>
            </a:r>
          </a:p>
          <a:p xmlns:a="http://schemas.openxmlformats.org/drawingml/2006/main">
            <a:r>
              <a:t/>
            </a:r>
          </a:p>
          <a:p xmlns:a="http://schemas.openxmlformats.org/drawingml/2006/main">
            <a:r>
              <a:t>- [A05_input.md](examples/course/data/A05_input.md)</a:t>
            </a:r>
          </a:p>
          <a:p xmlns:a="http://schemas.openxmlformats.org/drawingml/2006/main">
            <a:r>
              <a:t>- [A05_example.py](examples/course/code/A05_example.py)</a:t>
            </a:r>
          </a:p>
          <a:p xmlns:a="http://schemas.openxmlformats.org/drawingml/2006/main">
            <a:r>
              <a:t>- [A05_notes.md](examples/course/work/A05_notes.md)</a:t>
            </a:r>
          </a:p>
          <a:p xmlns:a="http://schemas.openxmlformats.org/drawingml/2006/main">
            <a:r>
              <a:t>- [A05_example.py](examples/course/work/A05_example.py)</a:t>
            </a:r>
          </a:p>
          <a:p xmlns:a="http://schemas.openxmlformats.org/drawingml/2006/main">
            <a:r>
              <a:t/>
            </a:r>
          </a:p>
          <a:p xmlns:a="http://schemas.openxmlformats.org/drawingml/2006/main">
            <a:r>
              <a:t>**단계**</a:t>
            </a:r>
          </a:p>
          <a:p xmlns:a="http://schemas.openxmlformats.org/drawingml/2006/main">
            <a:r>
              <a:t/>
            </a:r>
          </a:p>
          <a:p xmlns:a="http://schemas.openxmlformats.org/drawingml/2006/main">
            <a:r>
              <a:t>1. 각 줄 실행 뒤 현재 temperature_c 값을 표에 적습니다.</a:t>
            </a:r>
          </a:p>
          <a:p xmlns:a="http://schemas.openxmlformats.org/drawingml/2006/main">
            <a:r>
              <a:t>2. 두 번째 대입값을 25.0으로 바꿀 때 출력 두 줄을 예상합니다.</a:t>
            </a:r>
          </a:p>
          <a:p xmlns:a="http://schemas.openxmlformats.org/drawingml/2006/main">
            <a:r>
              <a:t>3. 작업본을 수정해 실행하거나 강사 실행과 대조합니다.</a:t>
            </a:r>
          </a:p>
          <a:p xmlns:a="http://schemas.openxmlformats.org/drawingml/2006/main">
            <a:r>
              <a:t>4. 첫 출력이 그대로인 이유를 자신의 말로 씁니다.</a:t>
            </a:r>
          </a:p>
          <a:p xmlns:a="http://schemas.openxmlformats.org/drawingml/2006/main">
            <a:r>
              <a:t/>
            </a:r>
          </a:p>
          <a:p xmlns:a="http://schemas.openxmlformats.org/drawingml/2006/main">
            <a:r>
              <a:t>**예상 결과:** 첫 출력 22.5, 둘째 출력 25.0.</a:t>
            </a:r>
          </a:p>
          <a:p xmlns:a="http://schemas.openxmlformats.org/drawingml/2006/main">
            <a:r>
              <a:t/>
            </a:r>
          </a:p>
          <a:p xmlns:a="http://schemas.openxmlformats.org/drawingml/2006/main">
            <a:r>
              <a:t>**확인 방법:** 마지막 print를 첫 대입 앞에 옮기면 어떤 문제가 생길까요?</a:t>
            </a:r>
          </a:p>
          <a:p xmlns:a="http://schemas.openxmlformats.org/drawingml/2006/main">
            <a:r>
              <a:t/>
            </a:r>
          </a:p>
          <a:p xmlns:a="http://schemas.openxmlformats.org/drawingml/2006/main">
            <a:r>
              <a:t>**오류 해결:** 값이 예상과 다르면 실행 순서대로 현재 값을 다시 써 봅니다. 편집기의 위치와 실제 실행 순서를 건너뛰지 않습니다.</a:t>
            </a:r>
          </a:p>
          <a:p xmlns:a="http://schemas.openxmlformats.org/drawingml/2006/main">
            <a:r>
              <a:t/>
            </a:r>
          </a:p>
          <a:p xmlns:a="http://schemas.openxmlformats.org/drawingml/2006/main">
            <a:r>
              <a:t>## A06 · 이름 오류를 근거로 고치기</a:t>
            </a:r>
          </a:p>
          <a:p xmlns:a="http://schemas.openxmlformats.org/drawingml/2006/main">
            <a:r>
              <a:t/>
            </a:r>
          </a:p>
          <a:p xmlns:a="http://schemas.openxmlformats.org/drawingml/2006/main">
            <a:r>
              <a:t>**목적:** 변수의 철자가 다르면 컴퓨터는 서로 다른 이름으로 취급합니다. 업무 의미가 같아 보인다는 이유로 temp와 temperature_c를 자동 연결하지 않습니다. 작성한 이름과 사용한 이름의 일치를 확인해야 합니다.</a:t>
            </a:r>
          </a:p>
          <a:p xmlns:a="http://schemas.openxmlformats.org/drawingml/2006/main">
            <a:r>
              <a:t/>
            </a:r>
          </a:p>
          <a:p xmlns:a="http://schemas.openxmlformats.org/drawingml/2006/main">
            <a:r>
              <a:t>**준비:** 원자료와 작업 파일을 나란히 엽니다. 원본은 보존하고 work 파일에 기록합니다. 실행 환경이 없으면 같은 입력·코드·출력으로 수동 추적합니다.</a:t>
            </a:r>
          </a:p>
          <a:p xmlns:a="http://schemas.openxmlformats.org/drawingml/2006/main">
            <a:r>
              <a:t/>
            </a:r>
          </a:p>
          <a:p xmlns:a="http://schemas.openxmlformats.org/drawingml/2006/main">
            <a:r>
              <a:t>- [A06_input.md](examples/course/data/A06_input.md)</a:t>
            </a:r>
          </a:p>
          <a:p xmlns:a="http://schemas.openxmlformats.org/drawingml/2006/main">
            <a:r>
              <a:t>- [A06_example.py](examples/course/code/A06_example.py)</a:t>
            </a:r>
          </a:p>
          <a:p xmlns:a="http://schemas.openxmlformats.org/drawingml/2006/main">
            <a:r>
              <a:t>- [A06_notes.md](examples/course/work/A06_notes.md)</a:t>
            </a:r>
          </a:p>
          <a:p xmlns:a="http://schemas.openxmlformats.org/drawingml/2006/main">
            <a:r>
              <a:t>- [A06_example.py](examples/course/work/A06_example.py)</a:t>
            </a:r>
          </a:p>
          <a:p xmlns:a="http://schemas.openxmlformats.org/drawingml/2006/main">
            <a:r>
              <a:t/>
            </a:r>
          </a:p>
          <a:p xmlns:a="http://schemas.openxmlformats.org/drawingml/2006/main">
            <a:r>
              <a:t>**단계**</a:t>
            </a:r>
          </a:p>
          <a:p xmlns:a="http://schemas.openxmlformats.org/drawingml/2006/main">
            <a:r>
              <a:t/>
            </a:r>
          </a:p>
          <a:p xmlns:a="http://schemas.openxmlformats.org/drawingml/2006/main">
            <a:r>
              <a:t>1. data/A06_input.md의 오류 코드에서 정의한 이름과 사용하는 이름을 표시합니다.</a:t>
            </a:r>
          </a:p>
          <a:p xmlns:a="http://schemas.openxmlformats.org/drawingml/2006/main">
            <a:r>
              <a:t>2. 원래 뜻을 유지하는 수정 한 곳을 정합니다.</a:t>
            </a:r>
          </a:p>
          <a:p xmlns:a="http://schemas.openxmlformats.org/drawingml/2006/main">
            <a:r>
              <a:t>3. work의 정상 예와 비교하며 수정안을 적고 실행 결과를 확인합니다.</a:t>
            </a:r>
          </a:p>
          <a:p xmlns:a="http://schemas.openxmlformats.org/drawingml/2006/main">
            <a:r>
              <a:t>4. 원인·수정 위치·다시 확인한 출력을 노트에 기록합니다.</a:t>
            </a:r>
          </a:p>
          <a:p xmlns:a="http://schemas.openxmlformats.org/drawingml/2006/main">
            <a:r>
              <a:t/>
            </a:r>
          </a:p>
          <a:p xmlns:a="http://schemas.openxmlformats.org/drawingml/2006/main">
            <a:r>
              <a:t>**예상 결과:** temperature를 temperature_c로 맞추면 S01 22.5가 출력됩니다.</a:t>
            </a:r>
          </a:p>
          <a:p xmlns:a="http://schemas.openxmlformats.org/drawingml/2006/main">
            <a:r>
              <a:t/>
            </a:r>
          </a:p>
          <a:p xmlns:a="http://schemas.openxmlformats.org/drawingml/2006/main">
            <a:r>
              <a:t>**확인 방법:** 오류가 사라졌다는 것만으로 올바른 수정이라고 할 수 있나요?</a:t>
            </a:r>
          </a:p>
          <a:p xmlns:a="http://schemas.openxmlformats.org/drawingml/2006/main">
            <a:r>
              <a:t/>
            </a:r>
          </a:p>
          <a:p xmlns:a="http://schemas.openxmlformats.org/drawingml/2006/main">
            <a:r>
              <a:t>**오류 해결:** 철자 차이를 찾지 못하면 이름을 한 글자씩 비교합니다. 영문 대소문자와 밑줄도 이름의 일부입니다.</a:t>
            </a:r>
          </a:p>
          <a:p xmlns:a="http://schemas.openxmlformats.org/drawingml/2006/main">
            <a:r>
              <a:t/>
            </a:r>
          </a:p>
          <a:p xmlns:a="http://schemas.openxmlformats.org/drawingml/2006/main">
            <a:r>
              <a:t>## A07 · 숫자 더하기와 문자열 연결</a:t>
            </a:r>
          </a:p>
          <a:p xmlns:a="http://schemas.openxmlformats.org/drawingml/2006/main">
            <a:r>
              <a:t/>
            </a:r>
          </a:p>
          <a:p xmlns:a="http://schemas.openxmlformats.org/drawingml/2006/main">
            <a:r>
              <a:t>**목적:** CSV의 셀을 기본 방식으로 읽으면 문자열이 된다는 10/8의 내용을 떠올립니다. 수량을 계산하려고 글자를 그대로 이어 붙이면 합계처럼 보이는 잘못된 결과가 생길 수 있습니다.</a:t>
            </a:r>
          </a:p>
          <a:p xmlns:a="http://schemas.openxmlformats.org/drawingml/2006/main">
            <a:r>
              <a:t/>
            </a:r>
          </a:p>
          <a:p xmlns:a="http://schemas.openxmlformats.org/drawingml/2006/main">
            <a:r>
              <a:t>**준비:** 원자료와 작업 파일을 나란히 엽니다. 원본은 보존하고 work 파일에 기록합니다. 실행 환경이 없으면 같은 입력·코드·출력으로 수동 추적합니다.</a:t>
            </a:r>
          </a:p>
          <a:p xmlns:a="http://schemas.openxmlformats.org/drawingml/2006/main">
            <a:r>
              <a:t/>
            </a:r>
          </a:p>
          <a:p xmlns:a="http://schemas.openxmlformats.org/drawingml/2006/main">
            <a:r>
              <a:t>- [A07_input.md](examples/course/data/A07_input.md)</a:t>
            </a:r>
          </a:p>
          <a:p xmlns:a="http://schemas.openxmlformats.org/drawingml/2006/main">
            <a:r>
              <a:t>- [A07_example.py](examples/course/code/A07_example.py)</a:t>
            </a:r>
          </a:p>
          <a:p xmlns:a="http://schemas.openxmlformats.org/drawingml/2006/main">
            <a:r>
              <a:t>- [A07_notes.md](examples/course/work/A07_notes.md)</a:t>
            </a:r>
          </a:p>
          <a:p xmlns:a="http://schemas.openxmlformats.org/drawingml/2006/main">
            <a:r>
              <a:t>- [A07_example.py](examples/course/work/A07_example.py)</a:t>
            </a:r>
          </a:p>
          <a:p xmlns:a="http://schemas.openxmlformats.org/drawingml/2006/main">
            <a:r>
              <a:t/>
            </a:r>
          </a:p>
          <a:p xmlns:a="http://schemas.openxmlformats.org/drawingml/2006/main">
            <a:r>
              <a:t>**단계**</a:t>
            </a:r>
          </a:p>
          <a:p xmlns:a="http://schemas.openxmlformats.org/drawingml/2006/main">
            <a:r>
              <a:t/>
            </a:r>
          </a:p>
          <a:p xmlns:a="http://schemas.openxmlformats.org/drawingml/2006/main">
            <a:r>
              <a:t>1. 세 출력 줄을 예상하고 각각 계산인지 글자 연결인지 적습니다.</a:t>
            </a:r>
          </a:p>
          <a:p xmlns:a="http://schemas.openxmlformats.org/drawingml/2006/main">
            <a:r>
              <a:t>2. 숫자와 문자열의 +를 같은 기준으로 읽지 않았는지 비교합니다.</a:t>
            </a:r>
          </a:p>
          <a:p xmlns:a="http://schemas.openxmlformats.org/drawingml/2006/main">
            <a:r>
              <a:t>3. 고의 오류 text_count + 2에서 서로 다른 자료형을 표시합니다.</a:t>
            </a:r>
          </a:p>
          <a:p xmlns:a="http://schemas.openxmlformats.org/drawingml/2006/main">
            <a:r>
              <a:t>4. 수량과 사번 중 무엇을 숫자로 바꿀지 이유를 씁니다.</a:t>
            </a:r>
          </a:p>
          <a:p xmlns:a="http://schemas.openxmlformats.org/drawingml/2006/main">
            <a:r>
              <a:t/>
            </a:r>
          </a:p>
          <a:p xmlns:a="http://schemas.openxmlformats.org/drawingml/2006/main">
            <a:r>
              <a:t>**예상 결과:** 5와 문자열 32, int와 str을 구별합니다. 혼합 +는 TypeError가 기대 결과입니다.</a:t>
            </a:r>
          </a:p>
          <a:p xmlns:a="http://schemas.openxmlformats.org/drawingml/2006/main">
            <a:r>
              <a:t/>
            </a:r>
          </a:p>
          <a:p xmlns:a="http://schemas.openxmlformats.org/drawingml/2006/main">
            <a:r>
              <a:t>**확인 방법:** "001"에 1을 더해 다음 직원을 정하는 것이 항상 적절할까요?</a:t>
            </a:r>
          </a:p>
          <a:p xmlns:a="http://schemas.openxmlformats.org/drawingml/2006/main">
            <a:r>
              <a:t/>
            </a:r>
          </a:p>
          <a:p xmlns:a="http://schemas.openxmlformats.org/drawingml/2006/main">
            <a:r>
              <a:t>**오류 해결:** 화면에서 따옴표 없이 32가 보이면 type 출력도 함께 확인합니다. 표시 모양만으로 자료형을 판단하지 않습니다.</a:t>
            </a:r>
          </a:p>
          <a:p xmlns:a="http://schemas.openxmlformats.org/drawingml/2006/main">
            <a:r>
              <a:t/>
            </a:r>
          </a:p>
          <a:p xmlns:a="http://schemas.openxmlformats.org/drawingml/2006/main">
            <a:r>
              <a:t>## A08 · 수치 문자열을 숫자로 변환하기</a:t>
            </a:r>
          </a:p>
          <a:p xmlns:a="http://schemas.openxmlformats.org/drawingml/2006/main">
            <a:r>
              <a:t/>
            </a:r>
          </a:p>
          <a:p xmlns:a="http://schemas.openxmlformats.org/drawingml/2006/main">
            <a:r>
              <a:t>**목적:** 외부에서 읽은 온도 글자를 계산하려면 숫자로 다룰 값인지 확인하고 변환해야 합니다. 데이터의 의미가 수치라는 사실과 현재 저장 형태가 문자열이라는 사실을 연결하는 단계입니다.</a:t>
            </a:r>
          </a:p>
          <a:p xmlns:a="http://schemas.openxmlformats.org/drawingml/2006/main">
            <a:r>
              <a:t/>
            </a:r>
          </a:p>
          <a:p xmlns:a="http://schemas.openxmlformats.org/drawingml/2006/main">
            <a:r>
              <a:t>**준비:** 원자료와 작업 파일을 나란히 엽니다. 원본은 보존하고 work 파일에 기록합니다. 실행 환경이 없으면 같은 입력·코드·출력으로 수동 추적합니다.</a:t>
            </a:r>
          </a:p>
          <a:p xmlns:a="http://schemas.openxmlformats.org/drawingml/2006/main">
            <a:r>
              <a:t/>
            </a:r>
          </a:p>
          <a:p xmlns:a="http://schemas.openxmlformats.org/drawingml/2006/main">
            <a:r>
              <a:t>- [A08_input.md](examples/course/data/A08_input.md)</a:t>
            </a:r>
          </a:p>
          <a:p xmlns:a="http://schemas.openxmlformats.org/drawingml/2006/main">
            <a:r>
              <a:t>- [A08_example.py](examples/course/code/A08_example.py)</a:t>
            </a:r>
          </a:p>
          <a:p xmlns:a="http://schemas.openxmlformats.org/drawingml/2006/main">
            <a:r>
              <a:t>- [A08_notes.md](examples/course/work/A08_notes.md)</a:t>
            </a:r>
          </a:p>
          <a:p xmlns:a="http://schemas.openxmlformats.org/drawingml/2006/main">
            <a:r>
              <a:t>- [A08_example.py](examples/course/work/A08_example.py)</a:t>
            </a:r>
          </a:p>
          <a:p xmlns:a="http://schemas.openxmlformats.org/drawingml/2006/main">
            <a:r>
              <a:t/>
            </a:r>
          </a:p>
          <a:p xmlns:a="http://schemas.openxmlformats.org/drawingml/2006/main">
            <a:r>
              <a:t>**단계**</a:t>
            </a:r>
          </a:p>
          <a:p xmlns:a="http://schemas.openxmlformats.org/drawingml/2006/main">
            <a:r>
              <a:t/>
            </a:r>
          </a:p>
          <a:p xmlns:a="http://schemas.openxmlformats.org/drawingml/2006/main">
            <a:r>
              <a:t>1. 원문과 변환 결과의 이름을 구별합니다.</a:t>
            </a:r>
          </a:p>
          <a:p xmlns:a="http://schemas.openxmlformats.org/drawingml/2006/main">
            <a:r>
              <a:t>2. 원문을 "24.0"으로 바꾸고 출력 세 줄을 예상합니다.</a:t>
            </a:r>
          </a:p>
          <a:p xmlns:a="http://schemas.openxmlformats.org/drawingml/2006/main">
            <a:r>
              <a:t>3. 저장·실행 뒤 값과 자료형을 대조합니다.</a:t>
            </a:r>
          </a:p>
          <a:p xmlns:a="http://schemas.openxmlformats.org/drawingml/2006/main">
            <a:r>
              <a:t>4. 고의 오류 "뜨거움" 사례의 원문·오류 종류·확인 질문을 기록합니다.</a:t>
            </a:r>
          </a:p>
          <a:p xmlns:a="http://schemas.openxmlformats.org/drawingml/2006/main">
            <a:r>
              <a:t/>
            </a:r>
          </a:p>
          <a:p xmlns:a="http://schemas.openxmlformats.org/drawingml/2006/main">
            <a:r>
              <a:t>**예상 결과:** 변환 후 계산 결과는 25.0. 숫자가 아닌 글자에서는 ValueError.</a:t>
            </a:r>
          </a:p>
          <a:p xmlns:a="http://schemas.openxmlformats.org/drawingml/2006/main">
            <a:r>
              <a:t/>
            </a:r>
          </a:p>
          <a:p xmlns:a="http://schemas.openxmlformats.org/drawingml/2006/main">
            <a:r>
              <a:t>**확인 방법:** 원문 raw를 남기는 이유는 무엇일까요?</a:t>
            </a:r>
          </a:p>
          <a:p xmlns:a="http://schemas.openxmlformats.org/drawingml/2006/main">
            <a:r>
              <a:t/>
            </a:r>
          </a:p>
          <a:p xmlns:a="http://schemas.openxmlformats.org/drawingml/2006/main">
            <a:r>
              <a:t>**오류 해결:** ValueError가 보이면 입력 문자열을 먼저 확인합니다. °C 같은 단위 글자가 붙었는지, 빈칸인지 구별하고 확인되지 않은 값을 만들어 채우지 않습니다.</a:t>
            </a:r>
          </a:p>
          <a:p xmlns:a="http://schemas.openxmlformats.org/drawingml/2006/main">
            <a:r>
              <a:t/>
            </a:r>
          </a:p>
          <a:p xmlns:a="http://schemas.openxmlformats.org/drawingml/2006/main">
            <a:r>
              <a:t>## A09 · 연산과 괄호로 작은 계산 만들기</a:t>
            </a:r>
          </a:p>
          <a:p xmlns:a="http://schemas.openxmlformats.org/drawingml/2006/main">
            <a:r>
              <a:t/>
            </a:r>
          </a:p>
          <a:p xmlns:a="http://schemas.openxmlformats.org/drawingml/2006/main">
            <a:r>
              <a:t>**목적:** 합계와 개수를 따로 확인해야 평균의 분모를 잘못 고르는 일을 막을 수 있습니다. 오늘은 이미 확인된 숫자 세 개만 계산하고, 미측정과 잘못된 값이 있는 파일 처리는 다음 날로 넘깁니다.</a:t>
            </a:r>
          </a:p>
          <a:p xmlns:a="http://schemas.openxmlformats.org/drawingml/2006/main">
            <a:r>
              <a:t/>
            </a:r>
          </a:p>
          <a:p xmlns:a="http://schemas.openxmlformats.org/drawingml/2006/main">
            <a:r>
              <a:t>**준비:** 원자료와 작업 파일을 나란히 엽니다. 원본은 보존하고 work 파일에 기록합니다. 실행 환경이 없으면 같은 입력·코드·출력으로 수동 추적합니다.</a:t>
            </a:r>
          </a:p>
          <a:p xmlns:a="http://schemas.openxmlformats.org/drawingml/2006/main">
            <a:r>
              <a:t/>
            </a:r>
          </a:p>
          <a:p xmlns:a="http://schemas.openxmlformats.org/drawingml/2006/main">
            <a:r>
              <a:t>- [A09_input.md](examples/course/data/A09_input.md)</a:t>
            </a:r>
          </a:p>
          <a:p xmlns:a="http://schemas.openxmlformats.org/drawingml/2006/main">
            <a:r>
              <a:t>- [A09_example.py](examples/course/code/A09_example.py)</a:t>
            </a:r>
          </a:p>
          <a:p xmlns:a="http://schemas.openxmlformats.org/drawingml/2006/main">
            <a:r>
              <a:t>- [A09_notes.md](examples/course/work/A09_notes.md)</a:t>
            </a:r>
          </a:p>
          <a:p xmlns:a="http://schemas.openxmlformats.org/drawingml/2006/main">
            <a:r>
              <a:t>- [A09_example.py](examples/course/work/A09_example.py)</a:t>
            </a:r>
          </a:p>
          <a:p xmlns:a="http://schemas.openxmlformats.org/drawingml/2006/main">
            <a:r>
              <a:t/>
            </a:r>
          </a:p>
          <a:p xmlns:a="http://schemas.openxmlformats.org/drawingml/2006/main">
            <a:r>
              <a:t>**단계**</a:t>
            </a:r>
          </a:p>
          <a:p xmlns:a="http://schemas.openxmlformats.org/drawingml/2006/main">
            <a:r>
              <a:t/>
            </a:r>
          </a:p>
          <a:p xmlns:a="http://schemas.openxmlformats.org/drawingml/2006/main">
            <a:r>
              <a:t>1. 합계와 개수를 손으로 확인합니다.</a:t>
            </a:r>
          </a:p>
          <a:p xmlns:a="http://schemas.openxmlformats.org/drawingml/2006/main">
            <a:r>
              <a:t>2. 코드 각 계산의 입력과 결과를 표로 적습니다.</a:t>
            </a:r>
          </a:p>
          <a:p xmlns:a="http://schemas.openxmlformats.org/drawingml/2006/main">
            <a:r>
              <a:t>3. count를 2로 바꾼 출력 35.0이 계산은 되지만 의미상 맞는지 판단합니다.</a:t>
            </a:r>
          </a:p>
          <a:p xmlns:a="http://schemas.openxmlformats.org/drawingml/2006/main">
            <a:r>
              <a:t>4. 정상 분모를 복원하고 0으로 나눌 때 오류 단서를 비교합니다.</a:t>
            </a:r>
          </a:p>
          <a:p xmlns:a="http://schemas.openxmlformats.org/drawingml/2006/main">
            <a:r>
              <a:t/>
            </a:r>
          </a:p>
          <a:p xmlns:a="http://schemas.openxmlformats.org/drawingml/2006/main">
            <a:r>
              <a:t>**예상 결과:** 정상 합계 70.0, 평균 23.33. 잘못된 분모는 실행 성공과 별개로 검수해야 합니다.</a:t>
            </a:r>
          </a:p>
          <a:p xmlns:a="http://schemas.openxmlformats.org/drawingml/2006/main">
            <a:r>
              <a:t/>
            </a:r>
          </a:p>
          <a:p xmlns:a="http://schemas.openxmlformats.org/drawingml/2006/main">
            <a:r>
              <a:t>**확인 방법:** 코드가 종료 코드 0으로 끝났다면 평균의 업무 의미도 보장되나요?</a:t>
            </a:r>
          </a:p>
          <a:p xmlns:a="http://schemas.openxmlformats.org/drawingml/2006/main">
            <a:r>
              <a:t/>
            </a:r>
          </a:p>
          <a:p xmlns:a="http://schemas.openxmlformats.org/drawingml/2006/main">
            <a:r>
              <a:t>**오류 해결:** ZeroDivisionError가 생기면 분모가 왜 0인지 먼저 확인합니다. 임의로 1을 넣어 원인을 숨기지 않습니다.</a:t>
            </a:r>
          </a:p>
          <a:p xmlns:a="http://schemas.openxmlformats.org/drawingml/2006/main">
            <a:r>
              <a:t/>
            </a:r>
          </a:p>
          <a:p xmlns:a="http://schemas.openxmlformats.org/drawingml/2006/main">
            <a:r>
              <a:t>## A10 · 비교 결과는 참 또는 거짓</a:t>
            </a:r>
          </a:p>
          <a:p xmlns:a="http://schemas.openxmlformats.org/drawingml/2006/main">
            <a:r>
              <a:t/>
            </a:r>
          </a:p>
          <a:p xmlns:a="http://schemas.openxmlformats.org/drawingml/2006/main">
            <a:r>
              <a:t>**목적:** 정책 문구를 코드로 옮길 때 ‘이상’과 ‘초과’를 혼동하면 경계값에서 다른 결과가 나옵니다. 기준과 정확히 같은 입력을 확인해야 차이가 보입니다.</a:t>
            </a:r>
          </a:p>
          <a:p xmlns:a="http://schemas.openxmlformats.org/drawingml/2006/main">
            <a:r>
              <a:t/>
            </a:r>
          </a:p>
          <a:p xmlns:a="http://schemas.openxmlformats.org/drawingml/2006/main">
            <a:r>
              <a:t>**준비:** 원자료와 작업 파일을 나란히 엽니다. 원본은 보존하고 work 파일에 기록합니다. 실행 환경이 없으면 같은 입력·코드·출력으로 수동 추적합니다.</a:t>
            </a:r>
          </a:p>
          <a:p xmlns:a="http://schemas.openxmlformats.org/drawingml/2006/main">
            <a:r>
              <a:t/>
            </a:r>
          </a:p>
          <a:p xmlns:a="http://schemas.openxmlformats.org/drawingml/2006/main">
            <a:r>
              <a:t>- [A10_input.md](examples/course/data/A10_input.md)</a:t>
            </a:r>
          </a:p>
          <a:p xmlns:a="http://schemas.openxmlformats.org/drawingml/2006/main">
            <a:r>
              <a:t>- [A10_example.py](examples/course/code/A10_example.py)</a:t>
            </a:r>
          </a:p>
          <a:p xmlns:a="http://schemas.openxmlformats.org/drawingml/2006/main">
            <a:r>
              <a:t>- [A10_notes.md](examples/course/work/A10_notes.md)</a:t>
            </a:r>
          </a:p>
          <a:p xmlns:a="http://schemas.openxmlformats.org/drawingml/2006/main">
            <a:r>
              <a:t>- [A10_example.py](examples/course/work/A10_example.py)</a:t>
            </a:r>
          </a:p>
          <a:p xmlns:a="http://schemas.openxmlformats.org/drawingml/2006/main">
            <a:r>
              <a:t/>
            </a:r>
          </a:p>
          <a:p xmlns:a="http://schemas.openxmlformats.org/drawingml/2006/main">
            <a:r>
              <a:t>**단계**</a:t>
            </a:r>
          </a:p>
          <a:p xmlns:a="http://schemas.openxmlformats.org/drawingml/2006/main">
            <a:r>
              <a:t/>
            </a:r>
          </a:p>
          <a:p xmlns:a="http://schemas.openxmlformats.org/drawingml/2006/main">
            <a:r>
              <a:t>1. 초과·이상·같음의 문장을 기호와 연결합니다.</a:t>
            </a:r>
          </a:p>
          <a:p xmlns:a="http://schemas.openxmlformats.org/drawingml/2006/main">
            <a:r>
              <a:t>2. 기준 아래·같음·위 세 입력에서 True/False를 예상합니다.</a:t>
            </a:r>
          </a:p>
          <a:p xmlns:a="http://schemas.openxmlformats.org/drawingml/2006/main">
            <a:r>
              <a:t>3. 한 번에 온도 한 곳만 바꿔 비교 출력 세 줄을 확인합니다.</a:t>
            </a:r>
          </a:p>
          <a:p xmlns:a="http://schemas.openxmlformats.org/drawingml/2006/main">
            <a:r>
              <a:t>4. 업무 규칙 ‘24.0 이상’에 맞는 기호를 고르고 이유를 씁니다.</a:t>
            </a:r>
          </a:p>
          <a:p xmlns:a="http://schemas.openxmlformats.org/drawingml/2006/main">
            <a:r>
              <a:t/>
            </a:r>
          </a:p>
          <a:p xmlns:a="http://schemas.openxmlformats.org/drawingml/2006/main">
            <a:r>
              <a:t>**예상 결과:** 같은 값에서 &gt;와 &gt;=의 차이를 설명합니다.</a:t>
            </a:r>
          </a:p>
          <a:p xmlns:a="http://schemas.openxmlformats.org/drawingml/2006/main">
            <a:r>
              <a:t/>
            </a:r>
          </a:p>
          <a:p xmlns:a="http://schemas.openxmlformats.org/drawingml/2006/main">
            <a:r>
              <a:t>**확인 방법:** 변수에 값을 넣는 =와 비교하는 ==를 같은 기호처럼 쓰면 될까요?</a:t>
            </a:r>
          </a:p>
          <a:p xmlns:a="http://schemas.openxmlformats.org/drawingml/2006/main">
            <a:r>
              <a:t/>
            </a:r>
          </a:p>
          <a:p xmlns:a="http://schemas.openxmlformats.org/drawingml/2006/main">
            <a:r>
              <a:t>**오류 해결:** True/False를 외우기보다 ‘왼쪽 값이 오른쪽 기준보다 큰가?’라는 질문을 실제 숫자로 다시 읽습니다.</a:t>
            </a:r>
          </a:p>
          <a:p xmlns:a="http://schemas.openxmlformats.org/drawingml/2006/main">
            <a:r>
              <a:t/>
            </a:r>
          </a:p>
          <a:p xmlns:a="http://schemas.openxmlformats.org/drawingml/2006/main">
            <a:r>
              <a:t>## A11 · if와 else로 출력 선택하기</a:t>
            </a:r>
          </a:p>
          <a:p xmlns:a="http://schemas.openxmlformats.org/drawingml/2006/main">
            <a:r>
              <a:t/>
            </a:r>
          </a:p>
          <a:p xmlns:a="http://schemas.openxmlformats.org/drawingml/2006/main">
            <a:r>
              <a:t>**목적:** 비교 결과를 화면에 보여 주는 단계에서 한 걸음 더 나아가, 비교에 따라 다른 일을 할 수 있습니다. 두 갈래 중 어느 쪽이 실행되는지 먼저 손으로 따라가면 코드를 읽기 쉽습니다.</a:t>
            </a:r>
          </a:p>
          <a:p xmlns:a="http://schemas.openxmlformats.org/drawingml/2006/main">
            <a:r>
              <a:t/>
            </a:r>
          </a:p>
          <a:p xmlns:a="http://schemas.openxmlformats.org/drawingml/2006/main">
            <a:r>
              <a:t>**준비:** 원자료와 작업 파일을 나란히 엽니다. 원본은 보존하고 work 파일에 기록합니다. 실행 환경이 없으면 같은 입력·코드·출력으로 수동 추적합니다.</a:t>
            </a:r>
          </a:p>
          <a:p xmlns:a="http://schemas.openxmlformats.org/drawingml/2006/main">
            <a:r>
              <a:t/>
            </a:r>
          </a:p>
          <a:p xmlns:a="http://schemas.openxmlformats.org/drawingml/2006/main">
            <a:r>
              <a:t>- [A11_input.md](examples/course/data/A11_input.md)</a:t>
            </a:r>
          </a:p>
          <a:p xmlns:a="http://schemas.openxmlformats.org/drawingml/2006/main">
            <a:r>
              <a:t>- [A11_example.py](examples/course/code/A11_example.py)</a:t>
            </a:r>
          </a:p>
          <a:p xmlns:a="http://schemas.openxmlformats.org/drawingml/2006/main">
            <a:r>
              <a:t>- [A11_notes.md](examples/course/work/A11_notes.md)</a:t>
            </a:r>
          </a:p>
          <a:p xmlns:a="http://schemas.openxmlformats.org/drawingml/2006/main">
            <a:r>
              <a:t>- [A11_example.py](examples/course/work/A11_example.py)</a:t>
            </a:r>
          </a:p>
          <a:p xmlns:a="http://schemas.openxmlformats.org/drawingml/2006/main">
            <a:r>
              <a:t/>
            </a:r>
          </a:p>
          <a:p xmlns:a="http://schemas.openxmlformats.org/drawingml/2006/main">
            <a:r>
              <a:t>**단계**</a:t>
            </a:r>
          </a:p>
          <a:p xmlns:a="http://schemas.openxmlformats.org/drawingml/2006/main">
            <a:r>
              <a:t/>
            </a:r>
          </a:p>
          <a:p xmlns:a="http://schemas.openxmlformats.org/drawingml/2006/main">
            <a:r>
              <a:t>1. 조건식을 동그라미로 표시하고 두 갈래를 말로 설명합니다.</a:t>
            </a:r>
          </a:p>
          <a:p xmlns:a="http://schemas.openxmlformats.org/drawingml/2006/main">
            <a:r>
              <a:t>2. 25.0으로 바꿨을 때 실행될 줄만 표시합니다.</a:t>
            </a:r>
          </a:p>
          <a:p xmlns:a="http://schemas.openxmlformats.org/drawingml/2006/main">
            <a:r>
              <a:t>3. 들여쓰기를 유지한 채 값 한 곳을 수정해 실행합니다.</a:t>
            </a:r>
          </a:p>
          <a:p xmlns:a="http://schemas.openxmlformats.org/drawingml/2006/main">
            <a:r>
              <a:t>4. 수정한 값·실행된 갈래·출력을 노트에 연결합니다.</a:t>
            </a:r>
          </a:p>
          <a:p xmlns:a="http://schemas.openxmlformats.org/drawingml/2006/main">
            <a:r>
              <a:t/>
            </a:r>
          </a:p>
          <a:p xmlns:a="http://schemas.openxmlformats.org/drawingml/2006/main">
            <a:r>
              <a:t>**예상 결과:** 23.5는 정상, 25.0은 확인. 양쪽 출력이 동시에 나오지 않습니다.</a:t>
            </a:r>
          </a:p>
          <a:p xmlns:a="http://schemas.openxmlformats.org/drawingml/2006/main">
            <a:r>
              <a:t/>
            </a:r>
          </a:p>
          <a:p xmlns:a="http://schemas.openxmlformats.org/drawingml/2006/main">
            <a:r>
              <a:t>**확인 방법:** print("완료")를 들여쓰기 없이 맨 아래에 넣으면 언제 실행될까요?</a:t>
            </a:r>
          </a:p>
          <a:p xmlns:a="http://schemas.openxmlformats.org/drawingml/2006/main">
            <a:r>
              <a:t/>
            </a:r>
          </a:p>
          <a:p xmlns:a="http://schemas.openxmlformats.org/drawingml/2006/main">
            <a:r>
              <a:t>**오류 해결:** IndentationError가 나면 콜론 다음 줄의 공백을 원본과 비교합니다. 탭과 공백을 혼용하지 않고 제공 예의 네 칸 공백을 유지합니다.</a:t>
            </a:r>
          </a:p>
          <a:p xmlns:a="http://schemas.openxmlformats.org/drawingml/2006/main">
            <a:r>
              <a:t/>
            </a:r>
          </a:p>
          <a:p xmlns:a="http://schemas.openxmlformats.org/drawingml/2006/main">
            <a:r>
              <a:t>## A12 · 미측정과 경계값의 세 갈래</a:t>
            </a:r>
          </a:p>
          <a:p xmlns:a="http://schemas.openxmlformats.org/drawingml/2006/main">
            <a:r>
              <a:t/>
            </a:r>
          </a:p>
          <a:p xmlns:a="http://schemas.openxmlformats.org/drawingml/2006/main">
            <a:r>
              <a:t>**목적:** 10/8의 미측정을 숫자 0으로 바꾸지 않고 프로그램 안에서도 유지해야 합니다. 미측정·기준 초과·그 밖의 측정을 서로 다른 상태로 구분합니다.</a:t>
            </a:r>
          </a:p>
          <a:p xmlns:a="http://schemas.openxmlformats.org/drawingml/2006/main">
            <a:r>
              <a:t/>
            </a:r>
          </a:p>
          <a:p xmlns:a="http://schemas.openxmlformats.org/drawingml/2006/main">
            <a:r>
              <a:t>**준비:** 원자료와 작업 파일을 나란히 엽니다. 원본은 보존하고 work 파일에 기록합니다. 실행 환경이 없으면 같은 입력·코드·출력으로 수동 추적합니다.</a:t>
            </a:r>
          </a:p>
          <a:p xmlns:a="http://schemas.openxmlformats.org/drawingml/2006/main">
            <a:r>
              <a:t/>
            </a:r>
          </a:p>
          <a:p xmlns:a="http://schemas.openxmlformats.org/drawingml/2006/main">
            <a:r>
              <a:t>- [A12_input.md](examples/course/data/A12_input.md)</a:t>
            </a:r>
          </a:p>
          <a:p xmlns:a="http://schemas.openxmlformats.org/drawingml/2006/main">
            <a:r>
              <a:t>- [A12_example.py](examples/course/code/A12_example.py)</a:t>
            </a:r>
          </a:p>
          <a:p xmlns:a="http://schemas.openxmlformats.org/drawingml/2006/main">
            <a:r>
              <a:t>- [A12_notes.md](examples/course/work/A12_notes.md)</a:t>
            </a:r>
          </a:p>
          <a:p xmlns:a="http://schemas.openxmlformats.org/drawingml/2006/main">
            <a:r>
              <a:t>- [A12_example.py](examples/course/work/A12_example.py)</a:t>
            </a:r>
          </a:p>
          <a:p xmlns:a="http://schemas.openxmlformats.org/drawingml/2006/main">
            <a:r>
              <a:t/>
            </a:r>
          </a:p>
          <a:p xmlns:a="http://schemas.openxmlformats.org/drawingml/2006/main">
            <a:r>
              <a:t>**단계**</a:t>
            </a:r>
          </a:p>
          <a:p xmlns:a="http://schemas.openxmlformats.org/drawingml/2006/main">
            <a:r>
              <a:t/>
            </a:r>
          </a:p>
          <a:p xmlns:a="http://schemas.openxmlformats.org/drawingml/2006/main">
            <a:r>
              <a:t>1. None·0.0·24.0·24.1의 예상 갈래를 표에 씁니다.</a:t>
            </a:r>
          </a:p>
          <a:p xmlns:a="http://schemas.openxmlformats.org/drawingml/2006/main">
            <a:r>
              <a:t>2. 원본에서 미측정 확인이 숫자 비교보다 앞선 이유를 설명합니다.</a:t>
            </a:r>
          </a:p>
          <a:p xmlns:a="http://schemas.openxmlformats.org/drawingml/2006/main">
            <a:r>
              <a:t>3. work 코드에 하나씩 대입해 출력 또는 강사 실행을 대조합니다.</a:t>
            </a:r>
          </a:p>
          <a:p xmlns:a="http://schemas.openxmlformats.org/drawingml/2006/main">
            <a:r>
              <a:t>4. 0.0과 None을 같은 답으로 쓰지 않았는지 확인합니다.</a:t>
            </a:r>
          </a:p>
          <a:p xmlns:a="http://schemas.openxmlformats.org/drawingml/2006/main">
            <a:r>
              <a:t/>
            </a:r>
          </a:p>
          <a:p xmlns:a="http://schemas.openxmlformats.org/drawingml/2006/main">
            <a:r>
              <a:t>**예상 결과:** 미측정/정상/정상/확인의 순서입니다.</a:t>
            </a:r>
          </a:p>
          <a:p xmlns:a="http://schemas.openxmlformats.org/drawingml/2006/main">
            <a:r>
              <a:t/>
            </a:r>
          </a:p>
          <a:p xmlns:a="http://schemas.openxmlformats.org/drawingml/2006/main">
            <a:r>
              <a:t>**확인 방법:** None에 직접 &gt; 24.0을 적용하면 어떻게 될까요?</a:t>
            </a:r>
          </a:p>
          <a:p xmlns:a="http://schemas.openxmlformats.org/drawingml/2006/main">
            <a:r>
              <a:t/>
            </a:r>
          </a:p>
          <a:p xmlns:a="http://schemas.openxmlformats.org/drawingml/2006/main">
            <a:r>
              <a:t>**오류 해결:** None을 "None"이라는 문자열로 바꾸지 않습니다. 따옴표가 붙으면 다른 값입니다.</a:t>
            </a:r>
          </a:p>
          <a:p xmlns:a="http://schemas.openxmlformats.org/drawingml/2006/main">
            <a:r>
              <a:t/>
            </a:r>
          </a:p>
          <a:p xmlns:a="http://schemas.openxmlformats.org/drawingml/2006/main">
            <a:r>
              <a:t>## A13 · 리스트와 위치로 여러 값 담기</a:t>
            </a:r>
          </a:p>
          <a:p xmlns:a="http://schemas.openxmlformats.org/drawingml/2006/main">
            <a:r>
              <a:t/>
            </a:r>
          </a:p>
          <a:p xmlns:a="http://schemas.openxmlformats.org/drawingml/2006/main">
            <a:r>
              <a:t>**목적:** 측정값이 세 개에서 네 개로 늘어날 때 이름을 계속 만드는 대신 하나의 목록으로 다룰 수 있습니다. 10/8에 읽었던 순서 구조를 직접 작은 값 수정으로 연결합니다.</a:t>
            </a:r>
          </a:p>
          <a:p xmlns:a="http://schemas.openxmlformats.org/drawingml/2006/main">
            <a:r>
              <a:t/>
            </a:r>
          </a:p>
          <a:p xmlns:a="http://schemas.openxmlformats.org/drawingml/2006/main">
            <a:r>
              <a:t>**준비:** 원자료와 작업 파일을 나란히 엽니다. 원본은 보존하고 work 파일에 기록합니다. 실행 환경이 없으면 같은 입력·코드·출력으로 수동 추적합니다.</a:t>
            </a:r>
          </a:p>
          <a:p xmlns:a="http://schemas.openxmlformats.org/drawingml/2006/main">
            <a:r>
              <a:t/>
            </a:r>
          </a:p>
          <a:p xmlns:a="http://schemas.openxmlformats.org/drawingml/2006/main">
            <a:r>
              <a:t>- [A13_input.md](examples/course/data/A13_input.md)</a:t>
            </a:r>
          </a:p>
          <a:p xmlns:a="http://schemas.openxmlformats.org/drawingml/2006/main">
            <a:r>
              <a:t>- [A13_example.py](examples/course/code/A13_example.py)</a:t>
            </a:r>
          </a:p>
          <a:p xmlns:a="http://schemas.openxmlformats.org/drawingml/2006/main">
            <a:r>
              <a:t>- [A13_notes.md](examples/course/work/A13_notes.md)</a:t>
            </a:r>
          </a:p>
          <a:p xmlns:a="http://schemas.openxmlformats.org/drawingml/2006/main">
            <a:r>
              <a:t>- [A13_example.py](examples/course/work/A13_example.py)</a:t>
            </a:r>
          </a:p>
          <a:p xmlns:a="http://schemas.openxmlformats.org/drawingml/2006/main">
            <a:r>
              <a:t/>
            </a:r>
          </a:p>
          <a:p xmlns:a="http://schemas.openxmlformats.org/drawingml/2006/main">
            <a:r>
              <a:t>**단계**</a:t>
            </a:r>
          </a:p>
          <a:p xmlns:a="http://schemas.openxmlformats.org/drawingml/2006/main">
            <a:r>
              <a:t/>
            </a:r>
          </a:p>
          <a:p xmlns:a="http://schemas.openxmlformats.org/drawingml/2006/main">
            <a:r>
              <a:t>1. 추가 전과 후의 목록을 종이에 그립니다.</a:t>
            </a:r>
          </a:p>
          <a:p xmlns:a="http://schemas.openxmlformats.org/drawingml/2006/main">
            <a:r>
              <a:t>2. 각 위치 번호와 개수를 따로 표시합니다.</a:t>
            </a:r>
          </a:p>
          <a:p xmlns:a="http://schemas.openxmlformats.org/drawingml/2006/main">
            <a:r>
              <a:t>3. 추가할 값을 26.0으로 바꾸고 출력 변화를 예상합니다.</a:t>
            </a:r>
          </a:p>
          <a:p xmlns:a="http://schemas.openxmlformats.org/drawingml/2006/main">
            <a:r>
              <a:t>4. 아직 없는 위치를 읽는 오류 사례를 설명합니다.</a:t>
            </a:r>
          </a:p>
          <a:p xmlns:a="http://schemas.openxmlformats.org/drawingml/2006/main">
            <a:r>
              <a:t/>
            </a:r>
          </a:p>
          <a:p xmlns:a="http://schemas.openxmlformats.org/drawingml/2006/main">
            <a:r>
              <a:t>**예상 결과:** 추가 후 개수 4, 마지막 값 26.0. 기존 첫 값은 유지됩니다.</a:t>
            </a:r>
          </a:p>
          <a:p xmlns:a="http://schemas.openxmlformats.org/drawingml/2006/main">
            <a:r>
              <a:t/>
            </a:r>
          </a:p>
          <a:p xmlns:a="http://schemas.openxmlformats.org/drawingml/2006/main">
            <a:r>
              <a:t>**확인 방법:** 값 하나를 수정하는 것과 append로 추가하는 것은 개수에 어떤 차이가 있나요?</a:t>
            </a:r>
          </a:p>
          <a:p xmlns:a="http://schemas.openxmlformats.org/drawingml/2006/main">
            <a:r>
              <a:t/>
            </a:r>
          </a:p>
          <a:p xmlns:a="http://schemas.openxmlformats.org/drawingml/2006/main">
            <a:r>
              <a:t>**오류 해결:** IndexError가 나면 읽는 시점의 목록 길이와 위치 번호를 확인합니다. 뒤에서 추가된다고 앞에서 이미 존재하는 것은 아닙니다.</a:t>
            </a:r>
          </a:p>
          <a:p xmlns:a="http://schemas.openxmlformats.org/drawingml/2006/main">
            <a:r>
              <a:t/>
            </a:r>
          </a:p>
          <a:p xmlns:a="http://schemas.openxmlformats.org/drawingml/2006/main">
            <a:r>
              <a:t>## A14 · for로 목록을 한 항목씩 읽기</a:t>
            </a:r>
          </a:p>
          <a:p xmlns:a="http://schemas.openxmlformats.org/drawingml/2006/main">
            <a:r>
              <a:t/>
            </a:r>
          </a:p>
          <a:p xmlns:a="http://schemas.openxmlformats.org/drawingml/2006/main">
            <a:r>
              <a:t>**목적:** 여러 온도에 같은 출력이나 비교를 적용할 때 같은 코드를 복사하지 않아도 됩니다. 항목 수가 늘어나면 반복 횟수도 따라 늘어나는 관계를 관찰합니다.</a:t>
            </a:r>
          </a:p>
          <a:p xmlns:a="http://schemas.openxmlformats.org/drawingml/2006/main">
            <a:r>
              <a:t/>
            </a:r>
          </a:p>
          <a:p xmlns:a="http://schemas.openxmlformats.org/drawingml/2006/main">
            <a:r>
              <a:t>**준비:** 원자료와 작업 파일을 나란히 엽니다. 원본은 보존하고 work 파일에 기록합니다. 실행 환경이 없으면 같은 입력·코드·출력으로 수동 추적합니다.</a:t>
            </a:r>
          </a:p>
          <a:p xmlns:a="http://schemas.openxmlformats.org/drawingml/2006/main">
            <a:r>
              <a:t/>
            </a:r>
          </a:p>
          <a:p xmlns:a="http://schemas.openxmlformats.org/drawingml/2006/main">
            <a:r>
              <a:t>- [A14_input.md](examples/course/data/A14_input.md)</a:t>
            </a:r>
          </a:p>
          <a:p xmlns:a="http://schemas.openxmlformats.org/drawingml/2006/main">
            <a:r>
              <a:t>- [A14_example.py](examples/course/code/A14_example.py)</a:t>
            </a:r>
          </a:p>
          <a:p xmlns:a="http://schemas.openxmlformats.org/drawingml/2006/main">
            <a:r>
              <a:t>- [A14_notes.md](examples/course/work/A14_notes.md)</a:t>
            </a:r>
          </a:p>
          <a:p xmlns:a="http://schemas.openxmlformats.org/drawingml/2006/main">
            <a:r>
              <a:t>- [A14_example.py](examples/course/work/A14_example.py)</a:t>
            </a:r>
          </a:p>
          <a:p xmlns:a="http://schemas.openxmlformats.org/drawingml/2006/main">
            <a:r>
              <a:t/>
            </a:r>
          </a:p>
          <a:p xmlns:a="http://schemas.openxmlformats.org/drawingml/2006/main">
            <a:r>
              <a:t>**단계**</a:t>
            </a:r>
          </a:p>
          <a:p xmlns:a="http://schemas.openxmlformats.org/drawingml/2006/main">
            <a:r>
              <a:t/>
            </a:r>
          </a:p>
          <a:p xmlns:a="http://schemas.openxmlformats.org/drawingml/2006/main">
            <a:r>
              <a:t>1. 세 차례에 temperature_c가 가리키는 값을 표에 씁니다.</a:t>
            </a:r>
          </a:p>
          <a:p xmlns:a="http://schemas.openxmlformats.org/drawingml/2006/main">
            <a:r>
              <a:t>2. 완료가 몇 번 나올지 예상하고 들여쓰기를 근거로 설명합니다.</a:t>
            </a:r>
          </a:p>
          <a:p xmlns:a="http://schemas.openxmlformats.org/drawingml/2006/main">
            <a:r>
              <a:t>3. 목록에 25.0을 추가하고 반복 출력 수를 비교합니다.</a:t>
            </a:r>
          </a:p>
          <a:p xmlns:a="http://schemas.openxmlformats.org/drawingml/2006/main">
            <a:r>
              <a:t>4. 목록이 비어 있으면 어느 줄이 실행될지 적습니다.</a:t>
            </a:r>
          </a:p>
          <a:p xmlns:a="http://schemas.openxmlformats.org/drawingml/2006/main">
            <a:r>
              <a:t/>
            </a:r>
          </a:p>
          <a:p xmlns:a="http://schemas.openxmlformats.org/drawingml/2006/main">
            <a:r>
              <a:t>**예상 결과:** 값은 항목 수만큼 출력되고 완료는 한 번 출력됩니다.</a:t>
            </a:r>
          </a:p>
          <a:p xmlns:a="http://schemas.openxmlformats.org/drawingml/2006/main">
            <a:r>
              <a:t/>
            </a:r>
          </a:p>
          <a:p xmlns:a="http://schemas.openxmlformats.org/drawingml/2006/main">
            <a:r>
              <a:t>**확인 방법:** 완료 출력도 네 칸 들여쓰면 무엇이 바뀔까요?</a:t>
            </a:r>
          </a:p>
          <a:p xmlns:a="http://schemas.openxmlformats.org/drawingml/2006/main">
            <a:r>
              <a:t/>
            </a:r>
          </a:p>
          <a:p xmlns:a="http://schemas.openxmlformats.org/drawingml/2006/main">
            <a:r>
              <a:t>**오류 해결:** 출력 횟수가 다르면 들여쓰기 범위를 먼저 확인합니다. 코드 줄 수와 실행 횟수는 다를 수 있습니다.</a:t>
            </a:r>
          </a:p>
          <a:p xmlns:a="http://schemas.openxmlformats.org/drawingml/2006/main">
            <a:r>
              <a:t/>
            </a:r>
          </a:p>
          <a:p xmlns:a="http://schemas.openxmlformats.org/drawingml/2006/main">
            <a:r>
              <a:t>## A15 · 반복 안에서 조건 확인과 개수 세기</a:t>
            </a:r>
          </a:p>
          <a:p xmlns:a="http://schemas.openxmlformats.org/drawingml/2006/main">
            <a:r>
              <a:t/>
            </a:r>
          </a:p>
          <a:p xmlns:a="http://schemas.openxmlformats.org/drawingml/2006/main">
            <a:r>
              <a:t>**목적:** 어떤 기록이 기준을 넘었는지와 전체 몇 건인지 함께 확인할 수 있습니다. 초기화를 반복 안에 넣으면 매번 0으로 돌아가므로 준비 위치가 결과에 영향을 줍니다.</a:t>
            </a:r>
          </a:p>
          <a:p xmlns:a="http://schemas.openxmlformats.org/drawingml/2006/main">
            <a:r>
              <a:t/>
            </a:r>
          </a:p>
          <a:p xmlns:a="http://schemas.openxmlformats.org/drawingml/2006/main">
            <a:r>
              <a:t>**준비:** 원자료와 작업 파일을 나란히 엽니다. 원본은 보존하고 work 파일에 기록합니다. 실행 환경이 없으면 같은 입력·코드·출력으로 수동 추적합니다.</a:t>
            </a:r>
          </a:p>
          <a:p xmlns:a="http://schemas.openxmlformats.org/drawingml/2006/main">
            <a:r>
              <a:t/>
            </a:r>
          </a:p>
          <a:p xmlns:a="http://schemas.openxmlformats.org/drawingml/2006/main">
            <a:r>
              <a:t>- [A15_input.md](examples/course/data/A15_input.md)</a:t>
            </a:r>
          </a:p>
          <a:p xmlns:a="http://schemas.openxmlformats.org/drawingml/2006/main">
            <a:r>
              <a:t>- [A15_example.py](examples/course/code/A15_example.py)</a:t>
            </a:r>
          </a:p>
          <a:p xmlns:a="http://schemas.openxmlformats.org/drawingml/2006/main">
            <a:r>
              <a:t>- [A15_notes.md](examples/course/work/A15_notes.md)</a:t>
            </a:r>
          </a:p>
          <a:p xmlns:a="http://schemas.openxmlformats.org/drawingml/2006/main">
            <a:r>
              <a:t>- [A15_example.py](examples/course/work/A15_example.py)</a:t>
            </a:r>
          </a:p>
          <a:p xmlns:a="http://schemas.openxmlformats.org/drawingml/2006/main">
            <a:r>
              <a:t/>
            </a:r>
          </a:p>
          <a:p xmlns:a="http://schemas.openxmlformats.org/drawingml/2006/main">
            <a:r>
              <a:t>**단계**</a:t>
            </a:r>
          </a:p>
          <a:p xmlns:a="http://schemas.openxmlformats.org/drawingml/2006/main">
            <a:r>
              <a:t/>
            </a:r>
          </a:p>
          <a:p xmlns:a="http://schemas.openxmlformats.org/drawingml/2006/main">
            <a:r>
              <a:t>1. 각 차례의 온도·조건 결과·누적 count를 표로 씁니다.</a:t>
            </a:r>
          </a:p>
          <a:p xmlns:a="http://schemas.openxmlformats.org/drawingml/2006/main">
            <a:r>
              <a:t>2. 초과를 이상으로 바꾸었을 때 영향을 받는 값을 표시합니다.</a:t>
            </a:r>
          </a:p>
          <a:p xmlns:a="http://schemas.openxmlformats.org/drawingml/2006/main">
            <a:r>
              <a:t>3. 연산자 한 곳을 바꾸고 결과를 대조합니다.</a:t>
            </a:r>
          </a:p>
          <a:p xmlns:a="http://schemas.openxmlformats.org/drawingml/2006/main">
            <a:r>
              <a:t>4. count의 준비 위치를 반복 앞에 둔 이유를 설명합니다.</a:t>
            </a:r>
          </a:p>
          <a:p xmlns:a="http://schemas.openxmlformats.org/drawingml/2006/main">
            <a:r>
              <a:t/>
            </a:r>
          </a:p>
          <a:p xmlns:a="http://schemas.openxmlformats.org/drawingml/2006/main">
            <a:r>
              <a:t>**예상 결과:** 초과는 1건, 이상은 2건이며 경계값 24.0이 차이를 만듭니다.</a:t>
            </a:r>
          </a:p>
          <a:p xmlns:a="http://schemas.openxmlformats.org/drawingml/2006/main">
            <a:r>
              <a:t/>
            </a:r>
          </a:p>
          <a:p xmlns:a="http://schemas.openxmlformats.org/drawingml/2006/main">
            <a:r>
              <a:t>**확인 방법:** 한 번의 print인데 세 항목을 검사할 수 있는 이유는 무엇인가요?</a:t>
            </a:r>
          </a:p>
          <a:p xmlns:a="http://schemas.openxmlformats.org/drawingml/2006/main">
            <a:r>
              <a:t/>
            </a:r>
          </a:p>
          <a:p xmlns:a="http://schemas.openxmlformats.org/drawingml/2006/main">
            <a:r>
              <a:t>**오류 해결:** 건수가 항상 0 또는 1이면 초기화 위치와 누적 줄의 들여쓰기를 확인합니다.</a:t>
            </a:r>
          </a:p>
          <a:p xmlns:a="http://schemas.openxmlformats.org/drawingml/2006/main">
            <a:r>
              <a:t/>
            </a:r>
          </a:p>
          <a:p xmlns:a="http://schemas.openxmlformats.org/drawingml/2006/main">
            <a:r>
              <a:t>## A16 · 관찰 한 건과 점검표 구조</a:t>
            </a:r>
          </a:p>
          <a:p xmlns:a="http://schemas.openxmlformats.org/drawingml/2006/main">
            <a:r>
              <a:t/>
            </a:r>
          </a:p>
          <a:p xmlns:a="http://schemas.openxmlformats.org/drawingml/2006/main">
            <a:r>
              <a:t>**목적:** 온도만 나열하면 어느 센서인지 놓치기 쉽습니다. 식별자와 온도를 한 기록으로 묶어 처리하면 출력의 대상을 분명히 할 수 있습니다. 오늘은 제공된 구조를 읽고 한 값만 바꿉니다.</a:t>
            </a:r>
          </a:p>
          <a:p xmlns:a="http://schemas.openxmlformats.org/drawingml/2006/main">
            <a:r>
              <a:t/>
            </a:r>
          </a:p>
          <a:p xmlns:a="http://schemas.openxmlformats.org/drawingml/2006/main">
            <a:r>
              <a:t>**준비:** 원자료와 작업 파일을 나란히 엽니다. 원본은 보존하고 work 파일에 기록합니다. 실행 환경이 없으면 같은 입력·코드·출력으로 수동 추적합니다.</a:t>
            </a:r>
          </a:p>
          <a:p xmlns:a="http://schemas.openxmlformats.org/drawingml/2006/main">
            <a:r>
              <a:t/>
            </a:r>
          </a:p>
          <a:p xmlns:a="http://schemas.openxmlformats.org/drawingml/2006/main">
            <a:r>
              <a:t>- [A16_input.md](examples/course/data/A16_input.md)</a:t>
            </a:r>
          </a:p>
          <a:p xmlns:a="http://schemas.openxmlformats.org/drawingml/2006/main">
            <a:r>
              <a:t>- [A16_example.py](examples/course/code/A16_example.py)</a:t>
            </a:r>
          </a:p>
          <a:p xmlns:a="http://schemas.openxmlformats.org/drawingml/2006/main">
            <a:r>
              <a:t>- [A16_notes.md](examples/course/work/A16_notes.md)</a:t>
            </a:r>
          </a:p>
          <a:p xmlns:a="http://schemas.openxmlformats.org/drawingml/2006/main">
            <a:r>
              <a:t>- [A16_example.py](examples/course/work/A16_example.py)</a:t>
            </a:r>
          </a:p>
          <a:p xmlns:a="http://schemas.openxmlformats.org/drawingml/2006/main">
            <a:r>
              <a:t/>
            </a:r>
          </a:p>
          <a:p xmlns:a="http://schemas.openxmlformats.org/drawingml/2006/main">
            <a:r>
              <a:t>**단계**</a:t>
            </a:r>
          </a:p>
          <a:p xmlns:a="http://schemas.openxmlformats.org/drawingml/2006/main">
            <a:r>
              <a:t/>
            </a:r>
          </a:p>
          <a:p xmlns:a="http://schemas.openxmlformats.org/drawingml/2006/main">
            <a:r>
              <a:t>1. 바깥 리스트와 안쪽 딕셔너리를 표시합니다.</a:t>
            </a:r>
          </a:p>
          <a:p xmlns:a="http://schemas.openxmlformats.org/drawingml/2006/main">
            <a:r>
              <a:t>2. S02의 온도를 바꾸었을 때 어느 출력만 바뀌는지 예상합니다.</a:t>
            </a:r>
          </a:p>
          <a:p xmlns:a="http://schemas.openxmlformats.org/drawingml/2006/main">
            <a:r>
              <a:t>3. 값 한 곳을 수정해 출력과 관찰 대상이 유지되는지 확인합니다.</a:t>
            </a:r>
          </a:p>
          <a:p xmlns:a="http://schemas.openxmlformats.org/drawingml/2006/main">
            <a:r>
              <a:t>4. 표의 한 행과 record의 관계를 문장으로 설명합니다.</a:t>
            </a:r>
          </a:p>
          <a:p xmlns:a="http://schemas.openxmlformats.org/drawingml/2006/main">
            <a:r>
              <a:t/>
            </a:r>
          </a:p>
          <a:p xmlns:a="http://schemas.openxmlformats.org/drawingml/2006/main">
            <a:r>
              <a:t>**예상 결과:** S02의 온도만 25.0으로 바뀝니다. 기록 수는 두 건입니다.</a:t>
            </a:r>
          </a:p>
          <a:p xmlns:a="http://schemas.openxmlformats.org/drawingml/2006/main">
            <a:r>
              <a:t/>
            </a:r>
          </a:p>
          <a:p xmlns:a="http://schemas.openxmlformats.org/drawingml/2006/main">
            <a:r>
              <a:t>**확인 방법:** 딕셔너리 키 temperature_c를 오타로 읽으면 무엇부터 확인하나요?</a:t>
            </a:r>
          </a:p>
          <a:p xmlns:a="http://schemas.openxmlformats.org/drawingml/2006/main">
            <a:r>
              <a:t/>
            </a:r>
          </a:p>
          <a:p xmlns:a="http://schemas.openxmlformats.org/drawingml/2006/main">
            <a:r>
              <a:t>**오류 해결:** 괄호 짝을 찾기 어렵다면 먼저 리스트 외곽, 다음 각 딕셔너리 외곽을 따로 표시합니다.</a:t>
            </a:r>
          </a:p>
          <a:p xmlns:a="http://schemas.openxmlformats.org/drawingml/2006/main">
            <a:r>
              <a:t/>
            </a:r>
          </a:p>
          <a:p xmlns:a="http://schemas.openxmlformats.org/drawingml/2006/main">
            <a:r>
              <a:t>## A17 · 수업용 센서 요약 완성 예제</a:t>
            </a:r>
          </a:p>
          <a:p xmlns:a="http://schemas.openxmlformats.org/drawingml/2006/main">
            <a:r>
              <a:t/>
            </a:r>
          </a:p>
          <a:p xmlns:a="http://schemas.openxmlformats.org/drawingml/2006/main">
            <a:r>
              <a:t>**목적:** 실무에서는 한 줄의 문법을 아는 것과 여러 단계가 연결된 프로그램을 읽는 것이 다릅니다. 준비한 입력, 각 차례의 처리, 최종 출력을 나누어 표시하면 긴 코드도 추적할 수 있습니다.</a:t>
            </a:r>
          </a:p>
          <a:p xmlns:a="http://schemas.openxmlformats.org/drawingml/2006/main">
            <a:r>
              <a:t/>
            </a:r>
          </a:p>
          <a:p xmlns:a="http://schemas.openxmlformats.org/drawingml/2006/main">
            <a:r>
              <a:t>**준비:** 원자료와 작업 파일을 나란히 엽니다. 원본은 보존하고 work 파일에 기록합니다. 실행 환경이 없으면 같은 입력·코드·출력으로 수동 추적합니다.</a:t>
            </a:r>
          </a:p>
          <a:p xmlns:a="http://schemas.openxmlformats.org/drawingml/2006/main">
            <a:r>
              <a:t/>
            </a:r>
          </a:p>
          <a:p xmlns:a="http://schemas.openxmlformats.org/drawingml/2006/main">
            <a:r>
              <a:t>- [A17_input.md](examples/course/data/A17_input.md)</a:t>
            </a:r>
          </a:p>
          <a:p xmlns:a="http://schemas.openxmlformats.org/drawingml/2006/main">
            <a:r>
              <a:t>- [A17_sensor_summary.py](examples/course/code/A17_sensor_summary.py)</a:t>
            </a:r>
          </a:p>
          <a:p xmlns:a="http://schemas.openxmlformats.org/drawingml/2006/main">
            <a:r>
              <a:t>- [A17_notes.md](examples/course/work/A17_notes.md)</a:t>
            </a:r>
          </a:p>
          <a:p xmlns:a="http://schemas.openxmlformats.org/drawingml/2006/main">
            <a:r>
              <a:t>- [A17_sensor_summary.py](examples/course/work/A17_sensor_summary.py)</a:t>
            </a:r>
          </a:p>
          <a:p xmlns:a="http://schemas.openxmlformats.org/drawingml/2006/main">
            <a:r>
              <a:t/>
            </a:r>
          </a:p>
          <a:p xmlns:a="http://schemas.openxmlformats.org/drawingml/2006/main">
            <a:r>
              <a:t>**단계**</a:t>
            </a:r>
          </a:p>
          <a:p xmlns:a="http://schemas.openxmlformats.org/drawingml/2006/main">
            <a:r>
              <a:t/>
            </a:r>
          </a:p>
          <a:p xmlns:a="http://schemas.openxmlformats.org/drawingml/2006/main">
            <a:r>
              <a:t>1. 각 기록의 입력·조건·예상 상태를 작성합니다.</a:t>
            </a:r>
          </a:p>
          <a:p xmlns:a="http://schemas.openxmlformats.org/drawingml/2006/main">
            <a:r>
              <a:t>2. limit만 25.0으로 바꾸고 달라질 기록을 고릅니다.</a:t>
            </a:r>
          </a:p>
          <a:p xmlns:a="http://schemas.openxmlformats.org/drawingml/2006/main">
            <a:r>
              <a:t>3. 전체 파일을 저장·실행하고 세 출력 줄을 대조합니다.</a:t>
            </a:r>
          </a:p>
          <a:p xmlns:a="http://schemas.openxmlformats.org/drawingml/2006/main">
            <a:r>
              <a:t>4. 미측정 처리와 기준 비교의 실행 순서를 짝에게 설명합니다.</a:t>
            </a:r>
          </a:p>
          <a:p xmlns:a="http://schemas.openxmlformats.org/drawingml/2006/main">
            <a:r>
              <a:t/>
            </a:r>
          </a:p>
          <a:p xmlns:a="http://schemas.openxmlformats.org/drawingml/2006/main">
            <a:r>
              <a:t>**예상 결과:** 기준을 25.0으로 바꾸면 S02는 같은 값이므로 정상이며 S03은 계속 미측정입니다.</a:t>
            </a:r>
          </a:p>
          <a:p xmlns:a="http://schemas.openxmlformats.org/drawingml/2006/main">
            <a:r>
              <a:t/>
            </a:r>
          </a:p>
          <a:p xmlns:a="http://schemas.openxmlformats.org/drawingml/2006/main">
            <a:r>
              <a:t>**확인 방법:** 기준만 바꿨는데 미측정 상태가 달라진다면 무엇을 점검해야 할까요?</a:t>
            </a:r>
          </a:p>
          <a:p xmlns:a="http://schemas.openxmlformats.org/drawingml/2006/main">
            <a:r>
              <a:t/>
            </a:r>
          </a:p>
          <a:p xmlns:a="http://schemas.openxmlformats.org/drawingml/2006/main">
            <a:r>
              <a:t>**오류 해결:** 한꺼번에 여러 곳을 수정하지 않습니다. 원본과 작업본을 나란히 보고 지정한 기준 한 곳부터 다시 비교합니다.</a:t>
            </a:r>
          </a:p>
          <a:p xmlns:a="http://schemas.openxmlformats.org/drawingml/2006/main">
            <a:r>
              <a:t/>
            </a:r>
          </a:p>
          <a:p xmlns:a="http://schemas.openxmlformats.org/drawingml/2006/main">
            <a:r>
              <a:t>## A18 · 새 입력 검수와 실행 인계</a:t>
            </a:r>
          </a:p>
          <a:p xmlns:a="http://schemas.openxmlformats.org/drawingml/2006/main">
            <a:r>
              <a:t/>
            </a:r>
          </a:p>
          <a:p xmlns:a="http://schemas.openxmlformats.org/drawingml/2006/main">
            <a:r>
              <a:t>추가 원문·작업 파일:</a:t>
            </a:r>
          </a:p>
          <a:p xmlns:a="http://schemas.openxmlformats.org/drawingml/2006/main">
            <a:r>
              <a:t/>
            </a:r>
          </a:p>
          <a:p xmlns:a="http://schemas.openxmlformats.org/drawingml/2006/main">
            <a:r>
              <a:t>- [A18_input.md](examples/course/data/A18_input.md)</a:t>
            </a:r>
          </a:p>
          <a:p xmlns:a="http://schemas.openxmlformats.org/drawingml/2006/main">
            <a:r>
              <a:t>- [A18_notes.md](examples/course/work/A18_notes.md)</a:t>
            </a:r>
          </a:p>
          <a:p xmlns:a="http://schemas.openxmlformats.org/drawingml/2006/main">
            <a:r>
              <a:t>- [A18_final.py](examples/course/work/A18_final.py)</a:t>
            </a:r>
          </a:p>
          <a:p xmlns:a="http://schemas.openxmlformats.org/drawingml/2006/main">
            <a:r>
              <a:t/>
            </a:r>
          </a:p>
          <a:p xmlns:a="http://schemas.openxmlformats.org/drawingml/2006/main">
            <a:r>
              <a:t>**목적:** 새 입력에서 경계값과 미측정을 다시 확인하면 예제 답을 외운 것인지 원리를 이해했는지 볼 수 있습니다. 실행하지 못한 경우에는 예상·강사 관찰·개인 실행을 정확히 구별합니다.</a:t>
            </a:r>
          </a:p>
          <a:p xmlns:a="http://schemas.openxmlformats.org/drawingml/2006/main">
            <a:r>
              <a:t/>
            </a:r>
          </a:p>
          <a:p xmlns:a="http://schemas.openxmlformats.org/drawingml/2006/main">
            <a:r>
              <a:t>**준비:** 원자료와 작업 파일을 나란히 엽니다. 원본은 보존하고 work 파일에 기록합니다. 실행 환경이 없으면 같은 입력·코드·출력으로 수동 추적합니다.</a:t>
            </a:r>
          </a:p>
          <a:p xmlns:a="http://schemas.openxmlformats.org/drawingml/2006/main">
            <a:r>
              <a:t/>
            </a:r>
          </a:p>
          <a:p xmlns:a="http://schemas.openxmlformats.org/drawingml/2006/main">
            <a:r>
              <a:t>- [A18_input.md](examples/course/data/A18_input.md)</a:t>
            </a:r>
          </a:p>
          <a:p xmlns:a="http://schemas.openxmlformats.org/drawingml/2006/main">
            <a:r>
              <a:t>- [A18_notes.md](examples/course/work/A18_notes.md)</a:t>
            </a:r>
          </a:p>
          <a:p xmlns:a="http://schemas.openxmlformats.org/drawingml/2006/main">
            <a:r>
              <a:t/>
            </a:r>
          </a:p>
          <a:p xmlns:a="http://schemas.openxmlformats.org/drawingml/2006/main">
            <a:r>
              <a:t>**단계**</a:t>
            </a:r>
          </a:p>
          <a:p xmlns:a="http://schemas.openxmlformats.org/drawingml/2006/main">
            <a:r>
              <a:t/>
            </a:r>
          </a:p>
          <a:p xmlns:a="http://schemas.openxmlformats.org/drawingml/2006/main">
            <a:r>
              <a:t>1. 새 관찰 세 개의 예상 상태와 근거를 적습니다.</a:t>
            </a:r>
          </a:p>
          <a:p xmlns:a="http://schemas.openxmlformats.org/drawingml/2006/main">
            <a:r>
              <a:t>2. A17 구조를 재사용해 work/A18_final.py의 기록 목록을 새 자료로 바꿉니다.</a:t>
            </a:r>
          </a:p>
          <a:p xmlns:a="http://schemas.openxmlformats.org/drawingml/2006/main">
            <a:r>
              <a:t>3. 같은 기준으로 실행하거나 제공 출력과 수동 대조하고 확인 방식을 기록합니다.</a:t>
            </a:r>
          </a:p>
          <a:p xmlns:a="http://schemas.openxmlformats.org/drawingml/2006/main">
            <a:r>
              <a:t>4. 짝이 같은 파일을 찾고 결과를 설명할 수 있게 인계 세 문장을 씁니다.</a:t>
            </a:r>
          </a:p>
          <a:p xmlns:a="http://schemas.openxmlformats.org/drawingml/2006/main">
            <a:r>
              <a:t/>
            </a:r>
          </a:p>
          <a:p xmlns:a="http://schemas.openxmlformats.org/drawingml/2006/main">
            <a:r>
              <a:t>**예상 결과:** S04 정상, S05 정상, S06 미측정. 0.0과 None이 다르게 처리됩니다.</a:t>
            </a:r>
          </a:p>
          <a:p xmlns:a="http://schemas.openxmlformats.org/drawingml/2006/main">
            <a:r>
              <a:t/>
            </a:r>
          </a:p>
          <a:p xmlns:a="http://schemas.openxmlformats.org/drawingml/2006/main">
            <a:r>
              <a:t>**확인 방법:** 내일 파일에서 읽은 "24.0"을 그대로 이 코드에 넣으면 무엇이 추가로 필요할까요?</a:t>
            </a:r>
          </a:p>
          <a:p xmlns:a="http://schemas.openxmlformats.org/drawingml/2006/main">
            <a:r>
              <a:t/>
            </a:r>
          </a:p>
          <a:p xmlns:a="http://schemas.openxmlformats.org/drawingml/2006/main">
            <a:r>
              <a:t>**오류 해결:** 새 파일이 실행되지 않으면 먼저 원본 A17을 실행해 실행 환경과 새 수정의 문제를 나눕니다. 원본까지 실패하면 환경 단서부터 확인합니다.</a:t>
            </a:r>
          </a:p>
          <a:p xmlns:a="http://schemas.openxmlformats.org/drawingml/2006/main">
            <a:r>
              <a:t/>
            </a:r>
          </a:p>
          <a:p xmlns:a="http://schemas.openxmlformats.org/drawingml/2006/main">
            <a:r>
              <a:t/>
            </a:r>
          </a:p>
          <a:p xmlns:a="http://schemas.openxmlformats.org/drawingml/2006/main">
            <a:r>
              <a:t>자료 위치: D:\KDigital_PhysicalAI\outputs\2026-10-14\practice-guide.md</a:t>
            </a:r>
          </a:p>
          <a:p xmlns:a="http://schemas.openxmlformats.org/drawingml/2006/main">
            <a:r>
              <a:t>웹 교안: https://zeusk302-png.github.io/kdigital-physical-ai/#/sessions/2026-10-14/lesson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9097d02f36c4f1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95214dc9beb4316" /><Relationship Type="http://schemas.openxmlformats.org/officeDocument/2006/relationships/slideLayout" Target="/ppt/slideLayouts/slideLayout1.xml" Id="Red1f6bee7944404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1f6bee7944404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9e2c862a56544ae" /><Relationship Type="http://schemas.openxmlformats.org/officeDocument/2006/relationships/notesSlide" Target="/ppt/notesSlides/notesSlide1.xml" Id="R41c05961480d4b6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64409f37e5e4b73" /><Relationship Type="http://schemas.openxmlformats.org/officeDocument/2006/relationships/notesSlide" Target="/ppt/notesSlides/notesSlide2.xml" Id="R39a74d6a915447e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d26f57c108a4507" /><Relationship Type="http://schemas.openxmlformats.org/officeDocument/2006/relationships/notesSlide" Target="/ppt/notesSlides/notesSlide3.xml" Id="Rc8df24196c3f49e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850e3be580a4baf" /><Relationship Type="http://schemas.openxmlformats.org/officeDocument/2006/relationships/notesSlide" Target="/ppt/notesSlides/notesSlide4.xml" Id="Re1eafc2825a1443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416bea3e0164163" /><Relationship Type="http://schemas.openxmlformats.org/officeDocument/2006/relationships/notesSlide" Target="/ppt/notesSlides/notesSlide5.xml" Id="Rdbe1f6c4482446d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c91f53dee254ba2" /><Relationship Type="http://schemas.openxmlformats.org/officeDocument/2006/relationships/notesSlide" Target="/ppt/notesSlides/notesSlide6.xml" Id="Rb2b3f931e1ce472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f173acb06eb47e2" /><Relationship Type="http://schemas.openxmlformats.org/officeDocument/2006/relationships/notesSlide" Target="/ppt/notesSlides/notesSlide7.xml" Id="Raa315fea2b3a490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2b1f667d5214394" /><Relationship Type="http://schemas.openxmlformats.org/officeDocument/2006/relationships/notesSlide" Target="/ppt/notesSlides/notesSlide8.xml" Id="R0d34aa6b449f441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c8be9d0d29a46b3" /><Relationship Type="http://schemas.openxmlformats.org/officeDocument/2006/relationships/notesSlide" Target="/ppt/notesSlides/notesSlide9.xml" Id="R07a5b10f0d08474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4ab488db6c44d4b" /><Relationship Type="http://schemas.openxmlformats.org/officeDocument/2006/relationships/notesSlide" Target="/ppt/notesSlides/notesSlide10.xml" Id="R7f818fee9f454f7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47a16e032a747af" /><Relationship Type="http://schemas.openxmlformats.org/officeDocument/2006/relationships/notesSlide" Target="/ppt/notesSlides/notesSlide11.xml" Id="R48b60d9f154d40e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de134f1abca4924" /><Relationship Type="http://schemas.openxmlformats.org/officeDocument/2006/relationships/notesSlide" Target="/ppt/notesSlides/notesSlide12.xml" Id="R65f3809ec901463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083c5071b3d4641" /><Relationship Type="http://schemas.openxmlformats.org/officeDocument/2006/relationships/notesSlide" Target="/ppt/notesSlides/notesSlide13.xml" Id="R76b41eac1e47440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c44e687097c4179" /><Relationship Type="http://schemas.openxmlformats.org/officeDocument/2006/relationships/notesSlide" Target="/ppt/notesSlides/notesSlide14.xml" Id="R21451bfe404140e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cc31ac06e964554" /><Relationship Type="http://schemas.openxmlformats.org/officeDocument/2006/relationships/notesSlide" Target="/ppt/notesSlides/notesSlide15.xml" Id="R17c75ebaf9aa40d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ecbb25b8bae4204" /><Relationship Type="http://schemas.openxmlformats.org/officeDocument/2006/relationships/notesSlide" Target="/ppt/notesSlides/notesSlide16.xml" Id="R2af13e964f9749e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7f55f05fb0b4f7d" /><Relationship Type="http://schemas.openxmlformats.org/officeDocument/2006/relationships/notesSlide" Target="/ppt/notesSlides/notesSlide17.xml" Id="Rb3da136d4286492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31177b00ab64cbc" /><Relationship Type="http://schemas.openxmlformats.org/officeDocument/2006/relationships/notesSlide" Target="/ppt/notesSlides/notesSlide18.xml" Id="Rf661a90a2ae3470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1a3901e364d4aea" /><Relationship Type="http://schemas.openxmlformats.org/officeDocument/2006/relationships/notesSlide" Target="/ppt/notesSlides/notesSlide19.xml" Id="R08b9a69f0d4b4ad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0f07892c69f4293" /><Relationship Type="http://schemas.openxmlformats.org/officeDocument/2006/relationships/notesSlide" Target="/ppt/notesSlides/notesSlide20.xml" Id="Rb17eea892198467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38e202a982f4006" /><Relationship Type="http://schemas.openxmlformats.org/officeDocument/2006/relationships/notesSlide" Target="/ppt/notesSlides/notesSlide21.xml" Id="R722fdacd914d4c1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131d7a6446f4fca" /><Relationship Type="http://schemas.openxmlformats.org/officeDocument/2006/relationships/notesSlide" Target="/ppt/notesSlides/notesSlide22.xml" Id="R108816edf0bc4c9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58af3b447284f9a" /><Relationship Type="http://schemas.openxmlformats.org/officeDocument/2006/relationships/notesSlide" Target="/ppt/notesSlides/notesSlide23.xml" Id="Re9dcd3fcfd10421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bbc86774d464c69" /><Relationship Type="http://schemas.openxmlformats.org/officeDocument/2006/relationships/notesSlide" Target="/ppt/notesSlides/notesSlide24.xml" Id="R84ab10d1cc8a40c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27f91ede966422b" /><Relationship Type="http://schemas.openxmlformats.org/officeDocument/2006/relationships/notesSlide" Target="/ppt/notesSlides/notesSlide25.xml" Id="R2a42fda7e36545d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cb0ee8d3dc04a1c" /><Relationship Type="http://schemas.openxmlformats.org/officeDocument/2006/relationships/notesSlide" Target="/ppt/notesSlides/notesSlide26.xml" Id="R0ca932c78c8b4a8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8eeea757bbb4846" /><Relationship Type="http://schemas.openxmlformats.org/officeDocument/2006/relationships/notesSlide" Target="/ppt/notesSlides/notesSlide27.xml" Id="R0ef06dc0fc7a477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293c7cf751f4946" /><Relationship Type="http://schemas.openxmlformats.org/officeDocument/2006/relationships/notesSlide" Target="/ppt/notesSlides/notesSlide28.xml" Id="R0ea4d5e7302d4dd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e27c79ce40e44dd6" /><Relationship Type="http://schemas.openxmlformats.org/officeDocument/2006/relationships/notesSlide" Target="/ppt/notesSlides/notesSlide29.xml" Id="R861e0197f37842a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8f8818f507544a1" /><Relationship Type="http://schemas.openxmlformats.org/officeDocument/2006/relationships/notesSlide" Target="/ppt/notesSlides/notesSlide30.xml" Id="R8b9067ae6aa045f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8af4ffa01c474ce9" /><Relationship Type="http://schemas.openxmlformats.org/officeDocument/2006/relationships/notesSlide" Target="/ppt/notesSlides/notesSlide31.xml" Id="Ra319a71f55c74b4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2d2837bcb8cb4c01" /><Relationship Type="http://schemas.openxmlformats.org/officeDocument/2006/relationships/notesSlide" Target="/ppt/notesSlides/notesSlide32.xml" Id="Rda13d209e801450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d824abc9498c466f" /><Relationship Type="http://schemas.openxmlformats.org/officeDocument/2006/relationships/notesSlide" Target="/ppt/notesSlides/notesSlide33.xml" Id="R481cf97ae9b74a3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fa0beaaf8f574fc6" /><Relationship Type="http://schemas.openxmlformats.org/officeDocument/2006/relationships/notesSlide" Target="/ppt/notesSlides/notesSlide34.xml" Id="R6e0439ee421643f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b130adfb83ae4866" /><Relationship Type="http://schemas.openxmlformats.org/officeDocument/2006/relationships/notesSlide" Target="/ppt/notesSlides/notesSlide35.xml" Id="Rced04f94966a464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04aeec7168a74ad8" /><Relationship Type="http://schemas.openxmlformats.org/officeDocument/2006/relationships/notesSlide" Target="/ppt/notesSlides/notesSlide36.xml" Id="R465e67ef2b3c411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583f21fe352a4e55" /><Relationship Type="http://schemas.openxmlformats.org/officeDocument/2006/relationships/notesSlide" Target="/ppt/notesSlides/notesSlide37.xml" Id="R8eff995038be4bca"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59b8da22d45245e2" /><Relationship Type="http://schemas.openxmlformats.org/officeDocument/2006/relationships/notesSlide" Target="/ppt/notesSlides/notesSlide38.xml" Id="Rdbc389d0034e403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bdf398a906a54c60" /><Relationship Type="http://schemas.openxmlformats.org/officeDocument/2006/relationships/notesSlide" Target="/ppt/notesSlides/notesSlide39.xml" Id="Rc38e3fc2ad27438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35b58c597b874616" /><Relationship Type="http://schemas.openxmlformats.org/officeDocument/2006/relationships/notesSlide" Target="/ppt/notesSlides/notesSlide40.xml" Id="R7facefd085b34a8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2821ae6033f94dd4" /><Relationship Type="http://schemas.openxmlformats.org/officeDocument/2006/relationships/notesSlide" Target="/ppt/notesSlides/notesSlide41.xml" Id="R55659f379586477d"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f6f43631412a4ff3" /><Relationship Type="http://schemas.openxmlformats.org/officeDocument/2006/relationships/notesSlide" Target="/ppt/notesSlides/notesSlide42.xml" Id="R5913531cbead4c45"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81205ea05d934e9b" /><Relationship Type="http://schemas.openxmlformats.org/officeDocument/2006/relationships/notesSlide" Target="/ppt/notesSlides/notesSlide43.xml" Id="Rcc5237a8529d485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e8d697e5087e408c" /><Relationship Type="http://schemas.openxmlformats.org/officeDocument/2006/relationships/notesSlide" Target="/ppt/notesSlides/notesSlide44.xml" Id="R756bf2adc3554eed"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c308b76627a64d4b" /><Relationship Type="http://schemas.openxmlformats.org/officeDocument/2006/relationships/notesSlide" Target="/ppt/notesSlides/notesSlide45.xml" Id="R7047455d47b540e9"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c081a5ee3b78410d" /><Relationship Type="http://schemas.openxmlformats.org/officeDocument/2006/relationships/notesSlide" Target="/ppt/notesSlides/notesSlide46.xml" Id="R37ba525a2a2b4fbd"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ec5f6eeebce944a2" /><Relationship Type="http://schemas.openxmlformats.org/officeDocument/2006/relationships/notesSlide" Target="/ppt/notesSlides/notesSlide47.xml" Id="Reecc19eb5e0a4c0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8e56bc14550e4e2a" /><Relationship Type="http://schemas.openxmlformats.org/officeDocument/2006/relationships/notesSlide" Target="/ppt/notesSlides/notesSlide48.xml" Id="R9292592f868c4082"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7e3a1e60038a4d4c" /><Relationship Type="http://schemas.openxmlformats.org/officeDocument/2006/relationships/notesSlide" Target="/ppt/notesSlides/notesSlide49.xml" Id="Rbe7900fe4e2a4da9"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461df51b982949ec" /><Relationship Type="http://schemas.openxmlformats.org/officeDocument/2006/relationships/notesSlide" Target="/ppt/notesSlides/notesSlide50.xml" Id="R308f5a2e2689463f"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77b20104887c4a98" /><Relationship Type="http://schemas.openxmlformats.org/officeDocument/2006/relationships/notesSlide" Target="/ppt/notesSlides/notesSlide51.xml" Id="Rca0f6cc2c6c54daa"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a9e8bae3b9d045a6" /><Relationship Type="http://schemas.openxmlformats.org/officeDocument/2006/relationships/notesSlide" Target="/ppt/notesSlides/notesSlide52.xml" Id="Rf73e5c60752045ad"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2667514d55164a13" /><Relationship Type="http://schemas.openxmlformats.org/officeDocument/2006/relationships/notesSlide" Target="/ppt/notesSlides/notesSlide53.xml" Id="R515e41e358d54873"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6d5421782fc447ef" /><Relationship Type="http://schemas.openxmlformats.org/officeDocument/2006/relationships/notesSlide" Target="/ppt/notesSlides/notesSlide54.xml" Id="R510698e803d54b28"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4a3d78e217014dc6" /><Relationship Type="http://schemas.openxmlformats.org/officeDocument/2006/relationships/notesSlide" Target="/ppt/notesSlides/notesSlide55.xml" Id="Rbc88dd7c7cd4448a"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f0398c1ef6cc45fc" /><Relationship Type="http://schemas.openxmlformats.org/officeDocument/2006/relationships/notesSlide" Target="/ppt/notesSlides/notesSlide56.xml" Id="R0ee13d16718b4b3b"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40ec5536a5b141ea" /><Relationship Type="http://schemas.openxmlformats.org/officeDocument/2006/relationships/notesSlide" Target="/ppt/notesSlides/notesSlide57.xml" Id="R1c93d75262634540"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72c6417945ad4022" /><Relationship Type="http://schemas.openxmlformats.org/officeDocument/2006/relationships/notesSlide" Target="/ppt/notesSlides/notesSlide58.xml" Id="R49b85eaf8c134f47"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3771f812fafc49e4" /><Relationship Type="http://schemas.openxmlformats.org/officeDocument/2006/relationships/notesSlide" Target="/ppt/notesSlides/notesSlide59.xml" Id="R3e848319fedf4b59"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4b2e928b4f6943c1" /><Relationship Type="http://schemas.openxmlformats.org/officeDocument/2006/relationships/notesSlide" Target="/ppt/notesSlides/notesSlide60.xml" Id="Ra81ae4a386b74904"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01d5bf69d7c64334" /><Relationship Type="http://schemas.openxmlformats.org/officeDocument/2006/relationships/notesSlide" Target="/ppt/notesSlides/notesSlide61.xml" Id="R6285bc9435164229"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c8d8735a170d4f96" /><Relationship Type="http://schemas.openxmlformats.org/officeDocument/2006/relationships/notesSlide" Target="/ppt/notesSlides/notesSlide62.xml" Id="R993f107674e54fde"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3e11c77e34094d5f" /><Relationship Type="http://schemas.openxmlformats.org/officeDocument/2006/relationships/notesSlide" Target="/ppt/notesSlides/notesSlide63.xml" Id="R772a192ae0f84ae0"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f8a70dd00bea4654" /><Relationship Type="http://schemas.openxmlformats.org/officeDocument/2006/relationships/notesSlide" Target="/ppt/notesSlides/notesSlide64.xml" Id="R16b878bc498b4d3b"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677c20bfe59c4f39" /><Relationship Type="http://schemas.openxmlformats.org/officeDocument/2006/relationships/notesSlide" Target="/ppt/notesSlides/notesSlide65.xml" Id="Rbdda90c3880542e2"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2c8c1c01c080407e" /><Relationship Type="http://schemas.openxmlformats.org/officeDocument/2006/relationships/notesSlide" Target="/ppt/notesSlides/notesSlide66.xml" Id="R4ef5cff98d5d450f"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8d37dab600ab43ce" /><Relationship Type="http://schemas.openxmlformats.org/officeDocument/2006/relationships/notesSlide" Target="/ppt/notesSlides/notesSlide67.xml" Id="Rfc87896d34b3460a"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12971a2dbc814adc" /><Relationship Type="http://schemas.openxmlformats.org/officeDocument/2006/relationships/notesSlide" Target="/ppt/notesSlides/notesSlide68.xml" Id="R3a3a45dd2c8d4ed0"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43ce9c68328b4b80" /><Relationship Type="http://schemas.openxmlformats.org/officeDocument/2006/relationships/notesSlide" Target="/ppt/notesSlides/notesSlide69.xml" Id="Rfb65a6ca82ee4289"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216549bb657b4266" /><Relationship Type="http://schemas.openxmlformats.org/officeDocument/2006/relationships/notesSlide" Target="/ppt/notesSlides/notesSlide70.xml" Id="Rfe978d9ab35f4026"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9bb2527a05ac483b" /><Relationship Type="http://schemas.openxmlformats.org/officeDocument/2006/relationships/notesSlide" Target="/ppt/notesSlides/notesSlide71.xml" Id="R35b6fb9da3d14b58"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c61236d3ccb844c4" /><Relationship Type="http://schemas.openxmlformats.org/officeDocument/2006/relationships/notesSlide" Target="/ppt/notesSlides/notesSlide72.xml" Id="Reff6cd9b48114a9f"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58010211e6bf4656" /><Relationship Type="http://schemas.openxmlformats.org/officeDocument/2006/relationships/notesSlide" Target="/ppt/notesSlides/notesSlide73.xml" Id="R6f97526279264572"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f5af95f8d0804b28" /><Relationship Type="http://schemas.openxmlformats.org/officeDocument/2006/relationships/notesSlide" Target="/ppt/notesSlides/notesSlide74.xml" Id="R0e7579c086c64b0a"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a069f9e7b2ce4a07" /><Relationship Type="http://schemas.openxmlformats.org/officeDocument/2006/relationships/notesSlide" Target="/ppt/notesSlides/notesSlide75.xml" Id="R39d4c3f174ed4c5b"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39fd8eb0249f47bd" /><Relationship Type="http://schemas.openxmlformats.org/officeDocument/2006/relationships/notesSlide" Target="/ppt/notesSlides/notesSlide76.xml" Id="R6557fb2f81234e24"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3ae5d12ca83e43b6" /><Relationship Type="http://schemas.openxmlformats.org/officeDocument/2006/relationships/notesSlide" Target="/ppt/notesSlides/notesSlide77.xml" Id="Rd47424825aa44d2b"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7416e46c8aa94be8" /><Relationship Type="http://schemas.openxmlformats.org/officeDocument/2006/relationships/notesSlide" Target="/ppt/notesSlides/notesSlide78.xml" Id="R2c38618ead3647c4"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6c42c3ac2ccd44b9" /><Relationship Type="http://schemas.openxmlformats.org/officeDocument/2006/relationships/notesSlide" Target="/ppt/notesSlides/notesSlide79.xml" Id="R2380b424b31843b4"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0d000367f36c46dc" /><Relationship Type="http://schemas.openxmlformats.org/officeDocument/2006/relationships/notesSlide" Target="/ppt/notesSlides/notesSlide80.xml" Id="Rabd02605b6b447d9"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5607b607a1e14066" /><Relationship Type="http://schemas.openxmlformats.org/officeDocument/2006/relationships/notesSlide" Target="/ppt/notesSlides/notesSlide81.xml" Id="Rd3cbd6cbfd074539"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17a8eac031964f30" /><Relationship Type="http://schemas.openxmlformats.org/officeDocument/2006/relationships/notesSlide" Target="/ppt/notesSlides/notesSlide82.xml" Id="R467b6aceb8ee4bc3"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6dd078e7991f4b9d" /><Relationship Type="http://schemas.openxmlformats.org/officeDocument/2006/relationships/notesSlide" Target="/ppt/notesSlides/notesSlide83.xml" Id="R178fb9fbf5604da4"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1e526aa58ef0455d" /><Relationship Type="http://schemas.openxmlformats.org/officeDocument/2006/relationships/notesSlide" Target="/ppt/notesSlides/notesSlide84.xml" Id="Ra21ea39b1a164ee5"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7a40b3f90c4e407a" /><Relationship Type="http://schemas.openxmlformats.org/officeDocument/2006/relationships/notesSlide" Target="/ppt/notesSlides/notesSlide85.xml" Id="R06c1a9cc2bfa4aa8"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8e9ab8ac9bd64d90" /><Relationship Type="http://schemas.openxmlformats.org/officeDocument/2006/relationships/notesSlide" Target="/ppt/notesSlides/notesSlide86.xml" Id="R27a190935cf541e0"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61c0b6e1cfde4284" /><Relationship Type="http://schemas.openxmlformats.org/officeDocument/2006/relationships/notesSlide" Target="/ppt/notesSlides/notesSlide87.xml" Id="Rdc7247e7731547b4"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19d7370b6ec546d8" /><Relationship Type="http://schemas.openxmlformats.org/officeDocument/2006/relationships/notesSlide" Target="/ppt/notesSlides/notesSlide88.xml" Id="R168b563e2bfd43a5"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886c51ed39f14b27" /><Relationship Type="http://schemas.openxmlformats.org/officeDocument/2006/relationships/notesSlide" Target="/ppt/notesSlides/notesSlide89.xml" Id="R9b67576bdc8046bb"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d0ef7f8901214f5b" /><Relationship Type="http://schemas.openxmlformats.org/officeDocument/2006/relationships/notesSlide" Target="/ppt/notesSlides/notesSlide90.xml" Id="Rcf1400ac92a14c00"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2b87caeb2041458e" /><Relationship Type="http://schemas.openxmlformats.org/officeDocument/2006/relationships/notesSlide" Target="/ppt/notesSlides/notesSlide91.xml" Id="R03ba6a32f7834935"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214df846c7614de6" /><Relationship Type="http://schemas.openxmlformats.org/officeDocument/2006/relationships/notesSlide" Target="/ppt/notesSlides/notesSlide92.xml" Id="R355514f69edd4851"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03ea1971ce6b4548" /><Relationship Type="http://schemas.openxmlformats.org/officeDocument/2006/relationships/notesSlide" Target="/ppt/notesSlides/notesSlide93.xml" Id="R130d9e19f7eb4838"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0f029f03ef3f4522" /><Relationship Type="http://schemas.openxmlformats.org/officeDocument/2006/relationships/notesSlide" Target="/ppt/notesSlides/notesSlide94.xml" Id="R0d3b2287bf1e4e9a"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ab42bfc890e3447d" /><Relationship Type="http://schemas.openxmlformats.org/officeDocument/2006/relationships/notesSlide" Target="/ppt/notesSlides/notesSlide95.xml" Id="Rc1e62fa7d3cc4963"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xml" Id="Rf274d9e173844b5c" /><Relationship Type="http://schemas.openxmlformats.org/officeDocument/2006/relationships/notesSlide" Target="/ppt/notesSlides/notesSlide96.xml" Id="R3b24738695814a7a"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xml" Id="R66d5b053dc2244c9" /><Relationship Type="http://schemas.openxmlformats.org/officeDocument/2006/relationships/notesSlide" Target="/ppt/notesSlides/notesSlide97.xml" Id="R3e78c1a591d742d5"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xml" Id="R3606b231ddfe4d96" /><Relationship Type="http://schemas.openxmlformats.org/officeDocument/2006/relationships/notesSlide" Target="/ppt/notesSlides/notesSlide98.xml" Id="R377be3801e4349a2" /></Relationships>
</file>

<file path=ppt/slides/_rels/slide99.xml.rels>&#65279;<?xml version="1.0" encoding="utf-8"?><Relationships xmlns="http://schemas.openxmlformats.org/package/2006/relationships"><Relationship Type="http://schemas.openxmlformats.org/officeDocument/2006/relationships/slideLayout" Target="/ppt/slideLayouts/slideLayout1.xml" Id="R59b67d2822304dc2" /><Relationship Type="http://schemas.openxmlformats.org/officeDocument/2006/relationships/notesSlide" Target="/ppt/notesSlides/notesSlide99.xml" Id="R05ce326e8e1e413a" /></Relationships>
</file>

<file path=ppt/slides/slide1.xml><?xml version="1.0" encoding="utf-8"?>
<p:sld xmlns:p="http://schemas.openxmlformats.org/presentationml/2006/main">
  <p:cSld>
    <p:bg>
      <p:bgPr>
        <a:solidFill xmlns:a="http://schemas.openxmlformats.org/drawingml/2006/main">
          <a:srgbClr val="002FA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A7233F1-77D4-4F4C-BEBE-DA344129D7B1}"/>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FFFFFF"/>
                </a:solidFill>
                <a:latin typeface="Arial"/>
                <a:ea typeface="Arial"/>
                <a:cs typeface="Arial"/>
              </a:defRPr>
            </a:pPr>
            <a:r>
              <a:t>K-DIGITAL  /  PHYSICAL AI</a:t>
            </a:r>
          </a:p>
        </p:txBody>
      </p:sp>
      <p:sp>
        <p:nvSpPr>
          <p:cNvPr id="2" name="">
            <a:extLst xmlns:a="http://schemas.openxmlformats.org/drawingml/2006/main">
              <a:ext uri="{FF2B5EF4-FFF2-40B4-BE49-F238E27FC236}">
                <a16:creationId xmlns:a16="http://schemas.microsoft.com/office/drawing/2014/main" id="{E2869742-7ACE-48C5-95BD-A774FED7D6F2}"/>
              </a:ext>
            </a:extLst>
          </p:cNvPr>
          <p:cNvSpPr>
            <a:spLocks xmlns:a="http://schemas.openxmlformats.org/drawingml/2006/main" noGrp="1"/>
          </p:cNvSpPr>
          <p:nvPr/>
        </p:nvSpPr>
        <p:spPr>
          <a:xfrm xmlns:a="http://schemas.openxmlformats.org/drawingml/2006/main">
            <a:off x="590550" y="1476375"/>
            <a:ext cx="106680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6150" b="0">
                <a:solidFill>
                  <a:srgbClr val="FFFFFF"/>
                </a:solidFill>
                <a:latin typeface="Noto Sans KR"/>
                <a:ea typeface="Noto Sans KR"/>
                <a:cs typeface="Noto Sans KR"/>
              </a:defRPr>
            </a:pPr>
            <a:r>
              <a:t>Python 기초</a:t>
            </a:r>
          </a:p>
          <a:p xmlns:a="http://schemas.openxmlformats.org/drawingml/2006/main">
            <a:pPr>
              <a:defRPr sz="6150" b="0">
                <a:solidFill>
                  <a:srgbClr val="FFFFFF"/>
                </a:solidFill>
                <a:latin typeface="Noto Sans KR"/>
                <a:ea typeface="Noto Sans KR"/>
                <a:cs typeface="Noto Sans KR"/>
              </a:defRPr>
            </a:pPr>
            <a:r>
              <a:t>값과 실행 흐름</a:t>
            </a:r>
          </a:p>
        </p:txBody>
      </p:sp>
      <p:sp>
        <p:nvSpPr>
          <p:cNvPr id="3" name="">
            <a:extLst xmlns:a="http://schemas.openxmlformats.org/drawingml/2006/main">
              <a:ext uri="{FF2B5EF4-FFF2-40B4-BE49-F238E27FC236}">
                <a16:creationId xmlns:a16="http://schemas.microsoft.com/office/drawing/2014/main" id="{4E2B6742-E8BE-45A7-B9CD-4A0E4263BFB8}"/>
              </a:ext>
            </a:extLst>
          </p:cNvPr>
          <p:cNvSpPr>
            <a:spLocks xmlns:a="http://schemas.openxmlformats.org/drawingml/2006/main" noGrp="1"/>
          </p:cNvSpPr>
          <p:nvPr/>
        </p:nvSpPr>
        <p:spPr>
          <a:xfrm xmlns:a="http://schemas.openxmlformats.org/drawingml/2006/main">
            <a:off x="628650" y="51054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FFFFFF"/>
                </a:solidFill>
                <a:latin typeface="Noto Sans KR"/>
                <a:ea typeface="Noto Sans KR"/>
                <a:cs typeface="Noto Sans KR"/>
              </a:defRPr>
            </a:pPr>
            <a:r>
              <a:t>2026-10-14</a:t>
            </a:r>
          </a:p>
        </p:txBody>
      </p:sp>
      <p:sp>
        <p:nvSpPr>
          <p:cNvPr id="4" name="">
            <a:extLst xmlns:a="http://schemas.openxmlformats.org/drawingml/2006/main">
              <a:ext uri="{FF2B5EF4-FFF2-40B4-BE49-F238E27FC236}">
                <a16:creationId xmlns:a16="http://schemas.microsoft.com/office/drawing/2014/main" id="{DDD2183F-02C6-43C8-8C1B-93CAF9C63914}"/>
              </a:ext>
            </a:extLst>
          </p:cNvPr>
          <p:cNvSpPr>
            <a:spLocks xmlns:a="http://schemas.openxmlformats.org/drawingml/2006/main" noGrp="1"/>
          </p:cNvSpPr>
          <p:nvPr/>
        </p:nvSpPr>
        <p:spPr>
          <a:xfrm xmlns:a="http://schemas.openxmlformats.org/drawingml/2006/main">
            <a:off x="628650" y="55054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FFFFFF"/>
                </a:solidFill>
                <a:latin typeface="Noto Sans KR"/>
                <a:ea typeface="Noto Sans KR"/>
                <a:cs typeface="Noto Sans KR"/>
              </a:defRPr>
            </a:pPr>
            <a:r>
              <a:t>처음 배우는 사람을 위한 실무 수업</a:t>
            </a:r>
          </a:p>
        </p:txBody>
      </p:sp>
      <p:sp>
        <p:nvSpPr>
          <p:cNvPr id="5" name="">
            <a:extLst xmlns:a="http://schemas.openxmlformats.org/drawingml/2006/main">
              <a:ext uri="{FF2B5EF4-FFF2-40B4-BE49-F238E27FC236}">
                <a16:creationId xmlns:a16="http://schemas.microsoft.com/office/drawing/2014/main" id="{97CB8D19-5AC2-4DB6-BAEB-5EBD6E920581}"/>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C8C358B-76F5-43A8-8774-02E35079077E}"/>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10/14  피지컬AI</a:t>
            </a:r>
          </a:p>
        </p:txBody>
      </p:sp>
      <p:sp>
        <p:nvSpPr>
          <p:cNvPr id="7" name="">
            <a:extLst xmlns:a="http://schemas.openxmlformats.org/drawingml/2006/main">
              <a:ext uri="{FF2B5EF4-FFF2-40B4-BE49-F238E27FC236}">
                <a16:creationId xmlns:a16="http://schemas.microsoft.com/office/drawing/2014/main" id="{67251C4F-76BB-4A78-A17A-731DA2B8BA1B}"/>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001</a:t>
            </a:r>
          </a:p>
        </p:txBody>
      </p:sp>
    </p:spTree>
    <p:extLst>
      <p:ext uri="{BB962C8B-B14F-4D97-AF65-F5344CB8AC3E}">
        <p14:creationId xmlns:p14="http://schemas.microsoft.com/office/powerpoint/2010/main" val="2059147211"/>
      </p:ext>
    </p:extLst>
  </p:cSld>
</p:sld>
</file>

<file path=ppt/slides/slide2.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B2C7053-7834-4BB5-9226-95F6C9023C21}"/>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2026.10.14</a:t>
            </a:r>
          </a:p>
        </p:txBody>
      </p:sp>
      <p:sp>
        <p:nvSpPr>
          <p:cNvPr id="2" name="">
            <a:extLst xmlns:a="http://schemas.openxmlformats.org/drawingml/2006/main">
              <a:ext uri="{FF2B5EF4-FFF2-40B4-BE49-F238E27FC236}">
                <a16:creationId xmlns:a16="http://schemas.microsoft.com/office/drawing/2014/main" id="{A1E14C38-6364-490A-99E3-238C95DC15E6}"/>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하루 수업의 약속</a:t>
            </a:r>
          </a:p>
        </p:txBody>
      </p:sp>
      <p:sp>
        <p:nvSpPr>
          <p:cNvPr id="3" name="">
            <a:extLst xmlns:a="http://schemas.openxmlformats.org/drawingml/2006/main">
              <a:ext uri="{FF2B5EF4-FFF2-40B4-BE49-F238E27FC236}">
                <a16:creationId xmlns:a16="http://schemas.microsoft.com/office/drawing/2014/main" id="{E89D1E9B-8A7A-4AA6-8FBE-63AD2A037263}"/>
              </a:ext>
            </a:extLst>
          </p:cNvPr>
          <p:cNvSpPr>
            <a:spLocks xmlns:a="http://schemas.openxmlformats.org/drawingml/2006/main" noGrp="1"/>
          </p:cNvSpPr>
          <p:nvPr/>
        </p:nvSpPr>
        <p:spPr>
          <a:xfrm xmlns:a="http://schemas.openxmlformats.org/drawingml/2006/main">
            <a:off x="609600" y="241935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01</a:t>
            </a:r>
          </a:p>
        </p:txBody>
      </p:sp>
      <p:sp>
        <p:nvSpPr>
          <p:cNvPr id="4" name="">
            <a:extLst xmlns:a="http://schemas.openxmlformats.org/drawingml/2006/main">
              <a:ext uri="{FF2B5EF4-FFF2-40B4-BE49-F238E27FC236}">
                <a16:creationId xmlns:a16="http://schemas.microsoft.com/office/drawing/2014/main" id="{644D835F-2FFC-40B7-923D-3400121A3233}"/>
              </a:ext>
            </a:extLst>
          </p:cNvPr>
          <p:cNvSpPr>
            <a:spLocks xmlns:a="http://schemas.openxmlformats.org/drawingml/2006/main" noGrp="1"/>
          </p:cNvSpPr>
          <p:nvPr/>
        </p:nvSpPr>
        <p:spPr>
          <a:xfrm xmlns:a="http://schemas.openxmlformats.org/drawingml/2006/main">
            <a:off x="1657350" y="2486025"/>
            <a:ext cx="9906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수업 10:00~17:00 · </a:t>
            </a:r>
            <a:r>
              <a:rPr b="1">
                <a:solidFill>
                  <a:srgbClr val="002FA7"/>
                </a:solidFill>
              </a:rPr>
              <a:t>50분씩 6교시</a:t>
            </a:r>
          </a:p>
        </p:txBody>
      </p:sp>
      <p:sp>
        <p:nvSpPr>
          <p:cNvPr id="5" name="">
            <a:extLst xmlns:a="http://schemas.openxmlformats.org/drawingml/2006/main">
              <a:ext uri="{FF2B5EF4-FFF2-40B4-BE49-F238E27FC236}">
                <a16:creationId xmlns:a16="http://schemas.microsoft.com/office/drawing/2014/main" id="{E17D8780-363D-49BE-ACAE-5CCB54A6E87D}"/>
              </a:ext>
            </a:extLst>
          </p:cNvPr>
          <p:cNvSpPr>
            <a:spLocks xmlns:a="http://schemas.openxmlformats.org/drawingml/2006/main" noGrp="1"/>
          </p:cNvSpPr>
          <p:nvPr/>
        </p:nvSpPr>
        <p:spPr>
          <a:xfrm xmlns:a="http://schemas.openxmlformats.org/drawingml/2006/main">
            <a:off x="1657350" y="3219450"/>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FA6C855-5B65-4F10-B83A-59C77631FAF5}"/>
              </a:ext>
            </a:extLst>
          </p:cNvPr>
          <p:cNvSpPr>
            <a:spLocks xmlns:a="http://schemas.openxmlformats.org/drawingml/2006/main" noGrp="1"/>
          </p:cNvSpPr>
          <p:nvPr/>
        </p:nvSpPr>
        <p:spPr>
          <a:xfrm xmlns:a="http://schemas.openxmlformats.org/drawingml/2006/main">
            <a:off x="609600" y="331470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02</a:t>
            </a:r>
          </a:p>
        </p:txBody>
      </p:sp>
      <p:sp>
        <p:nvSpPr>
          <p:cNvPr id="7" name="">
            <a:extLst xmlns:a="http://schemas.openxmlformats.org/drawingml/2006/main">
              <a:ext uri="{FF2B5EF4-FFF2-40B4-BE49-F238E27FC236}">
                <a16:creationId xmlns:a16="http://schemas.microsoft.com/office/drawing/2014/main" id="{6032C22C-CCBD-4461-AB78-D111BEAEF042}"/>
              </a:ext>
            </a:extLst>
          </p:cNvPr>
          <p:cNvSpPr>
            <a:spLocks xmlns:a="http://schemas.openxmlformats.org/drawingml/2006/main" noGrp="1"/>
          </p:cNvSpPr>
          <p:nvPr/>
        </p:nvSpPr>
        <p:spPr>
          <a:xfrm xmlns:a="http://schemas.openxmlformats.org/drawingml/2006/main">
            <a:off x="1657350" y="3381375"/>
            <a:ext cx="9906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중식 11:50~13:00 · 13:00 복귀</a:t>
            </a:r>
          </a:p>
        </p:txBody>
      </p:sp>
      <p:sp>
        <p:nvSpPr>
          <p:cNvPr id="8" name="">
            <a:extLst xmlns:a="http://schemas.openxmlformats.org/drawingml/2006/main">
              <a:ext uri="{FF2B5EF4-FFF2-40B4-BE49-F238E27FC236}">
                <a16:creationId xmlns:a16="http://schemas.microsoft.com/office/drawing/2014/main" id="{CB6F4DA0-81FF-4C34-9DF9-31C1922DEB73}"/>
              </a:ext>
            </a:extLst>
          </p:cNvPr>
          <p:cNvSpPr>
            <a:spLocks xmlns:a="http://schemas.openxmlformats.org/drawingml/2006/main" noGrp="1"/>
          </p:cNvSpPr>
          <p:nvPr/>
        </p:nvSpPr>
        <p:spPr>
          <a:xfrm xmlns:a="http://schemas.openxmlformats.org/drawingml/2006/main">
            <a:off x="1657350" y="4114800"/>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B6D3155-3456-4458-A334-7E950A26D498}"/>
              </a:ext>
            </a:extLst>
          </p:cNvPr>
          <p:cNvSpPr>
            <a:spLocks xmlns:a="http://schemas.openxmlformats.org/drawingml/2006/main" noGrp="1"/>
          </p:cNvSpPr>
          <p:nvPr/>
        </p:nvSpPr>
        <p:spPr>
          <a:xfrm xmlns:a="http://schemas.openxmlformats.org/drawingml/2006/main">
            <a:off x="609600" y="421005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03</a:t>
            </a:r>
          </a:p>
        </p:txBody>
      </p:sp>
      <p:sp>
        <p:nvSpPr>
          <p:cNvPr id="10" name="">
            <a:extLst xmlns:a="http://schemas.openxmlformats.org/drawingml/2006/main">
              <a:ext uri="{FF2B5EF4-FFF2-40B4-BE49-F238E27FC236}">
                <a16:creationId xmlns:a16="http://schemas.microsoft.com/office/drawing/2014/main" id="{79456779-EC11-427C-91C9-CA45A6EB5E2D}"/>
              </a:ext>
            </a:extLst>
          </p:cNvPr>
          <p:cNvSpPr>
            <a:spLocks xmlns:a="http://schemas.openxmlformats.org/drawingml/2006/main" noGrp="1"/>
          </p:cNvSpPr>
          <p:nvPr/>
        </p:nvSpPr>
        <p:spPr>
          <a:xfrm xmlns:a="http://schemas.openxmlformats.org/drawingml/2006/main">
            <a:off x="1657350" y="4276725"/>
            <a:ext cx="9906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수업 사이 10분 휴식</a:t>
            </a:r>
          </a:p>
        </p:txBody>
      </p:sp>
      <p:sp>
        <p:nvSpPr>
          <p:cNvPr id="11" name="">
            <a:extLst xmlns:a="http://schemas.openxmlformats.org/drawingml/2006/main">
              <a:ext uri="{FF2B5EF4-FFF2-40B4-BE49-F238E27FC236}">
                <a16:creationId xmlns:a16="http://schemas.microsoft.com/office/drawing/2014/main" id="{C6B9E99B-01DC-41AE-AFAB-5A3092FB5D0D}"/>
              </a:ext>
            </a:extLst>
          </p:cNvPr>
          <p:cNvSpPr>
            <a:spLocks xmlns:a="http://schemas.openxmlformats.org/drawingml/2006/main" noGrp="1"/>
          </p:cNvSpPr>
          <p:nvPr/>
        </p:nvSpPr>
        <p:spPr>
          <a:xfrm xmlns:a="http://schemas.openxmlformats.org/drawingml/2006/main">
            <a:off x="1657350" y="5010150"/>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6E4AE1C-6A3E-43A2-8744-6A5D4CE1A757}"/>
              </a:ext>
            </a:extLst>
          </p:cNvPr>
          <p:cNvSpPr>
            <a:spLocks xmlns:a="http://schemas.openxmlformats.org/drawingml/2006/main" noGrp="1"/>
          </p:cNvSpPr>
          <p:nvPr/>
        </p:nvSpPr>
        <p:spPr>
          <a:xfrm xmlns:a="http://schemas.openxmlformats.org/drawingml/2006/main">
            <a:off x="609600" y="510540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04</a:t>
            </a:r>
          </a:p>
        </p:txBody>
      </p:sp>
      <p:sp>
        <p:nvSpPr>
          <p:cNvPr id="13" name="">
            <a:extLst xmlns:a="http://schemas.openxmlformats.org/drawingml/2006/main">
              <a:ext uri="{FF2B5EF4-FFF2-40B4-BE49-F238E27FC236}">
                <a16:creationId xmlns:a16="http://schemas.microsoft.com/office/drawing/2014/main" id="{4A02E517-A009-4F1C-A8A4-EAC635EB6B61}"/>
              </a:ext>
            </a:extLst>
          </p:cNvPr>
          <p:cNvSpPr>
            <a:spLocks xmlns:a="http://schemas.openxmlformats.org/drawingml/2006/main" noGrp="1"/>
          </p:cNvSpPr>
          <p:nvPr/>
        </p:nvSpPr>
        <p:spPr>
          <a:xfrm xmlns:a="http://schemas.openxmlformats.org/drawingml/2006/main">
            <a:off x="1657350" y="5172075"/>
            <a:ext cx="9906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마지막 10분은 저장 확인과 종료 준비입니다.</a:t>
            </a:r>
          </a:p>
        </p:txBody>
      </p:sp>
      <p:sp>
        <p:nvSpPr>
          <p:cNvPr id="14" name="">
            <a:extLst xmlns:a="http://schemas.openxmlformats.org/drawingml/2006/main">
              <a:ext uri="{FF2B5EF4-FFF2-40B4-BE49-F238E27FC236}">
                <a16:creationId xmlns:a16="http://schemas.microsoft.com/office/drawing/2014/main" id="{289EB735-240F-418D-9BFD-25F6CB5E407B}"/>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2F11666-1DF4-40B4-8E78-4654C852C35A}"/>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6" name="">
            <a:extLst xmlns:a="http://schemas.openxmlformats.org/drawingml/2006/main">
              <a:ext uri="{FF2B5EF4-FFF2-40B4-BE49-F238E27FC236}">
                <a16:creationId xmlns:a16="http://schemas.microsoft.com/office/drawing/2014/main" id="{0793F26B-1C10-44D2-95C0-6F8868D9422E}"/>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002</a:t>
            </a:r>
          </a:p>
        </p:txBody>
      </p:sp>
    </p:spTree>
    <p:extLst>
      <p:ext uri="{BB962C8B-B14F-4D97-AF65-F5344CB8AC3E}">
        <p14:creationId xmlns:p14="http://schemas.microsoft.com/office/powerpoint/2010/main" val="1270038018"/>
      </p:ext>
    </p:extLst>
  </p:cSld>
</p:sld>
</file>

<file path=ppt/slides/slide3.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C33AE89-4743-4BB7-9265-51B7B4E926DB}"/>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2026.10.14</a:t>
            </a:r>
          </a:p>
        </p:txBody>
      </p:sp>
      <p:sp>
        <p:nvSpPr>
          <p:cNvPr id="2" name="">
            <a:extLst xmlns:a="http://schemas.openxmlformats.org/drawingml/2006/main">
              <a:ext uri="{FF2B5EF4-FFF2-40B4-BE49-F238E27FC236}">
                <a16:creationId xmlns:a16="http://schemas.microsoft.com/office/drawing/2014/main" id="{BF4836C6-4DBE-4F5D-8214-42C1718264F6}"/>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파일과 폴더부터</a:t>
            </a:r>
          </a:p>
        </p:txBody>
      </p:sp>
      <p:sp>
        <p:nvSpPr>
          <p:cNvPr id="3" name="">
            <a:extLst xmlns:a="http://schemas.openxmlformats.org/drawingml/2006/main">
              <a:ext uri="{FF2B5EF4-FFF2-40B4-BE49-F238E27FC236}">
                <a16:creationId xmlns:a16="http://schemas.microsoft.com/office/drawing/2014/main" id="{C6F4A97C-87E0-4A78-BE3A-DC70E10056A6}"/>
              </a:ext>
            </a:extLst>
          </p:cNvPr>
          <p:cNvSpPr>
            <a:spLocks xmlns:a="http://schemas.openxmlformats.org/drawingml/2006/main" noGrp="1"/>
          </p:cNvSpPr>
          <p:nvPr/>
        </p:nvSpPr>
        <p:spPr>
          <a:xfrm xmlns:a="http://schemas.openxmlformats.org/drawingml/2006/main">
            <a:off x="609600" y="2695575"/>
            <a:ext cx="3524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700" b="0">
                <a:solidFill>
                  <a:srgbClr val="002FA7"/>
                </a:solidFill>
                <a:latin typeface="Noto Sans KR"/>
                <a:ea typeface="Noto Sans KR"/>
                <a:cs typeface="Noto Sans KR"/>
              </a:defRPr>
            </a:pPr>
            <a:r>
              <a:t>확장자</a:t>
            </a:r>
          </a:p>
        </p:txBody>
      </p:sp>
      <p:sp>
        <p:nvSpPr>
          <p:cNvPr id="4" name="">
            <a:extLst xmlns:a="http://schemas.openxmlformats.org/drawingml/2006/main">
              <a:ext uri="{FF2B5EF4-FFF2-40B4-BE49-F238E27FC236}">
                <a16:creationId xmlns:a16="http://schemas.microsoft.com/office/drawing/2014/main" id="{60547CE3-D0D5-4161-895D-12195F8B2D50}"/>
              </a:ext>
            </a:extLst>
          </p:cNvPr>
          <p:cNvSpPr>
            <a:spLocks xmlns:a="http://schemas.openxmlformats.org/drawingml/2006/main" noGrp="1"/>
          </p:cNvSpPr>
          <p:nvPr/>
        </p:nvSpPr>
        <p:spPr>
          <a:xfrm xmlns:a="http://schemas.openxmlformats.org/drawingml/2006/main">
            <a:off x="4333875" y="2562225"/>
            <a:ext cx="9525" cy="337185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184B64B-28AB-4C9B-90FA-B7757B2BEC74}"/>
              </a:ext>
            </a:extLst>
          </p:cNvPr>
          <p:cNvSpPr>
            <a:spLocks xmlns:a="http://schemas.openxmlformats.org/drawingml/2006/main" noGrp="1"/>
          </p:cNvSpPr>
          <p:nvPr/>
        </p:nvSpPr>
        <p:spPr>
          <a:xfrm xmlns:a="http://schemas.openxmlformats.org/drawingml/2006/main">
            <a:off x="4724400" y="2590800"/>
            <a:ext cx="68008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파일은 저장한 문서나 코드 한 개입니다.</a:t>
            </a:r>
          </a:p>
        </p:txBody>
      </p:sp>
      <p:sp>
        <p:nvSpPr>
          <p:cNvPr id="6" name="">
            <a:extLst xmlns:a="http://schemas.openxmlformats.org/drawingml/2006/main">
              <a:ext uri="{FF2B5EF4-FFF2-40B4-BE49-F238E27FC236}">
                <a16:creationId xmlns:a16="http://schemas.microsoft.com/office/drawing/2014/main" id="{4389AB16-99D9-47C9-A69E-AB56112D1B3B}"/>
              </a:ext>
            </a:extLst>
          </p:cNvPr>
          <p:cNvSpPr>
            <a:spLocks xmlns:a="http://schemas.openxmlformats.org/drawingml/2006/main" noGrp="1"/>
          </p:cNvSpPr>
          <p:nvPr/>
        </p:nvSpPr>
        <p:spPr>
          <a:xfrm xmlns:a="http://schemas.openxmlformats.org/drawingml/2006/main">
            <a:off x="4724400" y="3486150"/>
            <a:ext cx="68008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폴더는 파일을 모아 둔 위치입니다.</a:t>
            </a:r>
          </a:p>
        </p:txBody>
      </p:sp>
      <p:sp>
        <p:nvSpPr>
          <p:cNvPr id="7" name="">
            <a:extLst xmlns:a="http://schemas.openxmlformats.org/drawingml/2006/main">
              <a:ext uri="{FF2B5EF4-FFF2-40B4-BE49-F238E27FC236}">
                <a16:creationId xmlns:a16="http://schemas.microsoft.com/office/drawing/2014/main" id="{026E4340-FB05-4D08-A09D-634841BA6447}"/>
              </a:ext>
            </a:extLst>
          </p:cNvPr>
          <p:cNvSpPr>
            <a:spLocks xmlns:a="http://schemas.openxmlformats.org/drawingml/2006/main" noGrp="1"/>
          </p:cNvSpPr>
          <p:nvPr/>
        </p:nvSpPr>
        <p:spPr>
          <a:xfrm xmlns:a="http://schemas.openxmlformats.org/drawingml/2006/main">
            <a:off x="4724400" y="4381500"/>
            <a:ext cx="68008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확장자</a:t>
            </a:r>
            <a:r>
              <a:t>는 이름 끝의 .csv, .json, .py입니다.</a:t>
            </a:r>
          </a:p>
        </p:txBody>
      </p:sp>
      <p:sp>
        <p:nvSpPr>
          <p:cNvPr id="8" name="">
            <a:extLst xmlns:a="http://schemas.openxmlformats.org/drawingml/2006/main">
              <a:ext uri="{FF2B5EF4-FFF2-40B4-BE49-F238E27FC236}">
                <a16:creationId xmlns:a16="http://schemas.microsoft.com/office/drawing/2014/main" id="{99B5CDB9-7985-4241-BD36-CB0A8B2AF15B}"/>
              </a:ext>
            </a:extLst>
          </p:cNvPr>
          <p:cNvSpPr>
            <a:spLocks xmlns:a="http://schemas.openxmlformats.org/drawingml/2006/main" noGrp="1"/>
          </p:cNvSpPr>
          <p:nvPr/>
        </p:nvSpPr>
        <p:spPr>
          <a:xfrm xmlns:a="http://schemas.openxmlformats.org/drawingml/2006/main">
            <a:off x="4724400" y="5276850"/>
            <a:ext cx="68008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원본은 보존하고 작업 복사본을 씁니다.</a:t>
            </a:r>
          </a:p>
        </p:txBody>
      </p:sp>
      <p:sp>
        <p:nvSpPr>
          <p:cNvPr id="9" name="">
            <a:extLst xmlns:a="http://schemas.openxmlformats.org/drawingml/2006/main">
              <a:ext uri="{FF2B5EF4-FFF2-40B4-BE49-F238E27FC236}">
                <a16:creationId xmlns:a16="http://schemas.microsoft.com/office/drawing/2014/main" id="{E7F3404A-D6F7-4FB8-8ACF-2E697F7388AD}"/>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642195F-0C0F-4E35-9B8B-527A36547C19}"/>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1" name="">
            <a:extLst xmlns:a="http://schemas.openxmlformats.org/drawingml/2006/main">
              <a:ext uri="{FF2B5EF4-FFF2-40B4-BE49-F238E27FC236}">
                <a16:creationId xmlns:a16="http://schemas.microsoft.com/office/drawing/2014/main" id="{72ED3227-FC13-45C2-91CA-3371C6B4987D}"/>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003</a:t>
            </a:r>
          </a:p>
        </p:txBody>
      </p:sp>
    </p:spTree>
    <p:extLst>
      <p:ext uri="{BB962C8B-B14F-4D97-AF65-F5344CB8AC3E}">
        <p14:creationId xmlns:p14="http://schemas.microsoft.com/office/powerpoint/2010/main" val="2012287117"/>
      </p:ext>
    </p:extLst>
  </p:cSld>
</p:sld>
</file>

<file path=ppt/slides/slide4.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A8F90AC-30C8-4859-AA6C-7D4365DE4B2A}"/>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2026.10.14</a:t>
            </a:r>
          </a:p>
        </p:txBody>
      </p:sp>
      <p:sp>
        <p:nvSpPr>
          <p:cNvPr id="2" name="">
            <a:extLst xmlns:a="http://schemas.openxmlformats.org/drawingml/2006/main">
              <a:ext uri="{FF2B5EF4-FFF2-40B4-BE49-F238E27FC236}">
                <a16:creationId xmlns:a16="http://schemas.microsoft.com/office/drawing/2014/main" id="{873375CD-AD5D-40F9-9A76-3F6B256DA977}"/>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막히면 같은 자료로 합류하기</a:t>
            </a:r>
          </a:p>
        </p:txBody>
      </p:sp>
      <p:sp>
        <p:nvSpPr>
          <p:cNvPr id="3" name="">
            <a:extLst xmlns:a="http://schemas.openxmlformats.org/drawingml/2006/main">
              <a:ext uri="{FF2B5EF4-FFF2-40B4-BE49-F238E27FC236}">
                <a16:creationId xmlns:a16="http://schemas.microsoft.com/office/drawing/2014/main" id="{690E65EF-B58C-4148-AAE0-90D78B964A40}"/>
              </a:ext>
            </a:extLst>
          </p:cNvPr>
          <p:cNvSpPr>
            <a:spLocks xmlns:a="http://schemas.openxmlformats.org/drawingml/2006/main" noGrp="1"/>
          </p:cNvSpPr>
          <p:nvPr/>
        </p:nvSpPr>
        <p:spPr>
          <a:xfrm xmlns:a="http://schemas.openxmlformats.org/drawingml/2006/main">
            <a:off x="609600" y="2695575"/>
            <a:ext cx="3524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125" b="0">
                <a:solidFill>
                  <a:srgbClr val="002FA7"/>
                </a:solidFill>
                <a:latin typeface="Noto Sans KR"/>
                <a:ea typeface="Noto Sans KR"/>
                <a:cs typeface="Noto Sans KR"/>
              </a:defRPr>
            </a:pPr>
            <a:r>
              <a:t>설치 문제와 개념 이해</a:t>
            </a:r>
          </a:p>
        </p:txBody>
      </p:sp>
      <p:sp>
        <p:nvSpPr>
          <p:cNvPr id="4" name="">
            <a:extLst xmlns:a="http://schemas.openxmlformats.org/drawingml/2006/main">
              <a:ext uri="{FF2B5EF4-FFF2-40B4-BE49-F238E27FC236}">
                <a16:creationId xmlns:a16="http://schemas.microsoft.com/office/drawing/2014/main" id="{0627FB25-A80C-4E90-8464-FD50C2280EB7}"/>
              </a:ext>
            </a:extLst>
          </p:cNvPr>
          <p:cNvSpPr>
            <a:spLocks xmlns:a="http://schemas.openxmlformats.org/drawingml/2006/main" noGrp="1"/>
          </p:cNvSpPr>
          <p:nvPr/>
        </p:nvSpPr>
        <p:spPr>
          <a:xfrm xmlns:a="http://schemas.openxmlformats.org/drawingml/2006/main">
            <a:off x="4333875" y="2562225"/>
            <a:ext cx="9525" cy="337185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03BC9A1-4921-4791-92A5-8D3A71B505FE}"/>
              </a:ext>
            </a:extLst>
          </p:cNvPr>
          <p:cNvSpPr>
            <a:spLocks xmlns:a="http://schemas.openxmlformats.org/drawingml/2006/main" noGrp="1"/>
          </p:cNvSpPr>
          <p:nvPr/>
        </p:nvSpPr>
        <p:spPr>
          <a:xfrm xmlns:a="http://schemas.openxmlformats.org/drawingml/2006/main">
            <a:off x="4724400" y="259080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설치 문제와 개념 이해</a:t>
            </a:r>
            <a:r>
              <a:t>는 따로 기록합니다.</a:t>
            </a:r>
          </a:p>
        </p:txBody>
      </p:sp>
      <p:sp>
        <p:nvSpPr>
          <p:cNvPr id="6" name="">
            <a:extLst xmlns:a="http://schemas.openxmlformats.org/drawingml/2006/main">
              <a:ext uri="{FF2B5EF4-FFF2-40B4-BE49-F238E27FC236}">
                <a16:creationId xmlns:a16="http://schemas.microsoft.com/office/drawing/2014/main" id="{9CF44F46-103D-4F13-A5BB-3BBC52DFAB5C}"/>
              </a:ext>
            </a:extLst>
          </p:cNvPr>
          <p:cNvSpPr>
            <a:spLocks xmlns:a="http://schemas.openxmlformats.org/drawingml/2006/main" noGrp="1"/>
          </p:cNvSpPr>
          <p:nvPr/>
        </p:nvSpPr>
        <p:spPr>
          <a:xfrm xmlns:a="http://schemas.openxmlformats.org/drawingml/2006/main">
            <a:off x="4724400" y="3705225"/>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실행이 어려우면 같은 입력을 손으로 추적합니다.</a:t>
            </a:r>
          </a:p>
        </p:txBody>
      </p:sp>
      <p:sp>
        <p:nvSpPr>
          <p:cNvPr id="7" name="">
            <a:extLst xmlns:a="http://schemas.openxmlformats.org/drawingml/2006/main">
              <a:ext uri="{FF2B5EF4-FFF2-40B4-BE49-F238E27FC236}">
                <a16:creationId xmlns:a16="http://schemas.microsoft.com/office/drawing/2014/main" id="{E33F1220-5494-4D82-B1DD-42EEF97A2496}"/>
              </a:ext>
            </a:extLst>
          </p:cNvPr>
          <p:cNvSpPr>
            <a:spLocks xmlns:a="http://schemas.openxmlformats.org/drawingml/2006/main" noGrp="1"/>
          </p:cNvSpPr>
          <p:nvPr/>
        </p:nvSpPr>
        <p:spPr>
          <a:xfrm xmlns:a="http://schemas.openxmlformats.org/drawingml/2006/main">
            <a:off x="4724400" y="481965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개인 실행과 강사 관찰을 구별합니다.</a:t>
            </a:r>
          </a:p>
        </p:txBody>
      </p:sp>
      <p:sp>
        <p:nvSpPr>
          <p:cNvPr id="8" name="">
            <a:extLst xmlns:a="http://schemas.openxmlformats.org/drawingml/2006/main">
              <a:ext uri="{FF2B5EF4-FFF2-40B4-BE49-F238E27FC236}">
                <a16:creationId xmlns:a16="http://schemas.microsoft.com/office/drawing/2014/main" id="{C17C1FEB-E48F-46A7-8054-733C2AA5CEE5}"/>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30B273C-6DD8-45FA-A60D-15E66A435A0C}"/>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0" name="">
            <a:extLst xmlns:a="http://schemas.openxmlformats.org/drawingml/2006/main">
              <a:ext uri="{FF2B5EF4-FFF2-40B4-BE49-F238E27FC236}">
                <a16:creationId xmlns:a16="http://schemas.microsoft.com/office/drawing/2014/main" id="{E4E86790-1053-4672-80E6-A5113D208826}"/>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004</a:t>
            </a:r>
          </a:p>
        </p:txBody>
      </p:sp>
    </p:spTree>
    <p:extLst>
      <p:ext uri="{BB962C8B-B14F-4D97-AF65-F5344CB8AC3E}">
        <p14:creationId xmlns:p14="http://schemas.microsoft.com/office/powerpoint/2010/main" val="1821860512"/>
      </p:ext>
    </p:extLst>
  </p:cSld>
</p:sld>
</file>

<file path=ppt/slides/slide5.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2373E2C-1B2D-4042-A367-0FF6CB2E0552}"/>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2026.10.14</a:t>
            </a:r>
          </a:p>
        </p:txBody>
      </p:sp>
      <p:sp>
        <p:nvSpPr>
          <p:cNvPr id="2" name="">
            <a:extLst xmlns:a="http://schemas.openxmlformats.org/drawingml/2006/main">
              <a:ext uri="{FF2B5EF4-FFF2-40B4-BE49-F238E27FC236}">
                <a16:creationId xmlns:a16="http://schemas.microsoft.com/office/drawing/2014/main" id="{F38FF219-EAB1-4E9D-8A1E-74FB08FED906}"/>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오늘 배울 여섯 가지</a:t>
            </a:r>
          </a:p>
        </p:txBody>
      </p:sp>
      <p:sp>
        <p:nvSpPr>
          <p:cNvPr id="3" name="">
            <a:extLst xmlns:a="http://schemas.openxmlformats.org/drawingml/2006/main">
              <a:ext uri="{FF2B5EF4-FFF2-40B4-BE49-F238E27FC236}">
                <a16:creationId xmlns:a16="http://schemas.microsoft.com/office/drawing/2014/main" id="{5F848637-1DA0-4D8A-8F09-76CD06D53411}"/>
              </a:ext>
            </a:extLst>
          </p:cNvPr>
          <p:cNvSpPr>
            <a:spLocks xmlns:a="http://schemas.openxmlformats.org/drawingml/2006/main" noGrp="1"/>
          </p:cNvSpPr>
          <p:nvPr/>
        </p:nvSpPr>
        <p:spPr>
          <a:xfrm xmlns:a="http://schemas.openxmlformats.org/drawingml/2006/main">
            <a:off x="609600" y="241935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01</a:t>
            </a:r>
          </a:p>
        </p:txBody>
      </p:sp>
      <p:sp>
        <p:nvSpPr>
          <p:cNvPr id="4" name="">
            <a:extLst xmlns:a="http://schemas.openxmlformats.org/drawingml/2006/main">
              <a:ext uri="{FF2B5EF4-FFF2-40B4-BE49-F238E27FC236}">
                <a16:creationId xmlns:a16="http://schemas.microsoft.com/office/drawing/2014/main" id="{6D87E986-FD4A-45B4-9FAC-FAEC445724CF}"/>
              </a:ext>
            </a:extLst>
          </p:cNvPr>
          <p:cNvSpPr>
            <a:spLocks xmlns:a="http://schemas.openxmlformats.org/drawingml/2006/main" noGrp="1"/>
          </p:cNvSpPr>
          <p:nvPr/>
        </p:nvSpPr>
        <p:spPr>
          <a:xfrm xmlns:a="http://schemas.openxmlformats.org/drawingml/2006/main">
            <a:off x="1657350" y="248602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파일 실행 → 변수</a:t>
            </a:r>
            <a:r>
              <a:t> → 자료형과 연산</a:t>
            </a:r>
          </a:p>
        </p:txBody>
      </p:sp>
      <p:sp>
        <p:nvSpPr>
          <p:cNvPr id="5" name="">
            <a:extLst xmlns:a="http://schemas.openxmlformats.org/drawingml/2006/main">
              <a:ext uri="{FF2B5EF4-FFF2-40B4-BE49-F238E27FC236}">
                <a16:creationId xmlns:a16="http://schemas.microsoft.com/office/drawing/2014/main" id="{F89517C0-8980-41A2-8FB4-894BB681762C}"/>
              </a:ext>
            </a:extLst>
          </p:cNvPr>
          <p:cNvSpPr>
            <a:spLocks xmlns:a="http://schemas.openxmlformats.org/drawingml/2006/main" noGrp="1"/>
          </p:cNvSpPr>
          <p:nvPr/>
        </p:nvSpPr>
        <p:spPr>
          <a:xfrm xmlns:a="http://schemas.openxmlformats.org/drawingml/2006/main">
            <a:off x="1657350" y="3419475"/>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B65769D-9C9C-442C-A4B5-B88D4C4EF754}"/>
              </a:ext>
            </a:extLst>
          </p:cNvPr>
          <p:cNvSpPr>
            <a:spLocks xmlns:a="http://schemas.openxmlformats.org/drawingml/2006/main" noGrp="1"/>
          </p:cNvSpPr>
          <p:nvPr/>
        </p:nvSpPr>
        <p:spPr>
          <a:xfrm xmlns:a="http://schemas.openxmlformats.org/drawingml/2006/main">
            <a:off x="609600" y="3514725"/>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02</a:t>
            </a:r>
          </a:p>
        </p:txBody>
      </p:sp>
      <p:sp>
        <p:nvSpPr>
          <p:cNvPr id="7" name="">
            <a:extLst xmlns:a="http://schemas.openxmlformats.org/drawingml/2006/main">
              <a:ext uri="{FF2B5EF4-FFF2-40B4-BE49-F238E27FC236}">
                <a16:creationId xmlns:a16="http://schemas.microsoft.com/office/drawing/2014/main" id="{7A655FEF-979B-4E38-86AC-B414BD21338A}"/>
              </a:ext>
            </a:extLst>
          </p:cNvPr>
          <p:cNvSpPr>
            <a:spLocks xmlns:a="http://schemas.openxmlformats.org/drawingml/2006/main" noGrp="1"/>
          </p:cNvSpPr>
          <p:nvPr/>
        </p:nvSpPr>
        <p:spPr>
          <a:xfrm xmlns:a="http://schemas.openxmlformats.org/drawingml/2006/main">
            <a:off x="1657350" y="358140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비교와 조건 → 반복 → 작은 점검표</a:t>
            </a:r>
          </a:p>
        </p:txBody>
      </p:sp>
      <p:sp>
        <p:nvSpPr>
          <p:cNvPr id="8" name="">
            <a:extLst xmlns:a="http://schemas.openxmlformats.org/drawingml/2006/main">
              <a:ext uri="{FF2B5EF4-FFF2-40B4-BE49-F238E27FC236}">
                <a16:creationId xmlns:a16="http://schemas.microsoft.com/office/drawing/2014/main" id="{5F16C5A6-1CEF-474A-8917-F1EA016A8A12}"/>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6E9A454-7015-4E90-A0F0-6A178D37C702}"/>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0" name="">
            <a:extLst xmlns:a="http://schemas.openxmlformats.org/drawingml/2006/main">
              <a:ext uri="{FF2B5EF4-FFF2-40B4-BE49-F238E27FC236}">
                <a16:creationId xmlns:a16="http://schemas.microsoft.com/office/drawing/2014/main" id="{618CBCBD-1CE0-42E2-85A5-9E12CF13103C}"/>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005</a:t>
            </a:r>
          </a:p>
        </p:txBody>
      </p:sp>
    </p:spTree>
    <p:extLst>
      <p:ext uri="{BB962C8B-B14F-4D97-AF65-F5344CB8AC3E}">
        <p14:creationId xmlns:p14="http://schemas.microsoft.com/office/powerpoint/2010/main" val="416710919"/>
      </p:ext>
    </p:extLst>
  </p:cSld>
</p:sld>
</file>

<file path=ppt/slides/slide6.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673E962-08CC-474C-82B4-2DEB76341900}"/>
              </a:ext>
            </a:extLst>
          </p:cNvPr>
          <p:cNvSpPr>
            <a:spLocks xmlns:a="http://schemas.openxmlformats.org/drawingml/2006/main" noGrp="1"/>
          </p:cNvSpPr>
          <p:nvPr/>
        </p:nvSpPr>
        <p:spPr>
          <a:xfrm xmlns:a="http://schemas.openxmlformats.org/drawingml/2006/main">
            <a:off x="0" y="0"/>
            <a:ext cx="4000500" cy="6858000"/>
          </a:xfrm>
          <a:prstGeom xmlns:a="http://schemas.openxmlformats.org/drawingml/2006/main" prst="rect">
            <a:avLst/>
          </a:prstGeom>
          <a:solidFill xmlns:a="http://schemas.openxmlformats.org/drawingml/2006/main">
            <a:srgbClr val="002FA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3080783-02AF-4FCE-8294-3548BD150108}"/>
              </a:ext>
            </a:extLst>
          </p:cNvPr>
          <p:cNvSpPr>
            <a:spLocks xmlns:a="http://schemas.openxmlformats.org/drawingml/2006/main" noGrp="1"/>
          </p:cNvSpPr>
          <p:nvPr/>
        </p:nvSpPr>
        <p:spPr>
          <a:xfrm xmlns:a="http://schemas.openxmlformats.org/drawingml/2006/main">
            <a:off x="542925" y="1504950"/>
            <a:ext cx="2952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600" b="0">
                <a:solidFill>
                  <a:srgbClr val="FFFFFF"/>
                </a:solidFill>
                <a:latin typeface="Arial"/>
                <a:ea typeface="Arial"/>
                <a:cs typeface="Arial"/>
              </a:defRPr>
            </a:pPr>
            <a:r>
              <a:t>01</a:t>
            </a:r>
          </a:p>
        </p:txBody>
      </p:sp>
      <p:sp>
        <p:nvSpPr>
          <p:cNvPr id="3" name="">
            <a:extLst xmlns:a="http://schemas.openxmlformats.org/drawingml/2006/main">
              <a:ext uri="{FF2B5EF4-FFF2-40B4-BE49-F238E27FC236}">
                <a16:creationId xmlns:a16="http://schemas.microsoft.com/office/drawing/2014/main" id="{7B05514C-9013-422C-9AAD-ACB487DBDFC8}"/>
              </a:ext>
            </a:extLst>
          </p:cNvPr>
          <p:cNvSpPr>
            <a:spLocks xmlns:a="http://schemas.openxmlformats.org/drawingml/2006/main" noGrp="1"/>
          </p:cNvSpPr>
          <p:nvPr/>
        </p:nvSpPr>
        <p:spPr>
          <a:xfrm xmlns:a="http://schemas.openxmlformats.org/drawingml/2006/main">
            <a:off x="609600" y="3857625"/>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0">
                <a:solidFill>
                  <a:srgbClr val="FFFFFF"/>
                </a:solidFill>
                <a:latin typeface="Noto Sans KR"/>
                <a:ea typeface="Noto Sans KR"/>
                <a:cs typeface="Noto Sans KR"/>
              </a:defRPr>
            </a:pPr>
            <a:r>
              <a:t>교시</a:t>
            </a:r>
          </a:p>
        </p:txBody>
      </p:sp>
      <p:sp>
        <p:nvSpPr>
          <p:cNvPr id="4" name="">
            <a:extLst xmlns:a="http://schemas.openxmlformats.org/drawingml/2006/main">
              <a:ext uri="{FF2B5EF4-FFF2-40B4-BE49-F238E27FC236}">
                <a16:creationId xmlns:a16="http://schemas.microsoft.com/office/drawing/2014/main" id="{C167ADB6-4440-40C3-A6B3-D31B17218708}"/>
              </a:ext>
            </a:extLst>
          </p:cNvPr>
          <p:cNvSpPr>
            <a:spLocks xmlns:a="http://schemas.openxmlformats.org/drawingml/2006/main" noGrp="1"/>
          </p:cNvSpPr>
          <p:nvPr/>
        </p:nvSpPr>
        <p:spPr>
          <a:xfrm xmlns:a="http://schemas.openxmlformats.org/drawingml/2006/main">
            <a:off x="4572000" y="1304925"/>
            <a:ext cx="68961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650" b="0">
                <a:solidFill>
                  <a:srgbClr val="0A0A0A"/>
                </a:solidFill>
                <a:latin typeface="Noto Sans KR"/>
                <a:ea typeface="Noto Sans KR"/>
                <a:cs typeface="Noto Sans KR"/>
              </a:defRPr>
            </a:pPr>
            <a:r>
              <a:t>파일에서 출력까지</a:t>
            </a:r>
          </a:p>
        </p:txBody>
      </p:sp>
      <p:sp>
        <p:nvSpPr>
          <p:cNvPr id="5" name="">
            <a:extLst xmlns:a="http://schemas.openxmlformats.org/drawingml/2006/main">
              <a:ext uri="{FF2B5EF4-FFF2-40B4-BE49-F238E27FC236}">
                <a16:creationId xmlns:a16="http://schemas.microsoft.com/office/drawing/2014/main" id="{B07C302C-8F41-41BB-B04B-56EE84A8E1B4}"/>
              </a:ext>
            </a:extLst>
          </p:cNvPr>
          <p:cNvSpPr>
            <a:spLocks xmlns:a="http://schemas.openxmlformats.org/drawingml/2006/main" noGrp="1"/>
          </p:cNvSpPr>
          <p:nvPr/>
        </p:nvSpPr>
        <p:spPr>
          <a:xfrm xmlns:a="http://schemas.openxmlformats.org/drawingml/2006/main">
            <a:off x="4572000" y="3609975"/>
            <a:ext cx="6896100" cy="9525"/>
          </a:xfrm>
          <a:prstGeom xmlns:a="http://schemas.openxmlformats.org/drawingml/2006/main" prst="rect">
            <a:avLst/>
          </a:prstGeom>
          <a:solidFill xmlns:a="http://schemas.openxmlformats.org/drawingml/2006/main">
            <a:srgbClr val="002FA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AC63700-91A3-4A41-8CD4-13F94F593FA5}"/>
              </a:ext>
            </a:extLst>
          </p:cNvPr>
          <p:cNvSpPr>
            <a:spLocks xmlns:a="http://schemas.openxmlformats.org/drawingml/2006/main" noGrp="1"/>
          </p:cNvSpPr>
          <p:nvPr/>
        </p:nvSpPr>
        <p:spPr>
          <a:xfrm xmlns:a="http://schemas.openxmlformats.org/drawingml/2006/main">
            <a:off x="4572000" y="3886200"/>
            <a:ext cx="689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002FA7"/>
                </a:solidFill>
                <a:latin typeface="Noto Sans KR"/>
                <a:ea typeface="Noto Sans KR"/>
                <a:cs typeface="Noto Sans KR"/>
              </a:defRPr>
            </a:pPr>
            <a:r>
              <a:t>10:00~10:50 · 50분</a:t>
            </a:r>
          </a:p>
        </p:txBody>
      </p:sp>
      <p:sp>
        <p:nvSpPr>
          <p:cNvPr id="7" name="">
            <a:extLst xmlns:a="http://schemas.openxmlformats.org/drawingml/2006/main">
              <a:ext uri="{FF2B5EF4-FFF2-40B4-BE49-F238E27FC236}">
                <a16:creationId xmlns:a16="http://schemas.microsoft.com/office/drawing/2014/main" id="{86C91504-D00A-4640-BCEA-53CF41A645D4}"/>
              </a:ext>
            </a:extLst>
          </p:cNvPr>
          <p:cNvSpPr>
            <a:spLocks xmlns:a="http://schemas.openxmlformats.org/drawingml/2006/main" noGrp="1"/>
          </p:cNvSpPr>
          <p:nvPr/>
        </p:nvSpPr>
        <p:spPr>
          <a:xfrm xmlns:a="http://schemas.openxmlformats.org/drawingml/2006/main">
            <a:off x="4572000" y="4600575"/>
            <a:ext cx="689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0A0A0A"/>
                </a:solidFill>
                <a:latin typeface="Noto Sans KR"/>
                <a:ea typeface="Noto Sans KR"/>
                <a:cs typeface="Noto Sans KR"/>
              </a:defRPr>
            </a:pPr>
            <a:r>
              <a:t>먼저 할 활동: A01, A02, A03</a:t>
            </a:r>
          </a:p>
        </p:txBody>
      </p:sp>
      <p:sp>
        <p:nvSpPr>
          <p:cNvPr id="8" name="">
            <a:extLst xmlns:a="http://schemas.openxmlformats.org/drawingml/2006/main">
              <a:ext uri="{FF2B5EF4-FFF2-40B4-BE49-F238E27FC236}">
                <a16:creationId xmlns:a16="http://schemas.microsoft.com/office/drawing/2014/main" id="{CE7506D6-DCF9-4433-88AA-1F53DC5F1A60}"/>
              </a:ext>
            </a:extLst>
          </p:cNvPr>
          <p:cNvSpPr>
            <a:spLocks xmlns:a="http://schemas.openxmlformats.org/drawingml/2006/main" noGrp="1"/>
          </p:cNvSpPr>
          <p:nvPr/>
        </p:nvSpPr>
        <p:spPr>
          <a:xfrm xmlns:a="http://schemas.openxmlformats.org/drawingml/2006/main">
            <a:off x="4572000" y="5314950"/>
            <a:ext cx="689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0A0A0A"/>
                </a:solidFill>
                <a:latin typeface="Noto Sans KR"/>
                <a:ea typeface="Noto Sans KR"/>
                <a:cs typeface="Noto Sans KR"/>
              </a:defRPr>
            </a:pPr>
            <a:r>
              <a:t>추가 문제는 필수 결과를 확인한 뒤 풉니다.</a:t>
            </a:r>
          </a:p>
        </p:txBody>
      </p:sp>
      <p:sp>
        <p:nvSpPr>
          <p:cNvPr id="9" name="">
            <a:extLst xmlns:a="http://schemas.openxmlformats.org/drawingml/2006/main">
              <a:ext uri="{FF2B5EF4-FFF2-40B4-BE49-F238E27FC236}">
                <a16:creationId xmlns:a16="http://schemas.microsoft.com/office/drawing/2014/main" id="{ABF55CB7-6DE8-45FE-9EF7-9CE1860FB6C6}"/>
              </a:ext>
            </a:extLst>
          </p:cNvPr>
          <p:cNvSpPr>
            <a:spLocks xmlns:a="http://schemas.openxmlformats.org/drawingml/2006/main" noGrp="1"/>
          </p:cNvSpPr>
          <p:nvPr/>
        </p:nvSpPr>
        <p:spPr>
          <a:xfrm xmlns:a="http://schemas.openxmlformats.org/drawingml/2006/main">
            <a:off x="609600" y="428625"/>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FFFFFF"/>
                </a:solidFill>
                <a:latin typeface="Noto Sans KR"/>
                <a:ea typeface="Noto Sans KR"/>
                <a:cs typeface="Noto Sans KR"/>
              </a:defRPr>
            </a:pPr>
            <a:r>
              <a:t>2026.10.14</a:t>
            </a:r>
          </a:p>
        </p:txBody>
      </p:sp>
      <p:sp>
        <p:nvSpPr>
          <p:cNvPr id="10" name="">
            <a:extLst xmlns:a="http://schemas.openxmlformats.org/drawingml/2006/main">
              <a:ext uri="{FF2B5EF4-FFF2-40B4-BE49-F238E27FC236}">
                <a16:creationId xmlns:a16="http://schemas.microsoft.com/office/drawing/2014/main" id="{B7E78460-F1D2-4837-B205-B58E51A79880}"/>
              </a:ext>
            </a:extLst>
          </p:cNvPr>
          <p:cNvSpPr>
            <a:spLocks xmlns:a="http://schemas.openxmlformats.org/drawingml/2006/main" noGrp="1"/>
          </p:cNvSpPr>
          <p:nvPr/>
        </p:nvSpPr>
        <p:spPr>
          <a:xfrm xmlns:a="http://schemas.openxmlformats.org/drawingml/2006/main">
            <a:off x="10477500" y="64008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006</a:t>
            </a:r>
          </a:p>
        </p:txBody>
      </p:sp>
    </p:spTree>
    <p:extLst>
      <p:ext uri="{BB962C8B-B14F-4D97-AF65-F5344CB8AC3E}">
        <p14:creationId xmlns:p14="http://schemas.microsoft.com/office/powerpoint/2010/main" val="1848313139"/>
      </p:ext>
    </p:extLst>
  </p:cSld>
</p:sld>
</file>

<file path=ppt/slides/slide7.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6147A25-763E-4818-A613-FCB061A80EEB}"/>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1교시</a:t>
            </a:r>
          </a:p>
        </p:txBody>
      </p:sp>
      <p:sp>
        <p:nvSpPr>
          <p:cNvPr id="2" name="">
            <a:extLst xmlns:a="http://schemas.openxmlformats.org/drawingml/2006/main">
              <a:ext uri="{FF2B5EF4-FFF2-40B4-BE49-F238E27FC236}">
                <a16:creationId xmlns:a16="http://schemas.microsoft.com/office/drawing/2014/main" id="{E1CA5A2B-DB48-45A1-81EA-BAAA94F6F6AD}"/>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입력·처리·출력</a:t>
            </a:r>
          </a:p>
        </p:txBody>
      </p:sp>
      <p:sp>
        <p:nvSpPr>
          <p:cNvPr id="3" name="">
            <a:extLst xmlns:a="http://schemas.openxmlformats.org/drawingml/2006/main">
              <a:ext uri="{FF2B5EF4-FFF2-40B4-BE49-F238E27FC236}">
                <a16:creationId xmlns:a16="http://schemas.microsoft.com/office/drawing/2014/main" id="{70DFA66F-2336-4323-B952-BD4F19DA71C0}"/>
              </a:ext>
            </a:extLst>
          </p:cNvPr>
          <p:cNvSpPr>
            <a:spLocks xmlns:a="http://schemas.openxmlformats.org/drawingml/2006/main" noGrp="1"/>
          </p:cNvSpPr>
          <p:nvPr/>
        </p:nvSpPr>
        <p:spPr>
          <a:xfrm xmlns:a="http://schemas.openxmlformats.org/drawingml/2006/main">
            <a:off x="609600" y="2533650"/>
            <a:ext cx="333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Noto Sans KR"/>
                <a:ea typeface="Noto Sans KR"/>
                <a:cs typeface="Noto Sans KR"/>
              </a:defRPr>
            </a:pPr>
            <a:r>
              <a:t>입력:</a:t>
            </a:r>
          </a:p>
        </p:txBody>
      </p:sp>
      <p:sp>
        <p:nvSpPr>
          <p:cNvPr id="4" name="">
            <a:extLst xmlns:a="http://schemas.openxmlformats.org/drawingml/2006/main">
              <a:ext uri="{FF2B5EF4-FFF2-40B4-BE49-F238E27FC236}">
                <a16:creationId xmlns:a16="http://schemas.microsoft.com/office/drawing/2014/main" id="{C3F131A8-31A0-420D-8C81-DEDAC91E8678}"/>
              </a:ext>
            </a:extLst>
          </p:cNvPr>
          <p:cNvSpPr>
            <a:spLocks xmlns:a="http://schemas.openxmlformats.org/drawingml/2006/main" noGrp="1"/>
          </p:cNvSpPr>
          <p:nvPr/>
        </p:nvSpPr>
        <p:spPr>
          <a:xfrm xmlns:a="http://schemas.openxmlformats.org/drawingml/2006/main">
            <a:off x="4219575" y="2581275"/>
            <a:ext cx="73628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일을 시작하기 전에 주어진 값</a:t>
            </a:r>
          </a:p>
        </p:txBody>
      </p:sp>
      <p:sp>
        <p:nvSpPr>
          <p:cNvPr id="5" name="">
            <a:extLst xmlns:a="http://schemas.openxmlformats.org/drawingml/2006/main">
              <a:ext uri="{FF2B5EF4-FFF2-40B4-BE49-F238E27FC236}">
                <a16:creationId xmlns:a16="http://schemas.microsoft.com/office/drawing/2014/main" id="{1E7B635E-1EE6-4285-B5D6-6F80E9446A0C}"/>
              </a:ext>
            </a:extLst>
          </p:cNvPr>
          <p:cNvSpPr>
            <a:spLocks xmlns:a="http://schemas.openxmlformats.org/drawingml/2006/main" noGrp="1"/>
          </p:cNvSpPr>
          <p:nvPr/>
        </p:nvSpPr>
        <p:spPr>
          <a:xfrm xmlns:a="http://schemas.openxmlformats.org/drawingml/2006/main">
            <a:off x="609600" y="3524250"/>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2B811E2-1D2B-4CA0-BACE-191C3B7696C7}"/>
              </a:ext>
            </a:extLst>
          </p:cNvPr>
          <p:cNvSpPr>
            <a:spLocks xmlns:a="http://schemas.openxmlformats.org/drawingml/2006/main" noGrp="1"/>
          </p:cNvSpPr>
          <p:nvPr/>
        </p:nvSpPr>
        <p:spPr>
          <a:xfrm xmlns:a="http://schemas.openxmlformats.org/drawingml/2006/main">
            <a:off x="609600" y="3657600"/>
            <a:ext cx="333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Noto Sans KR"/>
                <a:ea typeface="Noto Sans KR"/>
                <a:cs typeface="Noto Sans KR"/>
              </a:defRPr>
            </a:pPr>
            <a:r>
              <a:t>처리:</a:t>
            </a:r>
          </a:p>
        </p:txBody>
      </p:sp>
      <p:sp>
        <p:nvSpPr>
          <p:cNvPr id="7" name="">
            <a:extLst xmlns:a="http://schemas.openxmlformats.org/drawingml/2006/main">
              <a:ext uri="{FF2B5EF4-FFF2-40B4-BE49-F238E27FC236}">
                <a16:creationId xmlns:a16="http://schemas.microsoft.com/office/drawing/2014/main" id="{9315A2A6-D15D-44F4-98D7-8892BDA82AF5}"/>
              </a:ext>
            </a:extLst>
          </p:cNvPr>
          <p:cNvSpPr>
            <a:spLocks xmlns:a="http://schemas.openxmlformats.org/drawingml/2006/main" noGrp="1"/>
          </p:cNvSpPr>
          <p:nvPr/>
        </p:nvSpPr>
        <p:spPr>
          <a:xfrm xmlns:a="http://schemas.openxmlformats.org/drawingml/2006/main">
            <a:off x="4219575" y="3705225"/>
            <a:ext cx="73628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정해진 규칙을 적용하는 순서</a:t>
            </a:r>
          </a:p>
        </p:txBody>
      </p:sp>
      <p:sp>
        <p:nvSpPr>
          <p:cNvPr id="8" name="">
            <a:extLst xmlns:a="http://schemas.openxmlformats.org/drawingml/2006/main">
              <a:ext uri="{FF2B5EF4-FFF2-40B4-BE49-F238E27FC236}">
                <a16:creationId xmlns:a16="http://schemas.microsoft.com/office/drawing/2014/main" id="{6C9241FE-56A4-4742-97B6-15A6ED33B03D}"/>
              </a:ext>
            </a:extLst>
          </p:cNvPr>
          <p:cNvSpPr>
            <a:spLocks xmlns:a="http://schemas.openxmlformats.org/drawingml/2006/main" noGrp="1"/>
          </p:cNvSpPr>
          <p:nvPr/>
        </p:nvSpPr>
        <p:spPr>
          <a:xfrm xmlns:a="http://schemas.openxmlformats.org/drawingml/2006/main">
            <a:off x="609600" y="4648200"/>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27F3D9D-5455-4F91-AC6C-4EFDE4AECD94}"/>
              </a:ext>
            </a:extLst>
          </p:cNvPr>
          <p:cNvSpPr>
            <a:spLocks xmlns:a="http://schemas.openxmlformats.org/drawingml/2006/main" noGrp="1"/>
          </p:cNvSpPr>
          <p:nvPr/>
        </p:nvSpPr>
        <p:spPr>
          <a:xfrm xmlns:a="http://schemas.openxmlformats.org/drawingml/2006/main">
            <a:off x="609600" y="4781550"/>
            <a:ext cx="333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Noto Sans KR"/>
                <a:ea typeface="Noto Sans KR"/>
                <a:cs typeface="Noto Sans KR"/>
              </a:defRPr>
            </a:pPr>
            <a:r>
              <a:t>출력:</a:t>
            </a:r>
          </a:p>
        </p:txBody>
      </p:sp>
      <p:sp>
        <p:nvSpPr>
          <p:cNvPr id="10" name="">
            <a:extLst xmlns:a="http://schemas.openxmlformats.org/drawingml/2006/main">
              <a:ext uri="{FF2B5EF4-FFF2-40B4-BE49-F238E27FC236}">
                <a16:creationId xmlns:a16="http://schemas.microsoft.com/office/drawing/2014/main" id="{BDFF74A4-9D82-4F17-BF02-9FD1B444BA20}"/>
              </a:ext>
            </a:extLst>
          </p:cNvPr>
          <p:cNvSpPr>
            <a:spLocks xmlns:a="http://schemas.openxmlformats.org/drawingml/2006/main" noGrp="1"/>
          </p:cNvSpPr>
          <p:nvPr/>
        </p:nvSpPr>
        <p:spPr>
          <a:xfrm xmlns:a="http://schemas.openxmlformats.org/drawingml/2006/main">
            <a:off x="4219575" y="4829175"/>
            <a:ext cx="73628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처리한 뒤 보여 주는 결과</a:t>
            </a:r>
          </a:p>
        </p:txBody>
      </p:sp>
      <p:sp>
        <p:nvSpPr>
          <p:cNvPr id="11" name="">
            <a:extLst xmlns:a="http://schemas.openxmlformats.org/drawingml/2006/main">
              <a:ext uri="{FF2B5EF4-FFF2-40B4-BE49-F238E27FC236}">
                <a16:creationId xmlns:a16="http://schemas.microsoft.com/office/drawing/2014/main" id="{D9483152-B6A7-4B01-B093-F8F55707574D}"/>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E272F1F-73EF-41FB-AC42-D8B7CF66319C}"/>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3" name="">
            <a:extLst xmlns:a="http://schemas.openxmlformats.org/drawingml/2006/main">
              <a:ext uri="{FF2B5EF4-FFF2-40B4-BE49-F238E27FC236}">
                <a16:creationId xmlns:a16="http://schemas.microsoft.com/office/drawing/2014/main" id="{EAD7DEFE-8719-481C-B6FA-3D34A3BFA31E}"/>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007</a:t>
            </a:r>
          </a:p>
        </p:txBody>
      </p:sp>
    </p:spTree>
    <p:extLst>
      <p:ext uri="{BB962C8B-B14F-4D97-AF65-F5344CB8AC3E}">
        <p14:creationId xmlns:p14="http://schemas.microsoft.com/office/powerpoint/2010/main" val="1225844863"/>
      </p:ext>
    </p:extLst>
  </p:cSld>
</p:sld>
</file>

<file path=ppt/slides/slide8.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806CFF4-3784-4BF7-9972-35561780E971}"/>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1교시</a:t>
            </a:r>
          </a:p>
        </p:txBody>
      </p:sp>
      <p:sp>
        <p:nvSpPr>
          <p:cNvPr id="2" name="">
            <a:extLst xmlns:a="http://schemas.openxmlformats.org/drawingml/2006/main">
              <a:ext uri="{FF2B5EF4-FFF2-40B4-BE49-F238E27FC236}">
                <a16:creationId xmlns:a16="http://schemas.microsoft.com/office/drawing/2014/main" id="{972AFB8B-CAD3-4147-8EDC-C815497493DE}"/>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파일을 열기와 실행하기</a:t>
            </a:r>
          </a:p>
        </p:txBody>
      </p:sp>
      <p:sp>
        <p:nvSpPr>
          <p:cNvPr id="3" name="">
            <a:extLst xmlns:a="http://schemas.openxmlformats.org/drawingml/2006/main">
              <a:ext uri="{FF2B5EF4-FFF2-40B4-BE49-F238E27FC236}">
                <a16:creationId xmlns:a16="http://schemas.microsoft.com/office/drawing/2014/main" id="{48E0ED08-22CE-4B3A-960E-6C257B496927}"/>
              </a:ext>
            </a:extLst>
          </p:cNvPr>
          <p:cNvSpPr>
            <a:spLocks xmlns:a="http://schemas.openxmlformats.org/drawingml/2006/main" noGrp="1"/>
          </p:cNvSpPr>
          <p:nvPr/>
        </p:nvSpPr>
        <p:spPr>
          <a:xfrm xmlns:a="http://schemas.openxmlformats.org/drawingml/2006/main">
            <a:off x="609600" y="2695575"/>
            <a:ext cx="3524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125" b="0">
                <a:solidFill>
                  <a:srgbClr val="002FA7"/>
                </a:solidFill>
                <a:latin typeface="Noto Sans KR"/>
                <a:ea typeface="Noto Sans KR"/>
                <a:cs typeface="Noto Sans KR"/>
              </a:defRPr>
            </a:pPr>
            <a:r>
              <a:t>열기와 실행하기</a:t>
            </a:r>
          </a:p>
        </p:txBody>
      </p:sp>
      <p:sp>
        <p:nvSpPr>
          <p:cNvPr id="4" name="">
            <a:extLst xmlns:a="http://schemas.openxmlformats.org/drawingml/2006/main">
              <a:ext uri="{FF2B5EF4-FFF2-40B4-BE49-F238E27FC236}">
                <a16:creationId xmlns:a16="http://schemas.microsoft.com/office/drawing/2014/main" id="{99352D80-8239-47EA-AD73-5F8F1421F44C}"/>
              </a:ext>
            </a:extLst>
          </p:cNvPr>
          <p:cNvSpPr>
            <a:spLocks xmlns:a="http://schemas.openxmlformats.org/drawingml/2006/main" noGrp="1"/>
          </p:cNvSpPr>
          <p:nvPr/>
        </p:nvSpPr>
        <p:spPr>
          <a:xfrm xmlns:a="http://schemas.openxmlformats.org/drawingml/2006/main">
            <a:off x="4333875" y="2562225"/>
            <a:ext cx="9525" cy="337185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32D86AC-731E-4A2D-986C-65EF04DA2E5C}"/>
              </a:ext>
            </a:extLst>
          </p:cNvPr>
          <p:cNvSpPr>
            <a:spLocks xmlns:a="http://schemas.openxmlformats.org/drawingml/2006/main" noGrp="1"/>
          </p:cNvSpPr>
          <p:nvPr/>
        </p:nvSpPr>
        <p:spPr>
          <a:xfrm xmlns:a="http://schemas.openxmlformats.org/drawingml/2006/main">
            <a:off x="4724400" y="259080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편집기는 코드 내용을 보여 줍니다.</a:t>
            </a:r>
          </a:p>
        </p:txBody>
      </p:sp>
      <p:sp>
        <p:nvSpPr>
          <p:cNvPr id="6" name="">
            <a:extLst xmlns:a="http://schemas.openxmlformats.org/drawingml/2006/main">
              <a:ext uri="{FF2B5EF4-FFF2-40B4-BE49-F238E27FC236}">
                <a16:creationId xmlns:a16="http://schemas.microsoft.com/office/drawing/2014/main" id="{391D1B3C-092F-4FD5-B4A4-A3DAB56DE4DC}"/>
              </a:ext>
            </a:extLst>
          </p:cNvPr>
          <p:cNvSpPr>
            <a:spLocks xmlns:a="http://schemas.openxmlformats.org/drawingml/2006/main" noGrp="1"/>
          </p:cNvSpPr>
          <p:nvPr/>
        </p:nvSpPr>
        <p:spPr>
          <a:xfrm xmlns:a="http://schemas.openxmlformats.org/drawingml/2006/main">
            <a:off x="4724400" y="3705225"/>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Python은 파일의 명령을 처리합니다.</a:t>
            </a:r>
          </a:p>
        </p:txBody>
      </p:sp>
      <p:sp>
        <p:nvSpPr>
          <p:cNvPr id="7" name="">
            <a:extLst xmlns:a="http://schemas.openxmlformats.org/drawingml/2006/main">
              <a:ext uri="{FF2B5EF4-FFF2-40B4-BE49-F238E27FC236}">
                <a16:creationId xmlns:a16="http://schemas.microsoft.com/office/drawing/2014/main" id="{6214C603-AA2D-473B-960D-FD17E2FDA517}"/>
              </a:ext>
            </a:extLst>
          </p:cNvPr>
          <p:cNvSpPr>
            <a:spLocks xmlns:a="http://schemas.openxmlformats.org/drawingml/2006/main" noGrp="1"/>
          </p:cNvSpPr>
          <p:nvPr/>
        </p:nvSpPr>
        <p:spPr>
          <a:xfrm xmlns:a="http://schemas.openxmlformats.org/drawingml/2006/main">
            <a:off x="4724400" y="481965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화면 출력은 코드 파일과 다릅니다.</a:t>
            </a:r>
          </a:p>
        </p:txBody>
      </p:sp>
      <p:sp>
        <p:nvSpPr>
          <p:cNvPr id="8" name="">
            <a:extLst xmlns:a="http://schemas.openxmlformats.org/drawingml/2006/main">
              <a:ext uri="{FF2B5EF4-FFF2-40B4-BE49-F238E27FC236}">
                <a16:creationId xmlns:a16="http://schemas.microsoft.com/office/drawing/2014/main" id="{0290255A-99DA-4116-A4A5-EDF842CA1799}"/>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2C66E2E-6585-49F5-9B27-C6111F5A6E67}"/>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0" name="">
            <a:extLst xmlns:a="http://schemas.openxmlformats.org/drawingml/2006/main">
              <a:ext uri="{FF2B5EF4-FFF2-40B4-BE49-F238E27FC236}">
                <a16:creationId xmlns:a16="http://schemas.microsoft.com/office/drawing/2014/main" id="{D411CE60-FBB7-4458-9F4A-A346643762AB}"/>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008</a:t>
            </a:r>
          </a:p>
        </p:txBody>
      </p:sp>
    </p:spTree>
    <p:extLst>
      <p:ext uri="{BB962C8B-B14F-4D97-AF65-F5344CB8AC3E}">
        <p14:creationId xmlns:p14="http://schemas.microsoft.com/office/powerpoint/2010/main" val="451647867"/>
      </p:ext>
    </p:extLst>
  </p:cSld>
</p:sld>
</file>

<file path=ppt/slides/slide9.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D847817-5235-4209-B63B-5F63795ED7D3}"/>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1교시</a:t>
            </a:r>
          </a:p>
        </p:txBody>
      </p:sp>
      <p:sp>
        <p:nvSpPr>
          <p:cNvPr id="2" name="">
            <a:extLst xmlns:a="http://schemas.openxmlformats.org/drawingml/2006/main">
              <a:ext uri="{FF2B5EF4-FFF2-40B4-BE49-F238E27FC236}">
                <a16:creationId xmlns:a16="http://schemas.microsoft.com/office/drawing/2014/main" id="{9A0BD69D-B3BB-45A9-AF9C-E5FC00EA08C6}"/>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완성 예 · 첫 출력</a:t>
            </a:r>
          </a:p>
        </p:txBody>
      </p:sp>
      <p:sp>
        <p:nvSpPr>
          <p:cNvPr id="3" name="">
            <a:extLst xmlns:a="http://schemas.openxmlformats.org/drawingml/2006/main">
              <a:ext uri="{FF2B5EF4-FFF2-40B4-BE49-F238E27FC236}">
                <a16:creationId xmlns:a16="http://schemas.microsoft.com/office/drawing/2014/main" id="{8A57E538-7B7B-48C2-A8E1-B35150FCB591}"/>
              </a:ext>
            </a:extLst>
          </p:cNvPr>
          <p:cNvSpPr>
            <a:spLocks xmlns:a="http://schemas.openxmlformats.org/drawingml/2006/main" noGrp="1"/>
          </p:cNvSpPr>
          <p:nvPr/>
        </p:nvSpPr>
        <p:spPr>
          <a:xfrm xmlns:a="http://schemas.openxmlformats.org/drawingml/2006/main">
            <a:off x="609600" y="2714625"/>
            <a:ext cx="10972800" cy="1714500"/>
          </a:xfrm>
          <a:prstGeom xmlns:a="http://schemas.openxmlformats.org/drawingml/2006/main" prst="rect">
            <a:avLst/>
          </a:prstGeom>
          <a:solidFill xmlns:a="http://schemas.openxmlformats.org/drawingml/2006/main">
            <a:srgbClr val="0A0A0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05E64E4-F5B0-4842-9549-2D5B56FFBDCA}"/>
              </a:ext>
            </a:extLst>
          </p:cNvPr>
          <p:cNvSpPr>
            <a:spLocks xmlns:a="http://schemas.openxmlformats.org/drawingml/2006/main" noGrp="1"/>
          </p:cNvSpPr>
          <p:nvPr/>
        </p:nvSpPr>
        <p:spPr>
          <a:xfrm xmlns:a="http://schemas.openxmlformats.org/drawingml/2006/main">
            <a:off x="790575" y="29051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01</a:t>
            </a:r>
          </a:p>
        </p:txBody>
      </p:sp>
      <p:sp>
        <p:nvSpPr>
          <p:cNvPr id="5" name="">
            <a:extLst xmlns:a="http://schemas.openxmlformats.org/drawingml/2006/main">
              <a:ext uri="{FF2B5EF4-FFF2-40B4-BE49-F238E27FC236}">
                <a16:creationId xmlns:a16="http://schemas.microsoft.com/office/drawing/2014/main" id="{05EFB9C1-8216-41CB-91BB-003CC37ADABE}"/>
              </a:ext>
            </a:extLst>
          </p:cNvPr>
          <p:cNvSpPr>
            <a:spLocks xmlns:a="http://schemas.openxmlformats.org/drawingml/2006/main" noGrp="1"/>
          </p:cNvSpPr>
          <p:nvPr/>
        </p:nvSpPr>
        <p:spPr>
          <a:xfrm xmlns:a="http://schemas.openxmlformats.org/drawingml/2006/main">
            <a:off x="1390650" y="28670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C7C7C7"/>
                </a:solidFill>
              </a:rPr>
              <a:t># 화면에 수업 시작을 표시합니다.</a:t>
            </a:r>
          </a:p>
        </p:txBody>
      </p:sp>
      <p:sp>
        <p:nvSpPr>
          <p:cNvPr id="6" name="">
            <a:extLst xmlns:a="http://schemas.openxmlformats.org/drawingml/2006/main">
              <a:ext uri="{FF2B5EF4-FFF2-40B4-BE49-F238E27FC236}">
                <a16:creationId xmlns:a16="http://schemas.microsoft.com/office/drawing/2014/main" id="{5A27F919-11EB-4B7D-B8A3-AA29CB6848B6}"/>
              </a:ext>
            </a:extLst>
          </p:cNvPr>
          <p:cNvSpPr>
            <a:spLocks xmlns:a="http://schemas.openxmlformats.org/drawingml/2006/main" noGrp="1"/>
          </p:cNvSpPr>
          <p:nvPr/>
        </p:nvSpPr>
        <p:spPr>
          <a:xfrm xmlns:a="http://schemas.openxmlformats.org/drawingml/2006/main">
            <a:off x="790575" y="32480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02</a:t>
            </a:r>
          </a:p>
        </p:txBody>
      </p:sp>
      <p:sp>
        <p:nvSpPr>
          <p:cNvPr id="7" name="">
            <a:extLst xmlns:a="http://schemas.openxmlformats.org/drawingml/2006/main">
              <a:ext uri="{FF2B5EF4-FFF2-40B4-BE49-F238E27FC236}">
                <a16:creationId xmlns:a16="http://schemas.microsoft.com/office/drawing/2014/main" id="{8C030213-B270-4DD1-8855-1FDCA2C1EE4F}"/>
              </a:ext>
            </a:extLst>
          </p:cNvPr>
          <p:cNvSpPr>
            <a:spLocks xmlns:a="http://schemas.openxmlformats.org/drawingml/2006/main" noGrp="1"/>
          </p:cNvSpPr>
          <p:nvPr/>
        </p:nvSpPr>
        <p:spPr>
          <a:xfrm xmlns:a="http://schemas.openxmlformats.org/drawingml/2006/main">
            <a:off x="1390650" y="32099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print(</a:t>
            </a:r>
            <a:r>
              <a:rPr>
                <a:solidFill>
                  <a:srgbClr val="BACBFA"/>
                </a:solidFill>
              </a:rPr>
              <a:t>"Python 점검 시작"</a:t>
            </a:r>
            <a:r>
              <a:rPr>
                <a:solidFill>
                  <a:srgbClr val="FFFFFF"/>
                </a:solidFill>
              </a:rPr>
              <a:t>)</a:t>
            </a:r>
          </a:p>
        </p:txBody>
      </p:sp>
      <p:sp>
        <p:nvSpPr>
          <p:cNvPr id="8" name="">
            <a:extLst xmlns:a="http://schemas.openxmlformats.org/drawingml/2006/main">
              <a:ext uri="{FF2B5EF4-FFF2-40B4-BE49-F238E27FC236}">
                <a16:creationId xmlns:a16="http://schemas.microsoft.com/office/drawing/2014/main" id="{126E35CC-C85C-42D8-8D85-4245E0319FDC}"/>
              </a:ext>
            </a:extLst>
          </p:cNvPr>
          <p:cNvSpPr>
            <a:spLocks xmlns:a="http://schemas.openxmlformats.org/drawingml/2006/main" noGrp="1"/>
          </p:cNvSpPr>
          <p:nvPr/>
        </p:nvSpPr>
        <p:spPr>
          <a:xfrm xmlns:a="http://schemas.openxmlformats.org/drawingml/2006/main">
            <a:off x="790575" y="35909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03</a:t>
            </a:r>
          </a:p>
        </p:txBody>
      </p:sp>
      <p:sp>
        <p:nvSpPr>
          <p:cNvPr id="9" name="">
            <a:extLst xmlns:a="http://schemas.openxmlformats.org/drawingml/2006/main">
              <a:ext uri="{FF2B5EF4-FFF2-40B4-BE49-F238E27FC236}">
                <a16:creationId xmlns:a16="http://schemas.microsoft.com/office/drawing/2014/main" id="{BE99921E-1693-4586-AEEA-628B8DC06B95}"/>
              </a:ext>
            </a:extLst>
          </p:cNvPr>
          <p:cNvSpPr>
            <a:spLocks xmlns:a="http://schemas.openxmlformats.org/drawingml/2006/main" noGrp="1"/>
          </p:cNvSpPr>
          <p:nvPr/>
        </p:nvSpPr>
        <p:spPr>
          <a:xfrm xmlns:a="http://schemas.openxmlformats.org/drawingml/2006/main">
            <a:off x="1390650" y="35528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print(</a:t>
            </a:r>
            <a:r>
              <a:rPr>
                <a:solidFill>
                  <a:srgbClr val="BACBFA"/>
                </a:solidFill>
              </a:rPr>
              <a:t>"S01"</a:t>
            </a:r>
            <a:r>
              <a:rPr>
                <a:solidFill>
                  <a:srgbClr val="FFFFFF"/>
                </a:solidFill>
              </a:rPr>
              <a:t>, 22.5)</a:t>
            </a:r>
          </a:p>
        </p:txBody>
      </p:sp>
      <p:sp>
        <p:nvSpPr>
          <p:cNvPr id="10" name="">
            <a:extLst xmlns:a="http://schemas.openxmlformats.org/drawingml/2006/main">
              <a:ext uri="{FF2B5EF4-FFF2-40B4-BE49-F238E27FC236}">
                <a16:creationId xmlns:a16="http://schemas.microsoft.com/office/drawing/2014/main" id="{67FBE76F-BC31-44EC-ADB1-D93ADF98DB5E}"/>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8D5F5FB-A46C-4F44-A40F-6D5F0257D315}"/>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2" name="">
            <a:extLst xmlns:a="http://schemas.openxmlformats.org/drawingml/2006/main">
              <a:ext uri="{FF2B5EF4-FFF2-40B4-BE49-F238E27FC236}">
                <a16:creationId xmlns:a16="http://schemas.microsoft.com/office/drawing/2014/main" id="{74E84E4D-2EAC-445C-BAB3-7BE5A2473965}"/>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009</a:t>
            </a:r>
          </a:p>
        </p:txBody>
      </p:sp>
    </p:spTree>
    <p:extLst>
      <p:ext uri="{BB962C8B-B14F-4D97-AF65-F5344CB8AC3E}">
        <p14:creationId xmlns:p14="http://schemas.microsoft.com/office/powerpoint/2010/main" val="494904476"/>
      </p:ext>
    </p:extLst>
  </p:cSld>
</p:sld>
</file>

<file path=ppt/slides/slide10.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D04815D-F03E-4BDB-AA39-9A2655C42DDE}"/>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1교시</a:t>
            </a:r>
          </a:p>
        </p:txBody>
      </p:sp>
      <p:sp>
        <p:nvSpPr>
          <p:cNvPr id="2" name="">
            <a:extLst xmlns:a="http://schemas.openxmlformats.org/drawingml/2006/main">
              <a:ext uri="{FF2B5EF4-FFF2-40B4-BE49-F238E27FC236}">
                <a16:creationId xmlns:a16="http://schemas.microsoft.com/office/drawing/2014/main" id="{40DB4F8E-BE23-4060-A1FD-5F19A523766F}"/>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첫 코드의 세 줄</a:t>
            </a:r>
          </a:p>
        </p:txBody>
      </p:sp>
      <p:sp>
        <p:nvSpPr>
          <p:cNvPr id="3" name="">
            <a:extLst xmlns:a="http://schemas.openxmlformats.org/drawingml/2006/main">
              <a:ext uri="{FF2B5EF4-FFF2-40B4-BE49-F238E27FC236}">
                <a16:creationId xmlns:a16="http://schemas.microsoft.com/office/drawing/2014/main" id="{1BE6A560-5133-4D2B-A345-1503C39EAC0B}"/>
              </a:ext>
            </a:extLst>
          </p:cNvPr>
          <p:cNvSpPr>
            <a:spLocks xmlns:a="http://schemas.openxmlformats.org/drawingml/2006/main" noGrp="1"/>
          </p:cNvSpPr>
          <p:nvPr/>
        </p:nvSpPr>
        <p:spPr>
          <a:xfrm xmlns:a="http://schemas.openxmlformats.org/drawingml/2006/main">
            <a:off x="609600" y="2695575"/>
            <a:ext cx="3524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125" b="0">
                <a:solidFill>
                  <a:srgbClr val="002FA7"/>
                </a:solidFill>
                <a:latin typeface="Noto Sans KR"/>
                <a:ea typeface="Noto Sans KR"/>
                <a:cs typeface="Noto Sans KR"/>
              </a:defRPr>
            </a:pPr>
            <a:r>
              <a:t>큰따옴표 안 글자</a:t>
            </a:r>
          </a:p>
        </p:txBody>
      </p:sp>
      <p:sp>
        <p:nvSpPr>
          <p:cNvPr id="4" name="">
            <a:extLst xmlns:a="http://schemas.openxmlformats.org/drawingml/2006/main">
              <a:ext uri="{FF2B5EF4-FFF2-40B4-BE49-F238E27FC236}">
                <a16:creationId xmlns:a16="http://schemas.microsoft.com/office/drawing/2014/main" id="{1F3EFA97-C8E6-4B5D-A174-4B9AE19930A9}"/>
              </a:ext>
            </a:extLst>
          </p:cNvPr>
          <p:cNvSpPr>
            <a:spLocks xmlns:a="http://schemas.openxmlformats.org/drawingml/2006/main" noGrp="1"/>
          </p:cNvSpPr>
          <p:nvPr/>
        </p:nvSpPr>
        <p:spPr>
          <a:xfrm xmlns:a="http://schemas.openxmlformats.org/drawingml/2006/main">
            <a:off x="4333875" y="2562225"/>
            <a:ext cx="9525" cy="337185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8B7F233-E1B0-4146-9326-13F38B30A4A0}"/>
              </a:ext>
            </a:extLst>
          </p:cNvPr>
          <p:cNvSpPr>
            <a:spLocks xmlns:a="http://schemas.openxmlformats.org/drawingml/2006/main" noGrp="1"/>
          </p:cNvSpPr>
          <p:nvPr/>
        </p:nvSpPr>
        <p:spPr>
          <a:xfrm xmlns:a="http://schemas.openxmlformats.org/drawingml/2006/main">
            <a:off x="4724400" y="259080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#으로 시작한 줄은 주석입니다.</a:t>
            </a:r>
          </a:p>
        </p:txBody>
      </p:sp>
      <p:sp>
        <p:nvSpPr>
          <p:cNvPr id="6" name="">
            <a:extLst xmlns:a="http://schemas.openxmlformats.org/drawingml/2006/main">
              <a:ext uri="{FF2B5EF4-FFF2-40B4-BE49-F238E27FC236}">
                <a16:creationId xmlns:a16="http://schemas.microsoft.com/office/drawing/2014/main" id="{834E944C-E5DE-4FF6-9A96-69CBB50DF4FF}"/>
              </a:ext>
            </a:extLst>
          </p:cNvPr>
          <p:cNvSpPr>
            <a:spLocks xmlns:a="http://schemas.openxmlformats.org/drawingml/2006/main" noGrp="1"/>
          </p:cNvSpPr>
          <p:nvPr/>
        </p:nvSpPr>
        <p:spPr>
          <a:xfrm xmlns:a="http://schemas.openxmlformats.org/drawingml/2006/main">
            <a:off x="4724400" y="3705225"/>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print는 괄호 안 값을 화면에 보여 줍니다.</a:t>
            </a:r>
          </a:p>
        </p:txBody>
      </p:sp>
      <p:sp>
        <p:nvSpPr>
          <p:cNvPr id="7" name="">
            <a:extLst xmlns:a="http://schemas.openxmlformats.org/drawingml/2006/main">
              <a:ext uri="{FF2B5EF4-FFF2-40B4-BE49-F238E27FC236}">
                <a16:creationId xmlns:a16="http://schemas.microsoft.com/office/drawing/2014/main" id="{09CC3A52-2AD4-45BC-9869-04B454BF5A86}"/>
              </a:ext>
            </a:extLst>
          </p:cNvPr>
          <p:cNvSpPr>
            <a:spLocks xmlns:a="http://schemas.openxmlformats.org/drawingml/2006/main" noGrp="1"/>
          </p:cNvSpPr>
          <p:nvPr/>
        </p:nvSpPr>
        <p:spPr>
          <a:xfrm xmlns:a="http://schemas.openxmlformats.org/drawingml/2006/main">
            <a:off x="4724400" y="481965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큰따옴표 안 글자</a:t>
            </a:r>
            <a:r>
              <a:t>는 문자열입니다.</a:t>
            </a:r>
          </a:p>
        </p:txBody>
      </p:sp>
      <p:sp>
        <p:nvSpPr>
          <p:cNvPr id="8" name="">
            <a:extLst xmlns:a="http://schemas.openxmlformats.org/drawingml/2006/main">
              <a:ext uri="{FF2B5EF4-FFF2-40B4-BE49-F238E27FC236}">
                <a16:creationId xmlns:a16="http://schemas.microsoft.com/office/drawing/2014/main" id="{8CEA0B18-DB14-499E-94D4-6ECCDD6B23B3}"/>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5E45950-6F21-4532-B437-DD1409701B0F}"/>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0" name="">
            <a:extLst xmlns:a="http://schemas.openxmlformats.org/drawingml/2006/main">
              <a:ext uri="{FF2B5EF4-FFF2-40B4-BE49-F238E27FC236}">
                <a16:creationId xmlns:a16="http://schemas.microsoft.com/office/drawing/2014/main" id="{1AEE7B18-07C8-4859-BB66-AAF352AECD3D}"/>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010</a:t>
            </a:r>
          </a:p>
        </p:txBody>
      </p:sp>
    </p:spTree>
    <p:extLst>
      <p:ext uri="{BB962C8B-B14F-4D97-AF65-F5344CB8AC3E}">
        <p14:creationId xmlns:p14="http://schemas.microsoft.com/office/powerpoint/2010/main" val="1211235230"/>
      </p:ext>
    </p:extLst>
  </p:cSld>
</p:sld>
</file>

<file path=ppt/slides/slide11.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09E50CA-8631-4579-97D0-4AB8205D9CA0}"/>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1교시</a:t>
            </a:r>
          </a:p>
        </p:txBody>
      </p:sp>
      <p:sp>
        <p:nvSpPr>
          <p:cNvPr id="2" name="">
            <a:extLst xmlns:a="http://schemas.openxmlformats.org/drawingml/2006/main">
              <a:ext uri="{FF2B5EF4-FFF2-40B4-BE49-F238E27FC236}">
                <a16:creationId xmlns:a16="http://schemas.microsoft.com/office/drawing/2014/main" id="{E6325CB6-5DD3-4D07-AFD2-EFF0DD6C3EED}"/>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예상 출력 · 두 줄</a:t>
            </a:r>
          </a:p>
        </p:txBody>
      </p:sp>
      <p:sp>
        <p:nvSpPr>
          <p:cNvPr id="3" name="">
            <a:extLst xmlns:a="http://schemas.openxmlformats.org/drawingml/2006/main">
              <a:ext uri="{FF2B5EF4-FFF2-40B4-BE49-F238E27FC236}">
                <a16:creationId xmlns:a16="http://schemas.microsoft.com/office/drawing/2014/main" id="{3AA589FE-A4E5-40E8-8D25-023D4CD428E3}"/>
              </a:ext>
            </a:extLst>
          </p:cNvPr>
          <p:cNvSpPr>
            <a:spLocks xmlns:a="http://schemas.openxmlformats.org/drawingml/2006/main" noGrp="1"/>
          </p:cNvSpPr>
          <p:nvPr/>
        </p:nvSpPr>
        <p:spPr>
          <a:xfrm xmlns:a="http://schemas.openxmlformats.org/drawingml/2006/main">
            <a:off x="609600" y="2714625"/>
            <a:ext cx="10972800" cy="1714500"/>
          </a:xfrm>
          <a:prstGeom xmlns:a="http://schemas.openxmlformats.org/drawingml/2006/main" prst="rect">
            <a:avLst/>
          </a:prstGeom>
          <a:solidFill xmlns:a="http://schemas.openxmlformats.org/drawingml/2006/main">
            <a:srgbClr val="0A0A0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FAC0670-D3F1-4F08-AF97-0740095BB107}"/>
              </a:ext>
            </a:extLst>
          </p:cNvPr>
          <p:cNvSpPr>
            <a:spLocks xmlns:a="http://schemas.openxmlformats.org/drawingml/2006/main" noGrp="1"/>
          </p:cNvSpPr>
          <p:nvPr/>
        </p:nvSpPr>
        <p:spPr>
          <a:xfrm xmlns:a="http://schemas.openxmlformats.org/drawingml/2006/main">
            <a:off x="790575" y="29051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01</a:t>
            </a:r>
          </a:p>
        </p:txBody>
      </p:sp>
      <p:sp>
        <p:nvSpPr>
          <p:cNvPr id="5" name="">
            <a:extLst xmlns:a="http://schemas.openxmlformats.org/drawingml/2006/main">
              <a:ext uri="{FF2B5EF4-FFF2-40B4-BE49-F238E27FC236}">
                <a16:creationId xmlns:a16="http://schemas.microsoft.com/office/drawing/2014/main" id="{3BFB13B7-B1B6-4CC9-9117-BB6BDFCA9CE8}"/>
              </a:ext>
            </a:extLst>
          </p:cNvPr>
          <p:cNvSpPr>
            <a:spLocks xmlns:a="http://schemas.openxmlformats.org/drawingml/2006/main" noGrp="1"/>
          </p:cNvSpPr>
          <p:nvPr/>
        </p:nvSpPr>
        <p:spPr>
          <a:xfrm xmlns:a="http://schemas.openxmlformats.org/drawingml/2006/main">
            <a:off x="1390650" y="28670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Python 점검 시작</a:t>
            </a:r>
          </a:p>
        </p:txBody>
      </p:sp>
      <p:sp>
        <p:nvSpPr>
          <p:cNvPr id="6" name="">
            <a:extLst xmlns:a="http://schemas.openxmlformats.org/drawingml/2006/main">
              <a:ext uri="{FF2B5EF4-FFF2-40B4-BE49-F238E27FC236}">
                <a16:creationId xmlns:a16="http://schemas.microsoft.com/office/drawing/2014/main" id="{2EDA603B-80C2-4611-8631-61EE3B72A64E}"/>
              </a:ext>
            </a:extLst>
          </p:cNvPr>
          <p:cNvSpPr>
            <a:spLocks xmlns:a="http://schemas.openxmlformats.org/drawingml/2006/main" noGrp="1"/>
          </p:cNvSpPr>
          <p:nvPr/>
        </p:nvSpPr>
        <p:spPr>
          <a:xfrm xmlns:a="http://schemas.openxmlformats.org/drawingml/2006/main">
            <a:off x="790575" y="32480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02</a:t>
            </a:r>
          </a:p>
        </p:txBody>
      </p:sp>
      <p:sp>
        <p:nvSpPr>
          <p:cNvPr id="7" name="">
            <a:extLst xmlns:a="http://schemas.openxmlformats.org/drawingml/2006/main">
              <a:ext uri="{FF2B5EF4-FFF2-40B4-BE49-F238E27FC236}">
                <a16:creationId xmlns:a16="http://schemas.microsoft.com/office/drawing/2014/main" id="{FCC084CE-DD64-4F01-8944-A3D4D63CBDD8}"/>
              </a:ext>
            </a:extLst>
          </p:cNvPr>
          <p:cNvSpPr>
            <a:spLocks xmlns:a="http://schemas.openxmlformats.org/drawingml/2006/main" noGrp="1"/>
          </p:cNvSpPr>
          <p:nvPr/>
        </p:nvSpPr>
        <p:spPr>
          <a:xfrm xmlns:a="http://schemas.openxmlformats.org/drawingml/2006/main">
            <a:off x="1390650" y="32099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S01 22.5</a:t>
            </a:r>
          </a:p>
        </p:txBody>
      </p:sp>
      <p:sp>
        <p:nvSpPr>
          <p:cNvPr id="8" name="">
            <a:extLst xmlns:a="http://schemas.openxmlformats.org/drawingml/2006/main">
              <a:ext uri="{FF2B5EF4-FFF2-40B4-BE49-F238E27FC236}">
                <a16:creationId xmlns:a16="http://schemas.microsoft.com/office/drawing/2014/main" id="{D2351839-ECDF-42DE-BDAD-B733FCA6124D}"/>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4BA39E7-22F4-4000-8451-CEA9BD889634}"/>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0" name="">
            <a:extLst xmlns:a="http://schemas.openxmlformats.org/drawingml/2006/main">
              <a:ext uri="{FF2B5EF4-FFF2-40B4-BE49-F238E27FC236}">
                <a16:creationId xmlns:a16="http://schemas.microsoft.com/office/drawing/2014/main" id="{FF535262-6807-4F9D-AAE6-E571AFCF7636}"/>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011</a:t>
            </a:r>
          </a:p>
        </p:txBody>
      </p:sp>
    </p:spTree>
    <p:extLst>
      <p:ext uri="{BB962C8B-B14F-4D97-AF65-F5344CB8AC3E}">
        <p14:creationId xmlns:p14="http://schemas.microsoft.com/office/powerpoint/2010/main" val="855236303"/>
      </p:ext>
    </p:extLst>
  </p:cSld>
</p:sld>
</file>

<file path=ppt/slides/slide12.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B105F0F-9216-4384-BBE9-876B6849F061}"/>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1교시</a:t>
            </a:r>
          </a:p>
        </p:txBody>
      </p:sp>
      <p:sp>
        <p:nvSpPr>
          <p:cNvPr id="2" name="">
            <a:extLst xmlns:a="http://schemas.openxmlformats.org/drawingml/2006/main">
              <a:ext uri="{FF2B5EF4-FFF2-40B4-BE49-F238E27FC236}">
                <a16:creationId xmlns:a16="http://schemas.microsoft.com/office/drawing/2014/main" id="{A25CE354-1DE2-4AB1-9738-FE106DEB1A4E}"/>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실행 위치를 확인하기</a:t>
            </a:r>
          </a:p>
        </p:txBody>
      </p:sp>
      <p:sp>
        <p:nvSpPr>
          <p:cNvPr id="3" name="">
            <a:extLst xmlns:a="http://schemas.openxmlformats.org/drawingml/2006/main">
              <a:ext uri="{FF2B5EF4-FFF2-40B4-BE49-F238E27FC236}">
                <a16:creationId xmlns:a16="http://schemas.microsoft.com/office/drawing/2014/main" id="{F2DDC7F5-21CB-4516-9116-A0560CADD40E}"/>
              </a:ext>
            </a:extLst>
          </p:cNvPr>
          <p:cNvSpPr>
            <a:spLocks xmlns:a="http://schemas.openxmlformats.org/drawingml/2006/main" noGrp="1"/>
          </p:cNvSpPr>
          <p:nvPr/>
        </p:nvSpPr>
        <p:spPr>
          <a:xfrm xmlns:a="http://schemas.openxmlformats.org/drawingml/2006/main">
            <a:off x="609600" y="241935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01</a:t>
            </a:r>
          </a:p>
        </p:txBody>
      </p:sp>
      <p:sp>
        <p:nvSpPr>
          <p:cNvPr id="4" name="">
            <a:extLst xmlns:a="http://schemas.openxmlformats.org/drawingml/2006/main">
              <a:ext uri="{FF2B5EF4-FFF2-40B4-BE49-F238E27FC236}">
                <a16:creationId xmlns:a16="http://schemas.microsoft.com/office/drawing/2014/main" id="{9F3862B7-C695-43F4-9532-7EB3A9DECEED}"/>
              </a:ext>
            </a:extLst>
          </p:cNvPr>
          <p:cNvSpPr>
            <a:spLocks xmlns:a="http://schemas.openxmlformats.org/drawingml/2006/main" noGrp="1"/>
          </p:cNvSpPr>
          <p:nvPr/>
        </p:nvSpPr>
        <p:spPr>
          <a:xfrm xmlns:a="http://schemas.openxmlformats.org/drawingml/2006/main">
            <a:off x="1657350" y="248602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ZIP을 모두 추출합니다.</a:t>
            </a:r>
          </a:p>
        </p:txBody>
      </p:sp>
      <p:sp>
        <p:nvSpPr>
          <p:cNvPr id="5" name="">
            <a:extLst xmlns:a="http://schemas.openxmlformats.org/drawingml/2006/main">
              <a:ext uri="{FF2B5EF4-FFF2-40B4-BE49-F238E27FC236}">
                <a16:creationId xmlns:a16="http://schemas.microsoft.com/office/drawing/2014/main" id="{68DB9CFE-706F-4BBB-AD7B-75B5A91AFA80}"/>
              </a:ext>
            </a:extLst>
          </p:cNvPr>
          <p:cNvSpPr>
            <a:spLocks xmlns:a="http://schemas.openxmlformats.org/drawingml/2006/main" noGrp="1"/>
          </p:cNvSpPr>
          <p:nvPr/>
        </p:nvSpPr>
        <p:spPr>
          <a:xfrm xmlns:a="http://schemas.openxmlformats.org/drawingml/2006/main">
            <a:off x="1657350" y="3419475"/>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DE30A18-7C9A-43B8-8C49-FA65ACAE2B88}"/>
              </a:ext>
            </a:extLst>
          </p:cNvPr>
          <p:cNvSpPr>
            <a:spLocks xmlns:a="http://schemas.openxmlformats.org/drawingml/2006/main" noGrp="1"/>
          </p:cNvSpPr>
          <p:nvPr/>
        </p:nvSpPr>
        <p:spPr>
          <a:xfrm xmlns:a="http://schemas.openxmlformats.org/drawingml/2006/main">
            <a:off x="609600" y="3514725"/>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02</a:t>
            </a:r>
          </a:p>
        </p:txBody>
      </p:sp>
      <p:sp>
        <p:nvSpPr>
          <p:cNvPr id="7" name="">
            <a:extLst xmlns:a="http://schemas.openxmlformats.org/drawingml/2006/main">
              <a:ext uri="{FF2B5EF4-FFF2-40B4-BE49-F238E27FC236}">
                <a16:creationId xmlns:a16="http://schemas.microsoft.com/office/drawing/2014/main" id="{1F3A2948-3659-4C1C-939F-FFE3ECC83BC7}"/>
              </a:ext>
            </a:extLst>
          </p:cNvPr>
          <p:cNvSpPr>
            <a:spLocks xmlns:a="http://schemas.openxmlformats.org/drawingml/2006/main" noGrp="1"/>
          </p:cNvSpPr>
          <p:nvPr/>
        </p:nvSpPr>
        <p:spPr>
          <a:xfrm xmlns:a="http://schemas.openxmlformats.org/drawingml/2006/main">
            <a:off x="1657350" y="358140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course 폴더</a:t>
            </a:r>
            <a:r>
              <a:t>에서 PowerShell을 엽니다.</a:t>
            </a:r>
          </a:p>
        </p:txBody>
      </p:sp>
      <p:sp>
        <p:nvSpPr>
          <p:cNvPr id="8" name="">
            <a:extLst xmlns:a="http://schemas.openxmlformats.org/drawingml/2006/main">
              <a:ext uri="{FF2B5EF4-FFF2-40B4-BE49-F238E27FC236}">
                <a16:creationId xmlns:a16="http://schemas.microsoft.com/office/drawing/2014/main" id="{69E0FC02-D668-44C3-9C34-E2BFA504786E}"/>
              </a:ext>
            </a:extLst>
          </p:cNvPr>
          <p:cNvSpPr>
            <a:spLocks xmlns:a="http://schemas.openxmlformats.org/drawingml/2006/main" noGrp="1"/>
          </p:cNvSpPr>
          <p:nvPr/>
        </p:nvSpPr>
        <p:spPr>
          <a:xfrm xmlns:a="http://schemas.openxmlformats.org/drawingml/2006/main">
            <a:off x="1657350" y="4514850"/>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203FED5-60A3-4253-B2E8-ECEF979CA4DF}"/>
              </a:ext>
            </a:extLst>
          </p:cNvPr>
          <p:cNvSpPr>
            <a:spLocks xmlns:a="http://schemas.openxmlformats.org/drawingml/2006/main" noGrp="1"/>
          </p:cNvSpPr>
          <p:nvPr/>
        </p:nvSpPr>
        <p:spPr>
          <a:xfrm xmlns:a="http://schemas.openxmlformats.org/drawingml/2006/main">
            <a:off x="609600" y="461010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03</a:t>
            </a:r>
          </a:p>
        </p:txBody>
      </p:sp>
      <p:sp>
        <p:nvSpPr>
          <p:cNvPr id="10" name="">
            <a:extLst xmlns:a="http://schemas.openxmlformats.org/drawingml/2006/main">
              <a:ext uri="{FF2B5EF4-FFF2-40B4-BE49-F238E27FC236}">
                <a16:creationId xmlns:a16="http://schemas.microsoft.com/office/drawing/2014/main" id="{FE6D54CB-B3BC-4A08-88B0-B9B43DBCCB4F}"/>
              </a:ext>
            </a:extLst>
          </p:cNvPr>
          <p:cNvSpPr>
            <a:spLocks xmlns:a="http://schemas.openxmlformats.org/drawingml/2006/main" noGrp="1"/>
          </p:cNvSpPr>
          <p:nvPr/>
        </p:nvSpPr>
        <p:spPr>
          <a:xfrm xmlns:a="http://schemas.openxmlformats.org/drawingml/2006/main">
            <a:off x="1657350" y="467677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code·data·work가 보이는지 확인합니다.</a:t>
            </a:r>
          </a:p>
        </p:txBody>
      </p:sp>
      <p:sp>
        <p:nvSpPr>
          <p:cNvPr id="11" name="">
            <a:extLst xmlns:a="http://schemas.openxmlformats.org/drawingml/2006/main">
              <a:ext uri="{FF2B5EF4-FFF2-40B4-BE49-F238E27FC236}">
                <a16:creationId xmlns:a16="http://schemas.microsoft.com/office/drawing/2014/main" id="{4B6294EC-0927-4DDA-9659-11D642807F51}"/>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0748B18-B495-4438-B303-49D0EB1FE333}"/>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3" name="">
            <a:extLst xmlns:a="http://schemas.openxmlformats.org/drawingml/2006/main">
              <a:ext uri="{FF2B5EF4-FFF2-40B4-BE49-F238E27FC236}">
                <a16:creationId xmlns:a16="http://schemas.microsoft.com/office/drawing/2014/main" id="{F250AE8B-A3A9-4EE0-AC00-6F9F96D12D4C}"/>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012</a:t>
            </a:r>
          </a:p>
        </p:txBody>
      </p:sp>
    </p:spTree>
    <p:extLst>
      <p:ext uri="{BB962C8B-B14F-4D97-AF65-F5344CB8AC3E}">
        <p14:creationId xmlns:p14="http://schemas.microsoft.com/office/powerpoint/2010/main" val="2130674439"/>
      </p:ext>
    </p:extLst>
  </p:cSld>
</p:sld>
</file>

<file path=ppt/slides/slide13.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281E149-4E06-4C93-B879-EAA5B803E881}"/>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1교시</a:t>
            </a:r>
          </a:p>
        </p:txBody>
      </p:sp>
      <p:sp>
        <p:nvSpPr>
          <p:cNvPr id="2" name="">
            <a:extLst xmlns:a="http://schemas.openxmlformats.org/drawingml/2006/main">
              <a:ext uri="{FF2B5EF4-FFF2-40B4-BE49-F238E27FC236}">
                <a16:creationId xmlns:a16="http://schemas.microsoft.com/office/drawing/2014/main" id="{D82632E5-7EF2-4198-86EE-700AD921F85E}"/>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입력할 실행 명령</a:t>
            </a:r>
          </a:p>
        </p:txBody>
      </p:sp>
      <p:sp>
        <p:nvSpPr>
          <p:cNvPr id="3" name="">
            <a:extLst xmlns:a="http://schemas.openxmlformats.org/drawingml/2006/main">
              <a:ext uri="{FF2B5EF4-FFF2-40B4-BE49-F238E27FC236}">
                <a16:creationId xmlns:a16="http://schemas.microsoft.com/office/drawing/2014/main" id="{1CABEACD-89A3-485A-ACEB-B4A307FD4DB5}"/>
              </a:ext>
            </a:extLst>
          </p:cNvPr>
          <p:cNvSpPr>
            <a:spLocks xmlns:a="http://schemas.openxmlformats.org/drawingml/2006/main" noGrp="1"/>
          </p:cNvSpPr>
          <p:nvPr/>
        </p:nvSpPr>
        <p:spPr>
          <a:xfrm xmlns:a="http://schemas.openxmlformats.org/drawingml/2006/main">
            <a:off x="609600" y="2152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002FA7"/>
                </a:solidFill>
                <a:latin typeface="Noto Sans KR"/>
                <a:ea typeface="Noto Sans KR"/>
                <a:cs typeface="Noto Sans KR"/>
              </a:defRPr>
            </a:pPr>
            <a:r>
              <a:t>PS ...&gt; 안내 문구는 입력하지 않습니다.</a:t>
            </a:r>
          </a:p>
        </p:txBody>
      </p:sp>
      <p:sp>
        <p:nvSpPr>
          <p:cNvPr id="4" name="">
            <a:extLst xmlns:a="http://schemas.openxmlformats.org/drawingml/2006/main">
              <a:ext uri="{FF2B5EF4-FFF2-40B4-BE49-F238E27FC236}">
                <a16:creationId xmlns:a16="http://schemas.microsoft.com/office/drawing/2014/main" id="{159260A4-2ACF-4AAA-9643-B2C01F64C1BA}"/>
              </a:ext>
            </a:extLst>
          </p:cNvPr>
          <p:cNvSpPr>
            <a:spLocks xmlns:a="http://schemas.openxmlformats.org/drawingml/2006/main" noGrp="1"/>
          </p:cNvSpPr>
          <p:nvPr/>
        </p:nvSpPr>
        <p:spPr>
          <a:xfrm xmlns:a="http://schemas.openxmlformats.org/drawingml/2006/main">
            <a:off x="609600" y="2714625"/>
            <a:ext cx="10972800" cy="1714500"/>
          </a:xfrm>
          <a:prstGeom xmlns:a="http://schemas.openxmlformats.org/drawingml/2006/main" prst="rect">
            <a:avLst/>
          </a:prstGeom>
          <a:solidFill xmlns:a="http://schemas.openxmlformats.org/drawingml/2006/main">
            <a:srgbClr val="0A0A0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698F03A-9D4F-4D30-9A8E-81DB9B85329F}"/>
              </a:ext>
            </a:extLst>
          </p:cNvPr>
          <p:cNvSpPr>
            <a:spLocks xmlns:a="http://schemas.openxmlformats.org/drawingml/2006/main" noGrp="1"/>
          </p:cNvSpPr>
          <p:nvPr/>
        </p:nvSpPr>
        <p:spPr>
          <a:xfrm xmlns:a="http://schemas.openxmlformats.org/drawingml/2006/main">
            <a:off x="790575" y="29051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01</a:t>
            </a:r>
          </a:p>
        </p:txBody>
      </p:sp>
      <p:sp>
        <p:nvSpPr>
          <p:cNvPr id="6" name="">
            <a:extLst xmlns:a="http://schemas.openxmlformats.org/drawingml/2006/main">
              <a:ext uri="{FF2B5EF4-FFF2-40B4-BE49-F238E27FC236}">
                <a16:creationId xmlns:a16="http://schemas.microsoft.com/office/drawing/2014/main" id="{1FEFDA67-D3E3-4D2D-9357-09F80A62EC96}"/>
              </a:ext>
            </a:extLst>
          </p:cNvPr>
          <p:cNvSpPr>
            <a:spLocks xmlns:a="http://schemas.openxmlformats.org/drawingml/2006/main" noGrp="1"/>
          </p:cNvSpPr>
          <p:nvPr/>
        </p:nvSpPr>
        <p:spPr>
          <a:xfrm xmlns:a="http://schemas.openxmlformats.org/drawingml/2006/main">
            <a:off x="1390650" y="28670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python -X utf8 code/A02_print.py</a:t>
            </a:r>
          </a:p>
        </p:txBody>
      </p:sp>
      <p:sp>
        <p:nvSpPr>
          <p:cNvPr id="7" name="">
            <a:extLst xmlns:a="http://schemas.openxmlformats.org/drawingml/2006/main">
              <a:ext uri="{FF2B5EF4-FFF2-40B4-BE49-F238E27FC236}">
                <a16:creationId xmlns:a16="http://schemas.microsoft.com/office/drawing/2014/main" id="{D632DF7D-5B63-4454-B9A8-DC02BEBA7326}"/>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20B81A9-216A-4C77-9EF5-35BE663CECB0}"/>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9" name="">
            <a:extLst xmlns:a="http://schemas.openxmlformats.org/drawingml/2006/main">
              <a:ext uri="{FF2B5EF4-FFF2-40B4-BE49-F238E27FC236}">
                <a16:creationId xmlns:a16="http://schemas.microsoft.com/office/drawing/2014/main" id="{482FD330-67C9-4755-8A9E-0840320B1539}"/>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013</a:t>
            </a:r>
          </a:p>
        </p:txBody>
      </p:sp>
    </p:spTree>
    <p:extLst>
      <p:ext uri="{BB962C8B-B14F-4D97-AF65-F5344CB8AC3E}">
        <p14:creationId xmlns:p14="http://schemas.microsoft.com/office/powerpoint/2010/main" val="1165823250"/>
      </p:ext>
    </p:extLst>
  </p:cSld>
</p:sld>
</file>

<file path=ppt/slides/slide14.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5657817-AC4A-4051-BC98-5F3ECF628AD6}"/>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1교시</a:t>
            </a:r>
          </a:p>
        </p:txBody>
      </p:sp>
      <p:sp>
        <p:nvSpPr>
          <p:cNvPr id="2" name="">
            <a:extLst xmlns:a="http://schemas.openxmlformats.org/drawingml/2006/main">
              <a:ext uri="{FF2B5EF4-FFF2-40B4-BE49-F238E27FC236}">
                <a16:creationId xmlns:a16="http://schemas.microsoft.com/office/drawing/2014/main" id="{36879779-2F8C-4929-84E9-06CD8412D986}"/>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오류가 나면 무엇부터 볼까요?</a:t>
            </a:r>
          </a:p>
        </p:txBody>
      </p:sp>
      <p:sp>
        <p:nvSpPr>
          <p:cNvPr id="3" name="">
            <a:extLst xmlns:a="http://schemas.openxmlformats.org/drawingml/2006/main">
              <a:ext uri="{FF2B5EF4-FFF2-40B4-BE49-F238E27FC236}">
                <a16:creationId xmlns:a16="http://schemas.microsoft.com/office/drawing/2014/main" id="{9A41609F-50C4-4949-A7FC-B58EA78C7F0F}"/>
              </a:ext>
            </a:extLst>
          </p:cNvPr>
          <p:cNvSpPr>
            <a:spLocks xmlns:a="http://schemas.openxmlformats.org/drawingml/2006/main" noGrp="1"/>
          </p:cNvSpPr>
          <p:nvPr/>
        </p:nvSpPr>
        <p:spPr>
          <a:xfrm xmlns:a="http://schemas.openxmlformats.org/drawingml/2006/main">
            <a:off x="609600" y="2533650"/>
            <a:ext cx="333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Noto Sans KR"/>
                <a:ea typeface="Noto Sans KR"/>
                <a:cs typeface="Noto Sans KR"/>
              </a:defRPr>
            </a:pPr>
            <a:r>
              <a:t>파일 없음:</a:t>
            </a:r>
          </a:p>
        </p:txBody>
      </p:sp>
      <p:sp>
        <p:nvSpPr>
          <p:cNvPr id="4" name="">
            <a:extLst xmlns:a="http://schemas.openxmlformats.org/drawingml/2006/main">
              <a:ext uri="{FF2B5EF4-FFF2-40B4-BE49-F238E27FC236}">
                <a16:creationId xmlns:a16="http://schemas.microsoft.com/office/drawing/2014/main" id="{B8A48176-D049-4019-9827-2DE6CA22A661}"/>
              </a:ext>
            </a:extLst>
          </p:cNvPr>
          <p:cNvSpPr>
            <a:spLocks xmlns:a="http://schemas.openxmlformats.org/drawingml/2006/main" noGrp="1"/>
          </p:cNvSpPr>
          <p:nvPr/>
        </p:nvSpPr>
        <p:spPr>
          <a:xfrm xmlns:a="http://schemas.openxmlformats.org/drawingml/2006/main">
            <a:off x="4219575" y="2581275"/>
            <a:ext cx="73628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위치·이름·확장자</a:t>
            </a:r>
            <a:r>
              <a:t>를 봅니다.</a:t>
            </a:r>
          </a:p>
        </p:txBody>
      </p:sp>
      <p:sp>
        <p:nvSpPr>
          <p:cNvPr id="5" name="">
            <a:extLst xmlns:a="http://schemas.openxmlformats.org/drawingml/2006/main">
              <a:ext uri="{FF2B5EF4-FFF2-40B4-BE49-F238E27FC236}">
                <a16:creationId xmlns:a16="http://schemas.microsoft.com/office/drawing/2014/main" id="{CE9398D1-856B-45FB-B810-74DBF195AAA9}"/>
              </a:ext>
            </a:extLst>
          </p:cNvPr>
          <p:cNvSpPr>
            <a:spLocks xmlns:a="http://schemas.openxmlformats.org/drawingml/2006/main" noGrp="1"/>
          </p:cNvSpPr>
          <p:nvPr/>
        </p:nvSpPr>
        <p:spPr>
          <a:xfrm xmlns:a="http://schemas.openxmlformats.org/drawingml/2006/main">
            <a:off x="609600" y="3524250"/>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FA07E15-AAB0-4C2E-8C80-384A2636961D}"/>
              </a:ext>
            </a:extLst>
          </p:cNvPr>
          <p:cNvSpPr>
            <a:spLocks xmlns:a="http://schemas.openxmlformats.org/drawingml/2006/main" noGrp="1"/>
          </p:cNvSpPr>
          <p:nvPr/>
        </p:nvSpPr>
        <p:spPr>
          <a:xfrm xmlns:a="http://schemas.openxmlformats.org/drawingml/2006/main">
            <a:off x="609600" y="3657600"/>
            <a:ext cx="333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Noto Sans KR"/>
                <a:ea typeface="Noto Sans KR"/>
                <a:cs typeface="Noto Sans KR"/>
              </a:defRPr>
            </a:pPr>
            <a:r>
              <a:t>문법 오류:</a:t>
            </a:r>
          </a:p>
        </p:txBody>
      </p:sp>
      <p:sp>
        <p:nvSpPr>
          <p:cNvPr id="7" name="">
            <a:extLst xmlns:a="http://schemas.openxmlformats.org/drawingml/2006/main">
              <a:ext uri="{FF2B5EF4-FFF2-40B4-BE49-F238E27FC236}">
                <a16:creationId xmlns:a16="http://schemas.microsoft.com/office/drawing/2014/main" id="{81A2754C-C776-4171-B472-559B7EFCE829}"/>
              </a:ext>
            </a:extLst>
          </p:cNvPr>
          <p:cNvSpPr>
            <a:spLocks xmlns:a="http://schemas.openxmlformats.org/drawingml/2006/main" noGrp="1"/>
          </p:cNvSpPr>
          <p:nvPr/>
        </p:nvSpPr>
        <p:spPr>
          <a:xfrm xmlns:a="http://schemas.openxmlformats.org/drawingml/2006/main">
            <a:off x="4219575" y="3705225"/>
            <a:ext cx="73628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따옴표와 괄호의 짝을 봅니다.</a:t>
            </a:r>
          </a:p>
        </p:txBody>
      </p:sp>
      <p:sp>
        <p:nvSpPr>
          <p:cNvPr id="8" name="">
            <a:extLst xmlns:a="http://schemas.openxmlformats.org/drawingml/2006/main">
              <a:ext uri="{FF2B5EF4-FFF2-40B4-BE49-F238E27FC236}">
                <a16:creationId xmlns:a16="http://schemas.microsoft.com/office/drawing/2014/main" id="{C332B431-3D28-4E5A-B4BD-A0742F3B7E7A}"/>
              </a:ext>
            </a:extLst>
          </p:cNvPr>
          <p:cNvSpPr>
            <a:spLocks xmlns:a="http://schemas.openxmlformats.org/drawingml/2006/main" noGrp="1"/>
          </p:cNvSpPr>
          <p:nvPr/>
        </p:nvSpPr>
        <p:spPr>
          <a:xfrm xmlns:a="http://schemas.openxmlformats.org/drawingml/2006/main">
            <a:off x="609600" y="4648200"/>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6C7BAB6-C3A8-40FE-80E0-A685FA19545C}"/>
              </a:ext>
            </a:extLst>
          </p:cNvPr>
          <p:cNvSpPr>
            <a:spLocks xmlns:a="http://schemas.openxmlformats.org/drawingml/2006/main" noGrp="1"/>
          </p:cNvSpPr>
          <p:nvPr/>
        </p:nvSpPr>
        <p:spPr>
          <a:xfrm xmlns:a="http://schemas.openxmlformats.org/drawingml/2006/main">
            <a:off x="609600" y="4781550"/>
            <a:ext cx="333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Noto Sans KR"/>
                <a:ea typeface="Noto Sans KR"/>
                <a:cs typeface="Noto Sans KR"/>
              </a:defRPr>
            </a:pPr>
            <a:r>
              <a:t>옛 문구:</a:t>
            </a:r>
          </a:p>
        </p:txBody>
      </p:sp>
      <p:sp>
        <p:nvSpPr>
          <p:cNvPr id="10" name="">
            <a:extLst xmlns:a="http://schemas.openxmlformats.org/drawingml/2006/main">
              <a:ext uri="{FF2B5EF4-FFF2-40B4-BE49-F238E27FC236}">
                <a16:creationId xmlns:a16="http://schemas.microsoft.com/office/drawing/2014/main" id="{A7AC26CA-9707-4FB1-9559-54EFB34F6F05}"/>
              </a:ext>
            </a:extLst>
          </p:cNvPr>
          <p:cNvSpPr>
            <a:spLocks xmlns:a="http://schemas.openxmlformats.org/drawingml/2006/main" noGrp="1"/>
          </p:cNvSpPr>
          <p:nvPr/>
        </p:nvSpPr>
        <p:spPr>
          <a:xfrm xmlns:a="http://schemas.openxmlformats.org/drawingml/2006/main">
            <a:off x="4219575" y="4829175"/>
            <a:ext cx="73628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저장 여부와 실행 경로를 봅니다.</a:t>
            </a:r>
          </a:p>
        </p:txBody>
      </p:sp>
      <p:sp>
        <p:nvSpPr>
          <p:cNvPr id="11" name="">
            <a:extLst xmlns:a="http://schemas.openxmlformats.org/drawingml/2006/main">
              <a:ext uri="{FF2B5EF4-FFF2-40B4-BE49-F238E27FC236}">
                <a16:creationId xmlns:a16="http://schemas.microsoft.com/office/drawing/2014/main" id="{D433A0F4-34A1-41F6-90E9-05BE29630D5A}"/>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5AEE291-7FDF-4601-9B86-5F16AA349E07}"/>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3" name="">
            <a:extLst xmlns:a="http://schemas.openxmlformats.org/drawingml/2006/main">
              <a:ext uri="{FF2B5EF4-FFF2-40B4-BE49-F238E27FC236}">
                <a16:creationId xmlns:a16="http://schemas.microsoft.com/office/drawing/2014/main" id="{221B59C4-FF67-404C-AD5E-820C2970FD34}"/>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014</a:t>
            </a:r>
          </a:p>
        </p:txBody>
      </p:sp>
    </p:spTree>
    <p:extLst>
      <p:ext uri="{BB962C8B-B14F-4D97-AF65-F5344CB8AC3E}">
        <p14:creationId xmlns:p14="http://schemas.microsoft.com/office/powerpoint/2010/main" val="583232818"/>
      </p:ext>
    </p:extLst>
  </p:cSld>
</p:sld>
</file>

<file path=ppt/slides/slide15.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B3BEDB4-2EC0-4331-B107-FEA49E5E42E7}"/>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1교시</a:t>
            </a:r>
          </a:p>
        </p:txBody>
      </p:sp>
      <p:sp>
        <p:nvSpPr>
          <p:cNvPr id="2" name="">
            <a:extLst xmlns:a="http://schemas.openxmlformats.org/drawingml/2006/main">
              <a:ext uri="{FF2B5EF4-FFF2-40B4-BE49-F238E27FC236}">
                <a16:creationId xmlns:a16="http://schemas.microsoft.com/office/drawing/2014/main" id="{2B7379FC-2E98-46DD-BF8F-7E9CCE3AAC36}"/>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새 실무 사례</a:t>
            </a:r>
          </a:p>
        </p:txBody>
      </p:sp>
      <p:sp>
        <p:nvSpPr>
          <p:cNvPr id="3" name="">
            <a:extLst xmlns:a="http://schemas.openxmlformats.org/drawingml/2006/main">
              <a:ext uri="{FF2B5EF4-FFF2-40B4-BE49-F238E27FC236}">
                <a16:creationId xmlns:a16="http://schemas.microsoft.com/office/drawing/2014/main" id="{F3E375C2-B624-428A-A7F1-9DCFEFA1C14C}"/>
              </a:ext>
            </a:extLst>
          </p:cNvPr>
          <p:cNvSpPr>
            <a:spLocks xmlns:a="http://schemas.openxmlformats.org/drawingml/2006/main" noGrp="1"/>
          </p:cNvSpPr>
          <p:nvPr/>
        </p:nvSpPr>
        <p:spPr>
          <a:xfrm xmlns:a="http://schemas.openxmlformats.org/drawingml/2006/main">
            <a:off x="609600" y="2543175"/>
            <a:ext cx="109728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0">
                <a:solidFill>
                  <a:srgbClr val="0A0A0A"/>
                </a:solidFill>
                <a:latin typeface="Noto Sans KR"/>
                <a:ea typeface="Noto Sans KR"/>
                <a:cs typeface="Noto Sans KR"/>
              </a:defRPr>
            </a:pPr>
            <a:r>
              <a:t>문구를 고쳤는데 실행 결과는 </a:t>
            </a:r>
            <a:r>
              <a:rPr b="1">
                <a:solidFill>
                  <a:srgbClr val="002FA7"/>
                </a:solidFill>
              </a:rPr>
              <a:t>이전 문구</a:t>
            </a:r>
            <a:r>
              <a:t>입니다.</a:t>
            </a:r>
          </a:p>
        </p:txBody>
      </p:sp>
      <p:sp>
        <p:nvSpPr>
          <p:cNvPr id="4" name="">
            <a:extLst xmlns:a="http://schemas.openxmlformats.org/drawingml/2006/main">
              <a:ext uri="{FF2B5EF4-FFF2-40B4-BE49-F238E27FC236}">
                <a16:creationId xmlns:a16="http://schemas.microsoft.com/office/drawing/2014/main" id="{032E76DA-CA2D-4D0D-8290-E57863F7279E}"/>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1E30A3D-E313-4BD9-A8E0-7EB028169563}"/>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6" name="">
            <a:extLst xmlns:a="http://schemas.openxmlformats.org/drawingml/2006/main">
              <a:ext uri="{FF2B5EF4-FFF2-40B4-BE49-F238E27FC236}">
                <a16:creationId xmlns:a16="http://schemas.microsoft.com/office/drawing/2014/main" id="{F1B372F4-F800-4EA5-A745-0D203488E284}"/>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015</a:t>
            </a:r>
          </a:p>
        </p:txBody>
      </p:sp>
    </p:spTree>
    <p:extLst>
      <p:ext uri="{BB962C8B-B14F-4D97-AF65-F5344CB8AC3E}">
        <p14:creationId xmlns:p14="http://schemas.microsoft.com/office/powerpoint/2010/main" val="710568859"/>
      </p:ext>
    </p:extLst>
  </p:cSld>
</p:sld>
</file>

<file path=ppt/slides/slide16.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6A177DA-9C40-4A3B-BA17-B637CE061190}"/>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1교시</a:t>
            </a:r>
          </a:p>
        </p:txBody>
      </p:sp>
      <p:sp>
        <p:nvSpPr>
          <p:cNvPr id="2" name="">
            <a:extLst xmlns:a="http://schemas.openxmlformats.org/drawingml/2006/main">
              <a:ext uri="{FF2B5EF4-FFF2-40B4-BE49-F238E27FC236}">
                <a16:creationId xmlns:a16="http://schemas.microsoft.com/office/drawing/2014/main" id="{A939B201-A13F-4CF6-A308-F919E7364277}"/>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판단을 따라가 보기</a:t>
            </a:r>
          </a:p>
        </p:txBody>
      </p:sp>
      <p:graphicFrame>
        <p:nvGraphicFramePr>
          <p:cNvPr id="9" name=""/>
          <p:cNvGraphicFramePr/>
          <p:nvPr/>
        </p:nvGraphicFramePr>
        <p:xfrm>
          <a:off xmlns:a="http://schemas.openxmlformats.org/drawingml/2006/main" x="609600" y="2333625"/>
          <a:ext xmlns:a="http://schemas.openxmlformats.org/drawingml/2006/main" cx="10972800" cy="2933700"/>
        </p:xfrm>
        <a:graphic xmlns:a="http://schemas.openxmlformats.org/drawingml/2006/main">
          <a:graphicData uri="http://schemas.openxmlformats.org/drawingml/2006/table">
            <a:tbl>
              <a:tblPr firstRow="1" bandRow="0"/>
              <a:tblGrid>
                <a:gridCol w="2743200"/>
                <a:gridCol w="8229600"/>
              </a:tblGrid>
              <a:tr h="733425">
                <a:tc>
                  <a:txBody>
                    <a:bodyPr wrap="square"/>
                    <a:lstStyle/>
                    <a:p>
                      <a:pPr>
                        <a:lnSpc>
                          <a:spcPct val="94000"/>
                        </a:lnSpc>
                        <a:buNone/>
                      </a:pPr>
                      <a:r>
                        <a:rPr sz="2100" b="1">
                          <a:solidFill>
                            <a:srgbClr val="FFFFFF"/>
                          </a:solidFill>
                          <a:latin typeface="Noto Sans KR"/>
                          <a:ea typeface="Noto Sans KR"/>
                          <a:cs typeface="Noto Sans KR"/>
                        </a:rPr>
                        <a:t>단계</a:t>
                      </a:r>
                    </a:p>
                  </a:txBody>
                  <a:tcPr marL="171450" marR="114300" marT="47625" marB="47625" anchor="ctr">
                    <a:solidFill>
                      <a:srgbClr val="002FA7"/>
                    </a:solidFill>
                  </a:tcPr>
                </a:tc>
                <a:tc>
                  <a:txBody>
                    <a:bodyPr wrap="square"/>
                    <a:lstStyle/>
                    <a:p>
                      <a:pPr>
                        <a:lnSpc>
                          <a:spcPct val="94000"/>
                        </a:lnSpc>
                        <a:buNone/>
                      </a:pPr>
                      <a:r>
                        <a:rPr sz="2100" b="1">
                          <a:solidFill>
                            <a:srgbClr val="FFFFFF"/>
                          </a:solidFill>
                          <a:latin typeface="Noto Sans KR"/>
                          <a:ea typeface="Noto Sans KR"/>
                          <a:cs typeface="Noto Sans KR"/>
                        </a:rPr>
                        <a:t>확인 대상</a:t>
                      </a:r>
                    </a:p>
                  </a:txBody>
                  <a:tcPr marL="171450" marR="114300" marT="47625" marB="47625" anchor="ctr">
                    <a:solidFill>
                      <a:srgbClr val="002FA7"/>
                    </a:solidFill>
                  </a:tcPr>
                </a:tc>
              </a:tr>
              <a:tr h="733425">
                <a:tc>
                  <a:txBody>
                    <a:bodyPr wrap="square"/>
                    <a:lstStyle/>
                    <a:p>
                      <a:pPr>
                        <a:lnSpc>
                          <a:spcPct val="94000"/>
                        </a:lnSpc>
                        <a:buNone/>
                      </a:pPr>
                      <a:r>
                        <a:rPr sz="2100" b="0">
                          <a:solidFill>
                            <a:srgbClr val="0A0A0A"/>
                          </a:solidFill>
                          <a:latin typeface="Noto Sans KR"/>
                          <a:ea typeface="Noto Sans KR"/>
                          <a:cs typeface="Noto Sans KR"/>
                        </a:rPr>
                        <a:t>편집</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화면에 쓴 새 글</a:t>
                      </a:r>
                    </a:p>
                  </a:txBody>
                  <a:tcPr marL="171450" marR="114300" marT="47625" marB="47625" anchor="ctr">
                    <a:solidFill>
                      <a:srgbClr val="FAFAF8"/>
                    </a:solidFill>
                  </a:tcPr>
                </a:tc>
              </a:tr>
              <a:tr h="733425">
                <a:tc>
                  <a:txBody>
                    <a:bodyPr wrap="square"/>
                    <a:lstStyle/>
                    <a:p>
                      <a:pPr>
                        <a:lnSpc>
                          <a:spcPct val="94000"/>
                        </a:lnSpc>
                        <a:buNone/>
                      </a:pPr>
                      <a:r>
                        <a:rPr sz="2100" b="0">
                          <a:solidFill>
                            <a:srgbClr val="0A0A0A"/>
                          </a:solidFill>
                          <a:latin typeface="Noto Sans KR"/>
                          <a:ea typeface="Noto Sans KR"/>
                          <a:cs typeface="Noto Sans KR"/>
                        </a:rPr>
                        <a:t>저장</a:t>
                      </a:r>
                    </a:p>
                  </a:txBody>
                  <a:tcPr marL="171450" marR="114300" marT="47625" marB="47625" anchor="ctr">
                    <a:solidFill>
                      <a:srgbClr val="F0F0EB"/>
                    </a:solidFill>
                  </a:tcPr>
                </a:tc>
                <a:tc>
                  <a:txBody>
                    <a:bodyPr wrap="square"/>
                    <a:lstStyle/>
                    <a:p>
                      <a:pPr>
                        <a:lnSpc>
                          <a:spcPct val="94000"/>
                        </a:lnSpc>
                        <a:buNone/>
                      </a:pPr>
                      <a:r>
                        <a:rPr sz="2100" b="0">
                          <a:solidFill>
                            <a:srgbClr val="0A0A0A"/>
                          </a:solidFill>
                          <a:latin typeface="Noto Sans KR"/>
                          <a:ea typeface="Noto Sans KR"/>
                          <a:cs typeface="Noto Sans KR"/>
                        </a:rPr>
                        <a:t>디스크의 work 파일</a:t>
                      </a:r>
                    </a:p>
                  </a:txBody>
                  <a:tcPr marL="171450" marR="114300" marT="47625" marB="47625" anchor="ctr">
                    <a:solidFill>
                      <a:srgbClr val="F0F0EB"/>
                    </a:solidFill>
                  </a:tcPr>
                </a:tc>
              </a:tr>
              <a:tr h="733425">
                <a:tc>
                  <a:txBody>
                    <a:bodyPr wrap="square"/>
                    <a:lstStyle/>
                    <a:p>
                      <a:pPr>
                        <a:lnSpc>
                          <a:spcPct val="94000"/>
                        </a:lnSpc>
                        <a:buNone/>
                      </a:pPr>
                      <a:r>
                        <a:rPr sz="2100" b="0">
                          <a:solidFill>
                            <a:srgbClr val="0A0A0A"/>
                          </a:solidFill>
                          <a:latin typeface="Noto Sans KR"/>
                          <a:ea typeface="Noto Sans KR"/>
                          <a:cs typeface="Noto Sans KR"/>
                        </a:rPr>
                        <a:t>실행</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명령이 가리키는 파일</a:t>
                      </a:r>
                    </a:p>
                  </a:txBody>
                  <a:tcPr marL="171450" marR="114300" marT="47625" marB="47625" anchor="ctr">
                    <a:solidFill>
                      <a:srgbClr val="FAFAF8"/>
                    </a:solidFill>
                  </a:tcPr>
                </a:tc>
              </a:tr>
            </a:tbl>
          </a:graphicData>
        </a:graphic>
      </p:graphicFrame>
      <p:sp>
        <p:nvSpPr>
          <p:cNvPr id="4" name="">
            <a:extLst xmlns:a="http://schemas.openxmlformats.org/drawingml/2006/main">
              <a:ext uri="{FF2B5EF4-FFF2-40B4-BE49-F238E27FC236}">
                <a16:creationId xmlns:a16="http://schemas.microsoft.com/office/drawing/2014/main" id="{2DFDA074-B496-47FA-8016-6C74BE4069AB}"/>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55DAD30-F4EE-4719-B144-D55A1A2D575C}"/>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6" name="">
            <a:extLst xmlns:a="http://schemas.openxmlformats.org/drawingml/2006/main">
              <a:ext uri="{FF2B5EF4-FFF2-40B4-BE49-F238E27FC236}">
                <a16:creationId xmlns:a16="http://schemas.microsoft.com/office/drawing/2014/main" id="{ECEBA768-9FF1-41EB-824E-553827341874}"/>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016</a:t>
            </a:r>
          </a:p>
        </p:txBody>
      </p:sp>
    </p:spTree>
    <p:extLst>
      <p:ext uri="{BB962C8B-B14F-4D97-AF65-F5344CB8AC3E}">
        <p14:creationId xmlns:p14="http://schemas.microsoft.com/office/powerpoint/2010/main" val="1945087191"/>
      </p:ext>
    </p:extLst>
  </p:cSld>
</p:sld>
</file>

<file path=ppt/slides/slide17.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757F11C-8BE4-42EC-80BF-AD1304047C3F}"/>
              </a:ext>
            </a:extLst>
          </p:cNvPr>
          <p:cNvSpPr>
            <a:spLocks xmlns:a="http://schemas.openxmlformats.org/drawingml/2006/main" noGrp="1"/>
          </p:cNvSpPr>
          <p:nvPr/>
        </p:nvSpPr>
        <p:spPr>
          <a:xfrm xmlns:a="http://schemas.openxmlformats.org/drawingml/2006/main">
            <a:off x="609600" y="390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BACBFA"/>
                </a:solidFill>
                <a:latin typeface="Noto Sans KR"/>
                <a:ea typeface="Noto Sans KR"/>
                <a:cs typeface="Noto Sans KR"/>
              </a:defRPr>
            </a:pPr>
            <a:r>
              <a:t>1교시  /  직접 생각하기</a:t>
            </a:r>
          </a:p>
        </p:txBody>
      </p:sp>
      <p:sp>
        <p:nvSpPr>
          <p:cNvPr id="2" name="">
            <a:extLst xmlns:a="http://schemas.openxmlformats.org/drawingml/2006/main">
              <a:ext uri="{FF2B5EF4-FFF2-40B4-BE49-F238E27FC236}">
                <a16:creationId xmlns:a16="http://schemas.microsoft.com/office/drawing/2014/main" id="{A1F5B261-D3F2-47A3-95D8-E838E8F3867C}"/>
              </a:ext>
            </a:extLst>
          </p:cNvPr>
          <p:cNvSpPr>
            <a:spLocks xmlns:a="http://schemas.openxmlformats.org/drawingml/2006/main" noGrp="1"/>
          </p:cNvSpPr>
          <p:nvPr/>
        </p:nvSpPr>
        <p:spPr>
          <a:xfrm xmlns:a="http://schemas.openxmlformats.org/drawingml/2006/main">
            <a:off x="609600" y="1123950"/>
            <a:ext cx="109728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0">
                <a:solidFill>
                  <a:srgbClr val="FFFFFF"/>
                </a:solidFill>
                <a:latin typeface="Noto Sans KR"/>
                <a:ea typeface="Noto Sans KR"/>
                <a:cs typeface="Noto Sans KR"/>
              </a:defRPr>
            </a:pPr>
            <a:r>
              <a:t>추가 복습 · 새 문제</a:t>
            </a:r>
          </a:p>
        </p:txBody>
      </p:sp>
      <p:sp>
        <p:nvSpPr>
          <p:cNvPr id="3" name="">
            <a:extLst xmlns:a="http://schemas.openxmlformats.org/drawingml/2006/main">
              <a:ext uri="{FF2B5EF4-FFF2-40B4-BE49-F238E27FC236}">
                <a16:creationId xmlns:a16="http://schemas.microsoft.com/office/drawing/2014/main" id="{4EDDDFED-0FBD-4985-90A6-7D67CA3D52DD}"/>
              </a:ext>
            </a:extLst>
          </p:cNvPr>
          <p:cNvSpPr>
            <a:spLocks xmlns:a="http://schemas.openxmlformats.org/drawingml/2006/main" noGrp="1"/>
          </p:cNvSpPr>
          <p:nvPr/>
        </p:nvSpPr>
        <p:spPr>
          <a:xfrm xmlns:a="http://schemas.openxmlformats.org/drawingml/2006/main">
            <a:off x="609600" y="2800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추가 복습: work에는 검사 B가 보입니다.</a:t>
            </a:r>
          </a:p>
        </p:txBody>
      </p:sp>
      <p:sp>
        <p:nvSpPr>
          <p:cNvPr id="4" name="">
            <a:extLst xmlns:a="http://schemas.openxmlformats.org/drawingml/2006/main">
              <a:ext uri="{FF2B5EF4-FFF2-40B4-BE49-F238E27FC236}">
                <a16:creationId xmlns:a16="http://schemas.microsoft.com/office/drawing/2014/main" id="{11BECD11-18A8-42B3-8A41-BF2E27036F65}"/>
              </a:ext>
            </a:extLst>
          </p:cNvPr>
          <p:cNvSpPr>
            <a:spLocks xmlns:a="http://schemas.openxmlformats.org/drawingml/2006/main" noGrp="1"/>
          </p:cNvSpPr>
          <p:nvPr/>
        </p:nvSpPr>
        <p:spPr>
          <a:xfrm xmlns:a="http://schemas.openxmlformats.org/drawingml/2006/main">
            <a:off x="609600" y="38671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code를 실행하니 검사 A가 나옵니다.</a:t>
            </a:r>
          </a:p>
        </p:txBody>
      </p:sp>
      <p:sp>
        <p:nvSpPr>
          <p:cNvPr id="5" name="">
            <a:extLst xmlns:a="http://schemas.openxmlformats.org/drawingml/2006/main">
              <a:ext uri="{FF2B5EF4-FFF2-40B4-BE49-F238E27FC236}">
                <a16:creationId xmlns:a16="http://schemas.microsoft.com/office/drawing/2014/main" id="{7D46241D-EABC-4490-A6CA-4E63FBDE448D}"/>
              </a:ext>
            </a:extLst>
          </p:cNvPr>
          <p:cNvSpPr>
            <a:spLocks xmlns:a="http://schemas.openxmlformats.org/drawingml/2006/main" noGrp="1"/>
          </p:cNvSpPr>
          <p:nvPr/>
        </p:nvSpPr>
        <p:spPr>
          <a:xfrm xmlns:a="http://schemas.openxmlformats.org/drawingml/2006/main">
            <a:off x="609600" y="49339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확인할 사실</a:t>
            </a:r>
            <a:r>
              <a:t>과 다음 행동을 적으세요.</a:t>
            </a:r>
          </a:p>
        </p:txBody>
      </p:sp>
      <p:sp>
        <p:nvSpPr>
          <p:cNvPr id="6" name="">
            <a:extLst xmlns:a="http://schemas.openxmlformats.org/drawingml/2006/main">
              <a:ext uri="{FF2B5EF4-FFF2-40B4-BE49-F238E27FC236}">
                <a16:creationId xmlns:a16="http://schemas.microsoft.com/office/drawing/2014/main" id="{7F1CCFEF-9FBC-43ED-8E05-0DE37D1B7E81}"/>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795D0A5-5BFB-4EAA-B813-67F1C681B983}"/>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10/14  피지컬AI</a:t>
            </a:r>
          </a:p>
        </p:txBody>
      </p:sp>
      <p:sp>
        <p:nvSpPr>
          <p:cNvPr id="8" name="">
            <a:extLst xmlns:a="http://schemas.openxmlformats.org/drawingml/2006/main">
              <a:ext uri="{FF2B5EF4-FFF2-40B4-BE49-F238E27FC236}">
                <a16:creationId xmlns:a16="http://schemas.microsoft.com/office/drawing/2014/main" id="{8CDCA635-728B-4122-8830-04D66217C374}"/>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017</a:t>
            </a:r>
          </a:p>
        </p:txBody>
      </p:sp>
    </p:spTree>
    <p:extLst>
      <p:ext uri="{BB962C8B-B14F-4D97-AF65-F5344CB8AC3E}">
        <p14:creationId xmlns:p14="http://schemas.microsoft.com/office/powerpoint/2010/main" val="993929791"/>
      </p:ext>
    </p:extLst>
  </p:cSld>
</p:sld>
</file>

<file path=ppt/slides/slide18.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EFE2ACE-DA22-4782-9540-A7791161DC3B}"/>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1교시</a:t>
            </a:r>
          </a:p>
        </p:txBody>
      </p:sp>
      <p:sp>
        <p:nvSpPr>
          <p:cNvPr id="2" name="">
            <a:extLst xmlns:a="http://schemas.openxmlformats.org/drawingml/2006/main">
              <a:ext uri="{FF2B5EF4-FFF2-40B4-BE49-F238E27FC236}">
                <a16:creationId xmlns:a16="http://schemas.microsoft.com/office/drawing/2014/main" id="{D1DD03E9-8E83-4502-BB9B-97FEC88207B7}"/>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새 문제의 풀이</a:t>
            </a:r>
          </a:p>
        </p:txBody>
      </p:sp>
      <p:sp>
        <p:nvSpPr>
          <p:cNvPr id="3" name="">
            <a:extLst xmlns:a="http://schemas.openxmlformats.org/drawingml/2006/main">
              <a:ext uri="{FF2B5EF4-FFF2-40B4-BE49-F238E27FC236}">
                <a16:creationId xmlns:a16="http://schemas.microsoft.com/office/drawing/2014/main" id="{49B462F0-6B21-4150-A7EC-9A96368B9121}"/>
              </a:ext>
            </a:extLst>
          </p:cNvPr>
          <p:cNvSpPr>
            <a:spLocks xmlns:a="http://schemas.openxmlformats.org/drawingml/2006/main" noGrp="1"/>
          </p:cNvSpPr>
          <p:nvPr/>
        </p:nvSpPr>
        <p:spPr>
          <a:xfrm xmlns:a="http://schemas.openxmlformats.org/drawingml/2006/main">
            <a:off x="609600" y="2695575"/>
            <a:ext cx="3524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125" b="0">
                <a:solidFill>
                  <a:srgbClr val="002FA7"/>
                </a:solidFill>
                <a:latin typeface="Noto Sans KR"/>
                <a:ea typeface="Noto Sans KR"/>
                <a:cs typeface="Noto Sans KR"/>
              </a:defRPr>
            </a:pPr>
            <a:r>
              <a:t>편집 경로와 실행 경로</a:t>
            </a:r>
          </a:p>
        </p:txBody>
      </p:sp>
      <p:sp>
        <p:nvSpPr>
          <p:cNvPr id="4" name="">
            <a:extLst xmlns:a="http://schemas.openxmlformats.org/drawingml/2006/main">
              <a:ext uri="{FF2B5EF4-FFF2-40B4-BE49-F238E27FC236}">
                <a16:creationId xmlns:a16="http://schemas.microsoft.com/office/drawing/2014/main" id="{5C725CC3-FBB6-4DB9-B814-BC30C1A0738C}"/>
              </a:ext>
            </a:extLst>
          </p:cNvPr>
          <p:cNvSpPr>
            <a:spLocks xmlns:a="http://schemas.openxmlformats.org/drawingml/2006/main" noGrp="1"/>
          </p:cNvSpPr>
          <p:nvPr/>
        </p:nvSpPr>
        <p:spPr>
          <a:xfrm xmlns:a="http://schemas.openxmlformats.org/drawingml/2006/main">
            <a:off x="4333875" y="2562225"/>
            <a:ext cx="9525" cy="337185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F954C59-92E2-42D2-A39F-6DD8CCA9E09C}"/>
              </a:ext>
            </a:extLst>
          </p:cNvPr>
          <p:cNvSpPr>
            <a:spLocks xmlns:a="http://schemas.openxmlformats.org/drawingml/2006/main" noGrp="1"/>
          </p:cNvSpPr>
          <p:nvPr/>
        </p:nvSpPr>
        <p:spPr>
          <a:xfrm xmlns:a="http://schemas.openxmlformats.org/drawingml/2006/main">
            <a:off x="4724400" y="259080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편집 경로와 실행 경로</a:t>
            </a:r>
            <a:r>
              <a:t>가 다릅니다.</a:t>
            </a:r>
          </a:p>
        </p:txBody>
      </p:sp>
      <p:sp>
        <p:nvSpPr>
          <p:cNvPr id="6" name="">
            <a:extLst xmlns:a="http://schemas.openxmlformats.org/drawingml/2006/main">
              <a:ext uri="{FF2B5EF4-FFF2-40B4-BE49-F238E27FC236}">
                <a16:creationId xmlns:a16="http://schemas.microsoft.com/office/drawing/2014/main" id="{3CB40036-19E4-4EFA-8AF9-9A18E168164D}"/>
              </a:ext>
            </a:extLst>
          </p:cNvPr>
          <p:cNvSpPr>
            <a:spLocks xmlns:a="http://schemas.openxmlformats.org/drawingml/2006/main" noGrp="1"/>
          </p:cNvSpPr>
          <p:nvPr/>
        </p:nvSpPr>
        <p:spPr>
          <a:xfrm xmlns:a="http://schemas.openxmlformats.org/drawingml/2006/main">
            <a:off x="4724400" y="3705225"/>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work를 저장한 뒤 같은 주소를 실행합니다.</a:t>
            </a:r>
          </a:p>
        </p:txBody>
      </p:sp>
      <p:sp>
        <p:nvSpPr>
          <p:cNvPr id="7" name="">
            <a:extLst xmlns:a="http://schemas.openxmlformats.org/drawingml/2006/main">
              <a:ext uri="{FF2B5EF4-FFF2-40B4-BE49-F238E27FC236}">
                <a16:creationId xmlns:a16="http://schemas.microsoft.com/office/drawing/2014/main" id="{409E4F79-885E-4A57-AD8E-CC530768782A}"/>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BC38F21-7BD7-45E0-95C5-25EAEB2252CC}"/>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9" name="">
            <a:extLst xmlns:a="http://schemas.openxmlformats.org/drawingml/2006/main">
              <a:ext uri="{FF2B5EF4-FFF2-40B4-BE49-F238E27FC236}">
                <a16:creationId xmlns:a16="http://schemas.microsoft.com/office/drawing/2014/main" id="{9137CCD1-364C-4DD8-A3DA-9A89E680D1EF}"/>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018</a:t>
            </a:r>
          </a:p>
        </p:txBody>
      </p:sp>
    </p:spTree>
    <p:extLst>
      <p:ext uri="{BB962C8B-B14F-4D97-AF65-F5344CB8AC3E}">
        <p14:creationId xmlns:p14="http://schemas.microsoft.com/office/powerpoint/2010/main" val="2045352033"/>
      </p:ext>
    </p:extLst>
  </p:cSld>
</p:sld>
</file>

<file path=ppt/slides/slide19.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A2E8C30-DFB1-4A3A-BC11-90C0B368D99C}"/>
              </a:ext>
            </a:extLst>
          </p:cNvPr>
          <p:cNvSpPr>
            <a:spLocks xmlns:a="http://schemas.openxmlformats.org/drawingml/2006/main" noGrp="1"/>
          </p:cNvSpPr>
          <p:nvPr/>
        </p:nvSpPr>
        <p:spPr>
          <a:xfrm xmlns:a="http://schemas.openxmlformats.org/drawingml/2006/main">
            <a:off x="609600" y="390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BACBFA"/>
                </a:solidFill>
                <a:latin typeface="Noto Sans KR"/>
                <a:ea typeface="Noto Sans KR"/>
                <a:cs typeface="Noto Sans KR"/>
              </a:defRPr>
            </a:pPr>
            <a:r>
              <a:t>1교시  /  직접 생각하기</a:t>
            </a:r>
          </a:p>
        </p:txBody>
      </p:sp>
      <p:sp>
        <p:nvSpPr>
          <p:cNvPr id="2" name="">
            <a:extLst xmlns:a="http://schemas.openxmlformats.org/drawingml/2006/main">
              <a:ext uri="{FF2B5EF4-FFF2-40B4-BE49-F238E27FC236}">
                <a16:creationId xmlns:a16="http://schemas.microsoft.com/office/drawing/2014/main" id="{3D5E3A41-9E56-4EFE-A517-675D3BF21869}"/>
              </a:ext>
            </a:extLst>
          </p:cNvPr>
          <p:cNvSpPr>
            <a:spLocks xmlns:a="http://schemas.openxmlformats.org/drawingml/2006/main" noGrp="1"/>
          </p:cNvSpPr>
          <p:nvPr/>
        </p:nvSpPr>
        <p:spPr>
          <a:xfrm xmlns:a="http://schemas.openxmlformats.org/drawingml/2006/main">
            <a:off x="609600" y="1123950"/>
            <a:ext cx="109728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0">
                <a:solidFill>
                  <a:srgbClr val="FFFFFF"/>
                </a:solidFill>
                <a:latin typeface="Noto Sans KR"/>
                <a:ea typeface="Noto Sans KR"/>
                <a:cs typeface="Noto Sans KR"/>
              </a:defRPr>
            </a:pPr>
            <a:r>
              <a:t>먼저 할 일 · 저장과 실행</a:t>
            </a:r>
          </a:p>
        </p:txBody>
      </p:sp>
      <p:sp>
        <p:nvSpPr>
          <p:cNvPr id="3" name="">
            <a:extLst xmlns:a="http://schemas.openxmlformats.org/drawingml/2006/main">
              <a:ext uri="{FF2B5EF4-FFF2-40B4-BE49-F238E27FC236}">
                <a16:creationId xmlns:a16="http://schemas.microsoft.com/office/drawing/2014/main" id="{FFE16861-1FF9-466B-AAA4-6D043AF9D349}"/>
              </a:ext>
            </a:extLst>
          </p:cNvPr>
          <p:cNvSpPr>
            <a:spLocks xmlns:a="http://schemas.openxmlformats.org/drawingml/2006/main" noGrp="1"/>
          </p:cNvSpPr>
          <p:nvPr/>
        </p:nvSpPr>
        <p:spPr>
          <a:xfrm xmlns:a="http://schemas.openxmlformats.org/drawingml/2006/main">
            <a:off x="609600" y="2800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A02 작업본 안내 문구를 바꿉니다.</a:t>
            </a:r>
          </a:p>
        </p:txBody>
      </p:sp>
      <p:sp>
        <p:nvSpPr>
          <p:cNvPr id="4" name="">
            <a:extLst xmlns:a="http://schemas.openxmlformats.org/drawingml/2006/main">
              <a:ext uri="{FF2B5EF4-FFF2-40B4-BE49-F238E27FC236}">
                <a16:creationId xmlns:a16="http://schemas.microsoft.com/office/drawing/2014/main" id="{0BE33042-282F-4652-8522-724B8E8542AB}"/>
              </a:ext>
            </a:extLst>
          </p:cNvPr>
          <p:cNvSpPr>
            <a:spLocks xmlns:a="http://schemas.openxmlformats.org/drawingml/2006/main" noGrp="1"/>
          </p:cNvSpPr>
          <p:nvPr/>
        </p:nvSpPr>
        <p:spPr>
          <a:xfrm xmlns:a="http://schemas.openxmlformats.org/drawingml/2006/main">
            <a:off x="609600" y="38671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저장한 뒤 work 파일을 실행합니다.</a:t>
            </a:r>
          </a:p>
        </p:txBody>
      </p:sp>
      <p:sp>
        <p:nvSpPr>
          <p:cNvPr id="5" name="">
            <a:extLst xmlns:a="http://schemas.openxmlformats.org/drawingml/2006/main">
              <a:ext uri="{FF2B5EF4-FFF2-40B4-BE49-F238E27FC236}">
                <a16:creationId xmlns:a16="http://schemas.microsoft.com/office/drawing/2014/main" id="{0B375835-6CD7-4E59-9881-F7F99A7EE0C1}"/>
              </a:ext>
            </a:extLst>
          </p:cNvPr>
          <p:cNvSpPr>
            <a:spLocks xmlns:a="http://schemas.openxmlformats.org/drawingml/2006/main" noGrp="1"/>
          </p:cNvSpPr>
          <p:nvPr/>
        </p:nvSpPr>
        <p:spPr>
          <a:xfrm xmlns:a="http://schemas.openxmlformats.org/drawingml/2006/main">
            <a:off x="609600" y="49339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예상과 실제 두 줄을 비교합니다.</a:t>
            </a:r>
          </a:p>
        </p:txBody>
      </p:sp>
      <p:sp>
        <p:nvSpPr>
          <p:cNvPr id="6" name="">
            <a:extLst xmlns:a="http://schemas.openxmlformats.org/drawingml/2006/main">
              <a:ext uri="{FF2B5EF4-FFF2-40B4-BE49-F238E27FC236}">
                <a16:creationId xmlns:a16="http://schemas.microsoft.com/office/drawing/2014/main" id="{4E7D5302-1037-43D6-A8EF-1AB6B6F472DA}"/>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4EF8DBA-CFBD-4812-BA79-7C9C212067FC}"/>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10/14  피지컬AI</a:t>
            </a:r>
          </a:p>
        </p:txBody>
      </p:sp>
      <p:sp>
        <p:nvSpPr>
          <p:cNvPr id="8" name="">
            <a:extLst xmlns:a="http://schemas.openxmlformats.org/drawingml/2006/main">
              <a:ext uri="{FF2B5EF4-FFF2-40B4-BE49-F238E27FC236}">
                <a16:creationId xmlns:a16="http://schemas.microsoft.com/office/drawing/2014/main" id="{79BEC895-F644-4F49-A855-674E7C12507B}"/>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019</a:t>
            </a:r>
          </a:p>
        </p:txBody>
      </p:sp>
    </p:spTree>
    <p:extLst>
      <p:ext uri="{BB962C8B-B14F-4D97-AF65-F5344CB8AC3E}">
        <p14:creationId xmlns:p14="http://schemas.microsoft.com/office/powerpoint/2010/main" val="600400577"/>
      </p:ext>
    </p:extLst>
  </p:cSld>
</p:sld>
</file>

<file path=ppt/slides/slide20.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4069F1F-0158-459E-9EA5-7697E82B40E2}"/>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1교시</a:t>
            </a:r>
          </a:p>
        </p:txBody>
      </p:sp>
      <p:sp>
        <p:nvSpPr>
          <p:cNvPr id="2" name="">
            <a:extLst xmlns:a="http://schemas.openxmlformats.org/drawingml/2006/main">
              <a:ext uri="{FF2B5EF4-FFF2-40B4-BE49-F238E27FC236}">
                <a16:creationId xmlns:a16="http://schemas.microsoft.com/office/drawing/2014/main" id="{6EFD7C8B-0785-4396-ADA6-C933FCA2549E}"/>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1교시 확인</a:t>
            </a:r>
          </a:p>
        </p:txBody>
      </p:sp>
      <p:sp>
        <p:nvSpPr>
          <p:cNvPr id="3" name="">
            <a:extLst xmlns:a="http://schemas.openxmlformats.org/drawingml/2006/main">
              <a:ext uri="{FF2B5EF4-FFF2-40B4-BE49-F238E27FC236}">
                <a16:creationId xmlns:a16="http://schemas.microsoft.com/office/drawing/2014/main" id="{C05F3B5F-6976-4824-A8F8-B5E8F0290E47}"/>
              </a:ext>
            </a:extLst>
          </p:cNvPr>
          <p:cNvSpPr>
            <a:spLocks xmlns:a="http://schemas.openxmlformats.org/drawingml/2006/main" noGrp="1"/>
          </p:cNvSpPr>
          <p:nvPr/>
        </p:nvSpPr>
        <p:spPr>
          <a:xfrm xmlns:a="http://schemas.openxmlformats.org/drawingml/2006/main">
            <a:off x="609600" y="2695575"/>
            <a:ext cx="3524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125" b="0">
                <a:solidFill>
                  <a:srgbClr val="002FA7"/>
                </a:solidFill>
                <a:latin typeface="Noto Sans KR"/>
                <a:ea typeface="Noto Sans KR"/>
                <a:cs typeface="Noto Sans KR"/>
              </a:defRPr>
            </a:pPr>
            <a:r>
              <a:t>열기·저장·실행</a:t>
            </a:r>
          </a:p>
        </p:txBody>
      </p:sp>
      <p:sp>
        <p:nvSpPr>
          <p:cNvPr id="4" name="">
            <a:extLst xmlns:a="http://schemas.openxmlformats.org/drawingml/2006/main">
              <a:ext uri="{FF2B5EF4-FFF2-40B4-BE49-F238E27FC236}">
                <a16:creationId xmlns:a16="http://schemas.microsoft.com/office/drawing/2014/main" id="{497970D1-9EFF-4340-8F0B-5012EBCAF37F}"/>
              </a:ext>
            </a:extLst>
          </p:cNvPr>
          <p:cNvSpPr>
            <a:spLocks xmlns:a="http://schemas.openxmlformats.org/drawingml/2006/main" noGrp="1"/>
          </p:cNvSpPr>
          <p:nvPr/>
        </p:nvSpPr>
        <p:spPr>
          <a:xfrm xmlns:a="http://schemas.openxmlformats.org/drawingml/2006/main">
            <a:off x="4333875" y="2562225"/>
            <a:ext cx="9525" cy="337185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BF37E70-EF53-4D98-BEC2-3D67AF6D6B98}"/>
              </a:ext>
            </a:extLst>
          </p:cNvPr>
          <p:cNvSpPr>
            <a:spLocks xmlns:a="http://schemas.openxmlformats.org/drawingml/2006/main" noGrp="1"/>
          </p:cNvSpPr>
          <p:nvPr/>
        </p:nvSpPr>
        <p:spPr>
          <a:xfrm xmlns:a="http://schemas.openxmlformats.org/drawingml/2006/main">
            <a:off x="4724400" y="259080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열기·저장·실행</a:t>
            </a:r>
            <a:r>
              <a:t>은 서로 다른 행동입니다.</a:t>
            </a:r>
          </a:p>
        </p:txBody>
      </p:sp>
      <p:sp>
        <p:nvSpPr>
          <p:cNvPr id="6" name="">
            <a:extLst xmlns:a="http://schemas.openxmlformats.org/drawingml/2006/main">
              <a:ext uri="{FF2B5EF4-FFF2-40B4-BE49-F238E27FC236}">
                <a16:creationId xmlns:a16="http://schemas.microsoft.com/office/drawing/2014/main" id="{95BE4D58-F888-48C9-9B5B-7B5FBD6CAE46}"/>
              </a:ext>
            </a:extLst>
          </p:cNvPr>
          <p:cNvSpPr>
            <a:spLocks xmlns:a="http://schemas.openxmlformats.org/drawingml/2006/main" noGrp="1"/>
          </p:cNvSpPr>
          <p:nvPr/>
        </p:nvSpPr>
        <p:spPr>
          <a:xfrm xmlns:a="http://schemas.openxmlformats.org/drawingml/2006/main">
            <a:off x="4724400" y="3705225"/>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원본과 작업본의 경로를 구별합니다.</a:t>
            </a:r>
          </a:p>
        </p:txBody>
      </p:sp>
      <p:sp>
        <p:nvSpPr>
          <p:cNvPr id="7" name="">
            <a:extLst xmlns:a="http://schemas.openxmlformats.org/drawingml/2006/main">
              <a:ext uri="{FF2B5EF4-FFF2-40B4-BE49-F238E27FC236}">
                <a16:creationId xmlns:a16="http://schemas.microsoft.com/office/drawing/2014/main" id="{64CB43BA-8853-4109-8934-094450066994}"/>
              </a:ext>
            </a:extLst>
          </p:cNvPr>
          <p:cNvSpPr>
            <a:spLocks xmlns:a="http://schemas.openxmlformats.org/drawingml/2006/main" noGrp="1"/>
          </p:cNvSpPr>
          <p:nvPr/>
        </p:nvSpPr>
        <p:spPr>
          <a:xfrm xmlns:a="http://schemas.openxmlformats.org/drawingml/2006/main">
            <a:off x="4724400" y="481965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환경 실패를 개념 실패로 처리하지 않습니다.</a:t>
            </a:r>
          </a:p>
        </p:txBody>
      </p:sp>
      <p:sp>
        <p:nvSpPr>
          <p:cNvPr id="8" name="">
            <a:extLst xmlns:a="http://schemas.openxmlformats.org/drawingml/2006/main">
              <a:ext uri="{FF2B5EF4-FFF2-40B4-BE49-F238E27FC236}">
                <a16:creationId xmlns:a16="http://schemas.microsoft.com/office/drawing/2014/main" id="{B28544EC-7483-46AD-A931-59D58E569D97}"/>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4C26796-E011-4185-93CC-9FE52CB754AA}"/>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0" name="">
            <a:extLst xmlns:a="http://schemas.openxmlformats.org/drawingml/2006/main">
              <a:ext uri="{FF2B5EF4-FFF2-40B4-BE49-F238E27FC236}">
                <a16:creationId xmlns:a16="http://schemas.microsoft.com/office/drawing/2014/main" id="{79FA1651-32E5-4CF4-9F60-21148F23DF8B}"/>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020</a:t>
            </a:r>
          </a:p>
        </p:txBody>
      </p:sp>
    </p:spTree>
    <p:extLst>
      <p:ext uri="{BB962C8B-B14F-4D97-AF65-F5344CB8AC3E}">
        <p14:creationId xmlns:p14="http://schemas.microsoft.com/office/powerpoint/2010/main" val="875405019"/>
      </p:ext>
    </p:extLst>
  </p:cSld>
</p:sld>
</file>

<file path=ppt/slides/slide21.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BCF4C17-3F43-4C51-BB87-99CD9DB29830}"/>
              </a:ext>
            </a:extLst>
          </p:cNvPr>
          <p:cNvSpPr>
            <a:spLocks xmlns:a="http://schemas.openxmlformats.org/drawingml/2006/main" noGrp="1"/>
          </p:cNvSpPr>
          <p:nvPr/>
        </p:nvSpPr>
        <p:spPr>
          <a:xfrm xmlns:a="http://schemas.openxmlformats.org/drawingml/2006/main">
            <a:off x="0" y="0"/>
            <a:ext cx="4000500" cy="6858000"/>
          </a:xfrm>
          <a:prstGeom xmlns:a="http://schemas.openxmlformats.org/drawingml/2006/main" prst="rect">
            <a:avLst/>
          </a:prstGeom>
          <a:solidFill xmlns:a="http://schemas.openxmlformats.org/drawingml/2006/main">
            <a:srgbClr val="002FA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CFE8B5D-42FC-48F4-ACEC-60ABABABEC72}"/>
              </a:ext>
            </a:extLst>
          </p:cNvPr>
          <p:cNvSpPr>
            <a:spLocks xmlns:a="http://schemas.openxmlformats.org/drawingml/2006/main" noGrp="1"/>
          </p:cNvSpPr>
          <p:nvPr/>
        </p:nvSpPr>
        <p:spPr>
          <a:xfrm xmlns:a="http://schemas.openxmlformats.org/drawingml/2006/main">
            <a:off x="542925" y="1504950"/>
            <a:ext cx="2952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600" b="0">
                <a:solidFill>
                  <a:srgbClr val="FFFFFF"/>
                </a:solidFill>
                <a:latin typeface="Arial"/>
                <a:ea typeface="Arial"/>
                <a:cs typeface="Arial"/>
              </a:defRPr>
            </a:pPr>
            <a:r>
              <a:t>02</a:t>
            </a:r>
          </a:p>
        </p:txBody>
      </p:sp>
      <p:sp>
        <p:nvSpPr>
          <p:cNvPr id="3" name="">
            <a:extLst xmlns:a="http://schemas.openxmlformats.org/drawingml/2006/main">
              <a:ext uri="{FF2B5EF4-FFF2-40B4-BE49-F238E27FC236}">
                <a16:creationId xmlns:a16="http://schemas.microsoft.com/office/drawing/2014/main" id="{673145BF-7BAE-457E-BFF3-BAAB7CB3A30A}"/>
              </a:ext>
            </a:extLst>
          </p:cNvPr>
          <p:cNvSpPr>
            <a:spLocks xmlns:a="http://schemas.openxmlformats.org/drawingml/2006/main" noGrp="1"/>
          </p:cNvSpPr>
          <p:nvPr/>
        </p:nvSpPr>
        <p:spPr>
          <a:xfrm xmlns:a="http://schemas.openxmlformats.org/drawingml/2006/main">
            <a:off x="609600" y="3857625"/>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0">
                <a:solidFill>
                  <a:srgbClr val="FFFFFF"/>
                </a:solidFill>
                <a:latin typeface="Noto Sans KR"/>
                <a:ea typeface="Noto Sans KR"/>
                <a:cs typeface="Noto Sans KR"/>
              </a:defRPr>
            </a:pPr>
            <a:r>
              <a:t>교시</a:t>
            </a:r>
          </a:p>
        </p:txBody>
      </p:sp>
      <p:sp>
        <p:nvSpPr>
          <p:cNvPr id="4" name="">
            <a:extLst xmlns:a="http://schemas.openxmlformats.org/drawingml/2006/main">
              <a:ext uri="{FF2B5EF4-FFF2-40B4-BE49-F238E27FC236}">
                <a16:creationId xmlns:a16="http://schemas.microsoft.com/office/drawing/2014/main" id="{AC7E5E22-BBBB-4D60-BF87-35D1FD4F96B4}"/>
              </a:ext>
            </a:extLst>
          </p:cNvPr>
          <p:cNvSpPr>
            <a:spLocks xmlns:a="http://schemas.openxmlformats.org/drawingml/2006/main" noGrp="1"/>
          </p:cNvSpPr>
          <p:nvPr/>
        </p:nvSpPr>
        <p:spPr>
          <a:xfrm xmlns:a="http://schemas.openxmlformats.org/drawingml/2006/main">
            <a:off x="4572000" y="1304925"/>
            <a:ext cx="68961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650" b="0">
                <a:solidFill>
                  <a:srgbClr val="0A0A0A"/>
                </a:solidFill>
                <a:latin typeface="Noto Sans KR"/>
                <a:ea typeface="Noto Sans KR"/>
                <a:cs typeface="Noto Sans KR"/>
              </a:defRPr>
            </a:pPr>
            <a:r>
              <a:t>값에 이름 붙이기</a:t>
            </a:r>
          </a:p>
        </p:txBody>
      </p:sp>
      <p:sp>
        <p:nvSpPr>
          <p:cNvPr id="5" name="">
            <a:extLst xmlns:a="http://schemas.openxmlformats.org/drawingml/2006/main">
              <a:ext uri="{FF2B5EF4-FFF2-40B4-BE49-F238E27FC236}">
                <a16:creationId xmlns:a16="http://schemas.microsoft.com/office/drawing/2014/main" id="{CD596590-B89D-4C7C-85CF-96DE4150733D}"/>
              </a:ext>
            </a:extLst>
          </p:cNvPr>
          <p:cNvSpPr>
            <a:spLocks xmlns:a="http://schemas.openxmlformats.org/drawingml/2006/main" noGrp="1"/>
          </p:cNvSpPr>
          <p:nvPr/>
        </p:nvSpPr>
        <p:spPr>
          <a:xfrm xmlns:a="http://schemas.openxmlformats.org/drawingml/2006/main">
            <a:off x="4572000" y="3609975"/>
            <a:ext cx="6896100" cy="9525"/>
          </a:xfrm>
          <a:prstGeom xmlns:a="http://schemas.openxmlformats.org/drawingml/2006/main" prst="rect">
            <a:avLst/>
          </a:prstGeom>
          <a:solidFill xmlns:a="http://schemas.openxmlformats.org/drawingml/2006/main">
            <a:srgbClr val="002FA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604BA3F-DE09-4BDF-A8A1-FEC4641693FF}"/>
              </a:ext>
            </a:extLst>
          </p:cNvPr>
          <p:cNvSpPr>
            <a:spLocks xmlns:a="http://schemas.openxmlformats.org/drawingml/2006/main" noGrp="1"/>
          </p:cNvSpPr>
          <p:nvPr/>
        </p:nvSpPr>
        <p:spPr>
          <a:xfrm xmlns:a="http://schemas.openxmlformats.org/drawingml/2006/main">
            <a:off x="4572000" y="3886200"/>
            <a:ext cx="689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002FA7"/>
                </a:solidFill>
                <a:latin typeface="Noto Sans KR"/>
                <a:ea typeface="Noto Sans KR"/>
                <a:cs typeface="Noto Sans KR"/>
              </a:defRPr>
            </a:pPr>
            <a:r>
              <a:t>11:00~11:50 · 50분</a:t>
            </a:r>
          </a:p>
        </p:txBody>
      </p:sp>
      <p:sp>
        <p:nvSpPr>
          <p:cNvPr id="7" name="">
            <a:extLst xmlns:a="http://schemas.openxmlformats.org/drawingml/2006/main">
              <a:ext uri="{FF2B5EF4-FFF2-40B4-BE49-F238E27FC236}">
                <a16:creationId xmlns:a16="http://schemas.microsoft.com/office/drawing/2014/main" id="{3CDAFB5A-2F37-48D6-9E4D-D7376EF96DF8}"/>
              </a:ext>
            </a:extLst>
          </p:cNvPr>
          <p:cNvSpPr>
            <a:spLocks xmlns:a="http://schemas.openxmlformats.org/drawingml/2006/main" noGrp="1"/>
          </p:cNvSpPr>
          <p:nvPr/>
        </p:nvSpPr>
        <p:spPr>
          <a:xfrm xmlns:a="http://schemas.openxmlformats.org/drawingml/2006/main">
            <a:off x="4572000" y="4600575"/>
            <a:ext cx="689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0A0A0A"/>
                </a:solidFill>
                <a:latin typeface="Noto Sans KR"/>
                <a:ea typeface="Noto Sans KR"/>
                <a:cs typeface="Noto Sans KR"/>
              </a:defRPr>
            </a:pPr>
            <a:r>
              <a:t>먼저 할 활동: A04, A05, A06</a:t>
            </a:r>
          </a:p>
        </p:txBody>
      </p:sp>
      <p:sp>
        <p:nvSpPr>
          <p:cNvPr id="8" name="">
            <a:extLst xmlns:a="http://schemas.openxmlformats.org/drawingml/2006/main">
              <a:ext uri="{FF2B5EF4-FFF2-40B4-BE49-F238E27FC236}">
                <a16:creationId xmlns:a16="http://schemas.microsoft.com/office/drawing/2014/main" id="{B426BC8D-5D24-479D-B1C2-385779BB718F}"/>
              </a:ext>
            </a:extLst>
          </p:cNvPr>
          <p:cNvSpPr>
            <a:spLocks xmlns:a="http://schemas.openxmlformats.org/drawingml/2006/main" noGrp="1"/>
          </p:cNvSpPr>
          <p:nvPr/>
        </p:nvSpPr>
        <p:spPr>
          <a:xfrm xmlns:a="http://schemas.openxmlformats.org/drawingml/2006/main">
            <a:off x="4572000" y="5314950"/>
            <a:ext cx="689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0A0A0A"/>
                </a:solidFill>
                <a:latin typeface="Noto Sans KR"/>
                <a:ea typeface="Noto Sans KR"/>
                <a:cs typeface="Noto Sans KR"/>
              </a:defRPr>
            </a:pPr>
            <a:r>
              <a:t>추가 문제는 필수 결과를 확인한 뒤 풉니다.</a:t>
            </a:r>
          </a:p>
        </p:txBody>
      </p:sp>
      <p:sp>
        <p:nvSpPr>
          <p:cNvPr id="9" name="">
            <a:extLst xmlns:a="http://schemas.openxmlformats.org/drawingml/2006/main">
              <a:ext uri="{FF2B5EF4-FFF2-40B4-BE49-F238E27FC236}">
                <a16:creationId xmlns:a16="http://schemas.microsoft.com/office/drawing/2014/main" id="{4CFBD9B4-9B33-4D89-B1F6-F2E663DC4113}"/>
              </a:ext>
            </a:extLst>
          </p:cNvPr>
          <p:cNvSpPr>
            <a:spLocks xmlns:a="http://schemas.openxmlformats.org/drawingml/2006/main" noGrp="1"/>
          </p:cNvSpPr>
          <p:nvPr/>
        </p:nvSpPr>
        <p:spPr>
          <a:xfrm xmlns:a="http://schemas.openxmlformats.org/drawingml/2006/main">
            <a:off x="609600" y="428625"/>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FFFFFF"/>
                </a:solidFill>
                <a:latin typeface="Noto Sans KR"/>
                <a:ea typeface="Noto Sans KR"/>
                <a:cs typeface="Noto Sans KR"/>
              </a:defRPr>
            </a:pPr>
            <a:r>
              <a:t>2026.10.14</a:t>
            </a:r>
          </a:p>
        </p:txBody>
      </p:sp>
      <p:sp>
        <p:nvSpPr>
          <p:cNvPr id="10" name="">
            <a:extLst xmlns:a="http://schemas.openxmlformats.org/drawingml/2006/main">
              <a:ext uri="{FF2B5EF4-FFF2-40B4-BE49-F238E27FC236}">
                <a16:creationId xmlns:a16="http://schemas.microsoft.com/office/drawing/2014/main" id="{F6B4009C-034F-4F72-B72F-42C1653D0FCE}"/>
              </a:ext>
            </a:extLst>
          </p:cNvPr>
          <p:cNvSpPr>
            <a:spLocks xmlns:a="http://schemas.openxmlformats.org/drawingml/2006/main" noGrp="1"/>
          </p:cNvSpPr>
          <p:nvPr/>
        </p:nvSpPr>
        <p:spPr>
          <a:xfrm xmlns:a="http://schemas.openxmlformats.org/drawingml/2006/main">
            <a:off x="10477500" y="64008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021</a:t>
            </a:r>
          </a:p>
        </p:txBody>
      </p:sp>
    </p:spTree>
    <p:extLst>
      <p:ext uri="{BB962C8B-B14F-4D97-AF65-F5344CB8AC3E}">
        <p14:creationId xmlns:p14="http://schemas.microsoft.com/office/powerpoint/2010/main" val="1731003616"/>
      </p:ext>
    </p:extLst>
  </p:cSld>
</p:sld>
</file>

<file path=ppt/slides/slide22.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BC480DC-3F56-4481-A305-CA5CA7283C5B}"/>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2교시</a:t>
            </a:r>
          </a:p>
        </p:txBody>
      </p:sp>
      <p:sp>
        <p:nvSpPr>
          <p:cNvPr id="2" name="">
            <a:extLst xmlns:a="http://schemas.openxmlformats.org/drawingml/2006/main">
              <a:ext uri="{FF2B5EF4-FFF2-40B4-BE49-F238E27FC236}">
                <a16:creationId xmlns:a16="http://schemas.microsoft.com/office/drawing/2014/main" id="{0C0F5061-5E42-4C28-954C-21660A05718B}"/>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완성 예 · 변수 이름</a:t>
            </a:r>
          </a:p>
        </p:txBody>
      </p:sp>
      <p:sp>
        <p:nvSpPr>
          <p:cNvPr id="3" name="">
            <a:extLst xmlns:a="http://schemas.openxmlformats.org/drawingml/2006/main">
              <a:ext uri="{FF2B5EF4-FFF2-40B4-BE49-F238E27FC236}">
                <a16:creationId xmlns:a16="http://schemas.microsoft.com/office/drawing/2014/main" id="{0A358EA3-B26E-4CBA-AAF0-B8B9DF87595B}"/>
              </a:ext>
            </a:extLst>
          </p:cNvPr>
          <p:cNvSpPr>
            <a:spLocks xmlns:a="http://schemas.openxmlformats.org/drawingml/2006/main" noGrp="1"/>
          </p:cNvSpPr>
          <p:nvPr/>
        </p:nvSpPr>
        <p:spPr>
          <a:xfrm xmlns:a="http://schemas.openxmlformats.org/drawingml/2006/main">
            <a:off x="609600" y="2714625"/>
            <a:ext cx="10972800" cy="2133600"/>
          </a:xfrm>
          <a:prstGeom xmlns:a="http://schemas.openxmlformats.org/drawingml/2006/main" prst="rect">
            <a:avLst/>
          </a:prstGeom>
          <a:solidFill xmlns:a="http://schemas.openxmlformats.org/drawingml/2006/main">
            <a:srgbClr val="0A0A0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AA67B26-CEB4-4F97-BA61-7B67C1D54758}"/>
              </a:ext>
            </a:extLst>
          </p:cNvPr>
          <p:cNvSpPr>
            <a:spLocks xmlns:a="http://schemas.openxmlformats.org/drawingml/2006/main" noGrp="1"/>
          </p:cNvSpPr>
          <p:nvPr/>
        </p:nvSpPr>
        <p:spPr>
          <a:xfrm xmlns:a="http://schemas.openxmlformats.org/drawingml/2006/main">
            <a:off x="790575" y="29051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01</a:t>
            </a:r>
          </a:p>
        </p:txBody>
      </p:sp>
      <p:sp>
        <p:nvSpPr>
          <p:cNvPr id="5" name="">
            <a:extLst xmlns:a="http://schemas.openxmlformats.org/drawingml/2006/main">
              <a:ext uri="{FF2B5EF4-FFF2-40B4-BE49-F238E27FC236}">
                <a16:creationId xmlns:a16="http://schemas.microsoft.com/office/drawing/2014/main" id="{325DCC67-7D12-4C1D-8172-7C541034B564}"/>
              </a:ext>
            </a:extLst>
          </p:cNvPr>
          <p:cNvSpPr>
            <a:spLocks xmlns:a="http://schemas.openxmlformats.org/drawingml/2006/main" noGrp="1"/>
          </p:cNvSpPr>
          <p:nvPr/>
        </p:nvSpPr>
        <p:spPr>
          <a:xfrm xmlns:a="http://schemas.openxmlformats.org/drawingml/2006/main">
            <a:off x="1390650" y="28670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location = </a:t>
            </a:r>
            <a:r>
              <a:rPr>
                <a:solidFill>
                  <a:srgbClr val="BACBFA"/>
                </a:solidFill>
              </a:rPr>
              <a:t>"입구"</a:t>
            </a:r>
          </a:p>
        </p:txBody>
      </p:sp>
      <p:sp>
        <p:nvSpPr>
          <p:cNvPr id="6" name="">
            <a:extLst xmlns:a="http://schemas.openxmlformats.org/drawingml/2006/main">
              <a:ext uri="{FF2B5EF4-FFF2-40B4-BE49-F238E27FC236}">
                <a16:creationId xmlns:a16="http://schemas.microsoft.com/office/drawing/2014/main" id="{A16BBA1F-8CD1-4BCB-9608-C71B076A7556}"/>
              </a:ext>
            </a:extLst>
          </p:cNvPr>
          <p:cNvSpPr>
            <a:spLocks xmlns:a="http://schemas.openxmlformats.org/drawingml/2006/main" noGrp="1"/>
          </p:cNvSpPr>
          <p:nvPr/>
        </p:nvSpPr>
        <p:spPr>
          <a:xfrm xmlns:a="http://schemas.openxmlformats.org/drawingml/2006/main">
            <a:off x="790575" y="32480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02</a:t>
            </a:r>
          </a:p>
        </p:txBody>
      </p:sp>
      <p:sp>
        <p:nvSpPr>
          <p:cNvPr id="7" name="">
            <a:extLst xmlns:a="http://schemas.openxmlformats.org/drawingml/2006/main">
              <a:ext uri="{FF2B5EF4-FFF2-40B4-BE49-F238E27FC236}">
                <a16:creationId xmlns:a16="http://schemas.microsoft.com/office/drawing/2014/main" id="{F4324505-09EB-4272-AF1F-070D7A9263CC}"/>
              </a:ext>
            </a:extLst>
          </p:cNvPr>
          <p:cNvSpPr>
            <a:spLocks xmlns:a="http://schemas.openxmlformats.org/drawingml/2006/main" noGrp="1"/>
          </p:cNvSpPr>
          <p:nvPr/>
        </p:nvSpPr>
        <p:spPr>
          <a:xfrm xmlns:a="http://schemas.openxmlformats.org/drawingml/2006/main">
            <a:off x="1390650" y="32099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temperature_c = 22.5</a:t>
            </a:r>
          </a:p>
        </p:txBody>
      </p:sp>
      <p:sp>
        <p:nvSpPr>
          <p:cNvPr id="8" name="">
            <a:extLst xmlns:a="http://schemas.openxmlformats.org/drawingml/2006/main">
              <a:ext uri="{FF2B5EF4-FFF2-40B4-BE49-F238E27FC236}">
                <a16:creationId xmlns:a16="http://schemas.microsoft.com/office/drawing/2014/main" id="{686812F9-8499-4D7A-97F7-EBC46F74813D}"/>
              </a:ext>
            </a:extLst>
          </p:cNvPr>
          <p:cNvSpPr>
            <a:spLocks xmlns:a="http://schemas.openxmlformats.org/drawingml/2006/main" noGrp="1"/>
          </p:cNvSpPr>
          <p:nvPr/>
        </p:nvSpPr>
        <p:spPr>
          <a:xfrm xmlns:a="http://schemas.openxmlformats.org/drawingml/2006/main">
            <a:off x="790575" y="35909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03</a:t>
            </a:r>
          </a:p>
        </p:txBody>
      </p:sp>
      <p:sp>
        <p:nvSpPr>
          <p:cNvPr id="9" name="">
            <a:extLst xmlns:a="http://schemas.openxmlformats.org/drawingml/2006/main">
              <a:ext uri="{FF2B5EF4-FFF2-40B4-BE49-F238E27FC236}">
                <a16:creationId xmlns:a16="http://schemas.microsoft.com/office/drawing/2014/main" id="{009153B3-52EC-4CD1-A6E0-B131C0D66AF8}"/>
              </a:ext>
            </a:extLst>
          </p:cNvPr>
          <p:cNvSpPr>
            <a:spLocks xmlns:a="http://schemas.openxmlformats.org/drawingml/2006/main" noGrp="1"/>
          </p:cNvSpPr>
          <p:nvPr/>
        </p:nvSpPr>
        <p:spPr>
          <a:xfrm xmlns:a="http://schemas.openxmlformats.org/drawingml/2006/main">
            <a:off x="1390650" y="35528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print(location)</a:t>
            </a:r>
          </a:p>
        </p:txBody>
      </p:sp>
      <p:sp>
        <p:nvSpPr>
          <p:cNvPr id="10" name="">
            <a:extLst xmlns:a="http://schemas.openxmlformats.org/drawingml/2006/main">
              <a:ext uri="{FF2B5EF4-FFF2-40B4-BE49-F238E27FC236}">
                <a16:creationId xmlns:a16="http://schemas.microsoft.com/office/drawing/2014/main" id="{EA9F9B16-11FC-4C02-ADCA-CE2345CCCA8E}"/>
              </a:ext>
            </a:extLst>
          </p:cNvPr>
          <p:cNvSpPr>
            <a:spLocks xmlns:a="http://schemas.openxmlformats.org/drawingml/2006/main" noGrp="1"/>
          </p:cNvSpPr>
          <p:nvPr/>
        </p:nvSpPr>
        <p:spPr>
          <a:xfrm xmlns:a="http://schemas.openxmlformats.org/drawingml/2006/main">
            <a:off x="790575" y="39338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04</a:t>
            </a:r>
          </a:p>
        </p:txBody>
      </p:sp>
      <p:sp>
        <p:nvSpPr>
          <p:cNvPr id="11" name="">
            <a:extLst xmlns:a="http://schemas.openxmlformats.org/drawingml/2006/main">
              <a:ext uri="{FF2B5EF4-FFF2-40B4-BE49-F238E27FC236}">
                <a16:creationId xmlns:a16="http://schemas.microsoft.com/office/drawing/2014/main" id="{58507A7A-1F5F-4E9D-9F60-BBEA7AC972D9}"/>
              </a:ext>
            </a:extLst>
          </p:cNvPr>
          <p:cNvSpPr>
            <a:spLocks xmlns:a="http://schemas.openxmlformats.org/drawingml/2006/main" noGrp="1"/>
          </p:cNvSpPr>
          <p:nvPr/>
        </p:nvSpPr>
        <p:spPr>
          <a:xfrm xmlns:a="http://schemas.openxmlformats.org/drawingml/2006/main">
            <a:off x="1390650" y="38957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print(temperature_c)</a:t>
            </a:r>
          </a:p>
        </p:txBody>
      </p:sp>
      <p:sp>
        <p:nvSpPr>
          <p:cNvPr id="12" name="">
            <a:extLst xmlns:a="http://schemas.openxmlformats.org/drawingml/2006/main">
              <a:ext uri="{FF2B5EF4-FFF2-40B4-BE49-F238E27FC236}">
                <a16:creationId xmlns:a16="http://schemas.microsoft.com/office/drawing/2014/main" id="{07192EC6-B1B7-4DC1-9AC2-D5F4140FFC07}"/>
              </a:ext>
            </a:extLst>
          </p:cNvPr>
          <p:cNvSpPr>
            <a:spLocks xmlns:a="http://schemas.openxmlformats.org/drawingml/2006/main" noGrp="1"/>
          </p:cNvSpPr>
          <p:nvPr/>
        </p:nvSpPr>
        <p:spPr>
          <a:xfrm xmlns:a="http://schemas.openxmlformats.org/drawingml/2006/main">
            <a:off x="790575" y="42767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05</a:t>
            </a:r>
          </a:p>
        </p:txBody>
      </p:sp>
      <p:sp>
        <p:nvSpPr>
          <p:cNvPr id="13" name="">
            <a:extLst xmlns:a="http://schemas.openxmlformats.org/drawingml/2006/main">
              <a:ext uri="{FF2B5EF4-FFF2-40B4-BE49-F238E27FC236}">
                <a16:creationId xmlns:a16="http://schemas.microsoft.com/office/drawing/2014/main" id="{7B95AF1E-385D-4953-B01A-A92789339C12}"/>
              </a:ext>
            </a:extLst>
          </p:cNvPr>
          <p:cNvSpPr>
            <a:spLocks xmlns:a="http://schemas.openxmlformats.org/drawingml/2006/main" noGrp="1"/>
          </p:cNvSpPr>
          <p:nvPr/>
        </p:nvSpPr>
        <p:spPr>
          <a:xfrm xmlns:a="http://schemas.openxmlformats.org/drawingml/2006/main">
            <a:off x="1390650" y="42386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print(</a:t>
            </a:r>
            <a:r>
              <a:rPr>
                <a:solidFill>
                  <a:srgbClr val="BACBFA"/>
                </a:solidFill>
              </a:rPr>
              <a:t>"location"</a:t>
            </a:r>
            <a:r>
              <a:rPr>
                <a:solidFill>
                  <a:srgbClr val="FFFFFF"/>
                </a:solidFill>
              </a:rPr>
              <a:t>)</a:t>
            </a:r>
          </a:p>
        </p:txBody>
      </p:sp>
      <p:sp>
        <p:nvSpPr>
          <p:cNvPr id="14" name="">
            <a:extLst xmlns:a="http://schemas.openxmlformats.org/drawingml/2006/main">
              <a:ext uri="{FF2B5EF4-FFF2-40B4-BE49-F238E27FC236}">
                <a16:creationId xmlns:a16="http://schemas.microsoft.com/office/drawing/2014/main" id="{BE44224F-D963-4999-B775-BC0AFFE05C4E}"/>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3475A80-06C4-4AFF-B6CC-B8B58FD616AE}"/>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6" name="">
            <a:extLst xmlns:a="http://schemas.openxmlformats.org/drawingml/2006/main">
              <a:ext uri="{FF2B5EF4-FFF2-40B4-BE49-F238E27FC236}">
                <a16:creationId xmlns:a16="http://schemas.microsoft.com/office/drawing/2014/main" id="{E1A12A6D-97A9-44FA-8E91-1162290F1676}"/>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022</a:t>
            </a:r>
          </a:p>
        </p:txBody>
      </p:sp>
    </p:spTree>
    <p:extLst>
      <p:ext uri="{BB962C8B-B14F-4D97-AF65-F5344CB8AC3E}">
        <p14:creationId xmlns:p14="http://schemas.microsoft.com/office/powerpoint/2010/main" val="2121121881"/>
      </p:ext>
    </p:extLst>
  </p:cSld>
</p:sld>
</file>

<file path=ppt/slides/slide23.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5990D8B-94B2-46CD-8CBF-BE2C27D7D8F5}"/>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2교시</a:t>
            </a:r>
          </a:p>
        </p:txBody>
      </p:sp>
      <p:sp>
        <p:nvSpPr>
          <p:cNvPr id="2" name="">
            <a:extLst xmlns:a="http://schemas.openxmlformats.org/drawingml/2006/main">
              <a:ext uri="{FF2B5EF4-FFF2-40B4-BE49-F238E27FC236}">
                <a16:creationId xmlns:a16="http://schemas.microsoft.com/office/drawing/2014/main" id="{8712B4A7-2246-4A60-B2D6-03EB55ECE258}"/>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변수와 문자열은 다릅니다</a:t>
            </a:r>
          </a:p>
        </p:txBody>
      </p:sp>
      <p:sp>
        <p:nvSpPr>
          <p:cNvPr id="3" name="">
            <a:extLst xmlns:a="http://schemas.openxmlformats.org/drawingml/2006/main">
              <a:ext uri="{FF2B5EF4-FFF2-40B4-BE49-F238E27FC236}">
                <a16:creationId xmlns:a16="http://schemas.microsoft.com/office/drawing/2014/main" id="{85BC3072-9EF1-43E0-9B79-197B52727D91}"/>
              </a:ext>
            </a:extLst>
          </p:cNvPr>
          <p:cNvSpPr>
            <a:spLocks xmlns:a="http://schemas.openxmlformats.org/drawingml/2006/main" noGrp="1"/>
          </p:cNvSpPr>
          <p:nvPr/>
        </p:nvSpPr>
        <p:spPr>
          <a:xfrm xmlns:a="http://schemas.openxmlformats.org/drawingml/2006/main">
            <a:off x="6086475" y="2514600"/>
            <a:ext cx="9525" cy="189547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1122F59-8C12-48D3-84FE-D54EBCE55436}"/>
              </a:ext>
            </a:extLst>
          </p:cNvPr>
          <p:cNvSpPr>
            <a:spLocks xmlns:a="http://schemas.openxmlformats.org/drawingml/2006/main" noGrp="1"/>
          </p:cNvSpPr>
          <p:nvPr/>
        </p:nvSpPr>
        <p:spPr>
          <a:xfrm xmlns:a="http://schemas.openxmlformats.org/drawingml/2006/main">
            <a:off x="609600" y="2667000"/>
            <a:ext cx="51435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0A0A0A"/>
                </a:solidFill>
                <a:latin typeface="Noto Sans KR"/>
                <a:ea typeface="Noto Sans KR"/>
                <a:cs typeface="Noto Sans KR"/>
              </a:defRPr>
            </a:pPr>
            <a:r>
              <a:t>location은 연결된 현재 값을 찾습니다.</a:t>
            </a:r>
          </a:p>
        </p:txBody>
      </p:sp>
      <p:sp>
        <p:nvSpPr>
          <p:cNvPr id="5" name="">
            <a:extLst xmlns:a="http://schemas.openxmlformats.org/drawingml/2006/main">
              <a:ext uri="{FF2B5EF4-FFF2-40B4-BE49-F238E27FC236}">
                <a16:creationId xmlns:a16="http://schemas.microsoft.com/office/drawing/2014/main" id="{47AB7E8B-BED7-498C-96B9-921A70747387}"/>
              </a:ext>
            </a:extLst>
          </p:cNvPr>
          <p:cNvSpPr>
            <a:spLocks xmlns:a="http://schemas.openxmlformats.org/drawingml/2006/main" noGrp="1"/>
          </p:cNvSpPr>
          <p:nvPr/>
        </p:nvSpPr>
        <p:spPr>
          <a:xfrm xmlns:a="http://schemas.openxmlformats.org/drawingml/2006/main">
            <a:off x="6400800" y="2667000"/>
            <a:ext cx="51435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0A0A0A"/>
                </a:solidFill>
                <a:latin typeface="Noto Sans KR"/>
                <a:ea typeface="Noto Sans KR"/>
                <a:cs typeface="Noto Sans KR"/>
              </a:defRPr>
            </a:pPr>
            <a:r>
              <a:t>"location"은 글자 자체입니다.</a:t>
            </a:r>
          </a:p>
        </p:txBody>
      </p:sp>
      <p:sp>
        <p:nvSpPr>
          <p:cNvPr id="6" name="">
            <a:extLst xmlns:a="http://schemas.openxmlformats.org/drawingml/2006/main">
              <a:ext uri="{FF2B5EF4-FFF2-40B4-BE49-F238E27FC236}">
                <a16:creationId xmlns:a16="http://schemas.microsoft.com/office/drawing/2014/main" id="{9A59D6BC-E744-48EA-BCFB-BEEE1B35D1DC}"/>
              </a:ext>
            </a:extLst>
          </p:cNvPr>
          <p:cNvSpPr>
            <a:spLocks xmlns:a="http://schemas.openxmlformats.org/drawingml/2006/main" noGrp="1"/>
          </p:cNvSpPr>
          <p:nvPr/>
        </p:nvSpPr>
        <p:spPr>
          <a:xfrm xmlns:a="http://schemas.openxmlformats.org/drawingml/2006/main">
            <a:off x="609600" y="4552950"/>
            <a:ext cx="10972800" cy="9525"/>
          </a:xfrm>
          <a:prstGeom xmlns:a="http://schemas.openxmlformats.org/drawingml/2006/main" prst="rect">
            <a:avLst/>
          </a:prstGeom>
          <a:solidFill xmlns:a="http://schemas.openxmlformats.org/drawingml/2006/main">
            <a:srgbClr val="002FA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5F4F2F5-5A4C-41BA-91EC-B56F1CF90B1C}"/>
              </a:ext>
            </a:extLst>
          </p:cNvPr>
          <p:cNvSpPr>
            <a:spLocks xmlns:a="http://schemas.openxmlformats.org/drawingml/2006/main" noGrp="1"/>
          </p:cNvSpPr>
          <p:nvPr/>
        </p:nvSpPr>
        <p:spPr>
          <a:xfrm xmlns:a="http://schemas.openxmlformats.org/drawingml/2006/main">
            <a:off x="609600" y="48101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0A0A0A"/>
                </a:solidFill>
                <a:latin typeface="Noto Sans KR"/>
                <a:ea typeface="Noto Sans KR"/>
                <a:cs typeface="Noto Sans KR"/>
              </a:defRPr>
            </a:pPr>
            <a:r>
              <a:t>=는 오른쪽 값을 왼쪽 이름에 연결합니다.</a:t>
            </a:r>
          </a:p>
        </p:txBody>
      </p:sp>
      <p:sp>
        <p:nvSpPr>
          <p:cNvPr id="8" name="">
            <a:extLst xmlns:a="http://schemas.openxmlformats.org/drawingml/2006/main">
              <a:ext uri="{FF2B5EF4-FFF2-40B4-BE49-F238E27FC236}">
                <a16:creationId xmlns:a16="http://schemas.microsoft.com/office/drawing/2014/main" id="{6A528937-C7FF-4D84-96E2-B16EEF44D0AC}"/>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C54C597-1850-4571-8E56-4D506544102B}"/>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0" name="">
            <a:extLst xmlns:a="http://schemas.openxmlformats.org/drawingml/2006/main">
              <a:ext uri="{FF2B5EF4-FFF2-40B4-BE49-F238E27FC236}">
                <a16:creationId xmlns:a16="http://schemas.microsoft.com/office/drawing/2014/main" id="{52A04FB3-42DB-477D-9010-68C7134F1F05}"/>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023</a:t>
            </a:r>
          </a:p>
        </p:txBody>
      </p:sp>
    </p:spTree>
    <p:extLst>
      <p:ext uri="{BB962C8B-B14F-4D97-AF65-F5344CB8AC3E}">
        <p14:creationId xmlns:p14="http://schemas.microsoft.com/office/powerpoint/2010/main" val="2004529627"/>
      </p:ext>
    </p:extLst>
  </p:cSld>
</p:sld>
</file>

<file path=ppt/slides/slide24.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1943D91-4ED9-40EF-BA06-EAB9159D86C6}"/>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2교시</a:t>
            </a:r>
          </a:p>
        </p:txBody>
      </p:sp>
      <p:sp>
        <p:nvSpPr>
          <p:cNvPr id="2" name="">
            <a:extLst xmlns:a="http://schemas.openxmlformats.org/drawingml/2006/main">
              <a:ext uri="{FF2B5EF4-FFF2-40B4-BE49-F238E27FC236}">
                <a16:creationId xmlns:a16="http://schemas.microsoft.com/office/drawing/2014/main" id="{E39A2CBF-5CEA-4952-BEB3-CA8A31F1C43A}"/>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예상 출력 · 이름과 글자</a:t>
            </a:r>
          </a:p>
        </p:txBody>
      </p:sp>
      <p:sp>
        <p:nvSpPr>
          <p:cNvPr id="3" name="">
            <a:extLst xmlns:a="http://schemas.openxmlformats.org/drawingml/2006/main">
              <a:ext uri="{FF2B5EF4-FFF2-40B4-BE49-F238E27FC236}">
                <a16:creationId xmlns:a16="http://schemas.microsoft.com/office/drawing/2014/main" id="{B6D88E39-8130-4B5B-A402-B9030C105D52}"/>
              </a:ext>
            </a:extLst>
          </p:cNvPr>
          <p:cNvSpPr>
            <a:spLocks xmlns:a="http://schemas.openxmlformats.org/drawingml/2006/main" noGrp="1"/>
          </p:cNvSpPr>
          <p:nvPr/>
        </p:nvSpPr>
        <p:spPr>
          <a:xfrm xmlns:a="http://schemas.openxmlformats.org/drawingml/2006/main">
            <a:off x="609600" y="2714625"/>
            <a:ext cx="10972800" cy="1714500"/>
          </a:xfrm>
          <a:prstGeom xmlns:a="http://schemas.openxmlformats.org/drawingml/2006/main" prst="rect">
            <a:avLst/>
          </a:prstGeom>
          <a:solidFill xmlns:a="http://schemas.openxmlformats.org/drawingml/2006/main">
            <a:srgbClr val="0A0A0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5F02BC0-89B0-4DB8-B06D-CDC26D4477F5}"/>
              </a:ext>
            </a:extLst>
          </p:cNvPr>
          <p:cNvSpPr>
            <a:spLocks xmlns:a="http://schemas.openxmlformats.org/drawingml/2006/main" noGrp="1"/>
          </p:cNvSpPr>
          <p:nvPr/>
        </p:nvSpPr>
        <p:spPr>
          <a:xfrm xmlns:a="http://schemas.openxmlformats.org/drawingml/2006/main">
            <a:off x="790575" y="29051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01</a:t>
            </a:r>
          </a:p>
        </p:txBody>
      </p:sp>
      <p:sp>
        <p:nvSpPr>
          <p:cNvPr id="5" name="">
            <a:extLst xmlns:a="http://schemas.openxmlformats.org/drawingml/2006/main">
              <a:ext uri="{FF2B5EF4-FFF2-40B4-BE49-F238E27FC236}">
                <a16:creationId xmlns:a16="http://schemas.microsoft.com/office/drawing/2014/main" id="{0FD420F6-8005-4FCA-82F6-CC2B53CA48FE}"/>
              </a:ext>
            </a:extLst>
          </p:cNvPr>
          <p:cNvSpPr>
            <a:spLocks xmlns:a="http://schemas.openxmlformats.org/drawingml/2006/main" noGrp="1"/>
          </p:cNvSpPr>
          <p:nvPr/>
        </p:nvSpPr>
        <p:spPr>
          <a:xfrm xmlns:a="http://schemas.openxmlformats.org/drawingml/2006/main">
            <a:off x="1390650" y="28670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입구</a:t>
            </a:r>
          </a:p>
        </p:txBody>
      </p:sp>
      <p:sp>
        <p:nvSpPr>
          <p:cNvPr id="6" name="">
            <a:extLst xmlns:a="http://schemas.openxmlformats.org/drawingml/2006/main">
              <a:ext uri="{FF2B5EF4-FFF2-40B4-BE49-F238E27FC236}">
                <a16:creationId xmlns:a16="http://schemas.microsoft.com/office/drawing/2014/main" id="{B159F24C-C145-4FB6-8FE8-3D65D15D3C12}"/>
              </a:ext>
            </a:extLst>
          </p:cNvPr>
          <p:cNvSpPr>
            <a:spLocks xmlns:a="http://schemas.openxmlformats.org/drawingml/2006/main" noGrp="1"/>
          </p:cNvSpPr>
          <p:nvPr/>
        </p:nvSpPr>
        <p:spPr>
          <a:xfrm xmlns:a="http://schemas.openxmlformats.org/drawingml/2006/main">
            <a:off x="790575" y="32480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02</a:t>
            </a:r>
          </a:p>
        </p:txBody>
      </p:sp>
      <p:sp>
        <p:nvSpPr>
          <p:cNvPr id="7" name="">
            <a:extLst xmlns:a="http://schemas.openxmlformats.org/drawingml/2006/main">
              <a:ext uri="{FF2B5EF4-FFF2-40B4-BE49-F238E27FC236}">
                <a16:creationId xmlns:a16="http://schemas.microsoft.com/office/drawing/2014/main" id="{DBE9B5D8-DA7C-4D8A-8432-07D202906015}"/>
              </a:ext>
            </a:extLst>
          </p:cNvPr>
          <p:cNvSpPr>
            <a:spLocks xmlns:a="http://schemas.openxmlformats.org/drawingml/2006/main" noGrp="1"/>
          </p:cNvSpPr>
          <p:nvPr/>
        </p:nvSpPr>
        <p:spPr>
          <a:xfrm xmlns:a="http://schemas.openxmlformats.org/drawingml/2006/main">
            <a:off x="1390650" y="32099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22.5</a:t>
            </a:r>
          </a:p>
        </p:txBody>
      </p:sp>
      <p:sp>
        <p:nvSpPr>
          <p:cNvPr id="8" name="">
            <a:extLst xmlns:a="http://schemas.openxmlformats.org/drawingml/2006/main">
              <a:ext uri="{FF2B5EF4-FFF2-40B4-BE49-F238E27FC236}">
                <a16:creationId xmlns:a16="http://schemas.microsoft.com/office/drawing/2014/main" id="{9E1A43C6-B6AD-414A-847F-540BC144331F}"/>
              </a:ext>
            </a:extLst>
          </p:cNvPr>
          <p:cNvSpPr>
            <a:spLocks xmlns:a="http://schemas.openxmlformats.org/drawingml/2006/main" noGrp="1"/>
          </p:cNvSpPr>
          <p:nvPr/>
        </p:nvSpPr>
        <p:spPr>
          <a:xfrm xmlns:a="http://schemas.openxmlformats.org/drawingml/2006/main">
            <a:off x="790575" y="35909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03</a:t>
            </a:r>
          </a:p>
        </p:txBody>
      </p:sp>
      <p:sp>
        <p:nvSpPr>
          <p:cNvPr id="9" name="">
            <a:extLst xmlns:a="http://schemas.openxmlformats.org/drawingml/2006/main">
              <a:ext uri="{FF2B5EF4-FFF2-40B4-BE49-F238E27FC236}">
                <a16:creationId xmlns:a16="http://schemas.microsoft.com/office/drawing/2014/main" id="{541952F2-5A50-420A-B42E-3C64439B7E77}"/>
              </a:ext>
            </a:extLst>
          </p:cNvPr>
          <p:cNvSpPr>
            <a:spLocks xmlns:a="http://schemas.openxmlformats.org/drawingml/2006/main" noGrp="1"/>
          </p:cNvSpPr>
          <p:nvPr/>
        </p:nvSpPr>
        <p:spPr>
          <a:xfrm xmlns:a="http://schemas.openxmlformats.org/drawingml/2006/main">
            <a:off x="1390650" y="35528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location</a:t>
            </a:r>
          </a:p>
        </p:txBody>
      </p:sp>
      <p:sp>
        <p:nvSpPr>
          <p:cNvPr id="10" name="">
            <a:extLst xmlns:a="http://schemas.openxmlformats.org/drawingml/2006/main">
              <a:ext uri="{FF2B5EF4-FFF2-40B4-BE49-F238E27FC236}">
                <a16:creationId xmlns:a16="http://schemas.microsoft.com/office/drawing/2014/main" id="{F3CC2251-ACFD-4BD9-9BD2-CFDF092E9E52}"/>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28B58EA-056F-4A0D-AA58-B19402062E36}"/>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2" name="">
            <a:extLst xmlns:a="http://schemas.openxmlformats.org/drawingml/2006/main">
              <a:ext uri="{FF2B5EF4-FFF2-40B4-BE49-F238E27FC236}">
                <a16:creationId xmlns:a16="http://schemas.microsoft.com/office/drawing/2014/main" id="{531FDAE8-EFDA-4803-B818-A34B5AC385E6}"/>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024</a:t>
            </a:r>
          </a:p>
        </p:txBody>
      </p:sp>
    </p:spTree>
    <p:extLst>
      <p:ext uri="{BB962C8B-B14F-4D97-AF65-F5344CB8AC3E}">
        <p14:creationId xmlns:p14="http://schemas.microsoft.com/office/powerpoint/2010/main" val="385019199"/>
      </p:ext>
    </p:extLst>
  </p:cSld>
</p:sld>
</file>

<file path=ppt/slides/slide25.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24DE067-CEC0-49F3-ACE2-60AFE4A996BD}"/>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2교시</a:t>
            </a:r>
          </a:p>
        </p:txBody>
      </p:sp>
      <p:sp>
        <p:nvSpPr>
          <p:cNvPr id="2" name="">
            <a:extLst xmlns:a="http://schemas.openxmlformats.org/drawingml/2006/main">
              <a:ext uri="{FF2B5EF4-FFF2-40B4-BE49-F238E27FC236}">
                <a16:creationId xmlns:a16="http://schemas.microsoft.com/office/drawing/2014/main" id="{035D627E-C6B2-43FD-9C7B-3726521D1436}"/>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완성 예 · 다시 대입하기</a:t>
            </a:r>
          </a:p>
        </p:txBody>
      </p:sp>
      <p:sp>
        <p:nvSpPr>
          <p:cNvPr id="3" name="">
            <a:extLst xmlns:a="http://schemas.openxmlformats.org/drawingml/2006/main">
              <a:ext uri="{FF2B5EF4-FFF2-40B4-BE49-F238E27FC236}">
                <a16:creationId xmlns:a16="http://schemas.microsoft.com/office/drawing/2014/main" id="{956ED9BD-6E7E-4978-851C-E0DB3DB790F1}"/>
              </a:ext>
            </a:extLst>
          </p:cNvPr>
          <p:cNvSpPr>
            <a:spLocks xmlns:a="http://schemas.openxmlformats.org/drawingml/2006/main" noGrp="1"/>
          </p:cNvSpPr>
          <p:nvPr/>
        </p:nvSpPr>
        <p:spPr>
          <a:xfrm xmlns:a="http://schemas.openxmlformats.org/drawingml/2006/main">
            <a:off x="609600" y="2714625"/>
            <a:ext cx="10972800" cy="1790700"/>
          </a:xfrm>
          <a:prstGeom xmlns:a="http://schemas.openxmlformats.org/drawingml/2006/main" prst="rect">
            <a:avLst/>
          </a:prstGeom>
          <a:solidFill xmlns:a="http://schemas.openxmlformats.org/drawingml/2006/main">
            <a:srgbClr val="0A0A0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96F7383-3756-4C77-BC96-B09C685CDAC5}"/>
              </a:ext>
            </a:extLst>
          </p:cNvPr>
          <p:cNvSpPr>
            <a:spLocks xmlns:a="http://schemas.openxmlformats.org/drawingml/2006/main" noGrp="1"/>
          </p:cNvSpPr>
          <p:nvPr/>
        </p:nvSpPr>
        <p:spPr>
          <a:xfrm xmlns:a="http://schemas.openxmlformats.org/drawingml/2006/main">
            <a:off x="790575" y="29051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01</a:t>
            </a:r>
          </a:p>
        </p:txBody>
      </p:sp>
      <p:sp>
        <p:nvSpPr>
          <p:cNvPr id="5" name="">
            <a:extLst xmlns:a="http://schemas.openxmlformats.org/drawingml/2006/main">
              <a:ext uri="{FF2B5EF4-FFF2-40B4-BE49-F238E27FC236}">
                <a16:creationId xmlns:a16="http://schemas.microsoft.com/office/drawing/2014/main" id="{0E6803FB-FE9D-4A17-95F3-D05067C6F46B}"/>
              </a:ext>
            </a:extLst>
          </p:cNvPr>
          <p:cNvSpPr>
            <a:spLocks xmlns:a="http://schemas.openxmlformats.org/drawingml/2006/main" noGrp="1"/>
          </p:cNvSpPr>
          <p:nvPr/>
        </p:nvSpPr>
        <p:spPr>
          <a:xfrm xmlns:a="http://schemas.openxmlformats.org/drawingml/2006/main">
            <a:off x="1390650" y="28670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temperature_c = 22.5</a:t>
            </a:r>
          </a:p>
        </p:txBody>
      </p:sp>
      <p:sp>
        <p:nvSpPr>
          <p:cNvPr id="6" name="">
            <a:extLst xmlns:a="http://schemas.openxmlformats.org/drawingml/2006/main">
              <a:ext uri="{FF2B5EF4-FFF2-40B4-BE49-F238E27FC236}">
                <a16:creationId xmlns:a16="http://schemas.microsoft.com/office/drawing/2014/main" id="{E9B8D358-73CC-4693-8703-CA3DAAEE764C}"/>
              </a:ext>
            </a:extLst>
          </p:cNvPr>
          <p:cNvSpPr>
            <a:spLocks xmlns:a="http://schemas.openxmlformats.org/drawingml/2006/main" noGrp="1"/>
          </p:cNvSpPr>
          <p:nvPr/>
        </p:nvSpPr>
        <p:spPr>
          <a:xfrm xmlns:a="http://schemas.openxmlformats.org/drawingml/2006/main">
            <a:off x="790575" y="32480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02</a:t>
            </a:r>
          </a:p>
        </p:txBody>
      </p:sp>
      <p:sp>
        <p:nvSpPr>
          <p:cNvPr id="7" name="">
            <a:extLst xmlns:a="http://schemas.openxmlformats.org/drawingml/2006/main">
              <a:ext uri="{FF2B5EF4-FFF2-40B4-BE49-F238E27FC236}">
                <a16:creationId xmlns:a16="http://schemas.microsoft.com/office/drawing/2014/main" id="{5533ED16-B99D-4E3F-A835-371E226DA6CD}"/>
              </a:ext>
            </a:extLst>
          </p:cNvPr>
          <p:cNvSpPr>
            <a:spLocks xmlns:a="http://schemas.openxmlformats.org/drawingml/2006/main" noGrp="1"/>
          </p:cNvSpPr>
          <p:nvPr/>
        </p:nvSpPr>
        <p:spPr>
          <a:xfrm xmlns:a="http://schemas.openxmlformats.org/drawingml/2006/main">
            <a:off x="1390650" y="32099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print(temperature_c)</a:t>
            </a:r>
          </a:p>
        </p:txBody>
      </p:sp>
      <p:sp>
        <p:nvSpPr>
          <p:cNvPr id="8" name="">
            <a:extLst xmlns:a="http://schemas.openxmlformats.org/drawingml/2006/main">
              <a:ext uri="{FF2B5EF4-FFF2-40B4-BE49-F238E27FC236}">
                <a16:creationId xmlns:a16="http://schemas.microsoft.com/office/drawing/2014/main" id="{B46FA01E-BC44-4BA2-BC18-B7B4A88B732C}"/>
              </a:ext>
            </a:extLst>
          </p:cNvPr>
          <p:cNvSpPr>
            <a:spLocks xmlns:a="http://schemas.openxmlformats.org/drawingml/2006/main" noGrp="1"/>
          </p:cNvSpPr>
          <p:nvPr/>
        </p:nvSpPr>
        <p:spPr>
          <a:xfrm xmlns:a="http://schemas.openxmlformats.org/drawingml/2006/main">
            <a:off x="790575" y="35909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03</a:t>
            </a:r>
          </a:p>
        </p:txBody>
      </p:sp>
      <p:sp>
        <p:nvSpPr>
          <p:cNvPr id="9" name="">
            <a:extLst xmlns:a="http://schemas.openxmlformats.org/drawingml/2006/main">
              <a:ext uri="{FF2B5EF4-FFF2-40B4-BE49-F238E27FC236}">
                <a16:creationId xmlns:a16="http://schemas.microsoft.com/office/drawing/2014/main" id="{2CD2EB8A-59E3-4EA4-A78C-54875278B6D7}"/>
              </a:ext>
            </a:extLst>
          </p:cNvPr>
          <p:cNvSpPr>
            <a:spLocks xmlns:a="http://schemas.openxmlformats.org/drawingml/2006/main" noGrp="1"/>
          </p:cNvSpPr>
          <p:nvPr/>
        </p:nvSpPr>
        <p:spPr>
          <a:xfrm xmlns:a="http://schemas.openxmlformats.org/drawingml/2006/main">
            <a:off x="1390650" y="35528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temperature_c = 24.0</a:t>
            </a:r>
          </a:p>
        </p:txBody>
      </p:sp>
      <p:sp>
        <p:nvSpPr>
          <p:cNvPr id="10" name="">
            <a:extLst xmlns:a="http://schemas.openxmlformats.org/drawingml/2006/main">
              <a:ext uri="{FF2B5EF4-FFF2-40B4-BE49-F238E27FC236}">
                <a16:creationId xmlns:a16="http://schemas.microsoft.com/office/drawing/2014/main" id="{F1017B06-D061-477E-8B70-9EF81206F5DB}"/>
              </a:ext>
            </a:extLst>
          </p:cNvPr>
          <p:cNvSpPr>
            <a:spLocks xmlns:a="http://schemas.openxmlformats.org/drawingml/2006/main" noGrp="1"/>
          </p:cNvSpPr>
          <p:nvPr/>
        </p:nvSpPr>
        <p:spPr>
          <a:xfrm xmlns:a="http://schemas.openxmlformats.org/drawingml/2006/main">
            <a:off x="790575" y="39338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04</a:t>
            </a:r>
          </a:p>
        </p:txBody>
      </p:sp>
      <p:sp>
        <p:nvSpPr>
          <p:cNvPr id="11" name="">
            <a:extLst xmlns:a="http://schemas.openxmlformats.org/drawingml/2006/main">
              <a:ext uri="{FF2B5EF4-FFF2-40B4-BE49-F238E27FC236}">
                <a16:creationId xmlns:a16="http://schemas.microsoft.com/office/drawing/2014/main" id="{D0B212B8-9BD7-406C-A12F-0BFBF36B412D}"/>
              </a:ext>
            </a:extLst>
          </p:cNvPr>
          <p:cNvSpPr>
            <a:spLocks xmlns:a="http://schemas.openxmlformats.org/drawingml/2006/main" noGrp="1"/>
          </p:cNvSpPr>
          <p:nvPr/>
        </p:nvSpPr>
        <p:spPr>
          <a:xfrm xmlns:a="http://schemas.openxmlformats.org/drawingml/2006/main">
            <a:off x="1390650" y="38957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print(temperature_c)</a:t>
            </a:r>
          </a:p>
        </p:txBody>
      </p:sp>
      <p:sp>
        <p:nvSpPr>
          <p:cNvPr id="12" name="">
            <a:extLst xmlns:a="http://schemas.openxmlformats.org/drawingml/2006/main">
              <a:ext uri="{FF2B5EF4-FFF2-40B4-BE49-F238E27FC236}">
                <a16:creationId xmlns:a16="http://schemas.microsoft.com/office/drawing/2014/main" id="{DC3C4023-3F9F-4752-9ADD-79767F3F155B}"/>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08395BC-051E-4301-8152-033B083F786F}"/>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4" name="">
            <a:extLst xmlns:a="http://schemas.openxmlformats.org/drawingml/2006/main">
              <a:ext uri="{FF2B5EF4-FFF2-40B4-BE49-F238E27FC236}">
                <a16:creationId xmlns:a16="http://schemas.microsoft.com/office/drawing/2014/main" id="{8951D808-4015-4AE2-BDDF-FCF9287EDC5B}"/>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025</a:t>
            </a:r>
          </a:p>
        </p:txBody>
      </p:sp>
    </p:spTree>
    <p:extLst>
      <p:ext uri="{BB962C8B-B14F-4D97-AF65-F5344CB8AC3E}">
        <p14:creationId xmlns:p14="http://schemas.microsoft.com/office/powerpoint/2010/main" val="505583871"/>
      </p:ext>
    </p:extLst>
  </p:cSld>
</p:sld>
</file>

<file path=ppt/slides/slide26.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0B6EE6F-7381-4A48-AB20-1F579491E872}"/>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2교시</a:t>
            </a:r>
          </a:p>
        </p:txBody>
      </p:sp>
      <p:sp>
        <p:nvSpPr>
          <p:cNvPr id="2" name="">
            <a:extLst xmlns:a="http://schemas.openxmlformats.org/drawingml/2006/main">
              <a:ext uri="{FF2B5EF4-FFF2-40B4-BE49-F238E27FC236}">
                <a16:creationId xmlns:a16="http://schemas.microsoft.com/office/drawing/2014/main" id="{4D6E5497-0494-4738-A9C3-B026B1B9A2E5}"/>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실행 순서로 현재 값 보기</a:t>
            </a:r>
          </a:p>
        </p:txBody>
      </p:sp>
      <p:graphicFrame>
        <p:nvGraphicFramePr>
          <p:cNvPr id="9" name=""/>
          <p:cNvGraphicFramePr/>
          <p:nvPr/>
        </p:nvGraphicFramePr>
        <p:xfrm>
          <a:off xmlns:a="http://schemas.openxmlformats.org/drawingml/2006/main" x="609600" y="2333625"/>
          <a:ext xmlns:a="http://schemas.openxmlformats.org/drawingml/2006/main" cx="10972800" cy="3429000"/>
        </p:xfrm>
        <a:graphic xmlns:a="http://schemas.openxmlformats.org/drawingml/2006/main">
          <a:graphicData uri="http://schemas.openxmlformats.org/drawingml/2006/table">
            <a:tbl>
              <a:tblPr firstRow="1" bandRow="0"/>
              <a:tblGrid>
                <a:gridCol w="4642338"/>
                <a:gridCol w="3376246"/>
                <a:gridCol w="2954215"/>
              </a:tblGrid>
              <a:tr h="685800">
                <a:tc>
                  <a:txBody>
                    <a:bodyPr wrap="square"/>
                    <a:lstStyle/>
                    <a:p>
                      <a:pPr>
                        <a:lnSpc>
                          <a:spcPct val="94000"/>
                        </a:lnSpc>
                        <a:buNone/>
                      </a:pPr>
                      <a:r>
                        <a:rPr sz="2100" b="1">
                          <a:solidFill>
                            <a:srgbClr val="FFFFFF"/>
                          </a:solidFill>
                          <a:latin typeface="Noto Sans KR"/>
                          <a:ea typeface="Noto Sans KR"/>
                          <a:cs typeface="Noto Sans KR"/>
                        </a:rPr>
                        <a:t>행동</a:t>
                      </a:r>
                    </a:p>
                  </a:txBody>
                  <a:tcPr marL="171450" marR="114300" marT="47625" marB="47625" anchor="ctr">
                    <a:solidFill>
                      <a:srgbClr val="002FA7"/>
                    </a:solidFill>
                  </a:tcPr>
                </a:tc>
                <a:tc>
                  <a:txBody>
                    <a:bodyPr wrap="square"/>
                    <a:lstStyle/>
                    <a:p>
                      <a:pPr>
                        <a:lnSpc>
                          <a:spcPct val="94000"/>
                        </a:lnSpc>
                        <a:buNone/>
                      </a:pPr>
                      <a:r>
                        <a:rPr sz="2100" b="1">
                          <a:solidFill>
                            <a:srgbClr val="FFFFFF"/>
                          </a:solidFill>
                          <a:latin typeface="Noto Sans KR"/>
                          <a:ea typeface="Noto Sans KR"/>
                          <a:cs typeface="Noto Sans KR"/>
                        </a:rPr>
                        <a:t>현재 온도</a:t>
                      </a:r>
                    </a:p>
                  </a:txBody>
                  <a:tcPr marL="171450" marR="114300" marT="47625" marB="47625" anchor="ctr">
                    <a:solidFill>
                      <a:srgbClr val="002FA7"/>
                    </a:solidFill>
                  </a:tcPr>
                </a:tc>
                <a:tc>
                  <a:txBody>
                    <a:bodyPr wrap="square"/>
                    <a:lstStyle/>
                    <a:p>
                      <a:pPr>
                        <a:lnSpc>
                          <a:spcPct val="94000"/>
                        </a:lnSpc>
                        <a:buNone/>
                      </a:pPr>
                      <a:r>
                        <a:rPr sz="2100" b="1">
                          <a:solidFill>
                            <a:srgbClr val="FFFFFF"/>
                          </a:solidFill>
                          <a:latin typeface="Noto Sans KR"/>
                          <a:ea typeface="Noto Sans KR"/>
                          <a:cs typeface="Noto Sans KR"/>
                        </a:rPr>
                        <a:t>출력</a:t>
                      </a:r>
                    </a:p>
                  </a:txBody>
                  <a:tcPr marL="171450" marR="114300" marT="47625" marB="47625" anchor="ctr">
                    <a:solidFill>
                      <a:srgbClr val="002FA7"/>
                    </a:solidFill>
                  </a:tcPr>
                </a:tc>
              </a:tr>
              <a:tr h="685800">
                <a:tc>
                  <a:txBody>
                    <a:bodyPr wrap="square"/>
                    <a:lstStyle/>
                    <a:p>
                      <a:pPr>
                        <a:lnSpc>
                          <a:spcPct val="94000"/>
                        </a:lnSpc>
                        <a:buNone/>
                      </a:pPr>
                      <a:r>
                        <a:rPr sz="2100" b="0">
                          <a:solidFill>
                            <a:srgbClr val="0A0A0A"/>
                          </a:solidFill>
                          <a:latin typeface="Noto Sans KR"/>
                          <a:ea typeface="Noto Sans KR"/>
                          <a:cs typeface="Noto Sans KR"/>
                        </a:rPr>
                        <a:t>22.5 대입</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22.5</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없음</a:t>
                      </a:r>
                    </a:p>
                  </a:txBody>
                  <a:tcPr marL="171450" marR="114300" marT="47625" marB="47625" anchor="ctr">
                    <a:solidFill>
                      <a:srgbClr val="FAFAF8"/>
                    </a:solidFill>
                  </a:tcPr>
                </a:tc>
              </a:tr>
              <a:tr h="685800">
                <a:tc>
                  <a:txBody>
                    <a:bodyPr wrap="square"/>
                    <a:lstStyle/>
                    <a:p>
                      <a:pPr>
                        <a:lnSpc>
                          <a:spcPct val="94000"/>
                        </a:lnSpc>
                        <a:buNone/>
                      </a:pPr>
                      <a:r>
                        <a:rPr sz="2100" b="0">
                          <a:solidFill>
                            <a:srgbClr val="0A0A0A"/>
                          </a:solidFill>
                          <a:latin typeface="Noto Sans KR"/>
                          <a:ea typeface="Noto Sans KR"/>
                          <a:cs typeface="Noto Sans KR"/>
                        </a:rPr>
                        <a:t>첫 print</a:t>
                      </a:r>
                    </a:p>
                  </a:txBody>
                  <a:tcPr marL="171450" marR="114300" marT="47625" marB="47625" anchor="ctr">
                    <a:solidFill>
                      <a:srgbClr val="F0F0EB"/>
                    </a:solidFill>
                  </a:tcPr>
                </a:tc>
                <a:tc>
                  <a:txBody>
                    <a:bodyPr wrap="square"/>
                    <a:lstStyle/>
                    <a:p>
                      <a:pPr>
                        <a:lnSpc>
                          <a:spcPct val="94000"/>
                        </a:lnSpc>
                        <a:buNone/>
                      </a:pPr>
                      <a:r>
                        <a:rPr sz="2100" b="0">
                          <a:solidFill>
                            <a:srgbClr val="0A0A0A"/>
                          </a:solidFill>
                          <a:latin typeface="Noto Sans KR"/>
                          <a:ea typeface="Noto Sans KR"/>
                          <a:cs typeface="Noto Sans KR"/>
                        </a:rPr>
                        <a:t>22.5</a:t>
                      </a:r>
                    </a:p>
                  </a:txBody>
                  <a:tcPr marL="171450" marR="114300" marT="47625" marB="47625" anchor="ctr">
                    <a:solidFill>
                      <a:srgbClr val="F0F0EB"/>
                    </a:solidFill>
                  </a:tcPr>
                </a:tc>
                <a:tc>
                  <a:txBody>
                    <a:bodyPr wrap="square"/>
                    <a:lstStyle/>
                    <a:p>
                      <a:pPr>
                        <a:lnSpc>
                          <a:spcPct val="94000"/>
                        </a:lnSpc>
                        <a:buNone/>
                      </a:pPr>
                      <a:r>
                        <a:rPr sz="2100" b="0">
                          <a:solidFill>
                            <a:srgbClr val="0A0A0A"/>
                          </a:solidFill>
                          <a:latin typeface="Noto Sans KR"/>
                          <a:ea typeface="Noto Sans KR"/>
                          <a:cs typeface="Noto Sans KR"/>
                        </a:rPr>
                        <a:t>22.5</a:t>
                      </a:r>
                    </a:p>
                  </a:txBody>
                  <a:tcPr marL="171450" marR="114300" marT="47625" marB="47625" anchor="ctr">
                    <a:solidFill>
                      <a:srgbClr val="F0F0EB"/>
                    </a:solidFill>
                  </a:tcPr>
                </a:tc>
              </a:tr>
              <a:tr h="685800">
                <a:tc>
                  <a:txBody>
                    <a:bodyPr wrap="square"/>
                    <a:lstStyle/>
                    <a:p>
                      <a:pPr>
                        <a:lnSpc>
                          <a:spcPct val="94000"/>
                        </a:lnSpc>
                        <a:buNone/>
                      </a:pPr>
                      <a:r>
                        <a:rPr sz="2100" b="0">
                          <a:solidFill>
                            <a:srgbClr val="0A0A0A"/>
                          </a:solidFill>
                          <a:latin typeface="Noto Sans KR"/>
                          <a:ea typeface="Noto Sans KR"/>
                          <a:cs typeface="Noto Sans KR"/>
                        </a:rPr>
                        <a:t>24.0 대입</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24.0</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없음</a:t>
                      </a:r>
                    </a:p>
                  </a:txBody>
                  <a:tcPr marL="171450" marR="114300" marT="47625" marB="47625" anchor="ctr">
                    <a:solidFill>
                      <a:srgbClr val="FAFAF8"/>
                    </a:solidFill>
                  </a:tcPr>
                </a:tc>
              </a:tr>
              <a:tr h="685800">
                <a:tc>
                  <a:txBody>
                    <a:bodyPr wrap="square"/>
                    <a:lstStyle/>
                    <a:p>
                      <a:pPr>
                        <a:lnSpc>
                          <a:spcPct val="94000"/>
                        </a:lnSpc>
                        <a:buNone/>
                      </a:pPr>
                      <a:r>
                        <a:rPr sz="2100" b="0">
                          <a:solidFill>
                            <a:srgbClr val="0A0A0A"/>
                          </a:solidFill>
                          <a:latin typeface="Noto Sans KR"/>
                          <a:ea typeface="Noto Sans KR"/>
                          <a:cs typeface="Noto Sans KR"/>
                        </a:rPr>
                        <a:t>둘째 print</a:t>
                      </a:r>
                    </a:p>
                  </a:txBody>
                  <a:tcPr marL="171450" marR="114300" marT="47625" marB="47625" anchor="ctr">
                    <a:solidFill>
                      <a:srgbClr val="F0F0EB"/>
                    </a:solidFill>
                  </a:tcPr>
                </a:tc>
                <a:tc>
                  <a:txBody>
                    <a:bodyPr wrap="square"/>
                    <a:lstStyle/>
                    <a:p>
                      <a:pPr>
                        <a:lnSpc>
                          <a:spcPct val="94000"/>
                        </a:lnSpc>
                        <a:buNone/>
                      </a:pPr>
                      <a:r>
                        <a:rPr sz="2100" b="0">
                          <a:solidFill>
                            <a:srgbClr val="0A0A0A"/>
                          </a:solidFill>
                          <a:latin typeface="Noto Sans KR"/>
                          <a:ea typeface="Noto Sans KR"/>
                          <a:cs typeface="Noto Sans KR"/>
                        </a:rPr>
                        <a:t>24.0</a:t>
                      </a:r>
                    </a:p>
                  </a:txBody>
                  <a:tcPr marL="171450" marR="114300" marT="47625" marB="47625" anchor="ctr">
                    <a:solidFill>
                      <a:srgbClr val="F0F0EB"/>
                    </a:solidFill>
                  </a:tcPr>
                </a:tc>
                <a:tc>
                  <a:txBody>
                    <a:bodyPr wrap="square"/>
                    <a:lstStyle/>
                    <a:p>
                      <a:pPr>
                        <a:lnSpc>
                          <a:spcPct val="94000"/>
                        </a:lnSpc>
                        <a:buNone/>
                      </a:pPr>
                      <a:r>
                        <a:rPr sz="2100" b="0">
                          <a:solidFill>
                            <a:srgbClr val="0A0A0A"/>
                          </a:solidFill>
                          <a:latin typeface="Noto Sans KR"/>
                          <a:ea typeface="Noto Sans KR"/>
                          <a:cs typeface="Noto Sans KR"/>
                        </a:rPr>
                        <a:t>24.0</a:t>
                      </a:r>
                    </a:p>
                  </a:txBody>
                  <a:tcPr marL="171450" marR="114300" marT="47625" marB="47625" anchor="ctr">
                    <a:solidFill>
                      <a:srgbClr val="F0F0EB"/>
                    </a:solidFill>
                  </a:tcPr>
                </a:tc>
              </a:tr>
            </a:tbl>
          </a:graphicData>
        </a:graphic>
      </p:graphicFrame>
      <p:sp>
        <p:nvSpPr>
          <p:cNvPr id="4" name="">
            <a:extLst xmlns:a="http://schemas.openxmlformats.org/drawingml/2006/main">
              <a:ext uri="{FF2B5EF4-FFF2-40B4-BE49-F238E27FC236}">
                <a16:creationId xmlns:a16="http://schemas.microsoft.com/office/drawing/2014/main" id="{0C3D495F-7158-4C7A-B2E5-3B4DEEF23E60}"/>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83C3921-943A-4EFE-BFE3-6654DAE93C0D}"/>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6" name="">
            <a:extLst xmlns:a="http://schemas.openxmlformats.org/drawingml/2006/main">
              <a:ext uri="{FF2B5EF4-FFF2-40B4-BE49-F238E27FC236}">
                <a16:creationId xmlns:a16="http://schemas.microsoft.com/office/drawing/2014/main" id="{040C16AF-0B1B-4E09-8DE9-50C948F4336C}"/>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026</a:t>
            </a:r>
          </a:p>
        </p:txBody>
      </p:sp>
    </p:spTree>
    <p:extLst>
      <p:ext uri="{BB962C8B-B14F-4D97-AF65-F5344CB8AC3E}">
        <p14:creationId xmlns:p14="http://schemas.microsoft.com/office/powerpoint/2010/main" val="1280812424"/>
      </p:ext>
    </p:extLst>
  </p:cSld>
</p:sld>
</file>

<file path=ppt/slides/slide27.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4C7B2A9-ED2B-49AA-8343-26642A23DBD5}"/>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2교시</a:t>
            </a:r>
          </a:p>
        </p:txBody>
      </p:sp>
      <p:sp>
        <p:nvSpPr>
          <p:cNvPr id="2" name="">
            <a:extLst xmlns:a="http://schemas.openxmlformats.org/drawingml/2006/main">
              <a:ext uri="{FF2B5EF4-FFF2-40B4-BE49-F238E27FC236}">
                <a16:creationId xmlns:a16="http://schemas.microsoft.com/office/drawing/2014/main" id="{7194244B-6064-4BE0-B647-A03F18F5773E}"/>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수정 뒤 어떤 출력이 바뀌나요?</a:t>
            </a:r>
          </a:p>
        </p:txBody>
      </p:sp>
      <p:sp>
        <p:nvSpPr>
          <p:cNvPr id="3" name="">
            <a:extLst xmlns:a="http://schemas.openxmlformats.org/drawingml/2006/main">
              <a:ext uri="{FF2B5EF4-FFF2-40B4-BE49-F238E27FC236}">
                <a16:creationId xmlns:a16="http://schemas.microsoft.com/office/drawing/2014/main" id="{856150B0-2A6C-4890-82E9-E713F1AB8A99}"/>
              </a:ext>
            </a:extLst>
          </p:cNvPr>
          <p:cNvSpPr>
            <a:spLocks xmlns:a="http://schemas.openxmlformats.org/drawingml/2006/main" noGrp="1"/>
          </p:cNvSpPr>
          <p:nvPr/>
        </p:nvSpPr>
        <p:spPr>
          <a:xfrm xmlns:a="http://schemas.openxmlformats.org/drawingml/2006/main">
            <a:off x="609600" y="2390775"/>
            <a:ext cx="10972800" cy="9525"/>
          </a:xfrm>
          <a:prstGeom xmlns:a="http://schemas.openxmlformats.org/drawingml/2006/main" prst="rect">
            <a:avLst/>
          </a:prstGeom>
          <a:solidFill xmlns:a="http://schemas.openxmlformats.org/drawingml/2006/main">
            <a:srgbClr val="002FA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E3B33E0-09AA-44B2-9E79-3EF7FB772223}"/>
              </a:ext>
            </a:extLst>
          </p:cNvPr>
          <p:cNvSpPr>
            <a:spLocks xmlns:a="http://schemas.openxmlformats.org/drawingml/2006/main" noGrp="1"/>
          </p:cNvSpPr>
          <p:nvPr/>
        </p:nvSpPr>
        <p:spPr>
          <a:xfrm xmlns:a="http://schemas.openxmlformats.org/drawingml/2006/main">
            <a:off x="609600" y="2647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050" b="0">
                <a:solidFill>
                  <a:srgbClr val="0A0A0A"/>
                </a:solidFill>
                <a:latin typeface="Noto Sans KR"/>
                <a:ea typeface="Noto Sans KR"/>
                <a:cs typeface="Noto Sans KR"/>
              </a:defRPr>
            </a:pPr>
            <a:r>
              <a:t>둘째 대입을 25.0으로 바꿉니다.</a:t>
            </a:r>
          </a:p>
        </p:txBody>
      </p:sp>
      <p:sp>
        <p:nvSpPr>
          <p:cNvPr id="5" name="">
            <a:extLst xmlns:a="http://schemas.openxmlformats.org/drawingml/2006/main">
              <a:ext uri="{FF2B5EF4-FFF2-40B4-BE49-F238E27FC236}">
                <a16:creationId xmlns:a16="http://schemas.microsoft.com/office/drawing/2014/main" id="{A873AAE5-8ADB-4B09-A735-BC3F381E3619}"/>
              </a:ext>
            </a:extLst>
          </p:cNvPr>
          <p:cNvSpPr>
            <a:spLocks xmlns:a="http://schemas.openxmlformats.org/drawingml/2006/main" noGrp="1"/>
          </p:cNvSpPr>
          <p:nvPr/>
        </p:nvSpPr>
        <p:spPr>
          <a:xfrm xmlns:a="http://schemas.openxmlformats.org/drawingml/2006/main">
            <a:off x="609600" y="364807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625" b="0">
                <a:solidFill>
                  <a:srgbClr val="0A0A0A"/>
                </a:solidFill>
                <a:latin typeface="Noto Sans KR"/>
                <a:ea typeface="Noto Sans KR"/>
                <a:cs typeface="Noto Sans KR"/>
              </a:defRPr>
            </a:pPr>
            <a:r>
              <a:rPr b="1">
                <a:solidFill>
                  <a:srgbClr val="002FA7"/>
                </a:solidFill>
              </a:rPr>
              <a:t>첫 출력은 22.5</a:t>
            </a:r>
            <a:r>
              <a:t>를 유지합니다.</a:t>
            </a:r>
          </a:p>
        </p:txBody>
      </p:sp>
      <p:sp>
        <p:nvSpPr>
          <p:cNvPr id="6" name="">
            <a:extLst xmlns:a="http://schemas.openxmlformats.org/drawingml/2006/main">
              <a:ext uri="{FF2B5EF4-FFF2-40B4-BE49-F238E27FC236}">
                <a16:creationId xmlns:a16="http://schemas.microsoft.com/office/drawing/2014/main" id="{CC9CB6A7-2463-497F-9246-FADA9B049BFF}"/>
              </a:ext>
            </a:extLst>
          </p:cNvPr>
          <p:cNvSpPr>
            <a:spLocks xmlns:a="http://schemas.openxmlformats.org/drawingml/2006/main" noGrp="1"/>
          </p:cNvSpPr>
          <p:nvPr/>
        </p:nvSpPr>
        <p:spPr>
          <a:xfrm xmlns:a="http://schemas.openxmlformats.org/drawingml/2006/main">
            <a:off x="609600" y="46482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625" b="0">
                <a:solidFill>
                  <a:srgbClr val="0A0A0A"/>
                </a:solidFill>
                <a:latin typeface="Noto Sans KR"/>
                <a:ea typeface="Noto Sans KR"/>
                <a:cs typeface="Noto Sans KR"/>
              </a:defRPr>
            </a:pPr>
            <a:r>
              <a:t>둘째 출력은 25.0이 됩니다.</a:t>
            </a:r>
          </a:p>
        </p:txBody>
      </p:sp>
      <p:sp>
        <p:nvSpPr>
          <p:cNvPr id="7" name="">
            <a:extLst xmlns:a="http://schemas.openxmlformats.org/drawingml/2006/main">
              <a:ext uri="{FF2B5EF4-FFF2-40B4-BE49-F238E27FC236}">
                <a16:creationId xmlns:a16="http://schemas.microsoft.com/office/drawing/2014/main" id="{666A033A-6FAF-4152-905C-2F9B40788BBD}"/>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6A64991-AA24-4394-BB96-889B672EEE74}"/>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9" name="">
            <a:extLst xmlns:a="http://schemas.openxmlformats.org/drawingml/2006/main">
              <a:ext uri="{FF2B5EF4-FFF2-40B4-BE49-F238E27FC236}">
                <a16:creationId xmlns:a16="http://schemas.microsoft.com/office/drawing/2014/main" id="{C83282F8-5731-449A-9E9C-8E9B0D612963}"/>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027</a:t>
            </a:r>
          </a:p>
        </p:txBody>
      </p:sp>
    </p:spTree>
    <p:extLst>
      <p:ext uri="{BB962C8B-B14F-4D97-AF65-F5344CB8AC3E}">
        <p14:creationId xmlns:p14="http://schemas.microsoft.com/office/powerpoint/2010/main" val="538384356"/>
      </p:ext>
    </p:extLst>
  </p:cSld>
</p:sld>
</file>

<file path=ppt/slides/slide28.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262EB3F-B648-421B-B8C1-2039E73235F6}"/>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2교시</a:t>
            </a:r>
          </a:p>
        </p:txBody>
      </p:sp>
      <p:sp>
        <p:nvSpPr>
          <p:cNvPr id="2" name="">
            <a:extLst xmlns:a="http://schemas.openxmlformats.org/drawingml/2006/main">
              <a:ext uri="{FF2B5EF4-FFF2-40B4-BE49-F238E27FC236}">
                <a16:creationId xmlns:a16="http://schemas.microsoft.com/office/drawing/2014/main" id="{1E3158BE-6CA0-4DB2-BFEA-F16C3987E1CB}"/>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완성 예 · 이름을 똑같이 쓰기</a:t>
            </a:r>
          </a:p>
        </p:txBody>
      </p:sp>
      <p:sp>
        <p:nvSpPr>
          <p:cNvPr id="3" name="">
            <a:extLst xmlns:a="http://schemas.openxmlformats.org/drawingml/2006/main">
              <a:ext uri="{FF2B5EF4-FFF2-40B4-BE49-F238E27FC236}">
                <a16:creationId xmlns:a16="http://schemas.microsoft.com/office/drawing/2014/main" id="{941CD8BB-33D6-4CA3-A769-59FE0B306C20}"/>
              </a:ext>
            </a:extLst>
          </p:cNvPr>
          <p:cNvSpPr>
            <a:spLocks xmlns:a="http://schemas.openxmlformats.org/drawingml/2006/main" noGrp="1"/>
          </p:cNvSpPr>
          <p:nvPr/>
        </p:nvSpPr>
        <p:spPr>
          <a:xfrm xmlns:a="http://schemas.openxmlformats.org/drawingml/2006/main">
            <a:off x="609600" y="2714625"/>
            <a:ext cx="10972800" cy="1714500"/>
          </a:xfrm>
          <a:prstGeom xmlns:a="http://schemas.openxmlformats.org/drawingml/2006/main" prst="rect">
            <a:avLst/>
          </a:prstGeom>
          <a:solidFill xmlns:a="http://schemas.openxmlformats.org/drawingml/2006/main">
            <a:srgbClr val="0A0A0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7499653-AA6D-4C81-A667-4350C9849728}"/>
              </a:ext>
            </a:extLst>
          </p:cNvPr>
          <p:cNvSpPr>
            <a:spLocks xmlns:a="http://schemas.openxmlformats.org/drawingml/2006/main" noGrp="1"/>
          </p:cNvSpPr>
          <p:nvPr/>
        </p:nvSpPr>
        <p:spPr>
          <a:xfrm xmlns:a="http://schemas.openxmlformats.org/drawingml/2006/main">
            <a:off x="790575" y="29051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01</a:t>
            </a:r>
          </a:p>
        </p:txBody>
      </p:sp>
      <p:sp>
        <p:nvSpPr>
          <p:cNvPr id="5" name="">
            <a:extLst xmlns:a="http://schemas.openxmlformats.org/drawingml/2006/main">
              <a:ext uri="{FF2B5EF4-FFF2-40B4-BE49-F238E27FC236}">
                <a16:creationId xmlns:a16="http://schemas.microsoft.com/office/drawing/2014/main" id="{F10AFF21-2211-4C7C-A2BD-14570FB9444D}"/>
              </a:ext>
            </a:extLst>
          </p:cNvPr>
          <p:cNvSpPr>
            <a:spLocks xmlns:a="http://schemas.openxmlformats.org/drawingml/2006/main" noGrp="1"/>
          </p:cNvSpPr>
          <p:nvPr/>
        </p:nvSpPr>
        <p:spPr>
          <a:xfrm xmlns:a="http://schemas.openxmlformats.org/drawingml/2006/main">
            <a:off x="1390650" y="28670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sensor_id = </a:t>
            </a:r>
            <a:r>
              <a:rPr>
                <a:solidFill>
                  <a:srgbClr val="BACBFA"/>
                </a:solidFill>
              </a:rPr>
              <a:t>"S01"</a:t>
            </a:r>
          </a:p>
        </p:txBody>
      </p:sp>
      <p:sp>
        <p:nvSpPr>
          <p:cNvPr id="6" name="">
            <a:extLst xmlns:a="http://schemas.openxmlformats.org/drawingml/2006/main">
              <a:ext uri="{FF2B5EF4-FFF2-40B4-BE49-F238E27FC236}">
                <a16:creationId xmlns:a16="http://schemas.microsoft.com/office/drawing/2014/main" id="{7AD8446D-F0EC-4B16-93DF-B3715CAEB8CB}"/>
              </a:ext>
            </a:extLst>
          </p:cNvPr>
          <p:cNvSpPr>
            <a:spLocks xmlns:a="http://schemas.openxmlformats.org/drawingml/2006/main" noGrp="1"/>
          </p:cNvSpPr>
          <p:nvPr/>
        </p:nvSpPr>
        <p:spPr>
          <a:xfrm xmlns:a="http://schemas.openxmlformats.org/drawingml/2006/main">
            <a:off x="790575" y="32480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02</a:t>
            </a:r>
          </a:p>
        </p:txBody>
      </p:sp>
      <p:sp>
        <p:nvSpPr>
          <p:cNvPr id="7" name="">
            <a:extLst xmlns:a="http://schemas.openxmlformats.org/drawingml/2006/main">
              <a:ext uri="{FF2B5EF4-FFF2-40B4-BE49-F238E27FC236}">
                <a16:creationId xmlns:a16="http://schemas.microsoft.com/office/drawing/2014/main" id="{16162067-9EA3-4C70-9AE8-47CD7AD6DF57}"/>
              </a:ext>
            </a:extLst>
          </p:cNvPr>
          <p:cNvSpPr>
            <a:spLocks xmlns:a="http://schemas.openxmlformats.org/drawingml/2006/main" noGrp="1"/>
          </p:cNvSpPr>
          <p:nvPr/>
        </p:nvSpPr>
        <p:spPr>
          <a:xfrm xmlns:a="http://schemas.openxmlformats.org/drawingml/2006/main">
            <a:off x="1390650" y="32099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temperature_c = 22.5</a:t>
            </a:r>
          </a:p>
        </p:txBody>
      </p:sp>
      <p:sp>
        <p:nvSpPr>
          <p:cNvPr id="8" name="">
            <a:extLst xmlns:a="http://schemas.openxmlformats.org/drawingml/2006/main">
              <a:ext uri="{FF2B5EF4-FFF2-40B4-BE49-F238E27FC236}">
                <a16:creationId xmlns:a16="http://schemas.microsoft.com/office/drawing/2014/main" id="{36CEEEFD-4F48-48FC-A646-F3807C9B1C57}"/>
              </a:ext>
            </a:extLst>
          </p:cNvPr>
          <p:cNvSpPr>
            <a:spLocks xmlns:a="http://schemas.openxmlformats.org/drawingml/2006/main" noGrp="1"/>
          </p:cNvSpPr>
          <p:nvPr/>
        </p:nvSpPr>
        <p:spPr>
          <a:xfrm xmlns:a="http://schemas.openxmlformats.org/drawingml/2006/main">
            <a:off x="790575" y="35909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03</a:t>
            </a:r>
          </a:p>
        </p:txBody>
      </p:sp>
      <p:sp>
        <p:nvSpPr>
          <p:cNvPr id="9" name="">
            <a:extLst xmlns:a="http://schemas.openxmlformats.org/drawingml/2006/main">
              <a:ext uri="{FF2B5EF4-FFF2-40B4-BE49-F238E27FC236}">
                <a16:creationId xmlns:a16="http://schemas.microsoft.com/office/drawing/2014/main" id="{54989EC5-2083-49C8-A916-98BC603A4614}"/>
              </a:ext>
            </a:extLst>
          </p:cNvPr>
          <p:cNvSpPr>
            <a:spLocks xmlns:a="http://schemas.openxmlformats.org/drawingml/2006/main" noGrp="1"/>
          </p:cNvSpPr>
          <p:nvPr/>
        </p:nvSpPr>
        <p:spPr>
          <a:xfrm xmlns:a="http://schemas.openxmlformats.org/drawingml/2006/main">
            <a:off x="1390650" y="35528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print(sensor_id, temperature_c)</a:t>
            </a:r>
          </a:p>
        </p:txBody>
      </p:sp>
      <p:sp>
        <p:nvSpPr>
          <p:cNvPr id="10" name="">
            <a:extLst xmlns:a="http://schemas.openxmlformats.org/drawingml/2006/main">
              <a:ext uri="{FF2B5EF4-FFF2-40B4-BE49-F238E27FC236}">
                <a16:creationId xmlns:a16="http://schemas.microsoft.com/office/drawing/2014/main" id="{E2AAA0BE-C920-470F-A9F0-14DC565D9B21}"/>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6737D1E-9EB0-4417-B37B-9DC7E59D0B08}"/>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2" name="">
            <a:extLst xmlns:a="http://schemas.openxmlformats.org/drawingml/2006/main">
              <a:ext uri="{FF2B5EF4-FFF2-40B4-BE49-F238E27FC236}">
                <a16:creationId xmlns:a16="http://schemas.microsoft.com/office/drawing/2014/main" id="{6DD555A7-547B-4BCB-884F-CF812383756A}"/>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028</a:t>
            </a:r>
          </a:p>
        </p:txBody>
      </p:sp>
    </p:spTree>
    <p:extLst>
      <p:ext uri="{BB962C8B-B14F-4D97-AF65-F5344CB8AC3E}">
        <p14:creationId xmlns:p14="http://schemas.microsoft.com/office/powerpoint/2010/main" val="1339269190"/>
      </p:ext>
    </p:extLst>
  </p:cSld>
</p:sld>
</file>

<file path=ppt/slides/slide29.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057A649-F5D8-4511-B225-DA6960248C6B}"/>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2교시</a:t>
            </a:r>
          </a:p>
        </p:txBody>
      </p:sp>
      <p:sp>
        <p:nvSpPr>
          <p:cNvPr id="2" name="">
            <a:extLst xmlns:a="http://schemas.openxmlformats.org/drawingml/2006/main">
              <a:ext uri="{FF2B5EF4-FFF2-40B4-BE49-F238E27FC236}">
                <a16:creationId xmlns:a16="http://schemas.microsoft.com/office/drawing/2014/main" id="{3DBC310D-FA50-4107-917C-1F1E2A67514A}"/>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이름 오류는 철자부터 확인합니다</a:t>
            </a:r>
          </a:p>
        </p:txBody>
      </p:sp>
      <p:sp>
        <p:nvSpPr>
          <p:cNvPr id="3" name="">
            <a:extLst xmlns:a="http://schemas.openxmlformats.org/drawingml/2006/main">
              <a:ext uri="{FF2B5EF4-FFF2-40B4-BE49-F238E27FC236}">
                <a16:creationId xmlns:a16="http://schemas.microsoft.com/office/drawing/2014/main" id="{0576670D-9ED0-4125-A99F-2B0ABDF3770E}"/>
              </a:ext>
            </a:extLst>
          </p:cNvPr>
          <p:cNvSpPr>
            <a:spLocks xmlns:a="http://schemas.openxmlformats.org/drawingml/2006/main" noGrp="1"/>
          </p:cNvSpPr>
          <p:nvPr/>
        </p:nvSpPr>
        <p:spPr>
          <a:xfrm xmlns:a="http://schemas.openxmlformats.org/drawingml/2006/main">
            <a:off x="6086475" y="2514600"/>
            <a:ext cx="9525" cy="189547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C4083DE-3196-4F8A-A8ED-6B11ECDEBC89}"/>
              </a:ext>
            </a:extLst>
          </p:cNvPr>
          <p:cNvSpPr>
            <a:spLocks xmlns:a="http://schemas.openxmlformats.org/drawingml/2006/main" noGrp="1"/>
          </p:cNvSpPr>
          <p:nvPr/>
        </p:nvSpPr>
        <p:spPr>
          <a:xfrm xmlns:a="http://schemas.openxmlformats.org/drawingml/2006/main">
            <a:off x="609600" y="2667000"/>
            <a:ext cx="51435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0A0A0A"/>
                </a:solidFill>
                <a:latin typeface="Noto Sans KR"/>
                <a:ea typeface="Noto Sans KR"/>
                <a:cs typeface="Noto Sans KR"/>
              </a:defRPr>
            </a:pPr>
            <a:r>
              <a:t>sensor_id와 </a:t>
            </a:r>
            <a:r>
              <a:rPr b="1">
                <a:solidFill>
                  <a:srgbClr val="002FA7"/>
                </a:solidFill>
              </a:rPr>
              <a:t>Sensor_id</a:t>
            </a:r>
            <a:r>
              <a:t>는 다른 이름입니다.</a:t>
            </a:r>
          </a:p>
        </p:txBody>
      </p:sp>
      <p:sp>
        <p:nvSpPr>
          <p:cNvPr id="5" name="">
            <a:extLst xmlns:a="http://schemas.openxmlformats.org/drawingml/2006/main">
              <a:ext uri="{FF2B5EF4-FFF2-40B4-BE49-F238E27FC236}">
                <a16:creationId xmlns:a16="http://schemas.microsoft.com/office/drawing/2014/main" id="{D3138600-BFDF-4F4B-BC2A-3F629AA94B46}"/>
              </a:ext>
            </a:extLst>
          </p:cNvPr>
          <p:cNvSpPr>
            <a:spLocks xmlns:a="http://schemas.openxmlformats.org/drawingml/2006/main" noGrp="1"/>
          </p:cNvSpPr>
          <p:nvPr/>
        </p:nvSpPr>
        <p:spPr>
          <a:xfrm xmlns:a="http://schemas.openxmlformats.org/drawingml/2006/main">
            <a:off x="6400800" y="2667000"/>
            <a:ext cx="51435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0A0A0A"/>
                </a:solidFill>
                <a:latin typeface="Noto Sans KR"/>
                <a:ea typeface="Noto Sans KR"/>
                <a:cs typeface="Noto Sans KR"/>
              </a:defRPr>
            </a:pPr>
            <a:r>
              <a:t>정의한 이름과 사용하는 이름을 비교합니다.</a:t>
            </a:r>
          </a:p>
        </p:txBody>
      </p:sp>
      <p:sp>
        <p:nvSpPr>
          <p:cNvPr id="6" name="">
            <a:extLst xmlns:a="http://schemas.openxmlformats.org/drawingml/2006/main">
              <a:ext uri="{FF2B5EF4-FFF2-40B4-BE49-F238E27FC236}">
                <a16:creationId xmlns:a16="http://schemas.microsoft.com/office/drawing/2014/main" id="{7023E59E-0F72-414F-92A1-E3D794892475}"/>
              </a:ext>
            </a:extLst>
          </p:cNvPr>
          <p:cNvSpPr>
            <a:spLocks xmlns:a="http://schemas.openxmlformats.org/drawingml/2006/main" noGrp="1"/>
          </p:cNvSpPr>
          <p:nvPr/>
        </p:nvSpPr>
        <p:spPr>
          <a:xfrm xmlns:a="http://schemas.openxmlformats.org/drawingml/2006/main">
            <a:off x="609600" y="4552950"/>
            <a:ext cx="10972800" cy="9525"/>
          </a:xfrm>
          <a:prstGeom xmlns:a="http://schemas.openxmlformats.org/drawingml/2006/main" prst="rect">
            <a:avLst/>
          </a:prstGeom>
          <a:solidFill xmlns:a="http://schemas.openxmlformats.org/drawingml/2006/main">
            <a:srgbClr val="002FA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A7225F1-2F0A-4DD7-BBC5-52410AFE1707}"/>
              </a:ext>
            </a:extLst>
          </p:cNvPr>
          <p:cNvSpPr>
            <a:spLocks xmlns:a="http://schemas.openxmlformats.org/drawingml/2006/main" noGrp="1"/>
          </p:cNvSpPr>
          <p:nvPr/>
        </p:nvSpPr>
        <p:spPr>
          <a:xfrm xmlns:a="http://schemas.openxmlformats.org/drawingml/2006/main">
            <a:off x="609600" y="48101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0A0A0A"/>
                </a:solidFill>
                <a:latin typeface="Noto Sans KR"/>
                <a:ea typeface="Noto Sans KR"/>
                <a:cs typeface="Noto Sans KR"/>
              </a:defRPr>
            </a:pPr>
            <a:r>
              <a:t>사용하기 전에 대입한 줄이 실행되어야 합니다.</a:t>
            </a:r>
          </a:p>
        </p:txBody>
      </p:sp>
      <p:sp>
        <p:nvSpPr>
          <p:cNvPr id="8" name="">
            <a:extLst xmlns:a="http://schemas.openxmlformats.org/drawingml/2006/main">
              <a:ext uri="{FF2B5EF4-FFF2-40B4-BE49-F238E27FC236}">
                <a16:creationId xmlns:a16="http://schemas.microsoft.com/office/drawing/2014/main" id="{D63A6F36-47D6-47CC-AC00-21D1A69D4097}"/>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DFA9881-50E7-4B46-95BB-86EF2B1C5429}"/>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0" name="">
            <a:extLst xmlns:a="http://schemas.openxmlformats.org/drawingml/2006/main">
              <a:ext uri="{FF2B5EF4-FFF2-40B4-BE49-F238E27FC236}">
                <a16:creationId xmlns:a16="http://schemas.microsoft.com/office/drawing/2014/main" id="{B0454649-4056-49C5-A7F9-655FC09E674E}"/>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029</a:t>
            </a:r>
          </a:p>
        </p:txBody>
      </p:sp>
    </p:spTree>
    <p:extLst>
      <p:ext uri="{BB962C8B-B14F-4D97-AF65-F5344CB8AC3E}">
        <p14:creationId xmlns:p14="http://schemas.microsoft.com/office/powerpoint/2010/main" val="1419356022"/>
      </p:ext>
    </p:extLst>
  </p:cSld>
</p:sld>
</file>

<file path=ppt/slides/slide30.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35718C3-0E8B-4EEB-A9B1-6307AAD08741}"/>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2교시</a:t>
            </a:r>
          </a:p>
        </p:txBody>
      </p:sp>
      <p:sp>
        <p:nvSpPr>
          <p:cNvPr id="2" name="">
            <a:extLst xmlns:a="http://schemas.openxmlformats.org/drawingml/2006/main">
              <a:ext uri="{FF2B5EF4-FFF2-40B4-BE49-F238E27FC236}">
                <a16:creationId xmlns:a16="http://schemas.microsoft.com/office/drawing/2014/main" id="{D401E6CA-6933-49C2-83B3-1BB0352D099E}"/>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새 실무 사례</a:t>
            </a:r>
          </a:p>
        </p:txBody>
      </p:sp>
      <p:sp>
        <p:nvSpPr>
          <p:cNvPr id="3" name="">
            <a:extLst xmlns:a="http://schemas.openxmlformats.org/drawingml/2006/main">
              <a:ext uri="{FF2B5EF4-FFF2-40B4-BE49-F238E27FC236}">
                <a16:creationId xmlns:a16="http://schemas.microsoft.com/office/drawing/2014/main" id="{CBD51C39-D736-4E8B-99A9-830C9B1390B1}"/>
              </a:ext>
            </a:extLst>
          </p:cNvPr>
          <p:cNvSpPr>
            <a:spLocks xmlns:a="http://schemas.openxmlformats.org/drawingml/2006/main" noGrp="1"/>
          </p:cNvSpPr>
          <p:nvPr/>
        </p:nvSpPr>
        <p:spPr>
          <a:xfrm xmlns:a="http://schemas.openxmlformats.org/drawingml/2006/main">
            <a:off x="609600" y="241935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01</a:t>
            </a:r>
          </a:p>
        </p:txBody>
      </p:sp>
      <p:sp>
        <p:nvSpPr>
          <p:cNvPr id="4" name="">
            <a:extLst xmlns:a="http://schemas.openxmlformats.org/drawingml/2006/main">
              <a:ext uri="{FF2B5EF4-FFF2-40B4-BE49-F238E27FC236}">
                <a16:creationId xmlns:a16="http://schemas.microsoft.com/office/drawing/2014/main" id="{BEA8DF08-7AB3-4C64-9759-6AE4AC3939EA}"/>
              </a:ext>
            </a:extLst>
          </p:cNvPr>
          <p:cNvSpPr>
            <a:spLocks xmlns:a="http://schemas.openxmlformats.org/drawingml/2006/main" noGrp="1"/>
          </p:cNvSpPr>
          <p:nvPr/>
        </p:nvSpPr>
        <p:spPr>
          <a:xfrm xmlns:a="http://schemas.openxmlformats.org/drawingml/2006/main">
            <a:off x="1657350" y="248602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재고 8개에 </a:t>
            </a:r>
            <a:r>
              <a:rPr b="1">
                <a:solidFill>
                  <a:srgbClr val="002FA7"/>
                </a:solidFill>
              </a:rPr>
              <a:t>3개 입고, 2개 출고</a:t>
            </a:r>
            <a:r>
              <a:t>가 이어집니다.</a:t>
            </a:r>
          </a:p>
        </p:txBody>
      </p:sp>
      <p:sp>
        <p:nvSpPr>
          <p:cNvPr id="5" name="">
            <a:extLst xmlns:a="http://schemas.openxmlformats.org/drawingml/2006/main">
              <a:ext uri="{FF2B5EF4-FFF2-40B4-BE49-F238E27FC236}">
                <a16:creationId xmlns:a16="http://schemas.microsoft.com/office/drawing/2014/main" id="{3E3CA9B5-8F29-4C74-993B-6F7596A919EC}"/>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675AB59-1CF6-4A84-92CD-CB40BF2DF67C}"/>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7" name="">
            <a:extLst xmlns:a="http://schemas.openxmlformats.org/drawingml/2006/main">
              <a:ext uri="{FF2B5EF4-FFF2-40B4-BE49-F238E27FC236}">
                <a16:creationId xmlns:a16="http://schemas.microsoft.com/office/drawing/2014/main" id="{537A2754-F77C-43D5-833C-321BD0075B0C}"/>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030</a:t>
            </a:r>
          </a:p>
        </p:txBody>
      </p:sp>
    </p:spTree>
    <p:extLst>
      <p:ext uri="{BB962C8B-B14F-4D97-AF65-F5344CB8AC3E}">
        <p14:creationId xmlns:p14="http://schemas.microsoft.com/office/powerpoint/2010/main" val="137936166"/>
      </p:ext>
    </p:extLst>
  </p:cSld>
</p:sld>
</file>

<file path=ppt/slides/slide31.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1A09561-9A08-4AA4-80F3-22DA78A4E192}"/>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2교시</a:t>
            </a:r>
          </a:p>
        </p:txBody>
      </p:sp>
      <p:sp>
        <p:nvSpPr>
          <p:cNvPr id="2" name="">
            <a:extLst xmlns:a="http://schemas.openxmlformats.org/drawingml/2006/main">
              <a:ext uri="{FF2B5EF4-FFF2-40B4-BE49-F238E27FC236}">
                <a16:creationId xmlns:a16="http://schemas.microsoft.com/office/drawing/2014/main" id="{28E0BC47-EA31-4C45-BEEA-C2D06F3B8AB9}"/>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판단을 따라가 보기</a:t>
            </a:r>
          </a:p>
        </p:txBody>
      </p:sp>
      <p:graphicFrame>
        <p:nvGraphicFramePr>
          <p:cNvPr id="9" name=""/>
          <p:cNvGraphicFramePr/>
          <p:nvPr/>
        </p:nvGraphicFramePr>
        <p:xfrm>
          <a:off xmlns:a="http://schemas.openxmlformats.org/drawingml/2006/main" x="609600" y="2333625"/>
          <a:ext xmlns:a="http://schemas.openxmlformats.org/drawingml/2006/main" cx="10972800" cy="2933700"/>
        </p:xfrm>
        <a:graphic xmlns:a="http://schemas.openxmlformats.org/drawingml/2006/main">
          <a:graphicData uri="http://schemas.openxmlformats.org/drawingml/2006/table">
            <a:tbl>
              <a:tblPr firstRow="1" bandRow="0"/>
              <a:tblGrid>
                <a:gridCol w="4180114"/>
                <a:gridCol w="2612571"/>
                <a:gridCol w="4180114"/>
              </a:tblGrid>
              <a:tr h="733425">
                <a:tc>
                  <a:txBody>
                    <a:bodyPr wrap="square"/>
                    <a:lstStyle/>
                    <a:p>
                      <a:pPr>
                        <a:lnSpc>
                          <a:spcPct val="94000"/>
                        </a:lnSpc>
                        <a:buNone/>
                      </a:pPr>
                      <a:r>
                        <a:rPr sz="2100" b="1">
                          <a:solidFill>
                            <a:srgbClr val="FFFFFF"/>
                          </a:solidFill>
                          <a:latin typeface="Noto Sans KR"/>
                          <a:ea typeface="Noto Sans KR"/>
                          <a:cs typeface="Noto Sans KR"/>
                        </a:rPr>
                        <a:t>단계</a:t>
                      </a:r>
                    </a:p>
                  </a:txBody>
                  <a:tcPr marL="171450" marR="114300" marT="47625" marB="47625" anchor="ctr">
                    <a:solidFill>
                      <a:srgbClr val="002FA7"/>
                    </a:solidFill>
                  </a:tcPr>
                </a:tc>
                <a:tc>
                  <a:txBody>
                    <a:bodyPr wrap="square"/>
                    <a:lstStyle/>
                    <a:p>
                      <a:pPr>
                        <a:lnSpc>
                          <a:spcPct val="94000"/>
                        </a:lnSpc>
                        <a:buNone/>
                      </a:pPr>
                      <a:r>
                        <a:rPr sz="2100" b="1">
                          <a:solidFill>
                            <a:srgbClr val="FFFFFF"/>
                          </a:solidFill>
                          <a:latin typeface="Noto Sans KR"/>
                          <a:ea typeface="Noto Sans KR"/>
                          <a:cs typeface="Noto Sans KR"/>
                        </a:rPr>
                        <a:t>재고</a:t>
                      </a:r>
                    </a:p>
                  </a:txBody>
                  <a:tcPr marL="171450" marR="114300" marT="47625" marB="47625" anchor="ctr">
                    <a:solidFill>
                      <a:srgbClr val="002FA7"/>
                    </a:solidFill>
                  </a:tcPr>
                </a:tc>
                <a:tc>
                  <a:txBody>
                    <a:bodyPr wrap="square"/>
                    <a:lstStyle/>
                    <a:p>
                      <a:pPr>
                        <a:lnSpc>
                          <a:spcPct val="94000"/>
                        </a:lnSpc>
                        <a:buNone/>
                      </a:pPr>
                      <a:r>
                        <a:rPr sz="2100" b="1">
                          <a:solidFill>
                            <a:srgbClr val="FFFFFF"/>
                          </a:solidFill>
                          <a:latin typeface="Noto Sans KR"/>
                          <a:ea typeface="Noto Sans KR"/>
                          <a:cs typeface="Noto Sans KR"/>
                        </a:rPr>
                        <a:t>안내</a:t>
                      </a:r>
                    </a:p>
                  </a:txBody>
                  <a:tcPr marL="171450" marR="114300" marT="47625" marB="47625" anchor="ctr">
                    <a:solidFill>
                      <a:srgbClr val="002FA7"/>
                    </a:solidFill>
                  </a:tcPr>
                </a:tc>
              </a:tr>
              <a:tr h="733425">
                <a:tc>
                  <a:txBody>
                    <a:bodyPr wrap="square"/>
                    <a:lstStyle/>
                    <a:p>
                      <a:pPr>
                        <a:lnSpc>
                          <a:spcPct val="94000"/>
                        </a:lnSpc>
                        <a:buNone/>
                      </a:pPr>
                      <a:r>
                        <a:rPr sz="2100" b="0">
                          <a:solidFill>
                            <a:srgbClr val="0A0A0A"/>
                          </a:solidFill>
                          <a:latin typeface="Noto Sans KR"/>
                          <a:ea typeface="Noto Sans KR"/>
                          <a:cs typeface="Noto Sans KR"/>
                        </a:rPr>
                        <a:t>처음</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8</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아직 없음</a:t>
                      </a:r>
                    </a:p>
                  </a:txBody>
                  <a:tcPr marL="171450" marR="114300" marT="47625" marB="47625" anchor="ctr">
                    <a:solidFill>
                      <a:srgbClr val="FAFAF8"/>
                    </a:solidFill>
                  </a:tcPr>
                </a:tc>
              </a:tr>
              <a:tr h="733425">
                <a:tc>
                  <a:txBody>
                    <a:bodyPr wrap="square"/>
                    <a:lstStyle/>
                    <a:p>
                      <a:pPr>
                        <a:lnSpc>
                          <a:spcPct val="94000"/>
                        </a:lnSpc>
                        <a:buNone/>
                      </a:pPr>
                      <a:r>
                        <a:rPr sz="2100" b="0">
                          <a:solidFill>
                            <a:srgbClr val="0A0A0A"/>
                          </a:solidFill>
                          <a:latin typeface="Noto Sans KR"/>
                          <a:ea typeface="Noto Sans KR"/>
                          <a:cs typeface="Noto Sans KR"/>
                        </a:rPr>
                        <a:t>입고 +3</a:t>
                      </a:r>
                    </a:p>
                  </a:txBody>
                  <a:tcPr marL="171450" marR="114300" marT="47625" marB="47625" anchor="ctr">
                    <a:solidFill>
                      <a:srgbClr val="F0F0EB"/>
                    </a:solidFill>
                  </a:tcPr>
                </a:tc>
                <a:tc>
                  <a:txBody>
                    <a:bodyPr wrap="square"/>
                    <a:lstStyle/>
                    <a:p>
                      <a:pPr>
                        <a:lnSpc>
                          <a:spcPct val="94000"/>
                        </a:lnSpc>
                        <a:buNone/>
                      </a:pPr>
                      <a:r>
                        <a:rPr sz="2100" b="0">
                          <a:solidFill>
                            <a:srgbClr val="0A0A0A"/>
                          </a:solidFill>
                          <a:latin typeface="Noto Sans KR"/>
                          <a:ea typeface="Noto Sans KR"/>
                          <a:cs typeface="Noto Sans KR"/>
                        </a:rPr>
                        <a:t>11</a:t>
                      </a:r>
                    </a:p>
                  </a:txBody>
                  <a:tcPr marL="171450" marR="114300" marT="47625" marB="47625" anchor="ctr">
                    <a:solidFill>
                      <a:srgbClr val="F0F0EB"/>
                    </a:solidFill>
                  </a:tcPr>
                </a:tc>
                <a:tc>
                  <a:txBody>
                    <a:bodyPr wrap="square"/>
                    <a:lstStyle/>
                    <a:p>
                      <a:pPr>
                        <a:lnSpc>
                          <a:spcPct val="94000"/>
                        </a:lnSpc>
                        <a:buNone/>
                      </a:pPr>
                      <a:r>
                        <a:rPr sz="2100" b="0">
                          <a:solidFill>
                            <a:srgbClr val="0A0A0A"/>
                          </a:solidFill>
                          <a:latin typeface="Noto Sans KR"/>
                          <a:ea typeface="Noto Sans KR"/>
                          <a:cs typeface="Noto Sans KR"/>
                        </a:rPr>
                        <a:t>11</a:t>
                      </a:r>
                    </a:p>
                  </a:txBody>
                  <a:tcPr marL="171450" marR="114300" marT="47625" marB="47625" anchor="ctr">
                    <a:solidFill>
                      <a:srgbClr val="F0F0EB"/>
                    </a:solidFill>
                  </a:tcPr>
                </a:tc>
              </a:tr>
              <a:tr h="733425">
                <a:tc>
                  <a:txBody>
                    <a:bodyPr wrap="square"/>
                    <a:lstStyle/>
                    <a:p>
                      <a:pPr>
                        <a:lnSpc>
                          <a:spcPct val="94000"/>
                        </a:lnSpc>
                        <a:buNone/>
                      </a:pPr>
                      <a:r>
                        <a:rPr sz="2100" b="0">
                          <a:solidFill>
                            <a:srgbClr val="0A0A0A"/>
                          </a:solidFill>
                          <a:latin typeface="Noto Sans KR"/>
                          <a:ea typeface="Noto Sans KR"/>
                          <a:cs typeface="Noto Sans KR"/>
                        </a:rPr>
                        <a:t>출고 -2</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9</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9</a:t>
                      </a:r>
                    </a:p>
                  </a:txBody>
                  <a:tcPr marL="171450" marR="114300" marT="47625" marB="47625" anchor="ctr">
                    <a:solidFill>
                      <a:srgbClr val="FAFAF8"/>
                    </a:solidFill>
                  </a:tcPr>
                </a:tc>
              </a:tr>
            </a:tbl>
          </a:graphicData>
        </a:graphic>
      </p:graphicFrame>
      <p:sp>
        <p:nvSpPr>
          <p:cNvPr id="4" name="">
            <a:extLst xmlns:a="http://schemas.openxmlformats.org/drawingml/2006/main">
              <a:ext uri="{FF2B5EF4-FFF2-40B4-BE49-F238E27FC236}">
                <a16:creationId xmlns:a16="http://schemas.microsoft.com/office/drawing/2014/main" id="{8F1A8339-83AC-4A18-BEBB-C8D62399588A}"/>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3AA9EB3-88FE-436A-9871-46374F7F4620}"/>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6" name="">
            <a:extLst xmlns:a="http://schemas.openxmlformats.org/drawingml/2006/main">
              <a:ext uri="{FF2B5EF4-FFF2-40B4-BE49-F238E27FC236}">
                <a16:creationId xmlns:a16="http://schemas.microsoft.com/office/drawing/2014/main" id="{42A97717-8558-4AD7-AC7F-5D30CDCD20FE}"/>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031</a:t>
            </a:r>
          </a:p>
        </p:txBody>
      </p:sp>
    </p:spTree>
    <p:extLst>
      <p:ext uri="{BB962C8B-B14F-4D97-AF65-F5344CB8AC3E}">
        <p14:creationId xmlns:p14="http://schemas.microsoft.com/office/powerpoint/2010/main" val="386945943"/>
      </p:ext>
    </p:extLst>
  </p:cSld>
</p:sld>
</file>

<file path=ppt/slides/slide32.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C7ABEC9-E98D-40BC-9EB0-065D321527E0}"/>
              </a:ext>
            </a:extLst>
          </p:cNvPr>
          <p:cNvSpPr>
            <a:spLocks xmlns:a="http://schemas.openxmlformats.org/drawingml/2006/main" noGrp="1"/>
          </p:cNvSpPr>
          <p:nvPr/>
        </p:nvSpPr>
        <p:spPr>
          <a:xfrm xmlns:a="http://schemas.openxmlformats.org/drawingml/2006/main">
            <a:off x="609600" y="390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BACBFA"/>
                </a:solidFill>
                <a:latin typeface="Noto Sans KR"/>
                <a:ea typeface="Noto Sans KR"/>
                <a:cs typeface="Noto Sans KR"/>
              </a:defRPr>
            </a:pPr>
            <a:r>
              <a:t>2교시  /  직접 생각하기</a:t>
            </a:r>
          </a:p>
        </p:txBody>
      </p:sp>
      <p:sp>
        <p:nvSpPr>
          <p:cNvPr id="2" name="">
            <a:extLst xmlns:a="http://schemas.openxmlformats.org/drawingml/2006/main">
              <a:ext uri="{FF2B5EF4-FFF2-40B4-BE49-F238E27FC236}">
                <a16:creationId xmlns:a16="http://schemas.microsoft.com/office/drawing/2014/main" id="{1D4D5B7A-3BC6-4437-B8B5-C60D07B73484}"/>
              </a:ext>
            </a:extLst>
          </p:cNvPr>
          <p:cNvSpPr>
            <a:spLocks xmlns:a="http://schemas.openxmlformats.org/drawingml/2006/main" noGrp="1"/>
          </p:cNvSpPr>
          <p:nvPr/>
        </p:nvSpPr>
        <p:spPr>
          <a:xfrm xmlns:a="http://schemas.openxmlformats.org/drawingml/2006/main">
            <a:off x="609600" y="1123950"/>
            <a:ext cx="109728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0">
                <a:solidFill>
                  <a:srgbClr val="FFFFFF"/>
                </a:solidFill>
                <a:latin typeface="Noto Sans KR"/>
                <a:ea typeface="Noto Sans KR"/>
                <a:cs typeface="Noto Sans KR"/>
              </a:defRPr>
            </a:pPr>
            <a:r>
              <a:t>추가 복습 · 새 문제</a:t>
            </a:r>
          </a:p>
        </p:txBody>
      </p:sp>
      <p:sp>
        <p:nvSpPr>
          <p:cNvPr id="3" name="">
            <a:extLst xmlns:a="http://schemas.openxmlformats.org/drawingml/2006/main">
              <a:ext uri="{FF2B5EF4-FFF2-40B4-BE49-F238E27FC236}">
                <a16:creationId xmlns:a16="http://schemas.microsoft.com/office/drawing/2014/main" id="{9389CF6B-A630-4A88-AE3A-0BBF6F7C8255}"/>
              </a:ext>
            </a:extLst>
          </p:cNvPr>
          <p:cNvSpPr>
            <a:spLocks xmlns:a="http://schemas.openxmlformats.org/drawingml/2006/main" noGrp="1"/>
          </p:cNvSpPr>
          <p:nvPr/>
        </p:nvSpPr>
        <p:spPr>
          <a:xfrm xmlns:a="http://schemas.openxmlformats.org/drawingml/2006/main">
            <a:off x="609600" y="2800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추가 복습: 물 12병에서 4병을 배부합니다.</a:t>
            </a:r>
          </a:p>
        </p:txBody>
      </p:sp>
      <p:sp>
        <p:nvSpPr>
          <p:cNvPr id="4" name="">
            <a:extLst xmlns:a="http://schemas.openxmlformats.org/drawingml/2006/main">
              <a:ext uri="{FF2B5EF4-FFF2-40B4-BE49-F238E27FC236}">
                <a16:creationId xmlns:a16="http://schemas.microsoft.com/office/drawing/2014/main" id="{5C6298F1-CE74-41F5-A723-85F8F54D77A7}"/>
              </a:ext>
            </a:extLst>
          </p:cNvPr>
          <p:cNvSpPr>
            <a:spLocks xmlns:a="http://schemas.openxmlformats.org/drawingml/2006/main" noGrp="1"/>
          </p:cNvSpPr>
          <p:nvPr/>
        </p:nvSpPr>
        <p:spPr>
          <a:xfrm xmlns:a="http://schemas.openxmlformats.org/drawingml/2006/main">
            <a:off x="609600" y="38671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다시 6병을 받은 뒤 안내합니다.</a:t>
            </a:r>
          </a:p>
        </p:txBody>
      </p:sp>
      <p:sp>
        <p:nvSpPr>
          <p:cNvPr id="5" name="">
            <a:extLst xmlns:a="http://schemas.openxmlformats.org/drawingml/2006/main">
              <a:ext uri="{FF2B5EF4-FFF2-40B4-BE49-F238E27FC236}">
                <a16:creationId xmlns:a16="http://schemas.microsoft.com/office/drawing/2014/main" id="{FBECA383-4327-4B8D-86BF-219A65577E5B}"/>
              </a:ext>
            </a:extLst>
          </p:cNvPr>
          <p:cNvSpPr>
            <a:spLocks xmlns:a="http://schemas.openxmlformats.org/drawingml/2006/main" noGrp="1"/>
          </p:cNvSpPr>
          <p:nvPr/>
        </p:nvSpPr>
        <p:spPr>
          <a:xfrm xmlns:a="http://schemas.openxmlformats.org/drawingml/2006/main">
            <a:off x="609600" y="49339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두 안내값</a:t>
            </a:r>
            <a:r>
              <a:t>과 print 위치를 정하세요.</a:t>
            </a:r>
          </a:p>
        </p:txBody>
      </p:sp>
      <p:sp>
        <p:nvSpPr>
          <p:cNvPr id="6" name="">
            <a:extLst xmlns:a="http://schemas.openxmlformats.org/drawingml/2006/main">
              <a:ext uri="{FF2B5EF4-FFF2-40B4-BE49-F238E27FC236}">
                <a16:creationId xmlns:a16="http://schemas.microsoft.com/office/drawing/2014/main" id="{22ECD2A6-19AA-4A61-8015-DB8C831F8631}"/>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462BB5B-42DE-4347-B181-E5498E139A70}"/>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10/14  피지컬AI</a:t>
            </a:r>
          </a:p>
        </p:txBody>
      </p:sp>
      <p:sp>
        <p:nvSpPr>
          <p:cNvPr id="8" name="">
            <a:extLst xmlns:a="http://schemas.openxmlformats.org/drawingml/2006/main">
              <a:ext uri="{FF2B5EF4-FFF2-40B4-BE49-F238E27FC236}">
                <a16:creationId xmlns:a16="http://schemas.microsoft.com/office/drawing/2014/main" id="{9DED96C5-90DB-47CC-8012-6DC28DD30CAD}"/>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032</a:t>
            </a:r>
          </a:p>
        </p:txBody>
      </p:sp>
    </p:spTree>
    <p:extLst>
      <p:ext uri="{BB962C8B-B14F-4D97-AF65-F5344CB8AC3E}">
        <p14:creationId xmlns:p14="http://schemas.microsoft.com/office/powerpoint/2010/main" val="693769068"/>
      </p:ext>
    </p:extLst>
  </p:cSld>
</p:sld>
</file>

<file path=ppt/slides/slide33.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DE90979-CD82-47EC-BC5B-92366DB70AC0}"/>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2교시</a:t>
            </a:r>
          </a:p>
        </p:txBody>
      </p:sp>
      <p:sp>
        <p:nvSpPr>
          <p:cNvPr id="2" name="">
            <a:extLst xmlns:a="http://schemas.openxmlformats.org/drawingml/2006/main">
              <a:ext uri="{FF2B5EF4-FFF2-40B4-BE49-F238E27FC236}">
                <a16:creationId xmlns:a16="http://schemas.microsoft.com/office/drawing/2014/main" id="{6F5CA580-B17C-4EBE-B8D4-F766775C9F18}"/>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새 문제의 풀이</a:t>
            </a:r>
          </a:p>
        </p:txBody>
      </p:sp>
      <p:sp>
        <p:nvSpPr>
          <p:cNvPr id="3" name="">
            <a:extLst xmlns:a="http://schemas.openxmlformats.org/drawingml/2006/main">
              <a:ext uri="{FF2B5EF4-FFF2-40B4-BE49-F238E27FC236}">
                <a16:creationId xmlns:a16="http://schemas.microsoft.com/office/drawing/2014/main" id="{FDEF0B7F-3BD9-45B7-981E-CEB45BDE277F}"/>
              </a:ext>
            </a:extLst>
          </p:cNvPr>
          <p:cNvSpPr>
            <a:spLocks xmlns:a="http://schemas.openxmlformats.org/drawingml/2006/main" noGrp="1"/>
          </p:cNvSpPr>
          <p:nvPr/>
        </p:nvSpPr>
        <p:spPr>
          <a:xfrm xmlns:a="http://schemas.openxmlformats.org/drawingml/2006/main">
            <a:off x="609600" y="2543175"/>
            <a:ext cx="109728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0">
                <a:solidFill>
                  <a:srgbClr val="0A0A0A"/>
                </a:solidFill>
                <a:latin typeface="Noto Sans KR"/>
                <a:ea typeface="Noto Sans KR"/>
                <a:cs typeface="Noto Sans KR"/>
              </a:defRPr>
            </a:pPr>
            <a:r>
              <a:t>배부 뒤 8, 추가 입고 뒤 14입니다.</a:t>
            </a:r>
          </a:p>
        </p:txBody>
      </p:sp>
      <p:sp>
        <p:nvSpPr>
          <p:cNvPr id="4" name="">
            <a:extLst xmlns:a="http://schemas.openxmlformats.org/drawingml/2006/main">
              <a:ext uri="{FF2B5EF4-FFF2-40B4-BE49-F238E27FC236}">
                <a16:creationId xmlns:a16="http://schemas.microsoft.com/office/drawing/2014/main" id="{DD90BBA1-8539-4DE0-8FEC-4CE6A27D18F6}"/>
              </a:ext>
            </a:extLst>
          </p:cNvPr>
          <p:cNvSpPr>
            <a:spLocks xmlns:a="http://schemas.openxmlformats.org/drawingml/2006/main" noGrp="1"/>
          </p:cNvSpPr>
          <p:nvPr/>
        </p:nvSpPr>
        <p:spPr>
          <a:xfrm xmlns:a="http://schemas.openxmlformats.org/drawingml/2006/main">
            <a:off x="609600" y="3981450"/>
            <a:ext cx="109728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모든 대입 뒤 두 번 출력하면 </a:t>
            </a:r>
            <a:r>
              <a:rPr b="1">
                <a:solidFill>
                  <a:srgbClr val="002FA7"/>
                </a:solidFill>
              </a:rPr>
              <a:t>14·14</a:t>
            </a:r>
            <a:r>
              <a:t>가 됩니다.</a:t>
            </a:r>
          </a:p>
        </p:txBody>
      </p:sp>
      <p:sp>
        <p:nvSpPr>
          <p:cNvPr id="5" name="">
            <a:extLst xmlns:a="http://schemas.openxmlformats.org/drawingml/2006/main">
              <a:ext uri="{FF2B5EF4-FFF2-40B4-BE49-F238E27FC236}">
                <a16:creationId xmlns:a16="http://schemas.microsoft.com/office/drawing/2014/main" id="{63462C14-00BC-4A6A-AC09-598C7008E57C}"/>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EC63E68-D8A5-4CB3-B64F-B75C6B5FFBE8}"/>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7" name="">
            <a:extLst xmlns:a="http://schemas.openxmlformats.org/drawingml/2006/main">
              <a:ext uri="{FF2B5EF4-FFF2-40B4-BE49-F238E27FC236}">
                <a16:creationId xmlns:a16="http://schemas.microsoft.com/office/drawing/2014/main" id="{2DD9A00C-5174-4829-BF2E-EF99902D33AE}"/>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033</a:t>
            </a:r>
          </a:p>
        </p:txBody>
      </p:sp>
    </p:spTree>
    <p:extLst>
      <p:ext uri="{BB962C8B-B14F-4D97-AF65-F5344CB8AC3E}">
        <p14:creationId xmlns:p14="http://schemas.microsoft.com/office/powerpoint/2010/main" val="294395231"/>
      </p:ext>
    </p:extLst>
  </p:cSld>
</p:sld>
</file>

<file path=ppt/slides/slide34.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E48E2A6-B1D5-4C30-A933-B0438B7AB466}"/>
              </a:ext>
            </a:extLst>
          </p:cNvPr>
          <p:cNvSpPr>
            <a:spLocks xmlns:a="http://schemas.openxmlformats.org/drawingml/2006/main" noGrp="1"/>
          </p:cNvSpPr>
          <p:nvPr/>
        </p:nvSpPr>
        <p:spPr>
          <a:xfrm xmlns:a="http://schemas.openxmlformats.org/drawingml/2006/main">
            <a:off x="609600" y="390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BACBFA"/>
                </a:solidFill>
                <a:latin typeface="Noto Sans KR"/>
                <a:ea typeface="Noto Sans KR"/>
                <a:cs typeface="Noto Sans KR"/>
              </a:defRPr>
            </a:pPr>
            <a:r>
              <a:t>2교시  /  직접 생각하기</a:t>
            </a:r>
          </a:p>
        </p:txBody>
      </p:sp>
      <p:sp>
        <p:nvSpPr>
          <p:cNvPr id="2" name="">
            <a:extLst xmlns:a="http://schemas.openxmlformats.org/drawingml/2006/main">
              <a:ext uri="{FF2B5EF4-FFF2-40B4-BE49-F238E27FC236}">
                <a16:creationId xmlns:a16="http://schemas.microsoft.com/office/drawing/2014/main" id="{103DE906-7544-47F9-822C-FE8D0C07D4AE}"/>
              </a:ext>
            </a:extLst>
          </p:cNvPr>
          <p:cNvSpPr>
            <a:spLocks xmlns:a="http://schemas.openxmlformats.org/drawingml/2006/main" noGrp="1"/>
          </p:cNvSpPr>
          <p:nvPr/>
        </p:nvSpPr>
        <p:spPr>
          <a:xfrm xmlns:a="http://schemas.openxmlformats.org/drawingml/2006/main">
            <a:off x="609600" y="1123950"/>
            <a:ext cx="109728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0">
                <a:solidFill>
                  <a:srgbClr val="FFFFFF"/>
                </a:solidFill>
                <a:latin typeface="Noto Sans KR"/>
                <a:ea typeface="Noto Sans KR"/>
                <a:cs typeface="Noto Sans KR"/>
              </a:defRPr>
            </a:pPr>
            <a:r>
              <a:t>먼저 할 일 · 현재 값 추적</a:t>
            </a:r>
          </a:p>
        </p:txBody>
      </p:sp>
      <p:sp>
        <p:nvSpPr>
          <p:cNvPr id="3" name="">
            <a:extLst xmlns:a="http://schemas.openxmlformats.org/drawingml/2006/main">
              <a:ext uri="{FF2B5EF4-FFF2-40B4-BE49-F238E27FC236}">
                <a16:creationId xmlns:a16="http://schemas.microsoft.com/office/drawing/2014/main" id="{AE68BE76-E85D-423A-B6D7-AE2C4C678A6B}"/>
              </a:ext>
            </a:extLst>
          </p:cNvPr>
          <p:cNvSpPr>
            <a:spLocks xmlns:a="http://schemas.openxmlformats.org/drawingml/2006/main" noGrp="1"/>
          </p:cNvSpPr>
          <p:nvPr/>
        </p:nvSpPr>
        <p:spPr>
          <a:xfrm xmlns:a="http://schemas.openxmlformats.org/drawingml/2006/main">
            <a:off x="609600" y="2800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A05 각 줄 뒤의 현재 값을 적습니다.</a:t>
            </a:r>
          </a:p>
        </p:txBody>
      </p:sp>
      <p:sp>
        <p:nvSpPr>
          <p:cNvPr id="4" name="">
            <a:extLst xmlns:a="http://schemas.openxmlformats.org/drawingml/2006/main">
              <a:ext uri="{FF2B5EF4-FFF2-40B4-BE49-F238E27FC236}">
                <a16:creationId xmlns:a16="http://schemas.microsoft.com/office/drawing/2014/main" id="{B32FC084-C131-4CBD-8359-805CCFC1A5A1}"/>
              </a:ext>
            </a:extLst>
          </p:cNvPr>
          <p:cNvSpPr>
            <a:spLocks xmlns:a="http://schemas.openxmlformats.org/drawingml/2006/main" noGrp="1"/>
          </p:cNvSpPr>
          <p:nvPr/>
        </p:nvSpPr>
        <p:spPr>
          <a:xfrm xmlns:a="http://schemas.openxmlformats.org/drawingml/2006/main">
            <a:off x="609600" y="38671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A06의 이름 오류를 근거로 고칩니다.</a:t>
            </a:r>
          </a:p>
        </p:txBody>
      </p:sp>
      <p:sp>
        <p:nvSpPr>
          <p:cNvPr id="5" name="">
            <a:extLst xmlns:a="http://schemas.openxmlformats.org/drawingml/2006/main">
              <a:ext uri="{FF2B5EF4-FFF2-40B4-BE49-F238E27FC236}">
                <a16:creationId xmlns:a16="http://schemas.microsoft.com/office/drawing/2014/main" id="{0BA8ECD2-3855-469D-AD54-B615B4A4AB78}"/>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7A8AFE5-6BCC-400E-AEF1-6EA6A51670C4}"/>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10/14  피지컬AI</a:t>
            </a:r>
          </a:p>
        </p:txBody>
      </p:sp>
      <p:sp>
        <p:nvSpPr>
          <p:cNvPr id="7" name="">
            <a:extLst xmlns:a="http://schemas.openxmlformats.org/drawingml/2006/main">
              <a:ext uri="{FF2B5EF4-FFF2-40B4-BE49-F238E27FC236}">
                <a16:creationId xmlns:a16="http://schemas.microsoft.com/office/drawing/2014/main" id="{B7217B10-7732-43EF-874C-7019F381DA21}"/>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034</a:t>
            </a:r>
          </a:p>
        </p:txBody>
      </p:sp>
    </p:spTree>
    <p:extLst>
      <p:ext uri="{BB962C8B-B14F-4D97-AF65-F5344CB8AC3E}">
        <p14:creationId xmlns:p14="http://schemas.microsoft.com/office/powerpoint/2010/main" val="546600496"/>
      </p:ext>
    </p:extLst>
  </p:cSld>
</p:sld>
</file>

<file path=ppt/slides/slide35.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5580B7E-2A03-4A6B-A329-B82D418D8FDE}"/>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2교시</a:t>
            </a:r>
          </a:p>
        </p:txBody>
      </p:sp>
      <p:sp>
        <p:nvSpPr>
          <p:cNvPr id="2" name="">
            <a:extLst xmlns:a="http://schemas.openxmlformats.org/drawingml/2006/main">
              <a:ext uri="{FF2B5EF4-FFF2-40B4-BE49-F238E27FC236}">
                <a16:creationId xmlns:a16="http://schemas.microsoft.com/office/drawing/2014/main" id="{8AD0C88F-5715-4BF8-94A9-1B96BBC92E28}"/>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2교시 확인</a:t>
            </a:r>
          </a:p>
        </p:txBody>
      </p:sp>
      <p:sp>
        <p:nvSpPr>
          <p:cNvPr id="3" name="">
            <a:extLst xmlns:a="http://schemas.openxmlformats.org/drawingml/2006/main">
              <a:ext uri="{FF2B5EF4-FFF2-40B4-BE49-F238E27FC236}">
                <a16:creationId xmlns:a16="http://schemas.microsoft.com/office/drawing/2014/main" id="{B2622720-5122-4D7A-B752-8CD7F7057572}"/>
              </a:ext>
            </a:extLst>
          </p:cNvPr>
          <p:cNvSpPr>
            <a:spLocks xmlns:a="http://schemas.openxmlformats.org/drawingml/2006/main" noGrp="1"/>
          </p:cNvSpPr>
          <p:nvPr/>
        </p:nvSpPr>
        <p:spPr>
          <a:xfrm xmlns:a="http://schemas.openxmlformats.org/drawingml/2006/main">
            <a:off x="609600" y="2695575"/>
            <a:ext cx="3524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125" b="0">
                <a:solidFill>
                  <a:srgbClr val="002FA7"/>
                </a:solidFill>
                <a:latin typeface="Noto Sans KR"/>
                <a:ea typeface="Noto Sans KR"/>
                <a:cs typeface="Noto Sans KR"/>
              </a:defRPr>
            </a:pPr>
            <a:r>
              <a:t>이미 나온 출력</a:t>
            </a:r>
          </a:p>
        </p:txBody>
      </p:sp>
      <p:sp>
        <p:nvSpPr>
          <p:cNvPr id="4" name="">
            <a:extLst xmlns:a="http://schemas.openxmlformats.org/drawingml/2006/main">
              <a:ext uri="{FF2B5EF4-FFF2-40B4-BE49-F238E27FC236}">
                <a16:creationId xmlns:a16="http://schemas.microsoft.com/office/drawing/2014/main" id="{B01BAF8B-ACBD-47FF-9F88-9190FDEDDE31}"/>
              </a:ext>
            </a:extLst>
          </p:cNvPr>
          <p:cNvSpPr>
            <a:spLocks xmlns:a="http://schemas.openxmlformats.org/drawingml/2006/main" noGrp="1"/>
          </p:cNvSpPr>
          <p:nvPr/>
        </p:nvSpPr>
        <p:spPr>
          <a:xfrm xmlns:a="http://schemas.openxmlformats.org/drawingml/2006/main">
            <a:off x="4333875" y="2562225"/>
            <a:ext cx="9525" cy="337185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AA965B9-0166-45E0-BBD5-5BBE6B941EAA}"/>
              </a:ext>
            </a:extLst>
          </p:cNvPr>
          <p:cNvSpPr>
            <a:spLocks xmlns:a="http://schemas.openxmlformats.org/drawingml/2006/main" noGrp="1"/>
          </p:cNvSpPr>
          <p:nvPr/>
        </p:nvSpPr>
        <p:spPr>
          <a:xfrm xmlns:a="http://schemas.openxmlformats.org/drawingml/2006/main">
            <a:off x="4724400" y="259080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대입은 현재 연결을 바꿉니다.</a:t>
            </a:r>
          </a:p>
        </p:txBody>
      </p:sp>
      <p:sp>
        <p:nvSpPr>
          <p:cNvPr id="6" name="">
            <a:extLst xmlns:a="http://schemas.openxmlformats.org/drawingml/2006/main">
              <a:ext uri="{FF2B5EF4-FFF2-40B4-BE49-F238E27FC236}">
                <a16:creationId xmlns:a16="http://schemas.microsoft.com/office/drawing/2014/main" id="{379E76D6-B045-4039-9CA3-62B8A61A5E0D}"/>
              </a:ext>
            </a:extLst>
          </p:cNvPr>
          <p:cNvSpPr>
            <a:spLocks xmlns:a="http://schemas.openxmlformats.org/drawingml/2006/main" noGrp="1"/>
          </p:cNvSpPr>
          <p:nvPr/>
        </p:nvSpPr>
        <p:spPr>
          <a:xfrm xmlns:a="http://schemas.openxmlformats.org/drawingml/2006/main">
            <a:off x="4724400" y="3705225"/>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이미 나온 출력</a:t>
            </a:r>
            <a:r>
              <a:t>은 나중에 바뀌지 않습니다.</a:t>
            </a:r>
          </a:p>
        </p:txBody>
      </p:sp>
      <p:sp>
        <p:nvSpPr>
          <p:cNvPr id="7" name="">
            <a:extLst xmlns:a="http://schemas.openxmlformats.org/drawingml/2006/main">
              <a:ext uri="{FF2B5EF4-FFF2-40B4-BE49-F238E27FC236}">
                <a16:creationId xmlns:a16="http://schemas.microsoft.com/office/drawing/2014/main" id="{43DD7AE6-595E-4EF5-9F3D-C942FA062520}"/>
              </a:ext>
            </a:extLst>
          </p:cNvPr>
          <p:cNvSpPr>
            <a:spLocks xmlns:a="http://schemas.openxmlformats.org/drawingml/2006/main" noGrp="1"/>
          </p:cNvSpPr>
          <p:nvPr/>
        </p:nvSpPr>
        <p:spPr>
          <a:xfrm xmlns:a="http://schemas.openxmlformats.org/drawingml/2006/main">
            <a:off x="4724400" y="481965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이름을 따옴표로 감싸면 글자가 됩니다.</a:t>
            </a:r>
          </a:p>
        </p:txBody>
      </p:sp>
      <p:sp>
        <p:nvSpPr>
          <p:cNvPr id="8" name="">
            <a:extLst xmlns:a="http://schemas.openxmlformats.org/drawingml/2006/main">
              <a:ext uri="{FF2B5EF4-FFF2-40B4-BE49-F238E27FC236}">
                <a16:creationId xmlns:a16="http://schemas.microsoft.com/office/drawing/2014/main" id="{7E8831F3-00FF-468C-AE0B-C06D752B8A7E}"/>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ECDC8D0-467B-47BE-8B83-58CEF5BD6DD2}"/>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0" name="">
            <a:extLst xmlns:a="http://schemas.openxmlformats.org/drawingml/2006/main">
              <a:ext uri="{FF2B5EF4-FFF2-40B4-BE49-F238E27FC236}">
                <a16:creationId xmlns:a16="http://schemas.microsoft.com/office/drawing/2014/main" id="{0D8353A6-F94D-44D0-9FCC-B2B2FE7D6CD4}"/>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035</a:t>
            </a:r>
          </a:p>
        </p:txBody>
      </p:sp>
    </p:spTree>
    <p:extLst>
      <p:ext uri="{BB962C8B-B14F-4D97-AF65-F5344CB8AC3E}">
        <p14:creationId xmlns:p14="http://schemas.microsoft.com/office/powerpoint/2010/main" val="921985295"/>
      </p:ext>
    </p:extLst>
  </p:cSld>
</p:sld>
</file>

<file path=ppt/slides/slide36.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4AA7861-F589-4566-8ED4-5C0FB465C695}"/>
              </a:ext>
            </a:extLst>
          </p:cNvPr>
          <p:cNvSpPr>
            <a:spLocks xmlns:a="http://schemas.openxmlformats.org/drawingml/2006/main" noGrp="1"/>
          </p:cNvSpPr>
          <p:nvPr/>
        </p:nvSpPr>
        <p:spPr>
          <a:xfrm xmlns:a="http://schemas.openxmlformats.org/drawingml/2006/main">
            <a:off x="0" y="0"/>
            <a:ext cx="4000500" cy="6858000"/>
          </a:xfrm>
          <a:prstGeom xmlns:a="http://schemas.openxmlformats.org/drawingml/2006/main" prst="rect">
            <a:avLst/>
          </a:prstGeom>
          <a:solidFill xmlns:a="http://schemas.openxmlformats.org/drawingml/2006/main">
            <a:srgbClr val="002FA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5E25197-566A-43AE-B812-84C3FA93767D}"/>
              </a:ext>
            </a:extLst>
          </p:cNvPr>
          <p:cNvSpPr>
            <a:spLocks xmlns:a="http://schemas.openxmlformats.org/drawingml/2006/main" noGrp="1"/>
          </p:cNvSpPr>
          <p:nvPr/>
        </p:nvSpPr>
        <p:spPr>
          <a:xfrm xmlns:a="http://schemas.openxmlformats.org/drawingml/2006/main">
            <a:off x="542925" y="1504950"/>
            <a:ext cx="2952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600" b="0">
                <a:solidFill>
                  <a:srgbClr val="FFFFFF"/>
                </a:solidFill>
                <a:latin typeface="Arial"/>
                <a:ea typeface="Arial"/>
                <a:cs typeface="Arial"/>
              </a:defRPr>
            </a:pPr>
            <a:r>
              <a:t>03</a:t>
            </a:r>
          </a:p>
        </p:txBody>
      </p:sp>
      <p:sp>
        <p:nvSpPr>
          <p:cNvPr id="3" name="">
            <a:extLst xmlns:a="http://schemas.openxmlformats.org/drawingml/2006/main">
              <a:ext uri="{FF2B5EF4-FFF2-40B4-BE49-F238E27FC236}">
                <a16:creationId xmlns:a16="http://schemas.microsoft.com/office/drawing/2014/main" id="{0D5FFC72-B981-4DB0-B6D8-99D4B9EC1752}"/>
              </a:ext>
            </a:extLst>
          </p:cNvPr>
          <p:cNvSpPr>
            <a:spLocks xmlns:a="http://schemas.openxmlformats.org/drawingml/2006/main" noGrp="1"/>
          </p:cNvSpPr>
          <p:nvPr/>
        </p:nvSpPr>
        <p:spPr>
          <a:xfrm xmlns:a="http://schemas.openxmlformats.org/drawingml/2006/main">
            <a:off x="609600" y="3857625"/>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0">
                <a:solidFill>
                  <a:srgbClr val="FFFFFF"/>
                </a:solidFill>
                <a:latin typeface="Noto Sans KR"/>
                <a:ea typeface="Noto Sans KR"/>
                <a:cs typeface="Noto Sans KR"/>
              </a:defRPr>
            </a:pPr>
            <a:r>
              <a:t>교시</a:t>
            </a:r>
          </a:p>
        </p:txBody>
      </p:sp>
      <p:sp>
        <p:nvSpPr>
          <p:cNvPr id="4" name="">
            <a:extLst xmlns:a="http://schemas.openxmlformats.org/drawingml/2006/main">
              <a:ext uri="{FF2B5EF4-FFF2-40B4-BE49-F238E27FC236}">
                <a16:creationId xmlns:a16="http://schemas.microsoft.com/office/drawing/2014/main" id="{C7C89033-342F-4D19-B8EF-82B74B74F074}"/>
              </a:ext>
            </a:extLst>
          </p:cNvPr>
          <p:cNvSpPr>
            <a:spLocks xmlns:a="http://schemas.openxmlformats.org/drawingml/2006/main" noGrp="1"/>
          </p:cNvSpPr>
          <p:nvPr/>
        </p:nvSpPr>
        <p:spPr>
          <a:xfrm xmlns:a="http://schemas.openxmlformats.org/drawingml/2006/main">
            <a:off x="4572000" y="1304925"/>
            <a:ext cx="68961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650" b="0">
                <a:solidFill>
                  <a:srgbClr val="0A0A0A"/>
                </a:solidFill>
                <a:latin typeface="Noto Sans KR"/>
                <a:ea typeface="Noto Sans KR"/>
                <a:cs typeface="Noto Sans KR"/>
              </a:defRPr>
            </a:pPr>
            <a:r>
              <a:t>문자와 숫자의 연산</a:t>
            </a:r>
          </a:p>
        </p:txBody>
      </p:sp>
      <p:sp>
        <p:nvSpPr>
          <p:cNvPr id="5" name="">
            <a:extLst xmlns:a="http://schemas.openxmlformats.org/drawingml/2006/main">
              <a:ext uri="{FF2B5EF4-FFF2-40B4-BE49-F238E27FC236}">
                <a16:creationId xmlns:a16="http://schemas.microsoft.com/office/drawing/2014/main" id="{583A8CBF-86F5-4200-892C-28A2D3163331}"/>
              </a:ext>
            </a:extLst>
          </p:cNvPr>
          <p:cNvSpPr>
            <a:spLocks xmlns:a="http://schemas.openxmlformats.org/drawingml/2006/main" noGrp="1"/>
          </p:cNvSpPr>
          <p:nvPr/>
        </p:nvSpPr>
        <p:spPr>
          <a:xfrm xmlns:a="http://schemas.openxmlformats.org/drawingml/2006/main">
            <a:off x="4572000" y="3609975"/>
            <a:ext cx="6896100" cy="9525"/>
          </a:xfrm>
          <a:prstGeom xmlns:a="http://schemas.openxmlformats.org/drawingml/2006/main" prst="rect">
            <a:avLst/>
          </a:prstGeom>
          <a:solidFill xmlns:a="http://schemas.openxmlformats.org/drawingml/2006/main">
            <a:srgbClr val="002FA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D2964B0-738A-4C0A-9305-63282E3C0727}"/>
              </a:ext>
            </a:extLst>
          </p:cNvPr>
          <p:cNvSpPr>
            <a:spLocks xmlns:a="http://schemas.openxmlformats.org/drawingml/2006/main" noGrp="1"/>
          </p:cNvSpPr>
          <p:nvPr/>
        </p:nvSpPr>
        <p:spPr>
          <a:xfrm xmlns:a="http://schemas.openxmlformats.org/drawingml/2006/main">
            <a:off x="4572000" y="3886200"/>
            <a:ext cx="689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002FA7"/>
                </a:solidFill>
                <a:latin typeface="Noto Sans KR"/>
                <a:ea typeface="Noto Sans KR"/>
                <a:cs typeface="Noto Sans KR"/>
              </a:defRPr>
            </a:pPr>
            <a:r>
              <a:t>13:00~13:50 · 50분</a:t>
            </a:r>
          </a:p>
        </p:txBody>
      </p:sp>
      <p:sp>
        <p:nvSpPr>
          <p:cNvPr id="7" name="">
            <a:extLst xmlns:a="http://schemas.openxmlformats.org/drawingml/2006/main">
              <a:ext uri="{FF2B5EF4-FFF2-40B4-BE49-F238E27FC236}">
                <a16:creationId xmlns:a16="http://schemas.microsoft.com/office/drawing/2014/main" id="{3266EBEE-4337-4D4D-AA0E-E0BB5EB2682F}"/>
              </a:ext>
            </a:extLst>
          </p:cNvPr>
          <p:cNvSpPr>
            <a:spLocks xmlns:a="http://schemas.openxmlformats.org/drawingml/2006/main" noGrp="1"/>
          </p:cNvSpPr>
          <p:nvPr/>
        </p:nvSpPr>
        <p:spPr>
          <a:xfrm xmlns:a="http://schemas.openxmlformats.org/drawingml/2006/main">
            <a:off x="4572000" y="4600575"/>
            <a:ext cx="689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0A0A0A"/>
                </a:solidFill>
                <a:latin typeface="Noto Sans KR"/>
                <a:ea typeface="Noto Sans KR"/>
                <a:cs typeface="Noto Sans KR"/>
              </a:defRPr>
            </a:pPr>
            <a:r>
              <a:t>먼저 할 활동: A07, A08, A09</a:t>
            </a:r>
          </a:p>
        </p:txBody>
      </p:sp>
      <p:sp>
        <p:nvSpPr>
          <p:cNvPr id="8" name="">
            <a:extLst xmlns:a="http://schemas.openxmlformats.org/drawingml/2006/main">
              <a:ext uri="{FF2B5EF4-FFF2-40B4-BE49-F238E27FC236}">
                <a16:creationId xmlns:a16="http://schemas.microsoft.com/office/drawing/2014/main" id="{93D152B4-EF8F-42F0-A712-6AE952B69F0C}"/>
              </a:ext>
            </a:extLst>
          </p:cNvPr>
          <p:cNvSpPr>
            <a:spLocks xmlns:a="http://schemas.openxmlformats.org/drawingml/2006/main" noGrp="1"/>
          </p:cNvSpPr>
          <p:nvPr/>
        </p:nvSpPr>
        <p:spPr>
          <a:xfrm xmlns:a="http://schemas.openxmlformats.org/drawingml/2006/main">
            <a:off x="4572000" y="5314950"/>
            <a:ext cx="689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0A0A0A"/>
                </a:solidFill>
                <a:latin typeface="Noto Sans KR"/>
                <a:ea typeface="Noto Sans KR"/>
                <a:cs typeface="Noto Sans KR"/>
              </a:defRPr>
            </a:pPr>
            <a:r>
              <a:t>추가 문제는 필수 결과를 확인한 뒤 풉니다.</a:t>
            </a:r>
          </a:p>
        </p:txBody>
      </p:sp>
      <p:sp>
        <p:nvSpPr>
          <p:cNvPr id="9" name="">
            <a:extLst xmlns:a="http://schemas.openxmlformats.org/drawingml/2006/main">
              <a:ext uri="{FF2B5EF4-FFF2-40B4-BE49-F238E27FC236}">
                <a16:creationId xmlns:a16="http://schemas.microsoft.com/office/drawing/2014/main" id="{5949722B-B7A9-40A7-9646-6BCB1E26602F}"/>
              </a:ext>
            </a:extLst>
          </p:cNvPr>
          <p:cNvSpPr>
            <a:spLocks xmlns:a="http://schemas.openxmlformats.org/drawingml/2006/main" noGrp="1"/>
          </p:cNvSpPr>
          <p:nvPr/>
        </p:nvSpPr>
        <p:spPr>
          <a:xfrm xmlns:a="http://schemas.openxmlformats.org/drawingml/2006/main">
            <a:off x="609600" y="428625"/>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FFFFFF"/>
                </a:solidFill>
                <a:latin typeface="Noto Sans KR"/>
                <a:ea typeface="Noto Sans KR"/>
                <a:cs typeface="Noto Sans KR"/>
              </a:defRPr>
            </a:pPr>
            <a:r>
              <a:t>2026.10.14</a:t>
            </a:r>
          </a:p>
        </p:txBody>
      </p:sp>
      <p:sp>
        <p:nvSpPr>
          <p:cNvPr id="10" name="">
            <a:extLst xmlns:a="http://schemas.openxmlformats.org/drawingml/2006/main">
              <a:ext uri="{FF2B5EF4-FFF2-40B4-BE49-F238E27FC236}">
                <a16:creationId xmlns:a16="http://schemas.microsoft.com/office/drawing/2014/main" id="{4EBDAE29-7673-4877-A4E3-83F14DFE4D72}"/>
              </a:ext>
            </a:extLst>
          </p:cNvPr>
          <p:cNvSpPr>
            <a:spLocks xmlns:a="http://schemas.openxmlformats.org/drawingml/2006/main" noGrp="1"/>
          </p:cNvSpPr>
          <p:nvPr/>
        </p:nvSpPr>
        <p:spPr>
          <a:xfrm xmlns:a="http://schemas.openxmlformats.org/drawingml/2006/main">
            <a:off x="10477500" y="64008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036</a:t>
            </a:r>
          </a:p>
        </p:txBody>
      </p:sp>
    </p:spTree>
    <p:extLst>
      <p:ext uri="{BB962C8B-B14F-4D97-AF65-F5344CB8AC3E}">
        <p14:creationId xmlns:p14="http://schemas.microsoft.com/office/powerpoint/2010/main" val="506553872"/>
      </p:ext>
    </p:extLst>
  </p:cSld>
</p:sld>
</file>

<file path=ppt/slides/slide37.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4E34D0E-40A0-4F18-A530-341630F91D30}"/>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3교시</a:t>
            </a:r>
          </a:p>
        </p:txBody>
      </p:sp>
      <p:sp>
        <p:nvSpPr>
          <p:cNvPr id="2" name="">
            <a:extLst xmlns:a="http://schemas.openxmlformats.org/drawingml/2006/main">
              <a:ext uri="{FF2B5EF4-FFF2-40B4-BE49-F238E27FC236}">
                <a16:creationId xmlns:a16="http://schemas.microsoft.com/office/drawing/2014/main" id="{0310727B-C995-4A4C-8CE3-1CA2E2FC27F6}"/>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완성 예 · 덧셈과 연결</a:t>
            </a:r>
          </a:p>
        </p:txBody>
      </p:sp>
      <p:sp>
        <p:nvSpPr>
          <p:cNvPr id="3" name="">
            <a:extLst xmlns:a="http://schemas.openxmlformats.org/drawingml/2006/main">
              <a:ext uri="{FF2B5EF4-FFF2-40B4-BE49-F238E27FC236}">
                <a16:creationId xmlns:a16="http://schemas.microsoft.com/office/drawing/2014/main" id="{6B26FFB2-0D90-448B-A492-979F317A835A}"/>
              </a:ext>
            </a:extLst>
          </p:cNvPr>
          <p:cNvSpPr>
            <a:spLocks xmlns:a="http://schemas.openxmlformats.org/drawingml/2006/main" noGrp="1"/>
          </p:cNvSpPr>
          <p:nvPr/>
        </p:nvSpPr>
        <p:spPr>
          <a:xfrm xmlns:a="http://schemas.openxmlformats.org/drawingml/2006/main">
            <a:off x="609600" y="2714625"/>
            <a:ext cx="10972800" cy="2133600"/>
          </a:xfrm>
          <a:prstGeom xmlns:a="http://schemas.openxmlformats.org/drawingml/2006/main" prst="rect">
            <a:avLst/>
          </a:prstGeom>
          <a:solidFill xmlns:a="http://schemas.openxmlformats.org/drawingml/2006/main">
            <a:srgbClr val="0A0A0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2841D28-7917-4408-B93C-B9F7E7780750}"/>
              </a:ext>
            </a:extLst>
          </p:cNvPr>
          <p:cNvSpPr>
            <a:spLocks xmlns:a="http://schemas.openxmlformats.org/drawingml/2006/main" noGrp="1"/>
          </p:cNvSpPr>
          <p:nvPr/>
        </p:nvSpPr>
        <p:spPr>
          <a:xfrm xmlns:a="http://schemas.openxmlformats.org/drawingml/2006/main">
            <a:off x="790575" y="29051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01</a:t>
            </a:r>
          </a:p>
        </p:txBody>
      </p:sp>
      <p:sp>
        <p:nvSpPr>
          <p:cNvPr id="5" name="">
            <a:extLst xmlns:a="http://schemas.openxmlformats.org/drawingml/2006/main">
              <a:ext uri="{FF2B5EF4-FFF2-40B4-BE49-F238E27FC236}">
                <a16:creationId xmlns:a16="http://schemas.microsoft.com/office/drawing/2014/main" id="{1CB624F7-B141-4C17-A196-48F769FE61AE}"/>
              </a:ext>
            </a:extLst>
          </p:cNvPr>
          <p:cNvSpPr>
            <a:spLocks xmlns:a="http://schemas.openxmlformats.org/drawingml/2006/main" noGrp="1"/>
          </p:cNvSpPr>
          <p:nvPr/>
        </p:nvSpPr>
        <p:spPr>
          <a:xfrm xmlns:a="http://schemas.openxmlformats.org/drawingml/2006/main">
            <a:off x="1390650" y="28670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count = 3</a:t>
            </a:r>
          </a:p>
        </p:txBody>
      </p:sp>
      <p:sp>
        <p:nvSpPr>
          <p:cNvPr id="6" name="">
            <a:extLst xmlns:a="http://schemas.openxmlformats.org/drawingml/2006/main">
              <a:ext uri="{FF2B5EF4-FFF2-40B4-BE49-F238E27FC236}">
                <a16:creationId xmlns:a16="http://schemas.microsoft.com/office/drawing/2014/main" id="{B1733915-758F-4D47-8133-D259471C9C77}"/>
              </a:ext>
            </a:extLst>
          </p:cNvPr>
          <p:cNvSpPr>
            <a:spLocks xmlns:a="http://schemas.openxmlformats.org/drawingml/2006/main" noGrp="1"/>
          </p:cNvSpPr>
          <p:nvPr/>
        </p:nvSpPr>
        <p:spPr>
          <a:xfrm xmlns:a="http://schemas.openxmlformats.org/drawingml/2006/main">
            <a:off x="790575" y="32480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02</a:t>
            </a:r>
          </a:p>
        </p:txBody>
      </p:sp>
      <p:sp>
        <p:nvSpPr>
          <p:cNvPr id="7" name="">
            <a:extLst xmlns:a="http://schemas.openxmlformats.org/drawingml/2006/main">
              <a:ext uri="{FF2B5EF4-FFF2-40B4-BE49-F238E27FC236}">
                <a16:creationId xmlns:a16="http://schemas.microsoft.com/office/drawing/2014/main" id="{D3332A19-01CD-4258-81EB-0869068BD9E2}"/>
              </a:ext>
            </a:extLst>
          </p:cNvPr>
          <p:cNvSpPr>
            <a:spLocks xmlns:a="http://schemas.openxmlformats.org/drawingml/2006/main" noGrp="1"/>
          </p:cNvSpPr>
          <p:nvPr/>
        </p:nvSpPr>
        <p:spPr>
          <a:xfrm xmlns:a="http://schemas.openxmlformats.org/drawingml/2006/main">
            <a:off x="1390650" y="32099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text_count = </a:t>
            </a:r>
            <a:r>
              <a:rPr>
                <a:solidFill>
                  <a:srgbClr val="BACBFA"/>
                </a:solidFill>
              </a:rPr>
              <a:t>"3"</a:t>
            </a:r>
          </a:p>
        </p:txBody>
      </p:sp>
      <p:sp>
        <p:nvSpPr>
          <p:cNvPr id="8" name="">
            <a:extLst xmlns:a="http://schemas.openxmlformats.org/drawingml/2006/main">
              <a:ext uri="{FF2B5EF4-FFF2-40B4-BE49-F238E27FC236}">
                <a16:creationId xmlns:a16="http://schemas.microsoft.com/office/drawing/2014/main" id="{07DB24CE-897E-4260-9402-6C5CBE7629D7}"/>
              </a:ext>
            </a:extLst>
          </p:cNvPr>
          <p:cNvSpPr>
            <a:spLocks xmlns:a="http://schemas.openxmlformats.org/drawingml/2006/main" noGrp="1"/>
          </p:cNvSpPr>
          <p:nvPr/>
        </p:nvSpPr>
        <p:spPr>
          <a:xfrm xmlns:a="http://schemas.openxmlformats.org/drawingml/2006/main">
            <a:off x="790575" y="35909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03</a:t>
            </a:r>
          </a:p>
        </p:txBody>
      </p:sp>
      <p:sp>
        <p:nvSpPr>
          <p:cNvPr id="9" name="">
            <a:extLst xmlns:a="http://schemas.openxmlformats.org/drawingml/2006/main">
              <a:ext uri="{FF2B5EF4-FFF2-40B4-BE49-F238E27FC236}">
                <a16:creationId xmlns:a16="http://schemas.microsoft.com/office/drawing/2014/main" id="{43192910-8079-4582-A39C-3B98FC488C6C}"/>
              </a:ext>
            </a:extLst>
          </p:cNvPr>
          <p:cNvSpPr>
            <a:spLocks xmlns:a="http://schemas.openxmlformats.org/drawingml/2006/main" noGrp="1"/>
          </p:cNvSpPr>
          <p:nvPr/>
        </p:nvSpPr>
        <p:spPr>
          <a:xfrm xmlns:a="http://schemas.openxmlformats.org/drawingml/2006/main">
            <a:off x="1390650" y="35528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print(count + 2)</a:t>
            </a:r>
          </a:p>
        </p:txBody>
      </p:sp>
      <p:sp>
        <p:nvSpPr>
          <p:cNvPr id="10" name="">
            <a:extLst xmlns:a="http://schemas.openxmlformats.org/drawingml/2006/main">
              <a:ext uri="{FF2B5EF4-FFF2-40B4-BE49-F238E27FC236}">
                <a16:creationId xmlns:a16="http://schemas.microsoft.com/office/drawing/2014/main" id="{AAD96EF9-78A7-4DE8-9CA6-9B3398423558}"/>
              </a:ext>
            </a:extLst>
          </p:cNvPr>
          <p:cNvSpPr>
            <a:spLocks xmlns:a="http://schemas.openxmlformats.org/drawingml/2006/main" noGrp="1"/>
          </p:cNvSpPr>
          <p:nvPr/>
        </p:nvSpPr>
        <p:spPr>
          <a:xfrm xmlns:a="http://schemas.openxmlformats.org/drawingml/2006/main">
            <a:off x="790575" y="39338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04</a:t>
            </a:r>
          </a:p>
        </p:txBody>
      </p:sp>
      <p:sp>
        <p:nvSpPr>
          <p:cNvPr id="11" name="">
            <a:extLst xmlns:a="http://schemas.openxmlformats.org/drawingml/2006/main">
              <a:ext uri="{FF2B5EF4-FFF2-40B4-BE49-F238E27FC236}">
                <a16:creationId xmlns:a16="http://schemas.microsoft.com/office/drawing/2014/main" id="{33E7EC7A-5927-4FB8-85AB-FEBA60081004}"/>
              </a:ext>
            </a:extLst>
          </p:cNvPr>
          <p:cNvSpPr>
            <a:spLocks xmlns:a="http://schemas.openxmlformats.org/drawingml/2006/main" noGrp="1"/>
          </p:cNvSpPr>
          <p:nvPr/>
        </p:nvSpPr>
        <p:spPr>
          <a:xfrm xmlns:a="http://schemas.openxmlformats.org/drawingml/2006/main">
            <a:off x="1390650" y="38957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print(text_count + </a:t>
            </a:r>
            <a:r>
              <a:rPr>
                <a:solidFill>
                  <a:srgbClr val="BACBFA"/>
                </a:solidFill>
              </a:rPr>
              <a:t>"2"</a:t>
            </a:r>
            <a:r>
              <a:rPr>
                <a:solidFill>
                  <a:srgbClr val="FFFFFF"/>
                </a:solidFill>
              </a:rPr>
              <a:t>)</a:t>
            </a:r>
          </a:p>
        </p:txBody>
      </p:sp>
      <p:sp>
        <p:nvSpPr>
          <p:cNvPr id="12" name="">
            <a:extLst xmlns:a="http://schemas.openxmlformats.org/drawingml/2006/main">
              <a:ext uri="{FF2B5EF4-FFF2-40B4-BE49-F238E27FC236}">
                <a16:creationId xmlns:a16="http://schemas.microsoft.com/office/drawing/2014/main" id="{154FC763-E278-4CDD-B2FF-31D3549C1228}"/>
              </a:ext>
            </a:extLst>
          </p:cNvPr>
          <p:cNvSpPr>
            <a:spLocks xmlns:a="http://schemas.openxmlformats.org/drawingml/2006/main" noGrp="1"/>
          </p:cNvSpPr>
          <p:nvPr/>
        </p:nvSpPr>
        <p:spPr>
          <a:xfrm xmlns:a="http://schemas.openxmlformats.org/drawingml/2006/main">
            <a:off x="790575" y="42767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05</a:t>
            </a:r>
          </a:p>
        </p:txBody>
      </p:sp>
      <p:sp>
        <p:nvSpPr>
          <p:cNvPr id="13" name="">
            <a:extLst xmlns:a="http://schemas.openxmlformats.org/drawingml/2006/main">
              <a:ext uri="{FF2B5EF4-FFF2-40B4-BE49-F238E27FC236}">
                <a16:creationId xmlns:a16="http://schemas.microsoft.com/office/drawing/2014/main" id="{71DC45F7-1402-43D8-8FDB-02E02754950D}"/>
              </a:ext>
            </a:extLst>
          </p:cNvPr>
          <p:cNvSpPr>
            <a:spLocks xmlns:a="http://schemas.openxmlformats.org/drawingml/2006/main" noGrp="1"/>
          </p:cNvSpPr>
          <p:nvPr/>
        </p:nvSpPr>
        <p:spPr>
          <a:xfrm xmlns:a="http://schemas.openxmlformats.org/drawingml/2006/main">
            <a:off x="1390650" y="42386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print(type(count).__name__, type(text_count).__name__)</a:t>
            </a:r>
          </a:p>
        </p:txBody>
      </p:sp>
      <p:sp>
        <p:nvSpPr>
          <p:cNvPr id="14" name="">
            <a:extLst xmlns:a="http://schemas.openxmlformats.org/drawingml/2006/main">
              <a:ext uri="{FF2B5EF4-FFF2-40B4-BE49-F238E27FC236}">
                <a16:creationId xmlns:a16="http://schemas.microsoft.com/office/drawing/2014/main" id="{9E719773-A766-4D0C-B53D-B87C3D9CAFD0}"/>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8A53213-469D-4637-9E39-A17D910FD89A}"/>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6" name="">
            <a:extLst xmlns:a="http://schemas.openxmlformats.org/drawingml/2006/main">
              <a:ext uri="{FF2B5EF4-FFF2-40B4-BE49-F238E27FC236}">
                <a16:creationId xmlns:a16="http://schemas.microsoft.com/office/drawing/2014/main" id="{382F952F-E253-401C-963C-25651070FD85}"/>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037</a:t>
            </a:r>
          </a:p>
        </p:txBody>
      </p:sp>
    </p:spTree>
    <p:extLst>
      <p:ext uri="{BB962C8B-B14F-4D97-AF65-F5344CB8AC3E}">
        <p14:creationId xmlns:p14="http://schemas.microsoft.com/office/powerpoint/2010/main" val="1079429584"/>
      </p:ext>
    </p:extLst>
  </p:cSld>
</p:sld>
</file>

<file path=ppt/slides/slide38.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1624FAB-BE03-4A07-AFCE-CF53B6FC19A7}"/>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3교시</a:t>
            </a:r>
          </a:p>
        </p:txBody>
      </p:sp>
      <p:sp>
        <p:nvSpPr>
          <p:cNvPr id="2" name="">
            <a:extLst xmlns:a="http://schemas.openxmlformats.org/drawingml/2006/main">
              <a:ext uri="{FF2B5EF4-FFF2-40B4-BE49-F238E27FC236}">
                <a16:creationId xmlns:a16="http://schemas.microsoft.com/office/drawing/2014/main" id="{9428F696-A12D-4DB2-9954-BB887EFC0ACB}"/>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같은 +, 다른 역할</a:t>
            </a:r>
          </a:p>
        </p:txBody>
      </p:sp>
      <p:graphicFrame>
        <p:nvGraphicFramePr>
          <p:cNvPr id="9" name=""/>
          <p:cNvGraphicFramePr/>
          <p:nvPr/>
        </p:nvGraphicFramePr>
        <p:xfrm>
          <a:off xmlns:a="http://schemas.openxmlformats.org/drawingml/2006/main" x="609600" y="2333625"/>
          <a:ext xmlns:a="http://schemas.openxmlformats.org/drawingml/2006/main" cx="10972800" cy="2200275"/>
        </p:xfrm>
        <a:graphic xmlns:a="http://schemas.openxmlformats.org/drawingml/2006/main">
          <a:graphicData uri="http://schemas.openxmlformats.org/drawingml/2006/table">
            <a:tbl>
              <a:tblPr firstRow="1" bandRow="0"/>
              <a:tblGrid>
                <a:gridCol w="4702629"/>
                <a:gridCol w="2743200"/>
                <a:gridCol w="3526971"/>
              </a:tblGrid>
              <a:tr h="733425">
                <a:tc>
                  <a:txBody>
                    <a:bodyPr wrap="square"/>
                    <a:lstStyle/>
                    <a:p>
                      <a:pPr>
                        <a:lnSpc>
                          <a:spcPct val="94000"/>
                        </a:lnSpc>
                        <a:buNone/>
                      </a:pPr>
                      <a:r>
                        <a:rPr sz="2100" b="1">
                          <a:solidFill>
                            <a:srgbClr val="FFFFFF"/>
                          </a:solidFill>
                          <a:latin typeface="Noto Sans KR"/>
                          <a:ea typeface="Noto Sans KR"/>
                          <a:cs typeface="Noto Sans KR"/>
                        </a:rPr>
                        <a:t>표현</a:t>
                      </a:r>
                    </a:p>
                  </a:txBody>
                  <a:tcPr marL="171450" marR="114300" marT="47625" marB="47625" anchor="ctr">
                    <a:solidFill>
                      <a:srgbClr val="002FA7"/>
                    </a:solidFill>
                  </a:tcPr>
                </a:tc>
                <a:tc>
                  <a:txBody>
                    <a:bodyPr wrap="square"/>
                    <a:lstStyle/>
                    <a:p>
                      <a:pPr>
                        <a:lnSpc>
                          <a:spcPct val="94000"/>
                        </a:lnSpc>
                        <a:buNone/>
                      </a:pPr>
                      <a:r>
                        <a:rPr sz="2100" b="1">
                          <a:solidFill>
                            <a:srgbClr val="FFFFFF"/>
                          </a:solidFill>
                          <a:latin typeface="Noto Sans KR"/>
                          <a:ea typeface="Noto Sans KR"/>
                          <a:cs typeface="Noto Sans KR"/>
                        </a:rPr>
                        <a:t>결과</a:t>
                      </a:r>
                    </a:p>
                  </a:txBody>
                  <a:tcPr marL="171450" marR="114300" marT="47625" marB="47625" anchor="ctr">
                    <a:solidFill>
                      <a:srgbClr val="002FA7"/>
                    </a:solidFill>
                  </a:tcPr>
                </a:tc>
                <a:tc>
                  <a:txBody>
                    <a:bodyPr wrap="square"/>
                    <a:lstStyle/>
                    <a:p>
                      <a:pPr>
                        <a:lnSpc>
                          <a:spcPct val="94000"/>
                        </a:lnSpc>
                        <a:buNone/>
                      </a:pPr>
                      <a:r>
                        <a:rPr sz="2100" b="1">
                          <a:solidFill>
                            <a:srgbClr val="FFFFFF"/>
                          </a:solidFill>
                          <a:latin typeface="Noto Sans KR"/>
                          <a:ea typeface="Noto Sans KR"/>
                          <a:cs typeface="Noto Sans KR"/>
                        </a:rPr>
                        <a:t>이유</a:t>
                      </a:r>
                    </a:p>
                  </a:txBody>
                  <a:tcPr marL="171450" marR="114300" marT="47625" marB="47625" anchor="ctr">
                    <a:solidFill>
                      <a:srgbClr val="002FA7"/>
                    </a:solidFill>
                  </a:tcPr>
                </a:tc>
              </a:tr>
              <a:tr h="733425">
                <a:tc>
                  <a:txBody>
                    <a:bodyPr wrap="square"/>
                    <a:lstStyle/>
                    <a:p>
                      <a:pPr>
                        <a:lnSpc>
                          <a:spcPct val="94000"/>
                        </a:lnSpc>
                        <a:buNone/>
                      </a:pPr>
                      <a:r>
                        <a:rPr sz="2100" b="0">
                          <a:solidFill>
                            <a:srgbClr val="0A0A0A"/>
                          </a:solidFill>
                          <a:latin typeface="Noto Sans KR"/>
                          <a:ea typeface="Noto Sans KR"/>
                          <a:cs typeface="Noto Sans KR"/>
                        </a:rPr>
                        <a:t>3 + 2</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5</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수치 덧셈</a:t>
                      </a:r>
                    </a:p>
                  </a:txBody>
                  <a:tcPr marL="171450" marR="114300" marT="47625" marB="47625" anchor="ctr">
                    <a:solidFill>
                      <a:srgbClr val="FAFAF8"/>
                    </a:solidFill>
                  </a:tcPr>
                </a:tc>
              </a:tr>
              <a:tr h="733425">
                <a:tc>
                  <a:txBody>
                    <a:bodyPr wrap="square"/>
                    <a:lstStyle/>
                    <a:p>
                      <a:pPr>
                        <a:lnSpc>
                          <a:spcPct val="94000"/>
                        </a:lnSpc>
                        <a:buNone/>
                      </a:pPr>
                      <a:r>
                        <a:rPr sz="2100" b="0">
                          <a:solidFill>
                            <a:srgbClr val="0A0A0A"/>
                          </a:solidFill>
                          <a:latin typeface="Noto Sans KR"/>
                          <a:ea typeface="Noto Sans KR"/>
                          <a:cs typeface="Noto Sans KR"/>
                        </a:rPr>
                        <a:t>"3" + "2"</a:t>
                      </a:r>
                    </a:p>
                  </a:txBody>
                  <a:tcPr marL="171450" marR="114300" marT="47625" marB="47625" anchor="ctr">
                    <a:solidFill>
                      <a:srgbClr val="F0F0EB"/>
                    </a:solidFill>
                  </a:tcPr>
                </a:tc>
                <a:tc>
                  <a:txBody>
                    <a:bodyPr wrap="square"/>
                    <a:lstStyle/>
                    <a:p>
                      <a:pPr>
                        <a:lnSpc>
                          <a:spcPct val="94000"/>
                        </a:lnSpc>
                        <a:buNone/>
                      </a:pPr>
                      <a:r>
                        <a:rPr sz="2100" b="0">
                          <a:solidFill>
                            <a:srgbClr val="0A0A0A"/>
                          </a:solidFill>
                          <a:latin typeface="Noto Sans KR"/>
                          <a:ea typeface="Noto Sans KR"/>
                          <a:cs typeface="Noto Sans KR"/>
                        </a:rPr>
                        <a:t>"32"</a:t>
                      </a:r>
                    </a:p>
                  </a:txBody>
                  <a:tcPr marL="171450" marR="114300" marT="47625" marB="47625" anchor="ctr">
                    <a:solidFill>
                      <a:srgbClr val="F0F0EB"/>
                    </a:solidFill>
                  </a:tcPr>
                </a:tc>
                <a:tc>
                  <a:txBody>
                    <a:bodyPr wrap="square"/>
                    <a:lstStyle/>
                    <a:p>
                      <a:pPr>
                        <a:lnSpc>
                          <a:spcPct val="94000"/>
                        </a:lnSpc>
                        <a:buNone/>
                      </a:pPr>
                      <a:r>
                        <a:rPr sz="2100" b="0">
                          <a:solidFill>
                            <a:srgbClr val="0A0A0A"/>
                          </a:solidFill>
                          <a:latin typeface="Noto Sans KR"/>
                          <a:ea typeface="Noto Sans KR"/>
                          <a:cs typeface="Noto Sans KR"/>
                        </a:rPr>
                        <a:t>문자열 연결</a:t>
                      </a:r>
                    </a:p>
                  </a:txBody>
                  <a:tcPr marL="171450" marR="114300" marT="47625" marB="47625" anchor="ctr">
                    <a:solidFill>
                      <a:srgbClr val="F0F0EB"/>
                    </a:solidFill>
                  </a:tcPr>
                </a:tc>
              </a:tr>
            </a:tbl>
          </a:graphicData>
        </a:graphic>
      </p:graphicFrame>
      <p:sp>
        <p:nvSpPr>
          <p:cNvPr id="4" name="">
            <a:extLst xmlns:a="http://schemas.openxmlformats.org/drawingml/2006/main">
              <a:ext uri="{FF2B5EF4-FFF2-40B4-BE49-F238E27FC236}">
                <a16:creationId xmlns:a16="http://schemas.microsoft.com/office/drawing/2014/main" id="{11162017-23B0-45C3-8299-82B33DE4F594}"/>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7B71ABD-4017-4EF4-A25E-2D6E915D2F63}"/>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6" name="">
            <a:extLst xmlns:a="http://schemas.openxmlformats.org/drawingml/2006/main">
              <a:ext uri="{FF2B5EF4-FFF2-40B4-BE49-F238E27FC236}">
                <a16:creationId xmlns:a16="http://schemas.microsoft.com/office/drawing/2014/main" id="{F7F82F69-CA15-453C-97B2-85ED055F343F}"/>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038</a:t>
            </a:r>
          </a:p>
        </p:txBody>
      </p:sp>
    </p:spTree>
    <p:extLst>
      <p:ext uri="{BB962C8B-B14F-4D97-AF65-F5344CB8AC3E}">
        <p14:creationId xmlns:p14="http://schemas.microsoft.com/office/powerpoint/2010/main" val="617030132"/>
      </p:ext>
    </p:extLst>
  </p:cSld>
</p:sld>
</file>

<file path=ppt/slides/slide39.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15DD846-9629-45D6-A8B8-44D53E97285E}"/>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3교시</a:t>
            </a:r>
          </a:p>
        </p:txBody>
      </p:sp>
      <p:sp>
        <p:nvSpPr>
          <p:cNvPr id="2" name="">
            <a:extLst xmlns:a="http://schemas.openxmlformats.org/drawingml/2006/main">
              <a:ext uri="{FF2B5EF4-FFF2-40B4-BE49-F238E27FC236}">
                <a16:creationId xmlns:a16="http://schemas.microsoft.com/office/drawing/2014/main" id="{70BE6999-37ED-4C98-9E85-86CC3F9194A0}"/>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자료형 이름을 읽기</a:t>
            </a:r>
          </a:p>
        </p:txBody>
      </p:sp>
      <p:sp>
        <p:nvSpPr>
          <p:cNvPr id="3" name="">
            <a:extLst xmlns:a="http://schemas.openxmlformats.org/drawingml/2006/main">
              <a:ext uri="{FF2B5EF4-FFF2-40B4-BE49-F238E27FC236}">
                <a16:creationId xmlns:a16="http://schemas.microsoft.com/office/drawing/2014/main" id="{93DBFB6D-4C6E-465D-B8B4-628FCD0D50FE}"/>
              </a:ext>
            </a:extLst>
          </p:cNvPr>
          <p:cNvSpPr>
            <a:spLocks xmlns:a="http://schemas.openxmlformats.org/drawingml/2006/main" noGrp="1"/>
          </p:cNvSpPr>
          <p:nvPr/>
        </p:nvSpPr>
        <p:spPr>
          <a:xfrm xmlns:a="http://schemas.openxmlformats.org/drawingml/2006/main">
            <a:off x="609600" y="2695575"/>
            <a:ext cx="3524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700" b="0">
                <a:solidFill>
                  <a:srgbClr val="002FA7"/>
                </a:solidFill>
                <a:latin typeface="Noto Sans KR"/>
                <a:ea typeface="Noto Sans KR"/>
                <a:cs typeface="Noto Sans KR"/>
              </a:defRPr>
            </a:pPr>
            <a:r>
              <a:t>int</a:t>
            </a:r>
          </a:p>
        </p:txBody>
      </p:sp>
      <p:sp>
        <p:nvSpPr>
          <p:cNvPr id="4" name="">
            <a:extLst xmlns:a="http://schemas.openxmlformats.org/drawingml/2006/main">
              <a:ext uri="{FF2B5EF4-FFF2-40B4-BE49-F238E27FC236}">
                <a16:creationId xmlns:a16="http://schemas.microsoft.com/office/drawing/2014/main" id="{A920E775-2F09-400C-A8A5-0C155AD69D93}"/>
              </a:ext>
            </a:extLst>
          </p:cNvPr>
          <p:cNvSpPr>
            <a:spLocks xmlns:a="http://schemas.openxmlformats.org/drawingml/2006/main" noGrp="1"/>
          </p:cNvSpPr>
          <p:nvPr/>
        </p:nvSpPr>
        <p:spPr>
          <a:xfrm xmlns:a="http://schemas.openxmlformats.org/drawingml/2006/main">
            <a:off x="4333875" y="2562225"/>
            <a:ext cx="9525" cy="337185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797F0E7-DD52-498A-AE02-9784DBB08F94}"/>
              </a:ext>
            </a:extLst>
          </p:cNvPr>
          <p:cNvSpPr>
            <a:spLocks xmlns:a="http://schemas.openxmlformats.org/drawingml/2006/main" noGrp="1"/>
          </p:cNvSpPr>
          <p:nvPr/>
        </p:nvSpPr>
        <p:spPr>
          <a:xfrm xmlns:a="http://schemas.openxmlformats.org/drawingml/2006/main">
            <a:off x="4724400" y="259080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int</a:t>
            </a:r>
            <a:r>
              <a:t>는 정수입니다.</a:t>
            </a:r>
          </a:p>
        </p:txBody>
      </p:sp>
      <p:sp>
        <p:nvSpPr>
          <p:cNvPr id="6" name="">
            <a:extLst xmlns:a="http://schemas.openxmlformats.org/drawingml/2006/main">
              <a:ext uri="{FF2B5EF4-FFF2-40B4-BE49-F238E27FC236}">
                <a16:creationId xmlns:a16="http://schemas.microsoft.com/office/drawing/2014/main" id="{5FECAC67-0585-4F05-B3DF-A069167409CB}"/>
              </a:ext>
            </a:extLst>
          </p:cNvPr>
          <p:cNvSpPr>
            <a:spLocks xmlns:a="http://schemas.openxmlformats.org/drawingml/2006/main" noGrp="1"/>
          </p:cNvSpPr>
          <p:nvPr/>
        </p:nvSpPr>
        <p:spPr>
          <a:xfrm xmlns:a="http://schemas.openxmlformats.org/drawingml/2006/main">
            <a:off x="4724400" y="3705225"/>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str은 문자열입니다.</a:t>
            </a:r>
          </a:p>
        </p:txBody>
      </p:sp>
      <p:sp>
        <p:nvSpPr>
          <p:cNvPr id="7" name="">
            <a:extLst xmlns:a="http://schemas.openxmlformats.org/drawingml/2006/main">
              <a:ext uri="{FF2B5EF4-FFF2-40B4-BE49-F238E27FC236}">
                <a16:creationId xmlns:a16="http://schemas.microsoft.com/office/drawing/2014/main" id="{FC8047A1-7520-49B1-9C13-44B71F408E6B}"/>
              </a:ext>
            </a:extLst>
          </p:cNvPr>
          <p:cNvSpPr>
            <a:spLocks xmlns:a="http://schemas.openxmlformats.org/drawingml/2006/main" noGrp="1"/>
          </p:cNvSpPr>
          <p:nvPr/>
        </p:nvSpPr>
        <p:spPr>
          <a:xfrm xmlns:a="http://schemas.openxmlformats.org/drawingml/2006/main">
            <a:off x="4724400" y="481965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float는 소수가 있는 수를 다룹니다.</a:t>
            </a:r>
          </a:p>
        </p:txBody>
      </p:sp>
      <p:sp>
        <p:nvSpPr>
          <p:cNvPr id="8" name="">
            <a:extLst xmlns:a="http://schemas.openxmlformats.org/drawingml/2006/main">
              <a:ext uri="{FF2B5EF4-FFF2-40B4-BE49-F238E27FC236}">
                <a16:creationId xmlns:a16="http://schemas.microsoft.com/office/drawing/2014/main" id="{61A59931-A802-4FA3-8DC6-014AF277B445}"/>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32AF74F-D4CB-4122-9E9C-594F7939B586}"/>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0" name="">
            <a:extLst xmlns:a="http://schemas.openxmlformats.org/drawingml/2006/main">
              <a:ext uri="{FF2B5EF4-FFF2-40B4-BE49-F238E27FC236}">
                <a16:creationId xmlns:a16="http://schemas.microsoft.com/office/drawing/2014/main" id="{E6E75DA5-C6D5-44E1-B05C-7E8A5FE3FB4B}"/>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039</a:t>
            </a:r>
          </a:p>
        </p:txBody>
      </p:sp>
    </p:spTree>
    <p:extLst>
      <p:ext uri="{BB962C8B-B14F-4D97-AF65-F5344CB8AC3E}">
        <p14:creationId xmlns:p14="http://schemas.microsoft.com/office/powerpoint/2010/main" val="545119369"/>
      </p:ext>
    </p:extLst>
  </p:cSld>
</p:sld>
</file>

<file path=ppt/slides/slide40.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50E1FC4-3BF5-45C8-95A0-E28B0D044D52}"/>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3교시</a:t>
            </a:r>
          </a:p>
        </p:txBody>
      </p:sp>
      <p:sp>
        <p:nvSpPr>
          <p:cNvPr id="2" name="">
            <a:extLst xmlns:a="http://schemas.openxmlformats.org/drawingml/2006/main">
              <a:ext uri="{FF2B5EF4-FFF2-40B4-BE49-F238E27FC236}">
                <a16:creationId xmlns:a16="http://schemas.microsoft.com/office/drawing/2014/main" id="{0420B72B-9991-4F46-8B40-1B21F00347EB}"/>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완성 예 · 숫자 문자열 해석</a:t>
            </a:r>
          </a:p>
        </p:txBody>
      </p:sp>
      <p:sp>
        <p:nvSpPr>
          <p:cNvPr id="3" name="">
            <a:extLst xmlns:a="http://schemas.openxmlformats.org/drawingml/2006/main">
              <a:ext uri="{FF2B5EF4-FFF2-40B4-BE49-F238E27FC236}">
                <a16:creationId xmlns:a16="http://schemas.microsoft.com/office/drawing/2014/main" id="{8C03CFE4-3A1B-4836-A8C0-57A2D5DB57F5}"/>
              </a:ext>
            </a:extLst>
          </p:cNvPr>
          <p:cNvSpPr>
            <a:spLocks xmlns:a="http://schemas.openxmlformats.org/drawingml/2006/main" noGrp="1"/>
          </p:cNvSpPr>
          <p:nvPr/>
        </p:nvSpPr>
        <p:spPr>
          <a:xfrm xmlns:a="http://schemas.openxmlformats.org/drawingml/2006/main">
            <a:off x="609600" y="2714625"/>
            <a:ext cx="10972800" cy="2133600"/>
          </a:xfrm>
          <a:prstGeom xmlns:a="http://schemas.openxmlformats.org/drawingml/2006/main" prst="rect">
            <a:avLst/>
          </a:prstGeom>
          <a:solidFill xmlns:a="http://schemas.openxmlformats.org/drawingml/2006/main">
            <a:srgbClr val="0A0A0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73A64F1-5BF5-4420-8FE7-28BAC79EA10E}"/>
              </a:ext>
            </a:extLst>
          </p:cNvPr>
          <p:cNvSpPr>
            <a:spLocks xmlns:a="http://schemas.openxmlformats.org/drawingml/2006/main" noGrp="1"/>
          </p:cNvSpPr>
          <p:nvPr/>
        </p:nvSpPr>
        <p:spPr>
          <a:xfrm xmlns:a="http://schemas.openxmlformats.org/drawingml/2006/main">
            <a:off x="790575" y="29051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01</a:t>
            </a:r>
          </a:p>
        </p:txBody>
      </p:sp>
      <p:sp>
        <p:nvSpPr>
          <p:cNvPr id="5" name="">
            <a:extLst xmlns:a="http://schemas.openxmlformats.org/drawingml/2006/main">
              <a:ext uri="{FF2B5EF4-FFF2-40B4-BE49-F238E27FC236}">
                <a16:creationId xmlns:a16="http://schemas.microsoft.com/office/drawing/2014/main" id="{00DD1B4A-6BDE-43FF-A27F-207CBDFBDA15}"/>
              </a:ext>
            </a:extLst>
          </p:cNvPr>
          <p:cNvSpPr>
            <a:spLocks xmlns:a="http://schemas.openxmlformats.org/drawingml/2006/main" noGrp="1"/>
          </p:cNvSpPr>
          <p:nvPr/>
        </p:nvSpPr>
        <p:spPr>
          <a:xfrm xmlns:a="http://schemas.openxmlformats.org/drawingml/2006/main">
            <a:off x="1390650" y="28670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raw = </a:t>
            </a:r>
            <a:r>
              <a:rPr>
                <a:solidFill>
                  <a:srgbClr val="BACBFA"/>
                </a:solidFill>
              </a:rPr>
              <a:t>"22.5"</a:t>
            </a:r>
          </a:p>
        </p:txBody>
      </p:sp>
      <p:sp>
        <p:nvSpPr>
          <p:cNvPr id="6" name="">
            <a:extLst xmlns:a="http://schemas.openxmlformats.org/drawingml/2006/main">
              <a:ext uri="{FF2B5EF4-FFF2-40B4-BE49-F238E27FC236}">
                <a16:creationId xmlns:a16="http://schemas.microsoft.com/office/drawing/2014/main" id="{28FC87CD-0C2B-4F74-93B8-1D92240DF9C9}"/>
              </a:ext>
            </a:extLst>
          </p:cNvPr>
          <p:cNvSpPr>
            <a:spLocks xmlns:a="http://schemas.openxmlformats.org/drawingml/2006/main" noGrp="1"/>
          </p:cNvSpPr>
          <p:nvPr/>
        </p:nvSpPr>
        <p:spPr>
          <a:xfrm xmlns:a="http://schemas.openxmlformats.org/drawingml/2006/main">
            <a:off x="790575" y="32480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02</a:t>
            </a:r>
          </a:p>
        </p:txBody>
      </p:sp>
      <p:sp>
        <p:nvSpPr>
          <p:cNvPr id="7" name="">
            <a:extLst xmlns:a="http://schemas.openxmlformats.org/drawingml/2006/main">
              <a:ext uri="{FF2B5EF4-FFF2-40B4-BE49-F238E27FC236}">
                <a16:creationId xmlns:a16="http://schemas.microsoft.com/office/drawing/2014/main" id="{6A00E308-6EE8-4DCF-9227-24228A1740D5}"/>
              </a:ext>
            </a:extLst>
          </p:cNvPr>
          <p:cNvSpPr>
            <a:spLocks xmlns:a="http://schemas.openxmlformats.org/drawingml/2006/main" noGrp="1"/>
          </p:cNvSpPr>
          <p:nvPr/>
        </p:nvSpPr>
        <p:spPr>
          <a:xfrm xmlns:a="http://schemas.openxmlformats.org/drawingml/2006/main">
            <a:off x="1390650" y="32099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temperature_c = float(raw)</a:t>
            </a:r>
          </a:p>
        </p:txBody>
      </p:sp>
      <p:sp>
        <p:nvSpPr>
          <p:cNvPr id="8" name="">
            <a:extLst xmlns:a="http://schemas.openxmlformats.org/drawingml/2006/main">
              <a:ext uri="{FF2B5EF4-FFF2-40B4-BE49-F238E27FC236}">
                <a16:creationId xmlns:a16="http://schemas.microsoft.com/office/drawing/2014/main" id="{CC4AE9C4-2AD3-4808-808A-FDEDAD4C8A2F}"/>
              </a:ext>
            </a:extLst>
          </p:cNvPr>
          <p:cNvSpPr>
            <a:spLocks xmlns:a="http://schemas.openxmlformats.org/drawingml/2006/main" noGrp="1"/>
          </p:cNvSpPr>
          <p:nvPr/>
        </p:nvSpPr>
        <p:spPr>
          <a:xfrm xmlns:a="http://schemas.openxmlformats.org/drawingml/2006/main">
            <a:off x="790575" y="35909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03</a:t>
            </a:r>
          </a:p>
        </p:txBody>
      </p:sp>
      <p:sp>
        <p:nvSpPr>
          <p:cNvPr id="9" name="">
            <a:extLst xmlns:a="http://schemas.openxmlformats.org/drawingml/2006/main">
              <a:ext uri="{FF2B5EF4-FFF2-40B4-BE49-F238E27FC236}">
                <a16:creationId xmlns:a16="http://schemas.microsoft.com/office/drawing/2014/main" id="{BCEBCE2C-2E48-4255-B62E-E363273FF1A0}"/>
              </a:ext>
            </a:extLst>
          </p:cNvPr>
          <p:cNvSpPr>
            <a:spLocks xmlns:a="http://schemas.openxmlformats.org/drawingml/2006/main" noGrp="1"/>
          </p:cNvSpPr>
          <p:nvPr/>
        </p:nvSpPr>
        <p:spPr>
          <a:xfrm xmlns:a="http://schemas.openxmlformats.org/drawingml/2006/main">
            <a:off x="1390650" y="35528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print(raw, type(raw).__name__)</a:t>
            </a:r>
          </a:p>
        </p:txBody>
      </p:sp>
      <p:sp>
        <p:nvSpPr>
          <p:cNvPr id="10" name="">
            <a:extLst xmlns:a="http://schemas.openxmlformats.org/drawingml/2006/main">
              <a:ext uri="{FF2B5EF4-FFF2-40B4-BE49-F238E27FC236}">
                <a16:creationId xmlns:a16="http://schemas.microsoft.com/office/drawing/2014/main" id="{69964790-E408-4AE1-B9F4-92F657A3550E}"/>
              </a:ext>
            </a:extLst>
          </p:cNvPr>
          <p:cNvSpPr>
            <a:spLocks xmlns:a="http://schemas.openxmlformats.org/drawingml/2006/main" noGrp="1"/>
          </p:cNvSpPr>
          <p:nvPr/>
        </p:nvSpPr>
        <p:spPr>
          <a:xfrm xmlns:a="http://schemas.openxmlformats.org/drawingml/2006/main">
            <a:off x="790575" y="39338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04</a:t>
            </a:r>
          </a:p>
        </p:txBody>
      </p:sp>
      <p:sp>
        <p:nvSpPr>
          <p:cNvPr id="11" name="">
            <a:extLst xmlns:a="http://schemas.openxmlformats.org/drawingml/2006/main">
              <a:ext uri="{FF2B5EF4-FFF2-40B4-BE49-F238E27FC236}">
                <a16:creationId xmlns:a16="http://schemas.microsoft.com/office/drawing/2014/main" id="{1952A5E6-22CC-4941-A74F-A8D045889DD2}"/>
              </a:ext>
            </a:extLst>
          </p:cNvPr>
          <p:cNvSpPr>
            <a:spLocks xmlns:a="http://schemas.openxmlformats.org/drawingml/2006/main" noGrp="1"/>
          </p:cNvSpPr>
          <p:nvPr/>
        </p:nvSpPr>
        <p:spPr>
          <a:xfrm xmlns:a="http://schemas.openxmlformats.org/drawingml/2006/main">
            <a:off x="1390650" y="38957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print(temperature_c, type(temperature_c).__name__)</a:t>
            </a:r>
          </a:p>
        </p:txBody>
      </p:sp>
      <p:sp>
        <p:nvSpPr>
          <p:cNvPr id="12" name="">
            <a:extLst xmlns:a="http://schemas.openxmlformats.org/drawingml/2006/main">
              <a:ext uri="{FF2B5EF4-FFF2-40B4-BE49-F238E27FC236}">
                <a16:creationId xmlns:a16="http://schemas.microsoft.com/office/drawing/2014/main" id="{101AE7D3-A3A6-4CFF-A3B6-C92FCF286A7E}"/>
              </a:ext>
            </a:extLst>
          </p:cNvPr>
          <p:cNvSpPr>
            <a:spLocks xmlns:a="http://schemas.openxmlformats.org/drawingml/2006/main" noGrp="1"/>
          </p:cNvSpPr>
          <p:nvPr/>
        </p:nvSpPr>
        <p:spPr>
          <a:xfrm xmlns:a="http://schemas.openxmlformats.org/drawingml/2006/main">
            <a:off x="790575" y="42767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05</a:t>
            </a:r>
          </a:p>
        </p:txBody>
      </p:sp>
      <p:sp>
        <p:nvSpPr>
          <p:cNvPr id="13" name="">
            <a:extLst xmlns:a="http://schemas.openxmlformats.org/drawingml/2006/main">
              <a:ext uri="{FF2B5EF4-FFF2-40B4-BE49-F238E27FC236}">
                <a16:creationId xmlns:a16="http://schemas.microsoft.com/office/drawing/2014/main" id="{301691AE-5F20-4D34-98E8-E689290A69A0}"/>
              </a:ext>
            </a:extLst>
          </p:cNvPr>
          <p:cNvSpPr>
            <a:spLocks xmlns:a="http://schemas.openxmlformats.org/drawingml/2006/main" noGrp="1"/>
          </p:cNvSpPr>
          <p:nvPr/>
        </p:nvSpPr>
        <p:spPr>
          <a:xfrm xmlns:a="http://schemas.openxmlformats.org/drawingml/2006/main">
            <a:off x="1390650" y="42386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print(temperature_c + 1)</a:t>
            </a:r>
          </a:p>
        </p:txBody>
      </p:sp>
      <p:sp>
        <p:nvSpPr>
          <p:cNvPr id="14" name="">
            <a:extLst xmlns:a="http://schemas.openxmlformats.org/drawingml/2006/main">
              <a:ext uri="{FF2B5EF4-FFF2-40B4-BE49-F238E27FC236}">
                <a16:creationId xmlns:a16="http://schemas.microsoft.com/office/drawing/2014/main" id="{EEA17F9D-0ACD-4280-94F3-55B8A6206345}"/>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ACCD179-A681-477B-A280-474C15B4C148}"/>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6" name="">
            <a:extLst xmlns:a="http://schemas.openxmlformats.org/drawingml/2006/main">
              <a:ext uri="{FF2B5EF4-FFF2-40B4-BE49-F238E27FC236}">
                <a16:creationId xmlns:a16="http://schemas.microsoft.com/office/drawing/2014/main" id="{7CCB8C3E-5F6C-4EF5-9861-DBE696EF519E}"/>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040</a:t>
            </a:r>
          </a:p>
        </p:txBody>
      </p:sp>
    </p:spTree>
    <p:extLst>
      <p:ext uri="{BB962C8B-B14F-4D97-AF65-F5344CB8AC3E}">
        <p14:creationId xmlns:p14="http://schemas.microsoft.com/office/powerpoint/2010/main" val="441960765"/>
      </p:ext>
    </p:extLst>
  </p:cSld>
</p:sld>
</file>

<file path=ppt/slides/slide41.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169CB86-8FF2-4DC4-90F1-37C0F8634542}"/>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3교시</a:t>
            </a:r>
          </a:p>
        </p:txBody>
      </p:sp>
      <p:sp>
        <p:nvSpPr>
          <p:cNvPr id="2" name="">
            <a:extLst xmlns:a="http://schemas.openxmlformats.org/drawingml/2006/main">
              <a:ext uri="{FF2B5EF4-FFF2-40B4-BE49-F238E27FC236}">
                <a16:creationId xmlns:a16="http://schemas.microsoft.com/office/drawing/2014/main" id="{7664BF8D-CA53-4AB3-BC21-0BD1248A7FA5}"/>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한 값이 바뀌는 단계</a:t>
            </a:r>
          </a:p>
        </p:txBody>
      </p:sp>
      <p:graphicFrame>
        <p:nvGraphicFramePr>
          <p:cNvPr id="9" name=""/>
          <p:cNvGraphicFramePr/>
          <p:nvPr/>
        </p:nvGraphicFramePr>
        <p:xfrm>
          <a:off xmlns:a="http://schemas.openxmlformats.org/drawingml/2006/main" x="609600" y="2333625"/>
          <a:ext xmlns:a="http://schemas.openxmlformats.org/drawingml/2006/main" cx="10972800" cy="2933700"/>
        </p:xfrm>
        <a:graphic xmlns:a="http://schemas.openxmlformats.org/drawingml/2006/main">
          <a:graphicData uri="http://schemas.openxmlformats.org/drawingml/2006/table">
            <a:tbl>
              <a:tblPr firstRow="1" bandRow="0"/>
              <a:tblGrid>
                <a:gridCol w="4642338"/>
                <a:gridCol w="3798277"/>
                <a:gridCol w="2532185"/>
              </a:tblGrid>
              <a:tr h="733425">
                <a:tc>
                  <a:txBody>
                    <a:bodyPr wrap="square"/>
                    <a:lstStyle/>
                    <a:p>
                      <a:pPr>
                        <a:lnSpc>
                          <a:spcPct val="94000"/>
                        </a:lnSpc>
                        <a:buNone/>
                      </a:pPr>
                      <a:r>
                        <a:rPr sz="2100" b="1">
                          <a:solidFill>
                            <a:srgbClr val="FFFFFF"/>
                          </a:solidFill>
                          <a:latin typeface="Noto Sans KR"/>
                          <a:ea typeface="Noto Sans KR"/>
                          <a:cs typeface="Noto Sans KR"/>
                        </a:rPr>
                        <a:t>단계</a:t>
                      </a:r>
                    </a:p>
                  </a:txBody>
                  <a:tcPr marL="171450" marR="114300" marT="47625" marB="47625" anchor="ctr">
                    <a:solidFill>
                      <a:srgbClr val="002FA7"/>
                    </a:solidFill>
                  </a:tcPr>
                </a:tc>
                <a:tc>
                  <a:txBody>
                    <a:bodyPr wrap="square"/>
                    <a:lstStyle/>
                    <a:p>
                      <a:pPr>
                        <a:lnSpc>
                          <a:spcPct val="94000"/>
                        </a:lnSpc>
                        <a:buNone/>
                      </a:pPr>
                      <a:r>
                        <a:rPr sz="2100" b="1">
                          <a:solidFill>
                            <a:srgbClr val="FFFFFF"/>
                          </a:solidFill>
                          <a:latin typeface="Noto Sans KR"/>
                          <a:ea typeface="Noto Sans KR"/>
                          <a:cs typeface="Noto Sans KR"/>
                        </a:rPr>
                        <a:t>값</a:t>
                      </a:r>
                    </a:p>
                  </a:txBody>
                  <a:tcPr marL="171450" marR="114300" marT="47625" marB="47625" anchor="ctr">
                    <a:solidFill>
                      <a:srgbClr val="002FA7"/>
                    </a:solidFill>
                  </a:tcPr>
                </a:tc>
                <a:tc>
                  <a:txBody>
                    <a:bodyPr wrap="square"/>
                    <a:lstStyle/>
                    <a:p>
                      <a:pPr>
                        <a:lnSpc>
                          <a:spcPct val="94000"/>
                        </a:lnSpc>
                        <a:buNone/>
                      </a:pPr>
                      <a:r>
                        <a:rPr sz="2100" b="1">
                          <a:solidFill>
                            <a:srgbClr val="FFFFFF"/>
                          </a:solidFill>
                          <a:latin typeface="Noto Sans KR"/>
                          <a:ea typeface="Noto Sans KR"/>
                          <a:cs typeface="Noto Sans KR"/>
                        </a:rPr>
                        <a:t>종류</a:t>
                      </a:r>
                    </a:p>
                  </a:txBody>
                  <a:tcPr marL="171450" marR="114300" marT="47625" marB="47625" anchor="ctr">
                    <a:solidFill>
                      <a:srgbClr val="002FA7"/>
                    </a:solidFill>
                  </a:tcPr>
                </a:tc>
              </a:tr>
              <a:tr h="733425">
                <a:tc>
                  <a:txBody>
                    <a:bodyPr wrap="square"/>
                    <a:lstStyle/>
                    <a:p>
                      <a:pPr>
                        <a:lnSpc>
                          <a:spcPct val="94000"/>
                        </a:lnSpc>
                        <a:buNone/>
                      </a:pPr>
                      <a:r>
                        <a:rPr sz="2100" b="0">
                          <a:solidFill>
                            <a:srgbClr val="0A0A0A"/>
                          </a:solidFill>
                          <a:latin typeface="Noto Sans KR"/>
                          <a:ea typeface="Noto Sans KR"/>
                          <a:cs typeface="Noto Sans KR"/>
                        </a:rPr>
                        <a:t>원문</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"22.5"</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문자열</a:t>
                      </a:r>
                    </a:p>
                  </a:txBody>
                  <a:tcPr marL="171450" marR="114300" marT="47625" marB="47625" anchor="ctr">
                    <a:solidFill>
                      <a:srgbClr val="FAFAF8"/>
                    </a:solidFill>
                  </a:tcPr>
                </a:tc>
              </a:tr>
              <a:tr h="733425">
                <a:tc>
                  <a:txBody>
                    <a:bodyPr wrap="square"/>
                    <a:lstStyle/>
                    <a:p>
                      <a:pPr>
                        <a:lnSpc>
                          <a:spcPct val="94000"/>
                        </a:lnSpc>
                        <a:buNone/>
                      </a:pPr>
                      <a:r>
                        <a:rPr sz="2100" b="0">
                          <a:solidFill>
                            <a:srgbClr val="0A0A0A"/>
                          </a:solidFill>
                          <a:latin typeface="Noto Sans KR"/>
                          <a:ea typeface="Noto Sans KR"/>
                          <a:cs typeface="Noto Sans KR"/>
                        </a:rPr>
                        <a:t>float 변환</a:t>
                      </a:r>
                    </a:p>
                  </a:txBody>
                  <a:tcPr marL="171450" marR="114300" marT="47625" marB="47625" anchor="ctr">
                    <a:solidFill>
                      <a:srgbClr val="F0F0EB"/>
                    </a:solidFill>
                  </a:tcPr>
                </a:tc>
                <a:tc>
                  <a:txBody>
                    <a:bodyPr wrap="square"/>
                    <a:lstStyle/>
                    <a:p>
                      <a:pPr>
                        <a:lnSpc>
                          <a:spcPct val="94000"/>
                        </a:lnSpc>
                        <a:buNone/>
                      </a:pPr>
                      <a:r>
                        <a:rPr sz="2100" b="0">
                          <a:solidFill>
                            <a:srgbClr val="0A0A0A"/>
                          </a:solidFill>
                          <a:latin typeface="Noto Sans KR"/>
                          <a:ea typeface="Noto Sans KR"/>
                          <a:cs typeface="Noto Sans KR"/>
                        </a:rPr>
                        <a:t>22.5</a:t>
                      </a:r>
                    </a:p>
                  </a:txBody>
                  <a:tcPr marL="171450" marR="114300" marT="47625" marB="47625" anchor="ctr">
                    <a:solidFill>
                      <a:srgbClr val="F0F0EB"/>
                    </a:solidFill>
                  </a:tcPr>
                </a:tc>
                <a:tc>
                  <a:txBody>
                    <a:bodyPr wrap="square"/>
                    <a:lstStyle/>
                    <a:p>
                      <a:pPr>
                        <a:lnSpc>
                          <a:spcPct val="94000"/>
                        </a:lnSpc>
                        <a:buNone/>
                      </a:pPr>
                      <a:r>
                        <a:rPr sz="2100" b="0">
                          <a:solidFill>
                            <a:srgbClr val="0A0A0A"/>
                          </a:solidFill>
                          <a:latin typeface="Noto Sans KR"/>
                          <a:ea typeface="Noto Sans KR"/>
                          <a:cs typeface="Noto Sans KR"/>
                        </a:rPr>
                        <a:t>실수</a:t>
                      </a:r>
                    </a:p>
                  </a:txBody>
                  <a:tcPr marL="171450" marR="114300" marT="47625" marB="47625" anchor="ctr">
                    <a:solidFill>
                      <a:srgbClr val="F0F0EB"/>
                    </a:solidFill>
                  </a:tcPr>
                </a:tc>
              </a:tr>
              <a:tr h="733425">
                <a:tc>
                  <a:txBody>
                    <a:bodyPr wrap="square"/>
                    <a:lstStyle/>
                    <a:p>
                      <a:pPr>
                        <a:lnSpc>
                          <a:spcPct val="94000"/>
                        </a:lnSpc>
                        <a:buNone/>
                      </a:pPr>
                      <a:r>
                        <a:rPr sz="2100" b="0">
                          <a:solidFill>
                            <a:srgbClr val="0A0A0A"/>
                          </a:solidFill>
                          <a:latin typeface="Noto Sans KR"/>
                          <a:ea typeface="Noto Sans KR"/>
                          <a:cs typeface="Noto Sans KR"/>
                        </a:rPr>
                        <a:t>1 더하기</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23.5</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실수</a:t>
                      </a:r>
                    </a:p>
                  </a:txBody>
                  <a:tcPr marL="171450" marR="114300" marT="47625" marB="47625" anchor="ctr">
                    <a:solidFill>
                      <a:srgbClr val="FAFAF8"/>
                    </a:solidFill>
                  </a:tcPr>
                </a:tc>
              </a:tr>
            </a:tbl>
          </a:graphicData>
        </a:graphic>
      </p:graphicFrame>
      <p:sp>
        <p:nvSpPr>
          <p:cNvPr id="4" name="">
            <a:extLst xmlns:a="http://schemas.openxmlformats.org/drawingml/2006/main">
              <a:ext uri="{FF2B5EF4-FFF2-40B4-BE49-F238E27FC236}">
                <a16:creationId xmlns:a16="http://schemas.microsoft.com/office/drawing/2014/main" id="{0BE4F22F-72C1-461C-88D3-9AEE7283B65D}"/>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C4F0237-F1B5-4A8F-9E1A-4CFE2943062A}"/>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6" name="">
            <a:extLst xmlns:a="http://schemas.openxmlformats.org/drawingml/2006/main">
              <a:ext uri="{FF2B5EF4-FFF2-40B4-BE49-F238E27FC236}">
                <a16:creationId xmlns:a16="http://schemas.microsoft.com/office/drawing/2014/main" id="{D7CA9DEF-EA2B-4D2E-821B-D38F127FAF0F}"/>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041</a:t>
            </a:r>
          </a:p>
        </p:txBody>
      </p:sp>
    </p:spTree>
    <p:extLst>
      <p:ext uri="{BB962C8B-B14F-4D97-AF65-F5344CB8AC3E}">
        <p14:creationId xmlns:p14="http://schemas.microsoft.com/office/powerpoint/2010/main" val="1952884891"/>
      </p:ext>
    </p:extLst>
  </p:cSld>
</p:sld>
</file>

<file path=ppt/slides/slide42.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31FD93B-0EBB-4AA5-A404-2C5F1EBAD6C8}"/>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3교시</a:t>
            </a:r>
          </a:p>
        </p:txBody>
      </p:sp>
      <p:sp>
        <p:nvSpPr>
          <p:cNvPr id="2" name="">
            <a:extLst xmlns:a="http://schemas.openxmlformats.org/drawingml/2006/main">
              <a:ext uri="{FF2B5EF4-FFF2-40B4-BE49-F238E27FC236}">
                <a16:creationId xmlns:a16="http://schemas.microsoft.com/office/drawing/2014/main" id="{206E4B8C-AC5F-4758-B0C5-9FCDCCF31D10}"/>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변환 오류를 무시하지 않습니다</a:t>
            </a:r>
          </a:p>
        </p:txBody>
      </p:sp>
      <p:sp>
        <p:nvSpPr>
          <p:cNvPr id="3" name="">
            <a:extLst xmlns:a="http://schemas.openxmlformats.org/drawingml/2006/main">
              <a:ext uri="{FF2B5EF4-FFF2-40B4-BE49-F238E27FC236}">
                <a16:creationId xmlns:a16="http://schemas.microsoft.com/office/drawing/2014/main" id="{D64CCBD2-3DB9-4688-A5D2-C1FDC30D11F2}"/>
              </a:ext>
            </a:extLst>
          </p:cNvPr>
          <p:cNvSpPr>
            <a:spLocks xmlns:a="http://schemas.openxmlformats.org/drawingml/2006/main" noGrp="1"/>
          </p:cNvSpPr>
          <p:nvPr/>
        </p:nvSpPr>
        <p:spPr>
          <a:xfrm xmlns:a="http://schemas.openxmlformats.org/drawingml/2006/main">
            <a:off x="609600" y="2695575"/>
            <a:ext cx="3524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125" b="0">
                <a:solidFill>
                  <a:srgbClr val="002FA7"/>
                </a:solidFill>
                <a:latin typeface="Noto Sans KR"/>
                <a:ea typeface="Noto Sans KR"/>
                <a:cs typeface="Noto Sans KR"/>
              </a:defRPr>
            </a:pPr>
            <a:r>
              <a:t>숫자로 읽을 수 없습니다</a:t>
            </a:r>
          </a:p>
        </p:txBody>
      </p:sp>
      <p:sp>
        <p:nvSpPr>
          <p:cNvPr id="4" name="">
            <a:extLst xmlns:a="http://schemas.openxmlformats.org/drawingml/2006/main">
              <a:ext uri="{FF2B5EF4-FFF2-40B4-BE49-F238E27FC236}">
                <a16:creationId xmlns:a16="http://schemas.microsoft.com/office/drawing/2014/main" id="{D42DC72A-DC7C-47F2-918E-E2F9A0CFE8C1}"/>
              </a:ext>
            </a:extLst>
          </p:cNvPr>
          <p:cNvSpPr>
            <a:spLocks xmlns:a="http://schemas.openxmlformats.org/drawingml/2006/main" noGrp="1"/>
          </p:cNvSpPr>
          <p:nvPr/>
        </p:nvSpPr>
        <p:spPr>
          <a:xfrm xmlns:a="http://schemas.openxmlformats.org/drawingml/2006/main">
            <a:off x="4333875" y="2562225"/>
            <a:ext cx="9525" cy="337185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1E05F20-FE27-41EA-AE6F-F436412A94A0}"/>
              </a:ext>
            </a:extLst>
          </p:cNvPr>
          <p:cNvSpPr>
            <a:spLocks xmlns:a="http://schemas.openxmlformats.org/drawingml/2006/main" noGrp="1"/>
          </p:cNvSpPr>
          <p:nvPr/>
        </p:nvSpPr>
        <p:spPr>
          <a:xfrm xmlns:a="http://schemas.openxmlformats.org/drawingml/2006/main">
            <a:off x="4724400" y="259080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"22.5"는 실수 표현으로 읽습니다.</a:t>
            </a:r>
          </a:p>
        </p:txBody>
      </p:sp>
      <p:sp>
        <p:nvSpPr>
          <p:cNvPr id="6" name="">
            <a:extLst xmlns:a="http://schemas.openxmlformats.org/drawingml/2006/main">
              <a:ext uri="{FF2B5EF4-FFF2-40B4-BE49-F238E27FC236}">
                <a16:creationId xmlns:a16="http://schemas.microsoft.com/office/drawing/2014/main" id="{C3006AC7-470B-4FF3-A96D-E48445CC8EAF}"/>
              </a:ext>
            </a:extLst>
          </p:cNvPr>
          <p:cNvSpPr>
            <a:spLocks xmlns:a="http://schemas.openxmlformats.org/drawingml/2006/main" noGrp="1"/>
          </p:cNvSpPr>
          <p:nvPr/>
        </p:nvSpPr>
        <p:spPr>
          <a:xfrm xmlns:a="http://schemas.openxmlformats.org/drawingml/2006/main">
            <a:off x="4724400" y="3705225"/>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"뜨거움"은 </a:t>
            </a:r>
            <a:r>
              <a:rPr b="1">
                <a:solidFill>
                  <a:srgbClr val="002FA7"/>
                </a:solidFill>
              </a:rPr>
              <a:t>숫자로 읽을 수 없습니다</a:t>
            </a:r>
            <a:r>
              <a:t>.</a:t>
            </a:r>
          </a:p>
        </p:txBody>
      </p:sp>
      <p:sp>
        <p:nvSpPr>
          <p:cNvPr id="7" name="">
            <a:extLst xmlns:a="http://schemas.openxmlformats.org/drawingml/2006/main">
              <a:ext uri="{FF2B5EF4-FFF2-40B4-BE49-F238E27FC236}">
                <a16:creationId xmlns:a16="http://schemas.microsoft.com/office/drawing/2014/main" id="{E48C2FE3-5773-4E53-ACDD-F29DDDE25431}"/>
              </a:ext>
            </a:extLst>
          </p:cNvPr>
          <p:cNvSpPr>
            <a:spLocks xmlns:a="http://schemas.openxmlformats.org/drawingml/2006/main" noGrp="1"/>
          </p:cNvSpPr>
          <p:nvPr/>
        </p:nvSpPr>
        <p:spPr>
          <a:xfrm xmlns:a="http://schemas.openxmlformats.org/drawingml/2006/main">
            <a:off x="4724400" y="481965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원문을 보존하고 종류와 뜻을 확인합니다.</a:t>
            </a:r>
          </a:p>
        </p:txBody>
      </p:sp>
      <p:sp>
        <p:nvSpPr>
          <p:cNvPr id="8" name="">
            <a:extLst xmlns:a="http://schemas.openxmlformats.org/drawingml/2006/main">
              <a:ext uri="{FF2B5EF4-FFF2-40B4-BE49-F238E27FC236}">
                <a16:creationId xmlns:a16="http://schemas.microsoft.com/office/drawing/2014/main" id="{61DCFD88-B6F8-44A3-B4F6-6C6F0D7841CA}"/>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2C1DD17-4CC8-419B-BBE5-87DFFAF7EC93}"/>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0" name="">
            <a:extLst xmlns:a="http://schemas.openxmlformats.org/drawingml/2006/main">
              <a:ext uri="{FF2B5EF4-FFF2-40B4-BE49-F238E27FC236}">
                <a16:creationId xmlns:a16="http://schemas.microsoft.com/office/drawing/2014/main" id="{A1D7A2B3-B1C0-4743-8773-2AAA093CE12A}"/>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042</a:t>
            </a:r>
          </a:p>
        </p:txBody>
      </p:sp>
    </p:spTree>
    <p:extLst>
      <p:ext uri="{BB962C8B-B14F-4D97-AF65-F5344CB8AC3E}">
        <p14:creationId xmlns:p14="http://schemas.microsoft.com/office/powerpoint/2010/main" val="1009654947"/>
      </p:ext>
    </p:extLst>
  </p:cSld>
</p:sld>
</file>

<file path=ppt/slides/slide43.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1EA86FF-3FEE-4F59-B1A4-D6E93210ADAE}"/>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3교시</a:t>
            </a:r>
          </a:p>
        </p:txBody>
      </p:sp>
      <p:sp>
        <p:nvSpPr>
          <p:cNvPr id="2" name="">
            <a:extLst xmlns:a="http://schemas.openxmlformats.org/drawingml/2006/main">
              <a:ext uri="{FF2B5EF4-FFF2-40B4-BE49-F238E27FC236}">
                <a16:creationId xmlns:a16="http://schemas.microsoft.com/office/drawing/2014/main" id="{33CFCF83-4D78-4BF1-9148-B13F8D9746AA}"/>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완성 예 · 평균 계산</a:t>
            </a:r>
          </a:p>
        </p:txBody>
      </p:sp>
      <p:sp>
        <p:nvSpPr>
          <p:cNvPr id="3" name="">
            <a:extLst xmlns:a="http://schemas.openxmlformats.org/drawingml/2006/main">
              <a:ext uri="{FF2B5EF4-FFF2-40B4-BE49-F238E27FC236}">
                <a16:creationId xmlns:a16="http://schemas.microsoft.com/office/drawing/2014/main" id="{33FF2E18-B0F8-4149-BB32-F120199F907D}"/>
              </a:ext>
            </a:extLst>
          </p:cNvPr>
          <p:cNvSpPr>
            <a:spLocks xmlns:a="http://schemas.openxmlformats.org/drawingml/2006/main" noGrp="1"/>
          </p:cNvSpPr>
          <p:nvPr/>
        </p:nvSpPr>
        <p:spPr>
          <a:xfrm xmlns:a="http://schemas.openxmlformats.org/drawingml/2006/main">
            <a:off x="609600" y="2714625"/>
            <a:ext cx="10972800" cy="2133600"/>
          </a:xfrm>
          <a:prstGeom xmlns:a="http://schemas.openxmlformats.org/drawingml/2006/main" prst="rect">
            <a:avLst/>
          </a:prstGeom>
          <a:solidFill xmlns:a="http://schemas.openxmlformats.org/drawingml/2006/main">
            <a:srgbClr val="0A0A0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6AD4801-04A6-4786-BCE9-4FC710E7A9A5}"/>
              </a:ext>
            </a:extLst>
          </p:cNvPr>
          <p:cNvSpPr>
            <a:spLocks xmlns:a="http://schemas.openxmlformats.org/drawingml/2006/main" noGrp="1"/>
          </p:cNvSpPr>
          <p:nvPr/>
        </p:nvSpPr>
        <p:spPr>
          <a:xfrm xmlns:a="http://schemas.openxmlformats.org/drawingml/2006/main">
            <a:off x="790575" y="29051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01</a:t>
            </a:r>
          </a:p>
        </p:txBody>
      </p:sp>
      <p:sp>
        <p:nvSpPr>
          <p:cNvPr id="5" name="">
            <a:extLst xmlns:a="http://schemas.openxmlformats.org/drawingml/2006/main">
              <a:ext uri="{FF2B5EF4-FFF2-40B4-BE49-F238E27FC236}">
                <a16:creationId xmlns:a16="http://schemas.microsoft.com/office/drawing/2014/main" id="{55381DBA-4A43-4F23-84A8-D99E574FE9E3}"/>
              </a:ext>
            </a:extLst>
          </p:cNvPr>
          <p:cNvSpPr>
            <a:spLocks xmlns:a="http://schemas.openxmlformats.org/drawingml/2006/main" noGrp="1"/>
          </p:cNvSpPr>
          <p:nvPr/>
        </p:nvSpPr>
        <p:spPr>
          <a:xfrm xmlns:a="http://schemas.openxmlformats.org/drawingml/2006/main">
            <a:off x="1390650" y="28670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total = 22.5 + 24.0 + 23.5</a:t>
            </a:r>
          </a:p>
        </p:txBody>
      </p:sp>
      <p:sp>
        <p:nvSpPr>
          <p:cNvPr id="6" name="">
            <a:extLst xmlns:a="http://schemas.openxmlformats.org/drawingml/2006/main">
              <a:ext uri="{FF2B5EF4-FFF2-40B4-BE49-F238E27FC236}">
                <a16:creationId xmlns:a16="http://schemas.microsoft.com/office/drawing/2014/main" id="{54E4DCB8-362C-4EB6-8DA8-019E0B88E7D1}"/>
              </a:ext>
            </a:extLst>
          </p:cNvPr>
          <p:cNvSpPr>
            <a:spLocks xmlns:a="http://schemas.openxmlformats.org/drawingml/2006/main" noGrp="1"/>
          </p:cNvSpPr>
          <p:nvPr/>
        </p:nvSpPr>
        <p:spPr>
          <a:xfrm xmlns:a="http://schemas.openxmlformats.org/drawingml/2006/main">
            <a:off x="790575" y="32480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02</a:t>
            </a:r>
          </a:p>
        </p:txBody>
      </p:sp>
      <p:sp>
        <p:nvSpPr>
          <p:cNvPr id="7" name="">
            <a:extLst xmlns:a="http://schemas.openxmlformats.org/drawingml/2006/main">
              <a:ext uri="{FF2B5EF4-FFF2-40B4-BE49-F238E27FC236}">
                <a16:creationId xmlns:a16="http://schemas.microsoft.com/office/drawing/2014/main" id="{51F11C34-B4E8-40B9-806F-02D660D74C64}"/>
              </a:ext>
            </a:extLst>
          </p:cNvPr>
          <p:cNvSpPr>
            <a:spLocks xmlns:a="http://schemas.openxmlformats.org/drawingml/2006/main" noGrp="1"/>
          </p:cNvSpPr>
          <p:nvPr/>
        </p:nvSpPr>
        <p:spPr>
          <a:xfrm xmlns:a="http://schemas.openxmlformats.org/drawingml/2006/main">
            <a:off x="1390650" y="32099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count = 3</a:t>
            </a:r>
          </a:p>
        </p:txBody>
      </p:sp>
      <p:sp>
        <p:nvSpPr>
          <p:cNvPr id="8" name="">
            <a:extLst xmlns:a="http://schemas.openxmlformats.org/drawingml/2006/main">
              <a:ext uri="{FF2B5EF4-FFF2-40B4-BE49-F238E27FC236}">
                <a16:creationId xmlns:a16="http://schemas.microsoft.com/office/drawing/2014/main" id="{3DD5E1CB-E80D-4025-BD83-45259A28A367}"/>
              </a:ext>
            </a:extLst>
          </p:cNvPr>
          <p:cNvSpPr>
            <a:spLocks xmlns:a="http://schemas.openxmlformats.org/drawingml/2006/main" noGrp="1"/>
          </p:cNvSpPr>
          <p:nvPr/>
        </p:nvSpPr>
        <p:spPr>
          <a:xfrm xmlns:a="http://schemas.openxmlformats.org/drawingml/2006/main">
            <a:off x="790575" y="35909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03</a:t>
            </a:r>
          </a:p>
        </p:txBody>
      </p:sp>
      <p:sp>
        <p:nvSpPr>
          <p:cNvPr id="9" name="">
            <a:extLst xmlns:a="http://schemas.openxmlformats.org/drawingml/2006/main">
              <a:ext uri="{FF2B5EF4-FFF2-40B4-BE49-F238E27FC236}">
                <a16:creationId xmlns:a16="http://schemas.microsoft.com/office/drawing/2014/main" id="{6202F5C5-F0C2-49D0-9E57-0EC2327900B5}"/>
              </a:ext>
            </a:extLst>
          </p:cNvPr>
          <p:cNvSpPr>
            <a:spLocks xmlns:a="http://schemas.openxmlformats.org/drawingml/2006/main" noGrp="1"/>
          </p:cNvSpPr>
          <p:nvPr/>
        </p:nvSpPr>
        <p:spPr>
          <a:xfrm xmlns:a="http://schemas.openxmlformats.org/drawingml/2006/main">
            <a:off x="1390650" y="35528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average = total / count</a:t>
            </a:r>
          </a:p>
        </p:txBody>
      </p:sp>
      <p:sp>
        <p:nvSpPr>
          <p:cNvPr id="10" name="">
            <a:extLst xmlns:a="http://schemas.openxmlformats.org/drawingml/2006/main">
              <a:ext uri="{FF2B5EF4-FFF2-40B4-BE49-F238E27FC236}">
                <a16:creationId xmlns:a16="http://schemas.microsoft.com/office/drawing/2014/main" id="{59767991-7E94-4F82-B8B1-E0A1BDE170D7}"/>
              </a:ext>
            </a:extLst>
          </p:cNvPr>
          <p:cNvSpPr>
            <a:spLocks xmlns:a="http://schemas.openxmlformats.org/drawingml/2006/main" noGrp="1"/>
          </p:cNvSpPr>
          <p:nvPr/>
        </p:nvSpPr>
        <p:spPr>
          <a:xfrm xmlns:a="http://schemas.openxmlformats.org/drawingml/2006/main">
            <a:off x="790575" y="39338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04</a:t>
            </a:r>
          </a:p>
        </p:txBody>
      </p:sp>
      <p:sp>
        <p:nvSpPr>
          <p:cNvPr id="11" name="">
            <a:extLst xmlns:a="http://schemas.openxmlformats.org/drawingml/2006/main">
              <a:ext uri="{FF2B5EF4-FFF2-40B4-BE49-F238E27FC236}">
                <a16:creationId xmlns:a16="http://schemas.microsoft.com/office/drawing/2014/main" id="{BA4BF81E-20CB-4F01-A2DF-05C2367DEB0E}"/>
              </a:ext>
            </a:extLst>
          </p:cNvPr>
          <p:cNvSpPr>
            <a:spLocks xmlns:a="http://schemas.openxmlformats.org/drawingml/2006/main" noGrp="1"/>
          </p:cNvSpPr>
          <p:nvPr/>
        </p:nvSpPr>
        <p:spPr>
          <a:xfrm xmlns:a="http://schemas.openxmlformats.org/drawingml/2006/main">
            <a:off x="1390650" y="38957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print(total)</a:t>
            </a:r>
          </a:p>
        </p:txBody>
      </p:sp>
      <p:sp>
        <p:nvSpPr>
          <p:cNvPr id="12" name="">
            <a:extLst xmlns:a="http://schemas.openxmlformats.org/drawingml/2006/main">
              <a:ext uri="{FF2B5EF4-FFF2-40B4-BE49-F238E27FC236}">
                <a16:creationId xmlns:a16="http://schemas.microsoft.com/office/drawing/2014/main" id="{B78CFAD0-084D-4AF9-A9B3-670FDF567E6D}"/>
              </a:ext>
            </a:extLst>
          </p:cNvPr>
          <p:cNvSpPr>
            <a:spLocks xmlns:a="http://schemas.openxmlformats.org/drawingml/2006/main" noGrp="1"/>
          </p:cNvSpPr>
          <p:nvPr/>
        </p:nvSpPr>
        <p:spPr>
          <a:xfrm xmlns:a="http://schemas.openxmlformats.org/drawingml/2006/main">
            <a:off x="790575" y="42767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05</a:t>
            </a:r>
          </a:p>
        </p:txBody>
      </p:sp>
      <p:sp>
        <p:nvSpPr>
          <p:cNvPr id="13" name="">
            <a:extLst xmlns:a="http://schemas.openxmlformats.org/drawingml/2006/main">
              <a:ext uri="{FF2B5EF4-FFF2-40B4-BE49-F238E27FC236}">
                <a16:creationId xmlns:a16="http://schemas.microsoft.com/office/drawing/2014/main" id="{7839A7AD-8801-4149-9CFB-D600558EC9DE}"/>
              </a:ext>
            </a:extLst>
          </p:cNvPr>
          <p:cNvSpPr>
            <a:spLocks xmlns:a="http://schemas.openxmlformats.org/drawingml/2006/main" noGrp="1"/>
          </p:cNvSpPr>
          <p:nvPr/>
        </p:nvSpPr>
        <p:spPr>
          <a:xfrm xmlns:a="http://schemas.openxmlformats.org/drawingml/2006/main">
            <a:off x="1390650" y="42386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print(round(average, 2))</a:t>
            </a:r>
          </a:p>
        </p:txBody>
      </p:sp>
      <p:sp>
        <p:nvSpPr>
          <p:cNvPr id="14" name="">
            <a:extLst xmlns:a="http://schemas.openxmlformats.org/drawingml/2006/main">
              <a:ext uri="{FF2B5EF4-FFF2-40B4-BE49-F238E27FC236}">
                <a16:creationId xmlns:a16="http://schemas.microsoft.com/office/drawing/2014/main" id="{65FC7D32-DC6A-40D3-9FC8-01427501CFB0}"/>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048149D-3AEA-4B3F-879E-492E1277EC3F}"/>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6" name="">
            <a:extLst xmlns:a="http://schemas.openxmlformats.org/drawingml/2006/main">
              <a:ext uri="{FF2B5EF4-FFF2-40B4-BE49-F238E27FC236}">
                <a16:creationId xmlns:a16="http://schemas.microsoft.com/office/drawing/2014/main" id="{FFF28350-8A83-448E-AFD7-BE98C25B94FE}"/>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043</a:t>
            </a:r>
          </a:p>
        </p:txBody>
      </p:sp>
    </p:spTree>
    <p:extLst>
      <p:ext uri="{BB962C8B-B14F-4D97-AF65-F5344CB8AC3E}">
        <p14:creationId xmlns:p14="http://schemas.microsoft.com/office/powerpoint/2010/main" val="1787886916"/>
      </p:ext>
    </p:extLst>
  </p:cSld>
</p:sld>
</file>

<file path=ppt/slides/slide44.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5BA171D-935E-4482-AE39-3B1244C76360}"/>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3교시</a:t>
            </a:r>
          </a:p>
        </p:txBody>
      </p:sp>
      <p:sp>
        <p:nvSpPr>
          <p:cNvPr id="2" name="">
            <a:extLst xmlns:a="http://schemas.openxmlformats.org/drawingml/2006/main">
              <a:ext uri="{FF2B5EF4-FFF2-40B4-BE49-F238E27FC236}">
                <a16:creationId xmlns:a16="http://schemas.microsoft.com/office/drawing/2014/main" id="{5FD5B0C5-233E-4E06-AD4F-E63CE9B193BE}"/>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평균의 계산 순서</a:t>
            </a:r>
          </a:p>
        </p:txBody>
      </p:sp>
      <p:graphicFrame>
        <p:nvGraphicFramePr>
          <p:cNvPr id="9" name=""/>
          <p:cNvGraphicFramePr/>
          <p:nvPr/>
        </p:nvGraphicFramePr>
        <p:xfrm>
          <a:off xmlns:a="http://schemas.openxmlformats.org/drawingml/2006/main" x="609600" y="2333625"/>
          <a:ext xmlns:a="http://schemas.openxmlformats.org/drawingml/2006/main" cx="10972800" cy="2933700"/>
        </p:xfrm>
        <a:graphic xmlns:a="http://schemas.openxmlformats.org/drawingml/2006/main">
          <a:graphicData uri="http://schemas.openxmlformats.org/drawingml/2006/table">
            <a:tbl>
              <a:tblPr firstRow="1" bandRow="0"/>
              <a:tblGrid>
                <a:gridCol w="6908800"/>
                <a:gridCol w="4064000"/>
              </a:tblGrid>
              <a:tr h="733425">
                <a:tc>
                  <a:txBody>
                    <a:bodyPr wrap="square"/>
                    <a:lstStyle/>
                    <a:p>
                      <a:pPr>
                        <a:lnSpc>
                          <a:spcPct val="94000"/>
                        </a:lnSpc>
                        <a:buNone/>
                      </a:pPr>
                      <a:r>
                        <a:rPr sz="2100" b="1">
                          <a:solidFill>
                            <a:srgbClr val="FFFFFF"/>
                          </a:solidFill>
                          <a:latin typeface="Noto Sans KR"/>
                          <a:ea typeface="Noto Sans KR"/>
                          <a:cs typeface="Noto Sans KR"/>
                        </a:rPr>
                        <a:t>계산</a:t>
                      </a:r>
                    </a:p>
                  </a:txBody>
                  <a:tcPr marL="171450" marR="114300" marT="47625" marB="47625" anchor="ctr">
                    <a:solidFill>
                      <a:srgbClr val="002FA7"/>
                    </a:solidFill>
                  </a:tcPr>
                </a:tc>
                <a:tc>
                  <a:txBody>
                    <a:bodyPr wrap="square"/>
                    <a:lstStyle/>
                    <a:p>
                      <a:pPr>
                        <a:lnSpc>
                          <a:spcPct val="94000"/>
                        </a:lnSpc>
                        <a:buNone/>
                      </a:pPr>
                      <a:r>
                        <a:rPr sz="2100" b="1">
                          <a:solidFill>
                            <a:srgbClr val="FFFFFF"/>
                          </a:solidFill>
                          <a:latin typeface="Noto Sans KR"/>
                          <a:ea typeface="Noto Sans KR"/>
                          <a:cs typeface="Noto Sans KR"/>
                        </a:rPr>
                        <a:t>결과</a:t>
                      </a:r>
                    </a:p>
                  </a:txBody>
                  <a:tcPr marL="171450" marR="114300" marT="47625" marB="47625" anchor="ctr">
                    <a:solidFill>
                      <a:srgbClr val="002FA7"/>
                    </a:solidFill>
                  </a:tcPr>
                </a:tc>
              </a:tr>
              <a:tr h="733425">
                <a:tc>
                  <a:txBody>
                    <a:bodyPr wrap="square"/>
                    <a:lstStyle/>
                    <a:p>
                      <a:pPr>
                        <a:lnSpc>
                          <a:spcPct val="94000"/>
                        </a:lnSpc>
                        <a:buNone/>
                      </a:pPr>
                      <a:r>
                        <a:rPr sz="2100" b="0">
                          <a:solidFill>
                            <a:srgbClr val="0A0A0A"/>
                          </a:solidFill>
                          <a:latin typeface="Noto Sans KR"/>
                          <a:ea typeface="Noto Sans KR"/>
                          <a:cs typeface="Noto Sans KR"/>
                        </a:rPr>
                        <a:t>22.5+24.0+23.5</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70.0</a:t>
                      </a:r>
                    </a:p>
                  </a:txBody>
                  <a:tcPr marL="171450" marR="114300" marT="47625" marB="47625" anchor="ctr">
                    <a:solidFill>
                      <a:srgbClr val="FAFAF8"/>
                    </a:solidFill>
                  </a:tcPr>
                </a:tc>
              </a:tr>
              <a:tr h="733425">
                <a:tc>
                  <a:txBody>
                    <a:bodyPr wrap="square"/>
                    <a:lstStyle/>
                    <a:p>
                      <a:pPr>
                        <a:lnSpc>
                          <a:spcPct val="94000"/>
                        </a:lnSpc>
                        <a:buNone/>
                      </a:pPr>
                      <a:r>
                        <a:rPr sz="2100" b="0">
                          <a:solidFill>
                            <a:srgbClr val="0A0A0A"/>
                          </a:solidFill>
                          <a:latin typeface="Noto Sans KR"/>
                          <a:ea typeface="Noto Sans KR"/>
                          <a:cs typeface="Noto Sans KR"/>
                        </a:rPr>
                        <a:t>70.0÷3</a:t>
                      </a:r>
                    </a:p>
                  </a:txBody>
                  <a:tcPr marL="171450" marR="114300" marT="47625" marB="47625" anchor="ctr">
                    <a:solidFill>
                      <a:srgbClr val="F0F0EB"/>
                    </a:solidFill>
                  </a:tcPr>
                </a:tc>
                <a:tc>
                  <a:txBody>
                    <a:bodyPr wrap="square"/>
                    <a:lstStyle/>
                    <a:p>
                      <a:pPr>
                        <a:lnSpc>
                          <a:spcPct val="94000"/>
                        </a:lnSpc>
                        <a:buNone/>
                      </a:pPr>
                      <a:r>
                        <a:rPr sz="2100" b="0">
                          <a:solidFill>
                            <a:srgbClr val="0A0A0A"/>
                          </a:solidFill>
                          <a:latin typeface="Noto Sans KR"/>
                          <a:ea typeface="Noto Sans KR"/>
                          <a:cs typeface="Noto Sans KR"/>
                        </a:rPr>
                        <a:t>23.333…</a:t>
                      </a:r>
                    </a:p>
                  </a:txBody>
                  <a:tcPr marL="171450" marR="114300" marT="47625" marB="47625" anchor="ctr">
                    <a:solidFill>
                      <a:srgbClr val="F0F0EB"/>
                    </a:solidFill>
                  </a:tcPr>
                </a:tc>
              </a:tr>
              <a:tr h="733425">
                <a:tc>
                  <a:txBody>
                    <a:bodyPr wrap="square"/>
                    <a:lstStyle/>
                    <a:p>
                      <a:pPr>
                        <a:lnSpc>
                          <a:spcPct val="94000"/>
                        </a:lnSpc>
                        <a:buNone/>
                      </a:pPr>
                      <a:r>
                        <a:rPr sz="2100" b="0">
                          <a:solidFill>
                            <a:srgbClr val="0A0A0A"/>
                          </a:solidFill>
                          <a:latin typeface="Noto Sans KR"/>
                          <a:ea typeface="Noto Sans KR"/>
                          <a:cs typeface="Noto Sans KR"/>
                        </a:rPr>
                        <a:t>소수 둘째 자리로 반올림</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23.33</a:t>
                      </a:r>
                    </a:p>
                  </a:txBody>
                  <a:tcPr marL="171450" marR="114300" marT="47625" marB="47625" anchor="ctr">
                    <a:solidFill>
                      <a:srgbClr val="FAFAF8"/>
                    </a:solidFill>
                  </a:tcPr>
                </a:tc>
              </a:tr>
            </a:tbl>
          </a:graphicData>
        </a:graphic>
      </p:graphicFrame>
      <p:sp>
        <p:nvSpPr>
          <p:cNvPr id="4" name="">
            <a:extLst xmlns:a="http://schemas.openxmlformats.org/drawingml/2006/main">
              <a:ext uri="{FF2B5EF4-FFF2-40B4-BE49-F238E27FC236}">
                <a16:creationId xmlns:a16="http://schemas.microsoft.com/office/drawing/2014/main" id="{C5D5CAB0-83C6-486C-BA6E-F94ACEA43846}"/>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8A0BA9C-03EA-4F06-988F-8566AA046701}"/>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6" name="">
            <a:extLst xmlns:a="http://schemas.openxmlformats.org/drawingml/2006/main">
              <a:ext uri="{FF2B5EF4-FFF2-40B4-BE49-F238E27FC236}">
                <a16:creationId xmlns:a16="http://schemas.microsoft.com/office/drawing/2014/main" id="{7A72BC0A-CCFD-4E16-9C1E-07E8B4C078A8}"/>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044</a:t>
            </a:r>
          </a:p>
        </p:txBody>
      </p:sp>
    </p:spTree>
    <p:extLst>
      <p:ext uri="{BB962C8B-B14F-4D97-AF65-F5344CB8AC3E}">
        <p14:creationId xmlns:p14="http://schemas.microsoft.com/office/powerpoint/2010/main" val="1919671112"/>
      </p:ext>
    </p:extLst>
  </p:cSld>
</p:sld>
</file>

<file path=ppt/slides/slide45.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21D7586-FA2B-4F23-8D31-75D5F37B4E15}"/>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3교시</a:t>
            </a:r>
          </a:p>
        </p:txBody>
      </p:sp>
      <p:sp>
        <p:nvSpPr>
          <p:cNvPr id="2" name="">
            <a:extLst xmlns:a="http://schemas.openxmlformats.org/drawingml/2006/main">
              <a:ext uri="{FF2B5EF4-FFF2-40B4-BE49-F238E27FC236}">
                <a16:creationId xmlns:a16="http://schemas.microsoft.com/office/drawing/2014/main" id="{766DB6D4-7F7B-4817-A2B1-724B4784D2EB}"/>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평균을 낼 대상부터 정합니다</a:t>
            </a:r>
          </a:p>
        </p:txBody>
      </p:sp>
      <p:sp>
        <p:nvSpPr>
          <p:cNvPr id="3" name="">
            <a:extLst xmlns:a="http://schemas.openxmlformats.org/drawingml/2006/main">
              <a:ext uri="{FF2B5EF4-FFF2-40B4-BE49-F238E27FC236}">
                <a16:creationId xmlns:a16="http://schemas.microsoft.com/office/drawing/2014/main" id="{8ED8ACF3-8C09-4117-80DD-C3F5D18693EF}"/>
              </a:ext>
            </a:extLst>
          </p:cNvPr>
          <p:cNvSpPr>
            <a:spLocks xmlns:a="http://schemas.openxmlformats.org/drawingml/2006/main" noGrp="1"/>
          </p:cNvSpPr>
          <p:nvPr/>
        </p:nvSpPr>
        <p:spPr>
          <a:xfrm xmlns:a="http://schemas.openxmlformats.org/drawingml/2006/main">
            <a:off x="6086475" y="2514600"/>
            <a:ext cx="9525" cy="189547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9A97BF6-5DAD-4F2E-833A-B3E44834AA8B}"/>
              </a:ext>
            </a:extLst>
          </p:cNvPr>
          <p:cNvSpPr>
            <a:spLocks xmlns:a="http://schemas.openxmlformats.org/drawingml/2006/main" noGrp="1"/>
          </p:cNvSpPr>
          <p:nvPr/>
        </p:nvSpPr>
        <p:spPr>
          <a:xfrm xmlns:a="http://schemas.openxmlformats.org/drawingml/2006/main">
            <a:off x="609600" y="2667000"/>
            <a:ext cx="51435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0A0A0A"/>
                </a:solidFill>
                <a:latin typeface="Noto Sans KR"/>
                <a:ea typeface="Noto Sans KR"/>
                <a:cs typeface="Noto Sans KR"/>
              </a:defRPr>
            </a:pPr>
            <a:r>
              <a:rPr b="1">
                <a:solidFill>
                  <a:srgbClr val="002FA7"/>
                </a:solidFill>
              </a:rPr>
              <a:t>실제 수치 0</a:t>
            </a:r>
            <a:r>
              <a:t>은 포함합니다.</a:t>
            </a:r>
          </a:p>
        </p:txBody>
      </p:sp>
      <p:sp>
        <p:nvSpPr>
          <p:cNvPr id="5" name="">
            <a:extLst xmlns:a="http://schemas.openxmlformats.org/drawingml/2006/main">
              <a:ext uri="{FF2B5EF4-FFF2-40B4-BE49-F238E27FC236}">
                <a16:creationId xmlns:a16="http://schemas.microsoft.com/office/drawing/2014/main" id="{CC3AD278-E147-4EC9-89C0-997ED9ECDF2A}"/>
              </a:ext>
            </a:extLst>
          </p:cNvPr>
          <p:cNvSpPr>
            <a:spLocks xmlns:a="http://schemas.openxmlformats.org/drawingml/2006/main" noGrp="1"/>
          </p:cNvSpPr>
          <p:nvPr/>
        </p:nvSpPr>
        <p:spPr>
          <a:xfrm xmlns:a="http://schemas.openxmlformats.org/drawingml/2006/main">
            <a:off x="6400800" y="2667000"/>
            <a:ext cx="51435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0A0A0A"/>
                </a:solidFill>
                <a:latin typeface="Noto Sans KR"/>
                <a:ea typeface="Noto Sans KR"/>
                <a:cs typeface="Noto Sans KR"/>
              </a:defRPr>
            </a:pPr>
            <a:r>
              <a:t>미측정은 임의의 0으로 넣지 않습니다.</a:t>
            </a:r>
          </a:p>
        </p:txBody>
      </p:sp>
      <p:sp>
        <p:nvSpPr>
          <p:cNvPr id="6" name="">
            <a:extLst xmlns:a="http://schemas.openxmlformats.org/drawingml/2006/main">
              <a:ext uri="{FF2B5EF4-FFF2-40B4-BE49-F238E27FC236}">
                <a16:creationId xmlns:a16="http://schemas.microsoft.com/office/drawing/2014/main" id="{27EE7B23-9F0C-4EEE-AA27-38C90B04877D}"/>
              </a:ext>
            </a:extLst>
          </p:cNvPr>
          <p:cNvSpPr>
            <a:spLocks xmlns:a="http://schemas.openxmlformats.org/drawingml/2006/main" noGrp="1"/>
          </p:cNvSpPr>
          <p:nvPr/>
        </p:nvSpPr>
        <p:spPr>
          <a:xfrm xmlns:a="http://schemas.openxmlformats.org/drawingml/2006/main">
            <a:off x="609600" y="4552950"/>
            <a:ext cx="10972800" cy="9525"/>
          </a:xfrm>
          <a:prstGeom xmlns:a="http://schemas.openxmlformats.org/drawingml/2006/main" prst="rect">
            <a:avLst/>
          </a:prstGeom>
          <a:solidFill xmlns:a="http://schemas.openxmlformats.org/drawingml/2006/main">
            <a:srgbClr val="002FA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E7698BC-0BF6-4E16-B995-D89C8EE4D6E3}"/>
              </a:ext>
            </a:extLst>
          </p:cNvPr>
          <p:cNvSpPr>
            <a:spLocks xmlns:a="http://schemas.openxmlformats.org/drawingml/2006/main" noGrp="1"/>
          </p:cNvSpPr>
          <p:nvPr/>
        </p:nvSpPr>
        <p:spPr>
          <a:xfrm xmlns:a="http://schemas.openxmlformats.org/drawingml/2006/main">
            <a:off x="609600" y="48101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0A0A0A"/>
                </a:solidFill>
                <a:latin typeface="Noto Sans KR"/>
                <a:ea typeface="Noto Sans KR"/>
                <a:cs typeface="Noto Sans KR"/>
              </a:defRPr>
            </a:pPr>
            <a:r>
              <a:t>같은 단위와 의미의 값을 모읍니다.</a:t>
            </a:r>
          </a:p>
        </p:txBody>
      </p:sp>
      <p:sp>
        <p:nvSpPr>
          <p:cNvPr id="8" name="">
            <a:extLst xmlns:a="http://schemas.openxmlformats.org/drawingml/2006/main">
              <a:ext uri="{FF2B5EF4-FFF2-40B4-BE49-F238E27FC236}">
                <a16:creationId xmlns:a16="http://schemas.microsoft.com/office/drawing/2014/main" id="{A019BE5F-C05D-4F76-B99E-BE6D99DC5980}"/>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1C64932-C3A8-4689-922A-DE236F3C8CE2}"/>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0" name="">
            <a:extLst xmlns:a="http://schemas.openxmlformats.org/drawingml/2006/main">
              <a:ext uri="{FF2B5EF4-FFF2-40B4-BE49-F238E27FC236}">
                <a16:creationId xmlns:a16="http://schemas.microsoft.com/office/drawing/2014/main" id="{4302D125-CAF2-461E-8238-BD4C2615CD74}"/>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045</a:t>
            </a:r>
          </a:p>
        </p:txBody>
      </p:sp>
    </p:spTree>
    <p:extLst>
      <p:ext uri="{BB962C8B-B14F-4D97-AF65-F5344CB8AC3E}">
        <p14:creationId xmlns:p14="http://schemas.microsoft.com/office/powerpoint/2010/main" val="1704261370"/>
      </p:ext>
    </p:extLst>
  </p:cSld>
</p:sld>
</file>

<file path=ppt/slides/slide46.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E31A2BC-BBAB-4900-96EA-912788B86E58}"/>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3교시</a:t>
            </a:r>
          </a:p>
        </p:txBody>
      </p:sp>
      <p:sp>
        <p:nvSpPr>
          <p:cNvPr id="2" name="">
            <a:extLst xmlns:a="http://schemas.openxmlformats.org/drawingml/2006/main">
              <a:ext uri="{FF2B5EF4-FFF2-40B4-BE49-F238E27FC236}">
                <a16:creationId xmlns:a16="http://schemas.microsoft.com/office/drawing/2014/main" id="{62A47A7D-F2CD-43AA-9B54-06FAE05059C0}"/>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새 실무 사례</a:t>
            </a:r>
          </a:p>
        </p:txBody>
      </p:sp>
      <p:sp>
        <p:nvSpPr>
          <p:cNvPr id="3" name="">
            <a:extLst xmlns:a="http://schemas.openxmlformats.org/drawingml/2006/main">
              <a:ext uri="{FF2B5EF4-FFF2-40B4-BE49-F238E27FC236}">
                <a16:creationId xmlns:a16="http://schemas.microsoft.com/office/drawing/2014/main" id="{39A0D51A-C454-4828-97C7-F7EEF6EF80FF}"/>
              </a:ext>
            </a:extLst>
          </p:cNvPr>
          <p:cNvSpPr>
            <a:spLocks xmlns:a="http://schemas.openxmlformats.org/drawingml/2006/main" noGrp="1"/>
          </p:cNvSpPr>
          <p:nvPr/>
        </p:nvSpPr>
        <p:spPr>
          <a:xfrm xmlns:a="http://schemas.openxmlformats.org/drawingml/2006/main">
            <a:off x="609600" y="2543175"/>
            <a:ext cx="109728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0">
                <a:solidFill>
                  <a:srgbClr val="0A0A0A"/>
                </a:solidFill>
                <a:latin typeface="Noto Sans KR"/>
                <a:ea typeface="Noto Sans KR"/>
                <a:cs typeface="Noto Sans KR"/>
              </a:defRPr>
            </a:pPr>
            <a:r>
              <a:rPr b="1">
                <a:solidFill>
                  <a:srgbClr val="002FA7"/>
                </a:solidFill>
              </a:rPr>
              <a:t>상품번호 0012</a:t>
            </a:r>
            <a:r>
              <a:t>와 무게 "2.5"를 함께 받았습니다.</a:t>
            </a:r>
          </a:p>
        </p:txBody>
      </p:sp>
      <p:sp>
        <p:nvSpPr>
          <p:cNvPr id="4" name="">
            <a:extLst xmlns:a="http://schemas.openxmlformats.org/drawingml/2006/main">
              <a:ext uri="{FF2B5EF4-FFF2-40B4-BE49-F238E27FC236}">
                <a16:creationId xmlns:a16="http://schemas.microsoft.com/office/drawing/2014/main" id="{B1B8A8D6-2B51-46D4-A3EB-360208C69C91}"/>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BBC2CB4-2027-4AE6-B1F3-B81718D8D955}"/>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6" name="">
            <a:extLst xmlns:a="http://schemas.openxmlformats.org/drawingml/2006/main">
              <a:ext uri="{FF2B5EF4-FFF2-40B4-BE49-F238E27FC236}">
                <a16:creationId xmlns:a16="http://schemas.microsoft.com/office/drawing/2014/main" id="{9C04B05E-5100-4DAA-9AD0-2B1BE050A6D9}"/>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046</a:t>
            </a:r>
          </a:p>
        </p:txBody>
      </p:sp>
    </p:spTree>
    <p:extLst>
      <p:ext uri="{BB962C8B-B14F-4D97-AF65-F5344CB8AC3E}">
        <p14:creationId xmlns:p14="http://schemas.microsoft.com/office/powerpoint/2010/main" val="1609916559"/>
      </p:ext>
    </p:extLst>
  </p:cSld>
</p:sld>
</file>

<file path=ppt/slides/slide47.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EACC6BE-91EB-4C5C-A6D0-251B0D3CA724}"/>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3교시</a:t>
            </a:r>
          </a:p>
        </p:txBody>
      </p:sp>
      <p:sp>
        <p:nvSpPr>
          <p:cNvPr id="2" name="">
            <a:extLst xmlns:a="http://schemas.openxmlformats.org/drawingml/2006/main">
              <a:ext uri="{FF2B5EF4-FFF2-40B4-BE49-F238E27FC236}">
                <a16:creationId xmlns:a16="http://schemas.microsoft.com/office/drawing/2014/main" id="{8B5CB41A-ADB8-4052-889A-F9A689F84B77}"/>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판단을 따라가 보기</a:t>
            </a:r>
          </a:p>
        </p:txBody>
      </p:sp>
      <p:graphicFrame>
        <p:nvGraphicFramePr>
          <p:cNvPr id="9" name=""/>
          <p:cNvGraphicFramePr/>
          <p:nvPr/>
        </p:nvGraphicFramePr>
        <p:xfrm>
          <a:off xmlns:a="http://schemas.openxmlformats.org/drawingml/2006/main" x="609600" y="2333625"/>
          <a:ext xmlns:a="http://schemas.openxmlformats.org/drawingml/2006/main" cx="10972800" cy="2933700"/>
        </p:xfrm>
        <a:graphic xmlns:a="http://schemas.openxmlformats.org/drawingml/2006/main">
          <a:graphicData uri="http://schemas.openxmlformats.org/drawingml/2006/table">
            <a:tbl>
              <a:tblPr firstRow="1" bandRow="0"/>
              <a:tblGrid>
                <a:gridCol w="2400300"/>
                <a:gridCol w="5486400"/>
                <a:gridCol w="3086100"/>
              </a:tblGrid>
              <a:tr h="733425">
                <a:tc>
                  <a:txBody>
                    <a:bodyPr wrap="square"/>
                    <a:lstStyle/>
                    <a:p>
                      <a:pPr>
                        <a:lnSpc>
                          <a:spcPct val="94000"/>
                        </a:lnSpc>
                        <a:buNone/>
                      </a:pPr>
                      <a:r>
                        <a:rPr sz="2100" b="1">
                          <a:solidFill>
                            <a:srgbClr val="FFFFFF"/>
                          </a:solidFill>
                          <a:latin typeface="Noto Sans KR"/>
                          <a:ea typeface="Noto Sans KR"/>
                          <a:cs typeface="Noto Sans KR"/>
                        </a:rPr>
                        <a:t>항목</a:t>
                      </a:r>
                    </a:p>
                  </a:txBody>
                  <a:tcPr marL="171450" marR="114300" marT="47625" marB="47625" anchor="ctr">
                    <a:solidFill>
                      <a:srgbClr val="002FA7"/>
                    </a:solidFill>
                  </a:tcPr>
                </a:tc>
                <a:tc>
                  <a:txBody>
                    <a:bodyPr wrap="square"/>
                    <a:lstStyle/>
                    <a:p>
                      <a:pPr>
                        <a:lnSpc>
                          <a:spcPct val="94000"/>
                        </a:lnSpc>
                        <a:buNone/>
                      </a:pPr>
                      <a:r>
                        <a:rPr sz="2100" b="1">
                          <a:solidFill>
                            <a:srgbClr val="FFFFFF"/>
                          </a:solidFill>
                          <a:latin typeface="Noto Sans KR"/>
                          <a:ea typeface="Noto Sans KR"/>
                          <a:cs typeface="Noto Sans KR"/>
                        </a:rPr>
                        <a:t>처리</a:t>
                      </a:r>
                    </a:p>
                  </a:txBody>
                  <a:tcPr marL="171450" marR="114300" marT="47625" marB="47625" anchor="ctr">
                    <a:solidFill>
                      <a:srgbClr val="002FA7"/>
                    </a:solidFill>
                  </a:tcPr>
                </a:tc>
                <a:tc>
                  <a:txBody>
                    <a:bodyPr wrap="square"/>
                    <a:lstStyle/>
                    <a:p>
                      <a:pPr>
                        <a:lnSpc>
                          <a:spcPct val="94000"/>
                        </a:lnSpc>
                        <a:buNone/>
                      </a:pPr>
                      <a:r>
                        <a:rPr sz="2100" b="1">
                          <a:solidFill>
                            <a:srgbClr val="FFFFFF"/>
                          </a:solidFill>
                          <a:latin typeface="Noto Sans KR"/>
                          <a:ea typeface="Noto Sans KR"/>
                          <a:cs typeface="Noto Sans KR"/>
                        </a:rPr>
                        <a:t>결과</a:t>
                      </a:r>
                    </a:p>
                  </a:txBody>
                  <a:tcPr marL="171450" marR="114300" marT="47625" marB="47625" anchor="ctr">
                    <a:solidFill>
                      <a:srgbClr val="002FA7"/>
                    </a:solidFill>
                  </a:tcPr>
                </a:tc>
              </a:tr>
              <a:tr h="733425">
                <a:tc>
                  <a:txBody>
                    <a:bodyPr wrap="square"/>
                    <a:lstStyle/>
                    <a:p>
                      <a:pPr>
                        <a:lnSpc>
                          <a:spcPct val="94000"/>
                        </a:lnSpc>
                        <a:buNone/>
                      </a:pPr>
                      <a:r>
                        <a:rPr sz="2100" b="0">
                          <a:solidFill>
                            <a:srgbClr val="0A0A0A"/>
                          </a:solidFill>
                          <a:latin typeface="Noto Sans KR"/>
                          <a:ea typeface="Noto Sans KR"/>
                          <a:cs typeface="Noto Sans KR"/>
                        </a:rPr>
                        <a:t>상품번호</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문자열 유지</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앞 0 보존</a:t>
                      </a:r>
                    </a:p>
                  </a:txBody>
                  <a:tcPr marL="171450" marR="114300" marT="47625" marB="47625" anchor="ctr">
                    <a:solidFill>
                      <a:srgbClr val="FAFAF8"/>
                    </a:solidFill>
                  </a:tcPr>
                </a:tc>
              </a:tr>
              <a:tr h="733425">
                <a:tc>
                  <a:txBody>
                    <a:bodyPr wrap="square"/>
                    <a:lstStyle/>
                    <a:p>
                      <a:pPr>
                        <a:lnSpc>
                          <a:spcPct val="94000"/>
                        </a:lnSpc>
                        <a:buNone/>
                      </a:pPr>
                      <a:r>
                        <a:rPr sz="2100" b="0">
                          <a:solidFill>
                            <a:srgbClr val="0A0A0A"/>
                          </a:solidFill>
                          <a:latin typeface="Noto Sans KR"/>
                          <a:ea typeface="Noto Sans KR"/>
                          <a:cs typeface="Noto Sans KR"/>
                        </a:rPr>
                        <a:t>무게</a:t>
                      </a:r>
                    </a:p>
                  </a:txBody>
                  <a:tcPr marL="171450" marR="114300" marT="47625" marB="47625" anchor="ctr">
                    <a:solidFill>
                      <a:srgbClr val="F0F0EB"/>
                    </a:solidFill>
                  </a:tcPr>
                </a:tc>
                <a:tc>
                  <a:txBody>
                    <a:bodyPr wrap="square"/>
                    <a:lstStyle/>
                    <a:p>
                      <a:pPr>
                        <a:lnSpc>
                          <a:spcPct val="94000"/>
                        </a:lnSpc>
                        <a:buNone/>
                      </a:pPr>
                      <a:r>
                        <a:rPr sz="2100" b="0">
                          <a:solidFill>
                            <a:srgbClr val="0A0A0A"/>
                          </a:solidFill>
                          <a:latin typeface="Noto Sans KR"/>
                          <a:ea typeface="Noto Sans KR"/>
                          <a:cs typeface="Noto Sans KR"/>
                        </a:rPr>
                        <a:t>실수 해석</a:t>
                      </a:r>
                    </a:p>
                  </a:txBody>
                  <a:tcPr marL="171450" marR="114300" marT="47625" marB="47625" anchor="ctr">
                    <a:solidFill>
                      <a:srgbClr val="F0F0EB"/>
                    </a:solidFill>
                  </a:tcPr>
                </a:tc>
                <a:tc>
                  <a:txBody>
                    <a:bodyPr wrap="square"/>
                    <a:lstStyle/>
                    <a:p>
                      <a:pPr>
                        <a:lnSpc>
                          <a:spcPct val="94000"/>
                        </a:lnSpc>
                        <a:buNone/>
                      </a:pPr>
                      <a:r>
                        <a:rPr sz="2100" b="0">
                          <a:solidFill>
                            <a:srgbClr val="0A0A0A"/>
                          </a:solidFill>
                          <a:latin typeface="Noto Sans KR"/>
                          <a:ea typeface="Noto Sans KR"/>
                          <a:cs typeface="Noto Sans KR"/>
                        </a:rPr>
                        <a:t>2.5kg</a:t>
                      </a:r>
                    </a:p>
                  </a:txBody>
                  <a:tcPr marL="171450" marR="114300" marT="47625" marB="47625" anchor="ctr">
                    <a:solidFill>
                      <a:srgbClr val="F0F0EB"/>
                    </a:solidFill>
                  </a:tcPr>
                </a:tc>
              </a:tr>
              <a:tr h="733425">
                <a:tc>
                  <a:txBody>
                    <a:bodyPr wrap="square"/>
                    <a:lstStyle/>
                    <a:p>
                      <a:pPr>
                        <a:lnSpc>
                          <a:spcPct val="94000"/>
                        </a:lnSpc>
                        <a:buNone/>
                      </a:pPr>
                      <a:r>
                        <a:rPr sz="2100" b="0">
                          <a:solidFill>
                            <a:srgbClr val="0A0A0A"/>
                          </a:solidFill>
                          <a:latin typeface="Noto Sans KR"/>
                          <a:ea typeface="Noto Sans KR"/>
                          <a:cs typeface="Noto Sans KR"/>
                        </a:rPr>
                        <a:t>운송비</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2.5×2000+1000</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6000원</a:t>
                      </a:r>
                    </a:p>
                  </a:txBody>
                  <a:tcPr marL="171450" marR="114300" marT="47625" marB="47625" anchor="ctr">
                    <a:solidFill>
                      <a:srgbClr val="FAFAF8"/>
                    </a:solidFill>
                  </a:tcPr>
                </a:tc>
              </a:tr>
            </a:tbl>
          </a:graphicData>
        </a:graphic>
      </p:graphicFrame>
      <p:sp>
        <p:nvSpPr>
          <p:cNvPr id="4" name="">
            <a:extLst xmlns:a="http://schemas.openxmlformats.org/drawingml/2006/main">
              <a:ext uri="{FF2B5EF4-FFF2-40B4-BE49-F238E27FC236}">
                <a16:creationId xmlns:a16="http://schemas.microsoft.com/office/drawing/2014/main" id="{C00F6C46-0FB9-44C8-8E90-7B7B6101EFB1}"/>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9D6961C-F13F-47D3-ADFE-39C656F18C2A}"/>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6" name="">
            <a:extLst xmlns:a="http://schemas.openxmlformats.org/drawingml/2006/main">
              <a:ext uri="{FF2B5EF4-FFF2-40B4-BE49-F238E27FC236}">
                <a16:creationId xmlns:a16="http://schemas.microsoft.com/office/drawing/2014/main" id="{971A6D08-8056-4A09-892F-76C16312C013}"/>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047</a:t>
            </a:r>
          </a:p>
        </p:txBody>
      </p:sp>
    </p:spTree>
    <p:extLst>
      <p:ext uri="{BB962C8B-B14F-4D97-AF65-F5344CB8AC3E}">
        <p14:creationId xmlns:p14="http://schemas.microsoft.com/office/powerpoint/2010/main" val="47099505"/>
      </p:ext>
    </p:extLst>
  </p:cSld>
</p:sld>
</file>

<file path=ppt/slides/slide48.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2419C19-0CFB-4704-B8B3-EE4B7016FA26}"/>
              </a:ext>
            </a:extLst>
          </p:cNvPr>
          <p:cNvSpPr>
            <a:spLocks xmlns:a="http://schemas.openxmlformats.org/drawingml/2006/main" noGrp="1"/>
          </p:cNvSpPr>
          <p:nvPr/>
        </p:nvSpPr>
        <p:spPr>
          <a:xfrm xmlns:a="http://schemas.openxmlformats.org/drawingml/2006/main">
            <a:off x="609600" y="390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BACBFA"/>
                </a:solidFill>
                <a:latin typeface="Noto Sans KR"/>
                <a:ea typeface="Noto Sans KR"/>
                <a:cs typeface="Noto Sans KR"/>
              </a:defRPr>
            </a:pPr>
            <a:r>
              <a:t>3교시  /  직접 생각하기</a:t>
            </a:r>
          </a:p>
        </p:txBody>
      </p:sp>
      <p:sp>
        <p:nvSpPr>
          <p:cNvPr id="2" name="">
            <a:extLst xmlns:a="http://schemas.openxmlformats.org/drawingml/2006/main">
              <a:ext uri="{FF2B5EF4-FFF2-40B4-BE49-F238E27FC236}">
                <a16:creationId xmlns:a16="http://schemas.microsoft.com/office/drawing/2014/main" id="{4B61AC76-B726-4D8A-9EE3-5C9383923A74}"/>
              </a:ext>
            </a:extLst>
          </p:cNvPr>
          <p:cNvSpPr>
            <a:spLocks xmlns:a="http://schemas.openxmlformats.org/drawingml/2006/main" noGrp="1"/>
          </p:cNvSpPr>
          <p:nvPr/>
        </p:nvSpPr>
        <p:spPr>
          <a:xfrm xmlns:a="http://schemas.openxmlformats.org/drawingml/2006/main">
            <a:off x="609600" y="1123950"/>
            <a:ext cx="109728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0">
                <a:solidFill>
                  <a:srgbClr val="FFFFFF"/>
                </a:solidFill>
                <a:latin typeface="Noto Sans KR"/>
                <a:ea typeface="Noto Sans KR"/>
                <a:cs typeface="Noto Sans KR"/>
              </a:defRPr>
            </a:pPr>
            <a:r>
              <a:t>추가 복습 · 새 문제</a:t>
            </a:r>
          </a:p>
        </p:txBody>
      </p:sp>
      <p:sp>
        <p:nvSpPr>
          <p:cNvPr id="3" name="">
            <a:extLst xmlns:a="http://schemas.openxmlformats.org/drawingml/2006/main">
              <a:ext uri="{FF2B5EF4-FFF2-40B4-BE49-F238E27FC236}">
                <a16:creationId xmlns:a16="http://schemas.microsoft.com/office/drawing/2014/main" id="{52E64130-646B-4A74-848B-50D46CC96AB8}"/>
              </a:ext>
            </a:extLst>
          </p:cNvPr>
          <p:cNvSpPr>
            <a:spLocks xmlns:a="http://schemas.openxmlformats.org/drawingml/2006/main" noGrp="1"/>
          </p:cNvSpPr>
          <p:nvPr/>
        </p:nvSpPr>
        <p:spPr>
          <a:xfrm xmlns:a="http://schemas.openxmlformats.org/drawingml/2006/main">
            <a:off x="609600" y="2800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추가 복습: 주문번호 0009, 단가 "1500"</a:t>
            </a:r>
          </a:p>
        </p:txBody>
      </p:sp>
      <p:sp>
        <p:nvSpPr>
          <p:cNvPr id="4" name="">
            <a:extLst xmlns:a="http://schemas.openxmlformats.org/drawingml/2006/main">
              <a:ext uri="{FF2B5EF4-FFF2-40B4-BE49-F238E27FC236}">
                <a16:creationId xmlns:a16="http://schemas.microsoft.com/office/drawing/2014/main" id="{A56F7149-3AA0-4CA2-8737-3FD7D2B5232D}"/>
              </a:ext>
            </a:extLst>
          </p:cNvPr>
          <p:cNvSpPr>
            <a:spLocks xmlns:a="http://schemas.openxmlformats.org/drawingml/2006/main" noGrp="1"/>
          </p:cNvSpPr>
          <p:nvPr/>
        </p:nvSpPr>
        <p:spPr>
          <a:xfrm xmlns:a="http://schemas.openxmlformats.org/drawingml/2006/main">
            <a:off x="609600" y="38671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수량 "3", 배송비 2000원입니다.</a:t>
            </a:r>
          </a:p>
        </p:txBody>
      </p:sp>
      <p:sp>
        <p:nvSpPr>
          <p:cNvPr id="5" name="">
            <a:extLst xmlns:a="http://schemas.openxmlformats.org/drawingml/2006/main">
              <a:ext uri="{FF2B5EF4-FFF2-40B4-BE49-F238E27FC236}">
                <a16:creationId xmlns:a16="http://schemas.microsoft.com/office/drawing/2014/main" id="{73250A5B-CCCB-462A-BED7-6DE9AD5D2FD3}"/>
              </a:ext>
            </a:extLst>
          </p:cNvPr>
          <p:cNvSpPr>
            <a:spLocks xmlns:a="http://schemas.openxmlformats.org/drawingml/2006/main" noGrp="1"/>
          </p:cNvSpPr>
          <p:nvPr/>
        </p:nvSpPr>
        <p:spPr>
          <a:xfrm xmlns:a="http://schemas.openxmlformats.org/drawingml/2006/main">
            <a:off x="609600" y="49339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종류와 </a:t>
            </a:r>
            <a:r>
              <a:rPr b="1">
                <a:solidFill>
                  <a:srgbClr val="BACBFA"/>
                </a:solidFill>
              </a:rPr>
              <a:t>상품 총액·최종액</a:t>
            </a:r>
            <a:r>
              <a:t>을 적으세요.</a:t>
            </a:r>
          </a:p>
        </p:txBody>
      </p:sp>
      <p:sp>
        <p:nvSpPr>
          <p:cNvPr id="6" name="">
            <a:extLst xmlns:a="http://schemas.openxmlformats.org/drawingml/2006/main">
              <a:ext uri="{FF2B5EF4-FFF2-40B4-BE49-F238E27FC236}">
                <a16:creationId xmlns:a16="http://schemas.microsoft.com/office/drawing/2014/main" id="{C86AA12A-F109-429E-85F5-F65424DA81D2}"/>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19D7103-2DD2-4113-ABEF-D6068871F4CA}"/>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10/14  피지컬AI</a:t>
            </a:r>
          </a:p>
        </p:txBody>
      </p:sp>
      <p:sp>
        <p:nvSpPr>
          <p:cNvPr id="8" name="">
            <a:extLst xmlns:a="http://schemas.openxmlformats.org/drawingml/2006/main">
              <a:ext uri="{FF2B5EF4-FFF2-40B4-BE49-F238E27FC236}">
                <a16:creationId xmlns:a16="http://schemas.microsoft.com/office/drawing/2014/main" id="{E56F2E07-2C9A-4BA5-A4C1-666564F1F701}"/>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048</a:t>
            </a:r>
          </a:p>
        </p:txBody>
      </p:sp>
    </p:spTree>
    <p:extLst>
      <p:ext uri="{BB962C8B-B14F-4D97-AF65-F5344CB8AC3E}">
        <p14:creationId xmlns:p14="http://schemas.microsoft.com/office/powerpoint/2010/main" val="2040375624"/>
      </p:ext>
    </p:extLst>
  </p:cSld>
</p:sld>
</file>

<file path=ppt/slides/slide49.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1473B77-2C1A-4EE8-9C3C-BA00CB2007EC}"/>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3교시</a:t>
            </a:r>
          </a:p>
        </p:txBody>
      </p:sp>
      <p:sp>
        <p:nvSpPr>
          <p:cNvPr id="2" name="">
            <a:extLst xmlns:a="http://schemas.openxmlformats.org/drawingml/2006/main">
              <a:ext uri="{FF2B5EF4-FFF2-40B4-BE49-F238E27FC236}">
                <a16:creationId xmlns:a16="http://schemas.microsoft.com/office/drawing/2014/main" id="{A7406D74-933E-4A81-AF87-B4A435B80295}"/>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새 문제의 풀이</a:t>
            </a:r>
          </a:p>
        </p:txBody>
      </p:sp>
      <p:sp>
        <p:nvSpPr>
          <p:cNvPr id="3" name="">
            <a:extLst xmlns:a="http://schemas.openxmlformats.org/drawingml/2006/main">
              <a:ext uri="{FF2B5EF4-FFF2-40B4-BE49-F238E27FC236}">
                <a16:creationId xmlns:a16="http://schemas.microsoft.com/office/drawing/2014/main" id="{8EC06016-A4AF-4028-B64A-0BBB2D7F828C}"/>
              </a:ext>
            </a:extLst>
          </p:cNvPr>
          <p:cNvSpPr>
            <a:spLocks xmlns:a="http://schemas.openxmlformats.org/drawingml/2006/main" noGrp="1"/>
          </p:cNvSpPr>
          <p:nvPr/>
        </p:nvSpPr>
        <p:spPr>
          <a:xfrm xmlns:a="http://schemas.openxmlformats.org/drawingml/2006/main">
            <a:off x="609600" y="241935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01</a:t>
            </a:r>
          </a:p>
        </p:txBody>
      </p:sp>
      <p:sp>
        <p:nvSpPr>
          <p:cNvPr id="4" name="">
            <a:extLst xmlns:a="http://schemas.openxmlformats.org/drawingml/2006/main">
              <a:ext uri="{FF2B5EF4-FFF2-40B4-BE49-F238E27FC236}">
                <a16:creationId xmlns:a16="http://schemas.microsoft.com/office/drawing/2014/main" id="{A33271AF-08F1-46C4-8E79-1151B600306E}"/>
              </a:ext>
            </a:extLst>
          </p:cNvPr>
          <p:cNvSpPr>
            <a:spLocks xmlns:a="http://schemas.openxmlformats.org/drawingml/2006/main" noGrp="1"/>
          </p:cNvSpPr>
          <p:nvPr/>
        </p:nvSpPr>
        <p:spPr>
          <a:xfrm xmlns:a="http://schemas.openxmlformats.org/drawingml/2006/main">
            <a:off x="1657350" y="248602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주문번호는 문자열, 단가·수량은 정수입니다.</a:t>
            </a:r>
          </a:p>
        </p:txBody>
      </p:sp>
      <p:sp>
        <p:nvSpPr>
          <p:cNvPr id="5" name="">
            <a:extLst xmlns:a="http://schemas.openxmlformats.org/drawingml/2006/main">
              <a:ext uri="{FF2B5EF4-FFF2-40B4-BE49-F238E27FC236}">
                <a16:creationId xmlns:a16="http://schemas.microsoft.com/office/drawing/2014/main" id="{86A9F135-A510-44E5-A3E1-CCEB8931A6BA}"/>
              </a:ext>
            </a:extLst>
          </p:cNvPr>
          <p:cNvSpPr>
            <a:spLocks xmlns:a="http://schemas.openxmlformats.org/drawingml/2006/main" noGrp="1"/>
          </p:cNvSpPr>
          <p:nvPr/>
        </p:nvSpPr>
        <p:spPr>
          <a:xfrm xmlns:a="http://schemas.openxmlformats.org/drawingml/2006/main">
            <a:off x="1657350" y="3419475"/>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AFA7273-E4FB-4167-8F9E-DBFF535C857F}"/>
              </a:ext>
            </a:extLst>
          </p:cNvPr>
          <p:cNvSpPr>
            <a:spLocks xmlns:a="http://schemas.openxmlformats.org/drawingml/2006/main" noGrp="1"/>
          </p:cNvSpPr>
          <p:nvPr/>
        </p:nvSpPr>
        <p:spPr>
          <a:xfrm xmlns:a="http://schemas.openxmlformats.org/drawingml/2006/main">
            <a:off x="609600" y="3514725"/>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02</a:t>
            </a:r>
          </a:p>
        </p:txBody>
      </p:sp>
      <p:sp>
        <p:nvSpPr>
          <p:cNvPr id="7" name="">
            <a:extLst xmlns:a="http://schemas.openxmlformats.org/drawingml/2006/main">
              <a:ext uri="{FF2B5EF4-FFF2-40B4-BE49-F238E27FC236}">
                <a16:creationId xmlns:a16="http://schemas.microsoft.com/office/drawing/2014/main" id="{38D01C97-F91F-4E07-94DF-4EE6AA088F46}"/>
              </a:ext>
            </a:extLst>
          </p:cNvPr>
          <p:cNvSpPr>
            <a:spLocks xmlns:a="http://schemas.openxmlformats.org/drawingml/2006/main" noGrp="1"/>
          </p:cNvSpPr>
          <p:nvPr/>
        </p:nvSpPr>
        <p:spPr>
          <a:xfrm xmlns:a="http://schemas.openxmlformats.org/drawingml/2006/main">
            <a:off x="1657350" y="358140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총액 4500원, </a:t>
            </a:r>
            <a:r>
              <a:rPr b="1">
                <a:solidFill>
                  <a:srgbClr val="002FA7"/>
                </a:solidFill>
              </a:rPr>
              <a:t>배송비 포함 6500원</a:t>
            </a:r>
            <a:r>
              <a:t>입니다.</a:t>
            </a:r>
          </a:p>
        </p:txBody>
      </p:sp>
      <p:sp>
        <p:nvSpPr>
          <p:cNvPr id="8" name="">
            <a:extLst xmlns:a="http://schemas.openxmlformats.org/drawingml/2006/main">
              <a:ext uri="{FF2B5EF4-FFF2-40B4-BE49-F238E27FC236}">
                <a16:creationId xmlns:a16="http://schemas.microsoft.com/office/drawing/2014/main" id="{877B6D8F-44C5-4E1A-AA75-BEF3CA160E19}"/>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F8B57AB-0E2F-4C59-8D23-A56AB71703FE}"/>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0" name="">
            <a:extLst xmlns:a="http://schemas.openxmlformats.org/drawingml/2006/main">
              <a:ext uri="{FF2B5EF4-FFF2-40B4-BE49-F238E27FC236}">
                <a16:creationId xmlns:a16="http://schemas.microsoft.com/office/drawing/2014/main" id="{B8909781-E11E-4C78-8BD8-49F19728B749}"/>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049</a:t>
            </a:r>
          </a:p>
        </p:txBody>
      </p:sp>
    </p:spTree>
    <p:extLst>
      <p:ext uri="{BB962C8B-B14F-4D97-AF65-F5344CB8AC3E}">
        <p14:creationId xmlns:p14="http://schemas.microsoft.com/office/powerpoint/2010/main" val="1373175892"/>
      </p:ext>
    </p:extLst>
  </p:cSld>
</p:sld>
</file>

<file path=ppt/slides/slide50.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C3D51D6-7357-4847-A125-D48E5B8BDDCB}"/>
              </a:ext>
            </a:extLst>
          </p:cNvPr>
          <p:cNvSpPr>
            <a:spLocks xmlns:a="http://schemas.openxmlformats.org/drawingml/2006/main" noGrp="1"/>
          </p:cNvSpPr>
          <p:nvPr/>
        </p:nvSpPr>
        <p:spPr>
          <a:xfrm xmlns:a="http://schemas.openxmlformats.org/drawingml/2006/main">
            <a:off x="609600" y="390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BACBFA"/>
                </a:solidFill>
                <a:latin typeface="Noto Sans KR"/>
                <a:ea typeface="Noto Sans KR"/>
                <a:cs typeface="Noto Sans KR"/>
              </a:defRPr>
            </a:pPr>
            <a:r>
              <a:t>3교시  /  직접 생각하기</a:t>
            </a:r>
          </a:p>
        </p:txBody>
      </p:sp>
      <p:sp>
        <p:nvSpPr>
          <p:cNvPr id="2" name="">
            <a:extLst xmlns:a="http://schemas.openxmlformats.org/drawingml/2006/main">
              <a:ext uri="{FF2B5EF4-FFF2-40B4-BE49-F238E27FC236}">
                <a16:creationId xmlns:a16="http://schemas.microsoft.com/office/drawing/2014/main" id="{27F06231-FD1D-44FD-ABB7-9510A6B8744D}"/>
              </a:ext>
            </a:extLst>
          </p:cNvPr>
          <p:cNvSpPr>
            <a:spLocks xmlns:a="http://schemas.openxmlformats.org/drawingml/2006/main" noGrp="1"/>
          </p:cNvSpPr>
          <p:nvPr/>
        </p:nvSpPr>
        <p:spPr>
          <a:xfrm xmlns:a="http://schemas.openxmlformats.org/drawingml/2006/main">
            <a:off x="609600" y="1123950"/>
            <a:ext cx="109728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0">
                <a:solidFill>
                  <a:srgbClr val="FFFFFF"/>
                </a:solidFill>
                <a:latin typeface="Noto Sans KR"/>
                <a:ea typeface="Noto Sans KR"/>
                <a:cs typeface="Noto Sans KR"/>
              </a:defRPr>
            </a:pPr>
            <a:r>
              <a:t>먼저 할 일 · 계산 근거</a:t>
            </a:r>
          </a:p>
        </p:txBody>
      </p:sp>
      <p:sp>
        <p:nvSpPr>
          <p:cNvPr id="3" name="">
            <a:extLst xmlns:a="http://schemas.openxmlformats.org/drawingml/2006/main">
              <a:ext uri="{FF2B5EF4-FFF2-40B4-BE49-F238E27FC236}">
                <a16:creationId xmlns:a16="http://schemas.microsoft.com/office/drawing/2014/main" id="{7B9D48B7-E75F-48DE-9DF9-8F2407959F54}"/>
              </a:ext>
            </a:extLst>
          </p:cNvPr>
          <p:cNvSpPr>
            <a:spLocks xmlns:a="http://schemas.openxmlformats.org/drawingml/2006/main" noGrp="1"/>
          </p:cNvSpPr>
          <p:nvPr/>
        </p:nvSpPr>
        <p:spPr>
          <a:xfrm xmlns:a="http://schemas.openxmlformats.org/drawingml/2006/main">
            <a:off x="609600" y="2800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A07 문자열과 숫자 결과를 비교합니다.</a:t>
            </a:r>
          </a:p>
        </p:txBody>
      </p:sp>
      <p:sp>
        <p:nvSpPr>
          <p:cNvPr id="4" name="">
            <a:extLst xmlns:a="http://schemas.openxmlformats.org/drawingml/2006/main">
              <a:ext uri="{FF2B5EF4-FFF2-40B4-BE49-F238E27FC236}">
                <a16:creationId xmlns:a16="http://schemas.microsoft.com/office/drawing/2014/main" id="{DC220547-4B36-4C05-A673-133248DAC5E4}"/>
              </a:ext>
            </a:extLst>
          </p:cNvPr>
          <p:cNvSpPr>
            <a:spLocks xmlns:a="http://schemas.openxmlformats.org/drawingml/2006/main" noGrp="1"/>
          </p:cNvSpPr>
          <p:nvPr/>
        </p:nvSpPr>
        <p:spPr>
          <a:xfrm xmlns:a="http://schemas.openxmlformats.org/drawingml/2006/main">
            <a:off x="609600" y="38671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A08의 변환 뒤 값을 확인합니다.</a:t>
            </a:r>
          </a:p>
        </p:txBody>
      </p:sp>
      <p:sp>
        <p:nvSpPr>
          <p:cNvPr id="5" name="">
            <a:extLst xmlns:a="http://schemas.openxmlformats.org/drawingml/2006/main">
              <a:ext uri="{FF2B5EF4-FFF2-40B4-BE49-F238E27FC236}">
                <a16:creationId xmlns:a16="http://schemas.microsoft.com/office/drawing/2014/main" id="{2F8D4BF3-E116-46BB-A657-3EE0506E323E}"/>
              </a:ext>
            </a:extLst>
          </p:cNvPr>
          <p:cNvSpPr>
            <a:spLocks xmlns:a="http://schemas.openxmlformats.org/drawingml/2006/main" noGrp="1"/>
          </p:cNvSpPr>
          <p:nvPr/>
        </p:nvSpPr>
        <p:spPr>
          <a:xfrm xmlns:a="http://schemas.openxmlformats.org/drawingml/2006/main">
            <a:off x="609600" y="49339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A09 평균의 분모를 설명합니다.</a:t>
            </a:r>
          </a:p>
        </p:txBody>
      </p:sp>
      <p:sp>
        <p:nvSpPr>
          <p:cNvPr id="6" name="">
            <a:extLst xmlns:a="http://schemas.openxmlformats.org/drawingml/2006/main">
              <a:ext uri="{FF2B5EF4-FFF2-40B4-BE49-F238E27FC236}">
                <a16:creationId xmlns:a16="http://schemas.microsoft.com/office/drawing/2014/main" id="{655873F2-0E0F-46F8-88EF-0A3913DA8992}"/>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DD7EBCD-80A1-4617-95C6-AA80CFE16489}"/>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10/14  피지컬AI</a:t>
            </a:r>
          </a:p>
        </p:txBody>
      </p:sp>
      <p:sp>
        <p:nvSpPr>
          <p:cNvPr id="8" name="">
            <a:extLst xmlns:a="http://schemas.openxmlformats.org/drawingml/2006/main">
              <a:ext uri="{FF2B5EF4-FFF2-40B4-BE49-F238E27FC236}">
                <a16:creationId xmlns:a16="http://schemas.microsoft.com/office/drawing/2014/main" id="{B26DF470-590A-4179-978F-B74D8B903460}"/>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050</a:t>
            </a:r>
          </a:p>
        </p:txBody>
      </p:sp>
    </p:spTree>
    <p:extLst>
      <p:ext uri="{BB962C8B-B14F-4D97-AF65-F5344CB8AC3E}">
        <p14:creationId xmlns:p14="http://schemas.microsoft.com/office/powerpoint/2010/main" val="32965715"/>
      </p:ext>
    </p:extLst>
  </p:cSld>
</p:sld>
</file>

<file path=ppt/slides/slide51.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9650AB5-5087-43F4-83BB-41210B626750}"/>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3교시</a:t>
            </a:r>
          </a:p>
        </p:txBody>
      </p:sp>
      <p:sp>
        <p:nvSpPr>
          <p:cNvPr id="2" name="">
            <a:extLst xmlns:a="http://schemas.openxmlformats.org/drawingml/2006/main">
              <a:ext uri="{FF2B5EF4-FFF2-40B4-BE49-F238E27FC236}">
                <a16:creationId xmlns:a16="http://schemas.microsoft.com/office/drawing/2014/main" id="{6C7A2756-57F3-4357-8076-CC9756DDF7CB}"/>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3교시 확인</a:t>
            </a:r>
          </a:p>
        </p:txBody>
      </p:sp>
      <p:sp>
        <p:nvSpPr>
          <p:cNvPr id="3" name="">
            <a:extLst xmlns:a="http://schemas.openxmlformats.org/drawingml/2006/main">
              <a:ext uri="{FF2B5EF4-FFF2-40B4-BE49-F238E27FC236}">
                <a16:creationId xmlns:a16="http://schemas.microsoft.com/office/drawing/2014/main" id="{40E23EC5-BBD4-48DA-AD48-F8234DEC9E54}"/>
              </a:ext>
            </a:extLst>
          </p:cNvPr>
          <p:cNvSpPr>
            <a:spLocks xmlns:a="http://schemas.openxmlformats.org/drawingml/2006/main" noGrp="1"/>
          </p:cNvSpPr>
          <p:nvPr/>
        </p:nvSpPr>
        <p:spPr>
          <a:xfrm xmlns:a="http://schemas.openxmlformats.org/drawingml/2006/main">
            <a:off x="609600" y="2695575"/>
            <a:ext cx="3524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125" b="0">
                <a:solidFill>
                  <a:srgbClr val="002FA7"/>
                </a:solidFill>
                <a:latin typeface="Noto Sans KR"/>
                <a:ea typeface="Noto Sans KR"/>
                <a:cs typeface="Noto Sans KR"/>
              </a:defRPr>
            </a:pPr>
            <a:r>
              <a:t>업무 계산의 정확성</a:t>
            </a:r>
          </a:p>
        </p:txBody>
      </p:sp>
      <p:sp>
        <p:nvSpPr>
          <p:cNvPr id="4" name="">
            <a:extLst xmlns:a="http://schemas.openxmlformats.org/drawingml/2006/main">
              <a:ext uri="{FF2B5EF4-FFF2-40B4-BE49-F238E27FC236}">
                <a16:creationId xmlns:a16="http://schemas.microsoft.com/office/drawing/2014/main" id="{E3BA42F4-258B-4436-89A4-E05F0E919A94}"/>
              </a:ext>
            </a:extLst>
          </p:cNvPr>
          <p:cNvSpPr>
            <a:spLocks xmlns:a="http://schemas.openxmlformats.org/drawingml/2006/main" noGrp="1"/>
          </p:cNvSpPr>
          <p:nvPr/>
        </p:nvSpPr>
        <p:spPr>
          <a:xfrm xmlns:a="http://schemas.openxmlformats.org/drawingml/2006/main">
            <a:off x="4333875" y="2562225"/>
            <a:ext cx="9525" cy="337185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BB80C8E-B31E-4678-A3D3-478214D1064D}"/>
              </a:ext>
            </a:extLst>
          </p:cNvPr>
          <p:cNvSpPr>
            <a:spLocks xmlns:a="http://schemas.openxmlformats.org/drawingml/2006/main" noGrp="1"/>
          </p:cNvSpPr>
          <p:nvPr/>
        </p:nvSpPr>
        <p:spPr>
          <a:xfrm xmlns:a="http://schemas.openxmlformats.org/drawingml/2006/main">
            <a:off x="4724400" y="259080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숫자 모양 식별자를 계산량으로 바꾸지 않습니다.</a:t>
            </a:r>
          </a:p>
        </p:txBody>
      </p:sp>
      <p:sp>
        <p:nvSpPr>
          <p:cNvPr id="6" name="">
            <a:extLst xmlns:a="http://schemas.openxmlformats.org/drawingml/2006/main">
              <a:ext uri="{FF2B5EF4-FFF2-40B4-BE49-F238E27FC236}">
                <a16:creationId xmlns:a16="http://schemas.microsoft.com/office/drawing/2014/main" id="{9B750E42-9F46-4145-8822-6126B9ECC085}"/>
              </a:ext>
            </a:extLst>
          </p:cNvPr>
          <p:cNvSpPr>
            <a:spLocks xmlns:a="http://schemas.openxmlformats.org/drawingml/2006/main" noGrp="1"/>
          </p:cNvSpPr>
          <p:nvPr/>
        </p:nvSpPr>
        <p:spPr>
          <a:xfrm xmlns:a="http://schemas.openxmlformats.org/drawingml/2006/main">
            <a:off x="4724400" y="3705225"/>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실행 성공과 </a:t>
            </a:r>
            <a:r>
              <a:rPr b="1">
                <a:solidFill>
                  <a:srgbClr val="002FA7"/>
                </a:solidFill>
              </a:rPr>
              <a:t>업무 계산의 정확성</a:t>
            </a:r>
            <a:r>
              <a:t>은 다릅니다.</a:t>
            </a:r>
          </a:p>
        </p:txBody>
      </p:sp>
      <p:sp>
        <p:nvSpPr>
          <p:cNvPr id="7" name="">
            <a:extLst xmlns:a="http://schemas.openxmlformats.org/drawingml/2006/main">
              <a:ext uri="{FF2B5EF4-FFF2-40B4-BE49-F238E27FC236}">
                <a16:creationId xmlns:a16="http://schemas.microsoft.com/office/drawing/2014/main" id="{54D692E3-C966-443C-A03B-453E86C240A7}"/>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8FE6120-7279-4E12-9C19-154885362A61}"/>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9" name="">
            <a:extLst xmlns:a="http://schemas.openxmlformats.org/drawingml/2006/main">
              <a:ext uri="{FF2B5EF4-FFF2-40B4-BE49-F238E27FC236}">
                <a16:creationId xmlns:a16="http://schemas.microsoft.com/office/drawing/2014/main" id="{2F07F6C1-B3A4-402D-8EA9-FD7E43153B58}"/>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051</a:t>
            </a:r>
          </a:p>
        </p:txBody>
      </p:sp>
    </p:spTree>
    <p:extLst>
      <p:ext uri="{BB962C8B-B14F-4D97-AF65-F5344CB8AC3E}">
        <p14:creationId xmlns:p14="http://schemas.microsoft.com/office/powerpoint/2010/main" val="1870138237"/>
      </p:ext>
    </p:extLst>
  </p:cSld>
</p:sld>
</file>

<file path=ppt/slides/slide52.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ADD58E3-EDC0-4C57-868D-560D71AF31CF}"/>
              </a:ext>
            </a:extLst>
          </p:cNvPr>
          <p:cNvSpPr>
            <a:spLocks xmlns:a="http://schemas.openxmlformats.org/drawingml/2006/main" noGrp="1"/>
          </p:cNvSpPr>
          <p:nvPr/>
        </p:nvSpPr>
        <p:spPr>
          <a:xfrm xmlns:a="http://schemas.openxmlformats.org/drawingml/2006/main">
            <a:off x="0" y="0"/>
            <a:ext cx="4000500" cy="6858000"/>
          </a:xfrm>
          <a:prstGeom xmlns:a="http://schemas.openxmlformats.org/drawingml/2006/main" prst="rect">
            <a:avLst/>
          </a:prstGeom>
          <a:solidFill xmlns:a="http://schemas.openxmlformats.org/drawingml/2006/main">
            <a:srgbClr val="002FA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719521B-06BE-4E7E-8DC6-18CFB723B94C}"/>
              </a:ext>
            </a:extLst>
          </p:cNvPr>
          <p:cNvSpPr>
            <a:spLocks xmlns:a="http://schemas.openxmlformats.org/drawingml/2006/main" noGrp="1"/>
          </p:cNvSpPr>
          <p:nvPr/>
        </p:nvSpPr>
        <p:spPr>
          <a:xfrm xmlns:a="http://schemas.openxmlformats.org/drawingml/2006/main">
            <a:off x="542925" y="1504950"/>
            <a:ext cx="2952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600" b="0">
                <a:solidFill>
                  <a:srgbClr val="FFFFFF"/>
                </a:solidFill>
                <a:latin typeface="Arial"/>
                <a:ea typeface="Arial"/>
                <a:cs typeface="Arial"/>
              </a:defRPr>
            </a:pPr>
            <a:r>
              <a:t>04</a:t>
            </a:r>
          </a:p>
        </p:txBody>
      </p:sp>
      <p:sp>
        <p:nvSpPr>
          <p:cNvPr id="3" name="">
            <a:extLst xmlns:a="http://schemas.openxmlformats.org/drawingml/2006/main">
              <a:ext uri="{FF2B5EF4-FFF2-40B4-BE49-F238E27FC236}">
                <a16:creationId xmlns:a16="http://schemas.microsoft.com/office/drawing/2014/main" id="{B50EBE52-E7D1-4D98-A391-B006DB417AFA}"/>
              </a:ext>
            </a:extLst>
          </p:cNvPr>
          <p:cNvSpPr>
            <a:spLocks xmlns:a="http://schemas.openxmlformats.org/drawingml/2006/main" noGrp="1"/>
          </p:cNvSpPr>
          <p:nvPr/>
        </p:nvSpPr>
        <p:spPr>
          <a:xfrm xmlns:a="http://schemas.openxmlformats.org/drawingml/2006/main">
            <a:off x="609600" y="3857625"/>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0">
                <a:solidFill>
                  <a:srgbClr val="FFFFFF"/>
                </a:solidFill>
                <a:latin typeface="Noto Sans KR"/>
                <a:ea typeface="Noto Sans KR"/>
                <a:cs typeface="Noto Sans KR"/>
              </a:defRPr>
            </a:pPr>
            <a:r>
              <a:t>교시</a:t>
            </a:r>
          </a:p>
        </p:txBody>
      </p:sp>
      <p:sp>
        <p:nvSpPr>
          <p:cNvPr id="4" name="">
            <a:extLst xmlns:a="http://schemas.openxmlformats.org/drawingml/2006/main">
              <a:ext uri="{FF2B5EF4-FFF2-40B4-BE49-F238E27FC236}">
                <a16:creationId xmlns:a16="http://schemas.microsoft.com/office/drawing/2014/main" id="{279D3CE4-5BD0-45DF-8BCB-94B9659719A9}"/>
              </a:ext>
            </a:extLst>
          </p:cNvPr>
          <p:cNvSpPr>
            <a:spLocks xmlns:a="http://schemas.openxmlformats.org/drawingml/2006/main" noGrp="1"/>
          </p:cNvSpPr>
          <p:nvPr/>
        </p:nvSpPr>
        <p:spPr>
          <a:xfrm xmlns:a="http://schemas.openxmlformats.org/drawingml/2006/main">
            <a:off x="4572000" y="1304925"/>
            <a:ext cx="68961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650" b="0">
                <a:solidFill>
                  <a:srgbClr val="0A0A0A"/>
                </a:solidFill>
                <a:latin typeface="Noto Sans KR"/>
                <a:ea typeface="Noto Sans KR"/>
                <a:cs typeface="Noto Sans KR"/>
              </a:defRPr>
            </a:pPr>
            <a:r>
              <a:t>기준에 따라 나누기</a:t>
            </a:r>
          </a:p>
        </p:txBody>
      </p:sp>
      <p:sp>
        <p:nvSpPr>
          <p:cNvPr id="5" name="">
            <a:extLst xmlns:a="http://schemas.openxmlformats.org/drawingml/2006/main">
              <a:ext uri="{FF2B5EF4-FFF2-40B4-BE49-F238E27FC236}">
                <a16:creationId xmlns:a16="http://schemas.microsoft.com/office/drawing/2014/main" id="{F40D8C69-4731-4B5E-B62A-436B8D7D815B}"/>
              </a:ext>
            </a:extLst>
          </p:cNvPr>
          <p:cNvSpPr>
            <a:spLocks xmlns:a="http://schemas.openxmlformats.org/drawingml/2006/main" noGrp="1"/>
          </p:cNvSpPr>
          <p:nvPr/>
        </p:nvSpPr>
        <p:spPr>
          <a:xfrm xmlns:a="http://schemas.openxmlformats.org/drawingml/2006/main">
            <a:off x="4572000" y="3609975"/>
            <a:ext cx="6896100" cy="9525"/>
          </a:xfrm>
          <a:prstGeom xmlns:a="http://schemas.openxmlformats.org/drawingml/2006/main" prst="rect">
            <a:avLst/>
          </a:prstGeom>
          <a:solidFill xmlns:a="http://schemas.openxmlformats.org/drawingml/2006/main">
            <a:srgbClr val="002FA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84CF173-2990-47C8-9727-7145E8BA8C77}"/>
              </a:ext>
            </a:extLst>
          </p:cNvPr>
          <p:cNvSpPr>
            <a:spLocks xmlns:a="http://schemas.openxmlformats.org/drawingml/2006/main" noGrp="1"/>
          </p:cNvSpPr>
          <p:nvPr/>
        </p:nvSpPr>
        <p:spPr>
          <a:xfrm xmlns:a="http://schemas.openxmlformats.org/drawingml/2006/main">
            <a:off x="4572000" y="3886200"/>
            <a:ext cx="689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002FA7"/>
                </a:solidFill>
                <a:latin typeface="Noto Sans KR"/>
                <a:ea typeface="Noto Sans KR"/>
                <a:cs typeface="Noto Sans KR"/>
              </a:defRPr>
            </a:pPr>
            <a:r>
              <a:t>14:00~14:50 · 50분</a:t>
            </a:r>
          </a:p>
        </p:txBody>
      </p:sp>
      <p:sp>
        <p:nvSpPr>
          <p:cNvPr id="7" name="">
            <a:extLst xmlns:a="http://schemas.openxmlformats.org/drawingml/2006/main">
              <a:ext uri="{FF2B5EF4-FFF2-40B4-BE49-F238E27FC236}">
                <a16:creationId xmlns:a16="http://schemas.microsoft.com/office/drawing/2014/main" id="{17D9112B-C2D4-46AE-9B73-6B97945F9935}"/>
              </a:ext>
            </a:extLst>
          </p:cNvPr>
          <p:cNvSpPr>
            <a:spLocks xmlns:a="http://schemas.openxmlformats.org/drawingml/2006/main" noGrp="1"/>
          </p:cNvSpPr>
          <p:nvPr/>
        </p:nvSpPr>
        <p:spPr>
          <a:xfrm xmlns:a="http://schemas.openxmlformats.org/drawingml/2006/main">
            <a:off x="4572000" y="4600575"/>
            <a:ext cx="689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0A0A0A"/>
                </a:solidFill>
                <a:latin typeface="Noto Sans KR"/>
                <a:ea typeface="Noto Sans KR"/>
                <a:cs typeface="Noto Sans KR"/>
              </a:defRPr>
            </a:pPr>
            <a:r>
              <a:t>먼저 할 활동: A10, A11, A12</a:t>
            </a:r>
          </a:p>
        </p:txBody>
      </p:sp>
      <p:sp>
        <p:nvSpPr>
          <p:cNvPr id="8" name="">
            <a:extLst xmlns:a="http://schemas.openxmlformats.org/drawingml/2006/main">
              <a:ext uri="{FF2B5EF4-FFF2-40B4-BE49-F238E27FC236}">
                <a16:creationId xmlns:a16="http://schemas.microsoft.com/office/drawing/2014/main" id="{69330DD0-9A0B-4480-A69B-57856E9D1D0F}"/>
              </a:ext>
            </a:extLst>
          </p:cNvPr>
          <p:cNvSpPr>
            <a:spLocks xmlns:a="http://schemas.openxmlformats.org/drawingml/2006/main" noGrp="1"/>
          </p:cNvSpPr>
          <p:nvPr/>
        </p:nvSpPr>
        <p:spPr>
          <a:xfrm xmlns:a="http://schemas.openxmlformats.org/drawingml/2006/main">
            <a:off x="4572000" y="5314950"/>
            <a:ext cx="689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0A0A0A"/>
                </a:solidFill>
                <a:latin typeface="Noto Sans KR"/>
                <a:ea typeface="Noto Sans KR"/>
                <a:cs typeface="Noto Sans KR"/>
              </a:defRPr>
            </a:pPr>
            <a:r>
              <a:t>추가 문제는 필수 결과를 확인한 뒤 풉니다.</a:t>
            </a:r>
          </a:p>
        </p:txBody>
      </p:sp>
      <p:sp>
        <p:nvSpPr>
          <p:cNvPr id="9" name="">
            <a:extLst xmlns:a="http://schemas.openxmlformats.org/drawingml/2006/main">
              <a:ext uri="{FF2B5EF4-FFF2-40B4-BE49-F238E27FC236}">
                <a16:creationId xmlns:a16="http://schemas.microsoft.com/office/drawing/2014/main" id="{AF5B471F-469A-4FAA-BA21-745C4530BC5D}"/>
              </a:ext>
            </a:extLst>
          </p:cNvPr>
          <p:cNvSpPr>
            <a:spLocks xmlns:a="http://schemas.openxmlformats.org/drawingml/2006/main" noGrp="1"/>
          </p:cNvSpPr>
          <p:nvPr/>
        </p:nvSpPr>
        <p:spPr>
          <a:xfrm xmlns:a="http://schemas.openxmlformats.org/drawingml/2006/main">
            <a:off x="609600" y="428625"/>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FFFFFF"/>
                </a:solidFill>
                <a:latin typeface="Noto Sans KR"/>
                <a:ea typeface="Noto Sans KR"/>
                <a:cs typeface="Noto Sans KR"/>
              </a:defRPr>
            </a:pPr>
            <a:r>
              <a:t>2026.10.14</a:t>
            </a:r>
          </a:p>
        </p:txBody>
      </p:sp>
      <p:sp>
        <p:nvSpPr>
          <p:cNvPr id="10" name="">
            <a:extLst xmlns:a="http://schemas.openxmlformats.org/drawingml/2006/main">
              <a:ext uri="{FF2B5EF4-FFF2-40B4-BE49-F238E27FC236}">
                <a16:creationId xmlns:a16="http://schemas.microsoft.com/office/drawing/2014/main" id="{964A07DD-D33A-4277-9C94-2DE4A39FDAE0}"/>
              </a:ext>
            </a:extLst>
          </p:cNvPr>
          <p:cNvSpPr>
            <a:spLocks xmlns:a="http://schemas.openxmlformats.org/drawingml/2006/main" noGrp="1"/>
          </p:cNvSpPr>
          <p:nvPr/>
        </p:nvSpPr>
        <p:spPr>
          <a:xfrm xmlns:a="http://schemas.openxmlformats.org/drawingml/2006/main">
            <a:off x="10477500" y="64008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052</a:t>
            </a:r>
          </a:p>
        </p:txBody>
      </p:sp>
    </p:spTree>
    <p:extLst>
      <p:ext uri="{BB962C8B-B14F-4D97-AF65-F5344CB8AC3E}">
        <p14:creationId xmlns:p14="http://schemas.microsoft.com/office/powerpoint/2010/main" val="1540381546"/>
      </p:ext>
    </p:extLst>
  </p:cSld>
</p:sld>
</file>

<file path=ppt/slides/slide53.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D624919-49B8-426F-8AF4-63DF33B7B73A}"/>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4교시</a:t>
            </a:r>
          </a:p>
        </p:txBody>
      </p:sp>
      <p:sp>
        <p:nvSpPr>
          <p:cNvPr id="2" name="">
            <a:extLst xmlns:a="http://schemas.openxmlformats.org/drawingml/2006/main">
              <a:ext uri="{FF2B5EF4-FFF2-40B4-BE49-F238E27FC236}">
                <a16:creationId xmlns:a16="http://schemas.microsoft.com/office/drawing/2014/main" id="{5B71BB4D-EE89-4599-805C-F7132964A833}"/>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완성 예 · 세 비교</a:t>
            </a:r>
          </a:p>
        </p:txBody>
      </p:sp>
      <p:sp>
        <p:nvSpPr>
          <p:cNvPr id="3" name="">
            <a:extLst xmlns:a="http://schemas.openxmlformats.org/drawingml/2006/main">
              <a:ext uri="{FF2B5EF4-FFF2-40B4-BE49-F238E27FC236}">
                <a16:creationId xmlns:a16="http://schemas.microsoft.com/office/drawing/2014/main" id="{3ECF5B8D-061C-4FC5-9494-7B48F2A02C2C}"/>
              </a:ext>
            </a:extLst>
          </p:cNvPr>
          <p:cNvSpPr>
            <a:spLocks xmlns:a="http://schemas.openxmlformats.org/drawingml/2006/main" noGrp="1"/>
          </p:cNvSpPr>
          <p:nvPr/>
        </p:nvSpPr>
        <p:spPr>
          <a:xfrm xmlns:a="http://schemas.openxmlformats.org/drawingml/2006/main">
            <a:off x="609600" y="2714625"/>
            <a:ext cx="10972800" cy="2133600"/>
          </a:xfrm>
          <a:prstGeom xmlns:a="http://schemas.openxmlformats.org/drawingml/2006/main" prst="rect">
            <a:avLst/>
          </a:prstGeom>
          <a:solidFill xmlns:a="http://schemas.openxmlformats.org/drawingml/2006/main">
            <a:srgbClr val="0A0A0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489AFCB-FB72-4402-924F-FFF24C2675A3}"/>
              </a:ext>
            </a:extLst>
          </p:cNvPr>
          <p:cNvSpPr>
            <a:spLocks xmlns:a="http://schemas.openxmlformats.org/drawingml/2006/main" noGrp="1"/>
          </p:cNvSpPr>
          <p:nvPr/>
        </p:nvSpPr>
        <p:spPr>
          <a:xfrm xmlns:a="http://schemas.openxmlformats.org/drawingml/2006/main">
            <a:off x="790575" y="29051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01</a:t>
            </a:r>
          </a:p>
        </p:txBody>
      </p:sp>
      <p:sp>
        <p:nvSpPr>
          <p:cNvPr id="5" name="">
            <a:extLst xmlns:a="http://schemas.openxmlformats.org/drawingml/2006/main">
              <a:ext uri="{FF2B5EF4-FFF2-40B4-BE49-F238E27FC236}">
                <a16:creationId xmlns:a16="http://schemas.microsoft.com/office/drawing/2014/main" id="{D01369C6-D6A5-4D81-BF8C-B6A4E77FB720}"/>
              </a:ext>
            </a:extLst>
          </p:cNvPr>
          <p:cNvSpPr>
            <a:spLocks xmlns:a="http://schemas.openxmlformats.org/drawingml/2006/main" noGrp="1"/>
          </p:cNvSpPr>
          <p:nvPr/>
        </p:nvSpPr>
        <p:spPr>
          <a:xfrm xmlns:a="http://schemas.openxmlformats.org/drawingml/2006/main">
            <a:off x="1390650" y="28670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temperature_c = 24.0</a:t>
            </a:r>
          </a:p>
        </p:txBody>
      </p:sp>
      <p:sp>
        <p:nvSpPr>
          <p:cNvPr id="6" name="">
            <a:extLst xmlns:a="http://schemas.openxmlformats.org/drawingml/2006/main">
              <a:ext uri="{FF2B5EF4-FFF2-40B4-BE49-F238E27FC236}">
                <a16:creationId xmlns:a16="http://schemas.microsoft.com/office/drawing/2014/main" id="{CD035CBB-0B23-4281-B4CF-782F583BD9AA}"/>
              </a:ext>
            </a:extLst>
          </p:cNvPr>
          <p:cNvSpPr>
            <a:spLocks xmlns:a="http://schemas.openxmlformats.org/drawingml/2006/main" noGrp="1"/>
          </p:cNvSpPr>
          <p:nvPr/>
        </p:nvSpPr>
        <p:spPr>
          <a:xfrm xmlns:a="http://schemas.openxmlformats.org/drawingml/2006/main">
            <a:off x="790575" y="32480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02</a:t>
            </a:r>
          </a:p>
        </p:txBody>
      </p:sp>
      <p:sp>
        <p:nvSpPr>
          <p:cNvPr id="7" name="">
            <a:extLst xmlns:a="http://schemas.openxmlformats.org/drawingml/2006/main">
              <a:ext uri="{FF2B5EF4-FFF2-40B4-BE49-F238E27FC236}">
                <a16:creationId xmlns:a16="http://schemas.microsoft.com/office/drawing/2014/main" id="{99579C4F-430B-4526-8FA1-DC3F42AB5080}"/>
              </a:ext>
            </a:extLst>
          </p:cNvPr>
          <p:cNvSpPr>
            <a:spLocks xmlns:a="http://schemas.openxmlformats.org/drawingml/2006/main" noGrp="1"/>
          </p:cNvSpPr>
          <p:nvPr/>
        </p:nvSpPr>
        <p:spPr>
          <a:xfrm xmlns:a="http://schemas.openxmlformats.org/drawingml/2006/main">
            <a:off x="1390650" y="32099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limit = 24.0</a:t>
            </a:r>
          </a:p>
        </p:txBody>
      </p:sp>
      <p:sp>
        <p:nvSpPr>
          <p:cNvPr id="8" name="">
            <a:extLst xmlns:a="http://schemas.openxmlformats.org/drawingml/2006/main">
              <a:ext uri="{FF2B5EF4-FFF2-40B4-BE49-F238E27FC236}">
                <a16:creationId xmlns:a16="http://schemas.microsoft.com/office/drawing/2014/main" id="{9DDB2272-6DD5-44FC-95B6-5DFB86004C8B}"/>
              </a:ext>
            </a:extLst>
          </p:cNvPr>
          <p:cNvSpPr>
            <a:spLocks xmlns:a="http://schemas.openxmlformats.org/drawingml/2006/main" noGrp="1"/>
          </p:cNvSpPr>
          <p:nvPr/>
        </p:nvSpPr>
        <p:spPr>
          <a:xfrm xmlns:a="http://schemas.openxmlformats.org/drawingml/2006/main">
            <a:off x="790575" y="35909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03</a:t>
            </a:r>
          </a:p>
        </p:txBody>
      </p:sp>
      <p:sp>
        <p:nvSpPr>
          <p:cNvPr id="9" name="">
            <a:extLst xmlns:a="http://schemas.openxmlformats.org/drawingml/2006/main">
              <a:ext uri="{FF2B5EF4-FFF2-40B4-BE49-F238E27FC236}">
                <a16:creationId xmlns:a16="http://schemas.microsoft.com/office/drawing/2014/main" id="{0504ACF3-639B-4A67-934D-8F623CB97EA2}"/>
              </a:ext>
            </a:extLst>
          </p:cNvPr>
          <p:cNvSpPr>
            <a:spLocks xmlns:a="http://schemas.openxmlformats.org/drawingml/2006/main" noGrp="1"/>
          </p:cNvSpPr>
          <p:nvPr/>
        </p:nvSpPr>
        <p:spPr>
          <a:xfrm xmlns:a="http://schemas.openxmlformats.org/drawingml/2006/main">
            <a:off x="1390650" y="35528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print(temperature_c &gt; limit)</a:t>
            </a:r>
          </a:p>
        </p:txBody>
      </p:sp>
      <p:sp>
        <p:nvSpPr>
          <p:cNvPr id="10" name="">
            <a:extLst xmlns:a="http://schemas.openxmlformats.org/drawingml/2006/main">
              <a:ext uri="{FF2B5EF4-FFF2-40B4-BE49-F238E27FC236}">
                <a16:creationId xmlns:a16="http://schemas.microsoft.com/office/drawing/2014/main" id="{55E4B15A-8D8B-4268-A41E-92135BC272BE}"/>
              </a:ext>
            </a:extLst>
          </p:cNvPr>
          <p:cNvSpPr>
            <a:spLocks xmlns:a="http://schemas.openxmlformats.org/drawingml/2006/main" noGrp="1"/>
          </p:cNvSpPr>
          <p:nvPr/>
        </p:nvSpPr>
        <p:spPr>
          <a:xfrm xmlns:a="http://schemas.openxmlformats.org/drawingml/2006/main">
            <a:off x="790575" y="39338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04</a:t>
            </a:r>
          </a:p>
        </p:txBody>
      </p:sp>
      <p:sp>
        <p:nvSpPr>
          <p:cNvPr id="11" name="">
            <a:extLst xmlns:a="http://schemas.openxmlformats.org/drawingml/2006/main">
              <a:ext uri="{FF2B5EF4-FFF2-40B4-BE49-F238E27FC236}">
                <a16:creationId xmlns:a16="http://schemas.microsoft.com/office/drawing/2014/main" id="{EB23A10B-97DC-4975-988E-BD98EE109477}"/>
              </a:ext>
            </a:extLst>
          </p:cNvPr>
          <p:cNvSpPr>
            <a:spLocks xmlns:a="http://schemas.openxmlformats.org/drawingml/2006/main" noGrp="1"/>
          </p:cNvSpPr>
          <p:nvPr/>
        </p:nvSpPr>
        <p:spPr>
          <a:xfrm xmlns:a="http://schemas.openxmlformats.org/drawingml/2006/main">
            <a:off x="1390650" y="38957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print(temperature_c &gt;= limit)</a:t>
            </a:r>
          </a:p>
        </p:txBody>
      </p:sp>
      <p:sp>
        <p:nvSpPr>
          <p:cNvPr id="12" name="">
            <a:extLst xmlns:a="http://schemas.openxmlformats.org/drawingml/2006/main">
              <a:ext uri="{FF2B5EF4-FFF2-40B4-BE49-F238E27FC236}">
                <a16:creationId xmlns:a16="http://schemas.microsoft.com/office/drawing/2014/main" id="{C2FEA657-2F06-4001-8B5C-E2AFFE466EFC}"/>
              </a:ext>
            </a:extLst>
          </p:cNvPr>
          <p:cNvSpPr>
            <a:spLocks xmlns:a="http://schemas.openxmlformats.org/drawingml/2006/main" noGrp="1"/>
          </p:cNvSpPr>
          <p:nvPr/>
        </p:nvSpPr>
        <p:spPr>
          <a:xfrm xmlns:a="http://schemas.openxmlformats.org/drawingml/2006/main">
            <a:off x="790575" y="42767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05</a:t>
            </a:r>
          </a:p>
        </p:txBody>
      </p:sp>
      <p:sp>
        <p:nvSpPr>
          <p:cNvPr id="13" name="">
            <a:extLst xmlns:a="http://schemas.openxmlformats.org/drawingml/2006/main">
              <a:ext uri="{FF2B5EF4-FFF2-40B4-BE49-F238E27FC236}">
                <a16:creationId xmlns:a16="http://schemas.microsoft.com/office/drawing/2014/main" id="{AA617EF4-DF89-4D94-B9C2-D413E991F547}"/>
              </a:ext>
            </a:extLst>
          </p:cNvPr>
          <p:cNvSpPr>
            <a:spLocks xmlns:a="http://schemas.openxmlformats.org/drawingml/2006/main" noGrp="1"/>
          </p:cNvSpPr>
          <p:nvPr/>
        </p:nvSpPr>
        <p:spPr>
          <a:xfrm xmlns:a="http://schemas.openxmlformats.org/drawingml/2006/main">
            <a:off x="1390650" y="42386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print(temperature_c == limit)</a:t>
            </a:r>
          </a:p>
        </p:txBody>
      </p:sp>
      <p:sp>
        <p:nvSpPr>
          <p:cNvPr id="14" name="">
            <a:extLst xmlns:a="http://schemas.openxmlformats.org/drawingml/2006/main">
              <a:ext uri="{FF2B5EF4-FFF2-40B4-BE49-F238E27FC236}">
                <a16:creationId xmlns:a16="http://schemas.microsoft.com/office/drawing/2014/main" id="{77802D92-246F-42E2-BB38-54EE53615B07}"/>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93C4C14-62F0-4EB2-AECA-5E5E6EC70C57}"/>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6" name="">
            <a:extLst xmlns:a="http://schemas.openxmlformats.org/drawingml/2006/main">
              <a:ext uri="{FF2B5EF4-FFF2-40B4-BE49-F238E27FC236}">
                <a16:creationId xmlns:a16="http://schemas.microsoft.com/office/drawing/2014/main" id="{41906048-91FF-4832-AC8C-9A3296B75563}"/>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053</a:t>
            </a:r>
          </a:p>
        </p:txBody>
      </p:sp>
    </p:spTree>
    <p:extLst>
      <p:ext uri="{BB962C8B-B14F-4D97-AF65-F5344CB8AC3E}">
        <p14:creationId xmlns:p14="http://schemas.microsoft.com/office/powerpoint/2010/main" val="1263890687"/>
      </p:ext>
    </p:extLst>
  </p:cSld>
</p:sld>
</file>

<file path=ppt/slides/slide54.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681923B-AB7A-4685-A6AA-798CCC7573DF}"/>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4교시</a:t>
            </a:r>
          </a:p>
        </p:txBody>
      </p:sp>
      <p:sp>
        <p:nvSpPr>
          <p:cNvPr id="2" name="">
            <a:extLst xmlns:a="http://schemas.openxmlformats.org/drawingml/2006/main">
              <a:ext uri="{FF2B5EF4-FFF2-40B4-BE49-F238E27FC236}">
                <a16:creationId xmlns:a16="http://schemas.microsoft.com/office/drawing/2014/main" id="{F9827181-30F4-4558-AE0F-2E2D7ECF5CA0}"/>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경계값 24.0에서 비교하기</a:t>
            </a:r>
          </a:p>
        </p:txBody>
      </p:sp>
      <p:graphicFrame>
        <p:nvGraphicFramePr>
          <p:cNvPr id="9" name=""/>
          <p:cNvGraphicFramePr/>
          <p:nvPr/>
        </p:nvGraphicFramePr>
        <p:xfrm>
          <a:off xmlns:a="http://schemas.openxmlformats.org/drawingml/2006/main" x="609600" y="2333625"/>
          <a:ext xmlns:a="http://schemas.openxmlformats.org/drawingml/2006/main" cx="10972800" cy="2933700"/>
        </p:xfrm>
        <a:graphic xmlns:a="http://schemas.openxmlformats.org/drawingml/2006/main">
          <a:graphicData uri="http://schemas.openxmlformats.org/drawingml/2006/table">
            <a:tbl>
              <a:tblPr firstRow="1" bandRow="0"/>
              <a:tblGrid>
                <a:gridCol w="7156174"/>
                <a:gridCol w="3816626"/>
              </a:tblGrid>
              <a:tr h="733425">
                <a:tc>
                  <a:txBody>
                    <a:bodyPr wrap="square"/>
                    <a:lstStyle/>
                    <a:p>
                      <a:pPr>
                        <a:lnSpc>
                          <a:spcPct val="94000"/>
                        </a:lnSpc>
                        <a:buNone/>
                      </a:pPr>
                      <a:r>
                        <a:rPr sz="2100" b="1">
                          <a:solidFill>
                            <a:srgbClr val="FFFFFF"/>
                          </a:solidFill>
                          <a:latin typeface="Noto Sans KR"/>
                          <a:ea typeface="Noto Sans KR"/>
                          <a:cs typeface="Noto Sans KR"/>
                        </a:rPr>
                        <a:t>질문</a:t>
                      </a:r>
                    </a:p>
                  </a:txBody>
                  <a:tcPr marL="171450" marR="114300" marT="47625" marB="47625" anchor="ctr">
                    <a:solidFill>
                      <a:srgbClr val="002FA7"/>
                    </a:solidFill>
                  </a:tcPr>
                </a:tc>
                <a:tc>
                  <a:txBody>
                    <a:bodyPr wrap="square"/>
                    <a:lstStyle/>
                    <a:p>
                      <a:pPr>
                        <a:lnSpc>
                          <a:spcPct val="94000"/>
                        </a:lnSpc>
                        <a:buNone/>
                      </a:pPr>
                      <a:r>
                        <a:rPr sz="2100" b="1">
                          <a:solidFill>
                            <a:srgbClr val="FFFFFF"/>
                          </a:solidFill>
                          <a:latin typeface="Noto Sans KR"/>
                          <a:ea typeface="Noto Sans KR"/>
                          <a:cs typeface="Noto Sans KR"/>
                        </a:rPr>
                        <a:t>결과</a:t>
                      </a:r>
                    </a:p>
                  </a:txBody>
                  <a:tcPr marL="171450" marR="114300" marT="47625" marB="47625" anchor="ctr">
                    <a:solidFill>
                      <a:srgbClr val="002FA7"/>
                    </a:solidFill>
                  </a:tcPr>
                </a:tc>
              </a:tr>
              <a:tr h="733425">
                <a:tc>
                  <a:txBody>
                    <a:bodyPr wrap="square"/>
                    <a:lstStyle/>
                    <a:p>
                      <a:pPr>
                        <a:lnSpc>
                          <a:spcPct val="94000"/>
                        </a:lnSpc>
                        <a:buNone/>
                      </a:pPr>
                      <a:r>
                        <a:rPr sz="2100" b="0">
                          <a:solidFill>
                            <a:srgbClr val="0A0A0A"/>
                          </a:solidFill>
                          <a:latin typeface="Noto Sans KR"/>
                          <a:ea typeface="Noto Sans KR"/>
                          <a:cs typeface="Noto Sans KR"/>
                        </a:rPr>
                        <a:t>24.0 &gt; 24.0</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False</a:t>
                      </a:r>
                    </a:p>
                  </a:txBody>
                  <a:tcPr marL="171450" marR="114300" marT="47625" marB="47625" anchor="ctr">
                    <a:solidFill>
                      <a:srgbClr val="FAFAF8"/>
                    </a:solidFill>
                  </a:tcPr>
                </a:tc>
              </a:tr>
              <a:tr h="733425">
                <a:tc>
                  <a:txBody>
                    <a:bodyPr wrap="square"/>
                    <a:lstStyle/>
                    <a:p>
                      <a:pPr>
                        <a:lnSpc>
                          <a:spcPct val="94000"/>
                        </a:lnSpc>
                        <a:buNone/>
                      </a:pPr>
                      <a:r>
                        <a:rPr sz="2100" b="0">
                          <a:solidFill>
                            <a:srgbClr val="0A0A0A"/>
                          </a:solidFill>
                          <a:latin typeface="Noto Sans KR"/>
                          <a:ea typeface="Noto Sans KR"/>
                          <a:cs typeface="Noto Sans KR"/>
                        </a:rPr>
                        <a:t>24.0 &gt;= 24.0</a:t>
                      </a:r>
                    </a:p>
                  </a:txBody>
                  <a:tcPr marL="171450" marR="114300" marT="47625" marB="47625" anchor="ctr">
                    <a:solidFill>
                      <a:srgbClr val="F0F0EB"/>
                    </a:solidFill>
                  </a:tcPr>
                </a:tc>
                <a:tc>
                  <a:txBody>
                    <a:bodyPr wrap="square"/>
                    <a:lstStyle/>
                    <a:p>
                      <a:pPr>
                        <a:lnSpc>
                          <a:spcPct val="94000"/>
                        </a:lnSpc>
                        <a:buNone/>
                      </a:pPr>
                      <a:r>
                        <a:rPr sz="2100" b="0">
                          <a:solidFill>
                            <a:srgbClr val="0A0A0A"/>
                          </a:solidFill>
                          <a:latin typeface="Noto Sans KR"/>
                          <a:ea typeface="Noto Sans KR"/>
                          <a:cs typeface="Noto Sans KR"/>
                        </a:rPr>
                        <a:t>True</a:t>
                      </a:r>
                    </a:p>
                  </a:txBody>
                  <a:tcPr marL="171450" marR="114300" marT="47625" marB="47625" anchor="ctr">
                    <a:solidFill>
                      <a:srgbClr val="F0F0EB"/>
                    </a:solidFill>
                  </a:tcPr>
                </a:tc>
              </a:tr>
              <a:tr h="733425">
                <a:tc>
                  <a:txBody>
                    <a:bodyPr wrap="square"/>
                    <a:lstStyle/>
                    <a:p>
                      <a:pPr>
                        <a:lnSpc>
                          <a:spcPct val="94000"/>
                        </a:lnSpc>
                        <a:buNone/>
                      </a:pPr>
                      <a:r>
                        <a:rPr sz="2100" b="0">
                          <a:solidFill>
                            <a:srgbClr val="0A0A0A"/>
                          </a:solidFill>
                          <a:latin typeface="Noto Sans KR"/>
                          <a:ea typeface="Noto Sans KR"/>
                          <a:cs typeface="Noto Sans KR"/>
                        </a:rPr>
                        <a:t>24.0 == 24.0</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True</a:t>
                      </a:r>
                    </a:p>
                  </a:txBody>
                  <a:tcPr marL="171450" marR="114300" marT="47625" marB="47625" anchor="ctr">
                    <a:solidFill>
                      <a:srgbClr val="FAFAF8"/>
                    </a:solidFill>
                  </a:tcPr>
                </a:tc>
              </a:tr>
            </a:tbl>
          </a:graphicData>
        </a:graphic>
      </p:graphicFrame>
      <p:sp>
        <p:nvSpPr>
          <p:cNvPr id="4" name="">
            <a:extLst xmlns:a="http://schemas.openxmlformats.org/drawingml/2006/main">
              <a:ext uri="{FF2B5EF4-FFF2-40B4-BE49-F238E27FC236}">
                <a16:creationId xmlns:a16="http://schemas.microsoft.com/office/drawing/2014/main" id="{B08A50F0-B64C-4A39-868E-4ACABF911A86}"/>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36E8511-BB7E-41CA-B36E-8C813619387F}"/>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6" name="">
            <a:extLst xmlns:a="http://schemas.openxmlformats.org/drawingml/2006/main">
              <a:ext uri="{FF2B5EF4-FFF2-40B4-BE49-F238E27FC236}">
                <a16:creationId xmlns:a16="http://schemas.microsoft.com/office/drawing/2014/main" id="{196A5993-EC3F-43EF-A88E-8CDB70BF1466}"/>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054</a:t>
            </a:r>
          </a:p>
        </p:txBody>
      </p:sp>
    </p:spTree>
    <p:extLst>
      <p:ext uri="{BB962C8B-B14F-4D97-AF65-F5344CB8AC3E}">
        <p14:creationId xmlns:p14="http://schemas.microsoft.com/office/powerpoint/2010/main" val="83633448"/>
      </p:ext>
    </p:extLst>
  </p:cSld>
</p:sld>
</file>

<file path=ppt/slides/slide55.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7CE3EDE-A7D7-4DA0-9178-8D5498361D7E}"/>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4교시</a:t>
            </a:r>
          </a:p>
        </p:txBody>
      </p:sp>
      <p:sp>
        <p:nvSpPr>
          <p:cNvPr id="2" name="">
            <a:extLst xmlns:a="http://schemas.openxmlformats.org/drawingml/2006/main">
              <a:ext uri="{FF2B5EF4-FFF2-40B4-BE49-F238E27FC236}">
                <a16:creationId xmlns:a16="http://schemas.microsoft.com/office/drawing/2014/main" id="{B2C87BD8-EB54-46E9-B500-E0DB7DE5AE9E}"/>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참은 질문에 대한 답입니다</a:t>
            </a:r>
          </a:p>
        </p:txBody>
      </p:sp>
      <p:sp>
        <p:nvSpPr>
          <p:cNvPr id="3" name="">
            <a:extLst xmlns:a="http://schemas.openxmlformats.org/drawingml/2006/main">
              <a:ext uri="{FF2B5EF4-FFF2-40B4-BE49-F238E27FC236}">
                <a16:creationId xmlns:a16="http://schemas.microsoft.com/office/drawing/2014/main" id="{664C8CE1-D4BC-4083-9AA3-7FA306C4FF3F}"/>
              </a:ext>
            </a:extLst>
          </p:cNvPr>
          <p:cNvSpPr>
            <a:spLocks xmlns:a="http://schemas.openxmlformats.org/drawingml/2006/main" noGrp="1"/>
          </p:cNvSpPr>
          <p:nvPr/>
        </p:nvSpPr>
        <p:spPr>
          <a:xfrm xmlns:a="http://schemas.openxmlformats.org/drawingml/2006/main">
            <a:off x="609600" y="2695575"/>
            <a:ext cx="3524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125" b="0">
                <a:solidFill>
                  <a:srgbClr val="002FA7"/>
                </a:solidFill>
                <a:latin typeface="Noto Sans KR"/>
                <a:ea typeface="Noto Sans KR"/>
                <a:cs typeface="Noto Sans KR"/>
              </a:defRPr>
            </a:pPr>
            <a:r>
              <a:t>질문에 대한 답</a:t>
            </a:r>
          </a:p>
        </p:txBody>
      </p:sp>
      <p:sp>
        <p:nvSpPr>
          <p:cNvPr id="4" name="">
            <a:extLst xmlns:a="http://schemas.openxmlformats.org/drawingml/2006/main">
              <a:ext uri="{FF2B5EF4-FFF2-40B4-BE49-F238E27FC236}">
                <a16:creationId xmlns:a16="http://schemas.microsoft.com/office/drawing/2014/main" id="{9531DD63-CA3B-4B75-A574-7230706C0589}"/>
              </a:ext>
            </a:extLst>
          </p:cNvPr>
          <p:cNvSpPr>
            <a:spLocks xmlns:a="http://schemas.openxmlformats.org/drawingml/2006/main" noGrp="1"/>
          </p:cNvSpPr>
          <p:nvPr/>
        </p:nvSpPr>
        <p:spPr>
          <a:xfrm xmlns:a="http://schemas.openxmlformats.org/drawingml/2006/main">
            <a:off x="4333875" y="2562225"/>
            <a:ext cx="9525" cy="337185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5A9A74E-65EB-493F-B790-2191CA0310FE}"/>
              </a:ext>
            </a:extLst>
          </p:cNvPr>
          <p:cNvSpPr>
            <a:spLocks xmlns:a="http://schemas.openxmlformats.org/drawingml/2006/main" noGrp="1"/>
          </p:cNvSpPr>
          <p:nvPr/>
        </p:nvSpPr>
        <p:spPr>
          <a:xfrm xmlns:a="http://schemas.openxmlformats.org/drawingml/2006/main">
            <a:off x="4724400" y="259080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True는 질문이 참이라는 뜻입니다.</a:t>
            </a:r>
          </a:p>
        </p:txBody>
      </p:sp>
      <p:sp>
        <p:nvSpPr>
          <p:cNvPr id="6" name="">
            <a:extLst xmlns:a="http://schemas.openxmlformats.org/drawingml/2006/main">
              <a:ext uri="{FF2B5EF4-FFF2-40B4-BE49-F238E27FC236}">
                <a16:creationId xmlns:a16="http://schemas.microsoft.com/office/drawing/2014/main" id="{CF1E2878-90A0-48E7-841F-920CBC2300B4}"/>
              </a:ext>
            </a:extLst>
          </p:cNvPr>
          <p:cNvSpPr>
            <a:spLocks xmlns:a="http://schemas.openxmlformats.org/drawingml/2006/main" noGrp="1"/>
          </p:cNvSpPr>
          <p:nvPr/>
        </p:nvSpPr>
        <p:spPr>
          <a:xfrm xmlns:a="http://schemas.openxmlformats.org/drawingml/2006/main">
            <a:off x="4724400" y="3705225"/>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False는 질문이 거짓이라는 뜻입니다.</a:t>
            </a:r>
          </a:p>
        </p:txBody>
      </p:sp>
      <p:sp>
        <p:nvSpPr>
          <p:cNvPr id="7" name="">
            <a:extLst xmlns:a="http://schemas.openxmlformats.org/drawingml/2006/main">
              <a:ext uri="{FF2B5EF4-FFF2-40B4-BE49-F238E27FC236}">
                <a16:creationId xmlns:a16="http://schemas.microsoft.com/office/drawing/2014/main" id="{B582FE79-C747-41F7-B7B2-57A3FD384748}"/>
              </a:ext>
            </a:extLst>
          </p:cNvPr>
          <p:cNvSpPr>
            <a:spLocks xmlns:a="http://schemas.openxmlformats.org/drawingml/2006/main" noGrp="1"/>
          </p:cNvSpPr>
          <p:nvPr/>
        </p:nvSpPr>
        <p:spPr>
          <a:xfrm xmlns:a="http://schemas.openxmlformats.org/drawingml/2006/main">
            <a:off x="4724400" y="481965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참이 늘 정상이나 안전을 뜻하지는 않습니다.</a:t>
            </a:r>
          </a:p>
        </p:txBody>
      </p:sp>
      <p:sp>
        <p:nvSpPr>
          <p:cNvPr id="8" name="">
            <a:extLst xmlns:a="http://schemas.openxmlformats.org/drawingml/2006/main">
              <a:ext uri="{FF2B5EF4-FFF2-40B4-BE49-F238E27FC236}">
                <a16:creationId xmlns:a16="http://schemas.microsoft.com/office/drawing/2014/main" id="{7997DB83-B86C-4DF3-9C8A-44C6A6AB2EBD}"/>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DD2B190-AE37-4A0D-93D7-65D1E98FFE5A}"/>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0" name="">
            <a:extLst xmlns:a="http://schemas.openxmlformats.org/drawingml/2006/main">
              <a:ext uri="{FF2B5EF4-FFF2-40B4-BE49-F238E27FC236}">
                <a16:creationId xmlns:a16="http://schemas.microsoft.com/office/drawing/2014/main" id="{BD0A0A98-4D48-4B93-807C-5AE13E11783C}"/>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055</a:t>
            </a:r>
          </a:p>
        </p:txBody>
      </p:sp>
    </p:spTree>
    <p:extLst>
      <p:ext uri="{BB962C8B-B14F-4D97-AF65-F5344CB8AC3E}">
        <p14:creationId xmlns:p14="http://schemas.microsoft.com/office/powerpoint/2010/main" val="1875544639"/>
      </p:ext>
    </p:extLst>
  </p:cSld>
</p:sld>
</file>

<file path=ppt/slides/slide56.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94F8270-CDC0-4FB3-9872-9AD0C855A5F4}"/>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4교시</a:t>
            </a:r>
          </a:p>
        </p:txBody>
      </p:sp>
      <p:sp>
        <p:nvSpPr>
          <p:cNvPr id="2" name="">
            <a:extLst xmlns:a="http://schemas.openxmlformats.org/drawingml/2006/main">
              <a:ext uri="{FF2B5EF4-FFF2-40B4-BE49-F238E27FC236}">
                <a16:creationId xmlns:a16="http://schemas.microsoft.com/office/drawing/2014/main" id="{B1A17AF3-BF3D-4003-9D0C-4CBB4A049396}"/>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완성 예 · 두 갈래 선택</a:t>
            </a:r>
          </a:p>
        </p:txBody>
      </p:sp>
      <p:sp>
        <p:nvSpPr>
          <p:cNvPr id="3" name="">
            <a:extLst xmlns:a="http://schemas.openxmlformats.org/drawingml/2006/main">
              <a:ext uri="{FF2B5EF4-FFF2-40B4-BE49-F238E27FC236}">
                <a16:creationId xmlns:a16="http://schemas.microsoft.com/office/drawing/2014/main" id="{FC1B9D17-C62A-4018-AE34-FB4CFC0F4F59}"/>
              </a:ext>
            </a:extLst>
          </p:cNvPr>
          <p:cNvSpPr>
            <a:spLocks xmlns:a="http://schemas.openxmlformats.org/drawingml/2006/main" noGrp="1"/>
          </p:cNvSpPr>
          <p:nvPr/>
        </p:nvSpPr>
        <p:spPr>
          <a:xfrm xmlns:a="http://schemas.openxmlformats.org/drawingml/2006/main">
            <a:off x="609600" y="2714625"/>
            <a:ext cx="10972800" cy="2476500"/>
          </a:xfrm>
          <a:prstGeom xmlns:a="http://schemas.openxmlformats.org/drawingml/2006/main" prst="rect">
            <a:avLst/>
          </a:prstGeom>
          <a:solidFill xmlns:a="http://schemas.openxmlformats.org/drawingml/2006/main">
            <a:srgbClr val="0A0A0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ACBDE24-2C94-4FFC-A687-EC7FAF7C0E1C}"/>
              </a:ext>
            </a:extLst>
          </p:cNvPr>
          <p:cNvSpPr>
            <a:spLocks xmlns:a="http://schemas.openxmlformats.org/drawingml/2006/main" noGrp="1"/>
          </p:cNvSpPr>
          <p:nvPr/>
        </p:nvSpPr>
        <p:spPr>
          <a:xfrm xmlns:a="http://schemas.openxmlformats.org/drawingml/2006/main">
            <a:off x="790575" y="29051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01</a:t>
            </a:r>
          </a:p>
        </p:txBody>
      </p:sp>
      <p:sp>
        <p:nvSpPr>
          <p:cNvPr id="5" name="">
            <a:extLst xmlns:a="http://schemas.openxmlformats.org/drawingml/2006/main">
              <a:ext uri="{FF2B5EF4-FFF2-40B4-BE49-F238E27FC236}">
                <a16:creationId xmlns:a16="http://schemas.microsoft.com/office/drawing/2014/main" id="{278A0BBA-604D-4E7D-AD39-ED8595D50C12}"/>
              </a:ext>
            </a:extLst>
          </p:cNvPr>
          <p:cNvSpPr>
            <a:spLocks xmlns:a="http://schemas.openxmlformats.org/drawingml/2006/main" noGrp="1"/>
          </p:cNvSpPr>
          <p:nvPr/>
        </p:nvSpPr>
        <p:spPr>
          <a:xfrm xmlns:a="http://schemas.openxmlformats.org/drawingml/2006/main">
            <a:off x="1390650" y="28670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temperature_c = 23.5</a:t>
            </a:r>
          </a:p>
        </p:txBody>
      </p:sp>
      <p:sp>
        <p:nvSpPr>
          <p:cNvPr id="6" name="">
            <a:extLst xmlns:a="http://schemas.openxmlformats.org/drawingml/2006/main">
              <a:ext uri="{FF2B5EF4-FFF2-40B4-BE49-F238E27FC236}">
                <a16:creationId xmlns:a16="http://schemas.microsoft.com/office/drawing/2014/main" id="{3D6DE700-53E6-4EE5-A8E4-A92E88B6912C}"/>
              </a:ext>
            </a:extLst>
          </p:cNvPr>
          <p:cNvSpPr>
            <a:spLocks xmlns:a="http://schemas.openxmlformats.org/drawingml/2006/main" noGrp="1"/>
          </p:cNvSpPr>
          <p:nvPr/>
        </p:nvSpPr>
        <p:spPr>
          <a:xfrm xmlns:a="http://schemas.openxmlformats.org/drawingml/2006/main">
            <a:off x="790575" y="32480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02</a:t>
            </a:r>
          </a:p>
        </p:txBody>
      </p:sp>
      <p:sp>
        <p:nvSpPr>
          <p:cNvPr id="7" name="">
            <a:extLst xmlns:a="http://schemas.openxmlformats.org/drawingml/2006/main">
              <a:ext uri="{FF2B5EF4-FFF2-40B4-BE49-F238E27FC236}">
                <a16:creationId xmlns:a16="http://schemas.microsoft.com/office/drawing/2014/main" id="{2B4E96E8-A342-4581-9274-DDC9D1A2975F}"/>
              </a:ext>
            </a:extLst>
          </p:cNvPr>
          <p:cNvSpPr>
            <a:spLocks xmlns:a="http://schemas.openxmlformats.org/drawingml/2006/main" noGrp="1"/>
          </p:cNvSpPr>
          <p:nvPr/>
        </p:nvSpPr>
        <p:spPr>
          <a:xfrm xmlns:a="http://schemas.openxmlformats.org/drawingml/2006/main">
            <a:off x="1390650" y="32099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limit = 24.0</a:t>
            </a:r>
          </a:p>
        </p:txBody>
      </p:sp>
      <p:sp>
        <p:nvSpPr>
          <p:cNvPr id="8" name="">
            <a:extLst xmlns:a="http://schemas.openxmlformats.org/drawingml/2006/main">
              <a:ext uri="{FF2B5EF4-FFF2-40B4-BE49-F238E27FC236}">
                <a16:creationId xmlns:a16="http://schemas.microsoft.com/office/drawing/2014/main" id="{CBA851A3-DDEB-4F08-A762-3142CC53E204}"/>
              </a:ext>
            </a:extLst>
          </p:cNvPr>
          <p:cNvSpPr>
            <a:spLocks xmlns:a="http://schemas.openxmlformats.org/drawingml/2006/main" noGrp="1"/>
          </p:cNvSpPr>
          <p:nvPr/>
        </p:nvSpPr>
        <p:spPr>
          <a:xfrm xmlns:a="http://schemas.openxmlformats.org/drawingml/2006/main">
            <a:off x="790575" y="35909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03</a:t>
            </a:r>
          </a:p>
        </p:txBody>
      </p:sp>
      <p:sp>
        <p:nvSpPr>
          <p:cNvPr id="9" name="">
            <a:extLst xmlns:a="http://schemas.openxmlformats.org/drawingml/2006/main">
              <a:ext uri="{FF2B5EF4-FFF2-40B4-BE49-F238E27FC236}">
                <a16:creationId xmlns:a16="http://schemas.microsoft.com/office/drawing/2014/main" id="{0EB1EF2E-FCAA-488A-8B46-C5F09F1AF4CC}"/>
              </a:ext>
            </a:extLst>
          </p:cNvPr>
          <p:cNvSpPr>
            <a:spLocks xmlns:a="http://schemas.openxmlformats.org/drawingml/2006/main" noGrp="1"/>
          </p:cNvSpPr>
          <p:nvPr/>
        </p:nvSpPr>
        <p:spPr>
          <a:xfrm xmlns:a="http://schemas.openxmlformats.org/drawingml/2006/main">
            <a:off x="1390650" y="35528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b="1">
                <a:solidFill>
                  <a:srgbClr val="FFFFFF"/>
                </a:solidFill>
              </a:rPr>
              <a:t>if</a:t>
            </a:r>
            <a:r>
              <a:rPr>
                <a:solidFill>
                  <a:srgbClr val="FFFFFF"/>
                </a:solidFill>
              </a:rPr>
              <a:t> temperature_c &gt; limit:</a:t>
            </a:r>
          </a:p>
        </p:txBody>
      </p:sp>
      <p:sp>
        <p:nvSpPr>
          <p:cNvPr id="10" name="">
            <a:extLst xmlns:a="http://schemas.openxmlformats.org/drawingml/2006/main">
              <a:ext uri="{FF2B5EF4-FFF2-40B4-BE49-F238E27FC236}">
                <a16:creationId xmlns:a16="http://schemas.microsoft.com/office/drawing/2014/main" id="{B945D3C7-98F9-43C6-B514-4AFF9F4ED55C}"/>
              </a:ext>
            </a:extLst>
          </p:cNvPr>
          <p:cNvSpPr>
            <a:spLocks xmlns:a="http://schemas.openxmlformats.org/drawingml/2006/main" noGrp="1"/>
          </p:cNvSpPr>
          <p:nvPr/>
        </p:nvSpPr>
        <p:spPr>
          <a:xfrm xmlns:a="http://schemas.openxmlformats.org/drawingml/2006/main">
            <a:off x="790575" y="39338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04</a:t>
            </a:r>
          </a:p>
        </p:txBody>
      </p:sp>
      <p:sp>
        <p:nvSpPr>
          <p:cNvPr id="11" name="">
            <a:extLst xmlns:a="http://schemas.openxmlformats.org/drawingml/2006/main">
              <a:ext uri="{FF2B5EF4-FFF2-40B4-BE49-F238E27FC236}">
                <a16:creationId xmlns:a16="http://schemas.microsoft.com/office/drawing/2014/main" id="{2ADCC5F3-0E8C-434B-B72B-17C3B35A9637}"/>
              </a:ext>
            </a:extLst>
          </p:cNvPr>
          <p:cNvSpPr>
            <a:spLocks xmlns:a="http://schemas.openxmlformats.org/drawingml/2006/main" noGrp="1"/>
          </p:cNvSpPr>
          <p:nvPr/>
        </p:nvSpPr>
        <p:spPr>
          <a:xfrm xmlns:a="http://schemas.openxmlformats.org/drawingml/2006/main">
            <a:off x="1390650" y="38957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    print(</a:t>
            </a:r>
            <a:r>
              <a:rPr>
                <a:solidFill>
                  <a:srgbClr val="BACBFA"/>
                </a:solidFill>
              </a:rPr>
              <a:t>"확인"</a:t>
            </a:r>
            <a:r>
              <a:rPr>
                <a:solidFill>
                  <a:srgbClr val="FFFFFF"/>
                </a:solidFill>
              </a:rPr>
              <a:t>)</a:t>
            </a:r>
          </a:p>
        </p:txBody>
      </p:sp>
      <p:sp>
        <p:nvSpPr>
          <p:cNvPr id="12" name="">
            <a:extLst xmlns:a="http://schemas.openxmlformats.org/drawingml/2006/main">
              <a:ext uri="{FF2B5EF4-FFF2-40B4-BE49-F238E27FC236}">
                <a16:creationId xmlns:a16="http://schemas.microsoft.com/office/drawing/2014/main" id="{191D4FD2-ACDD-4FC8-8762-D44DD81BD545}"/>
              </a:ext>
            </a:extLst>
          </p:cNvPr>
          <p:cNvSpPr>
            <a:spLocks xmlns:a="http://schemas.openxmlformats.org/drawingml/2006/main" noGrp="1"/>
          </p:cNvSpPr>
          <p:nvPr/>
        </p:nvSpPr>
        <p:spPr>
          <a:xfrm xmlns:a="http://schemas.openxmlformats.org/drawingml/2006/main">
            <a:off x="790575" y="42767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05</a:t>
            </a:r>
          </a:p>
        </p:txBody>
      </p:sp>
      <p:sp>
        <p:nvSpPr>
          <p:cNvPr id="13" name="">
            <a:extLst xmlns:a="http://schemas.openxmlformats.org/drawingml/2006/main">
              <a:ext uri="{FF2B5EF4-FFF2-40B4-BE49-F238E27FC236}">
                <a16:creationId xmlns:a16="http://schemas.microsoft.com/office/drawing/2014/main" id="{26837320-C55F-4397-B7E9-DD0E25AC1063}"/>
              </a:ext>
            </a:extLst>
          </p:cNvPr>
          <p:cNvSpPr>
            <a:spLocks xmlns:a="http://schemas.openxmlformats.org/drawingml/2006/main" noGrp="1"/>
          </p:cNvSpPr>
          <p:nvPr/>
        </p:nvSpPr>
        <p:spPr>
          <a:xfrm xmlns:a="http://schemas.openxmlformats.org/drawingml/2006/main">
            <a:off x="1390650" y="42386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b="1">
                <a:solidFill>
                  <a:srgbClr val="FFFFFF"/>
                </a:solidFill>
              </a:rPr>
              <a:t>else</a:t>
            </a:r>
            <a:r>
              <a:rPr>
                <a:solidFill>
                  <a:srgbClr val="FFFFFF"/>
                </a:solidFill>
              </a:rPr>
              <a:t>:</a:t>
            </a:r>
          </a:p>
        </p:txBody>
      </p:sp>
      <p:sp>
        <p:nvSpPr>
          <p:cNvPr id="14" name="">
            <a:extLst xmlns:a="http://schemas.openxmlformats.org/drawingml/2006/main">
              <a:ext uri="{FF2B5EF4-FFF2-40B4-BE49-F238E27FC236}">
                <a16:creationId xmlns:a16="http://schemas.microsoft.com/office/drawing/2014/main" id="{1AA4CBAF-A060-4A42-814B-4E740575F297}"/>
              </a:ext>
            </a:extLst>
          </p:cNvPr>
          <p:cNvSpPr>
            <a:spLocks xmlns:a="http://schemas.openxmlformats.org/drawingml/2006/main" noGrp="1"/>
          </p:cNvSpPr>
          <p:nvPr/>
        </p:nvSpPr>
        <p:spPr>
          <a:xfrm xmlns:a="http://schemas.openxmlformats.org/drawingml/2006/main">
            <a:off x="790575" y="46196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06</a:t>
            </a:r>
          </a:p>
        </p:txBody>
      </p:sp>
      <p:sp>
        <p:nvSpPr>
          <p:cNvPr id="15" name="">
            <a:extLst xmlns:a="http://schemas.openxmlformats.org/drawingml/2006/main">
              <a:ext uri="{FF2B5EF4-FFF2-40B4-BE49-F238E27FC236}">
                <a16:creationId xmlns:a16="http://schemas.microsoft.com/office/drawing/2014/main" id="{2F49A3C8-E34E-4779-BB7F-799826DED760}"/>
              </a:ext>
            </a:extLst>
          </p:cNvPr>
          <p:cNvSpPr>
            <a:spLocks xmlns:a="http://schemas.openxmlformats.org/drawingml/2006/main" noGrp="1"/>
          </p:cNvSpPr>
          <p:nvPr/>
        </p:nvSpPr>
        <p:spPr>
          <a:xfrm xmlns:a="http://schemas.openxmlformats.org/drawingml/2006/main">
            <a:off x="1390650" y="45815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    print(</a:t>
            </a:r>
            <a:r>
              <a:rPr>
                <a:solidFill>
                  <a:srgbClr val="BACBFA"/>
                </a:solidFill>
              </a:rPr>
              <a:t>"정상"</a:t>
            </a:r>
            <a:r>
              <a:rPr>
                <a:solidFill>
                  <a:srgbClr val="FFFFFF"/>
                </a:solidFill>
              </a:rPr>
              <a:t>)</a:t>
            </a:r>
          </a:p>
        </p:txBody>
      </p:sp>
      <p:sp>
        <p:nvSpPr>
          <p:cNvPr id="16" name="">
            <a:extLst xmlns:a="http://schemas.openxmlformats.org/drawingml/2006/main">
              <a:ext uri="{FF2B5EF4-FFF2-40B4-BE49-F238E27FC236}">
                <a16:creationId xmlns:a16="http://schemas.microsoft.com/office/drawing/2014/main" id="{FE743252-E3CB-4149-AD20-4BE4082FD184}"/>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801B392-6A0B-47C4-B33C-ADFA25CB44E6}"/>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8" name="">
            <a:extLst xmlns:a="http://schemas.openxmlformats.org/drawingml/2006/main">
              <a:ext uri="{FF2B5EF4-FFF2-40B4-BE49-F238E27FC236}">
                <a16:creationId xmlns:a16="http://schemas.microsoft.com/office/drawing/2014/main" id="{20931091-A99E-4BFC-B783-CFE20CA410B4}"/>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056</a:t>
            </a:r>
          </a:p>
        </p:txBody>
      </p:sp>
    </p:spTree>
    <p:extLst>
      <p:ext uri="{BB962C8B-B14F-4D97-AF65-F5344CB8AC3E}">
        <p14:creationId xmlns:p14="http://schemas.microsoft.com/office/powerpoint/2010/main" val="2112311084"/>
      </p:ext>
    </p:extLst>
  </p:cSld>
</p:sld>
</file>

<file path=ppt/slides/slide57.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6E37DB9-26D0-4A73-8BE7-A7E13C67FCDD}"/>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4교시</a:t>
            </a:r>
          </a:p>
        </p:txBody>
      </p:sp>
      <p:sp>
        <p:nvSpPr>
          <p:cNvPr id="2" name="">
            <a:extLst xmlns:a="http://schemas.openxmlformats.org/drawingml/2006/main">
              <a:ext uri="{FF2B5EF4-FFF2-40B4-BE49-F238E27FC236}">
                <a16:creationId xmlns:a16="http://schemas.microsoft.com/office/drawing/2014/main" id="{932E37C1-079D-446A-B742-BA994AAE9AFF}"/>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if와 else를 읽기</a:t>
            </a:r>
          </a:p>
        </p:txBody>
      </p:sp>
      <p:sp>
        <p:nvSpPr>
          <p:cNvPr id="3" name="">
            <a:extLst xmlns:a="http://schemas.openxmlformats.org/drawingml/2006/main">
              <a:ext uri="{FF2B5EF4-FFF2-40B4-BE49-F238E27FC236}">
                <a16:creationId xmlns:a16="http://schemas.microsoft.com/office/drawing/2014/main" id="{097AD038-7F6B-43C7-B5BA-32127B1C9F5F}"/>
              </a:ext>
            </a:extLst>
          </p:cNvPr>
          <p:cNvSpPr>
            <a:spLocks xmlns:a="http://schemas.openxmlformats.org/drawingml/2006/main" noGrp="1"/>
          </p:cNvSpPr>
          <p:nvPr/>
        </p:nvSpPr>
        <p:spPr>
          <a:xfrm xmlns:a="http://schemas.openxmlformats.org/drawingml/2006/main">
            <a:off x="609600" y="241935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01</a:t>
            </a:r>
          </a:p>
        </p:txBody>
      </p:sp>
      <p:sp>
        <p:nvSpPr>
          <p:cNvPr id="4" name="">
            <a:extLst xmlns:a="http://schemas.openxmlformats.org/drawingml/2006/main">
              <a:ext uri="{FF2B5EF4-FFF2-40B4-BE49-F238E27FC236}">
                <a16:creationId xmlns:a16="http://schemas.microsoft.com/office/drawing/2014/main" id="{C9A1730D-901F-4EC2-A0F6-A37D690F79A2}"/>
              </a:ext>
            </a:extLst>
          </p:cNvPr>
          <p:cNvSpPr>
            <a:spLocks xmlns:a="http://schemas.openxmlformats.org/drawingml/2006/main" noGrp="1"/>
          </p:cNvSpPr>
          <p:nvPr/>
        </p:nvSpPr>
        <p:spPr>
          <a:xfrm xmlns:a="http://schemas.openxmlformats.org/drawingml/2006/main">
            <a:off x="1657350" y="248602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if 뒤 </a:t>
            </a:r>
            <a:r>
              <a:rPr b="1">
                <a:solidFill>
                  <a:srgbClr val="002FA7"/>
                </a:solidFill>
              </a:rPr>
              <a:t>조건을 먼저 확인</a:t>
            </a:r>
            <a:r>
              <a:t>합니다.</a:t>
            </a:r>
          </a:p>
        </p:txBody>
      </p:sp>
      <p:sp>
        <p:nvSpPr>
          <p:cNvPr id="5" name="">
            <a:extLst xmlns:a="http://schemas.openxmlformats.org/drawingml/2006/main">
              <a:ext uri="{FF2B5EF4-FFF2-40B4-BE49-F238E27FC236}">
                <a16:creationId xmlns:a16="http://schemas.microsoft.com/office/drawing/2014/main" id="{282B7D7C-3654-4897-A6E1-85D94DD5AD21}"/>
              </a:ext>
            </a:extLst>
          </p:cNvPr>
          <p:cNvSpPr>
            <a:spLocks xmlns:a="http://schemas.openxmlformats.org/drawingml/2006/main" noGrp="1"/>
          </p:cNvSpPr>
          <p:nvPr/>
        </p:nvSpPr>
        <p:spPr>
          <a:xfrm xmlns:a="http://schemas.openxmlformats.org/drawingml/2006/main">
            <a:off x="1657350" y="3419475"/>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50288AF-EEB2-48B7-AC1B-76D7A1A1D907}"/>
              </a:ext>
            </a:extLst>
          </p:cNvPr>
          <p:cNvSpPr>
            <a:spLocks xmlns:a="http://schemas.openxmlformats.org/drawingml/2006/main" noGrp="1"/>
          </p:cNvSpPr>
          <p:nvPr/>
        </p:nvSpPr>
        <p:spPr>
          <a:xfrm xmlns:a="http://schemas.openxmlformats.org/drawingml/2006/main">
            <a:off x="609600" y="3514725"/>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02</a:t>
            </a:r>
          </a:p>
        </p:txBody>
      </p:sp>
      <p:sp>
        <p:nvSpPr>
          <p:cNvPr id="7" name="">
            <a:extLst xmlns:a="http://schemas.openxmlformats.org/drawingml/2006/main">
              <a:ext uri="{FF2B5EF4-FFF2-40B4-BE49-F238E27FC236}">
                <a16:creationId xmlns:a16="http://schemas.microsoft.com/office/drawing/2014/main" id="{16BD232F-3E93-4718-A8BB-720348B8EF8E}"/>
              </a:ext>
            </a:extLst>
          </p:cNvPr>
          <p:cNvSpPr>
            <a:spLocks xmlns:a="http://schemas.openxmlformats.org/drawingml/2006/main" noGrp="1"/>
          </p:cNvSpPr>
          <p:nvPr/>
        </p:nvSpPr>
        <p:spPr>
          <a:xfrm xmlns:a="http://schemas.openxmlformats.org/drawingml/2006/main">
            <a:off x="1657350" y="358140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참이면 들여쓴 첫 갈래를 실행합니다.</a:t>
            </a:r>
          </a:p>
        </p:txBody>
      </p:sp>
      <p:sp>
        <p:nvSpPr>
          <p:cNvPr id="8" name="">
            <a:extLst xmlns:a="http://schemas.openxmlformats.org/drawingml/2006/main">
              <a:ext uri="{FF2B5EF4-FFF2-40B4-BE49-F238E27FC236}">
                <a16:creationId xmlns:a16="http://schemas.microsoft.com/office/drawing/2014/main" id="{DEFC1E66-E462-4648-A101-84AF623DE640}"/>
              </a:ext>
            </a:extLst>
          </p:cNvPr>
          <p:cNvSpPr>
            <a:spLocks xmlns:a="http://schemas.openxmlformats.org/drawingml/2006/main" noGrp="1"/>
          </p:cNvSpPr>
          <p:nvPr/>
        </p:nvSpPr>
        <p:spPr>
          <a:xfrm xmlns:a="http://schemas.openxmlformats.org/drawingml/2006/main">
            <a:off x="1657350" y="4514850"/>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8135056-93D7-4548-A0CB-F6D1CD948C61}"/>
              </a:ext>
            </a:extLst>
          </p:cNvPr>
          <p:cNvSpPr>
            <a:spLocks xmlns:a="http://schemas.openxmlformats.org/drawingml/2006/main" noGrp="1"/>
          </p:cNvSpPr>
          <p:nvPr/>
        </p:nvSpPr>
        <p:spPr>
          <a:xfrm xmlns:a="http://schemas.openxmlformats.org/drawingml/2006/main">
            <a:off x="609600" y="461010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03</a:t>
            </a:r>
          </a:p>
        </p:txBody>
      </p:sp>
      <p:sp>
        <p:nvSpPr>
          <p:cNvPr id="10" name="">
            <a:extLst xmlns:a="http://schemas.openxmlformats.org/drawingml/2006/main">
              <a:ext uri="{FF2B5EF4-FFF2-40B4-BE49-F238E27FC236}">
                <a16:creationId xmlns:a16="http://schemas.microsoft.com/office/drawing/2014/main" id="{20B4A07F-158E-4355-A1FC-205F1C4D6130}"/>
              </a:ext>
            </a:extLst>
          </p:cNvPr>
          <p:cNvSpPr>
            <a:spLocks xmlns:a="http://schemas.openxmlformats.org/drawingml/2006/main" noGrp="1"/>
          </p:cNvSpPr>
          <p:nvPr/>
        </p:nvSpPr>
        <p:spPr>
          <a:xfrm xmlns:a="http://schemas.openxmlformats.org/drawingml/2006/main">
            <a:off x="1657350" y="467677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거짓이면 else 갈래를 실행합니다.</a:t>
            </a:r>
          </a:p>
        </p:txBody>
      </p:sp>
      <p:sp>
        <p:nvSpPr>
          <p:cNvPr id="11" name="">
            <a:extLst xmlns:a="http://schemas.openxmlformats.org/drawingml/2006/main">
              <a:ext uri="{FF2B5EF4-FFF2-40B4-BE49-F238E27FC236}">
                <a16:creationId xmlns:a16="http://schemas.microsoft.com/office/drawing/2014/main" id="{ECA3837A-6412-4628-BEC7-465F4DF1AC68}"/>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AE570CB-A22A-4965-9B28-A101042074B9}"/>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3" name="">
            <a:extLst xmlns:a="http://schemas.openxmlformats.org/drawingml/2006/main">
              <a:ext uri="{FF2B5EF4-FFF2-40B4-BE49-F238E27FC236}">
                <a16:creationId xmlns:a16="http://schemas.microsoft.com/office/drawing/2014/main" id="{24565A96-9F6F-41CC-860B-0239C7D9BF66}"/>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057</a:t>
            </a:r>
          </a:p>
        </p:txBody>
      </p:sp>
    </p:spTree>
    <p:extLst>
      <p:ext uri="{BB962C8B-B14F-4D97-AF65-F5344CB8AC3E}">
        <p14:creationId xmlns:p14="http://schemas.microsoft.com/office/powerpoint/2010/main" val="239956280"/>
      </p:ext>
    </p:extLst>
  </p:cSld>
</p:sld>
</file>

<file path=ppt/slides/slide58.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E1FBD69-FF06-44FB-87C8-F268DAA7441C}"/>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4교시</a:t>
            </a:r>
          </a:p>
        </p:txBody>
      </p:sp>
      <p:sp>
        <p:nvSpPr>
          <p:cNvPr id="2" name="">
            <a:extLst xmlns:a="http://schemas.openxmlformats.org/drawingml/2006/main">
              <a:ext uri="{FF2B5EF4-FFF2-40B4-BE49-F238E27FC236}">
                <a16:creationId xmlns:a16="http://schemas.microsoft.com/office/drawing/2014/main" id="{F069FB8D-0B6D-4C4F-A04D-B70640CEA1D5}"/>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예상과 수정 결과</a:t>
            </a:r>
          </a:p>
        </p:txBody>
      </p:sp>
      <p:sp>
        <p:nvSpPr>
          <p:cNvPr id="3" name="">
            <a:extLst xmlns:a="http://schemas.openxmlformats.org/drawingml/2006/main">
              <a:ext uri="{FF2B5EF4-FFF2-40B4-BE49-F238E27FC236}">
                <a16:creationId xmlns:a16="http://schemas.microsoft.com/office/drawing/2014/main" id="{89122A1F-404C-4D87-B104-01C153ADFC18}"/>
              </a:ext>
            </a:extLst>
          </p:cNvPr>
          <p:cNvSpPr>
            <a:spLocks xmlns:a="http://schemas.openxmlformats.org/drawingml/2006/main" noGrp="1"/>
          </p:cNvSpPr>
          <p:nvPr/>
        </p:nvSpPr>
        <p:spPr>
          <a:xfrm xmlns:a="http://schemas.openxmlformats.org/drawingml/2006/main">
            <a:off x="6086475" y="2514600"/>
            <a:ext cx="9525" cy="189547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5873AFE-D378-41E0-A5C7-4F5994471A15}"/>
              </a:ext>
            </a:extLst>
          </p:cNvPr>
          <p:cNvSpPr>
            <a:spLocks xmlns:a="http://schemas.openxmlformats.org/drawingml/2006/main" noGrp="1"/>
          </p:cNvSpPr>
          <p:nvPr/>
        </p:nvSpPr>
        <p:spPr>
          <a:xfrm xmlns:a="http://schemas.openxmlformats.org/drawingml/2006/main">
            <a:off x="609600" y="2667000"/>
            <a:ext cx="51435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0A0A0A"/>
                </a:solidFill>
                <a:latin typeface="Noto Sans KR"/>
                <a:ea typeface="Noto Sans KR"/>
                <a:cs typeface="Noto Sans KR"/>
              </a:defRPr>
            </a:pPr>
            <a:r>
              <a:t>23.5는 24.0 초과가 아니므로 정상입니다.</a:t>
            </a:r>
          </a:p>
        </p:txBody>
      </p:sp>
      <p:sp>
        <p:nvSpPr>
          <p:cNvPr id="5" name="">
            <a:extLst xmlns:a="http://schemas.openxmlformats.org/drawingml/2006/main">
              <a:ext uri="{FF2B5EF4-FFF2-40B4-BE49-F238E27FC236}">
                <a16:creationId xmlns:a16="http://schemas.microsoft.com/office/drawing/2014/main" id="{2420D883-893B-4BD8-B9CE-65CCAE23C8BA}"/>
              </a:ext>
            </a:extLst>
          </p:cNvPr>
          <p:cNvSpPr>
            <a:spLocks xmlns:a="http://schemas.openxmlformats.org/drawingml/2006/main" noGrp="1"/>
          </p:cNvSpPr>
          <p:nvPr/>
        </p:nvSpPr>
        <p:spPr>
          <a:xfrm xmlns:a="http://schemas.openxmlformats.org/drawingml/2006/main">
            <a:off x="6400800" y="2667000"/>
            <a:ext cx="51435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0A0A0A"/>
                </a:solidFill>
                <a:latin typeface="Noto Sans KR"/>
                <a:ea typeface="Noto Sans KR"/>
                <a:cs typeface="Noto Sans KR"/>
              </a:defRPr>
            </a:pPr>
            <a:r>
              <a:t>25.0으로 바꾸면 확인을 출력합니다.</a:t>
            </a:r>
          </a:p>
        </p:txBody>
      </p:sp>
      <p:sp>
        <p:nvSpPr>
          <p:cNvPr id="6" name="">
            <a:extLst xmlns:a="http://schemas.openxmlformats.org/drawingml/2006/main">
              <a:ext uri="{FF2B5EF4-FFF2-40B4-BE49-F238E27FC236}">
                <a16:creationId xmlns:a16="http://schemas.microsoft.com/office/drawing/2014/main" id="{7FA38446-29BB-41A2-A39C-1A430EF0E006}"/>
              </a:ext>
            </a:extLst>
          </p:cNvPr>
          <p:cNvSpPr>
            <a:spLocks xmlns:a="http://schemas.openxmlformats.org/drawingml/2006/main" noGrp="1"/>
          </p:cNvSpPr>
          <p:nvPr/>
        </p:nvSpPr>
        <p:spPr>
          <a:xfrm xmlns:a="http://schemas.openxmlformats.org/drawingml/2006/main">
            <a:off x="609600" y="4552950"/>
            <a:ext cx="10972800" cy="9525"/>
          </a:xfrm>
          <a:prstGeom xmlns:a="http://schemas.openxmlformats.org/drawingml/2006/main" prst="rect">
            <a:avLst/>
          </a:prstGeom>
          <a:solidFill xmlns:a="http://schemas.openxmlformats.org/drawingml/2006/main">
            <a:srgbClr val="002FA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E040FCE-7860-477D-8850-D908EF2E93E9}"/>
              </a:ext>
            </a:extLst>
          </p:cNvPr>
          <p:cNvSpPr>
            <a:spLocks xmlns:a="http://schemas.openxmlformats.org/drawingml/2006/main" noGrp="1"/>
          </p:cNvSpPr>
          <p:nvPr/>
        </p:nvSpPr>
        <p:spPr>
          <a:xfrm xmlns:a="http://schemas.openxmlformats.org/drawingml/2006/main">
            <a:off x="609600" y="48101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0A0A0A"/>
                </a:solidFill>
                <a:latin typeface="Noto Sans KR"/>
                <a:ea typeface="Noto Sans KR"/>
                <a:cs typeface="Noto Sans KR"/>
              </a:defRPr>
            </a:pPr>
            <a:r>
              <a:rPr b="1">
                <a:solidFill>
                  <a:srgbClr val="002FA7"/>
                </a:solidFill>
              </a:rPr>
              <a:t>24.0 자체</a:t>
            </a:r>
            <a:r>
              <a:t>는 초과에 포함되지 않습니다.</a:t>
            </a:r>
          </a:p>
        </p:txBody>
      </p:sp>
      <p:sp>
        <p:nvSpPr>
          <p:cNvPr id="8" name="">
            <a:extLst xmlns:a="http://schemas.openxmlformats.org/drawingml/2006/main">
              <a:ext uri="{FF2B5EF4-FFF2-40B4-BE49-F238E27FC236}">
                <a16:creationId xmlns:a16="http://schemas.microsoft.com/office/drawing/2014/main" id="{12ABC5FA-F9CB-4964-AA07-C55E9ED5477A}"/>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BFF0888-728E-4560-9214-63B9F2B7E176}"/>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0" name="">
            <a:extLst xmlns:a="http://schemas.openxmlformats.org/drawingml/2006/main">
              <a:ext uri="{FF2B5EF4-FFF2-40B4-BE49-F238E27FC236}">
                <a16:creationId xmlns:a16="http://schemas.microsoft.com/office/drawing/2014/main" id="{0F560441-3715-4C12-AD02-F785B25E9A71}"/>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058</a:t>
            </a:r>
          </a:p>
        </p:txBody>
      </p:sp>
    </p:spTree>
    <p:extLst>
      <p:ext uri="{BB962C8B-B14F-4D97-AF65-F5344CB8AC3E}">
        <p14:creationId xmlns:p14="http://schemas.microsoft.com/office/powerpoint/2010/main" val="857411968"/>
      </p:ext>
    </p:extLst>
  </p:cSld>
</p:sld>
</file>

<file path=ppt/slides/slide59.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5B61F3B-8E80-47BD-8ED1-6F249ED0260C}"/>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4교시</a:t>
            </a:r>
          </a:p>
        </p:txBody>
      </p:sp>
      <p:sp>
        <p:nvSpPr>
          <p:cNvPr id="2" name="">
            <a:extLst xmlns:a="http://schemas.openxmlformats.org/drawingml/2006/main">
              <a:ext uri="{FF2B5EF4-FFF2-40B4-BE49-F238E27FC236}">
                <a16:creationId xmlns:a16="http://schemas.microsoft.com/office/drawing/2014/main" id="{49AF6A3E-B51D-42F3-B060-2C76CAFAB460}"/>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완성 예 · 미측정 먼저 처리</a:t>
            </a:r>
          </a:p>
        </p:txBody>
      </p:sp>
      <p:sp>
        <p:nvSpPr>
          <p:cNvPr id="3" name="">
            <a:extLst xmlns:a="http://schemas.openxmlformats.org/drawingml/2006/main">
              <a:ext uri="{FF2B5EF4-FFF2-40B4-BE49-F238E27FC236}">
                <a16:creationId xmlns:a16="http://schemas.microsoft.com/office/drawing/2014/main" id="{07C3863D-D0FA-4709-A14F-24FC4CF8AA58}"/>
              </a:ext>
            </a:extLst>
          </p:cNvPr>
          <p:cNvSpPr>
            <a:spLocks xmlns:a="http://schemas.openxmlformats.org/drawingml/2006/main" noGrp="1"/>
          </p:cNvSpPr>
          <p:nvPr/>
        </p:nvSpPr>
        <p:spPr>
          <a:xfrm xmlns:a="http://schemas.openxmlformats.org/drawingml/2006/main">
            <a:off x="609600" y="2714625"/>
            <a:ext cx="10972800" cy="2819400"/>
          </a:xfrm>
          <a:prstGeom xmlns:a="http://schemas.openxmlformats.org/drawingml/2006/main" prst="rect">
            <a:avLst/>
          </a:prstGeom>
          <a:solidFill xmlns:a="http://schemas.openxmlformats.org/drawingml/2006/main">
            <a:srgbClr val="0A0A0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ACF2F4F-642F-4625-B857-455C4F7945E9}"/>
              </a:ext>
            </a:extLst>
          </p:cNvPr>
          <p:cNvSpPr>
            <a:spLocks xmlns:a="http://schemas.openxmlformats.org/drawingml/2006/main" noGrp="1"/>
          </p:cNvSpPr>
          <p:nvPr/>
        </p:nvSpPr>
        <p:spPr>
          <a:xfrm xmlns:a="http://schemas.openxmlformats.org/drawingml/2006/main">
            <a:off x="790575" y="29051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01</a:t>
            </a:r>
          </a:p>
        </p:txBody>
      </p:sp>
      <p:sp>
        <p:nvSpPr>
          <p:cNvPr id="5" name="">
            <a:extLst xmlns:a="http://schemas.openxmlformats.org/drawingml/2006/main">
              <a:ext uri="{FF2B5EF4-FFF2-40B4-BE49-F238E27FC236}">
                <a16:creationId xmlns:a16="http://schemas.microsoft.com/office/drawing/2014/main" id="{0C6DBF49-7D34-4821-87F6-211DE0F1D3FA}"/>
              </a:ext>
            </a:extLst>
          </p:cNvPr>
          <p:cNvSpPr>
            <a:spLocks xmlns:a="http://schemas.openxmlformats.org/drawingml/2006/main" noGrp="1"/>
          </p:cNvSpPr>
          <p:nvPr/>
        </p:nvSpPr>
        <p:spPr>
          <a:xfrm xmlns:a="http://schemas.openxmlformats.org/drawingml/2006/main">
            <a:off x="1390650" y="28670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temperature_c = </a:t>
            </a:r>
            <a:r>
              <a:rPr b="1">
                <a:solidFill>
                  <a:srgbClr val="FFFFFF"/>
                </a:solidFill>
              </a:rPr>
              <a:t>None</a:t>
            </a:r>
          </a:p>
        </p:txBody>
      </p:sp>
      <p:sp>
        <p:nvSpPr>
          <p:cNvPr id="6" name="">
            <a:extLst xmlns:a="http://schemas.openxmlformats.org/drawingml/2006/main">
              <a:ext uri="{FF2B5EF4-FFF2-40B4-BE49-F238E27FC236}">
                <a16:creationId xmlns:a16="http://schemas.microsoft.com/office/drawing/2014/main" id="{B10D059E-9C3C-4653-920D-9B4F38B18E63}"/>
              </a:ext>
            </a:extLst>
          </p:cNvPr>
          <p:cNvSpPr>
            <a:spLocks xmlns:a="http://schemas.openxmlformats.org/drawingml/2006/main" noGrp="1"/>
          </p:cNvSpPr>
          <p:nvPr/>
        </p:nvSpPr>
        <p:spPr>
          <a:xfrm xmlns:a="http://schemas.openxmlformats.org/drawingml/2006/main">
            <a:off x="790575" y="32480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02</a:t>
            </a:r>
          </a:p>
        </p:txBody>
      </p:sp>
      <p:sp>
        <p:nvSpPr>
          <p:cNvPr id="7" name="">
            <a:extLst xmlns:a="http://schemas.openxmlformats.org/drawingml/2006/main">
              <a:ext uri="{FF2B5EF4-FFF2-40B4-BE49-F238E27FC236}">
                <a16:creationId xmlns:a16="http://schemas.microsoft.com/office/drawing/2014/main" id="{26A854EF-7BB4-4C2D-A1D3-8FD66CC66F76}"/>
              </a:ext>
            </a:extLst>
          </p:cNvPr>
          <p:cNvSpPr>
            <a:spLocks xmlns:a="http://schemas.openxmlformats.org/drawingml/2006/main" noGrp="1"/>
          </p:cNvSpPr>
          <p:nvPr/>
        </p:nvSpPr>
        <p:spPr>
          <a:xfrm xmlns:a="http://schemas.openxmlformats.org/drawingml/2006/main">
            <a:off x="1390650" y="32099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b="1">
                <a:solidFill>
                  <a:srgbClr val="FFFFFF"/>
                </a:solidFill>
              </a:rPr>
              <a:t>if</a:t>
            </a:r>
            <a:r>
              <a:rPr>
                <a:solidFill>
                  <a:srgbClr val="FFFFFF"/>
                </a:solidFill>
              </a:rPr>
              <a:t> temperature_c is </a:t>
            </a:r>
            <a:r>
              <a:rPr b="1">
                <a:solidFill>
                  <a:srgbClr val="FFFFFF"/>
                </a:solidFill>
              </a:rPr>
              <a:t>None</a:t>
            </a:r>
            <a:r>
              <a:rPr>
                <a:solidFill>
                  <a:srgbClr val="FFFFFF"/>
                </a:solidFill>
              </a:rPr>
              <a:t>:</a:t>
            </a:r>
          </a:p>
        </p:txBody>
      </p:sp>
      <p:sp>
        <p:nvSpPr>
          <p:cNvPr id="8" name="">
            <a:extLst xmlns:a="http://schemas.openxmlformats.org/drawingml/2006/main">
              <a:ext uri="{FF2B5EF4-FFF2-40B4-BE49-F238E27FC236}">
                <a16:creationId xmlns:a16="http://schemas.microsoft.com/office/drawing/2014/main" id="{A3FE3530-A56E-4A06-BC72-34D668423254}"/>
              </a:ext>
            </a:extLst>
          </p:cNvPr>
          <p:cNvSpPr>
            <a:spLocks xmlns:a="http://schemas.openxmlformats.org/drawingml/2006/main" noGrp="1"/>
          </p:cNvSpPr>
          <p:nvPr/>
        </p:nvSpPr>
        <p:spPr>
          <a:xfrm xmlns:a="http://schemas.openxmlformats.org/drawingml/2006/main">
            <a:off x="790575" y="35909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03</a:t>
            </a:r>
          </a:p>
        </p:txBody>
      </p:sp>
      <p:sp>
        <p:nvSpPr>
          <p:cNvPr id="9" name="">
            <a:extLst xmlns:a="http://schemas.openxmlformats.org/drawingml/2006/main">
              <a:ext uri="{FF2B5EF4-FFF2-40B4-BE49-F238E27FC236}">
                <a16:creationId xmlns:a16="http://schemas.microsoft.com/office/drawing/2014/main" id="{A458BF0F-FFE6-4ED2-86D2-DEA298BF9A4F}"/>
              </a:ext>
            </a:extLst>
          </p:cNvPr>
          <p:cNvSpPr>
            <a:spLocks xmlns:a="http://schemas.openxmlformats.org/drawingml/2006/main" noGrp="1"/>
          </p:cNvSpPr>
          <p:nvPr/>
        </p:nvSpPr>
        <p:spPr>
          <a:xfrm xmlns:a="http://schemas.openxmlformats.org/drawingml/2006/main">
            <a:off x="1390650" y="35528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    print(</a:t>
            </a:r>
            <a:r>
              <a:rPr>
                <a:solidFill>
                  <a:srgbClr val="BACBFA"/>
                </a:solidFill>
              </a:rPr>
              <a:t>"미측정"</a:t>
            </a:r>
            <a:r>
              <a:rPr>
                <a:solidFill>
                  <a:srgbClr val="FFFFFF"/>
                </a:solidFill>
              </a:rPr>
              <a:t>)</a:t>
            </a:r>
          </a:p>
        </p:txBody>
      </p:sp>
      <p:sp>
        <p:nvSpPr>
          <p:cNvPr id="10" name="">
            <a:extLst xmlns:a="http://schemas.openxmlformats.org/drawingml/2006/main">
              <a:ext uri="{FF2B5EF4-FFF2-40B4-BE49-F238E27FC236}">
                <a16:creationId xmlns:a16="http://schemas.microsoft.com/office/drawing/2014/main" id="{705D8B8C-033F-46AD-9D62-9A93D1385ED2}"/>
              </a:ext>
            </a:extLst>
          </p:cNvPr>
          <p:cNvSpPr>
            <a:spLocks xmlns:a="http://schemas.openxmlformats.org/drawingml/2006/main" noGrp="1"/>
          </p:cNvSpPr>
          <p:nvPr/>
        </p:nvSpPr>
        <p:spPr>
          <a:xfrm xmlns:a="http://schemas.openxmlformats.org/drawingml/2006/main">
            <a:off x="790575" y="39338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04</a:t>
            </a:r>
          </a:p>
        </p:txBody>
      </p:sp>
      <p:sp>
        <p:nvSpPr>
          <p:cNvPr id="11" name="">
            <a:extLst xmlns:a="http://schemas.openxmlformats.org/drawingml/2006/main">
              <a:ext uri="{FF2B5EF4-FFF2-40B4-BE49-F238E27FC236}">
                <a16:creationId xmlns:a16="http://schemas.microsoft.com/office/drawing/2014/main" id="{66E37291-97D7-4E4F-A940-D5B1FA18EC4F}"/>
              </a:ext>
            </a:extLst>
          </p:cNvPr>
          <p:cNvSpPr>
            <a:spLocks xmlns:a="http://schemas.openxmlformats.org/drawingml/2006/main" noGrp="1"/>
          </p:cNvSpPr>
          <p:nvPr/>
        </p:nvSpPr>
        <p:spPr>
          <a:xfrm xmlns:a="http://schemas.openxmlformats.org/drawingml/2006/main">
            <a:off x="1390650" y="38957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b="1">
                <a:solidFill>
                  <a:srgbClr val="FFFFFF"/>
                </a:solidFill>
              </a:rPr>
              <a:t>elif</a:t>
            </a:r>
            <a:r>
              <a:rPr>
                <a:solidFill>
                  <a:srgbClr val="FFFFFF"/>
                </a:solidFill>
              </a:rPr>
              <a:t> temperature_c &gt; 24.0:</a:t>
            </a:r>
          </a:p>
        </p:txBody>
      </p:sp>
      <p:sp>
        <p:nvSpPr>
          <p:cNvPr id="12" name="">
            <a:extLst xmlns:a="http://schemas.openxmlformats.org/drawingml/2006/main">
              <a:ext uri="{FF2B5EF4-FFF2-40B4-BE49-F238E27FC236}">
                <a16:creationId xmlns:a16="http://schemas.microsoft.com/office/drawing/2014/main" id="{172F1BC1-15B2-441A-98E7-A66AA49D5997}"/>
              </a:ext>
            </a:extLst>
          </p:cNvPr>
          <p:cNvSpPr>
            <a:spLocks xmlns:a="http://schemas.openxmlformats.org/drawingml/2006/main" noGrp="1"/>
          </p:cNvSpPr>
          <p:nvPr/>
        </p:nvSpPr>
        <p:spPr>
          <a:xfrm xmlns:a="http://schemas.openxmlformats.org/drawingml/2006/main">
            <a:off x="790575" y="42767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05</a:t>
            </a:r>
          </a:p>
        </p:txBody>
      </p:sp>
      <p:sp>
        <p:nvSpPr>
          <p:cNvPr id="13" name="">
            <a:extLst xmlns:a="http://schemas.openxmlformats.org/drawingml/2006/main">
              <a:ext uri="{FF2B5EF4-FFF2-40B4-BE49-F238E27FC236}">
                <a16:creationId xmlns:a16="http://schemas.microsoft.com/office/drawing/2014/main" id="{00C3942A-D0D5-4ED3-8EF3-D273D9D7DEBF}"/>
              </a:ext>
            </a:extLst>
          </p:cNvPr>
          <p:cNvSpPr>
            <a:spLocks xmlns:a="http://schemas.openxmlformats.org/drawingml/2006/main" noGrp="1"/>
          </p:cNvSpPr>
          <p:nvPr/>
        </p:nvSpPr>
        <p:spPr>
          <a:xfrm xmlns:a="http://schemas.openxmlformats.org/drawingml/2006/main">
            <a:off x="1390650" y="42386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    print(</a:t>
            </a:r>
            <a:r>
              <a:rPr>
                <a:solidFill>
                  <a:srgbClr val="BACBFA"/>
                </a:solidFill>
              </a:rPr>
              <a:t>"확인"</a:t>
            </a:r>
            <a:r>
              <a:rPr>
                <a:solidFill>
                  <a:srgbClr val="FFFFFF"/>
                </a:solidFill>
              </a:rPr>
              <a:t>)</a:t>
            </a:r>
          </a:p>
        </p:txBody>
      </p:sp>
      <p:sp>
        <p:nvSpPr>
          <p:cNvPr id="14" name="">
            <a:extLst xmlns:a="http://schemas.openxmlformats.org/drawingml/2006/main">
              <a:ext uri="{FF2B5EF4-FFF2-40B4-BE49-F238E27FC236}">
                <a16:creationId xmlns:a16="http://schemas.microsoft.com/office/drawing/2014/main" id="{C507276F-124F-4DCC-9D23-FACD66826195}"/>
              </a:ext>
            </a:extLst>
          </p:cNvPr>
          <p:cNvSpPr>
            <a:spLocks xmlns:a="http://schemas.openxmlformats.org/drawingml/2006/main" noGrp="1"/>
          </p:cNvSpPr>
          <p:nvPr/>
        </p:nvSpPr>
        <p:spPr>
          <a:xfrm xmlns:a="http://schemas.openxmlformats.org/drawingml/2006/main">
            <a:off x="790575" y="46196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06</a:t>
            </a:r>
          </a:p>
        </p:txBody>
      </p:sp>
      <p:sp>
        <p:nvSpPr>
          <p:cNvPr id="15" name="">
            <a:extLst xmlns:a="http://schemas.openxmlformats.org/drawingml/2006/main">
              <a:ext uri="{FF2B5EF4-FFF2-40B4-BE49-F238E27FC236}">
                <a16:creationId xmlns:a16="http://schemas.microsoft.com/office/drawing/2014/main" id="{1A1CC40F-0115-42CD-95E3-76A00A3A9A0F}"/>
              </a:ext>
            </a:extLst>
          </p:cNvPr>
          <p:cNvSpPr>
            <a:spLocks xmlns:a="http://schemas.openxmlformats.org/drawingml/2006/main" noGrp="1"/>
          </p:cNvSpPr>
          <p:nvPr/>
        </p:nvSpPr>
        <p:spPr>
          <a:xfrm xmlns:a="http://schemas.openxmlformats.org/drawingml/2006/main">
            <a:off x="1390650" y="45815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b="1">
                <a:solidFill>
                  <a:srgbClr val="FFFFFF"/>
                </a:solidFill>
              </a:rPr>
              <a:t>else</a:t>
            </a:r>
            <a:r>
              <a:rPr>
                <a:solidFill>
                  <a:srgbClr val="FFFFFF"/>
                </a:solidFill>
              </a:rPr>
              <a:t>:</a:t>
            </a:r>
          </a:p>
        </p:txBody>
      </p:sp>
      <p:sp>
        <p:nvSpPr>
          <p:cNvPr id="16" name="">
            <a:extLst xmlns:a="http://schemas.openxmlformats.org/drawingml/2006/main">
              <a:ext uri="{FF2B5EF4-FFF2-40B4-BE49-F238E27FC236}">
                <a16:creationId xmlns:a16="http://schemas.microsoft.com/office/drawing/2014/main" id="{1DA55100-920E-4F91-BEA0-6D13F3C03FBD}"/>
              </a:ext>
            </a:extLst>
          </p:cNvPr>
          <p:cNvSpPr>
            <a:spLocks xmlns:a="http://schemas.openxmlformats.org/drawingml/2006/main" noGrp="1"/>
          </p:cNvSpPr>
          <p:nvPr/>
        </p:nvSpPr>
        <p:spPr>
          <a:xfrm xmlns:a="http://schemas.openxmlformats.org/drawingml/2006/main">
            <a:off x="790575" y="49625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07</a:t>
            </a:r>
          </a:p>
        </p:txBody>
      </p:sp>
      <p:sp>
        <p:nvSpPr>
          <p:cNvPr id="17" name="">
            <a:extLst xmlns:a="http://schemas.openxmlformats.org/drawingml/2006/main">
              <a:ext uri="{FF2B5EF4-FFF2-40B4-BE49-F238E27FC236}">
                <a16:creationId xmlns:a16="http://schemas.microsoft.com/office/drawing/2014/main" id="{3ED206EC-B754-4717-9B3E-80B672E0F056}"/>
              </a:ext>
            </a:extLst>
          </p:cNvPr>
          <p:cNvSpPr>
            <a:spLocks xmlns:a="http://schemas.openxmlformats.org/drawingml/2006/main" noGrp="1"/>
          </p:cNvSpPr>
          <p:nvPr/>
        </p:nvSpPr>
        <p:spPr>
          <a:xfrm xmlns:a="http://schemas.openxmlformats.org/drawingml/2006/main">
            <a:off x="1390650" y="49244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    print(</a:t>
            </a:r>
            <a:r>
              <a:rPr>
                <a:solidFill>
                  <a:srgbClr val="BACBFA"/>
                </a:solidFill>
              </a:rPr>
              <a:t>"정상"</a:t>
            </a:r>
            <a:r>
              <a:rPr>
                <a:solidFill>
                  <a:srgbClr val="FFFFFF"/>
                </a:solidFill>
              </a:rPr>
              <a:t>)</a:t>
            </a:r>
          </a:p>
        </p:txBody>
      </p:sp>
      <p:sp>
        <p:nvSpPr>
          <p:cNvPr id="18" name="">
            <a:extLst xmlns:a="http://schemas.openxmlformats.org/drawingml/2006/main">
              <a:ext uri="{FF2B5EF4-FFF2-40B4-BE49-F238E27FC236}">
                <a16:creationId xmlns:a16="http://schemas.microsoft.com/office/drawing/2014/main" id="{396476CE-FA97-4851-ADC3-2E23BE92236A}"/>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103EC7E-AE22-4E16-AE6C-D99D108040A2}"/>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20" name="">
            <a:extLst xmlns:a="http://schemas.openxmlformats.org/drawingml/2006/main">
              <a:ext uri="{FF2B5EF4-FFF2-40B4-BE49-F238E27FC236}">
                <a16:creationId xmlns:a16="http://schemas.microsoft.com/office/drawing/2014/main" id="{199AEA95-9D51-4B8C-95F1-AEE38E22A794}"/>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059</a:t>
            </a:r>
          </a:p>
        </p:txBody>
      </p:sp>
    </p:spTree>
    <p:extLst>
      <p:ext uri="{BB962C8B-B14F-4D97-AF65-F5344CB8AC3E}">
        <p14:creationId xmlns:p14="http://schemas.microsoft.com/office/powerpoint/2010/main" val="1852567717"/>
      </p:ext>
    </p:extLst>
  </p:cSld>
</p:sld>
</file>

<file path=ppt/slides/slide60.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A4E8DEB-0914-49AD-9455-A1492BDF4E40}"/>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4교시</a:t>
            </a:r>
          </a:p>
        </p:txBody>
      </p:sp>
      <p:sp>
        <p:nvSpPr>
          <p:cNvPr id="2" name="">
            <a:extLst xmlns:a="http://schemas.openxmlformats.org/drawingml/2006/main">
              <a:ext uri="{FF2B5EF4-FFF2-40B4-BE49-F238E27FC236}">
                <a16:creationId xmlns:a16="http://schemas.microsoft.com/office/drawing/2014/main" id="{C4AE3AB5-A0B4-4486-97EA-82D380493C59}"/>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None을 숫자와 먼저 비교하지 않습니다</a:t>
            </a:r>
          </a:p>
        </p:txBody>
      </p:sp>
      <p:sp>
        <p:nvSpPr>
          <p:cNvPr id="3" name="">
            <a:extLst xmlns:a="http://schemas.openxmlformats.org/drawingml/2006/main">
              <a:ext uri="{FF2B5EF4-FFF2-40B4-BE49-F238E27FC236}">
                <a16:creationId xmlns:a16="http://schemas.microsoft.com/office/drawing/2014/main" id="{D7B6752D-6C82-4805-B4F0-57A345A4911B}"/>
              </a:ext>
            </a:extLst>
          </p:cNvPr>
          <p:cNvSpPr>
            <a:spLocks xmlns:a="http://schemas.openxmlformats.org/drawingml/2006/main" noGrp="1"/>
          </p:cNvSpPr>
          <p:nvPr/>
        </p:nvSpPr>
        <p:spPr>
          <a:xfrm xmlns:a="http://schemas.openxmlformats.org/drawingml/2006/main">
            <a:off x="609600" y="241935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01</a:t>
            </a:r>
          </a:p>
        </p:txBody>
      </p:sp>
      <p:sp>
        <p:nvSpPr>
          <p:cNvPr id="4" name="">
            <a:extLst xmlns:a="http://schemas.openxmlformats.org/drawingml/2006/main">
              <a:ext uri="{FF2B5EF4-FFF2-40B4-BE49-F238E27FC236}">
                <a16:creationId xmlns:a16="http://schemas.microsoft.com/office/drawing/2014/main" id="{4F64BBDF-7E94-4459-B55D-41BD1B795A6D}"/>
              </a:ext>
            </a:extLst>
          </p:cNvPr>
          <p:cNvSpPr>
            <a:spLocks xmlns:a="http://schemas.openxmlformats.org/drawingml/2006/main" noGrp="1"/>
          </p:cNvSpPr>
          <p:nvPr/>
        </p:nvSpPr>
        <p:spPr>
          <a:xfrm xmlns:a="http://schemas.openxmlformats.org/drawingml/2006/main">
            <a:off x="1657350" y="248602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None이면 미측정을 출력합니다.</a:t>
            </a:r>
          </a:p>
        </p:txBody>
      </p:sp>
      <p:sp>
        <p:nvSpPr>
          <p:cNvPr id="5" name="">
            <a:extLst xmlns:a="http://schemas.openxmlformats.org/drawingml/2006/main">
              <a:ext uri="{FF2B5EF4-FFF2-40B4-BE49-F238E27FC236}">
                <a16:creationId xmlns:a16="http://schemas.microsoft.com/office/drawing/2014/main" id="{CE7498A1-41E9-4293-ABD0-FED1FE27C16A}"/>
              </a:ext>
            </a:extLst>
          </p:cNvPr>
          <p:cNvSpPr>
            <a:spLocks xmlns:a="http://schemas.openxmlformats.org/drawingml/2006/main" noGrp="1"/>
          </p:cNvSpPr>
          <p:nvPr/>
        </p:nvSpPr>
        <p:spPr>
          <a:xfrm xmlns:a="http://schemas.openxmlformats.org/drawingml/2006/main">
            <a:off x="1657350" y="3419475"/>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A30FCB2-CFE1-4747-AF05-9DADE8641477}"/>
              </a:ext>
            </a:extLst>
          </p:cNvPr>
          <p:cNvSpPr>
            <a:spLocks xmlns:a="http://schemas.openxmlformats.org/drawingml/2006/main" noGrp="1"/>
          </p:cNvSpPr>
          <p:nvPr/>
        </p:nvSpPr>
        <p:spPr>
          <a:xfrm xmlns:a="http://schemas.openxmlformats.org/drawingml/2006/main">
            <a:off x="609600" y="3514725"/>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02</a:t>
            </a:r>
          </a:p>
        </p:txBody>
      </p:sp>
      <p:sp>
        <p:nvSpPr>
          <p:cNvPr id="7" name="">
            <a:extLst xmlns:a="http://schemas.openxmlformats.org/drawingml/2006/main">
              <a:ext uri="{FF2B5EF4-FFF2-40B4-BE49-F238E27FC236}">
                <a16:creationId xmlns:a16="http://schemas.microsoft.com/office/drawing/2014/main" id="{59D97AD4-AFFE-4CE4-B312-0DB24AE572CA}"/>
              </a:ext>
            </a:extLst>
          </p:cNvPr>
          <p:cNvSpPr>
            <a:spLocks xmlns:a="http://schemas.openxmlformats.org/drawingml/2006/main" noGrp="1"/>
          </p:cNvSpPr>
          <p:nvPr/>
        </p:nvSpPr>
        <p:spPr>
          <a:xfrm xmlns:a="http://schemas.openxmlformats.org/drawingml/2006/main">
            <a:off x="1657350" y="358140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숫자일 때만</a:t>
            </a:r>
            <a:r>
              <a:t> 기준과 비교합니다.</a:t>
            </a:r>
          </a:p>
        </p:txBody>
      </p:sp>
      <p:sp>
        <p:nvSpPr>
          <p:cNvPr id="8" name="">
            <a:extLst xmlns:a="http://schemas.openxmlformats.org/drawingml/2006/main">
              <a:ext uri="{FF2B5EF4-FFF2-40B4-BE49-F238E27FC236}">
                <a16:creationId xmlns:a16="http://schemas.microsoft.com/office/drawing/2014/main" id="{F33F96BF-5FA9-4A08-A5C6-CB94D852E579}"/>
              </a:ext>
            </a:extLst>
          </p:cNvPr>
          <p:cNvSpPr>
            <a:spLocks xmlns:a="http://schemas.openxmlformats.org/drawingml/2006/main" noGrp="1"/>
          </p:cNvSpPr>
          <p:nvPr/>
        </p:nvSpPr>
        <p:spPr>
          <a:xfrm xmlns:a="http://schemas.openxmlformats.org/drawingml/2006/main">
            <a:off x="1657350" y="4514850"/>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ECB6B6A-2AA6-4A21-9254-5B25718E55EC}"/>
              </a:ext>
            </a:extLst>
          </p:cNvPr>
          <p:cNvSpPr>
            <a:spLocks xmlns:a="http://schemas.openxmlformats.org/drawingml/2006/main" noGrp="1"/>
          </p:cNvSpPr>
          <p:nvPr/>
        </p:nvSpPr>
        <p:spPr>
          <a:xfrm xmlns:a="http://schemas.openxmlformats.org/drawingml/2006/main">
            <a:off x="609600" y="461010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03</a:t>
            </a:r>
          </a:p>
        </p:txBody>
      </p:sp>
      <p:sp>
        <p:nvSpPr>
          <p:cNvPr id="10" name="">
            <a:extLst xmlns:a="http://schemas.openxmlformats.org/drawingml/2006/main">
              <a:ext uri="{FF2B5EF4-FFF2-40B4-BE49-F238E27FC236}">
                <a16:creationId xmlns:a16="http://schemas.microsoft.com/office/drawing/2014/main" id="{C9DA9279-E80E-4C83-89D8-C416D57793AA}"/>
              </a:ext>
            </a:extLst>
          </p:cNvPr>
          <p:cNvSpPr>
            <a:spLocks xmlns:a="http://schemas.openxmlformats.org/drawingml/2006/main" noGrp="1"/>
          </p:cNvSpPr>
          <p:nvPr/>
        </p:nvSpPr>
        <p:spPr>
          <a:xfrm xmlns:a="http://schemas.openxmlformats.org/drawingml/2006/main">
            <a:off x="1657350" y="467677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미측정을 0으로 바꾸면 뜻이 달라집니다.</a:t>
            </a:r>
          </a:p>
        </p:txBody>
      </p:sp>
      <p:sp>
        <p:nvSpPr>
          <p:cNvPr id="11" name="">
            <a:extLst xmlns:a="http://schemas.openxmlformats.org/drawingml/2006/main">
              <a:ext uri="{FF2B5EF4-FFF2-40B4-BE49-F238E27FC236}">
                <a16:creationId xmlns:a16="http://schemas.microsoft.com/office/drawing/2014/main" id="{552C102C-ADFC-47C6-8F56-4D851696A64E}"/>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3B619B-111B-4B93-BB64-2CCD8EF79A87}"/>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3" name="">
            <a:extLst xmlns:a="http://schemas.openxmlformats.org/drawingml/2006/main">
              <a:ext uri="{FF2B5EF4-FFF2-40B4-BE49-F238E27FC236}">
                <a16:creationId xmlns:a16="http://schemas.microsoft.com/office/drawing/2014/main" id="{5F1E507C-0820-4B49-ADF1-B4CDAAA39D42}"/>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060</a:t>
            </a:r>
          </a:p>
        </p:txBody>
      </p:sp>
    </p:spTree>
    <p:extLst>
      <p:ext uri="{BB962C8B-B14F-4D97-AF65-F5344CB8AC3E}">
        <p14:creationId xmlns:p14="http://schemas.microsoft.com/office/powerpoint/2010/main" val="1958504530"/>
      </p:ext>
    </p:extLst>
  </p:cSld>
</p:sld>
</file>

<file path=ppt/slides/slide61.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18CCA85-E6A3-4CCF-8FBE-EA500075DDAF}"/>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4교시</a:t>
            </a:r>
          </a:p>
        </p:txBody>
      </p:sp>
      <p:sp>
        <p:nvSpPr>
          <p:cNvPr id="2" name="">
            <a:extLst xmlns:a="http://schemas.openxmlformats.org/drawingml/2006/main">
              <a:ext uri="{FF2B5EF4-FFF2-40B4-BE49-F238E27FC236}">
                <a16:creationId xmlns:a16="http://schemas.microsoft.com/office/drawing/2014/main" id="{F049F1AC-335A-46D6-BACB-89AC056B910D}"/>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새 실무 사례</a:t>
            </a:r>
          </a:p>
        </p:txBody>
      </p:sp>
      <p:sp>
        <p:nvSpPr>
          <p:cNvPr id="3" name="">
            <a:extLst xmlns:a="http://schemas.openxmlformats.org/drawingml/2006/main">
              <a:ext uri="{FF2B5EF4-FFF2-40B4-BE49-F238E27FC236}">
                <a16:creationId xmlns:a16="http://schemas.microsoft.com/office/drawing/2014/main" id="{20E07B45-D2D9-4D3B-99CA-1E93C9D0B37A}"/>
              </a:ext>
            </a:extLst>
          </p:cNvPr>
          <p:cNvSpPr>
            <a:spLocks xmlns:a="http://schemas.openxmlformats.org/drawingml/2006/main" noGrp="1"/>
          </p:cNvSpPr>
          <p:nvPr/>
        </p:nvSpPr>
        <p:spPr>
          <a:xfrm xmlns:a="http://schemas.openxmlformats.org/drawingml/2006/main">
            <a:off x="609600" y="2543175"/>
            <a:ext cx="109728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0">
                <a:solidFill>
                  <a:srgbClr val="0A0A0A"/>
                </a:solidFill>
                <a:latin typeface="Noto Sans KR"/>
                <a:ea typeface="Noto Sans KR"/>
                <a:cs typeface="Noto Sans KR"/>
              </a:defRPr>
            </a:pPr>
            <a:r>
              <a:rPr b="1">
                <a:solidFill>
                  <a:srgbClr val="002FA7"/>
                </a:solidFill>
              </a:rPr>
              <a:t>10명 이상</a:t>
            </a:r>
            <a:r>
              <a:t>이면 큰 실습실을 배정합니다.</a:t>
            </a:r>
          </a:p>
        </p:txBody>
      </p:sp>
      <p:sp>
        <p:nvSpPr>
          <p:cNvPr id="4" name="">
            <a:extLst xmlns:a="http://schemas.openxmlformats.org/drawingml/2006/main">
              <a:ext uri="{FF2B5EF4-FFF2-40B4-BE49-F238E27FC236}">
                <a16:creationId xmlns:a16="http://schemas.microsoft.com/office/drawing/2014/main" id="{324F60B1-692C-42BD-AD35-0C150AF65A9F}"/>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75D094D-A01A-4010-9A9E-06F198C6B03F}"/>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6" name="">
            <a:extLst xmlns:a="http://schemas.openxmlformats.org/drawingml/2006/main">
              <a:ext uri="{FF2B5EF4-FFF2-40B4-BE49-F238E27FC236}">
                <a16:creationId xmlns:a16="http://schemas.microsoft.com/office/drawing/2014/main" id="{D67AD48D-F07A-4F26-A85F-CE201D5097D4}"/>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061</a:t>
            </a:r>
          </a:p>
        </p:txBody>
      </p:sp>
    </p:spTree>
    <p:extLst>
      <p:ext uri="{BB962C8B-B14F-4D97-AF65-F5344CB8AC3E}">
        <p14:creationId xmlns:p14="http://schemas.microsoft.com/office/powerpoint/2010/main" val="154308903"/>
      </p:ext>
    </p:extLst>
  </p:cSld>
</p:sld>
</file>

<file path=ppt/slides/slide62.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E48ABD8-9534-4FC8-AD7E-5109C8F365D5}"/>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4교시</a:t>
            </a:r>
          </a:p>
        </p:txBody>
      </p:sp>
      <p:sp>
        <p:nvSpPr>
          <p:cNvPr id="2" name="">
            <a:extLst xmlns:a="http://schemas.openxmlformats.org/drawingml/2006/main">
              <a:ext uri="{FF2B5EF4-FFF2-40B4-BE49-F238E27FC236}">
                <a16:creationId xmlns:a16="http://schemas.microsoft.com/office/drawing/2014/main" id="{A70AE75A-8C96-445E-A951-1390ED1FBDDA}"/>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판단을 따라가 보기</a:t>
            </a:r>
          </a:p>
        </p:txBody>
      </p:sp>
      <p:graphicFrame>
        <p:nvGraphicFramePr>
          <p:cNvPr id="9" name=""/>
          <p:cNvGraphicFramePr/>
          <p:nvPr/>
        </p:nvGraphicFramePr>
        <p:xfrm>
          <a:off xmlns:a="http://schemas.openxmlformats.org/drawingml/2006/main" x="609600" y="2333625"/>
          <a:ext xmlns:a="http://schemas.openxmlformats.org/drawingml/2006/main" cx="10972800" cy="3429000"/>
        </p:xfrm>
        <a:graphic xmlns:a="http://schemas.openxmlformats.org/drawingml/2006/main">
          <a:graphicData uri="http://schemas.openxmlformats.org/drawingml/2006/table">
            <a:tbl>
              <a:tblPr firstRow="1" bandRow="0"/>
              <a:tblGrid>
                <a:gridCol w="2743200"/>
                <a:gridCol w="4114800"/>
                <a:gridCol w="4114800"/>
              </a:tblGrid>
              <a:tr h="685800">
                <a:tc>
                  <a:txBody>
                    <a:bodyPr wrap="square"/>
                    <a:lstStyle/>
                    <a:p>
                      <a:pPr>
                        <a:lnSpc>
                          <a:spcPct val="94000"/>
                        </a:lnSpc>
                        <a:buNone/>
                      </a:pPr>
                      <a:r>
                        <a:rPr sz="2100" b="1">
                          <a:solidFill>
                            <a:srgbClr val="FFFFFF"/>
                          </a:solidFill>
                          <a:latin typeface="Noto Sans KR"/>
                          <a:ea typeface="Noto Sans KR"/>
                          <a:cs typeface="Noto Sans KR"/>
                        </a:rPr>
                        <a:t>입력</a:t>
                      </a:r>
                    </a:p>
                  </a:txBody>
                  <a:tcPr marL="171450" marR="114300" marT="47625" marB="47625" anchor="ctr">
                    <a:solidFill>
                      <a:srgbClr val="002FA7"/>
                    </a:solidFill>
                  </a:tcPr>
                </a:tc>
                <a:tc>
                  <a:txBody>
                    <a:bodyPr wrap="square"/>
                    <a:lstStyle/>
                    <a:p>
                      <a:pPr>
                        <a:lnSpc>
                          <a:spcPct val="94000"/>
                        </a:lnSpc>
                        <a:buNone/>
                      </a:pPr>
                      <a:r>
                        <a:rPr sz="2100" b="1">
                          <a:solidFill>
                            <a:srgbClr val="FFFFFF"/>
                          </a:solidFill>
                          <a:latin typeface="Noto Sans KR"/>
                          <a:ea typeface="Noto Sans KR"/>
                          <a:cs typeface="Noto Sans KR"/>
                        </a:rPr>
                        <a:t>10 이상?</a:t>
                      </a:r>
                    </a:p>
                  </a:txBody>
                  <a:tcPr marL="171450" marR="114300" marT="47625" marB="47625" anchor="ctr">
                    <a:solidFill>
                      <a:srgbClr val="002FA7"/>
                    </a:solidFill>
                  </a:tcPr>
                </a:tc>
                <a:tc>
                  <a:txBody>
                    <a:bodyPr wrap="square"/>
                    <a:lstStyle/>
                    <a:p>
                      <a:pPr>
                        <a:lnSpc>
                          <a:spcPct val="94000"/>
                        </a:lnSpc>
                        <a:buNone/>
                      </a:pPr>
                      <a:r>
                        <a:rPr sz="2100" b="1">
                          <a:solidFill>
                            <a:srgbClr val="FFFFFF"/>
                          </a:solidFill>
                          <a:latin typeface="Noto Sans KR"/>
                          <a:ea typeface="Noto Sans KR"/>
                          <a:cs typeface="Noto Sans KR"/>
                        </a:rPr>
                        <a:t>배정</a:t>
                      </a:r>
                    </a:p>
                  </a:txBody>
                  <a:tcPr marL="171450" marR="114300" marT="47625" marB="47625" anchor="ctr">
                    <a:solidFill>
                      <a:srgbClr val="002FA7"/>
                    </a:solidFill>
                  </a:tcPr>
                </a:tc>
              </a:tr>
              <a:tr h="685800">
                <a:tc>
                  <a:txBody>
                    <a:bodyPr wrap="square"/>
                    <a:lstStyle/>
                    <a:p>
                      <a:pPr>
                        <a:lnSpc>
                          <a:spcPct val="94000"/>
                        </a:lnSpc>
                        <a:buNone/>
                      </a:pPr>
                      <a:r>
                        <a:rPr sz="2100" b="0">
                          <a:solidFill>
                            <a:srgbClr val="0A0A0A"/>
                          </a:solidFill>
                          <a:latin typeface="Noto Sans KR"/>
                          <a:ea typeface="Noto Sans KR"/>
                          <a:cs typeface="Noto Sans KR"/>
                        </a:rPr>
                        <a:t>9</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False</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작은 실습실</a:t>
                      </a:r>
                    </a:p>
                  </a:txBody>
                  <a:tcPr marL="171450" marR="114300" marT="47625" marB="47625" anchor="ctr">
                    <a:solidFill>
                      <a:srgbClr val="FAFAF8"/>
                    </a:solidFill>
                  </a:tcPr>
                </a:tc>
              </a:tr>
              <a:tr h="685800">
                <a:tc>
                  <a:txBody>
                    <a:bodyPr wrap="square"/>
                    <a:lstStyle/>
                    <a:p>
                      <a:pPr>
                        <a:lnSpc>
                          <a:spcPct val="94000"/>
                        </a:lnSpc>
                        <a:buNone/>
                      </a:pPr>
                      <a:r>
                        <a:rPr sz="2100" b="0">
                          <a:solidFill>
                            <a:srgbClr val="0A0A0A"/>
                          </a:solidFill>
                          <a:latin typeface="Noto Sans KR"/>
                          <a:ea typeface="Noto Sans KR"/>
                          <a:cs typeface="Noto Sans KR"/>
                        </a:rPr>
                        <a:t>10</a:t>
                      </a:r>
                    </a:p>
                  </a:txBody>
                  <a:tcPr marL="171450" marR="114300" marT="47625" marB="47625" anchor="ctr">
                    <a:solidFill>
                      <a:srgbClr val="F0F0EB"/>
                    </a:solidFill>
                  </a:tcPr>
                </a:tc>
                <a:tc>
                  <a:txBody>
                    <a:bodyPr wrap="square"/>
                    <a:lstStyle/>
                    <a:p>
                      <a:pPr>
                        <a:lnSpc>
                          <a:spcPct val="94000"/>
                        </a:lnSpc>
                        <a:buNone/>
                      </a:pPr>
                      <a:r>
                        <a:rPr sz="2100" b="0">
                          <a:solidFill>
                            <a:srgbClr val="0A0A0A"/>
                          </a:solidFill>
                          <a:latin typeface="Noto Sans KR"/>
                          <a:ea typeface="Noto Sans KR"/>
                          <a:cs typeface="Noto Sans KR"/>
                        </a:rPr>
                        <a:t>True</a:t>
                      </a:r>
                    </a:p>
                  </a:txBody>
                  <a:tcPr marL="171450" marR="114300" marT="47625" marB="47625" anchor="ctr">
                    <a:solidFill>
                      <a:srgbClr val="F0F0EB"/>
                    </a:solidFill>
                  </a:tcPr>
                </a:tc>
                <a:tc>
                  <a:txBody>
                    <a:bodyPr wrap="square"/>
                    <a:lstStyle/>
                    <a:p>
                      <a:pPr>
                        <a:lnSpc>
                          <a:spcPct val="94000"/>
                        </a:lnSpc>
                        <a:buNone/>
                      </a:pPr>
                      <a:r>
                        <a:rPr sz="2100" b="0">
                          <a:solidFill>
                            <a:srgbClr val="0A0A0A"/>
                          </a:solidFill>
                          <a:latin typeface="Noto Sans KR"/>
                          <a:ea typeface="Noto Sans KR"/>
                          <a:cs typeface="Noto Sans KR"/>
                        </a:rPr>
                        <a:t>큰 실습실</a:t>
                      </a:r>
                    </a:p>
                  </a:txBody>
                  <a:tcPr marL="171450" marR="114300" marT="47625" marB="47625" anchor="ctr">
                    <a:solidFill>
                      <a:srgbClr val="F0F0EB"/>
                    </a:solidFill>
                  </a:tcPr>
                </a:tc>
              </a:tr>
              <a:tr h="685800">
                <a:tc>
                  <a:txBody>
                    <a:bodyPr wrap="square"/>
                    <a:lstStyle/>
                    <a:p>
                      <a:pPr>
                        <a:lnSpc>
                          <a:spcPct val="94000"/>
                        </a:lnSpc>
                        <a:buNone/>
                      </a:pPr>
                      <a:r>
                        <a:rPr sz="2100" b="0">
                          <a:solidFill>
                            <a:srgbClr val="0A0A0A"/>
                          </a:solidFill>
                          <a:latin typeface="Noto Sans KR"/>
                          <a:ea typeface="Noto Sans KR"/>
                          <a:cs typeface="Noto Sans KR"/>
                        </a:rPr>
                        <a:t>11</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True</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큰 실습실</a:t>
                      </a:r>
                    </a:p>
                  </a:txBody>
                  <a:tcPr marL="171450" marR="114300" marT="47625" marB="47625" anchor="ctr">
                    <a:solidFill>
                      <a:srgbClr val="FAFAF8"/>
                    </a:solidFill>
                  </a:tcPr>
                </a:tc>
              </a:tr>
              <a:tr h="685800">
                <a:tc>
                  <a:txBody>
                    <a:bodyPr wrap="square"/>
                    <a:lstStyle/>
                    <a:p>
                      <a:pPr>
                        <a:lnSpc>
                          <a:spcPct val="94000"/>
                        </a:lnSpc>
                        <a:buNone/>
                      </a:pPr>
                      <a:r>
                        <a:rPr sz="2100" b="0">
                          <a:solidFill>
                            <a:srgbClr val="0A0A0A"/>
                          </a:solidFill>
                          <a:latin typeface="Noto Sans KR"/>
                          <a:ea typeface="Noto Sans KR"/>
                          <a:cs typeface="Noto Sans KR"/>
                        </a:rPr>
                        <a:t>미확인</a:t>
                      </a:r>
                    </a:p>
                  </a:txBody>
                  <a:tcPr marL="171450" marR="114300" marT="47625" marB="47625" anchor="ctr">
                    <a:solidFill>
                      <a:srgbClr val="F0F0EB"/>
                    </a:solidFill>
                  </a:tcPr>
                </a:tc>
                <a:tc>
                  <a:txBody>
                    <a:bodyPr wrap="square"/>
                    <a:lstStyle/>
                    <a:p>
                      <a:pPr>
                        <a:lnSpc>
                          <a:spcPct val="94000"/>
                        </a:lnSpc>
                        <a:buNone/>
                      </a:pPr>
                      <a:r>
                        <a:rPr sz="2100" b="0">
                          <a:solidFill>
                            <a:srgbClr val="0A0A0A"/>
                          </a:solidFill>
                          <a:latin typeface="Noto Sans KR"/>
                          <a:ea typeface="Noto Sans KR"/>
                          <a:cs typeface="Noto Sans KR"/>
                        </a:rPr>
                        <a:t>비교 보류</a:t>
                      </a:r>
                    </a:p>
                  </a:txBody>
                  <a:tcPr marL="171450" marR="114300" marT="47625" marB="47625" anchor="ctr">
                    <a:solidFill>
                      <a:srgbClr val="F0F0EB"/>
                    </a:solidFill>
                  </a:tcPr>
                </a:tc>
                <a:tc>
                  <a:txBody>
                    <a:bodyPr wrap="square"/>
                    <a:lstStyle/>
                    <a:p>
                      <a:pPr>
                        <a:lnSpc>
                          <a:spcPct val="94000"/>
                        </a:lnSpc>
                        <a:buNone/>
                      </a:pPr>
                      <a:r>
                        <a:rPr sz="2100" b="0">
                          <a:solidFill>
                            <a:srgbClr val="0A0A0A"/>
                          </a:solidFill>
                          <a:latin typeface="Noto Sans KR"/>
                          <a:ea typeface="Noto Sans KR"/>
                          <a:cs typeface="Noto Sans KR"/>
                        </a:rPr>
                        <a:t>인원 확인</a:t>
                      </a:r>
                    </a:p>
                  </a:txBody>
                  <a:tcPr marL="171450" marR="114300" marT="47625" marB="47625" anchor="ctr">
                    <a:solidFill>
                      <a:srgbClr val="F0F0EB"/>
                    </a:solidFill>
                  </a:tcPr>
                </a:tc>
              </a:tr>
            </a:tbl>
          </a:graphicData>
        </a:graphic>
      </p:graphicFrame>
      <p:sp>
        <p:nvSpPr>
          <p:cNvPr id="4" name="">
            <a:extLst xmlns:a="http://schemas.openxmlformats.org/drawingml/2006/main">
              <a:ext uri="{FF2B5EF4-FFF2-40B4-BE49-F238E27FC236}">
                <a16:creationId xmlns:a16="http://schemas.microsoft.com/office/drawing/2014/main" id="{F5B9062E-1082-4E25-BAB2-A8BBF2316328}"/>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28A40E1-806E-4D82-9B08-D8701C1AD502}"/>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6" name="">
            <a:extLst xmlns:a="http://schemas.openxmlformats.org/drawingml/2006/main">
              <a:ext uri="{FF2B5EF4-FFF2-40B4-BE49-F238E27FC236}">
                <a16:creationId xmlns:a16="http://schemas.microsoft.com/office/drawing/2014/main" id="{0FE90A1E-62ED-405A-A956-68BBB28FC894}"/>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062</a:t>
            </a:r>
          </a:p>
        </p:txBody>
      </p:sp>
    </p:spTree>
    <p:extLst>
      <p:ext uri="{BB962C8B-B14F-4D97-AF65-F5344CB8AC3E}">
        <p14:creationId xmlns:p14="http://schemas.microsoft.com/office/powerpoint/2010/main" val="554916536"/>
      </p:ext>
    </p:extLst>
  </p:cSld>
</p:sld>
</file>

<file path=ppt/slides/slide63.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5AF05A2-0779-42A2-AA49-48A62E657234}"/>
              </a:ext>
            </a:extLst>
          </p:cNvPr>
          <p:cNvSpPr>
            <a:spLocks xmlns:a="http://schemas.openxmlformats.org/drawingml/2006/main" noGrp="1"/>
          </p:cNvSpPr>
          <p:nvPr/>
        </p:nvSpPr>
        <p:spPr>
          <a:xfrm xmlns:a="http://schemas.openxmlformats.org/drawingml/2006/main">
            <a:off x="609600" y="390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BACBFA"/>
                </a:solidFill>
                <a:latin typeface="Noto Sans KR"/>
                <a:ea typeface="Noto Sans KR"/>
                <a:cs typeface="Noto Sans KR"/>
              </a:defRPr>
            </a:pPr>
            <a:r>
              <a:t>4교시  /  직접 생각하기</a:t>
            </a:r>
          </a:p>
        </p:txBody>
      </p:sp>
      <p:sp>
        <p:nvSpPr>
          <p:cNvPr id="2" name="">
            <a:extLst xmlns:a="http://schemas.openxmlformats.org/drawingml/2006/main">
              <a:ext uri="{FF2B5EF4-FFF2-40B4-BE49-F238E27FC236}">
                <a16:creationId xmlns:a16="http://schemas.microsoft.com/office/drawing/2014/main" id="{6BEE7073-998F-490E-8E22-6C17A774B4EE}"/>
              </a:ext>
            </a:extLst>
          </p:cNvPr>
          <p:cNvSpPr>
            <a:spLocks xmlns:a="http://schemas.openxmlformats.org/drawingml/2006/main" noGrp="1"/>
          </p:cNvSpPr>
          <p:nvPr/>
        </p:nvSpPr>
        <p:spPr>
          <a:xfrm xmlns:a="http://schemas.openxmlformats.org/drawingml/2006/main">
            <a:off x="609600" y="1123950"/>
            <a:ext cx="109728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0">
                <a:solidFill>
                  <a:srgbClr val="FFFFFF"/>
                </a:solidFill>
                <a:latin typeface="Noto Sans KR"/>
                <a:ea typeface="Noto Sans KR"/>
                <a:cs typeface="Noto Sans KR"/>
              </a:defRPr>
            </a:pPr>
            <a:r>
              <a:t>추가 복습 · 새 문제</a:t>
            </a:r>
          </a:p>
        </p:txBody>
      </p:sp>
      <p:sp>
        <p:nvSpPr>
          <p:cNvPr id="3" name="">
            <a:extLst xmlns:a="http://schemas.openxmlformats.org/drawingml/2006/main">
              <a:ext uri="{FF2B5EF4-FFF2-40B4-BE49-F238E27FC236}">
                <a16:creationId xmlns:a16="http://schemas.microsoft.com/office/drawing/2014/main" id="{60ADFCC1-8B3B-4DC8-840D-30B0C4EF9CBD}"/>
              </a:ext>
            </a:extLst>
          </p:cNvPr>
          <p:cNvSpPr>
            <a:spLocks xmlns:a="http://schemas.openxmlformats.org/drawingml/2006/main" noGrp="1"/>
          </p:cNvSpPr>
          <p:nvPr/>
        </p:nvSpPr>
        <p:spPr>
          <a:xfrm xmlns:a="http://schemas.openxmlformats.org/drawingml/2006/main">
            <a:off x="609600" y="2800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추가 복습: </a:t>
            </a:r>
            <a:r>
              <a:rPr b="1">
                <a:solidFill>
                  <a:srgbClr val="BACBFA"/>
                </a:solidFill>
              </a:rPr>
              <a:t>5개 이하이면 보충 요청</a:t>
            </a:r>
          </a:p>
        </p:txBody>
      </p:sp>
      <p:sp>
        <p:nvSpPr>
          <p:cNvPr id="4" name="">
            <a:extLst xmlns:a="http://schemas.openxmlformats.org/drawingml/2006/main">
              <a:ext uri="{FF2B5EF4-FFF2-40B4-BE49-F238E27FC236}">
                <a16:creationId xmlns:a16="http://schemas.microsoft.com/office/drawing/2014/main" id="{47006F77-DE20-4E10-B849-1264B33D89BC}"/>
              </a:ext>
            </a:extLst>
          </p:cNvPr>
          <p:cNvSpPr>
            <a:spLocks xmlns:a="http://schemas.openxmlformats.org/drawingml/2006/main" noGrp="1"/>
          </p:cNvSpPr>
          <p:nvPr/>
        </p:nvSpPr>
        <p:spPr>
          <a:xfrm xmlns:a="http://schemas.openxmlformats.org/drawingml/2006/main">
            <a:off x="609600" y="38671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입력 4·5·6·미확인의 결과를 적으세요.</a:t>
            </a:r>
          </a:p>
        </p:txBody>
      </p:sp>
      <p:sp>
        <p:nvSpPr>
          <p:cNvPr id="5" name="">
            <a:extLst xmlns:a="http://schemas.openxmlformats.org/drawingml/2006/main">
              <a:ext uri="{FF2B5EF4-FFF2-40B4-BE49-F238E27FC236}">
                <a16:creationId xmlns:a16="http://schemas.microsoft.com/office/drawing/2014/main" id="{8AC68AAD-C72F-4B7E-9BB3-65B9ECBB14DC}"/>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DD68AB9-212E-442D-A958-E67CD6070316}"/>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10/14  피지컬AI</a:t>
            </a:r>
          </a:p>
        </p:txBody>
      </p:sp>
      <p:sp>
        <p:nvSpPr>
          <p:cNvPr id="7" name="">
            <a:extLst xmlns:a="http://schemas.openxmlformats.org/drawingml/2006/main">
              <a:ext uri="{FF2B5EF4-FFF2-40B4-BE49-F238E27FC236}">
                <a16:creationId xmlns:a16="http://schemas.microsoft.com/office/drawing/2014/main" id="{85C92FB4-A648-4370-B25E-B6C90412A150}"/>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063</a:t>
            </a:r>
          </a:p>
        </p:txBody>
      </p:sp>
    </p:spTree>
    <p:extLst>
      <p:ext uri="{BB962C8B-B14F-4D97-AF65-F5344CB8AC3E}">
        <p14:creationId xmlns:p14="http://schemas.microsoft.com/office/powerpoint/2010/main" val="1570696426"/>
      </p:ext>
    </p:extLst>
  </p:cSld>
</p:sld>
</file>

<file path=ppt/slides/slide64.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11DE735-765C-4817-9C2E-66182F504DE2}"/>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4교시</a:t>
            </a:r>
          </a:p>
        </p:txBody>
      </p:sp>
      <p:sp>
        <p:nvSpPr>
          <p:cNvPr id="2" name="">
            <a:extLst xmlns:a="http://schemas.openxmlformats.org/drawingml/2006/main">
              <a:ext uri="{FF2B5EF4-FFF2-40B4-BE49-F238E27FC236}">
                <a16:creationId xmlns:a16="http://schemas.microsoft.com/office/drawing/2014/main" id="{E4DAD77E-159D-4018-B68A-755E5CF28646}"/>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새 문제의 풀이</a:t>
            </a:r>
          </a:p>
        </p:txBody>
      </p:sp>
      <p:sp>
        <p:nvSpPr>
          <p:cNvPr id="3" name="">
            <a:extLst xmlns:a="http://schemas.openxmlformats.org/drawingml/2006/main">
              <a:ext uri="{FF2B5EF4-FFF2-40B4-BE49-F238E27FC236}">
                <a16:creationId xmlns:a16="http://schemas.microsoft.com/office/drawing/2014/main" id="{B93A2438-0209-4C59-8C88-EB071E656882}"/>
              </a:ext>
            </a:extLst>
          </p:cNvPr>
          <p:cNvSpPr>
            <a:spLocks xmlns:a="http://schemas.openxmlformats.org/drawingml/2006/main" noGrp="1"/>
          </p:cNvSpPr>
          <p:nvPr/>
        </p:nvSpPr>
        <p:spPr>
          <a:xfrm xmlns:a="http://schemas.openxmlformats.org/drawingml/2006/main">
            <a:off x="6086475" y="2514600"/>
            <a:ext cx="9525" cy="327660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2155396-F1E2-44A4-841D-EC00D5AF8794}"/>
              </a:ext>
            </a:extLst>
          </p:cNvPr>
          <p:cNvSpPr>
            <a:spLocks xmlns:a="http://schemas.openxmlformats.org/drawingml/2006/main" noGrp="1"/>
          </p:cNvSpPr>
          <p:nvPr/>
        </p:nvSpPr>
        <p:spPr>
          <a:xfrm xmlns:a="http://schemas.openxmlformats.org/drawingml/2006/main">
            <a:off x="609600" y="2667000"/>
            <a:ext cx="5143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0A0A0A"/>
                </a:solidFill>
                <a:latin typeface="Noto Sans KR"/>
                <a:ea typeface="Noto Sans KR"/>
                <a:cs typeface="Noto Sans KR"/>
              </a:defRPr>
            </a:pPr>
            <a:r>
              <a:rPr b="1">
                <a:solidFill>
                  <a:srgbClr val="002FA7"/>
                </a:solidFill>
              </a:rPr>
              <a:t>4와 5</a:t>
            </a:r>
            <a:r>
              <a:t>는 보충, 6은 요청 없음입니다.</a:t>
            </a:r>
          </a:p>
        </p:txBody>
      </p:sp>
      <p:sp>
        <p:nvSpPr>
          <p:cNvPr id="5" name="">
            <a:extLst xmlns:a="http://schemas.openxmlformats.org/drawingml/2006/main">
              <a:ext uri="{FF2B5EF4-FFF2-40B4-BE49-F238E27FC236}">
                <a16:creationId xmlns:a16="http://schemas.microsoft.com/office/drawing/2014/main" id="{FE724B1C-D3A0-4047-8681-C032302B81D3}"/>
              </a:ext>
            </a:extLst>
          </p:cNvPr>
          <p:cNvSpPr>
            <a:spLocks xmlns:a="http://schemas.openxmlformats.org/drawingml/2006/main" noGrp="1"/>
          </p:cNvSpPr>
          <p:nvPr/>
        </p:nvSpPr>
        <p:spPr>
          <a:xfrm xmlns:a="http://schemas.openxmlformats.org/drawingml/2006/main">
            <a:off x="6400800" y="2667000"/>
            <a:ext cx="5143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0A0A0A"/>
                </a:solidFill>
                <a:latin typeface="Noto Sans KR"/>
                <a:ea typeface="Noto Sans KR"/>
                <a:cs typeface="Noto Sans KR"/>
              </a:defRPr>
            </a:pPr>
            <a:r>
              <a:t>미확인은 확인 요청이며 0으로 채우지 않습니다.</a:t>
            </a:r>
          </a:p>
        </p:txBody>
      </p:sp>
      <p:sp>
        <p:nvSpPr>
          <p:cNvPr id="6" name="">
            <a:extLst xmlns:a="http://schemas.openxmlformats.org/drawingml/2006/main">
              <a:ext uri="{FF2B5EF4-FFF2-40B4-BE49-F238E27FC236}">
                <a16:creationId xmlns:a16="http://schemas.microsoft.com/office/drawing/2014/main" id="{39F0D41F-E355-462F-9FF7-235D7550BF26}"/>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DF20D3B-C801-4331-A882-E32614AA6034}"/>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8" name="">
            <a:extLst xmlns:a="http://schemas.openxmlformats.org/drawingml/2006/main">
              <a:ext uri="{FF2B5EF4-FFF2-40B4-BE49-F238E27FC236}">
                <a16:creationId xmlns:a16="http://schemas.microsoft.com/office/drawing/2014/main" id="{23BBCEF0-9A5E-42D0-9D1A-4846D62F9A44}"/>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064</a:t>
            </a:r>
          </a:p>
        </p:txBody>
      </p:sp>
    </p:spTree>
    <p:extLst>
      <p:ext uri="{BB962C8B-B14F-4D97-AF65-F5344CB8AC3E}">
        <p14:creationId xmlns:p14="http://schemas.microsoft.com/office/powerpoint/2010/main" val="2107931393"/>
      </p:ext>
    </p:extLst>
  </p:cSld>
</p:sld>
</file>

<file path=ppt/slides/slide65.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65E9191-C5A5-4B5F-B5DA-DC984BE25960}"/>
              </a:ext>
            </a:extLst>
          </p:cNvPr>
          <p:cNvSpPr>
            <a:spLocks xmlns:a="http://schemas.openxmlformats.org/drawingml/2006/main" noGrp="1"/>
          </p:cNvSpPr>
          <p:nvPr/>
        </p:nvSpPr>
        <p:spPr>
          <a:xfrm xmlns:a="http://schemas.openxmlformats.org/drawingml/2006/main">
            <a:off x="609600" y="390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BACBFA"/>
                </a:solidFill>
                <a:latin typeface="Noto Sans KR"/>
                <a:ea typeface="Noto Sans KR"/>
                <a:cs typeface="Noto Sans KR"/>
              </a:defRPr>
            </a:pPr>
            <a:r>
              <a:t>4교시  /  직접 생각하기</a:t>
            </a:r>
          </a:p>
        </p:txBody>
      </p:sp>
      <p:sp>
        <p:nvSpPr>
          <p:cNvPr id="2" name="">
            <a:extLst xmlns:a="http://schemas.openxmlformats.org/drawingml/2006/main">
              <a:ext uri="{FF2B5EF4-FFF2-40B4-BE49-F238E27FC236}">
                <a16:creationId xmlns:a16="http://schemas.microsoft.com/office/drawing/2014/main" id="{3E01687C-2D88-4D22-B985-D4D231D53FB6}"/>
              </a:ext>
            </a:extLst>
          </p:cNvPr>
          <p:cNvSpPr>
            <a:spLocks xmlns:a="http://schemas.openxmlformats.org/drawingml/2006/main" noGrp="1"/>
          </p:cNvSpPr>
          <p:nvPr/>
        </p:nvSpPr>
        <p:spPr>
          <a:xfrm xmlns:a="http://schemas.openxmlformats.org/drawingml/2006/main">
            <a:off x="609600" y="1123950"/>
            <a:ext cx="109728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0">
                <a:solidFill>
                  <a:srgbClr val="FFFFFF"/>
                </a:solidFill>
                <a:latin typeface="Noto Sans KR"/>
                <a:ea typeface="Noto Sans KR"/>
                <a:cs typeface="Noto Sans KR"/>
              </a:defRPr>
            </a:pPr>
            <a:r>
              <a:t>먼저 할 일 · 경계와 미측정</a:t>
            </a:r>
          </a:p>
        </p:txBody>
      </p:sp>
      <p:sp>
        <p:nvSpPr>
          <p:cNvPr id="3" name="">
            <a:extLst xmlns:a="http://schemas.openxmlformats.org/drawingml/2006/main">
              <a:ext uri="{FF2B5EF4-FFF2-40B4-BE49-F238E27FC236}">
                <a16:creationId xmlns:a16="http://schemas.microsoft.com/office/drawing/2014/main" id="{6B6F6893-8E8A-494D-83B4-E0CE42539A61}"/>
              </a:ext>
            </a:extLst>
          </p:cNvPr>
          <p:cNvSpPr>
            <a:spLocks xmlns:a="http://schemas.openxmlformats.org/drawingml/2006/main" noGrp="1"/>
          </p:cNvSpPr>
          <p:nvPr/>
        </p:nvSpPr>
        <p:spPr>
          <a:xfrm xmlns:a="http://schemas.openxmlformats.org/drawingml/2006/main">
            <a:off x="609600" y="2800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A10에서 &gt;와 &gt;=를 비교합니다.</a:t>
            </a:r>
          </a:p>
        </p:txBody>
      </p:sp>
      <p:sp>
        <p:nvSpPr>
          <p:cNvPr id="4" name="">
            <a:extLst xmlns:a="http://schemas.openxmlformats.org/drawingml/2006/main">
              <a:ext uri="{FF2B5EF4-FFF2-40B4-BE49-F238E27FC236}">
                <a16:creationId xmlns:a16="http://schemas.microsoft.com/office/drawing/2014/main" id="{85BEB254-7B6F-4B7A-BFCD-1852607A1053}"/>
              </a:ext>
            </a:extLst>
          </p:cNvPr>
          <p:cNvSpPr>
            <a:spLocks xmlns:a="http://schemas.openxmlformats.org/drawingml/2006/main" noGrp="1"/>
          </p:cNvSpPr>
          <p:nvPr/>
        </p:nvSpPr>
        <p:spPr>
          <a:xfrm xmlns:a="http://schemas.openxmlformats.org/drawingml/2006/main">
            <a:off x="609600" y="38671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A12에서 None 갈래를 먼저 확인합니다.</a:t>
            </a:r>
          </a:p>
        </p:txBody>
      </p:sp>
      <p:sp>
        <p:nvSpPr>
          <p:cNvPr id="5" name="">
            <a:extLst xmlns:a="http://schemas.openxmlformats.org/drawingml/2006/main">
              <a:ext uri="{FF2B5EF4-FFF2-40B4-BE49-F238E27FC236}">
                <a16:creationId xmlns:a16="http://schemas.microsoft.com/office/drawing/2014/main" id="{6D915120-0D68-4C62-B6BD-470F0DA47C5E}"/>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3E4DD7D-3959-497F-8337-7D64AA549B7E}"/>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10/14  피지컬AI</a:t>
            </a:r>
          </a:p>
        </p:txBody>
      </p:sp>
      <p:sp>
        <p:nvSpPr>
          <p:cNvPr id="7" name="">
            <a:extLst xmlns:a="http://schemas.openxmlformats.org/drawingml/2006/main">
              <a:ext uri="{FF2B5EF4-FFF2-40B4-BE49-F238E27FC236}">
                <a16:creationId xmlns:a16="http://schemas.microsoft.com/office/drawing/2014/main" id="{160BA44F-F428-4C1B-9A20-2A74D25E011F}"/>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065</a:t>
            </a:r>
          </a:p>
        </p:txBody>
      </p:sp>
    </p:spTree>
    <p:extLst>
      <p:ext uri="{BB962C8B-B14F-4D97-AF65-F5344CB8AC3E}">
        <p14:creationId xmlns:p14="http://schemas.microsoft.com/office/powerpoint/2010/main" val="859427365"/>
      </p:ext>
    </p:extLst>
  </p:cSld>
</p:sld>
</file>

<file path=ppt/slides/slide66.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CCF16B1-D7AD-44B5-A6E0-5396B0703A75}"/>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4교시</a:t>
            </a:r>
          </a:p>
        </p:txBody>
      </p:sp>
      <p:sp>
        <p:nvSpPr>
          <p:cNvPr id="2" name="">
            <a:extLst xmlns:a="http://schemas.openxmlformats.org/drawingml/2006/main">
              <a:ext uri="{FF2B5EF4-FFF2-40B4-BE49-F238E27FC236}">
                <a16:creationId xmlns:a16="http://schemas.microsoft.com/office/drawing/2014/main" id="{10F3B659-0385-4A79-864A-D2DFA5F27B5B}"/>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4교시 확인</a:t>
            </a:r>
          </a:p>
        </p:txBody>
      </p:sp>
      <p:sp>
        <p:nvSpPr>
          <p:cNvPr id="3" name="">
            <a:extLst xmlns:a="http://schemas.openxmlformats.org/drawingml/2006/main">
              <a:ext uri="{FF2B5EF4-FFF2-40B4-BE49-F238E27FC236}">
                <a16:creationId xmlns:a16="http://schemas.microsoft.com/office/drawing/2014/main" id="{02878CB6-9B09-4DFB-8AA1-C660F8678F33}"/>
              </a:ext>
            </a:extLst>
          </p:cNvPr>
          <p:cNvSpPr>
            <a:spLocks xmlns:a="http://schemas.openxmlformats.org/drawingml/2006/main" noGrp="1"/>
          </p:cNvSpPr>
          <p:nvPr/>
        </p:nvSpPr>
        <p:spPr>
          <a:xfrm xmlns:a="http://schemas.openxmlformats.org/drawingml/2006/main">
            <a:off x="609600" y="2695575"/>
            <a:ext cx="3524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700" b="0">
                <a:solidFill>
                  <a:srgbClr val="002FA7"/>
                </a:solidFill>
                <a:latin typeface="Noto Sans KR"/>
                <a:ea typeface="Noto Sans KR"/>
                <a:cs typeface="Noto Sans KR"/>
              </a:defRPr>
            </a:pPr>
            <a:r>
              <a:t>=는 대입</a:t>
            </a:r>
          </a:p>
        </p:txBody>
      </p:sp>
      <p:sp>
        <p:nvSpPr>
          <p:cNvPr id="4" name="">
            <a:extLst xmlns:a="http://schemas.openxmlformats.org/drawingml/2006/main">
              <a:ext uri="{FF2B5EF4-FFF2-40B4-BE49-F238E27FC236}">
                <a16:creationId xmlns:a16="http://schemas.microsoft.com/office/drawing/2014/main" id="{00D8CDBC-6A91-4B03-8BCC-943CA4C351BF}"/>
              </a:ext>
            </a:extLst>
          </p:cNvPr>
          <p:cNvSpPr>
            <a:spLocks xmlns:a="http://schemas.openxmlformats.org/drawingml/2006/main" noGrp="1"/>
          </p:cNvSpPr>
          <p:nvPr/>
        </p:nvSpPr>
        <p:spPr>
          <a:xfrm xmlns:a="http://schemas.openxmlformats.org/drawingml/2006/main">
            <a:off x="4333875" y="2562225"/>
            <a:ext cx="9525" cy="337185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78EEF90-236F-4293-AA73-04794A37CB6F}"/>
              </a:ext>
            </a:extLst>
          </p:cNvPr>
          <p:cNvSpPr>
            <a:spLocks xmlns:a="http://schemas.openxmlformats.org/drawingml/2006/main" noGrp="1"/>
          </p:cNvSpPr>
          <p:nvPr/>
        </p:nvSpPr>
        <p:spPr>
          <a:xfrm xmlns:a="http://schemas.openxmlformats.org/drawingml/2006/main">
            <a:off x="4724400" y="259080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이상은 경계를 포함하고 초과는 제외합니다.</a:t>
            </a:r>
          </a:p>
        </p:txBody>
      </p:sp>
      <p:sp>
        <p:nvSpPr>
          <p:cNvPr id="6" name="">
            <a:extLst xmlns:a="http://schemas.openxmlformats.org/drawingml/2006/main">
              <a:ext uri="{FF2B5EF4-FFF2-40B4-BE49-F238E27FC236}">
                <a16:creationId xmlns:a16="http://schemas.microsoft.com/office/drawing/2014/main" id="{4534C2C0-67E8-410E-BEBB-10755D14E7EF}"/>
              </a:ext>
            </a:extLst>
          </p:cNvPr>
          <p:cNvSpPr>
            <a:spLocks xmlns:a="http://schemas.openxmlformats.org/drawingml/2006/main" noGrp="1"/>
          </p:cNvSpPr>
          <p:nvPr/>
        </p:nvSpPr>
        <p:spPr>
          <a:xfrm xmlns:a="http://schemas.openxmlformats.org/drawingml/2006/main">
            <a:off x="4724400" y="3705225"/>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=는 대입</a:t>
            </a:r>
            <a:r>
              <a:t>, ==는 같은지 비교입니다.</a:t>
            </a:r>
          </a:p>
        </p:txBody>
      </p:sp>
      <p:sp>
        <p:nvSpPr>
          <p:cNvPr id="7" name="">
            <a:extLst xmlns:a="http://schemas.openxmlformats.org/drawingml/2006/main">
              <a:ext uri="{FF2B5EF4-FFF2-40B4-BE49-F238E27FC236}">
                <a16:creationId xmlns:a16="http://schemas.microsoft.com/office/drawing/2014/main" id="{93E6F57A-77AE-4ECB-8F22-DD5B414B5E04}"/>
              </a:ext>
            </a:extLst>
          </p:cNvPr>
          <p:cNvSpPr>
            <a:spLocks xmlns:a="http://schemas.openxmlformats.org/drawingml/2006/main" noGrp="1"/>
          </p:cNvSpPr>
          <p:nvPr/>
        </p:nvSpPr>
        <p:spPr>
          <a:xfrm xmlns:a="http://schemas.openxmlformats.org/drawingml/2006/main">
            <a:off x="4724400" y="481965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경계 아래·경계·경계 위를 확인합니다.</a:t>
            </a:r>
          </a:p>
        </p:txBody>
      </p:sp>
      <p:sp>
        <p:nvSpPr>
          <p:cNvPr id="8" name="">
            <a:extLst xmlns:a="http://schemas.openxmlformats.org/drawingml/2006/main">
              <a:ext uri="{FF2B5EF4-FFF2-40B4-BE49-F238E27FC236}">
                <a16:creationId xmlns:a16="http://schemas.microsoft.com/office/drawing/2014/main" id="{1B85D0C0-E45D-4E31-8037-0126B4240649}"/>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C9E3812-D6A0-43E1-9252-EB45C0AE4233}"/>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0" name="">
            <a:extLst xmlns:a="http://schemas.openxmlformats.org/drawingml/2006/main">
              <a:ext uri="{FF2B5EF4-FFF2-40B4-BE49-F238E27FC236}">
                <a16:creationId xmlns:a16="http://schemas.microsoft.com/office/drawing/2014/main" id="{405E025E-7439-469A-82EE-8C777CCC018C}"/>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066</a:t>
            </a:r>
          </a:p>
        </p:txBody>
      </p:sp>
    </p:spTree>
    <p:extLst>
      <p:ext uri="{BB962C8B-B14F-4D97-AF65-F5344CB8AC3E}">
        <p14:creationId xmlns:p14="http://schemas.microsoft.com/office/powerpoint/2010/main" val="1913179000"/>
      </p:ext>
    </p:extLst>
  </p:cSld>
</p:sld>
</file>

<file path=ppt/slides/slide67.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BAE39F7-3513-47A5-AA5D-5AAF32F2D499}"/>
              </a:ext>
            </a:extLst>
          </p:cNvPr>
          <p:cNvSpPr>
            <a:spLocks xmlns:a="http://schemas.openxmlformats.org/drawingml/2006/main" noGrp="1"/>
          </p:cNvSpPr>
          <p:nvPr/>
        </p:nvSpPr>
        <p:spPr>
          <a:xfrm xmlns:a="http://schemas.openxmlformats.org/drawingml/2006/main">
            <a:off x="0" y="0"/>
            <a:ext cx="4000500" cy="6858000"/>
          </a:xfrm>
          <a:prstGeom xmlns:a="http://schemas.openxmlformats.org/drawingml/2006/main" prst="rect">
            <a:avLst/>
          </a:prstGeom>
          <a:solidFill xmlns:a="http://schemas.openxmlformats.org/drawingml/2006/main">
            <a:srgbClr val="002FA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3220A4C-699C-4B25-9D4A-858E9F4000FF}"/>
              </a:ext>
            </a:extLst>
          </p:cNvPr>
          <p:cNvSpPr>
            <a:spLocks xmlns:a="http://schemas.openxmlformats.org/drawingml/2006/main" noGrp="1"/>
          </p:cNvSpPr>
          <p:nvPr/>
        </p:nvSpPr>
        <p:spPr>
          <a:xfrm xmlns:a="http://schemas.openxmlformats.org/drawingml/2006/main">
            <a:off x="542925" y="1504950"/>
            <a:ext cx="2952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600" b="0">
                <a:solidFill>
                  <a:srgbClr val="FFFFFF"/>
                </a:solidFill>
                <a:latin typeface="Arial"/>
                <a:ea typeface="Arial"/>
                <a:cs typeface="Arial"/>
              </a:defRPr>
            </a:pPr>
            <a:r>
              <a:t>05</a:t>
            </a:r>
          </a:p>
        </p:txBody>
      </p:sp>
      <p:sp>
        <p:nvSpPr>
          <p:cNvPr id="3" name="">
            <a:extLst xmlns:a="http://schemas.openxmlformats.org/drawingml/2006/main">
              <a:ext uri="{FF2B5EF4-FFF2-40B4-BE49-F238E27FC236}">
                <a16:creationId xmlns:a16="http://schemas.microsoft.com/office/drawing/2014/main" id="{4F024C69-05FA-49BC-B91F-3EF0017EB5C4}"/>
              </a:ext>
            </a:extLst>
          </p:cNvPr>
          <p:cNvSpPr>
            <a:spLocks xmlns:a="http://schemas.openxmlformats.org/drawingml/2006/main" noGrp="1"/>
          </p:cNvSpPr>
          <p:nvPr/>
        </p:nvSpPr>
        <p:spPr>
          <a:xfrm xmlns:a="http://schemas.openxmlformats.org/drawingml/2006/main">
            <a:off x="609600" y="3857625"/>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0">
                <a:solidFill>
                  <a:srgbClr val="FFFFFF"/>
                </a:solidFill>
                <a:latin typeface="Noto Sans KR"/>
                <a:ea typeface="Noto Sans KR"/>
                <a:cs typeface="Noto Sans KR"/>
              </a:defRPr>
            </a:pPr>
            <a:r>
              <a:t>교시</a:t>
            </a:r>
          </a:p>
        </p:txBody>
      </p:sp>
      <p:sp>
        <p:nvSpPr>
          <p:cNvPr id="4" name="">
            <a:extLst xmlns:a="http://schemas.openxmlformats.org/drawingml/2006/main">
              <a:ext uri="{FF2B5EF4-FFF2-40B4-BE49-F238E27FC236}">
                <a16:creationId xmlns:a16="http://schemas.microsoft.com/office/drawing/2014/main" id="{E14555B4-8434-408E-B6FC-8BA9E08060F6}"/>
              </a:ext>
            </a:extLst>
          </p:cNvPr>
          <p:cNvSpPr>
            <a:spLocks xmlns:a="http://schemas.openxmlformats.org/drawingml/2006/main" noGrp="1"/>
          </p:cNvSpPr>
          <p:nvPr/>
        </p:nvSpPr>
        <p:spPr>
          <a:xfrm xmlns:a="http://schemas.openxmlformats.org/drawingml/2006/main">
            <a:off x="4572000" y="1304925"/>
            <a:ext cx="68961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650" b="0">
                <a:solidFill>
                  <a:srgbClr val="0A0A0A"/>
                </a:solidFill>
                <a:latin typeface="Noto Sans KR"/>
                <a:ea typeface="Noto Sans KR"/>
                <a:cs typeface="Noto Sans KR"/>
              </a:defRPr>
            </a:pPr>
            <a:r>
              <a:t>여러 기록을 반복하기</a:t>
            </a:r>
          </a:p>
        </p:txBody>
      </p:sp>
      <p:sp>
        <p:nvSpPr>
          <p:cNvPr id="5" name="">
            <a:extLst xmlns:a="http://schemas.openxmlformats.org/drawingml/2006/main">
              <a:ext uri="{FF2B5EF4-FFF2-40B4-BE49-F238E27FC236}">
                <a16:creationId xmlns:a16="http://schemas.microsoft.com/office/drawing/2014/main" id="{4ED6E4CF-45B4-4CBA-9EC9-C5E2155C5347}"/>
              </a:ext>
            </a:extLst>
          </p:cNvPr>
          <p:cNvSpPr>
            <a:spLocks xmlns:a="http://schemas.openxmlformats.org/drawingml/2006/main" noGrp="1"/>
          </p:cNvSpPr>
          <p:nvPr/>
        </p:nvSpPr>
        <p:spPr>
          <a:xfrm xmlns:a="http://schemas.openxmlformats.org/drawingml/2006/main">
            <a:off x="4572000" y="3609975"/>
            <a:ext cx="6896100" cy="9525"/>
          </a:xfrm>
          <a:prstGeom xmlns:a="http://schemas.openxmlformats.org/drawingml/2006/main" prst="rect">
            <a:avLst/>
          </a:prstGeom>
          <a:solidFill xmlns:a="http://schemas.openxmlformats.org/drawingml/2006/main">
            <a:srgbClr val="002FA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BCEFBBD-487A-4036-9961-6CA849D574FD}"/>
              </a:ext>
            </a:extLst>
          </p:cNvPr>
          <p:cNvSpPr>
            <a:spLocks xmlns:a="http://schemas.openxmlformats.org/drawingml/2006/main" noGrp="1"/>
          </p:cNvSpPr>
          <p:nvPr/>
        </p:nvSpPr>
        <p:spPr>
          <a:xfrm xmlns:a="http://schemas.openxmlformats.org/drawingml/2006/main">
            <a:off x="4572000" y="3886200"/>
            <a:ext cx="689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002FA7"/>
                </a:solidFill>
                <a:latin typeface="Noto Sans KR"/>
                <a:ea typeface="Noto Sans KR"/>
                <a:cs typeface="Noto Sans KR"/>
              </a:defRPr>
            </a:pPr>
            <a:r>
              <a:t>15:00~15:50 · 50분</a:t>
            </a:r>
          </a:p>
        </p:txBody>
      </p:sp>
      <p:sp>
        <p:nvSpPr>
          <p:cNvPr id="7" name="">
            <a:extLst xmlns:a="http://schemas.openxmlformats.org/drawingml/2006/main">
              <a:ext uri="{FF2B5EF4-FFF2-40B4-BE49-F238E27FC236}">
                <a16:creationId xmlns:a16="http://schemas.microsoft.com/office/drawing/2014/main" id="{71C77C63-4CA5-4431-883B-FCDFC033FD22}"/>
              </a:ext>
            </a:extLst>
          </p:cNvPr>
          <p:cNvSpPr>
            <a:spLocks xmlns:a="http://schemas.openxmlformats.org/drawingml/2006/main" noGrp="1"/>
          </p:cNvSpPr>
          <p:nvPr/>
        </p:nvSpPr>
        <p:spPr>
          <a:xfrm xmlns:a="http://schemas.openxmlformats.org/drawingml/2006/main">
            <a:off x="4572000" y="4600575"/>
            <a:ext cx="689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0A0A0A"/>
                </a:solidFill>
                <a:latin typeface="Noto Sans KR"/>
                <a:ea typeface="Noto Sans KR"/>
                <a:cs typeface="Noto Sans KR"/>
              </a:defRPr>
            </a:pPr>
            <a:r>
              <a:t>먼저 할 활동: A13, A14, A15</a:t>
            </a:r>
          </a:p>
        </p:txBody>
      </p:sp>
      <p:sp>
        <p:nvSpPr>
          <p:cNvPr id="8" name="">
            <a:extLst xmlns:a="http://schemas.openxmlformats.org/drawingml/2006/main">
              <a:ext uri="{FF2B5EF4-FFF2-40B4-BE49-F238E27FC236}">
                <a16:creationId xmlns:a16="http://schemas.microsoft.com/office/drawing/2014/main" id="{508889FC-83F7-4F27-85D9-BAEE60EECFEE}"/>
              </a:ext>
            </a:extLst>
          </p:cNvPr>
          <p:cNvSpPr>
            <a:spLocks xmlns:a="http://schemas.openxmlformats.org/drawingml/2006/main" noGrp="1"/>
          </p:cNvSpPr>
          <p:nvPr/>
        </p:nvSpPr>
        <p:spPr>
          <a:xfrm xmlns:a="http://schemas.openxmlformats.org/drawingml/2006/main">
            <a:off x="4572000" y="5314950"/>
            <a:ext cx="689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0A0A0A"/>
                </a:solidFill>
                <a:latin typeface="Noto Sans KR"/>
                <a:ea typeface="Noto Sans KR"/>
                <a:cs typeface="Noto Sans KR"/>
              </a:defRPr>
            </a:pPr>
            <a:r>
              <a:t>추가 문제는 필수 결과를 확인한 뒤 풉니다.</a:t>
            </a:r>
          </a:p>
        </p:txBody>
      </p:sp>
      <p:sp>
        <p:nvSpPr>
          <p:cNvPr id="9" name="">
            <a:extLst xmlns:a="http://schemas.openxmlformats.org/drawingml/2006/main">
              <a:ext uri="{FF2B5EF4-FFF2-40B4-BE49-F238E27FC236}">
                <a16:creationId xmlns:a16="http://schemas.microsoft.com/office/drawing/2014/main" id="{9D239931-21EE-4FB6-89D0-3193D8E5D929}"/>
              </a:ext>
            </a:extLst>
          </p:cNvPr>
          <p:cNvSpPr>
            <a:spLocks xmlns:a="http://schemas.openxmlformats.org/drawingml/2006/main" noGrp="1"/>
          </p:cNvSpPr>
          <p:nvPr/>
        </p:nvSpPr>
        <p:spPr>
          <a:xfrm xmlns:a="http://schemas.openxmlformats.org/drawingml/2006/main">
            <a:off x="609600" y="428625"/>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FFFFFF"/>
                </a:solidFill>
                <a:latin typeface="Noto Sans KR"/>
                <a:ea typeface="Noto Sans KR"/>
                <a:cs typeface="Noto Sans KR"/>
              </a:defRPr>
            </a:pPr>
            <a:r>
              <a:t>2026.10.14</a:t>
            </a:r>
          </a:p>
        </p:txBody>
      </p:sp>
      <p:sp>
        <p:nvSpPr>
          <p:cNvPr id="10" name="">
            <a:extLst xmlns:a="http://schemas.openxmlformats.org/drawingml/2006/main">
              <a:ext uri="{FF2B5EF4-FFF2-40B4-BE49-F238E27FC236}">
                <a16:creationId xmlns:a16="http://schemas.microsoft.com/office/drawing/2014/main" id="{F479A753-D007-4509-9336-852454A7F4E7}"/>
              </a:ext>
            </a:extLst>
          </p:cNvPr>
          <p:cNvSpPr>
            <a:spLocks xmlns:a="http://schemas.openxmlformats.org/drawingml/2006/main" noGrp="1"/>
          </p:cNvSpPr>
          <p:nvPr/>
        </p:nvSpPr>
        <p:spPr>
          <a:xfrm xmlns:a="http://schemas.openxmlformats.org/drawingml/2006/main">
            <a:off x="10477500" y="64008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067</a:t>
            </a:r>
          </a:p>
        </p:txBody>
      </p:sp>
    </p:spTree>
    <p:extLst>
      <p:ext uri="{BB962C8B-B14F-4D97-AF65-F5344CB8AC3E}">
        <p14:creationId xmlns:p14="http://schemas.microsoft.com/office/powerpoint/2010/main" val="341739178"/>
      </p:ext>
    </p:extLst>
  </p:cSld>
</p:sld>
</file>

<file path=ppt/slides/slide68.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369A726-D4FD-4664-8BBB-A86F78CE3224}"/>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5교시</a:t>
            </a:r>
          </a:p>
        </p:txBody>
      </p:sp>
      <p:sp>
        <p:nvSpPr>
          <p:cNvPr id="2" name="">
            <a:extLst xmlns:a="http://schemas.openxmlformats.org/drawingml/2006/main">
              <a:ext uri="{FF2B5EF4-FFF2-40B4-BE49-F238E27FC236}">
                <a16:creationId xmlns:a16="http://schemas.microsoft.com/office/drawing/2014/main" id="{57569E16-D10D-4254-96AC-B7FE06DE892E}"/>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완성 예 · 목록과 위치</a:t>
            </a:r>
          </a:p>
        </p:txBody>
      </p:sp>
      <p:sp>
        <p:nvSpPr>
          <p:cNvPr id="3" name="">
            <a:extLst xmlns:a="http://schemas.openxmlformats.org/drawingml/2006/main">
              <a:ext uri="{FF2B5EF4-FFF2-40B4-BE49-F238E27FC236}">
                <a16:creationId xmlns:a16="http://schemas.microsoft.com/office/drawing/2014/main" id="{12E59855-DD9A-4BF1-AFB5-7767178A4397}"/>
              </a:ext>
            </a:extLst>
          </p:cNvPr>
          <p:cNvSpPr>
            <a:spLocks xmlns:a="http://schemas.openxmlformats.org/drawingml/2006/main" noGrp="1"/>
          </p:cNvSpPr>
          <p:nvPr/>
        </p:nvSpPr>
        <p:spPr>
          <a:xfrm xmlns:a="http://schemas.openxmlformats.org/drawingml/2006/main">
            <a:off x="609600" y="2714625"/>
            <a:ext cx="10972800" cy="2476500"/>
          </a:xfrm>
          <a:prstGeom xmlns:a="http://schemas.openxmlformats.org/drawingml/2006/main" prst="rect">
            <a:avLst/>
          </a:prstGeom>
          <a:solidFill xmlns:a="http://schemas.openxmlformats.org/drawingml/2006/main">
            <a:srgbClr val="0A0A0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C0B9871-089D-44F5-9AF1-ED85B788F86F}"/>
              </a:ext>
            </a:extLst>
          </p:cNvPr>
          <p:cNvSpPr>
            <a:spLocks xmlns:a="http://schemas.openxmlformats.org/drawingml/2006/main" noGrp="1"/>
          </p:cNvSpPr>
          <p:nvPr/>
        </p:nvSpPr>
        <p:spPr>
          <a:xfrm xmlns:a="http://schemas.openxmlformats.org/drawingml/2006/main">
            <a:off x="790575" y="29051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01</a:t>
            </a:r>
          </a:p>
        </p:txBody>
      </p:sp>
      <p:sp>
        <p:nvSpPr>
          <p:cNvPr id="5" name="">
            <a:extLst xmlns:a="http://schemas.openxmlformats.org/drawingml/2006/main">
              <a:ext uri="{FF2B5EF4-FFF2-40B4-BE49-F238E27FC236}">
                <a16:creationId xmlns:a16="http://schemas.microsoft.com/office/drawing/2014/main" id="{B05D726F-BEA1-4A0D-9BF4-11050D956C0F}"/>
              </a:ext>
            </a:extLst>
          </p:cNvPr>
          <p:cNvSpPr>
            <a:spLocks xmlns:a="http://schemas.openxmlformats.org/drawingml/2006/main" noGrp="1"/>
          </p:cNvSpPr>
          <p:nvPr/>
        </p:nvSpPr>
        <p:spPr>
          <a:xfrm xmlns:a="http://schemas.openxmlformats.org/drawingml/2006/main">
            <a:off x="1390650" y="28670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temperatures = [22.5, 24.0, 23.5]</a:t>
            </a:r>
          </a:p>
        </p:txBody>
      </p:sp>
      <p:sp>
        <p:nvSpPr>
          <p:cNvPr id="6" name="">
            <a:extLst xmlns:a="http://schemas.openxmlformats.org/drawingml/2006/main">
              <a:ext uri="{FF2B5EF4-FFF2-40B4-BE49-F238E27FC236}">
                <a16:creationId xmlns:a16="http://schemas.microsoft.com/office/drawing/2014/main" id="{ED250423-8B3B-4509-9782-2F8765D7D121}"/>
              </a:ext>
            </a:extLst>
          </p:cNvPr>
          <p:cNvSpPr>
            <a:spLocks xmlns:a="http://schemas.openxmlformats.org/drawingml/2006/main" noGrp="1"/>
          </p:cNvSpPr>
          <p:nvPr/>
        </p:nvSpPr>
        <p:spPr>
          <a:xfrm xmlns:a="http://schemas.openxmlformats.org/drawingml/2006/main">
            <a:off x="790575" y="32480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02</a:t>
            </a:r>
          </a:p>
        </p:txBody>
      </p:sp>
      <p:sp>
        <p:nvSpPr>
          <p:cNvPr id="7" name="">
            <a:extLst xmlns:a="http://schemas.openxmlformats.org/drawingml/2006/main">
              <a:ext uri="{FF2B5EF4-FFF2-40B4-BE49-F238E27FC236}">
                <a16:creationId xmlns:a16="http://schemas.microsoft.com/office/drawing/2014/main" id="{941642B5-E573-4EF5-9814-595DA122128F}"/>
              </a:ext>
            </a:extLst>
          </p:cNvPr>
          <p:cNvSpPr>
            <a:spLocks xmlns:a="http://schemas.openxmlformats.org/drawingml/2006/main" noGrp="1"/>
          </p:cNvSpPr>
          <p:nvPr/>
        </p:nvSpPr>
        <p:spPr>
          <a:xfrm xmlns:a="http://schemas.openxmlformats.org/drawingml/2006/main">
            <a:off x="1390650" y="32099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print(temperatures[0])</a:t>
            </a:r>
          </a:p>
        </p:txBody>
      </p:sp>
      <p:sp>
        <p:nvSpPr>
          <p:cNvPr id="8" name="">
            <a:extLst xmlns:a="http://schemas.openxmlformats.org/drawingml/2006/main">
              <a:ext uri="{FF2B5EF4-FFF2-40B4-BE49-F238E27FC236}">
                <a16:creationId xmlns:a16="http://schemas.microsoft.com/office/drawing/2014/main" id="{E225057C-FBA9-4ACF-AF15-1FDE3D1A206D}"/>
              </a:ext>
            </a:extLst>
          </p:cNvPr>
          <p:cNvSpPr>
            <a:spLocks xmlns:a="http://schemas.openxmlformats.org/drawingml/2006/main" noGrp="1"/>
          </p:cNvSpPr>
          <p:nvPr/>
        </p:nvSpPr>
        <p:spPr>
          <a:xfrm xmlns:a="http://schemas.openxmlformats.org/drawingml/2006/main">
            <a:off x="790575" y="35909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03</a:t>
            </a:r>
          </a:p>
        </p:txBody>
      </p:sp>
      <p:sp>
        <p:nvSpPr>
          <p:cNvPr id="9" name="">
            <a:extLst xmlns:a="http://schemas.openxmlformats.org/drawingml/2006/main">
              <a:ext uri="{FF2B5EF4-FFF2-40B4-BE49-F238E27FC236}">
                <a16:creationId xmlns:a16="http://schemas.microsoft.com/office/drawing/2014/main" id="{AD6A3A15-B84A-4A02-B079-F2EEEA5FC792}"/>
              </a:ext>
            </a:extLst>
          </p:cNvPr>
          <p:cNvSpPr>
            <a:spLocks xmlns:a="http://schemas.openxmlformats.org/drawingml/2006/main" noGrp="1"/>
          </p:cNvSpPr>
          <p:nvPr/>
        </p:nvSpPr>
        <p:spPr>
          <a:xfrm xmlns:a="http://schemas.openxmlformats.org/drawingml/2006/main">
            <a:off x="1390650" y="35528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print(len(temperatures))</a:t>
            </a:r>
          </a:p>
        </p:txBody>
      </p:sp>
      <p:sp>
        <p:nvSpPr>
          <p:cNvPr id="10" name="">
            <a:extLst xmlns:a="http://schemas.openxmlformats.org/drawingml/2006/main">
              <a:ext uri="{FF2B5EF4-FFF2-40B4-BE49-F238E27FC236}">
                <a16:creationId xmlns:a16="http://schemas.microsoft.com/office/drawing/2014/main" id="{805DD02F-B503-48E9-B1F4-8DABCDA3AF02}"/>
              </a:ext>
            </a:extLst>
          </p:cNvPr>
          <p:cNvSpPr>
            <a:spLocks xmlns:a="http://schemas.openxmlformats.org/drawingml/2006/main" noGrp="1"/>
          </p:cNvSpPr>
          <p:nvPr/>
        </p:nvSpPr>
        <p:spPr>
          <a:xfrm xmlns:a="http://schemas.openxmlformats.org/drawingml/2006/main">
            <a:off x="790575" y="39338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04</a:t>
            </a:r>
          </a:p>
        </p:txBody>
      </p:sp>
      <p:sp>
        <p:nvSpPr>
          <p:cNvPr id="11" name="">
            <a:extLst xmlns:a="http://schemas.openxmlformats.org/drawingml/2006/main">
              <a:ext uri="{FF2B5EF4-FFF2-40B4-BE49-F238E27FC236}">
                <a16:creationId xmlns:a16="http://schemas.microsoft.com/office/drawing/2014/main" id="{AE037278-C769-4A77-A49D-9C38AF4C38B4}"/>
              </a:ext>
            </a:extLst>
          </p:cNvPr>
          <p:cNvSpPr>
            <a:spLocks xmlns:a="http://schemas.openxmlformats.org/drawingml/2006/main" noGrp="1"/>
          </p:cNvSpPr>
          <p:nvPr/>
        </p:nvSpPr>
        <p:spPr>
          <a:xfrm xmlns:a="http://schemas.openxmlformats.org/drawingml/2006/main">
            <a:off x="1390650" y="38957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temperatures.append(25.0)</a:t>
            </a:r>
          </a:p>
        </p:txBody>
      </p:sp>
      <p:sp>
        <p:nvSpPr>
          <p:cNvPr id="12" name="">
            <a:extLst xmlns:a="http://schemas.openxmlformats.org/drawingml/2006/main">
              <a:ext uri="{FF2B5EF4-FFF2-40B4-BE49-F238E27FC236}">
                <a16:creationId xmlns:a16="http://schemas.microsoft.com/office/drawing/2014/main" id="{089762C8-F7F9-42D3-A675-2249138D0000}"/>
              </a:ext>
            </a:extLst>
          </p:cNvPr>
          <p:cNvSpPr>
            <a:spLocks xmlns:a="http://schemas.openxmlformats.org/drawingml/2006/main" noGrp="1"/>
          </p:cNvSpPr>
          <p:nvPr/>
        </p:nvSpPr>
        <p:spPr>
          <a:xfrm xmlns:a="http://schemas.openxmlformats.org/drawingml/2006/main">
            <a:off x="790575" y="42767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05</a:t>
            </a:r>
          </a:p>
        </p:txBody>
      </p:sp>
      <p:sp>
        <p:nvSpPr>
          <p:cNvPr id="13" name="">
            <a:extLst xmlns:a="http://schemas.openxmlformats.org/drawingml/2006/main">
              <a:ext uri="{FF2B5EF4-FFF2-40B4-BE49-F238E27FC236}">
                <a16:creationId xmlns:a16="http://schemas.microsoft.com/office/drawing/2014/main" id="{DD0CDE36-1B40-4668-99A2-C289DC8A648F}"/>
              </a:ext>
            </a:extLst>
          </p:cNvPr>
          <p:cNvSpPr>
            <a:spLocks xmlns:a="http://schemas.openxmlformats.org/drawingml/2006/main" noGrp="1"/>
          </p:cNvSpPr>
          <p:nvPr/>
        </p:nvSpPr>
        <p:spPr>
          <a:xfrm xmlns:a="http://schemas.openxmlformats.org/drawingml/2006/main">
            <a:off x="1390650" y="42386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print(len(temperatures))</a:t>
            </a:r>
          </a:p>
        </p:txBody>
      </p:sp>
      <p:sp>
        <p:nvSpPr>
          <p:cNvPr id="14" name="">
            <a:extLst xmlns:a="http://schemas.openxmlformats.org/drawingml/2006/main">
              <a:ext uri="{FF2B5EF4-FFF2-40B4-BE49-F238E27FC236}">
                <a16:creationId xmlns:a16="http://schemas.microsoft.com/office/drawing/2014/main" id="{A094F614-88BB-4173-94C8-FEE4DC5BD99C}"/>
              </a:ext>
            </a:extLst>
          </p:cNvPr>
          <p:cNvSpPr>
            <a:spLocks xmlns:a="http://schemas.openxmlformats.org/drawingml/2006/main" noGrp="1"/>
          </p:cNvSpPr>
          <p:nvPr/>
        </p:nvSpPr>
        <p:spPr>
          <a:xfrm xmlns:a="http://schemas.openxmlformats.org/drawingml/2006/main">
            <a:off x="790575" y="46196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06</a:t>
            </a:r>
          </a:p>
        </p:txBody>
      </p:sp>
      <p:sp>
        <p:nvSpPr>
          <p:cNvPr id="15" name="">
            <a:extLst xmlns:a="http://schemas.openxmlformats.org/drawingml/2006/main">
              <a:ext uri="{FF2B5EF4-FFF2-40B4-BE49-F238E27FC236}">
                <a16:creationId xmlns:a16="http://schemas.microsoft.com/office/drawing/2014/main" id="{E9353ED1-74BE-448C-A970-638A62EB66EB}"/>
              </a:ext>
            </a:extLst>
          </p:cNvPr>
          <p:cNvSpPr>
            <a:spLocks xmlns:a="http://schemas.openxmlformats.org/drawingml/2006/main" noGrp="1"/>
          </p:cNvSpPr>
          <p:nvPr/>
        </p:nvSpPr>
        <p:spPr>
          <a:xfrm xmlns:a="http://schemas.openxmlformats.org/drawingml/2006/main">
            <a:off x="1390650" y="45815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print(temperatures[3])</a:t>
            </a:r>
          </a:p>
        </p:txBody>
      </p:sp>
      <p:sp>
        <p:nvSpPr>
          <p:cNvPr id="16" name="">
            <a:extLst xmlns:a="http://schemas.openxmlformats.org/drawingml/2006/main">
              <a:ext uri="{FF2B5EF4-FFF2-40B4-BE49-F238E27FC236}">
                <a16:creationId xmlns:a16="http://schemas.microsoft.com/office/drawing/2014/main" id="{80811B7A-3CD6-4260-86C8-4F0A38D8433D}"/>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4F5B870-142C-4EAE-9209-86EA271AA959}"/>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8" name="">
            <a:extLst xmlns:a="http://schemas.openxmlformats.org/drawingml/2006/main">
              <a:ext uri="{FF2B5EF4-FFF2-40B4-BE49-F238E27FC236}">
                <a16:creationId xmlns:a16="http://schemas.microsoft.com/office/drawing/2014/main" id="{4ABD97BB-1E30-442D-9DEB-A6501AD13DA2}"/>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068</a:t>
            </a:r>
          </a:p>
        </p:txBody>
      </p:sp>
    </p:spTree>
    <p:extLst>
      <p:ext uri="{BB962C8B-B14F-4D97-AF65-F5344CB8AC3E}">
        <p14:creationId xmlns:p14="http://schemas.microsoft.com/office/powerpoint/2010/main" val="2130570032"/>
      </p:ext>
    </p:extLst>
  </p:cSld>
</p:sld>
</file>

<file path=ppt/slides/slide69.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000348E-AB72-48E6-9D2C-400B40D20658}"/>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5교시</a:t>
            </a:r>
          </a:p>
        </p:txBody>
      </p:sp>
      <p:sp>
        <p:nvSpPr>
          <p:cNvPr id="2" name="">
            <a:extLst xmlns:a="http://schemas.openxmlformats.org/drawingml/2006/main">
              <a:ext uri="{FF2B5EF4-FFF2-40B4-BE49-F238E27FC236}">
                <a16:creationId xmlns:a16="http://schemas.microsoft.com/office/drawing/2014/main" id="{BA9DAEB9-9B57-4F62-8D8C-4928A41A8273}"/>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리스트 위치의 약속</a:t>
            </a:r>
          </a:p>
        </p:txBody>
      </p:sp>
      <p:graphicFrame>
        <p:nvGraphicFramePr>
          <p:cNvPr id="9" name=""/>
          <p:cNvGraphicFramePr/>
          <p:nvPr/>
        </p:nvGraphicFramePr>
        <p:xfrm>
          <a:off xmlns:a="http://schemas.openxmlformats.org/drawingml/2006/main" x="609600" y="2333625"/>
          <a:ext xmlns:a="http://schemas.openxmlformats.org/drawingml/2006/main" cx="10972800" cy="2933700"/>
        </p:xfrm>
        <a:graphic xmlns:a="http://schemas.openxmlformats.org/drawingml/2006/main">
          <a:graphicData uri="http://schemas.openxmlformats.org/drawingml/2006/table">
            <a:tbl>
              <a:tblPr firstRow="1" bandRow="0"/>
              <a:tblGrid>
                <a:gridCol w="5852160"/>
                <a:gridCol w="5120640"/>
              </a:tblGrid>
              <a:tr h="733425">
                <a:tc>
                  <a:txBody>
                    <a:bodyPr wrap="square"/>
                    <a:lstStyle/>
                    <a:p>
                      <a:pPr>
                        <a:lnSpc>
                          <a:spcPct val="94000"/>
                        </a:lnSpc>
                        <a:buNone/>
                      </a:pPr>
                      <a:r>
                        <a:rPr sz="2100" b="1">
                          <a:solidFill>
                            <a:srgbClr val="FFFFFF"/>
                          </a:solidFill>
                          <a:latin typeface="Noto Sans KR"/>
                          <a:ea typeface="Noto Sans KR"/>
                          <a:cs typeface="Noto Sans KR"/>
                        </a:rPr>
                        <a:t>위치 번호</a:t>
                      </a:r>
                    </a:p>
                  </a:txBody>
                  <a:tcPr marL="171450" marR="114300" marT="47625" marB="47625" anchor="ctr">
                    <a:solidFill>
                      <a:srgbClr val="002FA7"/>
                    </a:solidFill>
                  </a:tcPr>
                </a:tc>
                <a:tc>
                  <a:txBody>
                    <a:bodyPr wrap="square"/>
                    <a:lstStyle/>
                    <a:p>
                      <a:pPr>
                        <a:lnSpc>
                          <a:spcPct val="94000"/>
                        </a:lnSpc>
                        <a:buNone/>
                      </a:pPr>
                      <a:r>
                        <a:rPr sz="2100" b="1">
                          <a:solidFill>
                            <a:srgbClr val="FFFFFF"/>
                          </a:solidFill>
                          <a:latin typeface="Noto Sans KR"/>
                          <a:ea typeface="Noto Sans KR"/>
                          <a:cs typeface="Noto Sans KR"/>
                        </a:rPr>
                        <a:t>처음 값</a:t>
                      </a:r>
                    </a:p>
                  </a:txBody>
                  <a:tcPr marL="171450" marR="114300" marT="47625" marB="47625" anchor="ctr">
                    <a:solidFill>
                      <a:srgbClr val="002FA7"/>
                    </a:solidFill>
                  </a:tcPr>
                </a:tc>
              </a:tr>
              <a:tr h="733425">
                <a:tc>
                  <a:txBody>
                    <a:bodyPr wrap="square"/>
                    <a:lstStyle/>
                    <a:p>
                      <a:pPr>
                        <a:lnSpc>
                          <a:spcPct val="94000"/>
                        </a:lnSpc>
                        <a:buNone/>
                      </a:pPr>
                      <a:r>
                        <a:rPr sz="2100" b="0">
                          <a:solidFill>
                            <a:srgbClr val="0A0A0A"/>
                          </a:solidFill>
                          <a:latin typeface="Noto Sans KR"/>
                          <a:ea typeface="Noto Sans KR"/>
                          <a:cs typeface="Noto Sans KR"/>
                        </a:rPr>
                        <a:t>0</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22.5</a:t>
                      </a:r>
                    </a:p>
                  </a:txBody>
                  <a:tcPr marL="171450" marR="114300" marT="47625" marB="47625" anchor="ctr">
                    <a:solidFill>
                      <a:srgbClr val="FAFAF8"/>
                    </a:solidFill>
                  </a:tcPr>
                </a:tc>
              </a:tr>
              <a:tr h="733425">
                <a:tc>
                  <a:txBody>
                    <a:bodyPr wrap="square"/>
                    <a:lstStyle/>
                    <a:p>
                      <a:pPr>
                        <a:lnSpc>
                          <a:spcPct val="94000"/>
                        </a:lnSpc>
                        <a:buNone/>
                      </a:pPr>
                      <a:r>
                        <a:rPr sz="2100" b="0">
                          <a:solidFill>
                            <a:srgbClr val="0A0A0A"/>
                          </a:solidFill>
                          <a:latin typeface="Noto Sans KR"/>
                          <a:ea typeface="Noto Sans KR"/>
                          <a:cs typeface="Noto Sans KR"/>
                        </a:rPr>
                        <a:t>1</a:t>
                      </a:r>
                    </a:p>
                  </a:txBody>
                  <a:tcPr marL="171450" marR="114300" marT="47625" marB="47625" anchor="ctr">
                    <a:solidFill>
                      <a:srgbClr val="F0F0EB"/>
                    </a:solidFill>
                  </a:tcPr>
                </a:tc>
                <a:tc>
                  <a:txBody>
                    <a:bodyPr wrap="square"/>
                    <a:lstStyle/>
                    <a:p>
                      <a:pPr>
                        <a:lnSpc>
                          <a:spcPct val="94000"/>
                        </a:lnSpc>
                        <a:buNone/>
                      </a:pPr>
                      <a:r>
                        <a:rPr sz="2100" b="0">
                          <a:solidFill>
                            <a:srgbClr val="0A0A0A"/>
                          </a:solidFill>
                          <a:latin typeface="Noto Sans KR"/>
                          <a:ea typeface="Noto Sans KR"/>
                          <a:cs typeface="Noto Sans KR"/>
                        </a:rPr>
                        <a:t>24.0</a:t>
                      </a:r>
                    </a:p>
                  </a:txBody>
                  <a:tcPr marL="171450" marR="114300" marT="47625" marB="47625" anchor="ctr">
                    <a:solidFill>
                      <a:srgbClr val="F0F0EB"/>
                    </a:solidFill>
                  </a:tcPr>
                </a:tc>
              </a:tr>
              <a:tr h="733425">
                <a:tc>
                  <a:txBody>
                    <a:bodyPr wrap="square"/>
                    <a:lstStyle/>
                    <a:p>
                      <a:pPr>
                        <a:lnSpc>
                          <a:spcPct val="94000"/>
                        </a:lnSpc>
                        <a:buNone/>
                      </a:pPr>
                      <a:r>
                        <a:rPr sz="2100" b="0">
                          <a:solidFill>
                            <a:srgbClr val="0A0A0A"/>
                          </a:solidFill>
                          <a:latin typeface="Noto Sans KR"/>
                          <a:ea typeface="Noto Sans KR"/>
                          <a:cs typeface="Noto Sans KR"/>
                        </a:rPr>
                        <a:t>2</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23.5</a:t>
                      </a:r>
                    </a:p>
                  </a:txBody>
                  <a:tcPr marL="171450" marR="114300" marT="47625" marB="47625" anchor="ctr">
                    <a:solidFill>
                      <a:srgbClr val="FAFAF8"/>
                    </a:solidFill>
                  </a:tcPr>
                </a:tc>
              </a:tr>
            </a:tbl>
          </a:graphicData>
        </a:graphic>
      </p:graphicFrame>
      <p:sp>
        <p:nvSpPr>
          <p:cNvPr id="4" name="">
            <a:extLst xmlns:a="http://schemas.openxmlformats.org/drawingml/2006/main">
              <a:ext uri="{FF2B5EF4-FFF2-40B4-BE49-F238E27FC236}">
                <a16:creationId xmlns:a16="http://schemas.microsoft.com/office/drawing/2014/main" id="{1D6750CD-B565-4ED0-8C7A-CC6A372FE251}"/>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B132799-0936-4B65-B8A2-1517AA83F86A}"/>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6" name="">
            <a:extLst xmlns:a="http://schemas.openxmlformats.org/drawingml/2006/main">
              <a:ext uri="{FF2B5EF4-FFF2-40B4-BE49-F238E27FC236}">
                <a16:creationId xmlns:a16="http://schemas.microsoft.com/office/drawing/2014/main" id="{475305E3-C827-41EA-B69D-221F14C2310E}"/>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069</a:t>
            </a:r>
          </a:p>
        </p:txBody>
      </p:sp>
    </p:spTree>
    <p:extLst>
      <p:ext uri="{BB962C8B-B14F-4D97-AF65-F5344CB8AC3E}">
        <p14:creationId xmlns:p14="http://schemas.microsoft.com/office/powerpoint/2010/main" val="1587608167"/>
      </p:ext>
    </p:extLst>
  </p:cSld>
</p:sld>
</file>

<file path=ppt/slides/slide70.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1B06ED7-3B01-492E-83E7-5996D9D7F04F}"/>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5교시</a:t>
            </a:r>
          </a:p>
        </p:txBody>
      </p:sp>
      <p:sp>
        <p:nvSpPr>
          <p:cNvPr id="2" name="">
            <a:extLst xmlns:a="http://schemas.openxmlformats.org/drawingml/2006/main">
              <a:ext uri="{FF2B5EF4-FFF2-40B4-BE49-F238E27FC236}">
                <a16:creationId xmlns:a16="http://schemas.microsoft.com/office/drawing/2014/main" id="{7DC286F6-B02A-4359-9D64-93D12087A736}"/>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길이와 마지막 위치는 다릅니다</a:t>
            </a:r>
          </a:p>
        </p:txBody>
      </p:sp>
      <p:sp>
        <p:nvSpPr>
          <p:cNvPr id="3" name="">
            <a:extLst xmlns:a="http://schemas.openxmlformats.org/drawingml/2006/main">
              <a:ext uri="{FF2B5EF4-FFF2-40B4-BE49-F238E27FC236}">
                <a16:creationId xmlns:a16="http://schemas.microsoft.com/office/drawing/2014/main" id="{681E3757-906F-4B25-9DDB-B516619B49D2}"/>
              </a:ext>
            </a:extLst>
          </p:cNvPr>
          <p:cNvSpPr>
            <a:spLocks xmlns:a="http://schemas.openxmlformats.org/drawingml/2006/main" noGrp="1"/>
          </p:cNvSpPr>
          <p:nvPr/>
        </p:nvSpPr>
        <p:spPr>
          <a:xfrm xmlns:a="http://schemas.openxmlformats.org/drawingml/2006/main">
            <a:off x="6086475" y="2514600"/>
            <a:ext cx="9525" cy="189547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22AD18E-B925-4D13-AEE0-DA6F7F377AF1}"/>
              </a:ext>
            </a:extLst>
          </p:cNvPr>
          <p:cNvSpPr>
            <a:spLocks xmlns:a="http://schemas.openxmlformats.org/drawingml/2006/main" noGrp="1"/>
          </p:cNvSpPr>
          <p:nvPr/>
        </p:nvSpPr>
        <p:spPr>
          <a:xfrm xmlns:a="http://schemas.openxmlformats.org/drawingml/2006/main">
            <a:off x="609600" y="2667000"/>
            <a:ext cx="51435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0A0A0A"/>
                </a:solidFill>
                <a:latin typeface="Noto Sans KR"/>
                <a:ea typeface="Noto Sans KR"/>
                <a:cs typeface="Noto Sans KR"/>
              </a:defRPr>
            </a:pPr>
            <a:r>
              <a:t>처음 항목 수는 3개입니다.</a:t>
            </a:r>
          </a:p>
        </p:txBody>
      </p:sp>
      <p:sp>
        <p:nvSpPr>
          <p:cNvPr id="5" name="">
            <a:extLst xmlns:a="http://schemas.openxmlformats.org/drawingml/2006/main">
              <a:ext uri="{FF2B5EF4-FFF2-40B4-BE49-F238E27FC236}">
                <a16:creationId xmlns:a16="http://schemas.microsoft.com/office/drawing/2014/main" id="{75071A51-3379-48A1-9145-E419A444D1B5}"/>
              </a:ext>
            </a:extLst>
          </p:cNvPr>
          <p:cNvSpPr>
            <a:spLocks xmlns:a="http://schemas.openxmlformats.org/drawingml/2006/main" noGrp="1"/>
          </p:cNvSpPr>
          <p:nvPr/>
        </p:nvSpPr>
        <p:spPr>
          <a:xfrm xmlns:a="http://schemas.openxmlformats.org/drawingml/2006/main">
            <a:off x="6400800" y="2667000"/>
            <a:ext cx="51435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0A0A0A"/>
                </a:solidFill>
                <a:latin typeface="Noto Sans KR"/>
                <a:ea typeface="Noto Sans KR"/>
                <a:cs typeface="Noto Sans KR"/>
              </a:defRPr>
            </a:pPr>
            <a:r>
              <a:t>마지막 위치 번호는 2입니다.</a:t>
            </a:r>
          </a:p>
        </p:txBody>
      </p:sp>
      <p:sp>
        <p:nvSpPr>
          <p:cNvPr id="6" name="">
            <a:extLst xmlns:a="http://schemas.openxmlformats.org/drawingml/2006/main">
              <a:ext uri="{FF2B5EF4-FFF2-40B4-BE49-F238E27FC236}">
                <a16:creationId xmlns:a16="http://schemas.microsoft.com/office/drawing/2014/main" id="{7CBF1996-964A-4BA4-B0E3-7E1D8780E62C}"/>
              </a:ext>
            </a:extLst>
          </p:cNvPr>
          <p:cNvSpPr>
            <a:spLocks xmlns:a="http://schemas.openxmlformats.org/drawingml/2006/main" noGrp="1"/>
          </p:cNvSpPr>
          <p:nvPr/>
        </p:nvSpPr>
        <p:spPr>
          <a:xfrm xmlns:a="http://schemas.openxmlformats.org/drawingml/2006/main">
            <a:off x="609600" y="4552950"/>
            <a:ext cx="10972800" cy="9525"/>
          </a:xfrm>
          <a:prstGeom xmlns:a="http://schemas.openxmlformats.org/drawingml/2006/main" prst="rect">
            <a:avLst/>
          </a:prstGeom>
          <a:solidFill xmlns:a="http://schemas.openxmlformats.org/drawingml/2006/main">
            <a:srgbClr val="002FA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2E88A63-56E9-427D-921D-B162AD1125AB}"/>
              </a:ext>
            </a:extLst>
          </p:cNvPr>
          <p:cNvSpPr>
            <a:spLocks xmlns:a="http://schemas.openxmlformats.org/drawingml/2006/main" noGrp="1"/>
          </p:cNvSpPr>
          <p:nvPr/>
        </p:nvSpPr>
        <p:spPr>
          <a:xfrm xmlns:a="http://schemas.openxmlformats.org/drawingml/2006/main">
            <a:off x="609600" y="48101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0A0A0A"/>
                </a:solidFill>
                <a:latin typeface="Noto Sans KR"/>
                <a:ea typeface="Noto Sans KR"/>
                <a:cs typeface="Noto Sans KR"/>
              </a:defRPr>
            </a:pPr>
            <a:r>
              <a:t>append 뒤에는 4개, 마지막 번호는 3입니다.</a:t>
            </a:r>
          </a:p>
        </p:txBody>
      </p:sp>
      <p:sp>
        <p:nvSpPr>
          <p:cNvPr id="8" name="">
            <a:extLst xmlns:a="http://schemas.openxmlformats.org/drawingml/2006/main">
              <a:ext uri="{FF2B5EF4-FFF2-40B4-BE49-F238E27FC236}">
                <a16:creationId xmlns:a16="http://schemas.microsoft.com/office/drawing/2014/main" id="{552F1C30-095D-4A01-A457-8E463FE6818C}"/>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E68B0EB-BF49-4EC0-B22F-FBAA1826B5B2}"/>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0" name="">
            <a:extLst xmlns:a="http://schemas.openxmlformats.org/drawingml/2006/main">
              <a:ext uri="{FF2B5EF4-FFF2-40B4-BE49-F238E27FC236}">
                <a16:creationId xmlns:a16="http://schemas.microsoft.com/office/drawing/2014/main" id="{B0A71EEC-B4F4-4CEA-BCC9-A78AA1F65256}"/>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070</a:t>
            </a:r>
          </a:p>
        </p:txBody>
      </p:sp>
    </p:spTree>
    <p:extLst>
      <p:ext uri="{BB962C8B-B14F-4D97-AF65-F5344CB8AC3E}">
        <p14:creationId xmlns:p14="http://schemas.microsoft.com/office/powerpoint/2010/main" val="24514882"/>
      </p:ext>
    </p:extLst>
  </p:cSld>
</p:sld>
</file>

<file path=ppt/slides/slide71.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257829C-908D-4DAA-8968-871D30189EEA}"/>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5교시</a:t>
            </a:r>
          </a:p>
        </p:txBody>
      </p:sp>
      <p:sp>
        <p:nvSpPr>
          <p:cNvPr id="2" name="">
            <a:extLst xmlns:a="http://schemas.openxmlformats.org/drawingml/2006/main">
              <a:ext uri="{FF2B5EF4-FFF2-40B4-BE49-F238E27FC236}">
                <a16:creationId xmlns:a16="http://schemas.microsoft.com/office/drawing/2014/main" id="{7B195E97-9275-46E0-B707-49248406C24F}"/>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없는 위치를 찾으면 어떻게 될까요?</a:t>
            </a:r>
          </a:p>
        </p:txBody>
      </p:sp>
      <p:sp>
        <p:nvSpPr>
          <p:cNvPr id="3" name="">
            <a:extLst xmlns:a="http://schemas.openxmlformats.org/drawingml/2006/main">
              <a:ext uri="{FF2B5EF4-FFF2-40B4-BE49-F238E27FC236}">
                <a16:creationId xmlns:a16="http://schemas.microsoft.com/office/drawing/2014/main" id="{31A90AF3-A2CE-4268-BC0F-DC9D1F2EE904}"/>
              </a:ext>
            </a:extLst>
          </p:cNvPr>
          <p:cNvSpPr>
            <a:spLocks xmlns:a="http://schemas.openxmlformats.org/drawingml/2006/main" noGrp="1"/>
          </p:cNvSpPr>
          <p:nvPr/>
        </p:nvSpPr>
        <p:spPr>
          <a:xfrm xmlns:a="http://schemas.openxmlformats.org/drawingml/2006/main">
            <a:off x="609600" y="2695575"/>
            <a:ext cx="3524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125" b="0">
                <a:solidFill>
                  <a:srgbClr val="002FA7"/>
                </a:solidFill>
                <a:latin typeface="Noto Sans KR"/>
                <a:ea typeface="Noto Sans KR"/>
                <a:cs typeface="Noto Sans KR"/>
              </a:defRPr>
            </a:pPr>
            <a:r>
              <a:t>길이 3인 목록에 위치 3</a:t>
            </a:r>
          </a:p>
        </p:txBody>
      </p:sp>
      <p:sp>
        <p:nvSpPr>
          <p:cNvPr id="4" name="">
            <a:extLst xmlns:a="http://schemas.openxmlformats.org/drawingml/2006/main">
              <a:ext uri="{FF2B5EF4-FFF2-40B4-BE49-F238E27FC236}">
                <a16:creationId xmlns:a16="http://schemas.microsoft.com/office/drawing/2014/main" id="{2C14A834-04F7-41FF-9FE6-119C53C34A31}"/>
              </a:ext>
            </a:extLst>
          </p:cNvPr>
          <p:cNvSpPr>
            <a:spLocks xmlns:a="http://schemas.openxmlformats.org/drawingml/2006/main" noGrp="1"/>
          </p:cNvSpPr>
          <p:nvPr/>
        </p:nvSpPr>
        <p:spPr>
          <a:xfrm xmlns:a="http://schemas.openxmlformats.org/drawingml/2006/main">
            <a:off x="4333875" y="2562225"/>
            <a:ext cx="9525" cy="337185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5196CBD-B4BF-4153-8881-25EA6A42E5ED}"/>
              </a:ext>
            </a:extLst>
          </p:cNvPr>
          <p:cNvSpPr>
            <a:spLocks xmlns:a="http://schemas.openxmlformats.org/drawingml/2006/main" noGrp="1"/>
          </p:cNvSpPr>
          <p:nvPr/>
        </p:nvSpPr>
        <p:spPr>
          <a:xfrm xmlns:a="http://schemas.openxmlformats.org/drawingml/2006/main">
            <a:off x="4724400" y="259080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길이 3인 목록에 위치 3</a:t>
            </a:r>
            <a:r>
              <a:t>은 없습니다.</a:t>
            </a:r>
          </a:p>
        </p:txBody>
      </p:sp>
      <p:sp>
        <p:nvSpPr>
          <p:cNvPr id="6" name="">
            <a:extLst xmlns:a="http://schemas.openxmlformats.org/drawingml/2006/main">
              <a:ext uri="{FF2B5EF4-FFF2-40B4-BE49-F238E27FC236}">
                <a16:creationId xmlns:a16="http://schemas.microsoft.com/office/drawing/2014/main" id="{2298AD5E-647E-4842-A69A-8E7667DDB567}"/>
              </a:ext>
            </a:extLst>
          </p:cNvPr>
          <p:cNvSpPr>
            <a:spLocks xmlns:a="http://schemas.openxmlformats.org/drawingml/2006/main" noGrp="1"/>
          </p:cNvSpPr>
          <p:nvPr/>
        </p:nvSpPr>
        <p:spPr>
          <a:xfrm xmlns:a="http://schemas.openxmlformats.org/drawingml/2006/main">
            <a:off x="4724400" y="3705225"/>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IndexError가 나면 길이와 위치를 확인합니다.</a:t>
            </a:r>
          </a:p>
        </p:txBody>
      </p:sp>
      <p:sp>
        <p:nvSpPr>
          <p:cNvPr id="7" name="">
            <a:extLst xmlns:a="http://schemas.openxmlformats.org/drawingml/2006/main">
              <a:ext uri="{FF2B5EF4-FFF2-40B4-BE49-F238E27FC236}">
                <a16:creationId xmlns:a16="http://schemas.microsoft.com/office/drawing/2014/main" id="{9D81B838-B8E2-4ADB-B3D8-BC44CFCD8E7E}"/>
              </a:ext>
            </a:extLst>
          </p:cNvPr>
          <p:cNvSpPr>
            <a:spLocks xmlns:a="http://schemas.openxmlformats.org/drawingml/2006/main" noGrp="1"/>
          </p:cNvSpPr>
          <p:nvPr/>
        </p:nvSpPr>
        <p:spPr>
          <a:xfrm xmlns:a="http://schemas.openxmlformats.org/drawingml/2006/main">
            <a:off x="4724400" y="481965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항목을 추가한 시점도 확인합니다.</a:t>
            </a:r>
          </a:p>
        </p:txBody>
      </p:sp>
      <p:sp>
        <p:nvSpPr>
          <p:cNvPr id="8" name="">
            <a:extLst xmlns:a="http://schemas.openxmlformats.org/drawingml/2006/main">
              <a:ext uri="{FF2B5EF4-FFF2-40B4-BE49-F238E27FC236}">
                <a16:creationId xmlns:a16="http://schemas.microsoft.com/office/drawing/2014/main" id="{3488F2A4-696A-4B64-A09D-4F55102F0925}"/>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58BBE0E-1D51-41BD-BB40-B8F47B281D70}"/>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0" name="">
            <a:extLst xmlns:a="http://schemas.openxmlformats.org/drawingml/2006/main">
              <a:ext uri="{FF2B5EF4-FFF2-40B4-BE49-F238E27FC236}">
                <a16:creationId xmlns:a16="http://schemas.microsoft.com/office/drawing/2014/main" id="{E5610566-5BA4-4921-8835-3E3B640D743A}"/>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071</a:t>
            </a:r>
          </a:p>
        </p:txBody>
      </p:sp>
    </p:spTree>
    <p:extLst>
      <p:ext uri="{BB962C8B-B14F-4D97-AF65-F5344CB8AC3E}">
        <p14:creationId xmlns:p14="http://schemas.microsoft.com/office/powerpoint/2010/main" val="1229825068"/>
      </p:ext>
    </p:extLst>
  </p:cSld>
</p:sld>
</file>

<file path=ppt/slides/slide72.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A372E0A-9034-46B5-AD00-92270AFBC8D0}"/>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5교시</a:t>
            </a:r>
          </a:p>
        </p:txBody>
      </p:sp>
      <p:sp>
        <p:nvSpPr>
          <p:cNvPr id="2" name="">
            <a:extLst xmlns:a="http://schemas.openxmlformats.org/drawingml/2006/main">
              <a:ext uri="{FF2B5EF4-FFF2-40B4-BE49-F238E27FC236}">
                <a16:creationId xmlns:a16="http://schemas.microsoft.com/office/drawing/2014/main" id="{D205ACC0-0661-44A6-9936-8E78A9658666}"/>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완성 예 · 한 항목씩 읽기</a:t>
            </a:r>
          </a:p>
        </p:txBody>
      </p:sp>
      <p:sp>
        <p:nvSpPr>
          <p:cNvPr id="3" name="">
            <a:extLst xmlns:a="http://schemas.openxmlformats.org/drawingml/2006/main">
              <a:ext uri="{FF2B5EF4-FFF2-40B4-BE49-F238E27FC236}">
                <a16:creationId xmlns:a16="http://schemas.microsoft.com/office/drawing/2014/main" id="{A1ACAA76-265D-4955-A4DF-0EB64E53829C}"/>
              </a:ext>
            </a:extLst>
          </p:cNvPr>
          <p:cNvSpPr>
            <a:spLocks xmlns:a="http://schemas.openxmlformats.org/drawingml/2006/main" noGrp="1"/>
          </p:cNvSpPr>
          <p:nvPr/>
        </p:nvSpPr>
        <p:spPr>
          <a:xfrm xmlns:a="http://schemas.openxmlformats.org/drawingml/2006/main">
            <a:off x="609600" y="2714625"/>
            <a:ext cx="10972800" cy="1790700"/>
          </a:xfrm>
          <a:prstGeom xmlns:a="http://schemas.openxmlformats.org/drawingml/2006/main" prst="rect">
            <a:avLst/>
          </a:prstGeom>
          <a:solidFill xmlns:a="http://schemas.openxmlformats.org/drawingml/2006/main">
            <a:srgbClr val="0A0A0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295F478-5542-44FC-BDC7-FF941EAB060A}"/>
              </a:ext>
            </a:extLst>
          </p:cNvPr>
          <p:cNvSpPr>
            <a:spLocks xmlns:a="http://schemas.openxmlformats.org/drawingml/2006/main" noGrp="1"/>
          </p:cNvSpPr>
          <p:nvPr/>
        </p:nvSpPr>
        <p:spPr>
          <a:xfrm xmlns:a="http://schemas.openxmlformats.org/drawingml/2006/main">
            <a:off x="790575" y="29051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01</a:t>
            </a:r>
          </a:p>
        </p:txBody>
      </p:sp>
      <p:sp>
        <p:nvSpPr>
          <p:cNvPr id="5" name="">
            <a:extLst xmlns:a="http://schemas.openxmlformats.org/drawingml/2006/main">
              <a:ext uri="{FF2B5EF4-FFF2-40B4-BE49-F238E27FC236}">
                <a16:creationId xmlns:a16="http://schemas.microsoft.com/office/drawing/2014/main" id="{C5C30724-FBF4-47C5-A682-DF9E06C23F0F}"/>
              </a:ext>
            </a:extLst>
          </p:cNvPr>
          <p:cNvSpPr>
            <a:spLocks xmlns:a="http://schemas.openxmlformats.org/drawingml/2006/main" noGrp="1"/>
          </p:cNvSpPr>
          <p:nvPr/>
        </p:nvSpPr>
        <p:spPr>
          <a:xfrm xmlns:a="http://schemas.openxmlformats.org/drawingml/2006/main">
            <a:off x="1390650" y="28670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temperatures = [22.5, 24.0, 23.5]</a:t>
            </a:r>
          </a:p>
        </p:txBody>
      </p:sp>
      <p:sp>
        <p:nvSpPr>
          <p:cNvPr id="6" name="">
            <a:extLst xmlns:a="http://schemas.openxmlformats.org/drawingml/2006/main">
              <a:ext uri="{FF2B5EF4-FFF2-40B4-BE49-F238E27FC236}">
                <a16:creationId xmlns:a16="http://schemas.microsoft.com/office/drawing/2014/main" id="{65E21F8B-5A88-4621-9C11-834560C044D4}"/>
              </a:ext>
            </a:extLst>
          </p:cNvPr>
          <p:cNvSpPr>
            <a:spLocks xmlns:a="http://schemas.openxmlformats.org/drawingml/2006/main" noGrp="1"/>
          </p:cNvSpPr>
          <p:nvPr/>
        </p:nvSpPr>
        <p:spPr>
          <a:xfrm xmlns:a="http://schemas.openxmlformats.org/drawingml/2006/main">
            <a:off x="790575" y="32480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02</a:t>
            </a:r>
          </a:p>
        </p:txBody>
      </p:sp>
      <p:sp>
        <p:nvSpPr>
          <p:cNvPr id="7" name="">
            <a:extLst xmlns:a="http://schemas.openxmlformats.org/drawingml/2006/main">
              <a:ext uri="{FF2B5EF4-FFF2-40B4-BE49-F238E27FC236}">
                <a16:creationId xmlns:a16="http://schemas.microsoft.com/office/drawing/2014/main" id="{FF00FAFF-631E-4058-A6F5-5B05FDD1C486}"/>
              </a:ext>
            </a:extLst>
          </p:cNvPr>
          <p:cNvSpPr>
            <a:spLocks xmlns:a="http://schemas.openxmlformats.org/drawingml/2006/main" noGrp="1"/>
          </p:cNvSpPr>
          <p:nvPr/>
        </p:nvSpPr>
        <p:spPr>
          <a:xfrm xmlns:a="http://schemas.openxmlformats.org/drawingml/2006/main">
            <a:off x="1390650" y="32099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b="1">
                <a:solidFill>
                  <a:srgbClr val="FFFFFF"/>
                </a:solidFill>
              </a:rPr>
              <a:t>for</a:t>
            </a:r>
            <a:r>
              <a:rPr>
                <a:solidFill>
                  <a:srgbClr val="FFFFFF"/>
                </a:solidFill>
              </a:rPr>
              <a:t> temperature_c </a:t>
            </a:r>
            <a:r>
              <a:rPr b="1">
                <a:solidFill>
                  <a:srgbClr val="FFFFFF"/>
                </a:solidFill>
              </a:rPr>
              <a:t>in</a:t>
            </a:r>
            <a:r>
              <a:rPr>
                <a:solidFill>
                  <a:srgbClr val="FFFFFF"/>
                </a:solidFill>
              </a:rPr>
              <a:t> temperatures:</a:t>
            </a:r>
          </a:p>
        </p:txBody>
      </p:sp>
      <p:sp>
        <p:nvSpPr>
          <p:cNvPr id="8" name="">
            <a:extLst xmlns:a="http://schemas.openxmlformats.org/drawingml/2006/main">
              <a:ext uri="{FF2B5EF4-FFF2-40B4-BE49-F238E27FC236}">
                <a16:creationId xmlns:a16="http://schemas.microsoft.com/office/drawing/2014/main" id="{A1D836AD-EB65-4FAE-8504-A32F79D1A075}"/>
              </a:ext>
            </a:extLst>
          </p:cNvPr>
          <p:cNvSpPr>
            <a:spLocks xmlns:a="http://schemas.openxmlformats.org/drawingml/2006/main" noGrp="1"/>
          </p:cNvSpPr>
          <p:nvPr/>
        </p:nvSpPr>
        <p:spPr>
          <a:xfrm xmlns:a="http://schemas.openxmlformats.org/drawingml/2006/main">
            <a:off x="790575" y="35909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03</a:t>
            </a:r>
          </a:p>
        </p:txBody>
      </p:sp>
      <p:sp>
        <p:nvSpPr>
          <p:cNvPr id="9" name="">
            <a:extLst xmlns:a="http://schemas.openxmlformats.org/drawingml/2006/main">
              <a:ext uri="{FF2B5EF4-FFF2-40B4-BE49-F238E27FC236}">
                <a16:creationId xmlns:a16="http://schemas.microsoft.com/office/drawing/2014/main" id="{1A5EAB8A-A0A3-4F06-B22A-021368F2183E}"/>
              </a:ext>
            </a:extLst>
          </p:cNvPr>
          <p:cNvSpPr>
            <a:spLocks xmlns:a="http://schemas.openxmlformats.org/drawingml/2006/main" noGrp="1"/>
          </p:cNvSpPr>
          <p:nvPr/>
        </p:nvSpPr>
        <p:spPr>
          <a:xfrm xmlns:a="http://schemas.openxmlformats.org/drawingml/2006/main">
            <a:off x="1390650" y="35528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    print(temperature_c)</a:t>
            </a:r>
          </a:p>
        </p:txBody>
      </p:sp>
      <p:sp>
        <p:nvSpPr>
          <p:cNvPr id="10" name="">
            <a:extLst xmlns:a="http://schemas.openxmlformats.org/drawingml/2006/main">
              <a:ext uri="{FF2B5EF4-FFF2-40B4-BE49-F238E27FC236}">
                <a16:creationId xmlns:a16="http://schemas.microsoft.com/office/drawing/2014/main" id="{C89561FD-7D86-425F-8CC0-716BFE30902C}"/>
              </a:ext>
            </a:extLst>
          </p:cNvPr>
          <p:cNvSpPr>
            <a:spLocks xmlns:a="http://schemas.openxmlformats.org/drawingml/2006/main" noGrp="1"/>
          </p:cNvSpPr>
          <p:nvPr/>
        </p:nvSpPr>
        <p:spPr>
          <a:xfrm xmlns:a="http://schemas.openxmlformats.org/drawingml/2006/main">
            <a:off x="790575" y="39338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04</a:t>
            </a:r>
          </a:p>
        </p:txBody>
      </p:sp>
      <p:sp>
        <p:nvSpPr>
          <p:cNvPr id="11" name="">
            <a:extLst xmlns:a="http://schemas.openxmlformats.org/drawingml/2006/main">
              <a:ext uri="{FF2B5EF4-FFF2-40B4-BE49-F238E27FC236}">
                <a16:creationId xmlns:a16="http://schemas.microsoft.com/office/drawing/2014/main" id="{F9A97821-D0B5-4A7E-B318-41F049BFA354}"/>
              </a:ext>
            </a:extLst>
          </p:cNvPr>
          <p:cNvSpPr>
            <a:spLocks xmlns:a="http://schemas.openxmlformats.org/drawingml/2006/main" noGrp="1"/>
          </p:cNvSpPr>
          <p:nvPr/>
        </p:nvSpPr>
        <p:spPr>
          <a:xfrm xmlns:a="http://schemas.openxmlformats.org/drawingml/2006/main">
            <a:off x="1390650" y="38957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print(</a:t>
            </a:r>
            <a:r>
              <a:rPr>
                <a:solidFill>
                  <a:srgbClr val="BACBFA"/>
                </a:solidFill>
              </a:rPr>
              <a:t>"완료"</a:t>
            </a:r>
            <a:r>
              <a:rPr>
                <a:solidFill>
                  <a:srgbClr val="FFFFFF"/>
                </a:solidFill>
              </a:rPr>
              <a:t>)</a:t>
            </a:r>
          </a:p>
        </p:txBody>
      </p:sp>
      <p:sp>
        <p:nvSpPr>
          <p:cNvPr id="12" name="">
            <a:extLst xmlns:a="http://schemas.openxmlformats.org/drawingml/2006/main">
              <a:ext uri="{FF2B5EF4-FFF2-40B4-BE49-F238E27FC236}">
                <a16:creationId xmlns:a16="http://schemas.microsoft.com/office/drawing/2014/main" id="{8CABD6FE-ECEF-43EF-800B-C5073A3DF377}"/>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F36A3C8-6604-4329-AD3C-F068C76217EB}"/>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4" name="">
            <a:extLst xmlns:a="http://schemas.openxmlformats.org/drawingml/2006/main">
              <a:ext uri="{FF2B5EF4-FFF2-40B4-BE49-F238E27FC236}">
                <a16:creationId xmlns:a16="http://schemas.microsoft.com/office/drawing/2014/main" id="{B465D884-FD59-424F-9537-757A91B4FF8E}"/>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072</a:t>
            </a:r>
          </a:p>
        </p:txBody>
      </p:sp>
    </p:spTree>
    <p:extLst>
      <p:ext uri="{BB962C8B-B14F-4D97-AF65-F5344CB8AC3E}">
        <p14:creationId xmlns:p14="http://schemas.microsoft.com/office/powerpoint/2010/main" val="1120480533"/>
      </p:ext>
    </p:extLst>
  </p:cSld>
</p:sld>
</file>

<file path=ppt/slides/slide73.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21B9230-E66D-4A53-B309-C315504ACA28}"/>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5교시</a:t>
            </a:r>
          </a:p>
        </p:txBody>
      </p:sp>
      <p:sp>
        <p:nvSpPr>
          <p:cNvPr id="2" name="">
            <a:extLst xmlns:a="http://schemas.openxmlformats.org/drawingml/2006/main">
              <a:ext uri="{FF2B5EF4-FFF2-40B4-BE49-F238E27FC236}">
                <a16:creationId xmlns:a16="http://schemas.microsoft.com/office/drawing/2014/main" id="{F41BFD5B-2AB4-4670-818F-58144468DEDC}"/>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for의 한 바퀴를 따라가기</a:t>
            </a:r>
          </a:p>
        </p:txBody>
      </p:sp>
      <p:sp>
        <p:nvSpPr>
          <p:cNvPr id="3" name="">
            <a:extLst xmlns:a="http://schemas.openxmlformats.org/drawingml/2006/main">
              <a:ext uri="{FF2B5EF4-FFF2-40B4-BE49-F238E27FC236}">
                <a16:creationId xmlns:a16="http://schemas.microsoft.com/office/drawing/2014/main" id="{AA2B4EE0-678E-4EC0-BD15-D0A504B1E6F6}"/>
              </a:ext>
            </a:extLst>
          </p:cNvPr>
          <p:cNvSpPr>
            <a:spLocks xmlns:a="http://schemas.openxmlformats.org/drawingml/2006/main" noGrp="1"/>
          </p:cNvSpPr>
          <p:nvPr/>
        </p:nvSpPr>
        <p:spPr>
          <a:xfrm xmlns:a="http://schemas.openxmlformats.org/drawingml/2006/main">
            <a:off x="609600" y="241935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01</a:t>
            </a:r>
          </a:p>
        </p:txBody>
      </p:sp>
      <p:sp>
        <p:nvSpPr>
          <p:cNvPr id="4" name="">
            <a:extLst xmlns:a="http://schemas.openxmlformats.org/drawingml/2006/main">
              <a:ext uri="{FF2B5EF4-FFF2-40B4-BE49-F238E27FC236}">
                <a16:creationId xmlns:a16="http://schemas.microsoft.com/office/drawing/2014/main" id="{4CA52933-67C8-4A1E-B087-720DEC28039E}"/>
              </a:ext>
            </a:extLst>
          </p:cNvPr>
          <p:cNvSpPr>
            <a:spLocks xmlns:a="http://schemas.openxmlformats.org/drawingml/2006/main" noGrp="1"/>
          </p:cNvSpPr>
          <p:nvPr/>
        </p:nvSpPr>
        <p:spPr>
          <a:xfrm xmlns:a="http://schemas.openxmlformats.org/drawingml/2006/main">
            <a:off x="1657350" y="248602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목록에서 다음 값을 하나 꺼냅니다.</a:t>
            </a:r>
          </a:p>
        </p:txBody>
      </p:sp>
      <p:sp>
        <p:nvSpPr>
          <p:cNvPr id="5" name="">
            <a:extLst xmlns:a="http://schemas.openxmlformats.org/drawingml/2006/main">
              <a:ext uri="{FF2B5EF4-FFF2-40B4-BE49-F238E27FC236}">
                <a16:creationId xmlns:a16="http://schemas.microsoft.com/office/drawing/2014/main" id="{216040F0-2E2F-4B46-9BD9-0DAFA7C41059}"/>
              </a:ext>
            </a:extLst>
          </p:cNvPr>
          <p:cNvSpPr>
            <a:spLocks xmlns:a="http://schemas.openxmlformats.org/drawingml/2006/main" noGrp="1"/>
          </p:cNvSpPr>
          <p:nvPr/>
        </p:nvSpPr>
        <p:spPr>
          <a:xfrm xmlns:a="http://schemas.openxmlformats.org/drawingml/2006/main">
            <a:off x="1657350" y="3419475"/>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802B216-2431-4F53-B153-B8E9958CDEFA}"/>
              </a:ext>
            </a:extLst>
          </p:cNvPr>
          <p:cNvSpPr>
            <a:spLocks xmlns:a="http://schemas.openxmlformats.org/drawingml/2006/main" noGrp="1"/>
          </p:cNvSpPr>
          <p:nvPr/>
        </p:nvSpPr>
        <p:spPr>
          <a:xfrm xmlns:a="http://schemas.openxmlformats.org/drawingml/2006/main">
            <a:off x="609600" y="3514725"/>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02</a:t>
            </a:r>
          </a:p>
        </p:txBody>
      </p:sp>
      <p:sp>
        <p:nvSpPr>
          <p:cNvPr id="7" name="">
            <a:extLst xmlns:a="http://schemas.openxmlformats.org/drawingml/2006/main">
              <a:ext uri="{FF2B5EF4-FFF2-40B4-BE49-F238E27FC236}">
                <a16:creationId xmlns:a16="http://schemas.microsoft.com/office/drawing/2014/main" id="{A8C2D495-1058-45AE-9D02-FE5A405661C6}"/>
              </a:ext>
            </a:extLst>
          </p:cNvPr>
          <p:cNvSpPr>
            <a:spLocks xmlns:a="http://schemas.openxmlformats.org/drawingml/2006/main" noGrp="1"/>
          </p:cNvSpPr>
          <p:nvPr/>
        </p:nvSpPr>
        <p:spPr>
          <a:xfrm xmlns:a="http://schemas.openxmlformats.org/drawingml/2006/main">
            <a:off x="1657350" y="358140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들여쓴 본문을 그 값으로 실행합니다.</a:t>
            </a:r>
          </a:p>
        </p:txBody>
      </p:sp>
      <p:sp>
        <p:nvSpPr>
          <p:cNvPr id="8" name="">
            <a:extLst xmlns:a="http://schemas.openxmlformats.org/drawingml/2006/main">
              <a:ext uri="{FF2B5EF4-FFF2-40B4-BE49-F238E27FC236}">
                <a16:creationId xmlns:a16="http://schemas.microsoft.com/office/drawing/2014/main" id="{43EC48D8-7206-4020-9BB2-720786D04B93}"/>
              </a:ext>
            </a:extLst>
          </p:cNvPr>
          <p:cNvSpPr>
            <a:spLocks xmlns:a="http://schemas.openxmlformats.org/drawingml/2006/main" noGrp="1"/>
          </p:cNvSpPr>
          <p:nvPr/>
        </p:nvSpPr>
        <p:spPr>
          <a:xfrm xmlns:a="http://schemas.openxmlformats.org/drawingml/2006/main">
            <a:off x="1657350" y="4514850"/>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693D3F2-B9E9-4AF0-BE94-506FDA60EBA3}"/>
              </a:ext>
            </a:extLst>
          </p:cNvPr>
          <p:cNvSpPr>
            <a:spLocks xmlns:a="http://schemas.openxmlformats.org/drawingml/2006/main" noGrp="1"/>
          </p:cNvSpPr>
          <p:nvPr/>
        </p:nvSpPr>
        <p:spPr>
          <a:xfrm xmlns:a="http://schemas.openxmlformats.org/drawingml/2006/main">
            <a:off x="609600" y="461010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03</a:t>
            </a:r>
          </a:p>
        </p:txBody>
      </p:sp>
      <p:sp>
        <p:nvSpPr>
          <p:cNvPr id="10" name="">
            <a:extLst xmlns:a="http://schemas.openxmlformats.org/drawingml/2006/main">
              <a:ext uri="{FF2B5EF4-FFF2-40B4-BE49-F238E27FC236}">
                <a16:creationId xmlns:a16="http://schemas.microsoft.com/office/drawing/2014/main" id="{6037FF2A-E9E0-4C99-8162-DA242B06F505}"/>
              </a:ext>
            </a:extLst>
          </p:cNvPr>
          <p:cNvSpPr>
            <a:spLocks xmlns:a="http://schemas.openxmlformats.org/drawingml/2006/main" noGrp="1"/>
          </p:cNvSpPr>
          <p:nvPr/>
        </p:nvSpPr>
        <p:spPr>
          <a:xfrm xmlns:a="http://schemas.openxmlformats.org/drawingml/2006/main">
            <a:off x="1657350" y="467677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목록이 끝나면 바깥 코드로 이동합니다.</a:t>
            </a:r>
          </a:p>
        </p:txBody>
      </p:sp>
      <p:sp>
        <p:nvSpPr>
          <p:cNvPr id="11" name="">
            <a:extLst xmlns:a="http://schemas.openxmlformats.org/drawingml/2006/main">
              <a:ext uri="{FF2B5EF4-FFF2-40B4-BE49-F238E27FC236}">
                <a16:creationId xmlns:a16="http://schemas.microsoft.com/office/drawing/2014/main" id="{5E05DAF5-C928-4141-A400-A956820F92FA}"/>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949EA8A-F985-4E59-A7FB-0877355F844C}"/>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3" name="">
            <a:extLst xmlns:a="http://schemas.openxmlformats.org/drawingml/2006/main">
              <a:ext uri="{FF2B5EF4-FFF2-40B4-BE49-F238E27FC236}">
                <a16:creationId xmlns:a16="http://schemas.microsoft.com/office/drawing/2014/main" id="{75C21652-FFA9-48A6-B096-B4367396F9B2}"/>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073</a:t>
            </a:r>
          </a:p>
        </p:txBody>
      </p:sp>
    </p:spTree>
    <p:extLst>
      <p:ext uri="{BB962C8B-B14F-4D97-AF65-F5344CB8AC3E}">
        <p14:creationId xmlns:p14="http://schemas.microsoft.com/office/powerpoint/2010/main" val="664465239"/>
      </p:ext>
    </p:extLst>
  </p:cSld>
</p:sld>
</file>

<file path=ppt/slides/slide74.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53D9B5A-B8A7-432A-8210-23696851F4F3}"/>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5교시</a:t>
            </a:r>
          </a:p>
        </p:txBody>
      </p:sp>
      <p:sp>
        <p:nvSpPr>
          <p:cNvPr id="2" name="">
            <a:extLst xmlns:a="http://schemas.openxmlformats.org/drawingml/2006/main">
              <a:ext uri="{FF2B5EF4-FFF2-40B4-BE49-F238E27FC236}">
                <a16:creationId xmlns:a16="http://schemas.microsoft.com/office/drawing/2014/main" id="{08D7CDC3-472C-4AAB-8D97-D426CD80F8AD}"/>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예상 출력 · 반복과 완료</a:t>
            </a:r>
          </a:p>
        </p:txBody>
      </p:sp>
      <p:sp>
        <p:nvSpPr>
          <p:cNvPr id="3" name="">
            <a:extLst xmlns:a="http://schemas.openxmlformats.org/drawingml/2006/main">
              <a:ext uri="{FF2B5EF4-FFF2-40B4-BE49-F238E27FC236}">
                <a16:creationId xmlns:a16="http://schemas.microsoft.com/office/drawing/2014/main" id="{61B7BBBB-3B0F-4033-A286-0C05B5324AFA}"/>
              </a:ext>
            </a:extLst>
          </p:cNvPr>
          <p:cNvSpPr>
            <a:spLocks xmlns:a="http://schemas.openxmlformats.org/drawingml/2006/main" noGrp="1"/>
          </p:cNvSpPr>
          <p:nvPr/>
        </p:nvSpPr>
        <p:spPr>
          <a:xfrm xmlns:a="http://schemas.openxmlformats.org/drawingml/2006/main">
            <a:off x="609600" y="2714625"/>
            <a:ext cx="10972800" cy="1790700"/>
          </a:xfrm>
          <a:prstGeom xmlns:a="http://schemas.openxmlformats.org/drawingml/2006/main" prst="rect">
            <a:avLst/>
          </a:prstGeom>
          <a:solidFill xmlns:a="http://schemas.openxmlformats.org/drawingml/2006/main">
            <a:srgbClr val="0A0A0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CDEAF0E-9AC7-46B3-94AB-D193D280A8B6}"/>
              </a:ext>
            </a:extLst>
          </p:cNvPr>
          <p:cNvSpPr>
            <a:spLocks xmlns:a="http://schemas.openxmlformats.org/drawingml/2006/main" noGrp="1"/>
          </p:cNvSpPr>
          <p:nvPr/>
        </p:nvSpPr>
        <p:spPr>
          <a:xfrm xmlns:a="http://schemas.openxmlformats.org/drawingml/2006/main">
            <a:off x="790575" y="29051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01</a:t>
            </a:r>
          </a:p>
        </p:txBody>
      </p:sp>
      <p:sp>
        <p:nvSpPr>
          <p:cNvPr id="5" name="">
            <a:extLst xmlns:a="http://schemas.openxmlformats.org/drawingml/2006/main">
              <a:ext uri="{FF2B5EF4-FFF2-40B4-BE49-F238E27FC236}">
                <a16:creationId xmlns:a16="http://schemas.microsoft.com/office/drawing/2014/main" id="{6B34D89C-96DB-4DF2-B6DF-804965FBFB8C}"/>
              </a:ext>
            </a:extLst>
          </p:cNvPr>
          <p:cNvSpPr>
            <a:spLocks xmlns:a="http://schemas.openxmlformats.org/drawingml/2006/main" noGrp="1"/>
          </p:cNvSpPr>
          <p:nvPr/>
        </p:nvSpPr>
        <p:spPr>
          <a:xfrm xmlns:a="http://schemas.openxmlformats.org/drawingml/2006/main">
            <a:off x="1390650" y="28670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22.5</a:t>
            </a:r>
          </a:p>
        </p:txBody>
      </p:sp>
      <p:sp>
        <p:nvSpPr>
          <p:cNvPr id="6" name="">
            <a:extLst xmlns:a="http://schemas.openxmlformats.org/drawingml/2006/main">
              <a:ext uri="{FF2B5EF4-FFF2-40B4-BE49-F238E27FC236}">
                <a16:creationId xmlns:a16="http://schemas.microsoft.com/office/drawing/2014/main" id="{127896FF-549F-4AC0-ABBF-F80A9E549E33}"/>
              </a:ext>
            </a:extLst>
          </p:cNvPr>
          <p:cNvSpPr>
            <a:spLocks xmlns:a="http://schemas.openxmlformats.org/drawingml/2006/main" noGrp="1"/>
          </p:cNvSpPr>
          <p:nvPr/>
        </p:nvSpPr>
        <p:spPr>
          <a:xfrm xmlns:a="http://schemas.openxmlformats.org/drawingml/2006/main">
            <a:off x="790575" y="32480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02</a:t>
            </a:r>
          </a:p>
        </p:txBody>
      </p:sp>
      <p:sp>
        <p:nvSpPr>
          <p:cNvPr id="7" name="">
            <a:extLst xmlns:a="http://schemas.openxmlformats.org/drawingml/2006/main">
              <a:ext uri="{FF2B5EF4-FFF2-40B4-BE49-F238E27FC236}">
                <a16:creationId xmlns:a16="http://schemas.microsoft.com/office/drawing/2014/main" id="{F15664E2-2176-413B-8246-6D6C99AD4D09}"/>
              </a:ext>
            </a:extLst>
          </p:cNvPr>
          <p:cNvSpPr>
            <a:spLocks xmlns:a="http://schemas.openxmlformats.org/drawingml/2006/main" noGrp="1"/>
          </p:cNvSpPr>
          <p:nvPr/>
        </p:nvSpPr>
        <p:spPr>
          <a:xfrm xmlns:a="http://schemas.openxmlformats.org/drawingml/2006/main">
            <a:off x="1390650" y="32099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24.0</a:t>
            </a:r>
          </a:p>
        </p:txBody>
      </p:sp>
      <p:sp>
        <p:nvSpPr>
          <p:cNvPr id="8" name="">
            <a:extLst xmlns:a="http://schemas.openxmlformats.org/drawingml/2006/main">
              <a:ext uri="{FF2B5EF4-FFF2-40B4-BE49-F238E27FC236}">
                <a16:creationId xmlns:a16="http://schemas.microsoft.com/office/drawing/2014/main" id="{7BE2D07D-C5CB-47D7-9D00-FB937505865D}"/>
              </a:ext>
            </a:extLst>
          </p:cNvPr>
          <p:cNvSpPr>
            <a:spLocks xmlns:a="http://schemas.openxmlformats.org/drawingml/2006/main" noGrp="1"/>
          </p:cNvSpPr>
          <p:nvPr/>
        </p:nvSpPr>
        <p:spPr>
          <a:xfrm xmlns:a="http://schemas.openxmlformats.org/drawingml/2006/main">
            <a:off x="790575" y="35909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03</a:t>
            </a:r>
          </a:p>
        </p:txBody>
      </p:sp>
      <p:sp>
        <p:nvSpPr>
          <p:cNvPr id="9" name="">
            <a:extLst xmlns:a="http://schemas.openxmlformats.org/drawingml/2006/main">
              <a:ext uri="{FF2B5EF4-FFF2-40B4-BE49-F238E27FC236}">
                <a16:creationId xmlns:a16="http://schemas.microsoft.com/office/drawing/2014/main" id="{759286EB-AD98-4D14-BFD5-B34864FA1AF8}"/>
              </a:ext>
            </a:extLst>
          </p:cNvPr>
          <p:cNvSpPr>
            <a:spLocks xmlns:a="http://schemas.openxmlformats.org/drawingml/2006/main" noGrp="1"/>
          </p:cNvSpPr>
          <p:nvPr/>
        </p:nvSpPr>
        <p:spPr>
          <a:xfrm xmlns:a="http://schemas.openxmlformats.org/drawingml/2006/main">
            <a:off x="1390650" y="35528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23.5</a:t>
            </a:r>
          </a:p>
        </p:txBody>
      </p:sp>
      <p:sp>
        <p:nvSpPr>
          <p:cNvPr id="10" name="">
            <a:extLst xmlns:a="http://schemas.openxmlformats.org/drawingml/2006/main">
              <a:ext uri="{FF2B5EF4-FFF2-40B4-BE49-F238E27FC236}">
                <a16:creationId xmlns:a16="http://schemas.microsoft.com/office/drawing/2014/main" id="{5D90E704-4A87-41C6-86CA-699EF5DFCC4A}"/>
              </a:ext>
            </a:extLst>
          </p:cNvPr>
          <p:cNvSpPr>
            <a:spLocks xmlns:a="http://schemas.openxmlformats.org/drawingml/2006/main" noGrp="1"/>
          </p:cNvSpPr>
          <p:nvPr/>
        </p:nvSpPr>
        <p:spPr>
          <a:xfrm xmlns:a="http://schemas.openxmlformats.org/drawingml/2006/main">
            <a:off x="790575" y="39338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04</a:t>
            </a:r>
          </a:p>
        </p:txBody>
      </p:sp>
      <p:sp>
        <p:nvSpPr>
          <p:cNvPr id="11" name="">
            <a:extLst xmlns:a="http://schemas.openxmlformats.org/drawingml/2006/main">
              <a:ext uri="{FF2B5EF4-FFF2-40B4-BE49-F238E27FC236}">
                <a16:creationId xmlns:a16="http://schemas.microsoft.com/office/drawing/2014/main" id="{ACEFC8BD-DD37-450B-B27A-F3675D438C47}"/>
              </a:ext>
            </a:extLst>
          </p:cNvPr>
          <p:cNvSpPr>
            <a:spLocks xmlns:a="http://schemas.openxmlformats.org/drawingml/2006/main" noGrp="1"/>
          </p:cNvSpPr>
          <p:nvPr/>
        </p:nvSpPr>
        <p:spPr>
          <a:xfrm xmlns:a="http://schemas.openxmlformats.org/drawingml/2006/main">
            <a:off x="1390650" y="38957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완료</a:t>
            </a:r>
          </a:p>
        </p:txBody>
      </p:sp>
      <p:sp>
        <p:nvSpPr>
          <p:cNvPr id="12" name="">
            <a:extLst xmlns:a="http://schemas.openxmlformats.org/drawingml/2006/main">
              <a:ext uri="{FF2B5EF4-FFF2-40B4-BE49-F238E27FC236}">
                <a16:creationId xmlns:a16="http://schemas.microsoft.com/office/drawing/2014/main" id="{7ED6480E-5D14-4C33-8FF5-74126BCCF46D}"/>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A892103-ED49-468B-BB1F-7A6B0A383389}"/>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4" name="">
            <a:extLst xmlns:a="http://schemas.openxmlformats.org/drawingml/2006/main">
              <a:ext uri="{FF2B5EF4-FFF2-40B4-BE49-F238E27FC236}">
                <a16:creationId xmlns:a16="http://schemas.microsoft.com/office/drawing/2014/main" id="{2BA2CE1D-2B7E-4BEC-BFE6-9E22D71A2E91}"/>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074</a:t>
            </a:r>
          </a:p>
        </p:txBody>
      </p:sp>
    </p:spTree>
    <p:extLst>
      <p:ext uri="{BB962C8B-B14F-4D97-AF65-F5344CB8AC3E}">
        <p14:creationId xmlns:p14="http://schemas.microsoft.com/office/powerpoint/2010/main" val="1029654959"/>
      </p:ext>
    </p:extLst>
  </p:cSld>
</p:sld>
</file>

<file path=ppt/slides/slide75.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96BADDE-3706-422D-BA6D-362F2B025D13}"/>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5교시</a:t>
            </a:r>
          </a:p>
        </p:txBody>
      </p:sp>
      <p:sp>
        <p:nvSpPr>
          <p:cNvPr id="2" name="">
            <a:extLst xmlns:a="http://schemas.openxmlformats.org/drawingml/2006/main">
              <a:ext uri="{FF2B5EF4-FFF2-40B4-BE49-F238E27FC236}">
                <a16:creationId xmlns:a16="http://schemas.microsoft.com/office/drawing/2014/main" id="{37E4326F-D683-4814-8CEF-CC5C27D7DCBE}"/>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완성 예 · 조건에 맞는 건수</a:t>
            </a:r>
          </a:p>
        </p:txBody>
      </p:sp>
      <p:sp>
        <p:nvSpPr>
          <p:cNvPr id="3" name="">
            <a:extLst xmlns:a="http://schemas.openxmlformats.org/drawingml/2006/main">
              <a:ext uri="{FF2B5EF4-FFF2-40B4-BE49-F238E27FC236}">
                <a16:creationId xmlns:a16="http://schemas.microsoft.com/office/drawing/2014/main" id="{9BEF3FC1-E94E-446D-890A-567F652F1C9F}"/>
              </a:ext>
            </a:extLst>
          </p:cNvPr>
          <p:cNvSpPr>
            <a:spLocks xmlns:a="http://schemas.openxmlformats.org/drawingml/2006/main" noGrp="1"/>
          </p:cNvSpPr>
          <p:nvPr/>
        </p:nvSpPr>
        <p:spPr>
          <a:xfrm xmlns:a="http://schemas.openxmlformats.org/drawingml/2006/main">
            <a:off x="609600" y="2714625"/>
            <a:ext cx="10972800" cy="2476500"/>
          </a:xfrm>
          <a:prstGeom xmlns:a="http://schemas.openxmlformats.org/drawingml/2006/main" prst="rect">
            <a:avLst/>
          </a:prstGeom>
          <a:solidFill xmlns:a="http://schemas.openxmlformats.org/drawingml/2006/main">
            <a:srgbClr val="0A0A0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D51CE17-7ACC-4677-9197-C7B0AF957491}"/>
              </a:ext>
            </a:extLst>
          </p:cNvPr>
          <p:cNvSpPr>
            <a:spLocks xmlns:a="http://schemas.openxmlformats.org/drawingml/2006/main" noGrp="1"/>
          </p:cNvSpPr>
          <p:nvPr/>
        </p:nvSpPr>
        <p:spPr>
          <a:xfrm xmlns:a="http://schemas.openxmlformats.org/drawingml/2006/main">
            <a:off x="790575" y="29051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01</a:t>
            </a:r>
          </a:p>
        </p:txBody>
      </p:sp>
      <p:sp>
        <p:nvSpPr>
          <p:cNvPr id="5" name="">
            <a:extLst xmlns:a="http://schemas.openxmlformats.org/drawingml/2006/main">
              <a:ext uri="{FF2B5EF4-FFF2-40B4-BE49-F238E27FC236}">
                <a16:creationId xmlns:a16="http://schemas.microsoft.com/office/drawing/2014/main" id="{C4218A6A-C1A8-4B8C-8573-DBA3FB13CF50}"/>
              </a:ext>
            </a:extLst>
          </p:cNvPr>
          <p:cNvSpPr>
            <a:spLocks xmlns:a="http://schemas.openxmlformats.org/drawingml/2006/main" noGrp="1"/>
          </p:cNvSpPr>
          <p:nvPr/>
        </p:nvSpPr>
        <p:spPr>
          <a:xfrm xmlns:a="http://schemas.openxmlformats.org/drawingml/2006/main">
            <a:off x="1390650" y="28670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temperatures = [22.5, 24.0, 25.0]</a:t>
            </a:r>
          </a:p>
        </p:txBody>
      </p:sp>
      <p:sp>
        <p:nvSpPr>
          <p:cNvPr id="6" name="">
            <a:extLst xmlns:a="http://schemas.openxmlformats.org/drawingml/2006/main">
              <a:ext uri="{FF2B5EF4-FFF2-40B4-BE49-F238E27FC236}">
                <a16:creationId xmlns:a16="http://schemas.microsoft.com/office/drawing/2014/main" id="{BD23E886-471A-4F7F-BA8A-92A8C23A7FCC}"/>
              </a:ext>
            </a:extLst>
          </p:cNvPr>
          <p:cNvSpPr>
            <a:spLocks xmlns:a="http://schemas.openxmlformats.org/drawingml/2006/main" noGrp="1"/>
          </p:cNvSpPr>
          <p:nvPr/>
        </p:nvSpPr>
        <p:spPr>
          <a:xfrm xmlns:a="http://schemas.openxmlformats.org/drawingml/2006/main">
            <a:off x="790575" y="32480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02</a:t>
            </a:r>
          </a:p>
        </p:txBody>
      </p:sp>
      <p:sp>
        <p:nvSpPr>
          <p:cNvPr id="7" name="">
            <a:extLst xmlns:a="http://schemas.openxmlformats.org/drawingml/2006/main">
              <a:ext uri="{FF2B5EF4-FFF2-40B4-BE49-F238E27FC236}">
                <a16:creationId xmlns:a16="http://schemas.microsoft.com/office/drawing/2014/main" id="{F0E27351-6597-40FF-A278-FC7A49966028}"/>
              </a:ext>
            </a:extLst>
          </p:cNvPr>
          <p:cNvSpPr>
            <a:spLocks xmlns:a="http://schemas.openxmlformats.org/drawingml/2006/main" noGrp="1"/>
          </p:cNvSpPr>
          <p:nvPr/>
        </p:nvSpPr>
        <p:spPr>
          <a:xfrm xmlns:a="http://schemas.openxmlformats.org/drawingml/2006/main">
            <a:off x="1390650" y="32099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count = 0</a:t>
            </a:r>
          </a:p>
        </p:txBody>
      </p:sp>
      <p:sp>
        <p:nvSpPr>
          <p:cNvPr id="8" name="">
            <a:extLst xmlns:a="http://schemas.openxmlformats.org/drawingml/2006/main">
              <a:ext uri="{FF2B5EF4-FFF2-40B4-BE49-F238E27FC236}">
                <a16:creationId xmlns:a16="http://schemas.microsoft.com/office/drawing/2014/main" id="{ED92A53E-754F-4C27-96C5-4CFAD8494B21}"/>
              </a:ext>
            </a:extLst>
          </p:cNvPr>
          <p:cNvSpPr>
            <a:spLocks xmlns:a="http://schemas.openxmlformats.org/drawingml/2006/main" noGrp="1"/>
          </p:cNvSpPr>
          <p:nvPr/>
        </p:nvSpPr>
        <p:spPr>
          <a:xfrm xmlns:a="http://schemas.openxmlformats.org/drawingml/2006/main">
            <a:off x="790575" y="35909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03</a:t>
            </a:r>
          </a:p>
        </p:txBody>
      </p:sp>
      <p:sp>
        <p:nvSpPr>
          <p:cNvPr id="9" name="">
            <a:extLst xmlns:a="http://schemas.openxmlformats.org/drawingml/2006/main">
              <a:ext uri="{FF2B5EF4-FFF2-40B4-BE49-F238E27FC236}">
                <a16:creationId xmlns:a16="http://schemas.microsoft.com/office/drawing/2014/main" id="{4F348C7E-1A27-4A6F-9A7F-A42F4CCE9772}"/>
              </a:ext>
            </a:extLst>
          </p:cNvPr>
          <p:cNvSpPr>
            <a:spLocks xmlns:a="http://schemas.openxmlformats.org/drawingml/2006/main" noGrp="1"/>
          </p:cNvSpPr>
          <p:nvPr/>
        </p:nvSpPr>
        <p:spPr>
          <a:xfrm xmlns:a="http://schemas.openxmlformats.org/drawingml/2006/main">
            <a:off x="1390650" y="35528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b="1">
                <a:solidFill>
                  <a:srgbClr val="FFFFFF"/>
                </a:solidFill>
              </a:rPr>
              <a:t>for</a:t>
            </a:r>
            <a:r>
              <a:rPr>
                <a:solidFill>
                  <a:srgbClr val="FFFFFF"/>
                </a:solidFill>
              </a:rPr>
              <a:t> temperature_c </a:t>
            </a:r>
            <a:r>
              <a:rPr b="1">
                <a:solidFill>
                  <a:srgbClr val="FFFFFF"/>
                </a:solidFill>
              </a:rPr>
              <a:t>in</a:t>
            </a:r>
            <a:r>
              <a:rPr>
                <a:solidFill>
                  <a:srgbClr val="FFFFFF"/>
                </a:solidFill>
              </a:rPr>
              <a:t> temperatures:</a:t>
            </a:r>
          </a:p>
        </p:txBody>
      </p:sp>
      <p:sp>
        <p:nvSpPr>
          <p:cNvPr id="10" name="">
            <a:extLst xmlns:a="http://schemas.openxmlformats.org/drawingml/2006/main">
              <a:ext uri="{FF2B5EF4-FFF2-40B4-BE49-F238E27FC236}">
                <a16:creationId xmlns:a16="http://schemas.microsoft.com/office/drawing/2014/main" id="{2114B092-EE4B-46A8-9C0E-27AA9762A227}"/>
              </a:ext>
            </a:extLst>
          </p:cNvPr>
          <p:cNvSpPr>
            <a:spLocks xmlns:a="http://schemas.openxmlformats.org/drawingml/2006/main" noGrp="1"/>
          </p:cNvSpPr>
          <p:nvPr/>
        </p:nvSpPr>
        <p:spPr>
          <a:xfrm xmlns:a="http://schemas.openxmlformats.org/drawingml/2006/main">
            <a:off x="790575" y="39338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04</a:t>
            </a:r>
          </a:p>
        </p:txBody>
      </p:sp>
      <p:sp>
        <p:nvSpPr>
          <p:cNvPr id="11" name="">
            <a:extLst xmlns:a="http://schemas.openxmlformats.org/drawingml/2006/main">
              <a:ext uri="{FF2B5EF4-FFF2-40B4-BE49-F238E27FC236}">
                <a16:creationId xmlns:a16="http://schemas.microsoft.com/office/drawing/2014/main" id="{F0BD5A0D-BE4D-40BE-803D-2A320399421E}"/>
              </a:ext>
            </a:extLst>
          </p:cNvPr>
          <p:cNvSpPr>
            <a:spLocks xmlns:a="http://schemas.openxmlformats.org/drawingml/2006/main" noGrp="1"/>
          </p:cNvSpPr>
          <p:nvPr/>
        </p:nvSpPr>
        <p:spPr>
          <a:xfrm xmlns:a="http://schemas.openxmlformats.org/drawingml/2006/main">
            <a:off x="1390650" y="38957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    </a:t>
            </a:r>
            <a:r>
              <a:rPr b="1">
                <a:solidFill>
                  <a:srgbClr val="FFFFFF"/>
                </a:solidFill>
              </a:rPr>
              <a:t>if</a:t>
            </a:r>
            <a:r>
              <a:rPr>
                <a:solidFill>
                  <a:srgbClr val="FFFFFF"/>
                </a:solidFill>
              </a:rPr>
              <a:t> temperature_c &gt; 24.0:</a:t>
            </a:r>
          </a:p>
        </p:txBody>
      </p:sp>
      <p:sp>
        <p:nvSpPr>
          <p:cNvPr id="12" name="">
            <a:extLst xmlns:a="http://schemas.openxmlformats.org/drawingml/2006/main">
              <a:ext uri="{FF2B5EF4-FFF2-40B4-BE49-F238E27FC236}">
                <a16:creationId xmlns:a16="http://schemas.microsoft.com/office/drawing/2014/main" id="{F234930C-FF1B-4C97-A1DD-FCA9CC5FD992}"/>
              </a:ext>
            </a:extLst>
          </p:cNvPr>
          <p:cNvSpPr>
            <a:spLocks xmlns:a="http://schemas.openxmlformats.org/drawingml/2006/main" noGrp="1"/>
          </p:cNvSpPr>
          <p:nvPr/>
        </p:nvSpPr>
        <p:spPr>
          <a:xfrm xmlns:a="http://schemas.openxmlformats.org/drawingml/2006/main">
            <a:off x="790575" y="42767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05</a:t>
            </a:r>
          </a:p>
        </p:txBody>
      </p:sp>
      <p:sp>
        <p:nvSpPr>
          <p:cNvPr id="13" name="">
            <a:extLst xmlns:a="http://schemas.openxmlformats.org/drawingml/2006/main">
              <a:ext uri="{FF2B5EF4-FFF2-40B4-BE49-F238E27FC236}">
                <a16:creationId xmlns:a16="http://schemas.microsoft.com/office/drawing/2014/main" id="{A95D4A20-C4B8-4DD8-871D-75090E9AA2A3}"/>
              </a:ext>
            </a:extLst>
          </p:cNvPr>
          <p:cNvSpPr>
            <a:spLocks xmlns:a="http://schemas.openxmlformats.org/drawingml/2006/main" noGrp="1"/>
          </p:cNvSpPr>
          <p:nvPr/>
        </p:nvSpPr>
        <p:spPr>
          <a:xfrm xmlns:a="http://schemas.openxmlformats.org/drawingml/2006/main">
            <a:off x="1390650" y="42386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        count = count + 1</a:t>
            </a:r>
          </a:p>
        </p:txBody>
      </p:sp>
      <p:sp>
        <p:nvSpPr>
          <p:cNvPr id="14" name="">
            <a:extLst xmlns:a="http://schemas.openxmlformats.org/drawingml/2006/main">
              <a:ext uri="{FF2B5EF4-FFF2-40B4-BE49-F238E27FC236}">
                <a16:creationId xmlns:a16="http://schemas.microsoft.com/office/drawing/2014/main" id="{9EB9A70E-0AA0-4CA5-95FA-1B294247237F}"/>
              </a:ext>
            </a:extLst>
          </p:cNvPr>
          <p:cNvSpPr>
            <a:spLocks xmlns:a="http://schemas.openxmlformats.org/drawingml/2006/main" noGrp="1"/>
          </p:cNvSpPr>
          <p:nvPr/>
        </p:nvSpPr>
        <p:spPr>
          <a:xfrm xmlns:a="http://schemas.openxmlformats.org/drawingml/2006/main">
            <a:off x="790575" y="46196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06</a:t>
            </a:r>
          </a:p>
        </p:txBody>
      </p:sp>
      <p:sp>
        <p:nvSpPr>
          <p:cNvPr id="15" name="">
            <a:extLst xmlns:a="http://schemas.openxmlformats.org/drawingml/2006/main">
              <a:ext uri="{FF2B5EF4-FFF2-40B4-BE49-F238E27FC236}">
                <a16:creationId xmlns:a16="http://schemas.microsoft.com/office/drawing/2014/main" id="{D8989DBD-1DB5-43F4-9F02-F14201A620EE}"/>
              </a:ext>
            </a:extLst>
          </p:cNvPr>
          <p:cNvSpPr>
            <a:spLocks xmlns:a="http://schemas.openxmlformats.org/drawingml/2006/main" noGrp="1"/>
          </p:cNvSpPr>
          <p:nvPr/>
        </p:nvSpPr>
        <p:spPr>
          <a:xfrm xmlns:a="http://schemas.openxmlformats.org/drawingml/2006/main">
            <a:off x="1390650" y="45815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print(</a:t>
            </a:r>
            <a:r>
              <a:rPr>
                <a:solidFill>
                  <a:srgbClr val="BACBFA"/>
                </a:solidFill>
              </a:rPr>
              <a:t>"확인 건수"</a:t>
            </a:r>
            <a:r>
              <a:rPr>
                <a:solidFill>
                  <a:srgbClr val="FFFFFF"/>
                </a:solidFill>
              </a:rPr>
              <a:t>, count)</a:t>
            </a:r>
          </a:p>
        </p:txBody>
      </p:sp>
      <p:sp>
        <p:nvSpPr>
          <p:cNvPr id="16" name="">
            <a:extLst xmlns:a="http://schemas.openxmlformats.org/drawingml/2006/main">
              <a:ext uri="{FF2B5EF4-FFF2-40B4-BE49-F238E27FC236}">
                <a16:creationId xmlns:a16="http://schemas.microsoft.com/office/drawing/2014/main" id="{1F63D8A2-56E6-43A6-813F-9B2B9114BC63}"/>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69D3BA6-E3B4-4D3D-ACF1-A12A932D01F3}"/>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8" name="">
            <a:extLst xmlns:a="http://schemas.openxmlformats.org/drawingml/2006/main">
              <a:ext uri="{FF2B5EF4-FFF2-40B4-BE49-F238E27FC236}">
                <a16:creationId xmlns:a16="http://schemas.microsoft.com/office/drawing/2014/main" id="{DBF6004D-1168-42FD-9113-E75F3C8FE5B2}"/>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075</a:t>
            </a:r>
          </a:p>
        </p:txBody>
      </p:sp>
    </p:spTree>
    <p:extLst>
      <p:ext uri="{BB962C8B-B14F-4D97-AF65-F5344CB8AC3E}">
        <p14:creationId xmlns:p14="http://schemas.microsoft.com/office/powerpoint/2010/main" val="129333"/>
      </p:ext>
    </p:extLst>
  </p:cSld>
</p:sld>
</file>

<file path=ppt/slides/slide76.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D84D1F6-9C66-4C37-BAAC-4CC636752D21}"/>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5교시</a:t>
            </a:r>
          </a:p>
        </p:txBody>
      </p:sp>
      <p:sp>
        <p:nvSpPr>
          <p:cNvPr id="2" name="">
            <a:extLst xmlns:a="http://schemas.openxmlformats.org/drawingml/2006/main">
              <a:ext uri="{FF2B5EF4-FFF2-40B4-BE49-F238E27FC236}">
                <a16:creationId xmlns:a16="http://schemas.microsoft.com/office/drawing/2014/main" id="{462524C6-9572-4501-A352-759D677C2C1D}"/>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확인 건수의 현재 값</a:t>
            </a:r>
          </a:p>
        </p:txBody>
      </p:sp>
      <p:graphicFrame>
        <p:nvGraphicFramePr>
          <p:cNvPr id="9" name=""/>
          <p:cNvGraphicFramePr/>
          <p:nvPr/>
        </p:nvGraphicFramePr>
        <p:xfrm>
          <a:off xmlns:a="http://schemas.openxmlformats.org/drawingml/2006/main" x="609600" y="2333625"/>
          <a:ext xmlns:a="http://schemas.openxmlformats.org/drawingml/2006/main" cx="10972800" cy="2933700"/>
        </p:xfrm>
        <a:graphic xmlns:a="http://schemas.openxmlformats.org/drawingml/2006/main">
          <a:graphicData uri="http://schemas.openxmlformats.org/drawingml/2006/table">
            <a:tbl>
              <a:tblPr firstRow="1" bandRow="0"/>
              <a:tblGrid>
                <a:gridCol w="3657600"/>
                <a:gridCol w="4702629"/>
                <a:gridCol w="2612571"/>
              </a:tblGrid>
              <a:tr h="733425">
                <a:tc>
                  <a:txBody>
                    <a:bodyPr wrap="square"/>
                    <a:lstStyle/>
                    <a:p>
                      <a:pPr>
                        <a:lnSpc>
                          <a:spcPct val="94000"/>
                        </a:lnSpc>
                        <a:buNone/>
                      </a:pPr>
                      <a:r>
                        <a:rPr sz="2100" b="1">
                          <a:solidFill>
                            <a:srgbClr val="FFFFFF"/>
                          </a:solidFill>
                          <a:latin typeface="Noto Sans KR"/>
                          <a:ea typeface="Noto Sans KR"/>
                          <a:cs typeface="Noto Sans KR"/>
                        </a:rPr>
                        <a:t>온도</a:t>
                      </a:r>
                    </a:p>
                  </a:txBody>
                  <a:tcPr marL="171450" marR="114300" marT="47625" marB="47625" anchor="ctr">
                    <a:solidFill>
                      <a:srgbClr val="002FA7"/>
                    </a:solidFill>
                  </a:tcPr>
                </a:tc>
                <a:tc>
                  <a:txBody>
                    <a:bodyPr wrap="square"/>
                    <a:lstStyle/>
                    <a:p>
                      <a:pPr>
                        <a:lnSpc>
                          <a:spcPct val="94000"/>
                        </a:lnSpc>
                        <a:buNone/>
                      </a:pPr>
                      <a:r>
                        <a:rPr sz="2100" b="1">
                          <a:solidFill>
                            <a:srgbClr val="FFFFFF"/>
                          </a:solidFill>
                          <a:latin typeface="Noto Sans KR"/>
                          <a:ea typeface="Noto Sans KR"/>
                          <a:cs typeface="Noto Sans KR"/>
                        </a:rPr>
                        <a:t>24 초과?</a:t>
                      </a:r>
                    </a:p>
                  </a:txBody>
                  <a:tcPr marL="171450" marR="114300" marT="47625" marB="47625" anchor="ctr">
                    <a:solidFill>
                      <a:srgbClr val="002FA7"/>
                    </a:solidFill>
                  </a:tcPr>
                </a:tc>
                <a:tc>
                  <a:txBody>
                    <a:bodyPr wrap="square"/>
                    <a:lstStyle/>
                    <a:p>
                      <a:pPr>
                        <a:lnSpc>
                          <a:spcPct val="94000"/>
                        </a:lnSpc>
                        <a:buNone/>
                      </a:pPr>
                      <a:r>
                        <a:rPr sz="2100" b="1">
                          <a:solidFill>
                            <a:srgbClr val="FFFFFF"/>
                          </a:solidFill>
                          <a:latin typeface="Noto Sans KR"/>
                          <a:ea typeface="Noto Sans KR"/>
                          <a:cs typeface="Noto Sans KR"/>
                        </a:rPr>
                        <a:t>건수</a:t>
                      </a:r>
                    </a:p>
                  </a:txBody>
                  <a:tcPr marL="171450" marR="114300" marT="47625" marB="47625" anchor="ctr">
                    <a:solidFill>
                      <a:srgbClr val="002FA7"/>
                    </a:solidFill>
                  </a:tcPr>
                </a:tc>
              </a:tr>
              <a:tr h="733425">
                <a:tc>
                  <a:txBody>
                    <a:bodyPr wrap="square"/>
                    <a:lstStyle/>
                    <a:p>
                      <a:pPr>
                        <a:lnSpc>
                          <a:spcPct val="94000"/>
                        </a:lnSpc>
                        <a:buNone/>
                      </a:pPr>
                      <a:r>
                        <a:rPr sz="2100" b="0">
                          <a:solidFill>
                            <a:srgbClr val="0A0A0A"/>
                          </a:solidFill>
                          <a:latin typeface="Noto Sans KR"/>
                          <a:ea typeface="Noto Sans KR"/>
                          <a:cs typeface="Noto Sans KR"/>
                        </a:rPr>
                        <a:t>22.5</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거짓</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0</a:t>
                      </a:r>
                    </a:p>
                  </a:txBody>
                  <a:tcPr marL="171450" marR="114300" marT="47625" marB="47625" anchor="ctr">
                    <a:solidFill>
                      <a:srgbClr val="FAFAF8"/>
                    </a:solidFill>
                  </a:tcPr>
                </a:tc>
              </a:tr>
              <a:tr h="733425">
                <a:tc>
                  <a:txBody>
                    <a:bodyPr wrap="square"/>
                    <a:lstStyle/>
                    <a:p>
                      <a:pPr>
                        <a:lnSpc>
                          <a:spcPct val="94000"/>
                        </a:lnSpc>
                        <a:buNone/>
                      </a:pPr>
                      <a:r>
                        <a:rPr sz="2100" b="0">
                          <a:solidFill>
                            <a:srgbClr val="0A0A0A"/>
                          </a:solidFill>
                          <a:latin typeface="Noto Sans KR"/>
                          <a:ea typeface="Noto Sans KR"/>
                          <a:cs typeface="Noto Sans KR"/>
                        </a:rPr>
                        <a:t>24.0</a:t>
                      </a:r>
                    </a:p>
                  </a:txBody>
                  <a:tcPr marL="171450" marR="114300" marT="47625" marB="47625" anchor="ctr">
                    <a:solidFill>
                      <a:srgbClr val="F0F0EB"/>
                    </a:solidFill>
                  </a:tcPr>
                </a:tc>
                <a:tc>
                  <a:txBody>
                    <a:bodyPr wrap="square"/>
                    <a:lstStyle/>
                    <a:p>
                      <a:pPr>
                        <a:lnSpc>
                          <a:spcPct val="94000"/>
                        </a:lnSpc>
                        <a:buNone/>
                      </a:pPr>
                      <a:r>
                        <a:rPr sz="2100" b="0">
                          <a:solidFill>
                            <a:srgbClr val="0A0A0A"/>
                          </a:solidFill>
                          <a:latin typeface="Noto Sans KR"/>
                          <a:ea typeface="Noto Sans KR"/>
                          <a:cs typeface="Noto Sans KR"/>
                        </a:rPr>
                        <a:t>거짓</a:t>
                      </a:r>
                    </a:p>
                  </a:txBody>
                  <a:tcPr marL="171450" marR="114300" marT="47625" marB="47625" anchor="ctr">
                    <a:solidFill>
                      <a:srgbClr val="F0F0EB"/>
                    </a:solidFill>
                  </a:tcPr>
                </a:tc>
                <a:tc>
                  <a:txBody>
                    <a:bodyPr wrap="square"/>
                    <a:lstStyle/>
                    <a:p>
                      <a:pPr>
                        <a:lnSpc>
                          <a:spcPct val="94000"/>
                        </a:lnSpc>
                        <a:buNone/>
                      </a:pPr>
                      <a:r>
                        <a:rPr sz="2100" b="0">
                          <a:solidFill>
                            <a:srgbClr val="0A0A0A"/>
                          </a:solidFill>
                          <a:latin typeface="Noto Sans KR"/>
                          <a:ea typeface="Noto Sans KR"/>
                          <a:cs typeface="Noto Sans KR"/>
                        </a:rPr>
                        <a:t>0</a:t>
                      </a:r>
                    </a:p>
                  </a:txBody>
                  <a:tcPr marL="171450" marR="114300" marT="47625" marB="47625" anchor="ctr">
                    <a:solidFill>
                      <a:srgbClr val="F0F0EB"/>
                    </a:solidFill>
                  </a:tcPr>
                </a:tc>
              </a:tr>
              <a:tr h="733425">
                <a:tc>
                  <a:txBody>
                    <a:bodyPr wrap="square"/>
                    <a:lstStyle/>
                    <a:p>
                      <a:pPr>
                        <a:lnSpc>
                          <a:spcPct val="94000"/>
                        </a:lnSpc>
                        <a:buNone/>
                      </a:pPr>
                      <a:r>
                        <a:rPr sz="2100" b="0">
                          <a:solidFill>
                            <a:srgbClr val="0A0A0A"/>
                          </a:solidFill>
                          <a:latin typeface="Noto Sans KR"/>
                          <a:ea typeface="Noto Sans KR"/>
                          <a:cs typeface="Noto Sans KR"/>
                        </a:rPr>
                        <a:t>25.0</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참</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1</a:t>
                      </a:r>
                    </a:p>
                  </a:txBody>
                  <a:tcPr marL="171450" marR="114300" marT="47625" marB="47625" anchor="ctr">
                    <a:solidFill>
                      <a:srgbClr val="FAFAF8"/>
                    </a:solidFill>
                  </a:tcPr>
                </a:tc>
              </a:tr>
            </a:tbl>
          </a:graphicData>
        </a:graphic>
      </p:graphicFrame>
      <p:sp>
        <p:nvSpPr>
          <p:cNvPr id="4" name="">
            <a:extLst xmlns:a="http://schemas.openxmlformats.org/drawingml/2006/main">
              <a:ext uri="{FF2B5EF4-FFF2-40B4-BE49-F238E27FC236}">
                <a16:creationId xmlns:a16="http://schemas.microsoft.com/office/drawing/2014/main" id="{CAE4C9A4-97EE-490E-9504-687180C7DFFE}"/>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29AFDE3-913F-4E63-A86D-54D4B86A7E79}"/>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6" name="">
            <a:extLst xmlns:a="http://schemas.openxmlformats.org/drawingml/2006/main">
              <a:ext uri="{FF2B5EF4-FFF2-40B4-BE49-F238E27FC236}">
                <a16:creationId xmlns:a16="http://schemas.microsoft.com/office/drawing/2014/main" id="{A82F2867-EB28-4271-9EBB-5E07415B74DA}"/>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076</a:t>
            </a:r>
          </a:p>
        </p:txBody>
      </p:sp>
    </p:spTree>
    <p:extLst>
      <p:ext uri="{BB962C8B-B14F-4D97-AF65-F5344CB8AC3E}">
        <p14:creationId xmlns:p14="http://schemas.microsoft.com/office/powerpoint/2010/main" val="357199951"/>
      </p:ext>
    </p:extLst>
  </p:cSld>
</p:sld>
</file>

<file path=ppt/slides/slide77.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8E36E9C-77A0-40C9-BBA2-3CEFC3628499}"/>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5교시</a:t>
            </a:r>
          </a:p>
        </p:txBody>
      </p:sp>
      <p:sp>
        <p:nvSpPr>
          <p:cNvPr id="2" name="">
            <a:extLst xmlns:a="http://schemas.openxmlformats.org/drawingml/2006/main">
              <a:ext uri="{FF2B5EF4-FFF2-40B4-BE49-F238E27FC236}">
                <a16:creationId xmlns:a16="http://schemas.microsoft.com/office/drawing/2014/main" id="{D2CA6F4D-48C4-4B92-9814-5D8615C20DA2}"/>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새 실무 사례</a:t>
            </a:r>
          </a:p>
        </p:txBody>
      </p:sp>
      <p:sp>
        <p:nvSpPr>
          <p:cNvPr id="3" name="">
            <a:extLst xmlns:a="http://schemas.openxmlformats.org/drawingml/2006/main">
              <a:ext uri="{FF2B5EF4-FFF2-40B4-BE49-F238E27FC236}">
                <a16:creationId xmlns:a16="http://schemas.microsoft.com/office/drawing/2014/main" id="{0A126E75-8F2F-4360-A963-E18479C6378A}"/>
              </a:ext>
            </a:extLst>
          </p:cNvPr>
          <p:cNvSpPr>
            <a:spLocks xmlns:a="http://schemas.openxmlformats.org/drawingml/2006/main" noGrp="1"/>
          </p:cNvSpPr>
          <p:nvPr/>
        </p:nvSpPr>
        <p:spPr>
          <a:xfrm xmlns:a="http://schemas.openxmlformats.org/drawingml/2006/main">
            <a:off x="609600" y="2543175"/>
            <a:ext cx="109728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0">
                <a:solidFill>
                  <a:srgbClr val="0A0A0A"/>
                </a:solidFill>
                <a:latin typeface="Noto Sans KR"/>
                <a:ea typeface="Noto Sans KR"/>
                <a:cs typeface="Noto Sans KR"/>
              </a:defRPr>
            </a:pPr>
            <a:r>
              <a:t>상자 무게 2·5·1kg의 </a:t>
            </a:r>
            <a:r>
              <a:rPr b="1">
                <a:solidFill>
                  <a:srgbClr val="002FA7"/>
                </a:solidFill>
              </a:rPr>
              <a:t>합과 초과 건수</a:t>
            </a:r>
            <a:r>
              <a:t>를 셉니다.</a:t>
            </a:r>
          </a:p>
        </p:txBody>
      </p:sp>
      <p:sp>
        <p:nvSpPr>
          <p:cNvPr id="4" name="">
            <a:extLst xmlns:a="http://schemas.openxmlformats.org/drawingml/2006/main">
              <a:ext uri="{FF2B5EF4-FFF2-40B4-BE49-F238E27FC236}">
                <a16:creationId xmlns:a16="http://schemas.microsoft.com/office/drawing/2014/main" id="{0EFE766C-E048-4D60-BD8B-DFA7F46DE789}"/>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D0EC72E-F3E4-4974-96F3-7EECB11A25CE}"/>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6" name="">
            <a:extLst xmlns:a="http://schemas.openxmlformats.org/drawingml/2006/main">
              <a:ext uri="{FF2B5EF4-FFF2-40B4-BE49-F238E27FC236}">
                <a16:creationId xmlns:a16="http://schemas.microsoft.com/office/drawing/2014/main" id="{E8A79761-AA9D-4A9F-BFD5-DB2A8C5E170F}"/>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077</a:t>
            </a:r>
          </a:p>
        </p:txBody>
      </p:sp>
    </p:spTree>
    <p:extLst>
      <p:ext uri="{BB962C8B-B14F-4D97-AF65-F5344CB8AC3E}">
        <p14:creationId xmlns:p14="http://schemas.microsoft.com/office/powerpoint/2010/main" val="838651977"/>
      </p:ext>
    </p:extLst>
  </p:cSld>
</p:sld>
</file>

<file path=ppt/slides/slide78.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84DAEFA-08B4-4DA4-B593-60B869045C2F}"/>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5교시</a:t>
            </a:r>
          </a:p>
        </p:txBody>
      </p:sp>
      <p:sp>
        <p:nvSpPr>
          <p:cNvPr id="2" name="">
            <a:extLst xmlns:a="http://schemas.openxmlformats.org/drawingml/2006/main">
              <a:ext uri="{FF2B5EF4-FFF2-40B4-BE49-F238E27FC236}">
                <a16:creationId xmlns:a16="http://schemas.microsoft.com/office/drawing/2014/main" id="{CCEEF5D6-7C98-47CF-891B-9C6610C92691}"/>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판단을 따라가 보기</a:t>
            </a:r>
          </a:p>
        </p:txBody>
      </p:sp>
      <p:graphicFrame>
        <p:nvGraphicFramePr>
          <p:cNvPr id="9" name=""/>
          <p:cNvGraphicFramePr/>
          <p:nvPr/>
        </p:nvGraphicFramePr>
        <p:xfrm>
          <a:off xmlns:a="http://schemas.openxmlformats.org/drawingml/2006/main" x="609600" y="2333625"/>
          <a:ext xmlns:a="http://schemas.openxmlformats.org/drawingml/2006/main" cx="10972800" cy="3429000"/>
        </p:xfrm>
        <a:graphic xmlns:a="http://schemas.openxmlformats.org/drawingml/2006/main">
          <a:graphicData uri="http://schemas.openxmlformats.org/drawingml/2006/table">
            <a:tbl>
              <a:tblPr firstRow="1" bandRow="0"/>
              <a:tblGrid>
                <a:gridCol w="7315200"/>
                <a:gridCol w="3657600"/>
              </a:tblGrid>
              <a:tr h="685800">
                <a:tc>
                  <a:txBody>
                    <a:bodyPr wrap="square"/>
                    <a:lstStyle/>
                    <a:p>
                      <a:pPr>
                        <a:lnSpc>
                          <a:spcPct val="94000"/>
                        </a:lnSpc>
                        <a:buNone/>
                      </a:pPr>
                      <a:r>
                        <a:rPr sz="2100" b="1">
                          <a:solidFill>
                            <a:srgbClr val="FFFFFF"/>
                          </a:solidFill>
                          <a:latin typeface="Noto Sans KR"/>
                          <a:ea typeface="Noto Sans KR"/>
                          <a:cs typeface="Noto Sans KR"/>
                        </a:rPr>
                        <a:t>질문</a:t>
                      </a:r>
                    </a:p>
                  </a:txBody>
                  <a:tcPr marL="171450" marR="114300" marT="47625" marB="47625" anchor="ctr">
                    <a:solidFill>
                      <a:srgbClr val="002FA7"/>
                    </a:solidFill>
                  </a:tcPr>
                </a:tc>
                <a:tc>
                  <a:txBody>
                    <a:bodyPr wrap="square"/>
                    <a:lstStyle/>
                    <a:p>
                      <a:pPr>
                        <a:lnSpc>
                          <a:spcPct val="94000"/>
                        </a:lnSpc>
                        <a:buNone/>
                      </a:pPr>
                      <a:r>
                        <a:rPr sz="2100" b="1">
                          <a:solidFill>
                            <a:srgbClr val="FFFFFF"/>
                          </a:solidFill>
                          <a:latin typeface="Noto Sans KR"/>
                          <a:ea typeface="Noto Sans KR"/>
                          <a:cs typeface="Noto Sans KR"/>
                        </a:rPr>
                        <a:t>결과</a:t>
                      </a:r>
                    </a:p>
                  </a:txBody>
                  <a:tcPr marL="171450" marR="114300" marT="47625" marB="47625" anchor="ctr">
                    <a:solidFill>
                      <a:srgbClr val="002FA7"/>
                    </a:solidFill>
                  </a:tcPr>
                </a:tc>
              </a:tr>
              <a:tr h="685800">
                <a:tc>
                  <a:txBody>
                    <a:bodyPr wrap="square"/>
                    <a:lstStyle/>
                    <a:p>
                      <a:pPr>
                        <a:lnSpc>
                          <a:spcPct val="94000"/>
                        </a:lnSpc>
                        <a:buNone/>
                      </a:pPr>
                      <a:r>
                        <a:rPr sz="2100" b="0">
                          <a:solidFill>
                            <a:srgbClr val="0A0A0A"/>
                          </a:solidFill>
                          <a:latin typeface="Noto Sans KR"/>
                          <a:ea typeface="Noto Sans KR"/>
                          <a:cs typeface="Noto Sans KR"/>
                        </a:rPr>
                        <a:t>총무게</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8kg</a:t>
                      </a:r>
                    </a:p>
                  </a:txBody>
                  <a:tcPr marL="171450" marR="114300" marT="47625" marB="47625" anchor="ctr">
                    <a:solidFill>
                      <a:srgbClr val="FAFAF8"/>
                    </a:solidFill>
                  </a:tcPr>
                </a:tc>
              </a:tr>
              <a:tr h="685800">
                <a:tc>
                  <a:txBody>
                    <a:bodyPr wrap="square"/>
                    <a:lstStyle/>
                    <a:p>
                      <a:pPr>
                        <a:lnSpc>
                          <a:spcPct val="94000"/>
                        </a:lnSpc>
                        <a:buNone/>
                      </a:pPr>
                      <a:r>
                        <a:rPr sz="2100" b="0">
                          <a:solidFill>
                            <a:srgbClr val="0A0A0A"/>
                          </a:solidFill>
                          <a:latin typeface="Noto Sans KR"/>
                          <a:ea typeface="Noto Sans KR"/>
                          <a:cs typeface="Noto Sans KR"/>
                        </a:rPr>
                        <a:t>4kg 초과 상자</a:t>
                      </a:r>
                    </a:p>
                  </a:txBody>
                  <a:tcPr marL="171450" marR="114300" marT="47625" marB="47625" anchor="ctr">
                    <a:solidFill>
                      <a:srgbClr val="F0F0EB"/>
                    </a:solidFill>
                  </a:tcPr>
                </a:tc>
                <a:tc>
                  <a:txBody>
                    <a:bodyPr wrap="square"/>
                    <a:lstStyle/>
                    <a:p>
                      <a:pPr>
                        <a:lnSpc>
                          <a:spcPct val="94000"/>
                        </a:lnSpc>
                        <a:buNone/>
                      </a:pPr>
                      <a:r>
                        <a:rPr sz="2100" b="0">
                          <a:solidFill>
                            <a:srgbClr val="0A0A0A"/>
                          </a:solidFill>
                          <a:latin typeface="Noto Sans KR"/>
                          <a:ea typeface="Noto Sans KR"/>
                          <a:cs typeface="Noto Sans KR"/>
                        </a:rPr>
                        <a:t>1건</a:t>
                      </a:r>
                    </a:p>
                  </a:txBody>
                  <a:tcPr marL="171450" marR="114300" marT="47625" marB="47625" anchor="ctr">
                    <a:solidFill>
                      <a:srgbClr val="F0F0EB"/>
                    </a:solidFill>
                  </a:tcPr>
                </a:tc>
              </a:tr>
              <a:tr h="685800">
                <a:tc>
                  <a:txBody>
                    <a:bodyPr wrap="square"/>
                    <a:lstStyle/>
                    <a:p>
                      <a:pPr>
                        <a:lnSpc>
                          <a:spcPct val="94000"/>
                        </a:lnSpc>
                        <a:buNone/>
                      </a:pPr>
                      <a:r>
                        <a:rPr sz="2100" b="0">
                          <a:solidFill>
                            <a:srgbClr val="0A0A0A"/>
                          </a:solidFill>
                          <a:latin typeface="Noto Sans KR"/>
                          <a:ea typeface="Noto Sans KR"/>
                          <a:cs typeface="Noto Sans KR"/>
                        </a:rPr>
                        <a:t>목록 길이</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3</a:t>
                      </a:r>
                    </a:p>
                  </a:txBody>
                  <a:tcPr marL="171450" marR="114300" marT="47625" marB="47625" anchor="ctr">
                    <a:solidFill>
                      <a:srgbClr val="FAFAF8"/>
                    </a:solidFill>
                  </a:tcPr>
                </a:tc>
              </a:tr>
              <a:tr h="685800">
                <a:tc>
                  <a:txBody>
                    <a:bodyPr wrap="square"/>
                    <a:lstStyle/>
                    <a:p>
                      <a:pPr>
                        <a:lnSpc>
                          <a:spcPct val="94000"/>
                        </a:lnSpc>
                        <a:buNone/>
                      </a:pPr>
                      <a:r>
                        <a:rPr sz="2100" b="0">
                          <a:solidFill>
                            <a:srgbClr val="0A0A0A"/>
                          </a:solidFill>
                          <a:latin typeface="Noto Sans KR"/>
                          <a:ea typeface="Noto Sans KR"/>
                          <a:cs typeface="Noto Sans KR"/>
                        </a:rPr>
                        <a:t>마지막 위치 번호</a:t>
                      </a:r>
                    </a:p>
                  </a:txBody>
                  <a:tcPr marL="171450" marR="114300" marT="47625" marB="47625" anchor="ctr">
                    <a:solidFill>
                      <a:srgbClr val="F0F0EB"/>
                    </a:solidFill>
                  </a:tcPr>
                </a:tc>
                <a:tc>
                  <a:txBody>
                    <a:bodyPr wrap="square"/>
                    <a:lstStyle/>
                    <a:p>
                      <a:pPr>
                        <a:lnSpc>
                          <a:spcPct val="94000"/>
                        </a:lnSpc>
                        <a:buNone/>
                      </a:pPr>
                      <a:r>
                        <a:rPr sz="2100" b="0">
                          <a:solidFill>
                            <a:srgbClr val="0A0A0A"/>
                          </a:solidFill>
                          <a:latin typeface="Noto Sans KR"/>
                          <a:ea typeface="Noto Sans KR"/>
                          <a:cs typeface="Noto Sans KR"/>
                        </a:rPr>
                        <a:t>2</a:t>
                      </a:r>
                    </a:p>
                  </a:txBody>
                  <a:tcPr marL="171450" marR="114300" marT="47625" marB="47625" anchor="ctr">
                    <a:solidFill>
                      <a:srgbClr val="F0F0EB"/>
                    </a:solidFill>
                  </a:tcPr>
                </a:tc>
              </a:tr>
            </a:tbl>
          </a:graphicData>
        </a:graphic>
      </p:graphicFrame>
      <p:sp>
        <p:nvSpPr>
          <p:cNvPr id="4" name="">
            <a:extLst xmlns:a="http://schemas.openxmlformats.org/drawingml/2006/main">
              <a:ext uri="{FF2B5EF4-FFF2-40B4-BE49-F238E27FC236}">
                <a16:creationId xmlns:a16="http://schemas.microsoft.com/office/drawing/2014/main" id="{7BBF8CC1-2504-44DB-B7C4-1B503D200CC7}"/>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49E897B-C3F5-4279-A4B0-7E37916869E1}"/>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6" name="">
            <a:extLst xmlns:a="http://schemas.openxmlformats.org/drawingml/2006/main">
              <a:ext uri="{FF2B5EF4-FFF2-40B4-BE49-F238E27FC236}">
                <a16:creationId xmlns:a16="http://schemas.microsoft.com/office/drawing/2014/main" id="{CDC64511-2BB8-4799-8C0B-8CCF3BBEE07C}"/>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078</a:t>
            </a:r>
          </a:p>
        </p:txBody>
      </p:sp>
    </p:spTree>
    <p:extLst>
      <p:ext uri="{BB962C8B-B14F-4D97-AF65-F5344CB8AC3E}">
        <p14:creationId xmlns:p14="http://schemas.microsoft.com/office/powerpoint/2010/main" val="812135977"/>
      </p:ext>
    </p:extLst>
  </p:cSld>
</p:sld>
</file>

<file path=ppt/slides/slide79.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5C90AC6-57C7-4E89-AF17-50EE5436DED1}"/>
              </a:ext>
            </a:extLst>
          </p:cNvPr>
          <p:cNvSpPr>
            <a:spLocks xmlns:a="http://schemas.openxmlformats.org/drawingml/2006/main" noGrp="1"/>
          </p:cNvSpPr>
          <p:nvPr/>
        </p:nvSpPr>
        <p:spPr>
          <a:xfrm xmlns:a="http://schemas.openxmlformats.org/drawingml/2006/main">
            <a:off x="609600" y="390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BACBFA"/>
                </a:solidFill>
                <a:latin typeface="Noto Sans KR"/>
                <a:ea typeface="Noto Sans KR"/>
                <a:cs typeface="Noto Sans KR"/>
              </a:defRPr>
            </a:pPr>
            <a:r>
              <a:t>5교시  /  직접 생각하기</a:t>
            </a:r>
          </a:p>
        </p:txBody>
      </p:sp>
      <p:sp>
        <p:nvSpPr>
          <p:cNvPr id="2" name="">
            <a:extLst xmlns:a="http://schemas.openxmlformats.org/drawingml/2006/main">
              <a:ext uri="{FF2B5EF4-FFF2-40B4-BE49-F238E27FC236}">
                <a16:creationId xmlns:a16="http://schemas.microsoft.com/office/drawing/2014/main" id="{E3B2B605-D4E2-4649-B8B6-D50C87DA34D5}"/>
              </a:ext>
            </a:extLst>
          </p:cNvPr>
          <p:cNvSpPr>
            <a:spLocks xmlns:a="http://schemas.openxmlformats.org/drawingml/2006/main" noGrp="1"/>
          </p:cNvSpPr>
          <p:nvPr/>
        </p:nvSpPr>
        <p:spPr>
          <a:xfrm xmlns:a="http://schemas.openxmlformats.org/drawingml/2006/main">
            <a:off x="609600" y="1123950"/>
            <a:ext cx="109728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0">
                <a:solidFill>
                  <a:srgbClr val="FFFFFF"/>
                </a:solidFill>
                <a:latin typeface="Noto Sans KR"/>
                <a:ea typeface="Noto Sans KR"/>
                <a:cs typeface="Noto Sans KR"/>
              </a:defRPr>
            </a:pPr>
            <a:r>
              <a:t>추가 복습 · 새 문제</a:t>
            </a:r>
          </a:p>
        </p:txBody>
      </p:sp>
      <p:sp>
        <p:nvSpPr>
          <p:cNvPr id="3" name="">
            <a:extLst xmlns:a="http://schemas.openxmlformats.org/drawingml/2006/main">
              <a:ext uri="{FF2B5EF4-FFF2-40B4-BE49-F238E27FC236}">
                <a16:creationId xmlns:a16="http://schemas.microsoft.com/office/drawing/2014/main" id="{38961476-03D0-4B87-894F-3CA618FDA0F3}"/>
              </a:ext>
            </a:extLst>
          </p:cNvPr>
          <p:cNvSpPr>
            <a:spLocks xmlns:a="http://schemas.openxmlformats.org/drawingml/2006/main" noGrp="1"/>
          </p:cNvSpPr>
          <p:nvPr/>
        </p:nvSpPr>
        <p:spPr>
          <a:xfrm xmlns:a="http://schemas.openxmlformats.org/drawingml/2006/main">
            <a:off x="609600" y="2800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추가 복습: </a:t>
            </a:r>
            <a:r>
              <a:rPr b="1">
                <a:solidFill>
                  <a:srgbClr val="BACBFA"/>
                </a:solidFill>
              </a:rPr>
              <a:t>수량 목록 3·0·7·2</a:t>
            </a:r>
          </a:p>
        </p:txBody>
      </p:sp>
      <p:sp>
        <p:nvSpPr>
          <p:cNvPr id="4" name="">
            <a:extLst xmlns:a="http://schemas.openxmlformats.org/drawingml/2006/main">
              <a:ext uri="{FF2B5EF4-FFF2-40B4-BE49-F238E27FC236}">
                <a16:creationId xmlns:a16="http://schemas.microsoft.com/office/drawing/2014/main" id="{7502217A-3C13-4A56-B375-E81F1DC4AA40}"/>
              </a:ext>
            </a:extLst>
          </p:cNvPr>
          <p:cNvSpPr>
            <a:spLocks xmlns:a="http://schemas.openxmlformats.org/drawingml/2006/main" noGrp="1"/>
          </p:cNvSpPr>
          <p:nvPr/>
        </p:nvSpPr>
        <p:spPr>
          <a:xfrm xmlns:a="http://schemas.openxmlformats.org/drawingml/2006/main">
            <a:off x="609600" y="38671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총수량과 2개 초과 주문 수를 구하세요.</a:t>
            </a:r>
          </a:p>
        </p:txBody>
      </p:sp>
      <p:sp>
        <p:nvSpPr>
          <p:cNvPr id="5" name="">
            <a:extLst xmlns:a="http://schemas.openxmlformats.org/drawingml/2006/main">
              <a:ext uri="{FF2B5EF4-FFF2-40B4-BE49-F238E27FC236}">
                <a16:creationId xmlns:a16="http://schemas.microsoft.com/office/drawing/2014/main" id="{971F373F-53B7-4D69-8946-CDFA7D571112}"/>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9090C98-DD26-4CE6-8C99-DE210B7AF96E}"/>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10/14  피지컬AI</a:t>
            </a:r>
          </a:p>
        </p:txBody>
      </p:sp>
      <p:sp>
        <p:nvSpPr>
          <p:cNvPr id="7" name="">
            <a:extLst xmlns:a="http://schemas.openxmlformats.org/drawingml/2006/main">
              <a:ext uri="{FF2B5EF4-FFF2-40B4-BE49-F238E27FC236}">
                <a16:creationId xmlns:a16="http://schemas.microsoft.com/office/drawing/2014/main" id="{967BB58B-19E3-4C2A-8291-3CED2A43425C}"/>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079</a:t>
            </a:r>
          </a:p>
        </p:txBody>
      </p:sp>
    </p:spTree>
    <p:extLst>
      <p:ext uri="{BB962C8B-B14F-4D97-AF65-F5344CB8AC3E}">
        <p14:creationId xmlns:p14="http://schemas.microsoft.com/office/powerpoint/2010/main" val="315366950"/>
      </p:ext>
    </p:extLst>
  </p:cSld>
</p:sld>
</file>

<file path=ppt/slides/slide80.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15CE6F3-793F-4F11-8B63-C0B34DFE3EC8}"/>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5교시</a:t>
            </a:r>
          </a:p>
        </p:txBody>
      </p:sp>
      <p:sp>
        <p:nvSpPr>
          <p:cNvPr id="2" name="">
            <a:extLst xmlns:a="http://schemas.openxmlformats.org/drawingml/2006/main">
              <a:ext uri="{FF2B5EF4-FFF2-40B4-BE49-F238E27FC236}">
                <a16:creationId xmlns:a16="http://schemas.microsoft.com/office/drawing/2014/main" id="{6A3E6801-90A9-4A64-97A7-712F1C7A0533}"/>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새 문제의 풀이</a:t>
            </a:r>
          </a:p>
        </p:txBody>
      </p:sp>
      <p:sp>
        <p:nvSpPr>
          <p:cNvPr id="3" name="">
            <a:extLst xmlns:a="http://schemas.openxmlformats.org/drawingml/2006/main">
              <a:ext uri="{FF2B5EF4-FFF2-40B4-BE49-F238E27FC236}">
                <a16:creationId xmlns:a16="http://schemas.microsoft.com/office/drawing/2014/main" id="{EF07DABA-5D33-4266-A198-1FD3E8C1A187}"/>
              </a:ext>
            </a:extLst>
          </p:cNvPr>
          <p:cNvSpPr>
            <a:spLocks xmlns:a="http://schemas.openxmlformats.org/drawingml/2006/main" noGrp="1"/>
          </p:cNvSpPr>
          <p:nvPr/>
        </p:nvSpPr>
        <p:spPr>
          <a:xfrm xmlns:a="http://schemas.openxmlformats.org/drawingml/2006/main">
            <a:off x="6086475" y="2514600"/>
            <a:ext cx="9525" cy="327660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208FEAB-1C4E-49B2-BABA-20A102985C2E}"/>
              </a:ext>
            </a:extLst>
          </p:cNvPr>
          <p:cNvSpPr>
            <a:spLocks xmlns:a="http://schemas.openxmlformats.org/drawingml/2006/main" noGrp="1"/>
          </p:cNvSpPr>
          <p:nvPr/>
        </p:nvSpPr>
        <p:spPr>
          <a:xfrm xmlns:a="http://schemas.openxmlformats.org/drawingml/2006/main">
            <a:off x="609600" y="2667000"/>
            <a:ext cx="5143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0A0A0A"/>
                </a:solidFill>
                <a:latin typeface="Noto Sans KR"/>
                <a:ea typeface="Noto Sans KR"/>
                <a:cs typeface="Noto Sans KR"/>
              </a:defRPr>
            </a:pPr>
            <a:r>
              <a:t>총수량은 </a:t>
            </a:r>
            <a:r>
              <a:rPr b="1">
                <a:solidFill>
                  <a:srgbClr val="002FA7"/>
                </a:solidFill>
              </a:rPr>
              <a:t>12개, 초과 주문은 2건</a:t>
            </a:r>
            <a:r>
              <a:t>입니다.</a:t>
            </a:r>
          </a:p>
        </p:txBody>
      </p:sp>
      <p:sp>
        <p:nvSpPr>
          <p:cNvPr id="5" name="">
            <a:extLst xmlns:a="http://schemas.openxmlformats.org/drawingml/2006/main">
              <a:ext uri="{FF2B5EF4-FFF2-40B4-BE49-F238E27FC236}">
                <a16:creationId xmlns:a16="http://schemas.microsoft.com/office/drawing/2014/main" id="{1528EB52-E953-4E72-A123-40CDF85DB9CD}"/>
              </a:ext>
            </a:extLst>
          </p:cNvPr>
          <p:cNvSpPr>
            <a:spLocks xmlns:a="http://schemas.openxmlformats.org/drawingml/2006/main" noGrp="1"/>
          </p:cNvSpPr>
          <p:nvPr/>
        </p:nvSpPr>
        <p:spPr>
          <a:xfrm xmlns:a="http://schemas.openxmlformats.org/drawingml/2006/main">
            <a:off x="6400800" y="2667000"/>
            <a:ext cx="5143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0A0A0A"/>
                </a:solidFill>
                <a:latin typeface="Noto Sans KR"/>
                <a:ea typeface="Noto Sans KR"/>
                <a:cs typeface="Noto Sans KR"/>
              </a:defRPr>
            </a:pPr>
            <a:r>
              <a:t>빈 목록은 초기 합계·건수 0을 유지합니다.</a:t>
            </a:r>
          </a:p>
        </p:txBody>
      </p:sp>
      <p:sp>
        <p:nvSpPr>
          <p:cNvPr id="6" name="">
            <a:extLst xmlns:a="http://schemas.openxmlformats.org/drawingml/2006/main">
              <a:ext uri="{FF2B5EF4-FFF2-40B4-BE49-F238E27FC236}">
                <a16:creationId xmlns:a16="http://schemas.microsoft.com/office/drawing/2014/main" id="{8F4512BA-BF69-44F5-B728-C6A33C3785A6}"/>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760406A-0BE9-40E0-AF66-05E7E1FCFA7E}"/>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8" name="">
            <a:extLst xmlns:a="http://schemas.openxmlformats.org/drawingml/2006/main">
              <a:ext uri="{FF2B5EF4-FFF2-40B4-BE49-F238E27FC236}">
                <a16:creationId xmlns:a16="http://schemas.microsoft.com/office/drawing/2014/main" id="{624679D8-C245-4B27-8F17-32F45DF55800}"/>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080</a:t>
            </a:r>
          </a:p>
        </p:txBody>
      </p:sp>
    </p:spTree>
    <p:extLst>
      <p:ext uri="{BB962C8B-B14F-4D97-AF65-F5344CB8AC3E}">
        <p14:creationId xmlns:p14="http://schemas.microsoft.com/office/powerpoint/2010/main" val="1177059055"/>
      </p:ext>
    </p:extLst>
  </p:cSld>
</p:sld>
</file>

<file path=ppt/slides/slide81.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DB81B86-BE5E-40C6-AAA7-1F0BE7ABD871}"/>
              </a:ext>
            </a:extLst>
          </p:cNvPr>
          <p:cNvSpPr>
            <a:spLocks xmlns:a="http://schemas.openxmlformats.org/drawingml/2006/main" noGrp="1"/>
          </p:cNvSpPr>
          <p:nvPr/>
        </p:nvSpPr>
        <p:spPr>
          <a:xfrm xmlns:a="http://schemas.openxmlformats.org/drawingml/2006/main">
            <a:off x="609600" y="390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BACBFA"/>
                </a:solidFill>
                <a:latin typeface="Noto Sans KR"/>
                <a:ea typeface="Noto Sans KR"/>
                <a:cs typeface="Noto Sans KR"/>
              </a:defRPr>
            </a:pPr>
            <a:r>
              <a:t>5교시  /  직접 생각하기</a:t>
            </a:r>
          </a:p>
        </p:txBody>
      </p:sp>
      <p:sp>
        <p:nvSpPr>
          <p:cNvPr id="2" name="">
            <a:extLst xmlns:a="http://schemas.openxmlformats.org/drawingml/2006/main">
              <a:ext uri="{FF2B5EF4-FFF2-40B4-BE49-F238E27FC236}">
                <a16:creationId xmlns:a16="http://schemas.microsoft.com/office/drawing/2014/main" id="{6A5671AC-E8C5-4D7B-8430-25F205A10C0E}"/>
              </a:ext>
            </a:extLst>
          </p:cNvPr>
          <p:cNvSpPr>
            <a:spLocks xmlns:a="http://schemas.openxmlformats.org/drawingml/2006/main" noGrp="1"/>
          </p:cNvSpPr>
          <p:nvPr/>
        </p:nvSpPr>
        <p:spPr>
          <a:xfrm xmlns:a="http://schemas.openxmlformats.org/drawingml/2006/main">
            <a:off x="609600" y="1123950"/>
            <a:ext cx="109728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0">
                <a:solidFill>
                  <a:srgbClr val="FFFFFF"/>
                </a:solidFill>
                <a:latin typeface="Noto Sans KR"/>
                <a:ea typeface="Noto Sans KR"/>
                <a:cs typeface="Noto Sans KR"/>
              </a:defRPr>
            </a:pPr>
            <a:r>
              <a:t>먼저 할 일 · 한 바퀴 추적</a:t>
            </a:r>
          </a:p>
        </p:txBody>
      </p:sp>
      <p:sp>
        <p:nvSpPr>
          <p:cNvPr id="3" name="">
            <a:extLst xmlns:a="http://schemas.openxmlformats.org/drawingml/2006/main">
              <a:ext uri="{FF2B5EF4-FFF2-40B4-BE49-F238E27FC236}">
                <a16:creationId xmlns:a16="http://schemas.microsoft.com/office/drawing/2014/main" id="{02270045-6D14-4D53-820E-AA0D7AAA4CB4}"/>
              </a:ext>
            </a:extLst>
          </p:cNvPr>
          <p:cNvSpPr>
            <a:spLocks xmlns:a="http://schemas.openxmlformats.org/drawingml/2006/main" noGrp="1"/>
          </p:cNvSpPr>
          <p:nvPr/>
        </p:nvSpPr>
        <p:spPr>
          <a:xfrm xmlns:a="http://schemas.openxmlformats.org/drawingml/2006/main">
            <a:off x="609600" y="2800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A14 현재 항목과 출력을 적습니다.</a:t>
            </a:r>
          </a:p>
        </p:txBody>
      </p:sp>
      <p:sp>
        <p:nvSpPr>
          <p:cNvPr id="4" name="">
            <a:extLst xmlns:a="http://schemas.openxmlformats.org/drawingml/2006/main">
              <a:ext uri="{FF2B5EF4-FFF2-40B4-BE49-F238E27FC236}">
                <a16:creationId xmlns:a16="http://schemas.microsoft.com/office/drawing/2014/main" id="{E7C1F97D-565D-4693-83C1-BB1666D6B061}"/>
              </a:ext>
            </a:extLst>
          </p:cNvPr>
          <p:cNvSpPr>
            <a:spLocks xmlns:a="http://schemas.openxmlformats.org/drawingml/2006/main" noGrp="1"/>
          </p:cNvSpPr>
          <p:nvPr/>
        </p:nvSpPr>
        <p:spPr>
          <a:xfrm xmlns:a="http://schemas.openxmlformats.org/drawingml/2006/main">
            <a:off x="609600" y="38671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A15 조건과 건수 변화를 적습니다.</a:t>
            </a:r>
          </a:p>
        </p:txBody>
      </p:sp>
      <p:sp>
        <p:nvSpPr>
          <p:cNvPr id="5" name="">
            <a:extLst xmlns:a="http://schemas.openxmlformats.org/drawingml/2006/main">
              <a:ext uri="{FF2B5EF4-FFF2-40B4-BE49-F238E27FC236}">
                <a16:creationId xmlns:a16="http://schemas.microsoft.com/office/drawing/2014/main" id="{DCEE7B46-4C0F-44A7-923E-0C14D8566F69}"/>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7EC8B8E-C8E5-4C72-8D1E-8A9DC8044800}"/>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10/14  피지컬AI</a:t>
            </a:r>
          </a:p>
        </p:txBody>
      </p:sp>
      <p:sp>
        <p:nvSpPr>
          <p:cNvPr id="7" name="">
            <a:extLst xmlns:a="http://schemas.openxmlformats.org/drawingml/2006/main">
              <a:ext uri="{FF2B5EF4-FFF2-40B4-BE49-F238E27FC236}">
                <a16:creationId xmlns:a16="http://schemas.microsoft.com/office/drawing/2014/main" id="{8CA5FF37-B03D-4907-A633-8A963F0E04EE}"/>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081</a:t>
            </a:r>
          </a:p>
        </p:txBody>
      </p:sp>
    </p:spTree>
    <p:extLst>
      <p:ext uri="{BB962C8B-B14F-4D97-AF65-F5344CB8AC3E}">
        <p14:creationId xmlns:p14="http://schemas.microsoft.com/office/powerpoint/2010/main" val="2114374745"/>
      </p:ext>
    </p:extLst>
  </p:cSld>
</p:sld>
</file>

<file path=ppt/slides/slide82.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A0B812B-EE3B-42F8-AB4E-20BAEAC8CDD1}"/>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5교시</a:t>
            </a:r>
          </a:p>
        </p:txBody>
      </p:sp>
      <p:sp>
        <p:nvSpPr>
          <p:cNvPr id="2" name="">
            <a:extLst xmlns:a="http://schemas.openxmlformats.org/drawingml/2006/main">
              <a:ext uri="{FF2B5EF4-FFF2-40B4-BE49-F238E27FC236}">
                <a16:creationId xmlns:a16="http://schemas.microsoft.com/office/drawing/2014/main" id="{130DA0CB-DD03-4634-AC7D-A33A87DD943A}"/>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5교시 확인</a:t>
            </a:r>
          </a:p>
        </p:txBody>
      </p:sp>
      <p:sp>
        <p:nvSpPr>
          <p:cNvPr id="3" name="">
            <a:extLst xmlns:a="http://schemas.openxmlformats.org/drawingml/2006/main">
              <a:ext uri="{FF2B5EF4-FFF2-40B4-BE49-F238E27FC236}">
                <a16:creationId xmlns:a16="http://schemas.microsoft.com/office/drawing/2014/main" id="{69BC2C78-07C3-4BB2-A805-27BADE3C4412}"/>
              </a:ext>
            </a:extLst>
          </p:cNvPr>
          <p:cNvSpPr>
            <a:spLocks xmlns:a="http://schemas.openxmlformats.org/drawingml/2006/main" noGrp="1"/>
          </p:cNvSpPr>
          <p:nvPr/>
        </p:nvSpPr>
        <p:spPr>
          <a:xfrm xmlns:a="http://schemas.openxmlformats.org/drawingml/2006/main">
            <a:off x="609600" y="2695575"/>
            <a:ext cx="3524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125" b="0">
                <a:solidFill>
                  <a:srgbClr val="002FA7"/>
                </a:solidFill>
                <a:latin typeface="Noto Sans KR"/>
                <a:ea typeface="Noto Sans KR"/>
                <a:cs typeface="Noto Sans KR"/>
              </a:defRPr>
            </a:pPr>
            <a:r>
              <a:t>총수량과 해당 주문 수</a:t>
            </a:r>
          </a:p>
        </p:txBody>
      </p:sp>
      <p:sp>
        <p:nvSpPr>
          <p:cNvPr id="4" name="">
            <a:extLst xmlns:a="http://schemas.openxmlformats.org/drawingml/2006/main">
              <a:ext uri="{FF2B5EF4-FFF2-40B4-BE49-F238E27FC236}">
                <a16:creationId xmlns:a16="http://schemas.microsoft.com/office/drawing/2014/main" id="{DB4AC639-FEA1-4B6F-B01D-7C7F58608B92}"/>
              </a:ext>
            </a:extLst>
          </p:cNvPr>
          <p:cNvSpPr>
            <a:spLocks xmlns:a="http://schemas.openxmlformats.org/drawingml/2006/main" noGrp="1"/>
          </p:cNvSpPr>
          <p:nvPr/>
        </p:nvSpPr>
        <p:spPr>
          <a:xfrm xmlns:a="http://schemas.openxmlformats.org/drawingml/2006/main">
            <a:off x="4333875" y="2562225"/>
            <a:ext cx="9525" cy="337185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A54583A-9041-4689-96FE-714E5C78248E}"/>
              </a:ext>
            </a:extLst>
          </p:cNvPr>
          <p:cNvSpPr>
            <a:spLocks xmlns:a="http://schemas.openxmlformats.org/drawingml/2006/main" noGrp="1"/>
          </p:cNvSpPr>
          <p:nvPr/>
        </p:nvSpPr>
        <p:spPr>
          <a:xfrm xmlns:a="http://schemas.openxmlformats.org/drawingml/2006/main">
            <a:off x="4724400" y="259080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초기 합계와 건수는 반복 전에 둡니다.</a:t>
            </a:r>
          </a:p>
        </p:txBody>
      </p:sp>
      <p:sp>
        <p:nvSpPr>
          <p:cNvPr id="6" name="">
            <a:extLst xmlns:a="http://schemas.openxmlformats.org/drawingml/2006/main">
              <a:ext uri="{FF2B5EF4-FFF2-40B4-BE49-F238E27FC236}">
                <a16:creationId xmlns:a16="http://schemas.microsoft.com/office/drawing/2014/main" id="{F8169396-3823-49E9-9879-33A6416EB83C}"/>
              </a:ext>
            </a:extLst>
          </p:cNvPr>
          <p:cNvSpPr>
            <a:spLocks xmlns:a="http://schemas.openxmlformats.org/drawingml/2006/main" noGrp="1"/>
          </p:cNvSpPr>
          <p:nvPr/>
        </p:nvSpPr>
        <p:spPr>
          <a:xfrm xmlns:a="http://schemas.openxmlformats.org/drawingml/2006/main">
            <a:off x="4724400" y="3705225"/>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총수량과 해당 주문 수</a:t>
            </a:r>
            <a:r>
              <a:t>는 다른 질문입니다.</a:t>
            </a:r>
          </a:p>
        </p:txBody>
      </p:sp>
      <p:sp>
        <p:nvSpPr>
          <p:cNvPr id="7" name="">
            <a:extLst xmlns:a="http://schemas.openxmlformats.org/drawingml/2006/main">
              <a:ext uri="{FF2B5EF4-FFF2-40B4-BE49-F238E27FC236}">
                <a16:creationId xmlns:a16="http://schemas.microsoft.com/office/drawing/2014/main" id="{592F797B-1173-48C5-B9DD-743F32F17BFA}"/>
              </a:ext>
            </a:extLst>
          </p:cNvPr>
          <p:cNvSpPr>
            <a:spLocks xmlns:a="http://schemas.openxmlformats.org/drawingml/2006/main" noGrp="1"/>
          </p:cNvSpPr>
          <p:nvPr/>
        </p:nvSpPr>
        <p:spPr>
          <a:xfrm xmlns:a="http://schemas.openxmlformats.org/drawingml/2006/main">
            <a:off x="4724400" y="481965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반복 안팎의 들여쓰기를 확인합니다.</a:t>
            </a:r>
          </a:p>
        </p:txBody>
      </p:sp>
      <p:sp>
        <p:nvSpPr>
          <p:cNvPr id="8" name="">
            <a:extLst xmlns:a="http://schemas.openxmlformats.org/drawingml/2006/main">
              <a:ext uri="{FF2B5EF4-FFF2-40B4-BE49-F238E27FC236}">
                <a16:creationId xmlns:a16="http://schemas.microsoft.com/office/drawing/2014/main" id="{3F8CD4C3-6B2F-4498-A22F-C1B4D997CB36}"/>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4CEC174-5E20-43E4-AC63-850EEFFDA79A}"/>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0" name="">
            <a:extLst xmlns:a="http://schemas.openxmlformats.org/drawingml/2006/main">
              <a:ext uri="{FF2B5EF4-FFF2-40B4-BE49-F238E27FC236}">
                <a16:creationId xmlns:a16="http://schemas.microsoft.com/office/drawing/2014/main" id="{C4163990-F497-437B-B5DE-97C1F8021294}"/>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082</a:t>
            </a:r>
          </a:p>
        </p:txBody>
      </p:sp>
    </p:spTree>
    <p:extLst>
      <p:ext uri="{BB962C8B-B14F-4D97-AF65-F5344CB8AC3E}">
        <p14:creationId xmlns:p14="http://schemas.microsoft.com/office/powerpoint/2010/main" val="781168684"/>
      </p:ext>
    </p:extLst>
  </p:cSld>
</p:sld>
</file>

<file path=ppt/slides/slide83.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3F05C37-AF42-495F-8748-C52AE146AF01}"/>
              </a:ext>
            </a:extLst>
          </p:cNvPr>
          <p:cNvSpPr>
            <a:spLocks xmlns:a="http://schemas.openxmlformats.org/drawingml/2006/main" noGrp="1"/>
          </p:cNvSpPr>
          <p:nvPr/>
        </p:nvSpPr>
        <p:spPr>
          <a:xfrm xmlns:a="http://schemas.openxmlformats.org/drawingml/2006/main">
            <a:off x="0" y="0"/>
            <a:ext cx="4000500" cy="6858000"/>
          </a:xfrm>
          <a:prstGeom xmlns:a="http://schemas.openxmlformats.org/drawingml/2006/main" prst="rect">
            <a:avLst/>
          </a:prstGeom>
          <a:solidFill xmlns:a="http://schemas.openxmlformats.org/drawingml/2006/main">
            <a:srgbClr val="002FA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9A21E3B-7686-4776-9CAD-6A040BA40D4E}"/>
              </a:ext>
            </a:extLst>
          </p:cNvPr>
          <p:cNvSpPr>
            <a:spLocks xmlns:a="http://schemas.openxmlformats.org/drawingml/2006/main" noGrp="1"/>
          </p:cNvSpPr>
          <p:nvPr/>
        </p:nvSpPr>
        <p:spPr>
          <a:xfrm xmlns:a="http://schemas.openxmlformats.org/drawingml/2006/main">
            <a:off x="542925" y="1504950"/>
            <a:ext cx="2952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600" b="0">
                <a:solidFill>
                  <a:srgbClr val="FFFFFF"/>
                </a:solidFill>
                <a:latin typeface="Arial"/>
                <a:ea typeface="Arial"/>
                <a:cs typeface="Arial"/>
              </a:defRPr>
            </a:pPr>
            <a:r>
              <a:t>06</a:t>
            </a:r>
          </a:p>
        </p:txBody>
      </p:sp>
      <p:sp>
        <p:nvSpPr>
          <p:cNvPr id="3" name="">
            <a:extLst xmlns:a="http://schemas.openxmlformats.org/drawingml/2006/main">
              <a:ext uri="{FF2B5EF4-FFF2-40B4-BE49-F238E27FC236}">
                <a16:creationId xmlns:a16="http://schemas.microsoft.com/office/drawing/2014/main" id="{39203DB2-4A9D-4918-8BD0-3616743476C2}"/>
              </a:ext>
            </a:extLst>
          </p:cNvPr>
          <p:cNvSpPr>
            <a:spLocks xmlns:a="http://schemas.openxmlformats.org/drawingml/2006/main" noGrp="1"/>
          </p:cNvSpPr>
          <p:nvPr/>
        </p:nvSpPr>
        <p:spPr>
          <a:xfrm xmlns:a="http://schemas.openxmlformats.org/drawingml/2006/main">
            <a:off x="609600" y="3857625"/>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0">
                <a:solidFill>
                  <a:srgbClr val="FFFFFF"/>
                </a:solidFill>
                <a:latin typeface="Noto Sans KR"/>
                <a:ea typeface="Noto Sans KR"/>
                <a:cs typeface="Noto Sans KR"/>
              </a:defRPr>
            </a:pPr>
            <a:r>
              <a:t>교시</a:t>
            </a:r>
          </a:p>
        </p:txBody>
      </p:sp>
      <p:sp>
        <p:nvSpPr>
          <p:cNvPr id="4" name="">
            <a:extLst xmlns:a="http://schemas.openxmlformats.org/drawingml/2006/main">
              <a:ext uri="{FF2B5EF4-FFF2-40B4-BE49-F238E27FC236}">
                <a16:creationId xmlns:a16="http://schemas.microsoft.com/office/drawing/2014/main" id="{8DE1A781-749F-43E3-B440-C349D43B2781}"/>
              </a:ext>
            </a:extLst>
          </p:cNvPr>
          <p:cNvSpPr>
            <a:spLocks xmlns:a="http://schemas.openxmlformats.org/drawingml/2006/main" noGrp="1"/>
          </p:cNvSpPr>
          <p:nvPr/>
        </p:nvSpPr>
        <p:spPr>
          <a:xfrm xmlns:a="http://schemas.openxmlformats.org/drawingml/2006/main">
            <a:off x="4572000" y="1304925"/>
            <a:ext cx="68961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650" b="0">
                <a:solidFill>
                  <a:srgbClr val="0A0A0A"/>
                </a:solidFill>
                <a:latin typeface="Noto Sans KR"/>
                <a:ea typeface="Noto Sans KR"/>
                <a:cs typeface="Noto Sans KR"/>
              </a:defRPr>
            </a:pPr>
            <a:r>
              <a:t>작은 점검 프로그램</a:t>
            </a:r>
          </a:p>
        </p:txBody>
      </p:sp>
      <p:sp>
        <p:nvSpPr>
          <p:cNvPr id="5" name="">
            <a:extLst xmlns:a="http://schemas.openxmlformats.org/drawingml/2006/main">
              <a:ext uri="{FF2B5EF4-FFF2-40B4-BE49-F238E27FC236}">
                <a16:creationId xmlns:a16="http://schemas.microsoft.com/office/drawing/2014/main" id="{253B1556-1BBD-4F18-9D07-59747D777B92}"/>
              </a:ext>
            </a:extLst>
          </p:cNvPr>
          <p:cNvSpPr>
            <a:spLocks xmlns:a="http://schemas.openxmlformats.org/drawingml/2006/main" noGrp="1"/>
          </p:cNvSpPr>
          <p:nvPr/>
        </p:nvSpPr>
        <p:spPr>
          <a:xfrm xmlns:a="http://schemas.openxmlformats.org/drawingml/2006/main">
            <a:off x="4572000" y="3609975"/>
            <a:ext cx="6896100" cy="9525"/>
          </a:xfrm>
          <a:prstGeom xmlns:a="http://schemas.openxmlformats.org/drawingml/2006/main" prst="rect">
            <a:avLst/>
          </a:prstGeom>
          <a:solidFill xmlns:a="http://schemas.openxmlformats.org/drawingml/2006/main">
            <a:srgbClr val="002FA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01FAFDC-2074-491D-8D02-6BBCB31301B7}"/>
              </a:ext>
            </a:extLst>
          </p:cNvPr>
          <p:cNvSpPr>
            <a:spLocks xmlns:a="http://schemas.openxmlformats.org/drawingml/2006/main" noGrp="1"/>
          </p:cNvSpPr>
          <p:nvPr/>
        </p:nvSpPr>
        <p:spPr>
          <a:xfrm xmlns:a="http://schemas.openxmlformats.org/drawingml/2006/main">
            <a:off x="4572000" y="3886200"/>
            <a:ext cx="689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002FA7"/>
                </a:solidFill>
                <a:latin typeface="Noto Sans KR"/>
                <a:ea typeface="Noto Sans KR"/>
                <a:cs typeface="Noto Sans KR"/>
              </a:defRPr>
            </a:pPr>
            <a:r>
              <a:t>16:00~16:50 · 50분</a:t>
            </a:r>
          </a:p>
        </p:txBody>
      </p:sp>
      <p:sp>
        <p:nvSpPr>
          <p:cNvPr id="7" name="">
            <a:extLst xmlns:a="http://schemas.openxmlformats.org/drawingml/2006/main">
              <a:ext uri="{FF2B5EF4-FFF2-40B4-BE49-F238E27FC236}">
                <a16:creationId xmlns:a16="http://schemas.microsoft.com/office/drawing/2014/main" id="{1EE380A7-34D5-49DD-98CF-9E8982452CD6}"/>
              </a:ext>
            </a:extLst>
          </p:cNvPr>
          <p:cNvSpPr>
            <a:spLocks xmlns:a="http://schemas.openxmlformats.org/drawingml/2006/main" noGrp="1"/>
          </p:cNvSpPr>
          <p:nvPr/>
        </p:nvSpPr>
        <p:spPr>
          <a:xfrm xmlns:a="http://schemas.openxmlformats.org/drawingml/2006/main">
            <a:off x="4572000" y="4600575"/>
            <a:ext cx="689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0A0A0A"/>
                </a:solidFill>
                <a:latin typeface="Noto Sans KR"/>
                <a:ea typeface="Noto Sans KR"/>
                <a:cs typeface="Noto Sans KR"/>
              </a:defRPr>
            </a:pPr>
            <a:r>
              <a:t>먼저 할 활동: A16, A17, A18</a:t>
            </a:r>
          </a:p>
        </p:txBody>
      </p:sp>
      <p:sp>
        <p:nvSpPr>
          <p:cNvPr id="8" name="">
            <a:extLst xmlns:a="http://schemas.openxmlformats.org/drawingml/2006/main">
              <a:ext uri="{FF2B5EF4-FFF2-40B4-BE49-F238E27FC236}">
                <a16:creationId xmlns:a16="http://schemas.microsoft.com/office/drawing/2014/main" id="{6DF0B583-D311-4EFD-8698-A7A289CC6336}"/>
              </a:ext>
            </a:extLst>
          </p:cNvPr>
          <p:cNvSpPr>
            <a:spLocks xmlns:a="http://schemas.openxmlformats.org/drawingml/2006/main" noGrp="1"/>
          </p:cNvSpPr>
          <p:nvPr/>
        </p:nvSpPr>
        <p:spPr>
          <a:xfrm xmlns:a="http://schemas.openxmlformats.org/drawingml/2006/main">
            <a:off x="4572000" y="5314950"/>
            <a:ext cx="689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0A0A0A"/>
                </a:solidFill>
                <a:latin typeface="Noto Sans KR"/>
                <a:ea typeface="Noto Sans KR"/>
                <a:cs typeface="Noto Sans KR"/>
              </a:defRPr>
            </a:pPr>
            <a:r>
              <a:t>추가 문제는 필수 결과를 확인한 뒤 풉니다.</a:t>
            </a:r>
          </a:p>
        </p:txBody>
      </p:sp>
      <p:sp>
        <p:nvSpPr>
          <p:cNvPr id="9" name="">
            <a:extLst xmlns:a="http://schemas.openxmlformats.org/drawingml/2006/main">
              <a:ext uri="{FF2B5EF4-FFF2-40B4-BE49-F238E27FC236}">
                <a16:creationId xmlns:a16="http://schemas.microsoft.com/office/drawing/2014/main" id="{30C3A385-956F-4585-B493-98E2269E3846}"/>
              </a:ext>
            </a:extLst>
          </p:cNvPr>
          <p:cNvSpPr>
            <a:spLocks xmlns:a="http://schemas.openxmlformats.org/drawingml/2006/main" noGrp="1"/>
          </p:cNvSpPr>
          <p:nvPr/>
        </p:nvSpPr>
        <p:spPr>
          <a:xfrm xmlns:a="http://schemas.openxmlformats.org/drawingml/2006/main">
            <a:off x="609600" y="428625"/>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FFFFFF"/>
                </a:solidFill>
                <a:latin typeface="Noto Sans KR"/>
                <a:ea typeface="Noto Sans KR"/>
                <a:cs typeface="Noto Sans KR"/>
              </a:defRPr>
            </a:pPr>
            <a:r>
              <a:t>2026.10.14</a:t>
            </a:r>
          </a:p>
        </p:txBody>
      </p:sp>
      <p:sp>
        <p:nvSpPr>
          <p:cNvPr id="10" name="">
            <a:extLst xmlns:a="http://schemas.openxmlformats.org/drawingml/2006/main">
              <a:ext uri="{FF2B5EF4-FFF2-40B4-BE49-F238E27FC236}">
                <a16:creationId xmlns:a16="http://schemas.microsoft.com/office/drawing/2014/main" id="{3C2A88C2-488E-4E66-A115-F746BA964057}"/>
              </a:ext>
            </a:extLst>
          </p:cNvPr>
          <p:cNvSpPr>
            <a:spLocks xmlns:a="http://schemas.openxmlformats.org/drawingml/2006/main" noGrp="1"/>
          </p:cNvSpPr>
          <p:nvPr/>
        </p:nvSpPr>
        <p:spPr>
          <a:xfrm xmlns:a="http://schemas.openxmlformats.org/drawingml/2006/main">
            <a:off x="10477500" y="64008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083</a:t>
            </a:r>
          </a:p>
        </p:txBody>
      </p:sp>
    </p:spTree>
    <p:extLst>
      <p:ext uri="{BB962C8B-B14F-4D97-AF65-F5344CB8AC3E}">
        <p14:creationId xmlns:p14="http://schemas.microsoft.com/office/powerpoint/2010/main" val="1078850849"/>
      </p:ext>
    </p:extLst>
  </p:cSld>
</p:sld>
</file>

<file path=ppt/slides/slide84.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AA2EB32-E3E0-4137-B9DD-BE4496BB4857}"/>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6교시</a:t>
            </a:r>
          </a:p>
        </p:txBody>
      </p:sp>
      <p:sp>
        <p:nvSpPr>
          <p:cNvPr id="2" name="">
            <a:extLst xmlns:a="http://schemas.openxmlformats.org/drawingml/2006/main">
              <a:ext uri="{FF2B5EF4-FFF2-40B4-BE49-F238E27FC236}">
                <a16:creationId xmlns:a16="http://schemas.microsoft.com/office/drawing/2014/main" id="{DF774629-6477-43A9-A791-86318125B6D0}"/>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완성 예 · 이름표가 있는 기록</a:t>
            </a:r>
          </a:p>
        </p:txBody>
      </p:sp>
      <p:sp>
        <p:nvSpPr>
          <p:cNvPr id="3" name="">
            <a:extLst xmlns:a="http://schemas.openxmlformats.org/drawingml/2006/main">
              <a:ext uri="{FF2B5EF4-FFF2-40B4-BE49-F238E27FC236}">
                <a16:creationId xmlns:a16="http://schemas.microsoft.com/office/drawing/2014/main" id="{92930B83-4E1D-4EC6-9E00-2AD984C3DBD5}"/>
              </a:ext>
            </a:extLst>
          </p:cNvPr>
          <p:cNvSpPr>
            <a:spLocks xmlns:a="http://schemas.openxmlformats.org/drawingml/2006/main" noGrp="1"/>
          </p:cNvSpPr>
          <p:nvPr/>
        </p:nvSpPr>
        <p:spPr>
          <a:xfrm xmlns:a="http://schemas.openxmlformats.org/drawingml/2006/main">
            <a:off x="609600" y="2714625"/>
            <a:ext cx="10972800" cy="2476500"/>
          </a:xfrm>
          <a:prstGeom xmlns:a="http://schemas.openxmlformats.org/drawingml/2006/main" prst="rect">
            <a:avLst/>
          </a:prstGeom>
          <a:solidFill xmlns:a="http://schemas.openxmlformats.org/drawingml/2006/main">
            <a:srgbClr val="0A0A0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DCF9F48-09BA-4F90-A037-938E4E84EFBC}"/>
              </a:ext>
            </a:extLst>
          </p:cNvPr>
          <p:cNvSpPr>
            <a:spLocks xmlns:a="http://schemas.openxmlformats.org/drawingml/2006/main" noGrp="1"/>
          </p:cNvSpPr>
          <p:nvPr/>
        </p:nvSpPr>
        <p:spPr>
          <a:xfrm xmlns:a="http://schemas.openxmlformats.org/drawingml/2006/main">
            <a:off x="790575" y="29051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01</a:t>
            </a:r>
          </a:p>
        </p:txBody>
      </p:sp>
      <p:sp>
        <p:nvSpPr>
          <p:cNvPr id="5" name="">
            <a:extLst xmlns:a="http://schemas.openxmlformats.org/drawingml/2006/main">
              <a:ext uri="{FF2B5EF4-FFF2-40B4-BE49-F238E27FC236}">
                <a16:creationId xmlns:a16="http://schemas.microsoft.com/office/drawing/2014/main" id="{DB1E09E1-77E9-4061-9320-8F1BDA478F7A}"/>
              </a:ext>
            </a:extLst>
          </p:cNvPr>
          <p:cNvSpPr>
            <a:spLocks xmlns:a="http://schemas.openxmlformats.org/drawingml/2006/main" noGrp="1"/>
          </p:cNvSpPr>
          <p:nvPr/>
        </p:nvSpPr>
        <p:spPr>
          <a:xfrm xmlns:a="http://schemas.openxmlformats.org/drawingml/2006/main">
            <a:off x="1390650" y="28670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records = [</a:t>
            </a:r>
          </a:p>
        </p:txBody>
      </p:sp>
      <p:sp>
        <p:nvSpPr>
          <p:cNvPr id="6" name="">
            <a:extLst xmlns:a="http://schemas.openxmlformats.org/drawingml/2006/main">
              <a:ext uri="{FF2B5EF4-FFF2-40B4-BE49-F238E27FC236}">
                <a16:creationId xmlns:a16="http://schemas.microsoft.com/office/drawing/2014/main" id="{53AA29CC-B96B-4826-A564-FC47AD7DA7FD}"/>
              </a:ext>
            </a:extLst>
          </p:cNvPr>
          <p:cNvSpPr>
            <a:spLocks xmlns:a="http://schemas.openxmlformats.org/drawingml/2006/main" noGrp="1"/>
          </p:cNvSpPr>
          <p:nvPr/>
        </p:nvSpPr>
        <p:spPr>
          <a:xfrm xmlns:a="http://schemas.openxmlformats.org/drawingml/2006/main">
            <a:off x="790575" y="32480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02</a:t>
            </a:r>
          </a:p>
        </p:txBody>
      </p:sp>
      <p:sp>
        <p:nvSpPr>
          <p:cNvPr id="7" name="">
            <a:extLst xmlns:a="http://schemas.openxmlformats.org/drawingml/2006/main">
              <a:ext uri="{FF2B5EF4-FFF2-40B4-BE49-F238E27FC236}">
                <a16:creationId xmlns:a16="http://schemas.microsoft.com/office/drawing/2014/main" id="{95BB7048-A7EF-4DA6-A6CC-108CE4B51362}"/>
              </a:ext>
            </a:extLst>
          </p:cNvPr>
          <p:cNvSpPr>
            <a:spLocks xmlns:a="http://schemas.openxmlformats.org/drawingml/2006/main" noGrp="1"/>
          </p:cNvSpPr>
          <p:nvPr/>
        </p:nvSpPr>
        <p:spPr>
          <a:xfrm xmlns:a="http://schemas.openxmlformats.org/drawingml/2006/main">
            <a:off x="1390650" y="32099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    {</a:t>
            </a:r>
            <a:r>
              <a:rPr>
                <a:solidFill>
                  <a:srgbClr val="BACBFA"/>
                </a:solidFill>
              </a:rPr>
              <a:t>"sensor_id"</a:t>
            </a:r>
            <a:r>
              <a:rPr>
                <a:solidFill>
                  <a:srgbClr val="FFFFFF"/>
                </a:solidFill>
              </a:rPr>
              <a:t>: </a:t>
            </a:r>
            <a:r>
              <a:rPr>
                <a:solidFill>
                  <a:srgbClr val="BACBFA"/>
                </a:solidFill>
              </a:rPr>
              <a:t>"S01"</a:t>
            </a:r>
            <a:r>
              <a:rPr>
                <a:solidFill>
                  <a:srgbClr val="FFFFFF"/>
                </a:solidFill>
              </a:rPr>
              <a:t>, </a:t>
            </a:r>
            <a:r>
              <a:rPr>
                <a:solidFill>
                  <a:srgbClr val="BACBFA"/>
                </a:solidFill>
              </a:rPr>
              <a:t>"temperature_c"</a:t>
            </a:r>
            <a:r>
              <a:rPr>
                <a:solidFill>
                  <a:srgbClr val="FFFFFF"/>
                </a:solidFill>
              </a:rPr>
              <a:t>: 22.5},</a:t>
            </a:r>
          </a:p>
        </p:txBody>
      </p:sp>
      <p:sp>
        <p:nvSpPr>
          <p:cNvPr id="8" name="">
            <a:extLst xmlns:a="http://schemas.openxmlformats.org/drawingml/2006/main">
              <a:ext uri="{FF2B5EF4-FFF2-40B4-BE49-F238E27FC236}">
                <a16:creationId xmlns:a16="http://schemas.microsoft.com/office/drawing/2014/main" id="{E58CDA70-B696-46D2-998C-64020D257981}"/>
              </a:ext>
            </a:extLst>
          </p:cNvPr>
          <p:cNvSpPr>
            <a:spLocks xmlns:a="http://schemas.openxmlformats.org/drawingml/2006/main" noGrp="1"/>
          </p:cNvSpPr>
          <p:nvPr/>
        </p:nvSpPr>
        <p:spPr>
          <a:xfrm xmlns:a="http://schemas.openxmlformats.org/drawingml/2006/main">
            <a:off x="790575" y="35909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03</a:t>
            </a:r>
          </a:p>
        </p:txBody>
      </p:sp>
      <p:sp>
        <p:nvSpPr>
          <p:cNvPr id="9" name="">
            <a:extLst xmlns:a="http://schemas.openxmlformats.org/drawingml/2006/main">
              <a:ext uri="{FF2B5EF4-FFF2-40B4-BE49-F238E27FC236}">
                <a16:creationId xmlns:a16="http://schemas.microsoft.com/office/drawing/2014/main" id="{69F49CEE-D793-4B5F-959E-56DF1386C5B8}"/>
              </a:ext>
            </a:extLst>
          </p:cNvPr>
          <p:cNvSpPr>
            <a:spLocks xmlns:a="http://schemas.openxmlformats.org/drawingml/2006/main" noGrp="1"/>
          </p:cNvSpPr>
          <p:nvPr/>
        </p:nvSpPr>
        <p:spPr>
          <a:xfrm xmlns:a="http://schemas.openxmlformats.org/drawingml/2006/main">
            <a:off x="1390650" y="35528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    {</a:t>
            </a:r>
            <a:r>
              <a:rPr>
                <a:solidFill>
                  <a:srgbClr val="BACBFA"/>
                </a:solidFill>
              </a:rPr>
              <a:t>"sensor_id"</a:t>
            </a:r>
            <a:r>
              <a:rPr>
                <a:solidFill>
                  <a:srgbClr val="FFFFFF"/>
                </a:solidFill>
              </a:rPr>
              <a:t>: </a:t>
            </a:r>
            <a:r>
              <a:rPr>
                <a:solidFill>
                  <a:srgbClr val="BACBFA"/>
                </a:solidFill>
              </a:rPr>
              <a:t>"S02"</a:t>
            </a:r>
            <a:r>
              <a:rPr>
                <a:solidFill>
                  <a:srgbClr val="FFFFFF"/>
                </a:solidFill>
              </a:rPr>
              <a:t>, </a:t>
            </a:r>
            <a:r>
              <a:rPr>
                <a:solidFill>
                  <a:srgbClr val="BACBFA"/>
                </a:solidFill>
              </a:rPr>
              <a:t>"temperature_c"</a:t>
            </a:r>
            <a:r>
              <a:rPr>
                <a:solidFill>
                  <a:srgbClr val="FFFFFF"/>
                </a:solidFill>
              </a:rPr>
              <a:t>: 24.0},</a:t>
            </a:r>
          </a:p>
        </p:txBody>
      </p:sp>
      <p:sp>
        <p:nvSpPr>
          <p:cNvPr id="10" name="">
            <a:extLst xmlns:a="http://schemas.openxmlformats.org/drawingml/2006/main">
              <a:ext uri="{FF2B5EF4-FFF2-40B4-BE49-F238E27FC236}">
                <a16:creationId xmlns:a16="http://schemas.microsoft.com/office/drawing/2014/main" id="{516A6E4D-7367-4B10-9059-83BB9A087EE0}"/>
              </a:ext>
            </a:extLst>
          </p:cNvPr>
          <p:cNvSpPr>
            <a:spLocks xmlns:a="http://schemas.openxmlformats.org/drawingml/2006/main" noGrp="1"/>
          </p:cNvSpPr>
          <p:nvPr/>
        </p:nvSpPr>
        <p:spPr>
          <a:xfrm xmlns:a="http://schemas.openxmlformats.org/drawingml/2006/main">
            <a:off x="790575" y="39338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04</a:t>
            </a:r>
          </a:p>
        </p:txBody>
      </p:sp>
      <p:sp>
        <p:nvSpPr>
          <p:cNvPr id="11" name="">
            <a:extLst xmlns:a="http://schemas.openxmlformats.org/drawingml/2006/main">
              <a:ext uri="{FF2B5EF4-FFF2-40B4-BE49-F238E27FC236}">
                <a16:creationId xmlns:a16="http://schemas.microsoft.com/office/drawing/2014/main" id="{E4DB29B4-2019-4513-A45B-DB1FAC19F1D3}"/>
              </a:ext>
            </a:extLst>
          </p:cNvPr>
          <p:cNvSpPr>
            <a:spLocks xmlns:a="http://schemas.openxmlformats.org/drawingml/2006/main" noGrp="1"/>
          </p:cNvSpPr>
          <p:nvPr/>
        </p:nvSpPr>
        <p:spPr>
          <a:xfrm xmlns:a="http://schemas.openxmlformats.org/drawingml/2006/main">
            <a:off x="1390650" y="38957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a:t>
            </a:r>
          </a:p>
        </p:txBody>
      </p:sp>
      <p:sp>
        <p:nvSpPr>
          <p:cNvPr id="12" name="">
            <a:extLst xmlns:a="http://schemas.openxmlformats.org/drawingml/2006/main">
              <a:ext uri="{FF2B5EF4-FFF2-40B4-BE49-F238E27FC236}">
                <a16:creationId xmlns:a16="http://schemas.microsoft.com/office/drawing/2014/main" id="{68389AD5-D486-4F6F-8C77-CCB308999494}"/>
              </a:ext>
            </a:extLst>
          </p:cNvPr>
          <p:cNvSpPr>
            <a:spLocks xmlns:a="http://schemas.openxmlformats.org/drawingml/2006/main" noGrp="1"/>
          </p:cNvSpPr>
          <p:nvPr/>
        </p:nvSpPr>
        <p:spPr>
          <a:xfrm xmlns:a="http://schemas.openxmlformats.org/drawingml/2006/main">
            <a:off x="790575" y="42767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05</a:t>
            </a:r>
          </a:p>
        </p:txBody>
      </p:sp>
      <p:sp>
        <p:nvSpPr>
          <p:cNvPr id="13" name="">
            <a:extLst xmlns:a="http://schemas.openxmlformats.org/drawingml/2006/main">
              <a:ext uri="{FF2B5EF4-FFF2-40B4-BE49-F238E27FC236}">
                <a16:creationId xmlns:a16="http://schemas.microsoft.com/office/drawing/2014/main" id="{3091530D-82E0-4600-B6F5-89C5B55FE3C5}"/>
              </a:ext>
            </a:extLst>
          </p:cNvPr>
          <p:cNvSpPr>
            <a:spLocks xmlns:a="http://schemas.openxmlformats.org/drawingml/2006/main" noGrp="1"/>
          </p:cNvSpPr>
          <p:nvPr/>
        </p:nvSpPr>
        <p:spPr>
          <a:xfrm xmlns:a="http://schemas.openxmlformats.org/drawingml/2006/main">
            <a:off x="1390650" y="42386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b="1">
                <a:solidFill>
                  <a:srgbClr val="FFFFFF"/>
                </a:solidFill>
              </a:rPr>
              <a:t>for</a:t>
            </a:r>
            <a:r>
              <a:rPr>
                <a:solidFill>
                  <a:srgbClr val="FFFFFF"/>
                </a:solidFill>
              </a:rPr>
              <a:t> record </a:t>
            </a:r>
            <a:r>
              <a:rPr b="1">
                <a:solidFill>
                  <a:srgbClr val="FFFFFF"/>
                </a:solidFill>
              </a:rPr>
              <a:t>in</a:t>
            </a:r>
            <a:r>
              <a:rPr>
                <a:solidFill>
                  <a:srgbClr val="FFFFFF"/>
                </a:solidFill>
              </a:rPr>
              <a:t> records:</a:t>
            </a:r>
          </a:p>
        </p:txBody>
      </p:sp>
      <p:sp>
        <p:nvSpPr>
          <p:cNvPr id="14" name="">
            <a:extLst xmlns:a="http://schemas.openxmlformats.org/drawingml/2006/main">
              <a:ext uri="{FF2B5EF4-FFF2-40B4-BE49-F238E27FC236}">
                <a16:creationId xmlns:a16="http://schemas.microsoft.com/office/drawing/2014/main" id="{224118F8-2F2B-4DD8-BAFF-9DCA5E81ECD9}"/>
              </a:ext>
            </a:extLst>
          </p:cNvPr>
          <p:cNvSpPr>
            <a:spLocks xmlns:a="http://schemas.openxmlformats.org/drawingml/2006/main" noGrp="1"/>
          </p:cNvSpPr>
          <p:nvPr/>
        </p:nvSpPr>
        <p:spPr>
          <a:xfrm xmlns:a="http://schemas.openxmlformats.org/drawingml/2006/main">
            <a:off x="790575" y="46196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06</a:t>
            </a:r>
          </a:p>
        </p:txBody>
      </p:sp>
      <p:sp>
        <p:nvSpPr>
          <p:cNvPr id="15" name="">
            <a:extLst xmlns:a="http://schemas.openxmlformats.org/drawingml/2006/main">
              <a:ext uri="{FF2B5EF4-FFF2-40B4-BE49-F238E27FC236}">
                <a16:creationId xmlns:a16="http://schemas.microsoft.com/office/drawing/2014/main" id="{962F8513-6E90-42C5-8F75-D57414DA4BD4}"/>
              </a:ext>
            </a:extLst>
          </p:cNvPr>
          <p:cNvSpPr>
            <a:spLocks xmlns:a="http://schemas.openxmlformats.org/drawingml/2006/main" noGrp="1"/>
          </p:cNvSpPr>
          <p:nvPr/>
        </p:nvSpPr>
        <p:spPr>
          <a:xfrm xmlns:a="http://schemas.openxmlformats.org/drawingml/2006/main">
            <a:off x="1390650" y="45815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    print(record[</a:t>
            </a:r>
            <a:r>
              <a:rPr>
                <a:solidFill>
                  <a:srgbClr val="BACBFA"/>
                </a:solidFill>
              </a:rPr>
              <a:t>"sensor_id"</a:t>
            </a:r>
            <a:r>
              <a:rPr>
                <a:solidFill>
                  <a:srgbClr val="FFFFFF"/>
                </a:solidFill>
              </a:rPr>
              <a:t>], record[</a:t>
            </a:r>
            <a:r>
              <a:rPr>
                <a:solidFill>
                  <a:srgbClr val="BACBFA"/>
                </a:solidFill>
              </a:rPr>
              <a:t>"temperature_c"</a:t>
            </a:r>
            <a:r>
              <a:rPr>
                <a:solidFill>
                  <a:srgbClr val="FFFFFF"/>
                </a:solidFill>
              </a:rPr>
              <a:t>])</a:t>
            </a:r>
          </a:p>
        </p:txBody>
      </p:sp>
      <p:sp>
        <p:nvSpPr>
          <p:cNvPr id="16" name="">
            <a:extLst xmlns:a="http://schemas.openxmlformats.org/drawingml/2006/main">
              <a:ext uri="{FF2B5EF4-FFF2-40B4-BE49-F238E27FC236}">
                <a16:creationId xmlns:a16="http://schemas.microsoft.com/office/drawing/2014/main" id="{EA61B4B5-7B64-463B-902A-58CD421ABA03}"/>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4EFA386-A5F8-4D90-A516-B66DA843B7D8}"/>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8" name="">
            <a:extLst xmlns:a="http://schemas.openxmlformats.org/drawingml/2006/main">
              <a:ext uri="{FF2B5EF4-FFF2-40B4-BE49-F238E27FC236}">
                <a16:creationId xmlns:a16="http://schemas.microsoft.com/office/drawing/2014/main" id="{F3EA444E-923F-4CD1-A70B-D6FD4D0C483C}"/>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084</a:t>
            </a:r>
          </a:p>
        </p:txBody>
      </p:sp>
    </p:spTree>
    <p:extLst>
      <p:ext uri="{BB962C8B-B14F-4D97-AF65-F5344CB8AC3E}">
        <p14:creationId xmlns:p14="http://schemas.microsoft.com/office/powerpoint/2010/main" val="2061519911"/>
      </p:ext>
    </p:extLst>
  </p:cSld>
</p:sld>
</file>

<file path=ppt/slides/slide85.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063D2DB-206F-405A-A393-261925682E1C}"/>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6교시</a:t>
            </a:r>
          </a:p>
        </p:txBody>
      </p:sp>
      <p:sp>
        <p:nvSpPr>
          <p:cNvPr id="2" name="">
            <a:extLst xmlns:a="http://schemas.openxmlformats.org/drawingml/2006/main">
              <a:ext uri="{FF2B5EF4-FFF2-40B4-BE49-F238E27FC236}">
                <a16:creationId xmlns:a16="http://schemas.microsoft.com/office/drawing/2014/main" id="{1C5EC106-1F58-4247-81B9-FF6F3A49A7CA}"/>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두 겹 구조를 나눠 읽기</a:t>
            </a:r>
          </a:p>
        </p:txBody>
      </p:sp>
      <p:sp>
        <p:nvSpPr>
          <p:cNvPr id="3" name="">
            <a:extLst xmlns:a="http://schemas.openxmlformats.org/drawingml/2006/main">
              <a:ext uri="{FF2B5EF4-FFF2-40B4-BE49-F238E27FC236}">
                <a16:creationId xmlns:a16="http://schemas.microsoft.com/office/drawing/2014/main" id="{9CBCBFA5-6858-40F8-A438-A739A0067480}"/>
              </a:ext>
            </a:extLst>
          </p:cNvPr>
          <p:cNvSpPr>
            <a:spLocks xmlns:a="http://schemas.openxmlformats.org/drawingml/2006/main" noGrp="1"/>
          </p:cNvSpPr>
          <p:nvPr/>
        </p:nvSpPr>
        <p:spPr>
          <a:xfrm xmlns:a="http://schemas.openxmlformats.org/drawingml/2006/main">
            <a:off x="6086475" y="2514600"/>
            <a:ext cx="9525" cy="189547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225CF7E-DF32-47BD-8B2F-636F6597F515}"/>
              </a:ext>
            </a:extLst>
          </p:cNvPr>
          <p:cNvSpPr>
            <a:spLocks xmlns:a="http://schemas.openxmlformats.org/drawingml/2006/main" noGrp="1"/>
          </p:cNvSpPr>
          <p:nvPr/>
        </p:nvSpPr>
        <p:spPr>
          <a:xfrm xmlns:a="http://schemas.openxmlformats.org/drawingml/2006/main">
            <a:off x="609600" y="2667000"/>
            <a:ext cx="51435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0A0A0A"/>
                </a:solidFill>
                <a:latin typeface="Noto Sans KR"/>
                <a:ea typeface="Noto Sans KR"/>
                <a:cs typeface="Noto Sans KR"/>
              </a:defRPr>
            </a:pPr>
            <a:r>
              <a:rPr b="1">
                <a:solidFill>
                  <a:srgbClr val="002FA7"/>
                </a:solidFill>
              </a:rPr>
              <a:t>리스트는 여러 기록</a:t>
            </a:r>
            <a:r>
              <a:t>을 묶습니다.</a:t>
            </a:r>
          </a:p>
        </p:txBody>
      </p:sp>
      <p:sp>
        <p:nvSpPr>
          <p:cNvPr id="5" name="">
            <a:extLst xmlns:a="http://schemas.openxmlformats.org/drawingml/2006/main">
              <a:ext uri="{FF2B5EF4-FFF2-40B4-BE49-F238E27FC236}">
                <a16:creationId xmlns:a16="http://schemas.microsoft.com/office/drawing/2014/main" id="{6705FCC4-908D-4315-B92F-6985C9B90B0F}"/>
              </a:ext>
            </a:extLst>
          </p:cNvPr>
          <p:cNvSpPr>
            <a:spLocks xmlns:a="http://schemas.openxmlformats.org/drawingml/2006/main" noGrp="1"/>
          </p:cNvSpPr>
          <p:nvPr/>
        </p:nvSpPr>
        <p:spPr>
          <a:xfrm xmlns:a="http://schemas.openxmlformats.org/drawingml/2006/main">
            <a:off x="6400800" y="2667000"/>
            <a:ext cx="51435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0A0A0A"/>
                </a:solidFill>
                <a:latin typeface="Noto Sans KR"/>
                <a:ea typeface="Noto Sans KR"/>
                <a:cs typeface="Noto Sans KR"/>
              </a:defRPr>
            </a:pPr>
            <a:r>
              <a:t>딕셔너리는 한 기록의 이름과 값을 묶습니다.</a:t>
            </a:r>
          </a:p>
        </p:txBody>
      </p:sp>
      <p:sp>
        <p:nvSpPr>
          <p:cNvPr id="6" name="">
            <a:extLst xmlns:a="http://schemas.openxmlformats.org/drawingml/2006/main">
              <a:ext uri="{FF2B5EF4-FFF2-40B4-BE49-F238E27FC236}">
                <a16:creationId xmlns:a16="http://schemas.microsoft.com/office/drawing/2014/main" id="{85763534-F635-427B-8CA4-53FA9F13DDB1}"/>
              </a:ext>
            </a:extLst>
          </p:cNvPr>
          <p:cNvSpPr>
            <a:spLocks xmlns:a="http://schemas.openxmlformats.org/drawingml/2006/main" noGrp="1"/>
          </p:cNvSpPr>
          <p:nvPr/>
        </p:nvSpPr>
        <p:spPr>
          <a:xfrm xmlns:a="http://schemas.openxmlformats.org/drawingml/2006/main">
            <a:off x="609600" y="4552950"/>
            <a:ext cx="10972800" cy="9525"/>
          </a:xfrm>
          <a:prstGeom xmlns:a="http://schemas.openxmlformats.org/drawingml/2006/main" prst="rect">
            <a:avLst/>
          </a:prstGeom>
          <a:solidFill xmlns:a="http://schemas.openxmlformats.org/drawingml/2006/main">
            <a:srgbClr val="002FA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E252343-DE04-4565-8023-152BFC864F73}"/>
              </a:ext>
            </a:extLst>
          </p:cNvPr>
          <p:cNvSpPr>
            <a:spLocks xmlns:a="http://schemas.openxmlformats.org/drawingml/2006/main" noGrp="1"/>
          </p:cNvSpPr>
          <p:nvPr/>
        </p:nvSpPr>
        <p:spPr>
          <a:xfrm xmlns:a="http://schemas.openxmlformats.org/drawingml/2006/main">
            <a:off x="609600" y="48101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0A0A0A"/>
                </a:solidFill>
                <a:latin typeface="Noto Sans KR"/>
                <a:ea typeface="Noto Sans KR"/>
                <a:cs typeface="Noto Sans KR"/>
              </a:defRPr>
            </a:pPr>
            <a:r>
              <a:t>장치명과 온도를 같은 기록에서 꺼냅니다.</a:t>
            </a:r>
          </a:p>
        </p:txBody>
      </p:sp>
      <p:sp>
        <p:nvSpPr>
          <p:cNvPr id="8" name="">
            <a:extLst xmlns:a="http://schemas.openxmlformats.org/drawingml/2006/main">
              <a:ext uri="{FF2B5EF4-FFF2-40B4-BE49-F238E27FC236}">
                <a16:creationId xmlns:a16="http://schemas.microsoft.com/office/drawing/2014/main" id="{D5E85CE4-967D-4DC7-9003-C841BEF3EA88}"/>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AA02E3C-7254-4B60-9301-03FA58C185E1}"/>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0" name="">
            <a:extLst xmlns:a="http://schemas.openxmlformats.org/drawingml/2006/main">
              <a:ext uri="{FF2B5EF4-FFF2-40B4-BE49-F238E27FC236}">
                <a16:creationId xmlns:a16="http://schemas.microsoft.com/office/drawing/2014/main" id="{CE556D14-21F8-478B-9961-2E7596619EEF}"/>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085</a:t>
            </a:r>
          </a:p>
        </p:txBody>
      </p:sp>
    </p:spTree>
    <p:extLst>
      <p:ext uri="{BB962C8B-B14F-4D97-AF65-F5344CB8AC3E}">
        <p14:creationId xmlns:p14="http://schemas.microsoft.com/office/powerpoint/2010/main" val="1247052513"/>
      </p:ext>
    </p:extLst>
  </p:cSld>
</p:sld>
</file>

<file path=ppt/slides/slide86.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2942587-7EAA-4433-A839-9C08CE2B3559}"/>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6교시</a:t>
            </a:r>
          </a:p>
        </p:txBody>
      </p:sp>
      <p:sp>
        <p:nvSpPr>
          <p:cNvPr id="2" name="">
            <a:extLst xmlns:a="http://schemas.openxmlformats.org/drawingml/2006/main">
              <a:ext uri="{FF2B5EF4-FFF2-40B4-BE49-F238E27FC236}">
                <a16:creationId xmlns:a16="http://schemas.microsoft.com/office/drawing/2014/main" id="{E6996936-63BD-4C8E-9F2B-BEB7AA5547E5}"/>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예상 출력 · 두 기록</a:t>
            </a:r>
          </a:p>
        </p:txBody>
      </p:sp>
      <p:sp>
        <p:nvSpPr>
          <p:cNvPr id="3" name="">
            <a:extLst xmlns:a="http://schemas.openxmlformats.org/drawingml/2006/main">
              <a:ext uri="{FF2B5EF4-FFF2-40B4-BE49-F238E27FC236}">
                <a16:creationId xmlns:a16="http://schemas.microsoft.com/office/drawing/2014/main" id="{30E70219-4183-41B5-AD7F-27E08AACA6AA}"/>
              </a:ext>
            </a:extLst>
          </p:cNvPr>
          <p:cNvSpPr>
            <a:spLocks xmlns:a="http://schemas.openxmlformats.org/drawingml/2006/main" noGrp="1"/>
          </p:cNvSpPr>
          <p:nvPr/>
        </p:nvSpPr>
        <p:spPr>
          <a:xfrm xmlns:a="http://schemas.openxmlformats.org/drawingml/2006/main">
            <a:off x="609600" y="2714625"/>
            <a:ext cx="10972800" cy="1714500"/>
          </a:xfrm>
          <a:prstGeom xmlns:a="http://schemas.openxmlformats.org/drawingml/2006/main" prst="rect">
            <a:avLst/>
          </a:prstGeom>
          <a:solidFill xmlns:a="http://schemas.openxmlformats.org/drawingml/2006/main">
            <a:srgbClr val="0A0A0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BE24CC2-F0E6-48BB-9B45-AE0E84AC8D4E}"/>
              </a:ext>
            </a:extLst>
          </p:cNvPr>
          <p:cNvSpPr>
            <a:spLocks xmlns:a="http://schemas.openxmlformats.org/drawingml/2006/main" noGrp="1"/>
          </p:cNvSpPr>
          <p:nvPr/>
        </p:nvSpPr>
        <p:spPr>
          <a:xfrm xmlns:a="http://schemas.openxmlformats.org/drawingml/2006/main">
            <a:off x="790575" y="29051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01</a:t>
            </a:r>
          </a:p>
        </p:txBody>
      </p:sp>
      <p:sp>
        <p:nvSpPr>
          <p:cNvPr id="5" name="">
            <a:extLst xmlns:a="http://schemas.openxmlformats.org/drawingml/2006/main">
              <a:ext uri="{FF2B5EF4-FFF2-40B4-BE49-F238E27FC236}">
                <a16:creationId xmlns:a16="http://schemas.microsoft.com/office/drawing/2014/main" id="{CCA4420B-4D97-49C6-A6F9-3B5A5019E3ED}"/>
              </a:ext>
            </a:extLst>
          </p:cNvPr>
          <p:cNvSpPr>
            <a:spLocks xmlns:a="http://schemas.openxmlformats.org/drawingml/2006/main" noGrp="1"/>
          </p:cNvSpPr>
          <p:nvPr/>
        </p:nvSpPr>
        <p:spPr>
          <a:xfrm xmlns:a="http://schemas.openxmlformats.org/drawingml/2006/main">
            <a:off x="1390650" y="28670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S01 22.5</a:t>
            </a:r>
          </a:p>
        </p:txBody>
      </p:sp>
      <p:sp>
        <p:nvSpPr>
          <p:cNvPr id="6" name="">
            <a:extLst xmlns:a="http://schemas.openxmlformats.org/drawingml/2006/main">
              <a:ext uri="{FF2B5EF4-FFF2-40B4-BE49-F238E27FC236}">
                <a16:creationId xmlns:a16="http://schemas.microsoft.com/office/drawing/2014/main" id="{FF56D95D-F38B-4819-BE37-99A52065FE35}"/>
              </a:ext>
            </a:extLst>
          </p:cNvPr>
          <p:cNvSpPr>
            <a:spLocks xmlns:a="http://schemas.openxmlformats.org/drawingml/2006/main" noGrp="1"/>
          </p:cNvSpPr>
          <p:nvPr/>
        </p:nvSpPr>
        <p:spPr>
          <a:xfrm xmlns:a="http://schemas.openxmlformats.org/drawingml/2006/main">
            <a:off x="790575" y="32480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02</a:t>
            </a:r>
          </a:p>
        </p:txBody>
      </p:sp>
      <p:sp>
        <p:nvSpPr>
          <p:cNvPr id="7" name="">
            <a:extLst xmlns:a="http://schemas.openxmlformats.org/drawingml/2006/main">
              <a:ext uri="{FF2B5EF4-FFF2-40B4-BE49-F238E27FC236}">
                <a16:creationId xmlns:a16="http://schemas.microsoft.com/office/drawing/2014/main" id="{2C0E92FE-8F25-4719-A708-A993574DA71B}"/>
              </a:ext>
            </a:extLst>
          </p:cNvPr>
          <p:cNvSpPr>
            <a:spLocks xmlns:a="http://schemas.openxmlformats.org/drawingml/2006/main" noGrp="1"/>
          </p:cNvSpPr>
          <p:nvPr/>
        </p:nvSpPr>
        <p:spPr>
          <a:xfrm xmlns:a="http://schemas.openxmlformats.org/drawingml/2006/main">
            <a:off x="1390650" y="32099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S02 24.0</a:t>
            </a:r>
          </a:p>
        </p:txBody>
      </p:sp>
      <p:sp>
        <p:nvSpPr>
          <p:cNvPr id="8" name="">
            <a:extLst xmlns:a="http://schemas.openxmlformats.org/drawingml/2006/main">
              <a:ext uri="{FF2B5EF4-FFF2-40B4-BE49-F238E27FC236}">
                <a16:creationId xmlns:a16="http://schemas.microsoft.com/office/drawing/2014/main" id="{8475D731-D5AC-4F4E-8E00-488A5E76C4D8}"/>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E612A64-A71F-459D-A955-E065B339CC37}"/>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0" name="">
            <a:extLst xmlns:a="http://schemas.openxmlformats.org/drawingml/2006/main">
              <a:ext uri="{FF2B5EF4-FFF2-40B4-BE49-F238E27FC236}">
                <a16:creationId xmlns:a16="http://schemas.microsoft.com/office/drawing/2014/main" id="{D8DACB66-9EE1-4E46-BFFA-E157B8EAF636}"/>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086</a:t>
            </a:r>
          </a:p>
        </p:txBody>
      </p:sp>
    </p:spTree>
    <p:extLst>
      <p:ext uri="{BB962C8B-B14F-4D97-AF65-F5344CB8AC3E}">
        <p14:creationId xmlns:p14="http://schemas.microsoft.com/office/powerpoint/2010/main" val="234749562"/>
      </p:ext>
    </p:extLst>
  </p:cSld>
</p:sld>
</file>

<file path=ppt/slides/slide87.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9F0DB11-5BCF-4425-ADBB-935F4FE4BA59}"/>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6교시</a:t>
            </a:r>
          </a:p>
        </p:txBody>
      </p:sp>
      <p:sp>
        <p:nvSpPr>
          <p:cNvPr id="2" name="">
            <a:extLst xmlns:a="http://schemas.openxmlformats.org/drawingml/2006/main">
              <a:ext uri="{FF2B5EF4-FFF2-40B4-BE49-F238E27FC236}">
                <a16:creationId xmlns:a16="http://schemas.microsoft.com/office/drawing/2014/main" id="{98CE804D-F0B5-4309-AEC6-E21F2A11A814}"/>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온도 상태표의 세 갈래</a:t>
            </a:r>
          </a:p>
        </p:txBody>
      </p:sp>
      <p:sp>
        <p:nvSpPr>
          <p:cNvPr id="3" name="">
            <a:extLst xmlns:a="http://schemas.openxmlformats.org/drawingml/2006/main">
              <a:ext uri="{FF2B5EF4-FFF2-40B4-BE49-F238E27FC236}">
                <a16:creationId xmlns:a16="http://schemas.microsoft.com/office/drawing/2014/main" id="{87D517F2-F7E4-4F74-A11B-90A2E2DB1FAE}"/>
              </a:ext>
            </a:extLst>
          </p:cNvPr>
          <p:cNvSpPr>
            <a:spLocks xmlns:a="http://schemas.openxmlformats.org/drawingml/2006/main" noGrp="1"/>
          </p:cNvSpPr>
          <p:nvPr/>
        </p:nvSpPr>
        <p:spPr>
          <a:xfrm xmlns:a="http://schemas.openxmlformats.org/drawingml/2006/main">
            <a:off x="609600" y="241935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01</a:t>
            </a:r>
          </a:p>
        </p:txBody>
      </p:sp>
      <p:sp>
        <p:nvSpPr>
          <p:cNvPr id="4" name="">
            <a:extLst xmlns:a="http://schemas.openxmlformats.org/drawingml/2006/main">
              <a:ext uri="{FF2B5EF4-FFF2-40B4-BE49-F238E27FC236}">
                <a16:creationId xmlns:a16="http://schemas.microsoft.com/office/drawing/2014/main" id="{269A85DE-AA7D-448A-938A-5C10DDE5FA72}"/>
              </a:ext>
            </a:extLst>
          </p:cNvPr>
          <p:cNvSpPr>
            <a:spLocks xmlns:a="http://schemas.openxmlformats.org/drawingml/2006/main" noGrp="1"/>
          </p:cNvSpPr>
          <p:nvPr/>
        </p:nvSpPr>
        <p:spPr>
          <a:xfrm xmlns:a="http://schemas.openxmlformats.org/drawingml/2006/main">
            <a:off x="1657350" y="248602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None이면 미측정</a:t>
            </a:r>
            <a:r>
              <a:t>입니다.</a:t>
            </a:r>
          </a:p>
        </p:txBody>
      </p:sp>
      <p:sp>
        <p:nvSpPr>
          <p:cNvPr id="5" name="">
            <a:extLst xmlns:a="http://schemas.openxmlformats.org/drawingml/2006/main">
              <a:ext uri="{FF2B5EF4-FFF2-40B4-BE49-F238E27FC236}">
                <a16:creationId xmlns:a16="http://schemas.microsoft.com/office/drawing/2014/main" id="{23F687EC-9BEB-48F6-9A20-A9E30CBC4586}"/>
              </a:ext>
            </a:extLst>
          </p:cNvPr>
          <p:cNvSpPr>
            <a:spLocks xmlns:a="http://schemas.openxmlformats.org/drawingml/2006/main" noGrp="1"/>
          </p:cNvSpPr>
          <p:nvPr/>
        </p:nvSpPr>
        <p:spPr>
          <a:xfrm xmlns:a="http://schemas.openxmlformats.org/drawingml/2006/main">
            <a:off x="1657350" y="3419475"/>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03A3F97-395F-42EB-8AC9-0E8E21A73029}"/>
              </a:ext>
            </a:extLst>
          </p:cNvPr>
          <p:cNvSpPr>
            <a:spLocks xmlns:a="http://schemas.openxmlformats.org/drawingml/2006/main" noGrp="1"/>
          </p:cNvSpPr>
          <p:nvPr/>
        </p:nvSpPr>
        <p:spPr>
          <a:xfrm xmlns:a="http://schemas.openxmlformats.org/drawingml/2006/main">
            <a:off x="609600" y="3514725"/>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02</a:t>
            </a:r>
          </a:p>
        </p:txBody>
      </p:sp>
      <p:sp>
        <p:nvSpPr>
          <p:cNvPr id="7" name="">
            <a:extLst xmlns:a="http://schemas.openxmlformats.org/drawingml/2006/main">
              <a:ext uri="{FF2B5EF4-FFF2-40B4-BE49-F238E27FC236}">
                <a16:creationId xmlns:a16="http://schemas.microsoft.com/office/drawing/2014/main" id="{E0B60585-79DE-4CBB-9132-DE41A1FCE698}"/>
              </a:ext>
            </a:extLst>
          </p:cNvPr>
          <p:cNvSpPr>
            <a:spLocks xmlns:a="http://schemas.openxmlformats.org/drawingml/2006/main" noGrp="1"/>
          </p:cNvSpPr>
          <p:nvPr/>
        </p:nvSpPr>
        <p:spPr>
          <a:xfrm xmlns:a="http://schemas.openxmlformats.org/drawingml/2006/main">
            <a:off x="1657350" y="358140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24.0 초과이면 확인입니다.</a:t>
            </a:r>
          </a:p>
        </p:txBody>
      </p:sp>
      <p:sp>
        <p:nvSpPr>
          <p:cNvPr id="8" name="">
            <a:extLst xmlns:a="http://schemas.openxmlformats.org/drawingml/2006/main">
              <a:ext uri="{FF2B5EF4-FFF2-40B4-BE49-F238E27FC236}">
                <a16:creationId xmlns:a16="http://schemas.microsoft.com/office/drawing/2014/main" id="{D49365D1-1512-46C5-BC20-6836F5EDE7A1}"/>
              </a:ext>
            </a:extLst>
          </p:cNvPr>
          <p:cNvSpPr>
            <a:spLocks xmlns:a="http://schemas.openxmlformats.org/drawingml/2006/main" noGrp="1"/>
          </p:cNvSpPr>
          <p:nvPr/>
        </p:nvSpPr>
        <p:spPr>
          <a:xfrm xmlns:a="http://schemas.openxmlformats.org/drawingml/2006/main">
            <a:off x="1657350" y="4514850"/>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06D5A3E-5A47-4CD3-B059-5196E847836E}"/>
              </a:ext>
            </a:extLst>
          </p:cNvPr>
          <p:cNvSpPr>
            <a:spLocks xmlns:a="http://schemas.openxmlformats.org/drawingml/2006/main" noGrp="1"/>
          </p:cNvSpPr>
          <p:nvPr/>
        </p:nvSpPr>
        <p:spPr>
          <a:xfrm xmlns:a="http://schemas.openxmlformats.org/drawingml/2006/main">
            <a:off x="609600" y="461010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03</a:t>
            </a:r>
          </a:p>
        </p:txBody>
      </p:sp>
      <p:sp>
        <p:nvSpPr>
          <p:cNvPr id="10" name="">
            <a:extLst xmlns:a="http://schemas.openxmlformats.org/drawingml/2006/main">
              <a:ext uri="{FF2B5EF4-FFF2-40B4-BE49-F238E27FC236}">
                <a16:creationId xmlns:a16="http://schemas.microsoft.com/office/drawing/2014/main" id="{0024F068-DF7D-4A10-87CA-C04451E202BC}"/>
              </a:ext>
            </a:extLst>
          </p:cNvPr>
          <p:cNvSpPr>
            <a:spLocks xmlns:a="http://schemas.openxmlformats.org/drawingml/2006/main" noGrp="1"/>
          </p:cNvSpPr>
          <p:nvPr/>
        </p:nvSpPr>
        <p:spPr>
          <a:xfrm xmlns:a="http://schemas.openxmlformats.org/drawingml/2006/main">
            <a:off x="1657350" y="467677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그 외 숫자는 정상입니다.</a:t>
            </a:r>
          </a:p>
        </p:txBody>
      </p:sp>
      <p:sp>
        <p:nvSpPr>
          <p:cNvPr id="11" name="">
            <a:extLst xmlns:a="http://schemas.openxmlformats.org/drawingml/2006/main">
              <a:ext uri="{FF2B5EF4-FFF2-40B4-BE49-F238E27FC236}">
                <a16:creationId xmlns:a16="http://schemas.microsoft.com/office/drawing/2014/main" id="{6CA60370-B527-4816-B3EC-4A17985A3F51}"/>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C95BA68-435D-4C0B-BE56-1A00BD7CF8BE}"/>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3" name="">
            <a:extLst xmlns:a="http://schemas.openxmlformats.org/drawingml/2006/main">
              <a:ext uri="{FF2B5EF4-FFF2-40B4-BE49-F238E27FC236}">
                <a16:creationId xmlns:a16="http://schemas.microsoft.com/office/drawing/2014/main" id="{CA1B87FC-226A-43B1-AD11-4CB3C44D510E}"/>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087</a:t>
            </a:r>
          </a:p>
        </p:txBody>
      </p:sp>
    </p:spTree>
    <p:extLst>
      <p:ext uri="{BB962C8B-B14F-4D97-AF65-F5344CB8AC3E}">
        <p14:creationId xmlns:p14="http://schemas.microsoft.com/office/powerpoint/2010/main" val="1032265203"/>
      </p:ext>
    </p:extLst>
  </p:cSld>
</p:sld>
</file>

<file path=ppt/slides/slide88.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4BBF2F7-71AD-40E4-BFAF-D024A5ABEED9}"/>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6교시</a:t>
            </a:r>
          </a:p>
        </p:txBody>
      </p:sp>
      <p:sp>
        <p:nvSpPr>
          <p:cNvPr id="2" name="">
            <a:extLst xmlns:a="http://schemas.openxmlformats.org/drawingml/2006/main">
              <a:ext uri="{FF2B5EF4-FFF2-40B4-BE49-F238E27FC236}">
                <a16:creationId xmlns:a16="http://schemas.microsoft.com/office/drawing/2014/main" id="{5C091AE2-D96A-4573-8077-D97E24B891EB}"/>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완성 예 · 기록 하나의 상태</a:t>
            </a:r>
          </a:p>
        </p:txBody>
      </p:sp>
      <p:sp>
        <p:nvSpPr>
          <p:cNvPr id="3" name="">
            <a:extLst xmlns:a="http://schemas.openxmlformats.org/drawingml/2006/main">
              <a:ext uri="{FF2B5EF4-FFF2-40B4-BE49-F238E27FC236}">
                <a16:creationId xmlns:a16="http://schemas.microsoft.com/office/drawing/2014/main" id="{F9A50D0D-8249-4006-BF0C-70A548AA2DE6}"/>
              </a:ext>
            </a:extLst>
          </p:cNvPr>
          <p:cNvSpPr>
            <a:spLocks xmlns:a="http://schemas.openxmlformats.org/drawingml/2006/main" noGrp="1"/>
          </p:cNvSpPr>
          <p:nvPr/>
        </p:nvSpPr>
        <p:spPr>
          <a:xfrm xmlns:a="http://schemas.openxmlformats.org/drawingml/2006/main">
            <a:off x="609600" y="2714625"/>
            <a:ext cx="10972800" cy="3162300"/>
          </a:xfrm>
          <a:prstGeom xmlns:a="http://schemas.openxmlformats.org/drawingml/2006/main" prst="rect">
            <a:avLst/>
          </a:prstGeom>
          <a:solidFill xmlns:a="http://schemas.openxmlformats.org/drawingml/2006/main">
            <a:srgbClr val="0A0A0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B4FB571-EC55-44CD-A744-CB76607AA5C1}"/>
              </a:ext>
            </a:extLst>
          </p:cNvPr>
          <p:cNvSpPr>
            <a:spLocks xmlns:a="http://schemas.openxmlformats.org/drawingml/2006/main" noGrp="1"/>
          </p:cNvSpPr>
          <p:nvPr/>
        </p:nvSpPr>
        <p:spPr>
          <a:xfrm xmlns:a="http://schemas.openxmlformats.org/drawingml/2006/main">
            <a:off x="790575" y="29051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01</a:t>
            </a:r>
          </a:p>
        </p:txBody>
      </p:sp>
      <p:sp>
        <p:nvSpPr>
          <p:cNvPr id="5" name="">
            <a:extLst xmlns:a="http://schemas.openxmlformats.org/drawingml/2006/main">
              <a:ext uri="{FF2B5EF4-FFF2-40B4-BE49-F238E27FC236}">
                <a16:creationId xmlns:a16="http://schemas.microsoft.com/office/drawing/2014/main" id="{1D3D7321-635B-4F90-B484-0ED58A8EBE9B}"/>
              </a:ext>
            </a:extLst>
          </p:cNvPr>
          <p:cNvSpPr>
            <a:spLocks xmlns:a="http://schemas.openxmlformats.org/drawingml/2006/main" noGrp="1"/>
          </p:cNvSpPr>
          <p:nvPr/>
        </p:nvSpPr>
        <p:spPr>
          <a:xfrm xmlns:a="http://schemas.openxmlformats.org/drawingml/2006/main">
            <a:off x="1390650" y="28670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value = </a:t>
            </a:r>
            <a:r>
              <a:rPr b="1">
                <a:solidFill>
                  <a:srgbClr val="FFFFFF"/>
                </a:solidFill>
              </a:rPr>
              <a:t>None</a:t>
            </a:r>
          </a:p>
        </p:txBody>
      </p:sp>
      <p:sp>
        <p:nvSpPr>
          <p:cNvPr id="6" name="">
            <a:extLst xmlns:a="http://schemas.openxmlformats.org/drawingml/2006/main">
              <a:ext uri="{FF2B5EF4-FFF2-40B4-BE49-F238E27FC236}">
                <a16:creationId xmlns:a16="http://schemas.microsoft.com/office/drawing/2014/main" id="{DFF93E3F-5566-485C-97D0-BA7F67D4019B}"/>
              </a:ext>
            </a:extLst>
          </p:cNvPr>
          <p:cNvSpPr>
            <a:spLocks xmlns:a="http://schemas.openxmlformats.org/drawingml/2006/main" noGrp="1"/>
          </p:cNvSpPr>
          <p:nvPr/>
        </p:nvSpPr>
        <p:spPr>
          <a:xfrm xmlns:a="http://schemas.openxmlformats.org/drawingml/2006/main">
            <a:off x="790575" y="32480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02</a:t>
            </a:r>
          </a:p>
        </p:txBody>
      </p:sp>
      <p:sp>
        <p:nvSpPr>
          <p:cNvPr id="7" name="">
            <a:extLst xmlns:a="http://schemas.openxmlformats.org/drawingml/2006/main">
              <a:ext uri="{FF2B5EF4-FFF2-40B4-BE49-F238E27FC236}">
                <a16:creationId xmlns:a16="http://schemas.microsoft.com/office/drawing/2014/main" id="{940AD64C-1ED2-43CD-B58F-E8D72178EDCE}"/>
              </a:ext>
            </a:extLst>
          </p:cNvPr>
          <p:cNvSpPr>
            <a:spLocks xmlns:a="http://schemas.openxmlformats.org/drawingml/2006/main" noGrp="1"/>
          </p:cNvSpPr>
          <p:nvPr/>
        </p:nvSpPr>
        <p:spPr>
          <a:xfrm xmlns:a="http://schemas.openxmlformats.org/drawingml/2006/main">
            <a:off x="1390650" y="32099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b="1">
                <a:solidFill>
                  <a:srgbClr val="FFFFFF"/>
                </a:solidFill>
              </a:rPr>
              <a:t>if</a:t>
            </a:r>
            <a:r>
              <a:rPr>
                <a:solidFill>
                  <a:srgbClr val="FFFFFF"/>
                </a:solidFill>
              </a:rPr>
              <a:t> value is </a:t>
            </a:r>
            <a:r>
              <a:rPr b="1">
                <a:solidFill>
                  <a:srgbClr val="FFFFFF"/>
                </a:solidFill>
              </a:rPr>
              <a:t>None</a:t>
            </a:r>
            <a:r>
              <a:rPr>
                <a:solidFill>
                  <a:srgbClr val="FFFFFF"/>
                </a:solidFill>
              </a:rPr>
              <a:t>:</a:t>
            </a:r>
          </a:p>
        </p:txBody>
      </p:sp>
      <p:sp>
        <p:nvSpPr>
          <p:cNvPr id="8" name="">
            <a:extLst xmlns:a="http://schemas.openxmlformats.org/drawingml/2006/main">
              <a:ext uri="{FF2B5EF4-FFF2-40B4-BE49-F238E27FC236}">
                <a16:creationId xmlns:a16="http://schemas.microsoft.com/office/drawing/2014/main" id="{F3C1469D-3621-48DB-828C-6ACC211338B7}"/>
              </a:ext>
            </a:extLst>
          </p:cNvPr>
          <p:cNvSpPr>
            <a:spLocks xmlns:a="http://schemas.openxmlformats.org/drawingml/2006/main" noGrp="1"/>
          </p:cNvSpPr>
          <p:nvPr/>
        </p:nvSpPr>
        <p:spPr>
          <a:xfrm xmlns:a="http://schemas.openxmlformats.org/drawingml/2006/main">
            <a:off x="790575" y="35909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03</a:t>
            </a:r>
          </a:p>
        </p:txBody>
      </p:sp>
      <p:sp>
        <p:nvSpPr>
          <p:cNvPr id="9" name="">
            <a:extLst xmlns:a="http://schemas.openxmlformats.org/drawingml/2006/main">
              <a:ext uri="{FF2B5EF4-FFF2-40B4-BE49-F238E27FC236}">
                <a16:creationId xmlns:a16="http://schemas.microsoft.com/office/drawing/2014/main" id="{5F40AC9E-A630-47E4-A360-0ED92824F64A}"/>
              </a:ext>
            </a:extLst>
          </p:cNvPr>
          <p:cNvSpPr>
            <a:spLocks xmlns:a="http://schemas.openxmlformats.org/drawingml/2006/main" noGrp="1"/>
          </p:cNvSpPr>
          <p:nvPr/>
        </p:nvSpPr>
        <p:spPr>
          <a:xfrm xmlns:a="http://schemas.openxmlformats.org/drawingml/2006/main">
            <a:off x="1390650" y="35528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    status = </a:t>
            </a:r>
            <a:r>
              <a:rPr>
                <a:solidFill>
                  <a:srgbClr val="BACBFA"/>
                </a:solidFill>
              </a:rPr>
              <a:t>"미측정"</a:t>
            </a:r>
          </a:p>
        </p:txBody>
      </p:sp>
      <p:sp>
        <p:nvSpPr>
          <p:cNvPr id="10" name="">
            <a:extLst xmlns:a="http://schemas.openxmlformats.org/drawingml/2006/main">
              <a:ext uri="{FF2B5EF4-FFF2-40B4-BE49-F238E27FC236}">
                <a16:creationId xmlns:a16="http://schemas.microsoft.com/office/drawing/2014/main" id="{0433D5B9-E4B8-46B7-A9A3-1C3659336DDD}"/>
              </a:ext>
            </a:extLst>
          </p:cNvPr>
          <p:cNvSpPr>
            <a:spLocks xmlns:a="http://schemas.openxmlformats.org/drawingml/2006/main" noGrp="1"/>
          </p:cNvSpPr>
          <p:nvPr/>
        </p:nvSpPr>
        <p:spPr>
          <a:xfrm xmlns:a="http://schemas.openxmlformats.org/drawingml/2006/main">
            <a:off x="790575" y="39338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04</a:t>
            </a:r>
          </a:p>
        </p:txBody>
      </p:sp>
      <p:sp>
        <p:nvSpPr>
          <p:cNvPr id="11" name="">
            <a:extLst xmlns:a="http://schemas.openxmlformats.org/drawingml/2006/main">
              <a:ext uri="{FF2B5EF4-FFF2-40B4-BE49-F238E27FC236}">
                <a16:creationId xmlns:a16="http://schemas.microsoft.com/office/drawing/2014/main" id="{2ADB34EC-6178-43B5-B622-1CD2E73A69B2}"/>
              </a:ext>
            </a:extLst>
          </p:cNvPr>
          <p:cNvSpPr>
            <a:spLocks xmlns:a="http://schemas.openxmlformats.org/drawingml/2006/main" noGrp="1"/>
          </p:cNvSpPr>
          <p:nvPr/>
        </p:nvSpPr>
        <p:spPr>
          <a:xfrm xmlns:a="http://schemas.openxmlformats.org/drawingml/2006/main">
            <a:off x="1390650" y="38957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b="1">
                <a:solidFill>
                  <a:srgbClr val="FFFFFF"/>
                </a:solidFill>
              </a:rPr>
              <a:t>elif</a:t>
            </a:r>
            <a:r>
              <a:rPr>
                <a:solidFill>
                  <a:srgbClr val="FFFFFF"/>
                </a:solidFill>
              </a:rPr>
              <a:t> value &gt; 24.0:</a:t>
            </a:r>
          </a:p>
        </p:txBody>
      </p:sp>
      <p:sp>
        <p:nvSpPr>
          <p:cNvPr id="12" name="">
            <a:extLst xmlns:a="http://schemas.openxmlformats.org/drawingml/2006/main">
              <a:ext uri="{FF2B5EF4-FFF2-40B4-BE49-F238E27FC236}">
                <a16:creationId xmlns:a16="http://schemas.microsoft.com/office/drawing/2014/main" id="{04D47929-04DA-47F6-A7BD-7C6B43F7D31D}"/>
              </a:ext>
            </a:extLst>
          </p:cNvPr>
          <p:cNvSpPr>
            <a:spLocks xmlns:a="http://schemas.openxmlformats.org/drawingml/2006/main" noGrp="1"/>
          </p:cNvSpPr>
          <p:nvPr/>
        </p:nvSpPr>
        <p:spPr>
          <a:xfrm xmlns:a="http://schemas.openxmlformats.org/drawingml/2006/main">
            <a:off x="790575" y="42767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05</a:t>
            </a:r>
          </a:p>
        </p:txBody>
      </p:sp>
      <p:sp>
        <p:nvSpPr>
          <p:cNvPr id="13" name="">
            <a:extLst xmlns:a="http://schemas.openxmlformats.org/drawingml/2006/main">
              <a:ext uri="{FF2B5EF4-FFF2-40B4-BE49-F238E27FC236}">
                <a16:creationId xmlns:a16="http://schemas.microsoft.com/office/drawing/2014/main" id="{94056763-70B2-4C58-92EE-FFEFC3A1E253}"/>
              </a:ext>
            </a:extLst>
          </p:cNvPr>
          <p:cNvSpPr>
            <a:spLocks xmlns:a="http://schemas.openxmlformats.org/drawingml/2006/main" noGrp="1"/>
          </p:cNvSpPr>
          <p:nvPr/>
        </p:nvSpPr>
        <p:spPr>
          <a:xfrm xmlns:a="http://schemas.openxmlformats.org/drawingml/2006/main">
            <a:off x="1390650" y="42386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    status = </a:t>
            </a:r>
            <a:r>
              <a:rPr>
                <a:solidFill>
                  <a:srgbClr val="BACBFA"/>
                </a:solidFill>
              </a:rPr>
              <a:t>"확인"</a:t>
            </a:r>
          </a:p>
        </p:txBody>
      </p:sp>
      <p:sp>
        <p:nvSpPr>
          <p:cNvPr id="14" name="">
            <a:extLst xmlns:a="http://schemas.openxmlformats.org/drawingml/2006/main">
              <a:ext uri="{FF2B5EF4-FFF2-40B4-BE49-F238E27FC236}">
                <a16:creationId xmlns:a16="http://schemas.microsoft.com/office/drawing/2014/main" id="{5D1157CB-400F-4ABE-81F2-BD3CFD06164E}"/>
              </a:ext>
            </a:extLst>
          </p:cNvPr>
          <p:cNvSpPr>
            <a:spLocks xmlns:a="http://schemas.openxmlformats.org/drawingml/2006/main" noGrp="1"/>
          </p:cNvSpPr>
          <p:nvPr/>
        </p:nvSpPr>
        <p:spPr>
          <a:xfrm xmlns:a="http://schemas.openxmlformats.org/drawingml/2006/main">
            <a:off x="790575" y="46196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06</a:t>
            </a:r>
          </a:p>
        </p:txBody>
      </p:sp>
      <p:sp>
        <p:nvSpPr>
          <p:cNvPr id="15" name="">
            <a:extLst xmlns:a="http://schemas.openxmlformats.org/drawingml/2006/main">
              <a:ext uri="{FF2B5EF4-FFF2-40B4-BE49-F238E27FC236}">
                <a16:creationId xmlns:a16="http://schemas.microsoft.com/office/drawing/2014/main" id="{619AEEF1-9267-480E-992F-F000E568C0BD}"/>
              </a:ext>
            </a:extLst>
          </p:cNvPr>
          <p:cNvSpPr>
            <a:spLocks xmlns:a="http://schemas.openxmlformats.org/drawingml/2006/main" noGrp="1"/>
          </p:cNvSpPr>
          <p:nvPr/>
        </p:nvSpPr>
        <p:spPr>
          <a:xfrm xmlns:a="http://schemas.openxmlformats.org/drawingml/2006/main">
            <a:off x="1390650" y="45815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b="1">
                <a:solidFill>
                  <a:srgbClr val="FFFFFF"/>
                </a:solidFill>
              </a:rPr>
              <a:t>else</a:t>
            </a:r>
            <a:r>
              <a:rPr>
                <a:solidFill>
                  <a:srgbClr val="FFFFFF"/>
                </a:solidFill>
              </a:rPr>
              <a:t>:</a:t>
            </a:r>
          </a:p>
        </p:txBody>
      </p:sp>
      <p:sp>
        <p:nvSpPr>
          <p:cNvPr id="16" name="">
            <a:extLst xmlns:a="http://schemas.openxmlformats.org/drawingml/2006/main">
              <a:ext uri="{FF2B5EF4-FFF2-40B4-BE49-F238E27FC236}">
                <a16:creationId xmlns:a16="http://schemas.microsoft.com/office/drawing/2014/main" id="{4492D494-DC55-45F9-957D-EDF7E658B026}"/>
              </a:ext>
            </a:extLst>
          </p:cNvPr>
          <p:cNvSpPr>
            <a:spLocks xmlns:a="http://schemas.openxmlformats.org/drawingml/2006/main" noGrp="1"/>
          </p:cNvSpPr>
          <p:nvPr/>
        </p:nvSpPr>
        <p:spPr>
          <a:xfrm xmlns:a="http://schemas.openxmlformats.org/drawingml/2006/main">
            <a:off x="790575" y="49625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07</a:t>
            </a:r>
          </a:p>
        </p:txBody>
      </p:sp>
      <p:sp>
        <p:nvSpPr>
          <p:cNvPr id="17" name="">
            <a:extLst xmlns:a="http://schemas.openxmlformats.org/drawingml/2006/main">
              <a:ext uri="{FF2B5EF4-FFF2-40B4-BE49-F238E27FC236}">
                <a16:creationId xmlns:a16="http://schemas.microsoft.com/office/drawing/2014/main" id="{1BF37B4F-DE0A-43D4-B12E-0C4841A2C654}"/>
              </a:ext>
            </a:extLst>
          </p:cNvPr>
          <p:cNvSpPr>
            <a:spLocks xmlns:a="http://schemas.openxmlformats.org/drawingml/2006/main" noGrp="1"/>
          </p:cNvSpPr>
          <p:nvPr/>
        </p:nvSpPr>
        <p:spPr>
          <a:xfrm xmlns:a="http://schemas.openxmlformats.org/drawingml/2006/main">
            <a:off x="1390650" y="49244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    status = </a:t>
            </a:r>
            <a:r>
              <a:rPr>
                <a:solidFill>
                  <a:srgbClr val="BACBFA"/>
                </a:solidFill>
              </a:rPr>
              <a:t>"정상"</a:t>
            </a:r>
          </a:p>
        </p:txBody>
      </p:sp>
      <p:sp>
        <p:nvSpPr>
          <p:cNvPr id="18" name="">
            <a:extLst xmlns:a="http://schemas.openxmlformats.org/drawingml/2006/main">
              <a:ext uri="{FF2B5EF4-FFF2-40B4-BE49-F238E27FC236}">
                <a16:creationId xmlns:a16="http://schemas.microsoft.com/office/drawing/2014/main" id="{E4B06821-44C2-4B09-95A3-11AA041D8DBF}"/>
              </a:ext>
            </a:extLst>
          </p:cNvPr>
          <p:cNvSpPr>
            <a:spLocks xmlns:a="http://schemas.openxmlformats.org/drawingml/2006/main" noGrp="1"/>
          </p:cNvSpPr>
          <p:nvPr/>
        </p:nvSpPr>
        <p:spPr>
          <a:xfrm xmlns:a="http://schemas.openxmlformats.org/drawingml/2006/main">
            <a:off x="790575" y="53054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08</a:t>
            </a:r>
          </a:p>
        </p:txBody>
      </p:sp>
      <p:sp>
        <p:nvSpPr>
          <p:cNvPr id="19" name="">
            <a:extLst xmlns:a="http://schemas.openxmlformats.org/drawingml/2006/main">
              <a:ext uri="{FF2B5EF4-FFF2-40B4-BE49-F238E27FC236}">
                <a16:creationId xmlns:a16="http://schemas.microsoft.com/office/drawing/2014/main" id="{3F5CD8F5-4FF2-4BCA-B2F7-33E8C85C7B77}"/>
              </a:ext>
            </a:extLst>
          </p:cNvPr>
          <p:cNvSpPr>
            <a:spLocks xmlns:a="http://schemas.openxmlformats.org/drawingml/2006/main" noGrp="1"/>
          </p:cNvSpPr>
          <p:nvPr/>
        </p:nvSpPr>
        <p:spPr>
          <a:xfrm xmlns:a="http://schemas.openxmlformats.org/drawingml/2006/main">
            <a:off x="1390650" y="52673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print(status)</a:t>
            </a:r>
          </a:p>
        </p:txBody>
      </p:sp>
      <p:sp>
        <p:nvSpPr>
          <p:cNvPr id="20" name="">
            <a:extLst xmlns:a="http://schemas.openxmlformats.org/drawingml/2006/main">
              <a:ext uri="{FF2B5EF4-FFF2-40B4-BE49-F238E27FC236}">
                <a16:creationId xmlns:a16="http://schemas.microsoft.com/office/drawing/2014/main" id="{DAE23C7C-697C-4CA8-A397-883E0C903C1C}"/>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9BD617C-2DF1-4355-B2DC-6936775D88FF}"/>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22" name="">
            <a:extLst xmlns:a="http://schemas.openxmlformats.org/drawingml/2006/main">
              <a:ext uri="{FF2B5EF4-FFF2-40B4-BE49-F238E27FC236}">
                <a16:creationId xmlns:a16="http://schemas.microsoft.com/office/drawing/2014/main" id="{F1CC6E80-EA34-4429-B73B-C7441FFE0B3F}"/>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088</a:t>
            </a:r>
          </a:p>
        </p:txBody>
      </p:sp>
    </p:spTree>
    <p:extLst>
      <p:ext uri="{BB962C8B-B14F-4D97-AF65-F5344CB8AC3E}">
        <p14:creationId xmlns:p14="http://schemas.microsoft.com/office/powerpoint/2010/main" val="177528181"/>
      </p:ext>
    </p:extLst>
  </p:cSld>
</p:sld>
</file>

<file path=ppt/slides/slide89.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2E59252-7D8C-4D06-BAEF-848807B4261F}"/>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6교시</a:t>
            </a:r>
          </a:p>
        </p:txBody>
      </p:sp>
      <p:sp>
        <p:nvSpPr>
          <p:cNvPr id="2" name="">
            <a:extLst xmlns:a="http://schemas.openxmlformats.org/drawingml/2006/main">
              <a:ext uri="{FF2B5EF4-FFF2-40B4-BE49-F238E27FC236}">
                <a16:creationId xmlns:a16="http://schemas.microsoft.com/office/drawing/2014/main" id="{F84412C1-37A0-4083-92A0-F5246DC6520C}"/>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제공 점검표의 결과</a:t>
            </a:r>
          </a:p>
        </p:txBody>
      </p:sp>
      <p:graphicFrame>
        <p:nvGraphicFramePr>
          <p:cNvPr id="9" name=""/>
          <p:cNvGraphicFramePr/>
          <p:nvPr/>
        </p:nvGraphicFramePr>
        <p:xfrm>
          <a:off xmlns:a="http://schemas.openxmlformats.org/drawingml/2006/main" x="609600" y="2333625"/>
          <a:ext xmlns:a="http://schemas.openxmlformats.org/drawingml/2006/main" cx="10972800" cy="2933700"/>
        </p:xfrm>
        <a:graphic xmlns:a="http://schemas.openxmlformats.org/drawingml/2006/main">
          <a:graphicData uri="http://schemas.openxmlformats.org/drawingml/2006/table">
            <a:tbl>
              <a:tblPr firstRow="1" bandRow="0"/>
              <a:tblGrid>
                <a:gridCol w="3465095"/>
                <a:gridCol w="4042611"/>
                <a:gridCol w="3465095"/>
              </a:tblGrid>
              <a:tr h="733425">
                <a:tc>
                  <a:txBody>
                    <a:bodyPr wrap="square"/>
                    <a:lstStyle/>
                    <a:p>
                      <a:pPr>
                        <a:lnSpc>
                          <a:spcPct val="94000"/>
                        </a:lnSpc>
                        <a:buNone/>
                      </a:pPr>
                      <a:r>
                        <a:rPr sz="2100" b="1">
                          <a:solidFill>
                            <a:srgbClr val="FFFFFF"/>
                          </a:solidFill>
                          <a:latin typeface="Noto Sans KR"/>
                          <a:ea typeface="Noto Sans KR"/>
                          <a:cs typeface="Noto Sans KR"/>
                        </a:rPr>
                        <a:t>장치</a:t>
                      </a:r>
                    </a:p>
                  </a:txBody>
                  <a:tcPr marL="171450" marR="114300" marT="47625" marB="47625" anchor="ctr">
                    <a:solidFill>
                      <a:srgbClr val="002FA7"/>
                    </a:solidFill>
                  </a:tcPr>
                </a:tc>
                <a:tc>
                  <a:txBody>
                    <a:bodyPr wrap="square"/>
                    <a:lstStyle/>
                    <a:p>
                      <a:pPr>
                        <a:lnSpc>
                          <a:spcPct val="94000"/>
                        </a:lnSpc>
                        <a:buNone/>
                      </a:pPr>
                      <a:r>
                        <a:rPr sz="2100" b="1">
                          <a:solidFill>
                            <a:srgbClr val="FFFFFF"/>
                          </a:solidFill>
                          <a:latin typeface="Noto Sans KR"/>
                          <a:ea typeface="Noto Sans KR"/>
                          <a:cs typeface="Noto Sans KR"/>
                        </a:rPr>
                        <a:t>온도</a:t>
                      </a:r>
                    </a:p>
                  </a:txBody>
                  <a:tcPr marL="171450" marR="114300" marT="47625" marB="47625" anchor="ctr">
                    <a:solidFill>
                      <a:srgbClr val="002FA7"/>
                    </a:solidFill>
                  </a:tcPr>
                </a:tc>
                <a:tc>
                  <a:txBody>
                    <a:bodyPr wrap="square"/>
                    <a:lstStyle/>
                    <a:p>
                      <a:pPr>
                        <a:lnSpc>
                          <a:spcPct val="94000"/>
                        </a:lnSpc>
                        <a:buNone/>
                      </a:pPr>
                      <a:r>
                        <a:rPr sz="2100" b="1">
                          <a:solidFill>
                            <a:srgbClr val="FFFFFF"/>
                          </a:solidFill>
                          <a:latin typeface="Noto Sans KR"/>
                          <a:ea typeface="Noto Sans KR"/>
                          <a:cs typeface="Noto Sans KR"/>
                        </a:rPr>
                        <a:t>상태</a:t>
                      </a:r>
                    </a:p>
                  </a:txBody>
                  <a:tcPr marL="171450" marR="114300" marT="47625" marB="47625" anchor="ctr">
                    <a:solidFill>
                      <a:srgbClr val="002FA7"/>
                    </a:solidFill>
                  </a:tcPr>
                </a:tc>
              </a:tr>
              <a:tr h="733425">
                <a:tc>
                  <a:txBody>
                    <a:bodyPr wrap="square"/>
                    <a:lstStyle/>
                    <a:p>
                      <a:pPr>
                        <a:lnSpc>
                          <a:spcPct val="94000"/>
                        </a:lnSpc>
                        <a:buNone/>
                      </a:pPr>
                      <a:r>
                        <a:rPr sz="2100" b="0">
                          <a:solidFill>
                            <a:srgbClr val="0A0A0A"/>
                          </a:solidFill>
                          <a:latin typeface="Noto Sans KR"/>
                          <a:ea typeface="Noto Sans KR"/>
                          <a:cs typeface="Noto Sans KR"/>
                        </a:rPr>
                        <a:t>S01</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22.5</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정상</a:t>
                      </a:r>
                    </a:p>
                  </a:txBody>
                  <a:tcPr marL="171450" marR="114300" marT="47625" marB="47625" anchor="ctr">
                    <a:solidFill>
                      <a:srgbClr val="FAFAF8"/>
                    </a:solidFill>
                  </a:tcPr>
                </a:tc>
              </a:tr>
              <a:tr h="733425">
                <a:tc>
                  <a:txBody>
                    <a:bodyPr wrap="square"/>
                    <a:lstStyle/>
                    <a:p>
                      <a:pPr>
                        <a:lnSpc>
                          <a:spcPct val="94000"/>
                        </a:lnSpc>
                        <a:buNone/>
                      </a:pPr>
                      <a:r>
                        <a:rPr sz="2100" b="0">
                          <a:solidFill>
                            <a:srgbClr val="0A0A0A"/>
                          </a:solidFill>
                          <a:latin typeface="Noto Sans KR"/>
                          <a:ea typeface="Noto Sans KR"/>
                          <a:cs typeface="Noto Sans KR"/>
                        </a:rPr>
                        <a:t>S02</a:t>
                      </a:r>
                    </a:p>
                  </a:txBody>
                  <a:tcPr marL="171450" marR="114300" marT="47625" marB="47625" anchor="ctr">
                    <a:solidFill>
                      <a:srgbClr val="F0F0EB"/>
                    </a:solidFill>
                  </a:tcPr>
                </a:tc>
                <a:tc>
                  <a:txBody>
                    <a:bodyPr wrap="square"/>
                    <a:lstStyle/>
                    <a:p>
                      <a:pPr>
                        <a:lnSpc>
                          <a:spcPct val="94000"/>
                        </a:lnSpc>
                        <a:buNone/>
                      </a:pPr>
                      <a:r>
                        <a:rPr sz="2100" b="0">
                          <a:solidFill>
                            <a:srgbClr val="0A0A0A"/>
                          </a:solidFill>
                          <a:latin typeface="Noto Sans KR"/>
                          <a:ea typeface="Noto Sans KR"/>
                          <a:cs typeface="Noto Sans KR"/>
                        </a:rPr>
                        <a:t>25.0</a:t>
                      </a:r>
                    </a:p>
                  </a:txBody>
                  <a:tcPr marL="171450" marR="114300" marT="47625" marB="47625" anchor="ctr">
                    <a:solidFill>
                      <a:srgbClr val="F0F0EB"/>
                    </a:solidFill>
                  </a:tcPr>
                </a:tc>
                <a:tc>
                  <a:txBody>
                    <a:bodyPr wrap="square"/>
                    <a:lstStyle/>
                    <a:p>
                      <a:pPr>
                        <a:lnSpc>
                          <a:spcPct val="94000"/>
                        </a:lnSpc>
                        <a:buNone/>
                      </a:pPr>
                      <a:r>
                        <a:rPr sz="2100" b="0">
                          <a:solidFill>
                            <a:srgbClr val="0A0A0A"/>
                          </a:solidFill>
                          <a:latin typeface="Noto Sans KR"/>
                          <a:ea typeface="Noto Sans KR"/>
                          <a:cs typeface="Noto Sans KR"/>
                        </a:rPr>
                        <a:t>확인</a:t>
                      </a:r>
                    </a:p>
                  </a:txBody>
                  <a:tcPr marL="171450" marR="114300" marT="47625" marB="47625" anchor="ctr">
                    <a:solidFill>
                      <a:srgbClr val="F0F0EB"/>
                    </a:solidFill>
                  </a:tcPr>
                </a:tc>
              </a:tr>
              <a:tr h="733425">
                <a:tc>
                  <a:txBody>
                    <a:bodyPr wrap="square"/>
                    <a:lstStyle/>
                    <a:p>
                      <a:pPr>
                        <a:lnSpc>
                          <a:spcPct val="94000"/>
                        </a:lnSpc>
                        <a:buNone/>
                      </a:pPr>
                      <a:r>
                        <a:rPr sz="2100" b="0">
                          <a:solidFill>
                            <a:srgbClr val="0A0A0A"/>
                          </a:solidFill>
                          <a:latin typeface="Noto Sans KR"/>
                          <a:ea typeface="Noto Sans KR"/>
                          <a:cs typeface="Noto Sans KR"/>
                        </a:rPr>
                        <a:t>S03</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None</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미측정</a:t>
                      </a:r>
                    </a:p>
                  </a:txBody>
                  <a:tcPr marL="171450" marR="114300" marT="47625" marB="47625" anchor="ctr">
                    <a:solidFill>
                      <a:srgbClr val="FAFAF8"/>
                    </a:solidFill>
                  </a:tcPr>
                </a:tc>
              </a:tr>
            </a:tbl>
          </a:graphicData>
        </a:graphic>
      </p:graphicFrame>
      <p:sp>
        <p:nvSpPr>
          <p:cNvPr id="4" name="">
            <a:extLst xmlns:a="http://schemas.openxmlformats.org/drawingml/2006/main">
              <a:ext uri="{FF2B5EF4-FFF2-40B4-BE49-F238E27FC236}">
                <a16:creationId xmlns:a16="http://schemas.microsoft.com/office/drawing/2014/main" id="{CDD9DF59-A0EE-4765-9670-641419D447DE}"/>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FF7564D-FBD8-4E62-9FBE-7C8776D8D86A}"/>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6" name="">
            <a:extLst xmlns:a="http://schemas.openxmlformats.org/drawingml/2006/main">
              <a:ext uri="{FF2B5EF4-FFF2-40B4-BE49-F238E27FC236}">
                <a16:creationId xmlns:a16="http://schemas.microsoft.com/office/drawing/2014/main" id="{BBDAF6CF-9242-4C02-9938-4C277A3A726E}"/>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089</a:t>
            </a:r>
          </a:p>
        </p:txBody>
      </p:sp>
    </p:spTree>
    <p:extLst>
      <p:ext uri="{BB962C8B-B14F-4D97-AF65-F5344CB8AC3E}">
        <p14:creationId xmlns:p14="http://schemas.microsoft.com/office/powerpoint/2010/main" val="81004135"/>
      </p:ext>
    </p:extLst>
  </p:cSld>
</p:sld>
</file>

<file path=ppt/slides/slide90.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87C5DC9-6898-4682-BE23-B9324A12C8BD}"/>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6교시</a:t>
            </a:r>
          </a:p>
        </p:txBody>
      </p:sp>
      <p:sp>
        <p:nvSpPr>
          <p:cNvPr id="2" name="">
            <a:extLst xmlns:a="http://schemas.openxmlformats.org/drawingml/2006/main">
              <a:ext uri="{FF2B5EF4-FFF2-40B4-BE49-F238E27FC236}">
                <a16:creationId xmlns:a16="http://schemas.microsoft.com/office/drawing/2014/main" id="{298BE9E4-B517-4537-8622-605A8975E153}"/>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새 입력을 검수하기</a:t>
            </a:r>
          </a:p>
        </p:txBody>
      </p:sp>
      <p:sp>
        <p:nvSpPr>
          <p:cNvPr id="3" name="">
            <a:extLst xmlns:a="http://schemas.openxmlformats.org/drawingml/2006/main">
              <a:ext uri="{FF2B5EF4-FFF2-40B4-BE49-F238E27FC236}">
                <a16:creationId xmlns:a16="http://schemas.microsoft.com/office/drawing/2014/main" id="{6F283585-7EDD-454F-9F36-4FA4C1B87959}"/>
              </a:ext>
            </a:extLst>
          </p:cNvPr>
          <p:cNvSpPr>
            <a:spLocks xmlns:a="http://schemas.openxmlformats.org/drawingml/2006/main" noGrp="1"/>
          </p:cNvSpPr>
          <p:nvPr/>
        </p:nvSpPr>
        <p:spPr>
          <a:xfrm xmlns:a="http://schemas.openxmlformats.org/drawingml/2006/main">
            <a:off x="6086475" y="2514600"/>
            <a:ext cx="9525" cy="189547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7B44050-1BC5-4869-9A7B-A1CB0B8AD157}"/>
              </a:ext>
            </a:extLst>
          </p:cNvPr>
          <p:cNvSpPr>
            <a:spLocks xmlns:a="http://schemas.openxmlformats.org/drawingml/2006/main" noGrp="1"/>
          </p:cNvSpPr>
          <p:nvPr/>
        </p:nvSpPr>
        <p:spPr>
          <a:xfrm xmlns:a="http://schemas.openxmlformats.org/drawingml/2006/main">
            <a:off x="609600" y="2667000"/>
            <a:ext cx="51435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0A0A0A"/>
                </a:solidFill>
                <a:latin typeface="Noto Sans KR"/>
                <a:ea typeface="Noto Sans KR"/>
                <a:cs typeface="Noto Sans KR"/>
              </a:defRPr>
            </a:pPr>
            <a:r>
              <a:t>기준과 미측정 규칙을 유지합니다.</a:t>
            </a:r>
          </a:p>
        </p:txBody>
      </p:sp>
      <p:sp>
        <p:nvSpPr>
          <p:cNvPr id="5" name="">
            <a:extLst xmlns:a="http://schemas.openxmlformats.org/drawingml/2006/main">
              <a:ext uri="{FF2B5EF4-FFF2-40B4-BE49-F238E27FC236}">
                <a16:creationId xmlns:a16="http://schemas.microsoft.com/office/drawing/2014/main" id="{35642B11-E317-49EB-B3D3-3860C5EE4631}"/>
              </a:ext>
            </a:extLst>
          </p:cNvPr>
          <p:cNvSpPr>
            <a:spLocks xmlns:a="http://schemas.openxmlformats.org/drawingml/2006/main" noGrp="1"/>
          </p:cNvSpPr>
          <p:nvPr/>
        </p:nvSpPr>
        <p:spPr>
          <a:xfrm xmlns:a="http://schemas.openxmlformats.org/drawingml/2006/main">
            <a:off x="6400800" y="2667000"/>
            <a:ext cx="51435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0A0A0A"/>
                </a:solidFill>
                <a:latin typeface="Noto Sans KR"/>
                <a:ea typeface="Noto Sans KR"/>
                <a:cs typeface="Noto Sans KR"/>
              </a:defRPr>
            </a:pPr>
            <a:r>
              <a:rPr b="1">
                <a:solidFill>
                  <a:srgbClr val="002FA7"/>
                </a:solidFill>
              </a:rPr>
              <a:t>문자 "24.0"</a:t>
            </a:r>
            <a:r>
              <a:t>은 숫자와 저장 종류가 다릅니다.</a:t>
            </a:r>
          </a:p>
        </p:txBody>
      </p:sp>
      <p:sp>
        <p:nvSpPr>
          <p:cNvPr id="6" name="">
            <a:extLst xmlns:a="http://schemas.openxmlformats.org/drawingml/2006/main">
              <a:ext uri="{FF2B5EF4-FFF2-40B4-BE49-F238E27FC236}">
                <a16:creationId xmlns:a16="http://schemas.microsoft.com/office/drawing/2014/main" id="{95D1888D-5F12-42B2-8ED3-F1E0D1827118}"/>
              </a:ext>
            </a:extLst>
          </p:cNvPr>
          <p:cNvSpPr>
            <a:spLocks xmlns:a="http://schemas.openxmlformats.org/drawingml/2006/main" noGrp="1"/>
          </p:cNvSpPr>
          <p:nvPr/>
        </p:nvSpPr>
        <p:spPr>
          <a:xfrm xmlns:a="http://schemas.openxmlformats.org/drawingml/2006/main">
            <a:off x="609600" y="4552950"/>
            <a:ext cx="10972800" cy="9525"/>
          </a:xfrm>
          <a:prstGeom xmlns:a="http://schemas.openxmlformats.org/drawingml/2006/main" prst="rect">
            <a:avLst/>
          </a:prstGeom>
          <a:solidFill xmlns:a="http://schemas.openxmlformats.org/drawingml/2006/main">
            <a:srgbClr val="002FA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7830A38-230E-40E7-A705-4CD64FF3D3F9}"/>
              </a:ext>
            </a:extLst>
          </p:cNvPr>
          <p:cNvSpPr>
            <a:spLocks xmlns:a="http://schemas.openxmlformats.org/drawingml/2006/main" noGrp="1"/>
          </p:cNvSpPr>
          <p:nvPr/>
        </p:nvSpPr>
        <p:spPr>
          <a:xfrm xmlns:a="http://schemas.openxmlformats.org/drawingml/2006/main">
            <a:off x="609600" y="48101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0A0A0A"/>
                </a:solidFill>
                <a:latin typeface="Noto Sans KR"/>
                <a:ea typeface="Noto Sans KR"/>
                <a:cs typeface="Noto Sans KR"/>
              </a:defRPr>
            </a:pPr>
            <a:r>
              <a:t>허용한 입력 범위를 다음 사람에게 알립니다.</a:t>
            </a:r>
          </a:p>
        </p:txBody>
      </p:sp>
      <p:sp>
        <p:nvSpPr>
          <p:cNvPr id="8" name="">
            <a:extLst xmlns:a="http://schemas.openxmlformats.org/drawingml/2006/main">
              <a:ext uri="{FF2B5EF4-FFF2-40B4-BE49-F238E27FC236}">
                <a16:creationId xmlns:a16="http://schemas.microsoft.com/office/drawing/2014/main" id="{0A7A6DBA-2ACD-4305-B7F8-F8C819F3A99B}"/>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2E95DCB-6B8D-494D-9D85-F26E1585348D}"/>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0" name="">
            <a:extLst xmlns:a="http://schemas.openxmlformats.org/drawingml/2006/main">
              <a:ext uri="{FF2B5EF4-FFF2-40B4-BE49-F238E27FC236}">
                <a16:creationId xmlns:a16="http://schemas.microsoft.com/office/drawing/2014/main" id="{3C407619-FD95-4355-90EF-5455D5DA9063}"/>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090</a:t>
            </a:r>
          </a:p>
        </p:txBody>
      </p:sp>
    </p:spTree>
    <p:extLst>
      <p:ext uri="{BB962C8B-B14F-4D97-AF65-F5344CB8AC3E}">
        <p14:creationId xmlns:p14="http://schemas.microsoft.com/office/powerpoint/2010/main" val="1116015513"/>
      </p:ext>
    </p:extLst>
  </p:cSld>
</p:sld>
</file>

<file path=ppt/slides/slide91.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B6ED039-1C5C-4C1D-BD47-4930F27C1581}"/>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6교시</a:t>
            </a:r>
          </a:p>
        </p:txBody>
      </p:sp>
      <p:sp>
        <p:nvSpPr>
          <p:cNvPr id="2" name="">
            <a:extLst xmlns:a="http://schemas.openxmlformats.org/drawingml/2006/main">
              <a:ext uri="{FF2B5EF4-FFF2-40B4-BE49-F238E27FC236}">
                <a16:creationId xmlns:a16="http://schemas.microsoft.com/office/drawing/2014/main" id="{E51F4F8C-622F-496B-8E08-5889D2848DB4}"/>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이름표가 없으면 KeyError를 봅니다</a:t>
            </a:r>
          </a:p>
        </p:txBody>
      </p:sp>
      <p:sp>
        <p:nvSpPr>
          <p:cNvPr id="3" name="">
            <a:extLst xmlns:a="http://schemas.openxmlformats.org/drawingml/2006/main">
              <a:ext uri="{FF2B5EF4-FFF2-40B4-BE49-F238E27FC236}">
                <a16:creationId xmlns:a16="http://schemas.microsoft.com/office/drawing/2014/main" id="{7BAF8976-264F-4D5F-9C9D-C6DF51C7C53B}"/>
              </a:ext>
            </a:extLst>
          </p:cNvPr>
          <p:cNvSpPr>
            <a:spLocks xmlns:a="http://schemas.openxmlformats.org/drawingml/2006/main" noGrp="1"/>
          </p:cNvSpPr>
          <p:nvPr/>
        </p:nvSpPr>
        <p:spPr>
          <a:xfrm xmlns:a="http://schemas.openxmlformats.org/drawingml/2006/main">
            <a:off x="609600" y="2695575"/>
            <a:ext cx="3524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125" b="0">
                <a:solidFill>
                  <a:srgbClr val="002FA7"/>
                </a:solidFill>
                <a:latin typeface="Noto Sans KR"/>
                <a:ea typeface="Noto Sans KR"/>
                <a:cs typeface="Noto Sans KR"/>
              </a:defRPr>
            </a:pPr>
            <a:r>
              <a:t>KeyError</a:t>
            </a:r>
          </a:p>
        </p:txBody>
      </p:sp>
      <p:sp>
        <p:nvSpPr>
          <p:cNvPr id="4" name="">
            <a:extLst xmlns:a="http://schemas.openxmlformats.org/drawingml/2006/main">
              <a:ext uri="{FF2B5EF4-FFF2-40B4-BE49-F238E27FC236}">
                <a16:creationId xmlns:a16="http://schemas.microsoft.com/office/drawing/2014/main" id="{0B249B43-5F31-4A60-B070-374866B9DD30}"/>
              </a:ext>
            </a:extLst>
          </p:cNvPr>
          <p:cNvSpPr>
            <a:spLocks xmlns:a="http://schemas.openxmlformats.org/drawingml/2006/main" noGrp="1"/>
          </p:cNvSpPr>
          <p:nvPr/>
        </p:nvSpPr>
        <p:spPr>
          <a:xfrm xmlns:a="http://schemas.openxmlformats.org/drawingml/2006/main">
            <a:off x="4333875" y="2562225"/>
            <a:ext cx="9525" cy="337185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6612168-9453-4E97-AACF-AFB76E287CF5}"/>
              </a:ext>
            </a:extLst>
          </p:cNvPr>
          <p:cNvSpPr>
            <a:spLocks xmlns:a="http://schemas.openxmlformats.org/drawingml/2006/main" noGrp="1"/>
          </p:cNvSpPr>
          <p:nvPr/>
        </p:nvSpPr>
        <p:spPr>
          <a:xfrm xmlns:a="http://schemas.openxmlformats.org/drawingml/2006/main">
            <a:off x="4724400" y="259080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temperature와 temperature_c는 다릅니다.</a:t>
            </a:r>
          </a:p>
        </p:txBody>
      </p:sp>
      <p:sp>
        <p:nvSpPr>
          <p:cNvPr id="6" name="">
            <a:extLst xmlns:a="http://schemas.openxmlformats.org/drawingml/2006/main">
              <a:ext uri="{FF2B5EF4-FFF2-40B4-BE49-F238E27FC236}">
                <a16:creationId xmlns:a16="http://schemas.microsoft.com/office/drawing/2014/main" id="{724B9002-CE76-4E1E-A8DC-A1A64DC74F90}"/>
              </a:ext>
            </a:extLst>
          </p:cNvPr>
          <p:cNvSpPr>
            <a:spLocks xmlns:a="http://schemas.openxmlformats.org/drawingml/2006/main" noGrp="1"/>
          </p:cNvSpPr>
          <p:nvPr/>
        </p:nvSpPr>
        <p:spPr>
          <a:xfrm xmlns:a="http://schemas.openxmlformats.org/drawingml/2006/main">
            <a:off x="4724400" y="3705225"/>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원문 이름표와 접근하는 키를 대조합니다.</a:t>
            </a:r>
          </a:p>
        </p:txBody>
      </p:sp>
      <p:sp>
        <p:nvSpPr>
          <p:cNvPr id="7" name="">
            <a:extLst xmlns:a="http://schemas.openxmlformats.org/drawingml/2006/main">
              <a:ext uri="{FF2B5EF4-FFF2-40B4-BE49-F238E27FC236}">
                <a16:creationId xmlns:a16="http://schemas.microsoft.com/office/drawing/2014/main" id="{1BEEA8A0-675B-494B-AF18-873582FB8CF1}"/>
              </a:ext>
            </a:extLst>
          </p:cNvPr>
          <p:cNvSpPr>
            <a:spLocks xmlns:a="http://schemas.openxmlformats.org/drawingml/2006/main" noGrp="1"/>
          </p:cNvSpPr>
          <p:nvPr/>
        </p:nvSpPr>
        <p:spPr>
          <a:xfrm xmlns:a="http://schemas.openxmlformats.org/drawingml/2006/main">
            <a:off x="4724400" y="481965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임의의 새 값을 만들어 오류를 숨기지 않습니다.</a:t>
            </a:r>
          </a:p>
        </p:txBody>
      </p:sp>
      <p:sp>
        <p:nvSpPr>
          <p:cNvPr id="8" name="">
            <a:extLst xmlns:a="http://schemas.openxmlformats.org/drawingml/2006/main">
              <a:ext uri="{FF2B5EF4-FFF2-40B4-BE49-F238E27FC236}">
                <a16:creationId xmlns:a16="http://schemas.microsoft.com/office/drawing/2014/main" id="{6113FC50-7FEF-4229-AFEA-B685E627F407}"/>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C4EA00A-6CD2-4766-B2DA-06F46C25E824}"/>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0" name="">
            <a:extLst xmlns:a="http://schemas.openxmlformats.org/drawingml/2006/main">
              <a:ext uri="{FF2B5EF4-FFF2-40B4-BE49-F238E27FC236}">
                <a16:creationId xmlns:a16="http://schemas.microsoft.com/office/drawing/2014/main" id="{0CCE893E-ADBE-4C85-8503-22E4C79877D7}"/>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091</a:t>
            </a:r>
          </a:p>
        </p:txBody>
      </p:sp>
    </p:spTree>
    <p:extLst>
      <p:ext uri="{BB962C8B-B14F-4D97-AF65-F5344CB8AC3E}">
        <p14:creationId xmlns:p14="http://schemas.microsoft.com/office/powerpoint/2010/main" val="963925245"/>
      </p:ext>
    </p:extLst>
  </p:cSld>
</p:sld>
</file>

<file path=ppt/slides/slide92.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85E7B61-CB7C-4288-9BCF-31C407AEC2BB}"/>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6교시</a:t>
            </a:r>
          </a:p>
        </p:txBody>
      </p:sp>
      <p:sp>
        <p:nvSpPr>
          <p:cNvPr id="2" name="">
            <a:extLst xmlns:a="http://schemas.openxmlformats.org/drawingml/2006/main">
              <a:ext uri="{FF2B5EF4-FFF2-40B4-BE49-F238E27FC236}">
                <a16:creationId xmlns:a16="http://schemas.microsoft.com/office/drawing/2014/main" id="{51A1A8CA-13A9-4E99-83FA-2546CE794A68}"/>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새 실무 사례</a:t>
            </a:r>
          </a:p>
        </p:txBody>
      </p:sp>
      <p:sp>
        <p:nvSpPr>
          <p:cNvPr id="3" name="">
            <a:extLst xmlns:a="http://schemas.openxmlformats.org/drawingml/2006/main">
              <a:ext uri="{FF2B5EF4-FFF2-40B4-BE49-F238E27FC236}">
                <a16:creationId xmlns:a16="http://schemas.microsoft.com/office/drawing/2014/main" id="{E2D29F9E-FDD3-453C-A59C-415730E39AFE}"/>
              </a:ext>
            </a:extLst>
          </p:cNvPr>
          <p:cNvSpPr>
            <a:spLocks xmlns:a="http://schemas.openxmlformats.org/drawingml/2006/main" noGrp="1"/>
          </p:cNvSpPr>
          <p:nvPr/>
        </p:nvSpPr>
        <p:spPr>
          <a:xfrm xmlns:a="http://schemas.openxmlformats.org/drawingml/2006/main">
            <a:off x="609600" y="2543175"/>
            <a:ext cx="109728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0">
                <a:solidFill>
                  <a:srgbClr val="0A0A0A"/>
                </a:solidFill>
                <a:latin typeface="Noto Sans KR"/>
                <a:ea typeface="Noto Sans KR"/>
                <a:cs typeface="Noto Sans KR"/>
              </a:defRPr>
            </a:pPr>
            <a:r>
              <a:t>D01=18, </a:t>
            </a:r>
            <a:r>
              <a:rPr b="1">
                <a:solidFill>
                  <a:srgbClr val="002FA7"/>
                </a:solidFill>
              </a:rPr>
              <a:t>D02=미확인</a:t>
            </a:r>
            <a:r>
              <a:t>, D03=26을 읽습니다.</a:t>
            </a:r>
          </a:p>
        </p:txBody>
      </p:sp>
      <p:sp>
        <p:nvSpPr>
          <p:cNvPr id="4" name="">
            <a:extLst xmlns:a="http://schemas.openxmlformats.org/drawingml/2006/main">
              <a:ext uri="{FF2B5EF4-FFF2-40B4-BE49-F238E27FC236}">
                <a16:creationId xmlns:a16="http://schemas.microsoft.com/office/drawing/2014/main" id="{B010DFA7-940B-4864-9E81-FEC91C6E39E0}"/>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67400C4-D838-4A13-B7D6-52EA239C1714}"/>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6" name="">
            <a:extLst xmlns:a="http://schemas.openxmlformats.org/drawingml/2006/main">
              <a:ext uri="{FF2B5EF4-FFF2-40B4-BE49-F238E27FC236}">
                <a16:creationId xmlns:a16="http://schemas.microsoft.com/office/drawing/2014/main" id="{9ACF8F84-974E-45A4-812B-5E425D2047A3}"/>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092</a:t>
            </a:r>
          </a:p>
        </p:txBody>
      </p:sp>
    </p:spTree>
    <p:extLst>
      <p:ext uri="{BB962C8B-B14F-4D97-AF65-F5344CB8AC3E}">
        <p14:creationId xmlns:p14="http://schemas.microsoft.com/office/powerpoint/2010/main" val="274612695"/>
      </p:ext>
    </p:extLst>
  </p:cSld>
</p:sld>
</file>

<file path=ppt/slides/slide93.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9387B3-68F2-445E-99A9-6A02BEBDC71E}"/>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6교시</a:t>
            </a:r>
          </a:p>
        </p:txBody>
      </p:sp>
      <p:sp>
        <p:nvSpPr>
          <p:cNvPr id="2" name="">
            <a:extLst xmlns:a="http://schemas.openxmlformats.org/drawingml/2006/main">
              <a:ext uri="{FF2B5EF4-FFF2-40B4-BE49-F238E27FC236}">
                <a16:creationId xmlns:a16="http://schemas.microsoft.com/office/drawing/2014/main" id="{A3D0584B-BF1B-482D-B053-BD38E4320CDB}"/>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판단을 따라가 보기</a:t>
            </a:r>
          </a:p>
        </p:txBody>
      </p:sp>
      <p:graphicFrame>
        <p:nvGraphicFramePr>
          <p:cNvPr id="9" name=""/>
          <p:cNvGraphicFramePr/>
          <p:nvPr/>
        </p:nvGraphicFramePr>
        <p:xfrm>
          <a:off xmlns:a="http://schemas.openxmlformats.org/drawingml/2006/main" x="609600" y="2333625"/>
          <a:ext xmlns:a="http://schemas.openxmlformats.org/drawingml/2006/main" cx="10972800" cy="2933700"/>
        </p:xfrm>
        <a:graphic xmlns:a="http://schemas.openxmlformats.org/drawingml/2006/main">
          <a:graphicData uri="http://schemas.openxmlformats.org/drawingml/2006/table">
            <a:tbl>
              <a:tblPr firstRow="1" bandRow="0"/>
              <a:tblGrid>
                <a:gridCol w="2743200"/>
                <a:gridCol w="5486400"/>
                <a:gridCol w="2743200"/>
              </a:tblGrid>
              <a:tr h="733425">
                <a:tc>
                  <a:txBody>
                    <a:bodyPr wrap="square"/>
                    <a:lstStyle/>
                    <a:p>
                      <a:pPr>
                        <a:lnSpc>
                          <a:spcPct val="94000"/>
                        </a:lnSpc>
                        <a:buNone/>
                      </a:pPr>
                      <a:r>
                        <a:rPr sz="2100" b="1">
                          <a:solidFill>
                            <a:srgbClr val="FFFFFF"/>
                          </a:solidFill>
                          <a:latin typeface="Noto Sans KR"/>
                          <a:ea typeface="Noto Sans KR"/>
                          <a:cs typeface="Noto Sans KR"/>
                        </a:rPr>
                        <a:t>장치</a:t>
                      </a:r>
                    </a:p>
                  </a:txBody>
                  <a:tcPr marL="171450" marR="114300" marT="47625" marB="47625" anchor="ctr">
                    <a:solidFill>
                      <a:srgbClr val="002FA7"/>
                    </a:solidFill>
                  </a:tcPr>
                </a:tc>
                <a:tc>
                  <a:txBody>
                    <a:bodyPr wrap="square"/>
                    <a:lstStyle/>
                    <a:p>
                      <a:pPr>
                        <a:lnSpc>
                          <a:spcPct val="94000"/>
                        </a:lnSpc>
                        <a:buNone/>
                      </a:pPr>
                      <a:r>
                        <a:rPr sz="2100" b="1">
                          <a:solidFill>
                            <a:srgbClr val="FFFFFF"/>
                          </a:solidFill>
                          <a:latin typeface="Noto Sans KR"/>
                          <a:ea typeface="Noto Sans KR"/>
                          <a:cs typeface="Noto Sans KR"/>
                        </a:rPr>
                        <a:t>25℃ 초과 기준</a:t>
                      </a:r>
                    </a:p>
                  </a:txBody>
                  <a:tcPr marL="171450" marR="114300" marT="47625" marB="47625" anchor="ctr">
                    <a:solidFill>
                      <a:srgbClr val="002FA7"/>
                    </a:solidFill>
                  </a:tcPr>
                </a:tc>
                <a:tc>
                  <a:txBody>
                    <a:bodyPr wrap="square"/>
                    <a:lstStyle/>
                    <a:p>
                      <a:pPr>
                        <a:lnSpc>
                          <a:spcPct val="94000"/>
                        </a:lnSpc>
                        <a:buNone/>
                      </a:pPr>
                      <a:r>
                        <a:rPr sz="2100" b="1">
                          <a:solidFill>
                            <a:srgbClr val="FFFFFF"/>
                          </a:solidFill>
                          <a:latin typeface="Noto Sans KR"/>
                          <a:ea typeface="Noto Sans KR"/>
                          <a:cs typeface="Noto Sans KR"/>
                        </a:rPr>
                        <a:t>결과</a:t>
                      </a:r>
                    </a:p>
                  </a:txBody>
                  <a:tcPr marL="171450" marR="114300" marT="47625" marB="47625" anchor="ctr">
                    <a:solidFill>
                      <a:srgbClr val="002FA7"/>
                    </a:solidFill>
                  </a:tcPr>
                </a:tc>
              </a:tr>
              <a:tr h="733425">
                <a:tc>
                  <a:txBody>
                    <a:bodyPr wrap="square"/>
                    <a:lstStyle/>
                    <a:p>
                      <a:pPr>
                        <a:lnSpc>
                          <a:spcPct val="94000"/>
                        </a:lnSpc>
                        <a:buNone/>
                      </a:pPr>
                      <a:r>
                        <a:rPr sz="2100" b="0">
                          <a:solidFill>
                            <a:srgbClr val="0A0A0A"/>
                          </a:solidFill>
                          <a:latin typeface="Noto Sans KR"/>
                          <a:ea typeface="Noto Sans KR"/>
                          <a:cs typeface="Noto Sans KR"/>
                        </a:rPr>
                        <a:t>D01</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18</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정상</a:t>
                      </a:r>
                    </a:p>
                  </a:txBody>
                  <a:tcPr marL="171450" marR="114300" marT="47625" marB="47625" anchor="ctr">
                    <a:solidFill>
                      <a:srgbClr val="FAFAF8"/>
                    </a:solidFill>
                  </a:tcPr>
                </a:tc>
              </a:tr>
              <a:tr h="733425">
                <a:tc>
                  <a:txBody>
                    <a:bodyPr wrap="square"/>
                    <a:lstStyle/>
                    <a:p>
                      <a:pPr>
                        <a:lnSpc>
                          <a:spcPct val="94000"/>
                        </a:lnSpc>
                        <a:buNone/>
                      </a:pPr>
                      <a:r>
                        <a:rPr sz="2100" b="0">
                          <a:solidFill>
                            <a:srgbClr val="0A0A0A"/>
                          </a:solidFill>
                          <a:latin typeface="Noto Sans KR"/>
                          <a:ea typeface="Noto Sans KR"/>
                          <a:cs typeface="Noto Sans KR"/>
                        </a:rPr>
                        <a:t>D02</a:t>
                      </a:r>
                    </a:p>
                  </a:txBody>
                  <a:tcPr marL="171450" marR="114300" marT="47625" marB="47625" anchor="ctr">
                    <a:solidFill>
                      <a:srgbClr val="F0F0EB"/>
                    </a:solidFill>
                  </a:tcPr>
                </a:tc>
                <a:tc>
                  <a:txBody>
                    <a:bodyPr wrap="square"/>
                    <a:lstStyle/>
                    <a:p>
                      <a:pPr>
                        <a:lnSpc>
                          <a:spcPct val="94000"/>
                        </a:lnSpc>
                        <a:buNone/>
                      </a:pPr>
                      <a:r>
                        <a:rPr sz="2100" b="0">
                          <a:solidFill>
                            <a:srgbClr val="0A0A0A"/>
                          </a:solidFill>
                          <a:latin typeface="Noto Sans KR"/>
                          <a:ea typeface="Noto Sans KR"/>
                          <a:cs typeface="Noto Sans KR"/>
                        </a:rPr>
                        <a:t>미확인</a:t>
                      </a:r>
                    </a:p>
                  </a:txBody>
                  <a:tcPr marL="171450" marR="114300" marT="47625" marB="47625" anchor="ctr">
                    <a:solidFill>
                      <a:srgbClr val="F0F0EB"/>
                    </a:solidFill>
                  </a:tcPr>
                </a:tc>
                <a:tc>
                  <a:txBody>
                    <a:bodyPr wrap="square"/>
                    <a:lstStyle/>
                    <a:p>
                      <a:pPr>
                        <a:lnSpc>
                          <a:spcPct val="94000"/>
                        </a:lnSpc>
                        <a:buNone/>
                      </a:pPr>
                      <a:r>
                        <a:rPr sz="2100" b="0">
                          <a:solidFill>
                            <a:srgbClr val="0A0A0A"/>
                          </a:solidFill>
                          <a:latin typeface="Noto Sans KR"/>
                          <a:ea typeface="Noto Sans KR"/>
                          <a:cs typeface="Noto Sans KR"/>
                        </a:rPr>
                        <a:t>미측정</a:t>
                      </a:r>
                    </a:p>
                  </a:txBody>
                  <a:tcPr marL="171450" marR="114300" marT="47625" marB="47625" anchor="ctr">
                    <a:solidFill>
                      <a:srgbClr val="F0F0EB"/>
                    </a:solidFill>
                  </a:tcPr>
                </a:tc>
              </a:tr>
              <a:tr h="733425">
                <a:tc>
                  <a:txBody>
                    <a:bodyPr wrap="square"/>
                    <a:lstStyle/>
                    <a:p>
                      <a:pPr>
                        <a:lnSpc>
                          <a:spcPct val="94000"/>
                        </a:lnSpc>
                        <a:buNone/>
                      </a:pPr>
                      <a:r>
                        <a:rPr sz="2100" b="0">
                          <a:solidFill>
                            <a:srgbClr val="0A0A0A"/>
                          </a:solidFill>
                          <a:latin typeface="Noto Sans KR"/>
                          <a:ea typeface="Noto Sans KR"/>
                          <a:cs typeface="Noto Sans KR"/>
                        </a:rPr>
                        <a:t>D03</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26</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확인</a:t>
                      </a:r>
                    </a:p>
                  </a:txBody>
                  <a:tcPr marL="171450" marR="114300" marT="47625" marB="47625" anchor="ctr">
                    <a:solidFill>
                      <a:srgbClr val="FAFAF8"/>
                    </a:solidFill>
                  </a:tcPr>
                </a:tc>
              </a:tr>
            </a:tbl>
          </a:graphicData>
        </a:graphic>
      </p:graphicFrame>
      <p:sp>
        <p:nvSpPr>
          <p:cNvPr id="4" name="">
            <a:extLst xmlns:a="http://schemas.openxmlformats.org/drawingml/2006/main">
              <a:ext uri="{FF2B5EF4-FFF2-40B4-BE49-F238E27FC236}">
                <a16:creationId xmlns:a16="http://schemas.microsoft.com/office/drawing/2014/main" id="{860ECADE-B999-4EA8-A07A-6EB456158159}"/>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E007C9E-AE90-4F74-AF09-1B6F24312883}"/>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6" name="">
            <a:extLst xmlns:a="http://schemas.openxmlformats.org/drawingml/2006/main">
              <a:ext uri="{FF2B5EF4-FFF2-40B4-BE49-F238E27FC236}">
                <a16:creationId xmlns:a16="http://schemas.microsoft.com/office/drawing/2014/main" id="{E8039E9D-3E55-4AE7-884C-91740B1A4B94}"/>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093</a:t>
            </a:r>
          </a:p>
        </p:txBody>
      </p:sp>
    </p:spTree>
    <p:extLst>
      <p:ext uri="{BB962C8B-B14F-4D97-AF65-F5344CB8AC3E}">
        <p14:creationId xmlns:p14="http://schemas.microsoft.com/office/powerpoint/2010/main" val="1461985019"/>
      </p:ext>
    </p:extLst>
  </p:cSld>
</p:sld>
</file>

<file path=ppt/slides/slide94.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8AE1308-52C8-4540-BE6E-904524643AEA}"/>
              </a:ext>
            </a:extLst>
          </p:cNvPr>
          <p:cNvSpPr>
            <a:spLocks xmlns:a="http://schemas.openxmlformats.org/drawingml/2006/main" noGrp="1"/>
          </p:cNvSpPr>
          <p:nvPr/>
        </p:nvSpPr>
        <p:spPr>
          <a:xfrm xmlns:a="http://schemas.openxmlformats.org/drawingml/2006/main">
            <a:off x="609600" y="390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BACBFA"/>
                </a:solidFill>
                <a:latin typeface="Noto Sans KR"/>
                <a:ea typeface="Noto Sans KR"/>
                <a:cs typeface="Noto Sans KR"/>
              </a:defRPr>
            </a:pPr>
            <a:r>
              <a:t>6교시  /  직접 생각하기</a:t>
            </a:r>
          </a:p>
        </p:txBody>
      </p:sp>
      <p:sp>
        <p:nvSpPr>
          <p:cNvPr id="2" name="">
            <a:extLst xmlns:a="http://schemas.openxmlformats.org/drawingml/2006/main">
              <a:ext uri="{FF2B5EF4-FFF2-40B4-BE49-F238E27FC236}">
                <a16:creationId xmlns:a16="http://schemas.microsoft.com/office/drawing/2014/main" id="{D8F66582-3FA0-4D4B-8523-20A7BD2DCB58}"/>
              </a:ext>
            </a:extLst>
          </p:cNvPr>
          <p:cNvSpPr>
            <a:spLocks xmlns:a="http://schemas.openxmlformats.org/drawingml/2006/main" noGrp="1"/>
          </p:cNvSpPr>
          <p:nvPr/>
        </p:nvSpPr>
        <p:spPr>
          <a:xfrm xmlns:a="http://schemas.openxmlformats.org/drawingml/2006/main">
            <a:off x="609600" y="1123950"/>
            <a:ext cx="109728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0">
                <a:solidFill>
                  <a:srgbClr val="FFFFFF"/>
                </a:solidFill>
                <a:latin typeface="Noto Sans KR"/>
                <a:ea typeface="Noto Sans KR"/>
                <a:cs typeface="Noto Sans KR"/>
              </a:defRPr>
            </a:pPr>
            <a:r>
              <a:t>추가 복습 · 새 문제</a:t>
            </a:r>
          </a:p>
        </p:txBody>
      </p:sp>
      <p:sp>
        <p:nvSpPr>
          <p:cNvPr id="3" name="">
            <a:extLst xmlns:a="http://schemas.openxmlformats.org/drawingml/2006/main">
              <a:ext uri="{FF2B5EF4-FFF2-40B4-BE49-F238E27FC236}">
                <a16:creationId xmlns:a16="http://schemas.microsoft.com/office/drawing/2014/main" id="{4C2D3E70-5371-47B3-87EF-56E8B1DD5E05}"/>
              </a:ext>
            </a:extLst>
          </p:cNvPr>
          <p:cNvSpPr>
            <a:spLocks xmlns:a="http://schemas.openxmlformats.org/drawingml/2006/main" noGrp="1"/>
          </p:cNvSpPr>
          <p:nvPr/>
        </p:nvSpPr>
        <p:spPr>
          <a:xfrm xmlns:a="http://schemas.openxmlformats.org/drawingml/2006/main">
            <a:off x="609600" y="2800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추가 복습: P01=0개, P02=미확인, P03=2개</a:t>
            </a:r>
          </a:p>
        </p:txBody>
      </p:sp>
      <p:sp>
        <p:nvSpPr>
          <p:cNvPr id="4" name="">
            <a:extLst xmlns:a="http://schemas.openxmlformats.org/drawingml/2006/main">
              <a:ext uri="{FF2B5EF4-FFF2-40B4-BE49-F238E27FC236}">
                <a16:creationId xmlns:a16="http://schemas.microsoft.com/office/drawing/2014/main" id="{C1866D1E-B243-4533-9786-B2D42073F2D4}"/>
              </a:ext>
            </a:extLst>
          </p:cNvPr>
          <p:cNvSpPr>
            <a:spLocks xmlns:a="http://schemas.openxmlformats.org/drawingml/2006/main" noGrp="1"/>
          </p:cNvSpPr>
          <p:nvPr/>
        </p:nvSpPr>
        <p:spPr>
          <a:xfrm xmlns:a="http://schemas.openxmlformats.org/drawingml/2006/main">
            <a:off x="609600" y="38671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2개 이하이면 주문 요청입니다.</a:t>
            </a:r>
          </a:p>
        </p:txBody>
      </p:sp>
      <p:sp>
        <p:nvSpPr>
          <p:cNvPr id="5" name="">
            <a:extLst xmlns:a="http://schemas.openxmlformats.org/drawingml/2006/main">
              <a:ext uri="{FF2B5EF4-FFF2-40B4-BE49-F238E27FC236}">
                <a16:creationId xmlns:a16="http://schemas.microsoft.com/office/drawing/2014/main" id="{C5F7C027-F566-4BD3-A50F-A5E4A8A226E4}"/>
              </a:ext>
            </a:extLst>
          </p:cNvPr>
          <p:cNvSpPr>
            <a:spLocks xmlns:a="http://schemas.openxmlformats.org/drawingml/2006/main" noGrp="1"/>
          </p:cNvSpPr>
          <p:nvPr/>
        </p:nvSpPr>
        <p:spPr>
          <a:xfrm xmlns:a="http://schemas.openxmlformats.org/drawingml/2006/main">
            <a:off x="609600" y="49339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이름표와 </a:t>
            </a:r>
            <a:r>
              <a:rPr b="1">
                <a:solidFill>
                  <a:srgbClr val="BACBFA"/>
                </a:solidFill>
              </a:rPr>
              <a:t>세 상태</a:t>
            </a:r>
            <a:r>
              <a:t>를 설계하세요.</a:t>
            </a:r>
          </a:p>
        </p:txBody>
      </p:sp>
      <p:sp>
        <p:nvSpPr>
          <p:cNvPr id="6" name="">
            <a:extLst xmlns:a="http://schemas.openxmlformats.org/drawingml/2006/main">
              <a:ext uri="{FF2B5EF4-FFF2-40B4-BE49-F238E27FC236}">
                <a16:creationId xmlns:a16="http://schemas.microsoft.com/office/drawing/2014/main" id="{BAE24DCE-642A-45B0-AB88-AEDCC1EE2F50}"/>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F3E1C2A-14F9-458E-96DC-12286421A226}"/>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10/14  피지컬AI</a:t>
            </a:r>
          </a:p>
        </p:txBody>
      </p:sp>
      <p:sp>
        <p:nvSpPr>
          <p:cNvPr id="8" name="">
            <a:extLst xmlns:a="http://schemas.openxmlformats.org/drawingml/2006/main">
              <a:ext uri="{FF2B5EF4-FFF2-40B4-BE49-F238E27FC236}">
                <a16:creationId xmlns:a16="http://schemas.microsoft.com/office/drawing/2014/main" id="{9E54F59C-0B3A-47D0-9D2D-B0590829193C}"/>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094</a:t>
            </a:r>
          </a:p>
        </p:txBody>
      </p:sp>
    </p:spTree>
    <p:extLst>
      <p:ext uri="{BB962C8B-B14F-4D97-AF65-F5344CB8AC3E}">
        <p14:creationId xmlns:p14="http://schemas.microsoft.com/office/powerpoint/2010/main" val="519087026"/>
      </p:ext>
    </p:extLst>
  </p:cSld>
</p:sld>
</file>

<file path=ppt/slides/slide95.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C0D2F41-0173-4996-A78B-E4E6DDD9FCF5}"/>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6교시</a:t>
            </a:r>
          </a:p>
        </p:txBody>
      </p:sp>
      <p:sp>
        <p:nvSpPr>
          <p:cNvPr id="2" name="">
            <a:extLst xmlns:a="http://schemas.openxmlformats.org/drawingml/2006/main">
              <a:ext uri="{FF2B5EF4-FFF2-40B4-BE49-F238E27FC236}">
                <a16:creationId xmlns:a16="http://schemas.microsoft.com/office/drawing/2014/main" id="{9F624D9F-4014-47A6-88D0-FC40D4763185}"/>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새 문제의 풀이</a:t>
            </a:r>
          </a:p>
        </p:txBody>
      </p:sp>
      <p:sp>
        <p:nvSpPr>
          <p:cNvPr id="3" name="">
            <a:extLst xmlns:a="http://schemas.openxmlformats.org/drawingml/2006/main">
              <a:ext uri="{FF2B5EF4-FFF2-40B4-BE49-F238E27FC236}">
                <a16:creationId xmlns:a16="http://schemas.microsoft.com/office/drawing/2014/main" id="{1EE57493-7F7F-4181-8E69-75C5D75DF7DB}"/>
              </a:ext>
            </a:extLst>
          </p:cNvPr>
          <p:cNvSpPr>
            <a:spLocks xmlns:a="http://schemas.openxmlformats.org/drawingml/2006/main" noGrp="1"/>
          </p:cNvSpPr>
          <p:nvPr/>
        </p:nvSpPr>
        <p:spPr>
          <a:xfrm xmlns:a="http://schemas.openxmlformats.org/drawingml/2006/main">
            <a:off x="6086475" y="2514600"/>
            <a:ext cx="9525" cy="327660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D2DA6BE-4D43-4373-9C5E-946797BEE42D}"/>
              </a:ext>
            </a:extLst>
          </p:cNvPr>
          <p:cNvSpPr>
            <a:spLocks xmlns:a="http://schemas.openxmlformats.org/drawingml/2006/main" noGrp="1"/>
          </p:cNvSpPr>
          <p:nvPr/>
        </p:nvSpPr>
        <p:spPr>
          <a:xfrm xmlns:a="http://schemas.openxmlformats.org/drawingml/2006/main">
            <a:off x="609600" y="2667000"/>
            <a:ext cx="5143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0A0A0A"/>
                </a:solidFill>
                <a:latin typeface="Noto Sans KR"/>
                <a:ea typeface="Noto Sans KR"/>
                <a:cs typeface="Noto Sans KR"/>
              </a:defRPr>
            </a:pPr>
            <a:r>
              <a:t>P01·P03은 주문 요청, </a:t>
            </a:r>
            <a:r>
              <a:rPr b="1">
                <a:solidFill>
                  <a:srgbClr val="002FA7"/>
                </a:solidFill>
              </a:rPr>
              <a:t>P02는 수량 확인</a:t>
            </a:r>
            <a:r>
              <a:t>입니다.</a:t>
            </a:r>
          </a:p>
        </p:txBody>
      </p:sp>
      <p:sp>
        <p:nvSpPr>
          <p:cNvPr id="5" name="">
            <a:extLst xmlns:a="http://schemas.openxmlformats.org/drawingml/2006/main">
              <a:ext uri="{FF2B5EF4-FFF2-40B4-BE49-F238E27FC236}">
                <a16:creationId xmlns:a16="http://schemas.microsoft.com/office/drawing/2014/main" id="{1EC0C6BD-108C-426E-B33F-7F2BE64D9DD6}"/>
              </a:ext>
            </a:extLst>
          </p:cNvPr>
          <p:cNvSpPr>
            <a:spLocks xmlns:a="http://schemas.openxmlformats.org/drawingml/2006/main" noGrp="1"/>
          </p:cNvSpPr>
          <p:nvPr/>
        </p:nvSpPr>
        <p:spPr>
          <a:xfrm xmlns:a="http://schemas.openxmlformats.org/drawingml/2006/main">
            <a:off x="6400800" y="2667000"/>
            <a:ext cx="5143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0A0A0A"/>
                </a:solidFill>
                <a:latin typeface="Noto Sans KR"/>
                <a:ea typeface="Noto Sans KR"/>
                <a:cs typeface="Noto Sans KR"/>
              </a:defRPr>
            </a:pPr>
            <a:r>
              <a:t>물품번호와 수량의 이름표를 새 업무에 맞춥니다.</a:t>
            </a:r>
          </a:p>
        </p:txBody>
      </p:sp>
      <p:sp>
        <p:nvSpPr>
          <p:cNvPr id="6" name="">
            <a:extLst xmlns:a="http://schemas.openxmlformats.org/drawingml/2006/main">
              <a:ext uri="{FF2B5EF4-FFF2-40B4-BE49-F238E27FC236}">
                <a16:creationId xmlns:a16="http://schemas.microsoft.com/office/drawing/2014/main" id="{E858971B-9751-4934-8C88-1C26AC380A85}"/>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599E0C4-4630-4B4D-80EC-FACB00142A53}"/>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8" name="">
            <a:extLst xmlns:a="http://schemas.openxmlformats.org/drawingml/2006/main">
              <a:ext uri="{FF2B5EF4-FFF2-40B4-BE49-F238E27FC236}">
                <a16:creationId xmlns:a16="http://schemas.microsoft.com/office/drawing/2014/main" id="{9549ADA3-C22C-4947-93CF-890B17B696E4}"/>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095</a:t>
            </a:r>
          </a:p>
        </p:txBody>
      </p:sp>
    </p:spTree>
    <p:extLst>
      <p:ext uri="{BB962C8B-B14F-4D97-AF65-F5344CB8AC3E}">
        <p14:creationId xmlns:p14="http://schemas.microsoft.com/office/powerpoint/2010/main" val="1189733661"/>
      </p:ext>
    </p:extLst>
  </p:cSld>
</p:sld>
</file>

<file path=ppt/slides/slide96.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8C8201E-8099-419C-856E-3BF60DC71522}"/>
              </a:ext>
            </a:extLst>
          </p:cNvPr>
          <p:cNvSpPr>
            <a:spLocks xmlns:a="http://schemas.openxmlformats.org/drawingml/2006/main" noGrp="1"/>
          </p:cNvSpPr>
          <p:nvPr/>
        </p:nvSpPr>
        <p:spPr>
          <a:xfrm xmlns:a="http://schemas.openxmlformats.org/drawingml/2006/main">
            <a:off x="609600" y="390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BACBFA"/>
                </a:solidFill>
                <a:latin typeface="Noto Sans KR"/>
                <a:ea typeface="Noto Sans KR"/>
                <a:cs typeface="Noto Sans KR"/>
              </a:defRPr>
            </a:pPr>
            <a:r>
              <a:t>6교시  /  직접 생각하기</a:t>
            </a:r>
          </a:p>
        </p:txBody>
      </p:sp>
      <p:sp>
        <p:nvSpPr>
          <p:cNvPr id="2" name="">
            <a:extLst xmlns:a="http://schemas.openxmlformats.org/drawingml/2006/main">
              <a:ext uri="{FF2B5EF4-FFF2-40B4-BE49-F238E27FC236}">
                <a16:creationId xmlns:a16="http://schemas.microsoft.com/office/drawing/2014/main" id="{C247CE0E-512B-4782-9E02-AC26B0B194BC}"/>
              </a:ext>
            </a:extLst>
          </p:cNvPr>
          <p:cNvSpPr>
            <a:spLocks xmlns:a="http://schemas.openxmlformats.org/drawingml/2006/main" noGrp="1"/>
          </p:cNvSpPr>
          <p:nvPr/>
        </p:nvSpPr>
        <p:spPr>
          <a:xfrm xmlns:a="http://schemas.openxmlformats.org/drawingml/2006/main">
            <a:off x="609600" y="1123950"/>
            <a:ext cx="109728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0">
                <a:solidFill>
                  <a:srgbClr val="FFFFFF"/>
                </a:solidFill>
                <a:latin typeface="Noto Sans KR"/>
                <a:ea typeface="Noto Sans KR"/>
                <a:cs typeface="Noto Sans KR"/>
              </a:defRPr>
            </a:pPr>
            <a:r>
              <a:t>먼저 할 일 · 결과 인계</a:t>
            </a:r>
          </a:p>
        </p:txBody>
      </p:sp>
      <p:sp>
        <p:nvSpPr>
          <p:cNvPr id="3" name="">
            <a:extLst xmlns:a="http://schemas.openxmlformats.org/drawingml/2006/main">
              <a:ext uri="{FF2B5EF4-FFF2-40B4-BE49-F238E27FC236}">
                <a16:creationId xmlns:a16="http://schemas.microsoft.com/office/drawing/2014/main" id="{D49269E4-FB4E-4EBC-B155-878B19F31483}"/>
              </a:ext>
            </a:extLst>
          </p:cNvPr>
          <p:cNvSpPr>
            <a:spLocks xmlns:a="http://schemas.openxmlformats.org/drawingml/2006/main" noGrp="1"/>
          </p:cNvSpPr>
          <p:nvPr/>
        </p:nvSpPr>
        <p:spPr>
          <a:xfrm xmlns:a="http://schemas.openxmlformats.org/drawingml/2006/main">
            <a:off x="609600" y="2800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A17에서 장치별 상태를 확인합니다.</a:t>
            </a:r>
          </a:p>
        </p:txBody>
      </p:sp>
      <p:sp>
        <p:nvSpPr>
          <p:cNvPr id="4" name="">
            <a:extLst xmlns:a="http://schemas.openxmlformats.org/drawingml/2006/main">
              <a:ext uri="{FF2B5EF4-FFF2-40B4-BE49-F238E27FC236}">
                <a16:creationId xmlns:a16="http://schemas.microsoft.com/office/drawing/2014/main" id="{F9923A67-4291-404A-91AA-A1BF870255AB}"/>
              </a:ext>
            </a:extLst>
          </p:cNvPr>
          <p:cNvSpPr>
            <a:spLocks xmlns:a="http://schemas.openxmlformats.org/drawingml/2006/main" noGrp="1"/>
          </p:cNvSpPr>
          <p:nvPr/>
        </p:nvSpPr>
        <p:spPr>
          <a:xfrm xmlns:a="http://schemas.openxmlformats.org/drawingml/2006/main">
            <a:off x="609600" y="38671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A18에 파일·명령·입력·결과를 남깁니다.</a:t>
            </a:r>
          </a:p>
        </p:txBody>
      </p:sp>
      <p:sp>
        <p:nvSpPr>
          <p:cNvPr id="5" name="">
            <a:extLst xmlns:a="http://schemas.openxmlformats.org/drawingml/2006/main">
              <a:ext uri="{FF2B5EF4-FFF2-40B4-BE49-F238E27FC236}">
                <a16:creationId xmlns:a16="http://schemas.microsoft.com/office/drawing/2014/main" id="{CB114276-2D82-49D2-84C7-192D6C97299E}"/>
              </a:ext>
            </a:extLst>
          </p:cNvPr>
          <p:cNvSpPr>
            <a:spLocks xmlns:a="http://schemas.openxmlformats.org/drawingml/2006/main" noGrp="1"/>
          </p:cNvSpPr>
          <p:nvPr/>
        </p:nvSpPr>
        <p:spPr>
          <a:xfrm xmlns:a="http://schemas.openxmlformats.org/drawingml/2006/main">
            <a:off x="609600" y="49339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실제 장비를 확인한 것처럼 적지 않습니다.</a:t>
            </a:r>
          </a:p>
        </p:txBody>
      </p:sp>
      <p:sp>
        <p:nvSpPr>
          <p:cNvPr id="6" name="">
            <a:extLst xmlns:a="http://schemas.openxmlformats.org/drawingml/2006/main">
              <a:ext uri="{FF2B5EF4-FFF2-40B4-BE49-F238E27FC236}">
                <a16:creationId xmlns:a16="http://schemas.microsoft.com/office/drawing/2014/main" id="{9317BE1C-BC07-4C94-BA72-A0A8FCEB664A}"/>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A6E7CF0-25BE-4F4C-AAFD-ADEA607B677D}"/>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10/14  피지컬AI</a:t>
            </a:r>
          </a:p>
        </p:txBody>
      </p:sp>
      <p:sp>
        <p:nvSpPr>
          <p:cNvPr id="8" name="">
            <a:extLst xmlns:a="http://schemas.openxmlformats.org/drawingml/2006/main">
              <a:ext uri="{FF2B5EF4-FFF2-40B4-BE49-F238E27FC236}">
                <a16:creationId xmlns:a16="http://schemas.microsoft.com/office/drawing/2014/main" id="{B4E2F640-24C1-40A0-965E-1F3ED0C129B7}"/>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096</a:t>
            </a:r>
          </a:p>
        </p:txBody>
      </p:sp>
    </p:spTree>
    <p:extLst>
      <p:ext uri="{BB962C8B-B14F-4D97-AF65-F5344CB8AC3E}">
        <p14:creationId xmlns:p14="http://schemas.microsoft.com/office/powerpoint/2010/main" val="466860423"/>
      </p:ext>
    </p:extLst>
  </p:cSld>
</p:sld>
</file>

<file path=ppt/slides/slide97.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1061F44-F352-475B-AC69-231CC311155F}"/>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6교시</a:t>
            </a:r>
          </a:p>
        </p:txBody>
      </p:sp>
      <p:sp>
        <p:nvSpPr>
          <p:cNvPr id="2" name="">
            <a:extLst xmlns:a="http://schemas.openxmlformats.org/drawingml/2006/main">
              <a:ext uri="{FF2B5EF4-FFF2-40B4-BE49-F238E27FC236}">
                <a16:creationId xmlns:a16="http://schemas.microsoft.com/office/drawing/2014/main" id="{1176626A-F86D-4771-8D32-A8C378D0B9C1}"/>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6교시 확인</a:t>
            </a:r>
          </a:p>
        </p:txBody>
      </p:sp>
      <p:sp>
        <p:nvSpPr>
          <p:cNvPr id="3" name="">
            <a:extLst xmlns:a="http://schemas.openxmlformats.org/drawingml/2006/main">
              <a:ext uri="{FF2B5EF4-FFF2-40B4-BE49-F238E27FC236}">
                <a16:creationId xmlns:a16="http://schemas.microsoft.com/office/drawing/2014/main" id="{2D0F21B5-9B13-4239-A820-A2CC0FBE3012}"/>
              </a:ext>
            </a:extLst>
          </p:cNvPr>
          <p:cNvSpPr>
            <a:spLocks xmlns:a="http://schemas.openxmlformats.org/drawingml/2006/main" noGrp="1"/>
          </p:cNvSpPr>
          <p:nvPr/>
        </p:nvSpPr>
        <p:spPr>
          <a:xfrm xmlns:a="http://schemas.openxmlformats.org/drawingml/2006/main">
            <a:off x="609600" y="2695575"/>
            <a:ext cx="3524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125" b="0">
                <a:solidFill>
                  <a:srgbClr val="002FA7"/>
                </a:solidFill>
                <a:latin typeface="Noto Sans KR"/>
                <a:ea typeface="Noto Sans KR"/>
                <a:cs typeface="Noto Sans KR"/>
              </a:defRPr>
            </a:pPr>
            <a:r>
              <a:t>센서 성능 검증</a:t>
            </a:r>
          </a:p>
        </p:txBody>
      </p:sp>
      <p:sp>
        <p:nvSpPr>
          <p:cNvPr id="4" name="">
            <a:extLst xmlns:a="http://schemas.openxmlformats.org/drawingml/2006/main">
              <a:ext uri="{FF2B5EF4-FFF2-40B4-BE49-F238E27FC236}">
                <a16:creationId xmlns:a16="http://schemas.microsoft.com/office/drawing/2014/main" id="{3918EBC3-DE6B-4FBE-8684-0594ECD7950A}"/>
              </a:ext>
            </a:extLst>
          </p:cNvPr>
          <p:cNvSpPr>
            <a:spLocks xmlns:a="http://schemas.openxmlformats.org/drawingml/2006/main" noGrp="1"/>
          </p:cNvSpPr>
          <p:nvPr/>
        </p:nvSpPr>
        <p:spPr>
          <a:xfrm xmlns:a="http://schemas.openxmlformats.org/drawingml/2006/main">
            <a:off x="4333875" y="2562225"/>
            <a:ext cx="9525" cy="337185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755604D-0A40-414C-89FA-21E61B794033}"/>
              </a:ext>
            </a:extLst>
          </p:cNvPr>
          <p:cNvSpPr>
            <a:spLocks xmlns:a="http://schemas.openxmlformats.org/drawingml/2006/main" noGrp="1"/>
          </p:cNvSpPr>
          <p:nvPr/>
        </p:nvSpPr>
        <p:spPr>
          <a:xfrm xmlns:a="http://schemas.openxmlformats.org/drawingml/2006/main">
            <a:off x="4724400" y="259080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한 기록의 값과 장치명을 함께 보존합니다.</a:t>
            </a:r>
          </a:p>
        </p:txBody>
      </p:sp>
      <p:sp>
        <p:nvSpPr>
          <p:cNvPr id="6" name="">
            <a:extLst xmlns:a="http://schemas.openxmlformats.org/drawingml/2006/main">
              <a:ext uri="{FF2B5EF4-FFF2-40B4-BE49-F238E27FC236}">
                <a16:creationId xmlns:a16="http://schemas.microsoft.com/office/drawing/2014/main" id="{4AF39528-5C8F-43B8-8A13-CD1DD6D9A977}"/>
              </a:ext>
            </a:extLst>
          </p:cNvPr>
          <p:cNvSpPr>
            <a:spLocks xmlns:a="http://schemas.openxmlformats.org/drawingml/2006/main" noGrp="1"/>
          </p:cNvSpPr>
          <p:nvPr/>
        </p:nvSpPr>
        <p:spPr>
          <a:xfrm xmlns:a="http://schemas.openxmlformats.org/drawingml/2006/main">
            <a:off x="4724400" y="3705225"/>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미측정 갈래를 숫자 비교보다 앞에 둡니다.</a:t>
            </a:r>
          </a:p>
        </p:txBody>
      </p:sp>
      <p:sp>
        <p:nvSpPr>
          <p:cNvPr id="7" name="">
            <a:extLst xmlns:a="http://schemas.openxmlformats.org/drawingml/2006/main">
              <a:ext uri="{FF2B5EF4-FFF2-40B4-BE49-F238E27FC236}">
                <a16:creationId xmlns:a16="http://schemas.microsoft.com/office/drawing/2014/main" id="{0ED86406-D934-458E-B506-6FEB961F8E92}"/>
              </a:ext>
            </a:extLst>
          </p:cNvPr>
          <p:cNvSpPr>
            <a:spLocks xmlns:a="http://schemas.openxmlformats.org/drawingml/2006/main" noGrp="1"/>
          </p:cNvSpPr>
          <p:nvPr/>
        </p:nvSpPr>
        <p:spPr>
          <a:xfrm xmlns:a="http://schemas.openxmlformats.org/drawingml/2006/main">
            <a:off x="4724400" y="481965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합성 데이터 점검과 </a:t>
            </a:r>
            <a:r>
              <a:rPr b="1">
                <a:solidFill>
                  <a:srgbClr val="002FA7"/>
                </a:solidFill>
              </a:rPr>
              <a:t>센서 성능 검증</a:t>
            </a:r>
            <a:r>
              <a:t>은 다릅니다.</a:t>
            </a:r>
          </a:p>
        </p:txBody>
      </p:sp>
      <p:sp>
        <p:nvSpPr>
          <p:cNvPr id="8" name="">
            <a:extLst xmlns:a="http://schemas.openxmlformats.org/drawingml/2006/main">
              <a:ext uri="{FF2B5EF4-FFF2-40B4-BE49-F238E27FC236}">
                <a16:creationId xmlns:a16="http://schemas.microsoft.com/office/drawing/2014/main" id="{615AA5DC-1A7E-486D-8BF7-A511D1156D94}"/>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CEBF5E2-6956-4761-A4E6-3DB099F25BB7}"/>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0" name="">
            <a:extLst xmlns:a="http://schemas.openxmlformats.org/drawingml/2006/main">
              <a:ext uri="{FF2B5EF4-FFF2-40B4-BE49-F238E27FC236}">
                <a16:creationId xmlns:a16="http://schemas.microsoft.com/office/drawing/2014/main" id="{8C64C261-81D1-4397-B819-6402E1E659D7}"/>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097</a:t>
            </a:r>
          </a:p>
        </p:txBody>
      </p:sp>
    </p:spTree>
    <p:extLst>
      <p:ext uri="{BB962C8B-B14F-4D97-AF65-F5344CB8AC3E}">
        <p14:creationId xmlns:p14="http://schemas.microsoft.com/office/powerpoint/2010/main" val="1170164272"/>
      </p:ext>
    </p:extLst>
  </p:cSld>
</p:sld>
</file>

<file path=ppt/slides/slide98.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0262E78-0854-46E2-9FFF-EA7EDFC0653A}"/>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2026.10.14</a:t>
            </a:r>
          </a:p>
        </p:txBody>
      </p:sp>
      <p:sp>
        <p:nvSpPr>
          <p:cNvPr id="2" name="">
            <a:extLst xmlns:a="http://schemas.openxmlformats.org/drawingml/2006/main">
              <a:ext uri="{FF2B5EF4-FFF2-40B4-BE49-F238E27FC236}">
                <a16:creationId xmlns:a16="http://schemas.microsoft.com/office/drawing/2014/main" id="{666D8AE0-271F-4324-AF63-0F2D17AEFB2E}"/>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오늘 결과를 설명하기</a:t>
            </a:r>
          </a:p>
        </p:txBody>
      </p:sp>
      <p:sp>
        <p:nvSpPr>
          <p:cNvPr id="3" name="">
            <a:extLst xmlns:a="http://schemas.openxmlformats.org/drawingml/2006/main">
              <a:ext uri="{FF2B5EF4-FFF2-40B4-BE49-F238E27FC236}">
                <a16:creationId xmlns:a16="http://schemas.microsoft.com/office/drawing/2014/main" id="{1D47EAA1-7F61-4C98-91CF-642BB4B7F560}"/>
              </a:ext>
            </a:extLst>
          </p:cNvPr>
          <p:cNvSpPr>
            <a:spLocks xmlns:a="http://schemas.openxmlformats.org/drawingml/2006/main" noGrp="1"/>
          </p:cNvSpPr>
          <p:nvPr/>
        </p:nvSpPr>
        <p:spPr>
          <a:xfrm xmlns:a="http://schemas.openxmlformats.org/drawingml/2006/main">
            <a:off x="609600" y="241935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01</a:t>
            </a:r>
          </a:p>
        </p:txBody>
      </p:sp>
      <p:sp>
        <p:nvSpPr>
          <p:cNvPr id="4" name="">
            <a:extLst xmlns:a="http://schemas.openxmlformats.org/drawingml/2006/main">
              <a:ext uri="{FF2B5EF4-FFF2-40B4-BE49-F238E27FC236}">
                <a16:creationId xmlns:a16="http://schemas.microsoft.com/office/drawing/2014/main" id="{2A6490A1-1955-4E96-9FD4-BC11C8426818}"/>
              </a:ext>
            </a:extLst>
          </p:cNvPr>
          <p:cNvSpPr>
            <a:spLocks xmlns:a="http://schemas.openxmlformats.org/drawingml/2006/main" noGrp="1"/>
          </p:cNvSpPr>
          <p:nvPr/>
        </p:nvSpPr>
        <p:spPr>
          <a:xfrm xmlns:a="http://schemas.openxmlformats.org/drawingml/2006/main">
            <a:off x="1657350" y="248602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무엇을 입력했는지 말합니다.</a:t>
            </a:r>
          </a:p>
        </p:txBody>
      </p:sp>
      <p:sp>
        <p:nvSpPr>
          <p:cNvPr id="5" name="">
            <a:extLst xmlns:a="http://schemas.openxmlformats.org/drawingml/2006/main">
              <a:ext uri="{FF2B5EF4-FFF2-40B4-BE49-F238E27FC236}">
                <a16:creationId xmlns:a16="http://schemas.microsoft.com/office/drawing/2014/main" id="{B2757B62-1327-4955-87EE-6B9FE8A44FDB}"/>
              </a:ext>
            </a:extLst>
          </p:cNvPr>
          <p:cNvSpPr>
            <a:spLocks xmlns:a="http://schemas.openxmlformats.org/drawingml/2006/main" noGrp="1"/>
          </p:cNvSpPr>
          <p:nvPr/>
        </p:nvSpPr>
        <p:spPr>
          <a:xfrm xmlns:a="http://schemas.openxmlformats.org/drawingml/2006/main">
            <a:off x="1657350" y="3419475"/>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B661E73-4E45-4444-9396-29F974E93CBA}"/>
              </a:ext>
            </a:extLst>
          </p:cNvPr>
          <p:cNvSpPr>
            <a:spLocks xmlns:a="http://schemas.openxmlformats.org/drawingml/2006/main" noGrp="1"/>
          </p:cNvSpPr>
          <p:nvPr/>
        </p:nvSpPr>
        <p:spPr>
          <a:xfrm xmlns:a="http://schemas.openxmlformats.org/drawingml/2006/main">
            <a:off x="609600" y="3514725"/>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02</a:t>
            </a:r>
          </a:p>
        </p:txBody>
      </p:sp>
      <p:sp>
        <p:nvSpPr>
          <p:cNvPr id="7" name="">
            <a:extLst xmlns:a="http://schemas.openxmlformats.org/drawingml/2006/main">
              <a:ext uri="{FF2B5EF4-FFF2-40B4-BE49-F238E27FC236}">
                <a16:creationId xmlns:a16="http://schemas.microsoft.com/office/drawing/2014/main" id="{3F3095CD-2B0F-40BF-8505-F04C33F1894E}"/>
              </a:ext>
            </a:extLst>
          </p:cNvPr>
          <p:cNvSpPr>
            <a:spLocks xmlns:a="http://schemas.openxmlformats.org/drawingml/2006/main" noGrp="1"/>
          </p:cNvSpPr>
          <p:nvPr/>
        </p:nvSpPr>
        <p:spPr>
          <a:xfrm xmlns:a="http://schemas.openxmlformats.org/drawingml/2006/main">
            <a:off x="1657350" y="358140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어떤 규칙을 적용했는지 말합니다.</a:t>
            </a:r>
          </a:p>
        </p:txBody>
      </p:sp>
      <p:sp>
        <p:nvSpPr>
          <p:cNvPr id="8" name="">
            <a:extLst xmlns:a="http://schemas.openxmlformats.org/drawingml/2006/main">
              <a:ext uri="{FF2B5EF4-FFF2-40B4-BE49-F238E27FC236}">
                <a16:creationId xmlns:a16="http://schemas.microsoft.com/office/drawing/2014/main" id="{49F8A22B-7F81-4E6E-9DC8-7A115DA9F0A4}"/>
              </a:ext>
            </a:extLst>
          </p:cNvPr>
          <p:cNvSpPr>
            <a:spLocks xmlns:a="http://schemas.openxmlformats.org/drawingml/2006/main" noGrp="1"/>
          </p:cNvSpPr>
          <p:nvPr/>
        </p:nvSpPr>
        <p:spPr>
          <a:xfrm xmlns:a="http://schemas.openxmlformats.org/drawingml/2006/main">
            <a:off x="1657350" y="4514850"/>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39B667A-4A1B-429F-92E5-452FC4B8F81B}"/>
              </a:ext>
            </a:extLst>
          </p:cNvPr>
          <p:cNvSpPr>
            <a:spLocks xmlns:a="http://schemas.openxmlformats.org/drawingml/2006/main" noGrp="1"/>
          </p:cNvSpPr>
          <p:nvPr/>
        </p:nvSpPr>
        <p:spPr>
          <a:xfrm xmlns:a="http://schemas.openxmlformats.org/drawingml/2006/main">
            <a:off x="609600" y="461010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03</a:t>
            </a:r>
          </a:p>
        </p:txBody>
      </p:sp>
      <p:sp>
        <p:nvSpPr>
          <p:cNvPr id="10" name="">
            <a:extLst xmlns:a="http://schemas.openxmlformats.org/drawingml/2006/main">
              <a:ext uri="{FF2B5EF4-FFF2-40B4-BE49-F238E27FC236}">
                <a16:creationId xmlns:a16="http://schemas.microsoft.com/office/drawing/2014/main" id="{0C59B5DC-4063-4329-ADA4-06381C75419A}"/>
              </a:ext>
            </a:extLst>
          </p:cNvPr>
          <p:cNvSpPr>
            <a:spLocks xmlns:a="http://schemas.openxmlformats.org/drawingml/2006/main" noGrp="1"/>
          </p:cNvSpPr>
          <p:nvPr/>
        </p:nvSpPr>
        <p:spPr>
          <a:xfrm xmlns:a="http://schemas.openxmlformats.org/drawingml/2006/main">
            <a:off x="1657350" y="467677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실제로 확인한 결과</a:t>
            </a:r>
            <a:r>
              <a:t>와 남은 질문을 구별합니다.</a:t>
            </a:r>
          </a:p>
        </p:txBody>
      </p:sp>
      <p:sp>
        <p:nvSpPr>
          <p:cNvPr id="11" name="">
            <a:extLst xmlns:a="http://schemas.openxmlformats.org/drawingml/2006/main">
              <a:ext uri="{FF2B5EF4-FFF2-40B4-BE49-F238E27FC236}">
                <a16:creationId xmlns:a16="http://schemas.microsoft.com/office/drawing/2014/main" id="{C2A37FAE-A62C-4990-8BA3-637D235D78C1}"/>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90443D3-3AD7-426F-99EE-72489963A441}"/>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3" name="">
            <a:extLst xmlns:a="http://schemas.openxmlformats.org/drawingml/2006/main">
              <a:ext uri="{FF2B5EF4-FFF2-40B4-BE49-F238E27FC236}">
                <a16:creationId xmlns:a16="http://schemas.microsoft.com/office/drawing/2014/main" id="{C8FADF2C-7CF9-431A-AEB9-F7BA3411D995}"/>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098</a:t>
            </a:r>
          </a:p>
        </p:txBody>
      </p:sp>
    </p:spTree>
    <p:extLst>
      <p:ext uri="{BB962C8B-B14F-4D97-AF65-F5344CB8AC3E}">
        <p14:creationId xmlns:p14="http://schemas.microsoft.com/office/powerpoint/2010/main" val="68442804"/>
      </p:ext>
    </p:extLst>
  </p:cSld>
</p:sld>
</file>

<file path=ppt/slides/slide99.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17B5E1C-87D9-4EC4-997C-4D8B8CF8AF4E}"/>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2026.10.14</a:t>
            </a:r>
          </a:p>
        </p:txBody>
      </p:sp>
      <p:sp>
        <p:nvSpPr>
          <p:cNvPr id="2" name="">
            <a:extLst xmlns:a="http://schemas.openxmlformats.org/drawingml/2006/main">
              <a:ext uri="{FF2B5EF4-FFF2-40B4-BE49-F238E27FC236}">
                <a16:creationId xmlns:a16="http://schemas.microsoft.com/office/drawing/2014/main" id="{2F12E4B8-B8D7-45D5-9B6C-DE7A36C3DB07}"/>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저장하고 다음 사람에게 넘기기</a:t>
            </a:r>
          </a:p>
        </p:txBody>
      </p:sp>
      <p:sp>
        <p:nvSpPr>
          <p:cNvPr id="3" name="">
            <a:extLst xmlns:a="http://schemas.openxmlformats.org/drawingml/2006/main">
              <a:ext uri="{FF2B5EF4-FFF2-40B4-BE49-F238E27FC236}">
                <a16:creationId xmlns:a16="http://schemas.microsoft.com/office/drawing/2014/main" id="{4FB5E2EF-C080-49DC-A668-A9F33BA30F5F}"/>
              </a:ext>
            </a:extLst>
          </p:cNvPr>
          <p:cNvSpPr>
            <a:spLocks xmlns:a="http://schemas.openxmlformats.org/drawingml/2006/main" noGrp="1"/>
          </p:cNvSpPr>
          <p:nvPr/>
        </p:nvSpPr>
        <p:spPr>
          <a:xfrm xmlns:a="http://schemas.openxmlformats.org/drawingml/2006/main">
            <a:off x="609600" y="241935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01</a:t>
            </a:r>
          </a:p>
        </p:txBody>
      </p:sp>
      <p:sp>
        <p:nvSpPr>
          <p:cNvPr id="4" name="">
            <a:extLst xmlns:a="http://schemas.openxmlformats.org/drawingml/2006/main">
              <a:ext uri="{FF2B5EF4-FFF2-40B4-BE49-F238E27FC236}">
                <a16:creationId xmlns:a16="http://schemas.microsoft.com/office/drawing/2014/main" id="{8A14895A-275F-49D1-9614-7D1F9CC08D35}"/>
              </a:ext>
            </a:extLst>
          </p:cNvPr>
          <p:cNvSpPr>
            <a:spLocks xmlns:a="http://schemas.openxmlformats.org/drawingml/2006/main" noGrp="1"/>
          </p:cNvSpPr>
          <p:nvPr/>
        </p:nvSpPr>
        <p:spPr>
          <a:xfrm xmlns:a="http://schemas.openxmlformats.org/drawingml/2006/main">
            <a:off x="1657350" y="248602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작업 파일의 </a:t>
            </a:r>
            <a:r>
              <a:rPr b="1">
                <a:solidFill>
                  <a:srgbClr val="002FA7"/>
                </a:solidFill>
              </a:rPr>
              <a:t>이름과 위치</a:t>
            </a:r>
            <a:r>
              <a:t>를 적습니다.</a:t>
            </a:r>
          </a:p>
        </p:txBody>
      </p:sp>
      <p:sp>
        <p:nvSpPr>
          <p:cNvPr id="5" name="">
            <a:extLst xmlns:a="http://schemas.openxmlformats.org/drawingml/2006/main">
              <a:ext uri="{FF2B5EF4-FFF2-40B4-BE49-F238E27FC236}">
                <a16:creationId xmlns:a16="http://schemas.microsoft.com/office/drawing/2014/main" id="{3BAA84B4-4AD6-4D84-BC37-EDDDEBDA0380}"/>
              </a:ext>
            </a:extLst>
          </p:cNvPr>
          <p:cNvSpPr>
            <a:spLocks xmlns:a="http://schemas.openxmlformats.org/drawingml/2006/main" noGrp="1"/>
          </p:cNvSpPr>
          <p:nvPr/>
        </p:nvSpPr>
        <p:spPr>
          <a:xfrm xmlns:a="http://schemas.openxmlformats.org/drawingml/2006/main">
            <a:off x="1657350" y="3419475"/>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67FDB61-E7F9-4040-B0FF-E8F500E0E863}"/>
              </a:ext>
            </a:extLst>
          </p:cNvPr>
          <p:cNvSpPr>
            <a:spLocks xmlns:a="http://schemas.openxmlformats.org/drawingml/2006/main" noGrp="1"/>
          </p:cNvSpPr>
          <p:nvPr/>
        </p:nvSpPr>
        <p:spPr>
          <a:xfrm xmlns:a="http://schemas.openxmlformats.org/drawingml/2006/main">
            <a:off x="609600" y="3514725"/>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02</a:t>
            </a:r>
          </a:p>
        </p:txBody>
      </p:sp>
      <p:sp>
        <p:nvSpPr>
          <p:cNvPr id="7" name="">
            <a:extLst xmlns:a="http://schemas.openxmlformats.org/drawingml/2006/main">
              <a:ext uri="{FF2B5EF4-FFF2-40B4-BE49-F238E27FC236}">
                <a16:creationId xmlns:a16="http://schemas.microsoft.com/office/drawing/2014/main" id="{20F7CDB2-7231-4E49-9E1C-0CD388279A88}"/>
              </a:ext>
            </a:extLst>
          </p:cNvPr>
          <p:cNvSpPr>
            <a:spLocks xmlns:a="http://schemas.openxmlformats.org/drawingml/2006/main" noGrp="1"/>
          </p:cNvSpPr>
          <p:nvPr/>
        </p:nvSpPr>
        <p:spPr>
          <a:xfrm xmlns:a="http://schemas.openxmlformats.org/drawingml/2006/main">
            <a:off x="1657350" y="358140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수정 이유와 확인 결과를 남깁니다.</a:t>
            </a:r>
          </a:p>
        </p:txBody>
      </p:sp>
      <p:sp>
        <p:nvSpPr>
          <p:cNvPr id="8" name="">
            <a:extLst xmlns:a="http://schemas.openxmlformats.org/drawingml/2006/main">
              <a:ext uri="{FF2B5EF4-FFF2-40B4-BE49-F238E27FC236}">
                <a16:creationId xmlns:a16="http://schemas.microsoft.com/office/drawing/2014/main" id="{4AA73EC4-CD26-4AFD-85EF-D33F1C2F44BB}"/>
              </a:ext>
            </a:extLst>
          </p:cNvPr>
          <p:cNvSpPr>
            <a:spLocks xmlns:a="http://schemas.openxmlformats.org/drawingml/2006/main" noGrp="1"/>
          </p:cNvSpPr>
          <p:nvPr/>
        </p:nvSpPr>
        <p:spPr>
          <a:xfrm xmlns:a="http://schemas.openxmlformats.org/drawingml/2006/main">
            <a:off x="1657350" y="4514850"/>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D566018-9D8B-4F9A-84A2-1BA0ED9E084C}"/>
              </a:ext>
            </a:extLst>
          </p:cNvPr>
          <p:cNvSpPr>
            <a:spLocks xmlns:a="http://schemas.openxmlformats.org/drawingml/2006/main" noGrp="1"/>
          </p:cNvSpPr>
          <p:nvPr/>
        </p:nvSpPr>
        <p:spPr>
          <a:xfrm xmlns:a="http://schemas.openxmlformats.org/drawingml/2006/main">
            <a:off x="609600" y="461010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03</a:t>
            </a:r>
          </a:p>
        </p:txBody>
      </p:sp>
      <p:sp>
        <p:nvSpPr>
          <p:cNvPr id="10" name="">
            <a:extLst xmlns:a="http://schemas.openxmlformats.org/drawingml/2006/main">
              <a:ext uri="{FF2B5EF4-FFF2-40B4-BE49-F238E27FC236}">
                <a16:creationId xmlns:a16="http://schemas.microsoft.com/office/drawing/2014/main" id="{AF67EE5B-FF56-4163-B954-6E694F09EFDA}"/>
              </a:ext>
            </a:extLst>
          </p:cNvPr>
          <p:cNvSpPr>
            <a:spLocks xmlns:a="http://schemas.openxmlformats.org/drawingml/2006/main" noGrp="1"/>
          </p:cNvSpPr>
          <p:nvPr/>
        </p:nvSpPr>
        <p:spPr>
          <a:xfrm xmlns:a="http://schemas.openxmlformats.org/drawingml/2006/main">
            <a:off x="1657350" y="467677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모르는 실제 값은 추측해서 채우지 않습니다.</a:t>
            </a:r>
          </a:p>
        </p:txBody>
      </p:sp>
      <p:sp>
        <p:nvSpPr>
          <p:cNvPr id="11" name="">
            <a:extLst xmlns:a="http://schemas.openxmlformats.org/drawingml/2006/main">
              <a:ext uri="{FF2B5EF4-FFF2-40B4-BE49-F238E27FC236}">
                <a16:creationId xmlns:a16="http://schemas.microsoft.com/office/drawing/2014/main" id="{D06B8744-F6F0-4BD7-945A-609B5DF203F1}"/>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843E064-530E-491A-929F-6E7639FB2716}"/>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10/14  피지컬AI</a:t>
            </a:r>
          </a:p>
        </p:txBody>
      </p:sp>
      <p:sp>
        <p:nvSpPr>
          <p:cNvPr id="13" name="">
            <a:extLst xmlns:a="http://schemas.openxmlformats.org/drawingml/2006/main">
              <a:ext uri="{FF2B5EF4-FFF2-40B4-BE49-F238E27FC236}">
                <a16:creationId xmlns:a16="http://schemas.microsoft.com/office/drawing/2014/main" id="{911D468C-D753-432C-B03F-FE5FBD2D6D46}"/>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099</a:t>
            </a:r>
          </a:p>
        </p:txBody>
      </p:sp>
    </p:spTree>
    <p:extLst>
      <p:ext uri="{BB962C8B-B14F-4D97-AF65-F5344CB8AC3E}">
        <p14:creationId xmlns:p14="http://schemas.microsoft.com/office/powerpoint/2010/main" val="17068567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2026-10-05T03:40:09.9220000Z</dcterms:created>
  <dcterms:modified xsi:type="dcterms:W3CDTF">2026-10-05T03:40:09.9220000Z</dcterms:modified>
</coreProperties>
</file>