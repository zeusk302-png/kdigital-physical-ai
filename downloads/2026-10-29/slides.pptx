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3d6303b7ba460a" /><Relationship Type="http://schemas.openxmlformats.org/officeDocument/2006/relationships/extended-properties" Target="/docProps/app.xml" Id="Rc81ffc398bcb47cd" /><Relationship Type="http://schemas.openxmlformats.org/officeDocument/2006/relationships/officeDocument" Target="/ppt/presentation.xml" Id="R658f8d8044e34b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b3982179a5406b"/>
  </p:sldMasterIdLst>
  <p:notesMasterIdLst>
    <p:notesMasterId xmlns:r="http://schemas.openxmlformats.org/officeDocument/2006/relationships" r:id="R780c2c9a411146bc"/>
  </p:notesMasterIdLst>
  <p:sldIdLst>
    <p:sldId xmlns:r="http://schemas.openxmlformats.org/officeDocument/2006/relationships" id="256" r:id="R50f54f737a8c426e"/>
    <p:sldId xmlns:r="http://schemas.openxmlformats.org/officeDocument/2006/relationships" id="257" r:id="R4dd59f5e61f3443b"/>
    <p:sldId xmlns:r="http://schemas.openxmlformats.org/officeDocument/2006/relationships" id="258" r:id="Re57cc7212c1249d0"/>
    <p:sldId xmlns:r="http://schemas.openxmlformats.org/officeDocument/2006/relationships" id="259" r:id="R59977d09e26841a4"/>
    <p:sldId xmlns:r="http://schemas.openxmlformats.org/officeDocument/2006/relationships" id="260" r:id="R2fd22f9e0e0a4737"/>
    <p:sldId xmlns:r="http://schemas.openxmlformats.org/officeDocument/2006/relationships" id="261" r:id="Rdd4f73fee0bb48bc"/>
    <p:sldId xmlns:r="http://schemas.openxmlformats.org/officeDocument/2006/relationships" id="262" r:id="R60ac56f596074dad"/>
    <p:sldId xmlns:r="http://schemas.openxmlformats.org/officeDocument/2006/relationships" id="263" r:id="R6d382023cf404f23"/>
    <p:sldId xmlns:r="http://schemas.openxmlformats.org/officeDocument/2006/relationships" id="264" r:id="R7d493283b7c1498f"/>
    <p:sldId xmlns:r="http://schemas.openxmlformats.org/officeDocument/2006/relationships" id="265" r:id="Ra05195e846ea4f48"/>
    <p:sldId xmlns:r="http://schemas.openxmlformats.org/officeDocument/2006/relationships" id="266" r:id="R95f4a8e0bf1745a1"/>
    <p:sldId xmlns:r="http://schemas.openxmlformats.org/officeDocument/2006/relationships" id="267" r:id="R10c02fdbc7e24fb9"/>
    <p:sldId xmlns:r="http://schemas.openxmlformats.org/officeDocument/2006/relationships" id="268" r:id="Rce5628ee62544169"/>
    <p:sldId xmlns:r="http://schemas.openxmlformats.org/officeDocument/2006/relationships" id="269" r:id="Rce6a5c72999c4991"/>
    <p:sldId xmlns:r="http://schemas.openxmlformats.org/officeDocument/2006/relationships" id="270" r:id="R3ec8b64b745747aa"/>
    <p:sldId xmlns:r="http://schemas.openxmlformats.org/officeDocument/2006/relationships" id="271" r:id="Re05149924adc431b"/>
    <p:sldId xmlns:r="http://schemas.openxmlformats.org/officeDocument/2006/relationships" id="272" r:id="R8b38fc51b852456a"/>
    <p:sldId xmlns:r="http://schemas.openxmlformats.org/officeDocument/2006/relationships" id="273" r:id="Re059127726024487"/>
    <p:sldId xmlns:r="http://schemas.openxmlformats.org/officeDocument/2006/relationships" id="274" r:id="R852cc10c85bc48a0"/>
    <p:sldId xmlns:r="http://schemas.openxmlformats.org/officeDocument/2006/relationships" id="275" r:id="Rf67ded551e204e95"/>
    <p:sldId xmlns:r="http://schemas.openxmlformats.org/officeDocument/2006/relationships" id="276" r:id="R44c7d4ecfec84a7f"/>
    <p:sldId xmlns:r="http://schemas.openxmlformats.org/officeDocument/2006/relationships" id="277" r:id="Rca4cc17ea22e4fcb"/>
    <p:sldId xmlns:r="http://schemas.openxmlformats.org/officeDocument/2006/relationships" id="278" r:id="R261ebfb21c1647b0"/>
    <p:sldId xmlns:r="http://schemas.openxmlformats.org/officeDocument/2006/relationships" id="279" r:id="Rfacfe2eabf6d4723"/>
    <p:sldId xmlns:r="http://schemas.openxmlformats.org/officeDocument/2006/relationships" id="280" r:id="R530e240643324ea2"/>
    <p:sldId xmlns:r="http://schemas.openxmlformats.org/officeDocument/2006/relationships" id="281" r:id="Rf1affdf524114cc0"/>
    <p:sldId xmlns:r="http://schemas.openxmlformats.org/officeDocument/2006/relationships" id="282" r:id="R6db4bd5aa9604940"/>
    <p:sldId xmlns:r="http://schemas.openxmlformats.org/officeDocument/2006/relationships" id="283" r:id="Rec0a17f901e8463a"/>
    <p:sldId xmlns:r="http://schemas.openxmlformats.org/officeDocument/2006/relationships" id="284" r:id="Rf0263a92b26a4d77"/>
    <p:sldId xmlns:r="http://schemas.openxmlformats.org/officeDocument/2006/relationships" id="285" r:id="Ra33ae7c4708b4973"/>
    <p:sldId xmlns:r="http://schemas.openxmlformats.org/officeDocument/2006/relationships" id="286" r:id="R994673631d274b49"/>
    <p:sldId xmlns:r="http://schemas.openxmlformats.org/officeDocument/2006/relationships" id="287" r:id="R1fa9bf1c31044f15"/>
    <p:sldId xmlns:r="http://schemas.openxmlformats.org/officeDocument/2006/relationships" id="288" r:id="R472cfdd579004eae"/>
    <p:sldId xmlns:r="http://schemas.openxmlformats.org/officeDocument/2006/relationships" id="289" r:id="R97d13568a4074089"/>
    <p:sldId xmlns:r="http://schemas.openxmlformats.org/officeDocument/2006/relationships" id="290" r:id="Rc4b6903496064b5d"/>
    <p:sldId xmlns:r="http://schemas.openxmlformats.org/officeDocument/2006/relationships" id="291" r:id="Re388fadfbe6f48db"/>
    <p:sldId xmlns:r="http://schemas.openxmlformats.org/officeDocument/2006/relationships" id="292" r:id="Rca6ccf4e917c43dd"/>
    <p:sldId xmlns:r="http://schemas.openxmlformats.org/officeDocument/2006/relationships" id="293" r:id="R67b3bc9b087046a8"/>
    <p:sldId xmlns:r="http://schemas.openxmlformats.org/officeDocument/2006/relationships" id="294" r:id="R937b74f9e62f4f87"/>
    <p:sldId xmlns:r="http://schemas.openxmlformats.org/officeDocument/2006/relationships" id="295" r:id="R7b3ee25444a0416d"/>
    <p:sldId xmlns:r="http://schemas.openxmlformats.org/officeDocument/2006/relationships" id="296" r:id="R26cf6a1507a54685"/>
    <p:sldId xmlns:r="http://schemas.openxmlformats.org/officeDocument/2006/relationships" id="297" r:id="Rc35093cb9ad3414a"/>
    <p:sldId xmlns:r="http://schemas.openxmlformats.org/officeDocument/2006/relationships" id="298" r:id="R517e28a9349147bf"/>
    <p:sldId xmlns:r="http://schemas.openxmlformats.org/officeDocument/2006/relationships" id="299" r:id="R473e52a9ee5142fa"/>
    <p:sldId xmlns:r="http://schemas.openxmlformats.org/officeDocument/2006/relationships" id="300" r:id="R388a2d4c3fff43d3"/>
    <p:sldId xmlns:r="http://schemas.openxmlformats.org/officeDocument/2006/relationships" id="301" r:id="R31bbd05a50b54931"/>
    <p:sldId xmlns:r="http://schemas.openxmlformats.org/officeDocument/2006/relationships" id="302" r:id="Ra575b02e2b88429e"/>
    <p:sldId xmlns:r="http://schemas.openxmlformats.org/officeDocument/2006/relationships" id="303" r:id="Rdfb4a7f996974226"/>
    <p:sldId xmlns:r="http://schemas.openxmlformats.org/officeDocument/2006/relationships" id="304" r:id="R29bc48d53d524120"/>
    <p:sldId xmlns:r="http://schemas.openxmlformats.org/officeDocument/2006/relationships" id="305" r:id="Rdd2eceb13d7d4747"/>
    <p:sldId xmlns:r="http://schemas.openxmlformats.org/officeDocument/2006/relationships" id="306" r:id="R5dbb199107ce438d"/>
    <p:sldId xmlns:r="http://schemas.openxmlformats.org/officeDocument/2006/relationships" id="307" r:id="R14ba8826c0f743d2"/>
    <p:sldId xmlns:r="http://schemas.openxmlformats.org/officeDocument/2006/relationships" id="308" r:id="Ra14709a0eb4c49d8"/>
    <p:sldId xmlns:r="http://schemas.openxmlformats.org/officeDocument/2006/relationships" id="309" r:id="Ra3e648a57f8f4b25"/>
    <p:sldId xmlns:r="http://schemas.openxmlformats.org/officeDocument/2006/relationships" id="310" r:id="R8c4c9f6041af48bd"/>
    <p:sldId xmlns:r="http://schemas.openxmlformats.org/officeDocument/2006/relationships" id="311" r:id="R358a79547e65484c"/>
    <p:sldId xmlns:r="http://schemas.openxmlformats.org/officeDocument/2006/relationships" id="312" r:id="Rf3f78432a651422b"/>
    <p:sldId xmlns:r="http://schemas.openxmlformats.org/officeDocument/2006/relationships" id="313" r:id="R20dc28836c7945fe"/>
    <p:sldId xmlns:r="http://schemas.openxmlformats.org/officeDocument/2006/relationships" id="314" r:id="R6d70d593e2d44ee4"/>
    <p:sldId xmlns:r="http://schemas.openxmlformats.org/officeDocument/2006/relationships" id="315" r:id="R4263c3dfc0fb4afc"/>
    <p:sldId xmlns:r="http://schemas.openxmlformats.org/officeDocument/2006/relationships" id="316" r:id="R664f9ad93b5048a5"/>
    <p:sldId xmlns:r="http://schemas.openxmlformats.org/officeDocument/2006/relationships" id="317" r:id="R6c4324bccb7649f2"/>
    <p:sldId xmlns:r="http://schemas.openxmlformats.org/officeDocument/2006/relationships" id="318" r:id="R2b4d7e42dfc940fa"/>
    <p:sldId xmlns:r="http://schemas.openxmlformats.org/officeDocument/2006/relationships" id="319" r:id="R5a5b49889cdc4b64"/>
    <p:sldId xmlns:r="http://schemas.openxmlformats.org/officeDocument/2006/relationships" id="320" r:id="R1141053d87544281"/>
    <p:sldId xmlns:r="http://schemas.openxmlformats.org/officeDocument/2006/relationships" id="321" r:id="Rc3e4405223054ae2"/>
    <p:sldId xmlns:r="http://schemas.openxmlformats.org/officeDocument/2006/relationships" id="322" r:id="Re463cc8f565840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eadb5659574f08" /><Relationship Type="http://schemas.openxmlformats.org/officeDocument/2006/relationships/slideMaster" Target="/ppt/slideMasters/slideMaster1.xml" Id="R78b3982179a5406b" /><Relationship Type="http://schemas.openxmlformats.org/officeDocument/2006/relationships/notesMaster" Target="/ppt/notesMasters/notesMaster1.xml" Id="R780c2c9a411146bc" /><Relationship Type="http://schemas.openxmlformats.org/officeDocument/2006/relationships/presProps" Target="/ppt/presProps.xml" Id="R2c8e596cef2542f9" /><Relationship Type="http://schemas.openxmlformats.org/officeDocument/2006/relationships/tableStyles" Target="/ppt/tableStyles.xml" Id="R26156520bb104810" /><Relationship Type="http://schemas.openxmlformats.org/officeDocument/2006/relationships/slide" Target="/ppt/slides/slide1.xml" Id="R50f54f737a8c426e" /><Relationship Type="http://schemas.openxmlformats.org/officeDocument/2006/relationships/slide" Target="/ppt/slides/slide2.xml" Id="R4dd59f5e61f3443b" /><Relationship Type="http://schemas.openxmlformats.org/officeDocument/2006/relationships/slide" Target="/ppt/slides/slide3.xml" Id="Re57cc7212c1249d0" /><Relationship Type="http://schemas.openxmlformats.org/officeDocument/2006/relationships/slide" Target="/ppt/slides/slide4.xml" Id="R59977d09e26841a4" /><Relationship Type="http://schemas.openxmlformats.org/officeDocument/2006/relationships/slide" Target="/ppt/slides/slide5.xml" Id="R2fd22f9e0e0a4737" /><Relationship Type="http://schemas.openxmlformats.org/officeDocument/2006/relationships/slide" Target="/ppt/slides/slide6.xml" Id="Rdd4f73fee0bb48bc" /><Relationship Type="http://schemas.openxmlformats.org/officeDocument/2006/relationships/slide" Target="/ppt/slides/slide7.xml" Id="R60ac56f596074dad" /><Relationship Type="http://schemas.openxmlformats.org/officeDocument/2006/relationships/slide" Target="/ppt/slides/slide8.xml" Id="R6d382023cf404f23" /><Relationship Type="http://schemas.openxmlformats.org/officeDocument/2006/relationships/slide" Target="/ppt/slides/slide9.xml" Id="R7d493283b7c1498f" /><Relationship Type="http://schemas.openxmlformats.org/officeDocument/2006/relationships/slide" Target="/ppt/slides/slide10.xml" Id="Ra05195e846ea4f48" /><Relationship Type="http://schemas.openxmlformats.org/officeDocument/2006/relationships/slide" Target="/ppt/slides/slide11.xml" Id="R95f4a8e0bf1745a1" /><Relationship Type="http://schemas.openxmlformats.org/officeDocument/2006/relationships/slide" Target="/ppt/slides/slide12.xml" Id="R10c02fdbc7e24fb9" /><Relationship Type="http://schemas.openxmlformats.org/officeDocument/2006/relationships/slide" Target="/ppt/slides/slide13.xml" Id="Rce5628ee62544169" /><Relationship Type="http://schemas.openxmlformats.org/officeDocument/2006/relationships/slide" Target="/ppt/slides/slide14.xml" Id="Rce6a5c72999c4991" /><Relationship Type="http://schemas.openxmlformats.org/officeDocument/2006/relationships/slide" Target="/ppt/slides/slide15.xml" Id="R3ec8b64b745747aa" /><Relationship Type="http://schemas.openxmlformats.org/officeDocument/2006/relationships/slide" Target="/ppt/slides/slide16.xml" Id="Re05149924adc431b" /><Relationship Type="http://schemas.openxmlformats.org/officeDocument/2006/relationships/slide" Target="/ppt/slides/slide17.xml" Id="R8b38fc51b852456a" /><Relationship Type="http://schemas.openxmlformats.org/officeDocument/2006/relationships/slide" Target="/ppt/slides/slide18.xml" Id="Re059127726024487" /><Relationship Type="http://schemas.openxmlformats.org/officeDocument/2006/relationships/slide" Target="/ppt/slides/slide19.xml" Id="R852cc10c85bc48a0" /><Relationship Type="http://schemas.openxmlformats.org/officeDocument/2006/relationships/slide" Target="/ppt/slides/slide20.xml" Id="Rf67ded551e204e95" /><Relationship Type="http://schemas.openxmlformats.org/officeDocument/2006/relationships/slide" Target="/ppt/slides/slide21.xml" Id="R44c7d4ecfec84a7f" /><Relationship Type="http://schemas.openxmlformats.org/officeDocument/2006/relationships/slide" Target="/ppt/slides/slide22.xml" Id="Rca4cc17ea22e4fcb" /><Relationship Type="http://schemas.openxmlformats.org/officeDocument/2006/relationships/slide" Target="/ppt/slides/slide23.xml" Id="R261ebfb21c1647b0" /><Relationship Type="http://schemas.openxmlformats.org/officeDocument/2006/relationships/slide" Target="/ppt/slides/slide24.xml" Id="Rfacfe2eabf6d4723" /><Relationship Type="http://schemas.openxmlformats.org/officeDocument/2006/relationships/slide" Target="/ppt/slides/slide25.xml" Id="R530e240643324ea2" /><Relationship Type="http://schemas.openxmlformats.org/officeDocument/2006/relationships/slide" Target="/ppt/slides/slide26.xml" Id="Rf1affdf524114cc0" /><Relationship Type="http://schemas.openxmlformats.org/officeDocument/2006/relationships/slide" Target="/ppt/slides/slide27.xml" Id="R6db4bd5aa9604940" /><Relationship Type="http://schemas.openxmlformats.org/officeDocument/2006/relationships/slide" Target="/ppt/slides/slide28.xml" Id="Rec0a17f901e8463a" /><Relationship Type="http://schemas.openxmlformats.org/officeDocument/2006/relationships/slide" Target="/ppt/slides/slide29.xml" Id="Rf0263a92b26a4d77" /><Relationship Type="http://schemas.openxmlformats.org/officeDocument/2006/relationships/slide" Target="/ppt/slides/slide30.xml" Id="Ra33ae7c4708b4973" /><Relationship Type="http://schemas.openxmlformats.org/officeDocument/2006/relationships/slide" Target="/ppt/slides/slide31.xml" Id="R994673631d274b49" /><Relationship Type="http://schemas.openxmlformats.org/officeDocument/2006/relationships/slide" Target="/ppt/slides/slide32.xml" Id="R1fa9bf1c31044f15" /><Relationship Type="http://schemas.openxmlformats.org/officeDocument/2006/relationships/slide" Target="/ppt/slides/slide33.xml" Id="R472cfdd579004eae" /><Relationship Type="http://schemas.openxmlformats.org/officeDocument/2006/relationships/slide" Target="/ppt/slides/slide34.xml" Id="R97d13568a4074089" /><Relationship Type="http://schemas.openxmlformats.org/officeDocument/2006/relationships/slide" Target="/ppt/slides/slide35.xml" Id="Rc4b6903496064b5d" /><Relationship Type="http://schemas.openxmlformats.org/officeDocument/2006/relationships/slide" Target="/ppt/slides/slide36.xml" Id="Re388fadfbe6f48db" /><Relationship Type="http://schemas.openxmlformats.org/officeDocument/2006/relationships/slide" Target="/ppt/slides/slide37.xml" Id="Rca6ccf4e917c43dd" /><Relationship Type="http://schemas.openxmlformats.org/officeDocument/2006/relationships/slide" Target="/ppt/slides/slide38.xml" Id="R67b3bc9b087046a8" /><Relationship Type="http://schemas.openxmlformats.org/officeDocument/2006/relationships/slide" Target="/ppt/slides/slide39.xml" Id="R937b74f9e62f4f87" /><Relationship Type="http://schemas.openxmlformats.org/officeDocument/2006/relationships/slide" Target="/ppt/slides/slide40.xml" Id="R7b3ee25444a0416d" /><Relationship Type="http://schemas.openxmlformats.org/officeDocument/2006/relationships/slide" Target="/ppt/slides/slide41.xml" Id="R26cf6a1507a54685" /><Relationship Type="http://schemas.openxmlformats.org/officeDocument/2006/relationships/slide" Target="/ppt/slides/slide42.xml" Id="Rc35093cb9ad3414a" /><Relationship Type="http://schemas.openxmlformats.org/officeDocument/2006/relationships/slide" Target="/ppt/slides/slide43.xml" Id="R517e28a9349147bf" /><Relationship Type="http://schemas.openxmlformats.org/officeDocument/2006/relationships/slide" Target="/ppt/slides/slide44.xml" Id="R473e52a9ee5142fa" /><Relationship Type="http://schemas.openxmlformats.org/officeDocument/2006/relationships/slide" Target="/ppt/slides/slide45.xml" Id="R388a2d4c3fff43d3" /><Relationship Type="http://schemas.openxmlformats.org/officeDocument/2006/relationships/slide" Target="/ppt/slides/slide46.xml" Id="R31bbd05a50b54931" /><Relationship Type="http://schemas.openxmlformats.org/officeDocument/2006/relationships/slide" Target="/ppt/slides/slide47.xml" Id="Ra575b02e2b88429e" /><Relationship Type="http://schemas.openxmlformats.org/officeDocument/2006/relationships/slide" Target="/ppt/slides/slide48.xml" Id="Rdfb4a7f996974226" /><Relationship Type="http://schemas.openxmlformats.org/officeDocument/2006/relationships/slide" Target="/ppt/slides/slide49.xml" Id="R29bc48d53d524120" /><Relationship Type="http://schemas.openxmlformats.org/officeDocument/2006/relationships/slide" Target="/ppt/slides/slide50.xml" Id="Rdd2eceb13d7d4747" /><Relationship Type="http://schemas.openxmlformats.org/officeDocument/2006/relationships/slide" Target="/ppt/slides/slide51.xml" Id="R5dbb199107ce438d" /><Relationship Type="http://schemas.openxmlformats.org/officeDocument/2006/relationships/slide" Target="/ppt/slides/slide52.xml" Id="R14ba8826c0f743d2" /><Relationship Type="http://schemas.openxmlformats.org/officeDocument/2006/relationships/slide" Target="/ppt/slides/slide53.xml" Id="Ra14709a0eb4c49d8" /><Relationship Type="http://schemas.openxmlformats.org/officeDocument/2006/relationships/slide" Target="/ppt/slides/slide54.xml" Id="Ra3e648a57f8f4b25" /><Relationship Type="http://schemas.openxmlformats.org/officeDocument/2006/relationships/slide" Target="/ppt/slides/slide55.xml" Id="R8c4c9f6041af48bd" /><Relationship Type="http://schemas.openxmlformats.org/officeDocument/2006/relationships/slide" Target="/ppt/slides/slide56.xml" Id="R358a79547e65484c" /><Relationship Type="http://schemas.openxmlformats.org/officeDocument/2006/relationships/slide" Target="/ppt/slides/slide57.xml" Id="Rf3f78432a651422b" /><Relationship Type="http://schemas.openxmlformats.org/officeDocument/2006/relationships/slide" Target="/ppt/slides/slide58.xml" Id="R20dc28836c7945fe" /><Relationship Type="http://schemas.openxmlformats.org/officeDocument/2006/relationships/slide" Target="/ppt/slides/slide59.xml" Id="R6d70d593e2d44ee4" /><Relationship Type="http://schemas.openxmlformats.org/officeDocument/2006/relationships/slide" Target="/ppt/slides/slide60.xml" Id="R4263c3dfc0fb4afc" /><Relationship Type="http://schemas.openxmlformats.org/officeDocument/2006/relationships/slide" Target="/ppt/slides/slide61.xml" Id="R664f9ad93b5048a5" /><Relationship Type="http://schemas.openxmlformats.org/officeDocument/2006/relationships/slide" Target="/ppt/slides/slide62.xml" Id="R6c4324bccb7649f2" /><Relationship Type="http://schemas.openxmlformats.org/officeDocument/2006/relationships/slide" Target="/ppt/slides/slide63.xml" Id="R2b4d7e42dfc940fa" /><Relationship Type="http://schemas.openxmlformats.org/officeDocument/2006/relationships/slide" Target="/ppt/slides/slide64.xml" Id="R5a5b49889cdc4b64" /><Relationship Type="http://schemas.openxmlformats.org/officeDocument/2006/relationships/slide" Target="/ppt/slides/slide65.xml" Id="R1141053d87544281" /><Relationship Type="http://schemas.openxmlformats.org/officeDocument/2006/relationships/slide" Target="/ppt/slides/slide66.xml" Id="Rc3e4405223054ae2" /><Relationship Type="http://schemas.openxmlformats.org/officeDocument/2006/relationships/slide" Target="/ppt/slides/slide67.xml" Id="Re463cc8f565840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11cd088ea147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acea004d9f457b" /><Relationship Type="http://schemas.openxmlformats.org/officeDocument/2006/relationships/notesMaster" Target="/ppt/notesMasters/notesMaster1.xml" Id="R777b73a5461e4b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68b5d08b5d42b1" /><Relationship Type="http://schemas.openxmlformats.org/officeDocument/2006/relationships/notesMaster" Target="/ppt/notesMasters/notesMaster1.xml" Id="R404f1a65d4cd49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998b2cb73d4923" /><Relationship Type="http://schemas.openxmlformats.org/officeDocument/2006/relationships/notesMaster" Target="/ppt/notesMasters/notesMaster1.xml" Id="Rd150026d5cd64c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ea0305d52e4539" /><Relationship Type="http://schemas.openxmlformats.org/officeDocument/2006/relationships/notesMaster" Target="/ppt/notesMasters/notesMaster1.xml" Id="R12ecccc5490e4a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000471cfaf4892" /><Relationship Type="http://schemas.openxmlformats.org/officeDocument/2006/relationships/notesMaster" Target="/ppt/notesMasters/notesMaster1.xml" Id="R5b30457948a44f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9f8a5b36a3471f" /><Relationship Type="http://schemas.openxmlformats.org/officeDocument/2006/relationships/notesMaster" Target="/ppt/notesMasters/notesMaster1.xml" Id="R2d8b62d3b44c4b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612d508f574e32" /><Relationship Type="http://schemas.openxmlformats.org/officeDocument/2006/relationships/notesMaster" Target="/ppt/notesMasters/notesMaster1.xml" Id="R4b478022182847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aba131be294ddc" /><Relationship Type="http://schemas.openxmlformats.org/officeDocument/2006/relationships/notesMaster" Target="/ppt/notesMasters/notesMaster1.xml" Id="R77fbdfd97fb849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df15559ede4eeb" /><Relationship Type="http://schemas.openxmlformats.org/officeDocument/2006/relationships/notesMaster" Target="/ppt/notesMasters/notesMaster1.xml" Id="R0cbe9ee07f3e4c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a92c559c594fec" /><Relationship Type="http://schemas.openxmlformats.org/officeDocument/2006/relationships/notesMaster" Target="/ppt/notesMasters/notesMaster1.xml" Id="R683d0cd8fbb248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76d728fb3a4f9f" /><Relationship Type="http://schemas.openxmlformats.org/officeDocument/2006/relationships/notesMaster" Target="/ppt/notesMasters/notesMaster1.xml" Id="R77e912c3c6e748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2f8ee097e94e1f" /><Relationship Type="http://schemas.openxmlformats.org/officeDocument/2006/relationships/notesMaster" Target="/ppt/notesMasters/notesMaster1.xml" Id="R3ca5b07fbfd44d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be90a5e8ed45c9" /><Relationship Type="http://schemas.openxmlformats.org/officeDocument/2006/relationships/notesMaster" Target="/ppt/notesMasters/notesMaster1.xml" Id="Raf38fce253ce4f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8c1f1f056d4513" /><Relationship Type="http://schemas.openxmlformats.org/officeDocument/2006/relationships/notesMaster" Target="/ppt/notesMasters/notesMaster1.xml" Id="Ra77452c0533942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a2a42e9ae243cb" /><Relationship Type="http://schemas.openxmlformats.org/officeDocument/2006/relationships/notesMaster" Target="/ppt/notesMasters/notesMaster1.xml" Id="R1f6c71d6d82149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d146a67cb34dad" /><Relationship Type="http://schemas.openxmlformats.org/officeDocument/2006/relationships/notesMaster" Target="/ppt/notesMasters/notesMaster1.xml" Id="Rd0970494f5e44e6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3b2fdc0b2a424f" /><Relationship Type="http://schemas.openxmlformats.org/officeDocument/2006/relationships/notesMaster" Target="/ppt/notesMasters/notesMaster1.xml" Id="R7e760ac0af8b43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7092f2dfd8476d" /><Relationship Type="http://schemas.openxmlformats.org/officeDocument/2006/relationships/notesMaster" Target="/ppt/notesMasters/notesMaster1.xml" Id="R95086a6b0dd94b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6ec48c4e8d4193" /><Relationship Type="http://schemas.openxmlformats.org/officeDocument/2006/relationships/notesMaster" Target="/ppt/notesMasters/notesMaster1.xml" Id="Rc28bd4ac610d45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269518601245ab" /><Relationship Type="http://schemas.openxmlformats.org/officeDocument/2006/relationships/notesMaster" Target="/ppt/notesMasters/notesMaster1.xml" Id="R802bb82fcd97421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80e0a0ef95c488c" /><Relationship Type="http://schemas.openxmlformats.org/officeDocument/2006/relationships/notesMaster" Target="/ppt/notesMasters/notesMaster1.xml" Id="R25af8c46f36046a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347d6f86a084ad5" /><Relationship Type="http://schemas.openxmlformats.org/officeDocument/2006/relationships/notesMaster" Target="/ppt/notesMasters/notesMaster1.xml" Id="R71d9dd6a87ca48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e4ede79d1f04679" /><Relationship Type="http://schemas.openxmlformats.org/officeDocument/2006/relationships/notesMaster" Target="/ppt/notesMasters/notesMaster1.xml" Id="Ra7cce7fba7fe497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17e0fb979d24e8c" /><Relationship Type="http://schemas.openxmlformats.org/officeDocument/2006/relationships/notesMaster" Target="/ppt/notesMasters/notesMaster1.xml" Id="Rf0591c54647241b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889d9b45d4540bb" /><Relationship Type="http://schemas.openxmlformats.org/officeDocument/2006/relationships/notesMaster" Target="/ppt/notesMasters/notesMaster1.xml" Id="R93441cd72eb3493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aee60547ccc41c8" /><Relationship Type="http://schemas.openxmlformats.org/officeDocument/2006/relationships/notesMaster" Target="/ppt/notesMasters/notesMaster1.xml" Id="Rff4a6204e3bb43b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04e26f00fe46d0" /><Relationship Type="http://schemas.openxmlformats.org/officeDocument/2006/relationships/notesMaster" Target="/ppt/notesMasters/notesMaster1.xml" Id="Rc66bd3a3cf494a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2941ab68b8442fc" /><Relationship Type="http://schemas.openxmlformats.org/officeDocument/2006/relationships/notesMaster" Target="/ppt/notesMasters/notesMaster1.xml" Id="R77751b35aa3a465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cf8827d836e4171" /><Relationship Type="http://schemas.openxmlformats.org/officeDocument/2006/relationships/notesMaster" Target="/ppt/notesMasters/notesMaster1.xml" Id="Ra2ea6226cdd1482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acc5c4f78d24248" /><Relationship Type="http://schemas.openxmlformats.org/officeDocument/2006/relationships/notesMaster" Target="/ppt/notesMasters/notesMaster1.xml" Id="Rb597e17bd6ab4f2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61e3ac83bbf40ef" /><Relationship Type="http://schemas.openxmlformats.org/officeDocument/2006/relationships/notesMaster" Target="/ppt/notesMasters/notesMaster1.xml" Id="R5b6e632820144ab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2ab82a0dfaa4d56" /><Relationship Type="http://schemas.openxmlformats.org/officeDocument/2006/relationships/notesMaster" Target="/ppt/notesMasters/notesMaster1.xml" Id="Ref486982df8c42b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543eb2c3acd482f" /><Relationship Type="http://schemas.openxmlformats.org/officeDocument/2006/relationships/notesMaster" Target="/ppt/notesMasters/notesMaster1.xml" Id="R0939ec81d1f84ff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e960c811f354c92" /><Relationship Type="http://schemas.openxmlformats.org/officeDocument/2006/relationships/notesMaster" Target="/ppt/notesMasters/notesMaster1.xml" Id="R8131809fa8b841b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b0d2a0fb2c54385" /><Relationship Type="http://schemas.openxmlformats.org/officeDocument/2006/relationships/notesMaster" Target="/ppt/notesMasters/notesMaster1.xml" Id="R25d8a005a98f4a7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365546bdc6e40e1" /><Relationship Type="http://schemas.openxmlformats.org/officeDocument/2006/relationships/notesMaster" Target="/ppt/notesMasters/notesMaster1.xml" Id="Rbaa1ab4b468e420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c2e16533a3d487c" /><Relationship Type="http://schemas.openxmlformats.org/officeDocument/2006/relationships/notesMaster" Target="/ppt/notesMasters/notesMaster1.xml" Id="R7e1a54766cfa4f6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46d3baef6c84979" /><Relationship Type="http://schemas.openxmlformats.org/officeDocument/2006/relationships/notesMaster" Target="/ppt/notesMasters/notesMaster1.xml" Id="Rd0fdb0d677dd4a7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8dd4d6288bd4d1c" /><Relationship Type="http://schemas.openxmlformats.org/officeDocument/2006/relationships/notesMaster" Target="/ppt/notesMasters/notesMaster1.xml" Id="Raa42a6abc6b2483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4d8cfc8fe354425" /><Relationship Type="http://schemas.openxmlformats.org/officeDocument/2006/relationships/notesMaster" Target="/ppt/notesMasters/notesMaster1.xml" Id="Rd5c742f251de4c2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6fccbae162b4c70" /><Relationship Type="http://schemas.openxmlformats.org/officeDocument/2006/relationships/notesMaster" Target="/ppt/notesMasters/notesMaster1.xml" Id="R9c8615fed8b14e6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904c3d468294d3a" /><Relationship Type="http://schemas.openxmlformats.org/officeDocument/2006/relationships/notesMaster" Target="/ppt/notesMasters/notesMaster1.xml" Id="R8649320bc458437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ce70756057e496d" /><Relationship Type="http://schemas.openxmlformats.org/officeDocument/2006/relationships/notesMaster" Target="/ppt/notesMasters/notesMaster1.xml" Id="Rb8c7cedfe3de481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0e6a38cb9644a30" /><Relationship Type="http://schemas.openxmlformats.org/officeDocument/2006/relationships/notesMaster" Target="/ppt/notesMasters/notesMaster1.xml" Id="R173d542c46054b0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a086196009f4765" /><Relationship Type="http://schemas.openxmlformats.org/officeDocument/2006/relationships/notesMaster" Target="/ppt/notesMasters/notesMaster1.xml" Id="R115f0e0c113e4bd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3d00f644bcf4203" /><Relationship Type="http://schemas.openxmlformats.org/officeDocument/2006/relationships/notesMaster" Target="/ppt/notesMasters/notesMaster1.xml" Id="R34951c64fee64c7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e5f3b169c004c55" /><Relationship Type="http://schemas.openxmlformats.org/officeDocument/2006/relationships/notesMaster" Target="/ppt/notesMasters/notesMaster1.xml" Id="Rb2a76b6d0ca747f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73691fcee504d5e" /><Relationship Type="http://schemas.openxmlformats.org/officeDocument/2006/relationships/notesMaster" Target="/ppt/notesMasters/notesMaster1.xml" Id="Ra61182d6c4f74aa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d4bd0a6e0e94932" /><Relationship Type="http://schemas.openxmlformats.org/officeDocument/2006/relationships/notesMaster" Target="/ppt/notesMasters/notesMaster1.xml" Id="R0bef37bfcb45477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908b3bbb9934f06" /><Relationship Type="http://schemas.openxmlformats.org/officeDocument/2006/relationships/notesMaster" Target="/ppt/notesMasters/notesMaster1.xml" Id="R2f61c0642a514dc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ad85f3c5101495e" /><Relationship Type="http://schemas.openxmlformats.org/officeDocument/2006/relationships/notesMaster" Target="/ppt/notesMasters/notesMaster1.xml" Id="Rb63732910cf1484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aae57d0696e4bfb" /><Relationship Type="http://schemas.openxmlformats.org/officeDocument/2006/relationships/notesMaster" Target="/ppt/notesMasters/notesMaster1.xml" Id="R70b552ec00bf49f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141d88d969c4ff8" /><Relationship Type="http://schemas.openxmlformats.org/officeDocument/2006/relationships/notesMaster" Target="/ppt/notesMasters/notesMaster1.xml" Id="R161f3db7758e447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166f8d8eb36462a" /><Relationship Type="http://schemas.openxmlformats.org/officeDocument/2006/relationships/notesMaster" Target="/ppt/notesMasters/notesMaster1.xml" Id="R3720ab74b93a4f9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7e68ca4bf964fba" /><Relationship Type="http://schemas.openxmlformats.org/officeDocument/2006/relationships/notesMaster" Target="/ppt/notesMasters/notesMaster1.xml" Id="R57253e1aa1d1471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4c93cc91cf34dfd" /><Relationship Type="http://schemas.openxmlformats.org/officeDocument/2006/relationships/notesMaster" Target="/ppt/notesMasters/notesMaster1.xml" Id="R78c4f17c3a5a464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93c31c749ab49c8" /><Relationship Type="http://schemas.openxmlformats.org/officeDocument/2006/relationships/notesMaster" Target="/ppt/notesMasters/notesMaster1.xml" Id="Rde168ad29fe14f48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b5c5d19b0a24fe6" /><Relationship Type="http://schemas.openxmlformats.org/officeDocument/2006/relationships/notesMaster" Target="/ppt/notesMasters/notesMaster1.xml" Id="R59e22a32984c443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47e02b17bc040cb" /><Relationship Type="http://schemas.openxmlformats.org/officeDocument/2006/relationships/notesMaster" Target="/ppt/notesMasters/notesMaster1.xml" Id="R02dbad9d061a4e5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1ebc267e30654137" /><Relationship Type="http://schemas.openxmlformats.org/officeDocument/2006/relationships/notesMaster" Target="/ppt/notesMasters/notesMaster1.xml" Id="R88ef97fe830e481a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2b7884432c8145b8" /><Relationship Type="http://schemas.openxmlformats.org/officeDocument/2006/relationships/notesMaster" Target="/ppt/notesMasters/notesMaster1.xml" Id="R341bdb01bd9c4e44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a334775bb584bf4" /><Relationship Type="http://schemas.openxmlformats.org/officeDocument/2006/relationships/notesMaster" Target="/ppt/notesMasters/notesMaster1.xml" Id="Rc48df4885b9844a1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90f36f72bfc45a2" /><Relationship Type="http://schemas.openxmlformats.org/officeDocument/2006/relationships/notesMaster" Target="/ppt/notesMasters/notesMaster1.xml" Id="R4bb91cb85a094ed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82af12959c624835" /><Relationship Type="http://schemas.openxmlformats.org/officeDocument/2006/relationships/notesMaster" Target="/ppt/notesMasters/notesMaster1.xml" Id="R32fe9f95749c47d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c117041fdc554ae0" /><Relationship Type="http://schemas.openxmlformats.org/officeDocument/2006/relationships/notesMaster" Target="/ppt/notesMasters/notesMaster1.xml" Id="R6bbb3b7882bc4083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af34c85fc6e4b5b" /><Relationship Type="http://schemas.openxmlformats.org/officeDocument/2006/relationships/notesMaster" Target="/ppt/notesMasters/notesMaster1.xml" Id="Rc39c5bf12475446e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733f374692fe4f35" /><Relationship Type="http://schemas.openxmlformats.org/officeDocument/2006/relationships/notesMaster" Target="/ppt/notesMasters/notesMaster1.xml" Id="R26da44ba8d524f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대시보드는 여러 기록을 모아 현재 상황과 변화를 확인하는 업무 화면입니다. 먼저 누가 어떤 결정을 위해 보는지 정합니다.</a:t>
            </a:r>
          </a:p>
          <a:p xmlns:a="http://schemas.openxmlformats.org/drawingml/2006/main">
            <a:r>
              <a:t>많은 숫자를 한 화면에 놓아도 사용자의 질문에 답하지 못하면 확인 부담만 커집니다.</a:t>
            </a:r>
          </a:p>
          <a:p xmlns:a="http://schemas.openxmlformats.org/drawingml/2006/main">
            <a:r>
              <a:t>예: 점검 담당자는 장소별 마지막 온도와 그 값이 언제 들어왔는지, 미측정인지 알고 싶어합니다.</a:t>
            </a:r>
          </a:p>
          <a:p xmlns:a="http://schemas.openxmlformats.org/drawingml/2006/main">
            <a:r>
              <a:t>반례: 큰 숫자 22.8만 보여 주면 단위와 장소, 기록 시각을 알 수 없습니다.</a:t>
            </a:r>
          </a:p>
          <a:p xmlns:a="http://schemas.openxmlformats.org/drawingml/2006/main">
            <a:r>
              <a:t>풀이: 현재 값뿐 아니라 단위·위치·기록 시각·상태를 사용자 질문과 연결한다.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대시보드는 여러 기록을 모아 현재 상황과 변화를 확인하는 업무 화면입니다. 먼저 누가 어떤 결정을 위해 보는지 정합니다.</a:t>
            </a:r>
          </a:p>
          <a:p xmlns:a="http://schemas.openxmlformats.org/drawingml/2006/main">
            <a:r>
              <a:t>많은 숫자를 한 화면에 놓아도 사용자의 질문에 답하지 못하면 확인 부담만 커집니다.</a:t>
            </a:r>
          </a:p>
          <a:p xmlns:a="http://schemas.openxmlformats.org/drawingml/2006/main">
            <a:r>
              <a:t>예: 점검 담당자는 장소별 마지막 온도와 그 값이 언제 들어왔는지, 미측정인지 알고 싶어합니다.</a:t>
            </a:r>
          </a:p>
          <a:p xmlns:a="http://schemas.openxmlformats.org/drawingml/2006/main">
            <a:r>
              <a:t>반례: 큰 숫자 22.8만 보여 주면 단위와 장소, 기록 시각을 알 수 없습니다.</a:t>
            </a:r>
          </a:p>
          <a:p xmlns:a="http://schemas.openxmlformats.org/drawingml/2006/main">
            <a:r>
              <a:t>풀이: 현재 값뿐 아니라 단위·위치·기록 시각·상태를 사용자 질문과 연결한다.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대시보드는 여러 기록을 모아 현재 상황과 변화를 확인하는 업무 화면입니다. 먼저 누가 어떤 결정을 위해 보는지 정합니다.</a:t>
            </a:r>
          </a:p>
          <a:p xmlns:a="http://schemas.openxmlformats.org/drawingml/2006/main">
            <a:r>
              <a:t>많은 숫자를 한 화면에 놓아도 사용자의 질문에 답하지 못하면 확인 부담만 커집니다.</a:t>
            </a:r>
          </a:p>
          <a:p xmlns:a="http://schemas.openxmlformats.org/drawingml/2006/main">
            <a:r>
              <a:t>예: 점검 담당자는 장소별 마지막 온도와 그 값이 언제 들어왔는지, 미측정인지 알고 싶어합니다.</a:t>
            </a:r>
          </a:p>
          <a:p xmlns:a="http://schemas.openxmlformats.org/drawingml/2006/main">
            <a:r>
              <a:t>반례: 큰 숫자 22.8만 보여 주면 단위와 장소, 기록 시각을 알 수 없습니다.</a:t>
            </a:r>
          </a:p>
          <a:p xmlns:a="http://schemas.openxmlformats.org/drawingml/2006/main">
            <a:r>
              <a:t>풀이: 현재 값뿐 아니라 단위·위치·기록 시각·상태를 사용자 질문과 연결한다.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화면을 열 수 없으면 제공 index.html 원문과 초기 시나리오를 먼저 대조합니다.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행은 센서의 한 시점 관찰입니다. 최신 기록은 배열의 마지막 줄이라는 뜻이 아니라 측정 시각을 비교해 정한 기록입니다.</a:t>
            </a:r>
          </a:p>
          <a:p xmlns:a="http://schemas.openxmlformats.org/drawingml/2006/main">
            <a:r>
              <a:t>같은 센서가 여러 번 나오거나 늦게 도착한 기록이 있으면 입력 순서만 믿어서는 현재 상태를 잘못 보여 줄 수 있습니다.</a:t>
            </a:r>
          </a:p>
          <a:p xmlns:a="http://schemas.openxmlformats.org/drawingml/2006/main">
            <a:r>
              <a:t>예: 입구 S01은 22.5와 22.8의 두 기록이 있으며 10:10의 22.8이 마지막 기록입니다.</a:t>
            </a:r>
          </a:p>
          <a:p xmlns:a="http://schemas.openxmlformats.org/drawingml/2006/main">
            <a:r>
              <a:t>반례: 다른 센서의 마지막 행을 전체 공간의 최신값이라고 부르면 장치별 상태가 사라집니다.</a:t>
            </a:r>
          </a:p>
          <a:p xmlns:a="http://schemas.openxmlformats.org/drawingml/2006/main">
            <a:r>
              <a:t>풀이: 다섯 관찰·네 장치이며 S01 최신은 10:10의 22.8이다. 시각 최댓값으로 선택한다.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행은 센서의 한 시점 관찰입니다. 최신 기록은 배열의 마지막 줄이라는 뜻이 아니라 측정 시각을 비교해 정한 기록입니다.</a:t>
            </a:r>
          </a:p>
          <a:p xmlns:a="http://schemas.openxmlformats.org/drawingml/2006/main">
            <a:r>
              <a:t>같은 센서가 여러 번 나오거나 늦게 도착한 기록이 있으면 입력 순서만 믿어서는 현재 상태를 잘못 보여 줄 수 있습니다.</a:t>
            </a:r>
          </a:p>
          <a:p xmlns:a="http://schemas.openxmlformats.org/drawingml/2006/main">
            <a:r>
              <a:t>예: 입구 S01은 22.5와 22.8의 두 기록이 있으며 10:10의 22.8이 마지막 기록입니다.</a:t>
            </a:r>
          </a:p>
          <a:p xmlns:a="http://schemas.openxmlformats.org/drawingml/2006/main">
            <a:r>
              <a:t>반례: 다른 센서의 마지막 행을 전체 공간의 최신값이라고 부르면 장치별 상태가 사라집니다.</a:t>
            </a:r>
          </a:p>
          <a:p xmlns:a="http://schemas.openxmlformats.org/drawingml/2006/main">
            <a:r>
              <a:t>풀이: 다섯 관찰·네 장치이며 S01 최신은 10:10의 22.8이다. 시각 최댓값으로 선택한다.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행은 센서의 한 시점 관찰입니다. 최신 기록은 배열의 마지막 줄이라는 뜻이 아니라 측정 시각을 비교해 정한 기록입니다.</a:t>
            </a:r>
          </a:p>
          <a:p xmlns:a="http://schemas.openxmlformats.org/drawingml/2006/main">
            <a:r>
              <a:t>같은 센서가 여러 번 나오거나 늦게 도착한 기록이 있으면 입력 순서만 믿어서는 현재 상태를 잘못 보여 줄 수 있습니다.</a:t>
            </a:r>
          </a:p>
          <a:p xmlns:a="http://schemas.openxmlformats.org/drawingml/2006/main">
            <a:r>
              <a:t>예: 입구 S01은 22.5와 22.8의 두 기록이 있으며 10:10의 22.8이 마지막 기록입니다.</a:t>
            </a:r>
          </a:p>
          <a:p xmlns:a="http://schemas.openxmlformats.org/drawingml/2006/main">
            <a:r>
              <a:t>반례: 다른 센서의 마지막 행을 전체 공간의 최신값이라고 부르면 장치별 상태가 사라집니다.</a:t>
            </a:r>
          </a:p>
          <a:p xmlns:a="http://schemas.openxmlformats.org/drawingml/2006/main">
            <a:r>
              <a:t>풀이: 다섯 관찰·네 장치이며 S01 최신은 10:10의 22.8이다. 시각 최댓값으로 선택한다.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시각 문자열의 표기와 시간대를 확인합니다. 이 예제는 +09:00을 명시합니다.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표시 규칙은 값의 뜻과 화면 문구를 연결한 약속입니다. 단위와 누락, 오래된 값의 기준을 먼저 정합니다.</a:t>
            </a:r>
          </a:p>
          <a:p xmlns:a="http://schemas.openxmlformats.org/drawingml/2006/main">
            <a:r>
              <a:t>상태가 무엇을 뜻하는지 합의하지 않으면 같은 값에 서로 다른 판단을 붙일 수 있습니다.</a:t>
            </a:r>
          </a:p>
          <a:p xmlns:a="http://schemas.openxmlformats.org/drawingml/2006/main">
            <a:r>
              <a:t>예: 이 수업은 28 ℃ 이상 주의, 60초 초과 오래됨, 온도 null은 미측정이라고 표시합니다. 입력에는 시간대가 있는 ISO 시각을 쓰고 화면은 한국 시각으로 통일해 표시합니다.</a:t>
            </a:r>
          </a:p>
          <a:p xmlns:a="http://schemas.openxmlformats.org/drawingml/2006/main">
            <a:r>
              <a:t>반례: 이 숫자는 실제 장비의 안전 한계가 아니라 합성 데이터의 표시 연습 규칙입니다.</a:t>
            </a:r>
          </a:p>
          <a:p xmlns:a="http://schemas.openxmlformats.org/drawingml/2006/main">
            <a:r>
              <a:t>풀이: 입력 오류 →미측정 →정지 →오래됨 →주의/ 정상 순서.60초 정확히는 오래됨이 아니다.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표시 규칙은 값의 뜻과 화면 문구를 연결한 약속입니다. 단위와 누락, 오래된 값의 기준을 먼저 정합니다.</a:t>
            </a:r>
          </a:p>
          <a:p xmlns:a="http://schemas.openxmlformats.org/drawingml/2006/main">
            <a:r>
              <a:t>상태가 무엇을 뜻하는지 합의하지 않으면 같은 값에 서로 다른 판단을 붙일 수 있습니다.</a:t>
            </a:r>
          </a:p>
          <a:p xmlns:a="http://schemas.openxmlformats.org/drawingml/2006/main">
            <a:r>
              <a:t>예: 이 수업은 28 ℃ 이상 주의, 60초 초과 오래됨, 온도 null은 미측정이라고 표시합니다. 입력에는 시간대가 있는 ISO 시각을 쓰고 화면은 한국 시각으로 통일해 표시합니다.</a:t>
            </a:r>
          </a:p>
          <a:p xmlns:a="http://schemas.openxmlformats.org/drawingml/2006/main">
            <a:r>
              <a:t>반례: 이 숫자는 실제 장비의 안전 한계가 아니라 합성 데이터의 표시 연습 규칙입니다.</a:t>
            </a:r>
          </a:p>
          <a:p xmlns:a="http://schemas.openxmlformats.org/drawingml/2006/main">
            <a:r>
              <a:t>풀이: 입력 오류 →미측정 →정지 →오래됨 →주의/ 정상 순서.60초 정확히는 오래됨이 아니다.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파일 model.js 6~12줄입니다. 모든 줄의 상세 해설은 code/line-guide.md에 있습니다. 추가 시간 없이 해당 활동 시연 시간 안에서 사용합니다.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표시 규칙은 값의 뜻과 화면 문구를 연결한 약속입니다. 단위와 누락, 오래된 값의 기준을 먼저 정합니다.</a:t>
            </a:r>
          </a:p>
          <a:p xmlns:a="http://schemas.openxmlformats.org/drawingml/2006/main">
            <a:r>
              <a:t>상태가 무엇을 뜻하는지 합의하지 않으면 같은 값에 서로 다른 판단을 붙일 수 있습니다.</a:t>
            </a:r>
          </a:p>
          <a:p xmlns:a="http://schemas.openxmlformats.org/drawingml/2006/main">
            <a:r>
              <a:t>예: 이 수업은 28 ℃ 이상 주의, 60초 초과 오래됨, 온도 null은 미측정이라고 표시합니다. 입력에는 시간대가 있는 ISO 시각을 쓰고 화면은 한국 시각으로 통일해 표시합니다.</a:t>
            </a:r>
          </a:p>
          <a:p xmlns:a="http://schemas.openxmlformats.org/drawingml/2006/main">
            <a:r>
              <a:t>반례: 이 숫자는 실제 장비의 안전 한계가 아니라 합성 데이터의 표시 연습 규칙입니다.</a:t>
            </a:r>
          </a:p>
          <a:p xmlns:a="http://schemas.openxmlformats.org/drawingml/2006/main">
            <a:r>
              <a:t>풀이: 입력 오류 →미측정 →정지 →오래됨 →주의/ 정상 순서.60초 정확히는 오래됨이 아니다.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정지이면서 오래된 값의 문구가 궁금하면 우선순위를 확인합니다. 현재는 정지가 먼저입니다.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정적 화면은 제공된 파일을 읽어 브라우저 안에서 표시합니다. 서버에서 실시간 데이터를 받는 기능과 별개로 미리 준비한 자료를 사용할 수 있습니다.</a:t>
            </a:r>
          </a:p>
          <a:p xmlns:a="http://schemas.openxmlformats.org/drawingml/2006/main">
            <a:r>
              <a:t>GitHub Pages나 오프라인 파일만으로도 화면 구조와 필터를 배울 수 있게 합니다.</a:t>
            </a:r>
          </a:p>
          <a:p xmlns:a="http://schemas.openxmlformats.org/drawingml/2006/main">
            <a:r>
              <a:t>예: code/index.html은 fixture.js의 가상 기록을 읽어 처음 화면을 표시합니다. 인터넷과 실제 센서는 필요 없습니다.</a:t>
            </a:r>
          </a:p>
          <a:p xmlns:a="http://schemas.openxmlformats.org/drawingml/2006/main">
            <a:r>
              <a:t>반례: 화면이 움직여도 실제 네트워크나 하드웨어 측정이 연결되었다고 말하지 않습니다.</a:t>
            </a:r>
          </a:p>
          <a:p xmlns:a="http://schemas.openxmlformats.org/drawingml/2006/main">
            <a:r>
              <a:t>풀이: 기본은 브라우저 내장 fixture 경로다. 실제 API 수신과 구분해 기록한다.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정적 화면은 제공된 파일을 읽어 브라우저 안에서 표시합니다. 서버에서 실시간 데이터를 받는 기능과 별개로 미리 준비한 자료를 사용할 수 있습니다.</a:t>
            </a:r>
          </a:p>
          <a:p xmlns:a="http://schemas.openxmlformats.org/drawingml/2006/main">
            <a:r>
              <a:t>GitHub Pages나 오프라인 파일만으로도 화면 구조와 필터를 배울 수 있게 합니다.</a:t>
            </a:r>
          </a:p>
          <a:p xmlns:a="http://schemas.openxmlformats.org/drawingml/2006/main">
            <a:r>
              <a:t>예: code/index.html은 fixture.js의 가상 기록을 읽어 처음 화면을 표시합니다. 인터넷과 실제 센서는 필요 없습니다.</a:t>
            </a:r>
          </a:p>
          <a:p xmlns:a="http://schemas.openxmlformats.org/drawingml/2006/main">
            <a:r>
              <a:t>반례: 화면이 움직여도 실제 네트워크나 하드웨어 측정이 연결되었다고 말하지 않습니다.</a:t>
            </a:r>
          </a:p>
          <a:p xmlns:a="http://schemas.openxmlformats.org/drawingml/2006/main">
            <a:r>
              <a:t>풀이: 기본은 브라우저 내장 fixture 경로다. 실제 API 수신과 구분해 기록한다.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정적 화면은 제공된 파일을 읽어 브라우저 안에서 표시합니다. 서버에서 실시간 데이터를 받는 기능과 별개로 미리 준비한 자료를 사용할 수 있습니다.</a:t>
            </a:r>
          </a:p>
          <a:p xmlns:a="http://schemas.openxmlformats.org/drawingml/2006/main">
            <a:r>
              <a:t>GitHub Pages나 오프라인 파일만으로도 화면 구조와 필터를 배울 수 있게 합니다.</a:t>
            </a:r>
          </a:p>
          <a:p xmlns:a="http://schemas.openxmlformats.org/drawingml/2006/main">
            <a:r>
              <a:t>예: code/index.html은 fixture.js의 가상 기록을 읽어 처음 화면을 표시합니다. 인터넷과 실제 센서는 필요 없습니다.</a:t>
            </a:r>
          </a:p>
          <a:p xmlns:a="http://schemas.openxmlformats.org/drawingml/2006/main">
            <a:r>
              <a:t>반례: 화면이 움직여도 실제 네트워크나 하드웨어 측정이 연결되었다고 말하지 않습니다.</a:t>
            </a:r>
          </a:p>
          <a:p xmlns:a="http://schemas.openxmlformats.org/drawingml/2006/main">
            <a:r>
              <a:t>풀이: 기본은 브라우저 내장 fixture 경로다. 실제 API 수신과 구분해 기록한다.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브라우저가 파일 열기를 막으면 강사의 로컬 정적 서버 경로를 사용합니다. 외부 계정은 만들지 않습니다.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서버는 요청을 받아 결과를 보내는 프로그램입니다. API는 프로그램들이 어떤 주소와 자료형식으로 요청할지 정한 창구입니다.</a:t>
            </a:r>
          </a:p>
          <a:p xmlns:a="http://schemas.openxmlformats.org/drawingml/2006/main">
            <a:r>
              <a:t>보낸 값과 수신한 값, 보여 준 값을 각각 확인하려면 어느 프로그램이 어느 역할을 하는지 구분해야 합니다.</a:t>
            </a:r>
          </a:p>
          <a:p xmlns:a="http://schemas.openxmlformats.org/drawingml/2006/main">
            <a:r>
              <a:t>예: GET /api/readings는 기록 목록을 읽고 POST /api/readings는 검사한 새 관찰을 추가합니다.</a:t>
            </a:r>
          </a:p>
          <a:p xmlns:a="http://schemas.openxmlformats.org/drawingml/2006/main">
            <a:r>
              <a:t>반례: GET과 POST라는 이름을 외우는 것만으로 입력 계약이나 성공 여부가 확인되지는 않습니다.</a:t>
            </a:r>
          </a:p>
          <a:p xmlns:a="http://schemas.openxmlformats.org/drawingml/2006/main">
            <a:r>
              <a:t>풀이: GET200 목록,POST201 승인,400 오류. 수신 기록과 브라우저 표시를 따로 확인한다.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서버는 요청을 받아 결과를 보내는 프로그램입니다. API는 프로그램들이 어떤 주소와 자료형식으로 요청할지 정한 창구입니다.</a:t>
            </a:r>
          </a:p>
          <a:p xmlns:a="http://schemas.openxmlformats.org/drawingml/2006/main">
            <a:r>
              <a:t>보낸 값과 수신한 값, 보여 준 값을 각각 확인하려면 어느 프로그램이 어느 역할을 하는지 구분해야 합니다.</a:t>
            </a:r>
          </a:p>
          <a:p xmlns:a="http://schemas.openxmlformats.org/drawingml/2006/main">
            <a:r>
              <a:t>예: GET /api/readings는 기록 목록을 읽고 POST /api/readings는 검사한 새 관찰을 추가합니다.</a:t>
            </a:r>
          </a:p>
          <a:p xmlns:a="http://schemas.openxmlformats.org/drawingml/2006/main">
            <a:r>
              <a:t>반례: GET과 POST라는 이름을 외우는 것만으로 입력 계약이나 성공 여부가 확인되지는 않습니다.</a:t>
            </a:r>
          </a:p>
          <a:p xmlns:a="http://schemas.openxmlformats.org/drawingml/2006/main">
            <a:r>
              <a:t>풀이: GET200 목록,POST201 승인,400 오류. 수신 기록과 브라우저 표시를 따로 확인한다.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서버는 요청을 받아 결과를 보내는 프로그램입니다. API는 프로그램들이 어떤 주소와 자료형식으로 요청할지 정한 창구입니다.</a:t>
            </a:r>
          </a:p>
          <a:p xmlns:a="http://schemas.openxmlformats.org/drawingml/2006/main">
            <a:r>
              <a:t>보낸 값과 수신한 값, 보여 준 값을 각각 확인하려면 어느 프로그램이 어느 역할을 하는지 구분해야 합니다.</a:t>
            </a:r>
          </a:p>
          <a:p xmlns:a="http://schemas.openxmlformats.org/drawingml/2006/main">
            <a:r>
              <a:t>예: GET /api/readings는 기록 목록을 읽고 POST /api/readings는 검사한 새 관찰을 추가합니다.</a:t>
            </a:r>
          </a:p>
          <a:p xmlns:a="http://schemas.openxmlformats.org/drawingml/2006/main">
            <a:r>
              <a:t>반례: GET과 POST라는 이름을 외우는 것만으로 입력 계약이나 성공 여부가 확인되지는 않습니다.</a:t>
            </a:r>
          </a:p>
          <a:p xmlns:a="http://schemas.openxmlformats.org/drawingml/2006/main">
            <a:r>
              <a:t>풀이: GET200 목록,POST201 승인,400 오류. 수신 기록과 브라우저 표시를 따로 확인한다.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주소가 같아도 메서드가 다르면 역할이 다릅니다. 실습은 로컬 127.0.0.1에서만 엽니다.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로컬 실행은 자기 PC의 프로그램이 정해진 포트에서 요청을 기다리는 상태입니다. 주소·포트·실행 중인 창을 함께 기록합니다.</a:t>
            </a:r>
          </a:p>
          <a:p xmlns:a="http://schemas.openxmlformats.org/drawingml/2006/main">
            <a:r>
              <a:t>서버를 껐는데 화면만 남아 있으면 마지막 값을 새로운 수신값으로 오해할 수 있습니다.</a:t>
            </a:r>
          </a:p>
          <a:p xmlns:a="http://schemas.openxmlformats.org/drawingml/2006/main">
            <a:r>
              <a:t>예: python code/server.py를 실행한 뒤 http://127.0.0.1:8780/?source=api를 열고 Ctrl+C로 종료합니다.</a:t>
            </a:r>
          </a:p>
          <a:p xmlns:a="http://schemas.openxmlformats.org/drawingml/2006/main">
            <a:r>
              <a:t>반례: 파일을 더블 클릭해 열었다고 API 서버까지 실행된 것은 아닙니다.</a:t>
            </a:r>
          </a:p>
          <a:p xmlns:a="http://schemas.openxmlformats.org/drawingml/2006/main">
            <a:r>
              <a:t>풀이: 서버 프로세스가 살아 있을 때 API 요청 가능. 이전 표시 값은 새 수신 증거가 아니다.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로컬 실행은 자기 PC의 프로그램이 정해진 포트에서 요청을 기다리는 상태입니다. 주소·포트·실행 중인 창을 함께 기록합니다.</a:t>
            </a:r>
          </a:p>
          <a:p xmlns:a="http://schemas.openxmlformats.org/drawingml/2006/main">
            <a:r>
              <a:t>서버를 껐는데 화면만 남아 있으면 마지막 값을 새로운 수신값으로 오해할 수 있습니다.</a:t>
            </a:r>
          </a:p>
          <a:p xmlns:a="http://schemas.openxmlformats.org/drawingml/2006/main">
            <a:r>
              <a:t>예: python code/server.py를 실행한 뒤 http://127.0.0.1:8780/?source=api를 열고 Ctrl+C로 종료합니다.</a:t>
            </a:r>
          </a:p>
          <a:p xmlns:a="http://schemas.openxmlformats.org/drawingml/2006/main">
            <a:r>
              <a:t>반례: 파일을 더블 클릭해 열었다고 API 서버까지 실행된 것은 아닙니다.</a:t>
            </a:r>
          </a:p>
          <a:p xmlns:a="http://schemas.openxmlformats.org/drawingml/2006/main">
            <a:r>
              <a:t>풀이: 서버 프로세스가 살아 있을 때 API 요청 가능. 이전 표시 값은 새 수신 증거가 아니다.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로컬 실행은 자기 PC의 프로그램이 정해진 포트에서 요청을 기다리는 상태입니다. 주소·포트·실행 중인 창을 함께 기록합니다.</a:t>
            </a:r>
          </a:p>
          <a:p xmlns:a="http://schemas.openxmlformats.org/drawingml/2006/main">
            <a:r>
              <a:t>서버를 껐는데 화면만 남아 있으면 마지막 값을 새로운 수신값으로 오해할 수 있습니다.</a:t>
            </a:r>
          </a:p>
          <a:p xmlns:a="http://schemas.openxmlformats.org/drawingml/2006/main">
            <a:r>
              <a:t>예: python code/server.py를 실행한 뒤 http://127.0.0.1:8780/?source=api를 열고 Ctrl+C로 종료합니다.</a:t>
            </a:r>
          </a:p>
          <a:p xmlns:a="http://schemas.openxmlformats.org/drawingml/2006/main">
            <a:r>
              <a:t>반례: 파일을 더블 클릭해 열었다고 API 서버까지 실행된 것은 아닙니다.</a:t>
            </a:r>
          </a:p>
          <a:p xmlns:a="http://schemas.openxmlformats.org/drawingml/2006/main">
            <a:r>
              <a:t>풀이: 서버 프로세스가 살아 있을 때 API 요청 가능. 이전 표시 값은 새 수신 증거가 아니다.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8780 포트 사용 중이면 다른 수업 서버를 확인하고 강사 도움으로 정리합니다. 무관한 프로세스를 종료하지 않습니다.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수신 계약은 필수 항목·종류·단위·시각을 검사한 뒤 기록을 받아들이는 규칙입니다. 통신에 성공한 글자가 곧 유효한 측정값은 아닙니다.</a:t>
            </a:r>
          </a:p>
          <a:p xmlns:a="http://schemas.openxmlformats.org/drawingml/2006/main">
            <a:r>
              <a:t>잘못된 문자열이나 범위 밖 숫자가 들어와도 그대로 평균과 상태 계산에 섞지 않도록합니다.</a:t>
            </a:r>
          </a:p>
          <a:p xmlns:a="http://schemas.openxmlformats.org/drawingml/2006/main">
            <a:r>
              <a:t>예: new_reading.json은 S01·입구·24.2·10:10+09:00·true의 다섯 항목입니다.</a:t>
            </a:r>
          </a:p>
          <a:p xmlns:a="http://schemas.openxmlformats.org/drawingml/2006/main">
            <a:r>
              <a:t>반례: 온도"24.2"는 문자열이고 24.2는 숫자입니다. 표면 모양이 비슷해도 수신 계약에서는 다릅니다.</a:t>
            </a:r>
          </a:p>
          <a:p xmlns:a="http://schemas.openxmlformats.org/drawingml/2006/main">
            <a:r>
              <a:t>풀이: 다섯 항목과 숫자/null·불리 언·시간대 시각을 검사한 뒤 추가한다.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수신 계약은 필수 항목·종류·단위·시각을 검사한 뒤 기록을 받아들이는 규칙입니다. 통신에 성공한 글자가 곧 유효한 측정값은 아닙니다.</a:t>
            </a:r>
          </a:p>
          <a:p xmlns:a="http://schemas.openxmlformats.org/drawingml/2006/main">
            <a:r>
              <a:t>잘못된 문자열이나 범위 밖 숫자가 들어와도 그대로 평균과 상태 계산에 섞지 않도록합니다.</a:t>
            </a:r>
          </a:p>
          <a:p xmlns:a="http://schemas.openxmlformats.org/drawingml/2006/main">
            <a:r>
              <a:t>예: new_reading.json은 S01·입구·24.2·10:10+09:00·true의 다섯 항목입니다.</a:t>
            </a:r>
          </a:p>
          <a:p xmlns:a="http://schemas.openxmlformats.org/drawingml/2006/main">
            <a:r>
              <a:t>반례: 온도"24.2"는 문자열이고 24.2는 숫자입니다. 표면 모양이 비슷해도 수신 계약에서는 다릅니다.</a:t>
            </a:r>
          </a:p>
          <a:p xmlns:a="http://schemas.openxmlformats.org/drawingml/2006/main">
            <a:r>
              <a:t>풀이: 다섯 항목과 숫자/null·불리 언·시간대 시각을 검사한 뒤 추가한다.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수신 계약은 필수 항목·종류·단위·시각을 검사한 뒤 기록을 받아들이는 규칙입니다. 통신에 성공한 글자가 곧 유효한 측정값은 아닙니다.</a:t>
            </a:r>
          </a:p>
          <a:p xmlns:a="http://schemas.openxmlformats.org/drawingml/2006/main">
            <a:r>
              <a:t>잘못된 문자열이나 범위 밖 숫자가 들어와도 그대로 평균과 상태 계산에 섞지 않도록합니다.</a:t>
            </a:r>
          </a:p>
          <a:p xmlns:a="http://schemas.openxmlformats.org/drawingml/2006/main">
            <a:r>
              <a:t>예: new_reading.json은 S01·입구·24.2·10:10+09:00·true의 다섯 항목입니다.</a:t>
            </a:r>
          </a:p>
          <a:p xmlns:a="http://schemas.openxmlformats.org/drawingml/2006/main">
            <a:r>
              <a:t>반례: 온도"24.2"는 문자열이고 24.2는 숫자입니다. 표면 모양이 비슷해도 수신 계약에서는 다릅니다.</a:t>
            </a:r>
          </a:p>
          <a:p xmlns:a="http://schemas.openxmlformats.org/drawingml/2006/main">
            <a:r>
              <a:t>풀이: 다섯 항목과 숫자/null·불리 언·시간대 시각을 검사한 뒤 추가한다.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JSON 기호 오류와 업무 규칙 오류를 구분합니다. 큰따옴표가 읽혀도 숫자 형식이 틀릴 수 있습니다.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추적은 같은 입력값이 송신·수신·화면의 어느 위치에 나타났는지 차례로 확인하는 것입니다.</a:t>
            </a:r>
          </a:p>
          <a:p xmlns:a="http://schemas.openxmlformats.org/drawingml/2006/main">
            <a:r>
              <a:t>성공 문구 하나만 보고 값이 맞다고 판단하지 않고 경로 전체의 의미 보존을 확인합니다.</a:t>
            </a:r>
          </a:p>
          <a:p xmlns:a="http://schemas.openxmlformats.org/drawingml/2006/main">
            <a:r>
              <a:t>예: 서버를 실행한 뒤 send_sample.py를 실행하면 201과 count6이 출력됩니다. API 다시 읽기 뒤 S01 최신값은 24.2입니다.</a:t>
            </a:r>
          </a:p>
          <a:p xmlns:a="http://schemas.openxmlformats.org/drawingml/2006/main">
            <a:r>
              <a:t>반례: 모의 기록 추가 버튼은 화면 메모리에만 추가하므로 서버 저장 확인의 대체가 아닙니다.</a:t>
            </a:r>
          </a:p>
          <a:p xmlns:a="http://schemas.openxmlformats.org/drawingml/2006/main">
            <a:r>
              <a:t>풀이: 송신 201/count6 확인 후 새 GET으로 24.2 표시. 버튼은 브라우저 메모리만 바꾼다.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추적은 같은 입력값이 송신·수신·화면의 어느 위치에 나타났는지 차례로 확인하는 것입니다.</a:t>
            </a:r>
          </a:p>
          <a:p xmlns:a="http://schemas.openxmlformats.org/drawingml/2006/main">
            <a:r>
              <a:t>성공 문구 하나만 보고 값이 맞다고 판단하지 않고 경로 전체의 의미 보존을 확인합니다.</a:t>
            </a:r>
          </a:p>
          <a:p xmlns:a="http://schemas.openxmlformats.org/drawingml/2006/main">
            <a:r>
              <a:t>예: 서버를 실행한 뒤 send_sample.py를 실행하면 201과 count6이 출력됩니다. API 다시 읽기 뒤 S01 최신값은 24.2입니다.</a:t>
            </a:r>
          </a:p>
          <a:p xmlns:a="http://schemas.openxmlformats.org/drawingml/2006/main">
            <a:r>
              <a:t>반례: 모의 기록 추가 버튼은 화면 메모리에만 추가하므로 서버 저장 확인의 대체가 아닙니다.</a:t>
            </a:r>
          </a:p>
          <a:p xmlns:a="http://schemas.openxmlformats.org/drawingml/2006/main">
            <a:r>
              <a:t>풀이: 송신 201/count6 확인 후 새 GET으로 24.2 표시. 버튼은 브라우저 메모리만 바꾼다.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추적은 같은 입력값이 송신·수신·화면의 어느 위치에 나타났는지 차례로 확인하는 것입니다.</a:t>
            </a:r>
          </a:p>
          <a:p xmlns:a="http://schemas.openxmlformats.org/drawingml/2006/main">
            <a:r>
              <a:t>성공 문구 하나만 보고 값이 맞다고 판단하지 않고 경로 전체의 의미 보존을 확인합니다.</a:t>
            </a:r>
          </a:p>
          <a:p xmlns:a="http://schemas.openxmlformats.org/drawingml/2006/main">
            <a:r>
              <a:t>예: 서버를 실행한 뒤 send_sample.py를 실행하면 201과 count6이 출력됩니다. API 다시 읽기 뒤 S01 최신값은 24.2입니다.</a:t>
            </a:r>
          </a:p>
          <a:p xmlns:a="http://schemas.openxmlformats.org/drawingml/2006/main">
            <a:r>
              <a:t>반례: 모의 기록 추가 버튼은 화면 메모리에만 추가하므로 서버 저장 확인의 대체가 아닙니다.</a:t>
            </a:r>
          </a:p>
          <a:p xmlns:a="http://schemas.openxmlformats.org/drawingml/2006/main">
            <a:r>
              <a:t>풀이: 송신 201/count6 확인 후 새 GET으로 24.2 표시. 버튼은 브라우저 메모리만 바꾼다.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같은 시각 기록이 추가되면 이 예제는 뒤에 받은 기록을 선택합니다. 중복 정책을 실 서비스 기준으로 일반화하지 않습니다.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복사본에서 한 값을 바꾸면 다른 조건을 유지하며 변화의 원인을 확인할 수 있습니다.</a:t>
            </a:r>
          </a:p>
          <a:p xmlns:a="http://schemas.openxmlformats.org/drawingml/2006/main">
            <a:r>
              <a:t>여러 필드와 기준을 동시에 바꾸면 어떤 변경이 어떤 결과를 만들었는지 설명하기 어렵습니다.</a:t>
            </a:r>
          </a:p>
          <a:p xmlns:a="http://schemas.openxmlformats.org/drawingml/2006/main">
            <a:r>
              <a:t>예: work/fixture.js의 첫 22.5 만 25.0으로 바꾸면 입구 이력 평균은 23.90이며 최신 22.8은 유지됩니다.</a:t>
            </a:r>
          </a:p>
          <a:p xmlns:a="http://schemas.openxmlformats.org/drawingml/2006/main">
            <a:r>
              <a:t>반례: 과거 값을 고쳤다고 항상 최신값도 바뀌는 것은 아닙니다.</a:t>
            </a:r>
          </a:p>
          <a:p xmlns:a="http://schemas.openxmlformats.org/drawingml/2006/main">
            <a:r>
              <a:t>풀이: 입구(25.0 +22.8)/2 =23.90, 최신 시각 관찰 22.8은 변경하지 않았다.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복사본에서 한 값을 바꾸면 다른 조건을 유지하며 변화의 원인을 확인할 수 있습니다.</a:t>
            </a:r>
          </a:p>
          <a:p xmlns:a="http://schemas.openxmlformats.org/drawingml/2006/main">
            <a:r>
              <a:t>여러 필드와 기준을 동시에 바꾸면 어떤 변경이 어떤 결과를 만들었는지 설명하기 어렵습니다.</a:t>
            </a:r>
          </a:p>
          <a:p xmlns:a="http://schemas.openxmlformats.org/drawingml/2006/main">
            <a:r>
              <a:t>예: work/fixture.js의 첫 22.5 만 25.0으로 바꾸면 입구 이력 평균은 23.90이며 최신 22.8은 유지됩니다.</a:t>
            </a:r>
          </a:p>
          <a:p xmlns:a="http://schemas.openxmlformats.org/drawingml/2006/main">
            <a:r>
              <a:t>반례: 과거 값을 고쳤다고 항상 최신값도 바뀌는 것은 아닙니다.</a:t>
            </a:r>
          </a:p>
          <a:p xmlns:a="http://schemas.openxmlformats.org/drawingml/2006/main">
            <a:r>
              <a:t>풀이: 입구(25.0 +22.8)/2 =23.90, 최신 시각 관찰 22.8은 변경하지 않았다.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복사본에서 한 값을 바꾸면 다른 조건을 유지하며 변화의 원인을 확인할 수 있습니다.</a:t>
            </a:r>
          </a:p>
          <a:p xmlns:a="http://schemas.openxmlformats.org/drawingml/2006/main">
            <a:r>
              <a:t>여러 필드와 기준을 동시에 바꾸면 어떤 변경이 어떤 결과를 만들었는지 설명하기 어렵습니다.</a:t>
            </a:r>
          </a:p>
          <a:p xmlns:a="http://schemas.openxmlformats.org/drawingml/2006/main">
            <a:r>
              <a:t>예: work/fixture.js의 첫 22.5 만 25.0으로 바꾸면 입구 이력 평균은 23.90이며 최신 22.8은 유지됩니다.</a:t>
            </a:r>
          </a:p>
          <a:p xmlns:a="http://schemas.openxmlformats.org/drawingml/2006/main">
            <a:r>
              <a:t>반례: 과거 값을 고쳤다고 항상 최신값도 바뀌는 것은 아닙니다.</a:t>
            </a:r>
          </a:p>
          <a:p xmlns:a="http://schemas.openxmlformats.org/drawingml/2006/main">
            <a:r>
              <a:t>풀이: 입구(25.0 +22.8)/2 =23.90, 최신 시각 관찰 22.8은 변경하지 않았다.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다른 폴더의 HTML 을 열었으면 수정이 안 보입니다. 작업본의 세 파일 상대 위치를 유지합니다.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필터는 조건에 맞는 기록만 보여 주는 선택입니다. 원본을 삭제하는 것이 아니라 현재 화면에서 보는 범위를 바꿉니다.</a:t>
            </a:r>
          </a:p>
          <a:p xmlns:a="http://schemas.openxmlformats.org/drawingml/2006/main">
            <a:r>
              <a:t>필터가 적용된 평균과 전체 평균을 혼동하면 다른 장소의 상태를 잘못 설명할 수 있습니다.</a:t>
            </a:r>
          </a:p>
          <a:p xmlns:a="http://schemas.openxmlformats.org/drawingml/2006/main">
            <a:r>
              <a:t>예: 입구 필터는 두 이력과 한 센서를 보여 주며 원본 전체는 다섯 기록입니다.</a:t>
            </a:r>
          </a:p>
          <a:p xmlns:a="http://schemas.openxmlformats.org/drawingml/2006/main">
            <a:r>
              <a:t>반례: 필터를 선택해 행이 줄었다고 원본 데이터가 삭제된 것은 아닙니다.</a:t>
            </a:r>
          </a:p>
          <a:p xmlns:a="http://schemas.openxmlformats.org/drawingml/2006/main">
            <a:r>
              <a:t>풀이: 전체 5건/4 센서, 입구 2건/1 센서이며 원본 배열은 필터로 삭제되지 않는다.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필터는 조건에 맞는 기록만 보여 주는 선택입니다. 원본을 삭제하는 것이 아니라 현재 화면에서 보는 범위를 바꿉니다.</a:t>
            </a:r>
          </a:p>
          <a:p xmlns:a="http://schemas.openxmlformats.org/drawingml/2006/main">
            <a:r>
              <a:t>필터가 적용된 평균과 전체 평균을 혼동하면 다른 장소의 상태를 잘못 설명할 수 있습니다.</a:t>
            </a:r>
          </a:p>
          <a:p xmlns:a="http://schemas.openxmlformats.org/drawingml/2006/main">
            <a:r>
              <a:t>예: 입구 필터는 두 이력과 한 센서를 보여 주며 원본 전체는 다섯 기록입니다.</a:t>
            </a:r>
          </a:p>
          <a:p xmlns:a="http://schemas.openxmlformats.org/drawingml/2006/main">
            <a:r>
              <a:t>반례: 필터를 선택해 행이 줄었다고 원본 데이터가 삭제된 것은 아닙니다.</a:t>
            </a:r>
          </a:p>
          <a:p xmlns:a="http://schemas.openxmlformats.org/drawingml/2006/main">
            <a:r>
              <a:t>풀이: 전체 5건/4 센서, 입구 2건/1 센서이며 원본 배열은 필터로 삭제되지 않는다.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필터는 조건에 맞는 기록만 보여 주는 선택입니다. 원본을 삭제하는 것이 아니라 현재 화면에서 보는 범위를 바꿉니다.</a:t>
            </a:r>
          </a:p>
          <a:p xmlns:a="http://schemas.openxmlformats.org/drawingml/2006/main">
            <a:r>
              <a:t>필터가 적용된 평균과 전체 평균을 혼동하면 다른 장소의 상태를 잘못 설명할 수 있습니다.</a:t>
            </a:r>
          </a:p>
          <a:p xmlns:a="http://schemas.openxmlformats.org/drawingml/2006/main">
            <a:r>
              <a:t>예: 입구 필터는 두 이력과 한 센서를 보여 주며 원본 전체는 다섯 기록입니다.</a:t>
            </a:r>
          </a:p>
          <a:p xmlns:a="http://schemas.openxmlformats.org/drawingml/2006/main">
            <a:r>
              <a:t>반례: 필터를 선택해 행이 줄었다고 원본 데이터가 삭제된 것은 아닙니다.</a:t>
            </a:r>
          </a:p>
          <a:p xmlns:a="http://schemas.openxmlformats.org/drawingml/2006/main">
            <a:r>
              <a:t>풀이: 전체 5건/4 센서, 입구 2건/1 센서이며 원본 배열은 필터로 삭제되지 않는다.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화면 일부만 필터되면 서로 다른 범위의 값이 섞입니다. 제목과 선택 장소를 함께 읽습니다.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평균은 더한 값과 나눈 개수가 무엇인지 함께 설명해야하는 요약 값입니다. 오늘은 선택 이력의 유효한 숫자만 계산합니다.</a:t>
            </a:r>
          </a:p>
          <a:p xmlns:a="http://schemas.openxmlformats.org/drawingml/2006/main">
            <a:r>
              <a:t>null을 0으로 바꾸면 측정되지 않은 값이 실제 0으로 계산에 섞여 평균이 낮아집니다.</a:t>
            </a:r>
          </a:p>
          <a:p xmlns:a="http://schemas.openxmlformats.org/drawingml/2006/main">
            <a:r>
              <a:t>예: 전체 유효 온도 22.5·29.0·0·22.8의 평균은 18.575이며 소수 둘째 자리 표시는 18.58입니다.</a:t>
            </a:r>
          </a:p>
          <a:p xmlns:a="http://schemas.openxmlformats.org/drawingml/2006/main">
            <a:r>
              <a:t>반례: 정지된 센서의 0도 유효 측정 이력에는 포함합니다. 운영 목적에 따른 다른 평균을 원하면 별도 규칙이 필요합니다.</a:t>
            </a:r>
          </a:p>
          <a:p xmlns:a="http://schemas.openxmlformats.org/drawingml/2006/main">
            <a:r>
              <a:t>풀이: 합 74.3/4 = 18.575이며, 화면은 소수 둘째 자리로 반올림하여 18.58을 표시한다. 입구 22.65, 창고 계산 안 함.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평균은 더한 값과 나눈 개수가 무엇인지 함께 설명해야하는 요약 값입니다. 오늘은 선택 이력의 유효한 숫자만 계산합니다.</a:t>
            </a:r>
          </a:p>
          <a:p xmlns:a="http://schemas.openxmlformats.org/drawingml/2006/main">
            <a:r>
              <a:t>null을 0으로 바꾸면 측정되지 않은 값이 실제 0으로 계산에 섞여 평균이 낮아집니다.</a:t>
            </a:r>
          </a:p>
          <a:p xmlns:a="http://schemas.openxmlformats.org/drawingml/2006/main">
            <a:r>
              <a:t>예: 전체 유효 온도 22.5·29.0·0·22.8의 평균은 18.575이며 소수 둘째 자리 표시는 18.58입니다.</a:t>
            </a:r>
          </a:p>
          <a:p xmlns:a="http://schemas.openxmlformats.org/drawingml/2006/main">
            <a:r>
              <a:t>반례: 정지된 센서의 0도 유효 측정 이력에는 포함합니다. 운영 목적에 따른 다른 평균을 원하면 별도 규칙이 필요합니다.</a:t>
            </a:r>
          </a:p>
          <a:p xmlns:a="http://schemas.openxmlformats.org/drawingml/2006/main">
            <a:r>
              <a:t>풀이: 합 74.3/4 = 18.575이며, 화면은 소수 둘째 자리로 반올림하여 18.58을 표시한다. 입구 22.65, 창고 계산 안 함.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model.js 13~19줄의 동일한 코드를 투사용으로 줄바꿈했다. 함수의 뒷부분과 모든 줄 해설은 code/line-guide.md에 있다.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평균은 더한 값과 나눈 개수가 무엇인지 함께 설명해야하는 요약 값입니다. 오늘은 선택 이력의 유효한 숫자만 계산합니다.</a:t>
            </a:r>
          </a:p>
          <a:p xmlns:a="http://schemas.openxmlformats.org/drawingml/2006/main">
            <a:r>
              <a:t>null을 0으로 바꾸면 측정되지 않은 값이 실제 0으로 계산에 섞여 평균이 낮아집니다.</a:t>
            </a:r>
          </a:p>
          <a:p xmlns:a="http://schemas.openxmlformats.org/drawingml/2006/main">
            <a:r>
              <a:t>예: 전체 유효 온도 22.5·29.0·0·22.8의 평균은 18.575이며 소수 둘째 자리 표시는 18.58입니다.</a:t>
            </a:r>
          </a:p>
          <a:p xmlns:a="http://schemas.openxmlformats.org/drawingml/2006/main">
            <a:r>
              <a:t>반례: 정지된 센서의 0도 유효 측정 이력에는 포함합니다. 운영 목적에 따른 다른 평균을 원하면 별도 규칙이 필요합니다.</a:t>
            </a:r>
          </a:p>
          <a:p xmlns:a="http://schemas.openxmlformats.org/drawingml/2006/main">
            <a:r>
              <a:t>풀이: 합 74.3/4 = 18.575이며, 화면은 소수 둘째 자리로 반올림하여 18.58을 표시한다. 입구 22.65, 창고 계산 안 함.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반올림 표시와 원 계산 값이 달라 보이면 소수 둘째 자리 표시 규칙을 확인합니다.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그래프는 값을 빠르게 비교하게하지만 축·단위·누락 표시를 읽어야합니다. 오늘의 막대는 각 기록의 온도 높이를 보여 주며 간격 이 시간 간격을 뜻하지 않습니다.</a:t>
            </a:r>
          </a:p>
          <a:p xmlns:a="http://schemas.openxmlformats.org/drawingml/2006/main">
            <a:r>
              <a:t>표를 함께 두면 작은 막대나 미측정 표시의 정확한 값과 시각을 다시 확인할 수 있습니다.</a:t>
            </a:r>
          </a:p>
          <a:p xmlns:a="http://schemas.openxmlformats.org/drawingml/2006/main">
            <a:r>
              <a:t>예: 0은 최소 높이로 표시하되 글자 0을 남기고 null은 미측정 문구로 보여 줍니다.</a:t>
            </a:r>
          </a:p>
          <a:p xmlns:a="http://schemas.openxmlformats.org/drawingml/2006/main">
            <a:r>
              <a:t>반례: 막대 사이 간격이 같다고 측정 시간 간격까지 같았다고 해석하지 않습니다.</a:t>
            </a:r>
          </a:p>
          <a:p xmlns:a="http://schemas.openxmlformats.org/drawingml/2006/main">
            <a:r>
              <a:t>풀이: 막대 높이만 온도, 간격은 시간 축 아님.0과 미측정을 글자로도 구분한다.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그래프는 값을 빠르게 비교하게하지만 축·단위·누락 표시를 읽어야합니다. 오늘의 막대는 각 기록의 온도 높이를 보여 주며 간격 이 시간 간격을 뜻하지 않습니다.</a:t>
            </a:r>
          </a:p>
          <a:p xmlns:a="http://schemas.openxmlformats.org/drawingml/2006/main">
            <a:r>
              <a:t>표를 함께 두면 작은 막대나 미측정 표시의 정확한 값과 시각을 다시 확인할 수 있습니다.</a:t>
            </a:r>
          </a:p>
          <a:p xmlns:a="http://schemas.openxmlformats.org/drawingml/2006/main">
            <a:r>
              <a:t>예: 0은 최소 높이로 표시하되 글자 0을 남기고 null은 미측정 문구로 보여 줍니다.</a:t>
            </a:r>
          </a:p>
          <a:p xmlns:a="http://schemas.openxmlformats.org/drawingml/2006/main">
            <a:r>
              <a:t>반례: 막대 사이 간격이 같다고 측정 시간 간격까지 같았다고 해석하지 않습니다.</a:t>
            </a:r>
          </a:p>
          <a:p xmlns:a="http://schemas.openxmlformats.org/drawingml/2006/main">
            <a:r>
              <a:t>풀이: 막대 높이만 온도, 간격은 시간 축 아님.0과 미측정을 글자로도 구분한다.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그래프는 값을 빠르게 비교하게하지만 축·단위·누락 표시를 읽어야합니다. 오늘의 막대는 각 기록의 온도 높이를 보여 주며 간격 이 시간 간격을 뜻하지 않습니다.</a:t>
            </a:r>
          </a:p>
          <a:p xmlns:a="http://schemas.openxmlformats.org/drawingml/2006/main">
            <a:r>
              <a:t>표를 함께 두면 작은 막대나 미측정 표시의 정확한 값과 시각을 다시 확인할 수 있습니다.</a:t>
            </a:r>
          </a:p>
          <a:p xmlns:a="http://schemas.openxmlformats.org/drawingml/2006/main">
            <a:r>
              <a:t>예: 0은 최소 높이로 표시하되 글자 0을 남기고 null은 미측정 문구로 보여 줍니다.</a:t>
            </a:r>
          </a:p>
          <a:p xmlns:a="http://schemas.openxmlformats.org/drawingml/2006/main">
            <a:r>
              <a:t>반례: 막대 사이 간격이 같다고 측정 시간 간격까지 같았다고 해석하지 않습니다.</a:t>
            </a:r>
          </a:p>
          <a:p xmlns:a="http://schemas.openxmlformats.org/drawingml/2006/main">
            <a:r>
              <a:t>풀이: 막대 높이만 온도, 간격은 시간 축 아님.0과 미측정을 글자로도 구분한다.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막대만 보고 정확한 소수를 추측하지 않고 표의 값을 확인합니다.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오래된 값은 값 자체가 사라진 것이 아니라 마지막 기록 이후 시간이 지났다는 상태입니다. 마지막 관찰과 확인 시각을 함께 봅니다.</a:t>
            </a:r>
          </a:p>
          <a:p xmlns:a="http://schemas.openxmlformats.org/drawingml/2006/main">
            <a:r>
              <a:t>오래된 수치를 계속 큰 글자로 보여 주면 지금도 새 측정이 들어오는 것처럼 오해할 수 있습니다.</a:t>
            </a:r>
          </a:p>
          <a:p xmlns:a="http://schemas.openxmlformats.org/drawingml/2006/main">
            <a:r>
              <a:t>예: 70초 수신 멈춤 버튼은 새 자료를 추가하지 않고 고정 확인 시각만 70초 이동합니다. 입구 정상은 오래됨으로 바뀝니다.</a:t>
            </a:r>
          </a:p>
          <a:p xmlns:a="http://schemas.openxmlformats.org/drawingml/2006/main">
            <a:r>
              <a:t>반례: 실제로 네트워크 송신을 중단한 것이 아니라 멈춤 상황을 재현하는 모의 시각 변경입니다.</a:t>
            </a:r>
          </a:p>
          <a:p xmlns:a="http://schemas.openxmlformats.org/drawingml/2006/main">
            <a:r>
              <a:t>풀이: 시간만 70초 진행해 신선도 조건이 바뀐다. 미측정·정지 문구는 우선 규칙에 따른다.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오래된 값은 값 자체가 사라진 것이 아니라 마지막 기록 이후 시간이 지났다는 상태입니다. 마지막 관찰과 확인 시각을 함께 봅니다.</a:t>
            </a:r>
          </a:p>
          <a:p xmlns:a="http://schemas.openxmlformats.org/drawingml/2006/main">
            <a:r>
              <a:t>오래된 수치를 계속 큰 글자로 보여 주면 지금도 새 측정이 들어오는 것처럼 오해할 수 있습니다.</a:t>
            </a:r>
          </a:p>
          <a:p xmlns:a="http://schemas.openxmlformats.org/drawingml/2006/main">
            <a:r>
              <a:t>예: 70초 수신 멈춤 버튼은 새 자료를 추가하지 않고 고정 확인 시각만 70초 이동합니다. 입구 정상은 오래됨으로 바뀝니다.</a:t>
            </a:r>
          </a:p>
          <a:p xmlns:a="http://schemas.openxmlformats.org/drawingml/2006/main">
            <a:r>
              <a:t>반례: 실제로 네트워크 송신을 중단한 것이 아니라 멈춤 상황을 재현하는 모의 시각 변경입니다.</a:t>
            </a:r>
          </a:p>
          <a:p xmlns:a="http://schemas.openxmlformats.org/drawingml/2006/main">
            <a:r>
              <a:t>풀이: 시간만 70초 진행해 신선도 조건이 바뀐다. 미측정·정지 문구는 우선 규칙에 따른다.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오래된 값은 값 자체가 사라진 것이 아니라 마지막 기록 이후 시간이 지났다는 상태입니다. 마지막 관찰과 확인 시각을 함께 봅니다.</a:t>
            </a:r>
          </a:p>
          <a:p xmlns:a="http://schemas.openxmlformats.org/drawingml/2006/main">
            <a:r>
              <a:t>오래된 수치를 계속 큰 글자로 보여 주면 지금도 새 측정이 들어오는 것처럼 오해할 수 있습니다.</a:t>
            </a:r>
          </a:p>
          <a:p xmlns:a="http://schemas.openxmlformats.org/drawingml/2006/main">
            <a:r>
              <a:t>예: 70초 수신 멈춤 버튼은 새 자료를 추가하지 않고 고정 확인 시각만 70초 이동합니다. 입구 정상은 오래됨으로 바뀝니다.</a:t>
            </a:r>
          </a:p>
          <a:p xmlns:a="http://schemas.openxmlformats.org/drawingml/2006/main">
            <a:r>
              <a:t>반례: 실제로 네트워크 송신을 중단한 것이 아니라 멈춤 상황을 재현하는 모의 시각 변경입니다.</a:t>
            </a:r>
          </a:p>
          <a:p xmlns:a="http://schemas.openxmlformats.org/drawingml/2006/main">
            <a:r>
              <a:t>풀이: 시간만 70초 진행해 신선도 조건이 바뀐다. 미측정·정지 문구는 우선 규칙에 따른다.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상태가 미측정이나 정지인 행은 우선 순위 때문에 그 문구가 유지됩니다. 모든 행이 오래됨이어야한다고 가정하지 않습니다.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미측정은 값이 없다는 데이터 상태, 정지는 장치의 상태, 통신 실패는 요청 결과를 받지 못한 상황입니다. 각각 다른 증거와 안내가 필요합니다.</a:t>
            </a:r>
          </a:p>
          <a:p xmlns:a="http://schemas.openxmlformats.org/drawingml/2006/main">
            <a:r>
              <a:t>서로 다른 원인을 모두 0으로 보여 주면 사용자가 무엇을 확인해야할지 알 수 없습니다.</a:t>
            </a:r>
          </a:p>
          <a:p xmlns:a="http://schemas.openxmlformats.org/drawingml/2006/main">
            <a:r>
              <a:t>예: S02는 null이라 미측정,S04는 0과 false라 정지입니다. 서버를 끈 뒤 API 읽기는 수신 실패 문구를 보여 줍니다.</a:t>
            </a:r>
          </a:p>
          <a:p xmlns:a="http://schemas.openxmlformats.org/drawingml/2006/main">
            <a:r>
              <a:t>반례: 수신 실패 때 이전 값을 유지하더라도 새로 받았다고 표시하면 안 됩니다.</a:t>
            </a:r>
          </a:p>
          <a:p xmlns:a="http://schemas.openxmlformats.org/drawingml/2006/main">
            <a:r>
              <a:t>풀이: null/active/HTTP 실패는 서로 다른 근거다. 실패 때 이전 값 유지와 실패 표시를 함께 제공한다.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미측정은 값이 없다는 데이터 상태, 정지는 장치의 상태, 통신 실패는 요청 결과를 받지 못한 상황입니다. 각각 다른 증거와 안내가 필요합니다.</a:t>
            </a:r>
          </a:p>
          <a:p xmlns:a="http://schemas.openxmlformats.org/drawingml/2006/main">
            <a:r>
              <a:t>서로 다른 원인을 모두 0으로 보여 주면 사용자가 무엇을 확인해야할지 알 수 없습니다.</a:t>
            </a:r>
          </a:p>
          <a:p xmlns:a="http://schemas.openxmlformats.org/drawingml/2006/main">
            <a:r>
              <a:t>예: S02는 null이라 미측정,S04는 0과 false라 정지입니다. 서버를 끈 뒤 API 읽기는 수신 실패 문구를 보여 줍니다.</a:t>
            </a:r>
          </a:p>
          <a:p xmlns:a="http://schemas.openxmlformats.org/drawingml/2006/main">
            <a:r>
              <a:t>반례: 수신 실패 때 이전 값을 유지하더라도 새로 받았다고 표시하면 안 됩니다.</a:t>
            </a:r>
          </a:p>
          <a:p xmlns:a="http://schemas.openxmlformats.org/drawingml/2006/main">
            <a:r>
              <a:t>풀이: null/active/HTTP 실패는 서로 다른 근거다. 실패 때 이전 값 유지와 실패 표시를 함께 제공한다.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미측정은 값이 없다는 데이터 상태, 정지는 장치의 상태, 통신 실패는 요청 결과를 받지 못한 상황입니다. 각각 다른 증거와 안내가 필요합니다.</a:t>
            </a:r>
          </a:p>
          <a:p xmlns:a="http://schemas.openxmlformats.org/drawingml/2006/main">
            <a:r>
              <a:t>서로 다른 원인을 모두 0으로 보여 주면 사용자가 무엇을 확인해야할지 알 수 없습니다.</a:t>
            </a:r>
          </a:p>
          <a:p xmlns:a="http://schemas.openxmlformats.org/drawingml/2006/main">
            <a:r>
              <a:t>예: S02는 null이라 미측정,S04는 0과 false라 정지입니다. 서버를 끈 뒤 API 읽기는 수신 실패 문구를 보여 줍니다.</a:t>
            </a:r>
          </a:p>
          <a:p xmlns:a="http://schemas.openxmlformats.org/drawingml/2006/main">
            <a:r>
              <a:t>반례: 수신 실패 때 이전 값을 유지하더라도 새로 받았다고 표시하면 안 됩니다.</a:t>
            </a:r>
          </a:p>
          <a:p xmlns:a="http://schemas.openxmlformats.org/drawingml/2006/main">
            <a:r>
              <a:t>풀이: null/active/HTTP 실패는 서로 다른 근거다. 실패 때 이전 값 유지와 실패 표시를 함께 제공한다.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로컬 서버가 없다면 실패 상황을 강사가 시연하고 개인 실행 여부를 구분해 기록합니다.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입력을 거절하는 것은 전체 프로그램을 멈추는 것과 다릅니다. 오류 이유를 반환하고 기존 기록을 유지해야 다음 정상 요청을 처리할 수 있습니다.</a:t>
            </a:r>
          </a:p>
          <a:p xmlns:a="http://schemas.openxmlformats.org/drawingml/2006/main">
            <a:r>
              <a:t>잘못된 값 한 개가 전체 이력에 섞이거나 검증 없이 화면에 나타나지 않도록 수신 단계와 화면 단계를 구분합니다.</a:t>
            </a:r>
          </a:p>
          <a:p xmlns:a="http://schemas.openxmlformats.org/drawingml/2006/main">
            <a:r>
              <a:t>예: 온도 51이나 문자열은 POST400이며 기록 수는 늘지 않습니다. 0이나 null은 계약에 맞으면 받습니다.</a:t>
            </a:r>
          </a:p>
          <a:p xmlns:a="http://schemas.openxmlformats.org/drawingml/2006/main">
            <a:r>
              <a:t>반례: 에러가 났다는 이유로 서버 기록 전체를 비우면 정상 기록까지 잃습니다.</a:t>
            </a:r>
          </a:p>
          <a:p xmlns:a="http://schemas.openxmlformats.org/drawingml/2006/main">
            <a:r>
              <a:t>풀이: 입력 오류는 400, 저장 건수 유지. 다음 정상 POST는 201로 받을 수 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입력을 거절하는 것은 전체 프로그램을 멈추는 것과 다릅니다. 오류 이유를 반환하고 기존 기록을 유지해야 다음 정상 요청을 처리할 수 있습니다.</a:t>
            </a:r>
          </a:p>
          <a:p xmlns:a="http://schemas.openxmlformats.org/drawingml/2006/main">
            <a:r>
              <a:t>잘못된 값 한 개가 전체 이력에 섞이거나 검증 없이 화면에 나타나지 않도록 수신 단계와 화면 단계를 구분합니다.</a:t>
            </a:r>
          </a:p>
          <a:p xmlns:a="http://schemas.openxmlformats.org/drawingml/2006/main">
            <a:r>
              <a:t>예: 온도 51이나 문자열은 POST400이며 기록 수는 늘지 않습니다. 0이나 null은 계약에 맞으면 받습니다.</a:t>
            </a:r>
          </a:p>
          <a:p xmlns:a="http://schemas.openxmlformats.org/drawingml/2006/main">
            <a:r>
              <a:t>반례: 에러가 났다는 이유로 서버 기록 전체를 비우면 정상 기록까지 잃습니다.</a:t>
            </a:r>
          </a:p>
          <a:p xmlns:a="http://schemas.openxmlformats.org/drawingml/2006/main">
            <a:r>
              <a:t>풀이: 입력 오류는 400, 저장 건수 유지. 다음 정상 POST는 201로 받을 수 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app.js의 readApi 함수에서 수신·검사·rows 대입만 발췌했다. 오류 시 대입 전 catch로 이동하는 전체 코드는 교안의 줄별 해설에서 읽는다. 실제 구현의 의미를 그대로 유지하고 투사용으로 줄바꿈했다.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입력을 거절하는 것은 전체 프로그램을 멈추는 것과 다릅니다. 오류 이유를 반환하고 기존 기록을 유지해야 다음 정상 요청을 처리할 수 있습니다.</a:t>
            </a:r>
          </a:p>
          <a:p xmlns:a="http://schemas.openxmlformats.org/drawingml/2006/main">
            <a:r>
              <a:t>잘못된 값 한 개가 전체 이력에 섞이거나 검증 없이 화면에 나타나지 않도록 수신 단계와 화면 단계를 구분합니다.</a:t>
            </a:r>
          </a:p>
          <a:p xmlns:a="http://schemas.openxmlformats.org/drawingml/2006/main">
            <a:r>
              <a:t>예: 온도 51이나 문자열은 POST400이며 기록 수는 늘지 않습니다. 0이나 null은 계약에 맞으면 받습니다.</a:t>
            </a:r>
          </a:p>
          <a:p xmlns:a="http://schemas.openxmlformats.org/drawingml/2006/main">
            <a:r>
              <a:t>반례: 에러가 났다는 이유로 서버 기록 전체를 비우면 정상 기록까지 잃습니다.</a:t>
            </a:r>
          </a:p>
          <a:p xmlns:a="http://schemas.openxmlformats.org/drawingml/2006/main">
            <a:r>
              <a:t>풀이: 입력 오류는 400, 저장 건수 유지. 다음 정상 POST는 201로 받을 수 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검사기준과 실제 장비 범위를 혼동하지 않습니다. 이 과제의 0~50 은 입력 규칙입니다.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상태 문구는 사용자에게 현재 사실과 필요한 행동을 알려 주는 내용입니다. 내부 오류 이름만 노출하기보다 확인 범위를 설명합니다.</a:t>
            </a:r>
          </a:p>
          <a:p xmlns:a="http://schemas.openxmlformats.org/drawingml/2006/main">
            <a:r>
              <a:t>“실패”한 단어보다 이전 값인지 새 값인지와 다시 읽을 방법을 함께 알려 주면 오해를 줄일 수 있습니다.</a:t>
            </a:r>
          </a:p>
          <a:p xmlns:a="http://schemas.openxmlformats.org/drawingml/2006/main">
            <a:r>
              <a:t>예: 수신 실패 문구에“이전 화면 값을 유지합니다”라는 설명이 있습니다. 모의 기록 추가도 서버 저장이 아님을 알립니다.</a:t>
            </a:r>
          </a:p>
          <a:p xmlns:a="http://schemas.openxmlformats.org/drawingml/2006/main">
            <a:r>
              <a:t>반례: 모의 데이터를 실시간 센서로 표시하거나 단위 없이 숫자만 바꾸면 정확한 화면이라도 잘못 해석됩니다.</a:t>
            </a:r>
          </a:p>
          <a:p xmlns:a="http://schemas.openxmlformats.org/drawingml/2006/main">
            <a:r>
              <a:t>풀이: 데이터의 출처·시각·실패 범위를 문구에 남기고 계산 및 수신 동작은 변경하지 않는다.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상태 문구는 사용자에게 현재 사실과 필요한 행동을 알려 주는 내용입니다. 내부 오류 이름만 노출하기보다 확인 범위를 설명합니다.</a:t>
            </a:r>
          </a:p>
          <a:p xmlns:a="http://schemas.openxmlformats.org/drawingml/2006/main">
            <a:r>
              <a:t>“실패”한 단어보다 이전 값인지 새 값인지와 다시 읽을 방법을 함께 알려 주면 오해를 줄일 수 있습니다.</a:t>
            </a:r>
          </a:p>
          <a:p xmlns:a="http://schemas.openxmlformats.org/drawingml/2006/main">
            <a:r>
              <a:t>예: 수신 실패 문구에“이전 화면 값을 유지합니다”라는 설명이 있습니다. 모의 기록 추가도 서버 저장이 아님을 알립니다.</a:t>
            </a:r>
          </a:p>
          <a:p xmlns:a="http://schemas.openxmlformats.org/drawingml/2006/main">
            <a:r>
              <a:t>반례: 모의 데이터를 실시간 센서로 표시하거나 단위 없이 숫자만 바꾸면 정확한 화면이라도 잘못 해석됩니다.</a:t>
            </a:r>
          </a:p>
          <a:p xmlns:a="http://schemas.openxmlformats.org/drawingml/2006/main">
            <a:r>
              <a:t>풀이: 데이터의 출처·시각·실패 범위를 문구에 남기고 계산 및 수신 동작은 변경하지 않는다.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상태 문구는 사용자에게 현재 사실과 필요한 행동을 알려 주는 내용입니다. 내부 오류 이름만 노출하기보다 확인 범위를 설명합니다.</a:t>
            </a:r>
          </a:p>
          <a:p xmlns:a="http://schemas.openxmlformats.org/drawingml/2006/main">
            <a:r>
              <a:t>“실패”한 단어보다 이전 값인지 새 값인지와 다시 읽을 방법을 함께 알려 주면 오해를 줄일 수 있습니다.</a:t>
            </a:r>
          </a:p>
          <a:p xmlns:a="http://schemas.openxmlformats.org/drawingml/2006/main">
            <a:r>
              <a:t>예: 수신 실패 문구에“이전 화면 값을 유지합니다”라는 설명이 있습니다. 모의 기록 추가도 서버 저장이 아님을 알립니다.</a:t>
            </a:r>
          </a:p>
          <a:p xmlns:a="http://schemas.openxmlformats.org/drawingml/2006/main">
            <a:r>
              <a:t>반례: 모의 데이터를 실시간 센서로 표시하거나 단위 없이 숫자만 바꾸면 정확한 화면이라도 잘못 해석됩니다.</a:t>
            </a:r>
          </a:p>
          <a:p xmlns:a="http://schemas.openxmlformats.org/drawingml/2006/main">
            <a:r>
              <a:t>풀이: 데이터의 출처·시각·실패 범위를 문구에 남기고 계산 및 수신 동작은 변경하지 않는다.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문구를 고칠 때 따옴표와 문장 밖 코드를 지우지 않습니다. 원본과 변경 한 줄만 대조합니다.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재현 검수는 다른 사람이 문서만 보고 같은 입력과 화면을 확인할 수 있는지 살펴보는 것입니다.</a:t>
            </a:r>
          </a:p>
          <a:p xmlns:a="http://schemas.openxmlformats.org/drawingml/2006/main">
            <a:r>
              <a:t>작성자의 기억에만 의존한 실행 순서는 강의실이나 다른 PC에서 쉽게 빠집니다.</a:t>
            </a:r>
          </a:p>
          <a:p xmlns:a="http://schemas.openxmlformats.org/drawingml/2006/main">
            <a:r>
              <a:t>예: 정적 기본 경로와 서버·송신·API 다시 읽기 경로를 분리해서 짝에게 전달합니다.</a:t>
            </a:r>
          </a:p>
          <a:p xmlns:a="http://schemas.openxmlformats.org/drawingml/2006/main">
            <a:r>
              <a:t>반례: 화면 스크린 샷 한 장만으로 서버가 정상 수신했거나 오류를 거절했다는 것까지 증명하지 않습니다.</a:t>
            </a:r>
          </a:p>
          <a:p xmlns:a="http://schemas.openxmlformats.org/drawingml/2006/main">
            <a:r>
              <a:t>풀이: 초기 fixture와 고정 시각, 필터, 서버 기록 상태를 같이 맞춰 비교한다.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재현 검수는 다른 사람이 문서만 보고 같은 입력과 화면을 확인할 수 있는지 살펴보는 것입니다.</a:t>
            </a:r>
          </a:p>
          <a:p xmlns:a="http://schemas.openxmlformats.org/drawingml/2006/main">
            <a:r>
              <a:t>작성자의 기억에만 의존한 실행 순서는 강의실이나 다른 PC에서 쉽게 빠집니다.</a:t>
            </a:r>
          </a:p>
          <a:p xmlns:a="http://schemas.openxmlformats.org/drawingml/2006/main">
            <a:r>
              <a:t>예: 정적 기본 경로와 서버·송신·API 다시 읽기 경로를 분리해서 짝에게 전달합니다.</a:t>
            </a:r>
          </a:p>
          <a:p xmlns:a="http://schemas.openxmlformats.org/drawingml/2006/main">
            <a:r>
              <a:t>반례: 화면 스크린 샷 한 장만으로 서버가 정상 수신했거나 오류를 거절했다는 것까지 증명하지 않습니다.</a:t>
            </a:r>
          </a:p>
          <a:p xmlns:a="http://schemas.openxmlformats.org/drawingml/2006/main">
            <a:r>
              <a:t>풀이: 초기 fixture와 고정 시각, 필터, 서버 기록 상태를 같이 맞춰 비교한다.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재현 검수는 다른 사람이 문서만 보고 같은 입력과 화면을 확인할 수 있는지 살펴보는 것입니다.</a:t>
            </a:r>
          </a:p>
          <a:p xmlns:a="http://schemas.openxmlformats.org/drawingml/2006/main">
            <a:r>
              <a:t>작성자의 기억에만 의존한 실행 순서는 강의실이나 다른 PC에서 쉽게 빠집니다.</a:t>
            </a:r>
          </a:p>
          <a:p xmlns:a="http://schemas.openxmlformats.org/drawingml/2006/main">
            <a:r>
              <a:t>예: 정적 기본 경로와 서버·송신·API 다시 읽기 경로를 분리해서 짝에게 전달합니다.</a:t>
            </a:r>
          </a:p>
          <a:p xmlns:a="http://schemas.openxmlformats.org/drawingml/2006/main">
            <a:r>
              <a:t>반례: 화면 스크린 샷 한 장만으로 서버가 정상 수신했거나 오류를 거절했다는 것까지 증명하지 않습니다.</a:t>
            </a:r>
          </a:p>
          <a:p xmlns:a="http://schemas.openxmlformats.org/drawingml/2006/main">
            <a:r>
              <a:t>풀이: 초기 fixture와 고정 시각, 필터, 서버 기록 상태를 같이 맞춰 비교한다.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서로 다른 상태에서 비교하면 브라우저 새로고침이나 서버 재시작으로 기준 조건을 맞춥니다.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제작 완료는 제공 파일과 모의 동작을 확인했다는 뜻입니다. 실제 장비·지속 저장·인증·배포까지 확인했다는 뜻은 아닙니다.</a:t>
            </a:r>
          </a:p>
          <a:p xmlns:a="http://schemas.openxmlformats.org/drawingml/2006/main">
            <a:r>
              <a:t>실무로 넘어갈 때 새로 확인해야할 조건을 분명히 남겨야 교재 예제를 바로 운영 시스템으로 오해하지 않습니다.</a:t>
            </a:r>
          </a:p>
          <a:p xmlns:a="http://schemas.openxmlformats.org/drawingml/2006/main">
            <a:r>
              <a:t>예: 서버 기록은 메모리에 있어 재시작 하면 초기 자료로 돌아갑니다. GitHub Pages는 정적 화면을 제공하며 Python 서버는 별도입니다.</a:t>
            </a:r>
          </a:p>
          <a:p xmlns:a="http://schemas.openxmlformats.org/drawingml/2006/main">
            <a:r>
              <a:t>반례: 모의 센서의 성공을 ESP32 연결 성공이나 공개 배포 완료라고 보고하지 않습니다.</a:t>
            </a:r>
          </a:p>
          <a:p xmlns:a="http://schemas.openxmlformats.org/drawingml/2006/main">
            <a:r>
              <a:t>풀이: 실물 센서·인증·지속 저장·교실 망·배포·리허설은 별도 확인 대상이다.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제작 완료는 제공 파일과 모의 동작을 확인했다는 뜻입니다. 실제 장비·지속 저장·인증·배포까지 확인했다는 뜻은 아닙니다.</a:t>
            </a:r>
          </a:p>
          <a:p xmlns:a="http://schemas.openxmlformats.org/drawingml/2006/main">
            <a:r>
              <a:t>실무로 넘어갈 때 새로 확인해야할 조건을 분명히 남겨야 교재 예제를 바로 운영 시스템으로 오해하지 않습니다.</a:t>
            </a:r>
          </a:p>
          <a:p xmlns:a="http://schemas.openxmlformats.org/drawingml/2006/main">
            <a:r>
              <a:t>예: 서버 기록은 메모리에 있어 재시작 하면 초기 자료로 돌아갑니다. GitHub Pages는 정적 화면을 제공하며 Python 서버는 별도입니다.</a:t>
            </a:r>
          </a:p>
          <a:p xmlns:a="http://schemas.openxmlformats.org/drawingml/2006/main">
            <a:r>
              <a:t>반례: 모의 센서의 성공을 ESP32 연결 성공이나 공개 배포 완료라고 보고하지 않습니다.</a:t>
            </a:r>
          </a:p>
          <a:p xmlns:a="http://schemas.openxmlformats.org/drawingml/2006/main">
            <a:r>
              <a:t>풀이: 실물 센서·인증·지속 저장·교실 망·배포·리허설은 별도 확인 대상이다.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자료/TrackA/A4.pptx (센서 현황판 흐름 참고, 원본 목업을 실제 동작으로 간주하지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제작 완료는 제공 파일과 모의 동작을 확인했다는 뜻입니다. 실제 장비·지속 저장·인증·배포까지 확인했다는 뜻은 아닙니다.</a:t>
            </a:r>
          </a:p>
          <a:p xmlns:a="http://schemas.openxmlformats.org/drawingml/2006/main">
            <a:r>
              <a:t>실무로 넘어갈 때 새로 확인해야할 조건을 분명히 남겨야 교재 예제를 바로 운영 시스템으로 오해하지 않습니다.</a:t>
            </a:r>
          </a:p>
          <a:p xmlns:a="http://schemas.openxmlformats.org/drawingml/2006/main">
            <a:r>
              <a:t>예: 서버 기록은 메모리에 있어 재시작 하면 초기 자료로 돌아갑니다. GitHub Pages는 정적 화면을 제공하며 Python 서버는 별도입니다.</a:t>
            </a:r>
          </a:p>
          <a:p xmlns:a="http://schemas.openxmlformats.org/drawingml/2006/main">
            <a:r>
              <a:t>반례: 모의 센서의 성공을 ESP32 연결 성공이나 공개 배포 완료라고 보고하지 않습니다.</a:t>
            </a:r>
          </a:p>
          <a:p xmlns:a="http://schemas.openxmlformats.org/drawingml/2006/main">
            <a:r>
              <a:t>풀이: 실물 센서·인증·지속 저장·교실 망·배포·리허설은 별도 확인 대상이다.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완료 문장에 모의·로컬·실제 실행 범위를 명시합니다. 실측 강의 시간은 별도 기록합니다.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7405f15e643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b87d0887744308" /><Relationship Type="http://schemas.openxmlformats.org/officeDocument/2006/relationships/slideLayout" Target="/ppt/slideLayouts/slideLayout1.xml" Id="Ra2d7ac05f35c4d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d7ac05f35c4d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589f598714c60" /><Relationship Type="http://schemas.openxmlformats.org/officeDocument/2006/relationships/notesSlide" Target="/ppt/notesSlides/notesSlide1.xml" Id="R856e276daf594c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8922127a14400" /><Relationship Type="http://schemas.openxmlformats.org/officeDocument/2006/relationships/notesSlide" Target="/ppt/notesSlides/notesSlide2.xml" Id="R810b283f80354c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79cfcf77f402d" /><Relationship Type="http://schemas.openxmlformats.org/officeDocument/2006/relationships/notesSlide" Target="/ppt/notesSlides/notesSlide3.xml" Id="R80fec0fb1b164d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0b7a64188487b" /><Relationship Type="http://schemas.openxmlformats.org/officeDocument/2006/relationships/notesSlide" Target="/ppt/notesSlides/notesSlide4.xml" Id="R650c92ca93c74a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b51d01c9b4ca6" /><Relationship Type="http://schemas.openxmlformats.org/officeDocument/2006/relationships/notesSlide" Target="/ppt/notesSlides/notesSlide5.xml" Id="Rb72eeac7a6c54b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556a82ab64346" /><Relationship Type="http://schemas.openxmlformats.org/officeDocument/2006/relationships/notesSlide" Target="/ppt/notesSlides/notesSlide6.xml" Id="R4bb28d33aef242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67a8ce3e14a2b" /><Relationship Type="http://schemas.openxmlformats.org/officeDocument/2006/relationships/notesSlide" Target="/ppt/notesSlides/notesSlide7.xml" Id="Rf0b500e2e75446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1c83e01c04b82" /><Relationship Type="http://schemas.openxmlformats.org/officeDocument/2006/relationships/notesSlide" Target="/ppt/notesSlides/notesSlide8.xml" Id="R8e9416045fd942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31aa4e1aa4fae" /><Relationship Type="http://schemas.openxmlformats.org/officeDocument/2006/relationships/notesSlide" Target="/ppt/notesSlides/notesSlide9.xml" Id="R79209948c87245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bf457bfc9459f" /><Relationship Type="http://schemas.openxmlformats.org/officeDocument/2006/relationships/notesSlide" Target="/ppt/notesSlides/notesSlide10.xml" Id="R59c5e2cd661a48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db2b073be46e6" /><Relationship Type="http://schemas.openxmlformats.org/officeDocument/2006/relationships/notesSlide" Target="/ppt/notesSlides/notesSlide11.xml" Id="R0134443f197444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3ce92a63348fa" /><Relationship Type="http://schemas.openxmlformats.org/officeDocument/2006/relationships/notesSlide" Target="/ppt/notesSlides/notesSlide12.xml" Id="R81a8eb51639c4b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64c9d82f94d12" /><Relationship Type="http://schemas.openxmlformats.org/officeDocument/2006/relationships/notesSlide" Target="/ppt/notesSlides/notesSlide13.xml" Id="R035c52dca86641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1932b9980484f" /><Relationship Type="http://schemas.openxmlformats.org/officeDocument/2006/relationships/notesSlide" Target="/ppt/notesSlides/notesSlide14.xml" Id="R4fcab8b2fe6a4a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12c60f7984f5e" /><Relationship Type="http://schemas.openxmlformats.org/officeDocument/2006/relationships/notesSlide" Target="/ppt/notesSlides/notesSlide15.xml" Id="R120b6af12f4e49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9260cf73044e7" /><Relationship Type="http://schemas.openxmlformats.org/officeDocument/2006/relationships/notesSlide" Target="/ppt/notesSlides/notesSlide16.xml" Id="R60556feb994f4c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3f5d2d97948bb" /><Relationship Type="http://schemas.openxmlformats.org/officeDocument/2006/relationships/notesSlide" Target="/ppt/notesSlides/notesSlide17.xml" Id="Rab5868e1700944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8ab6e565e4318" /><Relationship Type="http://schemas.openxmlformats.org/officeDocument/2006/relationships/notesSlide" Target="/ppt/notesSlides/notesSlide18.xml" Id="Rdfa1d8a85b1b49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a1b20ffb04183" /><Relationship Type="http://schemas.openxmlformats.org/officeDocument/2006/relationships/notesSlide" Target="/ppt/notesSlides/notesSlide19.xml" Id="Ra5b4ed6b240d43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4bdb96d5d4731" /><Relationship Type="http://schemas.openxmlformats.org/officeDocument/2006/relationships/notesSlide" Target="/ppt/notesSlides/notesSlide20.xml" Id="R06a614084de7406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e4142efc6438d" /><Relationship Type="http://schemas.openxmlformats.org/officeDocument/2006/relationships/notesSlide" Target="/ppt/notesSlides/notesSlide21.xml" Id="Rb5024e150d47470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e987853e842d5" /><Relationship Type="http://schemas.openxmlformats.org/officeDocument/2006/relationships/notesSlide" Target="/ppt/notesSlides/notesSlide22.xml" Id="Rca465f724ea248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765ecbddf469d" /><Relationship Type="http://schemas.openxmlformats.org/officeDocument/2006/relationships/notesSlide" Target="/ppt/notesSlides/notesSlide23.xml" Id="Rb3bc8c0dec7646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0bb608d214583" /><Relationship Type="http://schemas.openxmlformats.org/officeDocument/2006/relationships/notesSlide" Target="/ppt/notesSlides/notesSlide24.xml" Id="R25addc200bf246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b9baf74c14ad4" /><Relationship Type="http://schemas.openxmlformats.org/officeDocument/2006/relationships/notesSlide" Target="/ppt/notesSlides/notesSlide25.xml" Id="R446d5b18532f421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92f8149ed4d11" /><Relationship Type="http://schemas.openxmlformats.org/officeDocument/2006/relationships/notesSlide" Target="/ppt/notesSlides/notesSlide26.xml" Id="R0e3d84bb6ce6486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95fcc0f204d24" /><Relationship Type="http://schemas.openxmlformats.org/officeDocument/2006/relationships/notesSlide" Target="/ppt/notesSlides/notesSlide27.xml" Id="R28ce468c7f56482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43ec956574028" /><Relationship Type="http://schemas.openxmlformats.org/officeDocument/2006/relationships/notesSlide" Target="/ppt/notesSlides/notesSlide28.xml" Id="Rc9f55a2c11dd46d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f0dd088e643fa" /><Relationship Type="http://schemas.openxmlformats.org/officeDocument/2006/relationships/notesSlide" Target="/ppt/notesSlides/notesSlide29.xml" Id="Rc973f050862947b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a21653dac4503" /><Relationship Type="http://schemas.openxmlformats.org/officeDocument/2006/relationships/notesSlide" Target="/ppt/notesSlides/notesSlide30.xml" Id="Rb86356bff26e4c5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0f95339cb4c02" /><Relationship Type="http://schemas.openxmlformats.org/officeDocument/2006/relationships/notesSlide" Target="/ppt/notesSlides/notesSlide31.xml" Id="R796c73be64c342d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91da027064215" /><Relationship Type="http://schemas.openxmlformats.org/officeDocument/2006/relationships/notesSlide" Target="/ppt/notesSlides/notesSlide32.xml" Id="Rd047809c16a9434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fb51d7ce94012" /><Relationship Type="http://schemas.openxmlformats.org/officeDocument/2006/relationships/notesSlide" Target="/ppt/notesSlides/notesSlide33.xml" Id="R6b30a8a2d13a440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92001fb794ed4" /><Relationship Type="http://schemas.openxmlformats.org/officeDocument/2006/relationships/notesSlide" Target="/ppt/notesSlides/notesSlide34.xml" Id="R14493309f9744f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bc5a4cbc84268" /><Relationship Type="http://schemas.openxmlformats.org/officeDocument/2006/relationships/notesSlide" Target="/ppt/notesSlides/notesSlide35.xml" Id="R81b4d1f8e0a949d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0ab7a17844b8e" /><Relationship Type="http://schemas.openxmlformats.org/officeDocument/2006/relationships/notesSlide" Target="/ppt/notesSlides/notesSlide36.xml" Id="Rbcc0f1f2870c49e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a4861d3ab47c6" /><Relationship Type="http://schemas.openxmlformats.org/officeDocument/2006/relationships/notesSlide" Target="/ppt/notesSlides/notesSlide37.xml" Id="Ra662cd03ba614a9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4a8dab4c248f6" /><Relationship Type="http://schemas.openxmlformats.org/officeDocument/2006/relationships/notesSlide" Target="/ppt/notesSlides/notesSlide38.xml" Id="R2b55a08a06d24ab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082db12614cdc" /><Relationship Type="http://schemas.openxmlformats.org/officeDocument/2006/relationships/notesSlide" Target="/ppt/notesSlides/notesSlide39.xml" Id="R50f717a558a44a6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9316bcd9148f7" /><Relationship Type="http://schemas.openxmlformats.org/officeDocument/2006/relationships/notesSlide" Target="/ppt/notesSlides/notesSlide40.xml" Id="R31bf7166cbfd4f5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b69fc91ed4581" /><Relationship Type="http://schemas.openxmlformats.org/officeDocument/2006/relationships/notesSlide" Target="/ppt/notesSlides/notesSlide41.xml" Id="R9c133b71d121469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bcb9e24e64b71" /><Relationship Type="http://schemas.openxmlformats.org/officeDocument/2006/relationships/notesSlide" Target="/ppt/notesSlides/notesSlide42.xml" Id="R79d10ef6dbfe406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2f302dfa74cfd" /><Relationship Type="http://schemas.openxmlformats.org/officeDocument/2006/relationships/notesSlide" Target="/ppt/notesSlides/notesSlide43.xml" Id="R441f77565b79474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c775e654640ac" /><Relationship Type="http://schemas.openxmlformats.org/officeDocument/2006/relationships/notesSlide" Target="/ppt/notesSlides/notesSlide44.xml" Id="R98d21543d5da4c6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34f5f436e4b66" /><Relationship Type="http://schemas.openxmlformats.org/officeDocument/2006/relationships/notesSlide" Target="/ppt/notesSlides/notesSlide45.xml" Id="R1e3e015b005642c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0fbb3aee1465b" /><Relationship Type="http://schemas.openxmlformats.org/officeDocument/2006/relationships/notesSlide" Target="/ppt/notesSlides/notesSlide46.xml" Id="R7e822b23d7514de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d9f6192674592" /><Relationship Type="http://schemas.openxmlformats.org/officeDocument/2006/relationships/notesSlide" Target="/ppt/notesSlides/notesSlide47.xml" Id="Rf4cebc6cf32a4fc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5c18cee3f48ed" /><Relationship Type="http://schemas.openxmlformats.org/officeDocument/2006/relationships/notesSlide" Target="/ppt/notesSlides/notesSlide48.xml" Id="Rbd733df408be45c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eeadb89724d1b" /><Relationship Type="http://schemas.openxmlformats.org/officeDocument/2006/relationships/notesSlide" Target="/ppt/notesSlides/notesSlide49.xml" Id="Rbe00d169a77b46b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9a5f5a4ef403d" /><Relationship Type="http://schemas.openxmlformats.org/officeDocument/2006/relationships/notesSlide" Target="/ppt/notesSlides/notesSlide50.xml" Id="Rf17068677a4c4be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d834716084c69" /><Relationship Type="http://schemas.openxmlformats.org/officeDocument/2006/relationships/notesSlide" Target="/ppt/notesSlides/notesSlide51.xml" Id="R5308ffde7e30414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733d3ec104835" /><Relationship Type="http://schemas.openxmlformats.org/officeDocument/2006/relationships/notesSlide" Target="/ppt/notesSlides/notesSlide52.xml" Id="Rc85b48b815d940d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cc87e92a245e3" /><Relationship Type="http://schemas.openxmlformats.org/officeDocument/2006/relationships/notesSlide" Target="/ppt/notesSlides/notesSlide53.xml" Id="Ra9c0602bffd3430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f8a376deb4860" /><Relationship Type="http://schemas.openxmlformats.org/officeDocument/2006/relationships/notesSlide" Target="/ppt/notesSlides/notesSlide54.xml" Id="Re8d9d551e3f145a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d64895f7a4ad8" /><Relationship Type="http://schemas.openxmlformats.org/officeDocument/2006/relationships/notesSlide" Target="/ppt/notesSlides/notesSlide55.xml" Id="Rf3ec65386d5b4b42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583d479844965" /><Relationship Type="http://schemas.openxmlformats.org/officeDocument/2006/relationships/notesSlide" Target="/ppt/notesSlides/notesSlide56.xml" Id="R28f33db0c9e848d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dd00e677f4558" /><Relationship Type="http://schemas.openxmlformats.org/officeDocument/2006/relationships/notesSlide" Target="/ppt/notesSlides/notesSlide57.xml" Id="R919cf835e497401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4aa62076c4f2c" /><Relationship Type="http://schemas.openxmlformats.org/officeDocument/2006/relationships/notesSlide" Target="/ppt/notesSlides/notesSlide58.xml" Id="R49674b3e6e4d4a9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500c94b5e441f" /><Relationship Type="http://schemas.openxmlformats.org/officeDocument/2006/relationships/notesSlide" Target="/ppt/notesSlides/notesSlide59.xml" Id="R7c0678ba79ed448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14f2d39604e1f" /><Relationship Type="http://schemas.openxmlformats.org/officeDocument/2006/relationships/notesSlide" Target="/ppt/notesSlides/notesSlide60.xml" Id="Re554023f9c0e463b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bfc7900bd4c49" /><Relationship Type="http://schemas.openxmlformats.org/officeDocument/2006/relationships/notesSlide" Target="/ppt/notesSlides/notesSlide61.xml" Id="R24e0848cf240465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6cbc6f1344552" /><Relationship Type="http://schemas.openxmlformats.org/officeDocument/2006/relationships/notesSlide" Target="/ppt/notesSlides/notesSlide62.xml" Id="Rcc48c9f4820643a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a92f24b6f41fe" /><Relationship Type="http://schemas.openxmlformats.org/officeDocument/2006/relationships/notesSlide" Target="/ppt/notesSlides/notesSlide63.xml" Id="R8858e259005b4d39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a0fafa04e4de2" /><Relationship Type="http://schemas.openxmlformats.org/officeDocument/2006/relationships/notesSlide" Target="/ppt/notesSlides/notesSlide64.xml" Id="R41e820c14dd94d7b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f4a2f33d64529" /><Relationship Type="http://schemas.openxmlformats.org/officeDocument/2006/relationships/notesSlide" Target="/ppt/notesSlides/notesSlide65.xml" Id="Rce2fcdefffff464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a485a422d40e1" /><Relationship Type="http://schemas.openxmlformats.org/officeDocument/2006/relationships/notesSlide" Target="/ppt/notesSlides/notesSlide66.xml" Id="R8528e29b3b0e44ae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a77d4cb1b44c3" /><Relationship Type="http://schemas.openxmlformats.org/officeDocument/2006/relationships/notesSlide" Target="/ppt/notesSlides/notesSlide67.xml" Id="R98e80aa2de8d4b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0948C-7CBE-496B-A9CE-99F2CE67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2026-10-29  웹 대시보드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46E7F-663F-436A-BA29-0F312F73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웹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2A98C-4768-4F71-A6E9-2CB9F2D2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2026-10-29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F90AA-B848-4942-824D-0CAD03F9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B7EA1-B636-43DE-9190-2432AD51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웹 대시보드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9BAB4-B5E7-458F-A343-50BA27D1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개념·완성 예제·작은 수정·근거 있는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DDF30-1906-4F25-9FD0-270D86D5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6구간 수업 자료  ·  실교육 360분 운영안</a:t>
            </a:r>
          </a:p>
        </p:txBody>
      </p:sp>
    </p:spTree>
    <p:extLst>
      <p:ext uri="{BB962C8B-B14F-4D97-AF65-F5344CB8AC3E}">
        <p14:creationId xmlns:p14="http://schemas.microsoft.com/office/powerpoint/2010/main" val="2011973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EC524-02C2-4E10-BF62-60BA8F45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B5278-5A01-493F-92AB-5A05D4D6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현황판이 답할 업무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D8BE0-B273-4A52-9265-44C02CC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4770E-8B6D-4867-A661-2D7E41E8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C0048-C78D-437F-AD52-004B4B6C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71985-65EC-46CD-8D50-A21318A7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대시보드는 여러 기록을 모아 현재 상황과 변화를 확인하는 업무 화면입니다. 먼저 누가 어떤 결정을 위해 보는지 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D6FA6-4E70-490A-9007-40A5A0F3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00636-8D13-4C55-8738-E5040445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많은 숫자를 한 화면에 놓아도 사용자의 질문에 답하지 못하면 확인 부담만 커집니다.</a:t>
            </a:r>
          </a:p>
        </p:txBody>
      </p:sp>
    </p:spTree>
    <p:extLst>
      <p:ext uri="{BB962C8B-B14F-4D97-AF65-F5344CB8AC3E}">
        <p14:creationId xmlns:p14="http://schemas.microsoft.com/office/powerpoint/2010/main" val="1894761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4DD3F-3041-4409-A4C2-81AB6476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0C208-0DCF-4A99-925D-7798B36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현황판이 답할 업무 질문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61D60-8D38-43CA-9619-3BE17C36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E39E1-59E3-4737-B6D2-8D81A35F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53365-61EC-4B6A-B68A-F7815799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B686D-9BC6-46F7-A2A9-68D92406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점검 담당자는 장소별 마지막 온도와 그 값이 언제 들어왔는지, 미측정인지 알고 싶어합니다.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7B02F-14B9-427E-A25F-F70F343A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1A5DD-AB09-47A6-973C-A6B99B3E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큰 숫자 22.8만 보여 주면 단위와 장소, 기록 시각을 알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044851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4929E-7BF6-4478-BF20-7FBA9C44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80798-409E-49F7-AA92-6E8CD7D1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현황판이 답할 업무 질문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9A360-B0DC-4ACF-939C-F2CFBC1A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9D705-A1DF-42EE-95D3-692819D2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9B040-28C4-4A6A-A54C-0CB50196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A01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899D0-12BC-410D-A457-4597679A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화면을 열어 보이는 항목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4B7EE-7D02-445E-A62F-3AC7AA33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사용자와 확인할 질문 세 개 쓰기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3AFF7-5D2B-48CC-B91C-3DFDF458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질문에 필요한 필드 연결하기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88B25-1CDE-4675-B7BA-23E8F76E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필요 없는 장식과 정보 구별하기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4F7AB-E0A6-48A4-8E47-CBCC14B8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업무 질문과 필드 대응 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A4D3F-98F0-4B33-A5D5-40133551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보기 좋은 화면과 업무에 필요한 화면은 어떻게 다를까요?</a:t>
            </a:r>
          </a:p>
        </p:txBody>
      </p:sp>
    </p:spTree>
    <p:extLst>
      <p:ext uri="{BB962C8B-B14F-4D97-AF65-F5344CB8AC3E}">
        <p14:creationId xmlns:p14="http://schemas.microsoft.com/office/powerpoint/2010/main" val="1631747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A4B4B-CA0A-48D7-882C-7403169E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473AF-9B04-4932-B68E-83CC13AE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관찰 단위와 최신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FEDF8-AA8B-4121-9B8C-81CDD682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93AB2-4474-4D3B-B11F-65717FD2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A9C82-67B7-4DEE-BA46-BF5DC3CF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590F0-D56C-40F0-93FB-AFF0D3D3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행은 센서의 한 시점 관찰입니다. 최신 기록은 배열의 마지막 줄이라는 뜻이 아니라 측정 시각을 비교해 정한 기록입니다.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C69E4-511F-4CC2-B3B2-5E22AB54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B4811-E226-4713-9D67-C58AE268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센서가 여러 번 나오거나 늦게 도착한 기록이 있으면 입력 순서만 믿어서는 현재 상태를 잘못 보여 줄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3111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A7752-C01B-4E3D-84E4-251A6DDE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9E64F-3300-454F-96F6-35F4F0D6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관찰 단위와 최신 기록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0A09B-AABB-4DEB-8F56-4F7997D6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E3B54-1E09-4305-A934-F9867331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6412F-FBA0-4244-A49B-C4FF87C5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D9A46-362C-4EC8-9566-D6FC9EFB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입구 S01은 22.5와 22.8의 두 기록이 있으며 10:10의 22.8이 마지막 기록입니다.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57198-6751-4140-AB49-AEB2D089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67152-48B7-481B-B9E6-E2887480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다른 센서의 마지막 행을 전체 공간의 최신값이라고 부르면 장치별 상태가 사라집니다.</a:t>
            </a:r>
          </a:p>
        </p:txBody>
      </p:sp>
    </p:spTree>
    <p:extLst>
      <p:ext uri="{BB962C8B-B14F-4D97-AF65-F5344CB8AC3E}">
        <p14:creationId xmlns:p14="http://schemas.microsoft.com/office/powerpoint/2010/main" val="5219530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401B8-67F3-4B53-B4CA-8D2C16A6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결과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4D06F-FAEE-41EB-8FBB-37C2760F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관찰 다섯 건과 센서 네 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A36DD-4289-4E1A-AB63-4225B5E2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5DD4D-D1C4-430E-B08A-8A5D3659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1809750"/>
                <a:gridCol w="2190750"/>
                <a:gridCol w="3429000"/>
                <a:gridCol w="1924050"/>
              </a:tblGrid>
              <a:tr h="619125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장소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 시각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10:09:50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창고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null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10:09:55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실습실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10:08:00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10:09:58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false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10:10:00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CBC0E-B6EE-4D97-B28D-88FE64AB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최신은 센서별 시각을 비교합니다. 이력은 관찰 전부를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34147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EE591-FBBE-4E38-B682-4557B7D0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73CEC-EF0F-4DE1-BB82-ED7E36FD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관찰 단위와 최신 기록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1F67C-A5F6-4FC5-94E8-B4CB88D2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0ECC8-FF87-4846-9B8C-9405CD5B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A2147-9CB6-496C-93EE-A64DEF93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A02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CB541-4415-48C3-ACD0-C3929976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readings.json의 다섯 건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42AE2-6C18-4745-88E6-CE93BC78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장치 수와 관찰 수 따로 세기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27CFB-4ED0-469D-BDB0-5AAA6FC5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S01 두 시각 비교하기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286A1-7D03-46EA-9C03-46E27373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최신 선택 기준을 한 문장으로 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B3400-7F58-4898-9C8A-860119BA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이력 5건·센서 4개·S01 최신 22.8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93BCD-22B2-474B-9D14-ACB8F9DC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파일의 마지막 줄과 센서별 최신값은 왜 다를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511293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FA837-57EF-4A8D-89A1-4F43D316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626F3-7986-4BBF-A1FA-F9775BB9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단위·시각·상태의 약속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EF974-03F1-4DA9-8BCB-FBE17979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C3E77-C7C9-4219-AA48-E8842F18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026E0-A919-4B83-A11F-3F996F12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D4365-38B9-49C9-A83A-01FE8EA2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표시 규칙은 값의 뜻과 화면 문구를 연결한 약속입니다. 단위와 누락, 오래된 값의 기준을 먼저 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A7E7C-48F9-47F1-834A-79D92314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C0A64-C6E0-4152-8EA2-9702B3C6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상태가 무엇을 뜻하는지 합의하지 않으면 같은 값에 서로 다른 판단을 붙일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80506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DFF75-0122-4794-A960-0BCCB72C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959B4-4EFA-4D9F-8926-1AD6B529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단위·시각·상태의 약속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7D582-1F0E-497D-A04B-76E65CD9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EBC09-E543-440D-9A6B-ACD77FF5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F752C-0BE9-407C-94FC-B49DCCA4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9C5D7-27D8-483A-8884-660D050B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 수업은 28 ℃ 이상 주의, 60초 초과 오래됨, 온도 null은 미측정이라고 표시합니다. 입력에는 시간대가 있는 ISO 시각을 쓰고 화면은 한국 시각으로 통일해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FC3E4-6B26-4AAD-859A-2509EF15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3EA5F-09AF-4167-AF36-4C67BAB9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 숫자는 실제 장비의 안전 한계가 아니라 합성 데이터의 표시 연습 규칙입니다.</a:t>
            </a:r>
          </a:p>
        </p:txBody>
      </p:sp>
    </p:spTree>
    <p:extLst>
      <p:ext uri="{BB962C8B-B14F-4D97-AF65-F5344CB8AC3E}">
        <p14:creationId xmlns:p14="http://schemas.microsoft.com/office/powerpoint/2010/main" val="10111664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DCEB2-23FA-475F-A2C2-2C57FEEB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코드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EB5CD-1CA2-4254-8A4F-42E25CEB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상태 판단의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48613-CA05-444E-A6A7-EAFD7609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5286E-E7A0-4559-8646-3A8241B8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D274C-F79F-4549-844F-3F2A5087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여러 조건이 맞으면 먼저 반환하는 상태를 표시합니다.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BCA9D-83CC-4A82-9AAA-909FAE23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E7D63-1AD9-4320-9FDC-78869C84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function status(row, now) {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if (!valid(row) || Date.parse(row.measured_at) &gt; now) return "입력 오류";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if (row.temperature_c === null) return "미측정";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if (!row.active) return "정지";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if (now - Date.parse(row.measured_at) &gt; 60000) return "오래됨";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return row.temperature_c &gt;= 28 ? "주의" : "정상";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9A40C-6187-4318-910D-90BBB8D5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60초 초과이며, 60초 정확히는 오래됨이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496525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6ED27-E6BF-4971-82B5-3B9B3ACA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B1FB1-7318-4693-BF8C-7CF293BF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단위·시각·상태의 약속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D3CD0-917F-4A47-B7CA-C864E640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6DC50-0AE3-4E3B-B859-A3BB1A7B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5CB26-ABD9-4398-B192-83AA3F55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A03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3E6B4-8ACD-4F8B-A52E-DBC16A87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rules.md의 기준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43ADF-EE39-48D0-8BB5-E85E98F5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28과 60초 경계의 예상 쓰기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E4362-5698-4629-BD7A-5B899E3A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0·null·false의 표시 구별하기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B7635-6570-4D35-AB55-DBFCEC73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상태 우선순위를 표로 옮기기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1E6D4-C658-42B0-B187-5AEC6955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값·단위·시각·상태 기준 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31ED4-941A-43F4-BBA8-463F0979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여러 상태가 동시에 맞을 때 어떤 문구를 보여 줄까요?</a:t>
            </a:r>
          </a:p>
        </p:txBody>
      </p:sp>
    </p:spTree>
    <p:extLst>
      <p:ext uri="{BB962C8B-B14F-4D97-AF65-F5344CB8AC3E}">
        <p14:creationId xmlns:p14="http://schemas.microsoft.com/office/powerpoint/2010/main" val="17649770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D08F4-6CCE-4FD7-95CD-410D653D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17725-7030-46DA-9A9A-15EDBCD7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업무 질문과 표시 규칙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E2CC9-28E4-44F8-9073-2EADA8EA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E0749-6047-4EC8-A692-55338C28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현황판이 답할 업무 질문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보기 좋은 화면과 업무에 필요한 화면은 어떻게 다를까요?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 단위와 최신 기록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파일의 마지막 줄과 센서별 최신값은 왜 다를 수 있나요?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단위·시각·상태의 약속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상태가 동시에 맞을 때 어떤 문구를 보여 줄까요?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1142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9F738-E355-4B7A-BF61-6FBA7CCD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13E8C-BCC8-4A97-BA4B-D2636662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정적 파일로 여는 모의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47E8C-41C2-498E-A98E-E8F9AF5E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25E1A-8C6D-4044-94D2-D42D62AF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EF22E-2374-4AE4-A793-E71A43B5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E75AC-7D48-410F-B744-040B7564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정적 화면은 제공된 파일을 읽어 브라우저 안에서 표시합니다. 서버에서 실시간 데이터를 받는 기능과 별개로 미리 준비한 자료를 사용할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81AAE-EA86-4B8F-95D1-F79F01DF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E9FC5-1BAE-41D5-8C91-99529E78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GitHub Pages나 오프라인 파일만으로도 화면 구조와 필터를 배울 수 있게 합니다.</a:t>
            </a:r>
          </a:p>
        </p:txBody>
      </p:sp>
    </p:spTree>
    <p:extLst>
      <p:ext uri="{BB962C8B-B14F-4D97-AF65-F5344CB8AC3E}">
        <p14:creationId xmlns:p14="http://schemas.microsoft.com/office/powerpoint/2010/main" val="18009292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3707D-8A68-4D86-A8F2-C17FC34A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078B4-72D1-425D-B03D-AB9DE14B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정적 파일로 여는 모의 화면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44A81-DFF7-4E8D-AE36-880CB408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5D5D7-9DD8-4846-A253-9F5464FE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D21DF-4F24-416A-BCB9-A2F0D561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6651D-CC51-42F6-B1CE-7255E507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code/index.html은 fixture.js의 가상 기록을 읽어 처음 화면을 표시합니다. 인터넷과 실제 센서는 필요 없습니다.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2C9AA-9A47-41E6-8A9B-E8D7E9CC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65831-93AA-4A44-AC26-B63DCCF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화면이 움직여도 실제 네트워크나 하드웨어 측정이 연결되었다고 말하지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8733383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3DA71-07B7-443A-9992-9E676CC5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E76B0-BCA4-45B3-A4E5-7E528936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정적 파일로 여는 모의 화면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C8DB9-FDEC-4708-BEFA-64FEF9C7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145CC-2865-4C8A-9B86-54735534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38C6A-2240-4B58-ACD6-06E1080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A04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960AD-2413-4D2B-AEEE-EB5EA8ED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code/index.html 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5B5FA-D415-495E-AF35-CE8759E5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고정 가상 자료 안내문 읽기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B25BB-CC29-4339-BEF0-76735253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초기 표의 네 상태 확인하기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BED54-7A8D-4F42-99B5-71F33D68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정적 파일 경로를 실행 노트에 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397FC-10BA-4BE0-B470-04579F36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서버 없는 초기 현황판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00AEB-4324-450A-B14E-869EF9E2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브라우저에서 화면이 갱신되면 항상 서버가 있는 건가요?</a:t>
            </a:r>
          </a:p>
        </p:txBody>
      </p:sp>
    </p:spTree>
    <p:extLst>
      <p:ext uri="{BB962C8B-B14F-4D97-AF65-F5344CB8AC3E}">
        <p14:creationId xmlns:p14="http://schemas.microsoft.com/office/powerpoint/2010/main" val="9826465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FCB3B-6F1F-4D4C-8402-2622C6AD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DEAC8-A229-4FE9-A4C1-F7637D1B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서버와 API의 요청·응답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282C8-D59A-4420-9C0F-ACC4DAF1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E08E1-0662-4B4A-AAA6-DBD1F816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6DDB1-44B4-4953-8D09-E83B074C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4E1AB-478A-42EE-A4BB-12729010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서버는 요청을 받아 결과를 보내는 프로그램입니다. API는 프로그램들이 어떤 주소와 자료형식으로 요청할지 정한 창구입니다.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F11BC-CCB3-469D-9B3D-8A75D1BA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0A29B-A5CA-4F10-BE54-DE45E041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보낸 값과 수신한 값, 보여 준 값을 각각 확인하려면 어느 프로그램이 어느 역할을 하는지 구분해야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5487482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87844-B5A1-4CD6-A643-C0B3A8B3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F5B09-D26A-4B10-98DA-EA4B3510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서버와 API의 요청·응답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61B70-8C6F-4D17-A5C1-5D43A35F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21DE0-1B32-471A-B58D-978C6F00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BBA59-2A85-4FC0-A4A0-B82346CD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DA787-7A8F-4067-A8AD-09321491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GET /api/readings는 기록 목록을 읽고 POST /api/readings는 검사한 새 관찰을 추가합니다.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741A8-72C5-4504-8FAE-98F59C2C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80D3B-D721-4AEE-B5AD-258123B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GET과 POST라는 이름을 외우는 것만으로 입력 계약이나 성공 여부가 확인되지는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818452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6BC4E-F249-4E8D-BD40-3B9E429B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4EED0-933D-4C0B-9428-42B14279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서버와 API의 요청·응답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22D5D-C8C0-46A8-89A2-3B1C2C48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60A7E-02B5-406D-8025-FB8FD2B2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AFC78-4CEE-4E16-8870-39317A57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A05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8B06F-70AD-445A-82BA-20E4CC3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서버·송신자·브라우저 역할 쓰기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F2BBA-E0CE-4ACB-B8C3-70AFD4EE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GET과 POST의 목적 구분하기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35E10-C01D-4284-85A5-C87D6051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응답 상태 200·201·400 비교하기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F0763-3D49-43DD-AB2F-2E80F5D7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한 값의 이동 경로 설명하기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2AD97-B9FE-4F5B-BB9C-0070A336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요청 종류와 데이터 이동 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53AF8-382A-4B72-85E3-5A55873A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수신 성공과 화면 표시 성공은 왜 별도 확인인가요?</a:t>
            </a:r>
          </a:p>
        </p:txBody>
      </p:sp>
    </p:spTree>
    <p:extLst>
      <p:ext uri="{BB962C8B-B14F-4D97-AF65-F5344CB8AC3E}">
        <p14:creationId xmlns:p14="http://schemas.microsoft.com/office/powerpoint/2010/main" val="7851028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D49B7-2450-4A41-AC04-43C67917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16C76-2A75-43E1-B44B-179D315A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로컬 서버 실행과 종료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42428-2173-490C-A49D-F505A11E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C61D2-2C1C-48C4-8D20-A4AF8D99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17184-6905-4BBA-925C-ABC21FC4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F99B7-6A03-42FC-90D9-DF66DC6E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로컬 실행은 자기 PC의 프로그램이 정해진 포트에서 요청을 기다리는 상태입니다. 주소·포트·실행 중인 창을 함께 기록합니다.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650B2-89BB-45F6-A2C7-30D7037F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3C676-B839-4E08-BB7F-E22A3EE1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서버를 껐는데 화면만 남아 있으면 마지막 값을 새로운 수신값으로 오해할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1468417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A8537-9409-4D9B-AEDA-208D29A6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0163E-20A2-4940-B11F-AB6E9933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로컬 서버 실행과 종료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8BE25-EF09-4494-9127-1DF6C646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0AAE3-D229-4D3E-8C62-C870C8FB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FBD52-F787-4C9A-BF4D-A4CCCB77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575D4-634C-4C41-A77C-DAA1186E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python code/server.py를 실행한 뒤 http://127.0.0.1:8780/?source=api를 열고 Ctrl+C로 종료합니다.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42531-A213-4C49-B81C-C08D99F6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19985-6F47-4DE5-A9C6-96073158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파일을 더블 클릭해 열었다고 API 서버까지 실행된 것은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20363769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E741F-2D83-4F3C-B993-5A3E42CE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결과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0F859-61CE-4261-8E03-B139A870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요청 한 건의 이동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76551-4FFD-4BC6-9E30-B6E2B28F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52264-10F7-4F84-ABCB-E3787275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보내거나 받는 것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근거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송신 파일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new_reading.json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S01·24.2·시각·활성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 요청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/api/readings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201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메모리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5건 + 새 1건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count: 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GET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목록 다시 읽기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 최신 24.2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B512B-C9C6-4763-A89E-D587DC64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기본 정적 화면과 localhost:8780 API 실행 경로를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0676168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6F851-E449-4E68-9F82-B5271348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AE8A3-402A-402E-AB42-D2114317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로컬 서버 실행과 종료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8B10E-26BC-4CC6-88EE-BCF62F47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372FA-4359-40A2-A49B-B34900E2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72567-8109-4E1A-BCF3-3812EA80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A06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B9FE0-9FF3-4935-9E35-E53FF936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실행 폴더와 명령 확인하기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8DBF6-D858-4BC3-AC41-98EA9B42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서버 주소를 브라우저로 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CC43D-BB70-42A7-8404-060166AB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API 읽기 성공 문구 확인하기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F481D-675F-4725-BA34-4EA21522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종료 방법과 다시 시작 순서 기록하기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75B33-9CB7-4F1F-9059-71C28D83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실행·확인·종료 순서 안내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C3C1A-87C9-471E-9449-D3C22163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서버를 종료한 뒤 기존 화면 값은 무엇을 뜻하나요?</a:t>
            </a:r>
          </a:p>
        </p:txBody>
      </p:sp>
    </p:spTree>
    <p:extLst>
      <p:ext uri="{BB962C8B-B14F-4D97-AF65-F5344CB8AC3E}">
        <p14:creationId xmlns:p14="http://schemas.microsoft.com/office/powerpoint/2010/main" val="2010459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695D6-56FF-4241-B717-162DACD7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CCC41-5A0A-4F33-B798-458AF44F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데이터의 이동 경로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9545C-6D56-4B0A-B73A-CAADDB29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2A3FB-8C7B-45BC-B55F-9046D57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정적 파일로 여는 모의 화면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브라우저에서 화면이 갱신되면 항상 서버가 있는 건가요?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서버와 API의 요청·응답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성공과 화면 표시 성공은 왜 별도 확인인가요?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서버 실행과 종료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서버를 종료한 뒤 기존 화면 값은 무엇을 뜻하나요?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99957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32DBA-E60B-40E2-9F5F-B8B5982A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505D9-6814-45F5-841F-58A1E055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 필드와 수신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33060-284B-4CD2-94BF-0F573074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2D7D9-33FF-4C34-9954-5BBCE4C8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35D30-D045-4EF7-B485-892C1C8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2D743-B54A-41B6-A059-5180342B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수신 계약은 필수 항목·종류·단위·시각을 검사한 뒤 기록을 받아들이는 규칙입니다. 통신에 성공한 글자가 곧 유효한 측정값은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B0EA0-898E-4D31-9ED0-A0095932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B089E-F4CC-45A8-A3EE-0CA6E56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잘못된 문자열이나 범위 밖 숫자가 들어와도 그대로 평균과 상태 계산에 섞지 않도록합니다.</a:t>
            </a:r>
          </a:p>
        </p:txBody>
      </p:sp>
    </p:spTree>
    <p:extLst>
      <p:ext uri="{BB962C8B-B14F-4D97-AF65-F5344CB8AC3E}">
        <p14:creationId xmlns:p14="http://schemas.microsoft.com/office/powerpoint/2010/main" val="18905405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B716F-B198-4385-9F2E-3C2D8803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807E4-EA50-4C7B-B5FE-5F589B9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 필드와 수신 계약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190FE-EECD-4438-83E4-A40C9512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7FD62-9BE9-4FFB-AAF5-EF5126CC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F5C09-BBE1-49F2-99A8-0DBAEE9C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937EA-7B17-48A4-A1C7-321BF49F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new_reading.json은 S01·입구·24.2·10:10+09:00·true의 다섯 항목입니다.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2A5FB-FBD5-443E-9C9A-49D0EE4E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0A033-6B07-44D7-93B5-329CBC8E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온도"24.2"는 문자열이고 24.2는 숫자입니다. 표면 모양이 비슷해도 수신 계약에서는 다릅니다.</a:t>
            </a:r>
          </a:p>
        </p:txBody>
      </p:sp>
    </p:spTree>
    <p:extLst>
      <p:ext uri="{BB962C8B-B14F-4D97-AF65-F5344CB8AC3E}">
        <p14:creationId xmlns:p14="http://schemas.microsoft.com/office/powerpoint/2010/main" val="3604864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98AE9-651A-424F-8AB7-6D2DBEAA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111E9-A52A-4A41-A142-BF13EE30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 필드와 수신 계약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7C479-F39C-4EA6-AC68-E0A913E5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ABE2D-7F3A-41FD-B231-DA5F0920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8AF5C-4B0C-4C6E-8105-F992BF27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A07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C6EC8-4950-4658-8F91-2AD6BC54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입력 JSON의 다섯 키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1D116-77DA-407B-A60C-9B9EDF6B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종류와 시각 시간대 표시하기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291E8-3F01-4DFD-8D7D-57F0A208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예상 응답 201 과 건수 증가 쓰기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9CFC0-FAC4-4E36-AF17-949CEC6B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보낼 값과 표시할 값을 기록하기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6B4B5-B81B-4B2D-81F7-45632BD0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수신 계약과 입력 예상 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9D6B7-F597-4F4F-A2E2-1D422A90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API가 받은 글자를 왜 다시 검사하나요?</a:t>
            </a:r>
          </a:p>
        </p:txBody>
      </p:sp>
    </p:spTree>
    <p:extLst>
      <p:ext uri="{BB962C8B-B14F-4D97-AF65-F5344CB8AC3E}">
        <p14:creationId xmlns:p14="http://schemas.microsoft.com/office/powerpoint/2010/main" val="13577754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AF384-0E23-440A-BDF2-62AD634D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3A331-3CB3-463F-99EC-F96DA81D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값을 보내고 끝까지 찾기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37C4B-CD74-4B4A-8461-D3EDAFB6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B0A8B-3434-46EE-A253-1FE0E8E1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8F4F7-4C86-4F63-AFB5-7BB8F5CF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9422C-1374-4EED-8828-38AD7C53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추적은 같은 입력값이 송신·수신·화면의 어느 위치에 나타났는지 차례로 확인하는 것입니다.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23DC8-C4B1-4A60-AD70-6ABF4479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3BA31-424D-4544-9679-BABB029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성공 문구 하나만 보고 값이 맞다고 판단하지 않고 경로 전체의 의미 보존을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0329285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0F268-E666-4659-ABBD-67E95D34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F3C8B-9580-4038-8BE5-62B9E03C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값을 보내고 끝까지 찾기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B72A5-5DDF-42D9-BA02-62B71EBE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51272-A74B-4668-A645-92E12171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F8C34-D615-4E80-A1D1-5A02FD5A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30F78-012D-4E7E-85E0-76FA5D55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서버를 실행한 뒤 send_sample.py를 실행하면 201과 count6이 출력됩니다. API 다시 읽기 뒤 S01 최신값은 24.2입니다.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5709F-259B-4915-AFF8-2879B94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C014D-3FC3-404E-B1E1-7C4C3A53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모의 기록 추가 버튼은 화면 메모리에만 추가하므로 서버 저장 확인의 대체가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8742055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0746A-9BAE-472D-8879-2641B37F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FC954-7F66-4398-AEA6-DD42876E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값을 보내고 끝까지 찾기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78870-ECD4-4AC5-A64F-1725603B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0CABA-E937-4AEF-B458-2D25EFFD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E2CD6-75CF-4679-8385-EF1737A0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A08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5EF68-C5F1-40CA-BC52-DFE9878B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서버 실행 확인하기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68F7B-A89A-4296-A889-A3BDF549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송신 명령으로 24.2 보내기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09C06-AA5F-4F19-BB0D-D2897E64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응답 상태와 count 기록하기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F550F-F612-4BA2-96AF-6CFBAF41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브라우저 API 다시 읽기로 같은 값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F6ECC-0D8F-4BDE-B446-4FED4D0B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입력 24.2·수신 6건·최신 24.2 대응표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BECDC-74CA-4465-88AF-42D6C5E8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화면 버튼과 송신 프로그램은 저장 위치가 어떻게 다른가요?</a:t>
            </a:r>
          </a:p>
        </p:txBody>
      </p:sp>
    </p:spTree>
    <p:extLst>
      <p:ext uri="{BB962C8B-B14F-4D97-AF65-F5344CB8AC3E}">
        <p14:creationId xmlns:p14="http://schemas.microsoft.com/office/powerpoint/2010/main" val="1908344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D8D1F-BFBE-4A42-9F9F-128E018A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03B41-FDD3-4658-8FFA-3C348493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입력값 수정과 원본 보존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6DF26-DF80-4D07-AD2B-7D54F117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C3055-14D1-4BA4-8F1D-FF01D98E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CA918-2834-43BE-89C6-BCAAFDB1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3E443-E82D-49BB-B54F-7766F404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 복사본에서 한 값을 바꾸면 다른 조건을 유지하며 변화의 원인을 확인할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46AB3-48DD-4BF6-B2C3-562068AE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77DF8-A12F-4B3D-9BF1-DDDE46F7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여러 필드와 기준을 동시에 바꾸면 어떤 변경이 어떤 결과를 만들었는지 설명하기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13512520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A04B4-5E67-43ED-A60D-E8C6CB0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A29DA-2A9E-4F8C-B3F1-1D8F3FB7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입력값 수정과 원본 보존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F1301-26BB-4B35-AA26-B67E963F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F4166-66D6-4E06-86AA-B2D1A71D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0A4FD-966A-4A17-B1D7-AAF72719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1FB92-647D-47F4-ABE4-4D908BDA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work/fixture.js의 첫 22.5 만 25.0으로 바꾸면 입구 이력 평균은 23.90이며 최신 22.8은 유지됩니다.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ED54B-3E96-4285-A4B5-A8AEEC4D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200E5-7A67-4513-9182-6496E220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과거 값을 고쳤다고 항상 최신값도 바뀌는 것은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63337804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ED603-8536-4071-BF43-1A130B8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00E30-B262-4E5D-912F-1ACB2A5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입력값 수정과 원본 보존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EF384-C0EC-4C92-8FEE-2D7A7EEF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A6D5E-C7DA-481C-98E6-A9887D88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E7DDD-691A-4B5F-89CA-60BE80AE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A09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2C1DC-B99C-440D-A1E8-74C1B611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작업 fixture에서 첫 온도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44F8C-08D6-4750-BEDF-FA562920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25.0으로 한 곳만 수정하기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AF67A-F205-45E7-98DF-FEEA3080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작업 index.html 열어 입구 필터 선택하기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9B99C-491B-45EA-A129-9E08DD85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평균과 최신값의 다른 변화 기록하기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7E524-C5C8-4E83-B064-D3DC2AEC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과거 입력 수정과 화면 두 지표의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E5707-D29D-48FF-B89C-D90BD0F2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이력 평균만 바뀌고 최신값이 같은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62187792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1E07F-5BB9-49B9-9470-92310207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B261D-3418-4880-BEE0-064187F7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모의 입력과 값 추적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21393-5AB0-4E63-BEE5-67E0E3EA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2403-6FA4-4304-BCC3-FA7925AF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필드와 수신 계약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API가 받은 글자를 왜 다시 검사하나요?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값을 보내고 끝까지 찾기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버튼과 송신 프로그램은 저장 위치가 어떻게 다른가요?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입력값 수정과 원본 보존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이력 평균만 바뀌고 최신값이 같은 이유는 무엇인가요?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1053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CC00E-1BA6-4889-999B-ED52DD4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94434-B456-4432-AED7-B0B69FD4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필터와 선택한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78A98-B8E5-46DA-BF3C-1F7BF931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CE3E3-D90E-4833-BEF6-380098BE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A1427-C885-46B4-949B-52DA23FC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7B7BB-03EC-457D-8A18-F7F1186A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필터는 조건에 맞는 기록만 보여 주는 선택입니다. 원본을 삭제하는 것이 아니라 현재 화면에서 보는 범위를 바꿉니다.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BA2D6-DBD6-4C03-A796-E10E9C43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3C925-7510-4795-BBD8-89CB2303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필터가 적용된 평균과 전체 평균을 혼동하면 다른 장소의 상태를 잘못 설명할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0003161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2B371-947D-4D5D-9D58-9B48EC11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D08BE-9EEA-4193-9B1D-E04911FA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필터와 선택한 범위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29722-9D74-4E11-B107-BC486076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34740-C37C-481D-A7EF-05742797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982E4-5ABB-4393-B340-26FBCA34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7CCFD-5D0D-4C6E-88F7-5BE3AC68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입구 필터는 두 이력과 한 센서를 보여 주며 원본 전체는 다섯 기록입니다.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174CA-9F90-4EA6-A58F-1C1D0E26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780B7-769B-4299-A94C-0FFD1780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필터를 선택해 행이 줄었다고 원본 데이터가 삭제된 것은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2697824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284E7-0B7E-44DB-B571-21392D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7DC0B-C801-4EA2-ADA0-F2958A39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필터와 선택한 범위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AEBAD-987B-44A8-9DB1-940D54BB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5FA02-0CC2-444C-9417-3F2F0502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706B4-04E1-4C8C-9FC3-88138F9C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A10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26F4A-EE07-46E0-8490-D4BD6841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전체와 입구의 건수 예상하기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2C5EC-F5A2-45C8-8FD7-CEA8EEC3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장소 필터 두 번 바꾸기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35F95-7BDB-4752-BE6C-688F824E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이력·최신·평균이 함께 바뀌는지 보기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A2C27-9C02-494C-8DA7-A7230B47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원본 보존 여부 설명하기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E0F91-2C75-4841-8FB1-BC623016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선택 범위 별 건수와 지표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4D429-E170-4FC2-9224-5C004732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필터된 평균을 전체 평균이라고 부르면 어떤 문제가 있나요?</a:t>
            </a:r>
          </a:p>
        </p:txBody>
      </p:sp>
    </p:spTree>
    <p:extLst>
      <p:ext uri="{BB962C8B-B14F-4D97-AF65-F5344CB8AC3E}">
        <p14:creationId xmlns:p14="http://schemas.microsoft.com/office/powerpoint/2010/main" val="2508595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5AE88-227E-4C53-952A-9E0F0DE6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2E2F4-29A3-4724-90A9-C20AB6AE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평균과 미측정의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79876-ED18-41B9-903D-A83E7FA2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4F0B6-371E-4558-BF30-EFE18465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C6397-50F5-4912-BA9B-65BFEA6A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057AE-EED0-453C-9507-126D8B64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평균은 더한 값과 나눈 개수가 무엇인지 함께 설명해야하는 요약 값입니다. 오늘은 선택 이력의 유효한 숫자만 계산합니다.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E92EC-04F3-4FDD-B813-4BEC6928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9589A-C5CE-40AF-A290-8ED39698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null을 0으로 바꾸면 측정되지 않은 값이 실제 0으로 계산에 섞여 평균이 낮아집니다.</a:t>
            </a:r>
          </a:p>
        </p:txBody>
      </p:sp>
    </p:spTree>
    <p:extLst>
      <p:ext uri="{BB962C8B-B14F-4D97-AF65-F5344CB8AC3E}">
        <p14:creationId xmlns:p14="http://schemas.microsoft.com/office/powerpoint/2010/main" val="203859058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59507-0D31-472F-98FE-164606D5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3CB3C-6CED-43F7-BF5D-A3121602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평균과 미측정의 처리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56C9C-5A8C-4D36-B419-458F4F9C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4DB1B-B8E7-4980-9B0A-49642BD8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522CF-90A5-4428-A009-23F0B805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EC3D9-D7DC-4E56-9FDD-B528A03E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전체 유효 온도 22.5·29.0·0·22.8의 평균은 18.575이며 소수 둘째 자리 표시는 18.58입니다.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95F9D-23F7-499C-9107-D26ACCB0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A2BEC-C5F9-47E0-ABEE-2F482FB5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정지된 센서의 0도 유효 측정 이력에는 포함합니다. 운영 목적에 따른 다른 평균을 원하면 별도 규칙이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28391598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6C317-45E5-4034-A3E5-8191AFC7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코드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A1DCE-8B03-4160-B7F5-3D17DB28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필터와 최신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81F3F-CA70-4AE5-9D4C-BED26D10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747E2-7EA5-450A-85C2-B09FCACE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D10A0-2DF0-4C72-AC34-6DB9FFF8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장소 필터 뒤, 같은 센서의 기록 시각을 비교합니다.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21BF3-AB35-4BC3-850F-1EF536F1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ACA84-6E56-420B-8F75-27239E63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function summarize(rows, location, now) {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const visible = rows.filter(row =&gt;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location === "전체" || row.location === location);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const latest = new Map();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for (const row of visible) {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const previous = latest.get(row.sensor_id);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(!previous || Date.parse(row.measured_at) &gt;=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Date.parse(previous.measured_at)) latest.set(row.sensor_id, row);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901AD-1309-453F-AEE6-9C83368A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화면의 배열 순서와 센서별 최신값은 다를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91036511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18B6D-1547-4612-8DB7-DC9456A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7EA5B-C8F5-4E02-835F-8161AFDC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평균과 미측정의 처리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DD301-DD81-4AF2-BF6A-FB095E1A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00DC7-1C70-4863-9080-6B7E5BAF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99DE3-6DD0-4C58-993C-503A4C19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A11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3B198-195A-4AFE-82A4-2421D9BF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숫자인 온도와 null 나누기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E5A40-79A5-43D4-812C-6D5F6332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합계와 나눌 개수 직접 쓰기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DEE8D-0422-4148-A753-1D17E74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표시 값과 계산 정의 비교하기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BD6CB-04F5-4D55-9A85-5241A39F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창고만 고르면 계산 안 함인지 확인하기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CF3F2-DBCC-4006-8D0C-01C00B10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평균의 분모·미측정·0 처리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9DF32-674D-4BA8-A5AD-C79CE38F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0을 포함하고 null을 제외하는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85698241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FEACE-B5CA-4B36-BFB9-837E0C25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72D74-6F03-4BE1-9FE2-2C454879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이력 막대와 원문 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ECB2B-BB51-4089-AE2D-645D05B3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4DC1D-B8A6-4C09-9FB9-4CC00ABA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8B60E-677C-43F6-9478-118A4CCC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7B43F-06C9-4417-8BD8-C9B69AB1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그래프는 값을 빠르게 비교하게하지만 축·단위·누락 표시를 읽어야합니다. 오늘의 막대는 각 기록의 온도 높이를 보여 주며 간격 이 시간 간격을 뜻하지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17B58-FE96-4D63-A8B6-FDAD25BD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95119-BE0C-46AF-B4D1-458E1449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표를 함께 두면 작은 막대나 미측정 표시의 정확한 값과 시각을 다시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50015565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C1B51-04A7-49D8-ABDC-BA68698D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39EF1-0572-4034-B84F-CAA9D974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이력 막대와 원문 표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84755-0832-4F5C-B60D-D8FFF513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A04B9-4451-40BC-8826-1EE83417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4CB42-A393-4D7E-BC5D-C116CF67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9CA3F-A197-49CE-B3E0-4B2C6390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0은 최소 높이로 표시하되 글자 0을 남기고 null은 미측정 문구로 보여 줍니다.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C06EC-5EFF-498E-93BC-E803939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3C34-87EC-4D72-BEFC-96614A0C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막대 사이 간격이 같다고 측정 시간 간격까지 같았다고 해석하지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12421620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8F8A7-468E-4747-B3DD-D518EF17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결과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B3ED2-F006-4306-898B-79400BE7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평균에 들어가는 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DBE17-85B3-4CC0-AB2A-E02BA44B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34F23-1DCF-4552-AF35-E15780DC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장소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포함하는 숫자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22.5, 22.8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22.65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창고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없음: null 제외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 안 함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22.5, 29, 0, 22.8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 이력 4건 평균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6C4E3-2F82-4610-B171-CCAF054F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정지·오래됨의 숫자도 이력 평균에는 남습니다. 업무 정의가 중요합니다.</a:t>
            </a:r>
          </a:p>
        </p:txBody>
      </p:sp>
    </p:spTree>
    <p:extLst>
      <p:ext uri="{BB962C8B-B14F-4D97-AF65-F5344CB8AC3E}">
        <p14:creationId xmlns:p14="http://schemas.microsoft.com/office/powerpoint/2010/main" val="45363852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59721-913D-45D8-B2AC-9D86CF20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B3FA9-757E-43CE-AF05-80E2AF6B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이력 막대와 원문 표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ED3F4-6BCE-49DA-B1D6-92F2AB44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80988-896E-4C8A-BA1B-7AD2EBD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FC53B-66B1-401B-A70D-4A593368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A12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93434-850F-4802-811A-C4D6EB47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막대 하나와 표 한 행 연결하기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19324-DF0A-4F46-A680-13728F20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0과 미측정의 표시 비교하기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E3A71-1621-40C4-9C45-017E4DEB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S01 이력 두 점의 시각 읽기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29D3B-63C7-4559-BB3C-94F70E5D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그래프만으로 알 수 없는 것 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22521-867C-41B5-81CE-11456E13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그래프와 표의 같은 기록 대응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B20DA-05E3-44A0-B235-0BAF081D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그래프 옆에 원문 표를 함께 두는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213578296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CE74D-3E8C-4506-B821-17B9B501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AB600-152E-4079-8D19-4FA6F355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필터와 이력 해석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794C5-C038-4AA4-B433-CC0A1BE0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831D4-D44B-477E-97E3-E9B2F53C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필터와 선택한 범위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필터된 평균을 전체 평균이라고 부르면 어떤 문제가 있나요?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평균과 미측정의 처리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0을 포함하고 null을 제외하는 이유는 무엇인가요?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이력 막대와 원문 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그래프 옆에 원문 표를 함께 두는 이유는 무엇인가요?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2175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2223D-564A-4A3F-8921-BDC946C3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19651-0BE0-4E56-9B13-0E234295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값이 멈춘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A2F52-3DEA-46F6-B4FC-F163E84E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F427E-A615-4090-8E34-E5931458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F9EA7-F34B-46AF-B94E-280B4B37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1CC62-C93D-46D5-B272-C4F60CD8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오래된 값은 값 자체가 사라진 것이 아니라 마지막 기록 이후 시간이 지났다는 상태입니다. 마지막 관찰과 확인 시각을 함께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D254E-70AE-444D-97BB-7F51E546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BC342-C949-4339-A9D6-CD5E5923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오래된 수치를 계속 큰 글자로 보여 주면 지금도 새 측정이 들어오는 것처럼 오해할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6140002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18773-062C-4D66-87FB-14C3A4FB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7A54A-DBE8-4927-8DF8-C5FBA3AE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값이 멈춘 상태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4FFBF-7EC9-4B8C-9EC7-61EE67EB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6788F-57CF-426B-BE77-58E24DAA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0B67C-E886-43A6-B6B1-931C0FC5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70820-DDBA-4B95-8FA5-50F34A05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70초 수신 멈춤 버튼은 새 자료를 추가하지 않고 고정 확인 시각만 70초 이동합니다. 입구 정상은 오래됨으로 바뀝니다.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9CB7A-72CC-49F3-B9AA-FC8B1A98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487D8-3BBB-4065-9AD4-31B41D0A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실제로 네트워크 송신을 중단한 것이 아니라 멈춤 상황을 재현하는 모의 시각 변경입니다.</a:t>
            </a:r>
          </a:p>
        </p:txBody>
      </p:sp>
    </p:spTree>
    <p:extLst>
      <p:ext uri="{BB962C8B-B14F-4D97-AF65-F5344CB8AC3E}">
        <p14:creationId xmlns:p14="http://schemas.microsoft.com/office/powerpoint/2010/main" val="91658708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4B2E5-A853-4272-BCB9-ADCD3C55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101A8-1E15-4A1E-9C6E-5D97060A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값이 멈춘 상태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2FC67-5B2B-4A39-ACDA-E059A091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0A75F-A471-4B40-BBE4-F9FDC670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D5512-F37B-41F9-9C09-3F243641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A13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6B6BA-67C8-4091-8947-B26A78DD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멈춤 전 입구 상태 기록하기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BD5EF-938D-42A3-9D81-8B05AF00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70초 버튼 누르기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A1620-DEB8-4670-B7D7-7092059E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값 유지와 상태 변화 구분하기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CF86C-42A1-4EA4-8729-6898AE67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고정 시각 모의라는 한계 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86FCE-D611-4F4D-9AF5-D0DA20FE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마지막 값과 오래됨 상태의 구별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84FEA-DBDA-415A-B101-555B3BE3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값이 남아 있는데도 정상이라고 부를 수 없는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77207463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0460C-35A7-4792-9E52-E7E5C638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132E7-0CF0-4E71-90D9-3BD76813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누락·정지·통신 실패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5417C-BCDA-4382-AA7F-17F3973E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16B92-8A1E-4A88-9BC3-8D6061E4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4BBBC-09F2-4F83-A9EC-26163C10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9F679-0514-4A29-978B-890956BA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미측정은 값이 없다는 데이터 상태, 정지는 장치의 상태, 통신 실패는 요청 결과를 받지 못한 상황입니다. 각각 다른 증거와 안내가 필요합니다.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558D6-0BDD-49A4-BD12-65AB439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849B7-2C6F-4935-AFD8-ED43588E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서로 다른 원인을 모두 0으로 보여 주면 사용자가 무엇을 확인해야할지 알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66260799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52E3A-9CA8-4625-A394-D1DC3FC6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772FF-0E55-4791-A06D-033B7965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누락·정지·통신 실패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FA9F9-3C4D-4DB3-B8F3-4B4FA7C6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52BA4-EA02-44BE-9EA1-1768ECD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685D5-0B14-4014-8ED1-C12A896A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BE602-1B96-4233-90F6-FCDB621E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S02는 null이라 미측정,S04는 0과 false라 정지입니다. 서버를 끈 뒤 API 읽기는 수신 실패 문구를 보여 줍니다.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7587E-1F5E-46CB-AD80-E41AB6EB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BD956-9016-44A1-87E4-4D691825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수신 실패 때 이전 값을 유지하더라도 새로 받았다고 표시하면 안 됩니다.</a:t>
            </a:r>
          </a:p>
        </p:txBody>
      </p:sp>
    </p:spTree>
    <p:extLst>
      <p:ext uri="{BB962C8B-B14F-4D97-AF65-F5344CB8AC3E}">
        <p14:creationId xmlns:p14="http://schemas.microsoft.com/office/powerpoint/2010/main" val="200770661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C008A-7637-43AE-87DC-B0654CF7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93471-EB5C-44A9-978B-469436BB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누락·정지·통신 실패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FD4CF-DF6E-445D-9F56-7874DA34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D50A8-72FC-452D-8D44-202F9271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33ACA-819F-4154-89C1-6B2335D5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A14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4754D-45B5-4935-AA15-DE201E2B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상태의 근거 필드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20012-D00F-4059-BE6D-1D9C9DCE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서버 종료 후 API 다시 읽기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1364E-9FF3-480D-829D-209EE1FE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이전 표와 실패 안내 동시 확인하기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05DDE-7DB8-46F1-B50E-8B99A163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상태별 다음 확인 행동 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59F89-649D-4011-AEC4-B6DDA3FE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누락·정지·실패의 관찰과 대응 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7ED5A-718E-418E-A603-91F1BD7C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미측정과 수신 실패는 어떻게 구분하나요?</a:t>
            </a:r>
          </a:p>
        </p:txBody>
      </p:sp>
    </p:spTree>
    <p:extLst>
      <p:ext uri="{BB962C8B-B14F-4D97-AF65-F5344CB8AC3E}">
        <p14:creationId xmlns:p14="http://schemas.microsoft.com/office/powerpoint/2010/main" val="61017814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4DADC-20F0-446E-92EC-9DC15CFB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440AF-C76C-4699-AD34-9E09CD78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잘못된 입력의 거절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26F55-D081-4DA9-82DF-65EF7E50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0619D-2B79-4511-96FE-360DD199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27DC2-8C6F-4F8F-9EB0-2C2FB040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1EE48-72ED-44BC-8156-495221FF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입력을 거절하는 것은 전체 프로그램을 멈추는 것과 다릅니다. 오류 이유를 반환하고 기존 기록을 유지해야 다음 정상 요청을 처리할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CB607-8FE2-4405-B8A2-A5211EA8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BBDCD-4737-4528-9323-D3918AB1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잘못된 값 한 개가 전체 이력에 섞이거나 검증 없이 화면에 나타나지 않도록 수신 단계와 화면 단계를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37559731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0DAAD-BF86-4785-9B04-901B1F09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36D32-A753-4FD9-87C2-C3BEEC6D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잘못된 입력의 거절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1074C-3783-4331-9BBC-9E4E5AF8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849FA-ADD1-4447-A7BE-21F1EF0A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367D5-53B7-42E5-A8F6-1C583E5B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86BEF-B096-4731-9357-8F02A639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온도 51이나 문자열은 POST400이며 기록 수는 늘지 않습니다. 0이나 null은 계약에 맞으면 받습니다.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4C0B6-E3DE-4170-9CF4-42A0BBE1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A1222-FEA7-4616-AE1F-9FFD54C7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에러가 났다는 이유로 서버 기록 전체를 비우면 정상 기록까지 잃습니다.</a:t>
            </a:r>
          </a:p>
        </p:txBody>
      </p:sp>
    </p:spTree>
    <p:extLst>
      <p:ext uri="{BB962C8B-B14F-4D97-AF65-F5344CB8AC3E}">
        <p14:creationId xmlns:p14="http://schemas.microsoft.com/office/powerpoint/2010/main" val="193464551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A383D-2959-4477-BFA7-28A2C724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코드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3DCDD-7D09-481F-B6AA-3ADBACE4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수신 자료를 바꾸기 전 검사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AA917-18F4-441D-A0D3-C66F6D13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BB81E-7EEE-4208-9B90-FD7BB689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A48BF-0B3E-41F1-AF46-E067F5C1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readApi 함수의 수신·검사 부분을 읽습니다.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A8566-388E-4428-9D9E-9D1A6B97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4F5CA-5DDB-45A9-A2ED-EC699E03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const response = await fetch("/api/readings");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if (!response.ok) throw new Error("HTTP " + response.status);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const incoming = await response.json();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if (!Array.isArray(incoming) ||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!incoming.every(DashboardModel.valid))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throw new Error("입력 구조 오류");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rows = incoming;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CF17A-073B-486A-A9C5-AB940134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함수의 catch는 실패 문구를 쓰고 이전 rows를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21354940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D8162-7389-4920-A593-B34AF1BF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FBA84-8940-414C-9BAB-06CF7488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잘못된 입력의 거절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F6E77-8597-4331-BC11-8BFCC50A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2E135-DD52-419A-B39D-B715E4F7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5F59B-4F73-4362-8900-03412687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A15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9CF7D-9156-4BB6-B722-7AED0CB2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정상 수신 건수 적기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F42BC-4643-4B35-9C5C-4EF99908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제공 오류 입력의 예상 400 쓰기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626B2-119D-4AD6-826B-9A84C538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강사 검증 결과와 건수 비교하기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77F3B-1B1C-4A93-818C-8F67A802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정상 입력 다시 보내기 절차 설명하기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9ED84-0777-4FFD-B9B6-917E143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오류 거절·기록 유지·정상 복구 근거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6900A-AC5A-4D3C-BB06-726D2E93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오류 응답 뒤 어떤 기존 상태가 유지돼야하나요?</a:t>
            </a:r>
          </a:p>
        </p:txBody>
      </p:sp>
    </p:spTree>
    <p:extLst>
      <p:ext uri="{BB962C8B-B14F-4D97-AF65-F5344CB8AC3E}">
        <p14:creationId xmlns:p14="http://schemas.microsoft.com/office/powerpoint/2010/main" val="30753609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0C07E-61B9-4C2C-99CE-D38C9788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4B9B4-F572-475C-A086-C7428B55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멈춤·누락·오류 상태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FF66E-9A0D-4924-AF01-137D248B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ED359-BD21-4A77-BC89-561B74F0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값이 멈춘 상태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값이 남아 있는데도 정상이라고 부를 수 없는 이유는 무엇인가요?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누락·정지·통신 실패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미측정과 수신 실패는 어떻게 구분하나요?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잘못된 입력의 거절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응답 뒤 어떤 기존 상태가 유지돼야하나요?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41906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08803-C0DE-486B-A84E-ED2CDD18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C3646-02D7-4204-AB70-AFE144F9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표시 문구와 사용자 설명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5CD5F-EA8C-4112-A2B8-3F2BD912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1341F-C673-4423-92C8-7363E0C3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29B7A-38A8-452C-9DA9-1B0534E5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ECAE3-C236-4C09-AE7A-6F026934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상태 문구는 사용자에게 현재 사실과 필요한 행동을 알려 주는 내용입니다. 내부 오류 이름만 노출하기보다 확인 범위를 설명합니다.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08D0C-79EF-48AD-B4D5-962FA553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6DF74-11D9-4AB1-85F8-97B7CD66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“실패”한 단어보다 이전 값인지 새 값인지와 다시 읽을 방법을 함께 알려 주면 오해를 줄일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2976645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FFDA4-047C-478B-906B-88737E47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AB793-E56C-4D12-8C64-EAB6D05C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표시 문구와 사용자 설명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ABF37-51D4-4C42-8A24-6E65AF30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044C6-AA30-467B-9150-22BB0329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3CA43-D0F5-4302-A480-AD8EF77A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F95F4-99A1-4846-A592-11BB7726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수신 실패 문구에“이전 화면 값을 유지합니다”라는 설명이 있습니다. 모의 기록 추가도 서버 저장이 아님을 알립니다.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3094D-46E3-4326-BE47-74CEACC2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814F9-1933-4D45-AFC0-455127F0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모의 데이터를 실시간 센서로 표시하거나 단위 없이 숫자만 바꾸면 정확한 화면이라도 잘못 해석됩니다.</a:t>
            </a:r>
          </a:p>
        </p:txBody>
      </p:sp>
    </p:spTree>
    <p:extLst>
      <p:ext uri="{BB962C8B-B14F-4D97-AF65-F5344CB8AC3E}">
        <p14:creationId xmlns:p14="http://schemas.microsoft.com/office/powerpoint/2010/main" val="131536408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BB3EB-1100-498D-9760-3C516663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DC68F-01CC-4026-A050-5D2B811D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표시 문구와 사용자 설명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A781E-CF5E-4E48-BCB7-5DFC58C7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493FC-E227-4988-BB68-2CB8A119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2064C-9021-4713-83B4-C496CEE0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A16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97864-7864-4C37-AD6D-86FCEF25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현재 안내문 두개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8DF2C-F187-451B-BDF4-6E7F8E9A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더 명확한 문장 한 개 제안하기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F2B1D-59F0-4F98-ABE5-0F6C61C9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work/app.js의 문구 한곳 수정하기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792E3-AE48-4E26-AD0F-8527F1CD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동작과 데이터는 유지되는지 확인하기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1959D-CE0A-4EE4-B5EC-8B64BD3C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문구 수정본과 의미 보존 검수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7CC47-8C6E-4F26-8B4A-20BBB04C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사용자가 마지막 값을 새 값으로 오해하지 않게 어떻게 말할까요?</a:t>
            </a:r>
          </a:p>
        </p:txBody>
      </p:sp>
    </p:spTree>
    <p:extLst>
      <p:ext uri="{BB962C8B-B14F-4D97-AF65-F5344CB8AC3E}">
        <p14:creationId xmlns:p14="http://schemas.microsoft.com/office/powerpoint/2010/main" val="155727005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34BDA-9B6F-4849-885A-BDBD941E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8470B-8CFA-4293-9DB8-902C60B4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동료가 다시 실행하는 검수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9C488-515F-4833-8767-E4E87B61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6EC98-AF20-48F6-BCA4-D64971D8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CD50B-0729-4155-8443-77FF8642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1565B-2D59-450A-877A-8B505001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재현 검수는 다른 사람이 문서만 보고 같은 입력과 화면을 확인할 수 있는지 살펴보는 것입니다.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2809B-B0FE-4D6E-A7F6-38C044C8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BD7D1-3912-4AAD-A190-C8C8C4F3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작성자의 기억에만 의존한 실행 순서는 강의실이나 다른 PC에서 쉽게 빠집니다.</a:t>
            </a:r>
          </a:p>
        </p:txBody>
      </p:sp>
    </p:spTree>
    <p:extLst>
      <p:ext uri="{BB962C8B-B14F-4D97-AF65-F5344CB8AC3E}">
        <p14:creationId xmlns:p14="http://schemas.microsoft.com/office/powerpoint/2010/main" val="158866842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37D47-F1E8-4C5B-92A9-130DC071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19069-E083-49F8-8EBE-93209B14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동료가 다시 실행하는 검수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B91B8-A2B7-41A8-8482-84A7753C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E4A5E-94A7-4CAA-B218-B32E46E0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277B3-A258-4E98-8B0C-452219A8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70D3E-4689-4B91-B39C-5870BA67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정적 기본 경로와 서버·송신·API 다시 읽기 경로를 분리해서 짝에게 전달합니다.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54F97-FD86-4229-BB70-3E8EB3B8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0E03D-889C-4190-BEF3-CC85F356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화면 스크린 샷 한 장만으로 서버가 정상 수신했거나 오류를 거절했다는 것까지 증명하지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1622440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8D66C-5876-476E-8DE2-5F1CEA4F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95B11-B493-4CD2-B594-906CE279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동료가 다시 실행하는 검수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16DEF-9737-4F16-8C0E-8F3A7C68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B3ED8-A8EA-4FCD-BE39-42B7A3B2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5EAD9-168B-42EA-A8AC-1931FBE7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A17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E7184-0BC9-48B6-9DE3-F987313D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실행 순서와 입력 파일 쓰기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D950B-BF37-47C2-A65E-0BC74052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짝이 입구 필터 결과 대조하기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744E3-A6EF-405B-B5CA-B4CDFF28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한 수정 값을 입력부터 표까지 찾기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95BF3-BA0F-46A0-875E-10AE4FDF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빠진 준비와 종료 방법 보완하기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3B533-48B3-4E3B-AFDF-7483B337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실행 안내와 동료 검수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E0A80-4F49-460D-9C92-50B880EE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같은 결과를 비교하려면 어떤 시작 상태를 맞춰야하나요?</a:t>
            </a:r>
          </a:p>
        </p:txBody>
      </p:sp>
    </p:spTree>
    <p:extLst>
      <p:ext uri="{BB962C8B-B14F-4D97-AF65-F5344CB8AC3E}">
        <p14:creationId xmlns:p14="http://schemas.microsoft.com/office/powerpoint/2010/main" val="387349775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07D94-53BC-4CF0-94C0-DAF06B69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DB388-6C52-40E8-AE4E-E421E72D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운영 한계와 다음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52145-7A95-4E7F-B118-3050CD3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A5B94-7E92-4423-9FB5-B608ECF5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08470-9639-4C4A-8B44-E4C172AE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CA407-7904-40FA-825B-663BB9C2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제작 완료는 제공 파일과 모의 동작을 확인했다는 뜻입니다. 실제 장비·지속 저장·인증·배포까지 확인했다는 뜻은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3EB1F-3C7F-46BC-9B86-5443358C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2C21B-FC4A-4362-A949-6BE61DC8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실무로 넘어갈 때 새로 확인해야할 조건을 분명히 남겨야 교재 예제를 바로 운영 시스템으로 오해하지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893792727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84107-488C-49D9-964B-F6DD388D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CD87B-D9A4-4A8E-8694-E859CD29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운영 한계와 다음 연결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94C4E-6FAD-42F7-8274-9F21C10C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BB6FD-40F6-4769-9B34-4938A1FB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EF018-FC88-4FA0-9F7F-49EC812B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14B6A-ADCF-45EB-97FD-9A52E438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서버 기록은 메모리에 있어 재시작 하면 초기 자료로 돌아갑니다. GitHub Pages는 정적 화면을 제공하며 Python 서버는 별도입니다.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C6A46-BE37-4F86-A083-161113EB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F9555-665C-43C0-878B-A1D75061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모의 센서의 성공을 ESP32 연결 성공이나 공개 배포 완료라고 보고하지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3438732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E8994-A80A-45F6-9E5F-55076AB4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4C379-EE3A-48E6-A29E-23406DDA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운영 한계와 다음 연결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295F1-1A61-45D9-9767-1C8A154A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12897-0471-48EC-B154-016A29FD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A095C-60CF-4477-97F8-C3F7E199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A18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AD013-384B-45D4-BC52-B8F36407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문장 인계 작성하기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C4498-FE1D-42B8-ADFA-1C1F521E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정적·API 검증 범위 구분하기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C2A41-6950-4899-90BE-4D5098E9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미검증 조건 세 개 기록하기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45D2C-35A4-4D42-8EE3-178D13BE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다음날 프로젝트 기획 질문 한 개 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3B1C0-C3FC-4E79-9610-0343E45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실행 묶음과 검증·한계·후속 계획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69983-0774-434E-B35B-67975051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실제 현장에 연결하기 전에 무엇을 더 확인해야하나요?</a:t>
            </a:r>
          </a:p>
        </p:txBody>
      </p:sp>
    </p:spTree>
    <p:extLst>
      <p:ext uri="{BB962C8B-B14F-4D97-AF65-F5344CB8AC3E}">
        <p14:creationId xmlns:p14="http://schemas.microsoft.com/office/powerpoint/2010/main" val="395599225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976E8-A30E-4301-ABA7-A7284B7B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6DC6D-B027-4DEF-BCD1-355E62E9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동료 검수와 인계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B4773-29B0-42E7-8AB3-FC263655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E1300-AA16-4E67-955D-B9D138B3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문구와 사용자 설명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마지막 값을 새 값으로 오해하지 않게 어떻게 말할까요?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동료가 다시 실행하는 검수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결과를 비교하려면 어떤 시작 상태를 맞춰야하나요?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한계와 다음 연결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현장에 연결하기 전에 무엇을 더 확인해야하나요?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558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2026-09-25T16:36:02.7550000Z</dcterms:created>
  <dcterms:modified xsi:type="dcterms:W3CDTF">2026-09-25T16:36:02.7550000Z</dcterms:modified>
</coreProperties>
</file>