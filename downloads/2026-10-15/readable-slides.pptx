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3059e170594860" /><Relationship Type="http://schemas.openxmlformats.org/officeDocument/2006/relationships/extended-properties" Target="/docProps/app.xml" Id="R4feb30f27b9045bd" /><Relationship Type="http://schemas.openxmlformats.org/officeDocument/2006/relationships/officeDocument" Target="/ppt/presentation.xml" Id="R0355f35c1e384898" /></Relationships>
</file>

<file path=ppt/presentation.xml><?xml version="1.0" encoding="utf-8"?>
<p:presentation xmlns:p="http://schemas.openxmlformats.org/presentationml/2006/main">
  <p:sldMasterIdLst>
    <p:sldMasterId xmlns:r="http://schemas.openxmlformats.org/officeDocument/2006/relationships" id="2147483648" r:id="Rda803617fa234708"/>
  </p:sldMasterIdLst>
  <p:notesMasterIdLst>
    <p:notesMasterId xmlns:r="http://schemas.openxmlformats.org/officeDocument/2006/relationships" r:id="Rdac43cce63924020"/>
  </p:notesMasterIdLst>
  <p:sldIdLst>
    <p:sldId xmlns:r="http://schemas.openxmlformats.org/officeDocument/2006/relationships" id="256" r:id="Rb67634aaf3054648"/>
    <p:sldId xmlns:r="http://schemas.openxmlformats.org/officeDocument/2006/relationships" id="257" r:id="R8c31e70212394920"/>
    <p:sldId xmlns:r="http://schemas.openxmlformats.org/officeDocument/2006/relationships" id="258" r:id="R31d7829d90c64d18"/>
    <p:sldId xmlns:r="http://schemas.openxmlformats.org/officeDocument/2006/relationships" id="259" r:id="R908042d3a48c4269"/>
    <p:sldId xmlns:r="http://schemas.openxmlformats.org/officeDocument/2006/relationships" id="260" r:id="Ra1186d7fff514c13"/>
    <p:sldId xmlns:r="http://schemas.openxmlformats.org/officeDocument/2006/relationships" id="261" r:id="R7cbaae74d9e44e57"/>
    <p:sldId xmlns:r="http://schemas.openxmlformats.org/officeDocument/2006/relationships" id="262" r:id="Rea8b6db0b7d846d3"/>
    <p:sldId xmlns:r="http://schemas.openxmlformats.org/officeDocument/2006/relationships" id="263" r:id="R7f330c6bbc994fd6"/>
    <p:sldId xmlns:r="http://schemas.openxmlformats.org/officeDocument/2006/relationships" id="264" r:id="R804f7810910c4831"/>
    <p:sldId xmlns:r="http://schemas.openxmlformats.org/officeDocument/2006/relationships" id="265" r:id="Rb5bbf7b12c37471a"/>
    <p:sldId xmlns:r="http://schemas.openxmlformats.org/officeDocument/2006/relationships" id="266" r:id="R9f79dd3de0d94fd1"/>
    <p:sldId xmlns:r="http://schemas.openxmlformats.org/officeDocument/2006/relationships" id="267" r:id="R1823f626abd44945"/>
    <p:sldId xmlns:r="http://schemas.openxmlformats.org/officeDocument/2006/relationships" id="268" r:id="R05c27380c9c646b8"/>
    <p:sldId xmlns:r="http://schemas.openxmlformats.org/officeDocument/2006/relationships" id="269" r:id="R85694456a8a44e7f"/>
    <p:sldId xmlns:r="http://schemas.openxmlformats.org/officeDocument/2006/relationships" id="270" r:id="Rbca6a21689c64737"/>
    <p:sldId xmlns:r="http://schemas.openxmlformats.org/officeDocument/2006/relationships" id="271" r:id="Rb893b3861a0245a8"/>
    <p:sldId xmlns:r="http://schemas.openxmlformats.org/officeDocument/2006/relationships" id="272" r:id="Rbd3931bbdfea4ab5"/>
    <p:sldId xmlns:r="http://schemas.openxmlformats.org/officeDocument/2006/relationships" id="273" r:id="Re65efb429a284042"/>
    <p:sldId xmlns:r="http://schemas.openxmlformats.org/officeDocument/2006/relationships" id="274" r:id="R40d09ca1f4ce47f6"/>
    <p:sldId xmlns:r="http://schemas.openxmlformats.org/officeDocument/2006/relationships" id="275" r:id="R047e8cc4a834425f"/>
    <p:sldId xmlns:r="http://schemas.openxmlformats.org/officeDocument/2006/relationships" id="276" r:id="Ra85a5468f6c34bca"/>
    <p:sldId xmlns:r="http://schemas.openxmlformats.org/officeDocument/2006/relationships" id="277" r:id="R8cdb6f3476bc48bc"/>
    <p:sldId xmlns:r="http://schemas.openxmlformats.org/officeDocument/2006/relationships" id="278" r:id="R3a97ed86a0174d14"/>
    <p:sldId xmlns:r="http://schemas.openxmlformats.org/officeDocument/2006/relationships" id="279" r:id="R07c137b9d1d547b2"/>
    <p:sldId xmlns:r="http://schemas.openxmlformats.org/officeDocument/2006/relationships" id="280" r:id="Rf2a407c4f3e445a0"/>
    <p:sldId xmlns:r="http://schemas.openxmlformats.org/officeDocument/2006/relationships" id="281" r:id="Re85813eba5204bc4"/>
    <p:sldId xmlns:r="http://schemas.openxmlformats.org/officeDocument/2006/relationships" id="282" r:id="R760005ec3a734c41"/>
    <p:sldId xmlns:r="http://schemas.openxmlformats.org/officeDocument/2006/relationships" id="283" r:id="Rdb562f6cc5b94c43"/>
    <p:sldId xmlns:r="http://schemas.openxmlformats.org/officeDocument/2006/relationships" id="284" r:id="R91ecc68ae2f54efd"/>
    <p:sldId xmlns:r="http://schemas.openxmlformats.org/officeDocument/2006/relationships" id="285" r:id="Re48b6d6ff7294b42"/>
    <p:sldId xmlns:r="http://schemas.openxmlformats.org/officeDocument/2006/relationships" id="286" r:id="R4014108f58db42da"/>
    <p:sldId xmlns:r="http://schemas.openxmlformats.org/officeDocument/2006/relationships" id="287" r:id="R5900946c05de480a"/>
    <p:sldId xmlns:r="http://schemas.openxmlformats.org/officeDocument/2006/relationships" id="288" r:id="R8c44610c67484ce2"/>
    <p:sldId xmlns:r="http://schemas.openxmlformats.org/officeDocument/2006/relationships" id="289" r:id="Rf4f619b3ff2a4552"/>
    <p:sldId xmlns:r="http://schemas.openxmlformats.org/officeDocument/2006/relationships" id="290" r:id="R2418b1a98eb34623"/>
    <p:sldId xmlns:r="http://schemas.openxmlformats.org/officeDocument/2006/relationships" id="291" r:id="Rae017bbc4dd544c7"/>
    <p:sldId xmlns:r="http://schemas.openxmlformats.org/officeDocument/2006/relationships" id="292" r:id="R31639dc613c44409"/>
    <p:sldId xmlns:r="http://schemas.openxmlformats.org/officeDocument/2006/relationships" id="293" r:id="Rcef9359f4ec7427c"/>
    <p:sldId xmlns:r="http://schemas.openxmlformats.org/officeDocument/2006/relationships" id="294" r:id="R2eb678f0c34042ab"/>
    <p:sldId xmlns:r="http://schemas.openxmlformats.org/officeDocument/2006/relationships" id="295" r:id="Ref4db8d1d57745db"/>
    <p:sldId xmlns:r="http://schemas.openxmlformats.org/officeDocument/2006/relationships" id="296" r:id="Rb8d744a62a2b4a8c"/>
    <p:sldId xmlns:r="http://schemas.openxmlformats.org/officeDocument/2006/relationships" id="297" r:id="R337ce7ef180640b5"/>
    <p:sldId xmlns:r="http://schemas.openxmlformats.org/officeDocument/2006/relationships" id="298" r:id="R1f8390778b574cd6"/>
    <p:sldId xmlns:r="http://schemas.openxmlformats.org/officeDocument/2006/relationships" id="299" r:id="Ra1ab6eb963bc4443"/>
    <p:sldId xmlns:r="http://schemas.openxmlformats.org/officeDocument/2006/relationships" id="300" r:id="R05355776bc6f4397"/>
    <p:sldId xmlns:r="http://schemas.openxmlformats.org/officeDocument/2006/relationships" id="301" r:id="R208c7494df7c4fb5"/>
    <p:sldId xmlns:r="http://schemas.openxmlformats.org/officeDocument/2006/relationships" id="302" r:id="R2367bf366a784c84"/>
    <p:sldId xmlns:r="http://schemas.openxmlformats.org/officeDocument/2006/relationships" id="303" r:id="Re992afe293b04437"/>
    <p:sldId xmlns:r="http://schemas.openxmlformats.org/officeDocument/2006/relationships" id="304" r:id="R2a388c48d1fa41f5"/>
    <p:sldId xmlns:r="http://schemas.openxmlformats.org/officeDocument/2006/relationships" id="305" r:id="R450c7965ea554111"/>
    <p:sldId xmlns:r="http://schemas.openxmlformats.org/officeDocument/2006/relationships" id="306" r:id="R9bc2bbae625c41bc"/>
    <p:sldId xmlns:r="http://schemas.openxmlformats.org/officeDocument/2006/relationships" id="307" r:id="Re7020fe1cda44e4e"/>
    <p:sldId xmlns:r="http://schemas.openxmlformats.org/officeDocument/2006/relationships" id="308" r:id="Ra689a6f09fbc4cf2"/>
    <p:sldId xmlns:r="http://schemas.openxmlformats.org/officeDocument/2006/relationships" id="309" r:id="R93902d32ae51443e"/>
    <p:sldId xmlns:r="http://schemas.openxmlformats.org/officeDocument/2006/relationships" id="310" r:id="Rbf54322e8cd2432f"/>
    <p:sldId xmlns:r="http://schemas.openxmlformats.org/officeDocument/2006/relationships" id="311" r:id="Rfa78d23184b74630"/>
    <p:sldId xmlns:r="http://schemas.openxmlformats.org/officeDocument/2006/relationships" id="312" r:id="R382db34e4ecc4f0b"/>
    <p:sldId xmlns:r="http://schemas.openxmlformats.org/officeDocument/2006/relationships" id="313" r:id="R317ae1f3256f438a"/>
    <p:sldId xmlns:r="http://schemas.openxmlformats.org/officeDocument/2006/relationships" id="314" r:id="Rb0e252cf54fb4a4e"/>
    <p:sldId xmlns:r="http://schemas.openxmlformats.org/officeDocument/2006/relationships" id="315" r:id="Raa0bd3a151494990"/>
    <p:sldId xmlns:r="http://schemas.openxmlformats.org/officeDocument/2006/relationships" id="316" r:id="R02601cd1ec534cf1"/>
    <p:sldId xmlns:r="http://schemas.openxmlformats.org/officeDocument/2006/relationships" id="317" r:id="Rcf4959705bc1479e"/>
    <p:sldId xmlns:r="http://schemas.openxmlformats.org/officeDocument/2006/relationships" id="318" r:id="Rac42fa2fa4df4e0f"/>
    <p:sldId xmlns:r="http://schemas.openxmlformats.org/officeDocument/2006/relationships" id="319" r:id="R5dd15cb177254174"/>
    <p:sldId xmlns:r="http://schemas.openxmlformats.org/officeDocument/2006/relationships" id="320" r:id="R5f596703cd3343df"/>
    <p:sldId xmlns:r="http://schemas.openxmlformats.org/officeDocument/2006/relationships" id="321" r:id="Ra8befab6401249ff"/>
    <p:sldId xmlns:r="http://schemas.openxmlformats.org/officeDocument/2006/relationships" id="322" r:id="Rd2b14e77746f4274"/>
    <p:sldId xmlns:r="http://schemas.openxmlformats.org/officeDocument/2006/relationships" id="323" r:id="R8f62ca4a4d6340dd"/>
    <p:sldId xmlns:r="http://schemas.openxmlformats.org/officeDocument/2006/relationships" id="324" r:id="R2434c992628d488c"/>
    <p:sldId xmlns:r="http://schemas.openxmlformats.org/officeDocument/2006/relationships" id="325" r:id="Rcd91dbb9354c455b"/>
    <p:sldId xmlns:r="http://schemas.openxmlformats.org/officeDocument/2006/relationships" id="326" r:id="R3f37969233094561"/>
    <p:sldId xmlns:r="http://schemas.openxmlformats.org/officeDocument/2006/relationships" id="327" r:id="Ra66215688f234dc7"/>
    <p:sldId xmlns:r="http://schemas.openxmlformats.org/officeDocument/2006/relationships" id="328" r:id="R98b6ba20a6b549e8"/>
    <p:sldId xmlns:r="http://schemas.openxmlformats.org/officeDocument/2006/relationships" id="329" r:id="R935a891addb84c3b"/>
    <p:sldId xmlns:r="http://schemas.openxmlformats.org/officeDocument/2006/relationships" id="330" r:id="R55f2f0d5a44348cf"/>
    <p:sldId xmlns:r="http://schemas.openxmlformats.org/officeDocument/2006/relationships" id="331" r:id="Rc8b7f44ae052450b"/>
    <p:sldId xmlns:r="http://schemas.openxmlformats.org/officeDocument/2006/relationships" id="332" r:id="R90e0c90daed04ae1"/>
    <p:sldId xmlns:r="http://schemas.openxmlformats.org/officeDocument/2006/relationships" id="333" r:id="R992a96a8b51a426c"/>
    <p:sldId xmlns:r="http://schemas.openxmlformats.org/officeDocument/2006/relationships" id="334" r:id="R3f600e7e12be4b2c"/>
    <p:sldId xmlns:r="http://schemas.openxmlformats.org/officeDocument/2006/relationships" id="335" r:id="R5e4831f8c5534867"/>
    <p:sldId xmlns:r="http://schemas.openxmlformats.org/officeDocument/2006/relationships" id="336" r:id="R1353c4f59d4747a9"/>
    <p:sldId xmlns:r="http://schemas.openxmlformats.org/officeDocument/2006/relationships" id="337" r:id="R1008557589de4096"/>
    <p:sldId xmlns:r="http://schemas.openxmlformats.org/officeDocument/2006/relationships" id="338" r:id="R08313acfaaa44c34"/>
    <p:sldId xmlns:r="http://schemas.openxmlformats.org/officeDocument/2006/relationships" id="339" r:id="Rcce36d849d4e41c0"/>
    <p:sldId xmlns:r="http://schemas.openxmlformats.org/officeDocument/2006/relationships" id="340" r:id="Rd04d4c58299d43c0"/>
    <p:sldId xmlns:r="http://schemas.openxmlformats.org/officeDocument/2006/relationships" id="341" r:id="Rfbfb53c4a7134adc"/>
    <p:sldId xmlns:r="http://schemas.openxmlformats.org/officeDocument/2006/relationships" id="342" r:id="Ra55c737e8b0a4fe5"/>
    <p:sldId xmlns:r="http://schemas.openxmlformats.org/officeDocument/2006/relationships" id="343" r:id="R29e5c8929f434057"/>
    <p:sldId xmlns:r="http://schemas.openxmlformats.org/officeDocument/2006/relationships" id="344" r:id="Re8a0f2177bf543d6"/>
    <p:sldId xmlns:r="http://schemas.openxmlformats.org/officeDocument/2006/relationships" id="345" r:id="R17b8ffe6660f40a7"/>
    <p:sldId xmlns:r="http://schemas.openxmlformats.org/officeDocument/2006/relationships" id="346" r:id="R07c3343967db43e3"/>
    <p:sldId xmlns:r="http://schemas.openxmlformats.org/officeDocument/2006/relationships" id="347" r:id="R343520859be1427c"/>
    <p:sldId xmlns:r="http://schemas.openxmlformats.org/officeDocument/2006/relationships" id="348" r:id="R071395c4206b4f20"/>
    <p:sldId xmlns:r="http://schemas.openxmlformats.org/officeDocument/2006/relationships" id="349" r:id="R362c85602ef04843"/>
    <p:sldId xmlns:r="http://schemas.openxmlformats.org/officeDocument/2006/relationships" id="350" r:id="Rf5236ba9549b4554"/>
    <p:sldId xmlns:r="http://schemas.openxmlformats.org/officeDocument/2006/relationships" id="351" r:id="R23e2cce6a58b42dd"/>
    <p:sldId xmlns:r="http://schemas.openxmlformats.org/officeDocument/2006/relationships" id="352" r:id="R9c2621438b624615"/>
    <p:sldId xmlns:r="http://schemas.openxmlformats.org/officeDocument/2006/relationships" id="353" r:id="R62ef307e90864225"/>
    <p:sldId xmlns:r="http://schemas.openxmlformats.org/officeDocument/2006/relationships" id="354" r:id="R15e8b6879f2140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6668223d884695" /><Relationship Type="http://schemas.openxmlformats.org/officeDocument/2006/relationships/slideMaster" Target="/ppt/slideMasters/slideMaster1.xml" Id="Rda803617fa234708" /><Relationship Type="http://schemas.openxmlformats.org/officeDocument/2006/relationships/notesMaster" Target="/ppt/notesMasters/notesMaster1.xml" Id="Rdac43cce63924020" /><Relationship Type="http://schemas.openxmlformats.org/officeDocument/2006/relationships/presProps" Target="/ppt/presProps.xml" Id="R1c71135102cc449d" /><Relationship Type="http://schemas.openxmlformats.org/officeDocument/2006/relationships/tableStyles" Target="/ppt/tableStyles.xml" Id="R1a37b543b3484c20" /><Relationship Type="http://schemas.openxmlformats.org/officeDocument/2006/relationships/slide" Target="/ppt/slides/slide1.xml" Id="Rb67634aaf3054648" /><Relationship Type="http://schemas.openxmlformats.org/officeDocument/2006/relationships/slide" Target="/ppt/slides/slide2.xml" Id="R8c31e70212394920" /><Relationship Type="http://schemas.openxmlformats.org/officeDocument/2006/relationships/slide" Target="/ppt/slides/slide3.xml" Id="R31d7829d90c64d18" /><Relationship Type="http://schemas.openxmlformats.org/officeDocument/2006/relationships/slide" Target="/ppt/slides/slide4.xml" Id="R908042d3a48c4269" /><Relationship Type="http://schemas.openxmlformats.org/officeDocument/2006/relationships/slide" Target="/ppt/slides/slide5.xml" Id="Ra1186d7fff514c13" /><Relationship Type="http://schemas.openxmlformats.org/officeDocument/2006/relationships/slide" Target="/ppt/slides/slide6.xml" Id="R7cbaae74d9e44e57" /><Relationship Type="http://schemas.openxmlformats.org/officeDocument/2006/relationships/slide" Target="/ppt/slides/slide7.xml" Id="Rea8b6db0b7d846d3" /><Relationship Type="http://schemas.openxmlformats.org/officeDocument/2006/relationships/slide" Target="/ppt/slides/slide8.xml" Id="R7f330c6bbc994fd6" /><Relationship Type="http://schemas.openxmlformats.org/officeDocument/2006/relationships/slide" Target="/ppt/slides/slide9.xml" Id="R804f7810910c4831" /><Relationship Type="http://schemas.openxmlformats.org/officeDocument/2006/relationships/slide" Target="/ppt/slides/slide10.xml" Id="Rb5bbf7b12c37471a" /><Relationship Type="http://schemas.openxmlformats.org/officeDocument/2006/relationships/slide" Target="/ppt/slides/slide11.xml" Id="R9f79dd3de0d94fd1" /><Relationship Type="http://schemas.openxmlformats.org/officeDocument/2006/relationships/slide" Target="/ppt/slides/slide12.xml" Id="R1823f626abd44945" /><Relationship Type="http://schemas.openxmlformats.org/officeDocument/2006/relationships/slide" Target="/ppt/slides/slide13.xml" Id="R05c27380c9c646b8" /><Relationship Type="http://schemas.openxmlformats.org/officeDocument/2006/relationships/slide" Target="/ppt/slides/slide14.xml" Id="R85694456a8a44e7f" /><Relationship Type="http://schemas.openxmlformats.org/officeDocument/2006/relationships/slide" Target="/ppt/slides/slide15.xml" Id="Rbca6a21689c64737" /><Relationship Type="http://schemas.openxmlformats.org/officeDocument/2006/relationships/slide" Target="/ppt/slides/slide16.xml" Id="Rb893b3861a0245a8" /><Relationship Type="http://schemas.openxmlformats.org/officeDocument/2006/relationships/slide" Target="/ppt/slides/slide17.xml" Id="Rbd3931bbdfea4ab5" /><Relationship Type="http://schemas.openxmlformats.org/officeDocument/2006/relationships/slide" Target="/ppt/slides/slide18.xml" Id="Re65efb429a284042" /><Relationship Type="http://schemas.openxmlformats.org/officeDocument/2006/relationships/slide" Target="/ppt/slides/slide19.xml" Id="R40d09ca1f4ce47f6" /><Relationship Type="http://schemas.openxmlformats.org/officeDocument/2006/relationships/slide" Target="/ppt/slides/slide20.xml" Id="R047e8cc4a834425f" /><Relationship Type="http://schemas.openxmlformats.org/officeDocument/2006/relationships/slide" Target="/ppt/slides/slide21.xml" Id="Ra85a5468f6c34bca" /><Relationship Type="http://schemas.openxmlformats.org/officeDocument/2006/relationships/slide" Target="/ppt/slides/slide22.xml" Id="R8cdb6f3476bc48bc" /><Relationship Type="http://schemas.openxmlformats.org/officeDocument/2006/relationships/slide" Target="/ppt/slides/slide23.xml" Id="R3a97ed86a0174d14" /><Relationship Type="http://schemas.openxmlformats.org/officeDocument/2006/relationships/slide" Target="/ppt/slides/slide24.xml" Id="R07c137b9d1d547b2" /><Relationship Type="http://schemas.openxmlformats.org/officeDocument/2006/relationships/slide" Target="/ppt/slides/slide25.xml" Id="Rf2a407c4f3e445a0" /><Relationship Type="http://schemas.openxmlformats.org/officeDocument/2006/relationships/slide" Target="/ppt/slides/slide26.xml" Id="Re85813eba5204bc4" /><Relationship Type="http://schemas.openxmlformats.org/officeDocument/2006/relationships/slide" Target="/ppt/slides/slide27.xml" Id="R760005ec3a734c41" /><Relationship Type="http://schemas.openxmlformats.org/officeDocument/2006/relationships/slide" Target="/ppt/slides/slide28.xml" Id="Rdb562f6cc5b94c43" /><Relationship Type="http://schemas.openxmlformats.org/officeDocument/2006/relationships/slide" Target="/ppt/slides/slide29.xml" Id="R91ecc68ae2f54efd" /><Relationship Type="http://schemas.openxmlformats.org/officeDocument/2006/relationships/slide" Target="/ppt/slides/slide30.xml" Id="Re48b6d6ff7294b42" /><Relationship Type="http://schemas.openxmlformats.org/officeDocument/2006/relationships/slide" Target="/ppt/slides/slide31.xml" Id="R4014108f58db42da" /><Relationship Type="http://schemas.openxmlformats.org/officeDocument/2006/relationships/slide" Target="/ppt/slides/slide32.xml" Id="R5900946c05de480a" /><Relationship Type="http://schemas.openxmlformats.org/officeDocument/2006/relationships/slide" Target="/ppt/slides/slide33.xml" Id="R8c44610c67484ce2" /><Relationship Type="http://schemas.openxmlformats.org/officeDocument/2006/relationships/slide" Target="/ppt/slides/slide34.xml" Id="Rf4f619b3ff2a4552" /><Relationship Type="http://schemas.openxmlformats.org/officeDocument/2006/relationships/slide" Target="/ppt/slides/slide35.xml" Id="R2418b1a98eb34623" /><Relationship Type="http://schemas.openxmlformats.org/officeDocument/2006/relationships/slide" Target="/ppt/slides/slide36.xml" Id="Rae017bbc4dd544c7" /><Relationship Type="http://schemas.openxmlformats.org/officeDocument/2006/relationships/slide" Target="/ppt/slides/slide37.xml" Id="R31639dc613c44409" /><Relationship Type="http://schemas.openxmlformats.org/officeDocument/2006/relationships/slide" Target="/ppt/slides/slide38.xml" Id="Rcef9359f4ec7427c" /><Relationship Type="http://schemas.openxmlformats.org/officeDocument/2006/relationships/slide" Target="/ppt/slides/slide39.xml" Id="R2eb678f0c34042ab" /><Relationship Type="http://schemas.openxmlformats.org/officeDocument/2006/relationships/slide" Target="/ppt/slides/slide40.xml" Id="Ref4db8d1d57745db" /><Relationship Type="http://schemas.openxmlformats.org/officeDocument/2006/relationships/slide" Target="/ppt/slides/slide41.xml" Id="Rb8d744a62a2b4a8c" /><Relationship Type="http://schemas.openxmlformats.org/officeDocument/2006/relationships/slide" Target="/ppt/slides/slide42.xml" Id="R337ce7ef180640b5" /><Relationship Type="http://schemas.openxmlformats.org/officeDocument/2006/relationships/slide" Target="/ppt/slides/slide43.xml" Id="R1f8390778b574cd6" /><Relationship Type="http://schemas.openxmlformats.org/officeDocument/2006/relationships/slide" Target="/ppt/slides/slide44.xml" Id="Ra1ab6eb963bc4443" /><Relationship Type="http://schemas.openxmlformats.org/officeDocument/2006/relationships/slide" Target="/ppt/slides/slide45.xml" Id="R05355776bc6f4397" /><Relationship Type="http://schemas.openxmlformats.org/officeDocument/2006/relationships/slide" Target="/ppt/slides/slide46.xml" Id="R208c7494df7c4fb5" /><Relationship Type="http://schemas.openxmlformats.org/officeDocument/2006/relationships/slide" Target="/ppt/slides/slide47.xml" Id="R2367bf366a784c84" /><Relationship Type="http://schemas.openxmlformats.org/officeDocument/2006/relationships/slide" Target="/ppt/slides/slide48.xml" Id="Re992afe293b04437" /><Relationship Type="http://schemas.openxmlformats.org/officeDocument/2006/relationships/slide" Target="/ppt/slides/slide49.xml" Id="R2a388c48d1fa41f5" /><Relationship Type="http://schemas.openxmlformats.org/officeDocument/2006/relationships/slide" Target="/ppt/slides/slide50.xml" Id="R450c7965ea554111" /><Relationship Type="http://schemas.openxmlformats.org/officeDocument/2006/relationships/slide" Target="/ppt/slides/slide51.xml" Id="R9bc2bbae625c41bc" /><Relationship Type="http://schemas.openxmlformats.org/officeDocument/2006/relationships/slide" Target="/ppt/slides/slide52.xml" Id="Re7020fe1cda44e4e" /><Relationship Type="http://schemas.openxmlformats.org/officeDocument/2006/relationships/slide" Target="/ppt/slides/slide53.xml" Id="Ra689a6f09fbc4cf2" /><Relationship Type="http://schemas.openxmlformats.org/officeDocument/2006/relationships/slide" Target="/ppt/slides/slide54.xml" Id="R93902d32ae51443e" /><Relationship Type="http://schemas.openxmlformats.org/officeDocument/2006/relationships/slide" Target="/ppt/slides/slide55.xml" Id="Rbf54322e8cd2432f" /><Relationship Type="http://schemas.openxmlformats.org/officeDocument/2006/relationships/slide" Target="/ppt/slides/slide56.xml" Id="Rfa78d23184b74630" /><Relationship Type="http://schemas.openxmlformats.org/officeDocument/2006/relationships/slide" Target="/ppt/slides/slide57.xml" Id="R382db34e4ecc4f0b" /><Relationship Type="http://schemas.openxmlformats.org/officeDocument/2006/relationships/slide" Target="/ppt/slides/slide58.xml" Id="R317ae1f3256f438a" /><Relationship Type="http://schemas.openxmlformats.org/officeDocument/2006/relationships/slide" Target="/ppt/slides/slide59.xml" Id="Rb0e252cf54fb4a4e" /><Relationship Type="http://schemas.openxmlformats.org/officeDocument/2006/relationships/slide" Target="/ppt/slides/slide60.xml" Id="Raa0bd3a151494990" /><Relationship Type="http://schemas.openxmlformats.org/officeDocument/2006/relationships/slide" Target="/ppt/slides/slide61.xml" Id="R02601cd1ec534cf1" /><Relationship Type="http://schemas.openxmlformats.org/officeDocument/2006/relationships/slide" Target="/ppt/slides/slide62.xml" Id="Rcf4959705bc1479e" /><Relationship Type="http://schemas.openxmlformats.org/officeDocument/2006/relationships/slide" Target="/ppt/slides/slide63.xml" Id="Rac42fa2fa4df4e0f" /><Relationship Type="http://schemas.openxmlformats.org/officeDocument/2006/relationships/slide" Target="/ppt/slides/slide64.xml" Id="R5dd15cb177254174" /><Relationship Type="http://schemas.openxmlformats.org/officeDocument/2006/relationships/slide" Target="/ppt/slides/slide65.xml" Id="R5f596703cd3343df" /><Relationship Type="http://schemas.openxmlformats.org/officeDocument/2006/relationships/slide" Target="/ppt/slides/slide66.xml" Id="Ra8befab6401249ff" /><Relationship Type="http://schemas.openxmlformats.org/officeDocument/2006/relationships/slide" Target="/ppt/slides/slide67.xml" Id="Rd2b14e77746f4274" /><Relationship Type="http://schemas.openxmlformats.org/officeDocument/2006/relationships/slide" Target="/ppt/slides/slide68.xml" Id="R8f62ca4a4d6340dd" /><Relationship Type="http://schemas.openxmlformats.org/officeDocument/2006/relationships/slide" Target="/ppt/slides/slide69.xml" Id="R2434c992628d488c" /><Relationship Type="http://schemas.openxmlformats.org/officeDocument/2006/relationships/slide" Target="/ppt/slides/slide70.xml" Id="Rcd91dbb9354c455b" /><Relationship Type="http://schemas.openxmlformats.org/officeDocument/2006/relationships/slide" Target="/ppt/slides/slide71.xml" Id="R3f37969233094561" /><Relationship Type="http://schemas.openxmlformats.org/officeDocument/2006/relationships/slide" Target="/ppt/slides/slide72.xml" Id="Ra66215688f234dc7" /><Relationship Type="http://schemas.openxmlformats.org/officeDocument/2006/relationships/slide" Target="/ppt/slides/slide73.xml" Id="R98b6ba20a6b549e8" /><Relationship Type="http://schemas.openxmlformats.org/officeDocument/2006/relationships/slide" Target="/ppt/slides/slide74.xml" Id="R935a891addb84c3b" /><Relationship Type="http://schemas.openxmlformats.org/officeDocument/2006/relationships/slide" Target="/ppt/slides/slide75.xml" Id="R55f2f0d5a44348cf" /><Relationship Type="http://schemas.openxmlformats.org/officeDocument/2006/relationships/slide" Target="/ppt/slides/slide76.xml" Id="Rc8b7f44ae052450b" /><Relationship Type="http://schemas.openxmlformats.org/officeDocument/2006/relationships/slide" Target="/ppt/slides/slide77.xml" Id="R90e0c90daed04ae1" /><Relationship Type="http://schemas.openxmlformats.org/officeDocument/2006/relationships/slide" Target="/ppt/slides/slide78.xml" Id="R992a96a8b51a426c" /><Relationship Type="http://schemas.openxmlformats.org/officeDocument/2006/relationships/slide" Target="/ppt/slides/slide79.xml" Id="R3f600e7e12be4b2c" /><Relationship Type="http://schemas.openxmlformats.org/officeDocument/2006/relationships/slide" Target="/ppt/slides/slide80.xml" Id="R5e4831f8c5534867" /><Relationship Type="http://schemas.openxmlformats.org/officeDocument/2006/relationships/slide" Target="/ppt/slides/slide81.xml" Id="R1353c4f59d4747a9" /><Relationship Type="http://schemas.openxmlformats.org/officeDocument/2006/relationships/slide" Target="/ppt/slides/slide82.xml" Id="R1008557589de4096" /><Relationship Type="http://schemas.openxmlformats.org/officeDocument/2006/relationships/slide" Target="/ppt/slides/slide83.xml" Id="R08313acfaaa44c34" /><Relationship Type="http://schemas.openxmlformats.org/officeDocument/2006/relationships/slide" Target="/ppt/slides/slide84.xml" Id="Rcce36d849d4e41c0" /><Relationship Type="http://schemas.openxmlformats.org/officeDocument/2006/relationships/slide" Target="/ppt/slides/slide85.xml" Id="Rd04d4c58299d43c0" /><Relationship Type="http://schemas.openxmlformats.org/officeDocument/2006/relationships/slide" Target="/ppt/slides/slide86.xml" Id="Rfbfb53c4a7134adc" /><Relationship Type="http://schemas.openxmlformats.org/officeDocument/2006/relationships/slide" Target="/ppt/slides/slide87.xml" Id="Ra55c737e8b0a4fe5" /><Relationship Type="http://schemas.openxmlformats.org/officeDocument/2006/relationships/slide" Target="/ppt/slides/slide88.xml" Id="R29e5c8929f434057" /><Relationship Type="http://schemas.openxmlformats.org/officeDocument/2006/relationships/slide" Target="/ppt/slides/slide89.xml" Id="Re8a0f2177bf543d6" /><Relationship Type="http://schemas.openxmlformats.org/officeDocument/2006/relationships/slide" Target="/ppt/slides/slide90.xml" Id="R17b8ffe6660f40a7" /><Relationship Type="http://schemas.openxmlformats.org/officeDocument/2006/relationships/slide" Target="/ppt/slides/slide91.xml" Id="R07c3343967db43e3" /><Relationship Type="http://schemas.openxmlformats.org/officeDocument/2006/relationships/slide" Target="/ppt/slides/slide92.xml" Id="R343520859be1427c" /><Relationship Type="http://schemas.openxmlformats.org/officeDocument/2006/relationships/slide" Target="/ppt/slides/slide93.xml" Id="R071395c4206b4f20" /><Relationship Type="http://schemas.openxmlformats.org/officeDocument/2006/relationships/slide" Target="/ppt/slides/slide94.xml" Id="R362c85602ef04843" /><Relationship Type="http://schemas.openxmlformats.org/officeDocument/2006/relationships/slide" Target="/ppt/slides/slide95.xml" Id="Rf5236ba9549b4554" /><Relationship Type="http://schemas.openxmlformats.org/officeDocument/2006/relationships/slide" Target="/ppt/slides/slide96.xml" Id="R23e2cce6a58b42dd" /><Relationship Type="http://schemas.openxmlformats.org/officeDocument/2006/relationships/slide" Target="/ppt/slides/slide97.xml" Id="R9c2621438b624615" /><Relationship Type="http://schemas.openxmlformats.org/officeDocument/2006/relationships/slide" Target="/ppt/slides/slide98.xml" Id="R62ef307e90864225" /><Relationship Type="http://schemas.openxmlformats.org/officeDocument/2006/relationships/slide" Target="/ppt/slides/slide99.xml" Id="R15e8b6879f2140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d26c8da0b248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e20f6ceca74542" /><Relationship Type="http://schemas.openxmlformats.org/officeDocument/2006/relationships/notesMaster" Target="/ppt/notesMasters/notesMaster1.xml" Id="R47f2f6196c0d45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de9057f1d84350" /><Relationship Type="http://schemas.openxmlformats.org/officeDocument/2006/relationships/notesMaster" Target="/ppt/notesMasters/notesMaster1.xml" Id="R88428bcb30d549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8befd6ba7a49ed" /><Relationship Type="http://schemas.openxmlformats.org/officeDocument/2006/relationships/notesMaster" Target="/ppt/notesMasters/notesMaster1.xml" Id="R2abfd2ccf4ae4f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2561534e494a1c" /><Relationship Type="http://schemas.openxmlformats.org/officeDocument/2006/relationships/notesMaster" Target="/ppt/notesMasters/notesMaster1.xml" Id="Rf4ea49739fca49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ad3962912c4c65" /><Relationship Type="http://schemas.openxmlformats.org/officeDocument/2006/relationships/notesMaster" Target="/ppt/notesMasters/notesMaster1.xml" Id="Rf03af161dda54b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ef99fc90c04b20" /><Relationship Type="http://schemas.openxmlformats.org/officeDocument/2006/relationships/notesMaster" Target="/ppt/notesMasters/notesMaster1.xml" Id="R3e715e2b4e8944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5217784c2444c3" /><Relationship Type="http://schemas.openxmlformats.org/officeDocument/2006/relationships/notesMaster" Target="/ppt/notesMasters/notesMaster1.xml" Id="R5aefebf666db4d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77d37fc28f4c27" /><Relationship Type="http://schemas.openxmlformats.org/officeDocument/2006/relationships/notesMaster" Target="/ppt/notesMasters/notesMaster1.xml" Id="Ra82d822f2e6047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f46b7daabb4498" /><Relationship Type="http://schemas.openxmlformats.org/officeDocument/2006/relationships/notesMaster" Target="/ppt/notesMasters/notesMaster1.xml" Id="R068a1dfcdd2944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db3d8f0be2477e" /><Relationship Type="http://schemas.openxmlformats.org/officeDocument/2006/relationships/notesMaster" Target="/ppt/notesMasters/notesMaster1.xml" Id="R4d69f9034cea45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12a2cf843d46b6" /><Relationship Type="http://schemas.openxmlformats.org/officeDocument/2006/relationships/notesMaster" Target="/ppt/notesMasters/notesMaster1.xml" Id="R8c239847e1fc43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167f64621f4b21" /><Relationship Type="http://schemas.openxmlformats.org/officeDocument/2006/relationships/notesMaster" Target="/ppt/notesMasters/notesMaster1.xml" Id="Rb1eb2da6e77c42d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c21197a04d44bf" /><Relationship Type="http://schemas.openxmlformats.org/officeDocument/2006/relationships/notesMaster" Target="/ppt/notesMasters/notesMaster1.xml" Id="Rdbf03030c9ac4cc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3b2b84d685d422f" /><Relationship Type="http://schemas.openxmlformats.org/officeDocument/2006/relationships/notesMaster" Target="/ppt/notesMasters/notesMaster1.xml" Id="R06a30db149194a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cd3250010d4842" /><Relationship Type="http://schemas.openxmlformats.org/officeDocument/2006/relationships/notesMaster" Target="/ppt/notesMasters/notesMaster1.xml" Id="Raf630342ce6246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cc4694a24a64b32" /><Relationship Type="http://schemas.openxmlformats.org/officeDocument/2006/relationships/notesMaster" Target="/ppt/notesMasters/notesMaster1.xml" Id="R3bbbd403bd0f4b7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66edf9f23f5400d" /><Relationship Type="http://schemas.openxmlformats.org/officeDocument/2006/relationships/notesMaster" Target="/ppt/notesMasters/notesMaster1.xml" Id="R6cf1855cdb3946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f13a3a046024cd0" /><Relationship Type="http://schemas.openxmlformats.org/officeDocument/2006/relationships/notesMaster" Target="/ppt/notesMasters/notesMaster1.xml" Id="R17f88b7b430b4fa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d30bdddd26a49f2" /><Relationship Type="http://schemas.openxmlformats.org/officeDocument/2006/relationships/notesMaster" Target="/ppt/notesMasters/notesMaster1.xml" Id="R43d3fbef707647a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d93f5fe45eb4db7" /><Relationship Type="http://schemas.openxmlformats.org/officeDocument/2006/relationships/notesMaster" Target="/ppt/notesMasters/notesMaster1.xml" Id="Rf00448c373c0421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a1817b9087444c6" /><Relationship Type="http://schemas.openxmlformats.org/officeDocument/2006/relationships/notesMaster" Target="/ppt/notesMasters/notesMaster1.xml" Id="Rb7638aea71794d7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70c2842e5ec406b" /><Relationship Type="http://schemas.openxmlformats.org/officeDocument/2006/relationships/notesMaster" Target="/ppt/notesMasters/notesMaster1.xml" Id="R01aff35bb5ee4b8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ed25e1f82e84597" /><Relationship Type="http://schemas.openxmlformats.org/officeDocument/2006/relationships/notesMaster" Target="/ppt/notesMasters/notesMaster1.xml" Id="R72fec462a7e5455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6d1c0ca0fa045a6" /><Relationship Type="http://schemas.openxmlformats.org/officeDocument/2006/relationships/notesMaster" Target="/ppt/notesMasters/notesMaster1.xml" Id="Rb3a8290228de4b5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20dafc27689481e" /><Relationship Type="http://schemas.openxmlformats.org/officeDocument/2006/relationships/notesMaster" Target="/ppt/notesMasters/notesMaster1.xml" Id="R6b6681d4985441b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c72d0b942134ea4" /><Relationship Type="http://schemas.openxmlformats.org/officeDocument/2006/relationships/notesMaster" Target="/ppt/notesMasters/notesMaster1.xml" Id="Rd916240a78cf4cf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f268ed65bf149e5" /><Relationship Type="http://schemas.openxmlformats.org/officeDocument/2006/relationships/notesMaster" Target="/ppt/notesMasters/notesMaster1.xml" Id="Rb4a3a612810d4d9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ad0cd130aa146f7" /><Relationship Type="http://schemas.openxmlformats.org/officeDocument/2006/relationships/notesMaster" Target="/ppt/notesMasters/notesMaster1.xml" Id="R45e9fd79ccb34f0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596f5dd471142e0" /><Relationship Type="http://schemas.openxmlformats.org/officeDocument/2006/relationships/notesMaster" Target="/ppt/notesMasters/notesMaster1.xml" Id="Rdfc5884cff464c4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90acd24f6cf4dfd" /><Relationship Type="http://schemas.openxmlformats.org/officeDocument/2006/relationships/notesMaster" Target="/ppt/notesMasters/notesMaster1.xml" Id="R06123eaa8e714e2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5079d0e5c124b30" /><Relationship Type="http://schemas.openxmlformats.org/officeDocument/2006/relationships/notesMaster" Target="/ppt/notesMasters/notesMaster1.xml" Id="R34f26fe5a7034ea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7d3ce443ac344f5" /><Relationship Type="http://schemas.openxmlformats.org/officeDocument/2006/relationships/notesMaster" Target="/ppt/notesMasters/notesMaster1.xml" Id="R178965606e51403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3c9bb13585846a8" /><Relationship Type="http://schemas.openxmlformats.org/officeDocument/2006/relationships/notesMaster" Target="/ppt/notesMasters/notesMaster1.xml" Id="R755e81cbae2446e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c2cbd8667814ff1" /><Relationship Type="http://schemas.openxmlformats.org/officeDocument/2006/relationships/notesMaster" Target="/ppt/notesMasters/notesMaster1.xml" Id="R678384f105ff430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7c2c8b5a99a4c18" /><Relationship Type="http://schemas.openxmlformats.org/officeDocument/2006/relationships/notesMaster" Target="/ppt/notesMasters/notesMaster1.xml" Id="Re9177729551f4fe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a9ba142d767420f" /><Relationship Type="http://schemas.openxmlformats.org/officeDocument/2006/relationships/notesMaster" Target="/ppt/notesMasters/notesMaster1.xml" Id="Rd9e6953882cc406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fa1f9c8bfe545d6" /><Relationship Type="http://schemas.openxmlformats.org/officeDocument/2006/relationships/notesMaster" Target="/ppt/notesMasters/notesMaster1.xml" Id="Rc6b703ede6794a4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26bbe5d8e9948aa" /><Relationship Type="http://schemas.openxmlformats.org/officeDocument/2006/relationships/notesMaster" Target="/ppt/notesMasters/notesMaster1.xml" Id="R217503eb8d2e46a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2ce6d9f1cfe4705" /><Relationship Type="http://schemas.openxmlformats.org/officeDocument/2006/relationships/notesMaster" Target="/ppt/notesMasters/notesMaster1.xml" Id="R3a7dc37513f04be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7dec32bdacf40c1" /><Relationship Type="http://schemas.openxmlformats.org/officeDocument/2006/relationships/notesMaster" Target="/ppt/notesMasters/notesMaster1.xml" Id="R6cca4ec04c3741f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fcf82f563724600" /><Relationship Type="http://schemas.openxmlformats.org/officeDocument/2006/relationships/notesMaster" Target="/ppt/notesMasters/notesMaster1.xml" Id="R75e005d1561c415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68665953fc94918" /><Relationship Type="http://schemas.openxmlformats.org/officeDocument/2006/relationships/notesMaster" Target="/ppt/notesMasters/notesMaster1.xml" Id="Rfe58d94f94594b3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f5ddcef6a2445b3" /><Relationship Type="http://schemas.openxmlformats.org/officeDocument/2006/relationships/notesMaster" Target="/ppt/notesMasters/notesMaster1.xml" Id="Ra9fc4a5ef7f24ec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eeaec7985874ac3" /><Relationship Type="http://schemas.openxmlformats.org/officeDocument/2006/relationships/notesMaster" Target="/ppt/notesMasters/notesMaster1.xml" Id="Rf9fd0f00a382456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86b6c2978a14a0e" /><Relationship Type="http://schemas.openxmlformats.org/officeDocument/2006/relationships/notesMaster" Target="/ppt/notesMasters/notesMaster1.xml" Id="R9d9847a5b065487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62447cbb1c14c6f" /><Relationship Type="http://schemas.openxmlformats.org/officeDocument/2006/relationships/notesMaster" Target="/ppt/notesMasters/notesMaster1.xml" Id="R0741cdd1cfb8434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c28f9af5fa04dae" /><Relationship Type="http://schemas.openxmlformats.org/officeDocument/2006/relationships/notesMaster" Target="/ppt/notesMasters/notesMaster1.xml" Id="R536b6db78f604ba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3f0cbfacab54aac" /><Relationship Type="http://schemas.openxmlformats.org/officeDocument/2006/relationships/notesMaster" Target="/ppt/notesMasters/notesMaster1.xml" Id="Rc6d015a086234ea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a700edb1ce6435a" /><Relationship Type="http://schemas.openxmlformats.org/officeDocument/2006/relationships/notesMaster" Target="/ppt/notesMasters/notesMaster1.xml" Id="R564dad4885aa43a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6e2154080164626" /><Relationship Type="http://schemas.openxmlformats.org/officeDocument/2006/relationships/notesMaster" Target="/ppt/notesMasters/notesMaster1.xml" Id="R4adf9917e42849e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bd6d8cb8baa4729" /><Relationship Type="http://schemas.openxmlformats.org/officeDocument/2006/relationships/notesMaster" Target="/ppt/notesMasters/notesMaster1.xml" Id="Rc2efee91cde640f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14621af6e844392" /><Relationship Type="http://schemas.openxmlformats.org/officeDocument/2006/relationships/notesMaster" Target="/ppt/notesMasters/notesMaster1.xml" Id="Rfae9cef422eb48a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ad655bc65a14ccd" /><Relationship Type="http://schemas.openxmlformats.org/officeDocument/2006/relationships/notesMaster" Target="/ppt/notesMasters/notesMaster1.xml" Id="Refb43be9cd1c477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af4db5e189f4ba9" /><Relationship Type="http://schemas.openxmlformats.org/officeDocument/2006/relationships/notesMaster" Target="/ppt/notesMasters/notesMaster1.xml" Id="Rc0285c16c9ac4a0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8f4d10410ee4db3" /><Relationship Type="http://schemas.openxmlformats.org/officeDocument/2006/relationships/notesMaster" Target="/ppt/notesMasters/notesMaster1.xml" Id="R616d4422d8ef45e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e4a502c22024391" /><Relationship Type="http://schemas.openxmlformats.org/officeDocument/2006/relationships/notesMaster" Target="/ppt/notesMasters/notesMaster1.xml" Id="Re02e561c2cb44f8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3befc0e392145bd" /><Relationship Type="http://schemas.openxmlformats.org/officeDocument/2006/relationships/notesMaster" Target="/ppt/notesMasters/notesMaster1.xml" Id="R3d2b7e6d8d7c4ec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644e7c009954767" /><Relationship Type="http://schemas.openxmlformats.org/officeDocument/2006/relationships/notesMaster" Target="/ppt/notesMasters/notesMaster1.xml" Id="Rb2457126e1df476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d03b4b8a46d49ca" /><Relationship Type="http://schemas.openxmlformats.org/officeDocument/2006/relationships/notesMaster" Target="/ppt/notesMasters/notesMaster1.xml" Id="Rb1a3ebcdba844eb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46386faac6449b7" /><Relationship Type="http://schemas.openxmlformats.org/officeDocument/2006/relationships/notesMaster" Target="/ppt/notesMasters/notesMaster1.xml" Id="R07b6825be6134dc8"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36f6345e43f4b52" /><Relationship Type="http://schemas.openxmlformats.org/officeDocument/2006/relationships/notesMaster" Target="/ppt/notesMasters/notesMaster1.xml" Id="R9f08826089eb4e11"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5980a4b5edc14200" /><Relationship Type="http://schemas.openxmlformats.org/officeDocument/2006/relationships/notesMaster" Target="/ppt/notesMasters/notesMaster1.xml" Id="R8ea579e25bfb4d3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e597a532a0b84c11" /><Relationship Type="http://schemas.openxmlformats.org/officeDocument/2006/relationships/notesMaster" Target="/ppt/notesMasters/notesMaster1.xml" Id="Rc1c2f07dbcb045b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9e21613dac01422b" /><Relationship Type="http://schemas.openxmlformats.org/officeDocument/2006/relationships/notesMaster" Target="/ppt/notesMasters/notesMaster1.xml" Id="R6e443ddb2e2646e9"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c23d283b47447eb" /><Relationship Type="http://schemas.openxmlformats.org/officeDocument/2006/relationships/notesMaster" Target="/ppt/notesMasters/notesMaster1.xml" Id="R5c22e2b83311499c"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55786971fad4d53" /><Relationship Type="http://schemas.openxmlformats.org/officeDocument/2006/relationships/notesMaster" Target="/ppt/notesMasters/notesMaster1.xml" Id="Rbf2aabd099ee4018"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7275a5b710354afa" /><Relationship Type="http://schemas.openxmlformats.org/officeDocument/2006/relationships/notesMaster" Target="/ppt/notesMasters/notesMaster1.xml" Id="R22bfbf4fbf454cf5"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215320e7fbc04080" /><Relationship Type="http://schemas.openxmlformats.org/officeDocument/2006/relationships/notesMaster" Target="/ppt/notesMasters/notesMaster1.xml" Id="R79579454873248bc"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84fa053e94744fca" /><Relationship Type="http://schemas.openxmlformats.org/officeDocument/2006/relationships/notesMaster" Target="/ppt/notesMasters/notesMaster1.xml" Id="Rd5c0283f511f4064"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463a8a7030dd48b5" /><Relationship Type="http://schemas.openxmlformats.org/officeDocument/2006/relationships/notesMaster" Target="/ppt/notesMasters/notesMaster1.xml" Id="R2c849736c6b844c0"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450a46038c2c493d" /><Relationship Type="http://schemas.openxmlformats.org/officeDocument/2006/relationships/notesMaster" Target="/ppt/notesMasters/notesMaster1.xml" Id="R476a8487b65049da"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652a3c02bd2443ee" /><Relationship Type="http://schemas.openxmlformats.org/officeDocument/2006/relationships/notesMaster" Target="/ppt/notesMasters/notesMaster1.xml" Id="Rd4db67388ad243d3"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9cced95435184d5b" /><Relationship Type="http://schemas.openxmlformats.org/officeDocument/2006/relationships/notesMaster" Target="/ppt/notesMasters/notesMaster1.xml" Id="R20dbe7196ea94527"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e3030746f2db41f2" /><Relationship Type="http://schemas.openxmlformats.org/officeDocument/2006/relationships/notesMaster" Target="/ppt/notesMasters/notesMaster1.xml" Id="R57d277e5ed674c50"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07088198b40946b2" /><Relationship Type="http://schemas.openxmlformats.org/officeDocument/2006/relationships/notesMaster" Target="/ppt/notesMasters/notesMaster1.xml" Id="R35040ca9d1ed47ba"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67bdfd7eba69431a" /><Relationship Type="http://schemas.openxmlformats.org/officeDocument/2006/relationships/notesMaster" Target="/ppt/notesMasters/notesMaster1.xml" Id="R4dedd8bce0c1409d"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6640cb5cf33d482e" /><Relationship Type="http://schemas.openxmlformats.org/officeDocument/2006/relationships/notesMaster" Target="/ppt/notesMasters/notesMaster1.xml" Id="Rfcc4fbae06ce4594"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53e60b79fa7d44db" /><Relationship Type="http://schemas.openxmlformats.org/officeDocument/2006/relationships/notesMaster" Target="/ppt/notesMasters/notesMaster1.xml" Id="Rd2f45959e01a4bd4"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74215e0199ea4e23" /><Relationship Type="http://schemas.openxmlformats.org/officeDocument/2006/relationships/notesMaster" Target="/ppt/notesMasters/notesMaster1.xml" Id="Rb80dbfd359ee45c3"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4e50182608cc4933" /><Relationship Type="http://schemas.openxmlformats.org/officeDocument/2006/relationships/notesMaster" Target="/ppt/notesMasters/notesMaster1.xml" Id="R90f251026b9d4aee"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14e8ad8fc27d483e" /><Relationship Type="http://schemas.openxmlformats.org/officeDocument/2006/relationships/notesMaster" Target="/ppt/notesMasters/notesMaster1.xml" Id="R5a3cc6f5a56d4950"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c933b050d55647a0" /><Relationship Type="http://schemas.openxmlformats.org/officeDocument/2006/relationships/notesMaster" Target="/ppt/notesMasters/notesMaster1.xml" Id="R8b75fc5b0b094f21"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6176976cdfea4764" /><Relationship Type="http://schemas.openxmlformats.org/officeDocument/2006/relationships/notesMaster" Target="/ppt/notesMasters/notesMaster1.xml" Id="R04840bc487f345a6"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22ad0b900d644da4" /><Relationship Type="http://schemas.openxmlformats.org/officeDocument/2006/relationships/notesMaster" Target="/ppt/notesMasters/notesMaster1.xml" Id="Rdefe495ab5064b8f"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270ea1a1216448be" /><Relationship Type="http://schemas.openxmlformats.org/officeDocument/2006/relationships/notesMaster" Target="/ppt/notesMasters/notesMaster1.xml" Id="R2603f45d63e44e69"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3e8b49185df74ff3" /><Relationship Type="http://schemas.openxmlformats.org/officeDocument/2006/relationships/notesMaster" Target="/ppt/notesMasters/notesMaster1.xml" Id="R50b19020ae0d4511"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405ffd3d9f174fae" /><Relationship Type="http://schemas.openxmlformats.org/officeDocument/2006/relationships/notesMaster" Target="/ppt/notesMasters/notesMaster1.xml" Id="R9d28b6e8494c4129"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b2a46093a219450e" /><Relationship Type="http://schemas.openxmlformats.org/officeDocument/2006/relationships/notesMaster" Target="/ppt/notesMasters/notesMaster1.xml" Id="R16de108144a24651"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2b6d0c24997743d8" /><Relationship Type="http://schemas.openxmlformats.org/officeDocument/2006/relationships/notesMaster" Target="/ppt/notesMasters/notesMaster1.xml" Id="R19b5bc9133c844ec"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66c11867bf804b58" /><Relationship Type="http://schemas.openxmlformats.org/officeDocument/2006/relationships/notesMaster" Target="/ppt/notesMasters/notesMaster1.xml" Id="R76a5674a84444cbb"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c4c8b61e6e114a8d" /><Relationship Type="http://schemas.openxmlformats.org/officeDocument/2006/relationships/notesMaster" Target="/ppt/notesMasters/notesMaster1.xml" Id="R14393434d35c49e6"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dbc201aaef9a41c5" /><Relationship Type="http://schemas.openxmlformats.org/officeDocument/2006/relationships/notesMaster" Target="/ppt/notesMasters/notesMaster1.xml" Id="R7e42f10b0be0475c"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b53aaa03bfe14cdb" /><Relationship Type="http://schemas.openxmlformats.org/officeDocument/2006/relationships/notesMaster" Target="/ppt/notesMasters/notesMaster1.xml" Id="R9bcbe361cc1b4c60"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7572db36a86e40f9" /><Relationship Type="http://schemas.openxmlformats.org/officeDocument/2006/relationships/notesMaster" Target="/ppt/notesMasters/notesMaster1.xml" Id="R74f7c25e5063444c"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77dfb8403c644ad1" /><Relationship Type="http://schemas.openxmlformats.org/officeDocument/2006/relationships/notesMaster" Target="/ppt/notesMasters/notesMaster1.xml" Id="R2c45e244671847b9"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cab2d2f1faad4373" /><Relationship Type="http://schemas.openxmlformats.org/officeDocument/2006/relationships/notesMaster" Target="/ppt/notesMasters/notesMaster1.xml" Id="R2f6afbae39df450b"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e3ee38e551414f0f" /><Relationship Type="http://schemas.openxmlformats.org/officeDocument/2006/relationships/notesMaster" Target="/ppt/notesMasters/notesMaster1.xml" Id="Rb5a4ba1f81ba4459"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ee32e59874454414" /><Relationship Type="http://schemas.openxmlformats.org/officeDocument/2006/relationships/notesMaster" Target="/ppt/notesMasters/notesMaster1.xml" Id="R2b1b570097104811"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be759bf42d404905" /><Relationship Type="http://schemas.openxmlformats.org/officeDocument/2006/relationships/notesMaster" Target="/ppt/notesMasters/notesMaster1.xml" Id="Red6be83b43a741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코딩을 처음 배우는 학생을 기준으로 설명합니다. 자세한 내용은 교안에서 함께 확인하세요. 수업 예제에는 연습용 데이터를 사용합니다.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순수 수업 300분, 중식 70분, 기타 휴식 50분입니다. 원본 6H 표기와 실제 수업 운영 분을 구별합니다.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파일을 여는 것과 실행하는 것을 구별합니다. Windows라는 제작 가정 아래 탐색기의 파일 확장명 표시를 확인합니다. 압축 파일 안이 아닌 모두 추출한 폴더에서 시작합니다.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Python 심화 · 함수와 파일 검사</a:t>
            </a:r>
          </a:p>
          <a:p xmlns:a="http://schemas.openxmlformats.org/drawingml/2006/main">
            <a:r>
              <a:t/>
            </a:r>
          </a:p>
          <a:p xmlns:a="http://schemas.openxmlformats.org/drawingml/2006/main">
            <a:r>
              <a:t>2026-10-15 · Python 심화</a:t>
            </a:r>
          </a:p>
          <a:p xmlns:a="http://schemas.openxmlformats.org/drawingml/2006/main">
            <a:r>
              <a:t/>
            </a:r>
          </a:p>
          <a:p xmlns:a="http://schemas.openxmlformats.org/drawingml/2006/main">
            <a:r>
              <a:t>전날의 변수·조건·반복을 다시 읽고 반복 업무를 함수로 묶습니다. CSV를 읽어 JSON 결과를 저장하며 미측정과 잘못된 값을 구별하는 작은 로그 검사기를 사용하고 검수합니다.</a:t>
            </a:r>
          </a:p>
          <a:p xmlns:a="http://schemas.openxmlformats.org/drawingml/2006/main">
            <a:r>
              <a:t/>
            </a:r>
          </a:p>
          <a:p xmlns:a="http://schemas.openxmlformats.org/drawingml/2006/main">
            <a:r>
              <a:t>**수업은 50분씩 6교시입니다.** 원본은 그대로 두고 work 폴더의 파일에서 안내한 부분을 고칩니다. 계정이나 실제 장비 없이 연습용 자료를 사용합니다.</a:t>
            </a:r>
          </a:p>
          <a:p xmlns:a="http://schemas.openxmlformats.org/drawingml/2006/main">
            <a:r>
              <a:t/>
            </a:r>
          </a:p>
          <a:p xmlns:a="http://schemas.openxmlformats.org/drawingml/2006/main">
            <a:r>
              <a:t>## 오늘의 연결</a:t>
            </a:r>
          </a:p>
          <a:p xmlns:a="http://schemas.openxmlformats.org/drawingml/2006/main">
            <a:r>
              <a:t/>
            </a:r>
          </a:p>
          <a:p xmlns:a="http://schemas.openxmlformats.org/drawingml/2006/main">
            <a:r>
              <a:t>10/8에는 기록의 의미와 파일 표현을 읽었습니다. 오늘은 전날의 변수·조건·반복을 다시 읽고 반복 업무를 함수로 묶습니다. CSV를 읽어 JSON 결과를 저장하며 미측정과 잘못된 값을 구별하는 작은 로그 검사기를 사용하고 검수합니다.</a:t>
            </a:r>
          </a:p>
          <a:p xmlns:a="http://schemas.openxmlformats.org/drawingml/2006/main">
            <a:r>
              <a:t/>
            </a:r>
          </a:p>
          <a:p xmlns:a="http://schemas.openxmlformats.org/drawingml/2006/main">
            <a:r>
              <a:t>## 먼저 구별할 화면</a:t>
            </a:r>
          </a:p>
          <a:p xmlns:a="http://schemas.openxmlformats.org/drawingml/2006/main">
            <a:r>
              <a:t/>
            </a:r>
          </a:p>
          <a:p xmlns:a="http://schemas.openxmlformats.org/drawingml/2006/main">
            <a:r>
              <a:t>- 파일 탐색기는 저장한 파일의 위치를 찾습니다.</a:t>
            </a:r>
          </a:p>
          <a:p xmlns:a="http://schemas.openxmlformats.org/drawingml/2006/main">
            <a:r>
              <a:t>- 텍스트 편집기는 코드와 데이터를 읽고 고칩니다.</a:t>
            </a:r>
          </a:p>
          <a:p xmlns:a="http://schemas.openxmlformats.org/drawingml/2006/main">
            <a:r>
              <a:t>- 터미널은 명령을 입력하고 실제 실행 결과를 확인합니다.</a:t>
            </a:r>
          </a:p>
          <a:p xmlns:a="http://schemas.openxmlformats.org/drawingml/2006/main">
            <a:r>
              <a:t>- 웹 교안은 설명·원문·출력 예를 제공합니다. Python 실행기는 아닙니다.</a:t>
            </a:r>
          </a:p>
          <a:p xmlns:a="http://schemas.openxmlformats.org/drawingml/2006/main">
            <a:r>
              <a:t/>
            </a:r>
          </a:p>
          <a:p xmlns:a="http://schemas.openxmlformats.org/drawingml/2006/main">
            <a:r>
              <a:t>## 참여 순서</a:t>
            </a:r>
          </a:p>
          <a:p xmlns:a="http://schemas.openxmlformats.org/drawingml/2006/main">
            <a:r>
              <a:t/>
            </a:r>
          </a:p>
          <a:p xmlns:a="http://schemas.openxmlformats.org/drawingml/2006/main">
            <a:r>
              <a:t>1. 압축을 일반 폴더에 풀고 data·code·work의 위치를 유지합니다.</a:t>
            </a:r>
          </a:p>
          <a:p xmlns:a="http://schemas.openxmlformats.org/drawingml/2006/main">
            <a:r>
              <a:t>2. lesson의 개념을 읽고 activity-guide의 해당 활동 입력을 엽니다.</a:t>
            </a:r>
          </a:p>
          <a:p xmlns:a="http://schemas.openxmlformats.org/drawingml/2006/main">
            <a:r>
              <a:t>3. work의 답칸에 예상과 이유를 먼저 쓰고 지정한 값을 수정합니다.</a:t>
            </a:r>
          </a:p>
          <a:p xmlns:a="http://schemas.openxmlformats.org/drawingml/2006/main">
            <a:r>
              <a:t>4. 저장한 work 파일을 실행합니다. 실행할 수 없으면 예상한 결과를 강사의 출력이나 제공된 예와 비교합니다.</a:t>
            </a:r>
          </a:p>
          <a:p xmlns:a="http://schemas.openxmlformats.org/drawingml/2006/main">
            <a:r>
              <a:t>5. 확인 방식을 기록합니다. 개인 실행을 하지 않았으면 실행 성공으로 적지 않습니다.</a:t>
            </a:r>
          </a:p>
          <a:p xmlns:a="http://schemas.openxmlformats.org/drawingml/2006/main">
            <a:r>
              <a:t/>
            </a:r>
          </a:p>
          <a:p xmlns:a="http://schemas.openxmlformats.org/drawingml/2006/main">
            <a:r>
              <a:t>## 도구를 준비하지 못했을 때</a:t>
            </a:r>
          </a:p>
          <a:p xmlns:a="http://schemas.openxmlformats.org/drawingml/2006/main">
            <a:r>
              <a:t/>
            </a:r>
          </a:p>
          <a:p xmlns:a="http://schemas.openxmlformats.org/drawingml/2006/main">
            <a:r>
              <a:t>설치가 안 되면 제공된 코드와 출력으로 수업을 따라갑니다. 같은 입력값을 넣고 한 줄씩 처리한 뒤의 값을 종이에 적어 봅니다. 강사가 실행 환경을 준비하면 직접 실행해 확인합니다.</a:t>
            </a:r>
          </a:p>
          <a:p xmlns:a="http://schemas.openxmlformats.org/drawingml/2006/main">
            <a:r>
              <a:t/>
            </a:r>
          </a:p>
          <a:p xmlns:a="http://schemas.openxmlformats.org/drawingml/2006/main">
            <a:r>
              <a:t>[교안](lesson.md) · [실습](practice-guide.md) · [용어](glossary.md)</a:t>
            </a:r>
          </a:p>
          <a:p xmlns:a="http://schemas.openxmlformats.org/drawingml/2006/main">
            <a:r>
              <a:t/>
            </a:r>
          </a:p>
          <a:p xmlns:a="http://schemas.openxmlformats.org/drawingml/2006/main">
            <a:r>
              <a:t/>
            </a:r>
          </a:p>
          <a:p xmlns:a="http://schemas.openxmlformats.org/drawingml/2006/main">
            <a:r>
              <a:t>## 수업 전, 이 세 가지부터 확인하세요</a:t>
            </a:r>
          </a:p>
          <a:p xmlns:a="http://schemas.openxmlformats.org/drawingml/2006/main">
            <a:r>
              <a:t/>
            </a:r>
          </a:p>
          <a:p xmlns:a="http://schemas.openxmlformats.org/drawingml/2006/main">
            <a:r>
              <a:t>앞선 수업을 기억하지 못해도 아래 질문과 풀이부터 다시 읽으면 됩니다. 먼저 답을 적어 보고 풀이와 비교하세요.</a:t>
            </a:r>
          </a:p>
          <a:p xmlns:a="http://schemas.openxmlformats.org/drawingml/2006/main">
            <a:r>
              <a:t/>
            </a:r>
          </a:p>
          <a:p xmlns:a="http://schemas.openxmlformats.org/drawingml/2006/main">
            <a:r>
              <a:t>### 함수의 입력과 결과</a:t>
            </a:r>
          </a:p>
          <a:p xmlns:a="http://schemas.openxmlformats.org/drawingml/2006/main">
            <a:r>
              <a:t/>
            </a:r>
          </a:p>
          <a:p xmlns:a="http://schemas.openxmlformats.org/drawingml/2006/main">
            <a:r>
              <a:t>질문: 함수 안에서 print만 했다면 호출한 곳이 그 숫자를 계산에 쓸 수 있나요?</a:t>
            </a:r>
          </a:p>
          <a:p xmlns:a="http://schemas.openxmlformats.org/drawingml/2006/main">
            <a:r>
              <a:t/>
            </a:r>
          </a:p>
          <a:p xmlns:a="http://schemas.openxmlformats.org/drawingml/2006/main">
            <a:r>
              <a:t>풀이: 화면 표시와 return으로 돌려주는 결과를 구분합니다. 호출 결과를 다른 계산에 쓰려면 필요한 값을 돌려줘야 합니다.</a:t>
            </a:r>
          </a:p>
          <a:p xmlns:a="http://schemas.openxmlformats.org/drawingml/2006/main">
            <a:r>
              <a:t/>
            </a:r>
          </a:p>
          <a:p xmlns:a="http://schemas.openxmlformats.org/drawingml/2006/main">
            <a:r>
              <a:t>### 파일 읽기</a:t>
            </a:r>
          </a:p>
          <a:p xmlns:a="http://schemas.openxmlformats.org/drawingml/2006/main">
            <a:r>
              <a:t/>
            </a:r>
          </a:p>
          <a:p xmlns:a="http://schemas.openxmlformats.org/drawingml/2006/main">
            <a:r>
              <a:t>질문: CSV 칸에 28.0이 적혀 있으면 자동으로 float인가요?</a:t>
            </a:r>
          </a:p>
          <a:p xmlns:a="http://schemas.openxmlformats.org/drawingml/2006/main">
            <a:r>
              <a:t/>
            </a:r>
          </a:p>
          <a:p xmlns:a="http://schemas.openxmlformats.org/drawingml/2006/main">
            <a:r>
              <a:t>풀이: 일반적인 CSV 읽기는 문자열 값을 줍니다. 공백·누락·변환 실패를 확인한 뒤 숫자로 바꿉니다.</a:t>
            </a:r>
          </a:p>
          <a:p xmlns:a="http://schemas.openxmlformats.org/drawingml/2006/main">
            <a:r>
              <a:t/>
            </a:r>
          </a:p>
          <a:p xmlns:a="http://schemas.openxmlformats.org/drawingml/2006/main">
            <a:r>
              <a:t>### 미측정</a:t>
            </a:r>
          </a:p>
          <a:p xmlns:a="http://schemas.openxmlformats.org/drawingml/2006/main">
            <a:r>
              <a:t/>
            </a:r>
          </a:p>
          <a:p xmlns:a="http://schemas.openxmlformats.org/drawingml/2006/main">
            <a:r>
              <a:t>질문: 빈 온도를 0으로 바꾸면 평균은 어떻게 되나요?</a:t>
            </a:r>
          </a:p>
          <a:p xmlns:a="http://schemas.openxmlformats.org/drawingml/2006/main">
            <a:r>
              <a:t/>
            </a:r>
          </a:p>
          <a:p xmlns:a="http://schemas.openxmlformats.org/drawingml/2006/main">
            <a:r>
              <a:t>풀이: 측정하지 않은 기록이 실제 0도처럼 계산되어 평균을 낮춥니다. 측정 여부와 정상 숫자를 따로 기록합니다.</a:t>
            </a:r>
          </a:p>
          <a:p xmlns:a="http://schemas.openxmlformats.org/drawingml/2006/main">
            <a:r>
              <a:t/>
            </a:r>
          </a:p>
          <a:p xmlns:a="http://schemas.openxmlformats.org/drawingml/2006/main">
            <a:r>
              <a:t>## 오늘의 수업과 복습을 나누는 방법</a:t>
            </a:r>
          </a:p>
          <a:p xmlns:a="http://schemas.openxmlformats.org/drawingml/2006/main">
            <a:r>
              <a:t/>
            </a:r>
          </a:p>
          <a:p xmlns:a="http://schemas.openxmlformats.org/drawingml/2006/main">
            <a:r>
              <a:t>수업은 10:00~10:50, 11:00~11:50, 13:00~13:50, 14:00~14:50, 15:00~15:50, 16:00~16:50입니다. 중식은 11:50~13:00이며 수업 사이에는 10분 쉽니다. 마지막 16:50~17:00은 휴식과 저장·퇴실 준비로 배치했습니다.</a:t>
            </a:r>
          </a:p>
          <a:p xmlns:a="http://schemas.openxmlformats.org/drawingml/2006/main">
            <a:r>
              <a:t/>
            </a:r>
          </a:p>
          <a:p xmlns:a="http://schemas.openxmlformats.org/drawingml/2006/main">
            <a:r>
              <a:t>| 교시 | 수업에서 먼저 확인할 활동 | 추가·복습 |</a:t>
            </a:r>
          </a:p>
          <a:p xmlns:a="http://schemas.openxmlformats.org/drawingml/2006/main">
            <a:r>
              <a:t>|---|---|---|</a:t>
            </a:r>
          </a:p>
          <a:p xmlns:a="http://schemas.openxmlformats.org/drawingml/2006/main">
            <a:r>
              <a:t>| 1 | A01, A02, A03 | 새 입력으로 한 번 더 확인 |</a:t>
            </a:r>
          </a:p>
          <a:p xmlns:a="http://schemas.openxmlformats.org/drawingml/2006/main">
            <a:r>
              <a:t>| 2 | A04, A05, A06 | 새 입력으로 한 번 더 확인 |</a:t>
            </a:r>
          </a:p>
          <a:p xmlns:a="http://schemas.openxmlformats.org/drawingml/2006/main">
            <a:r>
              <a:t>| 3 | A07, A08, A09 | 새 입력으로 한 번 더 확인 |</a:t>
            </a:r>
          </a:p>
          <a:p xmlns:a="http://schemas.openxmlformats.org/drawingml/2006/main">
            <a:r>
              <a:t>| 4 | A10, A11, A12 | 새 입력으로 한 번 더 확인 |</a:t>
            </a:r>
          </a:p>
          <a:p xmlns:a="http://schemas.openxmlformats.org/drawingml/2006/main">
            <a:r>
              <a:t>| 5 | A13, A14, A15 | 새 입력으로 한 번 더 확인 |</a:t>
            </a:r>
          </a:p>
          <a:p xmlns:a="http://schemas.openxmlformats.org/drawingml/2006/main">
            <a:r>
              <a:t>| 6 | A16, A17, A18 | 새 입력으로 한 번 더 확인 |</a:t>
            </a:r>
          </a:p>
          <a:p xmlns:a="http://schemas.openxmlformats.org/drawingml/2006/main">
            <a:r>
              <a:t/>
            </a:r>
          </a:p>
          <a:p xmlns:a="http://schemas.openxmlformats.org/drawingml/2006/main">
            <a:r>
              <a:t>교안의 사례와 풀이를 읽고 필수 활동을 해 봅니다. 결과를 확인했으면 추가 문제로 복습하세요. 모든 페이지를 수업 시간 안에 마칠 필요는 없습니다. 실행이 안 되면 제공된 출력과 비교하며 코드의 처리 순서를 적어 봅니다. 직접 실행했는지는 따로 표시합니다.</a:t>
            </a:r>
          </a:p>
          <a:p xmlns:a="http://schemas.openxmlformats.org/drawingml/2006/main">
            <a:r>
              <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전날의 변수·조건·반복도 뜻을 다시 읽습니다. 제공 코드 전체를 독립 작성하는 능력을 필수로 요구하지 않습니다.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강사가 먼저 예를 보여 준 뒤 학생과 함께 확인합니다. 학생이 직접 해 본 결과를 예상과 비교하고, 달라진 이유를 설명하게 합니다.</a:t>
            </a:r>
          </a:p>
          <a:p xmlns:a="http://schemas.openxmlformats.org/drawingml/2006/main">
            <a:r>
              <a:t/>
            </a:r>
          </a:p>
          <a:p xmlns:a="http://schemas.openxmlformats.org/drawingml/2006/main">
            <a:r>
              <a:t>[활동 A01 상세 원문]</a:t>
            </a:r>
          </a:p>
          <a:p xmlns:a="http://schemas.openxmlformats.org/drawingml/2006/main">
            <a:r>
              <a:t>### 사례로 이해하기 · 함수가 받을 값과 돌려줄 결과 정하기</a:t>
            </a:r>
          </a:p>
          <a:p xmlns:a="http://schemas.openxmlformats.org/drawingml/2006/main">
            <a:r>
              <a:t/>
            </a:r>
          </a:p>
          <a:p xmlns:a="http://schemas.openxmlformats.org/drawingml/2006/main">
            <a:r>
              <a:t/>
            </a:r>
          </a:p>
          <a:p xmlns:a="http://schemas.openxmlformats.org/drawingml/2006/main">
            <a:r>
              <a:t/>
            </a:r>
          </a:p>
          <a:p xmlns:a="http://schemas.openxmlformats.org/drawingml/2006/main">
            <a:r>
              <a:t>안내 데스크는 방문자 이름을 받아 같은 환영 문장을 만듭니다. 이름마다 문장을 복사하면 한 문구를 고칠 때 여러 곳을 찾아야 합니다. 함수는 공통 절차를 이름 붙여 묶는 방법입니다. 코드를 적기 전에 ‘이름 문자열을 받아 환영 문장 문자열을 돌려준다’라는 규칙을 적습니다. 입력은 호출자가 건네는 값, 처리는 문장을 만드는 일, 결과는 호출자가 다시 사용할 값입니다. 이 세 역할이 분명해야 함수를 어디까지 묶을지 판단할 수 있습니다.</a:t>
            </a:r>
          </a:p>
          <a:p xmlns:a="http://schemas.openxmlformats.org/drawingml/2006/main">
            <a:r>
              <a:t/>
            </a:r>
          </a:p>
          <a:p xmlns:a="http://schemas.openxmlformats.org/drawingml/2006/main">
            <a:r>
              <a:t>매개변수는 받을 값의 자리 이름이고 인자는 실제 호출에서 건네는 값입니다. 신청서의 이름 칸과 그 칸에 적는 민수라는 글의 관계로 생각합니다. 아래 완결 예를 work/E01_greeting.py라는 새 파일로 저장하고 course 폴더에서 `python -X utf8 work/E01_greeting.py`를 실행합니다.</a:t>
            </a:r>
          </a:p>
          <a:p xmlns:a="http://schemas.openxmlformats.org/drawingml/2006/main">
            <a:r>
              <a:t/>
            </a:r>
          </a:p>
          <a:p xmlns:a="http://schemas.openxmlformats.org/drawingml/2006/main">
            <a:r>
              <a:t>```python</a:t>
            </a:r>
          </a:p>
          <a:p xmlns:a="http://schemas.openxmlformats.org/drawingml/2006/main">
            <a:r>
              <a:t>def make_greeting(name):</a:t>
            </a:r>
          </a:p>
          <a:p xmlns:a="http://schemas.openxmlformats.org/drawingml/2006/main">
            <a:r>
              <a:t>    return "안녕하세요, " + name</a:t>
            </a:r>
          </a:p>
          <a:p xmlns:a="http://schemas.openxmlformats.org/drawingml/2006/main">
            <a:r>
              <a:t>first = make_greeting("민수")</a:t>
            </a:r>
          </a:p>
          <a:p xmlns:a="http://schemas.openxmlformats.org/drawingml/2006/main">
            <a:r>
              <a:t>second = make_greeting("지아")</a:t>
            </a:r>
          </a:p>
          <a:p xmlns:a="http://schemas.openxmlformats.org/drawingml/2006/main">
            <a:r>
              <a:t>print(first)</a:t>
            </a:r>
          </a:p>
          <a:p xmlns:a="http://schemas.openxmlformats.org/drawingml/2006/main">
            <a:r>
              <a:t>print(second)</a:t>
            </a:r>
          </a:p>
          <a:p xmlns:a="http://schemas.openxmlformats.org/drawingml/2006/main">
            <a:r>
              <a:t>```</a:t>
            </a:r>
          </a:p>
          <a:p xmlns:a="http://schemas.openxmlformats.org/drawingml/2006/main">
            <a:r>
              <a:t/>
            </a:r>
          </a:p>
          <a:p xmlns:a="http://schemas.openxmlformats.org/drawingml/2006/main">
            <a:r>
              <a:t>첫 줄의 def는 작업을 정의하고 괄호 안 name은 받을 자리입니다. 콜론 뒤 들여쓴 둘째 줄은 호출 때 문자열을 연결하고 return으로 돌려줍니다. 셋째 줄은 “민수”를 주고 받은 문장을 first에 연결합니다. 넷째 줄은 별도 호출에 “지아”를 주고 second에 연결합니다. 마지막 두 줄은 각 결과를 표시합니다. 예상 출력은 ‘안녕하세요, 민수’와 ‘안녕하세요, 지아’ 두 줄입니다. 정의 자체에서는 인사가 출력되지 않습니다.</a:t>
            </a:r>
          </a:p>
          <a:p xmlns:a="http://schemas.openxmlformats.org/drawingml/2006/main">
            <a:r>
              <a:t/>
            </a:r>
          </a:p>
          <a:p xmlns:a="http://schemas.openxmlformats.org/drawingml/2006/main">
            <a:r>
              <a:t>두 호출은 같은 작업을 쓰지만 다른 입력으로 다른 결과를 얻습니다. 함수 안 name이 항상 민수라고 외우면 둘째 호출을 잘못 읽습니다. 들여쓰기가 빠지면 함수 본문의 경계가 깨져 오류가 날 수 있으므로 둘째 줄 앞 공백을 확인합니다. 이름을 숫자로 주면 문자열 연결이 실패할 수 있으므로 오늘 함수는 문자열만 받도록 정했습니다. 실제 계정 조회나 메시지 전송은 하지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물품 라벨에 상품명과 보관함을 받아 ‘장갑 / B02’처럼 한 문자열을 만드는 작업을 설계하세요. 입력 자리 두 개, 반환할 종류, 순서를 바꿨을 때 생길 문제를 문장으로 쓰세요. 첫 입력은 장갑/B02, 둘째 입력은 마스크/A01입니다. 이 두 호출의 결과를 예상하세요.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입력은 상품명·보관함 문자열, 결과는 두 내용을 순서대로 연결한 문자열입니다. 장갑/B02와 마스크/A01의 결과는 각 입력에 따라 달라집니다. 순서를 바꾸면 B02 / 장갑처럼 업무 양식이 달라집니다. 컴퓨터가 이름의 뜻을 추측해 입력 위치를 고쳐 준다는 답은 오답입니다.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**정의하면 바로 실행되나요?** 본문은 해당 함수를 호출했을 때 실행됩니다.</a:t>
            </a:r>
          </a:p>
          <a:p xmlns:a="http://schemas.openxmlformats.org/drawingml/2006/main">
            <a:r>
              <a:t/>
            </a:r>
          </a:p>
          <a:p xmlns:a="http://schemas.openxmlformats.org/drawingml/2006/main">
            <a:r>
              <a:t>2. **매개변수와 인자는 같은 이름인가요?** 매개변수는 받을 자리, 인자는 호출에서 준 실제 값입니다.</a:t>
            </a:r>
          </a:p>
          <a:p xmlns:a="http://schemas.openxmlformats.org/drawingml/2006/main">
            <a:r>
              <a:t/>
            </a:r>
          </a:p>
          <a:p xmlns:a="http://schemas.openxmlformats.org/drawingml/2006/main">
            <a:r>
              <a:t>3. **어떤 코드를 함수로 묶나요?** 공통 작업과 입력·결과 규칙이 분명한 부분을 먼저 묶습니다.</a:t>
            </a:r>
          </a:p>
          <a:p xmlns:a="http://schemas.openxmlformats.org/drawingml/2006/main">
            <a:r>
              <a:t/>
            </a:r>
          </a:p>
          <a:p xmlns:a="http://schemas.openxmlformats.org/drawingml/2006/main">
            <a:r>
              <a:t/>
            </a:r>
          </a:p>
          <a:p xmlns:a="http://schemas.openxmlformats.org/drawingml/2006/main">
            <a:r>
              <a:t>**개념.** 함수는 한 가지 일을 이름 붙여 묶은 코드입니다. 매번 같은 안내 절차를 읽는 대신 ‘온도 상태 확인’이라는 작업을 정해 두고 필요한 값으로 부를 수 있습니다. 무엇을 입력하고 무엇을 결과로 돌려줄지 먼저 정합니다.</a:t>
            </a:r>
          </a:p>
          <a:p xmlns:a="http://schemas.openxmlformats.org/drawingml/2006/main">
            <a:r>
              <a:t/>
            </a:r>
          </a:p>
          <a:p xmlns:a="http://schemas.openxmlformats.org/drawingml/2006/main">
            <a:r>
              <a:t>**왜 필요한가.** 같은 조건식을 여러 곳에 복사하면 한 곳만 수정하고 다른 곳을 놓칠 수 있습니다. 반복되는 규칙을 모으면 변경 위치를 찾기 쉽습니다. 첫 코드부터 모든 줄을 함수로 만들 필요는 없습니다.</a:t>
            </a:r>
          </a:p>
          <a:p xmlns:a="http://schemas.openxmlformats.org/drawingml/2006/main">
            <a:r>
              <a:t/>
            </a:r>
          </a:p>
          <a:p xmlns:a="http://schemas.openxmlformats.org/drawingml/2006/main">
            <a:r>
              <a:t>**함께 보는 예.** 온도 22.5·25.0·24.0을 각각 24.0과 비교합니다. 공통 작업은 비교하여 상태를 정하는 과정이며 달라지는 것은 입력 온도입니다. 같은 업무 이름에 다른 입력을 줄 수 있습니다.</a:t>
            </a:r>
          </a:p>
          <a:p xmlns:a="http://schemas.openxmlformats.org/drawingml/2006/main">
            <a:r>
              <a:t/>
            </a:r>
          </a:p>
          <a:p xmlns:a="http://schemas.openxmlformats.org/drawingml/2006/main">
            <a:r>
              <a:t>**헷갈리는 경우.** 이름이 check라고 해서 검증을 모두 수행하는 것은 아닙니다. 본문이 실제로 어떤 조건을 보는지 읽어야 합니다. 함수 이름은 약속을 설명하지만 정확성을 보장하지 않습니다.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세 업무: 22.5와24.0 비교 / 25.0과24.0 비교 / 24.0과24.0 비교.</a:t>
            </a:r>
          </a:p>
          <a:p xmlns:a="http://schemas.openxmlformats.org/drawingml/2006/main">
            <a:r>
              <a:t>답칸: 공통 작업 / 달라지는 입력 / 결과 / 이름 제안.</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같은 부분과 다른 값을 구별합니다.</a:t>
            </a:r>
          </a:p>
          <a:p xmlns:a="http://schemas.openxmlformats.org/drawingml/2006/main">
            <a:r>
              <a:t>2. 공통 작업에 temperature_status라는 이름을 붙입니다.</a:t>
            </a:r>
          </a:p>
          <a:p xmlns:a="http://schemas.openxmlformats.org/drawingml/2006/main">
            <a:r>
              <a:t>3. 받을 값과 결과의 뜻을 문장으로 씁니다.</a:t>
            </a:r>
          </a:p>
          <a:p xmlns:a="http://schemas.openxmlformats.org/drawingml/2006/main">
            <a:r>
              <a:t>4. 기준 변경 때 수정할 위치를 비교합니다.</a:t>
            </a:r>
          </a:p>
          <a:p xmlns:a="http://schemas.openxmlformats.org/drawingml/2006/main">
            <a:r>
              <a:t/>
            </a:r>
          </a:p>
          <a:p xmlns:a="http://schemas.openxmlformats.org/drawingml/2006/main">
            <a:r>
              <a:t>예상 결과: 공통 규칙·온도 입력·상태 결과를 구별합니다.</a:t>
            </a:r>
          </a:p>
          <a:p xmlns:a="http://schemas.openxmlformats.org/drawingml/2006/main">
            <a:r>
              <a:t/>
            </a:r>
          </a:p>
          <a:p xmlns:a="http://schemas.openxmlformats.org/drawingml/2006/main">
            <a:r>
              <a:t>확인 질문: 줄 수가 짧으면 함수가 필요 없다고 단정할 수 있나요?</a:t>
            </a:r>
          </a:p>
          <a:p xmlns:a="http://schemas.openxmlformats.org/drawingml/2006/main">
            <a:r>
              <a:t/>
            </a:r>
          </a:p>
          <a:p xmlns:a="http://schemas.openxmlformats.org/drawingml/2006/main">
            <a:r>
              <a:t>막혔을 때: 입력 카드 한 장을 받고 상태 카드 한 장을 돌려주는 역할극으로 그립니다.</a:t>
            </a:r>
          </a:p>
          <a:p xmlns:a="http://schemas.openxmlformats.org/drawingml/2006/main">
            <a:r>
              <a:t/>
            </a:r>
          </a:p>
          <a:p xmlns:a="http://schemas.openxmlformats.org/drawingml/2006/main">
            <a:r>
              <a:t>[활동 자료와 작성칸](practice-guide.md#a01--같은-업무를-함수로-묶는-이유)에서 A01를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https://zeusk302-png.github.io/kdigital-physical-ai/#/sessions/2026-10-15/lesson?activity=A01</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A01 상세 원문]</a:t>
            </a:r>
          </a:p>
          <a:p xmlns:a="http://schemas.openxmlformats.org/drawingml/2006/main">
            <a:r>
              <a:t>### 사례로 이해하기 · 함수가 받을 값과 돌려줄 결과 정하기</a:t>
            </a:r>
          </a:p>
          <a:p xmlns:a="http://schemas.openxmlformats.org/drawingml/2006/main">
            <a:r>
              <a:t/>
            </a:r>
          </a:p>
          <a:p xmlns:a="http://schemas.openxmlformats.org/drawingml/2006/main">
            <a:r>
              <a:t/>
            </a:r>
          </a:p>
          <a:p xmlns:a="http://schemas.openxmlformats.org/drawingml/2006/main">
            <a:r>
              <a:t/>
            </a:r>
          </a:p>
          <a:p xmlns:a="http://schemas.openxmlformats.org/drawingml/2006/main">
            <a:r>
              <a:t>안내 데스크는 방문자 이름을 받아 같은 환영 문장을 만듭니다. 이름마다 문장을 복사하면 한 문구를 고칠 때 여러 곳을 찾아야 합니다. 함수는 공통 절차를 이름 붙여 묶는 방법입니다. 코드를 적기 전에 ‘이름 문자열을 받아 환영 문장 문자열을 돌려준다’라는 규칙을 적습니다. 입력은 호출자가 건네는 값, 처리는 문장을 만드는 일, 결과는 호출자가 다시 사용할 값입니다. 이 세 역할이 분명해야 함수를 어디까지 묶을지 판단할 수 있습니다.</a:t>
            </a:r>
          </a:p>
          <a:p xmlns:a="http://schemas.openxmlformats.org/drawingml/2006/main">
            <a:r>
              <a:t/>
            </a:r>
          </a:p>
          <a:p xmlns:a="http://schemas.openxmlformats.org/drawingml/2006/main">
            <a:r>
              <a:t>매개변수는 받을 값의 자리 이름이고 인자는 실제 호출에서 건네는 값입니다. 신청서의 이름 칸과 그 칸에 적는 민수라는 글의 관계로 생각합니다. 아래 완결 예를 work/E01_greeting.py라는 새 파일로 저장하고 course 폴더에서 `python -X utf8 work/E01_greeting.py`를 실행합니다.</a:t>
            </a:r>
          </a:p>
          <a:p xmlns:a="http://schemas.openxmlformats.org/drawingml/2006/main">
            <a:r>
              <a:t/>
            </a:r>
          </a:p>
          <a:p xmlns:a="http://schemas.openxmlformats.org/drawingml/2006/main">
            <a:r>
              <a:t>```python</a:t>
            </a:r>
          </a:p>
          <a:p xmlns:a="http://schemas.openxmlformats.org/drawingml/2006/main">
            <a:r>
              <a:t>def make_greeting(name):</a:t>
            </a:r>
          </a:p>
          <a:p xmlns:a="http://schemas.openxmlformats.org/drawingml/2006/main">
            <a:r>
              <a:t>    return "안녕하세요, " + name</a:t>
            </a:r>
          </a:p>
          <a:p xmlns:a="http://schemas.openxmlformats.org/drawingml/2006/main">
            <a:r>
              <a:t>first = make_greeting("민수")</a:t>
            </a:r>
          </a:p>
          <a:p xmlns:a="http://schemas.openxmlformats.org/drawingml/2006/main">
            <a:r>
              <a:t>second = make_greeting("지아")</a:t>
            </a:r>
          </a:p>
          <a:p xmlns:a="http://schemas.openxmlformats.org/drawingml/2006/main">
            <a:r>
              <a:t>print(first)</a:t>
            </a:r>
          </a:p>
          <a:p xmlns:a="http://schemas.openxmlformats.org/drawingml/2006/main">
            <a:r>
              <a:t>print(second)</a:t>
            </a:r>
          </a:p>
          <a:p xmlns:a="http://schemas.openxmlformats.org/drawingml/2006/main">
            <a:r>
              <a:t>```</a:t>
            </a:r>
          </a:p>
          <a:p xmlns:a="http://schemas.openxmlformats.org/drawingml/2006/main">
            <a:r>
              <a:t/>
            </a:r>
          </a:p>
          <a:p xmlns:a="http://schemas.openxmlformats.org/drawingml/2006/main">
            <a:r>
              <a:t>첫 줄의 def는 작업을 정의하고 괄호 안 name은 받을 자리입니다. 콜론 뒤 들여쓴 둘째 줄은 호출 때 문자열을 연결하고 return으로 돌려줍니다. 셋째 줄은 “민수”를 주고 받은 문장을 first에 연결합니다. 넷째 줄은 별도 호출에 “지아”를 주고 second에 연결합니다. 마지막 두 줄은 각 결과를 표시합니다. 예상 출력은 ‘안녕하세요, 민수’와 ‘안녕하세요, 지아’ 두 줄입니다. 정의 자체에서는 인사가 출력되지 않습니다.</a:t>
            </a:r>
          </a:p>
          <a:p xmlns:a="http://schemas.openxmlformats.org/drawingml/2006/main">
            <a:r>
              <a:t/>
            </a:r>
          </a:p>
          <a:p xmlns:a="http://schemas.openxmlformats.org/drawingml/2006/main">
            <a:r>
              <a:t>두 호출은 같은 작업을 쓰지만 다른 입력으로 다른 결과를 얻습니다. 함수 안 name이 항상 민수라고 외우면 둘째 호출을 잘못 읽습니다. 들여쓰기가 빠지면 함수 본문의 경계가 깨져 오류가 날 수 있으므로 둘째 줄 앞 공백을 확인합니다. 이름을 숫자로 주면 문자열 연결이 실패할 수 있으므로 오늘 함수는 문자열만 받도록 정했습니다. 실제 계정 조회나 메시지 전송은 하지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물품 라벨에 상품명과 보관함을 받아 ‘장갑 / B02’처럼 한 문자열을 만드는 작업을 설계하세요. 입력 자리 두 개, 반환할 종류, 순서를 바꿨을 때 생길 문제를 문장으로 쓰세요. 첫 입력은 장갑/B02, 둘째 입력은 마스크/A01입니다. 이 두 호출의 결과를 예상하세요.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입력은 상품명·보관함 문자열, 결과는 두 내용을 순서대로 연결한 문자열입니다. 장갑/B02와 마스크/A01의 결과는 각 입력에 따라 달라집니다. 순서를 바꾸면 B02 / 장갑처럼 업무 양식이 달라집니다. 컴퓨터가 이름의 뜻을 추측해 입력 위치를 고쳐 준다는 답은 오답입니다.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**정의하면 바로 실행되나요?** 본문은 해당 함수를 호출했을 때 실행됩니다.</a:t>
            </a:r>
          </a:p>
          <a:p xmlns:a="http://schemas.openxmlformats.org/drawingml/2006/main">
            <a:r>
              <a:t/>
            </a:r>
          </a:p>
          <a:p xmlns:a="http://schemas.openxmlformats.org/drawingml/2006/main">
            <a:r>
              <a:t>2. **매개변수와 인자는 같은 이름인가요?** 매개변수는 받을 자리, 인자는 호출에서 준 실제 값입니다.</a:t>
            </a:r>
          </a:p>
          <a:p xmlns:a="http://schemas.openxmlformats.org/drawingml/2006/main">
            <a:r>
              <a:t/>
            </a:r>
          </a:p>
          <a:p xmlns:a="http://schemas.openxmlformats.org/drawingml/2006/main">
            <a:r>
              <a:t>3. **어떤 코드를 함수로 묶나요?** 공통 작업과 입력·결과 규칙이 분명한 부분을 먼저 묶습니다.</a:t>
            </a:r>
          </a:p>
          <a:p xmlns:a="http://schemas.openxmlformats.org/drawingml/2006/main">
            <a:r>
              <a:t/>
            </a:r>
          </a:p>
          <a:p xmlns:a="http://schemas.openxmlformats.org/drawingml/2006/main">
            <a:r>
              <a:t/>
            </a:r>
          </a:p>
          <a:p xmlns:a="http://schemas.openxmlformats.org/drawingml/2006/main">
            <a:r>
              <a:t>**개념.** 함수는 한 가지 일을 이름 붙여 묶은 코드입니다. 매번 같은 안내 절차를 읽는 대신 ‘온도 상태 확인’이라는 작업을 정해 두고 필요한 값으로 부를 수 있습니다. 무엇을 입력하고 무엇을 결과로 돌려줄지 먼저 정합니다.</a:t>
            </a:r>
          </a:p>
          <a:p xmlns:a="http://schemas.openxmlformats.org/drawingml/2006/main">
            <a:r>
              <a:t/>
            </a:r>
          </a:p>
          <a:p xmlns:a="http://schemas.openxmlformats.org/drawingml/2006/main">
            <a:r>
              <a:t>**왜 필요한가.** 같은 조건식을 여러 곳에 복사하면 한 곳만 수정하고 다른 곳을 놓칠 수 있습니다. 반복되는 규칙을 모으면 변경 위치를 찾기 쉽습니다. 첫 코드부터 모든 줄을 함수로 만들 필요는 없습니다.</a:t>
            </a:r>
          </a:p>
          <a:p xmlns:a="http://schemas.openxmlformats.org/drawingml/2006/main">
            <a:r>
              <a:t/>
            </a:r>
          </a:p>
          <a:p xmlns:a="http://schemas.openxmlformats.org/drawingml/2006/main">
            <a:r>
              <a:t>**함께 보는 예.** 온도 22.5·25.0·24.0을 각각 24.0과 비교합니다. 공통 작업은 비교하여 상태를 정하는 과정이며 달라지는 것은 입력 온도입니다. 같은 업무 이름에 다른 입력을 줄 수 있습니다.</a:t>
            </a:r>
          </a:p>
          <a:p xmlns:a="http://schemas.openxmlformats.org/drawingml/2006/main">
            <a:r>
              <a:t/>
            </a:r>
          </a:p>
          <a:p xmlns:a="http://schemas.openxmlformats.org/drawingml/2006/main">
            <a:r>
              <a:t>**헷갈리는 경우.** 이름이 check라고 해서 검증을 모두 수행하는 것은 아닙니다. 본문이 실제로 어떤 조건을 보는지 읽어야 합니다. 함수 이름은 약속을 설명하지만 정확성을 보장하지 않습니다.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세 업무: 22.5와24.0 비교 / 25.0과24.0 비교 / 24.0과24.0 비교.</a:t>
            </a:r>
          </a:p>
          <a:p xmlns:a="http://schemas.openxmlformats.org/drawingml/2006/main">
            <a:r>
              <a:t>답칸: 공통 작업 / 달라지는 입력 / 결과 / 이름 제안.</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같은 부분과 다른 값을 구별합니다.</a:t>
            </a:r>
          </a:p>
          <a:p xmlns:a="http://schemas.openxmlformats.org/drawingml/2006/main">
            <a:r>
              <a:t>2. 공통 작업에 temperature_status라는 이름을 붙입니다.</a:t>
            </a:r>
          </a:p>
          <a:p xmlns:a="http://schemas.openxmlformats.org/drawingml/2006/main">
            <a:r>
              <a:t>3. 받을 값과 결과의 뜻을 문장으로 씁니다.</a:t>
            </a:r>
          </a:p>
          <a:p xmlns:a="http://schemas.openxmlformats.org/drawingml/2006/main">
            <a:r>
              <a:t>4. 기준 변경 때 수정할 위치를 비교합니다.</a:t>
            </a:r>
          </a:p>
          <a:p xmlns:a="http://schemas.openxmlformats.org/drawingml/2006/main">
            <a:r>
              <a:t/>
            </a:r>
          </a:p>
          <a:p xmlns:a="http://schemas.openxmlformats.org/drawingml/2006/main">
            <a:r>
              <a:t>예상 결과: 공통 규칙·온도 입력·상태 결과를 구별합니다.</a:t>
            </a:r>
          </a:p>
          <a:p xmlns:a="http://schemas.openxmlformats.org/drawingml/2006/main">
            <a:r>
              <a:t/>
            </a:r>
          </a:p>
          <a:p xmlns:a="http://schemas.openxmlformats.org/drawingml/2006/main">
            <a:r>
              <a:t>확인 질문: 줄 수가 짧으면 함수가 필요 없다고 단정할 수 있나요?</a:t>
            </a:r>
          </a:p>
          <a:p xmlns:a="http://schemas.openxmlformats.org/drawingml/2006/main">
            <a:r>
              <a:t/>
            </a:r>
          </a:p>
          <a:p xmlns:a="http://schemas.openxmlformats.org/drawingml/2006/main">
            <a:r>
              <a:t>막혔을 때: 입력 카드 한 장을 받고 상태 카드 한 장을 돌려주는 역할극으로 그립니다.</a:t>
            </a:r>
          </a:p>
          <a:p xmlns:a="http://schemas.openxmlformats.org/drawingml/2006/main">
            <a:r>
              <a:t/>
            </a:r>
          </a:p>
          <a:p xmlns:a="http://schemas.openxmlformats.org/drawingml/2006/main">
            <a:r>
              <a:t>[활동 자료와 작성칸](practice-guide.md#a01--같은-업무를-함수로-묶는-이유)에서 A01를 엽니다.</a:t>
            </a:r>
          </a:p>
          <a:p xmlns:a="http://schemas.openxmlformats.org/drawingml/2006/main">
            <a:r>
              <a:t/>
            </a:r>
          </a:p>
          <a:p xmlns:a="http://schemas.openxmlformats.org/drawingml/2006/main">
            <a:r>
              <a:t>화면 예의 출처: D:/KDigital_PhysicalAI/.build/copyedited-ppt/spec-2026-10-15.json#slide-12;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https://zeusk302-png.github.io/kdigital-physical-ai/#/sessions/2026-10-15/lesson?activity=A01</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code/A02_example.py</a:t>
            </a:r>
          </a:p>
          <a:p xmlns:a="http://schemas.openxmlformats.org/drawingml/2006/main">
            <a:r>
              <a:t>수정한 파일을 실행할 때는 code 대신 work 폴더를 지정합니다. 직접 실행할 수 없으면 입력값부터 코드의 처리 순서를 따라 적고 강사의 결과와 비교합니다.</a:t>
            </a:r>
          </a:p>
          <a:p xmlns:a="http://schemas.openxmlformats.org/drawingml/2006/main">
            <a:r>
              <a:t/>
            </a:r>
          </a:p>
          <a:p xmlns:a="http://schemas.openxmlformats.org/drawingml/2006/main">
            <a:r>
              <a:t>[활동 A02 상세 원문]</a:t>
            </a:r>
          </a:p>
          <a:p xmlns:a="http://schemas.openxmlformats.org/drawingml/2006/main">
            <a:r>
              <a:t>**개념.** def는 함수를 정의하는 문장입니다. 이름 뒤 괄호와 콜론을 쓰고 들여쓴 줄을 함수 본문으로 묶습니다. 정의만 하면 본문은 아직 실행되지 않으며 이름을 괄호와 함께 불러야 합니다.</a:t>
            </a:r>
          </a:p>
          <a:p xmlns:a="http://schemas.openxmlformats.org/drawingml/2006/main">
            <a:r>
              <a:t/>
            </a:r>
          </a:p>
          <a:p xmlns:a="http://schemas.openxmlformats.org/drawingml/2006/main">
            <a:r>
              <a:t>**왜 필요한가.** 위에서 아래로 읽는 원리는 유지하지만 함수 본문은 호출할 때 실행됩니다. 정의 위치와 실제 실행 시점을 나누어 보면 출력 순서가 이해됩니다.</a:t>
            </a:r>
          </a:p>
          <a:p xmlns:a="http://schemas.openxmlformats.org/drawingml/2006/main">
            <a:r>
              <a:t/>
            </a:r>
          </a:p>
          <a:p xmlns:a="http://schemas.openxmlformats.org/drawingml/2006/main">
            <a:r>
              <a:t>**함께 보는 예.** show_notice를 정의한 뒤 준비를 출력합니다. 함수 호출 때 안내가 나오고 호출에서 돌아온 뒤 끝이 나옵니다. 함수 본문의 줄 번호가 위에 있다고 가장 먼저 출력되는 것은 아닙니다.</a:t>
            </a:r>
          </a:p>
          <a:p xmlns:a="http://schemas.openxmlformats.org/drawingml/2006/main">
            <a:r>
              <a:t/>
            </a:r>
          </a:p>
          <a:p xmlns:a="http://schemas.openxmlformats.org/drawingml/2006/main">
            <a:r>
              <a:t>**헷갈리는 경우.** show_notice라고 이름만 적는 것과 show_notice()로 호출하는 것은 다릅니다. 괄호는 실제 작업을 요청하는 표기입니다.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show_notice():</a:t>
            </a:r>
          </a:p>
          <a:p xmlns:a="http://schemas.openxmlformats.org/drawingml/2006/main">
            <a:r>
              <a:t>    print("점검을 시작합니다")</a:t>
            </a:r>
          </a:p>
          <a:p xmlns:a="http://schemas.openxmlformats.org/drawingml/2006/main">
            <a:r>
              <a:t>print("준비")</a:t>
            </a:r>
          </a:p>
          <a:p xmlns:a="http://schemas.openxmlformats.org/drawingml/2006/main">
            <a:r>
              <a:t>show_notice()</a:t>
            </a:r>
          </a:p>
          <a:p xmlns:a="http://schemas.openxmlformats.org/drawingml/2006/main">
            <a:r>
              <a:t>print("끝")</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show_notice():` | 안내하는 작업을 정의합니다. |</a:t>
            </a:r>
          </a:p>
          <a:p xmlns:a="http://schemas.openxmlformats.org/drawingml/2006/main">
            <a:r>
              <a:t>| 2 | `    print("점검을 시작합니다")` | 호출할 때 실행할 출력입니다. |</a:t>
            </a:r>
          </a:p>
          <a:p xmlns:a="http://schemas.openxmlformats.org/drawingml/2006/main">
            <a:r>
              <a:t>| 3 | `print("준비")` | 바깥에서 준비를 출력합니다. |</a:t>
            </a:r>
          </a:p>
          <a:p xmlns:a="http://schemas.openxmlformats.org/drawingml/2006/main">
            <a:r>
              <a:t>| 4 | `show_notice()` | 정의한 함수를 호출합니다. |</a:t>
            </a:r>
          </a:p>
          <a:p xmlns:a="http://schemas.openxmlformats.org/drawingml/2006/main">
            <a:r>
              <a:t>| 5 | `print("끝")` | 돌아온 뒤 끝을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code/A02_example.py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work/A02_example.py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준비</a:t>
            </a:r>
          </a:p>
          <a:p xmlns:a="http://schemas.openxmlformats.org/drawingml/2006/main">
            <a:r>
              <a:t>점검을 시작합니다</a:t>
            </a:r>
          </a:p>
          <a:p xmlns:a="http://schemas.openxmlformats.org/drawingml/2006/main">
            <a:r>
              <a:t>끝</a:t>
            </a:r>
          </a:p>
          <a:p xmlns:a="http://schemas.openxmlformats.org/drawingml/2006/main">
            <a:r>
              <a:t>```</a:t>
            </a:r>
          </a:p>
          <a:p xmlns:a="http://schemas.openxmlformats.org/drawingml/2006/main">
            <a:r>
              <a:t/>
            </a:r>
          </a:p>
          <a:p xmlns:a="http://schemas.openxmlformats.org/drawingml/2006/main">
            <a:r>
              <a:t>작은 수정: `show_notice()</a:t>
            </a:r>
          </a:p>
          <a:p xmlns:a="http://schemas.openxmlformats.org/drawingml/2006/main">
            <a:r>
              <a:t>print("끝")`를 `show_notice()</a:t>
            </a:r>
          </a:p>
          <a:p xmlns:a="http://schemas.openxmlformats.org/drawingml/2006/main">
            <a:r>
              <a:t>show_notice()</a:t>
            </a:r>
          </a:p>
          <a:p xmlns:a="http://schemas.openxmlformats.org/drawingml/2006/main">
            <a:r>
              <a:t>print("끝")`로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준비</a:t>
            </a:r>
          </a:p>
          <a:p xmlns:a="http://schemas.openxmlformats.org/drawingml/2006/main">
            <a:r>
              <a:t>점검을 시작합니다</a:t>
            </a:r>
          </a:p>
          <a:p xmlns:a="http://schemas.openxmlformats.org/drawingml/2006/main">
            <a:r>
              <a:t>점검을 시작합니다</a:t>
            </a:r>
          </a:p>
          <a:p xmlns:a="http://schemas.openxmlformats.org/drawingml/2006/main">
            <a:r>
              <a:t>끝</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정의와 호출을 표시합니다.</a:t>
            </a:r>
          </a:p>
          <a:p xmlns:a="http://schemas.openxmlformats.org/drawingml/2006/main">
            <a:r>
              <a:t>2. 실제 출력 순서를 씁니다.</a:t>
            </a:r>
          </a:p>
          <a:p xmlns:a="http://schemas.openxmlformats.org/drawingml/2006/main">
            <a:r>
              <a:t>3. 호출을 한 번 더 넣어 예상합니다.</a:t>
            </a:r>
          </a:p>
          <a:p xmlns:a="http://schemas.openxmlformats.org/drawingml/2006/main">
            <a:r>
              <a:t>4. 정의 횟수와 본문 실행 횟수를 설명합니다.</a:t>
            </a:r>
          </a:p>
          <a:p xmlns:a="http://schemas.openxmlformats.org/drawingml/2006/main">
            <a:r>
              <a:t/>
            </a:r>
          </a:p>
          <a:p xmlns:a="http://schemas.openxmlformats.org/drawingml/2006/main">
            <a:r>
              <a:t>예상 결과: 정의 한 번·호출 두 번이면 안내 출력 두 번.</a:t>
            </a:r>
          </a:p>
          <a:p xmlns:a="http://schemas.openxmlformats.org/drawingml/2006/main">
            <a:r>
              <a:t/>
            </a:r>
          </a:p>
          <a:p xmlns:a="http://schemas.openxmlformats.org/drawingml/2006/main">
            <a:r>
              <a:t>확인 질문: 정의만 하고 호출하지 않으면 본문 출력은 나오나요?</a:t>
            </a:r>
          </a:p>
          <a:p xmlns:a="http://schemas.openxmlformats.org/drawingml/2006/main">
            <a:r>
              <a:t/>
            </a:r>
          </a:p>
          <a:p xmlns:a="http://schemas.openxmlformats.org/drawingml/2006/main">
            <a:r>
              <a:t>막혔을 때: 본문 출력이 예상과 다르면 print가 함수 안에 들여써져 있는지 확인합니다.</a:t>
            </a:r>
          </a:p>
          <a:p xmlns:a="http://schemas.openxmlformats.org/drawingml/2006/main">
            <a:r>
              <a:t/>
            </a:r>
          </a:p>
          <a:p xmlns:a="http://schemas.openxmlformats.org/drawingml/2006/main">
            <a:r>
              <a:t>[활동 자료와 작성칸](practice-guide.md#a02--def로-정의하고-이름으로-호출하기)에서 A02를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https://zeusk302-png.github.io/kdigital-physical-ai/#/sessions/2026-10-15/lesson?activity=A02</a:t>
            </a:r>
          </a:p>
          <a:p xmlns:a="http://schemas.openxmlformats.org/drawingml/2006/main">
            <a:r>
              <a:t>공식 자료: https://docs.python.org/3/tutorial/controlflow.html</a:t>
            </a:r>
          </a:p>
          <a:p xmlns:a="http://schemas.openxmlformats.org/drawingml/2006/main">
            <a:r>
              <a:t/>
            </a:r>
          </a:p>
          <a:p xmlns:a="http://schemas.openxmlformats.org/drawingml/2006/main">
            <a:r>
              <a:t>코드와 개념 해설: def 줄은 작업을 정의하고 호출 줄이 본문을 실행합니다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A02 상세 원문]</a:t>
            </a:r>
          </a:p>
          <a:p xmlns:a="http://schemas.openxmlformats.org/drawingml/2006/main">
            <a:r>
              <a:t>**개념.** def는 함수를 정의하는 문장입니다. 이름 뒤 괄호와 콜론을 쓰고 들여쓴 줄을 함수 본문으로 묶습니다. 정의만 하면 본문은 아직 실행되지 않으며 이름을 괄호와 함께 불러야 합니다.</a:t>
            </a:r>
          </a:p>
          <a:p xmlns:a="http://schemas.openxmlformats.org/drawingml/2006/main">
            <a:r>
              <a:t/>
            </a:r>
          </a:p>
          <a:p xmlns:a="http://schemas.openxmlformats.org/drawingml/2006/main">
            <a:r>
              <a:t>**왜 필요한가.** 위에서 아래로 읽는 원리는 유지하지만 함수 본문은 호출할 때 실행됩니다. 정의 위치와 실제 실행 시점을 나누어 보면 출력 순서가 이해됩니다.</a:t>
            </a:r>
          </a:p>
          <a:p xmlns:a="http://schemas.openxmlformats.org/drawingml/2006/main">
            <a:r>
              <a:t/>
            </a:r>
          </a:p>
          <a:p xmlns:a="http://schemas.openxmlformats.org/drawingml/2006/main">
            <a:r>
              <a:t>**함께 보는 예.** show_notice를 정의한 뒤 준비를 출력합니다. 함수 호출 때 안내가 나오고 호출에서 돌아온 뒤 끝이 나옵니다. 함수 본문의 줄 번호가 위에 있다고 가장 먼저 출력되는 것은 아닙니다.</a:t>
            </a:r>
          </a:p>
          <a:p xmlns:a="http://schemas.openxmlformats.org/drawingml/2006/main">
            <a:r>
              <a:t/>
            </a:r>
          </a:p>
          <a:p xmlns:a="http://schemas.openxmlformats.org/drawingml/2006/main">
            <a:r>
              <a:t>**헷갈리는 경우.** show_notice라고 이름만 적는 것과 show_notice()로 호출하는 것은 다릅니다. 괄호는 실제 작업을 요청하는 표기입니다.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show_notice():</a:t>
            </a:r>
          </a:p>
          <a:p xmlns:a="http://schemas.openxmlformats.org/drawingml/2006/main">
            <a:r>
              <a:t>    print("점검을 시작합니다")</a:t>
            </a:r>
          </a:p>
          <a:p xmlns:a="http://schemas.openxmlformats.org/drawingml/2006/main">
            <a:r>
              <a:t>print("준비")</a:t>
            </a:r>
          </a:p>
          <a:p xmlns:a="http://schemas.openxmlformats.org/drawingml/2006/main">
            <a:r>
              <a:t>show_notice()</a:t>
            </a:r>
          </a:p>
          <a:p xmlns:a="http://schemas.openxmlformats.org/drawingml/2006/main">
            <a:r>
              <a:t>print("끝")</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show_notice():` | 안내하는 작업을 정의합니다. |</a:t>
            </a:r>
          </a:p>
          <a:p xmlns:a="http://schemas.openxmlformats.org/drawingml/2006/main">
            <a:r>
              <a:t>| 2 | `    print("점검을 시작합니다")` | 호출할 때 실행할 출력입니다. |</a:t>
            </a:r>
          </a:p>
          <a:p xmlns:a="http://schemas.openxmlformats.org/drawingml/2006/main">
            <a:r>
              <a:t>| 3 | `print("준비")` | 바깥에서 준비를 출력합니다. |</a:t>
            </a:r>
          </a:p>
          <a:p xmlns:a="http://schemas.openxmlformats.org/drawingml/2006/main">
            <a:r>
              <a:t>| 4 | `show_notice()` | 정의한 함수를 호출합니다. |</a:t>
            </a:r>
          </a:p>
          <a:p xmlns:a="http://schemas.openxmlformats.org/drawingml/2006/main">
            <a:r>
              <a:t>| 5 | `print("끝")` | 돌아온 뒤 끝을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code/A02_example.py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work/A02_example.py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준비</a:t>
            </a:r>
          </a:p>
          <a:p xmlns:a="http://schemas.openxmlformats.org/drawingml/2006/main">
            <a:r>
              <a:t>점검을 시작합니다</a:t>
            </a:r>
          </a:p>
          <a:p xmlns:a="http://schemas.openxmlformats.org/drawingml/2006/main">
            <a:r>
              <a:t>끝</a:t>
            </a:r>
          </a:p>
          <a:p xmlns:a="http://schemas.openxmlformats.org/drawingml/2006/main">
            <a:r>
              <a:t>```</a:t>
            </a:r>
          </a:p>
          <a:p xmlns:a="http://schemas.openxmlformats.org/drawingml/2006/main">
            <a:r>
              <a:t/>
            </a:r>
          </a:p>
          <a:p xmlns:a="http://schemas.openxmlformats.org/drawingml/2006/main">
            <a:r>
              <a:t>작은 수정: `show_notice()</a:t>
            </a:r>
          </a:p>
          <a:p xmlns:a="http://schemas.openxmlformats.org/drawingml/2006/main">
            <a:r>
              <a:t>print("끝")`를 `show_notice()</a:t>
            </a:r>
          </a:p>
          <a:p xmlns:a="http://schemas.openxmlformats.org/drawingml/2006/main">
            <a:r>
              <a:t>show_notice()</a:t>
            </a:r>
          </a:p>
          <a:p xmlns:a="http://schemas.openxmlformats.org/drawingml/2006/main">
            <a:r>
              <a:t>print("끝")`로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준비</a:t>
            </a:r>
          </a:p>
          <a:p xmlns:a="http://schemas.openxmlformats.org/drawingml/2006/main">
            <a:r>
              <a:t>점검을 시작합니다</a:t>
            </a:r>
          </a:p>
          <a:p xmlns:a="http://schemas.openxmlformats.org/drawingml/2006/main">
            <a:r>
              <a:t>점검을 시작합니다</a:t>
            </a:r>
          </a:p>
          <a:p xmlns:a="http://schemas.openxmlformats.org/drawingml/2006/main">
            <a:r>
              <a:t>끝</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정의와 호출을 표시합니다.</a:t>
            </a:r>
          </a:p>
          <a:p xmlns:a="http://schemas.openxmlformats.org/drawingml/2006/main">
            <a:r>
              <a:t>2. 실제 출력 순서를 씁니다.</a:t>
            </a:r>
          </a:p>
          <a:p xmlns:a="http://schemas.openxmlformats.org/drawingml/2006/main">
            <a:r>
              <a:t>3. 호출을 한 번 더 넣어 예상합니다.</a:t>
            </a:r>
          </a:p>
          <a:p xmlns:a="http://schemas.openxmlformats.org/drawingml/2006/main">
            <a:r>
              <a:t>4. 정의 횟수와 본문 실행 횟수를 설명합니다.</a:t>
            </a:r>
          </a:p>
          <a:p xmlns:a="http://schemas.openxmlformats.org/drawingml/2006/main">
            <a:r>
              <a:t/>
            </a:r>
          </a:p>
          <a:p xmlns:a="http://schemas.openxmlformats.org/drawingml/2006/main">
            <a:r>
              <a:t>예상 결과: 정의 한 번·호출 두 번이면 안내 출력 두 번.</a:t>
            </a:r>
          </a:p>
          <a:p xmlns:a="http://schemas.openxmlformats.org/drawingml/2006/main">
            <a:r>
              <a:t/>
            </a:r>
          </a:p>
          <a:p xmlns:a="http://schemas.openxmlformats.org/drawingml/2006/main">
            <a:r>
              <a:t>확인 질문: 정의만 하고 호출하지 않으면 본문 출력은 나오나요?</a:t>
            </a:r>
          </a:p>
          <a:p xmlns:a="http://schemas.openxmlformats.org/drawingml/2006/main">
            <a:r>
              <a:t/>
            </a:r>
          </a:p>
          <a:p xmlns:a="http://schemas.openxmlformats.org/drawingml/2006/main">
            <a:r>
              <a:t>막혔을 때: 본문 출력이 예상과 다르면 print가 함수 안에 들여써져 있는지 확인합니다.</a:t>
            </a:r>
          </a:p>
          <a:p xmlns:a="http://schemas.openxmlformats.org/drawingml/2006/main">
            <a:r>
              <a:t/>
            </a:r>
          </a:p>
          <a:p xmlns:a="http://schemas.openxmlformats.org/drawingml/2006/main">
            <a:r>
              <a:t>[활동 자료와 작성칸](practice-guide.md#a02--def로-정의하고-이름으로-호출하기)에서 A02를 엽니다.</a:t>
            </a:r>
          </a:p>
          <a:p xmlns:a="http://schemas.openxmlformats.org/drawingml/2006/main">
            <a:r>
              <a:t/>
            </a:r>
          </a:p>
          <a:p xmlns:a="http://schemas.openxmlformats.org/drawingml/2006/main">
            <a:r>
              <a:t>화면 예의 출처: D:/KDigital_PhysicalAI/.build/copyedited-ppt/spec-2026-10-15.json#slide-8;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https://zeusk302-png.github.io/kdigital-physical-ai/#/sessions/2026-10-15/lesson?activity=A02</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정의할 때 함수 안 print가 실행되지 않습니다. 바깥 준비 → 호출에서 안내 → 돌아온 뒤 끝 순서입니다.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A02 상세 원문]</a:t>
            </a:r>
          </a:p>
          <a:p xmlns:a="http://schemas.openxmlformats.org/drawingml/2006/main">
            <a:r>
              <a:t>**개념.** def는 함수를 정의하는 문장입니다. 이름 뒤 괄호와 콜론을 쓰고 들여쓴 줄을 함수 본문으로 묶습니다. 정의만 하면 본문은 아직 실행되지 않으며 이름을 괄호와 함께 불러야 합니다.</a:t>
            </a:r>
          </a:p>
          <a:p xmlns:a="http://schemas.openxmlformats.org/drawingml/2006/main">
            <a:r>
              <a:t/>
            </a:r>
          </a:p>
          <a:p xmlns:a="http://schemas.openxmlformats.org/drawingml/2006/main">
            <a:r>
              <a:t>**왜 필요한가.** 위에서 아래로 읽는 원리는 유지하지만 함수 본문은 호출할 때 실행됩니다. 정의 위치와 실제 실행 시점을 나누어 보면 출력 순서가 이해됩니다.</a:t>
            </a:r>
          </a:p>
          <a:p xmlns:a="http://schemas.openxmlformats.org/drawingml/2006/main">
            <a:r>
              <a:t/>
            </a:r>
          </a:p>
          <a:p xmlns:a="http://schemas.openxmlformats.org/drawingml/2006/main">
            <a:r>
              <a:t>**함께 보는 예.** show_notice를 정의한 뒤 준비를 출력합니다. 함수 호출 때 안내가 나오고 호출에서 돌아온 뒤 끝이 나옵니다. 함수 본문의 줄 번호가 위에 있다고 가장 먼저 출력되는 것은 아닙니다.</a:t>
            </a:r>
          </a:p>
          <a:p xmlns:a="http://schemas.openxmlformats.org/drawingml/2006/main">
            <a:r>
              <a:t/>
            </a:r>
          </a:p>
          <a:p xmlns:a="http://schemas.openxmlformats.org/drawingml/2006/main">
            <a:r>
              <a:t>**헷갈리는 경우.** show_notice라고 이름만 적는 것과 show_notice()로 호출하는 것은 다릅니다. 괄호는 실제 작업을 요청하는 표기입니다.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show_notice():</a:t>
            </a:r>
          </a:p>
          <a:p xmlns:a="http://schemas.openxmlformats.org/drawingml/2006/main">
            <a:r>
              <a:t>    print("점검을 시작합니다")</a:t>
            </a:r>
          </a:p>
          <a:p xmlns:a="http://schemas.openxmlformats.org/drawingml/2006/main">
            <a:r>
              <a:t>print("준비")</a:t>
            </a:r>
          </a:p>
          <a:p xmlns:a="http://schemas.openxmlformats.org/drawingml/2006/main">
            <a:r>
              <a:t>show_notice()</a:t>
            </a:r>
          </a:p>
          <a:p xmlns:a="http://schemas.openxmlformats.org/drawingml/2006/main">
            <a:r>
              <a:t>print("끝")</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show_notice():` | 안내하는 작업을 정의합니다. |</a:t>
            </a:r>
          </a:p>
          <a:p xmlns:a="http://schemas.openxmlformats.org/drawingml/2006/main">
            <a:r>
              <a:t>| 2 | `    print("점검을 시작합니다")` | 호출할 때 실행할 출력입니다. |</a:t>
            </a:r>
          </a:p>
          <a:p xmlns:a="http://schemas.openxmlformats.org/drawingml/2006/main">
            <a:r>
              <a:t>| 3 | `print("준비")` | 바깥에서 준비를 출력합니다. |</a:t>
            </a:r>
          </a:p>
          <a:p xmlns:a="http://schemas.openxmlformats.org/drawingml/2006/main">
            <a:r>
              <a:t>| 4 | `show_notice()` | 정의한 함수를 호출합니다. |</a:t>
            </a:r>
          </a:p>
          <a:p xmlns:a="http://schemas.openxmlformats.org/drawingml/2006/main">
            <a:r>
              <a:t>| 5 | `print("끝")` | 돌아온 뒤 끝을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code/A02_example.py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work/A02_example.py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준비</a:t>
            </a:r>
          </a:p>
          <a:p xmlns:a="http://schemas.openxmlformats.org/drawingml/2006/main">
            <a:r>
              <a:t>점검을 시작합니다</a:t>
            </a:r>
          </a:p>
          <a:p xmlns:a="http://schemas.openxmlformats.org/drawingml/2006/main">
            <a:r>
              <a:t>끝</a:t>
            </a:r>
          </a:p>
          <a:p xmlns:a="http://schemas.openxmlformats.org/drawingml/2006/main">
            <a:r>
              <a:t>```</a:t>
            </a:r>
          </a:p>
          <a:p xmlns:a="http://schemas.openxmlformats.org/drawingml/2006/main">
            <a:r>
              <a:t/>
            </a:r>
          </a:p>
          <a:p xmlns:a="http://schemas.openxmlformats.org/drawingml/2006/main">
            <a:r>
              <a:t>작은 수정: `show_notice()</a:t>
            </a:r>
          </a:p>
          <a:p xmlns:a="http://schemas.openxmlformats.org/drawingml/2006/main">
            <a:r>
              <a:t>print("끝")`를 `show_notice()</a:t>
            </a:r>
          </a:p>
          <a:p xmlns:a="http://schemas.openxmlformats.org/drawingml/2006/main">
            <a:r>
              <a:t>show_notice()</a:t>
            </a:r>
          </a:p>
          <a:p xmlns:a="http://schemas.openxmlformats.org/drawingml/2006/main">
            <a:r>
              <a:t>print("끝")`로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준비</a:t>
            </a:r>
          </a:p>
          <a:p xmlns:a="http://schemas.openxmlformats.org/drawingml/2006/main">
            <a:r>
              <a:t>점검을 시작합니다</a:t>
            </a:r>
          </a:p>
          <a:p xmlns:a="http://schemas.openxmlformats.org/drawingml/2006/main">
            <a:r>
              <a:t>점검을 시작합니다</a:t>
            </a:r>
          </a:p>
          <a:p xmlns:a="http://schemas.openxmlformats.org/drawingml/2006/main">
            <a:r>
              <a:t>끝</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정의와 호출을 표시합니다.</a:t>
            </a:r>
          </a:p>
          <a:p xmlns:a="http://schemas.openxmlformats.org/drawingml/2006/main">
            <a:r>
              <a:t>2. 실제 출력 순서를 씁니다.</a:t>
            </a:r>
          </a:p>
          <a:p xmlns:a="http://schemas.openxmlformats.org/drawingml/2006/main">
            <a:r>
              <a:t>3. 호출을 한 번 더 넣어 예상합니다.</a:t>
            </a:r>
          </a:p>
          <a:p xmlns:a="http://schemas.openxmlformats.org/drawingml/2006/main">
            <a:r>
              <a:t>4. 정의 횟수와 본문 실행 횟수를 설명합니다.</a:t>
            </a:r>
          </a:p>
          <a:p xmlns:a="http://schemas.openxmlformats.org/drawingml/2006/main">
            <a:r>
              <a:t/>
            </a:r>
          </a:p>
          <a:p xmlns:a="http://schemas.openxmlformats.org/drawingml/2006/main">
            <a:r>
              <a:t>예상 결과: 정의 한 번·호출 두 번이면 안내 출력 두 번.</a:t>
            </a:r>
          </a:p>
          <a:p xmlns:a="http://schemas.openxmlformats.org/drawingml/2006/main">
            <a:r>
              <a:t/>
            </a:r>
          </a:p>
          <a:p xmlns:a="http://schemas.openxmlformats.org/drawingml/2006/main">
            <a:r>
              <a:t>확인 질문: 정의만 하고 호출하지 않으면 본문 출력은 나오나요?</a:t>
            </a:r>
          </a:p>
          <a:p xmlns:a="http://schemas.openxmlformats.org/drawingml/2006/main">
            <a:r>
              <a:t/>
            </a:r>
          </a:p>
          <a:p xmlns:a="http://schemas.openxmlformats.org/drawingml/2006/main">
            <a:r>
              <a:t>막혔을 때: 본문 출력이 예상과 다르면 print가 함수 안에 들여써져 있는지 확인합니다.</a:t>
            </a:r>
          </a:p>
          <a:p xmlns:a="http://schemas.openxmlformats.org/drawingml/2006/main">
            <a:r>
              <a:t/>
            </a:r>
          </a:p>
          <a:p xmlns:a="http://schemas.openxmlformats.org/drawingml/2006/main">
            <a:r>
              <a:t>[활동 자료와 작성칸](practice-guide.md#a02--def로-정의하고-이름으로-호출하기)에서 A02를 엽니다.</a:t>
            </a:r>
          </a:p>
          <a:p xmlns:a="http://schemas.openxmlformats.org/drawingml/2006/main">
            <a:r>
              <a:t/>
            </a:r>
          </a:p>
          <a:p xmlns:a="http://schemas.openxmlformats.org/drawingml/2006/main">
            <a:r>
              <a:t>화면 예의 출처: D:/KDigital_PhysicalAI/.build/copyedited-ppt/spec-2026-10-15.json#slide-13</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https://zeusk302-png.github.io/kdigital-physical-ai/#/sessions/2026-10-15/lesson?activity=A02</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code/A03_example.py</a:t>
            </a:r>
          </a:p>
          <a:p xmlns:a="http://schemas.openxmlformats.org/drawingml/2006/main">
            <a:r>
              <a:t>수정한 파일을 실행할 때는 code 대신 work 폴더를 지정합니다. 직접 실행할 수 없으면 입력값부터 코드의 처리 순서를 따라 적고 강사의 결과와 비교합니다.</a:t>
            </a:r>
          </a:p>
          <a:p xmlns:a="http://schemas.openxmlformats.org/drawingml/2006/main">
            <a:r>
              <a:t/>
            </a:r>
          </a:p>
          <a:p xmlns:a="http://schemas.openxmlformats.org/drawingml/2006/main">
            <a:r>
              <a:t>[활동 A03 상세 원문]</a:t>
            </a:r>
          </a:p>
          <a:p xmlns:a="http://schemas.openxmlformats.org/drawingml/2006/main">
            <a:r>
              <a:t>**개념.** 매개변수는 받을 값의 이름이고 인자는 호출할 때 실제로 주는 값입니다. 양식의 ‘장소’ 칸과 거기에 넣는 ‘입구’라는 내용의 관계에 비유할 수 있습니다.</a:t>
            </a:r>
          </a:p>
          <a:p xmlns:a="http://schemas.openxmlformats.org/drawingml/2006/main">
            <a:r>
              <a:t/>
            </a:r>
          </a:p>
          <a:p xmlns:a="http://schemas.openxmlformats.org/drawingml/2006/main">
            <a:r>
              <a:t>**왜 필요한가.** 고정 값을 함수 안에서 매번 바꾸는 대신 호출값을 달리해 같은 작업을 사용합니다. 함수 안 이름이 어디서 값을 받는지 알아야 전달한 값을 추적할 수 있습니다.</a:t>
            </a:r>
          </a:p>
          <a:p xmlns:a="http://schemas.openxmlformats.org/drawingml/2006/main">
            <a:r>
              <a:t/>
            </a:r>
          </a:p>
          <a:p xmlns:a="http://schemas.openxmlformats.org/drawingml/2006/main">
            <a:r>
              <a:t>**함께 보는 예.** sensor_id와 value는 받을 이름입니다. 첫 호출에서 S01·22.5가 연결되고 다음 호출에서는 S02·25.0이 연결됩니다. 각 호출은 서로 다른 값으로 같은 본문을 사용합니다.</a:t>
            </a:r>
          </a:p>
          <a:p xmlns:a="http://schemas.openxmlformats.org/drawingml/2006/main">
            <a:r>
              <a:t/>
            </a:r>
          </a:p>
          <a:p xmlns:a="http://schemas.openxmlformats.org/drawingml/2006/main">
            <a:r>
              <a:t>**헷갈리는 경우.** 인자의 순서를 바꾸어도 컴퓨터가 업무 의미를 추측해 바로잡지 않습니다. 센서명 위치에 숫자를 주면 잘못된 위치의 값이 출력될 수 있습니다.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show_temperature(sensor_id, value):</a:t>
            </a:r>
          </a:p>
          <a:p xmlns:a="http://schemas.openxmlformats.org/drawingml/2006/main">
            <a:r>
              <a:t>    print(sensor_id, value)</a:t>
            </a:r>
          </a:p>
          <a:p xmlns:a="http://schemas.openxmlformats.org/drawingml/2006/main">
            <a:r>
              <a:t>show_temperature("S01", 22.5)</a:t>
            </a:r>
          </a:p>
          <a:p xmlns:a="http://schemas.openxmlformats.org/drawingml/2006/main">
            <a:r>
              <a:t>show_temperature("S02", 25.0)</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show_temperature(sensor_id, value):` | 센서명과 값을 받는 함수를 정의합니다. |</a:t>
            </a:r>
          </a:p>
          <a:p xmlns:a="http://schemas.openxmlformats.org/drawingml/2006/main">
            <a:r>
              <a:t>| 2 | `    print(sensor_id, value)` | 이번 호출에서 받은 값을 출력합니다. |</a:t>
            </a:r>
          </a:p>
          <a:p xmlns:a="http://schemas.openxmlformats.org/drawingml/2006/main">
            <a:r>
              <a:t>| 3 | `show_temperature("S01", 22.5)` | 첫 센서와 온도를 전달합니다. |</a:t>
            </a:r>
          </a:p>
          <a:p xmlns:a="http://schemas.openxmlformats.org/drawingml/2006/main">
            <a:r>
              <a:t>| 4 | `show_temperature("S02", 25.0)` | 둘째 센서와 온도를 전달합니다.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S02 25.0</a:t>
            </a:r>
          </a:p>
          <a:p xmlns:a="http://schemas.openxmlformats.org/drawingml/2006/main">
            <a:r>
              <a:t>```</a:t>
            </a:r>
          </a:p>
          <a:p xmlns:a="http://schemas.openxmlformats.org/drawingml/2006/main">
            <a:r>
              <a:t/>
            </a:r>
          </a:p>
          <a:p xmlns:a="http://schemas.openxmlformats.org/drawingml/2006/main">
            <a:r>
              <a:t>작은 수정: `show_temperature("S02", 25.0)`를 `show_temperature("S03", 0.0)`로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S03 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전달값과 받을 이름을 짝짓습니다.</a:t>
            </a:r>
          </a:p>
          <a:p xmlns:a="http://schemas.openxmlformats.org/drawingml/2006/main">
            <a:r>
              <a:t>2. 둘째 입력을 S03·0.0으로 바꿉니다.</a:t>
            </a:r>
          </a:p>
          <a:p xmlns:a="http://schemas.openxmlformats.org/drawingml/2006/main">
            <a:r>
              <a:t>3. 값 하나가 부족한 호출과 정상 호출을 비교합니다.</a:t>
            </a:r>
          </a:p>
          <a:p xmlns:a="http://schemas.openxmlformats.org/drawingml/2006/main">
            <a:r>
              <a:t>4. 함수 내부를 고치지 않고 결과가 달라지는 이유를 씁니다.</a:t>
            </a:r>
          </a:p>
          <a:p xmlns:a="http://schemas.openxmlformats.org/drawingml/2006/main">
            <a:r>
              <a:t/>
            </a:r>
          </a:p>
          <a:p xmlns:a="http://schemas.openxmlformats.org/drawingml/2006/main">
            <a:r>
              <a:t>예상 결과: 둘째 출력 S03 0.0. 인자 부족은 TypeError.</a:t>
            </a:r>
          </a:p>
          <a:p xmlns:a="http://schemas.openxmlformats.org/drawingml/2006/main">
            <a:r>
              <a:t/>
            </a:r>
          </a:p>
          <a:p xmlns:a="http://schemas.openxmlformats.org/drawingml/2006/main">
            <a:r>
              <a:t>확인 질문: value는 모든 호출에서 같은 값을 뜻하나요?</a:t>
            </a:r>
          </a:p>
          <a:p xmlns:a="http://schemas.openxmlformats.org/drawingml/2006/main">
            <a:r>
              <a:t/>
            </a:r>
          </a:p>
          <a:p xmlns:a="http://schemas.openxmlformats.org/drawingml/2006/main">
            <a:r>
              <a:t>막혔을 때: 받을 값 개수와 전달한 값 개수·순서를 비교합니다.</a:t>
            </a:r>
          </a:p>
          <a:p xmlns:a="http://schemas.openxmlformats.org/drawingml/2006/main">
            <a:r>
              <a:t/>
            </a:r>
          </a:p>
          <a:p xmlns:a="http://schemas.openxmlformats.org/drawingml/2006/main">
            <a:r>
              <a:t>[활동 자료와 작성칸](practice-guide.md#a03--매개변수와-실제-인자)에서 A03를 엽니다.</a:t>
            </a:r>
          </a:p>
          <a:p xmlns:a="http://schemas.openxmlformats.org/drawingml/2006/main">
            <a:r>
              <a:t/>
            </a:r>
          </a:p>
          <a:p xmlns:a="http://schemas.openxmlformats.org/drawingml/2006/main">
            <a:r>
              <a:t># 2구간 · 함수 입력과 반환</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https://zeusk302-png.github.io/kdigital-physical-ai/#/sessions/2026-10-15/lesson?activity=A03</a:t>
            </a:r>
          </a:p>
          <a:p xmlns:a="http://schemas.openxmlformats.org/drawingml/2006/main">
            <a:r>
              <a:t>공식 자료: https://docs.python.org/3/tutorial/controlflow.html</a:t>
            </a:r>
          </a:p>
          <a:p xmlns:a="http://schemas.openxmlformats.org/drawingml/2006/main">
            <a:r>
              <a:t/>
            </a:r>
          </a:p>
          <a:p xmlns:a="http://schemas.openxmlformats.org/drawingml/2006/main">
            <a:r>
              <a:t>코드와 개념 해설: 첫 번째 입력은 sensor_id, 두 번째는 value입니다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A03 상세 원문]</a:t>
            </a:r>
          </a:p>
          <a:p xmlns:a="http://schemas.openxmlformats.org/drawingml/2006/main">
            <a:r>
              <a:t>**개념.** 매개변수는 받을 값의 이름이고 인자는 호출할 때 실제로 주는 값입니다. 양식의 ‘장소’ 칸과 거기에 넣는 ‘입구’라는 내용의 관계에 비유할 수 있습니다.</a:t>
            </a:r>
          </a:p>
          <a:p xmlns:a="http://schemas.openxmlformats.org/drawingml/2006/main">
            <a:r>
              <a:t/>
            </a:r>
          </a:p>
          <a:p xmlns:a="http://schemas.openxmlformats.org/drawingml/2006/main">
            <a:r>
              <a:t>**왜 필요한가.** 고정 값을 함수 안에서 매번 바꾸는 대신 호출값을 달리해 같은 작업을 사용합니다. 함수 안 이름이 어디서 값을 받는지 알아야 전달한 값을 추적할 수 있습니다.</a:t>
            </a:r>
          </a:p>
          <a:p xmlns:a="http://schemas.openxmlformats.org/drawingml/2006/main">
            <a:r>
              <a:t/>
            </a:r>
          </a:p>
          <a:p xmlns:a="http://schemas.openxmlformats.org/drawingml/2006/main">
            <a:r>
              <a:t>**함께 보는 예.** sensor_id와 value는 받을 이름입니다. 첫 호출에서 S01·22.5가 연결되고 다음 호출에서는 S02·25.0이 연결됩니다. 각 호출은 서로 다른 값으로 같은 본문을 사용합니다.</a:t>
            </a:r>
          </a:p>
          <a:p xmlns:a="http://schemas.openxmlformats.org/drawingml/2006/main">
            <a:r>
              <a:t/>
            </a:r>
          </a:p>
          <a:p xmlns:a="http://schemas.openxmlformats.org/drawingml/2006/main">
            <a:r>
              <a:t>**헷갈리는 경우.** 인자의 순서를 바꾸어도 컴퓨터가 업무 의미를 추측해 바로잡지 않습니다. 센서명 위치에 숫자를 주면 잘못된 위치의 값이 출력될 수 있습니다.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show_temperature(sensor_id, value):</a:t>
            </a:r>
          </a:p>
          <a:p xmlns:a="http://schemas.openxmlformats.org/drawingml/2006/main">
            <a:r>
              <a:t>    print(sensor_id, value)</a:t>
            </a:r>
          </a:p>
          <a:p xmlns:a="http://schemas.openxmlformats.org/drawingml/2006/main">
            <a:r>
              <a:t>show_temperature("S01", 22.5)</a:t>
            </a:r>
          </a:p>
          <a:p xmlns:a="http://schemas.openxmlformats.org/drawingml/2006/main">
            <a:r>
              <a:t>show_temperature("S02", 25.0)</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show_temperature(sensor_id, value):` | 센서명과 값을 받는 함수를 정의합니다. |</a:t>
            </a:r>
          </a:p>
          <a:p xmlns:a="http://schemas.openxmlformats.org/drawingml/2006/main">
            <a:r>
              <a:t>| 2 | `    print(sensor_id, value)` | 이번 호출에서 받은 값을 출력합니다. |</a:t>
            </a:r>
          </a:p>
          <a:p xmlns:a="http://schemas.openxmlformats.org/drawingml/2006/main">
            <a:r>
              <a:t>| 3 | `show_temperature("S01", 22.5)` | 첫 센서와 온도를 전달합니다. |</a:t>
            </a:r>
          </a:p>
          <a:p xmlns:a="http://schemas.openxmlformats.org/drawingml/2006/main">
            <a:r>
              <a:t>| 4 | `show_temperature("S02", 25.0)` | 둘째 센서와 온도를 전달합니다.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S02 25.0</a:t>
            </a:r>
          </a:p>
          <a:p xmlns:a="http://schemas.openxmlformats.org/drawingml/2006/main">
            <a:r>
              <a:t>```</a:t>
            </a:r>
          </a:p>
          <a:p xmlns:a="http://schemas.openxmlformats.org/drawingml/2006/main">
            <a:r>
              <a:t/>
            </a:r>
          </a:p>
          <a:p xmlns:a="http://schemas.openxmlformats.org/drawingml/2006/main">
            <a:r>
              <a:t>작은 수정: `show_temperature("S02", 25.0)`를 `show_temperature("S03", 0.0)`로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S03 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전달값과 받을 이름을 짝짓습니다.</a:t>
            </a:r>
          </a:p>
          <a:p xmlns:a="http://schemas.openxmlformats.org/drawingml/2006/main">
            <a:r>
              <a:t>2. 둘째 입력을 S03·0.0으로 바꿉니다.</a:t>
            </a:r>
          </a:p>
          <a:p xmlns:a="http://schemas.openxmlformats.org/drawingml/2006/main">
            <a:r>
              <a:t>3. 값 하나가 부족한 호출과 정상 호출을 비교합니다.</a:t>
            </a:r>
          </a:p>
          <a:p xmlns:a="http://schemas.openxmlformats.org/drawingml/2006/main">
            <a:r>
              <a:t>4. 함수 내부를 고치지 않고 결과가 달라지는 이유를 씁니다.</a:t>
            </a:r>
          </a:p>
          <a:p xmlns:a="http://schemas.openxmlformats.org/drawingml/2006/main">
            <a:r>
              <a:t/>
            </a:r>
          </a:p>
          <a:p xmlns:a="http://schemas.openxmlformats.org/drawingml/2006/main">
            <a:r>
              <a:t>예상 결과: 둘째 출력 S03 0.0. 인자 부족은 TypeError.</a:t>
            </a:r>
          </a:p>
          <a:p xmlns:a="http://schemas.openxmlformats.org/drawingml/2006/main">
            <a:r>
              <a:t/>
            </a:r>
          </a:p>
          <a:p xmlns:a="http://schemas.openxmlformats.org/drawingml/2006/main">
            <a:r>
              <a:t>확인 질문: value는 모든 호출에서 같은 값을 뜻하나요?</a:t>
            </a:r>
          </a:p>
          <a:p xmlns:a="http://schemas.openxmlformats.org/drawingml/2006/main">
            <a:r>
              <a:t/>
            </a:r>
          </a:p>
          <a:p xmlns:a="http://schemas.openxmlformats.org/drawingml/2006/main">
            <a:r>
              <a:t>막혔을 때: 받을 값 개수와 전달한 값 개수·순서를 비교합니다.</a:t>
            </a:r>
          </a:p>
          <a:p xmlns:a="http://schemas.openxmlformats.org/drawingml/2006/main">
            <a:r>
              <a:t/>
            </a:r>
          </a:p>
          <a:p xmlns:a="http://schemas.openxmlformats.org/drawingml/2006/main">
            <a:r>
              <a:t>[활동 자료와 작성칸](practice-guide.md#a03--매개변수와-실제-인자)에서 A03를 엽니다.</a:t>
            </a:r>
          </a:p>
          <a:p xmlns:a="http://schemas.openxmlformats.org/drawingml/2006/main">
            <a:r>
              <a:t/>
            </a:r>
          </a:p>
          <a:p xmlns:a="http://schemas.openxmlformats.org/drawingml/2006/main">
            <a:r>
              <a:t># 2구간 · 함수 입력과 반환</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https://zeusk302-png.github.io/kdigital-physical-ai/#/sessions/2026-10-15/lesson?activity=A03</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A03 상세 원문]</a:t>
            </a:r>
          </a:p>
          <a:p xmlns:a="http://schemas.openxmlformats.org/drawingml/2006/main">
            <a:r>
              <a:t>**개념.** 매개변수는 받을 값의 이름이고 인자는 호출할 때 실제로 주는 값입니다. 양식의 ‘장소’ 칸과 거기에 넣는 ‘입구’라는 내용의 관계에 비유할 수 있습니다.</a:t>
            </a:r>
          </a:p>
          <a:p xmlns:a="http://schemas.openxmlformats.org/drawingml/2006/main">
            <a:r>
              <a:t/>
            </a:r>
          </a:p>
          <a:p xmlns:a="http://schemas.openxmlformats.org/drawingml/2006/main">
            <a:r>
              <a:t>**왜 필요한가.** 고정 값을 함수 안에서 매번 바꾸는 대신 호출값을 달리해 같은 작업을 사용합니다. 함수 안 이름이 어디서 값을 받는지 알아야 전달한 값을 추적할 수 있습니다.</a:t>
            </a:r>
          </a:p>
          <a:p xmlns:a="http://schemas.openxmlformats.org/drawingml/2006/main">
            <a:r>
              <a:t/>
            </a:r>
          </a:p>
          <a:p xmlns:a="http://schemas.openxmlformats.org/drawingml/2006/main">
            <a:r>
              <a:t>**함께 보는 예.** sensor_id와 value는 받을 이름입니다. 첫 호출에서 S01·22.5가 연결되고 다음 호출에서는 S02·25.0이 연결됩니다. 각 호출은 서로 다른 값으로 같은 본문을 사용합니다.</a:t>
            </a:r>
          </a:p>
          <a:p xmlns:a="http://schemas.openxmlformats.org/drawingml/2006/main">
            <a:r>
              <a:t/>
            </a:r>
          </a:p>
          <a:p xmlns:a="http://schemas.openxmlformats.org/drawingml/2006/main">
            <a:r>
              <a:t>**헷갈리는 경우.** 인자의 순서를 바꾸어도 컴퓨터가 업무 의미를 추측해 바로잡지 않습니다. 센서명 위치에 숫자를 주면 잘못된 위치의 값이 출력될 수 있습니다.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show_temperature(sensor_id, value):</a:t>
            </a:r>
          </a:p>
          <a:p xmlns:a="http://schemas.openxmlformats.org/drawingml/2006/main">
            <a:r>
              <a:t>    print(sensor_id, value)</a:t>
            </a:r>
          </a:p>
          <a:p xmlns:a="http://schemas.openxmlformats.org/drawingml/2006/main">
            <a:r>
              <a:t>show_temperature("S01", 22.5)</a:t>
            </a:r>
          </a:p>
          <a:p xmlns:a="http://schemas.openxmlformats.org/drawingml/2006/main">
            <a:r>
              <a:t>show_temperature("S02", 25.0)</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show_temperature(sensor_id, value):` | 센서명과 값을 받는 함수를 정의합니다. |</a:t>
            </a:r>
          </a:p>
          <a:p xmlns:a="http://schemas.openxmlformats.org/drawingml/2006/main">
            <a:r>
              <a:t>| 2 | `    print(sensor_id, value)` | 이번 호출에서 받은 값을 출력합니다. |</a:t>
            </a:r>
          </a:p>
          <a:p xmlns:a="http://schemas.openxmlformats.org/drawingml/2006/main">
            <a:r>
              <a:t>| 3 | `show_temperature("S01", 22.5)` | 첫 센서와 온도를 전달합니다. |</a:t>
            </a:r>
          </a:p>
          <a:p xmlns:a="http://schemas.openxmlformats.org/drawingml/2006/main">
            <a:r>
              <a:t>| 4 | `show_temperature("S02", 25.0)` | 둘째 센서와 온도를 전달합니다.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S02 25.0</a:t>
            </a:r>
          </a:p>
          <a:p xmlns:a="http://schemas.openxmlformats.org/drawingml/2006/main">
            <a:r>
              <a:t>```</a:t>
            </a:r>
          </a:p>
          <a:p xmlns:a="http://schemas.openxmlformats.org/drawingml/2006/main">
            <a:r>
              <a:t/>
            </a:r>
          </a:p>
          <a:p xmlns:a="http://schemas.openxmlformats.org/drawingml/2006/main">
            <a:r>
              <a:t>작은 수정: `show_temperature("S02", 25.0)`를 `show_temperature("S03", 0.0)`로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S03 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전달값과 받을 이름을 짝짓습니다.</a:t>
            </a:r>
          </a:p>
          <a:p xmlns:a="http://schemas.openxmlformats.org/drawingml/2006/main">
            <a:r>
              <a:t>2. 둘째 입력을 S03·0.0으로 바꿉니다.</a:t>
            </a:r>
          </a:p>
          <a:p xmlns:a="http://schemas.openxmlformats.org/drawingml/2006/main">
            <a:r>
              <a:t>3. 값 하나가 부족한 호출과 정상 호출을 비교합니다.</a:t>
            </a:r>
          </a:p>
          <a:p xmlns:a="http://schemas.openxmlformats.org/drawingml/2006/main">
            <a:r>
              <a:t>4. 함수 내부를 고치지 않고 결과가 달라지는 이유를 씁니다.</a:t>
            </a:r>
          </a:p>
          <a:p xmlns:a="http://schemas.openxmlformats.org/drawingml/2006/main">
            <a:r>
              <a:t/>
            </a:r>
          </a:p>
          <a:p xmlns:a="http://schemas.openxmlformats.org/drawingml/2006/main">
            <a:r>
              <a:t>예상 결과: 둘째 출력 S03 0.0. 인자 부족은 TypeError.</a:t>
            </a:r>
          </a:p>
          <a:p xmlns:a="http://schemas.openxmlformats.org/drawingml/2006/main">
            <a:r>
              <a:t/>
            </a:r>
          </a:p>
          <a:p xmlns:a="http://schemas.openxmlformats.org/drawingml/2006/main">
            <a:r>
              <a:t>확인 질문: value는 모든 호출에서 같은 값을 뜻하나요?</a:t>
            </a:r>
          </a:p>
          <a:p xmlns:a="http://schemas.openxmlformats.org/drawingml/2006/main">
            <a:r>
              <a:t/>
            </a:r>
          </a:p>
          <a:p xmlns:a="http://schemas.openxmlformats.org/drawingml/2006/main">
            <a:r>
              <a:t>막혔을 때: 받을 값 개수와 전달한 값 개수·순서를 비교합니다.</a:t>
            </a:r>
          </a:p>
          <a:p xmlns:a="http://schemas.openxmlformats.org/drawingml/2006/main">
            <a:r>
              <a:t/>
            </a:r>
          </a:p>
          <a:p xmlns:a="http://schemas.openxmlformats.org/drawingml/2006/main">
            <a:r>
              <a:t>[활동 자료와 작성칸](practice-guide.md#a03--매개변수와-실제-인자)에서 A03를 엽니다.</a:t>
            </a:r>
          </a:p>
          <a:p xmlns:a="http://schemas.openxmlformats.org/drawingml/2006/main">
            <a:r>
              <a:t/>
            </a:r>
          </a:p>
          <a:p xmlns:a="http://schemas.openxmlformats.org/drawingml/2006/main">
            <a:r>
              <a:t># 2구간 · 함수 입력과 반환</a:t>
            </a:r>
          </a:p>
          <a:p xmlns:a="http://schemas.openxmlformats.org/drawingml/2006/main">
            <a:r>
              <a:t/>
            </a:r>
          </a:p>
          <a:p xmlns:a="http://schemas.openxmlformats.org/drawingml/2006/main">
            <a:r>
              <a:t>화면 예의 출처: D:/KDigital_PhysicalAI/.build/copyedited-ppt/spec-2026-10-15.json#slide-13;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https://zeusk302-png.github.io/kdigital-physical-ai/#/sessions/2026-10-15/lesson?activity=A03</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안내 데스크는 방문자 이름을 받아 같은 환영 문장을 만듭니다. 이름마다 문장을 복사하면 한 문구를 고칠 때 여러 곳을 찾아야 합니다. 함수는 공통 절차를 이름 붙여 묶는 방법입니다. 코드를 적기 전에 ‘이름 문자열을 받아 환영 문장 문자열을 돌려준다’라는 규칙을 적습니다. 입력은 호출자가 건네는 값, 처리는 문장을 만드는 일, 결과는 호출자가 다시 사용할 값입니다. 이 세 역할이 분명해야 함수를 어디까지 묶을지 판단할 수 있습니다.</a:t>
            </a:r>
          </a:p>
          <a:p xmlns:a="http://schemas.openxmlformats.org/drawingml/2006/main">
            <a:r>
              <a:t/>
            </a:r>
          </a:p>
          <a:p xmlns:a="http://schemas.openxmlformats.org/drawingml/2006/main">
            <a:r>
              <a:t>매개변수는 받을 값의 자리 이름이고 인자는 실제 호출에서 건네는 값입니다. 신청서의 이름 칸과 그 칸에 적는 민수라는 글의 관계로 생각합니다. 아래 완결 예를 work/E01_greeting.py라는 새 파일로 저장하고 course 폴더에서 `python -X utf8 work/E01_greeting.py`를 실행합니다.</a:t>
            </a:r>
          </a:p>
          <a:p xmlns:a="http://schemas.openxmlformats.org/drawingml/2006/main">
            <a:r>
              <a:t/>
            </a:r>
          </a:p>
          <a:p xmlns:a="http://schemas.openxmlformats.org/drawingml/2006/main">
            <a:r>
              <a:t>```python</a:t>
            </a:r>
          </a:p>
          <a:p xmlns:a="http://schemas.openxmlformats.org/drawingml/2006/main">
            <a:r>
              <a:t>def make_greeting(name):</a:t>
            </a:r>
          </a:p>
          <a:p xmlns:a="http://schemas.openxmlformats.org/drawingml/2006/main">
            <a:r>
              <a:t>    return "안녕하세요, " + name</a:t>
            </a:r>
          </a:p>
          <a:p xmlns:a="http://schemas.openxmlformats.org/drawingml/2006/main">
            <a:r>
              <a:t>first = make_greeting("민수")</a:t>
            </a:r>
          </a:p>
          <a:p xmlns:a="http://schemas.openxmlformats.org/drawingml/2006/main">
            <a:r>
              <a:t>second = make_greeting("지아")</a:t>
            </a:r>
          </a:p>
          <a:p xmlns:a="http://schemas.openxmlformats.org/drawingml/2006/main">
            <a:r>
              <a:t>print(first)</a:t>
            </a:r>
          </a:p>
          <a:p xmlns:a="http://schemas.openxmlformats.org/drawingml/2006/main">
            <a:r>
              <a:t>print(second)</a:t>
            </a:r>
          </a:p>
          <a:p xmlns:a="http://schemas.openxmlformats.org/drawingml/2006/main">
            <a:r>
              <a:t>```</a:t>
            </a:r>
          </a:p>
          <a:p xmlns:a="http://schemas.openxmlformats.org/drawingml/2006/main">
            <a:r>
              <a:t/>
            </a:r>
          </a:p>
          <a:p xmlns:a="http://schemas.openxmlformats.org/drawingml/2006/main">
            <a:r>
              <a:t>첫 줄의 def는 작업을 정의하고 괄호 안 name은 받을 자리입니다. 콜론 뒤 들여쓴 둘째 줄은 호출 때 문자열을 연결하고 return으로 돌려줍니다. 셋째 줄은 “민수”를 주고 받은 문장을 first에 연결합니다. 넷째 줄은 별도 호출에 “지아”를 주고 second에 연결합니다. 마지막 두 줄은 각 결과를 표시합니다. 예상 출력은 ‘안녕하세요, 민수’와 ‘안녕하세요, 지아’ 두 줄입니다. 정의 자체에서는 인사가 출력되지 않습니다.</a:t>
            </a:r>
          </a:p>
          <a:p xmlns:a="http://schemas.openxmlformats.org/drawingml/2006/main">
            <a:r>
              <a:t/>
            </a:r>
          </a:p>
          <a:p xmlns:a="http://schemas.openxmlformats.org/drawingml/2006/main">
            <a:r>
              <a:t>두 호출은 같은 작업을 쓰지만 다른 입력으로 다른 결과를 얻습니다. 함수 안 name이 항상 민수라고 외우면 둘째 호출을 잘못 읽습니다. 들여쓰기가 빠지면 함수 본문의 경계가 깨져 오류가 날 수 있으므로 둘째 줄 앞 공백을 확인합니다. 이름을 숫자로 주면 문자열 연결이 실패할 수 있으므로 오늘 함수는 문자열만 받도록 정했습니다. 실제 계정 조회나 메시지 전송은 하지 않습니다.</a:t>
            </a:r>
          </a:p>
          <a:p xmlns:a="http://schemas.openxmlformats.org/drawingml/2006/main">
            <a:r>
              <a:t/>
            </a:r>
          </a:p>
          <a:p xmlns:a="http://schemas.openxmlformats.org/drawingml/2006/main">
            <a:r>
              <a:t>화면 예의 출처: D:/KDigital_PhysicalAI/.build/copyedited-ppt/spec-2026-10-15.json#slide-16;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안내 데스크는 방문자 이름을 받아 같은 환영 문장을 만듭니다. 이름마다 문장을 복사하면 한 문구를 고칠 때 여러 곳을 찾아야 합니다. 함수는 공통 절차를 이름 붙여 묶는 방법입니다. 코드를 적기 전에 ‘이름 문자열을 받아 환영 문장 문자열을 돌려준다’라는 규칙을 적습니다. 입력은 호출자가 건네는 값, 처리는 문장을 만드는 일, 결과는 호출자가 다시 사용할 값입니다. 이 세 역할이 분명해야 함수를 어디까지 묶을지 판단할 수 있습니다.</a:t>
            </a:r>
          </a:p>
          <a:p xmlns:a="http://schemas.openxmlformats.org/drawingml/2006/main">
            <a:r>
              <a:t/>
            </a:r>
          </a:p>
          <a:p xmlns:a="http://schemas.openxmlformats.org/drawingml/2006/main">
            <a:r>
              <a:t>매개변수는 받을 값의 자리 이름이고 인자는 실제 호출에서 건네는 값입니다. 신청서의 이름 칸과 그 칸에 적는 민수라는 글의 관계로 생각합니다. 아래 완결 예를 work/E01_greeting.py라는 새 파일로 저장하고 course 폴더에서 `python -X utf8 work/E01_greeting.py`를 실행합니다.</a:t>
            </a:r>
          </a:p>
          <a:p xmlns:a="http://schemas.openxmlformats.org/drawingml/2006/main">
            <a:r>
              <a:t/>
            </a:r>
          </a:p>
          <a:p xmlns:a="http://schemas.openxmlformats.org/drawingml/2006/main">
            <a:r>
              <a:t>```python</a:t>
            </a:r>
          </a:p>
          <a:p xmlns:a="http://schemas.openxmlformats.org/drawingml/2006/main">
            <a:r>
              <a:t>def make_greeting(name):</a:t>
            </a:r>
          </a:p>
          <a:p xmlns:a="http://schemas.openxmlformats.org/drawingml/2006/main">
            <a:r>
              <a:t>    return "안녕하세요, " + name</a:t>
            </a:r>
          </a:p>
          <a:p xmlns:a="http://schemas.openxmlformats.org/drawingml/2006/main">
            <a:r>
              <a:t>first = make_greeting("민수")</a:t>
            </a:r>
          </a:p>
          <a:p xmlns:a="http://schemas.openxmlformats.org/drawingml/2006/main">
            <a:r>
              <a:t>second = make_greeting("지아")</a:t>
            </a:r>
          </a:p>
          <a:p xmlns:a="http://schemas.openxmlformats.org/drawingml/2006/main">
            <a:r>
              <a:t>print(first)</a:t>
            </a:r>
          </a:p>
          <a:p xmlns:a="http://schemas.openxmlformats.org/drawingml/2006/main">
            <a:r>
              <a:t>print(second)</a:t>
            </a:r>
          </a:p>
          <a:p xmlns:a="http://schemas.openxmlformats.org/drawingml/2006/main">
            <a:r>
              <a:t>```</a:t>
            </a:r>
          </a:p>
          <a:p xmlns:a="http://schemas.openxmlformats.org/drawingml/2006/main">
            <a:r>
              <a:t/>
            </a:r>
          </a:p>
          <a:p xmlns:a="http://schemas.openxmlformats.org/drawingml/2006/main">
            <a:r>
              <a:t>첫 줄의 def는 작업을 정의하고 괄호 안 name은 받을 자리입니다. 콜론 뒤 들여쓴 둘째 줄은 호출 때 문자열을 연결하고 return으로 돌려줍니다. 셋째 줄은 “민수”를 주고 받은 문장을 first에 연결합니다. 넷째 줄은 별도 호출에 “지아”를 주고 second에 연결합니다. 마지막 두 줄은 각 결과를 표시합니다. 예상 출력은 ‘안녕하세요, 민수’와 ‘안녕하세요, 지아’ 두 줄입니다. 정의 자체에서는 인사가 출력되지 않습니다.</a:t>
            </a:r>
          </a:p>
          <a:p xmlns:a="http://schemas.openxmlformats.org/drawingml/2006/main">
            <a:r>
              <a:t/>
            </a:r>
          </a:p>
          <a:p xmlns:a="http://schemas.openxmlformats.org/drawingml/2006/main">
            <a:r>
              <a:t>두 호출은 같은 작업을 쓰지만 다른 입력으로 다른 결과를 얻습니다. 함수 안 name이 항상 민수라고 외우면 둘째 호출을 잘못 읽습니다. 들여쓰기가 빠지면 함수 본문의 경계가 깨져 오류가 날 수 있으므로 둘째 줄 앞 공백을 확인합니다. 이름을 숫자로 주면 문자열 연결이 실패할 수 있으므로 오늘 함수는 문자열만 받도록 정했습니다. 실제 계정 조회나 메시지 전송은 하지 않습니다.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물품 라벨에 상품명과 보관함을 받아 ‘장갑 / B02’처럼 한 문자열을 만드는 작업을 설계하세요. 입력 자리 두 개, 반환할 종류, 순서를 바꿨을 때 생길 문제를 문장으로 쓰세요. 첫 입력은 장갑/B02, 둘째 입력은 마스크/A01입니다. 이 두 호출의 결과를 예상하세요.</a:t>
            </a:r>
          </a:p>
          <a:p xmlns:a="http://schemas.openxmlformats.org/drawingml/2006/main">
            <a:r>
              <a:t/>
            </a:r>
          </a:p>
          <a:p xmlns:a="http://schemas.openxmlformats.org/drawingml/2006/main">
            <a:r>
              <a:t>학생이 먼저 답을 적은 뒤 풀이를 보여 줍니다. 이 문제는 필수 활동을 마친 뒤 추가로 사용합니다.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입력은 상품명·보관함 문자열, 결과는 두 내용을 순서대로 연결한 문자열입니다. 장갑/B02와 마스크/A01의 결과는 각 입력에 따라 달라집니다. 순서를 바꾸면 B02 / 장갑처럼 업무 양식이 달라집니다. 컴퓨터가 이름의 뜻을 추측해 입력 위치를 고쳐 준다는 답은 오답입니다.</a:t>
            </a:r>
          </a:p>
          <a:p xmlns:a="http://schemas.openxmlformats.org/drawingml/2006/main">
            <a:r>
              <a:t/>
            </a:r>
          </a:p>
          <a:p xmlns:a="http://schemas.openxmlformats.org/drawingml/2006/main">
            <a:r>
              <a:t>핵심 질문과 해설:</a:t>
            </a:r>
          </a:p>
          <a:p xmlns:a="http://schemas.openxmlformats.org/drawingml/2006/main">
            <a:r>
              <a:t>정의하면 바로 실행되나요? 본문은 해당 함수를 호출했을 때 실행됩니다.</a:t>
            </a:r>
          </a:p>
          <a:p xmlns:a="http://schemas.openxmlformats.org/drawingml/2006/main">
            <a:r>
              <a:t>매개변수와 인자는 같은 이름인가요? 매개변수는 받을 자리, 인자는 호출에서 준 실제 값입니다.</a:t>
            </a:r>
          </a:p>
          <a:p xmlns:a="http://schemas.openxmlformats.org/drawingml/2006/main">
            <a:r>
              <a:t>어떤 코드를 함수로 묶나요? 공통 작업과 입력·결과 규칙이 분명한 부분을 먼저 묶습니다.</a:t>
            </a:r>
          </a:p>
          <a:p xmlns:a="http://schemas.openxmlformats.org/drawingml/2006/main">
            <a:r>
              <a:t/>
            </a:r>
          </a:p>
          <a:p xmlns:a="http://schemas.openxmlformats.org/drawingml/2006/main">
            <a:r>
              <a:t>화면 예의 출처: D:/KDigital_PhysicalAI/.build/copyedited-ppt/spec-2026-10-15.json#slide-17;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A03 상세 원문]</a:t>
            </a:r>
          </a:p>
          <a:p xmlns:a="http://schemas.openxmlformats.org/drawingml/2006/main">
            <a:r>
              <a:t>**개념.** 매개변수는 받을 값의 이름이고 인자는 호출할 때 실제로 주는 값입니다. 양식의 ‘장소’ 칸과 거기에 넣는 ‘입구’라는 내용의 관계에 비유할 수 있습니다.</a:t>
            </a:r>
          </a:p>
          <a:p xmlns:a="http://schemas.openxmlformats.org/drawingml/2006/main">
            <a:r>
              <a:t/>
            </a:r>
          </a:p>
          <a:p xmlns:a="http://schemas.openxmlformats.org/drawingml/2006/main">
            <a:r>
              <a:t>**왜 필요한가.** 고정 값을 함수 안에서 매번 바꾸는 대신 호출값을 달리해 같은 작업을 사용합니다. 함수 안 이름이 어디서 값을 받는지 알아야 전달한 값을 추적할 수 있습니다.</a:t>
            </a:r>
          </a:p>
          <a:p xmlns:a="http://schemas.openxmlformats.org/drawingml/2006/main">
            <a:r>
              <a:t/>
            </a:r>
          </a:p>
          <a:p xmlns:a="http://schemas.openxmlformats.org/drawingml/2006/main">
            <a:r>
              <a:t>**함께 보는 예.** sensor_id와 value는 받을 이름입니다. 첫 호출에서 S01·22.5가 연결되고 다음 호출에서는 S02·25.0이 연결됩니다. 각 호출은 서로 다른 값으로 같은 본문을 사용합니다.</a:t>
            </a:r>
          </a:p>
          <a:p xmlns:a="http://schemas.openxmlformats.org/drawingml/2006/main">
            <a:r>
              <a:t/>
            </a:r>
          </a:p>
          <a:p xmlns:a="http://schemas.openxmlformats.org/drawingml/2006/main">
            <a:r>
              <a:t>**헷갈리는 경우.** 인자의 순서를 바꾸어도 컴퓨터가 업무 의미를 추측해 바로잡지 않습니다. 센서명 위치에 숫자를 주면 잘못된 위치의 값이 출력될 수 있습니다.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show_temperature(sensor_id, value):</a:t>
            </a:r>
          </a:p>
          <a:p xmlns:a="http://schemas.openxmlformats.org/drawingml/2006/main">
            <a:r>
              <a:t>    print(sensor_id, value)</a:t>
            </a:r>
          </a:p>
          <a:p xmlns:a="http://schemas.openxmlformats.org/drawingml/2006/main">
            <a:r>
              <a:t>show_temperature("S01", 22.5)</a:t>
            </a:r>
          </a:p>
          <a:p xmlns:a="http://schemas.openxmlformats.org/drawingml/2006/main">
            <a:r>
              <a:t>show_temperature("S02", 25.0)</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show_temperature(sensor_id, value):` | 센서명과 값을 받는 함수를 정의합니다. |</a:t>
            </a:r>
          </a:p>
          <a:p xmlns:a="http://schemas.openxmlformats.org/drawingml/2006/main">
            <a:r>
              <a:t>| 2 | `    print(sensor_id, value)` | 이번 호출에서 받은 값을 출력합니다. |</a:t>
            </a:r>
          </a:p>
          <a:p xmlns:a="http://schemas.openxmlformats.org/drawingml/2006/main">
            <a:r>
              <a:t>| 3 | `show_temperature("S01", 22.5)` | 첫 센서와 온도를 전달합니다. |</a:t>
            </a:r>
          </a:p>
          <a:p xmlns:a="http://schemas.openxmlformats.org/drawingml/2006/main">
            <a:r>
              <a:t>| 4 | `show_temperature("S02", 25.0)` | 둘째 센서와 온도를 전달합니다.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S02 25.0</a:t>
            </a:r>
          </a:p>
          <a:p xmlns:a="http://schemas.openxmlformats.org/drawingml/2006/main">
            <a:r>
              <a:t>```</a:t>
            </a:r>
          </a:p>
          <a:p xmlns:a="http://schemas.openxmlformats.org/drawingml/2006/main">
            <a:r>
              <a:t/>
            </a:r>
          </a:p>
          <a:p xmlns:a="http://schemas.openxmlformats.org/drawingml/2006/main">
            <a:r>
              <a:t>작은 수정: `show_temperature("S02", 25.0)`를 `show_temperature("S03", 0.0)`로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S01 22.5</a:t>
            </a:r>
          </a:p>
          <a:p xmlns:a="http://schemas.openxmlformats.org/drawingml/2006/main">
            <a:r>
              <a:t>S03 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전달값과 받을 이름을 짝짓습니다.</a:t>
            </a:r>
          </a:p>
          <a:p xmlns:a="http://schemas.openxmlformats.org/drawingml/2006/main">
            <a:r>
              <a:t>2. 둘째 입력을 S03·0.0으로 바꿉니다.</a:t>
            </a:r>
          </a:p>
          <a:p xmlns:a="http://schemas.openxmlformats.org/drawingml/2006/main">
            <a:r>
              <a:t>3. 값 하나가 부족한 호출과 정상 호출을 비교합니다.</a:t>
            </a:r>
          </a:p>
          <a:p xmlns:a="http://schemas.openxmlformats.org/drawingml/2006/main">
            <a:r>
              <a:t>4. 함수 내부를 고치지 않고 결과가 달라지는 이유를 씁니다.</a:t>
            </a:r>
          </a:p>
          <a:p xmlns:a="http://schemas.openxmlformats.org/drawingml/2006/main">
            <a:r>
              <a:t/>
            </a:r>
          </a:p>
          <a:p xmlns:a="http://schemas.openxmlformats.org/drawingml/2006/main">
            <a:r>
              <a:t>예상 결과: 둘째 출력 S03 0.0. 인자 부족은 TypeError.</a:t>
            </a:r>
          </a:p>
          <a:p xmlns:a="http://schemas.openxmlformats.org/drawingml/2006/main">
            <a:r>
              <a:t/>
            </a:r>
          </a:p>
          <a:p xmlns:a="http://schemas.openxmlformats.org/drawingml/2006/main">
            <a:r>
              <a:t>확인 질문: value는 모든 호출에서 같은 값을 뜻하나요?</a:t>
            </a:r>
          </a:p>
          <a:p xmlns:a="http://schemas.openxmlformats.org/drawingml/2006/main">
            <a:r>
              <a:t/>
            </a:r>
          </a:p>
          <a:p xmlns:a="http://schemas.openxmlformats.org/drawingml/2006/main">
            <a:r>
              <a:t>막혔을 때: 받을 값 개수와 전달한 값 개수·순서를 비교합니다.</a:t>
            </a:r>
          </a:p>
          <a:p xmlns:a="http://schemas.openxmlformats.org/drawingml/2006/main">
            <a:r>
              <a:t/>
            </a:r>
          </a:p>
          <a:p xmlns:a="http://schemas.openxmlformats.org/drawingml/2006/main">
            <a:r>
              <a:t>[활동 자료와 작성칸](practice-guide.md#a03--매개변수와-실제-인자)에서 A03를 엽니다.</a:t>
            </a:r>
          </a:p>
          <a:p xmlns:a="http://schemas.openxmlformats.org/drawingml/2006/main">
            <a:r>
              <a:t/>
            </a:r>
          </a:p>
          <a:p xmlns:a="http://schemas.openxmlformats.org/drawingml/2006/main">
            <a:r>
              <a:t># 2구간 · 함수 입력과 반환</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https://zeusk302-png.github.io/kdigital-physical-ai/#/sessions/2026-10-15/lesson?activity=A03</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정의만으로 본문은 실행되지 않습니다.</a:t>
            </a:r>
          </a:p>
          <a:p xmlns:a="http://schemas.openxmlformats.org/drawingml/2006/main">
            <a:r>
              <a:t>입력 자리와 실제 전달값을 구별합니다.</a:t>
            </a:r>
          </a:p>
          <a:p xmlns:a="http://schemas.openxmlformats.org/drawingml/2006/main">
            <a:r>
              <a:t>함수가 어떤 값을 받는지 문장으로 적습니다.</a:t>
            </a:r>
          </a:p>
          <a:p xmlns:a="http://schemas.openxmlformats.org/drawingml/2006/main">
            <a:r>
              <a:t/>
            </a:r>
          </a:p>
          <a:p xmlns:a="http://schemas.openxmlformats.org/drawingml/2006/main">
            <a:r>
              <a:t>관련 교시의 상세 원문:</a:t>
            </a:r>
          </a:p>
          <a:p xmlns:a="http://schemas.openxmlformats.org/drawingml/2006/main">
            <a:r>
              <a:t>### 사례로 이해하기 · 함수가 받을 값과 돌려줄 결과 정하기</a:t>
            </a:r>
          </a:p>
          <a:p xmlns:a="http://schemas.openxmlformats.org/drawingml/2006/main">
            <a:r>
              <a:t/>
            </a:r>
          </a:p>
          <a:p xmlns:a="http://schemas.openxmlformats.org/drawingml/2006/main">
            <a:r>
              <a:t/>
            </a:r>
          </a:p>
          <a:p xmlns:a="http://schemas.openxmlformats.org/drawingml/2006/main">
            <a:r>
              <a:t/>
            </a:r>
          </a:p>
          <a:p xmlns:a="http://schemas.openxmlformats.org/drawingml/2006/main">
            <a:r>
              <a:t>안내 데스크는 방문자 이름을 받아 같은 환영 문장을 만듭니다. 이름마다 문장을 복사하면 한 문구를 고칠 때 여러 곳을 찾아야 합니다. 함수는 공통 절차를 이름 붙여 묶는 방법입니다. 코드를 적기 전에 ‘이름 문자열을 받아 환영 문장 문자열을 돌려준다’라는 규칙을 적습니다. 입력은 호출자가 건네는 값, 처리는 문장을 만드는 일, 결과는 호출자가 다시 사용할 값입니다. 이 세 역할이 분명해야 함수를 어디까지 묶을지 판단할 수 있습니다.</a:t>
            </a:r>
          </a:p>
          <a:p xmlns:a="http://schemas.openxmlformats.org/drawingml/2006/main">
            <a:r>
              <a:t/>
            </a:r>
          </a:p>
          <a:p xmlns:a="http://schemas.openxmlformats.org/drawingml/2006/main">
            <a:r>
              <a:t>매개변수는 받을 값의 자리 이름이고 인자는 실제 호출에서 건네는 값입니다. 신청서의 이름 칸과 그 칸에 적는 민수라는 글의 관계로 생각합니다. 아래 완결 예를 work/E01_greeting.py라는 새 파일로 저장하고 course 폴더에서 `python -X utf8 work/E01_greeting.py`를 실행합니다.</a:t>
            </a:r>
          </a:p>
          <a:p xmlns:a="http://schemas.openxmlformats.org/drawingml/2006/main">
            <a:r>
              <a:t/>
            </a:r>
          </a:p>
          <a:p xmlns:a="http://schemas.openxmlformats.org/drawingml/2006/main">
            <a:r>
              <a:t>```python</a:t>
            </a:r>
          </a:p>
          <a:p xmlns:a="http://schemas.openxmlformats.org/drawingml/2006/main">
            <a:r>
              <a:t>def make_greeting(name):</a:t>
            </a:r>
          </a:p>
          <a:p xmlns:a="http://schemas.openxmlformats.org/drawingml/2006/main">
            <a:r>
              <a:t>    return "안녕하세요, " + name</a:t>
            </a:r>
          </a:p>
          <a:p xmlns:a="http://schemas.openxmlformats.org/drawingml/2006/main">
            <a:r>
              <a:t>first = make_greeting("민수")</a:t>
            </a:r>
          </a:p>
          <a:p xmlns:a="http://schemas.openxmlformats.org/drawingml/2006/main">
            <a:r>
              <a:t>second = make_greeting("지아")</a:t>
            </a:r>
          </a:p>
          <a:p xmlns:a="http://schemas.openxmlformats.org/drawingml/2006/main">
            <a:r>
              <a:t>print(first)</a:t>
            </a:r>
          </a:p>
          <a:p xmlns:a="http://schemas.openxmlformats.org/drawingml/2006/main">
            <a:r>
              <a:t>print(second)</a:t>
            </a:r>
          </a:p>
          <a:p xmlns:a="http://schemas.openxmlformats.org/drawingml/2006/main">
            <a:r>
              <a:t>```</a:t>
            </a:r>
          </a:p>
          <a:p xmlns:a="http://schemas.openxmlformats.org/drawingml/2006/main">
            <a:r>
              <a:t/>
            </a:r>
          </a:p>
          <a:p xmlns:a="http://schemas.openxmlformats.org/drawingml/2006/main">
            <a:r>
              <a:t>첫 줄의 def는 작업을 정의하고 괄호 안 name은 받을 자리입니다. 콜론 뒤 들여쓴 둘째 줄은 호출 때 문자열을 연결하고 return으로 돌려줍니다. 셋째 줄은 “민수”를 주고 받은 문장을 first에 연결합니다. 넷째 줄은 별도 호출에 “지아”를 주고 second에 연결합니다. 마지막 두 줄은 각 결과를 표시합니다. 예상 출력은 ‘안녕하세요, 민수’와 ‘안녕하세요, 지아’ 두 줄입니다. 정의 자체에서는 인사가 출력되지 않습니다.</a:t>
            </a:r>
          </a:p>
          <a:p xmlns:a="http://schemas.openxmlformats.org/drawingml/2006/main">
            <a:r>
              <a:t/>
            </a:r>
          </a:p>
          <a:p xmlns:a="http://schemas.openxmlformats.org/drawingml/2006/main">
            <a:r>
              <a:t>두 호출은 같은 작업을 쓰지만 다른 입력으로 다른 결과를 얻습니다. 함수 안 name이 항상 민수라고 외우면 둘째 호출을 잘못 읽습니다. 들여쓰기가 빠지면 함수 본문의 경계가 깨져 오류가 날 수 있으므로 둘째 줄 앞 공백을 확인합니다. 이름을 숫자로 주면 문자열 연결이 실패할 수 있으므로 오늘 함수는 문자열만 받도록 정했습니다. 실제 계정 조회나 메시지 전송은 하지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물품 라벨에 상품명과 보관함을 받아 ‘장갑 / B02’처럼 한 문자열을 만드는 작업을 설계하세요. 입력 자리 두 개, 반환할 종류, 순서를 바꿨을 때 생길 문제를 문장으로 쓰세요. 첫 입력은 장갑/B02, 둘째 입력은 마스크/A01입니다. 이 두 호출의 결과를 예상하세요.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입력은 상품명·보관함 문자열, 결과는 두 내용을 순서대로 연결한 문자열입니다. 장갑/B02와 마스크/A01의 결과는 각 입력에 따라 달라집니다. 순서를 바꾸면 B02 / 장갑처럼 업무 양식이 달라집니다. 컴퓨터가 이름의 뜻을 추측해 입력 위치를 고쳐 준다는 답은 오답입니다.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**정의하면 바로 실행되나요?** 본문은 해당 함수를 호출했을 때 실행됩니다.</a:t>
            </a:r>
          </a:p>
          <a:p xmlns:a="http://schemas.openxmlformats.org/drawingml/2006/main">
            <a:r>
              <a:t/>
            </a:r>
          </a:p>
          <a:p xmlns:a="http://schemas.openxmlformats.org/drawingml/2006/main">
            <a:r>
              <a:t>2. **매개변수와 인자는 같은 이름인가요?** 매개변수는 받을 자리, 인자는 호출에서 준 실제 값입니다.</a:t>
            </a:r>
          </a:p>
          <a:p xmlns:a="http://schemas.openxmlformats.org/drawingml/2006/main">
            <a:r>
              <a:t/>
            </a:r>
          </a:p>
          <a:p xmlns:a="http://schemas.openxmlformats.org/drawingml/2006/main">
            <a:r>
              <a:t>3. **어떤 코드를 함수로 묶나요?** 공통 작업과 입력·결과 규칙이 분명한 부분을 먼저 묶습니다.</a:t>
            </a:r>
          </a:p>
          <a:p xmlns:a="http://schemas.openxmlformats.org/drawingml/2006/main">
            <a:r>
              <a:t/>
            </a:r>
          </a:p>
          <a:p xmlns:a="http://schemas.openxmlformats.org/drawingml/2006/main">
            <a:r>
              <a:t/>
            </a:r>
          </a:p>
          <a:p xmlns:a="http://schemas.openxmlformats.org/drawingml/2006/main">
            <a:r>
              <a:t>**개념.** 함수는 한 가지 일을 이름 붙여 묶은 코드입니다. 매번 같은 안내 절차를 읽는 대신 ‘온도 상태 확인’이라는 작업을 정해 두고 필요한 값으로 부를 수 있습니다. 무엇을 입력하고 무엇을 결과로 돌려줄지 먼저 정합니다.</a:t>
            </a:r>
          </a:p>
          <a:p xmlns:a="http://schemas.openxmlformats.org/drawingml/2006/main">
            <a:r>
              <a:t/>
            </a:r>
          </a:p>
          <a:p xmlns:a="http://schemas.openxmlformats.org/drawingml/2006/main">
            <a:r>
              <a:t>**왜 필요한가.** 같은 조건식을 여러 곳에 복사하면 한 곳만 수정하고 다른 곳을 놓칠 수 있습니다. 반복되는 규칙을 모으면 변경 위치를 찾기 쉽습니다. 첫 코드부터 모든 줄을 함수로 만들 필요는 없습니다.</a:t>
            </a:r>
          </a:p>
          <a:p xmlns:a="http://schemas.openxmlformats.org/drawingml/2006/main">
            <a:r>
              <a:t/>
            </a:r>
          </a:p>
          <a:p xmlns:a="http://schemas.openxmlformats.org/drawingml/2006/main">
            <a:r>
              <a:t>**함께 보는 예.** 온도 22.5·25.0·24.0을 각각 24.0과 비교합니다. 공통 작업은 비교하여 상태를 정하는 과정이며 달라지는 것은 입력 온도입니다. 같은 업무 이름에 다른 입력을 줄 수 있습니다.</a:t>
            </a:r>
          </a:p>
          <a:p xmlns:a="http://schemas.openxmlformats.org/drawingml/2006/main">
            <a:r>
              <a:t/>
            </a:r>
          </a:p>
          <a:p xmlns:a="http://schemas.openxmlformats.org/drawingml/2006/main">
            <a:r>
              <a:t>**헷갈리는 경우.** 이름이 check라고 해서 검증을 모두 수행하는 것은 아닙니다. 본문이 실제로 어떤 조건을 보는지 읽어야 합니다. 함수 이름은 약속을 설명하지만 정확성을 보장하지 않습니다.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세 업무: 22.5와24.0 비교 / 25.0과24.0 비교 / 24.0과24.0 비교.</a:t>
            </a:r>
          </a:p>
          <a:p xmlns:a="http://schemas.openxmlformats.org/drawingml/2006/main">
            <a:r>
              <a:t>답칸: 공통 작업 / 달라지는 입력 / 결과 / 이름 제안.</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같은 부분과 다른 값을 구별합니다.</a:t>
            </a:r>
          </a:p>
          <a:p xmlns:a="http://schemas.openxmlformats.org/drawingml/2006/main">
            <a:r>
              <a:t>2. 공통 작업에 temperature_status라는 이름을 붙입니다.</a:t>
            </a:r>
          </a:p>
          <a:p xmlns:a="http://schemas.openxmlformats.org/drawingml/2006/main">
            <a:r>
              <a:t>3. 받을 값과 결과의 뜻을 문장으로 씁니다.</a:t>
            </a:r>
          </a:p>
          <a:p xmlns:a="http://schemas.openxmlformats.org/drawingml/2006/main">
            <a:r>
              <a:t>4. 기준 변경 때 수정할 위치를 비교합니다.</a:t>
            </a:r>
          </a:p>
          <a:p xmlns:a="http://schemas.openxmlformats.org/drawingml/2006/main">
            <a:r>
              <a:t/>
            </a:r>
          </a:p>
          <a:p xmlns:a="http://schemas.openxmlformats.org/drawingml/2006/main">
            <a:r>
              <a:t>예상 결과: 공통 규칙·온도 입력·상태 결과를 구별합니다.</a:t>
            </a:r>
          </a:p>
          <a:p xmlns:a="http://schemas.openxmlformats.org/drawingml/2006/main">
            <a:r>
              <a:t/>
            </a:r>
          </a:p>
          <a:p xmlns:a="http://schemas.openxmlformats.org/drawingml/2006/main">
            <a:r>
              <a:t>확인 질문: 줄 수가 짧으면 함수가 필요 없다고 단정할 수 있나요?</a:t>
            </a:r>
          </a:p>
          <a:p xmlns:a="http://schemas.openxmlformats.org/drawingml/2006/main">
            <a:r>
              <a:t/>
            </a:r>
          </a:p>
          <a:p xmlns:a="http://schemas.openxmlformats.org/drawingml/2006/main">
            <a:r>
              <a:t>막혔을 때: 입력 카드 한 장을 받고 상태 카드 한 장을 돌려주는 역할극으로 그립니다.</a:t>
            </a:r>
          </a:p>
          <a:p xmlns:a="http://schemas.openxmlformats.org/drawingml/2006/main">
            <a:r>
              <a:t/>
            </a:r>
          </a:p>
          <a:p xmlns:a="http://schemas.openxmlformats.org/drawingml/2006/main">
            <a:r>
              <a:t>[활동 자료와 작성칸](practice-guide.md#a01--같은-업무를-함수로-묶는-이유)에서 A01를 엽니다.</a:t>
            </a:r>
          </a:p>
          <a:p xmlns:a="http://schemas.openxmlformats.org/drawingml/2006/main">
            <a:r>
              <a:t/>
            </a:r>
          </a:p>
          <a:p xmlns:a="http://schemas.openxmlformats.org/drawingml/2006/main">
            <a:r>
              <a:t>화면 예의 출처: D:/KDigital_PhysicalAI/.build/copyedited-ppt/spec-2026-10-15.json#slide-13;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강사가 먼저 예를 보여 준 뒤 학생과 함께 확인합니다. 학생이 직접 해 본 결과를 예상과 비교하고, 달라진 이유를 설명하게 합니다.</a:t>
            </a:r>
          </a:p>
          <a:p xmlns:a="http://schemas.openxmlformats.org/drawingml/2006/main">
            <a:r>
              <a:t/>
            </a:r>
          </a:p>
          <a:p xmlns:a="http://schemas.openxmlformats.org/drawingml/2006/main">
            <a:r>
              <a:t>[활동 A04 상세 원문]</a:t>
            </a:r>
          </a:p>
          <a:p xmlns:a="http://schemas.openxmlformats.org/drawingml/2006/main">
            <a:r>
              <a:t>### 사례로 이해하기 · 화면 표시와 다음 계산의 반환값 구별하기</a:t>
            </a:r>
          </a:p>
          <a:p xmlns:a="http://schemas.openxmlformats.org/drawingml/2006/main">
            <a:r>
              <a:t/>
            </a:r>
          </a:p>
          <a:p xmlns:a="http://schemas.openxmlformats.org/drawingml/2006/main">
            <a:r>
              <a:t/>
            </a:r>
          </a:p>
          <a:p xmlns:a="http://schemas.openxmlformats.org/drawingml/2006/main">
            <a:r>
              <a:t/>
            </a:r>
          </a:p>
          <a:p xmlns:a="http://schemas.openxmlformats.org/drawingml/2006/main">
            <a:r>
              <a:t>청구서 담당자는 수량 3과 단가 1200원으로 상품 금액을 계산한 뒤 배송비 2000원을 더합니다. 첫 계산이 화면에 3600을 보여 주었다고 다음 계산에서 그 값을 사용할 수 있는 것은 아닙니다. 화면 표시는 사람에게 보여 주는 행동이고 반환은 함수를 부른 곳에 결과 값을 보내는 행동입니다. 전자계산기에서 값을 읽는 것과 그 값을 다음 식의 입력으로 전달하는 것을 구별합니다. 필요한 최종 결과를 먼저 쓰면 print와 return의 역할이 선명해집니다.</a:t>
            </a:r>
          </a:p>
          <a:p xmlns:a="http://schemas.openxmlformats.org/drawingml/2006/main">
            <a:r>
              <a:t/>
            </a:r>
          </a:p>
          <a:p xmlns:a="http://schemas.openxmlformats.org/drawingml/2006/main">
            <a:r>
              <a:t>이 함수는 단가와 수량을 정수로 받아 상품 금액을 정수로 돌려줍니다. 수업용 처리 규칙은 단가×수량이며 세금이나 할인은 넣지 않습니다. 호출에서 1200과 3을 주면 함수 안에서 3600을 만들고 return으로 보냅니다. 호출한 쪽은 받은 값에 2000을 더해 최종 5600원을 얻습니다. 손 추적표는 입력 1200·3 → 함수 계산 3600 → 반환 3600 → 배송비 포함 5600 순서입니다. 화면에 무엇이 보이는가와 변수에 무엇이 연결되는가를 다른 칸으로 적습니다.</a:t>
            </a:r>
          </a:p>
          <a:p xmlns:a="http://schemas.openxmlformats.org/drawingml/2006/main">
            <a:r>
              <a:t/>
            </a:r>
          </a:p>
          <a:p xmlns:a="http://schemas.openxmlformats.org/drawingml/2006/main">
            <a:r>
              <a:t>print만 하는 함수는 3600을 화면에 보이게 해도 별도 return이 없으면 호출 결과가 None입니다. None에 2000을 더하면 숫자 계산이 되지 않습니다. 오류를 피하려고 None을 0으로 바꾸면 상품 금액이 사라져 잘못된 청구서가 됩니다. 결과를 계산하는 함수에 return을 두고 필요한 표시를 호출한 쪽에서 맡기는 구조를 생각합니다. 또한 return을 만나는 즉시 그 호출은 끝납니다. 그 아래 줄은 같은 호출에서 이어서 실행되지 않습니다. 조건이 여러 갈래인 함수라면 각 갈래가 무엇을 반환하는지 읽어야 합니다. 한 갈래에서만 반환하면 나머지 입력에서 뜻밖의 None이 생길 수 있습니다.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배송 준비 함수는 포장비 500원을 화면에 표시하지만 반환문이 없습니다. 호출 결과를 fee에 연결한 뒤 총액 3000에 더하려 합니다. 화면값·fee 값·다음 계산을 분리해 설명하고 올바른 역할 배치를 문장으로 설계하세요.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화면에는 500이 보이지만 fee는 None이며 다음 덧셈은 TypeError가 날 수 있습니다. 함수가 500을 반환하고 호출자가 총액에 더한 뒤 표시하도록 설계합니다. 화면에 500이 보이므로 fee도 500이라는 답은 표시와 반환을 혼동한 것입니다.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**print의 결과가 자동 저장되나요?** 표시와 반환은 별도이며 호출 결과를 보려면 return을 확인합니다.</a:t>
            </a:r>
          </a:p>
          <a:p xmlns:a="http://schemas.openxmlformats.org/drawingml/2006/main">
            <a:r>
              <a:t/>
            </a:r>
          </a:p>
          <a:p xmlns:a="http://schemas.openxmlformats.org/drawingml/2006/main">
            <a:r>
              <a:t>2. **return 뒤 안내가 실행되나요?** 같은 호출은 return에서 끝나므로 아래 줄까지 가지 않습니다.</a:t>
            </a:r>
          </a:p>
          <a:p xmlns:a="http://schemas.openxmlformats.org/drawingml/2006/main">
            <a:r>
              <a:t/>
            </a:r>
          </a:p>
          <a:p xmlns:a="http://schemas.openxmlformats.org/drawingml/2006/main">
            <a:r>
              <a:t>3. **None을 0으로 고쳐도 되나요?** 업무 결과가 누락된 원인을 고쳐야 하며 임의 0은 계산 의미를 바꿉니다.</a:t>
            </a:r>
          </a:p>
          <a:p xmlns:a="http://schemas.openxmlformats.org/drawingml/2006/main">
            <a:r>
              <a:t/>
            </a:r>
          </a:p>
          <a:p xmlns:a="http://schemas.openxmlformats.org/drawingml/2006/main">
            <a:r>
              <a:t/>
            </a:r>
          </a:p>
          <a:p xmlns:a="http://schemas.openxmlformats.org/drawingml/2006/main">
            <a:r>
              <a:t>**개념.** print는 값을 화면에 보여 주고 return은 함수를 부른 위치로 값을 돌려줍니다. 화면에 결과가 보였다는 사실과 다음 계산에 사용할 결과를 받았다는 사실은 다릅니다.</a:t>
            </a:r>
          </a:p>
          <a:p xmlns:a="http://schemas.openxmlformats.org/drawingml/2006/main">
            <a:r>
              <a:t/>
            </a:r>
          </a:p>
          <a:p xmlns:a="http://schemas.openxmlformats.org/drawingml/2006/main">
            <a:r>
              <a:t>**왜 필요한가.** 결과를 JSON에 저장하거나 집계하려면 함수가 값을 돌려줘야 합니다. 화면 글자를 다른 코드가 저절로 변수에 담지는 않습니다.</a:t>
            </a:r>
          </a:p>
          <a:p xmlns:a="http://schemas.openxmlformats.org/drawingml/2006/main">
            <a:r>
              <a:t/>
            </a:r>
          </a:p>
          <a:p xmlns:a="http://schemas.openxmlformats.org/drawingml/2006/main">
            <a:r>
              <a:t>**함께 보는 예.** add_offset은 받은 두 수를 더해 반환합니다. result가 23.5를 받고 다음 계산에서 사용합니다. 더하는 값은 수업 계산 예이며 실제 장비 교정값으로 사용하지 않습니다.</a:t>
            </a:r>
          </a:p>
          <a:p xmlns:a="http://schemas.openxmlformats.org/drawingml/2006/main">
            <a:r>
              <a:t/>
            </a:r>
          </a:p>
          <a:p xmlns:a="http://schemas.openxmlformats.org/drawingml/2006/main">
            <a:r>
              <a:t>**헷갈리는 경우.** return 없이 print만 하는 함수의 반환값은 None입니다. 그 값을 숫자처럼 더하려고 하면 오류가 날 수 있습니다. 화면만 보지 말고 return의 역할을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add_offset(value, offset):</a:t>
            </a:r>
          </a:p>
          <a:p xmlns:a="http://schemas.openxmlformats.org/drawingml/2006/main">
            <a:r>
              <a:t>    return value + offset</a:t>
            </a:r>
          </a:p>
          <a:p xmlns:a="http://schemas.openxmlformats.org/drawingml/2006/main">
            <a:r>
              <a:t>result = add_offset(22.5, 1.0)</a:t>
            </a:r>
          </a:p>
          <a:p xmlns:a="http://schemas.openxmlformats.org/drawingml/2006/main">
            <a:r>
              <a:t>print(result)</a:t>
            </a:r>
          </a:p>
          <a:p xmlns:a="http://schemas.openxmlformats.org/drawingml/2006/main">
            <a:r>
              <a:t>print(result + 1)</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add_offset(value, offset):` | 두 값을 받는 작업을 정의합니다. |</a:t>
            </a:r>
          </a:p>
          <a:p xmlns:a="http://schemas.openxmlformats.org/drawingml/2006/main">
            <a:r>
              <a:t>| 2 | `    return value + offset` | 합을 호출한 곳으로 돌려줍니다. |</a:t>
            </a:r>
          </a:p>
          <a:p xmlns:a="http://schemas.openxmlformats.org/drawingml/2006/main">
            <a:r>
              <a:t>| 3 | `result = add_offset(22.5, 1.0)` | 돌아온 결과를 result에 연결합니다. |</a:t>
            </a:r>
          </a:p>
          <a:p xmlns:a="http://schemas.openxmlformats.org/drawingml/2006/main">
            <a:r>
              <a:t>| 4 | `print(result)` | 받은 결과를 출력합니다. |</a:t>
            </a:r>
          </a:p>
          <a:p xmlns:a="http://schemas.openxmlformats.org/drawingml/2006/main">
            <a:r>
              <a:t>| 5 | `print(result + 1)` | 결과를 다음 계산에 사용합니다.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code/A04_example.py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work/A04_example.py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23.5</a:t>
            </a:r>
          </a:p>
          <a:p xmlns:a="http://schemas.openxmlformats.org/drawingml/2006/main">
            <a:r>
              <a:t>24.5</a:t>
            </a:r>
          </a:p>
          <a:p xmlns:a="http://schemas.openxmlformats.org/drawingml/2006/main">
            <a:r>
              <a:t>```</a:t>
            </a:r>
          </a:p>
          <a:p xmlns:a="http://schemas.openxmlformats.org/drawingml/2006/main">
            <a:r>
              <a:t/>
            </a:r>
          </a:p>
          <a:p xmlns:a="http://schemas.openxmlformats.org/drawingml/2006/main">
            <a:r>
              <a:t>작은 수정: `22.5, 1.0`를 `22.5, 2.0`로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24.5</a:t>
            </a:r>
          </a:p>
          <a:p xmlns:a="http://schemas.openxmlformats.org/drawingml/2006/main">
            <a:r>
              <a:t>25.5</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출력과 반환의 경로를 구별합니다.</a:t>
            </a:r>
          </a:p>
          <a:p xmlns:a="http://schemas.openxmlformats.org/drawingml/2006/main">
            <a:r>
              <a:t>2. result가 값을 받는 위치를 찾습니다.</a:t>
            </a:r>
          </a:p>
          <a:p xmlns:a="http://schemas.openxmlformats.org/drawingml/2006/main">
            <a:r>
              <a:t>3. offset을 2.0으로 바꿔 예상합니다.</a:t>
            </a:r>
          </a:p>
          <a:p xmlns:a="http://schemas.openxmlformats.org/drawingml/2006/main">
            <a:r>
              <a:t>4. 두 출력의 관계를 확인합니다.</a:t>
            </a:r>
          </a:p>
          <a:p xmlns:a="http://schemas.openxmlformats.org/drawingml/2006/main">
            <a:r>
              <a:t/>
            </a:r>
          </a:p>
          <a:p xmlns:a="http://schemas.openxmlformats.org/drawingml/2006/main">
            <a:r>
              <a:t>예상 결과: 24.5를 반환하고 다음 계산은 25.5.</a:t>
            </a:r>
          </a:p>
          <a:p xmlns:a="http://schemas.openxmlformats.org/drawingml/2006/main">
            <a:r>
              <a:t/>
            </a:r>
          </a:p>
          <a:p xmlns:a="http://schemas.openxmlformats.org/drawingml/2006/main">
            <a:r>
              <a:t>확인 질문: 화면에 보인 값은 언제나 같은 함수의 반환값인가요?</a:t>
            </a:r>
          </a:p>
          <a:p xmlns:a="http://schemas.openxmlformats.org/drawingml/2006/main">
            <a:r>
              <a:t/>
            </a:r>
          </a:p>
          <a:p xmlns:a="http://schemas.openxmlformats.org/drawingml/2006/main">
            <a:r>
              <a:t>막혔을 때: None이 보이면 return이 있는지, 특정 경로에서 반환 없이 끝나는지 확인합니다.</a:t>
            </a:r>
          </a:p>
          <a:p xmlns:a="http://schemas.openxmlformats.org/drawingml/2006/main">
            <a:r>
              <a:t/>
            </a:r>
          </a:p>
          <a:p xmlns:a="http://schemas.openxmlformats.org/drawingml/2006/main">
            <a:r>
              <a:t>[활동 자료와 작성칸](practice-guide.md#a04--print와-return의-차이)에서 A04를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https://zeusk302-png.github.io/kdigital-physical-ai/#/sessions/2026-10-15/lesson?activity=A04</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code/A04_example.py</a:t>
            </a:r>
          </a:p>
          <a:p xmlns:a="http://schemas.openxmlformats.org/drawingml/2006/main">
            <a:r>
              <a:t>수정한 파일을 실행할 때는 code 대신 work 폴더를 지정합니다. 직접 실행할 수 없으면 입력값부터 코드의 처리 순서를 따라 적고 강사의 결과와 비교합니다.</a:t>
            </a:r>
          </a:p>
          <a:p xmlns:a="http://schemas.openxmlformats.org/drawingml/2006/main">
            <a:r>
              <a:t/>
            </a:r>
          </a:p>
          <a:p xmlns:a="http://schemas.openxmlformats.org/drawingml/2006/main">
            <a:r>
              <a:t>[활동 A04 상세 원문]</a:t>
            </a:r>
          </a:p>
          <a:p xmlns:a="http://schemas.openxmlformats.org/drawingml/2006/main">
            <a:r>
              <a:t>### 사례로 이해하기 · 화면 표시와 다음 계산의 반환값 구별하기</a:t>
            </a:r>
          </a:p>
          <a:p xmlns:a="http://schemas.openxmlformats.org/drawingml/2006/main">
            <a:r>
              <a:t/>
            </a:r>
          </a:p>
          <a:p xmlns:a="http://schemas.openxmlformats.org/drawingml/2006/main">
            <a:r>
              <a:t/>
            </a:r>
          </a:p>
          <a:p xmlns:a="http://schemas.openxmlformats.org/drawingml/2006/main">
            <a:r>
              <a:t/>
            </a:r>
          </a:p>
          <a:p xmlns:a="http://schemas.openxmlformats.org/drawingml/2006/main">
            <a:r>
              <a:t>청구서 담당자는 수량 3과 단가 1200원으로 상품 금액을 계산한 뒤 배송비 2000원을 더합니다. 첫 계산이 화면에 3600을 보여 주었다고 다음 계산에서 그 값을 사용할 수 있는 것은 아닙니다. 화면 표시는 사람에게 보여 주는 행동이고 반환은 함수를 부른 곳에 결과 값을 보내는 행동입니다. 전자계산기에서 값을 읽는 것과 그 값을 다음 식의 입력으로 전달하는 것을 구별합니다. 필요한 최종 결과를 먼저 쓰면 print와 return의 역할이 선명해집니다.</a:t>
            </a:r>
          </a:p>
          <a:p xmlns:a="http://schemas.openxmlformats.org/drawingml/2006/main">
            <a:r>
              <a:t/>
            </a:r>
          </a:p>
          <a:p xmlns:a="http://schemas.openxmlformats.org/drawingml/2006/main">
            <a:r>
              <a:t>이 함수는 단가와 수량을 정수로 받아 상품 금액을 정수로 돌려줍니다. 수업용 처리 규칙은 단가×수량이며 세금이나 할인은 넣지 않습니다. 호출에서 1200과 3을 주면 함수 안에서 3600을 만들고 return으로 보냅니다. 호출한 쪽은 받은 값에 2000을 더해 최종 5600원을 얻습니다. 손 추적표는 입력 1200·3 → 함수 계산 3600 → 반환 3600 → 배송비 포함 5600 순서입니다. 화면에 무엇이 보이는가와 변수에 무엇이 연결되는가를 다른 칸으로 적습니다.</a:t>
            </a:r>
          </a:p>
          <a:p xmlns:a="http://schemas.openxmlformats.org/drawingml/2006/main">
            <a:r>
              <a:t/>
            </a:r>
          </a:p>
          <a:p xmlns:a="http://schemas.openxmlformats.org/drawingml/2006/main">
            <a:r>
              <a:t>print만 하는 함수는 3600을 화면에 보이게 해도 별도 return이 없으면 호출 결과가 None입니다. None에 2000을 더하면 숫자 계산이 되지 않습니다. 오류를 피하려고 None을 0으로 바꾸면 상품 금액이 사라져 잘못된 청구서가 됩니다. 결과를 계산하는 함수에 return을 두고 필요한 표시를 호출한 쪽에서 맡기는 구조를 생각합니다. 또한 return을 만나는 즉시 그 호출은 끝납니다. 그 아래 줄은 같은 호출에서 이어서 실행되지 않습니다. 조건이 여러 갈래인 함수라면 각 갈래가 무엇을 반환하는지 읽어야 합니다. 한 갈래에서만 반환하면 나머지 입력에서 뜻밖의 None이 생길 수 있습니다.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배송 준비 함수는 포장비 500원을 화면에 표시하지만 반환문이 없습니다. 호출 결과를 fee에 연결한 뒤 총액 3000에 더하려 합니다. 화면값·fee 값·다음 계산을 분리해 설명하고 올바른 역할 배치를 문장으로 설계하세요.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화면에는 500이 보이지만 fee는 None이며 다음 덧셈은 TypeError가 날 수 있습니다. 함수가 500을 반환하고 호출자가 총액에 더한 뒤 표시하도록 설계합니다. 화면에 500이 보이므로 fee도 500이라는 답은 표시와 반환을 혼동한 것입니다.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**print의 결과가 자동 저장되나요?** 표시와 반환은 별도이며 호출 결과를 보려면 return을 확인합니다.</a:t>
            </a:r>
          </a:p>
          <a:p xmlns:a="http://schemas.openxmlformats.org/drawingml/2006/main">
            <a:r>
              <a:t/>
            </a:r>
          </a:p>
          <a:p xmlns:a="http://schemas.openxmlformats.org/drawingml/2006/main">
            <a:r>
              <a:t>2. **return 뒤 안내가 실행되나요?** 같은 호출은 return에서 끝나므로 아래 줄까지 가지 않습니다.</a:t>
            </a:r>
          </a:p>
          <a:p xmlns:a="http://schemas.openxmlformats.org/drawingml/2006/main">
            <a:r>
              <a:t/>
            </a:r>
          </a:p>
          <a:p xmlns:a="http://schemas.openxmlformats.org/drawingml/2006/main">
            <a:r>
              <a:t>3. **None을 0으로 고쳐도 되나요?** 업무 결과가 누락된 원인을 고쳐야 하며 임의 0은 계산 의미를 바꿉니다.</a:t>
            </a:r>
          </a:p>
          <a:p xmlns:a="http://schemas.openxmlformats.org/drawingml/2006/main">
            <a:r>
              <a:t/>
            </a:r>
          </a:p>
          <a:p xmlns:a="http://schemas.openxmlformats.org/drawingml/2006/main">
            <a:r>
              <a:t/>
            </a:r>
          </a:p>
          <a:p xmlns:a="http://schemas.openxmlformats.org/drawingml/2006/main">
            <a:r>
              <a:t>**개념.** print는 값을 화면에 보여 주고 return은 함수를 부른 위치로 값을 돌려줍니다. 화면에 결과가 보였다는 사실과 다음 계산에 사용할 결과를 받았다는 사실은 다릅니다.</a:t>
            </a:r>
          </a:p>
          <a:p xmlns:a="http://schemas.openxmlformats.org/drawingml/2006/main">
            <a:r>
              <a:t/>
            </a:r>
          </a:p>
          <a:p xmlns:a="http://schemas.openxmlformats.org/drawingml/2006/main">
            <a:r>
              <a:t>**왜 필요한가.** 결과를 JSON에 저장하거나 집계하려면 함수가 값을 돌려줘야 합니다. 화면 글자를 다른 코드가 저절로 변수에 담지는 않습니다.</a:t>
            </a:r>
          </a:p>
          <a:p xmlns:a="http://schemas.openxmlformats.org/drawingml/2006/main">
            <a:r>
              <a:t/>
            </a:r>
          </a:p>
          <a:p xmlns:a="http://schemas.openxmlformats.org/drawingml/2006/main">
            <a:r>
              <a:t>**함께 보는 예.** add_offset은 받은 두 수를 더해 반환합니다. result가 23.5를 받고 다음 계산에서 사용합니다. 더하는 값은 수업 계산 예이며 실제 장비 교정값으로 사용하지 않습니다.</a:t>
            </a:r>
          </a:p>
          <a:p xmlns:a="http://schemas.openxmlformats.org/drawingml/2006/main">
            <a:r>
              <a:t/>
            </a:r>
          </a:p>
          <a:p xmlns:a="http://schemas.openxmlformats.org/drawingml/2006/main">
            <a:r>
              <a:t>**헷갈리는 경우.** return 없이 print만 하는 함수의 반환값은 None입니다. 그 값을 숫자처럼 더하려고 하면 오류가 날 수 있습니다. 화면만 보지 말고 return의 역할을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add_offset(value, offset):</a:t>
            </a:r>
          </a:p>
          <a:p xmlns:a="http://schemas.openxmlformats.org/drawingml/2006/main">
            <a:r>
              <a:t>    return value + offset</a:t>
            </a:r>
          </a:p>
          <a:p xmlns:a="http://schemas.openxmlformats.org/drawingml/2006/main">
            <a:r>
              <a:t>result = add_offset(22.5, 1.0)</a:t>
            </a:r>
          </a:p>
          <a:p xmlns:a="http://schemas.openxmlformats.org/drawingml/2006/main">
            <a:r>
              <a:t>print(result)</a:t>
            </a:r>
          </a:p>
          <a:p xmlns:a="http://schemas.openxmlformats.org/drawingml/2006/main">
            <a:r>
              <a:t>print(result + 1)</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add_offset(value, offset):` | 두 값을 받는 작업을 정의합니다. |</a:t>
            </a:r>
          </a:p>
          <a:p xmlns:a="http://schemas.openxmlformats.org/drawingml/2006/main">
            <a:r>
              <a:t>| 2 | `    return value + offset` | 합을 호출한 곳으로 돌려줍니다. |</a:t>
            </a:r>
          </a:p>
          <a:p xmlns:a="http://schemas.openxmlformats.org/drawingml/2006/main">
            <a:r>
              <a:t>| 3 | `result = add_offset(22.5, 1.0)` | 돌아온 결과를 result에 연결합니다. |</a:t>
            </a:r>
          </a:p>
          <a:p xmlns:a="http://schemas.openxmlformats.org/drawingml/2006/main">
            <a:r>
              <a:t>| 4 | `print(result)` | 받은 결과를 출력합니다. |</a:t>
            </a:r>
          </a:p>
          <a:p xmlns:a="http://schemas.openxmlformats.org/drawingml/2006/main">
            <a:r>
              <a:t>| 5 | `print(result + 1)` | 결과를 다음 계산에 사용합니다.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code/A04_example.py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work/A04_example.py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23.5</a:t>
            </a:r>
          </a:p>
          <a:p xmlns:a="http://schemas.openxmlformats.org/drawingml/2006/main">
            <a:r>
              <a:t>24.5</a:t>
            </a:r>
          </a:p>
          <a:p xmlns:a="http://schemas.openxmlformats.org/drawingml/2006/main">
            <a:r>
              <a:t>```</a:t>
            </a:r>
          </a:p>
          <a:p xmlns:a="http://schemas.openxmlformats.org/drawingml/2006/main">
            <a:r>
              <a:t/>
            </a:r>
          </a:p>
          <a:p xmlns:a="http://schemas.openxmlformats.org/drawingml/2006/main">
            <a:r>
              <a:t>작은 수정: `22.5, 1.0`를 `22.5, 2.0`로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24.5</a:t>
            </a:r>
          </a:p>
          <a:p xmlns:a="http://schemas.openxmlformats.org/drawingml/2006/main">
            <a:r>
              <a:t>25.5</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출력과 반환의 경로를 구별합니다.</a:t>
            </a:r>
          </a:p>
          <a:p xmlns:a="http://schemas.openxmlformats.org/drawingml/2006/main">
            <a:r>
              <a:t>2. result가 값을 받는 위치를 찾습니다.</a:t>
            </a:r>
          </a:p>
          <a:p xmlns:a="http://schemas.openxmlformats.org/drawingml/2006/main">
            <a:r>
              <a:t>3. offset을 2.0으로 바꿔 예상합니다.</a:t>
            </a:r>
          </a:p>
          <a:p xmlns:a="http://schemas.openxmlformats.org/drawingml/2006/main">
            <a:r>
              <a:t>4. 두 출력의 관계를 확인합니다.</a:t>
            </a:r>
          </a:p>
          <a:p xmlns:a="http://schemas.openxmlformats.org/drawingml/2006/main">
            <a:r>
              <a:t/>
            </a:r>
          </a:p>
          <a:p xmlns:a="http://schemas.openxmlformats.org/drawingml/2006/main">
            <a:r>
              <a:t>예상 결과: 24.5를 반환하고 다음 계산은 25.5.</a:t>
            </a:r>
          </a:p>
          <a:p xmlns:a="http://schemas.openxmlformats.org/drawingml/2006/main">
            <a:r>
              <a:t/>
            </a:r>
          </a:p>
          <a:p xmlns:a="http://schemas.openxmlformats.org/drawingml/2006/main">
            <a:r>
              <a:t>확인 질문: 화면에 보인 값은 언제나 같은 함수의 반환값인가요?</a:t>
            </a:r>
          </a:p>
          <a:p xmlns:a="http://schemas.openxmlformats.org/drawingml/2006/main">
            <a:r>
              <a:t/>
            </a:r>
          </a:p>
          <a:p xmlns:a="http://schemas.openxmlformats.org/drawingml/2006/main">
            <a:r>
              <a:t>막혔을 때: None이 보이면 return이 있는지, 특정 경로에서 반환 없이 끝나는지 확인합니다.</a:t>
            </a:r>
          </a:p>
          <a:p xmlns:a="http://schemas.openxmlformats.org/drawingml/2006/main">
            <a:r>
              <a:t/>
            </a:r>
          </a:p>
          <a:p xmlns:a="http://schemas.openxmlformats.org/drawingml/2006/main">
            <a:r>
              <a:t>[활동 자료와 작성칸](practice-guide.md#a04--print와-return의-차이)에서 A04를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https://zeusk302-png.github.io/kdigital-physical-ai/#/sessions/2026-10-15/lesson?activity=A04</a:t>
            </a:r>
          </a:p>
          <a:p xmlns:a="http://schemas.openxmlformats.org/drawingml/2006/main">
            <a:r>
              <a:t>공식 자료: https://docs.python.org/3/tutorial/inputoutput.html</a:t>
            </a:r>
          </a:p>
          <a:p xmlns:a="http://schemas.openxmlformats.org/drawingml/2006/main">
            <a:r>
              <a:t/>
            </a:r>
          </a:p>
          <a:p xmlns:a="http://schemas.openxmlformats.org/drawingml/2006/main">
            <a:r>
              <a:t>코드와 개념 해설: return으로 보낸 23.5를 다음 계산에 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A04 상세 원문]</a:t>
            </a:r>
          </a:p>
          <a:p xmlns:a="http://schemas.openxmlformats.org/drawingml/2006/main">
            <a:r>
              <a:t>### 사례로 이해하기 · 화면 표시와 다음 계산의 반환값 구별하기</a:t>
            </a:r>
          </a:p>
          <a:p xmlns:a="http://schemas.openxmlformats.org/drawingml/2006/main">
            <a:r>
              <a:t/>
            </a:r>
          </a:p>
          <a:p xmlns:a="http://schemas.openxmlformats.org/drawingml/2006/main">
            <a:r>
              <a:t/>
            </a:r>
          </a:p>
          <a:p xmlns:a="http://schemas.openxmlformats.org/drawingml/2006/main">
            <a:r>
              <a:t/>
            </a:r>
          </a:p>
          <a:p xmlns:a="http://schemas.openxmlformats.org/drawingml/2006/main">
            <a:r>
              <a:t>청구서 담당자는 수량 3과 단가 1200원으로 상품 금액을 계산한 뒤 배송비 2000원을 더합니다. 첫 계산이 화면에 3600을 보여 주었다고 다음 계산에서 그 값을 사용할 수 있는 것은 아닙니다. 화면 표시는 사람에게 보여 주는 행동이고 반환은 함수를 부른 곳에 결과 값을 보내는 행동입니다. 전자계산기에서 값을 읽는 것과 그 값을 다음 식의 입력으로 전달하는 것을 구별합니다. 필요한 최종 결과를 먼저 쓰면 print와 return의 역할이 선명해집니다.</a:t>
            </a:r>
          </a:p>
          <a:p xmlns:a="http://schemas.openxmlformats.org/drawingml/2006/main">
            <a:r>
              <a:t/>
            </a:r>
          </a:p>
          <a:p xmlns:a="http://schemas.openxmlformats.org/drawingml/2006/main">
            <a:r>
              <a:t>이 함수는 단가와 수량을 정수로 받아 상품 금액을 정수로 돌려줍니다. 수업용 처리 규칙은 단가×수량이며 세금이나 할인은 넣지 않습니다. 호출에서 1200과 3을 주면 함수 안에서 3600을 만들고 return으로 보냅니다. 호출한 쪽은 받은 값에 2000을 더해 최종 5600원을 얻습니다. 손 추적표는 입력 1200·3 → 함수 계산 3600 → 반환 3600 → 배송비 포함 5600 순서입니다. 화면에 무엇이 보이는가와 변수에 무엇이 연결되는가를 다른 칸으로 적습니다.</a:t>
            </a:r>
          </a:p>
          <a:p xmlns:a="http://schemas.openxmlformats.org/drawingml/2006/main">
            <a:r>
              <a:t/>
            </a:r>
          </a:p>
          <a:p xmlns:a="http://schemas.openxmlformats.org/drawingml/2006/main">
            <a:r>
              <a:t>print만 하는 함수는 3600을 화면에 보이게 해도 별도 return이 없으면 호출 결과가 None입니다. None에 2000을 더하면 숫자 계산이 되지 않습니다. 오류를 피하려고 None을 0으로 바꾸면 상품 금액이 사라져 잘못된 청구서가 됩니다. 결과를 계산하는 함수에 return을 두고 필요한 표시를 호출한 쪽에서 맡기는 구조를 생각합니다. 또한 return을 만나는 즉시 그 호출은 끝납니다. 그 아래 줄은 같은 호출에서 이어서 실행되지 않습니다. 조건이 여러 갈래인 함수라면 각 갈래가 무엇을 반환하는지 읽어야 합니다. 한 갈래에서만 반환하면 나머지 입력에서 뜻밖의 None이 생길 수 있습니다.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배송 준비 함수는 포장비 500원을 화면에 표시하지만 반환문이 없습니다. 호출 결과를 fee에 연결한 뒤 총액 3000에 더하려 합니다. 화면값·fee 값·다음 계산을 분리해 설명하고 올바른 역할 배치를 문장으로 설계하세요.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화면에는 500이 보이지만 fee는 None이며 다음 덧셈은 TypeError가 날 수 있습니다. 함수가 500을 반환하고 호출자가 총액에 더한 뒤 표시하도록 설계합니다. 화면에 500이 보이므로 fee도 500이라는 답은 표시와 반환을 혼동한 것입니다.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**print의 결과가 자동 저장되나요?** 표시와 반환은 별도이며 호출 결과를 보려면 return을 확인합니다.</a:t>
            </a:r>
          </a:p>
          <a:p xmlns:a="http://schemas.openxmlformats.org/drawingml/2006/main">
            <a:r>
              <a:t/>
            </a:r>
          </a:p>
          <a:p xmlns:a="http://schemas.openxmlformats.org/drawingml/2006/main">
            <a:r>
              <a:t>2. **return 뒤 안내가 실행되나요?** 같은 호출은 return에서 끝나므로 아래 줄까지 가지 않습니다.</a:t>
            </a:r>
          </a:p>
          <a:p xmlns:a="http://schemas.openxmlformats.org/drawingml/2006/main">
            <a:r>
              <a:t/>
            </a:r>
          </a:p>
          <a:p xmlns:a="http://schemas.openxmlformats.org/drawingml/2006/main">
            <a:r>
              <a:t>3. **None을 0으로 고쳐도 되나요?** 업무 결과가 누락된 원인을 고쳐야 하며 임의 0은 계산 의미를 바꿉니다.</a:t>
            </a:r>
          </a:p>
          <a:p xmlns:a="http://schemas.openxmlformats.org/drawingml/2006/main">
            <a:r>
              <a:t/>
            </a:r>
          </a:p>
          <a:p xmlns:a="http://schemas.openxmlformats.org/drawingml/2006/main">
            <a:r>
              <a:t/>
            </a:r>
          </a:p>
          <a:p xmlns:a="http://schemas.openxmlformats.org/drawingml/2006/main">
            <a:r>
              <a:t>**개념.** print는 값을 화면에 보여 주고 return은 함수를 부른 위치로 값을 돌려줍니다. 화면에 결과가 보였다는 사실과 다음 계산에 사용할 결과를 받았다는 사실은 다릅니다.</a:t>
            </a:r>
          </a:p>
          <a:p xmlns:a="http://schemas.openxmlformats.org/drawingml/2006/main">
            <a:r>
              <a:t/>
            </a:r>
          </a:p>
          <a:p xmlns:a="http://schemas.openxmlformats.org/drawingml/2006/main">
            <a:r>
              <a:t>**왜 필요한가.** 결과를 JSON에 저장하거나 집계하려면 함수가 값을 돌려줘야 합니다. 화면 글자를 다른 코드가 저절로 변수에 담지는 않습니다.</a:t>
            </a:r>
          </a:p>
          <a:p xmlns:a="http://schemas.openxmlformats.org/drawingml/2006/main">
            <a:r>
              <a:t/>
            </a:r>
          </a:p>
          <a:p xmlns:a="http://schemas.openxmlformats.org/drawingml/2006/main">
            <a:r>
              <a:t>**함께 보는 예.** add_offset은 받은 두 수를 더해 반환합니다. result가 23.5를 받고 다음 계산에서 사용합니다. 더하는 값은 수업 계산 예이며 실제 장비 교정값으로 사용하지 않습니다.</a:t>
            </a:r>
          </a:p>
          <a:p xmlns:a="http://schemas.openxmlformats.org/drawingml/2006/main">
            <a:r>
              <a:t/>
            </a:r>
          </a:p>
          <a:p xmlns:a="http://schemas.openxmlformats.org/drawingml/2006/main">
            <a:r>
              <a:t>**헷갈리는 경우.** return 없이 print만 하는 함수의 반환값은 None입니다. 그 값을 숫자처럼 더하려고 하면 오류가 날 수 있습니다. 화면만 보지 말고 return의 역할을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add_offset(value, offset):</a:t>
            </a:r>
          </a:p>
          <a:p xmlns:a="http://schemas.openxmlformats.org/drawingml/2006/main">
            <a:r>
              <a:t>    return value + offset</a:t>
            </a:r>
          </a:p>
          <a:p xmlns:a="http://schemas.openxmlformats.org/drawingml/2006/main">
            <a:r>
              <a:t>result = add_offset(22.5, 1.0)</a:t>
            </a:r>
          </a:p>
          <a:p xmlns:a="http://schemas.openxmlformats.org/drawingml/2006/main">
            <a:r>
              <a:t>print(result)</a:t>
            </a:r>
          </a:p>
          <a:p xmlns:a="http://schemas.openxmlformats.org/drawingml/2006/main">
            <a:r>
              <a:t>print(result + 1)</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add_offset(value, offset):` | 두 값을 받는 작업을 정의합니다. |</a:t>
            </a:r>
          </a:p>
          <a:p xmlns:a="http://schemas.openxmlformats.org/drawingml/2006/main">
            <a:r>
              <a:t>| 2 | `    return value + offset` | 합을 호출한 곳으로 돌려줍니다. |</a:t>
            </a:r>
          </a:p>
          <a:p xmlns:a="http://schemas.openxmlformats.org/drawingml/2006/main">
            <a:r>
              <a:t>| 3 | `result = add_offset(22.5, 1.0)` | 돌아온 결과를 result에 연결합니다. |</a:t>
            </a:r>
          </a:p>
          <a:p xmlns:a="http://schemas.openxmlformats.org/drawingml/2006/main">
            <a:r>
              <a:t>| 4 | `print(result)` | 받은 결과를 출력합니다. |</a:t>
            </a:r>
          </a:p>
          <a:p xmlns:a="http://schemas.openxmlformats.org/drawingml/2006/main">
            <a:r>
              <a:t>| 5 | `print(result + 1)` | 결과를 다음 계산에 사용합니다.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code/A04_example.py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work/A04_example.py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23.5</a:t>
            </a:r>
          </a:p>
          <a:p xmlns:a="http://schemas.openxmlformats.org/drawingml/2006/main">
            <a:r>
              <a:t>24.5</a:t>
            </a:r>
          </a:p>
          <a:p xmlns:a="http://schemas.openxmlformats.org/drawingml/2006/main">
            <a:r>
              <a:t>```</a:t>
            </a:r>
          </a:p>
          <a:p xmlns:a="http://schemas.openxmlformats.org/drawingml/2006/main">
            <a:r>
              <a:t/>
            </a:r>
          </a:p>
          <a:p xmlns:a="http://schemas.openxmlformats.org/drawingml/2006/main">
            <a:r>
              <a:t>작은 수정: `22.5, 1.0`를 `22.5, 2.0`로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24.5</a:t>
            </a:r>
          </a:p>
          <a:p xmlns:a="http://schemas.openxmlformats.org/drawingml/2006/main">
            <a:r>
              <a:t>25.5</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출력과 반환의 경로를 구별합니다.</a:t>
            </a:r>
          </a:p>
          <a:p xmlns:a="http://schemas.openxmlformats.org/drawingml/2006/main">
            <a:r>
              <a:t>2. result가 값을 받는 위치를 찾습니다.</a:t>
            </a:r>
          </a:p>
          <a:p xmlns:a="http://schemas.openxmlformats.org/drawingml/2006/main">
            <a:r>
              <a:t>3. offset을 2.0으로 바꿔 예상합니다.</a:t>
            </a:r>
          </a:p>
          <a:p xmlns:a="http://schemas.openxmlformats.org/drawingml/2006/main">
            <a:r>
              <a:t>4. 두 출력의 관계를 확인합니다.</a:t>
            </a:r>
          </a:p>
          <a:p xmlns:a="http://schemas.openxmlformats.org/drawingml/2006/main">
            <a:r>
              <a:t/>
            </a:r>
          </a:p>
          <a:p xmlns:a="http://schemas.openxmlformats.org/drawingml/2006/main">
            <a:r>
              <a:t>예상 결과: 24.5를 반환하고 다음 계산은 25.5.</a:t>
            </a:r>
          </a:p>
          <a:p xmlns:a="http://schemas.openxmlformats.org/drawingml/2006/main">
            <a:r>
              <a:t/>
            </a:r>
          </a:p>
          <a:p xmlns:a="http://schemas.openxmlformats.org/drawingml/2006/main">
            <a:r>
              <a:t>확인 질문: 화면에 보인 값은 언제나 같은 함수의 반환값인가요?</a:t>
            </a:r>
          </a:p>
          <a:p xmlns:a="http://schemas.openxmlformats.org/drawingml/2006/main">
            <a:r>
              <a:t/>
            </a:r>
          </a:p>
          <a:p xmlns:a="http://schemas.openxmlformats.org/drawingml/2006/main">
            <a:r>
              <a:t>막혔을 때: None이 보이면 return이 있는지, 특정 경로에서 반환 없이 끝나는지 확인합니다.</a:t>
            </a:r>
          </a:p>
          <a:p xmlns:a="http://schemas.openxmlformats.org/drawingml/2006/main">
            <a:r>
              <a:t/>
            </a:r>
          </a:p>
          <a:p xmlns:a="http://schemas.openxmlformats.org/drawingml/2006/main">
            <a:r>
              <a:t>[활동 자료와 작성칸](practice-guide.md#a04--print와-return의-차이)에서 A04를 엽니다.</a:t>
            </a:r>
          </a:p>
          <a:p xmlns:a="http://schemas.openxmlformats.org/drawingml/2006/main">
            <a:r>
              <a:t/>
            </a:r>
          </a:p>
          <a:p xmlns:a="http://schemas.openxmlformats.org/drawingml/2006/main">
            <a:r>
              <a:t>화면 예의 출처: D:/KDigital_PhysicalAI/.build/copyedited-ppt/spec-2026-10-15.json#slide-22;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https://zeusk302-png.github.io/kdigital-physical-ai/#/sessions/2026-10-15/lesson?activity=A04</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A04 상세 원문]</a:t>
            </a:r>
          </a:p>
          <a:p xmlns:a="http://schemas.openxmlformats.org/drawingml/2006/main">
            <a:r>
              <a:t>### 사례로 이해하기 · 화면 표시와 다음 계산의 반환값 구별하기</a:t>
            </a:r>
          </a:p>
          <a:p xmlns:a="http://schemas.openxmlformats.org/drawingml/2006/main">
            <a:r>
              <a:t/>
            </a:r>
          </a:p>
          <a:p xmlns:a="http://schemas.openxmlformats.org/drawingml/2006/main">
            <a:r>
              <a:t/>
            </a:r>
          </a:p>
          <a:p xmlns:a="http://schemas.openxmlformats.org/drawingml/2006/main">
            <a:r>
              <a:t/>
            </a:r>
          </a:p>
          <a:p xmlns:a="http://schemas.openxmlformats.org/drawingml/2006/main">
            <a:r>
              <a:t>청구서 담당자는 수량 3과 단가 1200원으로 상품 금액을 계산한 뒤 배송비 2000원을 더합니다. 첫 계산이 화면에 3600을 보여 주었다고 다음 계산에서 그 값을 사용할 수 있는 것은 아닙니다. 화면 표시는 사람에게 보여 주는 행동이고 반환은 함수를 부른 곳에 결과 값을 보내는 행동입니다. 전자계산기에서 값을 읽는 것과 그 값을 다음 식의 입력으로 전달하는 것을 구별합니다. 필요한 최종 결과를 먼저 쓰면 print와 return의 역할이 선명해집니다.</a:t>
            </a:r>
          </a:p>
          <a:p xmlns:a="http://schemas.openxmlformats.org/drawingml/2006/main">
            <a:r>
              <a:t/>
            </a:r>
          </a:p>
          <a:p xmlns:a="http://schemas.openxmlformats.org/drawingml/2006/main">
            <a:r>
              <a:t>이 함수는 단가와 수량을 정수로 받아 상품 금액을 정수로 돌려줍니다. 수업용 처리 규칙은 단가×수량이며 세금이나 할인은 넣지 않습니다. 호출에서 1200과 3을 주면 함수 안에서 3600을 만들고 return으로 보냅니다. 호출한 쪽은 받은 값에 2000을 더해 최종 5600원을 얻습니다. 손 추적표는 입력 1200·3 → 함수 계산 3600 → 반환 3600 → 배송비 포함 5600 순서입니다. 화면에 무엇이 보이는가와 변수에 무엇이 연결되는가를 다른 칸으로 적습니다.</a:t>
            </a:r>
          </a:p>
          <a:p xmlns:a="http://schemas.openxmlformats.org/drawingml/2006/main">
            <a:r>
              <a:t/>
            </a:r>
          </a:p>
          <a:p xmlns:a="http://schemas.openxmlformats.org/drawingml/2006/main">
            <a:r>
              <a:t>print만 하는 함수는 3600을 화면에 보이게 해도 별도 return이 없으면 호출 결과가 None입니다. None에 2000을 더하면 숫자 계산이 되지 않습니다. 오류를 피하려고 None을 0으로 바꾸면 상품 금액이 사라져 잘못된 청구서가 됩니다. 결과를 계산하는 함수에 return을 두고 필요한 표시를 호출한 쪽에서 맡기는 구조를 생각합니다. 또한 return을 만나는 즉시 그 호출은 끝납니다. 그 아래 줄은 같은 호출에서 이어서 실행되지 않습니다. 조건이 여러 갈래인 함수라면 각 갈래가 무엇을 반환하는지 읽어야 합니다. 한 갈래에서만 반환하면 나머지 입력에서 뜻밖의 None이 생길 수 있습니다.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배송 준비 함수는 포장비 500원을 화면에 표시하지만 반환문이 없습니다. 호출 결과를 fee에 연결한 뒤 총액 3000에 더하려 합니다. 화면값·fee 값·다음 계산을 분리해 설명하고 올바른 역할 배치를 문장으로 설계하세요.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화면에는 500이 보이지만 fee는 None이며 다음 덧셈은 TypeError가 날 수 있습니다. 함수가 500을 반환하고 호출자가 총액에 더한 뒤 표시하도록 설계합니다. 화면에 500이 보이므로 fee도 500이라는 답은 표시와 반환을 혼동한 것입니다.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**print의 결과가 자동 저장되나요?** 표시와 반환은 별도이며 호출 결과를 보려면 return을 확인합니다.</a:t>
            </a:r>
          </a:p>
          <a:p xmlns:a="http://schemas.openxmlformats.org/drawingml/2006/main">
            <a:r>
              <a:t/>
            </a:r>
          </a:p>
          <a:p xmlns:a="http://schemas.openxmlformats.org/drawingml/2006/main">
            <a:r>
              <a:t>2. **return 뒤 안내가 실행되나요?** 같은 호출은 return에서 끝나므로 아래 줄까지 가지 않습니다.</a:t>
            </a:r>
          </a:p>
          <a:p xmlns:a="http://schemas.openxmlformats.org/drawingml/2006/main">
            <a:r>
              <a:t/>
            </a:r>
          </a:p>
          <a:p xmlns:a="http://schemas.openxmlformats.org/drawingml/2006/main">
            <a:r>
              <a:t>3. **None을 0으로 고쳐도 되나요?** 업무 결과가 누락된 원인을 고쳐야 하며 임의 0은 계산 의미를 바꿉니다.</a:t>
            </a:r>
          </a:p>
          <a:p xmlns:a="http://schemas.openxmlformats.org/drawingml/2006/main">
            <a:r>
              <a:t/>
            </a:r>
          </a:p>
          <a:p xmlns:a="http://schemas.openxmlformats.org/drawingml/2006/main">
            <a:r>
              <a:t/>
            </a:r>
          </a:p>
          <a:p xmlns:a="http://schemas.openxmlformats.org/drawingml/2006/main">
            <a:r>
              <a:t>**개념.** print는 값을 화면에 보여 주고 return은 함수를 부른 위치로 값을 돌려줍니다. 화면에 결과가 보였다는 사실과 다음 계산에 사용할 결과를 받았다는 사실은 다릅니다.</a:t>
            </a:r>
          </a:p>
          <a:p xmlns:a="http://schemas.openxmlformats.org/drawingml/2006/main">
            <a:r>
              <a:t/>
            </a:r>
          </a:p>
          <a:p xmlns:a="http://schemas.openxmlformats.org/drawingml/2006/main">
            <a:r>
              <a:t>**왜 필요한가.** 결과를 JSON에 저장하거나 집계하려면 함수가 값을 돌려줘야 합니다. 화면 글자를 다른 코드가 저절로 변수에 담지는 않습니다.</a:t>
            </a:r>
          </a:p>
          <a:p xmlns:a="http://schemas.openxmlformats.org/drawingml/2006/main">
            <a:r>
              <a:t/>
            </a:r>
          </a:p>
          <a:p xmlns:a="http://schemas.openxmlformats.org/drawingml/2006/main">
            <a:r>
              <a:t>**함께 보는 예.** add_offset은 받은 두 수를 더해 반환합니다. result가 23.5를 받고 다음 계산에서 사용합니다. 더하는 값은 수업 계산 예이며 실제 장비 교정값으로 사용하지 않습니다.</a:t>
            </a:r>
          </a:p>
          <a:p xmlns:a="http://schemas.openxmlformats.org/drawingml/2006/main">
            <a:r>
              <a:t/>
            </a:r>
          </a:p>
          <a:p xmlns:a="http://schemas.openxmlformats.org/drawingml/2006/main">
            <a:r>
              <a:t>**헷갈리는 경우.** return 없이 print만 하는 함수의 반환값은 None입니다. 그 값을 숫자처럼 더하려고 하면 오류가 날 수 있습니다. 화면만 보지 말고 return의 역할을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add_offset(value, offset):</a:t>
            </a:r>
          </a:p>
          <a:p xmlns:a="http://schemas.openxmlformats.org/drawingml/2006/main">
            <a:r>
              <a:t>    return value + offset</a:t>
            </a:r>
          </a:p>
          <a:p xmlns:a="http://schemas.openxmlformats.org/drawingml/2006/main">
            <a:r>
              <a:t>result = add_offset(22.5, 1.0)</a:t>
            </a:r>
          </a:p>
          <a:p xmlns:a="http://schemas.openxmlformats.org/drawingml/2006/main">
            <a:r>
              <a:t>print(result)</a:t>
            </a:r>
          </a:p>
          <a:p xmlns:a="http://schemas.openxmlformats.org/drawingml/2006/main">
            <a:r>
              <a:t>print(result + 1)</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add_offset(value, offset):` | 두 값을 받는 작업을 정의합니다. |</a:t>
            </a:r>
          </a:p>
          <a:p xmlns:a="http://schemas.openxmlformats.org/drawingml/2006/main">
            <a:r>
              <a:t>| 2 | `    return value + offset` | 합을 호출한 곳으로 돌려줍니다. |</a:t>
            </a:r>
          </a:p>
          <a:p xmlns:a="http://schemas.openxmlformats.org/drawingml/2006/main">
            <a:r>
              <a:t>| 3 | `result = add_offset(22.5, 1.0)` | 돌아온 결과를 result에 연결합니다. |</a:t>
            </a:r>
          </a:p>
          <a:p xmlns:a="http://schemas.openxmlformats.org/drawingml/2006/main">
            <a:r>
              <a:t>| 4 | `print(result)` | 받은 결과를 출력합니다. |</a:t>
            </a:r>
          </a:p>
          <a:p xmlns:a="http://schemas.openxmlformats.org/drawingml/2006/main">
            <a:r>
              <a:t>| 5 | `print(result + 1)` | 결과를 다음 계산에 사용합니다.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code/A04_example.py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work/A04_example.py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23.5</a:t>
            </a:r>
          </a:p>
          <a:p xmlns:a="http://schemas.openxmlformats.org/drawingml/2006/main">
            <a:r>
              <a:t>24.5</a:t>
            </a:r>
          </a:p>
          <a:p xmlns:a="http://schemas.openxmlformats.org/drawingml/2006/main">
            <a:r>
              <a:t>```</a:t>
            </a:r>
          </a:p>
          <a:p xmlns:a="http://schemas.openxmlformats.org/drawingml/2006/main">
            <a:r>
              <a:t/>
            </a:r>
          </a:p>
          <a:p xmlns:a="http://schemas.openxmlformats.org/drawingml/2006/main">
            <a:r>
              <a:t>작은 수정: `22.5, 1.0`를 `22.5, 2.0`로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24.5</a:t>
            </a:r>
          </a:p>
          <a:p xmlns:a="http://schemas.openxmlformats.org/drawingml/2006/main">
            <a:r>
              <a:t>25.5</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출력과 반환의 경로를 구별합니다.</a:t>
            </a:r>
          </a:p>
          <a:p xmlns:a="http://schemas.openxmlformats.org/drawingml/2006/main">
            <a:r>
              <a:t>2. result가 값을 받는 위치를 찾습니다.</a:t>
            </a:r>
          </a:p>
          <a:p xmlns:a="http://schemas.openxmlformats.org/drawingml/2006/main">
            <a:r>
              <a:t>3. offset을 2.0으로 바꿔 예상합니다.</a:t>
            </a:r>
          </a:p>
          <a:p xmlns:a="http://schemas.openxmlformats.org/drawingml/2006/main">
            <a:r>
              <a:t>4. 두 출력의 관계를 확인합니다.</a:t>
            </a:r>
          </a:p>
          <a:p xmlns:a="http://schemas.openxmlformats.org/drawingml/2006/main">
            <a:r>
              <a:t/>
            </a:r>
          </a:p>
          <a:p xmlns:a="http://schemas.openxmlformats.org/drawingml/2006/main">
            <a:r>
              <a:t>예상 결과: 24.5를 반환하고 다음 계산은 25.5.</a:t>
            </a:r>
          </a:p>
          <a:p xmlns:a="http://schemas.openxmlformats.org/drawingml/2006/main">
            <a:r>
              <a:t/>
            </a:r>
          </a:p>
          <a:p xmlns:a="http://schemas.openxmlformats.org/drawingml/2006/main">
            <a:r>
              <a:t>확인 질문: 화면에 보인 값은 언제나 같은 함수의 반환값인가요?</a:t>
            </a:r>
          </a:p>
          <a:p xmlns:a="http://schemas.openxmlformats.org/drawingml/2006/main">
            <a:r>
              <a:t/>
            </a:r>
          </a:p>
          <a:p xmlns:a="http://schemas.openxmlformats.org/drawingml/2006/main">
            <a:r>
              <a:t>막혔을 때: None이 보이면 return이 있는지, 특정 경로에서 반환 없이 끝나는지 확인합니다.</a:t>
            </a:r>
          </a:p>
          <a:p xmlns:a="http://schemas.openxmlformats.org/drawingml/2006/main">
            <a:r>
              <a:t/>
            </a:r>
          </a:p>
          <a:p xmlns:a="http://schemas.openxmlformats.org/drawingml/2006/main">
            <a:r>
              <a:t>[활동 자료와 작성칸](practice-guide.md#a04--print와-return의-차이)에서 A04를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https://zeusk302-png.github.io/kdigital-physical-ai/#/sessions/2026-10-15/lesson?activity=A04</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A04 상세 원문]</a:t>
            </a:r>
          </a:p>
          <a:p xmlns:a="http://schemas.openxmlformats.org/drawingml/2006/main">
            <a:r>
              <a:t>### 사례로 이해하기 · 화면 표시와 다음 계산의 반환값 구별하기</a:t>
            </a:r>
          </a:p>
          <a:p xmlns:a="http://schemas.openxmlformats.org/drawingml/2006/main">
            <a:r>
              <a:t/>
            </a:r>
          </a:p>
          <a:p xmlns:a="http://schemas.openxmlformats.org/drawingml/2006/main">
            <a:r>
              <a:t/>
            </a:r>
          </a:p>
          <a:p xmlns:a="http://schemas.openxmlformats.org/drawingml/2006/main">
            <a:r>
              <a:t/>
            </a:r>
          </a:p>
          <a:p xmlns:a="http://schemas.openxmlformats.org/drawingml/2006/main">
            <a:r>
              <a:t>청구서 담당자는 수량 3과 단가 1200원으로 상품 금액을 계산한 뒤 배송비 2000원을 더합니다. 첫 계산이 화면에 3600을 보여 주었다고 다음 계산에서 그 값을 사용할 수 있는 것은 아닙니다. 화면 표시는 사람에게 보여 주는 행동이고 반환은 함수를 부른 곳에 결과 값을 보내는 행동입니다. 전자계산기에서 값을 읽는 것과 그 값을 다음 식의 입력으로 전달하는 것을 구별합니다. 필요한 최종 결과를 먼저 쓰면 print와 return의 역할이 선명해집니다.</a:t>
            </a:r>
          </a:p>
          <a:p xmlns:a="http://schemas.openxmlformats.org/drawingml/2006/main">
            <a:r>
              <a:t/>
            </a:r>
          </a:p>
          <a:p xmlns:a="http://schemas.openxmlformats.org/drawingml/2006/main">
            <a:r>
              <a:t>이 함수는 단가와 수량을 정수로 받아 상품 금액을 정수로 돌려줍니다. 수업용 처리 규칙은 단가×수량이며 세금이나 할인은 넣지 않습니다. 호출에서 1200과 3을 주면 함수 안에서 3600을 만들고 return으로 보냅니다. 호출한 쪽은 받은 값에 2000을 더해 최종 5600원을 얻습니다. 손 추적표는 입력 1200·3 → 함수 계산 3600 → 반환 3600 → 배송비 포함 5600 순서입니다. 화면에 무엇이 보이는가와 변수에 무엇이 연결되는가를 다른 칸으로 적습니다.</a:t>
            </a:r>
          </a:p>
          <a:p xmlns:a="http://schemas.openxmlformats.org/drawingml/2006/main">
            <a:r>
              <a:t/>
            </a:r>
          </a:p>
          <a:p xmlns:a="http://schemas.openxmlformats.org/drawingml/2006/main">
            <a:r>
              <a:t>print만 하는 함수는 3600을 화면에 보이게 해도 별도 return이 없으면 호출 결과가 None입니다. None에 2000을 더하면 숫자 계산이 되지 않습니다. 오류를 피하려고 None을 0으로 바꾸면 상품 금액이 사라져 잘못된 청구서가 됩니다. 결과를 계산하는 함수에 return을 두고 필요한 표시를 호출한 쪽에서 맡기는 구조를 생각합니다. 또한 return을 만나는 즉시 그 호출은 끝납니다. 그 아래 줄은 같은 호출에서 이어서 실행되지 않습니다. 조건이 여러 갈래인 함수라면 각 갈래가 무엇을 반환하는지 읽어야 합니다. 한 갈래에서만 반환하면 나머지 입력에서 뜻밖의 None이 생길 수 있습니다.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배송 준비 함수는 포장비 500원을 화면에 표시하지만 반환문이 없습니다. 호출 결과를 fee에 연결한 뒤 총액 3000에 더하려 합니다. 화면값·fee 값·다음 계산을 분리해 설명하고 올바른 역할 배치를 문장으로 설계하세요.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화면에는 500이 보이지만 fee는 None이며 다음 덧셈은 TypeError가 날 수 있습니다. 함수가 500을 반환하고 호출자가 총액에 더한 뒤 표시하도록 설계합니다. 화면에 500이 보이므로 fee도 500이라는 답은 표시와 반환을 혼동한 것입니다.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**print의 결과가 자동 저장되나요?** 표시와 반환은 별도이며 호출 결과를 보려면 return을 확인합니다.</a:t>
            </a:r>
          </a:p>
          <a:p xmlns:a="http://schemas.openxmlformats.org/drawingml/2006/main">
            <a:r>
              <a:t/>
            </a:r>
          </a:p>
          <a:p xmlns:a="http://schemas.openxmlformats.org/drawingml/2006/main">
            <a:r>
              <a:t>2. **return 뒤 안내가 실행되나요?** 같은 호출은 return에서 끝나므로 아래 줄까지 가지 않습니다.</a:t>
            </a:r>
          </a:p>
          <a:p xmlns:a="http://schemas.openxmlformats.org/drawingml/2006/main">
            <a:r>
              <a:t/>
            </a:r>
          </a:p>
          <a:p xmlns:a="http://schemas.openxmlformats.org/drawingml/2006/main">
            <a:r>
              <a:t>3. **None을 0으로 고쳐도 되나요?** 업무 결과가 누락된 원인을 고쳐야 하며 임의 0은 계산 의미를 바꿉니다.</a:t>
            </a:r>
          </a:p>
          <a:p xmlns:a="http://schemas.openxmlformats.org/drawingml/2006/main">
            <a:r>
              <a:t/>
            </a:r>
          </a:p>
          <a:p xmlns:a="http://schemas.openxmlformats.org/drawingml/2006/main">
            <a:r>
              <a:t/>
            </a:r>
          </a:p>
          <a:p xmlns:a="http://schemas.openxmlformats.org/drawingml/2006/main">
            <a:r>
              <a:t>**개념.** print는 값을 화면에 보여 주고 return은 함수를 부른 위치로 값을 돌려줍니다. 화면에 결과가 보였다는 사실과 다음 계산에 사용할 결과를 받았다는 사실은 다릅니다.</a:t>
            </a:r>
          </a:p>
          <a:p xmlns:a="http://schemas.openxmlformats.org/drawingml/2006/main">
            <a:r>
              <a:t/>
            </a:r>
          </a:p>
          <a:p xmlns:a="http://schemas.openxmlformats.org/drawingml/2006/main">
            <a:r>
              <a:t>**왜 필요한가.** 결과를 JSON에 저장하거나 집계하려면 함수가 값을 돌려줘야 합니다. 화면 글자를 다른 코드가 저절로 변수에 담지는 않습니다.</a:t>
            </a:r>
          </a:p>
          <a:p xmlns:a="http://schemas.openxmlformats.org/drawingml/2006/main">
            <a:r>
              <a:t/>
            </a:r>
          </a:p>
          <a:p xmlns:a="http://schemas.openxmlformats.org/drawingml/2006/main">
            <a:r>
              <a:t>**함께 보는 예.** add_offset은 받은 두 수를 더해 반환합니다. result가 23.5를 받고 다음 계산에서 사용합니다. 더하는 값은 수업 계산 예이며 실제 장비 교정값으로 사용하지 않습니다.</a:t>
            </a:r>
          </a:p>
          <a:p xmlns:a="http://schemas.openxmlformats.org/drawingml/2006/main">
            <a:r>
              <a:t/>
            </a:r>
          </a:p>
          <a:p xmlns:a="http://schemas.openxmlformats.org/drawingml/2006/main">
            <a:r>
              <a:t>**헷갈리는 경우.** return 없이 print만 하는 함수의 반환값은 None입니다. 그 값을 숫자처럼 더하려고 하면 오류가 날 수 있습니다. 화면만 보지 말고 return의 역할을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add_offset(value, offset):</a:t>
            </a:r>
          </a:p>
          <a:p xmlns:a="http://schemas.openxmlformats.org/drawingml/2006/main">
            <a:r>
              <a:t>    return value + offset</a:t>
            </a:r>
          </a:p>
          <a:p xmlns:a="http://schemas.openxmlformats.org/drawingml/2006/main">
            <a:r>
              <a:t>result = add_offset(22.5, 1.0)</a:t>
            </a:r>
          </a:p>
          <a:p xmlns:a="http://schemas.openxmlformats.org/drawingml/2006/main">
            <a:r>
              <a:t>print(result)</a:t>
            </a:r>
          </a:p>
          <a:p xmlns:a="http://schemas.openxmlformats.org/drawingml/2006/main">
            <a:r>
              <a:t>print(result + 1)</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add_offset(value, offset):` | 두 값을 받는 작업을 정의합니다. |</a:t>
            </a:r>
          </a:p>
          <a:p xmlns:a="http://schemas.openxmlformats.org/drawingml/2006/main">
            <a:r>
              <a:t>| 2 | `    return value + offset` | 합을 호출한 곳으로 돌려줍니다. |</a:t>
            </a:r>
          </a:p>
          <a:p xmlns:a="http://schemas.openxmlformats.org/drawingml/2006/main">
            <a:r>
              <a:t>| 3 | `result = add_offset(22.5, 1.0)` | 돌아온 결과를 result에 연결합니다. |</a:t>
            </a:r>
          </a:p>
          <a:p xmlns:a="http://schemas.openxmlformats.org/drawingml/2006/main">
            <a:r>
              <a:t>| 4 | `print(result)` | 받은 결과를 출력합니다. |</a:t>
            </a:r>
          </a:p>
          <a:p xmlns:a="http://schemas.openxmlformats.org/drawingml/2006/main">
            <a:r>
              <a:t>| 5 | `print(result + 1)` | 결과를 다음 계산에 사용합니다.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code/A04_example.py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work/A04_example.py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23.5</a:t>
            </a:r>
          </a:p>
          <a:p xmlns:a="http://schemas.openxmlformats.org/drawingml/2006/main">
            <a:r>
              <a:t>24.5</a:t>
            </a:r>
          </a:p>
          <a:p xmlns:a="http://schemas.openxmlformats.org/drawingml/2006/main">
            <a:r>
              <a:t>```</a:t>
            </a:r>
          </a:p>
          <a:p xmlns:a="http://schemas.openxmlformats.org/drawingml/2006/main">
            <a:r>
              <a:t/>
            </a:r>
          </a:p>
          <a:p xmlns:a="http://schemas.openxmlformats.org/drawingml/2006/main">
            <a:r>
              <a:t>작은 수정: `22.5, 1.0`를 `22.5, 2.0`로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24.5</a:t>
            </a:r>
          </a:p>
          <a:p xmlns:a="http://schemas.openxmlformats.org/drawingml/2006/main">
            <a:r>
              <a:t>25.5</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출력과 반환의 경로를 구별합니다.</a:t>
            </a:r>
          </a:p>
          <a:p xmlns:a="http://schemas.openxmlformats.org/drawingml/2006/main">
            <a:r>
              <a:t>2. result가 값을 받는 위치를 찾습니다.</a:t>
            </a:r>
          </a:p>
          <a:p xmlns:a="http://schemas.openxmlformats.org/drawingml/2006/main">
            <a:r>
              <a:t>3. offset을 2.0으로 바꿔 예상합니다.</a:t>
            </a:r>
          </a:p>
          <a:p xmlns:a="http://schemas.openxmlformats.org/drawingml/2006/main">
            <a:r>
              <a:t>4. 두 출력의 관계를 확인합니다.</a:t>
            </a:r>
          </a:p>
          <a:p xmlns:a="http://schemas.openxmlformats.org/drawingml/2006/main">
            <a:r>
              <a:t/>
            </a:r>
          </a:p>
          <a:p xmlns:a="http://schemas.openxmlformats.org/drawingml/2006/main">
            <a:r>
              <a:t>예상 결과: 24.5를 반환하고 다음 계산은 25.5.</a:t>
            </a:r>
          </a:p>
          <a:p xmlns:a="http://schemas.openxmlformats.org/drawingml/2006/main">
            <a:r>
              <a:t/>
            </a:r>
          </a:p>
          <a:p xmlns:a="http://schemas.openxmlformats.org/drawingml/2006/main">
            <a:r>
              <a:t>확인 질문: 화면에 보인 값은 언제나 같은 함수의 반환값인가요?</a:t>
            </a:r>
          </a:p>
          <a:p xmlns:a="http://schemas.openxmlformats.org/drawingml/2006/main">
            <a:r>
              <a:t/>
            </a:r>
          </a:p>
          <a:p xmlns:a="http://schemas.openxmlformats.org/drawingml/2006/main">
            <a:r>
              <a:t>막혔을 때: None이 보이면 return이 있는지, 특정 경로에서 반환 없이 끝나는지 확인합니다.</a:t>
            </a:r>
          </a:p>
          <a:p xmlns:a="http://schemas.openxmlformats.org/drawingml/2006/main">
            <a:r>
              <a:t/>
            </a:r>
          </a:p>
          <a:p xmlns:a="http://schemas.openxmlformats.org/drawingml/2006/main">
            <a:r>
              <a:t>[활동 자료와 작성칸](practice-guide.md#a04--print와-return의-차이)에서 A04를 엽니다.</a:t>
            </a:r>
          </a:p>
          <a:p xmlns:a="http://schemas.openxmlformats.org/drawingml/2006/main">
            <a:r>
              <a:t/>
            </a:r>
          </a:p>
          <a:p xmlns:a="http://schemas.openxmlformats.org/drawingml/2006/main">
            <a:r>
              <a:t>화면 예의 출처: D:/KDigital_PhysicalAI/.build/copyedited-ppt/spec-2026-10-15.json#slide-24;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https://zeusk302-png.github.io/kdigital-physical-ai/#/sessions/2026-10-15/lesson?activity=A04</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code/A05_example.py</a:t>
            </a:r>
          </a:p>
          <a:p xmlns:a="http://schemas.openxmlformats.org/drawingml/2006/main">
            <a:r>
              <a:t>수정한 파일을 실행할 때는 code 대신 work 폴더를 지정합니다. 직접 실행할 수 없으면 입력값부터 코드의 처리 순서를 따라 적고 강사의 결과와 비교합니다.</a:t>
            </a:r>
          </a:p>
          <a:p xmlns:a="http://schemas.openxmlformats.org/drawingml/2006/main">
            <a:r>
              <a:t/>
            </a:r>
          </a:p>
          <a:p xmlns:a="http://schemas.openxmlformats.org/drawingml/2006/main">
            <a:r>
              <a:t>[활동 A05 상세 원문]</a:t>
            </a:r>
          </a:p>
          <a:p xmlns:a="http://schemas.openxmlformats.org/drawingml/2006/main">
            <a:r>
              <a:t>**개념.** 함수 안에서도 if를 사용할 수 있습니다. 입력을 받아 조건에 맞는 상태 문자열을 돌려주는 규칙을 만듭니다. return을 만나면 그 호출은 결과를 돌려주고 끝납니다.</a:t>
            </a:r>
          </a:p>
          <a:p xmlns:a="http://schemas.openxmlformats.org/drawingml/2006/main">
            <a:r>
              <a:t/>
            </a:r>
          </a:p>
          <a:p xmlns:a="http://schemas.openxmlformats.org/drawingml/2006/main">
            <a:r>
              <a:t>**왜 필요한가.** 상태 규칙과 출력 위치를 나누면 같은 결과를 화면이나 파일에 사용할 수 있습니다. 함수가 입력값을 바꾸는지 새 결과만 만드는지도 설명합니다.</a:t>
            </a:r>
          </a:p>
          <a:p xmlns:a="http://schemas.openxmlformats.org/drawingml/2006/main">
            <a:r>
              <a:t/>
            </a:r>
          </a:p>
          <a:p xmlns:a="http://schemas.openxmlformats.org/drawingml/2006/main">
            <a:r>
              <a:t>**함께 보는 예.** None이면 미측정,24.0 초과면 확인,나머지는 정상입니다. 앞의 return을 실행한 호출은 아래 비교로 다시 내려가지 않습니다.</a:t>
            </a:r>
          </a:p>
          <a:p xmlns:a="http://schemas.openxmlformats.org/drawingml/2006/main">
            <a:r>
              <a:t/>
            </a:r>
          </a:p>
          <a:p xmlns:a="http://schemas.openxmlformats.org/drawingml/2006/main">
            <a:r>
              <a:t>**헷갈리는 경우.** 함수로 묶었다고 자료형 규칙이 없어지는 것은 아닙니다. None을 먼저 숫자와 비교하면 TypeError가 나므로 값 없음의 처리를 앞에 둡니다.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temperature_status(value):</a:t>
            </a:r>
          </a:p>
          <a:p xmlns:a="http://schemas.openxmlformats.org/drawingml/2006/main">
            <a:r>
              <a:t>    if value is None:</a:t>
            </a:r>
          </a:p>
          <a:p xmlns:a="http://schemas.openxmlformats.org/drawingml/2006/main">
            <a:r>
              <a:t>        return "미측정"</a:t>
            </a:r>
          </a:p>
          <a:p xmlns:a="http://schemas.openxmlformats.org/drawingml/2006/main">
            <a:r>
              <a:t>    if value &gt; 24.0:</a:t>
            </a:r>
          </a:p>
          <a:p xmlns:a="http://schemas.openxmlformats.org/drawingml/2006/main">
            <a:r>
              <a:t>        return "확인"</a:t>
            </a:r>
          </a:p>
          <a:p xmlns:a="http://schemas.openxmlformats.org/drawingml/2006/main">
            <a:r>
              <a:t>    return "정상"</a:t>
            </a:r>
          </a:p>
          <a:p xmlns:a="http://schemas.openxmlformats.org/drawingml/2006/main">
            <a:r>
              <a:t>print(temperature_status(22.5))</a:t>
            </a:r>
          </a:p>
          <a:p xmlns:a="http://schemas.openxmlformats.org/drawingml/2006/main">
            <a:r>
              <a:t>print(temperature_status(None))</a:t>
            </a:r>
          </a:p>
          <a:p xmlns:a="http://schemas.openxmlformats.org/drawingml/2006/main">
            <a:r>
              <a:t>print(temperature_status(25.0))</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temperature_status(value):` | 값을 받는 함수를 정의합니다. |</a:t>
            </a:r>
          </a:p>
          <a:p xmlns:a="http://schemas.openxmlformats.org/drawingml/2006/main">
            <a:r>
              <a:t>| 2 | `    if value is None:` | 값 없음을 먼저 확인합니다. |</a:t>
            </a:r>
          </a:p>
          <a:p xmlns:a="http://schemas.openxmlformats.org/drawingml/2006/main">
            <a:r>
              <a:t>| 3 | `        return "미측정"` | 미측정으로 반환하고 끝냅니다. |</a:t>
            </a:r>
          </a:p>
          <a:p xmlns:a="http://schemas.openxmlformats.org/drawingml/2006/main">
            <a:r>
              <a:t>| 4 | `    if value &gt; 24.0:` | 숫자의 기준 초과를 묻습니다. |</a:t>
            </a:r>
          </a:p>
          <a:p xmlns:a="http://schemas.openxmlformats.org/drawingml/2006/main">
            <a:r>
              <a:t>| 5 | `        return "확인"` | 초과 상태를 반환합니다. |</a:t>
            </a:r>
          </a:p>
          <a:p xmlns:a="http://schemas.openxmlformats.org/drawingml/2006/main">
            <a:r>
              <a:t>| 6 | `    return "정상"` | 나머지 상태를 반환합니다. |</a:t>
            </a:r>
          </a:p>
          <a:p xmlns:a="http://schemas.openxmlformats.org/drawingml/2006/main">
            <a:r>
              <a:t>| 7 | `print(temperature_status(22.5))` | 정상 입력을 확인합니다. |</a:t>
            </a:r>
          </a:p>
          <a:p xmlns:a="http://schemas.openxmlformats.org/drawingml/2006/main">
            <a:r>
              <a:t>| 8 | `print(temperature_status(None))` | 미측정 입력을 확인합니다. |</a:t>
            </a:r>
          </a:p>
          <a:p xmlns:a="http://schemas.openxmlformats.org/drawingml/2006/main">
            <a:r>
              <a:t>| 9 | `print(temperature_status(25.0))` | 초과 입력을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code/A05_example.py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work/A05_example.py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정상</a:t>
            </a:r>
          </a:p>
          <a:p xmlns:a="http://schemas.openxmlformats.org/drawingml/2006/main">
            <a:r>
              <a:t>미측정</a:t>
            </a:r>
          </a:p>
          <a:p xmlns:a="http://schemas.openxmlformats.org/drawingml/2006/main">
            <a:r>
              <a:t>확인</a:t>
            </a:r>
          </a:p>
          <a:p xmlns:a="http://schemas.openxmlformats.org/drawingml/2006/main">
            <a:r>
              <a:t>```</a:t>
            </a:r>
          </a:p>
          <a:p xmlns:a="http://schemas.openxmlformats.org/drawingml/2006/main">
            <a:r>
              <a:t/>
            </a:r>
          </a:p>
          <a:p xmlns:a="http://schemas.openxmlformats.org/drawingml/2006/main">
            <a:r>
              <a:t>작은 수정: `temperature_status(25.0)`를 `temperature_status(24.0)`로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정상</a:t>
            </a:r>
          </a:p>
          <a:p xmlns:a="http://schemas.openxmlformats.org/drawingml/2006/main">
            <a:r>
              <a:t>미측정</a:t>
            </a:r>
          </a:p>
          <a:p xmlns:a="http://schemas.openxmlformats.org/drawingml/2006/main">
            <a:r>
              <a:t>정상</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입력별 도달하는 return을 표시합니다.</a:t>
            </a:r>
          </a:p>
          <a:p xmlns:a="http://schemas.openxmlformats.org/drawingml/2006/main">
            <a:r>
              <a:t>2. 마지막 입력을 24.0으로 바꿉니다.</a:t>
            </a:r>
          </a:p>
          <a:p xmlns:a="http://schemas.openxmlformats.org/drawingml/2006/main">
            <a:r>
              <a:t>3. 상태 문자열만 생기는지 입력이 바뀌는지 설명합니다.</a:t>
            </a:r>
          </a:p>
          <a:p xmlns:a="http://schemas.openxmlformats.org/drawingml/2006/main">
            <a:r>
              <a:t>4. None 확인을 먼저 하는 이유를 씁니다.</a:t>
            </a:r>
          </a:p>
          <a:p xmlns:a="http://schemas.openxmlformats.org/drawingml/2006/main">
            <a:r>
              <a:t/>
            </a:r>
          </a:p>
          <a:p xmlns:a="http://schemas.openxmlformats.org/drawingml/2006/main">
            <a:r>
              <a:t>예상 결과: 정상·미측정·정상. 같은 값은 초과가 아닙니다.</a:t>
            </a:r>
          </a:p>
          <a:p xmlns:a="http://schemas.openxmlformats.org/drawingml/2006/main">
            <a:r>
              <a:t/>
            </a:r>
          </a:p>
          <a:p xmlns:a="http://schemas.openxmlformats.org/drawingml/2006/main">
            <a:r>
              <a:t>확인 질문: return 뒤의 코드를 같은 호출이 모두 실행하나요?</a:t>
            </a:r>
          </a:p>
          <a:p xmlns:a="http://schemas.openxmlformats.org/drawingml/2006/main">
            <a:r>
              <a:t/>
            </a:r>
          </a:p>
          <a:p xmlns:a="http://schemas.openxmlformats.org/drawingml/2006/main">
            <a:r>
              <a:t>막혔을 때: 미측정 오류는 숫자 비교보다 None 검사가 앞인지 확인합니다.</a:t>
            </a:r>
          </a:p>
          <a:p xmlns:a="http://schemas.openxmlformats.org/drawingml/2006/main">
            <a:r>
              <a:t/>
            </a:r>
          </a:p>
          <a:p xmlns:a="http://schemas.openxmlformats.org/drawingml/2006/main">
            <a:r>
              <a:t>[활동 자료와 작성칸](practice-guide.md#a05--조건을-담은-상태-함수)에서 A05를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https://zeusk302-png.github.io/kdigital-physical-ai/#/sessions/2026-10-15/lesson?activity=A05</a:t>
            </a:r>
          </a:p>
          <a:p xmlns:a="http://schemas.openxmlformats.org/drawingml/2006/main">
            <a:r>
              <a:t>공식 자료: https://docs.python.org/3/tutorial/inputoutput.html</a:t>
            </a:r>
          </a:p>
          <a:p xmlns:a="http://schemas.openxmlformats.org/drawingml/2006/main">
            <a:r>
              <a:t/>
            </a:r>
          </a:p>
          <a:p xmlns:a="http://schemas.openxmlformats.org/drawingml/2006/main">
            <a:r>
              <a:t>코드와 개념 해설: return을 실행하면 그 호출은 끝납니다</a:t>
            </a:r>
          </a:p>
          <a:p xmlns:a="http://schemas.openxmlformats.org/drawingml/2006/main">
            <a:r>
              <a:t>24.0 자체는 초과가 아니어서 정상입니다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A05 상세 원문]</a:t>
            </a:r>
          </a:p>
          <a:p xmlns:a="http://schemas.openxmlformats.org/drawingml/2006/main">
            <a:r>
              <a:t>**개념.** 함수 안에서도 if를 사용할 수 있습니다. 입력을 받아 조건에 맞는 상태 문자열을 돌려주는 규칙을 만듭니다. return을 만나면 그 호출은 결과를 돌려주고 끝납니다.</a:t>
            </a:r>
          </a:p>
          <a:p xmlns:a="http://schemas.openxmlformats.org/drawingml/2006/main">
            <a:r>
              <a:t/>
            </a:r>
          </a:p>
          <a:p xmlns:a="http://schemas.openxmlformats.org/drawingml/2006/main">
            <a:r>
              <a:t>**왜 필요한가.** 상태 규칙과 출력 위치를 나누면 같은 결과를 화면이나 파일에 사용할 수 있습니다. 함수가 입력값을 바꾸는지 새 결과만 만드는지도 설명합니다.</a:t>
            </a:r>
          </a:p>
          <a:p xmlns:a="http://schemas.openxmlformats.org/drawingml/2006/main">
            <a:r>
              <a:t/>
            </a:r>
          </a:p>
          <a:p xmlns:a="http://schemas.openxmlformats.org/drawingml/2006/main">
            <a:r>
              <a:t>**함께 보는 예.** None이면 미측정,24.0 초과면 확인,나머지는 정상입니다. 앞의 return을 실행한 호출은 아래 비교로 다시 내려가지 않습니다.</a:t>
            </a:r>
          </a:p>
          <a:p xmlns:a="http://schemas.openxmlformats.org/drawingml/2006/main">
            <a:r>
              <a:t/>
            </a:r>
          </a:p>
          <a:p xmlns:a="http://schemas.openxmlformats.org/drawingml/2006/main">
            <a:r>
              <a:t>**헷갈리는 경우.** 함수로 묶었다고 자료형 규칙이 없어지는 것은 아닙니다. None을 먼저 숫자와 비교하면 TypeError가 나므로 값 없음의 처리를 앞에 둡니다.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temperature_status(value):</a:t>
            </a:r>
          </a:p>
          <a:p xmlns:a="http://schemas.openxmlformats.org/drawingml/2006/main">
            <a:r>
              <a:t>    if value is None:</a:t>
            </a:r>
          </a:p>
          <a:p xmlns:a="http://schemas.openxmlformats.org/drawingml/2006/main">
            <a:r>
              <a:t>        return "미측정"</a:t>
            </a:r>
          </a:p>
          <a:p xmlns:a="http://schemas.openxmlformats.org/drawingml/2006/main">
            <a:r>
              <a:t>    if value &gt; 24.0:</a:t>
            </a:r>
          </a:p>
          <a:p xmlns:a="http://schemas.openxmlformats.org/drawingml/2006/main">
            <a:r>
              <a:t>        return "확인"</a:t>
            </a:r>
          </a:p>
          <a:p xmlns:a="http://schemas.openxmlformats.org/drawingml/2006/main">
            <a:r>
              <a:t>    return "정상"</a:t>
            </a:r>
          </a:p>
          <a:p xmlns:a="http://schemas.openxmlformats.org/drawingml/2006/main">
            <a:r>
              <a:t>print(temperature_status(22.5))</a:t>
            </a:r>
          </a:p>
          <a:p xmlns:a="http://schemas.openxmlformats.org/drawingml/2006/main">
            <a:r>
              <a:t>print(temperature_status(None))</a:t>
            </a:r>
          </a:p>
          <a:p xmlns:a="http://schemas.openxmlformats.org/drawingml/2006/main">
            <a:r>
              <a:t>print(temperature_status(25.0))</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temperature_status(value):` | 값을 받는 함수를 정의합니다. |</a:t>
            </a:r>
          </a:p>
          <a:p xmlns:a="http://schemas.openxmlformats.org/drawingml/2006/main">
            <a:r>
              <a:t>| 2 | `    if value is None:` | 값 없음을 먼저 확인합니다. |</a:t>
            </a:r>
          </a:p>
          <a:p xmlns:a="http://schemas.openxmlformats.org/drawingml/2006/main">
            <a:r>
              <a:t>| 3 | `        return "미측정"` | 미측정으로 반환하고 끝냅니다. |</a:t>
            </a:r>
          </a:p>
          <a:p xmlns:a="http://schemas.openxmlformats.org/drawingml/2006/main">
            <a:r>
              <a:t>| 4 | `    if value &gt; 24.0:` | 숫자의 기준 초과를 묻습니다. |</a:t>
            </a:r>
          </a:p>
          <a:p xmlns:a="http://schemas.openxmlformats.org/drawingml/2006/main">
            <a:r>
              <a:t>| 5 | `        return "확인"` | 초과 상태를 반환합니다. |</a:t>
            </a:r>
          </a:p>
          <a:p xmlns:a="http://schemas.openxmlformats.org/drawingml/2006/main">
            <a:r>
              <a:t>| 6 | `    return "정상"` | 나머지 상태를 반환합니다. |</a:t>
            </a:r>
          </a:p>
          <a:p xmlns:a="http://schemas.openxmlformats.org/drawingml/2006/main">
            <a:r>
              <a:t>| 7 | `print(temperature_status(22.5))` | 정상 입력을 확인합니다. |</a:t>
            </a:r>
          </a:p>
          <a:p xmlns:a="http://schemas.openxmlformats.org/drawingml/2006/main">
            <a:r>
              <a:t>| 8 | `print(temperature_status(None))` | 미측정 입력을 확인합니다. |</a:t>
            </a:r>
          </a:p>
          <a:p xmlns:a="http://schemas.openxmlformats.org/drawingml/2006/main">
            <a:r>
              <a:t>| 9 | `print(temperature_status(25.0))` | 초과 입력을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code/A05_example.py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work/A05_example.py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정상</a:t>
            </a:r>
          </a:p>
          <a:p xmlns:a="http://schemas.openxmlformats.org/drawingml/2006/main">
            <a:r>
              <a:t>미측정</a:t>
            </a:r>
          </a:p>
          <a:p xmlns:a="http://schemas.openxmlformats.org/drawingml/2006/main">
            <a:r>
              <a:t>확인</a:t>
            </a:r>
          </a:p>
          <a:p xmlns:a="http://schemas.openxmlformats.org/drawingml/2006/main">
            <a:r>
              <a:t>```</a:t>
            </a:r>
          </a:p>
          <a:p xmlns:a="http://schemas.openxmlformats.org/drawingml/2006/main">
            <a:r>
              <a:t/>
            </a:r>
          </a:p>
          <a:p xmlns:a="http://schemas.openxmlformats.org/drawingml/2006/main">
            <a:r>
              <a:t>작은 수정: `temperature_status(25.0)`를 `temperature_status(24.0)`로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정상</a:t>
            </a:r>
          </a:p>
          <a:p xmlns:a="http://schemas.openxmlformats.org/drawingml/2006/main">
            <a:r>
              <a:t>미측정</a:t>
            </a:r>
          </a:p>
          <a:p xmlns:a="http://schemas.openxmlformats.org/drawingml/2006/main">
            <a:r>
              <a:t>정상</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입력별 도달하는 return을 표시합니다.</a:t>
            </a:r>
          </a:p>
          <a:p xmlns:a="http://schemas.openxmlformats.org/drawingml/2006/main">
            <a:r>
              <a:t>2. 마지막 입력을 24.0으로 바꿉니다.</a:t>
            </a:r>
          </a:p>
          <a:p xmlns:a="http://schemas.openxmlformats.org/drawingml/2006/main">
            <a:r>
              <a:t>3. 상태 문자열만 생기는지 입력이 바뀌는지 설명합니다.</a:t>
            </a:r>
          </a:p>
          <a:p xmlns:a="http://schemas.openxmlformats.org/drawingml/2006/main">
            <a:r>
              <a:t>4. None 확인을 먼저 하는 이유를 씁니다.</a:t>
            </a:r>
          </a:p>
          <a:p xmlns:a="http://schemas.openxmlformats.org/drawingml/2006/main">
            <a:r>
              <a:t/>
            </a:r>
          </a:p>
          <a:p xmlns:a="http://schemas.openxmlformats.org/drawingml/2006/main">
            <a:r>
              <a:t>예상 결과: 정상·미측정·정상. 같은 값은 초과가 아닙니다.</a:t>
            </a:r>
          </a:p>
          <a:p xmlns:a="http://schemas.openxmlformats.org/drawingml/2006/main">
            <a:r>
              <a:t/>
            </a:r>
          </a:p>
          <a:p xmlns:a="http://schemas.openxmlformats.org/drawingml/2006/main">
            <a:r>
              <a:t>확인 질문: return 뒤의 코드를 같은 호출이 모두 실행하나요?</a:t>
            </a:r>
          </a:p>
          <a:p xmlns:a="http://schemas.openxmlformats.org/drawingml/2006/main">
            <a:r>
              <a:t/>
            </a:r>
          </a:p>
          <a:p xmlns:a="http://schemas.openxmlformats.org/drawingml/2006/main">
            <a:r>
              <a:t>막혔을 때: 미측정 오류는 숫자 비교보다 None 검사가 앞인지 확인합니다.</a:t>
            </a:r>
          </a:p>
          <a:p xmlns:a="http://schemas.openxmlformats.org/drawingml/2006/main">
            <a:r>
              <a:t/>
            </a:r>
          </a:p>
          <a:p xmlns:a="http://schemas.openxmlformats.org/drawingml/2006/main">
            <a:r>
              <a:t>[활동 자료와 작성칸](practice-guide.md#a05--조건을-담은-상태-함수)에서 A05를 엽니다.</a:t>
            </a:r>
          </a:p>
          <a:p xmlns:a="http://schemas.openxmlformats.org/drawingml/2006/main">
            <a:r>
              <a:t/>
            </a:r>
          </a:p>
          <a:p xmlns:a="http://schemas.openxmlformats.org/drawingml/2006/main">
            <a:r>
              <a:t>화면 예의 출처: D:/KDigital_PhysicalAI/.build/copyedited-ppt/spec-2026-10-15.json#slide-28;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https://zeusk302-png.github.io/kdigital-physical-ai/#/sessions/2026-10-15/lesson?activity=A05</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A06 상세 원문]</a:t>
            </a:r>
          </a:p>
          <a:p xmlns:a="http://schemas.openxmlformats.org/drawingml/2006/main">
            <a:r>
              <a:t>**개념.** 검증 사례는 입력과 기대 결과를 미리 적어 실제 결과와 비교하는 한 경우입니다. 정상값뿐 아니라 경계와 값 없음의 사례도 포함합니다.</a:t>
            </a:r>
          </a:p>
          <a:p xmlns:a="http://schemas.openxmlformats.org/drawingml/2006/main">
            <a:r>
              <a:t/>
            </a:r>
          </a:p>
          <a:p xmlns:a="http://schemas.openxmlformats.org/drawingml/2006/main">
            <a:r>
              <a:t>**왜 필요한가.** 프로그램이 보여 준 결과를 그대로 정답으로 적으면 잘못된 코드도 통과합니다. 실행 전에 업무 규칙에서 기대값을 정해야 합니다.</a:t>
            </a:r>
          </a:p>
          <a:p xmlns:a="http://schemas.openxmlformats.org/drawingml/2006/main">
            <a:r>
              <a:t/>
            </a:r>
          </a:p>
          <a:p xmlns:a="http://schemas.openxmlformats.org/drawingml/2006/main">
            <a:r>
              <a:t>**함께 보는 예.** 23.9·24.0·24.1은 정상·정상·확인입니다. None은 미측정이고 0.0은 실제 숫자입니다. 다섯 사례는 서로 다른 실수를 확인합니다.</a:t>
            </a:r>
          </a:p>
          <a:p xmlns:a="http://schemas.openxmlformats.org/drawingml/2006/main">
            <a:r>
              <a:t/>
            </a:r>
          </a:p>
          <a:p xmlns:a="http://schemas.openxmlformats.org/drawingml/2006/main">
            <a:r>
              <a:t>**헷갈리는 경우.** 다섯 사례를 통과했다고 모든 입력을 확인한 것은 아닙니다. 글자와 범위 밖 숫자는 아직 검사하지 않았다는 한계를 남깁니다.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입력:23.9 /24.0 /24.1 /None /0.0.</a:t>
            </a:r>
          </a:p>
          <a:p xmlns:a="http://schemas.openxmlformats.org/drawingml/2006/main">
            <a:r>
              <a:t>각 행: 기대 상태 / 실제 상태 / 일치 여부 / 이 사례가 필요한 이유.</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24.0 초과 규칙을 문장으로 적습니다.</a:t>
            </a:r>
          </a:p>
          <a:p xmlns:a="http://schemas.openxmlformats.org/drawingml/2006/main">
            <a:r>
              <a:t>2. 다섯 기대값을 먼저 채웁니다.</a:t>
            </a:r>
          </a:p>
          <a:p xmlns:a="http://schemas.openxmlformats.org/drawingml/2006/main">
            <a:r>
              <a:t>3. A05 호출값을 바꾸어 대조합니다.</a:t>
            </a:r>
          </a:p>
          <a:p xmlns:a="http://schemas.openxmlformats.org/drawingml/2006/main">
            <a:r>
              <a:t>4. 통과한 범위와 남은 입력 종류를 나눕니다.</a:t>
            </a:r>
          </a:p>
          <a:p xmlns:a="http://schemas.openxmlformats.org/drawingml/2006/main">
            <a:r>
              <a:t/>
            </a:r>
          </a:p>
          <a:p xmlns:a="http://schemas.openxmlformats.org/drawingml/2006/main">
            <a:r>
              <a:t>예상 결과: 정상/정상/확인/미측정/정상과 판단 이유.</a:t>
            </a:r>
          </a:p>
          <a:p xmlns:a="http://schemas.openxmlformats.org/drawingml/2006/main">
            <a:r>
              <a:t/>
            </a:r>
          </a:p>
          <a:p xmlns:a="http://schemas.openxmlformats.org/drawingml/2006/main">
            <a:r>
              <a:t>확인 질문: 20과 30만 확인하면 놓칠 수 있는 실수는 무엇인가요?</a:t>
            </a:r>
          </a:p>
          <a:p xmlns:a="http://schemas.openxmlformats.org/drawingml/2006/main">
            <a:r>
              <a:t/>
            </a:r>
          </a:p>
          <a:p xmlns:a="http://schemas.openxmlformats.org/drawingml/2006/main">
            <a:r>
              <a:t>막혔을 때: 기대값이 애매하면 코드 대신 초과라는 업무 문구를 먼저 읽습니다.</a:t>
            </a:r>
          </a:p>
          <a:p xmlns:a="http://schemas.openxmlformats.org/drawingml/2006/main">
            <a:r>
              <a:t/>
            </a:r>
          </a:p>
          <a:p xmlns:a="http://schemas.openxmlformats.org/drawingml/2006/main">
            <a:r>
              <a:t>[활동 자료와 작성칸](practice-guide.md#a06--예상-사례표로-함수-확인하기)에서 A06를 엽니다.</a:t>
            </a:r>
          </a:p>
          <a:p xmlns:a="http://schemas.openxmlformats.org/drawingml/2006/main">
            <a:r>
              <a:t/>
            </a:r>
          </a:p>
          <a:p xmlns:a="http://schemas.openxmlformats.org/drawingml/2006/main">
            <a:r>
              <a:t># 3구간 · 파일을 읽고 결과 저장</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https://zeusk302-png.github.io/kdigital-physical-ai/#/sessions/2026-10-15/lesson?activity=A06</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A06 상세 원문]</a:t>
            </a:r>
          </a:p>
          <a:p xmlns:a="http://schemas.openxmlformats.org/drawingml/2006/main">
            <a:r>
              <a:t>**개념.** 검증 사례는 입력과 기대 결과를 미리 적어 실제 결과와 비교하는 한 경우입니다. 정상값뿐 아니라 경계와 값 없음의 사례도 포함합니다.</a:t>
            </a:r>
          </a:p>
          <a:p xmlns:a="http://schemas.openxmlformats.org/drawingml/2006/main">
            <a:r>
              <a:t/>
            </a:r>
          </a:p>
          <a:p xmlns:a="http://schemas.openxmlformats.org/drawingml/2006/main">
            <a:r>
              <a:t>**왜 필요한가.** 프로그램이 보여 준 결과를 그대로 정답으로 적으면 잘못된 코드도 통과합니다. 실행 전에 업무 규칙에서 기대값을 정해야 합니다.</a:t>
            </a:r>
          </a:p>
          <a:p xmlns:a="http://schemas.openxmlformats.org/drawingml/2006/main">
            <a:r>
              <a:t/>
            </a:r>
          </a:p>
          <a:p xmlns:a="http://schemas.openxmlformats.org/drawingml/2006/main">
            <a:r>
              <a:t>**함께 보는 예.** 23.9·24.0·24.1은 정상·정상·확인입니다. None은 미측정이고 0.0은 실제 숫자입니다. 다섯 사례는 서로 다른 실수를 확인합니다.</a:t>
            </a:r>
          </a:p>
          <a:p xmlns:a="http://schemas.openxmlformats.org/drawingml/2006/main">
            <a:r>
              <a:t/>
            </a:r>
          </a:p>
          <a:p xmlns:a="http://schemas.openxmlformats.org/drawingml/2006/main">
            <a:r>
              <a:t>**헷갈리는 경우.** 다섯 사례를 통과했다고 모든 입력을 확인한 것은 아닙니다. 글자와 범위 밖 숫자는 아직 검사하지 않았다는 한계를 남깁니다.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입력:23.9 /24.0 /24.1 /None /0.0.</a:t>
            </a:r>
          </a:p>
          <a:p xmlns:a="http://schemas.openxmlformats.org/drawingml/2006/main">
            <a:r>
              <a:t>각 행: 기대 상태 / 실제 상태 / 일치 여부 / 이 사례가 필요한 이유.</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24.0 초과 규칙을 문장으로 적습니다.</a:t>
            </a:r>
          </a:p>
          <a:p xmlns:a="http://schemas.openxmlformats.org/drawingml/2006/main">
            <a:r>
              <a:t>2. 다섯 기대값을 먼저 채웁니다.</a:t>
            </a:r>
          </a:p>
          <a:p xmlns:a="http://schemas.openxmlformats.org/drawingml/2006/main">
            <a:r>
              <a:t>3. A05 호출값을 바꾸어 대조합니다.</a:t>
            </a:r>
          </a:p>
          <a:p xmlns:a="http://schemas.openxmlformats.org/drawingml/2006/main">
            <a:r>
              <a:t>4. 통과한 범위와 남은 입력 종류를 나눕니다.</a:t>
            </a:r>
          </a:p>
          <a:p xmlns:a="http://schemas.openxmlformats.org/drawingml/2006/main">
            <a:r>
              <a:t/>
            </a:r>
          </a:p>
          <a:p xmlns:a="http://schemas.openxmlformats.org/drawingml/2006/main">
            <a:r>
              <a:t>예상 결과: 정상/정상/확인/미측정/정상과 판단 이유.</a:t>
            </a:r>
          </a:p>
          <a:p xmlns:a="http://schemas.openxmlformats.org/drawingml/2006/main">
            <a:r>
              <a:t/>
            </a:r>
          </a:p>
          <a:p xmlns:a="http://schemas.openxmlformats.org/drawingml/2006/main">
            <a:r>
              <a:t>확인 질문: 20과 30만 확인하면 놓칠 수 있는 실수는 무엇인가요?</a:t>
            </a:r>
          </a:p>
          <a:p xmlns:a="http://schemas.openxmlformats.org/drawingml/2006/main">
            <a:r>
              <a:t/>
            </a:r>
          </a:p>
          <a:p xmlns:a="http://schemas.openxmlformats.org/drawingml/2006/main">
            <a:r>
              <a:t>막혔을 때: 기대값이 애매하면 코드 대신 초과라는 업무 문구를 먼저 읽습니다.</a:t>
            </a:r>
          </a:p>
          <a:p xmlns:a="http://schemas.openxmlformats.org/drawingml/2006/main">
            <a:r>
              <a:t/>
            </a:r>
          </a:p>
          <a:p xmlns:a="http://schemas.openxmlformats.org/drawingml/2006/main">
            <a:r>
              <a:t>[활동 자료와 작성칸](practice-guide.md#a06--예상-사례표로-함수-확인하기)에서 A06를 엽니다.</a:t>
            </a:r>
          </a:p>
          <a:p xmlns:a="http://schemas.openxmlformats.org/drawingml/2006/main">
            <a:r>
              <a:t/>
            </a:r>
          </a:p>
          <a:p xmlns:a="http://schemas.openxmlformats.org/drawingml/2006/main">
            <a:r>
              <a:t># 3구간 · 파일을 읽고 결과 저장</a:t>
            </a:r>
          </a:p>
          <a:p xmlns:a="http://schemas.openxmlformats.org/drawingml/2006/main">
            <a:r>
              <a:t/>
            </a:r>
          </a:p>
          <a:p xmlns:a="http://schemas.openxmlformats.org/drawingml/2006/main">
            <a:r>
              <a:t>화면 예의 출처: D:/KDigital_PhysicalAI/.build/copyedited-ppt/spec-2026-10-15.json#slide-28;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https://zeusk302-png.github.io/kdigital-physical-ai/#/sessions/2026-10-15/lesson?activity=A06</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청구서 담당자는 수량 3과 단가 1200원으로 상품 금액을 계산한 뒤 배송비 2000원을 더합니다. 첫 계산이 화면에 3600을 보여 주었다고 다음 계산에서 그 값을 사용할 수 있는 것은 아닙니다. 화면 표시는 사람에게 보여 주는 행동이고 반환은 함수를 부른 곳에 결과 값을 보내는 행동입니다. 전자계산기에서 값을 읽는 것과 그 값을 다음 식의 입력으로 전달하는 것을 구별합니다. 필요한 최종 결과를 먼저 쓰면 print와 return의 역할이 선명해집니다.</a:t>
            </a:r>
          </a:p>
          <a:p xmlns:a="http://schemas.openxmlformats.org/drawingml/2006/main">
            <a:r>
              <a:t/>
            </a:r>
          </a:p>
          <a:p xmlns:a="http://schemas.openxmlformats.org/drawingml/2006/main">
            <a:r>
              <a:t>이 함수는 단가와 수량을 정수로 받아 상품 금액을 정수로 돌려줍니다. 수업용 처리 규칙은 단가×수량이며 세금이나 할인은 넣지 않습니다. 호출에서 1200과 3을 주면 함수 안에서 3600을 만들고 return으로 보냅니다. 호출한 쪽은 받은 값에 2000을 더해 최종 5600원을 얻습니다. 손 추적표는 입력 1200·3 → 함수 계산 3600 → 반환 3600 → 배송비 포함 5600 순서입니다. 화면에 무엇이 보이는가와 변수에 무엇이 연결되는가를 다른 칸으로 적습니다.</a:t>
            </a:r>
          </a:p>
          <a:p xmlns:a="http://schemas.openxmlformats.org/drawingml/2006/main">
            <a:r>
              <a:t/>
            </a:r>
          </a:p>
          <a:p xmlns:a="http://schemas.openxmlformats.org/drawingml/2006/main">
            <a:r>
              <a:t>print만 하는 함수는 3600을 화면에 보이게 해도 별도 return이 없으면 호출 결과가 None입니다. None에 2000을 더하면 숫자 계산이 되지 않습니다. 오류를 피하려고 None을 0으로 바꾸면 상품 금액이 사라져 잘못된 청구서가 됩니다. 결과를 계산하는 함수에 return을 두고 필요한 표시를 호출한 쪽에서 맡기는 구조를 생각합니다. 또한 return을 만나는 즉시 그 호출은 끝납니다. 그 아래 줄은 같은 호출에서 이어서 실행되지 않습니다. 조건이 여러 갈래인 함수라면 각 갈래가 무엇을 반환하는지 읽어야 합니다. 한 갈래에서만 반환하면 나머지 입력에서 뜻밖의 None이 생길 수 있습니다.</a:t>
            </a:r>
          </a:p>
          <a:p xmlns:a="http://schemas.openxmlformats.org/drawingml/2006/main">
            <a:r>
              <a:t/>
            </a:r>
          </a:p>
          <a:p xmlns:a="http://schemas.openxmlformats.org/drawingml/2006/main">
            <a:r>
              <a:t>화면 예의 출처: D:/KDigital_PhysicalAI/.build/copyedited-ppt/spec-2026-10-15.json#slide-31;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청구서 담당자는 수량 3과 단가 1200원으로 상품 금액을 계산한 뒤 배송비 2000원을 더합니다. 첫 계산이 화면에 3600을 보여 주었다고 다음 계산에서 그 값을 사용할 수 있는 것은 아닙니다. 화면 표시는 사람에게 보여 주는 행동이고 반환은 함수를 부른 곳에 결과 값을 보내는 행동입니다. 전자계산기에서 값을 읽는 것과 그 값을 다음 식의 입력으로 전달하는 것을 구별합니다. 필요한 최종 결과를 먼저 쓰면 print와 return의 역할이 선명해집니다.</a:t>
            </a:r>
          </a:p>
          <a:p xmlns:a="http://schemas.openxmlformats.org/drawingml/2006/main">
            <a:r>
              <a:t/>
            </a:r>
          </a:p>
          <a:p xmlns:a="http://schemas.openxmlformats.org/drawingml/2006/main">
            <a:r>
              <a:t>이 함수는 단가와 수량을 정수로 받아 상품 금액을 정수로 돌려줍니다. 수업용 처리 규칙은 단가×수량이며 세금이나 할인은 넣지 않습니다. 호출에서 1200과 3을 주면 함수 안에서 3600을 만들고 return으로 보냅니다. 호출한 쪽은 받은 값에 2000을 더해 최종 5600원을 얻습니다. 손 추적표는 입력 1200·3 → 함수 계산 3600 → 반환 3600 → 배송비 포함 5600 순서입니다. 화면에 무엇이 보이는가와 변수에 무엇이 연결되는가를 다른 칸으로 적습니다.</a:t>
            </a:r>
          </a:p>
          <a:p xmlns:a="http://schemas.openxmlformats.org/drawingml/2006/main">
            <a:r>
              <a:t/>
            </a:r>
          </a:p>
          <a:p xmlns:a="http://schemas.openxmlformats.org/drawingml/2006/main">
            <a:r>
              <a:t>print만 하는 함수는 3600을 화면에 보이게 해도 별도 return이 없으면 호출 결과가 None입니다. None에 2000을 더하면 숫자 계산이 되지 않습니다. 오류를 피하려고 None을 0으로 바꾸면 상품 금액이 사라져 잘못된 청구서가 됩니다. 결과를 계산하는 함수에 return을 두고 필요한 표시를 호출한 쪽에서 맡기는 구조를 생각합니다. 또한 return을 만나는 즉시 그 호출은 끝납니다. 그 아래 줄은 같은 호출에서 이어서 실행되지 않습니다. 조건이 여러 갈래인 함수라면 각 갈래가 무엇을 반환하는지 읽어야 합니다. 한 갈래에서만 반환하면 나머지 입력에서 뜻밖의 None이 생길 수 있습니다.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배송 준비 함수는 포장비 500원을 화면에 표시하지만 반환문이 없습니다. 호출 결과를 fee에 연결한 뒤 총액 3000에 더하려 합니다. 화면값·fee 값·다음 계산을 분리해 설명하고 올바른 역할 배치를 문장으로 설계하세요.</a:t>
            </a:r>
          </a:p>
          <a:p xmlns:a="http://schemas.openxmlformats.org/drawingml/2006/main">
            <a:r>
              <a:t/>
            </a:r>
          </a:p>
          <a:p xmlns:a="http://schemas.openxmlformats.org/drawingml/2006/main">
            <a:r>
              <a:t>학생이 먼저 답을 적은 뒤 풀이를 보여 줍니다. 이 문제는 필수 활동을 마친 뒤 추가로 사용합니다.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화면에는 500이 보이지만 fee는 None이며 다음 덧셈은 TypeError가 날 수 있습니다. 함수가 500을 반환하고 호출자가 총액에 더한 뒤 표시하도록 설계합니다. 화면에 500이 보이므로 fee도 500이라는 답은 표시와 반환을 혼동한 것입니다.</a:t>
            </a:r>
          </a:p>
          <a:p xmlns:a="http://schemas.openxmlformats.org/drawingml/2006/main">
            <a:r>
              <a:t/>
            </a:r>
          </a:p>
          <a:p xmlns:a="http://schemas.openxmlformats.org/drawingml/2006/main">
            <a:r>
              <a:t>핵심 질문과 해설:</a:t>
            </a:r>
          </a:p>
          <a:p xmlns:a="http://schemas.openxmlformats.org/drawingml/2006/main">
            <a:r>
              <a:t>print의 결과가 자동 저장되나요? 표시와 반환은 별도이며 호출 결과를 보려면 return을 확인합니다.</a:t>
            </a:r>
          </a:p>
          <a:p xmlns:a="http://schemas.openxmlformats.org/drawingml/2006/main">
            <a:r>
              <a:t>return 뒤 안내가 실행되나요? 같은 호출은 return에서 끝나므로 아래 줄까지 가지 않습니다.</a:t>
            </a:r>
          </a:p>
          <a:p xmlns:a="http://schemas.openxmlformats.org/drawingml/2006/main">
            <a:r>
              <a:t>None을 0으로 고쳐도 되나요? 업무 결과가 누락된 원인을 고쳐야 하며 임의 0은 계산 의미를 바꿉니다.</a:t>
            </a:r>
          </a:p>
          <a:p xmlns:a="http://schemas.openxmlformats.org/drawingml/2006/main">
            <a:r>
              <a:t/>
            </a:r>
          </a:p>
          <a:p xmlns:a="http://schemas.openxmlformats.org/drawingml/2006/main">
            <a:r>
              <a:t>화면 예의 출처: D:/KDigital_PhysicalAI/.build/copyedited-ppt/spec-2026-10-15.json#slide-32;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A06 상세 원문]</a:t>
            </a:r>
          </a:p>
          <a:p xmlns:a="http://schemas.openxmlformats.org/drawingml/2006/main">
            <a:r>
              <a:t>**개념.** 검증 사례는 입력과 기대 결과를 미리 적어 실제 결과와 비교하는 한 경우입니다. 정상값뿐 아니라 경계와 값 없음의 사례도 포함합니다.</a:t>
            </a:r>
          </a:p>
          <a:p xmlns:a="http://schemas.openxmlformats.org/drawingml/2006/main">
            <a:r>
              <a:t/>
            </a:r>
          </a:p>
          <a:p xmlns:a="http://schemas.openxmlformats.org/drawingml/2006/main">
            <a:r>
              <a:t>**왜 필요한가.** 프로그램이 보여 준 결과를 그대로 정답으로 적으면 잘못된 코드도 통과합니다. 실행 전에 업무 규칙에서 기대값을 정해야 합니다.</a:t>
            </a:r>
          </a:p>
          <a:p xmlns:a="http://schemas.openxmlformats.org/drawingml/2006/main">
            <a:r>
              <a:t/>
            </a:r>
          </a:p>
          <a:p xmlns:a="http://schemas.openxmlformats.org/drawingml/2006/main">
            <a:r>
              <a:t>**함께 보는 예.** 23.9·24.0·24.1은 정상·정상·확인입니다. None은 미측정이고 0.0은 실제 숫자입니다. 다섯 사례는 서로 다른 실수를 확인합니다.</a:t>
            </a:r>
          </a:p>
          <a:p xmlns:a="http://schemas.openxmlformats.org/drawingml/2006/main">
            <a:r>
              <a:t/>
            </a:r>
          </a:p>
          <a:p xmlns:a="http://schemas.openxmlformats.org/drawingml/2006/main">
            <a:r>
              <a:t>**헷갈리는 경우.** 다섯 사례를 통과했다고 모든 입력을 확인한 것은 아닙니다. 글자와 범위 밖 숫자는 아직 검사하지 않았다는 한계를 남깁니다.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입력:23.9 /24.0 /24.1 /None /0.0.</a:t>
            </a:r>
          </a:p>
          <a:p xmlns:a="http://schemas.openxmlformats.org/drawingml/2006/main">
            <a:r>
              <a:t>각 행: 기대 상태 / 실제 상태 / 일치 여부 / 이 사례가 필요한 이유.</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24.0 초과 규칙을 문장으로 적습니다.</a:t>
            </a:r>
          </a:p>
          <a:p xmlns:a="http://schemas.openxmlformats.org/drawingml/2006/main">
            <a:r>
              <a:t>2. 다섯 기대값을 먼저 채웁니다.</a:t>
            </a:r>
          </a:p>
          <a:p xmlns:a="http://schemas.openxmlformats.org/drawingml/2006/main">
            <a:r>
              <a:t>3. A05 호출값을 바꾸어 대조합니다.</a:t>
            </a:r>
          </a:p>
          <a:p xmlns:a="http://schemas.openxmlformats.org/drawingml/2006/main">
            <a:r>
              <a:t>4. 통과한 범위와 남은 입력 종류를 나눕니다.</a:t>
            </a:r>
          </a:p>
          <a:p xmlns:a="http://schemas.openxmlformats.org/drawingml/2006/main">
            <a:r>
              <a:t/>
            </a:r>
          </a:p>
          <a:p xmlns:a="http://schemas.openxmlformats.org/drawingml/2006/main">
            <a:r>
              <a:t>예상 결과: 정상/정상/확인/미측정/정상과 판단 이유.</a:t>
            </a:r>
          </a:p>
          <a:p xmlns:a="http://schemas.openxmlformats.org/drawingml/2006/main">
            <a:r>
              <a:t/>
            </a:r>
          </a:p>
          <a:p xmlns:a="http://schemas.openxmlformats.org/drawingml/2006/main">
            <a:r>
              <a:t>확인 질문: 20과 30만 확인하면 놓칠 수 있는 실수는 무엇인가요?</a:t>
            </a:r>
          </a:p>
          <a:p xmlns:a="http://schemas.openxmlformats.org/drawingml/2006/main">
            <a:r>
              <a:t/>
            </a:r>
          </a:p>
          <a:p xmlns:a="http://schemas.openxmlformats.org/drawingml/2006/main">
            <a:r>
              <a:t>막혔을 때: 기대값이 애매하면 코드 대신 초과라는 업무 문구를 먼저 읽습니다.</a:t>
            </a:r>
          </a:p>
          <a:p xmlns:a="http://schemas.openxmlformats.org/drawingml/2006/main">
            <a:r>
              <a:t/>
            </a:r>
          </a:p>
          <a:p xmlns:a="http://schemas.openxmlformats.org/drawingml/2006/main">
            <a:r>
              <a:t>[활동 자료와 작성칸](practice-guide.md#a06--예상-사례표로-함수-확인하기)에서 A06를 엽니다.</a:t>
            </a:r>
          </a:p>
          <a:p xmlns:a="http://schemas.openxmlformats.org/drawingml/2006/main">
            <a:r>
              <a:t/>
            </a:r>
          </a:p>
          <a:p xmlns:a="http://schemas.openxmlformats.org/drawingml/2006/main">
            <a:r>
              <a:t># 3구간 · 파일을 읽고 결과 저장</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https://zeusk302-png.github.io/kdigital-physical-ai/#/sessions/2026-10-15/lesson?activity=A06</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표시값과 반환값은 다를 수 있습니다.</a:t>
            </a:r>
          </a:p>
          <a:p xmlns:a="http://schemas.openxmlformats.org/drawingml/2006/main">
            <a:r>
              <a:t>return을 실행하면 그 함수 호출은 끝납니다.</a:t>
            </a:r>
          </a:p>
          <a:p xmlns:a="http://schemas.openxmlformats.org/drawingml/2006/main">
            <a:r>
              <a:t>시험한 입력과 시험하지 않은 입력을 구별해 알립니다.</a:t>
            </a:r>
          </a:p>
          <a:p xmlns:a="http://schemas.openxmlformats.org/drawingml/2006/main">
            <a:r>
              <a:t/>
            </a:r>
          </a:p>
          <a:p xmlns:a="http://schemas.openxmlformats.org/drawingml/2006/main">
            <a:r>
              <a:t>관련 교시의 상세 원문:</a:t>
            </a:r>
          </a:p>
          <a:p xmlns:a="http://schemas.openxmlformats.org/drawingml/2006/main">
            <a:r>
              <a:t>### 사례로 이해하기 · 화면 표시와 다음 계산의 반환값 구별하기</a:t>
            </a:r>
          </a:p>
          <a:p xmlns:a="http://schemas.openxmlformats.org/drawingml/2006/main">
            <a:r>
              <a:t/>
            </a:r>
          </a:p>
          <a:p xmlns:a="http://schemas.openxmlformats.org/drawingml/2006/main">
            <a:r>
              <a:t/>
            </a:r>
          </a:p>
          <a:p xmlns:a="http://schemas.openxmlformats.org/drawingml/2006/main">
            <a:r>
              <a:t/>
            </a:r>
          </a:p>
          <a:p xmlns:a="http://schemas.openxmlformats.org/drawingml/2006/main">
            <a:r>
              <a:t>청구서 담당자는 수량 3과 단가 1200원으로 상품 금액을 계산한 뒤 배송비 2000원을 더합니다. 첫 계산이 화면에 3600을 보여 주었다고 다음 계산에서 그 값을 사용할 수 있는 것은 아닙니다. 화면 표시는 사람에게 보여 주는 행동이고 반환은 함수를 부른 곳에 결과 값을 보내는 행동입니다. 전자계산기에서 값을 읽는 것과 그 값을 다음 식의 입력으로 전달하는 것을 구별합니다. 필요한 최종 결과를 먼저 쓰면 print와 return의 역할이 선명해집니다.</a:t>
            </a:r>
          </a:p>
          <a:p xmlns:a="http://schemas.openxmlformats.org/drawingml/2006/main">
            <a:r>
              <a:t/>
            </a:r>
          </a:p>
          <a:p xmlns:a="http://schemas.openxmlformats.org/drawingml/2006/main">
            <a:r>
              <a:t>이 함수는 단가와 수량을 정수로 받아 상품 금액을 정수로 돌려줍니다. 수업용 처리 규칙은 단가×수량이며 세금이나 할인은 넣지 않습니다. 호출에서 1200과 3을 주면 함수 안에서 3600을 만들고 return으로 보냅니다. 호출한 쪽은 받은 값에 2000을 더해 최종 5600원을 얻습니다. 손 추적표는 입력 1200·3 → 함수 계산 3600 → 반환 3600 → 배송비 포함 5600 순서입니다. 화면에 무엇이 보이는가와 변수에 무엇이 연결되는가를 다른 칸으로 적습니다.</a:t>
            </a:r>
          </a:p>
          <a:p xmlns:a="http://schemas.openxmlformats.org/drawingml/2006/main">
            <a:r>
              <a:t/>
            </a:r>
          </a:p>
          <a:p xmlns:a="http://schemas.openxmlformats.org/drawingml/2006/main">
            <a:r>
              <a:t>print만 하는 함수는 3600을 화면에 보이게 해도 별도 return이 없으면 호출 결과가 None입니다. None에 2000을 더하면 숫자 계산이 되지 않습니다. 오류를 피하려고 None을 0으로 바꾸면 상품 금액이 사라져 잘못된 청구서가 됩니다. 결과를 계산하는 함수에 return을 두고 필요한 표시를 호출한 쪽에서 맡기는 구조를 생각합니다. 또한 return을 만나는 즉시 그 호출은 끝납니다. 그 아래 줄은 같은 호출에서 이어서 실행되지 않습니다. 조건이 여러 갈래인 함수라면 각 갈래가 무엇을 반환하는지 읽어야 합니다. 한 갈래에서만 반환하면 나머지 입력에서 뜻밖의 None이 생길 수 있습니다.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배송 준비 함수는 포장비 500원을 화면에 표시하지만 반환문이 없습니다. 호출 결과를 fee에 연결한 뒤 총액 3000에 더하려 합니다. 화면값·fee 값·다음 계산을 분리해 설명하고 올바른 역할 배치를 문장으로 설계하세요.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화면에는 500이 보이지만 fee는 None이며 다음 덧셈은 TypeError가 날 수 있습니다. 함수가 500을 반환하고 호출자가 총액에 더한 뒤 표시하도록 설계합니다. 화면에 500이 보이므로 fee도 500이라는 답은 표시와 반환을 혼동한 것입니다.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**print의 결과가 자동 저장되나요?** 표시와 반환은 별도이며 호출 결과를 보려면 return을 확인합니다.</a:t>
            </a:r>
          </a:p>
          <a:p xmlns:a="http://schemas.openxmlformats.org/drawingml/2006/main">
            <a:r>
              <a:t/>
            </a:r>
          </a:p>
          <a:p xmlns:a="http://schemas.openxmlformats.org/drawingml/2006/main">
            <a:r>
              <a:t>2. **return 뒤 안내가 실행되나요?** 같은 호출은 return에서 끝나므로 아래 줄까지 가지 않습니다.</a:t>
            </a:r>
          </a:p>
          <a:p xmlns:a="http://schemas.openxmlformats.org/drawingml/2006/main">
            <a:r>
              <a:t/>
            </a:r>
          </a:p>
          <a:p xmlns:a="http://schemas.openxmlformats.org/drawingml/2006/main">
            <a:r>
              <a:t>3. **None을 0으로 고쳐도 되나요?** 업무 결과가 누락된 원인을 고쳐야 하며 임의 0은 계산 의미를 바꿉니다.</a:t>
            </a:r>
          </a:p>
          <a:p xmlns:a="http://schemas.openxmlformats.org/drawingml/2006/main">
            <a:r>
              <a:t/>
            </a:r>
          </a:p>
          <a:p xmlns:a="http://schemas.openxmlformats.org/drawingml/2006/main">
            <a:r>
              <a:t/>
            </a:r>
          </a:p>
          <a:p xmlns:a="http://schemas.openxmlformats.org/drawingml/2006/main">
            <a:r>
              <a:t>**개념.** print는 값을 화면에 보여 주고 return은 함수를 부른 위치로 값을 돌려줍니다. 화면에 결과가 보였다는 사실과 다음 계산에 사용할 결과를 받았다는 사실은 다릅니다.</a:t>
            </a:r>
          </a:p>
          <a:p xmlns:a="http://schemas.openxmlformats.org/drawingml/2006/main">
            <a:r>
              <a:t/>
            </a:r>
          </a:p>
          <a:p xmlns:a="http://schemas.openxmlformats.org/drawingml/2006/main">
            <a:r>
              <a:t>**왜 필요한가.** 결과를 JSON에 저장하거나 집계하려면 함수가 값을 돌려줘야 합니다. 화면 글자를 다른 코드가 저절로 변수에 담지는 않습니다.</a:t>
            </a:r>
          </a:p>
          <a:p xmlns:a="http://schemas.openxmlformats.org/drawingml/2006/main">
            <a:r>
              <a:t/>
            </a:r>
          </a:p>
          <a:p xmlns:a="http://schemas.openxmlformats.org/drawingml/2006/main">
            <a:r>
              <a:t>**함께 보는 예.** add_offset은 받은 두 수를 더해 반환합니다. result가 23.5를 받고 다음 계산에서 사용합니다. 더하는 값은 수업 계산 예이며 실제 장비 교정값으로 사용하지 않습니다.</a:t>
            </a:r>
          </a:p>
          <a:p xmlns:a="http://schemas.openxmlformats.org/drawingml/2006/main">
            <a:r>
              <a:t/>
            </a:r>
          </a:p>
          <a:p xmlns:a="http://schemas.openxmlformats.org/drawingml/2006/main">
            <a:r>
              <a:t>**헷갈리는 경우.** return 없이 print만 하는 함수의 반환값은 None입니다. 그 값을 숫자처럼 더하려고 하면 오류가 날 수 있습니다. 화면만 보지 말고 return의 역할을 확인합니다.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add_offset(value, offset):</a:t>
            </a:r>
          </a:p>
          <a:p xmlns:a="http://schemas.openxmlformats.org/drawingml/2006/main">
            <a:r>
              <a:t>    return value + offset</a:t>
            </a:r>
          </a:p>
          <a:p xmlns:a="http://schemas.openxmlformats.org/drawingml/2006/main">
            <a:r>
              <a:t>result = add_offset(22.5, 1.0)</a:t>
            </a:r>
          </a:p>
          <a:p xmlns:a="http://schemas.openxmlformats.org/drawingml/2006/main">
            <a:r>
              <a:t>print(result)</a:t>
            </a:r>
          </a:p>
          <a:p xmlns:a="http://schemas.openxmlformats.org/drawingml/2006/main">
            <a:r>
              <a:t>print(result + 1)</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add_offset(value, offset):` | 두 값을 받는 작업을 정의합니다. |</a:t>
            </a:r>
          </a:p>
          <a:p xmlns:a="http://schemas.openxmlformats.org/drawingml/2006/main">
            <a:r>
              <a:t>| 2 | `    return value + offset` | 합을 호출한 곳으로 돌려줍니다. |</a:t>
            </a:r>
          </a:p>
          <a:p xmlns:a="http://schemas.openxmlformats.org/drawingml/2006/main">
            <a:r>
              <a:t>| 3 | `result = add_offset(22.5, 1.0)` | 돌아온 결과를 result에 연결합니다. |</a:t>
            </a:r>
          </a:p>
          <a:p xmlns:a="http://schemas.openxmlformats.org/drawingml/2006/main">
            <a:r>
              <a:t>| 4 | `print(result)` | 받은 결과를 출력합니다. |</a:t>
            </a:r>
          </a:p>
          <a:p xmlns:a="http://schemas.openxmlformats.org/drawingml/2006/main">
            <a:r>
              <a:t>| 5 | `print(result + 1)` | 결과를 다음 계산에 사용합니다.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code/A04_example.py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work/A04_example.py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23.5</a:t>
            </a:r>
          </a:p>
          <a:p xmlns:a="http://schemas.openxmlformats.org/drawingml/2006/main">
            <a:r>
              <a:t>24.5</a:t>
            </a:r>
          </a:p>
          <a:p xmlns:a="http://schemas.openxmlformats.org/drawingml/2006/main">
            <a:r>
              <a:t>```</a:t>
            </a:r>
          </a:p>
          <a:p xmlns:a="http://schemas.openxmlformats.org/drawingml/2006/main">
            <a:r>
              <a:t/>
            </a:r>
          </a:p>
          <a:p xmlns:a="http://schemas.openxmlformats.org/drawingml/2006/main">
            <a:r>
              <a:t>작은 수정: `22.5, 1.0`를 `22.5, 2.0`로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24.5</a:t>
            </a:r>
          </a:p>
          <a:p xmlns:a="http://schemas.openxmlformats.org/drawingml/2006/main">
            <a:r>
              <a:t>25.5</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출력과 반환의 경로를 구별합니다.</a:t>
            </a:r>
          </a:p>
          <a:p xmlns:a="http://schemas.openxmlformats.org/drawingml/2006/main">
            <a:r>
              <a:t>2. result가 값을 받는 위치를 찾습니다.</a:t>
            </a:r>
          </a:p>
          <a:p xmlns:a="http://schemas.openxmlformats.org/drawingml/2006/main">
            <a:r>
              <a:t>3. offset을 2.0으로 바꿔 예상합니다.</a:t>
            </a:r>
          </a:p>
          <a:p xmlns:a="http://schemas.openxmlformats.org/drawingml/2006/main">
            <a:r>
              <a:t>4. 두 출력의 관계를 확인합니다.</a:t>
            </a:r>
          </a:p>
          <a:p xmlns:a="http://schemas.openxmlformats.org/drawingml/2006/main">
            <a:r>
              <a:t/>
            </a:r>
          </a:p>
          <a:p xmlns:a="http://schemas.openxmlformats.org/drawingml/2006/main">
            <a:r>
              <a:t>예상 결과: 24.5를 반환하고 다음 계산은 25.5.</a:t>
            </a:r>
          </a:p>
          <a:p xmlns:a="http://schemas.openxmlformats.org/drawingml/2006/main">
            <a:r>
              <a:t/>
            </a:r>
          </a:p>
          <a:p xmlns:a="http://schemas.openxmlformats.org/drawingml/2006/main">
            <a:r>
              <a:t>확인 질문: 화면에 보인 값은 언제나 같은 함수의 반환값인가요?</a:t>
            </a:r>
          </a:p>
          <a:p xmlns:a="http://schemas.openxmlformats.org/drawingml/2006/main">
            <a:r>
              <a:t/>
            </a:r>
          </a:p>
          <a:p xmlns:a="http://schemas.openxmlformats.org/drawingml/2006/main">
            <a:r>
              <a:t>막혔을 때: None이 보이면 return이 있는지, 특정 경로에서 반환 없이 끝나는지 확인합니다.</a:t>
            </a:r>
          </a:p>
          <a:p xmlns:a="http://schemas.openxmlformats.org/drawingml/2006/main">
            <a:r>
              <a:t/>
            </a:r>
          </a:p>
          <a:p xmlns:a="http://schemas.openxmlformats.org/drawingml/2006/main">
            <a:r>
              <a:t>[활동 자료와 작성칸](practice-guide.md#a04--print와-return의-차이)에서 A04를 엽니다.</a:t>
            </a:r>
          </a:p>
          <a:p xmlns:a="http://schemas.openxmlformats.org/drawingml/2006/main">
            <a:r>
              <a:t/>
            </a:r>
          </a:p>
          <a:p xmlns:a="http://schemas.openxmlformats.org/drawingml/2006/main">
            <a:r>
              <a:t>화면 예의 출처: D:/KDigital_PhysicalAI/.build/copyedited-ppt/spec-2026-10-15.json#slide-24;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강사가 먼저 예를 보여 준 뒤 학생과 함께 확인합니다. 학생이 직접 해 본 결과를 예상과 비교하고, 달라진 이유를 설명하게 합니다.</a:t>
            </a:r>
          </a:p>
          <a:p xmlns:a="http://schemas.openxmlformats.org/drawingml/2006/main">
            <a:r>
              <a:t/>
            </a:r>
          </a:p>
          <a:p xmlns:a="http://schemas.openxmlformats.org/drawingml/2006/main">
            <a:r>
              <a:t>[활동 A07 상세 원문]</a:t>
            </a:r>
          </a:p>
          <a:p xmlns:a="http://schemas.openxmlformats.org/drawingml/2006/main">
            <a:r>
              <a:t>### 사례로 이해하기 · 읽은 텍스트에서 값으로, 값에서 저장 파일로</a:t>
            </a:r>
          </a:p>
          <a:p xmlns:a="http://schemas.openxmlformats.org/drawingml/2006/main">
            <a:r>
              <a:t/>
            </a:r>
          </a:p>
          <a:p xmlns:a="http://schemas.openxmlformats.org/drawingml/2006/main">
            <a:r>
              <a:t/>
            </a:r>
          </a:p>
          <a:p xmlns:a="http://schemas.openxmlformats.org/drawingml/2006/main">
            <a:r>
              <a:t/>
            </a:r>
          </a:p>
          <a:p xmlns:a="http://schemas.openxmlformats.org/drawingml/2006/main">
            <a:r>
              <a:t>점검 담당자는 CSV 입력에서 온도를 읽고 요약 JSON을 남깁니다. 파일은 디스크에 저장된 내용이고 읽어 온 값은 프로그램이 처리하는 내용입니다. 화면에 요약을 출력했다는 사실만으로 결과 파일이 저장되지는 않습니다. 흐름을 파일 주소 → 읽은 원문 → 해석한 값 → 결과 묶음 → 저장 주소 순서로 그립니다. 같은 내용처럼 보이는 단계도 역할과 저장 종류가 달라지므로 경계를 하나씩 확인합니다. 원자료와 결과 파일은 서로 다른 주소로 정합니다.</a:t>
            </a:r>
          </a:p>
          <a:p xmlns:a="http://schemas.openxmlformats.org/drawingml/2006/main">
            <a:r>
              <a:t/>
            </a:r>
          </a:p>
          <a:p xmlns:a="http://schemas.openxmlformats.org/drawingml/2006/main">
            <a:r>
              <a:t>예를 들어 헤더 `sensor_id,temperature_c` 아래 `S08,20.5` 한 행이 있습니다. DictReader 같은 CSV 읽기 도구는 헤더를 이름표로 삼고 기본 셀값을 문자열로 읽습니다. 원문 “20.5”를 실수 20.5로 해석한 다음 요약의 측정수 1과 평균 20.5를 만듭니다. JSON으로 표현한 완성 예는 `{"count":1,"average":20.5}`입니다. 숫자에 따옴표를 붙이지 않았으므로 JSON에서는 숫자값입니다. 원문 CSV에 숫자처럼 적혀 있다는 사실과 읽은 Python 값의 종류를 구별합니다.</a:t>
            </a:r>
          </a:p>
          <a:p xmlns:a="http://schemas.openxmlformats.org/drawingml/2006/main">
            <a:r>
              <a:t/>
            </a:r>
          </a:p>
          <a:p xmlns:a="http://schemas.openxmlformats.org/drawingml/2006/main">
            <a:r>
              <a:t>경로는 파일의 주소이며 현재 터미널 위치와 코드 파일 위치가 같다고 가정하지 않습니다. 기존 예제는 코드 위치를 기준으로 data와 work를 찾습니다. 폴더 배치가 바뀌면 입력 주소가 맞는지 먼저 확인합니다. FileNotFoundError는 파일 이름·주소·압축 해제 상태를 확인하는 단서이고 KeyError는 실제 헤더와 찾는 이름표를 비교하는 단서입니다. 파일은 찾았지만 “뜨거움”을 숫자로 읽으려 하면 ValueError 단계가 됩니다. 세 오류가 같은 화면에 보여도 해결할 경계가 다릅니다. 저장 후에는 결과 파일을 다시 열어 count와 average가 기대값인지 확인합니다. 이전 실행 파일이 남아 있을 수 있으므로 입력명과 실행 시각도 기록합니다.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입력 헤더는 device_id,value이고 한 행은 D09,0입니다. 프로그램은 temperature_c를 찾다가 실패했습니다. 파일 열기·헤더 찾기·숫자 변환 중 어느 단계인지 판단하고 원문을 보존한 수정 계획과 올바른 JSON 수치 표현을 쓰세요.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헤더 찾기 단계의 문제입니다. 입력 열 이름이 value로 정해져 있다면 코드에서 찾는 키도 value로 맞춥니다. 고치기 전에 정해 둔 열 이름과 실제 헤더를 확인합니다. 수치 0은 실제 값이므로 JSON에서는 0이며 null이 아닙니다. 주소 수정이나 0 삭제는 현재 증거에 맞는 해결이 아닙니다.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**CSV 값은 숫자로 자동 읽히나요?** 기본 읽기는 문자열이므로 의미에 맞는 해석 단계를 둡니다.</a:t>
            </a:r>
          </a:p>
          <a:p xmlns:a="http://schemas.openxmlformats.org/drawingml/2006/main">
            <a:r>
              <a:t/>
            </a:r>
          </a:p>
          <a:p xmlns:a="http://schemas.openxmlformats.org/drawingml/2006/main">
            <a:r>
              <a:t>2. **출력했으면 저장도 끝났나요?** 화면 표시와 파일 쓰기·재읽기 확인은 다른 작업입니다.</a:t>
            </a:r>
          </a:p>
          <a:p xmlns:a="http://schemas.openxmlformats.org/drawingml/2006/main">
            <a:r>
              <a:t/>
            </a:r>
          </a:p>
          <a:p xmlns:a="http://schemas.openxmlformats.org/drawingml/2006/main">
            <a:r>
              <a:t>3. **오류 종류를 왜 나누나요?** 파일·구조·값의 어느 경계에서 실패했는지 좁혀 올바른 부분을 고치기 위해서입니다.</a:t>
            </a:r>
          </a:p>
          <a:p xmlns:a="http://schemas.openxmlformats.org/drawingml/2006/main">
            <a:r>
              <a:t/>
            </a:r>
          </a:p>
          <a:p xmlns:a="http://schemas.openxmlformats.org/drawingml/2006/main">
            <a:r>
              <a:t/>
            </a:r>
          </a:p>
          <a:p xmlns:a="http://schemas.openxmlformats.org/drawingml/2006/main">
            <a:r>
              <a:t>**개념.** 경로는 파일의 저장 주소입니다. 현재 터미널 폴더와 코드 폴더는 다를 수 있습니다. Path(__file__)로 코드 위치를 찾으면 그 위치를 기준으로 자료 주소를 만들 수 있습니다.</a:t>
            </a:r>
          </a:p>
          <a:p xmlns:a="http://schemas.openxmlformats.org/drawingml/2006/main">
            <a:r>
              <a:t/>
            </a:r>
          </a:p>
          <a:p xmlns:a="http://schemas.openxmlformats.org/drawingml/2006/main">
            <a:r>
              <a:t>**왜 필요한가.** 터미널을 다른 곳에서 열어도 같은 자료를 읽도록 준비합니다. 긴 준비 줄을 외우기보다 code·work·data의 상대 배치를 이해하는 것이 목적입니다.</a:t>
            </a:r>
          </a:p>
          <a:p xmlns:a="http://schemas.openxmlformats.org/drawingml/2006/main">
            <a:r>
              <a:t/>
            </a:r>
          </a:p>
          <a:p xmlns:a="http://schemas.openxmlformats.org/drawingml/2006/main">
            <a:r>
              <a:t>**함께 보는 예.** course/code 또는 course/work의 코드에서 parent.parent는 course입니다. 그 아래 data/notice.txt를 읽습니다. UTF-8은 한글을 글자로 해석하는 인코딩 약속입니다.</a:t>
            </a:r>
          </a:p>
          <a:p xmlns:a="http://schemas.openxmlformats.org/drawingml/2006/main">
            <a:r>
              <a:t/>
            </a:r>
          </a:p>
          <a:p xmlns:a="http://schemas.openxmlformats.org/drawingml/2006/main">
            <a:r>
              <a:t>**헷갈리는 경우.** FileNotFoundError는 주소와 이름의 문제를 먼저 확인해야 합니다. 아직 파일을 읽지 못했는데 숫자 변환을 수정해도 원인을 해결하지 못합니다.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from pathlib import Path</a:t>
            </a:r>
          </a:p>
          <a:p xmlns:a="http://schemas.openxmlformats.org/drawingml/2006/main">
            <a:r>
              <a:t>base = Path(__file__).resolve().parent.parent</a:t>
            </a:r>
          </a:p>
          <a:p xmlns:a="http://schemas.openxmlformats.org/drawingml/2006/main">
            <a:r>
              <a:t>source = base / "data" / "notice.txt"</a:t>
            </a:r>
          </a:p>
          <a:p xmlns:a="http://schemas.openxmlformats.org/drawingml/2006/main">
            <a:r>
              <a:t>text = source.read_text(encoding="utf-8")</a:t>
            </a:r>
          </a:p>
          <a:p xmlns:a="http://schemas.openxmlformats.org/drawingml/2006/main">
            <a:r>
              <a:t>print(text.strip())</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`from pathlib import Path` | 파일 주소 도구를 가져옵니다. |</a:t>
            </a:r>
          </a:p>
          <a:p xmlns:a="http://schemas.openxmlformats.org/drawingml/2006/main">
            <a:r>
              <a:t>| 2 | `base = Path(__file__).resolve().parent.parent` | 코드의 두 상위 폴더 course를 찾습니다. |</a:t>
            </a:r>
          </a:p>
          <a:p xmlns:a="http://schemas.openxmlformats.org/drawingml/2006/main">
            <a:r>
              <a:t>| 3 | `source = base / "data" / "notice.txt"` | 입력 파일 주소를 만듭니다. |</a:t>
            </a:r>
          </a:p>
          <a:p xmlns:a="http://schemas.openxmlformats.org/drawingml/2006/main">
            <a:r>
              <a:t>| 4 | `text = source.read_text(encoding="utf-8")` | UTF-8 텍스트를 읽습니다. |</a:t>
            </a:r>
          </a:p>
          <a:p xmlns:a="http://schemas.openxmlformats.org/drawingml/2006/main">
            <a:r>
              <a:t>| 5 | `print(text.strip())` | 앞뒤 공백과 줄바꿈을 정리해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code/A07_example.py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work/A07_example.py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센서 점검 예제입니다.</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code·work·data 배치를 그립니다.</a:t>
            </a:r>
          </a:p>
          <a:p xmlns:a="http://schemas.openxmlformats.org/drawingml/2006/main">
            <a:r>
              <a:t>2. 실제 파일명을 확인합니다.</a:t>
            </a:r>
          </a:p>
          <a:p xmlns:a="http://schemas.openxmlformats.org/drawingml/2006/main">
            <a:r>
              <a:t>3. 같은 코드가 다른 현재 위치에서도 읽는지 비교합니다.</a:t>
            </a:r>
          </a:p>
          <a:p xmlns:a="http://schemas.openxmlformats.org/drawingml/2006/main">
            <a:r>
              <a:t>4. 없는 파일의 오류와 내용 오류를 구별합니다.</a:t>
            </a:r>
          </a:p>
          <a:p xmlns:a="http://schemas.openxmlformats.org/drawingml/2006/main">
            <a:r>
              <a:t/>
            </a:r>
          </a:p>
          <a:p xmlns:a="http://schemas.openxmlformats.org/drawingml/2006/main">
            <a:r>
              <a:t>예상 결과: 안내 한 줄 출력. 없는 파일명은 FileNotFoundError.</a:t>
            </a:r>
          </a:p>
          <a:p xmlns:a="http://schemas.openxmlformats.org/drawingml/2006/main">
            <a:r>
              <a:t/>
            </a:r>
          </a:p>
          <a:p xmlns:a="http://schemas.openxmlformats.org/drawingml/2006/main">
            <a:r>
              <a:t>확인 질문: data만 다른 곳으로 옮겨도 자동으로 찾나요?</a:t>
            </a:r>
          </a:p>
          <a:p xmlns:a="http://schemas.openxmlformats.org/drawingml/2006/main">
            <a:r>
              <a:t/>
            </a:r>
          </a:p>
          <a:p xmlns:a="http://schemas.openxmlformats.org/drawingml/2006/main">
            <a:r>
              <a:t>막혔을 때: 압축 안에서 열었는지, 확장자가 두 번 붙었는지, course의 배치가 유지됐는지 확인합니다.</a:t>
            </a:r>
          </a:p>
          <a:p xmlns:a="http://schemas.openxmlformats.org/drawingml/2006/main">
            <a:r>
              <a:t/>
            </a:r>
          </a:p>
          <a:p xmlns:a="http://schemas.openxmlformats.org/drawingml/2006/main">
            <a:r>
              <a:t>[활동 자료와 작성칸](practice-guide.md#a07--파일-경로와-텍스트-읽기)에서 A07를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https://zeusk302-png.github.io/kdigital-physical-ai/#/sessions/2026-10-15/lesson?activity=A07</a:t>
            </a:r>
          </a:p>
          <a:p xmlns:a="http://schemas.openxmlformats.org/drawingml/2006/main">
            <a:r>
              <a:t>공식 자료: https://docs.python.org/3/tutorial/errors.html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code/A07_example.py</a:t>
            </a:r>
          </a:p>
          <a:p xmlns:a="http://schemas.openxmlformats.org/drawingml/2006/main">
            <a:r>
              <a:t>수정한 파일을 실행할 때는 code 대신 work 폴더를 지정합니다. 직접 실행할 수 없으면 입력값부터 코드의 처리 순서를 따라 적고 강사의 결과와 비교합니다.</a:t>
            </a:r>
          </a:p>
          <a:p xmlns:a="http://schemas.openxmlformats.org/drawingml/2006/main">
            <a:r>
              <a:t/>
            </a:r>
          </a:p>
          <a:p xmlns:a="http://schemas.openxmlformats.org/drawingml/2006/main">
            <a:r>
              <a:t>[활동 A07 상세 원문]</a:t>
            </a:r>
          </a:p>
          <a:p xmlns:a="http://schemas.openxmlformats.org/drawingml/2006/main">
            <a:r>
              <a:t>### 사례로 이해하기 · 읽은 텍스트에서 값으로, 값에서 저장 파일로</a:t>
            </a:r>
          </a:p>
          <a:p xmlns:a="http://schemas.openxmlformats.org/drawingml/2006/main">
            <a:r>
              <a:t/>
            </a:r>
          </a:p>
          <a:p xmlns:a="http://schemas.openxmlformats.org/drawingml/2006/main">
            <a:r>
              <a:t/>
            </a:r>
          </a:p>
          <a:p xmlns:a="http://schemas.openxmlformats.org/drawingml/2006/main">
            <a:r>
              <a:t/>
            </a:r>
          </a:p>
          <a:p xmlns:a="http://schemas.openxmlformats.org/drawingml/2006/main">
            <a:r>
              <a:t>점검 담당자는 CSV 입력에서 온도를 읽고 요약 JSON을 남깁니다. 파일은 디스크에 저장된 내용이고 읽어 온 값은 프로그램이 처리하는 내용입니다. 화면에 요약을 출력했다는 사실만으로 결과 파일이 저장되지는 않습니다. 흐름을 파일 주소 → 읽은 원문 → 해석한 값 → 결과 묶음 → 저장 주소 순서로 그립니다. 같은 내용처럼 보이는 단계도 역할과 저장 종류가 달라지므로 경계를 하나씩 확인합니다. 원자료와 결과 파일은 서로 다른 주소로 정합니다.</a:t>
            </a:r>
          </a:p>
          <a:p xmlns:a="http://schemas.openxmlformats.org/drawingml/2006/main">
            <a:r>
              <a:t/>
            </a:r>
          </a:p>
          <a:p xmlns:a="http://schemas.openxmlformats.org/drawingml/2006/main">
            <a:r>
              <a:t>예를 들어 헤더 `sensor_id,temperature_c` 아래 `S08,20.5` 한 행이 있습니다. DictReader 같은 CSV 읽기 도구는 헤더를 이름표로 삼고 기본 셀값을 문자열로 읽습니다. 원문 “20.5”를 실수 20.5로 해석한 다음 요약의 측정수 1과 평균 20.5를 만듭니다. JSON으로 표현한 완성 예는 `{"count":1,"average":20.5}`입니다. 숫자에 따옴표를 붙이지 않았으므로 JSON에서는 숫자값입니다. 원문 CSV에 숫자처럼 적혀 있다는 사실과 읽은 Python 값의 종류를 구별합니다.</a:t>
            </a:r>
          </a:p>
          <a:p xmlns:a="http://schemas.openxmlformats.org/drawingml/2006/main">
            <a:r>
              <a:t/>
            </a:r>
          </a:p>
          <a:p xmlns:a="http://schemas.openxmlformats.org/drawingml/2006/main">
            <a:r>
              <a:t>경로는 파일의 주소이며 현재 터미널 위치와 코드 파일 위치가 같다고 가정하지 않습니다. 기존 예제는 코드 위치를 기준으로 data와 work를 찾습니다. 폴더 배치가 바뀌면 입력 주소가 맞는지 먼저 확인합니다. FileNotFoundError는 파일 이름·주소·압축 해제 상태를 확인하는 단서이고 KeyError는 실제 헤더와 찾는 이름표를 비교하는 단서입니다. 파일은 찾았지만 “뜨거움”을 숫자로 읽으려 하면 ValueError 단계가 됩니다. 세 오류가 같은 화면에 보여도 해결할 경계가 다릅니다. 저장 후에는 결과 파일을 다시 열어 count와 average가 기대값인지 확인합니다. 이전 실행 파일이 남아 있을 수 있으므로 입력명과 실행 시각도 기록합니다.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입력 헤더는 device_id,value이고 한 행은 D09,0입니다. 프로그램은 temperature_c를 찾다가 실패했습니다. 파일 열기·헤더 찾기·숫자 변환 중 어느 단계인지 판단하고 원문을 보존한 수정 계획과 올바른 JSON 수치 표현을 쓰세요.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헤더 찾기 단계의 문제입니다. 입력 열 이름이 value로 정해져 있다면 코드에서 찾는 키도 value로 맞춥니다. 고치기 전에 정해 둔 열 이름과 실제 헤더를 확인합니다. 수치 0은 실제 값이므로 JSON에서는 0이며 null이 아닙니다. 주소 수정이나 0 삭제는 현재 증거에 맞는 해결이 아닙니다.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**CSV 값은 숫자로 자동 읽히나요?** 기본 읽기는 문자열이므로 의미에 맞는 해석 단계를 둡니다.</a:t>
            </a:r>
          </a:p>
          <a:p xmlns:a="http://schemas.openxmlformats.org/drawingml/2006/main">
            <a:r>
              <a:t/>
            </a:r>
          </a:p>
          <a:p xmlns:a="http://schemas.openxmlformats.org/drawingml/2006/main">
            <a:r>
              <a:t>2. **출력했으면 저장도 끝났나요?** 화면 표시와 파일 쓰기·재읽기 확인은 다른 작업입니다.</a:t>
            </a:r>
          </a:p>
          <a:p xmlns:a="http://schemas.openxmlformats.org/drawingml/2006/main">
            <a:r>
              <a:t/>
            </a:r>
          </a:p>
          <a:p xmlns:a="http://schemas.openxmlformats.org/drawingml/2006/main">
            <a:r>
              <a:t>3. **오류 종류를 왜 나누나요?** 파일·구조·값의 어느 경계에서 실패했는지 좁혀 올바른 부분을 고치기 위해서입니다.</a:t>
            </a:r>
          </a:p>
          <a:p xmlns:a="http://schemas.openxmlformats.org/drawingml/2006/main">
            <a:r>
              <a:t/>
            </a:r>
          </a:p>
          <a:p xmlns:a="http://schemas.openxmlformats.org/drawingml/2006/main">
            <a:r>
              <a:t/>
            </a:r>
          </a:p>
          <a:p xmlns:a="http://schemas.openxmlformats.org/drawingml/2006/main">
            <a:r>
              <a:t>**개념.** 경로는 파일의 저장 주소입니다. 현재 터미널 폴더와 코드 폴더는 다를 수 있습니다. Path(__file__)로 코드 위치를 찾으면 그 위치를 기준으로 자료 주소를 만들 수 있습니다.</a:t>
            </a:r>
          </a:p>
          <a:p xmlns:a="http://schemas.openxmlformats.org/drawingml/2006/main">
            <a:r>
              <a:t/>
            </a:r>
          </a:p>
          <a:p xmlns:a="http://schemas.openxmlformats.org/drawingml/2006/main">
            <a:r>
              <a:t>**왜 필요한가.** 터미널을 다른 곳에서 열어도 같은 자료를 읽도록 준비합니다. 긴 준비 줄을 외우기보다 code·work·data의 상대 배치를 이해하는 것이 목적입니다.</a:t>
            </a:r>
          </a:p>
          <a:p xmlns:a="http://schemas.openxmlformats.org/drawingml/2006/main">
            <a:r>
              <a:t/>
            </a:r>
          </a:p>
          <a:p xmlns:a="http://schemas.openxmlformats.org/drawingml/2006/main">
            <a:r>
              <a:t>**함께 보는 예.** course/code 또는 course/work의 코드에서 parent.parent는 course입니다. 그 아래 data/notice.txt를 읽습니다. UTF-8은 한글을 글자로 해석하는 인코딩 약속입니다.</a:t>
            </a:r>
          </a:p>
          <a:p xmlns:a="http://schemas.openxmlformats.org/drawingml/2006/main">
            <a:r>
              <a:t/>
            </a:r>
          </a:p>
          <a:p xmlns:a="http://schemas.openxmlformats.org/drawingml/2006/main">
            <a:r>
              <a:t>**헷갈리는 경우.** FileNotFoundError는 주소와 이름의 문제를 먼저 확인해야 합니다. 아직 파일을 읽지 못했는데 숫자 변환을 수정해도 원인을 해결하지 못합니다.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from pathlib import Path</a:t>
            </a:r>
          </a:p>
          <a:p xmlns:a="http://schemas.openxmlformats.org/drawingml/2006/main">
            <a:r>
              <a:t>base = Path(__file__).resolve().parent.parent</a:t>
            </a:r>
          </a:p>
          <a:p xmlns:a="http://schemas.openxmlformats.org/drawingml/2006/main">
            <a:r>
              <a:t>source = base / "data" / "notice.txt"</a:t>
            </a:r>
          </a:p>
          <a:p xmlns:a="http://schemas.openxmlformats.org/drawingml/2006/main">
            <a:r>
              <a:t>text = source.read_text(encoding="utf-8")</a:t>
            </a:r>
          </a:p>
          <a:p xmlns:a="http://schemas.openxmlformats.org/drawingml/2006/main">
            <a:r>
              <a:t>print(text.strip())</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`from pathlib import Path` | 파일 주소 도구를 가져옵니다. |</a:t>
            </a:r>
          </a:p>
          <a:p xmlns:a="http://schemas.openxmlformats.org/drawingml/2006/main">
            <a:r>
              <a:t>| 2 | `base = Path(__file__).resolve().parent.parent` | 코드의 두 상위 폴더 course를 찾습니다. |</a:t>
            </a:r>
          </a:p>
          <a:p xmlns:a="http://schemas.openxmlformats.org/drawingml/2006/main">
            <a:r>
              <a:t>| 3 | `source = base / "data" / "notice.txt"` | 입력 파일 주소를 만듭니다. |</a:t>
            </a:r>
          </a:p>
          <a:p xmlns:a="http://schemas.openxmlformats.org/drawingml/2006/main">
            <a:r>
              <a:t>| 4 | `text = source.read_text(encoding="utf-8")` | UTF-8 텍스트를 읽습니다. |</a:t>
            </a:r>
          </a:p>
          <a:p xmlns:a="http://schemas.openxmlformats.org/drawingml/2006/main">
            <a:r>
              <a:t>| 5 | `print(text.strip())` | 앞뒤 공백과 줄바꿈을 정리해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code/A07_example.py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work/A07_example.py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센서 점검 예제입니다.</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code·work·data 배치를 그립니다.</a:t>
            </a:r>
          </a:p>
          <a:p xmlns:a="http://schemas.openxmlformats.org/drawingml/2006/main">
            <a:r>
              <a:t>2. 실제 파일명을 확인합니다.</a:t>
            </a:r>
          </a:p>
          <a:p xmlns:a="http://schemas.openxmlformats.org/drawingml/2006/main">
            <a:r>
              <a:t>3. 같은 코드가 다른 현재 위치에서도 읽는지 비교합니다.</a:t>
            </a:r>
          </a:p>
          <a:p xmlns:a="http://schemas.openxmlformats.org/drawingml/2006/main">
            <a:r>
              <a:t>4. 없는 파일의 오류와 내용 오류를 구별합니다.</a:t>
            </a:r>
          </a:p>
          <a:p xmlns:a="http://schemas.openxmlformats.org/drawingml/2006/main">
            <a:r>
              <a:t/>
            </a:r>
          </a:p>
          <a:p xmlns:a="http://schemas.openxmlformats.org/drawingml/2006/main">
            <a:r>
              <a:t>예상 결과: 안내 한 줄 출력. 없는 파일명은 FileNotFoundError.</a:t>
            </a:r>
          </a:p>
          <a:p xmlns:a="http://schemas.openxmlformats.org/drawingml/2006/main">
            <a:r>
              <a:t/>
            </a:r>
          </a:p>
          <a:p xmlns:a="http://schemas.openxmlformats.org/drawingml/2006/main">
            <a:r>
              <a:t>확인 질문: data만 다른 곳으로 옮겨도 자동으로 찾나요?</a:t>
            </a:r>
          </a:p>
          <a:p xmlns:a="http://schemas.openxmlformats.org/drawingml/2006/main">
            <a:r>
              <a:t/>
            </a:r>
          </a:p>
          <a:p xmlns:a="http://schemas.openxmlformats.org/drawingml/2006/main">
            <a:r>
              <a:t>막혔을 때: 압축 안에서 열었는지, 확장자가 두 번 붙었는지, course의 배치가 유지됐는지 확인합니다.</a:t>
            </a:r>
          </a:p>
          <a:p xmlns:a="http://schemas.openxmlformats.org/drawingml/2006/main">
            <a:r>
              <a:t/>
            </a:r>
          </a:p>
          <a:p xmlns:a="http://schemas.openxmlformats.org/drawingml/2006/main">
            <a:r>
              <a:t>[활동 자료와 작성칸](practice-guide.md#a07--파일-경로와-텍스트-읽기)에서 A07를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https://zeusk302-png.github.io/kdigital-physical-ai/#/sessions/2026-10-15/lesson?activity=A07</a:t>
            </a:r>
          </a:p>
          <a:p xmlns:a="http://schemas.openxmlformats.org/drawingml/2006/main">
            <a:r>
              <a:t>공식 자료: https://docs.python.org/3/tutorial/errors.html</a:t>
            </a:r>
          </a:p>
          <a:p xmlns:a="http://schemas.openxmlformats.org/drawingml/2006/main">
            <a:r>
              <a:t/>
            </a:r>
          </a:p>
          <a:p xmlns:a="http://schemas.openxmlformats.org/drawingml/2006/main">
            <a:r>
              <a:t>코드와 개념 해설: __file__은 지금 실행하는 코드 파일의 주소입니다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A07 상세 원문]</a:t>
            </a:r>
          </a:p>
          <a:p xmlns:a="http://schemas.openxmlformats.org/drawingml/2006/main">
            <a:r>
              <a:t>### 사례로 이해하기 · 읽은 텍스트에서 값으로, 값에서 저장 파일로</a:t>
            </a:r>
          </a:p>
          <a:p xmlns:a="http://schemas.openxmlformats.org/drawingml/2006/main">
            <a:r>
              <a:t/>
            </a:r>
          </a:p>
          <a:p xmlns:a="http://schemas.openxmlformats.org/drawingml/2006/main">
            <a:r>
              <a:t/>
            </a:r>
          </a:p>
          <a:p xmlns:a="http://schemas.openxmlformats.org/drawingml/2006/main">
            <a:r>
              <a:t/>
            </a:r>
          </a:p>
          <a:p xmlns:a="http://schemas.openxmlformats.org/drawingml/2006/main">
            <a:r>
              <a:t>점검 담당자는 CSV 입력에서 온도를 읽고 요약 JSON을 남깁니다. 파일은 디스크에 저장된 내용이고 읽어 온 값은 프로그램이 처리하는 내용입니다. 화면에 요약을 출력했다는 사실만으로 결과 파일이 저장되지는 않습니다. 흐름을 파일 주소 → 읽은 원문 → 해석한 값 → 결과 묶음 → 저장 주소 순서로 그립니다. 같은 내용처럼 보이는 단계도 역할과 저장 종류가 달라지므로 경계를 하나씩 확인합니다. 원자료와 결과 파일은 서로 다른 주소로 정합니다.</a:t>
            </a:r>
          </a:p>
          <a:p xmlns:a="http://schemas.openxmlformats.org/drawingml/2006/main">
            <a:r>
              <a:t/>
            </a:r>
          </a:p>
          <a:p xmlns:a="http://schemas.openxmlformats.org/drawingml/2006/main">
            <a:r>
              <a:t>예를 들어 헤더 `sensor_id,temperature_c` 아래 `S08,20.5` 한 행이 있습니다. DictReader 같은 CSV 읽기 도구는 헤더를 이름표로 삼고 기본 셀값을 문자열로 읽습니다. 원문 “20.5”를 실수 20.5로 해석한 다음 요약의 측정수 1과 평균 20.5를 만듭니다. JSON으로 표현한 완성 예는 `{"count":1,"average":20.5}`입니다. 숫자에 따옴표를 붙이지 않았으므로 JSON에서는 숫자값입니다. 원문 CSV에 숫자처럼 적혀 있다는 사실과 읽은 Python 값의 종류를 구별합니다.</a:t>
            </a:r>
          </a:p>
          <a:p xmlns:a="http://schemas.openxmlformats.org/drawingml/2006/main">
            <a:r>
              <a:t/>
            </a:r>
          </a:p>
          <a:p xmlns:a="http://schemas.openxmlformats.org/drawingml/2006/main">
            <a:r>
              <a:t>경로는 파일의 주소이며 현재 터미널 위치와 코드 파일 위치가 같다고 가정하지 않습니다. 기존 예제는 코드 위치를 기준으로 data와 work를 찾습니다. 폴더 배치가 바뀌면 입력 주소가 맞는지 먼저 확인합니다. FileNotFoundError는 파일 이름·주소·압축 해제 상태를 확인하는 단서이고 KeyError는 실제 헤더와 찾는 이름표를 비교하는 단서입니다. 파일은 찾았지만 “뜨거움”을 숫자로 읽으려 하면 ValueError 단계가 됩니다. 세 오류가 같은 화면에 보여도 해결할 경계가 다릅니다. 저장 후에는 결과 파일을 다시 열어 count와 average가 기대값인지 확인합니다. 이전 실행 파일이 남아 있을 수 있으므로 입력명과 실행 시각도 기록합니다.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입력 헤더는 device_id,value이고 한 행은 D09,0입니다. 프로그램은 temperature_c를 찾다가 실패했습니다. 파일 열기·헤더 찾기·숫자 변환 중 어느 단계인지 판단하고 원문을 보존한 수정 계획과 올바른 JSON 수치 표현을 쓰세요.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헤더 찾기 단계의 문제입니다. 입력 열 이름이 value로 정해져 있다면 코드에서 찾는 키도 value로 맞춥니다. 고치기 전에 정해 둔 열 이름과 실제 헤더를 확인합니다. 수치 0은 실제 값이므로 JSON에서는 0이며 null이 아닙니다. 주소 수정이나 0 삭제는 현재 증거에 맞는 해결이 아닙니다.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**CSV 값은 숫자로 자동 읽히나요?** 기본 읽기는 문자열이므로 의미에 맞는 해석 단계를 둡니다.</a:t>
            </a:r>
          </a:p>
          <a:p xmlns:a="http://schemas.openxmlformats.org/drawingml/2006/main">
            <a:r>
              <a:t/>
            </a:r>
          </a:p>
          <a:p xmlns:a="http://schemas.openxmlformats.org/drawingml/2006/main">
            <a:r>
              <a:t>2. **출력했으면 저장도 끝났나요?** 화면 표시와 파일 쓰기·재읽기 확인은 다른 작업입니다.</a:t>
            </a:r>
          </a:p>
          <a:p xmlns:a="http://schemas.openxmlformats.org/drawingml/2006/main">
            <a:r>
              <a:t/>
            </a:r>
          </a:p>
          <a:p xmlns:a="http://schemas.openxmlformats.org/drawingml/2006/main">
            <a:r>
              <a:t>3. **오류 종류를 왜 나누나요?** 파일·구조·값의 어느 경계에서 실패했는지 좁혀 올바른 부분을 고치기 위해서입니다.</a:t>
            </a:r>
          </a:p>
          <a:p xmlns:a="http://schemas.openxmlformats.org/drawingml/2006/main">
            <a:r>
              <a:t/>
            </a:r>
          </a:p>
          <a:p xmlns:a="http://schemas.openxmlformats.org/drawingml/2006/main">
            <a:r>
              <a:t/>
            </a:r>
          </a:p>
          <a:p xmlns:a="http://schemas.openxmlformats.org/drawingml/2006/main">
            <a:r>
              <a:t>**개념.** 경로는 파일의 저장 주소입니다. 현재 터미널 폴더와 코드 폴더는 다를 수 있습니다. Path(__file__)로 코드 위치를 찾으면 그 위치를 기준으로 자료 주소를 만들 수 있습니다.</a:t>
            </a:r>
          </a:p>
          <a:p xmlns:a="http://schemas.openxmlformats.org/drawingml/2006/main">
            <a:r>
              <a:t/>
            </a:r>
          </a:p>
          <a:p xmlns:a="http://schemas.openxmlformats.org/drawingml/2006/main">
            <a:r>
              <a:t>**왜 필요한가.** 터미널을 다른 곳에서 열어도 같은 자료를 읽도록 준비합니다. 긴 준비 줄을 외우기보다 code·work·data의 상대 배치를 이해하는 것이 목적입니다.</a:t>
            </a:r>
          </a:p>
          <a:p xmlns:a="http://schemas.openxmlformats.org/drawingml/2006/main">
            <a:r>
              <a:t/>
            </a:r>
          </a:p>
          <a:p xmlns:a="http://schemas.openxmlformats.org/drawingml/2006/main">
            <a:r>
              <a:t>**함께 보는 예.** course/code 또는 course/work의 코드에서 parent.parent는 course입니다. 그 아래 data/notice.txt를 읽습니다. UTF-8은 한글을 글자로 해석하는 인코딩 약속입니다.</a:t>
            </a:r>
          </a:p>
          <a:p xmlns:a="http://schemas.openxmlformats.org/drawingml/2006/main">
            <a:r>
              <a:t/>
            </a:r>
          </a:p>
          <a:p xmlns:a="http://schemas.openxmlformats.org/drawingml/2006/main">
            <a:r>
              <a:t>**헷갈리는 경우.** FileNotFoundError는 주소와 이름의 문제를 먼저 확인해야 합니다. 아직 파일을 읽지 못했는데 숫자 변환을 수정해도 원인을 해결하지 못합니다.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from pathlib import Path</a:t>
            </a:r>
          </a:p>
          <a:p xmlns:a="http://schemas.openxmlformats.org/drawingml/2006/main">
            <a:r>
              <a:t>base = Path(__file__).resolve().parent.parent</a:t>
            </a:r>
          </a:p>
          <a:p xmlns:a="http://schemas.openxmlformats.org/drawingml/2006/main">
            <a:r>
              <a:t>source = base / "data" / "notice.txt"</a:t>
            </a:r>
          </a:p>
          <a:p xmlns:a="http://schemas.openxmlformats.org/drawingml/2006/main">
            <a:r>
              <a:t>text = source.read_text(encoding="utf-8")</a:t>
            </a:r>
          </a:p>
          <a:p xmlns:a="http://schemas.openxmlformats.org/drawingml/2006/main">
            <a:r>
              <a:t>print(text.strip())</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`from pathlib import Path` | 파일 주소 도구를 가져옵니다. |</a:t>
            </a:r>
          </a:p>
          <a:p xmlns:a="http://schemas.openxmlformats.org/drawingml/2006/main">
            <a:r>
              <a:t>| 2 | `base = Path(__file__).resolve().parent.parent` | 코드의 두 상위 폴더 course를 찾습니다. |</a:t>
            </a:r>
          </a:p>
          <a:p xmlns:a="http://schemas.openxmlformats.org/drawingml/2006/main">
            <a:r>
              <a:t>| 3 | `source = base / "data" / "notice.txt"` | 입력 파일 주소를 만듭니다. |</a:t>
            </a:r>
          </a:p>
          <a:p xmlns:a="http://schemas.openxmlformats.org/drawingml/2006/main">
            <a:r>
              <a:t>| 4 | `text = source.read_text(encoding="utf-8")` | UTF-8 텍스트를 읽습니다. |</a:t>
            </a:r>
          </a:p>
          <a:p xmlns:a="http://schemas.openxmlformats.org/drawingml/2006/main">
            <a:r>
              <a:t>| 5 | `print(text.strip())` | 앞뒤 공백과 줄바꿈을 정리해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code/A07_example.py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work/A07_example.py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센서 점검 예제입니다.</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code·work·data 배치를 그립니다.</a:t>
            </a:r>
          </a:p>
          <a:p xmlns:a="http://schemas.openxmlformats.org/drawingml/2006/main">
            <a:r>
              <a:t>2. 실제 파일명을 확인합니다.</a:t>
            </a:r>
          </a:p>
          <a:p xmlns:a="http://schemas.openxmlformats.org/drawingml/2006/main">
            <a:r>
              <a:t>3. 같은 코드가 다른 현재 위치에서도 읽는지 비교합니다.</a:t>
            </a:r>
          </a:p>
          <a:p xmlns:a="http://schemas.openxmlformats.org/drawingml/2006/main">
            <a:r>
              <a:t>4. 없는 파일의 오류와 내용 오류를 구별합니다.</a:t>
            </a:r>
          </a:p>
          <a:p xmlns:a="http://schemas.openxmlformats.org/drawingml/2006/main">
            <a:r>
              <a:t/>
            </a:r>
          </a:p>
          <a:p xmlns:a="http://schemas.openxmlformats.org/drawingml/2006/main">
            <a:r>
              <a:t>예상 결과: 안내 한 줄 출력. 없는 파일명은 FileNotFoundError.</a:t>
            </a:r>
          </a:p>
          <a:p xmlns:a="http://schemas.openxmlformats.org/drawingml/2006/main">
            <a:r>
              <a:t/>
            </a:r>
          </a:p>
          <a:p xmlns:a="http://schemas.openxmlformats.org/drawingml/2006/main">
            <a:r>
              <a:t>확인 질문: data만 다른 곳으로 옮겨도 자동으로 찾나요?</a:t>
            </a:r>
          </a:p>
          <a:p xmlns:a="http://schemas.openxmlformats.org/drawingml/2006/main">
            <a:r>
              <a:t/>
            </a:r>
          </a:p>
          <a:p xmlns:a="http://schemas.openxmlformats.org/drawingml/2006/main">
            <a:r>
              <a:t>막혔을 때: 압축 안에서 열었는지, 확장자가 두 번 붙었는지, course의 배치가 유지됐는지 확인합니다.</a:t>
            </a:r>
          </a:p>
          <a:p xmlns:a="http://schemas.openxmlformats.org/drawingml/2006/main">
            <a:r>
              <a:t/>
            </a:r>
          </a:p>
          <a:p xmlns:a="http://schemas.openxmlformats.org/drawingml/2006/main">
            <a:r>
              <a:t>[활동 자료와 작성칸](practice-guide.md#a07--파일-경로와-텍스트-읽기)에서 A07를 엽니다.</a:t>
            </a:r>
          </a:p>
          <a:p xmlns:a="http://schemas.openxmlformats.org/drawingml/2006/main">
            <a:r>
              <a:t/>
            </a:r>
          </a:p>
          <a:p xmlns:a="http://schemas.openxmlformats.org/drawingml/2006/main">
            <a:r>
              <a:t>화면 예의 출처: D:/KDigital_PhysicalAI/.build/copyedited-ppt/spec-2026-10-15.json#slide-37;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https://zeusk302-png.github.io/kdigital-physical-ai/#/sessions/2026-10-15/lesson?activity=A07</a:t>
            </a:r>
          </a:p>
          <a:p xmlns:a="http://schemas.openxmlformats.org/drawingml/2006/main">
            <a:r>
              <a:t>공식 자료: https://docs.python.org/3/tutorial/errors.html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A07 상세 원문]</a:t>
            </a:r>
          </a:p>
          <a:p xmlns:a="http://schemas.openxmlformats.org/drawingml/2006/main">
            <a:r>
              <a:t>### 사례로 이해하기 · 읽은 텍스트에서 값으로, 값에서 저장 파일로</a:t>
            </a:r>
          </a:p>
          <a:p xmlns:a="http://schemas.openxmlformats.org/drawingml/2006/main">
            <a:r>
              <a:t/>
            </a:r>
          </a:p>
          <a:p xmlns:a="http://schemas.openxmlformats.org/drawingml/2006/main">
            <a:r>
              <a:t/>
            </a:r>
          </a:p>
          <a:p xmlns:a="http://schemas.openxmlformats.org/drawingml/2006/main">
            <a:r>
              <a:t/>
            </a:r>
          </a:p>
          <a:p xmlns:a="http://schemas.openxmlformats.org/drawingml/2006/main">
            <a:r>
              <a:t>점검 담당자는 CSV 입력에서 온도를 읽고 요약 JSON을 남깁니다. 파일은 디스크에 저장된 내용이고 읽어 온 값은 프로그램이 처리하는 내용입니다. 화면에 요약을 출력했다는 사실만으로 결과 파일이 저장되지는 않습니다. 흐름을 파일 주소 → 읽은 원문 → 해석한 값 → 결과 묶음 → 저장 주소 순서로 그립니다. 같은 내용처럼 보이는 단계도 역할과 저장 종류가 달라지므로 경계를 하나씩 확인합니다. 원자료와 결과 파일은 서로 다른 주소로 정합니다.</a:t>
            </a:r>
          </a:p>
          <a:p xmlns:a="http://schemas.openxmlformats.org/drawingml/2006/main">
            <a:r>
              <a:t/>
            </a:r>
          </a:p>
          <a:p xmlns:a="http://schemas.openxmlformats.org/drawingml/2006/main">
            <a:r>
              <a:t>예를 들어 헤더 `sensor_id,temperature_c` 아래 `S08,20.5` 한 행이 있습니다. DictReader 같은 CSV 읽기 도구는 헤더를 이름표로 삼고 기본 셀값을 문자열로 읽습니다. 원문 “20.5”를 실수 20.5로 해석한 다음 요약의 측정수 1과 평균 20.5를 만듭니다. JSON으로 표현한 완성 예는 `{"count":1,"average":20.5}`입니다. 숫자에 따옴표를 붙이지 않았으므로 JSON에서는 숫자값입니다. 원문 CSV에 숫자처럼 적혀 있다는 사실과 읽은 Python 값의 종류를 구별합니다.</a:t>
            </a:r>
          </a:p>
          <a:p xmlns:a="http://schemas.openxmlformats.org/drawingml/2006/main">
            <a:r>
              <a:t/>
            </a:r>
          </a:p>
          <a:p xmlns:a="http://schemas.openxmlformats.org/drawingml/2006/main">
            <a:r>
              <a:t>경로는 파일의 주소이며 현재 터미널 위치와 코드 파일 위치가 같다고 가정하지 않습니다. 기존 예제는 코드 위치를 기준으로 data와 work를 찾습니다. 폴더 배치가 바뀌면 입력 주소가 맞는지 먼저 확인합니다. FileNotFoundError는 파일 이름·주소·압축 해제 상태를 확인하는 단서이고 KeyError는 실제 헤더와 찾는 이름표를 비교하는 단서입니다. 파일은 찾았지만 “뜨거움”을 숫자로 읽으려 하면 ValueError 단계가 됩니다. 세 오류가 같은 화면에 보여도 해결할 경계가 다릅니다. 저장 후에는 결과 파일을 다시 열어 count와 average가 기대값인지 확인합니다. 이전 실행 파일이 남아 있을 수 있으므로 입력명과 실행 시각도 기록합니다.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입력 헤더는 device_id,value이고 한 행은 D09,0입니다. 프로그램은 temperature_c를 찾다가 실패했습니다. 파일 열기·헤더 찾기·숫자 변환 중 어느 단계인지 판단하고 원문을 보존한 수정 계획과 올바른 JSON 수치 표현을 쓰세요.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헤더 찾기 단계의 문제입니다. 입력 열 이름이 value로 정해져 있다면 코드에서 찾는 키도 value로 맞춥니다. 고치기 전에 정해 둔 열 이름과 실제 헤더를 확인합니다. 수치 0은 실제 값이므로 JSON에서는 0이며 null이 아닙니다. 주소 수정이나 0 삭제는 현재 증거에 맞는 해결이 아닙니다.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**CSV 값은 숫자로 자동 읽히나요?** 기본 읽기는 문자열이므로 의미에 맞는 해석 단계를 둡니다.</a:t>
            </a:r>
          </a:p>
          <a:p xmlns:a="http://schemas.openxmlformats.org/drawingml/2006/main">
            <a:r>
              <a:t/>
            </a:r>
          </a:p>
          <a:p xmlns:a="http://schemas.openxmlformats.org/drawingml/2006/main">
            <a:r>
              <a:t>2. **출력했으면 저장도 끝났나요?** 화면 표시와 파일 쓰기·재읽기 확인은 다른 작업입니다.</a:t>
            </a:r>
          </a:p>
          <a:p xmlns:a="http://schemas.openxmlformats.org/drawingml/2006/main">
            <a:r>
              <a:t/>
            </a:r>
          </a:p>
          <a:p xmlns:a="http://schemas.openxmlformats.org/drawingml/2006/main">
            <a:r>
              <a:t>3. **오류 종류를 왜 나누나요?** 파일·구조·값의 어느 경계에서 실패했는지 좁혀 올바른 부분을 고치기 위해서입니다.</a:t>
            </a:r>
          </a:p>
          <a:p xmlns:a="http://schemas.openxmlformats.org/drawingml/2006/main">
            <a:r>
              <a:t/>
            </a:r>
          </a:p>
          <a:p xmlns:a="http://schemas.openxmlformats.org/drawingml/2006/main">
            <a:r>
              <a:t/>
            </a:r>
          </a:p>
          <a:p xmlns:a="http://schemas.openxmlformats.org/drawingml/2006/main">
            <a:r>
              <a:t>**개념.** 경로는 파일의 저장 주소입니다. 현재 터미널 폴더와 코드 폴더는 다를 수 있습니다. Path(__file__)로 코드 위치를 찾으면 그 위치를 기준으로 자료 주소를 만들 수 있습니다.</a:t>
            </a:r>
          </a:p>
          <a:p xmlns:a="http://schemas.openxmlformats.org/drawingml/2006/main">
            <a:r>
              <a:t/>
            </a:r>
          </a:p>
          <a:p xmlns:a="http://schemas.openxmlformats.org/drawingml/2006/main">
            <a:r>
              <a:t>**왜 필요한가.** 터미널을 다른 곳에서 열어도 같은 자료를 읽도록 준비합니다. 긴 준비 줄을 외우기보다 code·work·data의 상대 배치를 이해하는 것이 목적입니다.</a:t>
            </a:r>
          </a:p>
          <a:p xmlns:a="http://schemas.openxmlformats.org/drawingml/2006/main">
            <a:r>
              <a:t/>
            </a:r>
          </a:p>
          <a:p xmlns:a="http://schemas.openxmlformats.org/drawingml/2006/main">
            <a:r>
              <a:t>**함께 보는 예.** course/code 또는 course/work의 코드에서 parent.parent는 course입니다. 그 아래 data/notice.txt를 읽습니다. UTF-8은 한글을 글자로 해석하는 인코딩 약속입니다.</a:t>
            </a:r>
          </a:p>
          <a:p xmlns:a="http://schemas.openxmlformats.org/drawingml/2006/main">
            <a:r>
              <a:t/>
            </a:r>
          </a:p>
          <a:p xmlns:a="http://schemas.openxmlformats.org/drawingml/2006/main">
            <a:r>
              <a:t>**헷갈리는 경우.** FileNotFoundError는 주소와 이름의 문제를 먼저 확인해야 합니다. 아직 파일을 읽지 못했는데 숫자 변환을 수정해도 원인을 해결하지 못합니다.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from pathlib import Path</a:t>
            </a:r>
          </a:p>
          <a:p xmlns:a="http://schemas.openxmlformats.org/drawingml/2006/main">
            <a:r>
              <a:t>base = Path(__file__).resolve().parent.parent</a:t>
            </a:r>
          </a:p>
          <a:p xmlns:a="http://schemas.openxmlformats.org/drawingml/2006/main">
            <a:r>
              <a:t>source = base / "data" / "notice.txt"</a:t>
            </a:r>
          </a:p>
          <a:p xmlns:a="http://schemas.openxmlformats.org/drawingml/2006/main">
            <a:r>
              <a:t>text = source.read_text(encoding="utf-8")</a:t>
            </a:r>
          </a:p>
          <a:p xmlns:a="http://schemas.openxmlformats.org/drawingml/2006/main">
            <a:r>
              <a:t>print(text.strip())</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`from pathlib import Path` | 파일 주소 도구를 가져옵니다. |</a:t>
            </a:r>
          </a:p>
          <a:p xmlns:a="http://schemas.openxmlformats.org/drawingml/2006/main">
            <a:r>
              <a:t>| 2 | `base = Path(__file__).resolve().parent.parent` | 코드의 두 상위 폴더 course를 찾습니다. |</a:t>
            </a:r>
          </a:p>
          <a:p xmlns:a="http://schemas.openxmlformats.org/drawingml/2006/main">
            <a:r>
              <a:t>| 3 | `source = base / "data" / "notice.txt"` | 입력 파일 주소를 만듭니다. |</a:t>
            </a:r>
          </a:p>
          <a:p xmlns:a="http://schemas.openxmlformats.org/drawingml/2006/main">
            <a:r>
              <a:t>| 4 | `text = source.read_text(encoding="utf-8")` | UTF-8 텍스트를 읽습니다. |</a:t>
            </a:r>
          </a:p>
          <a:p xmlns:a="http://schemas.openxmlformats.org/drawingml/2006/main">
            <a:r>
              <a:t>| 5 | `print(text.strip())` | 앞뒤 공백과 줄바꿈을 정리해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code/A07_example.py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work/A07_example.py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센서 점검 예제입니다.</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code·work·data 배치를 그립니다.</a:t>
            </a:r>
          </a:p>
          <a:p xmlns:a="http://schemas.openxmlformats.org/drawingml/2006/main">
            <a:r>
              <a:t>2. 실제 파일명을 확인합니다.</a:t>
            </a:r>
          </a:p>
          <a:p xmlns:a="http://schemas.openxmlformats.org/drawingml/2006/main">
            <a:r>
              <a:t>3. 같은 코드가 다른 현재 위치에서도 읽는지 비교합니다.</a:t>
            </a:r>
          </a:p>
          <a:p xmlns:a="http://schemas.openxmlformats.org/drawingml/2006/main">
            <a:r>
              <a:t>4. 없는 파일의 오류와 내용 오류를 구별합니다.</a:t>
            </a:r>
          </a:p>
          <a:p xmlns:a="http://schemas.openxmlformats.org/drawingml/2006/main">
            <a:r>
              <a:t/>
            </a:r>
          </a:p>
          <a:p xmlns:a="http://schemas.openxmlformats.org/drawingml/2006/main">
            <a:r>
              <a:t>예상 결과: 안내 한 줄 출력. 없는 파일명은 FileNotFoundError.</a:t>
            </a:r>
          </a:p>
          <a:p xmlns:a="http://schemas.openxmlformats.org/drawingml/2006/main">
            <a:r>
              <a:t/>
            </a:r>
          </a:p>
          <a:p xmlns:a="http://schemas.openxmlformats.org/drawingml/2006/main">
            <a:r>
              <a:t>확인 질문: data만 다른 곳으로 옮겨도 자동으로 찾나요?</a:t>
            </a:r>
          </a:p>
          <a:p xmlns:a="http://schemas.openxmlformats.org/drawingml/2006/main">
            <a:r>
              <a:t/>
            </a:r>
          </a:p>
          <a:p xmlns:a="http://schemas.openxmlformats.org/drawingml/2006/main">
            <a:r>
              <a:t>막혔을 때: 압축 안에서 열었는지, 확장자가 두 번 붙었는지, course의 배치가 유지됐는지 확인합니다.</a:t>
            </a:r>
          </a:p>
          <a:p xmlns:a="http://schemas.openxmlformats.org/drawingml/2006/main">
            <a:r>
              <a:t/>
            </a:r>
          </a:p>
          <a:p xmlns:a="http://schemas.openxmlformats.org/drawingml/2006/main">
            <a:r>
              <a:t>[활동 자료와 작성칸](practice-guide.md#a07--파일-경로와-텍스트-읽기)에서 A07를 엽니다.</a:t>
            </a:r>
          </a:p>
          <a:p xmlns:a="http://schemas.openxmlformats.org/drawingml/2006/main">
            <a:r>
              <a:t/>
            </a:r>
          </a:p>
          <a:p xmlns:a="http://schemas.openxmlformats.org/drawingml/2006/main">
            <a:r>
              <a:t>화면 예의 출처: D:/KDigital_PhysicalAI/.build/copyedited-ppt/spec-2026-10-15.json#slide-37;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https://zeusk302-png.github.io/kdigital-physical-ai/#/sessions/2026-10-15/lesson?activity=A07</a:t>
            </a:r>
          </a:p>
          <a:p xmlns:a="http://schemas.openxmlformats.org/drawingml/2006/main">
            <a:r>
              <a:t>공식 자료: https://docs.python.org/3/tutorial/errors.html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강의 화면용 독립 완결 예입니다. 원본 A08은 코드 위치로 주소를 만들며 전체 파일은 원문 노트에 보존했습니다. 화면 예는 현재 위치가 압축을 푼 course인 조건에서 실행합니다. 첫 두 줄은 도구와 읽을 파일, 다음 줄은 열린 파일을 file이라고 부릅니다. DictReader는 헤더를 키로 각 행을 읽습니다. 마지막 세 줄은 건수·첫 장치명·온도를 표시합니다. 출력은 4, S01, 22.5입니다.</a:t>
            </a:r>
          </a:p>
          <a:p xmlns:a="http://schemas.openxmlformats.org/drawingml/2006/main">
            <a:r>
              <a:t/>
            </a:r>
          </a:p>
          <a:p xmlns:a="http://schemas.openxmlformats.org/drawingml/2006/main">
            <a:r>
              <a:t>[활동 A08 상세 원문]</a:t>
            </a:r>
          </a:p>
          <a:p xmlns:a="http://schemas.openxmlformats.org/drawingml/2006/main">
            <a:r>
              <a:t>**개념.** csv.DictReader는 헤더를 키로 삼아 각 데이터 행을 딕셔너리로 읽습니다. 기본 셀값은 문자열이므로 온도 계산 전에 의미에 맞는 해석이 필요합니다.</a:t>
            </a:r>
          </a:p>
          <a:p xmlns:a="http://schemas.openxmlformats.org/drawingml/2006/main">
            <a:r>
              <a:t/>
            </a:r>
          </a:p>
          <a:p xmlns:a="http://schemas.openxmlformats.org/drawingml/2006/main">
            <a:r>
              <a:t>**왜 필요한가.** 열 번호를 외우기보다 temperature_c라는 이름으로 읽으면 처리할 항목이 드러납니다. 실제 헤더가 약속과 맞아야 같은 이름으로 읽을 수 있습니다.</a:t>
            </a:r>
          </a:p>
          <a:p xmlns:a="http://schemas.openxmlformats.org/drawingml/2006/main">
            <a:r>
              <a:t/>
            </a:r>
          </a:p>
          <a:p xmlns:a="http://schemas.openxmlformats.org/drawingml/2006/main">
            <a:r>
              <a:t>**함께 보는 예.** 입력은 S01의 22.5,S02의 25.0,S03의 빈 온도,S04의 0.0 네 건입니다. 첫 온도의 화면 모양은 숫자 같지만 type은 str입니다.</a:t>
            </a:r>
          </a:p>
          <a:p xmlns:a="http://schemas.openxmlformats.org/drawingml/2006/main">
            <a:r>
              <a:t/>
            </a:r>
          </a:p>
          <a:p xmlns:a="http://schemas.openxmlformats.org/drawingml/2006/main">
            <a:r>
              <a:t>**헷갈리는 경우.** 헤더를 temperature로 바꾸면 temperature_c라는 키가 저절로 생기지 않습니다. DictReader가 업무상 비슷한 단어를 연결하지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import csv</a:t>
            </a:r>
          </a:p>
          <a:p xmlns:a="http://schemas.openxmlformats.org/drawingml/2006/main">
            <a:r>
              <a:t>from pathlib import Path</a:t>
            </a:r>
          </a:p>
          <a:p xmlns:a="http://schemas.openxmlformats.org/drawingml/2006/main">
            <a:r>
              <a:t>source = Path(__file__).resolve().parent.parent / "data" / "readings.csv"</a:t>
            </a:r>
          </a:p>
          <a:p xmlns:a="http://schemas.openxmlformats.org/drawingml/2006/main">
            <a:r>
              <a:t>with source.open(encoding="utf-8", newline="") as file:</a:t>
            </a:r>
          </a:p>
          <a:p xmlns:a="http://schemas.openxmlformats.org/drawingml/2006/main">
            <a:r>
              <a:t>    rows = list(csv.DictReader(file))</a:t>
            </a:r>
          </a:p>
          <a:p xmlns:a="http://schemas.openxmlformats.org/drawingml/2006/main">
            <a:r>
              <a:t>print(len(rows))</a:t>
            </a:r>
          </a:p>
          <a:p xmlns:a="http://schemas.openxmlformats.org/drawingml/2006/main">
            <a:r>
              <a:t>print(rows[0]["sensor_id"])</a:t>
            </a:r>
          </a:p>
          <a:p xmlns:a="http://schemas.openxmlformats.org/drawingml/2006/main">
            <a:r>
              <a:t>print(rows[0]["temperature_c"], type(rows[0]["temperature_c"]).__name__)</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`import csv` | CSV 표준 도구를 가져옵니다. |</a:t>
            </a:r>
          </a:p>
          <a:p xmlns:a="http://schemas.openxmlformats.org/drawingml/2006/main">
            <a:r>
              <a:t>| 2 | `from pathlib import Path` | 파일 주소 도구를 가져옵니다. |</a:t>
            </a:r>
          </a:p>
          <a:p xmlns:a="http://schemas.openxmlformats.org/drawingml/2006/main">
            <a:r>
              <a:t>| 3 | `source = Path(__file__).resolve().parent.parent / "data" / "readings.csv"` | 기초 CSV 주소를 만듭니다. |</a:t>
            </a:r>
          </a:p>
          <a:p xmlns:a="http://schemas.openxmlformats.org/drawingml/2006/main">
            <a:r>
              <a:t>| 4 | `with source.open(encoding="utf-8", newline="") as file:` | 인코딩과 CSV 줄바꿈 설정으로 엽니다. |</a:t>
            </a:r>
          </a:p>
          <a:p xmlns:a="http://schemas.openxmlformats.org/drawingml/2006/main">
            <a:r>
              <a:t>| 5 | `    rows = list(csv.DictReader(file))` | 각 행을 헤더 이름의 딕셔너리로 읽습니다. |</a:t>
            </a:r>
          </a:p>
          <a:p xmlns:a="http://schemas.openxmlformats.org/drawingml/2006/main">
            <a:r>
              <a:t>| 6 | `print(len(rows))` | 데이터 건수를 출력합니다. |</a:t>
            </a:r>
          </a:p>
          <a:p xmlns:a="http://schemas.openxmlformats.org/drawingml/2006/main">
            <a:r>
              <a:t>| 7 | `print(rows[0]["sensor_id"])` | 첫 기록의 센서명을 읽습니다. |</a:t>
            </a:r>
          </a:p>
          <a:p xmlns:a="http://schemas.openxmlformats.org/drawingml/2006/main">
            <a:r>
              <a:t>| 8 | `print(rows[0]["temperature_c"], type(rows[0]["temperature_c"]).__name__)` | 첫 온도와 실제 자료형을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code/A08_example.py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work/A08_example.py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4</a:t>
            </a:r>
          </a:p>
          <a:p xmlns:a="http://schemas.openxmlformats.org/drawingml/2006/main">
            <a:r>
              <a:t>S01</a:t>
            </a:r>
          </a:p>
          <a:p xmlns:a="http://schemas.openxmlformats.org/drawingml/2006/main">
            <a:r>
              <a:t>22.5 str</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헤더와 키의 대응을 표시합니다.</a:t>
            </a:r>
          </a:p>
          <a:p xmlns:a="http://schemas.openxmlformats.org/drawingml/2006/main">
            <a:r>
              <a:t>2. 헤더를 제외한 네 건을 셉니다.</a:t>
            </a:r>
          </a:p>
          <a:p xmlns:a="http://schemas.openxmlformats.org/drawingml/2006/main">
            <a:r>
              <a:t>3. 온도의 값 모양과 자료형을 나눠 적습니다.</a:t>
            </a:r>
          </a:p>
          <a:p xmlns:a="http://schemas.openxmlformats.org/drawingml/2006/main">
            <a:r>
              <a:t>4. 빈 온도가 어떤 문자열일지 예상합니다.</a:t>
            </a:r>
          </a:p>
          <a:p xmlns:a="http://schemas.openxmlformats.org/drawingml/2006/main">
            <a:r>
              <a:t/>
            </a:r>
          </a:p>
          <a:p xmlns:a="http://schemas.openxmlformats.org/drawingml/2006/main">
            <a:r>
              <a:t>예상 결과: 4 / S01 /22.5 str. 헤더는 데이터가 아닙니다.</a:t>
            </a:r>
          </a:p>
          <a:p xmlns:a="http://schemas.openxmlformats.org/drawingml/2006/main">
            <a:r>
              <a:t/>
            </a:r>
          </a:p>
          <a:p xmlns:a="http://schemas.openxmlformats.org/drawingml/2006/main">
            <a:r>
              <a:t>확인 질문: 빈 셀은 자동으로 None이 되나요?</a:t>
            </a:r>
          </a:p>
          <a:p xmlns:a="http://schemas.openxmlformats.org/drawingml/2006/main">
            <a:r>
              <a:t/>
            </a:r>
          </a:p>
          <a:p xmlns:a="http://schemas.openxmlformats.org/drawingml/2006/main">
            <a:r>
              <a:t>막혔을 때: KeyError는 실제 헤더와 키를 비교합니다. 공백·인코딩도 실제 원문을 확인한 뒤 판단합니다.</a:t>
            </a:r>
          </a:p>
          <a:p xmlns:a="http://schemas.openxmlformats.org/drawingml/2006/main">
            <a:r>
              <a:t/>
            </a:r>
          </a:p>
          <a:p xmlns:a="http://schemas.openxmlformats.org/drawingml/2006/main">
            <a:r>
              <a:t>[활동 자료와 작성칸](practice-guide.md#a08--csv를-이름표가-있는-행으로-읽기)에서 A08를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https://zeusk302-png.github.io/kdigital-physical-ai/#/sessions/2026-10-15/lesson?activity=A08</a:t>
            </a:r>
          </a:p>
          <a:p xmlns:a="http://schemas.openxmlformats.org/drawingml/2006/main">
            <a:r>
              <a:t>공식 자료: https://docs.python.org/3/tutorial/errors.html</a:t>
            </a:r>
          </a:p>
          <a:p xmlns:a="http://schemas.openxmlformats.org/drawingml/2006/main">
            <a:r>
              <a:t/>
            </a:r>
          </a:p>
          <a:p xmlns:a="http://schemas.openxmlformats.org/drawingml/2006/main">
            <a:r>
              <a:t>코드와 개념 해설: DictReader는 헤더를 키로 사용합니다</a:t>
            </a:r>
          </a:p>
          <a:p xmlns:a="http://schemas.openxmlformats.org/drawingml/2006/main">
            <a:r>
              <a:t>기본 셀값 "22.5"는 문자열입니다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A08 상세 원문]</a:t>
            </a:r>
          </a:p>
          <a:p xmlns:a="http://schemas.openxmlformats.org/drawingml/2006/main">
            <a:r>
              <a:t>**개념.** csv.DictReader는 헤더를 키로 삼아 각 데이터 행을 딕셔너리로 읽습니다. 기본 셀값은 문자열이므로 온도 계산 전에 의미에 맞는 해석이 필요합니다.</a:t>
            </a:r>
          </a:p>
          <a:p xmlns:a="http://schemas.openxmlformats.org/drawingml/2006/main">
            <a:r>
              <a:t/>
            </a:r>
          </a:p>
          <a:p xmlns:a="http://schemas.openxmlformats.org/drawingml/2006/main">
            <a:r>
              <a:t>**왜 필요한가.** 열 번호를 외우기보다 temperature_c라는 이름으로 읽으면 처리할 항목이 드러납니다. 실제 헤더가 약속과 맞아야 같은 이름으로 읽을 수 있습니다.</a:t>
            </a:r>
          </a:p>
          <a:p xmlns:a="http://schemas.openxmlformats.org/drawingml/2006/main">
            <a:r>
              <a:t/>
            </a:r>
          </a:p>
          <a:p xmlns:a="http://schemas.openxmlformats.org/drawingml/2006/main">
            <a:r>
              <a:t>**함께 보는 예.** 입력은 S01의 22.5,S02의 25.0,S03의 빈 온도,S04의 0.0 네 건입니다. 첫 온도의 화면 모양은 숫자 같지만 type은 str입니다.</a:t>
            </a:r>
          </a:p>
          <a:p xmlns:a="http://schemas.openxmlformats.org/drawingml/2006/main">
            <a:r>
              <a:t/>
            </a:r>
          </a:p>
          <a:p xmlns:a="http://schemas.openxmlformats.org/drawingml/2006/main">
            <a:r>
              <a:t>**헷갈리는 경우.** 헤더를 temperature로 바꾸면 temperature_c라는 키가 저절로 생기지 않습니다. DictReader가 업무상 비슷한 단어를 연결하지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import csv</a:t>
            </a:r>
          </a:p>
          <a:p xmlns:a="http://schemas.openxmlformats.org/drawingml/2006/main">
            <a:r>
              <a:t>from pathlib import Path</a:t>
            </a:r>
          </a:p>
          <a:p xmlns:a="http://schemas.openxmlformats.org/drawingml/2006/main">
            <a:r>
              <a:t>source = Path(__file__).resolve().parent.parent / "data" / "readings.csv"</a:t>
            </a:r>
          </a:p>
          <a:p xmlns:a="http://schemas.openxmlformats.org/drawingml/2006/main">
            <a:r>
              <a:t>with source.open(encoding="utf-8", newline="") as file:</a:t>
            </a:r>
          </a:p>
          <a:p xmlns:a="http://schemas.openxmlformats.org/drawingml/2006/main">
            <a:r>
              <a:t>    rows = list(csv.DictReader(file))</a:t>
            </a:r>
          </a:p>
          <a:p xmlns:a="http://schemas.openxmlformats.org/drawingml/2006/main">
            <a:r>
              <a:t>print(len(rows))</a:t>
            </a:r>
          </a:p>
          <a:p xmlns:a="http://schemas.openxmlformats.org/drawingml/2006/main">
            <a:r>
              <a:t>print(rows[0]["sensor_id"])</a:t>
            </a:r>
          </a:p>
          <a:p xmlns:a="http://schemas.openxmlformats.org/drawingml/2006/main">
            <a:r>
              <a:t>print(rows[0]["temperature_c"], type(rows[0]["temperature_c"]).__name__)</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`import csv` | CSV 표준 도구를 가져옵니다. |</a:t>
            </a:r>
          </a:p>
          <a:p xmlns:a="http://schemas.openxmlformats.org/drawingml/2006/main">
            <a:r>
              <a:t>| 2 | `from pathlib import Path` | 파일 주소 도구를 가져옵니다. |</a:t>
            </a:r>
          </a:p>
          <a:p xmlns:a="http://schemas.openxmlformats.org/drawingml/2006/main">
            <a:r>
              <a:t>| 3 | `source = Path(__file__).resolve().parent.parent / "data" / "readings.csv"` | 기초 CSV 주소를 만듭니다. |</a:t>
            </a:r>
          </a:p>
          <a:p xmlns:a="http://schemas.openxmlformats.org/drawingml/2006/main">
            <a:r>
              <a:t>| 4 | `with source.open(encoding="utf-8", newline="") as file:` | 인코딩과 CSV 줄바꿈 설정으로 엽니다. |</a:t>
            </a:r>
          </a:p>
          <a:p xmlns:a="http://schemas.openxmlformats.org/drawingml/2006/main">
            <a:r>
              <a:t>| 5 | `    rows = list(csv.DictReader(file))` | 각 행을 헤더 이름의 딕셔너리로 읽습니다. |</a:t>
            </a:r>
          </a:p>
          <a:p xmlns:a="http://schemas.openxmlformats.org/drawingml/2006/main">
            <a:r>
              <a:t>| 6 | `print(len(rows))` | 데이터 건수를 출력합니다. |</a:t>
            </a:r>
          </a:p>
          <a:p xmlns:a="http://schemas.openxmlformats.org/drawingml/2006/main">
            <a:r>
              <a:t>| 7 | `print(rows[0]["sensor_id"])` | 첫 기록의 센서명을 읽습니다. |</a:t>
            </a:r>
          </a:p>
          <a:p xmlns:a="http://schemas.openxmlformats.org/drawingml/2006/main">
            <a:r>
              <a:t>| 8 | `print(rows[0]["temperature_c"], type(rows[0]["temperature_c"]).__name__)` | 첫 온도와 실제 자료형을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code/A08_example.py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work/A08_example.py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4</a:t>
            </a:r>
          </a:p>
          <a:p xmlns:a="http://schemas.openxmlformats.org/drawingml/2006/main">
            <a:r>
              <a:t>S01</a:t>
            </a:r>
          </a:p>
          <a:p xmlns:a="http://schemas.openxmlformats.org/drawingml/2006/main">
            <a:r>
              <a:t>22.5 str</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헤더와 키의 대응을 표시합니다.</a:t>
            </a:r>
          </a:p>
          <a:p xmlns:a="http://schemas.openxmlformats.org/drawingml/2006/main">
            <a:r>
              <a:t>2. 헤더를 제외한 네 건을 셉니다.</a:t>
            </a:r>
          </a:p>
          <a:p xmlns:a="http://schemas.openxmlformats.org/drawingml/2006/main">
            <a:r>
              <a:t>3. 온도의 값 모양과 자료형을 나눠 적습니다.</a:t>
            </a:r>
          </a:p>
          <a:p xmlns:a="http://schemas.openxmlformats.org/drawingml/2006/main">
            <a:r>
              <a:t>4. 빈 온도가 어떤 문자열일지 예상합니다.</a:t>
            </a:r>
          </a:p>
          <a:p xmlns:a="http://schemas.openxmlformats.org/drawingml/2006/main">
            <a:r>
              <a:t/>
            </a:r>
          </a:p>
          <a:p xmlns:a="http://schemas.openxmlformats.org/drawingml/2006/main">
            <a:r>
              <a:t>예상 결과: 4 / S01 /22.5 str. 헤더는 데이터가 아닙니다.</a:t>
            </a:r>
          </a:p>
          <a:p xmlns:a="http://schemas.openxmlformats.org/drawingml/2006/main">
            <a:r>
              <a:t/>
            </a:r>
          </a:p>
          <a:p xmlns:a="http://schemas.openxmlformats.org/drawingml/2006/main">
            <a:r>
              <a:t>확인 질문: 빈 셀은 자동으로 None이 되나요?</a:t>
            </a:r>
          </a:p>
          <a:p xmlns:a="http://schemas.openxmlformats.org/drawingml/2006/main">
            <a:r>
              <a:t/>
            </a:r>
          </a:p>
          <a:p xmlns:a="http://schemas.openxmlformats.org/drawingml/2006/main">
            <a:r>
              <a:t>막혔을 때: KeyError는 실제 헤더와 키를 비교합니다. 공백·인코딩도 실제 원문을 확인한 뒤 판단합니다.</a:t>
            </a:r>
          </a:p>
          <a:p xmlns:a="http://schemas.openxmlformats.org/drawingml/2006/main">
            <a:r>
              <a:t/>
            </a:r>
          </a:p>
          <a:p xmlns:a="http://schemas.openxmlformats.org/drawingml/2006/main">
            <a:r>
              <a:t>[활동 자료와 작성칸](practice-guide.md#a08--csv를-이름표가-있는-행으로-읽기)에서 A08를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https://zeusk302-png.github.io/kdigital-physical-ai/#/sessions/2026-10-15/lesson?activity=A08</a:t>
            </a:r>
          </a:p>
          <a:p xmlns:a="http://schemas.openxmlformats.org/drawingml/2006/main">
            <a:r>
              <a:t>공식 자료: https://docs.python.org/3/tutorial/errors.html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A08 상세 원문]</a:t>
            </a:r>
          </a:p>
          <a:p xmlns:a="http://schemas.openxmlformats.org/drawingml/2006/main">
            <a:r>
              <a:t>**개념.** csv.DictReader는 헤더를 키로 삼아 각 데이터 행을 딕셔너리로 읽습니다. 기본 셀값은 문자열이므로 온도 계산 전에 의미에 맞는 해석이 필요합니다.</a:t>
            </a:r>
          </a:p>
          <a:p xmlns:a="http://schemas.openxmlformats.org/drawingml/2006/main">
            <a:r>
              <a:t/>
            </a:r>
          </a:p>
          <a:p xmlns:a="http://schemas.openxmlformats.org/drawingml/2006/main">
            <a:r>
              <a:t>**왜 필요한가.** 열 번호를 외우기보다 temperature_c라는 이름으로 읽으면 처리할 항목이 드러납니다. 실제 헤더가 약속과 맞아야 같은 이름으로 읽을 수 있습니다.</a:t>
            </a:r>
          </a:p>
          <a:p xmlns:a="http://schemas.openxmlformats.org/drawingml/2006/main">
            <a:r>
              <a:t/>
            </a:r>
          </a:p>
          <a:p xmlns:a="http://schemas.openxmlformats.org/drawingml/2006/main">
            <a:r>
              <a:t>**함께 보는 예.** 입력은 S01의 22.5,S02의 25.0,S03의 빈 온도,S04의 0.0 네 건입니다. 첫 온도의 화면 모양은 숫자 같지만 type은 str입니다.</a:t>
            </a:r>
          </a:p>
          <a:p xmlns:a="http://schemas.openxmlformats.org/drawingml/2006/main">
            <a:r>
              <a:t/>
            </a:r>
          </a:p>
          <a:p xmlns:a="http://schemas.openxmlformats.org/drawingml/2006/main">
            <a:r>
              <a:t>**헷갈리는 경우.** 헤더를 temperature로 바꾸면 temperature_c라는 키가 저절로 생기지 않습니다. DictReader가 업무상 비슷한 단어를 연결하지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import csv</a:t>
            </a:r>
          </a:p>
          <a:p xmlns:a="http://schemas.openxmlformats.org/drawingml/2006/main">
            <a:r>
              <a:t>from pathlib import Path</a:t>
            </a:r>
          </a:p>
          <a:p xmlns:a="http://schemas.openxmlformats.org/drawingml/2006/main">
            <a:r>
              <a:t>source = Path(__file__).resolve().parent.parent / "data" / "readings.csv"</a:t>
            </a:r>
          </a:p>
          <a:p xmlns:a="http://schemas.openxmlformats.org/drawingml/2006/main">
            <a:r>
              <a:t>with source.open(encoding="utf-8", newline="") as file:</a:t>
            </a:r>
          </a:p>
          <a:p xmlns:a="http://schemas.openxmlformats.org/drawingml/2006/main">
            <a:r>
              <a:t>    rows = list(csv.DictReader(file))</a:t>
            </a:r>
          </a:p>
          <a:p xmlns:a="http://schemas.openxmlformats.org/drawingml/2006/main">
            <a:r>
              <a:t>print(len(rows))</a:t>
            </a:r>
          </a:p>
          <a:p xmlns:a="http://schemas.openxmlformats.org/drawingml/2006/main">
            <a:r>
              <a:t>print(rows[0]["sensor_id"])</a:t>
            </a:r>
          </a:p>
          <a:p xmlns:a="http://schemas.openxmlformats.org/drawingml/2006/main">
            <a:r>
              <a:t>print(rows[0]["temperature_c"], type(rows[0]["temperature_c"]).__name__)</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`import csv` | CSV 표준 도구를 가져옵니다. |</a:t>
            </a:r>
          </a:p>
          <a:p xmlns:a="http://schemas.openxmlformats.org/drawingml/2006/main">
            <a:r>
              <a:t>| 2 | `from pathlib import Path` | 파일 주소 도구를 가져옵니다. |</a:t>
            </a:r>
          </a:p>
          <a:p xmlns:a="http://schemas.openxmlformats.org/drawingml/2006/main">
            <a:r>
              <a:t>| 3 | `source = Path(__file__).resolve().parent.parent / "data" / "readings.csv"` | 기초 CSV 주소를 만듭니다. |</a:t>
            </a:r>
          </a:p>
          <a:p xmlns:a="http://schemas.openxmlformats.org/drawingml/2006/main">
            <a:r>
              <a:t>| 4 | `with source.open(encoding="utf-8", newline="") as file:` | 인코딩과 CSV 줄바꿈 설정으로 엽니다. |</a:t>
            </a:r>
          </a:p>
          <a:p xmlns:a="http://schemas.openxmlformats.org/drawingml/2006/main">
            <a:r>
              <a:t>| 5 | `    rows = list(csv.DictReader(file))` | 각 행을 헤더 이름의 딕셔너리로 읽습니다. |</a:t>
            </a:r>
          </a:p>
          <a:p xmlns:a="http://schemas.openxmlformats.org/drawingml/2006/main">
            <a:r>
              <a:t>| 6 | `print(len(rows))` | 데이터 건수를 출력합니다. |</a:t>
            </a:r>
          </a:p>
          <a:p xmlns:a="http://schemas.openxmlformats.org/drawingml/2006/main">
            <a:r>
              <a:t>| 7 | `print(rows[0]["sensor_id"])` | 첫 기록의 센서명을 읽습니다. |</a:t>
            </a:r>
          </a:p>
          <a:p xmlns:a="http://schemas.openxmlformats.org/drawingml/2006/main">
            <a:r>
              <a:t>| 8 | `print(rows[0]["temperature_c"], type(rows[0]["temperature_c"]).__name__)` | 첫 온도와 실제 자료형을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code/A08_example.py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work/A08_example.py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4</a:t>
            </a:r>
          </a:p>
          <a:p xmlns:a="http://schemas.openxmlformats.org/drawingml/2006/main">
            <a:r>
              <a:t>S01</a:t>
            </a:r>
          </a:p>
          <a:p xmlns:a="http://schemas.openxmlformats.org/drawingml/2006/main">
            <a:r>
              <a:t>22.5 str</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헤더와 키의 대응을 표시합니다.</a:t>
            </a:r>
          </a:p>
          <a:p xmlns:a="http://schemas.openxmlformats.org/drawingml/2006/main">
            <a:r>
              <a:t>2. 헤더를 제외한 네 건을 셉니다.</a:t>
            </a:r>
          </a:p>
          <a:p xmlns:a="http://schemas.openxmlformats.org/drawingml/2006/main">
            <a:r>
              <a:t>3. 온도의 값 모양과 자료형을 나눠 적습니다.</a:t>
            </a:r>
          </a:p>
          <a:p xmlns:a="http://schemas.openxmlformats.org/drawingml/2006/main">
            <a:r>
              <a:t>4. 빈 온도가 어떤 문자열일지 예상합니다.</a:t>
            </a:r>
          </a:p>
          <a:p xmlns:a="http://schemas.openxmlformats.org/drawingml/2006/main">
            <a:r>
              <a:t/>
            </a:r>
          </a:p>
          <a:p xmlns:a="http://schemas.openxmlformats.org/drawingml/2006/main">
            <a:r>
              <a:t>예상 결과: 4 / S01 /22.5 str. 헤더는 데이터가 아닙니다.</a:t>
            </a:r>
          </a:p>
          <a:p xmlns:a="http://schemas.openxmlformats.org/drawingml/2006/main">
            <a:r>
              <a:t/>
            </a:r>
          </a:p>
          <a:p xmlns:a="http://schemas.openxmlformats.org/drawingml/2006/main">
            <a:r>
              <a:t>확인 질문: 빈 셀은 자동으로 None이 되나요?</a:t>
            </a:r>
          </a:p>
          <a:p xmlns:a="http://schemas.openxmlformats.org/drawingml/2006/main">
            <a:r>
              <a:t/>
            </a:r>
          </a:p>
          <a:p xmlns:a="http://schemas.openxmlformats.org/drawingml/2006/main">
            <a:r>
              <a:t>막혔을 때: KeyError는 실제 헤더와 키를 비교합니다. 공백·인코딩도 실제 원문을 확인한 뒤 판단합니다.</a:t>
            </a:r>
          </a:p>
          <a:p xmlns:a="http://schemas.openxmlformats.org/drawingml/2006/main">
            <a:r>
              <a:t/>
            </a:r>
          </a:p>
          <a:p xmlns:a="http://schemas.openxmlformats.org/drawingml/2006/main">
            <a:r>
              <a:t>[활동 자료와 작성칸](practice-guide.md#a08--csv를-이름표가-있는-행으로-읽기)에서 A08를 엽니다.</a:t>
            </a:r>
          </a:p>
          <a:p xmlns:a="http://schemas.openxmlformats.org/drawingml/2006/main">
            <a:r>
              <a:t/>
            </a:r>
          </a:p>
          <a:p xmlns:a="http://schemas.openxmlformats.org/drawingml/2006/main">
            <a:r>
              <a:t>화면 예의 출처: D:/KDigital_PhysicalAI/.build/copyedited-ppt/spec-2026-10-15.json#slide-41;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https://zeusk302-png.github.io/kdigital-physical-ai/#/sessions/2026-10-15/lesson?activity=A08</a:t>
            </a:r>
          </a:p>
          <a:p xmlns:a="http://schemas.openxmlformats.org/drawingml/2006/main">
            <a:r>
              <a:t>공식 자료: https://docs.python.org/3/tutorial/errors.html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강의 화면용 독립 완결 예입니다. 현재 위치 course, work 폴더가 있는 조건입니다. json.dumps는 값 묶음을 JSON 텍스트로 만들며 ensure_ascii=False는 한글 표시를 유지합니다. w는 쓰기 모드이므로 결과 파일 주소만 지정합니다. 입력 원자료 주소를 쓰지 않습니다. 화면은 4 1을 표시하고 work/output_summary.json 파일이 생깁니다. 원본 A09의 경로 구성과 재읽기 전체는 상세 노트에 보존합니다.</a:t>
            </a:r>
          </a:p>
          <a:p xmlns:a="http://schemas.openxmlformats.org/drawingml/2006/main">
            <a:r>
              <a:t/>
            </a:r>
          </a:p>
          <a:p xmlns:a="http://schemas.openxmlformats.org/drawingml/2006/main">
            <a:r>
              <a:t>[활동 A09 상세 원문]</a:t>
            </a:r>
          </a:p>
          <a:p xmlns:a="http://schemas.openxmlformats.org/drawingml/2006/main">
            <a:r>
              <a:t>**개념.** json.dumps는 프로그램 값을 JSON 텍스트로 표현합니다. 그 텍스트를 경로에 써야 결과 파일이 생깁니다. 입력 읽기와 결과 저장은 별도 작업입니다.</a:t>
            </a:r>
          </a:p>
          <a:p xmlns:a="http://schemas.openxmlformats.org/drawingml/2006/main">
            <a:r>
              <a:t/>
            </a:r>
          </a:p>
          <a:p xmlns:a="http://schemas.openxmlformats.org/drawingml/2006/main">
            <a:r>
              <a:t>**왜 필요한가.** 화면 출력만 있으면 다음 사람이 결과를 재사용하기 어렵습니다. 입력 원자료를 덮어쓰지 않도록 work의 결과 경로를 명확히 정합니다.</a:t>
            </a:r>
          </a:p>
          <a:p xmlns:a="http://schemas.openxmlformats.org/drawingml/2006/main">
            <a:r>
              <a:t/>
            </a:r>
          </a:p>
          <a:p xmlns:a="http://schemas.openxmlformats.org/drawingml/2006/main">
            <a:r>
              <a:t>**함께 보는 예.** 건수 4와 미측정 1을 JSON으로 저장합니다. ensure_ascii=False는 한글을 읽기 쉬운 모양으로 남기고 indent=2는 들여쓰기를 넣습니다. 저장한 파일을 다시 읽어 값이 같은지 봅니다.</a:t>
            </a:r>
          </a:p>
          <a:p xmlns:a="http://schemas.openxmlformats.org/drawingml/2006/main">
            <a:r>
              <a:t/>
            </a:r>
          </a:p>
          <a:p xmlns:a="http://schemas.openxmlformats.org/drawingml/2006/main">
            <a:r>
              <a:t>**헷갈리는 경우.** .json이라는 이름만으로 내용이 JSON이 되지는 않습니다. 딕셔너리 화면 문자열을 그대로 쓰기보다 JSON 변환 도구를 사용합니다.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import json</a:t>
            </a:r>
          </a:p>
          <a:p xmlns:a="http://schemas.openxmlformats.org/drawingml/2006/main">
            <a:r>
              <a:t>from pathlib import Path</a:t>
            </a:r>
          </a:p>
          <a:p xmlns:a="http://schemas.openxmlformats.org/drawingml/2006/main">
            <a:r>
              <a:t>base = Path(__file__).resolve().parent.parent</a:t>
            </a:r>
          </a:p>
          <a:p xmlns:a="http://schemas.openxmlformats.org/drawingml/2006/main">
            <a:r>
              <a:t>summary = {"건수": 4, "미측정": 1}</a:t>
            </a:r>
          </a:p>
          <a:p xmlns:a="http://schemas.openxmlformats.org/drawingml/2006/main">
            <a:r>
              <a:t>text = json.dumps(summary, ensure_ascii=False, indent=2)</a:t>
            </a:r>
          </a:p>
          <a:p xmlns:a="http://schemas.openxmlformats.org/drawingml/2006/main">
            <a:r>
              <a:t>target = base / "work" / "output_summary.json"</a:t>
            </a:r>
          </a:p>
          <a:p xmlns:a="http://schemas.openxmlformats.org/drawingml/2006/main">
            <a:r>
              <a:t>target.write_text(text, encoding="utf-8")</a:t>
            </a:r>
          </a:p>
          <a:p xmlns:a="http://schemas.openxmlformats.org/drawingml/2006/main">
            <a:r>
              <a:t>loaded = json.loads(target.read_text(encoding="utf-8"))</a:t>
            </a:r>
          </a:p>
          <a:p xmlns:a="http://schemas.openxmlformats.org/drawingml/2006/main">
            <a:r>
              <a:t>print(loaded["건수"], loaded["미측정"])</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`import json` | JSON 도구를 가져옵니다. |</a:t>
            </a:r>
          </a:p>
          <a:p xmlns:a="http://schemas.openxmlformats.org/drawingml/2006/main">
            <a:r>
              <a:t>| 2 | `from pathlib import Path` | 주소 도구를 가져옵니다. |</a:t>
            </a:r>
          </a:p>
          <a:p xmlns:a="http://schemas.openxmlformats.org/drawingml/2006/main">
            <a:r>
              <a:t>| 3 | `base = Path(__file__).resolve().parent.parent` | course를 찾습니다. |</a:t>
            </a:r>
          </a:p>
          <a:p xmlns:a="http://schemas.openxmlformats.org/drawingml/2006/main">
            <a:r>
              <a:t>| 4 | `summary = {"건수": 4, "미측정": 1}` | 결과 객체를 만듭니다. |</a:t>
            </a:r>
          </a:p>
          <a:p xmlns:a="http://schemas.openxmlformats.org/drawingml/2006/main">
            <a:r>
              <a:t>| 5 | `text = json.dumps(summary, ensure_ascii=False, indent=2)` | JSON 텍스트로 표현합니다. |</a:t>
            </a:r>
          </a:p>
          <a:p xmlns:a="http://schemas.openxmlformats.org/drawingml/2006/main">
            <a:r>
              <a:t>| 6 | `target = base / "work" / "output_summary.json"` | work의 결과 주소를 정합니다. |</a:t>
            </a:r>
          </a:p>
          <a:p xmlns:a="http://schemas.openxmlformats.org/drawingml/2006/main">
            <a:r>
              <a:t>| 7 | `target.write_text(text, encoding="utf-8")` | UTF-8로 저장합니다. |</a:t>
            </a:r>
          </a:p>
          <a:p xmlns:a="http://schemas.openxmlformats.org/drawingml/2006/main">
            <a:r>
              <a:t>| 8 | `loaded = json.loads(target.read_text(encoding="utf-8"))` | 저장한 파일을 다시 읽어 해석합니다. |</a:t>
            </a:r>
          </a:p>
          <a:p xmlns:a="http://schemas.openxmlformats.org/drawingml/2006/main">
            <a:r>
              <a:t>| 9 | `print(loaded["건수"], loaded["미측정"])` | 다시 읽은 두 값을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code/A09_example.py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work/A09_example.py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4 1</a:t>
            </a:r>
          </a:p>
          <a:p xmlns:a="http://schemas.openxmlformats.org/drawingml/2006/main">
            <a:r>
              <a:t>```</a:t>
            </a:r>
          </a:p>
          <a:p xmlns:a="http://schemas.openxmlformats.org/drawingml/2006/main">
            <a:r>
              <a:t/>
            </a:r>
          </a:p>
          <a:p xmlns:a="http://schemas.openxmlformats.org/drawingml/2006/main">
            <a:r>
              <a:t>작은 수정: `"건수": 4`를 `"건수": 5`로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5 1</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data와 work의 역할을 구별합니다.</a:t>
            </a:r>
          </a:p>
          <a:p xmlns:a="http://schemas.openxmlformats.org/drawingml/2006/main">
            <a:r>
              <a:t>2. 실행 후 output_summary.json을 엽니다.</a:t>
            </a:r>
          </a:p>
          <a:p xmlns:a="http://schemas.openxmlformats.org/drawingml/2006/main">
            <a:r>
              <a:t>3. 건수만 5로 바꾸고 다시 실행합니다.</a:t>
            </a:r>
          </a:p>
          <a:p xmlns:a="http://schemas.openxmlformats.org/drawingml/2006/main">
            <a:r>
              <a:t>4. 파일 저장 줄과 화면 출력 줄을 표시합니다.</a:t>
            </a:r>
          </a:p>
          <a:p xmlns:a="http://schemas.openxmlformats.org/drawingml/2006/main">
            <a:r>
              <a:t/>
            </a:r>
          </a:p>
          <a:p xmlns:a="http://schemas.openxmlformats.org/drawingml/2006/main">
            <a:r>
              <a:t>예상 결과: 처음 4 1, 수정 후 5 1. 저장 파일의 숫자도 바뀝니다.</a:t>
            </a:r>
          </a:p>
          <a:p xmlns:a="http://schemas.openxmlformats.org/drawingml/2006/main">
            <a:r>
              <a:t/>
            </a:r>
          </a:p>
          <a:p xmlns:a="http://schemas.openxmlformats.org/drawingml/2006/main">
            <a:r>
              <a:t>확인 질문: print와 write_text는 같은 행동인가요?</a:t>
            </a:r>
          </a:p>
          <a:p xmlns:a="http://schemas.openxmlformats.org/drawingml/2006/main">
            <a:r>
              <a:t/>
            </a:r>
          </a:p>
          <a:p xmlns:a="http://schemas.openxmlformats.org/drawingml/2006/main">
            <a:r>
              <a:t>막혔을 때: 쓰기 권한이 없으면 강사와 저장 위치를 확인합니다. 원자료를 출력 주소로 바꾸지 않습니다.</a:t>
            </a:r>
          </a:p>
          <a:p xmlns:a="http://schemas.openxmlformats.org/drawingml/2006/main">
            <a:r>
              <a:t/>
            </a:r>
          </a:p>
          <a:p xmlns:a="http://schemas.openxmlformats.org/drawingml/2006/main">
            <a:r>
              <a:t>[활동 자료와 작성칸](practice-guide.md#a09--json-결과를-새-파일로-저장하기)에서 A09를 엽니다.</a:t>
            </a:r>
          </a:p>
          <a:p xmlns:a="http://schemas.openxmlformats.org/drawingml/2006/main">
            <a:r>
              <a:t/>
            </a:r>
          </a:p>
          <a:p xmlns:a="http://schemas.openxmlformats.org/drawingml/2006/main">
            <a:r>
              <a:t># 4구간 · 오류를 단서로 읽기</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https://zeusk302-png.github.io/kdigital-physical-ai/#/sessions/2026-10-15/lesson?activity=A09</a:t>
            </a:r>
          </a:p>
          <a:p xmlns:a="http://schemas.openxmlformats.org/drawingml/2006/main">
            <a:r>
              <a:t>공식 자료: https://docs.python.org/3/tutorial/errors.html</a:t>
            </a:r>
          </a:p>
          <a:p xmlns:a="http://schemas.openxmlformats.org/drawingml/2006/main">
            <a:r>
              <a:t/>
            </a:r>
          </a:p>
          <a:p xmlns:a="http://schemas.openxmlformats.org/drawingml/2006/main">
            <a:r>
              <a:t>코드와 개념 해설: 화면 출력과 output_summary.json 저장을 구별합니다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A09 상세 원문]</a:t>
            </a:r>
          </a:p>
          <a:p xmlns:a="http://schemas.openxmlformats.org/drawingml/2006/main">
            <a:r>
              <a:t>**개념.** json.dumps는 프로그램 값을 JSON 텍스트로 표현합니다. 그 텍스트를 경로에 써야 결과 파일이 생깁니다. 입력 읽기와 결과 저장은 별도 작업입니다.</a:t>
            </a:r>
          </a:p>
          <a:p xmlns:a="http://schemas.openxmlformats.org/drawingml/2006/main">
            <a:r>
              <a:t/>
            </a:r>
          </a:p>
          <a:p xmlns:a="http://schemas.openxmlformats.org/drawingml/2006/main">
            <a:r>
              <a:t>**왜 필요한가.** 화면 출력만 있으면 다음 사람이 결과를 재사용하기 어렵습니다. 입력 원자료를 덮어쓰지 않도록 work의 결과 경로를 명확히 정합니다.</a:t>
            </a:r>
          </a:p>
          <a:p xmlns:a="http://schemas.openxmlformats.org/drawingml/2006/main">
            <a:r>
              <a:t/>
            </a:r>
          </a:p>
          <a:p xmlns:a="http://schemas.openxmlformats.org/drawingml/2006/main">
            <a:r>
              <a:t>**함께 보는 예.** 건수 4와 미측정 1을 JSON으로 저장합니다. ensure_ascii=False는 한글을 읽기 쉬운 모양으로 남기고 indent=2는 들여쓰기를 넣습니다. 저장한 파일을 다시 읽어 값이 같은지 봅니다.</a:t>
            </a:r>
          </a:p>
          <a:p xmlns:a="http://schemas.openxmlformats.org/drawingml/2006/main">
            <a:r>
              <a:t/>
            </a:r>
          </a:p>
          <a:p xmlns:a="http://schemas.openxmlformats.org/drawingml/2006/main">
            <a:r>
              <a:t>**헷갈리는 경우.** .json이라는 이름만으로 내용이 JSON이 되지는 않습니다. 딕셔너리 화면 문자열을 그대로 쓰기보다 JSON 변환 도구를 사용합니다.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import json</a:t>
            </a:r>
          </a:p>
          <a:p xmlns:a="http://schemas.openxmlformats.org/drawingml/2006/main">
            <a:r>
              <a:t>from pathlib import Path</a:t>
            </a:r>
          </a:p>
          <a:p xmlns:a="http://schemas.openxmlformats.org/drawingml/2006/main">
            <a:r>
              <a:t>base = Path(__file__).resolve().parent.parent</a:t>
            </a:r>
          </a:p>
          <a:p xmlns:a="http://schemas.openxmlformats.org/drawingml/2006/main">
            <a:r>
              <a:t>summary = {"건수": 4, "미측정": 1}</a:t>
            </a:r>
          </a:p>
          <a:p xmlns:a="http://schemas.openxmlformats.org/drawingml/2006/main">
            <a:r>
              <a:t>text = json.dumps(summary, ensure_ascii=False, indent=2)</a:t>
            </a:r>
          </a:p>
          <a:p xmlns:a="http://schemas.openxmlformats.org/drawingml/2006/main">
            <a:r>
              <a:t>target = base / "work" / "output_summary.json"</a:t>
            </a:r>
          </a:p>
          <a:p xmlns:a="http://schemas.openxmlformats.org/drawingml/2006/main">
            <a:r>
              <a:t>target.write_text(text, encoding="utf-8")</a:t>
            </a:r>
          </a:p>
          <a:p xmlns:a="http://schemas.openxmlformats.org/drawingml/2006/main">
            <a:r>
              <a:t>loaded = json.loads(target.read_text(encoding="utf-8"))</a:t>
            </a:r>
          </a:p>
          <a:p xmlns:a="http://schemas.openxmlformats.org/drawingml/2006/main">
            <a:r>
              <a:t>print(loaded["건수"], loaded["미측정"])</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`import json` | JSON 도구를 가져옵니다. |</a:t>
            </a:r>
          </a:p>
          <a:p xmlns:a="http://schemas.openxmlformats.org/drawingml/2006/main">
            <a:r>
              <a:t>| 2 | `from pathlib import Path` | 주소 도구를 가져옵니다. |</a:t>
            </a:r>
          </a:p>
          <a:p xmlns:a="http://schemas.openxmlformats.org/drawingml/2006/main">
            <a:r>
              <a:t>| 3 | `base = Path(__file__).resolve().parent.parent` | course를 찾습니다. |</a:t>
            </a:r>
          </a:p>
          <a:p xmlns:a="http://schemas.openxmlformats.org/drawingml/2006/main">
            <a:r>
              <a:t>| 4 | `summary = {"건수": 4, "미측정": 1}` | 결과 객체를 만듭니다. |</a:t>
            </a:r>
          </a:p>
          <a:p xmlns:a="http://schemas.openxmlformats.org/drawingml/2006/main">
            <a:r>
              <a:t>| 5 | `text = json.dumps(summary, ensure_ascii=False, indent=2)` | JSON 텍스트로 표현합니다. |</a:t>
            </a:r>
          </a:p>
          <a:p xmlns:a="http://schemas.openxmlformats.org/drawingml/2006/main">
            <a:r>
              <a:t>| 6 | `target = base / "work" / "output_summary.json"` | work의 결과 주소를 정합니다. |</a:t>
            </a:r>
          </a:p>
          <a:p xmlns:a="http://schemas.openxmlformats.org/drawingml/2006/main">
            <a:r>
              <a:t>| 7 | `target.write_text(text, encoding="utf-8")` | UTF-8로 저장합니다. |</a:t>
            </a:r>
          </a:p>
          <a:p xmlns:a="http://schemas.openxmlformats.org/drawingml/2006/main">
            <a:r>
              <a:t>| 8 | `loaded = json.loads(target.read_text(encoding="utf-8"))` | 저장한 파일을 다시 읽어 해석합니다. |</a:t>
            </a:r>
          </a:p>
          <a:p xmlns:a="http://schemas.openxmlformats.org/drawingml/2006/main">
            <a:r>
              <a:t>| 9 | `print(loaded["건수"], loaded["미측정"])` | 다시 읽은 두 값을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code/A09_example.py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work/A09_example.py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4 1</a:t>
            </a:r>
          </a:p>
          <a:p xmlns:a="http://schemas.openxmlformats.org/drawingml/2006/main">
            <a:r>
              <a:t>```</a:t>
            </a:r>
          </a:p>
          <a:p xmlns:a="http://schemas.openxmlformats.org/drawingml/2006/main">
            <a:r>
              <a:t/>
            </a:r>
          </a:p>
          <a:p xmlns:a="http://schemas.openxmlformats.org/drawingml/2006/main">
            <a:r>
              <a:t>작은 수정: `"건수": 4`를 `"건수": 5`로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5 1</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data와 work의 역할을 구별합니다.</a:t>
            </a:r>
          </a:p>
          <a:p xmlns:a="http://schemas.openxmlformats.org/drawingml/2006/main">
            <a:r>
              <a:t>2. 실행 후 output_summary.json을 엽니다.</a:t>
            </a:r>
          </a:p>
          <a:p xmlns:a="http://schemas.openxmlformats.org/drawingml/2006/main">
            <a:r>
              <a:t>3. 건수만 5로 바꾸고 다시 실행합니다.</a:t>
            </a:r>
          </a:p>
          <a:p xmlns:a="http://schemas.openxmlformats.org/drawingml/2006/main">
            <a:r>
              <a:t>4. 파일 저장 줄과 화면 출력 줄을 표시합니다.</a:t>
            </a:r>
          </a:p>
          <a:p xmlns:a="http://schemas.openxmlformats.org/drawingml/2006/main">
            <a:r>
              <a:t/>
            </a:r>
          </a:p>
          <a:p xmlns:a="http://schemas.openxmlformats.org/drawingml/2006/main">
            <a:r>
              <a:t>예상 결과: 처음 4 1, 수정 후 5 1. 저장 파일의 숫자도 바뀝니다.</a:t>
            </a:r>
          </a:p>
          <a:p xmlns:a="http://schemas.openxmlformats.org/drawingml/2006/main">
            <a:r>
              <a:t/>
            </a:r>
          </a:p>
          <a:p xmlns:a="http://schemas.openxmlformats.org/drawingml/2006/main">
            <a:r>
              <a:t>확인 질문: print와 write_text는 같은 행동인가요?</a:t>
            </a:r>
          </a:p>
          <a:p xmlns:a="http://schemas.openxmlformats.org/drawingml/2006/main">
            <a:r>
              <a:t/>
            </a:r>
          </a:p>
          <a:p xmlns:a="http://schemas.openxmlformats.org/drawingml/2006/main">
            <a:r>
              <a:t>막혔을 때: 쓰기 권한이 없으면 강사와 저장 위치를 확인합니다. 원자료를 출력 주소로 바꾸지 않습니다.</a:t>
            </a:r>
          </a:p>
          <a:p xmlns:a="http://schemas.openxmlformats.org/drawingml/2006/main">
            <a:r>
              <a:t/>
            </a:r>
          </a:p>
          <a:p xmlns:a="http://schemas.openxmlformats.org/drawingml/2006/main">
            <a:r>
              <a:t>[활동 자료와 작성칸](practice-guide.md#a09--json-결과를-새-파일로-저장하기)에서 A09를 엽니다.</a:t>
            </a:r>
          </a:p>
          <a:p xmlns:a="http://schemas.openxmlformats.org/drawingml/2006/main">
            <a:r>
              <a:t/>
            </a:r>
          </a:p>
          <a:p xmlns:a="http://schemas.openxmlformats.org/drawingml/2006/main">
            <a:r>
              <a:t># 4구간 · 오류를 단서로 읽기</a:t>
            </a:r>
          </a:p>
          <a:p xmlns:a="http://schemas.openxmlformats.org/drawingml/2006/main">
            <a:r>
              <a:t/>
            </a:r>
          </a:p>
          <a:p xmlns:a="http://schemas.openxmlformats.org/drawingml/2006/main">
            <a:r>
              <a:t>화면 예의 출처: D:/KDigital_PhysicalAI/.build/copyedited-ppt/spec-2026-10-15.json#slide-43;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https://zeusk302-png.github.io/kdigital-physical-ai/#/sessions/2026-10-15/lesson?activity=A09</a:t>
            </a:r>
          </a:p>
          <a:p xmlns:a="http://schemas.openxmlformats.org/drawingml/2006/main">
            <a:r>
              <a:t>공식 자료: https://docs.python.org/3/tutorial/errors.html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점검 담당자는 CSV 입력에서 온도를 읽고 요약 JSON을 남깁니다. 파일은 디스크에 저장된 내용이고 읽어 온 값은 프로그램이 처리하는 내용입니다. 화면에 요약을 출력했다는 사실만으로 결과 파일이 저장되지는 않습니다. 흐름을 파일 주소 → 읽은 원문 → 해석한 값 → 결과 묶음 → 저장 주소 순서로 그립니다. 같은 내용처럼 보이는 단계도 역할과 저장 종류가 달라지므로 경계를 하나씩 확인합니다. 원자료와 결과 파일은 서로 다른 주소로 정합니다.</a:t>
            </a:r>
          </a:p>
          <a:p xmlns:a="http://schemas.openxmlformats.org/drawingml/2006/main">
            <a:r>
              <a:t/>
            </a:r>
          </a:p>
          <a:p xmlns:a="http://schemas.openxmlformats.org/drawingml/2006/main">
            <a:r>
              <a:t>예를 들어 헤더 `sensor_id,temperature_c` 아래 `S08,20.5` 한 행이 있습니다. DictReader 같은 CSV 읽기 도구는 헤더를 이름표로 삼고 기본 셀값을 문자열로 읽습니다. 원문 “20.5”를 실수 20.5로 해석한 다음 요약의 측정수 1과 평균 20.5를 만듭니다. JSON으로 표현한 완성 예는 `{"count":1,"average":20.5}`입니다. 숫자에 따옴표를 붙이지 않았으므로 JSON에서는 숫자값입니다. 원문 CSV에 숫자처럼 적혀 있다는 사실과 읽은 Python 값의 종류를 구별합니다.</a:t>
            </a:r>
          </a:p>
          <a:p xmlns:a="http://schemas.openxmlformats.org/drawingml/2006/main">
            <a:r>
              <a:t/>
            </a:r>
          </a:p>
          <a:p xmlns:a="http://schemas.openxmlformats.org/drawingml/2006/main">
            <a:r>
              <a:t>경로는 파일의 주소이며 현재 터미널 위치와 코드 파일 위치가 같다고 가정하지 않습니다. 기존 예제는 코드 위치를 기준으로 data와 work를 찾습니다. 폴더 배치가 바뀌면 입력 주소가 맞는지 먼저 확인합니다. FileNotFoundError는 파일 이름·주소·압축 해제 상태를 확인하는 단서이고 KeyError는 실제 헤더와 찾는 이름표를 비교하는 단서입니다. 파일은 찾았지만 “뜨거움”을 숫자로 읽으려 하면 ValueError 단계가 됩니다. 세 오류가 같은 화면에 보여도 해결할 경계가 다릅니다. 저장 후에는 결과 파일을 다시 열어 count와 average가 기대값인지 확인합니다. 이전 실행 파일이 남아 있을 수 있으므로 입력명과 실행 시각도 기록합니다.</a:t>
            </a:r>
          </a:p>
          <a:p xmlns:a="http://schemas.openxmlformats.org/drawingml/2006/main">
            <a:r>
              <a:t/>
            </a:r>
          </a:p>
          <a:p xmlns:a="http://schemas.openxmlformats.org/drawingml/2006/main">
            <a:r>
              <a:t>화면 예의 출처: D:/KDigital_PhysicalAI/.build/copyedited-ppt/spec-2026-10-15.json#slide-46;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https://docs.python.org/3/tutorial/errors.html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점검 담당자는 CSV 입력에서 온도를 읽고 요약 JSON을 남깁니다. 파일은 디스크에 저장된 내용이고 읽어 온 값은 프로그램이 처리하는 내용입니다. 화면에 요약을 출력했다는 사실만으로 결과 파일이 저장되지는 않습니다. 흐름을 파일 주소 → 읽은 원문 → 해석한 값 → 결과 묶음 → 저장 주소 순서로 그립니다. 같은 내용처럼 보이는 단계도 역할과 저장 종류가 달라지므로 경계를 하나씩 확인합니다. 원자료와 결과 파일은 서로 다른 주소로 정합니다.</a:t>
            </a:r>
          </a:p>
          <a:p xmlns:a="http://schemas.openxmlformats.org/drawingml/2006/main">
            <a:r>
              <a:t/>
            </a:r>
          </a:p>
          <a:p xmlns:a="http://schemas.openxmlformats.org/drawingml/2006/main">
            <a:r>
              <a:t>예를 들어 헤더 `sensor_id,temperature_c` 아래 `S08,20.5` 한 행이 있습니다. DictReader 같은 CSV 읽기 도구는 헤더를 이름표로 삼고 기본 셀값을 문자열로 읽습니다. 원문 “20.5”를 실수 20.5로 해석한 다음 요약의 측정수 1과 평균 20.5를 만듭니다. JSON으로 표현한 완성 예는 `{"count":1,"average":20.5}`입니다. 숫자에 따옴표를 붙이지 않았으므로 JSON에서는 숫자값입니다. 원문 CSV에 숫자처럼 적혀 있다는 사실과 읽은 Python 값의 종류를 구별합니다.</a:t>
            </a:r>
          </a:p>
          <a:p xmlns:a="http://schemas.openxmlformats.org/drawingml/2006/main">
            <a:r>
              <a:t/>
            </a:r>
          </a:p>
          <a:p xmlns:a="http://schemas.openxmlformats.org/drawingml/2006/main">
            <a:r>
              <a:t>경로는 파일의 주소이며 현재 터미널 위치와 코드 파일 위치가 같다고 가정하지 않습니다. 기존 예제는 코드 위치를 기준으로 data와 work를 찾습니다. 폴더 배치가 바뀌면 입력 주소가 맞는지 먼저 확인합니다. FileNotFoundError는 파일 이름·주소·압축 해제 상태를 확인하는 단서이고 KeyError는 실제 헤더와 찾는 이름표를 비교하는 단서입니다. 파일은 찾았지만 “뜨거움”을 숫자로 읽으려 하면 ValueError 단계가 됩니다. 세 오류가 같은 화면에 보여도 해결할 경계가 다릅니다. 저장 후에는 결과 파일을 다시 열어 count와 average가 기대값인지 확인합니다. 이전 실행 파일이 남아 있을 수 있으므로 입력명과 실행 시각도 기록합니다.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https://docs.python.org/3/tutorial/errors.html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입력 헤더는 device_id,value이고 한 행은 D09,0입니다. 프로그램은 temperature_c를 찾다가 실패했습니다. 파일 열기·헤더 찾기·숫자 변환 중 어느 단계인지 판단하고 원문을 보존한 수정 계획과 올바른 JSON 수치 표현을 쓰세요.</a:t>
            </a:r>
          </a:p>
          <a:p xmlns:a="http://schemas.openxmlformats.org/drawingml/2006/main">
            <a:r>
              <a:t/>
            </a:r>
          </a:p>
          <a:p xmlns:a="http://schemas.openxmlformats.org/drawingml/2006/main">
            <a:r>
              <a:t>학생이 먼저 답을 적은 뒤 풀이를 보여 줍니다. 이 문제는 필수 활동을 마친 뒤 추가로 사용합니다.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https://docs.python.org/3/tutorial/errors.html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헤더 찾기 단계의 문제입니다. 입력 열 이름이 value로 정해져 있다면 코드에서 찾는 키도 value로 맞춥니다. 고치기 전에 정해 둔 열 이름과 실제 헤더를 확인합니다. 수치 0은 실제 값이므로 JSON에서는 0이며 null이 아닙니다. 주소 수정이나 0 삭제는 현재 증거에 맞는 해결이 아닙니다.</a:t>
            </a:r>
          </a:p>
          <a:p xmlns:a="http://schemas.openxmlformats.org/drawingml/2006/main">
            <a:r>
              <a:t/>
            </a:r>
          </a:p>
          <a:p xmlns:a="http://schemas.openxmlformats.org/drawingml/2006/main">
            <a:r>
              <a:t>핵심 질문과 해설:</a:t>
            </a:r>
          </a:p>
          <a:p xmlns:a="http://schemas.openxmlformats.org/drawingml/2006/main">
            <a:r>
              <a:t>CSV 값은 숫자로 자동 읽히나요? 기본 읽기는 문자열이므로 의미에 맞는 해석 단계를 둡니다.</a:t>
            </a:r>
          </a:p>
          <a:p xmlns:a="http://schemas.openxmlformats.org/drawingml/2006/main">
            <a:r>
              <a:t>출력했으면 저장도 끝났나요? 화면 표시와 파일 쓰기·재읽기 확인은 다른 작업입니다.</a:t>
            </a:r>
          </a:p>
          <a:p xmlns:a="http://schemas.openxmlformats.org/drawingml/2006/main">
            <a:r>
              <a:t>오류 종류를 왜 나누나요? 파일·구조·값의 어느 경계에서 실패했는지 좁혀 올바른 부분을 고치기 위해서입니다.</a:t>
            </a:r>
          </a:p>
          <a:p xmlns:a="http://schemas.openxmlformats.org/drawingml/2006/main">
            <a:r>
              <a:t/>
            </a:r>
          </a:p>
          <a:p xmlns:a="http://schemas.openxmlformats.org/drawingml/2006/main">
            <a:r>
              <a:t>화면 예의 출처: D:/KDigital_PhysicalAI/.build/copyedited-ppt/spec-2026-10-15.json#slide-47;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https://docs.python.org/3/tutorial/errors.html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A09 상세 원문]</a:t>
            </a:r>
          </a:p>
          <a:p xmlns:a="http://schemas.openxmlformats.org/drawingml/2006/main">
            <a:r>
              <a:t>**개념.** json.dumps는 프로그램 값을 JSON 텍스트로 표현합니다. 그 텍스트를 경로에 써야 결과 파일이 생깁니다. 입력 읽기와 결과 저장은 별도 작업입니다.</a:t>
            </a:r>
          </a:p>
          <a:p xmlns:a="http://schemas.openxmlformats.org/drawingml/2006/main">
            <a:r>
              <a:t/>
            </a:r>
          </a:p>
          <a:p xmlns:a="http://schemas.openxmlformats.org/drawingml/2006/main">
            <a:r>
              <a:t>**왜 필요한가.** 화면 출력만 있으면 다음 사람이 결과를 재사용하기 어렵습니다. 입력 원자료를 덮어쓰지 않도록 work의 결과 경로를 명확히 정합니다.</a:t>
            </a:r>
          </a:p>
          <a:p xmlns:a="http://schemas.openxmlformats.org/drawingml/2006/main">
            <a:r>
              <a:t/>
            </a:r>
          </a:p>
          <a:p xmlns:a="http://schemas.openxmlformats.org/drawingml/2006/main">
            <a:r>
              <a:t>**함께 보는 예.** 건수 4와 미측정 1을 JSON으로 저장합니다. ensure_ascii=False는 한글을 읽기 쉬운 모양으로 남기고 indent=2는 들여쓰기를 넣습니다. 저장한 파일을 다시 읽어 값이 같은지 봅니다.</a:t>
            </a:r>
          </a:p>
          <a:p xmlns:a="http://schemas.openxmlformats.org/drawingml/2006/main">
            <a:r>
              <a:t/>
            </a:r>
          </a:p>
          <a:p xmlns:a="http://schemas.openxmlformats.org/drawingml/2006/main">
            <a:r>
              <a:t>**헷갈리는 경우.** .json이라는 이름만으로 내용이 JSON이 되지는 않습니다. 딕셔너리 화면 문자열을 그대로 쓰기보다 JSON 변환 도구를 사용합니다.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import json</a:t>
            </a:r>
          </a:p>
          <a:p xmlns:a="http://schemas.openxmlformats.org/drawingml/2006/main">
            <a:r>
              <a:t>from pathlib import Path</a:t>
            </a:r>
          </a:p>
          <a:p xmlns:a="http://schemas.openxmlformats.org/drawingml/2006/main">
            <a:r>
              <a:t>base = Path(__file__).resolve().parent.parent</a:t>
            </a:r>
          </a:p>
          <a:p xmlns:a="http://schemas.openxmlformats.org/drawingml/2006/main">
            <a:r>
              <a:t>summary = {"건수": 4, "미측정": 1}</a:t>
            </a:r>
          </a:p>
          <a:p xmlns:a="http://schemas.openxmlformats.org/drawingml/2006/main">
            <a:r>
              <a:t>text = json.dumps(summary, ensure_ascii=False, indent=2)</a:t>
            </a:r>
          </a:p>
          <a:p xmlns:a="http://schemas.openxmlformats.org/drawingml/2006/main">
            <a:r>
              <a:t>target = base / "work" / "output_summary.json"</a:t>
            </a:r>
          </a:p>
          <a:p xmlns:a="http://schemas.openxmlformats.org/drawingml/2006/main">
            <a:r>
              <a:t>target.write_text(text, encoding="utf-8")</a:t>
            </a:r>
          </a:p>
          <a:p xmlns:a="http://schemas.openxmlformats.org/drawingml/2006/main">
            <a:r>
              <a:t>loaded = json.loads(target.read_text(encoding="utf-8"))</a:t>
            </a:r>
          </a:p>
          <a:p xmlns:a="http://schemas.openxmlformats.org/drawingml/2006/main">
            <a:r>
              <a:t>print(loaded["건수"], loaded["미측정"])</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`import json` | JSON 도구를 가져옵니다. |</a:t>
            </a:r>
          </a:p>
          <a:p xmlns:a="http://schemas.openxmlformats.org/drawingml/2006/main">
            <a:r>
              <a:t>| 2 | `from pathlib import Path` | 주소 도구를 가져옵니다. |</a:t>
            </a:r>
          </a:p>
          <a:p xmlns:a="http://schemas.openxmlformats.org/drawingml/2006/main">
            <a:r>
              <a:t>| 3 | `base = Path(__file__).resolve().parent.parent` | course를 찾습니다. |</a:t>
            </a:r>
          </a:p>
          <a:p xmlns:a="http://schemas.openxmlformats.org/drawingml/2006/main">
            <a:r>
              <a:t>| 4 | `summary = {"건수": 4, "미측정": 1}` | 결과 객체를 만듭니다. |</a:t>
            </a:r>
          </a:p>
          <a:p xmlns:a="http://schemas.openxmlformats.org/drawingml/2006/main">
            <a:r>
              <a:t>| 5 | `text = json.dumps(summary, ensure_ascii=False, indent=2)` | JSON 텍스트로 표현합니다. |</a:t>
            </a:r>
          </a:p>
          <a:p xmlns:a="http://schemas.openxmlformats.org/drawingml/2006/main">
            <a:r>
              <a:t>| 6 | `target = base / "work" / "output_summary.json"` | work의 결과 주소를 정합니다. |</a:t>
            </a:r>
          </a:p>
          <a:p xmlns:a="http://schemas.openxmlformats.org/drawingml/2006/main">
            <a:r>
              <a:t>| 7 | `target.write_text(text, encoding="utf-8")` | UTF-8로 저장합니다. |</a:t>
            </a:r>
          </a:p>
          <a:p xmlns:a="http://schemas.openxmlformats.org/drawingml/2006/main">
            <a:r>
              <a:t>| 8 | `loaded = json.loads(target.read_text(encoding="utf-8"))` | 저장한 파일을 다시 읽어 해석합니다. |</a:t>
            </a:r>
          </a:p>
          <a:p xmlns:a="http://schemas.openxmlformats.org/drawingml/2006/main">
            <a:r>
              <a:t>| 9 | `print(loaded["건수"], loaded["미측정"])` | 다시 읽은 두 값을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code/A09_example.py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work/A09_example.py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4 1</a:t>
            </a:r>
          </a:p>
          <a:p xmlns:a="http://schemas.openxmlformats.org/drawingml/2006/main">
            <a:r>
              <a:t>```</a:t>
            </a:r>
          </a:p>
          <a:p xmlns:a="http://schemas.openxmlformats.org/drawingml/2006/main">
            <a:r>
              <a:t/>
            </a:r>
          </a:p>
          <a:p xmlns:a="http://schemas.openxmlformats.org/drawingml/2006/main">
            <a:r>
              <a:t>작은 수정: `"건수": 4`를 `"건수": 5`로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5 1</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data와 work의 역할을 구별합니다.</a:t>
            </a:r>
          </a:p>
          <a:p xmlns:a="http://schemas.openxmlformats.org/drawingml/2006/main">
            <a:r>
              <a:t>2. 실행 후 output_summary.json을 엽니다.</a:t>
            </a:r>
          </a:p>
          <a:p xmlns:a="http://schemas.openxmlformats.org/drawingml/2006/main">
            <a:r>
              <a:t>3. 건수만 5로 바꾸고 다시 실행합니다.</a:t>
            </a:r>
          </a:p>
          <a:p xmlns:a="http://schemas.openxmlformats.org/drawingml/2006/main">
            <a:r>
              <a:t>4. 파일 저장 줄과 화면 출력 줄을 표시합니다.</a:t>
            </a:r>
          </a:p>
          <a:p xmlns:a="http://schemas.openxmlformats.org/drawingml/2006/main">
            <a:r>
              <a:t/>
            </a:r>
          </a:p>
          <a:p xmlns:a="http://schemas.openxmlformats.org/drawingml/2006/main">
            <a:r>
              <a:t>예상 결과: 처음 4 1, 수정 후 5 1. 저장 파일의 숫자도 바뀝니다.</a:t>
            </a:r>
          </a:p>
          <a:p xmlns:a="http://schemas.openxmlformats.org/drawingml/2006/main">
            <a:r>
              <a:t/>
            </a:r>
          </a:p>
          <a:p xmlns:a="http://schemas.openxmlformats.org/drawingml/2006/main">
            <a:r>
              <a:t>확인 질문: print와 write_text는 같은 행동인가요?</a:t>
            </a:r>
          </a:p>
          <a:p xmlns:a="http://schemas.openxmlformats.org/drawingml/2006/main">
            <a:r>
              <a:t/>
            </a:r>
          </a:p>
          <a:p xmlns:a="http://schemas.openxmlformats.org/drawingml/2006/main">
            <a:r>
              <a:t>막혔을 때: 쓰기 권한이 없으면 강사와 저장 위치를 확인합니다. 원자료를 출력 주소로 바꾸지 않습니다.</a:t>
            </a:r>
          </a:p>
          <a:p xmlns:a="http://schemas.openxmlformats.org/drawingml/2006/main">
            <a:r>
              <a:t/>
            </a:r>
          </a:p>
          <a:p xmlns:a="http://schemas.openxmlformats.org/drawingml/2006/main">
            <a:r>
              <a:t>[활동 자료와 작성칸](practice-guide.md#a09--json-결과를-새-파일로-저장하기)에서 A09를 엽니다.</a:t>
            </a:r>
          </a:p>
          <a:p xmlns:a="http://schemas.openxmlformats.org/drawingml/2006/main">
            <a:r>
              <a:t/>
            </a:r>
          </a:p>
          <a:p xmlns:a="http://schemas.openxmlformats.org/drawingml/2006/main">
            <a:r>
              <a:t># 4구간 · 오류를 단서로 읽기</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https://zeusk302-png.github.io/kdigital-physical-ai/#/sessions/2026-10-15/lesson?activity=A09</a:t>
            </a:r>
          </a:p>
          <a:p xmlns:a="http://schemas.openxmlformats.org/drawingml/2006/main">
            <a:r>
              <a:t>공식 자료: https://docs.python.org/3/tutorial/errors.html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파일 위치, 열 이름, 입력값 중 어디에 문제가 있는지 확인합니다.</a:t>
            </a:r>
          </a:p>
          <a:p xmlns:a="http://schemas.openxmlformats.org/drawingml/2006/main">
            <a:r>
              <a:t>기본 CSV 읽기에서는 각 칸의 값을 문자열로 가져옵니다.</a:t>
            </a:r>
          </a:p>
          <a:p xmlns:a="http://schemas.openxmlformats.org/drawingml/2006/main">
            <a:r>
              <a:t>출력과 파일 저장을 구별합니다.</a:t>
            </a:r>
          </a:p>
          <a:p xmlns:a="http://schemas.openxmlformats.org/drawingml/2006/main">
            <a:r>
              <a:t/>
            </a:r>
          </a:p>
          <a:p xmlns:a="http://schemas.openxmlformats.org/drawingml/2006/main">
            <a:r>
              <a:t>관련 교시의 상세 원문:</a:t>
            </a:r>
          </a:p>
          <a:p xmlns:a="http://schemas.openxmlformats.org/drawingml/2006/main">
            <a:r>
              <a:t>### 사례로 이해하기 · 읽은 텍스트에서 값으로, 값에서 저장 파일로</a:t>
            </a:r>
          </a:p>
          <a:p xmlns:a="http://schemas.openxmlformats.org/drawingml/2006/main">
            <a:r>
              <a:t/>
            </a:r>
          </a:p>
          <a:p xmlns:a="http://schemas.openxmlformats.org/drawingml/2006/main">
            <a:r>
              <a:t/>
            </a:r>
          </a:p>
          <a:p xmlns:a="http://schemas.openxmlformats.org/drawingml/2006/main">
            <a:r>
              <a:t/>
            </a:r>
          </a:p>
          <a:p xmlns:a="http://schemas.openxmlformats.org/drawingml/2006/main">
            <a:r>
              <a:t>점검 담당자는 CSV 입력에서 온도를 읽고 요약 JSON을 남깁니다. 파일은 디스크에 저장된 내용이고 읽어 온 값은 프로그램이 처리하는 내용입니다. 화면에 요약을 출력했다는 사실만으로 결과 파일이 저장되지는 않습니다. 흐름을 파일 주소 → 읽은 원문 → 해석한 값 → 결과 묶음 → 저장 주소 순서로 그립니다. 같은 내용처럼 보이는 단계도 역할과 저장 종류가 달라지므로 경계를 하나씩 확인합니다. 원자료와 결과 파일은 서로 다른 주소로 정합니다.</a:t>
            </a:r>
          </a:p>
          <a:p xmlns:a="http://schemas.openxmlformats.org/drawingml/2006/main">
            <a:r>
              <a:t/>
            </a:r>
          </a:p>
          <a:p xmlns:a="http://schemas.openxmlformats.org/drawingml/2006/main">
            <a:r>
              <a:t>예를 들어 헤더 `sensor_id,temperature_c` 아래 `S08,20.5` 한 행이 있습니다. DictReader 같은 CSV 읽기 도구는 헤더를 이름표로 삼고 기본 셀값을 문자열로 읽습니다. 원문 “20.5”를 실수 20.5로 해석한 다음 요약의 측정수 1과 평균 20.5를 만듭니다. JSON으로 표현한 완성 예는 `{"count":1,"average":20.5}`입니다. 숫자에 따옴표를 붙이지 않았으므로 JSON에서는 숫자값입니다. 원문 CSV에 숫자처럼 적혀 있다는 사실과 읽은 Python 값의 종류를 구별합니다.</a:t>
            </a:r>
          </a:p>
          <a:p xmlns:a="http://schemas.openxmlformats.org/drawingml/2006/main">
            <a:r>
              <a:t/>
            </a:r>
          </a:p>
          <a:p xmlns:a="http://schemas.openxmlformats.org/drawingml/2006/main">
            <a:r>
              <a:t>경로는 파일의 주소이며 현재 터미널 위치와 코드 파일 위치가 같다고 가정하지 않습니다. 기존 예제는 코드 위치를 기준으로 data와 work를 찾습니다. 폴더 배치가 바뀌면 입력 주소가 맞는지 먼저 확인합니다. FileNotFoundError는 파일 이름·주소·압축 해제 상태를 확인하는 단서이고 KeyError는 실제 헤더와 찾는 이름표를 비교하는 단서입니다. 파일은 찾았지만 “뜨거움”을 숫자로 읽으려 하면 ValueError 단계가 됩니다. 세 오류가 같은 화면에 보여도 해결할 경계가 다릅니다. 저장 후에는 결과 파일을 다시 열어 count와 average가 기대값인지 확인합니다. 이전 실행 파일이 남아 있을 수 있으므로 입력명과 실행 시각도 기록합니다.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입력 헤더는 device_id,value이고 한 행은 D09,0입니다. 프로그램은 temperature_c를 찾다가 실패했습니다. 파일 열기·헤더 찾기·숫자 변환 중 어느 단계인지 판단하고 원문을 보존한 수정 계획과 올바른 JSON 수치 표현을 쓰세요.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헤더 찾기 단계의 문제입니다. 입력 열 이름이 value로 정해져 있다면 코드에서 찾는 키도 value로 맞춥니다. 고치기 전에 정해 둔 열 이름과 실제 헤더를 확인합니다. 수치 0은 실제 값이므로 JSON에서는 0이며 null이 아닙니다. 주소 수정이나 0 삭제는 현재 증거에 맞는 해결이 아닙니다.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**CSV 값은 숫자로 자동 읽히나요?** 기본 읽기는 문자열이므로 의미에 맞는 해석 단계를 둡니다.</a:t>
            </a:r>
          </a:p>
          <a:p xmlns:a="http://schemas.openxmlformats.org/drawingml/2006/main">
            <a:r>
              <a:t/>
            </a:r>
          </a:p>
          <a:p xmlns:a="http://schemas.openxmlformats.org/drawingml/2006/main">
            <a:r>
              <a:t>2. **출력했으면 저장도 끝났나요?** 화면 표시와 파일 쓰기·재읽기 확인은 다른 작업입니다.</a:t>
            </a:r>
          </a:p>
          <a:p xmlns:a="http://schemas.openxmlformats.org/drawingml/2006/main">
            <a:r>
              <a:t/>
            </a:r>
          </a:p>
          <a:p xmlns:a="http://schemas.openxmlformats.org/drawingml/2006/main">
            <a:r>
              <a:t>3. **오류 종류를 왜 나누나요?** 파일·구조·값의 어느 경계에서 실패했는지 좁혀 올바른 부분을 고치기 위해서입니다.</a:t>
            </a:r>
          </a:p>
          <a:p xmlns:a="http://schemas.openxmlformats.org/drawingml/2006/main">
            <a:r>
              <a:t/>
            </a:r>
          </a:p>
          <a:p xmlns:a="http://schemas.openxmlformats.org/drawingml/2006/main">
            <a:r>
              <a:t/>
            </a:r>
          </a:p>
          <a:p xmlns:a="http://schemas.openxmlformats.org/drawingml/2006/main">
            <a:r>
              <a:t>**개념.** 경로는 파일의 저장 주소입니다. 현재 터미널 폴더와 코드 폴더는 다를 수 있습니다. Path(__file__)로 코드 위치를 찾으면 그 위치를 기준으로 자료 주소를 만들 수 있습니다.</a:t>
            </a:r>
          </a:p>
          <a:p xmlns:a="http://schemas.openxmlformats.org/drawingml/2006/main">
            <a:r>
              <a:t/>
            </a:r>
          </a:p>
          <a:p xmlns:a="http://schemas.openxmlformats.org/drawingml/2006/main">
            <a:r>
              <a:t>**왜 필요한가.** 터미널을 다른 곳에서 열어도 같은 자료를 읽도록 준비합니다. 긴 준비 줄을 외우기보다 code·work·data의 상대 배치를 이해하는 것이 목적입니다.</a:t>
            </a:r>
          </a:p>
          <a:p xmlns:a="http://schemas.openxmlformats.org/drawingml/2006/main">
            <a:r>
              <a:t/>
            </a:r>
          </a:p>
          <a:p xmlns:a="http://schemas.openxmlformats.org/drawingml/2006/main">
            <a:r>
              <a:t>**함께 보는 예.** course/code 또는 course/work의 코드에서 parent.parent는 course입니다. 그 아래 data/notice.txt를 읽습니다. UTF-8은 한글을 글자로 해석하는 인코딩 약속입니다.</a:t>
            </a:r>
          </a:p>
          <a:p xmlns:a="http://schemas.openxmlformats.org/drawingml/2006/main">
            <a:r>
              <a:t/>
            </a:r>
          </a:p>
          <a:p xmlns:a="http://schemas.openxmlformats.org/drawingml/2006/main">
            <a:r>
              <a:t>**헷갈리는 경우.** FileNotFoundError는 주소와 이름의 문제를 먼저 확인해야 합니다. 아직 파일을 읽지 못했는데 숫자 변환을 수정해도 원인을 해결하지 못합니다.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from pathlib import Path</a:t>
            </a:r>
          </a:p>
          <a:p xmlns:a="http://schemas.openxmlformats.org/drawingml/2006/main">
            <a:r>
              <a:t>base = Path(__file__).resolve().parent.parent</a:t>
            </a:r>
          </a:p>
          <a:p xmlns:a="http://schemas.openxmlformats.org/drawingml/2006/main">
            <a:r>
              <a:t>source = base / "data" / "notice.txt"</a:t>
            </a:r>
          </a:p>
          <a:p xmlns:a="http://schemas.openxmlformats.org/drawingml/2006/main">
            <a:r>
              <a:t>text = source.read_text(encoding="utf-8")</a:t>
            </a:r>
          </a:p>
          <a:p xmlns:a="http://schemas.openxmlformats.org/drawingml/2006/main">
            <a:r>
              <a:t>print(text.strip())</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`from pathlib import Path` | 파일 주소 도구를 가져옵니다. |</a:t>
            </a:r>
          </a:p>
          <a:p xmlns:a="http://schemas.openxmlformats.org/drawingml/2006/main">
            <a:r>
              <a:t>| 2 | `base = Path(__file__).resolve().parent.parent` | 코드의 두 상위 폴더 course를 찾습니다. |</a:t>
            </a:r>
          </a:p>
          <a:p xmlns:a="http://schemas.openxmlformats.org/drawingml/2006/main">
            <a:r>
              <a:t>| 3 | `source = base / "data" / "notice.txt"` | 입력 파일 주소를 만듭니다. |</a:t>
            </a:r>
          </a:p>
          <a:p xmlns:a="http://schemas.openxmlformats.org/drawingml/2006/main">
            <a:r>
              <a:t>| 4 | `text = source.read_text(encoding="utf-8")` | UTF-8 텍스트를 읽습니다. |</a:t>
            </a:r>
          </a:p>
          <a:p xmlns:a="http://schemas.openxmlformats.org/drawingml/2006/main">
            <a:r>
              <a:t>| 5 | `print(text.strip())` | 앞뒤 공백과 줄바꿈을 정리해 출력합니다.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code/A07_example.py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work/A07_example.py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센서 점검 예제입니다.</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code·work·data 배치를 그립니다.</a:t>
            </a:r>
          </a:p>
          <a:p xmlns:a="http://schemas.openxmlformats.org/drawingml/2006/main">
            <a:r>
              <a:t>2. 실제 파일명을 확인합니다.</a:t>
            </a:r>
          </a:p>
          <a:p xmlns:a="http://schemas.openxmlformats.org/drawingml/2006/main">
            <a:r>
              <a:t>3. 같은 코드가 다른 현재 위치에서도 읽는지 비교합니다.</a:t>
            </a:r>
          </a:p>
          <a:p xmlns:a="http://schemas.openxmlformats.org/drawingml/2006/main">
            <a:r>
              <a:t>4. 없는 파일의 오류와 내용 오류를 구별합니다.</a:t>
            </a:r>
          </a:p>
          <a:p xmlns:a="http://schemas.openxmlformats.org/drawingml/2006/main">
            <a:r>
              <a:t/>
            </a:r>
          </a:p>
          <a:p xmlns:a="http://schemas.openxmlformats.org/drawingml/2006/main">
            <a:r>
              <a:t>예상 결과: 안내 한 줄 출력. 없는 파일명은 FileNotFoundError.</a:t>
            </a:r>
          </a:p>
          <a:p xmlns:a="http://schemas.openxmlformats.org/drawingml/2006/main">
            <a:r>
              <a:t/>
            </a:r>
          </a:p>
          <a:p xmlns:a="http://schemas.openxmlformats.org/drawingml/2006/main">
            <a:r>
              <a:t>확인 질문: data만 다른 곳으로 옮겨도 자동으로 찾나요?</a:t>
            </a:r>
          </a:p>
          <a:p xmlns:a="http://schemas.openxmlformats.org/drawingml/2006/main">
            <a:r>
              <a:t/>
            </a:r>
          </a:p>
          <a:p xmlns:a="http://schemas.openxmlformats.org/drawingml/2006/main">
            <a:r>
              <a:t>막혔을 때: 압축 안에서 열었는지, 확장자가 두 번 붙었는지, course의 배치가 유지됐는지 확인합니다.</a:t>
            </a:r>
          </a:p>
          <a:p xmlns:a="http://schemas.openxmlformats.org/drawingml/2006/main">
            <a:r>
              <a:t/>
            </a:r>
          </a:p>
          <a:p xmlns:a="http://schemas.openxmlformats.org/drawingml/2006/main">
            <a:r>
              <a:t>[활동 자료와 작성칸](practice-guide.md#a07--파일-경로와-텍스트-읽기)에서 A07를 엽니다.</a:t>
            </a:r>
          </a:p>
          <a:p xmlns:a="http://schemas.openxmlformats.org/drawingml/2006/main">
            <a:r>
              <a:t/>
            </a:r>
          </a:p>
          <a:p xmlns:a="http://schemas.openxmlformats.org/drawingml/2006/main">
            <a:r>
              <a:t>화면 예의 출처: D:/KDigital_PhysicalAI/.build/copyedited-ppt/spec-2026-10-15.json#slide-46;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https://docs.python.org/3/tutorial/errors.html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강사가 먼저 예를 보여 준 뒤 학생과 함께 확인합니다. 학생이 직접 해 본 결과를 예상과 비교하고, 달라진 이유를 설명하게 합니다.</a:t>
            </a:r>
          </a:p>
          <a:p xmlns:a="http://schemas.openxmlformats.org/drawingml/2006/main">
            <a:r>
              <a:t/>
            </a:r>
          </a:p>
          <a:p xmlns:a="http://schemas.openxmlformats.org/drawingml/2006/main">
            <a:r>
              <a:t>[활동 A10 상세 원문]</a:t>
            </a:r>
          </a:p>
          <a:p xmlns:a="http://schemas.openxmlformats.org/drawingml/2006/main">
            <a:r>
              <a:t>### 사례로 이해하기 · 미측정·잘못된 글자·실제 0의 세 갈래</a:t>
            </a:r>
          </a:p>
          <a:p xmlns:a="http://schemas.openxmlformats.org/drawingml/2006/main">
            <a:r>
              <a:t/>
            </a:r>
          </a:p>
          <a:p xmlns:a="http://schemas.openxmlformats.org/drawingml/2006/main">
            <a:r>
              <a:t/>
            </a:r>
          </a:p>
          <a:p xmlns:a="http://schemas.openxmlformats.org/drawingml/2006/main">
            <a:r>
              <a:t/>
            </a:r>
          </a:p>
          <a:p xmlns:a="http://schemas.openxmlformats.org/drawingml/2006/main">
            <a:r>
              <a:t>수업용 측정 파일에 빈 문자열, “0”, “추움” 세 원문이 있습니다. 검사를 통과시키려고 모두 0으로 바꾸면 세 기록이 실제 0℃로 합쳐집니다. 빈 문자열은 이번 데이터 사전에서 미측정이고, “0”은 측정한 숫자 표현이며, “추움”은 숫자 칸에 온 다른 종류의 내용입니다. 먼저 원문을 보존하고 어떤 갈래에 속하는지 정합니다. 오류 처리는 숨기는 행동이 아니라 분류와 후속 확인을 기록하는 행동입니다.</a:t>
            </a:r>
          </a:p>
          <a:p xmlns:a="http://schemas.openxmlformats.org/drawingml/2006/main">
            <a:r>
              <a:t/>
            </a:r>
          </a:p>
          <a:p xmlns:a="http://schemas.openxmlformats.org/drawingml/2006/main">
            <a:r>
              <a:t>해석 절차의 첫 질문은 원문이 빈 문자열과 정확히 같은지입니다. 같으면 None으로 반환해 미측정을 보존합니다. 아니면 숫자로 변환합니다. “0”은 0.0이 되지만 “추움”은 ValueError가 납니다. 이 예에서는 ValueError를 잡아 장치번호와 원문을 이슈로 남깁니다. 처리할 수 없는 숫자 글자 오류를 잡는 것과 주소 오류까지 무조건 숨기는 것은 다릅니다. except ValueError는 해당 변환·규칙 오류만 맡고 파일이 없다는 오류의 해결은 별도입니다.</a:t>
            </a:r>
          </a:p>
          <a:p xmlns:a="http://schemas.openxmlformats.org/drawingml/2006/main">
            <a:r>
              <a:t/>
            </a:r>
          </a:p>
          <a:p xmlns:a="http://schemas.openxmlformats.org/drawingml/2006/main">
            <a:r>
              <a:t>완성 분류표는 R01/빈 문자열/미측정, R02/“0”/수치 0.0, R03/“추움”/이슈입니다. 수치 평균을 계산한다면 R02만 대상으로 하므로 평균은 0.0입니다. R01을 0으로 채워 평균에 넣으면 대상 수가 늘고 미측정 사실이 사라집니다. R03을 None으로 바꾸면 잘못 적힌 내용이 있었다는 근거가 사라집니다. 오류 원문을 보존한 후 담당자에게 어떤 입력을 의도했는지 묻습니다. 공백 한 칸 “ ”도 빈 문자열과 그대로는 다르며 이 수업의 규칙에는 자동 공백 정리가 없습니다. 새 정리 규칙이 필요하면 먼저 원문과 변경 이유를 기록하고 별도 약속으로 정해야 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수량 칸 원문이 빈 문자열, “0”, “여섯”, “ ”입니다. 이 문제의 규칙은 정확한 빈 문자열만 미확인으로 보고, 숫자만 계산 대상으로 정합니다. 네 갈래의 분류와 담당자에게 남길 이슈 원문을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빈 문자열은 미확인, “0”은 수치 0, “여섯”과 공백 한 칸은 현재 규칙으로 숫자로 읽을 수 없는 입력입니다. 두 이슈 원문을 그대로 남깁니다. 공백을 자동 삭제해 미확인으로 합치는 답은 명시되지 않은 정리 규칙을 추가한 것입니다.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**미측정도 오류인가요?** 규칙에서 허용한 빈값과 잘못된 입력을 구별합니다.</a:t>
            </a:r>
          </a:p>
          <a:p xmlns:a="http://schemas.openxmlformats.org/drawingml/2006/main">
            <a:r>
              <a:t/>
            </a:r>
          </a:p>
          <a:p xmlns:a="http://schemas.openxmlformats.org/drawingml/2006/main">
            <a:r>
              <a:t>2. **예외를 잡으면 실제 값을 알게 되나요?** 아닙니다. 실패한 입력값을 그대로 남겨 무엇을 더 확인할지 알 수 있습니다.</a:t>
            </a:r>
          </a:p>
          <a:p xmlns:a="http://schemas.openxmlformats.org/drawingml/2006/main">
            <a:r>
              <a:t/>
            </a:r>
          </a:p>
          <a:p xmlns:a="http://schemas.openxmlformats.org/drawingml/2006/main">
            <a:r>
              <a:t>3. **0을 평균에서 빼나요?** 실제 수치 0은 포함하고 값 없음만 제외합니다.</a:t>
            </a:r>
          </a:p>
          <a:p xmlns:a="http://schemas.openxmlformats.org/drawingml/2006/main">
            <a:r>
              <a:t/>
            </a:r>
          </a:p>
          <a:p xmlns:a="http://schemas.openxmlformats.org/drawingml/2006/main">
            <a:r>
              <a:t/>
            </a:r>
          </a:p>
          <a:p xmlns:a="http://schemas.openxmlformats.org/drawingml/2006/main">
            <a:r>
              <a:t>**개념.** 빈값 규칙과 숫자 변환은 다른 단계입니다. 이 자료의 빈 온도는 미측정이므로 None으로 보존하고 숫자가 아닌 글자는 잘못된 입력으로 알립니다.</a:t>
            </a:r>
          </a:p>
          <a:p xmlns:a="http://schemas.openxmlformats.org/drawingml/2006/main">
            <a:r>
              <a:t/>
            </a:r>
          </a:p>
          <a:p xmlns:a="http://schemas.openxmlformats.org/drawingml/2006/main">
            <a:r>
              <a:t>**왜 필요한가.** 모든 변환 실패를 None으로 바꾸면 누락과 잘못된 기록을 구별하지 못합니다. 원문과 실패 이유를 남겨야 확인 요청을 할 수 있습니다.</a:t>
            </a:r>
          </a:p>
          <a:p xmlns:a="http://schemas.openxmlformats.org/drawingml/2006/main">
            <a:r>
              <a:t/>
            </a:r>
          </a:p>
          <a:p xmlns:a="http://schemas.openxmlformats.org/drawingml/2006/main">
            <a:r>
              <a:t>**함께 보는 예.** 빈 문자열은 None, "0.0"은 숫자 0.0, "뜨거움"은 ValueError입니다. 먼저 빈 문자열인지 확인하고 나머지에 숫자 변환을 적용합니다.</a:t>
            </a:r>
          </a:p>
          <a:p xmlns:a="http://schemas.openxmlformats.org/drawingml/2006/main">
            <a:r>
              <a:t/>
            </a:r>
          </a:p>
          <a:p xmlns:a="http://schemas.openxmlformats.org/drawingml/2006/main">
            <a:r>
              <a:t>**헷갈리는 경우.** 빈 문자열을 0으로 대신 채우면 미측정을 실제 0℃로 바꿉니다. 계산을 편하게 하려고 확인되지 않은 값을 보충하지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parse_temperature(raw):</a:t>
            </a:r>
          </a:p>
          <a:p xmlns:a="http://schemas.openxmlformats.org/drawingml/2006/main">
            <a:r>
              <a:t>    if raw == "":</a:t>
            </a:r>
          </a:p>
          <a:p xmlns:a="http://schemas.openxmlformats.org/drawingml/2006/main">
            <a:r>
              <a:t>        return None</a:t>
            </a:r>
          </a:p>
          <a:p xmlns:a="http://schemas.openxmlformats.org/drawingml/2006/main">
            <a:r>
              <a:t>    return float(raw)</a:t>
            </a:r>
          </a:p>
          <a:p xmlns:a="http://schemas.openxmlformats.org/drawingml/2006/main">
            <a:r>
              <a:t>print(parse_temperature("22.5"))</a:t>
            </a:r>
          </a:p>
          <a:p xmlns:a="http://schemas.openxmlformats.org/drawingml/2006/main">
            <a:r>
              <a:t>print(parse_temperature(""))</a:t>
            </a:r>
          </a:p>
          <a:p xmlns:a="http://schemas.openxmlformats.org/drawingml/2006/main">
            <a:r>
              <a:t>print(parse_temperature("0.0"))</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parse_temperature(raw):` | 원문 온도를 해석하는 함수를 정의합니다. |</a:t>
            </a:r>
          </a:p>
          <a:p xmlns:a="http://schemas.openxmlformats.org/drawingml/2006/main">
            <a:r>
              <a:t>| 2 | `    if raw == "":` | 빈 문자열 여부를 확인합니다. |</a:t>
            </a:r>
          </a:p>
          <a:p xmlns:a="http://schemas.openxmlformats.org/drawingml/2006/main">
            <a:r>
              <a:t>| 3 | `        return None` | 계약에 따라 None을 반환합니다. |</a:t>
            </a:r>
          </a:p>
          <a:p xmlns:a="http://schemas.openxmlformats.org/drawingml/2006/main">
            <a:r>
              <a:t>| 4 | `    return float(raw)` | 나머지를 숫자로 변환합니다. |</a:t>
            </a:r>
          </a:p>
          <a:p xmlns:a="http://schemas.openxmlformats.org/drawingml/2006/main">
            <a:r>
              <a:t>| 5 | `print(parse_temperature("22.5"))` | 일반 숫자를 확인합니다. |</a:t>
            </a:r>
          </a:p>
          <a:p xmlns:a="http://schemas.openxmlformats.org/drawingml/2006/main">
            <a:r>
              <a:t>| 6 | `print(parse_temperature(""))` | 미측정을 확인합니다. |</a:t>
            </a:r>
          </a:p>
          <a:p xmlns:a="http://schemas.openxmlformats.org/drawingml/2006/main">
            <a:r>
              <a:t>| 7 | `print(parse_temperature("0.0"))` | 실제 0을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code/A10_example.py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work/A10_example.py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None</a:t>
            </a:r>
          </a:p>
          <a:p xmlns:a="http://schemas.openxmlformats.org/drawingml/2006/main">
            <a:r>
              <a:t>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원문·반환값·업무 의미를 표로 적습니다.</a:t>
            </a:r>
          </a:p>
          <a:p xmlns:a="http://schemas.openxmlformats.org/drawingml/2006/main">
            <a:r>
              <a:t>2. 뜨거움과 빈칸의 차이를 설명합니다.</a:t>
            </a:r>
          </a:p>
          <a:p xmlns:a="http://schemas.openxmlformats.org/drawingml/2006/main">
            <a:r>
              <a:t>3. 오류 원문과 종류를 기록합니다.</a:t>
            </a:r>
          </a:p>
          <a:p xmlns:a="http://schemas.openxmlformats.org/drawingml/2006/main">
            <a:r>
              <a:t>4. 실제값이 미확인일 때 남길 질문을 씁니다.</a:t>
            </a:r>
          </a:p>
          <a:p xmlns:a="http://schemas.openxmlformats.org/drawingml/2006/main">
            <a:r>
              <a:t/>
            </a:r>
          </a:p>
          <a:p xmlns:a="http://schemas.openxmlformats.org/drawingml/2006/main">
            <a:r>
              <a:t>예상 결과: 22.5/None/0.0을 구별하며 글자는 ValueError.</a:t>
            </a:r>
          </a:p>
          <a:p xmlns:a="http://schemas.openxmlformats.org/drawingml/2006/main">
            <a:r>
              <a:t/>
            </a:r>
          </a:p>
          <a:p xmlns:a="http://schemas.openxmlformats.org/drawingml/2006/main">
            <a:r>
              <a:t>확인 질문: 잘못된 숫자를 미측정으로 바꾸면 무엇을 잃나요?</a:t>
            </a:r>
          </a:p>
          <a:p xmlns:a="http://schemas.openxmlformats.org/drawingml/2006/main">
            <a:r>
              <a:t/>
            </a:r>
          </a:p>
          <a:p xmlns:a="http://schemas.openxmlformats.org/drawingml/2006/main">
            <a:r>
              <a:t>막혔을 때: None과 문자열 "None"은 다릅니다. 후자는 숫자로 읽으면 실패합니다.</a:t>
            </a:r>
          </a:p>
          <a:p xmlns:a="http://schemas.openxmlformats.org/drawingml/2006/main">
            <a:r>
              <a:t/>
            </a:r>
          </a:p>
          <a:p xmlns:a="http://schemas.openxmlformats.org/drawingml/2006/main">
            <a:r>
              <a:t>[활동 자료와 작성칸](practice-guide.md#a10--미측정과-잘못된-숫자의-구별)에서 A10를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https://zeusk302-png.github.io/kdigital-physical-ai/#/sessions/2026-10-15/lesson?activity=A10</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code/A10_example.py</a:t>
            </a:r>
          </a:p>
          <a:p xmlns:a="http://schemas.openxmlformats.org/drawingml/2006/main">
            <a:r>
              <a:t>수정한 파일을 실행할 때는 code 대신 work 폴더를 지정합니다. 직접 실행할 수 없으면 입력값부터 코드의 처리 순서를 따라 적고 강사의 결과와 비교합니다.</a:t>
            </a:r>
          </a:p>
          <a:p xmlns:a="http://schemas.openxmlformats.org/drawingml/2006/main">
            <a:r>
              <a:t/>
            </a:r>
          </a:p>
          <a:p xmlns:a="http://schemas.openxmlformats.org/drawingml/2006/main">
            <a:r>
              <a:t>[활동 A10 상세 원문]</a:t>
            </a:r>
          </a:p>
          <a:p xmlns:a="http://schemas.openxmlformats.org/drawingml/2006/main">
            <a:r>
              <a:t>### 사례로 이해하기 · 미측정·잘못된 글자·실제 0의 세 갈래</a:t>
            </a:r>
          </a:p>
          <a:p xmlns:a="http://schemas.openxmlformats.org/drawingml/2006/main">
            <a:r>
              <a:t/>
            </a:r>
          </a:p>
          <a:p xmlns:a="http://schemas.openxmlformats.org/drawingml/2006/main">
            <a:r>
              <a:t/>
            </a:r>
          </a:p>
          <a:p xmlns:a="http://schemas.openxmlformats.org/drawingml/2006/main">
            <a:r>
              <a:t/>
            </a:r>
          </a:p>
          <a:p xmlns:a="http://schemas.openxmlformats.org/drawingml/2006/main">
            <a:r>
              <a:t>수업용 측정 파일에 빈 문자열, “0”, “추움” 세 원문이 있습니다. 검사를 통과시키려고 모두 0으로 바꾸면 세 기록이 실제 0℃로 합쳐집니다. 빈 문자열은 이번 데이터 사전에서 미측정이고, “0”은 측정한 숫자 표현이며, “추움”은 숫자 칸에 온 다른 종류의 내용입니다. 먼저 원문을 보존하고 어떤 갈래에 속하는지 정합니다. 오류 처리는 숨기는 행동이 아니라 분류와 후속 확인을 기록하는 행동입니다.</a:t>
            </a:r>
          </a:p>
          <a:p xmlns:a="http://schemas.openxmlformats.org/drawingml/2006/main">
            <a:r>
              <a:t/>
            </a:r>
          </a:p>
          <a:p xmlns:a="http://schemas.openxmlformats.org/drawingml/2006/main">
            <a:r>
              <a:t>해석 절차의 첫 질문은 원문이 빈 문자열과 정확히 같은지입니다. 같으면 None으로 반환해 미측정을 보존합니다. 아니면 숫자로 변환합니다. “0”은 0.0이 되지만 “추움”은 ValueError가 납니다. 이 예에서는 ValueError를 잡아 장치번호와 원문을 이슈로 남깁니다. 처리할 수 없는 숫자 글자 오류를 잡는 것과 주소 오류까지 무조건 숨기는 것은 다릅니다. except ValueError는 해당 변환·규칙 오류만 맡고 파일이 없다는 오류의 해결은 별도입니다.</a:t>
            </a:r>
          </a:p>
          <a:p xmlns:a="http://schemas.openxmlformats.org/drawingml/2006/main">
            <a:r>
              <a:t/>
            </a:r>
          </a:p>
          <a:p xmlns:a="http://schemas.openxmlformats.org/drawingml/2006/main">
            <a:r>
              <a:t>완성 분류표는 R01/빈 문자열/미측정, R02/“0”/수치 0.0, R03/“추움”/이슈입니다. 수치 평균을 계산한다면 R02만 대상으로 하므로 평균은 0.0입니다. R01을 0으로 채워 평균에 넣으면 대상 수가 늘고 미측정 사실이 사라집니다. R03을 None으로 바꾸면 잘못 적힌 내용이 있었다는 근거가 사라집니다. 오류 원문을 보존한 후 담당자에게 어떤 입력을 의도했는지 묻습니다. 공백 한 칸 “ ”도 빈 문자열과 그대로는 다르며 이 수업의 규칙에는 자동 공백 정리가 없습니다. 새 정리 규칙이 필요하면 먼저 원문과 변경 이유를 기록하고 별도 약속으로 정해야 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수량 칸 원문이 빈 문자열, “0”, “여섯”, “ ”입니다. 이 문제의 규칙은 정확한 빈 문자열만 미확인으로 보고, 숫자만 계산 대상으로 정합니다. 네 갈래의 분류와 담당자에게 남길 이슈 원문을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빈 문자열은 미확인, “0”은 수치 0, “여섯”과 공백 한 칸은 현재 규칙으로 숫자로 읽을 수 없는 입력입니다. 두 이슈 원문을 그대로 남깁니다. 공백을 자동 삭제해 미확인으로 합치는 답은 명시되지 않은 정리 규칙을 추가한 것입니다.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**미측정도 오류인가요?** 규칙에서 허용한 빈값과 잘못된 입력을 구별합니다.</a:t>
            </a:r>
          </a:p>
          <a:p xmlns:a="http://schemas.openxmlformats.org/drawingml/2006/main">
            <a:r>
              <a:t/>
            </a:r>
          </a:p>
          <a:p xmlns:a="http://schemas.openxmlformats.org/drawingml/2006/main">
            <a:r>
              <a:t>2. **예외를 잡으면 실제 값을 알게 되나요?** 아닙니다. 실패한 입력값을 그대로 남겨 무엇을 더 확인할지 알 수 있습니다.</a:t>
            </a:r>
          </a:p>
          <a:p xmlns:a="http://schemas.openxmlformats.org/drawingml/2006/main">
            <a:r>
              <a:t/>
            </a:r>
          </a:p>
          <a:p xmlns:a="http://schemas.openxmlformats.org/drawingml/2006/main">
            <a:r>
              <a:t>3. **0을 평균에서 빼나요?** 실제 수치 0은 포함하고 값 없음만 제외합니다.</a:t>
            </a:r>
          </a:p>
          <a:p xmlns:a="http://schemas.openxmlformats.org/drawingml/2006/main">
            <a:r>
              <a:t/>
            </a:r>
          </a:p>
          <a:p xmlns:a="http://schemas.openxmlformats.org/drawingml/2006/main">
            <a:r>
              <a:t/>
            </a:r>
          </a:p>
          <a:p xmlns:a="http://schemas.openxmlformats.org/drawingml/2006/main">
            <a:r>
              <a:t>**개념.** 빈값 규칙과 숫자 변환은 다른 단계입니다. 이 자료의 빈 온도는 미측정이므로 None으로 보존하고 숫자가 아닌 글자는 잘못된 입력으로 알립니다.</a:t>
            </a:r>
          </a:p>
          <a:p xmlns:a="http://schemas.openxmlformats.org/drawingml/2006/main">
            <a:r>
              <a:t/>
            </a:r>
          </a:p>
          <a:p xmlns:a="http://schemas.openxmlformats.org/drawingml/2006/main">
            <a:r>
              <a:t>**왜 필요한가.** 모든 변환 실패를 None으로 바꾸면 누락과 잘못된 기록을 구별하지 못합니다. 원문과 실패 이유를 남겨야 확인 요청을 할 수 있습니다.</a:t>
            </a:r>
          </a:p>
          <a:p xmlns:a="http://schemas.openxmlformats.org/drawingml/2006/main">
            <a:r>
              <a:t/>
            </a:r>
          </a:p>
          <a:p xmlns:a="http://schemas.openxmlformats.org/drawingml/2006/main">
            <a:r>
              <a:t>**함께 보는 예.** 빈 문자열은 None, "0.0"은 숫자 0.0, "뜨거움"은 ValueError입니다. 먼저 빈 문자열인지 확인하고 나머지에 숫자 변환을 적용합니다.</a:t>
            </a:r>
          </a:p>
          <a:p xmlns:a="http://schemas.openxmlformats.org/drawingml/2006/main">
            <a:r>
              <a:t/>
            </a:r>
          </a:p>
          <a:p xmlns:a="http://schemas.openxmlformats.org/drawingml/2006/main">
            <a:r>
              <a:t>**헷갈리는 경우.** 빈 문자열을 0으로 대신 채우면 미측정을 실제 0℃로 바꿉니다. 계산을 편하게 하려고 확인되지 않은 값을 보충하지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parse_temperature(raw):</a:t>
            </a:r>
          </a:p>
          <a:p xmlns:a="http://schemas.openxmlformats.org/drawingml/2006/main">
            <a:r>
              <a:t>    if raw == "":</a:t>
            </a:r>
          </a:p>
          <a:p xmlns:a="http://schemas.openxmlformats.org/drawingml/2006/main">
            <a:r>
              <a:t>        return None</a:t>
            </a:r>
          </a:p>
          <a:p xmlns:a="http://schemas.openxmlformats.org/drawingml/2006/main">
            <a:r>
              <a:t>    return float(raw)</a:t>
            </a:r>
          </a:p>
          <a:p xmlns:a="http://schemas.openxmlformats.org/drawingml/2006/main">
            <a:r>
              <a:t>print(parse_temperature("22.5"))</a:t>
            </a:r>
          </a:p>
          <a:p xmlns:a="http://schemas.openxmlformats.org/drawingml/2006/main">
            <a:r>
              <a:t>print(parse_temperature(""))</a:t>
            </a:r>
          </a:p>
          <a:p xmlns:a="http://schemas.openxmlformats.org/drawingml/2006/main">
            <a:r>
              <a:t>print(parse_temperature("0.0"))</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parse_temperature(raw):` | 원문 온도를 해석하는 함수를 정의합니다. |</a:t>
            </a:r>
          </a:p>
          <a:p xmlns:a="http://schemas.openxmlformats.org/drawingml/2006/main">
            <a:r>
              <a:t>| 2 | `    if raw == "":` | 빈 문자열 여부를 확인합니다. |</a:t>
            </a:r>
          </a:p>
          <a:p xmlns:a="http://schemas.openxmlformats.org/drawingml/2006/main">
            <a:r>
              <a:t>| 3 | `        return None` | 계약에 따라 None을 반환합니다. |</a:t>
            </a:r>
          </a:p>
          <a:p xmlns:a="http://schemas.openxmlformats.org/drawingml/2006/main">
            <a:r>
              <a:t>| 4 | `    return float(raw)` | 나머지를 숫자로 변환합니다. |</a:t>
            </a:r>
          </a:p>
          <a:p xmlns:a="http://schemas.openxmlformats.org/drawingml/2006/main">
            <a:r>
              <a:t>| 5 | `print(parse_temperature("22.5"))` | 일반 숫자를 확인합니다. |</a:t>
            </a:r>
          </a:p>
          <a:p xmlns:a="http://schemas.openxmlformats.org/drawingml/2006/main">
            <a:r>
              <a:t>| 6 | `print(parse_temperature(""))` | 미측정을 확인합니다. |</a:t>
            </a:r>
          </a:p>
          <a:p xmlns:a="http://schemas.openxmlformats.org/drawingml/2006/main">
            <a:r>
              <a:t>| 7 | `print(parse_temperature("0.0"))` | 실제 0을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code/A10_example.py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work/A10_example.py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None</a:t>
            </a:r>
          </a:p>
          <a:p xmlns:a="http://schemas.openxmlformats.org/drawingml/2006/main">
            <a:r>
              <a:t>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원문·반환값·업무 의미를 표로 적습니다.</a:t>
            </a:r>
          </a:p>
          <a:p xmlns:a="http://schemas.openxmlformats.org/drawingml/2006/main">
            <a:r>
              <a:t>2. 뜨거움과 빈칸의 차이를 설명합니다.</a:t>
            </a:r>
          </a:p>
          <a:p xmlns:a="http://schemas.openxmlformats.org/drawingml/2006/main">
            <a:r>
              <a:t>3. 오류 원문과 종류를 기록합니다.</a:t>
            </a:r>
          </a:p>
          <a:p xmlns:a="http://schemas.openxmlformats.org/drawingml/2006/main">
            <a:r>
              <a:t>4. 실제값이 미확인일 때 남길 질문을 씁니다.</a:t>
            </a:r>
          </a:p>
          <a:p xmlns:a="http://schemas.openxmlformats.org/drawingml/2006/main">
            <a:r>
              <a:t/>
            </a:r>
          </a:p>
          <a:p xmlns:a="http://schemas.openxmlformats.org/drawingml/2006/main">
            <a:r>
              <a:t>예상 결과: 22.5/None/0.0을 구별하며 글자는 ValueError.</a:t>
            </a:r>
          </a:p>
          <a:p xmlns:a="http://schemas.openxmlformats.org/drawingml/2006/main">
            <a:r>
              <a:t/>
            </a:r>
          </a:p>
          <a:p xmlns:a="http://schemas.openxmlformats.org/drawingml/2006/main">
            <a:r>
              <a:t>확인 질문: 잘못된 숫자를 미측정으로 바꾸면 무엇을 잃나요?</a:t>
            </a:r>
          </a:p>
          <a:p xmlns:a="http://schemas.openxmlformats.org/drawingml/2006/main">
            <a:r>
              <a:t/>
            </a:r>
          </a:p>
          <a:p xmlns:a="http://schemas.openxmlformats.org/drawingml/2006/main">
            <a:r>
              <a:t>막혔을 때: None과 문자열 "None"은 다릅니다. 후자는 숫자로 읽으면 실패합니다.</a:t>
            </a:r>
          </a:p>
          <a:p xmlns:a="http://schemas.openxmlformats.org/drawingml/2006/main">
            <a:r>
              <a:t/>
            </a:r>
          </a:p>
          <a:p xmlns:a="http://schemas.openxmlformats.org/drawingml/2006/main">
            <a:r>
              <a:t>[활동 자료와 작성칸](practice-guide.md#a10--미측정과-잘못된-숫자의-구별)에서 A10를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https://zeusk302-png.github.io/kdigital-physical-ai/#/sessions/2026-10-15/lesson?activity=A10</a:t>
            </a:r>
          </a:p>
          <a:p xmlns:a="http://schemas.openxmlformats.org/drawingml/2006/main">
            <a:r>
              <a:t>공식 자료: https://docs.python.org/3/library/csv.html</a:t>
            </a:r>
          </a:p>
          <a:p xmlns:a="http://schemas.openxmlformats.org/drawingml/2006/main">
            <a:r>
              <a:t/>
            </a:r>
          </a:p>
          <a:p xmlns:a="http://schemas.openxmlformats.org/drawingml/2006/main">
            <a:r>
              <a:t>코드와 개념 해설: 빈 문자열만 None으로 처리합니다</a:t>
            </a:r>
          </a:p>
          <a:p xmlns:a="http://schemas.openxmlformats.org/drawingml/2006/main">
            <a:r>
              <a:t>"0.0"은 실제 수치 0.0을 보존합니다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A10 상세 원문]</a:t>
            </a:r>
          </a:p>
          <a:p xmlns:a="http://schemas.openxmlformats.org/drawingml/2006/main">
            <a:r>
              <a:t>### 사례로 이해하기 · 미측정·잘못된 글자·실제 0의 세 갈래</a:t>
            </a:r>
          </a:p>
          <a:p xmlns:a="http://schemas.openxmlformats.org/drawingml/2006/main">
            <a:r>
              <a:t/>
            </a:r>
          </a:p>
          <a:p xmlns:a="http://schemas.openxmlformats.org/drawingml/2006/main">
            <a:r>
              <a:t/>
            </a:r>
          </a:p>
          <a:p xmlns:a="http://schemas.openxmlformats.org/drawingml/2006/main">
            <a:r>
              <a:t/>
            </a:r>
          </a:p>
          <a:p xmlns:a="http://schemas.openxmlformats.org/drawingml/2006/main">
            <a:r>
              <a:t>수업용 측정 파일에 빈 문자열, “0”, “추움” 세 원문이 있습니다. 검사를 통과시키려고 모두 0으로 바꾸면 세 기록이 실제 0℃로 합쳐집니다. 빈 문자열은 이번 데이터 사전에서 미측정이고, “0”은 측정한 숫자 표현이며, “추움”은 숫자 칸에 온 다른 종류의 내용입니다. 먼저 원문을 보존하고 어떤 갈래에 속하는지 정합니다. 오류 처리는 숨기는 행동이 아니라 분류와 후속 확인을 기록하는 행동입니다.</a:t>
            </a:r>
          </a:p>
          <a:p xmlns:a="http://schemas.openxmlformats.org/drawingml/2006/main">
            <a:r>
              <a:t/>
            </a:r>
          </a:p>
          <a:p xmlns:a="http://schemas.openxmlformats.org/drawingml/2006/main">
            <a:r>
              <a:t>해석 절차의 첫 질문은 원문이 빈 문자열과 정확히 같은지입니다. 같으면 None으로 반환해 미측정을 보존합니다. 아니면 숫자로 변환합니다. “0”은 0.0이 되지만 “추움”은 ValueError가 납니다. 이 예에서는 ValueError를 잡아 장치번호와 원문을 이슈로 남깁니다. 처리할 수 없는 숫자 글자 오류를 잡는 것과 주소 오류까지 무조건 숨기는 것은 다릅니다. except ValueError는 해당 변환·규칙 오류만 맡고 파일이 없다는 오류의 해결은 별도입니다.</a:t>
            </a:r>
          </a:p>
          <a:p xmlns:a="http://schemas.openxmlformats.org/drawingml/2006/main">
            <a:r>
              <a:t/>
            </a:r>
          </a:p>
          <a:p xmlns:a="http://schemas.openxmlformats.org/drawingml/2006/main">
            <a:r>
              <a:t>완성 분류표는 R01/빈 문자열/미측정, R02/“0”/수치 0.0, R03/“추움”/이슈입니다. 수치 평균을 계산한다면 R02만 대상으로 하므로 평균은 0.0입니다. R01을 0으로 채워 평균에 넣으면 대상 수가 늘고 미측정 사실이 사라집니다. R03을 None으로 바꾸면 잘못 적힌 내용이 있었다는 근거가 사라집니다. 오류 원문을 보존한 후 담당자에게 어떤 입력을 의도했는지 묻습니다. 공백 한 칸 “ ”도 빈 문자열과 그대로는 다르며 이 수업의 규칙에는 자동 공백 정리가 없습니다. 새 정리 규칙이 필요하면 먼저 원문과 변경 이유를 기록하고 별도 약속으로 정해야 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수량 칸 원문이 빈 문자열, “0”, “여섯”, “ ”입니다. 이 문제의 규칙은 정확한 빈 문자열만 미확인으로 보고, 숫자만 계산 대상으로 정합니다. 네 갈래의 분류와 담당자에게 남길 이슈 원문을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빈 문자열은 미확인, “0”은 수치 0, “여섯”과 공백 한 칸은 현재 규칙으로 숫자로 읽을 수 없는 입력입니다. 두 이슈 원문을 그대로 남깁니다. 공백을 자동 삭제해 미확인으로 합치는 답은 명시되지 않은 정리 규칙을 추가한 것입니다.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**미측정도 오류인가요?** 규칙에서 허용한 빈값과 잘못된 입력을 구별합니다.</a:t>
            </a:r>
          </a:p>
          <a:p xmlns:a="http://schemas.openxmlformats.org/drawingml/2006/main">
            <a:r>
              <a:t/>
            </a:r>
          </a:p>
          <a:p xmlns:a="http://schemas.openxmlformats.org/drawingml/2006/main">
            <a:r>
              <a:t>2. **예외를 잡으면 실제 값을 알게 되나요?** 아닙니다. 실패한 입력값을 그대로 남겨 무엇을 더 확인할지 알 수 있습니다.</a:t>
            </a:r>
          </a:p>
          <a:p xmlns:a="http://schemas.openxmlformats.org/drawingml/2006/main">
            <a:r>
              <a:t/>
            </a:r>
          </a:p>
          <a:p xmlns:a="http://schemas.openxmlformats.org/drawingml/2006/main">
            <a:r>
              <a:t>3. **0을 평균에서 빼나요?** 실제 수치 0은 포함하고 값 없음만 제외합니다.</a:t>
            </a:r>
          </a:p>
          <a:p xmlns:a="http://schemas.openxmlformats.org/drawingml/2006/main">
            <a:r>
              <a:t/>
            </a:r>
          </a:p>
          <a:p xmlns:a="http://schemas.openxmlformats.org/drawingml/2006/main">
            <a:r>
              <a:t/>
            </a:r>
          </a:p>
          <a:p xmlns:a="http://schemas.openxmlformats.org/drawingml/2006/main">
            <a:r>
              <a:t>**개념.** 빈값 규칙과 숫자 변환은 다른 단계입니다. 이 자료의 빈 온도는 미측정이므로 None으로 보존하고 숫자가 아닌 글자는 잘못된 입력으로 알립니다.</a:t>
            </a:r>
          </a:p>
          <a:p xmlns:a="http://schemas.openxmlformats.org/drawingml/2006/main">
            <a:r>
              <a:t/>
            </a:r>
          </a:p>
          <a:p xmlns:a="http://schemas.openxmlformats.org/drawingml/2006/main">
            <a:r>
              <a:t>**왜 필요한가.** 모든 변환 실패를 None으로 바꾸면 누락과 잘못된 기록을 구별하지 못합니다. 원문과 실패 이유를 남겨야 확인 요청을 할 수 있습니다.</a:t>
            </a:r>
          </a:p>
          <a:p xmlns:a="http://schemas.openxmlformats.org/drawingml/2006/main">
            <a:r>
              <a:t/>
            </a:r>
          </a:p>
          <a:p xmlns:a="http://schemas.openxmlformats.org/drawingml/2006/main">
            <a:r>
              <a:t>**함께 보는 예.** 빈 문자열은 None, "0.0"은 숫자 0.0, "뜨거움"은 ValueError입니다. 먼저 빈 문자열인지 확인하고 나머지에 숫자 변환을 적용합니다.</a:t>
            </a:r>
          </a:p>
          <a:p xmlns:a="http://schemas.openxmlformats.org/drawingml/2006/main">
            <a:r>
              <a:t/>
            </a:r>
          </a:p>
          <a:p xmlns:a="http://schemas.openxmlformats.org/drawingml/2006/main">
            <a:r>
              <a:t>**헷갈리는 경우.** 빈 문자열을 0으로 대신 채우면 미측정을 실제 0℃로 바꿉니다. 계산을 편하게 하려고 확인되지 않은 값을 보충하지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parse_temperature(raw):</a:t>
            </a:r>
          </a:p>
          <a:p xmlns:a="http://schemas.openxmlformats.org/drawingml/2006/main">
            <a:r>
              <a:t>    if raw == "":</a:t>
            </a:r>
          </a:p>
          <a:p xmlns:a="http://schemas.openxmlformats.org/drawingml/2006/main">
            <a:r>
              <a:t>        return None</a:t>
            </a:r>
          </a:p>
          <a:p xmlns:a="http://schemas.openxmlformats.org/drawingml/2006/main">
            <a:r>
              <a:t>    return float(raw)</a:t>
            </a:r>
          </a:p>
          <a:p xmlns:a="http://schemas.openxmlformats.org/drawingml/2006/main">
            <a:r>
              <a:t>print(parse_temperature("22.5"))</a:t>
            </a:r>
          </a:p>
          <a:p xmlns:a="http://schemas.openxmlformats.org/drawingml/2006/main">
            <a:r>
              <a:t>print(parse_temperature(""))</a:t>
            </a:r>
          </a:p>
          <a:p xmlns:a="http://schemas.openxmlformats.org/drawingml/2006/main">
            <a:r>
              <a:t>print(parse_temperature("0.0"))</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parse_temperature(raw):` | 원문 온도를 해석하는 함수를 정의합니다. |</a:t>
            </a:r>
          </a:p>
          <a:p xmlns:a="http://schemas.openxmlformats.org/drawingml/2006/main">
            <a:r>
              <a:t>| 2 | `    if raw == "":` | 빈 문자열 여부를 확인합니다. |</a:t>
            </a:r>
          </a:p>
          <a:p xmlns:a="http://schemas.openxmlformats.org/drawingml/2006/main">
            <a:r>
              <a:t>| 3 | `        return None` | 계약에 따라 None을 반환합니다. |</a:t>
            </a:r>
          </a:p>
          <a:p xmlns:a="http://schemas.openxmlformats.org/drawingml/2006/main">
            <a:r>
              <a:t>| 4 | `    return float(raw)` | 나머지를 숫자로 변환합니다. |</a:t>
            </a:r>
          </a:p>
          <a:p xmlns:a="http://schemas.openxmlformats.org/drawingml/2006/main">
            <a:r>
              <a:t>| 5 | `print(parse_temperature("22.5"))` | 일반 숫자를 확인합니다. |</a:t>
            </a:r>
          </a:p>
          <a:p xmlns:a="http://schemas.openxmlformats.org/drawingml/2006/main">
            <a:r>
              <a:t>| 6 | `print(parse_temperature(""))` | 미측정을 확인합니다. |</a:t>
            </a:r>
          </a:p>
          <a:p xmlns:a="http://schemas.openxmlformats.org/drawingml/2006/main">
            <a:r>
              <a:t>| 7 | `print(parse_temperature("0.0"))` | 실제 0을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code/A10_example.py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work/A10_example.py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None</a:t>
            </a:r>
          </a:p>
          <a:p xmlns:a="http://schemas.openxmlformats.org/drawingml/2006/main">
            <a:r>
              <a:t>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원문·반환값·업무 의미를 표로 적습니다.</a:t>
            </a:r>
          </a:p>
          <a:p xmlns:a="http://schemas.openxmlformats.org/drawingml/2006/main">
            <a:r>
              <a:t>2. 뜨거움과 빈칸의 차이를 설명합니다.</a:t>
            </a:r>
          </a:p>
          <a:p xmlns:a="http://schemas.openxmlformats.org/drawingml/2006/main">
            <a:r>
              <a:t>3. 오류 원문과 종류를 기록합니다.</a:t>
            </a:r>
          </a:p>
          <a:p xmlns:a="http://schemas.openxmlformats.org/drawingml/2006/main">
            <a:r>
              <a:t>4. 실제값이 미확인일 때 남길 질문을 씁니다.</a:t>
            </a:r>
          </a:p>
          <a:p xmlns:a="http://schemas.openxmlformats.org/drawingml/2006/main">
            <a:r>
              <a:t/>
            </a:r>
          </a:p>
          <a:p xmlns:a="http://schemas.openxmlformats.org/drawingml/2006/main">
            <a:r>
              <a:t>예상 결과: 22.5/None/0.0을 구별하며 글자는 ValueError.</a:t>
            </a:r>
          </a:p>
          <a:p xmlns:a="http://schemas.openxmlformats.org/drawingml/2006/main">
            <a:r>
              <a:t/>
            </a:r>
          </a:p>
          <a:p xmlns:a="http://schemas.openxmlformats.org/drawingml/2006/main">
            <a:r>
              <a:t>확인 질문: 잘못된 숫자를 미측정으로 바꾸면 무엇을 잃나요?</a:t>
            </a:r>
          </a:p>
          <a:p xmlns:a="http://schemas.openxmlformats.org/drawingml/2006/main">
            <a:r>
              <a:t/>
            </a:r>
          </a:p>
          <a:p xmlns:a="http://schemas.openxmlformats.org/drawingml/2006/main">
            <a:r>
              <a:t>막혔을 때: None과 문자열 "None"은 다릅니다. 후자는 숫자로 읽으면 실패합니다.</a:t>
            </a:r>
          </a:p>
          <a:p xmlns:a="http://schemas.openxmlformats.org/drawingml/2006/main">
            <a:r>
              <a:t/>
            </a:r>
          </a:p>
          <a:p xmlns:a="http://schemas.openxmlformats.org/drawingml/2006/main">
            <a:r>
              <a:t>[활동 자료와 작성칸](practice-guide.md#a10--미측정과-잘못된-숫자의-구별)에서 A10를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https://zeusk302-png.github.io/kdigital-physical-ai/#/sessions/2026-10-15/lesson?activity=A10</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A10 상세 원문]</a:t>
            </a:r>
          </a:p>
          <a:p xmlns:a="http://schemas.openxmlformats.org/drawingml/2006/main">
            <a:r>
              <a:t>### 사례로 이해하기 · 미측정·잘못된 글자·실제 0의 세 갈래</a:t>
            </a:r>
          </a:p>
          <a:p xmlns:a="http://schemas.openxmlformats.org/drawingml/2006/main">
            <a:r>
              <a:t/>
            </a:r>
          </a:p>
          <a:p xmlns:a="http://schemas.openxmlformats.org/drawingml/2006/main">
            <a:r>
              <a:t/>
            </a:r>
          </a:p>
          <a:p xmlns:a="http://schemas.openxmlformats.org/drawingml/2006/main">
            <a:r>
              <a:t/>
            </a:r>
          </a:p>
          <a:p xmlns:a="http://schemas.openxmlformats.org/drawingml/2006/main">
            <a:r>
              <a:t>수업용 측정 파일에 빈 문자열, “0”, “추움” 세 원문이 있습니다. 검사를 통과시키려고 모두 0으로 바꾸면 세 기록이 실제 0℃로 합쳐집니다. 빈 문자열은 이번 데이터 사전에서 미측정이고, “0”은 측정한 숫자 표현이며, “추움”은 숫자 칸에 온 다른 종류의 내용입니다. 먼저 원문을 보존하고 어떤 갈래에 속하는지 정합니다. 오류 처리는 숨기는 행동이 아니라 분류와 후속 확인을 기록하는 행동입니다.</a:t>
            </a:r>
          </a:p>
          <a:p xmlns:a="http://schemas.openxmlformats.org/drawingml/2006/main">
            <a:r>
              <a:t/>
            </a:r>
          </a:p>
          <a:p xmlns:a="http://schemas.openxmlformats.org/drawingml/2006/main">
            <a:r>
              <a:t>해석 절차의 첫 질문은 원문이 빈 문자열과 정확히 같은지입니다. 같으면 None으로 반환해 미측정을 보존합니다. 아니면 숫자로 변환합니다. “0”은 0.0이 되지만 “추움”은 ValueError가 납니다. 이 예에서는 ValueError를 잡아 장치번호와 원문을 이슈로 남깁니다. 처리할 수 없는 숫자 글자 오류를 잡는 것과 주소 오류까지 무조건 숨기는 것은 다릅니다. except ValueError는 해당 변환·규칙 오류만 맡고 파일이 없다는 오류의 해결은 별도입니다.</a:t>
            </a:r>
          </a:p>
          <a:p xmlns:a="http://schemas.openxmlformats.org/drawingml/2006/main">
            <a:r>
              <a:t/>
            </a:r>
          </a:p>
          <a:p xmlns:a="http://schemas.openxmlformats.org/drawingml/2006/main">
            <a:r>
              <a:t>완성 분류표는 R01/빈 문자열/미측정, R02/“0”/수치 0.0, R03/“추움”/이슈입니다. 수치 평균을 계산한다면 R02만 대상으로 하므로 평균은 0.0입니다. R01을 0으로 채워 평균에 넣으면 대상 수가 늘고 미측정 사실이 사라집니다. R03을 None으로 바꾸면 잘못 적힌 내용이 있었다는 근거가 사라집니다. 오류 원문을 보존한 후 담당자에게 어떤 입력을 의도했는지 묻습니다. 공백 한 칸 “ ”도 빈 문자열과 그대로는 다르며 이 수업의 규칙에는 자동 공백 정리가 없습니다. 새 정리 규칙이 필요하면 먼저 원문과 변경 이유를 기록하고 별도 약속으로 정해야 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수량 칸 원문이 빈 문자열, “0”, “여섯”, “ ”입니다. 이 문제의 규칙은 정확한 빈 문자열만 미확인으로 보고, 숫자만 계산 대상으로 정합니다. 네 갈래의 분류와 담당자에게 남길 이슈 원문을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빈 문자열은 미확인, “0”은 수치 0, “여섯”과 공백 한 칸은 현재 규칙으로 숫자로 읽을 수 없는 입력입니다. 두 이슈 원문을 그대로 남깁니다. 공백을 자동 삭제해 미확인으로 합치는 답은 명시되지 않은 정리 규칙을 추가한 것입니다.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**미측정도 오류인가요?** 규칙에서 허용한 빈값과 잘못된 입력을 구별합니다.</a:t>
            </a:r>
          </a:p>
          <a:p xmlns:a="http://schemas.openxmlformats.org/drawingml/2006/main">
            <a:r>
              <a:t/>
            </a:r>
          </a:p>
          <a:p xmlns:a="http://schemas.openxmlformats.org/drawingml/2006/main">
            <a:r>
              <a:t>2. **예외를 잡으면 실제 값을 알게 되나요?** 아닙니다. 실패한 입력값을 그대로 남겨 무엇을 더 확인할지 알 수 있습니다.</a:t>
            </a:r>
          </a:p>
          <a:p xmlns:a="http://schemas.openxmlformats.org/drawingml/2006/main">
            <a:r>
              <a:t/>
            </a:r>
          </a:p>
          <a:p xmlns:a="http://schemas.openxmlformats.org/drawingml/2006/main">
            <a:r>
              <a:t>3. **0을 평균에서 빼나요?** 실제 수치 0은 포함하고 값 없음만 제외합니다.</a:t>
            </a:r>
          </a:p>
          <a:p xmlns:a="http://schemas.openxmlformats.org/drawingml/2006/main">
            <a:r>
              <a:t/>
            </a:r>
          </a:p>
          <a:p xmlns:a="http://schemas.openxmlformats.org/drawingml/2006/main">
            <a:r>
              <a:t/>
            </a:r>
          </a:p>
          <a:p xmlns:a="http://schemas.openxmlformats.org/drawingml/2006/main">
            <a:r>
              <a:t>**개념.** 빈값 규칙과 숫자 변환은 다른 단계입니다. 이 자료의 빈 온도는 미측정이므로 None으로 보존하고 숫자가 아닌 글자는 잘못된 입력으로 알립니다.</a:t>
            </a:r>
          </a:p>
          <a:p xmlns:a="http://schemas.openxmlformats.org/drawingml/2006/main">
            <a:r>
              <a:t/>
            </a:r>
          </a:p>
          <a:p xmlns:a="http://schemas.openxmlformats.org/drawingml/2006/main">
            <a:r>
              <a:t>**왜 필요한가.** 모든 변환 실패를 None으로 바꾸면 누락과 잘못된 기록을 구별하지 못합니다. 원문과 실패 이유를 남겨야 확인 요청을 할 수 있습니다.</a:t>
            </a:r>
          </a:p>
          <a:p xmlns:a="http://schemas.openxmlformats.org/drawingml/2006/main">
            <a:r>
              <a:t/>
            </a:r>
          </a:p>
          <a:p xmlns:a="http://schemas.openxmlformats.org/drawingml/2006/main">
            <a:r>
              <a:t>**함께 보는 예.** 빈 문자열은 None, "0.0"은 숫자 0.0, "뜨거움"은 ValueError입니다. 먼저 빈 문자열인지 확인하고 나머지에 숫자 변환을 적용합니다.</a:t>
            </a:r>
          </a:p>
          <a:p xmlns:a="http://schemas.openxmlformats.org/drawingml/2006/main">
            <a:r>
              <a:t/>
            </a:r>
          </a:p>
          <a:p xmlns:a="http://schemas.openxmlformats.org/drawingml/2006/main">
            <a:r>
              <a:t>**헷갈리는 경우.** 빈 문자열을 0으로 대신 채우면 미측정을 실제 0℃로 바꿉니다. 계산을 편하게 하려고 확인되지 않은 값을 보충하지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parse_temperature(raw):</a:t>
            </a:r>
          </a:p>
          <a:p xmlns:a="http://schemas.openxmlformats.org/drawingml/2006/main">
            <a:r>
              <a:t>    if raw == "":</a:t>
            </a:r>
          </a:p>
          <a:p xmlns:a="http://schemas.openxmlformats.org/drawingml/2006/main">
            <a:r>
              <a:t>        return None</a:t>
            </a:r>
          </a:p>
          <a:p xmlns:a="http://schemas.openxmlformats.org/drawingml/2006/main">
            <a:r>
              <a:t>    return float(raw)</a:t>
            </a:r>
          </a:p>
          <a:p xmlns:a="http://schemas.openxmlformats.org/drawingml/2006/main">
            <a:r>
              <a:t>print(parse_temperature("22.5"))</a:t>
            </a:r>
          </a:p>
          <a:p xmlns:a="http://schemas.openxmlformats.org/drawingml/2006/main">
            <a:r>
              <a:t>print(parse_temperature(""))</a:t>
            </a:r>
          </a:p>
          <a:p xmlns:a="http://schemas.openxmlformats.org/drawingml/2006/main">
            <a:r>
              <a:t>print(parse_temperature("0.0"))</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parse_temperature(raw):` | 원문 온도를 해석하는 함수를 정의합니다. |</a:t>
            </a:r>
          </a:p>
          <a:p xmlns:a="http://schemas.openxmlformats.org/drawingml/2006/main">
            <a:r>
              <a:t>| 2 | `    if raw == "":` | 빈 문자열 여부를 확인합니다. |</a:t>
            </a:r>
          </a:p>
          <a:p xmlns:a="http://schemas.openxmlformats.org/drawingml/2006/main">
            <a:r>
              <a:t>| 3 | `        return None` | 계약에 따라 None을 반환합니다. |</a:t>
            </a:r>
          </a:p>
          <a:p xmlns:a="http://schemas.openxmlformats.org/drawingml/2006/main">
            <a:r>
              <a:t>| 4 | `    return float(raw)` | 나머지를 숫자로 변환합니다. |</a:t>
            </a:r>
          </a:p>
          <a:p xmlns:a="http://schemas.openxmlformats.org/drawingml/2006/main">
            <a:r>
              <a:t>| 5 | `print(parse_temperature("22.5"))` | 일반 숫자를 확인합니다. |</a:t>
            </a:r>
          </a:p>
          <a:p xmlns:a="http://schemas.openxmlformats.org/drawingml/2006/main">
            <a:r>
              <a:t>| 6 | `print(parse_temperature(""))` | 미측정을 확인합니다. |</a:t>
            </a:r>
          </a:p>
          <a:p xmlns:a="http://schemas.openxmlformats.org/drawingml/2006/main">
            <a:r>
              <a:t>| 7 | `print(parse_temperature("0.0"))` | 실제 0을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code/A10_example.py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work/A10_example.py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None</a:t>
            </a:r>
          </a:p>
          <a:p xmlns:a="http://schemas.openxmlformats.org/drawingml/2006/main">
            <a:r>
              <a:t>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원문·반환값·업무 의미를 표로 적습니다.</a:t>
            </a:r>
          </a:p>
          <a:p xmlns:a="http://schemas.openxmlformats.org/drawingml/2006/main">
            <a:r>
              <a:t>2. 뜨거움과 빈칸의 차이를 설명합니다.</a:t>
            </a:r>
          </a:p>
          <a:p xmlns:a="http://schemas.openxmlformats.org/drawingml/2006/main">
            <a:r>
              <a:t>3. 오류 원문과 종류를 기록합니다.</a:t>
            </a:r>
          </a:p>
          <a:p xmlns:a="http://schemas.openxmlformats.org/drawingml/2006/main">
            <a:r>
              <a:t>4. 실제값이 미확인일 때 남길 질문을 씁니다.</a:t>
            </a:r>
          </a:p>
          <a:p xmlns:a="http://schemas.openxmlformats.org/drawingml/2006/main">
            <a:r>
              <a:t/>
            </a:r>
          </a:p>
          <a:p xmlns:a="http://schemas.openxmlformats.org/drawingml/2006/main">
            <a:r>
              <a:t>예상 결과: 22.5/None/0.0을 구별하며 글자는 ValueError.</a:t>
            </a:r>
          </a:p>
          <a:p xmlns:a="http://schemas.openxmlformats.org/drawingml/2006/main">
            <a:r>
              <a:t/>
            </a:r>
          </a:p>
          <a:p xmlns:a="http://schemas.openxmlformats.org/drawingml/2006/main">
            <a:r>
              <a:t>확인 질문: 잘못된 숫자를 미측정으로 바꾸면 무엇을 잃나요?</a:t>
            </a:r>
          </a:p>
          <a:p xmlns:a="http://schemas.openxmlformats.org/drawingml/2006/main">
            <a:r>
              <a:t/>
            </a:r>
          </a:p>
          <a:p xmlns:a="http://schemas.openxmlformats.org/drawingml/2006/main">
            <a:r>
              <a:t>막혔을 때: None과 문자열 "None"은 다릅니다. 후자는 숫자로 읽으면 실패합니다.</a:t>
            </a:r>
          </a:p>
          <a:p xmlns:a="http://schemas.openxmlformats.org/drawingml/2006/main">
            <a:r>
              <a:t/>
            </a:r>
          </a:p>
          <a:p xmlns:a="http://schemas.openxmlformats.org/drawingml/2006/main">
            <a:r>
              <a:t>[활동 자료와 작성칸](practice-guide.md#a10--미측정과-잘못된-숫자의-구별)에서 A10를 엽니다.</a:t>
            </a:r>
          </a:p>
          <a:p xmlns:a="http://schemas.openxmlformats.org/drawingml/2006/main">
            <a:r>
              <a:t/>
            </a:r>
          </a:p>
          <a:p xmlns:a="http://schemas.openxmlformats.org/drawingml/2006/main">
            <a:r>
              <a:t>화면 예의 출처: D:/KDigital_PhysicalAI/.build/copyedited-ppt/spec-2026-10-15.json#slide-53;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https://zeusk302-png.github.io/kdigital-physical-ai/#/sessions/2026-10-15/lesson?activity=A10</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A11 상세 원문]</a:t>
            </a:r>
          </a:p>
          <a:p xmlns:a="http://schemas.openxmlformats.org/drawingml/2006/main">
            <a:r>
              <a:t>**개념.** 오류 기록은 실패한 파일과 줄, 오류 종류, 관련 값의 단서를 보여 줍니다. traceback은 호출 경로를 나타내며 마지막 줄에서 오류 종류와 설명을 찾습니다.</a:t>
            </a:r>
          </a:p>
          <a:p xmlns:a="http://schemas.openxmlformats.org/drawingml/2006/main">
            <a:r>
              <a:t/>
            </a:r>
          </a:p>
          <a:p xmlns:a="http://schemas.openxmlformats.org/drawingml/2006/main">
            <a:r>
              <a:t>**왜 필요한가.** 파일 없음·키 없음·숫자 변환 실패는 다음 행동이 다릅니다. 이름만 암기하기보다 실패한 작업과 입력을 연결합니다.</a:t>
            </a:r>
          </a:p>
          <a:p xmlns:a="http://schemas.openxmlformats.org/drawingml/2006/main">
            <a:r>
              <a:t/>
            </a:r>
          </a:p>
          <a:p xmlns:a="http://schemas.openxmlformats.org/drawingml/2006/main">
            <a:r>
              <a:t>**함께 보는 예.** FileNotFoundError는 주소, KeyError는 헤더와 키, ValueError는 숫자로 해석하려던 원문을 확인합니다. 근거를 보기 전에 전체 코드를 교체하지 않습니다.</a:t>
            </a:r>
          </a:p>
          <a:p xmlns:a="http://schemas.openxmlformats.org/drawingml/2006/main">
            <a:r>
              <a:t/>
            </a:r>
          </a:p>
          <a:p xmlns:a="http://schemas.openxmlformats.org/drawingml/2006/main">
            <a:r>
              <a:t>**헷갈리는 경우.** float(raw)에서 실패했다고 float 도구 자체가 잘못된 것은 아닐 수 있습니다. 숫자 자리에 ‘뜨거움’이 들어온 입력 문제를 확인해야 합니다.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카드1: source.read_text() / FileNotFoundError / missing.csv</a:t>
            </a:r>
          </a:p>
          <a:p xmlns:a="http://schemas.openxmlformats.org/drawingml/2006/main">
            <a:r>
              <a:t>카드2: row['temperature_c'] / KeyError / temperature_c</a:t>
            </a:r>
          </a:p>
          <a:p xmlns:a="http://schemas.openxmlformats.org/drawingml/2006/main">
            <a:r>
              <a:t>카드3: float('뜨거움') / ValueError / could not convert string to float</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실패 작업·종류·경로 또는 값을 표시합니다.</a:t>
            </a:r>
          </a:p>
          <a:p xmlns:a="http://schemas.openxmlformats.org/drawingml/2006/main">
            <a:r>
              <a:t>2. 사실과 추정 원인을 나눕니다.</a:t>
            </a:r>
          </a:p>
          <a:p xmlns:a="http://schemas.openxmlformats.org/drawingml/2006/main">
            <a:r>
              <a:t>3. 다음 확인 동작을 하나씩 정합니다.</a:t>
            </a:r>
          </a:p>
          <a:p xmlns:a="http://schemas.openxmlformats.org/drawingml/2006/main">
            <a:r>
              <a:t>4. 오류 단서를 보존한 전달 기록을 씁니다.</a:t>
            </a:r>
          </a:p>
          <a:p xmlns:a="http://schemas.openxmlformats.org/drawingml/2006/main">
            <a:r>
              <a:t/>
            </a:r>
          </a:p>
          <a:p xmlns:a="http://schemas.openxmlformats.org/drawingml/2006/main">
            <a:r>
              <a:t>예상 결과: 주소·헤더·원값 확인을 구별합니다.</a:t>
            </a:r>
          </a:p>
          <a:p xmlns:a="http://schemas.openxmlformats.org/drawingml/2006/main">
            <a:r>
              <a:t/>
            </a:r>
          </a:p>
          <a:p xmlns:a="http://schemas.openxmlformats.org/drawingml/2006/main">
            <a:r>
              <a:t>확인 질문: ValueError면 모두 같은 값으로 고쳐도 되나요?</a:t>
            </a:r>
          </a:p>
          <a:p xmlns:a="http://schemas.openxmlformats.org/drawingml/2006/main">
            <a:r>
              <a:t/>
            </a:r>
          </a:p>
          <a:p xmlns:a="http://schemas.openxmlformats.org/drawingml/2006/main">
            <a:r>
              <a:t>막혔을 때: 명령·관련 줄·마지막 오류를 남깁니다. 길다는 이유로 단서를 모두 지우지 않습니다.</a:t>
            </a:r>
          </a:p>
          <a:p xmlns:a="http://schemas.openxmlformats.org/drawingml/2006/main">
            <a:r>
              <a:t/>
            </a:r>
          </a:p>
          <a:p xmlns:a="http://schemas.openxmlformats.org/drawingml/2006/main">
            <a:r>
              <a:t>[활동 자료와 작성칸](practice-guide.md#a11--오류의-위치종류원값)에서 A11를 엽니다.</a:t>
            </a:r>
          </a:p>
          <a:p xmlns:a="http://schemas.openxmlformats.org/drawingml/2006/main">
            <a:r>
              <a:t/>
            </a:r>
          </a:p>
          <a:p xmlns:a="http://schemas.openxmlformats.org/drawingml/2006/main">
            <a:r>
              <a:t>화면 예의 출처: D:/KDigital_PhysicalAI/.build/copyedited-ppt/spec-2026-10-15.json#slide-56;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https://zeusk302-png.github.io/kdigital-physical-ai/#/sessions/2026-10-15/lesson?activity=A11</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A11 상세 원문]</a:t>
            </a:r>
          </a:p>
          <a:p xmlns:a="http://schemas.openxmlformats.org/drawingml/2006/main">
            <a:r>
              <a:t>**개념.** 오류 기록은 실패한 파일과 줄, 오류 종류, 관련 값의 단서를 보여 줍니다. traceback은 호출 경로를 나타내며 마지막 줄에서 오류 종류와 설명을 찾습니다.</a:t>
            </a:r>
          </a:p>
          <a:p xmlns:a="http://schemas.openxmlformats.org/drawingml/2006/main">
            <a:r>
              <a:t/>
            </a:r>
          </a:p>
          <a:p xmlns:a="http://schemas.openxmlformats.org/drawingml/2006/main">
            <a:r>
              <a:t>**왜 필요한가.** 파일 없음·키 없음·숫자 변환 실패는 다음 행동이 다릅니다. 이름만 암기하기보다 실패한 작업과 입력을 연결합니다.</a:t>
            </a:r>
          </a:p>
          <a:p xmlns:a="http://schemas.openxmlformats.org/drawingml/2006/main">
            <a:r>
              <a:t/>
            </a:r>
          </a:p>
          <a:p xmlns:a="http://schemas.openxmlformats.org/drawingml/2006/main">
            <a:r>
              <a:t>**함께 보는 예.** FileNotFoundError는 주소, KeyError는 헤더와 키, ValueError는 숫자로 해석하려던 원문을 확인합니다. 근거를 보기 전에 전체 코드를 교체하지 않습니다.</a:t>
            </a:r>
          </a:p>
          <a:p xmlns:a="http://schemas.openxmlformats.org/drawingml/2006/main">
            <a:r>
              <a:t/>
            </a:r>
          </a:p>
          <a:p xmlns:a="http://schemas.openxmlformats.org/drawingml/2006/main">
            <a:r>
              <a:t>**헷갈리는 경우.** float(raw)에서 실패했다고 float 도구 자체가 잘못된 것은 아닐 수 있습니다. 숫자 자리에 ‘뜨거움’이 들어온 입력 문제를 확인해야 합니다.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카드1: source.read_text() / FileNotFoundError / missing.csv</a:t>
            </a:r>
          </a:p>
          <a:p xmlns:a="http://schemas.openxmlformats.org/drawingml/2006/main">
            <a:r>
              <a:t>카드2: row['temperature_c'] / KeyError / temperature_c</a:t>
            </a:r>
          </a:p>
          <a:p xmlns:a="http://schemas.openxmlformats.org/drawingml/2006/main">
            <a:r>
              <a:t>카드3: float('뜨거움') / ValueError / could not convert string to float</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실패 작업·종류·경로 또는 값을 표시합니다.</a:t>
            </a:r>
          </a:p>
          <a:p xmlns:a="http://schemas.openxmlformats.org/drawingml/2006/main">
            <a:r>
              <a:t>2. 사실과 추정 원인을 나눕니다.</a:t>
            </a:r>
          </a:p>
          <a:p xmlns:a="http://schemas.openxmlformats.org/drawingml/2006/main">
            <a:r>
              <a:t>3. 다음 확인 동작을 하나씩 정합니다.</a:t>
            </a:r>
          </a:p>
          <a:p xmlns:a="http://schemas.openxmlformats.org/drawingml/2006/main">
            <a:r>
              <a:t>4. 오류 단서를 보존한 전달 기록을 씁니다.</a:t>
            </a:r>
          </a:p>
          <a:p xmlns:a="http://schemas.openxmlformats.org/drawingml/2006/main">
            <a:r>
              <a:t/>
            </a:r>
          </a:p>
          <a:p xmlns:a="http://schemas.openxmlformats.org/drawingml/2006/main">
            <a:r>
              <a:t>예상 결과: 주소·헤더·원값 확인을 구별합니다.</a:t>
            </a:r>
          </a:p>
          <a:p xmlns:a="http://schemas.openxmlformats.org/drawingml/2006/main">
            <a:r>
              <a:t/>
            </a:r>
          </a:p>
          <a:p xmlns:a="http://schemas.openxmlformats.org/drawingml/2006/main">
            <a:r>
              <a:t>확인 질문: ValueError면 모두 같은 값으로 고쳐도 되나요?</a:t>
            </a:r>
          </a:p>
          <a:p xmlns:a="http://schemas.openxmlformats.org/drawingml/2006/main">
            <a:r>
              <a:t/>
            </a:r>
          </a:p>
          <a:p xmlns:a="http://schemas.openxmlformats.org/drawingml/2006/main">
            <a:r>
              <a:t>막혔을 때: 명령·관련 줄·마지막 오류를 남깁니다. 길다는 이유로 단서를 모두 지우지 않습니다.</a:t>
            </a:r>
          </a:p>
          <a:p xmlns:a="http://schemas.openxmlformats.org/drawingml/2006/main">
            <a:r>
              <a:t/>
            </a:r>
          </a:p>
          <a:p xmlns:a="http://schemas.openxmlformats.org/drawingml/2006/main">
            <a:r>
              <a:t>[활동 자료와 작성칸](practice-guide.md#a11--오류의-위치종류원값)에서 A11를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https://zeusk302-png.github.io/kdigital-physical-ai/#/sessions/2026-10-15/lesson?activity=A11</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code/A12_example.py</a:t>
            </a:r>
          </a:p>
          <a:p xmlns:a="http://schemas.openxmlformats.org/drawingml/2006/main">
            <a:r>
              <a:t>수정한 파일을 실행할 때는 code 대신 work 폴더를 지정합니다. 직접 실행할 수 없으면 입력값부터 코드의 처리 순서를 따라 적고 강사의 결과와 비교합니다.</a:t>
            </a:r>
          </a:p>
          <a:p xmlns:a="http://schemas.openxmlformats.org/drawingml/2006/main">
            <a:r>
              <a:t/>
            </a:r>
          </a:p>
          <a:p xmlns:a="http://schemas.openxmlformats.org/drawingml/2006/main">
            <a:r>
              <a:t>[활동 A12 상세 원문]</a:t>
            </a:r>
          </a:p>
          <a:p xmlns:a="http://schemas.openxmlformats.org/drawingml/2006/main">
            <a:r>
              <a:t>**개념.** try에는 실패할 수 있는 작업을 쓰고 except에는 특정 예외가 났을 때 할 일을 씁니다. 오류를 처리하는 일은 문제를 없던 일로 만드는 것이 아니라 기록과 다음 행동을 정하는 일입니다.</a:t>
            </a:r>
          </a:p>
          <a:p xmlns:a="http://schemas.openxmlformats.org/drawingml/2006/main">
            <a:r>
              <a:t/>
            </a:r>
          </a:p>
          <a:p xmlns:a="http://schemas.openxmlformats.org/drawingml/2006/main">
            <a:r>
              <a:t>**왜 필요한가.** 한 값이 잘못되어도 원문과 이유를 남길 수 있습니다. 다룰 오류 종류를 좁히면 예상하지 못한 문제를 숨기지 않습니다.</a:t>
            </a:r>
          </a:p>
          <a:p xmlns:a="http://schemas.openxmlformats.org/drawingml/2006/main">
            <a:r>
              <a:t/>
            </a:r>
          </a:p>
          <a:p xmlns:a="http://schemas.openxmlformats.org/drawingml/2006/main">
            <a:r>
              <a:t>**함께 보는 예.** ‘뜨거움’을 float로 읽으면 ValueError가 납니다. 그때 원문과 확인 필요 메시지를 출력합니다. 정상값 24.0을 주면 숫자를 출력합니다.</a:t>
            </a:r>
          </a:p>
          <a:p xmlns:a="http://schemas.openxmlformats.org/drawingml/2006/main">
            <a:r>
              <a:t/>
            </a:r>
          </a:p>
          <a:p xmlns:a="http://schemas.openxmlformats.org/drawingml/2006/main">
            <a:r>
              <a:t>**헷갈리는 경우.** except: pass로 모든 오류를 무시하면 어떤 기록이 사라졌는지 모릅니다. 이 코드는 ValueError만 다루며 모든 오류를 복구한다고 설명하지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raw = "뜨거움"</a:t>
            </a:r>
          </a:p>
          <a:p xmlns:a="http://schemas.openxmlformats.org/drawingml/2006/main">
            <a:r>
              <a:t>try:</a:t>
            </a:r>
          </a:p>
          <a:p xmlns:a="http://schemas.openxmlformats.org/drawingml/2006/main">
            <a:r>
              <a:t>    value = float(raw)</a:t>
            </a:r>
          </a:p>
          <a:p xmlns:a="http://schemas.openxmlformats.org/drawingml/2006/main">
            <a:r>
              <a:t>    print(value)</a:t>
            </a:r>
          </a:p>
          <a:p xmlns:a="http://schemas.openxmlformats.org/drawingml/2006/main">
            <a:r>
              <a:t>except ValueError:</a:t>
            </a:r>
          </a:p>
          <a:p xmlns:a="http://schemas.openxmlformats.org/drawingml/2006/main">
            <a:r>
              <a:t>    print("숫자 확인 필요:", raw)</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`raw = "뜨거움"` | 수치로 읽을 원문입니다. |</a:t>
            </a:r>
          </a:p>
          <a:p xmlns:a="http://schemas.openxmlformats.org/drawingml/2006/main">
            <a:r>
              <a:t>| 2 | `try:` | 실패 가능 작업을 시작합니다. |</a:t>
            </a:r>
          </a:p>
          <a:p xmlns:a="http://schemas.openxmlformats.org/drawingml/2006/main">
            <a:r>
              <a:t>| 3 | `    value = float(raw)` | 숫자로 해석합니다. |</a:t>
            </a:r>
          </a:p>
          <a:p xmlns:a="http://schemas.openxmlformats.org/drawingml/2006/main">
            <a:r>
              <a:t>| 4 | `    print(value)` | 성공한 숫자를 출력합니다. |</a:t>
            </a:r>
          </a:p>
          <a:p xmlns:a="http://schemas.openxmlformats.org/drawingml/2006/main">
            <a:r>
              <a:t>| 5 | `except ValueError:` | 변환 오류의 처리 묶음입니다. |</a:t>
            </a:r>
          </a:p>
          <a:p xmlns:a="http://schemas.openxmlformats.org/drawingml/2006/main">
            <a:r>
              <a:t>| 6 | `    print("숫자 확인 필요:", raw)` | 문제 원문을 포함해 메시지를 남깁니다.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code/A12_example.py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work/A12_example.py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숫자 확인 필요: 뜨거움</a:t>
            </a:r>
          </a:p>
          <a:p xmlns:a="http://schemas.openxmlformats.org/drawingml/2006/main">
            <a:r>
              <a:t>```</a:t>
            </a:r>
          </a:p>
          <a:p xmlns:a="http://schemas.openxmlformats.org/drawingml/2006/main">
            <a:r>
              <a:t/>
            </a:r>
          </a:p>
          <a:p xmlns:a="http://schemas.openxmlformats.org/drawingml/2006/main">
            <a:r>
              <a:t>작은 수정: `"뜨거움"`를 `"24.0"`로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24.0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성공과 오류의 실행 줄을 표시합니다.</a:t>
            </a:r>
          </a:p>
          <a:p xmlns:a="http://schemas.openxmlformats.org/drawingml/2006/main">
            <a:r>
              <a:t>2. raw를 24.0으로 바꿔 비교합니다.</a:t>
            </a:r>
          </a:p>
          <a:p xmlns:a="http://schemas.openxmlformats.org/drawingml/2006/main">
            <a:r>
              <a:t>3. 오류 기록과 실제값 확정을 구별합니다.</a:t>
            </a:r>
          </a:p>
          <a:p xmlns:a="http://schemas.openxmlformats.org/drawingml/2006/main">
            <a:r>
              <a:t>4. 원문을 메시지에 남긴 이유를 설명합니다.</a:t>
            </a:r>
          </a:p>
          <a:p xmlns:a="http://schemas.openxmlformats.org/drawingml/2006/main">
            <a:r>
              <a:t/>
            </a:r>
          </a:p>
          <a:p xmlns:a="http://schemas.openxmlformats.org/drawingml/2006/main">
            <a:r>
              <a:t>예상 결과: 오류는 확인 필요, 정상값은 24.0 출력.</a:t>
            </a:r>
          </a:p>
          <a:p xmlns:a="http://schemas.openxmlformats.org/drawingml/2006/main">
            <a:r>
              <a:t/>
            </a:r>
          </a:p>
          <a:p xmlns:a="http://schemas.openxmlformats.org/drawingml/2006/main">
            <a:r>
              <a:t>확인 질문: except를 실행하면 실제 온도를 알아낸 것인가요?</a:t>
            </a:r>
          </a:p>
          <a:p xmlns:a="http://schemas.openxmlformats.org/drawingml/2006/main">
            <a:r>
              <a:t/>
            </a:r>
          </a:p>
          <a:p xmlns:a="http://schemas.openxmlformats.org/drawingml/2006/main">
            <a:r>
              <a:t>막혔을 때: 오류를 숨기려고 except의 범위를 무조건 넓히지 않습니다.</a:t>
            </a:r>
          </a:p>
          <a:p xmlns:a="http://schemas.openxmlformats.org/drawingml/2006/main">
            <a:r>
              <a:t/>
            </a:r>
          </a:p>
          <a:p xmlns:a="http://schemas.openxmlformats.org/drawingml/2006/main">
            <a:r>
              <a:t>[활동 자료와 작성칸](practice-guide.md#a12--try와-except로-예상-오류-기록)에서 A12를 엽니다.</a:t>
            </a:r>
          </a:p>
          <a:p xmlns:a="http://schemas.openxmlformats.org/drawingml/2006/main">
            <a:r>
              <a:t/>
            </a:r>
          </a:p>
          <a:p xmlns:a="http://schemas.openxmlformats.org/drawingml/2006/main">
            <a:r>
              <a:t># 5구간 · 검사 규칙과 재확인</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https://zeusk302-png.github.io/kdigital-physical-ai/#/sessions/2026-10-15/lesson?activity=A12</a:t>
            </a:r>
          </a:p>
          <a:p xmlns:a="http://schemas.openxmlformats.org/drawingml/2006/main">
            <a:r>
              <a:t>공식 자료: https://docs.python.org/3/library/csv.html</a:t>
            </a:r>
          </a:p>
          <a:p xmlns:a="http://schemas.openxmlformats.org/drawingml/2006/main">
            <a:r>
              <a:t/>
            </a:r>
          </a:p>
          <a:p xmlns:a="http://schemas.openxmlformats.org/drawingml/2006/main">
            <a:r>
              <a:t>코드와 개념 해설: ValueError만 잡고 원문 "뜨거움"을 남깁니다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A12 상세 원문]</a:t>
            </a:r>
          </a:p>
          <a:p xmlns:a="http://schemas.openxmlformats.org/drawingml/2006/main">
            <a:r>
              <a:t>**개념.** try에는 실패할 수 있는 작업을 쓰고 except에는 특정 예외가 났을 때 할 일을 씁니다. 오류를 처리하는 일은 문제를 없던 일로 만드는 것이 아니라 기록과 다음 행동을 정하는 일입니다.</a:t>
            </a:r>
          </a:p>
          <a:p xmlns:a="http://schemas.openxmlformats.org/drawingml/2006/main">
            <a:r>
              <a:t/>
            </a:r>
          </a:p>
          <a:p xmlns:a="http://schemas.openxmlformats.org/drawingml/2006/main">
            <a:r>
              <a:t>**왜 필요한가.** 한 값이 잘못되어도 원문과 이유를 남길 수 있습니다. 다룰 오류 종류를 좁히면 예상하지 못한 문제를 숨기지 않습니다.</a:t>
            </a:r>
          </a:p>
          <a:p xmlns:a="http://schemas.openxmlformats.org/drawingml/2006/main">
            <a:r>
              <a:t/>
            </a:r>
          </a:p>
          <a:p xmlns:a="http://schemas.openxmlformats.org/drawingml/2006/main">
            <a:r>
              <a:t>**함께 보는 예.** ‘뜨거움’을 float로 읽으면 ValueError가 납니다. 그때 원문과 확인 필요 메시지를 출력합니다. 정상값 24.0을 주면 숫자를 출력합니다.</a:t>
            </a:r>
          </a:p>
          <a:p xmlns:a="http://schemas.openxmlformats.org/drawingml/2006/main">
            <a:r>
              <a:t/>
            </a:r>
          </a:p>
          <a:p xmlns:a="http://schemas.openxmlformats.org/drawingml/2006/main">
            <a:r>
              <a:t>**헷갈리는 경우.** except: pass로 모든 오류를 무시하면 어떤 기록이 사라졌는지 모릅니다. 이 코드는 ValueError만 다루며 모든 오류를 복구한다고 설명하지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raw = "뜨거움"</a:t>
            </a:r>
          </a:p>
          <a:p xmlns:a="http://schemas.openxmlformats.org/drawingml/2006/main">
            <a:r>
              <a:t>try:</a:t>
            </a:r>
          </a:p>
          <a:p xmlns:a="http://schemas.openxmlformats.org/drawingml/2006/main">
            <a:r>
              <a:t>    value = float(raw)</a:t>
            </a:r>
          </a:p>
          <a:p xmlns:a="http://schemas.openxmlformats.org/drawingml/2006/main">
            <a:r>
              <a:t>    print(value)</a:t>
            </a:r>
          </a:p>
          <a:p xmlns:a="http://schemas.openxmlformats.org/drawingml/2006/main">
            <a:r>
              <a:t>except ValueError:</a:t>
            </a:r>
          </a:p>
          <a:p xmlns:a="http://schemas.openxmlformats.org/drawingml/2006/main">
            <a:r>
              <a:t>    print("숫자 확인 필요:", raw)</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`raw = "뜨거움"` | 수치로 읽을 원문입니다. |</a:t>
            </a:r>
          </a:p>
          <a:p xmlns:a="http://schemas.openxmlformats.org/drawingml/2006/main">
            <a:r>
              <a:t>| 2 | `try:` | 실패 가능 작업을 시작합니다. |</a:t>
            </a:r>
          </a:p>
          <a:p xmlns:a="http://schemas.openxmlformats.org/drawingml/2006/main">
            <a:r>
              <a:t>| 3 | `    value = float(raw)` | 숫자로 해석합니다. |</a:t>
            </a:r>
          </a:p>
          <a:p xmlns:a="http://schemas.openxmlformats.org/drawingml/2006/main">
            <a:r>
              <a:t>| 4 | `    print(value)` | 성공한 숫자를 출력합니다. |</a:t>
            </a:r>
          </a:p>
          <a:p xmlns:a="http://schemas.openxmlformats.org/drawingml/2006/main">
            <a:r>
              <a:t>| 5 | `except ValueError:` | 변환 오류의 처리 묶음입니다. |</a:t>
            </a:r>
          </a:p>
          <a:p xmlns:a="http://schemas.openxmlformats.org/drawingml/2006/main">
            <a:r>
              <a:t>| 6 | `    print("숫자 확인 필요:", raw)` | 문제 원문을 포함해 메시지를 남깁니다.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code/A12_example.py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work/A12_example.py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숫자 확인 필요: 뜨거움</a:t>
            </a:r>
          </a:p>
          <a:p xmlns:a="http://schemas.openxmlformats.org/drawingml/2006/main">
            <a:r>
              <a:t>```</a:t>
            </a:r>
          </a:p>
          <a:p xmlns:a="http://schemas.openxmlformats.org/drawingml/2006/main">
            <a:r>
              <a:t/>
            </a:r>
          </a:p>
          <a:p xmlns:a="http://schemas.openxmlformats.org/drawingml/2006/main">
            <a:r>
              <a:t>작은 수정: `"뜨거움"`를 `"24.0"`로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24.0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성공과 오류의 실행 줄을 표시합니다.</a:t>
            </a:r>
          </a:p>
          <a:p xmlns:a="http://schemas.openxmlformats.org/drawingml/2006/main">
            <a:r>
              <a:t>2. raw를 24.0으로 바꿔 비교합니다.</a:t>
            </a:r>
          </a:p>
          <a:p xmlns:a="http://schemas.openxmlformats.org/drawingml/2006/main">
            <a:r>
              <a:t>3. 오류 기록과 실제값 확정을 구별합니다.</a:t>
            </a:r>
          </a:p>
          <a:p xmlns:a="http://schemas.openxmlformats.org/drawingml/2006/main">
            <a:r>
              <a:t>4. 원문을 메시지에 남긴 이유를 설명합니다.</a:t>
            </a:r>
          </a:p>
          <a:p xmlns:a="http://schemas.openxmlformats.org/drawingml/2006/main">
            <a:r>
              <a:t/>
            </a:r>
          </a:p>
          <a:p xmlns:a="http://schemas.openxmlformats.org/drawingml/2006/main">
            <a:r>
              <a:t>예상 결과: 오류는 확인 필요, 정상값은 24.0 출력.</a:t>
            </a:r>
          </a:p>
          <a:p xmlns:a="http://schemas.openxmlformats.org/drawingml/2006/main">
            <a:r>
              <a:t/>
            </a:r>
          </a:p>
          <a:p xmlns:a="http://schemas.openxmlformats.org/drawingml/2006/main">
            <a:r>
              <a:t>확인 질문: except를 실행하면 실제 온도를 알아낸 것인가요?</a:t>
            </a:r>
          </a:p>
          <a:p xmlns:a="http://schemas.openxmlformats.org/drawingml/2006/main">
            <a:r>
              <a:t/>
            </a:r>
          </a:p>
          <a:p xmlns:a="http://schemas.openxmlformats.org/drawingml/2006/main">
            <a:r>
              <a:t>막혔을 때: 오류를 숨기려고 except의 범위를 무조건 넓히지 않습니다.</a:t>
            </a:r>
          </a:p>
          <a:p xmlns:a="http://schemas.openxmlformats.org/drawingml/2006/main">
            <a:r>
              <a:t/>
            </a:r>
          </a:p>
          <a:p xmlns:a="http://schemas.openxmlformats.org/drawingml/2006/main">
            <a:r>
              <a:t>[활동 자료와 작성칸](practice-guide.md#a12--try와-except로-예상-오류-기록)에서 A12를 엽니다.</a:t>
            </a:r>
          </a:p>
          <a:p xmlns:a="http://schemas.openxmlformats.org/drawingml/2006/main">
            <a:r>
              <a:t/>
            </a:r>
          </a:p>
          <a:p xmlns:a="http://schemas.openxmlformats.org/drawingml/2006/main">
            <a:r>
              <a:t># 5구간 · 검사 규칙과 재확인</a:t>
            </a:r>
          </a:p>
          <a:p xmlns:a="http://schemas.openxmlformats.org/drawingml/2006/main">
            <a:r>
              <a:t/>
            </a:r>
          </a:p>
          <a:p xmlns:a="http://schemas.openxmlformats.org/drawingml/2006/main">
            <a:r>
              <a:t>화면 예의 출처: D:/KDigital_PhysicalAI/.build/copyedited-ppt/spec-2026-10-15.json#slide-57;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https://zeusk302-png.github.io/kdigital-physical-ai/#/sessions/2026-10-15/lesson?activity=A12</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A12 완성 예의 출력입니다. raw를 "24.0"으로 바꾸면 24.0이 표시됩니다. 모든 예외를 무조건 무시하지 않습니다.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수업용 측정 파일에 빈 문자열, “0”, “추움” 세 원문이 있습니다. 검사를 통과시키려고 모두 0으로 바꾸면 세 기록이 실제 0℃로 합쳐집니다. 빈 문자열은 이번 데이터 사전에서 미측정이고, “0”은 측정한 숫자 표현이며, “추움”은 숫자 칸에 온 다른 종류의 내용입니다. 먼저 원문을 보존하고 어떤 갈래에 속하는지 정합니다. 오류 처리는 숨기는 행동이 아니라 분류와 후속 확인을 기록하는 행동입니다.</a:t>
            </a:r>
          </a:p>
          <a:p xmlns:a="http://schemas.openxmlformats.org/drawingml/2006/main">
            <a:r>
              <a:t/>
            </a:r>
          </a:p>
          <a:p xmlns:a="http://schemas.openxmlformats.org/drawingml/2006/main">
            <a:r>
              <a:t>해석 절차의 첫 질문은 원문이 빈 문자열과 정확히 같은지입니다. 같으면 None으로 반환해 미측정을 보존합니다. 아니면 숫자로 변환합니다. “0”은 0.0이 되지만 “추움”은 ValueError가 납니다. 이 예에서는 ValueError를 잡아 장치번호와 원문을 이슈로 남깁니다. 처리할 수 없는 숫자 글자 오류를 잡는 것과 주소 오류까지 무조건 숨기는 것은 다릅니다. except ValueError는 해당 변환·규칙 오류만 맡고 파일이 없다는 오류의 해결은 별도입니다.</a:t>
            </a:r>
          </a:p>
          <a:p xmlns:a="http://schemas.openxmlformats.org/drawingml/2006/main">
            <a:r>
              <a:t/>
            </a:r>
          </a:p>
          <a:p xmlns:a="http://schemas.openxmlformats.org/drawingml/2006/main">
            <a:r>
              <a:t>완성 분류표는 R01/빈 문자열/미측정, R02/“0”/수치 0.0, R03/“추움”/이슈입니다. 수치 평균을 계산한다면 R02만 대상으로 하므로 평균은 0.0입니다. R01을 0으로 채워 평균에 넣으면 대상 수가 늘고 미측정 사실이 사라집니다. R03을 None으로 바꾸면 잘못 적힌 내용이 있었다는 근거가 사라집니다. 오류 원문을 보존한 후 담당자에게 어떤 입력을 의도했는지 묻습니다. 공백 한 칸 “ ”도 빈 문자열과 그대로는 다르며 이 수업의 규칙에는 자동 공백 정리가 없습니다. 새 정리 규칙이 필요하면 먼저 원문과 변경 이유를 기록하고 별도 약속으로 정해야 합니다.</a:t>
            </a:r>
          </a:p>
          <a:p xmlns:a="http://schemas.openxmlformats.org/drawingml/2006/main">
            <a:r>
              <a:t/>
            </a:r>
          </a:p>
          <a:p xmlns:a="http://schemas.openxmlformats.org/drawingml/2006/main">
            <a:r>
              <a:t>화면 예의 출처: D:/KDigital_PhysicalAI/.build/copyedited-ppt/spec-2026-10-15.json#slide-61;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수업용 측정 파일에 빈 문자열, “0”, “추움” 세 원문이 있습니다. 검사를 통과시키려고 모두 0으로 바꾸면 세 기록이 실제 0℃로 합쳐집니다. 빈 문자열은 이번 데이터 사전에서 미측정이고, “0”은 측정한 숫자 표현이며, “추움”은 숫자 칸에 온 다른 종류의 내용입니다. 먼저 원문을 보존하고 어떤 갈래에 속하는지 정합니다. 오류 처리는 숨기는 행동이 아니라 분류와 후속 확인을 기록하는 행동입니다.</a:t>
            </a:r>
          </a:p>
          <a:p xmlns:a="http://schemas.openxmlformats.org/drawingml/2006/main">
            <a:r>
              <a:t/>
            </a:r>
          </a:p>
          <a:p xmlns:a="http://schemas.openxmlformats.org/drawingml/2006/main">
            <a:r>
              <a:t>해석 절차의 첫 질문은 원문이 빈 문자열과 정확히 같은지입니다. 같으면 None으로 반환해 미측정을 보존합니다. 아니면 숫자로 변환합니다. “0”은 0.0이 되지만 “추움”은 ValueError가 납니다. 이 예에서는 ValueError를 잡아 장치번호와 원문을 이슈로 남깁니다. 처리할 수 없는 숫자 글자 오류를 잡는 것과 주소 오류까지 무조건 숨기는 것은 다릅니다. except ValueError는 해당 변환·규칙 오류만 맡고 파일이 없다는 오류의 해결은 별도입니다.</a:t>
            </a:r>
          </a:p>
          <a:p xmlns:a="http://schemas.openxmlformats.org/drawingml/2006/main">
            <a:r>
              <a:t/>
            </a:r>
          </a:p>
          <a:p xmlns:a="http://schemas.openxmlformats.org/drawingml/2006/main">
            <a:r>
              <a:t>완성 분류표는 R01/빈 문자열/미측정, R02/“0”/수치 0.0, R03/“추움”/이슈입니다. 수치 평균을 계산한다면 R02만 대상으로 하므로 평균은 0.0입니다. R01을 0으로 채워 평균에 넣으면 대상 수가 늘고 미측정 사실이 사라집니다. R03을 None으로 바꾸면 잘못 적힌 내용이 있었다는 근거가 사라집니다. 오류 원문을 보존한 후 담당자에게 어떤 입력을 의도했는지 묻습니다. 공백 한 칸 “ ”도 빈 문자열과 그대로는 다르며 이 수업의 규칙에는 자동 공백 정리가 없습니다. 새 정리 규칙이 필요하면 먼저 원문과 변경 이유를 기록하고 별도 약속으로 정해야 합니다.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수량 칸 원문이 빈 문자열, “0”, “여섯”, “ ”입니다. 이 문제의 규칙은 정확한 빈 문자열만 미확인으로 보고, 숫자만 계산 대상으로 정합니다. 네 갈래의 분류와 담당자에게 남길 이슈 원문을 작성하세요.</a:t>
            </a:r>
          </a:p>
          <a:p xmlns:a="http://schemas.openxmlformats.org/drawingml/2006/main">
            <a:r>
              <a:t/>
            </a:r>
          </a:p>
          <a:p xmlns:a="http://schemas.openxmlformats.org/drawingml/2006/main">
            <a:r>
              <a:t>학생이 먼저 답을 적은 뒤 풀이를 보여 줍니다. 이 문제는 필수 활동을 마친 뒤 추가로 사용합니다.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빈 문자열은 미확인, “0”은 수치 0, “여섯”과 공백 한 칸은 현재 규칙으로 숫자로 읽을 수 없는 입력입니다. 두 이슈 원문을 그대로 남깁니다. 공백을 자동 삭제해 미확인으로 합치는 답은 명시되지 않은 정리 규칙을 추가한 것입니다.</a:t>
            </a:r>
          </a:p>
          <a:p xmlns:a="http://schemas.openxmlformats.org/drawingml/2006/main">
            <a:r>
              <a:t/>
            </a:r>
          </a:p>
          <a:p xmlns:a="http://schemas.openxmlformats.org/drawingml/2006/main">
            <a:r>
              <a:t>핵심 질문과 해설:</a:t>
            </a:r>
          </a:p>
          <a:p xmlns:a="http://schemas.openxmlformats.org/drawingml/2006/main">
            <a:r>
              <a:t>미측정도 오류인가요? 규칙에서 허용한 빈값과 잘못된 입력을 구별합니다.</a:t>
            </a:r>
          </a:p>
          <a:p xmlns:a="http://schemas.openxmlformats.org/drawingml/2006/main">
            <a:r>
              <a:t>예외를 잡으면 실제 값을 알게 되나요? 아닙니다. 실패한 입력값을 그대로 남겨 무엇을 더 확인할지 알 수 있습니다.</a:t>
            </a:r>
          </a:p>
          <a:p xmlns:a="http://schemas.openxmlformats.org/drawingml/2006/main">
            <a:r>
              <a:t>0을 평균에서 빼나요? 실제 수치 0은 포함하고 값 없음만 제외합니다.</a:t>
            </a:r>
          </a:p>
          <a:p xmlns:a="http://schemas.openxmlformats.org/drawingml/2006/main">
            <a:r>
              <a:t/>
            </a:r>
          </a:p>
          <a:p xmlns:a="http://schemas.openxmlformats.org/drawingml/2006/main">
            <a:r>
              <a:t>화면 예의 출처: D:/KDigital_PhysicalAI/.build/copyedited-ppt/spec-2026-10-15.json#slide-62;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A12 상세 원문]</a:t>
            </a:r>
          </a:p>
          <a:p xmlns:a="http://schemas.openxmlformats.org/drawingml/2006/main">
            <a:r>
              <a:t>**개념.** try에는 실패할 수 있는 작업을 쓰고 except에는 특정 예외가 났을 때 할 일을 씁니다. 오류를 처리하는 일은 문제를 없던 일로 만드는 것이 아니라 기록과 다음 행동을 정하는 일입니다.</a:t>
            </a:r>
          </a:p>
          <a:p xmlns:a="http://schemas.openxmlformats.org/drawingml/2006/main">
            <a:r>
              <a:t/>
            </a:r>
          </a:p>
          <a:p xmlns:a="http://schemas.openxmlformats.org/drawingml/2006/main">
            <a:r>
              <a:t>**왜 필요한가.** 한 값이 잘못되어도 원문과 이유를 남길 수 있습니다. 다룰 오류 종류를 좁히면 예상하지 못한 문제를 숨기지 않습니다.</a:t>
            </a:r>
          </a:p>
          <a:p xmlns:a="http://schemas.openxmlformats.org/drawingml/2006/main">
            <a:r>
              <a:t/>
            </a:r>
          </a:p>
          <a:p xmlns:a="http://schemas.openxmlformats.org/drawingml/2006/main">
            <a:r>
              <a:t>**함께 보는 예.** ‘뜨거움’을 float로 읽으면 ValueError가 납니다. 그때 원문과 확인 필요 메시지를 출력합니다. 정상값 24.0을 주면 숫자를 출력합니다.</a:t>
            </a:r>
          </a:p>
          <a:p xmlns:a="http://schemas.openxmlformats.org/drawingml/2006/main">
            <a:r>
              <a:t/>
            </a:r>
          </a:p>
          <a:p xmlns:a="http://schemas.openxmlformats.org/drawingml/2006/main">
            <a:r>
              <a:t>**헷갈리는 경우.** except: pass로 모든 오류를 무시하면 어떤 기록이 사라졌는지 모릅니다. 이 코드는 ValueError만 다루며 모든 오류를 복구한다고 설명하지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raw = "뜨거움"</a:t>
            </a:r>
          </a:p>
          <a:p xmlns:a="http://schemas.openxmlformats.org/drawingml/2006/main">
            <a:r>
              <a:t>try:</a:t>
            </a:r>
          </a:p>
          <a:p xmlns:a="http://schemas.openxmlformats.org/drawingml/2006/main">
            <a:r>
              <a:t>    value = float(raw)</a:t>
            </a:r>
          </a:p>
          <a:p xmlns:a="http://schemas.openxmlformats.org/drawingml/2006/main">
            <a:r>
              <a:t>    print(value)</a:t>
            </a:r>
          </a:p>
          <a:p xmlns:a="http://schemas.openxmlformats.org/drawingml/2006/main">
            <a:r>
              <a:t>except ValueError:</a:t>
            </a:r>
          </a:p>
          <a:p xmlns:a="http://schemas.openxmlformats.org/drawingml/2006/main">
            <a:r>
              <a:t>    print("숫자 확인 필요:", raw)</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`raw = "뜨거움"` | 수치로 읽을 원문입니다. |</a:t>
            </a:r>
          </a:p>
          <a:p xmlns:a="http://schemas.openxmlformats.org/drawingml/2006/main">
            <a:r>
              <a:t>| 2 | `try:` | 실패 가능 작업을 시작합니다. |</a:t>
            </a:r>
          </a:p>
          <a:p xmlns:a="http://schemas.openxmlformats.org/drawingml/2006/main">
            <a:r>
              <a:t>| 3 | `    value = float(raw)` | 숫자로 해석합니다. |</a:t>
            </a:r>
          </a:p>
          <a:p xmlns:a="http://schemas.openxmlformats.org/drawingml/2006/main">
            <a:r>
              <a:t>| 4 | `    print(value)` | 성공한 숫자를 출력합니다. |</a:t>
            </a:r>
          </a:p>
          <a:p xmlns:a="http://schemas.openxmlformats.org/drawingml/2006/main">
            <a:r>
              <a:t>| 5 | `except ValueError:` | 변환 오류의 처리 묶음입니다. |</a:t>
            </a:r>
          </a:p>
          <a:p xmlns:a="http://schemas.openxmlformats.org/drawingml/2006/main">
            <a:r>
              <a:t>| 6 | `    print("숫자 확인 필요:", raw)` | 문제 원문을 포함해 메시지를 남깁니다.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code/A12_example.py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work/A12_example.py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숫자 확인 필요: 뜨거움</a:t>
            </a:r>
          </a:p>
          <a:p xmlns:a="http://schemas.openxmlformats.org/drawingml/2006/main">
            <a:r>
              <a:t>```</a:t>
            </a:r>
          </a:p>
          <a:p xmlns:a="http://schemas.openxmlformats.org/drawingml/2006/main">
            <a:r>
              <a:t/>
            </a:r>
          </a:p>
          <a:p xmlns:a="http://schemas.openxmlformats.org/drawingml/2006/main">
            <a:r>
              <a:t>작은 수정: `"뜨거움"`를 `"24.0"`로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24.0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성공과 오류의 실행 줄을 표시합니다.</a:t>
            </a:r>
          </a:p>
          <a:p xmlns:a="http://schemas.openxmlformats.org/drawingml/2006/main">
            <a:r>
              <a:t>2. raw를 24.0으로 바꿔 비교합니다.</a:t>
            </a:r>
          </a:p>
          <a:p xmlns:a="http://schemas.openxmlformats.org/drawingml/2006/main">
            <a:r>
              <a:t>3. 오류 기록과 실제값 확정을 구별합니다.</a:t>
            </a:r>
          </a:p>
          <a:p xmlns:a="http://schemas.openxmlformats.org/drawingml/2006/main">
            <a:r>
              <a:t>4. 원문을 메시지에 남긴 이유를 설명합니다.</a:t>
            </a:r>
          </a:p>
          <a:p xmlns:a="http://schemas.openxmlformats.org/drawingml/2006/main">
            <a:r>
              <a:t/>
            </a:r>
          </a:p>
          <a:p xmlns:a="http://schemas.openxmlformats.org/drawingml/2006/main">
            <a:r>
              <a:t>예상 결과: 오류는 확인 필요, 정상값은 24.0 출력.</a:t>
            </a:r>
          </a:p>
          <a:p xmlns:a="http://schemas.openxmlformats.org/drawingml/2006/main">
            <a:r>
              <a:t/>
            </a:r>
          </a:p>
          <a:p xmlns:a="http://schemas.openxmlformats.org/drawingml/2006/main">
            <a:r>
              <a:t>확인 질문: except를 실행하면 실제 온도를 알아낸 것인가요?</a:t>
            </a:r>
          </a:p>
          <a:p xmlns:a="http://schemas.openxmlformats.org/drawingml/2006/main">
            <a:r>
              <a:t/>
            </a:r>
          </a:p>
          <a:p xmlns:a="http://schemas.openxmlformats.org/drawingml/2006/main">
            <a:r>
              <a:t>막혔을 때: 오류를 숨기려고 except의 범위를 무조건 넓히지 않습니다.</a:t>
            </a:r>
          </a:p>
          <a:p xmlns:a="http://schemas.openxmlformats.org/drawingml/2006/main">
            <a:r>
              <a:t/>
            </a:r>
          </a:p>
          <a:p xmlns:a="http://schemas.openxmlformats.org/drawingml/2006/main">
            <a:r>
              <a:t>[활동 자료와 작성칸](practice-guide.md#a12--try와-except로-예상-오류-기록)에서 A12를 엽니다.</a:t>
            </a:r>
          </a:p>
          <a:p xmlns:a="http://schemas.openxmlformats.org/drawingml/2006/main">
            <a:r>
              <a:t/>
            </a:r>
          </a:p>
          <a:p xmlns:a="http://schemas.openxmlformats.org/drawingml/2006/main">
            <a:r>
              <a:t># 5구간 · 검사 규칙과 재확인</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https://zeusk302-png.github.io/kdigital-physical-ai/#/sessions/2026-10-15/lesson?activity=A12</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미측정과 잘못된 입력을 합치지 않습니다.</a:t>
            </a:r>
          </a:p>
          <a:p xmlns:a="http://schemas.openxmlformats.org/drawingml/2006/main">
            <a:r>
              <a:t>예외 처리가 실제값을 복구하지는 않습니다.</a:t>
            </a:r>
          </a:p>
          <a:p xmlns:a="http://schemas.openxmlformats.org/drawingml/2006/main">
            <a:r>
              <a:t>공백 정리는 별도 규칙으로 정해야 합니다.</a:t>
            </a:r>
          </a:p>
          <a:p xmlns:a="http://schemas.openxmlformats.org/drawingml/2006/main">
            <a:r>
              <a:t/>
            </a:r>
          </a:p>
          <a:p xmlns:a="http://schemas.openxmlformats.org/drawingml/2006/main">
            <a:r>
              <a:t>관련 교시의 상세 원문:</a:t>
            </a:r>
          </a:p>
          <a:p xmlns:a="http://schemas.openxmlformats.org/drawingml/2006/main">
            <a:r>
              <a:t>### 사례로 이해하기 · 미측정·잘못된 글자·실제 0의 세 갈래</a:t>
            </a:r>
          </a:p>
          <a:p xmlns:a="http://schemas.openxmlformats.org/drawingml/2006/main">
            <a:r>
              <a:t/>
            </a:r>
          </a:p>
          <a:p xmlns:a="http://schemas.openxmlformats.org/drawingml/2006/main">
            <a:r>
              <a:t/>
            </a:r>
          </a:p>
          <a:p xmlns:a="http://schemas.openxmlformats.org/drawingml/2006/main">
            <a:r>
              <a:t/>
            </a:r>
          </a:p>
          <a:p xmlns:a="http://schemas.openxmlformats.org/drawingml/2006/main">
            <a:r>
              <a:t>수업용 측정 파일에 빈 문자열, “0”, “추움” 세 원문이 있습니다. 검사를 통과시키려고 모두 0으로 바꾸면 세 기록이 실제 0℃로 합쳐집니다. 빈 문자열은 이번 데이터 사전에서 미측정이고, “0”은 측정한 숫자 표현이며, “추움”은 숫자 칸에 온 다른 종류의 내용입니다. 먼저 원문을 보존하고 어떤 갈래에 속하는지 정합니다. 오류 처리는 숨기는 행동이 아니라 분류와 후속 확인을 기록하는 행동입니다.</a:t>
            </a:r>
          </a:p>
          <a:p xmlns:a="http://schemas.openxmlformats.org/drawingml/2006/main">
            <a:r>
              <a:t/>
            </a:r>
          </a:p>
          <a:p xmlns:a="http://schemas.openxmlformats.org/drawingml/2006/main">
            <a:r>
              <a:t>해석 절차의 첫 질문은 원문이 빈 문자열과 정확히 같은지입니다. 같으면 None으로 반환해 미측정을 보존합니다. 아니면 숫자로 변환합니다. “0”은 0.0이 되지만 “추움”은 ValueError가 납니다. 이 예에서는 ValueError를 잡아 장치번호와 원문을 이슈로 남깁니다. 처리할 수 없는 숫자 글자 오류를 잡는 것과 주소 오류까지 무조건 숨기는 것은 다릅니다. except ValueError는 해당 변환·규칙 오류만 맡고 파일이 없다는 오류의 해결은 별도입니다.</a:t>
            </a:r>
          </a:p>
          <a:p xmlns:a="http://schemas.openxmlformats.org/drawingml/2006/main">
            <a:r>
              <a:t/>
            </a:r>
          </a:p>
          <a:p xmlns:a="http://schemas.openxmlformats.org/drawingml/2006/main">
            <a:r>
              <a:t>완성 분류표는 R01/빈 문자열/미측정, R02/“0”/수치 0.0, R03/“추움”/이슈입니다. 수치 평균을 계산한다면 R02만 대상으로 하므로 평균은 0.0입니다. R01을 0으로 채워 평균에 넣으면 대상 수가 늘고 미측정 사실이 사라집니다. R03을 None으로 바꾸면 잘못 적힌 내용이 있었다는 근거가 사라집니다. 오류 원문을 보존한 후 담당자에게 어떤 입력을 의도했는지 묻습니다. 공백 한 칸 “ ”도 빈 문자열과 그대로는 다르며 이 수업의 규칙에는 자동 공백 정리가 없습니다. 새 정리 규칙이 필요하면 먼저 원문과 변경 이유를 기록하고 별도 약속으로 정해야 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수량 칸 원문이 빈 문자열, “0”, “여섯”, “ ”입니다. 이 문제의 규칙은 정확한 빈 문자열만 미확인으로 보고, 숫자만 계산 대상으로 정합니다. 네 갈래의 분류와 담당자에게 남길 이슈 원문을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빈 문자열은 미확인, “0”은 수치 0, “여섯”과 공백 한 칸은 현재 규칙으로 숫자로 읽을 수 없는 입력입니다. 두 이슈 원문을 그대로 남깁니다. 공백을 자동 삭제해 미확인으로 합치는 답은 명시되지 않은 정리 규칙을 추가한 것입니다.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**미측정도 오류인가요?** 규칙에서 허용한 빈값과 잘못된 입력을 구별합니다.</a:t>
            </a:r>
          </a:p>
          <a:p xmlns:a="http://schemas.openxmlformats.org/drawingml/2006/main">
            <a:r>
              <a:t/>
            </a:r>
          </a:p>
          <a:p xmlns:a="http://schemas.openxmlformats.org/drawingml/2006/main">
            <a:r>
              <a:t>2. **예외를 잡으면 실제 값을 알게 되나요?** 아닙니다. 실패한 입력값을 그대로 남겨 무엇을 더 확인할지 알 수 있습니다.</a:t>
            </a:r>
          </a:p>
          <a:p xmlns:a="http://schemas.openxmlformats.org/drawingml/2006/main">
            <a:r>
              <a:t/>
            </a:r>
          </a:p>
          <a:p xmlns:a="http://schemas.openxmlformats.org/drawingml/2006/main">
            <a:r>
              <a:t>3. **0을 평균에서 빼나요?** 실제 수치 0은 포함하고 값 없음만 제외합니다.</a:t>
            </a:r>
          </a:p>
          <a:p xmlns:a="http://schemas.openxmlformats.org/drawingml/2006/main">
            <a:r>
              <a:t/>
            </a:r>
          </a:p>
          <a:p xmlns:a="http://schemas.openxmlformats.org/drawingml/2006/main">
            <a:r>
              <a:t/>
            </a:r>
          </a:p>
          <a:p xmlns:a="http://schemas.openxmlformats.org/drawingml/2006/main">
            <a:r>
              <a:t>**개념.** 빈값 규칙과 숫자 변환은 다른 단계입니다. 이 자료의 빈 온도는 미측정이므로 None으로 보존하고 숫자가 아닌 글자는 잘못된 입력으로 알립니다.</a:t>
            </a:r>
          </a:p>
          <a:p xmlns:a="http://schemas.openxmlformats.org/drawingml/2006/main">
            <a:r>
              <a:t/>
            </a:r>
          </a:p>
          <a:p xmlns:a="http://schemas.openxmlformats.org/drawingml/2006/main">
            <a:r>
              <a:t>**왜 필요한가.** 모든 변환 실패를 None으로 바꾸면 누락과 잘못된 기록을 구별하지 못합니다. 원문과 실패 이유를 남겨야 확인 요청을 할 수 있습니다.</a:t>
            </a:r>
          </a:p>
          <a:p xmlns:a="http://schemas.openxmlformats.org/drawingml/2006/main">
            <a:r>
              <a:t/>
            </a:r>
          </a:p>
          <a:p xmlns:a="http://schemas.openxmlformats.org/drawingml/2006/main">
            <a:r>
              <a:t>**함께 보는 예.** 빈 문자열은 None, "0.0"은 숫자 0.0, "뜨거움"은 ValueError입니다. 먼저 빈 문자열인지 확인하고 나머지에 숫자 변환을 적용합니다.</a:t>
            </a:r>
          </a:p>
          <a:p xmlns:a="http://schemas.openxmlformats.org/drawingml/2006/main">
            <a:r>
              <a:t/>
            </a:r>
          </a:p>
          <a:p xmlns:a="http://schemas.openxmlformats.org/drawingml/2006/main">
            <a:r>
              <a:t>**헷갈리는 경우.** 빈 문자열을 0으로 대신 채우면 미측정을 실제 0℃로 바꿉니다. 계산을 편하게 하려고 확인되지 않은 값을 보충하지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parse_temperature(raw):</a:t>
            </a:r>
          </a:p>
          <a:p xmlns:a="http://schemas.openxmlformats.org/drawingml/2006/main">
            <a:r>
              <a:t>    if raw == "":</a:t>
            </a:r>
          </a:p>
          <a:p xmlns:a="http://schemas.openxmlformats.org/drawingml/2006/main">
            <a:r>
              <a:t>        return None</a:t>
            </a:r>
          </a:p>
          <a:p xmlns:a="http://schemas.openxmlformats.org/drawingml/2006/main">
            <a:r>
              <a:t>    return float(raw)</a:t>
            </a:r>
          </a:p>
          <a:p xmlns:a="http://schemas.openxmlformats.org/drawingml/2006/main">
            <a:r>
              <a:t>print(parse_temperature("22.5"))</a:t>
            </a:r>
          </a:p>
          <a:p xmlns:a="http://schemas.openxmlformats.org/drawingml/2006/main">
            <a:r>
              <a:t>print(parse_temperature(""))</a:t>
            </a:r>
          </a:p>
          <a:p xmlns:a="http://schemas.openxmlformats.org/drawingml/2006/main">
            <a:r>
              <a:t>print(parse_temperature("0.0"))</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parse_temperature(raw):` | 원문 온도를 해석하는 함수를 정의합니다. |</a:t>
            </a:r>
          </a:p>
          <a:p xmlns:a="http://schemas.openxmlformats.org/drawingml/2006/main">
            <a:r>
              <a:t>| 2 | `    if raw == "":` | 빈 문자열 여부를 확인합니다. |</a:t>
            </a:r>
          </a:p>
          <a:p xmlns:a="http://schemas.openxmlformats.org/drawingml/2006/main">
            <a:r>
              <a:t>| 3 | `        return None` | 계약에 따라 None을 반환합니다. |</a:t>
            </a:r>
          </a:p>
          <a:p xmlns:a="http://schemas.openxmlformats.org/drawingml/2006/main">
            <a:r>
              <a:t>| 4 | `    return float(raw)` | 나머지를 숫자로 변환합니다. |</a:t>
            </a:r>
          </a:p>
          <a:p xmlns:a="http://schemas.openxmlformats.org/drawingml/2006/main">
            <a:r>
              <a:t>| 5 | `print(parse_temperature("22.5"))` | 일반 숫자를 확인합니다. |</a:t>
            </a:r>
          </a:p>
          <a:p xmlns:a="http://schemas.openxmlformats.org/drawingml/2006/main">
            <a:r>
              <a:t>| 6 | `print(parse_temperature(""))` | 미측정을 확인합니다. |</a:t>
            </a:r>
          </a:p>
          <a:p xmlns:a="http://schemas.openxmlformats.org/drawingml/2006/main">
            <a:r>
              <a:t>| 7 | `print(parse_temperature("0.0"))` | 실제 0을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code/A10_example.py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work/A10_example.py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22.5</a:t>
            </a:r>
          </a:p>
          <a:p xmlns:a="http://schemas.openxmlformats.org/drawingml/2006/main">
            <a:r>
              <a:t>None</a:t>
            </a:r>
          </a:p>
          <a:p xmlns:a="http://schemas.openxmlformats.org/drawingml/2006/main">
            <a:r>
              <a:t>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원문·반환값·업무 의미를 표로 적습니다.</a:t>
            </a:r>
          </a:p>
          <a:p xmlns:a="http://schemas.openxmlformats.org/drawingml/2006/main">
            <a:r>
              <a:t>2. 뜨거움과 빈칸의 차이를 설명합니다.</a:t>
            </a:r>
          </a:p>
          <a:p xmlns:a="http://schemas.openxmlformats.org/drawingml/2006/main">
            <a:r>
              <a:t>3. 오류 원문과 종류를 기록합니다.</a:t>
            </a:r>
          </a:p>
          <a:p xmlns:a="http://schemas.openxmlformats.org/drawingml/2006/main">
            <a:r>
              <a:t>4. 실제값이 미확인일 때 남길 질문을 씁니다.</a:t>
            </a:r>
          </a:p>
          <a:p xmlns:a="http://schemas.openxmlformats.org/drawingml/2006/main">
            <a:r>
              <a:t/>
            </a:r>
          </a:p>
          <a:p xmlns:a="http://schemas.openxmlformats.org/drawingml/2006/main">
            <a:r>
              <a:t>예상 결과: 22.5/None/0.0을 구별하며 글자는 ValueError.</a:t>
            </a:r>
          </a:p>
          <a:p xmlns:a="http://schemas.openxmlformats.org/drawingml/2006/main">
            <a:r>
              <a:t/>
            </a:r>
          </a:p>
          <a:p xmlns:a="http://schemas.openxmlformats.org/drawingml/2006/main">
            <a:r>
              <a:t>확인 질문: 잘못된 숫자를 미측정으로 바꾸면 무엇을 잃나요?</a:t>
            </a:r>
          </a:p>
          <a:p xmlns:a="http://schemas.openxmlformats.org/drawingml/2006/main">
            <a:r>
              <a:t/>
            </a:r>
          </a:p>
          <a:p xmlns:a="http://schemas.openxmlformats.org/drawingml/2006/main">
            <a:r>
              <a:t>막혔을 때: None과 문자열 "None"은 다릅니다. 후자는 숫자로 읽으면 실패합니다.</a:t>
            </a:r>
          </a:p>
          <a:p xmlns:a="http://schemas.openxmlformats.org/drawingml/2006/main">
            <a:r>
              <a:t/>
            </a:r>
          </a:p>
          <a:p xmlns:a="http://schemas.openxmlformats.org/drawingml/2006/main">
            <a:r>
              <a:t>[활동 자료와 작성칸](practice-guide.md#a10--미측정과-잘못된-숫자의-구별)에서 A10를 엽니다.</a:t>
            </a:r>
          </a:p>
          <a:p xmlns:a="http://schemas.openxmlformats.org/drawingml/2006/main">
            <a:r>
              <a:t/>
            </a:r>
          </a:p>
          <a:p xmlns:a="http://schemas.openxmlformats.org/drawingml/2006/main">
            <a:r>
              <a:t>화면 예의 출처: D:/KDigital_PhysicalAI/.build/copyedited-ppt/spec-2026-10-15.json#slide-61;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강사가 먼저 예를 보여 준 뒤 학생과 함께 확인합니다. 학생이 직접 해 본 결과를 예상과 비교하고, 달라진 이유를 설명하게 합니다.</a:t>
            </a:r>
          </a:p>
          <a:p xmlns:a="http://schemas.openxmlformats.org/drawingml/2006/main">
            <a:r>
              <a:t/>
            </a:r>
          </a:p>
          <a:p xmlns:a="http://schemas.openxmlformats.org/drawingml/2006/main">
            <a:r>
              <a:t>[활동 A13 상세 원문]</a:t>
            </a:r>
          </a:p>
          <a:p xmlns:a="http://schemas.openxmlformats.org/drawingml/2006/main">
            <a:r>
              <a:t>### 사례로 이해하기 · 허용 범위의 바깥과 경계를 검사하기</a:t>
            </a:r>
          </a:p>
          <a:p xmlns:a="http://schemas.openxmlformats.org/drawingml/2006/main">
            <a:r>
              <a:t/>
            </a:r>
          </a:p>
          <a:p xmlns:a="http://schemas.openxmlformats.org/drawingml/2006/main">
            <a:r>
              <a:t/>
            </a:r>
          </a:p>
          <a:p xmlns:a="http://schemas.openxmlformats.org/drawingml/2006/main">
            <a:r>
              <a:t/>
            </a:r>
          </a:p>
          <a:p xmlns:a="http://schemas.openxmlformats.org/drawingml/2006/main">
            <a:r>
              <a:t>접수 시스템은 물품 수량을 0개부터 20개까지 받습니다. 21은 숫자로 바꿀 수 있지만 정해 둔 수량 범위에는 맞지 않습니다. 숫자로 바꿀 수 있는지와 허용 범위 안인지는 따로 검사합니다. 먼저 “스물”은 숫자 표현이 아니라 변환에서 멈추고, 21은 숫자로 읽힌 뒤 범위에서 멈춥니다. 0은 실제 수량이 없다는 뜻이며 이번 규칙에서는 허용합니다. 같은 ValueError라는 결과가 나올 수 있어도 어떤 규칙과 원문 때문에 실패했는지 기록합니다.</a:t>
            </a:r>
          </a:p>
          <a:p xmlns:a="http://schemas.openxmlformats.org/drawingml/2006/main">
            <a:r>
              <a:t/>
            </a:r>
          </a:p>
          <a:p xmlns:a="http://schemas.openxmlformats.org/drawingml/2006/main">
            <a:r>
              <a:t>0≤수량≤20을 수직선으로 그리면 두 끝점이 포함됩니다. 바깥은 ‘0보다 작음 또는 20보다 큼’입니다. or는 둘 중 하나라도 참이면 참이고 and는 둘 다 참이어야 참입니다. 완성 검수표는 -1 거부, 0 허용, 10 허용, 20 허용, 21 거부입니다. 경계 0과 20을 보지 않으면 &lt;와 &lt;=를 바꾼 실수를 놓칠 수 있습니다. ‘0보다 작고 동시에 20보다 큼’이라는 and 조건은 한 숫자에 성립하지 않아 범위 밖을 놓칩니다.</a:t>
            </a:r>
          </a:p>
          <a:p xmlns:a="http://schemas.openxmlformats.org/drawingml/2006/main">
            <a:r>
              <a:t/>
            </a:r>
          </a:p>
          <a:p xmlns:a="http://schemas.openxmlformats.org/drawingml/2006/main">
            <a:r>
              <a:t>20이 재고 한도인지 주문 수량 한도인지도 규칙에 적어야 합니다. 같은 숫자 20을 모든 업무의 기준으로 재사용하지 않습니다. 21을 자동으로 20으로 잘라 저장하면 검사 대신 원자료 변경을 수행한 것입니다. 담당자의 확인 없이 실제 수량을 고치지 않고 거부 사유와 원문을 남깁니다. 수정 검증은 실패 입력 한 건만 다시 보는 것이 아닙니다. 기준 비교를 바꿨다면 정상·양쪽 경계·양쪽 바깥의 다섯 사례를 다시 봅니다. 통과한 사례 수와 검사하지 않은 종류를 구별해서 보고합니다. 이 예제는 정수 개수를 받습니다. 1.5개 같은 값을 허용할지는 따로 정해야 합니다. 범위 통과만으로 정수 조건이나 실물 재고의 정확성이 증명되지는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수업용 배터리 기록의 허용 충전율은 0~100%입니다. -0.1, 0, 50, 100, 100.1의 기대 결과와 바깥을 찾는 논리 문장을 쓰세요. 100.1을 100으로 자동 변경해도 되는지 근거를 설명하세요.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양 끝 -0.1·100.1은 거부, 0·50·100은 허용입니다. ‘0 미만 또는 100 초과’가 바깥입니다. 자동 변경은 원문을 바꾸므로 현재 검사 규칙에서는 허용하지 않습니다. and로 쓰면 두 바깥 조건을 동시에 만족하는 값이 없어 오류를 놓칩니다.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**변환 성공이 허용 성공인가요?** 숫자 표현과 업무 범위·정수 조건은 별도 검사입니다.</a:t>
            </a:r>
          </a:p>
          <a:p xmlns:a="http://schemas.openxmlformats.org/drawingml/2006/main">
            <a:r>
              <a:t/>
            </a:r>
          </a:p>
          <a:p xmlns:a="http://schemas.openxmlformats.org/drawingml/2006/main">
            <a:r>
              <a:t>2. **범위 밖에 왜 or를 쓰나요?** 아래쪽이나 위쪽 중 하나만 벗어나도 거부해야 하기 때문입니다.</a:t>
            </a:r>
          </a:p>
          <a:p xmlns:a="http://schemas.openxmlformats.org/drawingml/2006/main">
            <a:r>
              <a:t/>
            </a:r>
          </a:p>
          <a:p xmlns:a="http://schemas.openxmlformats.org/drawingml/2006/main">
            <a:r>
              <a:t>3. **통과가 실제 정확성을 뜻하나요?** 입력 규칙에 맞았다는 뜻이며 실제 측정·기록 정확성은 따로 확인합니다.</a:t>
            </a:r>
          </a:p>
          <a:p xmlns:a="http://schemas.openxmlformats.org/drawingml/2006/main">
            <a:r>
              <a:t/>
            </a:r>
          </a:p>
          <a:p xmlns:a="http://schemas.openxmlformats.org/drawingml/2006/main">
            <a:r>
              <a:t/>
            </a:r>
          </a:p>
          <a:p xmlns:a="http://schemas.openxmlformats.org/drawingml/2006/main">
            <a:r>
              <a:t>**개념.** 숫자로 변환할 수 있다는 것과 허용 범위 안에 있다는 것은 다른 검사입니다. 값이 0~50인지 확인하고 벗어나면 이유를 예외로 알립니다.</a:t>
            </a:r>
          </a:p>
          <a:p xmlns:a="http://schemas.openxmlformats.org/drawingml/2006/main">
            <a:r>
              <a:t/>
            </a:r>
          </a:p>
          <a:p xmlns:a="http://schemas.openxmlformats.org/drawingml/2006/main">
            <a:r>
              <a:t>**왜 필요한가.** 51.0은 숫자이므로 float는 성공하지만 실습 입력 규칙에는 맞지 않습니다. 변환과 규칙 검사를 분리하여 읽어야 합니다.</a:t>
            </a:r>
          </a:p>
          <a:p xmlns:a="http://schemas.openxmlformats.org/drawingml/2006/main">
            <a:r>
              <a:t/>
            </a:r>
          </a:p>
          <a:p xmlns:a="http://schemas.openxmlformats.org/drawingml/2006/main">
            <a:r>
              <a:t>**함께 보는 예.** 23.5는 반환하고 51.0은 범위 확인 필요를 알립니다.0과 50은 허용 경계입니다. 이 범위는 실습의 입력 약속이며 실제 장비 안전 기준이 아닙니다.</a:t>
            </a:r>
          </a:p>
          <a:p xmlns:a="http://schemas.openxmlformats.org/drawingml/2006/main">
            <a:r>
              <a:t/>
            </a:r>
          </a:p>
          <a:p xmlns:a="http://schemas.openxmlformats.org/drawingml/2006/main">
            <a:r>
              <a:t>**헷갈리는 경우.** 51.0을 자동으로 50으로 자르면 원자료를 바꿉니다. 실제값을 모르면 원문을 보존하고 확인 요청을 남깁니다.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checked_temperature(raw):</a:t>
            </a:r>
          </a:p>
          <a:p xmlns:a="http://schemas.openxmlformats.org/drawingml/2006/main">
            <a:r>
              <a:t>    value = float(raw)</a:t>
            </a:r>
          </a:p>
          <a:p xmlns:a="http://schemas.openxmlformats.org/drawingml/2006/main">
            <a:r>
              <a:t>    if value &lt; 0 or value &gt; 50:</a:t>
            </a:r>
          </a:p>
          <a:p xmlns:a="http://schemas.openxmlformats.org/drawingml/2006/main">
            <a:r>
              <a:t>        raise ValueError("범위 확인 필요")</a:t>
            </a:r>
          </a:p>
          <a:p xmlns:a="http://schemas.openxmlformats.org/drawingml/2006/main">
            <a:r>
              <a:t>    return value</a:t>
            </a:r>
          </a:p>
          <a:p xmlns:a="http://schemas.openxmlformats.org/drawingml/2006/main">
            <a:r>
              <a:t>print(checked_temperature("23.5"))</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checked_temperature(raw):` | 수치 원문을 검사하는 함수를 정의합니다. |</a:t>
            </a:r>
          </a:p>
          <a:p xmlns:a="http://schemas.openxmlformats.org/drawingml/2006/main">
            <a:r>
              <a:t>| 2 | `    value = float(raw)` | 숫자로 해석합니다. |</a:t>
            </a:r>
          </a:p>
          <a:p xmlns:a="http://schemas.openxmlformats.org/drawingml/2006/main">
            <a:r>
              <a:t>| 3 | `    if value &lt; 0 or value &gt; 50:` | 아래 또는 위 경계를 벗어나는지 묻습니다. |</a:t>
            </a:r>
          </a:p>
          <a:p xmlns:a="http://schemas.openxmlformats.org/drawingml/2006/main">
            <a:r>
              <a:t>| 4 | `        raise ValueError("범위 확인 필요")` | 범위 문제를 예외로 알립니다. |</a:t>
            </a:r>
          </a:p>
          <a:p xmlns:a="http://schemas.openxmlformats.org/drawingml/2006/main">
            <a:r>
              <a:t>| 5 | `    return value` | 허용 숫자를 반환합니다. |</a:t>
            </a:r>
          </a:p>
          <a:p xmlns:a="http://schemas.openxmlformats.org/drawingml/2006/main">
            <a:r>
              <a:t>| 6 | `print(checked_temperature("23.5"))` | 정상 입력으로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23.5</a:t>
            </a:r>
          </a:p>
          <a:p xmlns:a="http://schemas.openxmlformats.org/drawingml/2006/main">
            <a:r>
              <a:t>```</a:t>
            </a:r>
          </a:p>
          <a:p xmlns:a="http://schemas.openxmlformats.org/drawingml/2006/main">
            <a:r>
              <a:t/>
            </a:r>
          </a:p>
          <a:p xmlns:a="http://schemas.openxmlformats.org/drawingml/2006/main">
            <a:r>
              <a:t>작은 수정: `"23.5"`를 `"50"`로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50.0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변환과 범위 검사를 표시합니다.</a:t>
            </a:r>
          </a:p>
          <a:p xmlns:a="http://schemas.openxmlformats.org/drawingml/2006/main">
            <a:r>
              <a:t>2. 0·50·51.0의 기대 결과를 씁니다.</a:t>
            </a:r>
          </a:p>
          <a:p xmlns:a="http://schemas.openxmlformats.org/drawingml/2006/main">
            <a:r>
              <a:t>3. 경계와 오류 입력을 비교합니다.</a:t>
            </a:r>
          </a:p>
          <a:p xmlns:a="http://schemas.openxmlformats.org/drawingml/2006/main">
            <a:r>
              <a:t>4. 원문과 확인 이유를 남깁니다.</a:t>
            </a:r>
          </a:p>
          <a:p xmlns:a="http://schemas.openxmlformats.org/drawingml/2006/main">
            <a:r>
              <a:t/>
            </a:r>
          </a:p>
          <a:p xmlns:a="http://schemas.openxmlformats.org/drawingml/2006/main">
            <a:r>
              <a:t>예상 결과: 0·50은 허용하고 51.0은 범위 오류입니다.</a:t>
            </a:r>
          </a:p>
          <a:p xmlns:a="http://schemas.openxmlformats.org/drawingml/2006/main">
            <a:r>
              <a:t/>
            </a:r>
          </a:p>
          <a:p xmlns:a="http://schemas.openxmlformats.org/drawingml/2006/main">
            <a:r>
              <a:t>확인 질문: 범위 통과가 실제 센서 정확도를 증명하나요?</a:t>
            </a:r>
          </a:p>
          <a:p xmlns:a="http://schemas.openxmlformats.org/drawingml/2006/main">
            <a:r>
              <a:t/>
            </a:r>
          </a:p>
          <a:p xmlns:a="http://schemas.openxmlformats.org/drawingml/2006/main">
            <a:r>
              <a:t>막혔을 때: or를 and로 바꿨다면 두 조건의 뜻을 읽습니다. 동시에 0보다 작고 50보다 큰 값은 찾을 수 없습니다.</a:t>
            </a:r>
          </a:p>
          <a:p xmlns:a="http://schemas.openxmlformats.org/drawingml/2006/main">
            <a:r>
              <a:t/>
            </a:r>
          </a:p>
          <a:p xmlns:a="http://schemas.openxmlformats.org/drawingml/2006/main">
            <a:r>
              <a:t>[활동 자료와 작성칸](practice-guide.md#a13--범위-규칙을-함수에서-확인하기)에서 A13를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https://zeusk302-png.github.io/kdigital-physical-ai/#/sessions/2026-10-15/lesson?activity=A13</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완성 파일의 전체 코드입니다. 압축을 푼 course 폴더의 터미널에서 실행합니다.</a:t>
            </a:r>
          </a:p>
          <a:p xmlns:a="http://schemas.openxmlformats.org/drawingml/2006/main">
            <a:r>
              <a:t>명령: python -X utf8 code/A13_example.py</a:t>
            </a:r>
          </a:p>
          <a:p xmlns:a="http://schemas.openxmlformats.org/drawingml/2006/main">
            <a:r>
              <a:t>수정한 파일을 실행할 때는 code 대신 work 폴더를 지정합니다. 직접 실행할 수 없으면 입력값부터 코드의 처리 순서를 따라 적고 강사의 결과와 비교합니다.</a:t>
            </a:r>
          </a:p>
          <a:p xmlns:a="http://schemas.openxmlformats.org/drawingml/2006/main">
            <a:r>
              <a:t/>
            </a:r>
          </a:p>
          <a:p xmlns:a="http://schemas.openxmlformats.org/drawingml/2006/main">
            <a:r>
              <a:t>[활동 A13 상세 원문]</a:t>
            </a:r>
          </a:p>
          <a:p xmlns:a="http://schemas.openxmlformats.org/drawingml/2006/main">
            <a:r>
              <a:t>### 사례로 이해하기 · 허용 범위의 바깥과 경계를 검사하기</a:t>
            </a:r>
          </a:p>
          <a:p xmlns:a="http://schemas.openxmlformats.org/drawingml/2006/main">
            <a:r>
              <a:t/>
            </a:r>
          </a:p>
          <a:p xmlns:a="http://schemas.openxmlformats.org/drawingml/2006/main">
            <a:r>
              <a:t/>
            </a:r>
          </a:p>
          <a:p xmlns:a="http://schemas.openxmlformats.org/drawingml/2006/main">
            <a:r>
              <a:t/>
            </a:r>
          </a:p>
          <a:p xmlns:a="http://schemas.openxmlformats.org/drawingml/2006/main">
            <a:r>
              <a:t>접수 시스템은 물품 수량을 0개부터 20개까지 받습니다. 21은 숫자로 바꿀 수 있지만 정해 둔 수량 범위에는 맞지 않습니다. 숫자로 바꿀 수 있는지와 허용 범위 안인지는 따로 검사합니다. 먼저 “스물”은 숫자 표현이 아니라 변환에서 멈추고, 21은 숫자로 읽힌 뒤 범위에서 멈춥니다. 0은 실제 수량이 없다는 뜻이며 이번 규칙에서는 허용합니다. 같은 ValueError라는 결과가 나올 수 있어도 어떤 규칙과 원문 때문에 실패했는지 기록합니다.</a:t>
            </a:r>
          </a:p>
          <a:p xmlns:a="http://schemas.openxmlformats.org/drawingml/2006/main">
            <a:r>
              <a:t/>
            </a:r>
          </a:p>
          <a:p xmlns:a="http://schemas.openxmlformats.org/drawingml/2006/main">
            <a:r>
              <a:t>0≤수량≤20을 수직선으로 그리면 두 끝점이 포함됩니다. 바깥은 ‘0보다 작음 또는 20보다 큼’입니다. or는 둘 중 하나라도 참이면 참이고 and는 둘 다 참이어야 참입니다. 완성 검수표는 -1 거부, 0 허용, 10 허용, 20 허용, 21 거부입니다. 경계 0과 20을 보지 않으면 &lt;와 &lt;=를 바꾼 실수를 놓칠 수 있습니다. ‘0보다 작고 동시에 20보다 큼’이라는 and 조건은 한 숫자에 성립하지 않아 범위 밖을 놓칩니다.</a:t>
            </a:r>
          </a:p>
          <a:p xmlns:a="http://schemas.openxmlformats.org/drawingml/2006/main">
            <a:r>
              <a:t/>
            </a:r>
          </a:p>
          <a:p xmlns:a="http://schemas.openxmlformats.org/drawingml/2006/main">
            <a:r>
              <a:t>20이 재고 한도인지 주문 수량 한도인지도 규칙에 적어야 합니다. 같은 숫자 20을 모든 업무의 기준으로 재사용하지 않습니다. 21을 자동으로 20으로 잘라 저장하면 검사 대신 원자료 변경을 수행한 것입니다. 담당자의 확인 없이 실제 수량을 고치지 않고 거부 사유와 원문을 남깁니다. 수정 검증은 실패 입력 한 건만 다시 보는 것이 아닙니다. 기준 비교를 바꿨다면 정상·양쪽 경계·양쪽 바깥의 다섯 사례를 다시 봅니다. 통과한 사례 수와 검사하지 않은 종류를 구별해서 보고합니다. 이 예제는 정수 개수를 받습니다. 1.5개 같은 값을 허용할지는 따로 정해야 합니다. 범위 통과만으로 정수 조건이나 실물 재고의 정확성이 증명되지는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수업용 배터리 기록의 허용 충전율은 0~100%입니다. -0.1, 0, 50, 100, 100.1의 기대 결과와 바깥을 찾는 논리 문장을 쓰세요. 100.1을 100으로 자동 변경해도 되는지 근거를 설명하세요.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양 끝 -0.1·100.1은 거부, 0·50·100은 허용입니다. ‘0 미만 또는 100 초과’가 바깥입니다. 자동 변경은 원문을 바꾸므로 현재 검사 규칙에서는 허용하지 않습니다. and로 쓰면 두 바깥 조건을 동시에 만족하는 값이 없어 오류를 놓칩니다.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**변환 성공이 허용 성공인가요?** 숫자 표현과 업무 범위·정수 조건은 별도 검사입니다.</a:t>
            </a:r>
          </a:p>
          <a:p xmlns:a="http://schemas.openxmlformats.org/drawingml/2006/main">
            <a:r>
              <a:t/>
            </a:r>
          </a:p>
          <a:p xmlns:a="http://schemas.openxmlformats.org/drawingml/2006/main">
            <a:r>
              <a:t>2. **범위 밖에 왜 or를 쓰나요?** 아래쪽이나 위쪽 중 하나만 벗어나도 거부해야 하기 때문입니다.</a:t>
            </a:r>
          </a:p>
          <a:p xmlns:a="http://schemas.openxmlformats.org/drawingml/2006/main">
            <a:r>
              <a:t/>
            </a:r>
          </a:p>
          <a:p xmlns:a="http://schemas.openxmlformats.org/drawingml/2006/main">
            <a:r>
              <a:t>3. **통과가 실제 정확성을 뜻하나요?** 입력 규칙에 맞았다는 뜻이며 실제 측정·기록 정확성은 따로 확인합니다.</a:t>
            </a:r>
          </a:p>
          <a:p xmlns:a="http://schemas.openxmlformats.org/drawingml/2006/main">
            <a:r>
              <a:t/>
            </a:r>
          </a:p>
          <a:p xmlns:a="http://schemas.openxmlformats.org/drawingml/2006/main">
            <a:r>
              <a:t/>
            </a:r>
          </a:p>
          <a:p xmlns:a="http://schemas.openxmlformats.org/drawingml/2006/main">
            <a:r>
              <a:t>**개념.** 숫자로 변환할 수 있다는 것과 허용 범위 안에 있다는 것은 다른 검사입니다. 값이 0~50인지 확인하고 벗어나면 이유를 예외로 알립니다.</a:t>
            </a:r>
          </a:p>
          <a:p xmlns:a="http://schemas.openxmlformats.org/drawingml/2006/main">
            <a:r>
              <a:t/>
            </a:r>
          </a:p>
          <a:p xmlns:a="http://schemas.openxmlformats.org/drawingml/2006/main">
            <a:r>
              <a:t>**왜 필요한가.** 51.0은 숫자이므로 float는 성공하지만 실습 입력 규칙에는 맞지 않습니다. 변환과 규칙 검사를 분리하여 읽어야 합니다.</a:t>
            </a:r>
          </a:p>
          <a:p xmlns:a="http://schemas.openxmlformats.org/drawingml/2006/main">
            <a:r>
              <a:t/>
            </a:r>
          </a:p>
          <a:p xmlns:a="http://schemas.openxmlformats.org/drawingml/2006/main">
            <a:r>
              <a:t>**함께 보는 예.** 23.5는 반환하고 51.0은 범위 확인 필요를 알립니다.0과 50은 허용 경계입니다. 이 범위는 실습의 입력 약속이며 실제 장비 안전 기준이 아닙니다.</a:t>
            </a:r>
          </a:p>
          <a:p xmlns:a="http://schemas.openxmlformats.org/drawingml/2006/main">
            <a:r>
              <a:t/>
            </a:r>
          </a:p>
          <a:p xmlns:a="http://schemas.openxmlformats.org/drawingml/2006/main">
            <a:r>
              <a:t>**헷갈리는 경우.** 51.0을 자동으로 50으로 자르면 원자료를 바꿉니다. 실제값을 모르면 원문을 보존하고 확인 요청을 남깁니다.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checked_temperature(raw):</a:t>
            </a:r>
          </a:p>
          <a:p xmlns:a="http://schemas.openxmlformats.org/drawingml/2006/main">
            <a:r>
              <a:t>    value = float(raw)</a:t>
            </a:r>
          </a:p>
          <a:p xmlns:a="http://schemas.openxmlformats.org/drawingml/2006/main">
            <a:r>
              <a:t>    if value &lt; 0 or value &gt; 50:</a:t>
            </a:r>
          </a:p>
          <a:p xmlns:a="http://schemas.openxmlformats.org/drawingml/2006/main">
            <a:r>
              <a:t>        raise ValueError("범위 확인 필요")</a:t>
            </a:r>
          </a:p>
          <a:p xmlns:a="http://schemas.openxmlformats.org/drawingml/2006/main">
            <a:r>
              <a:t>    return value</a:t>
            </a:r>
          </a:p>
          <a:p xmlns:a="http://schemas.openxmlformats.org/drawingml/2006/main">
            <a:r>
              <a:t>print(checked_temperature("23.5"))</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checked_temperature(raw):` | 수치 원문을 검사하는 함수를 정의합니다. |</a:t>
            </a:r>
          </a:p>
          <a:p xmlns:a="http://schemas.openxmlformats.org/drawingml/2006/main">
            <a:r>
              <a:t>| 2 | `    value = float(raw)` | 숫자로 해석합니다. |</a:t>
            </a:r>
          </a:p>
          <a:p xmlns:a="http://schemas.openxmlformats.org/drawingml/2006/main">
            <a:r>
              <a:t>| 3 | `    if value &lt; 0 or value &gt; 50:` | 아래 또는 위 경계를 벗어나는지 묻습니다. |</a:t>
            </a:r>
          </a:p>
          <a:p xmlns:a="http://schemas.openxmlformats.org/drawingml/2006/main">
            <a:r>
              <a:t>| 4 | `        raise ValueError("범위 확인 필요")` | 범위 문제를 예외로 알립니다. |</a:t>
            </a:r>
          </a:p>
          <a:p xmlns:a="http://schemas.openxmlformats.org/drawingml/2006/main">
            <a:r>
              <a:t>| 5 | `    return value` | 허용 숫자를 반환합니다. |</a:t>
            </a:r>
          </a:p>
          <a:p xmlns:a="http://schemas.openxmlformats.org/drawingml/2006/main">
            <a:r>
              <a:t>| 6 | `print(checked_temperature("23.5"))` | 정상 입력으로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23.5</a:t>
            </a:r>
          </a:p>
          <a:p xmlns:a="http://schemas.openxmlformats.org/drawingml/2006/main">
            <a:r>
              <a:t>```</a:t>
            </a:r>
          </a:p>
          <a:p xmlns:a="http://schemas.openxmlformats.org/drawingml/2006/main">
            <a:r>
              <a:t/>
            </a:r>
          </a:p>
          <a:p xmlns:a="http://schemas.openxmlformats.org/drawingml/2006/main">
            <a:r>
              <a:t>작은 수정: `"23.5"`를 `"50"`로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50.0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변환과 범위 검사를 표시합니다.</a:t>
            </a:r>
          </a:p>
          <a:p xmlns:a="http://schemas.openxmlformats.org/drawingml/2006/main">
            <a:r>
              <a:t>2. 0·50·51.0의 기대 결과를 씁니다.</a:t>
            </a:r>
          </a:p>
          <a:p xmlns:a="http://schemas.openxmlformats.org/drawingml/2006/main">
            <a:r>
              <a:t>3. 경계와 오류 입력을 비교합니다.</a:t>
            </a:r>
          </a:p>
          <a:p xmlns:a="http://schemas.openxmlformats.org/drawingml/2006/main">
            <a:r>
              <a:t>4. 원문과 확인 이유를 남깁니다.</a:t>
            </a:r>
          </a:p>
          <a:p xmlns:a="http://schemas.openxmlformats.org/drawingml/2006/main">
            <a:r>
              <a:t/>
            </a:r>
          </a:p>
          <a:p xmlns:a="http://schemas.openxmlformats.org/drawingml/2006/main">
            <a:r>
              <a:t>예상 결과: 0·50은 허용하고 51.0은 범위 오류입니다.</a:t>
            </a:r>
          </a:p>
          <a:p xmlns:a="http://schemas.openxmlformats.org/drawingml/2006/main">
            <a:r>
              <a:t/>
            </a:r>
          </a:p>
          <a:p xmlns:a="http://schemas.openxmlformats.org/drawingml/2006/main">
            <a:r>
              <a:t>확인 질문: 범위 통과가 실제 센서 정확도를 증명하나요?</a:t>
            </a:r>
          </a:p>
          <a:p xmlns:a="http://schemas.openxmlformats.org/drawingml/2006/main">
            <a:r>
              <a:t/>
            </a:r>
          </a:p>
          <a:p xmlns:a="http://schemas.openxmlformats.org/drawingml/2006/main">
            <a:r>
              <a:t>막혔을 때: or를 and로 바꿨다면 두 조건의 뜻을 읽습니다. 동시에 0보다 작고 50보다 큰 값은 찾을 수 없습니다.</a:t>
            </a:r>
          </a:p>
          <a:p xmlns:a="http://schemas.openxmlformats.org/drawingml/2006/main">
            <a:r>
              <a:t/>
            </a:r>
          </a:p>
          <a:p xmlns:a="http://schemas.openxmlformats.org/drawingml/2006/main">
            <a:r>
              <a:t>[활동 자료와 작성칸](practice-guide.md#a13--범위-규칙을-함수에서-확인하기)에서 A13를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https://zeusk302-png.github.io/kdigital-physical-ai/#/sessions/2026-10-15/lesson?activity=A13</a:t>
            </a:r>
          </a:p>
          <a:p xmlns:a="http://schemas.openxmlformats.org/drawingml/2006/main">
            <a:r>
              <a:t>공식 자료: https://docs.python.org/3/tutorial/controlflow.html</a:t>
            </a:r>
          </a:p>
          <a:p xmlns:a="http://schemas.openxmlformats.org/drawingml/2006/main">
            <a:r>
              <a:t/>
            </a:r>
          </a:p>
          <a:p xmlns:a="http://schemas.openxmlformats.org/drawingml/2006/main">
            <a:r>
              <a:t>코드와 개념 해설: 0 미만 또는 50 초과를 거부합니다</a:t>
            </a:r>
          </a:p>
          <a:p xmlns:a="http://schemas.openxmlformats.org/drawingml/2006/main">
            <a:r>
              <a:t>0과 50은 범위에 포함됩니다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A13 상세 원문]</a:t>
            </a:r>
          </a:p>
          <a:p xmlns:a="http://schemas.openxmlformats.org/drawingml/2006/main">
            <a:r>
              <a:t>### 사례로 이해하기 · 허용 범위의 바깥과 경계를 검사하기</a:t>
            </a:r>
          </a:p>
          <a:p xmlns:a="http://schemas.openxmlformats.org/drawingml/2006/main">
            <a:r>
              <a:t/>
            </a:r>
          </a:p>
          <a:p xmlns:a="http://schemas.openxmlformats.org/drawingml/2006/main">
            <a:r>
              <a:t/>
            </a:r>
          </a:p>
          <a:p xmlns:a="http://schemas.openxmlformats.org/drawingml/2006/main">
            <a:r>
              <a:t/>
            </a:r>
          </a:p>
          <a:p xmlns:a="http://schemas.openxmlformats.org/drawingml/2006/main">
            <a:r>
              <a:t>접수 시스템은 물품 수량을 0개부터 20개까지 받습니다. 21은 숫자로 바꿀 수 있지만 정해 둔 수량 범위에는 맞지 않습니다. 숫자로 바꿀 수 있는지와 허용 범위 안인지는 따로 검사합니다. 먼저 “스물”은 숫자 표현이 아니라 변환에서 멈추고, 21은 숫자로 읽힌 뒤 범위에서 멈춥니다. 0은 실제 수량이 없다는 뜻이며 이번 규칙에서는 허용합니다. 같은 ValueError라는 결과가 나올 수 있어도 어떤 규칙과 원문 때문에 실패했는지 기록합니다.</a:t>
            </a:r>
          </a:p>
          <a:p xmlns:a="http://schemas.openxmlformats.org/drawingml/2006/main">
            <a:r>
              <a:t/>
            </a:r>
          </a:p>
          <a:p xmlns:a="http://schemas.openxmlformats.org/drawingml/2006/main">
            <a:r>
              <a:t>0≤수량≤20을 수직선으로 그리면 두 끝점이 포함됩니다. 바깥은 ‘0보다 작음 또는 20보다 큼’입니다. or는 둘 중 하나라도 참이면 참이고 and는 둘 다 참이어야 참입니다. 완성 검수표는 -1 거부, 0 허용, 10 허용, 20 허용, 21 거부입니다. 경계 0과 20을 보지 않으면 &lt;와 &lt;=를 바꾼 실수를 놓칠 수 있습니다. ‘0보다 작고 동시에 20보다 큼’이라는 and 조건은 한 숫자에 성립하지 않아 범위 밖을 놓칩니다.</a:t>
            </a:r>
          </a:p>
          <a:p xmlns:a="http://schemas.openxmlformats.org/drawingml/2006/main">
            <a:r>
              <a:t/>
            </a:r>
          </a:p>
          <a:p xmlns:a="http://schemas.openxmlformats.org/drawingml/2006/main">
            <a:r>
              <a:t>20이 재고 한도인지 주문 수량 한도인지도 규칙에 적어야 합니다. 같은 숫자 20을 모든 업무의 기준으로 재사용하지 않습니다. 21을 자동으로 20으로 잘라 저장하면 검사 대신 원자료 변경을 수행한 것입니다. 담당자의 확인 없이 실제 수량을 고치지 않고 거부 사유와 원문을 남깁니다. 수정 검증은 실패 입력 한 건만 다시 보는 것이 아닙니다. 기준 비교를 바꿨다면 정상·양쪽 경계·양쪽 바깥의 다섯 사례를 다시 봅니다. 통과한 사례 수와 검사하지 않은 종류를 구별해서 보고합니다. 이 예제는 정수 개수를 받습니다. 1.5개 같은 값을 허용할지는 따로 정해야 합니다. 범위 통과만으로 정수 조건이나 실물 재고의 정확성이 증명되지는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수업용 배터리 기록의 허용 충전율은 0~100%입니다. -0.1, 0, 50, 100, 100.1의 기대 결과와 바깥을 찾는 논리 문장을 쓰세요. 100.1을 100으로 자동 변경해도 되는지 근거를 설명하세요.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양 끝 -0.1·100.1은 거부, 0·50·100은 허용입니다. ‘0 미만 또는 100 초과’가 바깥입니다. 자동 변경은 원문을 바꾸므로 현재 검사 규칙에서는 허용하지 않습니다. and로 쓰면 두 바깥 조건을 동시에 만족하는 값이 없어 오류를 놓칩니다.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**변환 성공이 허용 성공인가요?** 숫자 표현과 업무 범위·정수 조건은 별도 검사입니다.</a:t>
            </a:r>
          </a:p>
          <a:p xmlns:a="http://schemas.openxmlformats.org/drawingml/2006/main">
            <a:r>
              <a:t/>
            </a:r>
          </a:p>
          <a:p xmlns:a="http://schemas.openxmlformats.org/drawingml/2006/main">
            <a:r>
              <a:t>2. **범위 밖에 왜 or를 쓰나요?** 아래쪽이나 위쪽 중 하나만 벗어나도 거부해야 하기 때문입니다.</a:t>
            </a:r>
          </a:p>
          <a:p xmlns:a="http://schemas.openxmlformats.org/drawingml/2006/main">
            <a:r>
              <a:t/>
            </a:r>
          </a:p>
          <a:p xmlns:a="http://schemas.openxmlformats.org/drawingml/2006/main">
            <a:r>
              <a:t>3. **통과가 실제 정확성을 뜻하나요?** 입력 규칙에 맞았다는 뜻이며 실제 측정·기록 정확성은 따로 확인합니다.</a:t>
            </a:r>
          </a:p>
          <a:p xmlns:a="http://schemas.openxmlformats.org/drawingml/2006/main">
            <a:r>
              <a:t/>
            </a:r>
          </a:p>
          <a:p xmlns:a="http://schemas.openxmlformats.org/drawingml/2006/main">
            <a:r>
              <a:t/>
            </a:r>
          </a:p>
          <a:p xmlns:a="http://schemas.openxmlformats.org/drawingml/2006/main">
            <a:r>
              <a:t>**개념.** 숫자로 변환할 수 있다는 것과 허용 범위 안에 있다는 것은 다른 검사입니다. 값이 0~50인지 확인하고 벗어나면 이유를 예외로 알립니다.</a:t>
            </a:r>
          </a:p>
          <a:p xmlns:a="http://schemas.openxmlformats.org/drawingml/2006/main">
            <a:r>
              <a:t/>
            </a:r>
          </a:p>
          <a:p xmlns:a="http://schemas.openxmlformats.org/drawingml/2006/main">
            <a:r>
              <a:t>**왜 필요한가.** 51.0은 숫자이므로 float는 성공하지만 실습 입력 규칙에는 맞지 않습니다. 변환과 규칙 검사를 분리하여 읽어야 합니다.</a:t>
            </a:r>
          </a:p>
          <a:p xmlns:a="http://schemas.openxmlformats.org/drawingml/2006/main">
            <a:r>
              <a:t/>
            </a:r>
          </a:p>
          <a:p xmlns:a="http://schemas.openxmlformats.org/drawingml/2006/main">
            <a:r>
              <a:t>**함께 보는 예.** 23.5는 반환하고 51.0은 범위 확인 필요를 알립니다.0과 50은 허용 경계입니다. 이 범위는 실습의 입력 약속이며 실제 장비 안전 기준이 아닙니다.</a:t>
            </a:r>
          </a:p>
          <a:p xmlns:a="http://schemas.openxmlformats.org/drawingml/2006/main">
            <a:r>
              <a:t/>
            </a:r>
          </a:p>
          <a:p xmlns:a="http://schemas.openxmlformats.org/drawingml/2006/main">
            <a:r>
              <a:t>**헷갈리는 경우.** 51.0을 자동으로 50으로 자르면 원자료를 바꿉니다. 실제값을 모르면 원문을 보존하고 확인 요청을 남깁니다.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checked_temperature(raw):</a:t>
            </a:r>
          </a:p>
          <a:p xmlns:a="http://schemas.openxmlformats.org/drawingml/2006/main">
            <a:r>
              <a:t>    value = float(raw)</a:t>
            </a:r>
          </a:p>
          <a:p xmlns:a="http://schemas.openxmlformats.org/drawingml/2006/main">
            <a:r>
              <a:t>    if value &lt; 0 or value &gt; 50:</a:t>
            </a:r>
          </a:p>
          <a:p xmlns:a="http://schemas.openxmlformats.org/drawingml/2006/main">
            <a:r>
              <a:t>        raise ValueError("범위 확인 필요")</a:t>
            </a:r>
          </a:p>
          <a:p xmlns:a="http://schemas.openxmlformats.org/drawingml/2006/main">
            <a:r>
              <a:t>    return value</a:t>
            </a:r>
          </a:p>
          <a:p xmlns:a="http://schemas.openxmlformats.org/drawingml/2006/main">
            <a:r>
              <a:t>print(checked_temperature("23.5"))</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checked_temperature(raw):` | 수치 원문을 검사하는 함수를 정의합니다. |</a:t>
            </a:r>
          </a:p>
          <a:p xmlns:a="http://schemas.openxmlformats.org/drawingml/2006/main">
            <a:r>
              <a:t>| 2 | `    value = float(raw)` | 숫자로 해석합니다. |</a:t>
            </a:r>
          </a:p>
          <a:p xmlns:a="http://schemas.openxmlformats.org/drawingml/2006/main">
            <a:r>
              <a:t>| 3 | `    if value &lt; 0 or value &gt; 50:` | 아래 또는 위 경계를 벗어나는지 묻습니다. |</a:t>
            </a:r>
          </a:p>
          <a:p xmlns:a="http://schemas.openxmlformats.org/drawingml/2006/main">
            <a:r>
              <a:t>| 4 | `        raise ValueError("범위 확인 필요")` | 범위 문제를 예외로 알립니다. |</a:t>
            </a:r>
          </a:p>
          <a:p xmlns:a="http://schemas.openxmlformats.org/drawingml/2006/main">
            <a:r>
              <a:t>| 5 | `    return value` | 허용 숫자를 반환합니다. |</a:t>
            </a:r>
          </a:p>
          <a:p xmlns:a="http://schemas.openxmlformats.org/drawingml/2006/main">
            <a:r>
              <a:t>| 6 | `print(checked_temperature("23.5"))` | 정상 입력으로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23.5</a:t>
            </a:r>
          </a:p>
          <a:p xmlns:a="http://schemas.openxmlformats.org/drawingml/2006/main">
            <a:r>
              <a:t>```</a:t>
            </a:r>
          </a:p>
          <a:p xmlns:a="http://schemas.openxmlformats.org/drawingml/2006/main">
            <a:r>
              <a:t/>
            </a:r>
          </a:p>
          <a:p xmlns:a="http://schemas.openxmlformats.org/drawingml/2006/main">
            <a:r>
              <a:t>작은 수정: `"23.5"`를 `"50"`로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50.0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변환과 범위 검사를 표시합니다.</a:t>
            </a:r>
          </a:p>
          <a:p xmlns:a="http://schemas.openxmlformats.org/drawingml/2006/main">
            <a:r>
              <a:t>2. 0·50·51.0의 기대 결과를 씁니다.</a:t>
            </a:r>
          </a:p>
          <a:p xmlns:a="http://schemas.openxmlformats.org/drawingml/2006/main">
            <a:r>
              <a:t>3. 경계와 오류 입력을 비교합니다.</a:t>
            </a:r>
          </a:p>
          <a:p xmlns:a="http://schemas.openxmlformats.org/drawingml/2006/main">
            <a:r>
              <a:t>4. 원문과 확인 이유를 남깁니다.</a:t>
            </a:r>
          </a:p>
          <a:p xmlns:a="http://schemas.openxmlformats.org/drawingml/2006/main">
            <a:r>
              <a:t/>
            </a:r>
          </a:p>
          <a:p xmlns:a="http://schemas.openxmlformats.org/drawingml/2006/main">
            <a:r>
              <a:t>예상 결과: 0·50은 허용하고 51.0은 범위 오류입니다.</a:t>
            </a:r>
          </a:p>
          <a:p xmlns:a="http://schemas.openxmlformats.org/drawingml/2006/main">
            <a:r>
              <a:t/>
            </a:r>
          </a:p>
          <a:p xmlns:a="http://schemas.openxmlformats.org/drawingml/2006/main">
            <a:r>
              <a:t>확인 질문: 범위 통과가 실제 센서 정확도를 증명하나요?</a:t>
            </a:r>
          </a:p>
          <a:p xmlns:a="http://schemas.openxmlformats.org/drawingml/2006/main">
            <a:r>
              <a:t/>
            </a:r>
          </a:p>
          <a:p xmlns:a="http://schemas.openxmlformats.org/drawingml/2006/main">
            <a:r>
              <a:t>막혔을 때: or를 and로 바꿨다면 두 조건의 뜻을 읽습니다. 동시에 0보다 작고 50보다 큰 값은 찾을 수 없습니다.</a:t>
            </a:r>
          </a:p>
          <a:p xmlns:a="http://schemas.openxmlformats.org/drawingml/2006/main">
            <a:r>
              <a:t/>
            </a:r>
          </a:p>
          <a:p xmlns:a="http://schemas.openxmlformats.org/drawingml/2006/main">
            <a:r>
              <a:t>[활동 자료와 작성칸](practice-guide.md#a13--범위-규칙을-함수에서-확인하기)에서 A13를 엽니다.</a:t>
            </a:r>
          </a:p>
          <a:p xmlns:a="http://schemas.openxmlformats.org/drawingml/2006/main">
            <a:r>
              <a:t/>
            </a:r>
          </a:p>
          <a:p xmlns:a="http://schemas.openxmlformats.org/drawingml/2006/main">
            <a:r>
              <a:t>화면 예의 출처: D:/KDigital_PhysicalAI/.build/copyedited-ppt/spec-2026-10-15.json#slide-69;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https://zeusk302-png.github.io/kdigital-physical-ai/#/sessions/2026-10-15/lesson?activity=A13</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A13 상세 원문]</a:t>
            </a:r>
          </a:p>
          <a:p xmlns:a="http://schemas.openxmlformats.org/drawingml/2006/main">
            <a:r>
              <a:t>### 사례로 이해하기 · 허용 범위의 바깥과 경계를 검사하기</a:t>
            </a:r>
          </a:p>
          <a:p xmlns:a="http://schemas.openxmlformats.org/drawingml/2006/main">
            <a:r>
              <a:t/>
            </a:r>
          </a:p>
          <a:p xmlns:a="http://schemas.openxmlformats.org/drawingml/2006/main">
            <a:r>
              <a:t/>
            </a:r>
          </a:p>
          <a:p xmlns:a="http://schemas.openxmlformats.org/drawingml/2006/main">
            <a:r>
              <a:t/>
            </a:r>
          </a:p>
          <a:p xmlns:a="http://schemas.openxmlformats.org/drawingml/2006/main">
            <a:r>
              <a:t>접수 시스템은 물품 수량을 0개부터 20개까지 받습니다. 21은 숫자로 바꿀 수 있지만 정해 둔 수량 범위에는 맞지 않습니다. 숫자로 바꿀 수 있는지와 허용 범위 안인지는 따로 검사합니다. 먼저 “스물”은 숫자 표현이 아니라 변환에서 멈추고, 21은 숫자로 읽힌 뒤 범위에서 멈춥니다. 0은 실제 수량이 없다는 뜻이며 이번 규칙에서는 허용합니다. 같은 ValueError라는 결과가 나올 수 있어도 어떤 규칙과 원문 때문에 실패했는지 기록합니다.</a:t>
            </a:r>
          </a:p>
          <a:p xmlns:a="http://schemas.openxmlformats.org/drawingml/2006/main">
            <a:r>
              <a:t/>
            </a:r>
          </a:p>
          <a:p xmlns:a="http://schemas.openxmlformats.org/drawingml/2006/main">
            <a:r>
              <a:t>0≤수량≤20을 수직선으로 그리면 두 끝점이 포함됩니다. 바깥은 ‘0보다 작음 또는 20보다 큼’입니다. or는 둘 중 하나라도 참이면 참이고 and는 둘 다 참이어야 참입니다. 완성 검수표는 -1 거부, 0 허용, 10 허용, 20 허용, 21 거부입니다. 경계 0과 20을 보지 않으면 &lt;와 &lt;=를 바꾼 실수를 놓칠 수 있습니다. ‘0보다 작고 동시에 20보다 큼’이라는 and 조건은 한 숫자에 성립하지 않아 범위 밖을 놓칩니다.</a:t>
            </a:r>
          </a:p>
          <a:p xmlns:a="http://schemas.openxmlformats.org/drawingml/2006/main">
            <a:r>
              <a:t/>
            </a:r>
          </a:p>
          <a:p xmlns:a="http://schemas.openxmlformats.org/drawingml/2006/main">
            <a:r>
              <a:t>20이 재고 한도인지 주문 수량 한도인지도 규칙에 적어야 합니다. 같은 숫자 20을 모든 업무의 기준으로 재사용하지 않습니다. 21을 자동으로 20으로 잘라 저장하면 검사 대신 원자료 변경을 수행한 것입니다. 담당자의 확인 없이 실제 수량을 고치지 않고 거부 사유와 원문을 남깁니다. 수정 검증은 실패 입력 한 건만 다시 보는 것이 아닙니다. 기준 비교를 바꿨다면 정상·양쪽 경계·양쪽 바깥의 다섯 사례를 다시 봅니다. 통과한 사례 수와 검사하지 않은 종류를 구별해서 보고합니다. 이 예제는 정수 개수를 받습니다. 1.5개 같은 값을 허용할지는 따로 정해야 합니다. 범위 통과만으로 정수 조건이나 실물 재고의 정확성이 증명되지는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수업용 배터리 기록의 허용 충전율은 0~100%입니다. -0.1, 0, 50, 100, 100.1의 기대 결과와 바깥을 찾는 논리 문장을 쓰세요. 100.1을 100으로 자동 변경해도 되는지 근거를 설명하세요.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양 끝 -0.1·100.1은 거부, 0·50·100은 허용입니다. ‘0 미만 또는 100 초과’가 바깥입니다. 자동 변경은 원문을 바꾸므로 현재 검사 규칙에서는 허용하지 않습니다. and로 쓰면 두 바깥 조건을 동시에 만족하는 값이 없어 오류를 놓칩니다.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**변환 성공이 허용 성공인가요?** 숫자 표현과 업무 범위·정수 조건은 별도 검사입니다.</a:t>
            </a:r>
          </a:p>
          <a:p xmlns:a="http://schemas.openxmlformats.org/drawingml/2006/main">
            <a:r>
              <a:t/>
            </a:r>
          </a:p>
          <a:p xmlns:a="http://schemas.openxmlformats.org/drawingml/2006/main">
            <a:r>
              <a:t>2. **범위 밖에 왜 or를 쓰나요?** 아래쪽이나 위쪽 중 하나만 벗어나도 거부해야 하기 때문입니다.</a:t>
            </a:r>
          </a:p>
          <a:p xmlns:a="http://schemas.openxmlformats.org/drawingml/2006/main">
            <a:r>
              <a:t/>
            </a:r>
          </a:p>
          <a:p xmlns:a="http://schemas.openxmlformats.org/drawingml/2006/main">
            <a:r>
              <a:t>3. **통과가 실제 정확성을 뜻하나요?** 입력 규칙에 맞았다는 뜻이며 실제 측정·기록 정확성은 따로 확인합니다.</a:t>
            </a:r>
          </a:p>
          <a:p xmlns:a="http://schemas.openxmlformats.org/drawingml/2006/main">
            <a:r>
              <a:t/>
            </a:r>
          </a:p>
          <a:p xmlns:a="http://schemas.openxmlformats.org/drawingml/2006/main">
            <a:r>
              <a:t/>
            </a:r>
          </a:p>
          <a:p xmlns:a="http://schemas.openxmlformats.org/drawingml/2006/main">
            <a:r>
              <a:t>**개념.** 숫자로 변환할 수 있다는 것과 허용 범위 안에 있다는 것은 다른 검사입니다. 값이 0~50인지 확인하고 벗어나면 이유를 예외로 알립니다.</a:t>
            </a:r>
          </a:p>
          <a:p xmlns:a="http://schemas.openxmlformats.org/drawingml/2006/main">
            <a:r>
              <a:t/>
            </a:r>
          </a:p>
          <a:p xmlns:a="http://schemas.openxmlformats.org/drawingml/2006/main">
            <a:r>
              <a:t>**왜 필요한가.** 51.0은 숫자이므로 float는 성공하지만 실습 입력 규칙에는 맞지 않습니다. 변환과 규칙 검사를 분리하여 읽어야 합니다.</a:t>
            </a:r>
          </a:p>
          <a:p xmlns:a="http://schemas.openxmlformats.org/drawingml/2006/main">
            <a:r>
              <a:t/>
            </a:r>
          </a:p>
          <a:p xmlns:a="http://schemas.openxmlformats.org/drawingml/2006/main">
            <a:r>
              <a:t>**함께 보는 예.** 23.5는 반환하고 51.0은 범위 확인 필요를 알립니다.0과 50은 허용 경계입니다. 이 범위는 실습의 입력 약속이며 실제 장비 안전 기준이 아닙니다.</a:t>
            </a:r>
          </a:p>
          <a:p xmlns:a="http://schemas.openxmlformats.org/drawingml/2006/main">
            <a:r>
              <a:t/>
            </a:r>
          </a:p>
          <a:p xmlns:a="http://schemas.openxmlformats.org/drawingml/2006/main">
            <a:r>
              <a:t>**헷갈리는 경우.** 51.0을 자동으로 50으로 자르면 원자료를 바꿉니다. 실제값을 모르면 원문을 보존하고 확인 요청을 남깁니다.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checked_temperature(raw):</a:t>
            </a:r>
          </a:p>
          <a:p xmlns:a="http://schemas.openxmlformats.org/drawingml/2006/main">
            <a:r>
              <a:t>    value = float(raw)</a:t>
            </a:r>
          </a:p>
          <a:p xmlns:a="http://schemas.openxmlformats.org/drawingml/2006/main">
            <a:r>
              <a:t>    if value &lt; 0 or value &gt; 50:</a:t>
            </a:r>
          </a:p>
          <a:p xmlns:a="http://schemas.openxmlformats.org/drawingml/2006/main">
            <a:r>
              <a:t>        raise ValueError("범위 확인 필요")</a:t>
            </a:r>
          </a:p>
          <a:p xmlns:a="http://schemas.openxmlformats.org/drawingml/2006/main">
            <a:r>
              <a:t>    return value</a:t>
            </a:r>
          </a:p>
          <a:p xmlns:a="http://schemas.openxmlformats.org/drawingml/2006/main">
            <a:r>
              <a:t>print(checked_temperature("23.5"))</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checked_temperature(raw):` | 수치 원문을 검사하는 함수를 정의합니다. |</a:t>
            </a:r>
          </a:p>
          <a:p xmlns:a="http://schemas.openxmlformats.org/drawingml/2006/main">
            <a:r>
              <a:t>| 2 | `    value = float(raw)` | 숫자로 해석합니다. |</a:t>
            </a:r>
          </a:p>
          <a:p xmlns:a="http://schemas.openxmlformats.org/drawingml/2006/main">
            <a:r>
              <a:t>| 3 | `    if value &lt; 0 or value &gt; 50:` | 아래 또는 위 경계를 벗어나는지 묻습니다. |</a:t>
            </a:r>
          </a:p>
          <a:p xmlns:a="http://schemas.openxmlformats.org/drawingml/2006/main">
            <a:r>
              <a:t>| 4 | `        raise ValueError("범위 확인 필요")` | 범위 문제를 예외로 알립니다. |</a:t>
            </a:r>
          </a:p>
          <a:p xmlns:a="http://schemas.openxmlformats.org/drawingml/2006/main">
            <a:r>
              <a:t>| 5 | `    return value` | 허용 숫자를 반환합니다. |</a:t>
            </a:r>
          </a:p>
          <a:p xmlns:a="http://schemas.openxmlformats.org/drawingml/2006/main">
            <a:r>
              <a:t>| 6 | `print(checked_temperature("23.5"))` | 정상 입력으로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23.5</a:t>
            </a:r>
          </a:p>
          <a:p xmlns:a="http://schemas.openxmlformats.org/drawingml/2006/main">
            <a:r>
              <a:t>```</a:t>
            </a:r>
          </a:p>
          <a:p xmlns:a="http://schemas.openxmlformats.org/drawingml/2006/main">
            <a:r>
              <a:t/>
            </a:r>
          </a:p>
          <a:p xmlns:a="http://schemas.openxmlformats.org/drawingml/2006/main">
            <a:r>
              <a:t>작은 수정: `"23.5"`를 `"50"`로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50.0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변환과 범위 검사를 표시합니다.</a:t>
            </a:r>
          </a:p>
          <a:p xmlns:a="http://schemas.openxmlformats.org/drawingml/2006/main">
            <a:r>
              <a:t>2. 0·50·51.0의 기대 결과를 씁니다.</a:t>
            </a:r>
          </a:p>
          <a:p xmlns:a="http://schemas.openxmlformats.org/drawingml/2006/main">
            <a:r>
              <a:t>3. 경계와 오류 입력을 비교합니다.</a:t>
            </a:r>
          </a:p>
          <a:p xmlns:a="http://schemas.openxmlformats.org/drawingml/2006/main">
            <a:r>
              <a:t>4. 원문과 확인 이유를 남깁니다.</a:t>
            </a:r>
          </a:p>
          <a:p xmlns:a="http://schemas.openxmlformats.org/drawingml/2006/main">
            <a:r>
              <a:t/>
            </a:r>
          </a:p>
          <a:p xmlns:a="http://schemas.openxmlformats.org/drawingml/2006/main">
            <a:r>
              <a:t>예상 결과: 0·50은 허용하고 51.0은 범위 오류입니다.</a:t>
            </a:r>
          </a:p>
          <a:p xmlns:a="http://schemas.openxmlformats.org/drawingml/2006/main">
            <a:r>
              <a:t/>
            </a:r>
          </a:p>
          <a:p xmlns:a="http://schemas.openxmlformats.org/drawingml/2006/main">
            <a:r>
              <a:t>확인 질문: 범위 통과가 실제 센서 정확도를 증명하나요?</a:t>
            </a:r>
          </a:p>
          <a:p xmlns:a="http://schemas.openxmlformats.org/drawingml/2006/main">
            <a:r>
              <a:t/>
            </a:r>
          </a:p>
          <a:p xmlns:a="http://schemas.openxmlformats.org/drawingml/2006/main">
            <a:r>
              <a:t>막혔을 때: or를 and로 바꿨다면 두 조건의 뜻을 읽습니다. 동시에 0보다 작고 50보다 큰 값은 찾을 수 없습니다.</a:t>
            </a:r>
          </a:p>
          <a:p xmlns:a="http://schemas.openxmlformats.org/drawingml/2006/main">
            <a:r>
              <a:t/>
            </a:r>
          </a:p>
          <a:p xmlns:a="http://schemas.openxmlformats.org/drawingml/2006/main">
            <a:r>
              <a:t>[활동 자료와 작성칸](practice-guide.md#a13--범위-규칙을-함수에서-확인하기)에서 A13를 엽니다.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https://zeusk302-png.github.io/kdigital-physical-ai/#/sessions/2026-10-15/lesson?activity=A13</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A13 상세 원문]</a:t>
            </a:r>
          </a:p>
          <a:p xmlns:a="http://schemas.openxmlformats.org/drawingml/2006/main">
            <a:r>
              <a:t>### 사례로 이해하기 · 허용 범위의 바깥과 경계를 검사하기</a:t>
            </a:r>
          </a:p>
          <a:p xmlns:a="http://schemas.openxmlformats.org/drawingml/2006/main">
            <a:r>
              <a:t/>
            </a:r>
          </a:p>
          <a:p xmlns:a="http://schemas.openxmlformats.org/drawingml/2006/main">
            <a:r>
              <a:t/>
            </a:r>
          </a:p>
          <a:p xmlns:a="http://schemas.openxmlformats.org/drawingml/2006/main">
            <a:r>
              <a:t/>
            </a:r>
          </a:p>
          <a:p xmlns:a="http://schemas.openxmlformats.org/drawingml/2006/main">
            <a:r>
              <a:t>접수 시스템은 물품 수량을 0개부터 20개까지 받습니다. 21은 숫자로 바꿀 수 있지만 정해 둔 수량 범위에는 맞지 않습니다. 숫자로 바꿀 수 있는지와 허용 범위 안인지는 따로 검사합니다. 먼저 “스물”은 숫자 표현이 아니라 변환에서 멈추고, 21은 숫자로 읽힌 뒤 범위에서 멈춥니다. 0은 실제 수량이 없다는 뜻이며 이번 규칙에서는 허용합니다. 같은 ValueError라는 결과가 나올 수 있어도 어떤 규칙과 원문 때문에 실패했는지 기록합니다.</a:t>
            </a:r>
          </a:p>
          <a:p xmlns:a="http://schemas.openxmlformats.org/drawingml/2006/main">
            <a:r>
              <a:t/>
            </a:r>
          </a:p>
          <a:p xmlns:a="http://schemas.openxmlformats.org/drawingml/2006/main">
            <a:r>
              <a:t>0≤수량≤20을 수직선으로 그리면 두 끝점이 포함됩니다. 바깥은 ‘0보다 작음 또는 20보다 큼’입니다. or는 둘 중 하나라도 참이면 참이고 and는 둘 다 참이어야 참입니다. 완성 검수표는 -1 거부, 0 허용, 10 허용, 20 허용, 21 거부입니다. 경계 0과 20을 보지 않으면 &lt;와 &lt;=를 바꾼 실수를 놓칠 수 있습니다. ‘0보다 작고 동시에 20보다 큼’이라는 and 조건은 한 숫자에 성립하지 않아 범위 밖을 놓칩니다.</a:t>
            </a:r>
          </a:p>
          <a:p xmlns:a="http://schemas.openxmlformats.org/drawingml/2006/main">
            <a:r>
              <a:t/>
            </a:r>
          </a:p>
          <a:p xmlns:a="http://schemas.openxmlformats.org/drawingml/2006/main">
            <a:r>
              <a:t>20이 재고 한도인지 주문 수량 한도인지도 규칙에 적어야 합니다. 같은 숫자 20을 모든 업무의 기준으로 재사용하지 않습니다. 21을 자동으로 20으로 잘라 저장하면 검사 대신 원자료 변경을 수행한 것입니다. 담당자의 확인 없이 실제 수량을 고치지 않고 거부 사유와 원문을 남깁니다. 수정 검증은 실패 입력 한 건만 다시 보는 것이 아닙니다. 기준 비교를 바꿨다면 정상·양쪽 경계·양쪽 바깥의 다섯 사례를 다시 봅니다. 통과한 사례 수와 검사하지 않은 종류를 구별해서 보고합니다. 이 예제는 정수 개수를 받습니다. 1.5개 같은 값을 허용할지는 따로 정해야 합니다. 범위 통과만으로 정수 조건이나 실물 재고의 정확성이 증명되지는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수업용 배터리 기록의 허용 충전율은 0~100%입니다. -0.1, 0, 50, 100, 100.1의 기대 결과와 바깥을 찾는 논리 문장을 쓰세요. 100.1을 100으로 자동 변경해도 되는지 근거를 설명하세요.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양 끝 -0.1·100.1은 거부, 0·50·100은 허용입니다. ‘0 미만 또는 100 초과’가 바깥입니다. 자동 변경은 원문을 바꾸므로 현재 검사 규칙에서는 허용하지 않습니다. and로 쓰면 두 바깥 조건을 동시에 만족하는 값이 없어 오류를 놓칩니다.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**변환 성공이 허용 성공인가요?** 숫자 표현과 업무 범위·정수 조건은 별도 검사입니다.</a:t>
            </a:r>
          </a:p>
          <a:p xmlns:a="http://schemas.openxmlformats.org/drawingml/2006/main">
            <a:r>
              <a:t/>
            </a:r>
          </a:p>
          <a:p xmlns:a="http://schemas.openxmlformats.org/drawingml/2006/main">
            <a:r>
              <a:t>2. **범위 밖에 왜 or를 쓰나요?** 아래쪽이나 위쪽 중 하나만 벗어나도 거부해야 하기 때문입니다.</a:t>
            </a:r>
          </a:p>
          <a:p xmlns:a="http://schemas.openxmlformats.org/drawingml/2006/main">
            <a:r>
              <a:t/>
            </a:r>
          </a:p>
          <a:p xmlns:a="http://schemas.openxmlformats.org/drawingml/2006/main">
            <a:r>
              <a:t>3. **통과가 실제 정확성을 뜻하나요?** 입력 규칙에 맞았다는 뜻이며 실제 측정·기록 정확성은 따로 확인합니다.</a:t>
            </a:r>
          </a:p>
          <a:p xmlns:a="http://schemas.openxmlformats.org/drawingml/2006/main">
            <a:r>
              <a:t/>
            </a:r>
          </a:p>
          <a:p xmlns:a="http://schemas.openxmlformats.org/drawingml/2006/main">
            <a:r>
              <a:t/>
            </a:r>
          </a:p>
          <a:p xmlns:a="http://schemas.openxmlformats.org/drawingml/2006/main">
            <a:r>
              <a:t>**개념.** 숫자로 변환할 수 있다는 것과 허용 범위 안에 있다는 것은 다른 검사입니다. 값이 0~50인지 확인하고 벗어나면 이유를 예외로 알립니다.</a:t>
            </a:r>
          </a:p>
          <a:p xmlns:a="http://schemas.openxmlformats.org/drawingml/2006/main">
            <a:r>
              <a:t/>
            </a:r>
          </a:p>
          <a:p xmlns:a="http://schemas.openxmlformats.org/drawingml/2006/main">
            <a:r>
              <a:t>**왜 필요한가.** 51.0은 숫자이므로 float는 성공하지만 실습 입력 규칙에는 맞지 않습니다. 변환과 규칙 검사를 분리하여 읽어야 합니다.</a:t>
            </a:r>
          </a:p>
          <a:p xmlns:a="http://schemas.openxmlformats.org/drawingml/2006/main">
            <a:r>
              <a:t/>
            </a:r>
          </a:p>
          <a:p xmlns:a="http://schemas.openxmlformats.org/drawingml/2006/main">
            <a:r>
              <a:t>**함께 보는 예.** 23.5는 반환하고 51.0은 범위 확인 필요를 알립니다.0과 50은 허용 경계입니다. 이 범위는 실습의 입력 약속이며 실제 장비 안전 기준이 아닙니다.</a:t>
            </a:r>
          </a:p>
          <a:p xmlns:a="http://schemas.openxmlformats.org/drawingml/2006/main">
            <a:r>
              <a:t/>
            </a:r>
          </a:p>
          <a:p xmlns:a="http://schemas.openxmlformats.org/drawingml/2006/main">
            <a:r>
              <a:t>**헷갈리는 경우.** 51.0을 자동으로 50으로 자르면 원자료를 바꿉니다. 실제값을 모르면 원문을 보존하고 확인 요청을 남깁니다.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checked_temperature(raw):</a:t>
            </a:r>
          </a:p>
          <a:p xmlns:a="http://schemas.openxmlformats.org/drawingml/2006/main">
            <a:r>
              <a:t>    value = float(raw)</a:t>
            </a:r>
          </a:p>
          <a:p xmlns:a="http://schemas.openxmlformats.org/drawingml/2006/main">
            <a:r>
              <a:t>    if value &lt; 0 or value &gt; 50:</a:t>
            </a:r>
          </a:p>
          <a:p xmlns:a="http://schemas.openxmlformats.org/drawingml/2006/main">
            <a:r>
              <a:t>        raise ValueError("범위 확인 필요")</a:t>
            </a:r>
          </a:p>
          <a:p xmlns:a="http://schemas.openxmlformats.org/drawingml/2006/main">
            <a:r>
              <a:t>    return value</a:t>
            </a:r>
          </a:p>
          <a:p xmlns:a="http://schemas.openxmlformats.org/drawingml/2006/main">
            <a:r>
              <a:t>print(checked_temperature("23.5"))</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checked_temperature(raw):` | 수치 원문을 검사하는 함수를 정의합니다. |</a:t>
            </a:r>
          </a:p>
          <a:p xmlns:a="http://schemas.openxmlformats.org/drawingml/2006/main">
            <a:r>
              <a:t>| 2 | `    value = float(raw)` | 숫자로 해석합니다. |</a:t>
            </a:r>
          </a:p>
          <a:p xmlns:a="http://schemas.openxmlformats.org/drawingml/2006/main">
            <a:r>
              <a:t>| 3 | `    if value &lt; 0 or value &gt; 50:` | 아래 또는 위 경계를 벗어나는지 묻습니다. |</a:t>
            </a:r>
          </a:p>
          <a:p xmlns:a="http://schemas.openxmlformats.org/drawingml/2006/main">
            <a:r>
              <a:t>| 4 | `        raise ValueError("범위 확인 필요")` | 범위 문제를 예외로 알립니다. |</a:t>
            </a:r>
          </a:p>
          <a:p xmlns:a="http://schemas.openxmlformats.org/drawingml/2006/main">
            <a:r>
              <a:t>| 5 | `    return value` | 허용 숫자를 반환합니다. |</a:t>
            </a:r>
          </a:p>
          <a:p xmlns:a="http://schemas.openxmlformats.org/drawingml/2006/main">
            <a:r>
              <a:t>| 6 | `print(checked_temperature("23.5"))` | 정상 입력으로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23.5</a:t>
            </a:r>
          </a:p>
          <a:p xmlns:a="http://schemas.openxmlformats.org/drawingml/2006/main">
            <a:r>
              <a:t>```</a:t>
            </a:r>
          </a:p>
          <a:p xmlns:a="http://schemas.openxmlformats.org/drawingml/2006/main">
            <a:r>
              <a:t/>
            </a:r>
          </a:p>
          <a:p xmlns:a="http://schemas.openxmlformats.org/drawingml/2006/main">
            <a:r>
              <a:t>작은 수정: `"23.5"`를 `"50"`로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50.0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변환과 범위 검사를 표시합니다.</a:t>
            </a:r>
          </a:p>
          <a:p xmlns:a="http://schemas.openxmlformats.org/drawingml/2006/main">
            <a:r>
              <a:t>2. 0·50·51.0의 기대 결과를 씁니다.</a:t>
            </a:r>
          </a:p>
          <a:p xmlns:a="http://schemas.openxmlformats.org/drawingml/2006/main">
            <a:r>
              <a:t>3. 경계와 오류 입력을 비교합니다.</a:t>
            </a:r>
          </a:p>
          <a:p xmlns:a="http://schemas.openxmlformats.org/drawingml/2006/main">
            <a:r>
              <a:t>4. 원문과 확인 이유를 남깁니다.</a:t>
            </a:r>
          </a:p>
          <a:p xmlns:a="http://schemas.openxmlformats.org/drawingml/2006/main">
            <a:r>
              <a:t/>
            </a:r>
          </a:p>
          <a:p xmlns:a="http://schemas.openxmlformats.org/drawingml/2006/main">
            <a:r>
              <a:t>예상 결과: 0·50은 허용하고 51.0은 범위 오류입니다.</a:t>
            </a:r>
          </a:p>
          <a:p xmlns:a="http://schemas.openxmlformats.org/drawingml/2006/main">
            <a:r>
              <a:t/>
            </a:r>
          </a:p>
          <a:p xmlns:a="http://schemas.openxmlformats.org/drawingml/2006/main">
            <a:r>
              <a:t>확인 질문: 범위 통과가 실제 센서 정확도를 증명하나요?</a:t>
            </a:r>
          </a:p>
          <a:p xmlns:a="http://schemas.openxmlformats.org/drawingml/2006/main">
            <a:r>
              <a:t/>
            </a:r>
          </a:p>
          <a:p xmlns:a="http://schemas.openxmlformats.org/drawingml/2006/main">
            <a:r>
              <a:t>막혔을 때: or를 and로 바꿨다면 두 조건의 뜻을 읽습니다. 동시에 0보다 작고 50보다 큰 값은 찾을 수 없습니다.</a:t>
            </a:r>
          </a:p>
          <a:p xmlns:a="http://schemas.openxmlformats.org/drawingml/2006/main">
            <a:r>
              <a:t/>
            </a:r>
          </a:p>
          <a:p xmlns:a="http://schemas.openxmlformats.org/drawingml/2006/main">
            <a:r>
              <a:t>[활동 자료와 작성칸](practice-guide.md#a13--범위-규칙을-함수에서-확인하기)에서 A13를 엽니다.</a:t>
            </a:r>
          </a:p>
          <a:p xmlns:a="http://schemas.openxmlformats.org/drawingml/2006/main">
            <a:r>
              <a:t/>
            </a:r>
          </a:p>
          <a:p xmlns:a="http://schemas.openxmlformats.org/drawingml/2006/main">
            <a:r>
              <a:t>화면 예의 출처: D:/KDigital_PhysicalAI/.build/copyedited-ppt/spec-2026-10-15.json#slide-69;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https://zeusk302-png.github.io/kdigital-physical-ai/#/sessions/2026-10-15/lesson?activity=A13</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A14 상세 원문]</a:t>
            </a:r>
          </a:p>
          <a:p xmlns:a="http://schemas.openxmlformats.org/drawingml/2006/main">
            <a:r>
              <a:t>**개념.** 수정 검증은 확인된 근거로 한 부분을 바꾸고 실패 사례와 기존 성공 사례를 다시 확인하는 일입니다. 오류가 사라졌는지뿐 아니라 원래 의미가 유지되는지 봅니다.</a:t>
            </a:r>
          </a:p>
          <a:p xmlns:a="http://schemas.openxmlformats.org/drawingml/2006/main">
            <a:r>
              <a:t/>
            </a:r>
          </a:p>
          <a:p xmlns:a="http://schemas.openxmlformats.org/drawingml/2006/main">
            <a:r>
              <a:t>**왜 필요한가.** 한 문제를 고치며 미측정을 0으로 바꾸거나 경계를 바꿀 수 있습니다. 원문·지시·수정 위치·재확인을 함께 남겨야 이유가 전달됩니다.</a:t>
            </a:r>
          </a:p>
          <a:p xmlns:a="http://schemas.openxmlformats.org/drawingml/2006/main">
            <a:r>
              <a:t/>
            </a:r>
          </a:p>
          <a:p xmlns:a="http://schemas.openxmlformats.org/drawingml/2006/main">
            <a:r>
              <a:t>**함께 보는 예.** 지시서에서 S05의 ‘뜨거움’은 23.5로 확정되었고 S06의 51.0은 미확인입니다. 전자는 근거로 수정하고 후자는 원문 이슈로 남깁니다.</a:t>
            </a:r>
          </a:p>
          <a:p xmlns:a="http://schemas.openxmlformats.org/drawingml/2006/main">
            <a:r>
              <a:t/>
            </a:r>
          </a:p>
          <a:p xmlns:a="http://schemas.openxmlformats.org/drawingml/2006/main">
            <a:r>
              <a:t>**헷갈리는 경우.** 문제가 두 건이라고 둘 다null로 바꾸면 잘못된 숫자와 미측정을 합칩니다. 확인된 수정과 미확인 보류를 구별합니다.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확정 지시: S05 10:05는23.5℃로 확인됨.</a:t>
            </a:r>
          </a:p>
          <a:p xmlns:a="http://schemas.openxmlformats.org/drawingml/2006/main">
            <a:r>
              <a:t>미확정: S06 10:05의51.0은 실제값미확인.</a:t>
            </a:r>
          </a:p>
          <a:p xmlns:a="http://schemas.openxmlformats.org/drawingml/2006/main">
            <a:r>
              <a:t>재확인: 정상22.5 / 빈칸 / 실제0.0 / 경계50.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확정과 미확정 지시를 나눕니다.</a:t>
            </a:r>
          </a:p>
          <a:p xmlns:a="http://schemas.openxmlformats.org/drawingml/2006/main">
            <a:r>
              <a:t>2. work/correction_notes.md에 전후값과 근거를 씁니다.</a:t>
            </a:r>
          </a:p>
          <a:p xmlns:a="http://schemas.openxmlformats.org/drawingml/2006/main">
            <a:r>
              <a:t>3. work/bad_readings_work.csv에서 S05 한 값만 고칩니다.</a:t>
            </a:r>
          </a:p>
          <a:p xmlns:a="http://schemas.openxmlformats.org/drawingml/2006/main">
            <a:r>
              <a:t>4. 정상·미측정·0·범위의 재확인 표를 작성합니다.</a:t>
            </a:r>
          </a:p>
          <a:p xmlns:a="http://schemas.openxmlformats.org/drawingml/2006/main">
            <a:r>
              <a:t/>
            </a:r>
          </a:p>
          <a:p xmlns:a="http://schemas.openxmlformats.org/drawingml/2006/main">
            <a:r>
              <a:t>예상 결과: S05만 23.5로 수정하고 S06원문과 확인 이유를 남깁니다.</a:t>
            </a:r>
          </a:p>
          <a:p xmlns:a="http://schemas.openxmlformats.org/drawingml/2006/main">
            <a:r>
              <a:t/>
            </a:r>
          </a:p>
          <a:p xmlns:a="http://schemas.openxmlformats.org/drawingml/2006/main">
            <a:r>
              <a:t>확인 질문: 이슈 건수만 줄면 좋은 수정인가요?</a:t>
            </a:r>
          </a:p>
          <a:p xmlns:a="http://schemas.openxmlformats.org/drawingml/2006/main">
            <a:r>
              <a:t/>
            </a:r>
          </a:p>
          <a:p xmlns:a="http://schemas.openxmlformats.org/drawingml/2006/main">
            <a:r>
              <a:t>막혔을 때: 확정되지 않은 실제값은 추측하지 않습니다. 어느 값이 왜 미확인인지 씁니다.</a:t>
            </a:r>
          </a:p>
          <a:p xmlns:a="http://schemas.openxmlformats.org/drawingml/2006/main">
            <a:r>
              <a:t/>
            </a:r>
          </a:p>
          <a:p xmlns:a="http://schemas.openxmlformats.org/drawingml/2006/main">
            <a:r>
              <a:t>[활동 자료와 작성칸](practice-guide.md#a14--한-값-수정-뒤-같은-사례-재확인)에서 A14를 엽니다.</a:t>
            </a:r>
          </a:p>
          <a:p xmlns:a="http://schemas.openxmlformats.org/drawingml/2006/main">
            <a:r>
              <a:t/>
            </a:r>
          </a:p>
          <a:p xmlns:a="http://schemas.openxmlformats.org/drawingml/2006/main">
            <a:r>
              <a:t>화면 예의 출처: D:/KDigital_PhysicalAI/.build/copyedited-ppt/spec-2026-10-15.json#slide-73;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https://zeusk302-png.github.io/kdigital-physical-ai/#/sessions/2026-10-15/lesson?activity=A14</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A14 상세 원문]</a:t>
            </a:r>
          </a:p>
          <a:p xmlns:a="http://schemas.openxmlformats.org/drawingml/2006/main">
            <a:r>
              <a:t>**개념.** 수정 검증은 확인된 근거로 한 부분을 바꾸고 실패 사례와 기존 성공 사례를 다시 확인하는 일입니다. 오류가 사라졌는지뿐 아니라 원래 의미가 유지되는지 봅니다.</a:t>
            </a:r>
          </a:p>
          <a:p xmlns:a="http://schemas.openxmlformats.org/drawingml/2006/main">
            <a:r>
              <a:t/>
            </a:r>
          </a:p>
          <a:p xmlns:a="http://schemas.openxmlformats.org/drawingml/2006/main">
            <a:r>
              <a:t>**왜 필요한가.** 한 문제를 고치며 미측정을 0으로 바꾸거나 경계를 바꿀 수 있습니다. 원문·지시·수정 위치·재확인을 함께 남겨야 이유가 전달됩니다.</a:t>
            </a:r>
          </a:p>
          <a:p xmlns:a="http://schemas.openxmlformats.org/drawingml/2006/main">
            <a:r>
              <a:t/>
            </a:r>
          </a:p>
          <a:p xmlns:a="http://schemas.openxmlformats.org/drawingml/2006/main">
            <a:r>
              <a:t>**함께 보는 예.** 지시서에서 S05의 ‘뜨거움’은 23.5로 확정되었고 S06의 51.0은 미확인입니다. 전자는 근거로 수정하고 후자는 원문 이슈로 남깁니다.</a:t>
            </a:r>
          </a:p>
          <a:p xmlns:a="http://schemas.openxmlformats.org/drawingml/2006/main">
            <a:r>
              <a:t/>
            </a:r>
          </a:p>
          <a:p xmlns:a="http://schemas.openxmlformats.org/drawingml/2006/main">
            <a:r>
              <a:t>**헷갈리는 경우.** 문제가 두 건이라고 둘 다null로 바꾸면 잘못된 숫자와 미측정을 합칩니다. 확인된 수정과 미확인 보류를 구별합니다.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확정 지시: S05 10:05는23.5℃로 확인됨.</a:t>
            </a:r>
          </a:p>
          <a:p xmlns:a="http://schemas.openxmlformats.org/drawingml/2006/main">
            <a:r>
              <a:t>미확정: S06 10:05의51.0은 실제값미확인.</a:t>
            </a:r>
          </a:p>
          <a:p xmlns:a="http://schemas.openxmlformats.org/drawingml/2006/main">
            <a:r>
              <a:t>재확인: 정상22.5 / 빈칸 / 실제0.0 / 경계50.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확정과 미확정 지시를 나눕니다.</a:t>
            </a:r>
          </a:p>
          <a:p xmlns:a="http://schemas.openxmlformats.org/drawingml/2006/main">
            <a:r>
              <a:t>2. work/correction_notes.md에 전후값과 근거를 씁니다.</a:t>
            </a:r>
          </a:p>
          <a:p xmlns:a="http://schemas.openxmlformats.org/drawingml/2006/main">
            <a:r>
              <a:t>3. work/bad_readings_work.csv에서 S05 한 값만 고칩니다.</a:t>
            </a:r>
          </a:p>
          <a:p xmlns:a="http://schemas.openxmlformats.org/drawingml/2006/main">
            <a:r>
              <a:t>4. 정상·미측정·0·범위의 재확인 표를 작성합니다.</a:t>
            </a:r>
          </a:p>
          <a:p xmlns:a="http://schemas.openxmlformats.org/drawingml/2006/main">
            <a:r>
              <a:t/>
            </a:r>
          </a:p>
          <a:p xmlns:a="http://schemas.openxmlformats.org/drawingml/2006/main">
            <a:r>
              <a:t>예상 결과: S05만 23.5로 수정하고 S06원문과 확인 이유를 남깁니다.</a:t>
            </a:r>
          </a:p>
          <a:p xmlns:a="http://schemas.openxmlformats.org/drawingml/2006/main">
            <a:r>
              <a:t/>
            </a:r>
          </a:p>
          <a:p xmlns:a="http://schemas.openxmlformats.org/drawingml/2006/main">
            <a:r>
              <a:t>확인 질문: 이슈 건수만 줄면 좋은 수정인가요?</a:t>
            </a:r>
          </a:p>
          <a:p xmlns:a="http://schemas.openxmlformats.org/drawingml/2006/main">
            <a:r>
              <a:t/>
            </a:r>
          </a:p>
          <a:p xmlns:a="http://schemas.openxmlformats.org/drawingml/2006/main">
            <a:r>
              <a:t>막혔을 때: 확정되지 않은 실제값은 추측하지 않습니다. 어느 값이 왜 미확인인지 씁니다.</a:t>
            </a:r>
          </a:p>
          <a:p xmlns:a="http://schemas.openxmlformats.org/drawingml/2006/main">
            <a:r>
              <a:t/>
            </a:r>
          </a:p>
          <a:p xmlns:a="http://schemas.openxmlformats.org/drawingml/2006/main">
            <a:r>
              <a:t>[활동 자료와 작성칸](practice-guide.md#a14--한-값-수정-뒤-같은-사례-재확인)에서 A14를 엽니다.</a:t>
            </a:r>
          </a:p>
          <a:p xmlns:a="http://schemas.openxmlformats.org/drawingml/2006/main">
            <a:r>
              <a:t/>
            </a:r>
          </a:p>
          <a:p xmlns:a="http://schemas.openxmlformats.org/drawingml/2006/main">
            <a:r>
              <a:t>화면 예의 출처: D:/KDigital_PhysicalAI/.build/copyedited-ppt/spec-2026-10-15.json#slide-69;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https://zeusk302-png.github.io/kdigital-physical-ai/#/sessions/2026-10-15/lesson?activity=A14</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A15 상세 원문]</a:t>
            </a:r>
          </a:p>
          <a:p xmlns:a="http://schemas.openxmlformats.org/drawingml/2006/main">
            <a:r>
              <a:t>**개념.** 실행 계약은 받을 입력 파일과 결과 파일의 위치·뜻을 정한 약속입니다. 함수의 입력·반환을 프로그램 전체의 파일 수준으로 확장합니다.</a:t>
            </a:r>
          </a:p>
          <a:p xmlns:a="http://schemas.openxmlformats.org/drawingml/2006/main">
            <a:r>
              <a:t/>
            </a:r>
          </a:p>
          <a:p xmlns:a="http://schemas.openxmlformats.org/drawingml/2006/main">
            <a:r>
              <a:t>**왜 필요한가.** 원본과 수정 사본 중 무엇을 읽었는지 모르면 결과 대조가 틀릴 수 있습니다. 실행 완료와 데이터 이슈가 없다는 사실도 별도입니다.</a:t>
            </a:r>
          </a:p>
          <a:p xmlns:a="http://schemas.openxmlformats.org/drawingml/2006/main">
            <a:r>
              <a:t/>
            </a:r>
          </a:p>
          <a:p xmlns:a="http://schemas.openxmlformats.org/drawingml/2006/main">
            <a:r>
              <a:t>**함께 보는 예.** 검사기는 data/bad_readings.csv를 읽고 work/check_summary.json과 check_issues.json을 만듭니다.6건 중 숫자·미측정 4건을 받아들이고 2건을 이슈로 남깁니다.</a:t>
            </a:r>
          </a:p>
          <a:p xmlns:a="http://schemas.openxmlformats.org/drawingml/2006/main">
            <a:r>
              <a:t/>
            </a:r>
          </a:p>
          <a:p xmlns:a="http://schemas.openxmlformats.org/drawingml/2006/main">
            <a:r>
              <a:t>**헷갈리는 경우.** 정상 종료해도 이슈는 있을 수 있습니다. 여기서 종료 코드 0은 실행 완료를 뜻하며 입력 전체가 정확하다는 증명은 아닙니다.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입력6건 → 수락4건+이슈2건.</a:t>
            </a:r>
          </a:p>
          <a:p xmlns:a="http://schemas.openxmlformats.org/drawingml/2006/main">
            <a:r>
              <a:t>수락4건 → 수치3건+미측정1건.</a:t>
            </a:r>
          </a:p>
          <a:p xmlns:a="http://schemas.openxmlformats.org/drawingml/2006/main">
            <a:r>
              <a:t>미측정은 평균에서 제외, 실제0은 포함.</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세 파일의 위치를 그립니다.</a:t>
            </a:r>
          </a:p>
          <a:p xmlns:a="http://schemas.openxmlformats.org/drawingml/2006/main">
            <a:r>
              <a:t>2. 미측정과 실제 0의 집계 차이를 적습니다.</a:t>
            </a:r>
          </a:p>
          <a:p xmlns:a="http://schemas.openxmlformats.org/drawingml/2006/main">
            <a:r>
              <a:t>3. 실행 완료와 이슈 0건을 구별합니다.</a:t>
            </a:r>
          </a:p>
          <a:p xmlns:a="http://schemas.openxmlformats.org/drawingml/2006/main">
            <a:r>
              <a:t>4. 다음 활동의 예상 건수를 먼저 기록합니다.</a:t>
            </a:r>
          </a:p>
          <a:p xmlns:a="http://schemas.openxmlformats.org/drawingml/2006/main">
            <a:r>
              <a:t/>
            </a:r>
          </a:p>
          <a:p xmlns:a="http://schemas.openxmlformats.org/drawingml/2006/main">
            <a:r>
              <a:t>예상 결과: 전체 6,수락 4,이슈 2,미측정 1,수치 3.</a:t>
            </a:r>
          </a:p>
          <a:p xmlns:a="http://schemas.openxmlformats.org/drawingml/2006/main">
            <a:r>
              <a:t/>
            </a:r>
          </a:p>
          <a:p xmlns:a="http://schemas.openxmlformats.org/drawingml/2006/main">
            <a:r>
              <a:t>확인 질문: 미측정도 분모에 넣어 4로 나누면 무엇이 바뀌나요?</a:t>
            </a:r>
          </a:p>
          <a:p xmlns:a="http://schemas.openxmlformats.org/drawingml/2006/main">
            <a:r>
              <a:t/>
            </a:r>
          </a:p>
          <a:p xmlns:a="http://schemas.openxmlformats.org/drawingml/2006/main">
            <a:r>
              <a:t>막혔을 때: 전체=수락+이슈, 수락=수치+미측정의 두 관계를 나누어 확인합니다.</a:t>
            </a:r>
          </a:p>
          <a:p xmlns:a="http://schemas.openxmlformats.org/drawingml/2006/main">
            <a:r>
              <a:t/>
            </a:r>
          </a:p>
          <a:p xmlns:a="http://schemas.openxmlformats.org/drawingml/2006/main">
            <a:r>
              <a:t>[활동 자료와 작성칸](practice-guide.md#a15--입력처리출력의-실행-계약)에서 A15를 엽니다.</a:t>
            </a:r>
          </a:p>
          <a:p xmlns:a="http://schemas.openxmlformats.org/drawingml/2006/main">
            <a:r>
              <a:t/>
            </a:r>
          </a:p>
          <a:p xmlns:a="http://schemas.openxmlformats.org/drawingml/2006/main">
            <a:r>
              <a:t># 6구간 · 로그 검사기와 사용 안내</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https://zeusk302-png.github.io/kdigital-physical-ai/#/sessions/2026-10-15/lesson?activity=A15</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A15 상세 원문]</a:t>
            </a:r>
          </a:p>
          <a:p xmlns:a="http://schemas.openxmlformats.org/drawingml/2006/main">
            <a:r>
              <a:t>**개념.** 실행 계약은 받을 입력 파일과 결과 파일의 위치·뜻을 정한 약속입니다. 함수의 입력·반환을 프로그램 전체의 파일 수준으로 확장합니다.</a:t>
            </a:r>
          </a:p>
          <a:p xmlns:a="http://schemas.openxmlformats.org/drawingml/2006/main">
            <a:r>
              <a:t/>
            </a:r>
          </a:p>
          <a:p xmlns:a="http://schemas.openxmlformats.org/drawingml/2006/main">
            <a:r>
              <a:t>**왜 필요한가.** 원본과 수정 사본 중 무엇을 읽었는지 모르면 결과 대조가 틀릴 수 있습니다. 실행 완료와 데이터 이슈가 없다는 사실도 별도입니다.</a:t>
            </a:r>
          </a:p>
          <a:p xmlns:a="http://schemas.openxmlformats.org/drawingml/2006/main">
            <a:r>
              <a:t/>
            </a:r>
          </a:p>
          <a:p xmlns:a="http://schemas.openxmlformats.org/drawingml/2006/main">
            <a:r>
              <a:t>**함께 보는 예.** 검사기는 data/bad_readings.csv를 읽고 work/check_summary.json과 check_issues.json을 만듭니다.6건 중 숫자·미측정 4건을 받아들이고 2건을 이슈로 남깁니다.</a:t>
            </a:r>
          </a:p>
          <a:p xmlns:a="http://schemas.openxmlformats.org/drawingml/2006/main">
            <a:r>
              <a:t/>
            </a:r>
          </a:p>
          <a:p xmlns:a="http://schemas.openxmlformats.org/drawingml/2006/main">
            <a:r>
              <a:t>**헷갈리는 경우.** 정상 종료해도 이슈는 있을 수 있습니다. 여기서 종료 코드 0은 실행 완료를 뜻하며 입력 전체가 정확하다는 증명은 아닙니다.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입력6건 → 수락4건+이슈2건.</a:t>
            </a:r>
          </a:p>
          <a:p xmlns:a="http://schemas.openxmlformats.org/drawingml/2006/main">
            <a:r>
              <a:t>수락4건 → 수치3건+미측정1건.</a:t>
            </a:r>
          </a:p>
          <a:p xmlns:a="http://schemas.openxmlformats.org/drawingml/2006/main">
            <a:r>
              <a:t>미측정은 평균에서 제외, 실제0은 포함.</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세 파일의 위치를 그립니다.</a:t>
            </a:r>
          </a:p>
          <a:p xmlns:a="http://schemas.openxmlformats.org/drawingml/2006/main">
            <a:r>
              <a:t>2. 미측정과 실제 0의 집계 차이를 적습니다.</a:t>
            </a:r>
          </a:p>
          <a:p xmlns:a="http://schemas.openxmlformats.org/drawingml/2006/main">
            <a:r>
              <a:t>3. 실행 완료와 이슈 0건을 구별합니다.</a:t>
            </a:r>
          </a:p>
          <a:p xmlns:a="http://schemas.openxmlformats.org/drawingml/2006/main">
            <a:r>
              <a:t>4. 다음 활동의 예상 건수를 먼저 기록합니다.</a:t>
            </a:r>
          </a:p>
          <a:p xmlns:a="http://schemas.openxmlformats.org/drawingml/2006/main">
            <a:r>
              <a:t/>
            </a:r>
          </a:p>
          <a:p xmlns:a="http://schemas.openxmlformats.org/drawingml/2006/main">
            <a:r>
              <a:t>예상 결과: 전체 6,수락 4,이슈 2,미측정 1,수치 3.</a:t>
            </a:r>
          </a:p>
          <a:p xmlns:a="http://schemas.openxmlformats.org/drawingml/2006/main">
            <a:r>
              <a:t/>
            </a:r>
          </a:p>
          <a:p xmlns:a="http://schemas.openxmlformats.org/drawingml/2006/main">
            <a:r>
              <a:t>확인 질문: 미측정도 분모에 넣어 4로 나누면 무엇이 바뀌나요?</a:t>
            </a:r>
          </a:p>
          <a:p xmlns:a="http://schemas.openxmlformats.org/drawingml/2006/main">
            <a:r>
              <a:t/>
            </a:r>
          </a:p>
          <a:p xmlns:a="http://schemas.openxmlformats.org/drawingml/2006/main">
            <a:r>
              <a:t>막혔을 때: 전체=수락+이슈, 수락=수치+미측정의 두 관계를 나누어 확인합니다.</a:t>
            </a:r>
          </a:p>
          <a:p xmlns:a="http://schemas.openxmlformats.org/drawingml/2006/main">
            <a:r>
              <a:t/>
            </a:r>
          </a:p>
          <a:p xmlns:a="http://schemas.openxmlformats.org/drawingml/2006/main">
            <a:r>
              <a:t>[활동 자료와 작성칸](practice-guide.md#a15--입력처리출력의-실행-계약)에서 A15를 엽니다.</a:t>
            </a:r>
          </a:p>
          <a:p xmlns:a="http://schemas.openxmlformats.org/drawingml/2006/main">
            <a:r>
              <a:t/>
            </a:r>
          </a:p>
          <a:p xmlns:a="http://schemas.openxmlformats.org/drawingml/2006/main">
            <a:r>
              <a:t># 6구간 · 로그 검사기와 사용 안내</a:t>
            </a:r>
          </a:p>
          <a:p xmlns:a="http://schemas.openxmlformats.org/drawingml/2006/main">
            <a:r>
              <a:t/>
            </a:r>
          </a:p>
          <a:p xmlns:a="http://schemas.openxmlformats.org/drawingml/2006/main">
            <a:r>
              <a:t>화면 예의 출처: D:/KDigital_PhysicalAI/.build/copyedited-ppt/spec-2026-10-15.json#slide-73;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https://zeusk302-png.github.io/kdigital-physical-ai/#/sessions/2026-10-15/lesson?activity=A15</a:t>
            </a:r>
          </a:p>
          <a:p xmlns:a="http://schemas.openxmlformats.org/drawingml/2006/main">
            <a:r>
              <a:t>공식 자료: https://docs.python.org/3/tutorial/controlflow.html</a:t>
            </a:r>
          </a:p>
          <a:p xmlns:a="http://schemas.openxmlformats.org/drawingml/2006/main">
            <a:r>
              <a:t/>
            </a:r>
          </a:p>
          <a:p xmlns:a="http://schemas.openxmlformats.org/drawingml/2006/main">
            <a:r>
              <a:t>코드와 개념 해설: 수락=수치+미측정, 평균의 분모=수치 건수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접수 시스템은 물품 수량을 0개부터 20개까지 받습니다. 21은 숫자로 바꿀 수 있지만 정해 둔 수량 범위에는 맞지 않습니다. 숫자로 바꿀 수 있는지와 허용 범위 안인지는 따로 검사합니다. 먼저 “스물”은 숫자 표현이 아니라 변환에서 멈추고, 21은 숫자로 읽힌 뒤 범위에서 멈춥니다. 0은 실제 수량이 없다는 뜻이며 이번 규칙에서는 허용합니다. 같은 ValueError라는 결과가 나올 수 있어도 어떤 규칙과 원문 때문에 실패했는지 기록합니다.</a:t>
            </a:r>
          </a:p>
          <a:p xmlns:a="http://schemas.openxmlformats.org/drawingml/2006/main">
            <a:r>
              <a:t/>
            </a:r>
          </a:p>
          <a:p xmlns:a="http://schemas.openxmlformats.org/drawingml/2006/main">
            <a:r>
              <a:t>0≤수량≤20을 수직선으로 그리면 두 끝점이 포함됩니다. 바깥은 ‘0보다 작음 또는 20보다 큼’입니다. or는 둘 중 하나라도 참이면 참이고 and는 둘 다 참이어야 참입니다. 완성 검수표는 -1 거부, 0 허용, 10 허용, 20 허용, 21 거부입니다. 경계 0과 20을 보지 않으면 &lt;와 &lt;=를 바꾼 실수를 놓칠 수 있습니다. ‘0보다 작고 동시에 20보다 큼’이라는 and 조건은 한 숫자에 성립하지 않아 범위 밖을 놓칩니다.</a:t>
            </a:r>
          </a:p>
          <a:p xmlns:a="http://schemas.openxmlformats.org/drawingml/2006/main">
            <a:r>
              <a:t/>
            </a:r>
          </a:p>
          <a:p xmlns:a="http://schemas.openxmlformats.org/drawingml/2006/main">
            <a:r>
              <a:t>20이 재고 한도인지 주문 수량 한도인지도 규칙에 적어야 합니다. 같은 숫자 20을 모든 업무의 기준으로 재사용하지 않습니다. 21을 자동으로 20으로 잘라 저장하면 검사 대신 원자료 변경을 수행한 것입니다. 담당자의 확인 없이 실제 수량을 고치지 않고 거부 사유와 원문을 남깁니다. 수정 검증은 실패 입력 한 건만 다시 보는 것이 아닙니다. 기준 비교를 바꿨다면 정상·양쪽 경계·양쪽 바깥의 다섯 사례를 다시 봅니다. 통과한 사례 수와 검사하지 않은 종류를 구별해서 보고합니다. 이 예제는 정수 개수를 받습니다. 1.5개 같은 값을 허용할지는 따로 정해야 합니다. 범위 통과만으로 정수 조건이나 실물 재고의 정확성이 증명되지는 않습니다.</a:t>
            </a:r>
          </a:p>
          <a:p xmlns:a="http://schemas.openxmlformats.org/drawingml/2006/main">
            <a:r>
              <a:t/>
            </a:r>
          </a:p>
          <a:p xmlns:a="http://schemas.openxmlformats.org/drawingml/2006/main">
            <a:r>
              <a:t>화면 예의 출처: D:/KDigital_PhysicalAI/.build/copyedited-ppt/spec-2026-10-15.json#slide-76;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접수 시스템은 물품 수량을 0개부터 20개까지 받습니다. 21은 숫자로 바꿀 수 있지만 정해 둔 수량 범위에는 맞지 않습니다. 숫자로 바꿀 수 있는지와 허용 범위 안인지는 따로 검사합니다. 먼저 “스물”은 숫자 표현이 아니라 변환에서 멈추고, 21은 숫자로 읽힌 뒤 범위에서 멈춥니다. 0은 실제 수량이 없다는 뜻이며 이번 규칙에서는 허용합니다. 같은 ValueError라는 결과가 나올 수 있어도 어떤 규칙과 원문 때문에 실패했는지 기록합니다.</a:t>
            </a:r>
          </a:p>
          <a:p xmlns:a="http://schemas.openxmlformats.org/drawingml/2006/main">
            <a:r>
              <a:t/>
            </a:r>
          </a:p>
          <a:p xmlns:a="http://schemas.openxmlformats.org/drawingml/2006/main">
            <a:r>
              <a:t>0≤수량≤20을 수직선으로 그리면 두 끝점이 포함됩니다. 바깥은 ‘0보다 작음 또는 20보다 큼’입니다. or는 둘 중 하나라도 참이면 참이고 and는 둘 다 참이어야 참입니다. 완성 검수표는 -1 거부, 0 허용, 10 허용, 20 허용, 21 거부입니다. 경계 0과 20을 보지 않으면 &lt;와 &lt;=를 바꾼 실수를 놓칠 수 있습니다. ‘0보다 작고 동시에 20보다 큼’이라는 and 조건은 한 숫자에 성립하지 않아 범위 밖을 놓칩니다.</a:t>
            </a:r>
          </a:p>
          <a:p xmlns:a="http://schemas.openxmlformats.org/drawingml/2006/main">
            <a:r>
              <a:t/>
            </a:r>
          </a:p>
          <a:p xmlns:a="http://schemas.openxmlformats.org/drawingml/2006/main">
            <a:r>
              <a:t>20이 재고 한도인지 주문 수량 한도인지도 규칙에 적어야 합니다. 같은 숫자 20을 모든 업무의 기준으로 재사용하지 않습니다. 21을 자동으로 20으로 잘라 저장하면 검사 대신 원자료 변경을 수행한 것입니다. 담당자의 확인 없이 실제 수량을 고치지 않고 거부 사유와 원문을 남깁니다. 수정 검증은 실패 입력 한 건만 다시 보는 것이 아닙니다. 기준 비교를 바꿨다면 정상·양쪽 경계·양쪽 바깥의 다섯 사례를 다시 봅니다. 통과한 사례 수와 검사하지 않은 종류를 구별해서 보고합니다. 이 예제는 정수 개수를 받습니다. 1.5개 같은 값을 허용할지는 따로 정해야 합니다. 범위 통과만으로 정수 조건이나 실물 재고의 정확성이 증명되지는 않습니다.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수업용 배터리 기록의 허용 충전율은 0~100%입니다. -0.1, 0, 50, 100, 100.1의 기대 결과와 바깥을 찾는 논리 문장을 쓰세요. 100.1을 100으로 자동 변경해도 되는지 근거를 설명하세요.</a:t>
            </a:r>
          </a:p>
          <a:p xmlns:a="http://schemas.openxmlformats.org/drawingml/2006/main">
            <a:r>
              <a:t/>
            </a:r>
          </a:p>
          <a:p xmlns:a="http://schemas.openxmlformats.org/drawingml/2006/main">
            <a:r>
              <a:t>학생이 먼저 답을 적은 뒤 풀이를 보여 줍니다. 이 문제는 필수 활동을 마친 뒤 추가로 사용합니다.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양 끝 -0.1·100.1은 거부, 0·50·100은 허용입니다. ‘0 미만 또는 100 초과’가 바깥입니다. 자동 변경은 원문을 바꾸므로 현재 검사 규칙에서는 허용하지 않습니다. and로 쓰면 두 바깥 조건을 동시에 만족하는 값이 없어 오류를 놓칩니다.</a:t>
            </a:r>
          </a:p>
          <a:p xmlns:a="http://schemas.openxmlformats.org/drawingml/2006/main">
            <a:r>
              <a:t/>
            </a:r>
          </a:p>
          <a:p xmlns:a="http://schemas.openxmlformats.org/drawingml/2006/main">
            <a:r>
              <a:t>핵심 질문과 해설:</a:t>
            </a:r>
          </a:p>
          <a:p xmlns:a="http://schemas.openxmlformats.org/drawingml/2006/main">
            <a:r>
              <a:t>변환 성공이 허용 성공인가요? 숫자 표현과 업무 범위·정수 조건은 별도 검사입니다.</a:t>
            </a:r>
          </a:p>
          <a:p xmlns:a="http://schemas.openxmlformats.org/drawingml/2006/main">
            <a:r>
              <a:t>범위 밖에 왜 or를 쓰나요? 아래쪽이나 위쪽 중 하나만 벗어나도 거부해야 하기 때문입니다.</a:t>
            </a:r>
          </a:p>
          <a:p xmlns:a="http://schemas.openxmlformats.org/drawingml/2006/main">
            <a:r>
              <a:t>통과가 실제 정확성을 뜻하나요? 입력 규칙에 맞았다는 뜻이며 실제 측정·기록 정확성은 따로 확인합니다.</a:t>
            </a:r>
          </a:p>
          <a:p xmlns:a="http://schemas.openxmlformats.org/drawingml/2006/main">
            <a:r>
              <a:t/>
            </a:r>
          </a:p>
          <a:p xmlns:a="http://schemas.openxmlformats.org/drawingml/2006/main">
            <a:r>
              <a:t>화면 예의 출처: D:/KDigital_PhysicalAI/.build/copyedited-ppt/spec-2026-10-15.json#slide-77;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A15 상세 원문]</a:t>
            </a:r>
          </a:p>
          <a:p xmlns:a="http://schemas.openxmlformats.org/drawingml/2006/main">
            <a:r>
              <a:t>**개념.** 실행 계약은 받을 입력 파일과 결과 파일의 위치·뜻을 정한 약속입니다. 함수의 입력·반환을 프로그램 전체의 파일 수준으로 확장합니다.</a:t>
            </a:r>
          </a:p>
          <a:p xmlns:a="http://schemas.openxmlformats.org/drawingml/2006/main">
            <a:r>
              <a:t/>
            </a:r>
          </a:p>
          <a:p xmlns:a="http://schemas.openxmlformats.org/drawingml/2006/main">
            <a:r>
              <a:t>**왜 필요한가.** 원본과 수정 사본 중 무엇을 읽었는지 모르면 결과 대조가 틀릴 수 있습니다. 실행 완료와 데이터 이슈가 없다는 사실도 별도입니다.</a:t>
            </a:r>
          </a:p>
          <a:p xmlns:a="http://schemas.openxmlformats.org/drawingml/2006/main">
            <a:r>
              <a:t/>
            </a:r>
          </a:p>
          <a:p xmlns:a="http://schemas.openxmlformats.org/drawingml/2006/main">
            <a:r>
              <a:t>**함께 보는 예.** 검사기는 data/bad_readings.csv를 읽고 work/check_summary.json과 check_issues.json을 만듭니다.6건 중 숫자·미측정 4건을 받아들이고 2건을 이슈로 남깁니다.</a:t>
            </a:r>
          </a:p>
          <a:p xmlns:a="http://schemas.openxmlformats.org/drawingml/2006/main">
            <a:r>
              <a:t/>
            </a:r>
          </a:p>
          <a:p xmlns:a="http://schemas.openxmlformats.org/drawingml/2006/main">
            <a:r>
              <a:t>**헷갈리는 경우.** 정상 종료해도 이슈는 있을 수 있습니다. 여기서 종료 코드 0은 실행 완료를 뜻하며 입력 전체가 정확하다는 증명은 아닙니다.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입력6건 → 수락4건+이슈2건.</a:t>
            </a:r>
          </a:p>
          <a:p xmlns:a="http://schemas.openxmlformats.org/drawingml/2006/main">
            <a:r>
              <a:t>수락4건 → 수치3건+미측정1건.</a:t>
            </a:r>
          </a:p>
          <a:p xmlns:a="http://schemas.openxmlformats.org/drawingml/2006/main">
            <a:r>
              <a:t>미측정은 평균에서 제외, 실제0은 포함.</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세 파일의 위치를 그립니다.</a:t>
            </a:r>
          </a:p>
          <a:p xmlns:a="http://schemas.openxmlformats.org/drawingml/2006/main">
            <a:r>
              <a:t>2. 미측정과 실제 0의 집계 차이를 적습니다.</a:t>
            </a:r>
          </a:p>
          <a:p xmlns:a="http://schemas.openxmlformats.org/drawingml/2006/main">
            <a:r>
              <a:t>3. 실행 완료와 이슈 0건을 구별합니다.</a:t>
            </a:r>
          </a:p>
          <a:p xmlns:a="http://schemas.openxmlformats.org/drawingml/2006/main">
            <a:r>
              <a:t>4. 다음 활동의 예상 건수를 먼저 기록합니다.</a:t>
            </a:r>
          </a:p>
          <a:p xmlns:a="http://schemas.openxmlformats.org/drawingml/2006/main">
            <a:r>
              <a:t/>
            </a:r>
          </a:p>
          <a:p xmlns:a="http://schemas.openxmlformats.org/drawingml/2006/main">
            <a:r>
              <a:t>예상 결과: 전체 6,수락 4,이슈 2,미측정 1,수치 3.</a:t>
            </a:r>
          </a:p>
          <a:p xmlns:a="http://schemas.openxmlformats.org/drawingml/2006/main">
            <a:r>
              <a:t/>
            </a:r>
          </a:p>
          <a:p xmlns:a="http://schemas.openxmlformats.org/drawingml/2006/main">
            <a:r>
              <a:t>확인 질문: 미측정도 분모에 넣어 4로 나누면 무엇이 바뀌나요?</a:t>
            </a:r>
          </a:p>
          <a:p xmlns:a="http://schemas.openxmlformats.org/drawingml/2006/main">
            <a:r>
              <a:t/>
            </a:r>
          </a:p>
          <a:p xmlns:a="http://schemas.openxmlformats.org/drawingml/2006/main">
            <a:r>
              <a:t>막혔을 때: 전체=수락+이슈, 수락=수치+미측정의 두 관계를 나누어 확인합니다.</a:t>
            </a:r>
          </a:p>
          <a:p xmlns:a="http://schemas.openxmlformats.org/drawingml/2006/main">
            <a:r>
              <a:t/>
            </a:r>
          </a:p>
          <a:p xmlns:a="http://schemas.openxmlformats.org/drawingml/2006/main">
            <a:r>
              <a:t>[활동 자료와 작성칸](practice-guide.md#a15--입력처리출력의-실행-계약)에서 A15를 엽니다.</a:t>
            </a:r>
          </a:p>
          <a:p xmlns:a="http://schemas.openxmlformats.org/drawingml/2006/main">
            <a:r>
              <a:t/>
            </a:r>
          </a:p>
          <a:p xmlns:a="http://schemas.openxmlformats.org/drawingml/2006/main">
            <a:r>
              <a:t># 6구간 · 로그 검사기와 사용 안내</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https://zeusk302-png.github.io/kdigital-physical-ai/#/sessions/2026-10-15/lesson?activity=A15</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숫자로 변환되어도 허용 범위 밖일 수 있습니다.</a:t>
            </a:r>
          </a:p>
          <a:p xmlns:a="http://schemas.openxmlformats.org/drawingml/2006/main">
            <a:r>
              <a:t>범위 통과가 실제 센서 정확성을 뜻하지 않습니다.</a:t>
            </a:r>
          </a:p>
          <a:p xmlns:a="http://schemas.openxmlformats.org/drawingml/2006/main">
            <a:r>
              <a:t>전체=수락+이슈 관계로 검산합니다.</a:t>
            </a:r>
          </a:p>
          <a:p xmlns:a="http://schemas.openxmlformats.org/drawingml/2006/main">
            <a:r>
              <a:t/>
            </a:r>
          </a:p>
          <a:p xmlns:a="http://schemas.openxmlformats.org/drawingml/2006/main">
            <a:r>
              <a:t>관련 교시의 상세 원문:</a:t>
            </a:r>
          </a:p>
          <a:p xmlns:a="http://schemas.openxmlformats.org/drawingml/2006/main">
            <a:r>
              <a:t>### 사례로 이해하기 · 허용 범위의 바깥과 경계를 검사하기</a:t>
            </a:r>
          </a:p>
          <a:p xmlns:a="http://schemas.openxmlformats.org/drawingml/2006/main">
            <a:r>
              <a:t/>
            </a:r>
          </a:p>
          <a:p xmlns:a="http://schemas.openxmlformats.org/drawingml/2006/main">
            <a:r>
              <a:t/>
            </a:r>
          </a:p>
          <a:p xmlns:a="http://schemas.openxmlformats.org/drawingml/2006/main">
            <a:r>
              <a:t/>
            </a:r>
          </a:p>
          <a:p xmlns:a="http://schemas.openxmlformats.org/drawingml/2006/main">
            <a:r>
              <a:t>접수 시스템은 물품 수량을 0개부터 20개까지 받습니다. 21은 숫자로 바꿀 수 있지만 정해 둔 수량 범위에는 맞지 않습니다. 숫자로 바꿀 수 있는지와 허용 범위 안인지는 따로 검사합니다. 먼저 “스물”은 숫자 표현이 아니라 변환에서 멈추고, 21은 숫자로 읽힌 뒤 범위에서 멈춥니다. 0은 실제 수량이 없다는 뜻이며 이번 규칙에서는 허용합니다. 같은 ValueError라는 결과가 나올 수 있어도 어떤 규칙과 원문 때문에 실패했는지 기록합니다.</a:t>
            </a:r>
          </a:p>
          <a:p xmlns:a="http://schemas.openxmlformats.org/drawingml/2006/main">
            <a:r>
              <a:t/>
            </a:r>
          </a:p>
          <a:p xmlns:a="http://schemas.openxmlformats.org/drawingml/2006/main">
            <a:r>
              <a:t>0≤수량≤20을 수직선으로 그리면 두 끝점이 포함됩니다. 바깥은 ‘0보다 작음 또는 20보다 큼’입니다. or는 둘 중 하나라도 참이면 참이고 and는 둘 다 참이어야 참입니다. 완성 검수표는 -1 거부, 0 허용, 10 허용, 20 허용, 21 거부입니다. 경계 0과 20을 보지 않으면 &lt;와 &lt;=를 바꾼 실수를 놓칠 수 있습니다. ‘0보다 작고 동시에 20보다 큼’이라는 and 조건은 한 숫자에 성립하지 않아 범위 밖을 놓칩니다.</a:t>
            </a:r>
          </a:p>
          <a:p xmlns:a="http://schemas.openxmlformats.org/drawingml/2006/main">
            <a:r>
              <a:t/>
            </a:r>
          </a:p>
          <a:p xmlns:a="http://schemas.openxmlformats.org/drawingml/2006/main">
            <a:r>
              <a:t>20이 재고 한도인지 주문 수량 한도인지도 규칙에 적어야 합니다. 같은 숫자 20을 모든 업무의 기준으로 재사용하지 않습니다. 21을 자동으로 20으로 잘라 저장하면 검사 대신 원자료 변경을 수행한 것입니다. 담당자의 확인 없이 실제 수량을 고치지 않고 거부 사유와 원문을 남깁니다. 수정 검증은 실패 입력 한 건만 다시 보는 것이 아닙니다. 기준 비교를 바꿨다면 정상·양쪽 경계·양쪽 바깥의 다섯 사례를 다시 봅니다. 통과한 사례 수와 검사하지 않은 종류를 구별해서 보고합니다. 이 예제는 정수 개수를 받습니다. 1.5개 같은 값을 허용할지는 따로 정해야 합니다. 범위 통과만으로 정수 조건이나 실물 재고의 정확성이 증명되지는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수업용 배터리 기록의 허용 충전율은 0~100%입니다. -0.1, 0, 50, 100, 100.1의 기대 결과와 바깥을 찾는 논리 문장을 쓰세요. 100.1을 100으로 자동 변경해도 되는지 근거를 설명하세요.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양 끝 -0.1·100.1은 거부, 0·50·100은 허용입니다. ‘0 미만 또는 100 초과’가 바깥입니다. 자동 변경은 원문을 바꾸므로 현재 검사 규칙에서는 허용하지 않습니다. and로 쓰면 두 바깥 조건을 동시에 만족하는 값이 없어 오류를 놓칩니다.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**변환 성공이 허용 성공인가요?** 숫자 표현과 업무 범위·정수 조건은 별도 검사입니다.</a:t>
            </a:r>
          </a:p>
          <a:p xmlns:a="http://schemas.openxmlformats.org/drawingml/2006/main">
            <a:r>
              <a:t/>
            </a:r>
          </a:p>
          <a:p xmlns:a="http://schemas.openxmlformats.org/drawingml/2006/main">
            <a:r>
              <a:t>2. **범위 밖에 왜 or를 쓰나요?** 아래쪽이나 위쪽 중 하나만 벗어나도 거부해야 하기 때문입니다.</a:t>
            </a:r>
          </a:p>
          <a:p xmlns:a="http://schemas.openxmlformats.org/drawingml/2006/main">
            <a:r>
              <a:t/>
            </a:r>
          </a:p>
          <a:p xmlns:a="http://schemas.openxmlformats.org/drawingml/2006/main">
            <a:r>
              <a:t>3. **통과가 실제 정확성을 뜻하나요?** 입력 규칙에 맞았다는 뜻이며 실제 측정·기록 정확성은 따로 확인합니다.</a:t>
            </a:r>
          </a:p>
          <a:p xmlns:a="http://schemas.openxmlformats.org/drawingml/2006/main">
            <a:r>
              <a:t/>
            </a:r>
          </a:p>
          <a:p xmlns:a="http://schemas.openxmlformats.org/drawingml/2006/main">
            <a:r>
              <a:t/>
            </a:r>
          </a:p>
          <a:p xmlns:a="http://schemas.openxmlformats.org/drawingml/2006/main">
            <a:r>
              <a:t>**개념.** 숫자로 변환할 수 있다는 것과 허용 범위 안에 있다는 것은 다른 검사입니다. 값이 0~50인지 확인하고 벗어나면 이유를 예외로 알립니다.</a:t>
            </a:r>
          </a:p>
          <a:p xmlns:a="http://schemas.openxmlformats.org/drawingml/2006/main">
            <a:r>
              <a:t/>
            </a:r>
          </a:p>
          <a:p xmlns:a="http://schemas.openxmlformats.org/drawingml/2006/main">
            <a:r>
              <a:t>**왜 필요한가.** 51.0은 숫자이므로 float는 성공하지만 실습 입력 규칙에는 맞지 않습니다. 변환과 규칙 검사를 분리하여 읽어야 합니다.</a:t>
            </a:r>
          </a:p>
          <a:p xmlns:a="http://schemas.openxmlformats.org/drawingml/2006/main">
            <a:r>
              <a:t/>
            </a:r>
          </a:p>
          <a:p xmlns:a="http://schemas.openxmlformats.org/drawingml/2006/main">
            <a:r>
              <a:t>**함께 보는 예.** 23.5는 반환하고 51.0은 범위 확인 필요를 알립니다.0과 50은 허용 경계입니다. 이 범위는 실습의 입력 약속이며 실제 장비 안전 기준이 아닙니다.</a:t>
            </a:r>
          </a:p>
          <a:p xmlns:a="http://schemas.openxmlformats.org/drawingml/2006/main">
            <a:r>
              <a:t/>
            </a:r>
          </a:p>
          <a:p xmlns:a="http://schemas.openxmlformats.org/drawingml/2006/main">
            <a:r>
              <a:t>**헷갈리는 경우.** 51.0을 자동으로 50으로 자르면 원자료를 바꿉니다. 실제값을 모르면 원문을 보존하고 확인 요청을 남깁니다.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def checked_temperature(raw):</a:t>
            </a:r>
          </a:p>
          <a:p xmlns:a="http://schemas.openxmlformats.org/drawingml/2006/main">
            <a:r>
              <a:t>    value = float(raw)</a:t>
            </a:r>
          </a:p>
          <a:p xmlns:a="http://schemas.openxmlformats.org/drawingml/2006/main">
            <a:r>
              <a:t>    if value &lt; 0 or value &gt; 50:</a:t>
            </a:r>
          </a:p>
          <a:p xmlns:a="http://schemas.openxmlformats.org/drawingml/2006/main">
            <a:r>
              <a:t>        raise ValueError("범위 확인 필요")</a:t>
            </a:r>
          </a:p>
          <a:p xmlns:a="http://schemas.openxmlformats.org/drawingml/2006/main">
            <a:r>
              <a:t>    return value</a:t>
            </a:r>
          </a:p>
          <a:p xmlns:a="http://schemas.openxmlformats.org/drawingml/2006/main">
            <a:r>
              <a:t>print(checked_temperature("23.5"))</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`def checked_temperature(raw):` | 수치 원문을 검사하는 함수를 정의합니다. |</a:t>
            </a:r>
          </a:p>
          <a:p xmlns:a="http://schemas.openxmlformats.org/drawingml/2006/main">
            <a:r>
              <a:t>| 2 | `    value = float(raw)` | 숫자로 해석합니다. |</a:t>
            </a:r>
          </a:p>
          <a:p xmlns:a="http://schemas.openxmlformats.org/drawingml/2006/main">
            <a:r>
              <a:t>| 3 | `    if value &lt; 0 or value &gt; 50:` | 아래 또는 위 경계를 벗어나는지 묻습니다. |</a:t>
            </a:r>
          </a:p>
          <a:p xmlns:a="http://schemas.openxmlformats.org/drawingml/2006/main">
            <a:r>
              <a:t>| 4 | `        raise ValueError("범위 확인 필요")` | 범위 문제를 예외로 알립니다. |</a:t>
            </a:r>
          </a:p>
          <a:p xmlns:a="http://schemas.openxmlformats.org/drawingml/2006/main">
            <a:r>
              <a:t>| 5 | `    return value` | 허용 숫자를 반환합니다. |</a:t>
            </a:r>
          </a:p>
          <a:p xmlns:a="http://schemas.openxmlformats.org/drawingml/2006/main">
            <a:r>
              <a:t>| 6 | `print(checked_temperature("23.5"))` | 정상 입력으로 확인합니다.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code/A13_example.py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work/A13_example.py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23.5</a:t>
            </a:r>
          </a:p>
          <a:p xmlns:a="http://schemas.openxmlformats.org/drawingml/2006/main">
            <a:r>
              <a:t>```</a:t>
            </a:r>
          </a:p>
          <a:p xmlns:a="http://schemas.openxmlformats.org/drawingml/2006/main">
            <a:r>
              <a:t/>
            </a:r>
          </a:p>
          <a:p xmlns:a="http://schemas.openxmlformats.org/drawingml/2006/main">
            <a:r>
              <a:t>작은 수정: `"23.5"`를 `"50"`로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50.0</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변환과 범위 검사를 표시합니다.</a:t>
            </a:r>
          </a:p>
          <a:p xmlns:a="http://schemas.openxmlformats.org/drawingml/2006/main">
            <a:r>
              <a:t>2. 0·50·51.0의 기대 결과를 씁니다.</a:t>
            </a:r>
          </a:p>
          <a:p xmlns:a="http://schemas.openxmlformats.org/drawingml/2006/main">
            <a:r>
              <a:t>3. 경계와 오류 입력을 비교합니다.</a:t>
            </a:r>
          </a:p>
          <a:p xmlns:a="http://schemas.openxmlformats.org/drawingml/2006/main">
            <a:r>
              <a:t>4. 원문과 확인 이유를 남깁니다.</a:t>
            </a:r>
          </a:p>
          <a:p xmlns:a="http://schemas.openxmlformats.org/drawingml/2006/main">
            <a:r>
              <a:t/>
            </a:r>
          </a:p>
          <a:p xmlns:a="http://schemas.openxmlformats.org/drawingml/2006/main">
            <a:r>
              <a:t>예상 결과: 0·50은 허용하고 51.0은 범위 오류입니다.</a:t>
            </a:r>
          </a:p>
          <a:p xmlns:a="http://schemas.openxmlformats.org/drawingml/2006/main">
            <a:r>
              <a:t/>
            </a:r>
          </a:p>
          <a:p xmlns:a="http://schemas.openxmlformats.org/drawingml/2006/main">
            <a:r>
              <a:t>확인 질문: 범위 통과가 실제 센서 정확도를 증명하나요?</a:t>
            </a:r>
          </a:p>
          <a:p xmlns:a="http://schemas.openxmlformats.org/drawingml/2006/main">
            <a:r>
              <a:t/>
            </a:r>
          </a:p>
          <a:p xmlns:a="http://schemas.openxmlformats.org/drawingml/2006/main">
            <a:r>
              <a:t>막혔을 때: or를 and로 바꿨다면 두 조건의 뜻을 읽습니다. 동시에 0보다 작고 50보다 큰 값은 찾을 수 없습니다.</a:t>
            </a:r>
          </a:p>
          <a:p xmlns:a="http://schemas.openxmlformats.org/drawingml/2006/main">
            <a:r>
              <a:t/>
            </a:r>
          </a:p>
          <a:p xmlns:a="http://schemas.openxmlformats.org/drawingml/2006/main">
            <a:r>
              <a:t>[활동 자료와 작성칸](practice-guide.md#a13--범위-규칙을-함수에서-확인하기)에서 A13를 엽니다.</a:t>
            </a:r>
          </a:p>
          <a:p xmlns:a="http://schemas.openxmlformats.org/drawingml/2006/main">
            <a:r>
              <a:t/>
            </a:r>
          </a:p>
          <a:p xmlns:a="http://schemas.openxmlformats.org/drawingml/2006/main">
            <a:r>
              <a:t>화면 예의 출처: D:/KDigital_PhysicalAI/.build/copyedited-ppt/spec-2026-10-15.json#slide-73;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https://docs.python.org/3/tutorial/controlflow.html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강사가 먼저 예를 보여 준 뒤 학생과 함께 확인합니다. 학생이 직접 해 본 결과를 예상과 비교하고, 달라진 이유를 설명하게 합니다.</a:t>
            </a:r>
          </a:p>
          <a:p xmlns:a="http://schemas.openxmlformats.org/drawingml/2006/main">
            <a:r>
              <a:t/>
            </a:r>
          </a:p>
          <a:p xmlns:a="http://schemas.openxmlformats.org/drawingml/2006/main">
            <a:r>
              <a:t>[활동 A16 상세 원문]</a:t>
            </a:r>
          </a:p>
          <a:p xmlns:a="http://schemas.openxmlformats.org/drawingml/2006/main">
            <a:r>
              <a:t>### 사례로 이해하기 · 분류 건수와 평균 분모를 보존하기</a:t>
            </a:r>
          </a:p>
          <a:p xmlns:a="http://schemas.openxmlformats.org/drawingml/2006/main">
            <a:r>
              <a:t/>
            </a:r>
          </a:p>
          <a:p xmlns:a="http://schemas.openxmlformats.org/drawingml/2006/main">
            <a:r>
              <a:t/>
            </a:r>
          </a:p>
          <a:p xmlns:a="http://schemas.openxmlformats.org/drawingml/2006/main">
            <a:r>
              <a:t/>
            </a:r>
          </a:p>
          <a:p xmlns:a="http://schemas.openxmlformats.org/drawingml/2006/main">
            <a:r>
              <a:t>로그 검사기를 넘겨받은 사람이 요약의 accepted를 실제 숫자 수라고 읽었습니다. 그러나 기존 검사기에서 accepted는 수치와 미측정을 합한 수락 건수입니다. 이름만 보고 뜻을 짐작하지 말고 각 항목의 정의와 계산 코드를 확인해야 합니다. 합성 원문 다섯 건은 “10”, 빈 문자열, “20”, “오류”, “0”입니다. 수치는 세 건, 미측정은 한 건, 이슈는 한 건입니다. 입력 전체와 분류된 부분이 빠짐없이 맞는지 검산합니다.</a:t>
            </a:r>
          </a:p>
          <a:p xmlns:a="http://schemas.openxmlformats.org/drawingml/2006/main">
            <a:r>
              <a:t/>
            </a:r>
          </a:p>
          <a:p xmlns:a="http://schemas.openxmlformats.org/drawingml/2006/main">
            <a:r>
              <a:t>이 프로그램의 관계는 input=accepted+issues, accepted=numeric+missing입니다. 다섯 건 사례에서는 5=4+1, 4=3+1입니다. 평균은 숫자 세 건의 합 10+20+0=30을 숫자 건수 3으로 나누어 10입니다. 수락 건수 4로 나누면 7.5가 되어 미측정을 0처럼 처리합니다. 이슈 건수까지 포함해 5로 나누면 6이 됩니다. 같은 원문에서 분모만 바꿔도 업무 의미가 바뀌므로 평균 대상과 건수를 함께 보고합니다.</a:t>
            </a:r>
          </a:p>
          <a:p xmlns:a="http://schemas.openxmlformats.org/drawingml/2006/main">
            <a:r>
              <a:t/>
            </a:r>
          </a:p>
          <a:p xmlns:a="http://schemas.openxmlformats.org/drawingml/2006/main">
            <a:r>
              <a:t>한 행의 추적은 원문→해석→분류→누적 순서입니다. 잘못된 글자가 나오면 이슈 목록에 원문을 남기고 continue로 다음 행으로 넘어갑니다. 문제 행이 수치 목록에도 들어가면 중복 분류가 되어 두 검산 관계가 깨질 수 있습니다. 모든 수치가 없을 때 평균은 None입니다. 0이라고 쓰면 실제 평균 0을 계산했다는 오해가 생깁니다. 헤더만 있는 입력은 전체 0건이고 모든 값이 빈 입력은 전체 기록은 있으나 수치가 0건입니다. 둘 다 평균이 없지만 같은 자료는 아닙니다. 결과 안내에는 입력 파일명·명령·실제 출력·미확인 범위·변경 이유를 남깁니다. 현재 검사는 합성 온도값 규칙을 확인하며 모든 필드나 센서의 실제 성능을 보증하지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원문은 “5”, “15”, 빈 문자열, “뜨거움”, 빈 문자열, “0”입니다. 전체·수치·미측정·이슈·수락 건수와 평균을 구하고 두 검산식을 쓰세요. 수치가 전혀 없는 경우의 평균 표현도 적으세요.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전체 6, 수치 3, 미측정 2, 이슈 1, 수락 5입니다. 6=5+1, 5=3+2이고 평균은 20÷3을 소수 둘째 자리로 반올림한 6.67입니다. 수치가 없으면 None입니다. 수락 5를 분모로 쓰면 4가 되어 미측정을 포함한 잘못된 평균입니다.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**수락 건수는 수치 건수인가요?** 이 검사기에서는 수치와 미측정을 합하므로 결과의 각 항목이 무엇을 세는지 확인합니다.</a:t>
            </a:r>
          </a:p>
          <a:p xmlns:a="http://schemas.openxmlformats.org/drawingml/2006/main">
            <a:r>
              <a:t/>
            </a:r>
          </a:p>
          <a:p xmlns:a="http://schemas.openxmlformats.org/drawingml/2006/main">
            <a:r>
              <a:t>2. **continue가 필요한 이유는?** 이슈로 분류한 행을 정상 처리로 보내지 않고 다음 행으로 넘어갑니다.</a:t>
            </a:r>
          </a:p>
          <a:p xmlns:a="http://schemas.openxmlformats.org/drawingml/2006/main">
            <a:r>
              <a:t/>
            </a:r>
          </a:p>
          <a:p xmlns:a="http://schemas.openxmlformats.org/drawingml/2006/main">
            <a:r>
              <a:t>3. **평균 None과 0은 같은가요?** None은 계산할 수치가 없음이며 0은 실제 수치 평균이 0이라는 값입니다.</a:t>
            </a:r>
          </a:p>
          <a:p xmlns:a="http://schemas.openxmlformats.org/drawingml/2006/main">
            <a:r>
              <a:t/>
            </a:r>
          </a:p>
          <a:p xmlns:a="http://schemas.openxmlformats.org/drawingml/2006/main">
            <a:r>
              <a:t/>
            </a:r>
          </a:p>
          <a:p xmlns:a="http://schemas.openxmlformats.org/drawingml/2006/main">
            <a:r>
              <a:t>**개념.** 검사기는 한 행씩 온도를 해석하여 정상 수치·미측정·이슈를 나눕니다. 함수는 한 값의 규칙을 담당하고 반복문은 여러 행에 같은 규칙을 적용합니다.</a:t>
            </a:r>
          </a:p>
          <a:p xmlns:a="http://schemas.openxmlformats.org/drawingml/2006/main">
            <a:r>
              <a:t/>
            </a:r>
          </a:p>
          <a:p xmlns:a="http://schemas.openxmlformats.org/drawingml/2006/main">
            <a:r>
              <a:t>**왜 필요한가.** 함수·파일·예외를 하나의 업무에 연결합니다. 긴 코드는 준비·정의·행 처리·집계·저장으로 나눠 추적합니다. 전체를 암기하거나 빈 편집기에서 다시 작성하는 것이 목표는 아닙니다.</a:t>
            </a:r>
          </a:p>
          <a:p xmlns:a="http://schemas.openxmlformats.org/drawingml/2006/main">
            <a:r>
              <a:t/>
            </a:r>
          </a:p>
          <a:p xmlns:a="http://schemas.openxmlformats.org/drawingml/2006/main">
            <a:r>
              <a:t>**함께 보는 예.** 실제 수치는 22.5·25.0·0.0으로 합 47.5,개수 3,평균 15.83입니다. 빈 온도 1건은 미측정,뜨거움과 51.0은 원문 이슈로 남깁니다.0도 실제 측정이므로 평균에 포함합니다.</a:t>
            </a:r>
          </a:p>
          <a:p xmlns:a="http://schemas.openxmlformats.org/drawingml/2006/main">
            <a:r>
              <a:t/>
            </a:r>
          </a:p>
          <a:p xmlns:a="http://schemas.openxmlformats.org/drawingml/2006/main">
            <a:r>
              <a:t>**헷갈리는 경우.** 평균이 낮아 보인다는 이유로 0을 빼지 않습니다. 입력 원문과 정해 둔 처리 규칙을 확인합니다. 이 프로그램은 온도 규칙에 집중하며 모든 필드와 실제 측정의 진위를 검사하지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import csv</a:t>
            </a:r>
          </a:p>
          <a:p xmlns:a="http://schemas.openxmlformats.org/drawingml/2006/main">
            <a:r>
              <a:t>import json</a:t>
            </a:r>
          </a:p>
          <a:p xmlns:a="http://schemas.openxmlformats.org/drawingml/2006/main">
            <a:r>
              <a:t>from pathlib import Path</a:t>
            </a:r>
          </a:p>
          <a:p xmlns:a="http://schemas.openxmlformats.org/drawingml/2006/main">
            <a:r>
              <a:t/>
            </a:r>
          </a:p>
          <a:p xmlns:a="http://schemas.openxmlformats.org/drawingml/2006/main">
            <a:r>
              <a:t>def parse_temperature(raw):</a:t>
            </a:r>
          </a:p>
          <a:p xmlns:a="http://schemas.openxmlformats.org/drawingml/2006/main">
            <a:r>
              <a:t>    if raw == "":</a:t>
            </a:r>
          </a:p>
          <a:p xmlns:a="http://schemas.openxmlformats.org/drawingml/2006/main">
            <a:r>
              <a:t>        return None</a:t>
            </a:r>
          </a:p>
          <a:p xmlns:a="http://schemas.openxmlformats.org/drawingml/2006/main">
            <a:r>
              <a:t>    value = float(raw)</a:t>
            </a:r>
          </a:p>
          <a:p xmlns:a="http://schemas.openxmlformats.org/drawingml/2006/main">
            <a:r>
              <a:t>    if value &lt; 0 or value &gt; 50:</a:t>
            </a:r>
          </a:p>
          <a:p xmlns:a="http://schemas.openxmlformats.org/drawingml/2006/main">
            <a:r>
              <a:t>        raise ValueError("범위 확인 필요")</a:t>
            </a:r>
          </a:p>
          <a:p xmlns:a="http://schemas.openxmlformats.org/drawingml/2006/main">
            <a:r>
              <a:t>    return value</a:t>
            </a:r>
          </a:p>
          <a:p xmlns:a="http://schemas.openxmlformats.org/drawingml/2006/main">
            <a:r>
              <a:t/>
            </a:r>
          </a:p>
          <a:p xmlns:a="http://schemas.openxmlformats.org/drawingml/2006/main">
            <a:r>
              <a:t>base = Path(__file__).resolve().parent.parent</a:t>
            </a:r>
          </a:p>
          <a:p xmlns:a="http://schemas.openxmlformats.org/drawingml/2006/main">
            <a:r>
              <a:t>source = base / "data" / "bad_readings.csv"</a:t>
            </a:r>
          </a:p>
          <a:p xmlns:a="http://schemas.openxmlformats.org/drawingml/2006/main">
            <a:r>
              <a:t>with source.open(encoding="utf-8", newline="") as file:</a:t>
            </a:r>
          </a:p>
          <a:p xmlns:a="http://schemas.openxmlformats.org/drawingml/2006/main">
            <a:r>
              <a:t>    rows = list(csv.DictReader(file))</a:t>
            </a:r>
          </a:p>
          <a:p xmlns:a="http://schemas.openxmlformats.org/drawingml/2006/main">
            <a:r>
              <a:t>numbers = []</a:t>
            </a:r>
          </a:p>
          <a:p xmlns:a="http://schemas.openxmlformats.org/drawingml/2006/main">
            <a:r>
              <a:t>issues = []</a:t>
            </a:r>
          </a:p>
          <a:p xmlns:a="http://schemas.openxmlformats.org/drawingml/2006/main">
            <a:r>
              <a:t>missing = 0</a:t>
            </a:r>
          </a:p>
          <a:p xmlns:a="http://schemas.openxmlformats.org/drawingml/2006/main">
            <a:r>
              <a:t>for row in rows:</a:t>
            </a:r>
          </a:p>
          <a:p xmlns:a="http://schemas.openxmlformats.org/drawingml/2006/main">
            <a:r>
              <a:t>    try:</a:t>
            </a:r>
          </a:p>
          <a:p xmlns:a="http://schemas.openxmlformats.org/drawingml/2006/main">
            <a:r>
              <a:t>        value = parse_temperature(row["temperature_c"])</a:t>
            </a:r>
          </a:p>
          <a:p xmlns:a="http://schemas.openxmlformats.org/drawingml/2006/main">
            <a:r>
              <a:t>    except ValueError:</a:t>
            </a:r>
          </a:p>
          <a:p xmlns:a="http://schemas.openxmlformats.org/drawingml/2006/main">
            <a:r>
              <a:t>        issues.append({"sensor_id": row["sensor_id"], "raw": row["temperature_c"]})</a:t>
            </a:r>
          </a:p>
          <a:p xmlns:a="http://schemas.openxmlformats.org/drawingml/2006/main">
            <a:r>
              <a:t>        continue</a:t>
            </a:r>
          </a:p>
          <a:p xmlns:a="http://schemas.openxmlformats.org/drawingml/2006/main">
            <a:r>
              <a:t>    if value is None:</a:t>
            </a:r>
          </a:p>
          <a:p xmlns:a="http://schemas.openxmlformats.org/drawingml/2006/main">
            <a:r>
              <a:t>        missing = missing + 1</a:t>
            </a:r>
          </a:p>
          <a:p xmlns:a="http://schemas.openxmlformats.org/drawingml/2006/main">
            <a:r>
              <a:t>    else:</a:t>
            </a:r>
          </a:p>
          <a:p xmlns:a="http://schemas.openxmlformats.org/drawingml/2006/main">
            <a:r>
              <a:t>        numbers.append(value)</a:t>
            </a:r>
          </a:p>
          <a:p xmlns:a="http://schemas.openxmlformats.org/drawingml/2006/main">
            <a:r>
              <a:t>average = None</a:t>
            </a:r>
          </a:p>
          <a:p xmlns:a="http://schemas.openxmlformats.org/drawingml/2006/main">
            <a:r>
              <a:t>if len(numbers) &gt; 0:</a:t>
            </a:r>
          </a:p>
          <a:p xmlns:a="http://schemas.openxmlformats.org/drawingml/2006/main">
            <a:r>
              <a:t>    average = round(sum(numbers) / len(numbers), 2)</a:t>
            </a:r>
          </a:p>
          <a:p xmlns:a="http://schemas.openxmlformats.org/drawingml/2006/main">
            <a:r>
              <a:t>summary = {"input": len(rows), "accepted": len(numbers) + missing,</a:t>
            </a:r>
          </a:p>
          <a:p xmlns:a="http://schemas.openxmlformats.org/drawingml/2006/main">
            <a:r>
              <a:t>           "missing": missing, "issues": len(issues), "average": average}</a:t>
            </a:r>
          </a:p>
          <a:p xmlns:a="http://schemas.openxmlformats.org/drawingml/2006/main">
            <a:r>
              <a:t>(base / "work" / "check_summary.json").write_text(</a:t>
            </a:r>
          </a:p>
          <a:p xmlns:a="http://schemas.openxmlformats.org/drawingml/2006/main">
            <a:r>
              <a:t>    json.dumps(summary, ensure_ascii=False, indent=2), encoding="utf-8")</a:t>
            </a:r>
          </a:p>
          <a:p xmlns:a="http://schemas.openxmlformats.org/drawingml/2006/main">
            <a:r>
              <a:t>(base / "work" / "check_issues.json").write_text(</a:t>
            </a:r>
          </a:p>
          <a:p xmlns:a="http://schemas.openxmlformats.org/drawingml/2006/main">
            <a:r>
              <a:t>    json.dumps(issues, ensure_ascii=False, indent=2), encoding="utf-8")</a:t>
            </a:r>
          </a:p>
          <a:p xmlns:a="http://schemas.openxmlformats.org/drawingml/2006/main">
            <a:r>
              <a:t>print(summary["input"], summary["accepted"], summary["missing"], summary["issues"])</a:t>
            </a:r>
          </a:p>
          <a:p xmlns:a="http://schemas.openxmlformats.org/drawingml/2006/main">
            <a:r>
              <a:t>print(summary["average"])</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`import csv` | CSV 도구를 가져옵니다. |</a:t>
            </a:r>
          </a:p>
          <a:p xmlns:a="http://schemas.openxmlformats.org/drawingml/2006/main">
            <a:r>
              <a:t>| 2 | `import json` | JSON 도구를 가져옵니다. |</a:t>
            </a:r>
          </a:p>
          <a:p xmlns:a="http://schemas.openxmlformats.org/drawingml/2006/main">
            <a:r>
              <a:t>| 3 | `from pathlib import Path` | 경로 도구를 가져옵니다. |</a:t>
            </a:r>
          </a:p>
          <a:p xmlns:a="http://schemas.openxmlformats.org/drawingml/2006/main">
            <a:r>
              <a:t>| 4 | `` | 정의 부분을 나누는 빈 줄입니다. |</a:t>
            </a:r>
          </a:p>
          <a:p xmlns:a="http://schemas.openxmlformats.org/drawingml/2006/main">
            <a:r>
              <a:t>| 5 | `def parse_temperature(raw):` | 온도 해석 함수를 정의합니다. |</a:t>
            </a:r>
          </a:p>
          <a:p xmlns:a="http://schemas.openxmlformats.org/drawingml/2006/main">
            <a:r>
              <a:t>| 6 | `    if raw == "":` | 빈칸인지 확인합니다. |</a:t>
            </a:r>
          </a:p>
          <a:p xmlns:a="http://schemas.openxmlformats.org/drawingml/2006/main">
            <a:r>
              <a:t>| 7 | `        return None` | 미측정을 반환합니다. |</a:t>
            </a:r>
          </a:p>
          <a:p xmlns:a="http://schemas.openxmlformats.org/drawingml/2006/main">
            <a:r>
              <a:t>| 8 | `    value = float(raw)` | 숫자로 변환합니다. |</a:t>
            </a:r>
          </a:p>
          <a:p xmlns:a="http://schemas.openxmlformats.org/drawingml/2006/main">
            <a:r>
              <a:t>| 9 | `    if value &lt; 0 or value &gt; 50:` | 범위를 확인합니다. |</a:t>
            </a:r>
          </a:p>
          <a:p xmlns:a="http://schemas.openxmlformats.org/drawingml/2006/main">
            <a:r>
              <a:t>| 10 | `        raise ValueError("범위 확인 필요")` | 범위 문제를 알립니다. |</a:t>
            </a:r>
          </a:p>
          <a:p xmlns:a="http://schemas.openxmlformats.org/drawingml/2006/main">
            <a:r>
              <a:t>| 11 | `    return value` | 유효 숫자를 반환합니다. |</a:t>
            </a:r>
          </a:p>
          <a:p xmlns:a="http://schemas.openxmlformats.org/drawingml/2006/main">
            <a:r>
              <a:t>| 12 | `` | 정의와 실행을 나눕니다. |</a:t>
            </a:r>
          </a:p>
          <a:p xmlns:a="http://schemas.openxmlformats.org/drawingml/2006/main">
            <a:r>
              <a:t>| 13 | `base = Path(__file__).resolve().parent.parent` | course 주소를 정합니다. |</a:t>
            </a:r>
          </a:p>
          <a:p xmlns:a="http://schemas.openxmlformats.org/drawingml/2006/main">
            <a:r>
              <a:t>| 14 | `source = base / "data" / "bad_readings.csv"` | 입력 파일을 선택합니다. |</a:t>
            </a:r>
          </a:p>
          <a:p xmlns:a="http://schemas.openxmlformats.org/drawingml/2006/main">
            <a:r>
              <a:t>| 15 | `with source.open(encoding="utf-8", newline="") as file:` | 입력 파일을 엽니다. |</a:t>
            </a:r>
          </a:p>
          <a:p xmlns:a="http://schemas.openxmlformats.org/drawingml/2006/main">
            <a:r>
              <a:t>| 16 | `    rows = list(csv.DictReader(file))` | 헤더 키로 행을 읽습니다. |</a:t>
            </a:r>
          </a:p>
          <a:p xmlns:a="http://schemas.openxmlformats.org/drawingml/2006/main">
            <a:r>
              <a:t>| 17 | `numbers = []` | 숫자 목록을 준비합니다. |</a:t>
            </a:r>
          </a:p>
          <a:p xmlns:a="http://schemas.openxmlformats.org/drawingml/2006/main">
            <a:r>
              <a:t>| 18 | `issues = []` | 이슈 목록을 준비합니다. |</a:t>
            </a:r>
          </a:p>
          <a:p xmlns:a="http://schemas.openxmlformats.org/drawingml/2006/main">
            <a:r>
              <a:t>| 19 | `missing = 0` | 미측정 개수를 준비합니다. |</a:t>
            </a:r>
          </a:p>
          <a:p xmlns:a="http://schemas.openxmlformats.org/drawingml/2006/main">
            <a:r>
              <a:t>| 20 | `for row in rows:` | 한 행씩 처리합니다. |</a:t>
            </a:r>
          </a:p>
          <a:p xmlns:a="http://schemas.openxmlformats.org/drawingml/2006/main">
            <a:r>
              <a:t>| 21 | `    try:` | 해석을 시도합니다. |</a:t>
            </a:r>
          </a:p>
          <a:p xmlns:a="http://schemas.openxmlformats.org/drawingml/2006/main">
            <a:r>
              <a:t>| 22 | `        value = parse_temperature(row["temperature_c"])` | 이번 온도 원문을 함수에 줍니다. |</a:t>
            </a:r>
          </a:p>
          <a:p xmlns:a="http://schemas.openxmlformats.org/drawingml/2006/main">
            <a:r>
              <a:t>| 23 | `    except ValueError:` | 변환·범위 오류를 처리합니다. |</a:t>
            </a:r>
          </a:p>
          <a:p xmlns:a="http://schemas.openxmlformats.org/drawingml/2006/main">
            <a:r>
              <a:t>| 24 | `        issues.append({"sensor_id": row["sensor_id"], "raw": row["temperature_c"]})` | 센서명과 원문을 이슈로 보존합니다. |</a:t>
            </a:r>
          </a:p>
          <a:p xmlns:a="http://schemas.openxmlformats.org/drawingml/2006/main">
            <a:r>
              <a:t>| 25 | `        continue` | 다음 행으로 넘어갑니다. |</a:t>
            </a:r>
          </a:p>
          <a:p xmlns:a="http://schemas.openxmlformats.org/drawingml/2006/main">
            <a:r>
              <a:t>| 26 | `    if value is None:` | 미측정을 구별합니다. |</a:t>
            </a:r>
          </a:p>
          <a:p xmlns:a="http://schemas.openxmlformats.org/drawingml/2006/main">
            <a:r>
              <a:t>| 27 | `        missing = missing + 1` | 미측정 개수를 늘립니다. |</a:t>
            </a:r>
          </a:p>
          <a:p xmlns:a="http://schemas.openxmlformats.org/drawingml/2006/main">
            <a:r>
              <a:t>| 28 | `    else:` | 숫자인 경우입니다. |</a:t>
            </a:r>
          </a:p>
          <a:p xmlns:a="http://schemas.openxmlformats.org/drawingml/2006/main">
            <a:r>
              <a:t>| 29 | `        numbers.append(value)` | 수치 목록에 넣습니다. |</a:t>
            </a:r>
          </a:p>
          <a:p xmlns:a="http://schemas.openxmlformats.org/drawingml/2006/main">
            <a:r>
              <a:t>| 30 | `average = None` | 수치가 없을 때의 평균을 준비합니다. |</a:t>
            </a:r>
          </a:p>
          <a:p xmlns:a="http://schemas.openxmlformats.org/drawingml/2006/main">
            <a:r>
              <a:t>| 31 | `if len(numbers) &gt; 0:` | 숫자가 있을 때만 계산합니다. |</a:t>
            </a:r>
          </a:p>
          <a:p xmlns:a="http://schemas.openxmlformats.org/drawingml/2006/main">
            <a:r>
              <a:t>| 32 | `    average = round(sum(numbers) / len(numbers), 2)` | 실제 수치 개수로 나누어 반올림합니다. |</a:t>
            </a:r>
          </a:p>
          <a:p xmlns:a="http://schemas.openxmlformats.org/drawingml/2006/main">
            <a:r>
              <a:t>| 33 | `summary = {"input": len(rows), "accepted": len(numbers) + missing,` | 입력·수락 건수로 요약을 시작합니다. |</a:t>
            </a:r>
          </a:p>
          <a:p xmlns:a="http://schemas.openxmlformats.org/drawingml/2006/main">
            <a:r>
              <a:t>| 34 | `           "missing": missing, "issues": len(issues), "average": average}` | 미측정·이슈·평균을 포함합니다. |</a:t>
            </a:r>
          </a:p>
          <a:p xmlns:a="http://schemas.openxmlformats.org/drawingml/2006/main">
            <a:r>
              <a:t>| 35 | `(base / "work" / "check_summary.json").write_text(` | 요약 파일 쓰기를 시작합니다. |</a:t>
            </a:r>
          </a:p>
          <a:p xmlns:a="http://schemas.openxmlformats.org/drawingml/2006/main">
            <a:r>
              <a:t>| 36 | `    json.dumps(summary, ensure_ascii=False, indent=2), encoding="utf-8")` | JSON과 UTF-8로 저장합니다. |</a:t>
            </a:r>
          </a:p>
          <a:p xmlns:a="http://schemas.openxmlformats.org/drawingml/2006/main">
            <a:r>
              <a:t>| 37 | `(base / "work" / "check_issues.json").write_text(` | 이슈 파일 쓰기를 시작합니다. |</a:t>
            </a:r>
          </a:p>
          <a:p xmlns:a="http://schemas.openxmlformats.org/drawingml/2006/main">
            <a:r>
              <a:t>| 38 | `    json.dumps(issues, ensure_ascii=False, indent=2), encoding="utf-8")` | 이슈 원문을 JSON으로 저장합니다. |</a:t>
            </a:r>
          </a:p>
          <a:p xmlns:a="http://schemas.openxmlformats.org/drawingml/2006/main">
            <a:r>
              <a:t>| 39 | `print(summary["input"], summary["accepted"], summary["missing"], summary["issues"])` | 집계 네 개를 보여 줍니다. |</a:t>
            </a:r>
          </a:p>
          <a:p xmlns:a="http://schemas.openxmlformats.org/drawingml/2006/main">
            <a:r>
              <a:t>| 40 | `print(summary["average"])` | 평균 또는 None을 보여 줍니다.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code/A16_log_checker.py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work/A16_log_checker.py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6 4 1 2</a:t>
            </a:r>
          </a:p>
          <a:p xmlns:a="http://schemas.openxmlformats.org/drawingml/2006/main">
            <a:r>
              <a:t>15.83</a:t>
            </a:r>
          </a:p>
          <a:p xmlns:a="http://schemas.openxmlformats.org/drawingml/2006/main">
            <a:r>
              <a:t>```</a:t>
            </a:r>
          </a:p>
          <a:p xmlns:a="http://schemas.openxmlformats.org/drawingml/2006/main">
            <a:r>
              <a:t/>
            </a:r>
          </a:p>
          <a:p xmlns:a="http://schemas.openxmlformats.org/drawingml/2006/main">
            <a:r>
              <a:t>작은 수정: `"bad_readings.csv"`를 `"readings.csv"`로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4 4 1 0</a:t>
            </a:r>
          </a:p>
          <a:p xmlns:a="http://schemas.openxmlformats.org/drawingml/2006/main">
            <a:r>
              <a:t>15.83</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전체 코드를 역할별 다섯 구간으로 표시합니다.</a:t>
            </a:r>
          </a:p>
          <a:p xmlns:a="http://schemas.openxmlformats.org/drawingml/2006/main">
            <a:r>
              <a:t>2. 건수와 평균을 손으로 먼저 확인합니다.</a:t>
            </a:r>
          </a:p>
          <a:p xmlns:a="http://schemas.openxmlformats.org/drawingml/2006/main">
            <a:r>
              <a:t>3. 실행 뒤 결과 JSON 두 개를 엽니다.</a:t>
            </a:r>
          </a:p>
          <a:p xmlns:a="http://schemas.openxmlformats.org/drawingml/2006/main">
            <a:r>
              <a:t>4. 입력 파일명만 readings.csv로 바꿔 비교합니다.</a:t>
            </a:r>
          </a:p>
          <a:p xmlns:a="http://schemas.openxmlformats.org/drawingml/2006/main">
            <a:r>
              <a:t/>
            </a:r>
          </a:p>
          <a:p xmlns:a="http://schemas.openxmlformats.org/drawingml/2006/main">
            <a:r>
              <a:t>예상 결과: 오류 포함 6/4/1/2,정상 4/4/1/0. 평균은 모두 15.83.</a:t>
            </a:r>
          </a:p>
          <a:p xmlns:a="http://schemas.openxmlformats.org/drawingml/2006/main">
            <a:r>
              <a:t/>
            </a:r>
          </a:p>
          <a:p xmlns:a="http://schemas.openxmlformats.org/drawingml/2006/main">
            <a:r>
              <a:t>확인 질문: continue의 역할은 무엇인가요?</a:t>
            </a:r>
          </a:p>
          <a:p xmlns:a="http://schemas.openxmlformats.org/drawingml/2006/main">
            <a:r>
              <a:t/>
            </a:r>
          </a:p>
          <a:p xmlns:a="http://schemas.openxmlformats.org/drawingml/2006/main">
            <a:r>
              <a:t>막혔을 때: 한 행의 원문→함수→분류를 먼저 추적합니다. 여러 곳을 동시에 바꾸지 않습니다.</a:t>
            </a:r>
          </a:p>
          <a:p xmlns:a="http://schemas.openxmlformats.org/drawingml/2006/main">
            <a:r>
              <a:t/>
            </a:r>
          </a:p>
          <a:p xmlns:a="http://schemas.openxmlformats.org/drawingml/2006/main">
            <a:r>
              <a:t>[활동 자료와 작성칸](practice-guide.md#a16--로그-검사기-전체-흐름)에서 A16를 엽니다.</a:t>
            </a:r>
          </a:p>
          <a:p xmlns:a="http://schemas.openxmlformats.org/drawingml/2006/main">
            <a:r>
              <a:t/>
            </a:r>
          </a:p>
          <a:p xmlns:a="http://schemas.openxmlformats.org/drawingml/2006/main">
            <a:r>
              <a:t>### 중간 확인과 다음 활동 합류</a:t>
            </a:r>
          </a:p>
          <a:p xmlns:a="http://schemas.openxmlformats.org/drawingml/2006/main">
            <a:r>
              <a:t/>
            </a:r>
          </a:p>
          <a:p xmlns:a="http://schemas.openxmlformats.org/drawingml/2006/main">
            <a:r>
              <a:t>- 함께 확인할 증거: readings.csv의 정상 숫자 한 건과 missing_readings.csv의 미측정 한 건을 따라 읽고, 0은 숫자·미측정은 평균 대상이 아님을 설명합니다.</a:t>
            </a:r>
          </a:p>
          <a:p xmlns:a="http://schemas.openxmlformats.org/drawingml/2006/main">
            <a:r>
              <a:t>- 남은 작업: A16의 전체 구간 표시는 A16_notes.md, 네 입력 비교는 A17_notes.md에 미완료 항목을 표시하고 이어서 완성합니다. 이미 작성한 결과를 지우지 않습니다.</a:t>
            </a:r>
          </a:p>
          <a:p xmlns:a="http://schemas.openxmlformats.org/drawingml/2006/main">
            <a:r>
              <a:t>- 다음 입력: 제공된 work/A16_log_checker.py를 그대로 출발점으로 사용하고 A17에서 CSV 이름만 교체합니다. 실행이 막히면 solutions/A16_answer.md와 A17_answer.md의 제공 결과를 **관찰**로 기록하고 A18 인수인계에 미완료를 남깁니다.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https://zeusk302-png.github.io/kdigital-physical-ai/#/sessions/2026-10-15/lesson?activity=A16</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A16 로그 검사기 전체 원문 40줄을 노트에 보존합니다. 강사는 실제 파일에서 각 책임 구간을 가리킵니다. 긴 프로그램을 작은 글자로 한 화면에 압축하지 않습니다.</a:t>
            </a:r>
          </a:p>
          <a:p xmlns:a="http://schemas.openxmlformats.org/drawingml/2006/main">
            <a:r>
              <a:t/>
            </a:r>
          </a:p>
          <a:p xmlns:a="http://schemas.openxmlformats.org/drawingml/2006/main">
            <a:r>
              <a:t>[활동 A16 상세 원문]</a:t>
            </a:r>
          </a:p>
          <a:p xmlns:a="http://schemas.openxmlformats.org/drawingml/2006/main">
            <a:r>
              <a:t>### 사례로 이해하기 · 분류 건수와 평균 분모를 보존하기</a:t>
            </a:r>
          </a:p>
          <a:p xmlns:a="http://schemas.openxmlformats.org/drawingml/2006/main">
            <a:r>
              <a:t/>
            </a:r>
          </a:p>
          <a:p xmlns:a="http://schemas.openxmlformats.org/drawingml/2006/main">
            <a:r>
              <a:t/>
            </a:r>
          </a:p>
          <a:p xmlns:a="http://schemas.openxmlformats.org/drawingml/2006/main">
            <a:r>
              <a:t/>
            </a:r>
          </a:p>
          <a:p xmlns:a="http://schemas.openxmlformats.org/drawingml/2006/main">
            <a:r>
              <a:t>로그 검사기를 넘겨받은 사람이 요약의 accepted를 실제 숫자 수라고 읽었습니다. 그러나 기존 검사기에서 accepted는 수치와 미측정을 합한 수락 건수입니다. 이름만 보고 뜻을 짐작하지 말고 각 항목의 정의와 계산 코드를 확인해야 합니다. 합성 원문 다섯 건은 “10”, 빈 문자열, “20”, “오류”, “0”입니다. 수치는 세 건, 미측정은 한 건, 이슈는 한 건입니다. 입력 전체와 분류된 부분이 빠짐없이 맞는지 검산합니다.</a:t>
            </a:r>
          </a:p>
          <a:p xmlns:a="http://schemas.openxmlformats.org/drawingml/2006/main">
            <a:r>
              <a:t/>
            </a:r>
          </a:p>
          <a:p xmlns:a="http://schemas.openxmlformats.org/drawingml/2006/main">
            <a:r>
              <a:t>이 프로그램의 관계는 input=accepted+issues, accepted=numeric+missing입니다. 다섯 건 사례에서는 5=4+1, 4=3+1입니다. 평균은 숫자 세 건의 합 10+20+0=30을 숫자 건수 3으로 나누어 10입니다. 수락 건수 4로 나누면 7.5가 되어 미측정을 0처럼 처리합니다. 이슈 건수까지 포함해 5로 나누면 6이 됩니다. 같은 원문에서 분모만 바꿔도 업무 의미가 바뀌므로 평균 대상과 건수를 함께 보고합니다.</a:t>
            </a:r>
          </a:p>
          <a:p xmlns:a="http://schemas.openxmlformats.org/drawingml/2006/main">
            <a:r>
              <a:t/>
            </a:r>
          </a:p>
          <a:p xmlns:a="http://schemas.openxmlformats.org/drawingml/2006/main">
            <a:r>
              <a:t>한 행의 추적은 원문→해석→분류→누적 순서입니다. 잘못된 글자가 나오면 이슈 목록에 원문을 남기고 continue로 다음 행으로 넘어갑니다. 문제 행이 수치 목록에도 들어가면 중복 분류가 되어 두 검산 관계가 깨질 수 있습니다. 모든 수치가 없을 때 평균은 None입니다. 0이라고 쓰면 실제 평균 0을 계산했다는 오해가 생깁니다. 헤더만 있는 입력은 전체 0건이고 모든 값이 빈 입력은 전체 기록은 있으나 수치가 0건입니다. 둘 다 평균이 없지만 같은 자료는 아닙니다. 결과 안내에는 입력 파일명·명령·실제 출력·미확인 범위·변경 이유를 남깁니다. 현재 검사는 합성 온도값 규칙을 확인하며 모든 필드나 센서의 실제 성능을 보증하지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원문은 “5”, “15”, 빈 문자열, “뜨거움”, 빈 문자열, “0”입니다. 전체·수치·미측정·이슈·수락 건수와 평균을 구하고 두 검산식을 쓰세요. 수치가 전혀 없는 경우의 평균 표현도 적으세요.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전체 6, 수치 3, 미측정 2, 이슈 1, 수락 5입니다. 6=5+1, 5=3+2이고 평균은 20÷3을 소수 둘째 자리로 반올림한 6.67입니다. 수치가 없으면 None입니다. 수락 5를 분모로 쓰면 4가 되어 미측정을 포함한 잘못된 평균입니다.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**수락 건수는 수치 건수인가요?** 이 검사기에서는 수치와 미측정을 합하므로 결과의 각 항목이 무엇을 세는지 확인합니다.</a:t>
            </a:r>
          </a:p>
          <a:p xmlns:a="http://schemas.openxmlformats.org/drawingml/2006/main">
            <a:r>
              <a:t/>
            </a:r>
          </a:p>
          <a:p xmlns:a="http://schemas.openxmlformats.org/drawingml/2006/main">
            <a:r>
              <a:t>2. **continue가 필요한 이유는?** 이슈로 분류한 행을 정상 처리로 보내지 않고 다음 행으로 넘어갑니다.</a:t>
            </a:r>
          </a:p>
          <a:p xmlns:a="http://schemas.openxmlformats.org/drawingml/2006/main">
            <a:r>
              <a:t/>
            </a:r>
          </a:p>
          <a:p xmlns:a="http://schemas.openxmlformats.org/drawingml/2006/main">
            <a:r>
              <a:t>3. **평균 None과 0은 같은가요?** None은 계산할 수치가 없음이며 0은 실제 수치 평균이 0이라는 값입니다.</a:t>
            </a:r>
          </a:p>
          <a:p xmlns:a="http://schemas.openxmlformats.org/drawingml/2006/main">
            <a:r>
              <a:t/>
            </a:r>
          </a:p>
          <a:p xmlns:a="http://schemas.openxmlformats.org/drawingml/2006/main">
            <a:r>
              <a:t/>
            </a:r>
          </a:p>
          <a:p xmlns:a="http://schemas.openxmlformats.org/drawingml/2006/main">
            <a:r>
              <a:t>**개념.** 검사기는 한 행씩 온도를 해석하여 정상 수치·미측정·이슈를 나눕니다. 함수는 한 값의 규칙을 담당하고 반복문은 여러 행에 같은 규칙을 적용합니다.</a:t>
            </a:r>
          </a:p>
          <a:p xmlns:a="http://schemas.openxmlformats.org/drawingml/2006/main">
            <a:r>
              <a:t/>
            </a:r>
          </a:p>
          <a:p xmlns:a="http://schemas.openxmlformats.org/drawingml/2006/main">
            <a:r>
              <a:t>**왜 필요한가.** 함수·파일·예외를 하나의 업무에 연결합니다. 긴 코드는 준비·정의·행 처리·집계·저장으로 나눠 추적합니다. 전체를 암기하거나 빈 편집기에서 다시 작성하는 것이 목표는 아닙니다.</a:t>
            </a:r>
          </a:p>
          <a:p xmlns:a="http://schemas.openxmlformats.org/drawingml/2006/main">
            <a:r>
              <a:t/>
            </a:r>
          </a:p>
          <a:p xmlns:a="http://schemas.openxmlformats.org/drawingml/2006/main">
            <a:r>
              <a:t>**함께 보는 예.** 실제 수치는 22.5·25.0·0.0으로 합 47.5,개수 3,평균 15.83입니다. 빈 온도 1건은 미측정,뜨거움과 51.0은 원문 이슈로 남깁니다.0도 실제 측정이므로 평균에 포함합니다.</a:t>
            </a:r>
          </a:p>
          <a:p xmlns:a="http://schemas.openxmlformats.org/drawingml/2006/main">
            <a:r>
              <a:t/>
            </a:r>
          </a:p>
          <a:p xmlns:a="http://schemas.openxmlformats.org/drawingml/2006/main">
            <a:r>
              <a:t>**헷갈리는 경우.** 평균이 낮아 보인다는 이유로 0을 빼지 않습니다. 입력 원문과 정해 둔 처리 규칙을 확인합니다. 이 프로그램은 온도 규칙에 집중하며 모든 필드와 실제 측정의 진위를 검사하지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import csv</a:t>
            </a:r>
          </a:p>
          <a:p xmlns:a="http://schemas.openxmlformats.org/drawingml/2006/main">
            <a:r>
              <a:t>import json</a:t>
            </a:r>
          </a:p>
          <a:p xmlns:a="http://schemas.openxmlformats.org/drawingml/2006/main">
            <a:r>
              <a:t>from pathlib import Path</a:t>
            </a:r>
          </a:p>
          <a:p xmlns:a="http://schemas.openxmlformats.org/drawingml/2006/main">
            <a:r>
              <a:t/>
            </a:r>
          </a:p>
          <a:p xmlns:a="http://schemas.openxmlformats.org/drawingml/2006/main">
            <a:r>
              <a:t>def parse_temperature(raw):</a:t>
            </a:r>
          </a:p>
          <a:p xmlns:a="http://schemas.openxmlformats.org/drawingml/2006/main">
            <a:r>
              <a:t>    if raw == "":</a:t>
            </a:r>
          </a:p>
          <a:p xmlns:a="http://schemas.openxmlformats.org/drawingml/2006/main">
            <a:r>
              <a:t>        return None</a:t>
            </a:r>
          </a:p>
          <a:p xmlns:a="http://schemas.openxmlformats.org/drawingml/2006/main">
            <a:r>
              <a:t>    value = float(raw)</a:t>
            </a:r>
          </a:p>
          <a:p xmlns:a="http://schemas.openxmlformats.org/drawingml/2006/main">
            <a:r>
              <a:t>    if value &lt; 0 or value &gt; 50:</a:t>
            </a:r>
          </a:p>
          <a:p xmlns:a="http://schemas.openxmlformats.org/drawingml/2006/main">
            <a:r>
              <a:t>        raise ValueError("범위 확인 필요")</a:t>
            </a:r>
          </a:p>
          <a:p xmlns:a="http://schemas.openxmlformats.org/drawingml/2006/main">
            <a:r>
              <a:t>    return value</a:t>
            </a:r>
          </a:p>
          <a:p xmlns:a="http://schemas.openxmlformats.org/drawingml/2006/main">
            <a:r>
              <a:t/>
            </a:r>
          </a:p>
          <a:p xmlns:a="http://schemas.openxmlformats.org/drawingml/2006/main">
            <a:r>
              <a:t>base = Path(__file__).resolve().parent.parent</a:t>
            </a:r>
          </a:p>
          <a:p xmlns:a="http://schemas.openxmlformats.org/drawingml/2006/main">
            <a:r>
              <a:t>source = base / "data" / "bad_readings.csv"</a:t>
            </a:r>
          </a:p>
          <a:p xmlns:a="http://schemas.openxmlformats.org/drawingml/2006/main">
            <a:r>
              <a:t>with source.open(encoding="utf-8", newline="") as file:</a:t>
            </a:r>
          </a:p>
          <a:p xmlns:a="http://schemas.openxmlformats.org/drawingml/2006/main">
            <a:r>
              <a:t>    rows = list(csv.DictReader(file))</a:t>
            </a:r>
          </a:p>
          <a:p xmlns:a="http://schemas.openxmlformats.org/drawingml/2006/main">
            <a:r>
              <a:t>numbers = []</a:t>
            </a:r>
          </a:p>
          <a:p xmlns:a="http://schemas.openxmlformats.org/drawingml/2006/main">
            <a:r>
              <a:t>issues = []</a:t>
            </a:r>
          </a:p>
          <a:p xmlns:a="http://schemas.openxmlformats.org/drawingml/2006/main">
            <a:r>
              <a:t>missing = 0</a:t>
            </a:r>
          </a:p>
          <a:p xmlns:a="http://schemas.openxmlformats.org/drawingml/2006/main">
            <a:r>
              <a:t>for row in rows:</a:t>
            </a:r>
          </a:p>
          <a:p xmlns:a="http://schemas.openxmlformats.org/drawingml/2006/main">
            <a:r>
              <a:t>    try:</a:t>
            </a:r>
          </a:p>
          <a:p xmlns:a="http://schemas.openxmlformats.org/drawingml/2006/main">
            <a:r>
              <a:t>        value = parse_temperature(row["temperature_c"])</a:t>
            </a:r>
          </a:p>
          <a:p xmlns:a="http://schemas.openxmlformats.org/drawingml/2006/main">
            <a:r>
              <a:t>    except ValueError:</a:t>
            </a:r>
          </a:p>
          <a:p xmlns:a="http://schemas.openxmlformats.org/drawingml/2006/main">
            <a:r>
              <a:t>        issues.append({"sensor_id": row["sensor_id"], "raw": row["temperature_c"]})</a:t>
            </a:r>
          </a:p>
          <a:p xmlns:a="http://schemas.openxmlformats.org/drawingml/2006/main">
            <a:r>
              <a:t>        continue</a:t>
            </a:r>
          </a:p>
          <a:p xmlns:a="http://schemas.openxmlformats.org/drawingml/2006/main">
            <a:r>
              <a:t>    if value is None:</a:t>
            </a:r>
          </a:p>
          <a:p xmlns:a="http://schemas.openxmlformats.org/drawingml/2006/main">
            <a:r>
              <a:t>        missing = missing + 1</a:t>
            </a:r>
          </a:p>
          <a:p xmlns:a="http://schemas.openxmlformats.org/drawingml/2006/main">
            <a:r>
              <a:t>    else:</a:t>
            </a:r>
          </a:p>
          <a:p xmlns:a="http://schemas.openxmlformats.org/drawingml/2006/main">
            <a:r>
              <a:t>        numbers.append(value)</a:t>
            </a:r>
          </a:p>
          <a:p xmlns:a="http://schemas.openxmlformats.org/drawingml/2006/main">
            <a:r>
              <a:t>average = None</a:t>
            </a:r>
          </a:p>
          <a:p xmlns:a="http://schemas.openxmlformats.org/drawingml/2006/main">
            <a:r>
              <a:t>if len(numbers) &gt; 0:</a:t>
            </a:r>
          </a:p>
          <a:p xmlns:a="http://schemas.openxmlformats.org/drawingml/2006/main">
            <a:r>
              <a:t>    average = round(sum(numbers) / len(numbers), 2)</a:t>
            </a:r>
          </a:p>
          <a:p xmlns:a="http://schemas.openxmlformats.org/drawingml/2006/main">
            <a:r>
              <a:t>summary = {"input": len(rows), "accepted": len(numbers) + missing,</a:t>
            </a:r>
          </a:p>
          <a:p xmlns:a="http://schemas.openxmlformats.org/drawingml/2006/main">
            <a:r>
              <a:t>           "missing": missing, "issues": len(issues), "average": average}</a:t>
            </a:r>
          </a:p>
          <a:p xmlns:a="http://schemas.openxmlformats.org/drawingml/2006/main">
            <a:r>
              <a:t>(base / "work" / "check_summary.json").write_text(</a:t>
            </a:r>
          </a:p>
          <a:p xmlns:a="http://schemas.openxmlformats.org/drawingml/2006/main">
            <a:r>
              <a:t>    json.dumps(summary, ensure_ascii=False, indent=2), encoding="utf-8")</a:t>
            </a:r>
          </a:p>
          <a:p xmlns:a="http://schemas.openxmlformats.org/drawingml/2006/main">
            <a:r>
              <a:t>(base / "work" / "check_issues.json").write_text(</a:t>
            </a:r>
          </a:p>
          <a:p xmlns:a="http://schemas.openxmlformats.org/drawingml/2006/main">
            <a:r>
              <a:t>    json.dumps(issues, ensure_ascii=False, indent=2), encoding="utf-8")</a:t>
            </a:r>
          </a:p>
          <a:p xmlns:a="http://schemas.openxmlformats.org/drawingml/2006/main">
            <a:r>
              <a:t>print(summary["input"], summary["accepted"], summary["missing"], summary["issues"])</a:t>
            </a:r>
          </a:p>
          <a:p xmlns:a="http://schemas.openxmlformats.org/drawingml/2006/main">
            <a:r>
              <a:t>print(summary["average"])</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`import csv` | CSV 도구를 가져옵니다. |</a:t>
            </a:r>
          </a:p>
          <a:p xmlns:a="http://schemas.openxmlformats.org/drawingml/2006/main">
            <a:r>
              <a:t>| 2 | `import json` | JSON 도구를 가져옵니다. |</a:t>
            </a:r>
          </a:p>
          <a:p xmlns:a="http://schemas.openxmlformats.org/drawingml/2006/main">
            <a:r>
              <a:t>| 3 | `from pathlib import Path` | 경로 도구를 가져옵니다. |</a:t>
            </a:r>
          </a:p>
          <a:p xmlns:a="http://schemas.openxmlformats.org/drawingml/2006/main">
            <a:r>
              <a:t>| 4 | `` | 정의 부분을 나누는 빈 줄입니다. |</a:t>
            </a:r>
          </a:p>
          <a:p xmlns:a="http://schemas.openxmlformats.org/drawingml/2006/main">
            <a:r>
              <a:t>| 5 | `def parse_temperature(raw):` | 온도 해석 함수를 정의합니다. |</a:t>
            </a:r>
          </a:p>
          <a:p xmlns:a="http://schemas.openxmlformats.org/drawingml/2006/main">
            <a:r>
              <a:t>| 6 | `    if raw == "":` | 빈칸인지 확인합니다. |</a:t>
            </a:r>
          </a:p>
          <a:p xmlns:a="http://schemas.openxmlformats.org/drawingml/2006/main">
            <a:r>
              <a:t>| 7 | `        return None` | 미측정을 반환합니다. |</a:t>
            </a:r>
          </a:p>
          <a:p xmlns:a="http://schemas.openxmlformats.org/drawingml/2006/main">
            <a:r>
              <a:t>| 8 | `    value = float(raw)` | 숫자로 변환합니다. |</a:t>
            </a:r>
          </a:p>
          <a:p xmlns:a="http://schemas.openxmlformats.org/drawingml/2006/main">
            <a:r>
              <a:t>| 9 | `    if value &lt; 0 or value &gt; 50:` | 범위를 확인합니다. |</a:t>
            </a:r>
          </a:p>
          <a:p xmlns:a="http://schemas.openxmlformats.org/drawingml/2006/main">
            <a:r>
              <a:t>| 10 | `        raise ValueError("범위 확인 필요")` | 범위 문제를 알립니다. |</a:t>
            </a:r>
          </a:p>
          <a:p xmlns:a="http://schemas.openxmlformats.org/drawingml/2006/main">
            <a:r>
              <a:t>| 11 | `    return value` | 유효 숫자를 반환합니다. |</a:t>
            </a:r>
          </a:p>
          <a:p xmlns:a="http://schemas.openxmlformats.org/drawingml/2006/main">
            <a:r>
              <a:t>| 12 | `` | 정의와 실행을 나눕니다. |</a:t>
            </a:r>
          </a:p>
          <a:p xmlns:a="http://schemas.openxmlformats.org/drawingml/2006/main">
            <a:r>
              <a:t>| 13 | `base = Path(__file__).resolve().parent.parent` | course 주소를 정합니다. |</a:t>
            </a:r>
          </a:p>
          <a:p xmlns:a="http://schemas.openxmlformats.org/drawingml/2006/main">
            <a:r>
              <a:t>| 14 | `source = base / "data" / "bad_readings.csv"` | 입력 파일을 선택합니다. |</a:t>
            </a:r>
          </a:p>
          <a:p xmlns:a="http://schemas.openxmlformats.org/drawingml/2006/main">
            <a:r>
              <a:t>| 15 | `with source.open(encoding="utf-8", newline="") as file:` | 입력 파일을 엽니다. |</a:t>
            </a:r>
          </a:p>
          <a:p xmlns:a="http://schemas.openxmlformats.org/drawingml/2006/main">
            <a:r>
              <a:t>| 16 | `    rows = list(csv.DictReader(file))` | 헤더 키로 행을 읽습니다. |</a:t>
            </a:r>
          </a:p>
          <a:p xmlns:a="http://schemas.openxmlformats.org/drawingml/2006/main">
            <a:r>
              <a:t>| 17 | `numbers = []` | 숫자 목록을 준비합니다. |</a:t>
            </a:r>
          </a:p>
          <a:p xmlns:a="http://schemas.openxmlformats.org/drawingml/2006/main">
            <a:r>
              <a:t>| 18 | `issues = []` | 이슈 목록을 준비합니다. |</a:t>
            </a:r>
          </a:p>
          <a:p xmlns:a="http://schemas.openxmlformats.org/drawingml/2006/main">
            <a:r>
              <a:t>| 19 | `missing = 0` | 미측정 개수를 준비합니다. |</a:t>
            </a:r>
          </a:p>
          <a:p xmlns:a="http://schemas.openxmlformats.org/drawingml/2006/main">
            <a:r>
              <a:t>| 20 | `for row in rows:` | 한 행씩 처리합니다. |</a:t>
            </a:r>
          </a:p>
          <a:p xmlns:a="http://schemas.openxmlformats.org/drawingml/2006/main">
            <a:r>
              <a:t>| 21 | `    try:` | 해석을 시도합니다. |</a:t>
            </a:r>
          </a:p>
          <a:p xmlns:a="http://schemas.openxmlformats.org/drawingml/2006/main">
            <a:r>
              <a:t>| 22 | `        value = parse_temperature(row["temperature_c"])` | 이번 온도 원문을 함수에 줍니다. |</a:t>
            </a:r>
          </a:p>
          <a:p xmlns:a="http://schemas.openxmlformats.org/drawingml/2006/main">
            <a:r>
              <a:t>| 23 | `    except ValueError:` | 변환·범위 오류를 처리합니다. |</a:t>
            </a:r>
          </a:p>
          <a:p xmlns:a="http://schemas.openxmlformats.org/drawingml/2006/main">
            <a:r>
              <a:t>| 24 | `        issues.append({"sensor_id": row["sensor_id"], "raw": row["temperature_c"]})` | 센서명과 원문을 이슈로 보존합니다. |</a:t>
            </a:r>
          </a:p>
          <a:p xmlns:a="http://schemas.openxmlformats.org/drawingml/2006/main">
            <a:r>
              <a:t>| 25 | `        continue` | 다음 행으로 넘어갑니다. |</a:t>
            </a:r>
          </a:p>
          <a:p xmlns:a="http://schemas.openxmlformats.org/drawingml/2006/main">
            <a:r>
              <a:t>| 26 | `    if value is None:` | 미측정을 구별합니다. |</a:t>
            </a:r>
          </a:p>
          <a:p xmlns:a="http://schemas.openxmlformats.org/drawingml/2006/main">
            <a:r>
              <a:t>| 27 | `        missing = missing + 1` | 미측정 개수를 늘립니다. |</a:t>
            </a:r>
          </a:p>
          <a:p xmlns:a="http://schemas.openxmlformats.org/drawingml/2006/main">
            <a:r>
              <a:t>| 28 | `    else:` | 숫자인 경우입니다. |</a:t>
            </a:r>
          </a:p>
          <a:p xmlns:a="http://schemas.openxmlformats.org/drawingml/2006/main">
            <a:r>
              <a:t>| 29 | `        numbers.append(value)` | 수치 목록에 넣습니다. |</a:t>
            </a:r>
          </a:p>
          <a:p xmlns:a="http://schemas.openxmlformats.org/drawingml/2006/main">
            <a:r>
              <a:t>| 30 | `average = None` | 수치가 없을 때의 평균을 준비합니다. |</a:t>
            </a:r>
          </a:p>
          <a:p xmlns:a="http://schemas.openxmlformats.org/drawingml/2006/main">
            <a:r>
              <a:t>| 31 | `if len(numbers) &gt; 0:` | 숫자가 있을 때만 계산합니다. |</a:t>
            </a:r>
          </a:p>
          <a:p xmlns:a="http://schemas.openxmlformats.org/drawingml/2006/main">
            <a:r>
              <a:t>| 32 | `    average = round(sum(numbers) / len(numbers), 2)` | 실제 수치 개수로 나누어 반올림합니다. |</a:t>
            </a:r>
          </a:p>
          <a:p xmlns:a="http://schemas.openxmlformats.org/drawingml/2006/main">
            <a:r>
              <a:t>| 33 | `summary = {"input": len(rows), "accepted": len(numbers) + missing,` | 입력·수락 건수로 요약을 시작합니다. |</a:t>
            </a:r>
          </a:p>
          <a:p xmlns:a="http://schemas.openxmlformats.org/drawingml/2006/main">
            <a:r>
              <a:t>| 34 | `           "missing": missing, "issues": len(issues), "average": average}` | 미측정·이슈·평균을 포함합니다. |</a:t>
            </a:r>
          </a:p>
          <a:p xmlns:a="http://schemas.openxmlformats.org/drawingml/2006/main">
            <a:r>
              <a:t>| 35 | `(base / "work" / "check_summary.json").write_text(` | 요약 파일 쓰기를 시작합니다. |</a:t>
            </a:r>
          </a:p>
          <a:p xmlns:a="http://schemas.openxmlformats.org/drawingml/2006/main">
            <a:r>
              <a:t>| 36 | `    json.dumps(summary, ensure_ascii=False, indent=2), encoding="utf-8")` | JSON과 UTF-8로 저장합니다. |</a:t>
            </a:r>
          </a:p>
          <a:p xmlns:a="http://schemas.openxmlformats.org/drawingml/2006/main">
            <a:r>
              <a:t>| 37 | `(base / "work" / "check_issues.json").write_text(` | 이슈 파일 쓰기를 시작합니다. |</a:t>
            </a:r>
          </a:p>
          <a:p xmlns:a="http://schemas.openxmlformats.org/drawingml/2006/main">
            <a:r>
              <a:t>| 38 | `    json.dumps(issues, ensure_ascii=False, indent=2), encoding="utf-8")` | 이슈 원문을 JSON으로 저장합니다. |</a:t>
            </a:r>
          </a:p>
          <a:p xmlns:a="http://schemas.openxmlformats.org/drawingml/2006/main">
            <a:r>
              <a:t>| 39 | `print(summary["input"], summary["accepted"], summary["missing"], summary["issues"])` | 집계 네 개를 보여 줍니다. |</a:t>
            </a:r>
          </a:p>
          <a:p xmlns:a="http://schemas.openxmlformats.org/drawingml/2006/main">
            <a:r>
              <a:t>| 40 | `print(summary["average"])` | 평균 또는 None을 보여 줍니다.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code/A16_log_checker.py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work/A16_log_checker.py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6 4 1 2</a:t>
            </a:r>
          </a:p>
          <a:p xmlns:a="http://schemas.openxmlformats.org/drawingml/2006/main">
            <a:r>
              <a:t>15.83</a:t>
            </a:r>
          </a:p>
          <a:p xmlns:a="http://schemas.openxmlformats.org/drawingml/2006/main">
            <a:r>
              <a:t>```</a:t>
            </a:r>
          </a:p>
          <a:p xmlns:a="http://schemas.openxmlformats.org/drawingml/2006/main">
            <a:r>
              <a:t/>
            </a:r>
          </a:p>
          <a:p xmlns:a="http://schemas.openxmlformats.org/drawingml/2006/main">
            <a:r>
              <a:t>작은 수정: `"bad_readings.csv"`를 `"readings.csv"`로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4 4 1 0</a:t>
            </a:r>
          </a:p>
          <a:p xmlns:a="http://schemas.openxmlformats.org/drawingml/2006/main">
            <a:r>
              <a:t>15.83</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전체 코드를 역할별 다섯 구간으로 표시합니다.</a:t>
            </a:r>
          </a:p>
          <a:p xmlns:a="http://schemas.openxmlformats.org/drawingml/2006/main">
            <a:r>
              <a:t>2. 건수와 평균을 손으로 먼저 확인합니다.</a:t>
            </a:r>
          </a:p>
          <a:p xmlns:a="http://schemas.openxmlformats.org/drawingml/2006/main">
            <a:r>
              <a:t>3. 실행 뒤 결과 JSON 두 개를 엽니다.</a:t>
            </a:r>
          </a:p>
          <a:p xmlns:a="http://schemas.openxmlformats.org/drawingml/2006/main">
            <a:r>
              <a:t>4. 입력 파일명만 readings.csv로 바꿔 비교합니다.</a:t>
            </a:r>
          </a:p>
          <a:p xmlns:a="http://schemas.openxmlformats.org/drawingml/2006/main">
            <a:r>
              <a:t/>
            </a:r>
          </a:p>
          <a:p xmlns:a="http://schemas.openxmlformats.org/drawingml/2006/main">
            <a:r>
              <a:t>예상 결과: 오류 포함 6/4/1/2,정상 4/4/1/0. 평균은 모두 15.83.</a:t>
            </a:r>
          </a:p>
          <a:p xmlns:a="http://schemas.openxmlformats.org/drawingml/2006/main">
            <a:r>
              <a:t/>
            </a:r>
          </a:p>
          <a:p xmlns:a="http://schemas.openxmlformats.org/drawingml/2006/main">
            <a:r>
              <a:t>확인 질문: continue의 역할은 무엇인가요?</a:t>
            </a:r>
          </a:p>
          <a:p xmlns:a="http://schemas.openxmlformats.org/drawingml/2006/main">
            <a:r>
              <a:t/>
            </a:r>
          </a:p>
          <a:p xmlns:a="http://schemas.openxmlformats.org/drawingml/2006/main">
            <a:r>
              <a:t>막혔을 때: 한 행의 원문→함수→분류를 먼저 추적합니다. 여러 곳을 동시에 바꾸지 않습니다.</a:t>
            </a:r>
          </a:p>
          <a:p xmlns:a="http://schemas.openxmlformats.org/drawingml/2006/main">
            <a:r>
              <a:t/>
            </a:r>
          </a:p>
          <a:p xmlns:a="http://schemas.openxmlformats.org/drawingml/2006/main">
            <a:r>
              <a:t>[활동 자료와 작성칸](practice-guide.md#a16--로그-검사기-전체-흐름)에서 A16를 엽니다.</a:t>
            </a:r>
          </a:p>
          <a:p xmlns:a="http://schemas.openxmlformats.org/drawingml/2006/main">
            <a:r>
              <a:t/>
            </a:r>
          </a:p>
          <a:p xmlns:a="http://schemas.openxmlformats.org/drawingml/2006/main">
            <a:r>
              <a:t>### 중간 확인과 다음 활동 합류</a:t>
            </a:r>
          </a:p>
          <a:p xmlns:a="http://schemas.openxmlformats.org/drawingml/2006/main">
            <a:r>
              <a:t/>
            </a:r>
          </a:p>
          <a:p xmlns:a="http://schemas.openxmlformats.org/drawingml/2006/main">
            <a:r>
              <a:t>- 함께 확인할 증거: readings.csv의 정상 숫자 한 건과 missing_readings.csv의 미측정 한 건을 따라 읽고, 0은 숫자·미측정은 평균 대상이 아님을 설명합니다.</a:t>
            </a:r>
          </a:p>
          <a:p xmlns:a="http://schemas.openxmlformats.org/drawingml/2006/main">
            <a:r>
              <a:t>- 남은 작업: A16의 전체 구간 표시는 A16_notes.md, 네 입력 비교는 A17_notes.md에 미완료 항목을 표시하고 이어서 완성합니다. 이미 작성한 결과를 지우지 않습니다.</a:t>
            </a:r>
          </a:p>
          <a:p xmlns:a="http://schemas.openxmlformats.org/drawingml/2006/main">
            <a:r>
              <a:t>- 다음 입력: 제공된 work/A16_log_checker.py를 그대로 출발점으로 사용하고 A17에서 CSV 이름만 교체합니다. 실행이 막히면 solutions/A16_answer.md와 A17_answer.md의 제공 결과를 **관찰**로 기록하고 A18 인수인계에 미완료를 남깁니다.</a:t>
            </a:r>
          </a:p>
          <a:p xmlns:a="http://schemas.openxmlformats.org/drawingml/2006/main">
            <a:r>
              <a:t/>
            </a:r>
          </a:p>
          <a:p xmlns:a="http://schemas.openxmlformats.org/drawingml/2006/main">
            <a:r>
              <a:t>화면 예의 출처: D:/KDigital_PhysicalAI/.build/copyedited-ppt/spec-2026-10-15.json#slide-85;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https://zeusk302-png.github.io/kdigital-physical-ai/#/sessions/2026-10-15/lesson?activity=A16</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A16 상세 원문]</a:t>
            </a:r>
          </a:p>
          <a:p xmlns:a="http://schemas.openxmlformats.org/drawingml/2006/main">
            <a:r>
              <a:t>### 사례로 이해하기 · 분류 건수와 평균 분모를 보존하기</a:t>
            </a:r>
          </a:p>
          <a:p xmlns:a="http://schemas.openxmlformats.org/drawingml/2006/main">
            <a:r>
              <a:t/>
            </a:r>
          </a:p>
          <a:p xmlns:a="http://schemas.openxmlformats.org/drawingml/2006/main">
            <a:r>
              <a:t/>
            </a:r>
          </a:p>
          <a:p xmlns:a="http://schemas.openxmlformats.org/drawingml/2006/main">
            <a:r>
              <a:t/>
            </a:r>
          </a:p>
          <a:p xmlns:a="http://schemas.openxmlformats.org/drawingml/2006/main">
            <a:r>
              <a:t>로그 검사기를 넘겨받은 사람이 요약의 accepted를 실제 숫자 수라고 읽었습니다. 그러나 기존 검사기에서 accepted는 수치와 미측정을 합한 수락 건수입니다. 이름만 보고 뜻을 짐작하지 말고 각 항목의 정의와 계산 코드를 확인해야 합니다. 합성 원문 다섯 건은 “10”, 빈 문자열, “20”, “오류”, “0”입니다. 수치는 세 건, 미측정은 한 건, 이슈는 한 건입니다. 입력 전체와 분류된 부분이 빠짐없이 맞는지 검산합니다.</a:t>
            </a:r>
          </a:p>
          <a:p xmlns:a="http://schemas.openxmlformats.org/drawingml/2006/main">
            <a:r>
              <a:t/>
            </a:r>
          </a:p>
          <a:p xmlns:a="http://schemas.openxmlformats.org/drawingml/2006/main">
            <a:r>
              <a:t>이 프로그램의 관계는 input=accepted+issues, accepted=numeric+missing입니다. 다섯 건 사례에서는 5=4+1, 4=3+1입니다. 평균은 숫자 세 건의 합 10+20+0=30을 숫자 건수 3으로 나누어 10입니다. 수락 건수 4로 나누면 7.5가 되어 미측정을 0처럼 처리합니다. 이슈 건수까지 포함해 5로 나누면 6이 됩니다. 같은 원문에서 분모만 바꿔도 업무 의미가 바뀌므로 평균 대상과 건수를 함께 보고합니다.</a:t>
            </a:r>
          </a:p>
          <a:p xmlns:a="http://schemas.openxmlformats.org/drawingml/2006/main">
            <a:r>
              <a:t/>
            </a:r>
          </a:p>
          <a:p xmlns:a="http://schemas.openxmlformats.org/drawingml/2006/main">
            <a:r>
              <a:t>한 행의 추적은 원문→해석→분류→누적 순서입니다. 잘못된 글자가 나오면 이슈 목록에 원문을 남기고 continue로 다음 행으로 넘어갑니다. 문제 행이 수치 목록에도 들어가면 중복 분류가 되어 두 검산 관계가 깨질 수 있습니다. 모든 수치가 없을 때 평균은 None입니다. 0이라고 쓰면 실제 평균 0을 계산했다는 오해가 생깁니다. 헤더만 있는 입력은 전체 0건이고 모든 값이 빈 입력은 전체 기록은 있으나 수치가 0건입니다. 둘 다 평균이 없지만 같은 자료는 아닙니다. 결과 안내에는 입력 파일명·명령·실제 출력·미확인 범위·변경 이유를 남깁니다. 현재 검사는 합성 온도값 규칙을 확인하며 모든 필드나 센서의 실제 성능을 보증하지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원문은 “5”, “15”, 빈 문자열, “뜨거움”, 빈 문자열, “0”입니다. 전체·수치·미측정·이슈·수락 건수와 평균을 구하고 두 검산식을 쓰세요. 수치가 전혀 없는 경우의 평균 표현도 적으세요.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전체 6, 수치 3, 미측정 2, 이슈 1, 수락 5입니다. 6=5+1, 5=3+2이고 평균은 20÷3을 소수 둘째 자리로 반올림한 6.67입니다. 수치가 없으면 None입니다. 수락 5를 분모로 쓰면 4가 되어 미측정을 포함한 잘못된 평균입니다.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**수락 건수는 수치 건수인가요?** 이 검사기에서는 수치와 미측정을 합하므로 결과의 각 항목이 무엇을 세는지 확인합니다.</a:t>
            </a:r>
          </a:p>
          <a:p xmlns:a="http://schemas.openxmlformats.org/drawingml/2006/main">
            <a:r>
              <a:t/>
            </a:r>
          </a:p>
          <a:p xmlns:a="http://schemas.openxmlformats.org/drawingml/2006/main">
            <a:r>
              <a:t>2. **continue가 필요한 이유는?** 이슈로 분류한 행을 정상 처리로 보내지 않고 다음 행으로 넘어갑니다.</a:t>
            </a:r>
          </a:p>
          <a:p xmlns:a="http://schemas.openxmlformats.org/drawingml/2006/main">
            <a:r>
              <a:t/>
            </a:r>
          </a:p>
          <a:p xmlns:a="http://schemas.openxmlformats.org/drawingml/2006/main">
            <a:r>
              <a:t>3. **평균 None과 0은 같은가요?** None은 계산할 수치가 없음이며 0은 실제 수치 평균이 0이라는 값입니다.</a:t>
            </a:r>
          </a:p>
          <a:p xmlns:a="http://schemas.openxmlformats.org/drawingml/2006/main">
            <a:r>
              <a:t/>
            </a:r>
          </a:p>
          <a:p xmlns:a="http://schemas.openxmlformats.org/drawingml/2006/main">
            <a:r>
              <a:t/>
            </a:r>
          </a:p>
          <a:p xmlns:a="http://schemas.openxmlformats.org/drawingml/2006/main">
            <a:r>
              <a:t>**개념.** 검사기는 한 행씩 온도를 해석하여 정상 수치·미측정·이슈를 나눕니다. 함수는 한 값의 규칙을 담당하고 반복문은 여러 행에 같은 규칙을 적용합니다.</a:t>
            </a:r>
          </a:p>
          <a:p xmlns:a="http://schemas.openxmlformats.org/drawingml/2006/main">
            <a:r>
              <a:t/>
            </a:r>
          </a:p>
          <a:p xmlns:a="http://schemas.openxmlformats.org/drawingml/2006/main">
            <a:r>
              <a:t>**왜 필요한가.** 함수·파일·예외를 하나의 업무에 연결합니다. 긴 코드는 준비·정의·행 처리·집계·저장으로 나눠 추적합니다. 전체를 암기하거나 빈 편집기에서 다시 작성하는 것이 목표는 아닙니다.</a:t>
            </a:r>
          </a:p>
          <a:p xmlns:a="http://schemas.openxmlformats.org/drawingml/2006/main">
            <a:r>
              <a:t/>
            </a:r>
          </a:p>
          <a:p xmlns:a="http://schemas.openxmlformats.org/drawingml/2006/main">
            <a:r>
              <a:t>**함께 보는 예.** 실제 수치는 22.5·25.0·0.0으로 합 47.5,개수 3,평균 15.83입니다. 빈 온도 1건은 미측정,뜨거움과 51.0은 원문 이슈로 남깁니다.0도 실제 측정이므로 평균에 포함합니다.</a:t>
            </a:r>
          </a:p>
          <a:p xmlns:a="http://schemas.openxmlformats.org/drawingml/2006/main">
            <a:r>
              <a:t/>
            </a:r>
          </a:p>
          <a:p xmlns:a="http://schemas.openxmlformats.org/drawingml/2006/main">
            <a:r>
              <a:t>**헷갈리는 경우.** 평균이 낮아 보인다는 이유로 0을 빼지 않습니다. 입력 원문과 정해 둔 처리 규칙을 확인합니다. 이 프로그램은 온도 규칙에 집중하며 모든 필드와 실제 측정의 진위를 검사하지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import csv</a:t>
            </a:r>
          </a:p>
          <a:p xmlns:a="http://schemas.openxmlformats.org/drawingml/2006/main">
            <a:r>
              <a:t>import json</a:t>
            </a:r>
          </a:p>
          <a:p xmlns:a="http://schemas.openxmlformats.org/drawingml/2006/main">
            <a:r>
              <a:t>from pathlib import Path</a:t>
            </a:r>
          </a:p>
          <a:p xmlns:a="http://schemas.openxmlformats.org/drawingml/2006/main">
            <a:r>
              <a:t/>
            </a:r>
          </a:p>
          <a:p xmlns:a="http://schemas.openxmlformats.org/drawingml/2006/main">
            <a:r>
              <a:t>def parse_temperature(raw):</a:t>
            </a:r>
          </a:p>
          <a:p xmlns:a="http://schemas.openxmlformats.org/drawingml/2006/main">
            <a:r>
              <a:t>    if raw == "":</a:t>
            </a:r>
          </a:p>
          <a:p xmlns:a="http://schemas.openxmlformats.org/drawingml/2006/main">
            <a:r>
              <a:t>        return None</a:t>
            </a:r>
          </a:p>
          <a:p xmlns:a="http://schemas.openxmlformats.org/drawingml/2006/main">
            <a:r>
              <a:t>    value = float(raw)</a:t>
            </a:r>
          </a:p>
          <a:p xmlns:a="http://schemas.openxmlformats.org/drawingml/2006/main">
            <a:r>
              <a:t>    if value &lt; 0 or value &gt; 50:</a:t>
            </a:r>
          </a:p>
          <a:p xmlns:a="http://schemas.openxmlformats.org/drawingml/2006/main">
            <a:r>
              <a:t>        raise ValueError("범위 확인 필요")</a:t>
            </a:r>
          </a:p>
          <a:p xmlns:a="http://schemas.openxmlformats.org/drawingml/2006/main">
            <a:r>
              <a:t>    return value</a:t>
            </a:r>
          </a:p>
          <a:p xmlns:a="http://schemas.openxmlformats.org/drawingml/2006/main">
            <a:r>
              <a:t/>
            </a:r>
          </a:p>
          <a:p xmlns:a="http://schemas.openxmlformats.org/drawingml/2006/main">
            <a:r>
              <a:t>base = Path(__file__).resolve().parent.parent</a:t>
            </a:r>
          </a:p>
          <a:p xmlns:a="http://schemas.openxmlformats.org/drawingml/2006/main">
            <a:r>
              <a:t>source = base / "data" / "bad_readings.csv"</a:t>
            </a:r>
          </a:p>
          <a:p xmlns:a="http://schemas.openxmlformats.org/drawingml/2006/main">
            <a:r>
              <a:t>with source.open(encoding="utf-8", newline="") as file:</a:t>
            </a:r>
          </a:p>
          <a:p xmlns:a="http://schemas.openxmlformats.org/drawingml/2006/main">
            <a:r>
              <a:t>    rows = list(csv.DictReader(file))</a:t>
            </a:r>
          </a:p>
          <a:p xmlns:a="http://schemas.openxmlformats.org/drawingml/2006/main">
            <a:r>
              <a:t>numbers = []</a:t>
            </a:r>
          </a:p>
          <a:p xmlns:a="http://schemas.openxmlformats.org/drawingml/2006/main">
            <a:r>
              <a:t>issues = []</a:t>
            </a:r>
          </a:p>
          <a:p xmlns:a="http://schemas.openxmlformats.org/drawingml/2006/main">
            <a:r>
              <a:t>missing = 0</a:t>
            </a:r>
          </a:p>
          <a:p xmlns:a="http://schemas.openxmlformats.org/drawingml/2006/main">
            <a:r>
              <a:t>for row in rows:</a:t>
            </a:r>
          </a:p>
          <a:p xmlns:a="http://schemas.openxmlformats.org/drawingml/2006/main">
            <a:r>
              <a:t>    try:</a:t>
            </a:r>
          </a:p>
          <a:p xmlns:a="http://schemas.openxmlformats.org/drawingml/2006/main">
            <a:r>
              <a:t>        value = parse_temperature(row["temperature_c"])</a:t>
            </a:r>
          </a:p>
          <a:p xmlns:a="http://schemas.openxmlformats.org/drawingml/2006/main">
            <a:r>
              <a:t>    except ValueError:</a:t>
            </a:r>
          </a:p>
          <a:p xmlns:a="http://schemas.openxmlformats.org/drawingml/2006/main">
            <a:r>
              <a:t>        issues.append({"sensor_id": row["sensor_id"], "raw": row["temperature_c"]})</a:t>
            </a:r>
          </a:p>
          <a:p xmlns:a="http://schemas.openxmlformats.org/drawingml/2006/main">
            <a:r>
              <a:t>        continue</a:t>
            </a:r>
          </a:p>
          <a:p xmlns:a="http://schemas.openxmlformats.org/drawingml/2006/main">
            <a:r>
              <a:t>    if value is None:</a:t>
            </a:r>
          </a:p>
          <a:p xmlns:a="http://schemas.openxmlformats.org/drawingml/2006/main">
            <a:r>
              <a:t>        missing = missing + 1</a:t>
            </a:r>
          </a:p>
          <a:p xmlns:a="http://schemas.openxmlformats.org/drawingml/2006/main">
            <a:r>
              <a:t>    else:</a:t>
            </a:r>
          </a:p>
          <a:p xmlns:a="http://schemas.openxmlformats.org/drawingml/2006/main">
            <a:r>
              <a:t>        numbers.append(value)</a:t>
            </a:r>
          </a:p>
          <a:p xmlns:a="http://schemas.openxmlformats.org/drawingml/2006/main">
            <a:r>
              <a:t>average = None</a:t>
            </a:r>
          </a:p>
          <a:p xmlns:a="http://schemas.openxmlformats.org/drawingml/2006/main">
            <a:r>
              <a:t>if len(numbers) &gt; 0:</a:t>
            </a:r>
          </a:p>
          <a:p xmlns:a="http://schemas.openxmlformats.org/drawingml/2006/main">
            <a:r>
              <a:t>    average = round(sum(numbers) / len(numbers), 2)</a:t>
            </a:r>
          </a:p>
          <a:p xmlns:a="http://schemas.openxmlformats.org/drawingml/2006/main">
            <a:r>
              <a:t>summary = {"input": len(rows), "accepted": len(numbers) + missing,</a:t>
            </a:r>
          </a:p>
          <a:p xmlns:a="http://schemas.openxmlformats.org/drawingml/2006/main">
            <a:r>
              <a:t>           "missing": missing, "issues": len(issues), "average": average}</a:t>
            </a:r>
          </a:p>
          <a:p xmlns:a="http://schemas.openxmlformats.org/drawingml/2006/main">
            <a:r>
              <a:t>(base / "work" / "check_summary.json").write_text(</a:t>
            </a:r>
          </a:p>
          <a:p xmlns:a="http://schemas.openxmlformats.org/drawingml/2006/main">
            <a:r>
              <a:t>    json.dumps(summary, ensure_ascii=False, indent=2), encoding="utf-8")</a:t>
            </a:r>
          </a:p>
          <a:p xmlns:a="http://schemas.openxmlformats.org/drawingml/2006/main">
            <a:r>
              <a:t>(base / "work" / "check_issues.json").write_text(</a:t>
            </a:r>
          </a:p>
          <a:p xmlns:a="http://schemas.openxmlformats.org/drawingml/2006/main">
            <a:r>
              <a:t>    json.dumps(issues, ensure_ascii=False, indent=2), encoding="utf-8")</a:t>
            </a:r>
          </a:p>
          <a:p xmlns:a="http://schemas.openxmlformats.org/drawingml/2006/main">
            <a:r>
              <a:t>print(summary["input"], summary["accepted"], summary["missing"], summary["issues"])</a:t>
            </a:r>
          </a:p>
          <a:p xmlns:a="http://schemas.openxmlformats.org/drawingml/2006/main">
            <a:r>
              <a:t>print(summary["average"])</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`import csv` | CSV 도구를 가져옵니다. |</a:t>
            </a:r>
          </a:p>
          <a:p xmlns:a="http://schemas.openxmlformats.org/drawingml/2006/main">
            <a:r>
              <a:t>| 2 | `import json` | JSON 도구를 가져옵니다. |</a:t>
            </a:r>
          </a:p>
          <a:p xmlns:a="http://schemas.openxmlformats.org/drawingml/2006/main">
            <a:r>
              <a:t>| 3 | `from pathlib import Path` | 경로 도구를 가져옵니다. |</a:t>
            </a:r>
          </a:p>
          <a:p xmlns:a="http://schemas.openxmlformats.org/drawingml/2006/main">
            <a:r>
              <a:t>| 4 | `` | 정의 부분을 나누는 빈 줄입니다. |</a:t>
            </a:r>
          </a:p>
          <a:p xmlns:a="http://schemas.openxmlformats.org/drawingml/2006/main">
            <a:r>
              <a:t>| 5 | `def parse_temperature(raw):` | 온도 해석 함수를 정의합니다. |</a:t>
            </a:r>
          </a:p>
          <a:p xmlns:a="http://schemas.openxmlformats.org/drawingml/2006/main">
            <a:r>
              <a:t>| 6 | `    if raw == "":` | 빈칸인지 확인합니다. |</a:t>
            </a:r>
          </a:p>
          <a:p xmlns:a="http://schemas.openxmlformats.org/drawingml/2006/main">
            <a:r>
              <a:t>| 7 | `        return None` | 미측정을 반환합니다. |</a:t>
            </a:r>
          </a:p>
          <a:p xmlns:a="http://schemas.openxmlformats.org/drawingml/2006/main">
            <a:r>
              <a:t>| 8 | `    value = float(raw)` | 숫자로 변환합니다. |</a:t>
            </a:r>
          </a:p>
          <a:p xmlns:a="http://schemas.openxmlformats.org/drawingml/2006/main">
            <a:r>
              <a:t>| 9 | `    if value &lt; 0 or value &gt; 50:` | 범위를 확인합니다. |</a:t>
            </a:r>
          </a:p>
          <a:p xmlns:a="http://schemas.openxmlformats.org/drawingml/2006/main">
            <a:r>
              <a:t>| 10 | `        raise ValueError("범위 확인 필요")` | 범위 문제를 알립니다. |</a:t>
            </a:r>
          </a:p>
          <a:p xmlns:a="http://schemas.openxmlformats.org/drawingml/2006/main">
            <a:r>
              <a:t>| 11 | `    return value` | 유효 숫자를 반환합니다. |</a:t>
            </a:r>
          </a:p>
          <a:p xmlns:a="http://schemas.openxmlformats.org/drawingml/2006/main">
            <a:r>
              <a:t>| 12 | `` | 정의와 실행을 나눕니다. |</a:t>
            </a:r>
          </a:p>
          <a:p xmlns:a="http://schemas.openxmlformats.org/drawingml/2006/main">
            <a:r>
              <a:t>| 13 | `base = Path(__file__).resolve().parent.parent` | course 주소를 정합니다. |</a:t>
            </a:r>
          </a:p>
          <a:p xmlns:a="http://schemas.openxmlformats.org/drawingml/2006/main">
            <a:r>
              <a:t>| 14 | `source = base / "data" / "bad_readings.csv"` | 입력 파일을 선택합니다. |</a:t>
            </a:r>
          </a:p>
          <a:p xmlns:a="http://schemas.openxmlformats.org/drawingml/2006/main">
            <a:r>
              <a:t>| 15 | `with source.open(encoding="utf-8", newline="") as file:` | 입력 파일을 엽니다. |</a:t>
            </a:r>
          </a:p>
          <a:p xmlns:a="http://schemas.openxmlformats.org/drawingml/2006/main">
            <a:r>
              <a:t>| 16 | `    rows = list(csv.DictReader(file))` | 헤더 키로 행을 읽습니다. |</a:t>
            </a:r>
          </a:p>
          <a:p xmlns:a="http://schemas.openxmlformats.org/drawingml/2006/main">
            <a:r>
              <a:t>| 17 | `numbers = []` | 숫자 목록을 준비합니다. |</a:t>
            </a:r>
          </a:p>
          <a:p xmlns:a="http://schemas.openxmlformats.org/drawingml/2006/main">
            <a:r>
              <a:t>| 18 | `issues = []` | 이슈 목록을 준비합니다. |</a:t>
            </a:r>
          </a:p>
          <a:p xmlns:a="http://schemas.openxmlformats.org/drawingml/2006/main">
            <a:r>
              <a:t>| 19 | `missing = 0` | 미측정 개수를 준비합니다. |</a:t>
            </a:r>
          </a:p>
          <a:p xmlns:a="http://schemas.openxmlformats.org/drawingml/2006/main">
            <a:r>
              <a:t>| 20 | `for row in rows:` | 한 행씩 처리합니다. |</a:t>
            </a:r>
          </a:p>
          <a:p xmlns:a="http://schemas.openxmlformats.org/drawingml/2006/main">
            <a:r>
              <a:t>| 21 | `    try:` | 해석을 시도합니다. |</a:t>
            </a:r>
          </a:p>
          <a:p xmlns:a="http://schemas.openxmlformats.org/drawingml/2006/main">
            <a:r>
              <a:t>| 22 | `        value = parse_temperature(row["temperature_c"])` | 이번 온도 원문을 함수에 줍니다. |</a:t>
            </a:r>
          </a:p>
          <a:p xmlns:a="http://schemas.openxmlformats.org/drawingml/2006/main">
            <a:r>
              <a:t>| 23 | `    except ValueError:` | 변환·범위 오류를 처리합니다. |</a:t>
            </a:r>
          </a:p>
          <a:p xmlns:a="http://schemas.openxmlformats.org/drawingml/2006/main">
            <a:r>
              <a:t>| 24 | `        issues.append({"sensor_id": row["sensor_id"], "raw": row["temperature_c"]})` | 센서명과 원문을 이슈로 보존합니다. |</a:t>
            </a:r>
          </a:p>
          <a:p xmlns:a="http://schemas.openxmlformats.org/drawingml/2006/main">
            <a:r>
              <a:t>| 25 | `        continue` | 다음 행으로 넘어갑니다. |</a:t>
            </a:r>
          </a:p>
          <a:p xmlns:a="http://schemas.openxmlformats.org/drawingml/2006/main">
            <a:r>
              <a:t>| 26 | `    if value is None:` | 미측정을 구별합니다. |</a:t>
            </a:r>
          </a:p>
          <a:p xmlns:a="http://schemas.openxmlformats.org/drawingml/2006/main">
            <a:r>
              <a:t>| 27 | `        missing = missing + 1` | 미측정 개수를 늘립니다. |</a:t>
            </a:r>
          </a:p>
          <a:p xmlns:a="http://schemas.openxmlformats.org/drawingml/2006/main">
            <a:r>
              <a:t>| 28 | `    else:` | 숫자인 경우입니다. |</a:t>
            </a:r>
          </a:p>
          <a:p xmlns:a="http://schemas.openxmlformats.org/drawingml/2006/main">
            <a:r>
              <a:t>| 29 | `        numbers.append(value)` | 수치 목록에 넣습니다. |</a:t>
            </a:r>
          </a:p>
          <a:p xmlns:a="http://schemas.openxmlformats.org/drawingml/2006/main">
            <a:r>
              <a:t>| 30 | `average = None` | 수치가 없을 때의 평균을 준비합니다. |</a:t>
            </a:r>
          </a:p>
          <a:p xmlns:a="http://schemas.openxmlformats.org/drawingml/2006/main">
            <a:r>
              <a:t>| 31 | `if len(numbers) &gt; 0:` | 숫자가 있을 때만 계산합니다. |</a:t>
            </a:r>
          </a:p>
          <a:p xmlns:a="http://schemas.openxmlformats.org/drawingml/2006/main">
            <a:r>
              <a:t>| 32 | `    average = round(sum(numbers) / len(numbers), 2)` | 실제 수치 개수로 나누어 반올림합니다. |</a:t>
            </a:r>
          </a:p>
          <a:p xmlns:a="http://schemas.openxmlformats.org/drawingml/2006/main">
            <a:r>
              <a:t>| 33 | `summary = {"input": len(rows), "accepted": len(numbers) + missing,` | 입력·수락 건수로 요약을 시작합니다. |</a:t>
            </a:r>
          </a:p>
          <a:p xmlns:a="http://schemas.openxmlformats.org/drawingml/2006/main">
            <a:r>
              <a:t>| 34 | `           "missing": missing, "issues": len(issues), "average": average}` | 미측정·이슈·평균을 포함합니다. |</a:t>
            </a:r>
          </a:p>
          <a:p xmlns:a="http://schemas.openxmlformats.org/drawingml/2006/main">
            <a:r>
              <a:t>| 35 | `(base / "work" / "check_summary.json").write_text(` | 요약 파일 쓰기를 시작합니다. |</a:t>
            </a:r>
          </a:p>
          <a:p xmlns:a="http://schemas.openxmlformats.org/drawingml/2006/main">
            <a:r>
              <a:t>| 36 | `    json.dumps(summary, ensure_ascii=False, indent=2), encoding="utf-8")` | JSON과 UTF-8로 저장합니다. |</a:t>
            </a:r>
          </a:p>
          <a:p xmlns:a="http://schemas.openxmlformats.org/drawingml/2006/main">
            <a:r>
              <a:t>| 37 | `(base / "work" / "check_issues.json").write_text(` | 이슈 파일 쓰기를 시작합니다. |</a:t>
            </a:r>
          </a:p>
          <a:p xmlns:a="http://schemas.openxmlformats.org/drawingml/2006/main">
            <a:r>
              <a:t>| 38 | `    json.dumps(issues, ensure_ascii=False, indent=2), encoding="utf-8")` | 이슈 원문을 JSON으로 저장합니다. |</a:t>
            </a:r>
          </a:p>
          <a:p xmlns:a="http://schemas.openxmlformats.org/drawingml/2006/main">
            <a:r>
              <a:t>| 39 | `print(summary["input"], summary["accepted"], summary["missing"], summary["issues"])` | 집계 네 개를 보여 줍니다. |</a:t>
            </a:r>
          </a:p>
          <a:p xmlns:a="http://schemas.openxmlformats.org/drawingml/2006/main">
            <a:r>
              <a:t>| 40 | `print(summary["average"])` | 평균 또는 None을 보여 줍니다.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code/A16_log_checker.py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work/A16_log_checker.py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6 4 1 2</a:t>
            </a:r>
          </a:p>
          <a:p xmlns:a="http://schemas.openxmlformats.org/drawingml/2006/main">
            <a:r>
              <a:t>15.83</a:t>
            </a:r>
          </a:p>
          <a:p xmlns:a="http://schemas.openxmlformats.org/drawingml/2006/main">
            <a:r>
              <a:t>```</a:t>
            </a:r>
          </a:p>
          <a:p xmlns:a="http://schemas.openxmlformats.org/drawingml/2006/main">
            <a:r>
              <a:t/>
            </a:r>
          </a:p>
          <a:p xmlns:a="http://schemas.openxmlformats.org/drawingml/2006/main">
            <a:r>
              <a:t>작은 수정: `"bad_readings.csv"`를 `"readings.csv"`로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4 4 1 0</a:t>
            </a:r>
          </a:p>
          <a:p xmlns:a="http://schemas.openxmlformats.org/drawingml/2006/main">
            <a:r>
              <a:t>15.83</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전체 코드를 역할별 다섯 구간으로 표시합니다.</a:t>
            </a:r>
          </a:p>
          <a:p xmlns:a="http://schemas.openxmlformats.org/drawingml/2006/main">
            <a:r>
              <a:t>2. 건수와 평균을 손으로 먼저 확인합니다.</a:t>
            </a:r>
          </a:p>
          <a:p xmlns:a="http://schemas.openxmlformats.org/drawingml/2006/main">
            <a:r>
              <a:t>3. 실행 뒤 결과 JSON 두 개를 엽니다.</a:t>
            </a:r>
          </a:p>
          <a:p xmlns:a="http://schemas.openxmlformats.org/drawingml/2006/main">
            <a:r>
              <a:t>4. 입력 파일명만 readings.csv로 바꿔 비교합니다.</a:t>
            </a:r>
          </a:p>
          <a:p xmlns:a="http://schemas.openxmlformats.org/drawingml/2006/main">
            <a:r>
              <a:t/>
            </a:r>
          </a:p>
          <a:p xmlns:a="http://schemas.openxmlformats.org/drawingml/2006/main">
            <a:r>
              <a:t>예상 결과: 오류 포함 6/4/1/2,정상 4/4/1/0. 평균은 모두 15.83.</a:t>
            </a:r>
          </a:p>
          <a:p xmlns:a="http://schemas.openxmlformats.org/drawingml/2006/main">
            <a:r>
              <a:t/>
            </a:r>
          </a:p>
          <a:p xmlns:a="http://schemas.openxmlformats.org/drawingml/2006/main">
            <a:r>
              <a:t>확인 질문: continue의 역할은 무엇인가요?</a:t>
            </a:r>
          </a:p>
          <a:p xmlns:a="http://schemas.openxmlformats.org/drawingml/2006/main">
            <a:r>
              <a:t/>
            </a:r>
          </a:p>
          <a:p xmlns:a="http://schemas.openxmlformats.org/drawingml/2006/main">
            <a:r>
              <a:t>막혔을 때: 한 행의 원문→함수→분류를 먼저 추적합니다. 여러 곳을 동시에 바꾸지 않습니다.</a:t>
            </a:r>
          </a:p>
          <a:p xmlns:a="http://schemas.openxmlformats.org/drawingml/2006/main">
            <a:r>
              <a:t/>
            </a:r>
          </a:p>
          <a:p xmlns:a="http://schemas.openxmlformats.org/drawingml/2006/main">
            <a:r>
              <a:t>[활동 자료와 작성칸](practice-guide.md#a16--로그-검사기-전체-흐름)에서 A16를 엽니다.</a:t>
            </a:r>
          </a:p>
          <a:p xmlns:a="http://schemas.openxmlformats.org/drawingml/2006/main">
            <a:r>
              <a:t/>
            </a:r>
          </a:p>
          <a:p xmlns:a="http://schemas.openxmlformats.org/drawingml/2006/main">
            <a:r>
              <a:t>### 중간 확인과 다음 활동 합류</a:t>
            </a:r>
          </a:p>
          <a:p xmlns:a="http://schemas.openxmlformats.org/drawingml/2006/main">
            <a:r>
              <a:t/>
            </a:r>
          </a:p>
          <a:p xmlns:a="http://schemas.openxmlformats.org/drawingml/2006/main">
            <a:r>
              <a:t>- 함께 확인할 증거: readings.csv의 정상 숫자 한 건과 missing_readings.csv의 미측정 한 건을 따라 읽고, 0은 숫자·미측정은 평균 대상이 아님을 설명합니다.</a:t>
            </a:r>
          </a:p>
          <a:p xmlns:a="http://schemas.openxmlformats.org/drawingml/2006/main">
            <a:r>
              <a:t>- 남은 작업: A16의 전체 구간 표시는 A16_notes.md, 네 입력 비교는 A17_notes.md에 미완료 항목을 표시하고 이어서 완성합니다. 이미 작성한 결과를 지우지 않습니다.</a:t>
            </a:r>
          </a:p>
          <a:p xmlns:a="http://schemas.openxmlformats.org/drawingml/2006/main">
            <a:r>
              <a:t>- 다음 입력: 제공된 work/A16_log_checker.py를 그대로 출발점으로 사용하고 A17에서 CSV 이름만 교체합니다. 실행이 막히면 solutions/A16_answer.md와 A17_answer.md의 제공 결과를 **관찰**로 기록하고 A18 인수인계에 미완료를 남깁니다.</a:t>
            </a:r>
          </a:p>
          <a:p xmlns:a="http://schemas.openxmlformats.org/drawingml/2006/main">
            <a:r>
              <a:t/>
            </a:r>
          </a:p>
          <a:p xmlns:a="http://schemas.openxmlformats.org/drawingml/2006/main">
            <a:r>
              <a:t>화면 예의 출처: D:/KDigital_PhysicalAI/.build/copyedited-ppt/spec-2026-10-15.json#slide-91;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https://zeusk302-png.github.io/kdigital-physical-ai/#/sessions/2026-10-15/lesson?activity=A16</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A16 상세 원문]</a:t>
            </a:r>
          </a:p>
          <a:p xmlns:a="http://schemas.openxmlformats.org/drawingml/2006/main">
            <a:r>
              <a:t>### 사례로 이해하기 · 분류 건수와 평균 분모를 보존하기</a:t>
            </a:r>
          </a:p>
          <a:p xmlns:a="http://schemas.openxmlformats.org/drawingml/2006/main">
            <a:r>
              <a:t/>
            </a:r>
          </a:p>
          <a:p xmlns:a="http://schemas.openxmlformats.org/drawingml/2006/main">
            <a:r>
              <a:t/>
            </a:r>
          </a:p>
          <a:p xmlns:a="http://schemas.openxmlformats.org/drawingml/2006/main">
            <a:r>
              <a:t/>
            </a:r>
          </a:p>
          <a:p xmlns:a="http://schemas.openxmlformats.org/drawingml/2006/main">
            <a:r>
              <a:t>로그 검사기를 넘겨받은 사람이 요약의 accepted를 실제 숫자 수라고 읽었습니다. 그러나 기존 검사기에서 accepted는 수치와 미측정을 합한 수락 건수입니다. 이름만 보고 뜻을 짐작하지 말고 각 항목의 정의와 계산 코드를 확인해야 합니다. 합성 원문 다섯 건은 “10”, 빈 문자열, “20”, “오류”, “0”입니다. 수치는 세 건, 미측정은 한 건, 이슈는 한 건입니다. 입력 전체와 분류된 부분이 빠짐없이 맞는지 검산합니다.</a:t>
            </a:r>
          </a:p>
          <a:p xmlns:a="http://schemas.openxmlformats.org/drawingml/2006/main">
            <a:r>
              <a:t/>
            </a:r>
          </a:p>
          <a:p xmlns:a="http://schemas.openxmlformats.org/drawingml/2006/main">
            <a:r>
              <a:t>이 프로그램의 관계는 input=accepted+issues, accepted=numeric+missing입니다. 다섯 건 사례에서는 5=4+1, 4=3+1입니다. 평균은 숫자 세 건의 합 10+20+0=30을 숫자 건수 3으로 나누어 10입니다. 수락 건수 4로 나누면 7.5가 되어 미측정을 0처럼 처리합니다. 이슈 건수까지 포함해 5로 나누면 6이 됩니다. 같은 원문에서 분모만 바꿔도 업무 의미가 바뀌므로 평균 대상과 건수를 함께 보고합니다.</a:t>
            </a:r>
          </a:p>
          <a:p xmlns:a="http://schemas.openxmlformats.org/drawingml/2006/main">
            <a:r>
              <a:t/>
            </a:r>
          </a:p>
          <a:p xmlns:a="http://schemas.openxmlformats.org/drawingml/2006/main">
            <a:r>
              <a:t>한 행의 추적은 원문→해석→분류→누적 순서입니다. 잘못된 글자가 나오면 이슈 목록에 원문을 남기고 continue로 다음 행으로 넘어갑니다. 문제 행이 수치 목록에도 들어가면 중복 분류가 되어 두 검산 관계가 깨질 수 있습니다. 모든 수치가 없을 때 평균은 None입니다. 0이라고 쓰면 실제 평균 0을 계산했다는 오해가 생깁니다. 헤더만 있는 입력은 전체 0건이고 모든 값이 빈 입력은 전체 기록은 있으나 수치가 0건입니다. 둘 다 평균이 없지만 같은 자료는 아닙니다. 결과 안내에는 입력 파일명·명령·실제 출력·미확인 범위·변경 이유를 남깁니다. 현재 검사는 합성 온도값 규칙을 확인하며 모든 필드나 센서의 실제 성능을 보증하지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원문은 “5”, “15”, 빈 문자열, “뜨거움”, 빈 문자열, “0”입니다. 전체·수치·미측정·이슈·수락 건수와 평균을 구하고 두 검산식을 쓰세요. 수치가 전혀 없는 경우의 평균 표현도 적으세요.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전체 6, 수치 3, 미측정 2, 이슈 1, 수락 5입니다. 6=5+1, 5=3+2이고 평균은 20÷3을 소수 둘째 자리로 반올림한 6.67입니다. 수치가 없으면 None입니다. 수락 5를 분모로 쓰면 4가 되어 미측정을 포함한 잘못된 평균입니다.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**수락 건수는 수치 건수인가요?** 이 검사기에서는 수치와 미측정을 합하므로 결과의 각 항목이 무엇을 세는지 확인합니다.</a:t>
            </a:r>
          </a:p>
          <a:p xmlns:a="http://schemas.openxmlformats.org/drawingml/2006/main">
            <a:r>
              <a:t/>
            </a:r>
          </a:p>
          <a:p xmlns:a="http://schemas.openxmlformats.org/drawingml/2006/main">
            <a:r>
              <a:t>2. **continue가 필요한 이유는?** 이슈로 분류한 행을 정상 처리로 보내지 않고 다음 행으로 넘어갑니다.</a:t>
            </a:r>
          </a:p>
          <a:p xmlns:a="http://schemas.openxmlformats.org/drawingml/2006/main">
            <a:r>
              <a:t/>
            </a:r>
          </a:p>
          <a:p xmlns:a="http://schemas.openxmlformats.org/drawingml/2006/main">
            <a:r>
              <a:t>3. **평균 None과 0은 같은가요?** None은 계산할 수치가 없음이며 0은 실제 수치 평균이 0이라는 값입니다.</a:t>
            </a:r>
          </a:p>
          <a:p xmlns:a="http://schemas.openxmlformats.org/drawingml/2006/main">
            <a:r>
              <a:t/>
            </a:r>
          </a:p>
          <a:p xmlns:a="http://schemas.openxmlformats.org/drawingml/2006/main">
            <a:r>
              <a:t/>
            </a:r>
          </a:p>
          <a:p xmlns:a="http://schemas.openxmlformats.org/drawingml/2006/main">
            <a:r>
              <a:t>**개념.** 검사기는 한 행씩 온도를 해석하여 정상 수치·미측정·이슈를 나눕니다. 함수는 한 값의 규칙을 담당하고 반복문은 여러 행에 같은 규칙을 적용합니다.</a:t>
            </a:r>
          </a:p>
          <a:p xmlns:a="http://schemas.openxmlformats.org/drawingml/2006/main">
            <a:r>
              <a:t/>
            </a:r>
          </a:p>
          <a:p xmlns:a="http://schemas.openxmlformats.org/drawingml/2006/main">
            <a:r>
              <a:t>**왜 필요한가.** 함수·파일·예외를 하나의 업무에 연결합니다. 긴 코드는 준비·정의·행 처리·집계·저장으로 나눠 추적합니다. 전체를 암기하거나 빈 편집기에서 다시 작성하는 것이 목표는 아닙니다.</a:t>
            </a:r>
          </a:p>
          <a:p xmlns:a="http://schemas.openxmlformats.org/drawingml/2006/main">
            <a:r>
              <a:t/>
            </a:r>
          </a:p>
          <a:p xmlns:a="http://schemas.openxmlformats.org/drawingml/2006/main">
            <a:r>
              <a:t>**함께 보는 예.** 실제 수치는 22.5·25.0·0.0으로 합 47.5,개수 3,평균 15.83입니다. 빈 온도 1건은 미측정,뜨거움과 51.0은 원문 이슈로 남깁니다.0도 실제 측정이므로 평균에 포함합니다.</a:t>
            </a:r>
          </a:p>
          <a:p xmlns:a="http://schemas.openxmlformats.org/drawingml/2006/main">
            <a:r>
              <a:t/>
            </a:r>
          </a:p>
          <a:p xmlns:a="http://schemas.openxmlformats.org/drawingml/2006/main">
            <a:r>
              <a:t>**헷갈리는 경우.** 평균이 낮아 보인다는 이유로 0을 빼지 않습니다. 입력 원문과 정해 둔 처리 규칙을 확인합니다. 이 프로그램은 온도 규칙에 집중하며 모든 필드와 실제 측정의 진위를 검사하지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import csv</a:t>
            </a:r>
          </a:p>
          <a:p xmlns:a="http://schemas.openxmlformats.org/drawingml/2006/main">
            <a:r>
              <a:t>import json</a:t>
            </a:r>
          </a:p>
          <a:p xmlns:a="http://schemas.openxmlformats.org/drawingml/2006/main">
            <a:r>
              <a:t>from pathlib import Path</a:t>
            </a:r>
          </a:p>
          <a:p xmlns:a="http://schemas.openxmlformats.org/drawingml/2006/main">
            <a:r>
              <a:t/>
            </a:r>
          </a:p>
          <a:p xmlns:a="http://schemas.openxmlformats.org/drawingml/2006/main">
            <a:r>
              <a:t>def parse_temperature(raw):</a:t>
            </a:r>
          </a:p>
          <a:p xmlns:a="http://schemas.openxmlformats.org/drawingml/2006/main">
            <a:r>
              <a:t>    if raw == "":</a:t>
            </a:r>
          </a:p>
          <a:p xmlns:a="http://schemas.openxmlformats.org/drawingml/2006/main">
            <a:r>
              <a:t>        return None</a:t>
            </a:r>
          </a:p>
          <a:p xmlns:a="http://schemas.openxmlformats.org/drawingml/2006/main">
            <a:r>
              <a:t>    value = float(raw)</a:t>
            </a:r>
          </a:p>
          <a:p xmlns:a="http://schemas.openxmlformats.org/drawingml/2006/main">
            <a:r>
              <a:t>    if value &lt; 0 or value &gt; 50:</a:t>
            </a:r>
          </a:p>
          <a:p xmlns:a="http://schemas.openxmlformats.org/drawingml/2006/main">
            <a:r>
              <a:t>        raise ValueError("범위 확인 필요")</a:t>
            </a:r>
          </a:p>
          <a:p xmlns:a="http://schemas.openxmlformats.org/drawingml/2006/main">
            <a:r>
              <a:t>    return value</a:t>
            </a:r>
          </a:p>
          <a:p xmlns:a="http://schemas.openxmlformats.org/drawingml/2006/main">
            <a:r>
              <a:t/>
            </a:r>
          </a:p>
          <a:p xmlns:a="http://schemas.openxmlformats.org/drawingml/2006/main">
            <a:r>
              <a:t>base = Path(__file__).resolve().parent.parent</a:t>
            </a:r>
          </a:p>
          <a:p xmlns:a="http://schemas.openxmlformats.org/drawingml/2006/main">
            <a:r>
              <a:t>source = base / "data" / "bad_readings.csv"</a:t>
            </a:r>
          </a:p>
          <a:p xmlns:a="http://schemas.openxmlformats.org/drawingml/2006/main">
            <a:r>
              <a:t>with source.open(encoding="utf-8", newline="") as file:</a:t>
            </a:r>
          </a:p>
          <a:p xmlns:a="http://schemas.openxmlformats.org/drawingml/2006/main">
            <a:r>
              <a:t>    rows = list(csv.DictReader(file))</a:t>
            </a:r>
          </a:p>
          <a:p xmlns:a="http://schemas.openxmlformats.org/drawingml/2006/main">
            <a:r>
              <a:t>numbers = []</a:t>
            </a:r>
          </a:p>
          <a:p xmlns:a="http://schemas.openxmlformats.org/drawingml/2006/main">
            <a:r>
              <a:t>issues = []</a:t>
            </a:r>
          </a:p>
          <a:p xmlns:a="http://schemas.openxmlformats.org/drawingml/2006/main">
            <a:r>
              <a:t>missing = 0</a:t>
            </a:r>
          </a:p>
          <a:p xmlns:a="http://schemas.openxmlformats.org/drawingml/2006/main">
            <a:r>
              <a:t>for row in rows:</a:t>
            </a:r>
          </a:p>
          <a:p xmlns:a="http://schemas.openxmlformats.org/drawingml/2006/main">
            <a:r>
              <a:t>    try:</a:t>
            </a:r>
          </a:p>
          <a:p xmlns:a="http://schemas.openxmlformats.org/drawingml/2006/main">
            <a:r>
              <a:t>        value = parse_temperature(row["temperature_c"])</a:t>
            </a:r>
          </a:p>
          <a:p xmlns:a="http://schemas.openxmlformats.org/drawingml/2006/main">
            <a:r>
              <a:t>    except ValueError:</a:t>
            </a:r>
          </a:p>
          <a:p xmlns:a="http://schemas.openxmlformats.org/drawingml/2006/main">
            <a:r>
              <a:t>        issues.append({"sensor_id": row["sensor_id"], "raw": row["temperature_c"]})</a:t>
            </a:r>
          </a:p>
          <a:p xmlns:a="http://schemas.openxmlformats.org/drawingml/2006/main">
            <a:r>
              <a:t>        continue</a:t>
            </a:r>
          </a:p>
          <a:p xmlns:a="http://schemas.openxmlformats.org/drawingml/2006/main">
            <a:r>
              <a:t>    if value is None:</a:t>
            </a:r>
          </a:p>
          <a:p xmlns:a="http://schemas.openxmlformats.org/drawingml/2006/main">
            <a:r>
              <a:t>        missing = missing + 1</a:t>
            </a:r>
          </a:p>
          <a:p xmlns:a="http://schemas.openxmlformats.org/drawingml/2006/main">
            <a:r>
              <a:t>    else:</a:t>
            </a:r>
          </a:p>
          <a:p xmlns:a="http://schemas.openxmlformats.org/drawingml/2006/main">
            <a:r>
              <a:t>        numbers.append(value)</a:t>
            </a:r>
          </a:p>
          <a:p xmlns:a="http://schemas.openxmlformats.org/drawingml/2006/main">
            <a:r>
              <a:t>average = None</a:t>
            </a:r>
          </a:p>
          <a:p xmlns:a="http://schemas.openxmlformats.org/drawingml/2006/main">
            <a:r>
              <a:t>if len(numbers) &gt; 0:</a:t>
            </a:r>
          </a:p>
          <a:p xmlns:a="http://schemas.openxmlformats.org/drawingml/2006/main">
            <a:r>
              <a:t>    average = round(sum(numbers) / len(numbers), 2)</a:t>
            </a:r>
          </a:p>
          <a:p xmlns:a="http://schemas.openxmlformats.org/drawingml/2006/main">
            <a:r>
              <a:t>summary = {"input": len(rows), "accepted": len(numbers) + missing,</a:t>
            </a:r>
          </a:p>
          <a:p xmlns:a="http://schemas.openxmlformats.org/drawingml/2006/main">
            <a:r>
              <a:t>           "missing": missing, "issues": len(issues), "average": average}</a:t>
            </a:r>
          </a:p>
          <a:p xmlns:a="http://schemas.openxmlformats.org/drawingml/2006/main">
            <a:r>
              <a:t>(base / "work" / "check_summary.json").write_text(</a:t>
            </a:r>
          </a:p>
          <a:p xmlns:a="http://schemas.openxmlformats.org/drawingml/2006/main">
            <a:r>
              <a:t>    json.dumps(summary, ensure_ascii=False, indent=2), encoding="utf-8")</a:t>
            </a:r>
          </a:p>
          <a:p xmlns:a="http://schemas.openxmlformats.org/drawingml/2006/main">
            <a:r>
              <a:t>(base / "work" / "check_issues.json").write_text(</a:t>
            </a:r>
          </a:p>
          <a:p xmlns:a="http://schemas.openxmlformats.org/drawingml/2006/main">
            <a:r>
              <a:t>    json.dumps(issues, ensure_ascii=False, indent=2), encoding="utf-8")</a:t>
            </a:r>
          </a:p>
          <a:p xmlns:a="http://schemas.openxmlformats.org/drawingml/2006/main">
            <a:r>
              <a:t>print(summary["input"], summary["accepted"], summary["missing"], summary["issues"])</a:t>
            </a:r>
          </a:p>
          <a:p xmlns:a="http://schemas.openxmlformats.org/drawingml/2006/main">
            <a:r>
              <a:t>print(summary["average"])</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`import csv` | CSV 도구를 가져옵니다. |</a:t>
            </a:r>
          </a:p>
          <a:p xmlns:a="http://schemas.openxmlformats.org/drawingml/2006/main">
            <a:r>
              <a:t>| 2 | `import json` | JSON 도구를 가져옵니다. |</a:t>
            </a:r>
          </a:p>
          <a:p xmlns:a="http://schemas.openxmlformats.org/drawingml/2006/main">
            <a:r>
              <a:t>| 3 | `from pathlib import Path` | 경로 도구를 가져옵니다. |</a:t>
            </a:r>
          </a:p>
          <a:p xmlns:a="http://schemas.openxmlformats.org/drawingml/2006/main">
            <a:r>
              <a:t>| 4 | `` | 정의 부분을 나누는 빈 줄입니다. |</a:t>
            </a:r>
          </a:p>
          <a:p xmlns:a="http://schemas.openxmlformats.org/drawingml/2006/main">
            <a:r>
              <a:t>| 5 | `def parse_temperature(raw):` | 온도 해석 함수를 정의합니다. |</a:t>
            </a:r>
          </a:p>
          <a:p xmlns:a="http://schemas.openxmlformats.org/drawingml/2006/main">
            <a:r>
              <a:t>| 6 | `    if raw == "":` | 빈칸인지 확인합니다. |</a:t>
            </a:r>
          </a:p>
          <a:p xmlns:a="http://schemas.openxmlformats.org/drawingml/2006/main">
            <a:r>
              <a:t>| 7 | `        return None` | 미측정을 반환합니다. |</a:t>
            </a:r>
          </a:p>
          <a:p xmlns:a="http://schemas.openxmlformats.org/drawingml/2006/main">
            <a:r>
              <a:t>| 8 | `    value = float(raw)` | 숫자로 변환합니다. |</a:t>
            </a:r>
          </a:p>
          <a:p xmlns:a="http://schemas.openxmlformats.org/drawingml/2006/main">
            <a:r>
              <a:t>| 9 | `    if value &lt; 0 or value &gt; 50:` | 범위를 확인합니다. |</a:t>
            </a:r>
          </a:p>
          <a:p xmlns:a="http://schemas.openxmlformats.org/drawingml/2006/main">
            <a:r>
              <a:t>| 10 | `        raise ValueError("범위 확인 필요")` | 범위 문제를 알립니다. |</a:t>
            </a:r>
          </a:p>
          <a:p xmlns:a="http://schemas.openxmlformats.org/drawingml/2006/main">
            <a:r>
              <a:t>| 11 | `    return value` | 유효 숫자를 반환합니다. |</a:t>
            </a:r>
          </a:p>
          <a:p xmlns:a="http://schemas.openxmlformats.org/drawingml/2006/main">
            <a:r>
              <a:t>| 12 | `` | 정의와 실행을 나눕니다. |</a:t>
            </a:r>
          </a:p>
          <a:p xmlns:a="http://schemas.openxmlformats.org/drawingml/2006/main">
            <a:r>
              <a:t>| 13 | `base = Path(__file__).resolve().parent.parent` | course 주소를 정합니다. |</a:t>
            </a:r>
          </a:p>
          <a:p xmlns:a="http://schemas.openxmlformats.org/drawingml/2006/main">
            <a:r>
              <a:t>| 14 | `source = base / "data" / "bad_readings.csv"` | 입력 파일을 선택합니다. |</a:t>
            </a:r>
          </a:p>
          <a:p xmlns:a="http://schemas.openxmlformats.org/drawingml/2006/main">
            <a:r>
              <a:t>| 15 | `with source.open(encoding="utf-8", newline="") as file:` | 입력 파일을 엽니다. |</a:t>
            </a:r>
          </a:p>
          <a:p xmlns:a="http://schemas.openxmlformats.org/drawingml/2006/main">
            <a:r>
              <a:t>| 16 | `    rows = list(csv.DictReader(file))` | 헤더 키로 행을 읽습니다. |</a:t>
            </a:r>
          </a:p>
          <a:p xmlns:a="http://schemas.openxmlformats.org/drawingml/2006/main">
            <a:r>
              <a:t>| 17 | `numbers = []` | 숫자 목록을 준비합니다. |</a:t>
            </a:r>
          </a:p>
          <a:p xmlns:a="http://schemas.openxmlformats.org/drawingml/2006/main">
            <a:r>
              <a:t>| 18 | `issues = []` | 이슈 목록을 준비합니다. |</a:t>
            </a:r>
          </a:p>
          <a:p xmlns:a="http://schemas.openxmlformats.org/drawingml/2006/main">
            <a:r>
              <a:t>| 19 | `missing = 0` | 미측정 개수를 준비합니다. |</a:t>
            </a:r>
          </a:p>
          <a:p xmlns:a="http://schemas.openxmlformats.org/drawingml/2006/main">
            <a:r>
              <a:t>| 20 | `for row in rows:` | 한 행씩 처리합니다. |</a:t>
            </a:r>
          </a:p>
          <a:p xmlns:a="http://schemas.openxmlformats.org/drawingml/2006/main">
            <a:r>
              <a:t>| 21 | `    try:` | 해석을 시도합니다. |</a:t>
            </a:r>
          </a:p>
          <a:p xmlns:a="http://schemas.openxmlformats.org/drawingml/2006/main">
            <a:r>
              <a:t>| 22 | `        value = parse_temperature(row["temperature_c"])` | 이번 온도 원문을 함수에 줍니다. |</a:t>
            </a:r>
          </a:p>
          <a:p xmlns:a="http://schemas.openxmlformats.org/drawingml/2006/main">
            <a:r>
              <a:t>| 23 | `    except ValueError:` | 변환·범위 오류를 처리합니다. |</a:t>
            </a:r>
          </a:p>
          <a:p xmlns:a="http://schemas.openxmlformats.org/drawingml/2006/main">
            <a:r>
              <a:t>| 24 | `        issues.append({"sensor_id": row["sensor_id"], "raw": row["temperature_c"]})` | 센서명과 원문을 이슈로 보존합니다. |</a:t>
            </a:r>
          </a:p>
          <a:p xmlns:a="http://schemas.openxmlformats.org/drawingml/2006/main">
            <a:r>
              <a:t>| 25 | `        continue` | 다음 행으로 넘어갑니다. |</a:t>
            </a:r>
          </a:p>
          <a:p xmlns:a="http://schemas.openxmlformats.org/drawingml/2006/main">
            <a:r>
              <a:t>| 26 | `    if value is None:` | 미측정을 구별합니다. |</a:t>
            </a:r>
          </a:p>
          <a:p xmlns:a="http://schemas.openxmlformats.org/drawingml/2006/main">
            <a:r>
              <a:t>| 27 | `        missing = missing + 1` | 미측정 개수를 늘립니다. |</a:t>
            </a:r>
          </a:p>
          <a:p xmlns:a="http://schemas.openxmlformats.org/drawingml/2006/main">
            <a:r>
              <a:t>| 28 | `    else:` | 숫자인 경우입니다. |</a:t>
            </a:r>
          </a:p>
          <a:p xmlns:a="http://schemas.openxmlformats.org/drawingml/2006/main">
            <a:r>
              <a:t>| 29 | `        numbers.append(value)` | 수치 목록에 넣습니다. |</a:t>
            </a:r>
          </a:p>
          <a:p xmlns:a="http://schemas.openxmlformats.org/drawingml/2006/main">
            <a:r>
              <a:t>| 30 | `average = None` | 수치가 없을 때의 평균을 준비합니다. |</a:t>
            </a:r>
          </a:p>
          <a:p xmlns:a="http://schemas.openxmlformats.org/drawingml/2006/main">
            <a:r>
              <a:t>| 31 | `if len(numbers) &gt; 0:` | 숫자가 있을 때만 계산합니다. |</a:t>
            </a:r>
          </a:p>
          <a:p xmlns:a="http://schemas.openxmlformats.org/drawingml/2006/main">
            <a:r>
              <a:t>| 32 | `    average = round(sum(numbers) / len(numbers), 2)` | 실제 수치 개수로 나누어 반올림합니다. |</a:t>
            </a:r>
          </a:p>
          <a:p xmlns:a="http://schemas.openxmlformats.org/drawingml/2006/main">
            <a:r>
              <a:t>| 33 | `summary = {"input": len(rows), "accepted": len(numbers) + missing,` | 입력·수락 건수로 요약을 시작합니다. |</a:t>
            </a:r>
          </a:p>
          <a:p xmlns:a="http://schemas.openxmlformats.org/drawingml/2006/main">
            <a:r>
              <a:t>| 34 | `           "missing": missing, "issues": len(issues), "average": average}` | 미측정·이슈·평균을 포함합니다. |</a:t>
            </a:r>
          </a:p>
          <a:p xmlns:a="http://schemas.openxmlformats.org/drawingml/2006/main">
            <a:r>
              <a:t>| 35 | `(base / "work" / "check_summary.json").write_text(` | 요약 파일 쓰기를 시작합니다. |</a:t>
            </a:r>
          </a:p>
          <a:p xmlns:a="http://schemas.openxmlformats.org/drawingml/2006/main">
            <a:r>
              <a:t>| 36 | `    json.dumps(summary, ensure_ascii=False, indent=2), encoding="utf-8")` | JSON과 UTF-8로 저장합니다. |</a:t>
            </a:r>
          </a:p>
          <a:p xmlns:a="http://schemas.openxmlformats.org/drawingml/2006/main">
            <a:r>
              <a:t>| 37 | `(base / "work" / "check_issues.json").write_text(` | 이슈 파일 쓰기를 시작합니다. |</a:t>
            </a:r>
          </a:p>
          <a:p xmlns:a="http://schemas.openxmlformats.org/drawingml/2006/main">
            <a:r>
              <a:t>| 38 | `    json.dumps(issues, ensure_ascii=False, indent=2), encoding="utf-8")` | 이슈 원문을 JSON으로 저장합니다. |</a:t>
            </a:r>
          </a:p>
          <a:p xmlns:a="http://schemas.openxmlformats.org/drawingml/2006/main">
            <a:r>
              <a:t>| 39 | `print(summary["input"], summary["accepted"], summary["missing"], summary["issues"])` | 집계 네 개를 보여 줍니다. |</a:t>
            </a:r>
          </a:p>
          <a:p xmlns:a="http://schemas.openxmlformats.org/drawingml/2006/main">
            <a:r>
              <a:t>| 40 | `print(summary["average"])` | 평균 또는 None을 보여 줍니다.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code/A16_log_checker.py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work/A16_log_checker.py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6 4 1 2</a:t>
            </a:r>
          </a:p>
          <a:p xmlns:a="http://schemas.openxmlformats.org/drawingml/2006/main">
            <a:r>
              <a:t>15.83</a:t>
            </a:r>
          </a:p>
          <a:p xmlns:a="http://schemas.openxmlformats.org/drawingml/2006/main">
            <a:r>
              <a:t>```</a:t>
            </a:r>
          </a:p>
          <a:p xmlns:a="http://schemas.openxmlformats.org/drawingml/2006/main">
            <a:r>
              <a:t/>
            </a:r>
          </a:p>
          <a:p xmlns:a="http://schemas.openxmlformats.org/drawingml/2006/main">
            <a:r>
              <a:t>작은 수정: `"bad_readings.csv"`를 `"readings.csv"`로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4 4 1 0</a:t>
            </a:r>
          </a:p>
          <a:p xmlns:a="http://schemas.openxmlformats.org/drawingml/2006/main">
            <a:r>
              <a:t>15.83</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전체 코드를 역할별 다섯 구간으로 표시합니다.</a:t>
            </a:r>
          </a:p>
          <a:p xmlns:a="http://schemas.openxmlformats.org/drawingml/2006/main">
            <a:r>
              <a:t>2. 건수와 평균을 손으로 먼저 확인합니다.</a:t>
            </a:r>
          </a:p>
          <a:p xmlns:a="http://schemas.openxmlformats.org/drawingml/2006/main">
            <a:r>
              <a:t>3. 실행 뒤 결과 JSON 두 개를 엽니다.</a:t>
            </a:r>
          </a:p>
          <a:p xmlns:a="http://schemas.openxmlformats.org/drawingml/2006/main">
            <a:r>
              <a:t>4. 입력 파일명만 readings.csv로 바꿔 비교합니다.</a:t>
            </a:r>
          </a:p>
          <a:p xmlns:a="http://schemas.openxmlformats.org/drawingml/2006/main">
            <a:r>
              <a:t/>
            </a:r>
          </a:p>
          <a:p xmlns:a="http://schemas.openxmlformats.org/drawingml/2006/main">
            <a:r>
              <a:t>예상 결과: 오류 포함 6/4/1/2,정상 4/4/1/0. 평균은 모두 15.83.</a:t>
            </a:r>
          </a:p>
          <a:p xmlns:a="http://schemas.openxmlformats.org/drawingml/2006/main">
            <a:r>
              <a:t/>
            </a:r>
          </a:p>
          <a:p xmlns:a="http://schemas.openxmlformats.org/drawingml/2006/main">
            <a:r>
              <a:t>확인 질문: continue의 역할은 무엇인가요?</a:t>
            </a:r>
          </a:p>
          <a:p xmlns:a="http://schemas.openxmlformats.org/drawingml/2006/main">
            <a:r>
              <a:t/>
            </a:r>
          </a:p>
          <a:p xmlns:a="http://schemas.openxmlformats.org/drawingml/2006/main">
            <a:r>
              <a:t>막혔을 때: 한 행의 원문→함수→분류를 먼저 추적합니다. 여러 곳을 동시에 바꾸지 않습니다.</a:t>
            </a:r>
          </a:p>
          <a:p xmlns:a="http://schemas.openxmlformats.org/drawingml/2006/main">
            <a:r>
              <a:t/>
            </a:r>
          </a:p>
          <a:p xmlns:a="http://schemas.openxmlformats.org/drawingml/2006/main">
            <a:r>
              <a:t>[활동 자료와 작성칸](practice-guide.md#a16--로그-검사기-전체-흐름)에서 A16를 엽니다.</a:t>
            </a:r>
          </a:p>
          <a:p xmlns:a="http://schemas.openxmlformats.org/drawingml/2006/main">
            <a:r>
              <a:t/>
            </a:r>
          </a:p>
          <a:p xmlns:a="http://schemas.openxmlformats.org/drawingml/2006/main">
            <a:r>
              <a:t>### 중간 확인과 다음 활동 합류</a:t>
            </a:r>
          </a:p>
          <a:p xmlns:a="http://schemas.openxmlformats.org/drawingml/2006/main">
            <a:r>
              <a:t/>
            </a:r>
          </a:p>
          <a:p xmlns:a="http://schemas.openxmlformats.org/drawingml/2006/main">
            <a:r>
              <a:t>- 함께 확인할 증거: readings.csv의 정상 숫자 한 건과 missing_readings.csv의 미측정 한 건을 따라 읽고, 0은 숫자·미측정은 평균 대상이 아님을 설명합니다.</a:t>
            </a:r>
          </a:p>
          <a:p xmlns:a="http://schemas.openxmlformats.org/drawingml/2006/main">
            <a:r>
              <a:t>- 남은 작업: A16의 전체 구간 표시는 A16_notes.md, 네 입력 비교는 A17_notes.md에 미완료 항목을 표시하고 이어서 완성합니다. 이미 작성한 결과를 지우지 않습니다.</a:t>
            </a:r>
          </a:p>
          <a:p xmlns:a="http://schemas.openxmlformats.org/drawingml/2006/main">
            <a:r>
              <a:t>- 다음 입력: 제공된 work/A16_log_checker.py를 그대로 출발점으로 사용하고 A17에서 CSV 이름만 교체합니다. 실행이 막히면 solutions/A16_answer.md와 A17_answer.md의 제공 결과를 **관찰**로 기록하고 A18 인수인계에 미완료를 남깁니다.</a:t>
            </a:r>
          </a:p>
          <a:p xmlns:a="http://schemas.openxmlformats.org/drawingml/2006/main">
            <a:r>
              <a:t/>
            </a:r>
          </a:p>
          <a:p xmlns:a="http://schemas.openxmlformats.org/drawingml/2006/main">
            <a:r>
              <a:t>화면 예의 출처: D:/KDigital_PhysicalAI/.build/copyedited-ppt/spec-2026-10-15.json#slide-85;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https://zeusk302-png.github.io/kdigital-physical-ai/#/sessions/2026-10-15/lesson?activity=A16</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A16 상세 원문]</a:t>
            </a:r>
          </a:p>
          <a:p xmlns:a="http://schemas.openxmlformats.org/drawingml/2006/main">
            <a:r>
              <a:t>### 사례로 이해하기 · 분류 건수와 평균 분모를 보존하기</a:t>
            </a:r>
          </a:p>
          <a:p xmlns:a="http://schemas.openxmlformats.org/drawingml/2006/main">
            <a:r>
              <a:t/>
            </a:r>
          </a:p>
          <a:p xmlns:a="http://schemas.openxmlformats.org/drawingml/2006/main">
            <a:r>
              <a:t/>
            </a:r>
          </a:p>
          <a:p xmlns:a="http://schemas.openxmlformats.org/drawingml/2006/main">
            <a:r>
              <a:t/>
            </a:r>
          </a:p>
          <a:p xmlns:a="http://schemas.openxmlformats.org/drawingml/2006/main">
            <a:r>
              <a:t>로그 검사기를 넘겨받은 사람이 요약의 accepted를 실제 숫자 수라고 읽었습니다. 그러나 기존 검사기에서 accepted는 수치와 미측정을 합한 수락 건수입니다. 이름만 보고 뜻을 짐작하지 말고 각 항목의 정의와 계산 코드를 확인해야 합니다. 합성 원문 다섯 건은 “10”, 빈 문자열, “20”, “오류”, “0”입니다. 수치는 세 건, 미측정은 한 건, 이슈는 한 건입니다. 입력 전체와 분류된 부분이 빠짐없이 맞는지 검산합니다.</a:t>
            </a:r>
          </a:p>
          <a:p xmlns:a="http://schemas.openxmlformats.org/drawingml/2006/main">
            <a:r>
              <a:t/>
            </a:r>
          </a:p>
          <a:p xmlns:a="http://schemas.openxmlformats.org/drawingml/2006/main">
            <a:r>
              <a:t>이 프로그램의 관계는 input=accepted+issues, accepted=numeric+missing입니다. 다섯 건 사례에서는 5=4+1, 4=3+1입니다. 평균은 숫자 세 건의 합 10+20+0=30을 숫자 건수 3으로 나누어 10입니다. 수락 건수 4로 나누면 7.5가 되어 미측정을 0처럼 처리합니다. 이슈 건수까지 포함해 5로 나누면 6이 됩니다. 같은 원문에서 분모만 바꿔도 업무 의미가 바뀌므로 평균 대상과 건수를 함께 보고합니다.</a:t>
            </a:r>
          </a:p>
          <a:p xmlns:a="http://schemas.openxmlformats.org/drawingml/2006/main">
            <a:r>
              <a:t/>
            </a:r>
          </a:p>
          <a:p xmlns:a="http://schemas.openxmlformats.org/drawingml/2006/main">
            <a:r>
              <a:t>한 행의 추적은 원문→해석→분류→누적 순서입니다. 잘못된 글자가 나오면 이슈 목록에 원문을 남기고 continue로 다음 행으로 넘어갑니다. 문제 행이 수치 목록에도 들어가면 중복 분류가 되어 두 검산 관계가 깨질 수 있습니다. 모든 수치가 없을 때 평균은 None입니다. 0이라고 쓰면 실제 평균 0을 계산했다는 오해가 생깁니다. 헤더만 있는 입력은 전체 0건이고 모든 값이 빈 입력은 전체 기록은 있으나 수치가 0건입니다. 둘 다 평균이 없지만 같은 자료는 아닙니다. 결과 안내에는 입력 파일명·명령·실제 출력·미확인 범위·변경 이유를 남깁니다. 현재 검사는 합성 온도값 규칙을 확인하며 모든 필드나 센서의 실제 성능을 보증하지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원문은 “5”, “15”, 빈 문자열, “뜨거움”, 빈 문자열, “0”입니다. 전체·수치·미측정·이슈·수락 건수와 평균을 구하고 두 검산식을 쓰세요. 수치가 전혀 없는 경우의 평균 표현도 적으세요.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전체 6, 수치 3, 미측정 2, 이슈 1, 수락 5입니다. 6=5+1, 5=3+2이고 평균은 20÷3을 소수 둘째 자리로 반올림한 6.67입니다. 수치가 없으면 None입니다. 수락 5를 분모로 쓰면 4가 되어 미측정을 포함한 잘못된 평균입니다.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**수락 건수는 수치 건수인가요?** 이 검사기에서는 수치와 미측정을 합하므로 결과의 각 항목이 무엇을 세는지 확인합니다.</a:t>
            </a:r>
          </a:p>
          <a:p xmlns:a="http://schemas.openxmlformats.org/drawingml/2006/main">
            <a:r>
              <a:t/>
            </a:r>
          </a:p>
          <a:p xmlns:a="http://schemas.openxmlformats.org/drawingml/2006/main">
            <a:r>
              <a:t>2. **continue가 필요한 이유는?** 이슈로 분류한 행을 정상 처리로 보내지 않고 다음 행으로 넘어갑니다.</a:t>
            </a:r>
          </a:p>
          <a:p xmlns:a="http://schemas.openxmlformats.org/drawingml/2006/main">
            <a:r>
              <a:t/>
            </a:r>
          </a:p>
          <a:p xmlns:a="http://schemas.openxmlformats.org/drawingml/2006/main">
            <a:r>
              <a:t>3. **평균 None과 0은 같은가요?** None은 계산할 수치가 없음이며 0은 실제 수치 평균이 0이라는 값입니다.</a:t>
            </a:r>
          </a:p>
          <a:p xmlns:a="http://schemas.openxmlformats.org/drawingml/2006/main">
            <a:r>
              <a:t/>
            </a:r>
          </a:p>
          <a:p xmlns:a="http://schemas.openxmlformats.org/drawingml/2006/main">
            <a:r>
              <a:t/>
            </a:r>
          </a:p>
          <a:p xmlns:a="http://schemas.openxmlformats.org/drawingml/2006/main">
            <a:r>
              <a:t>**개념.** 검사기는 한 행씩 온도를 해석하여 정상 수치·미측정·이슈를 나눕니다. 함수는 한 값의 규칙을 담당하고 반복문은 여러 행에 같은 규칙을 적용합니다.</a:t>
            </a:r>
          </a:p>
          <a:p xmlns:a="http://schemas.openxmlformats.org/drawingml/2006/main">
            <a:r>
              <a:t/>
            </a:r>
          </a:p>
          <a:p xmlns:a="http://schemas.openxmlformats.org/drawingml/2006/main">
            <a:r>
              <a:t>**왜 필요한가.** 함수·파일·예외를 하나의 업무에 연결합니다. 긴 코드는 준비·정의·행 처리·집계·저장으로 나눠 추적합니다. 전체를 암기하거나 빈 편집기에서 다시 작성하는 것이 목표는 아닙니다.</a:t>
            </a:r>
          </a:p>
          <a:p xmlns:a="http://schemas.openxmlformats.org/drawingml/2006/main">
            <a:r>
              <a:t/>
            </a:r>
          </a:p>
          <a:p xmlns:a="http://schemas.openxmlformats.org/drawingml/2006/main">
            <a:r>
              <a:t>**함께 보는 예.** 실제 수치는 22.5·25.0·0.0으로 합 47.5,개수 3,평균 15.83입니다. 빈 온도 1건은 미측정,뜨거움과 51.0은 원문 이슈로 남깁니다.0도 실제 측정이므로 평균에 포함합니다.</a:t>
            </a:r>
          </a:p>
          <a:p xmlns:a="http://schemas.openxmlformats.org/drawingml/2006/main">
            <a:r>
              <a:t/>
            </a:r>
          </a:p>
          <a:p xmlns:a="http://schemas.openxmlformats.org/drawingml/2006/main">
            <a:r>
              <a:t>**헷갈리는 경우.** 평균이 낮아 보인다는 이유로 0을 빼지 않습니다. 입력 원문과 정해 둔 처리 규칙을 확인합니다. 이 프로그램은 온도 규칙에 집중하며 모든 필드와 실제 측정의 진위를 검사하지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import csv</a:t>
            </a:r>
          </a:p>
          <a:p xmlns:a="http://schemas.openxmlformats.org/drawingml/2006/main">
            <a:r>
              <a:t>import json</a:t>
            </a:r>
          </a:p>
          <a:p xmlns:a="http://schemas.openxmlformats.org/drawingml/2006/main">
            <a:r>
              <a:t>from pathlib import Path</a:t>
            </a:r>
          </a:p>
          <a:p xmlns:a="http://schemas.openxmlformats.org/drawingml/2006/main">
            <a:r>
              <a:t/>
            </a:r>
          </a:p>
          <a:p xmlns:a="http://schemas.openxmlformats.org/drawingml/2006/main">
            <a:r>
              <a:t>def parse_temperature(raw):</a:t>
            </a:r>
          </a:p>
          <a:p xmlns:a="http://schemas.openxmlformats.org/drawingml/2006/main">
            <a:r>
              <a:t>    if raw == "":</a:t>
            </a:r>
          </a:p>
          <a:p xmlns:a="http://schemas.openxmlformats.org/drawingml/2006/main">
            <a:r>
              <a:t>        return None</a:t>
            </a:r>
          </a:p>
          <a:p xmlns:a="http://schemas.openxmlformats.org/drawingml/2006/main">
            <a:r>
              <a:t>    value = float(raw)</a:t>
            </a:r>
          </a:p>
          <a:p xmlns:a="http://schemas.openxmlformats.org/drawingml/2006/main">
            <a:r>
              <a:t>    if value &lt; 0 or value &gt; 50:</a:t>
            </a:r>
          </a:p>
          <a:p xmlns:a="http://schemas.openxmlformats.org/drawingml/2006/main">
            <a:r>
              <a:t>        raise ValueError("범위 확인 필요")</a:t>
            </a:r>
          </a:p>
          <a:p xmlns:a="http://schemas.openxmlformats.org/drawingml/2006/main">
            <a:r>
              <a:t>    return value</a:t>
            </a:r>
          </a:p>
          <a:p xmlns:a="http://schemas.openxmlformats.org/drawingml/2006/main">
            <a:r>
              <a:t/>
            </a:r>
          </a:p>
          <a:p xmlns:a="http://schemas.openxmlformats.org/drawingml/2006/main">
            <a:r>
              <a:t>base = Path(__file__).resolve().parent.parent</a:t>
            </a:r>
          </a:p>
          <a:p xmlns:a="http://schemas.openxmlformats.org/drawingml/2006/main">
            <a:r>
              <a:t>source = base / "data" / "bad_readings.csv"</a:t>
            </a:r>
          </a:p>
          <a:p xmlns:a="http://schemas.openxmlformats.org/drawingml/2006/main">
            <a:r>
              <a:t>with source.open(encoding="utf-8", newline="") as file:</a:t>
            </a:r>
          </a:p>
          <a:p xmlns:a="http://schemas.openxmlformats.org/drawingml/2006/main">
            <a:r>
              <a:t>    rows = list(csv.DictReader(file))</a:t>
            </a:r>
          </a:p>
          <a:p xmlns:a="http://schemas.openxmlformats.org/drawingml/2006/main">
            <a:r>
              <a:t>numbers = []</a:t>
            </a:r>
          </a:p>
          <a:p xmlns:a="http://schemas.openxmlformats.org/drawingml/2006/main">
            <a:r>
              <a:t>issues = []</a:t>
            </a:r>
          </a:p>
          <a:p xmlns:a="http://schemas.openxmlformats.org/drawingml/2006/main">
            <a:r>
              <a:t>missing = 0</a:t>
            </a:r>
          </a:p>
          <a:p xmlns:a="http://schemas.openxmlformats.org/drawingml/2006/main">
            <a:r>
              <a:t>for row in rows:</a:t>
            </a:r>
          </a:p>
          <a:p xmlns:a="http://schemas.openxmlformats.org/drawingml/2006/main">
            <a:r>
              <a:t>    try:</a:t>
            </a:r>
          </a:p>
          <a:p xmlns:a="http://schemas.openxmlformats.org/drawingml/2006/main">
            <a:r>
              <a:t>        value = parse_temperature(row["temperature_c"])</a:t>
            </a:r>
          </a:p>
          <a:p xmlns:a="http://schemas.openxmlformats.org/drawingml/2006/main">
            <a:r>
              <a:t>    except ValueError:</a:t>
            </a:r>
          </a:p>
          <a:p xmlns:a="http://schemas.openxmlformats.org/drawingml/2006/main">
            <a:r>
              <a:t>        issues.append({"sensor_id": row["sensor_id"], "raw": row["temperature_c"]})</a:t>
            </a:r>
          </a:p>
          <a:p xmlns:a="http://schemas.openxmlformats.org/drawingml/2006/main">
            <a:r>
              <a:t>        continue</a:t>
            </a:r>
          </a:p>
          <a:p xmlns:a="http://schemas.openxmlformats.org/drawingml/2006/main">
            <a:r>
              <a:t>    if value is None:</a:t>
            </a:r>
          </a:p>
          <a:p xmlns:a="http://schemas.openxmlformats.org/drawingml/2006/main">
            <a:r>
              <a:t>        missing = missing + 1</a:t>
            </a:r>
          </a:p>
          <a:p xmlns:a="http://schemas.openxmlformats.org/drawingml/2006/main">
            <a:r>
              <a:t>    else:</a:t>
            </a:r>
          </a:p>
          <a:p xmlns:a="http://schemas.openxmlformats.org/drawingml/2006/main">
            <a:r>
              <a:t>        numbers.append(value)</a:t>
            </a:r>
          </a:p>
          <a:p xmlns:a="http://schemas.openxmlformats.org/drawingml/2006/main">
            <a:r>
              <a:t>average = None</a:t>
            </a:r>
          </a:p>
          <a:p xmlns:a="http://schemas.openxmlformats.org/drawingml/2006/main">
            <a:r>
              <a:t>if len(numbers) &gt; 0:</a:t>
            </a:r>
          </a:p>
          <a:p xmlns:a="http://schemas.openxmlformats.org/drawingml/2006/main">
            <a:r>
              <a:t>    average = round(sum(numbers) / len(numbers), 2)</a:t>
            </a:r>
          </a:p>
          <a:p xmlns:a="http://schemas.openxmlformats.org/drawingml/2006/main">
            <a:r>
              <a:t>summary = {"input": len(rows), "accepted": len(numbers) + missing,</a:t>
            </a:r>
          </a:p>
          <a:p xmlns:a="http://schemas.openxmlformats.org/drawingml/2006/main">
            <a:r>
              <a:t>           "missing": missing, "issues": len(issues), "average": average}</a:t>
            </a:r>
          </a:p>
          <a:p xmlns:a="http://schemas.openxmlformats.org/drawingml/2006/main">
            <a:r>
              <a:t>(base / "work" / "check_summary.json").write_text(</a:t>
            </a:r>
          </a:p>
          <a:p xmlns:a="http://schemas.openxmlformats.org/drawingml/2006/main">
            <a:r>
              <a:t>    json.dumps(summary, ensure_ascii=False, indent=2), encoding="utf-8")</a:t>
            </a:r>
          </a:p>
          <a:p xmlns:a="http://schemas.openxmlformats.org/drawingml/2006/main">
            <a:r>
              <a:t>(base / "work" / "check_issues.json").write_text(</a:t>
            </a:r>
          </a:p>
          <a:p xmlns:a="http://schemas.openxmlformats.org/drawingml/2006/main">
            <a:r>
              <a:t>    json.dumps(issues, ensure_ascii=False, indent=2), encoding="utf-8")</a:t>
            </a:r>
          </a:p>
          <a:p xmlns:a="http://schemas.openxmlformats.org/drawingml/2006/main">
            <a:r>
              <a:t>print(summary["input"], summary["accepted"], summary["missing"], summary["issues"])</a:t>
            </a:r>
          </a:p>
          <a:p xmlns:a="http://schemas.openxmlformats.org/drawingml/2006/main">
            <a:r>
              <a:t>print(summary["average"])</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`import csv` | CSV 도구를 가져옵니다. |</a:t>
            </a:r>
          </a:p>
          <a:p xmlns:a="http://schemas.openxmlformats.org/drawingml/2006/main">
            <a:r>
              <a:t>| 2 | `import json` | JSON 도구를 가져옵니다. |</a:t>
            </a:r>
          </a:p>
          <a:p xmlns:a="http://schemas.openxmlformats.org/drawingml/2006/main">
            <a:r>
              <a:t>| 3 | `from pathlib import Path` | 경로 도구를 가져옵니다. |</a:t>
            </a:r>
          </a:p>
          <a:p xmlns:a="http://schemas.openxmlformats.org/drawingml/2006/main">
            <a:r>
              <a:t>| 4 | `` | 정의 부분을 나누는 빈 줄입니다. |</a:t>
            </a:r>
          </a:p>
          <a:p xmlns:a="http://schemas.openxmlformats.org/drawingml/2006/main">
            <a:r>
              <a:t>| 5 | `def parse_temperature(raw):` | 온도 해석 함수를 정의합니다. |</a:t>
            </a:r>
          </a:p>
          <a:p xmlns:a="http://schemas.openxmlformats.org/drawingml/2006/main">
            <a:r>
              <a:t>| 6 | `    if raw == "":` | 빈칸인지 확인합니다. |</a:t>
            </a:r>
          </a:p>
          <a:p xmlns:a="http://schemas.openxmlformats.org/drawingml/2006/main">
            <a:r>
              <a:t>| 7 | `        return None` | 미측정을 반환합니다. |</a:t>
            </a:r>
          </a:p>
          <a:p xmlns:a="http://schemas.openxmlformats.org/drawingml/2006/main">
            <a:r>
              <a:t>| 8 | `    value = float(raw)` | 숫자로 변환합니다. |</a:t>
            </a:r>
          </a:p>
          <a:p xmlns:a="http://schemas.openxmlformats.org/drawingml/2006/main">
            <a:r>
              <a:t>| 9 | `    if value &lt; 0 or value &gt; 50:` | 범위를 확인합니다. |</a:t>
            </a:r>
          </a:p>
          <a:p xmlns:a="http://schemas.openxmlformats.org/drawingml/2006/main">
            <a:r>
              <a:t>| 10 | `        raise ValueError("범위 확인 필요")` | 범위 문제를 알립니다. |</a:t>
            </a:r>
          </a:p>
          <a:p xmlns:a="http://schemas.openxmlformats.org/drawingml/2006/main">
            <a:r>
              <a:t>| 11 | `    return value` | 유효 숫자를 반환합니다. |</a:t>
            </a:r>
          </a:p>
          <a:p xmlns:a="http://schemas.openxmlformats.org/drawingml/2006/main">
            <a:r>
              <a:t>| 12 | `` | 정의와 실행을 나눕니다. |</a:t>
            </a:r>
          </a:p>
          <a:p xmlns:a="http://schemas.openxmlformats.org/drawingml/2006/main">
            <a:r>
              <a:t>| 13 | `base = Path(__file__).resolve().parent.parent` | course 주소를 정합니다. |</a:t>
            </a:r>
          </a:p>
          <a:p xmlns:a="http://schemas.openxmlformats.org/drawingml/2006/main">
            <a:r>
              <a:t>| 14 | `source = base / "data" / "bad_readings.csv"` | 입력 파일을 선택합니다. |</a:t>
            </a:r>
          </a:p>
          <a:p xmlns:a="http://schemas.openxmlformats.org/drawingml/2006/main">
            <a:r>
              <a:t>| 15 | `with source.open(encoding="utf-8", newline="") as file:` | 입력 파일을 엽니다. |</a:t>
            </a:r>
          </a:p>
          <a:p xmlns:a="http://schemas.openxmlformats.org/drawingml/2006/main">
            <a:r>
              <a:t>| 16 | `    rows = list(csv.DictReader(file))` | 헤더 키로 행을 읽습니다. |</a:t>
            </a:r>
          </a:p>
          <a:p xmlns:a="http://schemas.openxmlformats.org/drawingml/2006/main">
            <a:r>
              <a:t>| 17 | `numbers = []` | 숫자 목록을 준비합니다. |</a:t>
            </a:r>
          </a:p>
          <a:p xmlns:a="http://schemas.openxmlformats.org/drawingml/2006/main">
            <a:r>
              <a:t>| 18 | `issues = []` | 이슈 목록을 준비합니다. |</a:t>
            </a:r>
          </a:p>
          <a:p xmlns:a="http://schemas.openxmlformats.org/drawingml/2006/main">
            <a:r>
              <a:t>| 19 | `missing = 0` | 미측정 개수를 준비합니다. |</a:t>
            </a:r>
          </a:p>
          <a:p xmlns:a="http://schemas.openxmlformats.org/drawingml/2006/main">
            <a:r>
              <a:t>| 20 | `for row in rows:` | 한 행씩 처리합니다. |</a:t>
            </a:r>
          </a:p>
          <a:p xmlns:a="http://schemas.openxmlformats.org/drawingml/2006/main">
            <a:r>
              <a:t>| 21 | `    try:` | 해석을 시도합니다. |</a:t>
            </a:r>
          </a:p>
          <a:p xmlns:a="http://schemas.openxmlformats.org/drawingml/2006/main">
            <a:r>
              <a:t>| 22 | `        value = parse_temperature(row["temperature_c"])` | 이번 온도 원문을 함수에 줍니다. |</a:t>
            </a:r>
          </a:p>
          <a:p xmlns:a="http://schemas.openxmlformats.org/drawingml/2006/main">
            <a:r>
              <a:t>| 23 | `    except ValueError:` | 변환·범위 오류를 처리합니다. |</a:t>
            </a:r>
          </a:p>
          <a:p xmlns:a="http://schemas.openxmlformats.org/drawingml/2006/main">
            <a:r>
              <a:t>| 24 | `        issues.append({"sensor_id": row["sensor_id"], "raw": row["temperature_c"]})` | 센서명과 원문을 이슈로 보존합니다. |</a:t>
            </a:r>
          </a:p>
          <a:p xmlns:a="http://schemas.openxmlformats.org/drawingml/2006/main">
            <a:r>
              <a:t>| 25 | `        continue` | 다음 행으로 넘어갑니다. |</a:t>
            </a:r>
          </a:p>
          <a:p xmlns:a="http://schemas.openxmlformats.org/drawingml/2006/main">
            <a:r>
              <a:t>| 26 | `    if value is None:` | 미측정을 구별합니다. |</a:t>
            </a:r>
          </a:p>
          <a:p xmlns:a="http://schemas.openxmlformats.org/drawingml/2006/main">
            <a:r>
              <a:t>| 27 | `        missing = missing + 1` | 미측정 개수를 늘립니다. |</a:t>
            </a:r>
          </a:p>
          <a:p xmlns:a="http://schemas.openxmlformats.org/drawingml/2006/main">
            <a:r>
              <a:t>| 28 | `    else:` | 숫자인 경우입니다. |</a:t>
            </a:r>
          </a:p>
          <a:p xmlns:a="http://schemas.openxmlformats.org/drawingml/2006/main">
            <a:r>
              <a:t>| 29 | `        numbers.append(value)` | 수치 목록에 넣습니다. |</a:t>
            </a:r>
          </a:p>
          <a:p xmlns:a="http://schemas.openxmlformats.org/drawingml/2006/main">
            <a:r>
              <a:t>| 30 | `average = None` | 수치가 없을 때의 평균을 준비합니다. |</a:t>
            </a:r>
          </a:p>
          <a:p xmlns:a="http://schemas.openxmlformats.org/drawingml/2006/main">
            <a:r>
              <a:t>| 31 | `if len(numbers) &gt; 0:` | 숫자가 있을 때만 계산합니다. |</a:t>
            </a:r>
          </a:p>
          <a:p xmlns:a="http://schemas.openxmlformats.org/drawingml/2006/main">
            <a:r>
              <a:t>| 32 | `    average = round(sum(numbers) / len(numbers), 2)` | 실제 수치 개수로 나누어 반올림합니다. |</a:t>
            </a:r>
          </a:p>
          <a:p xmlns:a="http://schemas.openxmlformats.org/drawingml/2006/main">
            <a:r>
              <a:t>| 33 | `summary = {"input": len(rows), "accepted": len(numbers) + missing,` | 입력·수락 건수로 요약을 시작합니다. |</a:t>
            </a:r>
          </a:p>
          <a:p xmlns:a="http://schemas.openxmlformats.org/drawingml/2006/main">
            <a:r>
              <a:t>| 34 | `           "missing": missing, "issues": len(issues), "average": average}` | 미측정·이슈·평균을 포함합니다. |</a:t>
            </a:r>
          </a:p>
          <a:p xmlns:a="http://schemas.openxmlformats.org/drawingml/2006/main">
            <a:r>
              <a:t>| 35 | `(base / "work" / "check_summary.json").write_text(` | 요약 파일 쓰기를 시작합니다. |</a:t>
            </a:r>
          </a:p>
          <a:p xmlns:a="http://schemas.openxmlformats.org/drawingml/2006/main">
            <a:r>
              <a:t>| 36 | `    json.dumps(summary, ensure_ascii=False, indent=2), encoding="utf-8")` | JSON과 UTF-8로 저장합니다. |</a:t>
            </a:r>
          </a:p>
          <a:p xmlns:a="http://schemas.openxmlformats.org/drawingml/2006/main">
            <a:r>
              <a:t>| 37 | `(base / "work" / "check_issues.json").write_text(` | 이슈 파일 쓰기를 시작합니다. |</a:t>
            </a:r>
          </a:p>
          <a:p xmlns:a="http://schemas.openxmlformats.org/drawingml/2006/main">
            <a:r>
              <a:t>| 38 | `    json.dumps(issues, ensure_ascii=False, indent=2), encoding="utf-8")` | 이슈 원문을 JSON으로 저장합니다. |</a:t>
            </a:r>
          </a:p>
          <a:p xmlns:a="http://schemas.openxmlformats.org/drawingml/2006/main">
            <a:r>
              <a:t>| 39 | `print(summary["input"], summary["accepted"], summary["missing"], summary["issues"])` | 집계 네 개를 보여 줍니다. |</a:t>
            </a:r>
          </a:p>
          <a:p xmlns:a="http://schemas.openxmlformats.org/drawingml/2006/main">
            <a:r>
              <a:t>| 40 | `print(summary["average"])` | 평균 또는 None을 보여 줍니다.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code/A16_log_checker.py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work/A16_log_checker.py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6 4 1 2</a:t>
            </a:r>
          </a:p>
          <a:p xmlns:a="http://schemas.openxmlformats.org/drawingml/2006/main">
            <a:r>
              <a:t>15.83</a:t>
            </a:r>
          </a:p>
          <a:p xmlns:a="http://schemas.openxmlformats.org/drawingml/2006/main">
            <a:r>
              <a:t>```</a:t>
            </a:r>
          </a:p>
          <a:p xmlns:a="http://schemas.openxmlformats.org/drawingml/2006/main">
            <a:r>
              <a:t/>
            </a:r>
          </a:p>
          <a:p xmlns:a="http://schemas.openxmlformats.org/drawingml/2006/main">
            <a:r>
              <a:t>작은 수정: `"bad_readings.csv"`를 `"readings.csv"`로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4 4 1 0</a:t>
            </a:r>
          </a:p>
          <a:p xmlns:a="http://schemas.openxmlformats.org/drawingml/2006/main">
            <a:r>
              <a:t>15.83</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전체 코드를 역할별 다섯 구간으로 표시합니다.</a:t>
            </a:r>
          </a:p>
          <a:p xmlns:a="http://schemas.openxmlformats.org/drawingml/2006/main">
            <a:r>
              <a:t>2. 건수와 평균을 손으로 먼저 확인합니다.</a:t>
            </a:r>
          </a:p>
          <a:p xmlns:a="http://schemas.openxmlformats.org/drawingml/2006/main">
            <a:r>
              <a:t>3. 실행 뒤 결과 JSON 두 개를 엽니다.</a:t>
            </a:r>
          </a:p>
          <a:p xmlns:a="http://schemas.openxmlformats.org/drawingml/2006/main">
            <a:r>
              <a:t>4. 입력 파일명만 readings.csv로 바꿔 비교합니다.</a:t>
            </a:r>
          </a:p>
          <a:p xmlns:a="http://schemas.openxmlformats.org/drawingml/2006/main">
            <a:r>
              <a:t/>
            </a:r>
          </a:p>
          <a:p xmlns:a="http://schemas.openxmlformats.org/drawingml/2006/main">
            <a:r>
              <a:t>예상 결과: 오류 포함 6/4/1/2,정상 4/4/1/0. 평균은 모두 15.83.</a:t>
            </a:r>
          </a:p>
          <a:p xmlns:a="http://schemas.openxmlformats.org/drawingml/2006/main">
            <a:r>
              <a:t/>
            </a:r>
          </a:p>
          <a:p xmlns:a="http://schemas.openxmlformats.org/drawingml/2006/main">
            <a:r>
              <a:t>확인 질문: continue의 역할은 무엇인가요?</a:t>
            </a:r>
          </a:p>
          <a:p xmlns:a="http://schemas.openxmlformats.org/drawingml/2006/main">
            <a:r>
              <a:t/>
            </a:r>
          </a:p>
          <a:p xmlns:a="http://schemas.openxmlformats.org/drawingml/2006/main">
            <a:r>
              <a:t>막혔을 때: 한 행의 원문→함수→분류를 먼저 추적합니다. 여러 곳을 동시에 바꾸지 않습니다.</a:t>
            </a:r>
          </a:p>
          <a:p xmlns:a="http://schemas.openxmlformats.org/drawingml/2006/main">
            <a:r>
              <a:t/>
            </a:r>
          </a:p>
          <a:p xmlns:a="http://schemas.openxmlformats.org/drawingml/2006/main">
            <a:r>
              <a:t>[활동 자료와 작성칸](practice-guide.md#a16--로그-검사기-전체-흐름)에서 A16를 엽니다.</a:t>
            </a:r>
          </a:p>
          <a:p xmlns:a="http://schemas.openxmlformats.org/drawingml/2006/main">
            <a:r>
              <a:t/>
            </a:r>
          </a:p>
          <a:p xmlns:a="http://schemas.openxmlformats.org/drawingml/2006/main">
            <a:r>
              <a:t>### 중간 확인과 다음 활동 합류</a:t>
            </a:r>
          </a:p>
          <a:p xmlns:a="http://schemas.openxmlformats.org/drawingml/2006/main">
            <a:r>
              <a:t/>
            </a:r>
          </a:p>
          <a:p xmlns:a="http://schemas.openxmlformats.org/drawingml/2006/main">
            <a:r>
              <a:t>- 함께 확인할 증거: readings.csv의 정상 숫자 한 건과 missing_readings.csv의 미측정 한 건을 따라 읽고, 0은 숫자·미측정은 평균 대상이 아님을 설명합니다.</a:t>
            </a:r>
          </a:p>
          <a:p xmlns:a="http://schemas.openxmlformats.org/drawingml/2006/main">
            <a:r>
              <a:t>- 남은 작업: A16의 전체 구간 표시는 A16_notes.md, 네 입력 비교는 A17_notes.md에 미완료 항목을 표시하고 이어서 완성합니다. 이미 작성한 결과를 지우지 않습니다.</a:t>
            </a:r>
          </a:p>
          <a:p xmlns:a="http://schemas.openxmlformats.org/drawingml/2006/main">
            <a:r>
              <a:t>- 다음 입력: 제공된 work/A16_log_checker.py를 그대로 출발점으로 사용하고 A17에서 CSV 이름만 교체합니다. 실행이 막히면 solutions/A16_answer.md와 A17_answer.md의 제공 결과를 **관찰**로 기록하고 A18 인수인계에 미완료를 남깁니다.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https://zeusk302-png.github.io/kdigital-physical-ai/#/sessions/2026-10-15/lesson?activity=A16</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A16 상세 원문]</a:t>
            </a:r>
          </a:p>
          <a:p xmlns:a="http://schemas.openxmlformats.org/drawingml/2006/main">
            <a:r>
              <a:t>### 사례로 이해하기 · 분류 건수와 평균 분모를 보존하기</a:t>
            </a:r>
          </a:p>
          <a:p xmlns:a="http://schemas.openxmlformats.org/drawingml/2006/main">
            <a:r>
              <a:t/>
            </a:r>
          </a:p>
          <a:p xmlns:a="http://schemas.openxmlformats.org/drawingml/2006/main">
            <a:r>
              <a:t/>
            </a:r>
          </a:p>
          <a:p xmlns:a="http://schemas.openxmlformats.org/drawingml/2006/main">
            <a:r>
              <a:t/>
            </a:r>
          </a:p>
          <a:p xmlns:a="http://schemas.openxmlformats.org/drawingml/2006/main">
            <a:r>
              <a:t>로그 검사기를 넘겨받은 사람이 요약의 accepted를 실제 숫자 수라고 읽었습니다. 그러나 기존 검사기에서 accepted는 수치와 미측정을 합한 수락 건수입니다. 이름만 보고 뜻을 짐작하지 말고 각 항목의 정의와 계산 코드를 확인해야 합니다. 합성 원문 다섯 건은 “10”, 빈 문자열, “20”, “오류”, “0”입니다. 수치는 세 건, 미측정은 한 건, 이슈는 한 건입니다. 입력 전체와 분류된 부분이 빠짐없이 맞는지 검산합니다.</a:t>
            </a:r>
          </a:p>
          <a:p xmlns:a="http://schemas.openxmlformats.org/drawingml/2006/main">
            <a:r>
              <a:t/>
            </a:r>
          </a:p>
          <a:p xmlns:a="http://schemas.openxmlformats.org/drawingml/2006/main">
            <a:r>
              <a:t>이 프로그램의 관계는 input=accepted+issues, accepted=numeric+missing입니다. 다섯 건 사례에서는 5=4+1, 4=3+1입니다. 평균은 숫자 세 건의 합 10+20+0=30을 숫자 건수 3으로 나누어 10입니다. 수락 건수 4로 나누면 7.5가 되어 미측정을 0처럼 처리합니다. 이슈 건수까지 포함해 5로 나누면 6이 됩니다. 같은 원문에서 분모만 바꿔도 업무 의미가 바뀌므로 평균 대상과 건수를 함께 보고합니다.</a:t>
            </a:r>
          </a:p>
          <a:p xmlns:a="http://schemas.openxmlformats.org/drawingml/2006/main">
            <a:r>
              <a:t/>
            </a:r>
          </a:p>
          <a:p xmlns:a="http://schemas.openxmlformats.org/drawingml/2006/main">
            <a:r>
              <a:t>한 행의 추적은 원문→해석→분류→누적 순서입니다. 잘못된 글자가 나오면 이슈 목록에 원문을 남기고 continue로 다음 행으로 넘어갑니다. 문제 행이 수치 목록에도 들어가면 중복 분류가 되어 두 검산 관계가 깨질 수 있습니다. 모든 수치가 없을 때 평균은 None입니다. 0이라고 쓰면 실제 평균 0을 계산했다는 오해가 생깁니다. 헤더만 있는 입력은 전체 0건이고 모든 값이 빈 입력은 전체 기록은 있으나 수치가 0건입니다. 둘 다 평균이 없지만 같은 자료는 아닙니다. 결과 안내에는 입력 파일명·명령·실제 출력·미확인 범위·변경 이유를 남깁니다. 현재 검사는 합성 온도값 규칙을 확인하며 모든 필드나 센서의 실제 성능을 보증하지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원문은 “5”, “15”, 빈 문자열, “뜨거움”, 빈 문자열, “0”입니다. 전체·수치·미측정·이슈·수락 건수와 평균을 구하고 두 검산식을 쓰세요. 수치가 전혀 없는 경우의 평균 표현도 적으세요.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전체 6, 수치 3, 미측정 2, 이슈 1, 수락 5입니다. 6=5+1, 5=3+2이고 평균은 20÷3을 소수 둘째 자리로 반올림한 6.67입니다. 수치가 없으면 None입니다. 수락 5를 분모로 쓰면 4가 되어 미측정을 포함한 잘못된 평균입니다.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**수락 건수는 수치 건수인가요?** 이 검사기에서는 수치와 미측정을 합하므로 결과의 각 항목이 무엇을 세는지 확인합니다.</a:t>
            </a:r>
          </a:p>
          <a:p xmlns:a="http://schemas.openxmlformats.org/drawingml/2006/main">
            <a:r>
              <a:t/>
            </a:r>
          </a:p>
          <a:p xmlns:a="http://schemas.openxmlformats.org/drawingml/2006/main">
            <a:r>
              <a:t>2. **continue가 필요한 이유는?** 이슈로 분류한 행을 정상 처리로 보내지 않고 다음 행으로 넘어갑니다.</a:t>
            </a:r>
          </a:p>
          <a:p xmlns:a="http://schemas.openxmlformats.org/drawingml/2006/main">
            <a:r>
              <a:t/>
            </a:r>
          </a:p>
          <a:p xmlns:a="http://schemas.openxmlformats.org/drawingml/2006/main">
            <a:r>
              <a:t>3. **평균 None과 0은 같은가요?** None은 계산할 수치가 없음이며 0은 실제 수치 평균이 0이라는 값입니다.</a:t>
            </a:r>
          </a:p>
          <a:p xmlns:a="http://schemas.openxmlformats.org/drawingml/2006/main">
            <a:r>
              <a:t/>
            </a:r>
          </a:p>
          <a:p xmlns:a="http://schemas.openxmlformats.org/drawingml/2006/main">
            <a:r>
              <a:t/>
            </a:r>
          </a:p>
          <a:p xmlns:a="http://schemas.openxmlformats.org/drawingml/2006/main">
            <a:r>
              <a:t>**개념.** 검사기는 한 행씩 온도를 해석하여 정상 수치·미측정·이슈를 나눕니다. 함수는 한 값의 규칙을 담당하고 반복문은 여러 행에 같은 규칙을 적용합니다.</a:t>
            </a:r>
          </a:p>
          <a:p xmlns:a="http://schemas.openxmlformats.org/drawingml/2006/main">
            <a:r>
              <a:t/>
            </a:r>
          </a:p>
          <a:p xmlns:a="http://schemas.openxmlformats.org/drawingml/2006/main">
            <a:r>
              <a:t>**왜 필요한가.** 함수·파일·예외를 하나의 업무에 연결합니다. 긴 코드는 준비·정의·행 처리·집계·저장으로 나눠 추적합니다. 전체를 암기하거나 빈 편집기에서 다시 작성하는 것이 목표는 아닙니다.</a:t>
            </a:r>
          </a:p>
          <a:p xmlns:a="http://schemas.openxmlformats.org/drawingml/2006/main">
            <a:r>
              <a:t/>
            </a:r>
          </a:p>
          <a:p xmlns:a="http://schemas.openxmlformats.org/drawingml/2006/main">
            <a:r>
              <a:t>**함께 보는 예.** 실제 수치는 22.5·25.0·0.0으로 합 47.5,개수 3,평균 15.83입니다. 빈 온도 1건은 미측정,뜨거움과 51.0은 원문 이슈로 남깁니다.0도 실제 측정이므로 평균에 포함합니다.</a:t>
            </a:r>
          </a:p>
          <a:p xmlns:a="http://schemas.openxmlformats.org/drawingml/2006/main">
            <a:r>
              <a:t/>
            </a:r>
          </a:p>
          <a:p xmlns:a="http://schemas.openxmlformats.org/drawingml/2006/main">
            <a:r>
              <a:t>**헷갈리는 경우.** 평균이 낮아 보인다는 이유로 0을 빼지 않습니다. 입력 원문과 정해 둔 처리 규칙을 확인합니다. 이 프로그램은 온도 규칙에 집중하며 모든 필드와 실제 측정의 진위를 검사하지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import csv</a:t>
            </a:r>
          </a:p>
          <a:p xmlns:a="http://schemas.openxmlformats.org/drawingml/2006/main">
            <a:r>
              <a:t>import json</a:t>
            </a:r>
          </a:p>
          <a:p xmlns:a="http://schemas.openxmlformats.org/drawingml/2006/main">
            <a:r>
              <a:t>from pathlib import Path</a:t>
            </a:r>
          </a:p>
          <a:p xmlns:a="http://schemas.openxmlformats.org/drawingml/2006/main">
            <a:r>
              <a:t/>
            </a:r>
          </a:p>
          <a:p xmlns:a="http://schemas.openxmlformats.org/drawingml/2006/main">
            <a:r>
              <a:t>def parse_temperature(raw):</a:t>
            </a:r>
          </a:p>
          <a:p xmlns:a="http://schemas.openxmlformats.org/drawingml/2006/main">
            <a:r>
              <a:t>    if raw == "":</a:t>
            </a:r>
          </a:p>
          <a:p xmlns:a="http://schemas.openxmlformats.org/drawingml/2006/main">
            <a:r>
              <a:t>        return None</a:t>
            </a:r>
          </a:p>
          <a:p xmlns:a="http://schemas.openxmlformats.org/drawingml/2006/main">
            <a:r>
              <a:t>    value = float(raw)</a:t>
            </a:r>
          </a:p>
          <a:p xmlns:a="http://schemas.openxmlformats.org/drawingml/2006/main">
            <a:r>
              <a:t>    if value &lt; 0 or value &gt; 50:</a:t>
            </a:r>
          </a:p>
          <a:p xmlns:a="http://schemas.openxmlformats.org/drawingml/2006/main">
            <a:r>
              <a:t>        raise ValueError("범위 확인 필요")</a:t>
            </a:r>
          </a:p>
          <a:p xmlns:a="http://schemas.openxmlformats.org/drawingml/2006/main">
            <a:r>
              <a:t>    return value</a:t>
            </a:r>
          </a:p>
          <a:p xmlns:a="http://schemas.openxmlformats.org/drawingml/2006/main">
            <a:r>
              <a:t/>
            </a:r>
          </a:p>
          <a:p xmlns:a="http://schemas.openxmlformats.org/drawingml/2006/main">
            <a:r>
              <a:t>base = Path(__file__).resolve().parent.parent</a:t>
            </a:r>
          </a:p>
          <a:p xmlns:a="http://schemas.openxmlformats.org/drawingml/2006/main">
            <a:r>
              <a:t>source = base / "data" / "bad_readings.csv"</a:t>
            </a:r>
          </a:p>
          <a:p xmlns:a="http://schemas.openxmlformats.org/drawingml/2006/main">
            <a:r>
              <a:t>with source.open(encoding="utf-8", newline="") as file:</a:t>
            </a:r>
          </a:p>
          <a:p xmlns:a="http://schemas.openxmlformats.org/drawingml/2006/main">
            <a:r>
              <a:t>    rows = list(csv.DictReader(file))</a:t>
            </a:r>
          </a:p>
          <a:p xmlns:a="http://schemas.openxmlformats.org/drawingml/2006/main">
            <a:r>
              <a:t>numbers = []</a:t>
            </a:r>
          </a:p>
          <a:p xmlns:a="http://schemas.openxmlformats.org/drawingml/2006/main">
            <a:r>
              <a:t>issues = []</a:t>
            </a:r>
          </a:p>
          <a:p xmlns:a="http://schemas.openxmlformats.org/drawingml/2006/main">
            <a:r>
              <a:t>missing = 0</a:t>
            </a:r>
          </a:p>
          <a:p xmlns:a="http://schemas.openxmlformats.org/drawingml/2006/main">
            <a:r>
              <a:t>for row in rows:</a:t>
            </a:r>
          </a:p>
          <a:p xmlns:a="http://schemas.openxmlformats.org/drawingml/2006/main">
            <a:r>
              <a:t>    try:</a:t>
            </a:r>
          </a:p>
          <a:p xmlns:a="http://schemas.openxmlformats.org/drawingml/2006/main">
            <a:r>
              <a:t>        value = parse_temperature(row["temperature_c"])</a:t>
            </a:r>
          </a:p>
          <a:p xmlns:a="http://schemas.openxmlformats.org/drawingml/2006/main">
            <a:r>
              <a:t>    except ValueError:</a:t>
            </a:r>
          </a:p>
          <a:p xmlns:a="http://schemas.openxmlformats.org/drawingml/2006/main">
            <a:r>
              <a:t>        issues.append({"sensor_id": row["sensor_id"], "raw": row["temperature_c"]})</a:t>
            </a:r>
          </a:p>
          <a:p xmlns:a="http://schemas.openxmlformats.org/drawingml/2006/main">
            <a:r>
              <a:t>        continue</a:t>
            </a:r>
          </a:p>
          <a:p xmlns:a="http://schemas.openxmlformats.org/drawingml/2006/main">
            <a:r>
              <a:t>    if value is None:</a:t>
            </a:r>
          </a:p>
          <a:p xmlns:a="http://schemas.openxmlformats.org/drawingml/2006/main">
            <a:r>
              <a:t>        missing = missing + 1</a:t>
            </a:r>
          </a:p>
          <a:p xmlns:a="http://schemas.openxmlformats.org/drawingml/2006/main">
            <a:r>
              <a:t>    else:</a:t>
            </a:r>
          </a:p>
          <a:p xmlns:a="http://schemas.openxmlformats.org/drawingml/2006/main">
            <a:r>
              <a:t>        numbers.append(value)</a:t>
            </a:r>
          </a:p>
          <a:p xmlns:a="http://schemas.openxmlformats.org/drawingml/2006/main">
            <a:r>
              <a:t>average = None</a:t>
            </a:r>
          </a:p>
          <a:p xmlns:a="http://schemas.openxmlformats.org/drawingml/2006/main">
            <a:r>
              <a:t>if len(numbers) &gt; 0:</a:t>
            </a:r>
          </a:p>
          <a:p xmlns:a="http://schemas.openxmlformats.org/drawingml/2006/main">
            <a:r>
              <a:t>    average = round(sum(numbers) / len(numbers), 2)</a:t>
            </a:r>
          </a:p>
          <a:p xmlns:a="http://schemas.openxmlformats.org/drawingml/2006/main">
            <a:r>
              <a:t>summary = {"input": len(rows), "accepted": len(numbers) + missing,</a:t>
            </a:r>
          </a:p>
          <a:p xmlns:a="http://schemas.openxmlformats.org/drawingml/2006/main">
            <a:r>
              <a:t>           "missing": missing, "issues": len(issues), "average": average}</a:t>
            </a:r>
          </a:p>
          <a:p xmlns:a="http://schemas.openxmlformats.org/drawingml/2006/main">
            <a:r>
              <a:t>(base / "work" / "check_summary.json").write_text(</a:t>
            </a:r>
          </a:p>
          <a:p xmlns:a="http://schemas.openxmlformats.org/drawingml/2006/main">
            <a:r>
              <a:t>    json.dumps(summary, ensure_ascii=False, indent=2), encoding="utf-8")</a:t>
            </a:r>
          </a:p>
          <a:p xmlns:a="http://schemas.openxmlformats.org/drawingml/2006/main">
            <a:r>
              <a:t>(base / "work" / "check_issues.json").write_text(</a:t>
            </a:r>
          </a:p>
          <a:p xmlns:a="http://schemas.openxmlformats.org/drawingml/2006/main">
            <a:r>
              <a:t>    json.dumps(issues, ensure_ascii=False, indent=2), encoding="utf-8")</a:t>
            </a:r>
          </a:p>
          <a:p xmlns:a="http://schemas.openxmlformats.org/drawingml/2006/main">
            <a:r>
              <a:t>print(summary["input"], summary["accepted"], summary["missing"], summary["issues"])</a:t>
            </a:r>
          </a:p>
          <a:p xmlns:a="http://schemas.openxmlformats.org/drawingml/2006/main">
            <a:r>
              <a:t>print(summary["average"])</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`import csv` | CSV 도구를 가져옵니다. |</a:t>
            </a:r>
          </a:p>
          <a:p xmlns:a="http://schemas.openxmlformats.org/drawingml/2006/main">
            <a:r>
              <a:t>| 2 | `import json` | JSON 도구를 가져옵니다. |</a:t>
            </a:r>
          </a:p>
          <a:p xmlns:a="http://schemas.openxmlformats.org/drawingml/2006/main">
            <a:r>
              <a:t>| 3 | `from pathlib import Path` | 경로 도구를 가져옵니다. |</a:t>
            </a:r>
          </a:p>
          <a:p xmlns:a="http://schemas.openxmlformats.org/drawingml/2006/main">
            <a:r>
              <a:t>| 4 | `` | 정의 부분을 나누는 빈 줄입니다. |</a:t>
            </a:r>
          </a:p>
          <a:p xmlns:a="http://schemas.openxmlformats.org/drawingml/2006/main">
            <a:r>
              <a:t>| 5 | `def parse_temperature(raw):` | 온도 해석 함수를 정의합니다. |</a:t>
            </a:r>
          </a:p>
          <a:p xmlns:a="http://schemas.openxmlformats.org/drawingml/2006/main">
            <a:r>
              <a:t>| 6 | `    if raw == "":` | 빈칸인지 확인합니다. |</a:t>
            </a:r>
          </a:p>
          <a:p xmlns:a="http://schemas.openxmlformats.org/drawingml/2006/main">
            <a:r>
              <a:t>| 7 | `        return None` | 미측정을 반환합니다. |</a:t>
            </a:r>
          </a:p>
          <a:p xmlns:a="http://schemas.openxmlformats.org/drawingml/2006/main">
            <a:r>
              <a:t>| 8 | `    value = float(raw)` | 숫자로 변환합니다. |</a:t>
            </a:r>
          </a:p>
          <a:p xmlns:a="http://schemas.openxmlformats.org/drawingml/2006/main">
            <a:r>
              <a:t>| 9 | `    if value &lt; 0 or value &gt; 50:` | 범위를 확인합니다. |</a:t>
            </a:r>
          </a:p>
          <a:p xmlns:a="http://schemas.openxmlformats.org/drawingml/2006/main">
            <a:r>
              <a:t>| 10 | `        raise ValueError("범위 확인 필요")` | 범위 문제를 알립니다. |</a:t>
            </a:r>
          </a:p>
          <a:p xmlns:a="http://schemas.openxmlformats.org/drawingml/2006/main">
            <a:r>
              <a:t>| 11 | `    return value` | 유효 숫자를 반환합니다. |</a:t>
            </a:r>
          </a:p>
          <a:p xmlns:a="http://schemas.openxmlformats.org/drawingml/2006/main">
            <a:r>
              <a:t>| 12 | `` | 정의와 실행을 나눕니다. |</a:t>
            </a:r>
          </a:p>
          <a:p xmlns:a="http://schemas.openxmlformats.org/drawingml/2006/main">
            <a:r>
              <a:t>| 13 | `base = Path(__file__).resolve().parent.parent` | course 주소를 정합니다. |</a:t>
            </a:r>
          </a:p>
          <a:p xmlns:a="http://schemas.openxmlformats.org/drawingml/2006/main">
            <a:r>
              <a:t>| 14 | `source = base / "data" / "bad_readings.csv"` | 입력 파일을 선택합니다. |</a:t>
            </a:r>
          </a:p>
          <a:p xmlns:a="http://schemas.openxmlformats.org/drawingml/2006/main">
            <a:r>
              <a:t>| 15 | `with source.open(encoding="utf-8", newline="") as file:` | 입력 파일을 엽니다. |</a:t>
            </a:r>
          </a:p>
          <a:p xmlns:a="http://schemas.openxmlformats.org/drawingml/2006/main">
            <a:r>
              <a:t>| 16 | `    rows = list(csv.DictReader(file))` | 헤더 키로 행을 읽습니다. |</a:t>
            </a:r>
          </a:p>
          <a:p xmlns:a="http://schemas.openxmlformats.org/drawingml/2006/main">
            <a:r>
              <a:t>| 17 | `numbers = []` | 숫자 목록을 준비합니다. |</a:t>
            </a:r>
          </a:p>
          <a:p xmlns:a="http://schemas.openxmlformats.org/drawingml/2006/main">
            <a:r>
              <a:t>| 18 | `issues = []` | 이슈 목록을 준비합니다. |</a:t>
            </a:r>
          </a:p>
          <a:p xmlns:a="http://schemas.openxmlformats.org/drawingml/2006/main">
            <a:r>
              <a:t>| 19 | `missing = 0` | 미측정 개수를 준비합니다. |</a:t>
            </a:r>
          </a:p>
          <a:p xmlns:a="http://schemas.openxmlformats.org/drawingml/2006/main">
            <a:r>
              <a:t>| 20 | `for row in rows:` | 한 행씩 처리합니다. |</a:t>
            </a:r>
          </a:p>
          <a:p xmlns:a="http://schemas.openxmlformats.org/drawingml/2006/main">
            <a:r>
              <a:t>| 21 | `    try:` | 해석을 시도합니다. |</a:t>
            </a:r>
          </a:p>
          <a:p xmlns:a="http://schemas.openxmlformats.org/drawingml/2006/main">
            <a:r>
              <a:t>| 22 | `        value = parse_temperature(row["temperature_c"])` | 이번 온도 원문을 함수에 줍니다. |</a:t>
            </a:r>
          </a:p>
          <a:p xmlns:a="http://schemas.openxmlformats.org/drawingml/2006/main">
            <a:r>
              <a:t>| 23 | `    except ValueError:` | 변환·범위 오류를 처리합니다. |</a:t>
            </a:r>
          </a:p>
          <a:p xmlns:a="http://schemas.openxmlformats.org/drawingml/2006/main">
            <a:r>
              <a:t>| 24 | `        issues.append({"sensor_id": row["sensor_id"], "raw": row["temperature_c"]})` | 센서명과 원문을 이슈로 보존합니다. |</a:t>
            </a:r>
          </a:p>
          <a:p xmlns:a="http://schemas.openxmlformats.org/drawingml/2006/main">
            <a:r>
              <a:t>| 25 | `        continue` | 다음 행으로 넘어갑니다. |</a:t>
            </a:r>
          </a:p>
          <a:p xmlns:a="http://schemas.openxmlformats.org/drawingml/2006/main">
            <a:r>
              <a:t>| 26 | `    if value is None:` | 미측정을 구별합니다. |</a:t>
            </a:r>
          </a:p>
          <a:p xmlns:a="http://schemas.openxmlformats.org/drawingml/2006/main">
            <a:r>
              <a:t>| 27 | `        missing = missing + 1` | 미측정 개수를 늘립니다. |</a:t>
            </a:r>
          </a:p>
          <a:p xmlns:a="http://schemas.openxmlformats.org/drawingml/2006/main">
            <a:r>
              <a:t>| 28 | `    else:` | 숫자인 경우입니다. |</a:t>
            </a:r>
          </a:p>
          <a:p xmlns:a="http://schemas.openxmlformats.org/drawingml/2006/main">
            <a:r>
              <a:t>| 29 | `        numbers.append(value)` | 수치 목록에 넣습니다. |</a:t>
            </a:r>
          </a:p>
          <a:p xmlns:a="http://schemas.openxmlformats.org/drawingml/2006/main">
            <a:r>
              <a:t>| 30 | `average = None` | 수치가 없을 때의 평균을 준비합니다. |</a:t>
            </a:r>
          </a:p>
          <a:p xmlns:a="http://schemas.openxmlformats.org/drawingml/2006/main">
            <a:r>
              <a:t>| 31 | `if len(numbers) &gt; 0:` | 숫자가 있을 때만 계산합니다. |</a:t>
            </a:r>
          </a:p>
          <a:p xmlns:a="http://schemas.openxmlformats.org/drawingml/2006/main">
            <a:r>
              <a:t>| 32 | `    average = round(sum(numbers) / len(numbers), 2)` | 실제 수치 개수로 나누어 반올림합니다. |</a:t>
            </a:r>
          </a:p>
          <a:p xmlns:a="http://schemas.openxmlformats.org/drawingml/2006/main">
            <a:r>
              <a:t>| 33 | `summary = {"input": len(rows), "accepted": len(numbers) + missing,` | 입력·수락 건수로 요약을 시작합니다. |</a:t>
            </a:r>
          </a:p>
          <a:p xmlns:a="http://schemas.openxmlformats.org/drawingml/2006/main">
            <a:r>
              <a:t>| 34 | `           "missing": missing, "issues": len(issues), "average": average}` | 미측정·이슈·평균을 포함합니다. |</a:t>
            </a:r>
          </a:p>
          <a:p xmlns:a="http://schemas.openxmlformats.org/drawingml/2006/main">
            <a:r>
              <a:t>| 35 | `(base / "work" / "check_summary.json").write_text(` | 요약 파일 쓰기를 시작합니다. |</a:t>
            </a:r>
          </a:p>
          <a:p xmlns:a="http://schemas.openxmlformats.org/drawingml/2006/main">
            <a:r>
              <a:t>| 36 | `    json.dumps(summary, ensure_ascii=False, indent=2), encoding="utf-8")` | JSON과 UTF-8로 저장합니다. |</a:t>
            </a:r>
          </a:p>
          <a:p xmlns:a="http://schemas.openxmlformats.org/drawingml/2006/main">
            <a:r>
              <a:t>| 37 | `(base / "work" / "check_issues.json").write_text(` | 이슈 파일 쓰기를 시작합니다. |</a:t>
            </a:r>
          </a:p>
          <a:p xmlns:a="http://schemas.openxmlformats.org/drawingml/2006/main">
            <a:r>
              <a:t>| 38 | `    json.dumps(issues, ensure_ascii=False, indent=2), encoding="utf-8")` | 이슈 원문을 JSON으로 저장합니다. |</a:t>
            </a:r>
          </a:p>
          <a:p xmlns:a="http://schemas.openxmlformats.org/drawingml/2006/main">
            <a:r>
              <a:t>| 39 | `print(summary["input"], summary["accepted"], summary["missing"], summary["issues"])` | 집계 네 개를 보여 줍니다. |</a:t>
            </a:r>
          </a:p>
          <a:p xmlns:a="http://schemas.openxmlformats.org/drawingml/2006/main">
            <a:r>
              <a:t>| 40 | `print(summary["average"])` | 평균 또는 None을 보여 줍니다.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code/A16_log_checker.py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work/A16_log_checker.py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6 4 1 2</a:t>
            </a:r>
          </a:p>
          <a:p xmlns:a="http://schemas.openxmlformats.org/drawingml/2006/main">
            <a:r>
              <a:t>15.83</a:t>
            </a:r>
          </a:p>
          <a:p xmlns:a="http://schemas.openxmlformats.org/drawingml/2006/main">
            <a:r>
              <a:t>```</a:t>
            </a:r>
          </a:p>
          <a:p xmlns:a="http://schemas.openxmlformats.org/drawingml/2006/main">
            <a:r>
              <a:t/>
            </a:r>
          </a:p>
          <a:p xmlns:a="http://schemas.openxmlformats.org/drawingml/2006/main">
            <a:r>
              <a:t>작은 수정: `"bad_readings.csv"`를 `"readings.csv"`로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4 4 1 0</a:t>
            </a:r>
          </a:p>
          <a:p xmlns:a="http://schemas.openxmlformats.org/drawingml/2006/main">
            <a:r>
              <a:t>15.83</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전체 코드를 역할별 다섯 구간으로 표시합니다.</a:t>
            </a:r>
          </a:p>
          <a:p xmlns:a="http://schemas.openxmlformats.org/drawingml/2006/main">
            <a:r>
              <a:t>2. 건수와 평균을 손으로 먼저 확인합니다.</a:t>
            </a:r>
          </a:p>
          <a:p xmlns:a="http://schemas.openxmlformats.org/drawingml/2006/main">
            <a:r>
              <a:t>3. 실행 뒤 결과 JSON 두 개를 엽니다.</a:t>
            </a:r>
          </a:p>
          <a:p xmlns:a="http://schemas.openxmlformats.org/drawingml/2006/main">
            <a:r>
              <a:t>4. 입력 파일명만 readings.csv로 바꿔 비교합니다.</a:t>
            </a:r>
          </a:p>
          <a:p xmlns:a="http://schemas.openxmlformats.org/drawingml/2006/main">
            <a:r>
              <a:t/>
            </a:r>
          </a:p>
          <a:p xmlns:a="http://schemas.openxmlformats.org/drawingml/2006/main">
            <a:r>
              <a:t>예상 결과: 오류 포함 6/4/1/2,정상 4/4/1/0. 평균은 모두 15.83.</a:t>
            </a:r>
          </a:p>
          <a:p xmlns:a="http://schemas.openxmlformats.org/drawingml/2006/main">
            <a:r>
              <a:t/>
            </a:r>
          </a:p>
          <a:p xmlns:a="http://schemas.openxmlformats.org/drawingml/2006/main">
            <a:r>
              <a:t>확인 질문: continue의 역할은 무엇인가요?</a:t>
            </a:r>
          </a:p>
          <a:p xmlns:a="http://schemas.openxmlformats.org/drawingml/2006/main">
            <a:r>
              <a:t/>
            </a:r>
          </a:p>
          <a:p xmlns:a="http://schemas.openxmlformats.org/drawingml/2006/main">
            <a:r>
              <a:t>막혔을 때: 한 행의 원문→함수→분류를 먼저 추적합니다. 여러 곳을 동시에 바꾸지 않습니다.</a:t>
            </a:r>
          </a:p>
          <a:p xmlns:a="http://schemas.openxmlformats.org/drawingml/2006/main">
            <a:r>
              <a:t/>
            </a:r>
          </a:p>
          <a:p xmlns:a="http://schemas.openxmlformats.org/drawingml/2006/main">
            <a:r>
              <a:t>[활동 자료와 작성칸](practice-guide.md#a16--로그-검사기-전체-흐름)에서 A16를 엽니다.</a:t>
            </a:r>
          </a:p>
          <a:p xmlns:a="http://schemas.openxmlformats.org/drawingml/2006/main">
            <a:r>
              <a:t/>
            </a:r>
          </a:p>
          <a:p xmlns:a="http://schemas.openxmlformats.org/drawingml/2006/main">
            <a:r>
              <a:t>### 중간 확인과 다음 활동 합류</a:t>
            </a:r>
          </a:p>
          <a:p xmlns:a="http://schemas.openxmlformats.org/drawingml/2006/main">
            <a:r>
              <a:t/>
            </a:r>
          </a:p>
          <a:p xmlns:a="http://schemas.openxmlformats.org/drawingml/2006/main">
            <a:r>
              <a:t>- 함께 확인할 증거: readings.csv의 정상 숫자 한 건과 missing_readings.csv의 미측정 한 건을 따라 읽고, 0은 숫자·미측정은 평균 대상이 아님을 설명합니다.</a:t>
            </a:r>
          </a:p>
          <a:p xmlns:a="http://schemas.openxmlformats.org/drawingml/2006/main">
            <a:r>
              <a:t>- 남은 작업: A16의 전체 구간 표시는 A16_notes.md, 네 입력 비교는 A17_notes.md에 미완료 항목을 표시하고 이어서 완성합니다. 이미 작성한 결과를 지우지 않습니다.</a:t>
            </a:r>
          </a:p>
          <a:p xmlns:a="http://schemas.openxmlformats.org/drawingml/2006/main">
            <a:r>
              <a:t>- 다음 입력: 제공된 work/A16_log_checker.py를 그대로 출발점으로 사용하고 A17에서 CSV 이름만 교체합니다. 실행이 막히면 solutions/A16_answer.md와 A17_answer.md의 제공 결과를 **관찰**로 기록하고 A18 인수인계에 미완료를 남깁니다.</a:t>
            </a:r>
          </a:p>
          <a:p xmlns:a="http://schemas.openxmlformats.org/drawingml/2006/main">
            <a:r>
              <a:t/>
            </a:r>
          </a:p>
          <a:p xmlns:a="http://schemas.openxmlformats.org/drawingml/2006/main">
            <a:r>
              <a:t>화면 예의 출처: D:/KDigital_PhysicalAI/.build/copyedited-ppt/spec-2026-10-15.json#slide-91;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https://zeusk302-png.github.io/kdigital-physical-ai/#/sessions/2026-10-15/lesson?activity=A16</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A17 상세 원문]</a:t>
            </a:r>
          </a:p>
          <a:p xmlns:a="http://schemas.openxmlformats.org/drawingml/2006/main">
            <a:r>
              <a:t>**개념.** 검사기는 서로 다른 입력 집합으로 확인합니다. 헤더만 있는 파일, 전부 미측정인 파일, 숫자 오류가 있는 파일은 다른 경계 상황입니다.</a:t>
            </a:r>
          </a:p>
          <a:p xmlns:a="http://schemas.openxmlformats.org/drawingml/2006/main">
            <a:r>
              <a:t/>
            </a:r>
          </a:p>
          <a:p xmlns:a="http://schemas.openxmlformats.org/drawingml/2006/main">
            <a:r>
              <a:t>**왜 필요한가.** 수치가 하나도 없으면 평균 분모가 0입니다. 평균 None은 계산할 수치가 없다는 결과이며 실제 평균 0.0과 의미가 다릅니다.</a:t>
            </a:r>
          </a:p>
          <a:p xmlns:a="http://schemas.openxmlformats.org/drawingml/2006/main">
            <a:r>
              <a:t/>
            </a:r>
          </a:p>
          <a:p xmlns:a="http://schemas.openxmlformats.org/drawingml/2006/main">
            <a:r>
              <a:t>**함께 보는 예.** empty_readings.csv는 데이터 0건, missing_readings.csv는 미측정 2건입니다. 둘 다 평균 None이지만 입력수와 미측정수는 다릅니다.</a:t>
            </a:r>
          </a:p>
          <a:p xmlns:a="http://schemas.openxmlformats.org/drawingml/2006/main">
            <a:r>
              <a:t/>
            </a:r>
          </a:p>
          <a:p xmlns:a="http://schemas.openxmlformats.org/drawingml/2006/main">
            <a:r>
              <a:t>**헷갈리는 경우.** None이면 모두 실패라고 판정하지 않습니다. 입력 조건에 따라 의도한 결과일 수 있습니다. 어떤 파일로 무엇을 확인했는지 기록합니다.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readings.csv4건 / bad_readings.csv6건 / empty_readings.csv헤더만 / missing_readings.csv미측정2건.</a:t>
            </a:r>
          </a:p>
          <a:p xmlns:a="http://schemas.openxmlformats.org/drawingml/2006/main">
            <a:r>
              <a:t>work/A16_log_checker.py 안 source 줄의 따옴표 속 CSV 이름만 바꿉니다. .py 이름은 유지합니다.</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네 입력의 기대 집계표를 씁니다.</a:t>
            </a:r>
          </a:p>
          <a:p xmlns:a="http://schemas.openxmlformats.org/drawingml/2006/main">
            <a:r>
              <a:t>2. work/A16_log_checker.py 안 source 줄의 따옴표 속 CSV 이름만 바꿔(.py 이름은 유지) 같은 프로그램을 실행합니다.</a:t>
            </a:r>
          </a:p>
          <a:p xmlns:a="http://schemas.openxmlformats.org/drawingml/2006/main">
            <a:r>
              <a:t>3. 평균None의 이유와 집계 관계를 확인합니다.</a:t>
            </a:r>
          </a:p>
          <a:p xmlns:a="http://schemas.openxmlformats.org/drawingml/2006/main">
            <a:r>
              <a:t>4. 헤더·다른 필드·실제 진위는 미검증으로 기록합니다.</a:t>
            </a:r>
          </a:p>
          <a:p xmlns:a="http://schemas.openxmlformats.org/drawingml/2006/main">
            <a:r>
              <a:t/>
            </a:r>
          </a:p>
          <a:p xmlns:a="http://schemas.openxmlformats.org/drawingml/2006/main">
            <a:r>
              <a:t>예상 결과: empty 0/0/0/0·None, missing 2/2/2/0·None.</a:t>
            </a:r>
          </a:p>
          <a:p xmlns:a="http://schemas.openxmlformats.org/drawingml/2006/main">
            <a:r>
              <a:t/>
            </a:r>
          </a:p>
          <a:p xmlns:a="http://schemas.openxmlformats.org/drawingml/2006/main">
            <a:r>
              <a:t>확인 질문: 수치가 없을 때 평균 0을 쓰면 어떤 오해가 생기나요?</a:t>
            </a:r>
          </a:p>
          <a:p xmlns:a="http://schemas.openxmlformats.org/drawingml/2006/main">
            <a:r>
              <a:t/>
            </a:r>
          </a:p>
          <a:p xmlns:a="http://schemas.openxmlformats.org/drawingml/2006/main">
            <a:r>
              <a:t>막혔을 때: 이전 실행 결과 파일을 새 결과로 혼동하지 않도록 입력명·저장·실행 경로를 확인합니다.</a:t>
            </a:r>
          </a:p>
          <a:p xmlns:a="http://schemas.openxmlformats.org/drawingml/2006/main">
            <a:r>
              <a:t/>
            </a:r>
          </a:p>
          <a:p xmlns:a="http://schemas.openxmlformats.org/drawingml/2006/main">
            <a:r>
              <a:t>[활동 자료와 작성칸](practice-guide.md#a17--정상빈-입력잘못된-입력-비교)에서 A17를 엽니다.</a:t>
            </a:r>
          </a:p>
          <a:p xmlns:a="http://schemas.openxmlformats.org/drawingml/2006/main">
            <a:r>
              <a:t/>
            </a:r>
          </a:p>
          <a:p xmlns:a="http://schemas.openxmlformats.org/drawingml/2006/main">
            <a:r>
              <a:t>### 검사할 CSV만 바꾸기</a:t>
            </a:r>
          </a:p>
          <a:p xmlns:a="http://schemas.openxmlformats.org/drawingml/2006/main">
            <a:r>
              <a:t/>
            </a:r>
          </a:p>
          <a:p xmlns:a="http://schemas.openxmlformats.org/drawingml/2006/main">
            <a:r>
              <a:t>수정 파일은 `work/A16_log_checker.py`입니다. **.py 파일 이름은 그대로 둡니다.** 코드 안 `source = base / "data" / "bad_readings.csv"` 한 줄에서 따옴표 속 CSV 이름만 바꿉니다. 예: `source = base / "data" / "readings.csv"`.</a:t>
            </a:r>
          </a:p>
          <a:p xmlns:a="http://schemas.openxmlformats.org/drawingml/2006/main">
            <a:r>
              <a:t/>
            </a:r>
          </a:p>
          <a:p xmlns:a="http://schemas.openxmlformats.org/drawingml/2006/main">
            <a:r>
              <a:t>저장 후 course 폴더에서 `python -X utf8 work/A16_log_checker.py`를 실행합니다. 실행마다 `work/check_summary.json`과 `work/check_issues.json`이 덮어써지므로 **결과를 먼저 기록한 뒤** 다음 CSV로 바꿉니다.</a:t>
            </a:r>
          </a:p>
          <a:p xmlns:a="http://schemas.openxmlformats.org/drawingml/2006/main">
            <a:r>
              <a:t/>
            </a:r>
          </a:p>
          <a:p xmlns:a="http://schemas.openxmlformats.org/drawingml/2006/main">
            <a:r>
              <a:t>| 따옴표 속 입력 이름 | 예상 집계·평균 | 실제 집계·평균 | 직접 실행/제공 출력 관찰 | 차이와 근거 |</a:t>
            </a:r>
          </a:p>
          <a:p xmlns:a="http://schemas.openxmlformats.org/drawingml/2006/main">
            <a:r>
              <a:t>| --- | --- | --- | --- | --- |</a:t>
            </a:r>
          </a:p>
          <a:p xmlns:a="http://schemas.openxmlformats.org/drawingml/2006/main">
            <a:r>
              <a:t>| readings.csv | _____ | _____ | _____ | _____ |</a:t>
            </a:r>
          </a:p>
          <a:p xmlns:a="http://schemas.openxmlformats.org/drawingml/2006/main">
            <a:r>
              <a:t>| bad_readings.csv | _____ | _____ | _____ | _____ |</a:t>
            </a:r>
          </a:p>
          <a:p xmlns:a="http://schemas.openxmlformats.org/drawingml/2006/main">
            <a:r>
              <a:t>| empty_readings.csv | _____ | _____ | _____ | _____ |</a:t>
            </a:r>
          </a:p>
          <a:p xmlns:a="http://schemas.openxmlformats.org/drawingml/2006/main">
            <a:r>
              <a:t>| missing_readings.csv | _____ | _____ | _____ | _____ |</a:t>
            </a:r>
          </a:p>
          <a:p xmlns:a="http://schemas.openxmlformats.org/drawingml/2006/main">
            <a:r>
              <a:t/>
            </a:r>
          </a:p>
          <a:p xmlns:a="http://schemas.openxmlformats.org/drawingml/2006/main">
            <a:r>
              <a:t>평균을 낼 숫자가 없다는 결과와 실제 측정 0을 구분해 설명합니다.</a:t>
            </a:r>
          </a:p>
          <a:p xmlns:a="http://schemas.openxmlformats.org/drawingml/2006/main">
            <a:r>
              <a:t/>
            </a:r>
          </a:p>
          <a:p xmlns:a="http://schemas.openxmlformats.org/drawingml/2006/main">
            <a:r>
              <a:t>### 중간 확인과 다음 활동 합류</a:t>
            </a:r>
          </a:p>
          <a:p xmlns:a="http://schemas.openxmlformats.org/drawingml/2006/main">
            <a:r>
              <a:t/>
            </a:r>
          </a:p>
          <a:p xmlns:a="http://schemas.openxmlformats.org/drawingml/2006/main">
            <a:r>
              <a:t>- 함께 확인할 증거: readings.csv의 정상 숫자 한 건과 missing_readings.csv의 미측정 한 건을 따라 읽고, 0은 숫자·미측정은 평균 대상이 아님을 설명합니다.</a:t>
            </a:r>
          </a:p>
          <a:p xmlns:a="http://schemas.openxmlformats.org/drawingml/2006/main">
            <a:r>
              <a:t>- 남은 작업: A16의 전체 구간 표시는 A16_notes.md, 네 입력 비교는 A17_notes.md에 미완료 항목을 표시하고 이어서 완성합니다. 이미 작성한 결과를 지우지 않습니다.</a:t>
            </a:r>
          </a:p>
          <a:p xmlns:a="http://schemas.openxmlformats.org/drawingml/2006/main">
            <a:r>
              <a:t>- 다음 입력: 제공된 work/A16_log_checker.py를 그대로 출발점으로 사용하고 A17에서 CSV 이름만 교체합니다. 실행이 막히면 solutions/A16_answer.md와 A17_answer.md의 제공 결과를 **관찰**로 기록하고 A18 인수인계에 미완료를 남깁니다.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https://zeusk302-png.github.io/kdigital-physical-ai/#/sessions/2026-10-15/lesson?activity=A17</a:t>
            </a:r>
          </a:p>
          <a:p xmlns:a="http://schemas.openxmlformats.org/drawingml/2006/main">
            <a:r>
              <a:t>공식 자료: https://docs.python.org/3/tutorial/inputoutput.html</a:t>
            </a:r>
          </a:p>
          <a:p xmlns:a="http://schemas.openxmlformats.org/drawingml/2006/main">
            <a:r>
              <a:t/>
            </a:r>
          </a:p>
          <a:p xmlns:a="http://schemas.openxmlformats.org/drawingml/2006/main">
            <a:r>
              <a:t>코드와 개념 해설: 두 입력 모두 평균 None이지만 전체 건수는 다릅니다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A17 상세 원문]</a:t>
            </a:r>
          </a:p>
          <a:p xmlns:a="http://schemas.openxmlformats.org/drawingml/2006/main">
            <a:r>
              <a:t>**개념.** 검사기는 서로 다른 입력 집합으로 확인합니다. 헤더만 있는 파일, 전부 미측정인 파일, 숫자 오류가 있는 파일은 다른 경계 상황입니다.</a:t>
            </a:r>
          </a:p>
          <a:p xmlns:a="http://schemas.openxmlformats.org/drawingml/2006/main">
            <a:r>
              <a:t/>
            </a:r>
          </a:p>
          <a:p xmlns:a="http://schemas.openxmlformats.org/drawingml/2006/main">
            <a:r>
              <a:t>**왜 필요한가.** 수치가 하나도 없으면 평균 분모가 0입니다. 평균 None은 계산할 수치가 없다는 결과이며 실제 평균 0.0과 의미가 다릅니다.</a:t>
            </a:r>
          </a:p>
          <a:p xmlns:a="http://schemas.openxmlformats.org/drawingml/2006/main">
            <a:r>
              <a:t/>
            </a:r>
          </a:p>
          <a:p xmlns:a="http://schemas.openxmlformats.org/drawingml/2006/main">
            <a:r>
              <a:t>**함께 보는 예.** empty_readings.csv는 데이터 0건, missing_readings.csv는 미측정 2건입니다. 둘 다 평균 None이지만 입력수와 미측정수는 다릅니다.</a:t>
            </a:r>
          </a:p>
          <a:p xmlns:a="http://schemas.openxmlformats.org/drawingml/2006/main">
            <a:r>
              <a:t/>
            </a:r>
          </a:p>
          <a:p xmlns:a="http://schemas.openxmlformats.org/drawingml/2006/main">
            <a:r>
              <a:t>**헷갈리는 경우.** None이면 모두 실패라고 판정하지 않습니다. 입력 조건에 따라 의도한 결과일 수 있습니다. 어떤 파일로 무엇을 확인했는지 기록합니다.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readings.csv4건 / bad_readings.csv6건 / empty_readings.csv헤더만 / missing_readings.csv미측정2건.</a:t>
            </a:r>
          </a:p>
          <a:p xmlns:a="http://schemas.openxmlformats.org/drawingml/2006/main">
            <a:r>
              <a:t>work/A16_log_checker.py 안 source 줄의 따옴표 속 CSV 이름만 바꿉니다. .py 이름은 유지합니다.</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네 입력의 기대 집계표를 씁니다.</a:t>
            </a:r>
          </a:p>
          <a:p xmlns:a="http://schemas.openxmlformats.org/drawingml/2006/main">
            <a:r>
              <a:t>2. work/A16_log_checker.py 안 source 줄의 따옴표 속 CSV 이름만 바꿔(.py 이름은 유지) 같은 프로그램을 실행합니다.</a:t>
            </a:r>
          </a:p>
          <a:p xmlns:a="http://schemas.openxmlformats.org/drawingml/2006/main">
            <a:r>
              <a:t>3. 평균None의 이유와 집계 관계를 확인합니다.</a:t>
            </a:r>
          </a:p>
          <a:p xmlns:a="http://schemas.openxmlformats.org/drawingml/2006/main">
            <a:r>
              <a:t>4. 헤더·다른 필드·실제 진위는 미검증으로 기록합니다.</a:t>
            </a:r>
          </a:p>
          <a:p xmlns:a="http://schemas.openxmlformats.org/drawingml/2006/main">
            <a:r>
              <a:t/>
            </a:r>
          </a:p>
          <a:p xmlns:a="http://schemas.openxmlformats.org/drawingml/2006/main">
            <a:r>
              <a:t>예상 결과: empty 0/0/0/0·None, missing 2/2/2/0·None.</a:t>
            </a:r>
          </a:p>
          <a:p xmlns:a="http://schemas.openxmlformats.org/drawingml/2006/main">
            <a:r>
              <a:t/>
            </a:r>
          </a:p>
          <a:p xmlns:a="http://schemas.openxmlformats.org/drawingml/2006/main">
            <a:r>
              <a:t>확인 질문: 수치가 없을 때 평균 0을 쓰면 어떤 오해가 생기나요?</a:t>
            </a:r>
          </a:p>
          <a:p xmlns:a="http://schemas.openxmlformats.org/drawingml/2006/main">
            <a:r>
              <a:t/>
            </a:r>
          </a:p>
          <a:p xmlns:a="http://schemas.openxmlformats.org/drawingml/2006/main">
            <a:r>
              <a:t>막혔을 때: 이전 실행 결과 파일을 새 결과로 혼동하지 않도록 입력명·저장·실행 경로를 확인합니다.</a:t>
            </a:r>
          </a:p>
          <a:p xmlns:a="http://schemas.openxmlformats.org/drawingml/2006/main">
            <a:r>
              <a:t/>
            </a:r>
          </a:p>
          <a:p xmlns:a="http://schemas.openxmlformats.org/drawingml/2006/main">
            <a:r>
              <a:t>[활동 자료와 작성칸](practice-guide.md#a17--정상빈-입력잘못된-입력-비교)에서 A17를 엽니다.</a:t>
            </a:r>
          </a:p>
          <a:p xmlns:a="http://schemas.openxmlformats.org/drawingml/2006/main">
            <a:r>
              <a:t/>
            </a:r>
          </a:p>
          <a:p xmlns:a="http://schemas.openxmlformats.org/drawingml/2006/main">
            <a:r>
              <a:t>### 검사할 CSV만 바꾸기</a:t>
            </a:r>
          </a:p>
          <a:p xmlns:a="http://schemas.openxmlformats.org/drawingml/2006/main">
            <a:r>
              <a:t/>
            </a:r>
          </a:p>
          <a:p xmlns:a="http://schemas.openxmlformats.org/drawingml/2006/main">
            <a:r>
              <a:t>수정 파일은 `work/A16_log_checker.py`입니다. **.py 파일 이름은 그대로 둡니다.** 코드 안 `source = base / "data" / "bad_readings.csv"` 한 줄에서 따옴표 속 CSV 이름만 바꿉니다. 예: `source = base / "data" / "readings.csv"`.</a:t>
            </a:r>
          </a:p>
          <a:p xmlns:a="http://schemas.openxmlformats.org/drawingml/2006/main">
            <a:r>
              <a:t/>
            </a:r>
          </a:p>
          <a:p xmlns:a="http://schemas.openxmlformats.org/drawingml/2006/main">
            <a:r>
              <a:t>저장 후 course 폴더에서 `python -X utf8 work/A16_log_checker.py`를 실행합니다. 실행마다 `work/check_summary.json`과 `work/check_issues.json`이 덮어써지므로 **결과를 먼저 기록한 뒤** 다음 CSV로 바꿉니다.</a:t>
            </a:r>
          </a:p>
          <a:p xmlns:a="http://schemas.openxmlformats.org/drawingml/2006/main">
            <a:r>
              <a:t/>
            </a:r>
          </a:p>
          <a:p xmlns:a="http://schemas.openxmlformats.org/drawingml/2006/main">
            <a:r>
              <a:t>| 따옴표 속 입력 이름 | 예상 집계·평균 | 실제 집계·평균 | 직접 실행/제공 출력 관찰 | 차이와 근거 |</a:t>
            </a:r>
          </a:p>
          <a:p xmlns:a="http://schemas.openxmlformats.org/drawingml/2006/main">
            <a:r>
              <a:t>| --- | --- | --- | --- | --- |</a:t>
            </a:r>
          </a:p>
          <a:p xmlns:a="http://schemas.openxmlformats.org/drawingml/2006/main">
            <a:r>
              <a:t>| readings.csv | _____ | _____ | _____ | _____ |</a:t>
            </a:r>
          </a:p>
          <a:p xmlns:a="http://schemas.openxmlformats.org/drawingml/2006/main">
            <a:r>
              <a:t>| bad_readings.csv | _____ | _____ | _____ | _____ |</a:t>
            </a:r>
          </a:p>
          <a:p xmlns:a="http://schemas.openxmlformats.org/drawingml/2006/main">
            <a:r>
              <a:t>| empty_readings.csv | _____ | _____ | _____ | _____ |</a:t>
            </a:r>
          </a:p>
          <a:p xmlns:a="http://schemas.openxmlformats.org/drawingml/2006/main">
            <a:r>
              <a:t>| missing_readings.csv | _____ | _____ | _____ | _____ |</a:t>
            </a:r>
          </a:p>
          <a:p xmlns:a="http://schemas.openxmlformats.org/drawingml/2006/main">
            <a:r>
              <a:t/>
            </a:r>
          </a:p>
          <a:p xmlns:a="http://schemas.openxmlformats.org/drawingml/2006/main">
            <a:r>
              <a:t>평균을 낼 숫자가 없다는 결과와 실제 측정 0을 구분해 설명합니다.</a:t>
            </a:r>
          </a:p>
          <a:p xmlns:a="http://schemas.openxmlformats.org/drawingml/2006/main">
            <a:r>
              <a:t/>
            </a:r>
          </a:p>
          <a:p xmlns:a="http://schemas.openxmlformats.org/drawingml/2006/main">
            <a:r>
              <a:t>### 중간 확인과 다음 활동 합류</a:t>
            </a:r>
          </a:p>
          <a:p xmlns:a="http://schemas.openxmlformats.org/drawingml/2006/main">
            <a:r>
              <a:t/>
            </a:r>
          </a:p>
          <a:p xmlns:a="http://schemas.openxmlformats.org/drawingml/2006/main">
            <a:r>
              <a:t>- 함께 확인할 증거: readings.csv의 정상 숫자 한 건과 missing_readings.csv의 미측정 한 건을 따라 읽고, 0은 숫자·미측정은 평균 대상이 아님을 설명합니다.</a:t>
            </a:r>
          </a:p>
          <a:p xmlns:a="http://schemas.openxmlformats.org/drawingml/2006/main">
            <a:r>
              <a:t>- 남은 작업: A16의 전체 구간 표시는 A16_notes.md, 네 입력 비교는 A17_notes.md에 미완료 항목을 표시하고 이어서 완성합니다. 이미 작성한 결과를 지우지 않습니다.</a:t>
            </a:r>
          </a:p>
          <a:p xmlns:a="http://schemas.openxmlformats.org/drawingml/2006/main">
            <a:r>
              <a:t>- 다음 입력: 제공된 work/A16_log_checker.py를 그대로 출발점으로 사용하고 A17에서 CSV 이름만 교체합니다. 실행이 막히면 solutions/A16_answer.md와 A17_answer.md의 제공 결과를 **관찰**로 기록하고 A18 인수인계에 미완료를 남깁니다.</a:t>
            </a:r>
          </a:p>
          <a:p xmlns:a="http://schemas.openxmlformats.org/drawingml/2006/main">
            <a:r>
              <a:t/>
            </a:r>
          </a:p>
          <a:p xmlns:a="http://schemas.openxmlformats.org/drawingml/2006/main">
            <a:r>
              <a:t>화면 예의 출처: D:/KDigital_PhysicalAI/.build/copyedited-ppt/spec-2026-10-15.json#slide-87;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https://zeusk302-png.github.io/kdigital-physical-ai/#/sessions/2026-10-15/lesson?activity=A17</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A18 상세 원문]</a:t>
            </a:r>
          </a:p>
          <a:p xmlns:a="http://schemas.openxmlformats.org/drawingml/2006/main">
            <a:r>
              <a:t>**개념.** 사용 안내는 다음 사람이 같은 입력으로 같은 결과를 확인할 수 있도록 쓰는 문서입니다. 파일·명령·기대 결과·이슈의 뜻·미확인 범위를 함께 전달합니다.</a:t>
            </a:r>
          </a:p>
          <a:p xmlns:a="http://schemas.openxmlformats.org/drawingml/2006/main">
            <a:r>
              <a:t/>
            </a:r>
          </a:p>
          <a:p xmlns:a="http://schemas.openxmlformats.org/drawingml/2006/main">
            <a:r>
              <a:t>**왜 필요한가.** 작성자가 없어도 검사 범위를 오해하지 않게 해야 합니다. ‘검증 완료’보다 온도 변환·범위·미측정 구별을 검사했다고 구체적으로 씁니다.</a:t>
            </a:r>
          </a:p>
          <a:p xmlns:a="http://schemas.openxmlformats.org/drawingml/2006/main">
            <a:r>
              <a:t/>
            </a:r>
          </a:p>
          <a:p xmlns:a="http://schemas.openxmlformats.org/drawingml/2006/main">
            <a:r>
              <a:t>**함께 보는 예.** 안내에는 course의 실행 명령, source가 읽는 입력명, work 결과 두 개, 이슈 원문을 확인하는 방법을 씁니다. 확정 근거가 있으면 작업 사본만 고치고 재확인합니다.</a:t>
            </a:r>
          </a:p>
          <a:p xmlns:a="http://schemas.openxmlformats.org/drawingml/2006/main">
            <a:r>
              <a:t/>
            </a:r>
          </a:p>
          <a:p xmlns:a="http://schemas.openxmlformats.org/drawingml/2006/main">
            <a:r>
              <a:t>**헷갈리는 경우.** 모든 필드를 검사하거나 실제 센서 정확도를 보장한다고 주장하지 않습니다. 오늘은 로컬 합성 파일의 처리이며 외부 서비스로 전송하지 않습니다.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작성칸: 목적 / 필요한 파일 / 명령 / 입력 선택 / 결과 위치 / 이슈 해석 / 수정 근거 / 미확인 범위.</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work/usage.md에 실행 안내를 씁니다.</a:t>
            </a:r>
          </a:p>
          <a:p xmlns:a="http://schemas.openxmlformats.org/drawingml/2006/main">
            <a:r>
              <a:t>2. 짝이 입력 하나의 결과를 설명하게 합니다.</a:t>
            </a:r>
          </a:p>
          <a:p xmlns:a="http://schemas.openxmlformats.org/drawingml/2006/main">
            <a:r>
              <a:t>3. 빠진 파일 위치와 입력·결과 규칙을 추가합니다.</a:t>
            </a:r>
          </a:p>
          <a:p xmlns:a="http://schemas.openxmlformats.org/drawingml/2006/main">
            <a:r>
              <a:t>4. 코드·입력·요약·이슈·사례표를 함께 제출합니다.</a:t>
            </a:r>
          </a:p>
          <a:p xmlns:a="http://schemas.openxmlformats.org/drawingml/2006/main">
            <a:r>
              <a:t/>
            </a:r>
          </a:p>
          <a:p xmlns:a="http://schemas.openxmlformats.org/drawingml/2006/main">
            <a:r>
              <a:t>예상 결과: 다음 사람이 파일을 찾아 같은 명령을 실행하고, 결과와 검사한 범위를 확인할 수 있는 안내.</a:t>
            </a:r>
          </a:p>
          <a:p xmlns:a="http://schemas.openxmlformats.org/drawingml/2006/main">
            <a:r>
              <a:t/>
            </a:r>
          </a:p>
          <a:p xmlns:a="http://schemas.openxmlformats.org/drawingml/2006/main">
            <a:r>
              <a:t>확인 질문: 이슈 0건이라는 결과만 남기면 무엇이 부족한가요?</a:t>
            </a:r>
          </a:p>
          <a:p xmlns:a="http://schemas.openxmlformats.org/drawingml/2006/main">
            <a:r>
              <a:t/>
            </a:r>
          </a:p>
          <a:p xmlns:a="http://schemas.openxmlformats.org/drawingml/2006/main">
            <a:r>
              <a:t>막혔을 때: 처음 실행 순서와 오류 확인 순서를 나눠 씁니다. 미확인 사실을 확정하지 않습니다.</a:t>
            </a:r>
          </a:p>
          <a:p xmlns:a="http://schemas.openxmlformats.org/drawingml/2006/main">
            <a:r>
              <a:t/>
            </a:r>
          </a:p>
          <a:p xmlns:a="http://schemas.openxmlformats.org/drawingml/2006/main">
            <a:r>
              <a:t>[활동 자료와 작성칸](practice-guide.md#a18--검사기-사용-안내와-근거-전달)에서 A18를 엽니다.</a:t>
            </a:r>
          </a:p>
          <a:p xmlns:a="http://schemas.openxmlformats.org/drawingml/2006/main">
            <a:r>
              <a:t/>
            </a:r>
          </a:p>
          <a:p xmlns:a="http://schemas.openxmlformats.org/drawingml/2006/main">
            <a:r>
              <a:t>## 공식 참고자료</a:t>
            </a:r>
          </a:p>
          <a:p xmlns:a="http://schemas.openxmlformats.org/drawingml/2006/main">
            <a:r>
              <a:t/>
            </a:r>
          </a:p>
          <a:p xmlns:a="http://schemas.openxmlformats.org/drawingml/2006/main">
            <a:r>
              <a:t>- [controlflow.html](https://docs.python.org/3/tutorial/controlflow.html)</a:t>
            </a:r>
          </a:p>
          <a:p xmlns:a="http://schemas.openxmlformats.org/drawingml/2006/main">
            <a:r>
              <a:t>- [inputoutput.html](https://docs.python.org/3/tutorial/inputoutput.html)</a:t>
            </a:r>
          </a:p>
          <a:p xmlns:a="http://schemas.openxmlformats.org/drawingml/2006/main">
            <a:r>
              <a:t>- [errors.html](https://docs.python.org/3/tutorial/errors.html)</a:t>
            </a:r>
          </a:p>
          <a:p xmlns:a="http://schemas.openxmlformats.org/drawingml/2006/main">
            <a:r>
              <a:t>- [csv.html](https://docs.python.org/3/library/csv.html)</a:t>
            </a:r>
          </a:p>
          <a:p xmlns:a="http://schemas.openxmlformats.org/drawingml/2006/main">
            <a:r>
              <a:t>- [json.html](https://docs.python.org/3/library/json.html)</a:t>
            </a:r>
          </a:p>
          <a:p xmlns:a="http://schemas.openxmlformats.org/drawingml/2006/main">
            <a:r>
              <a:t>- [pathlib.html](https://docs.python.org/3/library/pathlib.html)</a:t>
            </a:r>
          </a:p>
          <a:p xmlns:a="http://schemas.openxmlformats.org/drawingml/2006/main">
            <a:r>
              <a:t/>
            </a:r>
          </a:p>
          <a:p xmlns:a="http://schemas.openxmlformats.org/drawingml/2006/main">
            <a:r>
              <a:t>공식 동작은 2026-09-26 확인했습니다. 자체 합성 사례로 설명하며 현재 교실 환경이나 학습 효과를 실측한 결과는 아닙니다.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https://zeusk302-png.github.io/kdigital-physical-ai/#/sessions/2026-10-15/lesson?activity=A18</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로그 검사기를 넘겨받은 사람이 요약의 accepted를 실제 숫자 수라고 읽었습니다. 그러나 기존 검사기에서 accepted는 수치와 미측정을 합한 수락 건수입니다. 이름만 보고 뜻을 짐작하지 말고 각 항목의 정의와 계산 코드를 확인해야 합니다. 합성 원문 다섯 건은 “10”, 빈 문자열, “20”, “오류”, “0”입니다. 수치는 세 건, 미측정은 한 건, 이슈는 한 건입니다. 입력 전체와 분류된 부분이 빠짐없이 맞는지 검산합니다.</a:t>
            </a:r>
          </a:p>
          <a:p xmlns:a="http://schemas.openxmlformats.org/drawingml/2006/main">
            <a:r>
              <a:t/>
            </a:r>
          </a:p>
          <a:p xmlns:a="http://schemas.openxmlformats.org/drawingml/2006/main">
            <a:r>
              <a:t>이 프로그램의 관계는 input=accepted+issues, accepted=numeric+missing입니다. 다섯 건 사례에서는 5=4+1, 4=3+1입니다. 평균은 숫자 세 건의 합 10+20+0=30을 숫자 건수 3으로 나누어 10입니다. 수락 건수 4로 나누면 7.5가 되어 미측정을 0처럼 처리합니다. 이슈 건수까지 포함해 5로 나누면 6이 됩니다. 같은 원문에서 분모만 바꿔도 업무 의미가 바뀌므로 평균 대상과 건수를 함께 보고합니다.</a:t>
            </a:r>
          </a:p>
          <a:p xmlns:a="http://schemas.openxmlformats.org/drawingml/2006/main">
            <a:r>
              <a:t/>
            </a:r>
          </a:p>
          <a:p xmlns:a="http://schemas.openxmlformats.org/drawingml/2006/main">
            <a:r>
              <a:t>한 행의 추적은 원문→해석→분류→누적 순서입니다. 잘못된 글자가 나오면 이슈 목록에 원문을 남기고 continue로 다음 행으로 넘어갑니다. 문제 행이 수치 목록에도 들어가면 중복 분류가 되어 두 검산 관계가 깨질 수 있습니다. 모든 수치가 없을 때 평균은 None입니다. 0이라고 쓰면 실제 평균 0을 계산했다는 오해가 생깁니다. 헤더만 있는 입력은 전체 0건이고 모든 값이 빈 입력은 전체 기록은 있으나 수치가 0건입니다. 둘 다 평균이 없지만 같은 자료는 아닙니다. 결과 안내에는 입력 파일명·명령·실제 출력·미확인 범위·변경 이유를 남깁니다. 현재 검사는 합성 온도값 규칙을 확인하며 모든 필드나 센서의 실제 성능을 보증하지 않습니다.</a:t>
            </a:r>
          </a:p>
          <a:p xmlns:a="http://schemas.openxmlformats.org/drawingml/2006/main">
            <a:r>
              <a:t/>
            </a:r>
          </a:p>
          <a:p xmlns:a="http://schemas.openxmlformats.org/drawingml/2006/main">
            <a:r>
              <a:t>화면 예의 출처: D:/KDigital_PhysicalAI/.build/copyedited-ppt/spec-2026-10-15.json#slide-91;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로그 검사기를 넘겨받은 사람이 요약의 accepted를 실제 숫자 수라고 읽었습니다. 그러나 기존 검사기에서 accepted는 수치와 미측정을 합한 수락 건수입니다. 이름만 보고 뜻을 짐작하지 말고 각 항목의 정의와 계산 코드를 확인해야 합니다. 합성 원문 다섯 건은 “10”, 빈 문자열, “20”, “오류”, “0”입니다. 수치는 세 건, 미측정은 한 건, 이슈는 한 건입니다. 입력 전체와 분류된 부분이 빠짐없이 맞는지 검산합니다.</a:t>
            </a:r>
          </a:p>
          <a:p xmlns:a="http://schemas.openxmlformats.org/drawingml/2006/main">
            <a:r>
              <a:t/>
            </a:r>
          </a:p>
          <a:p xmlns:a="http://schemas.openxmlformats.org/drawingml/2006/main">
            <a:r>
              <a:t>이 프로그램의 관계는 input=accepted+issues, accepted=numeric+missing입니다. 다섯 건 사례에서는 5=4+1, 4=3+1입니다. 평균은 숫자 세 건의 합 10+20+0=30을 숫자 건수 3으로 나누어 10입니다. 수락 건수 4로 나누면 7.5가 되어 미측정을 0처럼 처리합니다. 이슈 건수까지 포함해 5로 나누면 6이 됩니다. 같은 원문에서 분모만 바꿔도 업무 의미가 바뀌므로 평균 대상과 건수를 함께 보고합니다.</a:t>
            </a:r>
          </a:p>
          <a:p xmlns:a="http://schemas.openxmlformats.org/drawingml/2006/main">
            <a:r>
              <a:t/>
            </a:r>
          </a:p>
          <a:p xmlns:a="http://schemas.openxmlformats.org/drawingml/2006/main">
            <a:r>
              <a:t>한 행의 추적은 원문→해석→분류→누적 순서입니다. 잘못된 글자가 나오면 이슈 목록에 원문을 남기고 continue로 다음 행으로 넘어갑니다. 문제 행이 수치 목록에도 들어가면 중복 분류가 되어 두 검산 관계가 깨질 수 있습니다. 모든 수치가 없을 때 평균은 None입니다. 0이라고 쓰면 실제 평균 0을 계산했다는 오해가 생깁니다. 헤더만 있는 입력은 전체 0건이고 모든 값이 빈 입력은 전체 기록은 있으나 수치가 0건입니다. 둘 다 평균이 없지만 같은 자료는 아닙니다. 결과 안내에는 입력 파일명·명령·실제 출력·미확인 범위·변경 이유를 남깁니다. 현재 검사는 합성 온도값 규칙을 확인하며 모든 필드나 센서의 실제 성능을 보증하지 않습니다.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https://docs.python.org/3/tutorial/inputoutput.html</a:t>
            </a:r>
          </a:p>
          <a:p xmlns:a="http://schemas.openxmlformats.org/drawingml/2006/main">
            <a:r>
              <a:t/>
            </a:r>
          </a:p>
          <a:p xmlns:a="http://schemas.openxmlformats.org/drawingml/2006/main">
            <a:r>
              <a:t>코드와 개념 해설: 10+20+0=30, 평균은 30÷3=10</a:t>
            </a:r>
          </a:p>
          <a:p xmlns:a="http://schemas.openxmlformats.org/drawingml/2006/main">
            <a:r>
              <a:t>수락 4를 분모로 쓰면 미측정을 수치처럼 셉니다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원문은 “5”, “15”, 빈 문자열, “뜨거움”, 빈 문자열, “0”입니다. 전체·수치·미측정·이슈·수락 건수와 평균을 구하고 두 검산식을 쓰세요. 수치가 전혀 없는 경우의 평균 표현도 적으세요.</a:t>
            </a:r>
          </a:p>
          <a:p xmlns:a="http://schemas.openxmlformats.org/drawingml/2006/main">
            <a:r>
              <a:t/>
            </a:r>
          </a:p>
          <a:p xmlns:a="http://schemas.openxmlformats.org/drawingml/2006/main">
            <a:r>
              <a:t>학생이 먼저 답을 적은 뒤 풀이를 보여 줍니다. 이 문제는 필수 활동을 마친 뒤 추가로 사용합니다.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6, 수치 3, 미측정 2, 이슈 1, 수락 5입니다. 6=5+1, 5=3+2이고 평균은 20÷3을 소수 둘째 자리로 반올림한 6.67입니다. 수치가 없으면 None입니다. 수락 5를 분모로 쓰면 4가 되어 미측정을 포함한 잘못된 평균입니다.</a:t>
            </a:r>
          </a:p>
          <a:p xmlns:a="http://schemas.openxmlformats.org/drawingml/2006/main">
            <a:r>
              <a:t/>
            </a:r>
          </a:p>
          <a:p xmlns:a="http://schemas.openxmlformats.org/drawingml/2006/main">
            <a:r>
              <a:t>핵심 질문과 해설:</a:t>
            </a:r>
          </a:p>
          <a:p xmlns:a="http://schemas.openxmlformats.org/drawingml/2006/main">
            <a:r>
              <a:t>수락 건수는 수치 건수인가요? 이 검사기에서는 수치와 미측정을 합하므로 결과의 각 항목이 무엇을 세는지 확인합니다.</a:t>
            </a:r>
          </a:p>
          <a:p xmlns:a="http://schemas.openxmlformats.org/drawingml/2006/main">
            <a:r>
              <a:t>continue가 필요한 이유는? 이슈로 분류한 행을 정상 처리로 보내지 않고 다음 행으로 넘어갑니다.</a:t>
            </a:r>
          </a:p>
          <a:p xmlns:a="http://schemas.openxmlformats.org/drawingml/2006/main">
            <a:r>
              <a:t>평균 None과 0은 같은가요? None은 계산할 수치가 없음이며 0은 실제 수치 평균이 0이라는 값입니다.</a:t>
            </a:r>
          </a:p>
          <a:p xmlns:a="http://schemas.openxmlformats.org/drawingml/2006/main">
            <a:r>
              <a:t/>
            </a:r>
          </a:p>
          <a:p xmlns:a="http://schemas.openxmlformats.org/drawingml/2006/main">
            <a:r>
              <a:t>화면 예의 출처: D:/KDigital_PhysicalAI/.build/copyedited-ppt/spec-2026-10-15.json#slide-92;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A18 상세 원문]</a:t>
            </a:r>
          </a:p>
          <a:p xmlns:a="http://schemas.openxmlformats.org/drawingml/2006/main">
            <a:r>
              <a:t>**개념.** 사용 안내는 다음 사람이 같은 입력으로 같은 결과를 확인할 수 있도록 쓰는 문서입니다. 파일·명령·기대 결과·이슈의 뜻·미확인 범위를 함께 전달합니다.</a:t>
            </a:r>
          </a:p>
          <a:p xmlns:a="http://schemas.openxmlformats.org/drawingml/2006/main">
            <a:r>
              <a:t/>
            </a:r>
          </a:p>
          <a:p xmlns:a="http://schemas.openxmlformats.org/drawingml/2006/main">
            <a:r>
              <a:t>**왜 필요한가.** 작성자가 없어도 검사 범위를 오해하지 않게 해야 합니다. ‘검증 완료’보다 온도 변환·범위·미측정 구별을 검사했다고 구체적으로 씁니다.</a:t>
            </a:r>
          </a:p>
          <a:p xmlns:a="http://schemas.openxmlformats.org/drawingml/2006/main">
            <a:r>
              <a:t/>
            </a:r>
          </a:p>
          <a:p xmlns:a="http://schemas.openxmlformats.org/drawingml/2006/main">
            <a:r>
              <a:t>**함께 보는 예.** 안내에는 course의 실행 명령, source가 읽는 입력명, work 결과 두 개, 이슈 원문을 확인하는 방법을 씁니다. 확정 근거가 있으면 작업 사본만 고치고 재확인합니다.</a:t>
            </a:r>
          </a:p>
          <a:p xmlns:a="http://schemas.openxmlformats.org/drawingml/2006/main">
            <a:r>
              <a:t/>
            </a:r>
          </a:p>
          <a:p xmlns:a="http://schemas.openxmlformats.org/drawingml/2006/main">
            <a:r>
              <a:t>**헷갈리는 경우.** 모든 필드를 검사하거나 실제 센서 정확도를 보장한다고 주장하지 않습니다. 오늘은 로컬 합성 파일의 처리이며 외부 서비스로 전송하지 않습니다.</a:t>
            </a:r>
          </a:p>
          <a:p xmlns:a="http://schemas.openxmlformats.org/drawingml/2006/main">
            <a:r>
              <a:t/>
            </a:r>
          </a:p>
          <a:p xmlns:a="http://schemas.openxmlformats.org/drawingml/2006/main">
            <a:r>
              <a:t>### 제공 입력</a:t>
            </a:r>
          </a:p>
          <a:p xmlns:a="http://schemas.openxmlformats.org/drawingml/2006/main">
            <a:r>
              <a:t/>
            </a:r>
          </a:p>
          <a:p xmlns:a="http://schemas.openxmlformats.org/drawingml/2006/main">
            <a:r>
              <a:t/>
            </a:r>
          </a:p>
          <a:p xmlns:a="http://schemas.openxmlformats.org/drawingml/2006/main">
            <a:r>
              <a:t>```text</a:t>
            </a:r>
          </a:p>
          <a:p xmlns:a="http://schemas.openxmlformats.org/drawingml/2006/main">
            <a:r>
              <a:t>작성칸: 목적 / 필요한 파일 / 명령 / 입력 선택 / 결과 위치 / 이슈 해석 / 수정 근거 / 미확인 범위.</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work/usage.md에 실행 안내를 씁니다.</a:t>
            </a:r>
          </a:p>
          <a:p xmlns:a="http://schemas.openxmlformats.org/drawingml/2006/main">
            <a:r>
              <a:t>2. 짝이 입력 하나의 결과를 설명하게 합니다.</a:t>
            </a:r>
          </a:p>
          <a:p xmlns:a="http://schemas.openxmlformats.org/drawingml/2006/main">
            <a:r>
              <a:t>3. 빠진 파일 위치와 입력·결과 규칙을 추가합니다.</a:t>
            </a:r>
          </a:p>
          <a:p xmlns:a="http://schemas.openxmlformats.org/drawingml/2006/main">
            <a:r>
              <a:t>4. 코드·입력·요약·이슈·사례표를 함께 제출합니다.</a:t>
            </a:r>
          </a:p>
          <a:p xmlns:a="http://schemas.openxmlformats.org/drawingml/2006/main">
            <a:r>
              <a:t/>
            </a:r>
          </a:p>
          <a:p xmlns:a="http://schemas.openxmlformats.org/drawingml/2006/main">
            <a:r>
              <a:t>예상 결과: 다음 사람이 파일을 찾아 같은 명령을 실행하고, 결과와 검사한 범위를 확인할 수 있는 안내.</a:t>
            </a:r>
          </a:p>
          <a:p xmlns:a="http://schemas.openxmlformats.org/drawingml/2006/main">
            <a:r>
              <a:t/>
            </a:r>
          </a:p>
          <a:p xmlns:a="http://schemas.openxmlformats.org/drawingml/2006/main">
            <a:r>
              <a:t>확인 질문: 이슈 0건이라는 결과만 남기면 무엇이 부족한가요?</a:t>
            </a:r>
          </a:p>
          <a:p xmlns:a="http://schemas.openxmlformats.org/drawingml/2006/main">
            <a:r>
              <a:t/>
            </a:r>
          </a:p>
          <a:p xmlns:a="http://schemas.openxmlformats.org/drawingml/2006/main">
            <a:r>
              <a:t>막혔을 때: 처음 실행 순서와 오류 확인 순서를 나눠 씁니다. 미확인 사실을 확정하지 않습니다.</a:t>
            </a:r>
          </a:p>
          <a:p xmlns:a="http://schemas.openxmlformats.org/drawingml/2006/main">
            <a:r>
              <a:t/>
            </a:r>
          </a:p>
          <a:p xmlns:a="http://schemas.openxmlformats.org/drawingml/2006/main">
            <a:r>
              <a:t>[활동 자료와 작성칸](practice-guide.md#a18--검사기-사용-안내와-근거-전달)에서 A18를 엽니다.</a:t>
            </a:r>
          </a:p>
          <a:p xmlns:a="http://schemas.openxmlformats.org/drawingml/2006/main">
            <a:r>
              <a:t/>
            </a:r>
          </a:p>
          <a:p xmlns:a="http://schemas.openxmlformats.org/drawingml/2006/main">
            <a:r>
              <a:t>## 공식 참고자료</a:t>
            </a:r>
          </a:p>
          <a:p xmlns:a="http://schemas.openxmlformats.org/drawingml/2006/main">
            <a:r>
              <a:t/>
            </a:r>
          </a:p>
          <a:p xmlns:a="http://schemas.openxmlformats.org/drawingml/2006/main">
            <a:r>
              <a:t>- [controlflow.html](https://docs.python.org/3/tutorial/controlflow.html)</a:t>
            </a:r>
          </a:p>
          <a:p xmlns:a="http://schemas.openxmlformats.org/drawingml/2006/main">
            <a:r>
              <a:t>- [inputoutput.html](https://docs.python.org/3/tutorial/inputoutput.html)</a:t>
            </a:r>
          </a:p>
          <a:p xmlns:a="http://schemas.openxmlformats.org/drawingml/2006/main">
            <a:r>
              <a:t>- [errors.html](https://docs.python.org/3/tutorial/errors.html)</a:t>
            </a:r>
          </a:p>
          <a:p xmlns:a="http://schemas.openxmlformats.org/drawingml/2006/main">
            <a:r>
              <a:t>- [csv.html](https://docs.python.org/3/library/csv.html)</a:t>
            </a:r>
          </a:p>
          <a:p xmlns:a="http://schemas.openxmlformats.org/drawingml/2006/main">
            <a:r>
              <a:t>- [json.html](https://docs.python.org/3/library/json.html)</a:t>
            </a:r>
          </a:p>
          <a:p xmlns:a="http://schemas.openxmlformats.org/drawingml/2006/main">
            <a:r>
              <a:t>- [pathlib.html](https://docs.python.org/3/library/pathlib.html)</a:t>
            </a:r>
          </a:p>
          <a:p xmlns:a="http://schemas.openxmlformats.org/drawingml/2006/main">
            <a:r>
              <a:t/>
            </a:r>
          </a:p>
          <a:p xmlns:a="http://schemas.openxmlformats.org/drawingml/2006/main">
            <a:r>
              <a:t>공식 동작은 2026-09-26 확인했습니다. 자체 합성 사례로 설명하며 현재 교실 환경이나 학습 효과를 실측한 결과는 아닙니다.</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https://zeusk302-png.github.io/kdigital-physical-ai/#/sessions/2026-10-15/lesson?activity=A18</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수락 건수는 숫자 건수와 다릅니다.</a:t>
            </a:r>
          </a:p>
          <a:p xmlns:a="http://schemas.openxmlformats.org/drawingml/2006/main">
            <a:r>
              <a:t>평균 없음과 실제 평균 0을 구별합니다.</a:t>
            </a:r>
          </a:p>
          <a:p xmlns:a="http://schemas.openxmlformats.org/drawingml/2006/main">
            <a:r>
              <a:t>파일명과 실행 범위를 함께 보고합니다.</a:t>
            </a:r>
          </a:p>
          <a:p xmlns:a="http://schemas.openxmlformats.org/drawingml/2006/main">
            <a:r>
              <a:t/>
            </a:r>
          </a:p>
          <a:p xmlns:a="http://schemas.openxmlformats.org/drawingml/2006/main">
            <a:r>
              <a:t>관련 교시의 상세 원문:</a:t>
            </a:r>
          </a:p>
          <a:p xmlns:a="http://schemas.openxmlformats.org/drawingml/2006/main">
            <a:r>
              <a:t>### 사례로 이해하기 · 분류 건수와 평균 분모를 보존하기</a:t>
            </a:r>
          </a:p>
          <a:p xmlns:a="http://schemas.openxmlformats.org/drawingml/2006/main">
            <a:r>
              <a:t/>
            </a:r>
          </a:p>
          <a:p xmlns:a="http://schemas.openxmlformats.org/drawingml/2006/main">
            <a:r>
              <a:t/>
            </a:r>
          </a:p>
          <a:p xmlns:a="http://schemas.openxmlformats.org/drawingml/2006/main">
            <a:r>
              <a:t/>
            </a:r>
          </a:p>
          <a:p xmlns:a="http://schemas.openxmlformats.org/drawingml/2006/main">
            <a:r>
              <a:t>로그 검사기를 넘겨받은 사람이 요약의 accepted를 실제 숫자 수라고 읽었습니다. 그러나 기존 검사기에서 accepted는 수치와 미측정을 합한 수락 건수입니다. 이름만 보고 뜻을 짐작하지 말고 각 항목의 정의와 계산 코드를 확인해야 합니다. 합성 원문 다섯 건은 “10”, 빈 문자열, “20”, “오류”, “0”입니다. 수치는 세 건, 미측정은 한 건, 이슈는 한 건입니다. 입력 전체와 분류된 부분이 빠짐없이 맞는지 검산합니다.</a:t>
            </a:r>
          </a:p>
          <a:p xmlns:a="http://schemas.openxmlformats.org/drawingml/2006/main">
            <a:r>
              <a:t/>
            </a:r>
          </a:p>
          <a:p xmlns:a="http://schemas.openxmlformats.org/drawingml/2006/main">
            <a:r>
              <a:t>이 프로그램의 관계는 input=accepted+issues, accepted=numeric+missing입니다. 다섯 건 사례에서는 5=4+1, 4=3+1입니다. 평균은 숫자 세 건의 합 10+20+0=30을 숫자 건수 3으로 나누어 10입니다. 수락 건수 4로 나누면 7.5가 되어 미측정을 0처럼 처리합니다. 이슈 건수까지 포함해 5로 나누면 6이 됩니다. 같은 원문에서 분모만 바꿔도 업무 의미가 바뀌므로 평균 대상과 건수를 함께 보고합니다.</a:t>
            </a:r>
          </a:p>
          <a:p xmlns:a="http://schemas.openxmlformats.org/drawingml/2006/main">
            <a:r>
              <a:t/>
            </a:r>
          </a:p>
          <a:p xmlns:a="http://schemas.openxmlformats.org/drawingml/2006/main">
            <a:r>
              <a:t>한 행의 추적은 원문→해석→분류→누적 순서입니다. 잘못된 글자가 나오면 이슈 목록에 원문을 남기고 continue로 다음 행으로 넘어갑니다. 문제 행이 수치 목록에도 들어가면 중복 분류가 되어 두 검산 관계가 깨질 수 있습니다. 모든 수치가 없을 때 평균은 None입니다. 0이라고 쓰면 실제 평균 0을 계산했다는 오해가 생깁니다. 헤더만 있는 입력은 전체 0건이고 모든 값이 빈 입력은 전체 기록은 있으나 수치가 0건입니다. 둘 다 평균이 없지만 같은 자료는 아닙니다. 결과 안내에는 입력 파일명·명령·실제 출력·미확인 범위·변경 이유를 남깁니다. 현재 검사는 합성 온도값 규칙을 확인하며 모든 필드나 센서의 실제 성능을 보증하지 않습니다.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원문은 “5”, “15”, 빈 문자열, “뜨거움”, 빈 문자열, “0”입니다. 전체·수치·미측정·이슈·수락 건수와 평균을 구하고 두 검산식을 쓰세요. 수치가 전혀 없는 경우의 평균 표현도 적으세요.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전체 6, 수치 3, 미측정 2, 이슈 1, 수락 5입니다. 6=5+1, 5=3+2이고 평균은 20÷3을 소수 둘째 자리로 반올림한 6.67입니다. 수치가 없으면 None입니다. 수락 5를 분모로 쓰면 4가 되어 미측정을 포함한 잘못된 평균입니다.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**수락 건수는 수치 건수인가요?** 이 검사기에서는 수치와 미측정을 합하므로 결과의 각 항목이 무엇을 세는지 확인합니다.</a:t>
            </a:r>
          </a:p>
          <a:p xmlns:a="http://schemas.openxmlformats.org/drawingml/2006/main">
            <a:r>
              <a:t/>
            </a:r>
          </a:p>
          <a:p xmlns:a="http://schemas.openxmlformats.org/drawingml/2006/main">
            <a:r>
              <a:t>2. **continue가 필요한 이유는?** 이슈로 분류한 행을 정상 처리로 보내지 않고 다음 행으로 넘어갑니다.</a:t>
            </a:r>
          </a:p>
          <a:p xmlns:a="http://schemas.openxmlformats.org/drawingml/2006/main">
            <a:r>
              <a:t/>
            </a:r>
          </a:p>
          <a:p xmlns:a="http://schemas.openxmlformats.org/drawingml/2006/main">
            <a:r>
              <a:t>3. **평균 None과 0은 같은가요?** None은 계산할 수치가 없음이며 0은 실제 수치 평균이 0이라는 값입니다.</a:t>
            </a:r>
          </a:p>
          <a:p xmlns:a="http://schemas.openxmlformats.org/drawingml/2006/main">
            <a:r>
              <a:t/>
            </a:r>
          </a:p>
          <a:p xmlns:a="http://schemas.openxmlformats.org/drawingml/2006/main">
            <a:r>
              <a:t/>
            </a:r>
          </a:p>
          <a:p xmlns:a="http://schemas.openxmlformats.org/drawingml/2006/main">
            <a:r>
              <a:t>**개념.** 검사기는 한 행씩 온도를 해석하여 정상 수치·미측정·이슈를 나눕니다. 함수는 한 값의 규칙을 담당하고 반복문은 여러 행에 같은 규칙을 적용합니다.</a:t>
            </a:r>
          </a:p>
          <a:p xmlns:a="http://schemas.openxmlformats.org/drawingml/2006/main">
            <a:r>
              <a:t/>
            </a:r>
          </a:p>
          <a:p xmlns:a="http://schemas.openxmlformats.org/drawingml/2006/main">
            <a:r>
              <a:t>**왜 필요한가.** 함수·파일·예외를 하나의 업무에 연결합니다. 긴 코드는 준비·정의·행 처리·집계·저장으로 나눠 추적합니다. 전체를 암기하거나 빈 편집기에서 다시 작성하는 것이 목표는 아닙니다.</a:t>
            </a:r>
          </a:p>
          <a:p xmlns:a="http://schemas.openxmlformats.org/drawingml/2006/main">
            <a:r>
              <a:t/>
            </a:r>
          </a:p>
          <a:p xmlns:a="http://schemas.openxmlformats.org/drawingml/2006/main">
            <a:r>
              <a:t>**함께 보는 예.** 실제 수치는 22.5·25.0·0.0으로 합 47.5,개수 3,평균 15.83입니다. 빈 온도 1건은 미측정,뜨거움과 51.0은 원문 이슈로 남깁니다.0도 실제 측정이므로 평균에 포함합니다.</a:t>
            </a:r>
          </a:p>
          <a:p xmlns:a="http://schemas.openxmlformats.org/drawingml/2006/main">
            <a:r>
              <a:t/>
            </a:r>
          </a:p>
          <a:p xmlns:a="http://schemas.openxmlformats.org/drawingml/2006/main">
            <a:r>
              <a:t>**헷갈리는 경우.** 평균이 낮아 보인다는 이유로 0을 빼지 않습니다. 입력 원문과 정해 둔 처리 규칙을 확인합니다. 이 프로그램은 온도 규칙에 집중하며 모든 필드와 실제 측정의 진위를 검사하지 않습니다.</a:t>
            </a:r>
          </a:p>
          <a:p xmlns:a="http://schemas.openxmlformats.org/drawingml/2006/main">
            <a:r>
              <a:t/>
            </a:r>
          </a:p>
          <a:p xmlns:a="http://schemas.openxmlformats.org/drawingml/2006/main">
            <a:r>
              <a:t>### 전체 코드</a:t>
            </a:r>
          </a:p>
          <a:p xmlns:a="http://schemas.openxmlformats.org/drawingml/2006/main">
            <a:r>
              <a:t/>
            </a:r>
          </a:p>
          <a:p xmlns:a="http://schemas.openxmlformats.org/drawingml/2006/main">
            <a:r>
              <a:t/>
            </a:r>
          </a:p>
          <a:p xmlns:a="http://schemas.openxmlformats.org/drawingml/2006/main">
            <a:r>
              <a:t>```python</a:t>
            </a:r>
          </a:p>
          <a:p xmlns:a="http://schemas.openxmlformats.org/drawingml/2006/main">
            <a:r>
              <a:t>import csv</a:t>
            </a:r>
          </a:p>
          <a:p xmlns:a="http://schemas.openxmlformats.org/drawingml/2006/main">
            <a:r>
              <a:t>import json</a:t>
            </a:r>
          </a:p>
          <a:p xmlns:a="http://schemas.openxmlformats.org/drawingml/2006/main">
            <a:r>
              <a:t>from pathlib import Path</a:t>
            </a:r>
          </a:p>
          <a:p xmlns:a="http://schemas.openxmlformats.org/drawingml/2006/main">
            <a:r>
              <a:t/>
            </a:r>
          </a:p>
          <a:p xmlns:a="http://schemas.openxmlformats.org/drawingml/2006/main">
            <a:r>
              <a:t>def parse_temperature(raw):</a:t>
            </a:r>
          </a:p>
          <a:p xmlns:a="http://schemas.openxmlformats.org/drawingml/2006/main">
            <a:r>
              <a:t>    if raw == "":</a:t>
            </a:r>
          </a:p>
          <a:p xmlns:a="http://schemas.openxmlformats.org/drawingml/2006/main">
            <a:r>
              <a:t>        return None</a:t>
            </a:r>
          </a:p>
          <a:p xmlns:a="http://schemas.openxmlformats.org/drawingml/2006/main">
            <a:r>
              <a:t>    value = float(raw)</a:t>
            </a:r>
          </a:p>
          <a:p xmlns:a="http://schemas.openxmlformats.org/drawingml/2006/main">
            <a:r>
              <a:t>    if value &lt; 0 or value &gt; 50:</a:t>
            </a:r>
          </a:p>
          <a:p xmlns:a="http://schemas.openxmlformats.org/drawingml/2006/main">
            <a:r>
              <a:t>        raise ValueError("범위 확인 필요")</a:t>
            </a:r>
          </a:p>
          <a:p xmlns:a="http://schemas.openxmlformats.org/drawingml/2006/main">
            <a:r>
              <a:t>    return value</a:t>
            </a:r>
          </a:p>
          <a:p xmlns:a="http://schemas.openxmlformats.org/drawingml/2006/main">
            <a:r>
              <a:t/>
            </a:r>
          </a:p>
          <a:p xmlns:a="http://schemas.openxmlformats.org/drawingml/2006/main">
            <a:r>
              <a:t>base = Path(__file__).resolve().parent.parent</a:t>
            </a:r>
          </a:p>
          <a:p xmlns:a="http://schemas.openxmlformats.org/drawingml/2006/main">
            <a:r>
              <a:t>source = base / "data" / "bad_readings.csv"</a:t>
            </a:r>
          </a:p>
          <a:p xmlns:a="http://schemas.openxmlformats.org/drawingml/2006/main">
            <a:r>
              <a:t>with source.open(encoding="utf-8", newline="") as file:</a:t>
            </a:r>
          </a:p>
          <a:p xmlns:a="http://schemas.openxmlformats.org/drawingml/2006/main">
            <a:r>
              <a:t>    rows = list(csv.DictReader(file))</a:t>
            </a:r>
          </a:p>
          <a:p xmlns:a="http://schemas.openxmlformats.org/drawingml/2006/main">
            <a:r>
              <a:t>numbers = []</a:t>
            </a:r>
          </a:p>
          <a:p xmlns:a="http://schemas.openxmlformats.org/drawingml/2006/main">
            <a:r>
              <a:t>issues = []</a:t>
            </a:r>
          </a:p>
          <a:p xmlns:a="http://schemas.openxmlformats.org/drawingml/2006/main">
            <a:r>
              <a:t>missing = 0</a:t>
            </a:r>
          </a:p>
          <a:p xmlns:a="http://schemas.openxmlformats.org/drawingml/2006/main">
            <a:r>
              <a:t>for row in rows:</a:t>
            </a:r>
          </a:p>
          <a:p xmlns:a="http://schemas.openxmlformats.org/drawingml/2006/main">
            <a:r>
              <a:t>    try:</a:t>
            </a:r>
          </a:p>
          <a:p xmlns:a="http://schemas.openxmlformats.org/drawingml/2006/main">
            <a:r>
              <a:t>        value = parse_temperature(row["temperature_c"])</a:t>
            </a:r>
          </a:p>
          <a:p xmlns:a="http://schemas.openxmlformats.org/drawingml/2006/main">
            <a:r>
              <a:t>    except ValueError:</a:t>
            </a:r>
          </a:p>
          <a:p xmlns:a="http://schemas.openxmlformats.org/drawingml/2006/main">
            <a:r>
              <a:t>        issues.append({"sensor_id": row["sensor_id"], "raw": row["temperature_c"]})</a:t>
            </a:r>
          </a:p>
          <a:p xmlns:a="http://schemas.openxmlformats.org/drawingml/2006/main">
            <a:r>
              <a:t>        continue</a:t>
            </a:r>
          </a:p>
          <a:p xmlns:a="http://schemas.openxmlformats.org/drawingml/2006/main">
            <a:r>
              <a:t>    if value is None:</a:t>
            </a:r>
          </a:p>
          <a:p xmlns:a="http://schemas.openxmlformats.org/drawingml/2006/main">
            <a:r>
              <a:t>        missing = missing + 1</a:t>
            </a:r>
          </a:p>
          <a:p xmlns:a="http://schemas.openxmlformats.org/drawingml/2006/main">
            <a:r>
              <a:t>    else:</a:t>
            </a:r>
          </a:p>
          <a:p xmlns:a="http://schemas.openxmlformats.org/drawingml/2006/main">
            <a:r>
              <a:t>        numbers.append(value)</a:t>
            </a:r>
          </a:p>
          <a:p xmlns:a="http://schemas.openxmlformats.org/drawingml/2006/main">
            <a:r>
              <a:t>average = None</a:t>
            </a:r>
          </a:p>
          <a:p xmlns:a="http://schemas.openxmlformats.org/drawingml/2006/main">
            <a:r>
              <a:t>if len(numbers) &gt; 0:</a:t>
            </a:r>
          </a:p>
          <a:p xmlns:a="http://schemas.openxmlformats.org/drawingml/2006/main">
            <a:r>
              <a:t>    average = round(sum(numbers) / len(numbers), 2)</a:t>
            </a:r>
          </a:p>
          <a:p xmlns:a="http://schemas.openxmlformats.org/drawingml/2006/main">
            <a:r>
              <a:t>summary = {"input": len(rows), "accepted": len(numbers) + missing,</a:t>
            </a:r>
          </a:p>
          <a:p xmlns:a="http://schemas.openxmlformats.org/drawingml/2006/main">
            <a:r>
              <a:t>           "missing": missing, "issues": len(issues), "average": average}</a:t>
            </a:r>
          </a:p>
          <a:p xmlns:a="http://schemas.openxmlformats.org/drawingml/2006/main">
            <a:r>
              <a:t>(base / "work" / "check_summary.json").write_text(</a:t>
            </a:r>
          </a:p>
          <a:p xmlns:a="http://schemas.openxmlformats.org/drawingml/2006/main">
            <a:r>
              <a:t>    json.dumps(summary, ensure_ascii=False, indent=2), encoding="utf-8")</a:t>
            </a:r>
          </a:p>
          <a:p xmlns:a="http://schemas.openxmlformats.org/drawingml/2006/main">
            <a:r>
              <a:t>(base / "work" / "check_issues.json").write_text(</a:t>
            </a:r>
          </a:p>
          <a:p xmlns:a="http://schemas.openxmlformats.org/drawingml/2006/main">
            <a:r>
              <a:t>    json.dumps(issues, ensure_ascii=False, indent=2), encoding="utf-8")</a:t>
            </a:r>
          </a:p>
          <a:p xmlns:a="http://schemas.openxmlformats.org/drawingml/2006/main">
            <a:r>
              <a:t>print(summary["input"], summary["accepted"], summary["missing"], summary["issues"])</a:t>
            </a:r>
          </a:p>
          <a:p xmlns:a="http://schemas.openxmlformats.org/drawingml/2006/main">
            <a:r>
              <a:t>print(summary["average"])</a:t>
            </a:r>
          </a:p>
          <a:p xmlns:a="http://schemas.openxmlformats.org/drawingml/2006/main">
            <a:r>
              <a:t>```</a:t>
            </a:r>
          </a:p>
          <a:p xmlns:a="http://schemas.openxmlformats.org/drawingml/2006/main">
            <a:r>
              <a:t/>
            </a:r>
          </a:p>
          <a:p xmlns:a="http://schemas.openxmlformats.org/drawingml/2006/main">
            <a:r>
              <a:t>### 각 줄의 뜻</a:t>
            </a:r>
          </a:p>
          <a:p xmlns:a="http://schemas.openxmlformats.org/drawingml/2006/main">
            <a:r>
              <a:t/>
            </a:r>
          </a:p>
          <a:p xmlns:a="http://schemas.openxmlformats.org/drawingml/2006/main">
            <a:r>
              <a:t>| 줄 | 코드 | 뜻 |</a:t>
            </a:r>
          </a:p>
          <a:p xmlns:a="http://schemas.openxmlformats.org/drawingml/2006/main">
            <a:r>
              <a:t>| --- | --- | --- |</a:t>
            </a:r>
          </a:p>
          <a:p xmlns:a="http://schemas.openxmlformats.org/drawingml/2006/main">
            <a:r>
              <a:t>| 1 | `import csv` | CSV 도구를 가져옵니다. |</a:t>
            </a:r>
          </a:p>
          <a:p xmlns:a="http://schemas.openxmlformats.org/drawingml/2006/main">
            <a:r>
              <a:t>| 2 | `import json` | JSON 도구를 가져옵니다. |</a:t>
            </a:r>
          </a:p>
          <a:p xmlns:a="http://schemas.openxmlformats.org/drawingml/2006/main">
            <a:r>
              <a:t>| 3 | `from pathlib import Path` | 경로 도구를 가져옵니다. |</a:t>
            </a:r>
          </a:p>
          <a:p xmlns:a="http://schemas.openxmlformats.org/drawingml/2006/main">
            <a:r>
              <a:t>| 4 | `` | 정의 부분을 나누는 빈 줄입니다. |</a:t>
            </a:r>
          </a:p>
          <a:p xmlns:a="http://schemas.openxmlformats.org/drawingml/2006/main">
            <a:r>
              <a:t>| 5 | `def parse_temperature(raw):` | 온도 해석 함수를 정의합니다. |</a:t>
            </a:r>
          </a:p>
          <a:p xmlns:a="http://schemas.openxmlformats.org/drawingml/2006/main">
            <a:r>
              <a:t>| 6 | `    if raw == "":` | 빈칸인지 확인합니다. |</a:t>
            </a:r>
          </a:p>
          <a:p xmlns:a="http://schemas.openxmlformats.org/drawingml/2006/main">
            <a:r>
              <a:t>| 7 | `        return None` | 미측정을 반환합니다. |</a:t>
            </a:r>
          </a:p>
          <a:p xmlns:a="http://schemas.openxmlformats.org/drawingml/2006/main">
            <a:r>
              <a:t>| 8 | `    value = float(raw)` | 숫자로 변환합니다. |</a:t>
            </a:r>
          </a:p>
          <a:p xmlns:a="http://schemas.openxmlformats.org/drawingml/2006/main">
            <a:r>
              <a:t>| 9 | `    if value &lt; 0 or value &gt; 50:` | 범위를 확인합니다. |</a:t>
            </a:r>
          </a:p>
          <a:p xmlns:a="http://schemas.openxmlformats.org/drawingml/2006/main">
            <a:r>
              <a:t>| 10 | `        raise ValueError("범위 확인 필요")` | 범위 문제를 알립니다. |</a:t>
            </a:r>
          </a:p>
          <a:p xmlns:a="http://schemas.openxmlformats.org/drawingml/2006/main">
            <a:r>
              <a:t>| 11 | `    return value` | 유효 숫자를 반환합니다. |</a:t>
            </a:r>
          </a:p>
          <a:p xmlns:a="http://schemas.openxmlformats.org/drawingml/2006/main">
            <a:r>
              <a:t>| 12 | `` | 정의와 실행을 나눕니다. |</a:t>
            </a:r>
          </a:p>
          <a:p xmlns:a="http://schemas.openxmlformats.org/drawingml/2006/main">
            <a:r>
              <a:t>| 13 | `base = Path(__file__).resolve().parent.parent` | course 주소를 정합니다. |</a:t>
            </a:r>
          </a:p>
          <a:p xmlns:a="http://schemas.openxmlformats.org/drawingml/2006/main">
            <a:r>
              <a:t>| 14 | `source = base / "data" / "bad_readings.csv"` | 입력 파일을 선택합니다. |</a:t>
            </a:r>
          </a:p>
          <a:p xmlns:a="http://schemas.openxmlformats.org/drawingml/2006/main">
            <a:r>
              <a:t>| 15 | `with source.open(encoding="utf-8", newline="") as file:` | 입력 파일을 엽니다. |</a:t>
            </a:r>
          </a:p>
          <a:p xmlns:a="http://schemas.openxmlformats.org/drawingml/2006/main">
            <a:r>
              <a:t>| 16 | `    rows = list(csv.DictReader(file))` | 헤더 키로 행을 읽습니다. |</a:t>
            </a:r>
          </a:p>
          <a:p xmlns:a="http://schemas.openxmlformats.org/drawingml/2006/main">
            <a:r>
              <a:t>| 17 | `numbers = []` | 숫자 목록을 준비합니다. |</a:t>
            </a:r>
          </a:p>
          <a:p xmlns:a="http://schemas.openxmlformats.org/drawingml/2006/main">
            <a:r>
              <a:t>| 18 | `issues = []` | 이슈 목록을 준비합니다. |</a:t>
            </a:r>
          </a:p>
          <a:p xmlns:a="http://schemas.openxmlformats.org/drawingml/2006/main">
            <a:r>
              <a:t>| 19 | `missing = 0` | 미측정 개수를 준비합니다. |</a:t>
            </a:r>
          </a:p>
          <a:p xmlns:a="http://schemas.openxmlformats.org/drawingml/2006/main">
            <a:r>
              <a:t>| 20 | `for row in rows:` | 한 행씩 처리합니다. |</a:t>
            </a:r>
          </a:p>
          <a:p xmlns:a="http://schemas.openxmlformats.org/drawingml/2006/main">
            <a:r>
              <a:t>| 21 | `    try:` | 해석을 시도합니다. |</a:t>
            </a:r>
          </a:p>
          <a:p xmlns:a="http://schemas.openxmlformats.org/drawingml/2006/main">
            <a:r>
              <a:t>| 22 | `        value = parse_temperature(row["temperature_c"])` | 이번 온도 원문을 함수에 줍니다. |</a:t>
            </a:r>
          </a:p>
          <a:p xmlns:a="http://schemas.openxmlformats.org/drawingml/2006/main">
            <a:r>
              <a:t>| 23 | `    except ValueError:` | 변환·범위 오류를 처리합니다. |</a:t>
            </a:r>
          </a:p>
          <a:p xmlns:a="http://schemas.openxmlformats.org/drawingml/2006/main">
            <a:r>
              <a:t>| 24 | `        issues.append({"sensor_id": row["sensor_id"], "raw": row["temperature_c"]})` | 센서명과 원문을 이슈로 보존합니다. |</a:t>
            </a:r>
          </a:p>
          <a:p xmlns:a="http://schemas.openxmlformats.org/drawingml/2006/main">
            <a:r>
              <a:t>| 25 | `        continue` | 다음 행으로 넘어갑니다. |</a:t>
            </a:r>
          </a:p>
          <a:p xmlns:a="http://schemas.openxmlformats.org/drawingml/2006/main">
            <a:r>
              <a:t>| 26 | `    if value is None:` | 미측정을 구별합니다. |</a:t>
            </a:r>
          </a:p>
          <a:p xmlns:a="http://schemas.openxmlformats.org/drawingml/2006/main">
            <a:r>
              <a:t>| 27 | `        missing = missing + 1` | 미측정 개수를 늘립니다. |</a:t>
            </a:r>
          </a:p>
          <a:p xmlns:a="http://schemas.openxmlformats.org/drawingml/2006/main">
            <a:r>
              <a:t>| 28 | `    else:` | 숫자인 경우입니다. |</a:t>
            </a:r>
          </a:p>
          <a:p xmlns:a="http://schemas.openxmlformats.org/drawingml/2006/main">
            <a:r>
              <a:t>| 29 | `        numbers.append(value)` | 수치 목록에 넣습니다. |</a:t>
            </a:r>
          </a:p>
          <a:p xmlns:a="http://schemas.openxmlformats.org/drawingml/2006/main">
            <a:r>
              <a:t>| 30 | `average = None` | 수치가 없을 때의 평균을 준비합니다. |</a:t>
            </a:r>
          </a:p>
          <a:p xmlns:a="http://schemas.openxmlformats.org/drawingml/2006/main">
            <a:r>
              <a:t>| 31 | `if len(numbers) &gt; 0:` | 숫자가 있을 때만 계산합니다. |</a:t>
            </a:r>
          </a:p>
          <a:p xmlns:a="http://schemas.openxmlformats.org/drawingml/2006/main">
            <a:r>
              <a:t>| 32 | `    average = round(sum(numbers) / len(numbers), 2)` | 실제 수치 개수로 나누어 반올림합니다. |</a:t>
            </a:r>
          </a:p>
          <a:p xmlns:a="http://schemas.openxmlformats.org/drawingml/2006/main">
            <a:r>
              <a:t>| 33 | `summary = {"input": len(rows), "accepted": len(numbers) + missing,` | 입력·수락 건수로 요약을 시작합니다. |</a:t>
            </a:r>
          </a:p>
          <a:p xmlns:a="http://schemas.openxmlformats.org/drawingml/2006/main">
            <a:r>
              <a:t>| 34 | `           "missing": missing, "issues": len(issues), "average": average}` | 미측정·이슈·평균을 포함합니다. |</a:t>
            </a:r>
          </a:p>
          <a:p xmlns:a="http://schemas.openxmlformats.org/drawingml/2006/main">
            <a:r>
              <a:t>| 35 | `(base / "work" / "check_summary.json").write_text(` | 요약 파일 쓰기를 시작합니다. |</a:t>
            </a:r>
          </a:p>
          <a:p xmlns:a="http://schemas.openxmlformats.org/drawingml/2006/main">
            <a:r>
              <a:t>| 36 | `    json.dumps(summary, ensure_ascii=False, indent=2), encoding="utf-8")` | JSON과 UTF-8로 저장합니다. |</a:t>
            </a:r>
          </a:p>
          <a:p xmlns:a="http://schemas.openxmlformats.org/drawingml/2006/main">
            <a:r>
              <a:t>| 37 | `(base / "work" / "check_issues.json").write_text(` | 이슈 파일 쓰기를 시작합니다. |</a:t>
            </a:r>
          </a:p>
          <a:p xmlns:a="http://schemas.openxmlformats.org/drawingml/2006/main">
            <a:r>
              <a:t>| 38 | `    json.dumps(issues, ensure_ascii=False, indent=2), encoding="utf-8")` | 이슈 원문을 JSON으로 저장합니다. |</a:t>
            </a:r>
          </a:p>
          <a:p xmlns:a="http://schemas.openxmlformats.org/drawingml/2006/main">
            <a:r>
              <a:t>| 39 | `print(summary["input"], summary["accepted"], summary["missing"], summary["issues"])` | 집계 네 개를 보여 줍니다. |</a:t>
            </a:r>
          </a:p>
          <a:p xmlns:a="http://schemas.openxmlformats.org/drawingml/2006/main">
            <a:r>
              <a:t>| 40 | `print(summary["average"])` | 평균 또는 None을 보여 줍니다. |</a:t>
            </a:r>
          </a:p>
          <a:p xmlns:a="http://schemas.openxmlformats.org/drawingml/2006/main">
            <a:r>
              <a:t/>
            </a:r>
          </a:p>
          <a:p xmlns:a="http://schemas.openxmlformats.org/drawingml/2006/main">
            <a:r>
              <a:t>### 실행과 예상 출력</a:t>
            </a:r>
          </a:p>
          <a:p xmlns:a="http://schemas.openxmlformats.org/drawingml/2006/main">
            <a:r>
              <a:t/>
            </a:r>
          </a:p>
          <a:p xmlns:a="http://schemas.openxmlformats.org/drawingml/2006/main">
            <a:r>
              <a:t>현재 위치가 압축을 푼 course 폴더일 때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code/A16_log_checker.py</a:t>
            </a:r>
          </a:p>
          <a:p xmlns:a="http://schemas.openxmlformats.org/drawingml/2006/main">
            <a:r>
              <a:t>```</a:t>
            </a:r>
          </a:p>
          <a:p xmlns:a="http://schemas.openxmlformats.org/drawingml/2006/main">
            <a:r>
              <a:t/>
            </a:r>
          </a:p>
          <a:p xmlns:a="http://schemas.openxmlformats.org/drawingml/2006/main">
            <a:r>
              <a:t>수정한 작업본은 다음 명령으로 실행합니다.</a:t>
            </a:r>
          </a:p>
          <a:p xmlns:a="http://schemas.openxmlformats.org/drawingml/2006/main">
            <a:r>
              <a:t/>
            </a:r>
          </a:p>
          <a:p xmlns:a="http://schemas.openxmlformats.org/drawingml/2006/main">
            <a:r>
              <a:t/>
            </a:r>
          </a:p>
          <a:p xmlns:a="http://schemas.openxmlformats.org/drawingml/2006/main">
            <a:r>
              <a:t>```text</a:t>
            </a:r>
          </a:p>
          <a:p xmlns:a="http://schemas.openxmlformats.org/drawingml/2006/main">
            <a:r>
              <a:t>python -X utf8 work/A16_log_checker.py</a:t>
            </a:r>
          </a:p>
          <a:p xmlns:a="http://schemas.openxmlformats.org/drawingml/2006/main">
            <a:r>
              <a:t>```</a:t>
            </a:r>
          </a:p>
          <a:p xmlns:a="http://schemas.openxmlformats.org/drawingml/2006/main">
            <a:r>
              <a:t/>
            </a:r>
          </a:p>
          <a:p xmlns:a="http://schemas.openxmlformats.org/drawingml/2006/main">
            <a:r>
              <a:t>원본 코드의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6 4 1 2</a:t>
            </a:r>
          </a:p>
          <a:p xmlns:a="http://schemas.openxmlformats.org/drawingml/2006/main">
            <a:r>
              <a:t>15.83</a:t>
            </a:r>
          </a:p>
          <a:p xmlns:a="http://schemas.openxmlformats.org/drawingml/2006/main">
            <a:r>
              <a:t>```</a:t>
            </a:r>
          </a:p>
          <a:p xmlns:a="http://schemas.openxmlformats.org/drawingml/2006/main">
            <a:r>
              <a:t/>
            </a:r>
          </a:p>
          <a:p xmlns:a="http://schemas.openxmlformats.org/drawingml/2006/main">
            <a:r>
              <a:t>작은 수정: `"bad_readings.csv"`를 `"readings.csv"`로 바꿉니다.</a:t>
            </a:r>
          </a:p>
          <a:p xmlns:a="http://schemas.openxmlformats.org/drawingml/2006/main">
            <a:r>
              <a:t/>
            </a:r>
          </a:p>
          <a:p xmlns:a="http://schemas.openxmlformats.org/drawingml/2006/main">
            <a:r>
              <a:t>수정 후 예상 출력:</a:t>
            </a:r>
          </a:p>
          <a:p xmlns:a="http://schemas.openxmlformats.org/drawingml/2006/main">
            <a:r>
              <a:t/>
            </a:r>
          </a:p>
          <a:p xmlns:a="http://schemas.openxmlformats.org/drawingml/2006/main">
            <a:r>
              <a:t/>
            </a:r>
          </a:p>
          <a:p xmlns:a="http://schemas.openxmlformats.org/drawingml/2006/main">
            <a:r>
              <a:t>```text</a:t>
            </a:r>
          </a:p>
          <a:p xmlns:a="http://schemas.openxmlformats.org/drawingml/2006/main">
            <a:r>
              <a:t>4 4 1 0</a:t>
            </a:r>
          </a:p>
          <a:p xmlns:a="http://schemas.openxmlformats.org/drawingml/2006/main">
            <a:r>
              <a:t>15.83</a:t>
            </a:r>
          </a:p>
          <a:p xmlns:a="http://schemas.openxmlformats.org/drawingml/2006/main">
            <a:r>
              <a:t>```</a:t>
            </a:r>
          </a:p>
          <a:p xmlns:a="http://schemas.openxmlformats.org/drawingml/2006/main">
            <a:r>
              <a:t/>
            </a:r>
          </a:p>
          <a:p xmlns:a="http://schemas.openxmlformats.org/drawingml/2006/main">
            <a:r>
              <a:t/>
            </a:r>
          </a:p>
          <a:p xmlns:a="http://schemas.openxmlformats.org/drawingml/2006/main">
            <a:r>
              <a:t>### 학생 적용</a:t>
            </a:r>
          </a:p>
          <a:p xmlns:a="http://schemas.openxmlformats.org/drawingml/2006/main">
            <a:r>
              <a:t/>
            </a:r>
          </a:p>
          <a:p xmlns:a="http://schemas.openxmlformats.org/drawingml/2006/main">
            <a:r>
              <a:t>1. 전체 코드를 역할별 다섯 구간으로 표시합니다.</a:t>
            </a:r>
          </a:p>
          <a:p xmlns:a="http://schemas.openxmlformats.org/drawingml/2006/main">
            <a:r>
              <a:t>2. 건수와 평균을 손으로 먼저 확인합니다.</a:t>
            </a:r>
          </a:p>
          <a:p xmlns:a="http://schemas.openxmlformats.org/drawingml/2006/main">
            <a:r>
              <a:t>3. 실행 뒤 결과 JSON 두 개를 엽니다.</a:t>
            </a:r>
          </a:p>
          <a:p xmlns:a="http://schemas.openxmlformats.org/drawingml/2006/main">
            <a:r>
              <a:t>4. 입력 파일명만 readings.csv로 바꿔 비교합니다.</a:t>
            </a:r>
          </a:p>
          <a:p xmlns:a="http://schemas.openxmlformats.org/drawingml/2006/main">
            <a:r>
              <a:t/>
            </a:r>
          </a:p>
          <a:p xmlns:a="http://schemas.openxmlformats.org/drawingml/2006/main">
            <a:r>
              <a:t>예상 결과: 오류 포함 6/4/1/2,정상 4/4/1/0. 평균은 모두 15.83.</a:t>
            </a:r>
          </a:p>
          <a:p xmlns:a="http://schemas.openxmlformats.org/drawingml/2006/main">
            <a:r>
              <a:t/>
            </a:r>
          </a:p>
          <a:p xmlns:a="http://schemas.openxmlformats.org/drawingml/2006/main">
            <a:r>
              <a:t>확인 질문: continue의 역할은 무엇인가요?</a:t>
            </a:r>
          </a:p>
          <a:p xmlns:a="http://schemas.openxmlformats.org/drawingml/2006/main">
            <a:r>
              <a:t/>
            </a:r>
          </a:p>
          <a:p xmlns:a="http://schemas.openxmlformats.org/drawingml/2006/main">
            <a:r>
              <a:t>막혔을 때: 한 행의 원문→함수→분류를 먼저 추적합니다. 여러 곳을 동시에 바꾸지 않습니다.</a:t>
            </a:r>
          </a:p>
          <a:p xmlns:a="http://schemas.openxmlformats.org/drawingml/2006/main">
            <a:r>
              <a:t/>
            </a:r>
          </a:p>
          <a:p xmlns:a="http://schemas.openxmlformats.org/drawingml/2006/main">
            <a:r>
              <a:t>[활동 자료와 작성칸](practice-guide.md#a16--로그-검사기-전체-흐름)에서 A16를 엽니다.</a:t>
            </a:r>
          </a:p>
          <a:p xmlns:a="http://schemas.openxmlformats.org/drawingml/2006/main">
            <a:r>
              <a:t/>
            </a:r>
          </a:p>
          <a:p xmlns:a="http://schemas.openxmlformats.org/drawingml/2006/main">
            <a:r>
              <a:t>### 중간 확인과 다음 활동 합류</a:t>
            </a:r>
          </a:p>
          <a:p xmlns:a="http://schemas.openxmlformats.org/drawingml/2006/main">
            <a:r>
              <a:t/>
            </a:r>
          </a:p>
          <a:p xmlns:a="http://schemas.openxmlformats.org/drawingml/2006/main">
            <a:r>
              <a:t>- 함께 확인할 증거: readings.csv의 정상 숫자 한 건과 missing_readings.csv의 미측정 한 건을 따라 읽고, 0은 숫자·미측정은 평균 대상이 아님을 설명합니다.</a:t>
            </a:r>
          </a:p>
          <a:p xmlns:a="http://schemas.openxmlformats.org/drawingml/2006/main">
            <a:r>
              <a:t>- 남은 작업: A16의 전체 구간 표시는 A16_notes.md, 네 입력 비교는 A17_notes.md에 미완료 항목을 표시하고 이어서 완성합니다. 이미 작성한 결과를 지우지 않습니다.</a:t>
            </a:r>
          </a:p>
          <a:p xmlns:a="http://schemas.openxmlformats.org/drawingml/2006/main">
            <a:r>
              <a:t>- 다음 입력: 제공된 work/A16_log_checker.py를 그대로 출발점으로 사용하고 A17에서 CSV 이름만 교체합니다. 실행이 막히면 solutions/A16_answer.md와 A17_answer.md의 제공 결과를 **관찰**로 기록하고 A18 인수인계에 미완료를 남깁니다.</a:t>
            </a:r>
          </a:p>
          <a:p xmlns:a="http://schemas.openxmlformats.org/drawingml/2006/main">
            <a:r>
              <a:t/>
            </a:r>
          </a:p>
          <a:p xmlns:a="http://schemas.openxmlformats.org/drawingml/2006/main">
            <a:r>
              <a:t>화면 예의 출처: D:/KDigital_PhysicalAI/.build/copyedited-ppt/spec-2026-10-15.json#slide-87; D:\KDigital_PhysicalAI\outputs\2026-10-15\lesson.md</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https://docs.python.org/3/tutorial/inputoutput.html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Python 심화 확인과 평가</a:t>
            </a:r>
          </a:p>
          <a:p xmlns:a="http://schemas.openxmlformats.org/drawingml/2006/main">
            <a:r>
              <a:t/>
            </a:r>
          </a:p>
          <a:p xmlns:a="http://schemas.openxmlformats.org/drawingml/2006/main">
            <a:r>
              <a:t>**18활동의 작성·예상·실제 확인을 분리해 봅니다. 속도나 설치 성공만 평가하지 않습니다.**</a:t>
            </a:r>
          </a:p>
          <a:p xmlns:a="http://schemas.openxmlformats.org/drawingml/2006/main">
            <a:r>
              <a:t/>
            </a:r>
          </a:p>
          <a:p xmlns:a="http://schemas.openxmlformats.org/drawingml/2006/main">
            <a:r>
              <a:t>| 기준 | 확인할 증거 | 보완이 필요한 경우 |</a:t>
            </a:r>
          </a:p>
          <a:p xmlns:a="http://schemas.openxmlformats.org/drawingml/2006/main">
            <a:r>
              <a:t>| --- | --- | --- |</a:t>
            </a:r>
          </a:p>
          <a:p xmlns:a="http://schemas.openxmlformats.org/drawingml/2006/main">
            <a:r>
              <a:t>| 개념 | 입력·처리·출력 또는 변경 단계의 역할 설명 | 결과 이름만 외우고 근거를 말하지 못함 |</a:t>
            </a:r>
          </a:p>
          <a:p xmlns:a="http://schemas.openxmlformats.org/drawingml/2006/main">
            <a:r>
              <a:t>| 수정 | 지정한 위치와 변경 전후를 연결 | 여러 곳을 바꾸어 원인을 설명하지 못함 |</a:t>
            </a:r>
          </a:p>
          <a:p xmlns:a="http://schemas.openxmlformats.org/drawingml/2006/main">
            <a:r>
              <a:t>| 확인 | 정상·경계·오류 사례의 예상과 실제 구별 | 실행 성공을 내용 정확성으로 단정 |</a:t>
            </a:r>
          </a:p>
          <a:p xmlns:a="http://schemas.openxmlformats.org/drawingml/2006/main">
            <a:r>
              <a:t>| 전달 | 파일·명령·결과·남은 질문을 재현 가능하게 기록 | 어느 파일을 사용했는지 불명확 |</a:t>
            </a:r>
          </a:p>
          <a:p xmlns:a="http://schemas.openxmlformats.org/drawingml/2006/main">
            <a:r>
              <a:t/>
            </a:r>
          </a:p>
          <a:p xmlns:a="http://schemas.openxmlformats.org/drawingml/2006/main">
            <a:r>
              <a:t>각 항목은 ‘혼자 설명할 수 있음 / 힌트를 받으면 설명할 수 있음 / 다시 연습 필요’로 표시합니다. 직접 실행했는지도 따로 확인합니다. 실행하지 못했더라도 답과 설명으로 이해한 내용을 확인합니다.</a:t>
            </a:r>
          </a:p>
          <a:p xmlns:a="http://schemas.openxmlformats.org/drawingml/2006/main">
            <a:r>
              <a:t/>
            </a:r>
          </a:p>
          <a:p xmlns:a="http://schemas.openxmlformats.org/drawingml/2006/main">
            <a:r>
              <a:t>## 구간별 확인 질문</a:t>
            </a:r>
          </a:p>
          <a:p xmlns:a="http://schemas.openxmlformats.org/drawingml/2006/main">
            <a:r>
              <a:t/>
            </a:r>
          </a:p>
          <a:p xmlns:a="http://schemas.openxmlformats.org/drawingml/2006/main">
            <a:r>
              <a:t>1. value는 모든 호출에서 같은 값을 뜻하나요?</a:t>
            </a:r>
          </a:p>
          <a:p xmlns:a="http://schemas.openxmlformats.org/drawingml/2006/main">
            <a:r>
              <a:t>2. 20과 30만 확인하면 놓칠 수 있는 실수는 무엇인가요?</a:t>
            </a:r>
          </a:p>
          <a:p xmlns:a="http://schemas.openxmlformats.org/drawingml/2006/main">
            <a:r>
              <a:t>3. print와 write_text는 같은 행동인가요?</a:t>
            </a:r>
          </a:p>
          <a:p xmlns:a="http://schemas.openxmlformats.org/drawingml/2006/main">
            <a:r>
              <a:t>4. except를 실행하면 실제 온도를 알아낸 것인가요?</a:t>
            </a:r>
          </a:p>
          <a:p xmlns:a="http://schemas.openxmlformats.org/drawingml/2006/main">
            <a:r>
              <a:t>5. 미측정도 분모에 넣어 4로 나누면 무엇이 바뀌나요?</a:t>
            </a:r>
          </a:p>
          <a:p xmlns:a="http://schemas.openxmlformats.org/drawingml/2006/main">
            <a:r>
              <a:t>6. 이슈 0건이라는 결과만 남기면 무엇이 부족한가요?</a:t>
            </a:r>
          </a:p>
          <a:p xmlns:a="http://schemas.openxmlformats.org/drawingml/2006/main">
            <a:r>
              <a:t/>
            </a:r>
          </a:p>
          <a:p xmlns:a="http://schemas.openxmlformats.org/drawingml/2006/main">
            <a:r>
              <a:t>## 제출</a:t>
            </a:r>
          </a:p>
          <a:p xmlns:a="http://schemas.openxmlformats.org/drawingml/2006/main">
            <a:r>
              <a:t/>
            </a:r>
          </a:p>
          <a:p xmlns:a="http://schemas.openxmlformats.org/drawingml/2006/main">
            <a:r>
              <a:t>work의 활동 노트와 수정 파일, 마지막 종합 작업, 확인한 명령·출력 또는 수동 추적 기록을 제출합니다. 기관 제출 위치는 미확인입니다. 정답 폴더를 학생 결과에 복사하지 않습니다.</a:t>
            </a:r>
          </a:p>
          <a:p xmlns:a="http://schemas.openxmlformats.org/drawingml/2006/main">
            <a:r>
              <a:t/>
            </a:r>
          </a:p>
          <a:p xmlns:a="http://schemas.openxmlformats.org/drawingml/2006/main">
            <a:r>
              <a:t/>
            </a:r>
          </a:p>
          <a:p xmlns:a="http://schemas.openxmlformats.org/drawingml/2006/main">
            <a:r>
              <a:t>## 다른 사례로 연습하기</a:t>
            </a:r>
          </a:p>
          <a:p xmlns:a="http://schemas.openxmlformats.org/drawingml/2006/main">
            <a:r>
              <a:t/>
            </a:r>
          </a:p>
          <a:p xmlns:a="http://schemas.openxmlformats.org/drawingml/2006/main">
            <a:r>
              <a:t>아래 여섯 문제는 추가 복습용입니다. 풀이를 보기 전에 답과 그렇게 생각한 이유를 적으세요. 프로그램 설치 여부와 별개로 내용을 이해했는지 확인하는 문제입니다.</a:t>
            </a:r>
          </a:p>
          <a:p xmlns:a="http://schemas.openxmlformats.org/drawingml/2006/main">
            <a:r>
              <a:t/>
            </a:r>
          </a:p>
          <a:p xmlns:a="http://schemas.openxmlformats.org/drawingml/2006/main">
            <a:r>
              <a:t>### 문제 1 · 함수가 받을 값과 돌려줄 결과 정하기</a:t>
            </a:r>
          </a:p>
          <a:p xmlns:a="http://schemas.openxmlformats.org/drawingml/2006/main">
            <a:r>
              <a:t/>
            </a:r>
          </a:p>
          <a:p xmlns:a="http://schemas.openxmlformats.org/drawingml/2006/main">
            <a:r>
              <a:t>복습·도전: 물품 라벨에 상품명과 보관함을 받아 ‘장갑 / B02’처럼 한 문자열을 만드는 작업을 설계하세요. 입력 자리 두 개, 반환할 종류, 순서를 바꿨을 때 생길 문제를 문장으로 쓰세요. 첫 입력은 장갑/B02, 둘째 입력은 마스크/A01입니다. 이 두 호출의 결과를 예상하세요.</a:t>
            </a:r>
          </a:p>
          <a:p xmlns:a="http://schemas.openxmlformats.org/drawingml/2006/main">
            <a:r>
              <a:t/>
            </a:r>
          </a:p>
          <a:p xmlns:a="http://schemas.openxmlformats.org/drawingml/2006/main">
            <a:r>
              <a:t>**정답·해설:** 입력은 상품명·보관함 문자열, 결과는 두 내용을 순서대로 연결한 문자열입니다. 장갑/B02와 마스크/A01의 결과는 각 입력에 따라 달라집니다. 순서를 바꾸면 B02 / 장갑처럼 업무 양식이 달라집니다. 컴퓨터가 이름의 뜻을 추측해 입력 위치를 고쳐 준다는 답은 오답입니다.</a:t>
            </a:r>
          </a:p>
          <a:p xmlns:a="http://schemas.openxmlformats.org/drawingml/2006/main">
            <a:r>
              <a:t/>
            </a:r>
          </a:p>
          <a:p xmlns:a="http://schemas.openxmlformats.org/drawingml/2006/main">
            <a:r>
              <a:t>### 문제 2 · 화면 표시와 다음 계산의 반환값 구별하기</a:t>
            </a:r>
          </a:p>
          <a:p xmlns:a="http://schemas.openxmlformats.org/drawingml/2006/main">
            <a:r>
              <a:t/>
            </a:r>
          </a:p>
          <a:p xmlns:a="http://schemas.openxmlformats.org/drawingml/2006/main">
            <a:r>
              <a:t>복습·도전: 배송 준비 함수는 포장비 500원을 화면에 표시하지만 반환문이 없습니다. 호출 결과를 fee에 연결한 뒤 총액 3000에 더하려 합니다. 화면값·fee 값·다음 계산을 분리해 설명하고 올바른 역할 배치를 문장으로 설계하세요.</a:t>
            </a:r>
          </a:p>
          <a:p xmlns:a="http://schemas.openxmlformats.org/drawingml/2006/main">
            <a:r>
              <a:t/>
            </a:r>
          </a:p>
          <a:p xmlns:a="http://schemas.openxmlformats.org/drawingml/2006/main">
            <a:r>
              <a:t>**정답·해설:** 화면에는 500이 보이지만 fee는 None이며 다음 덧셈은 TypeError가 날 수 있습니다. 함수가 500을 반환하고 호출자가 총액에 더한 뒤 표시하도록 설계합니다. 화면에 500이 보이므로 fee도 500이라는 답은 표시와 반환을 혼동한 것입니다.</a:t>
            </a:r>
          </a:p>
          <a:p xmlns:a="http://schemas.openxmlformats.org/drawingml/2006/main">
            <a:r>
              <a:t/>
            </a:r>
          </a:p>
          <a:p xmlns:a="http://schemas.openxmlformats.org/drawingml/2006/main">
            <a:r>
              <a:t>### 문제 3 · 읽은 텍스트에서 값으로, 값에서 저장 파일로</a:t>
            </a:r>
          </a:p>
          <a:p xmlns:a="http://schemas.openxmlformats.org/drawingml/2006/main">
            <a:r>
              <a:t/>
            </a:r>
          </a:p>
          <a:p xmlns:a="http://schemas.openxmlformats.org/drawingml/2006/main">
            <a:r>
              <a:t>복습·도전: 입력 헤더는 device_id,value이고 한 행은 D09,0입니다. 프로그램은 temperature_c를 찾다가 실패했습니다. 파일 열기·헤더 찾기·숫자 변환 중 어느 단계인지 판단하고 원문을 보존한 수정 계획과 올바른 JSON 수치 표현을 쓰세요.</a:t>
            </a:r>
          </a:p>
          <a:p xmlns:a="http://schemas.openxmlformats.org/drawingml/2006/main">
            <a:r>
              <a:t/>
            </a:r>
          </a:p>
          <a:p xmlns:a="http://schemas.openxmlformats.org/drawingml/2006/main">
            <a:r>
              <a:t>**정답·해설:** 헤더 찾기 단계의 문제입니다. 입력 열 이름이 value로 정해져 있다면 코드에서 찾는 키도 value로 맞춥니다. 고치기 전에 정해 둔 열 이름과 실제 헤더를 확인합니다. 수치 0은 실제 값이므로 JSON에서는 0이며 null이 아닙니다. 주소 수정이나 0 삭제는 현재 증거에 맞는 해결이 아닙니다.</a:t>
            </a:r>
          </a:p>
          <a:p xmlns:a="http://schemas.openxmlformats.org/drawingml/2006/main">
            <a:r>
              <a:t/>
            </a:r>
          </a:p>
          <a:p xmlns:a="http://schemas.openxmlformats.org/drawingml/2006/main">
            <a:r>
              <a:t>### 문제 4 · 미측정·잘못된 글자·실제 0의 세 갈래</a:t>
            </a:r>
          </a:p>
          <a:p xmlns:a="http://schemas.openxmlformats.org/drawingml/2006/main">
            <a:r>
              <a:t/>
            </a:r>
          </a:p>
          <a:p xmlns:a="http://schemas.openxmlformats.org/drawingml/2006/main">
            <a:r>
              <a:t>복습·도전: 수량 칸 원문이 빈 문자열, “0”, “여섯”, “ ”입니다. 이 문제의 규칙은 정확한 빈 문자열만 미확인으로 보고, 숫자만 계산 대상으로 정합니다. 네 갈래의 분류와 담당자에게 남길 이슈 원문을 작성하세요.</a:t>
            </a:r>
          </a:p>
          <a:p xmlns:a="http://schemas.openxmlformats.org/drawingml/2006/main">
            <a:r>
              <a:t/>
            </a:r>
          </a:p>
          <a:p xmlns:a="http://schemas.openxmlformats.org/drawingml/2006/main">
            <a:r>
              <a:t>**정답·해설:** 빈 문자열은 미확인, “0”은 수치 0, “여섯”과 공백 한 칸은 현재 규칙으로 숫자로 읽을 수 없는 입력입니다. 두 이슈 원문을 그대로 남깁니다. 공백을 자동 삭제해 미확인으로 합치는 답은 명시되지 않은 정리 규칙을 추가한 것입니다.</a:t>
            </a:r>
          </a:p>
          <a:p xmlns:a="http://schemas.openxmlformats.org/drawingml/2006/main">
            <a:r>
              <a:t/>
            </a:r>
          </a:p>
          <a:p xmlns:a="http://schemas.openxmlformats.org/drawingml/2006/main">
            <a:r>
              <a:t>### 문제 5 · 허용 범위의 바깥과 경계를 검사하기</a:t>
            </a:r>
          </a:p>
          <a:p xmlns:a="http://schemas.openxmlformats.org/drawingml/2006/main">
            <a:r>
              <a:t/>
            </a:r>
          </a:p>
          <a:p xmlns:a="http://schemas.openxmlformats.org/drawingml/2006/main">
            <a:r>
              <a:t>복습·도전: 수업용 배터리 기록의 허용 충전율은 0~100%입니다. -0.1, 0, 50, 100, 100.1의 기대 결과와 바깥을 찾는 논리 문장을 쓰세요. 100.1을 100으로 자동 변경해도 되는지 근거를 설명하세요.</a:t>
            </a:r>
          </a:p>
          <a:p xmlns:a="http://schemas.openxmlformats.org/drawingml/2006/main">
            <a:r>
              <a:t/>
            </a:r>
          </a:p>
          <a:p xmlns:a="http://schemas.openxmlformats.org/drawingml/2006/main">
            <a:r>
              <a:t>**정답·해설:** 양 끝 -0.1·100.1은 거부, 0·50·100은 허용입니다. ‘0 미만 또는 100 초과’가 바깥입니다. 자동 변경은 원문을 바꾸므로 현재 검사 규칙에서는 허용하지 않습니다. and로 쓰면 두 바깥 조건을 동시에 만족하는 값이 없어 오류를 놓칩니다.</a:t>
            </a:r>
          </a:p>
          <a:p xmlns:a="http://schemas.openxmlformats.org/drawingml/2006/main">
            <a:r>
              <a:t/>
            </a:r>
          </a:p>
          <a:p xmlns:a="http://schemas.openxmlformats.org/drawingml/2006/main">
            <a:r>
              <a:t>### 문제 6 · 분류 건수와 평균 분모를 보존하기</a:t>
            </a:r>
          </a:p>
          <a:p xmlns:a="http://schemas.openxmlformats.org/drawingml/2006/main">
            <a:r>
              <a:t/>
            </a:r>
          </a:p>
          <a:p xmlns:a="http://schemas.openxmlformats.org/drawingml/2006/main">
            <a:r>
              <a:t>복습·도전: 원문은 “5”, “15”, 빈 문자열, “뜨거움”, 빈 문자열, “0”입니다. 전체·수치·미측정·이슈·수락 건수와 평균을 구하고 두 검산식을 쓰세요. 수치가 전혀 없는 경우의 평균 표현도 적으세요.</a:t>
            </a:r>
          </a:p>
          <a:p xmlns:a="http://schemas.openxmlformats.org/drawingml/2006/main">
            <a:r>
              <a:t/>
            </a:r>
          </a:p>
          <a:p xmlns:a="http://schemas.openxmlformats.org/drawingml/2006/main">
            <a:r>
              <a:t>**정답·해설:** 전체 6, 수치 3, 미측정 2, 이슈 1, 수락 5입니다. 6=5+1, 5=3+2이고 평균은 20÷3을 소수 둘째 자리로 반올림한 6.67입니다. 수치가 없으면 None입니다. 수락 5를 분모로 쓰면 4가 되어 미측정을 포함한 잘못된 평균입니다.</a:t>
            </a:r>
          </a:p>
          <a:p xmlns:a="http://schemas.openxmlformats.org/drawingml/2006/main">
            <a:r>
              <a:t/>
            </a:r>
          </a:p>
          <a:p xmlns:a="http://schemas.openxmlformats.org/drawingml/2006/main">
            <a:r>
              <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Python 심화 · 함수와 파일 검사</a:t>
            </a:r>
          </a:p>
          <a:p xmlns:a="http://schemas.openxmlformats.org/drawingml/2006/main">
            <a:r>
              <a:t/>
            </a:r>
          </a:p>
          <a:p xmlns:a="http://schemas.openxmlformats.org/drawingml/2006/main">
            <a:r>
              <a:t>2026-10-15 · Python 심화</a:t>
            </a:r>
          </a:p>
          <a:p xmlns:a="http://schemas.openxmlformats.org/drawingml/2006/main">
            <a:r>
              <a:t/>
            </a:r>
          </a:p>
          <a:p xmlns:a="http://schemas.openxmlformats.org/drawingml/2006/main">
            <a:r>
              <a:t>전날의 변수·조건·반복을 다시 읽고 반복 업무를 함수로 묶습니다. CSV를 읽어 JSON 결과를 저장하며 미측정과 잘못된 값을 구별하는 작은 로그 검사기를 사용하고 검수합니다.</a:t>
            </a:r>
          </a:p>
          <a:p xmlns:a="http://schemas.openxmlformats.org/drawingml/2006/main">
            <a:r>
              <a:t/>
            </a:r>
          </a:p>
          <a:p xmlns:a="http://schemas.openxmlformats.org/drawingml/2006/main">
            <a:r>
              <a:t>**수업은 50분씩 6교시입니다.** 원본은 그대로 두고 work 폴더의 파일에서 안내한 부분을 고칩니다. 계정이나 실제 장비 없이 연습용 자료를 사용합니다.</a:t>
            </a:r>
          </a:p>
          <a:p xmlns:a="http://schemas.openxmlformats.org/drawingml/2006/main">
            <a:r>
              <a:t/>
            </a:r>
          </a:p>
          <a:p xmlns:a="http://schemas.openxmlformats.org/drawingml/2006/main">
            <a:r>
              <a:t>현재 실행 명령 예시는 course 폴더 기준입니다. Windows PowerShell과 다른 OS에서는 파일을 찾고 저장하는 화면이 다를 수 있습니다. 설치는 강사가 확인하며, 실행할 수 없을 때는 동일 입력으로 예상·수동 추적을 작성합니다.</a:t>
            </a:r>
          </a:p>
          <a:p xmlns:a="http://schemas.openxmlformats.org/drawingml/2006/main">
            <a:r>
              <a:t/>
            </a:r>
          </a:p>
          <a:p xmlns:a="http://schemas.openxmlformats.org/drawingml/2006/main">
            <a:r>
              <a:t>## A01 · 같은 업무를 함수로 묶는 이유</a:t>
            </a:r>
          </a:p>
          <a:p xmlns:a="http://schemas.openxmlformats.org/drawingml/2006/main">
            <a:r>
              <a:t/>
            </a:r>
          </a:p>
          <a:p xmlns:a="http://schemas.openxmlformats.org/drawingml/2006/main">
            <a:r>
              <a:t>**목적:** 같은 조건식을 여러 곳에 복사하면 한 곳만 수정하고 다른 곳을 놓칠 수 있습니다. 반복되는 규칙을 모으면 변경 위치를 찾기 쉽습니다. 첫 코드부터 모든 줄을 함수로 만들 필요는 없습니다.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[A01_input.md](examples/course/data/A01_input.md)</a:t>
            </a:r>
          </a:p>
          <a:p xmlns:a="http://schemas.openxmlformats.org/drawingml/2006/main">
            <a:r>
              <a:t>- [A01_notes.md](examples/course/work/A01_notes.md)</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같은 부분과 다른 값을 구별합니다.</a:t>
            </a:r>
          </a:p>
          <a:p xmlns:a="http://schemas.openxmlformats.org/drawingml/2006/main">
            <a:r>
              <a:t>2. 공통 작업에 temperature_status라는 이름을 붙입니다.</a:t>
            </a:r>
          </a:p>
          <a:p xmlns:a="http://schemas.openxmlformats.org/drawingml/2006/main">
            <a:r>
              <a:t>3. 받을 값과 결과의 뜻을 문장으로 씁니다.</a:t>
            </a:r>
          </a:p>
          <a:p xmlns:a="http://schemas.openxmlformats.org/drawingml/2006/main">
            <a:r>
              <a:t>4. 기준 변경 때 수정할 위치를 비교합니다.</a:t>
            </a:r>
          </a:p>
          <a:p xmlns:a="http://schemas.openxmlformats.org/drawingml/2006/main">
            <a:r>
              <a:t/>
            </a:r>
          </a:p>
          <a:p xmlns:a="http://schemas.openxmlformats.org/drawingml/2006/main">
            <a:r>
              <a:t>**예상 결과:** 공통 규칙·온도 입력·상태 결과를 구별합니다.</a:t>
            </a:r>
          </a:p>
          <a:p xmlns:a="http://schemas.openxmlformats.org/drawingml/2006/main">
            <a:r>
              <a:t/>
            </a:r>
          </a:p>
          <a:p xmlns:a="http://schemas.openxmlformats.org/drawingml/2006/main">
            <a:r>
              <a:t>**확인 방법:** 줄 수가 짧으면 함수가 필요 없다고 단정할 수 있나요?</a:t>
            </a:r>
          </a:p>
          <a:p xmlns:a="http://schemas.openxmlformats.org/drawingml/2006/main">
            <a:r>
              <a:t/>
            </a:r>
          </a:p>
          <a:p xmlns:a="http://schemas.openxmlformats.org/drawingml/2006/main">
            <a:r>
              <a:t>**오류 해결:** 입력 카드 한 장을 받고 상태 카드 한 장을 돌려주는 역할극으로 그립니다.</a:t>
            </a:r>
          </a:p>
          <a:p xmlns:a="http://schemas.openxmlformats.org/drawingml/2006/main">
            <a:r>
              <a:t/>
            </a:r>
          </a:p>
          <a:p xmlns:a="http://schemas.openxmlformats.org/drawingml/2006/main">
            <a:r>
              <a:t>## A02 · def로 정의하고 이름으로 호출하기</a:t>
            </a:r>
          </a:p>
          <a:p xmlns:a="http://schemas.openxmlformats.org/drawingml/2006/main">
            <a:r>
              <a:t/>
            </a:r>
          </a:p>
          <a:p xmlns:a="http://schemas.openxmlformats.org/drawingml/2006/main">
            <a:r>
              <a:t>**목적:** 위에서 아래로 읽는 원리는 유지하지만 함수 본문은 호출할 때 실행됩니다. 정의 위치와 실제 실행 시점을 나누어 보면 출력 순서가 이해됩니다.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[A02_input.md](examples/course/data/A02_input.md)</a:t>
            </a:r>
          </a:p>
          <a:p xmlns:a="http://schemas.openxmlformats.org/drawingml/2006/main">
            <a:r>
              <a:t>- [A02_example.py](examples/course/code/A02_example.py)</a:t>
            </a:r>
          </a:p>
          <a:p xmlns:a="http://schemas.openxmlformats.org/drawingml/2006/main">
            <a:r>
              <a:t>- [A02_notes.md](examples/course/work/A02_notes.md)</a:t>
            </a:r>
          </a:p>
          <a:p xmlns:a="http://schemas.openxmlformats.org/drawingml/2006/main">
            <a:r>
              <a:t>- [A02_example.py](examples/course/work/A02_example.py)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정의와 호출을 표시합니다.</a:t>
            </a:r>
          </a:p>
          <a:p xmlns:a="http://schemas.openxmlformats.org/drawingml/2006/main">
            <a:r>
              <a:t>2. 실제 출력 순서를 씁니다.</a:t>
            </a:r>
          </a:p>
          <a:p xmlns:a="http://schemas.openxmlformats.org/drawingml/2006/main">
            <a:r>
              <a:t>3. 호출을 한 번 더 넣어 예상합니다.</a:t>
            </a:r>
          </a:p>
          <a:p xmlns:a="http://schemas.openxmlformats.org/drawingml/2006/main">
            <a:r>
              <a:t>4. 정의 횟수와 본문 실행 횟수를 설명합니다.</a:t>
            </a:r>
          </a:p>
          <a:p xmlns:a="http://schemas.openxmlformats.org/drawingml/2006/main">
            <a:r>
              <a:t/>
            </a:r>
          </a:p>
          <a:p xmlns:a="http://schemas.openxmlformats.org/drawingml/2006/main">
            <a:r>
              <a:t>**예상 결과:** 정의 한 번·호출 두 번이면 안내 출력 두 번.</a:t>
            </a:r>
          </a:p>
          <a:p xmlns:a="http://schemas.openxmlformats.org/drawingml/2006/main">
            <a:r>
              <a:t/>
            </a:r>
          </a:p>
          <a:p xmlns:a="http://schemas.openxmlformats.org/drawingml/2006/main">
            <a:r>
              <a:t>**확인 방법:** 정의만 하고 호출하지 않으면 본문 출력은 나오나요?</a:t>
            </a:r>
          </a:p>
          <a:p xmlns:a="http://schemas.openxmlformats.org/drawingml/2006/main">
            <a:r>
              <a:t/>
            </a:r>
          </a:p>
          <a:p xmlns:a="http://schemas.openxmlformats.org/drawingml/2006/main">
            <a:r>
              <a:t>**오류 해결:** 본문 출력이 예상과 다르면 print가 함수 안에 들여써져 있는지 확인합니다.</a:t>
            </a:r>
          </a:p>
          <a:p xmlns:a="http://schemas.openxmlformats.org/drawingml/2006/main">
            <a:r>
              <a:t/>
            </a:r>
          </a:p>
          <a:p xmlns:a="http://schemas.openxmlformats.org/drawingml/2006/main">
            <a:r>
              <a:t>## A03 · 매개변수와 실제 인자</a:t>
            </a:r>
          </a:p>
          <a:p xmlns:a="http://schemas.openxmlformats.org/drawingml/2006/main">
            <a:r>
              <a:t/>
            </a:r>
          </a:p>
          <a:p xmlns:a="http://schemas.openxmlformats.org/drawingml/2006/main">
            <a:r>
              <a:t>**목적:** 고정 값을 함수 안에서 매번 바꾸는 대신 호출값을 달리해 같은 작업을 사용합니다. 함수 안 이름이 어디서 값을 받는지 알아야 전달한 값을 추적할 수 있습니다.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[A03_input.md](examples/course/data/A03_input.md)</a:t>
            </a:r>
          </a:p>
          <a:p xmlns:a="http://schemas.openxmlformats.org/drawingml/2006/main">
            <a:r>
              <a:t>- [A03_example.py](examples/course/code/A03_example.py)</a:t>
            </a:r>
          </a:p>
          <a:p xmlns:a="http://schemas.openxmlformats.org/drawingml/2006/main">
            <a:r>
              <a:t>- [A03_notes.md](examples/course/work/A03_notes.md)</a:t>
            </a:r>
          </a:p>
          <a:p xmlns:a="http://schemas.openxmlformats.org/drawingml/2006/main">
            <a:r>
              <a:t>- [A03_example.py](examples/course/work/A03_example.py)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전달값과 받을 이름을 짝짓습니다.</a:t>
            </a:r>
          </a:p>
          <a:p xmlns:a="http://schemas.openxmlformats.org/drawingml/2006/main">
            <a:r>
              <a:t>2. 둘째 입력을 S03·0.0으로 바꿉니다.</a:t>
            </a:r>
          </a:p>
          <a:p xmlns:a="http://schemas.openxmlformats.org/drawingml/2006/main">
            <a:r>
              <a:t>3. 값 하나가 부족한 호출과 정상 호출을 비교합니다.</a:t>
            </a:r>
          </a:p>
          <a:p xmlns:a="http://schemas.openxmlformats.org/drawingml/2006/main">
            <a:r>
              <a:t>4. 함수 내부를 고치지 않고 결과가 달라지는 이유를 씁니다.</a:t>
            </a:r>
          </a:p>
          <a:p xmlns:a="http://schemas.openxmlformats.org/drawingml/2006/main">
            <a:r>
              <a:t/>
            </a:r>
          </a:p>
          <a:p xmlns:a="http://schemas.openxmlformats.org/drawingml/2006/main">
            <a:r>
              <a:t>**예상 결과:** 둘째 출력 S03 0.0. 인자 부족은 TypeError.</a:t>
            </a:r>
          </a:p>
          <a:p xmlns:a="http://schemas.openxmlformats.org/drawingml/2006/main">
            <a:r>
              <a:t/>
            </a:r>
          </a:p>
          <a:p xmlns:a="http://schemas.openxmlformats.org/drawingml/2006/main">
            <a:r>
              <a:t>**확인 방법:** value는 모든 호출에서 같은 값을 뜻하나요?</a:t>
            </a:r>
          </a:p>
          <a:p xmlns:a="http://schemas.openxmlformats.org/drawingml/2006/main">
            <a:r>
              <a:t/>
            </a:r>
          </a:p>
          <a:p xmlns:a="http://schemas.openxmlformats.org/drawingml/2006/main">
            <a:r>
              <a:t>**오류 해결:** 받을 값 개수와 전달한 값 개수·순서를 비교합니다.</a:t>
            </a:r>
          </a:p>
          <a:p xmlns:a="http://schemas.openxmlformats.org/drawingml/2006/main">
            <a:r>
              <a:t/>
            </a:r>
          </a:p>
          <a:p xmlns:a="http://schemas.openxmlformats.org/drawingml/2006/main">
            <a:r>
              <a:t>## A04 · print와 return의 차이</a:t>
            </a:r>
          </a:p>
          <a:p xmlns:a="http://schemas.openxmlformats.org/drawingml/2006/main">
            <a:r>
              <a:t/>
            </a:r>
          </a:p>
          <a:p xmlns:a="http://schemas.openxmlformats.org/drawingml/2006/main">
            <a:r>
              <a:t>**목적:** 결과를 JSON에 저장하거나 집계하려면 함수가 값을 돌려줘야 합니다. 화면 글자를 다른 코드가 저절로 변수에 담지는 않습니다.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[A04_input.md](examples/course/data/A04_input.md)</a:t>
            </a:r>
          </a:p>
          <a:p xmlns:a="http://schemas.openxmlformats.org/drawingml/2006/main">
            <a:r>
              <a:t>- [A04_example.py](examples/course/code/A04_example.py)</a:t>
            </a:r>
          </a:p>
          <a:p xmlns:a="http://schemas.openxmlformats.org/drawingml/2006/main">
            <a:r>
              <a:t>- [A04_notes.md](examples/course/work/A04_notes.md)</a:t>
            </a:r>
          </a:p>
          <a:p xmlns:a="http://schemas.openxmlformats.org/drawingml/2006/main">
            <a:r>
              <a:t>- [A04_example.py](examples/course/work/A04_example.py)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출력과 반환의 경로를 구별합니다.</a:t>
            </a:r>
          </a:p>
          <a:p xmlns:a="http://schemas.openxmlformats.org/drawingml/2006/main">
            <a:r>
              <a:t>2. result가 값을 받는 위치를 찾습니다.</a:t>
            </a:r>
          </a:p>
          <a:p xmlns:a="http://schemas.openxmlformats.org/drawingml/2006/main">
            <a:r>
              <a:t>3. offset을 2.0으로 바꿔 예상합니다.</a:t>
            </a:r>
          </a:p>
          <a:p xmlns:a="http://schemas.openxmlformats.org/drawingml/2006/main">
            <a:r>
              <a:t>4. 두 출력의 관계를 확인합니다.</a:t>
            </a:r>
          </a:p>
          <a:p xmlns:a="http://schemas.openxmlformats.org/drawingml/2006/main">
            <a:r>
              <a:t/>
            </a:r>
          </a:p>
          <a:p xmlns:a="http://schemas.openxmlformats.org/drawingml/2006/main">
            <a:r>
              <a:t>**예상 결과:** 24.5를 반환하고 다음 계산은 25.5.</a:t>
            </a:r>
          </a:p>
          <a:p xmlns:a="http://schemas.openxmlformats.org/drawingml/2006/main">
            <a:r>
              <a:t/>
            </a:r>
          </a:p>
          <a:p xmlns:a="http://schemas.openxmlformats.org/drawingml/2006/main">
            <a:r>
              <a:t>**확인 방법:** 화면에 보인 값은 언제나 같은 함수의 반환값인가요?</a:t>
            </a:r>
          </a:p>
          <a:p xmlns:a="http://schemas.openxmlformats.org/drawingml/2006/main">
            <a:r>
              <a:t/>
            </a:r>
          </a:p>
          <a:p xmlns:a="http://schemas.openxmlformats.org/drawingml/2006/main">
            <a:r>
              <a:t>**오류 해결:** None이 보이면 return이 있는지, 특정 경로에서 반환 없이 끝나는지 확인합니다.</a:t>
            </a:r>
          </a:p>
          <a:p xmlns:a="http://schemas.openxmlformats.org/drawingml/2006/main">
            <a:r>
              <a:t/>
            </a:r>
          </a:p>
          <a:p xmlns:a="http://schemas.openxmlformats.org/drawingml/2006/main">
            <a:r>
              <a:t>## A05 · 조건을 담은 상태 함수</a:t>
            </a:r>
          </a:p>
          <a:p xmlns:a="http://schemas.openxmlformats.org/drawingml/2006/main">
            <a:r>
              <a:t/>
            </a:r>
          </a:p>
          <a:p xmlns:a="http://schemas.openxmlformats.org/drawingml/2006/main">
            <a:r>
              <a:t>**목적:** 상태 규칙과 출력 위치를 나누면 같은 결과를 화면이나 파일에 사용할 수 있습니다. 함수가 입력값을 바꾸는지 새 결과만 만드는지도 설명합니다.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[A05_input.md](examples/course/data/A05_input.md)</a:t>
            </a:r>
          </a:p>
          <a:p xmlns:a="http://schemas.openxmlformats.org/drawingml/2006/main">
            <a:r>
              <a:t>- [A05_example.py](examples/course/code/A05_example.py)</a:t>
            </a:r>
          </a:p>
          <a:p xmlns:a="http://schemas.openxmlformats.org/drawingml/2006/main">
            <a:r>
              <a:t>- [A05_notes.md](examples/course/work/A05_notes.md)</a:t>
            </a:r>
          </a:p>
          <a:p xmlns:a="http://schemas.openxmlformats.org/drawingml/2006/main">
            <a:r>
              <a:t>- [A05_example.py](examples/course/work/A05_example.py)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입력별 도달하는 return을 표시합니다.</a:t>
            </a:r>
          </a:p>
          <a:p xmlns:a="http://schemas.openxmlformats.org/drawingml/2006/main">
            <a:r>
              <a:t>2. 마지막 입력을 24.0으로 바꿉니다.</a:t>
            </a:r>
          </a:p>
          <a:p xmlns:a="http://schemas.openxmlformats.org/drawingml/2006/main">
            <a:r>
              <a:t>3. 상태 문자열만 생기는지 입력이 바뀌는지 설명합니다.</a:t>
            </a:r>
          </a:p>
          <a:p xmlns:a="http://schemas.openxmlformats.org/drawingml/2006/main">
            <a:r>
              <a:t>4. None 확인을 먼저 하는 이유를 씁니다.</a:t>
            </a:r>
          </a:p>
          <a:p xmlns:a="http://schemas.openxmlformats.org/drawingml/2006/main">
            <a:r>
              <a:t/>
            </a:r>
          </a:p>
          <a:p xmlns:a="http://schemas.openxmlformats.org/drawingml/2006/main">
            <a:r>
              <a:t>**예상 결과:** 정상·미측정·정상. 같은 값은 초과가 아닙니다.</a:t>
            </a:r>
          </a:p>
          <a:p xmlns:a="http://schemas.openxmlformats.org/drawingml/2006/main">
            <a:r>
              <a:t/>
            </a:r>
          </a:p>
          <a:p xmlns:a="http://schemas.openxmlformats.org/drawingml/2006/main">
            <a:r>
              <a:t>**확인 방법:** return 뒤의 코드를 같은 호출이 모두 실행하나요?</a:t>
            </a:r>
          </a:p>
          <a:p xmlns:a="http://schemas.openxmlformats.org/drawingml/2006/main">
            <a:r>
              <a:t/>
            </a:r>
          </a:p>
          <a:p xmlns:a="http://schemas.openxmlformats.org/drawingml/2006/main">
            <a:r>
              <a:t>**오류 해결:** 미측정 오류는 숫자 비교보다 None 검사가 앞인지 확인합니다.</a:t>
            </a:r>
          </a:p>
          <a:p xmlns:a="http://schemas.openxmlformats.org/drawingml/2006/main">
            <a:r>
              <a:t/>
            </a:r>
          </a:p>
          <a:p xmlns:a="http://schemas.openxmlformats.org/drawingml/2006/main">
            <a:r>
              <a:t>## A06 · 예상 사례표로 함수 확인하기</a:t>
            </a:r>
          </a:p>
          <a:p xmlns:a="http://schemas.openxmlformats.org/drawingml/2006/main">
            <a:r>
              <a:t/>
            </a:r>
          </a:p>
          <a:p xmlns:a="http://schemas.openxmlformats.org/drawingml/2006/main">
            <a:r>
              <a:t>**목적:** 프로그램이 보여 준 결과를 그대로 정답으로 적으면 잘못된 코드도 통과합니다. 실행 전에 업무 규칙에서 기대값을 정해야 합니다.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[A06_input.md](examples/course/data/A06_input.md)</a:t>
            </a:r>
          </a:p>
          <a:p xmlns:a="http://schemas.openxmlformats.org/drawingml/2006/main">
            <a:r>
              <a:t>- [A06_notes.md](examples/course/work/A06_notes.md)</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24.0 초과 규칙을 문장으로 적습니다.</a:t>
            </a:r>
          </a:p>
          <a:p xmlns:a="http://schemas.openxmlformats.org/drawingml/2006/main">
            <a:r>
              <a:t>2. 다섯 기대값을 먼저 채웁니다.</a:t>
            </a:r>
          </a:p>
          <a:p xmlns:a="http://schemas.openxmlformats.org/drawingml/2006/main">
            <a:r>
              <a:t>3. A05 호출값을 바꾸어 대조합니다.</a:t>
            </a:r>
          </a:p>
          <a:p xmlns:a="http://schemas.openxmlformats.org/drawingml/2006/main">
            <a:r>
              <a:t>4. 통과한 범위와 남은 입력 종류를 나눕니다.</a:t>
            </a:r>
          </a:p>
          <a:p xmlns:a="http://schemas.openxmlformats.org/drawingml/2006/main">
            <a:r>
              <a:t/>
            </a:r>
          </a:p>
          <a:p xmlns:a="http://schemas.openxmlformats.org/drawingml/2006/main">
            <a:r>
              <a:t>**예상 결과:** 정상/정상/확인/미측정/정상과 판단 이유.</a:t>
            </a:r>
          </a:p>
          <a:p xmlns:a="http://schemas.openxmlformats.org/drawingml/2006/main">
            <a:r>
              <a:t/>
            </a:r>
          </a:p>
          <a:p xmlns:a="http://schemas.openxmlformats.org/drawingml/2006/main">
            <a:r>
              <a:t>**확인 방법:** 20과 30만 확인하면 놓칠 수 있는 실수는 무엇인가요?</a:t>
            </a:r>
          </a:p>
          <a:p xmlns:a="http://schemas.openxmlformats.org/drawingml/2006/main">
            <a:r>
              <a:t/>
            </a:r>
          </a:p>
          <a:p xmlns:a="http://schemas.openxmlformats.org/drawingml/2006/main">
            <a:r>
              <a:t>**오류 해결:** 기대값이 애매하면 코드 대신 초과라는 업무 문구를 먼저 읽습니다.</a:t>
            </a:r>
          </a:p>
          <a:p xmlns:a="http://schemas.openxmlformats.org/drawingml/2006/main">
            <a:r>
              <a:t/>
            </a:r>
          </a:p>
          <a:p xmlns:a="http://schemas.openxmlformats.org/drawingml/2006/main">
            <a:r>
              <a:t>## A07 · 파일 경로와 텍스트 읽기</a:t>
            </a:r>
          </a:p>
          <a:p xmlns:a="http://schemas.openxmlformats.org/drawingml/2006/main">
            <a:r>
              <a:t/>
            </a:r>
          </a:p>
          <a:p xmlns:a="http://schemas.openxmlformats.org/drawingml/2006/main">
            <a:r>
              <a:t>추가 원문·작업 파일:</a:t>
            </a:r>
          </a:p>
          <a:p xmlns:a="http://schemas.openxmlformats.org/drawingml/2006/main">
            <a:r>
              <a:t/>
            </a:r>
          </a:p>
          <a:p xmlns:a="http://schemas.openxmlformats.org/drawingml/2006/main">
            <a:r>
              <a:t>- [A07_input.md](examples/course/data/A07_input.md)</a:t>
            </a:r>
          </a:p>
          <a:p xmlns:a="http://schemas.openxmlformats.org/drawingml/2006/main">
            <a:r>
              <a:t>- [A07_example.py](examples/course/code/A07_example.py)</a:t>
            </a:r>
          </a:p>
          <a:p xmlns:a="http://schemas.openxmlformats.org/drawingml/2006/main">
            <a:r>
              <a:t>- [notice.txt](examples/course/data/notice.txt)</a:t>
            </a:r>
          </a:p>
          <a:p xmlns:a="http://schemas.openxmlformats.org/drawingml/2006/main">
            <a:r>
              <a:t>- [A07_notes.md](examples/course/work/A07_notes.md)</a:t>
            </a:r>
          </a:p>
          <a:p xmlns:a="http://schemas.openxmlformats.org/drawingml/2006/main">
            <a:r>
              <a:t>- [A07_example.py](examples/course/work/A07_example.py)</a:t>
            </a:r>
          </a:p>
          <a:p xmlns:a="http://schemas.openxmlformats.org/drawingml/2006/main">
            <a:r>
              <a:t/>
            </a:r>
          </a:p>
          <a:p xmlns:a="http://schemas.openxmlformats.org/drawingml/2006/main">
            <a:r>
              <a:t>**목적:** 터미널을 다른 곳에서 열어도 같은 자료를 읽도록 준비합니다. 긴 준비 줄을 외우기보다 code·work·data의 상대 배치를 이해하는 것이 목적입니다.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[A07_input.md](examples/course/data/A07_input.md)</a:t>
            </a:r>
          </a:p>
          <a:p xmlns:a="http://schemas.openxmlformats.org/drawingml/2006/main">
            <a:r>
              <a:t>- [A07_example.py](examples/course/code/A07_example.py)</a:t>
            </a:r>
          </a:p>
          <a:p xmlns:a="http://schemas.openxmlformats.org/drawingml/2006/main">
            <a:r>
              <a:t>- [A07_notes.md](examples/course/work/A07_notes.md)</a:t>
            </a:r>
          </a:p>
          <a:p xmlns:a="http://schemas.openxmlformats.org/drawingml/2006/main">
            <a:r>
              <a:t>- [A07_example.py](examples/course/work/A07_example.py)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code·work·data 배치를 그립니다.</a:t>
            </a:r>
          </a:p>
          <a:p xmlns:a="http://schemas.openxmlformats.org/drawingml/2006/main">
            <a:r>
              <a:t>2. 실제 파일명을 확인합니다.</a:t>
            </a:r>
          </a:p>
          <a:p xmlns:a="http://schemas.openxmlformats.org/drawingml/2006/main">
            <a:r>
              <a:t>3. 같은 코드가 다른 현재 위치에서도 읽는지 비교합니다.</a:t>
            </a:r>
          </a:p>
          <a:p xmlns:a="http://schemas.openxmlformats.org/drawingml/2006/main">
            <a:r>
              <a:t>4. 없는 파일의 오류와 내용 오류를 구별합니다.</a:t>
            </a:r>
          </a:p>
          <a:p xmlns:a="http://schemas.openxmlformats.org/drawingml/2006/main">
            <a:r>
              <a:t/>
            </a:r>
          </a:p>
          <a:p xmlns:a="http://schemas.openxmlformats.org/drawingml/2006/main">
            <a:r>
              <a:t>**예상 결과:** 안내 한 줄 출력. 없는 파일명은 FileNotFoundError.</a:t>
            </a:r>
          </a:p>
          <a:p xmlns:a="http://schemas.openxmlformats.org/drawingml/2006/main">
            <a:r>
              <a:t/>
            </a:r>
          </a:p>
          <a:p xmlns:a="http://schemas.openxmlformats.org/drawingml/2006/main">
            <a:r>
              <a:t>**확인 방법:** data만 다른 곳으로 옮겨도 자동으로 찾나요?</a:t>
            </a:r>
          </a:p>
          <a:p xmlns:a="http://schemas.openxmlformats.org/drawingml/2006/main">
            <a:r>
              <a:t/>
            </a:r>
          </a:p>
          <a:p xmlns:a="http://schemas.openxmlformats.org/drawingml/2006/main">
            <a:r>
              <a:t>**오류 해결:** 압축 안에서 열었는지, 확장자가 두 번 붙었는지, course의 배치가 유지됐는지 확인합니다.</a:t>
            </a:r>
          </a:p>
          <a:p xmlns:a="http://schemas.openxmlformats.org/drawingml/2006/main">
            <a:r>
              <a:t/>
            </a:r>
          </a:p>
          <a:p xmlns:a="http://schemas.openxmlformats.org/drawingml/2006/main">
            <a:r>
              <a:t>## A08 · CSV를 이름표가 있는 행으로 읽기</a:t>
            </a:r>
          </a:p>
          <a:p xmlns:a="http://schemas.openxmlformats.org/drawingml/2006/main">
            <a:r>
              <a:t/>
            </a:r>
          </a:p>
          <a:p xmlns:a="http://schemas.openxmlformats.org/drawingml/2006/main">
            <a:r>
              <a:t>추가 원문·작업 파일:</a:t>
            </a:r>
          </a:p>
          <a:p xmlns:a="http://schemas.openxmlformats.org/drawingml/2006/main">
            <a:r>
              <a:t/>
            </a:r>
          </a:p>
          <a:p xmlns:a="http://schemas.openxmlformats.org/drawingml/2006/main">
            <a:r>
              <a:t>- [A08_input.md](examples/course/data/A08_input.md)</a:t>
            </a:r>
          </a:p>
          <a:p xmlns:a="http://schemas.openxmlformats.org/drawingml/2006/main">
            <a:r>
              <a:t>- [A08_example.py](examples/course/code/A08_example.py)</a:t>
            </a:r>
          </a:p>
          <a:p xmlns:a="http://schemas.openxmlformats.org/drawingml/2006/main">
            <a:r>
              <a:t>- [readings.csv](examples/course/data/readings.csv)</a:t>
            </a:r>
          </a:p>
          <a:p xmlns:a="http://schemas.openxmlformats.org/drawingml/2006/main">
            <a:r>
              <a:t>- [A08_notes.md](examples/course/work/A08_notes.md)</a:t>
            </a:r>
          </a:p>
          <a:p xmlns:a="http://schemas.openxmlformats.org/drawingml/2006/main">
            <a:r>
              <a:t>- [A08_example.py](examples/course/work/A08_example.py)</a:t>
            </a:r>
          </a:p>
          <a:p xmlns:a="http://schemas.openxmlformats.org/drawingml/2006/main">
            <a:r>
              <a:t/>
            </a:r>
          </a:p>
          <a:p xmlns:a="http://schemas.openxmlformats.org/drawingml/2006/main">
            <a:r>
              <a:t>**목적:** 열 번호를 외우기보다 temperature_c라는 이름으로 읽으면 처리할 항목이 드러납니다. 실제 헤더가 약속과 맞아야 같은 이름으로 읽을 수 있습니다.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[A08_input.md](examples/course/data/A08_input.md)</a:t>
            </a:r>
          </a:p>
          <a:p xmlns:a="http://schemas.openxmlformats.org/drawingml/2006/main">
            <a:r>
              <a:t>- [A08_example.py](examples/course/code/A08_example.py)</a:t>
            </a:r>
          </a:p>
          <a:p xmlns:a="http://schemas.openxmlformats.org/drawingml/2006/main">
            <a:r>
              <a:t>- [A08_notes.md](examples/course/work/A08_notes.md)</a:t>
            </a:r>
          </a:p>
          <a:p xmlns:a="http://schemas.openxmlformats.org/drawingml/2006/main">
            <a:r>
              <a:t>- [A08_example.py](examples/course/work/A08_example.py)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헤더와 키의 대응을 표시합니다.</a:t>
            </a:r>
          </a:p>
          <a:p xmlns:a="http://schemas.openxmlformats.org/drawingml/2006/main">
            <a:r>
              <a:t>2. 헤더를 제외한 네 건을 셉니다.</a:t>
            </a:r>
          </a:p>
          <a:p xmlns:a="http://schemas.openxmlformats.org/drawingml/2006/main">
            <a:r>
              <a:t>3. 온도의 값 모양과 자료형을 나눠 적습니다.</a:t>
            </a:r>
          </a:p>
          <a:p xmlns:a="http://schemas.openxmlformats.org/drawingml/2006/main">
            <a:r>
              <a:t>4. 빈 온도가 어떤 문자열일지 예상합니다.</a:t>
            </a:r>
          </a:p>
          <a:p xmlns:a="http://schemas.openxmlformats.org/drawingml/2006/main">
            <a:r>
              <a:t/>
            </a:r>
          </a:p>
          <a:p xmlns:a="http://schemas.openxmlformats.org/drawingml/2006/main">
            <a:r>
              <a:t>**예상 결과:** 4 / S01 /22.5 str. 헤더는 데이터가 아닙니다.</a:t>
            </a:r>
          </a:p>
          <a:p xmlns:a="http://schemas.openxmlformats.org/drawingml/2006/main">
            <a:r>
              <a:t/>
            </a:r>
          </a:p>
          <a:p xmlns:a="http://schemas.openxmlformats.org/drawingml/2006/main">
            <a:r>
              <a:t>**확인 방법:** 빈 셀은 자동으로 None이 되나요?</a:t>
            </a:r>
          </a:p>
          <a:p xmlns:a="http://schemas.openxmlformats.org/drawingml/2006/main">
            <a:r>
              <a:t/>
            </a:r>
          </a:p>
          <a:p xmlns:a="http://schemas.openxmlformats.org/drawingml/2006/main">
            <a:r>
              <a:t>**오류 해결:** KeyError는 실제 헤더와 키를 비교합니다. 공백·인코딩도 실제 원문을 확인한 뒤 판단합니다.</a:t>
            </a:r>
          </a:p>
          <a:p xmlns:a="http://schemas.openxmlformats.org/drawingml/2006/main">
            <a:r>
              <a:t/>
            </a:r>
          </a:p>
          <a:p xmlns:a="http://schemas.openxmlformats.org/drawingml/2006/main">
            <a:r>
              <a:t>## A09 · JSON 결과를 새 파일로 저장하기</a:t>
            </a:r>
          </a:p>
          <a:p xmlns:a="http://schemas.openxmlformats.org/drawingml/2006/main">
            <a:r>
              <a:t/>
            </a:r>
          </a:p>
          <a:p xmlns:a="http://schemas.openxmlformats.org/drawingml/2006/main">
            <a:r>
              <a:t>추가 원문·작업 파일:</a:t>
            </a:r>
          </a:p>
          <a:p xmlns:a="http://schemas.openxmlformats.org/drawingml/2006/main">
            <a:r>
              <a:t/>
            </a:r>
          </a:p>
          <a:p xmlns:a="http://schemas.openxmlformats.org/drawingml/2006/main">
            <a:r>
              <a:t>- [A09_input.md](examples/course/data/A09_input.md)</a:t>
            </a:r>
          </a:p>
          <a:p xmlns:a="http://schemas.openxmlformats.org/drawingml/2006/main">
            <a:r>
              <a:t>- [A09_example.py](examples/course/code/A09_example.py)</a:t>
            </a:r>
          </a:p>
          <a:p xmlns:a="http://schemas.openxmlformats.org/drawingml/2006/main">
            <a:r>
              <a:t>- [A09_notes.md](examples/course/work/A09_notes.md)</a:t>
            </a:r>
          </a:p>
          <a:p xmlns:a="http://schemas.openxmlformats.org/drawingml/2006/main">
            <a:r>
              <a:t>- [A09_example.py](examples/course/work/A09_example.py)</a:t>
            </a:r>
          </a:p>
          <a:p xmlns:a="http://schemas.openxmlformats.org/drawingml/2006/main">
            <a:r>
              <a:t>- [output_summary.json](examples/course/work/output_summary.json)</a:t>
            </a:r>
          </a:p>
          <a:p xmlns:a="http://schemas.openxmlformats.org/drawingml/2006/main">
            <a:r>
              <a:t/>
            </a:r>
          </a:p>
          <a:p xmlns:a="http://schemas.openxmlformats.org/drawingml/2006/main">
            <a:r>
              <a:t>**목적:** 화면 출력만 있으면 다음 사람이 결과를 재사용하기 어렵습니다. 입력 원자료를 덮어쓰지 않도록 work의 결과 경로를 명확히 정합니다.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[A09_input.md](examples/course/data/A09_input.md)</a:t>
            </a:r>
          </a:p>
          <a:p xmlns:a="http://schemas.openxmlformats.org/drawingml/2006/main">
            <a:r>
              <a:t>- [A09_example.py](examples/course/code/A09_example.py)</a:t>
            </a:r>
          </a:p>
          <a:p xmlns:a="http://schemas.openxmlformats.org/drawingml/2006/main">
            <a:r>
              <a:t>- [A09_notes.md](examples/course/work/A09_notes.md)</a:t>
            </a:r>
          </a:p>
          <a:p xmlns:a="http://schemas.openxmlformats.org/drawingml/2006/main">
            <a:r>
              <a:t>- [A09_example.py](examples/course/work/A09_example.py)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data와 work의 역할을 구별합니다.</a:t>
            </a:r>
          </a:p>
          <a:p xmlns:a="http://schemas.openxmlformats.org/drawingml/2006/main">
            <a:r>
              <a:t>2. 실행 후 output_summary.json을 엽니다.</a:t>
            </a:r>
          </a:p>
          <a:p xmlns:a="http://schemas.openxmlformats.org/drawingml/2006/main">
            <a:r>
              <a:t>3. 건수만 5로 바꾸고 다시 실행합니다.</a:t>
            </a:r>
          </a:p>
          <a:p xmlns:a="http://schemas.openxmlformats.org/drawingml/2006/main">
            <a:r>
              <a:t>4. 파일 저장 줄과 화면 출력 줄을 표시합니다.</a:t>
            </a:r>
          </a:p>
          <a:p xmlns:a="http://schemas.openxmlformats.org/drawingml/2006/main">
            <a:r>
              <a:t/>
            </a:r>
          </a:p>
          <a:p xmlns:a="http://schemas.openxmlformats.org/drawingml/2006/main">
            <a:r>
              <a:t>**예상 결과:** 처음 4 1, 수정 후 5 1. 저장 파일의 숫자도 바뀝니다.</a:t>
            </a:r>
          </a:p>
          <a:p xmlns:a="http://schemas.openxmlformats.org/drawingml/2006/main">
            <a:r>
              <a:t/>
            </a:r>
          </a:p>
          <a:p xmlns:a="http://schemas.openxmlformats.org/drawingml/2006/main">
            <a:r>
              <a:t>**확인 방법:** print와 write_text는 같은 행동인가요?</a:t>
            </a:r>
          </a:p>
          <a:p xmlns:a="http://schemas.openxmlformats.org/drawingml/2006/main">
            <a:r>
              <a:t/>
            </a:r>
          </a:p>
          <a:p xmlns:a="http://schemas.openxmlformats.org/drawingml/2006/main">
            <a:r>
              <a:t>**오류 해결:** 쓰기 권한이 없으면 강사와 저장 위치를 확인합니다. 원자료를 출력 주소로 바꾸지 않습니다.</a:t>
            </a:r>
          </a:p>
          <a:p xmlns:a="http://schemas.openxmlformats.org/drawingml/2006/main">
            <a:r>
              <a:t/>
            </a:r>
          </a:p>
          <a:p xmlns:a="http://schemas.openxmlformats.org/drawingml/2006/main">
            <a:r>
              <a:t>## A10 · 미측정과 잘못된 숫자의 구별</a:t>
            </a:r>
          </a:p>
          <a:p xmlns:a="http://schemas.openxmlformats.org/drawingml/2006/main">
            <a:r>
              <a:t/>
            </a:r>
          </a:p>
          <a:p xmlns:a="http://schemas.openxmlformats.org/drawingml/2006/main">
            <a:r>
              <a:t>**목적:** 모든 변환 실패를 None으로 바꾸면 누락과 잘못된 기록을 구별하지 못합니다. 원문과 실패 이유를 남겨야 확인 요청을 할 수 있습니다.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[A10_input.md](examples/course/data/A10_input.md)</a:t>
            </a:r>
          </a:p>
          <a:p xmlns:a="http://schemas.openxmlformats.org/drawingml/2006/main">
            <a:r>
              <a:t>- [A10_example.py](examples/course/code/A10_example.py)</a:t>
            </a:r>
          </a:p>
          <a:p xmlns:a="http://schemas.openxmlformats.org/drawingml/2006/main">
            <a:r>
              <a:t>- [A10_notes.md](examples/course/work/A10_notes.md)</a:t>
            </a:r>
          </a:p>
          <a:p xmlns:a="http://schemas.openxmlformats.org/drawingml/2006/main">
            <a:r>
              <a:t>- [A10_example.py](examples/course/work/A10_example.py)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원문·반환값·업무 의미를 표로 적습니다.</a:t>
            </a:r>
          </a:p>
          <a:p xmlns:a="http://schemas.openxmlformats.org/drawingml/2006/main">
            <a:r>
              <a:t>2. 뜨거움과 빈칸의 차이를 설명합니다.</a:t>
            </a:r>
          </a:p>
          <a:p xmlns:a="http://schemas.openxmlformats.org/drawingml/2006/main">
            <a:r>
              <a:t>3. 오류 원문과 종류를 기록합니다.</a:t>
            </a:r>
          </a:p>
          <a:p xmlns:a="http://schemas.openxmlformats.org/drawingml/2006/main">
            <a:r>
              <a:t>4. 실제값이 미확인일 때 남길 질문을 씁니다.</a:t>
            </a:r>
          </a:p>
          <a:p xmlns:a="http://schemas.openxmlformats.org/drawingml/2006/main">
            <a:r>
              <a:t/>
            </a:r>
          </a:p>
          <a:p xmlns:a="http://schemas.openxmlformats.org/drawingml/2006/main">
            <a:r>
              <a:t>**예상 결과:** 22.5/None/0.0을 구별하며 글자는 ValueError.</a:t>
            </a:r>
          </a:p>
          <a:p xmlns:a="http://schemas.openxmlformats.org/drawingml/2006/main">
            <a:r>
              <a:t/>
            </a:r>
          </a:p>
          <a:p xmlns:a="http://schemas.openxmlformats.org/drawingml/2006/main">
            <a:r>
              <a:t>**확인 방법:** 잘못된 숫자를 미측정으로 바꾸면 무엇을 잃나요?</a:t>
            </a:r>
          </a:p>
          <a:p xmlns:a="http://schemas.openxmlformats.org/drawingml/2006/main">
            <a:r>
              <a:t/>
            </a:r>
          </a:p>
          <a:p xmlns:a="http://schemas.openxmlformats.org/drawingml/2006/main">
            <a:r>
              <a:t>**오류 해결:** None과 문자열 "None"은 다릅니다. 후자는 숫자로 읽으면 실패합니다.</a:t>
            </a:r>
          </a:p>
          <a:p xmlns:a="http://schemas.openxmlformats.org/drawingml/2006/main">
            <a:r>
              <a:t/>
            </a:r>
          </a:p>
          <a:p xmlns:a="http://schemas.openxmlformats.org/drawingml/2006/main">
            <a:r>
              <a:t>## A11 · 오류의 위치·종류·원값</a:t>
            </a:r>
          </a:p>
          <a:p xmlns:a="http://schemas.openxmlformats.org/drawingml/2006/main">
            <a:r>
              <a:t/>
            </a:r>
          </a:p>
          <a:p xmlns:a="http://schemas.openxmlformats.org/drawingml/2006/main">
            <a:r>
              <a:t>**목적:** 파일 없음·키 없음·숫자 변환 실패는 다음 행동이 다릅니다. 이름만 암기하기보다 실패한 작업과 입력을 연결합니다.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[A11_input.md](examples/course/data/A11_input.md)</a:t>
            </a:r>
          </a:p>
          <a:p xmlns:a="http://schemas.openxmlformats.org/drawingml/2006/main">
            <a:r>
              <a:t>- [A11_notes.md](examples/course/work/A11_notes.md)</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실패 작업·종류·경로 또는 값을 표시합니다.</a:t>
            </a:r>
          </a:p>
          <a:p xmlns:a="http://schemas.openxmlformats.org/drawingml/2006/main">
            <a:r>
              <a:t>2. 사실과 추정 원인을 나눕니다.</a:t>
            </a:r>
          </a:p>
          <a:p xmlns:a="http://schemas.openxmlformats.org/drawingml/2006/main">
            <a:r>
              <a:t>3. 다음 확인 동작을 하나씩 정합니다.</a:t>
            </a:r>
          </a:p>
          <a:p xmlns:a="http://schemas.openxmlformats.org/drawingml/2006/main">
            <a:r>
              <a:t>4. 오류 단서를 보존한 전달 기록을 씁니다.</a:t>
            </a:r>
          </a:p>
          <a:p xmlns:a="http://schemas.openxmlformats.org/drawingml/2006/main">
            <a:r>
              <a:t/>
            </a:r>
          </a:p>
          <a:p xmlns:a="http://schemas.openxmlformats.org/drawingml/2006/main">
            <a:r>
              <a:t>**예상 결과:** 주소·헤더·원값 확인을 구별합니다.</a:t>
            </a:r>
          </a:p>
          <a:p xmlns:a="http://schemas.openxmlformats.org/drawingml/2006/main">
            <a:r>
              <a:t/>
            </a:r>
          </a:p>
          <a:p xmlns:a="http://schemas.openxmlformats.org/drawingml/2006/main">
            <a:r>
              <a:t>**확인 방법:** ValueError면 모두 같은 값으로 고쳐도 되나요?</a:t>
            </a:r>
          </a:p>
          <a:p xmlns:a="http://schemas.openxmlformats.org/drawingml/2006/main">
            <a:r>
              <a:t/>
            </a:r>
          </a:p>
          <a:p xmlns:a="http://schemas.openxmlformats.org/drawingml/2006/main">
            <a:r>
              <a:t>**오류 해결:** 명령·관련 줄·마지막 오류를 남깁니다. 길다는 이유로 단서를 모두 지우지 않습니다.</a:t>
            </a:r>
          </a:p>
          <a:p xmlns:a="http://schemas.openxmlformats.org/drawingml/2006/main">
            <a:r>
              <a:t/>
            </a:r>
          </a:p>
          <a:p xmlns:a="http://schemas.openxmlformats.org/drawingml/2006/main">
            <a:r>
              <a:t>## A12 · try와 except로 예상 오류 기록</a:t>
            </a:r>
          </a:p>
          <a:p xmlns:a="http://schemas.openxmlformats.org/drawingml/2006/main">
            <a:r>
              <a:t/>
            </a:r>
          </a:p>
          <a:p xmlns:a="http://schemas.openxmlformats.org/drawingml/2006/main">
            <a:r>
              <a:t>**목적:** 한 값이 잘못되어도 원문과 이유를 남길 수 있습니다. 다룰 오류 종류를 좁히면 예상하지 못한 문제를 숨기지 않습니다.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[A12_input.md](examples/course/data/A12_input.md)</a:t>
            </a:r>
          </a:p>
          <a:p xmlns:a="http://schemas.openxmlformats.org/drawingml/2006/main">
            <a:r>
              <a:t>- [A12_example.py](examples/course/code/A12_example.py)</a:t>
            </a:r>
          </a:p>
          <a:p xmlns:a="http://schemas.openxmlformats.org/drawingml/2006/main">
            <a:r>
              <a:t>- [A12_notes.md](examples/course/work/A12_notes.md)</a:t>
            </a:r>
          </a:p>
          <a:p xmlns:a="http://schemas.openxmlformats.org/drawingml/2006/main">
            <a:r>
              <a:t>- [A12_example.py](examples/course/work/A12_example.py)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성공과 오류의 실행 줄을 표시합니다.</a:t>
            </a:r>
          </a:p>
          <a:p xmlns:a="http://schemas.openxmlformats.org/drawingml/2006/main">
            <a:r>
              <a:t>2. raw를 24.0으로 바꿔 비교합니다.</a:t>
            </a:r>
          </a:p>
          <a:p xmlns:a="http://schemas.openxmlformats.org/drawingml/2006/main">
            <a:r>
              <a:t>3. 오류 기록과 실제값 확정을 구별합니다.</a:t>
            </a:r>
          </a:p>
          <a:p xmlns:a="http://schemas.openxmlformats.org/drawingml/2006/main">
            <a:r>
              <a:t>4. 원문을 메시지에 남긴 이유를 설명합니다.</a:t>
            </a:r>
          </a:p>
          <a:p xmlns:a="http://schemas.openxmlformats.org/drawingml/2006/main">
            <a:r>
              <a:t/>
            </a:r>
          </a:p>
          <a:p xmlns:a="http://schemas.openxmlformats.org/drawingml/2006/main">
            <a:r>
              <a:t>**예상 결과:** 오류는 확인 필요, 정상값은 24.0 출력.</a:t>
            </a:r>
          </a:p>
          <a:p xmlns:a="http://schemas.openxmlformats.org/drawingml/2006/main">
            <a:r>
              <a:t/>
            </a:r>
          </a:p>
          <a:p xmlns:a="http://schemas.openxmlformats.org/drawingml/2006/main">
            <a:r>
              <a:t>**확인 방법:** except를 실행하면 실제 온도를 알아낸 것인가요?</a:t>
            </a:r>
          </a:p>
          <a:p xmlns:a="http://schemas.openxmlformats.org/drawingml/2006/main">
            <a:r>
              <a:t/>
            </a:r>
          </a:p>
          <a:p xmlns:a="http://schemas.openxmlformats.org/drawingml/2006/main">
            <a:r>
              <a:t>**오류 해결:** 오류를 숨기려고 except의 범위를 무조건 넓히지 않습니다.</a:t>
            </a:r>
          </a:p>
          <a:p xmlns:a="http://schemas.openxmlformats.org/drawingml/2006/main">
            <a:r>
              <a:t/>
            </a:r>
          </a:p>
          <a:p xmlns:a="http://schemas.openxmlformats.org/drawingml/2006/main">
            <a:r>
              <a:t>## A13 · 범위 규칙을 함수에서 확인하기</a:t>
            </a:r>
          </a:p>
          <a:p xmlns:a="http://schemas.openxmlformats.org/drawingml/2006/main">
            <a:r>
              <a:t/>
            </a:r>
          </a:p>
          <a:p xmlns:a="http://schemas.openxmlformats.org/drawingml/2006/main">
            <a:r>
              <a:t>**목적:** 51.0은 숫자이므로 float는 성공하지만 실습 입력 규칙에는 맞지 않습니다. 변환과 규칙 검사를 분리하여 읽어야 합니다.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[A13_input.md](examples/course/data/A13_input.md)</a:t>
            </a:r>
          </a:p>
          <a:p xmlns:a="http://schemas.openxmlformats.org/drawingml/2006/main">
            <a:r>
              <a:t>- [A13_example.py](examples/course/code/A13_example.py)</a:t>
            </a:r>
          </a:p>
          <a:p xmlns:a="http://schemas.openxmlformats.org/drawingml/2006/main">
            <a:r>
              <a:t>- [A13_notes.md](examples/course/work/A13_notes.md)</a:t>
            </a:r>
          </a:p>
          <a:p xmlns:a="http://schemas.openxmlformats.org/drawingml/2006/main">
            <a:r>
              <a:t>- [A13_example.py](examples/course/work/A13_example.py)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변환과 범위 검사를 표시합니다.</a:t>
            </a:r>
          </a:p>
          <a:p xmlns:a="http://schemas.openxmlformats.org/drawingml/2006/main">
            <a:r>
              <a:t>2. 0·50·51.0의 기대 결과를 씁니다.</a:t>
            </a:r>
          </a:p>
          <a:p xmlns:a="http://schemas.openxmlformats.org/drawingml/2006/main">
            <a:r>
              <a:t>3. 경계와 오류 입력을 비교합니다.</a:t>
            </a:r>
          </a:p>
          <a:p xmlns:a="http://schemas.openxmlformats.org/drawingml/2006/main">
            <a:r>
              <a:t>4. 원문과 확인 이유를 남깁니다.</a:t>
            </a:r>
          </a:p>
          <a:p xmlns:a="http://schemas.openxmlformats.org/drawingml/2006/main">
            <a:r>
              <a:t/>
            </a:r>
          </a:p>
          <a:p xmlns:a="http://schemas.openxmlformats.org/drawingml/2006/main">
            <a:r>
              <a:t>**예상 결과:** 0·50은 허용하고 51.0은 범위 오류입니다.</a:t>
            </a:r>
          </a:p>
          <a:p xmlns:a="http://schemas.openxmlformats.org/drawingml/2006/main">
            <a:r>
              <a:t/>
            </a:r>
          </a:p>
          <a:p xmlns:a="http://schemas.openxmlformats.org/drawingml/2006/main">
            <a:r>
              <a:t>**확인 방법:** 범위 통과가 실제 센서 정확도를 증명하나요?</a:t>
            </a:r>
          </a:p>
          <a:p xmlns:a="http://schemas.openxmlformats.org/drawingml/2006/main">
            <a:r>
              <a:t/>
            </a:r>
          </a:p>
          <a:p xmlns:a="http://schemas.openxmlformats.org/drawingml/2006/main">
            <a:r>
              <a:t>**오류 해결:** or를 and로 바꿨다면 두 조건의 뜻을 읽습니다. 동시에 0보다 작고 50보다 큰 값은 찾을 수 없습니다.</a:t>
            </a:r>
          </a:p>
          <a:p xmlns:a="http://schemas.openxmlformats.org/drawingml/2006/main">
            <a:r>
              <a:t/>
            </a:r>
          </a:p>
          <a:p xmlns:a="http://schemas.openxmlformats.org/drawingml/2006/main">
            <a:r>
              <a:t>## A14 · 한 값 수정 뒤 같은 사례 재확인</a:t>
            </a:r>
          </a:p>
          <a:p xmlns:a="http://schemas.openxmlformats.org/drawingml/2006/main">
            <a:r>
              <a:t/>
            </a:r>
          </a:p>
          <a:p xmlns:a="http://schemas.openxmlformats.org/drawingml/2006/main">
            <a:r>
              <a:t>추가 원문·작업 파일:</a:t>
            </a:r>
          </a:p>
          <a:p xmlns:a="http://schemas.openxmlformats.org/drawingml/2006/main">
            <a:r>
              <a:t/>
            </a:r>
          </a:p>
          <a:p xmlns:a="http://schemas.openxmlformats.org/drawingml/2006/main">
            <a:r>
              <a:t>- [A14_input.md](examples/course/data/A14_input.md)</a:t>
            </a:r>
          </a:p>
          <a:p xmlns:a="http://schemas.openxmlformats.org/drawingml/2006/main">
            <a:r>
              <a:t>- [bad_readings.csv](examples/course/data/bad_readings.csv)</a:t>
            </a:r>
          </a:p>
          <a:p xmlns:a="http://schemas.openxmlformats.org/drawingml/2006/main">
            <a:r>
              <a:t>- [A14_notes.md](examples/course/work/A14_notes.md)</a:t>
            </a:r>
          </a:p>
          <a:p xmlns:a="http://schemas.openxmlformats.org/drawingml/2006/main">
            <a:r>
              <a:t>- [bad_readings_work.csv](examples/course/work/bad_readings_work.csv)</a:t>
            </a:r>
          </a:p>
          <a:p xmlns:a="http://schemas.openxmlformats.org/drawingml/2006/main">
            <a:r>
              <a:t>- [correction_notes.md](examples/course/work/correction_notes.md)</a:t>
            </a:r>
          </a:p>
          <a:p xmlns:a="http://schemas.openxmlformats.org/drawingml/2006/main">
            <a:r>
              <a:t/>
            </a:r>
          </a:p>
          <a:p xmlns:a="http://schemas.openxmlformats.org/drawingml/2006/main">
            <a:r>
              <a:t>**목적:** 한 문제를 고치며 미측정을 0으로 바꾸거나 경계를 바꿀 수 있습니다. 원문·지시·수정 위치·재확인을 함께 남겨야 이유가 전달됩니다.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[A14_input.md](examples/course/data/A14_input.md)</a:t>
            </a:r>
          </a:p>
          <a:p xmlns:a="http://schemas.openxmlformats.org/drawingml/2006/main">
            <a:r>
              <a:t>- [A14_notes.md](examples/course/work/A14_notes.md)</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확정과 미확정 지시를 나눕니다.</a:t>
            </a:r>
          </a:p>
          <a:p xmlns:a="http://schemas.openxmlformats.org/drawingml/2006/main">
            <a:r>
              <a:t>2. work/correction_notes.md에 전후값과 근거를 씁니다.</a:t>
            </a:r>
          </a:p>
          <a:p xmlns:a="http://schemas.openxmlformats.org/drawingml/2006/main">
            <a:r>
              <a:t>3. work/bad_readings_work.csv에서 S05 한 값만 고칩니다.</a:t>
            </a:r>
          </a:p>
          <a:p xmlns:a="http://schemas.openxmlformats.org/drawingml/2006/main">
            <a:r>
              <a:t>4. 정상·미측정·0·범위의 재확인 표를 작성합니다.</a:t>
            </a:r>
          </a:p>
          <a:p xmlns:a="http://schemas.openxmlformats.org/drawingml/2006/main">
            <a:r>
              <a:t/>
            </a:r>
          </a:p>
          <a:p xmlns:a="http://schemas.openxmlformats.org/drawingml/2006/main">
            <a:r>
              <a:t>**예상 결과:** S05만 23.5로 수정하고 S06원문과 확인 이유를 남깁니다.</a:t>
            </a:r>
          </a:p>
          <a:p xmlns:a="http://schemas.openxmlformats.org/drawingml/2006/main">
            <a:r>
              <a:t/>
            </a:r>
          </a:p>
          <a:p xmlns:a="http://schemas.openxmlformats.org/drawingml/2006/main">
            <a:r>
              <a:t>**확인 방법:** 이슈 건수만 줄면 좋은 수정인가요?</a:t>
            </a:r>
          </a:p>
          <a:p xmlns:a="http://schemas.openxmlformats.org/drawingml/2006/main">
            <a:r>
              <a:t/>
            </a:r>
          </a:p>
          <a:p xmlns:a="http://schemas.openxmlformats.org/drawingml/2006/main">
            <a:r>
              <a:t>**오류 해결:** 확정되지 않은 실제값은 추측하지 않습니다. 어느 값이 왜 미확인인지 씁니다.</a:t>
            </a:r>
          </a:p>
          <a:p xmlns:a="http://schemas.openxmlformats.org/drawingml/2006/main">
            <a:r>
              <a:t/>
            </a:r>
          </a:p>
          <a:p xmlns:a="http://schemas.openxmlformats.org/drawingml/2006/main">
            <a:r>
              <a:t>## A15 · 입력·처리·출력의 실행 계약</a:t>
            </a:r>
          </a:p>
          <a:p xmlns:a="http://schemas.openxmlformats.org/drawingml/2006/main">
            <a:r>
              <a:t/>
            </a:r>
          </a:p>
          <a:p xmlns:a="http://schemas.openxmlformats.org/drawingml/2006/main">
            <a:r>
              <a:t>추가 원문·작업 파일:</a:t>
            </a:r>
          </a:p>
          <a:p xmlns:a="http://schemas.openxmlformats.org/drawingml/2006/main">
            <a:r>
              <a:t/>
            </a:r>
          </a:p>
          <a:p xmlns:a="http://schemas.openxmlformats.org/drawingml/2006/main">
            <a:r>
              <a:t>- [A15_input.md](examples/course/data/A15_input.md)</a:t>
            </a:r>
          </a:p>
          <a:p xmlns:a="http://schemas.openxmlformats.org/drawingml/2006/main">
            <a:r>
              <a:t>- [bad_readings.csv](examples/course/data/bad_readings.csv)</a:t>
            </a:r>
          </a:p>
          <a:p xmlns:a="http://schemas.openxmlformats.org/drawingml/2006/main">
            <a:r>
              <a:t>- [A15_notes.md](examples/course/work/A15_notes.md)</a:t>
            </a:r>
          </a:p>
          <a:p xmlns:a="http://schemas.openxmlformats.org/drawingml/2006/main">
            <a:r>
              <a:t/>
            </a:r>
          </a:p>
          <a:p xmlns:a="http://schemas.openxmlformats.org/drawingml/2006/main">
            <a:r>
              <a:t>**목적:** 원본과 수정 사본 중 무엇을 읽었는지 모르면 결과 대조가 틀릴 수 있습니다. 실행 완료와 데이터 이슈가 없다는 사실도 별도입니다.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[A15_input.md](examples/course/data/A15_input.md)</a:t>
            </a:r>
          </a:p>
          <a:p xmlns:a="http://schemas.openxmlformats.org/drawingml/2006/main">
            <a:r>
              <a:t>- [A15_notes.md](examples/course/work/A15_notes.md)</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세 파일의 위치를 그립니다.</a:t>
            </a:r>
          </a:p>
          <a:p xmlns:a="http://schemas.openxmlformats.org/drawingml/2006/main">
            <a:r>
              <a:t>2. 미측정과 실제 0의 집계 차이를 적습니다.</a:t>
            </a:r>
          </a:p>
          <a:p xmlns:a="http://schemas.openxmlformats.org/drawingml/2006/main">
            <a:r>
              <a:t>3. 실행 완료와 이슈 0건을 구별합니다.</a:t>
            </a:r>
          </a:p>
          <a:p xmlns:a="http://schemas.openxmlformats.org/drawingml/2006/main">
            <a:r>
              <a:t>4. 다음 활동의 예상 건수를 먼저 기록합니다.</a:t>
            </a:r>
          </a:p>
          <a:p xmlns:a="http://schemas.openxmlformats.org/drawingml/2006/main">
            <a:r>
              <a:t/>
            </a:r>
          </a:p>
          <a:p xmlns:a="http://schemas.openxmlformats.org/drawingml/2006/main">
            <a:r>
              <a:t>**예상 결과:** 전체 6,수락 4,이슈 2,미측정 1,수치 3.</a:t>
            </a:r>
          </a:p>
          <a:p xmlns:a="http://schemas.openxmlformats.org/drawingml/2006/main">
            <a:r>
              <a:t/>
            </a:r>
          </a:p>
          <a:p xmlns:a="http://schemas.openxmlformats.org/drawingml/2006/main">
            <a:r>
              <a:t>**확인 방법:** 미측정도 분모에 넣어 4로 나누면 무엇이 바뀌나요?</a:t>
            </a:r>
          </a:p>
          <a:p xmlns:a="http://schemas.openxmlformats.org/drawingml/2006/main">
            <a:r>
              <a:t/>
            </a:r>
          </a:p>
          <a:p xmlns:a="http://schemas.openxmlformats.org/drawingml/2006/main">
            <a:r>
              <a:t>**오류 해결:** 전체=수락+이슈, 수락=수치+미측정의 두 관계를 나누어 확인합니다.</a:t>
            </a:r>
          </a:p>
          <a:p xmlns:a="http://schemas.openxmlformats.org/drawingml/2006/main">
            <a:r>
              <a:t/>
            </a:r>
          </a:p>
          <a:p xmlns:a="http://schemas.openxmlformats.org/drawingml/2006/main">
            <a:r>
              <a:t>## A16 · 로그 검사기 전체 흐름</a:t>
            </a:r>
          </a:p>
          <a:p xmlns:a="http://schemas.openxmlformats.org/drawingml/2006/main">
            <a:r>
              <a:t/>
            </a:r>
          </a:p>
          <a:p xmlns:a="http://schemas.openxmlformats.org/drawingml/2006/main">
            <a:r>
              <a:t>추가 원문·작업 파일:</a:t>
            </a:r>
          </a:p>
          <a:p xmlns:a="http://schemas.openxmlformats.org/drawingml/2006/main">
            <a:r>
              <a:t/>
            </a:r>
          </a:p>
          <a:p xmlns:a="http://schemas.openxmlformats.org/drawingml/2006/main">
            <a:r>
              <a:t>- [A16_input.md](examples/course/data/A16_input.md)</a:t>
            </a:r>
          </a:p>
          <a:p xmlns:a="http://schemas.openxmlformats.org/drawingml/2006/main">
            <a:r>
              <a:t>- [A16_log_checker.py](examples/course/code/A16_log_checker.py)</a:t>
            </a:r>
          </a:p>
          <a:p xmlns:a="http://schemas.openxmlformats.org/drawingml/2006/main">
            <a:r>
              <a:t>- [bad_readings.csv](examples/course/data/bad_readings.csv)</a:t>
            </a:r>
          </a:p>
          <a:p xmlns:a="http://schemas.openxmlformats.org/drawingml/2006/main">
            <a:r>
              <a:t>- [readings.csv](examples/course/data/readings.csv)</a:t>
            </a:r>
          </a:p>
          <a:p xmlns:a="http://schemas.openxmlformats.org/drawingml/2006/main">
            <a:r>
              <a:t>- [A16_notes.md](examples/course/work/A16_notes.md)</a:t>
            </a:r>
          </a:p>
          <a:p xmlns:a="http://schemas.openxmlformats.org/drawingml/2006/main">
            <a:r>
              <a:t>- [A16_log_checker.py](examples/course/work/A16_log_checker.py)</a:t>
            </a:r>
          </a:p>
          <a:p xmlns:a="http://schemas.openxmlformats.org/drawingml/2006/main">
            <a:r>
              <a:t>- [check_summary.json](examples/course/work/check_summary.json)</a:t>
            </a:r>
          </a:p>
          <a:p xmlns:a="http://schemas.openxmlformats.org/drawingml/2006/main">
            <a:r>
              <a:t>- [check_issues.json](examples/course/work/check_issues.json)</a:t>
            </a:r>
          </a:p>
          <a:p xmlns:a="http://schemas.openxmlformats.org/drawingml/2006/main">
            <a:r>
              <a:t/>
            </a:r>
          </a:p>
          <a:p xmlns:a="http://schemas.openxmlformats.org/drawingml/2006/main">
            <a:r>
              <a:t>**목적:** 함수·파일·예외를 하나의 업무에 연결합니다. 긴 코드는 준비·정의·행 처리·집계·저장으로 나눠 추적합니다. 전체를 암기하거나 빈 편집기에서 다시 작성하는 것이 목표는 아닙니다.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[A16_input.md](examples/course/data/A16_input.md)</a:t>
            </a:r>
          </a:p>
          <a:p xmlns:a="http://schemas.openxmlformats.org/drawingml/2006/main">
            <a:r>
              <a:t>- [A16_log_checker.py](examples/course/code/A16_log_checker.py)</a:t>
            </a:r>
          </a:p>
          <a:p xmlns:a="http://schemas.openxmlformats.org/drawingml/2006/main">
            <a:r>
              <a:t>- [A16_notes.md](examples/course/work/A16_notes.md)</a:t>
            </a:r>
          </a:p>
          <a:p xmlns:a="http://schemas.openxmlformats.org/drawingml/2006/main">
            <a:r>
              <a:t>- [A16_log_checker.py](examples/course/work/A16_log_checker.py)</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전체 코드를 역할별 다섯 구간으로 표시합니다.</a:t>
            </a:r>
          </a:p>
          <a:p xmlns:a="http://schemas.openxmlformats.org/drawingml/2006/main">
            <a:r>
              <a:t>2. 건수와 평균을 손으로 먼저 확인합니다.</a:t>
            </a:r>
          </a:p>
          <a:p xmlns:a="http://schemas.openxmlformats.org/drawingml/2006/main">
            <a:r>
              <a:t>3. 실행 뒤 결과 JSON 두 개를 엽니다.</a:t>
            </a:r>
          </a:p>
          <a:p xmlns:a="http://schemas.openxmlformats.org/drawingml/2006/main">
            <a:r>
              <a:t>4. 입력 파일명만 readings.csv로 바꿔 비교합니다.</a:t>
            </a:r>
          </a:p>
          <a:p xmlns:a="http://schemas.openxmlformats.org/drawingml/2006/main">
            <a:r>
              <a:t/>
            </a:r>
          </a:p>
          <a:p xmlns:a="http://schemas.openxmlformats.org/drawingml/2006/main">
            <a:r>
              <a:t>**예상 결과:** 오류 포함 6/4/1/2,정상 4/4/1/0. 평균은 모두 15.83.</a:t>
            </a:r>
          </a:p>
          <a:p xmlns:a="http://schemas.openxmlformats.org/drawingml/2006/main">
            <a:r>
              <a:t/>
            </a:r>
          </a:p>
          <a:p xmlns:a="http://schemas.openxmlformats.org/drawingml/2006/main">
            <a:r>
              <a:t>**확인 방법:** continue의 역할은 무엇인가요?</a:t>
            </a:r>
          </a:p>
          <a:p xmlns:a="http://schemas.openxmlformats.org/drawingml/2006/main">
            <a:r>
              <a:t/>
            </a:r>
          </a:p>
          <a:p xmlns:a="http://schemas.openxmlformats.org/drawingml/2006/main">
            <a:r>
              <a:t>**오류 해결:** 한 행의 원문→함수→분류를 먼저 추적합니다. 여러 곳을 동시에 바꾸지 않습니다.</a:t>
            </a:r>
          </a:p>
          <a:p xmlns:a="http://schemas.openxmlformats.org/drawingml/2006/main">
            <a:r>
              <a:t/>
            </a:r>
          </a:p>
          <a:p xmlns:a="http://schemas.openxmlformats.org/drawingml/2006/main">
            <a:r>
              <a:t>### 중간 확인과 다음 활동 합류</a:t>
            </a:r>
          </a:p>
          <a:p xmlns:a="http://schemas.openxmlformats.org/drawingml/2006/main">
            <a:r>
              <a:t/>
            </a:r>
          </a:p>
          <a:p xmlns:a="http://schemas.openxmlformats.org/drawingml/2006/main">
            <a:r>
              <a:t>- 함께 확인할 증거: readings.csv의 정상 숫자 한 건과 missing_readings.csv의 미측정 한 건을 따라 읽고, 0은 숫자·미측정은 평균 대상이 아님을 설명합니다.</a:t>
            </a:r>
          </a:p>
          <a:p xmlns:a="http://schemas.openxmlformats.org/drawingml/2006/main">
            <a:r>
              <a:t>- 남은 작업: A16의 전체 구간 표시는 A16_notes.md, 네 입력 비교는 A17_notes.md에 미완료 항목을 표시하고 이어서 완성합니다. 이미 작성한 결과를 지우지 않습니다.</a:t>
            </a:r>
          </a:p>
          <a:p xmlns:a="http://schemas.openxmlformats.org/drawingml/2006/main">
            <a:r>
              <a:t>- 다음 입력: 제공된 work/A16_log_checker.py를 그대로 출발점으로 사용하고 A17에서 CSV 이름만 교체합니다. 실행이 막히면 solutions/A16_answer.md와 A17_answer.md의 제공 결과를 **관찰**로 기록하고 A18 인수인계에 미완료를 남깁니다.</a:t>
            </a:r>
          </a:p>
          <a:p xmlns:a="http://schemas.openxmlformats.org/drawingml/2006/main">
            <a:r>
              <a:t/>
            </a:r>
          </a:p>
          <a:p xmlns:a="http://schemas.openxmlformats.org/drawingml/2006/main">
            <a:r>
              <a:t>## A17 · 정상·빈 입력·잘못된 입력 비교</a:t>
            </a:r>
          </a:p>
          <a:p xmlns:a="http://schemas.openxmlformats.org/drawingml/2006/main">
            <a:r>
              <a:t/>
            </a:r>
          </a:p>
          <a:p xmlns:a="http://schemas.openxmlformats.org/drawingml/2006/main">
            <a:r>
              <a:t>추가 원문·작업 파일:</a:t>
            </a:r>
          </a:p>
          <a:p xmlns:a="http://schemas.openxmlformats.org/drawingml/2006/main">
            <a:r>
              <a:t/>
            </a:r>
          </a:p>
          <a:p xmlns:a="http://schemas.openxmlformats.org/drawingml/2006/main">
            <a:r>
              <a:t>- [A17_input.md](examples/course/data/A17_input.md)</a:t>
            </a:r>
          </a:p>
          <a:p xmlns:a="http://schemas.openxmlformats.org/drawingml/2006/main">
            <a:r>
              <a:t>- [readings.csv](examples/course/data/readings.csv)</a:t>
            </a:r>
          </a:p>
          <a:p xmlns:a="http://schemas.openxmlformats.org/drawingml/2006/main">
            <a:r>
              <a:t>- [bad_readings.csv](examples/course/data/bad_readings.csv)</a:t>
            </a:r>
          </a:p>
          <a:p xmlns:a="http://schemas.openxmlformats.org/drawingml/2006/main">
            <a:r>
              <a:t>- [empty_readings.csv](examples/course/data/empty_readings.csv)</a:t>
            </a:r>
          </a:p>
          <a:p xmlns:a="http://schemas.openxmlformats.org/drawingml/2006/main">
            <a:r>
              <a:t>- [missing_readings.csv](examples/course/data/missing_readings.csv)</a:t>
            </a:r>
          </a:p>
          <a:p xmlns:a="http://schemas.openxmlformats.org/drawingml/2006/main">
            <a:r>
              <a:t>- [A17_notes.md](examples/course/work/A17_notes.md)</a:t>
            </a:r>
          </a:p>
          <a:p xmlns:a="http://schemas.openxmlformats.org/drawingml/2006/main">
            <a:r>
              <a:t>- [A16_log_checker.py](examples/course/work/A16_log_checker.py)</a:t>
            </a:r>
          </a:p>
          <a:p xmlns:a="http://schemas.openxmlformats.org/drawingml/2006/main">
            <a:r>
              <a:t/>
            </a:r>
          </a:p>
          <a:p xmlns:a="http://schemas.openxmlformats.org/drawingml/2006/main">
            <a:r>
              <a:t>**목적:** 수치가 하나도 없으면 평균 분모가 0입니다. 평균 None은 계산할 수치가 없다는 결과이며 실제 평균 0.0과 의미가 다릅니다.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[A17_input.md](examples/course/data/A17_input.md)</a:t>
            </a:r>
          </a:p>
          <a:p xmlns:a="http://schemas.openxmlformats.org/drawingml/2006/main">
            <a:r>
              <a:t>- [A17_notes.md](examples/course/work/A17_notes.md)</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네 입력의 기대 집계표를 씁니다.</a:t>
            </a:r>
          </a:p>
          <a:p xmlns:a="http://schemas.openxmlformats.org/drawingml/2006/main">
            <a:r>
              <a:t>2. work/A16_log_checker.py 안 source 줄의 따옴표 속 CSV 이름만 바꿔(.py 이름은 유지) 같은 프로그램을 실행합니다.</a:t>
            </a:r>
          </a:p>
          <a:p xmlns:a="http://schemas.openxmlformats.org/drawingml/2006/main">
            <a:r>
              <a:t>3. 평균None의 이유와 집계 관계를 확인합니다.</a:t>
            </a:r>
          </a:p>
          <a:p xmlns:a="http://schemas.openxmlformats.org/drawingml/2006/main">
            <a:r>
              <a:t>4. 헤더·다른 필드·실제 진위는 미검증으로 기록합니다.</a:t>
            </a:r>
          </a:p>
          <a:p xmlns:a="http://schemas.openxmlformats.org/drawingml/2006/main">
            <a:r>
              <a:t/>
            </a:r>
          </a:p>
          <a:p xmlns:a="http://schemas.openxmlformats.org/drawingml/2006/main">
            <a:r>
              <a:t>**예상 결과:** empty 0/0/0/0·None, missing 2/2/2/0·None.</a:t>
            </a:r>
          </a:p>
          <a:p xmlns:a="http://schemas.openxmlformats.org/drawingml/2006/main">
            <a:r>
              <a:t/>
            </a:r>
          </a:p>
          <a:p xmlns:a="http://schemas.openxmlformats.org/drawingml/2006/main">
            <a:r>
              <a:t>**확인 방법:** 수치가 없을 때 평균 0을 쓰면 어떤 오해가 생기나요?</a:t>
            </a:r>
          </a:p>
          <a:p xmlns:a="http://schemas.openxmlformats.org/drawingml/2006/main">
            <a:r>
              <a:t/>
            </a:r>
          </a:p>
          <a:p xmlns:a="http://schemas.openxmlformats.org/drawingml/2006/main">
            <a:r>
              <a:t>**오류 해결:** 이전 실행 결과 파일을 새 결과로 혼동하지 않도록 입력명·저장·실행 경로를 확인합니다.</a:t>
            </a:r>
          </a:p>
          <a:p xmlns:a="http://schemas.openxmlformats.org/drawingml/2006/main">
            <a:r>
              <a:t/>
            </a:r>
          </a:p>
          <a:p xmlns:a="http://schemas.openxmlformats.org/drawingml/2006/main">
            <a:r>
              <a:t>### 검사할 CSV만 바꾸기</a:t>
            </a:r>
          </a:p>
          <a:p xmlns:a="http://schemas.openxmlformats.org/drawingml/2006/main">
            <a:r>
              <a:t/>
            </a:r>
          </a:p>
          <a:p xmlns:a="http://schemas.openxmlformats.org/drawingml/2006/main">
            <a:r>
              <a:t>수정 파일은 `work/A16_log_checker.py`입니다. **.py 파일 이름은 그대로 둡니다.** 코드 안 `source = base / "data" / "bad_readings.csv"` 한 줄에서 따옴표 속 CSV 이름만 바꿉니다. 예: `source = base / "data" / "readings.csv"`.</a:t>
            </a:r>
          </a:p>
          <a:p xmlns:a="http://schemas.openxmlformats.org/drawingml/2006/main">
            <a:r>
              <a:t/>
            </a:r>
          </a:p>
          <a:p xmlns:a="http://schemas.openxmlformats.org/drawingml/2006/main">
            <a:r>
              <a:t>저장 후 course 폴더에서 `python -X utf8 work/A16_log_checker.py`를 실행합니다. 실행마다 `work/check_summary.json`과 `work/check_issues.json`이 덮어써지므로 **결과를 먼저 기록한 뒤** 다음 CSV로 바꿉니다.</a:t>
            </a:r>
          </a:p>
          <a:p xmlns:a="http://schemas.openxmlformats.org/drawingml/2006/main">
            <a:r>
              <a:t/>
            </a:r>
          </a:p>
          <a:p xmlns:a="http://schemas.openxmlformats.org/drawingml/2006/main">
            <a:r>
              <a:t>| 따옴표 속 입력 이름 | 예상 집계·평균 | 실제 집계·평균 | 직접 실행/제공 출력 관찰 | 차이와 근거 |</a:t>
            </a:r>
          </a:p>
          <a:p xmlns:a="http://schemas.openxmlformats.org/drawingml/2006/main">
            <a:r>
              <a:t>| --- | --- | --- | --- | --- |</a:t>
            </a:r>
          </a:p>
          <a:p xmlns:a="http://schemas.openxmlformats.org/drawingml/2006/main">
            <a:r>
              <a:t>| readings.csv | _____ | _____ | _____ | _____ |</a:t>
            </a:r>
          </a:p>
          <a:p xmlns:a="http://schemas.openxmlformats.org/drawingml/2006/main">
            <a:r>
              <a:t>| bad_readings.csv | _____ | _____ | _____ | _____ |</a:t>
            </a:r>
          </a:p>
          <a:p xmlns:a="http://schemas.openxmlformats.org/drawingml/2006/main">
            <a:r>
              <a:t>| empty_readings.csv | _____ | _____ | _____ | _____ |</a:t>
            </a:r>
          </a:p>
          <a:p xmlns:a="http://schemas.openxmlformats.org/drawingml/2006/main">
            <a:r>
              <a:t>| missing_readings.csv | _____ | _____ | _____ | _____ |</a:t>
            </a:r>
          </a:p>
          <a:p xmlns:a="http://schemas.openxmlformats.org/drawingml/2006/main">
            <a:r>
              <a:t/>
            </a:r>
          </a:p>
          <a:p xmlns:a="http://schemas.openxmlformats.org/drawingml/2006/main">
            <a:r>
              <a:t>평균을 낼 숫자가 없다는 결과와 실제 측정 0을 구분해 설명합니다.</a:t>
            </a:r>
          </a:p>
          <a:p xmlns:a="http://schemas.openxmlformats.org/drawingml/2006/main">
            <a:r>
              <a:t/>
            </a:r>
          </a:p>
          <a:p xmlns:a="http://schemas.openxmlformats.org/drawingml/2006/main">
            <a:r>
              <a:t>### 중간 확인과 다음 활동 합류</a:t>
            </a:r>
          </a:p>
          <a:p xmlns:a="http://schemas.openxmlformats.org/drawingml/2006/main">
            <a:r>
              <a:t/>
            </a:r>
          </a:p>
          <a:p xmlns:a="http://schemas.openxmlformats.org/drawingml/2006/main">
            <a:r>
              <a:t>- 함께 확인할 증거: readings.csv의 정상 숫자 한 건과 missing_readings.csv의 미측정 한 건을 따라 읽고, 0은 숫자·미측정은 평균 대상이 아님을 설명합니다.</a:t>
            </a:r>
          </a:p>
          <a:p xmlns:a="http://schemas.openxmlformats.org/drawingml/2006/main">
            <a:r>
              <a:t>- 남은 작업: A16의 전체 구간 표시는 A16_notes.md, 네 입력 비교는 A17_notes.md에 미완료 항목을 표시하고 이어서 완성합니다. 이미 작성한 결과를 지우지 않습니다.</a:t>
            </a:r>
          </a:p>
          <a:p xmlns:a="http://schemas.openxmlformats.org/drawingml/2006/main">
            <a:r>
              <a:t>- 다음 입력: 제공된 work/A16_log_checker.py를 그대로 출발점으로 사용하고 A17에서 CSV 이름만 교체합니다. 실행이 막히면 solutions/A16_answer.md와 A17_answer.md의 제공 결과를 **관찰**로 기록하고 A18 인수인계에 미완료를 남깁니다.</a:t>
            </a:r>
          </a:p>
          <a:p xmlns:a="http://schemas.openxmlformats.org/drawingml/2006/main">
            <a:r>
              <a:t/>
            </a:r>
          </a:p>
          <a:p xmlns:a="http://schemas.openxmlformats.org/drawingml/2006/main">
            <a:r>
              <a:t>## A18 · 검사기 사용 안내와 근거 전달</a:t>
            </a:r>
          </a:p>
          <a:p xmlns:a="http://schemas.openxmlformats.org/drawingml/2006/main">
            <a:r>
              <a:t/>
            </a:r>
          </a:p>
          <a:p xmlns:a="http://schemas.openxmlformats.org/drawingml/2006/main">
            <a:r>
              <a:t>추가 원문·작업 파일:</a:t>
            </a:r>
          </a:p>
          <a:p xmlns:a="http://schemas.openxmlformats.org/drawingml/2006/main">
            <a:r>
              <a:t/>
            </a:r>
          </a:p>
          <a:p xmlns:a="http://schemas.openxmlformats.org/drawingml/2006/main">
            <a:r>
              <a:t>- [A18_input.md](examples/course/data/A18_input.md)</a:t>
            </a:r>
          </a:p>
          <a:p xmlns:a="http://schemas.openxmlformats.org/drawingml/2006/main">
            <a:r>
              <a:t>- [A18_notes.md](examples/course/work/A18_notes.md)</a:t>
            </a:r>
          </a:p>
          <a:p xmlns:a="http://schemas.openxmlformats.org/drawingml/2006/main">
            <a:r>
              <a:t>- [usage.md](examples/course/work/usage.md)</a:t>
            </a:r>
          </a:p>
          <a:p xmlns:a="http://schemas.openxmlformats.org/drawingml/2006/main">
            <a:r>
              <a:t/>
            </a:r>
          </a:p>
          <a:p xmlns:a="http://schemas.openxmlformats.org/drawingml/2006/main">
            <a:r>
              <a:t>**목적:** 작성자가 없어도 검사 범위를 오해하지 않게 해야 합니다. ‘검증 완료’보다 온도 변환·범위·미측정 구별을 검사했다고 구체적으로 씁니다.</a:t>
            </a:r>
          </a:p>
          <a:p xmlns:a="http://schemas.openxmlformats.org/drawingml/2006/main">
            <a:r>
              <a:t/>
            </a:r>
          </a:p>
          <a:p xmlns:a="http://schemas.openxmlformats.org/drawingml/2006/main">
            <a:r>
              <a:t>**준비:** 원자료와 작업 파일을 나란히 엽니다. 원본은 보존하고 work 파일에 기록합니다. 실행 환경이 없으면 같은 입력·코드·출력으로 수동 추적합니다.</a:t>
            </a:r>
          </a:p>
          <a:p xmlns:a="http://schemas.openxmlformats.org/drawingml/2006/main">
            <a:r>
              <a:t/>
            </a:r>
          </a:p>
          <a:p xmlns:a="http://schemas.openxmlformats.org/drawingml/2006/main">
            <a:r>
              <a:t>- [A18_input.md](examples/course/data/A18_input.md)</a:t>
            </a:r>
          </a:p>
          <a:p xmlns:a="http://schemas.openxmlformats.org/drawingml/2006/main">
            <a:r>
              <a:t>- [A18_notes.md](examples/course/work/A18_notes.md)</a:t>
            </a:r>
          </a:p>
          <a:p xmlns:a="http://schemas.openxmlformats.org/drawingml/2006/main">
            <a:r>
              <a:t/>
            </a:r>
          </a:p>
          <a:p xmlns:a="http://schemas.openxmlformats.org/drawingml/2006/main">
            <a:r>
              <a:t>**단계**</a:t>
            </a:r>
          </a:p>
          <a:p xmlns:a="http://schemas.openxmlformats.org/drawingml/2006/main">
            <a:r>
              <a:t/>
            </a:r>
          </a:p>
          <a:p xmlns:a="http://schemas.openxmlformats.org/drawingml/2006/main">
            <a:r>
              <a:t>1. work/usage.md에 실행 안내를 씁니다.</a:t>
            </a:r>
          </a:p>
          <a:p xmlns:a="http://schemas.openxmlformats.org/drawingml/2006/main">
            <a:r>
              <a:t>2. 짝이 입력 하나의 결과를 설명하게 합니다.</a:t>
            </a:r>
          </a:p>
          <a:p xmlns:a="http://schemas.openxmlformats.org/drawingml/2006/main">
            <a:r>
              <a:t>3. 빠진 파일 위치와 입력·결과 규칙을 추가합니다.</a:t>
            </a:r>
          </a:p>
          <a:p xmlns:a="http://schemas.openxmlformats.org/drawingml/2006/main">
            <a:r>
              <a:t>4. 코드·입력·요약·이슈·사례표를 함께 제출합니다.</a:t>
            </a:r>
          </a:p>
          <a:p xmlns:a="http://schemas.openxmlformats.org/drawingml/2006/main">
            <a:r>
              <a:t/>
            </a:r>
          </a:p>
          <a:p xmlns:a="http://schemas.openxmlformats.org/drawingml/2006/main">
            <a:r>
              <a:t>**예상 결과:** 재현 가능한 경로·명령·결과와 검증 범위가 분명한 안내.</a:t>
            </a:r>
          </a:p>
          <a:p xmlns:a="http://schemas.openxmlformats.org/drawingml/2006/main">
            <a:r>
              <a:t/>
            </a:r>
          </a:p>
          <a:p xmlns:a="http://schemas.openxmlformats.org/drawingml/2006/main">
            <a:r>
              <a:t>**확인 방법:** 이슈 0건이라는 결과만 남기면 무엇이 부족한가요?</a:t>
            </a:r>
          </a:p>
          <a:p xmlns:a="http://schemas.openxmlformats.org/drawingml/2006/main">
            <a:r>
              <a:t/>
            </a:r>
          </a:p>
          <a:p xmlns:a="http://schemas.openxmlformats.org/drawingml/2006/main">
            <a:r>
              <a:t>**오류 해결:** 처음 실행 순서와 오류 확인 순서를 나눠 씁니다. 미확인 사실을 확정하지 않습니다.</a:t>
            </a:r>
          </a:p>
          <a:p xmlns:a="http://schemas.openxmlformats.org/drawingml/2006/main">
            <a:r>
              <a:t/>
            </a:r>
          </a:p>
          <a:p xmlns:a="http://schemas.openxmlformats.org/drawingml/2006/main">
            <a:r>
              <a:t/>
            </a:r>
          </a:p>
          <a:p xmlns:a="http://schemas.openxmlformats.org/drawingml/2006/main">
            <a:r>
              <a:t>학생 교안: https://zeusk302-png.github.io/kdigital-physical-ai/#/sessions/2026-10-15/lesson</a:t>
            </a:r>
          </a:p>
          <a:p xmlns:a="http://schemas.openxmlformats.org/drawingml/2006/main">
            <a:r>
              <a:t>실습: https://zeusk302-png.github.io/kdigital-physical-ai/#/sessions/2026-10-15/lesson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 시작 안내</a:t>
            </a:r>
          </a:p>
          <a:p xmlns:a="http://schemas.openxmlformats.org/drawingml/2006/main">
            <a:r>
              <a:t>https://zeusk302-png.github.io/kdigital-physical-ai/#/sessions/2026-10-15/start</a:t>
            </a:r>
          </a:p>
          <a:p xmlns:a="http://schemas.openxmlformats.org/drawingml/2006/main">
            <a:r>
              <a:t/>
            </a:r>
          </a:p>
          <a:p xmlns:a="http://schemas.openxmlformats.org/drawingml/2006/main">
            <a:r>
              <a:t>학생 교안</a:t>
            </a:r>
          </a:p>
          <a:p xmlns:a="http://schemas.openxmlformats.org/drawingml/2006/main">
            <a:r>
              <a:t>https://zeusk302-png.github.io/kdigital-physical-ai/#/sessions/2026-10-15/lesson</a:t>
            </a:r>
          </a:p>
          <a:p xmlns:a="http://schemas.openxmlformats.org/drawingml/2006/main">
            <a:r>
              <a:t/>
            </a:r>
          </a:p>
          <a:p xmlns:a="http://schemas.openxmlformats.org/drawingml/2006/main">
            <a:r>
              <a:t>실습 활동</a:t>
            </a:r>
          </a:p>
          <a:p xmlns:a="http://schemas.openxmlformats.org/drawingml/2006/main">
            <a:r>
              <a:t>https://zeusk302-png.github.io/kdigital-physical-ai/#/sessions/2026-10-15/workbook</a:t>
            </a:r>
          </a:p>
          <a:p xmlns:a="http://schemas.openxmlformats.org/drawingml/2006/main">
            <a:r>
              <a:t/>
            </a:r>
          </a:p>
          <a:p xmlns:a="http://schemas.openxmlformats.org/drawingml/2006/main">
            <a:r>
              <a:t>예제 코드와 데이터 ZIP</a:t>
            </a:r>
          </a:p>
          <a:p xmlns:a="http://schemas.openxmlformats.org/drawingml/2006/main">
            <a:r>
              <a:t>https://zeusk302-png.github.io/kdigital-physical-ai/downloads/2026-10-15/student-examples.zip</a:t>
            </a:r>
          </a:p>
          <a:p xmlns:a="http://schemas.openxmlformats.org/drawingml/2006/main">
            <a:r>
              <a:t/>
            </a:r>
          </a:p>
          <a:p xmlns:a="http://schemas.openxmlformats.org/drawingml/2006/main">
            <a:r>
              <a:t>날짜별 자료 다운로드</a:t>
            </a:r>
          </a:p>
          <a:p xmlns:a="http://schemas.openxmlformats.org/drawingml/2006/main">
            <a:r>
              <a:t>https://zeusk302-png.github.io/kdigital-physical-ai/#/sessions/2026-10-15/files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함수 · Python</a:t>
            </a:r>
          </a:p>
          <a:p xmlns:a="http://schemas.openxmlformats.org/drawingml/2006/main">
            <a:r>
              <a:t>https://docs.python.org/3/tutorial/controlflow.html</a:t>
            </a:r>
          </a:p>
          <a:p xmlns:a="http://schemas.openxmlformats.org/drawingml/2006/main">
            <a:r>
              <a:t/>
            </a:r>
          </a:p>
          <a:p xmlns:a="http://schemas.openxmlformats.org/drawingml/2006/main">
            <a:r>
              <a:t>파일 입력·출력 · Python</a:t>
            </a:r>
          </a:p>
          <a:p xmlns:a="http://schemas.openxmlformats.org/drawingml/2006/main">
            <a:r>
              <a:t>https://docs.python.org/3/tutorial/inputoutput.html</a:t>
            </a:r>
          </a:p>
          <a:p xmlns:a="http://schemas.openxmlformats.org/drawingml/2006/main">
            <a:r>
              <a:t/>
            </a:r>
          </a:p>
          <a:p xmlns:a="http://schemas.openxmlformats.org/drawingml/2006/main">
            <a:r>
              <a:t>예외 처리 · Python</a:t>
            </a:r>
          </a:p>
          <a:p xmlns:a="http://schemas.openxmlformats.org/drawingml/2006/main">
            <a:r>
              <a:t>https://docs.python.org/3/tutorial/errors.html</a:t>
            </a:r>
          </a:p>
          <a:p xmlns:a="http://schemas.openxmlformats.org/drawingml/2006/main">
            <a:r>
              <a:t/>
            </a:r>
          </a:p>
          <a:p xmlns:a="http://schemas.openxmlformats.org/drawingml/2006/main">
            <a:r>
              <a:t>CSV 읽기 · Python</a:t>
            </a:r>
          </a:p>
          <a:p xmlns:a="http://schemas.openxmlformats.org/drawingml/2006/main">
            <a:r>
              <a:t>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599e44679542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4d99f1ea864f10" /><Relationship Type="http://schemas.openxmlformats.org/officeDocument/2006/relationships/slideLayout" Target="/ppt/slideLayouts/slideLayout1.xml" Id="R0d0d42fa910044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0d42fa910044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1fd7cf58cd114c1e" /><ns0:Relationship Type="http://schemas.openxmlformats.org/officeDocument/2006/relationships/image" Target="/ppt/media/image.png" Id="Ra8e31d5d137b4101" /><ns0:Relationship Type="http://schemas.openxmlformats.org/officeDocument/2006/relationships/notesSlide" Target="/ppt/notesSlides/notesSlide1.xml" Id="R8fa7312d628047cd"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library/csv.html" TargetMode="External"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1.xml" Id="R57a1ee4d4ce944c0" /><ns0:Relationship Type="http://schemas.openxmlformats.org/officeDocument/2006/relationships/notesSlide" Target="/ppt/notesSlides/notesSlide2.xml" Id="R8e6d24f9ea854635"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library/csv.html" TargetMode="External"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1.xml" Id="Rb94fcccd29b04e79" /><ns0:Relationship Type="http://schemas.openxmlformats.org/officeDocument/2006/relationships/notesSlide" Target="/ppt/notesSlides/notesSlide3.xml" Id="R56e7f7b5da43476b"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library/csv.html" TargetMode="External"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1.xml" Id="R62617ea5cb8d411d" /><ns0:Relationship Type="http://schemas.openxmlformats.org/officeDocument/2006/relationships/notesSlide" Target="/ppt/notesSlides/notesSlide4.xml" Id="R399313c40eb4491f"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library/csv.html" TargetMode="External"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0df38917ce204d35" /><ns0:Relationship Type="http://schemas.openxmlformats.org/officeDocument/2006/relationships/notesSlide" Target="/ppt/notesSlides/notesSlide5.xml" Id="R5cac64017f5e41fb"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library/csv.html" TargetMode="External"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1.xml" Id="Rcdd13d44aec043a7" /><ns0:Relationship Type="http://schemas.openxmlformats.org/officeDocument/2006/relationships/notesSlide" Target="/ppt/notesSlides/notesSlide6.xml" Id="Rb891bc068509402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1" TargetMode="External" /><ns0:Relationship Id="rIdLink3" Type="http://schemas.openxmlformats.org/officeDocument/2006/relationships/hyperlink" Target="https://docs.python.org/3/tutorial/controlflow.html" TargetMode="External"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e813f7d186634071" /><ns0:Relationship Type="http://schemas.openxmlformats.org/officeDocument/2006/relationships/notesSlide" Target="/ppt/notesSlides/notesSlide7.xml" Id="Rd2b343b873574f07"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1" TargetMode="External" /><ns0:Relationship Id="rIdLink3" Type="http://schemas.openxmlformats.org/officeDocument/2006/relationships/hyperlink" Target="https://docs.python.org/3/tutorial/controlflow.html" TargetMode="External"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1.xml" Id="R06384e6c8d174d5f" /><ns0:Relationship Type="http://schemas.openxmlformats.org/officeDocument/2006/relationships/notesSlide" Target="/ppt/notesSlides/notesSlide8.xml" Id="R318fb90bec1b455a"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2" TargetMode="External" /><ns0:Relationship Id="rIdLink3" Type="http://schemas.openxmlformats.org/officeDocument/2006/relationships/hyperlink" Target="https://docs.python.org/3/tutorial/controlflow.html" TargetMode="External"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1.xml" Id="Rc30c9674563a4b31" /><ns0:Relationship Type="http://schemas.openxmlformats.org/officeDocument/2006/relationships/notesSlide" Target="/ppt/notesSlides/notesSlide9.xml" Id="R35caf0998cff4132"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2" TargetMode="External" /><ns0:Relationship Id="rIdLink3" Type="http://schemas.openxmlformats.org/officeDocument/2006/relationships/hyperlink" Target="https://docs.python.org/3/tutorial/controlflow.html" TargetMode="External"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1.xml" Id="Rf961cef710d24442" /><ns0:Relationship Type="http://schemas.openxmlformats.org/officeDocument/2006/relationships/notesSlide" Target="/ppt/notesSlides/notesSlide10.xml" Id="Ree8e5e08b78d4160"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controlflow.html" TargetMode="External"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1.xml" Id="Rf6b933e7c4a14faa" /><ns0:Relationship Type="http://schemas.openxmlformats.org/officeDocument/2006/relationships/notesSlide" Target="/ppt/notesSlides/notesSlide11.xml" Id="R9b84fad84d8348fc"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2" TargetMode="External" /><ns0:Relationship Id="rIdLink3" Type="http://schemas.openxmlformats.org/officeDocument/2006/relationships/hyperlink" Target="https://docs.python.org/3/tutorial/controlflow.html" TargetMode="External"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1.xml" Id="R33c7f3f50ff94811" /><ns0:Relationship Type="http://schemas.openxmlformats.org/officeDocument/2006/relationships/notesSlide" Target="/ppt/notesSlides/notesSlide12.xml" Id="R2be8389616af4122"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3" TargetMode="External" /><ns0:Relationship Id="rIdLink3" Type="http://schemas.openxmlformats.org/officeDocument/2006/relationships/hyperlink" Target="https://docs.python.org/3/tutorial/controlflow.html" TargetMode="External" /></ns0:Relationships>
</file>

<file path=ppt/slides/_rels/slide13.xml.rels><?xml version='1.0' encoding='utf-8'?>
<ns0:Relationships xmlns:ns0="http://schemas.openxmlformats.org/package/2006/relationships"><ns0:Relationship Type="http://schemas.openxmlformats.org/officeDocument/2006/relationships/slideLayout" Target="/ppt/slideLayouts/slideLayout1.xml" Id="R72e349f311584aa9" /><ns0:Relationship Type="http://schemas.openxmlformats.org/officeDocument/2006/relationships/notesSlide" Target="/ppt/notesSlides/notesSlide13.xml" Id="Rbd7d001ce2cf4ba2"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3" TargetMode="External" /><ns0:Relationship Id="rIdLink3" Type="http://schemas.openxmlformats.org/officeDocument/2006/relationships/hyperlink" Target="https://docs.python.org/3/tutorial/controlflow.html" TargetMode="External" /></ns0:Relationships>
</file>

<file path=ppt/slides/_rels/slide14.xml.rels><?xml version='1.0' encoding='utf-8'?>
<ns0:Relationships xmlns:ns0="http://schemas.openxmlformats.org/package/2006/relationships"><ns0:Relationship Type="http://schemas.openxmlformats.org/officeDocument/2006/relationships/slideLayout" Target="/ppt/slideLayouts/slideLayout1.xml" Id="R0bed7e600bc840c8" /><ns0:Relationship Type="http://schemas.openxmlformats.org/officeDocument/2006/relationships/notesSlide" Target="/ppt/notesSlides/notesSlide14.xml" Id="R98b9e67e28d8492f"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3" TargetMode="External" /><ns0:Relationship Id="rIdLink3" Type="http://schemas.openxmlformats.org/officeDocument/2006/relationships/hyperlink" Target="https://docs.python.org/3/tutorial/controlflow.html" TargetMode="External" /></ns0:Relationships>
</file>

<file path=ppt/slides/_rels/slide15.xml.rels><?xml version='1.0' encoding='utf-8'?>
<ns0:Relationships xmlns:ns0="http://schemas.openxmlformats.org/package/2006/relationships"><ns0:Relationship Type="http://schemas.openxmlformats.org/officeDocument/2006/relationships/slideLayout" Target="/ppt/slideLayouts/slideLayout1.xml" Id="R5f404fb552614c72" /><ns0:Relationship Type="http://schemas.openxmlformats.org/officeDocument/2006/relationships/notesSlide" Target="/ppt/notesSlides/notesSlide15.xml" Id="R1fb0557656d14397"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controlflow.html" TargetMode="External" /></ns0:Relationships>
</file>

<file path=ppt/slides/_rels/slide16.xml.rels><?xml version='1.0' encoding='utf-8'?>
<ns0:Relationships xmlns:ns0="http://schemas.openxmlformats.org/package/2006/relationships"><ns0:Relationship Type="http://schemas.openxmlformats.org/officeDocument/2006/relationships/slideLayout" Target="/ppt/slideLayouts/slideLayout1.xml" Id="Rcc486ab0c371476b" /><ns0:Relationship Type="http://schemas.openxmlformats.org/officeDocument/2006/relationships/notesSlide" Target="/ppt/notesSlides/notesSlide16.xml" Id="Rf38d5b915e9741eb"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controlflow.html" TargetMode="External" /></ns0:Relationships>
</file>

<file path=ppt/slides/_rels/slide17.xml.rels><?xml version='1.0' encoding='utf-8'?>
<ns0:Relationships xmlns:ns0="http://schemas.openxmlformats.org/package/2006/relationships"><ns0:Relationship Type="http://schemas.openxmlformats.org/officeDocument/2006/relationships/slideLayout" Target="/ppt/slideLayouts/slideLayout1.xml" Id="R032218acb7d94952" /><ns0:Relationship Type="http://schemas.openxmlformats.org/officeDocument/2006/relationships/notesSlide" Target="/ppt/notesSlides/notesSlide17.xml" Id="R627aa871d9554a44"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controlflow.html" TargetMode="External" /></ns0:Relationships>
</file>

<file path=ppt/slides/_rels/slide18.xml.rels><?xml version='1.0' encoding='utf-8'?>
<ns0:Relationships xmlns:ns0="http://schemas.openxmlformats.org/package/2006/relationships"><ns0:Relationship Type="http://schemas.openxmlformats.org/officeDocument/2006/relationships/slideLayout" Target="/ppt/slideLayouts/slideLayout1.xml" Id="R82ae435b2e424db2" /><ns0:Relationship Type="http://schemas.openxmlformats.org/officeDocument/2006/relationships/notesSlide" Target="/ppt/notesSlides/notesSlide18.xml" Id="R2f526bc1b46447df"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controlflow.html" TargetMode="External" /></ns0: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1.xml" Id="R3ac18cd2ba7041cd" /><ns0:Relationship Type="http://schemas.openxmlformats.org/officeDocument/2006/relationships/notesSlide" Target="/ppt/notesSlides/notesSlide19.xml" Id="Rb163a5b712774769"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3" TargetMode="External" /><ns0:Relationship Id="rIdLink3" Type="http://schemas.openxmlformats.org/officeDocument/2006/relationships/hyperlink" Target="https://docs.python.org/3/tutorial/controlflow.html" TargetMode="External"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1.xml" Id="Rc48bcbd12a3e4acf" /><ns0:Relationship Type="http://schemas.openxmlformats.org/officeDocument/2006/relationships/notesSlide" Target="/ppt/notesSlides/notesSlide20.xml" Id="R947a0911d2964d69"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controlflow.html" TargetMode="External" /></ns0:Relationships>
</file>

<file path=ppt/slides/_rels/slide21.xml.rels><?xml version='1.0' encoding='utf-8'?>
<ns0:Relationships xmlns:ns0="http://schemas.openxmlformats.org/package/2006/relationships"><ns0:Relationship Type="http://schemas.openxmlformats.org/officeDocument/2006/relationships/slideLayout" Target="/ppt/slideLayouts/slideLayout1.xml" Id="R1959ffc39fd2433f" /><ns0:Relationship Type="http://schemas.openxmlformats.org/officeDocument/2006/relationships/notesSlide" Target="/ppt/notesSlides/notesSlide21.xml" Id="Rf1520902e05e4dc3"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4" TargetMode="External" /><ns0:Relationship Id="rIdLink3" Type="http://schemas.openxmlformats.org/officeDocument/2006/relationships/hyperlink" Target="https://docs.python.org/3/tutorial/inputoutput.html" TargetMode="External" /></ns0:Relationships>
</file>

<file path=ppt/slides/_rels/slide22.xml.rels><?xml version='1.0' encoding='utf-8'?>
<ns0:Relationships xmlns:ns0="http://schemas.openxmlformats.org/package/2006/relationships"><ns0:Relationship Type="http://schemas.openxmlformats.org/officeDocument/2006/relationships/slideLayout" Target="/ppt/slideLayouts/slideLayout1.xml" Id="R669cea462df44f60" /><ns0:Relationship Type="http://schemas.openxmlformats.org/officeDocument/2006/relationships/notesSlide" Target="/ppt/notesSlides/notesSlide22.xml" Id="R9e814758e0cf4040"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4" TargetMode="External" /><ns0:Relationship Id="rIdLink3" Type="http://schemas.openxmlformats.org/officeDocument/2006/relationships/hyperlink" Target="https://docs.python.org/3/tutorial/inputoutput.html" TargetMode="External" /></ns0:Relationships>
</file>

<file path=ppt/slides/_rels/slide23.xml.rels><?xml version='1.0' encoding='utf-8'?>
<ns0:Relationships xmlns:ns0="http://schemas.openxmlformats.org/package/2006/relationships"><ns0:Relationship Type="http://schemas.openxmlformats.org/officeDocument/2006/relationships/slideLayout" Target="/ppt/slideLayouts/slideLayout1.xml" Id="Recf89659efe646c3" /><ns0:Relationship Type="http://schemas.openxmlformats.org/officeDocument/2006/relationships/notesSlide" Target="/ppt/notesSlides/notesSlide23.xml" Id="R07bac5cc87b543f2"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4" TargetMode="External" /><ns0:Relationship Id="rIdLink3" Type="http://schemas.openxmlformats.org/officeDocument/2006/relationships/hyperlink" Target="https://docs.python.org/3/tutorial/inputoutput.html" TargetMode="External" /></ns0:Relationships>
</file>

<file path=ppt/slides/_rels/slide24.xml.rels><?xml version='1.0' encoding='utf-8'?>
<ns0:Relationships xmlns:ns0="http://schemas.openxmlformats.org/package/2006/relationships"><ns0:Relationship Type="http://schemas.openxmlformats.org/officeDocument/2006/relationships/slideLayout" Target="/ppt/slideLayouts/slideLayout1.xml" Id="Rb6fc778f5602426a" /><ns0:Relationship Type="http://schemas.openxmlformats.org/officeDocument/2006/relationships/notesSlide" Target="/ppt/notesSlides/notesSlide24.xml" Id="Rad9adfff640142b8"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4" TargetMode="External" /><ns0:Relationship Id="rIdLink3" Type="http://schemas.openxmlformats.org/officeDocument/2006/relationships/hyperlink" Target="https://docs.python.org/3/tutorial/inputoutput.html" TargetMode="External" /></ns0:Relationships>
</file>

<file path=ppt/slides/_rels/slide25.xml.rels><?xml version='1.0' encoding='utf-8'?>
<ns0:Relationships xmlns:ns0="http://schemas.openxmlformats.org/package/2006/relationships"><ns0:Relationship Type="http://schemas.openxmlformats.org/officeDocument/2006/relationships/slideLayout" Target="/ppt/slideLayouts/slideLayout1.xml" Id="R870270909de24e00" /><ns0:Relationship Type="http://schemas.openxmlformats.org/officeDocument/2006/relationships/notesSlide" Target="/ppt/notesSlides/notesSlide25.xml" Id="R7d184df0d247405a"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4" TargetMode="External" /><ns0:Relationship Id="rIdLink3" Type="http://schemas.openxmlformats.org/officeDocument/2006/relationships/hyperlink" Target="https://docs.python.org/3/tutorial/inputoutput.html" TargetMode="External" /></ns0:Relationships>
</file>

<file path=ppt/slides/_rels/slide26.xml.rels><?xml version='1.0' encoding='utf-8'?>
<ns0:Relationships xmlns:ns0="http://schemas.openxmlformats.org/package/2006/relationships"><ns0:Relationship Type="http://schemas.openxmlformats.org/officeDocument/2006/relationships/slideLayout" Target="/ppt/slideLayouts/slideLayout1.xml" Id="Raa373972df6f4b97" /><ns0:Relationship Type="http://schemas.openxmlformats.org/officeDocument/2006/relationships/notesSlide" Target="/ppt/notesSlides/notesSlide26.xml" Id="R098a70eb60574f4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5" TargetMode="External" /><ns0:Relationship Id="rIdLink3" Type="http://schemas.openxmlformats.org/officeDocument/2006/relationships/hyperlink" Target="https://docs.python.org/3/tutorial/inputoutput.html" TargetMode="External" /></ns0:Relationships>
</file>

<file path=ppt/slides/_rels/slide27.xml.rels><?xml version='1.0' encoding='utf-8'?>
<ns0:Relationships xmlns:ns0="http://schemas.openxmlformats.org/package/2006/relationships"><ns0:Relationship Type="http://schemas.openxmlformats.org/officeDocument/2006/relationships/slideLayout" Target="/ppt/slideLayouts/slideLayout1.xml" Id="R80f80a153cb94997" /><ns0:Relationship Type="http://schemas.openxmlformats.org/officeDocument/2006/relationships/notesSlide" Target="/ppt/notesSlides/notesSlide27.xml" Id="R97c34cb02f204fbf"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5" TargetMode="External" /><ns0:Relationship Id="rIdLink3" Type="http://schemas.openxmlformats.org/officeDocument/2006/relationships/hyperlink" Target="https://docs.python.org/3/tutorial/inputoutput.html" TargetMode="External" /></ns0:Relationships>
</file>

<file path=ppt/slides/_rels/slide28.xml.rels><?xml version='1.0' encoding='utf-8'?>
<ns0:Relationships xmlns:ns0="http://schemas.openxmlformats.org/package/2006/relationships"><ns0:Relationship Type="http://schemas.openxmlformats.org/officeDocument/2006/relationships/slideLayout" Target="/ppt/slideLayouts/slideLayout1.xml" Id="Ra8f75f5ac65a4d22" /><ns0:Relationship Type="http://schemas.openxmlformats.org/officeDocument/2006/relationships/notesSlide" Target="/ppt/notesSlides/notesSlide28.xml" Id="R6df72494a084421e"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6" TargetMode="External" /><ns0:Relationship Id="rIdLink3" Type="http://schemas.openxmlformats.org/officeDocument/2006/relationships/hyperlink" Target="https://docs.python.org/3/tutorial/inputoutput.html" TargetMode="External" /></ns0:Relationships>
</file>

<file path=ppt/slides/_rels/slide29.xml.rels><?xml version='1.0' encoding='utf-8'?>
<ns0:Relationships xmlns:ns0="http://schemas.openxmlformats.org/package/2006/relationships"><ns0:Relationship Type="http://schemas.openxmlformats.org/officeDocument/2006/relationships/slideLayout" Target="/ppt/slideLayouts/slideLayout1.xml" Id="R96de2ac641b44824" /><ns0:Relationship Type="http://schemas.openxmlformats.org/officeDocument/2006/relationships/notesSlide" Target="/ppt/notesSlides/notesSlide29.xml" Id="R14b44d13a9d24cb4"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6" TargetMode="External" /><ns0:Relationship Id="rIdLink3" Type="http://schemas.openxmlformats.org/officeDocument/2006/relationships/hyperlink" Target="https://docs.python.org/3/tutorial/inputoutput.html" TargetMode="External" /></ns0:Relationships>
</file>

<file path=ppt/slides/_rels/slide30.xml.rels><?xml version='1.0' encoding='utf-8'?>
<ns0:Relationships xmlns:ns0="http://schemas.openxmlformats.org/package/2006/relationships"><ns0:Relationship Type="http://schemas.openxmlformats.org/officeDocument/2006/relationships/slideLayout" Target="/ppt/slideLayouts/slideLayout1.xml" Id="R08be4d4a265c49fd" /><ns0:Relationship Type="http://schemas.openxmlformats.org/officeDocument/2006/relationships/notesSlide" Target="/ppt/notesSlides/notesSlide30.xml" Id="R48176551d4234fa1"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inputoutput.html" TargetMode="External" /></ns0:Relationships>
</file>

<file path=ppt/slides/_rels/slide31.xml.rels><?xml version='1.0' encoding='utf-8'?>
<ns0:Relationships xmlns:ns0="http://schemas.openxmlformats.org/package/2006/relationships"><ns0:Relationship Type="http://schemas.openxmlformats.org/officeDocument/2006/relationships/slideLayout" Target="/ppt/slideLayouts/slideLayout1.xml" Id="Ra3ef9abf831345f0" /><ns0:Relationship Type="http://schemas.openxmlformats.org/officeDocument/2006/relationships/notesSlide" Target="/ppt/notesSlides/notesSlide31.xml" Id="R06714c2fa1fe443e"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inputoutput.html" TargetMode="External" /></ns0:Relationships>
</file>

<file path=ppt/slides/_rels/slide32.xml.rels><?xml version='1.0' encoding='utf-8'?>
<ns0:Relationships xmlns:ns0="http://schemas.openxmlformats.org/package/2006/relationships"><ns0:Relationship Type="http://schemas.openxmlformats.org/officeDocument/2006/relationships/slideLayout" Target="/ppt/slideLayouts/slideLayout1.xml" Id="R0903f993242b49b2" /><ns0:Relationship Type="http://schemas.openxmlformats.org/officeDocument/2006/relationships/notesSlide" Target="/ppt/notesSlides/notesSlide32.xml" Id="R87838b89fbba4b3c"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inputoutput.html" TargetMode="External" /></ns0:Relationships>
</file>

<file path=ppt/slides/_rels/slide33.xml.rels><?xml version='1.0' encoding='utf-8'?>
<ns0:Relationships xmlns:ns0="http://schemas.openxmlformats.org/package/2006/relationships"><ns0:Relationship Type="http://schemas.openxmlformats.org/officeDocument/2006/relationships/slideLayout" Target="/ppt/slideLayouts/slideLayout1.xml" Id="Re0a1ef697e4840c5" /><ns0:Relationship Type="http://schemas.openxmlformats.org/officeDocument/2006/relationships/notesSlide" Target="/ppt/notesSlides/notesSlide33.xml" Id="R034f17fdb0634f8f"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inputoutput.html" TargetMode="External" /></ns0:Relationships>
</file>

<file path=ppt/slides/_rels/slide34.xml.rels><?xml version='1.0' encoding='utf-8'?>
<ns0:Relationships xmlns:ns0="http://schemas.openxmlformats.org/package/2006/relationships"><ns0:Relationship Type="http://schemas.openxmlformats.org/officeDocument/2006/relationships/slideLayout" Target="/ppt/slideLayouts/slideLayout1.xml" Id="R5e58192046244366" /><ns0:Relationship Type="http://schemas.openxmlformats.org/officeDocument/2006/relationships/notesSlide" Target="/ppt/notesSlides/notesSlide34.xml" Id="R7fd7ae4e6a274f6f"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6" TargetMode="External" /><ns0:Relationship Id="rIdLink3" Type="http://schemas.openxmlformats.org/officeDocument/2006/relationships/hyperlink" Target="https://docs.python.org/3/tutorial/inputoutput.html" TargetMode="External" /></ns0:Relationships>
</file>

<file path=ppt/slides/_rels/slide35.xml.rels><?xml version='1.0' encoding='utf-8'?>
<ns0:Relationships xmlns:ns0="http://schemas.openxmlformats.org/package/2006/relationships"><ns0:Relationship Type="http://schemas.openxmlformats.org/officeDocument/2006/relationships/slideLayout" Target="/ppt/slideLayouts/slideLayout1.xml" Id="Rbea05ea1b9bf409e" /><ns0:Relationship Type="http://schemas.openxmlformats.org/officeDocument/2006/relationships/notesSlide" Target="/ppt/notesSlides/notesSlide35.xml" Id="R7b012c4119a64277"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inputoutput.html" TargetMode="External" /></ns0:Relationships>
</file>

<file path=ppt/slides/_rels/slide36.xml.rels><?xml version='1.0' encoding='utf-8'?>
<ns0:Relationships xmlns:ns0="http://schemas.openxmlformats.org/package/2006/relationships"><ns0:Relationship Type="http://schemas.openxmlformats.org/officeDocument/2006/relationships/slideLayout" Target="/ppt/slideLayouts/slideLayout1.xml" Id="Rcd3ac690ad834abf" /><ns0:Relationship Type="http://schemas.openxmlformats.org/officeDocument/2006/relationships/notesSlide" Target="/ppt/notesSlides/notesSlide36.xml" Id="R5f9712e5129f438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7" TargetMode="External" /><ns0:Relationship Id="rIdLink3" Type="http://schemas.openxmlformats.org/officeDocument/2006/relationships/hyperlink" Target="https://docs.python.org/3/tutorial/errors.html" TargetMode="External" /></ns0:Relationships>
</file>

<file path=ppt/slides/_rels/slide37.xml.rels><?xml version='1.0' encoding='utf-8'?>
<ns0:Relationships xmlns:ns0="http://schemas.openxmlformats.org/package/2006/relationships"><ns0:Relationship Type="http://schemas.openxmlformats.org/officeDocument/2006/relationships/slideLayout" Target="/ppt/slideLayouts/slideLayout1.xml" Id="Rd28af34313324351" /><ns0:Relationship Type="http://schemas.openxmlformats.org/officeDocument/2006/relationships/notesSlide" Target="/ppt/notesSlides/notesSlide37.xml" Id="R67dc1add70ad451f"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7" TargetMode="External" /><ns0:Relationship Id="rIdLink3" Type="http://schemas.openxmlformats.org/officeDocument/2006/relationships/hyperlink" Target="https://docs.python.org/3/tutorial/errors.html" TargetMode="External" /></ns0:Relationships>
</file>

<file path=ppt/slides/_rels/slide38.xml.rels><?xml version='1.0' encoding='utf-8'?>
<ns0:Relationships xmlns:ns0="http://schemas.openxmlformats.org/package/2006/relationships"><ns0:Relationship Type="http://schemas.openxmlformats.org/officeDocument/2006/relationships/slideLayout" Target="/ppt/slideLayouts/slideLayout1.xml" Id="R75e11a45cd4f467f" /><ns0:Relationship Type="http://schemas.openxmlformats.org/officeDocument/2006/relationships/notesSlide" Target="/ppt/notesSlides/notesSlide38.xml" Id="R1786ef3d974f49f5"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7" TargetMode="External" /><ns0:Relationship Id="rIdLink3" Type="http://schemas.openxmlformats.org/officeDocument/2006/relationships/hyperlink" Target="https://docs.python.org/3/tutorial/errors.html" TargetMode="External" /></ns0:Relationships>
</file>

<file path=ppt/slides/_rels/slide39.xml.rels><?xml version='1.0' encoding='utf-8'?>
<ns0:Relationships xmlns:ns0="http://schemas.openxmlformats.org/package/2006/relationships"><ns0:Relationship Type="http://schemas.openxmlformats.org/officeDocument/2006/relationships/slideLayout" Target="/ppt/slideLayouts/slideLayout1.xml" Id="R176dcbec39634ca2" /><ns0:Relationship Type="http://schemas.openxmlformats.org/officeDocument/2006/relationships/notesSlide" Target="/ppt/notesSlides/notesSlide39.xml" Id="Re7dbc66d39b34f34"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7" TargetMode="External" /><ns0:Relationship Id="rIdLink3" Type="http://schemas.openxmlformats.org/officeDocument/2006/relationships/hyperlink" Target="https://docs.python.org/3/tutorial/errors.html" TargetMode="External" /></ns0:Relationships>
</file>

<file path=ppt/slides/_rels/slide40.xml.rels><?xml version='1.0' encoding='utf-8'?>
<ns0:Relationships xmlns:ns0="http://schemas.openxmlformats.org/package/2006/relationships"><ns0:Relationship Type="http://schemas.openxmlformats.org/officeDocument/2006/relationships/slideLayout" Target="/ppt/slideLayouts/slideLayout1.xml" Id="Rd847c1aa66264088" /><ns0:Relationship Type="http://schemas.openxmlformats.org/officeDocument/2006/relationships/notesSlide" Target="/ppt/notesSlides/notesSlide40.xml" Id="Rac7bb77b4da9404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8" TargetMode="External" /><ns0:Relationship Id="rIdLink3" Type="http://schemas.openxmlformats.org/officeDocument/2006/relationships/hyperlink" Target="https://docs.python.org/3/tutorial/errors.html" TargetMode="External" /></ns0:Relationships>
</file>

<file path=ppt/slides/_rels/slide41.xml.rels><?xml version='1.0' encoding='utf-8'?>
<ns0:Relationships xmlns:ns0="http://schemas.openxmlformats.org/package/2006/relationships"><ns0:Relationship Type="http://schemas.openxmlformats.org/officeDocument/2006/relationships/slideLayout" Target="/ppt/slideLayouts/slideLayout1.xml" Id="R4c933dbddf564404" /><ns0:Relationship Type="http://schemas.openxmlformats.org/officeDocument/2006/relationships/notesSlide" Target="/ppt/notesSlides/notesSlide41.xml" Id="R78d622079a1646d9"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8" TargetMode="External" /><ns0:Relationship Id="rIdLink3" Type="http://schemas.openxmlformats.org/officeDocument/2006/relationships/hyperlink" Target="https://docs.python.org/3/tutorial/errors.html" TargetMode="External" /></ns0:Relationships>
</file>

<file path=ppt/slides/_rels/slide42.xml.rels><?xml version='1.0' encoding='utf-8'?>
<ns0:Relationships xmlns:ns0="http://schemas.openxmlformats.org/package/2006/relationships"><ns0:Relationship Type="http://schemas.openxmlformats.org/officeDocument/2006/relationships/slideLayout" Target="/ppt/slideLayouts/slideLayout1.xml" Id="R05d59f9e08604222" /><ns0:Relationship Type="http://schemas.openxmlformats.org/officeDocument/2006/relationships/notesSlide" Target="/ppt/notesSlides/notesSlide42.xml" Id="R590c38d7d1c2478a"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8" TargetMode="External" /><ns0:Relationship Id="rIdLink3" Type="http://schemas.openxmlformats.org/officeDocument/2006/relationships/hyperlink" Target="https://docs.python.org/3/tutorial/errors.html" TargetMode="External" /></ns0:Relationships>
</file>

<file path=ppt/slides/_rels/slide43.xml.rels><?xml version='1.0' encoding='utf-8'?>
<ns0:Relationships xmlns:ns0="http://schemas.openxmlformats.org/package/2006/relationships"><ns0:Relationship Type="http://schemas.openxmlformats.org/officeDocument/2006/relationships/slideLayout" Target="/ppt/slideLayouts/slideLayout1.xml" Id="R7662d685725d4c64" /><ns0:Relationship Type="http://schemas.openxmlformats.org/officeDocument/2006/relationships/notesSlide" Target="/ppt/notesSlides/notesSlide43.xml" Id="R21b0faf37f3d4379"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9" TargetMode="External" /><ns0:Relationship Id="rIdLink3" Type="http://schemas.openxmlformats.org/officeDocument/2006/relationships/hyperlink" Target="https://docs.python.org/3/tutorial/errors.html" TargetMode="External" /></ns0:Relationships>
</file>

<file path=ppt/slides/_rels/slide44.xml.rels><?xml version='1.0' encoding='utf-8'?>
<ns0:Relationships xmlns:ns0="http://schemas.openxmlformats.org/package/2006/relationships"><ns0:Relationship Type="http://schemas.openxmlformats.org/officeDocument/2006/relationships/slideLayout" Target="/ppt/slideLayouts/slideLayout1.xml" Id="Reef13eb4621445f5" /><ns0:Relationship Type="http://schemas.openxmlformats.org/officeDocument/2006/relationships/notesSlide" Target="/ppt/notesSlides/notesSlide44.xml" Id="Rfdcb89bba69f42f5"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9" TargetMode="External" /><ns0:Relationship Id="rIdLink3" Type="http://schemas.openxmlformats.org/officeDocument/2006/relationships/hyperlink" Target="https://docs.python.org/3/tutorial/errors.html" TargetMode="External" /></ns0:Relationships>
</file>

<file path=ppt/slides/_rels/slide45.xml.rels><?xml version='1.0' encoding='utf-8'?>
<ns0:Relationships xmlns:ns0="http://schemas.openxmlformats.org/package/2006/relationships"><ns0:Relationship Type="http://schemas.openxmlformats.org/officeDocument/2006/relationships/slideLayout" Target="/ppt/slideLayouts/slideLayout1.xml" Id="R6091de478ddf4300" /><ns0:Relationship Type="http://schemas.openxmlformats.org/officeDocument/2006/relationships/notesSlide" Target="/ppt/notesSlides/notesSlide45.xml" Id="R6e0f2cc6f9ca41e5"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errors.html" TargetMode="External" /></ns0:Relationships>
</file>

<file path=ppt/slides/_rels/slide46.xml.rels><?xml version='1.0' encoding='utf-8'?>
<ns0:Relationships xmlns:ns0="http://schemas.openxmlformats.org/package/2006/relationships"><ns0:Relationship Type="http://schemas.openxmlformats.org/officeDocument/2006/relationships/slideLayout" Target="/ppt/slideLayouts/slideLayout1.xml" Id="R207c005d12b742e0" /><ns0:Relationship Type="http://schemas.openxmlformats.org/officeDocument/2006/relationships/notesSlide" Target="/ppt/notesSlides/notesSlide46.xml" Id="Rcf0b6b80effb4e1f"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errors.html" TargetMode="External" /></ns0:Relationships>
</file>

<file path=ppt/slides/_rels/slide47.xml.rels><?xml version='1.0' encoding='utf-8'?>
<ns0:Relationships xmlns:ns0="http://schemas.openxmlformats.org/package/2006/relationships"><ns0:Relationship Type="http://schemas.openxmlformats.org/officeDocument/2006/relationships/slideLayout" Target="/ppt/slideLayouts/slideLayout1.xml" Id="R6ae0bc1ac8e04a7e" /><ns0:Relationship Type="http://schemas.openxmlformats.org/officeDocument/2006/relationships/notesSlide" Target="/ppt/notesSlides/notesSlide47.xml" Id="Rf677fac9ec574a77"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errors.html" TargetMode="External" /></ns0:Relationships>
</file>

<file path=ppt/slides/_rels/slide48.xml.rels><?xml version='1.0' encoding='utf-8'?>
<ns0:Relationships xmlns:ns0="http://schemas.openxmlformats.org/package/2006/relationships"><ns0:Relationship Type="http://schemas.openxmlformats.org/officeDocument/2006/relationships/slideLayout" Target="/ppt/slideLayouts/slideLayout1.xml" Id="Ra85970e364544d8f" /><ns0:Relationship Type="http://schemas.openxmlformats.org/officeDocument/2006/relationships/notesSlide" Target="/ppt/notesSlides/notesSlide48.xml" Id="R7e56f666b65a4db8"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errors.html" TargetMode="External" /></ns0:Relationships>
</file>

<file path=ppt/slides/_rels/slide49.xml.rels><?xml version='1.0' encoding='utf-8'?>
<ns0:Relationships xmlns:ns0="http://schemas.openxmlformats.org/package/2006/relationships"><ns0:Relationship Type="http://schemas.openxmlformats.org/officeDocument/2006/relationships/slideLayout" Target="/ppt/slideLayouts/slideLayout1.xml" Id="R0de1a6c945954842" /><ns0:Relationship Type="http://schemas.openxmlformats.org/officeDocument/2006/relationships/notesSlide" Target="/ppt/notesSlides/notesSlide49.xml" Id="Rea51ef1c125f4a77"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09" TargetMode="External" /><ns0:Relationship Id="rIdLink3" Type="http://schemas.openxmlformats.org/officeDocument/2006/relationships/hyperlink" Target="https://docs.python.org/3/tutorial/errors.html" TargetMode="External" /></ns0:Relationships>
</file>

<file path=ppt/slides/_rels/slide50.xml.rels><?xml version='1.0' encoding='utf-8'?>
<ns0:Relationships xmlns:ns0="http://schemas.openxmlformats.org/package/2006/relationships"><ns0:Relationship Type="http://schemas.openxmlformats.org/officeDocument/2006/relationships/slideLayout" Target="/ppt/slideLayouts/slideLayout1.xml" Id="R84088aed5e1f4902" /><ns0:Relationship Type="http://schemas.openxmlformats.org/officeDocument/2006/relationships/notesSlide" Target="/ppt/notesSlides/notesSlide50.xml" Id="R4d091aacb89a4741"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errors.html" TargetMode="External" /></ns0:Relationships>
</file>

<file path=ppt/slides/_rels/slide51.xml.rels><?xml version='1.0' encoding='utf-8'?>
<ns0:Relationships xmlns:ns0="http://schemas.openxmlformats.org/package/2006/relationships"><ns0:Relationship Type="http://schemas.openxmlformats.org/officeDocument/2006/relationships/slideLayout" Target="/ppt/slideLayouts/slideLayout1.xml" Id="Rab121deb7321430d" /><ns0:Relationship Type="http://schemas.openxmlformats.org/officeDocument/2006/relationships/notesSlide" Target="/ppt/notesSlides/notesSlide51.xml" Id="R63ac86d27c09400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0" TargetMode="External" /><ns0:Relationship Id="rIdLink3" Type="http://schemas.openxmlformats.org/officeDocument/2006/relationships/hyperlink" Target="https://docs.python.org/3/library/csv.html" TargetMode="External" /></ns0:Relationships>
</file>

<file path=ppt/slides/_rels/slide52.xml.rels><?xml version='1.0' encoding='utf-8'?>
<ns0:Relationships xmlns:ns0="http://schemas.openxmlformats.org/package/2006/relationships"><ns0:Relationship Type="http://schemas.openxmlformats.org/officeDocument/2006/relationships/slideLayout" Target="/ppt/slideLayouts/slideLayout1.xml" Id="R0c636913e81d456d" /><ns0:Relationship Type="http://schemas.openxmlformats.org/officeDocument/2006/relationships/notesSlide" Target="/ppt/notesSlides/notesSlide52.xml" Id="R176c02d58cfb45ae"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0" TargetMode="External" /><ns0:Relationship Id="rIdLink3" Type="http://schemas.openxmlformats.org/officeDocument/2006/relationships/hyperlink" Target="https://docs.python.org/3/library/csv.html" TargetMode="External" /></ns0:Relationships>
</file>

<file path=ppt/slides/_rels/slide53.xml.rels><?xml version='1.0' encoding='utf-8'?>
<ns0:Relationships xmlns:ns0="http://schemas.openxmlformats.org/package/2006/relationships"><ns0:Relationship Type="http://schemas.openxmlformats.org/officeDocument/2006/relationships/slideLayout" Target="/ppt/slideLayouts/slideLayout1.xml" Id="R302fdd96e07c46a2" /><ns0:Relationship Type="http://schemas.openxmlformats.org/officeDocument/2006/relationships/notesSlide" Target="/ppt/notesSlides/notesSlide53.xml" Id="R96170fabf1f240f4"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0" TargetMode="External" /><ns0:Relationship Id="rIdLink3" Type="http://schemas.openxmlformats.org/officeDocument/2006/relationships/hyperlink" Target="https://docs.python.org/3/library/csv.html" TargetMode="External" /></ns0:Relationships>
</file>

<file path=ppt/slides/_rels/slide54.xml.rels><?xml version='1.0' encoding='utf-8'?>
<ns0:Relationships xmlns:ns0="http://schemas.openxmlformats.org/package/2006/relationships"><ns0:Relationship Type="http://schemas.openxmlformats.org/officeDocument/2006/relationships/slideLayout" Target="/ppt/slideLayouts/slideLayout1.xml" Id="R505130c99b114f65" /><ns0:Relationship Type="http://schemas.openxmlformats.org/officeDocument/2006/relationships/notesSlide" Target="/ppt/notesSlides/notesSlide54.xml" Id="Rbdbad6a1d157447b"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0" TargetMode="External" /><ns0:Relationship Id="rIdLink3" Type="http://schemas.openxmlformats.org/officeDocument/2006/relationships/hyperlink" Target="https://docs.python.org/3/library/csv.html" TargetMode="External" /></ns0:Relationships>
</file>

<file path=ppt/slides/_rels/slide55.xml.rels><?xml version='1.0' encoding='utf-8'?>
<ns0:Relationships xmlns:ns0="http://schemas.openxmlformats.org/package/2006/relationships"><ns0:Relationship Type="http://schemas.openxmlformats.org/officeDocument/2006/relationships/slideLayout" Target="/ppt/slideLayouts/slideLayout1.xml" Id="R77fba5d8c89f40d3" /><ns0:Relationship Type="http://schemas.openxmlformats.org/officeDocument/2006/relationships/notesSlide" Target="/ppt/notesSlides/notesSlide55.xml" Id="R3ee4556697af4e71"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1" TargetMode="External" /><ns0:Relationship Id="rIdLink3" Type="http://schemas.openxmlformats.org/officeDocument/2006/relationships/hyperlink" Target="https://docs.python.org/3/library/csv.html" TargetMode="External" /></ns0:Relationships>
</file>

<file path=ppt/slides/_rels/slide56.xml.rels><?xml version='1.0' encoding='utf-8'?>
<ns0:Relationships xmlns:ns0="http://schemas.openxmlformats.org/package/2006/relationships"><ns0:Relationship Type="http://schemas.openxmlformats.org/officeDocument/2006/relationships/slideLayout" Target="/ppt/slideLayouts/slideLayout1.xml" Id="R24f1acdaaa9045c4" /><ns0:Relationship Type="http://schemas.openxmlformats.org/officeDocument/2006/relationships/notesSlide" Target="/ppt/notesSlides/notesSlide56.xml" Id="R1ad92d46c6e14509"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1" TargetMode="External" /><ns0:Relationship Id="rIdLink3" Type="http://schemas.openxmlformats.org/officeDocument/2006/relationships/hyperlink" Target="https://docs.python.org/3/library/csv.html" TargetMode="External" /></ns0:Relationships>
</file>

<file path=ppt/slides/_rels/slide57.xml.rels><?xml version='1.0' encoding='utf-8'?>
<ns0:Relationships xmlns:ns0="http://schemas.openxmlformats.org/package/2006/relationships"><ns0:Relationship Type="http://schemas.openxmlformats.org/officeDocument/2006/relationships/slideLayout" Target="/ppt/slideLayouts/slideLayout1.xml" Id="R519992349bf24e89" /><ns0:Relationship Type="http://schemas.openxmlformats.org/officeDocument/2006/relationships/notesSlide" Target="/ppt/notesSlides/notesSlide57.xml" Id="Rb3a8742c57b44bba"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2" TargetMode="External" /><ns0:Relationship Id="rIdLink3" Type="http://schemas.openxmlformats.org/officeDocument/2006/relationships/hyperlink" Target="https://docs.python.org/3/library/csv.html" TargetMode="External" /></ns0:Relationships>
</file>

<file path=ppt/slides/_rels/slide58.xml.rels><?xml version='1.0' encoding='utf-8'?>
<ns0:Relationships xmlns:ns0="http://schemas.openxmlformats.org/package/2006/relationships"><ns0:Relationship Type="http://schemas.openxmlformats.org/officeDocument/2006/relationships/slideLayout" Target="/ppt/slideLayouts/slideLayout1.xml" Id="R3f65e57630f542f9" /><ns0:Relationship Type="http://schemas.openxmlformats.org/officeDocument/2006/relationships/notesSlide" Target="/ppt/notesSlides/notesSlide58.xml" Id="Rf6d27775275b47f4"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2" TargetMode="External" /><ns0:Relationship Id="rIdLink3" Type="http://schemas.openxmlformats.org/officeDocument/2006/relationships/hyperlink" Target="https://docs.python.org/3/library/csv.html" TargetMode="External" /></ns0:Relationships>
</file>

<file path=ppt/slides/_rels/slide59.xml.rels><?xml version='1.0' encoding='utf-8'?>
<ns0:Relationships xmlns:ns0="http://schemas.openxmlformats.org/package/2006/relationships"><ns0:Relationship Type="http://schemas.openxmlformats.org/officeDocument/2006/relationships/slideLayout" Target="/ppt/slideLayouts/slideLayout1.xml" Id="R5a66810689554d03" /><ns0:Relationship Type="http://schemas.openxmlformats.org/officeDocument/2006/relationships/notesSlide" Target="/ppt/notesSlides/notesSlide59.xml" Id="Ra8ca2e0507194242"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library/csv.html" TargetMode="External" /></ns0:Relationships>
</file>

<file path=ppt/slides/_rels/slide60.xml.rels><?xml version='1.0' encoding='utf-8'?>
<ns0:Relationships xmlns:ns0="http://schemas.openxmlformats.org/package/2006/relationships"><ns0:Relationship Type="http://schemas.openxmlformats.org/officeDocument/2006/relationships/slideLayout" Target="/ppt/slideLayouts/slideLayout1.xml" Id="Rd02994e66904406f" /><ns0:Relationship Type="http://schemas.openxmlformats.org/officeDocument/2006/relationships/notesSlide" Target="/ppt/notesSlides/notesSlide60.xml" Id="R7966d59d72334a7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library/csv.html" TargetMode="External" /></ns0:Relationships>
</file>

<file path=ppt/slides/_rels/slide61.xml.rels><?xml version='1.0' encoding='utf-8'?>
<ns0:Relationships xmlns:ns0="http://schemas.openxmlformats.org/package/2006/relationships"><ns0:Relationship Type="http://schemas.openxmlformats.org/officeDocument/2006/relationships/slideLayout" Target="/ppt/slideLayouts/slideLayout1.xml" Id="Ra5ca1bed5ab44fb8" /><ns0:Relationship Type="http://schemas.openxmlformats.org/officeDocument/2006/relationships/notesSlide" Target="/ppt/notesSlides/notesSlide61.xml" Id="R7253b4cc51434b91"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library/csv.html" TargetMode="External" /></ns0:Relationships>
</file>

<file path=ppt/slides/_rels/slide62.xml.rels><?xml version='1.0' encoding='utf-8'?>
<ns0:Relationships xmlns:ns0="http://schemas.openxmlformats.org/package/2006/relationships"><ns0:Relationship Type="http://schemas.openxmlformats.org/officeDocument/2006/relationships/slideLayout" Target="/ppt/slideLayouts/slideLayout1.xml" Id="R76e42e7b316b487a" /><ns0:Relationship Type="http://schemas.openxmlformats.org/officeDocument/2006/relationships/notesSlide" Target="/ppt/notesSlides/notesSlide62.xml" Id="R632837a2971246b3"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library/csv.html" TargetMode="External" /></ns0:Relationships>
</file>

<file path=ppt/slides/_rels/slide63.xml.rels><?xml version='1.0' encoding='utf-8'?>
<ns0:Relationships xmlns:ns0="http://schemas.openxmlformats.org/package/2006/relationships"><ns0:Relationship Type="http://schemas.openxmlformats.org/officeDocument/2006/relationships/slideLayout" Target="/ppt/slideLayouts/slideLayout1.xml" Id="Rf7d0619f08c74d9c" /><ns0:Relationship Type="http://schemas.openxmlformats.org/officeDocument/2006/relationships/notesSlide" Target="/ppt/notesSlides/notesSlide63.xml" Id="Re4d59bc0560745bd"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library/csv.html" TargetMode="External" /></ns0:Relationships>
</file>

<file path=ppt/slides/_rels/slide64.xml.rels><?xml version='1.0' encoding='utf-8'?>
<ns0:Relationships xmlns:ns0="http://schemas.openxmlformats.org/package/2006/relationships"><ns0:Relationship Type="http://schemas.openxmlformats.org/officeDocument/2006/relationships/slideLayout" Target="/ppt/slideLayouts/slideLayout1.xml" Id="R33a1ebded7da4289" /><ns0:Relationship Type="http://schemas.openxmlformats.org/officeDocument/2006/relationships/notesSlide" Target="/ppt/notesSlides/notesSlide64.xml" Id="R8cadf2631120470b"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2" TargetMode="External" /><ns0:Relationship Id="rIdLink3" Type="http://schemas.openxmlformats.org/officeDocument/2006/relationships/hyperlink" Target="https://docs.python.org/3/library/csv.html" TargetMode="External" /></ns0:Relationships>
</file>

<file path=ppt/slides/_rels/slide65.xml.rels><?xml version='1.0' encoding='utf-8'?>
<ns0:Relationships xmlns:ns0="http://schemas.openxmlformats.org/package/2006/relationships"><ns0:Relationship Type="http://schemas.openxmlformats.org/officeDocument/2006/relationships/slideLayout" Target="/ppt/slideLayouts/slideLayout1.xml" Id="Rffc82d2bfaff407d" /><ns0:Relationship Type="http://schemas.openxmlformats.org/officeDocument/2006/relationships/notesSlide" Target="/ppt/notesSlides/notesSlide65.xml" Id="R9ca689032fe74f80"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library/csv.html" TargetMode="External" /></ns0:Relationships>
</file>

<file path=ppt/slides/_rels/slide66.xml.rels><?xml version='1.0' encoding='utf-8'?>
<ns0:Relationships xmlns:ns0="http://schemas.openxmlformats.org/package/2006/relationships"><ns0:Relationship Type="http://schemas.openxmlformats.org/officeDocument/2006/relationships/slideLayout" Target="/ppt/slideLayouts/slideLayout1.xml" Id="Rd93d04e14bfc4286" /><ns0:Relationship Type="http://schemas.openxmlformats.org/officeDocument/2006/relationships/notesSlide" Target="/ppt/notesSlides/notesSlide66.xml" Id="Rbcd2b2a267f84fa2"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3" TargetMode="External" /><ns0:Relationship Id="rIdLink3" Type="http://schemas.openxmlformats.org/officeDocument/2006/relationships/hyperlink" Target="https://docs.python.org/3/tutorial/controlflow.html" TargetMode="External" /></ns0:Relationships>
</file>

<file path=ppt/slides/_rels/slide67.xml.rels><?xml version='1.0' encoding='utf-8'?>
<ns0:Relationships xmlns:ns0="http://schemas.openxmlformats.org/package/2006/relationships"><ns0:Relationship Type="http://schemas.openxmlformats.org/officeDocument/2006/relationships/slideLayout" Target="/ppt/slideLayouts/slideLayout1.xml" Id="R42e6722644914874" /><ns0:Relationship Type="http://schemas.openxmlformats.org/officeDocument/2006/relationships/notesSlide" Target="/ppt/notesSlides/notesSlide67.xml" Id="R526663dff56e416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3" TargetMode="External" /><ns0:Relationship Id="rIdLink3" Type="http://schemas.openxmlformats.org/officeDocument/2006/relationships/hyperlink" Target="https://docs.python.org/3/tutorial/controlflow.html" TargetMode="External" /></ns0:Relationships>
</file>

<file path=ppt/slides/_rels/slide68.xml.rels><?xml version='1.0' encoding='utf-8'?>
<ns0:Relationships xmlns:ns0="http://schemas.openxmlformats.org/package/2006/relationships"><ns0:Relationship Type="http://schemas.openxmlformats.org/officeDocument/2006/relationships/slideLayout" Target="/ppt/slideLayouts/slideLayout1.xml" Id="Re0ae907b27384a4f" /><ns0:Relationship Type="http://schemas.openxmlformats.org/officeDocument/2006/relationships/notesSlide" Target="/ppt/notesSlides/notesSlide68.xml" Id="Rf1e60f94377c478b"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3" TargetMode="External" /><ns0:Relationship Id="rIdLink3" Type="http://schemas.openxmlformats.org/officeDocument/2006/relationships/hyperlink" Target="https://docs.python.org/3/tutorial/controlflow.html" TargetMode="External" /></ns0:Relationships>
</file>

<file path=ppt/slides/_rels/slide69.xml.rels><?xml version='1.0' encoding='utf-8'?>
<ns0:Relationships xmlns:ns0="http://schemas.openxmlformats.org/package/2006/relationships"><ns0:Relationship Type="http://schemas.openxmlformats.org/officeDocument/2006/relationships/slideLayout" Target="/ppt/slideLayouts/slideLayout1.xml" Id="R4c04e559bb9d41f3" /><ns0:Relationship Type="http://schemas.openxmlformats.org/officeDocument/2006/relationships/notesSlide" Target="/ppt/notesSlides/notesSlide69.xml" Id="R1d3fadcc21d3438b"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3" TargetMode="External" /><ns0:Relationship Id="rIdLink3" Type="http://schemas.openxmlformats.org/officeDocument/2006/relationships/hyperlink" Target="https://docs.python.org/3/tutorial/controlflow.html" TargetMode="External" /></ns0:Relationships>
</file>

<file path=ppt/slides/_rels/slide70.xml.rels><?xml version='1.0' encoding='utf-8'?>
<ns0:Relationships xmlns:ns0="http://schemas.openxmlformats.org/package/2006/relationships"><ns0:Relationship Type="http://schemas.openxmlformats.org/officeDocument/2006/relationships/slideLayout" Target="/ppt/slideLayouts/slideLayout1.xml" Id="Rd99c8c33fe5a40b3" /><ns0:Relationship Type="http://schemas.openxmlformats.org/officeDocument/2006/relationships/notesSlide" Target="/ppt/notesSlides/notesSlide70.xml" Id="R553c65ea3f4a4eb3"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3" TargetMode="External" /><ns0:Relationship Id="rIdLink3" Type="http://schemas.openxmlformats.org/officeDocument/2006/relationships/hyperlink" Target="https://docs.python.org/3/tutorial/controlflow.html" TargetMode="External" /></ns0:Relationships>
</file>

<file path=ppt/slides/_rels/slide71.xml.rels><?xml version='1.0' encoding='utf-8'?>
<ns0:Relationships xmlns:ns0="http://schemas.openxmlformats.org/package/2006/relationships"><ns0:Relationship Type="http://schemas.openxmlformats.org/officeDocument/2006/relationships/slideLayout" Target="/ppt/slideLayouts/slideLayout1.xml" Id="R0c3a2003055c43d5" /><ns0:Relationship Type="http://schemas.openxmlformats.org/officeDocument/2006/relationships/notesSlide" Target="/ppt/notesSlides/notesSlide71.xml" Id="Rd644e7d3c42f4d09"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4" TargetMode="External" /><ns0:Relationship Id="rIdLink3" Type="http://schemas.openxmlformats.org/officeDocument/2006/relationships/hyperlink" Target="https://docs.python.org/3/tutorial/controlflow.html" TargetMode="External" /></ns0:Relationships>
</file>

<file path=ppt/slides/_rels/slide72.xml.rels><?xml version='1.0' encoding='utf-8'?>
<ns0:Relationships xmlns:ns0="http://schemas.openxmlformats.org/package/2006/relationships"><ns0:Relationship Type="http://schemas.openxmlformats.org/officeDocument/2006/relationships/slideLayout" Target="/ppt/slideLayouts/slideLayout1.xml" Id="R113436ed46914f18" /><ns0:Relationship Type="http://schemas.openxmlformats.org/officeDocument/2006/relationships/notesSlide" Target="/ppt/notesSlides/notesSlide72.xml" Id="R8ddacfdd2ccd43e2"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4" TargetMode="External" /><ns0:Relationship Id="rIdLink3" Type="http://schemas.openxmlformats.org/officeDocument/2006/relationships/hyperlink" Target="https://docs.python.org/3/tutorial/controlflow.html" TargetMode="External" /></ns0:Relationships>
</file>

<file path=ppt/slides/_rels/slide73.xml.rels><?xml version='1.0' encoding='utf-8'?>
<ns0:Relationships xmlns:ns0="http://schemas.openxmlformats.org/package/2006/relationships"><ns0:Relationship Type="http://schemas.openxmlformats.org/officeDocument/2006/relationships/slideLayout" Target="/ppt/slideLayouts/slideLayout1.xml" Id="R095bfabc6e8e4ecf" /><ns0:Relationship Type="http://schemas.openxmlformats.org/officeDocument/2006/relationships/notesSlide" Target="/ppt/notesSlides/notesSlide73.xml" Id="R2ceb3ad6718a4ad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5" TargetMode="External" /><ns0:Relationship Id="rIdLink3" Type="http://schemas.openxmlformats.org/officeDocument/2006/relationships/hyperlink" Target="https://docs.python.org/3/tutorial/controlflow.html" TargetMode="External" /></ns0:Relationships>
</file>

<file path=ppt/slides/_rels/slide74.xml.rels><?xml version='1.0' encoding='utf-8'?>
<ns0:Relationships xmlns:ns0="http://schemas.openxmlformats.org/package/2006/relationships"><ns0:Relationship Type="http://schemas.openxmlformats.org/officeDocument/2006/relationships/slideLayout" Target="/ppt/slideLayouts/slideLayout1.xml" Id="R48078818e91a40d4" /><ns0:Relationship Type="http://schemas.openxmlformats.org/officeDocument/2006/relationships/notesSlide" Target="/ppt/notesSlides/notesSlide74.xml" Id="Re777a94bd5604fbd"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5" TargetMode="External" /><ns0:Relationship Id="rIdLink3" Type="http://schemas.openxmlformats.org/officeDocument/2006/relationships/hyperlink" Target="https://docs.python.org/3/tutorial/controlflow.html" TargetMode="External" /></ns0:Relationships>
</file>

<file path=ppt/slides/_rels/slide75.xml.rels><?xml version='1.0' encoding='utf-8'?>
<ns0:Relationships xmlns:ns0="http://schemas.openxmlformats.org/package/2006/relationships"><ns0:Relationship Type="http://schemas.openxmlformats.org/officeDocument/2006/relationships/slideLayout" Target="/ppt/slideLayouts/slideLayout1.xml" Id="R25284ffaf3314a58" /><ns0:Relationship Type="http://schemas.openxmlformats.org/officeDocument/2006/relationships/notesSlide" Target="/ppt/notesSlides/notesSlide75.xml" Id="R397e1a2358e4470a"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controlflow.html" TargetMode="External" /></ns0:Relationships>
</file>

<file path=ppt/slides/_rels/slide76.xml.rels><?xml version='1.0' encoding='utf-8'?>
<ns0:Relationships xmlns:ns0="http://schemas.openxmlformats.org/package/2006/relationships"><ns0:Relationship Type="http://schemas.openxmlformats.org/officeDocument/2006/relationships/slideLayout" Target="/ppt/slideLayouts/slideLayout1.xml" Id="R2865b612b8fc442b" /><ns0:Relationship Type="http://schemas.openxmlformats.org/officeDocument/2006/relationships/notesSlide" Target="/ppt/notesSlides/notesSlide76.xml" Id="Rf8cc769dfce2466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controlflow.html" TargetMode="External" /></ns0:Relationships>
</file>

<file path=ppt/slides/_rels/slide77.xml.rels><?xml version='1.0' encoding='utf-8'?>
<ns0:Relationships xmlns:ns0="http://schemas.openxmlformats.org/package/2006/relationships"><ns0:Relationship Type="http://schemas.openxmlformats.org/officeDocument/2006/relationships/slideLayout" Target="/ppt/slideLayouts/slideLayout1.xml" Id="Rcb8adae05cd147df" /><ns0:Relationship Type="http://schemas.openxmlformats.org/officeDocument/2006/relationships/notesSlide" Target="/ppt/notesSlides/notesSlide77.xml" Id="Rf9bb4207cbbc4c3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controlflow.html" TargetMode="External" /></ns0:Relationships>
</file>

<file path=ppt/slides/_rels/slide78.xml.rels><?xml version='1.0' encoding='utf-8'?>
<ns0:Relationships xmlns:ns0="http://schemas.openxmlformats.org/package/2006/relationships"><ns0:Relationship Type="http://schemas.openxmlformats.org/officeDocument/2006/relationships/slideLayout" Target="/ppt/slideLayouts/slideLayout1.xml" Id="R81a26410cf84485b" /><ns0:Relationship Type="http://schemas.openxmlformats.org/officeDocument/2006/relationships/notesSlide" Target="/ppt/notesSlides/notesSlide78.xml" Id="R8f1dfa13af7a4911"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controlflow.html" TargetMode="External" /></ns0:Relationships>
</file>

<file path=ppt/slides/_rels/slide79.xml.rels><?xml version='1.0' encoding='utf-8'?>
<ns0:Relationships xmlns:ns0="http://schemas.openxmlformats.org/package/2006/relationships"><ns0:Relationship Type="http://schemas.openxmlformats.org/officeDocument/2006/relationships/slideLayout" Target="/ppt/slideLayouts/slideLayout1.xml" Id="R72be76b3d3bb443c" /><ns0:Relationship Type="http://schemas.openxmlformats.org/officeDocument/2006/relationships/notesSlide" Target="/ppt/notesSlides/notesSlide79.xml" Id="R7ae370abff03413e"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5" TargetMode="External" /><ns0:Relationship Id="rIdLink3" Type="http://schemas.openxmlformats.org/officeDocument/2006/relationships/hyperlink" Target="https://docs.python.org/3/tutorial/controlflow.html" TargetMode="External" /></ns0:Relationships>
</file>

<file path=ppt/slides/_rels/slide80.xml.rels><?xml version='1.0' encoding='utf-8'?>
<ns0:Relationships xmlns:ns0="http://schemas.openxmlformats.org/package/2006/relationships"><ns0:Relationship Type="http://schemas.openxmlformats.org/officeDocument/2006/relationships/slideLayout" Target="/ppt/slideLayouts/slideLayout1.xml" Id="R02c2e93c01914c99" /><ns0:Relationship Type="http://schemas.openxmlformats.org/officeDocument/2006/relationships/notesSlide" Target="/ppt/notesSlides/notesSlide80.xml" Id="Rf63a21a636ea4b9d"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controlflow.html" TargetMode="External" /></ns0:Relationships>
</file>

<file path=ppt/slides/_rels/slide81.xml.rels><?xml version='1.0' encoding='utf-8'?>
<ns0:Relationships xmlns:ns0="http://schemas.openxmlformats.org/package/2006/relationships"><ns0:Relationship Type="http://schemas.openxmlformats.org/officeDocument/2006/relationships/slideLayout" Target="/ppt/slideLayouts/slideLayout1.xml" Id="Rfb8e040d396140ca" /><ns0:Relationship Type="http://schemas.openxmlformats.org/officeDocument/2006/relationships/notesSlide" Target="/ppt/notesSlides/notesSlide81.xml" Id="Rf6cf187f23fe4813"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6" TargetMode="External" /><ns0:Relationship Id="rIdLink3" Type="http://schemas.openxmlformats.org/officeDocument/2006/relationships/hyperlink" Target="https://docs.python.org/3/tutorial/inputoutput.html" TargetMode="External" /></ns0:Relationships>
</file>

<file path=ppt/slides/_rels/slide82.xml.rels><?xml version='1.0' encoding='utf-8'?>
<ns0:Relationships xmlns:ns0="http://schemas.openxmlformats.org/package/2006/relationships"><ns0:Relationship Type="http://schemas.openxmlformats.org/officeDocument/2006/relationships/slideLayout" Target="/ppt/slideLayouts/slideLayout1.xml" Id="R7a3383f145374ebc" /><ns0:Relationship Type="http://schemas.openxmlformats.org/officeDocument/2006/relationships/notesSlide" Target="/ppt/notesSlides/notesSlide82.xml" Id="Rf0dbd519dddf4a6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6" TargetMode="External" /><ns0:Relationship Id="rIdLink3" Type="http://schemas.openxmlformats.org/officeDocument/2006/relationships/hyperlink" Target="https://docs.python.org/3/tutorial/inputoutput.html" TargetMode="External" /></ns0:Relationships>
</file>

<file path=ppt/slides/_rels/slide83.xml.rels><?xml version='1.0' encoding='utf-8'?>
<ns0:Relationships xmlns:ns0="http://schemas.openxmlformats.org/package/2006/relationships"><ns0:Relationship Type="http://schemas.openxmlformats.org/officeDocument/2006/relationships/slideLayout" Target="/ppt/slideLayouts/slideLayout1.xml" Id="R727899893ad943c7" /><ns0:Relationship Type="http://schemas.openxmlformats.org/officeDocument/2006/relationships/notesSlide" Target="/ppt/notesSlides/notesSlide83.xml" Id="R5273591a69e948f2"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6" TargetMode="External" /><ns0:Relationship Id="rIdLink3" Type="http://schemas.openxmlformats.org/officeDocument/2006/relationships/hyperlink" Target="https://docs.python.org/3/tutorial/inputoutput.html" TargetMode="External" /></ns0:Relationships>
</file>

<file path=ppt/slides/_rels/slide84.xml.rels><?xml version='1.0' encoding='utf-8'?>
<ns0:Relationships xmlns:ns0="http://schemas.openxmlformats.org/package/2006/relationships"><ns0:Relationship Type="http://schemas.openxmlformats.org/officeDocument/2006/relationships/slideLayout" Target="/ppt/slideLayouts/slideLayout1.xml" Id="R3582cb1ec59e4d5c" /><ns0:Relationship Type="http://schemas.openxmlformats.org/officeDocument/2006/relationships/notesSlide" Target="/ppt/notesSlides/notesSlide84.xml" Id="Rb5af8d9b498645d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6" TargetMode="External" /><ns0:Relationship Id="rIdLink3" Type="http://schemas.openxmlformats.org/officeDocument/2006/relationships/hyperlink" Target="https://docs.python.org/3/tutorial/inputoutput.html" TargetMode="External" /></ns0:Relationships>
</file>

<file path=ppt/slides/_rels/slide85.xml.rels><?xml version='1.0' encoding='utf-8'?>
<ns0:Relationships xmlns:ns0="http://schemas.openxmlformats.org/package/2006/relationships"><ns0:Relationship Type="http://schemas.openxmlformats.org/officeDocument/2006/relationships/slideLayout" Target="/ppt/slideLayouts/slideLayout1.xml" Id="Rb15ef359963d4548" /><ns0:Relationship Type="http://schemas.openxmlformats.org/officeDocument/2006/relationships/notesSlide" Target="/ppt/notesSlides/notesSlide85.xml" Id="Rd487d5e148614507"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6" TargetMode="External" /><ns0:Relationship Id="rIdLink3" Type="http://schemas.openxmlformats.org/officeDocument/2006/relationships/hyperlink" Target="https://docs.python.org/3/tutorial/inputoutput.html" TargetMode="External" /></ns0:Relationships>
</file>

<file path=ppt/slides/_rels/slide86.xml.rels><?xml version='1.0' encoding='utf-8'?>
<ns0:Relationships xmlns:ns0="http://schemas.openxmlformats.org/package/2006/relationships"><ns0:Relationship Type="http://schemas.openxmlformats.org/officeDocument/2006/relationships/slideLayout" Target="/ppt/slideLayouts/slideLayout1.xml" Id="Ra7e90fc0397e4e28" /><ns0:Relationship Type="http://schemas.openxmlformats.org/officeDocument/2006/relationships/notesSlide" Target="/ppt/notesSlides/notesSlide86.xml" Id="R65889d99f43148b0"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6" TargetMode="External" /><ns0:Relationship Id="rIdLink3" Type="http://schemas.openxmlformats.org/officeDocument/2006/relationships/hyperlink" Target="https://docs.python.org/3/tutorial/inputoutput.html" TargetMode="External" /></ns0:Relationships>
</file>

<file path=ppt/slides/_rels/slide87.xml.rels><?xml version='1.0' encoding='utf-8'?>
<ns0:Relationships xmlns:ns0="http://schemas.openxmlformats.org/package/2006/relationships"><ns0:Relationship Type="http://schemas.openxmlformats.org/officeDocument/2006/relationships/slideLayout" Target="/ppt/slideLayouts/slideLayout1.xml" Id="R9c110fb236cc45bc" /><ns0:Relationship Type="http://schemas.openxmlformats.org/officeDocument/2006/relationships/notesSlide" Target="/ppt/notesSlides/notesSlide87.xml" Id="Rc6f401eaafcc4f93"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7" TargetMode="External" /><ns0:Relationship Id="rIdLink3" Type="http://schemas.openxmlformats.org/officeDocument/2006/relationships/hyperlink" Target="https://docs.python.org/3/tutorial/inputoutput.html" TargetMode="External" /></ns0:Relationships>
</file>

<file path=ppt/slides/_rels/slide88.xml.rels><?xml version='1.0' encoding='utf-8'?>
<ns0:Relationships xmlns:ns0="http://schemas.openxmlformats.org/package/2006/relationships"><ns0:Relationship Type="http://schemas.openxmlformats.org/officeDocument/2006/relationships/slideLayout" Target="/ppt/slideLayouts/slideLayout1.xml" Id="R811374eea02a4c9f" /><ns0:Relationship Type="http://schemas.openxmlformats.org/officeDocument/2006/relationships/notesSlide" Target="/ppt/notesSlides/notesSlide88.xml" Id="R63b785470d4e409e"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7" TargetMode="External" /><ns0:Relationship Id="rIdLink3" Type="http://schemas.openxmlformats.org/officeDocument/2006/relationships/hyperlink" Target="https://docs.python.org/3/tutorial/inputoutput.html" TargetMode="External" /></ns0:Relationships>
</file>

<file path=ppt/slides/_rels/slide89.xml.rels><?xml version='1.0' encoding='utf-8'?>
<ns0:Relationships xmlns:ns0="http://schemas.openxmlformats.org/package/2006/relationships"><ns0:Relationship Type="http://schemas.openxmlformats.org/officeDocument/2006/relationships/slideLayout" Target="/ppt/slideLayouts/slideLayout1.xml" Id="R3ebb65428de24ea2" /><ns0:Relationship Type="http://schemas.openxmlformats.org/officeDocument/2006/relationships/notesSlide" Target="/ppt/notesSlides/notesSlide89.xml" Id="Re911220ff7f04aec"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8" TargetMode="External" /><ns0:Relationship Id="rIdLink3" Type="http://schemas.openxmlformats.org/officeDocument/2006/relationships/hyperlink" Target="https://docs.python.org/3/tutorial/inputoutput.html" TargetMode="External" /></ns0:Relationships>
</file>

<file path=ppt/slides/_rels/slide90.xml.rels><?xml version='1.0' encoding='utf-8'?>
<ns0:Relationships xmlns:ns0="http://schemas.openxmlformats.org/package/2006/relationships"><ns0:Relationship Type="http://schemas.openxmlformats.org/officeDocument/2006/relationships/slideLayout" Target="/ppt/slideLayouts/slideLayout1.xml" Id="R820c676957344668" /><ns0:Relationship Type="http://schemas.openxmlformats.org/officeDocument/2006/relationships/notesSlide" Target="/ppt/notesSlides/notesSlide90.xml" Id="Ra29bd429c1b44914"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inputoutput.html" TargetMode="External" /></ns0:Relationships>
</file>

<file path=ppt/slides/_rels/slide91.xml.rels><?xml version='1.0' encoding='utf-8'?>
<ns0:Relationships xmlns:ns0="http://schemas.openxmlformats.org/package/2006/relationships"><ns0:Relationship Type="http://schemas.openxmlformats.org/officeDocument/2006/relationships/slideLayout" Target="/ppt/slideLayouts/slideLayout1.xml" Id="R252224ada03d454e" /><ns0:Relationship Type="http://schemas.openxmlformats.org/officeDocument/2006/relationships/notesSlide" Target="/ppt/notesSlides/notesSlide91.xml" Id="R16481d7d00d54bd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inputoutput.html" TargetMode="External" /></ns0:Relationships>
</file>

<file path=ppt/slides/_rels/slide92.xml.rels><?xml version='1.0' encoding='utf-8'?>
<ns0:Relationships xmlns:ns0="http://schemas.openxmlformats.org/package/2006/relationships"><ns0:Relationship Type="http://schemas.openxmlformats.org/officeDocument/2006/relationships/slideLayout" Target="/ppt/slideLayouts/slideLayout1.xml" Id="Rb3379c728c984658" /><ns0:Relationship Type="http://schemas.openxmlformats.org/officeDocument/2006/relationships/notesSlide" Target="/ppt/notesSlides/notesSlide92.xml" Id="R732b3eda2936483a"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inputoutput.html" TargetMode="External" /></ns0:Relationships>
</file>

<file path=ppt/slides/_rels/slide93.xml.rels><?xml version='1.0' encoding='utf-8'?>
<ns0:Relationships xmlns:ns0="http://schemas.openxmlformats.org/package/2006/relationships"><ns0:Relationship Type="http://schemas.openxmlformats.org/officeDocument/2006/relationships/slideLayout" Target="/ppt/slideLayouts/slideLayout1.xml" Id="Raf29244add8445ea" /><ns0:Relationship Type="http://schemas.openxmlformats.org/officeDocument/2006/relationships/notesSlide" Target="/ppt/notesSlides/notesSlide93.xml" Id="R201d6e1bcc7d4caf"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inputoutput.html" TargetMode="External" /></ns0:Relationships>
</file>

<file path=ppt/slides/_rels/slide94.xml.rels><?xml version='1.0' encoding='utf-8'?>
<ns0:Relationships xmlns:ns0="http://schemas.openxmlformats.org/package/2006/relationships"><ns0:Relationship Type="http://schemas.openxmlformats.org/officeDocument/2006/relationships/slideLayout" Target="/ppt/slideLayouts/slideLayout1.xml" Id="R0524ad409b854c40" /><ns0:Relationship Type="http://schemas.openxmlformats.org/officeDocument/2006/relationships/notesSlide" Target="/ppt/notesSlides/notesSlide94.xml" Id="R53a1c86c8b6041eb"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activity=A18" TargetMode="External" /><ns0:Relationship Id="rIdLink3" Type="http://schemas.openxmlformats.org/officeDocument/2006/relationships/hyperlink" Target="https://docs.python.org/3/tutorial/inputoutput.html" TargetMode="External" /></ns0:Relationships>
</file>

<file path=ppt/slides/_rels/slide95.xml.rels><?xml version='1.0' encoding='utf-8'?>
<ns0:Relationships xmlns:ns0="http://schemas.openxmlformats.org/package/2006/relationships"><ns0:Relationship Type="http://schemas.openxmlformats.org/officeDocument/2006/relationships/slideLayout" Target="/ppt/slideLayouts/slideLayout1.xml" Id="Ra76f1ba13fbb4aa5" /><ns0:Relationship Type="http://schemas.openxmlformats.org/officeDocument/2006/relationships/notesSlide" Target="/ppt/notesSlides/notesSlide95.xml" Id="Rbe77375320c54f74"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tutorial/inputoutput.html" TargetMode="External" /></ns0:Relationships>
</file>

<file path=ppt/slides/_rels/slide96.xml.rels><?xml version='1.0' encoding='utf-8'?>
<ns0:Relationships xmlns:ns0="http://schemas.openxmlformats.org/package/2006/relationships"><ns0:Relationship Type="http://schemas.openxmlformats.org/officeDocument/2006/relationships/slideLayout" Target="/ppt/slideLayouts/slideLayout1.xml" Id="Rad226ab04bce4e67" /><ns0:Relationship Type="http://schemas.openxmlformats.org/officeDocument/2006/relationships/notesSlide" Target="/ppt/notesSlides/notesSlide96.xml" Id="Rab28aa959bd54a47"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library/csv.html" TargetMode="External" /></ns0:Relationships>
</file>

<file path=ppt/slides/_rels/slide97.xml.rels><?xml version='1.0' encoding='utf-8'?>
<ns0:Relationships xmlns:ns0="http://schemas.openxmlformats.org/package/2006/relationships"><ns0:Relationship Type="http://schemas.openxmlformats.org/officeDocument/2006/relationships/slideLayout" Target="/ppt/slideLayouts/slideLayout1.xml" Id="Ra19127050c194b4c" /><ns0:Relationship Type="http://schemas.openxmlformats.org/officeDocument/2006/relationships/notesSlide" Target="/ppt/notesSlides/notesSlide97.xml" Id="R0902d3006885465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lesson" TargetMode="External" /><ns0:Relationship Id="rIdLink3" Type="http://schemas.openxmlformats.org/officeDocument/2006/relationships/hyperlink" Target="https://docs.python.org/3/library/csv.html" TargetMode="External" /></ns0:Relationships>
</file>

<file path=ppt/slides/_rels/slide98.xml.rels><?xml version='1.0' encoding='utf-8'?>
<ns0:Relationships xmlns:ns0="http://schemas.openxmlformats.org/package/2006/relationships"><ns0:Relationship Type="http://schemas.openxmlformats.org/officeDocument/2006/relationships/slideLayout" Target="/ppt/slideLayouts/slideLayout1.xml" Id="R764d3f9e827849ac" /><ns0:Relationship Type="http://schemas.openxmlformats.org/officeDocument/2006/relationships/notesSlide" Target="/ppt/notesSlides/notesSlide98.xml" Id="R034d86aef7454746"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practice" TargetMode="External" /><ns0:Relationship Id="rIdLink3" Type="http://schemas.openxmlformats.org/officeDocument/2006/relationships/hyperlink" Target="https://docs.python.org/3/tutorial/controlflow.html" TargetMode="External" /><ns0:Relationship Id="rIdLink4" Type="http://schemas.openxmlformats.org/officeDocument/2006/relationships/hyperlink" Target="https://zeusk302-png.github.io/kdigital-physical-ai/#/sessions/2026-10-15/start" TargetMode="External" /><ns0:Relationship Id="rIdLink5" Type="http://schemas.openxmlformats.org/officeDocument/2006/relationships/hyperlink" Target="https://zeusk302-png.github.io/kdigital-physical-ai/#/sessions/2026-10-15/lesson" TargetMode="External" /><ns0:Relationship Id="rIdLink6" Type="http://schemas.openxmlformats.org/officeDocument/2006/relationships/hyperlink" Target="https://zeusk302-png.github.io/kdigital-physical-ai/#/sessions/2026-10-15/workbook" TargetMode="External" /><ns0:Relationship Id="rIdLink7" Type="http://schemas.openxmlformats.org/officeDocument/2006/relationships/hyperlink" Target="https://zeusk302-png.github.io/kdigital-physical-ai/downloads/2026-10-15/student-examples.zip" TargetMode="External" /><ns0:Relationship Id="rIdLink8" Type="http://schemas.openxmlformats.org/officeDocument/2006/relationships/hyperlink" Target="https://zeusk302-png.github.io/kdigital-physical-ai/#/sessions/2026-10-15/files" TargetMode="External" /></ns0:Relationships>
</file>

<file path=ppt/slides/_rels/slide99.xml.rels><?xml version='1.0' encoding='utf-8'?>
<ns0:Relationships xmlns:ns0="http://schemas.openxmlformats.org/package/2006/relationships"><ns0:Relationship Type="http://schemas.openxmlformats.org/officeDocument/2006/relationships/slideLayout" Target="/ppt/slideLayouts/slideLayout1.xml" Id="Rb006ce90bb7c4865" /><ns0:Relationship Type="http://schemas.openxmlformats.org/officeDocument/2006/relationships/notesSlide" Target="/ppt/notesSlides/notesSlide99.xml" Id="R146cd06b25034812" /><ns0:Relationship Id="rIdLink1" Type="http://schemas.openxmlformats.org/officeDocument/2006/relationships/hyperlink" Target="https://zeusk302-png.github.io/kdigital-physical-ai/#/sessions/2026-10-15/lesson" TargetMode="External" /><ns0:Relationship Id="rIdLink2" Type="http://schemas.openxmlformats.org/officeDocument/2006/relationships/hyperlink" Target="https://zeusk302-png.github.io/kdigital-physical-ai/#/sessions/2026-10-15/practice" TargetMode="External" /><ns0:Relationship Id="rIdLink3" Type="http://schemas.openxmlformats.org/officeDocument/2006/relationships/hyperlink" Target="https://docs.python.org/3/tutorial/controlflow.html" TargetMode="External" /><ns0:Relationship Id="rIdLink4" Type="http://schemas.openxmlformats.org/officeDocument/2006/relationships/hyperlink" Target="https://docs.python.org/3/tutorial/controlflow.html" TargetMode="External" /><ns0:Relationship Id="rIdLink5" Type="http://schemas.openxmlformats.org/officeDocument/2006/relationships/hyperlink" Target="https://docs.python.org/3/tutorial/inputoutput.html" TargetMode="External" /><ns0:Relationship Id="rIdLink6" Type="http://schemas.openxmlformats.org/officeDocument/2006/relationships/hyperlink" Target="https://docs.python.org/3/tutorial/errors.html" TargetMode="External" /><ns0:Relationship Id="rIdLink7" Type="http://schemas.openxmlformats.org/officeDocument/2006/relationships/hyperlink" Target="https://docs.python.org/3/library/csv.html" TargetMode="External" /></ns0:Relationships>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pic>
        <p:nvPicPr>
          <p:cNvPr id="11" name=""/>
          <p:cNvPicPr>
            <a:picLocks noChangeAspect="1"/>
          </p:cNvPicPr>
          <p:nvPr/>
        </p:nvPicPr>
        <p:blipFill>
          <a:blip r:embed="Ra8e31d5d137b4101"/>
          <a:srcRect l="0" t="27" r="0" b="27"/>
          <a:stretch>
            <a:fillRect l="0" t="0" r="0" b="0"/>
          </a:stretch>
        </p:blipFill>
        <p:spPr>
          <a:xfrm>
            <a:off x="0" y="0"/>
            <a:ext cx="12192000" cy="6858000"/>
          </a:xfrm>
          <a:prstGeom prst="rect">
            <a:avLst/>
          </a:prstGeom>
        </p:spPr>
      </p:pic>
      <p:sp>
        <p:nvSpPr>
          <p:cNvPr id="2" name="">
            <a:extLst>
              <a:ext uri="{FF2B5EF4-FFF2-40B4-BE49-F238E27FC236}">
                <ns3:creationId id="{D4098218-0F12-46C0-8E89-16D44599A19D}"/>
              </a:ext>
            </a:extLst>
          </p:cNvPr>
          <p:cNvSpPr>
            <a:spLocks noGrp="1"/>
          </p:cNvSpPr>
          <p:nvPr/>
        </p:nvSpPr>
        <p:spPr>
          <a:xfrm>
            <a:off x="685800" y="733425"/>
            <a:ext cx="5715000" cy="428625"/>
          </a:xfrm>
          <a:prstGeom prst="rect">
            <a:avLst/>
          </a:prstGeom>
          <a:noFill/>
          <a:ln w="0">
            <a:noFill/>
          </a:ln>
        </p:spPr>
        <p:txBody>
          <a:bodyPr wrap="square" lIns="0" tIns="0" rIns="0" bIns="0">
            <a:noAutofit/>
          </a:bodyPr>
          <a:lstStyle/>
          <a:p>
            <a:pPr>
              <a:defRPr sz="1800" b="1">
                <a:solidFill>
                  <a:srgbClr val="08786F"/>
                </a:solidFill>
                <a:latin typeface="Noto Sans KR"/>
                <a:ea typeface="Noto Sans KR"/>
                <a:cs typeface="Noto Sans KR"/>
              </a:defRPr>
            </a:pPr>
            <a:r>
              <a:t>피지컬AI 직무훈련</a:t>
            </a:r>
          </a:p>
        </p:txBody>
      </p:sp>
      <p:sp>
        <p:nvSpPr>
          <p:cNvPr id="3" name="">
            <a:extLst>
              <a:ext uri="{FF2B5EF4-FFF2-40B4-BE49-F238E27FC236}">
                <ns3:creationId id="{6C98AF1D-B6AB-459F-8F40-530816570D4E}"/>
              </a:ext>
            </a:extLst>
          </p:cNvPr>
          <p:cNvSpPr>
            <a:spLocks noGrp="1"/>
          </p:cNvSpPr>
          <p:nvPr/>
        </p:nvSpPr>
        <p:spPr>
          <a:xfrm>
            <a:off x="685800" y="1562100"/>
            <a:ext cx="5667375" cy="2571750"/>
          </a:xfrm>
          <a:prstGeom prst="rect">
            <a:avLst/>
          </a:prstGeom>
          <a:noFill/>
          <a:ln w="0">
            <a:noFill/>
          </a:ln>
        </p:spPr>
        <p:txBody>
          <a:bodyPr wrap="square" lIns="0" tIns="0" rIns="0" bIns="0">
            <a:noAutofit/>
          </a:bodyPr>
          <a:lstStyle/>
          <a:p>
            <a:pPr>
              <a:defRPr sz="4650" b="1">
                <a:solidFill>
                  <a:srgbClr val="172F39"/>
                </a:solidFill>
                <a:latin typeface="Noto Sans KR"/>
                <a:ea typeface="Noto Sans KR"/>
                <a:cs typeface="Noto Sans KR"/>
              </a:defRPr>
            </a:pPr>
            <a:r>
              <a:t>Python 심화</a:t>
            </a:r>
          </a:p>
          <a:p>
            <a:pPr>
              <a:defRPr sz="4650" b="1">
                <a:solidFill>
                  <a:srgbClr val="172F39"/>
                </a:solidFill>
                <a:latin typeface="Noto Sans KR"/>
                <a:ea typeface="Noto Sans KR"/>
                <a:cs typeface="Noto Sans KR"/>
              </a:defRPr>
            </a:pPr>
            <a:r>
              <a:t>함수와 파일 검사</a:t>
            </a:r>
          </a:p>
        </p:txBody>
      </p:sp>
      <p:sp>
        <p:nvSpPr>
          <p:cNvPr id="4" name="">
            <a:extLst>
              <a:ext uri="{FF2B5EF4-FFF2-40B4-BE49-F238E27FC236}">
                <ns3:creationId id="{EC4E0073-A2CB-4D33-B771-B24334C2A566}"/>
              </a:ext>
            </a:extLst>
          </p:cNvPr>
          <p:cNvSpPr>
            <a:spLocks noGrp="1"/>
          </p:cNvSpPr>
          <p:nvPr/>
        </p:nvSpPr>
        <p:spPr>
          <a:xfrm>
            <a:off x="685800" y="4267200"/>
            <a:ext cx="5619750" cy="395288"/>
          </a:xfrm>
          <a:prstGeom prst="rect">
            <a:avLst/>
          </a:prstGeom>
          <a:noFill/>
          <a:ln w="0">
            <a:noFill/>
          </a:ln>
        </p:spPr>
        <p:txBody>
          <a:bodyPr wrap="square" lIns="0" tIns="0" rIns="0" bIns="0">
            <a:noAutofit/>
          </a:bodyPr>
          <a:lstStyle/>
          <a:p>
            <a:pPr>
              <a:defRPr sz="1875" b="0">
                <a:solidFill>
                  <a:srgbClr val="52636B"/>
                </a:solidFill>
                <a:latin typeface="Noto Sans KR"/>
                <a:ea typeface="Noto Sans KR"/>
                <a:cs typeface="Noto Sans KR"/>
              </a:defRPr>
            </a:pPr>
            <a:r>
              <a:t>2026-10-15</a:t>
            </a:r>
          </a:p>
        </p:txBody>
      </p:sp>
      <p:sp>
        <p:nvSpPr>
          <p:cNvPr id="5" name="">
            <a:extLst>
              <a:ext uri="{FF2B5EF4-FFF2-40B4-BE49-F238E27FC236}">
                <ns3:creationId id="{C6BB1673-A22A-420E-B0FB-72943752B49C}"/>
              </a:ext>
            </a:extLst>
          </p:cNvPr>
          <p:cNvSpPr>
            <a:spLocks noGrp="1"/>
          </p:cNvSpPr>
          <p:nvPr/>
        </p:nvSpPr>
        <p:spPr>
          <a:xfrm>
            <a:off x="685800" y="4710113"/>
            <a:ext cx="5619750" cy="395288"/>
          </a:xfrm>
          <a:prstGeom prst="rect">
            <a:avLst/>
          </a:prstGeom>
          <a:noFill/>
          <a:ln w="0">
            <a:noFill/>
          </a:ln>
        </p:spPr>
        <p:txBody>
          <a:bodyPr wrap="square" lIns="0" tIns="0" rIns="0" bIns="0">
            <a:noAutofit/>
          </a:bodyPr>
          <a:lstStyle/>
          <a:p>
            <a:pPr>
              <a:defRPr sz="1875" b="0">
                <a:solidFill>
                  <a:srgbClr val="52636B"/>
                </a:solidFill>
                <a:latin typeface="Noto Sans KR"/>
                <a:ea typeface="Noto Sans KR"/>
                <a:cs typeface="Noto Sans KR"/>
              </a:defRPr>
            </a:pPr>
            <a:r>
              <a:t>처음 배우는 사람을 위한 실무 수업</a:t>
            </a:r>
          </a:p>
        </p:txBody>
      </p:sp>
      <p:sp>
        <p:nvSpPr>
          <p:cNvPr id="6" name="">
            <a:extLst>
              <a:ext uri="{FF2B5EF4-FFF2-40B4-BE49-F238E27FC236}">
                <ns3:creationId id="{D126EC2E-2BE8-4ED1-B70A-92A578CA33E5}"/>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3:creationId id="{BF60AB1D-6ACA-480D-A720-7AD66C21134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3:creationId id="{E01B1BFF-5179-4E5F-89E5-989BBF3C9A7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3:creationId id="{615B475B-4CA2-4C08-8E97-CF73CA37BAD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3:creationId id="{9DB6239B-D099-475F-9C7F-CD3C5B5A5EC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001</a:t>
            </a:r>
          </a:p>
        </p:txBody>
      </p:sp>
    </p:spTree>
    <p:extLst>
      <p:ext uri="{BB962C8B-B14F-4D97-AF65-F5344CB8AC3E}">
        <ns4:creationId val="1064228304"/>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79D61FA7-7C63-4B0F-A0F3-799961A2F52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10/15 수업</a:t>
            </a:r>
          </a:p>
        </p:txBody>
      </p:sp>
      <p:sp>
        <p:nvSpPr>
          <p:cNvPr id="2" name="">
            <a:extLst>
              <a:ext uri="{FF2B5EF4-FFF2-40B4-BE49-F238E27FC236}">
                <ns2:creationId id="{24543EA0-4B94-4262-8C0B-D8EA297007F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하루 수업의 약속</a:t>
            </a:r>
          </a:p>
        </p:txBody>
      </p:sp>
      <p:sp>
        <p:nvSpPr>
          <p:cNvPr id="3" name="">
            <a:extLst>
              <a:ext uri="{FF2B5EF4-FFF2-40B4-BE49-F238E27FC236}">
                <ns2:creationId id="{40DE565B-FAC4-4883-BB50-EE547D513EE6}"/>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수업 10:00~17:00 · 50분씩 6교시</a:t>
            </a:r>
          </a:p>
        </p:txBody>
      </p:sp>
      <p:sp>
        <p:nvSpPr>
          <p:cNvPr id="4" name="">
            <a:extLst>
              <a:ext uri="{FF2B5EF4-FFF2-40B4-BE49-F238E27FC236}">
                <ns2:creationId id="{06D50612-380D-4D71-A764-F28688E96988}"/>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중식 11:50~13:00 · 13:00 복귀</a:t>
            </a:r>
          </a:p>
        </p:txBody>
      </p:sp>
      <p:sp>
        <p:nvSpPr>
          <p:cNvPr id="5" name="">
            <a:extLst>
              <a:ext uri="{FF2B5EF4-FFF2-40B4-BE49-F238E27FC236}">
                <ns2:creationId id="{71062C2A-7987-4ED5-8C1F-7B42B4252DBE}"/>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수업 사이 10분 휴식</a:t>
            </a:r>
          </a:p>
        </p:txBody>
      </p:sp>
      <p:sp>
        <p:nvSpPr>
          <p:cNvPr id="6" name="">
            <a:extLst>
              <a:ext uri="{FF2B5EF4-FFF2-40B4-BE49-F238E27FC236}">
                <ns2:creationId id="{EEFA18F2-ECB6-45D7-A3E9-2896D18C9738}"/>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마지막 10분은 저장 확인과 종료 준비입니다.</a:t>
            </a:r>
          </a:p>
        </p:txBody>
      </p:sp>
      <p:sp>
        <p:nvSpPr>
          <p:cNvPr id="7" name="">
            <a:extLst>
              <a:ext uri="{FF2B5EF4-FFF2-40B4-BE49-F238E27FC236}">
                <ns2:creationId id="{AF4D44E7-8E1E-4CAC-B6F5-8CD8C1CC8099}"/>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054DE33C-9870-42BB-B8E9-81674D9795E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2F0B68D1-94AB-43A9-B9DE-CE3A528F6FA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ADB02C50-4168-4E77-8F57-DFBFEAC7624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D2060749-1919-48D5-9E60-D84D4DBE0F2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002</a:t>
            </a:r>
          </a:p>
        </p:txBody>
      </p:sp>
    </p:spTree>
    <p:extLst>
      <p:ext uri="{BB962C8B-B14F-4D97-AF65-F5344CB8AC3E}">
        <ns4:creationId val="520559743"/>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71030D87-9C15-4E92-9096-E6D5B728FC5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10/15 수업</a:t>
            </a:r>
          </a:p>
        </p:txBody>
      </p:sp>
      <p:sp>
        <p:nvSpPr>
          <p:cNvPr id="2" name="">
            <a:extLst>
              <a:ext uri="{FF2B5EF4-FFF2-40B4-BE49-F238E27FC236}">
                <ns2:creationId id="{02A961A0-4EB8-4A6B-ACC2-CE22B887A15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파일과 폴더부터</a:t>
            </a:r>
          </a:p>
        </p:txBody>
      </p:sp>
      <p:sp>
        <p:nvSpPr>
          <p:cNvPr id="3" name="">
            <a:extLst>
              <a:ext uri="{FF2B5EF4-FFF2-40B4-BE49-F238E27FC236}">
                <ns2:creationId id="{05DCC655-2D21-420B-9682-EF5C0762877E}"/>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파일은 저장한 문서나 코드 한 개입니다.</a:t>
            </a:r>
          </a:p>
        </p:txBody>
      </p:sp>
      <p:sp>
        <p:nvSpPr>
          <p:cNvPr id="4" name="">
            <a:extLst>
              <a:ext uri="{FF2B5EF4-FFF2-40B4-BE49-F238E27FC236}">
                <ns2:creationId id="{2F91DFCD-DDA7-4AA4-A60E-FA9D7A0E6285}"/>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폴더는 파일을 모아 둔 위치입니다.</a:t>
            </a:r>
          </a:p>
        </p:txBody>
      </p:sp>
      <p:sp>
        <p:nvSpPr>
          <p:cNvPr id="5" name="">
            <a:extLst>
              <a:ext uri="{FF2B5EF4-FFF2-40B4-BE49-F238E27FC236}">
                <ns2:creationId id="{020253AB-93C1-4E58-81D5-F01B2610D8B0}"/>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확장자는 이름 끝의 .csv, .json, .py입니다.</a:t>
            </a:r>
          </a:p>
        </p:txBody>
      </p:sp>
      <p:sp>
        <p:nvSpPr>
          <p:cNvPr id="6" name="">
            <a:extLst>
              <a:ext uri="{FF2B5EF4-FFF2-40B4-BE49-F238E27FC236}">
                <ns2:creationId id="{B4B45959-5FD0-400A-968A-0C27A2B8904B}"/>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원본은 그대로 두고 복사한 파일을 수정합니다.</a:t>
            </a:r>
          </a:p>
        </p:txBody>
      </p:sp>
      <p:sp>
        <p:nvSpPr>
          <p:cNvPr id="7" name="">
            <a:extLst>
              <a:ext uri="{FF2B5EF4-FFF2-40B4-BE49-F238E27FC236}">
                <ns2:creationId id="{9989004A-7657-4736-B208-0E6C7C15B32F}"/>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92A7F2F0-F9BF-488E-882A-2980D957797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1BFFF06A-1B54-4DCF-B3F7-931E898595D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E412FB9A-3B1C-44F0-B8CC-3BC0C5BC31D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D7225747-55CB-4205-A0AF-26560FFEB2C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003</a:t>
            </a:r>
          </a:p>
        </p:txBody>
      </p:sp>
    </p:spTree>
    <p:extLst>
      <p:ext uri="{BB962C8B-B14F-4D97-AF65-F5344CB8AC3E}">
        <ns4:creationId val="1012387640"/>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FBF90BD7-50B3-46FD-877E-F0ABDE1E792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10/15 수업</a:t>
            </a:r>
          </a:p>
        </p:txBody>
      </p:sp>
      <p:sp>
        <p:nvSpPr>
          <p:cNvPr id="2" name="">
            <a:extLst>
              <a:ext uri="{FF2B5EF4-FFF2-40B4-BE49-F238E27FC236}">
                <ns2:creationId id="{0282C8AD-8917-4FF0-85C2-F26A7F50B95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실행이 안 될 때 수업 따라가기</a:t>
            </a:r>
          </a:p>
        </p:txBody>
      </p:sp>
      <p:sp>
        <p:nvSpPr>
          <p:cNvPr id="3" name="">
            <a:extLst>
              <a:ext uri="{FF2B5EF4-FFF2-40B4-BE49-F238E27FC236}">
                <ns2:creationId id="{9F33198E-1670-4BFC-B2D6-6A6D03DA350E}"/>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설치가 안 된 것과 내용을 이해하지 못한 것은 따로 확인합니다.</a:t>
            </a:r>
          </a:p>
        </p:txBody>
      </p:sp>
      <p:sp>
        <p:nvSpPr>
          <p:cNvPr id="4" name="">
            <a:extLst>
              <a:ext uri="{FF2B5EF4-FFF2-40B4-BE49-F238E27FC236}">
                <ns2:creationId id="{D60F497F-912F-4F1C-9E0F-8E69DA176664}"/>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실행이 안 되면 코드가 처리하는 순서를 종이에 적어 봅니다.</a:t>
            </a:r>
          </a:p>
        </p:txBody>
      </p:sp>
      <p:sp>
        <p:nvSpPr>
          <p:cNvPr id="5" name="">
            <a:extLst>
              <a:ext uri="{FF2B5EF4-FFF2-40B4-BE49-F238E27FC236}">
                <ns2:creationId id="{BE978C58-6A36-424F-865F-6535A59E6E8D}"/>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직접 실행했는지, 강사의 시연을 보았는지 적습니다.</a:t>
            </a:r>
          </a:p>
        </p:txBody>
      </p:sp>
      <p:sp>
        <p:nvSpPr>
          <p:cNvPr id="6" name="">
            <a:extLst>
              <a:ext uri="{FF2B5EF4-FFF2-40B4-BE49-F238E27FC236}">
                <ns2:creationId id="{1C76418B-5AA9-4D53-A026-A9FDCE763B54}"/>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898C50AE-7D16-493A-A198-69F75068B62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D29AECCD-E246-47FD-BBCF-4318E978E1A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662BBEB9-061D-47FD-ABE3-68582CFBAE0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7DC644AB-8970-46C5-B87C-DA7DC25AF50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004</a:t>
            </a:r>
          </a:p>
        </p:txBody>
      </p:sp>
    </p:spTree>
    <p:extLst>
      <p:ext uri="{BB962C8B-B14F-4D97-AF65-F5344CB8AC3E}">
        <ns4:creationId val="1764495508"/>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C3FA3DBE-6936-439C-BEFC-9B303BDA4F3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10/15 수업</a:t>
            </a:r>
          </a:p>
        </p:txBody>
      </p:sp>
      <p:sp>
        <p:nvSpPr>
          <p:cNvPr id="2" name="">
            <a:extLst>
              <a:ext uri="{FF2B5EF4-FFF2-40B4-BE49-F238E27FC236}">
                <ns2:creationId id="{F7063E20-FE0B-4118-8005-73FBD03F779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 배울 여섯 가지</a:t>
            </a:r>
          </a:p>
        </p:txBody>
      </p:sp>
      <p:sp>
        <p:nvSpPr>
          <p:cNvPr id="3" name="">
            <a:extLst>
              <a:ext uri="{FF2B5EF4-FFF2-40B4-BE49-F238E27FC236}">
                <ns2:creationId id="{3B2885A3-E675-465B-B2BD-2AA5515B1DF0}"/>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함수 → 반환값 → 파일 읽기와 저장</a:t>
            </a:r>
          </a:p>
        </p:txBody>
      </p:sp>
      <p:sp>
        <p:nvSpPr>
          <p:cNvPr id="4" name="">
            <a:extLst>
              <a:ext uri="{FF2B5EF4-FFF2-40B4-BE49-F238E27FC236}">
                <ns2:creationId id="{713F957C-8888-4EBA-A0EE-096FFBA62B31}"/>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오류 구별 → 규칙 검사 → 로그 검사기</a:t>
            </a:r>
          </a:p>
        </p:txBody>
      </p:sp>
      <p:sp>
        <p:nvSpPr>
          <p:cNvPr id="5" name="">
            <a:extLst>
              <a:ext uri="{FF2B5EF4-FFF2-40B4-BE49-F238E27FC236}">
                <ns2:creationId id="{5FEC9159-199E-4879-B319-A018F8161850}"/>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1967E690-3FC2-48AE-BCCC-34DEC7446AA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08B0B651-EE7D-493B-A40A-10E9FDEFC6F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39369B9F-D579-44F9-BCFA-FD2110429F5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B6228D1F-B397-43FE-878D-91ECBEE3EF8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005</a:t>
            </a:r>
          </a:p>
        </p:txBody>
      </p:sp>
    </p:spTree>
    <p:extLst>
      <p:ext uri="{BB962C8B-B14F-4D97-AF65-F5344CB8AC3E}">
        <ns4:creationId val="1474826500"/>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0C376A33-FC92-4B6D-BF5A-936216BDB9D4}"/>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1교시</a:t>
            </a:r>
          </a:p>
        </p:txBody>
      </p:sp>
      <p:sp>
        <p:nvSpPr>
          <p:cNvPr id="2" name="">
            <a:extLst>
              <a:ext uri="{FF2B5EF4-FFF2-40B4-BE49-F238E27FC236}">
                <ns2:creationId id="{6C82493C-567F-4A44-83B1-080BAEC9F756}"/>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반복 업무를 함수로</a:t>
            </a:r>
          </a:p>
        </p:txBody>
      </p:sp>
      <p:sp>
        <p:nvSpPr>
          <p:cNvPr id="3" name="">
            <a:extLst>
              <a:ext uri="{FF2B5EF4-FFF2-40B4-BE49-F238E27FC236}">
                <ns2:creationId id="{E22E53FE-14B7-4A01-9E27-FBD5B9D38982}"/>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10:00~10:50 · 50분</a:t>
            </a:r>
          </a:p>
        </p:txBody>
      </p:sp>
      <p:sp>
        <p:nvSpPr>
          <p:cNvPr id="4" name="">
            <a:extLst>
              <a:ext uri="{FF2B5EF4-FFF2-40B4-BE49-F238E27FC236}">
                <ns2:creationId id="{9EEE389C-9711-4660-8AC7-0CEA128C035F}"/>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먼저 할 활동: A01, A02, A03</a:t>
            </a:r>
          </a:p>
        </p:txBody>
      </p:sp>
      <p:sp>
        <p:nvSpPr>
          <p:cNvPr id="5" name="">
            <a:extLst>
              <a:ext uri="{FF2B5EF4-FFF2-40B4-BE49-F238E27FC236}">
                <ns2:creationId id="{9496A872-7D80-4377-9449-99B85511EC39}"/>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필수 활동을 마쳤으면 추가 문제를 풀어 보세요.</a:t>
            </a:r>
          </a:p>
        </p:txBody>
      </p:sp>
      <p:sp>
        <p:nvSpPr>
          <p:cNvPr id="6" name="">
            <a:extLst>
              <a:ext uri="{FF2B5EF4-FFF2-40B4-BE49-F238E27FC236}">
                <ns2:creationId id="{7888A0BD-38F5-4D0E-8837-FAEBF9815400}"/>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293FCDE4-5A99-4078-8036-7EB8C23F00C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1333F308-85B9-4FD3-9D12-FD195C577A0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76F49EFE-DF51-4B54-90C5-579B5339717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C7CCDC34-2230-4678-B82B-0075FD34AEC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006</a:t>
            </a:r>
          </a:p>
        </p:txBody>
      </p:sp>
    </p:spTree>
    <p:extLst>
      <p:ext uri="{BB962C8B-B14F-4D97-AF65-F5344CB8AC3E}">
        <ns4:creationId val="636474166"/>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1" name="">
            <a:extLst>
              <a:ext uri="{FF2B5EF4-FFF2-40B4-BE49-F238E27FC236}">
                <ns2:creationId id="{2FB407AB-0E28-47DE-ABB6-FFD81DEE290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9E5DF94A-AEE0-493B-8BA6-91A12563CBD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함수는 한 가지 일에 붙인 이름입니다</a:t>
            </a:r>
          </a:p>
        </p:txBody>
      </p:sp>
      <p:sp>
        <p:nvSpPr>
          <p:cNvPr id="3" name="">
            <a:extLst>
              <a:ext uri="{FF2B5EF4-FFF2-40B4-BE49-F238E27FC236}">
                <ns2:creationId id="{00CDD828-A447-4731-A78B-0057E3290ECF}"/>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공통 처리와 달라지는 입력을 나눕니다.</a:t>
            </a:r>
          </a:p>
        </p:txBody>
      </p:sp>
      <p:sp>
        <p:nvSpPr>
          <p:cNvPr id="4" name="">
            <a:extLst>
              <a:ext uri="{FF2B5EF4-FFF2-40B4-BE49-F238E27FC236}">
                <ns2:creationId id="{4C91FD3D-D375-4FF4-B97C-0DB9EE795CE3}"/>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받을 값과 돌려줄 결과를 먼저 정합니다.</a:t>
            </a:r>
          </a:p>
        </p:txBody>
      </p:sp>
      <p:sp>
        <p:nvSpPr>
          <p:cNvPr id="5" name="">
            <a:extLst>
              <a:ext uri="{FF2B5EF4-FFF2-40B4-BE49-F238E27FC236}">
                <ns2:creationId id="{F11D48DC-2C01-46DD-844E-B85EC5C5FD50}"/>
              </a:ext>
            </a:extLst>
          </p:cNvPr>
          <p:cNvSpPr>
            <a:spLocks noGrp="1"/>
          </p:cNvSpPr>
          <p:nvPr/>
        </p:nvSpPr>
        <p:spPr>
          <a:xfrm>
            <a:off x="685800" y="360616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함수 이름이 검사라고 해도 실제로 무엇을 검사하는지 읽어야 합니다.</a:t>
            </a:r>
          </a:p>
        </p:txBody>
      </p:sp>
      <p:sp>
        <p:nvSpPr>
          <p:cNvPr id="6" name="">
            <a:extLst>
              <a:ext uri="{FF2B5EF4-FFF2-40B4-BE49-F238E27FC236}">
                <ns2:creationId id="{2A6F5EC6-9DFA-43D7-ACAE-BA1ADEB541B2}"/>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완성 예 · 입력 두 개 받기</a:t>
            </a:r>
          </a:p>
        </p:txBody>
      </p:sp>
      <p:sp>
        <p:nvSpPr>
          <p:cNvPr id="7" name="">
            <a:extLst>
              <a:ext uri="{FF2B5EF4-FFF2-40B4-BE49-F238E27FC236}">
                <ns2:creationId id="{EE83103B-9E32-4979-88FF-4F47269763EC}"/>
              </a:ext>
            </a:extLst>
          </p:cNvPr>
          <p:cNvSpPr>
            <a:spLocks noGrp="1"/>
          </p:cNvSpPr>
          <p:nvPr/>
        </p:nvSpPr>
        <p:spPr>
          <a:xfrm>
            <a:off x="6267450" y="2628900"/>
            <a:ext cx="5238750" cy="1494282"/>
          </a:xfrm>
          <a:prstGeom prst="rect">
            <a:avLst/>
          </a:prstGeom>
          <a:solidFill>
            <a:srgbClr val="F1F6F5"/>
          </a:solidFill>
          <a:ln w="0">
            <a:noFill/>
          </a:ln>
        </p:spPr>
      </p:sp>
      <p:sp>
        <p:nvSpPr>
          <p:cNvPr id="8" name="">
            <a:extLst>
              <a:ext uri="{FF2B5EF4-FFF2-40B4-BE49-F238E27FC236}">
                <ns2:creationId id="{9A690E45-929D-41A0-B91E-320A31A9B87A}"/>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9" name="">
            <a:extLst>
              <a:ext uri="{FF2B5EF4-FFF2-40B4-BE49-F238E27FC236}">
                <ns2:creationId id="{31CFF79D-2439-4FF5-9460-859360846190}"/>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def show(sensor_id, value):</a:t>
            </a:r>
          </a:p>
        </p:txBody>
      </p:sp>
      <p:sp>
        <p:nvSpPr>
          <p:cNvPr id="10" name="">
            <a:extLst>
              <a:ext uri="{FF2B5EF4-FFF2-40B4-BE49-F238E27FC236}">
                <ns2:creationId id="{821B2408-DD7C-4D46-8D55-90413675D57D}"/>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1" name="">
            <a:extLst>
              <a:ext uri="{FF2B5EF4-FFF2-40B4-BE49-F238E27FC236}">
                <ns2:creationId id="{381682CF-32EE-4C46-B103-0E6DB2E3BF3D}"/>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print(sensor_id, value)</a:t>
            </a:r>
          </a:p>
        </p:txBody>
      </p:sp>
      <p:sp>
        <p:nvSpPr>
          <p:cNvPr id="12" name="">
            <a:extLst>
              <a:ext uri="{FF2B5EF4-FFF2-40B4-BE49-F238E27FC236}">
                <ns2:creationId id="{B4D88E6F-104E-4A79-B713-DE77B683D71C}"/>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3" name="">
            <a:extLst>
              <a:ext uri="{FF2B5EF4-FFF2-40B4-BE49-F238E27FC236}">
                <ns2:creationId id="{144B2626-123E-441B-B877-AC9E46AD2919}"/>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show("S01", 22.5)</a:t>
            </a:r>
          </a:p>
        </p:txBody>
      </p:sp>
      <p:sp>
        <p:nvSpPr>
          <p:cNvPr id="14" name="">
            <a:extLst>
              <a:ext uri="{FF2B5EF4-FFF2-40B4-BE49-F238E27FC236}">
                <ns2:creationId id="{4DF1E31E-0E79-4CDB-93A5-1DA9DABE4DDB}"/>
              </a:ext>
            </a:extLst>
          </p:cNvPr>
          <p:cNvSpPr>
            <a:spLocks noGrp="1"/>
          </p:cNvSpPr>
          <p:nvPr/>
        </p:nvSpPr>
        <p:spPr>
          <a:xfrm>
            <a:off x="6410325" y="3668649"/>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5" name="">
            <a:extLst>
              <a:ext uri="{FF2B5EF4-FFF2-40B4-BE49-F238E27FC236}">
                <ns2:creationId id="{62CF62ED-234F-4AFD-981F-F0345346980C}"/>
              </a:ext>
            </a:extLst>
          </p:cNvPr>
          <p:cNvSpPr>
            <a:spLocks noGrp="1"/>
          </p:cNvSpPr>
          <p:nvPr/>
        </p:nvSpPr>
        <p:spPr>
          <a:xfrm>
            <a:off x="6858000" y="3630549"/>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show("S02", 25.0)</a:t>
            </a:r>
          </a:p>
        </p:txBody>
      </p:sp>
      <p:sp>
        <p:nvSpPr>
          <p:cNvPr id="16" name="">
            <a:extLst>
              <a:ext uri="{FF2B5EF4-FFF2-40B4-BE49-F238E27FC236}">
                <ns2:creationId id="{5F30231D-626D-43D8-813A-A1E85A8F3014}"/>
              </a:ext>
            </a:extLst>
          </p:cNvPr>
          <p:cNvSpPr>
            <a:spLocks noGrp="1"/>
          </p:cNvSpPr>
          <p:nvPr/>
        </p:nvSpPr>
        <p:spPr>
          <a:xfrm>
            <a:off x="685800" y="6172200"/>
            <a:ext cx="10820400" cy="9525"/>
          </a:xfrm>
          <a:prstGeom prst="rect">
            <a:avLst/>
          </a:prstGeom>
          <a:solidFill>
            <a:srgbClr val="D5DEDD"/>
          </a:solidFill>
          <a:ln w="0">
            <a:noFill/>
          </a:ln>
        </p:spPr>
      </p:sp>
      <p:sp>
        <p:nvSpPr>
          <p:cNvPr id="17" name="">
            <a:extLst>
              <a:ext uri="{FF2B5EF4-FFF2-40B4-BE49-F238E27FC236}">
                <ns2:creationId id="{C8812AA3-CE4D-4CFD-AC2D-66CEFD6E74C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8" name="">
            <a:extLst>
              <a:ext uri="{FF2B5EF4-FFF2-40B4-BE49-F238E27FC236}">
                <ns2:creationId id="{8D07B48B-BD33-40C6-89EE-A2A38E7E0D4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9" name="">
            <a:extLst>
              <a:ext uri="{FF2B5EF4-FFF2-40B4-BE49-F238E27FC236}">
                <ns2:creationId id="{2588BAB3-3037-4367-B269-4B81BF527E8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0" name="">
            <a:extLst>
              <a:ext uri="{FF2B5EF4-FFF2-40B4-BE49-F238E27FC236}">
                <ns2:creationId id="{A5DB765E-0E9B-4AA1-B861-54624708B2B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007</a:t>
            </a:r>
          </a:p>
        </p:txBody>
      </p:sp>
    </p:spTree>
    <p:extLst>
      <p:ext uri="{BB962C8B-B14F-4D97-AF65-F5344CB8AC3E}">
        <ns4:creationId val="208226044"/>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3" name="">
            <a:extLst>
              <a:ext uri="{FF2B5EF4-FFF2-40B4-BE49-F238E27FC236}">
                <ns2:creationId id="{443D3F4C-2661-4541-9B33-12B37C172FB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F24BB9A2-6E69-4AF1-899B-2FE15F01C13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완성 예 · 정의와 호출</a:t>
            </a:r>
          </a:p>
        </p:txBody>
      </p:sp>
      <p:sp>
        <p:nvSpPr>
          <p:cNvPr id="3" name="">
            <a:extLst>
              <a:ext uri="{FF2B5EF4-FFF2-40B4-BE49-F238E27FC236}">
                <ns2:creationId id="{155C69D0-1FCC-42AC-B325-C3C95B7ED0DB}"/>
              </a:ext>
            </a:extLst>
          </p:cNvPr>
          <p:cNvSpPr>
            <a:spLocks noGrp="1"/>
          </p:cNvSpPr>
          <p:nvPr/>
        </p:nvSpPr>
        <p:spPr>
          <a:xfrm>
            <a:off x="685800" y="1809750"/>
            <a:ext cx="6953250" cy="1908810"/>
          </a:xfrm>
          <a:prstGeom prst="rect">
            <a:avLst/>
          </a:prstGeom>
          <a:solidFill>
            <a:srgbClr val="F1F6F5"/>
          </a:solidFill>
          <a:ln w="0">
            <a:noFill/>
          </a:ln>
        </p:spPr>
      </p:sp>
      <p:sp>
        <p:nvSpPr>
          <p:cNvPr id="4" name="">
            <a:extLst>
              <a:ext uri="{FF2B5EF4-FFF2-40B4-BE49-F238E27FC236}">
                <ns2:creationId id="{B1D44374-7D91-4A68-ACD9-8AA9724D26A8}"/>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69DFDE36-46F6-400A-8AF8-C4F877070833}"/>
              </a:ext>
            </a:extLst>
          </p:cNvPr>
          <p:cNvSpPr>
            <a:spLocks noGrp="1"/>
          </p:cNvSpPr>
          <p:nvPr/>
        </p:nvSpPr>
        <p:spPr>
          <a:xfrm>
            <a:off x="1276350" y="1933575"/>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def show_notice():</a:t>
            </a:r>
          </a:p>
        </p:txBody>
      </p:sp>
      <p:sp>
        <p:nvSpPr>
          <p:cNvPr id="6" name="">
            <a:extLst>
              <a:ext uri="{FF2B5EF4-FFF2-40B4-BE49-F238E27FC236}">
                <ns2:creationId id="{BFCC990E-9F76-4490-B7DB-F9011B5D9662}"/>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28BE611E-1009-41C6-9308-DA9C62BA23BD}"/>
              </a:ext>
            </a:extLst>
          </p:cNvPr>
          <p:cNvSpPr>
            <a:spLocks noGrp="1"/>
          </p:cNvSpPr>
          <p:nvPr/>
        </p:nvSpPr>
        <p:spPr>
          <a:xfrm>
            <a:off x="1276350" y="2250567"/>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print("점검을 시작합니다")</a:t>
            </a:r>
          </a:p>
        </p:txBody>
      </p:sp>
      <p:sp>
        <p:nvSpPr>
          <p:cNvPr id="8" name="">
            <a:extLst>
              <a:ext uri="{FF2B5EF4-FFF2-40B4-BE49-F238E27FC236}">
                <ns2:creationId id="{54CE8CF8-05D6-43F1-8F50-FDFB625BBC86}"/>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8FC6E10B-3702-4596-A941-4781C16D0FFF}"/>
              </a:ext>
            </a:extLst>
          </p:cNvPr>
          <p:cNvSpPr>
            <a:spLocks noGrp="1"/>
          </p:cNvSpPr>
          <p:nvPr/>
        </p:nvSpPr>
        <p:spPr>
          <a:xfrm>
            <a:off x="1276350" y="2567559"/>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print("준비")</a:t>
            </a:r>
          </a:p>
        </p:txBody>
      </p:sp>
      <p:sp>
        <p:nvSpPr>
          <p:cNvPr id="10" name="">
            <a:extLst>
              <a:ext uri="{FF2B5EF4-FFF2-40B4-BE49-F238E27FC236}">
                <ns2:creationId id="{BA2C6A32-9EC8-4251-AB4E-7488276C5694}"/>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53155E6D-AF11-4FD6-83C2-5B5F0EFBDB0A}"/>
              </a:ext>
            </a:extLst>
          </p:cNvPr>
          <p:cNvSpPr>
            <a:spLocks noGrp="1"/>
          </p:cNvSpPr>
          <p:nvPr/>
        </p:nvSpPr>
        <p:spPr>
          <a:xfrm>
            <a:off x="1276350" y="2884551"/>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show_notice()</a:t>
            </a:r>
          </a:p>
        </p:txBody>
      </p:sp>
      <p:sp>
        <p:nvSpPr>
          <p:cNvPr id="12" name="">
            <a:extLst>
              <a:ext uri="{FF2B5EF4-FFF2-40B4-BE49-F238E27FC236}">
                <ns2:creationId id="{5F53EF64-AEF1-41E6-A0A9-0D91CBF25F01}"/>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07A52887-02A8-46A0-9066-3A89AD9B3175}"/>
              </a:ext>
            </a:extLst>
          </p:cNvPr>
          <p:cNvSpPr>
            <a:spLocks noGrp="1"/>
          </p:cNvSpPr>
          <p:nvPr/>
        </p:nvSpPr>
        <p:spPr>
          <a:xfrm>
            <a:off x="1276350" y="3201543"/>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print("끝")</a:t>
            </a:r>
          </a:p>
        </p:txBody>
      </p:sp>
      <p:sp>
        <p:nvSpPr>
          <p:cNvPr id="14" name="">
            <a:extLst>
              <a:ext uri="{FF2B5EF4-FFF2-40B4-BE49-F238E27FC236}">
                <ns2:creationId id="{D9AB3D96-ED0D-4D21-B33A-2D2AE17125A7}"/>
              </a:ext>
            </a:extLst>
          </p:cNvPr>
          <p:cNvSpPr>
            <a:spLocks noGrp="1"/>
          </p:cNvSpPr>
          <p:nvPr/>
        </p:nvSpPr>
        <p:spPr>
          <a:xfrm>
            <a:off x="8143875" y="1828800"/>
            <a:ext cx="3333750" cy="4095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실행 결과</a:t>
            </a:r>
          </a:p>
        </p:txBody>
      </p:sp>
      <p:sp>
        <p:nvSpPr>
          <p:cNvPr id="15" name="">
            <a:extLst>
              <a:ext uri="{FF2B5EF4-FFF2-40B4-BE49-F238E27FC236}">
                <ns2:creationId id="{9D3AA238-3DDD-47E2-B2ED-AEF6E2F73DF4}"/>
              </a:ext>
            </a:extLst>
          </p:cNvPr>
          <p:cNvSpPr>
            <a:spLocks noGrp="1"/>
          </p:cNvSpPr>
          <p:nvPr/>
        </p:nvSpPr>
        <p:spPr>
          <a:xfrm>
            <a:off x="8143875" y="2409825"/>
            <a:ext cx="3333750" cy="417767"/>
          </a:xfrm>
          <a:prstGeom prst="rect">
            <a:avLst/>
          </a:prstGeom>
          <a:noFill/>
          <a:ln w="0">
            <a:noFill/>
          </a:ln>
        </p:spPr>
        <p:txBody>
          <a:bodyPr wrap="square" lIns="0" tIns="0" rIns="0" bIns="0">
            <a:noAutofit/>
          </a:bodyPr>
          <a:lstStyle/>
          <a:p>
            <a:pPr>
              <a:defRPr sz="2025" b="0">
                <a:solidFill>
                  <a:srgbClr val="172F39"/>
                </a:solidFill>
                <a:latin typeface="Noto Sans KR"/>
                <a:ea typeface="Noto Sans KR"/>
                <a:cs typeface="Noto Sans KR"/>
              </a:defRPr>
            </a:pPr>
            <a:r>
              <a:t>준비</a:t>
            </a:r>
          </a:p>
        </p:txBody>
      </p:sp>
      <p:sp>
        <p:nvSpPr>
          <p:cNvPr id="16" name="">
            <a:extLst>
              <a:ext uri="{FF2B5EF4-FFF2-40B4-BE49-F238E27FC236}">
                <ns2:creationId id="{B895364F-8B21-496B-99DA-6DE187FB58B3}"/>
              </a:ext>
            </a:extLst>
          </p:cNvPr>
          <p:cNvSpPr>
            <a:spLocks noGrp="1"/>
          </p:cNvSpPr>
          <p:nvPr/>
        </p:nvSpPr>
        <p:spPr>
          <a:xfrm>
            <a:off x="8143875" y="2875217"/>
            <a:ext cx="3333750" cy="417767"/>
          </a:xfrm>
          <a:prstGeom prst="rect">
            <a:avLst/>
          </a:prstGeom>
          <a:noFill/>
          <a:ln w="0">
            <a:noFill/>
          </a:ln>
        </p:spPr>
        <p:txBody>
          <a:bodyPr wrap="square" lIns="0" tIns="0" rIns="0" bIns="0">
            <a:noAutofit/>
          </a:bodyPr>
          <a:lstStyle/>
          <a:p>
            <a:pPr>
              <a:defRPr sz="2025" b="0">
                <a:solidFill>
                  <a:srgbClr val="172F39"/>
                </a:solidFill>
                <a:latin typeface="Noto Sans KR"/>
                <a:ea typeface="Noto Sans KR"/>
                <a:cs typeface="Noto Sans KR"/>
              </a:defRPr>
            </a:pPr>
            <a:r>
              <a:t>점검을 시작합니다</a:t>
            </a:r>
          </a:p>
        </p:txBody>
      </p:sp>
      <p:sp>
        <p:nvSpPr>
          <p:cNvPr id="17" name="">
            <a:extLst>
              <a:ext uri="{FF2B5EF4-FFF2-40B4-BE49-F238E27FC236}">
                <ns2:creationId id="{5C0A2C97-DA3A-47EC-935F-A7CF4C8DF2A1}"/>
              </a:ext>
            </a:extLst>
          </p:cNvPr>
          <p:cNvSpPr>
            <a:spLocks noGrp="1"/>
          </p:cNvSpPr>
          <p:nvPr/>
        </p:nvSpPr>
        <p:spPr>
          <a:xfrm>
            <a:off x="8143875" y="3340608"/>
            <a:ext cx="3333750" cy="417767"/>
          </a:xfrm>
          <a:prstGeom prst="rect">
            <a:avLst/>
          </a:prstGeom>
          <a:noFill/>
          <a:ln w="0">
            <a:noFill/>
          </a:ln>
        </p:spPr>
        <p:txBody>
          <a:bodyPr wrap="square" lIns="0" tIns="0" rIns="0" bIns="0">
            <a:noAutofit/>
          </a:bodyPr>
          <a:lstStyle/>
          <a:p>
            <a:pPr>
              <a:defRPr sz="2025" b="0">
                <a:solidFill>
                  <a:srgbClr val="172F39"/>
                </a:solidFill>
                <a:latin typeface="Noto Sans KR"/>
                <a:ea typeface="Noto Sans KR"/>
                <a:cs typeface="Noto Sans KR"/>
              </a:defRPr>
            </a:pPr>
            <a:r>
              <a:t>끝</a:t>
            </a:r>
          </a:p>
        </p:txBody>
      </p:sp>
      <p:sp>
        <p:nvSpPr>
          <p:cNvPr id="18" name="">
            <a:extLst>
              <a:ext uri="{FF2B5EF4-FFF2-40B4-BE49-F238E27FC236}">
                <ns2:creationId id="{09AC4601-A835-4ABF-88EC-82261DA35F6E}"/>
              </a:ext>
            </a:extLst>
          </p:cNvPr>
          <p:cNvSpPr>
            <a:spLocks noGrp="1"/>
          </p:cNvSpPr>
          <p:nvPr/>
        </p:nvSpPr>
        <p:spPr>
          <a:xfrm>
            <a:off x="685800" y="6172200"/>
            <a:ext cx="10820400" cy="9525"/>
          </a:xfrm>
          <a:prstGeom prst="rect">
            <a:avLst/>
          </a:prstGeom>
          <a:solidFill>
            <a:srgbClr val="D5DEDD"/>
          </a:solidFill>
          <a:ln w="0">
            <a:noFill/>
          </a:ln>
        </p:spPr>
      </p:sp>
      <p:sp>
        <p:nvSpPr>
          <p:cNvPr id="19" name="">
            <a:extLst>
              <a:ext uri="{FF2B5EF4-FFF2-40B4-BE49-F238E27FC236}">
                <ns2:creationId id="{E46A4E1D-A900-4E3D-85E6-17426C6C27E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0" name="">
            <a:extLst>
              <a:ext uri="{FF2B5EF4-FFF2-40B4-BE49-F238E27FC236}">
                <ns2:creationId id="{E73E637F-8E48-45B2-92CC-E1472084225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1" name="">
            <a:extLst>
              <a:ext uri="{FF2B5EF4-FFF2-40B4-BE49-F238E27FC236}">
                <ns2:creationId id="{19B54203-DC8E-49FB-8669-4F2586C4EB3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2" name="">
            <a:extLst>
              <a:ext uri="{FF2B5EF4-FFF2-40B4-BE49-F238E27FC236}">
                <ns2:creationId id="{39091085-097C-4F1A-964F-0A5A4723E4A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008</a:t>
            </a:r>
          </a:p>
        </p:txBody>
      </p:sp>
    </p:spTree>
    <p:extLst>
      <p:ext uri="{BB962C8B-B14F-4D97-AF65-F5344CB8AC3E}">
        <ns4:creationId val="328088435"/>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86DED191-92EF-4356-96EC-67DD948394C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A80DED63-4A12-43C1-97FD-1AF096FE0AE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정의한 함수는 언제 실행될까요?</a:t>
            </a:r>
          </a:p>
        </p:txBody>
      </p:sp>
      <p:sp>
        <p:nvSpPr>
          <p:cNvPr id="3" name="">
            <a:extLst>
              <a:ext uri="{FF2B5EF4-FFF2-40B4-BE49-F238E27FC236}">
                <ns2:creationId id="{05A752AA-F1C2-494A-931E-82F0F88DBBB3}"/>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def로 정의</a:t>
            </a:r>
          </a:p>
        </p:txBody>
      </p:sp>
      <p:sp>
        <p:nvSpPr>
          <p:cNvPr id="4" name="">
            <a:extLst>
              <a:ext uri="{FF2B5EF4-FFF2-40B4-BE49-F238E27FC236}">
                <ns2:creationId id="{CF538C93-0F8E-4EAB-8C16-304D536DC753}"/>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def는 작업을 정의합니다.</a:t>
            </a:r>
          </a:p>
        </p:txBody>
      </p:sp>
      <p:sp>
        <p:nvSpPr>
          <p:cNvPr id="5" name="">
            <a:extLst>
              <a:ext uri="{FF2B5EF4-FFF2-40B4-BE49-F238E27FC236}">
                <ns2:creationId id="{B95FE80A-85A1-4F11-9CF6-556178C488A8}"/>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()로 호출</a:t>
            </a:r>
          </a:p>
        </p:txBody>
      </p:sp>
      <p:sp>
        <p:nvSpPr>
          <p:cNvPr id="6" name="">
            <a:extLst>
              <a:ext uri="{FF2B5EF4-FFF2-40B4-BE49-F238E27FC236}">
                <ns2:creationId id="{D98553C3-9EC1-4E64-A57D-4E2ED314ACA3}"/>
              </a:ext>
            </a:extLst>
          </p:cNvPr>
          <p:cNvSpPr>
            <a:spLocks noGrp="1"/>
          </p:cNvSpPr>
          <p:nvPr/>
        </p:nvSpPr>
        <p:spPr>
          <a:xfrm>
            <a:off x="6400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이름 뒤 ()로 작업을 요청합니다.</a:t>
            </a:r>
          </a:p>
        </p:txBody>
      </p:sp>
      <p:sp>
        <p:nvSpPr>
          <p:cNvPr id="7" name="">
            <a:extLst>
              <a:ext uri="{FF2B5EF4-FFF2-40B4-BE49-F238E27FC236}">
                <ns2:creationId id="{1755E413-5DAF-495E-9923-8612DF00772F}"/>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930AED0E-BD34-4210-B4D8-BEE9E31A9FEF}"/>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들여쓴 줄은 호출할 때 실행됩니다.</a:t>
            </a:r>
          </a:p>
        </p:txBody>
      </p:sp>
      <p:sp>
        <p:nvSpPr>
          <p:cNvPr id="9" name="">
            <a:extLst>
              <a:ext uri="{FF2B5EF4-FFF2-40B4-BE49-F238E27FC236}">
                <ns2:creationId id="{DF975FC4-0ABB-4B8F-8514-0D99D979F23B}"/>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C470E323-49FF-4715-A14F-3FE24E4CFEA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EDC8CA36-D445-4826-A6BE-ECC35450B76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5B5B665F-D5EE-4A1D-B8C3-5B99ECE651F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C5A8705F-FA4B-4D57-9868-284EE2F5E0B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009</a:t>
            </a:r>
          </a:p>
        </p:txBody>
      </p:sp>
    </p:spTree>
    <p:extLst>
      <p:ext uri="{BB962C8B-B14F-4D97-AF65-F5344CB8AC3E}">
        <ns4:creationId val="944762190"/>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5" name="">
            <a:extLst>
              <a:ext uri="{FF2B5EF4-FFF2-40B4-BE49-F238E27FC236}">
                <ns2:creationId id="{87E6B010-07D9-49BF-916C-F307843C63F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FF55890F-110B-4CF0-852C-D864C2829D5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 출력 · 실행 시점</a:t>
            </a:r>
          </a:p>
        </p:txBody>
      </p:sp>
      <p:sp>
        <p:nvSpPr>
          <p:cNvPr id="3" name="">
            <a:extLst>
              <a:ext uri="{FF2B5EF4-FFF2-40B4-BE49-F238E27FC236}">
                <ns2:creationId id="{1FDBA119-55AB-44C4-8159-7BC4E7A3360A}"/>
              </a:ext>
            </a:extLst>
          </p:cNvPr>
          <p:cNvSpPr>
            <a:spLocks noGrp="1"/>
          </p:cNvSpPr>
          <p:nvPr/>
        </p:nvSpPr>
        <p:spPr>
          <a:xfrm>
            <a:off x="685800" y="1809750"/>
            <a:ext cx="10820400" cy="1274826"/>
          </a:xfrm>
          <a:prstGeom prst="rect">
            <a:avLst/>
          </a:prstGeom>
          <a:solidFill>
            <a:srgbClr val="F1F6F5"/>
          </a:solidFill>
          <a:ln w="0">
            <a:noFill/>
          </a:ln>
        </p:spPr>
      </p:sp>
      <p:sp>
        <p:nvSpPr>
          <p:cNvPr id="4" name="">
            <a:extLst>
              <a:ext uri="{FF2B5EF4-FFF2-40B4-BE49-F238E27FC236}">
                <ns2:creationId id="{CE951D96-3D05-4F3F-9156-C06654ADC449}"/>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3C343520-B3AC-4D58-993D-B53D15541FFB}"/>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준비</a:t>
            </a:r>
          </a:p>
        </p:txBody>
      </p:sp>
      <p:sp>
        <p:nvSpPr>
          <p:cNvPr id="6" name="">
            <a:extLst>
              <a:ext uri="{FF2B5EF4-FFF2-40B4-BE49-F238E27FC236}">
                <ns2:creationId id="{D8C8C1E2-F786-4536-8288-8F4F002F23FF}"/>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2FD16066-0EBB-40BA-A671-189DCFFA3498}"/>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점검을 시작합니다</a:t>
            </a:r>
          </a:p>
        </p:txBody>
      </p:sp>
      <p:sp>
        <p:nvSpPr>
          <p:cNvPr id="8" name="">
            <a:extLst>
              <a:ext uri="{FF2B5EF4-FFF2-40B4-BE49-F238E27FC236}">
                <ns2:creationId id="{5F47AD77-7422-4765-9B1C-CEB50F3D8C87}"/>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5733B54E-CE4F-471F-8485-129465A0F7CE}"/>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끝</a:t>
            </a:r>
          </a:p>
        </p:txBody>
      </p:sp>
      <p:sp>
        <p:nvSpPr>
          <p:cNvPr id="10" name="">
            <a:extLst>
              <a:ext uri="{FF2B5EF4-FFF2-40B4-BE49-F238E27FC236}">
                <ns2:creationId id="{B15425D2-CC31-4A24-9BBC-6B8436F953C0}"/>
              </a:ext>
            </a:extLst>
          </p:cNvPr>
          <p:cNvSpPr>
            <a:spLocks noGrp="1"/>
          </p:cNvSpPr>
          <p:nvPr/>
        </p:nvSpPr>
        <p:spPr>
          <a:xfrm>
            <a:off x="685800" y="6172200"/>
            <a:ext cx="10820400" cy="9525"/>
          </a:xfrm>
          <a:prstGeom prst="rect">
            <a:avLst/>
          </a:prstGeom>
          <a:solidFill>
            <a:srgbClr val="D5DEDD"/>
          </a:solidFill>
          <a:ln w="0">
            <a:noFill/>
          </a:ln>
        </p:spPr>
      </p:sp>
      <p:sp>
        <p:nvSpPr>
          <p:cNvPr id="11" name="">
            <a:extLst>
              <a:ext uri="{FF2B5EF4-FFF2-40B4-BE49-F238E27FC236}">
                <ns2:creationId id="{2381A617-98AE-4032-ABDE-88D47CDC67B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2" name="">
            <a:extLst>
              <a:ext uri="{FF2B5EF4-FFF2-40B4-BE49-F238E27FC236}">
                <ns2:creationId id="{A9882E75-3CDC-4778-BE4D-D16F864A3AF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3" name="">
            <a:extLst>
              <a:ext uri="{FF2B5EF4-FFF2-40B4-BE49-F238E27FC236}">
                <ns2:creationId id="{434D3EBB-7204-4648-A7B9-489A6D78435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4" name="">
            <a:extLst>
              <a:ext uri="{FF2B5EF4-FFF2-40B4-BE49-F238E27FC236}">
                <ns2:creationId id="{C57BBA62-4D35-4FE0-941B-95F33D610B0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010</a:t>
            </a:r>
          </a:p>
        </p:txBody>
      </p:sp>
    </p:spTree>
    <p:extLst>
      <p:ext uri="{BB962C8B-B14F-4D97-AF65-F5344CB8AC3E}">
        <ns4:creationId val="77983326"/>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3805CED2-0E67-4511-8B9B-904814165A6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B21B5FD8-4188-492D-B16F-DFCAF6EEE51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번 정의하고 두 번 호출하면</a:t>
            </a:r>
          </a:p>
        </p:txBody>
      </p:sp>
      <p:sp>
        <p:nvSpPr>
          <p:cNvPr id="3" name="">
            <a:extLst>
              <a:ext uri="{FF2B5EF4-FFF2-40B4-BE49-F238E27FC236}">
                <ns2:creationId id="{952A6C1F-2092-4D48-B07D-FFF809E291AF}"/>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같은 작업을 두 번 실행할 수 있습니다.</a:t>
            </a:r>
          </a:p>
        </p:txBody>
      </p:sp>
      <p:sp>
        <p:nvSpPr>
          <p:cNvPr id="4" name="">
            <a:extLst>
              <a:ext uri="{FF2B5EF4-FFF2-40B4-BE49-F238E27FC236}">
                <ns2:creationId id="{C3362006-3644-40D0-B3EF-206DE21DAF54}"/>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호출마다 본문으로 들어갔다 돌아옵니다.</a:t>
            </a:r>
          </a:p>
        </p:txBody>
      </p:sp>
      <p:sp>
        <p:nvSpPr>
          <p:cNvPr id="5" name="">
            <a:extLst>
              <a:ext uri="{FF2B5EF4-FFF2-40B4-BE49-F238E27FC236}">
                <ns2:creationId id="{0F7CD761-D552-497B-B00A-05CCB3049443}"/>
              </a:ext>
            </a:extLst>
          </p:cNvPr>
          <p:cNvSpPr>
            <a:spLocks noGrp="1"/>
          </p:cNvSpPr>
          <p:nvPr/>
        </p:nvSpPr>
        <p:spPr>
          <a:xfrm>
            <a:off x="685800" y="360616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본문의 줄 위치와 출력 시점은 다릅니다.</a:t>
            </a:r>
          </a:p>
        </p:txBody>
      </p:sp>
      <p:sp>
        <p:nvSpPr>
          <p:cNvPr id="6" name="">
            <a:extLst>
              <a:ext uri="{FF2B5EF4-FFF2-40B4-BE49-F238E27FC236}">
                <ns2:creationId id="{E72D0919-1B08-4A23-804A-E21FC80D5591}"/>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받는 자리와 실제 값</a:t>
            </a:r>
          </a:p>
        </p:txBody>
      </p:sp>
      <p:graphicFrame>
        <p:nvGraphicFramePr>
          <p:cNvPr id="19" name=""/>
          <p:cNvGraphicFramePr/>
          <p:nvPr/>
        </p:nvGraphicFramePr>
        <p:xfrm>
          <a:off x="6267450" y="2628900"/>
          <a:ext cx="5238750" cy="1543050"/>
        </p:xfrm>
        <a:graphic>
          <a:graphicData uri="http://schemas.openxmlformats.org/drawingml/2006/table">
            <a:tbl>
              <a:tblPr firstRow="1" bandRow="0"/>
              <a:tblGrid>
                <a:gridCol w="1843919"/>
                <a:gridCol w="1985370"/>
                <a:gridCol w="1409461"/>
              </a:tblGrid>
              <a:tr h="514350">
                <a:tc>
                  <a:txBody>
                    <a:bodyPr wrap="square"/>
                    <a:lstStyle/>
                    <a:p>
                      <a:pPr>
                        <a:lnSpc>
                          <a:spcPct val="102000"/>
                        </a:lnSpc>
                        <a:buNone/>
                      </a:pPr>
                      <a:r>
                        <a:rPr sz="1875" b="1">
                          <a:solidFill>
                            <a:srgbClr val="172F39"/>
                          </a:solidFill>
                          <a:latin typeface="Noto Sans KR"/>
                          <a:ea typeface="Noto Sans KR"/>
                          <a:cs typeface="Noto Sans KR"/>
                        </a:rPr>
                        <a:t>호출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sensor_id</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value</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첫 호출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S01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22.5</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둘째 호출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S02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25.0</a:t>
                      </a:r>
                    </a:p>
                  </a:txBody>
                  <a:tcPr marL="114300" marR="114300" marT="76200" marB="76200" anchor="ctr">
                    <a:solidFill>
                      <a:srgbClr val="FFFFFF"/>
                    </a:solidFill>
                  </a:tcPr>
                </a:tc>
              </a:tr>
            </a:tbl>
          </a:graphicData>
        </a:graphic>
      </p:graphicFrame>
      <p:sp>
        <p:nvSpPr>
          <p:cNvPr id="8" name="">
            <a:extLst>
              <a:ext uri="{FF2B5EF4-FFF2-40B4-BE49-F238E27FC236}">
                <ns2:creationId id="{9C18DBFC-19A8-45C0-9601-A06E9DD3ACE3}"/>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6E753B46-ED4E-4C54-865C-6F6DEEA3FFA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C57BAA83-93B6-4C2E-9B08-BD635EED4E5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2DAEA140-513F-4E90-852C-7A3C95D745C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A2BE13A2-D4D7-4303-A2C3-D53D0FE4B19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011</a:t>
            </a:r>
          </a:p>
        </p:txBody>
      </p:sp>
    </p:spTree>
    <p:extLst>
      <p:ext uri="{BB962C8B-B14F-4D97-AF65-F5344CB8AC3E}">
        <ns4:creationId val="30575482"/>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7" name="">
            <a:extLst>
              <a:ext uri="{FF2B5EF4-FFF2-40B4-BE49-F238E27FC236}">
                <ns2:creationId id="{46ECD89F-E916-4D7D-99F5-8FFDA04F806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5C179841-2F94-4740-92D1-025F5D7BB47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완성 예 · 입력 두 개 받기</a:t>
            </a:r>
          </a:p>
        </p:txBody>
      </p:sp>
      <p:sp>
        <p:nvSpPr>
          <p:cNvPr id="3" name="">
            <a:extLst>
              <a:ext uri="{FF2B5EF4-FFF2-40B4-BE49-F238E27FC236}">
                <ns2:creationId id="{8E918C9B-0322-47DF-A856-54DE3ABB9BC6}"/>
              </a:ext>
            </a:extLst>
          </p:cNvPr>
          <p:cNvSpPr>
            <a:spLocks noGrp="1"/>
          </p:cNvSpPr>
          <p:nvPr/>
        </p:nvSpPr>
        <p:spPr>
          <a:xfrm>
            <a:off x="685800" y="1809750"/>
            <a:ext cx="10820400" cy="1591818"/>
          </a:xfrm>
          <a:prstGeom prst="rect">
            <a:avLst/>
          </a:prstGeom>
          <a:solidFill>
            <a:srgbClr val="F1F6F5"/>
          </a:solidFill>
          <a:ln w="0">
            <a:noFill/>
          </a:ln>
        </p:spPr>
      </p:sp>
      <p:sp>
        <p:nvSpPr>
          <p:cNvPr id="4" name="">
            <a:extLst>
              <a:ext uri="{FF2B5EF4-FFF2-40B4-BE49-F238E27FC236}">
                <ns2:creationId id="{AA46F1DC-EFB5-4804-BBC7-F30C6DEB0073}"/>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484B537E-AC7F-42CD-87F9-13210B63B614}"/>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def show_temperature(sensor_id, value):</a:t>
            </a:r>
          </a:p>
        </p:txBody>
      </p:sp>
      <p:sp>
        <p:nvSpPr>
          <p:cNvPr id="6" name="">
            <a:extLst>
              <a:ext uri="{FF2B5EF4-FFF2-40B4-BE49-F238E27FC236}">
                <ns2:creationId id="{80328735-7829-43B1-AECB-7AF12FB7B310}"/>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31FBCFA2-06E9-4E5A-8E61-11FBA1B285B6}"/>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print(sensor_id, value)</a:t>
            </a:r>
          </a:p>
        </p:txBody>
      </p:sp>
      <p:sp>
        <p:nvSpPr>
          <p:cNvPr id="8" name="">
            <a:extLst>
              <a:ext uri="{FF2B5EF4-FFF2-40B4-BE49-F238E27FC236}">
                <ns2:creationId id="{6D7B60AD-69D1-42D1-AA0A-16DA722EB17A}"/>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3D008E0D-917B-4059-B308-A606E7029E10}"/>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show_temperature("S01", 22.5)</a:t>
            </a:r>
          </a:p>
        </p:txBody>
      </p:sp>
      <p:sp>
        <p:nvSpPr>
          <p:cNvPr id="10" name="">
            <a:extLst>
              <a:ext uri="{FF2B5EF4-FFF2-40B4-BE49-F238E27FC236}">
                <ns2:creationId id="{ECBF5596-E618-4D50-963F-D120A97A7323}"/>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0CDB306E-7666-4F00-B7B3-CE479DA31647}"/>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show_temperature("S02", 25.0)</a:t>
            </a:r>
          </a:p>
        </p:txBody>
      </p:sp>
      <p:sp>
        <p:nvSpPr>
          <p:cNvPr id="12" name="">
            <a:extLst>
              <a:ext uri="{FF2B5EF4-FFF2-40B4-BE49-F238E27FC236}">
                <ns2:creationId id="{B06EEDCC-35BD-4802-937E-0E9BF6560CFF}"/>
              </a:ext>
            </a:extLst>
          </p:cNvPr>
          <p:cNvSpPr>
            <a:spLocks noGrp="1"/>
          </p:cNvSpPr>
          <p:nvPr/>
        </p:nvSpPr>
        <p:spPr>
          <a:xfrm>
            <a:off x="685800" y="6172200"/>
            <a:ext cx="10820400" cy="9525"/>
          </a:xfrm>
          <a:prstGeom prst="rect">
            <a:avLst/>
          </a:prstGeom>
          <a:solidFill>
            <a:srgbClr val="D5DEDD"/>
          </a:solidFill>
          <a:ln w="0">
            <a:noFill/>
          </a:ln>
        </p:spPr>
      </p:sp>
      <p:sp>
        <p:nvSpPr>
          <p:cNvPr id="13" name="">
            <a:extLst>
              <a:ext uri="{FF2B5EF4-FFF2-40B4-BE49-F238E27FC236}">
                <ns2:creationId id="{8EDCD792-7CD0-4A03-A47B-03D7B356AFF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4" name="">
            <a:extLst>
              <a:ext uri="{FF2B5EF4-FFF2-40B4-BE49-F238E27FC236}">
                <ns2:creationId id="{DC2033B8-7C62-436E-9BF4-5391587199F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5" name="">
            <a:extLst>
              <a:ext uri="{FF2B5EF4-FFF2-40B4-BE49-F238E27FC236}">
                <ns2:creationId id="{E97A2B83-85D4-4FC9-AA98-F4CC4CE5E72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6" name="">
            <a:extLst>
              <a:ext uri="{FF2B5EF4-FFF2-40B4-BE49-F238E27FC236}">
                <ns2:creationId id="{EEDCB451-05CB-4ABE-8656-026BACA2D2C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012</a:t>
            </a:r>
          </a:p>
        </p:txBody>
      </p:sp>
    </p:spTree>
    <p:extLst>
      <p:ext uri="{BB962C8B-B14F-4D97-AF65-F5344CB8AC3E}">
        <ns4:creationId val="1492576954"/>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F3A7B954-AC28-449B-BE5D-58259962A53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B92916F9-F726-4746-B628-0422E454DA6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받는 자리와 실제 값</a:t>
            </a:r>
          </a:p>
        </p:txBody>
      </p:sp>
      <p:graphicFrame>
        <p:nvGraphicFramePr>
          <p:cNvPr id="11" name=""/>
          <p:cNvGraphicFramePr/>
          <p:nvPr/>
        </p:nvGraphicFramePr>
        <p:xfrm>
          <a:off x="685800" y="1809750"/>
          <a:ext cx="10820400" cy="1609344"/>
        </p:xfrm>
        <a:graphic>
          <a:graphicData uri="http://schemas.openxmlformats.org/drawingml/2006/table">
            <a:tbl>
              <a:tblPr firstRow="1" bandRow="0"/>
              <a:tblGrid>
                <a:gridCol w="3808530"/>
                <a:gridCol w="4100692"/>
                <a:gridCol w="2911178"/>
              </a:tblGrid>
              <a:tr h="536448">
                <a:tc>
                  <a:txBody>
                    <a:bodyPr wrap="square"/>
                    <a:lstStyle/>
                    <a:p>
                      <a:pPr>
                        <a:lnSpc>
                          <a:spcPct val="102000"/>
                        </a:lnSpc>
                        <a:buNone/>
                      </a:pPr>
                      <a:r>
                        <a:rPr sz="2025" b="1">
                          <a:solidFill>
                            <a:srgbClr val="172F39"/>
                          </a:solidFill>
                          <a:latin typeface="Noto Sans KR"/>
                          <a:ea typeface="Noto Sans KR"/>
                          <a:cs typeface="Noto Sans KR"/>
                        </a:rPr>
                        <a:t>호출</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sensor_id</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value</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첫 호출</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S01</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22.5</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둘째 호출</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S02</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25.0</a:t>
                      </a:r>
                    </a:p>
                  </a:txBody>
                  <a:tcPr marL="114300" marR="114300" marT="76200" marB="76200" anchor="ctr">
                    <a:solidFill>
                      <a:srgbClr val="FFFFFF"/>
                    </a:solidFill>
                  </a:tcPr>
                </a:tc>
              </a:tr>
            </a:tbl>
          </a:graphicData>
        </a:graphic>
      </p:graphicFrame>
      <p:sp>
        <p:nvSpPr>
          <p:cNvPr id="4" name="">
            <a:extLst>
              <a:ext uri="{FF2B5EF4-FFF2-40B4-BE49-F238E27FC236}">
                <ns2:creationId id="{2513C32F-8551-4765-A934-C2B480334A0C}"/>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524376F5-A657-4705-8D8F-B0EF88A5F20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B398CC1F-ECFA-4491-9FDA-166DCB053C1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5E796DCA-F998-4C17-A689-B8B284514A2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F00DA3D4-A0D9-4AD3-89DB-2F62B7AB930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013</a:t>
            </a:r>
          </a:p>
        </p:txBody>
      </p:sp>
    </p:spTree>
    <p:extLst>
      <p:ext uri="{BB962C8B-B14F-4D97-AF65-F5344CB8AC3E}">
        <ns4:creationId val="1625062003"/>
      </p:ext>
    </p:extLst>
  </p:cSld>
</p:sld>
</file>

<file path=ppt/slides/slide1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34511EEE-04E7-4C66-B56C-66852766FD7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7B92E09E-B391-44ED-9797-EDA0650068F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입력 개수와 순서를 확인합니다</a:t>
            </a:r>
          </a:p>
        </p:txBody>
      </p:sp>
      <p:sp>
        <p:nvSpPr>
          <p:cNvPr id="3" name="">
            <a:extLst>
              <a:ext uri="{FF2B5EF4-FFF2-40B4-BE49-F238E27FC236}">
                <ns2:creationId id="{D0F9517B-CC10-4027-B6DC-8F6615499925}"/>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매개변수</a:t>
            </a:r>
          </a:p>
        </p:txBody>
      </p:sp>
      <p:sp>
        <p:nvSpPr>
          <p:cNvPr id="4" name="">
            <a:extLst>
              <a:ext uri="{FF2B5EF4-FFF2-40B4-BE49-F238E27FC236}">
                <ns2:creationId id="{2A2EEE28-0C83-4695-9889-6608A0D41F44}"/>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매개변수는 받을 자리의 이름입니다.</a:t>
            </a:r>
          </a:p>
        </p:txBody>
      </p:sp>
      <p:sp>
        <p:nvSpPr>
          <p:cNvPr id="5" name="">
            <a:extLst>
              <a:ext uri="{FF2B5EF4-FFF2-40B4-BE49-F238E27FC236}">
                <ns2:creationId id="{2EF64A91-D15C-4CE3-A99C-01E7BA9302A7}"/>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인자</a:t>
            </a:r>
          </a:p>
        </p:txBody>
      </p:sp>
      <p:sp>
        <p:nvSpPr>
          <p:cNvPr id="6" name="">
            <a:extLst>
              <a:ext uri="{FF2B5EF4-FFF2-40B4-BE49-F238E27FC236}">
                <ns2:creationId id="{84597925-E6D8-4B65-92B9-610F7CD26487}"/>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인자는 호출에서 건네는 실제 값입니다.</a:t>
            </a:r>
          </a:p>
        </p:txBody>
      </p:sp>
      <p:sp>
        <p:nvSpPr>
          <p:cNvPr id="7" name="">
            <a:extLst>
              <a:ext uri="{FF2B5EF4-FFF2-40B4-BE49-F238E27FC236}">
                <ns2:creationId id="{E40A36DE-A44E-486D-AD1E-C3D4110697AE}"/>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24DFCF0E-74A5-4E26-9C2B-361445BB2F3B}"/>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부족한 입력이나 잘못된 순서를 확인합니다.</a:t>
            </a:r>
          </a:p>
        </p:txBody>
      </p:sp>
      <p:sp>
        <p:nvSpPr>
          <p:cNvPr id="9" name="">
            <a:extLst>
              <a:ext uri="{FF2B5EF4-FFF2-40B4-BE49-F238E27FC236}">
                <ns2:creationId id="{3C8DCBE5-61FA-4845-9AF9-06DD4519AD2D}"/>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35D13353-6C89-47E3-9B90-9900C7DD23B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CDBFE2E5-A171-40E6-A713-3A79A696E06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A4E65E6E-E365-402F-A68A-C0DBD51BF3B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F1B2AD1A-DBFE-4190-A49C-67F4E906987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014</a:t>
            </a:r>
          </a:p>
        </p:txBody>
      </p:sp>
    </p:spTree>
    <p:extLst>
      <p:ext uri="{BB962C8B-B14F-4D97-AF65-F5344CB8AC3E}">
        <ns4:creationId val="1156032761"/>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FA1CBE46-BD1A-4765-8C69-6B342C713F4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CF41F91B-34C8-48FE-A20A-1A8E66C3E00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방문자 이름으로 환영 문장</a:t>
            </a:r>
          </a:p>
        </p:txBody>
      </p:sp>
      <p:sp>
        <p:nvSpPr>
          <p:cNvPr id="3" name="">
            <a:extLst>
              <a:ext uri="{FF2B5EF4-FFF2-40B4-BE49-F238E27FC236}">
                <ns2:creationId id="{150DA1AE-F5C9-4F3A-A30E-82C1A725203E}"/>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1">
                <a:solidFill>
                  <a:srgbClr val="172F39"/>
                </a:solidFill>
                <a:latin typeface="Noto Sans KR"/>
                <a:ea typeface="Noto Sans KR"/>
                <a:cs typeface="Noto Sans KR"/>
              </a:defRPr>
            </a:pPr>
            <a:r>
              <a:t>방문자 이름을 받아 환영 문장을 만듭니다.</a:t>
            </a:r>
          </a:p>
        </p:txBody>
      </p:sp>
      <p:sp>
        <p:nvSpPr>
          <p:cNvPr id="4" name="">
            <a:extLst>
              <a:ext uri="{FF2B5EF4-FFF2-40B4-BE49-F238E27FC236}">
                <ns2:creationId id="{1ED0A479-2EEB-4FAC-B3E7-8459CA32D187}"/>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받은 이름을 넣어 문장 만들기</a:t>
            </a:r>
          </a:p>
        </p:txBody>
      </p:sp>
      <p:graphicFrame>
        <p:nvGraphicFramePr>
          <p:cNvPr id="15" name=""/>
          <p:cNvGraphicFramePr/>
          <p:nvPr/>
        </p:nvGraphicFramePr>
        <p:xfrm>
          <a:off x="6267450" y="2628900"/>
          <a:ext cx="5238750" cy="1543050"/>
        </p:xfrm>
        <a:graphic>
          <a:graphicData uri="http://schemas.openxmlformats.org/drawingml/2006/table">
            <a:tbl>
              <a:tblPr firstRow="1" bandRow="0"/>
              <a:tblGrid>
                <a:gridCol w="2136473"/>
                <a:gridCol w="3102277"/>
              </a:tblGrid>
              <a:tr h="514350">
                <a:tc>
                  <a:txBody>
                    <a:bodyPr wrap="square"/>
                    <a:lstStyle/>
                    <a:p>
                      <a:pPr>
                        <a:lnSpc>
                          <a:spcPct val="102000"/>
                        </a:lnSpc>
                        <a:buNone/>
                      </a:pPr>
                      <a:r>
                        <a:rPr sz="1875" b="1">
                          <a:solidFill>
                            <a:srgbClr val="172F39"/>
                          </a:solidFill>
                          <a:latin typeface="Noto Sans KR"/>
                          <a:ea typeface="Noto Sans KR"/>
                          <a:cs typeface="Noto Sans KR"/>
                        </a:rPr>
                        <a:t>호출 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반환할 문장</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민수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안녕하세요, 민수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지아</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안녕하세요, 지아</a:t>
                      </a:r>
                    </a:p>
                  </a:txBody>
                  <a:tcPr marL="114300" marR="114300" marT="76200" marB="76200" anchor="ctr">
                    <a:solidFill>
                      <a:srgbClr val="FFFFFF"/>
                    </a:solidFill>
                  </a:tcPr>
                </a:tc>
              </a:tr>
            </a:tbl>
          </a:graphicData>
        </a:graphic>
      </p:graphicFrame>
      <p:sp>
        <p:nvSpPr>
          <p:cNvPr id="6" name="">
            <a:extLst>
              <a:ext uri="{FF2B5EF4-FFF2-40B4-BE49-F238E27FC236}">
                <ns2:creationId id="{68FD0BBC-3EF1-4B1D-BD40-028F94CA0DC2}"/>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30A44EDD-FE3D-409A-AB27-68B3704FC0B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69721BDE-CFCE-47CA-B4F0-8F968B550B5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A3C1D8DE-DEF2-45E2-A772-09B2FAF11CE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7D37E827-9024-4C79-A71B-7D8BD3B33BB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015</a:t>
            </a:r>
          </a:p>
        </p:txBody>
      </p:sp>
    </p:spTree>
    <p:extLst>
      <p:ext uri="{BB962C8B-B14F-4D97-AF65-F5344CB8AC3E}">
        <ns4:creationId val="1003145023"/>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D0A0A1DB-F03E-45EB-B9ED-9177B7B96A9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4FF9EFDD-4B00-4D52-ABB1-FE77E7EA33F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받은 이름을 넣어 문장 만들기</a:t>
            </a:r>
          </a:p>
        </p:txBody>
      </p:sp>
      <p:graphicFrame>
        <p:nvGraphicFramePr>
          <p:cNvPr id="11" name=""/>
          <p:cNvGraphicFramePr/>
          <p:nvPr/>
        </p:nvGraphicFramePr>
        <p:xfrm>
          <a:off x="685800" y="1809750"/>
          <a:ext cx="10820400" cy="1609344"/>
        </p:xfrm>
        <a:graphic>
          <a:graphicData uri="http://schemas.openxmlformats.org/drawingml/2006/table">
            <a:tbl>
              <a:tblPr firstRow="1" bandRow="0"/>
              <a:tblGrid>
                <a:gridCol w="4412789"/>
                <a:gridCol w="6407611"/>
              </a:tblGrid>
              <a:tr h="536448">
                <a:tc>
                  <a:txBody>
                    <a:bodyPr wrap="square"/>
                    <a:lstStyle/>
                    <a:p>
                      <a:pPr>
                        <a:lnSpc>
                          <a:spcPct val="102000"/>
                        </a:lnSpc>
                        <a:buNone/>
                      </a:pPr>
                      <a:r>
                        <a:rPr sz="2025" b="1">
                          <a:solidFill>
                            <a:srgbClr val="172F39"/>
                          </a:solidFill>
                          <a:latin typeface="Noto Sans KR"/>
                          <a:ea typeface="Noto Sans KR"/>
                          <a:cs typeface="Noto Sans KR"/>
                        </a:rPr>
                        <a:t>호출 입력</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반환할 문장</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민수</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안녕하세요, 민수</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지아</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안녕하세요, 지아</a:t>
                      </a:r>
                    </a:p>
                  </a:txBody>
                  <a:tcPr marL="114300" marR="114300" marT="76200" marB="76200" anchor="ctr">
                    <a:solidFill>
                      <a:srgbClr val="FFFFFF"/>
                    </a:solidFill>
                  </a:tcPr>
                </a:tc>
              </a:tr>
            </a:tbl>
          </a:graphicData>
        </a:graphic>
      </p:graphicFrame>
      <p:sp>
        <p:nvSpPr>
          <p:cNvPr id="4" name="">
            <a:extLst>
              <a:ext uri="{FF2B5EF4-FFF2-40B4-BE49-F238E27FC236}">
                <ns2:creationId id="{45EBC2CE-4ADB-48FA-AEE3-B0AEEAB8BFEB}"/>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B62C07DA-8C42-4139-8873-EAB21B642DF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4D852872-A249-47DE-96C8-F05FC3AE886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EEE0A1E0-3BA0-4FD0-8200-2BD4C900793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F248D12C-6CF1-4EE2-A56D-D4899E75DEB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016</a:t>
            </a:r>
          </a:p>
        </p:txBody>
      </p:sp>
    </p:spTree>
    <p:extLst>
      <p:ext uri="{BB962C8B-B14F-4D97-AF65-F5344CB8AC3E}">
        <ns4:creationId val="1623601574"/>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BC94643B-5A29-493F-9B6B-7408BD48C48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AA29BBB2-0BE6-48AF-A371-83A4417BFB3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 새 문제</a:t>
            </a:r>
          </a:p>
        </p:txBody>
      </p:sp>
      <p:sp>
        <p:nvSpPr>
          <p:cNvPr id="3" name="">
            <a:extLst>
              <a:ext uri="{FF2B5EF4-FFF2-40B4-BE49-F238E27FC236}">
                <ns2:creationId id="{E75E2D8E-5731-458C-B9DB-6D510B38E435}"/>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 복습: 상품명과 보관함을 받습니다.</a:t>
            </a:r>
          </a:p>
        </p:txBody>
      </p:sp>
      <p:sp>
        <p:nvSpPr>
          <p:cNvPr id="4" name="">
            <a:extLst>
              <a:ext uri="{FF2B5EF4-FFF2-40B4-BE49-F238E27FC236}">
                <ns2:creationId id="{8234A72A-52D7-4828-9973-85660F848137}"/>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장갑/B02, 마스크/A01의 라벨을 만드세요.</a:t>
            </a:r>
          </a:p>
        </p:txBody>
      </p:sp>
      <p:sp>
        <p:nvSpPr>
          <p:cNvPr id="5" name="">
            <a:extLst>
              <a:ext uri="{FF2B5EF4-FFF2-40B4-BE49-F238E27FC236}">
                <ns2:creationId id="{1B6637BF-4853-46C5-9BC4-E859B50AAEEE}"/>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입력 순서를 바꾼 결과도 설명하세요.</a:t>
            </a:r>
          </a:p>
        </p:txBody>
      </p:sp>
      <p:sp>
        <p:nvSpPr>
          <p:cNvPr id="6" name="">
            <a:extLst>
              <a:ext uri="{FF2B5EF4-FFF2-40B4-BE49-F238E27FC236}">
                <ns2:creationId id="{7AD150DE-A4D8-49B4-A5E1-D8AE72EA53D3}"/>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1D6AFF89-8E2A-46C4-8623-6C9E97EAD7A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CE1A140D-26A2-4FC9-82A9-E30EC755519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BFEBD7A7-C0F4-4DE9-873C-ED0EB19DE7A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CF7F961B-CBC6-49AA-B95A-A03B51F48B5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017</a:t>
            </a:r>
          </a:p>
        </p:txBody>
      </p:sp>
    </p:spTree>
    <p:extLst>
      <p:ext uri="{BB962C8B-B14F-4D97-AF65-F5344CB8AC3E}">
        <ns4:creationId val="305719668"/>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013B04E8-2447-4725-A09D-43B21E6AC58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6499A291-9A28-4879-98C8-599F0C05103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입력 순서를 바꾸면?</a:t>
            </a:r>
          </a:p>
        </p:txBody>
      </p:sp>
      <p:sp>
        <p:nvSpPr>
          <p:cNvPr id="3" name="">
            <a:extLst>
              <a:ext uri="{FF2B5EF4-FFF2-40B4-BE49-F238E27FC236}">
                <ns2:creationId id="{2F1BEE15-6D6D-4A83-B2BA-EC939D089A64}"/>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장갑 / B02, 마스크 / A01로 만듭니다.</a:t>
            </a:r>
          </a:p>
        </p:txBody>
      </p:sp>
      <p:sp>
        <p:nvSpPr>
          <p:cNvPr id="4" name="">
            <a:extLst>
              <a:ext uri="{FF2B5EF4-FFF2-40B4-BE49-F238E27FC236}">
                <ns2:creationId id="{FE43CE8B-C22E-41BE-AED5-B48FC725935E}"/>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순서를 바꾸면 B02 / 장갑처럼 양식이 달라집니다.</a:t>
            </a:r>
          </a:p>
        </p:txBody>
      </p:sp>
      <p:sp>
        <p:nvSpPr>
          <p:cNvPr id="5" name="">
            <a:extLst>
              <a:ext uri="{FF2B5EF4-FFF2-40B4-BE49-F238E27FC236}">
                <ns2:creationId id="{47BC31A2-E5A2-4738-BD7C-E2E1B3F02C9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복습 · 새 문제</a:t>
            </a:r>
          </a:p>
        </p:txBody>
      </p:sp>
      <p:sp>
        <p:nvSpPr>
          <p:cNvPr id="6" name="">
            <a:extLst>
              <a:ext uri="{FF2B5EF4-FFF2-40B4-BE49-F238E27FC236}">
                <ns2:creationId id="{B761E59B-E328-4017-9B53-F4A2DFB5AAF6}"/>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추가 복습: 상품명과 보관함을 받습니다.</a:t>
            </a:r>
          </a:p>
        </p:txBody>
      </p:sp>
      <p:sp>
        <p:nvSpPr>
          <p:cNvPr id="7" name="">
            <a:extLst>
              <a:ext uri="{FF2B5EF4-FFF2-40B4-BE49-F238E27FC236}">
                <ns2:creationId id="{97A50225-5337-4BC9-BCE1-6299305A6A6C}"/>
              </a:ext>
            </a:extLst>
          </p:cNvPr>
          <p:cNvSpPr>
            <a:spLocks noGrp="1"/>
          </p:cNvSpPr>
          <p:nvPr/>
        </p:nvSpPr>
        <p:spPr>
          <a:xfrm>
            <a:off x="6267450" y="3116771"/>
            <a:ext cx="5238750" cy="766191"/>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장갑/B02, 마스크/A01의 라벨을 만드세요.</a:t>
            </a:r>
          </a:p>
        </p:txBody>
      </p:sp>
      <p:sp>
        <p:nvSpPr>
          <p:cNvPr id="8" name="">
            <a:extLst>
              <a:ext uri="{FF2B5EF4-FFF2-40B4-BE49-F238E27FC236}">
                <ns2:creationId id="{5B3BF4F8-ED5F-40F4-80CE-325D71F3CE82}"/>
              </a:ext>
            </a:extLst>
          </p:cNvPr>
          <p:cNvSpPr>
            <a:spLocks noGrp="1"/>
          </p:cNvSpPr>
          <p:nvPr/>
        </p:nvSpPr>
        <p:spPr>
          <a:xfrm>
            <a:off x="6267450" y="3930587"/>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입력 순서를 바꾼 결과도 설명하세요.</a:t>
            </a:r>
          </a:p>
        </p:txBody>
      </p:sp>
      <p:sp>
        <p:nvSpPr>
          <p:cNvPr id="9" name="">
            <a:extLst>
              <a:ext uri="{FF2B5EF4-FFF2-40B4-BE49-F238E27FC236}">
                <ns2:creationId id="{74C068C1-7313-40E9-9A52-B9121CF259E5}"/>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B50142C7-E22E-46B3-A9DF-ECEAC6F7DBC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C7E5D91E-4492-40EA-B8C0-0F80B4143E8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43B11C39-70CB-44D5-B22A-41A5BE5BE7D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C0F9EAD5-EA00-4C77-A3AE-A51C46C9149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018</a:t>
            </a:r>
          </a:p>
        </p:txBody>
      </p:sp>
    </p:spTree>
    <p:extLst>
      <p:ext uri="{BB962C8B-B14F-4D97-AF65-F5344CB8AC3E}">
        <ns4:creationId val="814750084"/>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4D7AD26A-A98F-4586-A739-1251B4D273B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F4DA7B79-1D30-44BB-9C7E-8E21E7F98EE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먼저 할 일 · 정의와 입력</a:t>
            </a:r>
          </a:p>
        </p:txBody>
      </p:sp>
      <p:sp>
        <p:nvSpPr>
          <p:cNvPr id="3" name="">
            <a:extLst>
              <a:ext uri="{FF2B5EF4-FFF2-40B4-BE49-F238E27FC236}">
                <ns2:creationId id="{A26CB4BD-02BD-4735-BE9E-E448F5AF69DE}"/>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A02 출력 순서를 먼저 예상합니다.</a:t>
            </a:r>
          </a:p>
        </p:txBody>
      </p:sp>
      <p:sp>
        <p:nvSpPr>
          <p:cNvPr id="4" name="">
            <a:extLst>
              <a:ext uri="{FF2B5EF4-FFF2-40B4-BE49-F238E27FC236}">
                <ns2:creationId id="{ABCB6EB8-49B0-46C8-B6C1-249053FA1D98}"/>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A03 두 호출의 입력과 출력을 연결합니다.</a:t>
            </a:r>
          </a:p>
        </p:txBody>
      </p:sp>
      <p:sp>
        <p:nvSpPr>
          <p:cNvPr id="5" name="">
            <a:extLst>
              <a:ext uri="{FF2B5EF4-FFF2-40B4-BE49-F238E27FC236}">
                <ns2:creationId id="{AAC72EF4-91C9-4836-8D48-AA84FC631D96}"/>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1D78AA0B-14C0-423E-8215-488CAE45F6B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AA0E3779-692C-4D53-A8B7-923ED8C3B93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C7CE1762-458C-4388-BF70-EEA60870F84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693C04B3-C779-4BFF-827A-5BD72630633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019</a:t>
            </a:r>
          </a:p>
        </p:txBody>
      </p:sp>
    </p:spTree>
    <p:extLst>
      <p:ext uri="{BB962C8B-B14F-4D97-AF65-F5344CB8AC3E}">
        <ns4:creationId val="732517393"/>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F4006ED1-FB0E-4305-8FD4-B1F32254D10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C15EF89A-00F8-4EB4-8B84-4209B0BFD06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1교시 확인</a:t>
            </a:r>
          </a:p>
        </p:txBody>
      </p:sp>
      <p:sp>
        <p:nvSpPr>
          <p:cNvPr id="3" name="">
            <a:extLst>
              <a:ext uri="{FF2B5EF4-FFF2-40B4-BE49-F238E27FC236}">
                <ns2:creationId id="{23EE4770-1AD4-405A-BAE5-BDB034A3373B}"/>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정의만으로 본문은 실행되지 않습니다.</a:t>
            </a:r>
          </a:p>
        </p:txBody>
      </p:sp>
      <p:sp>
        <p:nvSpPr>
          <p:cNvPr id="4" name="">
            <a:extLst>
              <a:ext uri="{FF2B5EF4-FFF2-40B4-BE49-F238E27FC236}">
                <ns2:creationId id="{3DC6C351-5EA4-4269-A620-185A96F463BF}"/>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입력 자리와 실제 전달값을 구별합니다.</a:t>
            </a:r>
          </a:p>
        </p:txBody>
      </p:sp>
      <p:sp>
        <p:nvSpPr>
          <p:cNvPr id="5" name="">
            <a:extLst>
              <a:ext uri="{FF2B5EF4-FFF2-40B4-BE49-F238E27FC236}">
                <ns2:creationId id="{F3FF6D12-93F4-4C96-B3EE-43B7FE0AE568}"/>
              </a:ext>
            </a:extLst>
          </p:cNvPr>
          <p:cNvSpPr>
            <a:spLocks noGrp="1"/>
          </p:cNvSpPr>
          <p:nvPr/>
        </p:nvSpPr>
        <p:spPr>
          <a:xfrm>
            <a:off x="685800" y="360616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함수가 어떤 값을 받는지 문장으로 적습니다.</a:t>
            </a:r>
          </a:p>
        </p:txBody>
      </p:sp>
      <p:sp>
        <p:nvSpPr>
          <p:cNvPr id="6" name="">
            <a:extLst>
              <a:ext uri="{FF2B5EF4-FFF2-40B4-BE49-F238E27FC236}">
                <ns2:creationId id="{95DBC71E-9172-4DA1-96B3-AA2F15F69560}"/>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받는 자리와 실제 값</a:t>
            </a:r>
          </a:p>
        </p:txBody>
      </p:sp>
      <p:graphicFrame>
        <p:nvGraphicFramePr>
          <p:cNvPr id="19" name=""/>
          <p:cNvGraphicFramePr/>
          <p:nvPr/>
        </p:nvGraphicFramePr>
        <p:xfrm>
          <a:off x="6267450" y="2628900"/>
          <a:ext cx="5238750" cy="1543050"/>
        </p:xfrm>
        <a:graphic>
          <a:graphicData uri="http://schemas.openxmlformats.org/drawingml/2006/table">
            <a:tbl>
              <a:tblPr firstRow="1" bandRow="0"/>
              <a:tblGrid>
                <a:gridCol w="1843919"/>
                <a:gridCol w="1985370"/>
                <a:gridCol w="1409461"/>
              </a:tblGrid>
              <a:tr h="514350">
                <a:tc>
                  <a:txBody>
                    <a:bodyPr wrap="square"/>
                    <a:lstStyle/>
                    <a:p>
                      <a:pPr>
                        <a:lnSpc>
                          <a:spcPct val="102000"/>
                        </a:lnSpc>
                        <a:buNone/>
                      </a:pPr>
                      <a:r>
                        <a:rPr sz="1875" b="1">
                          <a:solidFill>
                            <a:srgbClr val="172F39"/>
                          </a:solidFill>
                          <a:latin typeface="Noto Sans KR"/>
                          <a:ea typeface="Noto Sans KR"/>
                          <a:cs typeface="Noto Sans KR"/>
                        </a:rPr>
                        <a:t>호출</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sensor_id</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value</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첫 호출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S01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22.5</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둘째 호출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S02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25.0</a:t>
                      </a:r>
                    </a:p>
                  </a:txBody>
                  <a:tcPr marL="114300" marR="114300" marT="76200" marB="76200" anchor="ctr">
                    <a:solidFill>
                      <a:srgbClr val="FFFFFF"/>
                    </a:solidFill>
                  </a:tcPr>
                </a:tc>
              </a:tr>
            </a:tbl>
          </a:graphicData>
        </a:graphic>
      </p:graphicFrame>
      <p:sp>
        <p:nvSpPr>
          <p:cNvPr id="8" name="">
            <a:extLst>
              <a:ext uri="{FF2B5EF4-FFF2-40B4-BE49-F238E27FC236}">
                <ns2:creationId id="{E8F36781-E0C2-40AE-B701-47955818197F}"/>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76CEDB32-0F8E-4A78-B430-D00DBD829CD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44FA0365-5FF3-4ACE-9280-AFACC792078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156853EA-A0A3-4F72-88F3-13C8CC4838D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15E76724-6313-4242-BB04-79B4220D41D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020</a:t>
            </a:r>
          </a:p>
        </p:txBody>
      </p:sp>
    </p:spTree>
    <p:extLst>
      <p:ext uri="{BB962C8B-B14F-4D97-AF65-F5344CB8AC3E}">
        <ns4:creationId val="62900017"/>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980BD1BD-E5DA-48AD-9045-8FF6E1ADEB8B}"/>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2교시</a:t>
            </a:r>
          </a:p>
        </p:txBody>
      </p:sp>
      <p:sp>
        <p:nvSpPr>
          <p:cNvPr id="2" name="">
            <a:extLst>
              <a:ext uri="{FF2B5EF4-FFF2-40B4-BE49-F238E27FC236}">
                <ns2:creationId id="{9B6AC49B-72A9-430B-9483-A6DC0DA0AA0F}"/>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함수 입력과 반환</a:t>
            </a:r>
          </a:p>
        </p:txBody>
      </p:sp>
      <p:sp>
        <p:nvSpPr>
          <p:cNvPr id="3" name="">
            <a:extLst>
              <a:ext uri="{FF2B5EF4-FFF2-40B4-BE49-F238E27FC236}">
                <ns2:creationId id="{9E3882B3-56E2-4E17-8646-963D227FAE49}"/>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11:00~11:50 · 50분</a:t>
            </a:r>
          </a:p>
        </p:txBody>
      </p:sp>
      <p:sp>
        <p:nvSpPr>
          <p:cNvPr id="4" name="">
            <a:extLst>
              <a:ext uri="{FF2B5EF4-FFF2-40B4-BE49-F238E27FC236}">
                <ns2:creationId id="{B1C8EAA9-79A6-4470-8C14-A2FD648D4C00}"/>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먼저 할 활동: A04, A05, A06</a:t>
            </a:r>
          </a:p>
        </p:txBody>
      </p:sp>
      <p:sp>
        <p:nvSpPr>
          <p:cNvPr id="5" name="">
            <a:extLst>
              <a:ext uri="{FF2B5EF4-FFF2-40B4-BE49-F238E27FC236}">
                <ns2:creationId id="{897F9BF1-E792-443B-A593-E30834F8E252}"/>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필수 활동을 마쳤으면 추가 문제를 풀어 보세요.</a:t>
            </a:r>
          </a:p>
        </p:txBody>
      </p:sp>
      <p:sp>
        <p:nvSpPr>
          <p:cNvPr id="6" name="">
            <a:extLst>
              <a:ext uri="{FF2B5EF4-FFF2-40B4-BE49-F238E27FC236}">
                <ns2:creationId id="{942D5B9D-D22D-4233-9FC8-82B3B620E664}"/>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1B90F911-F4DB-4EA7-B151-F8023A6E64B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DE2AA637-F711-4681-A4CB-243FC7F4B31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D344316E-527F-4821-9380-990383AB1A6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B3580A12-533A-4BCB-82AA-BC972B66FBC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021</a:t>
            </a:r>
          </a:p>
        </p:txBody>
      </p:sp>
    </p:spTree>
    <p:extLst>
      <p:ext uri="{BB962C8B-B14F-4D97-AF65-F5344CB8AC3E}">
        <ns4:creationId val="514844525"/>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9" name="">
            <a:extLst>
              <a:ext uri="{FF2B5EF4-FFF2-40B4-BE49-F238E27FC236}">
                <ns2:creationId id="{55A94A1F-3CEE-4FF0-AE18-E382EBEC1B4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1464A3AD-2D47-4F51-BFE2-A50D6860DD1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완성 예 · 값을 돌려주기</a:t>
            </a:r>
          </a:p>
        </p:txBody>
      </p:sp>
      <p:sp>
        <p:nvSpPr>
          <p:cNvPr id="3" name="">
            <a:extLst>
              <a:ext uri="{FF2B5EF4-FFF2-40B4-BE49-F238E27FC236}">
                <ns2:creationId id="{6FC5F939-03D7-471F-9A77-3984F6CF0333}"/>
              </a:ext>
            </a:extLst>
          </p:cNvPr>
          <p:cNvSpPr>
            <a:spLocks noGrp="1"/>
          </p:cNvSpPr>
          <p:nvPr/>
        </p:nvSpPr>
        <p:spPr>
          <a:xfrm>
            <a:off x="685800" y="1809750"/>
            <a:ext cx="10820400" cy="1908810"/>
          </a:xfrm>
          <a:prstGeom prst="rect">
            <a:avLst/>
          </a:prstGeom>
          <a:solidFill>
            <a:srgbClr val="F1F6F5"/>
          </a:solidFill>
          <a:ln w="0">
            <a:noFill/>
          </a:ln>
        </p:spPr>
      </p:sp>
      <p:sp>
        <p:nvSpPr>
          <p:cNvPr id="4" name="">
            <a:extLst>
              <a:ext uri="{FF2B5EF4-FFF2-40B4-BE49-F238E27FC236}">
                <ns2:creationId id="{162F4257-D6B7-4EEB-A469-68451844539C}"/>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0C4CAFD4-177D-4E09-958C-31DE5564D51E}"/>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def add_offset(value, offset):</a:t>
            </a:r>
          </a:p>
        </p:txBody>
      </p:sp>
      <p:sp>
        <p:nvSpPr>
          <p:cNvPr id="6" name="">
            <a:extLst>
              <a:ext uri="{FF2B5EF4-FFF2-40B4-BE49-F238E27FC236}">
                <ns2:creationId id="{6FBD1417-1EA2-4E99-AF84-5679B0E171AB}"/>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87C07FB0-F62F-4C99-9790-A0C6409E46A5}"/>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return value + offset</a:t>
            </a:r>
          </a:p>
        </p:txBody>
      </p:sp>
      <p:sp>
        <p:nvSpPr>
          <p:cNvPr id="8" name="">
            <a:extLst>
              <a:ext uri="{FF2B5EF4-FFF2-40B4-BE49-F238E27FC236}">
                <ns2:creationId id="{320A271E-86DE-4BA8-B3F8-7510F2BC3BCB}"/>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DE15C600-8733-4ECA-989E-59FF087F4F52}"/>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result = add_offset(22.5, 1.0)</a:t>
            </a:r>
          </a:p>
        </p:txBody>
      </p:sp>
      <p:sp>
        <p:nvSpPr>
          <p:cNvPr id="10" name="">
            <a:extLst>
              <a:ext uri="{FF2B5EF4-FFF2-40B4-BE49-F238E27FC236}">
                <ns2:creationId id="{581130C4-9243-43FF-9B77-8EFD79237D85}"/>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79EF58A6-3144-4B57-B93A-44C478C24E82}"/>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print(result)</a:t>
            </a:r>
          </a:p>
        </p:txBody>
      </p:sp>
      <p:sp>
        <p:nvSpPr>
          <p:cNvPr id="12" name="">
            <a:extLst>
              <a:ext uri="{FF2B5EF4-FFF2-40B4-BE49-F238E27FC236}">
                <ns2:creationId id="{AF20FBD2-09CA-4C96-9B64-169944FDC8E1}"/>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77B87B32-71EA-413C-B033-F9B8A1229B05}"/>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print(result + 1)</a:t>
            </a:r>
          </a:p>
        </p:txBody>
      </p:sp>
      <p:sp>
        <p:nvSpPr>
          <p:cNvPr id="14" name="">
            <a:extLst>
              <a:ext uri="{FF2B5EF4-FFF2-40B4-BE49-F238E27FC236}">
                <ns2:creationId id="{0CEE06AD-911A-46EF-88EC-91D6D246C721}"/>
              </a:ext>
            </a:extLst>
          </p:cNvPr>
          <p:cNvSpPr>
            <a:spLocks noGrp="1"/>
          </p:cNvSpPr>
          <p:nvPr/>
        </p:nvSpPr>
        <p:spPr>
          <a:xfrm>
            <a:off x="685800" y="6172200"/>
            <a:ext cx="10820400" cy="9525"/>
          </a:xfrm>
          <a:prstGeom prst="rect">
            <a:avLst/>
          </a:prstGeom>
          <a:solidFill>
            <a:srgbClr val="D5DEDD"/>
          </a:solidFill>
          <a:ln w="0">
            <a:noFill/>
          </a:ln>
        </p:spPr>
      </p:sp>
      <p:sp>
        <p:nvSpPr>
          <p:cNvPr id="15" name="">
            <a:extLst>
              <a:ext uri="{FF2B5EF4-FFF2-40B4-BE49-F238E27FC236}">
                <ns2:creationId id="{4EA7ADF9-3F7C-4B73-9FE5-45CC97A2EB5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6" name="">
            <a:extLst>
              <a:ext uri="{FF2B5EF4-FFF2-40B4-BE49-F238E27FC236}">
                <ns2:creationId id="{8FF64EE3-EB5D-4F27-98BB-F2F322B0CB8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7" name="">
            <a:extLst>
              <a:ext uri="{FF2B5EF4-FFF2-40B4-BE49-F238E27FC236}">
                <ns2:creationId id="{748350BD-7425-4251-8B32-2015BC2CB3E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8" name="">
            <a:extLst>
              <a:ext uri="{FF2B5EF4-FFF2-40B4-BE49-F238E27FC236}">
                <ns2:creationId id="{A391FC54-49E3-48E9-ABE8-9F3EC4B88A2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022</a:t>
            </a:r>
          </a:p>
        </p:txBody>
      </p:sp>
    </p:spTree>
    <p:extLst>
      <p:ext uri="{BB962C8B-B14F-4D97-AF65-F5344CB8AC3E}">
        <ns4:creationId val="1080680890"/>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116DA8B2-C908-464E-A0E3-BE695ADC1DC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0253018E-E644-4774-A7FC-FD92A64C27B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return과 print의 차이</a:t>
            </a:r>
          </a:p>
        </p:txBody>
      </p:sp>
      <p:sp>
        <p:nvSpPr>
          <p:cNvPr id="3" name="">
            <a:extLst>
              <a:ext uri="{FF2B5EF4-FFF2-40B4-BE49-F238E27FC236}">
                <ns2:creationId id="{E6880ACB-EA87-497E-B157-8FD7D767F2FD}"/>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return</a:t>
            </a:r>
          </a:p>
        </p:txBody>
      </p:sp>
      <p:sp>
        <p:nvSpPr>
          <p:cNvPr id="4" name="">
            <a:extLst>
              <a:ext uri="{FF2B5EF4-FFF2-40B4-BE49-F238E27FC236}">
                <ns2:creationId id="{54464DA9-640D-4300-8E33-49FDEDFD084E}"/>
              </a:ext>
            </a:extLst>
          </p:cNvPr>
          <p:cNvSpPr>
            <a:spLocks noGrp="1"/>
          </p:cNvSpPr>
          <p:nvPr/>
        </p:nvSpPr>
        <p:spPr>
          <a:xfrm>
            <a:off x="685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return은 호출한 곳으로 값을 보냅니다.</a:t>
            </a:r>
          </a:p>
        </p:txBody>
      </p:sp>
      <p:sp>
        <p:nvSpPr>
          <p:cNvPr id="5" name="">
            <a:extLst>
              <a:ext uri="{FF2B5EF4-FFF2-40B4-BE49-F238E27FC236}">
                <ns2:creationId id="{DA159E6E-3BF1-40CB-9267-ABF5093CE200}"/>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print</a:t>
            </a:r>
          </a:p>
        </p:txBody>
      </p:sp>
      <p:sp>
        <p:nvSpPr>
          <p:cNvPr id="6" name="">
            <a:extLst>
              <a:ext uri="{FF2B5EF4-FFF2-40B4-BE49-F238E27FC236}">
                <ns2:creationId id="{662FC92B-7983-4C2F-B282-E9AFF711C7FD}"/>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print는 사람에게 화면을 보여 줍니다.</a:t>
            </a:r>
          </a:p>
        </p:txBody>
      </p:sp>
      <p:sp>
        <p:nvSpPr>
          <p:cNvPr id="7" name="">
            <a:extLst>
              <a:ext uri="{FF2B5EF4-FFF2-40B4-BE49-F238E27FC236}">
                <ns2:creationId id="{F64A97A4-4829-4694-B26C-914C0DD56C9A}"/>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FED749E5-4026-4B7C-8E20-6E1494CB1C65}"/>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화면에 출력한 값이 변수에 자동으로 저장되지는 않습니다.</a:t>
            </a:r>
          </a:p>
        </p:txBody>
      </p:sp>
      <p:sp>
        <p:nvSpPr>
          <p:cNvPr id="9" name="">
            <a:extLst>
              <a:ext uri="{FF2B5EF4-FFF2-40B4-BE49-F238E27FC236}">
                <ns2:creationId id="{DFDD3F86-57B0-4DF9-AF1F-1AF3DC7E5149}"/>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6773F493-0FAE-4F1A-AA8C-BF7BA30C4F6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10B64687-372B-4A86-A1CB-ED03D0D7197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8DA63C29-25AA-4B71-A2DC-2309AA3C94B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578FDFC2-E6BC-4E44-BDFA-399A3C74ADE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023</a:t>
            </a:r>
          </a:p>
        </p:txBody>
      </p:sp>
    </p:spTree>
    <p:extLst>
      <p:ext uri="{BB962C8B-B14F-4D97-AF65-F5344CB8AC3E}">
        <ns4:creationId val="278950812"/>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47F49467-50BA-4773-90A7-A1FF6A23FC5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BBE74DAD-2029-46B2-863C-25C87FC0843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반환 뒤 계산하기</a:t>
            </a:r>
          </a:p>
        </p:txBody>
      </p:sp>
      <p:graphicFrame>
        <p:nvGraphicFramePr>
          <p:cNvPr id="11" name=""/>
          <p:cNvGraphicFramePr/>
          <p:nvPr/>
        </p:nvGraphicFramePr>
        <p:xfrm>
          <a:off x="685800" y="1809750"/>
          <a:ext cx="10820400" cy="2145792"/>
        </p:xfrm>
        <a:graphic>
          <a:graphicData uri="http://schemas.openxmlformats.org/drawingml/2006/table">
            <a:tbl>
              <a:tblPr firstRow="1" bandRow="0"/>
              <a:tblGrid>
                <a:gridCol w="5735009"/>
                <a:gridCol w="5085391"/>
              </a:tblGrid>
              <a:tr h="536448">
                <a:tc>
                  <a:txBody>
                    <a:bodyPr wrap="square"/>
                    <a:lstStyle/>
                    <a:p>
                      <a:pPr>
                        <a:lnSpc>
                          <a:spcPct val="102000"/>
                        </a:lnSpc>
                        <a:buNone/>
                      </a:pPr>
                      <a:r>
                        <a:rPr sz="2025" b="1">
                          <a:solidFill>
                            <a:srgbClr val="172F39"/>
                          </a:solidFill>
                          <a:latin typeface="Noto Sans KR"/>
                          <a:ea typeface="Noto Sans KR"/>
                          <a:cs typeface="Noto Sans KR"/>
                        </a:rPr>
                        <a:t>단계</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값</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함수 입력</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22.5와 1.0</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반환</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23.5</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다음 계산 +1</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24.5</a:t>
                      </a:r>
                    </a:p>
                  </a:txBody>
                  <a:tcPr marL="114300" marR="114300" marT="76200" marB="76200" anchor="ctr">
                    <a:solidFill>
                      <a:srgbClr val="FFFFFF"/>
                    </a:solidFill>
                  </a:tcPr>
                </a:tc>
              </a:tr>
            </a:tbl>
          </a:graphicData>
        </a:graphic>
      </p:graphicFrame>
      <p:sp>
        <p:nvSpPr>
          <p:cNvPr id="4" name="">
            <a:extLst>
              <a:ext uri="{FF2B5EF4-FFF2-40B4-BE49-F238E27FC236}">
                <ns2:creationId id="{428062C6-C611-4FE9-B510-EE2CA6BE4E21}"/>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87139D86-9BC0-47F6-BCCD-FCA8AA9E786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FEC7970E-705C-4B94-878C-A0D9FFC21E1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FD2FDF62-E251-4AF2-A25E-17F2C4A7AC7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ACF1520F-3030-4429-AC6B-50529D90FA0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024</a:t>
            </a:r>
          </a:p>
        </p:txBody>
      </p:sp>
    </p:spTree>
    <p:extLst>
      <p:ext uri="{BB962C8B-B14F-4D97-AF65-F5344CB8AC3E}">
        <ns4:creationId val="1000018134"/>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817396A8-167A-4AA9-B0BF-5BEAFE8B172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583144D3-6BC7-4F10-9145-F74417314D6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수정 뒤 결과를 따라갑니다</a:t>
            </a:r>
          </a:p>
        </p:txBody>
      </p:sp>
      <p:sp>
        <p:nvSpPr>
          <p:cNvPr id="3" name="">
            <a:extLst>
              <a:ext uri="{FF2B5EF4-FFF2-40B4-BE49-F238E27FC236}">
                <ns2:creationId id="{1A0FF7E2-AEBD-4B4A-AAA4-6A950ABFBE64}"/>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offset을 2.0으로 바꾸면 24.5를 반환합니다.</a:t>
            </a:r>
          </a:p>
        </p:txBody>
      </p:sp>
      <p:sp>
        <p:nvSpPr>
          <p:cNvPr id="4" name="">
            <a:extLst>
              <a:ext uri="{FF2B5EF4-FFF2-40B4-BE49-F238E27FC236}">
                <ns2:creationId id="{7234825F-9CAB-4384-8B97-013746A91CDB}"/>
              </a:ext>
            </a:extLst>
          </p:cNvPr>
          <p:cNvSpPr>
            <a:spLocks noGrp="1"/>
          </p:cNvSpPr>
          <p:nvPr/>
        </p:nvSpPr>
        <p:spPr>
          <a:xfrm>
            <a:off x="685800" y="276987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그 다음 +1은 25.5가 됩니다.</a:t>
            </a:r>
          </a:p>
        </p:txBody>
      </p:sp>
      <p:sp>
        <p:nvSpPr>
          <p:cNvPr id="5" name="">
            <a:extLst>
              <a:ext uri="{FF2B5EF4-FFF2-40B4-BE49-F238E27FC236}">
                <ns2:creationId id="{0111DE66-F929-4D9B-AF9A-DEDB4F5E1DDD}"/>
              </a:ext>
            </a:extLst>
          </p:cNvPr>
          <p:cNvSpPr>
            <a:spLocks noGrp="1"/>
          </p:cNvSpPr>
          <p:nvPr/>
        </p:nvSpPr>
        <p:spPr>
          <a:xfrm>
            <a:off x="685800" y="326898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반환과 뒤 계산의 결과를 따로 적습니다.</a:t>
            </a:r>
          </a:p>
        </p:txBody>
      </p:sp>
      <p:sp>
        <p:nvSpPr>
          <p:cNvPr id="6" name="">
            <a:extLst>
              <a:ext uri="{FF2B5EF4-FFF2-40B4-BE49-F238E27FC236}">
                <ns2:creationId id="{473B0E8D-1B34-43F7-AE6B-E41602A7D3A8}"/>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수정 전 · 반환 뒤 계산하기</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776633"/>
                <a:gridCol w="2462117"/>
              </a:tblGrid>
              <a:tr h="514350">
                <a:tc>
                  <a:txBody>
                    <a:bodyPr wrap="square"/>
                    <a:lstStyle/>
                    <a:p>
                      <a:pPr>
                        <a:lnSpc>
                          <a:spcPct val="102000"/>
                        </a:lnSpc>
                        <a:buNone/>
                      </a:pPr>
                      <a:r>
                        <a:rPr sz="1875" b="1">
                          <a:solidFill>
                            <a:srgbClr val="172F39"/>
                          </a:solidFill>
                          <a:latin typeface="Noto Sans KR"/>
                          <a:ea typeface="Noto Sans KR"/>
                          <a:cs typeface="Noto Sans KR"/>
                        </a:rPr>
                        <a:t>단계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값</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함수 입력</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22.5와 1.0</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반환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23.5</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다음 계산 +1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24.5</a:t>
                      </a:r>
                    </a:p>
                  </a:txBody>
                  <a:tcPr marL="114300" marR="114300" marT="76200" marB="76200" anchor="ctr">
                    <a:solidFill>
                      <a:srgbClr val="FFFFFF"/>
                    </a:solidFill>
                  </a:tcPr>
                </a:tc>
              </a:tr>
            </a:tbl>
          </a:graphicData>
        </a:graphic>
      </p:graphicFrame>
      <p:sp>
        <p:nvSpPr>
          <p:cNvPr id="8" name="">
            <a:extLst>
              <a:ext uri="{FF2B5EF4-FFF2-40B4-BE49-F238E27FC236}">
                <ns2:creationId id="{BBFE49EA-57A6-4C74-A4C2-3F342FBD6074}"/>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717F8ACF-7C5F-4828-AA45-464A4FE36C1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26A2D825-51B4-4E19-B8D1-AD323C52916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DD39B667-610C-47EB-83F4-36D2CF9AE9B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E809FC1C-E5AA-419A-B54E-4DF5783265F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025</a:t>
            </a:r>
          </a:p>
        </p:txBody>
      </p:sp>
    </p:spTree>
    <p:extLst>
      <p:ext uri="{BB962C8B-B14F-4D97-AF65-F5344CB8AC3E}">
        <ns4:creationId val="945041958"/>
      </p:ext>
    </p:extLst>
  </p:cSld>
</p:sld>
</file>

<file path=ppt/slides/slide2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7" name="">
            <a:extLst>
              <a:ext uri="{FF2B5EF4-FFF2-40B4-BE49-F238E27FC236}">
                <ns2:creationId id="{853CAB7E-A290-4925-B235-C87AA47BEEB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12BF8FD9-9A5F-4F42-B269-D4CFFE8312F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완성 예 · 상태를 반환하기</a:t>
            </a:r>
          </a:p>
        </p:txBody>
      </p:sp>
      <p:sp>
        <p:nvSpPr>
          <p:cNvPr id="3" name="">
            <a:extLst>
              <a:ext uri="{FF2B5EF4-FFF2-40B4-BE49-F238E27FC236}">
                <ns2:creationId id="{7BF8AE86-1933-49FE-A412-0E06DCEE91E0}"/>
              </a:ext>
            </a:extLst>
          </p:cNvPr>
          <p:cNvSpPr>
            <a:spLocks noGrp="1"/>
          </p:cNvSpPr>
          <p:nvPr/>
        </p:nvSpPr>
        <p:spPr>
          <a:xfrm>
            <a:off x="685800" y="1809750"/>
            <a:ext cx="10820400" cy="3176778"/>
          </a:xfrm>
          <a:prstGeom prst="rect">
            <a:avLst/>
          </a:prstGeom>
          <a:solidFill>
            <a:srgbClr val="F1F6F5"/>
          </a:solidFill>
          <a:ln w="0">
            <a:noFill/>
          </a:ln>
        </p:spPr>
      </p:sp>
      <p:sp>
        <p:nvSpPr>
          <p:cNvPr id="4" name="">
            <a:extLst>
              <a:ext uri="{FF2B5EF4-FFF2-40B4-BE49-F238E27FC236}">
                <ns2:creationId id="{6C6D91C9-110F-4812-84FD-7AA42B68853F}"/>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9334D86E-A31C-483F-8BED-4DAA75CDFEF9}"/>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def temperature_status(value):</a:t>
            </a:r>
          </a:p>
        </p:txBody>
      </p:sp>
      <p:sp>
        <p:nvSpPr>
          <p:cNvPr id="6" name="">
            <a:extLst>
              <a:ext uri="{FF2B5EF4-FFF2-40B4-BE49-F238E27FC236}">
                <ns2:creationId id="{F876BDAA-7324-43B6-A8EB-9F1C0CAE8DDD}"/>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824C7EB3-1B06-4D62-8ABD-EA35029995B3}"/>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if value is None:</a:t>
            </a:r>
          </a:p>
        </p:txBody>
      </p:sp>
      <p:sp>
        <p:nvSpPr>
          <p:cNvPr id="8" name="">
            <a:extLst>
              <a:ext uri="{FF2B5EF4-FFF2-40B4-BE49-F238E27FC236}">
                <ns2:creationId id="{D13593FA-3BA3-4C59-B94C-AD672F0BA09B}"/>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BDDF4A10-92B1-46FC-9698-E4F515B08E6A}"/>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return "미측정"</a:t>
            </a:r>
          </a:p>
        </p:txBody>
      </p:sp>
      <p:sp>
        <p:nvSpPr>
          <p:cNvPr id="10" name="">
            <a:extLst>
              <a:ext uri="{FF2B5EF4-FFF2-40B4-BE49-F238E27FC236}">
                <ns2:creationId id="{F3E2D4CE-ADD7-4BAB-9854-21DE29488899}"/>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63C62D66-3C1D-443A-B4A1-6754EE813C5E}"/>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if value &gt; 24.0:</a:t>
            </a:r>
          </a:p>
        </p:txBody>
      </p:sp>
      <p:sp>
        <p:nvSpPr>
          <p:cNvPr id="12" name="">
            <a:extLst>
              <a:ext uri="{FF2B5EF4-FFF2-40B4-BE49-F238E27FC236}">
                <ns2:creationId id="{1F5446C9-ABA9-4BEA-812B-108CF02D6AF2}"/>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6E98756B-A025-4DA0-B74B-CEECF1DEFC46}"/>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return "확인"</a:t>
            </a:r>
          </a:p>
        </p:txBody>
      </p:sp>
      <p:sp>
        <p:nvSpPr>
          <p:cNvPr id="14" name="">
            <a:extLst>
              <a:ext uri="{FF2B5EF4-FFF2-40B4-BE49-F238E27FC236}">
                <ns2:creationId id="{1E624315-CFB8-4831-8B6A-380498BB099D}"/>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86DE69F2-FC3A-403C-A85A-B81FFE5BF57E}"/>
              </a:ext>
            </a:extLst>
          </p:cNvPr>
          <p:cNvSpPr>
            <a:spLocks noGrp="1"/>
          </p:cNvSpPr>
          <p:nvPr/>
        </p:nvSpPr>
        <p:spPr>
          <a:xfrm>
            <a:off x="1276350" y="351853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return "정상"</a:t>
            </a:r>
          </a:p>
        </p:txBody>
      </p:sp>
      <p:sp>
        <p:nvSpPr>
          <p:cNvPr id="16" name="">
            <a:extLst>
              <a:ext uri="{FF2B5EF4-FFF2-40B4-BE49-F238E27FC236}">
                <ns2:creationId id="{B9658A54-4FB2-4AFE-8223-85C782824FF4}"/>
              </a:ext>
            </a:extLst>
          </p:cNvPr>
          <p:cNvSpPr>
            <a:spLocks noGrp="1"/>
          </p:cNvSpPr>
          <p:nvPr/>
        </p:nvSpPr>
        <p:spPr>
          <a:xfrm>
            <a:off x="828675" y="387362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07</a:t>
            </a:r>
          </a:p>
        </p:txBody>
      </p:sp>
      <p:sp>
        <p:nvSpPr>
          <p:cNvPr id="17" name="">
            <a:extLst>
              <a:ext uri="{FF2B5EF4-FFF2-40B4-BE49-F238E27FC236}">
                <ns2:creationId id="{6CEA558F-7E2F-431E-ADCE-11101DD7895A}"/>
              </a:ext>
            </a:extLst>
          </p:cNvPr>
          <p:cNvSpPr>
            <a:spLocks noGrp="1"/>
          </p:cNvSpPr>
          <p:nvPr/>
        </p:nvSpPr>
        <p:spPr>
          <a:xfrm>
            <a:off x="1276350" y="383552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print(temperature_status(22.5))</a:t>
            </a:r>
          </a:p>
        </p:txBody>
      </p:sp>
      <p:sp>
        <p:nvSpPr>
          <p:cNvPr id="18" name="">
            <a:extLst>
              <a:ext uri="{FF2B5EF4-FFF2-40B4-BE49-F238E27FC236}">
                <ns2:creationId id="{54890609-DE40-45C5-8C2E-6F0F646AA607}"/>
              </a:ext>
            </a:extLst>
          </p:cNvPr>
          <p:cNvSpPr>
            <a:spLocks noGrp="1"/>
          </p:cNvSpPr>
          <p:nvPr/>
        </p:nvSpPr>
        <p:spPr>
          <a:xfrm>
            <a:off x="828675" y="419061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08</a:t>
            </a:r>
          </a:p>
        </p:txBody>
      </p:sp>
      <p:sp>
        <p:nvSpPr>
          <p:cNvPr id="19" name="">
            <a:extLst>
              <a:ext uri="{FF2B5EF4-FFF2-40B4-BE49-F238E27FC236}">
                <ns2:creationId id="{4655ED7C-EC60-4F9A-A009-47A1AA75C251}"/>
              </a:ext>
            </a:extLst>
          </p:cNvPr>
          <p:cNvSpPr>
            <a:spLocks noGrp="1"/>
          </p:cNvSpPr>
          <p:nvPr/>
        </p:nvSpPr>
        <p:spPr>
          <a:xfrm>
            <a:off x="1276350" y="415251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print(temperature_status(None))</a:t>
            </a:r>
          </a:p>
        </p:txBody>
      </p:sp>
      <p:sp>
        <p:nvSpPr>
          <p:cNvPr id="20" name="">
            <a:extLst>
              <a:ext uri="{FF2B5EF4-FFF2-40B4-BE49-F238E27FC236}">
                <ns2:creationId id="{934A3AAE-AE92-4A14-826A-5C0B2C23D866}"/>
              </a:ext>
            </a:extLst>
          </p:cNvPr>
          <p:cNvSpPr>
            <a:spLocks noGrp="1"/>
          </p:cNvSpPr>
          <p:nvPr/>
        </p:nvSpPr>
        <p:spPr>
          <a:xfrm>
            <a:off x="828675" y="450761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09</a:t>
            </a:r>
          </a:p>
        </p:txBody>
      </p:sp>
      <p:sp>
        <p:nvSpPr>
          <p:cNvPr id="21" name="">
            <a:extLst>
              <a:ext uri="{FF2B5EF4-FFF2-40B4-BE49-F238E27FC236}">
                <ns2:creationId id="{9BD9C0EC-4D41-411D-AB8E-E54A3BC52311}"/>
              </a:ext>
            </a:extLst>
          </p:cNvPr>
          <p:cNvSpPr>
            <a:spLocks noGrp="1"/>
          </p:cNvSpPr>
          <p:nvPr/>
        </p:nvSpPr>
        <p:spPr>
          <a:xfrm>
            <a:off x="1276350" y="446951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print(temperature_status(25.0))</a:t>
            </a:r>
          </a:p>
        </p:txBody>
      </p:sp>
      <p:sp>
        <p:nvSpPr>
          <p:cNvPr id="22" name="">
            <a:extLst>
              <a:ext uri="{FF2B5EF4-FFF2-40B4-BE49-F238E27FC236}">
                <ns2:creationId id="{CAD9CE65-9787-442B-BA2B-67AE3FF03B7B}"/>
              </a:ext>
            </a:extLst>
          </p:cNvPr>
          <p:cNvSpPr>
            <a:spLocks noGrp="1"/>
          </p:cNvSpPr>
          <p:nvPr/>
        </p:nvSpPr>
        <p:spPr>
          <a:xfrm>
            <a:off x="685800" y="6172200"/>
            <a:ext cx="10820400" cy="9525"/>
          </a:xfrm>
          <a:prstGeom prst="rect">
            <a:avLst/>
          </a:prstGeom>
          <a:solidFill>
            <a:srgbClr val="D5DEDD"/>
          </a:solidFill>
          <a:ln w="0">
            <a:noFill/>
          </a:ln>
        </p:spPr>
      </p:sp>
      <p:sp>
        <p:nvSpPr>
          <p:cNvPr id="23" name="">
            <a:extLst>
              <a:ext uri="{FF2B5EF4-FFF2-40B4-BE49-F238E27FC236}">
                <ns2:creationId id="{2536B240-869D-4E90-870D-2DEBBE5EA3D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4" name="">
            <a:extLst>
              <a:ext uri="{FF2B5EF4-FFF2-40B4-BE49-F238E27FC236}">
                <ns2:creationId id="{AD2CF3BA-D63C-4127-AB06-3A4A60D6BA5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5" name="">
            <a:extLst>
              <a:ext uri="{FF2B5EF4-FFF2-40B4-BE49-F238E27FC236}">
                <ns2:creationId id="{298C904B-662A-4055-9A8F-E1BC804D134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6" name="">
            <a:extLst>
              <a:ext uri="{FF2B5EF4-FFF2-40B4-BE49-F238E27FC236}">
                <ns2:creationId id="{D56048D8-F8D6-4428-B9EB-FAB131882D5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026</a:t>
            </a:r>
          </a:p>
        </p:txBody>
      </p:sp>
    </p:spTree>
    <p:extLst>
      <p:ext uri="{BB962C8B-B14F-4D97-AF65-F5344CB8AC3E}">
        <ns4:creationId val="628370765"/>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7F22D1E8-D16C-4EBD-8189-B77D09A6CB4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C0A89441-14E7-4598-9EC3-BACF5F65090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return을 만나면 그 호출은 끝납니다</a:t>
            </a:r>
          </a:p>
        </p:txBody>
      </p:sp>
      <p:sp>
        <p:nvSpPr>
          <p:cNvPr id="3" name="">
            <a:extLst>
              <a:ext uri="{FF2B5EF4-FFF2-40B4-BE49-F238E27FC236}">
                <ns2:creationId id="{93B1A1A5-E5D9-4D25-83CA-C0D1ADCB6C06}"/>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None이면 미측정을 반환합니다.</a:t>
            </a:r>
          </a:p>
        </p:txBody>
      </p:sp>
      <p:sp>
        <p:nvSpPr>
          <p:cNvPr id="4" name="">
            <a:extLst>
              <a:ext uri="{FF2B5EF4-FFF2-40B4-BE49-F238E27FC236}">
                <ns2:creationId id="{1BF506D5-869A-41B8-9C10-64AD25742CE1}"/>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24.0 초과이면 확인을 반환합니다.</a:t>
            </a:r>
          </a:p>
        </p:txBody>
      </p:sp>
      <p:sp>
        <p:nvSpPr>
          <p:cNvPr id="5" name="">
            <a:extLst>
              <a:ext uri="{FF2B5EF4-FFF2-40B4-BE49-F238E27FC236}">
                <ns2:creationId id="{1F5662B5-FAB5-46B8-9387-0098636582EE}"/>
              </a:ext>
            </a:extLst>
          </p:cNvPr>
          <p:cNvSpPr>
            <a:spLocks noGrp="1"/>
          </p:cNvSpPr>
          <p:nvPr/>
        </p:nvSpPr>
        <p:spPr>
          <a:xfrm>
            <a:off x="685800" y="29317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그 외 숫자는 정상을 반환합니다.</a:t>
            </a:r>
          </a:p>
        </p:txBody>
      </p:sp>
      <p:sp>
        <p:nvSpPr>
          <p:cNvPr id="6" name="">
            <a:extLst>
              <a:ext uri="{FF2B5EF4-FFF2-40B4-BE49-F238E27FC236}">
                <ns2:creationId id="{1E762889-60F9-465C-BB56-DABD4DCE41A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경계값과 None의 반환값</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2452181"/>
                <a:gridCol w="2786569"/>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반환값</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22.5</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24.0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25.0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확인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None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미측정</a:t>
                      </a:r>
                    </a:p>
                  </a:txBody>
                  <a:tcPr marL="114300" marR="114300" marT="76200" marB="76200" anchor="ctr">
                    <a:solidFill>
                      <a:srgbClr val="FFFFFF"/>
                    </a:solidFill>
                  </a:tcPr>
                </a:tc>
              </a:tr>
            </a:tbl>
          </a:graphicData>
        </a:graphic>
      </p:graphicFrame>
      <p:sp>
        <p:nvSpPr>
          <p:cNvPr id="8" name="">
            <a:extLst>
              <a:ext uri="{FF2B5EF4-FFF2-40B4-BE49-F238E27FC236}">
                <ns2:creationId id="{79F31C34-3B02-4B8C-8D41-E2D1CE1EADA7}"/>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EFF6C30B-3F8B-4099-80FA-208F0B9BA84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61516DA9-4F1F-486D-B839-C3E83D8BB49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8C265400-DCD5-4999-9656-CEA77A38773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521EC8FE-ADC6-4B2A-9F6E-8E072EF9B5D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027</a:t>
            </a:r>
          </a:p>
        </p:txBody>
      </p:sp>
    </p:spTree>
    <p:extLst>
      <p:ext uri="{BB962C8B-B14F-4D97-AF65-F5344CB8AC3E}">
        <ns4:creationId val="982835790"/>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8A9CBA9E-B146-4011-B7A2-D021B6D3BC8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09D5D2C3-22DF-4BDF-87A1-13E008A7197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경계값과 None의 반환값</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5064868"/>
                <a:gridCol w="5755532"/>
              </a:tblGrid>
              <a:tr h="536448">
                <a:tc>
                  <a:txBody>
                    <a:bodyPr wrap="square"/>
                    <a:lstStyle/>
                    <a:p>
                      <a:pPr>
                        <a:lnSpc>
                          <a:spcPct val="102000"/>
                        </a:lnSpc>
                        <a:buNone/>
                      </a:pPr>
                      <a:r>
                        <a:rPr sz="202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반환값</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22.5</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정상</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24.0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정상</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25.0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확인</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None</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미측정</a:t>
                      </a:r>
                    </a:p>
                  </a:txBody>
                  <a:tcPr marL="114300" marR="114300" marT="76200" marB="76200" anchor="ctr">
                    <a:solidFill>
                      <a:srgbClr val="FFFFFF"/>
                    </a:solidFill>
                  </a:tcPr>
                </a:tc>
              </a:tr>
            </a:tbl>
          </a:graphicData>
        </a:graphic>
      </p:graphicFrame>
      <p:sp>
        <p:nvSpPr>
          <p:cNvPr id="4" name="">
            <a:extLst>
              <a:ext uri="{FF2B5EF4-FFF2-40B4-BE49-F238E27FC236}">
                <ns2:creationId id="{D4CE7996-5010-4CF1-9937-F785982B426A}"/>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AEC8EDCA-C853-4068-8C06-59A41917EFF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8DDF5BF1-412F-4FEE-8F50-F9D276C2A71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CD49CB69-5D17-4BF6-9E69-C9F7DA2C0A1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A175A6F5-433D-4453-9D94-CD82296BE33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028</a:t>
            </a:r>
          </a:p>
        </p:txBody>
      </p:sp>
    </p:spTree>
    <p:extLst>
      <p:ext uri="{BB962C8B-B14F-4D97-AF65-F5344CB8AC3E}">
        <ns4:creationId val="715284074"/>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55BD2D9E-34CC-4B55-9F8B-ED95AC62BB7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91ADB0AE-2F16-4389-B020-4FA0737026F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실행 전에 예상 결과를 적습니다</a:t>
            </a:r>
          </a:p>
        </p:txBody>
      </p:sp>
      <p:sp>
        <p:nvSpPr>
          <p:cNvPr id="3" name="">
            <a:extLst>
              <a:ext uri="{FF2B5EF4-FFF2-40B4-BE49-F238E27FC236}">
                <ns2:creationId id="{B2A1C828-046B-4594-9BC0-2387DCBF7DAF}"/>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입력값마다 나와야 할 결과를 먼저 적습니다.</a:t>
            </a:r>
          </a:p>
        </p:txBody>
      </p:sp>
      <p:sp>
        <p:nvSpPr>
          <p:cNvPr id="4" name="">
            <a:extLst>
              <a:ext uri="{FF2B5EF4-FFF2-40B4-BE49-F238E27FC236}">
                <ns2:creationId id="{EAC9CAD9-9E9E-404E-ACBA-7D85F975EDB1}"/>
              </a:ext>
            </a:extLst>
          </p:cNvPr>
          <p:cNvSpPr>
            <a:spLocks noGrp="1"/>
          </p:cNvSpPr>
          <p:nvPr/>
        </p:nvSpPr>
        <p:spPr>
          <a:xfrm>
            <a:off x="685800" y="276987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경계 아래·같음·위를 포함합니다.</a:t>
            </a:r>
          </a:p>
        </p:txBody>
      </p:sp>
      <p:sp>
        <p:nvSpPr>
          <p:cNvPr id="5" name="">
            <a:extLst>
              <a:ext uri="{FF2B5EF4-FFF2-40B4-BE49-F238E27FC236}">
                <ns2:creationId id="{6E550C2C-7E38-4DF5-A125-2263AB7E03B1}"/>
              </a:ext>
            </a:extLst>
          </p:cNvPr>
          <p:cNvSpPr>
            <a:spLocks noGrp="1"/>
          </p:cNvSpPr>
          <p:nvPr/>
        </p:nvSpPr>
        <p:spPr>
          <a:xfrm>
            <a:off x="685800" y="326898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실제 출력과 기대를 대조합니다.</a:t>
            </a:r>
          </a:p>
        </p:txBody>
      </p:sp>
      <p:sp>
        <p:nvSpPr>
          <p:cNvPr id="6" name="">
            <a:extLst>
              <a:ext uri="{FF2B5EF4-FFF2-40B4-BE49-F238E27FC236}">
                <ns2:creationId id="{E27DFE8D-D921-45BC-8ECD-45DC73B37011}"/>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경계값과 None의 반환값</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2452181"/>
                <a:gridCol w="2786569"/>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반환값</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22.5</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24.0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정상</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25.0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확인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None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미측정</a:t>
                      </a:r>
                    </a:p>
                  </a:txBody>
                  <a:tcPr marL="114300" marR="114300" marT="76200" marB="76200" anchor="ctr">
                    <a:solidFill>
                      <a:srgbClr val="FFFFFF"/>
                    </a:solidFill>
                  </a:tcPr>
                </a:tc>
              </a:tr>
            </a:tbl>
          </a:graphicData>
        </a:graphic>
      </p:graphicFrame>
      <p:sp>
        <p:nvSpPr>
          <p:cNvPr id="8" name="">
            <a:extLst>
              <a:ext uri="{FF2B5EF4-FFF2-40B4-BE49-F238E27FC236}">
                <ns2:creationId id="{7E1717F2-A55D-4B8A-8DEF-BF690B9A3FFC}"/>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F87C4820-2E0E-48F3-8079-41CCF65675A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339E55AF-9E20-4993-8120-53DD84E6F7E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2012D869-6BAE-4191-831D-BCAE2329328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366D51E7-B498-4E7E-9A6C-ED277647A59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029</a:t>
            </a:r>
          </a:p>
        </p:txBody>
      </p:sp>
    </p:spTree>
    <p:extLst>
      <p:ext uri="{BB962C8B-B14F-4D97-AF65-F5344CB8AC3E}">
        <ns4:creationId val="2059321300"/>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0558EC99-A3B6-4DDB-ABF1-7FF3956BD86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ED800BE0-B017-40A1-9B2F-6C4054EE618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상품 금액에 배송비 더하기</a:t>
            </a:r>
          </a:p>
        </p:txBody>
      </p:sp>
      <p:sp>
        <p:nvSpPr>
          <p:cNvPr id="3" name="">
            <a:extLst>
              <a:ext uri="{FF2B5EF4-FFF2-40B4-BE49-F238E27FC236}">
                <ns2:creationId id="{DF29A231-09F1-4133-A15A-62ED6212AD7D}"/>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1">
                <a:solidFill>
                  <a:srgbClr val="172F39"/>
                </a:solidFill>
                <a:latin typeface="Noto Sans KR"/>
                <a:ea typeface="Noto Sans KR"/>
                <a:cs typeface="Noto Sans KR"/>
              </a:defRPr>
            </a:pPr>
            <a:r>
              <a:t>상품 금액을 계산한 뒤 배송비를 더합니다.</a:t>
            </a:r>
          </a:p>
        </p:txBody>
      </p:sp>
      <p:sp>
        <p:nvSpPr>
          <p:cNvPr id="4" name="">
            <a:extLst>
              <a:ext uri="{FF2B5EF4-FFF2-40B4-BE49-F238E27FC236}">
                <ns2:creationId id="{ECDD9113-9114-4DAB-AC1D-3A1BD6354B4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계산·반환·배송비 순서</a:t>
            </a:r>
          </a:p>
        </p:txBody>
      </p:sp>
      <p:graphicFrame>
        <p:nvGraphicFramePr>
          <p:cNvPr id="15" name=""/>
          <p:cNvGraphicFramePr/>
          <p:nvPr/>
        </p:nvGraphicFramePr>
        <p:xfrm>
          <a:off x="6267450" y="2628900"/>
          <a:ext cx="5238750" cy="2057400"/>
        </p:xfrm>
        <a:graphic>
          <a:graphicData uri="http://schemas.openxmlformats.org/drawingml/2006/table">
            <a:tbl>
              <a:tblPr firstRow="1" bandRow="0"/>
              <a:tblGrid>
                <a:gridCol w="3321869"/>
                <a:gridCol w="1916881"/>
              </a:tblGrid>
              <a:tr h="514350">
                <a:tc>
                  <a:txBody>
                    <a:bodyPr wrap="square"/>
                    <a:lstStyle/>
                    <a:p>
                      <a:pPr>
                        <a:lnSpc>
                          <a:spcPct val="102000"/>
                        </a:lnSpc>
                        <a:buNone/>
                      </a:pPr>
                      <a:r>
                        <a:rPr sz="1875" b="1">
                          <a:solidFill>
                            <a:srgbClr val="172F39"/>
                          </a:solidFill>
                          <a:latin typeface="Noto Sans KR"/>
                          <a:ea typeface="Noto Sans KR"/>
                          <a:cs typeface="Noto Sans KR"/>
                        </a:rPr>
                        <a:t>단계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1200×3</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3600</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함수 반환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3600</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배송비 +2000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5600</a:t>
                      </a:r>
                    </a:p>
                  </a:txBody>
                  <a:tcPr marL="114300" marR="114300" marT="76200" marB="76200" anchor="ctr">
                    <a:solidFill>
                      <a:srgbClr val="FFFFFF"/>
                    </a:solidFill>
                  </a:tcPr>
                </a:tc>
              </a:tr>
            </a:tbl>
          </a:graphicData>
        </a:graphic>
      </p:graphicFrame>
      <p:sp>
        <p:nvSpPr>
          <p:cNvPr id="6" name="">
            <a:extLst>
              <a:ext uri="{FF2B5EF4-FFF2-40B4-BE49-F238E27FC236}">
                <ns2:creationId id="{DA933427-E6C0-48A6-BB53-0F335A7A051C}"/>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D17A8BBE-D022-4102-A41D-2B58C554EED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6AF6E35C-FEE2-4D41-9D38-BBEAC60D24F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B4F64B57-AD2D-4EC3-8C62-E94C3C5C25B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D6D35446-E853-4575-BECD-E74A4D7197E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030</a:t>
            </a:r>
          </a:p>
        </p:txBody>
      </p:sp>
    </p:spTree>
    <p:extLst>
      <p:ext uri="{BB962C8B-B14F-4D97-AF65-F5344CB8AC3E}">
        <ns4:creationId val="713048308"/>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A21366C2-8A1F-4466-A9E2-928C37E20B2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951AFB9F-8B3E-4A10-9131-3EB663E9424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계산·반환·배송비 순서</a:t>
            </a:r>
          </a:p>
        </p:txBody>
      </p:sp>
      <p:graphicFrame>
        <p:nvGraphicFramePr>
          <p:cNvPr id="11" name=""/>
          <p:cNvGraphicFramePr/>
          <p:nvPr/>
        </p:nvGraphicFramePr>
        <p:xfrm>
          <a:off x="685800" y="1809750"/>
          <a:ext cx="10820400" cy="2145792"/>
        </p:xfrm>
        <a:graphic>
          <a:graphicData uri="http://schemas.openxmlformats.org/drawingml/2006/table">
            <a:tbl>
              <a:tblPr firstRow="1" bandRow="0"/>
              <a:tblGrid>
                <a:gridCol w="6861168"/>
                <a:gridCol w="3959232"/>
              </a:tblGrid>
              <a:tr h="536448">
                <a:tc>
                  <a:txBody>
                    <a:bodyPr wrap="square"/>
                    <a:lstStyle/>
                    <a:p>
                      <a:pPr>
                        <a:lnSpc>
                          <a:spcPct val="102000"/>
                        </a:lnSpc>
                        <a:buNone/>
                      </a:pPr>
                      <a:r>
                        <a:rPr sz="2025" b="1">
                          <a:solidFill>
                            <a:srgbClr val="172F39"/>
                          </a:solidFill>
                          <a:latin typeface="Noto Sans KR"/>
                          <a:ea typeface="Noto Sans KR"/>
                          <a:cs typeface="Noto Sans KR"/>
                        </a:rPr>
                        <a:t>단계</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결과</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1200×3</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3600</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함수 반환</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3600</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배송비 +2000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5600</a:t>
                      </a:r>
                    </a:p>
                  </a:txBody>
                  <a:tcPr marL="114300" marR="114300" marT="76200" marB="76200" anchor="ctr">
                    <a:solidFill>
                      <a:srgbClr val="FFFFFF"/>
                    </a:solidFill>
                  </a:tcPr>
                </a:tc>
              </a:tr>
            </a:tbl>
          </a:graphicData>
        </a:graphic>
      </p:graphicFrame>
      <p:sp>
        <p:nvSpPr>
          <p:cNvPr id="4" name="">
            <a:extLst>
              <a:ext uri="{FF2B5EF4-FFF2-40B4-BE49-F238E27FC236}">
                <ns2:creationId id="{BD4128CD-154A-41C6-9285-2B50292C0FEE}"/>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22CEBA25-500E-4C96-BAF8-D3D4896728B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2514BEEB-3787-4C1F-8A7D-64B743C812A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4B7394D3-5D39-4C0B-B6A2-29E6387C0D1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E0DE4178-3EFA-4F85-92A5-2C07EDF310E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031</a:t>
            </a:r>
          </a:p>
        </p:txBody>
      </p:sp>
    </p:spTree>
    <p:extLst>
      <p:ext uri="{BB962C8B-B14F-4D97-AF65-F5344CB8AC3E}">
        <ns4:creationId val="611938536"/>
      </p:ext>
    </p:extLst>
  </p:cSld>
</p:sld>
</file>

<file path=ppt/slides/slide3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0BC83CD6-9665-49FC-ACDE-CA9FB5E472A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695B6FF0-8046-45A8-8CC5-F49F45BFAE6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 새 문제</a:t>
            </a:r>
          </a:p>
        </p:txBody>
      </p:sp>
      <p:sp>
        <p:nvSpPr>
          <p:cNvPr id="3" name="">
            <a:extLst>
              <a:ext uri="{FF2B5EF4-FFF2-40B4-BE49-F238E27FC236}">
                <ns2:creationId id="{3F3519D2-7C88-47DF-A551-D67F8EC4CB82}"/>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 복습: 함수는 포장비 500을 출력만 합니다.</a:t>
            </a:r>
          </a:p>
        </p:txBody>
      </p:sp>
      <p:sp>
        <p:nvSpPr>
          <p:cNvPr id="4" name="">
            <a:extLst>
              <a:ext uri="{FF2B5EF4-FFF2-40B4-BE49-F238E27FC236}">
                <ns2:creationId id="{0C96C514-8078-4AA9-B8F5-1EBD374E93E2}"/>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반환값을 총액 3000에 더하면 어떻게 될까요?</a:t>
            </a:r>
          </a:p>
        </p:txBody>
      </p:sp>
      <p:sp>
        <p:nvSpPr>
          <p:cNvPr id="5" name="">
            <a:extLst>
              <a:ext uri="{FF2B5EF4-FFF2-40B4-BE49-F238E27FC236}">
                <ns2:creationId id="{A9B906D0-AA7E-4D39-903A-2D86FBFB6150}"/>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129EF916-3869-462D-A273-DF3F1546A53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D09E3411-A1C4-44AF-9B0B-AFEA7F2D606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7FC554C6-E5C1-48FB-83D4-E202ADBA0BC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19ED403C-F6F2-4915-A126-FA2B79AD82D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032</a:t>
            </a:r>
          </a:p>
        </p:txBody>
      </p:sp>
    </p:spTree>
    <p:extLst>
      <p:ext uri="{BB962C8B-B14F-4D97-AF65-F5344CB8AC3E}">
        <ns4:creationId val="1906044413"/>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CDFB3560-8010-4A55-A0B0-153BD47DDDB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47E7C131-6A0D-48BF-A10C-2EF144F5749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출력만 하면 None을 받습니다</a:t>
            </a:r>
          </a:p>
        </p:txBody>
      </p:sp>
      <p:sp>
        <p:nvSpPr>
          <p:cNvPr id="3" name="">
            <a:extLst>
              <a:ext uri="{FF2B5EF4-FFF2-40B4-BE49-F238E27FC236}">
                <ns2:creationId id="{7A6A5402-DF48-463F-879F-7A87DAB44825}"/>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return이 없으면 받은 값은 None입니다.</a:t>
            </a:r>
          </a:p>
        </p:txBody>
      </p:sp>
      <p:sp>
        <p:nvSpPr>
          <p:cNvPr id="4" name="">
            <a:extLst>
              <a:ext uri="{FF2B5EF4-FFF2-40B4-BE49-F238E27FC236}">
                <ns2:creationId id="{02AE8A8A-E8E8-4EFC-A907-FA520CFEFB32}"/>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함수가 500을 반환하고 호출자가 더하도록 고칩니다.</a:t>
            </a:r>
          </a:p>
        </p:txBody>
      </p:sp>
      <p:sp>
        <p:nvSpPr>
          <p:cNvPr id="5" name="">
            <a:extLst>
              <a:ext uri="{FF2B5EF4-FFF2-40B4-BE49-F238E27FC236}">
                <ns2:creationId id="{3A8EDBF6-8FAB-4A4B-B7D3-7AA1D3639BCA}"/>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복습 · 새 문제</a:t>
            </a:r>
          </a:p>
        </p:txBody>
      </p:sp>
      <p:sp>
        <p:nvSpPr>
          <p:cNvPr id="6" name="">
            <a:extLst>
              <a:ext uri="{FF2B5EF4-FFF2-40B4-BE49-F238E27FC236}">
                <ns2:creationId id="{B530ED86-F96B-48CF-B616-B34A7AFF6DB3}"/>
              </a:ext>
            </a:extLst>
          </p:cNvPr>
          <p:cNvSpPr>
            <a:spLocks noGrp="1"/>
          </p:cNvSpPr>
          <p:nvPr/>
        </p:nvSpPr>
        <p:spPr>
          <a:xfrm>
            <a:off x="6267450" y="2628900"/>
            <a:ext cx="5238750" cy="766191"/>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추가 복습: 함수는 포장비 500을 출력만 합니다.</a:t>
            </a:r>
          </a:p>
        </p:txBody>
      </p:sp>
      <p:sp>
        <p:nvSpPr>
          <p:cNvPr id="7" name="">
            <a:extLst>
              <a:ext uri="{FF2B5EF4-FFF2-40B4-BE49-F238E27FC236}">
                <ns2:creationId id="{17141EE5-4C11-413C-9A12-1A8FDF7B2518}"/>
              </a:ext>
            </a:extLst>
          </p:cNvPr>
          <p:cNvSpPr>
            <a:spLocks noGrp="1"/>
          </p:cNvSpPr>
          <p:nvPr/>
        </p:nvSpPr>
        <p:spPr>
          <a:xfrm>
            <a:off x="6267450" y="3442716"/>
            <a:ext cx="5238750" cy="766191"/>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반환값을 총액 3000에 더하면 어떻게 될까요?</a:t>
            </a:r>
          </a:p>
        </p:txBody>
      </p:sp>
      <p:sp>
        <p:nvSpPr>
          <p:cNvPr id="8" name="">
            <a:extLst>
              <a:ext uri="{FF2B5EF4-FFF2-40B4-BE49-F238E27FC236}">
                <ns2:creationId id="{01CF831C-D07A-4F70-B10C-262516AACD1B}"/>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EA8B2B78-F747-470A-BE34-E59A642416F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CDB39194-758C-48E8-A2D4-C15BAEA7969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CB6B80B6-12E6-4F24-9A9F-C8E2B3DCB23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C9A5597F-8CED-47C9-99D7-68DBB1519FA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033</a:t>
            </a:r>
          </a:p>
        </p:txBody>
      </p:sp>
    </p:spTree>
    <p:extLst>
      <p:ext uri="{BB962C8B-B14F-4D97-AF65-F5344CB8AC3E}">
        <ns4:creationId val="1015507410"/>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CBE1B0F3-76F2-45B9-AAF6-45A76C37F4F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5E5E8826-C071-46EA-9E14-A1F6CD9CBE0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먼저 할 일 · 반환과 검사</a:t>
            </a:r>
          </a:p>
        </p:txBody>
      </p:sp>
      <p:sp>
        <p:nvSpPr>
          <p:cNvPr id="3" name="">
            <a:extLst>
              <a:ext uri="{FF2B5EF4-FFF2-40B4-BE49-F238E27FC236}">
                <ns2:creationId id="{1769927B-F532-4D82-8033-75112EEA0EF0}"/>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A04 받은 값을 다음 계산에 사용합니다.</a:t>
            </a:r>
          </a:p>
        </p:txBody>
      </p:sp>
      <p:sp>
        <p:nvSpPr>
          <p:cNvPr id="4" name="">
            <a:extLst>
              <a:ext uri="{FF2B5EF4-FFF2-40B4-BE49-F238E27FC236}">
                <ns2:creationId id="{0DAF7C24-7638-417C-B14A-CD5D9CB50378}"/>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A06에서 정상·경계·미측정을 대조합니다.</a:t>
            </a:r>
          </a:p>
        </p:txBody>
      </p:sp>
      <p:sp>
        <p:nvSpPr>
          <p:cNvPr id="5" name="">
            <a:extLst>
              <a:ext uri="{FF2B5EF4-FFF2-40B4-BE49-F238E27FC236}">
                <ns2:creationId id="{99BA7658-8CCD-4E6F-BD5C-10C438AC84FB}"/>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A1ACC0FD-4F89-4A76-8956-718A1969C0E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20E8CFD2-B585-4A84-8F3E-78C5E98CD13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16CA60F5-71C0-4CC1-A29B-6ED1E99B597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8A61309D-0F3B-4C89-9EDE-5212AB5C7D7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034</a:t>
            </a:r>
          </a:p>
        </p:txBody>
      </p:sp>
    </p:spTree>
    <p:extLst>
      <p:ext uri="{BB962C8B-B14F-4D97-AF65-F5344CB8AC3E}">
        <ns4:creationId val="1996144758"/>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75AD9E1C-D594-4DF9-8D34-485AB4BB271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2690BBB2-2D6A-4729-8A4A-4012E1CE92E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2교시 확인</a:t>
            </a:r>
          </a:p>
        </p:txBody>
      </p:sp>
      <p:sp>
        <p:nvSpPr>
          <p:cNvPr id="3" name="">
            <a:extLst>
              <a:ext uri="{FF2B5EF4-FFF2-40B4-BE49-F238E27FC236}">
                <ns2:creationId id="{5EDD824D-C9BD-49DC-918E-4ADDF6EC1491}"/>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표시값과 반환값은 다를 수 있습니다.</a:t>
            </a:r>
          </a:p>
        </p:txBody>
      </p:sp>
      <p:sp>
        <p:nvSpPr>
          <p:cNvPr id="4" name="">
            <a:extLst>
              <a:ext uri="{FF2B5EF4-FFF2-40B4-BE49-F238E27FC236}">
                <ns2:creationId id="{914F2963-38CB-40FE-8A78-263655913C36}"/>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return을 실행하면 그 함수 호출은 끝납니다.</a:t>
            </a:r>
          </a:p>
        </p:txBody>
      </p:sp>
      <p:sp>
        <p:nvSpPr>
          <p:cNvPr id="5" name="">
            <a:extLst>
              <a:ext uri="{FF2B5EF4-FFF2-40B4-BE49-F238E27FC236}">
                <ns2:creationId id="{D5407AC2-F99E-4916-B81C-D8BF37622A26}"/>
              </a:ext>
            </a:extLst>
          </p:cNvPr>
          <p:cNvSpPr>
            <a:spLocks noGrp="1"/>
          </p:cNvSpPr>
          <p:nvPr/>
        </p:nvSpPr>
        <p:spPr>
          <a:xfrm>
            <a:off x="685800" y="326898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시험한 입력과 시험하지 않은 입력을 구별해 알립니다.</a:t>
            </a:r>
          </a:p>
        </p:txBody>
      </p:sp>
      <p:sp>
        <p:nvSpPr>
          <p:cNvPr id="6" name="">
            <a:extLst>
              <a:ext uri="{FF2B5EF4-FFF2-40B4-BE49-F238E27FC236}">
                <ns2:creationId id="{AF690FC6-1E71-42AD-9712-88321051FF8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반환 뒤 계산하기</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776633"/>
                <a:gridCol w="2462117"/>
              </a:tblGrid>
              <a:tr h="514350">
                <a:tc>
                  <a:txBody>
                    <a:bodyPr wrap="square"/>
                    <a:lstStyle/>
                    <a:p>
                      <a:pPr>
                        <a:lnSpc>
                          <a:spcPct val="102000"/>
                        </a:lnSpc>
                        <a:buNone/>
                      </a:pPr>
                      <a:r>
                        <a:rPr sz="1875" b="1">
                          <a:solidFill>
                            <a:srgbClr val="172F39"/>
                          </a:solidFill>
                          <a:latin typeface="Noto Sans KR"/>
                          <a:ea typeface="Noto Sans KR"/>
                          <a:cs typeface="Noto Sans KR"/>
                        </a:rPr>
                        <a:t>단계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값</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함수 입력</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22.5와 1.0</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반환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23.5</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다음 계산 +1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24.5</a:t>
                      </a:r>
                    </a:p>
                  </a:txBody>
                  <a:tcPr marL="114300" marR="114300" marT="76200" marB="76200" anchor="ctr">
                    <a:solidFill>
                      <a:srgbClr val="FFFFFF"/>
                    </a:solidFill>
                  </a:tcPr>
                </a:tc>
              </a:tr>
            </a:tbl>
          </a:graphicData>
        </a:graphic>
      </p:graphicFrame>
      <p:sp>
        <p:nvSpPr>
          <p:cNvPr id="8" name="">
            <a:extLst>
              <a:ext uri="{FF2B5EF4-FFF2-40B4-BE49-F238E27FC236}">
                <ns2:creationId id="{EB488B36-7AB2-434E-9EE6-D4ADF245AE09}"/>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4D2ECA4D-10CA-4E6F-9C31-A51B13E25BB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5C1EC4C7-87D8-4D82-9637-BCA3FC5F9F7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BF15BE1F-C014-42F5-9C50-A4B76FA5215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B33D6464-BF74-4B19-978B-48C9CFDB54A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035</a:t>
            </a:r>
          </a:p>
        </p:txBody>
      </p:sp>
    </p:spTree>
    <p:extLst>
      <p:ext uri="{BB962C8B-B14F-4D97-AF65-F5344CB8AC3E}">
        <ns4:creationId val="944294371"/>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86E6D39D-8498-4620-91E4-750D19D57A77}"/>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3교시</a:t>
            </a:r>
          </a:p>
        </p:txBody>
      </p:sp>
      <p:sp>
        <p:nvSpPr>
          <p:cNvPr id="2" name="">
            <a:extLst>
              <a:ext uri="{FF2B5EF4-FFF2-40B4-BE49-F238E27FC236}">
                <ns2:creationId id="{9D40D563-6B7D-4D66-A26F-35F0CDC92F4C}"/>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파일을 읽고 결과 저장</a:t>
            </a:r>
          </a:p>
        </p:txBody>
      </p:sp>
      <p:sp>
        <p:nvSpPr>
          <p:cNvPr id="3" name="">
            <a:extLst>
              <a:ext uri="{FF2B5EF4-FFF2-40B4-BE49-F238E27FC236}">
                <ns2:creationId id="{397D2CAE-F498-463D-BC75-DF18E7C69B2B}"/>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13:00~13:50 · 50분</a:t>
            </a:r>
          </a:p>
        </p:txBody>
      </p:sp>
      <p:sp>
        <p:nvSpPr>
          <p:cNvPr id="4" name="">
            <a:extLst>
              <a:ext uri="{FF2B5EF4-FFF2-40B4-BE49-F238E27FC236}">
                <ns2:creationId id="{C0C84FF0-5A4A-4895-B10A-8FE65459E51B}"/>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먼저 할 활동: A07, A08, A09</a:t>
            </a:r>
          </a:p>
        </p:txBody>
      </p:sp>
      <p:sp>
        <p:nvSpPr>
          <p:cNvPr id="5" name="">
            <a:extLst>
              <a:ext uri="{FF2B5EF4-FFF2-40B4-BE49-F238E27FC236}">
                <ns2:creationId id="{584914EA-A06C-4701-848D-C1C21DAFECA3}"/>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필수 활동을 마쳤으면 추가 문제를 풀어 보세요.</a:t>
            </a:r>
          </a:p>
        </p:txBody>
      </p:sp>
      <p:sp>
        <p:nvSpPr>
          <p:cNvPr id="6" name="">
            <a:extLst>
              <a:ext uri="{FF2B5EF4-FFF2-40B4-BE49-F238E27FC236}">
                <ns2:creationId id="{871294F6-C5BB-483A-A5A6-2A38F8BB3E8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E2D94FB0-246D-40A3-BC9C-7ABBCFE6E5F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6EB65AD2-F6D5-4005-B8CD-D51AC7353A7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E754FAC7-8168-4939-919B-98998B58546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C8E8D8FC-FFDF-430F-8457-214D2B24EDE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036</a:t>
            </a:r>
          </a:p>
        </p:txBody>
      </p:sp>
    </p:spTree>
    <p:extLst>
      <p:ext uri="{BB962C8B-B14F-4D97-AF65-F5344CB8AC3E}">
        <ns4:creationId val="2056601959"/>
      </p:ext>
    </p:extLst>
  </p:cSld>
</p:sld>
</file>

<file path=ppt/slides/slide3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9" name="">
            <a:extLst>
              <a:ext uri="{FF2B5EF4-FFF2-40B4-BE49-F238E27FC236}">
                <ns2:creationId id="{2CA7E1A4-D108-466F-92E2-27C070E9971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732AB875-A961-47F9-8813-074EF7108BB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완성 예 · 텍스트 파일 읽기</a:t>
            </a:r>
          </a:p>
        </p:txBody>
      </p:sp>
      <p:sp>
        <p:nvSpPr>
          <p:cNvPr id="3" name="">
            <a:extLst>
              <a:ext uri="{FF2B5EF4-FFF2-40B4-BE49-F238E27FC236}">
                <ns2:creationId id="{DCF88FA3-1C1E-44CF-854F-4BBC7C103CFE}"/>
              </a:ext>
            </a:extLst>
          </p:cNvPr>
          <p:cNvSpPr>
            <a:spLocks noGrp="1"/>
          </p:cNvSpPr>
          <p:nvPr/>
        </p:nvSpPr>
        <p:spPr>
          <a:xfrm>
            <a:off x="685800" y="1809750"/>
            <a:ext cx="10820400" cy="1908810"/>
          </a:xfrm>
          <a:prstGeom prst="rect">
            <a:avLst/>
          </a:prstGeom>
          <a:solidFill>
            <a:srgbClr val="F1F6F5"/>
          </a:solidFill>
          <a:ln w="0">
            <a:noFill/>
          </a:ln>
        </p:spPr>
      </p:sp>
      <p:sp>
        <p:nvSpPr>
          <p:cNvPr id="4" name="">
            <a:extLst>
              <a:ext uri="{FF2B5EF4-FFF2-40B4-BE49-F238E27FC236}">
                <ns2:creationId id="{4AAE7920-6204-4A91-8AB1-38BE6EB71CEA}"/>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D558931F-629F-4921-B14B-B27DF8446A64}"/>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from pathlib import Path</a:t>
            </a:r>
          </a:p>
        </p:txBody>
      </p:sp>
      <p:sp>
        <p:nvSpPr>
          <p:cNvPr id="6" name="">
            <a:extLst>
              <a:ext uri="{FF2B5EF4-FFF2-40B4-BE49-F238E27FC236}">
                <ns2:creationId id="{8547B357-73C8-4D78-87DF-D3245B6B0974}"/>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2FEB0F85-D320-402C-871D-42C8B86AD2D4}"/>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base = Path(__file__).resolve().parent.parent</a:t>
            </a:r>
          </a:p>
        </p:txBody>
      </p:sp>
      <p:sp>
        <p:nvSpPr>
          <p:cNvPr id="8" name="">
            <a:extLst>
              <a:ext uri="{FF2B5EF4-FFF2-40B4-BE49-F238E27FC236}">
                <ns2:creationId id="{7F5E966D-5BD0-4C3F-8F5F-A57AC15F0C39}"/>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0698EDE1-854E-4A7F-BA81-279042CCF016}"/>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source = base / "data" / "notice.txt"</a:t>
            </a:r>
          </a:p>
        </p:txBody>
      </p:sp>
      <p:sp>
        <p:nvSpPr>
          <p:cNvPr id="10" name="">
            <a:extLst>
              <a:ext uri="{FF2B5EF4-FFF2-40B4-BE49-F238E27FC236}">
                <ns2:creationId id="{941B2DE0-6894-411E-8ABE-493E95B7B166}"/>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8996E049-EC3F-46E3-AC96-D78612147AAD}"/>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text = source.read_text(encoding="utf-8")</a:t>
            </a:r>
          </a:p>
        </p:txBody>
      </p:sp>
      <p:sp>
        <p:nvSpPr>
          <p:cNvPr id="12" name="">
            <a:extLst>
              <a:ext uri="{FF2B5EF4-FFF2-40B4-BE49-F238E27FC236}">
                <ns2:creationId id="{F5592EF5-8D17-4BE6-B236-29B1B5939AF4}"/>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6D3FCB8E-857B-43FC-A41A-A2A540AA2841}"/>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print(text.strip())</a:t>
            </a:r>
          </a:p>
        </p:txBody>
      </p:sp>
      <p:sp>
        <p:nvSpPr>
          <p:cNvPr id="14" name="">
            <a:extLst>
              <a:ext uri="{FF2B5EF4-FFF2-40B4-BE49-F238E27FC236}">
                <ns2:creationId id="{7E3782ED-0DC9-4F0F-ADE7-254B4787C238}"/>
              </a:ext>
            </a:extLst>
          </p:cNvPr>
          <p:cNvSpPr>
            <a:spLocks noGrp="1"/>
          </p:cNvSpPr>
          <p:nvPr/>
        </p:nvSpPr>
        <p:spPr>
          <a:xfrm>
            <a:off x="685800" y="6172200"/>
            <a:ext cx="10820400" cy="9525"/>
          </a:xfrm>
          <a:prstGeom prst="rect">
            <a:avLst/>
          </a:prstGeom>
          <a:solidFill>
            <a:srgbClr val="D5DEDD"/>
          </a:solidFill>
          <a:ln w="0">
            <a:noFill/>
          </a:ln>
        </p:spPr>
      </p:sp>
      <p:sp>
        <p:nvSpPr>
          <p:cNvPr id="15" name="">
            <a:extLst>
              <a:ext uri="{FF2B5EF4-FFF2-40B4-BE49-F238E27FC236}">
                <ns2:creationId id="{752E1E81-98EC-4267-8D7F-7735CF5EF86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6" name="">
            <a:extLst>
              <a:ext uri="{FF2B5EF4-FFF2-40B4-BE49-F238E27FC236}">
                <ns2:creationId id="{505E9025-22C9-4DE8-91B7-854EF75808A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7" name="">
            <a:extLst>
              <a:ext uri="{FF2B5EF4-FFF2-40B4-BE49-F238E27FC236}">
                <ns2:creationId id="{A32CD601-EC02-4F59-8A28-CEAE26D7018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8" name="">
            <a:extLst>
              <a:ext uri="{FF2B5EF4-FFF2-40B4-BE49-F238E27FC236}">
                <ns2:creationId id="{F31A09E7-3A6E-4677-B389-5A26F22B1F9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037</a:t>
            </a:r>
          </a:p>
        </p:txBody>
      </p:sp>
    </p:spTree>
    <p:extLst>
      <p:ext uri="{BB962C8B-B14F-4D97-AF65-F5344CB8AC3E}">
        <ns4:creationId val="1202762762"/>
      </p:ext>
    </p:extLst>
  </p:cSld>
</p:sld>
</file>

<file path=ppt/slides/slide3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7" name="">
            <a:extLst>
              <a:ext uri="{FF2B5EF4-FFF2-40B4-BE49-F238E27FC236}">
                <ns2:creationId id="{FE6664BA-E0EA-41AB-96BF-6DEFA592B1D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9F4A746C-3D9A-4671-9B0E-C693AC5D17F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파일 주소를 만드는 순서</a:t>
            </a:r>
          </a:p>
        </p:txBody>
      </p:sp>
      <p:sp>
        <p:nvSpPr>
          <p:cNvPr id="3" name="">
            <a:extLst>
              <a:ext uri="{FF2B5EF4-FFF2-40B4-BE49-F238E27FC236}">
                <ns2:creationId id="{516832D2-D2C8-4928-96C8-08B1CE0B414C}"/>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코드의 위치를 찾습니다.</a:t>
            </a:r>
          </a:p>
        </p:txBody>
      </p:sp>
      <p:sp>
        <p:nvSpPr>
          <p:cNvPr id="4" name="">
            <a:extLst>
              <a:ext uri="{FF2B5EF4-FFF2-40B4-BE49-F238E27FC236}">
                <ns2:creationId id="{FF8705FE-E45F-4862-8A5D-D37426778139}"/>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그 위의 course 폴더를 기준으로 삼습니다.</a:t>
            </a:r>
          </a:p>
        </p:txBody>
      </p:sp>
      <p:sp>
        <p:nvSpPr>
          <p:cNvPr id="5" name="">
            <a:extLst>
              <a:ext uri="{FF2B5EF4-FFF2-40B4-BE49-F238E27FC236}">
                <ns2:creationId id="{6AE9BB92-A36D-4B18-8350-660240273A05}"/>
              </a:ext>
            </a:extLst>
          </p:cNvPr>
          <p:cNvSpPr>
            <a:spLocks noGrp="1"/>
          </p:cNvSpPr>
          <p:nvPr/>
        </p:nvSpPr>
        <p:spPr>
          <a:xfrm>
            <a:off x="685800" y="326898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data/notice.txt를 UTF-8로 읽습니다.</a:t>
            </a:r>
          </a:p>
        </p:txBody>
      </p:sp>
      <p:sp>
        <p:nvSpPr>
          <p:cNvPr id="6" name="">
            <a:extLst>
              <a:ext uri="{FF2B5EF4-FFF2-40B4-BE49-F238E27FC236}">
                <ns2:creationId id="{141C2BFA-D93B-4CEB-8EF7-BD466A685294}"/>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완성 예 · 텍스트 파일 읽기</a:t>
            </a:r>
          </a:p>
        </p:txBody>
      </p:sp>
      <p:sp>
        <p:nvSpPr>
          <p:cNvPr id="7" name="">
            <a:extLst>
              <a:ext uri="{FF2B5EF4-FFF2-40B4-BE49-F238E27FC236}">
                <ns2:creationId id="{3A449D93-5252-4E85-B789-F63015808A2E}"/>
              </a:ext>
            </a:extLst>
          </p:cNvPr>
          <p:cNvSpPr>
            <a:spLocks noGrp="1"/>
          </p:cNvSpPr>
          <p:nvPr/>
        </p:nvSpPr>
        <p:spPr>
          <a:xfrm>
            <a:off x="6267450" y="2628900"/>
            <a:ext cx="5238750" cy="2372106"/>
          </a:xfrm>
          <a:prstGeom prst="rect">
            <a:avLst/>
          </a:prstGeom>
          <a:solidFill>
            <a:srgbClr val="F1F6F5"/>
          </a:solidFill>
          <a:ln w="0">
            <a:noFill/>
          </a:ln>
        </p:spPr>
      </p:sp>
      <p:sp>
        <p:nvSpPr>
          <p:cNvPr id="8" name="">
            <a:extLst>
              <a:ext uri="{FF2B5EF4-FFF2-40B4-BE49-F238E27FC236}">
                <ns2:creationId id="{7B84A754-5E55-4B11-B0E2-F4325AEBDEA7}"/>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9" name="">
            <a:extLst>
              <a:ext uri="{FF2B5EF4-FFF2-40B4-BE49-F238E27FC236}">
                <ns2:creationId id="{5896130F-316C-4EBD-9D91-52D1D1C4FE63}"/>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from pathlib import Path</a:t>
            </a:r>
          </a:p>
        </p:txBody>
      </p:sp>
      <p:sp>
        <p:nvSpPr>
          <p:cNvPr id="10" name="">
            <a:extLst>
              <a:ext uri="{FF2B5EF4-FFF2-40B4-BE49-F238E27FC236}">
                <ns2:creationId id="{F93C6FD3-8F13-4019-9CDF-03BE1D697E7A}"/>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1" name="">
            <a:extLst>
              <a:ext uri="{FF2B5EF4-FFF2-40B4-BE49-F238E27FC236}">
                <ns2:creationId id="{6E1AD6C4-1EF2-4AAE-8920-E51FE2E2E489}"/>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base = Path(__file__).resolve()</a:t>
            </a:r>
          </a:p>
        </p:txBody>
      </p:sp>
      <p:sp>
        <p:nvSpPr>
          <p:cNvPr id="12" name="">
            <a:extLst>
              <a:ext uri="{FF2B5EF4-FFF2-40B4-BE49-F238E27FC236}">
                <ns2:creationId id="{9170100A-8C68-4919-84B9-92E4EEF59D86}"/>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3" name="">
            <a:extLst>
              <a:ext uri="{FF2B5EF4-FFF2-40B4-BE49-F238E27FC236}">
                <ns2:creationId id="{19606C26-CD79-4F8B-BFF0-326BD45C950D}"/>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base = base.parent.parent</a:t>
            </a:r>
          </a:p>
        </p:txBody>
      </p:sp>
      <p:sp>
        <p:nvSpPr>
          <p:cNvPr id="14" name="">
            <a:extLst>
              <a:ext uri="{FF2B5EF4-FFF2-40B4-BE49-F238E27FC236}">
                <ns2:creationId id="{922872E8-39D3-48C7-9357-25C45DBA8097}"/>
              </a:ext>
            </a:extLst>
          </p:cNvPr>
          <p:cNvSpPr>
            <a:spLocks noGrp="1"/>
          </p:cNvSpPr>
          <p:nvPr/>
        </p:nvSpPr>
        <p:spPr>
          <a:xfrm>
            <a:off x="6410325" y="3668649"/>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5" name="">
            <a:extLst>
              <a:ext uri="{FF2B5EF4-FFF2-40B4-BE49-F238E27FC236}">
                <ns2:creationId id="{6E954808-23D8-4B8E-9D9E-668802BA10A7}"/>
              </a:ext>
            </a:extLst>
          </p:cNvPr>
          <p:cNvSpPr>
            <a:spLocks noGrp="1"/>
          </p:cNvSpPr>
          <p:nvPr/>
        </p:nvSpPr>
        <p:spPr>
          <a:xfrm>
            <a:off x="6858000" y="3630549"/>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p = base / "data" / "notice.txt"</a:t>
            </a:r>
          </a:p>
        </p:txBody>
      </p:sp>
      <p:sp>
        <p:nvSpPr>
          <p:cNvPr id="16" name="">
            <a:extLst>
              <a:ext uri="{FF2B5EF4-FFF2-40B4-BE49-F238E27FC236}">
                <ns2:creationId id="{99DA04D7-4598-49E4-8F75-00A1192514C9}"/>
              </a:ext>
            </a:extLst>
          </p:cNvPr>
          <p:cNvSpPr>
            <a:spLocks noGrp="1"/>
          </p:cNvSpPr>
          <p:nvPr/>
        </p:nvSpPr>
        <p:spPr>
          <a:xfrm>
            <a:off x="6410325" y="3961257"/>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7" name="">
            <a:extLst>
              <a:ext uri="{FF2B5EF4-FFF2-40B4-BE49-F238E27FC236}">
                <ns2:creationId id="{24F3EA6A-2AFB-4620-93CE-F5C5BA1C91BF}"/>
              </a:ext>
            </a:extLst>
          </p:cNvPr>
          <p:cNvSpPr>
            <a:spLocks noGrp="1"/>
          </p:cNvSpPr>
          <p:nvPr/>
        </p:nvSpPr>
        <p:spPr>
          <a:xfrm>
            <a:off x="6858000" y="3923157"/>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text = p.read_text(</a:t>
            </a:r>
          </a:p>
        </p:txBody>
      </p:sp>
      <p:sp>
        <p:nvSpPr>
          <p:cNvPr id="18" name="">
            <a:extLst>
              <a:ext uri="{FF2B5EF4-FFF2-40B4-BE49-F238E27FC236}">
                <ns2:creationId id="{A228BF9A-EA2C-46F4-98DC-8387A31DA439}"/>
              </a:ext>
            </a:extLst>
          </p:cNvPr>
          <p:cNvSpPr>
            <a:spLocks noGrp="1"/>
          </p:cNvSpPr>
          <p:nvPr/>
        </p:nvSpPr>
        <p:spPr>
          <a:xfrm>
            <a:off x="6410325" y="425386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9" name="">
            <a:extLst>
              <a:ext uri="{FF2B5EF4-FFF2-40B4-BE49-F238E27FC236}">
                <ns2:creationId id="{88BCCC39-75F9-483B-A77F-07F14E2C0CE2}"/>
              </a:ext>
            </a:extLst>
          </p:cNvPr>
          <p:cNvSpPr>
            <a:spLocks noGrp="1"/>
          </p:cNvSpPr>
          <p:nvPr/>
        </p:nvSpPr>
        <p:spPr>
          <a:xfrm>
            <a:off x="6858000" y="421576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encoding="utf-8")</a:t>
            </a:r>
          </a:p>
        </p:txBody>
      </p:sp>
      <p:sp>
        <p:nvSpPr>
          <p:cNvPr id="20" name="">
            <a:extLst>
              <a:ext uri="{FF2B5EF4-FFF2-40B4-BE49-F238E27FC236}">
                <ns2:creationId id="{392A4D13-35A2-44CB-A7C3-A6A769507B49}"/>
              </a:ext>
            </a:extLst>
          </p:cNvPr>
          <p:cNvSpPr>
            <a:spLocks noGrp="1"/>
          </p:cNvSpPr>
          <p:nvPr/>
        </p:nvSpPr>
        <p:spPr>
          <a:xfrm>
            <a:off x="6410325" y="454647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07</a:t>
            </a:r>
          </a:p>
        </p:txBody>
      </p:sp>
      <p:sp>
        <p:nvSpPr>
          <p:cNvPr id="21" name="">
            <a:extLst>
              <a:ext uri="{FF2B5EF4-FFF2-40B4-BE49-F238E27FC236}">
                <ns2:creationId id="{012CEE48-80B0-4274-BBD0-356FE9F74113}"/>
              </a:ext>
            </a:extLst>
          </p:cNvPr>
          <p:cNvSpPr>
            <a:spLocks noGrp="1"/>
          </p:cNvSpPr>
          <p:nvPr/>
        </p:nvSpPr>
        <p:spPr>
          <a:xfrm>
            <a:off x="6858000" y="450837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print(text.strip())</a:t>
            </a:r>
          </a:p>
        </p:txBody>
      </p:sp>
      <p:sp>
        <p:nvSpPr>
          <p:cNvPr id="22" name="">
            <a:extLst>
              <a:ext uri="{FF2B5EF4-FFF2-40B4-BE49-F238E27FC236}">
                <ns2:creationId id="{E2E1447E-D685-4077-8F77-81264F3B9D52}"/>
              </a:ext>
            </a:extLst>
          </p:cNvPr>
          <p:cNvSpPr>
            <a:spLocks noGrp="1"/>
          </p:cNvSpPr>
          <p:nvPr/>
        </p:nvSpPr>
        <p:spPr>
          <a:xfrm>
            <a:off x="685800" y="6172200"/>
            <a:ext cx="10820400" cy="9525"/>
          </a:xfrm>
          <a:prstGeom prst="rect">
            <a:avLst/>
          </a:prstGeom>
          <a:solidFill>
            <a:srgbClr val="D5DEDD"/>
          </a:solidFill>
          <a:ln w="0">
            <a:noFill/>
          </a:ln>
        </p:spPr>
      </p:sp>
      <p:sp>
        <p:nvSpPr>
          <p:cNvPr id="23" name="">
            <a:extLst>
              <a:ext uri="{FF2B5EF4-FFF2-40B4-BE49-F238E27FC236}">
                <ns2:creationId id="{F7EAECA6-5E67-4AE4-96B8-BEB94A60996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4" name="">
            <a:extLst>
              <a:ext uri="{FF2B5EF4-FFF2-40B4-BE49-F238E27FC236}">
                <ns2:creationId id="{E43284F0-4C21-4360-8A3E-C2A62BBFD2D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5" name="">
            <a:extLst>
              <a:ext uri="{FF2B5EF4-FFF2-40B4-BE49-F238E27FC236}">
                <ns2:creationId id="{77B93ED2-455D-4C2F-813C-2516B539B78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6" name="">
            <a:extLst>
              <a:ext uri="{FF2B5EF4-FFF2-40B4-BE49-F238E27FC236}">
                <ns2:creationId id="{05EF1C0B-8B34-49A4-9BCB-5EFB93F2D55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038</a:t>
            </a:r>
          </a:p>
        </p:txBody>
      </p:sp>
    </p:spTree>
    <p:extLst>
      <p:ext uri="{BB962C8B-B14F-4D97-AF65-F5344CB8AC3E}">
        <ns4:creationId val="299431769"/>
      </p:ext>
    </p:extLst>
  </p:cSld>
</p:sld>
</file>

<file path=ppt/slides/slide3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7" name="">
            <a:extLst>
              <a:ext uri="{FF2B5EF4-FFF2-40B4-BE49-F238E27FC236}">
                <ns2:creationId id="{F72E828D-4A41-482D-8588-59605DF2071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73CF74BC-B0AE-4402-8AB1-5D89CF297B3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파일을 찾지 못하면</a:t>
            </a:r>
          </a:p>
        </p:txBody>
      </p:sp>
      <p:sp>
        <p:nvSpPr>
          <p:cNvPr id="3" name="">
            <a:extLst>
              <a:ext uri="{FF2B5EF4-FFF2-40B4-BE49-F238E27FC236}">
                <ns2:creationId id="{57040D80-2C14-4673-B68F-4429C92E0077}"/>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FileNotFoundError는 주소부터 확인합니다.</a:t>
            </a:r>
          </a:p>
        </p:txBody>
      </p:sp>
      <p:sp>
        <p:nvSpPr>
          <p:cNvPr id="4" name="">
            <a:extLst>
              <a:ext uri="{FF2B5EF4-FFF2-40B4-BE49-F238E27FC236}">
                <ns2:creationId id="{FC03A930-D7CD-46AE-AFE0-6DA0D7DEA7F8}"/>
              </a:ext>
            </a:extLst>
          </p:cNvPr>
          <p:cNvSpPr>
            <a:spLocks noGrp="1"/>
          </p:cNvSpPr>
          <p:nvPr/>
        </p:nvSpPr>
        <p:spPr>
          <a:xfrm>
            <a:off x="685800" y="276987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압축을 풀었는지와 확장자를 봅니다.</a:t>
            </a:r>
          </a:p>
        </p:txBody>
      </p:sp>
      <p:sp>
        <p:nvSpPr>
          <p:cNvPr id="5" name="">
            <a:extLst>
              <a:ext uri="{FF2B5EF4-FFF2-40B4-BE49-F238E27FC236}">
                <ns2:creationId id="{688C8B79-024A-40EA-887D-0A923DB2E89D}"/>
              </a:ext>
            </a:extLst>
          </p:cNvPr>
          <p:cNvSpPr>
            <a:spLocks noGrp="1"/>
          </p:cNvSpPr>
          <p:nvPr/>
        </p:nvSpPr>
        <p:spPr>
          <a:xfrm>
            <a:off x="685800" y="326898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없는 파일 문제를 숫자 변환으로 고치지 않습니다.</a:t>
            </a:r>
          </a:p>
        </p:txBody>
      </p:sp>
      <p:sp>
        <p:nvSpPr>
          <p:cNvPr id="6" name="">
            <a:extLst>
              <a:ext uri="{FF2B5EF4-FFF2-40B4-BE49-F238E27FC236}">
                <ns2:creationId id="{53B34256-FE3D-4B6F-A36B-FF61A80D77DB}"/>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완성 예 · 텍스트 파일 읽기</a:t>
            </a:r>
          </a:p>
        </p:txBody>
      </p:sp>
      <p:sp>
        <p:nvSpPr>
          <p:cNvPr id="7" name="">
            <a:extLst>
              <a:ext uri="{FF2B5EF4-FFF2-40B4-BE49-F238E27FC236}">
                <ns2:creationId id="{055BC701-3A5A-47EE-ADD4-04E49008F671}"/>
              </a:ext>
            </a:extLst>
          </p:cNvPr>
          <p:cNvSpPr>
            <a:spLocks noGrp="1"/>
          </p:cNvSpPr>
          <p:nvPr/>
        </p:nvSpPr>
        <p:spPr>
          <a:xfrm>
            <a:off x="6267450" y="2628900"/>
            <a:ext cx="5238750" cy="2372106"/>
          </a:xfrm>
          <a:prstGeom prst="rect">
            <a:avLst/>
          </a:prstGeom>
          <a:solidFill>
            <a:srgbClr val="F1F6F5"/>
          </a:solidFill>
          <a:ln w="0">
            <a:noFill/>
          </a:ln>
        </p:spPr>
      </p:sp>
      <p:sp>
        <p:nvSpPr>
          <p:cNvPr id="8" name="">
            <a:extLst>
              <a:ext uri="{FF2B5EF4-FFF2-40B4-BE49-F238E27FC236}">
                <ns2:creationId id="{A4C9F9FB-D701-4040-AE1C-58382EB43F81}"/>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9" name="">
            <a:extLst>
              <a:ext uri="{FF2B5EF4-FFF2-40B4-BE49-F238E27FC236}">
                <ns2:creationId id="{76802296-4F6B-414A-9B22-4F4BEE75F956}"/>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from pathlib import Path</a:t>
            </a:r>
          </a:p>
        </p:txBody>
      </p:sp>
      <p:sp>
        <p:nvSpPr>
          <p:cNvPr id="10" name="">
            <a:extLst>
              <a:ext uri="{FF2B5EF4-FFF2-40B4-BE49-F238E27FC236}">
                <ns2:creationId id="{BA7FC74E-A192-4A37-8AFD-D222D656BD77}"/>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1" name="">
            <a:extLst>
              <a:ext uri="{FF2B5EF4-FFF2-40B4-BE49-F238E27FC236}">
                <ns2:creationId id="{2923744F-CB28-4C3F-A2A1-3C4340041D11}"/>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base = Path(__file__).resolve()</a:t>
            </a:r>
          </a:p>
        </p:txBody>
      </p:sp>
      <p:sp>
        <p:nvSpPr>
          <p:cNvPr id="12" name="">
            <a:extLst>
              <a:ext uri="{FF2B5EF4-FFF2-40B4-BE49-F238E27FC236}">
                <ns2:creationId id="{7D7DE653-841D-409E-AEC2-EE7F6763C299}"/>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3" name="">
            <a:extLst>
              <a:ext uri="{FF2B5EF4-FFF2-40B4-BE49-F238E27FC236}">
                <ns2:creationId id="{BC480CBF-EE6B-43F3-A513-F856B7F7667F}"/>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base = base.parent.parent</a:t>
            </a:r>
          </a:p>
        </p:txBody>
      </p:sp>
      <p:sp>
        <p:nvSpPr>
          <p:cNvPr id="14" name="">
            <a:extLst>
              <a:ext uri="{FF2B5EF4-FFF2-40B4-BE49-F238E27FC236}">
                <ns2:creationId id="{A97E4467-0ED8-46CA-9650-8D462A8FF396}"/>
              </a:ext>
            </a:extLst>
          </p:cNvPr>
          <p:cNvSpPr>
            <a:spLocks noGrp="1"/>
          </p:cNvSpPr>
          <p:nvPr/>
        </p:nvSpPr>
        <p:spPr>
          <a:xfrm>
            <a:off x="6410325" y="3668649"/>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5" name="">
            <a:extLst>
              <a:ext uri="{FF2B5EF4-FFF2-40B4-BE49-F238E27FC236}">
                <ns2:creationId id="{06639AD0-9D6B-4FFB-B3DE-BB1204825F34}"/>
              </a:ext>
            </a:extLst>
          </p:cNvPr>
          <p:cNvSpPr>
            <a:spLocks noGrp="1"/>
          </p:cNvSpPr>
          <p:nvPr/>
        </p:nvSpPr>
        <p:spPr>
          <a:xfrm>
            <a:off x="6858000" y="3630549"/>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p = base / "data" / "notice.txt"</a:t>
            </a:r>
          </a:p>
        </p:txBody>
      </p:sp>
      <p:sp>
        <p:nvSpPr>
          <p:cNvPr id="16" name="">
            <a:extLst>
              <a:ext uri="{FF2B5EF4-FFF2-40B4-BE49-F238E27FC236}">
                <ns2:creationId id="{97B619F7-2439-4B8B-9992-7E35F14CA80F}"/>
              </a:ext>
            </a:extLst>
          </p:cNvPr>
          <p:cNvSpPr>
            <a:spLocks noGrp="1"/>
          </p:cNvSpPr>
          <p:nvPr/>
        </p:nvSpPr>
        <p:spPr>
          <a:xfrm>
            <a:off x="6410325" y="3961257"/>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7" name="">
            <a:extLst>
              <a:ext uri="{FF2B5EF4-FFF2-40B4-BE49-F238E27FC236}">
                <ns2:creationId id="{95FDB9A6-A432-44B1-A158-637FD6668520}"/>
              </a:ext>
            </a:extLst>
          </p:cNvPr>
          <p:cNvSpPr>
            <a:spLocks noGrp="1"/>
          </p:cNvSpPr>
          <p:nvPr/>
        </p:nvSpPr>
        <p:spPr>
          <a:xfrm>
            <a:off x="6858000" y="3923157"/>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text = p.read_text(</a:t>
            </a:r>
          </a:p>
        </p:txBody>
      </p:sp>
      <p:sp>
        <p:nvSpPr>
          <p:cNvPr id="18" name="">
            <a:extLst>
              <a:ext uri="{FF2B5EF4-FFF2-40B4-BE49-F238E27FC236}">
                <ns2:creationId id="{3D9EDACC-5778-4DBC-A498-DD944CC797CA}"/>
              </a:ext>
            </a:extLst>
          </p:cNvPr>
          <p:cNvSpPr>
            <a:spLocks noGrp="1"/>
          </p:cNvSpPr>
          <p:nvPr/>
        </p:nvSpPr>
        <p:spPr>
          <a:xfrm>
            <a:off x="6410325" y="425386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9" name="">
            <a:extLst>
              <a:ext uri="{FF2B5EF4-FFF2-40B4-BE49-F238E27FC236}">
                <ns2:creationId id="{E20B4A57-65D9-4E73-9EAA-042EBB716C1A}"/>
              </a:ext>
            </a:extLst>
          </p:cNvPr>
          <p:cNvSpPr>
            <a:spLocks noGrp="1"/>
          </p:cNvSpPr>
          <p:nvPr/>
        </p:nvSpPr>
        <p:spPr>
          <a:xfrm>
            <a:off x="6858000" y="421576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encoding="utf-8")</a:t>
            </a:r>
          </a:p>
        </p:txBody>
      </p:sp>
      <p:sp>
        <p:nvSpPr>
          <p:cNvPr id="20" name="">
            <a:extLst>
              <a:ext uri="{FF2B5EF4-FFF2-40B4-BE49-F238E27FC236}">
                <ns2:creationId id="{CD0ACF50-EA94-4632-A0C8-F1C0EF244D52}"/>
              </a:ext>
            </a:extLst>
          </p:cNvPr>
          <p:cNvSpPr>
            <a:spLocks noGrp="1"/>
          </p:cNvSpPr>
          <p:nvPr/>
        </p:nvSpPr>
        <p:spPr>
          <a:xfrm>
            <a:off x="6410325" y="454647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07</a:t>
            </a:r>
          </a:p>
        </p:txBody>
      </p:sp>
      <p:sp>
        <p:nvSpPr>
          <p:cNvPr id="21" name="">
            <a:extLst>
              <a:ext uri="{FF2B5EF4-FFF2-40B4-BE49-F238E27FC236}">
                <ns2:creationId id="{2D9939F3-1FA6-46E2-9E0E-7E07CA8DEA28}"/>
              </a:ext>
            </a:extLst>
          </p:cNvPr>
          <p:cNvSpPr>
            <a:spLocks noGrp="1"/>
          </p:cNvSpPr>
          <p:nvPr/>
        </p:nvSpPr>
        <p:spPr>
          <a:xfrm>
            <a:off x="6858000" y="450837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print(text.strip())</a:t>
            </a:r>
          </a:p>
        </p:txBody>
      </p:sp>
      <p:sp>
        <p:nvSpPr>
          <p:cNvPr id="22" name="">
            <a:extLst>
              <a:ext uri="{FF2B5EF4-FFF2-40B4-BE49-F238E27FC236}">
                <ns2:creationId id="{78D66D0A-0A54-4D61-9FF6-228AD5C99D72}"/>
              </a:ext>
            </a:extLst>
          </p:cNvPr>
          <p:cNvSpPr>
            <a:spLocks noGrp="1"/>
          </p:cNvSpPr>
          <p:nvPr/>
        </p:nvSpPr>
        <p:spPr>
          <a:xfrm>
            <a:off x="685800" y="6172200"/>
            <a:ext cx="10820400" cy="9525"/>
          </a:xfrm>
          <a:prstGeom prst="rect">
            <a:avLst/>
          </a:prstGeom>
          <a:solidFill>
            <a:srgbClr val="D5DEDD"/>
          </a:solidFill>
          <a:ln w="0">
            <a:noFill/>
          </a:ln>
        </p:spPr>
      </p:sp>
      <p:sp>
        <p:nvSpPr>
          <p:cNvPr id="23" name="">
            <a:extLst>
              <a:ext uri="{FF2B5EF4-FFF2-40B4-BE49-F238E27FC236}">
                <ns2:creationId id="{C98625D1-3B0A-49C3-9D3B-4E8E52F6D60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4" name="">
            <a:extLst>
              <a:ext uri="{FF2B5EF4-FFF2-40B4-BE49-F238E27FC236}">
                <ns2:creationId id="{FF665A4C-0BEE-45D1-B676-25604AD7A1C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5" name="">
            <a:extLst>
              <a:ext uri="{FF2B5EF4-FFF2-40B4-BE49-F238E27FC236}">
                <ns2:creationId id="{34C853BF-11AA-46AF-A6B5-AE1421C8683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6" name="">
            <a:extLst>
              <a:ext uri="{FF2B5EF4-FFF2-40B4-BE49-F238E27FC236}">
                <ns2:creationId id="{E8338F30-0F67-4871-AB81-3B70D0BF3CD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039</a:t>
            </a:r>
          </a:p>
        </p:txBody>
      </p:sp>
    </p:spTree>
    <p:extLst>
      <p:ext uri="{BB962C8B-B14F-4D97-AF65-F5344CB8AC3E}">
        <ns4:creationId val="1501261597"/>
      </p:ext>
    </p:extLst>
  </p:cSld>
</p:sld>
</file>

<file path=ppt/slides/slide4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3" name="">
            <a:extLst>
              <a:ext uri="{FF2B5EF4-FFF2-40B4-BE49-F238E27FC236}">
                <ns2:creationId id="{8E0AD9D7-8B12-41BB-AC4E-F2E8D0FCD9B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3A825B46-F1E7-4B8F-98CD-539CBECC4A7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완성 예 · CSV 행을 읽기</a:t>
            </a:r>
          </a:p>
        </p:txBody>
      </p:sp>
      <p:sp>
        <p:nvSpPr>
          <p:cNvPr id="3" name="">
            <a:extLst>
              <a:ext uri="{FF2B5EF4-FFF2-40B4-BE49-F238E27FC236}">
                <ns2:creationId id="{48EC680A-4686-4851-8D72-5E3A506CE8FC}"/>
              </a:ext>
            </a:extLst>
          </p:cNvPr>
          <p:cNvSpPr>
            <a:spLocks noGrp="1"/>
          </p:cNvSpPr>
          <p:nvPr/>
        </p:nvSpPr>
        <p:spPr>
          <a:xfrm>
            <a:off x="685800" y="1809750"/>
            <a:ext cx="10820400" cy="2542794"/>
          </a:xfrm>
          <a:prstGeom prst="rect">
            <a:avLst/>
          </a:prstGeom>
          <a:solidFill>
            <a:srgbClr val="F1F6F5"/>
          </a:solidFill>
          <a:ln w="0">
            <a:noFill/>
          </a:ln>
        </p:spPr>
      </p:sp>
      <p:sp>
        <p:nvSpPr>
          <p:cNvPr id="4" name="">
            <a:extLst>
              <a:ext uri="{FF2B5EF4-FFF2-40B4-BE49-F238E27FC236}">
                <ns2:creationId id="{F6DE1B6C-C393-464C-A31D-2C2A986EDD05}"/>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6EE86618-3377-4404-8D1E-B14E515072A6}"/>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import csv</a:t>
            </a:r>
          </a:p>
        </p:txBody>
      </p:sp>
      <p:sp>
        <p:nvSpPr>
          <p:cNvPr id="6" name="">
            <a:extLst>
              <a:ext uri="{FF2B5EF4-FFF2-40B4-BE49-F238E27FC236}">
                <ns2:creationId id="{38C07892-6041-4E22-9A3E-D7ADAB5DF4CE}"/>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7E4BCD44-4841-40E5-8DDA-8BD8012C9E7C}"/>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with open("data/readings.csv", encoding="utf-8",</a:t>
            </a:r>
          </a:p>
        </p:txBody>
      </p:sp>
      <p:sp>
        <p:nvSpPr>
          <p:cNvPr id="8" name="">
            <a:extLst>
              <a:ext uri="{FF2B5EF4-FFF2-40B4-BE49-F238E27FC236}">
                <ns2:creationId id="{2D184661-FE82-4DFB-B669-615BF2AF52BB}"/>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C7B89F63-EF6F-4671-9FE6-396AC60C50A2}"/>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newline="") as file:</a:t>
            </a:r>
          </a:p>
        </p:txBody>
      </p:sp>
      <p:sp>
        <p:nvSpPr>
          <p:cNvPr id="10" name="">
            <a:extLst>
              <a:ext uri="{FF2B5EF4-FFF2-40B4-BE49-F238E27FC236}">
                <ns2:creationId id="{FEBBCDD7-4AD4-425C-96F2-59668F064FC4}"/>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3DE76D15-91E7-4FF6-A85F-3FBC24B34612}"/>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rows = list(csv.DictReader(file))</a:t>
            </a:r>
          </a:p>
        </p:txBody>
      </p:sp>
      <p:sp>
        <p:nvSpPr>
          <p:cNvPr id="12" name="">
            <a:extLst>
              <a:ext uri="{FF2B5EF4-FFF2-40B4-BE49-F238E27FC236}">
                <ns2:creationId id="{BD17E0E5-0E3A-4BAA-8215-B4EA856804A2}"/>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B98A874B-FE99-4FD2-BED4-155DDF8D1621}"/>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print(len(rows))</a:t>
            </a:r>
          </a:p>
        </p:txBody>
      </p:sp>
      <p:sp>
        <p:nvSpPr>
          <p:cNvPr id="14" name="">
            <a:extLst>
              <a:ext uri="{FF2B5EF4-FFF2-40B4-BE49-F238E27FC236}">
                <ns2:creationId id="{94510186-4E67-4F20-BCFE-B0DE034BC0F3}"/>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8051092A-3E98-49F3-B9E9-D8FC0C58125E}"/>
              </a:ext>
            </a:extLst>
          </p:cNvPr>
          <p:cNvSpPr>
            <a:spLocks noGrp="1"/>
          </p:cNvSpPr>
          <p:nvPr/>
        </p:nvSpPr>
        <p:spPr>
          <a:xfrm>
            <a:off x="1276350" y="351853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print(rows[0]["sensor_id"])</a:t>
            </a:r>
          </a:p>
        </p:txBody>
      </p:sp>
      <p:sp>
        <p:nvSpPr>
          <p:cNvPr id="16" name="">
            <a:extLst>
              <a:ext uri="{FF2B5EF4-FFF2-40B4-BE49-F238E27FC236}">
                <ns2:creationId id="{E8D10AAE-8F36-40B3-A65C-38BC0FE2D899}"/>
              </a:ext>
            </a:extLst>
          </p:cNvPr>
          <p:cNvSpPr>
            <a:spLocks noGrp="1"/>
          </p:cNvSpPr>
          <p:nvPr/>
        </p:nvSpPr>
        <p:spPr>
          <a:xfrm>
            <a:off x="828675" y="387362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07</a:t>
            </a:r>
          </a:p>
        </p:txBody>
      </p:sp>
      <p:sp>
        <p:nvSpPr>
          <p:cNvPr id="17" name="">
            <a:extLst>
              <a:ext uri="{FF2B5EF4-FFF2-40B4-BE49-F238E27FC236}">
                <ns2:creationId id="{7219FF6C-621D-4592-8641-6000A9D6F576}"/>
              </a:ext>
            </a:extLst>
          </p:cNvPr>
          <p:cNvSpPr>
            <a:spLocks noGrp="1"/>
          </p:cNvSpPr>
          <p:nvPr/>
        </p:nvSpPr>
        <p:spPr>
          <a:xfrm>
            <a:off x="1276350" y="383552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print(rows[0]["temperature_c"])</a:t>
            </a:r>
          </a:p>
        </p:txBody>
      </p:sp>
      <p:sp>
        <p:nvSpPr>
          <p:cNvPr id="18" name="">
            <a:extLst>
              <a:ext uri="{FF2B5EF4-FFF2-40B4-BE49-F238E27FC236}">
                <ns2:creationId id="{E2CD3555-6188-4CDD-AFFA-AA211AFC49F7}"/>
              </a:ext>
            </a:extLst>
          </p:cNvPr>
          <p:cNvSpPr>
            <a:spLocks noGrp="1"/>
          </p:cNvSpPr>
          <p:nvPr/>
        </p:nvSpPr>
        <p:spPr>
          <a:xfrm>
            <a:off x="685800" y="6172200"/>
            <a:ext cx="10820400" cy="9525"/>
          </a:xfrm>
          <a:prstGeom prst="rect">
            <a:avLst/>
          </a:prstGeom>
          <a:solidFill>
            <a:srgbClr val="D5DEDD"/>
          </a:solidFill>
          <a:ln w="0">
            <a:noFill/>
          </a:ln>
        </p:spPr>
      </p:sp>
      <p:sp>
        <p:nvSpPr>
          <p:cNvPr id="19" name="">
            <a:extLst>
              <a:ext uri="{FF2B5EF4-FFF2-40B4-BE49-F238E27FC236}">
                <ns2:creationId id="{02CEF430-B2BB-4C75-80B4-520E93C6A0F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0" name="">
            <a:extLst>
              <a:ext uri="{FF2B5EF4-FFF2-40B4-BE49-F238E27FC236}">
                <ns2:creationId id="{26504331-6564-4812-BCCB-4FAC14DD5DD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1" name="">
            <a:extLst>
              <a:ext uri="{FF2B5EF4-FFF2-40B4-BE49-F238E27FC236}">
                <ns2:creationId id="{54B2990C-DE95-45B2-8A5E-547D56E3303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2" name="">
            <a:extLst>
              <a:ext uri="{FF2B5EF4-FFF2-40B4-BE49-F238E27FC236}">
                <ns2:creationId id="{D5551960-D84A-41E9-B181-C4144785A4D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040</a:t>
            </a:r>
          </a:p>
        </p:txBody>
      </p:sp>
    </p:spTree>
    <p:extLst>
      <p:ext uri="{BB962C8B-B14F-4D97-AF65-F5344CB8AC3E}">
        <ns4:creationId val="1349233200"/>
      </p:ext>
    </p:extLst>
  </p:cSld>
</p:sld>
</file>

<file path=ppt/slides/slide4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E3A2EB42-9F4C-413A-88BC-592C2B6E632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47F3B4EB-047D-4E5D-BE6D-21C18080226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CSV를 읽은 뒤의 값</a:t>
            </a:r>
          </a:p>
        </p:txBody>
      </p:sp>
      <p:graphicFrame>
        <p:nvGraphicFramePr>
          <p:cNvPr id="11" name=""/>
          <p:cNvGraphicFramePr/>
          <p:nvPr/>
        </p:nvGraphicFramePr>
        <p:xfrm>
          <a:off x="685800" y="1809750"/>
          <a:ext cx="10820400" cy="2145792"/>
        </p:xfrm>
        <a:graphic>
          <a:graphicData uri="http://schemas.openxmlformats.org/drawingml/2006/table">
            <a:tbl>
              <a:tblPr firstRow="1" bandRow="0"/>
              <a:tblGrid>
                <a:gridCol w="5988038"/>
                <a:gridCol w="4832362"/>
              </a:tblGrid>
              <a:tr h="536448">
                <a:tc>
                  <a:txBody>
                    <a:bodyPr wrap="square"/>
                    <a:lstStyle/>
                    <a:p>
                      <a:pPr>
                        <a:lnSpc>
                          <a:spcPct val="102000"/>
                        </a:lnSpc>
                        <a:buNone/>
                      </a:pPr>
                      <a:r>
                        <a:rPr sz="2025" b="1">
                          <a:solidFill>
                            <a:srgbClr val="172F39"/>
                          </a:solidFill>
                          <a:latin typeface="Noto Sans KR"/>
                          <a:ea typeface="Noto Sans KR"/>
                          <a:cs typeface="Noto Sans KR"/>
                        </a:rPr>
                        <a:t>확인</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결과</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데이터 행 수</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4</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첫 sensor_id</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S01</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첫 temperature_c</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"22.5" 문자열</a:t>
                      </a:r>
                    </a:p>
                  </a:txBody>
                  <a:tcPr marL="114300" marR="114300" marT="76200" marB="76200" anchor="ctr">
                    <a:solidFill>
                      <a:srgbClr val="FFFFFF"/>
                    </a:solidFill>
                  </a:tcPr>
                </a:tc>
              </a:tr>
            </a:tbl>
          </a:graphicData>
        </a:graphic>
      </p:graphicFrame>
      <p:sp>
        <p:nvSpPr>
          <p:cNvPr id="4" name="">
            <a:extLst>
              <a:ext uri="{FF2B5EF4-FFF2-40B4-BE49-F238E27FC236}">
                <ns2:creationId id="{DF3A8859-942F-4CFD-A262-95C9AD433FE5}"/>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6C085631-8E87-451F-9B6A-59C6EFD2088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9D5FA788-704D-44C7-B1EE-D1DF9350C1C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4698A756-8DF4-4D20-863A-80216B292F3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D23448E4-3CE5-428C-9EFE-29D0F989D3B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041</a:t>
            </a:r>
          </a:p>
        </p:txBody>
      </p:sp>
    </p:spTree>
    <p:extLst>
      <p:ext uri="{BB962C8B-B14F-4D97-AF65-F5344CB8AC3E}">
        <ns4:creationId val="740919626"/>
      </p:ext>
    </p:extLst>
  </p:cSld>
</p:sld>
</file>

<file path=ppt/slides/slide4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6CB66A36-53A7-400E-AF81-413EACD4AA7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08D080F8-4498-4053-8357-A852242A85A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헤더와 키를 맞춥니다</a:t>
            </a:r>
          </a:p>
        </p:txBody>
      </p:sp>
      <p:sp>
        <p:nvSpPr>
          <p:cNvPr id="3" name="">
            <a:extLst>
              <a:ext uri="{FF2B5EF4-FFF2-40B4-BE49-F238E27FC236}">
                <ns2:creationId id="{35D1DCAE-9BF7-4090-BEE7-5AB01490B191}"/>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temperature_c는 열 이름입니다.</a:t>
            </a:r>
          </a:p>
        </p:txBody>
      </p:sp>
      <p:sp>
        <p:nvSpPr>
          <p:cNvPr id="4" name="">
            <a:extLst>
              <a:ext uri="{FF2B5EF4-FFF2-40B4-BE49-F238E27FC236}">
                <ns2:creationId id="{081F35E6-7654-48B4-9031-B82D1A8ACB4B}"/>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temperature는 다른 이름표입니다.</a:t>
            </a:r>
          </a:p>
        </p:txBody>
      </p:sp>
      <p:sp>
        <p:nvSpPr>
          <p:cNvPr id="5" name="">
            <a:extLst>
              <a:ext uri="{FF2B5EF4-FFF2-40B4-BE49-F238E27FC236}">
                <ns2:creationId id="{9101F5FB-97DA-47F0-9073-92FF1DD48F8E}"/>
              </a:ext>
            </a:extLst>
          </p:cNvPr>
          <p:cNvSpPr>
            <a:spLocks noGrp="1"/>
          </p:cNvSpPr>
          <p:nvPr/>
        </p:nvSpPr>
        <p:spPr>
          <a:xfrm>
            <a:off x="685800" y="29317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KeyError가 나면 실제 헤더를 비교합니다.</a:t>
            </a:r>
          </a:p>
        </p:txBody>
      </p:sp>
      <p:sp>
        <p:nvSpPr>
          <p:cNvPr id="6" name="">
            <a:extLst>
              <a:ext uri="{FF2B5EF4-FFF2-40B4-BE49-F238E27FC236}">
                <ns2:creationId id="{384F72E0-9ACE-4DE4-A05A-8A0D3ED1F0D5}"/>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CSV를 읽은 뒤의 값</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899138"/>
                <a:gridCol w="2339612"/>
              </a:tblGrid>
              <a:tr h="514350">
                <a:tc>
                  <a:txBody>
                    <a:bodyPr wrap="square"/>
                    <a:lstStyle/>
                    <a:p>
                      <a:pPr>
                        <a:lnSpc>
                          <a:spcPct val="102000"/>
                        </a:lnSpc>
                        <a:buNone/>
                      </a:pPr>
                      <a:r>
                        <a:rPr sz="1875" b="1">
                          <a:solidFill>
                            <a:srgbClr val="172F39"/>
                          </a:solidFill>
                          <a:latin typeface="Noto Sans KR"/>
                          <a:ea typeface="Noto Sans KR"/>
                          <a:cs typeface="Noto Sans KR"/>
                        </a:rPr>
                        <a:t>확인</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데이터 행 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첫 sensor_id</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S01</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첫 temperature_c</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"22.5" 문자열</a:t>
                      </a:r>
                    </a:p>
                  </a:txBody>
                  <a:tcPr marL="114300" marR="114300" marT="76200" marB="76200" anchor="ctr">
                    <a:solidFill>
                      <a:srgbClr val="FFFFFF"/>
                    </a:solidFill>
                  </a:tcPr>
                </a:tc>
              </a:tr>
            </a:tbl>
          </a:graphicData>
        </a:graphic>
      </p:graphicFrame>
      <p:sp>
        <p:nvSpPr>
          <p:cNvPr id="8" name="">
            <a:extLst>
              <a:ext uri="{FF2B5EF4-FFF2-40B4-BE49-F238E27FC236}">
                <ns2:creationId id="{D29FEFEC-DD05-4CC1-B09D-3E63AF3091FC}"/>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74939E0A-ADAB-4EF5-9366-0EAF8C9E52F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A8D0BB83-B557-4A48-B0F0-0216D68FC49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CEBBD6D1-9910-43A9-970E-8FC12B2078F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8C099750-8F4F-48D3-97FD-9EEF41E7A43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042</a:t>
            </a:r>
          </a:p>
        </p:txBody>
      </p:sp>
    </p:spTree>
    <p:extLst>
      <p:ext uri="{BB962C8B-B14F-4D97-AF65-F5344CB8AC3E}">
        <ns4:creationId val="417449673"/>
      </p:ext>
    </p:extLst>
  </p:cSld>
</p:sld>
</file>

<file path=ppt/slides/slide4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3" name="">
            <a:extLst>
              <a:ext uri="{FF2B5EF4-FFF2-40B4-BE49-F238E27FC236}">
                <ns2:creationId id="{77A6344D-FD39-4571-95CC-57ABD157C7E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D985C17A-0876-4BFA-B33B-77B6A489B02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완성 예 · 요약 JSON 저장</a:t>
            </a:r>
          </a:p>
        </p:txBody>
      </p:sp>
      <p:sp>
        <p:nvSpPr>
          <p:cNvPr id="3" name="">
            <a:extLst>
              <a:ext uri="{FF2B5EF4-FFF2-40B4-BE49-F238E27FC236}">
                <ns2:creationId id="{202AF953-34D1-4C99-B7C3-8D6868CE7464}"/>
              </a:ext>
            </a:extLst>
          </p:cNvPr>
          <p:cNvSpPr>
            <a:spLocks noGrp="1"/>
          </p:cNvSpPr>
          <p:nvPr/>
        </p:nvSpPr>
        <p:spPr>
          <a:xfrm>
            <a:off x="685800" y="1809750"/>
            <a:ext cx="10820400" cy="2542794"/>
          </a:xfrm>
          <a:prstGeom prst="rect">
            <a:avLst/>
          </a:prstGeom>
          <a:solidFill>
            <a:srgbClr val="F1F6F5"/>
          </a:solidFill>
          <a:ln w="0">
            <a:noFill/>
          </a:ln>
        </p:spPr>
      </p:sp>
      <p:sp>
        <p:nvSpPr>
          <p:cNvPr id="4" name="">
            <a:extLst>
              <a:ext uri="{FF2B5EF4-FFF2-40B4-BE49-F238E27FC236}">
                <ns2:creationId id="{2CC9A0BD-5022-40C5-8B07-FD5E89D7F233}"/>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D8C388D6-FB94-463D-80DC-936742ACFE0E}"/>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import json</a:t>
            </a:r>
          </a:p>
        </p:txBody>
      </p:sp>
      <p:sp>
        <p:nvSpPr>
          <p:cNvPr id="6" name="">
            <a:extLst>
              <a:ext uri="{FF2B5EF4-FFF2-40B4-BE49-F238E27FC236}">
                <ns2:creationId id="{7B0371CC-4608-4357-9413-474D6F80EB52}"/>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B15A3314-1963-419E-807E-486E0CE7E1B7}"/>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summary = {"건수": 4, "미측정": 1}</a:t>
            </a:r>
          </a:p>
        </p:txBody>
      </p:sp>
      <p:sp>
        <p:nvSpPr>
          <p:cNvPr id="8" name="">
            <a:extLst>
              <a:ext uri="{FF2B5EF4-FFF2-40B4-BE49-F238E27FC236}">
                <ns2:creationId id="{F85EF4D5-1C2F-4623-807E-A7705CFCF77B}"/>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31AA5C7D-CB63-4283-9DCE-C24E158E914F}"/>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text = json.dumps(summary, ensure_ascii=False)</a:t>
            </a:r>
          </a:p>
        </p:txBody>
      </p:sp>
      <p:sp>
        <p:nvSpPr>
          <p:cNvPr id="10" name="">
            <a:extLst>
              <a:ext uri="{FF2B5EF4-FFF2-40B4-BE49-F238E27FC236}">
                <ns2:creationId id="{E731281D-719A-4213-B756-98E811F6090E}"/>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64AB74D3-25E8-4903-979A-A0630CE67844}"/>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with open("work/output_summary.json", "w",</a:t>
            </a:r>
          </a:p>
        </p:txBody>
      </p:sp>
      <p:sp>
        <p:nvSpPr>
          <p:cNvPr id="12" name="">
            <a:extLst>
              <a:ext uri="{FF2B5EF4-FFF2-40B4-BE49-F238E27FC236}">
                <ns2:creationId id="{09358BFE-4C0D-4515-8DDF-D3C82F82E997}"/>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586C771C-2D12-4D77-B4BC-2777B20EDC51}"/>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encoding="utf-8") as file:</a:t>
            </a:r>
          </a:p>
        </p:txBody>
      </p:sp>
      <p:sp>
        <p:nvSpPr>
          <p:cNvPr id="14" name="">
            <a:extLst>
              <a:ext uri="{FF2B5EF4-FFF2-40B4-BE49-F238E27FC236}">
                <ns2:creationId id="{F165E94D-CD7B-443D-8CB8-77A70846C113}"/>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A8D5A3AD-0254-4F73-A242-55AC2AA19F37}"/>
              </a:ext>
            </a:extLst>
          </p:cNvPr>
          <p:cNvSpPr>
            <a:spLocks noGrp="1"/>
          </p:cNvSpPr>
          <p:nvPr/>
        </p:nvSpPr>
        <p:spPr>
          <a:xfrm>
            <a:off x="1276350" y="351853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file.write(text)</a:t>
            </a:r>
          </a:p>
        </p:txBody>
      </p:sp>
      <p:sp>
        <p:nvSpPr>
          <p:cNvPr id="16" name="">
            <a:extLst>
              <a:ext uri="{FF2B5EF4-FFF2-40B4-BE49-F238E27FC236}">
                <ns2:creationId id="{A1E2D7A7-B6E9-4109-9926-B6D408DCE609}"/>
              </a:ext>
            </a:extLst>
          </p:cNvPr>
          <p:cNvSpPr>
            <a:spLocks noGrp="1"/>
          </p:cNvSpPr>
          <p:nvPr/>
        </p:nvSpPr>
        <p:spPr>
          <a:xfrm>
            <a:off x="828675" y="387362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07</a:t>
            </a:r>
          </a:p>
        </p:txBody>
      </p:sp>
      <p:sp>
        <p:nvSpPr>
          <p:cNvPr id="17" name="">
            <a:extLst>
              <a:ext uri="{FF2B5EF4-FFF2-40B4-BE49-F238E27FC236}">
                <ns2:creationId id="{06CBC0E2-A7C9-426C-BA79-02225A59EFCC}"/>
              </a:ext>
            </a:extLst>
          </p:cNvPr>
          <p:cNvSpPr>
            <a:spLocks noGrp="1"/>
          </p:cNvSpPr>
          <p:nvPr/>
        </p:nvSpPr>
        <p:spPr>
          <a:xfrm>
            <a:off x="1276350" y="383552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print(summary["건수"], summary["미측정"])</a:t>
            </a:r>
          </a:p>
        </p:txBody>
      </p:sp>
      <p:sp>
        <p:nvSpPr>
          <p:cNvPr id="18" name="">
            <a:extLst>
              <a:ext uri="{FF2B5EF4-FFF2-40B4-BE49-F238E27FC236}">
                <ns2:creationId id="{F82001E0-536A-4EEC-AF71-5DD8794F1D8A}"/>
              </a:ext>
            </a:extLst>
          </p:cNvPr>
          <p:cNvSpPr>
            <a:spLocks noGrp="1"/>
          </p:cNvSpPr>
          <p:nvPr/>
        </p:nvSpPr>
        <p:spPr>
          <a:xfrm>
            <a:off x="685800" y="6172200"/>
            <a:ext cx="10820400" cy="9525"/>
          </a:xfrm>
          <a:prstGeom prst="rect">
            <a:avLst/>
          </a:prstGeom>
          <a:solidFill>
            <a:srgbClr val="D5DEDD"/>
          </a:solidFill>
          <a:ln w="0">
            <a:noFill/>
          </a:ln>
        </p:spPr>
      </p:sp>
      <p:sp>
        <p:nvSpPr>
          <p:cNvPr id="19" name="">
            <a:extLst>
              <a:ext uri="{FF2B5EF4-FFF2-40B4-BE49-F238E27FC236}">
                <ns2:creationId id="{32FD39D1-749F-4FDD-816D-B291BDE2C46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0" name="">
            <a:extLst>
              <a:ext uri="{FF2B5EF4-FFF2-40B4-BE49-F238E27FC236}">
                <ns2:creationId id="{661F2637-ABCB-4420-BC4B-C048850AF9A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1" name="">
            <a:extLst>
              <a:ext uri="{FF2B5EF4-FFF2-40B4-BE49-F238E27FC236}">
                <ns2:creationId id="{2D9523F6-93E7-4D05-B495-784CF0CC991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2" name="">
            <a:extLst>
              <a:ext uri="{FF2B5EF4-FFF2-40B4-BE49-F238E27FC236}">
                <ns2:creationId id="{5939DA60-35D4-4F56-BF53-20BCC520E03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043</a:t>
            </a:r>
          </a:p>
        </p:txBody>
      </p:sp>
    </p:spTree>
    <p:extLst>
      <p:ext uri="{BB962C8B-B14F-4D97-AF65-F5344CB8AC3E}">
        <ns4:creationId val="1018471952"/>
      </p:ext>
    </p:extLst>
  </p:cSld>
</p:sld>
</file>

<file path=ppt/slides/slide4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4AEEDB4E-52A5-48A6-A4B6-679B9CFC7B6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A93CD398-CB7D-4D6F-A866-0CF058B53F6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저장한 파일을 다시 확인합니다</a:t>
            </a:r>
          </a:p>
        </p:txBody>
      </p:sp>
      <p:sp>
        <p:nvSpPr>
          <p:cNvPr id="3" name="">
            <a:extLst>
              <a:ext uri="{FF2B5EF4-FFF2-40B4-BE49-F238E27FC236}">
                <ns2:creationId id="{FBE25CEE-74DA-4C4C-AD98-40652E92486D}"/>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화면 출력</a:t>
            </a:r>
          </a:p>
        </p:txBody>
      </p:sp>
      <p:sp>
        <p:nvSpPr>
          <p:cNvPr id="4" name="">
            <a:extLst>
              <a:ext uri="{FF2B5EF4-FFF2-40B4-BE49-F238E27FC236}">
                <ns2:creationId id="{1AA9F2FC-F638-4FED-9135-7194508094C8}"/>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화면의 4 1은 출력입니다.</a:t>
            </a:r>
          </a:p>
        </p:txBody>
      </p:sp>
      <p:sp>
        <p:nvSpPr>
          <p:cNvPr id="5" name="">
            <a:extLst>
              <a:ext uri="{FF2B5EF4-FFF2-40B4-BE49-F238E27FC236}">
                <ns2:creationId id="{B59D3DD1-E6E6-4919-87DD-88063CB8B02A}"/>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파일 저장</a:t>
            </a:r>
          </a:p>
        </p:txBody>
      </p:sp>
      <p:sp>
        <p:nvSpPr>
          <p:cNvPr id="6" name="">
            <a:extLst>
              <a:ext uri="{FF2B5EF4-FFF2-40B4-BE49-F238E27FC236}">
                <ns2:creationId id="{F17C4F8B-C72C-4516-B1BB-1F3AE3686DB1}"/>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work/output_summary.json은 저장 결과입니다.</a:t>
            </a:r>
          </a:p>
        </p:txBody>
      </p:sp>
      <p:sp>
        <p:nvSpPr>
          <p:cNvPr id="7" name="">
            <a:extLst>
              <a:ext uri="{FF2B5EF4-FFF2-40B4-BE49-F238E27FC236}">
                <ns2:creationId id="{2CBE2AB2-8AA8-4991-9120-4366243A044E}"/>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6021F375-D5FF-4A8B-BA29-1A4EA2F2AAD0}"/>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다시 열어 숫자와 키가 기대와 같은지 봅니다.</a:t>
            </a:r>
          </a:p>
        </p:txBody>
      </p:sp>
      <p:sp>
        <p:nvSpPr>
          <p:cNvPr id="9" name="">
            <a:extLst>
              <a:ext uri="{FF2B5EF4-FFF2-40B4-BE49-F238E27FC236}">
                <ns2:creationId id="{221B27A3-6316-4271-B408-CFF9DC59B57D}"/>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F2BE568A-8FDC-4388-B7C6-E7583C1119F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45253425-6A10-4BFF-8FCA-004827A64AB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AAC00251-EB92-4001-93A0-08BA37DAE56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4D228BC6-6161-4585-8BB4-E46A5202EB3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044</a:t>
            </a:r>
          </a:p>
        </p:txBody>
      </p:sp>
    </p:spTree>
    <p:extLst>
      <p:ext uri="{BB962C8B-B14F-4D97-AF65-F5344CB8AC3E}">
        <ns4:creationId val="179360093"/>
      </p:ext>
    </p:extLst>
  </p:cSld>
</p:sld>
</file>

<file path=ppt/slides/slide4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40EEF31D-0E4F-4D4C-8ACF-44B15EE1C2A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44D55D39-1F92-467D-BA2B-326EC4149D7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CSV 문자열을 JSON 수치로</a:t>
            </a:r>
          </a:p>
        </p:txBody>
      </p:sp>
      <p:sp>
        <p:nvSpPr>
          <p:cNvPr id="3" name="">
            <a:extLst>
              <a:ext uri="{FF2B5EF4-FFF2-40B4-BE49-F238E27FC236}">
                <ns2:creationId id="{03430CA9-C4B9-4048-BB6C-515476AAED7F}"/>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1">
                <a:solidFill>
                  <a:srgbClr val="172F39"/>
                </a:solidFill>
                <a:latin typeface="Noto Sans KR"/>
                <a:ea typeface="Noto Sans KR"/>
                <a:cs typeface="Noto Sans KR"/>
              </a:defRPr>
            </a:pPr>
            <a:r>
              <a:t>CSV 원문 "20.5"를 읽어 JSON 요약을 만듭니다.</a:t>
            </a:r>
          </a:p>
        </p:txBody>
      </p:sp>
      <p:sp>
        <p:nvSpPr>
          <p:cNvPr id="4" name="">
            <a:extLst>
              <a:ext uri="{FF2B5EF4-FFF2-40B4-BE49-F238E27FC236}">
                <ns2:creationId id="{0E668D93-D10A-49B7-819B-CB5FBAE36F99}"/>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읽기·변환·요약·저장</a:t>
            </a:r>
          </a:p>
        </p:txBody>
      </p:sp>
      <p:graphicFrame>
        <p:nvGraphicFramePr>
          <p:cNvPr id="15" name=""/>
          <p:cNvGraphicFramePr/>
          <p:nvPr/>
        </p:nvGraphicFramePr>
        <p:xfrm>
          <a:off x="6267450" y="2628900"/>
          <a:ext cx="5238750" cy="2571750"/>
        </p:xfrm>
        <a:graphic>
          <a:graphicData uri="http://schemas.openxmlformats.org/drawingml/2006/table">
            <a:tbl>
              <a:tblPr firstRow="1" bandRow="0"/>
              <a:tblGrid>
                <a:gridCol w="1828053"/>
                <a:gridCol w="3410697"/>
              </a:tblGrid>
              <a:tr h="514350">
                <a:tc>
                  <a:txBody>
                    <a:bodyPr wrap="square"/>
                    <a:lstStyle/>
                    <a:p>
                      <a:pPr>
                        <a:lnSpc>
                          <a:spcPct val="102000"/>
                        </a:lnSpc>
                        <a:buNone/>
                      </a:pPr>
                      <a:r>
                        <a:rPr sz="1875" b="1">
                          <a:solidFill>
                            <a:srgbClr val="172F39"/>
                          </a:solidFill>
                          <a:latin typeface="Noto Sans KR"/>
                          <a:ea typeface="Noto Sans KR"/>
                          <a:cs typeface="Noto Sans KR"/>
                        </a:rPr>
                        <a:t>단계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값·뜻</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CSV 읽기</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"20.5" 문자열</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수치 해석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20.5 실수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요약 표현</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count 1, average 20.5</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저장</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입력과 다른 결과 주소</a:t>
                      </a:r>
                    </a:p>
                  </a:txBody>
                  <a:tcPr marL="114300" marR="114300" marT="76200" marB="76200" anchor="ctr">
                    <a:solidFill>
                      <a:srgbClr val="FFFFFF"/>
                    </a:solidFill>
                  </a:tcPr>
                </a:tc>
              </a:tr>
            </a:tbl>
          </a:graphicData>
        </a:graphic>
      </p:graphicFrame>
      <p:sp>
        <p:nvSpPr>
          <p:cNvPr id="6" name="">
            <a:extLst>
              <a:ext uri="{FF2B5EF4-FFF2-40B4-BE49-F238E27FC236}">
                <ns2:creationId id="{177A70D4-1092-46EA-9578-27C43F7FCC2B}"/>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A8DD609D-FCF6-4112-BB21-71FC76C7906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189ABBCB-4D7F-4F26-A3B5-80D49B18383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184FDCC9-C8C1-4D0D-BF74-48A78114B8C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3F4F7FD1-F421-4CDE-A32A-1D37685654A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045</a:t>
            </a:r>
          </a:p>
        </p:txBody>
      </p:sp>
    </p:spTree>
    <p:extLst>
      <p:ext uri="{BB962C8B-B14F-4D97-AF65-F5344CB8AC3E}">
        <ns4:creationId val="403002715"/>
      </p:ext>
    </p:extLst>
  </p:cSld>
</p:sld>
</file>

<file path=ppt/slides/slide4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A001C110-71C4-4390-9DD3-B0B4B52393B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B4919FD6-D809-4784-9060-B04C552F277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읽기·변환·요약·저장</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3775761"/>
                <a:gridCol w="7044639"/>
              </a:tblGrid>
              <a:tr h="536448">
                <a:tc>
                  <a:txBody>
                    <a:bodyPr wrap="square"/>
                    <a:lstStyle/>
                    <a:p>
                      <a:pPr>
                        <a:lnSpc>
                          <a:spcPct val="102000"/>
                        </a:lnSpc>
                        <a:buNone/>
                      </a:pPr>
                      <a:r>
                        <a:rPr sz="2025" b="1">
                          <a:solidFill>
                            <a:srgbClr val="172F39"/>
                          </a:solidFill>
                          <a:latin typeface="Noto Sans KR"/>
                          <a:ea typeface="Noto Sans KR"/>
                          <a:cs typeface="Noto Sans KR"/>
                        </a:rPr>
                        <a:t>단계</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값·뜻</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CSV 읽기</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"20.5" 문자열</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수치 해석</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20.5 실수</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요약 표현</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count 1, average 20.5</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저장</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입력과 다른 결과 주소</a:t>
                      </a:r>
                    </a:p>
                  </a:txBody>
                  <a:tcPr marL="114300" marR="114300" marT="76200" marB="76200" anchor="ctr">
                    <a:solidFill>
                      <a:srgbClr val="FFFFFF"/>
                    </a:solidFill>
                  </a:tcPr>
                </a:tc>
              </a:tr>
            </a:tbl>
          </a:graphicData>
        </a:graphic>
      </p:graphicFrame>
      <p:sp>
        <p:nvSpPr>
          <p:cNvPr id="4" name="">
            <a:extLst>
              <a:ext uri="{FF2B5EF4-FFF2-40B4-BE49-F238E27FC236}">
                <ns2:creationId id="{5BAF542F-8069-41D1-A61F-082E22E0F2F7}"/>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95B881BC-B4DF-44E1-A1B4-B41EBB95A98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8DB5D706-37F1-48E0-985D-94A6991C980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0C1520B0-F2B3-463D-AF7D-8A62A761BF2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03647F88-1348-47FD-9003-DA02C4B9C4A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046</a:t>
            </a:r>
          </a:p>
        </p:txBody>
      </p:sp>
    </p:spTree>
    <p:extLst>
      <p:ext uri="{BB962C8B-B14F-4D97-AF65-F5344CB8AC3E}">
        <ns4:creationId val="269404677"/>
      </p:ext>
    </p:extLst>
  </p:cSld>
</p:sld>
</file>

<file path=ppt/slides/slide4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4FD2629D-5E4E-4321-9ED9-6A1EA7D3967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306617FB-E2E3-4974-9B67-F219BDED8C0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 새 문제</a:t>
            </a:r>
          </a:p>
        </p:txBody>
      </p:sp>
      <p:sp>
        <p:nvSpPr>
          <p:cNvPr id="3" name="">
            <a:extLst>
              <a:ext uri="{FF2B5EF4-FFF2-40B4-BE49-F238E27FC236}">
                <ns2:creationId id="{0508D192-2A4F-40C0-82AA-6830CEC22D51}"/>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 복습: 헤더는 device_id,value입니다.</a:t>
            </a:r>
          </a:p>
        </p:txBody>
      </p:sp>
      <p:sp>
        <p:nvSpPr>
          <p:cNvPr id="4" name="">
            <a:extLst>
              <a:ext uri="{FF2B5EF4-FFF2-40B4-BE49-F238E27FC236}">
                <ns2:creationId id="{6C8055E6-6BC9-4FEE-A459-ED3D254F56FF}"/>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temperature_c를 찾다가 실패했습니다.</a:t>
            </a:r>
          </a:p>
        </p:txBody>
      </p:sp>
      <p:sp>
        <p:nvSpPr>
          <p:cNvPr id="5" name="">
            <a:extLst>
              <a:ext uri="{FF2B5EF4-FFF2-40B4-BE49-F238E27FC236}">
                <ns2:creationId id="{64F6B816-59B5-4A43-B866-AE0DBB501F49}"/>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어느 단계인지와 수정 계획을 적으세요.</a:t>
            </a:r>
          </a:p>
        </p:txBody>
      </p:sp>
      <p:sp>
        <p:nvSpPr>
          <p:cNvPr id="6" name="">
            <a:extLst>
              <a:ext uri="{FF2B5EF4-FFF2-40B4-BE49-F238E27FC236}">
                <ns2:creationId id="{26A3070E-0A95-4DFA-A1F4-BB1EE6CD45C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586172F9-6DAF-4C79-81B8-F76B304D12F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AAB80E5E-7ED6-4905-ADB7-7B405A9F22E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423C5B2F-9AB4-4CAA-8880-EA09BA134E4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492E487B-E450-47A8-8B02-304AD05BF92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047</a:t>
            </a:r>
          </a:p>
        </p:txBody>
      </p:sp>
    </p:spTree>
    <p:extLst>
      <p:ext uri="{BB962C8B-B14F-4D97-AF65-F5344CB8AC3E}">
        <ns4:creationId val="934578815"/>
      </p:ext>
    </p:extLst>
  </p:cSld>
</p:sld>
</file>

<file path=ppt/slides/slide4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79B86215-8A96-418F-B043-74B711460CF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77C716E9-FAB1-4B22-93F0-FC023FA7A26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파일 위치보다 열 이름 확인</a:t>
            </a:r>
          </a:p>
        </p:txBody>
      </p:sp>
      <p:sp>
        <p:nvSpPr>
          <p:cNvPr id="3" name="">
            <a:extLst>
              <a:ext uri="{FF2B5EF4-FFF2-40B4-BE49-F238E27FC236}">
                <ns2:creationId id="{57D8A2FF-B98A-4CC4-831A-FE463C90BF0E}"/>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헤더를 찾는 단계의 문제입니다.</a:t>
            </a:r>
          </a:p>
        </p:txBody>
      </p:sp>
      <p:sp>
        <p:nvSpPr>
          <p:cNvPr id="4" name="">
            <a:extLst>
              <a:ext uri="{FF2B5EF4-FFF2-40B4-BE49-F238E27FC236}">
                <ns2:creationId id="{A59E829E-3C65-406D-BBB6-AD8A12612E99}"/>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정해 둔 열 이름과 실제 헤더를 확인하고 코드의 키를 맞춥니다.</a:t>
            </a:r>
          </a:p>
        </p:txBody>
      </p:sp>
      <p:sp>
        <p:nvSpPr>
          <p:cNvPr id="5" name="">
            <a:extLst>
              <a:ext uri="{FF2B5EF4-FFF2-40B4-BE49-F238E27FC236}">
                <ns2:creationId id="{3721805C-E4E3-4026-A016-D54366BD9933}"/>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복습 · 새 문제</a:t>
            </a:r>
          </a:p>
        </p:txBody>
      </p:sp>
      <p:sp>
        <p:nvSpPr>
          <p:cNvPr id="6" name="">
            <a:extLst>
              <a:ext uri="{FF2B5EF4-FFF2-40B4-BE49-F238E27FC236}">
                <ns2:creationId id="{A1E9CDCA-3427-43C7-B712-F67F3ED7541E}"/>
              </a:ext>
            </a:extLst>
          </p:cNvPr>
          <p:cNvSpPr>
            <a:spLocks noGrp="1"/>
          </p:cNvSpPr>
          <p:nvPr/>
        </p:nvSpPr>
        <p:spPr>
          <a:xfrm>
            <a:off x="6267450" y="2628900"/>
            <a:ext cx="5238750" cy="766191"/>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추가 복습: 헤더는 device_id,value입니다.</a:t>
            </a:r>
          </a:p>
        </p:txBody>
      </p:sp>
      <p:sp>
        <p:nvSpPr>
          <p:cNvPr id="7" name="">
            <a:extLst>
              <a:ext uri="{FF2B5EF4-FFF2-40B4-BE49-F238E27FC236}">
                <ns2:creationId id="{13D80835-90D2-42B3-B03F-82D31C118CB0}"/>
              </a:ext>
            </a:extLst>
          </p:cNvPr>
          <p:cNvSpPr>
            <a:spLocks noGrp="1"/>
          </p:cNvSpPr>
          <p:nvPr/>
        </p:nvSpPr>
        <p:spPr>
          <a:xfrm>
            <a:off x="6267450" y="3442716"/>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temperature_c를 찾다가 실패했습니다.</a:t>
            </a:r>
          </a:p>
        </p:txBody>
      </p:sp>
      <p:sp>
        <p:nvSpPr>
          <p:cNvPr id="8" name="">
            <a:extLst>
              <a:ext uri="{FF2B5EF4-FFF2-40B4-BE49-F238E27FC236}">
                <ns2:creationId id="{EC52B5F0-7FB0-4BA7-B850-2EBF8427FBA3}"/>
              </a:ext>
            </a:extLst>
          </p:cNvPr>
          <p:cNvSpPr>
            <a:spLocks noGrp="1"/>
          </p:cNvSpPr>
          <p:nvPr/>
        </p:nvSpPr>
        <p:spPr>
          <a:xfrm>
            <a:off x="6267450" y="3930586"/>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어느 단계인지와 수정 계획을 적으세요.</a:t>
            </a:r>
          </a:p>
        </p:txBody>
      </p:sp>
      <p:sp>
        <p:nvSpPr>
          <p:cNvPr id="9" name="">
            <a:extLst>
              <a:ext uri="{FF2B5EF4-FFF2-40B4-BE49-F238E27FC236}">
                <ns2:creationId id="{0758CC41-24A6-46C0-8E7B-8C279995A8AD}"/>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2F9C7DAA-9BAF-4B8F-A5DB-494F00B7CE4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DDA4AB75-A851-48D3-B894-92270F8D5E1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24DA1CE4-F4A2-4D28-8F53-8D57534E96E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83C9E8D6-C3E2-410E-ABFF-8C15C2844B1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048</a:t>
            </a:r>
          </a:p>
        </p:txBody>
      </p:sp>
    </p:spTree>
    <p:extLst>
      <p:ext uri="{BB962C8B-B14F-4D97-AF65-F5344CB8AC3E}">
        <ns4:creationId val="863944233"/>
      </p:ext>
    </p:extLst>
  </p:cSld>
</p:sld>
</file>

<file path=ppt/slides/slide4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CE02AAEB-E3A0-4043-A98F-946480952A3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23B8A08C-9E66-408D-BEB9-0133B4B39BD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먼저 할 일 · 입력과 결과 파일</a:t>
            </a:r>
          </a:p>
        </p:txBody>
      </p:sp>
      <p:sp>
        <p:nvSpPr>
          <p:cNvPr id="3" name="">
            <a:extLst>
              <a:ext uri="{FF2B5EF4-FFF2-40B4-BE49-F238E27FC236}">
                <ns2:creationId id="{6FB8C705-4D49-4E1F-B618-12CFA7851611}"/>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A07 원자료 주소를 확인합니다.</a:t>
            </a:r>
          </a:p>
        </p:txBody>
      </p:sp>
      <p:sp>
        <p:nvSpPr>
          <p:cNvPr id="4" name="">
            <a:extLst>
              <a:ext uri="{FF2B5EF4-FFF2-40B4-BE49-F238E27FC236}">
                <ns2:creationId id="{DE558A52-BAFB-46CD-9A82-AD2CAF67433E}"/>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A08 값의 저장 종류를 읽습니다.</a:t>
            </a:r>
          </a:p>
        </p:txBody>
      </p:sp>
      <p:sp>
        <p:nvSpPr>
          <p:cNvPr id="5" name="">
            <a:extLst>
              <a:ext uri="{FF2B5EF4-FFF2-40B4-BE49-F238E27FC236}">
                <ns2:creationId id="{922B6F15-745E-4918-9759-A365DD102BAE}"/>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A09 저장 결과를 다시 확인합니다.</a:t>
            </a:r>
          </a:p>
        </p:txBody>
      </p:sp>
      <p:sp>
        <p:nvSpPr>
          <p:cNvPr id="6" name="">
            <a:extLst>
              <a:ext uri="{FF2B5EF4-FFF2-40B4-BE49-F238E27FC236}">
                <ns2:creationId id="{75FBABF5-B020-4965-856B-2889C9B6D6E3}"/>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F1F0F64D-89D6-4C78-8465-E392601BE68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564ACFAD-E1DC-4630-B597-A7A0E4789DD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41C0DEA1-70A6-4C3B-B3BA-9C13CDBC5C5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3C2830B0-55E6-45C5-9E64-8575168A8B7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049</a:t>
            </a:r>
          </a:p>
        </p:txBody>
      </p:sp>
    </p:spTree>
    <p:extLst>
      <p:ext uri="{BB962C8B-B14F-4D97-AF65-F5344CB8AC3E}">
        <ns4:creationId val="1306694289"/>
      </p:ext>
    </p:extLst>
  </p:cSld>
</p:sld>
</file>

<file path=ppt/slides/slide5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50883AA5-EDDB-47B7-ACB0-292B8B51319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7CD09549-EAE1-4976-9D76-8327A28E13B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3교시 확인</a:t>
            </a:r>
          </a:p>
        </p:txBody>
      </p:sp>
      <p:sp>
        <p:nvSpPr>
          <p:cNvPr id="3" name="">
            <a:extLst>
              <a:ext uri="{FF2B5EF4-FFF2-40B4-BE49-F238E27FC236}">
                <ns2:creationId id="{9E3E2EBB-E8CE-4CD0-8E15-F647060EDF2A}"/>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파일 위치, 열 이름, 입력값 중 어디에 문제가 있는지 확인합니다.</a:t>
            </a:r>
          </a:p>
        </p:txBody>
      </p:sp>
      <p:sp>
        <p:nvSpPr>
          <p:cNvPr id="4" name="">
            <a:extLst>
              <a:ext uri="{FF2B5EF4-FFF2-40B4-BE49-F238E27FC236}">
                <ns2:creationId id="{AEFFD263-22EA-41AC-B2CD-A56B9CF2E9B4}"/>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기본 CSV 읽기에서는 각 칸의 값을 문자열로 가져옵니다.</a:t>
            </a:r>
          </a:p>
        </p:txBody>
      </p:sp>
      <p:sp>
        <p:nvSpPr>
          <p:cNvPr id="5" name="">
            <a:extLst>
              <a:ext uri="{FF2B5EF4-FFF2-40B4-BE49-F238E27FC236}">
                <ns2:creationId id="{F60085C6-52B9-43DF-9256-28B89F45D4CF}"/>
              </a:ext>
            </a:extLst>
          </p:cNvPr>
          <p:cNvSpPr>
            <a:spLocks noGrp="1"/>
          </p:cNvSpPr>
          <p:nvPr/>
        </p:nvSpPr>
        <p:spPr>
          <a:xfrm>
            <a:off x="685800" y="360616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출력과 파일 저장을 구별합니다.</a:t>
            </a:r>
          </a:p>
        </p:txBody>
      </p:sp>
      <p:sp>
        <p:nvSpPr>
          <p:cNvPr id="6" name="">
            <a:extLst>
              <a:ext uri="{FF2B5EF4-FFF2-40B4-BE49-F238E27FC236}">
                <ns2:creationId id="{65C2BD74-2332-4ED0-816E-4F7DD7EFD85B}"/>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읽기·변환·요약·저장</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1828053"/>
                <a:gridCol w="3410697"/>
              </a:tblGrid>
              <a:tr h="514350">
                <a:tc>
                  <a:txBody>
                    <a:bodyPr wrap="square"/>
                    <a:lstStyle/>
                    <a:p>
                      <a:pPr>
                        <a:lnSpc>
                          <a:spcPct val="102000"/>
                        </a:lnSpc>
                        <a:buNone/>
                      </a:pPr>
                      <a:r>
                        <a:rPr sz="1875" b="1">
                          <a:solidFill>
                            <a:srgbClr val="172F39"/>
                          </a:solidFill>
                          <a:latin typeface="Noto Sans KR"/>
                          <a:ea typeface="Noto Sans KR"/>
                          <a:cs typeface="Noto Sans KR"/>
                        </a:rPr>
                        <a:t>단계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값·뜻</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CSV 읽기</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"20.5" 문자열</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수치 해석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20.5 실수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요약 표현</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count 1, average 20.5</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저장</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입력과 다른 결과 주소</a:t>
                      </a:r>
                    </a:p>
                  </a:txBody>
                  <a:tcPr marL="114300" marR="114300" marT="76200" marB="76200" anchor="ctr">
                    <a:solidFill>
                      <a:srgbClr val="FFFFFF"/>
                    </a:solidFill>
                  </a:tcPr>
                </a:tc>
              </a:tr>
            </a:tbl>
          </a:graphicData>
        </a:graphic>
      </p:graphicFrame>
      <p:sp>
        <p:nvSpPr>
          <p:cNvPr id="8" name="">
            <a:extLst>
              <a:ext uri="{FF2B5EF4-FFF2-40B4-BE49-F238E27FC236}">
                <ns2:creationId id="{5795AF12-CF7A-4222-A3DA-A1679D78E32F}"/>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88643BAA-B345-4EF9-8B75-8CC6D9F6921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19FE650B-0BA4-43BA-8203-FEB64310027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8EC8A2C5-6F89-42AE-80DB-25446C1823D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9E1BF9BE-A374-4A6D-900C-69017AB1B52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050</a:t>
            </a:r>
          </a:p>
        </p:txBody>
      </p:sp>
    </p:spTree>
    <p:extLst>
      <p:ext uri="{BB962C8B-B14F-4D97-AF65-F5344CB8AC3E}">
        <ns4:creationId val="1724289327"/>
      </p:ext>
    </p:extLst>
  </p:cSld>
</p:sld>
</file>

<file path=ppt/slides/slide5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46DF090D-738B-4575-9A98-E0F2776E86E6}"/>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4교시</a:t>
            </a:r>
          </a:p>
        </p:txBody>
      </p:sp>
      <p:sp>
        <p:nvSpPr>
          <p:cNvPr id="2" name="">
            <a:extLst>
              <a:ext uri="{FF2B5EF4-FFF2-40B4-BE49-F238E27FC236}">
                <ns2:creationId id="{2B015992-F40A-4BDF-81A9-35988B99CF58}"/>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오류를 단서로 읽기</a:t>
            </a:r>
          </a:p>
        </p:txBody>
      </p:sp>
      <p:sp>
        <p:nvSpPr>
          <p:cNvPr id="3" name="">
            <a:extLst>
              <a:ext uri="{FF2B5EF4-FFF2-40B4-BE49-F238E27FC236}">
                <ns2:creationId id="{6FA4BF43-04FA-4291-BE4B-CABA066CD494}"/>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14:00~14:50 · 50분</a:t>
            </a:r>
          </a:p>
        </p:txBody>
      </p:sp>
      <p:sp>
        <p:nvSpPr>
          <p:cNvPr id="4" name="">
            <a:extLst>
              <a:ext uri="{FF2B5EF4-FFF2-40B4-BE49-F238E27FC236}">
                <ns2:creationId id="{3FF01005-4E29-4A26-AECC-C7D4FCDC9457}"/>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먼저 할 활동: A10, A11, A12</a:t>
            </a:r>
          </a:p>
        </p:txBody>
      </p:sp>
      <p:sp>
        <p:nvSpPr>
          <p:cNvPr id="5" name="">
            <a:extLst>
              <a:ext uri="{FF2B5EF4-FFF2-40B4-BE49-F238E27FC236}">
                <ns2:creationId id="{CA144077-0758-4BED-83BF-0A92B4320DFF}"/>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필수 활동을 마쳤으면 추가 문제를 풀어 보세요.</a:t>
            </a:r>
          </a:p>
        </p:txBody>
      </p:sp>
      <p:sp>
        <p:nvSpPr>
          <p:cNvPr id="6" name="">
            <a:extLst>
              <a:ext uri="{FF2B5EF4-FFF2-40B4-BE49-F238E27FC236}">
                <ns2:creationId id="{A0E00D40-1037-4892-90B5-91C573E8F200}"/>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F8D4076B-6C3E-41EA-AD4C-0741D188B8D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CE6BF143-5045-496B-A03F-E39B3386430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FC389FFA-0B20-4BDA-B27C-039FD7B88CE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5B85C366-BD0A-4530-83FB-B8D46E89C20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051</a:t>
            </a:r>
          </a:p>
        </p:txBody>
      </p:sp>
    </p:spTree>
    <p:extLst>
      <p:ext uri="{BB962C8B-B14F-4D97-AF65-F5344CB8AC3E}">
        <ns4:creationId val="987809827"/>
      </p:ext>
    </p:extLst>
  </p:cSld>
</p:sld>
</file>

<file path=ppt/slides/slide5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3" name="">
            <a:extLst>
              <a:ext uri="{FF2B5EF4-FFF2-40B4-BE49-F238E27FC236}">
                <ns2:creationId id="{B7184E75-9520-43C5-BDAC-55054E3D4F5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8E6B0E44-552C-4820-8769-5FCF611ABE4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완성 예 · 빈값과 숫자</a:t>
            </a:r>
          </a:p>
        </p:txBody>
      </p:sp>
      <p:sp>
        <p:nvSpPr>
          <p:cNvPr id="3" name="">
            <a:extLst>
              <a:ext uri="{FF2B5EF4-FFF2-40B4-BE49-F238E27FC236}">
                <ns2:creationId id="{B51F44E6-30CE-45DE-B777-5FE25062DA6E}"/>
              </a:ext>
            </a:extLst>
          </p:cNvPr>
          <p:cNvSpPr>
            <a:spLocks noGrp="1"/>
          </p:cNvSpPr>
          <p:nvPr/>
        </p:nvSpPr>
        <p:spPr>
          <a:xfrm>
            <a:off x="685800" y="1809750"/>
            <a:ext cx="10820400" cy="2542794"/>
          </a:xfrm>
          <a:prstGeom prst="rect">
            <a:avLst/>
          </a:prstGeom>
          <a:solidFill>
            <a:srgbClr val="F1F6F5"/>
          </a:solidFill>
          <a:ln w="0">
            <a:noFill/>
          </a:ln>
        </p:spPr>
      </p:sp>
      <p:sp>
        <p:nvSpPr>
          <p:cNvPr id="4" name="">
            <a:extLst>
              <a:ext uri="{FF2B5EF4-FFF2-40B4-BE49-F238E27FC236}">
                <ns2:creationId id="{50CAC99B-F3DF-4826-ACC0-06E5A35668A1}"/>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64101320-1B40-4C2C-A267-E68959C7BCD6}"/>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def parse_temperature(raw):</a:t>
            </a:r>
          </a:p>
        </p:txBody>
      </p:sp>
      <p:sp>
        <p:nvSpPr>
          <p:cNvPr id="6" name="">
            <a:extLst>
              <a:ext uri="{FF2B5EF4-FFF2-40B4-BE49-F238E27FC236}">
                <ns2:creationId id="{F3FED452-668A-4F78-992A-3EFCC9E55C9B}"/>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5C1F96B8-3F66-42D0-B719-8C1F7B51E0D7}"/>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if raw == "":</a:t>
            </a:r>
          </a:p>
        </p:txBody>
      </p:sp>
      <p:sp>
        <p:nvSpPr>
          <p:cNvPr id="8" name="">
            <a:extLst>
              <a:ext uri="{FF2B5EF4-FFF2-40B4-BE49-F238E27FC236}">
                <ns2:creationId id="{7CD1A364-C6D8-457A-BC4C-3692165434EB}"/>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30F26C27-D005-4B5E-B879-6D0378B2382D}"/>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return None</a:t>
            </a:r>
          </a:p>
        </p:txBody>
      </p:sp>
      <p:sp>
        <p:nvSpPr>
          <p:cNvPr id="10" name="">
            <a:extLst>
              <a:ext uri="{FF2B5EF4-FFF2-40B4-BE49-F238E27FC236}">
                <ns2:creationId id="{B593421B-AD3E-4485-B9A7-87D2CED188FF}"/>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B751FD4B-CBFE-42BF-9691-8C14BE790E0E}"/>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return float(raw)</a:t>
            </a:r>
          </a:p>
        </p:txBody>
      </p:sp>
      <p:sp>
        <p:nvSpPr>
          <p:cNvPr id="12" name="">
            <a:extLst>
              <a:ext uri="{FF2B5EF4-FFF2-40B4-BE49-F238E27FC236}">
                <ns2:creationId id="{6494041D-035B-4388-B513-00231F769642}"/>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67FA2C3D-B333-4004-BA66-C4B644087CC7}"/>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print(parse_temperature("22.5"))</a:t>
            </a:r>
          </a:p>
        </p:txBody>
      </p:sp>
      <p:sp>
        <p:nvSpPr>
          <p:cNvPr id="14" name="">
            <a:extLst>
              <a:ext uri="{FF2B5EF4-FFF2-40B4-BE49-F238E27FC236}">
                <ns2:creationId id="{4C4342B1-80F4-4470-A476-E9284A66E653}"/>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BEBC3894-63DB-46D6-B576-768C3E368B09}"/>
              </a:ext>
            </a:extLst>
          </p:cNvPr>
          <p:cNvSpPr>
            <a:spLocks noGrp="1"/>
          </p:cNvSpPr>
          <p:nvPr/>
        </p:nvSpPr>
        <p:spPr>
          <a:xfrm>
            <a:off x="1276350" y="351853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print(parse_temperature(""))</a:t>
            </a:r>
          </a:p>
        </p:txBody>
      </p:sp>
      <p:sp>
        <p:nvSpPr>
          <p:cNvPr id="16" name="">
            <a:extLst>
              <a:ext uri="{FF2B5EF4-FFF2-40B4-BE49-F238E27FC236}">
                <ns2:creationId id="{816995D8-49BF-4EA5-94EE-1F383AB19C0D}"/>
              </a:ext>
            </a:extLst>
          </p:cNvPr>
          <p:cNvSpPr>
            <a:spLocks noGrp="1"/>
          </p:cNvSpPr>
          <p:nvPr/>
        </p:nvSpPr>
        <p:spPr>
          <a:xfrm>
            <a:off x="828675" y="387362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07</a:t>
            </a:r>
          </a:p>
        </p:txBody>
      </p:sp>
      <p:sp>
        <p:nvSpPr>
          <p:cNvPr id="17" name="">
            <a:extLst>
              <a:ext uri="{FF2B5EF4-FFF2-40B4-BE49-F238E27FC236}">
                <ns2:creationId id="{5ED157D8-C96B-4227-ACE0-F62641D15083}"/>
              </a:ext>
            </a:extLst>
          </p:cNvPr>
          <p:cNvSpPr>
            <a:spLocks noGrp="1"/>
          </p:cNvSpPr>
          <p:nvPr/>
        </p:nvSpPr>
        <p:spPr>
          <a:xfrm>
            <a:off x="1276350" y="383552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print(parse_temperature("0.0"))</a:t>
            </a:r>
          </a:p>
        </p:txBody>
      </p:sp>
      <p:sp>
        <p:nvSpPr>
          <p:cNvPr id="18" name="">
            <a:extLst>
              <a:ext uri="{FF2B5EF4-FFF2-40B4-BE49-F238E27FC236}">
                <ns2:creationId id="{77DE6CED-E898-44C5-AF1F-B5192FA6C3EB}"/>
              </a:ext>
            </a:extLst>
          </p:cNvPr>
          <p:cNvSpPr>
            <a:spLocks noGrp="1"/>
          </p:cNvSpPr>
          <p:nvPr/>
        </p:nvSpPr>
        <p:spPr>
          <a:xfrm>
            <a:off x="685800" y="6172200"/>
            <a:ext cx="10820400" cy="9525"/>
          </a:xfrm>
          <a:prstGeom prst="rect">
            <a:avLst/>
          </a:prstGeom>
          <a:solidFill>
            <a:srgbClr val="D5DEDD"/>
          </a:solidFill>
          <a:ln w="0">
            <a:noFill/>
          </a:ln>
        </p:spPr>
      </p:sp>
      <p:sp>
        <p:nvSpPr>
          <p:cNvPr id="19" name="">
            <a:extLst>
              <a:ext uri="{FF2B5EF4-FFF2-40B4-BE49-F238E27FC236}">
                <ns2:creationId id="{C2045AF3-5CDF-4D14-8FC9-C09C16EA705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0" name="">
            <a:extLst>
              <a:ext uri="{FF2B5EF4-FFF2-40B4-BE49-F238E27FC236}">
                <ns2:creationId id="{5902216A-2DFD-4634-BD3D-964226EE31C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1" name="">
            <a:extLst>
              <a:ext uri="{FF2B5EF4-FFF2-40B4-BE49-F238E27FC236}">
                <ns2:creationId id="{F596D139-0E96-45E1-94DC-A8405CDF2E4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2" name="">
            <a:extLst>
              <a:ext uri="{FF2B5EF4-FFF2-40B4-BE49-F238E27FC236}">
                <ns2:creationId id="{10A7CF89-9FB9-406E-B2D0-3D739879D13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052</a:t>
            </a:r>
          </a:p>
        </p:txBody>
      </p:sp>
    </p:spTree>
    <p:extLst>
      <p:ext uri="{BB962C8B-B14F-4D97-AF65-F5344CB8AC3E}">
        <ns4:creationId val="1623535993"/>
      </p:ext>
    </p:extLst>
  </p:cSld>
</p:sld>
</file>

<file path=ppt/slides/slide5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7A6AEF9D-DD3D-47CE-8A93-ADF7F809949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4FED1427-83E1-4918-9ED4-377F8F8713B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빈값·숫자·잘못된 글자 구별하기</a:t>
            </a:r>
          </a:p>
        </p:txBody>
      </p:sp>
      <p:graphicFrame>
        <p:nvGraphicFramePr>
          <p:cNvPr id="11" name=""/>
          <p:cNvGraphicFramePr/>
          <p:nvPr/>
        </p:nvGraphicFramePr>
        <p:xfrm>
          <a:off x="685800" y="1809750"/>
          <a:ext cx="10820400" cy="2145792"/>
        </p:xfrm>
        <a:graphic>
          <a:graphicData uri="http://schemas.openxmlformats.org/drawingml/2006/table">
            <a:tbl>
              <a:tblPr firstRow="1" bandRow="0"/>
              <a:tblGrid>
                <a:gridCol w="4673901"/>
                <a:gridCol w="6146499"/>
              </a:tblGrid>
              <a:tr h="536448">
                <a:tc>
                  <a:txBody>
                    <a:bodyPr wrap="square"/>
                    <a:lstStyle/>
                    <a:p>
                      <a:pPr>
                        <a:lnSpc>
                          <a:spcPct val="102000"/>
                        </a:lnSpc>
                        <a:buNone/>
                      </a:pPr>
                      <a:r>
                        <a:rPr sz="2025" b="1">
                          <a:solidFill>
                            <a:srgbClr val="172F39"/>
                          </a:solidFill>
                          <a:latin typeface="Noto Sans KR"/>
                          <a:ea typeface="Noto Sans KR"/>
                          <a:cs typeface="Noto Sans KR"/>
                        </a:rPr>
                        <a:t>원문</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해석</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빈 문자열</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None: 미측정</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"0.0"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0.0: 실제 수치</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"뜨거움"</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숫자 해석 오류</a:t>
                      </a:r>
                    </a:p>
                  </a:txBody>
                  <a:tcPr marL="114300" marR="114300" marT="76200" marB="76200" anchor="ctr">
                    <a:solidFill>
                      <a:srgbClr val="FFFFFF"/>
                    </a:solidFill>
                  </a:tcPr>
                </a:tc>
              </a:tr>
            </a:tbl>
          </a:graphicData>
        </a:graphic>
      </p:graphicFrame>
      <p:sp>
        <p:nvSpPr>
          <p:cNvPr id="4" name="">
            <a:extLst>
              <a:ext uri="{FF2B5EF4-FFF2-40B4-BE49-F238E27FC236}">
                <ns2:creationId id="{F2B04599-E2A2-4E2A-8CDF-76B27AA46C6D}"/>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68C11B1C-E4EF-4DCD-9E7A-04F7AC5518B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7EC348ED-13C5-404F-9352-91E6F309913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738F766C-2D07-4E14-9823-78D4856CD59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B7F2B47B-CF4E-497F-B011-F60F789995B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053</a:t>
            </a:r>
          </a:p>
        </p:txBody>
      </p:sp>
    </p:spTree>
    <p:extLst>
      <p:ext uri="{BB962C8B-B14F-4D97-AF65-F5344CB8AC3E}">
        <ns4:creationId val="1236172326"/>
      </p:ext>
    </p:extLst>
  </p:cSld>
</p:sld>
</file>

<file path=ppt/slides/slide5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10DEEE1D-3B51-4178-BAF2-27E6F051617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0F584461-FE6B-4798-9E61-F22C353A4A0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이 함수의 순서를 읽습니다</a:t>
            </a:r>
          </a:p>
        </p:txBody>
      </p:sp>
      <p:sp>
        <p:nvSpPr>
          <p:cNvPr id="3" name="">
            <a:extLst>
              <a:ext uri="{FF2B5EF4-FFF2-40B4-BE49-F238E27FC236}">
                <ns2:creationId id="{457B62DC-A321-413C-8068-0528DE9E15FD}"/>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먼저 정확한 빈 문자열인지 확인합니다.</a:t>
            </a:r>
          </a:p>
        </p:txBody>
      </p:sp>
      <p:sp>
        <p:nvSpPr>
          <p:cNvPr id="4" name="">
            <a:extLst>
              <a:ext uri="{FF2B5EF4-FFF2-40B4-BE49-F238E27FC236}">
                <ns2:creationId id="{CDC349BD-5674-4593-8801-12EF6FCF7B4C}"/>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빈 문자열이 아니면 숫자로 변환합니다.</a:t>
            </a:r>
          </a:p>
        </p:txBody>
      </p:sp>
      <p:sp>
        <p:nvSpPr>
          <p:cNvPr id="5" name="">
            <a:extLst>
              <a:ext uri="{FF2B5EF4-FFF2-40B4-BE49-F238E27FC236}">
                <ns2:creationId id="{17705F77-1517-4A71-B8C4-96BE34367E84}"/>
              </a:ext>
            </a:extLst>
          </p:cNvPr>
          <p:cNvSpPr>
            <a:spLocks noGrp="1"/>
          </p:cNvSpPr>
          <p:nvPr/>
        </p:nvSpPr>
        <p:spPr>
          <a:xfrm>
            <a:off x="685800" y="360616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실제 0은 정상 수치로 보존합니다.</a:t>
            </a:r>
          </a:p>
        </p:txBody>
      </p:sp>
      <p:sp>
        <p:nvSpPr>
          <p:cNvPr id="6" name="">
            <a:extLst>
              <a:ext uri="{FF2B5EF4-FFF2-40B4-BE49-F238E27FC236}">
                <ns2:creationId id="{4034259A-30EF-45CE-94BE-6E6E87DEF8A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빈값·숫자·잘못된 글자 구별하기</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262892"/>
                <a:gridCol w="2975858"/>
              </a:tblGrid>
              <a:tr h="514350">
                <a:tc>
                  <a:txBody>
                    <a:bodyPr wrap="square"/>
                    <a:lstStyle/>
                    <a:p>
                      <a:pPr>
                        <a:lnSpc>
                          <a:spcPct val="102000"/>
                        </a:lnSpc>
                        <a:buNone/>
                      </a:pPr>
                      <a:r>
                        <a:rPr sz="1875" b="1">
                          <a:solidFill>
                            <a:srgbClr val="172F39"/>
                          </a:solidFill>
                          <a:latin typeface="Noto Sans KR"/>
                          <a:ea typeface="Noto Sans KR"/>
                          <a:cs typeface="Noto Sans KR"/>
                        </a:rPr>
                        <a:t>원문</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해석</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빈 문자열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None: 미측정</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"0.0"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0.0: 실제 수치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"뜨거움"</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숫자 해석 오류</a:t>
                      </a:r>
                    </a:p>
                  </a:txBody>
                  <a:tcPr marL="114300" marR="114300" marT="76200" marB="76200" anchor="ctr">
                    <a:solidFill>
                      <a:srgbClr val="FFFFFF"/>
                    </a:solidFill>
                  </a:tcPr>
                </a:tc>
              </a:tr>
            </a:tbl>
          </a:graphicData>
        </a:graphic>
      </p:graphicFrame>
      <p:sp>
        <p:nvSpPr>
          <p:cNvPr id="8" name="">
            <a:extLst>
              <a:ext uri="{FF2B5EF4-FFF2-40B4-BE49-F238E27FC236}">
                <ns2:creationId id="{A0275CB6-DEBA-426E-B898-78B19EE98361}"/>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2DF7AE63-BDCB-415D-9239-260DC1C0463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F68FF8BF-0070-475A-BBB1-10812B36E25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B304C2C8-92CA-42CE-B920-FE9490E661F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1E59056D-C62C-4FE5-A349-E7F54FF626F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054</a:t>
            </a:r>
          </a:p>
        </p:txBody>
      </p:sp>
    </p:spTree>
    <p:extLst>
      <p:ext uri="{BB962C8B-B14F-4D97-AF65-F5344CB8AC3E}">
        <ns4:creationId val="354141816"/>
      </p:ext>
    </p:extLst>
  </p:cSld>
</p:sld>
</file>

<file path=ppt/slides/slide5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53CCA6DA-5771-45FA-9B28-FBF9F1C2641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FA1F5CC8-D439-46AA-B72B-8229258D359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오류 기록의 단서를 남깁니다</a:t>
            </a:r>
          </a:p>
        </p:txBody>
      </p:sp>
      <p:sp>
        <p:nvSpPr>
          <p:cNvPr id="3" name="">
            <a:extLst>
              <a:ext uri="{FF2B5EF4-FFF2-40B4-BE49-F238E27FC236}">
                <ns2:creationId id="{A1ABAD4E-05EC-43E3-B297-A824A3F59AA6}"/>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실행한 파일과 명령을 적습니다.</a:t>
            </a:r>
          </a:p>
        </p:txBody>
      </p:sp>
      <p:sp>
        <p:nvSpPr>
          <p:cNvPr id="4" name="">
            <a:extLst>
              <a:ext uri="{FF2B5EF4-FFF2-40B4-BE49-F238E27FC236}">
                <ns2:creationId id="{BE093F84-D89C-47A1-A125-E76BE854EB60}"/>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관련 줄과 오류 종류를 적습니다.</a:t>
            </a:r>
          </a:p>
        </p:txBody>
      </p:sp>
      <p:sp>
        <p:nvSpPr>
          <p:cNvPr id="5" name="">
            <a:extLst>
              <a:ext uri="{FF2B5EF4-FFF2-40B4-BE49-F238E27FC236}">
                <ns2:creationId id="{A09D1BD5-E26C-4DEE-B346-715E838F4C1D}"/>
              </a:ext>
            </a:extLst>
          </p:cNvPr>
          <p:cNvSpPr>
            <a:spLocks noGrp="1"/>
          </p:cNvSpPr>
          <p:nvPr/>
        </p:nvSpPr>
        <p:spPr>
          <a:xfrm>
            <a:off x="685800" y="29317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문제가 된 원문도 그대로 남깁니다.</a:t>
            </a:r>
          </a:p>
        </p:txBody>
      </p:sp>
      <p:sp>
        <p:nvSpPr>
          <p:cNvPr id="6" name="">
            <a:extLst>
              <a:ext uri="{FF2B5EF4-FFF2-40B4-BE49-F238E27FC236}">
                <ns2:creationId id="{75AFF48F-F8AC-4B17-BB07-4C1E29E3AB9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다른 오류, 다른 확인</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890591"/>
                <a:gridCol w="2348159"/>
              </a:tblGrid>
              <a:tr h="514350">
                <a:tc>
                  <a:txBody>
                    <a:bodyPr wrap="square"/>
                    <a:lstStyle/>
                    <a:p>
                      <a:pPr>
                        <a:lnSpc>
                          <a:spcPct val="102000"/>
                        </a:lnSpc>
                        <a:buNone/>
                      </a:pPr>
                      <a:r>
                        <a:rPr sz="1875" b="1">
                          <a:solidFill>
                            <a:srgbClr val="172F39"/>
                          </a:solidFill>
                          <a:latin typeface="Noto Sans KR"/>
                          <a:ea typeface="Noto Sans KR"/>
                          <a:cs typeface="Noto Sans KR"/>
                        </a:rPr>
                        <a:t>종류</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먼저 확인할 것</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FileNotFoundError</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경로·파일 이름</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KeyError</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헤더·키</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ValueError</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원문·해석 규칙</a:t>
                      </a:r>
                    </a:p>
                  </a:txBody>
                  <a:tcPr marL="114300" marR="114300" marT="76200" marB="76200" anchor="ctr">
                    <a:solidFill>
                      <a:srgbClr val="FFFFFF"/>
                    </a:solidFill>
                  </a:tcPr>
                </a:tc>
              </a:tr>
            </a:tbl>
          </a:graphicData>
        </a:graphic>
      </p:graphicFrame>
      <p:sp>
        <p:nvSpPr>
          <p:cNvPr id="8" name="">
            <a:extLst>
              <a:ext uri="{FF2B5EF4-FFF2-40B4-BE49-F238E27FC236}">
                <ns2:creationId id="{840B07DB-2E37-4AB1-95C2-C8DFF08AEB3E}"/>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1A054600-A589-4262-AB1C-A0F553B9A72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B56441AD-98E1-46B4-AFA6-452DFF8EA85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F1D9BC5E-BE8C-4AA9-96D2-1BDDA2363BB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82607957-DC6D-487A-8F55-740C8039EC6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055</a:t>
            </a:r>
          </a:p>
        </p:txBody>
      </p:sp>
    </p:spTree>
    <p:extLst>
      <p:ext uri="{BB962C8B-B14F-4D97-AF65-F5344CB8AC3E}">
        <ns4:creationId val="1330600231"/>
      </p:ext>
    </p:extLst>
  </p:cSld>
</p:sld>
</file>

<file path=ppt/slides/slide5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44E2CD57-A1CA-4EF6-A8CF-9DC59E7696E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9E55257E-0B2B-485D-AB48-E4135C21CF4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다른 오류, 다른 확인</a:t>
            </a:r>
          </a:p>
        </p:txBody>
      </p:sp>
      <p:graphicFrame>
        <p:nvGraphicFramePr>
          <p:cNvPr id="11" name=""/>
          <p:cNvGraphicFramePr/>
          <p:nvPr/>
        </p:nvGraphicFramePr>
        <p:xfrm>
          <a:off x="685800" y="1809750"/>
          <a:ext cx="10820400" cy="2145792"/>
        </p:xfrm>
        <a:graphic>
          <a:graphicData uri="http://schemas.openxmlformats.org/drawingml/2006/table">
            <a:tbl>
              <a:tblPr firstRow="1" bandRow="0"/>
              <a:tblGrid>
                <a:gridCol w="5970384"/>
                <a:gridCol w="4850016"/>
              </a:tblGrid>
              <a:tr h="536448">
                <a:tc>
                  <a:txBody>
                    <a:bodyPr wrap="square"/>
                    <a:lstStyle/>
                    <a:p>
                      <a:pPr>
                        <a:lnSpc>
                          <a:spcPct val="102000"/>
                        </a:lnSpc>
                        <a:buNone/>
                      </a:pPr>
                      <a:r>
                        <a:rPr sz="2025" b="1">
                          <a:solidFill>
                            <a:srgbClr val="172F39"/>
                          </a:solidFill>
                          <a:latin typeface="Noto Sans KR"/>
                          <a:ea typeface="Noto Sans KR"/>
                          <a:cs typeface="Noto Sans KR"/>
                        </a:rPr>
                        <a:t>종류</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먼저 확인할 것</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FileNotFoundError</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경로·파일 이름</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KeyError</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헤더·키</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ValueError</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원문·해석 규칙</a:t>
                      </a:r>
                    </a:p>
                  </a:txBody>
                  <a:tcPr marL="114300" marR="114300" marT="76200" marB="76200" anchor="ctr">
                    <a:solidFill>
                      <a:srgbClr val="FFFFFF"/>
                    </a:solidFill>
                  </a:tcPr>
                </a:tc>
              </a:tr>
            </a:tbl>
          </a:graphicData>
        </a:graphic>
      </p:graphicFrame>
      <p:sp>
        <p:nvSpPr>
          <p:cNvPr id="4" name="">
            <a:extLst>
              <a:ext uri="{FF2B5EF4-FFF2-40B4-BE49-F238E27FC236}">
                <ns2:creationId id="{CB628A9D-61C5-4C5D-8C1B-D7EC991498A4}"/>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6512C8DF-24F9-4F8F-A4F3-5043EB985A7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D9354A81-5817-4E73-B645-863C322FF29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D6AAA8AF-4C68-443B-A634-D9AB77EB0CF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8290C00A-BAC6-4422-9D6C-2BB104E0A45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056</a:t>
            </a:r>
          </a:p>
        </p:txBody>
      </p:sp>
    </p:spTree>
    <p:extLst>
      <p:ext uri="{BB962C8B-B14F-4D97-AF65-F5344CB8AC3E}">
        <ns4:creationId val="2073072194"/>
      </p:ext>
    </p:extLst>
  </p:cSld>
</p:sld>
</file>

<file path=ppt/slides/slide5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3" name="">
            <a:extLst>
              <a:ext uri="{FF2B5EF4-FFF2-40B4-BE49-F238E27FC236}">
                <ns2:creationId id="{549DFCEB-FA07-4818-BB6F-4B0E6202C3B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424BC968-7F69-46B6-95F0-AF35DFA78BA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완성 예 · 예상 오류 기록</a:t>
            </a:r>
          </a:p>
        </p:txBody>
      </p:sp>
      <p:sp>
        <p:nvSpPr>
          <p:cNvPr id="3" name="">
            <a:extLst>
              <a:ext uri="{FF2B5EF4-FFF2-40B4-BE49-F238E27FC236}">
                <ns2:creationId id="{4132AABC-844E-4E8B-A5E2-95D64240526C}"/>
              </a:ext>
            </a:extLst>
          </p:cNvPr>
          <p:cNvSpPr>
            <a:spLocks noGrp="1"/>
          </p:cNvSpPr>
          <p:nvPr/>
        </p:nvSpPr>
        <p:spPr>
          <a:xfrm>
            <a:off x="685800" y="1809750"/>
            <a:ext cx="6953250" cy="2225802"/>
          </a:xfrm>
          <a:prstGeom prst="rect">
            <a:avLst/>
          </a:prstGeom>
          <a:solidFill>
            <a:srgbClr val="F1F6F5"/>
          </a:solidFill>
          <a:ln w="0">
            <a:noFill/>
          </a:ln>
        </p:spPr>
      </p:sp>
      <p:sp>
        <p:nvSpPr>
          <p:cNvPr id="4" name="">
            <a:extLst>
              <a:ext uri="{FF2B5EF4-FFF2-40B4-BE49-F238E27FC236}">
                <ns2:creationId id="{169628C6-A183-4E30-AEEC-033FF1F34FB7}"/>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6919F50D-01E6-48E6-B16C-2E9F585F5267}"/>
              </a:ext>
            </a:extLst>
          </p:cNvPr>
          <p:cNvSpPr>
            <a:spLocks noGrp="1"/>
          </p:cNvSpPr>
          <p:nvPr/>
        </p:nvSpPr>
        <p:spPr>
          <a:xfrm>
            <a:off x="1276350" y="1933575"/>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raw = "뜨거움"</a:t>
            </a:r>
          </a:p>
        </p:txBody>
      </p:sp>
      <p:sp>
        <p:nvSpPr>
          <p:cNvPr id="6" name="">
            <a:extLst>
              <a:ext uri="{FF2B5EF4-FFF2-40B4-BE49-F238E27FC236}">
                <ns2:creationId id="{A6069FDB-D51D-4E32-958E-E049D9153614}"/>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9ADBCCED-04EB-4D6A-B552-4D4E6183BA96}"/>
              </a:ext>
            </a:extLst>
          </p:cNvPr>
          <p:cNvSpPr>
            <a:spLocks noGrp="1"/>
          </p:cNvSpPr>
          <p:nvPr/>
        </p:nvSpPr>
        <p:spPr>
          <a:xfrm>
            <a:off x="1276350" y="2250567"/>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try:</a:t>
            </a:r>
          </a:p>
        </p:txBody>
      </p:sp>
      <p:sp>
        <p:nvSpPr>
          <p:cNvPr id="8" name="">
            <a:extLst>
              <a:ext uri="{FF2B5EF4-FFF2-40B4-BE49-F238E27FC236}">
                <ns2:creationId id="{C22F0307-C0C2-4A6F-95F8-1D8D221285C1}"/>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B7D9B4F0-3E8D-4203-8AE4-DE5233217B20}"/>
              </a:ext>
            </a:extLst>
          </p:cNvPr>
          <p:cNvSpPr>
            <a:spLocks noGrp="1"/>
          </p:cNvSpPr>
          <p:nvPr/>
        </p:nvSpPr>
        <p:spPr>
          <a:xfrm>
            <a:off x="1276350" y="2567559"/>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value = float(raw)</a:t>
            </a:r>
          </a:p>
        </p:txBody>
      </p:sp>
      <p:sp>
        <p:nvSpPr>
          <p:cNvPr id="10" name="">
            <a:extLst>
              <a:ext uri="{FF2B5EF4-FFF2-40B4-BE49-F238E27FC236}">
                <ns2:creationId id="{D652038C-D380-40B0-B241-3C09302CAD42}"/>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243919DC-9310-45E8-A507-918D3B99115E}"/>
              </a:ext>
            </a:extLst>
          </p:cNvPr>
          <p:cNvSpPr>
            <a:spLocks noGrp="1"/>
          </p:cNvSpPr>
          <p:nvPr/>
        </p:nvSpPr>
        <p:spPr>
          <a:xfrm>
            <a:off x="1276350" y="2884551"/>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print(value)</a:t>
            </a:r>
          </a:p>
        </p:txBody>
      </p:sp>
      <p:sp>
        <p:nvSpPr>
          <p:cNvPr id="12" name="">
            <a:extLst>
              <a:ext uri="{FF2B5EF4-FFF2-40B4-BE49-F238E27FC236}">
                <ns2:creationId id="{F42B6CDD-46FB-4457-AC4E-5DFDE7970119}"/>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9C8BEC4B-861D-4538-9054-AC451B05699C}"/>
              </a:ext>
            </a:extLst>
          </p:cNvPr>
          <p:cNvSpPr>
            <a:spLocks noGrp="1"/>
          </p:cNvSpPr>
          <p:nvPr/>
        </p:nvSpPr>
        <p:spPr>
          <a:xfrm>
            <a:off x="1276350" y="3201543"/>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except ValueError:</a:t>
            </a:r>
          </a:p>
        </p:txBody>
      </p:sp>
      <p:sp>
        <p:nvSpPr>
          <p:cNvPr id="14" name="">
            <a:extLst>
              <a:ext uri="{FF2B5EF4-FFF2-40B4-BE49-F238E27FC236}">
                <ns2:creationId id="{69A6CFFA-EF35-45CD-A274-A61927091C85}"/>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29BAE999-9943-49D4-A257-FF9C0B81E461}"/>
              </a:ext>
            </a:extLst>
          </p:cNvPr>
          <p:cNvSpPr>
            <a:spLocks noGrp="1"/>
          </p:cNvSpPr>
          <p:nvPr/>
        </p:nvSpPr>
        <p:spPr>
          <a:xfrm>
            <a:off x="1276350" y="3518535"/>
            <a:ext cx="622935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print("숫자 확인 필요:", raw)</a:t>
            </a:r>
          </a:p>
        </p:txBody>
      </p:sp>
      <p:sp>
        <p:nvSpPr>
          <p:cNvPr id="16" name="">
            <a:extLst>
              <a:ext uri="{FF2B5EF4-FFF2-40B4-BE49-F238E27FC236}">
                <ns2:creationId id="{659A4186-A0BF-4164-B47B-FBEB155D8C5F}"/>
              </a:ext>
            </a:extLst>
          </p:cNvPr>
          <p:cNvSpPr>
            <a:spLocks noGrp="1"/>
          </p:cNvSpPr>
          <p:nvPr/>
        </p:nvSpPr>
        <p:spPr>
          <a:xfrm>
            <a:off x="8143875" y="1828800"/>
            <a:ext cx="3333750" cy="409575"/>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실행 결과</a:t>
            </a:r>
          </a:p>
        </p:txBody>
      </p:sp>
      <p:sp>
        <p:nvSpPr>
          <p:cNvPr id="17" name="">
            <a:extLst>
              <a:ext uri="{FF2B5EF4-FFF2-40B4-BE49-F238E27FC236}">
                <ns2:creationId id="{4DE03DD7-6E1C-435E-8ED1-02E0B179994D}"/>
              </a:ext>
            </a:extLst>
          </p:cNvPr>
          <p:cNvSpPr>
            <a:spLocks noGrp="1"/>
          </p:cNvSpPr>
          <p:nvPr/>
        </p:nvSpPr>
        <p:spPr>
          <a:xfrm>
            <a:off x="8143875" y="2409825"/>
            <a:ext cx="3333750" cy="417767"/>
          </a:xfrm>
          <a:prstGeom prst="rect">
            <a:avLst/>
          </a:prstGeom>
          <a:noFill/>
          <a:ln w="0">
            <a:noFill/>
          </a:ln>
        </p:spPr>
        <p:txBody>
          <a:bodyPr wrap="square" lIns="0" tIns="0" rIns="0" bIns="0">
            <a:noAutofit/>
          </a:bodyPr>
          <a:lstStyle/>
          <a:p>
            <a:pPr>
              <a:defRPr sz="2025" b="1">
                <a:solidFill>
                  <a:srgbClr val="172F39"/>
                </a:solidFill>
                <a:latin typeface="Noto Sans KR"/>
                <a:ea typeface="Noto Sans KR"/>
                <a:cs typeface="Noto Sans KR"/>
              </a:defRPr>
            </a:pPr>
            <a:r>
              <a:t>숫자 확인 필요: 뜨거움</a:t>
            </a:r>
          </a:p>
        </p:txBody>
      </p:sp>
      <p:sp>
        <p:nvSpPr>
          <p:cNvPr id="18" name="">
            <a:extLst>
              <a:ext uri="{FF2B5EF4-FFF2-40B4-BE49-F238E27FC236}">
                <ns2:creationId id="{C9018BED-B774-4202-BEAD-65D38E861E95}"/>
              </a:ext>
            </a:extLst>
          </p:cNvPr>
          <p:cNvSpPr>
            <a:spLocks noGrp="1"/>
          </p:cNvSpPr>
          <p:nvPr/>
        </p:nvSpPr>
        <p:spPr>
          <a:xfrm>
            <a:off x="685800" y="6172200"/>
            <a:ext cx="10820400" cy="9525"/>
          </a:xfrm>
          <a:prstGeom prst="rect">
            <a:avLst/>
          </a:prstGeom>
          <a:solidFill>
            <a:srgbClr val="D5DEDD"/>
          </a:solidFill>
          <a:ln w="0">
            <a:noFill/>
          </a:ln>
        </p:spPr>
      </p:sp>
      <p:sp>
        <p:nvSpPr>
          <p:cNvPr id="19" name="">
            <a:extLst>
              <a:ext uri="{FF2B5EF4-FFF2-40B4-BE49-F238E27FC236}">
                <ns2:creationId id="{72E31558-5F48-4052-B513-D4C9227C7D1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0" name="">
            <a:extLst>
              <a:ext uri="{FF2B5EF4-FFF2-40B4-BE49-F238E27FC236}">
                <ns2:creationId id="{41E38BC4-EF57-4135-9BA0-6076F8D0A5E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1" name="">
            <a:extLst>
              <a:ext uri="{FF2B5EF4-FFF2-40B4-BE49-F238E27FC236}">
                <ns2:creationId id="{1023B2FC-0605-45E0-B770-13AA4FC57D3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2" name="">
            <a:extLst>
              <a:ext uri="{FF2B5EF4-FFF2-40B4-BE49-F238E27FC236}">
                <ns2:creationId id="{4E853021-E14E-461A-8581-2DE2A84B706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057</a:t>
            </a:r>
          </a:p>
        </p:txBody>
      </p:sp>
    </p:spTree>
    <p:extLst>
      <p:ext uri="{BB962C8B-B14F-4D97-AF65-F5344CB8AC3E}">
        <ns4:creationId val="893249795"/>
      </p:ext>
    </p:extLst>
  </p:cSld>
</p:sld>
</file>

<file path=ppt/slides/slide5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5" name="">
            <a:extLst>
              <a:ext uri="{FF2B5EF4-FFF2-40B4-BE49-F238E27FC236}">
                <ns2:creationId id="{1DAB3B1E-D81C-4ECF-BDF6-908BFF3E9AB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709BF68A-B1C1-4A3A-9821-D8C8751173B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try와 except의 역할</a:t>
            </a:r>
          </a:p>
        </p:txBody>
      </p:sp>
      <p:sp>
        <p:nvSpPr>
          <p:cNvPr id="3" name="">
            <a:extLst>
              <a:ext uri="{FF2B5EF4-FFF2-40B4-BE49-F238E27FC236}">
                <ns2:creationId id="{120A4C00-8397-4C40-8728-1F14FBDEB1AF}"/>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try에서 실패할 수 있는 작업을 합니다.</a:t>
            </a:r>
          </a:p>
        </p:txBody>
      </p:sp>
      <p:sp>
        <p:nvSpPr>
          <p:cNvPr id="4" name="">
            <a:extLst>
              <a:ext uri="{FF2B5EF4-FFF2-40B4-BE49-F238E27FC236}">
                <ns2:creationId id="{9CEE455A-C015-46C3-B9B4-DBA0354242E3}"/>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except ValueError는 ValueError가 났을 때 실행됩니다.</a:t>
            </a:r>
          </a:p>
        </p:txBody>
      </p:sp>
      <p:sp>
        <p:nvSpPr>
          <p:cNvPr id="5" name="">
            <a:extLst>
              <a:ext uri="{FF2B5EF4-FFF2-40B4-BE49-F238E27FC236}">
                <ns2:creationId id="{AD5C056F-9DE0-4873-9467-3F58D1713DC2}"/>
              </a:ext>
            </a:extLst>
          </p:cNvPr>
          <p:cNvSpPr>
            <a:spLocks noGrp="1"/>
          </p:cNvSpPr>
          <p:nvPr/>
        </p:nvSpPr>
        <p:spPr>
          <a:xfrm>
            <a:off x="685800" y="360616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실제 온도를 알아낸 것이 아니라 문제를 기록합니다.</a:t>
            </a:r>
          </a:p>
        </p:txBody>
      </p:sp>
      <p:sp>
        <p:nvSpPr>
          <p:cNvPr id="6" name="">
            <a:extLst>
              <a:ext uri="{FF2B5EF4-FFF2-40B4-BE49-F238E27FC236}">
                <ns2:creationId id="{D53868EF-425E-4173-8D47-A83A04EACB8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완성 예 · 예상 오류 기록</a:t>
            </a:r>
          </a:p>
        </p:txBody>
      </p:sp>
      <p:sp>
        <p:nvSpPr>
          <p:cNvPr id="7" name="">
            <a:extLst>
              <a:ext uri="{FF2B5EF4-FFF2-40B4-BE49-F238E27FC236}">
                <ns2:creationId id="{A0ACE8DB-0F53-41BF-B3C5-C3D3C5524935}"/>
              </a:ext>
            </a:extLst>
          </p:cNvPr>
          <p:cNvSpPr>
            <a:spLocks noGrp="1"/>
          </p:cNvSpPr>
          <p:nvPr/>
        </p:nvSpPr>
        <p:spPr>
          <a:xfrm>
            <a:off x="6267450" y="2628900"/>
            <a:ext cx="5238750" cy="2079498"/>
          </a:xfrm>
          <a:prstGeom prst="rect">
            <a:avLst/>
          </a:prstGeom>
          <a:solidFill>
            <a:srgbClr val="F1F6F5"/>
          </a:solidFill>
          <a:ln w="0">
            <a:noFill/>
          </a:ln>
        </p:spPr>
      </p:sp>
      <p:sp>
        <p:nvSpPr>
          <p:cNvPr id="8" name="">
            <a:extLst>
              <a:ext uri="{FF2B5EF4-FFF2-40B4-BE49-F238E27FC236}">
                <ns2:creationId id="{06CB9E59-8042-45FD-A653-E4755F4FF281}"/>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9" name="">
            <a:extLst>
              <a:ext uri="{FF2B5EF4-FFF2-40B4-BE49-F238E27FC236}">
                <ns2:creationId id="{95357908-3638-4260-9BCC-B0900AEC389F}"/>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raw = "뜨거움"</a:t>
            </a:r>
          </a:p>
        </p:txBody>
      </p:sp>
      <p:sp>
        <p:nvSpPr>
          <p:cNvPr id="10" name="">
            <a:extLst>
              <a:ext uri="{FF2B5EF4-FFF2-40B4-BE49-F238E27FC236}">
                <ns2:creationId id="{804EBFEF-CE72-4081-83AD-2469BF643485}"/>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1" name="">
            <a:extLst>
              <a:ext uri="{FF2B5EF4-FFF2-40B4-BE49-F238E27FC236}">
                <ns2:creationId id="{A4D09DFD-0494-4E57-A6E3-4F8ADA9C3F73}"/>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try:</a:t>
            </a:r>
          </a:p>
        </p:txBody>
      </p:sp>
      <p:sp>
        <p:nvSpPr>
          <p:cNvPr id="12" name="">
            <a:extLst>
              <a:ext uri="{FF2B5EF4-FFF2-40B4-BE49-F238E27FC236}">
                <ns2:creationId id="{840FEDC3-472D-4AC2-A51B-67B8C2137533}"/>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3" name="">
            <a:extLst>
              <a:ext uri="{FF2B5EF4-FFF2-40B4-BE49-F238E27FC236}">
                <ns2:creationId id="{B14C40E5-9DD6-496D-8EB4-05CECCF121B3}"/>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value = float(raw)</a:t>
            </a:r>
          </a:p>
        </p:txBody>
      </p:sp>
      <p:sp>
        <p:nvSpPr>
          <p:cNvPr id="14" name="">
            <a:extLst>
              <a:ext uri="{FF2B5EF4-FFF2-40B4-BE49-F238E27FC236}">
                <ns2:creationId id="{7D68C0C9-0D1F-414D-B8F5-7891F42137B4}"/>
              </a:ext>
            </a:extLst>
          </p:cNvPr>
          <p:cNvSpPr>
            <a:spLocks noGrp="1"/>
          </p:cNvSpPr>
          <p:nvPr/>
        </p:nvSpPr>
        <p:spPr>
          <a:xfrm>
            <a:off x="6410325" y="3668649"/>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5" name="">
            <a:extLst>
              <a:ext uri="{FF2B5EF4-FFF2-40B4-BE49-F238E27FC236}">
                <ns2:creationId id="{FDE64B8C-DDD4-400F-AB3F-679B9DC25926}"/>
              </a:ext>
            </a:extLst>
          </p:cNvPr>
          <p:cNvSpPr>
            <a:spLocks noGrp="1"/>
          </p:cNvSpPr>
          <p:nvPr/>
        </p:nvSpPr>
        <p:spPr>
          <a:xfrm>
            <a:off x="6858000" y="3630549"/>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print(value)</a:t>
            </a:r>
          </a:p>
        </p:txBody>
      </p:sp>
      <p:sp>
        <p:nvSpPr>
          <p:cNvPr id="16" name="">
            <a:extLst>
              <a:ext uri="{FF2B5EF4-FFF2-40B4-BE49-F238E27FC236}">
                <ns2:creationId id="{1F165F08-AE77-4C28-ACA0-415DF4969869}"/>
              </a:ext>
            </a:extLst>
          </p:cNvPr>
          <p:cNvSpPr>
            <a:spLocks noGrp="1"/>
          </p:cNvSpPr>
          <p:nvPr/>
        </p:nvSpPr>
        <p:spPr>
          <a:xfrm>
            <a:off x="6410325" y="3961257"/>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7" name="">
            <a:extLst>
              <a:ext uri="{FF2B5EF4-FFF2-40B4-BE49-F238E27FC236}">
                <ns2:creationId id="{FBF319FA-F99C-432A-89AD-75D433D0077E}"/>
              </a:ext>
            </a:extLst>
          </p:cNvPr>
          <p:cNvSpPr>
            <a:spLocks noGrp="1"/>
          </p:cNvSpPr>
          <p:nvPr/>
        </p:nvSpPr>
        <p:spPr>
          <a:xfrm>
            <a:off x="6858000" y="3923157"/>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except ValueError:</a:t>
            </a:r>
          </a:p>
        </p:txBody>
      </p:sp>
      <p:sp>
        <p:nvSpPr>
          <p:cNvPr id="18" name="">
            <a:extLst>
              <a:ext uri="{FF2B5EF4-FFF2-40B4-BE49-F238E27FC236}">
                <ns2:creationId id="{EF7C7C92-84FA-4DF1-B290-0DEE42E7690F}"/>
              </a:ext>
            </a:extLst>
          </p:cNvPr>
          <p:cNvSpPr>
            <a:spLocks noGrp="1"/>
          </p:cNvSpPr>
          <p:nvPr/>
        </p:nvSpPr>
        <p:spPr>
          <a:xfrm>
            <a:off x="6410325" y="425386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9" name="">
            <a:extLst>
              <a:ext uri="{FF2B5EF4-FFF2-40B4-BE49-F238E27FC236}">
                <ns2:creationId id="{EC7395FF-0328-4A34-80F6-A5F556D4B2D0}"/>
              </a:ext>
            </a:extLst>
          </p:cNvPr>
          <p:cNvSpPr>
            <a:spLocks noGrp="1"/>
          </p:cNvSpPr>
          <p:nvPr/>
        </p:nvSpPr>
        <p:spPr>
          <a:xfrm>
            <a:off x="6858000" y="421576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print("숫자 확인 필요:", raw)</a:t>
            </a:r>
          </a:p>
        </p:txBody>
      </p:sp>
      <p:sp>
        <p:nvSpPr>
          <p:cNvPr id="20" name="">
            <a:extLst>
              <a:ext uri="{FF2B5EF4-FFF2-40B4-BE49-F238E27FC236}">
                <ns2:creationId id="{86E0D291-5FDE-4B1B-9235-2376556D82C2}"/>
              </a:ext>
            </a:extLst>
          </p:cNvPr>
          <p:cNvSpPr>
            <a:spLocks noGrp="1"/>
          </p:cNvSpPr>
          <p:nvPr/>
        </p:nvSpPr>
        <p:spPr>
          <a:xfrm>
            <a:off x="685800" y="6172200"/>
            <a:ext cx="10820400" cy="9525"/>
          </a:xfrm>
          <a:prstGeom prst="rect">
            <a:avLst/>
          </a:prstGeom>
          <a:solidFill>
            <a:srgbClr val="D5DEDD"/>
          </a:solidFill>
          <a:ln w="0">
            <a:noFill/>
          </a:ln>
        </p:spPr>
      </p:sp>
      <p:sp>
        <p:nvSpPr>
          <p:cNvPr id="21" name="">
            <a:extLst>
              <a:ext uri="{FF2B5EF4-FFF2-40B4-BE49-F238E27FC236}">
                <ns2:creationId id="{08B3F95D-41A9-4519-B959-2EC0671E9EF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2" name="">
            <a:extLst>
              <a:ext uri="{FF2B5EF4-FFF2-40B4-BE49-F238E27FC236}">
                <ns2:creationId id="{B9387B75-B463-40A2-834F-9F35C30A3D8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3" name="">
            <a:extLst>
              <a:ext uri="{FF2B5EF4-FFF2-40B4-BE49-F238E27FC236}">
                <ns2:creationId id="{474F83A4-4A5B-4E68-93F2-87CB5B85C94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4" name="">
            <a:extLst>
              <a:ext uri="{FF2B5EF4-FFF2-40B4-BE49-F238E27FC236}">
                <ns2:creationId id="{88DCBC56-167F-474F-96E7-C5F8CB62AD7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058</a:t>
            </a:r>
          </a:p>
        </p:txBody>
      </p:sp>
    </p:spTree>
    <p:extLst>
      <p:ext uri="{BB962C8B-B14F-4D97-AF65-F5344CB8AC3E}">
        <ns4:creationId val="1061085154"/>
      </p:ext>
    </p:extLst>
  </p:cSld>
</p:sld>
</file>

<file path=ppt/slides/slide5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2A181CFE-2254-495E-B36A-19B55CD1353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302E0835-4A5D-4B05-BE8F-F41ECE69C2A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예상 출력 · 원문 보존</a:t>
            </a:r>
          </a:p>
        </p:txBody>
      </p:sp>
      <p:sp>
        <p:nvSpPr>
          <p:cNvPr id="3" name="">
            <a:extLst>
              <a:ext uri="{FF2B5EF4-FFF2-40B4-BE49-F238E27FC236}">
                <ns2:creationId id="{CFDE98A9-52B5-469A-B9E6-361419BE3CDB}"/>
              </a:ext>
            </a:extLst>
          </p:cNvPr>
          <p:cNvSpPr>
            <a:spLocks noGrp="1"/>
          </p:cNvSpPr>
          <p:nvPr/>
        </p:nvSpPr>
        <p:spPr>
          <a:xfrm>
            <a:off x="685800" y="1809750"/>
            <a:ext cx="10820400" cy="640842"/>
          </a:xfrm>
          <a:prstGeom prst="rect">
            <a:avLst/>
          </a:prstGeom>
          <a:solidFill>
            <a:srgbClr val="F1F6F5"/>
          </a:solidFill>
          <a:ln w="0">
            <a:noFill/>
          </a:ln>
        </p:spPr>
      </p:sp>
      <p:sp>
        <p:nvSpPr>
          <p:cNvPr id="4" name="">
            <a:extLst>
              <a:ext uri="{FF2B5EF4-FFF2-40B4-BE49-F238E27FC236}">
                <ns2:creationId id="{B4813A6C-8A75-42FE-92F6-339CA0625EC5}"/>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F14C56B8-D263-4BB0-9279-E82E1806A3C1}"/>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숫자 확인 필요: 뜨거움</a:t>
            </a:r>
          </a:p>
        </p:txBody>
      </p:sp>
      <p:sp>
        <p:nvSpPr>
          <p:cNvPr id="6" name="">
            <a:extLst>
              <a:ext uri="{FF2B5EF4-FFF2-40B4-BE49-F238E27FC236}">
                <ns2:creationId id="{63565E61-0B57-453D-BDE5-AB43C30427EC}"/>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583E3492-CFFF-4539-A4EE-EAB7EBBA854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E8AF3785-B56E-4080-B9DF-0CC813192E6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891B9B2C-D49E-4A7F-B3D8-B871489E35A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09E9105B-8340-4A60-A197-7A508FB5ED2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059</a:t>
            </a:r>
          </a:p>
        </p:txBody>
      </p:sp>
    </p:spTree>
    <p:extLst>
      <p:ext uri="{BB962C8B-B14F-4D97-AF65-F5344CB8AC3E}">
        <ns4:creationId val="584222801"/>
      </p:ext>
    </p:extLst>
  </p:cSld>
</p:sld>
</file>

<file path=ppt/slides/slide6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B8151513-CAB6-4BF5-ABB7-C3DAAFDCF61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829143B0-A56E-49AC-AEE4-D7A31C7682B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빈값·0·추움은 다릅니다</a:t>
            </a:r>
          </a:p>
        </p:txBody>
      </p:sp>
      <p:sp>
        <p:nvSpPr>
          <p:cNvPr id="3" name="">
            <a:extLst>
              <a:ext uri="{FF2B5EF4-FFF2-40B4-BE49-F238E27FC236}">
                <ns2:creationId id="{C2831042-2B29-4C01-866E-D2CE30EBDE7B}"/>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1">
                <a:solidFill>
                  <a:srgbClr val="172F39"/>
                </a:solidFill>
                <a:latin typeface="Noto Sans KR"/>
                <a:ea typeface="Noto Sans KR"/>
                <a:cs typeface="Noto Sans KR"/>
              </a:defRPr>
            </a:pPr>
            <a:r>
              <a:t>빈 글자, "0", "추움"은 다른 입력입니다.</a:t>
            </a:r>
          </a:p>
        </p:txBody>
      </p:sp>
      <p:sp>
        <p:nvSpPr>
          <p:cNvPr id="4" name="">
            <a:extLst>
              <a:ext uri="{FF2B5EF4-FFF2-40B4-BE49-F238E27FC236}">
                <ns2:creationId id="{1F6655D8-B0D7-451E-B98C-8CD56B840B47}"/>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네 입력을 어떻게 처리할까요?</a:t>
            </a:r>
          </a:p>
        </p:txBody>
      </p:sp>
      <p:graphicFrame>
        <p:nvGraphicFramePr>
          <p:cNvPr id="15" name=""/>
          <p:cNvGraphicFramePr/>
          <p:nvPr/>
        </p:nvGraphicFramePr>
        <p:xfrm>
          <a:off x="6267450" y="2628900"/>
          <a:ext cx="5238750" cy="2571750"/>
        </p:xfrm>
        <a:graphic>
          <a:graphicData uri="http://schemas.openxmlformats.org/drawingml/2006/table">
            <a:tbl>
              <a:tblPr firstRow="1" bandRow="0"/>
              <a:tblGrid>
                <a:gridCol w="1942171"/>
                <a:gridCol w="3296579"/>
              </a:tblGrid>
              <a:tr h="514350">
                <a:tc>
                  <a:txBody>
                    <a:bodyPr wrap="square"/>
                    <a:lstStyle/>
                    <a:p>
                      <a:pPr>
                        <a:lnSpc>
                          <a:spcPct val="102000"/>
                        </a:lnSpc>
                        <a:buNone/>
                      </a:pPr>
                      <a:r>
                        <a:rPr sz="1875" b="1">
                          <a:solidFill>
                            <a:srgbClr val="172F39"/>
                          </a:solidFill>
                          <a:latin typeface="Noto Sans KR"/>
                          <a:ea typeface="Noto Sans KR"/>
                          <a:cs typeface="Noto Sans KR"/>
                        </a:rPr>
                        <a:t>원문</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분류</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빈 문자열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미측정</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수치 0.0</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"추움"</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이슈</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공백 한 칸</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현재 계약의 해석 이슈</a:t>
                      </a:r>
                    </a:p>
                  </a:txBody>
                  <a:tcPr marL="114300" marR="114300" marT="76200" marB="76200" anchor="ctr">
                    <a:solidFill>
                      <a:srgbClr val="FFFFFF"/>
                    </a:solidFill>
                  </a:tcPr>
                </a:tc>
              </a:tr>
            </a:tbl>
          </a:graphicData>
        </a:graphic>
      </p:graphicFrame>
      <p:sp>
        <p:nvSpPr>
          <p:cNvPr id="6" name="">
            <a:extLst>
              <a:ext uri="{FF2B5EF4-FFF2-40B4-BE49-F238E27FC236}">
                <ns2:creationId id="{001584AE-9694-4129-960B-B633F75E80A8}"/>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8CA19D5D-2928-4384-A1A8-399F7B10B93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9812B8D7-DFCF-4675-BD13-AB1EC1CEF1B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7156F5CE-0B49-43F5-B261-671931A70A7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BF4D0F73-FCC6-4C4D-AE1E-A469E3D02FF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060</a:t>
            </a:r>
          </a:p>
        </p:txBody>
      </p:sp>
    </p:spTree>
    <p:extLst>
      <p:ext uri="{BB962C8B-B14F-4D97-AF65-F5344CB8AC3E}">
        <ns4:creationId val="515425030"/>
      </p:ext>
    </p:extLst>
  </p:cSld>
</p:sld>
</file>

<file path=ppt/slides/slide6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1505AAA5-F426-4BAF-AA7C-EE4461DFF8E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7D300F2A-DE4B-4100-8562-024EBB027A1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네 입력을 어떻게 처리할까요?</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4011465"/>
                <a:gridCol w="6808935"/>
              </a:tblGrid>
              <a:tr h="536448">
                <a:tc>
                  <a:txBody>
                    <a:bodyPr wrap="square"/>
                    <a:lstStyle/>
                    <a:p>
                      <a:pPr>
                        <a:lnSpc>
                          <a:spcPct val="102000"/>
                        </a:lnSpc>
                        <a:buNone/>
                      </a:pPr>
                      <a:r>
                        <a:rPr sz="2025" b="1">
                          <a:solidFill>
                            <a:srgbClr val="172F39"/>
                          </a:solidFill>
                          <a:latin typeface="Noto Sans KR"/>
                          <a:ea typeface="Noto Sans KR"/>
                          <a:cs typeface="Noto Sans KR"/>
                        </a:rPr>
                        <a:t>원문</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분류</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빈 문자열</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미측정</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수치 0.0</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"추움"</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이슈</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공백 한 칸</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현재 계약의 해석 이슈</a:t>
                      </a:r>
                    </a:p>
                  </a:txBody>
                  <a:tcPr marL="114300" marR="114300" marT="76200" marB="76200" anchor="ctr">
                    <a:solidFill>
                      <a:srgbClr val="FFFFFF"/>
                    </a:solidFill>
                  </a:tcPr>
                </a:tc>
              </a:tr>
            </a:tbl>
          </a:graphicData>
        </a:graphic>
      </p:graphicFrame>
      <p:sp>
        <p:nvSpPr>
          <p:cNvPr id="4" name="">
            <a:extLst>
              <a:ext uri="{FF2B5EF4-FFF2-40B4-BE49-F238E27FC236}">
                <ns2:creationId id="{FAD9D8DE-36CF-41C1-ABE7-E69511F8EDB3}"/>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D36CF5CB-2B86-424F-8AC3-F68E8B9FDB7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12EF96B3-6094-4840-8EBD-C5C7E145573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F46EF9FA-13F6-4AD5-97E9-1606F8F522B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0C630DA7-74E7-472A-8168-357261F95B2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061</a:t>
            </a:r>
          </a:p>
        </p:txBody>
      </p:sp>
    </p:spTree>
    <p:extLst>
      <p:ext uri="{BB962C8B-B14F-4D97-AF65-F5344CB8AC3E}">
        <ns4:creationId val="1976440210"/>
      </p:ext>
    </p:extLst>
  </p:cSld>
</p:sld>
</file>

<file path=ppt/slides/slide6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B9FEAC29-EA38-43C3-AA8C-1F0C35E7DC7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7BE313AA-D5B8-40B7-ABB4-A7ABCF3BAC9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 새 문제</a:t>
            </a:r>
          </a:p>
        </p:txBody>
      </p:sp>
      <p:sp>
        <p:nvSpPr>
          <p:cNvPr id="3" name="">
            <a:extLst>
              <a:ext uri="{FF2B5EF4-FFF2-40B4-BE49-F238E27FC236}">
                <ns2:creationId id="{2508B2B8-2D0E-4755-A886-C4FB88ABFEB0}"/>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 복습: 수량 원문은 빈 글자·"0"·"여섯"·공백</a:t>
            </a:r>
          </a:p>
        </p:txBody>
      </p:sp>
      <p:sp>
        <p:nvSpPr>
          <p:cNvPr id="4" name="">
            <a:extLst>
              <a:ext uri="{FF2B5EF4-FFF2-40B4-BE49-F238E27FC236}">
                <ns2:creationId id="{F0126E3D-F73D-49B2-B1AA-504992E7E8DA}"/>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이 문제에서는 정확한 빈 문자열만 미확인으로 처리합니다.</a:t>
            </a:r>
          </a:p>
        </p:txBody>
      </p:sp>
      <p:sp>
        <p:nvSpPr>
          <p:cNvPr id="5" name="">
            <a:extLst>
              <a:ext uri="{FF2B5EF4-FFF2-40B4-BE49-F238E27FC236}">
                <ns2:creationId id="{A6274898-47E2-449A-A417-C157BB3DB921}"/>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네 갈래와 이슈 원문을 적으세요.</a:t>
            </a:r>
          </a:p>
        </p:txBody>
      </p:sp>
      <p:sp>
        <p:nvSpPr>
          <p:cNvPr id="6" name="">
            <a:extLst>
              <a:ext uri="{FF2B5EF4-FFF2-40B4-BE49-F238E27FC236}">
                <ns2:creationId id="{1B120A2F-2F29-4EE1-ACF4-F772B132B228}"/>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2839C599-0EEB-4CFB-AAE5-B305FD8EFFB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58C93EEC-0E4A-4FF4-99A8-BBBB18F7565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58E93C75-3A40-4257-8B59-B5F6EDB7149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3D222175-D5FA-4B97-B643-2D64FF32785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062</a:t>
            </a:r>
          </a:p>
        </p:txBody>
      </p:sp>
    </p:spTree>
    <p:extLst>
      <p:ext uri="{BB962C8B-B14F-4D97-AF65-F5344CB8AC3E}">
        <ns4:creationId val="167712708"/>
      </p:ext>
    </p:extLst>
  </p:cSld>
</p:sld>
</file>

<file path=ppt/slides/slide6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DE49C6EC-C08C-401C-81CF-F3D559BC8E4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172FFEA5-18AF-48EB-AAEE-3ACBF2EE8DE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빈 문자열과 공백도 다릅니다</a:t>
            </a:r>
          </a:p>
        </p:txBody>
      </p:sp>
      <p:sp>
        <p:nvSpPr>
          <p:cNvPr id="3" name="">
            <a:extLst>
              <a:ext uri="{FF2B5EF4-FFF2-40B4-BE49-F238E27FC236}">
                <ns2:creationId id="{3B7B0C72-5899-49D8-8CFD-3242C0C9CA70}"/>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빈 글자만 미확인이고 "0"은 수치입니다.</a:t>
            </a:r>
          </a:p>
        </p:txBody>
      </p:sp>
      <p:sp>
        <p:nvSpPr>
          <p:cNvPr id="4" name="">
            <a:extLst>
              <a:ext uri="{FF2B5EF4-FFF2-40B4-BE49-F238E27FC236}">
                <ns2:creationId id="{911AC1F7-6520-4E61-A13B-85E8BB751B60}"/>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"여섯"과 공백은 이슈로 원문을 남깁니다.</a:t>
            </a:r>
          </a:p>
        </p:txBody>
      </p:sp>
      <p:sp>
        <p:nvSpPr>
          <p:cNvPr id="5" name="">
            <a:extLst>
              <a:ext uri="{FF2B5EF4-FFF2-40B4-BE49-F238E27FC236}">
                <ns2:creationId id="{1DC7CFC3-2D36-4221-8049-B3C582FFF142}"/>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복습 · 새 문제</a:t>
            </a:r>
          </a:p>
        </p:txBody>
      </p:sp>
      <p:sp>
        <p:nvSpPr>
          <p:cNvPr id="6" name="">
            <a:extLst>
              <a:ext uri="{FF2B5EF4-FFF2-40B4-BE49-F238E27FC236}">
                <ns2:creationId id="{029344F6-E455-468B-8965-EB4DDD894B93}"/>
              </a:ext>
            </a:extLst>
          </p:cNvPr>
          <p:cNvSpPr>
            <a:spLocks noGrp="1"/>
          </p:cNvSpPr>
          <p:nvPr/>
        </p:nvSpPr>
        <p:spPr>
          <a:xfrm>
            <a:off x="6267450" y="2628900"/>
            <a:ext cx="5238750" cy="766191"/>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추가 복습: 수량 원문은 빈 글자·"0"·"여섯"·공백</a:t>
            </a:r>
          </a:p>
        </p:txBody>
      </p:sp>
      <p:sp>
        <p:nvSpPr>
          <p:cNvPr id="7" name="">
            <a:extLst>
              <a:ext uri="{FF2B5EF4-FFF2-40B4-BE49-F238E27FC236}">
                <ns2:creationId id="{693C4ADA-AE2A-4AAA-A12F-1979BC9F9850}"/>
              </a:ext>
            </a:extLst>
          </p:cNvPr>
          <p:cNvSpPr>
            <a:spLocks noGrp="1"/>
          </p:cNvSpPr>
          <p:nvPr/>
        </p:nvSpPr>
        <p:spPr>
          <a:xfrm>
            <a:off x="6267450" y="3442716"/>
            <a:ext cx="5238750" cy="766191"/>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이 문제에서는 정확한 빈 문자열만 미확인으로 처리합니다.</a:t>
            </a:r>
          </a:p>
        </p:txBody>
      </p:sp>
      <p:sp>
        <p:nvSpPr>
          <p:cNvPr id="8" name="">
            <a:extLst>
              <a:ext uri="{FF2B5EF4-FFF2-40B4-BE49-F238E27FC236}">
                <ns2:creationId id="{81F0D9C9-1FCA-48F5-B895-00D7629D06DD}"/>
              </a:ext>
            </a:extLst>
          </p:cNvPr>
          <p:cNvSpPr>
            <a:spLocks noGrp="1"/>
          </p:cNvSpPr>
          <p:nvPr/>
        </p:nvSpPr>
        <p:spPr>
          <a:xfrm>
            <a:off x="6267450" y="4256532"/>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네 갈래와 이슈 원문을 적으세요.</a:t>
            </a:r>
          </a:p>
        </p:txBody>
      </p:sp>
      <p:sp>
        <p:nvSpPr>
          <p:cNvPr id="9" name="">
            <a:extLst>
              <a:ext uri="{FF2B5EF4-FFF2-40B4-BE49-F238E27FC236}">
                <ns2:creationId id="{66CB9A71-9176-4536-9AA7-C6F3C4CBFE70}"/>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F5BB4CB8-D290-43EB-A636-3762A8FC924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1F6D59AE-F56B-43CB-9582-678B3BEFAF6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D99D8743-5A8D-4565-8C78-7AF621C56F0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849E9590-49EA-4242-AFC3-EE97D304B65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063</a:t>
            </a:r>
          </a:p>
        </p:txBody>
      </p:sp>
    </p:spTree>
    <p:extLst>
      <p:ext uri="{BB962C8B-B14F-4D97-AF65-F5344CB8AC3E}">
        <ns4:creationId val="829897114"/>
      </p:ext>
    </p:extLst>
  </p:cSld>
</p:sld>
</file>

<file path=ppt/slides/slide6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974A51A4-4FA9-4956-BE91-D3F5DE95194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EA34C9B2-906B-4EA7-8098-45A7DBD2CAF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먼저 할 일 · 오류와 미측정</a:t>
            </a:r>
          </a:p>
        </p:txBody>
      </p:sp>
      <p:sp>
        <p:nvSpPr>
          <p:cNvPr id="3" name="">
            <a:extLst>
              <a:ext uri="{FF2B5EF4-FFF2-40B4-BE49-F238E27FC236}">
                <ns2:creationId id="{C96E0FD6-44F9-4407-934E-643DF9BCC9D4}"/>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A10에서 0과 None을 구별합니다.</a:t>
            </a:r>
          </a:p>
        </p:txBody>
      </p:sp>
      <p:sp>
        <p:nvSpPr>
          <p:cNvPr id="4" name="">
            <a:extLst>
              <a:ext uri="{FF2B5EF4-FFF2-40B4-BE49-F238E27FC236}">
                <ns2:creationId id="{3D615FB3-F521-49C9-BBB2-AE19BBA5F7BF}"/>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A11에 오류 단서를 기록합니다.</a:t>
            </a:r>
          </a:p>
        </p:txBody>
      </p:sp>
      <p:sp>
        <p:nvSpPr>
          <p:cNvPr id="5" name="">
            <a:extLst>
              <a:ext uri="{FF2B5EF4-FFF2-40B4-BE49-F238E27FC236}">
                <ns2:creationId id="{C6B2D7C9-46E7-4327-B287-FD652D484F50}"/>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A12에서 특정 오류의 처리만 봅니다.</a:t>
            </a:r>
          </a:p>
        </p:txBody>
      </p:sp>
      <p:sp>
        <p:nvSpPr>
          <p:cNvPr id="6" name="">
            <a:extLst>
              <a:ext uri="{FF2B5EF4-FFF2-40B4-BE49-F238E27FC236}">
                <ns2:creationId id="{48DE4754-F317-4638-86AD-41FBD3E81591}"/>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45AC19B4-E83D-4233-9B4F-37432868BDA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81C5F7EB-6742-4C89-95BE-6BEFA10B780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1832BBBD-9B45-41B0-9EDD-3D121016FB3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96C8EB48-162E-428B-AD77-9E0746C6F14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064</a:t>
            </a:r>
          </a:p>
        </p:txBody>
      </p:sp>
    </p:spTree>
    <p:extLst>
      <p:ext uri="{BB962C8B-B14F-4D97-AF65-F5344CB8AC3E}">
        <ns4:creationId val="1103815154"/>
      </p:ext>
    </p:extLst>
  </p:cSld>
</p:sld>
</file>

<file path=ppt/slides/slide6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1E92C810-58E3-429E-A572-41A475CDD13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47D372EC-4DDF-43E7-BC48-360BE72E444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4교시 확인</a:t>
            </a:r>
          </a:p>
        </p:txBody>
      </p:sp>
      <p:sp>
        <p:nvSpPr>
          <p:cNvPr id="3" name="">
            <a:extLst>
              <a:ext uri="{FF2B5EF4-FFF2-40B4-BE49-F238E27FC236}">
                <ns2:creationId id="{E5407E3D-2A5F-4EF3-B858-EEA09F204EC2}"/>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미측정과 잘못된 입력을 합치지 않습니다.</a:t>
            </a:r>
          </a:p>
        </p:txBody>
      </p:sp>
      <p:sp>
        <p:nvSpPr>
          <p:cNvPr id="4" name="">
            <a:extLst>
              <a:ext uri="{FF2B5EF4-FFF2-40B4-BE49-F238E27FC236}">
                <ns2:creationId id="{AC04A0D3-4D7C-41B1-8EAC-5BC02923BA06}"/>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예외 처리가 실제값을 복구하지는 않습니다.</a:t>
            </a:r>
          </a:p>
        </p:txBody>
      </p:sp>
      <p:sp>
        <p:nvSpPr>
          <p:cNvPr id="5" name="">
            <a:extLst>
              <a:ext uri="{FF2B5EF4-FFF2-40B4-BE49-F238E27FC236}">
                <ns2:creationId id="{55ECE1E4-C4BD-4DB3-AF0C-2EF8349D1486}"/>
              </a:ext>
            </a:extLst>
          </p:cNvPr>
          <p:cNvSpPr>
            <a:spLocks noGrp="1"/>
          </p:cNvSpPr>
          <p:nvPr/>
        </p:nvSpPr>
        <p:spPr>
          <a:xfrm>
            <a:off x="685800" y="360616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공백 정리는 별도 규칙으로 정해야 합니다.</a:t>
            </a:r>
          </a:p>
        </p:txBody>
      </p:sp>
      <p:sp>
        <p:nvSpPr>
          <p:cNvPr id="6" name="">
            <a:extLst>
              <a:ext uri="{FF2B5EF4-FFF2-40B4-BE49-F238E27FC236}">
                <ns2:creationId id="{BFA764E7-0A40-4694-B689-242D55322270}"/>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네 입력을 어떻게 처리할까요?</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1942171"/>
                <a:gridCol w="3296579"/>
              </a:tblGrid>
              <a:tr h="514350">
                <a:tc>
                  <a:txBody>
                    <a:bodyPr wrap="square"/>
                    <a:lstStyle/>
                    <a:p>
                      <a:pPr>
                        <a:lnSpc>
                          <a:spcPct val="102000"/>
                        </a:lnSpc>
                        <a:buNone/>
                      </a:pPr>
                      <a:r>
                        <a:rPr sz="1875" b="1">
                          <a:solidFill>
                            <a:srgbClr val="172F39"/>
                          </a:solidFill>
                          <a:latin typeface="Noto Sans KR"/>
                          <a:ea typeface="Noto Sans KR"/>
                          <a:cs typeface="Noto Sans KR"/>
                        </a:rPr>
                        <a:t>원문</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분류</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빈 문자열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미측정</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수치 0.0</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"추움"</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이슈</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공백 한 칸</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현재 계약의 해석 이슈</a:t>
                      </a:r>
                    </a:p>
                  </a:txBody>
                  <a:tcPr marL="114300" marR="114300" marT="76200" marB="76200" anchor="ctr">
                    <a:solidFill>
                      <a:srgbClr val="FFFFFF"/>
                    </a:solidFill>
                  </a:tcPr>
                </a:tc>
              </a:tr>
            </a:tbl>
          </a:graphicData>
        </a:graphic>
      </p:graphicFrame>
      <p:sp>
        <p:nvSpPr>
          <p:cNvPr id="8" name="">
            <a:extLst>
              <a:ext uri="{FF2B5EF4-FFF2-40B4-BE49-F238E27FC236}">
                <ns2:creationId id="{A09F19D9-7772-4A28-AA1C-1953322DC165}"/>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41383599-CDB8-41C1-AD90-48AE3BF16F9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A047D67E-DD84-435D-B811-53D3D9B37D0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991C767F-92AF-46EA-9714-866CCDFC1D7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4E3B8559-AD98-4C90-B666-41DF3402336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065</a:t>
            </a:r>
          </a:p>
        </p:txBody>
      </p:sp>
    </p:spTree>
    <p:extLst>
      <p:ext uri="{BB962C8B-B14F-4D97-AF65-F5344CB8AC3E}">
        <ns4:creationId val="872727433"/>
      </p:ext>
    </p:extLst>
  </p:cSld>
</p:sld>
</file>

<file path=ppt/slides/slide6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84493CB2-FB62-4066-A9C4-E4284306A641}"/>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5교시</a:t>
            </a:r>
          </a:p>
        </p:txBody>
      </p:sp>
      <p:sp>
        <p:nvSpPr>
          <p:cNvPr id="2" name="">
            <a:extLst>
              <a:ext uri="{FF2B5EF4-FFF2-40B4-BE49-F238E27FC236}">
                <ns2:creationId id="{AF4AEA88-E6C8-4577-95D4-6FE2429C8862}"/>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검사 규칙과 재확인</a:t>
            </a:r>
          </a:p>
        </p:txBody>
      </p:sp>
      <p:sp>
        <p:nvSpPr>
          <p:cNvPr id="3" name="">
            <a:extLst>
              <a:ext uri="{FF2B5EF4-FFF2-40B4-BE49-F238E27FC236}">
                <ns2:creationId id="{09A10CFE-E5A0-4463-A8BD-5DF15C0BE13D}"/>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15:00~15:50 · 50분</a:t>
            </a:r>
          </a:p>
        </p:txBody>
      </p:sp>
      <p:sp>
        <p:nvSpPr>
          <p:cNvPr id="4" name="">
            <a:extLst>
              <a:ext uri="{FF2B5EF4-FFF2-40B4-BE49-F238E27FC236}">
                <ns2:creationId id="{B5E31E0D-A790-4484-9317-C9B2769E0660}"/>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먼저 할 활동: A13, A14, A15</a:t>
            </a:r>
          </a:p>
        </p:txBody>
      </p:sp>
      <p:sp>
        <p:nvSpPr>
          <p:cNvPr id="5" name="">
            <a:extLst>
              <a:ext uri="{FF2B5EF4-FFF2-40B4-BE49-F238E27FC236}">
                <ns2:creationId id="{B9DD186E-39C7-4C32-8E43-7B15B313F412}"/>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필수 활동을 마쳤으면 추가 문제를 풀어 보세요.</a:t>
            </a:r>
          </a:p>
        </p:txBody>
      </p:sp>
      <p:sp>
        <p:nvSpPr>
          <p:cNvPr id="6" name="">
            <a:extLst>
              <a:ext uri="{FF2B5EF4-FFF2-40B4-BE49-F238E27FC236}">
                <ns2:creationId id="{5371887C-69A0-4632-9DD7-7BBEDBDEE14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683E39E1-6ECC-40D7-89DE-7F78EE0FF35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65441177-6D16-4F17-983B-D35A90A4380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041C5428-C4C0-436A-8152-0A1B0DFF430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B1449B76-C617-4C7F-9B5B-0FF66E35E1F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066</a:t>
            </a:r>
          </a:p>
        </p:txBody>
      </p:sp>
    </p:spTree>
    <p:extLst>
      <p:ext uri="{BB962C8B-B14F-4D97-AF65-F5344CB8AC3E}">
        <ns4:creationId val="530879700"/>
      </p:ext>
    </p:extLst>
  </p:cSld>
</p:sld>
</file>

<file path=ppt/slides/slide6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1" name="">
            <a:extLst>
              <a:ext uri="{FF2B5EF4-FFF2-40B4-BE49-F238E27FC236}">
                <ns2:creationId id="{6F7117EF-930B-4FAB-81D2-0D04D4318E4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4420575E-2F37-4F33-8F08-5E263D79C98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완성 예 · 허용 범위 검사</a:t>
            </a:r>
          </a:p>
        </p:txBody>
      </p:sp>
      <p:sp>
        <p:nvSpPr>
          <p:cNvPr id="3" name="">
            <a:extLst>
              <a:ext uri="{FF2B5EF4-FFF2-40B4-BE49-F238E27FC236}">
                <ns2:creationId id="{2085075A-B25D-4ECB-9C87-FD117BBC168D}"/>
              </a:ext>
            </a:extLst>
          </p:cNvPr>
          <p:cNvSpPr>
            <a:spLocks noGrp="1"/>
          </p:cNvSpPr>
          <p:nvPr/>
        </p:nvSpPr>
        <p:spPr>
          <a:xfrm>
            <a:off x="685800" y="1809750"/>
            <a:ext cx="10820400" cy="2225802"/>
          </a:xfrm>
          <a:prstGeom prst="rect">
            <a:avLst/>
          </a:prstGeom>
          <a:solidFill>
            <a:srgbClr val="F1F6F5"/>
          </a:solidFill>
          <a:ln w="0">
            <a:noFill/>
          </a:ln>
        </p:spPr>
      </p:sp>
      <p:sp>
        <p:nvSpPr>
          <p:cNvPr id="4" name="">
            <a:extLst>
              <a:ext uri="{FF2B5EF4-FFF2-40B4-BE49-F238E27FC236}">
                <ns2:creationId id="{E7F63B92-A1D2-4A4A-BB0B-5A156E69BB8E}"/>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5BE9F17C-26D7-47E6-95C1-DFAF2E2E0121}"/>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def checked_temperature(raw):</a:t>
            </a:r>
          </a:p>
        </p:txBody>
      </p:sp>
      <p:sp>
        <p:nvSpPr>
          <p:cNvPr id="6" name="">
            <a:extLst>
              <a:ext uri="{FF2B5EF4-FFF2-40B4-BE49-F238E27FC236}">
                <ns2:creationId id="{0D5676F8-A7AF-4F76-B074-FEEADB486910}"/>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68BBFDE3-B95D-4608-A407-A9B3D84BED70}"/>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value = float(raw)</a:t>
            </a:r>
          </a:p>
        </p:txBody>
      </p:sp>
      <p:sp>
        <p:nvSpPr>
          <p:cNvPr id="8" name="">
            <a:extLst>
              <a:ext uri="{FF2B5EF4-FFF2-40B4-BE49-F238E27FC236}">
                <ns2:creationId id="{75A79907-BEC5-4106-ADDB-C30C4A5A4345}"/>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7D5C864C-EEA4-4D03-B3BB-D306CC079B64}"/>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if value &lt; 0 or value &gt; 50:</a:t>
            </a:r>
          </a:p>
        </p:txBody>
      </p:sp>
      <p:sp>
        <p:nvSpPr>
          <p:cNvPr id="10" name="">
            <a:extLst>
              <a:ext uri="{FF2B5EF4-FFF2-40B4-BE49-F238E27FC236}">
                <ns2:creationId id="{A05D8F35-25F7-44E3-A2C6-171537A2790F}"/>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8789F213-753D-4547-8B14-6F4C46EA1BF3}"/>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raise ValueError("범위 확인 필요")</a:t>
            </a:r>
          </a:p>
        </p:txBody>
      </p:sp>
      <p:sp>
        <p:nvSpPr>
          <p:cNvPr id="12" name="">
            <a:extLst>
              <a:ext uri="{FF2B5EF4-FFF2-40B4-BE49-F238E27FC236}">
                <ns2:creationId id="{60F3D6BB-74C1-4BED-9D5D-EFD52ADD9BAC}"/>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35E04401-CDDB-4549-9F9E-5E1DD92CBAD4}"/>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return value</a:t>
            </a:r>
          </a:p>
        </p:txBody>
      </p:sp>
      <p:sp>
        <p:nvSpPr>
          <p:cNvPr id="14" name="">
            <a:extLst>
              <a:ext uri="{FF2B5EF4-FFF2-40B4-BE49-F238E27FC236}">
                <ns2:creationId id="{6D181B4F-EF30-4179-89E1-B92F263CD00D}"/>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F415D3B3-BED2-4A4F-80DC-A7577E5D87BA}"/>
              </a:ext>
            </a:extLst>
          </p:cNvPr>
          <p:cNvSpPr>
            <a:spLocks noGrp="1"/>
          </p:cNvSpPr>
          <p:nvPr/>
        </p:nvSpPr>
        <p:spPr>
          <a:xfrm>
            <a:off x="1276350" y="351853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print(checked_temperature("23.5"))</a:t>
            </a:r>
          </a:p>
        </p:txBody>
      </p:sp>
      <p:sp>
        <p:nvSpPr>
          <p:cNvPr id="16" name="">
            <a:extLst>
              <a:ext uri="{FF2B5EF4-FFF2-40B4-BE49-F238E27FC236}">
                <ns2:creationId id="{540D1BF9-482E-4F29-B0D1-3D63BBE882D5}"/>
              </a:ext>
            </a:extLst>
          </p:cNvPr>
          <p:cNvSpPr>
            <a:spLocks noGrp="1"/>
          </p:cNvSpPr>
          <p:nvPr/>
        </p:nvSpPr>
        <p:spPr>
          <a:xfrm>
            <a:off x="685800" y="6172200"/>
            <a:ext cx="10820400" cy="9525"/>
          </a:xfrm>
          <a:prstGeom prst="rect">
            <a:avLst/>
          </a:prstGeom>
          <a:solidFill>
            <a:srgbClr val="D5DEDD"/>
          </a:solidFill>
          <a:ln w="0">
            <a:noFill/>
          </a:ln>
        </p:spPr>
      </p:sp>
      <p:sp>
        <p:nvSpPr>
          <p:cNvPr id="17" name="">
            <a:extLst>
              <a:ext uri="{FF2B5EF4-FFF2-40B4-BE49-F238E27FC236}">
                <ns2:creationId id="{F4B787D5-7570-4434-9F9C-25E6D7600CF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8" name="">
            <a:extLst>
              <a:ext uri="{FF2B5EF4-FFF2-40B4-BE49-F238E27FC236}">
                <ns2:creationId id="{CCBB6628-65CC-4CC5-BFF8-B3E674E1B0F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9" name="">
            <a:extLst>
              <a:ext uri="{FF2B5EF4-FFF2-40B4-BE49-F238E27FC236}">
                <ns2:creationId id="{A5E9181D-9973-42A2-8A0C-035538F1387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0" name="">
            <a:extLst>
              <a:ext uri="{FF2B5EF4-FFF2-40B4-BE49-F238E27FC236}">
                <ns2:creationId id="{F1B97B8B-BE5F-44E4-8B89-F3DEC296F9F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067</a:t>
            </a:r>
          </a:p>
        </p:txBody>
      </p:sp>
    </p:spTree>
    <p:extLst>
      <p:ext uri="{BB962C8B-B14F-4D97-AF65-F5344CB8AC3E}">
        <ns4:creationId val="458628449"/>
      </p:ext>
    </p:extLst>
  </p:cSld>
</p:sld>
</file>

<file path=ppt/slides/slide6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1FDCB815-53F7-43B8-81B5-0337B9C7018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7E09E1DD-9036-4149-92CE-1600FDBBAD5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숫자 변환 뒤에 범위를 확인합니다</a:t>
            </a:r>
          </a:p>
        </p:txBody>
      </p:sp>
      <p:sp>
        <p:nvSpPr>
          <p:cNvPr id="3" name="">
            <a:extLst>
              <a:ext uri="{FF2B5EF4-FFF2-40B4-BE49-F238E27FC236}">
                <ns2:creationId id="{630C93F7-D3C6-4EBB-979B-FE0CFC32E1A5}"/>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"51.0"은 숫자로 읽을 수 있습니다.</a:t>
            </a:r>
          </a:p>
        </p:txBody>
      </p:sp>
      <p:sp>
        <p:nvSpPr>
          <p:cNvPr id="4" name="">
            <a:extLst>
              <a:ext uri="{FF2B5EF4-FFF2-40B4-BE49-F238E27FC236}">
                <ns2:creationId id="{912FC225-35F7-4649-ADCB-FE524C65A25D}"/>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하지만 0~50 범위를 벗어납니다.</a:t>
            </a:r>
          </a:p>
        </p:txBody>
      </p:sp>
      <p:sp>
        <p:nvSpPr>
          <p:cNvPr id="5" name="">
            <a:extLst>
              <a:ext uri="{FF2B5EF4-FFF2-40B4-BE49-F238E27FC236}">
                <ns2:creationId id="{50927F80-A754-486E-AC3E-1C38D44EF686}"/>
              </a:ext>
            </a:extLst>
          </p:cNvPr>
          <p:cNvSpPr>
            <a:spLocks noGrp="1"/>
          </p:cNvSpPr>
          <p:nvPr/>
        </p:nvSpPr>
        <p:spPr>
          <a:xfrm>
            <a:off x="685800" y="29317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범위 밖 숫자를 허용 범위에 맞춰 임의로 고치지 않습니다.</a:t>
            </a:r>
          </a:p>
        </p:txBody>
      </p:sp>
      <p:sp>
        <p:nvSpPr>
          <p:cNvPr id="6" name="">
            <a:extLst>
              <a:ext uri="{FF2B5EF4-FFF2-40B4-BE49-F238E27FC236}">
                <ns2:creationId id="{650EBDB3-5A61-40DD-B735-098BE905CB4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범위의 안과 밖</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2082174"/>
                <a:gridCol w="3156576"/>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0~50 계약</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거부</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허용</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50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허용</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51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거부</a:t>
                      </a:r>
                    </a:p>
                  </a:txBody>
                  <a:tcPr marL="114300" marR="114300" marT="76200" marB="76200" anchor="ctr">
                    <a:solidFill>
                      <a:srgbClr val="FFFFFF"/>
                    </a:solidFill>
                  </a:tcPr>
                </a:tc>
              </a:tr>
            </a:tbl>
          </a:graphicData>
        </a:graphic>
      </p:graphicFrame>
      <p:sp>
        <p:nvSpPr>
          <p:cNvPr id="8" name="">
            <a:extLst>
              <a:ext uri="{FF2B5EF4-FFF2-40B4-BE49-F238E27FC236}">
                <ns2:creationId id="{ADCAC7D1-57BF-4417-B42B-247D2DE14123}"/>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9BBA9572-7E0D-412B-9DDA-2D3D224FD94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F5C488B4-0A60-4E27-9EBC-AC13C57D232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4A164B67-0258-4D7E-AEE5-C00B085DBB1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CE79FB4D-BD88-4232-AFB0-0C42C69F316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068</a:t>
            </a:r>
          </a:p>
        </p:txBody>
      </p:sp>
    </p:spTree>
    <p:extLst>
      <p:ext uri="{BB962C8B-B14F-4D97-AF65-F5344CB8AC3E}">
        <ns4:creationId val="903219553"/>
      </p:ext>
    </p:extLst>
  </p:cSld>
</p:sld>
</file>

<file path=ppt/slides/slide6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2DAFDD5B-4700-44F9-9715-5ED6D06C738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B2F43E78-360F-4FA9-948E-1B5EB4E3F14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범위의 안과 밖</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4300636"/>
                <a:gridCol w="6519764"/>
              </a:tblGrid>
              <a:tr h="536448">
                <a:tc>
                  <a:txBody>
                    <a:bodyPr wrap="square"/>
                    <a:lstStyle/>
                    <a:p>
                      <a:pPr>
                        <a:lnSpc>
                          <a:spcPct val="102000"/>
                        </a:lnSpc>
                        <a:buNone/>
                      </a:pPr>
                      <a:r>
                        <a:rPr sz="202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0~50 계약</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거부</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허용</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50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허용</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51</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거부</a:t>
                      </a:r>
                    </a:p>
                  </a:txBody>
                  <a:tcPr marL="114300" marR="114300" marT="76200" marB="76200" anchor="ctr">
                    <a:solidFill>
                      <a:srgbClr val="FFFFFF"/>
                    </a:solidFill>
                  </a:tcPr>
                </a:tc>
              </a:tr>
            </a:tbl>
          </a:graphicData>
        </a:graphic>
      </p:graphicFrame>
      <p:sp>
        <p:nvSpPr>
          <p:cNvPr id="4" name="">
            <a:extLst>
              <a:ext uri="{FF2B5EF4-FFF2-40B4-BE49-F238E27FC236}">
                <ns2:creationId id="{44A2934A-697D-420D-B349-DF649C35F42F}"/>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0B01257A-FF99-4176-8CDD-15CA2CEECD6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C8B6506B-490D-4588-BA02-E6A6E1109F8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60161E95-2F21-424B-833E-53710675DA7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17DF44A4-1AFF-4C32-A74B-6E557D49B93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069</a:t>
            </a:r>
          </a:p>
        </p:txBody>
      </p:sp>
    </p:spTree>
    <p:extLst>
      <p:ext uri="{BB962C8B-B14F-4D97-AF65-F5344CB8AC3E}">
        <ns4:creationId val="1682836628"/>
      </p:ext>
    </p:extLst>
  </p:cSld>
</p:sld>
</file>

<file path=ppt/slides/slide7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B410C7AD-433E-404A-B505-57458B2E81D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C7A824A1-B89F-4698-BAAE-CABE448F290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바깥쪽은 또는로 연결합니다</a:t>
            </a:r>
          </a:p>
        </p:txBody>
      </p:sp>
      <p:sp>
        <p:nvSpPr>
          <p:cNvPr id="3" name="">
            <a:extLst>
              <a:ext uri="{FF2B5EF4-FFF2-40B4-BE49-F238E27FC236}">
                <ns2:creationId id="{A4F85098-7440-4F54-BE66-8EAC7F1CB8C1}"/>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or 하나라도 참</a:t>
            </a:r>
          </a:p>
        </p:txBody>
      </p:sp>
      <p:sp>
        <p:nvSpPr>
          <p:cNvPr id="4" name="">
            <a:extLst>
              <a:ext uri="{FF2B5EF4-FFF2-40B4-BE49-F238E27FC236}">
                <ns2:creationId id="{64A8E6F9-ACED-46C3-8B9D-9B66936EE3B3}"/>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or는 둘 중 하나가 참이면 참입니다.</a:t>
            </a:r>
          </a:p>
        </p:txBody>
      </p:sp>
      <p:sp>
        <p:nvSpPr>
          <p:cNvPr id="5" name="">
            <a:extLst>
              <a:ext uri="{FF2B5EF4-FFF2-40B4-BE49-F238E27FC236}">
                <ns2:creationId id="{4F86E16E-7317-41C5-9407-FA30717525DA}"/>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and 둘 다 참</a:t>
            </a:r>
          </a:p>
        </p:txBody>
      </p:sp>
      <p:sp>
        <p:nvSpPr>
          <p:cNvPr id="6" name="">
            <a:extLst>
              <a:ext uri="{FF2B5EF4-FFF2-40B4-BE49-F238E27FC236}">
                <ns2:creationId id="{9A3D0DC9-710E-4AFD-B711-9B4BD6455566}"/>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and는 두 조건이 모두 참이어야 합니다.</a:t>
            </a:r>
          </a:p>
        </p:txBody>
      </p:sp>
      <p:sp>
        <p:nvSpPr>
          <p:cNvPr id="7" name="">
            <a:extLst>
              <a:ext uri="{FF2B5EF4-FFF2-40B4-BE49-F238E27FC236}">
                <ns2:creationId id="{08A945A8-005D-4367-8BAD-72673D2B92C7}"/>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FD179E21-E0FA-429F-AC02-CB8AE41C5F74}"/>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0보다 작거나 50보다 크면 범위 밖입니다.</a:t>
            </a:r>
          </a:p>
        </p:txBody>
      </p:sp>
      <p:sp>
        <p:nvSpPr>
          <p:cNvPr id="9" name="">
            <a:extLst>
              <a:ext uri="{FF2B5EF4-FFF2-40B4-BE49-F238E27FC236}">
                <ns2:creationId id="{6BF5C3E6-56CC-47A0-966A-2FCD2ADAF2C0}"/>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2CAFF1DA-6A76-4DE9-8F4D-6E9EBF11562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4C90BF8B-BD43-455D-9A25-632DF437BF5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9A8C5A2B-F0F4-4236-933C-8692F28E5D6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EEBF501D-B122-4926-8C51-0C60AD6555E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070</a:t>
            </a:r>
          </a:p>
        </p:txBody>
      </p:sp>
    </p:spTree>
    <p:extLst>
      <p:ext uri="{BB962C8B-B14F-4D97-AF65-F5344CB8AC3E}">
        <ns4:creationId val="1786661238"/>
      </p:ext>
    </p:extLst>
  </p:cSld>
</p:sld>
</file>

<file path=ppt/slides/slide7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57B8D37C-60A9-4702-BE21-13B6E1EC5E8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0B31667F-D16F-4ED4-BBFB-5F84A85FDA6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확인한 값으로만 고칩니다</a:t>
            </a:r>
          </a:p>
        </p:txBody>
      </p:sp>
      <p:sp>
        <p:nvSpPr>
          <p:cNvPr id="3" name="">
            <a:extLst>
              <a:ext uri="{FF2B5EF4-FFF2-40B4-BE49-F238E27FC236}">
                <ns2:creationId id="{B66AAF7F-002B-4045-BE8F-CB6B458BDF21}"/>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확인된 S05</a:t>
            </a:r>
          </a:p>
        </p:txBody>
      </p:sp>
      <p:sp>
        <p:nvSpPr>
          <p:cNvPr id="4" name="">
            <a:extLst>
              <a:ext uri="{FF2B5EF4-FFF2-40B4-BE49-F238E27FC236}">
                <ns2:creationId id="{39201DBD-B346-4597-B472-34AB21E73BEC}"/>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확인된 S05는 23.5로 고칩니다.</a:t>
            </a:r>
          </a:p>
        </p:txBody>
      </p:sp>
      <p:sp>
        <p:nvSpPr>
          <p:cNvPr id="5" name="">
            <a:extLst>
              <a:ext uri="{FF2B5EF4-FFF2-40B4-BE49-F238E27FC236}">
                <ns2:creationId id="{CC6388FE-6DE5-494D-AAFF-C5FA5839F52A}"/>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미확인 S06</a:t>
            </a:r>
          </a:p>
        </p:txBody>
      </p:sp>
      <p:sp>
        <p:nvSpPr>
          <p:cNvPr id="6" name="">
            <a:extLst>
              <a:ext uri="{FF2B5EF4-FFF2-40B4-BE49-F238E27FC236}">
                <ns2:creationId id="{7E2BD590-A003-4218-9CBD-1362617C8B66}"/>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미확인 S06은 원문과 이유를 남깁니다.</a:t>
            </a:r>
          </a:p>
        </p:txBody>
      </p:sp>
      <p:sp>
        <p:nvSpPr>
          <p:cNvPr id="7" name="">
            <a:extLst>
              <a:ext uri="{FF2B5EF4-FFF2-40B4-BE49-F238E27FC236}">
                <ns2:creationId id="{E12E57F9-B28A-45D1-8806-7649667ABD9A}"/>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11772137-3DE8-4B7C-9E5A-986DCB6A47DE}"/>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이슈를 줄이려고 행을 삭제하지 않습니다.</a:t>
            </a:r>
          </a:p>
        </p:txBody>
      </p:sp>
      <p:sp>
        <p:nvSpPr>
          <p:cNvPr id="9" name="">
            <a:extLst>
              <a:ext uri="{FF2B5EF4-FFF2-40B4-BE49-F238E27FC236}">
                <ns2:creationId id="{35F96CB8-6F15-42BC-A349-3BA7CA18AE01}"/>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187A345C-C495-4249-89CD-C12C6859968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C599E798-4CC4-44BD-BF57-2A0ED5E8BD8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397B601F-B098-4373-A3D4-F8BE312D1B8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B9BD6407-467B-4A05-A898-363C41646ED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071</a:t>
            </a:r>
          </a:p>
        </p:txBody>
      </p:sp>
    </p:spTree>
    <p:extLst>
      <p:ext uri="{BB962C8B-B14F-4D97-AF65-F5344CB8AC3E}">
        <ns4:creationId val="869636219"/>
      </p:ext>
    </p:extLst>
  </p:cSld>
</p:sld>
</file>

<file path=ppt/slides/slide7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E960C0CB-1B5B-4630-9CF1-2BB71AC4A5B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3DA284B1-3712-4A24-96A8-E007BAAD323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같은 사례를 다시 확인합니다</a:t>
            </a:r>
          </a:p>
        </p:txBody>
      </p:sp>
      <p:sp>
        <p:nvSpPr>
          <p:cNvPr id="3" name="">
            <a:extLst>
              <a:ext uri="{FF2B5EF4-FFF2-40B4-BE49-F238E27FC236}">
                <ns2:creationId id="{2297B610-EF53-456F-97E9-02C765088C28}"/>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실패했던 입력을 다시 봅니다.</a:t>
            </a:r>
          </a:p>
        </p:txBody>
      </p:sp>
      <p:sp>
        <p:nvSpPr>
          <p:cNvPr id="4" name="">
            <a:extLst>
              <a:ext uri="{FF2B5EF4-FFF2-40B4-BE49-F238E27FC236}">
                <ns2:creationId id="{B8C68E90-D71C-4659-936E-45AA71B3C1D2}"/>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원래 맞던 경계와 미측정도 봅니다.</a:t>
            </a:r>
          </a:p>
        </p:txBody>
      </p:sp>
      <p:sp>
        <p:nvSpPr>
          <p:cNvPr id="5" name="">
            <a:extLst>
              <a:ext uri="{FF2B5EF4-FFF2-40B4-BE49-F238E27FC236}">
                <ns2:creationId id="{E2C49E80-3870-4931-A3F7-CB6058A2262A}"/>
              </a:ext>
            </a:extLst>
          </p:cNvPr>
          <p:cNvSpPr>
            <a:spLocks noGrp="1"/>
          </p:cNvSpPr>
          <p:nvPr/>
        </p:nvSpPr>
        <p:spPr>
          <a:xfrm>
            <a:off x="685800" y="29317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무엇을 보고 고쳤고 결과가 어떻게 달라졌는지 적습니다.</a:t>
            </a:r>
          </a:p>
        </p:txBody>
      </p:sp>
      <p:sp>
        <p:nvSpPr>
          <p:cNvPr id="6" name="">
            <a:extLst>
              <a:ext uri="{FF2B5EF4-FFF2-40B4-BE49-F238E27FC236}">
                <ns2:creationId id="{60AEA888-C373-4313-9C27-78A4E00B7890}"/>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범위의 안과 밖</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2082174"/>
                <a:gridCol w="3156576"/>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0~50 계약</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거부</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허용</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50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허용</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51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거부</a:t>
                      </a:r>
                    </a:p>
                  </a:txBody>
                  <a:tcPr marL="114300" marR="114300" marT="76200" marB="76200" anchor="ctr">
                    <a:solidFill>
                      <a:srgbClr val="FFFFFF"/>
                    </a:solidFill>
                  </a:tcPr>
                </a:tc>
              </a:tr>
            </a:tbl>
          </a:graphicData>
        </a:graphic>
      </p:graphicFrame>
      <p:sp>
        <p:nvSpPr>
          <p:cNvPr id="8" name="">
            <a:extLst>
              <a:ext uri="{FF2B5EF4-FFF2-40B4-BE49-F238E27FC236}">
                <ns2:creationId id="{8C370805-F337-4B78-8538-C3FDBC3ACE59}"/>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040E1DCF-C8F2-4C1F-8E91-57C1C8A3163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713E07D5-D17B-4056-A05B-4DB34FCD959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9CE4F0D9-6AA5-47A2-870A-524A783CF3A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B603599D-4742-4316-857D-826C39075FF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072</a:t>
            </a:r>
          </a:p>
        </p:txBody>
      </p:sp>
    </p:spTree>
    <p:extLst>
      <p:ext uri="{BB962C8B-B14F-4D97-AF65-F5344CB8AC3E}">
        <ns4:creationId val="1913890134"/>
      </p:ext>
    </p:extLst>
  </p:cSld>
</p:sld>
</file>

<file path=ppt/slides/slide7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0D356424-1765-41CD-8B08-E7B39B52FAF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436ED9AF-CB21-4A34-9251-EFF4F5199F7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전체 건수와 분류한 건수</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4881383"/>
                <a:gridCol w="5939017"/>
              </a:tblGrid>
              <a:tr h="536448">
                <a:tc>
                  <a:txBody>
                    <a:bodyPr wrap="square"/>
                    <a:lstStyle/>
                    <a:p>
                      <a:pPr>
                        <a:lnSpc>
                          <a:spcPct val="102000"/>
                        </a:lnSpc>
                        <a:buNone/>
                      </a:pPr>
                      <a:r>
                        <a:rPr sz="2025" b="1">
                          <a:solidFill>
                            <a:srgbClr val="172F39"/>
                          </a:solidFill>
                          <a:latin typeface="Noto Sans KR"/>
                          <a:ea typeface="Noto Sans KR"/>
                          <a:cs typeface="Noto Sans KR"/>
                        </a:rPr>
                        <a:t>분류</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예시 건수</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전체</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6</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수치</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3</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미측정</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1</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이슈</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a:t>
                      </a:r>
                    </a:p>
                  </a:txBody>
                  <a:tcPr marL="114300" marR="114300" marT="76200" marB="76200" anchor="ctr">
                    <a:solidFill>
                      <a:srgbClr val="FFFFFF"/>
                    </a:solidFill>
                  </a:tcPr>
                </a:tc>
              </a:tr>
            </a:tbl>
          </a:graphicData>
        </a:graphic>
      </p:graphicFrame>
      <p:sp>
        <p:nvSpPr>
          <p:cNvPr id="4" name="">
            <a:extLst>
              <a:ext uri="{FF2B5EF4-FFF2-40B4-BE49-F238E27FC236}">
                <ns2:creationId id="{4CB6077D-310F-4A23-AFC3-25AAB8B3BA42}"/>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4D051E09-1BAA-4E86-88F7-16699B41D26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BC2C6037-2B67-4680-B8B9-232F57DCBD6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53398017-5DFF-49F5-94C5-74EBF72949C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0CE62A13-973A-4563-A21A-D46212A8FA2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073</a:t>
            </a:r>
          </a:p>
        </p:txBody>
      </p:sp>
    </p:spTree>
    <p:extLst>
      <p:ext uri="{BB962C8B-B14F-4D97-AF65-F5344CB8AC3E}">
        <ns4:creationId val="396754860"/>
      </p:ext>
    </p:extLst>
  </p:cSld>
</p:sld>
</file>

<file path=ppt/slides/slide7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50940D24-07EB-45A3-9F47-F0CA574DDDE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4F679F9D-57E1-4015-83CE-24E7C938341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처리한 건수와 평균에 쓴 건수</a:t>
            </a:r>
          </a:p>
        </p:txBody>
      </p:sp>
      <p:sp>
        <p:nvSpPr>
          <p:cNvPr id="3" name="">
            <a:extLst>
              <a:ext uri="{FF2B5EF4-FFF2-40B4-BE49-F238E27FC236}">
                <ns2:creationId id="{CAA620F3-F9CD-4EDF-96CB-523E1C4CDB50}"/>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수락 건수</a:t>
            </a:r>
          </a:p>
        </p:txBody>
      </p:sp>
      <p:sp>
        <p:nvSpPr>
          <p:cNvPr id="4" name="">
            <a:extLst>
              <a:ext uri="{FF2B5EF4-FFF2-40B4-BE49-F238E27FC236}">
                <ns2:creationId id="{DC58E8D4-ABB0-4A16-9966-B1D29B7FADE5}"/>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수락은 수치와 미측정의 합입니다.</a:t>
            </a:r>
          </a:p>
        </p:txBody>
      </p:sp>
      <p:sp>
        <p:nvSpPr>
          <p:cNvPr id="5" name="">
            <a:extLst>
              <a:ext uri="{FF2B5EF4-FFF2-40B4-BE49-F238E27FC236}">
                <ns2:creationId id="{E0F5B885-5781-4573-B33B-808F132D4EF0}"/>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평균에 쓴 건수</a:t>
            </a:r>
          </a:p>
        </p:txBody>
      </p:sp>
      <p:sp>
        <p:nvSpPr>
          <p:cNvPr id="6" name="">
            <a:extLst>
              <a:ext uri="{FF2B5EF4-FFF2-40B4-BE49-F238E27FC236}">
                <ns2:creationId id="{0DFE659C-F548-4228-B29C-7397BBD653AA}"/>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평균은 실제 수치만 대상으로 합니다.</a:t>
            </a:r>
          </a:p>
        </p:txBody>
      </p:sp>
      <p:sp>
        <p:nvSpPr>
          <p:cNvPr id="7" name="">
            <a:extLst>
              <a:ext uri="{FF2B5EF4-FFF2-40B4-BE49-F238E27FC236}">
                <ns2:creationId id="{171D4CF5-B7FB-4368-81C8-CEF1AB731133}"/>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F0D3B731-BCB9-4342-9D88-F13A9975AFC0}"/>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종료 코드 0이어도 모든 입력값이 맞다는 뜻은 아닙니다.</a:t>
            </a:r>
          </a:p>
        </p:txBody>
      </p:sp>
      <p:sp>
        <p:nvSpPr>
          <p:cNvPr id="9" name="">
            <a:extLst>
              <a:ext uri="{FF2B5EF4-FFF2-40B4-BE49-F238E27FC236}">
                <ns2:creationId id="{7CF54615-1F98-478F-B943-CD6261F26FED}"/>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CC7808EE-1BF2-49C6-95EC-D0295994DAC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CCF99E7A-7600-4245-8210-0AECA9FC213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539D3268-82E9-40F2-A86E-7E4371EF1E1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2C600952-2F6C-401C-BA47-859BF5BA535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074</a:t>
            </a:r>
          </a:p>
        </p:txBody>
      </p:sp>
    </p:spTree>
    <p:extLst>
      <p:ext uri="{BB962C8B-B14F-4D97-AF65-F5344CB8AC3E}">
        <ns4:creationId val="1581859959"/>
      </p:ext>
    </p:extLst>
  </p:cSld>
</p:sld>
</file>

<file path=ppt/slides/slide7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864F542F-F137-4BEA-B3F7-D55653FE2C1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30D05FD9-1B87-4123-9DA2-A99556084DD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수량 0~20개를 받는 접수창구</a:t>
            </a:r>
          </a:p>
        </p:txBody>
      </p:sp>
      <p:sp>
        <p:nvSpPr>
          <p:cNvPr id="3" name="">
            <a:extLst>
              <a:ext uri="{FF2B5EF4-FFF2-40B4-BE49-F238E27FC236}">
                <ns2:creationId id="{6837BA24-22D4-4E91-A7C2-64C8F99FA4AB}"/>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1">
                <a:solidFill>
                  <a:srgbClr val="172F39"/>
                </a:solidFill>
                <a:latin typeface="Noto Sans KR"/>
                <a:ea typeface="Noto Sans KR"/>
                <a:cs typeface="Noto Sans KR"/>
              </a:defRPr>
            </a:pPr>
            <a:r>
              <a:t>수량은 0~20개로 정하고 숫자인지, 범위에 맞는지 확인합니다.</a:t>
            </a:r>
          </a:p>
        </p:txBody>
      </p:sp>
      <p:sp>
        <p:nvSpPr>
          <p:cNvPr id="4" name="">
            <a:extLst>
              <a:ext uri="{FF2B5EF4-FFF2-40B4-BE49-F238E27FC236}">
                <ns2:creationId id="{345636F7-DC40-4862-AC45-523E720516D4}"/>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경계 0과 20도 허용합니다</a:t>
            </a:r>
          </a:p>
        </p:txBody>
      </p:sp>
      <p:graphicFrame>
        <p:nvGraphicFramePr>
          <p:cNvPr id="15" name=""/>
          <p:cNvGraphicFramePr/>
          <p:nvPr/>
        </p:nvGraphicFramePr>
        <p:xfrm>
          <a:off x="6267450" y="2628900"/>
          <a:ext cx="5238750" cy="2571750"/>
        </p:xfrm>
        <a:graphic>
          <a:graphicData uri="http://schemas.openxmlformats.org/drawingml/2006/table">
            <a:tbl>
              <a:tblPr firstRow="1" bandRow="0"/>
              <a:tblGrid>
                <a:gridCol w="2619375"/>
                <a:gridCol w="2619375"/>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거부</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허용</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허용</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21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거부</a:t>
                      </a:r>
                    </a:p>
                  </a:txBody>
                  <a:tcPr marL="114300" marR="114300" marT="76200" marB="76200" anchor="ctr">
                    <a:solidFill>
                      <a:srgbClr val="FFFFFF"/>
                    </a:solidFill>
                  </a:tcPr>
                </a:tc>
              </a:tr>
            </a:tbl>
          </a:graphicData>
        </a:graphic>
      </p:graphicFrame>
      <p:sp>
        <p:nvSpPr>
          <p:cNvPr id="6" name="">
            <a:extLst>
              <a:ext uri="{FF2B5EF4-FFF2-40B4-BE49-F238E27FC236}">
                <ns2:creationId id="{3AD7B066-F21F-4250-BE3B-07A2F7AD6E50}"/>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A932F81F-2577-4391-A5CE-385678B0C53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399AF158-3150-4FF0-B4F4-BB8F0A38358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87D04F83-0FEE-4AC0-BEAF-0659482437B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0B252DA4-F2F0-46B7-9E24-A8CE6CAC453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075</a:t>
            </a:r>
          </a:p>
        </p:txBody>
      </p:sp>
    </p:spTree>
    <p:extLst>
      <p:ext uri="{BB962C8B-B14F-4D97-AF65-F5344CB8AC3E}">
        <ns4:creationId val="1507464991"/>
      </p:ext>
    </p:extLst>
  </p:cSld>
</p:sld>
</file>

<file path=ppt/slides/slide7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4501CE9D-5927-4F88-9850-5624ED533BA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BA1770D0-C633-4BBE-A9D6-01CBACF7124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경계 0과 20도 허용합니다</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5410200"/>
                <a:gridCol w="5410200"/>
              </a:tblGrid>
              <a:tr h="536448">
                <a:tc>
                  <a:txBody>
                    <a:bodyPr wrap="square"/>
                    <a:lstStyle/>
                    <a:p>
                      <a:pPr>
                        <a:lnSpc>
                          <a:spcPct val="102000"/>
                        </a:lnSpc>
                        <a:buNone/>
                      </a:pPr>
                      <a:r>
                        <a:rPr sz="202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결과</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거부</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허용</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20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허용</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21</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거부</a:t>
                      </a:r>
                    </a:p>
                  </a:txBody>
                  <a:tcPr marL="114300" marR="114300" marT="76200" marB="76200" anchor="ctr">
                    <a:solidFill>
                      <a:srgbClr val="FFFFFF"/>
                    </a:solidFill>
                  </a:tcPr>
                </a:tc>
              </a:tr>
            </a:tbl>
          </a:graphicData>
        </a:graphic>
      </p:graphicFrame>
      <p:sp>
        <p:nvSpPr>
          <p:cNvPr id="4" name="">
            <a:extLst>
              <a:ext uri="{FF2B5EF4-FFF2-40B4-BE49-F238E27FC236}">
                <ns2:creationId id="{7A03671B-7752-4006-889B-E359AAF449E6}"/>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5415D097-1478-4BA2-8CE6-4D31D1BEEA8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46E88907-A9DD-47F2-9224-B49A21E99A6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FA7BF162-074A-49C6-A200-98FA23531E5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E22C3FF3-4553-40DF-861E-78BA48216E0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076</a:t>
            </a:r>
          </a:p>
        </p:txBody>
      </p:sp>
    </p:spTree>
    <p:extLst>
      <p:ext uri="{BB962C8B-B14F-4D97-AF65-F5344CB8AC3E}">
        <ns4:creationId val="470610999"/>
      </p:ext>
    </p:extLst>
  </p:cSld>
</p:sld>
</file>

<file path=ppt/slides/slide7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178AECD6-23BE-425C-B372-480E21D00BF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E104C207-8E36-4BD9-A34E-0EB5530C545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 새 문제</a:t>
            </a:r>
          </a:p>
        </p:txBody>
      </p:sp>
      <p:sp>
        <p:nvSpPr>
          <p:cNvPr id="3" name="">
            <a:extLst>
              <a:ext uri="{FF2B5EF4-FFF2-40B4-BE49-F238E27FC236}">
                <ns2:creationId id="{923FFB6E-91C2-4E6B-A092-4EF7D0CAC48E}"/>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 복습: 충전율은 0~100%입니다.</a:t>
            </a:r>
          </a:p>
        </p:txBody>
      </p:sp>
      <p:sp>
        <p:nvSpPr>
          <p:cNvPr id="4" name="">
            <a:extLst>
              <a:ext uri="{FF2B5EF4-FFF2-40B4-BE49-F238E27FC236}">
                <ns2:creationId id="{58134D06-DA4B-4567-AA98-A8989A01D8DF}"/>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-0.1·0·50·100·100.1을 판정하세요.</a:t>
            </a:r>
          </a:p>
        </p:txBody>
      </p:sp>
      <p:sp>
        <p:nvSpPr>
          <p:cNvPr id="5" name="">
            <a:extLst>
              <a:ext uri="{FF2B5EF4-FFF2-40B4-BE49-F238E27FC236}">
                <ns2:creationId id="{9DFDB21E-80F9-4E63-9DB6-3D4CF7A29CB3}"/>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바깥을 찾는 논리 문장을 쓰세요.</a:t>
            </a:r>
          </a:p>
        </p:txBody>
      </p:sp>
      <p:sp>
        <p:nvSpPr>
          <p:cNvPr id="6" name="">
            <a:extLst>
              <a:ext uri="{FF2B5EF4-FFF2-40B4-BE49-F238E27FC236}">
                <ns2:creationId id="{FB4719FF-0EBF-446E-BA8A-4FC9A806F951}"/>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C1D1EE32-7326-4CE2-8D0A-F6B0956FBA7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B64A4C65-97B6-46BF-B3F7-C797349973D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06959AB3-FAFA-4563-B965-6F6084AE44D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3491019F-31D6-477C-9941-EAD1B6EDF33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077</a:t>
            </a:r>
          </a:p>
        </p:txBody>
      </p:sp>
    </p:spTree>
    <p:extLst>
      <p:ext uri="{BB962C8B-B14F-4D97-AF65-F5344CB8AC3E}">
        <ns4:creationId val="1341328659"/>
      </p:ext>
    </p:extLst>
  </p:cSld>
</p:sld>
</file>

<file path=ppt/slides/slide7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676DD53B-E237-41B3-AC1F-CEE887DD6E0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51FB2C45-F7B9-4972-92C0-BE68B6E86B9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충전율의 허용 범위</a:t>
            </a:r>
          </a:p>
        </p:txBody>
      </p:sp>
      <p:sp>
        <p:nvSpPr>
          <p:cNvPr id="3" name="">
            <a:extLst>
              <a:ext uri="{FF2B5EF4-FFF2-40B4-BE49-F238E27FC236}">
                <ns2:creationId id="{584FAC6B-3A03-4230-B268-523C93561C5E}"/>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0·50·100은 허용, 두 바깥값은 거부입니다.</a:t>
            </a:r>
          </a:p>
        </p:txBody>
      </p:sp>
      <p:sp>
        <p:nvSpPr>
          <p:cNvPr id="4" name="">
            <a:extLst>
              <a:ext uri="{FF2B5EF4-FFF2-40B4-BE49-F238E27FC236}">
                <ns2:creationId id="{A86CB536-072D-438F-8F5E-91D86C3E7B8E}"/>
              </a:ext>
            </a:extLst>
          </p:cNvPr>
          <p:cNvSpPr>
            <a:spLocks noGrp="1"/>
          </p:cNvSpPr>
          <p:nvPr/>
        </p:nvSpPr>
        <p:spPr>
          <a:xfrm>
            <a:off x="685800" y="276987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0 미만 또는 100 초과로 검사합니다.</a:t>
            </a:r>
          </a:p>
        </p:txBody>
      </p:sp>
      <p:sp>
        <p:nvSpPr>
          <p:cNvPr id="5" name="">
            <a:extLst>
              <a:ext uri="{FF2B5EF4-FFF2-40B4-BE49-F238E27FC236}">
                <ns2:creationId id="{D2D63E6E-9DA9-44F7-8806-8C561E3B014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복습 · 새 문제</a:t>
            </a:r>
          </a:p>
        </p:txBody>
      </p:sp>
      <p:sp>
        <p:nvSpPr>
          <p:cNvPr id="6" name="">
            <a:extLst>
              <a:ext uri="{FF2B5EF4-FFF2-40B4-BE49-F238E27FC236}">
                <ns2:creationId id="{E594D5F7-D47A-4759-B339-10EC19F78846}"/>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추가 복습: 충전율은 0~100%입니다.</a:t>
            </a:r>
          </a:p>
        </p:txBody>
      </p:sp>
      <p:sp>
        <p:nvSpPr>
          <p:cNvPr id="7" name="">
            <a:extLst>
              <a:ext uri="{FF2B5EF4-FFF2-40B4-BE49-F238E27FC236}">
                <ns2:creationId id="{52D3F1A0-0C1F-4492-A48B-ABED2CC9C428}"/>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-0.1·0·50·100·100.1을 판정하세요.</a:t>
            </a:r>
          </a:p>
        </p:txBody>
      </p:sp>
      <p:sp>
        <p:nvSpPr>
          <p:cNvPr id="8" name="">
            <a:extLst>
              <a:ext uri="{FF2B5EF4-FFF2-40B4-BE49-F238E27FC236}">
                <ns2:creationId id="{8158BCD9-FC81-43AB-82AE-1A6B3512778A}"/>
              </a:ext>
            </a:extLst>
          </p:cNvPr>
          <p:cNvSpPr>
            <a:spLocks noGrp="1"/>
          </p:cNvSpPr>
          <p:nvPr/>
        </p:nvSpPr>
        <p:spPr>
          <a:xfrm>
            <a:off x="6267450" y="360464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바깥을 찾는 논리 문장을 쓰세요.</a:t>
            </a:r>
          </a:p>
        </p:txBody>
      </p:sp>
      <p:sp>
        <p:nvSpPr>
          <p:cNvPr id="9" name="">
            <a:extLst>
              <a:ext uri="{FF2B5EF4-FFF2-40B4-BE49-F238E27FC236}">
                <ns2:creationId id="{48509275-7670-4F56-A716-D694297BC3B5}"/>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8AAC1245-1DF8-48D6-80FD-802E9F00D73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0DEAF78C-81E1-48AD-88FC-550351E0041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49F2A0AC-7067-4478-A519-263B111A199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7F583D94-646A-4BDF-BC1F-5DFE2325859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078</a:t>
            </a:r>
          </a:p>
        </p:txBody>
      </p:sp>
    </p:spTree>
    <p:extLst>
      <p:ext uri="{BB962C8B-B14F-4D97-AF65-F5344CB8AC3E}">
        <ns4:creationId val="553757413"/>
      </p:ext>
    </p:extLst>
  </p:cSld>
</p:sld>
</file>

<file path=ppt/slides/slide7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485E53F3-0542-4C0C-BD72-817FD048BEF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26AF607F-C2C0-4549-BF9E-7A1D0AF76F8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먼저 할 일 · 수정 후 다시 검사</a:t>
            </a:r>
          </a:p>
        </p:txBody>
      </p:sp>
      <p:sp>
        <p:nvSpPr>
          <p:cNvPr id="3" name="">
            <a:extLst>
              <a:ext uri="{FF2B5EF4-FFF2-40B4-BE49-F238E27FC236}">
                <ns2:creationId id="{BA7A656A-26DF-4749-A155-DF43BE98E7F0}"/>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A13 양 끝 경계를 포함해 확인합니다.</a:t>
            </a:r>
          </a:p>
        </p:txBody>
      </p:sp>
      <p:sp>
        <p:nvSpPr>
          <p:cNvPr id="4" name="">
            <a:extLst>
              <a:ext uri="{FF2B5EF4-FFF2-40B4-BE49-F238E27FC236}">
                <ns2:creationId id="{44E95A94-09DF-4E12-94B6-356BFD7D1794}"/>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A14에서 무엇을 확인하고 고쳤는지 적습니다.</a:t>
            </a:r>
          </a:p>
        </p:txBody>
      </p:sp>
      <p:sp>
        <p:nvSpPr>
          <p:cNvPr id="5" name="">
            <a:extLst>
              <a:ext uri="{FF2B5EF4-FFF2-40B4-BE49-F238E27FC236}">
                <ns2:creationId id="{3DE9CF2E-1BA8-405B-8ADB-21D8A75B0C96}"/>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A15 입력·출력의 뜻을 설명합니다.</a:t>
            </a:r>
          </a:p>
        </p:txBody>
      </p:sp>
      <p:sp>
        <p:nvSpPr>
          <p:cNvPr id="6" name="">
            <a:extLst>
              <a:ext uri="{FF2B5EF4-FFF2-40B4-BE49-F238E27FC236}">
                <ns2:creationId id="{55DC11BD-51E8-421F-A8C2-E6D94716752C}"/>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1A425F76-E17F-4D34-9A68-F773CB4822E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2A9F2A7E-CEC8-4264-855C-43B8989AAE9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39F9A612-7F7F-4DBA-ADD2-BE2B979973C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6F34F79B-0434-45DA-B06B-FB5A10164DC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079</a:t>
            </a:r>
          </a:p>
        </p:txBody>
      </p:sp>
    </p:spTree>
    <p:extLst>
      <p:ext uri="{BB962C8B-B14F-4D97-AF65-F5344CB8AC3E}">
        <ns4:creationId val="1978225461"/>
      </p:ext>
    </p:extLst>
  </p:cSld>
</p:sld>
</file>

<file path=ppt/slides/slide8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7718836B-1405-460E-B8BF-7860A27AA9A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DFA27985-D38E-4E0B-8864-E9C19B76C20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5교시 확인</a:t>
            </a:r>
          </a:p>
        </p:txBody>
      </p:sp>
      <p:sp>
        <p:nvSpPr>
          <p:cNvPr id="3" name="">
            <a:extLst>
              <a:ext uri="{FF2B5EF4-FFF2-40B4-BE49-F238E27FC236}">
                <ns2:creationId id="{500C4611-581A-41A1-B9B1-BB927CE70167}"/>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숫자로 변환되어도 허용 범위 밖일 수 있습니다.</a:t>
            </a:r>
          </a:p>
        </p:txBody>
      </p:sp>
      <p:sp>
        <p:nvSpPr>
          <p:cNvPr id="4" name="">
            <a:extLst>
              <a:ext uri="{FF2B5EF4-FFF2-40B4-BE49-F238E27FC236}">
                <ns2:creationId id="{567698B1-F6C5-4C96-8B76-686A6D15A965}"/>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범위 통과가 실제 센서 정확성을 뜻하지 않습니다.</a:t>
            </a:r>
          </a:p>
        </p:txBody>
      </p:sp>
      <p:sp>
        <p:nvSpPr>
          <p:cNvPr id="5" name="">
            <a:extLst>
              <a:ext uri="{FF2B5EF4-FFF2-40B4-BE49-F238E27FC236}">
                <ns2:creationId id="{F677C951-3B87-4F31-82B3-6B72B36A37BC}"/>
              </a:ext>
            </a:extLst>
          </p:cNvPr>
          <p:cNvSpPr>
            <a:spLocks noGrp="1"/>
          </p:cNvSpPr>
          <p:nvPr/>
        </p:nvSpPr>
        <p:spPr>
          <a:xfrm>
            <a:off x="685800" y="360616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전체=수락+이슈 관계로 검산합니다.</a:t>
            </a:r>
          </a:p>
        </p:txBody>
      </p:sp>
      <p:sp>
        <p:nvSpPr>
          <p:cNvPr id="6" name="">
            <a:extLst>
              <a:ext uri="{FF2B5EF4-FFF2-40B4-BE49-F238E27FC236}">
                <ns2:creationId id="{FD14294B-70B1-418F-90E5-7D75D24B872B}"/>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전체 건수와 분류한 건수</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2363346"/>
                <a:gridCol w="2875404"/>
              </a:tblGrid>
              <a:tr h="514350">
                <a:tc>
                  <a:txBody>
                    <a:bodyPr wrap="square"/>
                    <a:lstStyle/>
                    <a:p>
                      <a:pPr>
                        <a:lnSpc>
                          <a:spcPct val="102000"/>
                        </a:lnSpc>
                        <a:buNone/>
                      </a:pPr>
                      <a:r>
                        <a:rPr sz="1875" b="1">
                          <a:solidFill>
                            <a:srgbClr val="172F39"/>
                          </a:solidFill>
                          <a:latin typeface="Noto Sans KR"/>
                          <a:ea typeface="Noto Sans KR"/>
                          <a:cs typeface="Noto Sans KR"/>
                        </a:rPr>
                        <a:t>분류</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예시 건수</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전체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6</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수치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미측정</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이슈</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a:t>
                      </a:r>
                    </a:p>
                  </a:txBody>
                  <a:tcPr marL="114300" marR="114300" marT="76200" marB="76200" anchor="ctr">
                    <a:solidFill>
                      <a:srgbClr val="FFFFFF"/>
                    </a:solidFill>
                  </a:tcPr>
                </a:tc>
              </a:tr>
            </a:tbl>
          </a:graphicData>
        </a:graphic>
      </p:graphicFrame>
      <p:sp>
        <p:nvSpPr>
          <p:cNvPr id="8" name="">
            <a:extLst>
              <a:ext uri="{FF2B5EF4-FFF2-40B4-BE49-F238E27FC236}">
                <ns2:creationId id="{2F858BE2-3201-4723-B467-20C50B294157}"/>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E2596317-01D9-430F-BD75-1F089A342F5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1F2420FE-0242-48E3-82B7-3C090CFB97F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570C42F3-1519-4E04-A9B9-5E4921E084B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8225C04E-D4DE-4A7E-90EE-A252A71EC14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080</a:t>
            </a:r>
          </a:p>
        </p:txBody>
      </p:sp>
    </p:spTree>
    <p:extLst>
      <p:ext uri="{BB962C8B-B14F-4D97-AF65-F5344CB8AC3E}">
        <ns4:creationId val="717235455"/>
      </p:ext>
    </p:extLst>
  </p:cSld>
</p:sld>
</file>

<file path=ppt/slides/slide8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AB7766C5-D48C-4573-BE96-4CFA13C846E2}"/>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6교시</a:t>
            </a:r>
          </a:p>
        </p:txBody>
      </p:sp>
      <p:sp>
        <p:nvSpPr>
          <p:cNvPr id="2" name="">
            <a:extLst>
              <a:ext uri="{FF2B5EF4-FFF2-40B4-BE49-F238E27FC236}">
                <ns2:creationId id="{236B12D7-CCD2-482B-BB56-6CC15BFCCBB0}"/>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로그 검사기와 사용 안내</a:t>
            </a:r>
          </a:p>
        </p:txBody>
      </p:sp>
      <p:sp>
        <p:nvSpPr>
          <p:cNvPr id="3" name="">
            <a:extLst>
              <a:ext uri="{FF2B5EF4-FFF2-40B4-BE49-F238E27FC236}">
                <ns2:creationId id="{0AF02BEA-D9FD-4368-B611-E0D21DE92350}"/>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16:00~16:50 · 50분</a:t>
            </a:r>
          </a:p>
        </p:txBody>
      </p:sp>
      <p:sp>
        <p:nvSpPr>
          <p:cNvPr id="4" name="">
            <a:extLst>
              <a:ext uri="{FF2B5EF4-FFF2-40B4-BE49-F238E27FC236}">
                <ns2:creationId id="{12601C1E-A3C3-43F9-AC34-21E30D447A98}"/>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먼저 할 활동: A16, A17, A18</a:t>
            </a:r>
          </a:p>
        </p:txBody>
      </p:sp>
      <p:sp>
        <p:nvSpPr>
          <p:cNvPr id="5" name="">
            <a:extLst>
              <a:ext uri="{FF2B5EF4-FFF2-40B4-BE49-F238E27FC236}">
                <ns2:creationId id="{1ECDDAA5-EA95-4872-A1C5-EB3F84B8F452}"/>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필수 활동을 마쳤으면 추가 문제를 풀어 보세요.</a:t>
            </a:r>
          </a:p>
        </p:txBody>
      </p:sp>
      <p:sp>
        <p:nvSpPr>
          <p:cNvPr id="6" name="">
            <a:extLst>
              <a:ext uri="{FF2B5EF4-FFF2-40B4-BE49-F238E27FC236}">
                <ns2:creationId id="{AFBEA9C8-DF52-4464-9F37-91E4106C81F5}"/>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0C713871-CD67-42AC-A8F6-F7D3CC2B222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21AF9A18-15F3-44FF-9E9D-FEC57FEFCCC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8A9E5921-5B57-4BF9-A218-C746EB0C898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B67AF1C6-6830-46BA-998A-8AF854EB3E9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081</a:t>
            </a:r>
          </a:p>
        </p:txBody>
      </p:sp>
    </p:spTree>
    <p:extLst>
      <p:ext uri="{BB962C8B-B14F-4D97-AF65-F5344CB8AC3E}">
        <ns4:creationId val="1405948091"/>
      </p:ext>
    </p:extLst>
  </p:cSld>
</p:sld>
</file>

<file path=ppt/slides/slide8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2B865868-36AE-4671-BBD5-308E79206D7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DD441EBC-5699-4F76-BF42-0AB9A80CCE3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검사기 전체 흐름</a:t>
            </a:r>
          </a:p>
        </p:txBody>
      </p:sp>
      <p:sp>
        <p:nvSpPr>
          <p:cNvPr id="3" name="">
            <a:extLst>
              <a:ext uri="{FF2B5EF4-FFF2-40B4-BE49-F238E27FC236}">
                <ns2:creationId id="{849D9E17-6E2D-4687-A998-28DA00DE85A9}"/>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CSV를 한 행씩 읽습니다.</a:t>
            </a:r>
          </a:p>
        </p:txBody>
      </p:sp>
      <p:sp>
        <p:nvSpPr>
          <p:cNvPr id="4" name="">
            <a:extLst>
              <a:ext uri="{FF2B5EF4-FFF2-40B4-BE49-F238E27FC236}">
                <ns2:creationId id="{939DDE17-7340-4CDA-8512-B47A44A346EB}"/>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온도를 수치·미측정·이슈로 나눕니다.</a:t>
            </a:r>
          </a:p>
        </p:txBody>
      </p:sp>
      <p:sp>
        <p:nvSpPr>
          <p:cNvPr id="5" name="">
            <a:extLst>
              <a:ext uri="{FF2B5EF4-FFF2-40B4-BE49-F238E27FC236}">
                <ns2:creationId id="{2B25E059-6705-4071-801A-85C6D9B38315}"/>
              </a:ext>
            </a:extLst>
          </p:cNvPr>
          <p:cNvSpPr>
            <a:spLocks noGrp="1"/>
          </p:cNvSpPr>
          <p:nvPr/>
        </p:nvSpPr>
        <p:spPr>
          <a:xfrm>
            <a:off x="685800" y="326898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수치 평균과 건수를 계산합니다.</a:t>
            </a:r>
          </a:p>
        </p:txBody>
      </p:sp>
      <p:sp>
        <p:nvSpPr>
          <p:cNvPr id="6" name="">
            <a:extLst>
              <a:ext uri="{FF2B5EF4-FFF2-40B4-BE49-F238E27FC236}">
                <ns2:creationId id="{13861B89-DF9E-463F-A4C1-8CF14DCD39FC}"/>
              </a:ext>
            </a:extLst>
          </p:cNvPr>
          <p:cNvSpPr>
            <a:spLocks noGrp="1"/>
          </p:cNvSpPr>
          <p:nvPr/>
        </p:nvSpPr>
        <p:spPr>
          <a:xfrm>
            <a:off x="685800" y="376809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요약과 이슈를 JSON 파일로 저장합니다.</a:t>
            </a:r>
          </a:p>
        </p:txBody>
      </p:sp>
      <p:sp>
        <p:nvSpPr>
          <p:cNvPr id="7" name="">
            <a:extLst>
              <a:ext uri="{FF2B5EF4-FFF2-40B4-BE49-F238E27FC236}">
                <ns2:creationId id="{09661AE6-A441-473F-86C0-C7E4E2787205}"/>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제공 파일의 분류 결과</a:t>
            </a:r>
          </a:p>
        </p:txBody>
      </p:sp>
      <p:graphicFrame>
        <p:nvGraphicFramePr>
          <p:cNvPr id="21" name=""/>
          <p:cNvGraphicFramePr/>
          <p:nvPr/>
        </p:nvGraphicFramePr>
        <p:xfrm>
          <a:off x="6267450" y="2628900"/>
          <a:ext cx="5238750" cy="2571750"/>
        </p:xfrm>
        <a:graphic>
          <a:graphicData uri="http://schemas.openxmlformats.org/drawingml/2006/table">
            <a:tbl>
              <a:tblPr firstRow="1" bandRow="0"/>
              <a:tblGrid>
                <a:gridCol w="1525850"/>
                <a:gridCol w="1856450"/>
                <a:gridCol w="1856450"/>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오류 포함</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정상 파일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전체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6</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수락</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미측정</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이슈</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r>
            </a:tbl>
          </a:graphicData>
        </a:graphic>
      </p:graphicFrame>
      <p:sp>
        <p:nvSpPr>
          <p:cNvPr id="9" name="">
            <a:extLst>
              <a:ext uri="{FF2B5EF4-FFF2-40B4-BE49-F238E27FC236}">
                <ns2:creationId id="{6D84F57C-D385-41BF-8FE9-C61BD36F51D5}"/>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D93CEA0E-61AF-4400-A6C7-8C90B88D448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F49778FE-FCEA-4B04-AF29-49B5AAA7EFE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EF56367E-1FED-4E17-BCC9-B6FDD7315E4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6F9B1623-8F3F-43BA-A251-D7C64B0B791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082</a:t>
            </a:r>
          </a:p>
        </p:txBody>
      </p:sp>
    </p:spTree>
    <p:extLst>
      <p:ext uri="{BB962C8B-B14F-4D97-AF65-F5344CB8AC3E}">
        <ns4:creationId val="1935526419"/>
      </p:ext>
    </p:extLst>
  </p:cSld>
</p:sld>
</file>

<file path=ppt/slides/slide8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037AF0F9-8BB8-4583-9469-23E6D0383AF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61492FDD-E335-4E6B-8207-2499455B23F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행은 어떻게 처리될까요?</a:t>
            </a:r>
          </a:p>
        </p:txBody>
      </p:sp>
      <p:sp>
        <p:nvSpPr>
          <p:cNvPr id="3" name="">
            <a:extLst>
              <a:ext uri="{FF2B5EF4-FFF2-40B4-BE49-F238E27FC236}">
                <ns2:creationId id="{BE99F3D5-1DF9-4DC8-A2EF-078E5D171F04}"/>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원문을 해석 함수에 전달합니다.</a:t>
            </a:r>
          </a:p>
        </p:txBody>
      </p:sp>
      <p:sp>
        <p:nvSpPr>
          <p:cNvPr id="4" name="">
            <a:extLst>
              <a:ext uri="{FF2B5EF4-FFF2-40B4-BE49-F238E27FC236}">
                <ns2:creationId id="{7AC1B50D-E5D3-437A-B758-B9E0EF3E0AEF}"/>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잘못된 원문은 이슈에 남깁니다.</a:t>
            </a:r>
          </a:p>
        </p:txBody>
      </p:sp>
      <p:sp>
        <p:nvSpPr>
          <p:cNvPr id="5" name="">
            <a:extLst>
              <a:ext uri="{FF2B5EF4-FFF2-40B4-BE49-F238E27FC236}">
                <ns2:creationId id="{5BC248CF-5413-4D49-A8AA-9EB972E65EED}"/>
              </a:ext>
            </a:extLst>
          </p:cNvPr>
          <p:cNvSpPr>
            <a:spLocks noGrp="1"/>
          </p:cNvSpPr>
          <p:nvPr/>
        </p:nvSpPr>
        <p:spPr>
          <a:xfrm>
            <a:off x="685800" y="29317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미측정이면 missing 건수를 늘립니다.</a:t>
            </a:r>
          </a:p>
        </p:txBody>
      </p:sp>
      <p:sp>
        <p:nvSpPr>
          <p:cNvPr id="6" name="">
            <a:extLst>
              <a:ext uri="{FF2B5EF4-FFF2-40B4-BE49-F238E27FC236}">
                <ns2:creationId id="{B516F1FF-8FC3-4FA4-9022-803B80206BFA}"/>
              </a:ext>
            </a:extLst>
          </p:cNvPr>
          <p:cNvSpPr>
            <a:spLocks noGrp="1"/>
          </p:cNvSpPr>
          <p:nvPr/>
        </p:nvSpPr>
        <p:spPr>
          <a:xfrm>
            <a:off x="685800" y="343090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실제 숫자는 numbers에 넣습니다.</a:t>
            </a:r>
          </a:p>
        </p:txBody>
      </p:sp>
      <p:sp>
        <p:nvSpPr>
          <p:cNvPr id="7" name="">
            <a:extLst>
              <a:ext uri="{FF2B5EF4-FFF2-40B4-BE49-F238E27FC236}">
                <ns2:creationId id="{6EE6233C-A81D-4B4D-972F-7D0B2FBC7CC0}"/>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건수와 평균 계산하기</a:t>
            </a:r>
          </a:p>
        </p:txBody>
      </p:sp>
      <p:graphicFrame>
        <p:nvGraphicFramePr>
          <p:cNvPr id="21" name=""/>
          <p:cNvGraphicFramePr/>
          <p:nvPr/>
        </p:nvGraphicFramePr>
        <p:xfrm>
          <a:off x="6267450" y="2628900"/>
          <a:ext cx="5238750" cy="2571750"/>
        </p:xfrm>
        <a:graphic>
          <a:graphicData uri="http://schemas.openxmlformats.org/drawingml/2006/table">
            <a:tbl>
              <a:tblPr firstRow="1" bandRow="0"/>
              <a:tblGrid>
                <a:gridCol w="3218956"/>
                <a:gridCol w="2019794"/>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전체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5</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수치·미측정·이슈</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3·1·1</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수락</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평균</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30÷3=10</a:t>
                      </a:r>
                    </a:p>
                  </a:txBody>
                  <a:tcPr marL="114300" marR="114300" marT="76200" marB="76200" anchor="ctr">
                    <a:solidFill>
                      <a:srgbClr val="FFFFFF"/>
                    </a:solidFill>
                  </a:tcPr>
                </a:tc>
              </a:tr>
            </a:tbl>
          </a:graphicData>
        </a:graphic>
      </p:graphicFrame>
      <p:sp>
        <p:nvSpPr>
          <p:cNvPr id="9" name="">
            <a:extLst>
              <a:ext uri="{FF2B5EF4-FFF2-40B4-BE49-F238E27FC236}">
                <ns2:creationId id="{47F084A8-D0AF-4A40-B5C3-3DBC4739837E}"/>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6D094782-5181-4727-99E8-EAFBCCA2B11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FBEDE120-2D1C-4DC8-A77D-249B3699BC3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2EE73AA9-8712-451A-BB72-8C12EB02391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E9152DBE-25CB-4BE0-9E18-288FDA00E75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083</a:t>
            </a:r>
          </a:p>
        </p:txBody>
      </p:sp>
    </p:spTree>
    <p:extLst>
      <p:ext uri="{BB962C8B-B14F-4D97-AF65-F5344CB8AC3E}">
        <ns4:creationId val="994400567"/>
      </p:ext>
    </p:extLst>
  </p:cSld>
</p:sld>
</file>

<file path=ppt/slides/slide8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A32FAADA-FC6C-4772-A92E-7B9A2F529E7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89F41C36-3628-41F9-9FEC-BE8D17CADA5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continue는 다음 행으로 이동합니다</a:t>
            </a:r>
          </a:p>
        </p:txBody>
      </p:sp>
      <p:sp>
        <p:nvSpPr>
          <p:cNvPr id="3" name="">
            <a:extLst>
              <a:ext uri="{FF2B5EF4-FFF2-40B4-BE49-F238E27FC236}">
                <ns2:creationId id="{B6D31B55-2599-4AB5-BBF3-0EB2A52E29C9}"/>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문제 행을 이슈에 남깁니다.</a:t>
            </a:r>
          </a:p>
        </p:txBody>
      </p:sp>
      <p:sp>
        <p:nvSpPr>
          <p:cNvPr id="4" name="">
            <a:extLst>
              <a:ext uri="{FF2B5EF4-FFF2-40B4-BE49-F238E27FC236}">
                <ns2:creationId id="{798297DB-9CB5-4B16-BF31-39FB17B994F4}"/>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그 행의 값은 수치 목록에 넣지 않습니다.</a:t>
            </a:r>
          </a:p>
        </p:txBody>
      </p:sp>
      <p:sp>
        <p:nvSpPr>
          <p:cNvPr id="5" name="">
            <a:extLst>
              <a:ext uri="{FF2B5EF4-FFF2-40B4-BE49-F238E27FC236}">
                <ns2:creationId id="{8FCE3F84-9732-44F0-9413-54A5258AD32C}"/>
              </a:ext>
            </a:extLst>
          </p:cNvPr>
          <p:cNvSpPr>
            <a:spLocks noGrp="1"/>
          </p:cNvSpPr>
          <p:nvPr/>
        </p:nvSpPr>
        <p:spPr>
          <a:xfrm>
            <a:off x="685800" y="326898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다음 행의 원문을 읽습니다.</a:t>
            </a:r>
          </a:p>
        </p:txBody>
      </p:sp>
      <p:sp>
        <p:nvSpPr>
          <p:cNvPr id="6" name="">
            <a:extLst>
              <a:ext uri="{FF2B5EF4-FFF2-40B4-BE49-F238E27FC236}">
                <ns2:creationId id="{CE95A8A8-2400-4542-8D02-1E5A5B46D7FA}"/>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제공 파일의 분류 결과</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1525850"/>
                <a:gridCol w="1856450"/>
                <a:gridCol w="1856450"/>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오류 포함</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정상 파일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전체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6</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수락</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미측정</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이슈</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r>
            </a:tbl>
          </a:graphicData>
        </a:graphic>
      </p:graphicFrame>
      <p:sp>
        <p:nvSpPr>
          <p:cNvPr id="8" name="">
            <a:extLst>
              <a:ext uri="{FF2B5EF4-FFF2-40B4-BE49-F238E27FC236}">
                <ns2:creationId id="{2D822120-9CF1-4024-B849-C4220EF1CDF4}"/>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B6CC4394-3300-45DF-BCE1-90B309B230A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5207D621-33A8-4C66-B530-683736D2B10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AA930571-D4F1-4C23-AD11-C3D4F048C95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7459DD65-2D67-441E-A39B-E9A48DDE301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084</a:t>
            </a:r>
          </a:p>
        </p:txBody>
      </p:sp>
    </p:spTree>
    <p:extLst>
      <p:ext uri="{BB962C8B-B14F-4D97-AF65-F5344CB8AC3E}">
        <ns4:creationId val="2091214184"/>
      </p:ext>
    </p:extLst>
  </p:cSld>
</p:sld>
</file>

<file path=ppt/slides/slide8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D33FBC75-0E68-4350-9BE6-BDB4A46C64F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47789872-AB6F-4CAC-A8D4-C12AFF2489A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제공 파일의 분류 결과</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3151573"/>
                <a:gridCol w="3834414"/>
                <a:gridCol w="3834414"/>
              </a:tblGrid>
              <a:tr h="536448">
                <a:tc>
                  <a:txBody>
                    <a:bodyPr wrap="square"/>
                    <a:lstStyle/>
                    <a:p>
                      <a:pPr>
                        <a:lnSpc>
                          <a:spcPct val="102000"/>
                        </a:lnSpc>
                        <a:buNone/>
                      </a:pPr>
                      <a:r>
                        <a:rPr sz="202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오류 포함</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정상 파일</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전체</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6</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4</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수락</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4</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4</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미측정</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1</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이슈</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0</a:t>
                      </a:r>
                    </a:p>
                  </a:txBody>
                  <a:tcPr marL="114300" marR="114300" marT="76200" marB="76200" anchor="ctr">
                    <a:solidFill>
                      <a:srgbClr val="FFFFFF"/>
                    </a:solidFill>
                  </a:tcPr>
                </a:tc>
              </a:tr>
            </a:tbl>
          </a:graphicData>
        </a:graphic>
      </p:graphicFrame>
      <p:sp>
        <p:nvSpPr>
          <p:cNvPr id="4" name="">
            <a:extLst>
              <a:ext uri="{FF2B5EF4-FFF2-40B4-BE49-F238E27FC236}">
                <ns2:creationId id="{6DC15C17-6FC9-4AF2-BF5B-409FA9E95844}"/>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438E6E1F-9C86-45BB-8885-FBFEA3A2E3A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557E960A-D17D-44CF-9D2D-5C3B6E5250C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05835DBA-C067-4171-93AC-42DC359517F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437E65BE-EEE2-4EF8-B99A-276D1089161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085</a:t>
            </a:r>
          </a:p>
        </p:txBody>
      </p:sp>
    </p:spTree>
    <p:extLst>
      <p:ext uri="{BB962C8B-B14F-4D97-AF65-F5344CB8AC3E}">
        <ns4:creationId val="919248609"/>
      </p:ext>
    </p:extLst>
  </p:cSld>
</p:sld>
</file>

<file path=ppt/slides/slide8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C76F3115-DA5D-43FE-A34D-6220C20C772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98B4341D-2D17-4418-8DE9-94768825A0C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평균을 계산할 대상</a:t>
            </a:r>
          </a:p>
        </p:txBody>
      </p:sp>
      <p:sp>
        <p:nvSpPr>
          <p:cNvPr id="3" name="">
            <a:extLst>
              <a:ext uri="{FF2B5EF4-FFF2-40B4-BE49-F238E27FC236}">
                <ns2:creationId id="{8B950B9E-ADC5-4A40-8FA5-B72FA35F2CBD}"/>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수치 합을 수치 건수로 나눕니다.</a:t>
            </a:r>
          </a:p>
        </p:txBody>
      </p:sp>
      <p:sp>
        <p:nvSpPr>
          <p:cNvPr id="4" name="">
            <a:extLst>
              <a:ext uri="{FF2B5EF4-FFF2-40B4-BE49-F238E27FC236}">
                <ns2:creationId id="{B368D815-6C8F-4B42-9C1E-A7DBB09044C8}"/>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실제 0은 수치에 포함합니다.</a:t>
            </a:r>
          </a:p>
        </p:txBody>
      </p:sp>
      <p:sp>
        <p:nvSpPr>
          <p:cNvPr id="5" name="">
            <a:extLst>
              <a:ext uri="{FF2B5EF4-FFF2-40B4-BE49-F238E27FC236}">
                <ns2:creationId id="{78342C32-C4DD-40BD-998E-9C544BA543AA}"/>
              </a:ext>
            </a:extLst>
          </p:cNvPr>
          <p:cNvSpPr>
            <a:spLocks noGrp="1"/>
          </p:cNvSpPr>
          <p:nvPr/>
        </p:nvSpPr>
        <p:spPr>
          <a:xfrm>
            <a:off x="685800" y="29317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수치가 없으면 평균은 None입니다.</a:t>
            </a:r>
          </a:p>
        </p:txBody>
      </p:sp>
      <p:sp>
        <p:nvSpPr>
          <p:cNvPr id="6" name="">
            <a:extLst>
              <a:ext uri="{FF2B5EF4-FFF2-40B4-BE49-F238E27FC236}">
                <ns2:creationId id="{82F09CFC-1036-4B4A-A799-A7F9F6D0D7EA}"/>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건수와 평균 계산하기</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3218956"/>
                <a:gridCol w="2019794"/>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전체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5</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수치·미측정·이슈</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3·1·1</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수락</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평균</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30÷3=10</a:t>
                      </a:r>
                    </a:p>
                  </a:txBody>
                  <a:tcPr marL="114300" marR="114300" marT="76200" marB="76200" anchor="ctr">
                    <a:solidFill>
                      <a:srgbClr val="FFFFFF"/>
                    </a:solidFill>
                  </a:tcPr>
                </a:tc>
              </a:tr>
            </a:tbl>
          </a:graphicData>
        </a:graphic>
      </p:graphicFrame>
      <p:sp>
        <p:nvSpPr>
          <p:cNvPr id="8" name="">
            <a:extLst>
              <a:ext uri="{FF2B5EF4-FFF2-40B4-BE49-F238E27FC236}">
                <ns2:creationId id="{5D55D313-EC8D-4B9D-B8C7-0F614BBC8A8F}"/>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0839AE4F-6079-4BCF-AD69-269223D81DE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0510D8AD-696D-4F76-BDC7-4B285EBC10A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BEF4D5D7-C1BA-4749-9A42-C0E53148640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0B977D36-A2BA-43CE-8F4F-F811ED83DC2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086</a:t>
            </a:r>
          </a:p>
        </p:txBody>
      </p:sp>
    </p:spTree>
    <p:extLst>
      <p:ext uri="{BB962C8B-B14F-4D97-AF65-F5344CB8AC3E}">
        <ns4:creationId val="1597272617"/>
      </p:ext>
    </p:extLst>
  </p:cSld>
</p:sld>
</file>

<file path=ppt/slides/slide8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C1CE7995-1501-4A46-882E-1DB041233B2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75A23417-40ED-46EE-AB9F-E1E546F8400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입력이 비었을 때</a:t>
            </a:r>
          </a:p>
        </p:txBody>
      </p:sp>
      <p:graphicFrame>
        <p:nvGraphicFramePr>
          <p:cNvPr id="11" name=""/>
          <p:cNvGraphicFramePr/>
          <p:nvPr/>
        </p:nvGraphicFramePr>
        <p:xfrm>
          <a:off x="685800" y="1809750"/>
          <a:ext cx="10820400" cy="1609344"/>
        </p:xfrm>
        <a:graphic>
          <a:graphicData uri="http://schemas.openxmlformats.org/drawingml/2006/table">
            <a:tbl>
              <a:tblPr firstRow="1" bandRow="0"/>
              <a:tblGrid>
                <a:gridCol w="4091748"/>
                <a:gridCol w="2066539"/>
                <a:gridCol w="2479847"/>
                <a:gridCol w="2182266"/>
              </a:tblGrid>
              <a:tr h="536448">
                <a:tc>
                  <a:txBody>
                    <a:bodyPr wrap="square"/>
                    <a:lstStyle/>
                    <a:p>
                      <a:pPr>
                        <a:lnSpc>
                          <a:spcPct val="102000"/>
                        </a:lnSpc>
                        <a:buNone/>
                      </a:pPr>
                      <a:r>
                        <a:rPr sz="202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전체</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미측정</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평균</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헤더만</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None</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두 행 모두 빈값</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None</a:t>
                      </a:r>
                    </a:p>
                  </a:txBody>
                  <a:tcPr marL="114300" marR="114300" marT="76200" marB="76200" anchor="ctr">
                    <a:solidFill>
                      <a:srgbClr val="FFFFFF"/>
                    </a:solidFill>
                  </a:tcPr>
                </a:tc>
              </a:tr>
            </a:tbl>
          </a:graphicData>
        </a:graphic>
      </p:graphicFrame>
      <p:sp>
        <p:nvSpPr>
          <p:cNvPr id="4" name="">
            <a:extLst>
              <a:ext uri="{FF2B5EF4-FFF2-40B4-BE49-F238E27FC236}">
                <ns2:creationId id="{C1A89CC5-51AF-4400-BAF0-195C52E2F61C}"/>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BD581510-FCBA-409F-845C-D3A9D5E15DF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9FE2C3B4-7335-45B0-B7FB-BF815A546EF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056AC710-E73F-427E-9148-ED308146E4E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E791F03D-09A2-4974-8445-D754D837AC1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087</a:t>
            </a:r>
          </a:p>
        </p:txBody>
      </p:sp>
    </p:spTree>
    <p:extLst>
      <p:ext uri="{BB962C8B-B14F-4D97-AF65-F5344CB8AC3E}">
        <ns4:creationId val="925725629"/>
      </p:ext>
    </p:extLst>
  </p:cSld>
</p:sld>
</file>

<file path=ppt/slides/slide8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9BE76EAF-1A74-4929-8799-61819B90E77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E80C2E33-F183-4B1E-8C65-8ED8581933E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같은 None, 다른 원문입니다</a:t>
            </a:r>
          </a:p>
        </p:txBody>
      </p:sp>
      <p:sp>
        <p:nvSpPr>
          <p:cNvPr id="3" name="">
            <a:extLst>
              <a:ext uri="{FF2B5EF4-FFF2-40B4-BE49-F238E27FC236}">
                <ns2:creationId id="{FFDEC3EE-72E6-49D8-9E49-300A04914ED1}"/>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헤더만 있는 파일</a:t>
            </a:r>
          </a:p>
        </p:txBody>
      </p:sp>
      <p:sp>
        <p:nvSpPr>
          <p:cNvPr id="4" name="">
            <a:extLst>
              <a:ext uri="{FF2B5EF4-FFF2-40B4-BE49-F238E27FC236}">
                <ns2:creationId id="{52F2CAF9-A408-4446-86B9-AF779439388A}"/>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헤더만 있으면 기록이 0건입니다.</a:t>
            </a:r>
          </a:p>
        </p:txBody>
      </p:sp>
      <p:sp>
        <p:nvSpPr>
          <p:cNvPr id="5" name="">
            <a:extLst>
              <a:ext uri="{FF2B5EF4-FFF2-40B4-BE49-F238E27FC236}">
                <ns2:creationId id="{D304315E-7B20-4CE2-86CE-5B129AB619D7}"/>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두 행 모두 미측정</a:t>
            </a:r>
          </a:p>
        </p:txBody>
      </p:sp>
      <p:sp>
        <p:nvSpPr>
          <p:cNvPr id="6" name="">
            <a:extLst>
              <a:ext uri="{FF2B5EF4-FFF2-40B4-BE49-F238E27FC236}">
                <ns2:creationId id="{84D1853A-347C-44DB-A0C6-9DA7826F6F30}"/>
              </a:ext>
            </a:extLst>
          </p:cNvPr>
          <p:cNvSpPr>
            <a:spLocks noGrp="1"/>
          </p:cNvSpPr>
          <p:nvPr/>
        </p:nvSpPr>
        <p:spPr>
          <a:xfrm>
            <a:off x="6400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전부 미측정이면 기록은 존재합니다.</a:t>
            </a:r>
          </a:p>
        </p:txBody>
      </p:sp>
      <p:sp>
        <p:nvSpPr>
          <p:cNvPr id="7" name="">
            <a:extLst>
              <a:ext uri="{FF2B5EF4-FFF2-40B4-BE49-F238E27FC236}">
                <ns2:creationId id="{336DA009-33DA-49EC-8902-C832569D8131}"/>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BB31E3F3-29A0-4DA4-BED1-74C7CF910179}"/>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평균이 없다는 결과만으로 둘을 합치지 않습니다.</a:t>
            </a:r>
          </a:p>
        </p:txBody>
      </p:sp>
      <p:sp>
        <p:nvSpPr>
          <p:cNvPr id="9" name="">
            <a:extLst>
              <a:ext uri="{FF2B5EF4-FFF2-40B4-BE49-F238E27FC236}">
                <ns2:creationId id="{AC28AA78-2C31-4F19-9796-9E48AAA2AF9B}"/>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8C9A23FD-AE34-4EA7-BB8F-7E32D541D58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921ED33E-0015-4047-BDDB-7A5041CA661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4F7E77D0-6D32-4F25-B1B9-238CE7BAD26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A582F36A-1ED5-47AE-947F-BF6A91A26C7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088</a:t>
            </a:r>
          </a:p>
        </p:txBody>
      </p:sp>
    </p:spTree>
    <p:extLst>
      <p:ext uri="{BB962C8B-B14F-4D97-AF65-F5344CB8AC3E}">
        <ns4:creationId val="1405139319"/>
      </p:ext>
    </p:extLst>
  </p:cSld>
</p:sld>
</file>

<file path=ppt/slides/slide8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C67D4517-870B-4119-B22B-B57FEE0D02E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B52C37D6-DC37-4531-AA33-FAA8F25AF2F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사용 안내에 꼭 남길 것</a:t>
            </a:r>
          </a:p>
        </p:txBody>
      </p:sp>
      <p:sp>
        <p:nvSpPr>
          <p:cNvPr id="3" name="">
            <a:extLst>
              <a:ext uri="{FF2B5EF4-FFF2-40B4-BE49-F238E27FC236}">
                <ns2:creationId id="{72931298-FCC3-4A7C-8CC7-3295DDBF1890}"/>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입력 파일과 결과 파일의 주소</a:t>
            </a:r>
          </a:p>
        </p:txBody>
      </p:sp>
      <p:sp>
        <p:nvSpPr>
          <p:cNvPr id="4" name="">
            <a:extLst>
              <a:ext uri="{FF2B5EF4-FFF2-40B4-BE49-F238E27FC236}">
                <ns2:creationId id="{5B938185-1814-45B9-887B-76DB7B21B0A3}"/>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실행 명령과 실제 결과</a:t>
            </a:r>
          </a:p>
        </p:txBody>
      </p:sp>
      <p:sp>
        <p:nvSpPr>
          <p:cNvPr id="5" name="">
            <a:extLst>
              <a:ext uri="{FF2B5EF4-FFF2-40B4-BE49-F238E27FC236}">
                <ns2:creationId id="{7C508003-D5B1-44A8-BA58-15A779A3582E}"/>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이슈의 뜻과 확인하지 않은 범위</a:t>
            </a:r>
          </a:p>
        </p:txBody>
      </p:sp>
      <p:sp>
        <p:nvSpPr>
          <p:cNvPr id="6" name="">
            <a:extLst>
              <a:ext uri="{FF2B5EF4-FFF2-40B4-BE49-F238E27FC236}">
                <ns2:creationId id="{B3F71000-7389-4841-9112-F5AC798A5811}"/>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원문 수정의 근거</a:t>
            </a:r>
          </a:p>
        </p:txBody>
      </p:sp>
      <p:sp>
        <p:nvSpPr>
          <p:cNvPr id="7" name="">
            <a:extLst>
              <a:ext uri="{FF2B5EF4-FFF2-40B4-BE49-F238E27FC236}">
                <ns2:creationId id="{32E7B65A-28B7-4F2C-82BA-D6A654DD6FEA}"/>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5F31697B-C3D1-4DF3-A6F8-ED0C1881F95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86D2A7F7-991B-4688-9AB0-0BFEFF65C27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928DDE63-848B-4B3C-80AE-AD2871ABC96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683F20C1-9974-4761-8495-278336FBA83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089</a:t>
            </a:r>
          </a:p>
        </p:txBody>
      </p:sp>
    </p:spTree>
    <p:extLst>
      <p:ext uri="{BB962C8B-B14F-4D97-AF65-F5344CB8AC3E}">
        <ns4:creationId val="446104316"/>
      </p:ext>
    </p:extLst>
  </p:cSld>
</p:sld>
</file>

<file path=ppt/slides/slide9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ACCA0361-F787-44E5-9838-2485D884555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B3794384-0F17-48C7-B38E-CE33A520318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미측정·오류가 섞인 다섯 건</a:t>
            </a:r>
          </a:p>
        </p:txBody>
      </p:sp>
      <p:sp>
        <p:nvSpPr>
          <p:cNvPr id="3" name="">
            <a:extLst>
              <a:ext uri="{FF2B5EF4-FFF2-40B4-BE49-F238E27FC236}">
                <ns2:creationId id="{8167086F-5B9A-421C-A71C-02F84CB7B468}"/>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1">
                <a:solidFill>
                  <a:srgbClr val="172F39"/>
                </a:solidFill>
                <a:latin typeface="Noto Sans KR"/>
                <a:ea typeface="Noto Sans KR"/>
                <a:cs typeface="Noto Sans KR"/>
              </a:defRPr>
            </a:pPr>
            <a:r>
              <a:t>원문 "10"·빈값·"20"·"오류"·"0"를 봅니다.</a:t>
            </a:r>
          </a:p>
        </p:txBody>
      </p:sp>
      <p:sp>
        <p:nvSpPr>
          <p:cNvPr id="4" name="">
            <a:extLst>
              <a:ext uri="{FF2B5EF4-FFF2-40B4-BE49-F238E27FC236}">
                <ns2:creationId id="{E62DB06F-C989-4C99-9CE4-2B33064BFC00}"/>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건수와 평균 계산하기</a:t>
            </a:r>
          </a:p>
        </p:txBody>
      </p:sp>
      <p:graphicFrame>
        <p:nvGraphicFramePr>
          <p:cNvPr id="15" name=""/>
          <p:cNvGraphicFramePr/>
          <p:nvPr/>
        </p:nvGraphicFramePr>
        <p:xfrm>
          <a:off x="6267450" y="2628900"/>
          <a:ext cx="5238750" cy="2571750"/>
        </p:xfrm>
        <a:graphic>
          <a:graphicData uri="http://schemas.openxmlformats.org/drawingml/2006/table">
            <a:tbl>
              <a:tblPr firstRow="1" bandRow="0"/>
              <a:tblGrid>
                <a:gridCol w="3218956"/>
                <a:gridCol w="2019794"/>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결과</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전체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5</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수치·미측정·이슈</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3·1·1</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수락</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평균</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30÷3=10</a:t>
                      </a:r>
                    </a:p>
                  </a:txBody>
                  <a:tcPr marL="114300" marR="114300" marT="76200" marB="76200" anchor="ctr">
                    <a:solidFill>
                      <a:srgbClr val="FFFFFF"/>
                    </a:solidFill>
                  </a:tcPr>
                </a:tc>
              </a:tr>
            </a:tbl>
          </a:graphicData>
        </a:graphic>
      </p:graphicFrame>
      <p:sp>
        <p:nvSpPr>
          <p:cNvPr id="6" name="">
            <a:extLst>
              <a:ext uri="{FF2B5EF4-FFF2-40B4-BE49-F238E27FC236}">
                <ns2:creationId id="{B9AC40E1-A25E-4C2D-8F97-7FF36ED8FC1C}"/>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099303B1-4755-45DD-B342-E080B6B90F6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07FE3C93-5C37-4C9D-AFF2-0E4344CF7AB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4D77C267-B9EF-47E5-8B5F-EDF4F9AEBC0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C52AAE15-A94B-47BA-B0A0-AE1FD36AF5C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090</a:t>
            </a:r>
          </a:p>
        </p:txBody>
      </p:sp>
    </p:spTree>
    <p:extLst>
      <p:ext uri="{BB962C8B-B14F-4D97-AF65-F5344CB8AC3E}">
        <ns4:creationId val="1788272710"/>
      </p:ext>
    </p:extLst>
  </p:cSld>
</p:sld>
</file>

<file path=ppt/slides/slide9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6D8AA117-8A79-4578-BC97-F783B75678A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7C140874-7C45-4E82-BDAA-CE6C8386306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건수와 평균 계산하기</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6648608"/>
                <a:gridCol w="4171792"/>
              </a:tblGrid>
              <a:tr h="536448">
                <a:tc>
                  <a:txBody>
                    <a:bodyPr wrap="square"/>
                    <a:lstStyle/>
                    <a:p>
                      <a:pPr>
                        <a:lnSpc>
                          <a:spcPct val="102000"/>
                        </a:lnSpc>
                        <a:buNone/>
                      </a:pPr>
                      <a:r>
                        <a:rPr sz="202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결과</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전체</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5</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수치·미측정·이슈</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3·1·1</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수락</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4</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평균</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30÷3=10</a:t>
                      </a:r>
                    </a:p>
                  </a:txBody>
                  <a:tcPr marL="114300" marR="114300" marT="76200" marB="76200" anchor="ctr">
                    <a:solidFill>
                      <a:srgbClr val="FFFFFF"/>
                    </a:solidFill>
                  </a:tcPr>
                </a:tc>
              </a:tr>
            </a:tbl>
          </a:graphicData>
        </a:graphic>
      </p:graphicFrame>
      <p:sp>
        <p:nvSpPr>
          <p:cNvPr id="4" name="">
            <a:extLst>
              <a:ext uri="{FF2B5EF4-FFF2-40B4-BE49-F238E27FC236}">
                <ns2:creationId id="{F5AEC483-9910-446D-986F-FEC14624D5DE}"/>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72618557-0903-4B8F-8E65-FD4A06EBA67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D45CAD43-C420-4FCD-97F8-FBFA548E24F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813B3A12-D7EB-4974-A154-1ED87C85D32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541C9875-2544-4902-9812-ADE08BBC315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091</a:t>
            </a:r>
          </a:p>
        </p:txBody>
      </p:sp>
    </p:spTree>
    <p:extLst>
      <p:ext uri="{BB962C8B-B14F-4D97-AF65-F5344CB8AC3E}">
        <ns4:creationId val="431721427"/>
      </p:ext>
    </p:extLst>
  </p:cSld>
</p:sld>
</file>

<file path=ppt/slides/slide9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9A893E16-A33D-4490-8C60-98A44F5EF99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D584D361-B56F-48EA-9FC5-26CB794A7FB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 새 문제</a:t>
            </a:r>
          </a:p>
        </p:txBody>
      </p:sp>
      <p:sp>
        <p:nvSpPr>
          <p:cNvPr id="3" name="">
            <a:extLst>
              <a:ext uri="{FF2B5EF4-FFF2-40B4-BE49-F238E27FC236}">
                <ns2:creationId id="{7F802864-3558-43E0-AFD4-099252E36279}"/>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 복습: "5"·"15"·빈값·"뜨거움"·빈값·"0"</a:t>
            </a:r>
          </a:p>
        </p:txBody>
      </p:sp>
      <p:sp>
        <p:nvSpPr>
          <p:cNvPr id="4" name="">
            <a:extLst>
              <a:ext uri="{FF2B5EF4-FFF2-40B4-BE49-F238E27FC236}">
                <ns2:creationId id="{C4DE83E6-92BE-4FAD-9259-8DC6DBEFDC63}"/>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분류 건수와 평균, 두 검산식을 적으세요.</a:t>
            </a:r>
          </a:p>
        </p:txBody>
      </p:sp>
      <p:sp>
        <p:nvSpPr>
          <p:cNvPr id="5" name="">
            <a:extLst>
              <a:ext uri="{FF2B5EF4-FFF2-40B4-BE49-F238E27FC236}">
                <ns2:creationId id="{92D58D71-8903-40FB-81A1-93F155B21763}"/>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5F4A0469-393E-4D7D-81F5-92A3C197F38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5527DF92-CCF0-4155-9C3E-61C7085404A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C1B144B2-2CAC-4A46-A93A-6251FD01CB3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066D1B47-1CF6-4A0B-9A90-81C8C804DF2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092</a:t>
            </a:r>
          </a:p>
        </p:txBody>
      </p:sp>
    </p:spTree>
    <p:extLst>
      <p:ext uri="{BB962C8B-B14F-4D97-AF65-F5344CB8AC3E}">
        <ns4:creationId val="1137167457"/>
      </p:ext>
    </p:extLst>
  </p:cSld>
</p:sld>
</file>

<file path=ppt/slides/slide9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159BA140-7E3B-41A3-9737-57B72927AF2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518C7AAF-368B-4CFB-89D5-916B74F2059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전체·수락·이슈 검산</a:t>
            </a:r>
          </a:p>
        </p:txBody>
      </p:sp>
      <p:sp>
        <p:nvSpPr>
          <p:cNvPr id="3" name="">
            <a:extLst>
              <a:ext uri="{FF2B5EF4-FFF2-40B4-BE49-F238E27FC236}">
                <ns2:creationId id="{84568C79-2209-4E4A-8524-38F3A6C62854}"/>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전체6, 수치3, 미측정2, 이슈1, 수락5입니다.</a:t>
            </a:r>
          </a:p>
        </p:txBody>
      </p:sp>
      <p:sp>
        <p:nvSpPr>
          <p:cNvPr id="4" name="">
            <a:extLst>
              <a:ext uri="{FF2B5EF4-FFF2-40B4-BE49-F238E27FC236}">
                <ns2:creationId id="{74BAEC53-AA0F-4602-B7C8-F51207183F04}"/>
              </a:ext>
            </a:extLst>
          </p:cNvPr>
          <p:cNvSpPr>
            <a:spLocks noGrp="1"/>
          </p:cNvSpPr>
          <p:nvPr/>
        </p:nvSpPr>
        <p:spPr>
          <a:xfrm>
            <a:off x="685800" y="276987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평균6.67, 6=5+1, 5=3+2입니다.</a:t>
            </a:r>
          </a:p>
        </p:txBody>
      </p:sp>
      <p:sp>
        <p:nvSpPr>
          <p:cNvPr id="5" name="">
            <a:extLst>
              <a:ext uri="{FF2B5EF4-FFF2-40B4-BE49-F238E27FC236}">
                <ns2:creationId id="{2AB6DBD5-327A-4F6E-B949-540FFDAEAFC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복습 · 새 문제</a:t>
            </a:r>
          </a:p>
        </p:txBody>
      </p:sp>
      <p:sp>
        <p:nvSpPr>
          <p:cNvPr id="6" name="">
            <a:extLst>
              <a:ext uri="{FF2B5EF4-FFF2-40B4-BE49-F238E27FC236}">
                <ns2:creationId id="{6111E790-3A35-400F-B835-A3DC5AFA2E73}"/>
              </a:ext>
            </a:extLst>
          </p:cNvPr>
          <p:cNvSpPr>
            <a:spLocks noGrp="1"/>
          </p:cNvSpPr>
          <p:nvPr/>
        </p:nvSpPr>
        <p:spPr>
          <a:xfrm>
            <a:off x="6267450" y="2628900"/>
            <a:ext cx="5238750" cy="766191"/>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추가 복습: "5"·"15"·빈값·"뜨거움"·빈값·"0"</a:t>
            </a:r>
          </a:p>
        </p:txBody>
      </p:sp>
      <p:sp>
        <p:nvSpPr>
          <p:cNvPr id="7" name="">
            <a:extLst>
              <a:ext uri="{FF2B5EF4-FFF2-40B4-BE49-F238E27FC236}">
                <ns2:creationId id="{FCBEBDC5-8553-485C-ABBE-33CB15683F2C}"/>
              </a:ext>
            </a:extLst>
          </p:cNvPr>
          <p:cNvSpPr>
            <a:spLocks noGrp="1"/>
          </p:cNvSpPr>
          <p:nvPr/>
        </p:nvSpPr>
        <p:spPr>
          <a:xfrm>
            <a:off x="6267450" y="3442716"/>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분류 건수와 평균, 두 검산식을 적으세요.</a:t>
            </a:r>
          </a:p>
        </p:txBody>
      </p:sp>
      <p:sp>
        <p:nvSpPr>
          <p:cNvPr id="8" name="">
            <a:extLst>
              <a:ext uri="{FF2B5EF4-FFF2-40B4-BE49-F238E27FC236}">
                <ns2:creationId id="{0FAE1872-F3B0-4B8D-BF38-9F996400405D}"/>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82C03F91-63A2-4BDE-811A-B6BDBE8882A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7EC28E35-3D3C-4A68-9EA9-13A7B21AB3C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43902044-13D0-4447-B3FE-51D1EA43CD6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EFAC7BE5-2F9C-4187-A007-20662F460C5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093</a:t>
            </a:r>
          </a:p>
        </p:txBody>
      </p:sp>
    </p:spTree>
    <p:extLst>
      <p:ext uri="{BB962C8B-B14F-4D97-AF65-F5344CB8AC3E}">
        <ns4:creationId val="1428175646"/>
      </p:ext>
    </p:extLst>
  </p:cSld>
</p:sld>
</file>

<file path=ppt/slides/slide9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7782C99F-E053-4D2A-B48A-6B491CB98EB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08F3760C-6B84-4559-B42D-02D529CAC7D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먼저 할 일 · 파일별 비교</a:t>
            </a:r>
          </a:p>
        </p:txBody>
      </p:sp>
      <p:sp>
        <p:nvSpPr>
          <p:cNvPr id="3" name="">
            <a:extLst>
              <a:ext uri="{FF2B5EF4-FFF2-40B4-BE49-F238E27FC236}">
                <ns2:creationId id="{6F85361D-69C7-4EC2-9FEE-D8D385ED5EC0}"/>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A17에서 정상·오류·빈 입력을 비교합니다.</a:t>
            </a:r>
          </a:p>
        </p:txBody>
      </p:sp>
      <p:sp>
        <p:nvSpPr>
          <p:cNvPr id="4" name="">
            <a:extLst>
              <a:ext uri="{FF2B5EF4-FFF2-40B4-BE49-F238E27FC236}">
                <ns2:creationId id="{E3987B7E-7BF5-4363-939C-A1ABA1E1F2EE}"/>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A18에 재현 가능한 사용 안내를 씁니다.</a:t>
            </a:r>
          </a:p>
        </p:txBody>
      </p:sp>
      <p:sp>
        <p:nvSpPr>
          <p:cNvPr id="5" name="">
            <a:extLst>
              <a:ext uri="{FF2B5EF4-FFF2-40B4-BE49-F238E27FC236}">
                <ns2:creationId id="{C76D305C-2F4C-40C5-B7C5-75D7DD6A46AA}"/>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DD0E29BF-FF97-46AE-9039-D7FB3A83928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37A074B5-21EB-4D0F-8DA9-4D56EBB7D96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A428237B-4532-4341-8BB4-A51D10FA583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2C11862C-C3B4-4A67-B6EA-485F86D1A8B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094</a:t>
            </a:r>
          </a:p>
        </p:txBody>
      </p:sp>
    </p:spTree>
    <p:extLst>
      <p:ext uri="{BB962C8B-B14F-4D97-AF65-F5344CB8AC3E}">
        <ns4:creationId val="1661899499"/>
      </p:ext>
    </p:extLst>
  </p:cSld>
</p:sld>
</file>

<file path=ppt/slides/slide9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6DE46777-99C5-45CA-A2C8-FFFE5686E1F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746BB9FA-723D-475A-814C-1DC7B8543C3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6교시 확인</a:t>
            </a:r>
          </a:p>
        </p:txBody>
      </p:sp>
      <p:sp>
        <p:nvSpPr>
          <p:cNvPr id="3" name="">
            <a:extLst>
              <a:ext uri="{FF2B5EF4-FFF2-40B4-BE49-F238E27FC236}">
                <ns2:creationId id="{E2BE714E-6BC0-40DA-89DF-AD26F8E8ACDC}"/>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수락 건수는 숫자 건수와 다릅니다.</a:t>
            </a:r>
          </a:p>
        </p:txBody>
      </p:sp>
      <p:sp>
        <p:nvSpPr>
          <p:cNvPr id="4" name="">
            <a:extLst>
              <a:ext uri="{FF2B5EF4-FFF2-40B4-BE49-F238E27FC236}">
                <ns2:creationId id="{B3EBDA9C-1170-403C-9006-6104B1987C1E}"/>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평균 없음과 실제 평균 0을 구별합니다.</a:t>
            </a:r>
          </a:p>
        </p:txBody>
      </p:sp>
      <p:sp>
        <p:nvSpPr>
          <p:cNvPr id="5" name="">
            <a:extLst>
              <a:ext uri="{FF2B5EF4-FFF2-40B4-BE49-F238E27FC236}">
                <ns2:creationId id="{3F6969BD-96F1-4706-A4E3-4719BDBADE42}"/>
              </a:ext>
            </a:extLst>
          </p:cNvPr>
          <p:cNvSpPr>
            <a:spLocks noGrp="1"/>
          </p:cNvSpPr>
          <p:nvPr/>
        </p:nvSpPr>
        <p:spPr>
          <a:xfrm>
            <a:off x="685800" y="326898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파일명과 실행 범위를 함께 보고합니다.</a:t>
            </a:r>
          </a:p>
        </p:txBody>
      </p:sp>
      <p:sp>
        <p:nvSpPr>
          <p:cNvPr id="6" name="">
            <a:extLst>
              <a:ext uri="{FF2B5EF4-FFF2-40B4-BE49-F238E27FC236}">
                <ns2:creationId id="{A95A60E4-52D5-4E86-AD39-8B05AB79A449}"/>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입력이 비었을 때</a:t>
            </a:r>
          </a:p>
        </p:txBody>
      </p:sp>
      <p:graphicFrame>
        <p:nvGraphicFramePr>
          <p:cNvPr id="19" name=""/>
          <p:cNvGraphicFramePr/>
          <p:nvPr/>
        </p:nvGraphicFramePr>
        <p:xfrm>
          <a:off x="6267450" y="2628900"/>
          <a:ext cx="5238750" cy="1543050"/>
        </p:xfrm>
        <a:graphic>
          <a:graphicData uri="http://schemas.openxmlformats.org/drawingml/2006/table">
            <a:tbl>
              <a:tblPr firstRow="1" bandRow="0"/>
              <a:tblGrid>
                <a:gridCol w="1981040"/>
                <a:gridCol w="1000525"/>
                <a:gridCol w="1200630"/>
                <a:gridCol w="1056555"/>
              </a:tblGrid>
              <a:tr h="514350">
                <a:tc>
                  <a:txBody>
                    <a:bodyPr wrap="square"/>
                    <a:lstStyle/>
                    <a:p>
                      <a:pPr>
                        <a:lnSpc>
                          <a:spcPct val="102000"/>
                        </a:lnSpc>
                        <a:buNone/>
                      </a:pPr>
                      <a:r>
                        <a:rPr sz="1875" b="1">
                          <a:solidFill>
                            <a:srgbClr val="172F39"/>
                          </a:solidFill>
                          <a:latin typeface="Noto Sans KR"/>
                          <a:ea typeface="Noto Sans KR"/>
                          <a:cs typeface="Noto Sans KR"/>
                        </a:rPr>
                        <a:t>입력</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전체</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미측정</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평균</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헤더만</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None</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두 행 모두 빈값</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None</a:t>
                      </a:r>
                    </a:p>
                  </a:txBody>
                  <a:tcPr marL="114300" marR="114300" marT="76200" marB="76200" anchor="ctr">
                    <a:solidFill>
                      <a:srgbClr val="FFFFFF"/>
                    </a:solidFill>
                  </a:tcPr>
                </a:tc>
              </a:tr>
            </a:tbl>
          </a:graphicData>
        </a:graphic>
      </p:graphicFrame>
      <p:sp>
        <p:nvSpPr>
          <p:cNvPr id="8" name="">
            <a:extLst>
              <a:ext uri="{FF2B5EF4-FFF2-40B4-BE49-F238E27FC236}">
                <ns2:creationId id="{67DB6665-9E8A-45A3-B7A6-942F0C1E1419}"/>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2615718F-7BCD-4287-BC87-5CE9EC4BDCA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FE5515A1-E8FB-4906-AAE3-BC9B6F6B6F1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D3C810A3-A1DD-4BE6-9140-272F253B3EF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F196629D-42FF-4676-B959-E5FCC0532FC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095</a:t>
            </a:r>
          </a:p>
        </p:txBody>
      </p:sp>
    </p:spTree>
    <p:extLst>
      <p:ext uri="{BB962C8B-B14F-4D97-AF65-F5344CB8AC3E}">
        <ns4:creationId val="60113259"/>
      </p:ext>
    </p:extLst>
  </p:cSld>
</p:sld>
</file>

<file path=ppt/slides/slide9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21D2585B-D127-4A5A-8EA8-5D5E19C2D80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10/15 수업</a:t>
            </a:r>
          </a:p>
        </p:txBody>
      </p:sp>
      <p:sp>
        <p:nvSpPr>
          <p:cNvPr id="2" name="">
            <a:extLst>
              <a:ext uri="{FF2B5EF4-FFF2-40B4-BE49-F238E27FC236}">
                <ns2:creationId id="{E1CEAAF9-36C3-493A-988B-DD12297CC56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 한 일을 설명해 봅시다</a:t>
            </a:r>
          </a:p>
        </p:txBody>
      </p:sp>
      <p:sp>
        <p:nvSpPr>
          <p:cNvPr id="3" name="">
            <a:extLst>
              <a:ext uri="{FF2B5EF4-FFF2-40B4-BE49-F238E27FC236}">
                <ns2:creationId id="{4EE57AFA-BFE3-46C6-8A50-4558C29421E1}"/>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사용한 입력값부터 설명해 보세요.</a:t>
            </a:r>
          </a:p>
        </p:txBody>
      </p:sp>
      <p:sp>
        <p:nvSpPr>
          <p:cNvPr id="4" name="">
            <a:extLst>
              <a:ext uri="{FF2B5EF4-FFF2-40B4-BE49-F238E27FC236}">
                <ns2:creationId id="{3FDD706A-4630-416E-B68A-7C6C8630147B}"/>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그 값에 적용한 규칙을 설명해 보세요.</a:t>
            </a:r>
          </a:p>
        </p:txBody>
      </p:sp>
      <p:sp>
        <p:nvSpPr>
          <p:cNvPr id="5" name="">
            <a:extLst>
              <a:ext uri="{FF2B5EF4-FFF2-40B4-BE49-F238E27FC236}">
                <ns2:creationId id="{527A0DBE-4CCA-455B-AC86-15E5C81BAE41}"/>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확인한 결과와 더 알아봐야 할 내용을 따로 말해 보세요.</a:t>
            </a:r>
          </a:p>
        </p:txBody>
      </p:sp>
      <p:sp>
        <p:nvSpPr>
          <p:cNvPr id="6" name="">
            <a:extLst>
              <a:ext uri="{FF2B5EF4-FFF2-40B4-BE49-F238E27FC236}">
                <ns2:creationId id="{4A24FFBB-02D5-4A94-8C6C-3136ECB7FD8C}"/>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649639B5-E850-4291-B9D8-407070B623E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51CCAD59-CD2B-47F7-A239-AE42A8F9337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AE56C5EB-8EE8-4D83-B761-103A4847103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E3054ADB-6429-4B3E-B8A6-74C73EE2A15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096</a:t>
            </a:r>
          </a:p>
        </p:txBody>
      </p:sp>
    </p:spTree>
    <p:extLst>
      <p:ext uri="{BB962C8B-B14F-4D97-AF65-F5344CB8AC3E}">
        <ns4:creationId val="386057711"/>
      </p:ext>
    </p:extLst>
  </p:cSld>
</p:sld>
</file>

<file path=ppt/slides/slide9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237CD7F5-5764-4AF3-A485-964B3E19252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10/15 수업</a:t>
            </a:r>
          </a:p>
        </p:txBody>
      </p:sp>
      <p:sp>
        <p:nvSpPr>
          <p:cNvPr id="2" name="">
            <a:extLst>
              <a:ext uri="{FF2B5EF4-FFF2-40B4-BE49-F238E27FC236}">
                <ns2:creationId id="{C286A161-0452-4A9C-9906-48C7AFB814F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저장하고 다음 사람에게 넘기기</a:t>
            </a:r>
          </a:p>
        </p:txBody>
      </p:sp>
      <p:sp>
        <p:nvSpPr>
          <p:cNvPr id="3" name="">
            <a:extLst>
              <a:ext uri="{FF2B5EF4-FFF2-40B4-BE49-F238E27FC236}">
                <ns2:creationId id="{7559CDB4-13E7-4D28-96CF-3219DD884BC7}"/>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수정한 파일의 이름과 저장 폴더를 적으세요.</a:t>
            </a:r>
          </a:p>
        </p:txBody>
      </p:sp>
      <p:sp>
        <p:nvSpPr>
          <p:cNvPr id="4" name="">
            <a:extLst>
              <a:ext uri="{FF2B5EF4-FFF2-40B4-BE49-F238E27FC236}">
                <ns2:creationId id="{374735DD-8B37-452B-82D3-D2DE2A1C1318}"/>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무엇을 왜 고쳤고 결과가 어땠는지 적으세요.</a:t>
            </a:r>
          </a:p>
        </p:txBody>
      </p:sp>
      <p:sp>
        <p:nvSpPr>
          <p:cNvPr id="5" name="">
            <a:extLst>
              <a:ext uri="{FF2B5EF4-FFF2-40B4-BE49-F238E27FC236}">
                <ns2:creationId id="{CE0C50FB-2F01-4EE3-A241-73886AF7FE14}"/>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아직 모르는 값은 추측해서 넣지 마세요.</a:t>
            </a:r>
          </a:p>
        </p:txBody>
      </p:sp>
      <p:sp>
        <p:nvSpPr>
          <p:cNvPr id="6" name="">
            <a:extLst>
              <a:ext uri="{FF2B5EF4-FFF2-40B4-BE49-F238E27FC236}">
                <ns2:creationId id="{2822C679-7DD5-4ECF-BC3C-479A502F0085}"/>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72B56D9C-4F23-42AD-A4C3-ACA0EF574B7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10DE5070-05E3-4EDE-8111-2FAE1B163AF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9764406C-BFC5-4D05-9D31-81AF4678624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EC9CBAA3-11E7-45D2-8787-7E95D72752A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097</a:t>
            </a:r>
          </a:p>
        </p:txBody>
      </p:sp>
    </p:spTree>
    <p:extLst>
      <p:ext uri="{BB962C8B-B14F-4D97-AF65-F5344CB8AC3E}">
        <ns4:creationId val="1049112915"/>
      </p:ext>
    </p:extLst>
  </p:cSld>
</p:sld>
</file>

<file path=ppt/slides/slide9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8" name="">
            <a:extLst>
              <a:ext uri="{FF2B5EF4-FFF2-40B4-BE49-F238E27FC236}">
                <ns2:creationId id="{52CFC59D-86E2-4849-99A8-F36E5DC07C4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10/15 수업</a:t>
            </a:r>
          </a:p>
        </p:txBody>
      </p:sp>
      <p:sp>
        <p:nvSpPr>
          <p:cNvPr id="2" name="">
            <a:extLst>
              <a:ext uri="{FF2B5EF4-FFF2-40B4-BE49-F238E27FC236}">
                <ns2:creationId id="{23D3165A-F078-47EA-A13D-9664229916A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오늘의 수업 자료</a:t>
            </a:r>
          </a:p>
        </p:txBody>
      </p:sp>
      <p:sp>
        <p:nvSpPr>
          <p:cNvPr id="3" name="">
            <a:extLst>
              <a:ext uri="{FF2B5EF4-FFF2-40B4-BE49-F238E27FC236}">
                <ns2:creationId id="{D11BAEBC-8EDC-486C-9683-3E0AF05F7DA7}"/>
              </a:ext>
            </a:extLst>
          </p:cNvPr>
          <p:cNvSpPr>
            <a:spLocks noGrp="1"/>
          </p:cNvSpPr>
          <p:nvPr/>
        </p:nvSpPr>
        <p:spPr>
          <a:xfrm>
            <a:off x="685800" y="1885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4"/>
              </a:rPr>
              <a:t>처음 시작 안내 ↗</a:t>
            </a:r>
          </a:p>
        </p:txBody>
      </p:sp>
      <p:sp>
        <p:nvSpPr>
          <p:cNvPr id="4" name="">
            <a:extLst>
              <a:ext uri="{FF2B5EF4-FFF2-40B4-BE49-F238E27FC236}">
                <ns2:creationId id="{8B2D34D3-1B09-4478-8467-4E727BD17161}"/>
              </a:ext>
            </a:extLst>
          </p:cNvPr>
          <p:cNvSpPr>
            <a:spLocks noGrp="1"/>
          </p:cNvSpPr>
          <p:nvPr/>
        </p:nvSpPr>
        <p:spPr>
          <a:xfrm>
            <a:off x="685800" y="2343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5" name="">
            <a:extLst>
              <a:ext uri="{FF2B5EF4-FFF2-40B4-BE49-F238E27FC236}">
                <ns2:creationId id="{B04A66F8-06E1-4EAF-BFCE-30A0EB585335}"/>
              </a:ext>
            </a:extLst>
          </p:cNvPr>
          <p:cNvSpPr>
            <a:spLocks noGrp="1"/>
          </p:cNvSpPr>
          <p:nvPr/>
        </p:nvSpPr>
        <p:spPr>
          <a:xfrm>
            <a:off x="685800" y="2647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5"/>
              </a:rPr>
              <a:t>학생 교안 ↗</a:t>
            </a:r>
          </a:p>
        </p:txBody>
      </p:sp>
      <p:sp>
        <p:nvSpPr>
          <p:cNvPr id="6" name="">
            <a:extLst>
              <a:ext uri="{FF2B5EF4-FFF2-40B4-BE49-F238E27FC236}">
                <ns2:creationId id="{83DF09A2-039B-45A0-A2EA-CEA20329AB63}"/>
              </a:ext>
            </a:extLst>
          </p:cNvPr>
          <p:cNvSpPr>
            <a:spLocks noGrp="1"/>
          </p:cNvSpPr>
          <p:nvPr/>
        </p:nvSpPr>
        <p:spPr>
          <a:xfrm>
            <a:off x="685800" y="3105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7" name="">
            <a:extLst>
              <a:ext uri="{FF2B5EF4-FFF2-40B4-BE49-F238E27FC236}">
                <ns2:creationId id="{02F902E1-2D58-472F-858D-BD5390631260}"/>
              </a:ext>
            </a:extLst>
          </p:cNvPr>
          <p:cNvSpPr>
            <a:spLocks noGrp="1"/>
          </p:cNvSpPr>
          <p:nvPr/>
        </p:nvSpPr>
        <p:spPr>
          <a:xfrm>
            <a:off x="685800" y="3409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6"/>
              </a:rPr>
              <a:t>실습 활동 ↗</a:t>
            </a:r>
          </a:p>
        </p:txBody>
      </p:sp>
      <p:sp>
        <p:nvSpPr>
          <p:cNvPr id="8" name="">
            <a:extLst>
              <a:ext uri="{FF2B5EF4-FFF2-40B4-BE49-F238E27FC236}">
                <ns2:creationId id="{3A482755-1B6E-42F9-9498-4744C2EE9796}"/>
              </a:ext>
            </a:extLst>
          </p:cNvPr>
          <p:cNvSpPr>
            <a:spLocks noGrp="1"/>
          </p:cNvSpPr>
          <p:nvPr/>
        </p:nvSpPr>
        <p:spPr>
          <a:xfrm>
            <a:off x="685800" y="3867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9" name="">
            <a:extLst>
              <a:ext uri="{FF2B5EF4-FFF2-40B4-BE49-F238E27FC236}">
                <ns2:creationId id="{66CA7731-1C75-4915-8BB4-59DB77A10CDC}"/>
              </a:ext>
            </a:extLst>
          </p:cNvPr>
          <p:cNvSpPr>
            <a:spLocks noGrp="1"/>
          </p:cNvSpPr>
          <p:nvPr/>
        </p:nvSpPr>
        <p:spPr>
          <a:xfrm>
            <a:off x="685800" y="4171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7"/>
              </a:rPr>
              <a:t>예제 코드와 데이터 ZIP ↗</a:t>
            </a:r>
          </a:p>
        </p:txBody>
      </p:sp>
      <p:sp>
        <p:nvSpPr>
          <p:cNvPr id="10" name="">
            <a:extLst>
              <a:ext uri="{FF2B5EF4-FFF2-40B4-BE49-F238E27FC236}">
                <ns2:creationId id="{A8392943-A6B8-4398-B0F7-D4F8E99B182A}"/>
              </a:ext>
            </a:extLst>
          </p:cNvPr>
          <p:cNvSpPr>
            <a:spLocks noGrp="1"/>
          </p:cNvSpPr>
          <p:nvPr/>
        </p:nvSpPr>
        <p:spPr>
          <a:xfrm>
            <a:off x="685800" y="4629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11" name="">
            <a:extLst>
              <a:ext uri="{FF2B5EF4-FFF2-40B4-BE49-F238E27FC236}">
                <ns2:creationId id="{40453343-CCE1-45B5-AD41-8DF9B92D1236}"/>
              </a:ext>
            </a:extLst>
          </p:cNvPr>
          <p:cNvSpPr>
            <a:spLocks noGrp="1"/>
          </p:cNvSpPr>
          <p:nvPr/>
        </p:nvSpPr>
        <p:spPr>
          <a:xfrm>
            <a:off x="685800" y="4933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8"/>
              </a:rPr>
              <a:t>날짜별 자료 다운로드 ↗</a:t>
            </a:r>
          </a:p>
        </p:txBody>
      </p:sp>
      <p:sp>
        <p:nvSpPr>
          <p:cNvPr id="12" name="">
            <a:extLst>
              <a:ext uri="{FF2B5EF4-FFF2-40B4-BE49-F238E27FC236}">
                <ns2:creationId id="{AE9FF182-1D1F-4C52-844A-130C94ECF49F}"/>
              </a:ext>
            </a:extLst>
          </p:cNvPr>
          <p:cNvSpPr>
            <a:spLocks noGrp="1"/>
          </p:cNvSpPr>
          <p:nvPr/>
        </p:nvSpPr>
        <p:spPr>
          <a:xfrm>
            <a:off x="685800" y="5391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13" name="">
            <a:extLst>
              <a:ext uri="{FF2B5EF4-FFF2-40B4-BE49-F238E27FC236}">
                <ns2:creationId id="{49FBE853-3D03-4B45-8EF3-CDA6DF6BD908}"/>
              </a:ext>
            </a:extLst>
          </p:cNvPr>
          <p:cNvSpPr>
            <a:spLocks noGrp="1"/>
          </p:cNvSpPr>
          <p:nvPr/>
        </p:nvSpPr>
        <p:spPr>
          <a:xfrm>
            <a:off x="685800" y="6172200"/>
            <a:ext cx="10820400" cy="9525"/>
          </a:xfrm>
          <a:prstGeom prst="rect">
            <a:avLst/>
          </a:prstGeom>
          <a:solidFill>
            <a:srgbClr val="D5DEDD"/>
          </a:solidFill>
          <a:ln w="0">
            <a:noFill/>
          </a:ln>
        </p:spPr>
      </p:sp>
      <p:sp>
        <p:nvSpPr>
          <p:cNvPr id="14" name="">
            <a:extLst>
              <a:ext uri="{FF2B5EF4-FFF2-40B4-BE49-F238E27FC236}">
                <ns2:creationId id="{391D41A1-2207-4EAE-AD4C-3658593C5F7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5" name="">
            <a:extLst>
              <a:ext uri="{FF2B5EF4-FFF2-40B4-BE49-F238E27FC236}">
                <ns2:creationId id="{2DE59219-6037-4C77-AEA5-FD4F133FCFF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6" name="">
            <a:extLst>
              <a:ext uri="{FF2B5EF4-FFF2-40B4-BE49-F238E27FC236}">
                <ns2:creationId id="{9CB0C893-C57C-4FDE-ABB4-44B909E986E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7" name="">
            <a:extLst>
              <a:ext uri="{FF2B5EF4-FFF2-40B4-BE49-F238E27FC236}">
                <ns2:creationId id="{2BBAC90B-A6A9-41D3-AA37-CC3ACF53E9C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098</a:t>
            </a:r>
          </a:p>
        </p:txBody>
      </p:sp>
    </p:spTree>
    <p:extLst>
      <p:ext uri="{BB962C8B-B14F-4D97-AF65-F5344CB8AC3E}">
        <ns4:creationId val="1639515023"/>
      </p:ext>
    </p:extLst>
  </p:cSld>
</p:sld>
</file>

<file path=ppt/slides/slide9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6" name="">
            <a:extLst>
              <a:ext uri="{FF2B5EF4-FFF2-40B4-BE49-F238E27FC236}">
                <ns2:creationId id="{1019EF4D-1375-4D15-8867-B5CD5AF38C9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10/15 수업</a:t>
            </a:r>
          </a:p>
        </p:txBody>
      </p:sp>
      <p:sp>
        <p:nvSpPr>
          <p:cNvPr id="2" name="">
            <a:extLst>
              <a:ext uri="{FF2B5EF4-FFF2-40B4-BE49-F238E27FC236}">
                <ns2:creationId id="{21C66B8A-6FC3-484F-891B-EE7C48ECB5D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공식 문서와 참고 자료</a:t>
            </a:r>
          </a:p>
        </p:txBody>
      </p:sp>
      <p:sp>
        <p:nvSpPr>
          <p:cNvPr id="3" name="">
            <a:extLst>
              <a:ext uri="{FF2B5EF4-FFF2-40B4-BE49-F238E27FC236}">
                <ns2:creationId id="{8513B7C6-1ADA-4FBD-B70A-6AC726C2129D}"/>
              </a:ext>
            </a:extLst>
          </p:cNvPr>
          <p:cNvSpPr>
            <a:spLocks noGrp="1"/>
          </p:cNvSpPr>
          <p:nvPr/>
        </p:nvSpPr>
        <p:spPr>
          <a:xfrm>
            <a:off x="685800" y="1885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4"/>
              </a:rPr>
              <a:t>함수 · Python ↗</a:t>
            </a:r>
          </a:p>
        </p:txBody>
      </p:sp>
      <p:sp>
        <p:nvSpPr>
          <p:cNvPr id="4" name="">
            <a:extLst>
              <a:ext uri="{FF2B5EF4-FFF2-40B4-BE49-F238E27FC236}">
                <ns2:creationId id="{AAA64F64-8715-4BBB-BBE8-8EF989C52F8D}"/>
              </a:ext>
            </a:extLst>
          </p:cNvPr>
          <p:cNvSpPr>
            <a:spLocks noGrp="1"/>
          </p:cNvSpPr>
          <p:nvPr/>
        </p:nvSpPr>
        <p:spPr>
          <a:xfrm>
            <a:off x="685800" y="2343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docs.python.org</a:t>
            </a:r>
          </a:p>
        </p:txBody>
      </p:sp>
      <p:sp>
        <p:nvSpPr>
          <p:cNvPr id="5" name="">
            <a:extLst>
              <a:ext uri="{FF2B5EF4-FFF2-40B4-BE49-F238E27FC236}">
                <ns2:creationId id="{2295723E-E3EA-4448-86A6-22D923FDC381}"/>
              </a:ext>
            </a:extLst>
          </p:cNvPr>
          <p:cNvSpPr>
            <a:spLocks noGrp="1"/>
          </p:cNvSpPr>
          <p:nvPr/>
        </p:nvSpPr>
        <p:spPr>
          <a:xfrm>
            <a:off x="685800" y="2647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5"/>
              </a:rPr>
              <a:t>파일 입력·출력 · Python ↗</a:t>
            </a:r>
          </a:p>
        </p:txBody>
      </p:sp>
      <p:sp>
        <p:nvSpPr>
          <p:cNvPr id="6" name="">
            <a:extLst>
              <a:ext uri="{FF2B5EF4-FFF2-40B4-BE49-F238E27FC236}">
                <ns2:creationId id="{34BBB9F8-E899-4EDE-A0E7-291E83954058}"/>
              </a:ext>
            </a:extLst>
          </p:cNvPr>
          <p:cNvSpPr>
            <a:spLocks noGrp="1"/>
          </p:cNvSpPr>
          <p:nvPr/>
        </p:nvSpPr>
        <p:spPr>
          <a:xfrm>
            <a:off x="685800" y="3105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docs.python.org</a:t>
            </a:r>
          </a:p>
        </p:txBody>
      </p:sp>
      <p:sp>
        <p:nvSpPr>
          <p:cNvPr id="7" name="">
            <a:extLst>
              <a:ext uri="{FF2B5EF4-FFF2-40B4-BE49-F238E27FC236}">
                <ns2:creationId id="{D2211CF9-358B-4AC0-A7EC-CB99E3FB7A79}"/>
              </a:ext>
            </a:extLst>
          </p:cNvPr>
          <p:cNvSpPr>
            <a:spLocks noGrp="1"/>
          </p:cNvSpPr>
          <p:nvPr/>
        </p:nvSpPr>
        <p:spPr>
          <a:xfrm>
            <a:off x="685800" y="3409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6"/>
              </a:rPr>
              <a:t>예외 처리 · Python ↗</a:t>
            </a:r>
          </a:p>
        </p:txBody>
      </p:sp>
      <p:sp>
        <p:nvSpPr>
          <p:cNvPr id="8" name="">
            <a:extLst>
              <a:ext uri="{FF2B5EF4-FFF2-40B4-BE49-F238E27FC236}">
                <ns2:creationId id="{7DF2D6E9-9A7C-46E1-B942-B67A3F6547D0}"/>
              </a:ext>
            </a:extLst>
          </p:cNvPr>
          <p:cNvSpPr>
            <a:spLocks noGrp="1"/>
          </p:cNvSpPr>
          <p:nvPr/>
        </p:nvSpPr>
        <p:spPr>
          <a:xfrm>
            <a:off x="685800" y="3867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docs.python.org</a:t>
            </a:r>
          </a:p>
        </p:txBody>
      </p:sp>
      <p:sp>
        <p:nvSpPr>
          <p:cNvPr id="9" name="">
            <a:extLst>
              <a:ext uri="{FF2B5EF4-FFF2-40B4-BE49-F238E27FC236}">
                <ns2:creationId id="{7A4C77A0-43EF-4D6F-9039-14F87E0749BC}"/>
              </a:ext>
            </a:extLst>
          </p:cNvPr>
          <p:cNvSpPr>
            <a:spLocks noGrp="1"/>
          </p:cNvSpPr>
          <p:nvPr/>
        </p:nvSpPr>
        <p:spPr>
          <a:xfrm>
            <a:off x="685800" y="4171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7"/>
              </a:rPr>
              <a:t>CSV 읽기 · Python ↗</a:t>
            </a:r>
          </a:p>
        </p:txBody>
      </p:sp>
      <p:sp>
        <p:nvSpPr>
          <p:cNvPr id="10" name="">
            <a:extLst>
              <a:ext uri="{FF2B5EF4-FFF2-40B4-BE49-F238E27FC236}">
                <ns2:creationId id="{4BD7191F-7067-42BA-8EE3-A19657D6E2FA}"/>
              </a:ext>
            </a:extLst>
          </p:cNvPr>
          <p:cNvSpPr>
            <a:spLocks noGrp="1"/>
          </p:cNvSpPr>
          <p:nvPr/>
        </p:nvSpPr>
        <p:spPr>
          <a:xfrm>
            <a:off x="685800" y="4629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docs.python.org</a:t>
            </a:r>
          </a:p>
        </p:txBody>
      </p:sp>
      <p:sp>
        <p:nvSpPr>
          <p:cNvPr id="11" name="">
            <a:extLst>
              <a:ext uri="{FF2B5EF4-FFF2-40B4-BE49-F238E27FC236}">
                <ns2:creationId id="{1CDD66D6-D301-48B1-B6B4-B2EC72DF1ED3}"/>
              </a:ext>
            </a:extLst>
          </p:cNvPr>
          <p:cNvSpPr>
            <a:spLocks noGrp="1"/>
          </p:cNvSpPr>
          <p:nvPr/>
        </p:nvSpPr>
        <p:spPr>
          <a:xfrm>
            <a:off x="685800" y="6172200"/>
            <a:ext cx="10820400" cy="9525"/>
          </a:xfrm>
          <a:prstGeom prst="rect">
            <a:avLst/>
          </a:prstGeom>
          <a:solidFill>
            <a:srgbClr val="D5DEDD"/>
          </a:solidFill>
          <a:ln w="0">
            <a:noFill/>
          </a:ln>
        </p:spPr>
      </p:sp>
      <p:sp>
        <p:nvSpPr>
          <p:cNvPr id="12" name="">
            <a:extLst>
              <a:ext uri="{FF2B5EF4-FFF2-40B4-BE49-F238E27FC236}">
                <ns2:creationId id="{D7292FFB-6E5D-4A59-8B60-361350A7E82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3" name="">
            <a:extLst>
              <a:ext uri="{FF2B5EF4-FFF2-40B4-BE49-F238E27FC236}">
                <ns2:creationId id="{B2F01651-B950-4421-8CD3-C2E0C10515D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4" name="">
            <a:extLst>
              <a:ext uri="{FF2B5EF4-FFF2-40B4-BE49-F238E27FC236}">
                <ns2:creationId id="{CB7DD0D6-015E-4D9B-AAC1-1CB41188449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5" name="">
            <a:extLst>
              <a:ext uri="{FF2B5EF4-FFF2-40B4-BE49-F238E27FC236}">
                <ns2:creationId id="{4A84CBBF-6E11-4E20-A63C-F67AE73BC05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10/15   099</a:t>
            </a:r>
          </a:p>
        </p:txBody>
      </p:sp>
    </p:spTree>
    <p:extLst>
      <p:ext uri="{BB962C8B-B14F-4D97-AF65-F5344CB8AC3E}">
        <ns4:creationId val="18205205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2026-10-05T04:49:30.6930000Z</dcterms:created>
  <dcterms:modified xsi:type="dcterms:W3CDTF">2026-10-05T04:49:30.6930000Z</dcterms:modified>
</coreProperties>
</file>