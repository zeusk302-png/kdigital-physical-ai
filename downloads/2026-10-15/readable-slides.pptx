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6bf0937543e41ff" /><Relationship Type="http://schemas.openxmlformats.org/officeDocument/2006/relationships/extended-properties" Target="/docProps/app.xml" Id="Raab7d81199e94c57" /><Relationship Type="http://schemas.openxmlformats.org/officeDocument/2006/relationships/officeDocument" Target="/ppt/presentation.xml" Id="Rbdb8e3881ecd4974" /></Relationships>
</file>

<file path=ppt/presentation.xml><?xml version="1.0" encoding="utf-8"?>
<p:presentation xmlns:p="http://schemas.openxmlformats.org/presentationml/2006/main">
  <p:sldMasterIdLst>
    <p:sldMasterId xmlns:r="http://schemas.openxmlformats.org/officeDocument/2006/relationships" id="2147483648" r:id="R5f3d79087ea34972"/>
  </p:sldMasterIdLst>
  <p:notesMasterIdLst>
    <p:notesMasterId xmlns:r="http://schemas.openxmlformats.org/officeDocument/2006/relationships" r:id="R5f647555ba884244"/>
  </p:notesMasterIdLst>
  <p:sldIdLst>
    <p:sldId xmlns:r="http://schemas.openxmlformats.org/officeDocument/2006/relationships" id="256" r:id="R87815104009e4b48"/>
    <p:sldId xmlns:r="http://schemas.openxmlformats.org/officeDocument/2006/relationships" id="257" r:id="Rf38852e93f24413f"/>
    <p:sldId xmlns:r="http://schemas.openxmlformats.org/officeDocument/2006/relationships" id="258" r:id="Reb926c9b61f8481a"/>
    <p:sldId xmlns:r="http://schemas.openxmlformats.org/officeDocument/2006/relationships" id="259" r:id="R4172fae4079c447e"/>
    <p:sldId xmlns:r="http://schemas.openxmlformats.org/officeDocument/2006/relationships" id="260" r:id="R10eca07cbd454eef"/>
    <p:sldId xmlns:r="http://schemas.openxmlformats.org/officeDocument/2006/relationships" id="261" r:id="R15909f218b1942a5"/>
    <p:sldId xmlns:r="http://schemas.openxmlformats.org/officeDocument/2006/relationships" id="262" r:id="R4c03172bb5f34256"/>
    <p:sldId xmlns:r="http://schemas.openxmlformats.org/officeDocument/2006/relationships" id="263" r:id="R7348022df0454dfe"/>
    <p:sldId xmlns:r="http://schemas.openxmlformats.org/officeDocument/2006/relationships" id="264" r:id="Rcdd33727ab154206"/>
    <p:sldId xmlns:r="http://schemas.openxmlformats.org/officeDocument/2006/relationships" id="265" r:id="R9a65a416355448dc"/>
    <p:sldId xmlns:r="http://schemas.openxmlformats.org/officeDocument/2006/relationships" id="266" r:id="Rfc260406863d4d6b"/>
    <p:sldId xmlns:r="http://schemas.openxmlformats.org/officeDocument/2006/relationships" id="267" r:id="R22253e93591647f6"/>
    <p:sldId xmlns:r="http://schemas.openxmlformats.org/officeDocument/2006/relationships" id="268" r:id="R31aabc51b4764465"/>
    <p:sldId xmlns:r="http://schemas.openxmlformats.org/officeDocument/2006/relationships" id="269" r:id="R02fa5bc13d4c4ca5"/>
    <p:sldId xmlns:r="http://schemas.openxmlformats.org/officeDocument/2006/relationships" id="270" r:id="R35003b77a72c4c02"/>
    <p:sldId xmlns:r="http://schemas.openxmlformats.org/officeDocument/2006/relationships" id="271" r:id="R2f1a3ebb7acb4c1f"/>
    <p:sldId xmlns:r="http://schemas.openxmlformats.org/officeDocument/2006/relationships" id="272" r:id="R6d04cad68f604547"/>
    <p:sldId xmlns:r="http://schemas.openxmlformats.org/officeDocument/2006/relationships" id="273" r:id="R1b7aa9b5468c4e26"/>
    <p:sldId xmlns:r="http://schemas.openxmlformats.org/officeDocument/2006/relationships" id="274" r:id="Rd97a6bc2b70840d8"/>
    <p:sldId xmlns:r="http://schemas.openxmlformats.org/officeDocument/2006/relationships" id="275" r:id="Rd27f1537692044e5"/>
    <p:sldId xmlns:r="http://schemas.openxmlformats.org/officeDocument/2006/relationships" id="276" r:id="R29da15155d274ec2"/>
    <p:sldId xmlns:r="http://schemas.openxmlformats.org/officeDocument/2006/relationships" id="277" r:id="R31c1309443fd4f50"/>
    <p:sldId xmlns:r="http://schemas.openxmlformats.org/officeDocument/2006/relationships" id="278" r:id="Rb30b5b09348b4dfc"/>
    <p:sldId xmlns:r="http://schemas.openxmlformats.org/officeDocument/2006/relationships" id="279" r:id="R9f76bb42c88147e4"/>
    <p:sldId xmlns:r="http://schemas.openxmlformats.org/officeDocument/2006/relationships" id="280" r:id="R99109a88aa584ada"/>
    <p:sldId xmlns:r="http://schemas.openxmlformats.org/officeDocument/2006/relationships" id="281" r:id="R5d0ac9c784b94a81"/>
    <p:sldId xmlns:r="http://schemas.openxmlformats.org/officeDocument/2006/relationships" id="282" r:id="R9f5d1b3400b9404c"/>
    <p:sldId xmlns:r="http://schemas.openxmlformats.org/officeDocument/2006/relationships" id="283" r:id="R078a3b14ff7242dc"/>
    <p:sldId xmlns:r="http://schemas.openxmlformats.org/officeDocument/2006/relationships" id="284" r:id="Ra8c4fe59701044de"/>
    <p:sldId xmlns:r="http://schemas.openxmlformats.org/officeDocument/2006/relationships" id="285" r:id="Rd81df63414ab40bd"/>
    <p:sldId xmlns:r="http://schemas.openxmlformats.org/officeDocument/2006/relationships" id="286" r:id="Rd8ecac9e4dd7420b"/>
    <p:sldId xmlns:r="http://schemas.openxmlformats.org/officeDocument/2006/relationships" id="287" r:id="Rfe29e5617cd949da"/>
    <p:sldId xmlns:r="http://schemas.openxmlformats.org/officeDocument/2006/relationships" id="288" r:id="R55d5fbccef3e4b4f"/>
    <p:sldId xmlns:r="http://schemas.openxmlformats.org/officeDocument/2006/relationships" id="289" r:id="Rdaed5a50278046f5"/>
    <p:sldId xmlns:r="http://schemas.openxmlformats.org/officeDocument/2006/relationships" id="290" r:id="Re3fda37fa0734529"/>
    <p:sldId xmlns:r="http://schemas.openxmlformats.org/officeDocument/2006/relationships" id="291" r:id="Rfe05c170f57a48e3"/>
    <p:sldId xmlns:r="http://schemas.openxmlformats.org/officeDocument/2006/relationships" id="292" r:id="R7bf7eefd59c945eb"/>
    <p:sldId xmlns:r="http://schemas.openxmlformats.org/officeDocument/2006/relationships" id="293" r:id="Rad9a81413b874305"/>
    <p:sldId xmlns:r="http://schemas.openxmlformats.org/officeDocument/2006/relationships" id="294" r:id="R277409823a48496c"/>
    <p:sldId xmlns:r="http://schemas.openxmlformats.org/officeDocument/2006/relationships" id="295" r:id="R28705560ac024889"/>
    <p:sldId xmlns:r="http://schemas.openxmlformats.org/officeDocument/2006/relationships" id="296" r:id="R5091141145294872"/>
    <p:sldId xmlns:r="http://schemas.openxmlformats.org/officeDocument/2006/relationships" id="297" r:id="Rff9bca4154d947e7"/>
    <p:sldId xmlns:r="http://schemas.openxmlformats.org/officeDocument/2006/relationships" id="298" r:id="Rfbf7aa03e68b4aa7"/>
    <p:sldId xmlns:r="http://schemas.openxmlformats.org/officeDocument/2006/relationships" id="299" r:id="R509d8703c74c4e49"/>
    <p:sldId xmlns:r="http://schemas.openxmlformats.org/officeDocument/2006/relationships" id="300" r:id="Ra2b3126aded5427c"/>
    <p:sldId xmlns:r="http://schemas.openxmlformats.org/officeDocument/2006/relationships" id="301" r:id="Rbb960f4acf204402"/>
    <p:sldId xmlns:r="http://schemas.openxmlformats.org/officeDocument/2006/relationships" id="302" r:id="R8359f4d9fa77493a"/>
    <p:sldId xmlns:r="http://schemas.openxmlformats.org/officeDocument/2006/relationships" id="303" r:id="Rfb395f59648947ef"/>
    <p:sldId xmlns:r="http://schemas.openxmlformats.org/officeDocument/2006/relationships" id="304" r:id="Reea6e852de5442a7"/>
    <p:sldId xmlns:r="http://schemas.openxmlformats.org/officeDocument/2006/relationships" id="305" r:id="R5cc0aecd1b514aa8"/>
    <p:sldId xmlns:r="http://schemas.openxmlformats.org/officeDocument/2006/relationships" id="306" r:id="R7e97ed3f3ad94639"/>
    <p:sldId xmlns:r="http://schemas.openxmlformats.org/officeDocument/2006/relationships" id="307" r:id="Raa0b086d362b4f55"/>
    <p:sldId xmlns:r="http://schemas.openxmlformats.org/officeDocument/2006/relationships" id="308" r:id="Ra4b313e206d94eee"/>
    <p:sldId xmlns:r="http://schemas.openxmlformats.org/officeDocument/2006/relationships" id="309" r:id="R79ebb17bad8a4210"/>
    <p:sldId xmlns:r="http://schemas.openxmlformats.org/officeDocument/2006/relationships" id="310" r:id="R3980801cf929477b"/>
    <p:sldId xmlns:r="http://schemas.openxmlformats.org/officeDocument/2006/relationships" id="311" r:id="R57f2bbe7953a45cf"/>
    <p:sldId xmlns:r="http://schemas.openxmlformats.org/officeDocument/2006/relationships" id="312" r:id="R0f97cef788bb40e5"/>
    <p:sldId xmlns:r="http://schemas.openxmlformats.org/officeDocument/2006/relationships" id="313" r:id="Rd2e7d2fbc3b742f6"/>
    <p:sldId xmlns:r="http://schemas.openxmlformats.org/officeDocument/2006/relationships" id="314" r:id="Rbe5c2d1fbd4249d6"/>
    <p:sldId xmlns:r="http://schemas.openxmlformats.org/officeDocument/2006/relationships" id="315" r:id="Rf67fa351558746b7"/>
    <p:sldId xmlns:r="http://schemas.openxmlformats.org/officeDocument/2006/relationships" id="316" r:id="R343bbe393e1a40fa"/>
    <p:sldId xmlns:r="http://schemas.openxmlformats.org/officeDocument/2006/relationships" id="317" r:id="Rdaffd96ca5c54976"/>
    <p:sldId xmlns:r="http://schemas.openxmlformats.org/officeDocument/2006/relationships" id="318" r:id="R37ce3802cb1f4513"/>
    <p:sldId xmlns:r="http://schemas.openxmlformats.org/officeDocument/2006/relationships" id="319" r:id="R30338f2319fd4e61"/>
    <p:sldId xmlns:r="http://schemas.openxmlformats.org/officeDocument/2006/relationships" id="320" r:id="R4706d74828b4416f"/>
    <p:sldId xmlns:r="http://schemas.openxmlformats.org/officeDocument/2006/relationships" id="321" r:id="Rc04e30c17f064e30"/>
    <p:sldId xmlns:r="http://schemas.openxmlformats.org/officeDocument/2006/relationships" id="322" r:id="Rc5bc2cf5093f4203"/>
    <p:sldId xmlns:r="http://schemas.openxmlformats.org/officeDocument/2006/relationships" id="323" r:id="Re21b479e1dd44744"/>
    <p:sldId xmlns:r="http://schemas.openxmlformats.org/officeDocument/2006/relationships" id="324" r:id="Rb0e19edcdc654b35"/>
    <p:sldId xmlns:r="http://schemas.openxmlformats.org/officeDocument/2006/relationships" id="325" r:id="Re2c5527156754219"/>
    <p:sldId xmlns:r="http://schemas.openxmlformats.org/officeDocument/2006/relationships" id="326" r:id="R9683b8f9cd4e4e25"/>
    <p:sldId xmlns:r="http://schemas.openxmlformats.org/officeDocument/2006/relationships" id="327" r:id="Ra776977ef9834b36"/>
    <p:sldId xmlns:r="http://schemas.openxmlformats.org/officeDocument/2006/relationships" id="328" r:id="Rcb93dbb1d12947a7"/>
    <p:sldId xmlns:r="http://schemas.openxmlformats.org/officeDocument/2006/relationships" id="329" r:id="R239992a5653a4bd7"/>
    <p:sldId xmlns:r="http://schemas.openxmlformats.org/officeDocument/2006/relationships" id="330" r:id="R98c2ebf258f54756"/>
    <p:sldId xmlns:r="http://schemas.openxmlformats.org/officeDocument/2006/relationships" id="331" r:id="R6b0c48e1faf74e32"/>
    <p:sldId xmlns:r="http://schemas.openxmlformats.org/officeDocument/2006/relationships" id="332" r:id="R283f7cba52f04161"/>
    <p:sldId xmlns:r="http://schemas.openxmlformats.org/officeDocument/2006/relationships" id="333" r:id="Rde900153587d440a"/>
    <p:sldId xmlns:r="http://schemas.openxmlformats.org/officeDocument/2006/relationships" id="334" r:id="Rbad362b035084d01"/>
    <p:sldId xmlns:r="http://schemas.openxmlformats.org/officeDocument/2006/relationships" id="335" r:id="Rcc39d153b5a84e60"/>
    <p:sldId xmlns:r="http://schemas.openxmlformats.org/officeDocument/2006/relationships" id="336" r:id="R75b0c66a5aa54f7a"/>
    <p:sldId xmlns:r="http://schemas.openxmlformats.org/officeDocument/2006/relationships" id="337" r:id="R8dfdea18484d4b5a"/>
    <p:sldId xmlns:r="http://schemas.openxmlformats.org/officeDocument/2006/relationships" id="338" r:id="R8e17056de9f04807"/>
    <p:sldId xmlns:r="http://schemas.openxmlformats.org/officeDocument/2006/relationships" id="339" r:id="R0ea8c1aa9c054c13"/>
    <p:sldId xmlns:r="http://schemas.openxmlformats.org/officeDocument/2006/relationships" id="340" r:id="R3b48fd82aca14ec5"/>
    <p:sldId xmlns:r="http://schemas.openxmlformats.org/officeDocument/2006/relationships" id="341" r:id="R15a50ad8165f4b7d"/>
    <p:sldId xmlns:r="http://schemas.openxmlformats.org/officeDocument/2006/relationships" id="342" r:id="Rdf7dc3a2259a4aea"/>
    <p:sldId xmlns:r="http://schemas.openxmlformats.org/officeDocument/2006/relationships" id="343" r:id="Rbac10dbc32ae49ee"/>
    <p:sldId xmlns:r="http://schemas.openxmlformats.org/officeDocument/2006/relationships" id="344" r:id="Rf497e63344ca4d43"/>
    <p:sldId xmlns:r="http://schemas.openxmlformats.org/officeDocument/2006/relationships" id="345" r:id="Ra444e6294eb44229"/>
    <p:sldId xmlns:r="http://schemas.openxmlformats.org/officeDocument/2006/relationships" id="346" r:id="Rde4f95d9211b444e"/>
    <p:sldId xmlns:r="http://schemas.openxmlformats.org/officeDocument/2006/relationships" id="347" r:id="R0c464aca74f54e98"/>
    <p:sldId xmlns:r="http://schemas.openxmlformats.org/officeDocument/2006/relationships" id="348" r:id="R603cc18fea8d441f"/>
    <p:sldId xmlns:r="http://schemas.openxmlformats.org/officeDocument/2006/relationships" id="349" r:id="R4491936a74d24d18"/>
    <p:sldId xmlns:r="http://schemas.openxmlformats.org/officeDocument/2006/relationships" id="350" r:id="R8f419fbfda514d4e"/>
    <p:sldId xmlns:r="http://schemas.openxmlformats.org/officeDocument/2006/relationships" id="351" r:id="R8cf1f62b81604cc3"/>
    <p:sldId xmlns:r="http://schemas.openxmlformats.org/officeDocument/2006/relationships" id="352" r:id="Ra880ca9a8e9f4fc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1241c3cc80d47eb" /><Relationship Type="http://schemas.openxmlformats.org/officeDocument/2006/relationships/slideMaster" Target="/ppt/slideMasters/slideMaster1.xml" Id="R5f3d79087ea34972" /><Relationship Type="http://schemas.openxmlformats.org/officeDocument/2006/relationships/notesMaster" Target="/ppt/notesMasters/notesMaster1.xml" Id="R5f647555ba884244" /><Relationship Type="http://schemas.openxmlformats.org/officeDocument/2006/relationships/presProps" Target="/ppt/presProps.xml" Id="Ra3ba941a5ef24730" /><Relationship Type="http://schemas.openxmlformats.org/officeDocument/2006/relationships/tableStyles" Target="/ppt/tableStyles.xml" Id="R7cdfe2d26de94485" /><Relationship Type="http://schemas.openxmlformats.org/officeDocument/2006/relationships/slide" Target="/ppt/slides/slide1.xml" Id="R87815104009e4b48" /><Relationship Type="http://schemas.openxmlformats.org/officeDocument/2006/relationships/slide" Target="/ppt/slides/slide2.xml" Id="Rf38852e93f24413f" /><Relationship Type="http://schemas.openxmlformats.org/officeDocument/2006/relationships/slide" Target="/ppt/slides/slide3.xml" Id="Reb926c9b61f8481a" /><Relationship Type="http://schemas.openxmlformats.org/officeDocument/2006/relationships/slide" Target="/ppt/slides/slide4.xml" Id="R4172fae4079c447e" /><Relationship Type="http://schemas.openxmlformats.org/officeDocument/2006/relationships/slide" Target="/ppt/slides/slide5.xml" Id="R10eca07cbd454eef" /><Relationship Type="http://schemas.openxmlformats.org/officeDocument/2006/relationships/slide" Target="/ppt/slides/slide6.xml" Id="R15909f218b1942a5" /><Relationship Type="http://schemas.openxmlformats.org/officeDocument/2006/relationships/slide" Target="/ppt/slides/slide7.xml" Id="R4c03172bb5f34256" /><Relationship Type="http://schemas.openxmlformats.org/officeDocument/2006/relationships/slide" Target="/ppt/slides/slide8.xml" Id="R7348022df0454dfe" /><Relationship Type="http://schemas.openxmlformats.org/officeDocument/2006/relationships/slide" Target="/ppt/slides/slide9.xml" Id="Rcdd33727ab154206" /><Relationship Type="http://schemas.openxmlformats.org/officeDocument/2006/relationships/slide" Target="/ppt/slides/slide10.xml" Id="R9a65a416355448dc" /><Relationship Type="http://schemas.openxmlformats.org/officeDocument/2006/relationships/slide" Target="/ppt/slides/slide11.xml" Id="Rfc260406863d4d6b" /><Relationship Type="http://schemas.openxmlformats.org/officeDocument/2006/relationships/slide" Target="/ppt/slides/slide12.xml" Id="R22253e93591647f6" /><Relationship Type="http://schemas.openxmlformats.org/officeDocument/2006/relationships/slide" Target="/ppt/slides/slide13.xml" Id="R31aabc51b4764465" /><Relationship Type="http://schemas.openxmlformats.org/officeDocument/2006/relationships/slide" Target="/ppt/slides/slide14.xml" Id="R02fa5bc13d4c4ca5" /><Relationship Type="http://schemas.openxmlformats.org/officeDocument/2006/relationships/slide" Target="/ppt/slides/slide15.xml" Id="R35003b77a72c4c02" /><Relationship Type="http://schemas.openxmlformats.org/officeDocument/2006/relationships/slide" Target="/ppt/slides/slide16.xml" Id="R2f1a3ebb7acb4c1f" /><Relationship Type="http://schemas.openxmlformats.org/officeDocument/2006/relationships/slide" Target="/ppt/slides/slide17.xml" Id="R6d04cad68f604547" /><Relationship Type="http://schemas.openxmlformats.org/officeDocument/2006/relationships/slide" Target="/ppt/slides/slide18.xml" Id="R1b7aa9b5468c4e26" /><Relationship Type="http://schemas.openxmlformats.org/officeDocument/2006/relationships/slide" Target="/ppt/slides/slide19.xml" Id="Rd97a6bc2b70840d8" /><Relationship Type="http://schemas.openxmlformats.org/officeDocument/2006/relationships/slide" Target="/ppt/slides/slide20.xml" Id="Rd27f1537692044e5" /><Relationship Type="http://schemas.openxmlformats.org/officeDocument/2006/relationships/slide" Target="/ppt/slides/slide21.xml" Id="R29da15155d274ec2" /><Relationship Type="http://schemas.openxmlformats.org/officeDocument/2006/relationships/slide" Target="/ppt/slides/slide22.xml" Id="R31c1309443fd4f50" /><Relationship Type="http://schemas.openxmlformats.org/officeDocument/2006/relationships/slide" Target="/ppt/slides/slide23.xml" Id="Rb30b5b09348b4dfc" /><Relationship Type="http://schemas.openxmlformats.org/officeDocument/2006/relationships/slide" Target="/ppt/slides/slide24.xml" Id="R9f76bb42c88147e4" /><Relationship Type="http://schemas.openxmlformats.org/officeDocument/2006/relationships/slide" Target="/ppt/slides/slide25.xml" Id="R99109a88aa584ada" /><Relationship Type="http://schemas.openxmlformats.org/officeDocument/2006/relationships/slide" Target="/ppt/slides/slide26.xml" Id="R5d0ac9c784b94a81" /><Relationship Type="http://schemas.openxmlformats.org/officeDocument/2006/relationships/slide" Target="/ppt/slides/slide27.xml" Id="R9f5d1b3400b9404c" /><Relationship Type="http://schemas.openxmlformats.org/officeDocument/2006/relationships/slide" Target="/ppt/slides/slide28.xml" Id="R078a3b14ff7242dc" /><Relationship Type="http://schemas.openxmlformats.org/officeDocument/2006/relationships/slide" Target="/ppt/slides/slide29.xml" Id="Ra8c4fe59701044de" /><Relationship Type="http://schemas.openxmlformats.org/officeDocument/2006/relationships/slide" Target="/ppt/slides/slide30.xml" Id="Rd81df63414ab40bd" /><Relationship Type="http://schemas.openxmlformats.org/officeDocument/2006/relationships/slide" Target="/ppt/slides/slide31.xml" Id="Rd8ecac9e4dd7420b" /><Relationship Type="http://schemas.openxmlformats.org/officeDocument/2006/relationships/slide" Target="/ppt/slides/slide32.xml" Id="Rfe29e5617cd949da" /><Relationship Type="http://schemas.openxmlformats.org/officeDocument/2006/relationships/slide" Target="/ppt/slides/slide33.xml" Id="R55d5fbccef3e4b4f" /><Relationship Type="http://schemas.openxmlformats.org/officeDocument/2006/relationships/slide" Target="/ppt/slides/slide34.xml" Id="Rdaed5a50278046f5" /><Relationship Type="http://schemas.openxmlformats.org/officeDocument/2006/relationships/slide" Target="/ppt/slides/slide35.xml" Id="Re3fda37fa0734529" /><Relationship Type="http://schemas.openxmlformats.org/officeDocument/2006/relationships/slide" Target="/ppt/slides/slide36.xml" Id="Rfe05c170f57a48e3" /><Relationship Type="http://schemas.openxmlformats.org/officeDocument/2006/relationships/slide" Target="/ppt/slides/slide37.xml" Id="R7bf7eefd59c945eb" /><Relationship Type="http://schemas.openxmlformats.org/officeDocument/2006/relationships/slide" Target="/ppt/slides/slide38.xml" Id="Rad9a81413b874305" /><Relationship Type="http://schemas.openxmlformats.org/officeDocument/2006/relationships/slide" Target="/ppt/slides/slide39.xml" Id="R277409823a48496c" /><Relationship Type="http://schemas.openxmlformats.org/officeDocument/2006/relationships/slide" Target="/ppt/slides/slide40.xml" Id="R28705560ac024889" /><Relationship Type="http://schemas.openxmlformats.org/officeDocument/2006/relationships/slide" Target="/ppt/slides/slide41.xml" Id="R5091141145294872" /><Relationship Type="http://schemas.openxmlformats.org/officeDocument/2006/relationships/slide" Target="/ppt/slides/slide42.xml" Id="Rff9bca4154d947e7" /><Relationship Type="http://schemas.openxmlformats.org/officeDocument/2006/relationships/slide" Target="/ppt/slides/slide43.xml" Id="Rfbf7aa03e68b4aa7" /><Relationship Type="http://schemas.openxmlformats.org/officeDocument/2006/relationships/slide" Target="/ppt/slides/slide44.xml" Id="R509d8703c74c4e49" /><Relationship Type="http://schemas.openxmlformats.org/officeDocument/2006/relationships/slide" Target="/ppt/slides/slide45.xml" Id="Ra2b3126aded5427c" /><Relationship Type="http://schemas.openxmlformats.org/officeDocument/2006/relationships/slide" Target="/ppt/slides/slide46.xml" Id="Rbb960f4acf204402" /><Relationship Type="http://schemas.openxmlformats.org/officeDocument/2006/relationships/slide" Target="/ppt/slides/slide47.xml" Id="R8359f4d9fa77493a" /><Relationship Type="http://schemas.openxmlformats.org/officeDocument/2006/relationships/slide" Target="/ppt/slides/slide48.xml" Id="Rfb395f59648947ef" /><Relationship Type="http://schemas.openxmlformats.org/officeDocument/2006/relationships/slide" Target="/ppt/slides/slide49.xml" Id="Reea6e852de5442a7" /><Relationship Type="http://schemas.openxmlformats.org/officeDocument/2006/relationships/slide" Target="/ppt/slides/slide50.xml" Id="R5cc0aecd1b514aa8" /><Relationship Type="http://schemas.openxmlformats.org/officeDocument/2006/relationships/slide" Target="/ppt/slides/slide51.xml" Id="R7e97ed3f3ad94639" /><Relationship Type="http://schemas.openxmlformats.org/officeDocument/2006/relationships/slide" Target="/ppt/slides/slide52.xml" Id="Raa0b086d362b4f55" /><Relationship Type="http://schemas.openxmlformats.org/officeDocument/2006/relationships/slide" Target="/ppt/slides/slide53.xml" Id="Ra4b313e206d94eee" /><Relationship Type="http://schemas.openxmlformats.org/officeDocument/2006/relationships/slide" Target="/ppt/slides/slide54.xml" Id="R79ebb17bad8a4210" /><Relationship Type="http://schemas.openxmlformats.org/officeDocument/2006/relationships/slide" Target="/ppt/slides/slide55.xml" Id="R3980801cf929477b" /><Relationship Type="http://schemas.openxmlformats.org/officeDocument/2006/relationships/slide" Target="/ppt/slides/slide56.xml" Id="R57f2bbe7953a45cf" /><Relationship Type="http://schemas.openxmlformats.org/officeDocument/2006/relationships/slide" Target="/ppt/slides/slide57.xml" Id="R0f97cef788bb40e5" /><Relationship Type="http://schemas.openxmlformats.org/officeDocument/2006/relationships/slide" Target="/ppt/slides/slide58.xml" Id="Rd2e7d2fbc3b742f6" /><Relationship Type="http://schemas.openxmlformats.org/officeDocument/2006/relationships/slide" Target="/ppt/slides/slide59.xml" Id="Rbe5c2d1fbd4249d6" /><Relationship Type="http://schemas.openxmlformats.org/officeDocument/2006/relationships/slide" Target="/ppt/slides/slide60.xml" Id="Rf67fa351558746b7" /><Relationship Type="http://schemas.openxmlformats.org/officeDocument/2006/relationships/slide" Target="/ppt/slides/slide61.xml" Id="R343bbe393e1a40fa" /><Relationship Type="http://schemas.openxmlformats.org/officeDocument/2006/relationships/slide" Target="/ppt/slides/slide62.xml" Id="Rdaffd96ca5c54976" /><Relationship Type="http://schemas.openxmlformats.org/officeDocument/2006/relationships/slide" Target="/ppt/slides/slide63.xml" Id="R37ce3802cb1f4513" /><Relationship Type="http://schemas.openxmlformats.org/officeDocument/2006/relationships/slide" Target="/ppt/slides/slide64.xml" Id="R30338f2319fd4e61" /><Relationship Type="http://schemas.openxmlformats.org/officeDocument/2006/relationships/slide" Target="/ppt/slides/slide65.xml" Id="R4706d74828b4416f" /><Relationship Type="http://schemas.openxmlformats.org/officeDocument/2006/relationships/slide" Target="/ppt/slides/slide66.xml" Id="Rc04e30c17f064e30" /><Relationship Type="http://schemas.openxmlformats.org/officeDocument/2006/relationships/slide" Target="/ppt/slides/slide67.xml" Id="Rc5bc2cf5093f4203" /><Relationship Type="http://schemas.openxmlformats.org/officeDocument/2006/relationships/slide" Target="/ppt/slides/slide68.xml" Id="Re21b479e1dd44744" /><Relationship Type="http://schemas.openxmlformats.org/officeDocument/2006/relationships/slide" Target="/ppt/slides/slide69.xml" Id="Rb0e19edcdc654b35" /><Relationship Type="http://schemas.openxmlformats.org/officeDocument/2006/relationships/slide" Target="/ppt/slides/slide70.xml" Id="Re2c5527156754219" /><Relationship Type="http://schemas.openxmlformats.org/officeDocument/2006/relationships/slide" Target="/ppt/slides/slide71.xml" Id="R9683b8f9cd4e4e25" /><Relationship Type="http://schemas.openxmlformats.org/officeDocument/2006/relationships/slide" Target="/ppt/slides/slide72.xml" Id="Ra776977ef9834b36" /><Relationship Type="http://schemas.openxmlformats.org/officeDocument/2006/relationships/slide" Target="/ppt/slides/slide73.xml" Id="Rcb93dbb1d12947a7" /><Relationship Type="http://schemas.openxmlformats.org/officeDocument/2006/relationships/slide" Target="/ppt/slides/slide74.xml" Id="R239992a5653a4bd7" /><Relationship Type="http://schemas.openxmlformats.org/officeDocument/2006/relationships/slide" Target="/ppt/slides/slide75.xml" Id="R98c2ebf258f54756" /><Relationship Type="http://schemas.openxmlformats.org/officeDocument/2006/relationships/slide" Target="/ppt/slides/slide76.xml" Id="R6b0c48e1faf74e32" /><Relationship Type="http://schemas.openxmlformats.org/officeDocument/2006/relationships/slide" Target="/ppt/slides/slide77.xml" Id="R283f7cba52f04161" /><Relationship Type="http://schemas.openxmlformats.org/officeDocument/2006/relationships/slide" Target="/ppt/slides/slide78.xml" Id="Rde900153587d440a" /><Relationship Type="http://schemas.openxmlformats.org/officeDocument/2006/relationships/slide" Target="/ppt/slides/slide79.xml" Id="Rbad362b035084d01" /><Relationship Type="http://schemas.openxmlformats.org/officeDocument/2006/relationships/slide" Target="/ppt/slides/slide80.xml" Id="Rcc39d153b5a84e60" /><Relationship Type="http://schemas.openxmlformats.org/officeDocument/2006/relationships/slide" Target="/ppt/slides/slide81.xml" Id="R75b0c66a5aa54f7a" /><Relationship Type="http://schemas.openxmlformats.org/officeDocument/2006/relationships/slide" Target="/ppt/slides/slide82.xml" Id="R8dfdea18484d4b5a" /><Relationship Type="http://schemas.openxmlformats.org/officeDocument/2006/relationships/slide" Target="/ppt/slides/slide83.xml" Id="R8e17056de9f04807" /><Relationship Type="http://schemas.openxmlformats.org/officeDocument/2006/relationships/slide" Target="/ppt/slides/slide84.xml" Id="R0ea8c1aa9c054c13" /><Relationship Type="http://schemas.openxmlformats.org/officeDocument/2006/relationships/slide" Target="/ppt/slides/slide85.xml" Id="R3b48fd82aca14ec5" /><Relationship Type="http://schemas.openxmlformats.org/officeDocument/2006/relationships/slide" Target="/ppt/slides/slide86.xml" Id="R15a50ad8165f4b7d" /><Relationship Type="http://schemas.openxmlformats.org/officeDocument/2006/relationships/slide" Target="/ppt/slides/slide87.xml" Id="Rdf7dc3a2259a4aea" /><Relationship Type="http://schemas.openxmlformats.org/officeDocument/2006/relationships/slide" Target="/ppt/slides/slide88.xml" Id="Rbac10dbc32ae49ee" /><Relationship Type="http://schemas.openxmlformats.org/officeDocument/2006/relationships/slide" Target="/ppt/slides/slide89.xml" Id="Rf497e63344ca4d43" /><Relationship Type="http://schemas.openxmlformats.org/officeDocument/2006/relationships/slide" Target="/ppt/slides/slide90.xml" Id="Ra444e6294eb44229" /><Relationship Type="http://schemas.openxmlformats.org/officeDocument/2006/relationships/slide" Target="/ppt/slides/slide91.xml" Id="Rde4f95d9211b444e" /><Relationship Type="http://schemas.openxmlformats.org/officeDocument/2006/relationships/slide" Target="/ppt/slides/slide92.xml" Id="R0c464aca74f54e98" /><Relationship Type="http://schemas.openxmlformats.org/officeDocument/2006/relationships/slide" Target="/ppt/slides/slide93.xml" Id="R603cc18fea8d441f" /><Relationship Type="http://schemas.openxmlformats.org/officeDocument/2006/relationships/slide" Target="/ppt/slides/slide94.xml" Id="R4491936a74d24d18" /><Relationship Type="http://schemas.openxmlformats.org/officeDocument/2006/relationships/slide" Target="/ppt/slides/slide95.xml" Id="R8f419fbfda514d4e" /><Relationship Type="http://schemas.openxmlformats.org/officeDocument/2006/relationships/slide" Target="/ppt/slides/slide96.xml" Id="R8cf1f62b81604cc3" /><Relationship Type="http://schemas.openxmlformats.org/officeDocument/2006/relationships/slide" Target="/ppt/slides/slide97.xml" Id="Ra880ca9a8e9f4f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a3e6d26123049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60a8bfead494d4e" /><Relationship Type="http://schemas.openxmlformats.org/officeDocument/2006/relationships/notesMaster" Target="/ppt/notesMasters/notesMaster1.xml" Id="Rc74c4bb739c54737" /></Relationships>
</file>

<file path=ppt/notesSlides/_rels/notesSlide2.xml.rels>&#65279;<?xml version="1.0" encoding="utf-8"?><Relationships xmlns="http://schemas.openxmlformats.org/package/2006/relationships"><Relationship Type="http://schemas.openxmlformats.org/officeDocument/2006/relationships/slide" Target="/ppt/slides/slide2.xml" Id="Re396a9146ae44dae" /><Relationship Type="http://schemas.openxmlformats.org/officeDocument/2006/relationships/notesMaster" Target="/ppt/notesMasters/notesMaster1.xml" Id="R392ac220e64b4e08"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c8c0670f3449d8" /><Relationship Type="http://schemas.openxmlformats.org/officeDocument/2006/relationships/notesMaster" Target="/ppt/notesMasters/notesMaster1.xml" Id="Rc353539456644e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4f003c489b49c9" /><Relationship Type="http://schemas.openxmlformats.org/officeDocument/2006/relationships/notesMaster" Target="/ppt/notesMasters/notesMaster1.xml" Id="R98e49b9a36334e63" /></Relationships>
</file>

<file path=ppt/notesSlides/_rels/notesSlide5.xml.rels>&#65279;<?xml version="1.0" encoding="utf-8"?><Relationships xmlns="http://schemas.openxmlformats.org/package/2006/relationships"><Relationship Type="http://schemas.openxmlformats.org/officeDocument/2006/relationships/slide" Target="/ppt/slides/slide5.xml" Id="R5c046b93d6e04ed0" /><Relationship Type="http://schemas.openxmlformats.org/officeDocument/2006/relationships/notesMaster" Target="/ppt/notesMasters/notesMaster1.xml" Id="R2208fa025c9c44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b9745c576f47c8" /><Relationship Type="http://schemas.openxmlformats.org/officeDocument/2006/relationships/notesMaster" Target="/ppt/notesMasters/notesMaster1.xml" Id="R9ea1fc34be1448d6" /></Relationships>
</file>

<file path=ppt/notesSlides/_rels/notesSlide7.xml.rels>&#65279;<?xml version="1.0" encoding="utf-8"?><Relationships xmlns="http://schemas.openxmlformats.org/package/2006/relationships"><Relationship Type="http://schemas.openxmlformats.org/officeDocument/2006/relationships/slide" Target="/ppt/slides/slide7.xml" Id="R85ab3716cde44f25" /><Relationship Type="http://schemas.openxmlformats.org/officeDocument/2006/relationships/notesMaster" Target="/ppt/notesMasters/notesMaster1.xml" Id="Ra227c0e1ed9148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af771bf27e3744c5" /><Relationship Type="http://schemas.openxmlformats.org/officeDocument/2006/relationships/notesMaster" Target="/ppt/notesMasters/notesMaster1.xml" Id="Rf19bc6f108194a62" /></Relationships>
</file>

<file path=ppt/notesSlides/_rels/notesSlide9.xml.rels>&#65279;<?xml version="1.0" encoding="utf-8"?><Relationships xmlns="http://schemas.openxmlformats.org/package/2006/relationships"><Relationship Type="http://schemas.openxmlformats.org/officeDocument/2006/relationships/slide" Target="/ppt/slides/slide9.xml" Id="Re55afe7231b44f5f" /><Relationship Type="http://schemas.openxmlformats.org/officeDocument/2006/relationships/notesMaster" Target="/ppt/notesMasters/notesMaster1.xml" Id="R8dc988bed42045e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7d792acd36b404d" /><Relationship Type="http://schemas.openxmlformats.org/officeDocument/2006/relationships/notesMaster" Target="/ppt/notesMasters/notesMaster1.xml" Id="Rb161afbb6fb74b4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1c8b044a52749d0" /><Relationship Type="http://schemas.openxmlformats.org/officeDocument/2006/relationships/notesMaster" Target="/ppt/notesMasters/notesMaster1.xml" Id="R594634c404bb4aa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610ff5d00cd4b21" /><Relationship Type="http://schemas.openxmlformats.org/officeDocument/2006/relationships/notesMaster" Target="/ppt/notesMasters/notesMaster1.xml" Id="R84f1c7f0dd114fe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68e7fc8515d4ab1" /><Relationship Type="http://schemas.openxmlformats.org/officeDocument/2006/relationships/notesMaster" Target="/ppt/notesMasters/notesMaster1.xml" Id="Re2a7f1efba064a7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b71b7c4633f4927" /><Relationship Type="http://schemas.openxmlformats.org/officeDocument/2006/relationships/notesMaster" Target="/ppt/notesMasters/notesMaster1.xml" Id="R1b8a27c1e720404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d9f07260ebd43a9" /><Relationship Type="http://schemas.openxmlformats.org/officeDocument/2006/relationships/notesMaster" Target="/ppt/notesMasters/notesMaster1.xml" Id="R5b2a81a5a1a1453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302ddd142044328" /><Relationship Type="http://schemas.openxmlformats.org/officeDocument/2006/relationships/notesMaster" Target="/ppt/notesMasters/notesMaster1.xml" Id="R23a75ad6189f48f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7ce656c903e4781" /><Relationship Type="http://schemas.openxmlformats.org/officeDocument/2006/relationships/notesMaster" Target="/ppt/notesMasters/notesMaster1.xml" Id="Rdfaf8c6996f1432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153ecfcdf704b6d" /><Relationship Type="http://schemas.openxmlformats.org/officeDocument/2006/relationships/notesMaster" Target="/ppt/notesMasters/notesMaster1.xml" Id="Rab69142d7ae242c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cb8a77787db4f34" /><Relationship Type="http://schemas.openxmlformats.org/officeDocument/2006/relationships/notesMaster" Target="/ppt/notesMasters/notesMaster1.xml" Id="R0dcdee6d91154fe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5d1a375ccbe4149" /><Relationship Type="http://schemas.openxmlformats.org/officeDocument/2006/relationships/notesMaster" Target="/ppt/notesMasters/notesMaster1.xml" Id="Ra5130cfe1d514c4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360c5b8152d4e4b" /><Relationship Type="http://schemas.openxmlformats.org/officeDocument/2006/relationships/notesMaster" Target="/ppt/notesMasters/notesMaster1.xml" Id="R951bfbebc1b84fd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b68d36947894571" /><Relationship Type="http://schemas.openxmlformats.org/officeDocument/2006/relationships/notesMaster" Target="/ppt/notesMasters/notesMaster1.xml" Id="R2015ddf965e04b9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22daa740692497f" /><Relationship Type="http://schemas.openxmlformats.org/officeDocument/2006/relationships/notesMaster" Target="/ppt/notesMasters/notesMaster1.xml" Id="R114cc54a742e482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5062f604c1c4ef4" /><Relationship Type="http://schemas.openxmlformats.org/officeDocument/2006/relationships/notesMaster" Target="/ppt/notesMasters/notesMaster1.xml" Id="R2f9c6b654ff247f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96cdf02b14c41f8" /><Relationship Type="http://schemas.openxmlformats.org/officeDocument/2006/relationships/notesMaster" Target="/ppt/notesMasters/notesMaster1.xml" Id="R78caaa73bdfa423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0760e4e54764667" /><Relationship Type="http://schemas.openxmlformats.org/officeDocument/2006/relationships/notesMaster" Target="/ppt/notesMasters/notesMaster1.xml" Id="R6a4569c2268c4de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9497a7d728e426d" /><Relationship Type="http://schemas.openxmlformats.org/officeDocument/2006/relationships/notesMaster" Target="/ppt/notesMasters/notesMaster1.xml" Id="Ra361c7a37a0a415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318418d3a9447e5" /><Relationship Type="http://schemas.openxmlformats.org/officeDocument/2006/relationships/notesMaster" Target="/ppt/notesMasters/notesMaster1.xml" Id="R1d7c55e6123a431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2449c74d12f4823" /><Relationship Type="http://schemas.openxmlformats.org/officeDocument/2006/relationships/notesMaster" Target="/ppt/notesMasters/notesMaster1.xml" Id="R653a453ae68a44f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bc0a3c0a8c741dd" /><Relationship Type="http://schemas.openxmlformats.org/officeDocument/2006/relationships/notesMaster" Target="/ppt/notesMasters/notesMaster1.xml" Id="Rd1d37f98de3a427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70a40fda4f04a17" /><Relationship Type="http://schemas.openxmlformats.org/officeDocument/2006/relationships/notesMaster" Target="/ppt/notesMasters/notesMaster1.xml" Id="R7cf42c160a5a483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4efb3f74bc94d16" /><Relationship Type="http://schemas.openxmlformats.org/officeDocument/2006/relationships/notesMaster" Target="/ppt/notesMasters/notesMaster1.xml" Id="R8d80e15b57dc401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5cf616a364440ea" /><Relationship Type="http://schemas.openxmlformats.org/officeDocument/2006/relationships/notesMaster" Target="/ppt/notesMasters/notesMaster1.xml" Id="Rd6dd42d16c74465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4597043d0a942b4" /><Relationship Type="http://schemas.openxmlformats.org/officeDocument/2006/relationships/notesMaster" Target="/ppt/notesMasters/notesMaster1.xml" Id="R6df13a5177e448a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006a4847a2b4ed7" /><Relationship Type="http://schemas.openxmlformats.org/officeDocument/2006/relationships/notesMaster" Target="/ppt/notesMasters/notesMaster1.xml" Id="Rcfced8492c9e4c9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e07bd56f5ff453c" /><Relationship Type="http://schemas.openxmlformats.org/officeDocument/2006/relationships/notesMaster" Target="/ppt/notesMasters/notesMaster1.xml" Id="R416b96f100234f7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6cfea2c84ce49d0" /><Relationship Type="http://schemas.openxmlformats.org/officeDocument/2006/relationships/notesMaster" Target="/ppt/notesMasters/notesMaster1.xml" Id="R34771800ff5c4cf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6822d0521b54d53" /><Relationship Type="http://schemas.openxmlformats.org/officeDocument/2006/relationships/notesMaster" Target="/ppt/notesMasters/notesMaster1.xml" Id="R175bee4d49f846e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b9e2706870e4906" /><Relationship Type="http://schemas.openxmlformats.org/officeDocument/2006/relationships/notesMaster" Target="/ppt/notesMasters/notesMaster1.xml" Id="Re19dfbc24041477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1930254f26c4558" /><Relationship Type="http://schemas.openxmlformats.org/officeDocument/2006/relationships/notesMaster" Target="/ppt/notesMasters/notesMaster1.xml" Id="R5378e58d8c144cd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33c962dfd814b52" /><Relationship Type="http://schemas.openxmlformats.org/officeDocument/2006/relationships/notesMaster" Target="/ppt/notesMasters/notesMaster1.xml" Id="R7d18a46f3dd241a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777b32fb2d74315" /><Relationship Type="http://schemas.openxmlformats.org/officeDocument/2006/relationships/notesMaster" Target="/ppt/notesMasters/notesMaster1.xml" Id="Rc04eb5602165457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4f926c891064d62" /><Relationship Type="http://schemas.openxmlformats.org/officeDocument/2006/relationships/notesMaster" Target="/ppt/notesMasters/notesMaster1.xml" Id="Rfb99a507bf31499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ff7a4b53ae7471b" /><Relationship Type="http://schemas.openxmlformats.org/officeDocument/2006/relationships/notesMaster" Target="/ppt/notesMasters/notesMaster1.xml" Id="Rc53e34f9c7b14d9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8e69ebe01c947f7" /><Relationship Type="http://schemas.openxmlformats.org/officeDocument/2006/relationships/notesMaster" Target="/ppt/notesMasters/notesMaster1.xml" Id="Rc4038e6dba654bd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81627c4c7e14bc5" /><Relationship Type="http://schemas.openxmlformats.org/officeDocument/2006/relationships/notesMaster" Target="/ppt/notesMasters/notesMaster1.xml" Id="Rec059a3a34b0401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e5f926543cc4ac8" /><Relationship Type="http://schemas.openxmlformats.org/officeDocument/2006/relationships/notesMaster" Target="/ppt/notesMasters/notesMaster1.xml" Id="R96a24cb6734f47f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43d01cc90304699" /><Relationship Type="http://schemas.openxmlformats.org/officeDocument/2006/relationships/notesMaster" Target="/ppt/notesMasters/notesMaster1.xml" Id="R66b4a56abe704e2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c2bd1072a04453e" /><Relationship Type="http://schemas.openxmlformats.org/officeDocument/2006/relationships/notesMaster" Target="/ppt/notesMasters/notesMaster1.xml" Id="R55eb4567648e47d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41b00de051e4d60" /><Relationship Type="http://schemas.openxmlformats.org/officeDocument/2006/relationships/notesMaster" Target="/ppt/notesMasters/notesMaster1.xml" Id="R34788e7d2ccd4ca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4ddac3e3b764fbb" /><Relationship Type="http://schemas.openxmlformats.org/officeDocument/2006/relationships/notesMaster" Target="/ppt/notesMasters/notesMaster1.xml" Id="Rfff209dccf68470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ed55ae7e63544e4" /><Relationship Type="http://schemas.openxmlformats.org/officeDocument/2006/relationships/notesMaster" Target="/ppt/notesMasters/notesMaster1.xml" Id="R712eb1b3a3c3410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d9e8d523e434bea" /><Relationship Type="http://schemas.openxmlformats.org/officeDocument/2006/relationships/notesMaster" Target="/ppt/notesMasters/notesMaster1.xml" Id="R473357a9a7df4cf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4bf18c0c4054dee" /><Relationship Type="http://schemas.openxmlformats.org/officeDocument/2006/relationships/notesMaster" Target="/ppt/notesMasters/notesMaster1.xml" Id="Rb1dcc26909fa4a3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3bc42e731d94028" /><Relationship Type="http://schemas.openxmlformats.org/officeDocument/2006/relationships/notesMaster" Target="/ppt/notesMasters/notesMaster1.xml" Id="R751de94b5ad6435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af1407ea2dd467c" /><Relationship Type="http://schemas.openxmlformats.org/officeDocument/2006/relationships/notesMaster" Target="/ppt/notesMasters/notesMaster1.xml" Id="Rc74ef265d5054f4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d2b354a728c54efd" /><Relationship Type="http://schemas.openxmlformats.org/officeDocument/2006/relationships/notesMaster" Target="/ppt/notesMasters/notesMaster1.xml" Id="R906e205b6baa493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0965510c6114c9a" /><Relationship Type="http://schemas.openxmlformats.org/officeDocument/2006/relationships/notesMaster" Target="/ppt/notesMasters/notesMaster1.xml" Id="R3de12fd0ba3b49b0"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79dbdf855c145b3" /><Relationship Type="http://schemas.openxmlformats.org/officeDocument/2006/relationships/notesMaster" Target="/ppt/notesMasters/notesMaster1.xml" Id="R14a274436c294fc9"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d1332d8de1764446" /><Relationship Type="http://schemas.openxmlformats.org/officeDocument/2006/relationships/notesMaster" Target="/ppt/notesMasters/notesMaster1.xml" Id="Rf57df2e0486e4c4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3a9c2fbf319425a" /><Relationship Type="http://schemas.openxmlformats.org/officeDocument/2006/relationships/notesMaster" Target="/ppt/notesMasters/notesMaster1.xml" Id="Rc3c4428b4d6f4f77"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7caf708ea30c4a38" /><Relationship Type="http://schemas.openxmlformats.org/officeDocument/2006/relationships/notesMaster" Target="/ppt/notesMasters/notesMaster1.xml" Id="Rd0c9f7fab87a4dc8"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abc9fa19ae44049" /><Relationship Type="http://schemas.openxmlformats.org/officeDocument/2006/relationships/notesMaster" Target="/ppt/notesMasters/notesMaster1.xml" Id="R02f8da253a4e462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59658d2d5394a93" /><Relationship Type="http://schemas.openxmlformats.org/officeDocument/2006/relationships/notesMaster" Target="/ppt/notesMasters/notesMaster1.xml" Id="Ra9dfdb9a6e164d4f"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41541a3f6a1644df" /><Relationship Type="http://schemas.openxmlformats.org/officeDocument/2006/relationships/notesMaster" Target="/ppt/notesMasters/notesMaster1.xml" Id="Re6a08cf9eabe44e0"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0926ee2c5dc44cf9" /><Relationship Type="http://schemas.openxmlformats.org/officeDocument/2006/relationships/notesMaster" Target="/ppt/notesMasters/notesMaster1.xml" Id="Re0476c44b08543dc"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51cf09c2132b4484" /><Relationship Type="http://schemas.openxmlformats.org/officeDocument/2006/relationships/notesMaster" Target="/ppt/notesMasters/notesMaster1.xml" Id="R34f253d459814228"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c35c6851925446a" /><Relationship Type="http://schemas.openxmlformats.org/officeDocument/2006/relationships/notesMaster" Target="/ppt/notesMasters/notesMaster1.xml" Id="R87869b517a0f475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87cb3c2ac09748d1" /><Relationship Type="http://schemas.openxmlformats.org/officeDocument/2006/relationships/notesMaster" Target="/ppt/notesMasters/notesMaster1.xml" Id="R616cc04f38914df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02e021fbe36946f6" /><Relationship Type="http://schemas.openxmlformats.org/officeDocument/2006/relationships/notesMaster" Target="/ppt/notesMasters/notesMaster1.xml" Id="R4a7f7792b38f44ef"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c2648d2305e44937" /><Relationship Type="http://schemas.openxmlformats.org/officeDocument/2006/relationships/notesMaster" Target="/ppt/notesMasters/notesMaster1.xml" Id="R9a0f50e463284362"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3ee1a28bb4324520" /><Relationship Type="http://schemas.openxmlformats.org/officeDocument/2006/relationships/notesMaster" Target="/ppt/notesMasters/notesMaster1.xml" Id="R2e7b9c547d0a46c2"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71ae3375a6234603" /><Relationship Type="http://schemas.openxmlformats.org/officeDocument/2006/relationships/notesMaster" Target="/ppt/notesMasters/notesMaster1.xml" Id="Rd2d415c25e864b62"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16e542ad38e4138" /><Relationship Type="http://schemas.openxmlformats.org/officeDocument/2006/relationships/notesMaster" Target="/ppt/notesMasters/notesMaster1.xml" Id="R81f9294614fd4dc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73667b496fb45c9" /><Relationship Type="http://schemas.openxmlformats.org/officeDocument/2006/relationships/notesMaster" Target="/ppt/notesMasters/notesMaster1.xml" Id="R90c13176212d4ea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18010871f0dc46d4" /><Relationship Type="http://schemas.openxmlformats.org/officeDocument/2006/relationships/notesMaster" Target="/ppt/notesMasters/notesMaster1.xml" Id="R8013821a02e44088"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45bc9c91e8174ec2" /><Relationship Type="http://schemas.openxmlformats.org/officeDocument/2006/relationships/notesMaster" Target="/ppt/notesMasters/notesMaster1.xml" Id="Rf493a90911354c4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1b1c5dc8924045d9" /><Relationship Type="http://schemas.openxmlformats.org/officeDocument/2006/relationships/notesMaster" Target="/ppt/notesMasters/notesMaster1.xml" Id="R5133be187de6497e"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0ba99b8f5e646c0" /><Relationship Type="http://schemas.openxmlformats.org/officeDocument/2006/relationships/notesMaster" Target="/ppt/notesMasters/notesMaster1.xml" Id="Rb3ac036976ab472d"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cdc0266c9ebe4bcc" /><Relationship Type="http://schemas.openxmlformats.org/officeDocument/2006/relationships/notesMaster" Target="/ppt/notesMasters/notesMaster1.xml" Id="Rb4588b6f46e54aa1"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270419722ec742a6" /><Relationship Type="http://schemas.openxmlformats.org/officeDocument/2006/relationships/notesMaster" Target="/ppt/notesMasters/notesMaster1.xml" Id="R6ca445713ba44090"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99f5d4f16994054" /><Relationship Type="http://schemas.openxmlformats.org/officeDocument/2006/relationships/notesMaster" Target="/ppt/notesMasters/notesMaster1.xml" Id="R2af7ac921a6b440d"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0af822d243224e80" /><Relationship Type="http://schemas.openxmlformats.org/officeDocument/2006/relationships/notesMaster" Target="/ppt/notesMasters/notesMaster1.xml" Id="Rb445415b269b43c1"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e461749309c84b64" /><Relationship Type="http://schemas.openxmlformats.org/officeDocument/2006/relationships/notesMaster" Target="/ppt/notesMasters/notesMaster1.xml" Id="Re88a907a948e4c14"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2ef5c57960664267" /><Relationship Type="http://schemas.openxmlformats.org/officeDocument/2006/relationships/notesMaster" Target="/ppt/notesMasters/notesMaster1.xml" Id="R7187ad0faf2041f2"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67c254b6fca74834" /><Relationship Type="http://schemas.openxmlformats.org/officeDocument/2006/relationships/notesMaster" Target="/ppt/notesMasters/notesMaster1.xml" Id="R3b88263507c8459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2df923b3ef414956" /><Relationship Type="http://schemas.openxmlformats.org/officeDocument/2006/relationships/notesMaster" Target="/ppt/notesMasters/notesMaster1.xml" Id="R8a142bd912e7484a"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594d8d7884634ff7" /><Relationship Type="http://schemas.openxmlformats.org/officeDocument/2006/relationships/notesMaster" Target="/ppt/notesMasters/notesMaster1.xml" Id="R7432c31512694e98"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d4f910339f50413a" /><Relationship Type="http://schemas.openxmlformats.org/officeDocument/2006/relationships/notesMaster" Target="/ppt/notesMasters/notesMaster1.xml" Id="Ra71e5665bb7747a5"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99a5e2363749488a" /><Relationship Type="http://schemas.openxmlformats.org/officeDocument/2006/relationships/notesMaster" Target="/ppt/notesMasters/notesMaster1.xml" Id="R6d0f820b5d3a4eed"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d169e46a8b2f420e" /><Relationship Type="http://schemas.openxmlformats.org/officeDocument/2006/relationships/notesMaster" Target="/ppt/notesMasters/notesMaster1.xml" Id="R77249ba8c5c74a90"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2047d279b8874426" /><Relationship Type="http://schemas.openxmlformats.org/officeDocument/2006/relationships/notesMaster" Target="/ppt/notesMasters/notesMaster1.xml" Id="R303d27a131c2421d"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f86ed425e5ea43f2" /><Relationship Type="http://schemas.openxmlformats.org/officeDocument/2006/relationships/notesMaster" Target="/ppt/notesMasters/notesMaster1.xml" Id="R1d0cc82e2316479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ecfca8ee4ab84cd1" /><Relationship Type="http://schemas.openxmlformats.org/officeDocument/2006/relationships/notesMaster" Target="/ppt/notesMasters/notesMaster1.xml" Id="Ra09233615363427b"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3f8fc7bcc7ba4dd3" /><Relationship Type="http://schemas.openxmlformats.org/officeDocument/2006/relationships/notesMaster" Target="/ppt/notesMasters/notesMaster1.xml" Id="Rf8ede3846b644983"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691d2f5cb65e4e33" /><Relationship Type="http://schemas.openxmlformats.org/officeDocument/2006/relationships/notesMaster" Target="/ppt/notesMasters/notesMaster1.xml" Id="R1b9884944cd648a3"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47cc634dfbc94a73" /><Relationship Type="http://schemas.openxmlformats.org/officeDocument/2006/relationships/notesMaster" Target="/ppt/notesMasters/notesMaster1.xml" Id="R329ab39430fb450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코딩 경험을 선수 조건으로 삼지 않습니다. 상세 설명은 학생 교안과 발표자 노트로 연결합니다. 모든 수업 예시는 합성 데이터입니다.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순수 수업 300분, 중식 70분, 기타 휴식 50분입니다. 원본 6H 표기와 실제 수업 운영 분을 구별합니다.</a:t>
            </a:r>
          </a:p>
          <a:p xmlns:a="http://schemas.openxmlformats.org/drawingml/2006/main">
            <a:r>
              <a:t/>
            </a:r>
          </a:p>
          <a:p xmlns:a="http://schemas.openxmlformats.org/drawingml/2006/main">
            <a:r>
              <a:t>자료 위치: D:\KDigital_PhysicalAI\outputs\2026-10-15\beginner-start.md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파일을 여는 것과 실행하는 것을 구별합니다. Windows라는 제작 가정 아래 탐색기의 파일 확장명 표시를 확인합니다. 압축 파일 안이 아닌 모두 추출한 폴더에서 시작합니다.</a:t>
            </a:r>
          </a:p>
          <a:p xmlns:a="http://schemas.openxmlformats.org/drawingml/2006/main">
            <a:r>
              <a:t/>
            </a:r>
          </a:p>
          <a:p xmlns:a="http://schemas.openxmlformats.org/drawingml/2006/main">
            <a:r>
              <a:t>자료 위치: D:\KDigital_PhysicalAI\outputs\2026-10-15\beginner-start.md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심화 · 함수와 파일 검사</a:t>
            </a:r>
          </a:p>
          <a:p xmlns:a="http://schemas.openxmlformats.org/drawingml/2006/main">
            <a:r>
              <a:t/>
            </a:r>
          </a:p>
          <a:p xmlns:a="http://schemas.openxmlformats.org/drawingml/2006/main">
            <a:r>
              <a:t>2026-10-15 · Python 심화</a:t>
            </a:r>
          </a:p>
          <a:p xmlns:a="http://schemas.openxmlformats.org/drawingml/2006/main">
            <a:r>
              <a:t/>
            </a:r>
          </a:p>
          <a:p xmlns:a="http://schemas.openxmlformats.org/drawingml/2006/main">
            <a:r>
              <a:t>전날의 변수·조건·반복을 다시 읽고 반복 업무를 함수로 묶습니다. CSV를 읽어 JSON 결과를 저장하며 미측정과 잘못된 값을 구별하는 작은 로그 검사기를 사용하고 검수합니다.</a:t>
            </a:r>
          </a:p>
          <a:p xmlns:a="http://schemas.openxmlformats.org/drawingml/2006/main">
            <a:r>
              <a:t/>
            </a:r>
          </a:p>
          <a:p xmlns:a="http://schemas.openxmlformats.org/drawingml/2006/main">
            <a:r>
              <a:t>**50분씩 6교시의 필수 경로로 운영하며 실제 학습자 리허설 전입니다.** 원본을 보존하고 work의 지정한 부분을 수정합니다. 계정이나 실제 장비 없이 합성 자료로 진행합니다.</a:t>
            </a:r>
          </a:p>
          <a:p xmlns:a="http://schemas.openxmlformats.org/drawingml/2006/main">
            <a:r>
              <a:t/>
            </a:r>
          </a:p>
          <a:p xmlns:a="http://schemas.openxmlformats.org/drawingml/2006/main">
            <a:r>
              <a:t>## 오늘의 연결</a:t>
            </a:r>
          </a:p>
          <a:p xmlns:a="http://schemas.openxmlformats.org/drawingml/2006/main">
            <a:r>
              <a:t/>
            </a:r>
          </a:p>
          <a:p xmlns:a="http://schemas.openxmlformats.org/drawingml/2006/main">
            <a:r>
              <a:t>10/8에는 기록의 의미와 파일 표현을 읽었습니다. 오늘은 전날의 변수·조건·반복을 다시 읽고 반복 업무를 함수로 묶습니다. CSV를 읽어 JSON 결과를 저장하며 미측정과 잘못된 값을 구별하는 작은 로그 검사기를 사용하고 검수합니다.</a:t>
            </a:r>
          </a:p>
          <a:p xmlns:a="http://schemas.openxmlformats.org/drawingml/2006/main">
            <a:r>
              <a:t/>
            </a:r>
          </a:p>
          <a:p xmlns:a="http://schemas.openxmlformats.org/drawingml/2006/main">
            <a:r>
              <a:t>## 먼저 구별할 화면</a:t>
            </a:r>
          </a:p>
          <a:p xmlns:a="http://schemas.openxmlformats.org/drawingml/2006/main">
            <a:r>
              <a:t/>
            </a:r>
          </a:p>
          <a:p xmlns:a="http://schemas.openxmlformats.org/drawingml/2006/main">
            <a:r>
              <a:t>- 파일 탐색기는 저장한 파일의 위치를 찾습니다.</a:t>
            </a:r>
          </a:p>
          <a:p xmlns:a="http://schemas.openxmlformats.org/drawingml/2006/main">
            <a:r>
              <a:t>- 텍스트 편집기는 코드와 데이터를 읽고 고칩니다.</a:t>
            </a:r>
          </a:p>
          <a:p xmlns:a="http://schemas.openxmlformats.org/drawingml/2006/main">
            <a:r>
              <a:t>- 터미널은 명령을 입력하고 실제 실행 결과를 확인합니다.</a:t>
            </a:r>
          </a:p>
          <a:p xmlns:a="http://schemas.openxmlformats.org/drawingml/2006/main">
            <a:r>
              <a:t>- 웹 교안은 설명·원문·출력 예를 제공합니다. Python 실행기는 아닙니다.</a:t>
            </a:r>
          </a:p>
          <a:p xmlns:a="http://schemas.openxmlformats.org/drawingml/2006/main">
            <a:r>
              <a:t/>
            </a:r>
          </a:p>
          <a:p xmlns:a="http://schemas.openxmlformats.org/drawingml/2006/main">
            <a:r>
              <a:t>## 참여 순서</a:t>
            </a:r>
          </a:p>
          <a:p xmlns:a="http://schemas.openxmlformats.org/drawingml/2006/main">
            <a:r>
              <a:t/>
            </a:r>
          </a:p>
          <a:p xmlns:a="http://schemas.openxmlformats.org/drawingml/2006/main">
            <a:r>
              <a:t>1. 압축을 일반 폴더에 풀고 data·code·work의 위치를 유지합니다.</a:t>
            </a:r>
          </a:p>
          <a:p xmlns:a="http://schemas.openxmlformats.org/drawingml/2006/main">
            <a:r>
              <a:t>2. lesson의 개념을 읽고 activity-guide의 해당 활동 입력을 엽니다.</a:t>
            </a:r>
          </a:p>
          <a:p xmlns:a="http://schemas.openxmlformats.org/drawingml/2006/main">
            <a:r>
              <a:t>3. work의 답칸에 예상과 이유를 먼저 쓰고 지정한 값을 수정합니다.</a:t>
            </a:r>
          </a:p>
          <a:p xmlns:a="http://schemas.openxmlformats.org/drawingml/2006/main">
            <a:r>
              <a:t>4. 저장 후 정확한 work 파일을 실행하거나 강사 출력·제공 예와 수동 비교합니다.</a:t>
            </a:r>
          </a:p>
          <a:p xmlns:a="http://schemas.openxmlformats.org/drawingml/2006/main">
            <a:r>
              <a:t>5. 확인 방식을 기록합니다. 개인 실행을 하지 않았으면 실행 성공으로 적지 않습니다.</a:t>
            </a:r>
          </a:p>
          <a:p xmlns:a="http://schemas.openxmlformats.org/drawingml/2006/main">
            <a:r>
              <a:t/>
            </a:r>
          </a:p>
          <a:p xmlns:a="http://schemas.openxmlformats.org/drawingml/2006/main">
            <a:r>
              <a:t>## 도구를 준비하지 못했을 때</a:t>
            </a:r>
          </a:p>
          <a:p xmlns:a="http://schemas.openxmlformats.org/drawingml/2006/main">
            <a:r>
              <a:t/>
            </a:r>
          </a:p>
          <a:p xmlns:a="http://schemas.openxmlformats.org/drawingml/2006/main">
            <a:r>
              <a:t>설치 문제로 수업을 멈추지 말고 제공한 전체 코드·출력과 동일 입력을 사용해 줄별 값을 직접 추적합니다. 종이에도 같은 답칸을 작성합니다. 개인 실행은 강사가 환경을 준비한 뒤 확인합니다.</a:t>
            </a:r>
          </a:p>
          <a:p xmlns:a="http://schemas.openxmlformats.org/drawingml/2006/main">
            <a:r>
              <a:t/>
            </a:r>
          </a:p>
          <a:p xmlns:a="http://schemas.openxmlformats.org/drawingml/2006/main">
            <a:r>
              <a:t>[교안](lesson.md) · [실습](practice-guide.md) · [용어](glossary.md)</a:t>
            </a:r>
          </a:p>
          <a:p xmlns:a="http://schemas.openxmlformats.org/drawingml/2006/main">
            <a:r>
              <a:t/>
            </a:r>
          </a:p>
          <a:p xmlns:a="http://schemas.openxmlformats.org/drawingml/2006/main">
            <a:r>
              <a:t/>
            </a:r>
          </a:p>
          <a:p xmlns:a="http://schemas.openxmlformats.org/drawingml/2006/main">
            <a:r>
              <a:t>## 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자기 말로 답한 뒤 풀이와 비교하세요.</a:t>
            </a:r>
          </a:p>
          <a:p xmlns:a="http://schemas.openxmlformats.org/drawingml/2006/main">
            <a:r>
              <a:t/>
            </a:r>
          </a:p>
          <a:p xmlns:a="http://schemas.openxmlformats.org/drawingml/2006/main">
            <a:r>
              <a:t>### 함수의 입력과 결과</a:t>
            </a:r>
          </a:p>
          <a:p xmlns:a="http://schemas.openxmlformats.org/drawingml/2006/main">
            <a:r>
              <a:t/>
            </a:r>
          </a:p>
          <a:p xmlns:a="http://schemas.openxmlformats.org/drawingml/2006/main">
            <a:r>
              <a:t>질문: 함수 안에서 print만 했다면 호출한 곳이 그 숫자를 계산에 쓸 수 있나요?</a:t>
            </a:r>
          </a:p>
          <a:p xmlns:a="http://schemas.openxmlformats.org/drawingml/2006/main">
            <a:r>
              <a:t/>
            </a:r>
          </a:p>
          <a:p xmlns:a="http://schemas.openxmlformats.org/drawingml/2006/main">
            <a:r>
              <a:t>풀이: 화면 표시와 return으로 돌려주는 결과를 구분합니다. 호출 결과를 다른 계산에 쓰려면 필요한 값을 돌려줘야 합니다.</a:t>
            </a:r>
          </a:p>
          <a:p xmlns:a="http://schemas.openxmlformats.org/drawingml/2006/main">
            <a:r>
              <a:t/>
            </a:r>
          </a:p>
          <a:p xmlns:a="http://schemas.openxmlformats.org/drawingml/2006/main">
            <a:r>
              <a:t>### 파일 읽기</a:t>
            </a:r>
          </a:p>
          <a:p xmlns:a="http://schemas.openxmlformats.org/drawingml/2006/main">
            <a:r>
              <a:t/>
            </a:r>
          </a:p>
          <a:p xmlns:a="http://schemas.openxmlformats.org/drawingml/2006/main">
            <a:r>
              <a:t>질문: CSV 칸에 28.0이 적혀 있으면 자동으로 float인가요?</a:t>
            </a:r>
          </a:p>
          <a:p xmlns:a="http://schemas.openxmlformats.org/drawingml/2006/main">
            <a:r>
              <a:t/>
            </a:r>
          </a:p>
          <a:p xmlns:a="http://schemas.openxmlformats.org/drawingml/2006/main">
            <a:r>
              <a:t>풀이: 일반적인 CSV 읽기는 문자열 값을 줍니다. 공백·누락·변환 실패를 확인한 뒤 숫자로 바꿉니다.</a:t>
            </a:r>
          </a:p>
          <a:p xmlns:a="http://schemas.openxmlformats.org/drawingml/2006/main">
            <a:r>
              <a:t/>
            </a:r>
          </a:p>
          <a:p xmlns:a="http://schemas.openxmlformats.org/drawingml/2006/main">
            <a:r>
              <a:t>### 미측정</a:t>
            </a:r>
          </a:p>
          <a:p xmlns:a="http://schemas.openxmlformats.org/drawingml/2006/main">
            <a:r>
              <a:t/>
            </a:r>
          </a:p>
          <a:p xmlns:a="http://schemas.openxmlformats.org/drawingml/2006/main">
            <a:r>
              <a:t>질문: 빈 온도를 0으로 바꾸면 평균은 어떻게 되나요?</a:t>
            </a:r>
          </a:p>
          <a:p xmlns:a="http://schemas.openxmlformats.org/drawingml/2006/main">
            <a:r>
              <a:t/>
            </a:r>
          </a:p>
          <a:p xmlns:a="http://schemas.openxmlformats.org/drawingml/2006/main">
            <a:r>
              <a:t>풀이: 측정하지 않은 기록이 실제 0도처럼 계산되어 평균을 낮춥니다. 측정 여부와 정상 숫자를 따로 기록합니다.</a:t>
            </a:r>
          </a:p>
          <a:p xmlns:a="http://schemas.openxmlformats.org/drawingml/2006/main">
            <a:r>
              <a:t/>
            </a:r>
          </a:p>
          <a:p xmlns:a="http://schemas.openxmlformats.org/drawingml/2006/main">
            <a:r>
              <a:t>## 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독립 문제는 결과를 확인한 뒤 복습하거나 도전합니다. 모든 페이지를 같은 시간에 끝내라는 뜻은 아닙니다. 설치가 막혔을 때는 제공 출력과 수동 추적으로 개념을 확인하고, 직접 실행했는지는 따로 적습니다.</a:t>
            </a:r>
          </a:p>
          <a:p xmlns:a="http://schemas.openxmlformats.org/drawingml/2006/main">
            <a:r>
              <a:t/>
            </a:r>
          </a:p>
          <a:p xmlns:a="http://schemas.openxmlformats.org/drawingml/2006/main">
            <a:r>
              <a:t/>
            </a:r>
          </a:p>
          <a:p xmlns:a="http://schemas.openxmlformats.org/drawingml/2006/main">
            <a:r>
              <a:t>자료 위치: D:\KDigital_PhysicalAI\outputs\2026-10-15\beginner-start.md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전날의 변수·조건·반복도 뜻을 다시 읽습니다. 제공 코드 전체를 독립 작성하는 능력을 필수로 요구하지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A01 상세 원문]</a:t>
            </a:r>
          </a:p>
          <a:p xmlns:a="http://schemas.openxmlformats.org/drawingml/2006/main">
            <a:r>
              <a:t>### 사례로 이해하기 · 작업의 입력·처리·결과를 함수 계약으로 쓰기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먼저 코드를 적기 전에 ‘이름 문자열을 받아 환영 문장 문자열을 돌려준다’라는 계약을 씁니다.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계약은 문자열 입력만 다룹니다. 실제 계정 조회나 메시지 전송은 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**정의하면 바로 실행되나요?** 본문은 해당 함수를 호출했을 때 실행됩니다.</a:t>
            </a:r>
          </a:p>
          <a:p xmlns:a="http://schemas.openxmlformats.org/drawingml/2006/main">
            <a:r>
              <a:t/>
            </a:r>
          </a:p>
          <a:p xmlns:a="http://schemas.openxmlformats.org/drawingml/2006/main">
            <a:r>
              <a:t>2. **매개변수와 인자는 같은 이름인가요?** 매개변수는 받을 자리, 인자는 호출에서 준 실제 값입니다.</a:t>
            </a:r>
          </a:p>
          <a:p xmlns:a="http://schemas.openxmlformats.org/drawingml/2006/main">
            <a:r>
              <a:t/>
            </a:r>
          </a:p>
          <a:p xmlns:a="http://schemas.openxmlformats.org/drawingml/2006/main">
            <a:r>
              <a:t>3. **어떤 코드를 함수로 묶나요?** 공통 작업과 입력·결과 계약이 분명한 부분을 먼저 묶습니다.</a:t>
            </a:r>
          </a:p>
          <a:p xmlns:a="http://schemas.openxmlformats.org/drawingml/2006/main">
            <a:r>
              <a:t/>
            </a:r>
          </a:p>
          <a:p xmlns:a="http://schemas.openxmlformats.org/drawingml/2006/main">
            <a:r>
              <a:t/>
            </a:r>
          </a:p>
          <a:p xmlns:a="http://schemas.openxmlformats.org/drawingml/2006/main">
            <a:r>
              <a:t>**개념.** 함수는 한 가지 일을 이름 붙여 묶은 코드입니다. 매번 같은 안내 절차를 읽는 대신 ‘온도 상태 확인’이라는 작업을 정해 두고 필요한 값으로 부를 수 있습니다. 무엇을 입력하고 무엇을 결과로 돌려줄지 먼저 정합니다.</a:t>
            </a:r>
          </a:p>
          <a:p xmlns:a="http://schemas.openxmlformats.org/drawingml/2006/main">
            <a:r>
              <a:t/>
            </a:r>
          </a:p>
          <a:p xmlns:a="http://schemas.openxmlformats.org/drawingml/2006/main">
            <a:r>
              <a:t>**왜 필요한가.** 같은 조건식을 여러 곳에 복사하면 한 곳만 수정하고 다른 곳을 놓칠 수 있습니다. 반복되는 규칙을 모으면 변경 위치를 찾기 쉽습니다. 첫 코드부터 모든 줄을 함수로 만들 필요는 없습니다.</a:t>
            </a:r>
          </a:p>
          <a:p xmlns:a="http://schemas.openxmlformats.org/drawingml/2006/main">
            <a:r>
              <a:t/>
            </a:r>
          </a:p>
          <a:p xmlns:a="http://schemas.openxmlformats.org/drawingml/2006/main">
            <a:r>
              <a:t>**함께 보는 예.** 온도 22.5·25.0·24.0을 각각 24.0과 비교합니다. 공통 작업은 비교하여 상태를 정하는 과정이며 달라지는 것은 입력 온도입니다. 같은 업무 이름에 다른 입력을 줄 수 있습니다.</a:t>
            </a:r>
          </a:p>
          <a:p xmlns:a="http://schemas.openxmlformats.org/drawingml/2006/main">
            <a:r>
              <a:t/>
            </a:r>
          </a:p>
          <a:p xmlns:a="http://schemas.openxmlformats.org/drawingml/2006/main">
            <a:r>
              <a:t>**헷갈리는 경우.** 이름이 check라고 해서 검증을 모두 수행하는 것은 아닙니다. 본문이 실제로 어떤 조건을 보는지 읽어야 합니다. 함수 이름은 약속을 설명하지만 정확성을 보장하지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세 업무: 22.5와24.0 비교 / 25.0과24.0 비교 / 24.0과24.0 비교.</a:t>
            </a:r>
          </a:p>
          <a:p xmlns:a="http://schemas.openxmlformats.org/drawingml/2006/main">
            <a:r>
              <a:t>답칸: 공통 작업 / 달라지는 입력 / 결과 / 이름 제안.</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같은 부분과 다른 값을 구별합니다.</a:t>
            </a:r>
          </a:p>
          <a:p xmlns:a="http://schemas.openxmlformats.org/drawingml/2006/main">
            <a:r>
              <a:t>2. 공통 작업에 temperature_status라는 이름을 붙입니다.</a:t>
            </a:r>
          </a:p>
          <a:p xmlns:a="http://schemas.openxmlformats.org/drawingml/2006/main">
            <a:r>
              <a:t>3. 받을 값과 결과의 뜻을 문장으로 씁니다.</a:t>
            </a:r>
          </a:p>
          <a:p xmlns:a="http://schemas.openxmlformats.org/drawingml/2006/main">
            <a:r>
              <a:t>4. 기준 변경 때 수정할 위치를 비교합니다.</a:t>
            </a:r>
          </a:p>
          <a:p xmlns:a="http://schemas.openxmlformats.org/drawingml/2006/main">
            <a:r>
              <a:t/>
            </a:r>
          </a:p>
          <a:p xmlns:a="http://schemas.openxmlformats.org/drawingml/2006/main">
            <a:r>
              <a:t>예상 결과: 공통 규칙·온도 입력·상태 결과를 구별합니다.</a:t>
            </a:r>
          </a:p>
          <a:p xmlns:a="http://schemas.openxmlformats.org/drawingml/2006/main">
            <a:r>
              <a:t/>
            </a:r>
          </a:p>
          <a:p xmlns:a="http://schemas.openxmlformats.org/drawingml/2006/main">
            <a:r>
              <a:t>확인 질문: 줄 수가 짧으면 함수가 필요 없다고 단정할 수 있나요?</a:t>
            </a:r>
          </a:p>
          <a:p xmlns:a="http://schemas.openxmlformats.org/drawingml/2006/main">
            <a:r>
              <a:t/>
            </a:r>
          </a:p>
          <a:p xmlns:a="http://schemas.openxmlformats.org/drawingml/2006/main">
            <a:r>
              <a:t>막혔을 때: 입력 카드 한 장을 받고 상태 카드 한 장을 돌려주는 역할극으로 그립니다.</a:t>
            </a:r>
          </a:p>
          <a:p xmlns:a="http://schemas.openxmlformats.org/drawingml/2006/main">
            <a:r>
              <a:t/>
            </a:r>
          </a:p>
          <a:p xmlns:a="http://schemas.openxmlformats.org/drawingml/2006/main">
            <a:r>
              <a:t>[활동 자료와 작성칸](practice-guide.md#a01--같은-업무를-함수로-묶는-이유)에서 A01를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A01 상세 원문]</a:t>
            </a:r>
          </a:p>
          <a:p xmlns:a="http://schemas.openxmlformats.org/drawingml/2006/main">
            <a:r>
              <a:t>### 사례로 이해하기 · 작업의 입력·처리·결과를 함수 계약으로 쓰기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먼저 코드를 적기 전에 ‘이름 문자열을 받아 환영 문장 문자열을 돌려준다’라는 계약을 씁니다.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계약은 문자열 입력만 다룹니다. 실제 계정 조회나 메시지 전송은 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**정의하면 바로 실행되나요?** 본문은 해당 함수를 호출했을 때 실행됩니다.</a:t>
            </a:r>
          </a:p>
          <a:p xmlns:a="http://schemas.openxmlformats.org/drawingml/2006/main">
            <a:r>
              <a:t/>
            </a:r>
          </a:p>
          <a:p xmlns:a="http://schemas.openxmlformats.org/drawingml/2006/main">
            <a:r>
              <a:t>2. **매개변수와 인자는 같은 이름인가요?** 매개변수는 받을 자리, 인자는 호출에서 준 실제 값입니다.</a:t>
            </a:r>
          </a:p>
          <a:p xmlns:a="http://schemas.openxmlformats.org/drawingml/2006/main">
            <a:r>
              <a:t/>
            </a:r>
          </a:p>
          <a:p xmlns:a="http://schemas.openxmlformats.org/drawingml/2006/main">
            <a:r>
              <a:t>3. **어떤 코드를 함수로 묶나요?** 공통 작업과 입력·결과 계약이 분명한 부분을 먼저 묶습니다.</a:t>
            </a:r>
          </a:p>
          <a:p xmlns:a="http://schemas.openxmlformats.org/drawingml/2006/main">
            <a:r>
              <a:t/>
            </a:r>
          </a:p>
          <a:p xmlns:a="http://schemas.openxmlformats.org/drawingml/2006/main">
            <a:r>
              <a:t/>
            </a:r>
          </a:p>
          <a:p xmlns:a="http://schemas.openxmlformats.org/drawingml/2006/main">
            <a:r>
              <a:t>**개념.** 함수는 한 가지 일을 이름 붙여 묶은 코드입니다. 매번 같은 안내 절차를 읽는 대신 ‘온도 상태 확인’이라는 작업을 정해 두고 필요한 값으로 부를 수 있습니다. 무엇을 입력하고 무엇을 결과로 돌려줄지 먼저 정합니다.</a:t>
            </a:r>
          </a:p>
          <a:p xmlns:a="http://schemas.openxmlformats.org/drawingml/2006/main">
            <a:r>
              <a:t/>
            </a:r>
          </a:p>
          <a:p xmlns:a="http://schemas.openxmlformats.org/drawingml/2006/main">
            <a:r>
              <a:t>**왜 필요한가.** 같은 조건식을 여러 곳에 복사하면 한 곳만 수정하고 다른 곳을 놓칠 수 있습니다. 반복되는 규칙을 모으면 변경 위치를 찾기 쉽습니다. 첫 코드부터 모든 줄을 함수로 만들 필요는 없습니다.</a:t>
            </a:r>
          </a:p>
          <a:p xmlns:a="http://schemas.openxmlformats.org/drawingml/2006/main">
            <a:r>
              <a:t/>
            </a:r>
          </a:p>
          <a:p xmlns:a="http://schemas.openxmlformats.org/drawingml/2006/main">
            <a:r>
              <a:t>**함께 보는 예.** 온도 22.5·25.0·24.0을 각각 24.0과 비교합니다. 공통 작업은 비교하여 상태를 정하는 과정이며 달라지는 것은 입력 온도입니다. 같은 업무 이름에 다른 입력을 줄 수 있습니다.</a:t>
            </a:r>
          </a:p>
          <a:p xmlns:a="http://schemas.openxmlformats.org/drawingml/2006/main">
            <a:r>
              <a:t/>
            </a:r>
          </a:p>
          <a:p xmlns:a="http://schemas.openxmlformats.org/drawingml/2006/main">
            <a:r>
              <a:t>**헷갈리는 경우.** 이름이 check라고 해서 검증을 모두 수행하는 것은 아닙니다. 본문이 실제로 어떤 조건을 보는지 읽어야 합니다. 함수 이름은 약속을 설명하지만 정확성을 보장하지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세 업무: 22.5와24.0 비교 / 25.0과24.0 비교 / 24.0과24.0 비교.</a:t>
            </a:r>
          </a:p>
          <a:p xmlns:a="http://schemas.openxmlformats.org/drawingml/2006/main">
            <a:r>
              <a:t>답칸: 공통 작업 / 달라지는 입력 / 결과 / 이름 제안.</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같은 부분과 다른 값을 구별합니다.</a:t>
            </a:r>
          </a:p>
          <a:p xmlns:a="http://schemas.openxmlformats.org/drawingml/2006/main">
            <a:r>
              <a:t>2. 공통 작업에 temperature_status라는 이름을 붙입니다.</a:t>
            </a:r>
          </a:p>
          <a:p xmlns:a="http://schemas.openxmlformats.org/drawingml/2006/main">
            <a:r>
              <a:t>3. 받을 값과 결과의 뜻을 문장으로 씁니다.</a:t>
            </a:r>
          </a:p>
          <a:p xmlns:a="http://schemas.openxmlformats.org/drawingml/2006/main">
            <a:r>
              <a:t>4. 기준 변경 때 수정할 위치를 비교합니다.</a:t>
            </a:r>
          </a:p>
          <a:p xmlns:a="http://schemas.openxmlformats.org/drawingml/2006/main">
            <a:r>
              <a:t/>
            </a:r>
          </a:p>
          <a:p xmlns:a="http://schemas.openxmlformats.org/drawingml/2006/main">
            <a:r>
              <a:t>예상 결과: 공통 규칙·온도 입력·상태 결과를 구별합니다.</a:t>
            </a:r>
          </a:p>
          <a:p xmlns:a="http://schemas.openxmlformats.org/drawingml/2006/main">
            <a:r>
              <a:t/>
            </a:r>
          </a:p>
          <a:p xmlns:a="http://schemas.openxmlformats.org/drawingml/2006/main">
            <a:r>
              <a:t>확인 질문: 줄 수가 짧으면 함수가 필요 없다고 단정할 수 있나요?</a:t>
            </a:r>
          </a:p>
          <a:p xmlns:a="http://schemas.openxmlformats.org/drawingml/2006/main">
            <a:r>
              <a:t/>
            </a:r>
          </a:p>
          <a:p xmlns:a="http://schemas.openxmlformats.org/drawingml/2006/main">
            <a:r>
              <a:t>막혔을 때: 입력 카드 한 장을 받고 상태 카드 한 장을 돌려주는 역할극으로 그립니다.</a:t>
            </a:r>
          </a:p>
          <a:p xmlns:a="http://schemas.openxmlformats.org/drawingml/2006/main">
            <a:r>
              <a:t/>
            </a:r>
          </a:p>
          <a:p xmlns:a="http://schemas.openxmlformats.org/drawingml/2006/main">
            <a:r>
              <a:t>[활동 자료와 작성칸](practice-guide.md#a01--같은-업무를-함수로-묶는-이유)에서 A01를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code/A02_example.py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A02 상세 원문]</a:t>
            </a:r>
          </a:p>
          <a:p xmlns:a="http://schemas.openxmlformats.org/drawingml/2006/main">
            <a:r>
              <a:t>**개념.** def는 함수를 정의하는 문장입니다. 이름 뒤 괄호와 콜론을 쓰고 들여쓴 줄을 함수 본문으로 묶습니다. 정의만 하면 본문은 아직 실행되지 않으며 이름을 괄호와 함께 불러야 합니다.</a:t>
            </a:r>
          </a:p>
          <a:p xmlns:a="http://schemas.openxmlformats.org/drawingml/2006/main">
            <a:r>
              <a:t/>
            </a:r>
          </a:p>
          <a:p xmlns:a="http://schemas.openxmlformats.org/drawingml/2006/main">
            <a:r>
              <a:t>**왜 필요한가.** 위에서 아래로 읽는 원리는 유지하지만 함수 본문은 호출할 때 실행됩니다. 정의 위치와 실제 실행 시점을 나누어 보면 출력 순서가 이해됩니다.</a:t>
            </a:r>
          </a:p>
          <a:p xmlns:a="http://schemas.openxmlformats.org/drawingml/2006/main">
            <a:r>
              <a:t/>
            </a:r>
          </a:p>
          <a:p xmlns:a="http://schemas.openxmlformats.org/drawingml/2006/main">
            <a:r>
              <a:t>**함께 보는 예.** show_notice를 정의한 뒤 준비를 출력합니다. 함수 호출 때 안내가 나오고 호출에서 돌아온 뒤 끝이 나옵니다. 함수 본문의 줄 번호가 위에 있다고 가장 먼저 출력되는 것은 아닙니다.</a:t>
            </a:r>
          </a:p>
          <a:p xmlns:a="http://schemas.openxmlformats.org/drawingml/2006/main">
            <a:r>
              <a:t/>
            </a:r>
          </a:p>
          <a:p xmlns:a="http://schemas.openxmlformats.org/drawingml/2006/main">
            <a:r>
              <a:t>**헷갈리는 경우.** show_notice라고 이름만 적는 것과 show_notice()로 호출하는 것은 다릅니다. 괄호는 실제 작업을 요청하는 표기입니다.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show_notice():</a:t>
            </a:r>
          </a:p>
          <a:p xmlns:a="http://schemas.openxmlformats.org/drawingml/2006/main">
            <a:r>
              <a:t>    print("점검을 시작합니다")</a:t>
            </a:r>
          </a:p>
          <a:p xmlns:a="http://schemas.openxmlformats.org/drawingml/2006/main">
            <a:r>
              <a:t>print("준비")</a:t>
            </a:r>
          </a:p>
          <a:p xmlns:a="http://schemas.openxmlformats.org/drawingml/2006/main">
            <a:r>
              <a:t>show_notice()</a:t>
            </a:r>
          </a:p>
          <a:p xmlns:a="http://schemas.openxmlformats.org/drawingml/2006/main">
            <a:r>
              <a:t>print("끝")</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show_notice():` | 안내하는 작업을 정의합니다. |</a:t>
            </a:r>
          </a:p>
          <a:p xmlns:a="http://schemas.openxmlformats.org/drawingml/2006/main">
            <a:r>
              <a:t>| 2 | `    print("점검을 시작합니다")` | 호출할 때 실행할 출력입니다. |</a:t>
            </a:r>
          </a:p>
          <a:p xmlns:a="http://schemas.openxmlformats.org/drawingml/2006/main">
            <a:r>
              <a:t>| 3 | `print("준비")` | 바깥에서 준비를 출력합니다. |</a:t>
            </a:r>
          </a:p>
          <a:p xmlns:a="http://schemas.openxmlformats.org/drawingml/2006/main">
            <a:r>
              <a:t>| 4 | `show_notice()` | 정의한 함수를 호출합니다. |</a:t>
            </a:r>
          </a:p>
          <a:p xmlns:a="http://schemas.openxmlformats.org/drawingml/2006/main">
            <a:r>
              <a:t>| 5 | `print("끝")` | 돌아온 뒤 끝을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작은 수정: `show_notice()</a:t>
            </a:r>
          </a:p>
          <a:p xmlns:a="http://schemas.openxmlformats.org/drawingml/2006/main">
            <a:r>
              <a:t>print("끝")`를 `show_notice()</a:t>
            </a:r>
          </a:p>
          <a:p xmlns:a="http://schemas.openxmlformats.org/drawingml/2006/main">
            <a:r>
              <a:t>show_notice()</a:t>
            </a:r>
          </a:p>
          <a:p xmlns:a="http://schemas.openxmlformats.org/drawingml/2006/main">
            <a:r>
              <a:t>print("끝")`로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정의와 호출을 표시합니다.</a:t>
            </a:r>
          </a:p>
          <a:p xmlns:a="http://schemas.openxmlformats.org/drawingml/2006/main">
            <a:r>
              <a:t>2. 실제 출력 순서를 씁니다.</a:t>
            </a:r>
          </a:p>
          <a:p xmlns:a="http://schemas.openxmlformats.org/drawingml/2006/main">
            <a:r>
              <a:t>3. 호출을 한 번 더 넣어 예상합니다.</a:t>
            </a:r>
          </a:p>
          <a:p xmlns:a="http://schemas.openxmlformats.org/drawingml/2006/main">
            <a:r>
              <a:t>4. 정의 횟수와 본문 실행 횟수를 설명합니다.</a:t>
            </a:r>
          </a:p>
          <a:p xmlns:a="http://schemas.openxmlformats.org/drawingml/2006/main">
            <a:r>
              <a:t/>
            </a:r>
          </a:p>
          <a:p xmlns:a="http://schemas.openxmlformats.org/drawingml/2006/main">
            <a:r>
              <a:t>예상 결과: 정의 한 번·호출 두 번이면 안내 출력 두 번.</a:t>
            </a:r>
          </a:p>
          <a:p xmlns:a="http://schemas.openxmlformats.org/drawingml/2006/main">
            <a:r>
              <a:t/>
            </a:r>
          </a:p>
          <a:p xmlns:a="http://schemas.openxmlformats.org/drawingml/2006/main">
            <a:r>
              <a:t>확인 질문: 정의만 하고 호출하지 않으면 본문 출력은 나오나요?</a:t>
            </a:r>
          </a:p>
          <a:p xmlns:a="http://schemas.openxmlformats.org/drawingml/2006/main">
            <a:r>
              <a:t/>
            </a:r>
          </a:p>
          <a:p xmlns:a="http://schemas.openxmlformats.org/drawingml/2006/main">
            <a:r>
              <a:t>막혔을 때: 본문 출력이 예상과 다르면 print가 함수 안에 들여써져 있는지 확인합니다.</a:t>
            </a:r>
          </a:p>
          <a:p xmlns:a="http://schemas.openxmlformats.org/drawingml/2006/main">
            <a:r>
              <a:t/>
            </a:r>
          </a:p>
          <a:p xmlns:a="http://schemas.openxmlformats.org/drawingml/2006/main">
            <a:r>
              <a:t>[활동 자료와 작성칸](practice-guide.md#a02--def로-정의하고-이름으로-호출하기)에서 A02를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**개념.** def는 함수를 정의하는 문장입니다. 이름 뒤 괄호와 콜론을 쓰고 들여쓴 줄을 함수 본문으로 묶습니다. 정의만 하면 본문은 아직 실행되지 않으며 이름을 괄호와 함께 불러야 합니다.</a:t>
            </a:r>
          </a:p>
          <a:p xmlns:a="http://schemas.openxmlformats.org/drawingml/2006/main">
            <a:r>
              <a:t/>
            </a:r>
          </a:p>
          <a:p xmlns:a="http://schemas.openxmlformats.org/drawingml/2006/main">
            <a:r>
              <a:t>**왜 필요한가.** 위에서 아래로 읽는 원리는 유지하지만 함수 본문은 호출할 때 실행됩니다. 정의 위치와 실제 실행 시점을 나누어 보면 출력 순서가 이해됩니다.</a:t>
            </a:r>
          </a:p>
          <a:p xmlns:a="http://schemas.openxmlformats.org/drawingml/2006/main">
            <a:r>
              <a:t/>
            </a:r>
          </a:p>
          <a:p xmlns:a="http://schemas.openxmlformats.org/drawingml/2006/main">
            <a:r>
              <a:t>**함께 보는 예.** show_notice를 정의한 뒤 준비를 출력합니다. 함수 호출 때 안내가 나오고 호출에서 돌아온 뒤 끝이 나옵니다. 함수 본문의 줄 번호가 위에 있다고 가장 먼저 출력되는 것은 아닙니다.</a:t>
            </a:r>
          </a:p>
          <a:p xmlns:a="http://schemas.openxmlformats.org/drawingml/2006/main">
            <a:r>
              <a:t/>
            </a:r>
          </a:p>
          <a:p xmlns:a="http://schemas.openxmlformats.org/drawingml/2006/main">
            <a:r>
              <a:t>**헷갈리는 경우.** show_notice라고 이름만 적는 것과 show_notice()로 호출하는 것은 다릅니다. 괄호는 실제 작업을 요청하는 표기입니다.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show_notice():</a:t>
            </a:r>
          </a:p>
          <a:p xmlns:a="http://schemas.openxmlformats.org/drawingml/2006/main">
            <a:r>
              <a:t>    print("점검을 시작합니다")</a:t>
            </a:r>
          </a:p>
          <a:p xmlns:a="http://schemas.openxmlformats.org/drawingml/2006/main">
            <a:r>
              <a:t>print("준비")</a:t>
            </a:r>
          </a:p>
          <a:p xmlns:a="http://schemas.openxmlformats.org/drawingml/2006/main">
            <a:r>
              <a:t>show_notice()</a:t>
            </a:r>
          </a:p>
          <a:p xmlns:a="http://schemas.openxmlformats.org/drawingml/2006/main">
            <a:r>
              <a:t>print("끝")</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show_notice():` | 안내하는 작업을 정의합니다. |</a:t>
            </a:r>
          </a:p>
          <a:p xmlns:a="http://schemas.openxmlformats.org/drawingml/2006/main">
            <a:r>
              <a:t>| 2 | `    print("점검을 시작합니다")` | 호출할 때 실행할 출력입니다. |</a:t>
            </a:r>
          </a:p>
          <a:p xmlns:a="http://schemas.openxmlformats.org/drawingml/2006/main">
            <a:r>
              <a:t>| 3 | `print("준비")` | 바깥에서 준비를 출력합니다. |</a:t>
            </a:r>
          </a:p>
          <a:p xmlns:a="http://schemas.openxmlformats.org/drawingml/2006/main">
            <a:r>
              <a:t>| 4 | `show_notice()` | 정의한 함수를 호출합니다. |</a:t>
            </a:r>
          </a:p>
          <a:p xmlns:a="http://schemas.openxmlformats.org/drawingml/2006/main">
            <a:r>
              <a:t>| 5 | `print("끝")` | 돌아온 뒤 끝을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작은 수정: `show_notice()</a:t>
            </a:r>
          </a:p>
          <a:p xmlns:a="http://schemas.openxmlformats.org/drawingml/2006/main">
            <a:r>
              <a:t>print("끝")`를 `show_notice()</a:t>
            </a:r>
          </a:p>
          <a:p xmlns:a="http://schemas.openxmlformats.org/drawingml/2006/main">
            <a:r>
              <a:t>show_notice()</a:t>
            </a:r>
          </a:p>
          <a:p xmlns:a="http://schemas.openxmlformats.org/drawingml/2006/main">
            <a:r>
              <a:t>print("끝")`로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정의와 호출을 표시합니다.</a:t>
            </a:r>
          </a:p>
          <a:p xmlns:a="http://schemas.openxmlformats.org/drawingml/2006/main">
            <a:r>
              <a:t>2. 실제 출력 순서를 씁니다.</a:t>
            </a:r>
          </a:p>
          <a:p xmlns:a="http://schemas.openxmlformats.org/drawingml/2006/main">
            <a:r>
              <a:t>3. 호출을 한 번 더 넣어 예상합니다.</a:t>
            </a:r>
          </a:p>
          <a:p xmlns:a="http://schemas.openxmlformats.org/drawingml/2006/main">
            <a:r>
              <a:t>4. 정의 횟수와 본문 실행 횟수를 설명합니다.</a:t>
            </a:r>
          </a:p>
          <a:p xmlns:a="http://schemas.openxmlformats.org/drawingml/2006/main">
            <a:r>
              <a:t/>
            </a:r>
          </a:p>
          <a:p xmlns:a="http://schemas.openxmlformats.org/drawingml/2006/main">
            <a:r>
              <a:t>예상 결과: 정의 한 번·호출 두 번이면 안내 출력 두 번.</a:t>
            </a:r>
          </a:p>
          <a:p xmlns:a="http://schemas.openxmlformats.org/drawingml/2006/main">
            <a:r>
              <a:t/>
            </a:r>
          </a:p>
          <a:p xmlns:a="http://schemas.openxmlformats.org/drawingml/2006/main">
            <a:r>
              <a:t>확인 질문: 정의만 하고 호출하지 않으면 본문 출력은 나오나요?</a:t>
            </a:r>
          </a:p>
          <a:p xmlns:a="http://schemas.openxmlformats.org/drawingml/2006/main">
            <a:r>
              <a:t/>
            </a:r>
          </a:p>
          <a:p xmlns:a="http://schemas.openxmlformats.org/drawingml/2006/main">
            <a:r>
              <a:t>막혔을 때: 본문 출력이 예상과 다르면 print가 함수 안에 들여써져 있는지 확인합니다.</a:t>
            </a:r>
          </a:p>
          <a:p xmlns:a="http://schemas.openxmlformats.org/drawingml/2006/main">
            <a:r>
              <a:t/>
            </a:r>
          </a:p>
          <a:p xmlns:a="http://schemas.openxmlformats.org/drawingml/2006/main">
            <a:r>
              <a:t>[활동 자료와 작성칸](practice-guide.md#a02--def로-정의하고-이름으로-호출하기)에서 A02를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정의할 때 함수 안 print가 실행되지 않습니다. 바깥 준비 → 호출에서 안내 → 돌아온 뒤 끝 순서입니다.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**개념.** def는 함수를 정의하는 문장입니다. 이름 뒤 괄호와 콜론을 쓰고 들여쓴 줄을 함수 본문으로 묶습니다. 정의만 하면 본문은 아직 실행되지 않으며 이름을 괄호와 함께 불러야 합니다.</a:t>
            </a:r>
          </a:p>
          <a:p xmlns:a="http://schemas.openxmlformats.org/drawingml/2006/main">
            <a:r>
              <a:t/>
            </a:r>
          </a:p>
          <a:p xmlns:a="http://schemas.openxmlformats.org/drawingml/2006/main">
            <a:r>
              <a:t>**왜 필요한가.** 위에서 아래로 읽는 원리는 유지하지만 함수 본문은 호출할 때 실행됩니다. 정의 위치와 실제 실행 시점을 나누어 보면 출력 순서가 이해됩니다.</a:t>
            </a:r>
          </a:p>
          <a:p xmlns:a="http://schemas.openxmlformats.org/drawingml/2006/main">
            <a:r>
              <a:t/>
            </a:r>
          </a:p>
          <a:p xmlns:a="http://schemas.openxmlformats.org/drawingml/2006/main">
            <a:r>
              <a:t>**함께 보는 예.** show_notice를 정의한 뒤 준비를 출력합니다. 함수 호출 때 안내가 나오고 호출에서 돌아온 뒤 끝이 나옵니다. 함수 본문의 줄 번호가 위에 있다고 가장 먼저 출력되는 것은 아닙니다.</a:t>
            </a:r>
          </a:p>
          <a:p xmlns:a="http://schemas.openxmlformats.org/drawingml/2006/main">
            <a:r>
              <a:t/>
            </a:r>
          </a:p>
          <a:p xmlns:a="http://schemas.openxmlformats.org/drawingml/2006/main">
            <a:r>
              <a:t>**헷갈리는 경우.** show_notice라고 이름만 적는 것과 show_notice()로 호출하는 것은 다릅니다. 괄호는 실제 작업을 요청하는 표기입니다.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show_notice():</a:t>
            </a:r>
          </a:p>
          <a:p xmlns:a="http://schemas.openxmlformats.org/drawingml/2006/main">
            <a:r>
              <a:t>    print("점검을 시작합니다")</a:t>
            </a:r>
          </a:p>
          <a:p xmlns:a="http://schemas.openxmlformats.org/drawingml/2006/main">
            <a:r>
              <a:t>print("준비")</a:t>
            </a:r>
          </a:p>
          <a:p xmlns:a="http://schemas.openxmlformats.org/drawingml/2006/main">
            <a:r>
              <a:t>show_notice()</a:t>
            </a:r>
          </a:p>
          <a:p xmlns:a="http://schemas.openxmlformats.org/drawingml/2006/main">
            <a:r>
              <a:t>print("끝")</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show_notice():` | 안내하는 작업을 정의합니다. |</a:t>
            </a:r>
          </a:p>
          <a:p xmlns:a="http://schemas.openxmlformats.org/drawingml/2006/main">
            <a:r>
              <a:t>| 2 | `    print("점검을 시작합니다")` | 호출할 때 실행할 출력입니다. |</a:t>
            </a:r>
          </a:p>
          <a:p xmlns:a="http://schemas.openxmlformats.org/drawingml/2006/main">
            <a:r>
              <a:t>| 3 | `print("준비")` | 바깥에서 준비를 출력합니다. |</a:t>
            </a:r>
          </a:p>
          <a:p xmlns:a="http://schemas.openxmlformats.org/drawingml/2006/main">
            <a:r>
              <a:t>| 4 | `show_notice()` | 정의한 함수를 호출합니다. |</a:t>
            </a:r>
          </a:p>
          <a:p xmlns:a="http://schemas.openxmlformats.org/drawingml/2006/main">
            <a:r>
              <a:t>| 5 | `print("끝")` | 돌아온 뒤 끝을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작은 수정: `show_notice()</a:t>
            </a:r>
          </a:p>
          <a:p xmlns:a="http://schemas.openxmlformats.org/drawingml/2006/main">
            <a:r>
              <a:t>print("끝")`를 `show_notice()</a:t>
            </a:r>
          </a:p>
          <a:p xmlns:a="http://schemas.openxmlformats.org/drawingml/2006/main">
            <a:r>
              <a:t>show_notice()</a:t>
            </a:r>
          </a:p>
          <a:p xmlns:a="http://schemas.openxmlformats.org/drawingml/2006/main">
            <a:r>
              <a:t>print("끝")`로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준비</a:t>
            </a:r>
          </a:p>
          <a:p xmlns:a="http://schemas.openxmlformats.org/drawingml/2006/main">
            <a:r>
              <a:t>점검을 시작합니다</a:t>
            </a:r>
          </a:p>
          <a:p xmlns:a="http://schemas.openxmlformats.org/drawingml/2006/main">
            <a:r>
              <a:t>점검을 시작합니다</a:t>
            </a:r>
          </a:p>
          <a:p xmlns:a="http://schemas.openxmlformats.org/drawingml/2006/main">
            <a:r>
              <a:t>끝</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정의와 호출을 표시합니다.</a:t>
            </a:r>
          </a:p>
          <a:p xmlns:a="http://schemas.openxmlformats.org/drawingml/2006/main">
            <a:r>
              <a:t>2. 실제 출력 순서를 씁니다.</a:t>
            </a:r>
          </a:p>
          <a:p xmlns:a="http://schemas.openxmlformats.org/drawingml/2006/main">
            <a:r>
              <a:t>3. 호출을 한 번 더 넣어 예상합니다.</a:t>
            </a:r>
          </a:p>
          <a:p xmlns:a="http://schemas.openxmlformats.org/drawingml/2006/main">
            <a:r>
              <a:t>4. 정의 횟수와 본문 실행 횟수를 설명합니다.</a:t>
            </a:r>
          </a:p>
          <a:p xmlns:a="http://schemas.openxmlformats.org/drawingml/2006/main">
            <a:r>
              <a:t/>
            </a:r>
          </a:p>
          <a:p xmlns:a="http://schemas.openxmlformats.org/drawingml/2006/main">
            <a:r>
              <a:t>예상 결과: 정의 한 번·호출 두 번이면 안내 출력 두 번.</a:t>
            </a:r>
          </a:p>
          <a:p xmlns:a="http://schemas.openxmlformats.org/drawingml/2006/main">
            <a:r>
              <a:t/>
            </a:r>
          </a:p>
          <a:p xmlns:a="http://schemas.openxmlformats.org/drawingml/2006/main">
            <a:r>
              <a:t>확인 질문: 정의만 하고 호출하지 않으면 본문 출력은 나오나요?</a:t>
            </a:r>
          </a:p>
          <a:p xmlns:a="http://schemas.openxmlformats.org/drawingml/2006/main">
            <a:r>
              <a:t/>
            </a:r>
          </a:p>
          <a:p xmlns:a="http://schemas.openxmlformats.org/drawingml/2006/main">
            <a:r>
              <a:t>막혔을 때: 본문 출력이 예상과 다르면 print가 함수 안에 들여써져 있는지 확인합니다.</a:t>
            </a:r>
          </a:p>
          <a:p xmlns:a="http://schemas.openxmlformats.org/drawingml/2006/main">
            <a:r>
              <a:t/>
            </a:r>
          </a:p>
          <a:p xmlns:a="http://schemas.openxmlformats.org/drawingml/2006/main">
            <a:r>
              <a:t>[활동 자료와 작성칸](practice-guide.md#a02--def로-정의하고-이름으로-호출하기)에서 A02를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code/A03_example.py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A03 상세 원문]</a:t>
            </a:r>
          </a:p>
          <a:p xmlns:a="http://schemas.openxmlformats.org/drawingml/2006/main">
            <a:r>
              <a:t>**개념.** 매개변수는 받을 값의 이름이고 인자는 호출할 때 실제로 주는 값입니다. 양식의 ‘장소’ 칸과 거기에 넣는 ‘입구’라는 내용의 관계에 비유할 수 있습니다.</a:t>
            </a:r>
          </a:p>
          <a:p xmlns:a="http://schemas.openxmlformats.org/drawingml/2006/main">
            <a:r>
              <a:t/>
            </a:r>
          </a:p>
          <a:p xmlns:a="http://schemas.openxmlformats.org/drawingml/2006/main">
            <a:r>
              <a:t>**왜 필요한가.**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**함께 보는 예.** sensor_id와 value는 받을 이름입니다. 첫 호출에서 S01·22.5가 연결되고 다음 호출에서는 S02·25.0이 연결됩니다. 각 호출은 서로 다른 값으로 같은 본문을 사용합니다.</a:t>
            </a:r>
          </a:p>
          <a:p xmlns:a="http://schemas.openxmlformats.org/drawingml/2006/main">
            <a:r>
              <a:t/>
            </a:r>
          </a:p>
          <a:p xmlns:a="http://schemas.openxmlformats.org/drawingml/2006/main">
            <a:r>
              <a:t>**헷갈리는 경우.** 인자의 순서를 바꾸어도 컴퓨터가 업무 의미를 추측해 바로잡지 않습니다. 센서명 위치에 숫자를 주면 잘못된 위치의 값이 출력될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show_temperature(sensor_id, value):</a:t>
            </a:r>
          </a:p>
          <a:p xmlns:a="http://schemas.openxmlformats.org/drawingml/2006/main">
            <a:r>
              <a:t>    print(sensor_id, value)</a:t>
            </a:r>
          </a:p>
          <a:p xmlns:a="http://schemas.openxmlformats.org/drawingml/2006/main">
            <a:r>
              <a:t>show_temperature("S01", 22.5)</a:t>
            </a:r>
          </a:p>
          <a:p xmlns:a="http://schemas.openxmlformats.org/drawingml/2006/main">
            <a:r>
              <a:t>show_temperature("S02", 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show_temperature(sensor_id, value):` | 센서명과 값을 받는 함수를 정의합니다. |</a:t>
            </a:r>
          </a:p>
          <a:p xmlns:a="http://schemas.openxmlformats.org/drawingml/2006/main">
            <a:r>
              <a:t>| 2 | `    print(sensor_id, value)` | 이번 호출에서 받은 값을 출력합니다. |</a:t>
            </a:r>
          </a:p>
          <a:p xmlns:a="http://schemas.openxmlformats.org/drawingml/2006/main">
            <a:r>
              <a:t>| 3 | `show_temperature("S01", 22.5)` | 첫 센서와 온도를 전달합니다. |</a:t>
            </a:r>
          </a:p>
          <a:p xmlns:a="http://schemas.openxmlformats.org/drawingml/2006/main">
            <a:r>
              <a:t>| 4 | `show_temperature("S02", 25.0)` | 둘째 센서와 온도를 전달합니다.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작은 수정: `show_temperature("S02", 25.0)`를 `show_temperature("S03",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S03 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질문: value는 모든 호출에서 같은 값을 뜻하나요?</a:t>
            </a:r>
          </a:p>
          <a:p xmlns:a="http://schemas.openxmlformats.org/drawingml/2006/main">
            <a:r>
              <a:t/>
            </a:r>
          </a:p>
          <a:p xmlns:a="http://schemas.openxmlformats.org/drawingml/2006/main">
            <a:r>
              <a:t>막혔을 때: 받을 값 개수와 전달한 값 개수·순서를 비교합니다.</a:t>
            </a:r>
          </a:p>
          <a:p xmlns:a="http://schemas.openxmlformats.org/drawingml/2006/main">
            <a:r>
              <a:t/>
            </a:r>
          </a:p>
          <a:p xmlns:a="http://schemas.openxmlformats.org/drawingml/2006/main">
            <a:r>
              <a:t>[활동 자료와 작성칸](practice-guide.md#a03--매개변수와-실제-인자)에서 A03를 엽니다.</a:t>
            </a:r>
          </a:p>
          <a:p xmlns:a="http://schemas.openxmlformats.org/drawingml/2006/main">
            <a:r>
              <a:t/>
            </a:r>
          </a:p>
          <a:p xmlns:a="http://schemas.openxmlformats.org/drawingml/2006/main">
            <a:r>
              <a:t># 2구간 · 함수 입력과 반환</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매개변수는 받을 값의 이름이고 인자는 호출할 때 실제로 주는 값입니다. 양식의 ‘장소’ 칸과 거기에 넣는 ‘입구’라는 내용의 관계에 비유할 수 있습니다.</a:t>
            </a:r>
          </a:p>
          <a:p xmlns:a="http://schemas.openxmlformats.org/drawingml/2006/main">
            <a:r>
              <a:t/>
            </a:r>
          </a:p>
          <a:p xmlns:a="http://schemas.openxmlformats.org/drawingml/2006/main">
            <a:r>
              <a:t>**왜 필요한가.**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**함께 보는 예.** sensor_id와 value는 받을 이름입니다. 첫 호출에서 S01·22.5가 연결되고 다음 호출에서는 S02·25.0이 연결됩니다. 각 호출은 서로 다른 값으로 같은 본문을 사용합니다.</a:t>
            </a:r>
          </a:p>
          <a:p xmlns:a="http://schemas.openxmlformats.org/drawingml/2006/main">
            <a:r>
              <a:t/>
            </a:r>
          </a:p>
          <a:p xmlns:a="http://schemas.openxmlformats.org/drawingml/2006/main">
            <a:r>
              <a:t>**헷갈리는 경우.** 인자의 순서를 바꾸어도 컴퓨터가 업무 의미를 추측해 바로잡지 않습니다. 센서명 위치에 숫자를 주면 잘못된 위치의 값이 출력될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show_temperature(sensor_id, value):</a:t>
            </a:r>
          </a:p>
          <a:p xmlns:a="http://schemas.openxmlformats.org/drawingml/2006/main">
            <a:r>
              <a:t>    print(sensor_id, value)</a:t>
            </a:r>
          </a:p>
          <a:p xmlns:a="http://schemas.openxmlformats.org/drawingml/2006/main">
            <a:r>
              <a:t>show_temperature("S01", 22.5)</a:t>
            </a:r>
          </a:p>
          <a:p xmlns:a="http://schemas.openxmlformats.org/drawingml/2006/main">
            <a:r>
              <a:t>show_temperature("S02", 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show_temperature(sensor_id, value):` | 센서명과 값을 받는 함수를 정의합니다. |</a:t>
            </a:r>
          </a:p>
          <a:p xmlns:a="http://schemas.openxmlformats.org/drawingml/2006/main">
            <a:r>
              <a:t>| 2 | `    print(sensor_id, value)` | 이번 호출에서 받은 값을 출력합니다. |</a:t>
            </a:r>
          </a:p>
          <a:p xmlns:a="http://schemas.openxmlformats.org/drawingml/2006/main">
            <a:r>
              <a:t>| 3 | `show_temperature("S01", 22.5)` | 첫 센서와 온도를 전달합니다. |</a:t>
            </a:r>
          </a:p>
          <a:p xmlns:a="http://schemas.openxmlformats.org/drawingml/2006/main">
            <a:r>
              <a:t>| 4 | `show_temperature("S02", 25.0)` | 둘째 센서와 온도를 전달합니다.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작은 수정: `show_temperature("S02", 25.0)`를 `show_temperature("S03",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S03 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질문: value는 모든 호출에서 같은 값을 뜻하나요?</a:t>
            </a:r>
          </a:p>
          <a:p xmlns:a="http://schemas.openxmlformats.org/drawingml/2006/main">
            <a:r>
              <a:t/>
            </a:r>
          </a:p>
          <a:p xmlns:a="http://schemas.openxmlformats.org/drawingml/2006/main">
            <a:r>
              <a:t>막혔을 때: 받을 값 개수와 전달한 값 개수·순서를 비교합니다.</a:t>
            </a:r>
          </a:p>
          <a:p xmlns:a="http://schemas.openxmlformats.org/drawingml/2006/main">
            <a:r>
              <a:t/>
            </a:r>
          </a:p>
          <a:p xmlns:a="http://schemas.openxmlformats.org/drawingml/2006/main">
            <a:r>
              <a:t>[활동 자료와 작성칸](practice-guide.md#a03--매개변수와-실제-인자)에서 A03를 엽니다.</a:t>
            </a:r>
          </a:p>
          <a:p xmlns:a="http://schemas.openxmlformats.org/drawingml/2006/main">
            <a:r>
              <a:t/>
            </a:r>
          </a:p>
          <a:p xmlns:a="http://schemas.openxmlformats.org/drawingml/2006/main">
            <a:r>
              <a:t># 2구간 · 함수 입력과 반환</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매개변수는 받을 값의 이름이고 인자는 호출할 때 실제로 주는 값입니다. 양식의 ‘장소’ 칸과 거기에 넣는 ‘입구’라는 내용의 관계에 비유할 수 있습니다.</a:t>
            </a:r>
          </a:p>
          <a:p xmlns:a="http://schemas.openxmlformats.org/drawingml/2006/main">
            <a:r>
              <a:t/>
            </a:r>
          </a:p>
          <a:p xmlns:a="http://schemas.openxmlformats.org/drawingml/2006/main">
            <a:r>
              <a:t>**왜 필요한가.**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**함께 보는 예.** sensor_id와 value는 받을 이름입니다. 첫 호출에서 S01·22.5가 연결되고 다음 호출에서는 S02·25.0이 연결됩니다. 각 호출은 서로 다른 값으로 같은 본문을 사용합니다.</a:t>
            </a:r>
          </a:p>
          <a:p xmlns:a="http://schemas.openxmlformats.org/drawingml/2006/main">
            <a:r>
              <a:t/>
            </a:r>
          </a:p>
          <a:p xmlns:a="http://schemas.openxmlformats.org/drawingml/2006/main">
            <a:r>
              <a:t>**헷갈리는 경우.** 인자의 순서를 바꾸어도 컴퓨터가 업무 의미를 추측해 바로잡지 않습니다. 센서명 위치에 숫자를 주면 잘못된 위치의 값이 출력될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show_temperature(sensor_id, value):</a:t>
            </a:r>
          </a:p>
          <a:p xmlns:a="http://schemas.openxmlformats.org/drawingml/2006/main">
            <a:r>
              <a:t>    print(sensor_id, value)</a:t>
            </a:r>
          </a:p>
          <a:p xmlns:a="http://schemas.openxmlformats.org/drawingml/2006/main">
            <a:r>
              <a:t>show_temperature("S01", 22.5)</a:t>
            </a:r>
          </a:p>
          <a:p xmlns:a="http://schemas.openxmlformats.org/drawingml/2006/main">
            <a:r>
              <a:t>show_temperature("S02", 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show_temperature(sensor_id, value):` | 센서명과 값을 받는 함수를 정의합니다. |</a:t>
            </a:r>
          </a:p>
          <a:p xmlns:a="http://schemas.openxmlformats.org/drawingml/2006/main">
            <a:r>
              <a:t>| 2 | `    print(sensor_id, value)` | 이번 호출에서 받은 값을 출력합니다. |</a:t>
            </a:r>
          </a:p>
          <a:p xmlns:a="http://schemas.openxmlformats.org/drawingml/2006/main">
            <a:r>
              <a:t>| 3 | `show_temperature("S01", 22.5)` | 첫 센서와 온도를 전달합니다. |</a:t>
            </a:r>
          </a:p>
          <a:p xmlns:a="http://schemas.openxmlformats.org/drawingml/2006/main">
            <a:r>
              <a:t>| 4 | `show_temperature("S02", 25.0)` | 둘째 센서와 온도를 전달합니다.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작은 수정: `show_temperature("S02", 25.0)`를 `show_temperature("S03",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S03 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질문: value는 모든 호출에서 같은 값을 뜻하나요?</a:t>
            </a:r>
          </a:p>
          <a:p xmlns:a="http://schemas.openxmlformats.org/drawingml/2006/main">
            <a:r>
              <a:t/>
            </a:r>
          </a:p>
          <a:p xmlns:a="http://schemas.openxmlformats.org/drawingml/2006/main">
            <a:r>
              <a:t>막혔을 때: 받을 값 개수와 전달한 값 개수·순서를 비교합니다.</a:t>
            </a:r>
          </a:p>
          <a:p xmlns:a="http://schemas.openxmlformats.org/drawingml/2006/main">
            <a:r>
              <a:t/>
            </a:r>
          </a:p>
          <a:p xmlns:a="http://schemas.openxmlformats.org/drawingml/2006/main">
            <a:r>
              <a:t>[활동 자료와 작성칸](practice-guide.md#a03--매개변수와-실제-인자)에서 A03를 엽니다.</a:t>
            </a:r>
          </a:p>
          <a:p xmlns:a="http://schemas.openxmlformats.org/drawingml/2006/main">
            <a:r>
              <a:t/>
            </a:r>
          </a:p>
          <a:p xmlns:a="http://schemas.openxmlformats.org/drawingml/2006/main">
            <a:r>
              <a:t># 2구간 · 함수 입력과 반환</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먼저 코드를 적기 전에 ‘이름 문자열을 받아 환영 문장 문자열을 돌려준다’라는 계약을 씁니다.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계약은 문자열 입력만 다룹니다. 실제 계정 조회나 메시지 전송은 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먼저 코드를 적기 전에 ‘이름 문자열을 받아 환영 문장 문자열을 돌려준다’라는 계약을 씁니다.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계약은 문자열 입력만 다룹니다. 실제 계정 조회나 메시지 전송은 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핵심 질문과 해설:</a:t>
            </a:r>
          </a:p>
          <a:p xmlns:a="http://schemas.openxmlformats.org/drawingml/2006/main">
            <a:r>
              <a:t>정의하면 바로 실행되나요? 본문은 해당 함수를 호출했을 때 실행됩니다.</a:t>
            </a:r>
          </a:p>
          <a:p xmlns:a="http://schemas.openxmlformats.org/drawingml/2006/main">
            <a:r>
              <a:t>매개변수와 인자는 같은 이름인가요? 매개변수는 받을 자리, 인자는 호출에서 준 실제 값입니다.</a:t>
            </a:r>
          </a:p>
          <a:p xmlns:a="http://schemas.openxmlformats.org/drawingml/2006/main">
            <a:r>
              <a:t>어떤 코드를 함수로 묶나요? 공통 작업과 입력·결과 계약이 분명한 부분을 먼저 묶습니다.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매개변수는 받을 값의 이름이고 인자는 호출할 때 실제로 주는 값입니다. 양식의 ‘장소’ 칸과 거기에 넣는 ‘입구’라는 내용의 관계에 비유할 수 있습니다.</a:t>
            </a:r>
          </a:p>
          <a:p xmlns:a="http://schemas.openxmlformats.org/drawingml/2006/main">
            <a:r>
              <a:t/>
            </a:r>
          </a:p>
          <a:p xmlns:a="http://schemas.openxmlformats.org/drawingml/2006/main">
            <a:r>
              <a:t>**왜 필요한가.**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**함께 보는 예.** sensor_id와 value는 받을 이름입니다. 첫 호출에서 S01·22.5가 연결되고 다음 호출에서는 S02·25.0이 연결됩니다. 각 호출은 서로 다른 값으로 같은 본문을 사용합니다.</a:t>
            </a:r>
          </a:p>
          <a:p xmlns:a="http://schemas.openxmlformats.org/drawingml/2006/main">
            <a:r>
              <a:t/>
            </a:r>
          </a:p>
          <a:p xmlns:a="http://schemas.openxmlformats.org/drawingml/2006/main">
            <a:r>
              <a:t>**헷갈리는 경우.** 인자의 순서를 바꾸어도 컴퓨터가 업무 의미를 추측해 바로잡지 않습니다. 센서명 위치에 숫자를 주면 잘못된 위치의 값이 출력될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show_temperature(sensor_id, value):</a:t>
            </a:r>
          </a:p>
          <a:p xmlns:a="http://schemas.openxmlformats.org/drawingml/2006/main">
            <a:r>
              <a:t>    print(sensor_id, value)</a:t>
            </a:r>
          </a:p>
          <a:p xmlns:a="http://schemas.openxmlformats.org/drawingml/2006/main">
            <a:r>
              <a:t>show_temperature("S01", 22.5)</a:t>
            </a:r>
          </a:p>
          <a:p xmlns:a="http://schemas.openxmlformats.org/drawingml/2006/main">
            <a:r>
              <a:t>show_temperature("S02", 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show_temperature(sensor_id, value):` | 센서명과 값을 받는 함수를 정의합니다. |</a:t>
            </a:r>
          </a:p>
          <a:p xmlns:a="http://schemas.openxmlformats.org/drawingml/2006/main">
            <a:r>
              <a:t>| 2 | `    print(sensor_id, value)` | 이번 호출에서 받은 값을 출력합니다. |</a:t>
            </a:r>
          </a:p>
          <a:p xmlns:a="http://schemas.openxmlformats.org/drawingml/2006/main">
            <a:r>
              <a:t>| 3 | `show_temperature("S01", 22.5)` | 첫 센서와 온도를 전달합니다. |</a:t>
            </a:r>
          </a:p>
          <a:p xmlns:a="http://schemas.openxmlformats.org/drawingml/2006/main">
            <a:r>
              <a:t>| 4 | `show_temperature("S02", 25.0)` | 둘째 센서와 온도를 전달합니다.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작은 수정: `show_temperature("S02", 25.0)`를 `show_temperature("S03",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S03 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질문: value는 모든 호출에서 같은 값을 뜻하나요?</a:t>
            </a:r>
          </a:p>
          <a:p xmlns:a="http://schemas.openxmlformats.org/drawingml/2006/main">
            <a:r>
              <a:t/>
            </a:r>
          </a:p>
          <a:p xmlns:a="http://schemas.openxmlformats.org/drawingml/2006/main">
            <a:r>
              <a:t>막혔을 때: 받을 값 개수와 전달한 값 개수·순서를 비교합니다.</a:t>
            </a:r>
          </a:p>
          <a:p xmlns:a="http://schemas.openxmlformats.org/drawingml/2006/main">
            <a:r>
              <a:t/>
            </a:r>
          </a:p>
          <a:p xmlns:a="http://schemas.openxmlformats.org/drawingml/2006/main">
            <a:r>
              <a:t>[활동 자료와 작성칸](practice-guide.md#a03--매개변수와-실제-인자)에서 A03를 엽니다.</a:t>
            </a:r>
          </a:p>
          <a:p xmlns:a="http://schemas.openxmlformats.org/drawingml/2006/main">
            <a:r>
              <a:t/>
            </a:r>
          </a:p>
          <a:p xmlns:a="http://schemas.openxmlformats.org/drawingml/2006/main">
            <a:r>
              <a:t># 2구간 · 함수 입력과 반환</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정의만으로 본문은 실행되지 않습니다.</a:t>
            </a:r>
          </a:p>
          <a:p xmlns:a="http://schemas.openxmlformats.org/drawingml/2006/main">
            <a:r>
              <a:t>입력 자리와 실제 전달값을 구별합니다.</a:t>
            </a:r>
          </a:p>
          <a:p xmlns:a="http://schemas.openxmlformats.org/drawingml/2006/main">
            <a:r>
              <a:t>함수의 입력 계약을 문장으로 씁니다.</a:t>
            </a:r>
          </a:p>
          <a:p xmlns:a="http://schemas.openxmlformats.org/drawingml/2006/main">
            <a:r>
              <a:t/>
            </a:r>
          </a:p>
          <a:p xmlns:a="http://schemas.openxmlformats.org/drawingml/2006/main">
            <a:r>
              <a:t>관련 교시의 상세 원문:</a:t>
            </a:r>
          </a:p>
          <a:p xmlns:a="http://schemas.openxmlformats.org/drawingml/2006/main">
            <a:r>
              <a:t>### 사례로 이해하기 · 작업의 입력·처리·결과를 함수 계약으로 쓰기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안내 데스크는 방문자 이름을 받아 같은 환영 문장을 만듭니다. 이름마다 문장을 복사하면 한 문구를 고칠 때 여러 곳을 찾아야 합니다. 함수는 공통 절차를 이름 붙여 묶는 방법입니다. 먼저 코드를 적기 전에 ‘이름 문자열을 받아 환영 문장 문자열을 돌려준다’라는 계약을 씁니다. 입력은 호출자가 건네는 값, 처리는 문장을 만드는 일, 결과는 호출자가 다시 사용할 값입니다. 이 세 역할이 분명해야 함수를 어디까지 묶을지 판단할 수 있습니다.</a:t>
            </a:r>
          </a:p>
          <a:p xmlns:a="http://schemas.openxmlformats.org/drawingml/2006/main">
            <a:r>
              <a:t/>
            </a:r>
          </a:p>
          <a:p xmlns:a="http://schemas.openxmlformats.org/drawingml/2006/main">
            <a:r>
              <a:t>매개변수는 받을 값의 자리 이름이고 인자는 실제 호출에서 건네는 값입니다. 신청서의 이름 칸과 그 칸에 적는 민수라는 글의 관계로 생각합니다. 아래 완결 예를 work/E01_greeting.py라는 새 파일로 저장하고 course 폴더에서 `python -X utf8 work/E01_greeting.py`를 실행합니다.</a:t>
            </a:r>
          </a:p>
          <a:p xmlns:a="http://schemas.openxmlformats.org/drawingml/2006/main">
            <a:r>
              <a:t/>
            </a:r>
          </a:p>
          <a:p xmlns:a="http://schemas.openxmlformats.org/drawingml/2006/main">
            <a:r>
              <a:t>```python</a:t>
            </a:r>
          </a:p>
          <a:p xmlns:a="http://schemas.openxmlformats.org/drawingml/2006/main">
            <a:r>
              <a:t>def make_greeting(name):</a:t>
            </a:r>
          </a:p>
          <a:p xmlns:a="http://schemas.openxmlformats.org/drawingml/2006/main">
            <a:r>
              <a:t>    return "안녕하세요, " + name</a:t>
            </a:r>
          </a:p>
          <a:p xmlns:a="http://schemas.openxmlformats.org/drawingml/2006/main">
            <a:r>
              <a:t>first = make_greeting("민수")</a:t>
            </a:r>
          </a:p>
          <a:p xmlns:a="http://schemas.openxmlformats.org/drawingml/2006/main">
            <a:r>
              <a:t>second = make_greeting("지아")</a:t>
            </a:r>
          </a:p>
          <a:p xmlns:a="http://schemas.openxmlformats.org/drawingml/2006/main">
            <a:r>
              <a:t>print(first)</a:t>
            </a:r>
          </a:p>
          <a:p xmlns:a="http://schemas.openxmlformats.org/drawingml/2006/main">
            <a:r>
              <a:t>print(second)</a:t>
            </a:r>
          </a:p>
          <a:p xmlns:a="http://schemas.openxmlformats.org/drawingml/2006/main">
            <a:r>
              <a:t>```</a:t>
            </a:r>
          </a:p>
          <a:p xmlns:a="http://schemas.openxmlformats.org/drawingml/2006/main">
            <a:r>
              <a:t/>
            </a:r>
          </a:p>
          <a:p xmlns:a="http://schemas.openxmlformats.org/drawingml/2006/main">
            <a:r>
              <a:t>첫 줄의 def는 작업을 정의하고 괄호 안 name은 받을 자리입니다. 콜론 뒤 들여쓴 둘째 줄은 호출 때 문자열을 연결하고 return으로 돌려줍니다. 셋째 줄은 “민수”를 주고 받은 문장을 first에 연결합니다. 넷째 줄은 별도 호출에 “지아”를 주고 second에 연결합니다. 마지막 두 줄은 각 결과를 표시합니다. 예상 출력은 ‘안녕하세요, 민수’와 ‘안녕하세요, 지아’ 두 줄입니다. 정의 자체에서는 인사가 출력되지 않습니다.</a:t>
            </a:r>
          </a:p>
          <a:p xmlns:a="http://schemas.openxmlformats.org/drawingml/2006/main">
            <a:r>
              <a:t/>
            </a:r>
          </a:p>
          <a:p xmlns:a="http://schemas.openxmlformats.org/drawingml/2006/main">
            <a:r>
              <a:t>두 호출은 같은 작업을 쓰지만 다른 입력으로 다른 결과를 얻습니다. 함수 안 name이 항상 민수라고 외우면 둘째 호출을 잘못 읽습니다. 들여쓰기가 빠지면 함수 본문의 경계가 깨져 오류가 날 수 있으므로 둘째 줄 앞 공백을 확인합니다. 이름을 숫자로 주면 문자열 연결이 실패할 수 있으므로 오늘 계약은 문자열 입력만 다룹니다. 실제 계정 조회나 메시지 전송은 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**정의하면 바로 실행되나요?** 본문은 해당 함수를 호출했을 때 실행됩니다.</a:t>
            </a:r>
          </a:p>
          <a:p xmlns:a="http://schemas.openxmlformats.org/drawingml/2006/main">
            <a:r>
              <a:t/>
            </a:r>
          </a:p>
          <a:p xmlns:a="http://schemas.openxmlformats.org/drawingml/2006/main">
            <a:r>
              <a:t>2. **매개변수와 인자는 같은 이름인가요?** 매개변수는 받을 자리, 인자는 호출에서 준 실제 값입니다.</a:t>
            </a:r>
          </a:p>
          <a:p xmlns:a="http://schemas.openxmlformats.org/drawingml/2006/main">
            <a:r>
              <a:t/>
            </a:r>
          </a:p>
          <a:p xmlns:a="http://schemas.openxmlformats.org/drawingml/2006/main">
            <a:r>
              <a:t>3. **어떤 코드를 함수로 묶나요?** 공통 작업과 입력·결과 계약이 분명한 부분을 먼저 묶습니다.</a:t>
            </a:r>
          </a:p>
          <a:p xmlns:a="http://schemas.openxmlformats.org/drawingml/2006/main">
            <a:r>
              <a:t/>
            </a:r>
          </a:p>
          <a:p xmlns:a="http://schemas.openxmlformats.org/drawingml/2006/main">
            <a:r>
              <a:t/>
            </a:r>
          </a:p>
          <a:p xmlns:a="http://schemas.openxmlformats.org/drawingml/2006/main">
            <a:r>
              <a:t>**개념.** 함수는 한 가지 일을 이름 붙여 묶은 코드입니다. 매번 같은 안내 절차를 읽는 대신 ‘온도 상태 확인’이라는 작업을 정해 두고 필요한 값으로 부를 수 있습니다. 무엇을 입력하고 무엇을 결과로 돌려줄지 먼저 정합니다.</a:t>
            </a:r>
          </a:p>
          <a:p xmlns:a="http://schemas.openxmlformats.org/drawingml/2006/main">
            <a:r>
              <a:t/>
            </a:r>
          </a:p>
          <a:p xmlns:a="http://schemas.openxmlformats.org/drawingml/2006/main">
            <a:r>
              <a:t>**왜 필요한가.** 같은 조건식을 여러 곳에 복사하면 한 곳만 수정하고 다른 곳을 놓칠 수 있습니다. 반복되는 규칙을 모으면 변경 위치를 찾기 쉽습니다. 첫 코드부터 모든 줄을 함수로 만들 필요는 없습니다.</a:t>
            </a:r>
          </a:p>
          <a:p xmlns:a="http://schemas.openxmlformats.org/drawingml/2006/main">
            <a:r>
              <a:t/>
            </a:r>
          </a:p>
          <a:p xmlns:a="http://schemas.openxmlformats.org/drawingml/2006/main">
            <a:r>
              <a:t>**함께 보는 예.** 온도 22.5·25.0·24.0을 각각 24.0과 비교합니다. 공통 작업은 비교하여 상태를 정하는 과정이며 달라지는 것은 입력 온도입니다. 같은 업무 이름에 다른 입력을 줄 수 있습니다.</a:t>
            </a:r>
          </a:p>
          <a:p xmlns:a="http://schemas.openxmlformats.org/drawingml/2006/main">
            <a:r>
              <a:t/>
            </a:r>
          </a:p>
          <a:p xmlns:a="http://schemas.openxmlformats.org/drawingml/2006/main">
            <a:r>
              <a:t>**헷갈리는 경우.** 이름이 check라고 해서 검증을 모두 수행하는 것은 아닙니다. 본문이 실제로 어떤 조건을 보는지 읽어야 합니다. 함수 이름은 약속을 설명하지만 정확성을 보장하지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세 업무: 22.5와24.0 비교 / 25.0과24.0 비교 / 24.0과24.0 비교.</a:t>
            </a:r>
          </a:p>
          <a:p xmlns:a="http://schemas.openxmlformats.org/drawingml/2006/main">
            <a:r>
              <a:t>답칸: 공통 작업 / 달라지는 입력 / 결과 / 이름 제안.</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같은 부분과 다른 값을 구별합니다.</a:t>
            </a:r>
          </a:p>
          <a:p xmlns:a="http://schemas.openxmlformats.org/drawingml/2006/main">
            <a:r>
              <a:t>2. 공통 작업에 temperature_status라는 이름을 붙입니다.</a:t>
            </a:r>
          </a:p>
          <a:p xmlns:a="http://schemas.openxmlformats.org/drawingml/2006/main">
            <a:r>
              <a:t>3. 받을 값과 결과의 뜻을 문장으로 씁니다.</a:t>
            </a:r>
          </a:p>
          <a:p xmlns:a="http://schemas.openxmlformats.org/drawingml/2006/main">
            <a:r>
              <a:t>4. 기준 변경 때 수정할 위치를 비교합니다.</a:t>
            </a:r>
          </a:p>
          <a:p xmlns:a="http://schemas.openxmlformats.org/drawingml/2006/main">
            <a:r>
              <a:t/>
            </a:r>
          </a:p>
          <a:p xmlns:a="http://schemas.openxmlformats.org/drawingml/2006/main">
            <a:r>
              <a:t>예상 결과: 공통 규칙·온도 입력·상태 결과를 구별합니다.</a:t>
            </a:r>
          </a:p>
          <a:p xmlns:a="http://schemas.openxmlformats.org/drawingml/2006/main">
            <a:r>
              <a:t/>
            </a:r>
          </a:p>
          <a:p xmlns:a="http://schemas.openxmlformats.org/drawingml/2006/main">
            <a:r>
              <a:t>확인 질문: 줄 수가 짧으면 함수가 필요 없다고 단정할 수 있나요?</a:t>
            </a:r>
          </a:p>
          <a:p xmlns:a="http://schemas.openxmlformats.org/drawingml/2006/main">
            <a:r>
              <a:t/>
            </a:r>
          </a:p>
          <a:p xmlns:a="http://schemas.openxmlformats.org/drawingml/2006/main">
            <a:r>
              <a:t>막혔을 때: 입력 카드 한 장을 받고 상태 카드 한 장을 돌려주는 역할극으로 그립니다.</a:t>
            </a:r>
          </a:p>
          <a:p xmlns:a="http://schemas.openxmlformats.org/drawingml/2006/main">
            <a:r>
              <a:t/>
            </a:r>
          </a:p>
          <a:p xmlns:a="http://schemas.openxmlformats.org/drawingml/2006/main">
            <a:r>
              <a:t>[활동 자료와 작성칸](practice-guide.md#a01--같은-업무를-함수로-묶는-이유)에서 A01를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code/A04_example.py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code/A05_example.py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A05 상세 원문]</a:t>
            </a:r>
          </a:p>
          <a:p xmlns:a="http://schemas.openxmlformats.org/drawingml/2006/main">
            <a:r>
              <a:t>**개념.** 함수 안에서도 if를 사용할 수 있습니다. 입력을 받아 조건에 맞는 상태 문자열을 돌려주는 규칙을 만듭니다. return을 만나면 그 호출은 결과를 돌려주고 끝납니다.</a:t>
            </a:r>
          </a:p>
          <a:p xmlns:a="http://schemas.openxmlformats.org/drawingml/2006/main">
            <a:r>
              <a:t/>
            </a:r>
          </a:p>
          <a:p xmlns:a="http://schemas.openxmlformats.org/drawingml/2006/main">
            <a:r>
              <a:t>**왜 필요한가.** 상태 규칙과 출력 위치를 나누면 같은 결과를 화면이나 파일에 사용할 수 있습니다. 함수가 입력 자체를 수정하는지 결과만 만드는지도 계약으로 구별합니다.</a:t>
            </a:r>
          </a:p>
          <a:p xmlns:a="http://schemas.openxmlformats.org/drawingml/2006/main">
            <a:r>
              <a:t/>
            </a:r>
          </a:p>
          <a:p xmlns:a="http://schemas.openxmlformats.org/drawingml/2006/main">
            <a:r>
              <a:t>**함께 보는 예.** None이면 미측정,24.0 초과면 확인,나머지는 정상입니다. 앞의 return을 실행한 호출은 아래 비교로 다시 내려가지 않습니다.</a:t>
            </a:r>
          </a:p>
          <a:p xmlns:a="http://schemas.openxmlformats.org/drawingml/2006/main">
            <a:r>
              <a:t/>
            </a:r>
          </a:p>
          <a:p xmlns:a="http://schemas.openxmlformats.org/drawingml/2006/main">
            <a:r>
              <a:t>**헷갈리는 경우.** 함수로 묶었다고 자료형 규칙이 없어지는 것은 아닙니다. None을 먼저 숫자와 비교하면 TypeError가 나므로 값 없음의 처리를 앞에 둡니다.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temperature_status(value):</a:t>
            </a:r>
          </a:p>
          <a:p xmlns:a="http://schemas.openxmlformats.org/drawingml/2006/main">
            <a:r>
              <a:t>    if value is None:</a:t>
            </a:r>
          </a:p>
          <a:p xmlns:a="http://schemas.openxmlformats.org/drawingml/2006/main">
            <a:r>
              <a:t>        return "미측정"</a:t>
            </a:r>
          </a:p>
          <a:p xmlns:a="http://schemas.openxmlformats.org/drawingml/2006/main">
            <a:r>
              <a:t>    if value &gt; 24.0:</a:t>
            </a:r>
          </a:p>
          <a:p xmlns:a="http://schemas.openxmlformats.org/drawingml/2006/main">
            <a:r>
              <a:t>        return "확인"</a:t>
            </a:r>
          </a:p>
          <a:p xmlns:a="http://schemas.openxmlformats.org/drawingml/2006/main">
            <a:r>
              <a:t>    return "정상"</a:t>
            </a:r>
          </a:p>
          <a:p xmlns:a="http://schemas.openxmlformats.org/drawingml/2006/main">
            <a:r>
              <a:t>print(temperature_status(22.5))</a:t>
            </a:r>
          </a:p>
          <a:p xmlns:a="http://schemas.openxmlformats.org/drawingml/2006/main">
            <a:r>
              <a:t>print(temperature_status(None))</a:t>
            </a:r>
          </a:p>
          <a:p xmlns:a="http://schemas.openxmlformats.org/drawingml/2006/main">
            <a:r>
              <a:t>print(temperature_status(25.0))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temperature_status(value):` | 값을 받는 함수를 정의합니다. |</a:t>
            </a:r>
          </a:p>
          <a:p xmlns:a="http://schemas.openxmlformats.org/drawingml/2006/main">
            <a:r>
              <a:t>| 2 | `    if value is None:` | 값 없음을 먼저 확인합니다. |</a:t>
            </a:r>
          </a:p>
          <a:p xmlns:a="http://schemas.openxmlformats.org/drawingml/2006/main">
            <a:r>
              <a:t>| 3 | `        return "미측정"` | 미측정으로 반환하고 끝냅니다. |</a:t>
            </a:r>
          </a:p>
          <a:p xmlns:a="http://schemas.openxmlformats.org/drawingml/2006/main">
            <a:r>
              <a:t>| 4 | `    if value &gt; 24.0:` | 숫자의 기준 초과를 묻습니다. |</a:t>
            </a:r>
          </a:p>
          <a:p xmlns:a="http://schemas.openxmlformats.org/drawingml/2006/main">
            <a:r>
              <a:t>| 5 | `        return "확인"` | 초과 상태를 반환합니다. |</a:t>
            </a:r>
          </a:p>
          <a:p xmlns:a="http://schemas.openxmlformats.org/drawingml/2006/main">
            <a:r>
              <a:t>| 6 | `    return "정상"` | 나머지 상태를 반환합니다. |</a:t>
            </a:r>
          </a:p>
          <a:p xmlns:a="http://schemas.openxmlformats.org/drawingml/2006/main">
            <a:r>
              <a:t>| 7 | `print(temperature_status(22.5))` | 정상 입력을 확인합니다. |</a:t>
            </a:r>
          </a:p>
          <a:p xmlns:a="http://schemas.openxmlformats.org/drawingml/2006/main">
            <a:r>
              <a:t>| 8 | `print(temperature_status(None))` | 미측정 입력을 확인합니다. |</a:t>
            </a:r>
          </a:p>
          <a:p xmlns:a="http://schemas.openxmlformats.org/drawingml/2006/main">
            <a:r>
              <a:t>| 9 | `print(temperature_status(25.0))` | 초과 입력을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미측정</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작은 수정: `temperature_status(25.0)`를 `temperature_status(24.0)`로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미측정</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입력별 도달하는 return을 표시합니다.</a:t>
            </a:r>
          </a:p>
          <a:p xmlns:a="http://schemas.openxmlformats.org/drawingml/2006/main">
            <a:r>
              <a:t>2. 마지막 입력을 24.0으로 바꿉니다.</a:t>
            </a:r>
          </a:p>
          <a:p xmlns:a="http://schemas.openxmlformats.org/drawingml/2006/main">
            <a:r>
              <a:t>3. 상태 문자열만 생기는지 입력이 바뀌는지 설명합니다.</a:t>
            </a:r>
          </a:p>
          <a:p xmlns:a="http://schemas.openxmlformats.org/drawingml/2006/main">
            <a:r>
              <a:t>4. None 확인을 먼저 하는 이유를 씁니다.</a:t>
            </a:r>
          </a:p>
          <a:p xmlns:a="http://schemas.openxmlformats.org/drawingml/2006/main">
            <a:r>
              <a:t/>
            </a:r>
          </a:p>
          <a:p xmlns:a="http://schemas.openxmlformats.org/drawingml/2006/main">
            <a:r>
              <a:t>예상 결과: 정상·미측정·정상. 같은 값은 초과가 아닙니다.</a:t>
            </a:r>
          </a:p>
          <a:p xmlns:a="http://schemas.openxmlformats.org/drawingml/2006/main">
            <a:r>
              <a:t/>
            </a:r>
          </a:p>
          <a:p xmlns:a="http://schemas.openxmlformats.org/drawingml/2006/main">
            <a:r>
              <a:t>확인 질문: return 뒤의 코드를 같은 호출이 모두 실행하나요?</a:t>
            </a:r>
          </a:p>
          <a:p xmlns:a="http://schemas.openxmlformats.org/drawingml/2006/main">
            <a:r>
              <a:t/>
            </a:r>
          </a:p>
          <a:p xmlns:a="http://schemas.openxmlformats.org/drawingml/2006/main">
            <a:r>
              <a:t>막혔을 때: 미측정 오류는 숫자 비교보다 None 검사가 앞인지 확인합니다.</a:t>
            </a:r>
          </a:p>
          <a:p xmlns:a="http://schemas.openxmlformats.org/drawingml/2006/main">
            <a:r>
              <a:t/>
            </a:r>
          </a:p>
          <a:p xmlns:a="http://schemas.openxmlformats.org/drawingml/2006/main">
            <a:r>
              <a:t>[활동 자료와 작성칸](practice-guide.md#a05--조건을-담은-상태-함수)에서 A05를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**개념.** 함수 안에서도 if를 사용할 수 있습니다. 입력을 받아 조건에 맞는 상태 문자열을 돌려주는 규칙을 만듭니다. return을 만나면 그 호출은 결과를 돌려주고 끝납니다.</a:t>
            </a:r>
          </a:p>
          <a:p xmlns:a="http://schemas.openxmlformats.org/drawingml/2006/main">
            <a:r>
              <a:t/>
            </a:r>
          </a:p>
          <a:p xmlns:a="http://schemas.openxmlformats.org/drawingml/2006/main">
            <a:r>
              <a:t>**왜 필요한가.** 상태 규칙과 출력 위치를 나누면 같은 결과를 화면이나 파일에 사용할 수 있습니다. 함수가 입력 자체를 수정하는지 결과만 만드는지도 계약으로 구별합니다.</a:t>
            </a:r>
          </a:p>
          <a:p xmlns:a="http://schemas.openxmlformats.org/drawingml/2006/main">
            <a:r>
              <a:t/>
            </a:r>
          </a:p>
          <a:p xmlns:a="http://schemas.openxmlformats.org/drawingml/2006/main">
            <a:r>
              <a:t>**함께 보는 예.** None이면 미측정,24.0 초과면 확인,나머지는 정상입니다. 앞의 return을 실행한 호출은 아래 비교로 다시 내려가지 않습니다.</a:t>
            </a:r>
          </a:p>
          <a:p xmlns:a="http://schemas.openxmlformats.org/drawingml/2006/main">
            <a:r>
              <a:t/>
            </a:r>
          </a:p>
          <a:p xmlns:a="http://schemas.openxmlformats.org/drawingml/2006/main">
            <a:r>
              <a:t>**헷갈리는 경우.** 함수로 묶었다고 자료형 규칙이 없어지는 것은 아닙니다. None을 먼저 숫자와 비교하면 TypeError가 나므로 값 없음의 처리를 앞에 둡니다.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temperature_status(value):</a:t>
            </a:r>
          </a:p>
          <a:p xmlns:a="http://schemas.openxmlformats.org/drawingml/2006/main">
            <a:r>
              <a:t>    if value is None:</a:t>
            </a:r>
          </a:p>
          <a:p xmlns:a="http://schemas.openxmlformats.org/drawingml/2006/main">
            <a:r>
              <a:t>        return "미측정"</a:t>
            </a:r>
          </a:p>
          <a:p xmlns:a="http://schemas.openxmlformats.org/drawingml/2006/main">
            <a:r>
              <a:t>    if value &gt; 24.0:</a:t>
            </a:r>
          </a:p>
          <a:p xmlns:a="http://schemas.openxmlformats.org/drawingml/2006/main">
            <a:r>
              <a:t>        return "확인"</a:t>
            </a:r>
          </a:p>
          <a:p xmlns:a="http://schemas.openxmlformats.org/drawingml/2006/main">
            <a:r>
              <a:t>    return "정상"</a:t>
            </a:r>
          </a:p>
          <a:p xmlns:a="http://schemas.openxmlformats.org/drawingml/2006/main">
            <a:r>
              <a:t>print(temperature_status(22.5))</a:t>
            </a:r>
          </a:p>
          <a:p xmlns:a="http://schemas.openxmlformats.org/drawingml/2006/main">
            <a:r>
              <a:t>print(temperature_status(None))</a:t>
            </a:r>
          </a:p>
          <a:p xmlns:a="http://schemas.openxmlformats.org/drawingml/2006/main">
            <a:r>
              <a:t>print(temperature_status(25.0))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temperature_status(value):` | 값을 받는 함수를 정의합니다. |</a:t>
            </a:r>
          </a:p>
          <a:p xmlns:a="http://schemas.openxmlformats.org/drawingml/2006/main">
            <a:r>
              <a:t>| 2 | `    if value is None:` | 값 없음을 먼저 확인합니다. |</a:t>
            </a:r>
          </a:p>
          <a:p xmlns:a="http://schemas.openxmlformats.org/drawingml/2006/main">
            <a:r>
              <a:t>| 3 | `        return "미측정"` | 미측정으로 반환하고 끝냅니다. |</a:t>
            </a:r>
          </a:p>
          <a:p xmlns:a="http://schemas.openxmlformats.org/drawingml/2006/main">
            <a:r>
              <a:t>| 4 | `    if value &gt; 24.0:` | 숫자의 기준 초과를 묻습니다. |</a:t>
            </a:r>
          </a:p>
          <a:p xmlns:a="http://schemas.openxmlformats.org/drawingml/2006/main">
            <a:r>
              <a:t>| 5 | `        return "확인"` | 초과 상태를 반환합니다. |</a:t>
            </a:r>
          </a:p>
          <a:p xmlns:a="http://schemas.openxmlformats.org/drawingml/2006/main">
            <a:r>
              <a:t>| 6 | `    return "정상"` | 나머지 상태를 반환합니다. |</a:t>
            </a:r>
          </a:p>
          <a:p xmlns:a="http://schemas.openxmlformats.org/drawingml/2006/main">
            <a:r>
              <a:t>| 7 | `print(temperature_status(22.5))` | 정상 입력을 확인합니다. |</a:t>
            </a:r>
          </a:p>
          <a:p xmlns:a="http://schemas.openxmlformats.org/drawingml/2006/main">
            <a:r>
              <a:t>| 8 | `print(temperature_status(None))` | 미측정 입력을 확인합니다. |</a:t>
            </a:r>
          </a:p>
          <a:p xmlns:a="http://schemas.openxmlformats.org/drawingml/2006/main">
            <a:r>
              <a:t>| 9 | `print(temperature_status(25.0))` | 초과 입력을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미측정</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작은 수정: `temperature_status(25.0)`를 `temperature_status(24.0)`로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미측정</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입력별 도달하는 return을 표시합니다.</a:t>
            </a:r>
          </a:p>
          <a:p xmlns:a="http://schemas.openxmlformats.org/drawingml/2006/main">
            <a:r>
              <a:t>2. 마지막 입력을 24.0으로 바꿉니다.</a:t>
            </a:r>
          </a:p>
          <a:p xmlns:a="http://schemas.openxmlformats.org/drawingml/2006/main">
            <a:r>
              <a:t>3. 상태 문자열만 생기는지 입력이 바뀌는지 설명합니다.</a:t>
            </a:r>
          </a:p>
          <a:p xmlns:a="http://schemas.openxmlformats.org/drawingml/2006/main">
            <a:r>
              <a:t>4. None 확인을 먼저 하는 이유를 씁니다.</a:t>
            </a:r>
          </a:p>
          <a:p xmlns:a="http://schemas.openxmlformats.org/drawingml/2006/main">
            <a:r>
              <a:t/>
            </a:r>
          </a:p>
          <a:p xmlns:a="http://schemas.openxmlformats.org/drawingml/2006/main">
            <a:r>
              <a:t>예상 결과: 정상·미측정·정상. 같은 값은 초과가 아닙니다.</a:t>
            </a:r>
          </a:p>
          <a:p xmlns:a="http://schemas.openxmlformats.org/drawingml/2006/main">
            <a:r>
              <a:t/>
            </a:r>
          </a:p>
          <a:p xmlns:a="http://schemas.openxmlformats.org/drawingml/2006/main">
            <a:r>
              <a:t>확인 질문: return 뒤의 코드를 같은 호출이 모두 실행하나요?</a:t>
            </a:r>
          </a:p>
          <a:p xmlns:a="http://schemas.openxmlformats.org/drawingml/2006/main">
            <a:r>
              <a:t/>
            </a:r>
          </a:p>
          <a:p xmlns:a="http://schemas.openxmlformats.org/drawingml/2006/main">
            <a:r>
              <a:t>막혔을 때: 미측정 오류는 숫자 비교보다 None 검사가 앞인지 확인합니다.</a:t>
            </a:r>
          </a:p>
          <a:p xmlns:a="http://schemas.openxmlformats.org/drawingml/2006/main">
            <a:r>
              <a:t/>
            </a:r>
          </a:p>
          <a:p xmlns:a="http://schemas.openxmlformats.org/drawingml/2006/main">
            <a:r>
              <a:t>[활동 자료와 작성칸](practice-guide.md#a05--조건을-담은-상태-함수)에서 A05를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검증 사례는 입력과 기대 결과를 미리 적어 실제 결과와 비교하는 한 경우입니다. 정상값뿐 아니라 경계와 값 없음의 사례도 포함합니다.</a:t>
            </a:r>
          </a:p>
          <a:p xmlns:a="http://schemas.openxmlformats.org/drawingml/2006/main">
            <a:r>
              <a:t/>
            </a:r>
          </a:p>
          <a:p xmlns:a="http://schemas.openxmlformats.org/drawingml/2006/main">
            <a:r>
              <a:t>**왜 필요한가.** 프로그램이 보여 준 결과를 그대로 정답으로 적으면 잘못된 코드도 통과합니다. 실행 전에 업무 규칙에서 기대값을 정해야 합니다.</a:t>
            </a:r>
          </a:p>
          <a:p xmlns:a="http://schemas.openxmlformats.org/drawingml/2006/main">
            <a:r>
              <a:t/>
            </a:r>
          </a:p>
          <a:p xmlns:a="http://schemas.openxmlformats.org/drawingml/2006/main">
            <a:r>
              <a:t>**함께 보는 예.** 23.9·24.0·24.1은 정상·정상·확인입니다. None은 미측정이고 0.0은 실제 숫자입니다. 다섯 사례는 서로 다른 실수를 확인합니다.</a:t>
            </a:r>
          </a:p>
          <a:p xmlns:a="http://schemas.openxmlformats.org/drawingml/2006/main">
            <a:r>
              <a:t/>
            </a:r>
          </a:p>
          <a:p xmlns:a="http://schemas.openxmlformats.org/drawingml/2006/main">
            <a:r>
              <a:t>**헷갈리는 경우.** 다섯 사례를 통과했다고 모든 입력을 확인한 것은 아닙니다. 글자와 범위 밖 숫자는 아직 검사하지 않았다는 한계를 남깁니다.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입력:23.9 /24.0 /24.1 /None /0.0.</a:t>
            </a:r>
          </a:p>
          <a:p xmlns:a="http://schemas.openxmlformats.org/drawingml/2006/main">
            <a:r>
              <a:t>각 행: 기대 상태 / 실제 상태 / 일치 여부 / 이 사례가 필요한 이유.</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24.0 초과 규칙을 문장으로 적습니다.</a:t>
            </a:r>
          </a:p>
          <a:p xmlns:a="http://schemas.openxmlformats.org/drawingml/2006/main">
            <a:r>
              <a:t>2. 다섯 기대값을 먼저 채웁니다.</a:t>
            </a:r>
          </a:p>
          <a:p xmlns:a="http://schemas.openxmlformats.org/drawingml/2006/main">
            <a:r>
              <a:t>3. A05 호출값을 바꾸어 대조합니다.</a:t>
            </a:r>
          </a:p>
          <a:p xmlns:a="http://schemas.openxmlformats.org/drawingml/2006/main">
            <a:r>
              <a:t>4. 통과한 범위와 남은 입력 종류를 나눕니다.</a:t>
            </a:r>
          </a:p>
          <a:p xmlns:a="http://schemas.openxmlformats.org/drawingml/2006/main">
            <a:r>
              <a:t/>
            </a:r>
          </a:p>
          <a:p xmlns:a="http://schemas.openxmlformats.org/drawingml/2006/main">
            <a:r>
              <a:t>예상 결과: 정상/정상/확인/미측정/정상과 판단 이유.</a:t>
            </a:r>
          </a:p>
          <a:p xmlns:a="http://schemas.openxmlformats.org/drawingml/2006/main">
            <a:r>
              <a:t/>
            </a:r>
          </a:p>
          <a:p xmlns:a="http://schemas.openxmlformats.org/drawingml/2006/main">
            <a:r>
              <a:t>확인 질문: 20과 30만 확인하면 놓칠 수 있는 실수는 무엇인가요?</a:t>
            </a:r>
          </a:p>
          <a:p xmlns:a="http://schemas.openxmlformats.org/drawingml/2006/main">
            <a:r>
              <a:t/>
            </a:r>
          </a:p>
          <a:p xmlns:a="http://schemas.openxmlformats.org/drawingml/2006/main">
            <a:r>
              <a:t>막혔을 때: 기대값이 애매하면 코드 대신 초과라는 업무 문구를 먼저 읽습니다.</a:t>
            </a:r>
          </a:p>
          <a:p xmlns:a="http://schemas.openxmlformats.org/drawingml/2006/main">
            <a:r>
              <a:t/>
            </a:r>
          </a:p>
          <a:p xmlns:a="http://schemas.openxmlformats.org/drawingml/2006/main">
            <a:r>
              <a:t>[활동 자료와 작성칸](practice-guide.md#a06--예상-사례표로-함수-확인하기)에서 A06를 엽니다.</a:t>
            </a:r>
          </a:p>
          <a:p xmlns:a="http://schemas.openxmlformats.org/drawingml/2006/main">
            <a:r>
              <a:t/>
            </a:r>
          </a:p>
          <a:p xmlns:a="http://schemas.openxmlformats.org/drawingml/2006/main">
            <a:r>
              <a:t># 3구간 · 파일을 읽고 결과 저장</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검증 사례는 입력과 기대 결과를 미리 적어 실제 결과와 비교하는 한 경우입니다. 정상값뿐 아니라 경계와 값 없음의 사례도 포함합니다.</a:t>
            </a:r>
          </a:p>
          <a:p xmlns:a="http://schemas.openxmlformats.org/drawingml/2006/main">
            <a:r>
              <a:t/>
            </a:r>
          </a:p>
          <a:p xmlns:a="http://schemas.openxmlformats.org/drawingml/2006/main">
            <a:r>
              <a:t>**왜 필요한가.** 프로그램이 보여 준 결과를 그대로 정답으로 적으면 잘못된 코드도 통과합니다. 실행 전에 업무 규칙에서 기대값을 정해야 합니다.</a:t>
            </a:r>
          </a:p>
          <a:p xmlns:a="http://schemas.openxmlformats.org/drawingml/2006/main">
            <a:r>
              <a:t/>
            </a:r>
          </a:p>
          <a:p xmlns:a="http://schemas.openxmlformats.org/drawingml/2006/main">
            <a:r>
              <a:t>**함께 보는 예.** 23.9·24.0·24.1은 정상·정상·확인입니다. None은 미측정이고 0.0은 실제 숫자입니다. 다섯 사례는 서로 다른 실수를 확인합니다.</a:t>
            </a:r>
          </a:p>
          <a:p xmlns:a="http://schemas.openxmlformats.org/drawingml/2006/main">
            <a:r>
              <a:t/>
            </a:r>
          </a:p>
          <a:p xmlns:a="http://schemas.openxmlformats.org/drawingml/2006/main">
            <a:r>
              <a:t>**헷갈리는 경우.** 다섯 사례를 통과했다고 모든 입력을 확인한 것은 아닙니다. 글자와 범위 밖 숫자는 아직 검사하지 않았다는 한계를 남깁니다.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입력:23.9 /24.0 /24.1 /None /0.0.</a:t>
            </a:r>
          </a:p>
          <a:p xmlns:a="http://schemas.openxmlformats.org/drawingml/2006/main">
            <a:r>
              <a:t>각 행: 기대 상태 / 실제 상태 / 일치 여부 / 이 사례가 필요한 이유.</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24.0 초과 규칙을 문장으로 적습니다.</a:t>
            </a:r>
          </a:p>
          <a:p xmlns:a="http://schemas.openxmlformats.org/drawingml/2006/main">
            <a:r>
              <a:t>2. 다섯 기대값을 먼저 채웁니다.</a:t>
            </a:r>
          </a:p>
          <a:p xmlns:a="http://schemas.openxmlformats.org/drawingml/2006/main">
            <a:r>
              <a:t>3. A05 호출값을 바꾸어 대조합니다.</a:t>
            </a:r>
          </a:p>
          <a:p xmlns:a="http://schemas.openxmlformats.org/drawingml/2006/main">
            <a:r>
              <a:t>4. 통과한 범위와 남은 입력 종류를 나눕니다.</a:t>
            </a:r>
          </a:p>
          <a:p xmlns:a="http://schemas.openxmlformats.org/drawingml/2006/main">
            <a:r>
              <a:t/>
            </a:r>
          </a:p>
          <a:p xmlns:a="http://schemas.openxmlformats.org/drawingml/2006/main">
            <a:r>
              <a:t>예상 결과: 정상/정상/확인/미측정/정상과 판단 이유.</a:t>
            </a:r>
          </a:p>
          <a:p xmlns:a="http://schemas.openxmlformats.org/drawingml/2006/main">
            <a:r>
              <a:t/>
            </a:r>
          </a:p>
          <a:p xmlns:a="http://schemas.openxmlformats.org/drawingml/2006/main">
            <a:r>
              <a:t>확인 질문: 20과 30만 확인하면 놓칠 수 있는 실수는 무엇인가요?</a:t>
            </a:r>
          </a:p>
          <a:p xmlns:a="http://schemas.openxmlformats.org/drawingml/2006/main">
            <a:r>
              <a:t/>
            </a:r>
          </a:p>
          <a:p xmlns:a="http://schemas.openxmlformats.org/drawingml/2006/main">
            <a:r>
              <a:t>막혔을 때: 기대값이 애매하면 코드 대신 초과라는 업무 문구를 먼저 읽습니다.</a:t>
            </a:r>
          </a:p>
          <a:p xmlns:a="http://schemas.openxmlformats.org/drawingml/2006/main">
            <a:r>
              <a:t/>
            </a:r>
          </a:p>
          <a:p xmlns:a="http://schemas.openxmlformats.org/drawingml/2006/main">
            <a:r>
              <a:t>[활동 자료와 작성칸](practice-guide.md#a06--예상-사례표로-함수-확인하기)에서 A06를 엽니다.</a:t>
            </a:r>
          </a:p>
          <a:p xmlns:a="http://schemas.openxmlformats.org/drawingml/2006/main">
            <a:r>
              <a:t/>
            </a:r>
          </a:p>
          <a:p xmlns:a="http://schemas.openxmlformats.org/drawingml/2006/main">
            <a:r>
              <a:t># 3구간 · 파일을 읽고 결과 저장</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핵심 질문과 해설:</a:t>
            </a:r>
          </a:p>
          <a:p xmlns:a="http://schemas.openxmlformats.org/drawingml/2006/main">
            <a:r>
              <a:t>print의 결과가 자동 저장되나요? 표시와 반환은 별도이며 호출 결과를 보려면 return을 확인합니다.</a:t>
            </a:r>
          </a:p>
          <a:p xmlns:a="http://schemas.openxmlformats.org/drawingml/2006/main">
            <a:r>
              <a:t>return 뒤 안내가 실행되나요? 같은 호출은 return에서 끝나므로 아래 줄까지 가지 않습니다.</a:t>
            </a:r>
          </a:p>
          <a:p xmlns:a="http://schemas.openxmlformats.org/drawingml/2006/main">
            <a:r>
              <a:t>None을 0으로 고쳐도 되나요? 업무 결과가 누락된 원인을 고쳐야 하며 임의 0은 계산 의미를 바꿉니다.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검증 사례는 입력과 기대 결과를 미리 적어 실제 결과와 비교하는 한 경우입니다. 정상값뿐 아니라 경계와 값 없음의 사례도 포함합니다.</a:t>
            </a:r>
          </a:p>
          <a:p xmlns:a="http://schemas.openxmlformats.org/drawingml/2006/main">
            <a:r>
              <a:t/>
            </a:r>
          </a:p>
          <a:p xmlns:a="http://schemas.openxmlformats.org/drawingml/2006/main">
            <a:r>
              <a:t>**왜 필요한가.** 프로그램이 보여 준 결과를 그대로 정답으로 적으면 잘못된 코드도 통과합니다. 실행 전에 업무 규칙에서 기대값을 정해야 합니다.</a:t>
            </a:r>
          </a:p>
          <a:p xmlns:a="http://schemas.openxmlformats.org/drawingml/2006/main">
            <a:r>
              <a:t/>
            </a:r>
          </a:p>
          <a:p xmlns:a="http://schemas.openxmlformats.org/drawingml/2006/main">
            <a:r>
              <a:t>**함께 보는 예.** 23.9·24.0·24.1은 정상·정상·확인입니다. None은 미측정이고 0.0은 실제 숫자입니다. 다섯 사례는 서로 다른 실수를 확인합니다.</a:t>
            </a:r>
          </a:p>
          <a:p xmlns:a="http://schemas.openxmlformats.org/drawingml/2006/main">
            <a:r>
              <a:t/>
            </a:r>
          </a:p>
          <a:p xmlns:a="http://schemas.openxmlformats.org/drawingml/2006/main">
            <a:r>
              <a:t>**헷갈리는 경우.** 다섯 사례를 통과했다고 모든 입력을 확인한 것은 아닙니다. 글자와 범위 밖 숫자는 아직 검사하지 않았다는 한계를 남깁니다.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입력:23.9 /24.0 /24.1 /None /0.0.</a:t>
            </a:r>
          </a:p>
          <a:p xmlns:a="http://schemas.openxmlformats.org/drawingml/2006/main">
            <a:r>
              <a:t>각 행: 기대 상태 / 실제 상태 / 일치 여부 / 이 사례가 필요한 이유.</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24.0 초과 규칙을 문장으로 적습니다.</a:t>
            </a:r>
          </a:p>
          <a:p xmlns:a="http://schemas.openxmlformats.org/drawingml/2006/main">
            <a:r>
              <a:t>2. 다섯 기대값을 먼저 채웁니다.</a:t>
            </a:r>
          </a:p>
          <a:p xmlns:a="http://schemas.openxmlformats.org/drawingml/2006/main">
            <a:r>
              <a:t>3. A05 호출값을 바꾸어 대조합니다.</a:t>
            </a:r>
          </a:p>
          <a:p xmlns:a="http://schemas.openxmlformats.org/drawingml/2006/main">
            <a:r>
              <a:t>4. 통과한 범위와 남은 입력 종류를 나눕니다.</a:t>
            </a:r>
          </a:p>
          <a:p xmlns:a="http://schemas.openxmlformats.org/drawingml/2006/main">
            <a:r>
              <a:t/>
            </a:r>
          </a:p>
          <a:p xmlns:a="http://schemas.openxmlformats.org/drawingml/2006/main">
            <a:r>
              <a:t>예상 결과: 정상/정상/확인/미측정/정상과 판단 이유.</a:t>
            </a:r>
          </a:p>
          <a:p xmlns:a="http://schemas.openxmlformats.org/drawingml/2006/main">
            <a:r>
              <a:t/>
            </a:r>
          </a:p>
          <a:p xmlns:a="http://schemas.openxmlformats.org/drawingml/2006/main">
            <a:r>
              <a:t>확인 질문: 20과 30만 확인하면 놓칠 수 있는 실수는 무엇인가요?</a:t>
            </a:r>
          </a:p>
          <a:p xmlns:a="http://schemas.openxmlformats.org/drawingml/2006/main">
            <a:r>
              <a:t/>
            </a:r>
          </a:p>
          <a:p xmlns:a="http://schemas.openxmlformats.org/drawingml/2006/main">
            <a:r>
              <a:t>막혔을 때: 기대값이 애매하면 코드 대신 초과라는 업무 문구를 먼저 읽습니다.</a:t>
            </a:r>
          </a:p>
          <a:p xmlns:a="http://schemas.openxmlformats.org/drawingml/2006/main">
            <a:r>
              <a:t/>
            </a:r>
          </a:p>
          <a:p xmlns:a="http://schemas.openxmlformats.org/drawingml/2006/main">
            <a:r>
              <a:t>[활동 자료와 작성칸](practice-guide.md#a06--예상-사례표로-함수-확인하기)에서 A06를 엽니다.</a:t>
            </a:r>
          </a:p>
          <a:p xmlns:a="http://schemas.openxmlformats.org/drawingml/2006/main">
            <a:r>
              <a:t/>
            </a:r>
          </a:p>
          <a:p xmlns:a="http://schemas.openxmlformats.org/drawingml/2006/main">
            <a:r>
              <a:t># 3구간 · 파일을 읽고 결과 저장</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표시값과 반환값은 다를 수 있습니다.</a:t>
            </a:r>
          </a:p>
          <a:p xmlns:a="http://schemas.openxmlformats.org/drawingml/2006/main">
            <a:r>
              <a:t>return 뒤 같은 호출은 계속 내려가지 않습니다.</a:t>
            </a:r>
          </a:p>
          <a:p xmlns:a="http://schemas.openxmlformats.org/drawingml/2006/main">
            <a:r>
              <a:t>검사 통과 범위를 넘겨 보고하지 않습니다.</a:t>
            </a:r>
          </a:p>
          <a:p xmlns:a="http://schemas.openxmlformats.org/drawingml/2006/main">
            <a:r>
              <a:t/>
            </a:r>
          </a:p>
          <a:p xmlns:a="http://schemas.openxmlformats.org/drawingml/2006/main">
            <a:r>
              <a:t>관련 교시의 상세 원문:</a:t>
            </a:r>
          </a:p>
          <a:p xmlns:a="http://schemas.openxmlformats.org/drawingml/2006/main">
            <a:r>
              <a:t>### 사례로 이해하기 · 화면 표시와 다음 계산의 반환값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청구서 담당자는 수량 3과 단가 1200원으로 상품 금액을 계산한 뒤 배송비 2000원을 더합니다. 첫 계산이 화면에 3600을 보여 주었다고 다음 계산에서 그 값을 사용할 수 있는 것은 아닙니다. 화면 표시는 사람에게 보여 주는 행동이고 반환은 함수를 부른 곳에 결과 값을 보내는 행동입니다. 전자계산기에서 값을 읽는 것과 그 값을 다음 식의 입력으로 전달하는 것을 구별합니다. 필요한 최종 결과를 먼저 쓰면 print와 return의 역할이 선명해집니다.</a:t>
            </a:r>
          </a:p>
          <a:p xmlns:a="http://schemas.openxmlformats.org/drawingml/2006/main">
            <a:r>
              <a:t/>
            </a:r>
          </a:p>
          <a:p xmlns:a="http://schemas.openxmlformats.org/drawingml/2006/main">
            <a:r>
              <a:t>함수의 입력 계약은 단가와 수량이라는 정수 두 개, 반환 계약은 상품 금액 정수입니다. 수업용 처리 규칙은 단가×수량이며 세금이나 할인은 넣지 않습니다. 호출에서 1200과 3을 주면 함수 안에서 3600을 만들고 return으로 보냅니다. 호출한 쪽은 받은 값에 2000을 더해 최종 5600원을 얻습니다. 손 추적표는 입력 1200·3 → 함수 계산 3600 → 반환 3600 → 배송비 포함 5600 순서입니다. 화면에 무엇이 보이는가와 변수에 무엇이 연결되는가를 다른 칸으로 적습니다.</a:t>
            </a:r>
          </a:p>
          <a:p xmlns:a="http://schemas.openxmlformats.org/drawingml/2006/main">
            <a:r>
              <a:t/>
            </a:r>
          </a:p>
          <a:p xmlns:a="http://schemas.openxmlformats.org/drawingml/2006/main">
            <a:r>
              <a:t>print만 하는 함수는 3600을 화면에 보이게 해도 별도 return이 없으면 호출 결과가 None입니다. None에 2000을 더하면 숫자 계산이 되지 않습니다. 오류를 피하려고 None을 0으로 바꾸면 상품 금액이 사라져 잘못된 청구서가 됩니다. 결과를 계산하는 함수에 return을 두고 필요한 표시를 호출한 쪽에서 맡기는 구조를 생각합니다. 또한 return을 만나는 즉시 그 호출은 끝납니다. 그 아래 줄은 같은 호출에서 이어서 실행되지 않습니다. 조건이 여러 갈래인 함수라면 각 갈래가 무엇을 반환하는지 읽어야 합니다. 한 갈래에서만 반환하면 나머지 입력에서 뜻밖의 None이 생길 수 있습니다.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**print의 결과가 자동 저장되나요?** 표시와 반환은 별도이며 호출 결과를 보려면 return을 확인합니다.</a:t>
            </a:r>
          </a:p>
          <a:p xmlns:a="http://schemas.openxmlformats.org/drawingml/2006/main">
            <a:r>
              <a:t/>
            </a:r>
          </a:p>
          <a:p xmlns:a="http://schemas.openxmlformats.org/drawingml/2006/main">
            <a:r>
              <a:t>2. **return 뒤 안내가 실행되나요?** 같은 호출은 return에서 끝나므로 아래 줄까지 가지 않습니다.</a:t>
            </a:r>
          </a:p>
          <a:p xmlns:a="http://schemas.openxmlformats.org/drawingml/2006/main">
            <a:r>
              <a:t/>
            </a:r>
          </a:p>
          <a:p xmlns:a="http://schemas.openxmlformats.org/drawingml/2006/main">
            <a:r>
              <a:t>3. **None을 0으로 고쳐도 되나요?** 업무 결과가 누락된 원인을 고쳐야 하며 임의 0은 계산 의미를 바꿉니다.</a:t>
            </a:r>
          </a:p>
          <a:p xmlns:a="http://schemas.openxmlformats.org/drawingml/2006/main">
            <a:r>
              <a:t/>
            </a:r>
          </a:p>
          <a:p xmlns:a="http://schemas.openxmlformats.org/drawingml/2006/main">
            <a:r>
              <a:t/>
            </a:r>
          </a:p>
          <a:p xmlns:a="http://schemas.openxmlformats.org/drawingml/2006/main">
            <a:r>
              <a:t>**개념.** print는 값을 화면에 보여 주고 return은 함수를 부른 위치로 값을 돌려줍니다. 화면에 결과가 보였다는 사실과 다음 계산에 사용할 결과를 받았다는 사실은 다릅니다.</a:t>
            </a:r>
          </a:p>
          <a:p xmlns:a="http://schemas.openxmlformats.org/drawingml/2006/main">
            <a:r>
              <a:t/>
            </a:r>
          </a:p>
          <a:p xmlns:a="http://schemas.openxmlformats.org/drawingml/2006/main">
            <a:r>
              <a:t>**왜 필요한가.**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**함께 보는 예.** add_offset은 받은 두 수를 더해 반환합니다. result가 23.5를 받고 다음 계산에서 사용합니다. 더하는 값은 수업 계산 예이며 실제 장비 교정값으로 사용하지 않습니다.</a:t>
            </a:r>
          </a:p>
          <a:p xmlns:a="http://schemas.openxmlformats.org/drawingml/2006/main">
            <a:r>
              <a:t/>
            </a:r>
          </a:p>
          <a:p xmlns:a="http://schemas.openxmlformats.org/drawingml/2006/main">
            <a:r>
              <a:t>**헷갈리는 경우.** return 없이 print만 하는 함수의 반환값은 None입니다. 그 값을 숫자처럼 더하려고 하면 오류가 날 수 있습니다. 화면만 보지 말고 return의 역할을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add_offset(value, offset):</a:t>
            </a:r>
          </a:p>
          <a:p xmlns:a="http://schemas.openxmlformats.org/drawingml/2006/main">
            <a:r>
              <a:t>    return value + offset</a:t>
            </a:r>
          </a:p>
          <a:p xmlns:a="http://schemas.openxmlformats.org/drawingml/2006/main">
            <a:r>
              <a:t>result = add_offset(22.5, 1.0)</a:t>
            </a:r>
          </a:p>
          <a:p xmlns:a="http://schemas.openxmlformats.org/drawingml/2006/main">
            <a:r>
              <a:t>print(result)</a:t>
            </a:r>
          </a:p>
          <a:p xmlns:a="http://schemas.openxmlformats.org/drawingml/2006/main">
            <a:r>
              <a:t>print(result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add_offset(value, offset):` | 두 값을 받는 작업을 정의합니다. |</a:t>
            </a:r>
          </a:p>
          <a:p xmlns:a="http://schemas.openxmlformats.org/drawingml/2006/main">
            <a:r>
              <a:t>| 2 | `    return value + offset` | 합을 호출한 곳으로 돌려줍니다. |</a:t>
            </a:r>
          </a:p>
          <a:p xmlns:a="http://schemas.openxmlformats.org/drawingml/2006/main">
            <a:r>
              <a:t>| 3 | `result = add_offset(22.5, 1.0)` | 돌아온 결과를 result에 연결합니다. |</a:t>
            </a:r>
          </a:p>
          <a:p xmlns:a="http://schemas.openxmlformats.org/drawingml/2006/main">
            <a:r>
              <a:t>| 4 | `print(result)` | 받은 결과를 출력합니다. |</a:t>
            </a:r>
          </a:p>
          <a:p xmlns:a="http://schemas.openxmlformats.org/drawingml/2006/main">
            <a:r>
              <a:t>| 5 | `print(result + 1)` | 결과를 다음 계산에 사용합니다.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24.5</a:t>
            </a:r>
          </a:p>
          <a:p xmlns:a="http://schemas.openxmlformats.org/drawingml/2006/main">
            <a:r>
              <a:t>```</a:t>
            </a:r>
          </a:p>
          <a:p xmlns:a="http://schemas.openxmlformats.org/drawingml/2006/main">
            <a:r>
              <a:t/>
            </a:r>
          </a:p>
          <a:p xmlns:a="http://schemas.openxmlformats.org/drawingml/2006/main">
            <a:r>
              <a:t>작은 수정: `22.5, 1.0`를 `22.5, 2.0`로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24.5</a:t>
            </a:r>
          </a:p>
          <a:p xmlns:a="http://schemas.openxmlformats.org/drawingml/2006/main">
            <a:r>
              <a:t>25.5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질문: 화면에 보인 값은 언제나 같은 함수의 반환값인가요?</a:t>
            </a:r>
          </a:p>
          <a:p xmlns:a="http://schemas.openxmlformats.org/drawingml/2006/main">
            <a:r>
              <a:t/>
            </a:r>
          </a:p>
          <a:p xmlns:a="http://schemas.openxmlformats.org/drawingml/2006/main">
            <a:r>
              <a:t>막혔을 때: None이 보이면 return이 있는지, 특정 경로에서 반환 없이 끝나는지 확인합니다.</a:t>
            </a:r>
          </a:p>
          <a:p xmlns:a="http://schemas.openxmlformats.org/drawingml/2006/main">
            <a:r>
              <a:t/>
            </a:r>
          </a:p>
          <a:p xmlns:a="http://schemas.openxmlformats.org/drawingml/2006/main">
            <a:r>
              <a:t>[활동 자료와 작성칸](practice-guide.md#a04--print와-return의-차이)에서 A04를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A07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code/A07_example.py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A07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A07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A07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강의 화면용 독립 완결 예입니다. 원본 A08은 코드 위치로 주소를 만들며 전체 파일은 원문 노트에 보존했습니다. 화면 예는 현재 위치가 압축을 푼 course인 조건에서 실행합니다. 첫 두 줄은 도구와 읽을 파일, 다음 줄은 열린 파일을 file이라고 부릅니다. DictReader는 헤더를 키로 각 행을 읽습니다. 마지막 세 줄은 건수·첫 장치명·온도를 표시합니다. 출력은 4, S01, 22.5입니다.</a:t>
            </a:r>
          </a:p>
          <a:p xmlns:a="http://schemas.openxmlformats.org/drawingml/2006/main">
            <a:r>
              <a:t/>
            </a:r>
          </a:p>
          <a:p xmlns:a="http://schemas.openxmlformats.org/drawingml/2006/main">
            <a:r>
              <a:t>[활동 A08 상세 원문]</a:t>
            </a:r>
          </a:p>
          <a:p xmlns:a="http://schemas.openxmlformats.org/drawingml/2006/main">
            <a:r>
              <a:t>**개념.** csv.DictReader는 헤더를 키로 삼아 각 데이터 행을 딕셔너리로 읽습니다. 기본 셀값은 문자열이므로 온도 계산 전에 의미에 맞는 해석이 필요합니다.</a:t>
            </a:r>
          </a:p>
          <a:p xmlns:a="http://schemas.openxmlformats.org/drawingml/2006/main">
            <a:r>
              <a:t/>
            </a:r>
          </a:p>
          <a:p xmlns:a="http://schemas.openxmlformats.org/drawingml/2006/main">
            <a:r>
              <a:t>**왜 필요한가.** 열 번호를 외우기보다 temperature_c라는 이름으로 읽으면 처리할 항목이 드러납니다. 실제 헤더가 약속과 맞아야 같은 이름으로 읽을 수 있습니다.</a:t>
            </a:r>
          </a:p>
          <a:p xmlns:a="http://schemas.openxmlformats.org/drawingml/2006/main">
            <a:r>
              <a:t/>
            </a:r>
          </a:p>
          <a:p xmlns:a="http://schemas.openxmlformats.org/drawingml/2006/main">
            <a:r>
              <a:t>**함께 보는 예.** 입력은 S01의 22.5,S02의 25.0,S03의 빈 온도,S04의 0.0 네 건입니다. 첫 온도의 화면 모양은 숫자 같지만 type은 str입니다.</a:t>
            </a:r>
          </a:p>
          <a:p xmlns:a="http://schemas.openxmlformats.org/drawingml/2006/main">
            <a:r>
              <a:t/>
            </a:r>
          </a:p>
          <a:p xmlns:a="http://schemas.openxmlformats.org/drawingml/2006/main">
            <a:r>
              <a:t>**헷갈리는 경우.** 헤더를 temperature로 바꾸면 temperature_c라는 키가 저절로 생기지 않습니다. DictReader가 업무상 비슷한 단어를 연결하지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from pathlib import Path</a:t>
            </a:r>
          </a:p>
          <a:p xmlns:a="http://schemas.openxmlformats.org/drawingml/2006/main">
            <a:r>
              <a:t>source = Path(__file__).resolve().parent.parent / "data" / "readings.csv"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print(len(rows))</a:t>
            </a:r>
          </a:p>
          <a:p xmlns:a="http://schemas.openxmlformats.org/drawingml/2006/main">
            <a:r>
              <a:t>print(rows[0]["sensor_id"])</a:t>
            </a:r>
          </a:p>
          <a:p xmlns:a="http://schemas.openxmlformats.org/drawingml/2006/main">
            <a:r>
              <a:t>print(rows[0]["temperature_c"], type(rows[0]["temperature_c"]).__name__)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표준 도구를 가져옵니다. |</a:t>
            </a:r>
          </a:p>
          <a:p xmlns:a="http://schemas.openxmlformats.org/drawingml/2006/main">
            <a:r>
              <a:t>| 2 | `from pathlib import Path` | 파일 주소 도구를 가져옵니다. |</a:t>
            </a:r>
          </a:p>
          <a:p xmlns:a="http://schemas.openxmlformats.org/drawingml/2006/main">
            <a:r>
              <a:t>| 3 | `source = Path(__file__).resolve().parent.parent / "data" / "readings.csv"` | 기초 CSV 주소를 만듭니다. |</a:t>
            </a:r>
          </a:p>
          <a:p xmlns:a="http://schemas.openxmlformats.org/drawingml/2006/main">
            <a:r>
              <a:t>| 4 | `with source.open(encoding="utf-8", newline="") as file:` | 인코딩과 CSV 줄바꿈 설정으로 엽니다. |</a:t>
            </a:r>
          </a:p>
          <a:p xmlns:a="http://schemas.openxmlformats.org/drawingml/2006/main">
            <a:r>
              <a:t>| 5 | `    rows = list(csv.DictReader(file))` | 각 행을 헤더 이름의 딕셔너리로 읽습니다. |</a:t>
            </a:r>
          </a:p>
          <a:p xmlns:a="http://schemas.openxmlformats.org/drawingml/2006/main">
            <a:r>
              <a:t>| 6 | `print(len(rows))` | 데이터 건수를 출력합니다. |</a:t>
            </a:r>
          </a:p>
          <a:p xmlns:a="http://schemas.openxmlformats.org/drawingml/2006/main">
            <a:r>
              <a:t>| 7 | `print(rows[0]["sensor_id"])` | 첫 기록의 센서명을 읽습니다. |</a:t>
            </a:r>
          </a:p>
          <a:p xmlns:a="http://schemas.openxmlformats.org/drawingml/2006/main">
            <a:r>
              <a:t>| 8 | `print(rows[0]["temperature_c"], type(rows[0]["temperature_c"]).__name__)` | 첫 온도와 실제 자료형을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a:t>
            </a:r>
          </a:p>
          <a:p xmlns:a="http://schemas.openxmlformats.org/drawingml/2006/main">
            <a:r>
              <a:t>S01</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헤더와 키의 대응을 표시합니다.</a:t>
            </a:r>
          </a:p>
          <a:p xmlns:a="http://schemas.openxmlformats.org/drawingml/2006/main">
            <a:r>
              <a:t>2. 헤더를 제외한 네 건을 셉니다.</a:t>
            </a:r>
          </a:p>
          <a:p xmlns:a="http://schemas.openxmlformats.org/drawingml/2006/main">
            <a:r>
              <a:t>3. 온도의 값 모양과 자료형을 나눠 적습니다.</a:t>
            </a:r>
          </a:p>
          <a:p xmlns:a="http://schemas.openxmlformats.org/drawingml/2006/main">
            <a:r>
              <a:t>4. 빈 온도가 어떤 문자열일지 예상합니다.</a:t>
            </a:r>
          </a:p>
          <a:p xmlns:a="http://schemas.openxmlformats.org/drawingml/2006/main">
            <a:r>
              <a:t/>
            </a:r>
          </a:p>
          <a:p xmlns:a="http://schemas.openxmlformats.org/drawingml/2006/main">
            <a:r>
              <a:t>예상 결과: 4 / S01 /22.5 str. 헤더는 데이터가 아닙니다.</a:t>
            </a:r>
          </a:p>
          <a:p xmlns:a="http://schemas.openxmlformats.org/drawingml/2006/main">
            <a:r>
              <a:t/>
            </a:r>
          </a:p>
          <a:p xmlns:a="http://schemas.openxmlformats.org/drawingml/2006/main">
            <a:r>
              <a:t>확인 질문: 빈 셀은 자동으로 None이 되나요?</a:t>
            </a:r>
          </a:p>
          <a:p xmlns:a="http://schemas.openxmlformats.org/drawingml/2006/main">
            <a:r>
              <a:t/>
            </a:r>
          </a:p>
          <a:p xmlns:a="http://schemas.openxmlformats.org/drawingml/2006/main">
            <a:r>
              <a:t>막혔을 때: KeyError는 실제 헤더와 키를 비교합니다. 공백·인코딩도 실제 원문을 확인한 뒤 판단합니다.</a:t>
            </a:r>
          </a:p>
          <a:p xmlns:a="http://schemas.openxmlformats.org/drawingml/2006/main">
            <a:r>
              <a:t/>
            </a:r>
          </a:p>
          <a:p xmlns:a="http://schemas.openxmlformats.org/drawingml/2006/main">
            <a:r>
              <a:t>[활동 자료와 작성칸](practice-guide.md#a08--csv를-이름표가-있는-행으로-읽기)에서 A08를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**개념.** csv.DictReader는 헤더를 키로 삼아 각 데이터 행을 딕셔너리로 읽습니다. 기본 셀값은 문자열이므로 온도 계산 전에 의미에 맞는 해석이 필요합니다.</a:t>
            </a:r>
          </a:p>
          <a:p xmlns:a="http://schemas.openxmlformats.org/drawingml/2006/main">
            <a:r>
              <a:t/>
            </a:r>
          </a:p>
          <a:p xmlns:a="http://schemas.openxmlformats.org/drawingml/2006/main">
            <a:r>
              <a:t>**왜 필요한가.** 열 번호를 외우기보다 temperature_c라는 이름으로 읽으면 처리할 항목이 드러납니다. 실제 헤더가 약속과 맞아야 같은 이름으로 읽을 수 있습니다.</a:t>
            </a:r>
          </a:p>
          <a:p xmlns:a="http://schemas.openxmlformats.org/drawingml/2006/main">
            <a:r>
              <a:t/>
            </a:r>
          </a:p>
          <a:p xmlns:a="http://schemas.openxmlformats.org/drawingml/2006/main">
            <a:r>
              <a:t>**함께 보는 예.** 입력은 S01의 22.5,S02의 25.0,S03의 빈 온도,S04의 0.0 네 건입니다. 첫 온도의 화면 모양은 숫자 같지만 type은 str입니다.</a:t>
            </a:r>
          </a:p>
          <a:p xmlns:a="http://schemas.openxmlformats.org/drawingml/2006/main">
            <a:r>
              <a:t/>
            </a:r>
          </a:p>
          <a:p xmlns:a="http://schemas.openxmlformats.org/drawingml/2006/main">
            <a:r>
              <a:t>**헷갈리는 경우.** 헤더를 temperature로 바꾸면 temperature_c라는 키가 저절로 생기지 않습니다. DictReader가 업무상 비슷한 단어를 연결하지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from pathlib import Path</a:t>
            </a:r>
          </a:p>
          <a:p xmlns:a="http://schemas.openxmlformats.org/drawingml/2006/main">
            <a:r>
              <a:t>source = Path(__file__).resolve().parent.parent / "data" / "readings.csv"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print(len(rows))</a:t>
            </a:r>
          </a:p>
          <a:p xmlns:a="http://schemas.openxmlformats.org/drawingml/2006/main">
            <a:r>
              <a:t>print(rows[0]["sensor_id"])</a:t>
            </a:r>
          </a:p>
          <a:p xmlns:a="http://schemas.openxmlformats.org/drawingml/2006/main">
            <a:r>
              <a:t>print(rows[0]["temperature_c"], type(rows[0]["temperature_c"]).__name__)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표준 도구를 가져옵니다. |</a:t>
            </a:r>
          </a:p>
          <a:p xmlns:a="http://schemas.openxmlformats.org/drawingml/2006/main">
            <a:r>
              <a:t>| 2 | `from pathlib import Path` | 파일 주소 도구를 가져옵니다. |</a:t>
            </a:r>
          </a:p>
          <a:p xmlns:a="http://schemas.openxmlformats.org/drawingml/2006/main">
            <a:r>
              <a:t>| 3 | `source = Path(__file__).resolve().parent.parent / "data" / "readings.csv"` | 기초 CSV 주소를 만듭니다. |</a:t>
            </a:r>
          </a:p>
          <a:p xmlns:a="http://schemas.openxmlformats.org/drawingml/2006/main">
            <a:r>
              <a:t>| 4 | `with source.open(encoding="utf-8", newline="") as file:` | 인코딩과 CSV 줄바꿈 설정으로 엽니다. |</a:t>
            </a:r>
          </a:p>
          <a:p xmlns:a="http://schemas.openxmlformats.org/drawingml/2006/main">
            <a:r>
              <a:t>| 5 | `    rows = list(csv.DictReader(file))` | 각 행을 헤더 이름의 딕셔너리로 읽습니다. |</a:t>
            </a:r>
          </a:p>
          <a:p xmlns:a="http://schemas.openxmlformats.org/drawingml/2006/main">
            <a:r>
              <a:t>| 6 | `print(len(rows))` | 데이터 건수를 출력합니다. |</a:t>
            </a:r>
          </a:p>
          <a:p xmlns:a="http://schemas.openxmlformats.org/drawingml/2006/main">
            <a:r>
              <a:t>| 7 | `print(rows[0]["sensor_id"])` | 첫 기록의 센서명을 읽습니다. |</a:t>
            </a:r>
          </a:p>
          <a:p xmlns:a="http://schemas.openxmlformats.org/drawingml/2006/main">
            <a:r>
              <a:t>| 8 | `print(rows[0]["temperature_c"], type(rows[0]["temperature_c"]).__name__)` | 첫 온도와 실제 자료형을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a:t>
            </a:r>
          </a:p>
          <a:p xmlns:a="http://schemas.openxmlformats.org/drawingml/2006/main">
            <a:r>
              <a:t>S01</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헤더와 키의 대응을 표시합니다.</a:t>
            </a:r>
          </a:p>
          <a:p xmlns:a="http://schemas.openxmlformats.org/drawingml/2006/main">
            <a:r>
              <a:t>2. 헤더를 제외한 네 건을 셉니다.</a:t>
            </a:r>
          </a:p>
          <a:p xmlns:a="http://schemas.openxmlformats.org/drawingml/2006/main">
            <a:r>
              <a:t>3. 온도의 값 모양과 자료형을 나눠 적습니다.</a:t>
            </a:r>
          </a:p>
          <a:p xmlns:a="http://schemas.openxmlformats.org/drawingml/2006/main">
            <a:r>
              <a:t>4. 빈 온도가 어떤 문자열일지 예상합니다.</a:t>
            </a:r>
          </a:p>
          <a:p xmlns:a="http://schemas.openxmlformats.org/drawingml/2006/main">
            <a:r>
              <a:t/>
            </a:r>
          </a:p>
          <a:p xmlns:a="http://schemas.openxmlformats.org/drawingml/2006/main">
            <a:r>
              <a:t>예상 결과: 4 / S01 /22.5 str. 헤더는 데이터가 아닙니다.</a:t>
            </a:r>
          </a:p>
          <a:p xmlns:a="http://schemas.openxmlformats.org/drawingml/2006/main">
            <a:r>
              <a:t/>
            </a:r>
          </a:p>
          <a:p xmlns:a="http://schemas.openxmlformats.org/drawingml/2006/main">
            <a:r>
              <a:t>확인 질문: 빈 셀은 자동으로 None이 되나요?</a:t>
            </a:r>
          </a:p>
          <a:p xmlns:a="http://schemas.openxmlformats.org/drawingml/2006/main">
            <a:r>
              <a:t/>
            </a:r>
          </a:p>
          <a:p xmlns:a="http://schemas.openxmlformats.org/drawingml/2006/main">
            <a:r>
              <a:t>막혔을 때: KeyError는 실제 헤더와 키를 비교합니다. 공백·인코딩도 실제 원문을 확인한 뒤 판단합니다.</a:t>
            </a:r>
          </a:p>
          <a:p xmlns:a="http://schemas.openxmlformats.org/drawingml/2006/main">
            <a:r>
              <a:t/>
            </a:r>
          </a:p>
          <a:p xmlns:a="http://schemas.openxmlformats.org/drawingml/2006/main">
            <a:r>
              <a:t>[활동 자료와 작성칸](practice-guide.md#a08--csv를-이름표가-있는-행으로-읽기)에서 A08를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**개념.** csv.DictReader는 헤더를 키로 삼아 각 데이터 행을 딕셔너리로 읽습니다. 기본 셀값은 문자열이므로 온도 계산 전에 의미에 맞는 해석이 필요합니다.</a:t>
            </a:r>
          </a:p>
          <a:p xmlns:a="http://schemas.openxmlformats.org/drawingml/2006/main">
            <a:r>
              <a:t/>
            </a:r>
          </a:p>
          <a:p xmlns:a="http://schemas.openxmlformats.org/drawingml/2006/main">
            <a:r>
              <a:t>**왜 필요한가.** 열 번호를 외우기보다 temperature_c라는 이름으로 읽으면 처리할 항목이 드러납니다. 실제 헤더가 약속과 맞아야 같은 이름으로 읽을 수 있습니다.</a:t>
            </a:r>
          </a:p>
          <a:p xmlns:a="http://schemas.openxmlformats.org/drawingml/2006/main">
            <a:r>
              <a:t/>
            </a:r>
          </a:p>
          <a:p xmlns:a="http://schemas.openxmlformats.org/drawingml/2006/main">
            <a:r>
              <a:t>**함께 보는 예.** 입력은 S01의 22.5,S02의 25.0,S03의 빈 온도,S04의 0.0 네 건입니다. 첫 온도의 화면 모양은 숫자 같지만 type은 str입니다.</a:t>
            </a:r>
          </a:p>
          <a:p xmlns:a="http://schemas.openxmlformats.org/drawingml/2006/main">
            <a:r>
              <a:t/>
            </a:r>
          </a:p>
          <a:p xmlns:a="http://schemas.openxmlformats.org/drawingml/2006/main">
            <a:r>
              <a:t>**헷갈리는 경우.** 헤더를 temperature로 바꾸면 temperature_c라는 키가 저절로 생기지 않습니다. DictReader가 업무상 비슷한 단어를 연결하지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from pathlib import Path</a:t>
            </a:r>
          </a:p>
          <a:p xmlns:a="http://schemas.openxmlformats.org/drawingml/2006/main">
            <a:r>
              <a:t>source = Path(__file__).resolve().parent.parent / "data" / "readings.csv"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print(len(rows))</a:t>
            </a:r>
          </a:p>
          <a:p xmlns:a="http://schemas.openxmlformats.org/drawingml/2006/main">
            <a:r>
              <a:t>print(rows[0]["sensor_id"])</a:t>
            </a:r>
          </a:p>
          <a:p xmlns:a="http://schemas.openxmlformats.org/drawingml/2006/main">
            <a:r>
              <a:t>print(rows[0]["temperature_c"], type(rows[0]["temperature_c"]).__name__)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표준 도구를 가져옵니다. |</a:t>
            </a:r>
          </a:p>
          <a:p xmlns:a="http://schemas.openxmlformats.org/drawingml/2006/main">
            <a:r>
              <a:t>| 2 | `from pathlib import Path` | 파일 주소 도구를 가져옵니다. |</a:t>
            </a:r>
          </a:p>
          <a:p xmlns:a="http://schemas.openxmlformats.org/drawingml/2006/main">
            <a:r>
              <a:t>| 3 | `source = Path(__file__).resolve().parent.parent / "data" / "readings.csv"` | 기초 CSV 주소를 만듭니다. |</a:t>
            </a:r>
          </a:p>
          <a:p xmlns:a="http://schemas.openxmlformats.org/drawingml/2006/main">
            <a:r>
              <a:t>| 4 | `with source.open(encoding="utf-8", newline="") as file:` | 인코딩과 CSV 줄바꿈 설정으로 엽니다. |</a:t>
            </a:r>
          </a:p>
          <a:p xmlns:a="http://schemas.openxmlformats.org/drawingml/2006/main">
            <a:r>
              <a:t>| 5 | `    rows = list(csv.DictReader(file))` | 각 행을 헤더 이름의 딕셔너리로 읽습니다. |</a:t>
            </a:r>
          </a:p>
          <a:p xmlns:a="http://schemas.openxmlformats.org/drawingml/2006/main">
            <a:r>
              <a:t>| 6 | `print(len(rows))` | 데이터 건수를 출력합니다. |</a:t>
            </a:r>
          </a:p>
          <a:p xmlns:a="http://schemas.openxmlformats.org/drawingml/2006/main">
            <a:r>
              <a:t>| 7 | `print(rows[0]["sensor_id"])` | 첫 기록의 센서명을 읽습니다. |</a:t>
            </a:r>
          </a:p>
          <a:p xmlns:a="http://schemas.openxmlformats.org/drawingml/2006/main">
            <a:r>
              <a:t>| 8 | `print(rows[0]["temperature_c"], type(rows[0]["temperature_c"]).__name__)` | 첫 온도와 실제 자료형을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a:t>
            </a:r>
          </a:p>
          <a:p xmlns:a="http://schemas.openxmlformats.org/drawingml/2006/main">
            <a:r>
              <a:t>S01</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헤더와 키의 대응을 표시합니다.</a:t>
            </a:r>
          </a:p>
          <a:p xmlns:a="http://schemas.openxmlformats.org/drawingml/2006/main">
            <a:r>
              <a:t>2. 헤더를 제외한 네 건을 셉니다.</a:t>
            </a:r>
          </a:p>
          <a:p xmlns:a="http://schemas.openxmlformats.org/drawingml/2006/main">
            <a:r>
              <a:t>3. 온도의 값 모양과 자료형을 나눠 적습니다.</a:t>
            </a:r>
          </a:p>
          <a:p xmlns:a="http://schemas.openxmlformats.org/drawingml/2006/main">
            <a:r>
              <a:t>4. 빈 온도가 어떤 문자열일지 예상합니다.</a:t>
            </a:r>
          </a:p>
          <a:p xmlns:a="http://schemas.openxmlformats.org/drawingml/2006/main">
            <a:r>
              <a:t/>
            </a:r>
          </a:p>
          <a:p xmlns:a="http://schemas.openxmlformats.org/drawingml/2006/main">
            <a:r>
              <a:t>예상 결과: 4 / S01 /22.5 str. 헤더는 데이터가 아닙니다.</a:t>
            </a:r>
          </a:p>
          <a:p xmlns:a="http://schemas.openxmlformats.org/drawingml/2006/main">
            <a:r>
              <a:t/>
            </a:r>
          </a:p>
          <a:p xmlns:a="http://schemas.openxmlformats.org/drawingml/2006/main">
            <a:r>
              <a:t>확인 질문: 빈 셀은 자동으로 None이 되나요?</a:t>
            </a:r>
          </a:p>
          <a:p xmlns:a="http://schemas.openxmlformats.org/drawingml/2006/main">
            <a:r>
              <a:t/>
            </a:r>
          </a:p>
          <a:p xmlns:a="http://schemas.openxmlformats.org/drawingml/2006/main">
            <a:r>
              <a:t>막혔을 때: KeyError는 실제 헤더와 키를 비교합니다. 공백·인코딩도 실제 원문을 확인한 뒤 판단합니다.</a:t>
            </a:r>
          </a:p>
          <a:p xmlns:a="http://schemas.openxmlformats.org/drawingml/2006/main">
            <a:r>
              <a:t/>
            </a:r>
          </a:p>
          <a:p xmlns:a="http://schemas.openxmlformats.org/drawingml/2006/main">
            <a:r>
              <a:t>[활동 자료와 작성칸](practice-guide.md#a08--csv를-이름표가-있는-행으로-읽기)에서 A08를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강의 화면용 독립 완결 예입니다. 현재 위치 course, work 폴더가 있는 조건입니다. json.dumps는 값 묶음을 JSON 텍스트로 만들며 ensure_ascii=False는 한글 표시를 유지합니다. w는 쓰기 모드이므로 결과 파일 주소만 지정합니다. 입력 원자료 주소를 쓰지 않습니다. 화면은 4 1을 표시하고 work/output_summary.json 파일이 생깁니다. 원본 A09의 경로 구성과 재읽기 전체는 상세 노트에 보존합니다.</a:t>
            </a:r>
          </a:p>
          <a:p xmlns:a="http://schemas.openxmlformats.org/drawingml/2006/main">
            <a:r>
              <a:t/>
            </a:r>
          </a:p>
          <a:p xmlns:a="http://schemas.openxmlformats.org/drawingml/2006/main">
            <a:r>
              <a:t>[활동 A09 상세 원문]</a:t>
            </a:r>
          </a:p>
          <a:p xmlns:a="http://schemas.openxmlformats.org/drawingml/2006/main">
            <a:r>
              <a:t>**개념.** json.dumps는 프로그램 값을 JSON 텍스트로 표현합니다. 그 텍스트를 경로에 써야 결과 파일이 생깁니다. 입력 읽기와 결과 저장은 별도 작업입니다.</a:t>
            </a:r>
          </a:p>
          <a:p xmlns:a="http://schemas.openxmlformats.org/drawingml/2006/main">
            <a:r>
              <a:t/>
            </a:r>
          </a:p>
          <a:p xmlns:a="http://schemas.openxmlformats.org/drawingml/2006/main">
            <a:r>
              <a:t>**왜 필요한가.** 화면 출력만 있으면 다음 사람이 결과를 재사용하기 어렵습니다. 입력 원자료를 덮어쓰지 않도록 work의 결과 경로를 명확히 정합니다.</a:t>
            </a:r>
          </a:p>
          <a:p xmlns:a="http://schemas.openxmlformats.org/drawingml/2006/main">
            <a:r>
              <a:t/>
            </a:r>
          </a:p>
          <a:p xmlns:a="http://schemas.openxmlformats.org/drawingml/2006/main">
            <a:r>
              <a:t>**함께 보는 예.** 건수 4와 미측정 1을 JSON으로 저장합니다. ensure_ascii=False는 한글을 읽기 쉬운 모양으로 남기고 indent=2는 들여쓰기를 넣습니다. 저장한 파일을 다시 읽어 값이 같은지 봅니다.</a:t>
            </a:r>
          </a:p>
          <a:p xmlns:a="http://schemas.openxmlformats.org/drawingml/2006/main">
            <a:r>
              <a:t/>
            </a:r>
          </a:p>
          <a:p xmlns:a="http://schemas.openxmlformats.org/drawingml/2006/main">
            <a:r>
              <a:t>**헷갈리는 경우.** .json이라는 이름만으로 내용이 JSON이 되지는 않습니다. 딕셔너리 화면 문자열을 그대로 쓰기보다 JSON 변환 도구를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json</a:t>
            </a:r>
          </a:p>
          <a:p xmlns:a="http://schemas.openxmlformats.org/drawingml/2006/main">
            <a:r>
              <a:t>from pathlib import Path</a:t>
            </a:r>
          </a:p>
          <a:p xmlns:a="http://schemas.openxmlformats.org/drawingml/2006/main">
            <a:r>
              <a:t>base = Path(__file__).resolve().parent.parent</a:t>
            </a:r>
          </a:p>
          <a:p xmlns:a="http://schemas.openxmlformats.org/drawingml/2006/main">
            <a:r>
              <a:t>summary = {"건수": 4, "미측정": 1}</a:t>
            </a:r>
          </a:p>
          <a:p xmlns:a="http://schemas.openxmlformats.org/drawingml/2006/main">
            <a:r>
              <a:t>text = json.dumps(summary, ensure_ascii=False, indent=2)</a:t>
            </a:r>
          </a:p>
          <a:p xmlns:a="http://schemas.openxmlformats.org/drawingml/2006/main">
            <a:r>
              <a:t>target = base / "work" / "output_summary.json"</a:t>
            </a:r>
          </a:p>
          <a:p xmlns:a="http://schemas.openxmlformats.org/drawingml/2006/main">
            <a:r>
              <a:t>target.write_text(text, encoding="utf-8")</a:t>
            </a:r>
          </a:p>
          <a:p xmlns:a="http://schemas.openxmlformats.org/drawingml/2006/main">
            <a:r>
              <a:t>loaded = json.loads(target.read_text(encoding="utf-8"))</a:t>
            </a:r>
          </a:p>
          <a:p xmlns:a="http://schemas.openxmlformats.org/drawingml/2006/main">
            <a:r>
              <a:t>print(loaded["건수"], loaded["미측정"])</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json` | JSON 도구를 가져옵니다. |</a:t>
            </a:r>
          </a:p>
          <a:p xmlns:a="http://schemas.openxmlformats.org/drawingml/2006/main">
            <a:r>
              <a:t>| 2 | `from pathlib import Path` | 주소 도구를 가져옵니다. |</a:t>
            </a:r>
          </a:p>
          <a:p xmlns:a="http://schemas.openxmlformats.org/drawingml/2006/main">
            <a:r>
              <a:t>| 3 | `base = Path(__file__).resolve().parent.parent` | course를 찾습니다. |</a:t>
            </a:r>
          </a:p>
          <a:p xmlns:a="http://schemas.openxmlformats.org/drawingml/2006/main">
            <a:r>
              <a:t>| 4 | `summary = {"건수": 4, "미측정": 1}` | 결과 객체를 만듭니다. |</a:t>
            </a:r>
          </a:p>
          <a:p xmlns:a="http://schemas.openxmlformats.org/drawingml/2006/main">
            <a:r>
              <a:t>| 5 | `text = json.dumps(summary, ensure_ascii=False, indent=2)` | JSON 텍스트로 표현합니다. |</a:t>
            </a:r>
          </a:p>
          <a:p xmlns:a="http://schemas.openxmlformats.org/drawingml/2006/main">
            <a:r>
              <a:t>| 6 | `target = base / "work" / "output_summary.json"` | work의 결과 주소를 정합니다. |</a:t>
            </a:r>
          </a:p>
          <a:p xmlns:a="http://schemas.openxmlformats.org/drawingml/2006/main">
            <a:r>
              <a:t>| 7 | `target.write_text(text, encoding="utf-8")` | UTF-8로 저장합니다. |</a:t>
            </a:r>
          </a:p>
          <a:p xmlns:a="http://schemas.openxmlformats.org/drawingml/2006/main">
            <a:r>
              <a:t>| 8 | `loaded = json.loads(target.read_text(encoding="utf-8"))` | 저장한 파일을 다시 읽어 해석합니다. |</a:t>
            </a:r>
          </a:p>
          <a:p xmlns:a="http://schemas.openxmlformats.org/drawingml/2006/main">
            <a:r>
              <a:t>| 9 | `print(loaded["건수"], loaded["미측정"])` | 다시 읽은 두 값을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4 1</a:t>
            </a:r>
          </a:p>
          <a:p xmlns:a="http://schemas.openxmlformats.org/drawingml/2006/main">
            <a:r>
              <a:t>```</a:t>
            </a:r>
          </a:p>
          <a:p xmlns:a="http://schemas.openxmlformats.org/drawingml/2006/main">
            <a:r>
              <a:t/>
            </a:r>
          </a:p>
          <a:p xmlns:a="http://schemas.openxmlformats.org/drawingml/2006/main">
            <a:r>
              <a:t>작은 수정: `"건수": 4`를 `"건수": 5`로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5 1</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data와 work의 역할을 구별합니다.</a:t>
            </a:r>
          </a:p>
          <a:p xmlns:a="http://schemas.openxmlformats.org/drawingml/2006/main">
            <a:r>
              <a:t>2. 실행 후 output_summary.json을 엽니다.</a:t>
            </a:r>
          </a:p>
          <a:p xmlns:a="http://schemas.openxmlformats.org/drawingml/2006/main">
            <a:r>
              <a:t>3. 건수만 5로 바꾸고 다시 실행합니다.</a:t>
            </a:r>
          </a:p>
          <a:p xmlns:a="http://schemas.openxmlformats.org/drawingml/2006/main">
            <a:r>
              <a:t>4. 파일 저장 줄과 화면 출력 줄을 표시합니다.</a:t>
            </a:r>
          </a:p>
          <a:p xmlns:a="http://schemas.openxmlformats.org/drawingml/2006/main">
            <a:r>
              <a:t/>
            </a:r>
          </a:p>
          <a:p xmlns:a="http://schemas.openxmlformats.org/drawingml/2006/main">
            <a:r>
              <a:t>예상 결과: 처음 4 1, 수정 후 5 1. 저장 파일의 숫자도 바뀝니다.</a:t>
            </a:r>
          </a:p>
          <a:p xmlns:a="http://schemas.openxmlformats.org/drawingml/2006/main">
            <a:r>
              <a:t/>
            </a:r>
          </a:p>
          <a:p xmlns:a="http://schemas.openxmlformats.org/drawingml/2006/main">
            <a:r>
              <a:t>확인 질문: print와 write_text는 같은 행동인가요?</a:t>
            </a:r>
          </a:p>
          <a:p xmlns:a="http://schemas.openxmlformats.org/drawingml/2006/main">
            <a:r>
              <a:t/>
            </a:r>
          </a:p>
          <a:p xmlns:a="http://schemas.openxmlformats.org/drawingml/2006/main">
            <a:r>
              <a:t>막혔을 때: 쓰기 권한이 없으면 강사와 저장 위치를 확인합니다. 원자료를 출력 주소로 바꾸지 않습니다.</a:t>
            </a:r>
          </a:p>
          <a:p xmlns:a="http://schemas.openxmlformats.org/drawingml/2006/main">
            <a:r>
              <a:t/>
            </a:r>
          </a:p>
          <a:p xmlns:a="http://schemas.openxmlformats.org/drawingml/2006/main">
            <a:r>
              <a:t>[활동 자료와 작성칸](practice-guide.md#a09--json-결과를-새-파일로-저장하기)에서 A09를 엽니다.</a:t>
            </a:r>
          </a:p>
          <a:p xmlns:a="http://schemas.openxmlformats.org/drawingml/2006/main">
            <a:r>
              <a:t/>
            </a:r>
          </a:p>
          <a:p xmlns:a="http://schemas.openxmlformats.org/drawingml/2006/main">
            <a:r>
              <a:t># 4구간 · 오류를 단서로 읽기</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json.dumps는 프로그램 값을 JSON 텍스트로 표현합니다. 그 텍스트를 경로에 써야 결과 파일이 생깁니다. 입력 읽기와 결과 저장은 별도 작업입니다.</a:t>
            </a:r>
          </a:p>
          <a:p xmlns:a="http://schemas.openxmlformats.org/drawingml/2006/main">
            <a:r>
              <a:t/>
            </a:r>
          </a:p>
          <a:p xmlns:a="http://schemas.openxmlformats.org/drawingml/2006/main">
            <a:r>
              <a:t>**왜 필요한가.** 화면 출력만 있으면 다음 사람이 결과를 재사용하기 어렵습니다. 입력 원자료를 덮어쓰지 않도록 work의 결과 경로를 명확히 정합니다.</a:t>
            </a:r>
          </a:p>
          <a:p xmlns:a="http://schemas.openxmlformats.org/drawingml/2006/main">
            <a:r>
              <a:t/>
            </a:r>
          </a:p>
          <a:p xmlns:a="http://schemas.openxmlformats.org/drawingml/2006/main">
            <a:r>
              <a:t>**함께 보는 예.** 건수 4와 미측정 1을 JSON으로 저장합니다. ensure_ascii=False는 한글을 읽기 쉬운 모양으로 남기고 indent=2는 들여쓰기를 넣습니다. 저장한 파일을 다시 읽어 값이 같은지 봅니다.</a:t>
            </a:r>
          </a:p>
          <a:p xmlns:a="http://schemas.openxmlformats.org/drawingml/2006/main">
            <a:r>
              <a:t/>
            </a:r>
          </a:p>
          <a:p xmlns:a="http://schemas.openxmlformats.org/drawingml/2006/main">
            <a:r>
              <a:t>**헷갈리는 경우.** .json이라는 이름만으로 내용이 JSON이 되지는 않습니다. 딕셔너리 화면 문자열을 그대로 쓰기보다 JSON 변환 도구를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json</a:t>
            </a:r>
          </a:p>
          <a:p xmlns:a="http://schemas.openxmlformats.org/drawingml/2006/main">
            <a:r>
              <a:t>from pathlib import Path</a:t>
            </a:r>
          </a:p>
          <a:p xmlns:a="http://schemas.openxmlformats.org/drawingml/2006/main">
            <a:r>
              <a:t>base = Path(__file__).resolve().parent.parent</a:t>
            </a:r>
          </a:p>
          <a:p xmlns:a="http://schemas.openxmlformats.org/drawingml/2006/main">
            <a:r>
              <a:t>summary = {"건수": 4, "미측정": 1}</a:t>
            </a:r>
          </a:p>
          <a:p xmlns:a="http://schemas.openxmlformats.org/drawingml/2006/main">
            <a:r>
              <a:t>text = json.dumps(summary, ensure_ascii=False, indent=2)</a:t>
            </a:r>
          </a:p>
          <a:p xmlns:a="http://schemas.openxmlformats.org/drawingml/2006/main">
            <a:r>
              <a:t>target = base / "work" / "output_summary.json"</a:t>
            </a:r>
          </a:p>
          <a:p xmlns:a="http://schemas.openxmlformats.org/drawingml/2006/main">
            <a:r>
              <a:t>target.write_text(text, encoding="utf-8")</a:t>
            </a:r>
          </a:p>
          <a:p xmlns:a="http://schemas.openxmlformats.org/drawingml/2006/main">
            <a:r>
              <a:t>loaded = json.loads(target.read_text(encoding="utf-8"))</a:t>
            </a:r>
          </a:p>
          <a:p xmlns:a="http://schemas.openxmlformats.org/drawingml/2006/main">
            <a:r>
              <a:t>print(loaded["건수"], loaded["미측정"])</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json` | JSON 도구를 가져옵니다. |</a:t>
            </a:r>
          </a:p>
          <a:p xmlns:a="http://schemas.openxmlformats.org/drawingml/2006/main">
            <a:r>
              <a:t>| 2 | `from pathlib import Path` | 주소 도구를 가져옵니다. |</a:t>
            </a:r>
          </a:p>
          <a:p xmlns:a="http://schemas.openxmlformats.org/drawingml/2006/main">
            <a:r>
              <a:t>| 3 | `base = Path(__file__).resolve().parent.parent` | course를 찾습니다. |</a:t>
            </a:r>
          </a:p>
          <a:p xmlns:a="http://schemas.openxmlformats.org/drawingml/2006/main">
            <a:r>
              <a:t>| 4 | `summary = {"건수": 4, "미측정": 1}` | 결과 객체를 만듭니다. |</a:t>
            </a:r>
          </a:p>
          <a:p xmlns:a="http://schemas.openxmlformats.org/drawingml/2006/main">
            <a:r>
              <a:t>| 5 | `text = json.dumps(summary, ensure_ascii=False, indent=2)` | JSON 텍스트로 표현합니다. |</a:t>
            </a:r>
          </a:p>
          <a:p xmlns:a="http://schemas.openxmlformats.org/drawingml/2006/main">
            <a:r>
              <a:t>| 6 | `target = base / "work" / "output_summary.json"` | work의 결과 주소를 정합니다. |</a:t>
            </a:r>
          </a:p>
          <a:p xmlns:a="http://schemas.openxmlformats.org/drawingml/2006/main">
            <a:r>
              <a:t>| 7 | `target.write_text(text, encoding="utf-8")` | UTF-8로 저장합니다. |</a:t>
            </a:r>
          </a:p>
          <a:p xmlns:a="http://schemas.openxmlformats.org/drawingml/2006/main">
            <a:r>
              <a:t>| 8 | `loaded = json.loads(target.read_text(encoding="utf-8"))` | 저장한 파일을 다시 읽어 해석합니다. |</a:t>
            </a:r>
          </a:p>
          <a:p xmlns:a="http://schemas.openxmlformats.org/drawingml/2006/main">
            <a:r>
              <a:t>| 9 | `print(loaded["건수"], loaded["미측정"])` | 다시 읽은 두 값을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4 1</a:t>
            </a:r>
          </a:p>
          <a:p xmlns:a="http://schemas.openxmlformats.org/drawingml/2006/main">
            <a:r>
              <a:t>```</a:t>
            </a:r>
          </a:p>
          <a:p xmlns:a="http://schemas.openxmlformats.org/drawingml/2006/main">
            <a:r>
              <a:t/>
            </a:r>
          </a:p>
          <a:p xmlns:a="http://schemas.openxmlformats.org/drawingml/2006/main">
            <a:r>
              <a:t>작은 수정: `"건수": 4`를 `"건수": 5`로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5 1</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data와 work의 역할을 구별합니다.</a:t>
            </a:r>
          </a:p>
          <a:p xmlns:a="http://schemas.openxmlformats.org/drawingml/2006/main">
            <a:r>
              <a:t>2. 실행 후 output_summary.json을 엽니다.</a:t>
            </a:r>
          </a:p>
          <a:p xmlns:a="http://schemas.openxmlformats.org/drawingml/2006/main">
            <a:r>
              <a:t>3. 건수만 5로 바꾸고 다시 실행합니다.</a:t>
            </a:r>
          </a:p>
          <a:p xmlns:a="http://schemas.openxmlformats.org/drawingml/2006/main">
            <a:r>
              <a:t>4. 파일 저장 줄과 화면 출력 줄을 표시합니다.</a:t>
            </a:r>
          </a:p>
          <a:p xmlns:a="http://schemas.openxmlformats.org/drawingml/2006/main">
            <a:r>
              <a:t/>
            </a:r>
          </a:p>
          <a:p xmlns:a="http://schemas.openxmlformats.org/drawingml/2006/main">
            <a:r>
              <a:t>예상 결과: 처음 4 1, 수정 후 5 1. 저장 파일의 숫자도 바뀝니다.</a:t>
            </a:r>
          </a:p>
          <a:p xmlns:a="http://schemas.openxmlformats.org/drawingml/2006/main">
            <a:r>
              <a:t/>
            </a:r>
          </a:p>
          <a:p xmlns:a="http://schemas.openxmlformats.org/drawingml/2006/main">
            <a:r>
              <a:t>확인 질문: print와 write_text는 같은 행동인가요?</a:t>
            </a:r>
          </a:p>
          <a:p xmlns:a="http://schemas.openxmlformats.org/drawingml/2006/main">
            <a:r>
              <a:t/>
            </a:r>
          </a:p>
          <a:p xmlns:a="http://schemas.openxmlformats.org/drawingml/2006/main">
            <a:r>
              <a:t>막혔을 때: 쓰기 권한이 없으면 강사와 저장 위치를 확인합니다. 원자료를 출력 주소로 바꾸지 않습니다.</a:t>
            </a:r>
          </a:p>
          <a:p xmlns:a="http://schemas.openxmlformats.org/drawingml/2006/main">
            <a:r>
              <a:t/>
            </a:r>
          </a:p>
          <a:p xmlns:a="http://schemas.openxmlformats.org/drawingml/2006/main">
            <a:r>
              <a:t>[활동 자료와 작성칸](practice-guide.md#a09--json-결과를-새-파일로-저장하기)에서 A09를 엽니다.</a:t>
            </a:r>
          </a:p>
          <a:p xmlns:a="http://schemas.openxmlformats.org/drawingml/2006/main">
            <a:r>
              <a:t/>
            </a:r>
          </a:p>
          <a:p xmlns:a="http://schemas.openxmlformats.org/drawingml/2006/main">
            <a:r>
              <a:t># 4구간 · 오류를 단서로 읽기</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핵심 질문과 해설:</a:t>
            </a:r>
          </a:p>
          <a:p xmlns:a="http://schemas.openxmlformats.org/drawingml/2006/main">
            <a:r>
              <a:t>CSV 값은 숫자로 자동 읽히나요? 기본 읽기는 문자열이므로 의미에 맞는 해석 단계를 둡니다.</a:t>
            </a:r>
          </a:p>
          <a:p xmlns:a="http://schemas.openxmlformats.org/drawingml/2006/main">
            <a:r>
              <a:t>출력했으면 저장도 끝났나요? 화면 표시와 파일 쓰기·재읽기 확인은 다른 작업입니다.</a:t>
            </a:r>
          </a:p>
          <a:p xmlns:a="http://schemas.openxmlformats.org/drawingml/2006/main">
            <a:r>
              <a:t>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json.dumps는 프로그램 값을 JSON 텍스트로 표현합니다. 그 텍스트를 경로에 써야 결과 파일이 생깁니다. 입력 읽기와 결과 저장은 별도 작업입니다.</a:t>
            </a:r>
          </a:p>
          <a:p xmlns:a="http://schemas.openxmlformats.org/drawingml/2006/main">
            <a:r>
              <a:t/>
            </a:r>
          </a:p>
          <a:p xmlns:a="http://schemas.openxmlformats.org/drawingml/2006/main">
            <a:r>
              <a:t>**왜 필요한가.** 화면 출력만 있으면 다음 사람이 결과를 재사용하기 어렵습니다. 입력 원자료를 덮어쓰지 않도록 work의 결과 경로를 명확히 정합니다.</a:t>
            </a:r>
          </a:p>
          <a:p xmlns:a="http://schemas.openxmlformats.org/drawingml/2006/main">
            <a:r>
              <a:t/>
            </a:r>
          </a:p>
          <a:p xmlns:a="http://schemas.openxmlformats.org/drawingml/2006/main">
            <a:r>
              <a:t>**함께 보는 예.** 건수 4와 미측정 1을 JSON으로 저장합니다. ensure_ascii=False는 한글을 읽기 쉬운 모양으로 남기고 indent=2는 들여쓰기를 넣습니다. 저장한 파일을 다시 읽어 값이 같은지 봅니다.</a:t>
            </a:r>
          </a:p>
          <a:p xmlns:a="http://schemas.openxmlformats.org/drawingml/2006/main">
            <a:r>
              <a:t/>
            </a:r>
          </a:p>
          <a:p xmlns:a="http://schemas.openxmlformats.org/drawingml/2006/main">
            <a:r>
              <a:t>**헷갈리는 경우.** .json이라는 이름만으로 내용이 JSON이 되지는 않습니다. 딕셔너리 화면 문자열을 그대로 쓰기보다 JSON 변환 도구를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json</a:t>
            </a:r>
          </a:p>
          <a:p xmlns:a="http://schemas.openxmlformats.org/drawingml/2006/main">
            <a:r>
              <a:t>from pathlib import Path</a:t>
            </a:r>
          </a:p>
          <a:p xmlns:a="http://schemas.openxmlformats.org/drawingml/2006/main">
            <a:r>
              <a:t>base = Path(__file__).resolve().parent.parent</a:t>
            </a:r>
          </a:p>
          <a:p xmlns:a="http://schemas.openxmlformats.org/drawingml/2006/main">
            <a:r>
              <a:t>summary = {"건수": 4, "미측정": 1}</a:t>
            </a:r>
          </a:p>
          <a:p xmlns:a="http://schemas.openxmlformats.org/drawingml/2006/main">
            <a:r>
              <a:t>text = json.dumps(summary, ensure_ascii=False, indent=2)</a:t>
            </a:r>
          </a:p>
          <a:p xmlns:a="http://schemas.openxmlformats.org/drawingml/2006/main">
            <a:r>
              <a:t>target = base / "work" / "output_summary.json"</a:t>
            </a:r>
          </a:p>
          <a:p xmlns:a="http://schemas.openxmlformats.org/drawingml/2006/main">
            <a:r>
              <a:t>target.write_text(text, encoding="utf-8")</a:t>
            </a:r>
          </a:p>
          <a:p xmlns:a="http://schemas.openxmlformats.org/drawingml/2006/main">
            <a:r>
              <a:t>loaded = json.loads(target.read_text(encoding="utf-8"))</a:t>
            </a:r>
          </a:p>
          <a:p xmlns:a="http://schemas.openxmlformats.org/drawingml/2006/main">
            <a:r>
              <a:t>print(loaded["건수"], loaded["미측정"])</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json` | JSON 도구를 가져옵니다. |</a:t>
            </a:r>
          </a:p>
          <a:p xmlns:a="http://schemas.openxmlformats.org/drawingml/2006/main">
            <a:r>
              <a:t>| 2 | `from pathlib import Path` | 주소 도구를 가져옵니다. |</a:t>
            </a:r>
          </a:p>
          <a:p xmlns:a="http://schemas.openxmlformats.org/drawingml/2006/main">
            <a:r>
              <a:t>| 3 | `base = Path(__file__).resolve().parent.parent` | course를 찾습니다. |</a:t>
            </a:r>
          </a:p>
          <a:p xmlns:a="http://schemas.openxmlformats.org/drawingml/2006/main">
            <a:r>
              <a:t>| 4 | `summary = {"건수": 4, "미측정": 1}` | 결과 객체를 만듭니다. |</a:t>
            </a:r>
          </a:p>
          <a:p xmlns:a="http://schemas.openxmlformats.org/drawingml/2006/main">
            <a:r>
              <a:t>| 5 | `text = json.dumps(summary, ensure_ascii=False, indent=2)` | JSON 텍스트로 표현합니다. |</a:t>
            </a:r>
          </a:p>
          <a:p xmlns:a="http://schemas.openxmlformats.org/drawingml/2006/main">
            <a:r>
              <a:t>| 6 | `target = base / "work" / "output_summary.json"` | work의 결과 주소를 정합니다. |</a:t>
            </a:r>
          </a:p>
          <a:p xmlns:a="http://schemas.openxmlformats.org/drawingml/2006/main">
            <a:r>
              <a:t>| 7 | `target.write_text(text, encoding="utf-8")` | UTF-8로 저장합니다. |</a:t>
            </a:r>
          </a:p>
          <a:p xmlns:a="http://schemas.openxmlformats.org/drawingml/2006/main">
            <a:r>
              <a:t>| 8 | `loaded = json.loads(target.read_text(encoding="utf-8"))` | 저장한 파일을 다시 읽어 해석합니다. |</a:t>
            </a:r>
          </a:p>
          <a:p xmlns:a="http://schemas.openxmlformats.org/drawingml/2006/main">
            <a:r>
              <a:t>| 9 | `print(loaded["건수"], loaded["미측정"])` | 다시 읽은 두 값을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4 1</a:t>
            </a:r>
          </a:p>
          <a:p xmlns:a="http://schemas.openxmlformats.org/drawingml/2006/main">
            <a:r>
              <a:t>```</a:t>
            </a:r>
          </a:p>
          <a:p xmlns:a="http://schemas.openxmlformats.org/drawingml/2006/main">
            <a:r>
              <a:t/>
            </a:r>
          </a:p>
          <a:p xmlns:a="http://schemas.openxmlformats.org/drawingml/2006/main">
            <a:r>
              <a:t>작은 수정: `"건수": 4`를 `"건수": 5`로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5 1</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data와 work의 역할을 구별합니다.</a:t>
            </a:r>
          </a:p>
          <a:p xmlns:a="http://schemas.openxmlformats.org/drawingml/2006/main">
            <a:r>
              <a:t>2. 실행 후 output_summary.json을 엽니다.</a:t>
            </a:r>
          </a:p>
          <a:p xmlns:a="http://schemas.openxmlformats.org/drawingml/2006/main">
            <a:r>
              <a:t>3. 건수만 5로 바꾸고 다시 실행합니다.</a:t>
            </a:r>
          </a:p>
          <a:p xmlns:a="http://schemas.openxmlformats.org/drawingml/2006/main">
            <a:r>
              <a:t>4. 파일 저장 줄과 화면 출력 줄을 표시합니다.</a:t>
            </a:r>
          </a:p>
          <a:p xmlns:a="http://schemas.openxmlformats.org/drawingml/2006/main">
            <a:r>
              <a:t/>
            </a:r>
          </a:p>
          <a:p xmlns:a="http://schemas.openxmlformats.org/drawingml/2006/main">
            <a:r>
              <a:t>예상 결과: 처음 4 1, 수정 후 5 1. 저장 파일의 숫자도 바뀝니다.</a:t>
            </a:r>
          </a:p>
          <a:p xmlns:a="http://schemas.openxmlformats.org/drawingml/2006/main">
            <a:r>
              <a:t/>
            </a:r>
          </a:p>
          <a:p xmlns:a="http://schemas.openxmlformats.org/drawingml/2006/main">
            <a:r>
              <a:t>확인 질문: print와 write_text는 같은 행동인가요?</a:t>
            </a:r>
          </a:p>
          <a:p xmlns:a="http://schemas.openxmlformats.org/drawingml/2006/main">
            <a:r>
              <a:t/>
            </a:r>
          </a:p>
          <a:p xmlns:a="http://schemas.openxmlformats.org/drawingml/2006/main">
            <a:r>
              <a:t>막혔을 때: 쓰기 권한이 없으면 강사와 저장 위치를 확인합니다. 원자료를 출력 주소로 바꾸지 않습니다.</a:t>
            </a:r>
          </a:p>
          <a:p xmlns:a="http://schemas.openxmlformats.org/drawingml/2006/main">
            <a:r>
              <a:t/>
            </a:r>
          </a:p>
          <a:p xmlns:a="http://schemas.openxmlformats.org/drawingml/2006/main">
            <a:r>
              <a:t>[활동 자료와 작성칸](practice-guide.md#a09--json-결과를-새-파일로-저장하기)에서 A09를 엽니다.</a:t>
            </a:r>
          </a:p>
          <a:p xmlns:a="http://schemas.openxmlformats.org/drawingml/2006/main">
            <a:r>
              <a:t/>
            </a:r>
          </a:p>
          <a:p xmlns:a="http://schemas.openxmlformats.org/drawingml/2006/main">
            <a:r>
              <a:t># 4구간 · 오류를 단서로 읽기</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주소·헤더·원값 오류를 나눕니다.</a:t>
            </a:r>
          </a:p>
          <a:p xmlns:a="http://schemas.openxmlformats.org/drawingml/2006/main">
            <a:r>
              <a:t>기본 CSV 읽기는 문자열입니다.</a:t>
            </a:r>
          </a:p>
          <a:p xmlns:a="http://schemas.openxmlformats.org/drawingml/2006/main">
            <a:r>
              <a:t>출력과 파일 저장을 구별합니다.</a:t>
            </a:r>
          </a:p>
          <a:p xmlns:a="http://schemas.openxmlformats.org/drawingml/2006/main">
            <a:r>
              <a:t/>
            </a:r>
          </a:p>
          <a:p xmlns:a="http://schemas.openxmlformats.org/drawingml/2006/main">
            <a:r>
              <a:t>관련 교시의 상세 원문:</a:t>
            </a:r>
          </a:p>
          <a:p xmlns:a="http://schemas.openxmlformats.org/drawingml/2006/main">
            <a:r>
              <a:t>### 사례로 이해하기 · 읽은 텍스트에서 값으로, 값에서 저장 파일로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담당자는 CSV 입력에서 온도를 읽고 요약 JSON을 남깁니다. 파일은 디스크에 저장된 내용이고 읽어 온 값은 프로그램이 처리하는 내용입니다. 화면에 요약을 출력했다는 사실만으로 결과 파일이 저장되지는 않습니다. 흐름을 파일 주소 → 읽은 원문 → 해석한 값 → 결과 묶음 → 저장 주소 순서로 그립니다. 같은 내용처럼 보이는 단계도 역할과 저장 종류가 달라지므로 경계를 하나씩 확인합니다. 원자료와 결과 파일은 서로 다른 주소로 정합니다.</a:t>
            </a:r>
          </a:p>
          <a:p xmlns:a="http://schemas.openxmlformats.org/drawingml/2006/main">
            <a:r>
              <a:t/>
            </a:r>
          </a:p>
          <a:p xmlns:a="http://schemas.openxmlformats.org/drawingml/2006/main">
            <a:r>
              <a:t>예를 들어 헤더 `sensor_id,temperature_c` 아래 `S08,20.5` 한 행이 있습니다. DictReader 같은 CSV 읽기 도구는 헤더를 이름표로 삼고 기본 셀값을 문자열로 읽습니다. 원문 “20.5”를 실수 20.5로 해석한 다음 요약의 측정수 1과 평균 20.5를 만듭니다. JSON으로 표현한 완성 예는 `{"count":1,"average":20.5}`입니다. 숫자에 따옴표를 붙이지 않았으므로 JSON에서는 숫자값입니다. 원문 CSV에 숫자처럼 적혀 있다는 사실과 읽은 Python 값의 종류를 구별합니다.</a:t>
            </a:r>
          </a:p>
          <a:p xmlns:a="http://schemas.openxmlformats.org/drawingml/2006/main">
            <a:r>
              <a:t/>
            </a:r>
          </a:p>
          <a:p xmlns:a="http://schemas.openxmlformats.org/drawingml/2006/main">
            <a:r>
              <a:t>경로는 파일의 주소이며 현재 터미널 위치와 코드 파일 위치가 같다고 가정하지 않습니다. 기존 예제는 코드 위치를 기준으로 data와 work를 찾습니다. 폴더 배치가 바뀌면 입력 주소가 맞는지 먼저 확인합니다. FileNotFoundError는 파일 이름·주소·압축 해제 상태를 확인하는 단서이고 KeyError는 실제 헤더와 찾는 이름표를 비교하는 단서입니다. 파일은 찾았지만 “뜨거움”을 숫자로 읽으려 하면 ValueError 단계가 됩니다. 세 오류가 같은 화면에 보여도 해결할 경계가 다릅니다. 저장 후에는 결과 파일을 다시 열어 count와 average가 기대값인지 확인합니다. 이전 실행 파일이 남아 있을 수 있으므로 입력명과 실행 시각도 기록합니다.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**CSV 값은 숫자로 자동 읽히나요?** 기본 읽기는 문자열이므로 의미에 맞는 해석 단계를 둡니다.</a:t>
            </a:r>
          </a:p>
          <a:p xmlns:a="http://schemas.openxmlformats.org/drawingml/2006/main">
            <a:r>
              <a:t/>
            </a:r>
          </a:p>
          <a:p xmlns:a="http://schemas.openxmlformats.org/drawingml/2006/main">
            <a:r>
              <a:t>2. **출력했으면 저장도 끝났나요?** 화면 표시와 파일 쓰기·재읽기 확인은 다른 작업입니다.</a:t>
            </a:r>
          </a:p>
          <a:p xmlns:a="http://schemas.openxmlformats.org/drawingml/2006/main">
            <a:r>
              <a:t/>
            </a:r>
          </a:p>
          <a:p xmlns:a="http://schemas.openxmlformats.org/drawingml/2006/main">
            <a:r>
              <a:t>3. **오류 종류를 왜 나누나요?** 파일·구조·값의 어느 경계에서 실패했는지 좁혀 올바른 부분을 고치기 위해서입니다.</a:t>
            </a:r>
          </a:p>
          <a:p xmlns:a="http://schemas.openxmlformats.org/drawingml/2006/main">
            <a:r>
              <a:t/>
            </a:r>
          </a:p>
          <a:p xmlns:a="http://schemas.openxmlformats.org/drawingml/2006/main">
            <a:r>
              <a:t/>
            </a:r>
          </a:p>
          <a:p xmlns:a="http://schemas.openxmlformats.org/drawingml/2006/main">
            <a:r>
              <a:t>**개념.** 경로는 파일의 저장 주소입니다. 현재 터미널 폴더와 코드 폴더는 다를 수 있습니다. Path(__file__)로 코드 위치를 찾으면 그 위치를 기준으로 자료 주소를 만들 수 있습니다.</a:t>
            </a:r>
          </a:p>
          <a:p xmlns:a="http://schemas.openxmlformats.org/drawingml/2006/main">
            <a:r>
              <a:t/>
            </a:r>
          </a:p>
          <a:p xmlns:a="http://schemas.openxmlformats.org/drawingml/2006/main">
            <a:r>
              <a:t>**왜 필요한가.**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**함께 보는 예.** course/code 또는 course/work의 코드에서 parent.parent는 course입니다. 그 아래 data/notice.txt를 읽습니다. UTF-8은 한글을 글자로 해석하는 인코딩 약속입니다.</a:t>
            </a:r>
          </a:p>
          <a:p xmlns:a="http://schemas.openxmlformats.org/drawingml/2006/main">
            <a:r>
              <a:t/>
            </a:r>
          </a:p>
          <a:p xmlns:a="http://schemas.openxmlformats.org/drawingml/2006/main">
            <a:r>
              <a:t>**헷갈리는 경우.** FileNotFoundError는 주소와 이름의 문제를 먼저 확인해야 합니다. 아직 파일을 읽지 못했는데 숫자 변환을 수정해도 원인을 해결하지 못합니다.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from pathlib import Path</a:t>
            </a:r>
          </a:p>
          <a:p xmlns:a="http://schemas.openxmlformats.org/drawingml/2006/main">
            <a:r>
              <a:t>base = Path(__file__).resolve().parent.parent</a:t>
            </a:r>
          </a:p>
          <a:p xmlns:a="http://schemas.openxmlformats.org/drawingml/2006/main">
            <a:r>
              <a:t>source = base / "data" / "notice.txt"</a:t>
            </a:r>
          </a:p>
          <a:p xmlns:a="http://schemas.openxmlformats.org/drawingml/2006/main">
            <a:r>
              <a:t>text = source.read_text(encoding="utf-8")</a:t>
            </a:r>
          </a:p>
          <a:p xmlns:a="http://schemas.openxmlformats.org/drawingml/2006/main">
            <a:r>
              <a:t>print(text.strip())</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`from pathlib import Path` | 파일 주소 도구를 가져옵니다. |</a:t>
            </a:r>
          </a:p>
          <a:p xmlns:a="http://schemas.openxmlformats.org/drawingml/2006/main">
            <a:r>
              <a:t>| 2 | `base = Path(__file__).resolve().parent.parent` | 코드의 두 상위 폴더 course를 찾습니다. |</a:t>
            </a:r>
          </a:p>
          <a:p xmlns:a="http://schemas.openxmlformats.org/drawingml/2006/main">
            <a:r>
              <a:t>| 3 | `source = base / "data" / "notice.txt"` | 입력 파일 주소를 만듭니다. |</a:t>
            </a:r>
          </a:p>
          <a:p xmlns:a="http://schemas.openxmlformats.org/drawingml/2006/main">
            <a:r>
              <a:t>| 4 | `text = source.read_text(encoding="utf-8")` | UTF-8 텍스트를 읽습니다. |</a:t>
            </a:r>
          </a:p>
          <a:p xmlns:a="http://schemas.openxmlformats.org/drawingml/2006/main">
            <a:r>
              <a:t>| 5 | `print(text.strip())` | 앞뒤 공백과 줄바꿈을 정리해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센서 점검 예제입니다.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질문: data만 다른 곳으로 옮겨도 자동으로 찾나요?</a:t>
            </a:r>
          </a:p>
          <a:p xmlns:a="http://schemas.openxmlformats.org/drawingml/2006/main">
            <a:r>
              <a:t/>
            </a:r>
          </a:p>
          <a:p xmlns:a="http://schemas.openxmlformats.org/drawingml/2006/main">
            <a:r>
              <a:t>막혔을 때: 압축 안에서 열었는지, 확장자가 두 번 붙었는지, course의 배치가 유지됐는지 확인합니다.</a:t>
            </a:r>
          </a:p>
          <a:p xmlns:a="http://schemas.openxmlformats.org/drawingml/2006/main">
            <a:r>
              <a:t/>
            </a:r>
          </a:p>
          <a:p xmlns:a="http://schemas.openxmlformats.org/drawingml/2006/main">
            <a:r>
              <a:t>[활동 자료와 작성칸](practice-guide.md#a07--파일-경로와-텍스트-읽기)에서 A07를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A10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**미측정도 오류인가요?** 계약에서 허용한 값 없음과 잘못된 입력을 구별합니다.</a:t>
            </a:r>
          </a:p>
          <a:p xmlns:a="http://schemas.openxmlformats.org/drawingml/2006/main">
            <a:r>
              <a:t/>
            </a:r>
          </a:p>
          <a:p xmlns:a="http://schemas.openxmlformats.org/drawingml/2006/main">
            <a:r>
              <a:t>2. **예외를 잡으면 실제 값을 알게 되나요?** 아닙니다. 실패 원문을 보존하고 추가 확인할 근거를 얻습니다.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code/A10_example.py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A10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**미측정도 오류인가요?** 계약에서 허용한 값 없음과 잘못된 입력을 구별합니다.</a:t>
            </a:r>
          </a:p>
          <a:p xmlns:a="http://schemas.openxmlformats.org/drawingml/2006/main">
            <a:r>
              <a:t/>
            </a:r>
          </a:p>
          <a:p xmlns:a="http://schemas.openxmlformats.org/drawingml/2006/main">
            <a:r>
              <a:t>2. **예외를 잡으면 실제 값을 알게 되나요?** 아닙니다. 실패 원문을 보존하고 추가 확인할 근거를 얻습니다.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**미측정도 오류인가요?** 계약에서 허용한 값 없음과 잘못된 입력을 구별합니다.</a:t>
            </a:r>
          </a:p>
          <a:p xmlns:a="http://schemas.openxmlformats.org/drawingml/2006/main">
            <a:r>
              <a:t/>
            </a:r>
          </a:p>
          <a:p xmlns:a="http://schemas.openxmlformats.org/drawingml/2006/main">
            <a:r>
              <a:t>2. **예외를 잡으면 실제 값을 알게 되나요?** 아닙니다. 실패 원문을 보존하고 추가 확인할 근거를 얻습니다.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**미측정도 오류인가요?** 계약에서 허용한 값 없음과 잘못된 입력을 구별합니다.</a:t>
            </a:r>
          </a:p>
          <a:p xmlns:a="http://schemas.openxmlformats.org/drawingml/2006/main">
            <a:r>
              <a:t/>
            </a:r>
          </a:p>
          <a:p xmlns:a="http://schemas.openxmlformats.org/drawingml/2006/main">
            <a:r>
              <a:t>2. **예외를 잡으면 실제 값을 알게 되나요?** 아닙니다. 실패 원문을 보존하고 추가 확인할 근거를 얻습니다.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A11 상세 원문]</a:t>
            </a:r>
          </a:p>
          <a:p xmlns:a="http://schemas.openxmlformats.org/drawingml/2006/main">
            <a:r>
              <a:t>**개념.** 오류 기록은 실패한 파일과 줄, 오류 종류, 관련 값의 단서를 보여 줍니다. traceback은 호출 경로를 나타내며 마지막 줄에서 오류 종류와 설명을 찾습니다.</a:t>
            </a:r>
          </a:p>
          <a:p xmlns:a="http://schemas.openxmlformats.org/drawingml/2006/main">
            <a:r>
              <a:t/>
            </a:r>
          </a:p>
          <a:p xmlns:a="http://schemas.openxmlformats.org/drawingml/2006/main">
            <a:r>
              <a:t>**왜 필요한가.** 파일 없음·키 없음·숫자 변환 실패는 다음 행동이 다릅니다. 이름만 암기하기보다 실패한 작업과 입력을 연결합니다.</a:t>
            </a:r>
          </a:p>
          <a:p xmlns:a="http://schemas.openxmlformats.org/drawingml/2006/main">
            <a:r>
              <a:t/>
            </a:r>
          </a:p>
          <a:p xmlns:a="http://schemas.openxmlformats.org/drawingml/2006/main">
            <a:r>
              <a:t>**함께 보는 예.** FileNotFoundError는 주소, KeyError는 헤더와 키, ValueError는 숫자로 해석하려던 원문을 확인합니다. 근거를 보기 전에 전체 코드를 교체하지 않습니다.</a:t>
            </a:r>
          </a:p>
          <a:p xmlns:a="http://schemas.openxmlformats.org/drawingml/2006/main">
            <a:r>
              <a:t/>
            </a:r>
          </a:p>
          <a:p xmlns:a="http://schemas.openxmlformats.org/drawingml/2006/main">
            <a:r>
              <a:t>**헷갈리는 경우.** float(raw)에서 실패했다고 float 도구 자체가 잘못된 것은 아닐 수 있습니다. 숫자 자리에 ‘뜨거움’이 들어온 입력 문제를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카드1: source.read_text() / FileNotFoundError / missing.csv</a:t>
            </a:r>
          </a:p>
          <a:p xmlns:a="http://schemas.openxmlformats.org/drawingml/2006/main">
            <a:r>
              <a:t>카드2: row['temperature_c'] / KeyError / temperature_c</a:t>
            </a:r>
          </a:p>
          <a:p xmlns:a="http://schemas.openxmlformats.org/drawingml/2006/main">
            <a:r>
              <a:t>카드3: float('뜨거움') / ValueError / could not convert string to float</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실패 작업·종류·경로 또는 값을 표시합니다.</a:t>
            </a:r>
          </a:p>
          <a:p xmlns:a="http://schemas.openxmlformats.org/drawingml/2006/main">
            <a:r>
              <a:t>2. 사실과 추정 원인을 나눕니다.</a:t>
            </a:r>
          </a:p>
          <a:p xmlns:a="http://schemas.openxmlformats.org/drawingml/2006/main">
            <a:r>
              <a:t>3. 다음 확인 동작을 하나씩 정합니다.</a:t>
            </a:r>
          </a:p>
          <a:p xmlns:a="http://schemas.openxmlformats.org/drawingml/2006/main">
            <a:r>
              <a:t>4. 오류 단서를 보존한 전달 기록을 씁니다.</a:t>
            </a:r>
          </a:p>
          <a:p xmlns:a="http://schemas.openxmlformats.org/drawingml/2006/main">
            <a:r>
              <a:t/>
            </a:r>
          </a:p>
          <a:p xmlns:a="http://schemas.openxmlformats.org/drawingml/2006/main">
            <a:r>
              <a:t>예상 결과: 주소·헤더·원값 확인을 구별합니다.</a:t>
            </a:r>
          </a:p>
          <a:p xmlns:a="http://schemas.openxmlformats.org/drawingml/2006/main">
            <a:r>
              <a:t/>
            </a:r>
          </a:p>
          <a:p xmlns:a="http://schemas.openxmlformats.org/drawingml/2006/main">
            <a:r>
              <a:t>확인 질문: ValueError면 모두 같은 값으로 고쳐도 되나요?</a:t>
            </a:r>
          </a:p>
          <a:p xmlns:a="http://schemas.openxmlformats.org/drawingml/2006/main">
            <a:r>
              <a:t/>
            </a:r>
          </a:p>
          <a:p xmlns:a="http://schemas.openxmlformats.org/drawingml/2006/main">
            <a:r>
              <a:t>막혔을 때: 명령·관련 줄·마지막 오류를 남깁니다. 길다는 이유로 단서를 모두 지우지 않습니다.</a:t>
            </a:r>
          </a:p>
          <a:p xmlns:a="http://schemas.openxmlformats.org/drawingml/2006/main">
            <a:r>
              <a:t/>
            </a:r>
          </a:p>
          <a:p xmlns:a="http://schemas.openxmlformats.org/drawingml/2006/main">
            <a:r>
              <a:t>[활동 자료와 작성칸](practice-guide.md#a11--오류의-위치종류원값)에서 A11를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A11 상세 원문]</a:t>
            </a:r>
          </a:p>
          <a:p xmlns:a="http://schemas.openxmlformats.org/drawingml/2006/main">
            <a:r>
              <a:t>**개념.** 오류 기록은 실패한 파일과 줄, 오류 종류, 관련 값의 단서를 보여 줍니다. traceback은 호출 경로를 나타내며 마지막 줄에서 오류 종류와 설명을 찾습니다.</a:t>
            </a:r>
          </a:p>
          <a:p xmlns:a="http://schemas.openxmlformats.org/drawingml/2006/main">
            <a:r>
              <a:t/>
            </a:r>
          </a:p>
          <a:p xmlns:a="http://schemas.openxmlformats.org/drawingml/2006/main">
            <a:r>
              <a:t>**왜 필요한가.** 파일 없음·키 없음·숫자 변환 실패는 다음 행동이 다릅니다. 이름만 암기하기보다 실패한 작업과 입력을 연결합니다.</a:t>
            </a:r>
          </a:p>
          <a:p xmlns:a="http://schemas.openxmlformats.org/drawingml/2006/main">
            <a:r>
              <a:t/>
            </a:r>
          </a:p>
          <a:p xmlns:a="http://schemas.openxmlformats.org/drawingml/2006/main">
            <a:r>
              <a:t>**함께 보는 예.** FileNotFoundError는 주소, KeyError는 헤더와 키, ValueError는 숫자로 해석하려던 원문을 확인합니다. 근거를 보기 전에 전체 코드를 교체하지 않습니다.</a:t>
            </a:r>
          </a:p>
          <a:p xmlns:a="http://schemas.openxmlformats.org/drawingml/2006/main">
            <a:r>
              <a:t/>
            </a:r>
          </a:p>
          <a:p xmlns:a="http://schemas.openxmlformats.org/drawingml/2006/main">
            <a:r>
              <a:t>**헷갈리는 경우.** float(raw)에서 실패했다고 float 도구 자체가 잘못된 것은 아닐 수 있습니다. 숫자 자리에 ‘뜨거움’이 들어온 입력 문제를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카드1: source.read_text() / FileNotFoundError / missing.csv</a:t>
            </a:r>
          </a:p>
          <a:p xmlns:a="http://schemas.openxmlformats.org/drawingml/2006/main">
            <a:r>
              <a:t>카드2: row['temperature_c'] / KeyError / temperature_c</a:t>
            </a:r>
          </a:p>
          <a:p xmlns:a="http://schemas.openxmlformats.org/drawingml/2006/main">
            <a:r>
              <a:t>카드3: float('뜨거움') / ValueError / could not convert string to float</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실패 작업·종류·경로 또는 값을 표시합니다.</a:t>
            </a:r>
          </a:p>
          <a:p xmlns:a="http://schemas.openxmlformats.org/drawingml/2006/main">
            <a:r>
              <a:t>2. 사실과 추정 원인을 나눕니다.</a:t>
            </a:r>
          </a:p>
          <a:p xmlns:a="http://schemas.openxmlformats.org/drawingml/2006/main">
            <a:r>
              <a:t>3. 다음 확인 동작을 하나씩 정합니다.</a:t>
            </a:r>
          </a:p>
          <a:p xmlns:a="http://schemas.openxmlformats.org/drawingml/2006/main">
            <a:r>
              <a:t>4. 오류 단서를 보존한 전달 기록을 씁니다.</a:t>
            </a:r>
          </a:p>
          <a:p xmlns:a="http://schemas.openxmlformats.org/drawingml/2006/main">
            <a:r>
              <a:t/>
            </a:r>
          </a:p>
          <a:p xmlns:a="http://schemas.openxmlformats.org/drawingml/2006/main">
            <a:r>
              <a:t>예상 결과: 주소·헤더·원값 확인을 구별합니다.</a:t>
            </a:r>
          </a:p>
          <a:p xmlns:a="http://schemas.openxmlformats.org/drawingml/2006/main">
            <a:r>
              <a:t/>
            </a:r>
          </a:p>
          <a:p xmlns:a="http://schemas.openxmlformats.org/drawingml/2006/main">
            <a:r>
              <a:t>확인 질문: ValueError면 모두 같은 값으로 고쳐도 되나요?</a:t>
            </a:r>
          </a:p>
          <a:p xmlns:a="http://schemas.openxmlformats.org/drawingml/2006/main">
            <a:r>
              <a:t/>
            </a:r>
          </a:p>
          <a:p xmlns:a="http://schemas.openxmlformats.org/drawingml/2006/main">
            <a:r>
              <a:t>막혔을 때: 명령·관련 줄·마지막 오류를 남깁니다. 길다는 이유로 단서를 모두 지우지 않습니다.</a:t>
            </a:r>
          </a:p>
          <a:p xmlns:a="http://schemas.openxmlformats.org/drawingml/2006/main">
            <a:r>
              <a:t/>
            </a:r>
          </a:p>
          <a:p xmlns:a="http://schemas.openxmlformats.org/drawingml/2006/main">
            <a:r>
              <a:t>[활동 자료와 작성칸](practice-guide.md#a11--오류의-위치종류원값)에서 A11를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code/A12_example.py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A12 상세 원문]</a:t>
            </a:r>
          </a:p>
          <a:p xmlns:a="http://schemas.openxmlformats.org/drawingml/2006/main">
            <a:r>
              <a:t>**개념.** try에는 실패할 수 있는 작업을 쓰고 except에는 특정 예외가 났을 때 할 일을 씁니다. 오류를 처리하는 일은 문제를 없던 일로 만드는 것이 아니라 기록과 다음 행동을 정하는 일입니다.</a:t>
            </a:r>
          </a:p>
          <a:p xmlns:a="http://schemas.openxmlformats.org/drawingml/2006/main">
            <a:r>
              <a:t/>
            </a:r>
          </a:p>
          <a:p xmlns:a="http://schemas.openxmlformats.org/drawingml/2006/main">
            <a:r>
              <a:t>**왜 필요한가.** 한 값이 잘못되어도 원문과 이유를 남길 수 있습니다. 다룰 오류 종류를 좁히면 예상하지 못한 문제를 숨기지 않습니다.</a:t>
            </a:r>
          </a:p>
          <a:p xmlns:a="http://schemas.openxmlformats.org/drawingml/2006/main">
            <a:r>
              <a:t/>
            </a:r>
          </a:p>
          <a:p xmlns:a="http://schemas.openxmlformats.org/drawingml/2006/main">
            <a:r>
              <a:t>**함께 보는 예.** ‘뜨거움’을 float로 읽으면 ValueError가 납니다. 그때 원문과 확인 필요 메시지를 출력합니다. 정상값 24.0을 주면 숫자를 출력합니다.</a:t>
            </a:r>
          </a:p>
          <a:p xmlns:a="http://schemas.openxmlformats.org/drawingml/2006/main">
            <a:r>
              <a:t/>
            </a:r>
          </a:p>
          <a:p xmlns:a="http://schemas.openxmlformats.org/drawingml/2006/main">
            <a:r>
              <a:t>**헷갈리는 경우.** except: pass로 모든 오류를 무시하면 어떤 기록이 사라졌는지 모릅니다. 이 코드는 ValueError만 다루며 모든 오류를 복구한다고 설명하지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"뜨거움"</a:t>
            </a:r>
          </a:p>
          <a:p xmlns:a="http://schemas.openxmlformats.org/drawingml/2006/main">
            <a:r>
              <a:t>try:</a:t>
            </a:r>
          </a:p>
          <a:p xmlns:a="http://schemas.openxmlformats.org/drawingml/2006/main">
            <a:r>
              <a:t>    value = float(raw)</a:t>
            </a:r>
          </a:p>
          <a:p xmlns:a="http://schemas.openxmlformats.org/drawingml/2006/main">
            <a:r>
              <a:t>    print(value)</a:t>
            </a:r>
          </a:p>
          <a:p xmlns:a="http://schemas.openxmlformats.org/drawingml/2006/main">
            <a:r>
              <a:t>except ValueError:</a:t>
            </a:r>
          </a:p>
          <a:p xmlns:a="http://schemas.openxmlformats.org/drawingml/2006/main">
            <a:r>
              <a:t>    print("숫자 확인 필요:", raw)</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"뜨거움"` | 수치로 읽을 원문입니다. |</a:t>
            </a:r>
          </a:p>
          <a:p xmlns:a="http://schemas.openxmlformats.org/drawingml/2006/main">
            <a:r>
              <a:t>| 2 | `try:` | 실패 가능 작업을 시작합니다. |</a:t>
            </a:r>
          </a:p>
          <a:p xmlns:a="http://schemas.openxmlformats.org/drawingml/2006/main">
            <a:r>
              <a:t>| 3 | `    value = float(raw)` | 숫자로 해석합니다. |</a:t>
            </a:r>
          </a:p>
          <a:p xmlns:a="http://schemas.openxmlformats.org/drawingml/2006/main">
            <a:r>
              <a:t>| 4 | `    print(value)` | 성공한 숫자를 출력합니다. |</a:t>
            </a:r>
          </a:p>
          <a:p xmlns:a="http://schemas.openxmlformats.org/drawingml/2006/main">
            <a:r>
              <a:t>| 5 | `except ValueError:` | 변환 오류의 처리 묶음입니다. |</a:t>
            </a:r>
          </a:p>
          <a:p xmlns:a="http://schemas.openxmlformats.org/drawingml/2006/main">
            <a:r>
              <a:t>| 6 | `    print("숫자 확인 필요:", raw)` | 문제 원문을 포함해 메시지를 남깁니다.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숫자 확인 필요: 뜨거움</a:t>
            </a:r>
          </a:p>
          <a:p xmlns:a="http://schemas.openxmlformats.org/drawingml/2006/main">
            <a:r>
              <a:t>```</a:t>
            </a:r>
          </a:p>
          <a:p xmlns:a="http://schemas.openxmlformats.org/drawingml/2006/main">
            <a:r>
              <a:t/>
            </a:r>
          </a:p>
          <a:p xmlns:a="http://schemas.openxmlformats.org/drawingml/2006/main">
            <a:r>
              <a:t>작은 수정: `"뜨거움"`를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성공과 오류의 실행 줄을 표시합니다.</a:t>
            </a:r>
          </a:p>
          <a:p xmlns:a="http://schemas.openxmlformats.org/drawingml/2006/main">
            <a:r>
              <a:t>2. raw를 24.0으로 바꿔 비교합니다.</a:t>
            </a:r>
          </a:p>
          <a:p xmlns:a="http://schemas.openxmlformats.org/drawingml/2006/main">
            <a:r>
              <a:t>3. 오류 기록과 실제값 확정을 구별합니다.</a:t>
            </a:r>
          </a:p>
          <a:p xmlns:a="http://schemas.openxmlformats.org/drawingml/2006/main">
            <a:r>
              <a:t>4. 원문을 메시지에 남긴 이유를 설명합니다.</a:t>
            </a:r>
          </a:p>
          <a:p xmlns:a="http://schemas.openxmlformats.org/drawingml/2006/main">
            <a:r>
              <a:t/>
            </a:r>
          </a:p>
          <a:p xmlns:a="http://schemas.openxmlformats.org/drawingml/2006/main">
            <a:r>
              <a:t>예상 결과: 오류는 확인 필요, 정상값은 24.0 출력.</a:t>
            </a:r>
          </a:p>
          <a:p xmlns:a="http://schemas.openxmlformats.org/drawingml/2006/main">
            <a:r>
              <a:t/>
            </a:r>
          </a:p>
          <a:p xmlns:a="http://schemas.openxmlformats.org/drawingml/2006/main">
            <a:r>
              <a:t>확인 질문: except를 실행하면 실제 온도를 알아낸 것인가요?</a:t>
            </a:r>
          </a:p>
          <a:p xmlns:a="http://schemas.openxmlformats.org/drawingml/2006/main">
            <a:r>
              <a:t/>
            </a:r>
          </a:p>
          <a:p xmlns:a="http://schemas.openxmlformats.org/drawingml/2006/main">
            <a:r>
              <a:t>막혔을 때: 오류를 숨기려고 except의 범위를 무조건 넓히지 않습니다.</a:t>
            </a:r>
          </a:p>
          <a:p xmlns:a="http://schemas.openxmlformats.org/drawingml/2006/main">
            <a:r>
              <a:t/>
            </a:r>
          </a:p>
          <a:p xmlns:a="http://schemas.openxmlformats.org/drawingml/2006/main">
            <a:r>
              <a:t>[활동 자료와 작성칸](practice-guide.md#a12--try와-except로-예상-오류-기록)에서 A12를 엽니다.</a:t>
            </a:r>
          </a:p>
          <a:p xmlns:a="http://schemas.openxmlformats.org/drawingml/2006/main">
            <a:r>
              <a:t/>
            </a:r>
          </a:p>
          <a:p xmlns:a="http://schemas.openxmlformats.org/drawingml/2006/main">
            <a:r>
              <a:t># 5구간 · 검사 규칙과 재확인</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**개념.** try에는 실패할 수 있는 작업을 쓰고 except에는 특정 예외가 났을 때 할 일을 씁니다. 오류를 처리하는 일은 문제를 없던 일로 만드는 것이 아니라 기록과 다음 행동을 정하는 일입니다.</a:t>
            </a:r>
          </a:p>
          <a:p xmlns:a="http://schemas.openxmlformats.org/drawingml/2006/main">
            <a:r>
              <a:t/>
            </a:r>
          </a:p>
          <a:p xmlns:a="http://schemas.openxmlformats.org/drawingml/2006/main">
            <a:r>
              <a:t>**왜 필요한가.** 한 값이 잘못되어도 원문과 이유를 남길 수 있습니다. 다룰 오류 종류를 좁히면 예상하지 못한 문제를 숨기지 않습니다.</a:t>
            </a:r>
          </a:p>
          <a:p xmlns:a="http://schemas.openxmlformats.org/drawingml/2006/main">
            <a:r>
              <a:t/>
            </a:r>
          </a:p>
          <a:p xmlns:a="http://schemas.openxmlformats.org/drawingml/2006/main">
            <a:r>
              <a:t>**함께 보는 예.** ‘뜨거움’을 float로 읽으면 ValueError가 납니다. 그때 원문과 확인 필요 메시지를 출력합니다. 정상값 24.0을 주면 숫자를 출력합니다.</a:t>
            </a:r>
          </a:p>
          <a:p xmlns:a="http://schemas.openxmlformats.org/drawingml/2006/main">
            <a:r>
              <a:t/>
            </a:r>
          </a:p>
          <a:p xmlns:a="http://schemas.openxmlformats.org/drawingml/2006/main">
            <a:r>
              <a:t>**헷갈리는 경우.** except: pass로 모든 오류를 무시하면 어떤 기록이 사라졌는지 모릅니다. 이 코드는 ValueError만 다루며 모든 오류를 복구한다고 설명하지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"뜨거움"</a:t>
            </a:r>
          </a:p>
          <a:p xmlns:a="http://schemas.openxmlformats.org/drawingml/2006/main">
            <a:r>
              <a:t>try:</a:t>
            </a:r>
          </a:p>
          <a:p xmlns:a="http://schemas.openxmlformats.org/drawingml/2006/main">
            <a:r>
              <a:t>    value = float(raw)</a:t>
            </a:r>
          </a:p>
          <a:p xmlns:a="http://schemas.openxmlformats.org/drawingml/2006/main">
            <a:r>
              <a:t>    print(value)</a:t>
            </a:r>
          </a:p>
          <a:p xmlns:a="http://schemas.openxmlformats.org/drawingml/2006/main">
            <a:r>
              <a:t>except ValueError:</a:t>
            </a:r>
          </a:p>
          <a:p xmlns:a="http://schemas.openxmlformats.org/drawingml/2006/main">
            <a:r>
              <a:t>    print("숫자 확인 필요:", raw)</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"뜨거움"` | 수치로 읽을 원문입니다. |</a:t>
            </a:r>
          </a:p>
          <a:p xmlns:a="http://schemas.openxmlformats.org/drawingml/2006/main">
            <a:r>
              <a:t>| 2 | `try:` | 실패 가능 작업을 시작합니다. |</a:t>
            </a:r>
          </a:p>
          <a:p xmlns:a="http://schemas.openxmlformats.org/drawingml/2006/main">
            <a:r>
              <a:t>| 3 | `    value = float(raw)` | 숫자로 해석합니다. |</a:t>
            </a:r>
          </a:p>
          <a:p xmlns:a="http://schemas.openxmlformats.org/drawingml/2006/main">
            <a:r>
              <a:t>| 4 | `    print(value)` | 성공한 숫자를 출력합니다. |</a:t>
            </a:r>
          </a:p>
          <a:p xmlns:a="http://schemas.openxmlformats.org/drawingml/2006/main">
            <a:r>
              <a:t>| 5 | `except ValueError:` | 변환 오류의 처리 묶음입니다. |</a:t>
            </a:r>
          </a:p>
          <a:p xmlns:a="http://schemas.openxmlformats.org/drawingml/2006/main">
            <a:r>
              <a:t>| 6 | `    print("숫자 확인 필요:", raw)` | 문제 원문을 포함해 메시지를 남깁니다.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숫자 확인 필요: 뜨거움</a:t>
            </a:r>
          </a:p>
          <a:p xmlns:a="http://schemas.openxmlformats.org/drawingml/2006/main">
            <a:r>
              <a:t>```</a:t>
            </a:r>
          </a:p>
          <a:p xmlns:a="http://schemas.openxmlformats.org/drawingml/2006/main">
            <a:r>
              <a:t/>
            </a:r>
          </a:p>
          <a:p xmlns:a="http://schemas.openxmlformats.org/drawingml/2006/main">
            <a:r>
              <a:t>작은 수정: `"뜨거움"`를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성공과 오류의 실행 줄을 표시합니다.</a:t>
            </a:r>
          </a:p>
          <a:p xmlns:a="http://schemas.openxmlformats.org/drawingml/2006/main">
            <a:r>
              <a:t>2. raw를 24.0으로 바꿔 비교합니다.</a:t>
            </a:r>
          </a:p>
          <a:p xmlns:a="http://schemas.openxmlformats.org/drawingml/2006/main">
            <a:r>
              <a:t>3. 오류 기록과 실제값 확정을 구별합니다.</a:t>
            </a:r>
          </a:p>
          <a:p xmlns:a="http://schemas.openxmlformats.org/drawingml/2006/main">
            <a:r>
              <a:t>4. 원문을 메시지에 남긴 이유를 설명합니다.</a:t>
            </a:r>
          </a:p>
          <a:p xmlns:a="http://schemas.openxmlformats.org/drawingml/2006/main">
            <a:r>
              <a:t/>
            </a:r>
          </a:p>
          <a:p xmlns:a="http://schemas.openxmlformats.org/drawingml/2006/main">
            <a:r>
              <a:t>예상 결과: 오류는 확인 필요, 정상값은 24.0 출력.</a:t>
            </a:r>
          </a:p>
          <a:p xmlns:a="http://schemas.openxmlformats.org/drawingml/2006/main">
            <a:r>
              <a:t/>
            </a:r>
          </a:p>
          <a:p xmlns:a="http://schemas.openxmlformats.org/drawingml/2006/main">
            <a:r>
              <a:t>확인 질문: except를 실행하면 실제 온도를 알아낸 것인가요?</a:t>
            </a:r>
          </a:p>
          <a:p xmlns:a="http://schemas.openxmlformats.org/drawingml/2006/main">
            <a:r>
              <a:t/>
            </a:r>
          </a:p>
          <a:p xmlns:a="http://schemas.openxmlformats.org/drawingml/2006/main">
            <a:r>
              <a:t>막혔을 때: 오류를 숨기려고 except의 범위를 무조건 넓히지 않습니다.</a:t>
            </a:r>
          </a:p>
          <a:p xmlns:a="http://schemas.openxmlformats.org/drawingml/2006/main">
            <a:r>
              <a:t/>
            </a:r>
          </a:p>
          <a:p xmlns:a="http://schemas.openxmlformats.org/drawingml/2006/main">
            <a:r>
              <a:t>[활동 자료와 작성칸](practice-guide.md#a12--try와-except로-예상-오류-기록)에서 A12를 엽니다.</a:t>
            </a:r>
          </a:p>
          <a:p xmlns:a="http://schemas.openxmlformats.org/drawingml/2006/main">
            <a:r>
              <a:t/>
            </a:r>
          </a:p>
          <a:p xmlns:a="http://schemas.openxmlformats.org/drawingml/2006/main">
            <a:r>
              <a:t># 5구간 · 검사 규칙과 재확인</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A12 완성 예의 출력입니다. raw를 "24.0"으로 바꾸면 24.0이 표시됩니다. 모든 예외를 무조건 무시하지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핵심 질문과 해설:</a:t>
            </a:r>
          </a:p>
          <a:p xmlns:a="http://schemas.openxmlformats.org/drawingml/2006/main">
            <a:r>
              <a:t>미측정도 오류인가요? 계약에서 허용한 값 없음과 잘못된 입력을 구별합니다.</a:t>
            </a:r>
          </a:p>
          <a:p xmlns:a="http://schemas.openxmlformats.org/drawingml/2006/main">
            <a:r>
              <a:t>예외를 잡으면 실제 값을 알게 되나요? 아닙니다. 실패 원문을 보존하고 추가 확인할 근거를 얻습니다.</a:t>
            </a:r>
          </a:p>
          <a:p xmlns:a="http://schemas.openxmlformats.org/drawingml/2006/main">
            <a:r>
              <a:t>0을 평균에서 빼나요? 실제 수치 0은 포함하고 값 없음만 제외합니다.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**개념.** try에는 실패할 수 있는 작업을 쓰고 except에는 특정 예외가 났을 때 할 일을 씁니다. 오류를 처리하는 일은 문제를 없던 일로 만드는 것이 아니라 기록과 다음 행동을 정하는 일입니다.</a:t>
            </a:r>
          </a:p>
          <a:p xmlns:a="http://schemas.openxmlformats.org/drawingml/2006/main">
            <a:r>
              <a:t/>
            </a:r>
          </a:p>
          <a:p xmlns:a="http://schemas.openxmlformats.org/drawingml/2006/main">
            <a:r>
              <a:t>**왜 필요한가.** 한 값이 잘못되어도 원문과 이유를 남길 수 있습니다. 다룰 오류 종류를 좁히면 예상하지 못한 문제를 숨기지 않습니다.</a:t>
            </a:r>
          </a:p>
          <a:p xmlns:a="http://schemas.openxmlformats.org/drawingml/2006/main">
            <a:r>
              <a:t/>
            </a:r>
          </a:p>
          <a:p xmlns:a="http://schemas.openxmlformats.org/drawingml/2006/main">
            <a:r>
              <a:t>**함께 보는 예.** ‘뜨거움’을 float로 읽으면 ValueError가 납니다. 그때 원문과 확인 필요 메시지를 출력합니다. 정상값 24.0을 주면 숫자를 출력합니다.</a:t>
            </a:r>
          </a:p>
          <a:p xmlns:a="http://schemas.openxmlformats.org/drawingml/2006/main">
            <a:r>
              <a:t/>
            </a:r>
          </a:p>
          <a:p xmlns:a="http://schemas.openxmlformats.org/drawingml/2006/main">
            <a:r>
              <a:t>**헷갈리는 경우.** except: pass로 모든 오류를 무시하면 어떤 기록이 사라졌는지 모릅니다. 이 코드는 ValueError만 다루며 모든 오류를 복구한다고 설명하지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"뜨거움"</a:t>
            </a:r>
          </a:p>
          <a:p xmlns:a="http://schemas.openxmlformats.org/drawingml/2006/main">
            <a:r>
              <a:t>try:</a:t>
            </a:r>
          </a:p>
          <a:p xmlns:a="http://schemas.openxmlformats.org/drawingml/2006/main">
            <a:r>
              <a:t>    value = float(raw)</a:t>
            </a:r>
          </a:p>
          <a:p xmlns:a="http://schemas.openxmlformats.org/drawingml/2006/main">
            <a:r>
              <a:t>    print(value)</a:t>
            </a:r>
          </a:p>
          <a:p xmlns:a="http://schemas.openxmlformats.org/drawingml/2006/main">
            <a:r>
              <a:t>except ValueError:</a:t>
            </a:r>
          </a:p>
          <a:p xmlns:a="http://schemas.openxmlformats.org/drawingml/2006/main">
            <a:r>
              <a:t>    print("숫자 확인 필요:", raw)</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"뜨거움"` | 수치로 읽을 원문입니다. |</a:t>
            </a:r>
          </a:p>
          <a:p xmlns:a="http://schemas.openxmlformats.org/drawingml/2006/main">
            <a:r>
              <a:t>| 2 | `try:` | 실패 가능 작업을 시작합니다. |</a:t>
            </a:r>
          </a:p>
          <a:p xmlns:a="http://schemas.openxmlformats.org/drawingml/2006/main">
            <a:r>
              <a:t>| 3 | `    value = float(raw)` | 숫자로 해석합니다. |</a:t>
            </a:r>
          </a:p>
          <a:p xmlns:a="http://schemas.openxmlformats.org/drawingml/2006/main">
            <a:r>
              <a:t>| 4 | `    print(value)` | 성공한 숫자를 출력합니다. |</a:t>
            </a:r>
          </a:p>
          <a:p xmlns:a="http://schemas.openxmlformats.org/drawingml/2006/main">
            <a:r>
              <a:t>| 5 | `except ValueError:` | 변환 오류의 처리 묶음입니다. |</a:t>
            </a:r>
          </a:p>
          <a:p xmlns:a="http://schemas.openxmlformats.org/drawingml/2006/main">
            <a:r>
              <a:t>| 6 | `    print("숫자 확인 필요:", raw)` | 문제 원문을 포함해 메시지를 남깁니다.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숫자 확인 필요: 뜨거움</a:t>
            </a:r>
          </a:p>
          <a:p xmlns:a="http://schemas.openxmlformats.org/drawingml/2006/main">
            <a:r>
              <a:t>```</a:t>
            </a:r>
          </a:p>
          <a:p xmlns:a="http://schemas.openxmlformats.org/drawingml/2006/main">
            <a:r>
              <a:t/>
            </a:r>
          </a:p>
          <a:p xmlns:a="http://schemas.openxmlformats.org/drawingml/2006/main">
            <a:r>
              <a:t>작은 수정: `"뜨거움"`를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성공과 오류의 실행 줄을 표시합니다.</a:t>
            </a:r>
          </a:p>
          <a:p xmlns:a="http://schemas.openxmlformats.org/drawingml/2006/main">
            <a:r>
              <a:t>2. raw를 24.0으로 바꿔 비교합니다.</a:t>
            </a:r>
          </a:p>
          <a:p xmlns:a="http://schemas.openxmlformats.org/drawingml/2006/main">
            <a:r>
              <a:t>3. 오류 기록과 실제값 확정을 구별합니다.</a:t>
            </a:r>
          </a:p>
          <a:p xmlns:a="http://schemas.openxmlformats.org/drawingml/2006/main">
            <a:r>
              <a:t>4. 원문을 메시지에 남긴 이유를 설명합니다.</a:t>
            </a:r>
          </a:p>
          <a:p xmlns:a="http://schemas.openxmlformats.org/drawingml/2006/main">
            <a:r>
              <a:t/>
            </a:r>
          </a:p>
          <a:p xmlns:a="http://schemas.openxmlformats.org/drawingml/2006/main">
            <a:r>
              <a:t>예상 결과: 오류는 확인 필요, 정상값은 24.0 출력.</a:t>
            </a:r>
          </a:p>
          <a:p xmlns:a="http://schemas.openxmlformats.org/drawingml/2006/main">
            <a:r>
              <a:t/>
            </a:r>
          </a:p>
          <a:p xmlns:a="http://schemas.openxmlformats.org/drawingml/2006/main">
            <a:r>
              <a:t>확인 질문: except를 실행하면 실제 온도를 알아낸 것인가요?</a:t>
            </a:r>
          </a:p>
          <a:p xmlns:a="http://schemas.openxmlformats.org/drawingml/2006/main">
            <a:r>
              <a:t/>
            </a:r>
          </a:p>
          <a:p xmlns:a="http://schemas.openxmlformats.org/drawingml/2006/main">
            <a:r>
              <a:t>막혔을 때: 오류를 숨기려고 except의 범위를 무조건 넓히지 않습니다.</a:t>
            </a:r>
          </a:p>
          <a:p xmlns:a="http://schemas.openxmlformats.org/drawingml/2006/main">
            <a:r>
              <a:t/>
            </a:r>
          </a:p>
          <a:p xmlns:a="http://schemas.openxmlformats.org/drawingml/2006/main">
            <a:r>
              <a:t>[활동 자료와 작성칸](practice-guide.md#a12--try와-except로-예상-오류-기록)에서 A12를 엽니다.</a:t>
            </a:r>
          </a:p>
          <a:p xmlns:a="http://schemas.openxmlformats.org/drawingml/2006/main">
            <a:r>
              <a:t/>
            </a:r>
          </a:p>
          <a:p xmlns:a="http://schemas.openxmlformats.org/drawingml/2006/main">
            <a:r>
              <a:t># 5구간 · 검사 규칙과 재확인</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미측정과 잘못된 입력을 합치지 않습니다.</a:t>
            </a:r>
          </a:p>
          <a:p xmlns:a="http://schemas.openxmlformats.org/drawingml/2006/main">
            <a:r>
              <a:t>예외 처리가 실제값을 복구하지는 않습니다.</a:t>
            </a:r>
          </a:p>
          <a:p xmlns:a="http://schemas.openxmlformats.org/drawingml/2006/main">
            <a:r>
              <a:t>공백 정리는 별도의 명시적 규칙이 필요합니다.</a:t>
            </a:r>
          </a:p>
          <a:p xmlns:a="http://schemas.openxmlformats.org/drawingml/2006/main">
            <a:r>
              <a:t/>
            </a:r>
          </a:p>
          <a:p xmlns:a="http://schemas.openxmlformats.org/drawingml/2006/main">
            <a:r>
              <a:t>관련 교시의 상세 원문:</a:t>
            </a:r>
          </a:p>
          <a:p xmlns:a="http://schemas.openxmlformats.org/drawingml/2006/main">
            <a:r>
              <a:t>### 사례로 이해하기 · 미측정·잘못된 글자·실제 0의 세 갈래</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수업용 측정 파일에 빈 문자열, “0”, “추움” 세 원문이 있습니다. 검사를 통과시키려고 모두 0으로 바꾸면 세 기록이 실제 0℃로 합쳐집니다. 빈 문자열은 이번 데이터 사전에서 미측정이고, “0”은 측정한 숫자 표현이며, “추움”은 숫자 칸에 온 다른 종류의 내용입니다. 먼저 원문을 보존하고 어떤 갈래에 속하는지 정합니다. 오류 처리는 숨기는 행동이 아니라 분류와 후속 확인을 기록하는 행동입니다.</a:t>
            </a:r>
          </a:p>
          <a:p xmlns:a="http://schemas.openxmlformats.org/drawingml/2006/main">
            <a:r>
              <a:t/>
            </a:r>
          </a:p>
          <a:p xmlns:a="http://schemas.openxmlformats.org/drawingml/2006/main">
            <a:r>
              <a:t>해석 절차의 첫 질문은 원문이 빈 문자열과 정확히 같은지입니다. 같으면 None으로 반환해 미측정을 보존합니다. 아니면 숫자로 변환합니다. “0”은 0.0이 되지만 “추움”은 ValueError가 납니다. 이 예에서는 ValueError를 잡아 장치번호와 원문을 이슈로 남깁니다. 처리할 수 없는 숫자 글자 오류를 잡는 것과 주소 오류까지 무조건 숨기는 것은 다릅니다. except ValueError는 해당 변환·규칙 오류만 맡고 파일이 없다는 오류의 해결은 별도입니다.</a:t>
            </a:r>
          </a:p>
          <a:p xmlns:a="http://schemas.openxmlformats.org/drawingml/2006/main">
            <a:r>
              <a:t/>
            </a:r>
          </a:p>
          <a:p xmlns:a="http://schemas.openxmlformats.org/drawingml/2006/main">
            <a:r>
              <a:t>완성 분류표는 R01/빈 문자열/미측정, R02/“0”/수치 0.0, R03/“추움”/이슈입니다. 수치 평균을 계산한다면 R02만 대상으로 하므로 평균은 0.0입니다. R01을 0으로 채워 평균에 넣으면 대상 수가 늘고 미측정 사실이 사라집니다. R03을 None으로 바꾸면 잘못 적힌 내용이 있었다는 근거가 사라집니다. 오류 원문을 보존한 후 담당자에게 어떤 입력을 의도했는지 묻습니다. 공백 한 칸 “ ”도 빈 문자열과 그대로는 다르며 이 수업 계약에는 자동 공백 정리가 없습니다. 새 정리 규칙이 필요하면 먼저 원문과 변경 이유를 기록하고 별도 약속으로 정해야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**미측정도 오류인가요?** 계약에서 허용한 값 없음과 잘못된 입력을 구별합니다.</a:t>
            </a:r>
          </a:p>
          <a:p xmlns:a="http://schemas.openxmlformats.org/drawingml/2006/main">
            <a:r>
              <a:t/>
            </a:r>
          </a:p>
          <a:p xmlns:a="http://schemas.openxmlformats.org/drawingml/2006/main">
            <a:r>
              <a:t>2. **예외를 잡으면 실제 값을 알게 되나요?** 아닙니다. 실패 원문을 보존하고 추가 확인할 근거를 얻습니다.</a:t>
            </a:r>
          </a:p>
          <a:p xmlns:a="http://schemas.openxmlformats.org/drawingml/2006/main">
            <a:r>
              <a:t/>
            </a:r>
          </a:p>
          <a:p xmlns:a="http://schemas.openxmlformats.org/drawingml/2006/main">
            <a:r>
              <a:t>3. **0을 평균에서 빼나요?** 실제 수치 0은 포함하고 값 없음만 제외합니다.</a:t>
            </a:r>
          </a:p>
          <a:p xmlns:a="http://schemas.openxmlformats.org/drawingml/2006/main">
            <a:r>
              <a:t/>
            </a:r>
          </a:p>
          <a:p xmlns:a="http://schemas.openxmlformats.org/drawingml/2006/main">
            <a:r>
              <a:t/>
            </a:r>
          </a:p>
          <a:p xmlns:a="http://schemas.openxmlformats.org/drawingml/2006/main">
            <a:r>
              <a:t>**개념.** 빈값 규칙과 숫자 변환은 다른 단계입니다. 이 자료의 빈 온도는 미측정이므로 None으로 보존하고 숫자가 아닌 글자는 잘못된 입력으로 알립니다.</a:t>
            </a:r>
          </a:p>
          <a:p xmlns:a="http://schemas.openxmlformats.org/drawingml/2006/main">
            <a:r>
              <a:t/>
            </a:r>
          </a:p>
          <a:p xmlns:a="http://schemas.openxmlformats.org/drawingml/2006/main">
            <a:r>
              <a:t>**왜 필요한가.**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**함께 보는 예.** 빈 문자열은 None, "0.0"은 숫자 0.0, "뜨거움"은 ValueError입니다. 먼저 빈 문자열인지 확인하고 나머지에 숫자 변환을 적용합니다.</a:t>
            </a:r>
          </a:p>
          <a:p xmlns:a="http://schemas.openxmlformats.org/drawingml/2006/main">
            <a:r>
              <a:t/>
            </a:r>
          </a:p>
          <a:p xmlns:a="http://schemas.openxmlformats.org/drawingml/2006/main">
            <a:r>
              <a:t>**헷갈리는 경우.** 빈 문자열을 0으로 대신 채우면 미측정을 실제 0℃로 바꿉니다. 계산을 편하게 하려고 확인되지 않은 값을 보충하지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return float(raw)</a:t>
            </a:r>
          </a:p>
          <a:p xmlns:a="http://schemas.openxmlformats.org/drawingml/2006/main">
            <a:r>
              <a:t>print(parse_temperature("22.5"))</a:t>
            </a:r>
          </a:p>
          <a:p xmlns:a="http://schemas.openxmlformats.org/drawingml/2006/main">
            <a:r>
              <a:t>print(parse_temperature(""))</a:t>
            </a:r>
          </a:p>
          <a:p xmlns:a="http://schemas.openxmlformats.org/drawingml/2006/main">
            <a:r>
              <a:t>print(parse_temperature("0.0"))</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parse_temperature(raw):` | 원문 온도를 해석하는 함수를 정의합니다. |</a:t>
            </a:r>
          </a:p>
          <a:p xmlns:a="http://schemas.openxmlformats.org/drawingml/2006/main">
            <a:r>
              <a:t>| 2 | `    if raw == "":` | 빈 문자열 여부를 확인합니다. |</a:t>
            </a:r>
          </a:p>
          <a:p xmlns:a="http://schemas.openxmlformats.org/drawingml/2006/main">
            <a:r>
              <a:t>| 3 | `        return None` | 계약에 따라 None을 반환합니다. |</a:t>
            </a:r>
          </a:p>
          <a:p xmlns:a="http://schemas.openxmlformats.org/drawingml/2006/main">
            <a:r>
              <a:t>| 4 | `    return float(raw)` | 나머지를 숫자로 변환합니다. |</a:t>
            </a:r>
          </a:p>
          <a:p xmlns:a="http://schemas.openxmlformats.org/drawingml/2006/main">
            <a:r>
              <a:t>| 5 | `print(parse_temperature("22.5"))` | 일반 숫자를 확인합니다. |</a:t>
            </a:r>
          </a:p>
          <a:p xmlns:a="http://schemas.openxmlformats.org/drawingml/2006/main">
            <a:r>
              <a:t>| 6 | `print(parse_temperature(""))` | 미측정을 확인합니다. |</a:t>
            </a:r>
          </a:p>
          <a:p xmlns:a="http://schemas.openxmlformats.org/drawingml/2006/main">
            <a:r>
              <a:t>| 7 | `print(parse_temperature("0.0"))` | 실제 0을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None</a:t>
            </a:r>
          </a:p>
          <a:p xmlns:a="http://schemas.openxmlformats.org/drawingml/2006/main">
            <a:r>
              <a:t>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질문: 잘못된 숫자를 미측정으로 바꾸면 무엇을 잃나요?</a:t>
            </a:r>
          </a:p>
          <a:p xmlns:a="http://schemas.openxmlformats.org/drawingml/2006/main">
            <a:r>
              <a:t/>
            </a:r>
          </a:p>
          <a:p xmlns:a="http://schemas.openxmlformats.org/drawingml/2006/main">
            <a:r>
              <a:t>막혔을 때: None과 문자열 "None"은 다릅니다. 후자는 숫자로 읽으면 실패합니다.</a:t>
            </a:r>
          </a:p>
          <a:p xmlns:a="http://schemas.openxmlformats.org/drawingml/2006/main">
            <a:r>
              <a:t/>
            </a:r>
          </a:p>
          <a:p xmlns:a="http://schemas.openxmlformats.org/drawingml/2006/main">
            <a:r>
              <a:t>[활동 자료와 작성칸](practice-guide.md#a10--미측정과-잘못된-숫자의-구별)에서 A10를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code/A13_example.py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**개념.** 수정 검증은 확인된 근거로 한 부분을 바꾸고 실패 사례와 기존 성공 사례를 다시 확인하는 일입니다. 오류가 사라졌는지뿐 아니라 원래 의미가 유지되는지 봅니다.</a:t>
            </a:r>
          </a:p>
          <a:p xmlns:a="http://schemas.openxmlformats.org/drawingml/2006/main">
            <a:r>
              <a:t/>
            </a:r>
          </a:p>
          <a:p xmlns:a="http://schemas.openxmlformats.org/drawingml/2006/main">
            <a:r>
              <a:t>**왜 필요한가.** 한 문제를 고치며 미측정을 0으로 바꾸거나 경계를 바꿀 수 있습니다. 원문·지시·수정 위치·재확인을 함께 남겨야 이유가 전달됩니다.</a:t>
            </a:r>
          </a:p>
          <a:p xmlns:a="http://schemas.openxmlformats.org/drawingml/2006/main">
            <a:r>
              <a:t/>
            </a:r>
          </a:p>
          <a:p xmlns:a="http://schemas.openxmlformats.org/drawingml/2006/main">
            <a:r>
              <a:t>**함께 보는 예.** 지시서에서 S05의 ‘뜨거움’은 23.5로 확정되었고 S06의 51.0은 미확인입니다. 전자는 근거로 수정하고 후자는 원문 이슈로 남깁니다.</a:t>
            </a:r>
          </a:p>
          <a:p xmlns:a="http://schemas.openxmlformats.org/drawingml/2006/main">
            <a:r>
              <a:t/>
            </a:r>
          </a:p>
          <a:p xmlns:a="http://schemas.openxmlformats.org/drawingml/2006/main">
            <a:r>
              <a:t>**헷갈리는 경우.** 문제가 두 건이라고 둘 다null로 바꾸면 잘못된 숫자와 미측정을 합칩니다. 확인된 수정과 미확인 보류를 구별합니다.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확정 지시: S05 10:05는23.5℃로 확인됨.</a:t>
            </a:r>
          </a:p>
          <a:p xmlns:a="http://schemas.openxmlformats.org/drawingml/2006/main">
            <a:r>
              <a:t>미확정: S06 10:05의51.0은 실제값미확인.</a:t>
            </a:r>
          </a:p>
          <a:p xmlns:a="http://schemas.openxmlformats.org/drawingml/2006/main">
            <a:r>
              <a:t>재확인: 정상22.5 / 빈칸 / 실제0.0 / 경계50.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확정과 미확정 지시를 나눕니다.</a:t>
            </a:r>
          </a:p>
          <a:p xmlns:a="http://schemas.openxmlformats.org/drawingml/2006/main">
            <a:r>
              <a:t>2. work/correction_notes.md에 전후값과 근거를 씁니다.</a:t>
            </a:r>
          </a:p>
          <a:p xmlns:a="http://schemas.openxmlformats.org/drawingml/2006/main">
            <a:r>
              <a:t>3. work/bad_readings_work.csv에서 S05 한 값만 고칩니다.</a:t>
            </a:r>
          </a:p>
          <a:p xmlns:a="http://schemas.openxmlformats.org/drawingml/2006/main">
            <a:r>
              <a:t>4. 정상·미측정·0·범위의 재확인 표를 작성합니다.</a:t>
            </a:r>
          </a:p>
          <a:p xmlns:a="http://schemas.openxmlformats.org/drawingml/2006/main">
            <a:r>
              <a:t/>
            </a:r>
          </a:p>
          <a:p xmlns:a="http://schemas.openxmlformats.org/drawingml/2006/main">
            <a:r>
              <a:t>예상 결과: S05만 23.5로 수정하고 S06원문과 확인 이유를 남깁니다.</a:t>
            </a:r>
          </a:p>
          <a:p xmlns:a="http://schemas.openxmlformats.org/drawingml/2006/main">
            <a:r>
              <a:t/>
            </a:r>
          </a:p>
          <a:p xmlns:a="http://schemas.openxmlformats.org/drawingml/2006/main">
            <a:r>
              <a:t>확인 질문: 이슈 건수만 줄면 좋은 수정인가요?</a:t>
            </a:r>
          </a:p>
          <a:p xmlns:a="http://schemas.openxmlformats.org/drawingml/2006/main">
            <a:r>
              <a:t/>
            </a:r>
          </a:p>
          <a:p xmlns:a="http://schemas.openxmlformats.org/drawingml/2006/main">
            <a:r>
              <a:t>막혔을 때: 확정되지 않은 실제값은 추측하지 않습니다. 어느 값이 왜 미확인인지 씁니다.</a:t>
            </a:r>
          </a:p>
          <a:p xmlns:a="http://schemas.openxmlformats.org/drawingml/2006/main">
            <a:r>
              <a:t/>
            </a:r>
          </a:p>
          <a:p xmlns:a="http://schemas.openxmlformats.org/drawingml/2006/main">
            <a:r>
              <a:t>[활동 자료와 작성칸](practice-guide.md#a14--한-값-수정-뒤-같은-사례-재확인)에서 A14를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**개념.** 수정 검증은 확인된 근거로 한 부분을 바꾸고 실패 사례와 기존 성공 사례를 다시 확인하는 일입니다. 오류가 사라졌는지뿐 아니라 원래 의미가 유지되는지 봅니다.</a:t>
            </a:r>
          </a:p>
          <a:p xmlns:a="http://schemas.openxmlformats.org/drawingml/2006/main">
            <a:r>
              <a:t/>
            </a:r>
          </a:p>
          <a:p xmlns:a="http://schemas.openxmlformats.org/drawingml/2006/main">
            <a:r>
              <a:t>**왜 필요한가.** 한 문제를 고치며 미측정을 0으로 바꾸거나 경계를 바꿀 수 있습니다. 원문·지시·수정 위치·재확인을 함께 남겨야 이유가 전달됩니다.</a:t>
            </a:r>
          </a:p>
          <a:p xmlns:a="http://schemas.openxmlformats.org/drawingml/2006/main">
            <a:r>
              <a:t/>
            </a:r>
          </a:p>
          <a:p xmlns:a="http://schemas.openxmlformats.org/drawingml/2006/main">
            <a:r>
              <a:t>**함께 보는 예.** 지시서에서 S05의 ‘뜨거움’은 23.5로 확정되었고 S06의 51.0은 미확인입니다. 전자는 근거로 수정하고 후자는 원문 이슈로 남깁니다.</a:t>
            </a:r>
          </a:p>
          <a:p xmlns:a="http://schemas.openxmlformats.org/drawingml/2006/main">
            <a:r>
              <a:t/>
            </a:r>
          </a:p>
          <a:p xmlns:a="http://schemas.openxmlformats.org/drawingml/2006/main">
            <a:r>
              <a:t>**헷갈리는 경우.** 문제가 두 건이라고 둘 다null로 바꾸면 잘못된 숫자와 미측정을 합칩니다. 확인된 수정과 미확인 보류를 구별합니다.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확정 지시: S05 10:05는23.5℃로 확인됨.</a:t>
            </a:r>
          </a:p>
          <a:p xmlns:a="http://schemas.openxmlformats.org/drawingml/2006/main">
            <a:r>
              <a:t>미확정: S06 10:05의51.0은 실제값미확인.</a:t>
            </a:r>
          </a:p>
          <a:p xmlns:a="http://schemas.openxmlformats.org/drawingml/2006/main">
            <a:r>
              <a:t>재확인: 정상22.5 / 빈칸 / 실제0.0 / 경계50.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확정과 미확정 지시를 나눕니다.</a:t>
            </a:r>
          </a:p>
          <a:p xmlns:a="http://schemas.openxmlformats.org/drawingml/2006/main">
            <a:r>
              <a:t>2. work/correction_notes.md에 전후값과 근거를 씁니다.</a:t>
            </a:r>
          </a:p>
          <a:p xmlns:a="http://schemas.openxmlformats.org/drawingml/2006/main">
            <a:r>
              <a:t>3. work/bad_readings_work.csv에서 S05 한 값만 고칩니다.</a:t>
            </a:r>
          </a:p>
          <a:p xmlns:a="http://schemas.openxmlformats.org/drawingml/2006/main">
            <a:r>
              <a:t>4. 정상·미측정·0·범위의 재확인 표를 작성합니다.</a:t>
            </a:r>
          </a:p>
          <a:p xmlns:a="http://schemas.openxmlformats.org/drawingml/2006/main">
            <a:r>
              <a:t/>
            </a:r>
          </a:p>
          <a:p xmlns:a="http://schemas.openxmlformats.org/drawingml/2006/main">
            <a:r>
              <a:t>예상 결과: S05만 23.5로 수정하고 S06원문과 확인 이유를 남깁니다.</a:t>
            </a:r>
          </a:p>
          <a:p xmlns:a="http://schemas.openxmlformats.org/drawingml/2006/main">
            <a:r>
              <a:t/>
            </a:r>
          </a:p>
          <a:p xmlns:a="http://schemas.openxmlformats.org/drawingml/2006/main">
            <a:r>
              <a:t>확인 질문: 이슈 건수만 줄면 좋은 수정인가요?</a:t>
            </a:r>
          </a:p>
          <a:p xmlns:a="http://schemas.openxmlformats.org/drawingml/2006/main">
            <a:r>
              <a:t/>
            </a:r>
          </a:p>
          <a:p xmlns:a="http://schemas.openxmlformats.org/drawingml/2006/main">
            <a:r>
              <a:t>막혔을 때: 확정되지 않은 실제값은 추측하지 않습니다. 어느 값이 왜 미확인인지 씁니다.</a:t>
            </a:r>
          </a:p>
          <a:p xmlns:a="http://schemas.openxmlformats.org/drawingml/2006/main">
            <a:r>
              <a:t/>
            </a:r>
          </a:p>
          <a:p xmlns:a="http://schemas.openxmlformats.org/drawingml/2006/main">
            <a:r>
              <a:t>[활동 자료와 작성칸](practice-guide.md#a14--한-값-수정-뒤-같은-사례-재확인)에서 A14를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실행 계약은 받을 입력 파일과 결과 파일의 위치·뜻을 정한 약속입니다. 함수의 입력·반환을 프로그램 전체의 파일 수준으로 확장합니다.</a:t>
            </a:r>
          </a:p>
          <a:p xmlns:a="http://schemas.openxmlformats.org/drawingml/2006/main">
            <a:r>
              <a:t/>
            </a:r>
          </a:p>
          <a:p xmlns:a="http://schemas.openxmlformats.org/drawingml/2006/main">
            <a:r>
              <a:t>**왜 필요한가.** 원본과 수정 사본 중 무엇을 읽었는지 모르면 결과 대조가 틀릴 수 있습니다. 실행 완료와 데이터 이슈가 없다는 사실도 별도입니다.</a:t>
            </a:r>
          </a:p>
          <a:p xmlns:a="http://schemas.openxmlformats.org/drawingml/2006/main">
            <a:r>
              <a:t/>
            </a:r>
          </a:p>
          <a:p xmlns:a="http://schemas.openxmlformats.org/drawingml/2006/main">
            <a:r>
              <a:t>**함께 보는 예.** 검사기는 data/bad_readings.csv를 읽고 work/check_summary.json과 check_issues.json을 만듭니다.6건 중 숫자·미측정 4건을 받아들이고 2건을 이슈로 남깁니다.</a:t>
            </a:r>
          </a:p>
          <a:p xmlns:a="http://schemas.openxmlformats.org/drawingml/2006/main">
            <a:r>
              <a:t/>
            </a:r>
          </a:p>
          <a:p xmlns:a="http://schemas.openxmlformats.org/drawingml/2006/main">
            <a:r>
              <a:t>**헷갈리는 경우.** 정상 종료해도 이슈는 있을 수 있습니다. 여기서 종료 코드 0은 실행 완료를 뜻하며 입력 전체가 정확하다는 증명은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입력6건 → 수락4건+이슈2건.</a:t>
            </a:r>
          </a:p>
          <a:p xmlns:a="http://schemas.openxmlformats.org/drawingml/2006/main">
            <a:r>
              <a:t>수락4건 → 수치3건+미측정1건.</a:t>
            </a:r>
          </a:p>
          <a:p xmlns:a="http://schemas.openxmlformats.org/drawingml/2006/main">
            <a:r>
              <a:t>미측정은 평균에서 제외, 실제0은 포함.</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파일의 위치를 그립니다.</a:t>
            </a:r>
          </a:p>
          <a:p xmlns:a="http://schemas.openxmlformats.org/drawingml/2006/main">
            <a:r>
              <a:t>2. 미측정과 실제 0의 집계 차이를 적습니다.</a:t>
            </a:r>
          </a:p>
          <a:p xmlns:a="http://schemas.openxmlformats.org/drawingml/2006/main">
            <a:r>
              <a:t>3. 실행 완료와 이슈 0건을 구별합니다.</a:t>
            </a:r>
          </a:p>
          <a:p xmlns:a="http://schemas.openxmlformats.org/drawingml/2006/main">
            <a:r>
              <a:t>4. 다음 활동의 예상 건수를 먼저 기록합니다.</a:t>
            </a:r>
          </a:p>
          <a:p xmlns:a="http://schemas.openxmlformats.org/drawingml/2006/main">
            <a:r>
              <a:t/>
            </a:r>
          </a:p>
          <a:p xmlns:a="http://schemas.openxmlformats.org/drawingml/2006/main">
            <a:r>
              <a:t>예상 결과: 전체 6,수락 4,이슈 2,미측정 1,수치 3.</a:t>
            </a:r>
          </a:p>
          <a:p xmlns:a="http://schemas.openxmlformats.org/drawingml/2006/main">
            <a:r>
              <a:t/>
            </a:r>
          </a:p>
          <a:p xmlns:a="http://schemas.openxmlformats.org/drawingml/2006/main">
            <a:r>
              <a:t>확인 질문: 미측정도 분모에 넣어 4로 나누면 무엇이 바뀌나요?</a:t>
            </a:r>
          </a:p>
          <a:p xmlns:a="http://schemas.openxmlformats.org/drawingml/2006/main">
            <a:r>
              <a:t/>
            </a:r>
          </a:p>
          <a:p xmlns:a="http://schemas.openxmlformats.org/drawingml/2006/main">
            <a:r>
              <a:t>막혔을 때: 전체=수락+이슈, 수락=수치+미측정의 두 관계를 나누어 확인합니다.</a:t>
            </a:r>
          </a:p>
          <a:p xmlns:a="http://schemas.openxmlformats.org/drawingml/2006/main">
            <a:r>
              <a:t/>
            </a:r>
          </a:p>
          <a:p xmlns:a="http://schemas.openxmlformats.org/drawingml/2006/main">
            <a:r>
              <a:t>[활동 자료와 작성칸](practice-guide.md#a15--입력처리출력의-실행-계약)에서 A15를 엽니다.</a:t>
            </a:r>
          </a:p>
          <a:p xmlns:a="http://schemas.openxmlformats.org/drawingml/2006/main">
            <a:r>
              <a:t/>
            </a:r>
          </a:p>
          <a:p xmlns:a="http://schemas.openxmlformats.org/drawingml/2006/main">
            <a:r>
              <a:t># 6구간 · 로그 검사기와 사용 안내</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실행 계약은 받을 입력 파일과 결과 파일의 위치·뜻을 정한 약속입니다. 함수의 입력·반환을 프로그램 전체의 파일 수준으로 확장합니다.</a:t>
            </a:r>
          </a:p>
          <a:p xmlns:a="http://schemas.openxmlformats.org/drawingml/2006/main">
            <a:r>
              <a:t/>
            </a:r>
          </a:p>
          <a:p xmlns:a="http://schemas.openxmlformats.org/drawingml/2006/main">
            <a:r>
              <a:t>**왜 필요한가.** 원본과 수정 사본 중 무엇을 읽었는지 모르면 결과 대조가 틀릴 수 있습니다. 실행 완료와 데이터 이슈가 없다는 사실도 별도입니다.</a:t>
            </a:r>
          </a:p>
          <a:p xmlns:a="http://schemas.openxmlformats.org/drawingml/2006/main">
            <a:r>
              <a:t/>
            </a:r>
          </a:p>
          <a:p xmlns:a="http://schemas.openxmlformats.org/drawingml/2006/main">
            <a:r>
              <a:t>**함께 보는 예.** 검사기는 data/bad_readings.csv를 읽고 work/check_summary.json과 check_issues.json을 만듭니다.6건 중 숫자·미측정 4건을 받아들이고 2건을 이슈로 남깁니다.</a:t>
            </a:r>
          </a:p>
          <a:p xmlns:a="http://schemas.openxmlformats.org/drawingml/2006/main">
            <a:r>
              <a:t/>
            </a:r>
          </a:p>
          <a:p xmlns:a="http://schemas.openxmlformats.org/drawingml/2006/main">
            <a:r>
              <a:t>**헷갈리는 경우.** 정상 종료해도 이슈는 있을 수 있습니다. 여기서 종료 코드 0은 실행 완료를 뜻하며 입력 전체가 정확하다는 증명은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입력6건 → 수락4건+이슈2건.</a:t>
            </a:r>
          </a:p>
          <a:p xmlns:a="http://schemas.openxmlformats.org/drawingml/2006/main">
            <a:r>
              <a:t>수락4건 → 수치3건+미측정1건.</a:t>
            </a:r>
          </a:p>
          <a:p xmlns:a="http://schemas.openxmlformats.org/drawingml/2006/main">
            <a:r>
              <a:t>미측정은 평균에서 제외, 실제0은 포함.</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파일의 위치를 그립니다.</a:t>
            </a:r>
          </a:p>
          <a:p xmlns:a="http://schemas.openxmlformats.org/drawingml/2006/main">
            <a:r>
              <a:t>2. 미측정과 실제 0의 집계 차이를 적습니다.</a:t>
            </a:r>
          </a:p>
          <a:p xmlns:a="http://schemas.openxmlformats.org/drawingml/2006/main">
            <a:r>
              <a:t>3. 실행 완료와 이슈 0건을 구별합니다.</a:t>
            </a:r>
          </a:p>
          <a:p xmlns:a="http://schemas.openxmlformats.org/drawingml/2006/main">
            <a:r>
              <a:t>4. 다음 활동의 예상 건수를 먼저 기록합니다.</a:t>
            </a:r>
          </a:p>
          <a:p xmlns:a="http://schemas.openxmlformats.org/drawingml/2006/main">
            <a:r>
              <a:t/>
            </a:r>
          </a:p>
          <a:p xmlns:a="http://schemas.openxmlformats.org/drawingml/2006/main">
            <a:r>
              <a:t>예상 결과: 전체 6,수락 4,이슈 2,미측정 1,수치 3.</a:t>
            </a:r>
          </a:p>
          <a:p xmlns:a="http://schemas.openxmlformats.org/drawingml/2006/main">
            <a:r>
              <a:t/>
            </a:r>
          </a:p>
          <a:p xmlns:a="http://schemas.openxmlformats.org/drawingml/2006/main">
            <a:r>
              <a:t>확인 질문: 미측정도 분모에 넣어 4로 나누면 무엇이 바뀌나요?</a:t>
            </a:r>
          </a:p>
          <a:p xmlns:a="http://schemas.openxmlformats.org/drawingml/2006/main">
            <a:r>
              <a:t/>
            </a:r>
          </a:p>
          <a:p xmlns:a="http://schemas.openxmlformats.org/drawingml/2006/main">
            <a:r>
              <a:t>막혔을 때: 전체=수락+이슈, 수락=수치+미측정의 두 관계를 나누어 확인합니다.</a:t>
            </a:r>
          </a:p>
          <a:p xmlns:a="http://schemas.openxmlformats.org/drawingml/2006/main">
            <a:r>
              <a:t/>
            </a:r>
          </a:p>
          <a:p xmlns:a="http://schemas.openxmlformats.org/drawingml/2006/main">
            <a:r>
              <a:t>[활동 자료와 작성칸](practice-guide.md#a15--입력처리출력의-실행-계약)에서 A15를 엽니다.</a:t>
            </a:r>
          </a:p>
          <a:p xmlns:a="http://schemas.openxmlformats.org/drawingml/2006/main">
            <a:r>
              <a:t/>
            </a:r>
          </a:p>
          <a:p xmlns:a="http://schemas.openxmlformats.org/drawingml/2006/main">
            <a:r>
              <a:t># 6구간 · 로그 검사기와 사용 안내</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핵심 질문과 해설:</a:t>
            </a:r>
          </a:p>
          <a:p xmlns:a="http://schemas.openxmlformats.org/drawingml/2006/main">
            <a:r>
              <a:t>변환 성공이 허용 성공인가요? 숫자 표현과 업무 범위·정수 조건은 별도 검사입니다.</a:t>
            </a:r>
          </a:p>
          <a:p xmlns:a="http://schemas.openxmlformats.org/drawingml/2006/main">
            <a:r>
              <a:t>범위 밖에 왜 or를 쓰나요? 아래쪽이나 위쪽 중 하나만 벗어나도 거부해야 하기 때문입니다.</a:t>
            </a:r>
          </a:p>
          <a:p xmlns:a="http://schemas.openxmlformats.org/drawingml/2006/main">
            <a:r>
              <a:t>통과가 실제 정확성을 뜻하나요? 입력 규칙에 맞았다는 뜻이며 실제 측정·기록 정확성은 따로 확인합니다.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실행 계약은 받을 입력 파일과 결과 파일의 위치·뜻을 정한 약속입니다. 함수의 입력·반환을 프로그램 전체의 파일 수준으로 확장합니다.</a:t>
            </a:r>
          </a:p>
          <a:p xmlns:a="http://schemas.openxmlformats.org/drawingml/2006/main">
            <a:r>
              <a:t/>
            </a:r>
          </a:p>
          <a:p xmlns:a="http://schemas.openxmlformats.org/drawingml/2006/main">
            <a:r>
              <a:t>**왜 필요한가.** 원본과 수정 사본 중 무엇을 읽었는지 모르면 결과 대조가 틀릴 수 있습니다. 실행 완료와 데이터 이슈가 없다는 사실도 별도입니다.</a:t>
            </a:r>
          </a:p>
          <a:p xmlns:a="http://schemas.openxmlformats.org/drawingml/2006/main">
            <a:r>
              <a:t/>
            </a:r>
          </a:p>
          <a:p xmlns:a="http://schemas.openxmlformats.org/drawingml/2006/main">
            <a:r>
              <a:t>**함께 보는 예.** 검사기는 data/bad_readings.csv를 읽고 work/check_summary.json과 check_issues.json을 만듭니다.6건 중 숫자·미측정 4건을 받아들이고 2건을 이슈로 남깁니다.</a:t>
            </a:r>
          </a:p>
          <a:p xmlns:a="http://schemas.openxmlformats.org/drawingml/2006/main">
            <a:r>
              <a:t/>
            </a:r>
          </a:p>
          <a:p xmlns:a="http://schemas.openxmlformats.org/drawingml/2006/main">
            <a:r>
              <a:t>**헷갈리는 경우.** 정상 종료해도 이슈는 있을 수 있습니다. 여기서 종료 코드 0은 실행 완료를 뜻하며 입력 전체가 정확하다는 증명은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입력6건 → 수락4건+이슈2건.</a:t>
            </a:r>
          </a:p>
          <a:p xmlns:a="http://schemas.openxmlformats.org/drawingml/2006/main">
            <a:r>
              <a:t>수락4건 → 수치3건+미측정1건.</a:t>
            </a:r>
          </a:p>
          <a:p xmlns:a="http://schemas.openxmlformats.org/drawingml/2006/main">
            <a:r>
              <a:t>미측정은 평균에서 제외, 실제0은 포함.</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파일의 위치를 그립니다.</a:t>
            </a:r>
          </a:p>
          <a:p xmlns:a="http://schemas.openxmlformats.org/drawingml/2006/main">
            <a:r>
              <a:t>2. 미측정과 실제 0의 집계 차이를 적습니다.</a:t>
            </a:r>
          </a:p>
          <a:p xmlns:a="http://schemas.openxmlformats.org/drawingml/2006/main">
            <a:r>
              <a:t>3. 실행 완료와 이슈 0건을 구별합니다.</a:t>
            </a:r>
          </a:p>
          <a:p xmlns:a="http://schemas.openxmlformats.org/drawingml/2006/main">
            <a:r>
              <a:t>4. 다음 활동의 예상 건수를 먼저 기록합니다.</a:t>
            </a:r>
          </a:p>
          <a:p xmlns:a="http://schemas.openxmlformats.org/drawingml/2006/main">
            <a:r>
              <a:t/>
            </a:r>
          </a:p>
          <a:p xmlns:a="http://schemas.openxmlformats.org/drawingml/2006/main">
            <a:r>
              <a:t>예상 결과: 전체 6,수락 4,이슈 2,미측정 1,수치 3.</a:t>
            </a:r>
          </a:p>
          <a:p xmlns:a="http://schemas.openxmlformats.org/drawingml/2006/main">
            <a:r>
              <a:t/>
            </a:r>
          </a:p>
          <a:p xmlns:a="http://schemas.openxmlformats.org/drawingml/2006/main">
            <a:r>
              <a:t>확인 질문: 미측정도 분모에 넣어 4로 나누면 무엇이 바뀌나요?</a:t>
            </a:r>
          </a:p>
          <a:p xmlns:a="http://schemas.openxmlformats.org/drawingml/2006/main">
            <a:r>
              <a:t/>
            </a:r>
          </a:p>
          <a:p xmlns:a="http://schemas.openxmlformats.org/drawingml/2006/main">
            <a:r>
              <a:t>막혔을 때: 전체=수락+이슈, 수락=수치+미측정의 두 관계를 나누어 확인합니다.</a:t>
            </a:r>
          </a:p>
          <a:p xmlns:a="http://schemas.openxmlformats.org/drawingml/2006/main">
            <a:r>
              <a:t/>
            </a:r>
          </a:p>
          <a:p xmlns:a="http://schemas.openxmlformats.org/drawingml/2006/main">
            <a:r>
              <a:t>[활동 자료와 작성칸](practice-guide.md#a15--입력처리출력의-실행-계약)에서 A15를 엽니다.</a:t>
            </a:r>
          </a:p>
          <a:p xmlns:a="http://schemas.openxmlformats.org/drawingml/2006/main">
            <a:r>
              <a:t/>
            </a:r>
          </a:p>
          <a:p xmlns:a="http://schemas.openxmlformats.org/drawingml/2006/main">
            <a:r>
              <a:t># 6구간 · 로그 검사기와 사용 안내</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변환 통과와 범위 통과는 다릅니다.</a:t>
            </a:r>
          </a:p>
          <a:p xmlns:a="http://schemas.openxmlformats.org/drawingml/2006/main">
            <a:r>
              <a:t>범위 통과가 실제 센서 정확성을 뜻하지 않습니다.</a:t>
            </a:r>
          </a:p>
          <a:p xmlns:a="http://schemas.openxmlformats.org/drawingml/2006/main">
            <a:r>
              <a:t>전체=수락+이슈 관계로 검산합니다.</a:t>
            </a:r>
          </a:p>
          <a:p xmlns:a="http://schemas.openxmlformats.org/drawingml/2006/main">
            <a:r>
              <a:t/>
            </a:r>
          </a:p>
          <a:p xmlns:a="http://schemas.openxmlformats.org/drawingml/2006/main">
            <a:r>
              <a:t>관련 교시의 상세 원문:</a:t>
            </a:r>
          </a:p>
          <a:p xmlns:a="http://schemas.openxmlformats.org/drawingml/2006/main">
            <a:r>
              <a:t>### 사례로 이해하기 · 허용 범위의 바깥과 경계를 검사하기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시스템은 물품 수량을 0개부터 20개까지 받습니다. 숫자로 바꿀 수 있는 21도 업무 계약에는 맞지 않습니다. 숫자 변환과 허용 범위 검사는 다른 문턱입니다. 먼저 “스물”은 숫자 표현이 아니라 변환에서 멈추고, 21은 숫자로 읽힌 뒤 범위에서 멈춥니다. 0은 실제 수량 없음이고 이번 계약에 포함됩니다. 같은 ValueError라는 결과가 나올 수 있어도 어떤 규칙과 원문 때문에 실패했는지 기록합니다.</a:t>
            </a:r>
          </a:p>
          <a:p xmlns:a="http://schemas.openxmlformats.org/drawingml/2006/main">
            <a:r>
              <a:t/>
            </a:r>
          </a:p>
          <a:p xmlns:a="http://schemas.openxmlformats.org/drawingml/2006/main">
            <a:r>
              <a:t>0≤수량≤20을 수직선으로 그리면 두 끝점이 포함됩니다. 바깥은 ‘0보다 작음 또는 20보다 큼’입니다. or는 둘 중 하나라도 참이면 참이고 and는 둘 다 참이어야 참입니다. 완성 검수표는 -1 거부, 0 허용, 10 허용, 20 허용, 21 거부입니다. 경계 0과 20을 보지 않으면 &lt;와 &lt;=를 바꾼 실수를 놓칠 수 있습니다. ‘0보다 작고 동시에 20보다 큼’이라는 and 조건은 한 숫자에 성립하지 않아 범위 밖을 놓칩니다.</a:t>
            </a:r>
          </a:p>
          <a:p xmlns:a="http://schemas.openxmlformats.org/drawingml/2006/main">
            <a:r>
              <a:t/>
            </a:r>
          </a:p>
          <a:p xmlns:a="http://schemas.openxmlformats.org/drawingml/2006/main">
            <a:r>
              <a:t>실제 상품의 재고 한도인지 주문 수량 한도인지도 계약에 적어야 합니다. 같은 숫자 20을 모든 업무의 기준으로 재사용하지 않습니다. 21을 자동으로 20으로 잘라 저장하면 검사 대신 원자료 변경을 수행한 것입니다. 담당자의 확인 없이 실제 수량을 고치지 않고 거부 사유와 원문을 남깁니다. 수정 검증은 실패 입력 한 건만 다시 보는 것이 아닙니다. 기준 비교를 바꿨다면 정상·양쪽 경계·양쪽 바깥의 다섯 사례를 다시 봅니다. 통과한 사례 수와 검사하지 않은 종류를 구별해서 보고합니다. 이 계약은 정수 개수를 받으며 1.5개를 허용할지는 별도 결정해야 합니다. 범위 통과만으로 정수 조건이나 실물 재고의 정확성이 증명되지는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**변환 성공이 허용 성공인가요?** 숫자 표현과 업무 범위·정수 조건은 별도 검사입니다.</a:t>
            </a:r>
          </a:p>
          <a:p xmlns:a="http://schemas.openxmlformats.org/drawingml/2006/main">
            <a:r>
              <a:t/>
            </a:r>
          </a:p>
          <a:p xmlns:a="http://schemas.openxmlformats.org/drawingml/2006/main">
            <a:r>
              <a:t>2. **범위 밖에 왜 or를 쓰나요?** 아래쪽이나 위쪽 중 하나만 벗어나도 거부해야 하기 때문입니다.</a:t>
            </a:r>
          </a:p>
          <a:p xmlns:a="http://schemas.openxmlformats.org/drawingml/2006/main">
            <a:r>
              <a:t/>
            </a:r>
          </a:p>
          <a:p xmlns:a="http://schemas.openxmlformats.org/drawingml/2006/main">
            <a:r>
              <a:t>3. **통과가 실제 정확성을 뜻하나요?** 입력 규칙에 맞았다는 뜻이며 실제 측정·기록 정확성은 따로 확인합니다.</a:t>
            </a:r>
          </a:p>
          <a:p xmlns:a="http://schemas.openxmlformats.org/drawingml/2006/main">
            <a:r>
              <a:t/>
            </a:r>
          </a:p>
          <a:p xmlns:a="http://schemas.openxmlformats.org/drawingml/2006/main">
            <a:r>
              <a:t/>
            </a:r>
          </a:p>
          <a:p xmlns:a="http://schemas.openxmlformats.org/drawingml/2006/main">
            <a:r>
              <a:t>**개념.** 숫자로 변환할 수 있다는 것과 허용 범위 안에 있다는 것은 다른 검사입니다. 값이 0~50인지 확인하고 벗어나면 이유를 예외로 알립니다.</a:t>
            </a:r>
          </a:p>
          <a:p xmlns:a="http://schemas.openxmlformats.org/drawingml/2006/main">
            <a:r>
              <a:t/>
            </a:r>
          </a:p>
          <a:p xmlns:a="http://schemas.openxmlformats.org/drawingml/2006/main">
            <a:r>
              <a:t>**왜 필요한가.**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**함께 보는 예.** 23.5는 반환하고 51.0은 범위 확인 필요를 알립니다.0과 50은 허용 경계입니다. 이 범위는 실습의 입력 약속이며 실제 장비 안전 기준이 아닙니다.</a:t>
            </a:r>
          </a:p>
          <a:p xmlns:a="http://schemas.openxmlformats.org/drawingml/2006/main">
            <a:r>
              <a:t/>
            </a:r>
          </a:p>
          <a:p xmlns:a="http://schemas.openxmlformats.org/drawingml/2006/main">
            <a:r>
              <a:t>**헷갈리는 경우.** 51.0을 자동으로 50으로 자르면 원자료를 바꿉니다. 실제값을 모르면 원문을 보존하고 확인 요청을 남깁니다.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def checked_temperature(raw):</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print(checked_temperature("23.5"))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`def checked_temperature(raw):` | 수치 원문을 검사하는 함수를 정의합니다. |</a:t>
            </a:r>
          </a:p>
          <a:p xmlns:a="http://schemas.openxmlformats.org/drawingml/2006/main">
            <a:r>
              <a:t>| 2 | `    value = float(raw)` | 숫자로 해석합니다. |</a:t>
            </a:r>
          </a:p>
          <a:p xmlns:a="http://schemas.openxmlformats.org/drawingml/2006/main">
            <a:r>
              <a:t>| 3 | `    if value &lt; 0 or value &gt; 50:` | 아래 또는 위 경계를 벗어나는지 묻습니다. |</a:t>
            </a:r>
          </a:p>
          <a:p xmlns:a="http://schemas.openxmlformats.org/drawingml/2006/main">
            <a:r>
              <a:t>| 4 | `        raise ValueError("범위 확인 필요")` | 범위 문제를 예외로 알립니다. |</a:t>
            </a:r>
          </a:p>
          <a:p xmlns:a="http://schemas.openxmlformats.org/drawingml/2006/main">
            <a:r>
              <a:t>| 5 | `    return value` | 허용 숫자를 반환합니다. |</a:t>
            </a:r>
          </a:p>
          <a:p xmlns:a="http://schemas.openxmlformats.org/drawingml/2006/main">
            <a:r>
              <a:t>| 6 | `print(checked_temperature("23.5"))` | 정상 입력으로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`"23.5"`를 `"50"`로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50.0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질문: 범위 통과가 실제 센서 정확도를 증명하나요?</a:t>
            </a:r>
          </a:p>
          <a:p xmlns:a="http://schemas.openxmlformats.org/drawingml/2006/main">
            <a:r>
              <a:t/>
            </a:r>
          </a:p>
          <a:p xmlns:a="http://schemas.openxmlformats.org/drawingml/2006/main">
            <a:r>
              <a:t>막혔을 때: or를 and로 바꿨다면 두 조건의 뜻을 읽습니다. 동시에 0보다 작고 50보다 큰 값은 찾을 수 없습니다.</a:t>
            </a:r>
          </a:p>
          <a:p xmlns:a="http://schemas.openxmlformats.org/drawingml/2006/main">
            <a:r>
              <a:t/>
            </a:r>
          </a:p>
          <a:p xmlns:a="http://schemas.openxmlformats.org/drawingml/2006/main">
            <a:r>
              <a:t>[활동 자료와 작성칸](practice-guide.md#a13--범위-규칙을-함수에서-확인하기)에서 A13를 엽니다.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A16 로그 검사기 전체 원문 40줄을 노트에 보존합니다. 강사는 실제 파일에서 각 책임 구간을 가리킵니다. 긴 프로그램을 작은 글자로 한 화면에 압축하지 않습니다.</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**개념.** 검사기는 서로 다른 입력 집합으로 확인합니다. 헤더만 있는 파일, 전부 미측정인 파일, 숫자 오류가 있는 파일은 다른 경계 상황입니다.</a:t>
            </a:r>
          </a:p>
          <a:p xmlns:a="http://schemas.openxmlformats.org/drawingml/2006/main">
            <a:r>
              <a:t/>
            </a:r>
          </a:p>
          <a:p xmlns:a="http://schemas.openxmlformats.org/drawingml/2006/main">
            <a:r>
              <a:t>**왜 필요한가.** 수치가 하나도 없으면 평균 분모가 0입니다. 평균 None은 계산할 수치가 없다는 결과이며 실제 평균 0.0과 의미가 다릅니다.</a:t>
            </a:r>
          </a:p>
          <a:p xmlns:a="http://schemas.openxmlformats.org/drawingml/2006/main">
            <a:r>
              <a:t/>
            </a:r>
          </a:p>
          <a:p xmlns:a="http://schemas.openxmlformats.org/drawingml/2006/main">
            <a:r>
              <a:t>**함께 보는 예.** empty_readings.csv는 데이터 0건, missing_readings.csv는 미측정 2건입니다. 둘 다 평균 None이지만 입력수와 미측정수는 다릅니다.</a:t>
            </a:r>
          </a:p>
          <a:p xmlns:a="http://schemas.openxmlformats.org/drawingml/2006/main">
            <a:r>
              <a:t/>
            </a:r>
          </a:p>
          <a:p xmlns:a="http://schemas.openxmlformats.org/drawingml/2006/main">
            <a:r>
              <a:t>**헷갈리는 경우.** None이면 모두 실패라고 판정하지 않습니다. 입력 조건에 따라 의도한 결과일 수 있습니다. 어떤 파일로 무엇을 확인했는지 기록합니다.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readings.csv4건 / bad_readings.csv6건 / empty_readings.csv헤더만 / missing_readings.csv미측정2건.</a:t>
            </a:r>
          </a:p>
          <a:p xmlns:a="http://schemas.openxmlformats.org/drawingml/2006/main">
            <a:r>
              <a:t>work/A16_log_checker.py 안 source 줄의 따옴표 속 CSV 이름만 바꿉니다. .py 이름은 유지합니다.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네 입력의 기대 집계표를 씁니다.</a:t>
            </a:r>
          </a:p>
          <a:p xmlns:a="http://schemas.openxmlformats.org/drawingml/2006/main">
            <a:r>
              <a:t>2. work/A16_log_checker.py 안 source 줄의 따옴표 속 CSV 이름만 바꿔(.py 이름은 유지) 같은 프로그램을 실행합니다.</a:t>
            </a:r>
          </a:p>
          <a:p xmlns:a="http://schemas.openxmlformats.org/drawingml/2006/main">
            <a:r>
              <a:t>3. 평균None의 이유와 집계 관계를 확인합니다.</a:t>
            </a:r>
          </a:p>
          <a:p xmlns:a="http://schemas.openxmlformats.org/drawingml/2006/main">
            <a:r>
              <a:t>4. 헤더·다른 필드·실제 진위는 미검증으로 기록합니다.</a:t>
            </a:r>
          </a:p>
          <a:p xmlns:a="http://schemas.openxmlformats.org/drawingml/2006/main">
            <a:r>
              <a:t/>
            </a:r>
          </a:p>
          <a:p xmlns:a="http://schemas.openxmlformats.org/drawingml/2006/main">
            <a:r>
              <a:t>예상 결과: empty 0/0/0/0·None, missing 2/2/2/0·None.</a:t>
            </a:r>
          </a:p>
          <a:p xmlns:a="http://schemas.openxmlformats.org/drawingml/2006/main">
            <a:r>
              <a:t/>
            </a:r>
          </a:p>
          <a:p xmlns:a="http://schemas.openxmlformats.org/drawingml/2006/main">
            <a:r>
              <a:t>확인 질문: 수치가 없을 때 평균 0을 쓰면 어떤 오해가 생기나요?</a:t>
            </a:r>
          </a:p>
          <a:p xmlns:a="http://schemas.openxmlformats.org/drawingml/2006/main">
            <a:r>
              <a:t/>
            </a:r>
          </a:p>
          <a:p xmlns:a="http://schemas.openxmlformats.org/drawingml/2006/main">
            <a:r>
              <a:t>막혔을 때: 이전 실행 결과 파일을 새 결과로 혼동하지 않도록 입력명·저장·실행 경로를 확인합니다.</a:t>
            </a:r>
          </a:p>
          <a:p xmlns:a="http://schemas.openxmlformats.org/drawingml/2006/main">
            <a:r>
              <a:t/>
            </a:r>
          </a:p>
          <a:p xmlns:a="http://schemas.openxmlformats.org/drawingml/2006/main">
            <a:r>
              <a:t>[활동 자료와 작성칸](practice-guide.md#a17--정상빈-입력잘못된-입력-비교)에서 A17를 엽니다.</a:t>
            </a:r>
          </a:p>
          <a:p xmlns:a="http://schemas.openxmlformats.org/drawingml/2006/main">
            <a:r>
              <a:t/>
            </a:r>
          </a:p>
          <a:p xmlns:a="http://schemas.openxmlformats.org/drawingml/2006/main">
            <a:r>
              <a:t>### 검사할 CSV만 바꾸기</a:t>
            </a:r>
          </a:p>
          <a:p xmlns:a="http://schemas.openxmlformats.org/drawingml/2006/main">
            <a:r>
              <a:t/>
            </a:r>
          </a:p>
          <a:p xmlns:a="http://schemas.openxmlformats.org/drawingml/2006/main">
            <a:r>
              <a:t>수정 파일은 `work/A16_log_checker.py`입니다. **.py 파일 이름은 그대로 둡니다.** 코드 안 `source = base / "data" / "bad_readings.csv"` 한 줄에서 따옴표 속 CSV 이름만 바꿉니다. 예: `source = base / "data" / "readings.csv"`.</a:t>
            </a:r>
          </a:p>
          <a:p xmlns:a="http://schemas.openxmlformats.org/drawingml/2006/main">
            <a:r>
              <a:t/>
            </a:r>
          </a:p>
          <a:p xmlns:a="http://schemas.openxmlformats.org/drawingml/2006/main">
            <a:r>
              <a:t>저장 후 course 폴더에서 `python -X utf8 work/A16_log_checker.py`를 실행합니다. 실행마다 `work/check_summary.json`과 `work/check_issues.json`이 덮어써지므로 **결과를 먼저 기록한 뒤** 다음 CSV로 바꿉니다.</a:t>
            </a:r>
          </a:p>
          <a:p xmlns:a="http://schemas.openxmlformats.org/drawingml/2006/main">
            <a:r>
              <a:t/>
            </a:r>
          </a:p>
          <a:p xmlns:a="http://schemas.openxmlformats.org/drawingml/2006/main">
            <a:r>
              <a:t>| 따옴표 속 입력 이름 | 예상 집계·평균 | 실제 집계·평균 | 직접 실행/제공 출력 관찰 | 차이와 근거 |</a:t>
            </a:r>
          </a:p>
          <a:p xmlns:a="http://schemas.openxmlformats.org/drawingml/2006/main">
            <a:r>
              <a:t>| --- | --- | --- | --- | --- |</a:t>
            </a:r>
          </a:p>
          <a:p xmlns:a="http://schemas.openxmlformats.org/drawingml/2006/main">
            <a:r>
              <a:t>| readings.csv | _____ | _____ | _____ | _____ |</a:t>
            </a:r>
          </a:p>
          <a:p xmlns:a="http://schemas.openxmlformats.org/drawingml/2006/main">
            <a:r>
              <a:t>| bad_readings.csv | _____ | _____ | _____ | _____ |</a:t>
            </a:r>
          </a:p>
          <a:p xmlns:a="http://schemas.openxmlformats.org/drawingml/2006/main">
            <a:r>
              <a:t>| empty_readings.csv | _____ | _____ | _____ | _____ |</a:t>
            </a:r>
          </a:p>
          <a:p xmlns:a="http://schemas.openxmlformats.org/drawingml/2006/main">
            <a:r>
              <a:t>| missing_readings.csv | _____ | _____ | _____ | _____ |</a:t>
            </a:r>
          </a:p>
          <a:p xmlns:a="http://schemas.openxmlformats.org/drawingml/2006/main">
            <a:r>
              <a:t/>
            </a:r>
          </a:p>
          <a:p xmlns:a="http://schemas.openxmlformats.org/drawingml/2006/main">
            <a:r>
              <a:t>평균을 낼 숫자가 없다는 결과와 실제 측정 0을 구분해 설명합니다.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**개념.** 검사기는 서로 다른 입력 집합으로 확인합니다. 헤더만 있는 파일, 전부 미측정인 파일, 숫자 오류가 있는 파일은 다른 경계 상황입니다.</a:t>
            </a:r>
          </a:p>
          <a:p xmlns:a="http://schemas.openxmlformats.org/drawingml/2006/main">
            <a:r>
              <a:t/>
            </a:r>
          </a:p>
          <a:p xmlns:a="http://schemas.openxmlformats.org/drawingml/2006/main">
            <a:r>
              <a:t>**왜 필요한가.** 수치가 하나도 없으면 평균 분모가 0입니다. 평균 None은 계산할 수치가 없다는 결과이며 실제 평균 0.0과 의미가 다릅니다.</a:t>
            </a:r>
          </a:p>
          <a:p xmlns:a="http://schemas.openxmlformats.org/drawingml/2006/main">
            <a:r>
              <a:t/>
            </a:r>
          </a:p>
          <a:p xmlns:a="http://schemas.openxmlformats.org/drawingml/2006/main">
            <a:r>
              <a:t>**함께 보는 예.** empty_readings.csv는 데이터 0건, missing_readings.csv는 미측정 2건입니다. 둘 다 평균 None이지만 입력수와 미측정수는 다릅니다.</a:t>
            </a:r>
          </a:p>
          <a:p xmlns:a="http://schemas.openxmlformats.org/drawingml/2006/main">
            <a:r>
              <a:t/>
            </a:r>
          </a:p>
          <a:p xmlns:a="http://schemas.openxmlformats.org/drawingml/2006/main">
            <a:r>
              <a:t>**헷갈리는 경우.** None이면 모두 실패라고 판정하지 않습니다. 입력 조건에 따라 의도한 결과일 수 있습니다. 어떤 파일로 무엇을 확인했는지 기록합니다.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readings.csv4건 / bad_readings.csv6건 / empty_readings.csv헤더만 / missing_readings.csv미측정2건.</a:t>
            </a:r>
          </a:p>
          <a:p xmlns:a="http://schemas.openxmlformats.org/drawingml/2006/main">
            <a:r>
              <a:t>work/A16_log_checker.py 안 source 줄의 따옴표 속 CSV 이름만 바꿉니다. .py 이름은 유지합니다.</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네 입력의 기대 집계표를 씁니다.</a:t>
            </a:r>
          </a:p>
          <a:p xmlns:a="http://schemas.openxmlformats.org/drawingml/2006/main">
            <a:r>
              <a:t>2. work/A16_log_checker.py 안 source 줄의 따옴표 속 CSV 이름만 바꿔(.py 이름은 유지) 같은 프로그램을 실행합니다.</a:t>
            </a:r>
          </a:p>
          <a:p xmlns:a="http://schemas.openxmlformats.org/drawingml/2006/main">
            <a:r>
              <a:t>3. 평균None의 이유와 집계 관계를 확인합니다.</a:t>
            </a:r>
          </a:p>
          <a:p xmlns:a="http://schemas.openxmlformats.org/drawingml/2006/main">
            <a:r>
              <a:t>4. 헤더·다른 필드·실제 진위는 미검증으로 기록합니다.</a:t>
            </a:r>
          </a:p>
          <a:p xmlns:a="http://schemas.openxmlformats.org/drawingml/2006/main">
            <a:r>
              <a:t/>
            </a:r>
          </a:p>
          <a:p xmlns:a="http://schemas.openxmlformats.org/drawingml/2006/main">
            <a:r>
              <a:t>예상 결과: empty 0/0/0/0·None, missing 2/2/2/0·None.</a:t>
            </a:r>
          </a:p>
          <a:p xmlns:a="http://schemas.openxmlformats.org/drawingml/2006/main">
            <a:r>
              <a:t/>
            </a:r>
          </a:p>
          <a:p xmlns:a="http://schemas.openxmlformats.org/drawingml/2006/main">
            <a:r>
              <a:t>확인 질문: 수치가 없을 때 평균 0을 쓰면 어떤 오해가 생기나요?</a:t>
            </a:r>
          </a:p>
          <a:p xmlns:a="http://schemas.openxmlformats.org/drawingml/2006/main">
            <a:r>
              <a:t/>
            </a:r>
          </a:p>
          <a:p xmlns:a="http://schemas.openxmlformats.org/drawingml/2006/main">
            <a:r>
              <a:t>막혔을 때: 이전 실행 결과 파일을 새 결과로 혼동하지 않도록 입력명·저장·실행 경로를 확인합니다.</a:t>
            </a:r>
          </a:p>
          <a:p xmlns:a="http://schemas.openxmlformats.org/drawingml/2006/main">
            <a:r>
              <a:t/>
            </a:r>
          </a:p>
          <a:p xmlns:a="http://schemas.openxmlformats.org/drawingml/2006/main">
            <a:r>
              <a:t>[활동 자료와 작성칸](practice-guide.md#a17--정상빈-입력잘못된-입력-비교)에서 A17를 엽니다.</a:t>
            </a:r>
          </a:p>
          <a:p xmlns:a="http://schemas.openxmlformats.org/drawingml/2006/main">
            <a:r>
              <a:t/>
            </a:r>
          </a:p>
          <a:p xmlns:a="http://schemas.openxmlformats.org/drawingml/2006/main">
            <a:r>
              <a:t>### 검사할 CSV만 바꾸기</a:t>
            </a:r>
          </a:p>
          <a:p xmlns:a="http://schemas.openxmlformats.org/drawingml/2006/main">
            <a:r>
              <a:t/>
            </a:r>
          </a:p>
          <a:p xmlns:a="http://schemas.openxmlformats.org/drawingml/2006/main">
            <a:r>
              <a:t>수정 파일은 `work/A16_log_checker.py`입니다. **.py 파일 이름은 그대로 둡니다.** 코드 안 `source = base / "data" / "bad_readings.csv"` 한 줄에서 따옴표 속 CSV 이름만 바꿉니다. 예: `source = base / "data" / "readings.csv"`.</a:t>
            </a:r>
          </a:p>
          <a:p xmlns:a="http://schemas.openxmlformats.org/drawingml/2006/main">
            <a:r>
              <a:t/>
            </a:r>
          </a:p>
          <a:p xmlns:a="http://schemas.openxmlformats.org/drawingml/2006/main">
            <a:r>
              <a:t>저장 후 course 폴더에서 `python -X utf8 work/A16_log_checker.py`를 실행합니다. 실행마다 `work/check_summary.json`과 `work/check_issues.json`이 덮어써지므로 **결과를 먼저 기록한 뒤** 다음 CSV로 바꿉니다.</a:t>
            </a:r>
          </a:p>
          <a:p xmlns:a="http://schemas.openxmlformats.org/drawingml/2006/main">
            <a:r>
              <a:t/>
            </a:r>
          </a:p>
          <a:p xmlns:a="http://schemas.openxmlformats.org/drawingml/2006/main">
            <a:r>
              <a:t>| 따옴표 속 입력 이름 | 예상 집계·평균 | 실제 집계·평균 | 직접 실행/제공 출력 관찰 | 차이와 근거 |</a:t>
            </a:r>
          </a:p>
          <a:p xmlns:a="http://schemas.openxmlformats.org/drawingml/2006/main">
            <a:r>
              <a:t>| --- | --- | --- | --- | --- |</a:t>
            </a:r>
          </a:p>
          <a:p xmlns:a="http://schemas.openxmlformats.org/drawingml/2006/main">
            <a:r>
              <a:t>| readings.csv | _____ | _____ | _____ | _____ |</a:t>
            </a:r>
          </a:p>
          <a:p xmlns:a="http://schemas.openxmlformats.org/drawingml/2006/main">
            <a:r>
              <a:t>| bad_readings.csv | _____ | _____ | _____ | _____ |</a:t>
            </a:r>
          </a:p>
          <a:p xmlns:a="http://schemas.openxmlformats.org/drawingml/2006/main">
            <a:r>
              <a:t>| empty_readings.csv | _____ | _____ | _____ | _____ |</a:t>
            </a:r>
          </a:p>
          <a:p xmlns:a="http://schemas.openxmlformats.org/drawingml/2006/main">
            <a:r>
              <a:t>| missing_readings.csv | _____ | _____ | _____ | _____ |</a:t>
            </a:r>
          </a:p>
          <a:p xmlns:a="http://schemas.openxmlformats.org/drawingml/2006/main">
            <a:r>
              <a:t/>
            </a:r>
          </a:p>
          <a:p xmlns:a="http://schemas.openxmlformats.org/drawingml/2006/main">
            <a:r>
              <a:t>평균을 낼 숫자가 없다는 결과와 실제 측정 0을 구분해 설명합니다.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사용 안내는 다음 사람이 같은 입력으로 같은 결과를 확인할 수 있도록 쓰는 문서입니다. 파일·명령·기대 결과·이슈의 뜻·미확인 범위를 함께 전달합니다.</a:t>
            </a:r>
          </a:p>
          <a:p xmlns:a="http://schemas.openxmlformats.org/drawingml/2006/main">
            <a:r>
              <a:t/>
            </a:r>
          </a:p>
          <a:p xmlns:a="http://schemas.openxmlformats.org/drawingml/2006/main">
            <a:r>
              <a:t>**왜 필요한가.** 작성자가 없어도 검사 범위를 오해하지 않게 해야 합니다. ‘검증 완료’보다 온도 변환·범위·미측정 구별을 검사했다고 구체적으로 씁니다.</a:t>
            </a:r>
          </a:p>
          <a:p xmlns:a="http://schemas.openxmlformats.org/drawingml/2006/main">
            <a:r>
              <a:t/>
            </a:r>
          </a:p>
          <a:p xmlns:a="http://schemas.openxmlformats.org/drawingml/2006/main">
            <a:r>
              <a:t>**함께 보는 예.** 안내에는 course의 실행 명령, source가 읽는 입력명, work 결과 두 개, 이슈 원문을 확인하는 방법을 씁니다. 확정 근거가 있으면 작업 사본만 고치고 재확인합니다.</a:t>
            </a:r>
          </a:p>
          <a:p xmlns:a="http://schemas.openxmlformats.org/drawingml/2006/main">
            <a:r>
              <a:t/>
            </a:r>
          </a:p>
          <a:p xmlns:a="http://schemas.openxmlformats.org/drawingml/2006/main">
            <a:r>
              <a:t>**헷갈리는 경우.** 모든 필드를 검사하거나 실제 센서 정확도를 보장한다고 주장하지 않습니다. 오늘은 로컬 합성 파일의 처리이며 외부 서비스로 전송하지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작성칸: 목적 / 필요한 파일 / 명령 / 입력 선택 / 결과 위치 / 이슈 해석 / 수정 근거 / 미확인 범위.</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work/usage.md에 실행 안내를 씁니다.</a:t>
            </a:r>
          </a:p>
          <a:p xmlns:a="http://schemas.openxmlformats.org/drawingml/2006/main">
            <a:r>
              <a:t>2. 짝이 입력 하나의 결과를 설명하게 합니다.</a:t>
            </a:r>
          </a:p>
          <a:p xmlns:a="http://schemas.openxmlformats.org/drawingml/2006/main">
            <a:r>
              <a:t>3. 빠진 경로와 계약을 보완합니다.</a:t>
            </a:r>
          </a:p>
          <a:p xmlns:a="http://schemas.openxmlformats.org/drawingml/2006/main">
            <a:r>
              <a:t>4. 코드·입력·요약·이슈·사례표를 함께 제출합니다.</a:t>
            </a:r>
          </a:p>
          <a:p xmlns:a="http://schemas.openxmlformats.org/drawingml/2006/main">
            <a:r>
              <a:t/>
            </a:r>
          </a:p>
          <a:p xmlns:a="http://schemas.openxmlformats.org/drawingml/2006/main">
            <a:r>
              <a:t>예상 결과: 재현 가능한 경로·명령·결과와 검증 범위가 분명한 안내.</a:t>
            </a:r>
          </a:p>
          <a:p xmlns:a="http://schemas.openxmlformats.org/drawingml/2006/main">
            <a:r>
              <a:t/>
            </a:r>
          </a:p>
          <a:p xmlns:a="http://schemas.openxmlformats.org/drawingml/2006/main">
            <a:r>
              <a:t>확인 질문: 이슈 0건이라는 결과만 남기면 무엇이 부족한가요?</a:t>
            </a:r>
          </a:p>
          <a:p xmlns:a="http://schemas.openxmlformats.org/drawingml/2006/main">
            <a:r>
              <a:t/>
            </a:r>
          </a:p>
          <a:p xmlns:a="http://schemas.openxmlformats.org/drawingml/2006/main">
            <a:r>
              <a:t>막혔을 때: 처음 실행 순서와 오류 확인 순서를 나눠 씁니다. 미확인 사실을 확정하지 않습니다.</a:t>
            </a:r>
          </a:p>
          <a:p xmlns:a="http://schemas.openxmlformats.org/drawingml/2006/main">
            <a:r>
              <a:t/>
            </a:r>
          </a:p>
          <a:p xmlns:a="http://schemas.openxmlformats.org/drawingml/2006/main">
            <a:r>
              <a:t>[활동 자료와 작성칸](practice-guide.md#a18--검사기-사용-안내와-근거-전달)에서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[controlflow.html](https://docs.python.org/3/tutorial/controlflow.html)</a:t>
            </a:r>
          </a:p>
          <a:p xmlns:a="http://schemas.openxmlformats.org/drawingml/2006/main">
            <a:r>
              <a:t>- [inputoutput.html](https://docs.python.org/3/tutorial/inputoutput.html)</a:t>
            </a:r>
          </a:p>
          <a:p xmlns:a="http://schemas.openxmlformats.org/drawingml/2006/main">
            <a:r>
              <a:t>- [errors.html](https://docs.python.org/3/tutorial/errors.html)</a:t>
            </a:r>
          </a:p>
          <a:p xmlns:a="http://schemas.openxmlformats.org/drawingml/2006/main">
            <a:r>
              <a:t>- [csv.html](https://docs.python.org/3/library/csv.html)</a:t>
            </a:r>
          </a:p>
          <a:p xmlns:a="http://schemas.openxmlformats.org/drawingml/2006/main">
            <a:r>
              <a:t>- [json.html](https://docs.python.org/3/library/json.html)</a:t>
            </a:r>
          </a:p>
          <a:p xmlns:a="http://schemas.openxmlformats.org/drawingml/2006/main">
            <a:r>
              <a:t>- [pathlib.html](https://docs.python.org/3/library/pathlib.html)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핵심 질문과 해설:</a:t>
            </a:r>
          </a:p>
          <a:p xmlns:a="http://schemas.openxmlformats.org/drawingml/2006/main">
            <a:r>
              <a:t>수락 건수는 수치 건수인가요? 이 검사기에서는 수치와 미측정을 합하므로 결과 계약을 읽습니다.</a:t>
            </a:r>
          </a:p>
          <a:p xmlns:a="http://schemas.openxmlformats.org/drawingml/2006/main">
            <a:r>
              <a:t>continue가 필요한 이유는? 이슈로 분류한 행을 정상 처리로 보내지 않고 다음 행으로 넘어갑니다.</a:t>
            </a:r>
          </a:p>
          <a:p xmlns:a="http://schemas.openxmlformats.org/drawingml/2006/main">
            <a:r>
              <a:t>평균 None과 0은 같은가요? None은 계산할 수치가 없음이며 0은 실제 수치 평균이 0이라는 값입니다.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사용 안내는 다음 사람이 같은 입력으로 같은 결과를 확인할 수 있도록 쓰는 문서입니다. 파일·명령·기대 결과·이슈의 뜻·미확인 범위를 함께 전달합니다.</a:t>
            </a:r>
          </a:p>
          <a:p xmlns:a="http://schemas.openxmlformats.org/drawingml/2006/main">
            <a:r>
              <a:t/>
            </a:r>
          </a:p>
          <a:p xmlns:a="http://schemas.openxmlformats.org/drawingml/2006/main">
            <a:r>
              <a:t>**왜 필요한가.** 작성자가 없어도 검사 범위를 오해하지 않게 해야 합니다. ‘검증 완료’보다 온도 변환·범위·미측정 구별을 검사했다고 구체적으로 씁니다.</a:t>
            </a:r>
          </a:p>
          <a:p xmlns:a="http://schemas.openxmlformats.org/drawingml/2006/main">
            <a:r>
              <a:t/>
            </a:r>
          </a:p>
          <a:p xmlns:a="http://schemas.openxmlformats.org/drawingml/2006/main">
            <a:r>
              <a:t>**함께 보는 예.** 안내에는 course의 실행 명령, source가 읽는 입력명, work 결과 두 개, 이슈 원문을 확인하는 방법을 씁니다. 확정 근거가 있으면 작업 사본만 고치고 재확인합니다.</a:t>
            </a:r>
          </a:p>
          <a:p xmlns:a="http://schemas.openxmlformats.org/drawingml/2006/main">
            <a:r>
              <a:t/>
            </a:r>
          </a:p>
          <a:p xmlns:a="http://schemas.openxmlformats.org/drawingml/2006/main">
            <a:r>
              <a:t>**헷갈리는 경우.** 모든 필드를 검사하거나 실제 센서 정확도를 보장한다고 주장하지 않습니다. 오늘은 로컬 합성 파일의 처리이며 외부 서비스로 전송하지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작성칸: 목적 / 필요한 파일 / 명령 / 입력 선택 / 결과 위치 / 이슈 해석 / 수정 근거 / 미확인 범위.</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work/usage.md에 실행 안내를 씁니다.</a:t>
            </a:r>
          </a:p>
          <a:p xmlns:a="http://schemas.openxmlformats.org/drawingml/2006/main">
            <a:r>
              <a:t>2. 짝이 입력 하나의 결과를 설명하게 합니다.</a:t>
            </a:r>
          </a:p>
          <a:p xmlns:a="http://schemas.openxmlformats.org/drawingml/2006/main">
            <a:r>
              <a:t>3. 빠진 경로와 계약을 보완합니다.</a:t>
            </a:r>
          </a:p>
          <a:p xmlns:a="http://schemas.openxmlformats.org/drawingml/2006/main">
            <a:r>
              <a:t>4. 코드·입력·요약·이슈·사례표를 함께 제출합니다.</a:t>
            </a:r>
          </a:p>
          <a:p xmlns:a="http://schemas.openxmlformats.org/drawingml/2006/main">
            <a:r>
              <a:t/>
            </a:r>
          </a:p>
          <a:p xmlns:a="http://schemas.openxmlformats.org/drawingml/2006/main">
            <a:r>
              <a:t>예상 결과: 재현 가능한 경로·명령·결과와 검증 범위가 분명한 안내.</a:t>
            </a:r>
          </a:p>
          <a:p xmlns:a="http://schemas.openxmlformats.org/drawingml/2006/main">
            <a:r>
              <a:t/>
            </a:r>
          </a:p>
          <a:p xmlns:a="http://schemas.openxmlformats.org/drawingml/2006/main">
            <a:r>
              <a:t>확인 질문: 이슈 0건이라는 결과만 남기면 무엇이 부족한가요?</a:t>
            </a:r>
          </a:p>
          <a:p xmlns:a="http://schemas.openxmlformats.org/drawingml/2006/main">
            <a:r>
              <a:t/>
            </a:r>
          </a:p>
          <a:p xmlns:a="http://schemas.openxmlformats.org/drawingml/2006/main">
            <a:r>
              <a:t>막혔을 때: 처음 실행 순서와 오류 확인 순서를 나눠 씁니다. 미확인 사실을 확정하지 않습니다.</a:t>
            </a:r>
          </a:p>
          <a:p xmlns:a="http://schemas.openxmlformats.org/drawingml/2006/main">
            <a:r>
              <a:t/>
            </a:r>
          </a:p>
          <a:p xmlns:a="http://schemas.openxmlformats.org/drawingml/2006/main">
            <a:r>
              <a:t>[활동 자료와 작성칸](practice-guide.md#a18--검사기-사용-안내와-근거-전달)에서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[controlflow.html](https://docs.python.org/3/tutorial/controlflow.html)</a:t>
            </a:r>
          </a:p>
          <a:p xmlns:a="http://schemas.openxmlformats.org/drawingml/2006/main">
            <a:r>
              <a:t>- [inputoutput.html](https://docs.python.org/3/tutorial/inputoutput.html)</a:t>
            </a:r>
          </a:p>
          <a:p xmlns:a="http://schemas.openxmlformats.org/drawingml/2006/main">
            <a:r>
              <a:t>- [errors.html](https://docs.python.org/3/tutorial/errors.html)</a:t>
            </a:r>
          </a:p>
          <a:p xmlns:a="http://schemas.openxmlformats.org/drawingml/2006/main">
            <a:r>
              <a:t>- [csv.html](https://docs.python.org/3/library/csv.html)</a:t>
            </a:r>
          </a:p>
          <a:p xmlns:a="http://schemas.openxmlformats.org/drawingml/2006/main">
            <a:r>
              <a:t>- [json.html](https://docs.python.org/3/library/json.html)</a:t>
            </a:r>
          </a:p>
          <a:p xmlns:a="http://schemas.openxmlformats.org/drawingml/2006/main">
            <a:r>
              <a:t>- [pathlib.html](https://docs.python.org/3/library/pathlib.html)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수락 건수는 숫자 건수와 다릅니다.</a:t>
            </a:r>
          </a:p>
          <a:p xmlns:a="http://schemas.openxmlformats.org/drawingml/2006/main">
            <a:r>
              <a:t>평균 없음과 실제 평균 0을 구별합니다.</a:t>
            </a:r>
          </a:p>
          <a:p xmlns:a="http://schemas.openxmlformats.org/drawingml/2006/main">
            <a:r>
              <a:t>파일명과 실행 범위를 함께 보고합니다.</a:t>
            </a:r>
          </a:p>
          <a:p xmlns:a="http://schemas.openxmlformats.org/drawingml/2006/main">
            <a:r>
              <a:t/>
            </a:r>
          </a:p>
          <a:p xmlns:a="http://schemas.openxmlformats.org/drawingml/2006/main">
            <a:r>
              <a:t>관련 교시의 상세 원문:</a:t>
            </a:r>
          </a:p>
          <a:p xmlns:a="http://schemas.openxmlformats.org/drawingml/2006/main">
            <a:r>
              <a:t>### 사례로 이해하기 · 분류 건수와 평균 분모를 보존하기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로그 검사기를 넘겨받은 사람이 요약의 accepted를 실제 숫자 수라고 읽었습니다. 그러나 기존 검사기에서 accepted는 수치와 미측정을 합한 수락 건수입니다. 이름만 보고 의미를 추측하지 말고 결과 계약과 계산 줄을 확인해야 합니다. 합성 원문 다섯 건은 “10”, 빈 문자열, “20”, “오류”, “0”입니다. 수치는 세 건, 미측정은 한 건, 이슈는 한 건입니다. 입력 전체와 분류된 부분이 빠짐없이 맞는지 검산합니다.</a:t>
            </a:r>
          </a:p>
          <a:p xmlns:a="http://schemas.openxmlformats.org/drawingml/2006/main">
            <a:r>
              <a:t/>
            </a:r>
          </a:p>
          <a:p xmlns:a="http://schemas.openxmlformats.org/drawingml/2006/main">
            <a:r>
              <a:t>이 프로그램의 관계는 input=accepted+issues, accepted=numeric+missing입니다. 다섯 건 사례에서는 5=4+1, 4=3+1입니다. 평균은 숫자 세 건의 합 10+20+0=30을 숫자 건수 3으로 나누어 10입니다. 수락 건수 4로 나누면 7.5가 되어 미측정을 0처럼 처리합니다. 이슈 건수까지 포함해 5로 나누면 6이 됩니다. 같은 원문에서 분모만 바꿔도 업무 의미가 바뀌므로 평균 대상과 건수를 함께 보고합니다.</a:t>
            </a:r>
          </a:p>
          <a:p xmlns:a="http://schemas.openxmlformats.org/drawingml/2006/main">
            <a:r>
              <a:t/>
            </a:r>
          </a:p>
          <a:p xmlns:a="http://schemas.openxmlformats.org/drawingml/2006/main">
            <a:r>
              <a:t>한 행의 추적은 원문→해석→분류→누적 순서입니다. 잘못된 글자가 나오면 이슈 목록에 원문을 남기고 continue로 다음 행으로 넘어갑니다. 문제 행이 수치 목록에도 들어가면 중복 분류가 되어 두 검산 관계가 깨질 수 있습니다. 모든 수치가 없을 때 평균은 None입니다. 0이라고 쓰면 실제 평균 0을 계산했다는 오해가 생깁니다. 헤더만 있는 입력은 전체 0건이고 모든 값이 빈 입력은 전체 기록은 있으나 수치가 0건입니다. 둘 다 평균이 없지만 같은 자료는 아닙니다. 결과 안내에는 입력 파일명·명령·실제 출력·미확인 범위·변경 이유를 남깁니다. 현재 검사는 합성 온도값 규칙을 확인하며 모든 필드나 센서의 실제 성능을 보증하지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**수락 건수는 수치 건수인가요?** 이 검사기에서는 수치와 미측정을 합하므로 결과 계약을 읽습니다.</a:t>
            </a:r>
          </a:p>
          <a:p xmlns:a="http://schemas.openxmlformats.org/drawingml/2006/main">
            <a:r>
              <a:t/>
            </a:r>
          </a:p>
          <a:p xmlns:a="http://schemas.openxmlformats.org/drawingml/2006/main">
            <a:r>
              <a:t>2. **continue가 필요한 이유는?** 이슈로 분류한 행을 정상 처리로 보내지 않고 다음 행으로 넘어갑니다.</a:t>
            </a:r>
          </a:p>
          <a:p xmlns:a="http://schemas.openxmlformats.org/drawingml/2006/main">
            <a:r>
              <a:t/>
            </a:r>
          </a:p>
          <a:p xmlns:a="http://schemas.openxmlformats.org/drawingml/2006/main">
            <a:r>
              <a:t>3. **평균 None과 0은 같은가요?** None은 계산할 수치가 없음이며 0은 실제 수치 평균이 0이라는 값입니다.</a:t>
            </a:r>
          </a:p>
          <a:p xmlns:a="http://schemas.openxmlformats.org/drawingml/2006/main">
            <a:r>
              <a:t/>
            </a:r>
          </a:p>
          <a:p xmlns:a="http://schemas.openxmlformats.org/drawingml/2006/main">
            <a:r>
              <a:t/>
            </a:r>
          </a:p>
          <a:p xmlns:a="http://schemas.openxmlformats.org/drawingml/2006/main">
            <a:r>
              <a:t>**개념.** 검사기는 한 행씩 온도를 해석하여 정상 수치·미측정·이슈를 나눕니다. 함수는 한 값의 규칙을 담당하고 반복문은 여러 행에 같은 규칙을 적용합니다.</a:t>
            </a:r>
          </a:p>
          <a:p xmlns:a="http://schemas.openxmlformats.org/drawingml/2006/main">
            <a:r>
              <a:t/>
            </a:r>
          </a:p>
          <a:p xmlns:a="http://schemas.openxmlformats.org/drawingml/2006/main">
            <a:r>
              <a:t>**왜 필요한가.**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**함께 보는 예.** 실제 수치는 22.5·25.0·0.0으로 합 47.5,개수 3,평균 15.83입니다. 빈 온도 1건은 미측정,뜨거움과 51.0은 원문 이슈로 남깁니다.0도 실제 측정이므로 평균에 포함합니다.</a:t>
            </a:r>
          </a:p>
          <a:p xmlns:a="http://schemas.openxmlformats.org/drawingml/2006/main">
            <a:r>
              <a:t/>
            </a:r>
          </a:p>
          <a:p xmlns:a="http://schemas.openxmlformats.org/drawingml/2006/main">
            <a:r>
              <a:t>**헷갈리는 경우.** 평균이 낮아 보인다는 이유로 0을 빼지 않습니다. 원문과 계약을 봅니다. 이 프로그램은 온도 규칙에 집중하며 모든 필드와 실제 측정의 진위를 검사하지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import json</a:t>
            </a:r>
          </a:p>
          <a:p xmlns:a="http://schemas.openxmlformats.org/drawingml/2006/main">
            <a:r>
              <a:t>from pathlib import Path</a:t>
            </a:r>
          </a:p>
          <a:p xmlns:a="http://schemas.openxmlformats.org/drawingml/2006/main">
            <a:r>
              <a:t/>
            </a:r>
          </a:p>
          <a:p xmlns:a="http://schemas.openxmlformats.org/drawingml/2006/main">
            <a:r>
              <a:t>def parse_temperature(raw):</a:t>
            </a:r>
          </a:p>
          <a:p xmlns:a="http://schemas.openxmlformats.org/drawingml/2006/main">
            <a:r>
              <a:t>    if raw == "":</a:t>
            </a:r>
          </a:p>
          <a:p xmlns:a="http://schemas.openxmlformats.org/drawingml/2006/main">
            <a:r>
              <a:t>        return None</a:t>
            </a:r>
          </a:p>
          <a:p xmlns:a="http://schemas.openxmlformats.org/drawingml/2006/main">
            <a:r>
              <a:t>    value = float(raw)</a:t>
            </a:r>
          </a:p>
          <a:p xmlns:a="http://schemas.openxmlformats.org/drawingml/2006/main">
            <a:r>
              <a:t>    if value &lt; 0 or value &gt; 50:</a:t>
            </a:r>
          </a:p>
          <a:p xmlns:a="http://schemas.openxmlformats.org/drawingml/2006/main">
            <a:r>
              <a:t>        raise ValueError("범위 확인 필요")</a:t>
            </a:r>
          </a:p>
          <a:p xmlns:a="http://schemas.openxmlformats.org/drawingml/2006/main">
            <a:r>
              <a:t>    return value</a:t>
            </a:r>
          </a:p>
          <a:p xmlns:a="http://schemas.openxmlformats.org/drawingml/2006/main">
            <a:r>
              <a:t/>
            </a:r>
          </a:p>
          <a:p xmlns:a="http://schemas.openxmlformats.org/drawingml/2006/main">
            <a:r>
              <a:t>base = Path(__file__).resolve().parent.parent</a:t>
            </a:r>
          </a:p>
          <a:p xmlns:a="http://schemas.openxmlformats.org/drawingml/2006/main">
            <a:r>
              <a:t>source = base / "data" / "bad_readings.csv"</a:t>
            </a:r>
          </a:p>
          <a:p xmlns:a="http://schemas.openxmlformats.org/drawingml/2006/main">
            <a:r>
              <a:t>with source.open(encoding="utf-8", newline="") as file:</a:t>
            </a:r>
          </a:p>
          <a:p xmlns:a="http://schemas.openxmlformats.org/drawingml/2006/main">
            <a:r>
              <a:t>    rows = list(csv.DictReader(file))</a:t>
            </a:r>
          </a:p>
          <a:p xmlns:a="http://schemas.openxmlformats.org/drawingml/2006/main">
            <a:r>
              <a:t>numbers = []</a:t>
            </a:r>
          </a:p>
          <a:p xmlns:a="http://schemas.openxmlformats.org/drawingml/2006/main">
            <a:r>
              <a:t>issues = []</a:t>
            </a:r>
          </a:p>
          <a:p xmlns:a="http://schemas.openxmlformats.org/drawingml/2006/main">
            <a:r>
              <a:t>missing = 0</a:t>
            </a:r>
          </a:p>
          <a:p xmlns:a="http://schemas.openxmlformats.org/drawingml/2006/main">
            <a:r>
              <a:t>for row in rows:</a:t>
            </a:r>
          </a:p>
          <a:p xmlns:a="http://schemas.openxmlformats.org/drawingml/2006/main">
            <a:r>
              <a:t>    try:</a:t>
            </a:r>
          </a:p>
          <a:p xmlns:a="http://schemas.openxmlformats.org/drawingml/2006/main">
            <a:r>
              <a:t>        value = parse_temperature(row["temperature_c"])</a:t>
            </a:r>
          </a:p>
          <a:p xmlns:a="http://schemas.openxmlformats.org/drawingml/2006/main">
            <a:r>
              <a:t>    except ValueError:</a:t>
            </a:r>
          </a:p>
          <a:p xmlns:a="http://schemas.openxmlformats.org/drawingml/2006/main">
            <a:r>
              <a:t>        issues.append({"sensor_id": row["sensor_id"], "raw": row["temperature_c"]})</a:t>
            </a:r>
          </a:p>
          <a:p xmlns:a="http://schemas.openxmlformats.org/drawingml/2006/main">
            <a:r>
              <a:t>        continue</a:t>
            </a:r>
          </a:p>
          <a:p xmlns:a="http://schemas.openxmlformats.org/drawingml/2006/main">
            <a:r>
              <a:t>    if value is None:</a:t>
            </a:r>
          </a:p>
          <a:p xmlns:a="http://schemas.openxmlformats.org/drawingml/2006/main">
            <a:r>
              <a:t>        missing = missing + 1</a:t>
            </a:r>
          </a:p>
          <a:p xmlns:a="http://schemas.openxmlformats.org/drawingml/2006/main">
            <a:r>
              <a:t>    else:</a:t>
            </a:r>
          </a:p>
          <a:p xmlns:a="http://schemas.openxmlformats.org/drawingml/2006/main">
            <a:r>
              <a:t>        numbers.append(value)</a:t>
            </a:r>
          </a:p>
          <a:p xmlns:a="http://schemas.openxmlformats.org/drawingml/2006/main">
            <a:r>
              <a:t>average = None</a:t>
            </a:r>
          </a:p>
          <a:p xmlns:a="http://schemas.openxmlformats.org/drawingml/2006/main">
            <a:r>
              <a:t>if len(numbers) &gt; 0:</a:t>
            </a:r>
          </a:p>
          <a:p xmlns:a="http://schemas.openxmlformats.org/drawingml/2006/main">
            <a:r>
              <a:t>    average = round(sum(numbers) / len(numbers), 2)</a:t>
            </a:r>
          </a:p>
          <a:p xmlns:a="http://schemas.openxmlformats.org/drawingml/2006/main">
            <a:r>
              <a:t>summary = {"input": len(rows), "accepted": len(numbers) + missing,</a:t>
            </a:r>
          </a:p>
          <a:p xmlns:a="http://schemas.openxmlformats.org/drawingml/2006/main">
            <a:r>
              <a:t>           "missing": missing, "issues": len(issues), "average": average}</a:t>
            </a:r>
          </a:p>
          <a:p xmlns:a="http://schemas.openxmlformats.org/drawingml/2006/main">
            <a:r>
              <a:t>(base / "work" / "check_summary.json").write_text(</a:t>
            </a:r>
          </a:p>
          <a:p xmlns:a="http://schemas.openxmlformats.org/drawingml/2006/main">
            <a:r>
              <a:t>    json.dumps(summary, ensure_ascii=False, indent=2), encoding="utf-8")</a:t>
            </a:r>
          </a:p>
          <a:p xmlns:a="http://schemas.openxmlformats.org/drawingml/2006/main">
            <a:r>
              <a:t>(base / "work" / "check_issues.json").write_text(</a:t>
            </a:r>
          </a:p>
          <a:p xmlns:a="http://schemas.openxmlformats.org/drawingml/2006/main">
            <a:r>
              <a:t>    json.dumps(issues, ensure_ascii=False, indent=2), encoding="utf-8")</a:t>
            </a:r>
          </a:p>
          <a:p xmlns:a="http://schemas.openxmlformats.org/drawingml/2006/main">
            <a:r>
              <a:t>print(summary["input"], summary["accepted"], summary["missing"], summary["issues"])</a:t>
            </a:r>
          </a:p>
          <a:p xmlns:a="http://schemas.openxmlformats.org/drawingml/2006/main">
            <a:r>
              <a:t>print(summary["average"])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`import csv` | CSV 도구를 가져옵니다. |</a:t>
            </a:r>
          </a:p>
          <a:p xmlns:a="http://schemas.openxmlformats.org/drawingml/2006/main">
            <a:r>
              <a:t>| 2 | `import json` | JSON 도구를 가져옵니다. |</a:t>
            </a:r>
          </a:p>
          <a:p xmlns:a="http://schemas.openxmlformats.org/drawingml/2006/main">
            <a:r>
              <a:t>| 3 | `from pathlib import Path` | 경로 도구를 가져옵니다. |</a:t>
            </a:r>
          </a:p>
          <a:p xmlns:a="http://schemas.openxmlformats.org/drawingml/2006/main">
            <a:r>
              <a:t>| 4 | `` | 정의 부분을 나누는 빈 줄입니다. |</a:t>
            </a:r>
          </a:p>
          <a:p xmlns:a="http://schemas.openxmlformats.org/drawingml/2006/main">
            <a:r>
              <a:t>| 5 | `def parse_temperature(raw):` | 온도 해석 함수를 정의합니다. |</a:t>
            </a:r>
          </a:p>
          <a:p xmlns:a="http://schemas.openxmlformats.org/drawingml/2006/main">
            <a:r>
              <a:t>| 6 | `    if raw == "":` | 빈칸인지 확인합니다. |</a:t>
            </a:r>
          </a:p>
          <a:p xmlns:a="http://schemas.openxmlformats.org/drawingml/2006/main">
            <a:r>
              <a:t>| 7 | `        return None` | 미측정을 반환합니다. |</a:t>
            </a:r>
          </a:p>
          <a:p xmlns:a="http://schemas.openxmlformats.org/drawingml/2006/main">
            <a:r>
              <a:t>| 8 | `    value = float(raw)` | 숫자로 변환합니다. |</a:t>
            </a:r>
          </a:p>
          <a:p xmlns:a="http://schemas.openxmlformats.org/drawingml/2006/main">
            <a:r>
              <a:t>| 9 | `    if value &lt; 0 or value &gt; 50:` | 범위를 확인합니다. |</a:t>
            </a:r>
          </a:p>
          <a:p xmlns:a="http://schemas.openxmlformats.org/drawingml/2006/main">
            <a:r>
              <a:t>| 10 | `        raise ValueError("범위 확인 필요")` | 범위 문제를 알립니다. |</a:t>
            </a:r>
          </a:p>
          <a:p xmlns:a="http://schemas.openxmlformats.org/drawingml/2006/main">
            <a:r>
              <a:t>| 11 | `    return value` | 유효 숫자를 반환합니다. |</a:t>
            </a:r>
          </a:p>
          <a:p xmlns:a="http://schemas.openxmlformats.org/drawingml/2006/main">
            <a:r>
              <a:t>| 12 | `` | 정의와 실행을 나눕니다. |</a:t>
            </a:r>
          </a:p>
          <a:p xmlns:a="http://schemas.openxmlformats.org/drawingml/2006/main">
            <a:r>
              <a:t>| 13 | `base = Path(__file__).resolve().parent.parent` | course 주소를 정합니다. |</a:t>
            </a:r>
          </a:p>
          <a:p xmlns:a="http://schemas.openxmlformats.org/drawingml/2006/main">
            <a:r>
              <a:t>| 14 | `source = base / "data" / "bad_readings.csv"` | 입력 파일을 선택합니다. |</a:t>
            </a:r>
          </a:p>
          <a:p xmlns:a="http://schemas.openxmlformats.org/drawingml/2006/main">
            <a:r>
              <a:t>| 15 | `with source.open(encoding="utf-8", newline="") as file:` | 입력 파일을 엽니다. |</a:t>
            </a:r>
          </a:p>
          <a:p xmlns:a="http://schemas.openxmlformats.org/drawingml/2006/main">
            <a:r>
              <a:t>| 16 | `    rows = list(csv.DictReader(file))` | 헤더 키로 행을 읽습니다. |</a:t>
            </a:r>
          </a:p>
          <a:p xmlns:a="http://schemas.openxmlformats.org/drawingml/2006/main">
            <a:r>
              <a:t>| 17 | `numbers = []` | 숫자 목록을 준비합니다. |</a:t>
            </a:r>
          </a:p>
          <a:p xmlns:a="http://schemas.openxmlformats.org/drawingml/2006/main">
            <a:r>
              <a:t>| 18 | `issues = []` | 이슈 목록을 준비합니다. |</a:t>
            </a:r>
          </a:p>
          <a:p xmlns:a="http://schemas.openxmlformats.org/drawingml/2006/main">
            <a:r>
              <a:t>| 19 | `missing = 0` | 미측정 개수를 준비합니다. |</a:t>
            </a:r>
          </a:p>
          <a:p xmlns:a="http://schemas.openxmlformats.org/drawingml/2006/main">
            <a:r>
              <a:t>| 20 | `for row in rows:` | 한 행씩 처리합니다. |</a:t>
            </a:r>
          </a:p>
          <a:p xmlns:a="http://schemas.openxmlformats.org/drawingml/2006/main">
            <a:r>
              <a:t>| 21 | `    try:` | 해석을 시도합니다. |</a:t>
            </a:r>
          </a:p>
          <a:p xmlns:a="http://schemas.openxmlformats.org/drawingml/2006/main">
            <a:r>
              <a:t>| 22 | `        value = parse_temperature(row["temperature_c"])` | 이번 온도 원문을 함수에 줍니다. |</a:t>
            </a:r>
          </a:p>
          <a:p xmlns:a="http://schemas.openxmlformats.org/drawingml/2006/main">
            <a:r>
              <a:t>| 23 | `    except ValueError:` | 변환·범위 오류를 처리합니다. |</a:t>
            </a:r>
          </a:p>
          <a:p xmlns:a="http://schemas.openxmlformats.org/drawingml/2006/main">
            <a:r>
              <a:t>| 24 | `        issues.append({"sensor_id": row["sensor_id"], "raw": row["temperature_c"]})` | 센서명과 원문을 이슈로 보존합니다. |</a:t>
            </a:r>
          </a:p>
          <a:p xmlns:a="http://schemas.openxmlformats.org/drawingml/2006/main">
            <a:r>
              <a:t>| 25 | `        continue` | 다음 행으로 넘어갑니다. |</a:t>
            </a:r>
          </a:p>
          <a:p xmlns:a="http://schemas.openxmlformats.org/drawingml/2006/main">
            <a:r>
              <a:t>| 26 | `    if value is None:` | 미측정을 구별합니다. |</a:t>
            </a:r>
          </a:p>
          <a:p xmlns:a="http://schemas.openxmlformats.org/drawingml/2006/main">
            <a:r>
              <a:t>| 27 | `        missing = missing + 1` | 미측정 개수를 늘립니다. |</a:t>
            </a:r>
          </a:p>
          <a:p xmlns:a="http://schemas.openxmlformats.org/drawingml/2006/main">
            <a:r>
              <a:t>| 28 | `    else:` | 숫자인 경우입니다. |</a:t>
            </a:r>
          </a:p>
          <a:p xmlns:a="http://schemas.openxmlformats.org/drawingml/2006/main">
            <a:r>
              <a:t>| 29 | `        numbers.append(value)` | 수치 목록에 넣습니다. |</a:t>
            </a:r>
          </a:p>
          <a:p xmlns:a="http://schemas.openxmlformats.org/drawingml/2006/main">
            <a:r>
              <a:t>| 30 | `average = None` | 수치가 없을 때의 평균을 준비합니다. |</a:t>
            </a:r>
          </a:p>
          <a:p xmlns:a="http://schemas.openxmlformats.org/drawingml/2006/main">
            <a:r>
              <a:t>| 31 | `if len(numbers) &gt; 0:` | 숫자가 있을 때만 계산합니다. |</a:t>
            </a:r>
          </a:p>
          <a:p xmlns:a="http://schemas.openxmlformats.org/drawingml/2006/main">
            <a:r>
              <a:t>| 32 | `    average = round(sum(numbers) / len(numbers), 2)` | 실제 수치 개수로 나누어 반올림합니다. |</a:t>
            </a:r>
          </a:p>
          <a:p xmlns:a="http://schemas.openxmlformats.org/drawingml/2006/main">
            <a:r>
              <a:t>| 33 | `summary = {"input": len(rows), "accepted": len(numbers) + missing,` | 입력·수락 건수로 요약을 시작합니다. |</a:t>
            </a:r>
          </a:p>
          <a:p xmlns:a="http://schemas.openxmlformats.org/drawingml/2006/main">
            <a:r>
              <a:t>| 34 | `           "missing": missing, "issues": len(issues), "average": average}` | 미측정·이슈·평균을 포함합니다. |</a:t>
            </a:r>
          </a:p>
          <a:p xmlns:a="http://schemas.openxmlformats.org/drawingml/2006/main">
            <a:r>
              <a:t>| 35 | `(base / "work" / "check_summary.json").write_text(` | 요약 파일 쓰기를 시작합니다. |</a:t>
            </a:r>
          </a:p>
          <a:p xmlns:a="http://schemas.openxmlformats.org/drawingml/2006/main">
            <a:r>
              <a:t>| 36 | `    json.dumps(summary, ensure_ascii=False, indent=2), encoding="utf-8")` | JSON과 UTF-8로 저장합니다. |</a:t>
            </a:r>
          </a:p>
          <a:p xmlns:a="http://schemas.openxmlformats.org/drawingml/2006/main">
            <a:r>
              <a:t>| 37 | `(base / "work" / "check_issues.json").write_text(` | 이슈 파일 쓰기를 시작합니다. |</a:t>
            </a:r>
          </a:p>
          <a:p xmlns:a="http://schemas.openxmlformats.org/drawingml/2006/main">
            <a:r>
              <a:t>| 38 | `    json.dumps(issues, ensure_ascii=False, indent=2), encoding="utf-8")` | 이슈 원문을 JSON으로 저장합니다. |</a:t>
            </a:r>
          </a:p>
          <a:p xmlns:a="http://schemas.openxmlformats.org/drawingml/2006/main">
            <a:r>
              <a:t>| 39 | `print(summary["input"], summary["accepted"], summary["missing"], summary["issues"])` | 집계 네 개를 보여 줍니다. |</a:t>
            </a:r>
          </a:p>
          <a:p xmlns:a="http://schemas.openxmlformats.org/drawingml/2006/main">
            <a:r>
              <a:t>| 40 | `print(summary["average"])` | 평균 또는 None을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code/A16_log_checker.py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work/A16_log_checker.py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6 4 1 2</a:t>
            </a:r>
          </a:p>
          <a:p xmlns:a="http://schemas.openxmlformats.org/drawingml/2006/main">
            <a:r>
              <a:t>15.83</a:t>
            </a:r>
          </a:p>
          <a:p xmlns:a="http://schemas.openxmlformats.org/drawingml/2006/main">
            <a:r>
              <a:t>```</a:t>
            </a:r>
          </a:p>
          <a:p xmlns:a="http://schemas.openxmlformats.org/drawingml/2006/main">
            <a:r>
              <a:t/>
            </a:r>
          </a:p>
          <a:p xmlns:a="http://schemas.openxmlformats.org/drawingml/2006/main">
            <a:r>
              <a:t>작은 수정: `"bad_readings.csv"`를 `"readings.csv"`로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4 4 1 0</a:t>
            </a:r>
          </a:p>
          <a:p xmlns:a="http://schemas.openxmlformats.org/drawingml/2006/main">
            <a:r>
              <a:t>15.83</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질문: continue의 역할은 무엇인가요?</a:t>
            </a:r>
          </a:p>
          <a:p xmlns:a="http://schemas.openxmlformats.org/drawingml/2006/main">
            <a:r>
              <a:t/>
            </a:r>
          </a:p>
          <a:p xmlns:a="http://schemas.openxmlformats.org/drawingml/2006/main">
            <a:r>
              <a:t>막혔을 때: 한 행의 원문→함수→분류를 먼저 추적합니다. 여러 곳을 동시에 바꾸지 않습니다.</a:t>
            </a:r>
          </a:p>
          <a:p xmlns:a="http://schemas.openxmlformats.org/drawingml/2006/main">
            <a:r>
              <a:t/>
            </a:r>
          </a:p>
          <a:p xmlns:a="http://schemas.openxmlformats.org/drawingml/2006/main">
            <a:r>
              <a:t>[활동 자료와 작성칸](practice-guide.md#a16--로그-검사기-전체-흐름)에서 A16를 엽니다.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자료 위치: D:\KDigital_PhysicalAI\outputs\2026-10-15\lesson.md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심화 확인과 평가</a:t>
            </a:r>
          </a:p>
          <a:p xmlns:a="http://schemas.openxmlformats.org/drawingml/2006/main">
            <a:r>
              <a:t/>
            </a:r>
          </a:p>
          <a:p xmlns:a="http://schemas.openxmlformats.org/drawingml/2006/main">
            <a:r>
              <a:t>**18활동의 작성·예상·실제 확인을 분리해 봅니다. 속도나 설치 성공만 평가하지 않습니다.**</a:t>
            </a:r>
          </a:p>
          <a:p xmlns:a="http://schemas.openxmlformats.org/drawingml/2006/main">
            <a:r>
              <a:t/>
            </a:r>
          </a:p>
          <a:p xmlns:a="http://schemas.openxmlformats.org/drawingml/2006/main">
            <a:r>
              <a:t>| 기준 | 확인할 증거 | 보완이 필요한 경우 |</a:t>
            </a:r>
          </a:p>
          <a:p xmlns:a="http://schemas.openxmlformats.org/drawingml/2006/main">
            <a:r>
              <a:t>| --- | --- | --- |</a:t>
            </a:r>
          </a:p>
          <a:p xmlns:a="http://schemas.openxmlformats.org/drawingml/2006/main">
            <a:r>
              <a:t>| 개념 | 입력·처리·출력 또는 변경 단계의 역할 설명 | 결과 이름만 외우고 근거를 말하지 못함 |</a:t>
            </a:r>
          </a:p>
          <a:p xmlns:a="http://schemas.openxmlformats.org/drawingml/2006/main">
            <a:r>
              <a:t>| 수정 | 지정한 위치와 변경 전후를 연결 | 여러 곳을 바꾸어 원인을 설명하지 못함 |</a:t>
            </a:r>
          </a:p>
          <a:p xmlns:a="http://schemas.openxmlformats.org/drawingml/2006/main">
            <a:r>
              <a:t>| 확인 | 정상·경계·오류 사례의 예상과 실제 구별 | 실행 성공을 내용 정확성으로 단정 |</a:t>
            </a:r>
          </a:p>
          <a:p xmlns:a="http://schemas.openxmlformats.org/drawingml/2006/main">
            <a:r>
              <a:t>| 전달 | 파일·명령·결과·남은 질문을 재현 가능하게 기록 | 어느 파일을 사용했는지 불명확 |</a:t>
            </a:r>
          </a:p>
          <a:p xmlns:a="http://schemas.openxmlformats.org/drawingml/2006/main">
            <a:r>
              <a:t/>
            </a:r>
          </a:p>
          <a:p xmlns:a="http://schemas.openxmlformats.org/drawingml/2006/main">
            <a:r>
              <a:t>각 기준은 ‘독립 설명 가능 / 힌트 후 가능 / 다시 연습’으로 기록합니다. 개인 실행 여부는 별도 체크하며 미실행을 실패한 개념 이해로 간주하지 않습니다.</a:t>
            </a:r>
          </a:p>
          <a:p xmlns:a="http://schemas.openxmlformats.org/drawingml/2006/main">
            <a:r>
              <a:t/>
            </a:r>
          </a:p>
          <a:p xmlns:a="http://schemas.openxmlformats.org/drawingml/2006/main">
            <a:r>
              <a:t>## 구간별 확인 질문</a:t>
            </a:r>
          </a:p>
          <a:p xmlns:a="http://schemas.openxmlformats.org/drawingml/2006/main">
            <a:r>
              <a:t/>
            </a:r>
          </a:p>
          <a:p xmlns:a="http://schemas.openxmlformats.org/drawingml/2006/main">
            <a:r>
              <a:t>1. value는 모든 호출에서 같은 값을 뜻하나요?</a:t>
            </a:r>
          </a:p>
          <a:p xmlns:a="http://schemas.openxmlformats.org/drawingml/2006/main">
            <a:r>
              <a:t>2. 20과 30만 확인하면 놓칠 수 있는 실수는 무엇인가요?</a:t>
            </a:r>
          </a:p>
          <a:p xmlns:a="http://schemas.openxmlformats.org/drawingml/2006/main">
            <a:r>
              <a:t>3. print와 write_text는 같은 행동인가요?</a:t>
            </a:r>
          </a:p>
          <a:p xmlns:a="http://schemas.openxmlformats.org/drawingml/2006/main">
            <a:r>
              <a:t>4. except를 실행하면 실제 온도를 알아낸 것인가요?</a:t>
            </a:r>
          </a:p>
          <a:p xmlns:a="http://schemas.openxmlformats.org/drawingml/2006/main">
            <a:r>
              <a:t>5. 미측정도 분모에 넣어 4로 나누면 무엇이 바뀌나요?</a:t>
            </a:r>
          </a:p>
          <a:p xmlns:a="http://schemas.openxmlformats.org/drawingml/2006/main">
            <a:r>
              <a:t>6. 이슈 0건이라는 결과만 남기면 무엇이 부족한가요?</a:t>
            </a:r>
          </a:p>
          <a:p xmlns:a="http://schemas.openxmlformats.org/drawingml/2006/main">
            <a:r>
              <a:t/>
            </a:r>
          </a:p>
          <a:p xmlns:a="http://schemas.openxmlformats.org/drawingml/2006/main">
            <a:r>
              <a:t>## 제출</a:t>
            </a:r>
          </a:p>
          <a:p xmlns:a="http://schemas.openxmlformats.org/drawingml/2006/main">
            <a:r>
              <a:t/>
            </a:r>
          </a:p>
          <a:p xmlns:a="http://schemas.openxmlformats.org/drawingml/2006/main">
            <a:r>
              <a:t>work의 활동 노트와 수정 파일, 마지막 종합 작업, 확인한 명령·출력 또는 수동 추적 기록을 제출합니다. 기관 제출 위치는 미확인입니다. 정답 폴더를 학생 결과에 복사하지 않습니다.</a:t>
            </a:r>
          </a:p>
          <a:p xmlns:a="http://schemas.openxmlformats.org/drawingml/2006/main">
            <a:r>
              <a:t/>
            </a:r>
          </a:p>
          <a:p xmlns:a="http://schemas.openxmlformats.org/drawingml/2006/main">
            <a:r>
              <a:t/>
            </a:r>
          </a:p>
          <a:p xmlns:a="http://schemas.openxmlformats.org/drawingml/2006/main">
            <a:r>
              <a:t>## 2026-10-05 보강 · 새 사례 전이 문제</a:t>
            </a:r>
          </a:p>
          <a:p xmlns:a="http://schemas.openxmlformats.org/drawingml/2006/main">
            <a:r>
              <a:t/>
            </a:r>
          </a:p>
          <a:p xmlns:a="http://schemas.openxmlformats.org/drawingml/2006/main">
            <a:r>
              <a:t>기존 평가를 보존합니다. 아래 여섯 문제는 복습·도전용이며 설치 성공과 개념 이해를 구별해 평가합니다. 답을 먼저 읽지 말고 근거와 예상값을 기록합니다.</a:t>
            </a:r>
          </a:p>
          <a:p xmlns:a="http://schemas.openxmlformats.org/drawingml/2006/main">
            <a:r>
              <a:t/>
            </a:r>
          </a:p>
          <a:p xmlns:a="http://schemas.openxmlformats.org/drawingml/2006/main">
            <a:r>
              <a:t>### 문제 1 · 작업의 입력·처리·결과를 함수 계약으로 쓰기</a:t>
            </a:r>
          </a:p>
          <a:p xmlns:a="http://schemas.openxmlformats.org/drawingml/2006/main">
            <a:r>
              <a:t/>
            </a:r>
          </a:p>
          <a:p xmlns:a="http://schemas.openxmlformats.org/drawingml/2006/main">
            <a:r>
              <a:t>복습·도전: 물품 라벨에 상품명과 보관함을 받아 ‘장갑 / B02’처럼 한 문자열을 만드는 작업을 설계하세요. 입력 자리 두 개, 반환할 종류, 순서를 바꿨을 때 생길 문제를 문장으로 쓰세요. 첫 입력은 장갑/B02, 둘째 입력은 마스크/A01입니다. 이 두 호출의 결과를 예상하세요.</a:t>
            </a:r>
          </a:p>
          <a:p xmlns:a="http://schemas.openxmlformats.org/drawingml/2006/main">
            <a:r>
              <a:t/>
            </a:r>
          </a:p>
          <a:p xmlns:a="http://schemas.openxmlformats.org/drawingml/2006/main">
            <a:r>
              <a:t>**정답·해설:** 입력은 상품명·보관함 문자열, 결과는 두 내용을 순서대로 연결한 문자열입니다. 장갑/B02와 마스크/A01의 결과는 각 입력에 따라 달라집니다. 순서를 바꾸면 B02 / 장갑처럼 업무 양식이 달라집니다. 컴퓨터가 이름의 뜻을 추측해 입력 위치를 고쳐 준다는 답은 오답입니다.</a:t>
            </a:r>
          </a:p>
          <a:p xmlns:a="http://schemas.openxmlformats.org/drawingml/2006/main">
            <a:r>
              <a:t/>
            </a:r>
          </a:p>
          <a:p xmlns:a="http://schemas.openxmlformats.org/drawingml/2006/main">
            <a:r>
              <a:t>### 문제 2 · 화면 표시와 다음 계산의 반환값 구별하기</a:t>
            </a:r>
          </a:p>
          <a:p xmlns:a="http://schemas.openxmlformats.org/drawingml/2006/main">
            <a:r>
              <a:t/>
            </a:r>
          </a:p>
          <a:p xmlns:a="http://schemas.openxmlformats.org/drawingml/2006/main">
            <a:r>
              <a:t>복습·도전: 배송 준비 함수는 포장비 500원을 화면에 표시하지만 반환문이 없습니다. 호출 결과를 fee에 연결한 뒤 총액 3000에 더하려 합니다. 화면값·fee 값·다음 계산을 분리해 설명하고 올바른 역할 배치를 문장으로 설계하세요.</a:t>
            </a:r>
          </a:p>
          <a:p xmlns:a="http://schemas.openxmlformats.org/drawingml/2006/main">
            <a:r>
              <a:t/>
            </a:r>
          </a:p>
          <a:p xmlns:a="http://schemas.openxmlformats.org/drawingml/2006/main">
            <a:r>
              <a:t>**정답·해설:** 화면에는 500이 보이지만 fee는 None이며 다음 덧셈은 TypeError가 날 수 있습니다. 함수가 500을 반환하고 호출자가 총액에 더한 뒤 표시하도록 설계합니다. 화면에 500이 보이므로 fee도 500이라는 답은 표시와 반환을 혼동한 것입니다.</a:t>
            </a:r>
          </a:p>
          <a:p xmlns:a="http://schemas.openxmlformats.org/drawingml/2006/main">
            <a:r>
              <a:t/>
            </a:r>
          </a:p>
          <a:p xmlns:a="http://schemas.openxmlformats.org/drawingml/2006/main">
            <a:r>
              <a:t>### 문제 3 · 읽은 텍스트에서 값으로, 값에서 저장 파일로</a:t>
            </a:r>
          </a:p>
          <a:p xmlns:a="http://schemas.openxmlformats.org/drawingml/2006/main">
            <a:r>
              <a:t/>
            </a:r>
          </a:p>
          <a:p xmlns:a="http://schemas.openxmlformats.org/drawingml/2006/main">
            <a:r>
              <a:t>복습·도전: 입력 헤더는 device_id,value이고 한 행은 D09,0입니다. 프로그램은 temperature_c를 찾다가 실패했습니다. 파일 열기·헤더 찾기·숫자 변환 중 어느 단계인지 판단하고 원문을 보존한 수정 계획과 올바른 JSON 수치 표현을 쓰세요.</a:t>
            </a:r>
          </a:p>
          <a:p xmlns:a="http://schemas.openxmlformats.org/drawingml/2006/main">
            <a:r>
              <a:t/>
            </a:r>
          </a:p>
          <a:p xmlns:a="http://schemas.openxmlformats.org/drawingml/2006/main">
            <a:r>
              <a:t>**정답·해설:** 헤더 찾기 단계의 문제입니다. 실행 계약이 value를 쓰도록 정해졌다면 접근 키를 value로 맞추되 계약과 원문 헤더를 먼저 확인합니다. 수치 0은 실제 값이므로 JSON에서는 0이며 null이 아닙니다. 주소 수정이나 0 삭제는 현재 증거에 맞는 해결이 아닙니다.</a:t>
            </a:r>
          </a:p>
          <a:p xmlns:a="http://schemas.openxmlformats.org/drawingml/2006/main">
            <a:r>
              <a:t/>
            </a:r>
          </a:p>
          <a:p xmlns:a="http://schemas.openxmlformats.org/drawingml/2006/main">
            <a:r>
              <a:t>### 문제 4 · 미측정·잘못된 글자·실제 0의 세 갈래</a:t>
            </a:r>
          </a:p>
          <a:p xmlns:a="http://schemas.openxmlformats.org/drawingml/2006/main">
            <a:r>
              <a:t/>
            </a:r>
          </a:p>
          <a:p xmlns:a="http://schemas.openxmlformats.org/drawingml/2006/main">
            <a:r>
              <a:t>복습·도전: 수량 칸 원문이 빈 문자열, “0”, “여섯”, “ ”입니다. 계약은 정확한 빈 문자열만 미확인, 숫자만 계산 대상으로 정합니다. 네 갈래의 분류와 담당자에게 남길 이슈 원문을 작성하세요.</a:t>
            </a:r>
          </a:p>
          <a:p xmlns:a="http://schemas.openxmlformats.org/drawingml/2006/main">
            <a:r>
              <a:t/>
            </a:r>
          </a:p>
          <a:p xmlns:a="http://schemas.openxmlformats.org/drawingml/2006/main">
            <a:r>
              <a:t>**정답·해설:** 빈 문자열은 미확인, “0”은 수치 0, “여섯”과 공백 한 칸은 현재 계약의 숫자 해석 이슈입니다. 두 이슈 원문을 그대로 남깁니다. 공백을 자동 삭제해 미확인으로 합치는 답은 명시되지 않은 정리 규칙을 추가한 것입니다.</a:t>
            </a:r>
          </a:p>
          <a:p xmlns:a="http://schemas.openxmlformats.org/drawingml/2006/main">
            <a:r>
              <a:t/>
            </a:r>
          </a:p>
          <a:p xmlns:a="http://schemas.openxmlformats.org/drawingml/2006/main">
            <a:r>
              <a:t>### 문제 5 · 허용 범위의 바깥과 경계를 검사하기</a:t>
            </a:r>
          </a:p>
          <a:p xmlns:a="http://schemas.openxmlformats.org/drawingml/2006/main">
            <a:r>
              <a:t/>
            </a:r>
          </a:p>
          <a:p xmlns:a="http://schemas.openxmlformats.org/drawingml/2006/main">
            <a:r>
              <a:t>복습·도전: 수업용 배터리 기록의 허용 충전율은 0~100%입니다. -0.1, 0, 50, 100, 100.1의 기대 결과와 바깥을 찾는 논리 문장을 쓰세요. 100.1을 100으로 자동 변경해도 되는지 근거를 설명하세요.</a:t>
            </a:r>
          </a:p>
          <a:p xmlns:a="http://schemas.openxmlformats.org/drawingml/2006/main">
            <a:r>
              <a:t/>
            </a:r>
          </a:p>
          <a:p xmlns:a="http://schemas.openxmlformats.org/drawingml/2006/main">
            <a:r>
              <a:t>**정답·해설:** 양 끝 -0.1·100.1은 거부, 0·50·100은 허용입니다. ‘0 미만 또는 100 초과’가 바깥입니다. 자동 변경은 원문을 바꾸므로 현재 검사 계약만으로는 허용되지 않습니다. and로 쓰면 두 바깥 조건을 동시에 만족하는 값이 없어 오류를 놓칩니다.</a:t>
            </a:r>
          </a:p>
          <a:p xmlns:a="http://schemas.openxmlformats.org/drawingml/2006/main">
            <a:r>
              <a:t/>
            </a:r>
          </a:p>
          <a:p xmlns:a="http://schemas.openxmlformats.org/drawingml/2006/main">
            <a:r>
              <a:t>### 문제 6 · 분류 건수와 평균 분모를 보존하기</a:t>
            </a:r>
          </a:p>
          <a:p xmlns:a="http://schemas.openxmlformats.org/drawingml/2006/main">
            <a:r>
              <a:t/>
            </a:r>
          </a:p>
          <a:p xmlns:a="http://schemas.openxmlformats.org/drawingml/2006/main">
            <a:r>
              <a:t>복습·도전: 원문은 “5”, “15”, 빈 문자열, “뜨거움”, 빈 문자열, “0”입니다. 전체·수치·미측정·이슈·수락 건수와 평균을 구하고 두 검산식을 쓰세요. 수치가 전혀 없는 경우의 평균 표현도 적으세요.</a:t>
            </a:r>
          </a:p>
          <a:p xmlns:a="http://schemas.openxmlformats.org/drawingml/2006/main">
            <a:r>
              <a:t/>
            </a:r>
          </a:p>
          <a:p xmlns:a="http://schemas.openxmlformats.org/drawingml/2006/main">
            <a:r>
              <a:t>**정답·해설:** 전체 6, 수치 3, 미측정 2, 이슈 1, 수락 5입니다. 6=5+1, 5=3+2이고 평균은 20÷3을 소수 둘째 자리로 반올림한 6.67입니다. 수치가 없으면 None입니다. 수락 5를 분모로 쓰면 4가 되어 미측정을 포함한 잘못된 평균입니다.</a:t>
            </a:r>
          </a:p>
          <a:p xmlns:a="http://schemas.openxmlformats.org/drawingml/2006/main">
            <a:r>
              <a:t/>
            </a:r>
          </a:p>
          <a:p xmlns:a="http://schemas.openxmlformats.org/drawingml/2006/main">
            <a:r>
              <a:t/>
            </a:r>
          </a:p>
          <a:p xmlns:a="http://schemas.openxmlformats.org/drawingml/2006/main">
            <a:r>
              <a:t/>
            </a:r>
          </a:p>
          <a:p xmlns:a="http://schemas.openxmlformats.org/drawingml/2006/main">
            <a:r>
              <a:t>자료 위치: D:\KDigital_PhysicalAI\outputs\2026-10-15\assessment.md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심화 · 함수와 파일 검사</a:t>
            </a:r>
          </a:p>
          <a:p xmlns:a="http://schemas.openxmlformats.org/drawingml/2006/main">
            <a:r>
              <a:t/>
            </a:r>
          </a:p>
          <a:p xmlns:a="http://schemas.openxmlformats.org/drawingml/2006/main">
            <a:r>
              <a:t>2026-10-15 · Python 심화</a:t>
            </a:r>
          </a:p>
          <a:p xmlns:a="http://schemas.openxmlformats.org/drawingml/2006/main">
            <a:r>
              <a:t/>
            </a:r>
          </a:p>
          <a:p xmlns:a="http://schemas.openxmlformats.org/drawingml/2006/main">
            <a:r>
              <a:t>전날의 변수·조건·반복을 다시 읽고 반복 업무를 함수로 묶습니다. CSV를 읽어 JSON 결과를 저장하며 미측정과 잘못된 값을 구별하는 작은 로그 검사기를 사용하고 검수합니다.</a:t>
            </a:r>
          </a:p>
          <a:p xmlns:a="http://schemas.openxmlformats.org/drawingml/2006/main">
            <a:r>
              <a:t/>
            </a:r>
          </a:p>
          <a:p xmlns:a="http://schemas.openxmlformats.org/drawingml/2006/main">
            <a:r>
              <a:t>**50분씩 6교시의 필수 경로로 운영하며 실제 학습자 리허설 전입니다.** 원본을 보존하고 work의 지정한 부분을 수정합니다. 계정이나 실제 장비 없이 합성 자료로 진행합니다.</a:t>
            </a:r>
          </a:p>
          <a:p xmlns:a="http://schemas.openxmlformats.org/drawingml/2006/main">
            <a:r>
              <a:t/>
            </a:r>
          </a:p>
          <a:p xmlns:a="http://schemas.openxmlformats.org/drawingml/2006/main">
            <a:r>
              <a:t>현재 실행 명령 예시는 course 폴더 기준입니다. Windows PowerShell과 다른 OS에서는 파일을 찾고 저장하는 화면이 다를 수 있습니다. 설치는 강사가 확인하며, 실행할 수 없을 때는 동일 입력으로 예상·수동 추적을 작성합니다.</a:t>
            </a:r>
          </a:p>
          <a:p xmlns:a="http://schemas.openxmlformats.org/drawingml/2006/main">
            <a:r>
              <a:t/>
            </a:r>
          </a:p>
          <a:p xmlns:a="http://schemas.openxmlformats.org/drawingml/2006/main">
            <a:r>
              <a:t>## A01 · 같은 업무를 함수로 묶는 이유</a:t>
            </a:r>
          </a:p>
          <a:p xmlns:a="http://schemas.openxmlformats.org/drawingml/2006/main">
            <a:r>
              <a:t/>
            </a:r>
          </a:p>
          <a:p xmlns:a="http://schemas.openxmlformats.org/drawingml/2006/main">
            <a:r>
              <a:t>**목적:** 같은 조건식을 여러 곳에 복사하면 한 곳만 수정하고 다른 곳을 놓칠 수 있습니다. 반복되는 규칙을 모으면 변경 위치를 찾기 쉽습니다. 첫 코드부터 모든 줄을 함수로 만들 필요는 없습니다.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[A01_input.md](examples/course/data/A01_input.md)</a:t>
            </a:r>
          </a:p>
          <a:p xmlns:a="http://schemas.openxmlformats.org/drawingml/2006/main">
            <a:r>
              <a:t>- [A01_notes.md](examples/course/work/A01_notes.md)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같은 부분과 다른 값을 구별합니다.</a:t>
            </a:r>
          </a:p>
          <a:p xmlns:a="http://schemas.openxmlformats.org/drawingml/2006/main">
            <a:r>
              <a:t>2. 공통 작업에 temperature_status라는 이름을 붙입니다.</a:t>
            </a:r>
          </a:p>
          <a:p xmlns:a="http://schemas.openxmlformats.org/drawingml/2006/main">
            <a:r>
              <a:t>3. 받을 값과 결과의 뜻을 문장으로 씁니다.</a:t>
            </a:r>
          </a:p>
          <a:p xmlns:a="http://schemas.openxmlformats.org/drawingml/2006/main">
            <a:r>
              <a:t>4. 기준 변경 때 수정할 위치를 비교합니다.</a:t>
            </a:r>
          </a:p>
          <a:p xmlns:a="http://schemas.openxmlformats.org/drawingml/2006/main">
            <a:r>
              <a:t/>
            </a:r>
          </a:p>
          <a:p xmlns:a="http://schemas.openxmlformats.org/drawingml/2006/main">
            <a:r>
              <a:t>**예상 결과:** 공통 규칙·온도 입력·상태 결과를 구별합니다.</a:t>
            </a:r>
          </a:p>
          <a:p xmlns:a="http://schemas.openxmlformats.org/drawingml/2006/main">
            <a:r>
              <a:t/>
            </a:r>
          </a:p>
          <a:p xmlns:a="http://schemas.openxmlformats.org/drawingml/2006/main">
            <a:r>
              <a:t>**확인 방법:** 줄 수가 짧으면 함수가 필요 없다고 단정할 수 있나요?</a:t>
            </a:r>
          </a:p>
          <a:p xmlns:a="http://schemas.openxmlformats.org/drawingml/2006/main">
            <a:r>
              <a:t/>
            </a:r>
          </a:p>
          <a:p xmlns:a="http://schemas.openxmlformats.org/drawingml/2006/main">
            <a:r>
              <a:t>**오류 해결:** 입력 카드 한 장을 받고 상태 카드 한 장을 돌려주는 역할극으로 그립니다.</a:t>
            </a:r>
          </a:p>
          <a:p xmlns:a="http://schemas.openxmlformats.org/drawingml/2006/main">
            <a:r>
              <a:t/>
            </a:r>
          </a:p>
          <a:p xmlns:a="http://schemas.openxmlformats.org/drawingml/2006/main">
            <a:r>
              <a:t>## A02 · def로 정의하고 이름으로 호출하기</a:t>
            </a:r>
          </a:p>
          <a:p xmlns:a="http://schemas.openxmlformats.org/drawingml/2006/main">
            <a:r>
              <a:t/>
            </a:r>
          </a:p>
          <a:p xmlns:a="http://schemas.openxmlformats.org/drawingml/2006/main">
            <a:r>
              <a:t>**목적:** 위에서 아래로 읽는 원리는 유지하지만 함수 본문은 호출할 때 실행됩니다. 정의 위치와 실제 실행 시점을 나누어 보면 출력 순서가 이해됩니다.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[A02_input.md](examples/course/data/A02_input.md)</a:t>
            </a:r>
          </a:p>
          <a:p xmlns:a="http://schemas.openxmlformats.org/drawingml/2006/main">
            <a:r>
              <a:t>- [A02_example.py](examples/course/code/A02_example.py)</a:t>
            </a:r>
          </a:p>
          <a:p xmlns:a="http://schemas.openxmlformats.org/drawingml/2006/main">
            <a:r>
              <a:t>- [A02_notes.md](examples/course/work/A02_notes.md)</a:t>
            </a:r>
          </a:p>
          <a:p xmlns:a="http://schemas.openxmlformats.org/drawingml/2006/main">
            <a:r>
              <a:t>- [A02_example.py](examples/course/work/A02_example.py)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정의와 호출을 표시합니다.</a:t>
            </a:r>
          </a:p>
          <a:p xmlns:a="http://schemas.openxmlformats.org/drawingml/2006/main">
            <a:r>
              <a:t>2. 실제 출력 순서를 씁니다.</a:t>
            </a:r>
          </a:p>
          <a:p xmlns:a="http://schemas.openxmlformats.org/drawingml/2006/main">
            <a:r>
              <a:t>3. 호출을 한 번 더 넣어 예상합니다.</a:t>
            </a:r>
          </a:p>
          <a:p xmlns:a="http://schemas.openxmlformats.org/drawingml/2006/main">
            <a:r>
              <a:t>4. 정의 횟수와 본문 실행 횟수를 설명합니다.</a:t>
            </a:r>
          </a:p>
          <a:p xmlns:a="http://schemas.openxmlformats.org/drawingml/2006/main">
            <a:r>
              <a:t/>
            </a:r>
          </a:p>
          <a:p xmlns:a="http://schemas.openxmlformats.org/drawingml/2006/main">
            <a:r>
              <a:t>**예상 결과:** 정의 한 번·호출 두 번이면 안내 출력 두 번.</a:t>
            </a:r>
          </a:p>
          <a:p xmlns:a="http://schemas.openxmlformats.org/drawingml/2006/main">
            <a:r>
              <a:t/>
            </a:r>
          </a:p>
          <a:p xmlns:a="http://schemas.openxmlformats.org/drawingml/2006/main">
            <a:r>
              <a:t>**확인 방법:** 정의만 하고 호출하지 않으면 본문 출력은 나오나요?</a:t>
            </a:r>
          </a:p>
          <a:p xmlns:a="http://schemas.openxmlformats.org/drawingml/2006/main">
            <a:r>
              <a:t/>
            </a:r>
          </a:p>
          <a:p xmlns:a="http://schemas.openxmlformats.org/drawingml/2006/main">
            <a:r>
              <a:t>**오류 해결:** 본문 출력이 예상과 다르면 print가 함수 안에 들여써져 있는지 확인합니다.</a:t>
            </a:r>
          </a:p>
          <a:p xmlns:a="http://schemas.openxmlformats.org/drawingml/2006/main">
            <a:r>
              <a:t/>
            </a:r>
          </a:p>
          <a:p xmlns:a="http://schemas.openxmlformats.org/drawingml/2006/main">
            <a:r>
              <a:t>## A03 · 매개변수와 실제 인자</a:t>
            </a:r>
          </a:p>
          <a:p xmlns:a="http://schemas.openxmlformats.org/drawingml/2006/main">
            <a:r>
              <a:t/>
            </a:r>
          </a:p>
          <a:p xmlns:a="http://schemas.openxmlformats.org/drawingml/2006/main">
            <a:r>
              <a:t>**목적:** 고정 값을 함수 안에서 매번 바꾸는 대신 호출값을 달리해 같은 작업을 사용합니다. 함수 안 이름이 어디서 값을 받는지 알아야 전달한 값을 추적할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[A03_input.md](examples/course/data/A03_input.md)</a:t>
            </a:r>
          </a:p>
          <a:p xmlns:a="http://schemas.openxmlformats.org/drawingml/2006/main">
            <a:r>
              <a:t>- [A03_example.py](examples/course/code/A03_example.py)</a:t>
            </a:r>
          </a:p>
          <a:p xmlns:a="http://schemas.openxmlformats.org/drawingml/2006/main">
            <a:r>
              <a:t>- [A03_notes.md](examples/course/work/A03_notes.md)</a:t>
            </a:r>
          </a:p>
          <a:p xmlns:a="http://schemas.openxmlformats.org/drawingml/2006/main">
            <a:r>
              <a:t>- [A03_example.py](examples/course/work/A03_example.py)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전달값과 받을 이름을 짝짓습니다.</a:t>
            </a:r>
          </a:p>
          <a:p xmlns:a="http://schemas.openxmlformats.org/drawingml/2006/main">
            <a:r>
              <a:t>2. 둘째 입력을 S03·0.0으로 바꿉니다.</a:t>
            </a:r>
          </a:p>
          <a:p xmlns:a="http://schemas.openxmlformats.org/drawingml/2006/main">
            <a:r>
              <a:t>3. 값 하나가 부족한 호출과 정상 호출을 비교합니다.</a:t>
            </a:r>
          </a:p>
          <a:p xmlns:a="http://schemas.openxmlformats.org/drawingml/2006/main">
            <a:r>
              <a:t>4. 함수 내부를 고치지 않고 결과가 달라지는 이유를 씁니다.</a:t>
            </a:r>
          </a:p>
          <a:p xmlns:a="http://schemas.openxmlformats.org/drawingml/2006/main">
            <a:r>
              <a:t/>
            </a:r>
          </a:p>
          <a:p xmlns:a="http://schemas.openxmlformats.org/drawingml/2006/main">
            <a:r>
              <a:t>**예상 결과:** 둘째 출력 S03 0.0. 인자 부족은 TypeError.</a:t>
            </a:r>
          </a:p>
          <a:p xmlns:a="http://schemas.openxmlformats.org/drawingml/2006/main">
            <a:r>
              <a:t/>
            </a:r>
          </a:p>
          <a:p xmlns:a="http://schemas.openxmlformats.org/drawingml/2006/main">
            <a:r>
              <a:t>**확인 방법:** value는 모든 호출에서 같은 값을 뜻하나요?</a:t>
            </a:r>
          </a:p>
          <a:p xmlns:a="http://schemas.openxmlformats.org/drawingml/2006/main">
            <a:r>
              <a:t/>
            </a:r>
          </a:p>
          <a:p xmlns:a="http://schemas.openxmlformats.org/drawingml/2006/main">
            <a:r>
              <a:t>**오류 해결:** 받을 값 개수와 전달한 값 개수·순서를 비교합니다.</a:t>
            </a:r>
          </a:p>
          <a:p xmlns:a="http://schemas.openxmlformats.org/drawingml/2006/main">
            <a:r>
              <a:t/>
            </a:r>
          </a:p>
          <a:p xmlns:a="http://schemas.openxmlformats.org/drawingml/2006/main">
            <a:r>
              <a:t>## A04 · print와 return의 차이</a:t>
            </a:r>
          </a:p>
          <a:p xmlns:a="http://schemas.openxmlformats.org/drawingml/2006/main">
            <a:r>
              <a:t/>
            </a:r>
          </a:p>
          <a:p xmlns:a="http://schemas.openxmlformats.org/drawingml/2006/main">
            <a:r>
              <a:t>**목적:** 결과를 JSON에 저장하거나 집계하려면 함수가 값을 돌려줘야 합니다. 화면 글자를 다른 코드가 저절로 변수에 담지는 않습니다.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[A04_input.md](examples/course/data/A04_input.md)</a:t>
            </a:r>
          </a:p>
          <a:p xmlns:a="http://schemas.openxmlformats.org/drawingml/2006/main">
            <a:r>
              <a:t>- [A04_example.py](examples/course/code/A04_example.py)</a:t>
            </a:r>
          </a:p>
          <a:p xmlns:a="http://schemas.openxmlformats.org/drawingml/2006/main">
            <a:r>
              <a:t>- [A04_notes.md](examples/course/work/A04_notes.md)</a:t>
            </a:r>
          </a:p>
          <a:p xmlns:a="http://schemas.openxmlformats.org/drawingml/2006/main">
            <a:r>
              <a:t>- [A04_example.py](examples/course/work/A04_example.py)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출력과 반환의 경로를 구별합니다.</a:t>
            </a:r>
          </a:p>
          <a:p xmlns:a="http://schemas.openxmlformats.org/drawingml/2006/main">
            <a:r>
              <a:t>2. result가 값을 받는 위치를 찾습니다.</a:t>
            </a:r>
          </a:p>
          <a:p xmlns:a="http://schemas.openxmlformats.org/drawingml/2006/main">
            <a:r>
              <a:t>3. offset을 2.0으로 바꿔 예상합니다.</a:t>
            </a:r>
          </a:p>
          <a:p xmlns:a="http://schemas.openxmlformats.org/drawingml/2006/main">
            <a:r>
              <a:t>4. 두 출력의 관계를 확인합니다.</a:t>
            </a:r>
          </a:p>
          <a:p xmlns:a="http://schemas.openxmlformats.org/drawingml/2006/main">
            <a:r>
              <a:t/>
            </a:r>
          </a:p>
          <a:p xmlns:a="http://schemas.openxmlformats.org/drawingml/2006/main">
            <a:r>
              <a:t>**예상 결과:** 24.5를 반환하고 다음 계산은 25.5.</a:t>
            </a:r>
          </a:p>
          <a:p xmlns:a="http://schemas.openxmlformats.org/drawingml/2006/main">
            <a:r>
              <a:t/>
            </a:r>
          </a:p>
          <a:p xmlns:a="http://schemas.openxmlformats.org/drawingml/2006/main">
            <a:r>
              <a:t>**확인 방법:** 화면에 보인 값은 언제나 같은 함수의 반환값인가요?</a:t>
            </a:r>
          </a:p>
          <a:p xmlns:a="http://schemas.openxmlformats.org/drawingml/2006/main">
            <a:r>
              <a:t/>
            </a:r>
          </a:p>
          <a:p xmlns:a="http://schemas.openxmlformats.org/drawingml/2006/main">
            <a:r>
              <a:t>**오류 해결:** None이 보이면 return이 있는지, 특정 경로에서 반환 없이 끝나는지 확인합니다.</a:t>
            </a:r>
          </a:p>
          <a:p xmlns:a="http://schemas.openxmlformats.org/drawingml/2006/main">
            <a:r>
              <a:t/>
            </a:r>
          </a:p>
          <a:p xmlns:a="http://schemas.openxmlformats.org/drawingml/2006/main">
            <a:r>
              <a:t>## A05 · 조건을 담은 상태 함수</a:t>
            </a:r>
          </a:p>
          <a:p xmlns:a="http://schemas.openxmlformats.org/drawingml/2006/main">
            <a:r>
              <a:t/>
            </a:r>
          </a:p>
          <a:p xmlns:a="http://schemas.openxmlformats.org/drawingml/2006/main">
            <a:r>
              <a:t>**목적:** 상태 규칙과 출력 위치를 나누면 같은 결과를 화면이나 파일에 사용할 수 있습니다. 함수가 입력 자체를 수정하는지 결과만 만드는지도 계약으로 구별합니다.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[A05_input.md](examples/course/data/A05_input.md)</a:t>
            </a:r>
          </a:p>
          <a:p xmlns:a="http://schemas.openxmlformats.org/drawingml/2006/main">
            <a:r>
              <a:t>- [A05_example.py](examples/course/code/A05_example.py)</a:t>
            </a:r>
          </a:p>
          <a:p xmlns:a="http://schemas.openxmlformats.org/drawingml/2006/main">
            <a:r>
              <a:t>- [A05_notes.md](examples/course/work/A05_notes.md)</a:t>
            </a:r>
          </a:p>
          <a:p xmlns:a="http://schemas.openxmlformats.org/drawingml/2006/main">
            <a:r>
              <a:t>- [A05_example.py](examples/course/work/A05_example.py)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입력별 도달하는 return을 표시합니다.</a:t>
            </a:r>
          </a:p>
          <a:p xmlns:a="http://schemas.openxmlformats.org/drawingml/2006/main">
            <a:r>
              <a:t>2. 마지막 입력을 24.0으로 바꿉니다.</a:t>
            </a:r>
          </a:p>
          <a:p xmlns:a="http://schemas.openxmlformats.org/drawingml/2006/main">
            <a:r>
              <a:t>3. 상태 문자열만 생기는지 입력이 바뀌는지 설명합니다.</a:t>
            </a:r>
          </a:p>
          <a:p xmlns:a="http://schemas.openxmlformats.org/drawingml/2006/main">
            <a:r>
              <a:t>4. None 확인을 먼저 하는 이유를 씁니다.</a:t>
            </a:r>
          </a:p>
          <a:p xmlns:a="http://schemas.openxmlformats.org/drawingml/2006/main">
            <a:r>
              <a:t/>
            </a:r>
          </a:p>
          <a:p xmlns:a="http://schemas.openxmlformats.org/drawingml/2006/main">
            <a:r>
              <a:t>**예상 결과:** 정상·미측정·정상. 같은 값은 초과가 아닙니다.</a:t>
            </a:r>
          </a:p>
          <a:p xmlns:a="http://schemas.openxmlformats.org/drawingml/2006/main">
            <a:r>
              <a:t/>
            </a:r>
          </a:p>
          <a:p xmlns:a="http://schemas.openxmlformats.org/drawingml/2006/main">
            <a:r>
              <a:t>**확인 방법:** return 뒤의 코드를 같은 호출이 모두 실행하나요?</a:t>
            </a:r>
          </a:p>
          <a:p xmlns:a="http://schemas.openxmlformats.org/drawingml/2006/main">
            <a:r>
              <a:t/>
            </a:r>
          </a:p>
          <a:p xmlns:a="http://schemas.openxmlformats.org/drawingml/2006/main">
            <a:r>
              <a:t>**오류 해결:** 미측정 오류는 숫자 비교보다 None 검사가 앞인지 확인합니다.</a:t>
            </a:r>
          </a:p>
          <a:p xmlns:a="http://schemas.openxmlformats.org/drawingml/2006/main">
            <a:r>
              <a:t/>
            </a:r>
          </a:p>
          <a:p xmlns:a="http://schemas.openxmlformats.org/drawingml/2006/main">
            <a:r>
              <a:t>## A06 · 예상 사례표로 함수 확인하기</a:t>
            </a:r>
          </a:p>
          <a:p xmlns:a="http://schemas.openxmlformats.org/drawingml/2006/main">
            <a:r>
              <a:t/>
            </a:r>
          </a:p>
          <a:p xmlns:a="http://schemas.openxmlformats.org/drawingml/2006/main">
            <a:r>
              <a:t>**목적:** 프로그램이 보여 준 결과를 그대로 정답으로 적으면 잘못된 코드도 통과합니다. 실행 전에 업무 규칙에서 기대값을 정해야 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[A06_input.md](examples/course/data/A06_input.md)</a:t>
            </a:r>
          </a:p>
          <a:p xmlns:a="http://schemas.openxmlformats.org/drawingml/2006/main">
            <a:r>
              <a:t>- [A06_notes.md](examples/course/work/A06_notes.md)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24.0 초과 규칙을 문장으로 적습니다.</a:t>
            </a:r>
          </a:p>
          <a:p xmlns:a="http://schemas.openxmlformats.org/drawingml/2006/main">
            <a:r>
              <a:t>2. 다섯 기대값을 먼저 채웁니다.</a:t>
            </a:r>
          </a:p>
          <a:p xmlns:a="http://schemas.openxmlformats.org/drawingml/2006/main">
            <a:r>
              <a:t>3. A05 호출값을 바꾸어 대조합니다.</a:t>
            </a:r>
          </a:p>
          <a:p xmlns:a="http://schemas.openxmlformats.org/drawingml/2006/main">
            <a:r>
              <a:t>4. 통과한 범위와 남은 입력 종류를 나눕니다.</a:t>
            </a:r>
          </a:p>
          <a:p xmlns:a="http://schemas.openxmlformats.org/drawingml/2006/main">
            <a:r>
              <a:t/>
            </a:r>
          </a:p>
          <a:p xmlns:a="http://schemas.openxmlformats.org/drawingml/2006/main">
            <a:r>
              <a:t>**예상 결과:** 정상/정상/확인/미측정/정상과 판단 이유.</a:t>
            </a:r>
          </a:p>
          <a:p xmlns:a="http://schemas.openxmlformats.org/drawingml/2006/main">
            <a:r>
              <a:t/>
            </a:r>
          </a:p>
          <a:p xmlns:a="http://schemas.openxmlformats.org/drawingml/2006/main">
            <a:r>
              <a:t>**확인 방법:** 20과 30만 확인하면 놓칠 수 있는 실수는 무엇인가요?</a:t>
            </a:r>
          </a:p>
          <a:p xmlns:a="http://schemas.openxmlformats.org/drawingml/2006/main">
            <a:r>
              <a:t/>
            </a:r>
          </a:p>
          <a:p xmlns:a="http://schemas.openxmlformats.org/drawingml/2006/main">
            <a:r>
              <a:t>**오류 해결:** 기대값이 애매하면 코드 대신 초과라는 업무 문구를 먼저 읽습니다.</a:t>
            </a:r>
          </a:p>
          <a:p xmlns:a="http://schemas.openxmlformats.org/drawingml/2006/main">
            <a:r>
              <a:t/>
            </a:r>
          </a:p>
          <a:p xmlns:a="http://schemas.openxmlformats.org/drawingml/2006/main">
            <a:r>
              <a:t>## A07 · 파일 경로와 텍스트 읽기</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[A07_input.md](examples/course/data/A07_input.md)</a:t>
            </a:r>
          </a:p>
          <a:p xmlns:a="http://schemas.openxmlformats.org/drawingml/2006/main">
            <a:r>
              <a:t>- [A07_example.py](examples/course/code/A07_example.py)</a:t>
            </a:r>
          </a:p>
          <a:p xmlns:a="http://schemas.openxmlformats.org/drawingml/2006/main">
            <a:r>
              <a:t>- [notice.txt](examples/course/data/notice.txt)</a:t>
            </a:r>
          </a:p>
          <a:p xmlns:a="http://schemas.openxmlformats.org/drawingml/2006/main">
            <a:r>
              <a:t>- [A07_notes.md](examples/course/work/A07_notes.md)</a:t>
            </a:r>
          </a:p>
          <a:p xmlns:a="http://schemas.openxmlformats.org/drawingml/2006/main">
            <a:r>
              <a:t>- [A07_example.py](examples/course/work/A07_example.py)</a:t>
            </a:r>
          </a:p>
          <a:p xmlns:a="http://schemas.openxmlformats.org/drawingml/2006/main">
            <a:r>
              <a:t/>
            </a:r>
          </a:p>
          <a:p xmlns:a="http://schemas.openxmlformats.org/drawingml/2006/main">
            <a:r>
              <a:t>**목적:** 터미널을 다른 곳에서 열어도 같은 자료를 읽도록 준비합니다. 긴 준비 줄을 외우기보다 code·work·data의 상대 배치를 이해하는 것이 목적입니다.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[A07_input.md](examples/course/data/A07_input.md)</a:t>
            </a:r>
          </a:p>
          <a:p xmlns:a="http://schemas.openxmlformats.org/drawingml/2006/main">
            <a:r>
              <a:t>- [A07_example.py](examples/course/code/A07_example.py)</a:t>
            </a:r>
          </a:p>
          <a:p xmlns:a="http://schemas.openxmlformats.org/drawingml/2006/main">
            <a:r>
              <a:t>- [A07_notes.md](examples/course/work/A07_notes.md)</a:t>
            </a:r>
          </a:p>
          <a:p xmlns:a="http://schemas.openxmlformats.org/drawingml/2006/main">
            <a:r>
              <a:t>- [A07_example.py](examples/course/work/A07_example.py)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code·work·data 배치를 그립니다.</a:t>
            </a:r>
          </a:p>
          <a:p xmlns:a="http://schemas.openxmlformats.org/drawingml/2006/main">
            <a:r>
              <a:t>2. 실제 파일명을 확인합니다.</a:t>
            </a:r>
          </a:p>
          <a:p xmlns:a="http://schemas.openxmlformats.org/drawingml/2006/main">
            <a:r>
              <a:t>3. 같은 코드가 다른 현재 위치에서도 읽는지 비교합니다.</a:t>
            </a:r>
          </a:p>
          <a:p xmlns:a="http://schemas.openxmlformats.org/drawingml/2006/main">
            <a:r>
              <a:t>4. 없는 파일의 오류와 내용 오류를 구별합니다.</a:t>
            </a:r>
          </a:p>
          <a:p xmlns:a="http://schemas.openxmlformats.org/drawingml/2006/main">
            <a:r>
              <a:t/>
            </a:r>
          </a:p>
          <a:p xmlns:a="http://schemas.openxmlformats.org/drawingml/2006/main">
            <a:r>
              <a:t>**예상 결과:** 안내 한 줄 출력. 없는 파일명은 FileNotFoundError.</a:t>
            </a:r>
          </a:p>
          <a:p xmlns:a="http://schemas.openxmlformats.org/drawingml/2006/main">
            <a:r>
              <a:t/>
            </a:r>
          </a:p>
          <a:p xmlns:a="http://schemas.openxmlformats.org/drawingml/2006/main">
            <a:r>
              <a:t>**확인 방법:** data만 다른 곳으로 옮겨도 자동으로 찾나요?</a:t>
            </a:r>
          </a:p>
          <a:p xmlns:a="http://schemas.openxmlformats.org/drawingml/2006/main">
            <a:r>
              <a:t/>
            </a:r>
          </a:p>
          <a:p xmlns:a="http://schemas.openxmlformats.org/drawingml/2006/main">
            <a:r>
              <a:t>**오류 해결:** 압축 안에서 열었는지, 확장자가 두 번 붙었는지, course의 배치가 유지됐는지 확인합니다.</a:t>
            </a:r>
          </a:p>
          <a:p xmlns:a="http://schemas.openxmlformats.org/drawingml/2006/main">
            <a:r>
              <a:t/>
            </a:r>
          </a:p>
          <a:p xmlns:a="http://schemas.openxmlformats.org/drawingml/2006/main">
            <a:r>
              <a:t>## A08 · CSV를 이름표가 있는 행으로 읽기</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[A08_input.md](examples/course/data/A08_input.md)</a:t>
            </a:r>
          </a:p>
          <a:p xmlns:a="http://schemas.openxmlformats.org/drawingml/2006/main">
            <a:r>
              <a:t>- [A08_example.py](examples/course/code/A08_example.py)</a:t>
            </a:r>
          </a:p>
          <a:p xmlns:a="http://schemas.openxmlformats.org/drawingml/2006/main">
            <a:r>
              <a:t>- [readings.csv](examples/course/data/readings.csv)</a:t>
            </a:r>
          </a:p>
          <a:p xmlns:a="http://schemas.openxmlformats.org/drawingml/2006/main">
            <a:r>
              <a:t>- [A08_notes.md](examples/course/work/A08_notes.md)</a:t>
            </a:r>
          </a:p>
          <a:p xmlns:a="http://schemas.openxmlformats.org/drawingml/2006/main">
            <a:r>
              <a:t>- [A08_example.py](examples/course/work/A08_example.py)</a:t>
            </a:r>
          </a:p>
          <a:p xmlns:a="http://schemas.openxmlformats.org/drawingml/2006/main">
            <a:r>
              <a:t/>
            </a:r>
          </a:p>
          <a:p xmlns:a="http://schemas.openxmlformats.org/drawingml/2006/main">
            <a:r>
              <a:t>**목적:** 열 번호를 외우기보다 temperature_c라는 이름으로 읽으면 처리할 항목이 드러납니다. 실제 헤더가 약속과 맞아야 같은 이름으로 읽을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[A08_input.md](examples/course/data/A08_input.md)</a:t>
            </a:r>
          </a:p>
          <a:p xmlns:a="http://schemas.openxmlformats.org/drawingml/2006/main">
            <a:r>
              <a:t>- [A08_example.py](examples/course/code/A08_example.py)</a:t>
            </a:r>
          </a:p>
          <a:p xmlns:a="http://schemas.openxmlformats.org/drawingml/2006/main">
            <a:r>
              <a:t>- [A08_notes.md](examples/course/work/A08_notes.md)</a:t>
            </a:r>
          </a:p>
          <a:p xmlns:a="http://schemas.openxmlformats.org/drawingml/2006/main">
            <a:r>
              <a:t>- [A08_example.py](examples/course/work/A08_example.py)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헤더와 키의 대응을 표시합니다.</a:t>
            </a:r>
          </a:p>
          <a:p xmlns:a="http://schemas.openxmlformats.org/drawingml/2006/main">
            <a:r>
              <a:t>2. 헤더를 제외한 네 건을 셉니다.</a:t>
            </a:r>
          </a:p>
          <a:p xmlns:a="http://schemas.openxmlformats.org/drawingml/2006/main">
            <a:r>
              <a:t>3. 온도의 값 모양과 자료형을 나눠 적습니다.</a:t>
            </a:r>
          </a:p>
          <a:p xmlns:a="http://schemas.openxmlformats.org/drawingml/2006/main">
            <a:r>
              <a:t>4. 빈 온도가 어떤 문자열일지 예상합니다.</a:t>
            </a:r>
          </a:p>
          <a:p xmlns:a="http://schemas.openxmlformats.org/drawingml/2006/main">
            <a:r>
              <a:t/>
            </a:r>
          </a:p>
          <a:p xmlns:a="http://schemas.openxmlformats.org/drawingml/2006/main">
            <a:r>
              <a:t>**예상 결과:** 4 / S01 /22.5 str. 헤더는 데이터가 아닙니다.</a:t>
            </a:r>
          </a:p>
          <a:p xmlns:a="http://schemas.openxmlformats.org/drawingml/2006/main">
            <a:r>
              <a:t/>
            </a:r>
          </a:p>
          <a:p xmlns:a="http://schemas.openxmlformats.org/drawingml/2006/main">
            <a:r>
              <a:t>**확인 방법:** 빈 셀은 자동으로 None이 되나요?</a:t>
            </a:r>
          </a:p>
          <a:p xmlns:a="http://schemas.openxmlformats.org/drawingml/2006/main">
            <a:r>
              <a:t/>
            </a:r>
          </a:p>
          <a:p xmlns:a="http://schemas.openxmlformats.org/drawingml/2006/main">
            <a:r>
              <a:t>**오류 해결:** KeyError는 실제 헤더와 키를 비교합니다. 공백·인코딩도 실제 원문을 확인한 뒤 판단합니다.</a:t>
            </a:r>
          </a:p>
          <a:p xmlns:a="http://schemas.openxmlformats.org/drawingml/2006/main">
            <a:r>
              <a:t/>
            </a:r>
          </a:p>
          <a:p xmlns:a="http://schemas.openxmlformats.org/drawingml/2006/main">
            <a:r>
              <a:t>## A09 · JSON 결과를 새 파일로 저장하기</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[A09_input.md](examples/course/data/A09_input.md)</a:t>
            </a:r>
          </a:p>
          <a:p xmlns:a="http://schemas.openxmlformats.org/drawingml/2006/main">
            <a:r>
              <a:t>- [A09_example.py](examples/course/code/A09_example.py)</a:t>
            </a:r>
          </a:p>
          <a:p xmlns:a="http://schemas.openxmlformats.org/drawingml/2006/main">
            <a:r>
              <a:t>- [A09_notes.md](examples/course/work/A09_notes.md)</a:t>
            </a:r>
          </a:p>
          <a:p xmlns:a="http://schemas.openxmlformats.org/drawingml/2006/main">
            <a:r>
              <a:t>- [A09_example.py](examples/course/work/A09_example.py)</a:t>
            </a:r>
          </a:p>
          <a:p xmlns:a="http://schemas.openxmlformats.org/drawingml/2006/main">
            <a:r>
              <a:t>- [output_summary.json](examples/course/work/output_summary.json)</a:t>
            </a:r>
          </a:p>
          <a:p xmlns:a="http://schemas.openxmlformats.org/drawingml/2006/main">
            <a:r>
              <a:t/>
            </a:r>
          </a:p>
          <a:p xmlns:a="http://schemas.openxmlformats.org/drawingml/2006/main">
            <a:r>
              <a:t>**목적:** 화면 출력만 있으면 다음 사람이 결과를 재사용하기 어렵습니다. 입력 원자료를 덮어쓰지 않도록 work의 결과 경로를 명확히 정합니다.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[A09_input.md](examples/course/data/A09_input.md)</a:t>
            </a:r>
          </a:p>
          <a:p xmlns:a="http://schemas.openxmlformats.org/drawingml/2006/main">
            <a:r>
              <a:t>- [A09_example.py](examples/course/code/A09_example.py)</a:t>
            </a:r>
          </a:p>
          <a:p xmlns:a="http://schemas.openxmlformats.org/drawingml/2006/main">
            <a:r>
              <a:t>- [A09_notes.md](examples/course/work/A09_notes.md)</a:t>
            </a:r>
          </a:p>
          <a:p xmlns:a="http://schemas.openxmlformats.org/drawingml/2006/main">
            <a:r>
              <a:t>- [A09_example.py](examples/course/work/A09_example.py)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data와 work의 역할을 구별합니다.</a:t>
            </a:r>
          </a:p>
          <a:p xmlns:a="http://schemas.openxmlformats.org/drawingml/2006/main">
            <a:r>
              <a:t>2. 실행 후 output_summary.json을 엽니다.</a:t>
            </a:r>
          </a:p>
          <a:p xmlns:a="http://schemas.openxmlformats.org/drawingml/2006/main">
            <a:r>
              <a:t>3. 건수만 5로 바꾸고 다시 실행합니다.</a:t>
            </a:r>
          </a:p>
          <a:p xmlns:a="http://schemas.openxmlformats.org/drawingml/2006/main">
            <a:r>
              <a:t>4. 파일 저장 줄과 화면 출력 줄을 표시합니다.</a:t>
            </a:r>
          </a:p>
          <a:p xmlns:a="http://schemas.openxmlformats.org/drawingml/2006/main">
            <a:r>
              <a:t/>
            </a:r>
          </a:p>
          <a:p xmlns:a="http://schemas.openxmlformats.org/drawingml/2006/main">
            <a:r>
              <a:t>**예상 결과:** 처음 4 1, 수정 후 5 1. 저장 파일의 숫자도 바뀝니다.</a:t>
            </a:r>
          </a:p>
          <a:p xmlns:a="http://schemas.openxmlformats.org/drawingml/2006/main">
            <a:r>
              <a:t/>
            </a:r>
          </a:p>
          <a:p xmlns:a="http://schemas.openxmlformats.org/drawingml/2006/main">
            <a:r>
              <a:t>**확인 방법:** print와 write_text는 같은 행동인가요?</a:t>
            </a:r>
          </a:p>
          <a:p xmlns:a="http://schemas.openxmlformats.org/drawingml/2006/main">
            <a:r>
              <a:t/>
            </a:r>
          </a:p>
          <a:p xmlns:a="http://schemas.openxmlformats.org/drawingml/2006/main">
            <a:r>
              <a:t>**오류 해결:** 쓰기 권한이 없으면 강사와 저장 위치를 확인합니다. 원자료를 출력 주소로 바꾸지 않습니다.</a:t>
            </a:r>
          </a:p>
          <a:p xmlns:a="http://schemas.openxmlformats.org/drawingml/2006/main">
            <a:r>
              <a:t/>
            </a:r>
          </a:p>
          <a:p xmlns:a="http://schemas.openxmlformats.org/drawingml/2006/main">
            <a:r>
              <a:t>## A10 · 미측정과 잘못된 숫자의 구별</a:t>
            </a:r>
          </a:p>
          <a:p xmlns:a="http://schemas.openxmlformats.org/drawingml/2006/main">
            <a:r>
              <a:t/>
            </a:r>
          </a:p>
          <a:p xmlns:a="http://schemas.openxmlformats.org/drawingml/2006/main">
            <a:r>
              <a:t>**목적:** 모든 변환 실패를 None으로 바꾸면 누락과 잘못된 기록을 구별하지 못합니다. 원문과 실패 이유를 남겨야 확인 요청을 할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[A10_input.md](examples/course/data/A10_input.md)</a:t>
            </a:r>
          </a:p>
          <a:p xmlns:a="http://schemas.openxmlformats.org/drawingml/2006/main">
            <a:r>
              <a:t>- [A10_example.py](examples/course/code/A10_example.py)</a:t>
            </a:r>
          </a:p>
          <a:p xmlns:a="http://schemas.openxmlformats.org/drawingml/2006/main">
            <a:r>
              <a:t>- [A10_notes.md](examples/course/work/A10_notes.md)</a:t>
            </a:r>
          </a:p>
          <a:p xmlns:a="http://schemas.openxmlformats.org/drawingml/2006/main">
            <a:r>
              <a:t>- [A10_example.py](examples/course/work/A10_example.py)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원문·반환값·업무 의미를 표로 적습니다.</a:t>
            </a:r>
          </a:p>
          <a:p xmlns:a="http://schemas.openxmlformats.org/drawingml/2006/main">
            <a:r>
              <a:t>2. 뜨거움과 빈칸의 차이를 설명합니다.</a:t>
            </a:r>
          </a:p>
          <a:p xmlns:a="http://schemas.openxmlformats.org/drawingml/2006/main">
            <a:r>
              <a:t>3. 오류 원문과 종류를 기록합니다.</a:t>
            </a:r>
          </a:p>
          <a:p xmlns:a="http://schemas.openxmlformats.org/drawingml/2006/main">
            <a:r>
              <a:t>4. 실제값이 미확인일 때 남길 질문을 씁니다.</a:t>
            </a:r>
          </a:p>
          <a:p xmlns:a="http://schemas.openxmlformats.org/drawingml/2006/main">
            <a:r>
              <a:t/>
            </a:r>
          </a:p>
          <a:p xmlns:a="http://schemas.openxmlformats.org/drawingml/2006/main">
            <a:r>
              <a:t>**예상 결과:** 22.5/None/0.0을 구별하며 글자는 ValueError.</a:t>
            </a:r>
          </a:p>
          <a:p xmlns:a="http://schemas.openxmlformats.org/drawingml/2006/main">
            <a:r>
              <a:t/>
            </a:r>
          </a:p>
          <a:p xmlns:a="http://schemas.openxmlformats.org/drawingml/2006/main">
            <a:r>
              <a:t>**확인 방법:** 잘못된 숫자를 미측정으로 바꾸면 무엇을 잃나요?</a:t>
            </a:r>
          </a:p>
          <a:p xmlns:a="http://schemas.openxmlformats.org/drawingml/2006/main">
            <a:r>
              <a:t/>
            </a:r>
          </a:p>
          <a:p xmlns:a="http://schemas.openxmlformats.org/drawingml/2006/main">
            <a:r>
              <a:t>**오류 해결:** None과 문자열 "None"은 다릅니다. 후자는 숫자로 읽으면 실패합니다.</a:t>
            </a:r>
          </a:p>
          <a:p xmlns:a="http://schemas.openxmlformats.org/drawingml/2006/main">
            <a:r>
              <a:t/>
            </a:r>
          </a:p>
          <a:p xmlns:a="http://schemas.openxmlformats.org/drawingml/2006/main">
            <a:r>
              <a:t>## A11 · 오류의 위치·종류·원값</a:t>
            </a:r>
          </a:p>
          <a:p xmlns:a="http://schemas.openxmlformats.org/drawingml/2006/main">
            <a:r>
              <a:t/>
            </a:r>
          </a:p>
          <a:p xmlns:a="http://schemas.openxmlformats.org/drawingml/2006/main">
            <a:r>
              <a:t>**목적:** 파일 없음·키 없음·숫자 변환 실패는 다음 행동이 다릅니다. 이름만 암기하기보다 실패한 작업과 입력을 연결합니다.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[A11_input.md](examples/course/data/A11_input.md)</a:t>
            </a:r>
          </a:p>
          <a:p xmlns:a="http://schemas.openxmlformats.org/drawingml/2006/main">
            <a:r>
              <a:t>- [A11_notes.md](examples/course/work/A11_notes.md)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실패 작업·종류·경로 또는 값을 표시합니다.</a:t>
            </a:r>
          </a:p>
          <a:p xmlns:a="http://schemas.openxmlformats.org/drawingml/2006/main">
            <a:r>
              <a:t>2. 사실과 추정 원인을 나눕니다.</a:t>
            </a:r>
          </a:p>
          <a:p xmlns:a="http://schemas.openxmlformats.org/drawingml/2006/main">
            <a:r>
              <a:t>3. 다음 확인 동작을 하나씩 정합니다.</a:t>
            </a:r>
          </a:p>
          <a:p xmlns:a="http://schemas.openxmlformats.org/drawingml/2006/main">
            <a:r>
              <a:t>4. 오류 단서를 보존한 전달 기록을 씁니다.</a:t>
            </a:r>
          </a:p>
          <a:p xmlns:a="http://schemas.openxmlformats.org/drawingml/2006/main">
            <a:r>
              <a:t/>
            </a:r>
          </a:p>
          <a:p xmlns:a="http://schemas.openxmlformats.org/drawingml/2006/main">
            <a:r>
              <a:t>**예상 결과:** 주소·헤더·원값 확인을 구별합니다.</a:t>
            </a:r>
          </a:p>
          <a:p xmlns:a="http://schemas.openxmlformats.org/drawingml/2006/main">
            <a:r>
              <a:t/>
            </a:r>
          </a:p>
          <a:p xmlns:a="http://schemas.openxmlformats.org/drawingml/2006/main">
            <a:r>
              <a:t>**확인 방법:** ValueError면 모두 같은 값으로 고쳐도 되나요?</a:t>
            </a:r>
          </a:p>
          <a:p xmlns:a="http://schemas.openxmlformats.org/drawingml/2006/main">
            <a:r>
              <a:t/>
            </a:r>
          </a:p>
          <a:p xmlns:a="http://schemas.openxmlformats.org/drawingml/2006/main">
            <a:r>
              <a:t>**오류 해결:** 명령·관련 줄·마지막 오류를 남깁니다. 길다는 이유로 단서를 모두 지우지 않습니다.</a:t>
            </a:r>
          </a:p>
          <a:p xmlns:a="http://schemas.openxmlformats.org/drawingml/2006/main">
            <a:r>
              <a:t/>
            </a:r>
          </a:p>
          <a:p xmlns:a="http://schemas.openxmlformats.org/drawingml/2006/main">
            <a:r>
              <a:t>## A12 · try와 except로 예상 오류 기록</a:t>
            </a:r>
          </a:p>
          <a:p xmlns:a="http://schemas.openxmlformats.org/drawingml/2006/main">
            <a:r>
              <a:t/>
            </a:r>
          </a:p>
          <a:p xmlns:a="http://schemas.openxmlformats.org/drawingml/2006/main">
            <a:r>
              <a:t>**목적:** 한 값이 잘못되어도 원문과 이유를 남길 수 있습니다. 다룰 오류 종류를 좁히면 예상하지 못한 문제를 숨기지 않습니다.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[A12_input.md](examples/course/data/A12_input.md)</a:t>
            </a:r>
          </a:p>
          <a:p xmlns:a="http://schemas.openxmlformats.org/drawingml/2006/main">
            <a:r>
              <a:t>- [A12_example.py](examples/course/code/A12_example.py)</a:t>
            </a:r>
          </a:p>
          <a:p xmlns:a="http://schemas.openxmlformats.org/drawingml/2006/main">
            <a:r>
              <a:t>- [A12_notes.md](examples/course/work/A12_notes.md)</a:t>
            </a:r>
          </a:p>
          <a:p xmlns:a="http://schemas.openxmlformats.org/drawingml/2006/main">
            <a:r>
              <a:t>- [A12_example.py](examples/course/work/A12_example.py)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성공과 오류의 실행 줄을 표시합니다.</a:t>
            </a:r>
          </a:p>
          <a:p xmlns:a="http://schemas.openxmlformats.org/drawingml/2006/main">
            <a:r>
              <a:t>2. raw를 24.0으로 바꿔 비교합니다.</a:t>
            </a:r>
          </a:p>
          <a:p xmlns:a="http://schemas.openxmlformats.org/drawingml/2006/main">
            <a:r>
              <a:t>3. 오류 기록과 실제값 확정을 구별합니다.</a:t>
            </a:r>
          </a:p>
          <a:p xmlns:a="http://schemas.openxmlformats.org/drawingml/2006/main">
            <a:r>
              <a:t>4. 원문을 메시지에 남긴 이유를 설명합니다.</a:t>
            </a:r>
          </a:p>
          <a:p xmlns:a="http://schemas.openxmlformats.org/drawingml/2006/main">
            <a:r>
              <a:t/>
            </a:r>
          </a:p>
          <a:p xmlns:a="http://schemas.openxmlformats.org/drawingml/2006/main">
            <a:r>
              <a:t>**예상 결과:** 오류는 확인 필요, 정상값은 24.0 출력.</a:t>
            </a:r>
          </a:p>
          <a:p xmlns:a="http://schemas.openxmlformats.org/drawingml/2006/main">
            <a:r>
              <a:t/>
            </a:r>
          </a:p>
          <a:p xmlns:a="http://schemas.openxmlformats.org/drawingml/2006/main">
            <a:r>
              <a:t>**확인 방법:** except를 실행하면 실제 온도를 알아낸 것인가요?</a:t>
            </a:r>
          </a:p>
          <a:p xmlns:a="http://schemas.openxmlformats.org/drawingml/2006/main">
            <a:r>
              <a:t/>
            </a:r>
          </a:p>
          <a:p xmlns:a="http://schemas.openxmlformats.org/drawingml/2006/main">
            <a:r>
              <a:t>**오류 해결:** 오류를 숨기려고 except의 범위를 무조건 넓히지 않습니다.</a:t>
            </a:r>
          </a:p>
          <a:p xmlns:a="http://schemas.openxmlformats.org/drawingml/2006/main">
            <a:r>
              <a:t/>
            </a:r>
          </a:p>
          <a:p xmlns:a="http://schemas.openxmlformats.org/drawingml/2006/main">
            <a:r>
              <a:t>## A13 · 범위 규칙을 함수에서 확인하기</a:t>
            </a:r>
          </a:p>
          <a:p xmlns:a="http://schemas.openxmlformats.org/drawingml/2006/main">
            <a:r>
              <a:t/>
            </a:r>
          </a:p>
          <a:p xmlns:a="http://schemas.openxmlformats.org/drawingml/2006/main">
            <a:r>
              <a:t>**목적:** 51.0은 숫자이므로 float는 성공하지만 실습 입력 규칙에는 맞지 않습니다. 변환과 규칙 검사를 분리하여 읽어야 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[A13_input.md](examples/course/data/A13_input.md)</a:t>
            </a:r>
          </a:p>
          <a:p xmlns:a="http://schemas.openxmlformats.org/drawingml/2006/main">
            <a:r>
              <a:t>- [A13_example.py](examples/course/code/A13_example.py)</a:t>
            </a:r>
          </a:p>
          <a:p xmlns:a="http://schemas.openxmlformats.org/drawingml/2006/main">
            <a:r>
              <a:t>- [A13_notes.md](examples/course/work/A13_notes.md)</a:t>
            </a:r>
          </a:p>
          <a:p xmlns:a="http://schemas.openxmlformats.org/drawingml/2006/main">
            <a:r>
              <a:t>- [A13_example.py](examples/course/work/A13_example.py)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변환과 범위 검사를 표시합니다.</a:t>
            </a:r>
          </a:p>
          <a:p xmlns:a="http://schemas.openxmlformats.org/drawingml/2006/main">
            <a:r>
              <a:t>2. 0·50·51.0의 기대 결과를 씁니다.</a:t>
            </a:r>
          </a:p>
          <a:p xmlns:a="http://schemas.openxmlformats.org/drawingml/2006/main">
            <a:r>
              <a:t>3. 경계와 오류 입력을 비교합니다.</a:t>
            </a:r>
          </a:p>
          <a:p xmlns:a="http://schemas.openxmlformats.org/drawingml/2006/main">
            <a:r>
              <a:t>4. 원문과 확인 이유를 남깁니다.</a:t>
            </a:r>
          </a:p>
          <a:p xmlns:a="http://schemas.openxmlformats.org/drawingml/2006/main">
            <a:r>
              <a:t/>
            </a:r>
          </a:p>
          <a:p xmlns:a="http://schemas.openxmlformats.org/drawingml/2006/main">
            <a:r>
              <a:t>**예상 결과:** 0·50은 허용하고 51.0은 범위 오류입니다.</a:t>
            </a:r>
          </a:p>
          <a:p xmlns:a="http://schemas.openxmlformats.org/drawingml/2006/main">
            <a:r>
              <a:t/>
            </a:r>
          </a:p>
          <a:p xmlns:a="http://schemas.openxmlformats.org/drawingml/2006/main">
            <a:r>
              <a:t>**확인 방법:** 범위 통과가 실제 센서 정확도를 증명하나요?</a:t>
            </a:r>
          </a:p>
          <a:p xmlns:a="http://schemas.openxmlformats.org/drawingml/2006/main">
            <a:r>
              <a:t/>
            </a:r>
          </a:p>
          <a:p xmlns:a="http://schemas.openxmlformats.org/drawingml/2006/main">
            <a:r>
              <a:t>**오류 해결:** or를 and로 바꿨다면 두 조건의 뜻을 읽습니다. 동시에 0보다 작고 50보다 큰 값은 찾을 수 없습니다.</a:t>
            </a:r>
          </a:p>
          <a:p xmlns:a="http://schemas.openxmlformats.org/drawingml/2006/main">
            <a:r>
              <a:t/>
            </a:r>
          </a:p>
          <a:p xmlns:a="http://schemas.openxmlformats.org/drawingml/2006/main">
            <a:r>
              <a:t>## A14 · 한 값 수정 뒤 같은 사례 재확인</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[A14_input.md](examples/course/data/A14_input.md)</a:t>
            </a:r>
          </a:p>
          <a:p xmlns:a="http://schemas.openxmlformats.org/drawingml/2006/main">
            <a:r>
              <a:t>- [bad_readings.csv](examples/course/data/bad_readings.csv)</a:t>
            </a:r>
          </a:p>
          <a:p xmlns:a="http://schemas.openxmlformats.org/drawingml/2006/main">
            <a:r>
              <a:t>- [A14_notes.md](examples/course/work/A14_notes.md)</a:t>
            </a:r>
          </a:p>
          <a:p xmlns:a="http://schemas.openxmlformats.org/drawingml/2006/main">
            <a:r>
              <a:t>- [bad_readings_work.csv](examples/course/work/bad_readings_work.csv)</a:t>
            </a:r>
          </a:p>
          <a:p xmlns:a="http://schemas.openxmlformats.org/drawingml/2006/main">
            <a:r>
              <a:t>- [correction_notes.md](examples/course/work/correction_notes.md)</a:t>
            </a:r>
          </a:p>
          <a:p xmlns:a="http://schemas.openxmlformats.org/drawingml/2006/main">
            <a:r>
              <a:t/>
            </a:r>
          </a:p>
          <a:p xmlns:a="http://schemas.openxmlformats.org/drawingml/2006/main">
            <a:r>
              <a:t>**목적:** 한 문제를 고치며 미측정을 0으로 바꾸거나 경계를 바꿀 수 있습니다. 원문·지시·수정 위치·재확인을 함께 남겨야 이유가 전달됩니다.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[A14_input.md](examples/course/data/A14_input.md)</a:t>
            </a:r>
          </a:p>
          <a:p xmlns:a="http://schemas.openxmlformats.org/drawingml/2006/main">
            <a:r>
              <a:t>- [A14_notes.md](examples/course/work/A14_notes.md)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확정과 미확정 지시를 나눕니다.</a:t>
            </a:r>
          </a:p>
          <a:p xmlns:a="http://schemas.openxmlformats.org/drawingml/2006/main">
            <a:r>
              <a:t>2. work/correction_notes.md에 전후값과 근거를 씁니다.</a:t>
            </a:r>
          </a:p>
          <a:p xmlns:a="http://schemas.openxmlformats.org/drawingml/2006/main">
            <a:r>
              <a:t>3. work/bad_readings_work.csv에서 S05 한 값만 고칩니다.</a:t>
            </a:r>
          </a:p>
          <a:p xmlns:a="http://schemas.openxmlformats.org/drawingml/2006/main">
            <a:r>
              <a:t>4. 정상·미측정·0·범위의 재확인 표를 작성합니다.</a:t>
            </a:r>
          </a:p>
          <a:p xmlns:a="http://schemas.openxmlformats.org/drawingml/2006/main">
            <a:r>
              <a:t/>
            </a:r>
          </a:p>
          <a:p xmlns:a="http://schemas.openxmlformats.org/drawingml/2006/main">
            <a:r>
              <a:t>**예상 결과:** S05만 23.5로 수정하고 S06원문과 확인 이유를 남깁니다.</a:t>
            </a:r>
          </a:p>
          <a:p xmlns:a="http://schemas.openxmlformats.org/drawingml/2006/main">
            <a:r>
              <a:t/>
            </a:r>
          </a:p>
          <a:p xmlns:a="http://schemas.openxmlformats.org/drawingml/2006/main">
            <a:r>
              <a:t>**확인 방법:** 이슈 건수만 줄면 좋은 수정인가요?</a:t>
            </a:r>
          </a:p>
          <a:p xmlns:a="http://schemas.openxmlformats.org/drawingml/2006/main">
            <a:r>
              <a:t/>
            </a:r>
          </a:p>
          <a:p xmlns:a="http://schemas.openxmlformats.org/drawingml/2006/main">
            <a:r>
              <a:t>**오류 해결:** 확정되지 않은 실제값은 추측하지 않습니다. 어느 값이 왜 미확인인지 씁니다.</a:t>
            </a:r>
          </a:p>
          <a:p xmlns:a="http://schemas.openxmlformats.org/drawingml/2006/main">
            <a:r>
              <a:t/>
            </a:r>
          </a:p>
          <a:p xmlns:a="http://schemas.openxmlformats.org/drawingml/2006/main">
            <a:r>
              <a:t>## A15 · 입력·처리·출력의 실행 계약</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[A15_input.md](examples/course/data/A15_input.md)</a:t>
            </a:r>
          </a:p>
          <a:p xmlns:a="http://schemas.openxmlformats.org/drawingml/2006/main">
            <a:r>
              <a:t>- [bad_readings.csv](examples/course/data/bad_readings.csv)</a:t>
            </a:r>
          </a:p>
          <a:p xmlns:a="http://schemas.openxmlformats.org/drawingml/2006/main">
            <a:r>
              <a:t>- [A15_notes.md](examples/course/work/A15_notes.md)</a:t>
            </a:r>
          </a:p>
          <a:p xmlns:a="http://schemas.openxmlformats.org/drawingml/2006/main">
            <a:r>
              <a:t/>
            </a:r>
          </a:p>
          <a:p xmlns:a="http://schemas.openxmlformats.org/drawingml/2006/main">
            <a:r>
              <a:t>**목적:** 원본과 수정 사본 중 무엇을 읽었는지 모르면 결과 대조가 틀릴 수 있습니다. 실행 완료와 데이터 이슈가 없다는 사실도 별도입니다.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[A15_input.md](examples/course/data/A15_input.md)</a:t>
            </a:r>
          </a:p>
          <a:p xmlns:a="http://schemas.openxmlformats.org/drawingml/2006/main">
            <a:r>
              <a:t>- [A15_notes.md](examples/course/work/A15_notes.md)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세 파일의 위치를 그립니다.</a:t>
            </a:r>
          </a:p>
          <a:p xmlns:a="http://schemas.openxmlformats.org/drawingml/2006/main">
            <a:r>
              <a:t>2. 미측정과 실제 0의 집계 차이를 적습니다.</a:t>
            </a:r>
          </a:p>
          <a:p xmlns:a="http://schemas.openxmlformats.org/drawingml/2006/main">
            <a:r>
              <a:t>3. 실행 완료와 이슈 0건을 구별합니다.</a:t>
            </a:r>
          </a:p>
          <a:p xmlns:a="http://schemas.openxmlformats.org/drawingml/2006/main">
            <a:r>
              <a:t>4. 다음 활동의 예상 건수를 먼저 기록합니다.</a:t>
            </a:r>
          </a:p>
          <a:p xmlns:a="http://schemas.openxmlformats.org/drawingml/2006/main">
            <a:r>
              <a:t/>
            </a:r>
          </a:p>
          <a:p xmlns:a="http://schemas.openxmlformats.org/drawingml/2006/main">
            <a:r>
              <a:t>**예상 결과:** 전체 6,수락 4,이슈 2,미측정 1,수치 3.</a:t>
            </a:r>
          </a:p>
          <a:p xmlns:a="http://schemas.openxmlformats.org/drawingml/2006/main">
            <a:r>
              <a:t/>
            </a:r>
          </a:p>
          <a:p xmlns:a="http://schemas.openxmlformats.org/drawingml/2006/main">
            <a:r>
              <a:t>**확인 방법:** 미측정도 분모에 넣어 4로 나누면 무엇이 바뀌나요?</a:t>
            </a:r>
          </a:p>
          <a:p xmlns:a="http://schemas.openxmlformats.org/drawingml/2006/main">
            <a:r>
              <a:t/>
            </a:r>
          </a:p>
          <a:p xmlns:a="http://schemas.openxmlformats.org/drawingml/2006/main">
            <a:r>
              <a:t>**오류 해결:** 전체=수락+이슈, 수락=수치+미측정의 두 관계를 나누어 확인합니다.</a:t>
            </a:r>
          </a:p>
          <a:p xmlns:a="http://schemas.openxmlformats.org/drawingml/2006/main">
            <a:r>
              <a:t/>
            </a:r>
          </a:p>
          <a:p xmlns:a="http://schemas.openxmlformats.org/drawingml/2006/main">
            <a:r>
              <a:t>## A16 · 로그 검사기 전체 흐름</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[A16_input.md](examples/course/data/A16_input.md)</a:t>
            </a:r>
          </a:p>
          <a:p xmlns:a="http://schemas.openxmlformats.org/drawingml/2006/main">
            <a:r>
              <a:t>- [A16_log_checker.py](examples/course/code/A16_log_checker.py)</a:t>
            </a:r>
          </a:p>
          <a:p xmlns:a="http://schemas.openxmlformats.org/drawingml/2006/main">
            <a:r>
              <a:t>- [bad_readings.csv](examples/course/data/bad_readings.csv)</a:t>
            </a:r>
          </a:p>
          <a:p xmlns:a="http://schemas.openxmlformats.org/drawingml/2006/main">
            <a:r>
              <a:t>- [readings.csv](examples/course/data/readings.csv)</a:t>
            </a:r>
          </a:p>
          <a:p xmlns:a="http://schemas.openxmlformats.org/drawingml/2006/main">
            <a:r>
              <a:t>- [A16_notes.md](examples/course/work/A16_notes.md)</a:t>
            </a:r>
          </a:p>
          <a:p xmlns:a="http://schemas.openxmlformats.org/drawingml/2006/main">
            <a:r>
              <a:t>- [A16_log_checker.py](examples/course/work/A16_log_checker.py)</a:t>
            </a:r>
          </a:p>
          <a:p xmlns:a="http://schemas.openxmlformats.org/drawingml/2006/main">
            <a:r>
              <a:t>- [check_summary.json](examples/course/work/check_summary.json)</a:t>
            </a:r>
          </a:p>
          <a:p xmlns:a="http://schemas.openxmlformats.org/drawingml/2006/main">
            <a:r>
              <a:t>- [check_issues.json](examples/course/work/check_issues.json)</a:t>
            </a:r>
          </a:p>
          <a:p xmlns:a="http://schemas.openxmlformats.org/drawingml/2006/main">
            <a:r>
              <a:t/>
            </a:r>
          </a:p>
          <a:p xmlns:a="http://schemas.openxmlformats.org/drawingml/2006/main">
            <a:r>
              <a:t>**목적:** 함수·파일·예외를 하나의 업무에 연결합니다. 긴 코드는 준비·정의·행 처리·집계·저장으로 나눠 추적합니다. 전체를 암기하거나 빈 편집기에서 다시 작성하는 것이 목표는 아닙니다.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[A16_input.md](examples/course/data/A16_input.md)</a:t>
            </a:r>
          </a:p>
          <a:p xmlns:a="http://schemas.openxmlformats.org/drawingml/2006/main">
            <a:r>
              <a:t>- [A16_log_checker.py](examples/course/code/A16_log_checker.py)</a:t>
            </a:r>
          </a:p>
          <a:p xmlns:a="http://schemas.openxmlformats.org/drawingml/2006/main">
            <a:r>
              <a:t>- [A16_notes.md](examples/course/work/A16_notes.md)</a:t>
            </a:r>
          </a:p>
          <a:p xmlns:a="http://schemas.openxmlformats.org/drawingml/2006/main">
            <a:r>
              <a:t>- [A16_log_checker.py](examples/course/work/A16_log_checker.py)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전체 코드를 역할별 다섯 구간으로 표시합니다.</a:t>
            </a:r>
          </a:p>
          <a:p xmlns:a="http://schemas.openxmlformats.org/drawingml/2006/main">
            <a:r>
              <a:t>2. 건수와 평균을 손으로 먼저 확인합니다.</a:t>
            </a:r>
          </a:p>
          <a:p xmlns:a="http://schemas.openxmlformats.org/drawingml/2006/main">
            <a:r>
              <a:t>3. 실행 뒤 결과 JSON 두 개를 엽니다.</a:t>
            </a:r>
          </a:p>
          <a:p xmlns:a="http://schemas.openxmlformats.org/drawingml/2006/main">
            <a:r>
              <a:t>4. 입력 파일명만 readings.csv로 바꿔 비교합니다.</a:t>
            </a:r>
          </a:p>
          <a:p xmlns:a="http://schemas.openxmlformats.org/drawingml/2006/main">
            <a:r>
              <a:t/>
            </a:r>
          </a:p>
          <a:p xmlns:a="http://schemas.openxmlformats.org/drawingml/2006/main">
            <a:r>
              <a:t>**예상 결과:** 오류 포함 6/4/1/2,정상 4/4/1/0. 평균은 모두 15.83.</a:t>
            </a:r>
          </a:p>
          <a:p xmlns:a="http://schemas.openxmlformats.org/drawingml/2006/main">
            <a:r>
              <a:t/>
            </a:r>
          </a:p>
          <a:p xmlns:a="http://schemas.openxmlformats.org/drawingml/2006/main">
            <a:r>
              <a:t>**확인 방법:** continue의 역할은 무엇인가요?</a:t>
            </a:r>
          </a:p>
          <a:p xmlns:a="http://schemas.openxmlformats.org/drawingml/2006/main">
            <a:r>
              <a:t/>
            </a:r>
          </a:p>
          <a:p xmlns:a="http://schemas.openxmlformats.org/drawingml/2006/main">
            <a:r>
              <a:t>**오류 해결:** 한 행의 원문→함수→분류를 먼저 추적합니다. 여러 곳을 동시에 바꾸지 않습니다.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 A17 · 정상·빈 입력·잘못된 입력 비교</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[A17_input.md](examples/course/data/A17_input.md)</a:t>
            </a:r>
          </a:p>
          <a:p xmlns:a="http://schemas.openxmlformats.org/drawingml/2006/main">
            <a:r>
              <a:t>- [readings.csv](examples/course/data/readings.csv)</a:t>
            </a:r>
          </a:p>
          <a:p xmlns:a="http://schemas.openxmlformats.org/drawingml/2006/main">
            <a:r>
              <a:t>- [bad_readings.csv](examples/course/data/bad_readings.csv)</a:t>
            </a:r>
          </a:p>
          <a:p xmlns:a="http://schemas.openxmlformats.org/drawingml/2006/main">
            <a:r>
              <a:t>- [empty_readings.csv](examples/course/data/empty_readings.csv)</a:t>
            </a:r>
          </a:p>
          <a:p xmlns:a="http://schemas.openxmlformats.org/drawingml/2006/main">
            <a:r>
              <a:t>- [missing_readings.csv](examples/course/data/missing_readings.csv)</a:t>
            </a:r>
          </a:p>
          <a:p xmlns:a="http://schemas.openxmlformats.org/drawingml/2006/main">
            <a:r>
              <a:t>- [A17_notes.md](examples/course/work/A17_notes.md)</a:t>
            </a:r>
          </a:p>
          <a:p xmlns:a="http://schemas.openxmlformats.org/drawingml/2006/main">
            <a:r>
              <a:t>- [A16_log_checker.py](examples/course/work/A16_log_checker.py)</a:t>
            </a:r>
          </a:p>
          <a:p xmlns:a="http://schemas.openxmlformats.org/drawingml/2006/main">
            <a:r>
              <a:t/>
            </a:r>
          </a:p>
          <a:p xmlns:a="http://schemas.openxmlformats.org/drawingml/2006/main">
            <a:r>
              <a:t>**목적:** 수치가 하나도 없으면 평균 분모가 0입니다. 평균 None은 계산할 수치가 없다는 결과이며 실제 평균 0.0과 의미가 다릅니다.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[A17_input.md](examples/course/data/A17_input.md)</a:t>
            </a:r>
          </a:p>
          <a:p xmlns:a="http://schemas.openxmlformats.org/drawingml/2006/main">
            <a:r>
              <a:t>- [A17_notes.md](examples/course/work/A17_notes.md)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네 입력의 기대 집계표를 씁니다.</a:t>
            </a:r>
          </a:p>
          <a:p xmlns:a="http://schemas.openxmlformats.org/drawingml/2006/main">
            <a:r>
              <a:t>2. work/A16_log_checker.py 안 source 줄의 따옴표 속 CSV 이름만 바꿔(.py 이름은 유지) 같은 프로그램을 실행합니다.</a:t>
            </a:r>
          </a:p>
          <a:p xmlns:a="http://schemas.openxmlformats.org/drawingml/2006/main">
            <a:r>
              <a:t>3. 평균None의 이유와 집계 관계를 확인합니다.</a:t>
            </a:r>
          </a:p>
          <a:p xmlns:a="http://schemas.openxmlformats.org/drawingml/2006/main">
            <a:r>
              <a:t>4. 헤더·다른 필드·실제 진위는 미검증으로 기록합니다.</a:t>
            </a:r>
          </a:p>
          <a:p xmlns:a="http://schemas.openxmlformats.org/drawingml/2006/main">
            <a:r>
              <a:t/>
            </a:r>
          </a:p>
          <a:p xmlns:a="http://schemas.openxmlformats.org/drawingml/2006/main">
            <a:r>
              <a:t>**예상 결과:** empty 0/0/0/0·None, missing 2/2/2/0·None.</a:t>
            </a:r>
          </a:p>
          <a:p xmlns:a="http://schemas.openxmlformats.org/drawingml/2006/main">
            <a:r>
              <a:t/>
            </a:r>
          </a:p>
          <a:p xmlns:a="http://schemas.openxmlformats.org/drawingml/2006/main">
            <a:r>
              <a:t>**확인 방법:** 수치가 없을 때 평균 0을 쓰면 어떤 오해가 생기나요?</a:t>
            </a:r>
          </a:p>
          <a:p xmlns:a="http://schemas.openxmlformats.org/drawingml/2006/main">
            <a:r>
              <a:t/>
            </a:r>
          </a:p>
          <a:p xmlns:a="http://schemas.openxmlformats.org/drawingml/2006/main">
            <a:r>
              <a:t>**오류 해결:** 이전 실행 결과 파일을 새 결과로 혼동하지 않도록 입력명·저장·실행 경로를 확인합니다.</a:t>
            </a:r>
          </a:p>
          <a:p xmlns:a="http://schemas.openxmlformats.org/drawingml/2006/main">
            <a:r>
              <a:t/>
            </a:r>
          </a:p>
          <a:p xmlns:a="http://schemas.openxmlformats.org/drawingml/2006/main">
            <a:r>
              <a:t>### 검사할 CSV만 바꾸기</a:t>
            </a:r>
          </a:p>
          <a:p xmlns:a="http://schemas.openxmlformats.org/drawingml/2006/main">
            <a:r>
              <a:t/>
            </a:r>
          </a:p>
          <a:p xmlns:a="http://schemas.openxmlformats.org/drawingml/2006/main">
            <a:r>
              <a:t>수정 파일은 `work/A16_log_checker.py`입니다. **.py 파일 이름은 그대로 둡니다.** 코드 안 `source = base / "data" / "bad_readings.csv"` 한 줄에서 따옴표 속 CSV 이름만 바꿉니다. 예: `source = base / "data" / "readings.csv"`.</a:t>
            </a:r>
          </a:p>
          <a:p xmlns:a="http://schemas.openxmlformats.org/drawingml/2006/main">
            <a:r>
              <a:t/>
            </a:r>
          </a:p>
          <a:p xmlns:a="http://schemas.openxmlformats.org/drawingml/2006/main">
            <a:r>
              <a:t>저장 후 course 폴더에서 `python -X utf8 work/A16_log_checker.py`를 실행합니다. 실행마다 `work/check_summary.json`과 `work/check_issues.json`이 덮어써지므로 **결과를 먼저 기록한 뒤** 다음 CSV로 바꿉니다.</a:t>
            </a:r>
          </a:p>
          <a:p xmlns:a="http://schemas.openxmlformats.org/drawingml/2006/main">
            <a:r>
              <a:t/>
            </a:r>
          </a:p>
          <a:p xmlns:a="http://schemas.openxmlformats.org/drawingml/2006/main">
            <a:r>
              <a:t>| 따옴표 속 입력 이름 | 예상 집계·평균 | 실제 집계·평균 | 직접 실행/제공 출력 관찰 | 차이와 근거 |</a:t>
            </a:r>
          </a:p>
          <a:p xmlns:a="http://schemas.openxmlformats.org/drawingml/2006/main">
            <a:r>
              <a:t>| --- | --- | --- | --- | --- |</a:t>
            </a:r>
          </a:p>
          <a:p xmlns:a="http://schemas.openxmlformats.org/drawingml/2006/main">
            <a:r>
              <a:t>| readings.csv | _____ | _____ | _____ | _____ |</a:t>
            </a:r>
          </a:p>
          <a:p xmlns:a="http://schemas.openxmlformats.org/drawingml/2006/main">
            <a:r>
              <a:t>| bad_readings.csv | _____ | _____ | _____ | _____ |</a:t>
            </a:r>
          </a:p>
          <a:p xmlns:a="http://schemas.openxmlformats.org/drawingml/2006/main">
            <a:r>
              <a:t>| empty_readings.csv | _____ | _____ | _____ | _____ |</a:t>
            </a:r>
          </a:p>
          <a:p xmlns:a="http://schemas.openxmlformats.org/drawingml/2006/main">
            <a:r>
              <a:t>| missing_readings.csv | _____ | _____ | _____ | _____ |</a:t>
            </a:r>
          </a:p>
          <a:p xmlns:a="http://schemas.openxmlformats.org/drawingml/2006/main">
            <a:r>
              <a:t/>
            </a:r>
          </a:p>
          <a:p xmlns:a="http://schemas.openxmlformats.org/drawingml/2006/main">
            <a:r>
              <a:t>평균을 낼 숫자가 없다는 결과와 실제 측정 0을 구분해 설명합니다.</a:t>
            </a:r>
          </a:p>
          <a:p xmlns:a="http://schemas.openxmlformats.org/drawingml/2006/main">
            <a:r>
              <a:t/>
            </a:r>
          </a:p>
          <a:p xmlns:a="http://schemas.openxmlformats.org/drawingml/2006/main">
            <a:r>
              <a:t>### 중간 확인과 다음 활동 합류</a:t>
            </a:r>
          </a:p>
          <a:p xmlns:a="http://schemas.openxmlformats.org/drawingml/2006/main">
            <a:r>
              <a:t/>
            </a:r>
          </a:p>
          <a:p xmlns:a="http://schemas.openxmlformats.org/drawingml/2006/main">
            <a:r>
              <a:t>- 함께 확인할 증거: readings.csv의 정상 숫자 한 건과 missing_readings.csv의 미측정 한 건을 따라 읽고, 0은 숫자·미측정은 평균 대상이 아님을 설명합니다.</a:t>
            </a:r>
          </a:p>
          <a:p xmlns:a="http://schemas.openxmlformats.org/drawingml/2006/main">
            <a:r>
              <a:t>- 남은 작업: A16의 전체 구간 표시는 A16_notes.md, 네 입력 비교는 A17_notes.md에 미완료 항목을 표시하고 이어서 완성합니다. 이미 작성한 결과를 지우지 않습니다.</a:t>
            </a:r>
          </a:p>
          <a:p xmlns:a="http://schemas.openxmlformats.org/drawingml/2006/main">
            <a:r>
              <a:t>- 다음 입력: 제공된 work/A16_log_checker.py를 그대로 출발점으로 사용하고 A17에서 CSV 이름만 교체합니다. 실행이 막히면 solutions/A16_answer.md와 A17_answer.md의 제공 결과를 **관찰**로 기록하고 A18 인수인계에 미완료를 남깁니다.</a:t>
            </a:r>
          </a:p>
          <a:p xmlns:a="http://schemas.openxmlformats.org/drawingml/2006/main">
            <a:r>
              <a:t/>
            </a:r>
          </a:p>
          <a:p xmlns:a="http://schemas.openxmlformats.org/drawingml/2006/main">
            <a:r>
              <a:t>## A18 · 검사기 사용 안내와 근거 전달</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[A18_input.md](examples/course/data/A18_input.md)</a:t>
            </a:r>
          </a:p>
          <a:p xmlns:a="http://schemas.openxmlformats.org/drawingml/2006/main">
            <a:r>
              <a:t>- [A18_notes.md](examples/course/work/A18_notes.md)</a:t>
            </a:r>
          </a:p>
          <a:p xmlns:a="http://schemas.openxmlformats.org/drawingml/2006/main">
            <a:r>
              <a:t>- [usage.md](examples/course/work/usage.md)</a:t>
            </a:r>
          </a:p>
          <a:p xmlns:a="http://schemas.openxmlformats.org/drawingml/2006/main">
            <a:r>
              <a:t/>
            </a:r>
          </a:p>
          <a:p xmlns:a="http://schemas.openxmlformats.org/drawingml/2006/main">
            <a:r>
              <a:t>**목적:** 작성자가 없어도 검사 범위를 오해하지 않게 해야 합니다. ‘검증 완료’보다 온도 변환·범위·미측정 구별을 검사했다고 구체적으로 씁니다.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[A18_input.md](examples/course/data/A18_input.md)</a:t>
            </a:r>
          </a:p>
          <a:p xmlns:a="http://schemas.openxmlformats.org/drawingml/2006/main">
            <a:r>
              <a:t>- [A18_notes.md](examples/course/work/A18_notes.md)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work/usage.md에 실행 안내를 씁니다.</a:t>
            </a:r>
          </a:p>
          <a:p xmlns:a="http://schemas.openxmlformats.org/drawingml/2006/main">
            <a:r>
              <a:t>2. 짝이 입력 하나의 결과를 설명하게 합니다.</a:t>
            </a:r>
          </a:p>
          <a:p xmlns:a="http://schemas.openxmlformats.org/drawingml/2006/main">
            <a:r>
              <a:t>3. 빠진 경로와 계약을 보완합니다.</a:t>
            </a:r>
          </a:p>
          <a:p xmlns:a="http://schemas.openxmlformats.org/drawingml/2006/main">
            <a:r>
              <a:t>4. 코드·입력·요약·이슈·사례표를 함께 제출합니다.</a:t>
            </a:r>
          </a:p>
          <a:p xmlns:a="http://schemas.openxmlformats.org/drawingml/2006/main">
            <a:r>
              <a:t/>
            </a:r>
          </a:p>
          <a:p xmlns:a="http://schemas.openxmlformats.org/drawingml/2006/main">
            <a:r>
              <a:t>**예상 결과:** 재현 가능한 경로·명령·결과와 검증 범위가 분명한 안내.</a:t>
            </a:r>
          </a:p>
          <a:p xmlns:a="http://schemas.openxmlformats.org/drawingml/2006/main">
            <a:r>
              <a:t/>
            </a:r>
          </a:p>
          <a:p xmlns:a="http://schemas.openxmlformats.org/drawingml/2006/main">
            <a:r>
              <a:t>**확인 방법:** 이슈 0건이라는 결과만 남기면 무엇이 부족한가요?</a:t>
            </a:r>
          </a:p>
          <a:p xmlns:a="http://schemas.openxmlformats.org/drawingml/2006/main">
            <a:r>
              <a:t/>
            </a:r>
          </a:p>
          <a:p xmlns:a="http://schemas.openxmlformats.org/drawingml/2006/main">
            <a:r>
              <a:t>**오류 해결:** 처음 실행 순서와 오류 확인 순서를 나눠 씁니다. 미확인 사실을 확정하지 않습니다.</a:t>
            </a:r>
          </a:p>
          <a:p xmlns:a="http://schemas.openxmlformats.org/drawingml/2006/main">
            <a:r>
              <a:t/>
            </a:r>
          </a:p>
          <a:p xmlns:a="http://schemas.openxmlformats.org/drawingml/2006/main">
            <a:r>
              <a:t/>
            </a:r>
          </a:p>
          <a:p xmlns:a="http://schemas.openxmlformats.org/drawingml/2006/main">
            <a:r>
              <a:t>자료 위치: D:\KDigital_PhysicalAI\outputs\2026-10-15\practice-guide.md</a:t>
            </a:r>
          </a:p>
          <a:p xmlns:a="http://schemas.openxmlformats.org/drawingml/2006/main">
            <a:r>
              <a:t>웹 교안: https://zeusk302-png.github.io/kdigital-physical-ai/#/sessions/2026-10-15/lesson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876bf1def14cc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1db6e7f25f84205" /><Relationship Type="http://schemas.openxmlformats.org/officeDocument/2006/relationships/slideLayout" Target="/ppt/slideLayouts/slideLayout1.xml" Id="Rad832b5b4f1a419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d832b5b4f1a419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24804bdb174412e" /><Relationship Type="http://schemas.openxmlformats.org/officeDocument/2006/relationships/notesSlide" Target="/ppt/notesSlides/notesSlide1.xml" Id="Rb3449d3f4bdb480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c7d9166ffc44951" /><Relationship Type="http://schemas.openxmlformats.org/officeDocument/2006/relationships/notesSlide" Target="/ppt/notesSlides/notesSlide2.xml" Id="Rec1ea051eed04c8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46a7845773546d6" /><Relationship Type="http://schemas.openxmlformats.org/officeDocument/2006/relationships/notesSlide" Target="/ppt/notesSlides/notesSlide3.xml" Id="Rf7bee9c14ba64b0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888aa10eb5a4f7a" /><Relationship Type="http://schemas.openxmlformats.org/officeDocument/2006/relationships/notesSlide" Target="/ppt/notesSlides/notesSlide4.xml" Id="Rf561bd963e734bd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5f59e36936b42a2" /><Relationship Type="http://schemas.openxmlformats.org/officeDocument/2006/relationships/notesSlide" Target="/ppt/notesSlides/notesSlide5.xml" Id="R3aa98af58e5945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4542af2804c479d" /><Relationship Type="http://schemas.openxmlformats.org/officeDocument/2006/relationships/notesSlide" Target="/ppt/notesSlides/notesSlide6.xml" Id="R5e6f0ed8cdd14d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7883512b2624b14" /><Relationship Type="http://schemas.openxmlformats.org/officeDocument/2006/relationships/notesSlide" Target="/ppt/notesSlides/notesSlide7.xml" Id="R434a39a29dc6451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b76cd7970d0465a" /><Relationship Type="http://schemas.openxmlformats.org/officeDocument/2006/relationships/notesSlide" Target="/ppt/notesSlides/notesSlide8.xml" Id="R8640513872e842e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731828027454ed8" /><Relationship Type="http://schemas.openxmlformats.org/officeDocument/2006/relationships/notesSlide" Target="/ppt/notesSlides/notesSlide9.xml" Id="Rd1bf0db4e04b4cd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9698dd9422b4ae9" /><Relationship Type="http://schemas.openxmlformats.org/officeDocument/2006/relationships/notesSlide" Target="/ppt/notesSlides/notesSlide10.xml" Id="Rbebdcf64b86947a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090d930550a4375" /><Relationship Type="http://schemas.openxmlformats.org/officeDocument/2006/relationships/notesSlide" Target="/ppt/notesSlides/notesSlide11.xml" Id="Rb5f73fc50de042a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cbc2525f4f64a67" /><Relationship Type="http://schemas.openxmlformats.org/officeDocument/2006/relationships/notesSlide" Target="/ppt/notesSlides/notesSlide12.xml" Id="Rb7175cdd30184b4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e8e7f84547048d0" /><Relationship Type="http://schemas.openxmlformats.org/officeDocument/2006/relationships/notesSlide" Target="/ppt/notesSlides/notesSlide13.xml" Id="R7d5826b435ba4dd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3214767d07a4f5f" /><Relationship Type="http://schemas.openxmlformats.org/officeDocument/2006/relationships/notesSlide" Target="/ppt/notesSlides/notesSlide14.xml" Id="Rd3d8dd9db35e43f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9a9cb1d322349f6" /><Relationship Type="http://schemas.openxmlformats.org/officeDocument/2006/relationships/notesSlide" Target="/ppt/notesSlides/notesSlide15.xml" Id="Rc7c137b8b25a48c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d46b406b567454e" /><Relationship Type="http://schemas.openxmlformats.org/officeDocument/2006/relationships/notesSlide" Target="/ppt/notesSlides/notesSlide16.xml" Id="R8d1e529aea60419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c670fba01914eb4" /><Relationship Type="http://schemas.openxmlformats.org/officeDocument/2006/relationships/notesSlide" Target="/ppt/notesSlides/notesSlide17.xml" Id="Rd4f22df1af414c9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3d64c6f54874b76" /><Relationship Type="http://schemas.openxmlformats.org/officeDocument/2006/relationships/notesSlide" Target="/ppt/notesSlides/notesSlide18.xml" Id="R82725a02a71448d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a0014ea7eaa43fc" /><Relationship Type="http://schemas.openxmlformats.org/officeDocument/2006/relationships/notesSlide" Target="/ppt/notesSlides/notesSlide19.xml" Id="Rb1c198c5dcf243a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faf6984d2154c44" /><Relationship Type="http://schemas.openxmlformats.org/officeDocument/2006/relationships/notesSlide" Target="/ppt/notesSlides/notesSlide20.xml" Id="R98201616d39940d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05dba748c4a43c2" /><Relationship Type="http://schemas.openxmlformats.org/officeDocument/2006/relationships/notesSlide" Target="/ppt/notesSlides/notesSlide21.xml" Id="Rfedcaea1baae498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feebfa4663d4f7a" /><Relationship Type="http://schemas.openxmlformats.org/officeDocument/2006/relationships/notesSlide" Target="/ppt/notesSlides/notesSlide22.xml" Id="R3299e67e5c6e455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691b4c6277e421c" /><Relationship Type="http://schemas.openxmlformats.org/officeDocument/2006/relationships/notesSlide" Target="/ppt/notesSlides/notesSlide23.xml" Id="R5c1d22ba2a454ec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a96b2ca96f444db" /><Relationship Type="http://schemas.openxmlformats.org/officeDocument/2006/relationships/notesSlide" Target="/ppt/notesSlides/notesSlide24.xml" Id="R15dcb8b585cd4f7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6d683880c384548" /><Relationship Type="http://schemas.openxmlformats.org/officeDocument/2006/relationships/notesSlide" Target="/ppt/notesSlides/notesSlide25.xml" Id="Rfe986135d75d47a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2a17cd2578b4fb0" /><Relationship Type="http://schemas.openxmlformats.org/officeDocument/2006/relationships/notesSlide" Target="/ppt/notesSlides/notesSlide26.xml" Id="R7e370d6977ab46d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9084fcbb599496f" /><Relationship Type="http://schemas.openxmlformats.org/officeDocument/2006/relationships/notesSlide" Target="/ppt/notesSlides/notesSlide27.xml" Id="Rb813901f910f4dd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99a8ab476da4632" /><Relationship Type="http://schemas.openxmlformats.org/officeDocument/2006/relationships/notesSlide" Target="/ppt/notesSlides/notesSlide28.xml" Id="R16231f8cda8e462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8cce7ee82034114" /><Relationship Type="http://schemas.openxmlformats.org/officeDocument/2006/relationships/notesSlide" Target="/ppt/notesSlides/notesSlide29.xml" Id="R9812cbc360144c4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f25135f720dc45db" /><Relationship Type="http://schemas.openxmlformats.org/officeDocument/2006/relationships/notesSlide" Target="/ppt/notesSlides/notesSlide30.xml" Id="R1ea001de2326465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ca780283e3ce4efe" /><Relationship Type="http://schemas.openxmlformats.org/officeDocument/2006/relationships/notesSlide" Target="/ppt/notesSlides/notesSlide31.xml" Id="R1b01f816c8254f6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f30bdf25c4d4e61" /><Relationship Type="http://schemas.openxmlformats.org/officeDocument/2006/relationships/notesSlide" Target="/ppt/notesSlides/notesSlide32.xml" Id="R07e76cde3bfe40b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6a5e0448f744e98" /><Relationship Type="http://schemas.openxmlformats.org/officeDocument/2006/relationships/notesSlide" Target="/ppt/notesSlides/notesSlide33.xml" Id="Rc8d8e8666a7c425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e356740697d54f8c" /><Relationship Type="http://schemas.openxmlformats.org/officeDocument/2006/relationships/notesSlide" Target="/ppt/notesSlides/notesSlide34.xml" Id="R4dc883a609da461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a17c211474e4838" /><Relationship Type="http://schemas.openxmlformats.org/officeDocument/2006/relationships/notesSlide" Target="/ppt/notesSlides/notesSlide35.xml" Id="Rff057e1585464a8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fb865b44f904370" /><Relationship Type="http://schemas.openxmlformats.org/officeDocument/2006/relationships/notesSlide" Target="/ppt/notesSlides/notesSlide36.xml" Id="Re70a01fc27c7446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09962cc640f64cf4" /><Relationship Type="http://schemas.openxmlformats.org/officeDocument/2006/relationships/notesSlide" Target="/ppt/notesSlides/notesSlide37.xml" Id="R40f0cda21fbb418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cf45ffc71ad94e99" /><Relationship Type="http://schemas.openxmlformats.org/officeDocument/2006/relationships/notesSlide" Target="/ppt/notesSlides/notesSlide38.xml" Id="Rd161442b7f8044b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2f584e0cf654cc3" /><Relationship Type="http://schemas.openxmlformats.org/officeDocument/2006/relationships/notesSlide" Target="/ppt/notesSlides/notesSlide39.xml" Id="R06acda7740164a2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c0d8fc0327c147d1" /><Relationship Type="http://schemas.openxmlformats.org/officeDocument/2006/relationships/notesSlide" Target="/ppt/notesSlides/notesSlide40.xml" Id="Rc6a1db2a12a64be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789f7a68ffa4ce5" /><Relationship Type="http://schemas.openxmlformats.org/officeDocument/2006/relationships/notesSlide" Target="/ppt/notesSlides/notesSlide41.xml" Id="R038ac71ed74c412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b5983e646d5545d8" /><Relationship Type="http://schemas.openxmlformats.org/officeDocument/2006/relationships/notesSlide" Target="/ppt/notesSlides/notesSlide42.xml" Id="R84262ca840c0497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e526d7c7a97f4dc3" /><Relationship Type="http://schemas.openxmlformats.org/officeDocument/2006/relationships/notesSlide" Target="/ppt/notesSlides/notesSlide43.xml" Id="R347bf45be1cb42e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4174cdc2cc7a4892" /><Relationship Type="http://schemas.openxmlformats.org/officeDocument/2006/relationships/notesSlide" Target="/ppt/notesSlides/notesSlide44.xml" Id="R8cecb189de1c45f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33e0466a42654181" /><Relationship Type="http://schemas.openxmlformats.org/officeDocument/2006/relationships/notesSlide" Target="/ppt/notesSlides/notesSlide45.xml" Id="R82dcf25567a84c9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7bf391feb8784f25" /><Relationship Type="http://schemas.openxmlformats.org/officeDocument/2006/relationships/notesSlide" Target="/ppt/notesSlides/notesSlide46.xml" Id="Rbf5a20496c55496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f751d790ec6d4306" /><Relationship Type="http://schemas.openxmlformats.org/officeDocument/2006/relationships/notesSlide" Target="/ppt/notesSlides/notesSlide47.xml" Id="Ra5b13a6c7db84cc9"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15ee6cd3c04b48eb" /><Relationship Type="http://schemas.openxmlformats.org/officeDocument/2006/relationships/notesSlide" Target="/ppt/notesSlides/notesSlide48.xml" Id="Rde3bb39005644bc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16db1cf2fa9f46e2" /><Relationship Type="http://schemas.openxmlformats.org/officeDocument/2006/relationships/notesSlide" Target="/ppt/notesSlides/notesSlide49.xml" Id="R261ab325b1ab435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7f6ec0685b1a4895" /><Relationship Type="http://schemas.openxmlformats.org/officeDocument/2006/relationships/notesSlide" Target="/ppt/notesSlides/notesSlide50.xml" Id="R148a8c7fa1ae492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ca53bf0d85f646cf" /><Relationship Type="http://schemas.openxmlformats.org/officeDocument/2006/relationships/notesSlide" Target="/ppt/notesSlides/notesSlide51.xml" Id="R47028353a031404b"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79f29f8e719c462b" /><Relationship Type="http://schemas.openxmlformats.org/officeDocument/2006/relationships/notesSlide" Target="/ppt/notesSlides/notesSlide52.xml" Id="Rd3268e00af4f40f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8c1facba171242ac" /><Relationship Type="http://schemas.openxmlformats.org/officeDocument/2006/relationships/notesSlide" Target="/ppt/notesSlides/notesSlide53.xml" Id="Ra54962cb41b14c5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aba3226387e94454" /><Relationship Type="http://schemas.openxmlformats.org/officeDocument/2006/relationships/notesSlide" Target="/ppt/notesSlides/notesSlide54.xml" Id="Rb4100a12352e419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9f25bd0713fa42d8" /><Relationship Type="http://schemas.openxmlformats.org/officeDocument/2006/relationships/notesSlide" Target="/ppt/notesSlides/notesSlide55.xml" Id="R89c680a44820464b"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b95aa1e088e7489f" /><Relationship Type="http://schemas.openxmlformats.org/officeDocument/2006/relationships/notesSlide" Target="/ppt/notesSlides/notesSlide56.xml" Id="R0f2cec8302a2436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15c059e9c91c40e4" /><Relationship Type="http://schemas.openxmlformats.org/officeDocument/2006/relationships/notesSlide" Target="/ppt/notesSlides/notesSlide57.xml" Id="Rc06bd75229f5406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a12449f308b44ffe" /><Relationship Type="http://schemas.openxmlformats.org/officeDocument/2006/relationships/notesSlide" Target="/ppt/notesSlides/notesSlide58.xml" Id="Rb744a3718fba4e7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493cc16edaa54282" /><Relationship Type="http://schemas.openxmlformats.org/officeDocument/2006/relationships/notesSlide" Target="/ppt/notesSlides/notesSlide59.xml" Id="R921dfeaded2b44a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f9e51c1f8f6407e" /><Relationship Type="http://schemas.openxmlformats.org/officeDocument/2006/relationships/notesSlide" Target="/ppt/notesSlides/notesSlide60.xml" Id="R24f520f0a6c4494a"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23802d57061a4ff0" /><Relationship Type="http://schemas.openxmlformats.org/officeDocument/2006/relationships/notesSlide" Target="/ppt/notesSlides/notesSlide61.xml" Id="R08921efcc5c8448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95502f8183274488" /><Relationship Type="http://schemas.openxmlformats.org/officeDocument/2006/relationships/notesSlide" Target="/ppt/notesSlides/notesSlide62.xml" Id="R1fc6285d4412408d"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40f1102ecc2641bc" /><Relationship Type="http://schemas.openxmlformats.org/officeDocument/2006/relationships/notesSlide" Target="/ppt/notesSlides/notesSlide63.xml" Id="Rb07e8a8bd508438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bc998bbe7d294914" /><Relationship Type="http://schemas.openxmlformats.org/officeDocument/2006/relationships/notesSlide" Target="/ppt/notesSlides/notesSlide64.xml" Id="R14b2d8b3fb2649e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e998aeae7da242a2" /><Relationship Type="http://schemas.openxmlformats.org/officeDocument/2006/relationships/notesSlide" Target="/ppt/notesSlides/notesSlide65.xml" Id="R1c647e2fd2f04260"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b9af4b37bade43eb" /><Relationship Type="http://schemas.openxmlformats.org/officeDocument/2006/relationships/notesSlide" Target="/ppt/notesSlides/notesSlide66.xml" Id="R3c994ea3eaea4d45"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6ee8c24d474f4b6c" /><Relationship Type="http://schemas.openxmlformats.org/officeDocument/2006/relationships/notesSlide" Target="/ppt/notesSlides/notesSlide67.xml" Id="R971a670dadf948c6"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aa2ae5e6b4e64f4c" /><Relationship Type="http://schemas.openxmlformats.org/officeDocument/2006/relationships/notesSlide" Target="/ppt/notesSlides/notesSlide68.xml" Id="R1c50de1870424544"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17c1ec7ebf4742d5" /><Relationship Type="http://schemas.openxmlformats.org/officeDocument/2006/relationships/notesSlide" Target="/ppt/notesSlides/notesSlide69.xml" Id="R98b4550a4f744bb1"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4e8fa6dd8d0a4699" /><Relationship Type="http://schemas.openxmlformats.org/officeDocument/2006/relationships/notesSlide" Target="/ppt/notesSlides/notesSlide70.xml" Id="R6f4cb45448044c0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60de618b1b6447e4" /><Relationship Type="http://schemas.openxmlformats.org/officeDocument/2006/relationships/notesSlide" Target="/ppt/notesSlides/notesSlide71.xml" Id="Rc82fa5919f474cf5"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4f625358fda74ae8" /><Relationship Type="http://schemas.openxmlformats.org/officeDocument/2006/relationships/notesSlide" Target="/ppt/notesSlides/notesSlide72.xml" Id="Rea0ea2c02888442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6fc5ea1e41d341f1" /><Relationship Type="http://schemas.openxmlformats.org/officeDocument/2006/relationships/notesSlide" Target="/ppt/notesSlides/notesSlide73.xml" Id="Rc19c7a547d204426"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44a14a9ec03e470f" /><Relationship Type="http://schemas.openxmlformats.org/officeDocument/2006/relationships/notesSlide" Target="/ppt/notesSlides/notesSlide74.xml" Id="R642b5d04621b4e3f"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8b7b87ff43cb4e59" /><Relationship Type="http://schemas.openxmlformats.org/officeDocument/2006/relationships/notesSlide" Target="/ppt/notesSlides/notesSlide75.xml" Id="Re2abcf25dd224bf0"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c02214411ce2418a" /><Relationship Type="http://schemas.openxmlformats.org/officeDocument/2006/relationships/notesSlide" Target="/ppt/notesSlides/notesSlide76.xml" Id="R521d63f3b01b4458"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333a38f416114a72" /><Relationship Type="http://schemas.openxmlformats.org/officeDocument/2006/relationships/notesSlide" Target="/ppt/notesSlides/notesSlide77.xml" Id="R3b69937d78d34b75"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18a96e7c86124940" /><Relationship Type="http://schemas.openxmlformats.org/officeDocument/2006/relationships/notesSlide" Target="/ppt/notesSlides/notesSlide78.xml" Id="R3792afb3489b43a7"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1f98ad59a6e84ed0" /><Relationship Type="http://schemas.openxmlformats.org/officeDocument/2006/relationships/notesSlide" Target="/ppt/notesSlides/notesSlide79.xml" Id="Re64b9eafd19b430d"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24e66a5e9bda499f" /><Relationship Type="http://schemas.openxmlformats.org/officeDocument/2006/relationships/notesSlide" Target="/ppt/notesSlides/notesSlide80.xml" Id="Rda29c20b19664e4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e60c74674ce246a3" /><Relationship Type="http://schemas.openxmlformats.org/officeDocument/2006/relationships/notesSlide" Target="/ppt/notesSlides/notesSlide81.xml" Id="R1cbd565e1911427b"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2d3caed0f3094873" /><Relationship Type="http://schemas.openxmlformats.org/officeDocument/2006/relationships/notesSlide" Target="/ppt/notesSlides/notesSlide82.xml" Id="R638a84408c4247e1"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1ae87ee3128b4b92" /><Relationship Type="http://schemas.openxmlformats.org/officeDocument/2006/relationships/notesSlide" Target="/ppt/notesSlides/notesSlide83.xml" Id="R4cde7b141d6e4778"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91f23454c6a343ae" /><Relationship Type="http://schemas.openxmlformats.org/officeDocument/2006/relationships/notesSlide" Target="/ppt/notesSlides/notesSlide84.xml" Id="Rcad089d109f04ead"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7ed7f793feb4415c" /><Relationship Type="http://schemas.openxmlformats.org/officeDocument/2006/relationships/notesSlide" Target="/ppt/notesSlides/notesSlide85.xml" Id="Rccbb43317e814b2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b490ee02a39641ff" /><Relationship Type="http://schemas.openxmlformats.org/officeDocument/2006/relationships/notesSlide" Target="/ppt/notesSlides/notesSlide86.xml" Id="R35414184d0014850"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6dc2055a66b743ba" /><Relationship Type="http://schemas.openxmlformats.org/officeDocument/2006/relationships/notesSlide" Target="/ppt/notesSlides/notesSlide87.xml" Id="R07e854197a7c4725"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c3fba5a9a399459f" /><Relationship Type="http://schemas.openxmlformats.org/officeDocument/2006/relationships/notesSlide" Target="/ppt/notesSlides/notesSlide88.xml" Id="Rb0faa0f078964918"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ca0a225db51c43e5" /><Relationship Type="http://schemas.openxmlformats.org/officeDocument/2006/relationships/notesSlide" Target="/ppt/notesSlides/notesSlide89.xml" Id="R8438de6a6ed54709"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e28585af10e249e2" /><Relationship Type="http://schemas.openxmlformats.org/officeDocument/2006/relationships/notesSlide" Target="/ppt/notesSlides/notesSlide90.xml" Id="Rd04ad560b472498c"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d011cc7b8f4c4e92" /><Relationship Type="http://schemas.openxmlformats.org/officeDocument/2006/relationships/notesSlide" Target="/ppt/notesSlides/notesSlide91.xml" Id="Rb17e8465eff743f9"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2a3c57a5c23c4dc8" /><Relationship Type="http://schemas.openxmlformats.org/officeDocument/2006/relationships/notesSlide" Target="/ppt/notesSlides/notesSlide92.xml" Id="R7cbc0eb261c24dff"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b1cb2ed333c94d24" /><Relationship Type="http://schemas.openxmlformats.org/officeDocument/2006/relationships/notesSlide" Target="/ppt/notesSlides/notesSlide93.xml" Id="R84186382e38a4790"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0d37182089684ebd" /><Relationship Type="http://schemas.openxmlformats.org/officeDocument/2006/relationships/notesSlide" Target="/ppt/notesSlides/notesSlide94.xml" Id="R7777cb6971374c4f"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00a63e74086f4dc6" /><Relationship Type="http://schemas.openxmlformats.org/officeDocument/2006/relationships/notesSlide" Target="/ppt/notesSlides/notesSlide95.xml" Id="R3f0c44abed2f4c0b"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2d7491f226134dc1" /><Relationship Type="http://schemas.openxmlformats.org/officeDocument/2006/relationships/notesSlide" Target="/ppt/notesSlides/notesSlide96.xml" Id="Rf834ec45842844aa"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18f3ed6dff1646a9" /><Relationship Type="http://schemas.openxmlformats.org/officeDocument/2006/relationships/notesSlide" Target="/ppt/notesSlides/notesSlide97.xml" Id="R1be0569c9f7c4b10" /></Relationships>
</file>

<file path=ppt/slides/slide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F8B1C5-9C99-4AE7-A2F6-218C452E7A4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10/15  Python 심화 · 함수와 파일 검사</a:t>
            </a:r>
          </a:p>
        </p:txBody>
      </p:sp>
      <p:sp>
        <p:nvSpPr>
          <p:cNvPr id="2" name="">
            <a:extLst xmlns:a="http://schemas.openxmlformats.org/drawingml/2006/main">
              <a:ext uri="{FF2B5EF4-FFF2-40B4-BE49-F238E27FC236}">
                <a16:creationId xmlns:a16="http://schemas.microsoft.com/office/drawing/2014/main" id="{D9DFDD81-F71C-4B40-88DD-D55BADE9A2C1}"/>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Python 심화 · 함수와 파일 검사</a:t>
            </a:r>
          </a:p>
        </p:txBody>
      </p:sp>
      <p:sp>
        <p:nvSpPr>
          <p:cNvPr id="3" name="">
            <a:extLst xmlns:a="http://schemas.openxmlformats.org/drawingml/2006/main">
              <a:ext uri="{FF2B5EF4-FFF2-40B4-BE49-F238E27FC236}">
                <a16:creationId xmlns:a16="http://schemas.microsoft.com/office/drawing/2014/main" id="{3C2173BA-EEE3-43B7-A8DF-4A1FCB4D2889}"/>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2026-10-15</a:t>
            </a:r>
          </a:p>
        </p:txBody>
      </p:sp>
      <p:sp>
        <p:nvSpPr>
          <p:cNvPr id="4" name="">
            <a:extLst xmlns:a="http://schemas.openxmlformats.org/drawingml/2006/main">
              <a:ext uri="{FF2B5EF4-FFF2-40B4-BE49-F238E27FC236}">
                <a16:creationId xmlns:a16="http://schemas.microsoft.com/office/drawing/2014/main" id="{347BED35-BC4F-42B0-82DB-1C84A9B1DF26}"/>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처음 배우는 사람을 위한 실무 수업</a:t>
            </a:r>
          </a:p>
        </p:txBody>
      </p:sp>
      <p:sp>
        <p:nvSpPr>
          <p:cNvPr id="5" name="">
            <a:extLst xmlns:a="http://schemas.openxmlformats.org/drawingml/2006/main">
              <a:ext uri="{FF2B5EF4-FFF2-40B4-BE49-F238E27FC236}">
                <a16:creationId xmlns:a16="http://schemas.microsoft.com/office/drawing/2014/main" id="{26261CB8-1ECA-4AE5-BF08-E372F685245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01</a:t>
            </a:r>
          </a:p>
        </p:txBody>
      </p:sp>
    </p:spTree>
    <p:extLst>
      <p:ext uri="{BB962C8B-B14F-4D97-AF65-F5344CB8AC3E}">
        <p14:creationId xmlns:p14="http://schemas.microsoft.com/office/powerpoint/2010/main" val="966107480"/>
      </p:ext>
    </p:extLst>
  </p:cSld>
</p:sld>
</file>

<file path=ppt/slides/slide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CA07EF-BA75-454C-96A0-AE00C56AC1A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10/15  Python 심화 · 함수와 파일 검사</a:t>
            </a:r>
          </a:p>
        </p:txBody>
      </p:sp>
      <p:sp>
        <p:nvSpPr>
          <p:cNvPr id="2" name="">
            <a:extLst xmlns:a="http://schemas.openxmlformats.org/drawingml/2006/main">
              <a:ext uri="{FF2B5EF4-FFF2-40B4-BE49-F238E27FC236}">
                <a16:creationId xmlns:a16="http://schemas.microsoft.com/office/drawing/2014/main" id="{A277479C-B2A0-4FFF-95F5-973322657AE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하루 수업의 약속</a:t>
            </a:r>
          </a:p>
        </p:txBody>
      </p:sp>
      <p:sp>
        <p:nvSpPr>
          <p:cNvPr id="3" name="">
            <a:extLst xmlns:a="http://schemas.openxmlformats.org/drawingml/2006/main">
              <a:ext uri="{FF2B5EF4-FFF2-40B4-BE49-F238E27FC236}">
                <a16:creationId xmlns:a16="http://schemas.microsoft.com/office/drawing/2014/main" id="{6A7B710C-B919-4E45-BF57-B25C0453C5E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수업 10:00~17:00 · 50분씩 6교시</a:t>
            </a:r>
          </a:p>
        </p:txBody>
      </p:sp>
      <p:sp>
        <p:nvSpPr>
          <p:cNvPr id="4" name="">
            <a:extLst xmlns:a="http://schemas.openxmlformats.org/drawingml/2006/main">
              <a:ext uri="{FF2B5EF4-FFF2-40B4-BE49-F238E27FC236}">
                <a16:creationId xmlns:a16="http://schemas.microsoft.com/office/drawing/2014/main" id="{925467D3-4AFB-4850-8039-038CE262013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중식 11:50~13:00 · 13:00 복귀</a:t>
            </a:r>
          </a:p>
        </p:txBody>
      </p:sp>
      <p:sp>
        <p:nvSpPr>
          <p:cNvPr id="5" name="">
            <a:extLst xmlns:a="http://schemas.openxmlformats.org/drawingml/2006/main">
              <a:ext uri="{FF2B5EF4-FFF2-40B4-BE49-F238E27FC236}">
                <a16:creationId xmlns:a16="http://schemas.microsoft.com/office/drawing/2014/main" id="{0B0B91E9-A391-4D35-95A7-5C02521E4B3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수업 사이 10분 휴식</a:t>
            </a:r>
          </a:p>
        </p:txBody>
      </p:sp>
      <p:sp>
        <p:nvSpPr>
          <p:cNvPr id="6" name="">
            <a:extLst xmlns:a="http://schemas.openxmlformats.org/drawingml/2006/main">
              <a:ext uri="{FF2B5EF4-FFF2-40B4-BE49-F238E27FC236}">
                <a16:creationId xmlns:a16="http://schemas.microsoft.com/office/drawing/2014/main" id="{5ECD60D4-B0A4-405F-B70C-0BFE7846847D}"/>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마지막 10분은 저장 확인과 종료 준비입니다.</a:t>
            </a:r>
          </a:p>
        </p:txBody>
      </p:sp>
      <p:sp>
        <p:nvSpPr>
          <p:cNvPr id="7" name="">
            <a:extLst xmlns:a="http://schemas.openxmlformats.org/drawingml/2006/main">
              <a:ext uri="{FF2B5EF4-FFF2-40B4-BE49-F238E27FC236}">
                <a16:creationId xmlns:a16="http://schemas.microsoft.com/office/drawing/2014/main" id="{BF99D58B-7F5C-446B-9673-B7CF3D0C3BE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02</a:t>
            </a:r>
          </a:p>
        </p:txBody>
      </p:sp>
    </p:spTree>
    <p:extLst>
      <p:ext uri="{BB962C8B-B14F-4D97-AF65-F5344CB8AC3E}">
        <p14:creationId xmlns:p14="http://schemas.microsoft.com/office/powerpoint/2010/main" val="963621337"/>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3AF987-1ACB-4401-ACED-F77D44BEA60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10/15  Python 심화 · 함수와 파일 검사</a:t>
            </a:r>
          </a:p>
        </p:txBody>
      </p:sp>
      <p:sp>
        <p:nvSpPr>
          <p:cNvPr id="2" name="">
            <a:extLst xmlns:a="http://schemas.openxmlformats.org/drawingml/2006/main">
              <a:ext uri="{FF2B5EF4-FFF2-40B4-BE49-F238E27FC236}">
                <a16:creationId xmlns:a16="http://schemas.microsoft.com/office/drawing/2014/main" id="{63478670-57E7-4746-87A3-C526062019D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파일과 폴더부터</a:t>
            </a:r>
          </a:p>
        </p:txBody>
      </p:sp>
      <p:sp>
        <p:nvSpPr>
          <p:cNvPr id="3" name="">
            <a:extLst xmlns:a="http://schemas.openxmlformats.org/drawingml/2006/main">
              <a:ext uri="{FF2B5EF4-FFF2-40B4-BE49-F238E27FC236}">
                <a16:creationId xmlns:a16="http://schemas.microsoft.com/office/drawing/2014/main" id="{A5209E72-32E7-409D-94D3-AD86C2A9130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파일은 저장한 문서나 코드 한 개입니다.</a:t>
            </a:r>
          </a:p>
        </p:txBody>
      </p:sp>
      <p:sp>
        <p:nvSpPr>
          <p:cNvPr id="4" name="">
            <a:extLst xmlns:a="http://schemas.openxmlformats.org/drawingml/2006/main">
              <a:ext uri="{FF2B5EF4-FFF2-40B4-BE49-F238E27FC236}">
                <a16:creationId xmlns:a16="http://schemas.microsoft.com/office/drawing/2014/main" id="{75020196-15B0-49C7-B404-C5917F1C848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폴더는 파일을 모아 둔 위치입니다.</a:t>
            </a:r>
          </a:p>
        </p:txBody>
      </p:sp>
      <p:sp>
        <p:nvSpPr>
          <p:cNvPr id="5" name="">
            <a:extLst xmlns:a="http://schemas.openxmlformats.org/drawingml/2006/main">
              <a:ext uri="{FF2B5EF4-FFF2-40B4-BE49-F238E27FC236}">
                <a16:creationId xmlns:a16="http://schemas.microsoft.com/office/drawing/2014/main" id="{7CFB991A-4393-492F-A6ED-582ABD5428F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확장자는 이름 끝의 .csv, .json, .py입니다.</a:t>
            </a:r>
          </a:p>
        </p:txBody>
      </p:sp>
      <p:sp>
        <p:nvSpPr>
          <p:cNvPr id="6" name="">
            <a:extLst xmlns:a="http://schemas.openxmlformats.org/drawingml/2006/main">
              <a:ext uri="{FF2B5EF4-FFF2-40B4-BE49-F238E27FC236}">
                <a16:creationId xmlns:a16="http://schemas.microsoft.com/office/drawing/2014/main" id="{76FB1609-78B6-465F-9590-5432E52E6124}"/>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원본은 보존하고 작업 복사본을 씁니다.</a:t>
            </a:r>
          </a:p>
        </p:txBody>
      </p:sp>
      <p:sp>
        <p:nvSpPr>
          <p:cNvPr id="7" name="">
            <a:extLst xmlns:a="http://schemas.openxmlformats.org/drawingml/2006/main">
              <a:ext uri="{FF2B5EF4-FFF2-40B4-BE49-F238E27FC236}">
                <a16:creationId xmlns:a16="http://schemas.microsoft.com/office/drawing/2014/main" id="{772A9CF4-B6DA-48FE-BEAF-2AC1F52D8AB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03</a:t>
            </a:r>
          </a:p>
        </p:txBody>
      </p:sp>
    </p:spTree>
    <p:extLst>
      <p:ext uri="{BB962C8B-B14F-4D97-AF65-F5344CB8AC3E}">
        <p14:creationId xmlns:p14="http://schemas.microsoft.com/office/powerpoint/2010/main" val="1898304994"/>
      </p:ext>
    </p:extLst>
  </p:cSld>
</p:sld>
</file>

<file path=ppt/slides/slide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F4049B-70C2-4F8B-AAD8-3D341E704F6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10/15  Python 심화 · 함수와 파일 검사</a:t>
            </a:r>
          </a:p>
        </p:txBody>
      </p:sp>
      <p:sp>
        <p:nvSpPr>
          <p:cNvPr id="2" name="">
            <a:extLst xmlns:a="http://schemas.openxmlformats.org/drawingml/2006/main">
              <a:ext uri="{FF2B5EF4-FFF2-40B4-BE49-F238E27FC236}">
                <a16:creationId xmlns:a16="http://schemas.microsoft.com/office/drawing/2014/main" id="{62E9BFC9-29F3-487B-9A18-03F27654B07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막히면 같은 자료로 합류하기</a:t>
            </a:r>
          </a:p>
        </p:txBody>
      </p:sp>
      <p:sp>
        <p:nvSpPr>
          <p:cNvPr id="3" name="">
            <a:extLst xmlns:a="http://schemas.openxmlformats.org/drawingml/2006/main">
              <a:ext uri="{FF2B5EF4-FFF2-40B4-BE49-F238E27FC236}">
                <a16:creationId xmlns:a16="http://schemas.microsoft.com/office/drawing/2014/main" id="{66318E8D-4CA5-4012-9EA2-BAD54A4AACA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설치 문제와 개념 이해는 따로 기록합니다.</a:t>
            </a:r>
          </a:p>
        </p:txBody>
      </p:sp>
      <p:sp>
        <p:nvSpPr>
          <p:cNvPr id="4" name="">
            <a:extLst xmlns:a="http://schemas.openxmlformats.org/drawingml/2006/main">
              <a:ext uri="{FF2B5EF4-FFF2-40B4-BE49-F238E27FC236}">
                <a16:creationId xmlns:a16="http://schemas.microsoft.com/office/drawing/2014/main" id="{9896277A-1A1F-40F9-8D4E-B3E59CE2A59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실행이 어려우면 같은 입력을 손으로 추적합니다.</a:t>
            </a:r>
          </a:p>
        </p:txBody>
      </p:sp>
      <p:sp>
        <p:nvSpPr>
          <p:cNvPr id="5" name="">
            <a:extLst xmlns:a="http://schemas.openxmlformats.org/drawingml/2006/main">
              <a:ext uri="{FF2B5EF4-FFF2-40B4-BE49-F238E27FC236}">
                <a16:creationId xmlns:a16="http://schemas.microsoft.com/office/drawing/2014/main" id="{7F6CA777-16BF-468C-AD39-29A259389F3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개인 실행과 강사 관찰을 구별합니다.</a:t>
            </a:r>
          </a:p>
        </p:txBody>
      </p:sp>
      <p:sp>
        <p:nvSpPr>
          <p:cNvPr id="6" name="">
            <a:extLst xmlns:a="http://schemas.openxmlformats.org/drawingml/2006/main">
              <a:ext uri="{FF2B5EF4-FFF2-40B4-BE49-F238E27FC236}">
                <a16:creationId xmlns:a16="http://schemas.microsoft.com/office/drawing/2014/main" id="{5B1526B5-09AC-4DE0-9551-54C32CC5E32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04</a:t>
            </a:r>
          </a:p>
        </p:txBody>
      </p:sp>
    </p:spTree>
    <p:extLst>
      <p:ext uri="{BB962C8B-B14F-4D97-AF65-F5344CB8AC3E}">
        <p14:creationId xmlns:p14="http://schemas.microsoft.com/office/powerpoint/2010/main" val="61605271"/>
      </p:ext>
    </p:extLst>
  </p:cSld>
</p:sld>
</file>

<file path=ppt/slides/slide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29B44A4-18EF-4E84-86F4-E2298D95A09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10/15  Python 심화 · 함수와 파일 검사</a:t>
            </a:r>
          </a:p>
        </p:txBody>
      </p:sp>
      <p:sp>
        <p:nvSpPr>
          <p:cNvPr id="2" name="">
            <a:extLst xmlns:a="http://schemas.openxmlformats.org/drawingml/2006/main">
              <a:ext uri="{FF2B5EF4-FFF2-40B4-BE49-F238E27FC236}">
                <a16:creationId xmlns:a16="http://schemas.microsoft.com/office/drawing/2014/main" id="{AB5F19BE-2B1D-48C6-B2B7-B8418B4180E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 배울 여섯 가지</a:t>
            </a:r>
          </a:p>
        </p:txBody>
      </p:sp>
      <p:sp>
        <p:nvSpPr>
          <p:cNvPr id="3" name="">
            <a:extLst xmlns:a="http://schemas.openxmlformats.org/drawingml/2006/main">
              <a:ext uri="{FF2B5EF4-FFF2-40B4-BE49-F238E27FC236}">
                <a16:creationId xmlns:a16="http://schemas.microsoft.com/office/drawing/2014/main" id="{5252DC0D-BE43-44A6-99E5-27F1164A59D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함수 → 반환값 → 파일 읽기와 저장</a:t>
            </a:r>
          </a:p>
        </p:txBody>
      </p:sp>
      <p:sp>
        <p:nvSpPr>
          <p:cNvPr id="4" name="">
            <a:extLst xmlns:a="http://schemas.openxmlformats.org/drawingml/2006/main">
              <a:ext uri="{FF2B5EF4-FFF2-40B4-BE49-F238E27FC236}">
                <a16:creationId xmlns:a16="http://schemas.microsoft.com/office/drawing/2014/main" id="{EE1C0D09-C4D1-41E4-AE1E-5583921B341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오류 구별 → 규칙 검사 → 로그 검사기</a:t>
            </a:r>
          </a:p>
        </p:txBody>
      </p:sp>
      <p:sp>
        <p:nvSpPr>
          <p:cNvPr id="5" name="">
            <a:extLst xmlns:a="http://schemas.openxmlformats.org/drawingml/2006/main">
              <a:ext uri="{FF2B5EF4-FFF2-40B4-BE49-F238E27FC236}">
                <a16:creationId xmlns:a16="http://schemas.microsoft.com/office/drawing/2014/main" id="{370ABC37-A4D7-44AC-BF45-077792C74B3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05</a:t>
            </a:r>
          </a:p>
        </p:txBody>
      </p:sp>
    </p:spTree>
    <p:extLst>
      <p:ext uri="{BB962C8B-B14F-4D97-AF65-F5344CB8AC3E}">
        <p14:creationId xmlns:p14="http://schemas.microsoft.com/office/powerpoint/2010/main" val="2090099995"/>
      </p:ext>
    </p:extLst>
  </p:cSld>
</p:sld>
</file>

<file path=ppt/slides/slide6.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742A78-E1E6-45AC-BF06-62A918587AF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BB001F7D-F7CE-40E2-B709-45D26D233D24}"/>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1교시 · 반복 업무를 함수로</a:t>
            </a:r>
          </a:p>
        </p:txBody>
      </p:sp>
      <p:sp>
        <p:nvSpPr>
          <p:cNvPr id="3" name="">
            <a:extLst xmlns:a="http://schemas.openxmlformats.org/drawingml/2006/main">
              <a:ext uri="{FF2B5EF4-FFF2-40B4-BE49-F238E27FC236}">
                <a16:creationId xmlns:a16="http://schemas.microsoft.com/office/drawing/2014/main" id="{A926FE74-04A0-45C8-B9E5-B568A26BCC74}"/>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10:00~10:50 · 50분</a:t>
            </a:r>
          </a:p>
        </p:txBody>
      </p:sp>
      <p:sp>
        <p:nvSpPr>
          <p:cNvPr id="4" name="">
            <a:extLst xmlns:a="http://schemas.openxmlformats.org/drawingml/2006/main">
              <a:ext uri="{FF2B5EF4-FFF2-40B4-BE49-F238E27FC236}">
                <a16:creationId xmlns:a16="http://schemas.microsoft.com/office/drawing/2014/main" id="{2345570A-7506-4263-A1B0-9E878B7DD18E}"/>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A01, A02, A03</a:t>
            </a:r>
          </a:p>
        </p:txBody>
      </p:sp>
      <p:sp>
        <p:nvSpPr>
          <p:cNvPr id="5" name="">
            <a:extLst xmlns:a="http://schemas.openxmlformats.org/drawingml/2006/main">
              <a:ext uri="{FF2B5EF4-FFF2-40B4-BE49-F238E27FC236}">
                <a16:creationId xmlns:a16="http://schemas.microsoft.com/office/drawing/2014/main" id="{AA7FE741-FDCC-422B-895E-58F3704D4544}"/>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0CE366E9-46E2-47AE-9A2A-33C352C322F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06</a:t>
            </a:r>
          </a:p>
        </p:txBody>
      </p:sp>
    </p:spTree>
    <p:extLst>
      <p:ext uri="{BB962C8B-B14F-4D97-AF65-F5344CB8AC3E}">
        <p14:creationId xmlns:p14="http://schemas.microsoft.com/office/powerpoint/2010/main" val="1755174958"/>
      </p:ext>
    </p:extLst>
  </p:cSld>
</p:sld>
</file>

<file path=ppt/slides/slide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AFEEF91-D59E-4769-822C-5C33DD61F90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9D9312C-A090-4423-8E6D-6616A98866B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함수는 한 가지 일을 이름 붙입니다</a:t>
            </a:r>
          </a:p>
        </p:txBody>
      </p:sp>
      <p:sp>
        <p:nvSpPr>
          <p:cNvPr id="3" name="">
            <a:extLst xmlns:a="http://schemas.openxmlformats.org/drawingml/2006/main">
              <a:ext uri="{FF2B5EF4-FFF2-40B4-BE49-F238E27FC236}">
                <a16:creationId xmlns:a16="http://schemas.microsoft.com/office/drawing/2014/main" id="{37547416-0AAB-4678-80B0-E127FFD667F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공통 처리와 달라지는 입력을 나눕니다.</a:t>
            </a:r>
          </a:p>
        </p:txBody>
      </p:sp>
      <p:sp>
        <p:nvSpPr>
          <p:cNvPr id="4" name="">
            <a:extLst xmlns:a="http://schemas.openxmlformats.org/drawingml/2006/main">
              <a:ext uri="{FF2B5EF4-FFF2-40B4-BE49-F238E27FC236}">
                <a16:creationId xmlns:a16="http://schemas.microsoft.com/office/drawing/2014/main" id="{24324FAC-8839-4D97-A5B2-270B07ABB5C8}"/>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받을 값과 돌려줄 결과를 먼저 정합니다.</a:t>
            </a:r>
          </a:p>
        </p:txBody>
      </p:sp>
      <p:sp>
        <p:nvSpPr>
          <p:cNvPr id="5" name="">
            <a:extLst xmlns:a="http://schemas.openxmlformats.org/drawingml/2006/main">
              <a:ext uri="{FF2B5EF4-FFF2-40B4-BE49-F238E27FC236}">
                <a16:creationId xmlns:a16="http://schemas.microsoft.com/office/drawing/2014/main" id="{1C314C35-A1EC-4B8B-A863-87A875733410}"/>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이름만으로 실제 검사를 보장하지 않습니다.</a:t>
            </a:r>
          </a:p>
        </p:txBody>
      </p:sp>
      <p:sp>
        <p:nvSpPr>
          <p:cNvPr id="6" name="">
            <a:extLst xmlns:a="http://schemas.openxmlformats.org/drawingml/2006/main">
              <a:ext uri="{FF2B5EF4-FFF2-40B4-BE49-F238E27FC236}">
                <a16:creationId xmlns:a16="http://schemas.microsoft.com/office/drawing/2014/main" id="{B6562DC0-7094-4D0D-B9F9-3FA416198F4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07</a:t>
            </a:r>
          </a:p>
        </p:txBody>
      </p:sp>
    </p:spTree>
    <p:extLst>
      <p:ext uri="{BB962C8B-B14F-4D97-AF65-F5344CB8AC3E}">
        <p14:creationId xmlns:p14="http://schemas.microsoft.com/office/powerpoint/2010/main" val="878013504"/>
      </p:ext>
    </p:extLst>
  </p:cSld>
</p:sld>
</file>

<file path=ppt/slides/slide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0E4A7F0-2CD1-4CFC-9F68-FA083785FAB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9C6D80E7-4B1F-4484-913B-DDEDF68078B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정의와 호출</a:t>
            </a:r>
          </a:p>
        </p:txBody>
      </p:sp>
      <p:sp>
        <p:nvSpPr>
          <p:cNvPr id="3" name="">
            <a:extLst xmlns:a="http://schemas.openxmlformats.org/drawingml/2006/main">
              <a:ext uri="{FF2B5EF4-FFF2-40B4-BE49-F238E27FC236}">
                <a16:creationId xmlns:a16="http://schemas.microsoft.com/office/drawing/2014/main" id="{0D796D5C-0AF1-45C9-9376-0E0AE714B4C3}"/>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def show_notice():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print("점검을 시작합니다")</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print("준비")</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show_notice()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print("끝")</a:t>
            </a:r>
          </a:p>
        </p:txBody>
      </p:sp>
      <p:sp>
        <p:nvSpPr>
          <p:cNvPr id="4" name="">
            <a:extLst xmlns:a="http://schemas.openxmlformats.org/drawingml/2006/main">
              <a:ext uri="{FF2B5EF4-FFF2-40B4-BE49-F238E27FC236}">
                <a16:creationId xmlns:a16="http://schemas.microsoft.com/office/drawing/2014/main" id="{33B51A04-5C05-4764-861C-DDF22332E28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08</a:t>
            </a:r>
          </a:p>
        </p:txBody>
      </p:sp>
    </p:spTree>
    <p:extLst>
      <p:ext uri="{BB962C8B-B14F-4D97-AF65-F5344CB8AC3E}">
        <p14:creationId xmlns:p14="http://schemas.microsoft.com/office/powerpoint/2010/main" val="1804323437"/>
      </p:ext>
    </p:extLst>
  </p:cSld>
</p:sld>
</file>

<file path=ppt/slides/slide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D0863ED-26D4-4C05-8ED3-0D22ECF93F5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E9CEE7CA-2D27-4A55-8E85-0E5A9804135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def와 호출을 나누기</a:t>
            </a:r>
          </a:p>
        </p:txBody>
      </p:sp>
      <p:sp>
        <p:nvSpPr>
          <p:cNvPr id="3" name="">
            <a:extLst xmlns:a="http://schemas.openxmlformats.org/drawingml/2006/main">
              <a:ext uri="{FF2B5EF4-FFF2-40B4-BE49-F238E27FC236}">
                <a16:creationId xmlns:a16="http://schemas.microsoft.com/office/drawing/2014/main" id="{913D96D0-A6AB-4AD4-AFA6-DC63E084883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def는 작업을 정의합니다.</a:t>
            </a:r>
          </a:p>
        </p:txBody>
      </p:sp>
      <p:sp>
        <p:nvSpPr>
          <p:cNvPr id="4" name="">
            <a:extLst xmlns:a="http://schemas.openxmlformats.org/drawingml/2006/main">
              <a:ext uri="{FF2B5EF4-FFF2-40B4-BE49-F238E27FC236}">
                <a16:creationId xmlns:a16="http://schemas.microsoft.com/office/drawing/2014/main" id="{18122C3D-9C27-4A12-9D84-49E891FFA1B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들여쓴 줄은 호출할 때 실행됩니다.</a:t>
            </a:r>
          </a:p>
        </p:txBody>
      </p:sp>
      <p:sp>
        <p:nvSpPr>
          <p:cNvPr id="5" name="">
            <a:extLst xmlns:a="http://schemas.openxmlformats.org/drawingml/2006/main">
              <a:ext uri="{FF2B5EF4-FFF2-40B4-BE49-F238E27FC236}">
                <a16:creationId xmlns:a16="http://schemas.microsoft.com/office/drawing/2014/main" id="{589D02CB-5EA4-4DDD-8F36-4E0EE0DF35C0}"/>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이름 뒤 ()로 작업을 요청합니다.</a:t>
            </a:r>
          </a:p>
        </p:txBody>
      </p:sp>
      <p:sp>
        <p:nvSpPr>
          <p:cNvPr id="6" name="">
            <a:extLst xmlns:a="http://schemas.openxmlformats.org/drawingml/2006/main">
              <a:ext uri="{FF2B5EF4-FFF2-40B4-BE49-F238E27FC236}">
                <a16:creationId xmlns:a16="http://schemas.microsoft.com/office/drawing/2014/main" id="{6DA5056D-F4C7-4FC5-8609-3B481002416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09</a:t>
            </a:r>
          </a:p>
        </p:txBody>
      </p:sp>
    </p:spTree>
    <p:extLst>
      <p:ext uri="{BB962C8B-B14F-4D97-AF65-F5344CB8AC3E}">
        <p14:creationId xmlns:p14="http://schemas.microsoft.com/office/powerpoint/2010/main" val="1700253044"/>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9539B1E-AB3D-4339-9FF8-C630B88F984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2DD20E2F-ADA5-49DD-B5D6-7A5FE26207E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 · 실행 시점</a:t>
            </a:r>
          </a:p>
        </p:txBody>
      </p:sp>
      <p:sp>
        <p:nvSpPr>
          <p:cNvPr id="3" name="">
            <a:extLst xmlns:a="http://schemas.openxmlformats.org/drawingml/2006/main">
              <a:ext uri="{FF2B5EF4-FFF2-40B4-BE49-F238E27FC236}">
                <a16:creationId xmlns:a16="http://schemas.microsoft.com/office/drawing/2014/main" id="{32A1E90F-7D61-41A6-AC57-38D8A6BE0D97}"/>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준비</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점검을 시작합니다</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끝</a:t>
            </a:r>
          </a:p>
        </p:txBody>
      </p:sp>
      <p:sp>
        <p:nvSpPr>
          <p:cNvPr id="4" name="">
            <a:extLst xmlns:a="http://schemas.openxmlformats.org/drawingml/2006/main">
              <a:ext uri="{FF2B5EF4-FFF2-40B4-BE49-F238E27FC236}">
                <a16:creationId xmlns:a16="http://schemas.microsoft.com/office/drawing/2014/main" id="{8455C095-C8D4-413E-A317-43F87BE3C2A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a:t>
            </a:r>
          </a:p>
        </p:txBody>
      </p:sp>
    </p:spTree>
    <p:extLst>
      <p:ext uri="{BB962C8B-B14F-4D97-AF65-F5344CB8AC3E}">
        <p14:creationId xmlns:p14="http://schemas.microsoft.com/office/powerpoint/2010/main" val="344176180"/>
      </p:ext>
    </p:extLst>
  </p:cSld>
</p:sld>
</file>

<file path=ppt/slides/slide1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00687C-A09A-4C48-AB2F-4AEC50D19B2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C37CD515-74C7-4384-8D8F-338DDB6D185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번 정의하고 두 번 호출하면</a:t>
            </a:r>
          </a:p>
        </p:txBody>
      </p:sp>
      <p:sp>
        <p:nvSpPr>
          <p:cNvPr id="3" name="">
            <a:extLst xmlns:a="http://schemas.openxmlformats.org/drawingml/2006/main">
              <a:ext uri="{FF2B5EF4-FFF2-40B4-BE49-F238E27FC236}">
                <a16:creationId xmlns:a16="http://schemas.microsoft.com/office/drawing/2014/main" id="{4D63A894-90AA-4405-BB51-01D7031329B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같은 작업을 두 번 실행할 수 있습니다.</a:t>
            </a:r>
          </a:p>
        </p:txBody>
      </p:sp>
      <p:sp>
        <p:nvSpPr>
          <p:cNvPr id="4" name="">
            <a:extLst xmlns:a="http://schemas.openxmlformats.org/drawingml/2006/main">
              <a:ext uri="{FF2B5EF4-FFF2-40B4-BE49-F238E27FC236}">
                <a16:creationId xmlns:a16="http://schemas.microsoft.com/office/drawing/2014/main" id="{8FD5A333-98EF-4DAB-A7C9-C2E0E7BF71C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호출마다 본문으로 들어갔다 돌아옵니다.</a:t>
            </a:r>
          </a:p>
        </p:txBody>
      </p:sp>
      <p:sp>
        <p:nvSpPr>
          <p:cNvPr id="5" name="">
            <a:extLst xmlns:a="http://schemas.openxmlformats.org/drawingml/2006/main">
              <a:ext uri="{FF2B5EF4-FFF2-40B4-BE49-F238E27FC236}">
                <a16:creationId xmlns:a16="http://schemas.microsoft.com/office/drawing/2014/main" id="{1842EA3C-FE96-4987-8C0B-F8A39CCEA6B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본문의 줄 위치와 출력 시점은 다릅니다.</a:t>
            </a:r>
          </a:p>
        </p:txBody>
      </p:sp>
      <p:sp>
        <p:nvSpPr>
          <p:cNvPr id="6" name="">
            <a:extLst xmlns:a="http://schemas.openxmlformats.org/drawingml/2006/main">
              <a:ext uri="{FF2B5EF4-FFF2-40B4-BE49-F238E27FC236}">
                <a16:creationId xmlns:a16="http://schemas.microsoft.com/office/drawing/2014/main" id="{A90C5E2F-0B2A-4E53-A600-4836A513D57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11</a:t>
            </a:r>
          </a:p>
        </p:txBody>
      </p:sp>
    </p:spTree>
    <p:extLst>
      <p:ext uri="{BB962C8B-B14F-4D97-AF65-F5344CB8AC3E}">
        <p14:creationId xmlns:p14="http://schemas.microsoft.com/office/powerpoint/2010/main" val="1797827637"/>
      </p:ext>
    </p:extLst>
  </p:cSld>
</p:sld>
</file>

<file path=ppt/slides/slide1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E66E18A-F55C-4F07-A1F7-0ADCF7B3E91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09553FB7-8DE3-40F0-BB56-174616A2E79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입력 두 개 받기</a:t>
            </a:r>
          </a:p>
        </p:txBody>
      </p:sp>
      <p:sp>
        <p:nvSpPr>
          <p:cNvPr id="3" name="">
            <a:extLst xmlns:a="http://schemas.openxmlformats.org/drawingml/2006/main">
              <a:ext uri="{FF2B5EF4-FFF2-40B4-BE49-F238E27FC236}">
                <a16:creationId xmlns:a16="http://schemas.microsoft.com/office/drawing/2014/main" id="{6B879A17-AC7F-466F-B8BE-CA33147F9CEE}"/>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def show_temperature(sensor_id, value):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print(sensor_id, value)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show_temperature("S01", 22.5)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show_temperature("S02", 25.0)</a:t>
            </a:r>
          </a:p>
        </p:txBody>
      </p:sp>
      <p:sp>
        <p:nvSpPr>
          <p:cNvPr id="4" name="">
            <a:extLst xmlns:a="http://schemas.openxmlformats.org/drawingml/2006/main">
              <a:ext uri="{FF2B5EF4-FFF2-40B4-BE49-F238E27FC236}">
                <a16:creationId xmlns:a16="http://schemas.microsoft.com/office/drawing/2014/main" id="{4BB01F11-8610-4AE0-9FF9-EF87EA25D0B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12</a:t>
            </a:r>
          </a:p>
        </p:txBody>
      </p:sp>
    </p:spTree>
    <p:extLst>
      <p:ext uri="{BB962C8B-B14F-4D97-AF65-F5344CB8AC3E}">
        <p14:creationId xmlns:p14="http://schemas.microsoft.com/office/powerpoint/2010/main" val="2040642059"/>
      </p:ext>
    </p:extLst>
  </p:cSld>
</p:sld>
</file>

<file path=ppt/slides/slide1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2327FB9-26D3-44E3-8363-98447E64B5D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5E6C6733-F36C-4458-B9FA-DB24E2ED84D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받는 자리와 실제 값</a:t>
            </a:r>
          </a:p>
        </p:txBody>
      </p:sp>
      <p:graphicFrame>
        <p:nvGraphicFramePr>
          <p:cNvPr id="7" name=""/>
          <p:cNvGraphicFramePr/>
          <p:nvPr/>
        </p:nvGraphicFramePr>
        <p:xfrm>
          <a:off xmlns:a="http://schemas.openxmlformats.org/drawingml/2006/main" x="762000" y="2333625"/>
          <a:ext xmlns:a="http://schemas.openxmlformats.org/drawingml/2006/main" cx="10668000" cy="21717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호출</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sensor_id</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value</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첫 호출</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S01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22.5</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둘째 호출</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S02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25.0</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CC735AEF-AFA7-4334-B7EA-DBF4B800A28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13</a:t>
            </a:r>
          </a:p>
        </p:txBody>
      </p:sp>
    </p:spTree>
    <p:extLst>
      <p:ext uri="{BB962C8B-B14F-4D97-AF65-F5344CB8AC3E}">
        <p14:creationId xmlns:p14="http://schemas.microsoft.com/office/powerpoint/2010/main" val="1308950712"/>
      </p:ext>
    </p:extLst>
  </p:cSld>
</p:sld>
</file>

<file path=ppt/slides/slide1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7B6F3F-2B58-4C58-B5A5-9110DB62C4B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8B3F125D-5C9B-4893-9940-5012DADC5F9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입력 개수와 순서를 확인합니다</a:t>
            </a:r>
          </a:p>
        </p:txBody>
      </p:sp>
      <p:sp>
        <p:nvSpPr>
          <p:cNvPr id="3" name="">
            <a:extLst xmlns:a="http://schemas.openxmlformats.org/drawingml/2006/main">
              <a:ext uri="{FF2B5EF4-FFF2-40B4-BE49-F238E27FC236}">
                <a16:creationId xmlns:a16="http://schemas.microsoft.com/office/drawing/2014/main" id="{D0369A50-5FA3-4B3E-AA43-D166EAB3731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매개변수는 받을 자리의 이름입니다.</a:t>
            </a:r>
          </a:p>
        </p:txBody>
      </p:sp>
      <p:sp>
        <p:nvSpPr>
          <p:cNvPr id="4" name="">
            <a:extLst xmlns:a="http://schemas.openxmlformats.org/drawingml/2006/main">
              <a:ext uri="{FF2B5EF4-FFF2-40B4-BE49-F238E27FC236}">
                <a16:creationId xmlns:a16="http://schemas.microsoft.com/office/drawing/2014/main" id="{4E3D29EF-1AB5-42AA-95E3-80D66C42B29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인자는 호출에서 건네는 실제 값입니다.</a:t>
            </a:r>
          </a:p>
        </p:txBody>
      </p:sp>
      <p:sp>
        <p:nvSpPr>
          <p:cNvPr id="5" name="">
            <a:extLst xmlns:a="http://schemas.openxmlformats.org/drawingml/2006/main">
              <a:ext uri="{FF2B5EF4-FFF2-40B4-BE49-F238E27FC236}">
                <a16:creationId xmlns:a16="http://schemas.microsoft.com/office/drawing/2014/main" id="{69AF0005-1A9B-4AB9-9B74-870DED357D2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부족한 입력이나 잘못된 순서를 확인합니다.</a:t>
            </a:r>
          </a:p>
        </p:txBody>
      </p:sp>
      <p:sp>
        <p:nvSpPr>
          <p:cNvPr id="6" name="">
            <a:extLst xmlns:a="http://schemas.openxmlformats.org/drawingml/2006/main">
              <a:ext uri="{FF2B5EF4-FFF2-40B4-BE49-F238E27FC236}">
                <a16:creationId xmlns:a16="http://schemas.microsoft.com/office/drawing/2014/main" id="{363BC545-EF64-48A1-AD2F-6713E559F49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14</a:t>
            </a:r>
          </a:p>
        </p:txBody>
      </p:sp>
    </p:spTree>
    <p:extLst>
      <p:ext uri="{BB962C8B-B14F-4D97-AF65-F5344CB8AC3E}">
        <p14:creationId xmlns:p14="http://schemas.microsoft.com/office/powerpoint/2010/main" val="298335308"/>
      </p:ext>
    </p:extLst>
  </p:cSld>
</p:sld>
</file>

<file path=ppt/slides/slide1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C94E8AF-2D30-4024-82AB-1C6BD950BBB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C74F9A12-9E0E-4AB9-A729-DDD04BCA8CF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A8FFA8F0-F746-4677-8971-2E88FB57EBD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방문자 이름을 받아 환영 문장을 만듭니다.</a:t>
            </a:r>
          </a:p>
        </p:txBody>
      </p:sp>
      <p:sp>
        <p:nvSpPr>
          <p:cNvPr id="4" name="">
            <a:extLst xmlns:a="http://schemas.openxmlformats.org/drawingml/2006/main">
              <a:ext uri="{FF2B5EF4-FFF2-40B4-BE49-F238E27FC236}">
                <a16:creationId xmlns:a16="http://schemas.microsoft.com/office/drawing/2014/main" id="{4DEB504B-E1E5-434A-9B1D-E69E6E2A54D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15</a:t>
            </a:r>
          </a:p>
        </p:txBody>
      </p:sp>
    </p:spTree>
    <p:extLst>
      <p:ext uri="{BB962C8B-B14F-4D97-AF65-F5344CB8AC3E}">
        <p14:creationId xmlns:p14="http://schemas.microsoft.com/office/powerpoint/2010/main" val="113677234"/>
      </p:ext>
    </p:extLst>
  </p:cSld>
</p:sld>
</file>

<file path=ppt/slides/slide1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A4DBB25-AE34-4E9B-ADA9-F1110FDFDC1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B1F1937F-41FD-4D4F-82C3-B60FF6074DA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21717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호출 입력</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반환할 문장</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민수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안녕하세요, 민수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지아</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안녕하세요, 지아</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CD92E150-30F6-4DB4-A171-FB22EDE4042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16</a:t>
            </a:r>
          </a:p>
        </p:txBody>
      </p:sp>
    </p:spTree>
    <p:extLst>
      <p:ext uri="{BB962C8B-B14F-4D97-AF65-F5344CB8AC3E}">
        <p14:creationId xmlns:p14="http://schemas.microsoft.com/office/powerpoint/2010/main" val="1431302898"/>
      </p:ext>
    </p:extLst>
  </p:cSld>
</p:sld>
</file>

<file path=ppt/slides/slide1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2EF9CD-555A-46BD-A7AA-B533BBBA42C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C77EF4CD-9F57-4812-90DE-BA040B96D62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27BFF817-81F2-4D58-8286-B282D8FFEE0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상품명과 보관함을 받습니다.</a:t>
            </a:r>
          </a:p>
        </p:txBody>
      </p:sp>
      <p:sp>
        <p:nvSpPr>
          <p:cNvPr id="4" name="">
            <a:extLst xmlns:a="http://schemas.openxmlformats.org/drawingml/2006/main">
              <a:ext uri="{FF2B5EF4-FFF2-40B4-BE49-F238E27FC236}">
                <a16:creationId xmlns:a16="http://schemas.microsoft.com/office/drawing/2014/main" id="{DB4B1F6F-C2D3-4169-839D-720A46F1644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장갑/B02, 마스크/A01의 라벨을 만드세요.</a:t>
            </a:r>
          </a:p>
        </p:txBody>
      </p:sp>
      <p:sp>
        <p:nvSpPr>
          <p:cNvPr id="5" name="">
            <a:extLst xmlns:a="http://schemas.openxmlformats.org/drawingml/2006/main">
              <a:ext uri="{FF2B5EF4-FFF2-40B4-BE49-F238E27FC236}">
                <a16:creationId xmlns:a16="http://schemas.microsoft.com/office/drawing/2014/main" id="{1E751E48-12FB-44C9-9B9B-3A426396C10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 순서를 바꾼 결과도 설명하세요.</a:t>
            </a:r>
          </a:p>
        </p:txBody>
      </p:sp>
      <p:sp>
        <p:nvSpPr>
          <p:cNvPr id="6" name="">
            <a:extLst xmlns:a="http://schemas.openxmlformats.org/drawingml/2006/main">
              <a:ext uri="{FF2B5EF4-FFF2-40B4-BE49-F238E27FC236}">
                <a16:creationId xmlns:a16="http://schemas.microsoft.com/office/drawing/2014/main" id="{BABCDEBC-ABB1-4C5B-B840-CC8488F7F43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17</a:t>
            </a:r>
          </a:p>
        </p:txBody>
      </p:sp>
    </p:spTree>
    <p:extLst>
      <p:ext uri="{BB962C8B-B14F-4D97-AF65-F5344CB8AC3E}">
        <p14:creationId xmlns:p14="http://schemas.microsoft.com/office/powerpoint/2010/main" val="2123164995"/>
      </p:ext>
    </p:extLst>
  </p:cSld>
</p:sld>
</file>

<file path=ppt/slides/slide1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CB26B7B-4080-443E-8B21-F1304F9D2FA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801A38B5-2A0A-44DA-B99C-42E1801FC90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4846F7F3-7C67-4B7B-9701-478C6CD8B7B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장갑 / B02, 마스크 / A01로 만듭니다.</a:t>
            </a:r>
          </a:p>
        </p:txBody>
      </p:sp>
      <p:sp>
        <p:nvSpPr>
          <p:cNvPr id="4" name="">
            <a:extLst xmlns:a="http://schemas.openxmlformats.org/drawingml/2006/main">
              <a:ext uri="{FF2B5EF4-FFF2-40B4-BE49-F238E27FC236}">
                <a16:creationId xmlns:a16="http://schemas.microsoft.com/office/drawing/2014/main" id="{104619C0-A882-4A7F-A653-FA34C18E687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순서를 바꾸면 B02 / 장갑처럼 양식이 달라집니다.</a:t>
            </a:r>
          </a:p>
        </p:txBody>
      </p:sp>
      <p:sp>
        <p:nvSpPr>
          <p:cNvPr id="5" name="">
            <a:extLst xmlns:a="http://schemas.openxmlformats.org/drawingml/2006/main">
              <a:ext uri="{FF2B5EF4-FFF2-40B4-BE49-F238E27FC236}">
                <a16:creationId xmlns:a16="http://schemas.microsoft.com/office/drawing/2014/main" id="{B42D1132-29CE-4181-B101-3A1FC9508B9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18</a:t>
            </a:r>
          </a:p>
        </p:txBody>
      </p:sp>
    </p:spTree>
    <p:extLst>
      <p:ext uri="{BB962C8B-B14F-4D97-AF65-F5344CB8AC3E}">
        <p14:creationId xmlns:p14="http://schemas.microsoft.com/office/powerpoint/2010/main" val="774881803"/>
      </p:ext>
    </p:extLst>
  </p:cSld>
</p:sld>
</file>

<file path=ppt/slides/slide1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65727B9-47D0-4B51-99D1-7C3B7A8F3D8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A67422BF-11B5-4348-931B-6A4E0BFDBD9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정의와 입력</a:t>
            </a:r>
          </a:p>
        </p:txBody>
      </p:sp>
      <p:sp>
        <p:nvSpPr>
          <p:cNvPr id="3" name="">
            <a:extLst xmlns:a="http://schemas.openxmlformats.org/drawingml/2006/main">
              <a:ext uri="{FF2B5EF4-FFF2-40B4-BE49-F238E27FC236}">
                <a16:creationId xmlns:a16="http://schemas.microsoft.com/office/drawing/2014/main" id="{151EEAD8-B271-4445-8CB9-B480FB8F514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A02 출력 순서를 먼저 예상합니다.</a:t>
            </a:r>
          </a:p>
        </p:txBody>
      </p:sp>
      <p:sp>
        <p:nvSpPr>
          <p:cNvPr id="4" name="">
            <a:extLst xmlns:a="http://schemas.openxmlformats.org/drawingml/2006/main">
              <a:ext uri="{FF2B5EF4-FFF2-40B4-BE49-F238E27FC236}">
                <a16:creationId xmlns:a16="http://schemas.microsoft.com/office/drawing/2014/main" id="{05C3B012-8601-43CA-9386-E1D6E532125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A03 두 호출의 입력과 출력을 연결합니다.</a:t>
            </a:r>
          </a:p>
        </p:txBody>
      </p:sp>
      <p:sp>
        <p:nvSpPr>
          <p:cNvPr id="5" name="">
            <a:extLst xmlns:a="http://schemas.openxmlformats.org/drawingml/2006/main">
              <a:ext uri="{FF2B5EF4-FFF2-40B4-BE49-F238E27FC236}">
                <a16:creationId xmlns:a16="http://schemas.microsoft.com/office/drawing/2014/main" id="{E6DED998-C40E-4352-99E8-DDAC2573C54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19</a:t>
            </a:r>
          </a:p>
        </p:txBody>
      </p:sp>
    </p:spTree>
    <p:extLst>
      <p:ext uri="{BB962C8B-B14F-4D97-AF65-F5344CB8AC3E}">
        <p14:creationId xmlns:p14="http://schemas.microsoft.com/office/powerpoint/2010/main" val="505676188"/>
      </p:ext>
    </p:extLst>
  </p:cSld>
</p:sld>
</file>

<file path=ppt/slides/slide2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D0CEA5-1C79-454F-AB7E-295800686CE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7D19D4C4-6AEC-4899-AFB4-1D26F1442ED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1교시 확인</a:t>
            </a:r>
          </a:p>
        </p:txBody>
      </p:sp>
      <p:sp>
        <p:nvSpPr>
          <p:cNvPr id="3" name="">
            <a:extLst xmlns:a="http://schemas.openxmlformats.org/drawingml/2006/main">
              <a:ext uri="{FF2B5EF4-FFF2-40B4-BE49-F238E27FC236}">
                <a16:creationId xmlns:a16="http://schemas.microsoft.com/office/drawing/2014/main" id="{FC88CEB4-9555-455E-A32A-646712D980A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정의만으로 본문은 실행되지 않습니다.</a:t>
            </a:r>
          </a:p>
        </p:txBody>
      </p:sp>
      <p:sp>
        <p:nvSpPr>
          <p:cNvPr id="4" name="">
            <a:extLst xmlns:a="http://schemas.openxmlformats.org/drawingml/2006/main">
              <a:ext uri="{FF2B5EF4-FFF2-40B4-BE49-F238E27FC236}">
                <a16:creationId xmlns:a16="http://schemas.microsoft.com/office/drawing/2014/main" id="{1D413EA8-640A-458A-BC83-164D07B9463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 자리와 실제 전달값을 구별합니다.</a:t>
            </a:r>
          </a:p>
        </p:txBody>
      </p:sp>
      <p:sp>
        <p:nvSpPr>
          <p:cNvPr id="5" name="">
            <a:extLst xmlns:a="http://schemas.openxmlformats.org/drawingml/2006/main">
              <a:ext uri="{FF2B5EF4-FFF2-40B4-BE49-F238E27FC236}">
                <a16:creationId xmlns:a16="http://schemas.microsoft.com/office/drawing/2014/main" id="{3FEC538F-D418-4C59-BB1A-C05C66D13DB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함수의 입력 계약을 문장으로 씁니다.</a:t>
            </a:r>
          </a:p>
        </p:txBody>
      </p:sp>
      <p:sp>
        <p:nvSpPr>
          <p:cNvPr id="6" name="">
            <a:extLst xmlns:a="http://schemas.openxmlformats.org/drawingml/2006/main">
              <a:ext uri="{FF2B5EF4-FFF2-40B4-BE49-F238E27FC236}">
                <a16:creationId xmlns:a16="http://schemas.microsoft.com/office/drawing/2014/main" id="{C2848966-FC5C-42A2-94C7-4326BC50DD8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20</a:t>
            </a:r>
          </a:p>
        </p:txBody>
      </p:sp>
    </p:spTree>
    <p:extLst>
      <p:ext uri="{BB962C8B-B14F-4D97-AF65-F5344CB8AC3E}">
        <p14:creationId xmlns:p14="http://schemas.microsoft.com/office/powerpoint/2010/main" val="270413888"/>
      </p:ext>
    </p:extLst>
  </p:cSld>
</p:sld>
</file>

<file path=ppt/slides/slide2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C01007-42FA-4DF9-8283-CD32DD3DCB8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3C7B5980-7086-4EF6-97A1-62C38D7172ED}"/>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2교시 · 함수 입력과 반환</a:t>
            </a:r>
          </a:p>
        </p:txBody>
      </p:sp>
      <p:sp>
        <p:nvSpPr>
          <p:cNvPr id="3" name="">
            <a:extLst xmlns:a="http://schemas.openxmlformats.org/drawingml/2006/main">
              <a:ext uri="{FF2B5EF4-FFF2-40B4-BE49-F238E27FC236}">
                <a16:creationId xmlns:a16="http://schemas.microsoft.com/office/drawing/2014/main" id="{759A49A5-77E6-4F0F-84BD-43244DFF862F}"/>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11:00~11:50 · 50분</a:t>
            </a:r>
          </a:p>
        </p:txBody>
      </p:sp>
      <p:sp>
        <p:nvSpPr>
          <p:cNvPr id="4" name="">
            <a:extLst xmlns:a="http://schemas.openxmlformats.org/drawingml/2006/main">
              <a:ext uri="{FF2B5EF4-FFF2-40B4-BE49-F238E27FC236}">
                <a16:creationId xmlns:a16="http://schemas.microsoft.com/office/drawing/2014/main" id="{B608419A-6E7D-4951-AAA4-3B4A12B6836A}"/>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A04, A05, A06</a:t>
            </a:r>
          </a:p>
        </p:txBody>
      </p:sp>
      <p:sp>
        <p:nvSpPr>
          <p:cNvPr id="5" name="">
            <a:extLst xmlns:a="http://schemas.openxmlformats.org/drawingml/2006/main">
              <a:ext uri="{FF2B5EF4-FFF2-40B4-BE49-F238E27FC236}">
                <a16:creationId xmlns:a16="http://schemas.microsoft.com/office/drawing/2014/main" id="{2CFA495B-29E4-4B5E-8371-43CFDB3DF0FB}"/>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274044AA-08C2-444F-8A55-B0803E2C758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21</a:t>
            </a:r>
          </a:p>
        </p:txBody>
      </p:sp>
    </p:spTree>
    <p:extLst>
      <p:ext uri="{BB962C8B-B14F-4D97-AF65-F5344CB8AC3E}">
        <p14:creationId xmlns:p14="http://schemas.microsoft.com/office/powerpoint/2010/main" val="1096641694"/>
      </p:ext>
    </p:extLst>
  </p:cSld>
</p:sld>
</file>

<file path=ppt/slides/slide2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E8DE64A-4A34-474E-9A03-BFD3EE7B148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796FA6D4-EBE2-4798-9401-ED20C6E3760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값을 돌려주기</a:t>
            </a:r>
          </a:p>
        </p:txBody>
      </p:sp>
      <p:sp>
        <p:nvSpPr>
          <p:cNvPr id="3" name="">
            <a:extLst xmlns:a="http://schemas.openxmlformats.org/drawingml/2006/main">
              <a:ext uri="{FF2B5EF4-FFF2-40B4-BE49-F238E27FC236}">
                <a16:creationId xmlns:a16="http://schemas.microsoft.com/office/drawing/2014/main" id="{0E215E36-2DB3-4C97-96E7-3187332D022A}"/>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def add_offset(value, offset):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return value + offset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result = add_offset(22.5, 1.0)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print(result)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print(result + 1)</a:t>
            </a:r>
          </a:p>
        </p:txBody>
      </p:sp>
      <p:sp>
        <p:nvSpPr>
          <p:cNvPr id="4" name="">
            <a:extLst xmlns:a="http://schemas.openxmlformats.org/drawingml/2006/main">
              <a:ext uri="{FF2B5EF4-FFF2-40B4-BE49-F238E27FC236}">
                <a16:creationId xmlns:a16="http://schemas.microsoft.com/office/drawing/2014/main" id="{E142C70A-9C3A-4DB3-95EA-8C1962418CB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22</a:t>
            </a:r>
          </a:p>
        </p:txBody>
      </p:sp>
    </p:spTree>
    <p:extLst>
      <p:ext uri="{BB962C8B-B14F-4D97-AF65-F5344CB8AC3E}">
        <p14:creationId xmlns:p14="http://schemas.microsoft.com/office/powerpoint/2010/main" val="152957872"/>
      </p:ext>
    </p:extLst>
  </p:cSld>
</p:sld>
</file>

<file path=ppt/slides/slide2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B7B1676-990D-4323-B4E1-DBFBFAD6BA2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69A1575F-6C2B-4188-9E57-FD88A639720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return과 print는 다른 행동입니다</a:t>
            </a:r>
          </a:p>
        </p:txBody>
      </p:sp>
      <p:sp>
        <p:nvSpPr>
          <p:cNvPr id="3" name="">
            <a:extLst xmlns:a="http://schemas.openxmlformats.org/drawingml/2006/main">
              <a:ext uri="{FF2B5EF4-FFF2-40B4-BE49-F238E27FC236}">
                <a16:creationId xmlns:a16="http://schemas.microsoft.com/office/drawing/2014/main" id="{B4515CD6-14DD-4587-984D-4DE4522CC46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return은 호출한 곳으로 값을 보냅니다.</a:t>
            </a:r>
          </a:p>
        </p:txBody>
      </p:sp>
      <p:sp>
        <p:nvSpPr>
          <p:cNvPr id="4" name="">
            <a:extLst xmlns:a="http://schemas.openxmlformats.org/drawingml/2006/main">
              <a:ext uri="{FF2B5EF4-FFF2-40B4-BE49-F238E27FC236}">
                <a16:creationId xmlns:a16="http://schemas.microsoft.com/office/drawing/2014/main" id="{C05327A3-E739-4757-8E58-4FD5F7FFA38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print는 사람에게 화면을 보여 줍니다.</a:t>
            </a:r>
          </a:p>
        </p:txBody>
      </p:sp>
      <p:sp>
        <p:nvSpPr>
          <p:cNvPr id="5" name="">
            <a:extLst xmlns:a="http://schemas.openxmlformats.org/drawingml/2006/main">
              <a:ext uri="{FF2B5EF4-FFF2-40B4-BE49-F238E27FC236}">
                <a16:creationId xmlns:a16="http://schemas.microsoft.com/office/drawing/2014/main" id="{6F906086-57BA-4FBB-8D09-F89734C77E0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화면값이 변수에 자동 저장되지는 않습니다.</a:t>
            </a:r>
          </a:p>
        </p:txBody>
      </p:sp>
      <p:sp>
        <p:nvSpPr>
          <p:cNvPr id="6" name="">
            <a:extLst xmlns:a="http://schemas.openxmlformats.org/drawingml/2006/main">
              <a:ext uri="{FF2B5EF4-FFF2-40B4-BE49-F238E27FC236}">
                <a16:creationId xmlns:a16="http://schemas.microsoft.com/office/drawing/2014/main" id="{6298288B-DA3F-4089-B04A-09428E29F89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23</a:t>
            </a:r>
          </a:p>
        </p:txBody>
      </p:sp>
    </p:spTree>
    <p:extLst>
      <p:ext uri="{BB962C8B-B14F-4D97-AF65-F5344CB8AC3E}">
        <p14:creationId xmlns:p14="http://schemas.microsoft.com/office/powerpoint/2010/main" val="989248484"/>
      </p:ext>
    </p:extLst>
  </p:cSld>
</p:sld>
</file>

<file path=ppt/slides/slide2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AEE8C79-DFC9-4BE3-A5E5-96B05AB1376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6EE56DBD-4943-4E51-9B18-A391B1A31A8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반환 뒤 계산하기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단계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값</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함수 입력</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22.5와 1.0</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반환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23.5</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다음 계산 +1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24.5</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3ECDF0FE-AD03-41A1-B169-63EFB82A9C5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24</a:t>
            </a:r>
          </a:p>
        </p:txBody>
      </p:sp>
    </p:spTree>
    <p:extLst>
      <p:ext uri="{BB962C8B-B14F-4D97-AF65-F5344CB8AC3E}">
        <p14:creationId xmlns:p14="http://schemas.microsoft.com/office/powerpoint/2010/main" val="420047445"/>
      </p:ext>
    </p:extLst>
  </p:cSld>
</p:sld>
</file>

<file path=ppt/slides/slide2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2EEC6A-56E7-440D-B459-2C32FC448A1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3C9E2E31-AAE6-4AAB-B3BA-25F9E5CC070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수정 뒤 결과를 따라갑니다</a:t>
            </a:r>
          </a:p>
        </p:txBody>
      </p:sp>
      <p:sp>
        <p:nvSpPr>
          <p:cNvPr id="3" name="">
            <a:extLst xmlns:a="http://schemas.openxmlformats.org/drawingml/2006/main">
              <a:ext uri="{FF2B5EF4-FFF2-40B4-BE49-F238E27FC236}">
                <a16:creationId xmlns:a16="http://schemas.microsoft.com/office/drawing/2014/main" id="{7484A09B-5DC0-4B10-80E1-D3F7E2F5EB3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offset을 2.0으로 바꾸면 24.5를 반환합니다.</a:t>
            </a:r>
          </a:p>
        </p:txBody>
      </p:sp>
      <p:sp>
        <p:nvSpPr>
          <p:cNvPr id="4" name="">
            <a:extLst xmlns:a="http://schemas.openxmlformats.org/drawingml/2006/main">
              <a:ext uri="{FF2B5EF4-FFF2-40B4-BE49-F238E27FC236}">
                <a16:creationId xmlns:a16="http://schemas.microsoft.com/office/drawing/2014/main" id="{1817255F-CC44-4756-AFED-D7AE12DD9B5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그 다음 +1은 25.5가 됩니다.</a:t>
            </a:r>
          </a:p>
        </p:txBody>
      </p:sp>
      <p:sp>
        <p:nvSpPr>
          <p:cNvPr id="5" name="">
            <a:extLst xmlns:a="http://schemas.openxmlformats.org/drawingml/2006/main">
              <a:ext uri="{FF2B5EF4-FFF2-40B4-BE49-F238E27FC236}">
                <a16:creationId xmlns:a16="http://schemas.microsoft.com/office/drawing/2014/main" id="{98952D18-5A49-4537-972D-331AB27FFC42}"/>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반환과 뒤 계산의 결과를 따로 적습니다.</a:t>
            </a:r>
          </a:p>
        </p:txBody>
      </p:sp>
      <p:sp>
        <p:nvSpPr>
          <p:cNvPr id="6" name="">
            <a:extLst xmlns:a="http://schemas.openxmlformats.org/drawingml/2006/main">
              <a:ext uri="{FF2B5EF4-FFF2-40B4-BE49-F238E27FC236}">
                <a16:creationId xmlns:a16="http://schemas.microsoft.com/office/drawing/2014/main" id="{5EC40FE1-55F7-442E-9502-9C24C1BBD18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25</a:t>
            </a:r>
          </a:p>
        </p:txBody>
      </p:sp>
    </p:spTree>
    <p:extLst>
      <p:ext uri="{BB962C8B-B14F-4D97-AF65-F5344CB8AC3E}">
        <p14:creationId xmlns:p14="http://schemas.microsoft.com/office/powerpoint/2010/main" val="174400595"/>
      </p:ext>
    </p:extLst>
  </p:cSld>
</p:sld>
</file>

<file path=ppt/slides/slide2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EFA79F9-F409-4566-AB49-B400EF1710B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BC2C756-0873-41D7-8B1F-569B0271D27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상태를 반환하기</a:t>
            </a:r>
          </a:p>
        </p:txBody>
      </p:sp>
      <p:sp>
        <p:nvSpPr>
          <p:cNvPr id="3" name="">
            <a:extLst xmlns:a="http://schemas.openxmlformats.org/drawingml/2006/main">
              <a:ext uri="{FF2B5EF4-FFF2-40B4-BE49-F238E27FC236}">
                <a16:creationId xmlns:a16="http://schemas.microsoft.com/office/drawing/2014/main" id="{0F6BEF2F-ECE2-4BEB-8F1E-F67AD6AADFEC}"/>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def temperature_status(value):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if value is None: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return "미측정"</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if value &gt; 24.0: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return "확인"</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return "정상"</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print(temperature_status(22.5))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print(temperature_status(None))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print(temperature_status(25.0))</a:t>
            </a:r>
          </a:p>
        </p:txBody>
      </p:sp>
      <p:sp>
        <p:nvSpPr>
          <p:cNvPr id="4" name="">
            <a:extLst xmlns:a="http://schemas.openxmlformats.org/drawingml/2006/main">
              <a:ext uri="{FF2B5EF4-FFF2-40B4-BE49-F238E27FC236}">
                <a16:creationId xmlns:a16="http://schemas.microsoft.com/office/drawing/2014/main" id="{B72FA15A-ABFC-40D3-8027-76F63EA2228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26</a:t>
            </a:r>
          </a:p>
        </p:txBody>
      </p:sp>
    </p:spTree>
    <p:extLst>
      <p:ext uri="{BB962C8B-B14F-4D97-AF65-F5344CB8AC3E}">
        <p14:creationId xmlns:p14="http://schemas.microsoft.com/office/powerpoint/2010/main" val="914395211"/>
      </p:ext>
    </p:extLst>
  </p:cSld>
</p:sld>
</file>

<file path=ppt/slides/slide2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357538-1539-4096-9A06-2406A0847AA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F51C1B65-9C96-446A-B629-6FAF1173DA0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return을 만나면 그 호출은 끝납니다</a:t>
            </a:r>
          </a:p>
        </p:txBody>
      </p:sp>
      <p:sp>
        <p:nvSpPr>
          <p:cNvPr id="3" name="">
            <a:extLst xmlns:a="http://schemas.openxmlformats.org/drawingml/2006/main">
              <a:ext uri="{FF2B5EF4-FFF2-40B4-BE49-F238E27FC236}">
                <a16:creationId xmlns:a16="http://schemas.microsoft.com/office/drawing/2014/main" id="{7312BCB7-119F-4A4D-9736-A3703C19954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None이면 미측정을 반환합니다.</a:t>
            </a:r>
          </a:p>
        </p:txBody>
      </p:sp>
      <p:sp>
        <p:nvSpPr>
          <p:cNvPr id="4" name="">
            <a:extLst xmlns:a="http://schemas.openxmlformats.org/drawingml/2006/main">
              <a:ext uri="{FF2B5EF4-FFF2-40B4-BE49-F238E27FC236}">
                <a16:creationId xmlns:a16="http://schemas.microsoft.com/office/drawing/2014/main" id="{81F1A022-A118-4C45-AC97-0DF59864647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24.0 초과이면 확인을 반환합니다.</a:t>
            </a:r>
          </a:p>
        </p:txBody>
      </p:sp>
      <p:sp>
        <p:nvSpPr>
          <p:cNvPr id="5" name="">
            <a:extLst xmlns:a="http://schemas.openxmlformats.org/drawingml/2006/main">
              <a:ext uri="{FF2B5EF4-FFF2-40B4-BE49-F238E27FC236}">
                <a16:creationId xmlns:a16="http://schemas.microsoft.com/office/drawing/2014/main" id="{750BBD1E-9327-4309-BE16-6D2DFD10B13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그 외 숫자는 정상을 반환합니다.</a:t>
            </a:r>
          </a:p>
        </p:txBody>
      </p:sp>
      <p:sp>
        <p:nvSpPr>
          <p:cNvPr id="6" name="">
            <a:extLst xmlns:a="http://schemas.openxmlformats.org/drawingml/2006/main">
              <a:ext uri="{FF2B5EF4-FFF2-40B4-BE49-F238E27FC236}">
                <a16:creationId xmlns:a16="http://schemas.microsoft.com/office/drawing/2014/main" id="{0C040644-C3EA-4F68-A733-2EC6E89AD84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27</a:t>
            </a:r>
          </a:p>
        </p:txBody>
      </p:sp>
    </p:spTree>
    <p:extLst>
      <p:ext uri="{BB962C8B-B14F-4D97-AF65-F5344CB8AC3E}">
        <p14:creationId xmlns:p14="http://schemas.microsoft.com/office/powerpoint/2010/main" val="158085739"/>
      </p:ext>
    </p:extLst>
  </p:cSld>
</p:sld>
</file>

<file path=ppt/slides/slide2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A4F061F-DA38-41C4-806B-6419170941B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A7007C30-CA44-4EEB-B940-3700829BE67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경계와 없음의 기대</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입력</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반환값</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22.5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정상</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24.0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정상</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25.0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확인</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None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미측정</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457DD1FE-C197-4BCE-8519-D5E8A01609F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28</a:t>
            </a:r>
          </a:p>
        </p:txBody>
      </p:sp>
    </p:spTree>
    <p:extLst>
      <p:ext uri="{BB962C8B-B14F-4D97-AF65-F5344CB8AC3E}">
        <p14:creationId xmlns:p14="http://schemas.microsoft.com/office/powerpoint/2010/main" val="274293087"/>
      </p:ext>
    </p:extLst>
  </p:cSld>
</p:sld>
</file>

<file path=ppt/slides/slide2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FFEAA13-C9AD-4E28-93E1-F1DDD9CF3B0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928873DE-EE5E-48C0-B1A4-2CBD6FD272B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검사표는 실행 전에 만듭니다</a:t>
            </a:r>
          </a:p>
        </p:txBody>
      </p:sp>
      <p:sp>
        <p:nvSpPr>
          <p:cNvPr id="3" name="">
            <a:extLst xmlns:a="http://schemas.openxmlformats.org/drawingml/2006/main">
              <a:ext uri="{FF2B5EF4-FFF2-40B4-BE49-F238E27FC236}">
                <a16:creationId xmlns:a16="http://schemas.microsoft.com/office/drawing/2014/main" id="{3B77FA85-D92C-45B7-9740-F4CB26A6A47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입력과 업무상 기대를 먼저 씁니다.</a:t>
            </a:r>
          </a:p>
        </p:txBody>
      </p:sp>
      <p:sp>
        <p:nvSpPr>
          <p:cNvPr id="4" name="">
            <a:extLst xmlns:a="http://schemas.openxmlformats.org/drawingml/2006/main">
              <a:ext uri="{FF2B5EF4-FFF2-40B4-BE49-F238E27FC236}">
                <a16:creationId xmlns:a16="http://schemas.microsoft.com/office/drawing/2014/main" id="{F7E9F0E6-4C7E-4E67-93D6-8637D42DA3F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경계 아래·같음·위를 포함합니다.</a:t>
            </a:r>
          </a:p>
        </p:txBody>
      </p:sp>
      <p:sp>
        <p:nvSpPr>
          <p:cNvPr id="5" name="">
            <a:extLst xmlns:a="http://schemas.openxmlformats.org/drawingml/2006/main">
              <a:ext uri="{FF2B5EF4-FFF2-40B4-BE49-F238E27FC236}">
                <a16:creationId xmlns:a16="http://schemas.microsoft.com/office/drawing/2014/main" id="{5E1D2068-3CBD-451A-8238-F9CDC4ED41D0}"/>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 출력과 기대를 대조합니다.</a:t>
            </a:r>
          </a:p>
        </p:txBody>
      </p:sp>
      <p:sp>
        <p:nvSpPr>
          <p:cNvPr id="6" name="">
            <a:extLst xmlns:a="http://schemas.openxmlformats.org/drawingml/2006/main">
              <a:ext uri="{FF2B5EF4-FFF2-40B4-BE49-F238E27FC236}">
                <a16:creationId xmlns:a16="http://schemas.microsoft.com/office/drawing/2014/main" id="{8680384A-970D-45B5-B21D-78588CFA59D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29</a:t>
            </a:r>
          </a:p>
        </p:txBody>
      </p:sp>
    </p:spTree>
    <p:extLst>
      <p:ext uri="{BB962C8B-B14F-4D97-AF65-F5344CB8AC3E}">
        <p14:creationId xmlns:p14="http://schemas.microsoft.com/office/powerpoint/2010/main" val="1108655541"/>
      </p:ext>
    </p:extLst>
  </p:cSld>
</p:sld>
</file>

<file path=ppt/slides/slide3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AC6E12B-EC86-4E9B-9C83-8B67BD4C63B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2C754A33-B12A-4F17-A67B-0ECEF581085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B7EAB35B-0B67-4FA7-9EC2-C29BBA279E0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상품 금액을 계산한 뒤 배송비를 더합니다.</a:t>
            </a:r>
          </a:p>
        </p:txBody>
      </p:sp>
      <p:sp>
        <p:nvSpPr>
          <p:cNvPr id="4" name="">
            <a:extLst xmlns:a="http://schemas.openxmlformats.org/drawingml/2006/main">
              <a:ext uri="{FF2B5EF4-FFF2-40B4-BE49-F238E27FC236}">
                <a16:creationId xmlns:a16="http://schemas.microsoft.com/office/drawing/2014/main" id="{AE6361F4-80DB-4610-A6F0-4EE6DC1EF2F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30</a:t>
            </a:r>
          </a:p>
        </p:txBody>
      </p:sp>
    </p:spTree>
    <p:extLst>
      <p:ext uri="{BB962C8B-B14F-4D97-AF65-F5344CB8AC3E}">
        <p14:creationId xmlns:p14="http://schemas.microsoft.com/office/powerpoint/2010/main" val="1206299434"/>
      </p:ext>
    </p:extLst>
  </p:cSld>
</p:sld>
</file>

<file path=ppt/slides/slide3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B8EC6D5-1831-4E08-9EA4-3CA7E61CE40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69961127-89F8-4505-B822-79CEBCBF7E5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단계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결과</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1200×3</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3600</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함수 반환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3600</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배송비 +2000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5600</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0D936665-7BAB-411E-8D7C-B334AB74004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31</a:t>
            </a:r>
          </a:p>
        </p:txBody>
      </p:sp>
    </p:spTree>
    <p:extLst>
      <p:ext uri="{BB962C8B-B14F-4D97-AF65-F5344CB8AC3E}">
        <p14:creationId xmlns:p14="http://schemas.microsoft.com/office/powerpoint/2010/main" val="1160298625"/>
      </p:ext>
    </p:extLst>
  </p:cSld>
</p:sld>
</file>

<file path=ppt/slides/slide3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00603E3-C33C-45B4-8094-6CA879459F3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188B5A67-0007-45F3-91F6-2BB8748590E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5F442F72-7ABB-46AA-A929-88A71DEAFCE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 복습: 함수는 포장비 500을 출력만 합니다.</a:t>
            </a:r>
          </a:p>
        </p:txBody>
      </p:sp>
      <p:sp>
        <p:nvSpPr>
          <p:cNvPr id="4" name="">
            <a:extLst xmlns:a="http://schemas.openxmlformats.org/drawingml/2006/main">
              <a:ext uri="{FF2B5EF4-FFF2-40B4-BE49-F238E27FC236}">
                <a16:creationId xmlns:a16="http://schemas.microsoft.com/office/drawing/2014/main" id="{6229BF16-FA9E-4EBF-99E3-24B0A12A769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반환값을 총액 3000에 더하면 어떻게 될까요?</a:t>
            </a:r>
          </a:p>
        </p:txBody>
      </p:sp>
      <p:sp>
        <p:nvSpPr>
          <p:cNvPr id="5" name="">
            <a:extLst xmlns:a="http://schemas.openxmlformats.org/drawingml/2006/main">
              <a:ext uri="{FF2B5EF4-FFF2-40B4-BE49-F238E27FC236}">
                <a16:creationId xmlns:a16="http://schemas.microsoft.com/office/drawing/2014/main" id="{95CBB213-5296-4918-A38D-1D70B2269E0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32</a:t>
            </a:r>
          </a:p>
        </p:txBody>
      </p:sp>
    </p:spTree>
    <p:extLst>
      <p:ext uri="{BB962C8B-B14F-4D97-AF65-F5344CB8AC3E}">
        <p14:creationId xmlns:p14="http://schemas.microsoft.com/office/powerpoint/2010/main" val="2000383978"/>
      </p:ext>
    </p:extLst>
  </p:cSld>
</p:sld>
</file>

<file path=ppt/slides/slide3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73AC8E6-41FA-4EF3-B3EE-8411DC493CB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BD8F3D4C-B8B7-47DF-99DA-9A99BA2A72D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7358F659-8B4C-479F-A6FB-6617892A432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return이 없으면 받은 값은 None입니다.</a:t>
            </a:r>
          </a:p>
        </p:txBody>
      </p:sp>
      <p:sp>
        <p:nvSpPr>
          <p:cNvPr id="4" name="">
            <a:extLst xmlns:a="http://schemas.openxmlformats.org/drawingml/2006/main">
              <a:ext uri="{FF2B5EF4-FFF2-40B4-BE49-F238E27FC236}">
                <a16:creationId xmlns:a16="http://schemas.microsoft.com/office/drawing/2014/main" id="{EAD395E9-1BFE-428B-9E33-9823B8872F3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함수가 500을 반환하고 호출자가 더하도록 고칩니다.</a:t>
            </a:r>
          </a:p>
        </p:txBody>
      </p:sp>
      <p:sp>
        <p:nvSpPr>
          <p:cNvPr id="5" name="">
            <a:extLst xmlns:a="http://schemas.openxmlformats.org/drawingml/2006/main">
              <a:ext uri="{FF2B5EF4-FFF2-40B4-BE49-F238E27FC236}">
                <a16:creationId xmlns:a16="http://schemas.microsoft.com/office/drawing/2014/main" id="{9926DED2-3779-40B2-836E-E4A3BC0075A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33</a:t>
            </a:r>
          </a:p>
        </p:txBody>
      </p:sp>
    </p:spTree>
    <p:extLst>
      <p:ext uri="{BB962C8B-B14F-4D97-AF65-F5344CB8AC3E}">
        <p14:creationId xmlns:p14="http://schemas.microsoft.com/office/powerpoint/2010/main" val="1532122577"/>
      </p:ext>
    </p:extLst>
  </p:cSld>
</p:sld>
</file>

<file path=ppt/slides/slide3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C02FEA3-1B24-419B-A067-1E3F24F3B04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0D0934E4-DA99-4CC5-831D-0C671D947CD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반환과 검사</a:t>
            </a:r>
          </a:p>
        </p:txBody>
      </p:sp>
      <p:sp>
        <p:nvSpPr>
          <p:cNvPr id="3" name="">
            <a:extLst xmlns:a="http://schemas.openxmlformats.org/drawingml/2006/main">
              <a:ext uri="{FF2B5EF4-FFF2-40B4-BE49-F238E27FC236}">
                <a16:creationId xmlns:a16="http://schemas.microsoft.com/office/drawing/2014/main" id="{7DEF16A5-C474-4DD9-A6C8-95CA9F083DF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A04 받은 값을 다음 계산에 사용합니다.</a:t>
            </a:r>
          </a:p>
        </p:txBody>
      </p:sp>
      <p:sp>
        <p:nvSpPr>
          <p:cNvPr id="4" name="">
            <a:extLst xmlns:a="http://schemas.openxmlformats.org/drawingml/2006/main">
              <a:ext uri="{FF2B5EF4-FFF2-40B4-BE49-F238E27FC236}">
                <a16:creationId xmlns:a16="http://schemas.microsoft.com/office/drawing/2014/main" id="{7876E890-C925-4D78-8EB4-80CBD65B0FD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A06에서 정상·경계·미측정을 대조합니다.</a:t>
            </a:r>
          </a:p>
        </p:txBody>
      </p:sp>
      <p:sp>
        <p:nvSpPr>
          <p:cNvPr id="5" name="">
            <a:extLst xmlns:a="http://schemas.openxmlformats.org/drawingml/2006/main">
              <a:ext uri="{FF2B5EF4-FFF2-40B4-BE49-F238E27FC236}">
                <a16:creationId xmlns:a16="http://schemas.microsoft.com/office/drawing/2014/main" id="{8FCDB308-87A6-4E86-A101-BA93EEF3E9C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34</a:t>
            </a:r>
          </a:p>
        </p:txBody>
      </p:sp>
    </p:spTree>
    <p:extLst>
      <p:ext uri="{BB962C8B-B14F-4D97-AF65-F5344CB8AC3E}">
        <p14:creationId xmlns:p14="http://schemas.microsoft.com/office/powerpoint/2010/main" val="1415702255"/>
      </p:ext>
    </p:extLst>
  </p:cSld>
</p:sld>
</file>

<file path=ppt/slides/slide3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85563D4-DB75-4E87-9250-52A2A1D52E8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AEDFC6C7-F11F-4065-9F1C-70642FCD054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2교시 확인</a:t>
            </a:r>
          </a:p>
        </p:txBody>
      </p:sp>
      <p:sp>
        <p:nvSpPr>
          <p:cNvPr id="3" name="">
            <a:extLst xmlns:a="http://schemas.openxmlformats.org/drawingml/2006/main">
              <a:ext uri="{FF2B5EF4-FFF2-40B4-BE49-F238E27FC236}">
                <a16:creationId xmlns:a16="http://schemas.microsoft.com/office/drawing/2014/main" id="{ECB625F4-10E4-4657-95DD-DABD07F884D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표시값과 반환값은 다를 수 있습니다.</a:t>
            </a:r>
          </a:p>
        </p:txBody>
      </p:sp>
      <p:sp>
        <p:nvSpPr>
          <p:cNvPr id="4" name="">
            <a:extLst xmlns:a="http://schemas.openxmlformats.org/drawingml/2006/main">
              <a:ext uri="{FF2B5EF4-FFF2-40B4-BE49-F238E27FC236}">
                <a16:creationId xmlns:a16="http://schemas.microsoft.com/office/drawing/2014/main" id="{8CC7463C-1C1F-4065-A386-D3C620DDEE1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return 뒤 같은 호출은 계속 내려가지 않습니다.</a:t>
            </a:r>
          </a:p>
        </p:txBody>
      </p:sp>
      <p:sp>
        <p:nvSpPr>
          <p:cNvPr id="5" name="">
            <a:extLst xmlns:a="http://schemas.openxmlformats.org/drawingml/2006/main">
              <a:ext uri="{FF2B5EF4-FFF2-40B4-BE49-F238E27FC236}">
                <a16:creationId xmlns:a16="http://schemas.microsoft.com/office/drawing/2014/main" id="{C5ED36D0-1C5D-4F4D-860C-1CB38A30E86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검사 통과 범위를 넘겨 보고하지 않습니다.</a:t>
            </a:r>
          </a:p>
        </p:txBody>
      </p:sp>
      <p:sp>
        <p:nvSpPr>
          <p:cNvPr id="6" name="">
            <a:extLst xmlns:a="http://schemas.openxmlformats.org/drawingml/2006/main">
              <a:ext uri="{FF2B5EF4-FFF2-40B4-BE49-F238E27FC236}">
                <a16:creationId xmlns:a16="http://schemas.microsoft.com/office/drawing/2014/main" id="{A1E6273D-D35A-4C8F-9661-1ECFDA68683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35</a:t>
            </a:r>
          </a:p>
        </p:txBody>
      </p:sp>
    </p:spTree>
    <p:extLst>
      <p:ext uri="{BB962C8B-B14F-4D97-AF65-F5344CB8AC3E}">
        <p14:creationId xmlns:p14="http://schemas.microsoft.com/office/powerpoint/2010/main" val="1592568483"/>
      </p:ext>
    </p:extLst>
  </p:cSld>
</p:sld>
</file>

<file path=ppt/slides/slide36.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133856-4699-4E12-8E6E-D61407441BA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F391E003-F4F9-4F66-9B7E-C4ED606A3D8A}"/>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3교시 · 파일을 읽고 결과 저장</a:t>
            </a:r>
          </a:p>
        </p:txBody>
      </p:sp>
      <p:sp>
        <p:nvSpPr>
          <p:cNvPr id="3" name="">
            <a:extLst xmlns:a="http://schemas.openxmlformats.org/drawingml/2006/main">
              <a:ext uri="{FF2B5EF4-FFF2-40B4-BE49-F238E27FC236}">
                <a16:creationId xmlns:a16="http://schemas.microsoft.com/office/drawing/2014/main" id="{B37759F1-2D84-483C-9C0F-B54A32666402}"/>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13:00~13:50 · 50분</a:t>
            </a:r>
          </a:p>
        </p:txBody>
      </p:sp>
      <p:sp>
        <p:nvSpPr>
          <p:cNvPr id="4" name="">
            <a:extLst xmlns:a="http://schemas.openxmlformats.org/drawingml/2006/main">
              <a:ext uri="{FF2B5EF4-FFF2-40B4-BE49-F238E27FC236}">
                <a16:creationId xmlns:a16="http://schemas.microsoft.com/office/drawing/2014/main" id="{F21535F9-585E-4617-8979-A5B146979F58}"/>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A07, A08, A09</a:t>
            </a:r>
          </a:p>
        </p:txBody>
      </p:sp>
      <p:sp>
        <p:nvSpPr>
          <p:cNvPr id="5" name="">
            <a:extLst xmlns:a="http://schemas.openxmlformats.org/drawingml/2006/main">
              <a:ext uri="{FF2B5EF4-FFF2-40B4-BE49-F238E27FC236}">
                <a16:creationId xmlns:a16="http://schemas.microsoft.com/office/drawing/2014/main" id="{2A37601F-870F-45D0-852D-A032FAE761BE}"/>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ED9096AA-F41D-4020-A4A8-F1163094C62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36</a:t>
            </a:r>
          </a:p>
        </p:txBody>
      </p:sp>
    </p:spTree>
    <p:extLst>
      <p:ext uri="{BB962C8B-B14F-4D97-AF65-F5344CB8AC3E}">
        <p14:creationId xmlns:p14="http://schemas.microsoft.com/office/powerpoint/2010/main" val="75802652"/>
      </p:ext>
    </p:extLst>
  </p:cSld>
</p:sld>
</file>

<file path=ppt/slides/slide3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854D18A-5E5E-4E99-82A7-CA5ADF7E75A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25F3CF4A-375A-440F-94EE-E225AE45B71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텍스트 파일 읽기</a:t>
            </a:r>
          </a:p>
        </p:txBody>
      </p:sp>
      <p:sp>
        <p:nvSpPr>
          <p:cNvPr id="3" name="">
            <a:extLst xmlns:a="http://schemas.openxmlformats.org/drawingml/2006/main">
              <a:ext uri="{FF2B5EF4-FFF2-40B4-BE49-F238E27FC236}">
                <a16:creationId xmlns:a16="http://schemas.microsoft.com/office/drawing/2014/main" id="{800925B4-4831-4C69-B76D-AD162DAB32D0}"/>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from pathlib import Path</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base = Path(__file__).resolve().parent.parent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source = base / "data" / "notice.txt"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text = source.read_text(encoding="utf-8")</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print(text.strip())</a:t>
            </a:r>
          </a:p>
        </p:txBody>
      </p:sp>
      <p:sp>
        <p:nvSpPr>
          <p:cNvPr id="4" name="">
            <a:extLst xmlns:a="http://schemas.openxmlformats.org/drawingml/2006/main">
              <a:ext uri="{FF2B5EF4-FFF2-40B4-BE49-F238E27FC236}">
                <a16:creationId xmlns:a16="http://schemas.microsoft.com/office/drawing/2014/main" id="{B0EE891F-8EE1-4231-9C00-C8609145E25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37</a:t>
            </a:r>
          </a:p>
        </p:txBody>
      </p:sp>
    </p:spTree>
    <p:extLst>
      <p:ext uri="{BB962C8B-B14F-4D97-AF65-F5344CB8AC3E}">
        <p14:creationId xmlns:p14="http://schemas.microsoft.com/office/powerpoint/2010/main" val="1142974268"/>
      </p:ext>
    </p:extLst>
  </p:cSld>
</p:sld>
</file>

<file path=ppt/slides/slide3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1583597-D333-489C-8855-CD59C22A37D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D16CAD29-D7D0-46F3-8E4C-DB4BEB008A5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파일 주소를 만드는 순서</a:t>
            </a:r>
          </a:p>
        </p:txBody>
      </p:sp>
      <p:sp>
        <p:nvSpPr>
          <p:cNvPr id="3" name="">
            <a:extLst xmlns:a="http://schemas.openxmlformats.org/drawingml/2006/main">
              <a:ext uri="{FF2B5EF4-FFF2-40B4-BE49-F238E27FC236}">
                <a16:creationId xmlns:a16="http://schemas.microsoft.com/office/drawing/2014/main" id="{A005C7BB-04ED-44F9-9522-21A58BE34E1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코드의 위치를 찾습니다.</a:t>
            </a:r>
          </a:p>
        </p:txBody>
      </p:sp>
      <p:sp>
        <p:nvSpPr>
          <p:cNvPr id="4" name="">
            <a:extLst xmlns:a="http://schemas.openxmlformats.org/drawingml/2006/main">
              <a:ext uri="{FF2B5EF4-FFF2-40B4-BE49-F238E27FC236}">
                <a16:creationId xmlns:a16="http://schemas.microsoft.com/office/drawing/2014/main" id="{18831052-899D-4C9D-8AFE-9AA751E0EF8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그 위의 course 폴더를 기준으로 삼습니다.</a:t>
            </a:r>
          </a:p>
        </p:txBody>
      </p:sp>
      <p:sp>
        <p:nvSpPr>
          <p:cNvPr id="5" name="">
            <a:extLst xmlns:a="http://schemas.openxmlformats.org/drawingml/2006/main">
              <a:ext uri="{FF2B5EF4-FFF2-40B4-BE49-F238E27FC236}">
                <a16:creationId xmlns:a16="http://schemas.microsoft.com/office/drawing/2014/main" id="{F912757B-22E8-4DFD-B6B3-E8B85A1CEB1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data/notice.txt를 UTF-8로 읽습니다.</a:t>
            </a:r>
          </a:p>
        </p:txBody>
      </p:sp>
      <p:sp>
        <p:nvSpPr>
          <p:cNvPr id="6" name="">
            <a:extLst xmlns:a="http://schemas.openxmlformats.org/drawingml/2006/main">
              <a:ext uri="{FF2B5EF4-FFF2-40B4-BE49-F238E27FC236}">
                <a16:creationId xmlns:a16="http://schemas.microsoft.com/office/drawing/2014/main" id="{F764A06E-BDD3-441A-B3A0-1F187601873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38</a:t>
            </a:r>
          </a:p>
        </p:txBody>
      </p:sp>
    </p:spTree>
    <p:extLst>
      <p:ext uri="{BB962C8B-B14F-4D97-AF65-F5344CB8AC3E}">
        <p14:creationId xmlns:p14="http://schemas.microsoft.com/office/powerpoint/2010/main" val="693686995"/>
      </p:ext>
    </p:extLst>
  </p:cSld>
</p:sld>
</file>

<file path=ppt/slides/slide3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FAAB13C-23F7-4F7A-B1E4-721BF7DE75D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9971D359-C4C8-4227-B4A0-34CC03F72A7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파일을 찾지 못하면</a:t>
            </a:r>
          </a:p>
        </p:txBody>
      </p:sp>
      <p:sp>
        <p:nvSpPr>
          <p:cNvPr id="3" name="">
            <a:extLst xmlns:a="http://schemas.openxmlformats.org/drawingml/2006/main">
              <a:ext uri="{FF2B5EF4-FFF2-40B4-BE49-F238E27FC236}">
                <a16:creationId xmlns:a16="http://schemas.microsoft.com/office/drawing/2014/main" id="{649B5E27-31EF-4388-9B3B-854591D0FB0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FileNotFoundError는 주소부터 확인합니다.</a:t>
            </a:r>
          </a:p>
        </p:txBody>
      </p:sp>
      <p:sp>
        <p:nvSpPr>
          <p:cNvPr id="4" name="">
            <a:extLst xmlns:a="http://schemas.openxmlformats.org/drawingml/2006/main">
              <a:ext uri="{FF2B5EF4-FFF2-40B4-BE49-F238E27FC236}">
                <a16:creationId xmlns:a16="http://schemas.microsoft.com/office/drawing/2014/main" id="{D16D793F-D42A-4F05-ACBE-5B23786EFCE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압축을 풀었는지와 확장자를 봅니다.</a:t>
            </a:r>
          </a:p>
        </p:txBody>
      </p:sp>
      <p:sp>
        <p:nvSpPr>
          <p:cNvPr id="5" name="">
            <a:extLst xmlns:a="http://schemas.openxmlformats.org/drawingml/2006/main">
              <a:ext uri="{FF2B5EF4-FFF2-40B4-BE49-F238E27FC236}">
                <a16:creationId xmlns:a16="http://schemas.microsoft.com/office/drawing/2014/main" id="{E97CBFBD-BF24-4758-B21D-54675EDD0A3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없는 파일 문제를 숫자 변환으로 고치지 않습니다.</a:t>
            </a:r>
          </a:p>
        </p:txBody>
      </p:sp>
      <p:sp>
        <p:nvSpPr>
          <p:cNvPr id="6" name="">
            <a:extLst xmlns:a="http://schemas.openxmlformats.org/drawingml/2006/main">
              <a:ext uri="{FF2B5EF4-FFF2-40B4-BE49-F238E27FC236}">
                <a16:creationId xmlns:a16="http://schemas.microsoft.com/office/drawing/2014/main" id="{FF438A20-680F-49E9-B5F4-A199A453FD5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39</a:t>
            </a:r>
          </a:p>
        </p:txBody>
      </p:sp>
    </p:spTree>
    <p:extLst>
      <p:ext uri="{BB962C8B-B14F-4D97-AF65-F5344CB8AC3E}">
        <p14:creationId xmlns:p14="http://schemas.microsoft.com/office/powerpoint/2010/main" val="1074887258"/>
      </p:ext>
    </p:extLst>
  </p:cSld>
</p:sld>
</file>

<file path=ppt/slides/slide4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7031394-1056-46BB-8E48-82F22A5BEEC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E04A8D0-6052-4740-82DC-E908F4CBAF7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CSV 행을 읽기</a:t>
            </a:r>
          </a:p>
        </p:txBody>
      </p:sp>
      <p:sp>
        <p:nvSpPr>
          <p:cNvPr id="3" name="">
            <a:extLst xmlns:a="http://schemas.openxmlformats.org/drawingml/2006/main">
              <a:ext uri="{FF2B5EF4-FFF2-40B4-BE49-F238E27FC236}">
                <a16:creationId xmlns:a16="http://schemas.microsoft.com/office/drawing/2014/main" id="{F114DDDF-3364-43FA-A84B-B7812DE8128F}"/>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import csv</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with open("data/readings.csv", encoding="utf-8",</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newline="") as file: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rows = list(csv.DictReader(file))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print(len(rows))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print(rows[0]["sensor_id"])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print(rows[0]["temperature_c"])</a:t>
            </a:r>
          </a:p>
        </p:txBody>
      </p:sp>
      <p:sp>
        <p:nvSpPr>
          <p:cNvPr id="4" name="">
            <a:extLst xmlns:a="http://schemas.openxmlformats.org/drawingml/2006/main">
              <a:ext uri="{FF2B5EF4-FFF2-40B4-BE49-F238E27FC236}">
                <a16:creationId xmlns:a16="http://schemas.microsoft.com/office/drawing/2014/main" id="{191AF889-B7CF-4F62-942A-191860A0E65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40</a:t>
            </a:r>
          </a:p>
        </p:txBody>
      </p:sp>
    </p:spTree>
    <p:extLst>
      <p:ext uri="{BB962C8B-B14F-4D97-AF65-F5344CB8AC3E}">
        <p14:creationId xmlns:p14="http://schemas.microsoft.com/office/powerpoint/2010/main" val="939096252"/>
      </p:ext>
    </p:extLst>
  </p:cSld>
</p:sld>
</file>

<file path=ppt/slides/slide4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690529C-1C09-4D72-AC68-0438CC88F00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1DEDA2FC-FB1E-4FBB-A6C6-C469487EF97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CSV를 읽은 뒤의 값</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확인</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결과</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데이터 행 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4</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첫 sensor_id</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S01</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첫 temperature_c</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"22.5" 문자열</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E14531B0-FDA6-4A50-9868-77DDEF28895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41</a:t>
            </a:r>
          </a:p>
        </p:txBody>
      </p:sp>
    </p:spTree>
    <p:extLst>
      <p:ext uri="{BB962C8B-B14F-4D97-AF65-F5344CB8AC3E}">
        <p14:creationId xmlns:p14="http://schemas.microsoft.com/office/powerpoint/2010/main" val="2023574557"/>
      </p:ext>
    </p:extLst>
  </p:cSld>
</p:sld>
</file>

<file path=ppt/slides/slide4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72085CC-35AA-4945-BFCE-93130AFFE02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B8DB4567-E5AF-46E9-9DFE-1EE021C83EA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헤더와 키를 맞춥니다</a:t>
            </a:r>
          </a:p>
        </p:txBody>
      </p:sp>
      <p:sp>
        <p:nvSpPr>
          <p:cNvPr id="3" name="">
            <a:extLst xmlns:a="http://schemas.openxmlformats.org/drawingml/2006/main">
              <a:ext uri="{FF2B5EF4-FFF2-40B4-BE49-F238E27FC236}">
                <a16:creationId xmlns:a16="http://schemas.microsoft.com/office/drawing/2014/main" id="{2BCB91A0-9ED5-4E75-9267-53ED9FFBFE4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temperature_c는 열 이름입니다.</a:t>
            </a:r>
          </a:p>
        </p:txBody>
      </p:sp>
      <p:sp>
        <p:nvSpPr>
          <p:cNvPr id="4" name="">
            <a:extLst xmlns:a="http://schemas.openxmlformats.org/drawingml/2006/main">
              <a:ext uri="{FF2B5EF4-FFF2-40B4-BE49-F238E27FC236}">
                <a16:creationId xmlns:a16="http://schemas.microsoft.com/office/drawing/2014/main" id="{EA390F85-0DA1-40BE-853E-B1B1BFE45BC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temperature는 다른 이름표입니다.</a:t>
            </a:r>
          </a:p>
        </p:txBody>
      </p:sp>
      <p:sp>
        <p:nvSpPr>
          <p:cNvPr id="5" name="">
            <a:extLst xmlns:a="http://schemas.openxmlformats.org/drawingml/2006/main">
              <a:ext uri="{FF2B5EF4-FFF2-40B4-BE49-F238E27FC236}">
                <a16:creationId xmlns:a16="http://schemas.microsoft.com/office/drawing/2014/main" id="{12901A3D-397E-4830-840A-34268C36F170}"/>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KeyError가 나면 실제 헤더를 비교합니다.</a:t>
            </a:r>
          </a:p>
        </p:txBody>
      </p:sp>
      <p:sp>
        <p:nvSpPr>
          <p:cNvPr id="6" name="">
            <a:extLst xmlns:a="http://schemas.openxmlformats.org/drawingml/2006/main">
              <a:ext uri="{FF2B5EF4-FFF2-40B4-BE49-F238E27FC236}">
                <a16:creationId xmlns:a16="http://schemas.microsoft.com/office/drawing/2014/main" id="{31496828-5388-47C6-B8FF-82EC61D13BD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42</a:t>
            </a:r>
          </a:p>
        </p:txBody>
      </p:sp>
    </p:spTree>
    <p:extLst>
      <p:ext uri="{BB962C8B-B14F-4D97-AF65-F5344CB8AC3E}">
        <p14:creationId xmlns:p14="http://schemas.microsoft.com/office/powerpoint/2010/main" val="1039902948"/>
      </p:ext>
    </p:extLst>
  </p:cSld>
</p:sld>
</file>

<file path=ppt/slides/slide4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FEF7ABC-6336-4F4B-8CDF-EB7A828C23E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C035F37C-A4F8-4ACB-AD98-398A7726D65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요약 JSON 저장</a:t>
            </a:r>
          </a:p>
        </p:txBody>
      </p:sp>
      <p:sp>
        <p:nvSpPr>
          <p:cNvPr id="3" name="">
            <a:extLst xmlns:a="http://schemas.openxmlformats.org/drawingml/2006/main">
              <a:ext uri="{FF2B5EF4-FFF2-40B4-BE49-F238E27FC236}">
                <a16:creationId xmlns:a16="http://schemas.microsoft.com/office/drawing/2014/main" id="{D7464CA8-E944-4270-9BB7-78CB1F62D7E5}"/>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import json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summary = {"건수": 4, "미측정": 1}</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text = json.dumps(summary, ensure_ascii=False)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with open("work/output_summary.json", "w",</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encoding="utf-8") as file: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file.write(text)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print(summary["건수"], summary["미측정"])</a:t>
            </a:r>
          </a:p>
        </p:txBody>
      </p:sp>
      <p:sp>
        <p:nvSpPr>
          <p:cNvPr id="4" name="">
            <a:extLst xmlns:a="http://schemas.openxmlformats.org/drawingml/2006/main">
              <a:ext uri="{FF2B5EF4-FFF2-40B4-BE49-F238E27FC236}">
                <a16:creationId xmlns:a16="http://schemas.microsoft.com/office/drawing/2014/main" id="{84E779A5-7BDE-4FA1-A773-97E178DC3BB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43</a:t>
            </a:r>
          </a:p>
        </p:txBody>
      </p:sp>
    </p:spTree>
    <p:extLst>
      <p:ext uri="{BB962C8B-B14F-4D97-AF65-F5344CB8AC3E}">
        <p14:creationId xmlns:p14="http://schemas.microsoft.com/office/powerpoint/2010/main" val="1691077698"/>
      </p:ext>
    </p:extLst>
  </p:cSld>
</p:sld>
</file>

<file path=ppt/slides/slide4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6B06DA-AC04-4FBE-92F7-79C0B74612B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0FD0C3C5-73B2-4198-BBA2-8C5DF1D508F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저장한 파일을 다시 확인합니다</a:t>
            </a:r>
          </a:p>
        </p:txBody>
      </p:sp>
      <p:sp>
        <p:nvSpPr>
          <p:cNvPr id="3" name="">
            <a:extLst xmlns:a="http://schemas.openxmlformats.org/drawingml/2006/main">
              <a:ext uri="{FF2B5EF4-FFF2-40B4-BE49-F238E27FC236}">
                <a16:creationId xmlns:a16="http://schemas.microsoft.com/office/drawing/2014/main" id="{F6DC2D86-3841-4651-8E4F-08BD4892962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화면의 4 1은 출력입니다.</a:t>
            </a:r>
          </a:p>
        </p:txBody>
      </p:sp>
      <p:sp>
        <p:nvSpPr>
          <p:cNvPr id="4" name="">
            <a:extLst xmlns:a="http://schemas.openxmlformats.org/drawingml/2006/main">
              <a:ext uri="{FF2B5EF4-FFF2-40B4-BE49-F238E27FC236}">
                <a16:creationId xmlns:a16="http://schemas.microsoft.com/office/drawing/2014/main" id="{B10E646F-893B-4169-8703-9537CE17DED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work/output_summary.json은 저장 결과입니다.</a:t>
            </a:r>
          </a:p>
        </p:txBody>
      </p:sp>
      <p:sp>
        <p:nvSpPr>
          <p:cNvPr id="5" name="">
            <a:extLst xmlns:a="http://schemas.openxmlformats.org/drawingml/2006/main">
              <a:ext uri="{FF2B5EF4-FFF2-40B4-BE49-F238E27FC236}">
                <a16:creationId xmlns:a16="http://schemas.microsoft.com/office/drawing/2014/main" id="{E9CE7D01-FCDC-4461-99DB-B2C82726C96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다시 열어 숫자와 키가 기대와 같은지 봅니다.</a:t>
            </a:r>
          </a:p>
        </p:txBody>
      </p:sp>
      <p:sp>
        <p:nvSpPr>
          <p:cNvPr id="6" name="">
            <a:extLst xmlns:a="http://schemas.openxmlformats.org/drawingml/2006/main">
              <a:ext uri="{FF2B5EF4-FFF2-40B4-BE49-F238E27FC236}">
                <a16:creationId xmlns:a16="http://schemas.microsoft.com/office/drawing/2014/main" id="{D531E84C-D27E-4F79-B3CB-AAB4B881F89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44</a:t>
            </a:r>
          </a:p>
        </p:txBody>
      </p:sp>
    </p:spTree>
    <p:extLst>
      <p:ext uri="{BB962C8B-B14F-4D97-AF65-F5344CB8AC3E}">
        <p14:creationId xmlns:p14="http://schemas.microsoft.com/office/powerpoint/2010/main" val="398993821"/>
      </p:ext>
    </p:extLst>
  </p:cSld>
</p:sld>
</file>

<file path=ppt/slides/slide4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C934D59-5374-4218-B139-E6A8EA1DE51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6430FE46-1501-4B21-8636-9E78D456A7E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C69A7A82-19A6-433D-8788-91A4ECA7A3D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CSV 원문 "20.5"를 읽어 JSON 요약을 만듭니다.</a:t>
            </a:r>
          </a:p>
        </p:txBody>
      </p:sp>
      <p:sp>
        <p:nvSpPr>
          <p:cNvPr id="4" name="">
            <a:extLst xmlns:a="http://schemas.openxmlformats.org/drawingml/2006/main">
              <a:ext uri="{FF2B5EF4-FFF2-40B4-BE49-F238E27FC236}">
                <a16:creationId xmlns:a16="http://schemas.microsoft.com/office/drawing/2014/main" id="{13386D91-E0D6-444C-B6CC-3386D98569B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45</a:t>
            </a:r>
          </a:p>
        </p:txBody>
      </p:sp>
    </p:spTree>
    <p:extLst>
      <p:ext uri="{BB962C8B-B14F-4D97-AF65-F5344CB8AC3E}">
        <p14:creationId xmlns:p14="http://schemas.microsoft.com/office/powerpoint/2010/main" val="1313940602"/>
      </p:ext>
    </p:extLst>
  </p:cSld>
</p:sld>
</file>

<file path=ppt/slides/slide4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9D1FF1F-519A-4A05-BBDD-ECAF6C404EA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DFB99F17-1E87-4093-9EAE-1742ED45CB8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단계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값·뜻</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CSV 읽기</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"20.5" 문자열</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수치 해석</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20.5 실수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요약 표현</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count 1, average 20.5</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저장</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입력과 다른 결과 주소</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3A84DE36-24FC-43E4-BA1E-CA19633403B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46</a:t>
            </a:r>
          </a:p>
        </p:txBody>
      </p:sp>
    </p:spTree>
    <p:extLst>
      <p:ext uri="{BB962C8B-B14F-4D97-AF65-F5344CB8AC3E}">
        <p14:creationId xmlns:p14="http://schemas.microsoft.com/office/powerpoint/2010/main" val="1164931641"/>
      </p:ext>
    </p:extLst>
  </p:cSld>
</p:sld>
</file>

<file path=ppt/slides/slide4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2B3A54-5386-4339-BFA7-78A74BA0F3C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CDF55A46-67E2-4ED4-BD41-DCED084D4F2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A72CF4CB-21C9-4F05-88B2-7A33A8E149A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헤더는 device_id,value입니다.</a:t>
            </a:r>
          </a:p>
        </p:txBody>
      </p:sp>
      <p:sp>
        <p:nvSpPr>
          <p:cNvPr id="4" name="">
            <a:extLst xmlns:a="http://schemas.openxmlformats.org/drawingml/2006/main">
              <a:ext uri="{FF2B5EF4-FFF2-40B4-BE49-F238E27FC236}">
                <a16:creationId xmlns:a16="http://schemas.microsoft.com/office/drawing/2014/main" id="{409EE546-2B2A-458B-853B-B07D3FCC2D0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temperature_c를 찾다가 실패했습니다.</a:t>
            </a:r>
          </a:p>
        </p:txBody>
      </p:sp>
      <p:sp>
        <p:nvSpPr>
          <p:cNvPr id="5" name="">
            <a:extLst xmlns:a="http://schemas.openxmlformats.org/drawingml/2006/main">
              <a:ext uri="{FF2B5EF4-FFF2-40B4-BE49-F238E27FC236}">
                <a16:creationId xmlns:a16="http://schemas.microsoft.com/office/drawing/2014/main" id="{2480A1CA-3878-41CE-AD71-1E063F916F80}"/>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어느 단계인지와 수정 계획을 적으세요.</a:t>
            </a:r>
          </a:p>
        </p:txBody>
      </p:sp>
      <p:sp>
        <p:nvSpPr>
          <p:cNvPr id="6" name="">
            <a:extLst xmlns:a="http://schemas.openxmlformats.org/drawingml/2006/main">
              <a:ext uri="{FF2B5EF4-FFF2-40B4-BE49-F238E27FC236}">
                <a16:creationId xmlns:a16="http://schemas.microsoft.com/office/drawing/2014/main" id="{8992E420-8FBD-4DB9-AFB7-8F2C4BA5E5F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47</a:t>
            </a:r>
          </a:p>
        </p:txBody>
      </p:sp>
    </p:spTree>
    <p:extLst>
      <p:ext uri="{BB962C8B-B14F-4D97-AF65-F5344CB8AC3E}">
        <p14:creationId xmlns:p14="http://schemas.microsoft.com/office/powerpoint/2010/main" val="2038924772"/>
      </p:ext>
    </p:extLst>
  </p:cSld>
</p:sld>
</file>

<file path=ppt/slides/slide4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F87364-8EEC-4A49-AA24-49097C24944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A54FB58-4306-4F42-BE69-66B2451F809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241C9E89-F749-4AE5-9617-E58301B5728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헤더를 찾는 단계의 문제입니다.</a:t>
            </a:r>
          </a:p>
        </p:txBody>
      </p:sp>
      <p:sp>
        <p:nvSpPr>
          <p:cNvPr id="4" name="">
            <a:extLst xmlns:a="http://schemas.openxmlformats.org/drawingml/2006/main">
              <a:ext uri="{FF2B5EF4-FFF2-40B4-BE49-F238E27FC236}">
                <a16:creationId xmlns:a16="http://schemas.microsoft.com/office/drawing/2014/main" id="{B2F50E32-5C63-4B11-AAF6-9FDD8749982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계약과 원문을 확인해 접근 키를 맞춥니다.</a:t>
            </a:r>
          </a:p>
        </p:txBody>
      </p:sp>
      <p:sp>
        <p:nvSpPr>
          <p:cNvPr id="5" name="">
            <a:extLst xmlns:a="http://schemas.openxmlformats.org/drawingml/2006/main">
              <a:ext uri="{FF2B5EF4-FFF2-40B4-BE49-F238E27FC236}">
                <a16:creationId xmlns:a16="http://schemas.microsoft.com/office/drawing/2014/main" id="{2CC2B13A-AC8F-4F1A-B351-372209324E5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48</a:t>
            </a:r>
          </a:p>
        </p:txBody>
      </p:sp>
    </p:spTree>
    <p:extLst>
      <p:ext uri="{BB962C8B-B14F-4D97-AF65-F5344CB8AC3E}">
        <p14:creationId xmlns:p14="http://schemas.microsoft.com/office/powerpoint/2010/main" val="2084966784"/>
      </p:ext>
    </p:extLst>
  </p:cSld>
</p:sld>
</file>

<file path=ppt/slides/slide4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C37D6F-8C45-4236-9E45-519C27093AB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1A778993-D491-4B8E-B917-71DBFA69595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입력과 결과 주소</a:t>
            </a:r>
          </a:p>
        </p:txBody>
      </p:sp>
      <p:sp>
        <p:nvSpPr>
          <p:cNvPr id="3" name="">
            <a:extLst xmlns:a="http://schemas.openxmlformats.org/drawingml/2006/main">
              <a:ext uri="{FF2B5EF4-FFF2-40B4-BE49-F238E27FC236}">
                <a16:creationId xmlns:a16="http://schemas.microsoft.com/office/drawing/2014/main" id="{0CF3D853-40AA-495A-906E-8696BE83733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A07 원자료 주소를 확인합니다.</a:t>
            </a:r>
          </a:p>
        </p:txBody>
      </p:sp>
      <p:sp>
        <p:nvSpPr>
          <p:cNvPr id="4" name="">
            <a:extLst xmlns:a="http://schemas.openxmlformats.org/drawingml/2006/main">
              <a:ext uri="{FF2B5EF4-FFF2-40B4-BE49-F238E27FC236}">
                <a16:creationId xmlns:a16="http://schemas.microsoft.com/office/drawing/2014/main" id="{99D46A74-1E4F-4A88-8CD3-9A110E8C8AA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A08 값의 저장 종류를 읽습니다.</a:t>
            </a:r>
          </a:p>
        </p:txBody>
      </p:sp>
      <p:sp>
        <p:nvSpPr>
          <p:cNvPr id="5" name="">
            <a:extLst xmlns:a="http://schemas.openxmlformats.org/drawingml/2006/main">
              <a:ext uri="{FF2B5EF4-FFF2-40B4-BE49-F238E27FC236}">
                <a16:creationId xmlns:a16="http://schemas.microsoft.com/office/drawing/2014/main" id="{F14108D6-4266-46D0-9075-251F2A4B9B70}"/>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A09 저장 결과를 다시 확인합니다.</a:t>
            </a:r>
          </a:p>
        </p:txBody>
      </p:sp>
      <p:sp>
        <p:nvSpPr>
          <p:cNvPr id="6" name="">
            <a:extLst xmlns:a="http://schemas.openxmlformats.org/drawingml/2006/main">
              <a:ext uri="{FF2B5EF4-FFF2-40B4-BE49-F238E27FC236}">
                <a16:creationId xmlns:a16="http://schemas.microsoft.com/office/drawing/2014/main" id="{F1DA8873-1062-4753-9D71-E82BEEF86B0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49</a:t>
            </a:r>
          </a:p>
        </p:txBody>
      </p:sp>
    </p:spTree>
    <p:extLst>
      <p:ext uri="{BB962C8B-B14F-4D97-AF65-F5344CB8AC3E}">
        <p14:creationId xmlns:p14="http://schemas.microsoft.com/office/powerpoint/2010/main" val="561200201"/>
      </p:ext>
    </p:extLst>
  </p:cSld>
</p:sld>
</file>

<file path=ppt/slides/slide5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529A11-02C5-4F90-AF18-AE2AF79A4CC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AC4C6A35-CE78-4FC6-BC24-FC9FF9ED705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3교시 확인</a:t>
            </a:r>
          </a:p>
        </p:txBody>
      </p:sp>
      <p:sp>
        <p:nvSpPr>
          <p:cNvPr id="3" name="">
            <a:extLst xmlns:a="http://schemas.openxmlformats.org/drawingml/2006/main">
              <a:ext uri="{FF2B5EF4-FFF2-40B4-BE49-F238E27FC236}">
                <a16:creationId xmlns:a16="http://schemas.microsoft.com/office/drawing/2014/main" id="{C89AA07B-07B9-4831-9FC2-A527F63B9D6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주소·헤더·원값 오류를 나눕니다.</a:t>
            </a:r>
          </a:p>
        </p:txBody>
      </p:sp>
      <p:sp>
        <p:nvSpPr>
          <p:cNvPr id="4" name="">
            <a:extLst xmlns:a="http://schemas.openxmlformats.org/drawingml/2006/main">
              <a:ext uri="{FF2B5EF4-FFF2-40B4-BE49-F238E27FC236}">
                <a16:creationId xmlns:a16="http://schemas.microsoft.com/office/drawing/2014/main" id="{9C2186B3-9CE8-4698-88CF-C68046BDB83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기본 CSV 읽기는 문자열입니다.</a:t>
            </a:r>
          </a:p>
        </p:txBody>
      </p:sp>
      <p:sp>
        <p:nvSpPr>
          <p:cNvPr id="5" name="">
            <a:extLst xmlns:a="http://schemas.openxmlformats.org/drawingml/2006/main">
              <a:ext uri="{FF2B5EF4-FFF2-40B4-BE49-F238E27FC236}">
                <a16:creationId xmlns:a16="http://schemas.microsoft.com/office/drawing/2014/main" id="{4D75C4C6-7470-458B-AB8D-1D5A45A073B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출력과 파일 저장을 구별합니다.</a:t>
            </a:r>
          </a:p>
        </p:txBody>
      </p:sp>
      <p:sp>
        <p:nvSpPr>
          <p:cNvPr id="6" name="">
            <a:extLst xmlns:a="http://schemas.openxmlformats.org/drawingml/2006/main">
              <a:ext uri="{FF2B5EF4-FFF2-40B4-BE49-F238E27FC236}">
                <a16:creationId xmlns:a16="http://schemas.microsoft.com/office/drawing/2014/main" id="{CF8DEF7C-B5A0-48CD-B80F-6EF022E0982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50</a:t>
            </a:r>
          </a:p>
        </p:txBody>
      </p:sp>
    </p:spTree>
    <p:extLst>
      <p:ext uri="{BB962C8B-B14F-4D97-AF65-F5344CB8AC3E}">
        <p14:creationId xmlns:p14="http://schemas.microsoft.com/office/powerpoint/2010/main" val="449462415"/>
      </p:ext>
    </p:extLst>
  </p:cSld>
</p:sld>
</file>

<file path=ppt/slides/slide5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793C87-B160-484C-A1B5-9D210FEBF84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8DC03C70-F0C8-4C54-BF46-5402F278A895}"/>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4교시 · 오류를 단서로 읽기</a:t>
            </a:r>
          </a:p>
        </p:txBody>
      </p:sp>
      <p:sp>
        <p:nvSpPr>
          <p:cNvPr id="3" name="">
            <a:extLst xmlns:a="http://schemas.openxmlformats.org/drawingml/2006/main">
              <a:ext uri="{FF2B5EF4-FFF2-40B4-BE49-F238E27FC236}">
                <a16:creationId xmlns:a16="http://schemas.microsoft.com/office/drawing/2014/main" id="{692F45BE-9627-4561-9F7A-E4BA3AA521CE}"/>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14:00~14:50 · 50분</a:t>
            </a:r>
          </a:p>
        </p:txBody>
      </p:sp>
      <p:sp>
        <p:nvSpPr>
          <p:cNvPr id="4" name="">
            <a:extLst xmlns:a="http://schemas.openxmlformats.org/drawingml/2006/main">
              <a:ext uri="{FF2B5EF4-FFF2-40B4-BE49-F238E27FC236}">
                <a16:creationId xmlns:a16="http://schemas.microsoft.com/office/drawing/2014/main" id="{BE595D00-2D32-4A6B-91F7-16BE9FE9DE19}"/>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A10, A11, A12</a:t>
            </a:r>
          </a:p>
        </p:txBody>
      </p:sp>
      <p:sp>
        <p:nvSpPr>
          <p:cNvPr id="5" name="">
            <a:extLst xmlns:a="http://schemas.openxmlformats.org/drawingml/2006/main">
              <a:ext uri="{FF2B5EF4-FFF2-40B4-BE49-F238E27FC236}">
                <a16:creationId xmlns:a16="http://schemas.microsoft.com/office/drawing/2014/main" id="{F1F6D2B2-F8C8-40B8-B4DE-5FCE1C019218}"/>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4186A3D9-66FF-4627-B125-27CA4A33E91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51</a:t>
            </a:r>
          </a:p>
        </p:txBody>
      </p:sp>
    </p:spTree>
    <p:extLst>
      <p:ext uri="{BB962C8B-B14F-4D97-AF65-F5344CB8AC3E}">
        <p14:creationId xmlns:p14="http://schemas.microsoft.com/office/powerpoint/2010/main" val="771139372"/>
      </p:ext>
    </p:extLst>
  </p:cSld>
</p:sld>
</file>

<file path=ppt/slides/slide5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BA11D81-4B9E-49CE-AA99-DA51A6B93C1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F70B2BF7-6C4F-48D5-A23D-2367B64A620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빈값과 숫자</a:t>
            </a:r>
          </a:p>
        </p:txBody>
      </p:sp>
      <p:sp>
        <p:nvSpPr>
          <p:cNvPr id="3" name="">
            <a:extLst xmlns:a="http://schemas.openxmlformats.org/drawingml/2006/main">
              <a:ext uri="{FF2B5EF4-FFF2-40B4-BE49-F238E27FC236}">
                <a16:creationId xmlns:a16="http://schemas.microsoft.com/office/drawing/2014/main" id="{2592B96A-9741-460A-8EE5-AD3B6832AAD6}"/>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def parse_temperature(raw):</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if raw == "":</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return None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return float(raw)</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print(parse_temperature("22.5"))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print(parse_temperature(""))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print(parse_temperature("0.0"))</a:t>
            </a:r>
          </a:p>
        </p:txBody>
      </p:sp>
      <p:sp>
        <p:nvSpPr>
          <p:cNvPr id="4" name="">
            <a:extLst xmlns:a="http://schemas.openxmlformats.org/drawingml/2006/main">
              <a:ext uri="{FF2B5EF4-FFF2-40B4-BE49-F238E27FC236}">
                <a16:creationId xmlns:a16="http://schemas.microsoft.com/office/drawing/2014/main" id="{6943BEBF-CC5A-4E60-808E-5638EDD4EEB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52</a:t>
            </a:r>
          </a:p>
        </p:txBody>
      </p:sp>
    </p:spTree>
    <p:extLst>
      <p:ext uri="{BB962C8B-B14F-4D97-AF65-F5344CB8AC3E}">
        <p14:creationId xmlns:p14="http://schemas.microsoft.com/office/powerpoint/2010/main" val="1612570797"/>
      </p:ext>
    </p:extLst>
  </p:cSld>
</p:sld>
</file>

<file path=ppt/slides/slide5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9736AF0-F2AC-4BD0-B5B2-AF0D08FE6C8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E6BDC650-3807-4A4A-A6C9-EF9D082AA20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원문을 세 갈래로 보기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원문</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해석</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빈 문자열</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None: 미측정</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"0.0"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0.0: 실제 수치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"뜨거움"</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숫자 해석 오류</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54E211F1-02D3-4E31-99C3-0FAB60B76D7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53</a:t>
            </a:r>
          </a:p>
        </p:txBody>
      </p:sp>
    </p:spTree>
    <p:extLst>
      <p:ext uri="{BB962C8B-B14F-4D97-AF65-F5344CB8AC3E}">
        <p14:creationId xmlns:p14="http://schemas.microsoft.com/office/powerpoint/2010/main" val="1239833607"/>
      </p:ext>
    </p:extLst>
  </p:cSld>
</p:sld>
</file>

<file path=ppt/slides/slide5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D1D55CC-A681-4FDE-BFC3-36C6D702CE7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0FDB75D2-3586-4C9A-843C-1453F59DC5A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이 함수의 순서를 읽습니다</a:t>
            </a:r>
          </a:p>
        </p:txBody>
      </p:sp>
      <p:sp>
        <p:nvSpPr>
          <p:cNvPr id="3" name="">
            <a:extLst xmlns:a="http://schemas.openxmlformats.org/drawingml/2006/main">
              <a:ext uri="{FF2B5EF4-FFF2-40B4-BE49-F238E27FC236}">
                <a16:creationId xmlns:a16="http://schemas.microsoft.com/office/drawing/2014/main" id="{16D65CE6-D7BC-40B0-BBF0-AFEB28500CC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먼저 정확한 빈 문자열인지 확인합니다.</a:t>
            </a:r>
          </a:p>
        </p:txBody>
      </p:sp>
      <p:sp>
        <p:nvSpPr>
          <p:cNvPr id="4" name="">
            <a:extLst xmlns:a="http://schemas.openxmlformats.org/drawingml/2006/main">
              <a:ext uri="{FF2B5EF4-FFF2-40B4-BE49-F238E27FC236}">
                <a16:creationId xmlns:a16="http://schemas.microsoft.com/office/drawing/2014/main" id="{3239209D-D46F-4F94-9EA7-2FC8B01D854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그 밖의 원문을 숫자로 읽습니다.</a:t>
            </a:r>
          </a:p>
        </p:txBody>
      </p:sp>
      <p:sp>
        <p:nvSpPr>
          <p:cNvPr id="5" name="">
            <a:extLst xmlns:a="http://schemas.openxmlformats.org/drawingml/2006/main">
              <a:ext uri="{FF2B5EF4-FFF2-40B4-BE49-F238E27FC236}">
                <a16:creationId xmlns:a16="http://schemas.microsoft.com/office/drawing/2014/main" id="{C7274527-8909-4CF4-8490-DD34B8E5D1F0}"/>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 0은 정상 수치로 보존합니다.</a:t>
            </a:r>
          </a:p>
        </p:txBody>
      </p:sp>
      <p:sp>
        <p:nvSpPr>
          <p:cNvPr id="6" name="">
            <a:extLst xmlns:a="http://schemas.openxmlformats.org/drawingml/2006/main">
              <a:ext uri="{FF2B5EF4-FFF2-40B4-BE49-F238E27FC236}">
                <a16:creationId xmlns:a16="http://schemas.microsoft.com/office/drawing/2014/main" id="{70E732BF-286B-4660-A15B-104088D20AD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54</a:t>
            </a:r>
          </a:p>
        </p:txBody>
      </p:sp>
    </p:spTree>
    <p:extLst>
      <p:ext uri="{BB962C8B-B14F-4D97-AF65-F5344CB8AC3E}">
        <p14:creationId xmlns:p14="http://schemas.microsoft.com/office/powerpoint/2010/main" val="211202122"/>
      </p:ext>
    </p:extLst>
  </p:cSld>
</p:sld>
</file>

<file path=ppt/slides/slide5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54F0F0-B692-4822-B5E4-1CC0C1455BF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E753B1C6-94FC-43CF-B6CC-769888B953F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기록의 단서를 남깁니다</a:t>
            </a:r>
          </a:p>
        </p:txBody>
      </p:sp>
      <p:sp>
        <p:nvSpPr>
          <p:cNvPr id="3" name="">
            <a:extLst xmlns:a="http://schemas.openxmlformats.org/drawingml/2006/main">
              <a:ext uri="{FF2B5EF4-FFF2-40B4-BE49-F238E27FC236}">
                <a16:creationId xmlns:a16="http://schemas.microsoft.com/office/drawing/2014/main" id="{ED310707-49AD-4331-AFC8-963C5A1B280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실행한 파일과 명령을 적습니다.</a:t>
            </a:r>
          </a:p>
        </p:txBody>
      </p:sp>
      <p:sp>
        <p:nvSpPr>
          <p:cNvPr id="4" name="">
            <a:extLst xmlns:a="http://schemas.openxmlformats.org/drawingml/2006/main">
              <a:ext uri="{FF2B5EF4-FFF2-40B4-BE49-F238E27FC236}">
                <a16:creationId xmlns:a16="http://schemas.microsoft.com/office/drawing/2014/main" id="{64DDD481-07B4-4B15-87A1-80794715C33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관련 줄과 오류 종류를 적습니다.</a:t>
            </a:r>
          </a:p>
        </p:txBody>
      </p:sp>
      <p:sp>
        <p:nvSpPr>
          <p:cNvPr id="5" name="">
            <a:extLst xmlns:a="http://schemas.openxmlformats.org/drawingml/2006/main">
              <a:ext uri="{FF2B5EF4-FFF2-40B4-BE49-F238E27FC236}">
                <a16:creationId xmlns:a16="http://schemas.microsoft.com/office/drawing/2014/main" id="{8200B53B-CD8E-4BD8-96E1-279530C856E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문제가 된 원문도 그대로 남깁니다.</a:t>
            </a:r>
          </a:p>
        </p:txBody>
      </p:sp>
      <p:sp>
        <p:nvSpPr>
          <p:cNvPr id="6" name="">
            <a:extLst xmlns:a="http://schemas.openxmlformats.org/drawingml/2006/main">
              <a:ext uri="{FF2B5EF4-FFF2-40B4-BE49-F238E27FC236}">
                <a16:creationId xmlns:a16="http://schemas.microsoft.com/office/drawing/2014/main" id="{F5C5003C-002D-49E1-8982-B2A84C08FE3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55</a:t>
            </a:r>
          </a:p>
        </p:txBody>
      </p:sp>
    </p:spTree>
    <p:extLst>
      <p:ext uri="{BB962C8B-B14F-4D97-AF65-F5344CB8AC3E}">
        <p14:creationId xmlns:p14="http://schemas.microsoft.com/office/powerpoint/2010/main" val="1063289843"/>
      </p:ext>
    </p:extLst>
  </p:cSld>
</p:sld>
</file>

<file path=ppt/slides/slide5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A65840F-391F-43A9-A2CB-F5A9883F16F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BF3A2072-76C5-4CA4-A9C0-B26B032B93A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다른 오류, 다른 확인</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종류</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먼저 확인할 것</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FileNotFoundError</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경로·파일 이름</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KeyError</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헤더·키</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ValueError</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원문·해석 규칙</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C6DC9D06-2DBB-4992-803F-DBC323FA221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56</a:t>
            </a:r>
          </a:p>
        </p:txBody>
      </p:sp>
    </p:spTree>
    <p:extLst>
      <p:ext uri="{BB962C8B-B14F-4D97-AF65-F5344CB8AC3E}">
        <p14:creationId xmlns:p14="http://schemas.microsoft.com/office/powerpoint/2010/main" val="1746730423"/>
      </p:ext>
    </p:extLst>
  </p:cSld>
</p:sld>
</file>

<file path=ppt/slides/slide5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A28EF34-41F3-4652-80C0-BFD313F13FA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CD8A64B0-B31F-44C7-8316-F17F85EBAFE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예상 오류 기록</a:t>
            </a:r>
          </a:p>
        </p:txBody>
      </p:sp>
      <p:sp>
        <p:nvSpPr>
          <p:cNvPr id="3" name="">
            <a:extLst xmlns:a="http://schemas.openxmlformats.org/drawingml/2006/main">
              <a:ext uri="{FF2B5EF4-FFF2-40B4-BE49-F238E27FC236}">
                <a16:creationId xmlns:a16="http://schemas.microsoft.com/office/drawing/2014/main" id="{2EB6CCB9-77AE-4D19-ADD4-6898A73DAD25}"/>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raw = "뜨거움"</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try:</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value = float(raw)</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print(value)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except ValueError:</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print("숫자 확인 필요:", raw)</a:t>
            </a:r>
          </a:p>
        </p:txBody>
      </p:sp>
      <p:sp>
        <p:nvSpPr>
          <p:cNvPr id="4" name="">
            <a:extLst xmlns:a="http://schemas.openxmlformats.org/drawingml/2006/main">
              <a:ext uri="{FF2B5EF4-FFF2-40B4-BE49-F238E27FC236}">
                <a16:creationId xmlns:a16="http://schemas.microsoft.com/office/drawing/2014/main" id="{4A91F888-EEEA-4A6F-930B-59933EDCA0E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57</a:t>
            </a:r>
          </a:p>
        </p:txBody>
      </p:sp>
    </p:spTree>
    <p:extLst>
      <p:ext uri="{BB962C8B-B14F-4D97-AF65-F5344CB8AC3E}">
        <p14:creationId xmlns:p14="http://schemas.microsoft.com/office/powerpoint/2010/main" val="2094156118"/>
      </p:ext>
    </p:extLst>
  </p:cSld>
</p:sld>
</file>

<file path=ppt/slides/slide5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D11542-03DA-4A5E-B4EF-F5A9C0EACEA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6238FA7C-B462-48E4-9F2F-7B5C9BC3E1C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try와 except의 역할</a:t>
            </a:r>
          </a:p>
        </p:txBody>
      </p:sp>
      <p:sp>
        <p:nvSpPr>
          <p:cNvPr id="3" name="">
            <a:extLst xmlns:a="http://schemas.openxmlformats.org/drawingml/2006/main">
              <a:ext uri="{FF2B5EF4-FFF2-40B4-BE49-F238E27FC236}">
                <a16:creationId xmlns:a16="http://schemas.microsoft.com/office/drawing/2014/main" id="{E6A292E2-BB37-459E-B8AE-96FFAFC6F8F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try에서 실패할 수 있는 작업을 합니다.</a:t>
            </a:r>
          </a:p>
        </p:txBody>
      </p:sp>
      <p:sp>
        <p:nvSpPr>
          <p:cNvPr id="4" name="">
            <a:extLst xmlns:a="http://schemas.openxmlformats.org/drawingml/2006/main">
              <a:ext uri="{FF2B5EF4-FFF2-40B4-BE49-F238E27FC236}">
                <a16:creationId xmlns:a16="http://schemas.microsoft.com/office/drawing/2014/main" id="{9561078F-7916-4304-8B21-5673E6DA947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except ValueError는 그 종류의 오류를 맡습니다.</a:t>
            </a:r>
          </a:p>
        </p:txBody>
      </p:sp>
      <p:sp>
        <p:nvSpPr>
          <p:cNvPr id="5" name="">
            <a:extLst xmlns:a="http://schemas.openxmlformats.org/drawingml/2006/main">
              <a:ext uri="{FF2B5EF4-FFF2-40B4-BE49-F238E27FC236}">
                <a16:creationId xmlns:a16="http://schemas.microsoft.com/office/drawing/2014/main" id="{D1C7FB0B-DA06-40C0-9B5D-266319F6ED1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 온도를 알아낸 것이 아니라 문제를 기록합니다.</a:t>
            </a:r>
          </a:p>
        </p:txBody>
      </p:sp>
      <p:sp>
        <p:nvSpPr>
          <p:cNvPr id="6" name="">
            <a:extLst xmlns:a="http://schemas.openxmlformats.org/drawingml/2006/main">
              <a:ext uri="{FF2B5EF4-FFF2-40B4-BE49-F238E27FC236}">
                <a16:creationId xmlns:a16="http://schemas.microsoft.com/office/drawing/2014/main" id="{7AE4A250-7C84-4256-BB33-39612909789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58</a:t>
            </a:r>
          </a:p>
        </p:txBody>
      </p:sp>
    </p:spTree>
    <p:extLst>
      <p:ext uri="{BB962C8B-B14F-4D97-AF65-F5344CB8AC3E}">
        <p14:creationId xmlns:p14="http://schemas.microsoft.com/office/powerpoint/2010/main" val="1999649479"/>
      </p:ext>
    </p:extLst>
  </p:cSld>
</p:sld>
</file>

<file path=ppt/slides/slide5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80FBC0A-420C-46B5-AA2C-8A36711AED7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A2F73B59-2BEF-44D7-8401-6E9085C0AB2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 · 원문 보존</a:t>
            </a:r>
          </a:p>
        </p:txBody>
      </p:sp>
      <p:sp>
        <p:nvSpPr>
          <p:cNvPr id="3" name="">
            <a:extLst xmlns:a="http://schemas.openxmlformats.org/drawingml/2006/main">
              <a:ext uri="{FF2B5EF4-FFF2-40B4-BE49-F238E27FC236}">
                <a16:creationId xmlns:a16="http://schemas.microsoft.com/office/drawing/2014/main" id="{613AB0FD-4DEF-4107-94E1-4A2DDB10104A}"/>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숫자 확인 필요: 뜨거움</a:t>
            </a:r>
          </a:p>
        </p:txBody>
      </p:sp>
      <p:sp>
        <p:nvSpPr>
          <p:cNvPr id="4" name="">
            <a:extLst xmlns:a="http://schemas.openxmlformats.org/drawingml/2006/main">
              <a:ext uri="{FF2B5EF4-FFF2-40B4-BE49-F238E27FC236}">
                <a16:creationId xmlns:a16="http://schemas.microsoft.com/office/drawing/2014/main" id="{0A5FAB4D-1530-4D2C-BE95-B0A17D675E9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59</a:t>
            </a:r>
          </a:p>
        </p:txBody>
      </p:sp>
    </p:spTree>
    <p:extLst>
      <p:ext uri="{BB962C8B-B14F-4D97-AF65-F5344CB8AC3E}">
        <p14:creationId xmlns:p14="http://schemas.microsoft.com/office/powerpoint/2010/main" val="1689999069"/>
      </p:ext>
    </p:extLst>
  </p:cSld>
</p:sld>
</file>

<file path=ppt/slides/slide6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09B0A11-868E-409F-8D35-6D8DE73EF8D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9B676E7-6931-42E9-B403-B5A8BE37237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48E9C25F-067C-4032-952D-28B00DD46DF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빈 글자, "0", "추움"은 다른 입력입니다.</a:t>
            </a:r>
          </a:p>
        </p:txBody>
      </p:sp>
      <p:sp>
        <p:nvSpPr>
          <p:cNvPr id="4" name="">
            <a:extLst xmlns:a="http://schemas.openxmlformats.org/drawingml/2006/main">
              <a:ext uri="{FF2B5EF4-FFF2-40B4-BE49-F238E27FC236}">
                <a16:creationId xmlns:a16="http://schemas.microsoft.com/office/drawing/2014/main" id="{36795D0E-6F7C-4E7A-987D-F0C487773AF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60</a:t>
            </a:r>
          </a:p>
        </p:txBody>
      </p:sp>
    </p:spTree>
    <p:extLst>
      <p:ext uri="{BB962C8B-B14F-4D97-AF65-F5344CB8AC3E}">
        <p14:creationId xmlns:p14="http://schemas.microsoft.com/office/powerpoint/2010/main" val="1478212246"/>
      </p:ext>
    </p:extLst>
  </p:cSld>
</p:sld>
</file>

<file path=ppt/slides/slide6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DB46831-FC63-4BF2-AF11-AEB840BAD81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0470E7C0-8BD8-4DC9-862D-649196F0BA3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원문</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분류</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빈 문자열</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미측정</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수치 0.0</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"추움"</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이슈</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공백 한 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현재 계약의 해석 이슈</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685BE5DD-D8DD-4C70-96AA-15D6AA546BC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61</a:t>
            </a:r>
          </a:p>
        </p:txBody>
      </p:sp>
    </p:spTree>
    <p:extLst>
      <p:ext uri="{BB962C8B-B14F-4D97-AF65-F5344CB8AC3E}">
        <p14:creationId xmlns:p14="http://schemas.microsoft.com/office/powerpoint/2010/main" val="397244757"/>
      </p:ext>
    </p:extLst>
  </p:cSld>
</p:sld>
</file>

<file path=ppt/slides/slide6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C0F7126-5304-444E-86D1-9352419C706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BE6C9835-7C13-4A08-9863-4BEA6B6547D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8AED45D8-8AA4-48BA-B2CA-A17C7F464B99}"/>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수량 원문은 빈 글자·"0"·"여섯"·공백</a:t>
            </a:r>
          </a:p>
        </p:txBody>
      </p:sp>
      <p:sp>
        <p:nvSpPr>
          <p:cNvPr id="4" name="">
            <a:extLst xmlns:a="http://schemas.openxmlformats.org/drawingml/2006/main">
              <a:ext uri="{FF2B5EF4-FFF2-40B4-BE49-F238E27FC236}">
                <a16:creationId xmlns:a16="http://schemas.microsoft.com/office/drawing/2014/main" id="{2D84EFD5-27D9-4E4B-A097-C46B6AB4990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정확한 빈 문자열만 미확인인 계약입니다.</a:t>
            </a:r>
          </a:p>
        </p:txBody>
      </p:sp>
      <p:sp>
        <p:nvSpPr>
          <p:cNvPr id="5" name="">
            <a:extLst xmlns:a="http://schemas.openxmlformats.org/drawingml/2006/main">
              <a:ext uri="{FF2B5EF4-FFF2-40B4-BE49-F238E27FC236}">
                <a16:creationId xmlns:a16="http://schemas.microsoft.com/office/drawing/2014/main" id="{F0410675-8E2A-4888-84B9-46D49B084D4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네 갈래와 이슈 원문을 적으세요.</a:t>
            </a:r>
          </a:p>
        </p:txBody>
      </p:sp>
      <p:sp>
        <p:nvSpPr>
          <p:cNvPr id="6" name="">
            <a:extLst xmlns:a="http://schemas.openxmlformats.org/drawingml/2006/main">
              <a:ext uri="{FF2B5EF4-FFF2-40B4-BE49-F238E27FC236}">
                <a16:creationId xmlns:a16="http://schemas.microsoft.com/office/drawing/2014/main" id="{F82F888C-220C-4D15-9D0E-81F7D25A8CD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62</a:t>
            </a:r>
          </a:p>
        </p:txBody>
      </p:sp>
    </p:spTree>
    <p:extLst>
      <p:ext uri="{BB962C8B-B14F-4D97-AF65-F5344CB8AC3E}">
        <p14:creationId xmlns:p14="http://schemas.microsoft.com/office/powerpoint/2010/main" val="620460246"/>
      </p:ext>
    </p:extLst>
  </p:cSld>
</p:sld>
</file>

<file path=ppt/slides/slide6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A7F1818-0928-438D-BBA7-19E482ED21E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ABB023D-10D1-4BA2-BCC3-9924578828F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7BEEA455-E933-4A5B-B21A-13A754DD50B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빈 글자만 미확인이고 "0"은 수치입니다.</a:t>
            </a:r>
          </a:p>
        </p:txBody>
      </p:sp>
      <p:sp>
        <p:nvSpPr>
          <p:cNvPr id="4" name="">
            <a:extLst xmlns:a="http://schemas.openxmlformats.org/drawingml/2006/main">
              <a:ext uri="{FF2B5EF4-FFF2-40B4-BE49-F238E27FC236}">
                <a16:creationId xmlns:a16="http://schemas.microsoft.com/office/drawing/2014/main" id="{FF9D4BAE-A2BF-4970-AF0E-2B2FCDD590E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"여섯"과 공백은 이슈로 원문을 남깁니다.</a:t>
            </a:r>
          </a:p>
        </p:txBody>
      </p:sp>
      <p:sp>
        <p:nvSpPr>
          <p:cNvPr id="5" name="">
            <a:extLst xmlns:a="http://schemas.openxmlformats.org/drawingml/2006/main">
              <a:ext uri="{FF2B5EF4-FFF2-40B4-BE49-F238E27FC236}">
                <a16:creationId xmlns:a16="http://schemas.microsoft.com/office/drawing/2014/main" id="{A5495569-DD7D-4443-9124-9752FA68B04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63</a:t>
            </a:r>
          </a:p>
        </p:txBody>
      </p:sp>
    </p:spTree>
    <p:extLst>
      <p:ext uri="{BB962C8B-B14F-4D97-AF65-F5344CB8AC3E}">
        <p14:creationId xmlns:p14="http://schemas.microsoft.com/office/powerpoint/2010/main" val="828188675"/>
      </p:ext>
    </p:extLst>
  </p:cSld>
</p:sld>
</file>

<file path=ppt/slides/slide6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7813FF-180D-48B2-8BEC-C0D667B0C59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DBBCFB86-1B0F-4FA8-A696-D6BCF4F0428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오류와 미측정</a:t>
            </a:r>
          </a:p>
        </p:txBody>
      </p:sp>
      <p:sp>
        <p:nvSpPr>
          <p:cNvPr id="3" name="">
            <a:extLst xmlns:a="http://schemas.openxmlformats.org/drawingml/2006/main">
              <a:ext uri="{FF2B5EF4-FFF2-40B4-BE49-F238E27FC236}">
                <a16:creationId xmlns:a16="http://schemas.microsoft.com/office/drawing/2014/main" id="{866531BC-C723-404E-AE59-C746E5F382D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A10에서 0과 None을 구별합니다.</a:t>
            </a:r>
          </a:p>
        </p:txBody>
      </p:sp>
      <p:sp>
        <p:nvSpPr>
          <p:cNvPr id="4" name="">
            <a:extLst xmlns:a="http://schemas.openxmlformats.org/drawingml/2006/main">
              <a:ext uri="{FF2B5EF4-FFF2-40B4-BE49-F238E27FC236}">
                <a16:creationId xmlns:a16="http://schemas.microsoft.com/office/drawing/2014/main" id="{E00F4255-39EA-43F0-8714-ADF3880D3C6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A11에 오류 단서를 기록합니다.</a:t>
            </a:r>
          </a:p>
        </p:txBody>
      </p:sp>
      <p:sp>
        <p:nvSpPr>
          <p:cNvPr id="5" name="">
            <a:extLst xmlns:a="http://schemas.openxmlformats.org/drawingml/2006/main">
              <a:ext uri="{FF2B5EF4-FFF2-40B4-BE49-F238E27FC236}">
                <a16:creationId xmlns:a16="http://schemas.microsoft.com/office/drawing/2014/main" id="{38527505-8A2E-445D-BDBE-3A485F071CD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A12에서 특정 오류의 처리만 봅니다.</a:t>
            </a:r>
          </a:p>
        </p:txBody>
      </p:sp>
      <p:sp>
        <p:nvSpPr>
          <p:cNvPr id="6" name="">
            <a:extLst xmlns:a="http://schemas.openxmlformats.org/drawingml/2006/main">
              <a:ext uri="{FF2B5EF4-FFF2-40B4-BE49-F238E27FC236}">
                <a16:creationId xmlns:a16="http://schemas.microsoft.com/office/drawing/2014/main" id="{35B4D62B-1A5D-4FCA-9A0E-F4CB3126299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64</a:t>
            </a:r>
          </a:p>
        </p:txBody>
      </p:sp>
    </p:spTree>
    <p:extLst>
      <p:ext uri="{BB962C8B-B14F-4D97-AF65-F5344CB8AC3E}">
        <p14:creationId xmlns:p14="http://schemas.microsoft.com/office/powerpoint/2010/main" val="1513107614"/>
      </p:ext>
    </p:extLst>
  </p:cSld>
</p:sld>
</file>

<file path=ppt/slides/slide6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0DD007-2F09-4CFF-965D-A413D2B63D2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A89F2304-F79B-4184-9EB9-23AD1C0B9AF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4교시 확인</a:t>
            </a:r>
          </a:p>
        </p:txBody>
      </p:sp>
      <p:sp>
        <p:nvSpPr>
          <p:cNvPr id="3" name="">
            <a:extLst xmlns:a="http://schemas.openxmlformats.org/drawingml/2006/main">
              <a:ext uri="{FF2B5EF4-FFF2-40B4-BE49-F238E27FC236}">
                <a16:creationId xmlns:a16="http://schemas.microsoft.com/office/drawing/2014/main" id="{498F4A67-76DD-4459-A582-4568556700B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미측정과 잘못된 입력을 합치지 않습니다.</a:t>
            </a:r>
          </a:p>
        </p:txBody>
      </p:sp>
      <p:sp>
        <p:nvSpPr>
          <p:cNvPr id="4" name="">
            <a:extLst xmlns:a="http://schemas.openxmlformats.org/drawingml/2006/main">
              <a:ext uri="{FF2B5EF4-FFF2-40B4-BE49-F238E27FC236}">
                <a16:creationId xmlns:a16="http://schemas.microsoft.com/office/drawing/2014/main" id="{D36D2006-59A6-4D6E-BEDC-97317EE86F48}"/>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예외 처리가 실제값을 복구하지는 않습니다.</a:t>
            </a:r>
          </a:p>
        </p:txBody>
      </p:sp>
      <p:sp>
        <p:nvSpPr>
          <p:cNvPr id="5" name="">
            <a:extLst xmlns:a="http://schemas.openxmlformats.org/drawingml/2006/main">
              <a:ext uri="{FF2B5EF4-FFF2-40B4-BE49-F238E27FC236}">
                <a16:creationId xmlns:a16="http://schemas.microsoft.com/office/drawing/2014/main" id="{C8131027-D2D1-48F7-812F-8322D4A06D6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공백 정리는 별도의 명시적 규칙이 필요합니다.</a:t>
            </a:r>
          </a:p>
        </p:txBody>
      </p:sp>
      <p:sp>
        <p:nvSpPr>
          <p:cNvPr id="6" name="">
            <a:extLst xmlns:a="http://schemas.openxmlformats.org/drawingml/2006/main">
              <a:ext uri="{FF2B5EF4-FFF2-40B4-BE49-F238E27FC236}">
                <a16:creationId xmlns:a16="http://schemas.microsoft.com/office/drawing/2014/main" id="{560EABA4-4362-4EC2-A8AC-193808A487C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65</a:t>
            </a:r>
          </a:p>
        </p:txBody>
      </p:sp>
    </p:spTree>
    <p:extLst>
      <p:ext uri="{BB962C8B-B14F-4D97-AF65-F5344CB8AC3E}">
        <p14:creationId xmlns:p14="http://schemas.microsoft.com/office/powerpoint/2010/main" val="1093984084"/>
      </p:ext>
    </p:extLst>
  </p:cSld>
</p:sld>
</file>

<file path=ppt/slides/slide66.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94B473-B35B-4C3F-AC9A-CABE05AA93A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654B297-72D9-46E2-9FA8-D6B6B45BDB0F}"/>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5교시 · 검사 규칙과 재확인</a:t>
            </a:r>
          </a:p>
        </p:txBody>
      </p:sp>
      <p:sp>
        <p:nvSpPr>
          <p:cNvPr id="3" name="">
            <a:extLst xmlns:a="http://schemas.openxmlformats.org/drawingml/2006/main">
              <a:ext uri="{FF2B5EF4-FFF2-40B4-BE49-F238E27FC236}">
                <a16:creationId xmlns:a16="http://schemas.microsoft.com/office/drawing/2014/main" id="{DD89EFB4-38D2-4D96-94BC-3D7A1E8545FE}"/>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15:00~15:50 · 50분</a:t>
            </a:r>
          </a:p>
        </p:txBody>
      </p:sp>
      <p:sp>
        <p:nvSpPr>
          <p:cNvPr id="4" name="">
            <a:extLst xmlns:a="http://schemas.openxmlformats.org/drawingml/2006/main">
              <a:ext uri="{FF2B5EF4-FFF2-40B4-BE49-F238E27FC236}">
                <a16:creationId xmlns:a16="http://schemas.microsoft.com/office/drawing/2014/main" id="{B53BB3C2-F3A1-4DA1-B11F-475DEDE877F8}"/>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A13, A14, A15</a:t>
            </a:r>
          </a:p>
        </p:txBody>
      </p:sp>
      <p:sp>
        <p:nvSpPr>
          <p:cNvPr id="5" name="">
            <a:extLst xmlns:a="http://schemas.openxmlformats.org/drawingml/2006/main">
              <a:ext uri="{FF2B5EF4-FFF2-40B4-BE49-F238E27FC236}">
                <a16:creationId xmlns:a16="http://schemas.microsoft.com/office/drawing/2014/main" id="{3E5AA378-A5B3-4529-86AC-8A63845D4567}"/>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89ADD780-6EA1-4BCA-96F4-FC791297248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66</a:t>
            </a:r>
          </a:p>
        </p:txBody>
      </p:sp>
    </p:spTree>
    <p:extLst>
      <p:ext uri="{BB962C8B-B14F-4D97-AF65-F5344CB8AC3E}">
        <p14:creationId xmlns:p14="http://schemas.microsoft.com/office/powerpoint/2010/main" val="140449574"/>
      </p:ext>
    </p:extLst>
  </p:cSld>
</p:sld>
</file>

<file path=ppt/slides/slide6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3CD8F7A-965B-4EC2-9AEC-20434373A63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D99BB05E-8CC9-4C23-ADD1-D4D7C1548CA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허용 범위 검사</a:t>
            </a:r>
          </a:p>
        </p:txBody>
      </p:sp>
      <p:sp>
        <p:nvSpPr>
          <p:cNvPr id="3" name="">
            <a:extLst xmlns:a="http://schemas.openxmlformats.org/drawingml/2006/main">
              <a:ext uri="{FF2B5EF4-FFF2-40B4-BE49-F238E27FC236}">
                <a16:creationId xmlns:a16="http://schemas.microsoft.com/office/drawing/2014/main" id="{DE002232-CD52-4C82-98D5-9F0B759B14D6}"/>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def checked_temperature(raw):</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value = float(raw)</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if value &lt; 0 or value &gt; 50: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raise ValueError("범위 확인 필요")</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return value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print(checked_temperature("23.5"))</a:t>
            </a:r>
          </a:p>
        </p:txBody>
      </p:sp>
      <p:sp>
        <p:nvSpPr>
          <p:cNvPr id="4" name="">
            <a:extLst xmlns:a="http://schemas.openxmlformats.org/drawingml/2006/main">
              <a:ext uri="{FF2B5EF4-FFF2-40B4-BE49-F238E27FC236}">
                <a16:creationId xmlns:a16="http://schemas.microsoft.com/office/drawing/2014/main" id="{D325E514-6F1A-4CFE-9A6C-ACACC562928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67</a:t>
            </a:r>
          </a:p>
        </p:txBody>
      </p:sp>
    </p:spTree>
    <p:extLst>
      <p:ext uri="{BB962C8B-B14F-4D97-AF65-F5344CB8AC3E}">
        <p14:creationId xmlns:p14="http://schemas.microsoft.com/office/powerpoint/2010/main" val="1829042248"/>
      </p:ext>
    </p:extLst>
  </p:cSld>
</p:sld>
</file>

<file path=ppt/slides/slide6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435E62-F5DA-4D07-BB00-B71217CACEB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813252B2-4790-4969-BCBD-DF7973CC2D7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숫자 해석과 범위는 다른 문턱입니다</a:t>
            </a:r>
          </a:p>
        </p:txBody>
      </p:sp>
      <p:sp>
        <p:nvSpPr>
          <p:cNvPr id="3" name="">
            <a:extLst xmlns:a="http://schemas.openxmlformats.org/drawingml/2006/main">
              <a:ext uri="{FF2B5EF4-FFF2-40B4-BE49-F238E27FC236}">
                <a16:creationId xmlns:a16="http://schemas.microsoft.com/office/drawing/2014/main" id="{B8FF82FF-EA55-4BDA-BCB6-DC4C2BBCC67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"51.0"은 숫자로 읽을 수 있습니다.</a:t>
            </a:r>
          </a:p>
        </p:txBody>
      </p:sp>
      <p:sp>
        <p:nvSpPr>
          <p:cNvPr id="4" name="">
            <a:extLst xmlns:a="http://schemas.openxmlformats.org/drawingml/2006/main">
              <a:ext uri="{FF2B5EF4-FFF2-40B4-BE49-F238E27FC236}">
                <a16:creationId xmlns:a16="http://schemas.microsoft.com/office/drawing/2014/main" id="{996C2A4B-D58B-4178-9B24-3CD1D0933BF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하지만 0~50 범위를 벗어납니다.</a:t>
            </a:r>
          </a:p>
        </p:txBody>
      </p:sp>
      <p:sp>
        <p:nvSpPr>
          <p:cNvPr id="5" name="">
            <a:extLst xmlns:a="http://schemas.openxmlformats.org/drawingml/2006/main">
              <a:ext uri="{FF2B5EF4-FFF2-40B4-BE49-F238E27FC236}">
                <a16:creationId xmlns:a16="http://schemas.microsoft.com/office/drawing/2014/main" id="{0A316AC3-076A-4A95-B95E-92C6839159F2}"/>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범위 밖 원문을 자동으로 자르지 않습니다.</a:t>
            </a:r>
          </a:p>
        </p:txBody>
      </p:sp>
      <p:sp>
        <p:nvSpPr>
          <p:cNvPr id="6" name="">
            <a:extLst xmlns:a="http://schemas.openxmlformats.org/drawingml/2006/main">
              <a:ext uri="{FF2B5EF4-FFF2-40B4-BE49-F238E27FC236}">
                <a16:creationId xmlns:a16="http://schemas.microsoft.com/office/drawing/2014/main" id="{D3A8D4E5-F281-4A25-ACE3-E5E19D84DA0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68</a:t>
            </a:r>
          </a:p>
        </p:txBody>
      </p:sp>
    </p:spTree>
    <p:extLst>
      <p:ext uri="{BB962C8B-B14F-4D97-AF65-F5344CB8AC3E}">
        <p14:creationId xmlns:p14="http://schemas.microsoft.com/office/powerpoint/2010/main" val="1818277137"/>
      </p:ext>
    </p:extLst>
  </p:cSld>
</p:sld>
</file>

<file path=ppt/slides/slide6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56716EA-8E48-464A-81C5-9B9AE5DE674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7DA7B194-1B5E-4999-B700-3317F56C520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범위의 안과 밖</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입력</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0~50 계약</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거부</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허용</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50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허용</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51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거부</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54E111C8-4A1D-4146-916F-75D506539E4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69</a:t>
            </a:r>
          </a:p>
        </p:txBody>
      </p:sp>
    </p:spTree>
    <p:extLst>
      <p:ext uri="{BB962C8B-B14F-4D97-AF65-F5344CB8AC3E}">
        <p14:creationId xmlns:p14="http://schemas.microsoft.com/office/powerpoint/2010/main" val="2022185970"/>
      </p:ext>
    </p:extLst>
  </p:cSld>
</p:sld>
</file>

<file path=ppt/slides/slide7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0C2465A-E8C3-42FC-8F26-E2F0B763B37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D3EE372A-C3A8-4CEE-8FB9-39EAA570E28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바깥쪽은 또는로 연결합니다</a:t>
            </a:r>
          </a:p>
        </p:txBody>
      </p:sp>
      <p:sp>
        <p:nvSpPr>
          <p:cNvPr id="3" name="">
            <a:extLst xmlns:a="http://schemas.openxmlformats.org/drawingml/2006/main">
              <a:ext uri="{FF2B5EF4-FFF2-40B4-BE49-F238E27FC236}">
                <a16:creationId xmlns:a16="http://schemas.microsoft.com/office/drawing/2014/main" id="{E4C15685-FE88-4E03-BC30-0A193353B89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0보다 작거나 50보다 크면 범위 밖입니다.</a:t>
            </a:r>
          </a:p>
        </p:txBody>
      </p:sp>
      <p:sp>
        <p:nvSpPr>
          <p:cNvPr id="4" name="">
            <a:extLst xmlns:a="http://schemas.openxmlformats.org/drawingml/2006/main">
              <a:ext uri="{FF2B5EF4-FFF2-40B4-BE49-F238E27FC236}">
                <a16:creationId xmlns:a16="http://schemas.microsoft.com/office/drawing/2014/main" id="{44A5D20D-D302-4329-9440-9F879DB5633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or는 둘 중 하나가 참이면 참입니다.</a:t>
            </a:r>
          </a:p>
        </p:txBody>
      </p:sp>
      <p:sp>
        <p:nvSpPr>
          <p:cNvPr id="5" name="">
            <a:extLst xmlns:a="http://schemas.openxmlformats.org/drawingml/2006/main">
              <a:ext uri="{FF2B5EF4-FFF2-40B4-BE49-F238E27FC236}">
                <a16:creationId xmlns:a16="http://schemas.microsoft.com/office/drawing/2014/main" id="{5B3B94A9-3F06-408D-9EDE-9ADE34DC0F4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and는 두 조건이 모두 참이어야 합니다.</a:t>
            </a:r>
          </a:p>
        </p:txBody>
      </p:sp>
      <p:sp>
        <p:nvSpPr>
          <p:cNvPr id="6" name="">
            <a:extLst xmlns:a="http://schemas.openxmlformats.org/drawingml/2006/main">
              <a:ext uri="{FF2B5EF4-FFF2-40B4-BE49-F238E27FC236}">
                <a16:creationId xmlns:a16="http://schemas.microsoft.com/office/drawing/2014/main" id="{1D077A38-1FDA-4AC2-B487-84F5447F9D7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70</a:t>
            </a:r>
          </a:p>
        </p:txBody>
      </p:sp>
    </p:spTree>
    <p:extLst>
      <p:ext uri="{BB962C8B-B14F-4D97-AF65-F5344CB8AC3E}">
        <p14:creationId xmlns:p14="http://schemas.microsoft.com/office/powerpoint/2010/main" val="1887624135"/>
      </p:ext>
    </p:extLst>
  </p:cSld>
</p:sld>
</file>

<file path=ppt/slides/slide7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749B6C9-CB5F-4D98-9071-4B43C1B604B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F0E7E06F-6A2C-4409-A0CD-CF82B5B81AD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근거가 있는 값만 수정합니다</a:t>
            </a:r>
          </a:p>
        </p:txBody>
      </p:sp>
      <p:sp>
        <p:nvSpPr>
          <p:cNvPr id="3" name="">
            <a:extLst xmlns:a="http://schemas.openxmlformats.org/drawingml/2006/main">
              <a:ext uri="{FF2B5EF4-FFF2-40B4-BE49-F238E27FC236}">
                <a16:creationId xmlns:a16="http://schemas.microsoft.com/office/drawing/2014/main" id="{5557979A-CC5E-4A3A-8D4A-D5D3793DB31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확인된 S05는 23.5로 고칩니다.</a:t>
            </a:r>
          </a:p>
        </p:txBody>
      </p:sp>
      <p:sp>
        <p:nvSpPr>
          <p:cNvPr id="4" name="">
            <a:extLst xmlns:a="http://schemas.openxmlformats.org/drawingml/2006/main">
              <a:ext uri="{FF2B5EF4-FFF2-40B4-BE49-F238E27FC236}">
                <a16:creationId xmlns:a16="http://schemas.microsoft.com/office/drawing/2014/main" id="{AE92F867-8644-4365-AB83-F344F7A2EA2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미확인 S06은 원문과 이유를 남깁니다.</a:t>
            </a:r>
          </a:p>
        </p:txBody>
      </p:sp>
      <p:sp>
        <p:nvSpPr>
          <p:cNvPr id="5" name="">
            <a:extLst xmlns:a="http://schemas.openxmlformats.org/drawingml/2006/main">
              <a:ext uri="{FF2B5EF4-FFF2-40B4-BE49-F238E27FC236}">
                <a16:creationId xmlns:a16="http://schemas.microsoft.com/office/drawing/2014/main" id="{850A93A8-82EF-414B-8A60-22A4E4BCC17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이슈를 줄이려고 행을 삭제하지 않습니다.</a:t>
            </a:r>
          </a:p>
        </p:txBody>
      </p:sp>
      <p:sp>
        <p:nvSpPr>
          <p:cNvPr id="6" name="">
            <a:extLst xmlns:a="http://schemas.openxmlformats.org/drawingml/2006/main">
              <a:ext uri="{FF2B5EF4-FFF2-40B4-BE49-F238E27FC236}">
                <a16:creationId xmlns:a16="http://schemas.microsoft.com/office/drawing/2014/main" id="{2177FB64-72BC-4385-A34A-CF1750B0591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71</a:t>
            </a:r>
          </a:p>
        </p:txBody>
      </p:sp>
    </p:spTree>
    <p:extLst>
      <p:ext uri="{BB962C8B-B14F-4D97-AF65-F5344CB8AC3E}">
        <p14:creationId xmlns:p14="http://schemas.microsoft.com/office/powerpoint/2010/main" val="1306295947"/>
      </p:ext>
    </p:extLst>
  </p:cSld>
</p:sld>
</file>

<file path=ppt/slides/slide7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E0D3849-41E5-46FA-9B27-67C92318CFF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4B61A0C6-A64E-4061-A176-12C0D26995F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같은 사례를 다시 확인합니다</a:t>
            </a:r>
          </a:p>
        </p:txBody>
      </p:sp>
      <p:sp>
        <p:nvSpPr>
          <p:cNvPr id="3" name="">
            <a:extLst xmlns:a="http://schemas.openxmlformats.org/drawingml/2006/main">
              <a:ext uri="{FF2B5EF4-FFF2-40B4-BE49-F238E27FC236}">
                <a16:creationId xmlns:a16="http://schemas.microsoft.com/office/drawing/2014/main" id="{3A6A85A1-39B4-425C-8235-18B42069F22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실패했던 입력을 다시 봅니다.</a:t>
            </a:r>
          </a:p>
        </p:txBody>
      </p:sp>
      <p:sp>
        <p:nvSpPr>
          <p:cNvPr id="4" name="">
            <a:extLst xmlns:a="http://schemas.openxmlformats.org/drawingml/2006/main">
              <a:ext uri="{FF2B5EF4-FFF2-40B4-BE49-F238E27FC236}">
                <a16:creationId xmlns:a16="http://schemas.microsoft.com/office/drawing/2014/main" id="{CF6CD109-6BFE-4A5B-B9C7-B03B0863E19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원래 맞던 경계와 미측정도 봅니다.</a:t>
            </a:r>
          </a:p>
        </p:txBody>
      </p:sp>
      <p:sp>
        <p:nvSpPr>
          <p:cNvPr id="5" name="">
            <a:extLst xmlns:a="http://schemas.openxmlformats.org/drawingml/2006/main">
              <a:ext uri="{FF2B5EF4-FFF2-40B4-BE49-F238E27FC236}">
                <a16:creationId xmlns:a16="http://schemas.microsoft.com/office/drawing/2014/main" id="{03EAAE8D-A871-4F1E-BD0B-E583A1E00669}"/>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변경한 근거와 결과를 연결합니다.</a:t>
            </a:r>
          </a:p>
        </p:txBody>
      </p:sp>
      <p:sp>
        <p:nvSpPr>
          <p:cNvPr id="6" name="">
            <a:extLst xmlns:a="http://schemas.openxmlformats.org/drawingml/2006/main">
              <a:ext uri="{FF2B5EF4-FFF2-40B4-BE49-F238E27FC236}">
                <a16:creationId xmlns:a16="http://schemas.microsoft.com/office/drawing/2014/main" id="{98A22439-8D9C-4426-9583-2758D211D82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72</a:t>
            </a:r>
          </a:p>
        </p:txBody>
      </p:sp>
    </p:spTree>
    <p:extLst>
      <p:ext uri="{BB962C8B-B14F-4D97-AF65-F5344CB8AC3E}">
        <p14:creationId xmlns:p14="http://schemas.microsoft.com/office/powerpoint/2010/main" val="894701071"/>
      </p:ext>
    </p:extLst>
  </p:cSld>
</p:sld>
</file>

<file path=ppt/slides/slide7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F02DA36-6875-40D5-B6E9-E4BB9742EFE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1F8CAB5E-45D8-4B12-85DC-38D0CE2A4E6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전체와 부분의 관계</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분류</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예시 건수</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전체</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6</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수치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3</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미측정</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이슈</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1782645F-46A4-4B5F-A02D-D09BB772E7F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73</a:t>
            </a:r>
          </a:p>
        </p:txBody>
      </p:sp>
    </p:spTree>
    <p:extLst>
      <p:ext uri="{BB962C8B-B14F-4D97-AF65-F5344CB8AC3E}">
        <p14:creationId xmlns:p14="http://schemas.microsoft.com/office/powerpoint/2010/main" val="181466852"/>
      </p:ext>
    </p:extLst>
  </p:cSld>
</p:sld>
</file>

<file path=ppt/slides/slide7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E996262-4E76-44EE-9B39-28A590FF3F7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E69C9257-349A-4200-8856-1ECC0A7E9F7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수락과 평균 대상을 구별합니다</a:t>
            </a:r>
          </a:p>
        </p:txBody>
      </p:sp>
      <p:sp>
        <p:nvSpPr>
          <p:cNvPr id="3" name="">
            <a:extLst xmlns:a="http://schemas.openxmlformats.org/drawingml/2006/main">
              <a:ext uri="{FF2B5EF4-FFF2-40B4-BE49-F238E27FC236}">
                <a16:creationId xmlns:a16="http://schemas.microsoft.com/office/drawing/2014/main" id="{7E7F56BB-E2B4-48F5-B929-7226004428E5}"/>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수락은 수치와 미측정의 합입니다.</a:t>
            </a:r>
          </a:p>
        </p:txBody>
      </p:sp>
      <p:sp>
        <p:nvSpPr>
          <p:cNvPr id="4" name="">
            <a:extLst xmlns:a="http://schemas.openxmlformats.org/drawingml/2006/main">
              <a:ext uri="{FF2B5EF4-FFF2-40B4-BE49-F238E27FC236}">
                <a16:creationId xmlns:a16="http://schemas.microsoft.com/office/drawing/2014/main" id="{57E05255-2872-4266-B79D-B6BBD3D1BF2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평균은 실제 수치만 대상으로 합니다.</a:t>
            </a:r>
          </a:p>
        </p:txBody>
      </p:sp>
      <p:sp>
        <p:nvSpPr>
          <p:cNvPr id="5" name="">
            <a:extLst xmlns:a="http://schemas.openxmlformats.org/drawingml/2006/main">
              <a:ext uri="{FF2B5EF4-FFF2-40B4-BE49-F238E27FC236}">
                <a16:creationId xmlns:a16="http://schemas.microsoft.com/office/drawing/2014/main" id="{0C2A65FC-309F-4403-B703-D1F46883F53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종료 코드 0이 입력 전체의 정확성은 아닙니다.</a:t>
            </a:r>
          </a:p>
        </p:txBody>
      </p:sp>
      <p:sp>
        <p:nvSpPr>
          <p:cNvPr id="6" name="">
            <a:extLst xmlns:a="http://schemas.openxmlformats.org/drawingml/2006/main">
              <a:ext uri="{FF2B5EF4-FFF2-40B4-BE49-F238E27FC236}">
                <a16:creationId xmlns:a16="http://schemas.microsoft.com/office/drawing/2014/main" id="{B126BF86-2165-406C-82B0-663C7F03F0D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74</a:t>
            </a:r>
          </a:p>
        </p:txBody>
      </p:sp>
    </p:spTree>
    <p:extLst>
      <p:ext uri="{BB962C8B-B14F-4D97-AF65-F5344CB8AC3E}">
        <p14:creationId xmlns:p14="http://schemas.microsoft.com/office/powerpoint/2010/main" val="722942760"/>
      </p:ext>
    </p:extLst>
  </p:cSld>
</p:sld>
</file>

<file path=ppt/slides/slide7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08307DC-BF9A-4B1F-8FC0-2A2A7A932E1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13974D9C-B6F3-4C99-92FE-F6F3E136094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BE63227F-02B7-4749-A985-ABA97A9A385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0~20개 계약에서 숫자와 범위를 검사합니다.</a:t>
            </a:r>
          </a:p>
        </p:txBody>
      </p:sp>
      <p:sp>
        <p:nvSpPr>
          <p:cNvPr id="4" name="">
            <a:extLst xmlns:a="http://schemas.openxmlformats.org/drawingml/2006/main">
              <a:ext uri="{FF2B5EF4-FFF2-40B4-BE49-F238E27FC236}">
                <a16:creationId xmlns:a16="http://schemas.microsoft.com/office/drawing/2014/main" id="{BFC3B820-574F-4A3D-956D-B87A0A1FBB6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75</a:t>
            </a:r>
          </a:p>
        </p:txBody>
      </p:sp>
    </p:spTree>
    <p:extLst>
      <p:ext uri="{BB962C8B-B14F-4D97-AF65-F5344CB8AC3E}">
        <p14:creationId xmlns:p14="http://schemas.microsoft.com/office/powerpoint/2010/main" val="52852037"/>
      </p:ext>
    </p:extLst>
  </p:cSld>
</p:sld>
</file>

<file path=ppt/slides/slide7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5C312FA-8BFC-44CF-9AEE-D5E37E4C097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A9EF56F0-39C9-4A1C-8855-102E6E23187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입력</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결과</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거부</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허용</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허용</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거부</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2B56EC56-28B7-4E5F-ABAC-079419D330B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76</a:t>
            </a:r>
          </a:p>
        </p:txBody>
      </p:sp>
    </p:spTree>
    <p:extLst>
      <p:ext uri="{BB962C8B-B14F-4D97-AF65-F5344CB8AC3E}">
        <p14:creationId xmlns:p14="http://schemas.microsoft.com/office/powerpoint/2010/main" val="1748622719"/>
      </p:ext>
    </p:extLst>
  </p:cSld>
</p:sld>
</file>

<file path=ppt/slides/slide7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F09812-5672-440B-A923-51A18630998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8B38F3D0-4940-4800-BA5C-004E7942726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B1C5D60B-EAB0-4181-BF01-B1CDAFFE4F0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충전율은 0~100%입니다.</a:t>
            </a:r>
          </a:p>
        </p:txBody>
      </p:sp>
      <p:sp>
        <p:nvSpPr>
          <p:cNvPr id="4" name="">
            <a:extLst xmlns:a="http://schemas.openxmlformats.org/drawingml/2006/main">
              <a:ext uri="{FF2B5EF4-FFF2-40B4-BE49-F238E27FC236}">
                <a16:creationId xmlns:a16="http://schemas.microsoft.com/office/drawing/2014/main" id="{AF4DD267-BFE4-4D28-918C-12BDB736EC5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-0.1·0·50·100·100.1을 판정하세요.</a:t>
            </a:r>
          </a:p>
        </p:txBody>
      </p:sp>
      <p:sp>
        <p:nvSpPr>
          <p:cNvPr id="5" name="">
            <a:extLst xmlns:a="http://schemas.openxmlformats.org/drawingml/2006/main">
              <a:ext uri="{FF2B5EF4-FFF2-40B4-BE49-F238E27FC236}">
                <a16:creationId xmlns:a16="http://schemas.microsoft.com/office/drawing/2014/main" id="{C38D0765-D354-4A2D-8F9C-A5586232850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바깥을 찾는 논리 문장을 쓰세요.</a:t>
            </a:r>
          </a:p>
        </p:txBody>
      </p:sp>
      <p:sp>
        <p:nvSpPr>
          <p:cNvPr id="6" name="">
            <a:extLst xmlns:a="http://schemas.openxmlformats.org/drawingml/2006/main">
              <a:ext uri="{FF2B5EF4-FFF2-40B4-BE49-F238E27FC236}">
                <a16:creationId xmlns:a16="http://schemas.microsoft.com/office/drawing/2014/main" id="{96052F48-DF98-46C4-8382-A4AF5CA2301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77</a:t>
            </a:r>
          </a:p>
        </p:txBody>
      </p:sp>
    </p:spTree>
    <p:extLst>
      <p:ext uri="{BB962C8B-B14F-4D97-AF65-F5344CB8AC3E}">
        <p14:creationId xmlns:p14="http://schemas.microsoft.com/office/powerpoint/2010/main" val="1404050800"/>
      </p:ext>
    </p:extLst>
  </p:cSld>
</p:sld>
</file>

<file path=ppt/slides/slide7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A2022D6-9F3F-4C6E-89EC-244702BB5FF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91D79FD0-14DF-43FB-A400-7D75D8E945F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A55A8305-D7C6-40E5-98A8-67D423C4B4B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0·50·100은 허용, 두 바깥값은 거부입니다.</a:t>
            </a:r>
          </a:p>
        </p:txBody>
      </p:sp>
      <p:sp>
        <p:nvSpPr>
          <p:cNvPr id="4" name="">
            <a:extLst xmlns:a="http://schemas.openxmlformats.org/drawingml/2006/main">
              <a:ext uri="{FF2B5EF4-FFF2-40B4-BE49-F238E27FC236}">
                <a16:creationId xmlns:a16="http://schemas.microsoft.com/office/drawing/2014/main" id="{658E9A76-AF50-4FF4-8392-F4099AD5CB9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 미만 또는 100 초과로 검사합니다.</a:t>
            </a:r>
          </a:p>
        </p:txBody>
      </p:sp>
      <p:sp>
        <p:nvSpPr>
          <p:cNvPr id="5" name="">
            <a:extLst xmlns:a="http://schemas.openxmlformats.org/drawingml/2006/main">
              <a:ext uri="{FF2B5EF4-FFF2-40B4-BE49-F238E27FC236}">
                <a16:creationId xmlns:a16="http://schemas.microsoft.com/office/drawing/2014/main" id="{5D68A2EB-8C48-4D00-99F6-756AD503684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78</a:t>
            </a:r>
          </a:p>
        </p:txBody>
      </p:sp>
    </p:spTree>
    <p:extLst>
      <p:ext uri="{BB962C8B-B14F-4D97-AF65-F5344CB8AC3E}">
        <p14:creationId xmlns:p14="http://schemas.microsoft.com/office/powerpoint/2010/main" val="1061622025"/>
      </p:ext>
    </p:extLst>
  </p:cSld>
</p:sld>
</file>

<file path=ppt/slides/slide7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78886C8-22E6-4601-A8E0-AE6CFCD2618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8DB74F29-A5B0-48AB-867A-397B6770BEB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재검사와 계약</a:t>
            </a:r>
          </a:p>
        </p:txBody>
      </p:sp>
      <p:sp>
        <p:nvSpPr>
          <p:cNvPr id="3" name="">
            <a:extLst xmlns:a="http://schemas.openxmlformats.org/drawingml/2006/main">
              <a:ext uri="{FF2B5EF4-FFF2-40B4-BE49-F238E27FC236}">
                <a16:creationId xmlns:a16="http://schemas.microsoft.com/office/drawing/2014/main" id="{867C4590-F5D1-4B1C-9EA7-CE5B02EE902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A13 양 끝 경계를 포함해 확인합니다.</a:t>
            </a:r>
          </a:p>
        </p:txBody>
      </p:sp>
      <p:sp>
        <p:nvSpPr>
          <p:cNvPr id="4" name="">
            <a:extLst xmlns:a="http://schemas.openxmlformats.org/drawingml/2006/main">
              <a:ext uri="{FF2B5EF4-FFF2-40B4-BE49-F238E27FC236}">
                <a16:creationId xmlns:a16="http://schemas.microsoft.com/office/drawing/2014/main" id="{3D53D4C6-2F4E-461E-9F4D-2FAA9003FEF8}"/>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A14 수정 근거를 남깁니다.</a:t>
            </a:r>
          </a:p>
        </p:txBody>
      </p:sp>
      <p:sp>
        <p:nvSpPr>
          <p:cNvPr id="5" name="">
            <a:extLst xmlns:a="http://schemas.openxmlformats.org/drawingml/2006/main">
              <a:ext uri="{FF2B5EF4-FFF2-40B4-BE49-F238E27FC236}">
                <a16:creationId xmlns:a16="http://schemas.microsoft.com/office/drawing/2014/main" id="{0768C81E-7274-416C-ADFC-A95588295A9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A15 입력·출력의 뜻을 설명합니다.</a:t>
            </a:r>
          </a:p>
        </p:txBody>
      </p:sp>
      <p:sp>
        <p:nvSpPr>
          <p:cNvPr id="6" name="">
            <a:extLst xmlns:a="http://schemas.openxmlformats.org/drawingml/2006/main">
              <a:ext uri="{FF2B5EF4-FFF2-40B4-BE49-F238E27FC236}">
                <a16:creationId xmlns:a16="http://schemas.microsoft.com/office/drawing/2014/main" id="{927C38BE-743D-4676-8ADD-06731C348D1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79</a:t>
            </a:r>
          </a:p>
        </p:txBody>
      </p:sp>
    </p:spTree>
    <p:extLst>
      <p:ext uri="{BB962C8B-B14F-4D97-AF65-F5344CB8AC3E}">
        <p14:creationId xmlns:p14="http://schemas.microsoft.com/office/powerpoint/2010/main" val="1865209606"/>
      </p:ext>
    </p:extLst>
  </p:cSld>
</p:sld>
</file>

<file path=ppt/slides/slide8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09E2F9F-72E6-4953-A0EB-158CB32A6FE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A87AA854-3F28-427B-B7EE-AB0029E25DC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5교시 확인</a:t>
            </a:r>
          </a:p>
        </p:txBody>
      </p:sp>
      <p:sp>
        <p:nvSpPr>
          <p:cNvPr id="3" name="">
            <a:extLst xmlns:a="http://schemas.openxmlformats.org/drawingml/2006/main">
              <a:ext uri="{FF2B5EF4-FFF2-40B4-BE49-F238E27FC236}">
                <a16:creationId xmlns:a16="http://schemas.microsoft.com/office/drawing/2014/main" id="{ABFDC2EC-802A-4315-AAFF-A2C66FD1701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변환 통과와 범위 통과는 다릅니다.</a:t>
            </a:r>
          </a:p>
        </p:txBody>
      </p:sp>
      <p:sp>
        <p:nvSpPr>
          <p:cNvPr id="4" name="">
            <a:extLst xmlns:a="http://schemas.openxmlformats.org/drawingml/2006/main">
              <a:ext uri="{FF2B5EF4-FFF2-40B4-BE49-F238E27FC236}">
                <a16:creationId xmlns:a16="http://schemas.microsoft.com/office/drawing/2014/main" id="{9C50E578-F943-4E40-A4A2-8C06AE65977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범위 통과가 실제 센서 정확성을 뜻하지 않습니다.</a:t>
            </a:r>
          </a:p>
        </p:txBody>
      </p:sp>
      <p:sp>
        <p:nvSpPr>
          <p:cNvPr id="5" name="">
            <a:extLst xmlns:a="http://schemas.openxmlformats.org/drawingml/2006/main">
              <a:ext uri="{FF2B5EF4-FFF2-40B4-BE49-F238E27FC236}">
                <a16:creationId xmlns:a16="http://schemas.microsoft.com/office/drawing/2014/main" id="{F6230FFF-81CB-41BC-B286-DADFF2797E6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전체=수락+이슈 관계로 검산합니다.</a:t>
            </a:r>
          </a:p>
        </p:txBody>
      </p:sp>
      <p:sp>
        <p:nvSpPr>
          <p:cNvPr id="6" name="">
            <a:extLst xmlns:a="http://schemas.openxmlformats.org/drawingml/2006/main">
              <a:ext uri="{FF2B5EF4-FFF2-40B4-BE49-F238E27FC236}">
                <a16:creationId xmlns:a16="http://schemas.microsoft.com/office/drawing/2014/main" id="{F88F4B32-0323-4F86-BE73-07DDA2F804A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80</a:t>
            </a:r>
          </a:p>
        </p:txBody>
      </p:sp>
    </p:spTree>
    <p:extLst>
      <p:ext uri="{BB962C8B-B14F-4D97-AF65-F5344CB8AC3E}">
        <p14:creationId xmlns:p14="http://schemas.microsoft.com/office/powerpoint/2010/main" val="1074600920"/>
      </p:ext>
    </p:extLst>
  </p:cSld>
</p:sld>
</file>

<file path=ppt/slides/slide8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EE200B-1FCB-4019-911E-CB8BA9D4368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9E28F12-7A7C-47F7-987B-6F6E6AC0DFF4}"/>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6교시 · 로그 검사기와 사용 안내</a:t>
            </a:r>
          </a:p>
        </p:txBody>
      </p:sp>
      <p:sp>
        <p:nvSpPr>
          <p:cNvPr id="3" name="">
            <a:extLst xmlns:a="http://schemas.openxmlformats.org/drawingml/2006/main">
              <a:ext uri="{FF2B5EF4-FFF2-40B4-BE49-F238E27FC236}">
                <a16:creationId xmlns:a16="http://schemas.microsoft.com/office/drawing/2014/main" id="{DA1EE8E6-52E9-4159-8D03-C266C406F47F}"/>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16:00~16:50 · 50분</a:t>
            </a:r>
          </a:p>
        </p:txBody>
      </p:sp>
      <p:sp>
        <p:nvSpPr>
          <p:cNvPr id="4" name="">
            <a:extLst xmlns:a="http://schemas.openxmlformats.org/drawingml/2006/main">
              <a:ext uri="{FF2B5EF4-FFF2-40B4-BE49-F238E27FC236}">
                <a16:creationId xmlns:a16="http://schemas.microsoft.com/office/drawing/2014/main" id="{07309035-6FA3-49C9-8F87-87E681F569D7}"/>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A16, A17, A18</a:t>
            </a:r>
          </a:p>
        </p:txBody>
      </p:sp>
      <p:sp>
        <p:nvSpPr>
          <p:cNvPr id="5" name="">
            <a:extLst xmlns:a="http://schemas.openxmlformats.org/drawingml/2006/main">
              <a:ext uri="{FF2B5EF4-FFF2-40B4-BE49-F238E27FC236}">
                <a16:creationId xmlns:a16="http://schemas.microsoft.com/office/drawing/2014/main" id="{490D620D-80DE-4D46-99DB-5C6DB7921E9A}"/>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94525EBE-D4CB-4F7F-A253-C6871E19D86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81</a:t>
            </a:r>
          </a:p>
        </p:txBody>
      </p:sp>
    </p:spTree>
    <p:extLst>
      <p:ext uri="{BB962C8B-B14F-4D97-AF65-F5344CB8AC3E}">
        <p14:creationId xmlns:p14="http://schemas.microsoft.com/office/powerpoint/2010/main" val="2075778955"/>
      </p:ext>
    </p:extLst>
  </p:cSld>
</p:sld>
</file>

<file path=ppt/slides/slide8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5F8BC0-572C-4E1D-A450-09BFEB1B957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71CE731E-3885-4544-B842-2D8879D63D0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검사기 전체 흐름</a:t>
            </a:r>
          </a:p>
        </p:txBody>
      </p:sp>
      <p:sp>
        <p:nvSpPr>
          <p:cNvPr id="3" name="">
            <a:extLst xmlns:a="http://schemas.openxmlformats.org/drawingml/2006/main">
              <a:ext uri="{FF2B5EF4-FFF2-40B4-BE49-F238E27FC236}">
                <a16:creationId xmlns:a16="http://schemas.microsoft.com/office/drawing/2014/main" id="{A1F44234-EB78-45E9-8D73-1AC7DC397A2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CSV를 한 행씩 읽습니다.</a:t>
            </a:r>
          </a:p>
        </p:txBody>
      </p:sp>
      <p:sp>
        <p:nvSpPr>
          <p:cNvPr id="4" name="">
            <a:extLst xmlns:a="http://schemas.openxmlformats.org/drawingml/2006/main">
              <a:ext uri="{FF2B5EF4-FFF2-40B4-BE49-F238E27FC236}">
                <a16:creationId xmlns:a16="http://schemas.microsoft.com/office/drawing/2014/main" id="{BADC7DB1-666A-4858-8780-5FD2FF75CDC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온도를 수치·미측정·이슈로 나눕니다.</a:t>
            </a:r>
          </a:p>
        </p:txBody>
      </p:sp>
      <p:sp>
        <p:nvSpPr>
          <p:cNvPr id="5" name="">
            <a:extLst xmlns:a="http://schemas.openxmlformats.org/drawingml/2006/main">
              <a:ext uri="{FF2B5EF4-FFF2-40B4-BE49-F238E27FC236}">
                <a16:creationId xmlns:a16="http://schemas.microsoft.com/office/drawing/2014/main" id="{97B7518D-FD9E-45EE-83B5-166A9097520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수치 평균과 건수를 계산합니다.</a:t>
            </a:r>
          </a:p>
        </p:txBody>
      </p:sp>
      <p:sp>
        <p:nvSpPr>
          <p:cNvPr id="6" name="">
            <a:extLst xmlns:a="http://schemas.openxmlformats.org/drawingml/2006/main">
              <a:ext uri="{FF2B5EF4-FFF2-40B4-BE49-F238E27FC236}">
                <a16:creationId xmlns:a16="http://schemas.microsoft.com/office/drawing/2014/main" id="{241D1D4D-C24D-4D0A-A0FA-F76AF2A855CA}"/>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요약과 이슈를 JSON 파일로 저장합니다.</a:t>
            </a:r>
          </a:p>
        </p:txBody>
      </p:sp>
      <p:sp>
        <p:nvSpPr>
          <p:cNvPr id="7" name="">
            <a:extLst xmlns:a="http://schemas.openxmlformats.org/drawingml/2006/main">
              <a:ext uri="{FF2B5EF4-FFF2-40B4-BE49-F238E27FC236}">
                <a16:creationId xmlns:a16="http://schemas.microsoft.com/office/drawing/2014/main" id="{35978190-EC67-4183-80BA-F8651B3F816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82</a:t>
            </a:r>
          </a:p>
        </p:txBody>
      </p:sp>
    </p:spTree>
    <p:extLst>
      <p:ext uri="{BB962C8B-B14F-4D97-AF65-F5344CB8AC3E}">
        <p14:creationId xmlns:p14="http://schemas.microsoft.com/office/powerpoint/2010/main" val="30419316"/>
      </p:ext>
    </p:extLst>
  </p:cSld>
</p:sld>
</file>

<file path=ppt/slides/slide8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24B89E7-8484-4AE2-81B3-B82CEF0769C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9B6BC5D3-98E4-4FEF-BAD5-1C67395461E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행의 이동을 추적합니다</a:t>
            </a:r>
          </a:p>
        </p:txBody>
      </p:sp>
      <p:sp>
        <p:nvSpPr>
          <p:cNvPr id="3" name="">
            <a:extLst xmlns:a="http://schemas.openxmlformats.org/drawingml/2006/main">
              <a:ext uri="{FF2B5EF4-FFF2-40B4-BE49-F238E27FC236}">
                <a16:creationId xmlns:a16="http://schemas.microsoft.com/office/drawing/2014/main" id="{B3F858E2-797E-4834-9C99-BE68631E535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원문을 해석 함수에 전달합니다.</a:t>
            </a:r>
          </a:p>
        </p:txBody>
      </p:sp>
      <p:sp>
        <p:nvSpPr>
          <p:cNvPr id="4" name="">
            <a:extLst xmlns:a="http://schemas.openxmlformats.org/drawingml/2006/main">
              <a:ext uri="{FF2B5EF4-FFF2-40B4-BE49-F238E27FC236}">
                <a16:creationId xmlns:a16="http://schemas.microsoft.com/office/drawing/2014/main" id="{AC8045F5-CF75-4DCF-B512-E1C243BF067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잘못된 원문은 이슈에 남깁니다.</a:t>
            </a:r>
          </a:p>
        </p:txBody>
      </p:sp>
      <p:sp>
        <p:nvSpPr>
          <p:cNvPr id="5" name="">
            <a:extLst xmlns:a="http://schemas.openxmlformats.org/drawingml/2006/main">
              <a:ext uri="{FF2B5EF4-FFF2-40B4-BE49-F238E27FC236}">
                <a16:creationId xmlns:a16="http://schemas.microsoft.com/office/drawing/2014/main" id="{91C78462-49A7-40D6-AA8E-346A79D4DA7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미측정은 missing에 셉니다.</a:t>
            </a:r>
          </a:p>
        </p:txBody>
      </p:sp>
      <p:sp>
        <p:nvSpPr>
          <p:cNvPr id="6" name="">
            <a:extLst xmlns:a="http://schemas.openxmlformats.org/drawingml/2006/main">
              <a:ext uri="{FF2B5EF4-FFF2-40B4-BE49-F238E27FC236}">
                <a16:creationId xmlns:a16="http://schemas.microsoft.com/office/drawing/2014/main" id="{C60C7F79-47BB-4EF1-B0A5-BBB4826E4683}"/>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 숫자는 numbers에 넣습니다.</a:t>
            </a:r>
          </a:p>
        </p:txBody>
      </p:sp>
      <p:sp>
        <p:nvSpPr>
          <p:cNvPr id="7" name="">
            <a:extLst xmlns:a="http://schemas.openxmlformats.org/drawingml/2006/main">
              <a:ext uri="{FF2B5EF4-FFF2-40B4-BE49-F238E27FC236}">
                <a16:creationId xmlns:a16="http://schemas.microsoft.com/office/drawing/2014/main" id="{4C71DE55-E48C-4175-B3E0-F6071BA2C69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83</a:t>
            </a:r>
          </a:p>
        </p:txBody>
      </p:sp>
    </p:spTree>
    <p:extLst>
      <p:ext uri="{BB962C8B-B14F-4D97-AF65-F5344CB8AC3E}">
        <p14:creationId xmlns:p14="http://schemas.microsoft.com/office/powerpoint/2010/main" val="1503342407"/>
      </p:ext>
    </p:extLst>
  </p:cSld>
</p:sld>
</file>

<file path=ppt/slides/slide8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660FC84-D4D0-4772-8EF4-9EA85F2FD86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4340CAC-2B36-47CC-8CA7-A570FE5AAA0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continue는 다음 행으로 이동합니다</a:t>
            </a:r>
          </a:p>
        </p:txBody>
      </p:sp>
      <p:sp>
        <p:nvSpPr>
          <p:cNvPr id="3" name="">
            <a:extLst xmlns:a="http://schemas.openxmlformats.org/drawingml/2006/main">
              <a:ext uri="{FF2B5EF4-FFF2-40B4-BE49-F238E27FC236}">
                <a16:creationId xmlns:a16="http://schemas.microsoft.com/office/drawing/2014/main" id="{11DED6EE-99BB-46EB-BE61-464693BF2A5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문제 행을 이슈에 남깁니다.</a:t>
            </a:r>
          </a:p>
        </p:txBody>
      </p:sp>
      <p:sp>
        <p:nvSpPr>
          <p:cNvPr id="4" name="">
            <a:extLst xmlns:a="http://schemas.openxmlformats.org/drawingml/2006/main">
              <a:ext uri="{FF2B5EF4-FFF2-40B4-BE49-F238E27FC236}">
                <a16:creationId xmlns:a16="http://schemas.microsoft.com/office/drawing/2014/main" id="{AD34E73E-A0E5-4DDB-99FF-3DDED427639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그 행을 정상 수치 처리로 보내지 않습니다.</a:t>
            </a:r>
          </a:p>
        </p:txBody>
      </p:sp>
      <p:sp>
        <p:nvSpPr>
          <p:cNvPr id="5" name="">
            <a:extLst xmlns:a="http://schemas.openxmlformats.org/drawingml/2006/main">
              <a:ext uri="{FF2B5EF4-FFF2-40B4-BE49-F238E27FC236}">
                <a16:creationId xmlns:a16="http://schemas.microsoft.com/office/drawing/2014/main" id="{30B043BD-DB52-4194-A473-0DD1A745677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다음 행의 원문을 읽습니다.</a:t>
            </a:r>
          </a:p>
        </p:txBody>
      </p:sp>
      <p:sp>
        <p:nvSpPr>
          <p:cNvPr id="6" name="">
            <a:extLst xmlns:a="http://schemas.openxmlformats.org/drawingml/2006/main">
              <a:ext uri="{FF2B5EF4-FFF2-40B4-BE49-F238E27FC236}">
                <a16:creationId xmlns:a16="http://schemas.microsoft.com/office/drawing/2014/main" id="{0D4C9355-5EEF-4673-8A44-CDBC0AC9860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84</a:t>
            </a:r>
          </a:p>
        </p:txBody>
      </p:sp>
    </p:spTree>
    <p:extLst>
      <p:ext uri="{BB962C8B-B14F-4D97-AF65-F5344CB8AC3E}">
        <p14:creationId xmlns:p14="http://schemas.microsoft.com/office/powerpoint/2010/main" val="867248"/>
      </p:ext>
    </p:extLst>
  </p:cSld>
</p:sld>
</file>

<file path=ppt/slides/slide8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291B693-9DA3-4FF7-BFF7-C965683F125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2644BB50-A4B7-4655-BFF6-63C190DA14C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제공 파일의 분류 결과</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항목</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오류 포함</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정상 파일</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전체</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6</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4</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수락</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4</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4</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미측정</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이슈</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0</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9BA81615-9735-4C4A-8FED-083F929ADF9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85</a:t>
            </a:r>
          </a:p>
        </p:txBody>
      </p:sp>
    </p:spTree>
    <p:extLst>
      <p:ext uri="{BB962C8B-B14F-4D97-AF65-F5344CB8AC3E}">
        <p14:creationId xmlns:p14="http://schemas.microsoft.com/office/powerpoint/2010/main" val="1874552171"/>
      </p:ext>
    </p:extLst>
  </p:cSld>
</p:sld>
</file>

<file path=ppt/slides/slide8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D0AABF-8CC2-4A7A-8FD5-F8BF3F3EC12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8496D159-C7F8-40A3-8C1F-C9555749997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평균을 계산할 대상</a:t>
            </a:r>
          </a:p>
        </p:txBody>
      </p:sp>
      <p:sp>
        <p:nvSpPr>
          <p:cNvPr id="3" name="">
            <a:extLst xmlns:a="http://schemas.openxmlformats.org/drawingml/2006/main">
              <a:ext uri="{FF2B5EF4-FFF2-40B4-BE49-F238E27FC236}">
                <a16:creationId xmlns:a16="http://schemas.microsoft.com/office/drawing/2014/main" id="{3A791BD3-B63C-47F9-896E-F61BE2AA621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수치 합을 수치 건수로 나눕니다.</a:t>
            </a:r>
          </a:p>
        </p:txBody>
      </p:sp>
      <p:sp>
        <p:nvSpPr>
          <p:cNvPr id="4" name="">
            <a:extLst xmlns:a="http://schemas.openxmlformats.org/drawingml/2006/main">
              <a:ext uri="{FF2B5EF4-FFF2-40B4-BE49-F238E27FC236}">
                <a16:creationId xmlns:a16="http://schemas.microsoft.com/office/drawing/2014/main" id="{0C999A72-5E60-4D70-8591-BDADD2A54C7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 0은 수치에 포함합니다.</a:t>
            </a:r>
          </a:p>
        </p:txBody>
      </p:sp>
      <p:sp>
        <p:nvSpPr>
          <p:cNvPr id="5" name="">
            <a:extLst xmlns:a="http://schemas.openxmlformats.org/drawingml/2006/main">
              <a:ext uri="{FF2B5EF4-FFF2-40B4-BE49-F238E27FC236}">
                <a16:creationId xmlns:a16="http://schemas.microsoft.com/office/drawing/2014/main" id="{DB41041B-525F-47A4-9F1A-1E889CE1CFB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수치가 없으면 평균은 None입니다.</a:t>
            </a:r>
          </a:p>
        </p:txBody>
      </p:sp>
      <p:sp>
        <p:nvSpPr>
          <p:cNvPr id="6" name="">
            <a:extLst xmlns:a="http://schemas.openxmlformats.org/drawingml/2006/main">
              <a:ext uri="{FF2B5EF4-FFF2-40B4-BE49-F238E27FC236}">
                <a16:creationId xmlns:a16="http://schemas.microsoft.com/office/drawing/2014/main" id="{2AF89372-2A4B-4214-BB23-ADFA3A03D1E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86</a:t>
            </a:r>
          </a:p>
        </p:txBody>
      </p:sp>
    </p:spTree>
    <p:extLst>
      <p:ext uri="{BB962C8B-B14F-4D97-AF65-F5344CB8AC3E}">
        <p14:creationId xmlns:p14="http://schemas.microsoft.com/office/powerpoint/2010/main" val="1188269650"/>
      </p:ext>
    </p:extLst>
  </p:cSld>
</p:sld>
</file>

<file path=ppt/slides/slide8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84CE548-19C5-41B7-B105-130701BC3ED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23773EB6-FAD1-4FB6-BD3A-A4A9A51AED9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입력이 비었을 때</a:t>
            </a:r>
          </a:p>
        </p:txBody>
      </p:sp>
      <p:graphicFrame>
        <p:nvGraphicFramePr>
          <p:cNvPr id="7" name=""/>
          <p:cNvGraphicFramePr/>
          <p:nvPr/>
        </p:nvGraphicFramePr>
        <p:xfrm>
          <a:off xmlns:a="http://schemas.openxmlformats.org/drawingml/2006/main" x="762000" y="2333625"/>
          <a:ext xmlns:a="http://schemas.openxmlformats.org/drawingml/2006/main" cx="10668000" cy="2171700"/>
        </p:xfrm>
        <a:graphic xmlns:a="http://schemas.openxmlformats.org/drawingml/2006/main">
          <a:graphicData uri="http://schemas.openxmlformats.org/drawingml/2006/table">
            <a:tbl>
              <a:tblPr firstRow="1" bandRow="0"/>
              <a:tblGrid>
                <a:gridCol w="2667000"/>
                <a:gridCol w="2667000"/>
                <a:gridCol w="2667000"/>
                <a:gridCol w="2667000"/>
              </a:tblGrid>
              <a:tr h="723900">
                <a:tc>
                  <a:txBody>
                    <a:bodyPr wrap="square"/>
                    <a:lstStyle/>
                    <a:p>
                      <a:pPr>
                        <a:lnSpc>
                          <a:spcPct val="93000"/>
                        </a:lnSpc>
                        <a:buNone/>
                      </a:pPr>
                      <a:r>
                        <a:rPr sz="2100" b="1">
                          <a:solidFill>
                            <a:srgbClr val="FFFFFF"/>
                          </a:solidFill>
                          <a:latin typeface="Malgun Gothic"/>
                          <a:ea typeface="Malgun Gothic"/>
                          <a:cs typeface="Malgun Gothic"/>
                        </a:rPr>
                        <a:t>입력</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전체</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미측정</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평균</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헤더만</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None</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두 행 모두 빈값</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None</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397974C0-FD94-40AB-B648-3D7663CCF8B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87</a:t>
            </a:r>
          </a:p>
        </p:txBody>
      </p:sp>
    </p:spTree>
    <p:extLst>
      <p:ext uri="{BB962C8B-B14F-4D97-AF65-F5344CB8AC3E}">
        <p14:creationId xmlns:p14="http://schemas.microsoft.com/office/powerpoint/2010/main" val="1708634776"/>
      </p:ext>
    </p:extLst>
  </p:cSld>
</p:sld>
</file>

<file path=ppt/slides/slide8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A8409C-7AE8-489B-8FF1-BC73AB9ECA9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34BF0136-C824-44F4-91F9-2EA9A8C92F2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같은 None, 다른 원문입니다</a:t>
            </a:r>
          </a:p>
        </p:txBody>
      </p:sp>
      <p:sp>
        <p:nvSpPr>
          <p:cNvPr id="3" name="">
            <a:extLst xmlns:a="http://schemas.openxmlformats.org/drawingml/2006/main">
              <a:ext uri="{FF2B5EF4-FFF2-40B4-BE49-F238E27FC236}">
                <a16:creationId xmlns:a16="http://schemas.microsoft.com/office/drawing/2014/main" id="{8E63DB4D-86F9-4C12-9D47-28FE22E3919C}"/>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헤더만 있으면 기록이 0건입니다.</a:t>
            </a:r>
          </a:p>
        </p:txBody>
      </p:sp>
      <p:sp>
        <p:nvSpPr>
          <p:cNvPr id="4" name="">
            <a:extLst xmlns:a="http://schemas.openxmlformats.org/drawingml/2006/main">
              <a:ext uri="{FF2B5EF4-FFF2-40B4-BE49-F238E27FC236}">
                <a16:creationId xmlns:a16="http://schemas.microsoft.com/office/drawing/2014/main" id="{3AF1DD42-2276-405B-A4DE-37572B52EAB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전부 미측정이면 기록은 존재합니다.</a:t>
            </a:r>
          </a:p>
        </p:txBody>
      </p:sp>
      <p:sp>
        <p:nvSpPr>
          <p:cNvPr id="5" name="">
            <a:extLst xmlns:a="http://schemas.openxmlformats.org/drawingml/2006/main">
              <a:ext uri="{FF2B5EF4-FFF2-40B4-BE49-F238E27FC236}">
                <a16:creationId xmlns:a16="http://schemas.microsoft.com/office/drawing/2014/main" id="{EB07EE4A-6819-4B8D-9A70-256B345A96C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평균이 없다는 결과만으로 둘을 합치지 않습니다.</a:t>
            </a:r>
          </a:p>
        </p:txBody>
      </p:sp>
      <p:sp>
        <p:nvSpPr>
          <p:cNvPr id="6" name="">
            <a:extLst xmlns:a="http://schemas.openxmlformats.org/drawingml/2006/main">
              <a:ext uri="{FF2B5EF4-FFF2-40B4-BE49-F238E27FC236}">
                <a16:creationId xmlns:a16="http://schemas.microsoft.com/office/drawing/2014/main" id="{6C22D05A-2926-4FFC-910C-33413C00FEE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88</a:t>
            </a:r>
          </a:p>
        </p:txBody>
      </p:sp>
    </p:spTree>
    <p:extLst>
      <p:ext uri="{BB962C8B-B14F-4D97-AF65-F5344CB8AC3E}">
        <p14:creationId xmlns:p14="http://schemas.microsoft.com/office/powerpoint/2010/main" val="508241274"/>
      </p:ext>
    </p:extLst>
  </p:cSld>
</p:sld>
</file>

<file path=ppt/slides/slide8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359A38F-B17B-466B-863B-DCEEA0D44AB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EC37AD6-EE58-4A78-BAE2-5B4B36B1537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사용 안내에 꼭 남길 것</a:t>
            </a:r>
          </a:p>
        </p:txBody>
      </p:sp>
      <p:sp>
        <p:nvSpPr>
          <p:cNvPr id="3" name="">
            <a:extLst xmlns:a="http://schemas.openxmlformats.org/drawingml/2006/main">
              <a:ext uri="{FF2B5EF4-FFF2-40B4-BE49-F238E27FC236}">
                <a16:creationId xmlns:a16="http://schemas.microsoft.com/office/drawing/2014/main" id="{0E00FFAE-57CE-44DA-BB7D-3BA7EE408915}"/>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 파일과 결과 파일의 주소</a:t>
            </a:r>
          </a:p>
        </p:txBody>
      </p:sp>
      <p:sp>
        <p:nvSpPr>
          <p:cNvPr id="4" name="">
            <a:extLst xmlns:a="http://schemas.openxmlformats.org/drawingml/2006/main">
              <a:ext uri="{FF2B5EF4-FFF2-40B4-BE49-F238E27FC236}">
                <a16:creationId xmlns:a16="http://schemas.microsoft.com/office/drawing/2014/main" id="{83FE05F2-6826-4444-AD43-8F7FD750E13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실행 명령과 실제 결과</a:t>
            </a:r>
          </a:p>
        </p:txBody>
      </p:sp>
      <p:sp>
        <p:nvSpPr>
          <p:cNvPr id="5" name="">
            <a:extLst xmlns:a="http://schemas.openxmlformats.org/drawingml/2006/main">
              <a:ext uri="{FF2B5EF4-FFF2-40B4-BE49-F238E27FC236}">
                <a16:creationId xmlns:a16="http://schemas.microsoft.com/office/drawing/2014/main" id="{3929B4B7-2CDA-4CAB-8DFE-D6BBF8A9A21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이슈의 뜻과 확인하지 않은 범위</a:t>
            </a:r>
          </a:p>
        </p:txBody>
      </p:sp>
      <p:sp>
        <p:nvSpPr>
          <p:cNvPr id="6" name="">
            <a:extLst xmlns:a="http://schemas.openxmlformats.org/drawingml/2006/main">
              <a:ext uri="{FF2B5EF4-FFF2-40B4-BE49-F238E27FC236}">
                <a16:creationId xmlns:a16="http://schemas.microsoft.com/office/drawing/2014/main" id="{26B9DE47-A26D-4E61-B8F1-7EA387C61690}"/>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원문 수정의 근거</a:t>
            </a:r>
          </a:p>
        </p:txBody>
      </p:sp>
      <p:sp>
        <p:nvSpPr>
          <p:cNvPr id="7" name="">
            <a:extLst xmlns:a="http://schemas.openxmlformats.org/drawingml/2006/main">
              <a:ext uri="{FF2B5EF4-FFF2-40B4-BE49-F238E27FC236}">
                <a16:creationId xmlns:a16="http://schemas.microsoft.com/office/drawing/2014/main" id="{900A47E9-F1DB-4BF5-B2D1-8BA8B9078C5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89</a:t>
            </a:r>
          </a:p>
        </p:txBody>
      </p:sp>
    </p:spTree>
    <p:extLst>
      <p:ext uri="{BB962C8B-B14F-4D97-AF65-F5344CB8AC3E}">
        <p14:creationId xmlns:p14="http://schemas.microsoft.com/office/powerpoint/2010/main" val="1778008355"/>
      </p:ext>
    </p:extLst>
  </p:cSld>
</p:sld>
</file>

<file path=ppt/slides/slide9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F69B000-B444-4B63-B7CD-8DB9A902629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1A03E0A-4F0C-4FDB-9D10-2231330C311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260FE40A-F000-437F-9396-AE451759C13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원문 "10"·빈값·"20"·"오류"·"0"를 봅니다.</a:t>
            </a:r>
          </a:p>
        </p:txBody>
      </p:sp>
      <p:sp>
        <p:nvSpPr>
          <p:cNvPr id="4" name="">
            <a:extLst xmlns:a="http://schemas.openxmlformats.org/drawingml/2006/main">
              <a:ext uri="{FF2B5EF4-FFF2-40B4-BE49-F238E27FC236}">
                <a16:creationId xmlns:a16="http://schemas.microsoft.com/office/drawing/2014/main" id="{289F4DCE-62EC-40D6-9F2A-ED288260E5F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90</a:t>
            </a:r>
          </a:p>
        </p:txBody>
      </p:sp>
    </p:spTree>
    <p:extLst>
      <p:ext uri="{BB962C8B-B14F-4D97-AF65-F5344CB8AC3E}">
        <p14:creationId xmlns:p14="http://schemas.microsoft.com/office/powerpoint/2010/main" val="700355515"/>
      </p:ext>
    </p:extLst>
  </p:cSld>
</p:sld>
</file>

<file path=ppt/slides/slide9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0B29546-C8C1-4C62-B750-5435D73DDA5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E895319-FD1A-4BF3-8807-C5EA44D3E9B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항목</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결과</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전체</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5</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수치·미측정·이슈</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3·1·1</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수락</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4</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평균</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30÷3=10</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13B34C1B-A6EE-4B3B-B629-5F05EDBCC84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91</a:t>
            </a:r>
          </a:p>
        </p:txBody>
      </p:sp>
    </p:spTree>
    <p:extLst>
      <p:ext uri="{BB962C8B-B14F-4D97-AF65-F5344CB8AC3E}">
        <p14:creationId xmlns:p14="http://schemas.microsoft.com/office/powerpoint/2010/main" val="743099351"/>
      </p:ext>
    </p:extLst>
  </p:cSld>
</p:sld>
</file>

<file path=ppt/slides/slide9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AD0986E-0B65-4B3D-9DDF-0B4BA1ECA5C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F25B977-D8D1-4D30-BFC9-FB8FAA0AE1D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93A4E29A-E7F5-433E-93DA-ED3ADA25968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 복습: "5"·"15"·빈값·"뜨거움"·빈값·"0"</a:t>
            </a:r>
          </a:p>
        </p:txBody>
      </p:sp>
      <p:sp>
        <p:nvSpPr>
          <p:cNvPr id="4" name="">
            <a:extLst xmlns:a="http://schemas.openxmlformats.org/drawingml/2006/main">
              <a:ext uri="{FF2B5EF4-FFF2-40B4-BE49-F238E27FC236}">
                <a16:creationId xmlns:a16="http://schemas.microsoft.com/office/drawing/2014/main" id="{EA867D66-7A1D-4E94-B5EB-7FD42363DC4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분류 건수와 평균, 두 검산식을 적으세요.</a:t>
            </a:r>
          </a:p>
        </p:txBody>
      </p:sp>
      <p:sp>
        <p:nvSpPr>
          <p:cNvPr id="5" name="">
            <a:extLst xmlns:a="http://schemas.openxmlformats.org/drawingml/2006/main">
              <a:ext uri="{FF2B5EF4-FFF2-40B4-BE49-F238E27FC236}">
                <a16:creationId xmlns:a16="http://schemas.microsoft.com/office/drawing/2014/main" id="{66DEFD3C-4B3A-4976-94B7-35B90DF389A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92</a:t>
            </a:r>
          </a:p>
        </p:txBody>
      </p:sp>
    </p:spTree>
    <p:extLst>
      <p:ext uri="{BB962C8B-B14F-4D97-AF65-F5344CB8AC3E}">
        <p14:creationId xmlns:p14="http://schemas.microsoft.com/office/powerpoint/2010/main" val="1900753896"/>
      </p:ext>
    </p:extLst>
  </p:cSld>
</p:sld>
</file>

<file path=ppt/slides/slide9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35B22D2-DC45-42F0-ABB0-06C15DFAE87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1B32C16C-2FCF-4D3C-A8D0-2F7482D5A2C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A1099C7F-9799-46C2-8310-D2D65481173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전체6, 수치3, 미측정2, 이슈1, 수락5입니다.</a:t>
            </a:r>
          </a:p>
        </p:txBody>
      </p:sp>
      <p:sp>
        <p:nvSpPr>
          <p:cNvPr id="4" name="">
            <a:extLst xmlns:a="http://schemas.openxmlformats.org/drawingml/2006/main">
              <a:ext uri="{FF2B5EF4-FFF2-40B4-BE49-F238E27FC236}">
                <a16:creationId xmlns:a16="http://schemas.microsoft.com/office/drawing/2014/main" id="{ED88DF88-8473-42B9-8B00-E7F19A41E10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평균6.67, 6=5+1, 5=3+2입니다.</a:t>
            </a:r>
          </a:p>
        </p:txBody>
      </p:sp>
      <p:sp>
        <p:nvSpPr>
          <p:cNvPr id="5" name="">
            <a:extLst xmlns:a="http://schemas.openxmlformats.org/drawingml/2006/main">
              <a:ext uri="{FF2B5EF4-FFF2-40B4-BE49-F238E27FC236}">
                <a16:creationId xmlns:a16="http://schemas.microsoft.com/office/drawing/2014/main" id="{ABC6F9ED-79F6-4198-A3E2-18DF76CB007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93</a:t>
            </a:r>
          </a:p>
        </p:txBody>
      </p:sp>
    </p:spTree>
    <p:extLst>
      <p:ext uri="{BB962C8B-B14F-4D97-AF65-F5344CB8AC3E}">
        <p14:creationId xmlns:p14="http://schemas.microsoft.com/office/powerpoint/2010/main" val="72477618"/>
      </p:ext>
    </p:extLst>
  </p:cSld>
</p:sld>
</file>

<file path=ppt/slides/slide9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60BE749-6935-421E-AD2C-1D5C8637647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5F377081-5D6B-4D58-8BC0-5770B1621AE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파일별 비교</a:t>
            </a:r>
          </a:p>
        </p:txBody>
      </p:sp>
      <p:sp>
        <p:nvSpPr>
          <p:cNvPr id="3" name="">
            <a:extLst xmlns:a="http://schemas.openxmlformats.org/drawingml/2006/main">
              <a:ext uri="{FF2B5EF4-FFF2-40B4-BE49-F238E27FC236}">
                <a16:creationId xmlns:a16="http://schemas.microsoft.com/office/drawing/2014/main" id="{0B600E03-A3DE-4C4F-BA0A-A47E1112C0C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A17에서 정상·오류·빈 입력을 비교합니다.</a:t>
            </a:r>
          </a:p>
        </p:txBody>
      </p:sp>
      <p:sp>
        <p:nvSpPr>
          <p:cNvPr id="4" name="">
            <a:extLst xmlns:a="http://schemas.openxmlformats.org/drawingml/2006/main">
              <a:ext uri="{FF2B5EF4-FFF2-40B4-BE49-F238E27FC236}">
                <a16:creationId xmlns:a16="http://schemas.microsoft.com/office/drawing/2014/main" id="{07961DC3-E978-40D9-BC27-9C3C7C75FEF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A18에 재현 가능한 사용 안내를 씁니다.</a:t>
            </a:r>
          </a:p>
        </p:txBody>
      </p:sp>
      <p:sp>
        <p:nvSpPr>
          <p:cNvPr id="5" name="">
            <a:extLst xmlns:a="http://schemas.openxmlformats.org/drawingml/2006/main">
              <a:ext uri="{FF2B5EF4-FFF2-40B4-BE49-F238E27FC236}">
                <a16:creationId xmlns:a16="http://schemas.microsoft.com/office/drawing/2014/main" id="{D26FA5C7-0C6D-49CA-87D0-C49FD56DE33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94</a:t>
            </a:r>
          </a:p>
        </p:txBody>
      </p:sp>
    </p:spTree>
    <p:extLst>
      <p:ext uri="{BB962C8B-B14F-4D97-AF65-F5344CB8AC3E}">
        <p14:creationId xmlns:p14="http://schemas.microsoft.com/office/powerpoint/2010/main" val="1661394475"/>
      </p:ext>
    </p:extLst>
  </p:cSld>
</p:sld>
</file>

<file path=ppt/slides/slide9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2115B3-0C3C-4215-90C8-8B7AC2B4175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C8E2E542-D2DA-456C-8148-D0B33DA0B07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6교시 확인</a:t>
            </a:r>
          </a:p>
        </p:txBody>
      </p:sp>
      <p:sp>
        <p:nvSpPr>
          <p:cNvPr id="3" name="">
            <a:extLst xmlns:a="http://schemas.openxmlformats.org/drawingml/2006/main">
              <a:ext uri="{FF2B5EF4-FFF2-40B4-BE49-F238E27FC236}">
                <a16:creationId xmlns:a16="http://schemas.microsoft.com/office/drawing/2014/main" id="{5741863B-51EA-4787-82FC-1B0566F2EA0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수락 건수는 숫자 건수와 다릅니다.</a:t>
            </a:r>
          </a:p>
        </p:txBody>
      </p:sp>
      <p:sp>
        <p:nvSpPr>
          <p:cNvPr id="4" name="">
            <a:extLst xmlns:a="http://schemas.openxmlformats.org/drawingml/2006/main">
              <a:ext uri="{FF2B5EF4-FFF2-40B4-BE49-F238E27FC236}">
                <a16:creationId xmlns:a16="http://schemas.microsoft.com/office/drawing/2014/main" id="{FC6175B7-6B49-42E1-A058-FE5068F8AB1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평균 없음과 실제 평균 0을 구별합니다.</a:t>
            </a:r>
          </a:p>
        </p:txBody>
      </p:sp>
      <p:sp>
        <p:nvSpPr>
          <p:cNvPr id="5" name="">
            <a:extLst xmlns:a="http://schemas.openxmlformats.org/drawingml/2006/main">
              <a:ext uri="{FF2B5EF4-FFF2-40B4-BE49-F238E27FC236}">
                <a16:creationId xmlns:a16="http://schemas.microsoft.com/office/drawing/2014/main" id="{AAE17DEB-F32E-422C-9598-AD81C4526342}"/>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파일명과 실행 범위를 함께 보고합니다.</a:t>
            </a:r>
          </a:p>
        </p:txBody>
      </p:sp>
      <p:sp>
        <p:nvSpPr>
          <p:cNvPr id="6" name="">
            <a:extLst xmlns:a="http://schemas.openxmlformats.org/drawingml/2006/main">
              <a:ext uri="{FF2B5EF4-FFF2-40B4-BE49-F238E27FC236}">
                <a16:creationId xmlns:a16="http://schemas.microsoft.com/office/drawing/2014/main" id="{D075368B-FB12-48BB-8B71-1A9890FF1CD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95</a:t>
            </a:r>
          </a:p>
        </p:txBody>
      </p:sp>
    </p:spTree>
    <p:extLst>
      <p:ext uri="{BB962C8B-B14F-4D97-AF65-F5344CB8AC3E}">
        <p14:creationId xmlns:p14="http://schemas.microsoft.com/office/powerpoint/2010/main" val="1515313017"/>
      </p:ext>
    </p:extLst>
  </p:cSld>
</p:sld>
</file>

<file path=ppt/slides/slide9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CA2114-45CA-45CE-808A-674B5F8CBAD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10/15  Python 심화 · 함수와 파일 검사</a:t>
            </a:r>
          </a:p>
        </p:txBody>
      </p:sp>
      <p:sp>
        <p:nvSpPr>
          <p:cNvPr id="2" name="">
            <a:extLst xmlns:a="http://schemas.openxmlformats.org/drawingml/2006/main">
              <a:ext uri="{FF2B5EF4-FFF2-40B4-BE49-F238E27FC236}">
                <a16:creationId xmlns:a16="http://schemas.microsoft.com/office/drawing/2014/main" id="{8BB4168D-6515-437F-BC3B-D9AB72D811E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 결과를 설명하기</a:t>
            </a:r>
          </a:p>
        </p:txBody>
      </p:sp>
      <p:sp>
        <p:nvSpPr>
          <p:cNvPr id="3" name="">
            <a:extLst xmlns:a="http://schemas.openxmlformats.org/drawingml/2006/main">
              <a:ext uri="{FF2B5EF4-FFF2-40B4-BE49-F238E27FC236}">
                <a16:creationId xmlns:a16="http://schemas.microsoft.com/office/drawing/2014/main" id="{6967EC1D-E688-4FF4-A370-869A6A465029}"/>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무엇을 입력했는지 말합니다.</a:t>
            </a:r>
          </a:p>
        </p:txBody>
      </p:sp>
      <p:sp>
        <p:nvSpPr>
          <p:cNvPr id="4" name="">
            <a:extLst xmlns:a="http://schemas.openxmlformats.org/drawingml/2006/main">
              <a:ext uri="{FF2B5EF4-FFF2-40B4-BE49-F238E27FC236}">
                <a16:creationId xmlns:a16="http://schemas.microsoft.com/office/drawing/2014/main" id="{7DC6903C-1413-498F-9E95-222CB625062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어떤 규칙을 적용했는지 말합니다.</a:t>
            </a:r>
          </a:p>
        </p:txBody>
      </p:sp>
      <p:sp>
        <p:nvSpPr>
          <p:cNvPr id="5" name="">
            <a:extLst xmlns:a="http://schemas.openxmlformats.org/drawingml/2006/main">
              <a:ext uri="{FF2B5EF4-FFF2-40B4-BE49-F238E27FC236}">
                <a16:creationId xmlns:a16="http://schemas.microsoft.com/office/drawing/2014/main" id="{6E885809-0189-42E5-A771-E975C2A20F8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실제로 확인한 결과와 남은 질문을 구별합니다.</a:t>
            </a:r>
          </a:p>
        </p:txBody>
      </p:sp>
      <p:sp>
        <p:nvSpPr>
          <p:cNvPr id="6" name="">
            <a:extLst xmlns:a="http://schemas.openxmlformats.org/drawingml/2006/main">
              <a:ext uri="{FF2B5EF4-FFF2-40B4-BE49-F238E27FC236}">
                <a16:creationId xmlns:a16="http://schemas.microsoft.com/office/drawing/2014/main" id="{9AB64BA9-736C-4994-B1EC-AC90A61F12C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96</a:t>
            </a:r>
          </a:p>
        </p:txBody>
      </p:sp>
    </p:spTree>
    <p:extLst>
      <p:ext uri="{BB962C8B-B14F-4D97-AF65-F5344CB8AC3E}">
        <p14:creationId xmlns:p14="http://schemas.microsoft.com/office/powerpoint/2010/main" val="136542306"/>
      </p:ext>
    </p:extLst>
  </p:cSld>
</p:sld>
</file>

<file path=ppt/slides/slide9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2D99C4-6DE4-41A3-AEFE-20CC2EC03F2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10/15  Python 심화 · 함수와 파일 검사</a:t>
            </a:r>
          </a:p>
        </p:txBody>
      </p:sp>
      <p:sp>
        <p:nvSpPr>
          <p:cNvPr id="2" name="">
            <a:extLst xmlns:a="http://schemas.openxmlformats.org/drawingml/2006/main">
              <a:ext uri="{FF2B5EF4-FFF2-40B4-BE49-F238E27FC236}">
                <a16:creationId xmlns:a16="http://schemas.microsoft.com/office/drawing/2014/main" id="{807F46E3-D98B-4EEF-8C99-7376D303FCF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저장하고 다음 사람에게 넘기기</a:t>
            </a:r>
          </a:p>
        </p:txBody>
      </p:sp>
      <p:sp>
        <p:nvSpPr>
          <p:cNvPr id="3" name="">
            <a:extLst xmlns:a="http://schemas.openxmlformats.org/drawingml/2006/main">
              <a:ext uri="{FF2B5EF4-FFF2-40B4-BE49-F238E27FC236}">
                <a16:creationId xmlns:a16="http://schemas.microsoft.com/office/drawing/2014/main" id="{DEE09208-00A6-4E62-BD7A-FA6811F6F4B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작업 파일의 이름과 위치를 적습니다.</a:t>
            </a:r>
          </a:p>
        </p:txBody>
      </p:sp>
      <p:sp>
        <p:nvSpPr>
          <p:cNvPr id="4" name="">
            <a:extLst xmlns:a="http://schemas.openxmlformats.org/drawingml/2006/main">
              <a:ext uri="{FF2B5EF4-FFF2-40B4-BE49-F238E27FC236}">
                <a16:creationId xmlns:a16="http://schemas.microsoft.com/office/drawing/2014/main" id="{6CC7EFA2-6C08-4ADE-81A6-8FD748D2C5D9}"/>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수정 이유와 확인 결과를 남깁니다.</a:t>
            </a:r>
          </a:p>
        </p:txBody>
      </p:sp>
      <p:sp>
        <p:nvSpPr>
          <p:cNvPr id="5" name="">
            <a:extLst xmlns:a="http://schemas.openxmlformats.org/drawingml/2006/main">
              <a:ext uri="{FF2B5EF4-FFF2-40B4-BE49-F238E27FC236}">
                <a16:creationId xmlns:a16="http://schemas.microsoft.com/office/drawing/2014/main" id="{9D876CD8-D9B8-4632-963C-B088995DCAC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모르는 실제 값은 추측해서 채우지 않습니다.</a:t>
            </a:r>
          </a:p>
        </p:txBody>
      </p:sp>
      <p:sp>
        <p:nvSpPr>
          <p:cNvPr id="6" name="">
            <a:extLst xmlns:a="http://schemas.openxmlformats.org/drawingml/2006/main">
              <a:ext uri="{FF2B5EF4-FFF2-40B4-BE49-F238E27FC236}">
                <a16:creationId xmlns:a16="http://schemas.microsoft.com/office/drawing/2014/main" id="{DD25D505-116E-43EB-A438-6DC1E02407E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97</a:t>
            </a:r>
          </a:p>
        </p:txBody>
      </p:sp>
    </p:spTree>
    <p:extLst>
      <p:ext uri="{BB962C8B-B14F-4D97-AF65-F5344CB8AC3E}">
        <p14:creationId xmlns:p14="http://schemas.microsoft.com/office/powerpoint/2010/main" val="15995937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2026-10-05T03:02:52.0620000Z</dcterms:created>
  <dcterms:modified xsi:type="dcterms:W3CDTF">2026-10-05T03:02:52.0620000Z</dcterms:modified>
</coreProperties>
</file>