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cfe18246614ff4" /><Relationship Type="http://schemas.openxmlformats.org/officeDocument/2006/relationships/extended-properties" Target="/docProps/app.xml" Id="R87147205720748bb" /><Relationship Type="http://schemas.openxmlformats.org/officeDocument/2006/relationships/officeDocument" Target="/ppt/presentation.xml" Id="R4769ceec2cb0448d" /></Relationships>
</file>

<file path=ppt/presentation.xml><?xml version="1.0" encoding="utf-8"?>
<p:presentation xmlns:p="http://schemas.openxmlformats.org/presentationml/2006/main">
  <p:sldMasterIdLst>
    <p:sldMasterId xmlns:r="http://schemas.openxmlformats.org/officeDocument/2006/relationships" id="2147483648" r:id="R6193c2199aac4e91"/>
  </p:sldMasterIdLst>
  <p:notesMasterIdLst>
    <p:notesMasterId xmlns:r="http://schemas.openxmlformats.org/officeDocument/2006/relationships" r:id="R5ff438fd0cd34bef"/>
  </p:notesMasterIdLst>
  <p:sldIdLst>
    <p:sldId xmlns:r="http://schemas.openxmlformats.org/officeDocument/2006/relationships" id="256" r:id="R9b111fd2f5b24cfe"/>
    <p:sldId xmlns:r="http://schemas.openxmlformats.org/officeDocument/2006/relationships" id="257" r:id="Rcac3cc669a1b4f24"/>
    <p:sldId xmlns:r="http://schemas.openxmlformats.org/officeDocument/2006/relationships" id="258" r:id="R9dba37a98a1e4006"/>
    <p:sldId xmlns:r="http://schemas.openxmlformats.org/officeDocument/2006/relationships" id="259" r:id="R14c498bd5d864d19"/>
    <p:sldId xmlns:r="http://schemas.openxmlformats.org/officeDocument/2006/relationships" id="260" r:id="R85b5ecc656cb478a"/>
    <p:sldId xmlns:r="http://schemas.openxmlformats.org/officeDocument/2006/relationships" id="261" r:id="R736911756bfd43f8"/>
    <p:sldId xmlns:r="http://schemas.openxmlformats.org/officeDocument/2006/relationships" id="262" r:id="Rc6e2895623c1470a"/>
    <p:sldId xmlns:r="http://schemas.openxmlformats.org/officeDocument/2006/relationships" id="263" r:id="R005b213d8ecf4014"/>
    <p:sldId xmlns:r="http://schemas.openxmlformats.org/officeDocument/2006/relationships" id="264" r:id="R7ee9c440a7344dcc"/>
    <p:sldId xmlns:r="http://schemas.openxmlformats.org/officeDocument/2006/relationships" id="265" r:id="R361938402a024679"/>
    <p:sldId xmlns:r="http://schemas.openxmlformats.org/officeDocument/2006/relationships" id="266" r:id="Rfbacedcd7c1d45df"/>
    <p:sldId xmlns:r="http://schemas.openxmlformats.org/officeDocument/2006/relationships" id="267" r:id="Rdde1ac8558dd4e1d"/>
    <p:sldId xmlns:r="http://schemas.openxmlformats.org/officeDocument/2006/relationships" id="268" r:id="R1e23af8e878c4d28"/>
    <p:sldId xmlns:r="http://schemas.openxmlformats.org/officeDocument/2006/relationships" id="269" r:id="Rfd7c1f1f66514a75"/>
    <p:sldId xmlns:r="http://schemas.openxmlformats.org/officeDocument/2006/relationships" id="270" r:id="Rc21a1345b3054cf3"/>
    <p:sldId xmlns:r="http://schemas.openxmlformats.org/officeDocument/2006/relationships" id="271" r:id="Ree0363f862ab4427"/>
    <p:sldId xmlns:r="http://schemas.openxmlformats.org/officeDocument/2006/relationships" id="272" r:id="R3b11cee0d3464c51"/>
    <p:sldId xmlns:r="http://schemas.openxmlformats.org/officeDocument/2006/relationships" id="273" r:id="Rb125e037af794944"/>
    <p:sldId xmlns:r="http://schemas.openxmlformats.org/officeDocument/2006/relationships" id="274" r:id="R3955fb80d4934267"/>
    <p:sldId xmlns:r="http://schemas.openxmlformats.org/officeDocument/2006/relationships" id="275" r:id="Ra59b625229514c86"/>
    <p:sldId xmlns:r="http://schemas.openxmlformats.org/officeDocument/2006/relationships" id="276" r:id="Rf6258d7ec2d045e6"/>
    <p:sldId xmlns:r="http://schemas.openxmlformats.org/officeDocument/2006/relationships" id="277" r:id="R8038856ec88b4f38"/>
    <p:sldId xmlns:r="http://schemas.openxmlformats.org/officeDocument/2006/relationships" id="278" r:id="Rc8444880bf004f97"/>
    <p:sldId xmlns:r="http://schemas.openxmlformats.org/officeDocument/2006/relationships" id="279" r:id="R05fb0a6966254d6b"/>
    <p:sldId xmlns:r="http://schemas.openxmlformats.org/officeDocument/2006/relationships" id="280" r:id="R1499a8373bb5431b"/>
    <p:sldId xmlns:r="http://schemas.openxmlformats.org/officeDocument/2006/relationships" id="281" r:id="R44e4ab0f0ea5463e"/>
    <p:sldId xmlns:r="http://schemas.openxmlformats.org/officeDocument/2006/relationships" id="282" r:id="R539be034618c45e8"/>
    <p:sldId xmlns:r="http://schemas.openxmlformats.org/officeDocument/2006/relationships" id="283" r:id="R07d798746ac64c82"/>
    <p:sldId xmlns:r="http://schemas.openxmlformats.org/officeDocument/2006/relationships" id="284" r:id="R51c68b66e4a5485c"/>
    <p:sldId xmlns:r="http://schemas.openxmlformats.org/officeDocument/2006/relationships" id="285" r:id="R878d69a0be364144"/>
    <p:sldId xmlns:r="http://schemas.openxmlformats.org/officeDocument/2006/relationships" id="286" r:id="R03fca2293d694458"/>
    <p:sldId xmlns:r="http://schemas.openxmlformats.org/officeDocument/2006/relationships" id="287" r:id="Rc1181865def3497a"/>
    <p:sldId xmlns:r="http://schemas.openxmlformats.org/officeDocument/2006/relationships" id="288" r:id="R92914f2fba5143d9"/>
    <p:sldId xmlns:r="http://schemas.openxmlformats.org/officeDocument/2006/relationships" id="289" r:id="R1b5f7319f6764116"/>
    <p:sldId xmlns:r="http://schemas.openxmlformats.org/officeDocument/2006/relationships" id="290" r:id="R04eb4a2cf0974071"/>
    <p:sldId xmlns:r="http://schemas.openxmlformats.org/officeDocument/2006/relationships" id="291" r:id="R483d98b2c85e462a"/>
    <p:sldId xmlns:r="http://schemas.openxmlformats.org/officeDocument/2006/relationships" id="292" r:id="R4b643e525e2e4b7f"/>
    <p:sldId xmlns:r="http://schemas.openxmlformats.org/officeDocument/2006/relationships" id="293" r:id="R6efff6cce5514705"/>
    <p:sldId xmlns:r="http://schemas.openxmlformats.org/officeDocument/2006/relationships" id="294" r:id="R62ed9af0d65d487d"/>
    <p:sldId xmlns:r="http://schemas.openxmlformats.org/officeDocument/2006/relationships" id="295" r:id="R14e0ae854d3646c8"/>
    <p:sldId xmlns:r="http://schemas.openxmlformats.org/officeDocument/2006/relationships" id="296" r:id="Rbca69e74effe4fc8"/>
    <p:sldId xmlns:r="http://schemas.openxmlformats.org/officeDocument/2006/relationships" id="297" r:id="Re6e2681ef2b94edc"/>
    <p:sldId xmlns:r="http://schemas.openxmlformats.org/officeDocument/2006/relationships" id="298" r:id="R512978324d494992"/>
    <p:sldId xmlns:r="http://schemas.openxmlformats.org/officeDocument/2006/relationships" id="299" r:id="Rdc1aaf41a4f9479f"/>
    <p:sldId xmlns:r="http://schemas.openxmlformats.org/officeDocument/2006/relationships" id="300" r:id="Rf975722ac3234ece"/>
    <p:sldId xmlns:r="http://schemas.openxmlformats.org/officeDocument/2006/relationships" id="301" r:id="R44cd8737dd474b14"/>
    <p:sldId xmlns:r="http://schemas.openxmlformats.org/officeDocument/2006/relationships" id="302" r:id="Rb073ef4316384ef9"/>
    <p:sldId xmlns:r="http://schemas.openxmlformats.org/officeDocument/2006/relationships" id="303" r:id="R1ff9aa3153c340e9"/>
    <p:sldId xmlns:r="http://schemas.openxmlformats.org/officeDocument/2006/relationships" id="304" r:id="R675f8ef64b044e2c"/>
    <p:sldId xmlns:r="http://schemas.openxmlformats.org/officeDocument/2006/relationships" id="305" r:id="R4fe754e35c184408"/>
    <p:sldId xmlns:r="http://schemas.openxmlformats.org/officeDocument/2006/relationships" id="306" r:id="R4d3957bcdb9c4f8a"/>
    <p:sldId xmlns:r="http://schemas.openxmlformats.org/officeDocument/2006/relationships" id="307" r:id="R10d41405048b4c94"/>
    <p:sldId xmlns:r="http://schemas.openxmlformats.org/officeDocument/2006/relationships" id="308" r:id="R873a89974b214bc1"/>
    <p:sldId xmlns:r="http://schemas.openxmlformats.org/officeDocument/2006/relationships" id="309" r:id="Rf7f479d825f94526"/>
    <p:sldId xmlns:r="http://schemas.openxmlformats.org/officeDocument/2006/relationships" id="310" r:id="Rddbd4fd1e5864764"/>
    <p:sldId xmlns:r="http://schemas.openxmlformats.org/officeDocument/2006/relationships" id="311" r:id="R894bc941e3de4c2a"/>
    <p:sldId xmlns:r="http://schemas.openxmlformats.org/officeDocument/2006/relationships" id="312" r:id="R2a57563f16ad4057"/>
    <p:sldId xmlns:r="http://schemas.openxmlformats.org/officeDocument/2006/relationships" id="313" r:id="R2e6039b43e5e41f8"/>
    <p:sldId xmlns:r="http://schemas.openxmlformats.org/officeDocument/2006/relationships" id="314" r:id="Re6f09f22509a4f1b"/>
    <p:sldId xmlns:r="http://schemas.openxmlformats.org/officeDocument/2006/relationships" id="315" r:id="R61378f6fa8dc485a"/>
    <p:sldId xmlns:r="http://schemas.openxmlformats.org/officeDocument/2006/relationships" id="316" r:id="Ra3660e1559884890"/>
    <p:sldId xmlns:r="http://schemas.openxmlformats.org/officeDocument/2006/relationships" id="317" r:id="R40f0e9c9b5794298"/>
    <p:sldId xmlns:r="http://schemas.openxmlformats.org/officeDocument/2006/relationships" id="318" r:id="Rbb3612afe8944f80"/>
    <p:sldId xmlns:r="http://schemas.openxmlformats.org/officeDocument/2006/relationships" id="319" r:id="R82b57dffbc8a49f3"/>
    <p:sldId xmlns:r="http://schemas.openxmlformats.org/officeDocument/2006/relationships" id="320" r:id="R12f39fcd2a0f4331"/>
    <p:sldId xmlns:r="http://schemas.openxmlformats.org/officeDocument/2006/relationships" id="321" r:id="R58bb54916b3e430e"/>
    <p:sldId xmlns:r="http://schemas.openxmlformats.org/officeDocument/2006/relationships" id="322" r:id="R92d4bea24fb849cc"/>
    <p:sldId xmlns:r="http://schemas.openxmlformats.org/officeDocument/2006/relationships" id="323" r:id="R26c32a8fb6d64bcb"/>
    <p:sldId xmlns:r="http://schemas.openxmlformats.org/officeDocument/2006/relationships" id="324" r:id="Rae4bebb9418f483c"/>
    <p:sldId xmlns:r="http://schemas.openxmlformats.org/officeDocument/2006/relationships" id="325" r:id="R2b2ff0df4415426a"/>
    <p:sldId xmlns:r="http://schemas.openxmlformats.org/officeDocument/2006/relationships" id="326" r:id="R898a73754c9742d1"/>
    <p:sldId xmlns:r="http://schemas.openxmlformats.org/officeDocument/2006/relationships" id="327" r:id="Reb0d022803224dfd"/>
    <p:sldId xmlns:r="http://schemas.openxmlformats.org/officeDocument/2006/relationships" id="328" r:id="Rb0d34a3c2f3541d2"/>
    <p:sldId xmlns:r="http://schemas.openxmlformats.org/officeDocument/2006/relationships" id="329" r:id="R24fe4e4400c948ca"/>
    <p:sldId xmlns:r="http://schemas.openxmlformats.org/officeDocument/2006/relationships" id="330" r:id="R39e2120532b446d6"/>
    <p:sldId xmlns:r="http://schemas.openxmlformats.org/officeDocument/2006/relationships" id="331" r:id="R0a670b54eb5d4265"/>
    <p:sldId xmlns:r="http://schemas.openxmlformats.org/officeDocument/2006/relationships" id="332" r:id="R3bae3af213e74309"/>
    <p:sldId xmlns:r="http://schemas.openxmlformats.org/officeDocument/2006/relationships" id="333" r:id="Rba56cd401d374b1a"/>
    <p:sldId xmlns:r="http://schemas.openxmlformats.org/officeDocument/2006/relationships" id="334" r:id="Ra4fe3498ecc54d32"/>
    <p:sldId xmlns:r="http://schemas.openxmlformats.org/officeDocument/2006/relationships" id="335" r:id="R111a58094b554db8"/>
    <p:sldId xmlns:r="http://schemas.openxmlformats.org/officeDocument/2006/relationships" id="336" r:id="R173223dc8b7045df"/>
    <p:sldId xmlns:r="http://schemas.openxmlformats.org/officeDocument/2006/relationships" id="337" r:id="Rb6762ba0842d4307"/>
    <p:sldId xmlns:r="http://schemas.openxmlformats.org/officeDocument/2006/relationships" id="338" r:id="R5ce42dc681bf4a7c"/>
    <p:sldId xmlns:r="http://schemas.openxmlformats.org/officeDocument/2006/relationships" id="339" r:id="Rb38dd34b67754772"/>
    <p:sldId xmlns:r="http://schemas.openxmlformats.org/officeDocument/2006/relationships" id="340" r:id="Rbbedb31165da4f98"/>
    <p:sldId xmlns:r="http://schemas.openxmlformats.org/officeDocument/2006/relationships" id="341" r:id="Rc18ad31fa2384b65"/>
    <p:sldId xmlns:r="http://schemas.openxmlformats.org/officeDocument/2006/relationships" id="342" r:id="R897f5f23c8344386"/>
    <p:sldId xmlns:r="http://schemas.openxmlformats.org/officeDocument/2006/relationships" id="343" r:id="R9831bec944e74340"/>
    <p:sldId xmlns:r="http://schemas.openxmlformats.org/officeDocument/2006/relationships" id="344" r:id="Ra433355e3472471d"/>
    <p:sldId xmlns:r="http://schemas.openxmlformats.org/officeDocument/2006/relationships" id="345" r:id="Rb12fbf6e612b40f5"/>
    <p:sldId xmlns:r="http://schemas.openxmlformats.org/officeDocument/2006/relationships" id="346" r:id="Rcd6b2d8516b3472d"/>
    <p:sldId xmlns:r="http://schemas.openxmlformats.org/officeDocument/2006/relationships" id="347" r:id="Reef5298525f741ad"/>
    <p:sldId xmlns:r="http://schemas.openxmlformats.org/officeDocument/2006/relationships" id="348" r:id="Rd0ab01ce609044c2"/>
    <p:sldId xmlns:r="http://schemas.openxmlformats.org/officeDocument/2006/relationships" id="349" r:id="R00d69e8617484b57"/>
    <p:sldId xmlns:r="http://schemas.openxmlformats.org/officeDocument/2006/relationships" id="350" r:id="R100ee30345c741f1"/>
    <p:sldId xmlns:r="http://schemas.openxmlformats.org/officeDocument/2006/relationships" id="351" r:id="Rd3de7144343e4166"/>
    <p:sldId xmlns:r="http://schemas.openxmlformats.org/officeDocument/2006/relationships" id="352" r:id="R6fc6528a9fb44fc3"/>
    <p:sldId xmlns:r="http://schemas.openxmlformats.org/officeDocument/2006/relationships" id="353" r:id="Rb8a4d1847a77411a"/>
    <p:sldId xmlns:r="http://schemas.openxmlformats.org/officeDocument/2006/relationships" id="354" r:id="Ra41ad3b2db034ac0"/>
    <p:sldId xmlns:r="http://schemas.openxmlformats.org/officeDocument/2006/relationships" id="355" r:id="Rabdd0e0e9e924c38"/>
    <p:sldId xmlns:r="http://schemas.openxmlformats.org/officeDocument/2006/relationships" id="356" r:id="R742a04d33acd4540"/>
    <p:sldId xmlns:r="http://schemas.openxmlformats.org/officeDocument/2006/relationships" id="357" r:id="Rde2816193da64b66"/>
    <p:sldId xmlns:r="http://schemas.openxmlformats.org/officeDocument/2006/relationships" id="358" r:id="R6f95c3381646480b"/>
    <p:sldId xmlns:r="http://schemas.openxmlformats.org/officeDocument/2006/relationships" id="359" r:id="Rc7ff39d17d1143ff"/>
    <p:sldId xmlns:r="http://schemas.openxmlformats.org/officeDocument/2006/relationships" id="360" r:id="Rd4ba447a90d64bcf"/>
    <p:sldId xmlns:r="http://schemas.openxmlformats.org/officeDocument/2006/relationships" id="361" r:id="Rfb60b927870a4ea1"/>
    <p:sldId xmlns:r="http://schemas.openxmlformats.org/officeDocument/2006/relationships" id="362" r:id="R45e57430f0e04c09"/>
    <p:sldId xmlns:r="http://schemas.openxmlformats.org/officeDocument/2006/relationships" id="363" r:id="R5a265b8fa1414c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b3cb6604824f98" /><Relationship Type="http://schemas.openxmlformats.org/officeDocument/2006/relationships/slideMaster" Target="/ppt/slideMasters/slideMaster1.xml" Id="R6193c2199aac4e91" /><Relationship Type="http://schemas.openxmlformats.org/officeDocument/2006/relationships/notesMaster" Target="/ppt/notesMasters/notesMaster1.xml" Id="R5ff438fd0cd34bef" /><Relationship Type="http://schemas.openxmlformats.org/officeDocument/2006/relationships/presProps" Target="/ppt/presProps.xml" Id="R0d98d0e5510b4856" /><Relationship Type="http://schemas.openxmlformats.org/officeDocument/2006/relationships/tableStyles" Target="/ppt/tableStyles.xml" Id="R90de5f11abde4945" /><Relationship Type="http://schemas.openxmlformats.org/officeDocument/2006/relationships/slide" Target="/ppt/slides/slide1.xml" Id="R9b111fd2f5b24cfe" /><Relationship Type="http://schemas.openxmlformats.org/officeDocument/2006/relationships/slide" Target="/ppt/slides/slide2.xml" Id="Rcac3cc669a1b4f24" /><Relationship Type="http://schemas.openxmlformats.org/officeDocument/2006/relationships/slide" Target="/ppt/slides/slide3.xml" Id="R9dba37a98a1e4006" /><Relationship Type="http://schemas.openxmlformats.org/officeDocument/2006/relationships/slide" Target="/ppt/slides/slide4.xml" Id="R14c498bd5d864d19" /><Relationship Type="http://schemas.openxmlformats.org/officeDocument/2006/relationships/slide" Target="/ppt/slides/slide5.xml" Id="R85b5ecc656cb478a" /><Relationship Type="http://schemas.openxmlformats.org/officeDocument/2006/relationships/slide" Target="/ppt/slides/slide6.xml" Id="R736911756bfd43f8" /><Relationship Type="http://schemas.openxmlformats.org/officeDocument/2006/relationships/slide" Target="/ppt/slides/slide7.xml" Id="Rc6e2895623c1470a" /><Relationship Type="http://schemas.openxmlformats.org/officeDocument/2006/relationships/slide" Target="/ppt/slides/slide8.xml" Id="R005b213d8ecf4014" /><Relationship Type="http://schemas.openxmlformats.org/officeDocument/2006/relationships/slide" Target="/ppt/slides/slide9.xml" Id="R7ee9c440a7344dcc" /><Relationship Type="http://schemas.openxmlformats.org/officeDocument/2006/relationships/slide" Target="/ppt/slides/slide10.xml" Id="R361938402a024679" /><Relationship Type="http://schemas.openxmlformats.org/officeDocument/2006/relationships/slide" Target="/ppt/slides/slide11.xml" Id="Rfbacedcd7c1d45df" /><Relationship Type="http://schemas.openxmlformats.org/officeDocument/2006/relationships/slide" Target="/ppt/slides/slide12.xml" Id="Rdde1ac8558dd4e1d" /><Relationship Type="http://schemas.openxmlformats.org/officeDocument/2006/relationships/slide" Target="/ppt/slides/slide13.xml" Id="R1e23af8e878c4d28" /><Relationship Type="http://schemas.openxmlformats.org/officeDocument/2006/relationships/slide" Target="/ppt/slides/slide14.xml" Id="Rfd7c1f1f66514a75" /><Relationship Type="http://schemas.openxmlformats.org/officeDocument/2006/relationships/slide" Target="/ppt/slides/slide15.xml" Id="Rc21a1345b3054cf3" /><Relationship Type="http://schemas.openxmlformats.org/officeDocument/2006/relationships/slide" Target="/ppt/slides/slide16.xml" Id="Ree0363f862ab4427" /><Relationship Type="http://schemas.openxmlformats.org/officeDocument/2006/relationships/slide" Target="/ppt/slides/slide17.xml" Id="R3b11cee0d3464c51" /><Relationship Type="http://schemas.openxmlformats.org/officeDocument/2006/relationships/slide" Target="/ppt/slides/slide18.xml" Id="Rb125e037af794944" /><Relationship Type="http://schemas.openxmlformats.org/officeDocument/2006/relationships/slide" Target="/ppt/slides/slide19.xml" Id="R3955fb80d4934267" /><Relationship Type="http://schemas.openxmlformats.org/officeDocument/2006/relationships/slide" Target="/ppt/slides/slide20.xml" Id="Ra59b625229514c86" /><Relationship Type="http://schemas.openxmlformats.org/officeDocument/2006/relationships/slide" Target="/ppt/slides/slide21.xml" Id="Rf6258d7ec2d045e6" /><Relationship Type="http://schemas.openxmlformats.org/officeDocument/2006/relationships/slide" Target="/ppt/slides/slide22.xml" Id="R8038856ec88b4f38" /><Relationship Type="http://schemas.openxmlformats.org/officeDocument/2006/relationships/slide" Target="/ppt/slides/slide23.xml" Id="Rc8444880bf004f97" /><Relationship Type="http://schemas.openxmlformats.org/officeDocument/2006/relationships/slide" Target="/ppt/slides/slide24.xml" Id="R05fb0a6966254d6b" /><Relationship Type="http://schemas.openxmlformats.org/officeDocument/2006/relationships/slide" Target="/ppt/slides/slide25.xml" Id="R1499a8373bb5431b" /><Relationship Type="http://schemas.openxmlformats.org/officeDocument/2006/relationships/slide" Target="/ppt/slides/slide26.xml" Id="R44e4ab0f0ea5463e" /><Relationship Type="http://schemas.openxmlformats.org/officeDocument/2006/relationships/slide" Target="/ppt/slides/slide27.xml" Id="R539be034618c45e8" /><Relationship Type="http://schemas.openxmlformats.org/officeDocument/2006/relationships/slide" Target="/ppt/slides/slide28.xml" Id="R07d798746ac64c82" /><Relationship Type="http://schemas.openxmlformats.org/officeDocument/2006/relationships/slide" Target="/ppt/slides/slide29.xml" Id="R51c68b66e4a5485c" /><Relationship Type="http://schemas.openxmlformats.org/officeDocument/2006/relationships/slide" Target="/ppt/slides/slide30.xml" Id="R878d69a0be364144" /><Relationship Type="http://schemas.openxmlformats.org/officeDocument/2006/relationships/slide" Target="/ppt/slides/slide31.xml" Id="R03fca2293d694458" /><Relationship Type="http://schemas.openxmlformats.org/officeDocument/2006/relationships/slide" Target="/ppt/slides/slide32.xml" Id="Rc1181865def3497a" /><Relationship Type="http://schemas.openxmlformats.org/officeDocument/2006/relationships/slide" Target="/ppt/slides/slide33.xml" Id="R92914f2fba5143d9" /><Relationship Type="http://schemas.openxmlformats.org/officeDocument/2006/relationships/slide" Target="/ppt/slides/slide34.xml" Id="R1b5f7319f6764116" /><Relationship Type="http://schemas.openxmlformats.org/officeDocument/2006/relationships/slide" Target="/ppt/slides/slide35.xml" Id="R04eb4a2cf0974071" /><Relationship Type="http://schemas.openxmlformats.org/officeDocument/2006/relationships/slide" Target="/ppt/slides/slide36.xml" Id="R483d98b2c85e462a" /><Relationship Type="http://schemas.openxmlformats.org/officeDocument/2006/relationships/slide" Target="/ppt/slides/slide37.xml" Id="R4b643e525e2e4b7f" /><Relationship Type="http://schemas.openxmlformats.org/officeDocument/2006/relationships/slide" Target="/ppt/slides/slide38.xml" Id="R6efff6cce5514705" /><Relationship Type="http://schemas.openxmlformats.org/officeDocument/2006/relationships/slide" Target="/ppt/slides/slide39.xml" Id="R62ed9af0d65d487d" /><Relationship Type="http://schemas.openxmlformats.org/officeDocument/2006/relationships/slide" Target="/ppt/slides/slide40.xml" Id="R14e0ae854d3646c8" /><Relationship Type="http://schemas.openxmlformats.org/officeDocument/2006/relationships/slide" Target="/ppt/slides/slide41.xml" Id="Rbca69e74effe4fc8" /><Relationship Type="http://schemas.openxmlformats.org/officeDocument/2006/relationships/slide" Target="/ppt/slides/slide42.xml" Id="Re6e2681ef2b94edc" /><Relationship Type="http://schemas.openxmlformats.org/officeDocument/2006/relationships/slide" Target="/ppt/slides/slide43.xml" Id="R512978324d494992" /><Relationship Type="http://schemas.openxmlformats.org/officeDocument/2006/relationships/slide" Target="/ppt/slides/slide44.xml" Id="Rdc1aaf41a4f9479f" /><Relationship Type="http://schemas.openxmlformats.org/officeDocument/2006/relationships/slide" Target="/ppt/slides/slide45.xml" Id="Rf975722ac3234ece" /><Relationship Type="http://schemas.openxmlformats.org/officeDocument/2006/relationships/slide" Target="/ppt/slides/slide46.xml" Id="R44cd8737dd474b14" /><Relationship Type="http://schemas.openxmlformats.org/officeDocument/2006/relationships/slide" Target="/ppt/slides/slide47.xml" Id="Rb073ef4316384ef9" /><Relationship Type="http://schemas.openxmlformats.org/officeDocument/2006/relationships/slide" Target="/ppt/slides/slide48.xml" Id="R1ff9aa3153c340e9" /><Relationship Type="http://schemas.openxmlformats.org/officeDocument/2006/relationships/slide" Target="/ppt/slides/slide49.xml" Id="R675f8ef64b044e2c" /><Relationship Type="http://schemas.openxmlformats.org/officeDocument/2006/relationships/slide" Target="/ppt/slides/slide50.xml" Id="R4fe754e35c184408" /><Relationship Type="http://schemas.openxmlformats.org/officeDocument/2006/relationships/slide" Target="/ppt/slides/slide51.xml" Id="R4d3957bcdb9c4f8a" /><Relationship Type="http://schemas.openxmlformats.org/officeDocument/2006/relationships/slide" Target="/ppt/slides/slide52.xml" Id="R10d41405048b4c94" /><Relationship Type="http://schemas.openxmlformats.org/officeDocument/2006/relationships/slide" Target="/ppt/slides/slide53.xml" Id="R873a89974b214bc1" /><Relationship Type="http://schemas.openxmlformats.org/officeDocument/2006/relationships/slide" Target="/ppt/slides/slide54.xml" Id="Rf7f479d825f94526" /><Relationship Type="http://schemas.openxmlformats.org/officeDocument/2006/relationships/slide" Target="/ppt/slides/slide55.xml" Id="Rddbd4fd1e5864764" /><Relationship Type="http://schemas.openxmlformats.org/officeDocument/2006/relationships/slide" Target="/ppt/slides/slide56.xml" Id="R894bc941e3de4c2a" /><Relationship Type="http://schemas.openxmlformats.org/officeDocument/2006/relationships/slide" Target="/ppt/slides/slide57.xml" Id="R2a57563f16ad4057" /><Relationship Type="http://schemas.openxmlformats.org/officeDocument/2006/relationships/slide" Target="/ppt/slides/slide58.xml" Id="R2e6039b43e5e41f8" /><Relationship Type="http://schemas.openxmlformats.org/officeDocument/2006/relationships/slide" Target="/ppt/slides/slide59.xml" Id="Re6f09f22509a4f1b" /><Relationship Type="http://schemas.openxmlformats.org/officeDocument/2006/relationships/slide" Target="/ppt/slides/slide60.xml" Id="R61378f6fa8dc485a" /><Relationship Type="http://schemas.openxmlformats.org/officeDocument/2006/relationships/slide" Target="/ppt/slides/slide61.xml" Id="Ra3660e1559884890" /><Relationship Type="http://schemas.openxmlformats.org/officeDocument/2006/relationships/slide" Target="/ppt/slides/slide62.xml" Id="R40f0e9c9b5794298" /><Relationship Type="http://schemas.openxmlformats.org/officeDocument/2006/relationships/slide" Target="/ppt/slides/slide63.xml" Id="Rbb3612afe8944f80" /><Relationship Type="http://schemas.openxmlformats.org/officeDocument/2006/relationships/slide" Target="/ppt/slides/slide64.xml" Id="R82b57dffbc8a49f3" /><Relationship Type="http://schemas.openxmlformats.org/officeDocument/2006/relationships/slide" Target="/ppt/slides/slide65.xml" Id="R12f39fcd2a0f4331" /><Relationship Type="http://schemas.openxmlformats.org/officeDocument/2006/relationships/slide" Target="/ppt/slides/slide66.xml" Id="R58bb54916b3e430e" /><Relationship Type="http://schemas.openxmlformats.org/officeDocument/2006/relationships/slide" Target="/ppt/slides/slide67.xml" Id="R92d4bea24fb849cc" /><Relationship Type="http://schemas.openxmlformats.org/officeDocument/2006/relationships/slide" Target="/ppt/slides/slide68.xml" Id="R26c32a8fb6d64bcb" /><Relationship Type="http://schemas.openxmlformats.org/officeDocument/2006/relationships/slide" Target="/ppt/slides/slide69.xml" Id="Rae4bebb9418f483c" /><Relationship Type="http://schemas.openxmlformats.org/officeDocument/2006/relationships/slide" Target="/ppt/slides/slide70.xml" Id="R2b2ff0df4415426a" /><Relationship Type="http://schemas.openxmlformats.org/officeDocument/2006/relationships/slide" Target="/ppt/slides/slide71.xml" Id="R898a73754c9742d1" /><Relationship Type="http://schemas.openxmlformats.org/officeDocument/2006/relationships/slide" Target="/ppt/slides/slide72.xml" Id="Reb0d022803224dfd" /><Relationship Type="http://schemas.openxmlformats.org/officeDocument/2006/relationships/slide" Target="/ppt/slides/slide73.xml" Id="Rb0d34a3c2f3541d2" /><Relationship Type="http://schemas.openxmlformats.org/officeDocument/2006/relationships/slide" Target="/ppt/slides/slide74.xml" Id="R24fe4e4400c948ca" /><Relationship Type="http://schemas.openxmlformats.org/officeDocument/2006/relationships/slide" Target="/ppt/slides/slide75.xml" Id="R39e2120532b446d6" /><Relationship Type="http://schemas.openxmlformats.org/officeDocument/2006/relationships/slide" Target="/ppt/slides/slide76.xml" Id="R0a670b54eb5d4265" /><Relationship Type="http://schemas.openxmlformats.org/officeDocument/2006/relationships/slide" Target="/ppt/slides/slide77.xml" Id="R3bae3af213e74309" /><Relationship Type="http://schemas.openxmlformats.org/officeDocument/2006/relationships/slide" Target="/ppt/slides/slide78.xml" Id="Rba56cd401d374b1a" /><Relationship Type="http://schemas.openxmlformats.org/officeDocument/2006/relationships/slide" Target="/ppt/slides/slide79.xml" Id="Ra4fe3498ecc54d32" /><Relationship Type="http://schemas.openxmlformats.org/officeDocument/2006/relationships/slide" Target="/ppt/slides/slide80.xml" Id="R111a58094b554db8" /><Relationship Type="http://schemas.openxmlformats.org/officeDocument/2006/relationships/slide" Target="/ppt/slides/slide81.xml" Id="R173223dc8b7045df" /><Relationship Type="http://schemas.openxmlformats.org/officeDocument/2006/relationships/slide" Target="/ppt/slides/slide82.xml" Id="Rb6762ba0842d4307" /><Relationship Type="http://schemas.openxmlformats.org/officeDocument/2006/relationships/slide" Target="/ppt/slides/slide83.xml" Id="R5ce42dc681bf4a7c" /><Relationship Type="http://schemas.openxmlformats.org/officeDocument/2006/relationships/slide" Target="/ppt/slides/slide84.xml" Id="Rb38dd34b67754772" /><Relationship Type="http://schemas.openxmlformats.org/officeDocument/2006/relationships/slide" Target="/ppt/slides/slide85.xml" Id="Rbbedb31165da4f98" /><Relationship Type="http://schemas.openxmlformats.org/officeDocument/2006/relationships/slide" Target="/ppt/slides/slide86.xml" Id="Rc18ad31fa2384b65" /><Relationship Type="http://schemas.openxmlformats.org/officeDocument/2006/relationships/slide" Target="/ppt/slides/slide87.xml" Id="R897f5f23c8344386" /><Relationship Type="http://schemas.openxmlformats.org/officeDocument/2006/relationships/slide" Target="/ppt/slides/slide88.xml" Id="R9831bec944e74340" /><Relationship Type="http://schemas.openxmlformats.org/officeDocument/2006/relationships/slide" Target="/ppt/slides/slide89.xml" Id="Ra433355e3472471d" /><Relationship Type="http://schemas.openxmlformats.org/officeDocument/2006/relationships/slide" Target="/ppt/slides/slide90.xml" Id="Rb12fbf6e612b40f5" /><Relationship Type="http://schemas.openxmlformats.org/officeDocument/2006/relationships/slide" Target="/ppt/slides/slide91.xml" Id="Rcd6b2d8516b3472d" /><Relationship Type="http://schemas.openxmlformats.org/officeDocument/2006/relationships/slide" Target="/ppt/slides/slide92.xml" Id="Reef5298525f741ad" /><Relationship Type="http://schemas.openxmlformats.org/officeDocument/2006/relationships/slide" Target="/ppt/slides/slide93.xml" Id="Rd0ab01ce609044c2" /><Relationship Type="http://schemas.openxmlformats.org/officeDocument/2006/relationships/slide" Target="/ppt/slides/slide94.xml" Id="R00d69e8617484b57" /><Relationship Type="http://schemas.openxmlformats.org/officeDocument/2006/relationships/slide" Target="/ppt/slides/slide95.xml" Id="R100ee30345c741f1" /><Relationship Type="http://schemas.openxmlformats.org/officeDocument/2006/relationships/slide" Target="/ppt/slides/slide96.xml" Id="Rd3de7144343e4166" /><Relationship Type="http://schemas.openxmlformats.org/officeDocument/2006/relationships/slide" Target="/ppt/slides/slide97.xml" Id="R6fc6528a9fb44fc3" /><Relationship Type="http://schemas.openxmlformats.org/officeDocument/2006/relationships/slide" Target="/ppt/slides/slide98.xml" Id="Rb8a4d1847a77411a" /><Relationship Type="http://schemas.openxmlformats.org/officeDocument/2006/relationships/slide" Target="/ppt/slides/slide99.xml" Id="Ra41ad3b2db034ac0" /><Relationship Type="http://schemas.openxmlformats.org/officeDocument/2006/relationships/slide" Target="/ppt/slides/slide100.xml" Id="Rabdd0e0e9e924c38" /><Relationship Type="http://schemas.openxmlformats.org/officeDocument/2006/relationships/slide" Target="/ppt/slides/slide101.xml" Id="R742a04d33acd4540" /><Relationship Type="http://schemas.openxmlformats.org/officeDocument/2006/relationships/slide" Target="/ppt/slides/slide102.xml" Id="Rde2816193da64b66" /><Relationship Type="http://schemas.openxmlformats.org/officeDocument/2006/relationships/slide" Target="/ppt/slides/slide103.xml" Id="R6f95c3381646480b" /><Relationship Type="http://schemas.openxmlformats.org/officeDocument/2006/relationships/slide" Target="/ppt/slides/slide104.xml" Id="Rc7ff39d17d1143ff" /><Relationship Type="http://schemas.openxmlformats.org/officeDocument/2006/relationships/slide" Target="/ppt/slides/slide105.xml" Id="Rd4ba447a90d64bcf" /><Relationship Type="http://schemas.openxmlformats.org/officeDocument/2006/relationships/slide" Target="/ppt/slides/slide106.xml" Id="Rfb60b927870a4ea1" /><Relationship Type="http://schemas.openxmlformats.org/officeDocument/2006/relationships/slide" Target="/ppt/slides/slide107.xml" Id="R45e57430f0e04c09" /><Relationship Type="http://schemas.openxmlformats.org/officeDocument/2006/relationships/slide" Target="/ppt/slides/slide108.xml" Id="R5a265b8fa1414c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15c2637c2a42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cb636e8ec54adc" /><Relationship Type="http://schemas.openxmlformats.org/officeDocument/2006/relationships/notesMaster" Target="/ppt/notesMasters/notesMaster1.xml" Id="R0fcc42f045ce4e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05f313e8424d06" /><Relationship Type="http://schemas.openxmlformats.org/officeDocument/2006/relationships/notesMaster" Target="/ppt/notesMasters/notesMaster1.xml" Id="R2f5402467ee54c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f0880c548e485c" /><Relationship Type="http://schemas.openxmlformats.org/officeDocument/2006/relationships/notesMaster" Target="/ppt/notesMasters/notesMaster1.xml" Id="R8b5b5b38594349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191e636ff74a95" /><Relationship Type="http://schemas.openxmlformats.org/officeDocument/2006/relationships/notesMaster" Target="/ppt/notesMasters/notesMaster1.xml" Id="R69a4a20d148f45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6b7dc802f44d3e" /><Relationship Type="http://schemas.openxmlformats.org/officeDocument/2006/relationships/notesMaster" Target="/ppt/notesMasters/notesMaster1.xml" Id="R66bf88dadfa648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34ebe5db184c6b" /><Relationship Type="http://schemas.openxmlformats.org/officeDocument/2006/relationships/notesMaster" Target="/ppt/notesMasters/notesMaster1.xml" Id="R53f7b7f72cd64b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18f454faa14c3d" /><Relationship Type="http://schemas.openxmlformats.org/officeDocument/2006/relationships/notesMaster" Target="/ppt/notesMasters/notesMaster1.xml" Id="Rffebbd4be13a41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bf48000a75421e" /><Relationship Type="http://schemas.openxmlformats.org/officeDocument/2006/relationships/notesMaster" Target="/ppt/notesMasters/notesMaster1.xml" Id="R352e44d9966c43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702ec4a6c14dd9" /><Relationship Type="http://schemas.openxmlformats.org/officeDocument/2006/relationships/notesMaster" Target="/ppt/notesMasters/notesMaster1.xml" Id="R6088dfa563fb4d2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71598276d649e9" /><Relationship Type="http://schemas.openxmlformats.org/officeDocument/2006/relationships/notesMaster" Target="/ppt/notesMasters/notesMaster1.xml" Id="Rb5cc595cd12b4f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612367423345b6" /><Relationship Type="http://schemas.openxmlformats.org/officeDocument/2006/relationships/notesMaster" Target="/ppt/notesMasters/notesMaster1.xml" Id="Re66e9300cb6947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738f2ed1934e69" /><Relationship Type="http://schemas.openxmlformats.org/officeDocument/2006/relationships/notesMaster" Target="/ppt/notesMasters/notesMaster1.xml" Id="Ree60b213067d4f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a84999a1e34b66" /><Relationship Type="http://schemas.openxmlformats.org/officeDocument/2006/relationships/notesMaster" Target="/ppt/notesMasters/notesMaster1.xml" Id="R8149039392414ec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28f6e2504674d98" /><Relationship Type="http://schemas.openxmlformats.org/officeDocument/2006/relationships/notesMaster" Target="/ppt/notesMasters/notesMaster1.xml" Id="Rc8e3952eae7e495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62209e8dd2443e5" /><Relationship Type="http://schemas.openxmlformats.org/officeDocument/2006/relationships/notesMaster" Target="/ppt/notesMasters/notesMaster1.xml" Id="R79e48048211341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e6f830b4834607" /><Relationship Type="http://schemas.openxmlformats.org/officeDocument/2006/relationships/notesMaster" Target="/ppt/notesMasters/notesMaster1.xml" Id="R095f67493b58418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c45a8c2f7a4baf" /><Relationship Type="http://schemas.openxmlformats.org/officeDocument/2006/relationships/notesMaster" Target="/ppt/notesMasters/notesMaster1.xml" Id="R74d504c827954af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d978da5a8448a5" /><Relationship Type="http://schemas.openxmlformats.org/officeDocument/2006/relationships/notesMaster" Target="/ppt/notesMasters/notesMaster1.xml" Id="R617130e3e87d44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53fe9bde65c4272" /><Relationship Type="http://schemas.openxmlformats.org/officeDocument/2006/relationships/notesMaster" Target="/ppt/notesMasters/notesMaster1.xml" Id="Rab90e358b70a46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6867693fbee4c9a" /><Relationship Type="http://schemas.openxmlformats.org/officeDocument/2006/relationships/notesMaster" Target="/ppt/notesMasters/notesMaster1.xml" Id="R594992f56d2548d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5e2b1d75cf3406a" /><Relationship Type="http://schemas.openxmlformats.org/officeDocument/2006/relationships/notesMaster" Target="/ppt/notesMasters/notesMaster1.xml" Id="R05e53629bf434f0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828ec32e09b4fe7" /><Relationship Type="http://schemas.openxmlformats.org/officeDocument/2006/relationships/notesMaster" Target="/ppt/notesMasters/notesMaster1.xml" Id="Re2f85abc521c44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73078bf778408d" /><Relationship Type="http://schemas.openxmlformats.org/officeDocument/2006/relationships/notesMaster" Target="/ppt/notesMasters/notesMaster1.xml" Id="R48890ee39eda413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8e121a2d0bc4e62" /><Relationship Type="http://schemas.openxmlformats.org/officeDocument/2006/relationships/notesMaster" Target="/ppt/notesMasters/notesMaster1.xml" Id="R490d0a05ef0c4cb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df48cc8d4514295" /><Relationship Type="http://schemas.openxmlformats.org/officeDocument/2006/relationships/notesMaster" Target="/ppt/notesMasters/notesMaster1.xml" Id="R557edc972339448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c0574474fc54114" /><Relationship Type="http://schemas.openxmlformats.org/officeDocument/2006/relationships/notesMaster" Target="/ppt/notesMasters/notesMaster1.xml" Id="R24b56f479b4542a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7d511fd79014deb" /><Relationship Type="http://schemas.openxmlformats.org/officeDocument/2006/relationships/notesMaster" Target="/ppt/notesMasters/notesMaster1.xml" Id="R8a32d6a3c41f4e6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87775f61cb140c4" /><Relationship Type="http://schemas.openxmlformats.org/officeDocument/2006/relationships/notesMaster" Target="/ppt/notesMasters/notesMaster1.xml" Id="R943bbe80c8ba464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f6c2ee7f2e44199" /><Relationship Type="http://schemas.openxmlformats.org/officeDocument/2006/relationships/notesMaster" Target="/ppt/notesMasters/notesMaster1.xml" Id="Rd18dabce5105409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f5e8f12dbef45b7" /><Relationship Type="http://schemas.openxmlformats.org/officeDocument/2006/relationships/notesMaster" Target="/ppt/notesMasters/notesMaster1.xml" Id="R0fabaa0737a2495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061e4cd39fd4fc8" /><Relationship Type="http://schemas.openxmlformats.org/officeDocument/2006/relationships/notesMaster" Target="/ppt/notesMasters/notesMaster1.xml" Id="R08dc9727521348a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b129802e22b4df3" /><Relationship Type="http://schemas.openxmlformats.org/officeDocument/2006/relationships/notesMaster" Target="/ppt/notesMasters/notesMaster1.xml" Id="R0bd18a67906a4e5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b6d22a74cbe417d" /><Relationship Type="http://schemas.openxmlformats.org/officeDocument/2006/relationships/notesMaster" Target="/ppt/notesMasters/notesMaster1.xml" Id="Rb259dc7709dd4cd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f423cab25654565" /><Relationship Type="http://schemas.openxmlformats.org/officeDocument/2006/relationships/notesMaster" Target="/ppt/notesMasters/notesMaster1.xml" Id="R58df2a939da247f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414426f2d87494c" /><Relationship Type="http://schemas.openxmlformats.org/officeDocument/2006/relationships/notesMaster" Target="/ppt/notesMasters/notesMaster1.xml" Id="Ra65c4b7ba8c0417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7bf3bfe4e5e498a" /><Relationship Type="http://schemas.openxmlformats.org/officeDocument/2006/relationships/notesMaster" Target="/ppt/notesMasters/notesMaster1.xml" Id="Rafd76ff7a511432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b82954a44044793" /><Relationship Type="http://schemas.openxmlformats.org/officeDocument/2006/relationships/notesMaster" Target="/ppt/notesMasters/notesMaster1.xml" Id="R3022140aac474d7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851bbc9575f43db" /><Relationship Type="http://schemas.openxmlformats.org/officeDocument/2006/relationships/notesMaster" Target="/ppt/notesMasters/notesMaster1.xml" Id="R8506c02720a4429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d6d757e67b54f40" /><Relationship Type="http://schemas.openxmlformats.org/officeDocument/2006/relationships/notesMaster" Target="/ppt/notesMasters/notesMaster1.xml" Id="Rd9869c9e242f47e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cd5379b18c84f7b" /><Relationship Type="http://schemas.openxmlformats.org/officeDocument/2006/relationships/notesMaster" Target="/ppt/notesMasters/notesMaster1.xml" Id="Ra5096be94552494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be1884470fd4903" /><Relationship Type="http://schemas.openxmlformats.org/officeDocument/2006/relationships/notesMaster" Target="/ppt/notesMasters/notesMaster1.xml" Id="R6e9f7b92c0bb466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ef303ebd5a74ce7" /><Relationship Type="http://schemas.openxmlformats.org/officeDocument/2006/relationships/notesMaster" Target="/ppt/notesMasters/notesMaster1.xml" Id="R3b8c64bc96884a9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08cb33f6a324287" /><Relationship Type="http://schemas.openxmlformats.org/officeDocument/2006/relationships/notesMaster" Target="/ppt/notesMasters/notesMaster1.xml" Id="R5c0e64aae19648c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b7a0ce054bb48d6" /><Relationship Type="http://schemas.openxmlformats.org/officeDocument/2006/relationships/notesMaster" Target="/ppt/notesMasters/notesMaster1.xml" Id="R968f4552e48347a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a70b9a0d52e46b2" /><Relationship Type="http://schemas.openxmlformats.org/officeDocument/2006/relationships/notesMaster" Target="/ppt/notesMasters/notesMaster1.xml" Id="R48bc4d0af983481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5669e0812ab4410" /><Relationship Type="http://schemas.openxmlformats.org/officeDocument/2006/relationships/notesMaster" Target="/ppt/notesMasters/notesMaster1.xml" Id="Reb9e3dad70ba418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3047cf7ffc64195" /><Relationship Type="http://schemas.openxmlformats.org/officeDocument/2006/relationships/notesMaster" Target="/ppt/notesMasters/notesMaster1.xml" Id="R8037bfb39f6b452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f92f3bb2f014a48" /><Relationship Type="http://schemas.openxmlformats.org/officeDocument/2006/relationships/notesMaster" Target="/ppt/notesMasters/notesMaster1.xml" Id="Refe0f6d85f10427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46f2c9006fe48eb" /><Relationship Type="http://schemas.openxmlformats.org/officeDocument/2006/relationships/notesMaster" Target="/ppt/notesMasters/notesMaster1.xml" Id="Rc14cdd6a59b74cd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ebcfe47e8134b6e" /><Relationship Type="http://schemas.openxmlformats.org/officeDocument/2006/relationships/notesMaster" Target="/ppt/notesMasters/notesMaster1.xml" Id="R46e80a11cf7e4aa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118098b88854109" /><Relationship Type="http://schemas.openxmlformats.org/officeDocument/2006/relationships/notesMaster" Target="/ppt/notesMasters/notesMaster1.xml" Id="Rd2bb7046974a455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783fd96acd34036" /><Relationship Type="http://schemas.openxmlformats.org/officeDocument/2006/relationships/notesMaster" Target="/ppt/notesMasters/notesMaster1.xml" Id="R53894becde534da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894983ccbbd4c06" /><Relationship Type="http://schemas.openxmlformats.org/officeDocument/2006/relationships/notesMaster" Target="/ppt/notesMasters/notesMaster1.xml" Id="R70d0e1d8879a420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897f7fc4f6b4794" /><Relationship Type="http://schemas.openxmlformats.org/officeDocument/2006/relationships/notesMaster" Target="/ppt/notesMasters/notesMaster1.xml" Id="Rd82d071965664a6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a497341befa40f4" /><Relationship Type="http://schemas.openxmlformats.org/officeDocument/2006/relationships/notesMaster" Target="/ppt/notesMasters/notesMaster1.xml" Id="Rc9c1703fcde745b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88f01f57eac4eb8" /><Relationship Type="http://schemas.openxmlformats.org/officeDocument/2006/relationships/notesMaster" Target="/ppt/notesMasters/notesMaster1.xml" Id="Rcb16d101600f498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0e306b92b94472f" /><Relationship Type="http://schemas.openxmlformats.org/officeDocument/2006/relationships/notesMaster" Target="/ppt/notesMasters/notesMaster1.xml" Id="Rbcaae3ddebe24a4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1c6c22c27764c0c" /><Relationship Type="http://schemas.openxmlformats.org/officeDocument/2006/relationships/notesMaster" Target="/ppt/notesMasters/notesMaster1.xml" Id="R0c23549539e3487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3fedd7f848049fd" /><Relationship Type="http://schemas.openxmlformats.org/officeDocument/2006/relationships/notesMaster" Target="/ppt/notesMasters/notesMaster1.xml" Id="Rbbc77ce1dab94e7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fdbb99ceea2240a7" /><Relationship Type="http://schemas.openxmlformats.org/officeDocument/2006/relationships/notesMaster" Target="/ppt/notesMasters/notesMaster1.xml" Id="Rce7f92248f654c11"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dffc52523d924711" /><Relationship Type="http://schemas.openxmlformats.org/officeDocument/2006/relationships/notesMaster" Target="/ppt/notesMasters/notesMaster1.xml" Id="R11730e6c2616438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8e77cb260574967" /><Relationship Type="http://schemas.openxmlformats.org/officeDocument/2006/relationships/notesMaster" Target="/ppt/notesMasters/notesMaster1.xml" Id="Rd012a33f2b794efc"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e8fa310ecb144a1c" /><Relationship Type="http://schemas.openxmlformats.org/officeDocument/2006/relationships/notesMaster" Target="/ppt/notesMasters/notesMaster1.xml" Id="Rc8b9c8209ee645f7"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b9c4d5a1fbc4406" /><Relationship Type="http://schemas.openxmlformats.org/officeDocument/2006/relationships/notesMaster" Target="/ppt/notesMasters/notesMaster1.xml" Id="R71a02cd32dae4fa1"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116afd7d0c045c5" /><Relationship Type="http://schemas.openxmlformats.org/officeDocument/2006/relationships/notesMaster" Target="/ppt/notesMasters/notesMaster1.xml" Id="R07a10cd513b5426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3903f564c69249a6" /><Relationship Type="http://schemas.openxmlformats.org/officeDocument/2006/relationships/notesMaster" Target="/ppt/notesMasters/notesMaster1.xml" Id="R464d0e034de8489a"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dc92a3956dc948a9" /><Relationship Type="http://schemas.openxmlformats.org/officeDocument/2006/relationships/notesMaster" Target="/ppt/notesMasters/notesMaster1.xml" Id="R596fabd57f2b48c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6c3acfda752242ca" /><Relationship Type="http://schemas.openxmlformats.org/officeDocument/2006/relationships/notesMaster" Target="/ppt/notesMasters/notesMaster1.xml" Id="Ra7d021cbafb04f62"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41ac6fa87feb485c" /><Relationship Type="http://schemas.openxmlformats.org/officeDocument/2006/relationships/notesMaster" Target="/ppt/notesMasters/notesMaster1.xml" Id="R2d2b97efa34649b2"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5b5c3d89f8f40da" /><Relationship Type="http://schemas.openxmlformats.org/officeDocument/2006/relationships/notesMaster" Target="/ppt/notesMasters/notesMaster1.xml" Id="R335b928ca1e94e87"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cd2962af14cb4a6d" /><Relationship Type="http://schemas.openxmlformats.org/officeDocument/2006/relationships/notesMaster" Target="/ppt/notesMasters/notesMaster1.xml" Id="R64308790baef423a"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04c553c564fa4b5c" /><Relationship Type="http://schemas.openxmlformats.org/officeDocument/2006/relationships/notesMaster" Target="/ppt/notesMasters/notesMaster1.xml" Id="R25205e01a4204ee5"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f719a745a1764d82" /><Relationship Type="http://schemas.openxmlformats.org/officeDocument/2006/relationships/notesMaster" Target="/ppt/notesMasters/notesMaster1.xml" Id="Rfa9772b2dfad4d89"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08ce6bde06974e84" /><Relationship Type="http://schemas.openxmlformats.org/officeDocument/2006/relationships/notesMaster" Target="/ppt/notesMasters/notesMaster1.xml" Id="R08e924e98ff64851"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f7e6096e397d4d90" /><Relationship Type="http://schemas.openxmlformats.org/officeDocument/2006/relationships/notesMaster" Target="/ppt/notesMasters/notesMaster1.xml" Id="R4f6befc17e054571"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dd6af665be194866" /><Relationship Type="http://schemas.openxmlformats.org/officeDocument/2006/relationships/notesMaster" Target="/ppt/notesMasters/notesMaster1.xml" Id="R3e7f398d054044c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884fec205fcb4cc9" /><Relationship Type="http://schemas.openxmlformats.org/officeDocument/2006/relationships/notesMaster" Target="/ppt/notesMasters/notesMaster1.xml" Id="R599b53cbaf8e4049"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e2487f96eec24d6a" /><Relationship Type="http://schemas.openxmlformats.org/officeDocument/2006/relationships/notesMaster" Target="/ppt/notesMasters/notesMaster1.xml" Id="Rfddb20e0269d4a28"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0b158dda516a4f21" /><Relationship Type="http://schemas.openxmlformats.org/officeDocument/2006/relationships/notesMaster" Target="/ppt/notesMasters/notesMaster1.xml" Id="R3521b5d5aa2f4a83"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692641bd073c426c" /><Relationship Type="http://schemas.openxmlformats.org/officeDocument/2006/relationships/notesMaster" Target="/ppt/notesMasters/notesMaster1.xml" Id="Rb169d97624734af0"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86fe05e42e334941" /><Relationship Type="http://schemas.openxmlformats.org/officeDocument/2006/relationships/notesMaster" Target="/ppt/notesMasters/notesMaster1.xml" Id="R260ff635d05d4ee5"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1725a819cf94490a" /><Relationship Type="http://schemas.openxmlformats.org/officeDocument/2006/relationships/notesMaster" Target="/ppt/notesMasters/notesMaster1.xml" Id="R0242c3fff51a4de8"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7de8e1a4e01a4197" /><Relationship Type="http://schemas.openxmlformats.org/officeDocument/2006/relationships/notesMaster" Target="/ppt/notesMasters/notesMaster1.xml" Id="R11d64befed174e9f"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0d81023e91ab4f63" /><Relationship Type="http://schemas.openxmlformats.org/officeDocument/2006/relationships/notesMaster" Target="/ppt/notesMasters/notesMaster1.xml" Id="R3fbb46cd26614dea"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ccbae489dd3c4841" /><Relationship Type="http://schemas.openxmlformats.org/officeDocument/2006/relationships/notesMaster" Target="/ppt/notesMasters/notesMaster1.xml" Id="R02dfbd4bc1e34f49"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b052f3e4404c4d0e" /><Relationship Type="http://schemas.openxmlformats.org/officeDocument/2006/relationships/notesMaster" Target="/ppt/notesMasters/notesMaster1.xml" Id="R1d281e5f81f44b70"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0098c0f0adf54ece" /><Relationship Type="http://schemas.openxmlformats.org/officeDocument/2006/relationships/notesMaster" Target="/ppt/notesMasters/notesMaster1.xml" Id="R7af99a67e2d04c9b"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25b9c46cefa4427c" /><Relationship Type="http://schemas.openxmlformats.org/officeDocument/2006/relationships/notesMaster" Target="/ppt/notesMasters/notesMaster1.xml" Id="Ra224cd795d074ed2"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9cafbe77f18d4318" /><Relationship Type="http://schemas.openxmlformats.org/officeDocument/2006/relationships/notesMaster" Target="/ppt/notesMasters/notesMaster1.xml" Id="Re92d7de2c73f4242"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7b4aedc52c8c451c" /><Relationship Type="http://schemas.openxmlformats.org/officeDocument/2006/relationships/notesMaster" Target="/ppt/notesMasters/notesMaster1.xml" Id="R5fb908801bb446f1"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9b365b8976664dc8" /><Relationship Type="http://schemas.openxmlformats.org/officeDocument/2006/relationships/notesMaster" Target="/ppt/notesMasters/notesMaster1.xml" Id="Rdd6cbac5f2644d6d"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69ef44280bf74d5c" /><Relationship Type="http://schemas.openxmlformats.org/officeDocument/2006/relationships/notesMaster" Target="/ppt/notesMasters/notesMaster1.xml" Id="R9aeed56f12534e15"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e5e18e5abda64f46" /><Relationship Type="http://schemas.openxmlformats.org/officeDocument/2006/relationships/notesMaster" Target="/ppt/notesMasters/notesMaster1.xml" Id="R26d43a3784b74a85"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2f81d26e04b34114" /><Relationship Type="http://schemas.openxmlformats.org/officeDocument/2006/relationships/notesMaster" Target="/ppt/notesMasters/notesMaster1.xml" Id="Raa656ad6b0c34825"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1d5ae056ac59421b" /><Relationship Type="http://schemas.openxmlformats.org/officeDocument/2006/relationships/notesMaster" Target="/ppt/notesMasters/notesMaster1.xml" Id="R7fa42343cb0c4dd9"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bdaee2dcf7c3410f" /><Relationship Type="http://schemas.openxmlformats.org/officeDocument/2006/relationships/notesMaster" Target="/ppt/notesMasters/notesMaster1.xml" Id="R363f25041c274f93"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ceaa40543ef94737" /><Relationship Type="http://schemas.openxmlformats.org/officeDocument/2006/relationships/notesMaster" Target="/ppt/notesMasters/notesMaster1.xml" Id="Re4ea19ac1dc949f1"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2784de45aa994201" /><Relationship Type="http://schemas.openxmlformats.org/officeDocument/2006/relationships/notesMaster" Target="/ppt/notesMasters/notesMaster1.xml" Id="R2f1bf169e12b457a"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154dac9e3ec44947" /><Relationship Type="http://schemas.openxmlformats.org/officeDocument/2006/relationships/notesMaster" Target="/ppt/notesMasters/notesMaster1.xml" Id="Rd52ffda627424d12"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462df11613a04206" /><Relationship Type="http://schemas.openxmlformats.org/officeDocument/2006/relationships/notesMaster" Target="/ppt/notesMasters/notesMaster1.xml" Id="R12bc784acef84f57"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71353e6b923f480b" /><Relationship Type="http://schemas.openxmlformats.org/officeDocument/2006/relationships/notesMaster" Target="/ppt/notesMasters/notesMaster1.xml" Id="R4fb8644f340b4624"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293c067011ff431f" /><Relationship Type="http://schemas.openxmlformats.org/officeDocument/2006/relationships/notesMaster" Target="/ppt/notesMasters/notesMaster1.xml" Id="R326c18386e7f40de"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294264d08bbd40c3" /><Relationship Type="http://schemas.openxmlformats.org/officeDocument/2006/relationships/notesMaster" Target="/ppt/notesMasters/notesMaster1.xml" Id="Rcf70d019811c4ad5"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358aaa8d29dd4579" /><Relationship Type="http://schemas.openxmlformats.org/officeDocument/2006/relationships/notesMaster" Target="/ppt/notesMasters/notesMaster1.xml" Id="R78eaec19f0614101"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992a14f0035c4632" /><Relationship Type="http://schemas.openxmlformats.org/officeDocument/2006/relationships/notesMaster" Target="/ppt/notesMasters/notesMaster1.xml" Id="R7cf296549857495f"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656f470d495a4269" /><Relationship Type="http://schemas.openxmlformats.org/officeDocument/2006/relationships/notesMaster" Target="/ppt/notesMasters/notesMaster1.xml" Id="R30b293c12ec7413b"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5925a687210749fe" /><Relationship Type="http://schemas.openxmlformats.org/officeDocument/2006/relationships/notesMaster" Target="/ppt/notesMasters/notesMaster1.xml" Id="R7d56ed6017e6427f"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99d5a876b20b4c8a" /><Relationship Type="http://schemas.openxmlformats.org/officeDocument/2006/relationships/notesMaster" Target="/ppt/notesMasters/notesMaster1.xml" Id="R0cf739c516ef4b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
            </a:r>
          </a:p>
          <a:p xmlns:a="http://schemas.openxmlformats.org/drawingml/2006/main">
            <a:r>
              <a:t>2026-10-23 · 처음 시작</a:t>
            </a:r>
          </a:p>
          <a:p xmlns:a="http://schemas.openxmlformats.org/drawingml/2006/main">
            <a:r>
              <a:t/>
            </a:r>
          </a:p>
          <a:p xmlns:a="http://schemas.openxmlformats.org/drawingml/2006/main">
            <a:r>
              <a:t>이번 수업에서는 실제 연결·통전·시리얼 포트 열기를 하지 않습니다. Python 표준 라이브러리로 가상 센서 파일을 읽습니다. .ino는 모델 확정 후 실행할 완성 예의 읽기 자료이며,현재 컴파일·업로드 결과가 아닙니다.</a:t>
            </a:r>
          </a:p>
          <a:p xmlns:a="http://schemas.openxmlformats.org/drawingml/2006/main">
            <a:r>
              <a:t/>
            </a:r>
          </a:p>
          <a:p xmlns:a="http://schemas.openxmlformats.org/drawingml/2006/main">
            <a:r>
              <a:t>파일과 실행</a:t>
            </a:r>
          </a:p>
          <a:p xmlns:a="http://schemas.openxmlformats.org/drawingml/2006/main">
            <a:r>
              <a:t/>
            </a:r>
          </a:p>
          <a:p xmlns:a="http://schemas.openxmlformats.org/drawingml/2006/main">
            <a:r>
              <a:t>`examples/course/data`는 읽을 입력, `code`는 완성 시연 코드, `work`는 나의 작성·수정 파일입니다. ZIP을 풀고 폴더 구조를 유지합니다. 터미널은 명령을 실행하는 창이며, 에디터는 파일 내용을 쓰고 저장하는 창입니다. 저장만으로 코드가 실행되지는 않습니다.</a:t>
            </a:r>
          </a:p>
          <a:p xmlns:a="http://schemas.openxmlformats.org/drawingml/2006/main">
            <a:r>
              <a:t/>
            </a:r>
          </a:p>
          <a:p xmlns:a="http://schemas.openxmlformats.org/drawingml/2006/main">
            <a:r>
              <a:t>1. [용어](glossary.md)에서 낯선 말을 확인합니다.</a:t>
            </a:r>
          </a:p>
          <a:p xmlns:a="http://schemas.openxmlformats.org/drawingml/2006/main">
            <a:r>
              <a:t>2. [교안](lesson.md)의 개념과 예를 읽습니다.</a:t>
            </a:r>
          </a:p>
          <a:p xmlns:a="http://schemas.openxmlformats.org/drawingml/2006/main">
            <a:r>
              <a:t>3. [활동지](practice-guide.md)의 A01부터 입력을 열고 work 양식에 기록합니다.</a:t>
            </a:r>
          </a:p>
          <a:p xmlns:a="http://schemas.openxmlformats.org/drawingml/2006/main">
            <a:r>
              <a:t>4. 코드 실행은 code/line-guide.md의 명령과 조건을 따릅니다.</a:t>
            </a:r>
          </a:p>
          <a:p xmlns:a="http://schemas.openxmlformats.org/drawingml/2006/main">
            <a:r>
              <a:t/>
            </a:r>
          </a:p>
          <a:p xmlns:a="http://schemas.openxmlformats.org/drawingml/2006/main">
            <a:r>
              <a:t>수업을 마칠 때 확인할 것: 전압·전류·저항의 단위를 구분하고 0·null·문자열을 다른 상태로 처리하며 예제로 확인한 것과 장비에서 더 시험할 것을 설명합니다.</a:t>
            </a:r>
          </a:p>
          <a:p xmlns:a="http://schemas.openxmlformats.org/drawingml/2006/main">
            <a:r>
              <a:t/>
            </a:r>
          </a:p>
          <a:p xmlns:a="http://schemas.openxmlformats.org/drawingml/2006/main">
            <a:r>
              <a:t>수업 전, 이 세 가지부터 확인하세요</a:t>
            </a:r>
          </a:p>
          <a:p xmlns:a="http://schemas.openxmlformats.org/drawingml/2006/main">
            <a:r>
              <a:t/>
            </a:r>
          </a:p>
          <a:p xmlns:a="http://schemas.openxmlformats.org/drawingml/2006/main">
            <a:r>
              <a:t>앞선 내용이 기억나지 않으면 아래 질문부터 읽어 보세요. 먼저 답을 적고 풀이와 비교해 보세요.</a:t>
            </a:r>
          </a:p>
          <a:p xmlns:a="http://schemas.openxmlformats.org/drawingml/2006/main">
            <a:r>
              <a:t/>
            </a:r>
          </a:p>
          <a:p xmlns:a="http://schemas.openxmlformats.org/drawingml/2006/main">
            <a:r>
              <a:t>단위</a:t>
            </a:r>
          </a:p>
          <a:p xmlns:a="http://schemas.openxmlformats.org/drawingml/2006/main">
            <a:r>
              <a:t/>
            </a:r>
          </a:p>
          <a:p xmlns:a="http://schemas.openxmlformats.org/drawingml/2006/main">
            <a:r>
              <a:t>질문: 3.3V와 3.3mA를 같은 크기로 비교하나요?</a:t>
            </a:r>
          </a:p>
          <a:p xmlns:a="http://schemas.openxmlformats.org/drawingml/2006/main">
            <a:r>
              <a:t/>
            </a:r>
          </a:p>
          <a:p xmlns:a="http://schemas.openxmlformats.org/drawingml/2006/main">
            <a:r>
              <a:t>풀이: 전압은 밀어주는 정도, 전류는 흐르는 양이며 다른 물리량입니다. 숫자만 같다고 같은 조건이 아닙니다.</a:t>
            </a:r>
          </a:p>
          <a:p xmlns:a="http://schemas.openxmlformats.org/drawingml/2006/main">
            <a:r>
              <a:t/>
            </a:r>
          </a:p>
          <a:p xmlns:a="http://schemas.openxmlformats.org/drawingml/2006/main">
            <a:r>
              <a:t>회로 경로</a:t>
            </a:r>
          </a:p>
          <a:p xmlns:a="http://schemas.openxmlformats.org/drawingml/2006/main">
            <a:r>
              <a:t/>
            </a:r>
          </a:p>
          <a:p xmlns:a="http://schemas.openxmlformats.org/drawingml/2006/main">
            <a:r>
              <a:t>질문: LED와 저항을 놓기만 하면 전류가 흐르나요?</a:t>
            </a:r>
          </a:p>
          <a:p xmlns:a="http://schemas.openxmlformats.org/drawingml/2006/main">
            <a:r>
              <a:t/>
            </a:r>
          </a:p>
          <a:p xmlns:a="http://schemas.openxmlformats.org/drawingml/2006/main">
            <a:r>
              <a:t>풀이: 전원에서 부품을 거쳐 돌아오는 연결 경로가 필요합니다. 회로 검토와 실제 전원 인가를 구분합니다.</a:t>
            </a:r>
          </a:p>
          <a:p xmlns:a="http://schemas.openxmlformats.org/drawingml/2006/main">
            <a:r>
              <a:t/>
            </a:r>
          </a:p>
          <a:p xmlns:a="http://schemas.openxmlformats.org/drawingml/2006/main">
            <a:r>
              <a:t>판정</a:t>
            </a:r>
          </a:p>
          <a:p xmlns:a="http://schemas.openxmlformats.org/drawingml/2006/main">
            <a:r>
              <a:t/>
            </a:r>
          </a:p>
          <a:p xmlns:a="http://schemas.openxmlformats.org/drawingml/2006/main">
            <a:r>
              <a:t>질문: 모의 입력에서 명령이 나왔다면 실물 LED도 켜졌나요?</a:t>
            </a:r>
          </a:p>
          <a:p xmlns:a="http://schemas.openxmlformats.org/drawingml/2006/main">
            <a:r>
              <a:t/>
            </a:r>
          </a:p>
          <a:p xmlns:a="http://schemas.openxmlformats.org/drawingml/2006/main">
            <a:r>
              <a:t>풀이: 코드의 판단 결과를 확인한 것입니다. 핀 연결·전압·보드 환경을 확인한 실물 검증은 별도입니다.</a:t>
            </a:r>
          </a:p>
          <a:p xmlns:a="http://schemas.openxmlformats.org/drawingml/2006/main">
            <a:r>
              <a:t/>
            </a:r>
          </a:p>
          <a:p xmlns:a="http://schemas.openxmlformats.org/drawingml/2006/main">
            <a:r>
              <a:t>오늘의 수업과 복습을 나누는 방법</a:t>
            </a:r>
          </a:p>
          <a:p xmlns:a="http://schemas.openxmlformats.org/drawingml/2006/main">
            <a:r>
              <a:t/>
            </a:r>
          </a:p>
          <a:p xmlns:a="http://schemas.openxmlformats.org/drawingml/2006/main">
            <a:r>
              <a:t>수업은 10:00~10:50, 11:00~11:50, 13:00~13:50, 14:00~14:50, 15:00~15:50, 16:00~16:50입니다. 중식은 11:50~13:00이며 수업 사이에는 10분 쉽니다. 마지막 16:50~17:00은 휴식과 저장·퇴실 준비로 배치했습니다.</a:t>
            </a:r>
          </a:p>
          <a:p xmlns:a="http://schemas.openxmlformats.org/drawingml/2006/main">
            <a:r>
              <a:t/>
            </a:r>
          </a:p>
          <a:p xmlns:a="http://schemas.openxmlformats.org/drawingml/2006/main">
            <a:r>
              <a:t>| 교시 | 수업에서 먼저 확인할 활동 | 추가·복습 |</a:t>
            </a:r>
          </a:p>
          <a:p xmlns:a="http://schemas.openxmlformats.org/drawingml/2006/main">
            <a:r>
              <a:t>|---|---|---|</a:t>
            </a:r>
          </a:p>
          <a:p xmlns:a="http://schemas.openxmlformats.org/drawingml/2006/main">
            <a:r>
              <a:t>| 1 | A01, A02, A03 | 새 입력으로 한 번 더 확인 |</a:t>
            </a:r>
          </a:p>
          <a:p xmlns:a="http://schemas.openxmlformats.org/drawingml/2006/main">
            <a:r>
              <a:t>| 2 | A04, A05, A06 | 새 입력으로 한 번 더 확인 |</a:t>
            </a:r>
          </a:p>
          <a:p xmlns:a="http://schemas.openxmlformats.org/drawingml/2006/main">
            <a:r>
              <a:t>| 3 | A07, A08, A09 | 새 입력으로 한 번 더 확인 |</a:t>
            </a:r>
          </a:p>
          <a:p xmlns:a="http://schemas.openxmlformats.org/drawingml/2006/main">
            <a:r>
              <a:t>| 4 | A10, A11, A12 | 새 입력으로 한 번 더 확인 |</a:t>
            </a:r>
          </a:p>
          <a:p xmlns:a="http://schemas.openxmlformats.org/drawingml/2006/main">
            <a:r>
              <a:t>| 5 | A13, A14, A15 | 새 입력으로 한 번 더 확인 |</a:t>
            </a:r>
          </a:p>
          <a:p xmlns:a="http://schemas.openxmlformats.org/drawingml/2006/main">
            <a:r>
              <a:t>| 6 | A16, A17, A18 | 새 입력으로 한 번 더 확인 |</a:t>
            </a:r>
          </a:p>
          <a:p xmlns:a="http://schemas.openxmlformats.org/drawingml/2006/main">
            <a:r>
              <a:t/>
            </a:r>
          </a:p>
          <a:p xmlns:a="http://schemas.openxmlformats.org/drawingml/2006/main">
            <a:r>
              <a:t>교안의 쉬운 사례와 단계별 풀이를 먼저 읽고 필수 결과를 직접 만들어 봅니다. 새 문제는 결과를 확인한 뒤 복습하거나 도전합니다. 모든 페이지를 같은 시간에 끝내라는 뜻은 아닙니다. 설치가 막혔을 때는 제공 출력과 수동 추적으로 개념을 확인하고, 직접 실행했는지는 따로 적습니다.니다.</a:t>
            </a:r>
          </a:p>
          <a:p xmlns:a="http://schemas.openxmlformats.org/drawingml/2006/main">
            <a:r>
              <a:t/>
            </a:r>
          </a:p>
          <a:p xmlns:a="http://schemas.openxmlformats.org/drawingml/2006/main">
            <a:r>
              <a:t>화면 예의 출처: .build/copyedited-ppt/spec-2026-10-23.json#slide-1</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https://zeusk302-png.github.io/kdigital-physical-ai/#/sessions/2026-10-23/activity-A01</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outputs/2026-10-23/beginner-start.md</a:t>
            </a:r>
          </a:p>
          <a:p xmlns:a="http://schemas.openxmlformats.org/drawingml/2006/main">
            <a:r>
              <a:t>ZIP을 일반 폴더에 풀고 data·code·work의 위치를 유지한다. data는 입력 자료, code는 참고 코드, work는 학생의 작업 복사본이다. 편집기는 파일을 쓰고 저장하는 도구이고, 터미널은 명령을 실행하는 창이다. 저장만 해서는 실행되지 않는다. 파일 이름과 확장자를 확인하고 안내된 폴더에서 명령을 입력하도록 돕는다. 실행이 막히면 오류 문구와 경로를 적고, 제공 출력이나 강사 시연을 예상과 비교하도록 안내한다.</a:t>
            </a:r>
          </a:p>
          <a:p xmlns:a="http://schemas.openxmlformats.org/drawingml/2006/main">
            <a:r>
              <a:t/>
            </a:r>
          </a:p>
          <a:p xmlns:a="http://schemas.openxmlformats.org/drawingml/2006/main">
            <a:r>
              <a:t>화면 예의 출처: .build/copyedited-ppt/spec-2026-10-23.json#slide-2</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https://zeusk302-png.github.io/kdigital-physical-ai/#/sessions/2026-10-23/activity-A01</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docs/schedule.md</a:t>
            </a:r>
          </a:p>
          <a:p xmlns:a="http://schemas.openxmlformats.org/drawingml/2006/main">
            <a:r>
              <a:t/>
            </a:r>
          </a:p>
          <a:p xmlns:a="http://schemas.openxmlformats.org/drawingml/2006/main">
            <a:r>
              <a:t>화면 예의 출처: .build/copyedited-ppt/spec-2026-10-23.json#slide-3</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https://zeusk302-png.github.io/kdigital-physical-ai/#/sessions/2026-10-23/activity-A01</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outputs/2026-10-23/beginner-start.md</a:t>
            </a:r>
          </a:p>
          <a:p xmlns:a="http://schemas.openxmlformats.org/drawingml/2006/main">
            <a:r>
              <a:t/>
            </a:r>
          </a:p>
          <a:p xmlns:a="http://schemas.openxmlformats.org/drawingml/2006/main">
            <a:r>
              <a:t>설치나 장비 연결이 안 된 학생도 제공 코드로 결과를 따라 읽을 수 있다. 직접 실행했는지, 강사 시연을 봤는지, 제공 출력을 비교했는지, 손으로 계산했는지 기록하게 한다.</a:t>
            </a:r>
          </a:p>
          <a:p xmlns:a="http://schemas.openxmlformats.org/drawingml/2006/main">
            <a:r>
              <a:t/>
            </a:r>
          </a:p>
          <a:p xmlns:a="http://schemas.openxmlformats.org/drawingml/2006/main">
            <a:r>
              <a:t>화면 예의 출처: .build/copyedited-ppt/spec-2026-10-23.json#slide-4</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https://zeusk302-png.github.io/kdigital-physical-ai/#/sessions/2026-10-23/activity-A01</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1교시 필수 개념 보충 · 전류가 돌아오는 길과 단위 계산</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실습 담당자가 3.3V 전원과 330Ω 저항을 종이에 연결합니다. “3.3이 흐른다”라는 말로는 무엇을 측정하는지 알 수 없습니다. 전압은 두 점 사이의 차이이고 단위는 V입니다. 전류는 시간당 이동하는 전하량이며 A, 저항은 전압과 전류의 관계를 나타내며 Ω입니다. 물의 압력 차이와 유량 비유는 역할을 기억하는 출발점으로만 사용합니다.</a:t>
            </a:r>
          </a:p>
          <a:p xmlns:a="http://schemas.openxmlformats.org/drawingml/2006/main">
            <a:r>
              <a:t/>
            </a:r>
          </a:p>
          <a:p xmlns:a="http://schemas.openxmlformats.org/drawingml/2006/main">
            <a:r>
              <a:t>전류의 통상적인 방향을 전원 + → 저항 → 전원 −로 표시합니다. 돌아오는 길까지 이어져야 닫힌 회로입니다. 중간이 끊어진 이상적인 회로에는 지속적인 전류가 흐르지 않습니다. GND는 이 회로에서 전압 비교의 기준으로 정한 지점이며 언제나 건물의 보호 접지라는 뜻은 아닙니다. 저항 없이 전원 +와 −를 잇는 것은 부하를 통과하는 정상 경로와 다릅니다.</a:t>
            </a:r>
          </a:p>
          <a:p xmlns:a="http://schemas.openxmlformats.org/drawingml/2006/main">
            <a:r>
              <a:t/>
            </a:r>
          </a:p>
          <a:p xmlns:a="http://schemas.openxmlformats.org/drawingml/2006/main">
            <a:r>
              <a:t>완성 계산의 입력은 저항 양단 전압 3.3V와 저항 330Ω입니다. 옴성 저항의 관계 V=IR에서 I=V/R로 바꿉니다. 3.3÷330=0.010A이고, 1A=1000mA이므로 10mA입니다. 저항을 660Ω으로 바꾸면 0.005A=5mA입니다. 나눗셈 결과에 바로 mA를 붙이면 1000배의 단위 오류가 됩니다. 계산은 이상적인 저항의 관계를 확인한 것이며 부품 발열, 허용 전류, 보드 출력 능력을 승인한 결과는 아닙니다. 실제 연결 전에는 부품과 보드 사양이 필요합니다. 모의 계산의 실행 여부와 실물 측정 여부를 기록 칸에서 나눕니다.</a:t>
            </a:r>
          </a:p>
          <a:p xmlns:a="http://schemas.openxmlformats.org/drawingml/2006/main">
            <a:r>
              <a:t/>
            </a:r>
          </a:p>
          <a:p xmlns:a="http://schemas.openxmlformats.org/drawingml/2006/main">
            <a:r>
              <a:t>새로운 입력에 직접 적용 · 복습 또는 도전</a:t>
            </a:r>
          </a:p>
          <a:p xmlns:a="http://schemas.openxmlformats.org/drawingml/2006/main">
            <a:r>
              <a:t/>
            </a:r>
          </a:p>
          <a:p xmlns:a="http://schemas.openxmlformats.org/drawingml/2006/main">
            <a:r>
              <a:t>복습 문제: 저항 양단 5V와 1000Ω이라는 새 종이 조건에서 A와 mA를 각각 계산하고 전류가 돌아오는 경로를 화살표로 그리세요. 가운데 선을 지웠을 때의 이상적 전류도 쓰세요.</a:t>
            </a:r>
          </a:p>
          <a:p xmlns:a="http://schemas.openxmlformats.org/drawingml/2006/main">
            <a:r>
              <a:t/>
            </a:r>
          </a:p>
          <a:p xmlns:a="http://schemas.openxmlformats.org/drawingml/2006/main">
            <a:r>
              <a:t>정답과 오답의 이유</a:t>
            </a:r>
          </a:p>
          <a:p xmlns:a="http://schemas.openxmlformats.org/drawingml/2006/main">
            <a:r>
              <a:t/>
            </a:r>
          </a:p>
          <a:p xmlns:a="http://schemas.openxmlformats.org/drawingml/2006/main">
            <a:r>
              <a:t>0.005A=5mA이며 + → 저항 → −입니다. 선이 끊어진 이상적 경로는 0A입니다. 5V를 ESP32 신호 입력에 연결해도 된다는 뜻은 아닙니다. 단위 계산과 연결 허용 판단은 별도 문제입니다.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전압은 몇 점 사이인가요? → 두 점 사이입니다.</a:t>
            </a:r>
          </a:p>
          <a:p xmlns:a="http://schemas.openxmlformats.org/drawingml/2006/main">
            <a:r>
              <a:t>2. 0.002A는? → 2mA입니다.</a:t>
            </a:r>
          </a:p>
          <a:p xmlns:a="http://schemas.openxmlformats.org/drawingml/2006/main">
            <a:r>
              <a:t>3. GND는 버리는 구멍인가요? → 전압 기준과 전류가 돌아오는 길의 역할을 읽어야 합니다.</a:t>
            </a:r>
          </a:p>
          <a:p xmlns:a="http://schemas.openxmlformats.org/drawingml/2006/main">
            <a:r>
              <a:t>먼저 시연하고 학생과 값을 따라 읽는다. 한 값을 바꿔 실행한 뒤 예상과 실제 결과를 비교하고, 왜 달라졌는지 질문한다. 기본 실습을 마치면 추가·복습 문제를 선택한다.</a:t>
            </a:r>
          </a:p>
          <a:p xmlns:a="http://schemas.openxmlformats.org/drawingml/2006/main">
            <a:r>
              <a:t/>
            </a:r>
          </a:p>
          <a:p xmlns:a="http://schemas.openxmlformats.org/drawingml/2006/main">
            <a:r>
              <a:t>화면 예의 출처: .build/copyedited-ppt/spec-2026-10-23.json#slide-5</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https://zeusk302-png.github.io/kdigital-physical-ai/#/sessions/2026-10-23/activity-A01</a:t>
            </a:r>
          </a:p>
          <a:p xmlns:a="http://schemas.openxmlformats.org/drawingml/2006/main">
            <a:r>
              <a:t>공식 자료: https://docs.espressif.com/projects/arduino-esp32/en/latest/api/gpio.html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전압은 두 점 사이의 차이입니다.</a:t>
            </a:r>
          </a:p>
          <a:p xmlns:a="http://schemas.openxmlformats.org/drawingml/2006/main">
            <a:r>
              <a:t>단위는 V입니다.</a:t>
            </a:r>
          </a:p>
          <a:p xmlns:a="http://schemas.openxmlformats.org/drawingml/2006/main">
            <a:r>
              <a:t>실습 담당자가 3.3V 전원과 330Ω 저항을 종이에 연결합니다. “3.3이 흐른다”라는 말로는 무엇을 측정하는지 알 수 없습니다. 전압은 두 점 사이의 차이이고 단위는 V입니다. 전류는 시간당 이동하는 전하량이며 A, 저항은 전압과 전류의 관계를 나타내며 Ω입니다. 물의 압력 차이와 유량 비유는 역할을 기억하는 출발점으로만 사용합니다.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.build/copyedited-ppt/spec-2026-10-23.json#slide-6,12</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https://zeusk302-png.github.io/kdigital-physical-ai/#/sessions/2026-10-23/activity-A01</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두 점 사이 차이에 V 단위를 붙입니다.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시간당 이동하는 전하량입니다.</a:t>
            </a:r>
          </a:p>
          <a:p xmlns:a="http://schemas.openxmlformats.org/drawingml/2006/main">
            <a:r>
              <a:t>단위는 A, 작은 전류는 mA로 씁니다.</a:t>
            </a:r>
          </a:p>
          <a:p xmlns:a="http://schemas.openxmlformats.org/drawingml/2006/main">
            <a:r>
              <a:t>실습 담당자가 3.3V 전원과 330Ω 저항을 종이에 연결합니다. “3.3이 흐른다”라는 말로는 무엇을 측정하는지 알 수 없습니다. 전압은 두 점 사이의 차이이고 단위는 V입니다. 전류는 시간당 이동하는 전하량이며 A, 저항은 전압과 전류의 관계를 나타내며 Ω입니다. 물의 압력 차이와 유량 비유는 역할을 기억하는 출발점으로만 사용합니다.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.build/copyedited-ppt/spec-2026-10-23.json#slide-11,15</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https://zeusk302-png.github.io/kdigital-physical-ai/#/sessions/2026-10-23/activity-A01</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A값에1000을 곱하면 mA입니다.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옴성 저항의 관계는 V=IR입니다.</a:t>
            </a:r>
          </a:p>
          <a:p xmlns:a="http://schemas.openxmlformats.org/drawingml/2006/main">
            <a:r>
              <a:t>저항 단위는 Ω입니다.</a:t>
            </a:r>
          </a:p>
          <a:p xmlns:a="http://schemas.openxmlformats.org/drawingml/2006/main">
            <a:r>
              <a:t>실습 담당자가 3.3V 전원과 330Ω 저항을 종이에 연결합니다. “3.3이 흐른다”라는 말로는 무엇을 측정하는지 알 수 없습니다. 전압은 두 점 사이의 차이이고 단위는 V입니다. 전류는 시간당 이동하는 전하량이며 A, 저항은 전압과 전류의 관계를 나타내며 Ω입니다. 물의 압력 차이와 유량 비유는 역할을 기억하는 출발점으로만 사용합니다.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.build/copyedited-ppt/spec-2026-10-23.json#slide-12,15</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https://zeusk302-png.github.io/kdigital-physical-ai/#/sessions/2026-10-23/activity-A01</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저항 전류는3.3÷330으로 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전원 + → 저항 → 전원 −</a:t>
            </a:r>
          </a:p>
          <a:p xmlns:a="http://schemas.openxmlformats.org/drawingml/2006/main">
            <a:r>
              <a:t>완전히 이어진 길이 닫힌 회로입니다.</a:t>
            </a:r>
          </a:p>
          <a:p xmlns:a="http://schemas.openxmlformats.org/drawingml/2006/main">
            <a:r>
              <a:t>전류의 통상적인 방향을 전원 + → 저항 → 전원 −로 표시합니다. 돌아오는 길까지 이어져야 닫힌 회로입니다. 중간이 끊어진 이상적인 회로에는 지속적인 전류가 흐르지 않습니다. GND는 이 회로에서 전압 비교의 기준으로 정한 지점이며 언제나 건물의 보호 접지라는 뜻은 아닙니다. 저항 없이 전원 +와 −를 잇는 것은 부하를 통과하는 정상 경로와 다릅니다.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.build/copyedited-ppt/spec-2026-10-23.json#slide-9</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https://zeusk302-png.github.io/kdigital-physical-ai/#/sessions/2026-10-23/activity-A02</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전원으로 돌아오는 길까지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신호의 높고 낮음을 비교하는 기준입니다.</a:t>
            </a:r>
          </a:p>
          <a:p xmlns:a="http://schemas.openxmlformats.org/drawingml/2006/main">
            <a:r>
              <a:t>모든 GND가 건물 접지는 아닙니다.</a:t>
            </a:r>
          </a:p>
          <a:p xmlns:a="http://schemas.openxmlformats.org/drawingml/2006/main">
            <a:r>
              <a:t>전류의 통상적인 방향을 전원 + → 저항 → 전원 −로 표시합니다. 돌아오는 길까지 이어져야 닫힌 회로입니다. 중간이 끊어진 이상적인 회로에는 지속적인 전류가 흐르지 않습니다. GND는 이 회로에서 전압 비교의 기준으로 정한 지점이며 언제나 건물의 보호 접지라는 뜻은 아닙니다. 저항 없이 전원 +와 −를 잇는 것은 부하를 통과하는 정상 경로와 다릅니다.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.build/copyedited-ppt/spec-2026-10-23.json#slide-10</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https://zeusk302-png.github.io/kdigital-physical-ai/#/sessions/2026-10-23/activity-A02</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GND는 이 신호의 비교 기준입니다.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1A = 1000mA</a:t>
            </a:r>
          </a:p>
          <a:p xmlns:a="http://schemas.openxmlformats.org/drawingml/2006/main">
            <a:r>
              <a:t>0.010A = 10mA</a:t>
            </a:r>
          </a:p>
          <a:p xmlns:a="http://schemas.openxmlformats.org/drawingml/2006/main">
            <a:r>
              <a:t>실습 담당자가 3.3V 전원과 330Ω 저항을 종이에 연결합니다. “3.3이 흐른다”라는 말로는 무엇을 측정하는지 알 수 없습니다. 전압은 두 점 사이의 차이이고 단위는 V입니다. 전류는 시간당 이동하는 전하량이며 A, 저항은 전압과 전류의 관계를 나타내며 Ω입니다. 물의 압력 차이와 유량 비유는 역할을 기억하는 출발점으로만 사용합니다.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.build/copyedited-ppt/spec-2026-10-23.json#slide-11</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https://zeusk302-png.github.io/kdigital-physical-ai/#/sessions/2026-10-23/activity-A01</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0.010A와10mA는 같은 전류입니다.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
            </a:r>
          </a:p>
          <a:p xmlns:a="http://schemas.openxmlformats.org/drawingml/2006/main">
            <a:r>
              <a:t>전압은 저항 양단의3.3V라는 계산 가정이다. voltage_v/resistance_ohm으로 A를 구하고1000을 곱해 mA로 바꾼다. &lt;=는 작거나 같은지 비교하고, =는 이름에 값을 넣는다. /는 나눗셈, *는 곱셈이다. if 뒤 콜론과 들여쓴 raise는 조건이 맞을 때 오류를 알린다. round(...,2)는 소수 둘째 자리까지 반올림한다. 계산 결과가 실제 부품의 허용 전류를 뜻하지는 않는다.</a:t>
            </a:r>
          </a:p>
          <a:p xmlns:a="http://schemas.openxmlformats.org/drawingml/2006/main">
            <a:r>
              <a:t/>
            </a:r>
          </a:p>
          <a:p xmlns:a="http://schemas.openxmlformats.org/drawingml/2006/main">
            <a:r>
              <a:t>화면 예의 출처: .build/copyedited-ppt/spec-2026-10-23.json#slide-12</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https://zeusk302-png.github.io/kdigital-physical-ai/#/sessions/2026-10-23/activity-A03</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코드 12번의 입력과 출력 15번을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전압은 저항 양단의3.3V라는 계산 가정이다. voltage_v/resistance_ohm으로 A를 구하고1000을 곱해 mA로 바꾼다. &lt;=는 작거나 같은지 비교하고, =는 이름에 값을 넣는다. /는 나눗셈, *는 곱셈이다. if 뒤 콜론과 들여쓴 raise는 조건이 맞을 때 오류를 알린다. round(...,2)는 소수 둘째 자리까지 반올림한다. 계산 결과가 실제 부품의 허용 전류를 뜻하지는 않는다.</a:t>
            </a:r>
          </a:p>
          <a:p xmlns:a="http://schemas.openxmlformats.org/drawingml/2006/main">
            <a:r>
              <a:t>기호를 정확한 이름으로 설명하기 전에 역할을 쉬운 말로 연결한다. 대입·비교·반복·출력 중 어느 단계인지 학생이 가리키게 한다.</a:t>
            </a:r>
          </a:p>
          <a:p xmlns:a="http://schemas.openxmlformats.org/drawingml/2006/main">
            <a:r>
              <a:t/>
            </a:r>
          </a:p>
          <a:p xmlns:a="http://schemas.openxmlformats.org/drawingml/2006/main">
            <a:r>
              <a:t>화면 예의 출처: .build/copyedited-ppt/spec-2026-10-23.json#slide-13</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https://zeusk302-png.github.io/kdigital-physical-ai/#/sessions/2026-10-23/activity-A03</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코드 12번의 입력과 출력 15번을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제공 참고 코드가 있으면 code 원본을 보존하고 work에 복사한다. 화면의 새로운 짧은 예는 표시된 work 파일에 전체를 입력하고 저장한다. 터미널의 현재 위치는 course다. 명령의 상대 경로 work/를 바꾸지 않는다. 예상 출력은 다음 슬라이드에서 비교한다. Python·numpy·cv2 설치 조건은 해당 예제에 따라 확인하고 불가이면 제공 출력 비교를 사용한다.</a:t>
            </a:r>
          </a:p>
          <a:p xmlns:a="http://schemas.openxmlformats.org/drawingml/2006/main">
            <a:r>
              <a:t>전압은 저항 양단의3.3V라는 계산 가정이다. voltage_v/resistance_ohm으로 A를 구하고1000을 곱해 mA로 바꾼다. &lt;=는 작거나 같은지 비교하고, =는 이름에 값을 넣는다. /는 나눗셈, *는 곱셈이다. if 뒤 콜론과 들여쓴 raise는 조건이 맞을 때 오류를 알린다. round(...,2)는 소수 둘째 자리까지 반올림한다. 계산 결과가 실제 부품의 허용 전류를 뜻하지는 않는다.</a:t>
            </a:r>
          </a:p>
          <a:p xmlns:a="http://schemas.openxmlformats.org/drawingml/2006/main">
            <a:r>
              <a:t/>
            </a:r>
          </a:p>
          <a:p xmlns:a="http://schemas.openxmlformats.org/drawingml/2006/main">
            <a:r>
              <a:t>화면 예의 출처: .build/copyedited-ppt/spec-2026-10-23.json#slide-14</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https://zeusk302-png.github.io/kdigital-physical-ai/#/sessions/2026-10-23/activity-A03</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코드 12번의 입력과 출력 15번을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3.3÷330 = 0.010A</a:t>
            </a:r>
          </a:p>
          <a:p xmlns:a="http://schemas.openxmlformats.org/drawingml/2006/main">
            <a:r>
              <a:t>0.010×1000 = 10mA</a:t>
            </a:r>
          </a:p>
          <a:p xmlns:a="http://schemas.openxmlformats.org/drawingml/2006/main">
            <a:r>
              <a:t>출력: 10.0</a:t>
            </a:r>
          </a:p>
          <a:p xmlns:a="http://schemas.openxmlformats.org/drawingml/2006/main">
            <a:r>
              <a:t>완성 계산의 입력은 저항 양단 전압 3.3V와 저항 330Ω입니다. 옴성 저항의 관계 V=IR에서 I=V/R로 바꿉니다. 3.3÷330=0.010A이고, 1A=1000mA이므로 10mA입니다. 저항을 660Ω으로 바꾸면 0.005A=5mA입니다. 나눗셈 결과에 바로 mA를 붙이면 1000배의 단위 오류가 됩니다. 계산은 이상적인 저항의 관계를 확인한 것이며 부품 발열, 허용 전류, 보드 출력 능력을 승인한 결과는 아닙니다. 실제 연결 전에는 부품과 보드 사양이 필요합니다. 모의 계산의 실행 여부와 실물 측정 여부를 기록 칸에서 나눕니다.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.build/copyedited-ppt/spec-2026-10-23.json#slide-15</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https://zeusk302-png.github.io/kdigital-physical-ai/#/sessions/2026-10-23/activity-A03</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코드 12번의 입력과 출력 15번을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outputs/2026-10-23/practice-guide.md</a:t>
            </a:r>
          </a:p>
          <a:p xmlns:a="http://schemas.openxmlformats.org/drawingml/2006/main">
            <a:r>
              <a:t>이 화면에서 설명할 내용:</a:t>
            </a:r>
          </a:p>
          <a:p xmlns:a="http://schemas.openxmlformats.org/drawingml/2006/main">
            <a:r>
              <a:t>저항 양단 5V · 저항 1000Ω</a:t>
            </a:r>
          </a:p>
          <a:p xmlns:a="http://schemas.openxmlformats.org/drawingml/2006/main">
            <a:r>
              <a:t>전류를 A와 mA로 계산하세요.</a:t>
            </a:r>
          </a:p>
          <a:p xmlns:a="http://schemas.openxmlformats.org/drawingml/2006/main">
            <a:r>
              <a:t>복습 문제: 저항 양단 5V와 1000Ω이라는 새 종이 조건에서 A와 mA를 각각 계산하고 전류가 돌아오는 경로를 화살표로 그리세요. 가운데 선을 지웠을 때의 이상적 전류도 쓰세요.</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.build/copyedited-ppt/spec-2026-10-23.json#slide-16</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https://zeusk302-png.github.io/kdigital-physical-ai/#/sessions/2026-10-23/activity-A03</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0.005A = 5mA</a:t>
            </a:r>
          </a:p>
          <a:p xmlns:a="http://schemas.openxmlformats.org/drawingml/2006/main">
            <a:r>
              <a:t>단위 변환을 한 번 더 확인합니다.</a:t>
            </a:r>
          </a:p>
          <a:p xmlns:a="http://schemas.openxmlformats.org/drawingml/2006/main">
            <a:r>
              <a:t>이 계산만으로 GPIO에 5V를 연결해도 된다고 판단할 수 없습니다.</a:t>
            </a:r>
          </a:p>
          <a:p xmlns:a="http://schemas.openxmlformats.org/drawingml/2006/main">
            <a:r>
              <a:t>완성 계산의 입력은 저항 양단 전압 3.3V와 저항 330Ω입니다. 옴성 저항의 관계 V=IR에서 I=V/R로 바꿉니다. 3.3÷330=0.010A이고, 1A=1000mA이므로 10mA입니다. 저항을 660Ω으로 바꾸면 0.005A=5mA입니다. 나눗셈 결과에 바로 mA를 붙이면 1000배의 단위 오류가 됩니다. 계산은 이상적인 저항의 관계를 확인한 것이며 부품 발열, 허용 전류, 보드 출력 능력을 승인한 결과는 아닙니다. 실제 연결 전에는 부품과 보드 사양이 필요합니다. 모의 계산의 실행 여부와 실물 측정 여부를 기록 칸에서 나눕니다.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.build/copyedited-ppt/spec-2026-10-23.json#slide-17</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https://zeusk302-png.github.io/kdigital-physical-ai/#/sessions/2026-10-23/activity-A03</a:t>
            </a:r>
          </a:p>
          <a:p xmlns:a="http://schemas.openxmlformats.org/drawingml/2006/main">
            <a:r>
              <a:t>공식 자료: https://docs.espressif.com/projects/arduino-esp32/en/latest/api/gpio.html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outputs/2026-10-23/practice-guide.md</a:t>
            </a:r>
          </a:p>
          <a:p xmlns:a="http://schemas.openxmlformats.org/drawingml/2006/main">
            <a:r>
              <a:t>이 화면에서 설명할 내용:</a:t>
            </a:r>
          </a:p>
          <a:p xmlns:a="http://schemas.openxmlformats.org/drawingml/2006/main">
            <a:r>
              <a:t>저항을 660Ω으로 바꿉니다.</a:t>
            </a:r>
          </a:p>
          <a:p xmlns:a="http://schemas.openxmlformats.org/drawingml/2006/main">
            <a:r>
              <a:t>전류는 5mA가 됩니다.</a:t>
            </a:r>
          </a:p>
          <a:p xmlns:a="http://schemas.openxmlformats.org/drawingml/2006/main">
            <a:r>
              <a:t>완성 계산의 입력은 저항 양단 전압 3.3V와 저항 330Ω입니다. 옴성 저항의 관계 V=IR에서 I=V/R로 바꿉니다. 3.3÷330=0.010A이고, 1A=1000mA이므로 10mA입니다. 저항을 660Ω으로 바꾸면 0.005A=5mA입니다. 나눗셈 결과에 바로 mA를 붙이면 1000배의 단위 오류가 됩니다. 계산은 이상적인 저항의 관계를 확인한 것이며 부품 발열, 허용 전류, 보드 출력 능력을 승인한 결과는 아닙니다. 실제 연결 전에는 부품과 보드 사양이 필요합니다. 모의 계산의 실행 여부와 실물 측정 여부를 기록 칸에서 나눕니다.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.build/copyedited-ppt/spec-2026-10-23.json#slide-18</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https://zeusk302-png.github.io/kdigital-physical-ai/#/sessions/2026-10-23/activity-A03</a:t>
            </a:r>
          </a:p>
          <a:p xmlns:a="http://schemas.openxmlformats.org/drawingml/2006/main">
            <a:r>
              <a:t>공식 자료: https://docs.espressif.com/projects/arduino-esp32/en/latest/api/gpio.html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outputs/2026-10-23/beginner-start.md</a:t>
            </a:r>
          </a:p>
          <a:p xmlns:a="http://schemas.openxmlformats.org/drawingml/2006/main">
            <a:r>
              <a:t>이 화면에서 설명할 내용:</a:t>
            </a:r>
          </a:p>
          <a:p xmlns:a="http://schemas.openxmlformats.org/drawingml/2006/main">
            <a:r>
              <a:t>저항 0은 계산 입력 오류입니다.</a:t>
            </a:r>
          </a:p>
          <a:p xmlns:a="http://schemas.openxmlformats.org/drawingml/2006/main">
            <a:r>
              <a:t>실제 단락을 만들어 시험하지 않습니다.</a:t>
            </a:r>
          </a:p>
          <a:p xmlns:a="http://schemas.openxmlformats.org/drawingml/2006/main">
            <a:r>
              <a:t>전류의 통상적인 방향을 전원 + → 저항 → 전원 −로 표시합니다. 돌아오는 길까지 이어져야 닫힌 회로입니다. 중간이 끊어진 이상적인 회로에는 지속적인 전류가 흐르지 않습니다. GND는 이 회로에서 전압 비교의 기준으로 정한 지점이며 언제나 건물의 보호 접지라는 뜻은 아닙니다. 저항 없이 전원 +와 −를 잇는 것은 부하를 통과하는 정상 경로와 다릅니다.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.build/copyedited-ppt/spec-2026-10-23.json#slide-19</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https://zeusk302-png.github.io/kdigital-physical-ai/#/sessions/2026-10-23/activity-A03</a:t>
            </a:r>
          </a:p>
          <a:p xmlns:a="http://schemas.openxmlformats.org/drawingml/2006/main">
            <a:r>
              <a:t>공식 자료: https://docs.espressif.com/projects/arduino-esp32/en/latest/api/gpio.html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전압·전류·저항의 단위를 말해 봅시다.</a:t>
            </a:r>
          </a:p>
          <a:p xmlns:a="http://schemas.openxmlformats.org/drawingml/2006/main">
            <a:r>
              <a:t>계산한 전류와 실제로 측정한 전류가 어떻게 다른지 설명합니다.</a:t>
            </a:r>
          </a:p>
          <a:p xmlns:a="http://schemas.openxmlformats.org/drawingml/2006/main">
            <a:r>
              <a:t>완성 계산의 입력은 저항 양단 전압 3.3V와 저항 330Ω입니다. 옴성 저항의 관계 V=IR에서 I=V/R로 바꿉니다. 3.3÷330=0.010A이고, 1A=1000mA이므로 10mA입니다. 저항을 660Ω으로 바꾸면 0.005A=5mA입니다. 나눗셈 결과에 바로 mA를 붙이면 1000배의 단위 오류가 됩니다. 계산은 이상적인 저항의 관계를 확인한 것이며 부품 발열, 허용 전류, 보드 출력 능력을 승인한 결과는 아닙니다. 실제 연결 전에는 부품과 보드 사양이 필요합니다. 모의 계산의 실행 여부와 실물 측정 여부를 기록 칸에서 나눕니다.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.build/copyedited-ppt/spec-2026-10-23.json#slide-20</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https://zeusk302-png.github.io/kdigital-physical-ai/#/sessions/2026-10-23/activity-A03</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outputs/2026-10-23/assessment.md</a:t>
            </a:r>
          </a:p>
          <a:p xmlns:a="http://schemas.openxmlformats.org/drawingml/2006/main">
            <a:r>
              <a:t>이 화면에서 설명할 내용:</a:t>
            </a:r>
          </a:p>
          <a:p xmlns:a="http://schemas.openxmlformats.org/drawingml/2006/main">
            <a:r>
              <a:t>추가·복습: 2.4V · 1200Ω</a:t>
            </a:r>
          </a:p>
          <a:p xmlns:a="http://schemas.openxmlformats.org/drawingml/2006/main">
            <a:r>
              <a:t>계산 전류와 돌아오는 길을 설명하세요.</a:t>
            </a:r>
          </a:p>
          <a:p xmlns:a="http://schemas.openxmlformats.org/drawingml/2006/main">
            <a:r>
              <a:t>복습 문제: 저항 양단 5V와 1000Ω이라는 새 종이 조건에서 A와 mA를 각각 계산하고 전류가 돌아오는 경로를 화살표로 그리세요. 가운데 선을 지웠을 때의 이상적 전류도 쓰세요.</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관련 다른 상황에 적용하는 문제와 해설:</a:t>
            </a:r>
          </a:p>
          <a:p xmlns:a="http://schemas.openxmlformats.org/drawingml/2006/main">
            <a:r>
              <a:t>저항 양단 2.4V·1200Ω일 때 A와 mA를 계산하고 닫힌 경로를 설명하세요.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0.002A=2mA입니다. 전원 +에서 저항을 거쳐 −로 돌아오는 길을 포함합니다.</a:t>
            </a:r>
          </a:p>
          <a:p xmlns:a="http://schemas.openxmlformats.org/drawingml/2006/main">
            <a:r>
              <a:t/>
            </a:r>
          </a:p>
          <a:p xmlns:a="http://schemas.openxmlformats.org/drawingml/2006/main">
            <a:r>
              <a:t>&lt;/details&gt;</a:t>
            </a:r>
          </a:p>
          <a:p xmlns:a="http://schemas.openxmlformats.org/drawingml/2006/main">
            <a:r>
              <a:t>수업 활동 뒤 선택한다. 50분 안에 다 풀기 어려우면 수업 뒤에 이어서 풀도록 안내한다.</a:t>
            </a:r>
          </a:p>
          <a:p xmlns:a="http://schemas.openxmlformats.org/drawingml/2006/main">
            <a:r>
              <a:t/>
            </a:r>
          </a:p>
          <a:p xmlns:a="http://schemas.openxmlformats.org/drawingml/2006/main">
            <a:r>
              <a:t>화면 예의 출처: .build/copyedited-ppt/spec-2026-10-23.json#slide-21</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https://zeusk302-png.github.io/kdigital-physical-ai/#/sessions/2026-10-23/activity-A03</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2교시 필수 개념 보충 · LED 직렬 저항과 보드 신호의 전압</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알림등을 달고 싶은 담당자는 LED가 밝아지면 성공이라고 생각합니다. 그러나 빛이 보이는 것과 부품이 정격 안에서 동작하는 것은 다릅니다. LED는 방향이 있는 다이오드이며 저항처럼 일정한 V/I 값으로 취급하지 않습니다. 직렬 저항은 같은 가지를 흐르는 전류를 제한합니다.</a:t>
            </a:r>
          </a:p>
          <a:p xmlns:a="http://schemas.openxmlformats.org/drawingml/2006/main">
            <a:r>
              <a:t/>
            </a:r>
          </a:p>
          <a:p xmlns:a="http://schemas.openxmlformats.org/drawingml/2006/main">
            <a:r>
              <a:t>제작 가정으로 공급 전압 3.3V, LED 전압 강하 2.0V, 직렬 저항 330Ω을 정합니다. 저항에 걸리는 전압은 3.3−2.0=1.3V입니다. 전류는 1.3÷330=0.00394A, 약 3.94mA입니다. 저항 양단에 3.3V 전체가 걸린다고 계산한 10mA와 다릅니다. 목표 전류를 가상으로 5mA라 정하면 필요한 이상적 저항은 1.3÷0.005=260Ω입니다. 실제 선택은 LED 사양, 허용 전류, 저항 정격, 오차와 사용 가능한 표준값을 확인하는 후속 작업입니다. 오늘 숫자는 배선 승인값이 아닙니다.</a:t>
            </a:r>
          </a:p>
          <a:p xmlns:a="http://schemas.openxmlformats.org/drawingml/2006/main">
            <a:r>
              <a:t/>
            </a:r>
          </a:p>
          <a:p xmlns:a="http://schemas.openxmlformats.org/drawingml/2006/main">
            <a:r>
              <a:t>칩은 계산과 입출력을 수행하는 핵심 부품, 모듈은 칩과 주변 회로 묶음, 개발 보드는 연결과 개발을 돕는 전체 기판입니다. 보드에 5V 전원 단자가 있어도 GPIO 입력이 5V를 허용한다는 결론은 나오지 않습니다. GPIO는 프로그램으로 디지털 신호를 읽거나 출력하는 핀이며 HIGH는 정해진 논리 수준을 뜻합니다. 핀 번호, 부팅 관련 기능, 출력 전류 제한은 정확한 ESP32 계열과 보드 문서로 확인해야 합니다. 모델이 미확정이면 구체 배선 대신 확인할 항목을 작성합니다.</a:t>
            </a:r>
          </a:p>
          <a:p xmlns:a="http://schemas.openxmlformats.org/drawingml/2006/main">
            <a:r>
              <a:t/>
            </a:r>
          </a:p>
          <a:p xmlns:a="http://schemas.openxmlformats.org/drawingml/2006/main">
            <a:r>
              <a:t>새로운 입력에 직접 적용 · 복습 또는 도전</a:t>
            </a:r>
          </a:p>
          <a:p xmlns:a="http://schemas.openxmlformats.org/drawingml/2006/main">
            <a:r>
              <a:t/>
            </a:r>
          </a:p>
          <a:p xmlns:a="http://schemas.openxmlformats.org/drawingml/2006/main">
            <a:r>
              <a:t>복습 문제: 공급 3.3V, 가정 LED 강하 1.8V, 저항 500Ω에서 전류를 계산하세요. 보드 전원 입력 표시에 5V가 있다는 이유로 센서의 5V 출력을 GPIO에 연결할 수 있는지도 판단하세요.</a:t>
            </a:r>
          </a:p>
          <a:p xmlns:a="http://schemas.openxmlformats.org/drawingml/2006/main">
            <a:r>
              <a:t/>
            </a:r>
          </a:p>
          <a:p xmlns:a="http://schemas.openxmlformats.org/drawingml/2006/main">
            <a:r>
              <a:t>정답과 오답의 이유</a:t>
            </a:r>
          </a:p>
          <a:p xmlns:a="http://schemas.openxmlformats.org/drawingml/2006/main">
            <a:r>
              <a:t/>
            </a:r>
          </a:p>
          <a:p xmlns:a="http://schemas.openxmlformats.org/drawingml/2006/main">
            <a:r>
              <a:t>저항 전압은 1.5V, 전류는 3mA입니다. GPIO 허용 전압은 별도 사양으로 확인해야 합니다. LED 강하를 더해 5.1V로 계산하거나 USB 전원과 신호 입력 정격을 같은 것으로 읽으면 오답입니다.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직렬 가지의 전류는? → 같은 가지에서 같습니다.</a:t>
            </a:r>
          </a:p>
          <a:p xmlns:a="http://schemas.openxmlformats.org/drawingml/2006/main">
            <a:r>
              <a:t>2. 2.0V는 확정 사양인가요? → 여기서는 계산용 가정입니다.</a:t>
            </a:r>
          </a:p>
          <a:p xmlns:a="http://schemas.openxmlformats.org/drawingml/2006/main">
            <a:r>
              <a:t>3. 모델 미확정 시 핀 번호는? → 확정하지 않고 확인 항목으로 남깁니다.</a:t>
            </a:r>
          </a:p>
          <a:p xmlns:a="http://schemas.openxmlformats.org/drawingml/2006/main">
            <a:r>
              <a:t>먼저 시연하고 학생과 값을 따라 읽는다. 한 값을 바꿔 실행한 뒤 예상과 실제 결과를 비교하고, 왜 달라졌는지 질문한다. 기본 실습을 마치면 추가·복습 문제를 선택한다.</a:t>
            </a:r>
          </a:p>
          <a:p xmlns:a="http://schemas.openxmlformats.org/drawingml/2006/main">
            <a:r>
              <a:t/>
            </a:r>
          </a:p>
          <a:p xmlns:a="http://schemas.openxmlformats.org/drawingml/2006/main">
            <a:r>
              <a:t>화면 예의 출처: .build/copyedited-ppt/spec-2026-10-23.json#slide-22</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빛을 내는 다이오드입니다.</a:t>
            </a:r>
          </a:p>
          <a:p xmlns:a="http://schemas.openxmlformats.org/drawingml/2006/main">
            <a:r>
              <a:t>고정 저항처럼 계산하지 않습니다.</a:t>
            </a:r>
          </a:p>
          <a:p xmlns:a="http://schemas.openxmlformats.org/drawingml/2006/main">
            <a:r>
              <a:t>알림등을 달고 싶은 담당자는 LED가 밝아지면 성공이라고 생각합니다. 그러나 빛이 보이는 것과 부품이 정격 안에서 동작하는 것은 다릅니다. LED는 방향이 있는 다이오드이며 저항처럼 일정한 V/I 값으로 취급하지 않습니다. 직렬 저항은 같은 가지를 흐르는 전류를 제한합니다.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.build/copyedited-ppt/spec-2026-10-23.json#slide-23,25</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2.0V는 실제 측정이 아닌 계산 가정입니다.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같은 가지의 전류는 같습니다.</a:t>
            </a:r>
          </a:p>
          <a:p xmlns:a="http://schemas.openxmlformats.org/drawingml/2006/main">
            <a:r>
              <a:t>공급 전압과 LED 강하를 구분합니다.</a:t>
            </a:r>
          </a:p>
          <a:p xmlns:a="http://schemas.openxmlformats.org/drawingml/2006/main">
            <a:r>
              <a:t>제작 가정으로 공급 전압 3.3V, LED 전압 강하 2.0V, 직렬 저항 330Ω을 정합니다. 저항에 걸리는 전압은 3.3−2.0=1.3V입니다. 전류는 1.3÷330=0.00394A, 약 3.94mA입니다. 저항 양단에 3.3V 전체가 걸린다고 계산한 10mA와 다릅니다. 목표 전류를 가상으로 5mA라 정하면 필요한 이상적 저항은 1.3÷0.005=260Ω입니다. 실제 선택은 LED 사양, 허용 전류, 저항 정격, 오차와 사용 가능한 표준값을 확인하는 후속 작업입니다. 오늘 숫자는 배선 승인값이 아닙니다.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.build/copyedited-ppt/spec-2026-10-23.json#slide-24,25</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저항 양단에는 공급3.3V가 전부 걸리지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계산 가정: 공급 3.3V · LED 강하 2.0V</a:t>
            </a:r>
          </a:p>
          <a:p xmlns:a="http://schemas.openxmlformats.org/drawingml/2006/main">
            <a:r>
              <a:t>저항 전압 = 3.3−2.0 = 1.3V</a:t>
            </a:r>
          </a:p>
          <a:p xmlns:a="http://schemas.openxmlformats.org/drawingml/2006/main">
            <a:r>
              <a:t>제작 가정으로 공급 전압 3.3V, LED 전압 강하 2.0V, 직렬 저항 330Ω을 정합니다. 저항에 걸리는 전압은 3.3−2.0=1.3V입니다. 전류는 1.3÷330=0.00394A, 약 3.94mA입니다. 저항 양단에 3.3V 전체가 걸린다고 계산한 10mA와 다릅니다. 목표 전류를 가상으로 5mA라 정하면 필요한 이상적 저항은 1.3÷0.005=260Ω입니다. 실제 선택은 LED 사양, 허용 전류, 저항 정격, 오차와 사용 가능한 표준값을 확인하는 후속 작업입니다. 오늘 숫자는 배선 승인값이 아닙니다.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.build/copyedited-ppt/spec-2026-10-23.json#slide-25</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LED 강하2.0V를 공급에서 뺍니다.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칩: 계산과 입출력</a:t>
            </a:r>
          </a:p>
          <a:p xmlns:a="http://schemas.openxmlformats.org/drawingml/2006/main">
            <a:r>
              <a:t>모듈: 주변 부품 묶음 · 보드: 개발 연결판</a:t>
            </a:r>
          </a:p>
          <a:p xmlns:a="http://schemas.openxmlformats.org/drawingml/2006/main">
            <a:r>
              <a:t>칩은 계산과 입출력을 수행하는 핵심 부품, 모듈은 칩과 주변 회로 묶음, 개발 보드는 연결과 개발을 돕는 전체 기판입니다. 보드에 5V 전원 단자가 있어도 GPIO 입력이 5V를 허용한다는 결론은 나오지 않습니다. GPIO는 프로그램으로 디지털 신호를 읽거나 출력하는 핀이며 HIGH는 정해진 논리 수준을 뜻합니다. 핀 번호, 부팅 관련 기능, 출력 전류 제한은 정확한 ESP32 계열과 보드 문서로 확인해야 합니다. 모델이 미확정이면 구체 배선 대신 확인할 항목을 작성합니다.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.build/copyedited-ppt/spec-2026-10-23.json#slide-26</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https://zeusk302-png.github.io/kdigital-physical-ai/#/sessions/2026-10-23/activity-A05</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보드 전원 단자와 칩 신호 핀을 구별합니다.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프로그램으로 디지털 신호를 읽고 출력합니다.</a:t>
            </a:r>
          </a:p>
          <a:p xmlns:a="http://schemas.openxmlformats.org/drawingml/2006/main">
            <a:r>
              <a:t>HIGH의 전압 범위는 보드 문서로 확인합니다.</a:t>
            </a:r>
          </a:p>
          <a:p xmlns:a="http://schemas.openxmlformats.org/drawingml/2006/main">
            <a:r>
              <a:t>칩은 계산과 입출력을 수행하는 핵심 부품, 모듈은 칩과 주변 회로 묶음, 개발 보드는 연결과 개발을 돕는 전체 기판입니다. 보드에 5V 전원 단자가 있어도 GPIO 입력이 5V를 허용한다는 결론은 나오지 않습니다. GPIO는 프로그램으로 디지털 신호를 읽거나 출력하는 핀이며 HIGH는 정해진 논리 수준을 뜻합니다. 핀 번호, 부팅 관련 기능, 출력 전류 제한은 정확한 ESP32 계열과 보드 문서로 확인해야 합니다. 모델이 미확정이면 구체 배선 대신 확인할 항목을 작성합니다.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.build/copyedited-ppt/spec-2026-10-23.json#slide-27,28</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https://zeusk302-png.github.io/kdigital-physical-ai/#/sessions/2026-10-23/activity-A06</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HIGH 전압은 정확한 보드 문서로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보드 전원 단자만 보고 신호 전압을 정하지 않습니다.</a:t>
            </a:r>
          </a:p>
          <a:p xmlns:a="http://schemas.openxmlformats.org/drawingml/2006/main">
            <a:r>
              <a:t>정확한 보드·핀 문서가 필요합니다.</a:t>
            </a:r>
          </a:p>
          <a:p xmlns:a="http://schemas.openxmlformats.org/drawingml/2006/main">
            <a:r>
              <a:t>칩은 계산과 입출력을 수행하는 핵심 부품, 모듈은 칩과 주변 회로 묶음, 개발 보드는 연결과 개발을 돕는 전체 기판입니다. 보드에 5V 전원 단자가 있어도 GPIO 입력이 5V를 허용한다는 결론은 나오지 않습니다. GPIO는 프로그램으로 디지털 신호를 읽거나 출력하는 핀이며 HIGH는 정해진 논리 수준을 뜻합니다. 핀 번호, 부팅 관련 기능, 출력 전류 제한은 정확한 ESP32 계열과 보드 문서로 확인해야 합니다. 모델이 미확정이면 구체 배선 대신 확인할 항목을 작성합니다.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.build/copyedited-ppt/spec-2026-10-23.json#slide-28,36,79</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https://zeusk302-png.github.io/kdigital-physical-ai/#/sessions/2026-10-23/activity-A06</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전원 입력 정격을 GPIO 정격으로 쓰지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
            </a:r>
          </a:p>
          <a:p xmlns:a="http://schemas.openxmlformats.org/drawingml/2006/main">
            <a:r>
              <a:t>LED 전압 강하2.0V는 계산용 가정이다. 괄호 안의3.3−2.0을 먼저 계산하면 저항에 걸리는 전압은1.3V다. 이를330으로 나누면 A이고1000을 곱하면 mA다. or는 두 조건 중 하나라도 참일 때 참이다. supply_v &lt;led_v를 거절하는 것은 계산 입력을 검사하는 과정이다. 실제 다이오드의 특성을 모두 계산한 모델은 아니다. 참고 파일과 같은 계산으로3.94mA가 나온다.</a:t>
            </a:r>
          </a:p>
          <a:p xmlns:a="http://schemas.openxmlformats.org/drawingml/2006/main">
            <a:r>
              <a:t/>
            </a:r>
          </a:p>
          <a:p xmlns:a="http://schemas.openxmlformats.org/drawingml/2006/main">
            <a:r>
              <a:t>화면 예의 출처: .build/copyedited-ppt/spec-2026-10-23.json#slide-29</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코드 29번의 입력과 출력 32번을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LED 전압 강하2.0V는 계산용 가정이다. 괄호 안의3.3−2.0을 먼저 계산하면 저항에 걸리는 전압은1.3V다. 이를330으로 나누면 A이고1000을 곱하면 mA다. or는 두 조건 중 하나라도 참일 때 참이다. supply_v &lt;led_v를 거절하는 것은 계산 입력을 검사하는 과정이다. 실제 다이오드의 특성을 모두 계산한 모델은 아니다. 참고 파일과 같은 계산으로3.94mA가 나온다.</a:t>
            </a:r>
          </a:p>
          <a:p xmlns:a="http://schemas.openxmlformats.org/drawingml/2006/main">
            <a:r>
              <a:t>기호를 정확한 이름으로 설명하기 전에 역할을 쉬운 말로 연결한다. 대입·비교·반복·출력 중 어느 단계인지 학생이 가리키게 한다.</a:t>
            </a:r>
          </a:p>
          <a:p xmlns:a="http://schemas.openxmlformats.org/drawingml/2006/main">
            <a:r>
              <a:t/>
            </a:r>
          </a:p>
          <a:p xmlns:a="http://schemas.openxmlformats.org/drawingml/2006/main">
            <a:r>
              <a:t>화면 예의 출처: .build/copyedited-ppt/spec-2026-10-23.json#slide-30</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코드 29번의 입력과 출력 32번을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제공 참고 코드가 있으면 code 원본을 보존하고 work에 복사한다. 화면의 새로운 짧은 예는 표시된 work 파일에 전체를 입력하고 저장한다. 터미널의 현재 위치는 course다. 명령의 상대 경로 work/를 바꾸지 않는다. 예상 출력은 다음 슬라이드에서 비교한다. Python·numpy·cv2 설치 조건은 해당 예제에 따라 확인하고 불가이면 제공 출력 비교를 사용한다.</a:t>
            </a:r>
          </a:p>
          <a:p xmlns:a="http://schemas.openxmlformats.org/drawingml/2006/main">
            <a:r>
              <a:t>LED 전압 강하2.0V는 계산용 가정이다. 괄호 안의3.3−2.0을 먼저 계산하면 저항에 걸리는 전압은1.3V다. 이를330으로 나누면 A이고1000을 곱하면 mA다. or는 두 조건 중 하나라도 참일 때 참이다. supply_v &lt;led_v를 거절하는 것은 계산 입력을 검사하는 과정이다. 실제 다이오드의 특성을 모두 계산한 모델은 아니다. 참고 파일과 같은 계산으로3.94mA가 나온다.</a:t>
            </a:r>
          </a:p>
          <a:p xmlns:a="http://schemas.openxmlformats.org/drawingml/2006/main">
            <a:r>
              <a:t/>
            </a:r>
          </a:p>
          <a:p xmlns:a="http://schemas.openxmlformats.org/drawingml/2006/main">
            <a:r>
              <a:t>화면 예의 출처: .build/copyedited-ppt/spec-2026-10-23.json#slide-31</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코드 29번의 입력과 출력 32번을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(3.3−2.0)÷330×1000</a:t>
            </a:r>
          </a:p>
          <a:p xmlns:a="http://schemas.openxmlformats.org/drawingml/2006/main">
            <a:r>
              <a:t>가정 전류: 3.94mA</a:t>
            </a:r>
          </a:p>
          <a:p xmlns:a="http://schemas.openxmlformats.org/drawingml/2006/main">
            <a:r>
              <a:t>저항만 연결한 10mA와 다릅니다.</a:t>
            </a:r>
          </a:p>
          <a:p xmlns:a="http://schemas.openxmlformats.org/drawingml/2006/main">
            <a:r>
              <a:t>제작 가정으로 공급 전압 3.3V, LED 전압 강하 2.0V, 직렬 저항 330Ω을 정합니다. 저항에 걸리는 전압은 3.3−2.0=1.3V입니다. 전류는 1.3÷330=0.00394A, 약 3.94mA입니다. 저항 양단에 3.3V 전체가 걸린다고 계산한 10mA와 다릅니다. 목표 전류를 가상으로 5mA라 정하면 필요한 이상적 저항은 1.3÷0.005=260Ω입니다. 실제 선택은 LED 사양, 허용 전류, 저항 정격, 오차와 사용 가능한 표준값을 확인하는 후속 작업입니다. 오늘 숫자는 배선 승인값이 아닙니다.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.build/copyedited-ppt/spec-2026-10-23.json#slide-15,25,32</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LED 계산은 저항 전압1.3V를 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outputs/2026-10-23/practice-guide.md</a:t>
            </a:r>
          </a:p>
          <a:p xmlns:a="http://schemas.openxmlformats.org/drawingml/2006/main">
            <a:r>
              <a:t>이 화면에서 설명할 내용:</a:t>
            </a:r>
          </a:p>
          <a:p xmlns:a="http://schemas.openxmlformats.org/drawingml/2006/main">
            <a:r>
              <a:t>공급 3.3V · LED 가정 1.8V · 저항 500Ω</a:t>
            </a:r>
          </a:p>
          <a:p xmlns:a="http://schemas.openxmlformats.org/drawingml/2006/main">
            <a:r>
              <a:t>계산 전류와 GPIO 연결 조건을 쓰세요.</a:t>
            </a:r>
          </a:p>
          <a:p xmlns:a="http://schemas.openxmlformats.org/drawingml/2006/main">
            <a:r>
              <a:t>복습 문제: 공급 3.3V, 가정 LED 강하 1.8V, 저항 500Ω에서 전류를 계산하세요. 보드 전원 입력 표시에 5V가 있다는 이유로 센서의 5V 출력을 GPIO에 연결할 수 있는지도 판단하세요.</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.build/copyedited-ppt/spec-2026-10-23.json#slide-33</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저항 전압: 1.5V</a:t>
            </a:r>
          </a:p>
          <a:p xmlns:a="http://schemas.openxmlformats.org/drawingml/2006/main">
            <a:r>
              <a:t>전류: 3mA</a:t>
            </a:r>
          </a:p>
          <a:p xmlns:a="http://schemas.openxmlformats.org/drawingml/2006/main">
            <a:r>
              <a:t>연결해도 되는지는 보드와 부품의 정격 문서로 확인합니다.</a:t>
            </a:r>
          </a:p>
          <a:p xmlns:a="http://schemas.openxmlformats.org/drawingml/2006/main">
            <a:r>
              <a:t>칩은 계산과 입출력을 수행하는 핵심 부품, 모듈은 칩과 주변 회로 묶음, 개발 보드는 연결과 개발을 돕는 전체 기판입니다. 보드에 5V 전원 단자가 있어도 GPIO 입력이 5V를 허용한다는 결론은 나오지 않습니다. GPIO는 프로그램으로 디지털 신호를 읽거나 출력하는 핀이며 HIGH는 정해진 논리 수준을 뜻합니다. 핀 번호, 부팅 관련 기능, 출력 전류 제한은 정확한 ESP32 계열과 보드 문서로 확인해야 합니다. 모델이 미확정이면 구체 배선 대신 확인할 항목을 작성합니다.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.build/copyedited-ppt/spec-2026-10-23.json#slide-34</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outputs/2026-10-23/practice-guide.md</a:t>
            </a:r>
          </a:p>
          <a:p xmlns:a="http://schemas.openxmlformats.org/drawingml/2006/main">
            <a:r>
              <a:t>이 화면에서 설명할 내용:</a:t>
            </a:r>
          </a:p>
          <a:p xmlns:a="http://schemas.openxmlformats.org/drawingml/2006/main">
            <a:r>
              <a:t>저항을 660Ω으로 바꿉니다.</a:t>
            </a:r>
          </a:p>
          <a:p xmlns:a="http://schemas.openxmlformats.org/drawingml/2006/main">
            <a:r>
              <a:t>계산 전류는 약 1.97mA입니다.</a:t>
            </a:r>
          </a:p>
          <a:p xmlns:a="http://schemas.openxmlformats.org/drawingml/2006/main">
            <a:r>
              <a:t>제작 가정으로 공급 전압 3.3V, LED 전압 강하 2.0V, 직렬 저항 330Ω을 정합니다. 저항에 걸리는 전압은 3.3−2.0=1.3V입니다. 전류는 1.3÷330=0.00394A, 약 3.94mA입니다. 저항 양단에 3.3V 전체가 걸린다고 계산한 10mA와 다릅니다. 목표 전류를 가상으로 5mA라 정하면 필요한 이상적 저항은 1.3÷0.005=260Ω입니다. 실제 선택은 LED 사양, 허용 전류, 저항 정격, 오차와 사용 가능한 표준값을 확인하는 후속 작업입니다. 오늘 숫자는 배선 승인값이 아닙니다.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.build/copyedited-ppt/spec-2026-10-23.json#slide-35</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outputs/2026-10-23/beginner-start.md</a:t>
            </a:r>
          </a:p>
          <a:p xmlns:a="http://schemas.openxmlformats.org/drawingml/2006/main">
            <a:r>
              <a:t>이 화면에서 설명할 내용:</a:t>
            </a:r>
          </a:p>
          <a:p xmlns:a="http://schemas.openxmlformats.org/drawingml/2006/main">
            <a:r>
              <a:t>저항 없이 LED를 바로 연결하지 않습니다.</a:t>
            </a:r>
          </a:p>
          <a:p xmlns:a="http://schemas.openxmlformats.org/drawingml/2006/main">
            <a:r>
              <a:t>모델·극성·정격을 확인할 때까지 연결하지 않습니다.</a:t>
            </a:r>
          </a:p>
          <a:p xmlns:a="http://schemas.openxmlformats.org/drawingml/2006/main">
            <a:r>
              <a:t>칩은 계산과 입출력을 수행하는 핵심 부품, 모듈은 칩과 주변 회로 묶음, 개발 보드는 연결과 개발을 돕는 전체 기판입니다. 보드에 5V 전원 단자가 있어도 GPIO 입력이 5V를 허용한다는 결론은 나오지 않습니다. GPIO는 프로그램으로 디지털 신호를 읽거나 출력하는 핀이며 HIGH는 정해진 논리 수준을 뜻합니다. 핀 번호, 부팅 관련 기능, 출력 전류 제한은 정확한 ESP32 계열과 보드 문서로 확인해야 합니다. 모델이 미확정이면 구체 배선 대신 확인할 항목을 작성합니다.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.build/copyedited-ppt/spec-2026-10-23.json#slide-36</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LED의 2.0V는 무엇을 뜻하나요?</a:t>
            </a:r>
          </a:p>
          <a:p xmlns:a="http://schemas.openxmlformats.org/drawingml/2006/main">
            <a:r>
              <a:t>계산값만 보고 연결하면 안 되는 이유를 설명합니다.</a:t>
            </a:r>
          </a:p>
          <a:p xmlns:a="http://schemas.openxmlformats.org/drawingml/2006/main">
            <a:r>
              <a:t>복습 문제: 공급 3.3V, 가정 LED 강하 1.8V, 저항 500Ω에서 전류를 계산하세요. 보드 전원 입력 표시에 5V가 있다는 이유로 센서의 5V 출력을 GPIO에 연결할 수 있는지도 판단하세요.</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.build/copyedited-ppt/spec-2026-10-23.json#slide-37</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outputs/2026-10-23/assessment.md</a:t>
            </a:r>
          </a:p>
          <a:p xmlns:a="http://schemas.openxmlformats.org/drawingml/2006/main">
            <a:r>
              <a:t>이 화면에서 설명할 내용:</a:t>
            </a:r>
          </a:p>
          <a:p xmlns:a="http://schemas.openxmlformats.org/drawingml/2006/main">
            <a:r>
              <a:t>추가·도전: 목표 전류 5mA 가정</a:t>
            </a:r>
          </a:p>
          <a:p xmlns:a="http://schemas.openxmlformats.org/drawingml/2006/main">
            <a:r>
              <a:t>이상적 저항 260Ω과 실제 선택을 구분하세요.</a:t>
            </a:r>
          </a:p>
          <a:p xmlns:a="http://schemas.openxmlformats.org/drawingml/2006/main">
            <a:r>
              <a:t>제작 가정으로 공급 전압 3.3V, LED 전압 강하 2.0V, 직렬 저항 330Ω을 정합니다. 저항에 걸리는 전압은 3.3−2.0=1.3V입니다. 전류는 1.3÷330=0.00394A, 약 3.94mA입니다. 저항 양단에 3.3V 전체가 걸린다고 계산한 10mA와 다릅니다. 목표 전류를 가상으로 5mA라 정하면 필요한 이상적 저항은 1.3÷0.005=260Ω입니다. 실제 선택은 LED 사양, 허용 전류, 저항 정격, 오차와 사용 가능한 표준값을 확인하는 후속 작업입니다. 오늘 숫자는 배선 승인값이 아닙니다.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관련 다른 상황에 적용하는 문제와 해설:</a:t>
            </a:r>
          </a:p>
          <a:p xmlns:a="http://schemas.openxmlformats.org/drawingml/2006/main">
            <a:r>
              <a:t>공급 5V·가정 LED 강하 2V·저항 1000Ω의 계산 전류와 GPIO 연결 승인 여부를 쓰세요.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3mA입니다. 수학 계산만으로 연결을 승인하지 않으며 정확한 보드·핀·부품 정격을 확인해야 합니다.</a:t>
            </a:r>
          </a:p>
          <a:p xmlns:a="http://schemas.openxmlformats.org/drawingml/2006/main">
            <a:r>
              <a:t/>
            </a:r>
          </a:p>
          <a:p xmlns:a="http://schemas.openxmlformats.org/drawingml/2006/main">
            <a:r>
              <a:t>&lt;/details&gt;</a:t>
            </a:r>
          </a:p>
          <a:p xmlns:a="http://schemas.openxmlformats.org/drawingml/2006/main">
            <a:r>
              <a:t>수업 활동 뒤 선택한다. 50분 안에 다 풀기 어려우면 수업 뒤에 이어서 풀도록 안내한다.</a:t>
            </a:r>
          </a:p>
          <a:p xmlns:a="http://schemas.openxmlformats.org/drawingml/2006/main">
            <a:r>
              <a:t/>
            </a:r>
          </a:p>
          <a:p xmlns:a="http://schemas.openxmlformats.org/drawingml/2006/main">
            <a:r>
              <a:t>화면 예의 출처: .build/copyedited-ppt/spec-2026-10-23.json#slide-38</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https://zeusk302-png.github.io/kdigital-physical-ai/#/sessions/2026-10-23/activity-A04</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3교시 필수 개념 보충 · 전압 신호를 숫자 기록으로 옮기기</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온도 센서 값을 대시보드에 보내려면 전기 신호가 어떤 숫자와 단위를 뜻하는지 약속해야 합니다. 연속적으로 변하는 전압을 아날로그 신호라 부릅니다. ADC는 그 신호를 제한된 개수의 숫자 단계로 바꾸는 변환기입니다. 숫자가 되었다고 바로 섭씨 온도가 되지는 않습니다.</a:t>
            </a:r>
          </a:p>
          <a:p xmlns:a="http://schemas.openxmlformats.org/drawingml/2006/main">
            <a:r>
              <a:t/>
            </a:r>
          </a:p>
          <a:p xmlns:a="http://schemas.openxmlformats.org/drawingml/2006/main">
            <a:r>
              <a:t>계산 연습용으로 0~3.3V를 코드 0~4095에 대응하는 이상적인 선형 모델을 가정합니다. 값 2048의 전압을 끝점 대응식으로 계산하면 2048÷4095×3.3≈1.6504V입니다. 이는 실물 ESP32 ADC의 교정 결과가 아닙니다. 실제 분해능 설정, 감쇠, 비선형성, 센서 변환식과 오차를 확인해야 합니다. 1.65V를 1.65℃라 적는 것은 단위가 생략된 해석 오류입니다.</a:t>
            </a:r>
          </a:p>
          <a:p xmlns:a="http://schemas.openxmlformats.org/drawingml/2006/main">
            <a:r>
              <a:t/>
            </a:r>
          </a:p>
          <a:p xmlns:a="http://schemas.openxmlformats.org/drawingml/2006/main">
            <a:r>
              <a:t>이번 파일 실습은 이미 섭씨 단위로 만든 temperature_c를 읽습니다. JSON 한 기록은 sensor_id, seq, temperature_c처럼 이름과 값의 짝으로 표현합니다. { }는 한 기록의 묶음, 콜론은 이름과 값의 연결, 쉼표는 항목 구분입니다. null은 값이 없음을 나타내며 Python으로 읽으면 None이 됩니다. 완성 예의 입력 seq=1, temperature_c=27.8은 숫자 확인 → 28.0 이상 비교 → normal 출력으로 이어집니다. 입력값 "27.8"은 따옴표가 있는 문자열이라 현재 예제에서 invalid입니다. missing, invalid, alert, normal의 출력 이름은 수업용 판단 약속이며 실제 센서 고장 원인을 확정하지 않습니다. 원시 입력과 판정 결과를 함께 남겨야 재검토할 수 있습니다.</a:t>
            </a:r>
          </a:p>
          <a:p xmlns:a="http://schemas.openxmlformats.org/drawingml/2006/main">
            <a:r>
              <a:t/>
            </a:r>
          </a:p>
          <a:p xmlns:a="http://schemas.openxmlformats.org/drawingml/2006/main">
            <a:r>
              <a:t>새로운 입력에 직접 적용 · 복습 또는 도전</a:t>
            </a:r>
          </a:p>
          <a:p xmlns:a="http://schemas.openxmlformats.org/drawingml/2006/main">
            <a:r>
              <a:t/>
            </a:r>
          </a:p>
          <a:p xmlns:a="http://schemas.openxmlformats.org/drawingml/2006/main">
            <a:r>
              <a:t>복습 문제: 가상 기록 세 개의 temperature_c가 0, null, "0"일 때 숫자 온도, 미측정, 잘못된 형식을 구분하세요. ADC 코드와 섭씨 값 사이에 필요한 정보 한 가지도 쓰세요.</a:t>
            </a:r>
          </a:p>
          <a:p xmlns:a="http://schemas.openxmlformats.org/drawingml/2006/main">
            <a:r>
              <a:t/>
            </a:r>
          </a:p>
          <a:p xmlns:a="http://schemas.openxmlformats.org/drawingml/2006/main">
            <a:r>
              <a:t>정답과 오답의 이유</a:t>
            </a:r>
          </a:p>
          <a:p xmlns:a="http://schemas.openxmlformats.org/drawingml/2006/main">
            <a:r>
              <a:t/>
            </a:r>
          </a:p>
          <a:p xmlns:a="http://schemas.openxmlformats.org/drawingml/2006/main">
            <a:r>
              <a:t>0은 숫자, null은 미측정, "0"은 문자열이라 현재 입력 규칙에서는 invalid입니다. 센서 변환식과 교정 조건이 필요합니다. 결측을 0으로 채우면 실제 영도 측정과 구별되지 않는 새 오류가 생깁니다.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ADC 값은 바로 온도인가요? → 아닙니다.</a:t>
            </a:r>
          </a:p>
          <a:p xmlns:a="http://schemas.openxmlformats.org/drawingml/2006/main">
            <a:r>
              <a:t>2. JSON null의 Python 값은? → None입니다.</a:t>
            </a:r>
          </a:p>
          <a:p xmlns:a="http://schemas.openxmlformats.org/drawingml/2006/main">
            <a:r>
              <a:t>3. 2048 계산은 실물 교정인가요? → 이상적 모델의 연습입니다.</a:t>
            </a:r>
          </a:p>
          <a:p xmlns:a="http://schemas.openxmlformats.org/drawingml/2006/main">
            <a:r>
              <a:t>먼저 시연하고 학생과 값을 따라 읽는다. 한 값을 바꿔 실행한 뒤 예상과 실제 결과를 비교하고, 왜 달라졌는지 질문한다. 기본 실습을 마치면 추가·복습 문제를 선택한다.</a:t>
            </a:r>
          </a:p>
          <a:p xmlns:a="http://schemas.openxmlformats.org/drawingml/2006/main">
            <a:r>
              <a:t/>
            </a:r>
          </a:p>
          <a:p xmlns:a="http://schemas.openxmlformats.org/drawingml/2006/main">
            <a:r>
              <a:t>화면 예의 출처: .build/copyedited-ppt/spec-2026-10-23.json#slide-39</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https://zeusk302-png.github.io/kdigital-physical-ai/#/sessions/2026-10-23/activity-A07</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전압이 연속적으로 바뀔 수 있습니다.</a:t>
            </a:r>
          </a:p>
          <a:p xmlns:a="http://schemas.openxmlformats.org/drawingml/2006/main">
            <a:r>
              <a:t>ADC가 제한된 숫자 단계로 바꿉니다.</a:t>
            </a:r>
          </a:p>
          <a:p xmlns:a="http://schemas.openxmlformats.org/drawingml/2006/main">
            <a:r>
              <a:t>온도 센서 값을 대시보드에 보내려면 전기 신호가 어떤 숫자와 단위를 뜻하는지 약속해야 합니다. 연속적으로 변하는 전압을 아날로그 신호라 부릅니다. ADC는 그 신호를 제한된 개수의 숫자 단계로 바꾸는 변환기입니다. 숫자가 되었다고 바로 섭씨 온도가 되지는 않습니다.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.build/copyedited-ppt/spec-2026-10-23.json#slide-42</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https://zeusk302-png.github.io/kdigital-physical-ai/#/sessions/2026-10-23/activity-A07</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2048은 전압이나 온도 자체가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전압 환산과 센서 변환식이 필요합니다.</a:t>
            </a:r>
          </a:p>
          <a:p xmlns:a="http://schemas.openxmlformats.org/drawingml/2006/main">
            <a:r>
              <a:t>단위를 확인하고 기록합니다.</a:t>
            </a:r>
          </a:p>
          <a:p xmlns:a="http://schemas.openxmlformats.org/drawingml/2006/main">
            <a:r>
              <a:t>온도 센서 값을 대시보드에 보내려면 전기 신호가 어떤 숫자와 단위를 뜻하는지 약속해야 합니다. 연속적으로 변하는 전압을 아날로그 신호라 부릅니다. ADC는 그 신호를 제한된 개수의 숫자 단계로 바꾸는 변환기입니다. 숫자가 되었다고 바로 섭씨 온도가 되지는 않습니다.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.build/copyedited-ppt/spec-2026-10-23.json#slide-41,42</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https://zeusk302-png.github.io/kdigital-physical-ai/#/sessions/2026-10-23/activity-A07</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센서 변환식 없이는 ℃를 알 수 없습니다.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가정: 0~3.3V ↔ 코드 0~4095</a:t>
            </a:r>
          </a:p>
          <a:p xmlns:a="http://schemas.openxmlformats.org/drawingml/2006/main">
            <a:r>
              <a:t>2048÷4095×3.3 ≈ 1.6504V</a:t>
            </a:r>
          </a:p>
          <a:p xmlns:a="http://schemas.openxmlformats.org/drawingml/2006/main">
            <a:r>
              <a:t>계산 연습용으로 0~3.3V를 코드 0~4095에 대응하는 이상적인 선형 모델을 가정합니다. 값 2048의 전압을 끝점 대응식으로 계산하면 2048÷4095×3.3≈1.6504V입니다. 이는 실물 ESP32 ADC의 교정 결과가 아닙니다. 실제 분해능 설정, 감쇠, 비선형성, 센서 변환식과 오차를 확인해야 합니다. 1.65V를 1.65℃라 적는 것은 단위가 생략된 해석 오류입니다.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.build/copyedited-ppt/spec-2026-10-23.json#slide-42</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https://zeusk302-png.github.io/kdigital-physical-ai/#/sessions/2026-10-23/activity-A07</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4095와3.3V는 이상적 환산의 가정입니다.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분해능 설정 · 감쇠 · 오차 · 교정</a:t>
            </a:r>
          </a:p>
          <a:p xmlns:a="http://schemas.openxmlformats.org/drawingml/2006/main">
            <a:r>
              <a:t>이상적 계산을 실물 교정값으로 쓰지 않습니다.</a:t>
            </a:r>
          </a:p>
          <a:p xmlns:a="http://schemas.openxmlformats.org/drawingml/2006/main">
            <a:r>
              <a:t>계산 연습용으로 0~3.3V를 코드 0~4095에 대응하는 이상적인 선형 모델을 가정합니다. 값 2048의 전압을 끝점 대응식으로 계산하면 2048÷4095×3.3≈1.6504V입니다. 이는 실물 ESP32 ADC의 교정 결과가 아닙니다. 실제 분해능 설정, 감쇠, 비선형성, 센서 변환식과 오차를 확인해야 합니다. 1.65V를 1.65℃라 적는 것은 단위가 생략된 해석 오류입니다.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.build/copyedited-ppt/spec-2026-10-23.json#slide-43</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https://zeusk302-png.github.io/kdigital-physical-ai/#/sessions/2026-10-23/activity-A07</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실물 감쇠·교정 설정이 계산과 다를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sensor_id · seq · temperature_c</a:t>
            </a:r>
          </a:p>
          <a:p xmlns:a="http://schemas.openxmlformats.org/drawingml/2006/main">
            <a:r>
              <a:t>온도 단위는 ℃로 약속합니다.</a:t>
            </a:r>
          </a:p>
          <a:p xmlns:a="http://schemas.openxmlformats.org/drawingml/2006/main">
            <a:r>
              <a:t>이번 파일 실습은 이미 섭씨 단위로 만든 temperature_c를 읽습니다. JSON 한 기록은 sensor_id, seq, temperature_c처럼 이름과 값의 짝으로 표현합니다. { }는 한 기록의 묶음, 콜론은 이름과 값의 연결, 쉼표는 항목 구분입니다. null은 값이 없음을 나타내며 Python으로 읽으면 None이 됩니다. 완성 예의 입력 seq=1, temperature_c=27.8은 숫자 확인 → 28.0 이상 비교 → normal 출력으로 이어집니다. 입력값 "27.8"은 따옴표가 있는 문자열이라 현재 예제에서 invalid입니다. missing, invalid, alert, normal의 출력 이름은 수업용 판단 약속이며 실제 센서 고장 원인을 확정하지 않습니다. 원시 입력과 판정 결과를 함께 남겨야 재검토할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.build/copyedited-ppt/spec-2026-10-23.json#slide-44</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https://zeusk302-png.github.io/kdigital-physical-ai/#/sessions/2026-10-23/activity-A08</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필드 이름과 단위를 함께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0: 숫자 온도 · null: 미측정</a:t>
            </a:r>
          </a:p>
          <a:p xmlns:a="http://schemas.openxmlformats.org/drawingml/2006/main">
            <a:r>
              <a:t>"0": 문자열이라 현재 입력 규칙에서 invalid</a:t>
            </a:r>
          </a:p>
          <a:p xmlns:a="http://schemas.openxmlformats.org/drawingml/2006/main">
            <a:r>
              <a:t>이번 파일 실습은 이미 섭씨 단위로 만든 temperature_c를 읽습니다. JSON 한 기록은 sensor_id, seq, temperature_c처럼 이름과 값의 짝으로 표현합니다. { }는 한 기록의 묶음, 콜론은 이름과 값의 연결, 쉼표는 항목 구분입니다. null은 값이 없음을 나타내며 Python으로 읽으면 None이 됩니다. 완성 예의 입력 seq=1, temperature_c=27.8은 숫자 확인 → 28.0 이상 비교 → normal 출력으로 이어집니다. 입력값 "27.8"은 따옴표가 있는 문자열이라 현재 예제에서 invalid입니다. missing, invalid, alert, normal의 출력 이름은 수업용 판단 약속이며 실제 센서 고장 원인을 확정하지 않습니다. 원시 입력과 판정 결과를 함께 남겨야 재검토할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.build/copyedited-ppt/spec-2026-10-23.json#slide-45,50,51</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https://zeusk302-png.github.io/kdigital-physical-ai/#/sessions/2026-10-23/activity-A08</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숫자0을 누락으로 바꾸지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
            </a:r>
          </a:p>
          <a:p xmlns:a="http://schemas.openxmlformats.org/drawingml/2006/main">
            <a:r>
              <a:t>Python의 None은 값이 없다는 뜻이다. type(value)로 자료형을 확인하고 bool의 True를 온도로 인정하지 않는다. elif는 앞 조건이 거짓일 때 다음 조건을 검사한다. 숫자28.0 이상이면 alert다. 따옴표로 감싼 "28.0"은 문자열이어서 invalid이고, 숫자28.0은 alert다. 이 코드에는 센서를 읽거나 ADC를 호출하는 부분이 없다.</a:t>
            </a:r>
          </a:p>
          <a:p xmlns:a="http://schemas.openxmlformats.org/drawingml/2006/main">
            <a:r>
              <a:t/>
            </a:r>
          </a:p>
          <a:p xmlns:a="http://schemas.openxmlformats.org/drawingml/2006/main">
            <a:r>
              <a:t>화면 예의 출처: .build/copyedited-ppt/spec-2026-10-23.json#slide-46</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https://zeusk302-png.github.io/kdigital-physical-ai/#/sessions/2026-10-23/activity-A09</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코드 46번의 입력과 출력 49번을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Python의 None은 값이 없다는 뜻이다. type(value)로 자료형을 확인하고 bool의 True를 온도로 인정하지 않는다. elif는 앞 조건이 거짓일 때 다음 조건을 검사한다. 숫자28.0 이상이면 alert다. 따옴표로 감싼 "28.0"은 문자열이어서 invalid이고, 숫자28.0은 alert다. 이 코드에는 센서를 읽거나 ADC를 호출하는 부분이 없다.</a:t>
            </a:r>
          </a:p>
          <a:p xmlns:a="http://schemas.openxmlformats.org/drawingml/2006/main">
            <a:r>
              <a:t>기호를 정확한 이름으로 설명하기 전에 역할을 쉬운 말로 연결한다. 대입·비교·반복·출력 중 어느 단계인지 학생이 가리키게 한다.</a:t>
            </a:r>
          </a:p>
          <a:p xmlns:a="http://schemas.openxmlformats.org/drawingml/2006/main">
            <a:r>
              <a:t/>
            </a:r>
          </a:p>
          <a:p xmlns:a="http://schemas.openxmlformats.org/drawingml/2006/main">
            <a:r>
              <a:t>화면 예의 출처: .build/copyedited-ppt/spec-2026-10-23.json#slide-47</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https://zeusk302-png.github.io/kdigital-physical-ai/#/sessions/2026-10-23/activity-A09</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코드 46번의 입력과 출력 49번을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제공 참고 코드가 있으면 code 원본을 보존하고 work에 복사한다. 화면의 새로운 짧은 예는 표시된 work 파일에 전체를 입력하고 저장한다. 터미널의 현재 위치는 course다. 명령의 상대 경로 work/를 바꾸지 않는다. 예상 출력은 다음 슬라이드에서 비교한다. Python·numpy·cv2 설치 조건은 해당 예제에 따라 확인하고 불가이면 제공 출력 비교를 사용한다.</a:t>
            </a:r>
          </a:p>
          <a:p xmlns:a="http://schemas.openxmlformats.org/drawingml/2006/main">
            <a:r>
              <a:t>Python의 None은 값이 없다는 뜻이다. type(value)로 자료형을 확인하고 bool의 True를 온도로 인정하지 않는다. elif는 앞 조건이 거짓일 때 다음 조건을 검사한다. 숫자28.0 이상이면 alert다. 따옴표로 감싼 "28.0"은 문자열이어서 invalid이고, 숫자28.0은 alert다. 이 코드에는 센서를 읽거나 ADC를 호출하는 부분이 없다.</a:t>
            </a:r>
          </a:p>
          <a:p xmlns:a="http://schemas.openxmlformats.org/drawingml/2006/main">
            <a:r>
              <a:t/>
            </a:r>
          </a:p>
          <a:p xmlns:a="http://schemas.openxmlformats.org/drawingml/2006/main">
            <a:r>
              <a:t>화면 예의 출처: .build/copyedited-ppt/spec-2026-10-23.json#slide-48</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https://zeusk302-png.github.io/kdigital-physical-ai/#/sessions/2026-10-23/activity-A09</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코드 46번의 입력과 출력 49번을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입력: 숫자 28.0</a:t>
            </a:r>
          </a:p>
          <a:p xmlns:a="http://schemas.openxmlformats.org/drawingml/2006/main">
            <a:r>
              <a:t>출력: alert</a:t>
            </a:r>
          </a:p>
          <a:p xmlns:a="http://schemas.openxmlformats.org/drawingml/2006/main">
            <a:r>
              <a:t>28.0은 이상 조건에 포함됩니다.</a:t>
            </a:r>
          </a:p>
          <a:p xmlns:a="http://schemas.openxmlformats.org/drawingml/2006/main">
            <a:r>
              <a:t>이번 파일 실습은 이미 섭씨 단위로 만든 temperature_c를 읽습니다. JSON 한 기록은 sensor_id, seq, temperature_c처럼 이름과 값의 짝으로 표현합니다. { }는 한 기록의 묶음, 콜론은 이름과 값의 연결, 쉼표는 항목 구분입니다. null은 값이 없음을 나타내며 Python으로 읽으면 None이 됩니다. 완성 예의 입력 seq=1, temperature_c=27.8은 숫자 확인 → 28.0 이상 비교 → normal 출력으로 이어집니다. 입력값 "27.8"은 따옴표가 있는 문자열이라 현재 예제에서 invalid입니다. missing, invalid, alert, normal의 출력 이름은 수업용 판단 약속이며 실제 센서 고장 원인을 확정하지 않습니다. 원시 입력과 판정 결과를 함께 남겨야 재검토할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.build/copyedited-ppt/spec-2026-10-23.json#slide-49</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https://zeusk302-png.github.io/kdigital-physical-ai/#/sessions/2026-10-23/activity-A09</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코드 46번의 입력과 출력 49번을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outputs/2026-10-23/practice-guide.md</a:t>
            </a:r>
          </a:p>
          <a:p xmlns:a="http://schemas.openxmlformats.org/drawingml/2006/main">
            <a:r>
              <a:t>이 화면에서 설명할 내용:</a:t>
            </a:r>
          </a:p>
          <a:p xmlns:a="http://schemas.openxmlformats.org/drawingml/2006/main">
            <a:r>
              <a:t>값 0 · None · "0"의 상태는?</a:t>
            </a:r>
          </a:p>
          <a:p xmlns:a="http://schemas.openxmlformats.org/drawingml/2006/main">
            <a:r>
              <a:t>누락을 0으로 바꾸면 어떤 문제가 생기나요?</a:t>
            </a:r>
          </a:p>
          <a:p xmlns:a="http://schemas.openxmlformats.org/drawingml/2006/main">
            <a:r>
              <a:t>온도 센서 값을 대시보드에 보내려면 전기 신호가 어떤 숫자와 단위를 뜻하는지 약속해야 합니다. 연속적으로 변하는 전압을 아날로그 신호라 부릅니다. ADC는 그 신호를 제한된 개수의 숫자 단계로 바꾸는 변환기입니다. 숫자가 되었다고 바로 섭씨 온도가 되지는 않습니다.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.build/copyedited-ppt/spec-2026-10-23.json#slide-50</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https://zeusk302-png.github.io/kdigital-physical-ai/#/sessions/2026-10-23/activity-A09</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0 → normal · None → missing</a:t>
            </a:r>
          </a:p>
          <a:p xmlns:a="http://schemas.openxmlformats.org/drawingml/2006/main">
            <a:r>
              <a:t>"0" → invalid</a:t>
            </a:r>
          </a:p>
          <a:p xmlns:a="http://schemas.openxmlformats.org/drawingml/2006/main">
            <a:r>
              <a:t>실제 영도와 미측정을 구별해야 합니다.</a:t>
            </a:r>
          </a:p>
          <a:p xmlns:a="http://schemas.openxmlformats.org/drawingml/2006/main">
            <a:r>
              <a:t>이번 파일 실습은 이미 섭씨 단위로 만든 temperature_c를 읽습니다. JSON 한 기록은 sensor_id, seq, temperature_c처럼 이름과 값의 짝으로 표현합니다. { }는 한 기록의 묶음, 콜론은 이름과 값의 연결, 쉼표는 항목 구분입니다. null은 값이 없음을 나타내며 Python으로 읽으면 None이 됩니다. 완성 예의 입력 seq=1, temperature_c=27.8은 숫자 확인 → 28.0 이상 비교 → normal 출력으로 이어집니다. 입력값 "27.8"은 따옴표가 있는 문자열이라 현재 예제에서 invalid입니다. missing, invalid, alert, normal의 출력 이름은 수업용 판단 약속이며 실제 센서 고장 원인을 확정하지 않습니다. 원시 입력과 판정 결과를 함께 남겨야 재검토할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.build/copyedited-ppt/spec-2026-10-23.json#slide-51</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https://zeusk302-png.github.io/kdigital-physical-ai/#/sessions/2026-10-23/activity-A09</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outputs/2026-10-23/practice-guide.md</a:t>
            </a:r>
          </a:p>
          <a:p xmlns:a="http://schemas.openxmlformats.org/drawingml/2006/main">
            <a:r>
              <a:t>이 화면에서 설명할 내용:</a:t>
            </a:r>
          </a:p>
          <a:p xmlns:a="http://schemas.openxmlformats.org/drawingml/2006/main">
            <a:r>
              <a:t>value를 27.9로 바꿉니다.</a:t>
            </a:r>
          </a:p>
          <a:p xmlns:a="http://schemas.openxmlformats.org/drawingml/2006/main">
            <a:r>
              <a:t>출력은 normal입니다.</a:t>
            </a:r>
          </a:p>
          <a:p xmlns:a="http://schemas.openxmlformats.org/drawingml/2006/main">
            <a:r>
              <a:t>이번 파일 실습은 이미 섭씨 단위로 만든 temperature_c를 읽습니다. JSON 한 기록은 sensor_id, seq, temperature_c처럼 이름과 값의 짝으로 표현합니다. { }는 한 기록의 묶음, 콜론은 이름과 값의 연결, 쉼표는 항목 구분입니다. null은 값이 없음을 나타내며 Python으로 읽으면 None이 됩니다. 완성 예의 입력 seq=1, temperature_c=27.8은 숫자 확인 → 28.0 이상 비교 → normal 출력으로 이어집니다. 입력값 "27.8"은 따옴표가 있는 문자열이라 현재 예제에서 invalid입니다. missing, invalid, alert, normal의 출력 이름은 수업용 판단 약속이며 실제 센서 고장 원인을 확정하지 않습니다. 원시 입력과 판정 결과를 함께 남겨야 재검토할 수 있습니다.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.build/copyedited-ppt/spec-2026-10-23.json#slide-52</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https://zeusk302-png.github.io/kdigital-physical-ai/#/sessions/2026-10-23/activity-A09</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outputs/2026-10-23/beginner-start.md</a:t>
            </a:r>
          </a:p>
          <a:p xmlns:a="http://schemas.openxmlformats.org/drawingml/2006/main">
            <a:r>
              <a:t>이 화면에서 설명할 내용:</a:t>
            </a:r>
          </a:p>
          <a:p xmlns:a="http://schemas.openxmlformats.org/drawingml/2006/main">
            <a:r>
              <a:t>"28.0"은 숫자 28.0과 다릅니다.</a:t>
            </a:r>
          </a:p>
          <a:p xmlns:a="http://schemas.openxmlformats.org/drawingml/2006/main">
            <a:r>
              <a:t>원래 값을 확인하고 정한 변환 규칙에 따라 처리합니다.</a:t>
            </a:r>
          </a:p>
          <a:p xmlns:a="http://schemas.openxmlformats.org/drawingml/2006/main">
            <a:r>
              <a:t>이번 파일 실습은 이미 섭씨 단위로 만든 temperature_c를 읽습니다. JSON 한 기록은 sensor_id, seq, temperature_c처럼 이름과 값의 짝으로 표현합니다. { }는 한 기록의 묶음, 콜론은 이름과 값의 연결, 쉼표는 항목 구분입니다. null은 값이 없음을 나타내며 Python으로 읽으면 None이 됩니다. 완성 예의 입력 seq=1, temperature_c=27.8은 숫자 확인 → 28.0 이상 비교 → normal 출력으로 이어집니다. 입력값 "27.8"은 따옴표가 있는 문자열이라 현재 예제에서 invalid입니다. missing, invalid, alert, normal의 출력 이름은 수업용 판단 약속이며 실제 센서 고장 원인을 확정하지 않습니다. 원시 입력과 판정 결과를 함께 남겨야 재검토할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.build/copyedited-ppt/spec-2026-10-23.json#slide-53</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https://zeusk302-png.github.io/kdigital-physical-ai/#/sessions/2026-10-23/activity-A09</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ADC 코드와 섭씨 온도의 차이를 설명합니다.</a:t>
            </a:r>
          </a:p>
          <a:p xmlns:a="http://schemas.openxmlformats.org/drawingml/2006/main">
            <a:r>
              <a:t>값·단위·자료형을 각각 말해 봅시다.</a:t>
            </a:r>
          </a:p>
          <a:p xmlns:a="http://schemas.openxmlformats.org/drawingml/2006/main">
            <a:r>
              <a:t>복습 문제: 가상 기록 세 개의 temperature_c가 0, null, "0"일 때 숫자 온도, 미측정, 잘못된 형식을 구분하세요. ADC 코드와 섭씨 값 사이에 필요한 정보 한 가지도 쓰세요.</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.build/copyedited-ppt/spec-2026-10-23.json#slide-54</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https://zeusk302-png.github.io/kdigital-physical-ai/#/sessions/2026-10-23/activity-A09</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outputs/2026-10-23/assessment.md</a:t>
            </a:r>
          </a:p>
          <a:p xmlns:a="http://schemas.openxmlformats.org/drawingml/2006/main">
            <a:r>
              <a:t>이 화면에서 설명할 내용:</a:t>
            </a:r>
          </a:p>
          <a:p xmlns:a="http://schemas.openxmlformats.org/drawingml/2006/main">
            <a:r>
              <a:t>추가·복습: 가정 ADC 코드 4095</a:t>
            </a:r>
          </a:p>
          <a:p xmlns:a="http://schemas.openxmlformats.org/drawingml/2006/main">
            <a:r>
              <a:t>전압은 얼마이며 실물 교정인가요?</a:t>
            </a:r>
          </a:p>
          <a:p xmlns:a="http://schemas.openxmlformats.org/drawingml/2006/main">
            <a:r>
              <a:t>계산 연습용으로 0~3.3V를 코드 0~4095에 대응하는 이상적인 선형 모델을 가정합니다. 값 2048의 전압을 끝점 대응식으로 계산하면 2048÷4095×3.3≈1.6504V입니다. 이는 실물 ESP32 ADC의 교정 결과가 아닙니다. 실제 분해능 설정, 감쇠, 비선형성, 센서 변환식과 오차를 확인해야 합니다. 1.65V를 1.65℃라 적는 것은 단위가 생략된 해석 오류입니다.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관련 다른 상황에 적용하는 문제와 해설:</a:t>
            </a:r>
          </a:p>
          <a:p xmlns:a="http://schemas.openxmlformats.org/drawingml/2006/main">
            <a:r>
              <a:t>이상적 0~3.3V·0~4095 끝점 대응에서 코드 4095와 JSON null의 의미를 각각 쓰세요.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4095는 모델의 3.3V, null은 값 없음입니다. 실물 교정이나 섭씨 온도를 직접 뜻하지 않습니다.</a:t>
            </a:r>
          </a:p>
          <a:p xmlns:a="http://schemas.openxmlformats.org/drawingml/2006/main">
            <a:r>
              <a:t/>
            </a:r>
          </a:p>
          <a:p xmlns:a="http://schemas.openxmlformats.org/drawingml/2006/main">
            <a:r>
              <a:t>&lt;/details&gt;</a:t>
            </a:r>
          </a:p>
          <a:p xmlns:a="http://schemas.openxmlformats.org/drawingml/2006/main">
            <a:r>
              <a:t>수업 활동 뒤 선택한다. 50분 안에 다 풀기 어려우면 수업 뒤에 이어서 풀도록 안내한다.</a:t>
            </a:r>
          </a:p>
          <a:p xmlns:a="http://schemas.openxmlformats.org/drawingml/2006/main">
            <a:r>
              <a:t/>
            </a:r>
          </a:p>
          <a:p xmlns:a="http://schemas.openxmlformats.org/drawingml/2006/main">
            <a:r>
              <a:t>화면 예의 출처: .build/copyedited-ppt/spec-2026-10-23.json#slide-55</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https://zeusk302-png.github.io/kdigital-physical-ai/#/sessions/2026-10-23/activity-A07</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4교시 필수 개념 보충 · 경계값과 상태를 기억하는 판단</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가상 온도가 27.9와 28.1 사이를 오가면 경보가 켜졌다 꺼졌다 반복될 수 있습니다. 한 문턱만 사용하는 규칙은 현재 값만 봅니다. 서로 다른 켜짐과 꺼짐 문턱을 사용하는 히스테리시스는 이전 상태도 기억합니다. 실제 장비 제어에 적용하려면 별도의 위험과 정격 검토가 필요하며 오늘은 상태 계산만 합니다.</a:t>
            </a:r>
          </a:p>
          <a:p xmlns:a="http://schemas.openxmlformats.org/drawingml/2006/main">
            <a:r>
              <a:t/>
            </a:r>
          </a:p>
          <a:p xmlns:a="http://schemas.openxmlformats.org/drawingml/2006/main">
            <a:r>
              <a:t>제작 규칙은 28.0 이상이면 alert=True, 27.5 이하이면 False, 사이이면 이전 상태 유지입니다. 초기 상태 False와 입력 [27.8,28.1,27.9,27.4]를 차례로 추적하면 False,True,True,False입니다. 27.9에서 False로 바뀌지 않는 이유는 중간 구간이기 때문입니다. 28.0과 27.5는 각각 켜짐과 꺼짐에 포함됩니다. 초기 상태가 달라지면 첫 중간 값의 출력도 달라지므로 시작 조건을 기록합니다.</a:t>
            </a:r>
          </a:p>
          <a:p xmlns:a="http://schemas.openxmlformats.org/drawingml/2006/main">
            <a:r>
              <a:t/>
            </a:r>
          </a:p>
          <a:p xmlns:a="http://schemas.openxmlformats.org/drawingml/2006/main">
            <a:r>
              <a:t>None은 온도가 아니라 측정 누락입니다. 예제는 missing과 no command를 출력하고 이전 내부 상태를 유지합니다. 이는 통신 실패 시 실제 부하를 안전하게 제어하는 정책이 완성되었다는 뜻은 아닙니다. 보존한 상태와 현재 유효한 측정이 있다는 사실을 구분합니다. 완성 추적표에는 순번, 원시값, 이전 상태, 적용한 조건, 새 상태, 측정 유효 여부를 둡니다. elif는 앞 조건이 거짓인 경우에만 다음 조건을 확인하고, continue는 이번 반복의 나머지 처리를 건너뜁니다. 결측 행을 지우거나 이전 온도를 새 측정처럼 복사하면 왜 판단이 유지되었는지 알 수 없습니다.</a:t>
            </a:r>
          </a:p>
          <a:p xmlns:a="http://schemas.openxmlformats.org/drawingml/2006/main">
            <a:r>
              <a:t/>
            </a:r>
          </a:p>
          <a:p xmlns:a="http://schemas.openxmlformats.org/drawingml/2006/main">
            <a:r>
              <a:t>새로운 입력에 직접 적용 · 복습 또는 도전</a:t>
            </a:r>
          </a:p>
          <a:p xmlns:a="http://schemas.openxmlformats.org/drawingml/2006/main">
            <a:r>
              <a:t/>
            </a:r>
          </a:p>
          <a:p xmlns:a="http://schemas.openxmlformats.org/drawingml/2006/main">
            <a:r>
              <a:t>복습 문제: 초기 False, 새 입력 [28.0,27.7,None,27.5]의 상태와 결측 시 출력 메시지를 순서대로 작성하세요. 중간 27.7이 True인 이유도 설명하세요.</a:t>
            </a:r>
          </a:p>
          <a:p xmlns:a="http://schemas.openxmlformats.org/drawingml/2006/main">
            <a:r>
              <a:t/>
            </a:r>
          </a:p>
          <a:p xmlns:a="http://schemas.openxmlformats.org/drawingml/2006/main">
            <a:r>
              <a:t>정답과 오답의 이유</a:t>
            </a:r>
          </a:p>
          <a:p xmlns:a="http://schemas.openxmlformats.org/drawingml/2006/main">
            <a:r>
              <a:t/>
            </a:r>
          </a:p>
          <a:p xmlns:a="http://schemas.openxmlformats.org/drawingml/2006/main">
            <a:r>
              <a:t>True,True,상태 True 유지와 no command,False입니다. 27.7은 두 문턱 사이입니다. None을 영도로 바꾸어 꺼짐 조건에 넣는 답은 결측과 수치를 혼동한 오답입니다. 실제 출력 장치의 안전 정책은 아직 시험하지 않았습니다.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중간 구간은? → 이전 상태를 유지합니다.</a:t>
            </a:r>
          </a:p>
          <a:p xmlns:a="http://schemas.openxmlformats.org/drawingml/2006/main">
            <a:r>
              <a:t>2. 초기 상태가 필요한 이유는? → 첫 중간 값의 판단이 달라질 수 있습니다.</a:t>
            </a:r>
          </a:p>
          <a:p xmlns:a="http://schemas.openxmlformats.org/drawingml/2006/main">
            <a:r>
              <a:t>3. 결측 출력은 새 온도인가요? → 아닙니다.</a:t>
            </a:r>
          </a:p>
          <a:p xmlns:a="http://schemas.openxmlformats.org/drawingml/2006/main">
            <a:r>
              <a:t>먼저 시연하고 학생과 값을 따라 읽는다. 한 값을 바꿔 실행한 뒤 예상과 실제 결과를 비교하고, 왜 달라졌는지 질문한다. 기본 실습을 마치면 추가·복습 문제를 선택한다.</a:t>
            </a:r>
          </a:p>
          <a:p xmlns:a="http://schemas.openxmlformats.org/drawingml/2006/main">
            <a:r>
              <a:t/>
            </a:r>
          </a:p>
          <a:p xmlns:a="http://schemas.openxmlformats.org/drawingml/2006/main">
            <a:r>
              <a:t>화면 예의 출처: .build/copyedited-ppt/spec-2026-10-23.json#slide-56</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https://zeusk302-png.github.io/kdigital-physical-ai/#/sessions/2026-10-23/activity-A10</a:t>
            </a:r>
          </a:p>
          <a:p xmlns:a="http://schemas.openxmlformats.org/drawingml/2006/main">
            <a:r>
              <a:t>공식 자료: https://docs.espressif.com/projects/arduino-esp32/en/latest/api/gpio.html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27.9↔28.1을 오가면 상태가 반복 변경됩니다.</a:t>
            </a:r>
          </a:p>
          <a:p xmlns:a="http://schemas.openxmlformats.org/drawingml/2006/main">
            <a:r>
              <a:t>이전 상태를 함께 볼 수 있습니다.</a:t>
            </a:r>
          </a:p>
          <a:p xmlns:a="http://schemas.openxmlformats.org/drawingml/2006/main">
            <a:r>
              <a:t>가상 온도가 27.9와 28.1 사이를 오가면 경보가 켜졌다 꺼졌다 반복될 수 있습니다. 한 문턱만 사용하는 규칙은 현재 값만 봅니다. 서로 다른 켜짐과 꺼짐 문턱을 사용하는 히스테리시스는 이전 상태도 기억합니다. 실제 장비 제어에 적용하려면 별도의 위험과 정격 검토가 필요하며 오늘은 상태 계산만 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.build/copyedited-ppt/spec-2026-10-23.json#slide-46,57</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https://zeusk302-png.github.io/kdigital-physical-ai/#/sessions/2026-10-23/activity-A11</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한 문턱에서는27.9와28.1이 반대 상태입니다.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28.0 이상이면 켜짐</a:t>
            </a:r>
          </a:p>
          <a:p xmlns:a="http://schemas.openxmlformats.org/drawingml/2006/main">
            <a:r>
              <a:t>27.5 이하이면 꺼짐</a:t>
            </a:r>
          </a:p>
          <a:p xmlns:a="http://schemas.openxmlformats.org/drawingml/2006/main">
            <a:r>
              <a:t>가상 온도가 27.9와 28.1 사이를 오가면 경보가 켜졌다 꺼졌다 반복될 수 있습니다. 한 문턱만 사용하는 규칙은 현재 값만 봅니다. 서로 다른 켜짐과 꺼짐 문턱을 사용하는 히스테리시스는 이전 상태도 기억합니다. 실제 장비 제어에 적용하려면 별도의 위험과 정격 검토가 필요하며 오늘은 상태 계산만 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.build/copyedited-ppt/spec-2026-10-23.json#slide-58</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https://zeusk302-png.github.io/kdigital-physical-ai/#/sessions/2026-10-23/activity-A11</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켜짐28.0과 꺼짐27.5를 다르게 둡니다.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27.5 초과·28.0 미만</a:t>
            </a:r>
          </a:p>
          <a:p xmlns:a="http://schemas.openxmlformats.org/drawingml/2006/main">
            <a:r>
              <a:t>바로 이전 상태를 그대로 둡니다.</a:t>
            </a:r>
          </a:p>
          <a:p xmlns:a="http://schemas.openxmlformats.org/drawingml/2006/main">
            <a:r>
              <a:t>제작 규칙은 28.0 이상이면 alert=True, 27.5 이하이면 False, 사이이면 이전 상태 유지입니다. 초기 상태 False와 입력 [27.8,28.1,27.9,27.4]를 차례로 추적하면 False,True,True,False입니다. 27.9에서 False로 바뀌지 않는 이유는 중간 구간이기 때문입니다. 28.0과 27.5는 각각 켜짐과 꺼짐에 포함됩니다. 초기 상태가 달라지면 첫 중간 값의 출력도 달라지므로 시작 조건을 기록합니다.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.build/copyedited-ppt/spec-2026-10-23.json#slide-63,66</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https://zeusk302-png.github.io/kdigital-physical-ai/#/sessions/2026-10-23/activity-A11</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중간27.9에서는 이전True가 남습니다.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처음 alert=False로 시작합니다.</a:t>
            </a:r>
          </a:p>
          <a:p xmlns:a="http://schemas.openxmlformats.org/drawingml/2006/main">
            <a:r>
              <a:t>첫 값이 중간이면 초기 상태가 유지됩니다.</a:t>
            </a:r>
          </a:p>
          <a:p xmlns:a="http://schemas.openxmlformats.org/drawingml/2006/main">
            <a:r>
              <a:t>제작 규칙은 28.0 이상이면 alert=True, 27.5 이하이면 False, 사이이면 이전 상태 유지입니다. 초기 상태 False와 입력 [27.8,28.1,27.9,27.4]를 차례로 추적하면 False,True,True,False입니다. 27.9에서 False로 바뀌지 않는 이유는 중간 구간이기 때문입니다. 28.0과 27.5는 각각 켜짐과 꺼짐에 포함됩니다. 초기 상태가 달라지면 첫 중간 값의 출력도 달라지므로 시작 조건을 기록합니다.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.build/copyedited-ppt/spec-2026-10-23.json#slide-60,63,69</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https://zeusk302-png.github.io/kdigital-physical-ai/#/sessions/2026-10-23/activity-A11</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첫 값27.8의 결과는 초기 상태에 달렸습니다.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missing · no command를 기록합니다.</a:t>
            </a:r>
          </a:p>
          <a:p xmlns:a="http://schemas.openxmlformats.org/drawingml/2006/main">
            <a:r>
              <a:t>내부 상태와 측정 유효성을 구분합니다.</a:t>
            </a:r>
          </a:p>
          <a:p xmlns:a="http://schemas.openxmlformats.org/drawingml/2006/main">
            <a:r>
              <a:t>None은 온도가 아니라 측정 누락입니다. 예제는 missing과 no command를 출력하고 이전 내부 상태를 유지합니다. 이는 통신 실패 시 실제 부하를 안전하게 제어하는 정책이 완성되었다는 뜻은 아닙니다. 보존한 상태와 현재 유효한 측정이 있다는 사실을 구분합니다. 완성 추적표에는 순번, 원시값, 이전 상태, 적용한 조건, 새 상태, 측정 유효 여부를 둡니다. elif는 앞 조건이 거짓인 경우에만 다음 조건을 확인하고, continue는 이번 반복의 나머지 처리를 건너뜁니다. 결측 행을 지우거나 이전 온도를 새 측정처럼 복사하면 왜 판단이 유지되었는지 알 수 없습니다.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.build/copyedited-ppt/spec-2026-10-23.json#slide-61,68</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https://zeusk302-png.github.io/kdigital-physical-ai/#/sessions/2026-10-23/activity-A10</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누락 메시지와 내부 상태를 따로 기록합니다.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순번 · 입력값 · 이전 상태 · 새 상태</a:t>
            </a:r>
          </a:p>
          <a:p xmlns:a="http://schemas.openxmlformats.org/drawingml/2006/main">
            <a:r>
              <a:t>왜 상태가 유지됐는지 다시 읽을 수 있습니다.</a:t>
            </a:r>
          </a:p>
          <a:p xmlns:a="http://schemas.openxmlformats.org/drawingml/2006/main">
            <a:r>
              <a:t>가상 온도가 27.9와 28.1 사이를 오가면 경보가 켜졌다 꺼졌다 반복될 수 있습니다. 한 문턱만 사용하는 규칙은 현재 값만 봅니다. 서로 다른 켜짐과 꺼짐 문턱을 사용하는 히스테리시스는 이전 상태도 기억합니다. 실제 장비 제어에 적용하려면 별도의 위험과 정격 검토가 필요하며 오늘은 상태 계산만 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.build/copyedited-ppt/spec-2026-10-23.json#slide-63,66</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https://zeusk302-png.github.io/kdigital-physical-ai/#/sessions/2026-10-23/activity-A12</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이전 상태를 알아야 유지 이유를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
            </a:r>
          </a:p>
          <a:p xmlns:a="http://schemas.openxmlformats.org/drawingml/2006/main">
            <a:r>
              <a:t>두 문턱 사이에는 값을 바꾸는 대입문이 없어 이전 alert가 유지된다. 28.0 이상은 True,27.5 이하는 False다. 첫 입력27.8은 초기 False를 유지한다. 화면의 짧은 예에는 None이 없다. 전체03_hysteresis.py는 None에서 missing/no command를 출력하고 continue로 다음 반복으로 넘어간다. 실제 연결 장치를 유지하거나 끄는 방법은 장비별 안전 정책을 따로 정해야 한다.</a:t>
            </a:r>
          </a:p>
          <a:p xmlns:a="http://schemas.openxmlformats.org/drawingml/2006/main">
            <a:r>
              <a:t/>
            </a:r>
          </a:p>
          <a:p xmlns:a="http://schemas.openxmlformats.org/drawingml/2006/main">
            <a:r>
              <a:t>화면 예의 출처: .build/copyedited-ppt/spec-2026-10-23.json#slide-63</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https://zeusk302-png.github.io/kdigital-physical-ai/#/sessions/2026-10-23/activity-A11</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코드 63번의 입력과 출력 66번을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두 문턱 사이에는 값을 바꾸는 대입문이 없어 이전 alert가 유지된다. 28.0 이상은 True,27.5 이하는 False다. 첫 입력27.8은 초기 False를 유지한다. 화면의 짧은 예에는 None이 없다. 전체03_hysteresis.py는 None에서 missing/no command를 출력하고 continue로 다음 반복으로 넘어간다. 실제 연결 장치를 유지하거나 끄는 방법은 장비별 안전 정책을 따로 정해야 한다.</a:t>
            </a:r>
          </a:p>
          <a:p xmlns:a="http://schemas.openxmlformats.org/drawingml/2006/main">
            <a:r>
              <a:t>기호를 정확한 이름으로 설명하기 전에 역할을 쉬운 말로 연결한다. 대입·비교·반복·출력 중 어느 단계인지 학생이 가리키게 한다.</a:t>
            </a:r>
          </a:p>
          <a:p xmlns:a="http://schemas.openxmlformats.org/drawingml/2006/main">
            <a:r>
              <a:t/>
            </a:r>
          </a:p>
          <a:p xmlns:a="http://schemas.openxmlformats.org/drawingml/2006/main">
            <a:r>
              <a:t>화면 예의 출처: .build/copyedited-ppt/spec-2026-10-23.json#slide-64</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https://zeusk302-png.github.io/kdigital-physical-ai/#/sessions/2026-10-23/activity-A11</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코드 63번의 입력과 출력 66번을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제공 참고 코드가 있으면 code 원본을 보존하고 work에 복사한다. 화면의 새로운 짧은 예는 표시된 work 파일에 전체를 입력하고 저장한다. 터미널의 현재 위치는 course다. 명령의 상대 경로 work/를 바꾸지 않는다. 예상 출력은 다음 슬라이드에서 비교한다. Python·numpy·cv2 설치 조건은 해당 예제에 따라 확인하고 불가이면 제공 출력 비교를 사용한다.</a:t>
            </a:r>
          </a:p>
          <a:p xmlns:a="http://schemas.openxmlformats.org/drawingml/2006/main">
            <a:r>
              <a:t>두 문턱 사이에는 값을 바꾸는 대입문이 없어 이전 alert가 유지된다. 28.0 이상은 True,27.5 이하는 False다. 첫 입력27.8은 초기 False를 유지한다. 화면의 짧은 예에는 None이 없다. 전체03_hysteresis.py는 None에서 missing/no command를 출력하고 continue로 다음 반복으로 넘어간다. 실제 연결 장치를 유지하거나 끄는 방법은 장비별 안전 정책을 따로 정해야 한다.</a:t>
            </a:r>
          </a:p>
          <a:p xmlns:a="http://schemas.openxmlformats.org/drawingml/2006/main">
            <a:r>
              <a:t/>
            </a:r>
          </a:p>
          <a:p xmlns:a="http://schemas.openxmlformats.org/drawingml/2006/main">
            <a:r>
              <a:t>화면 예의 출처: .build/copyedited-ppt/spec-2026-10-23.json#slide-65</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https://zeusk302-png.github.io/kdigital-physical-ai/#/sessions/2026-10-23/activity-A11</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코드 63번의 입력과 출력 66번을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27.8 False → 28.1 True</a:t>
            </a:r>
          </a:p>
          <a:p xmlns:a="http://schemas.openxmlformats.org/drawingml/2006/main">
            <a:r>
              <a:t>27.9 True → 27.4 False</a:t>
            </a:r>
          </a:p>
          <a:p xmlns:a="http://schemas.openxmlformats.org/drawingml/2006/main">
            <a:r>
              <a:t>중간 27.9에서는 이전 True를 유지합니다.</a:t>
            </a:r>
          </a:p>
          <a:p xmlns:a="http://schemas.openxmlformats.org/drawingml/2006/main">
            <a:r>
              <a:t>제작 규칙은 28.0 이상이면 alert=True, 27.5 이하이면 False, 사이이면 이전 상태 유지입니다. 초기 상태 False와 입력 [27.8,28.1,27.9,27.4]를 차례로 추적하면 False,True,True,False입니다. 27.9에서 False로 바뀌지 않는 이유는 중간 구간이기 때문입니다. 28.0과 27.5는 각각 켜짐과 꺼짐에 포함됩니다. 초기 상태가 달라지면 첫 중간 값의 출력도 달라지므로 시작 조건을 기록합니다.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.build/copyedited-ppt/spec-2026-10-23.json#slide-66</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https://zeusk302-png.github.io/kdigital-physical-ai/#/sessions/2026-10-23/activity-A11</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코드 63번의 입력과 출력 66번을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outputs/2026-10-23/practice-guide.md</a:t>
            </a:r>
          </a:p>
          <a:p xmlns:a="http://schemas.openxmlformats.org/drawingml/2006/main">
            <a:r>
              <a:t>이 화면에서 설명할 내용:</a:t>
            </a:r>
          </a:p>
          <a:p xmlns:a="http://schemas.openxmlformats.org/drawingml/2006/main">
            <a:r>
              <a:t>초기 False · 입력 [28.0,27.7,None,27.5]</a:t>
            </a:r>
          </a:p>
          <a:p xmlns:a="http://schemas.openxmlformats.org/drawingml/2006/main">
            <a:r>
              <a:t>상태와 누락 메시지를 순서대로 쓰세요.</a:t>
            </a:r>
          </a:p>
          <a:p xmlns:a="http://schemas.openxmlformats.org/drawingml/2006/main">
            <a:r>
              <a:t>제작 규칙은 28.0 이상이면 alert=True, 27.5 이하이면 False, 사이이면 이전 상태 유지입니다. 초기 상태 False와 입력 [27.8,28.1,27.9,27.4]를 차례로 추적하면 False,True,True,False입니다. 27.9에서 False로 바뀌지 않는 이유는 중간 구간이기 때문입니다. 28.0과 27.5는 각각 켜짐과 꺼짐에 포함됩니다. 초기 상태가 달라지면 첫 중간 값의 출력도 달라지므로 시작 조건을 기록합니다.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.build/copyedited-ppt/spec-2026-10-23.json#slide-67</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https://zeusk302-png.github.io/kdigital-physical-ai/#/sessions/2026-10-23/activity-A10</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True → True → 상태 유지·no command → False</a:t>
            </a:r>
          </a:p>
          <a:p xmlns:a="http://schemas.openxmlformats.org/drawingml/2006/main">
            <a:r>
              <a:t>None을 0으로 넣어 꺼짐 판정을 하지 않습니다.</a:t>
            </a:r>
          </a:p>
          <a:p xmlns:a="http://schemas.openxmlformats.org/drawingml/2006/main">
            <a:r>
              <a:t>True,True,상태 True 유지와 no command,False입니다. 27.7은 두 문턱 사이입니다. None을 영도로 바꾸어 꺼짐 조건에 넣는 답은 결측과 수치를 혼동한 오답입니다. 실제 출력 장치의 안전 정책은 아직 시험하지 않았습니다.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.build/copyedited-ppt/spec-2026-10-23.json#slide-68</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https://zeusk302-png.github.io/kdigital-physical-ai/#/sessions/2026-10-23/activity-A10</a:t>
            </a:r>
          </a:p>
          <a:p xmlns:a="http://schemas.openxmlformats.org/drawingml/2006/main">
            <a:r>
              <a:t>공식 자료: https://docs.espressif.com/projects/arduino-esp32/en/latest/api/gpio.html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outputs/2026-10-23/practice-guide.md</a:t>
            </a:r>
          </a:p>
          <a:p xmlns:a="http://schemas.openxmlformats.org/drawingml/2006/main">
            <a:r>
              <a:t>이 화면에서 설명할 내용:</a:t>
            </a:r>
          </a:p>
          <a:p xmlns:a="http://schemas.openxmlformats.org/drawingml/2006/main">
            <a:r>
              <a:t>초기 상태를 True로 바꿉니다.</a:t>
            </a:r>
          </a:p>
          <a:p xmlns:a="http://schemas.openxmlformats.org/drawingml/2006/main">
            <a:r>
              <a:t>첫 27.8에서 True가 유지됩니다.</a:t>
            </a:r>
          </a:p>
          <a:p xmlns:a="http://schemas.openxmlformats.org/drawingml/2006/main">
            <a:r>
              <a:t>제작 규칙은 28.0 이상이면 alert=True, 27.5 이하이면 False, 사이이면 이전 상태 유지입니다. 초기 상태 False와 입력 [27.8,28.1,27.9,27.4]를 차례로 추적하면 False,True,True,False입니다. 27.9에서 False로 바뀌지 않는 이유는 중간 구간이기 때문입니다. 28.0과 27.5는 각각 켜짐과 꺼짐에 포함됩니다. 초기 상태가 달라지면 첫 중간 값의 출력도 달라지므로 시작 조건을 기록합니다.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.build/copyedited-ppt/spec-2026-10-23.json#slide-69</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https://zeusk302-png.github.io/kdigital-physical-ai/#/sessions/2026-10-23/activity-A11</a:t>
            </a:r>
          </a:p>
          <a:p xmlns:a="http://schemas.openxmlformats.org/drawingml/2006/main">
            <a:r>
              <a:t>공식 자료: https://docs.espressif.com/projects/arduino-esp32/en/latest/api/gpio.html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outputs/2026-10-23/beginner-start.md</a:t>
            </a:r>
          </a:p>
          <a:p xmlns:a="http://schemas.openxmlformats.org/drawingml/2006/main">
            <a:r>
              <a:t>이 화면에서 설명할 내용:</a:t>
            </a:r>
          </a:p>
          <a:p xmlns:a="http://schemas.openxmlformats.org/drawingml/2006/main">
            <a:r>
              <a:t>실물 제어의 안전 정책은 별도입니다.</a:t>
            </a:r>
          </a:p>
          <a:p xmlns:a="http://schemas.openxmlformats.org/drawingml/2006/main">
            <a:r>
              <a:t>결측 처리 예를 모든 장비에 그대로 쓰지 않습니다.</a:t>
            </a:r>
          </a:p>
          <a:p xmlns:a="http://schemas.openxmlformats.org/drawingml/2006/main">
            <a:r>
              <a:t>True,True,상태 True 유지와 no command,False입니다. 27.7은 두 문턱 사이입니다. None을 영도로 바꾸어 꺼짐 조건에 넣는 답은 결측과 수치를 혼동한 오답입니다. 실제 출력 장치의 안전 정책은 아직 시험하지 않았습니다.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.build/copyedited-ppt/spec-2026-10-23.json#slide-70</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https://zeusk302-png.github.io/kdigital-physical-ai/#/sessions/2026-10-23/activity-A10</a:t>
            </a:r>
          </a:p>
          <a:p xmlns:a="http://schemas.openxmlformats.org/drawingml/2006/main">
            <a:r>
              <a:t>공식 자료: https://docs.espressif.com/projects/arduino-esp32/en/latest/api/gpio.html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히스테리시스가 이전 상태를 쓰는 이유는?</a:t>
            </a:r>
          </a:p>
          <a:p xmlns:a="http://schemas.openxmlformats.org/drawingml/2006/main">
            <a:r>
              <a:t>중간 값 한 개로 설명해 봅시다.</a:t>
            </a:r>
          </a:p>
          <a:p xmlns:a="http://schemas.openxmlformats.org/drawingml/2006/main">
            <a:r>
              <a:t>제작 규칙은 28.0 이상이면 alert=True, 27.5 이하이면 False, 사이이면 이전 상태 유지입니다. 초기 상태 False와 입력 [27.8,28.1,27.9,27.4]를 차례로 추적하면 False,True,True,False입니다. 27.9에서 False로 바뀌지 않는 이유는 중간 구간이기 때문입니다. 28.0과 27.5는 각각 켜짐과 꺼짐에 포함됩니다. 초기 상태가 달라지면 첫 중간 값의 출력도 달라지므로 시작 조건을 기록합니다.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.build/copyedited-ppt/spec-2026-10-23.json#slide-71</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https://zeusk302-png.github.io/kdigital-physical-ai/#/sessions/2026-10-23/activity-A11</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outputs/2026-10-23/assessment.md</a:t>
            </a:r>
          </a:p>
          <a:p xmlns:a="http://schemas.openxmlformats.org/drawingml/2006/main">
            <a:r>
              <a:t>이 화면에서 설명할 내용:</a:t>
            </a:r>
          </a:p>
          <a:p xmlns:a="http://schemas.openxmlformats.org/drawingml/2006/main">
            <a:r>
              <a:t>추가·복습: 초기 True, [27.6,27.5,None,28]</a:t>
            </a:r>
          </a:p>
          <a:p xmlns:a="http://schemas.openxmlformats.org/drawingml/2006/main">
            <a:r>
              <a:t>값과 상태 유효 여부를 따로 추적하세요.</a:t>
            </a:r>
          </a:p>
          <a:p xmlns:a="http://schemas.openxmlformats.org/drawingml/2006/main">
            <a:r>
              <a:t>제작 규칙은 28.0 이상이면 alert=True, 27.5 이하이면 False, 사이이면 이전 상태 유지입니다. 초기 상태 False와 입력 [27.8,28.1,27.9,27.4]를 차례로 추적하면 False,True,True,False입니다. 27.9에서 False로 바뀌지 않는 이유는 중간 구간이기 때문입니다. 28.0과 27.5는 각각 켜짐과 꺼짐에 포함됩니다. 초기 상태가 달라지면 첫 중간 값의 출력도 달라지므로 시작 조건을 기록합니다.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관련 다른 상황에 적용하는 문제와 해설:</a:t>
            </a:r>
          </a:p>
          <a:p xmlns:a="http://schemas.openxmlformats.org/drawingml/2006/main">
            <a:r>
              <a:t>초기 True, 문턱 28/27.5, 입력 [27.6,27.5,None,28]의 상태를 추적하세요.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True,False,False 유지와 no command,True입니다. 결측을 영도로 바꾸지 않고 상태와 측정 유효성을 나눕니다.</a:t>
            </a:r>
          </a:p>
          <a:p xmlns:a="http://schemas.openxmlformats.org/drawingml/2006/main">
            <a:r>
              <a:t/>
            </a:r>
          </a:p>
          <a:p xmlns:a="http://schemas.openxmlformats.org/drawingml/2006/main">
            <a:r>
              <a:t>&lt;/details&gt;</a:t>
            </a:r>
          </a:p>
          <a:p xmlns:a="http://schemas.openxmlformats.org/drawingml/2006/main">
            <a:r>
              <a:t>수업 활동 뒤 선택한다. 50분 안에 다 풀기 어려우면 수업 뒤에 이어서 풀도록 안내한다.</a:t>
            </a:r>
          </a:p>
          <a:p xmlns:a="http://schemas.openxmlformats.org/drawingml/2006/main">
            <a:r>
              <a:t/>
            </a:r>
          </a:p>
          <a:p xmlns:a="http://schemas.openxmlformats.org/drawingml/2006/main">
            <a:r>
              <a:t>화면 예의 출처: .build/copyedited-ppt/spec-2026-10-23.json#slide-72</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https://zeusk302-png.github.io/kdigital-physical-ai/#/sessions/2026-10-23/activity-A10</a:t>
            </a:r>
          </a:p>
          <a:p xmlns:a="http://schemas.openxmlformats.org/drawingml/2006/main">
            <a:r>
              <a:t>공식 자료: https://docs.espressif.com/projects/arduino-esp32/en/latest/api/gpio.html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5교시 필수 개념 보충 · 펌웨어 반복과 직렬 통신의 경계</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PC 파일에서 한 줄이 출력되는 것을 보고 센서가 연결되었다고 생각하기 쉽습니다. 그러나 Python 파일 재생과 보드 펌웨어는 실행하는 컴퓨터가 다릅니다. 펌웨어는 보드에 넣어 실행하는 프로그램이며 Arduino 방식의 setup은 시작할 때 한 번, loop는 그 뒤 반복되는 함수입니다.</a:t>
            </a:r>
          </a:p>
          <a:p xmlns:a="http://schemas.openxmlformats.org/drawingml/2006/main">
            <a:r>
              <a:t/>
            </a:r>
          </a:p>
          <a:p xmlns:a="http://schemas.openxmlformats.org/drawingml/2006/main">
            <a:r>
              <a:t>제공 04_serial_mock.ino에서 setup은 Serial.begin(115200)으로 통신 속도를 설정합니다. loop는 고정 JSON 문장을 출력하고 delay(1000)으로 1000밀리초를 기다립니다. 1000밀리초는 1초지만 다른 처리 시간도 있으므로 정확한 1초 주기를 측정한 결과라고 부르지 않습니다. 고정 28.0을 출력하는 코드는 센서 측정 함수가 없습니다. 출력 문자열이 온도처럼 보여도 실제 온도를 읽는 부분은 없습니다.</a:t>
            </a:r>
          </a:p>
          <a:p xmlns:a="http://schemas.openxmlformats.org/drawingml/2006/main">
            <a:r>
              <a:t/>
            </a:r>
          </a:p>
          <a:p xmlns:a="http://schemas.openxmlformats.org/drawingml/2006/main">
            <a:r>
              <a:t>직렬 통신은 두 장치가 약속한 설정으로 바이트를 주고받는 경로입니다. 보드와 PC의 속도 설정이 맞지 않으면 글자가 깨질 수 있습니다. JSON 문자열 안의 따옴표는 코드 문자열을 끝내지 않도록 역슬래시로 구분합니다. { }는 함수의 문장 묶음, 세미콜론은 C++ 문장의 끝입니다. Python 코드와 기호 약속이 다르므로 파일 확장자 .ino와 .py도 구분합니다. 완성 확인 순서는 정확한 보드 모델 확인 → 개발 환경과 포트 확인 → 컴파일 → 업로드 → 모니터의 같은 속도 설정 → 원문 관찰입니다. 이 과정은 실물 조건이 갖춰진 경우의 후속 경로이며 이번 파일 재생 검증과 나눠 기록합니다. 배선 검토는 전원을 끈 상태의 도면과 사양 확인부터 시작합니다.</a:t>
            </a:r>
          </a:p>
          <a:p xmlns:a="http://schemas.openxmlformats.org/drawingml/2006/main">
            <a:r>
              <a:t/>
            </a:r>
          </a:p>
          <a:p xmlns:a="http://schemas.openxmlformats.org/drawingml/2006/main">
            <a:r>
              <a:t>새로운 입력에 직접 적용 · 복습 또는 도전</a:t>
            </a:r>
          </a:p>
          <a:p xmlns:a="http://schemas.openxmlformats.org/drawingml/2006/main">
            <a:r>
              <a:t/>
            </a:r>
          </a:p>
          <a:p xmlns:a="http://schemas.openxmlformats.org/drawingml/2006/main">
            <a:r>
              <a:t>복습 문제: 고정 문장 출력을 센서 측정으로 바꾸려면 어떤 입력 단계가 빠져 있는지 쓰세요. 모니터에 글자가 깨질 때와 포트 자체가 없을 때 확인 순서를 구분하세요.</a:t>
            </a:r>
          </a:p>
          <a:p xmlns:a="http://schemas.openxmlformats.org/drawingml/2006/main">
            <a:r>
              <a:t/>
            </a:r>
          </a:p>
          <a:p xmlns:a="http://schemas.openxmlformats.org/drawingml/2006/main">
            <a:r>
              <a:t>정답과 오답의 이유</a:t>
            </a:r>
          </a:p>
          <a:p xmlns:a="http://schemas.openxmlformats.org/drawingml/2006/main">
            <a:r>
              <a:t/>
            </a:r>
          </a:p>
          <a:p xmlns:a="http://schemas.openxmlformats.org/drawingml/2006/main">
            <a:r>
              <a:t>실제 센서를 읽고 단위로 변환하는 단계가 빠져 있습니다. 깨진 문자는 양쪽 속도 설정부터, 포트 없음은 데이터 케이블·드라이버·장치 인식부터 확인합니다. Python 출력 성공을 보드 업로드 성공이라고 쓰면 실행 위치를 혼동한 것입니다.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setup 실행 횟수는? → 시작 때 한 번입니다.</a:t>
            </a:r>
          </a:p>
          <a:p xmlns:a="http://schemas.openxmlformats.org/drawingml/2006/main">
            <a:r>
              <a:t>2. 고정 28.0은 측정인가요? → 아닙니다.</a:t>
            </a:r>
          </a:p>
          <a:p xmlns:a="http://schemas.openxmlformats.org/drawingml/2006/main">
            <a:r>
              <a:t>3. 115200의 역할은? → 직렬 통신 속도 설정입니다.</a:t>
            </a:r>
          </a:p>
          <a:p xmlns:a="http://schemas.openxmlformats.org/drawingml/2006/main">
            <a:r>
              <a:t>먼저 시연하고 학생과 값을 따라 읽는다. 한 값을 바꿔 실행한 뒤 예상과 실제 결과를 비교하고, 왜 달라졌는지 질문한다. 기본 실습을 마치면 추가·복습 문제를 선택한다.</a:t>
            </a:r>
          </a:p>
          <a:p xmlns:a="http://schemas.openxmlformats.org/drawingml/2006/main">
            <a:r>
              <a:t/>
            </a:r>
          </a:p>
          <a:p xmlns:a="http://schemas.openxmlformats.org/drawingml/2006/main">
            <a:r>
              <a:t>화면 예의 출처: .build/copyedited-ppt/spec-2026-10-23.json#slide-73</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https://zeusk302-png.github.io/kdigital-physical-ai/#/sessions/2026-10-23/activity-A13</a:t>
            </a:r>
          </a:p>
          <a:p xmlns:a="http://schemas.openxmlformats.org/drawingml/2006/main">
            <a:r>
              <a:t>공식 자료: https://docs.espressif.com/projects/arduino-esp32/en/latest/api/adc.html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Python 파일은 PC에서 실행합니다.</a:t>
            </a:r>
          </a:p>
          <a:p xmlns:a="http://schemas.openxmlformats.org/drawingml/2006/main">
            <a:r>
              <a:t>펌웨어는 보드에 넣어 실행합니다.</a:t>
            </a:r>
          </a:p>
          <a:p xmlns:a="http://schemas.openxmlformats.org/drawingml/2006/main">
            <a:r>
              <a:t>PC 파일에서 한 줄이 출력되는 것을 보고 센서가 연결되었다고 생각하기 쉽습니다. 그러나 Python 파일 재생과 보드 펌웨어는 실행하는 컴퓨터가 다릅니다. 펌웨어는 보드에 넣어 실행하는 프로그램이며 Arduino 방식의 setup은 시작할 때 한 번, loop는 그 뒤 반복되는 함수입니다.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.build/copyedited-ppt/spec-2026-10-23.json#slide-74</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https://zeusk302-png.github.io/kdigital-physical-ai/#/sessions/2026-10-23/activity-A14</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Python파일은 보드 펌웨어가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통신 등 시작 설정을 합니다.</a:t>
            </a:r>
          </a:p>
          <a:p xmlns:a="http://schemas.openxmlformats.org/drawingml/2006/main">
            <a:r>
              <a:t>loop는 그 뒤 반복되는 함수입니다.</a:t>
            </a:r>
          </a:p>
          <a:p xmlns:a="http://schemas.openxmlformats.org/drawingml/2006/main">
            <a:r>
              <a:t>PC 파일에서 한 줄이 출력되는 것을 보고 센서가 연결되었다고 생각하기 쉽습니다. 그러나 Python 파일 재생과 보드 펌웨어는 실행하는 컴퓨터가 다릅니다. 펌웨어는 보드에 넣어 실행하는 프로그램이며 Arduino 방식의 setup은 시작할 때 한 번, loop는 그 뒤 반복되는 함수입니다.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.build/copyedited-ppt/spec-2026-10-23.json#slide-75,80</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https://zeusk302-png.github.io/kdigital-physical-ai/#/sessions/2026-10-23/activity-A13</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setup은 시작 설정, loop는 반복 부분입니다.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양쪽 통신 속도를 맞춥니다.</a:t>
            </a:r>
          </a:p>
          <a:p xmlns:a="http://schemas.openxmlformats.org/drawingml/2006/main">
            <a:r>
              <a:t>예제는 Serial.begin(115200)을 사용합니다.</a:t>
            </a:r>
          </a:p>
          <a:p xmlns:a="http://schemas.openxmlformats.org/drawingml/2006/main">
            <a:r>
              <a:t>제공 04_serial_mock.ino에서 setup은 Serial.begin(115200)으로 통신 속도를 설정합니다. loop는 고정 JSON 문장을 출력하고 delay(1000)으로 1000밀리초를 기다립니다. 1000밀리초는 1초지만 다른 처리 시간도 있으므로 정확한 1초 주기를 측정한 결과라고 부르지 않습니다. 고정 28.0을 출력하는 코드는 센서 측정 함수가 없습니다. 출력 문자열이 온도처럼 보여도 실제 온도를 읽는 부분은 없습니다.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.build/copyedited-ppt/spec-2026-10-23.json#slide-76,80</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https://zeusk302-png.github.io/kdigital-physical-ai/#/sessions/2026-10-23/activity-A13</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115200은 양쪽 속도를 맞출 값입니다.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Serial.println이 같은 문장을 보냅니다.</a:t>
            </a:r>
          </a:p>
          <a:p xmlns:a="http://schemas.openxmlformats.org/drawingml/2006/main">
            <a:r>
              <a:t>이 예에는 센서를 읽는 함수가 없습니다.</a:t>
            </a:r>
          </a:p>
          <a:p xmlns:a="http://schemas.openxmlformats.org/drawingml/2006/main">
            <a:r>
              <a:t>제공 04_serial_mock.ino에서 setup은 Serial.begin(115200)으로 통신 속도를 설정합니다. loop는 고정 JSON 문장을 출력하고 delay(1000)으로 1000밀리초를 기다립니다. 1000밀리초는 1초지만 다른 처리 시간도 있으므로 정확한 1초 주기를 측정한 결과라고 부르지 않습니다. 고정 28.0을 출력하는 코드는 센서 측정 함수가 없습니다. 출력 문자열이 온도처럼 보여도 실제 온도를 읽는 부분은 없습니다.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.build/copyedited-ppt/spec-2026-10-23.json#slide-77,80</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https://zeusk302-png.github.io/kdigital-physical-ai/#/sessions/2026-10-23/activity-A13</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mock:28.0은 센서 측정값이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delay(1000)은 1000ms 대기입니다.</a:t>
            </a:r>
          </a:p>
          <a:p xmlns:a="http://schemas.openxmlformats.org/drawingml/2006/main">
            <a:r>
              <a:t>전체 주기 정확도를 측정한 결과는 아닙니다.</a:t>
            </a:r>
          </a:p>
          <a:p xmlns:a="http://schemas.openxmlformats.org/drawingml/2006/main">
            <a:r>
              <a:t>제공 04_serial_mock.ino에서 setup은 Serial.begin(115200)으로 통신 속도를 설정합니다. loop는 고정 JSON 문장을 출력하고 delay(1000)으로 1000밀리초를 기다립니다. 1000밀리초는 1초지만 다른 처리 시간도 있으므로 정확한 1초 주기를 측정한 결과라고 부르지 않습니다. 고정 28.0을 출력하는 코드는 센서 측정 함수가 없습니다. 출력 문자열이 온도처럼 보여도 실제 온도를 읽는 부분은 없습니다.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.build/copyedited-ppt/spec-2026-10-23.json#slide-78,80</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https://zeusk302-png.github.io/kdigital-physical-ai/#/sessions/2026-10-23/activity-A13</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1000ms 대기만으로 정확한 주기를 보장하지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보드 모델 · 핀 기능 · 전압 · 전류가 돌아오는 길</a:t>
            </a:r>
          </a:p>
          <a:p xmlns:a="http://schemas.openxmlformats.org/drawingml/2006/main">
            <a:r>
              <a:t>전원을 끈 상태의 도면부터 검토합니다.</a:t>
            </a:r>
          </a:p>
          <a:p xmlns:a="http://schemas.openxmlformats.org/drawingml/2006/main">
            <a:r>
              <a:t>직렬 통신은 두 장치가 약속한 설정으로 바이트를 주고받는 경로입니다. 보드와 PC의 속도 설정이 맞지 않으면 글자가 깨질 수 있습니다. JSON 문자열 안의 따옴표는 코드 문자열을 끝내지 않도록 역슬래시로 구분합니다. { }는 함수의 문장 묶음, 세미콜론은 C++ 문장의 끝입니다. Python 코드와 기호 약속이 다르므로 파일 확장자 .ino와 .py도 구분합니다. 완성 확인 순서는 정확한 보드 모델 확인 → 개발 환경과 포트 확인 → 컴파일 → 업로드 → 모니터의 같은 속도 설정 → 원문 관찰입니다. 이 과정은 실물 조건이 갖춰진 경우의 후속 경로이며 이번 파일 재생 검증과 나눠 기록합니다. 배선 검토는 전원을 끈 상태의 도면과 사양 확인부터 시작합니다.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.build/copyedited-ppt/spec-2026-10-23.json#slide-79,87,95</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https://zeusk302-png.github.io/kdigital-physical-ai/#/sessions/2026-10-23/activity-A15</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모델과 정격을 확인하기 전에는 배선하지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
            </a:r>
          </a:p>
          <a:p xmlns:a="http://schemas.openxmlformats.org/drawingml/2006/main">
            <a:r>
              <a:t>setup은 시작할 때 한 번 실행하고 loop는 그 뒤 반복한다. Serial.begin의115200은 통신 속도 설정이다. println은 문자열 한 줄을 출력하고 delay는 밀리초 단위로 기다린다. 출력과 다른 처리에도 시간이 걸리므로 전체 주기를 정확히1초로 측정했다는 뜻은 아니다. 화면의 짧은 mock 문장과 참고04_serial_mock.ino의 고정 JSON 문장은 모두 실제 센서를 읽지 않는다.</a:t>
            </a:r>
          </a:p>
          <a:p xmlns:a="http://schemas.openxmlformats.org/drawingml/2006/main">
            <a:r>
              <a:t/>
            </a:r>
          </a:p>
          <a:p xmlns:a="http://schemas.openxmlformats.org/drawingml/2006/main">
            <a:r>
              <a:t>화면 예의 출처: .build/copyedited-ppt/spec-2026-10-23.json#slide-80</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https://zeusk302-png.github.io/kdigital-physical-ai/#/sessions/2026-10-23/activity-A13</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코드 80번의 입력과 출력 83번을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setup은 시작할 때 한 번 실행하고 loop는 그 뒤 반복한다. Serial.begin의115200은 통신 속도 설정이다. println은 문자열 한 줄을 출력하고 delay는 밀리초 단위로 기다린다. 출력과 다른 처리에도 시간이 걸리므로 전체 주기를 정확히1초로 측정했다는 뜻은 아니다. 화면의 짧은 mock 문장과 참고04_serial_mock.ino의 고정 JSON 문장은 모두 실제 센서를 읽지 않는다.</a:t>
            </a:r>
          </a:p>
          <a:p xmlns:a="http://schemas.openxmlformats.org/drawingml/2006/main">
            <a:r>
              <a:t>기호를 정확한 이름으로 설명하기 전에 역할을 쉬운 말로 연결한다. 대입·비교·반복·출력 중 어느 단계인지 학생이 가리키게 한다.</a:t>
            </a:r>
          </a:p>
          <a:p xmlns:a="http://schemas.openxmlformats.org/drawingml/2006/main">
            <a:r>
              <a:t/>
            </a:r>
          </a:p>
          <a:p xmlns:a="http://schemas.openxmlformats.org/drawingml/2006/main">
            <a:r>
              <a:t>화면 예의 출처: .build/copyedited-ppt/spec-2026-10-23.json#slide-81</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https://zeusk302-png.github.io/kdigital-physical-ai/#/sessions/2026-10-23/activity-A13</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코드 80번의 입력과 출력 83번을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제공 code/04_serial_mock.ino는 원본으로 보존한다. .ino 읽기 예는 모델 확정 후 work 복사본으로 저장한다. Arduino 개발 환경·보드 패키지·포트·통신 속도 확인 후의 실물 경로이며 현재 실행이나 연결을 요구하지 않는다.</a:t>
            </a:r>
          </a:p>
          <a:p xmlns:a="http://schemas.openxmlformats.org/drawingml/2006/main">
            <a:r>
              <a:t>setup은 시작할 때 한 번 실행하고 loop는 그 뒤 반복한다. Serial.begin의115200은 통신 속도 설정이다. println은 문자열 한 줄을 출력하고 delay는 밀리초 단위로 기다린다. 출력과 다른 처리에도 시간이 걸리므로 전체 주기를 정확히1초로 측정했다는 뜻은 아니다. 화면의 짧은 mock 문장과 참고04_serial_mock.ino의 고정 JSON 문장은 모두 실제 센서를 읽지 않는다.</a:t>
            </a:r>
          </a:p>
          <a:p xmlns:a="http://schemas.openxmlformats.org/drawingml/2006/main">
            <a:r>
              <a:t/>
            </a:r>
          </a:p>
          <a:p xmlns:a="http://schemas.openxmlformats.org/drawingml/2006/main">
            <a:r>
              <a:t>화면 예의 출처: .build/copyedited-ppt/spec-2026-10-23.json#slide-82</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https://zeusk302-png.github.io/kdigital-physical-ai/#/sessions/2026-10-23/activity-A13</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코드 80번의 입력과 출력 83번을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읽기 예의 문장: mock:28.0</a:t>
            </a:r>
          </a:p>
          <a:p xmlns:a="http://schemas.openxmlformats.org/drawingml/2006/main">
            <a:r>
              <a:t>가상 출력이며 실제 측정값이 아닙니다.</a:t>
            </a:r>
          </a:p>
          <a:p xmlns:a="http://schemas.openxmlformats.org/drawingml/2006/main">
            <a:r>
              <a:t>컴파일·업로드 성공은 아직 확인하지 않았습니다.</a:t>
            </a:r>
          </a:p>
          <a:p xmlns:a="http://schemas.openxmlformats.org/drawingml/2006/main">
            <a:r>
              <a:t>직렬 통신은 두 장치가 약속한 설정으로 바이트를 주고받는 경로입니다. 보드와 PC의 속도 설정이 맞지 않으면 글자가 깨질 수 있습니다. JSON 문자열 안의 따옴표는 코드 문자열을 끝내지 않도록 역슬래시로 구분합니다. { }는 함수의 문장 묶음, 세미콜론은 C++ 문장의 끝입니다. Python 코드와 기호 약속이 다르므로 파일 확장자 .ino와 .py도 구분합니다. 완성 확인 순서는 정확한 보드 모델 확인 → 개발 환경과 포트 확인 → 컴파일 → 업로드 → 모니터의 같은 속도 설정 → 원문 관찰입니다. 이 과정은 실물 조건이 갖춰진 경우의 후속 경로이며 이번 파일 재생 검증과 나눠 기록합니다. 배선 검토는 전원을 끈 상태의 도면과 사양 확인부터 시작합니다.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.build/copyedited-ppt/spec-2026-10-23.json#slide-83</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https://zeusk302-png.github.io/kdigital-physical-ai/#/sessions/2026-10-23/activity-A13</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코드 80번의 입력과 출력 83번을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outputs/2026-10-23/practice-guide.md</a:t>
            </a:r>
          </a:p>
          <a:p xmlns:a="http://schemas.openxmlformats.org/drawingml/2006/main">
            <a:r>
              <a:t>이 화면에서 설명할 내용:</a:t>
            </a:r>
          </a:p>
          <a:p xmlns:a="http://schemas.openxmlformats.org/drawingml/2006/main">
            <a:r>
              <a:t>글자가 깨질 때와 포트가 없을 때</a:t>
            </a:r>
          </a:p>
          <a:p xmlns:a="http://schemas.openxmlformats.org/drawingml/2006/main">
            <a:r>
              <a:t>처음 확인할 항목을 각각 쓰세요.</a:t>
            </a:r>
          </a:p>
          <a:p xmlns:a="http://schemas.openxmlformats.org/drawingml/2006/main">
            <a:r>
              <a:t>직렬 통신은 두 장치가 약속한 설정으로 바이트를 주고받는 경로입니다. 보드와 PC의 속도 설정이 맞지 않으면 글자가 깨질 수 있습니다. JSON 문자열 안의 따옴표는 코드 문자열을 끝내지 않도록 역슬래시로 구분합니다. { }는 함수의 문장 묶음, 세미콜론은 C++ 문장의 끝입니다. Python 코드와 기호 약속이 다르므로 파일 확장자 .ino와 .py도 구분합니다. 완성 확인 순서는 정확한 보드 모델 확인 → 개발 환경과 포트 확인 → 컴파일 → 업로드 → 모니터의 같은 속도 설정 → 원문 관찰입니다. 이 과정은 실물 조건이 갖춰진 경우의 후속 경로이며 이번 파일 재생 검증과 나눠 기록합니다. 배선 검토는 전원을 끈 상태의 도면과 사양 확인부터 시작합니다.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.build/copyedited-ppt/spec-2026-10-23.json#slide-84</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https://zeusk302-png.github.io/kdigital-physical-ai/#/sessions/2026-10-23/activity-A14</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글자 깨짐: 양쪽 속도 설정</a:t>
            </a:r>
          </a:p>
          <a:p xmlns:a="http://schemas.openxmlformats.org/drawingml/2006/main">
            <a:r>
              <a:t>포트 없음: 케이블·드라이버·장치 인식</a:t>
            </a:r>
          </a:p>
          <a:p xmlns:a="http://schemas.openxmlformats.org/drawingml/2006/main">
            <a:r>
              <a:t>고정 문장이 보이는 것과 센서를 읽는 것은 별도로 확인합니다.</a:t>
            </a:r>
          </a:p>
          <a:p xmlns:a="http://schemas.openxmlformats.org/drawingml/2006/main">
            <a:r>
              <a:t>실제 센서를 읽고 단위로 변환하는 단계가 빠져 있습니다. 깨진 문자는 양쪽 속도 설정부터, 포트 없음은 데이터 케이블·드라이버·장치 인식부터 확인합니다. Python 출력 성공을 보드 업로드 성공이라고 쓰면 실행 위치를 혼동한 것입니다.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.build/copyedited-ppt/spec-2026-10-23.json#slide-85</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https://zeusk302-png.github.io/kdigital-physical-ai/#/sessions/2026-10-23/activity-A14</a:t>
            </a:r>
          </a:p>
          <a:p xmlns:a="http://schemas.openxmlformats.org/drawingml/2006/main">
            <a:r>
              <a:t>공식 자료: https://docs.espressif.com/projects/arduino-esp32/en/latest/api/adc.html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outputs/2026-10-23/practice-guide.md</a:t>
            </a:r>
          </a:p>
          <a:p xmlns:a="http://schemas.openxmlformats.org/drawingml/2006/main">
            <a:r>
              <a:t>이 화면에서 설명할 내용:</a:t>
            </a:r>
          </a:p>
          <a:p xmlns:a="http://schemas.openxmlformats.org/drawingml/2006/main">
            <a:r>
              <a:t>출력 문장을 mock:25.0으로 바꿉니다.</a:t>
            </a:r>
          </a:p>
          <a:p xmlns:a="http://schemas.openxmlformats.org/drawingml/2006/main">
            <a:r>
              <a:t>입력 센서를 읽는 기능이 생긴 것은 아닙니다.</a:t>
            </a:r>
          </a:p>
          <a:p xmlns:a="http://schemas.openxmlformats.org/drawingml/2006/main">
            <a:r>
              <a:t>제공 04_serial_mock.ino에서 setup은 Serial.begin(115200)으로 통신 속도를 설정합니다. loop는 고정 JSON 문장을 출력하고 delay(1000)으로 1000밀리초를 기다립니다. 1000밀리초는 1초지만 다른 처리 시간도 있으므로 정확한 1초 주기를 측정한 결과라고 부르지 않습니다. 고정 28.0을 출력하는 코드는 센서 측정 함수가 없습니다. 출력 문자열이 온도처럼 보여도 실제 온도를 읽는 부분은 없습니다.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.build/copyedited-ppt/spec-2026-10-23.json#slide-86</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https://zeusk302-png.github.io/kdigital-physical-ai/#/sessions/2026-10-23/activity-A13</a:t>
            </a:r>
          </a:p>
          <a:p xmlns:a="http://schemas.openxmlformats.org/drawingml/2006/main">
            <a:r>
              <a:t>공식 자료: https://docs.espressif.com/projects/arduino-esp32/en/latest/api/adc.html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outputs/2026-10-23/beginner-start.md</a:t>
            </a:r>
          </a:p>
          <a:p xmlns:a="http://schemas.openxmlformats.org/drawingml/2006/main">
            <a:r>
              <a:t>이 화면에서 설명할 내용:</a:t>
            </a:r>
          </a:p>
          <a:p xmlns:a="http://schemas.openxmlformats.org/drawingml/2006/main">
            <a:r>
              <a:t>핀 번호를 추측해 전원을 넣지 않습니다.</a:t>
            </a:r>
          </a:p>
          <a:p xmlns:a="http://schemas.openxmlformats.org/drawingml/2006/main">
            <a:r>
              <a:t>모델을 모르면 확인표에 적고 배선을 멈춥니다.</a:t>
            </a:r>
          </a:p>
          <a:p xmlns:a="http://schemas.openxmlformats.org/drawingml/2006/main">
            <a:r>
              <a:t>제공 04_serial_mock.ino에서 setup은 Serial.begin(115200)으로 통신 속도를 설정합니다. loop는 고정 JSON 문장을 출력하고 delay(1000)으로 1000밀리초를 기다립니다. 1000밀리초는 1초지만 다른 처리 시간도 있으므로 정확한 1초 주기를 측정한 결과라고 부르지 않습니다. 고정 28.0을 출력하는 코드는 센서 측정 함수가 없습니다. 출력 문자열이 온도처럼 보여도 실제 온도를 읽는 부분은 없습니다.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.build/copyedited-ppt/spec-2026-10-23.json#slide-87</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https://zeusk302-png.github.io/kdigital-physical-ai/#/sessions/2026-10-23/activity-A15</a:t>
            </a:r>
          </a:p>
          <a:p xmlns:a="http://schemas.openxmlformats.org/drawingml/2006/main">
            <a:r>
              <a:t>공식 자료: https://docs.espressif.com/projects/arduino-esp32/en/latest/api/adc.html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setup과 loop의 역할을 말해 봅시다.</a:t>
            </a:r>
          </a:p>
          <a:p xmlns:a="http://schemas.openxmlformats.org/drawingml/2006/main">
            <a:r>
              <a:t>PC 파일 재생과 보드 실행을 구분합니다.</a:t>
            </a:r>
          </a:p>
          <a:p xmlns:a="http://schemas.openxmlformats.org/drawingml/2006/main">
            <a:r>
              <a:t>PC 파일에서 한 줄이 출력되는 것을 보고 센서가 연결되었다고 생각하기 쉽습니다. 그러나 Python 파일 재생과 보드 펌웨어는 실행하는 컴퓨터가 다릅니다. 펌웨어는 보드에 넣어 실행하는 프로그램이며 Arduino 방식의 setup은 시작할 때 한 번, loop는 그 뒤 반복되는 함수입니다.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.build/copyedited-ppt/spec-2026-10-23.json#slide-88</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https://zeusk302-png.github.io/kdigital-physical-ai/#/sessions/2026-10-23/activity-A14</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outputs/2026-10-23/assessment.md</a:t>
            </a:r>
          </a:p>
          <a:p xmlns:a="http://schemas.openxmlformats.org/drawingml/2006/main">
            <a:r>
              <a:t>이 화면에서 설명할 내용:</a:t>
            </a:r>
          </a:p>
          <a:p xmlns:a="http://schemas.openxmlformats.org/drawingml/2006/main">
            <a:r>
              <a:t>추가·도전: 고정값을 실제 온도로 바꾸려면</a:t>
            </a:r>
          </a:p>
          <a:p xmlns:a="http://schemas.openxmlformats.org/drawingml/2006/main">
            <a:r>
              <a:t>빠진 입력·변환·확인 단계를 쓰세요.</a:t>
            </a:r>
          </a:p>
          <a:p xmlns:a="http://schemas.openxmlformats.org/drawingml/2006/main">
            <a:r>
              <a:t>제공 04_serial_mock.ino에서 setup은 Serial.begin(115200)으로 통신 속도를 설정합니다. loop는 고정 JSON 문장을 출력하고 delay(1000)으로 1000밀리초를 기다립니다. 1000밀리초는 1초지만 다른 처리 시간도 있으므로 정확한 1초 주기를 측정한 결과라고 부르지 않습니다. 고정 28.0을 출력하는 코드는 센서 측정 함수가 없습니다. 출력 문자열이 온도처럼 보여도 실제 온도를 읽는 부분은 없습니다.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관련 다른 상황에 적용하는 문제와 해설:</a:t>
            </a:r>
          </a:p>
          <a:p xmlns:a="http://schemas.openxmlformats.org/drawingml/2006/main">
            <a:r>
              <a:t>Serial.println으로 고정 25를 출력했습니다. 센서와 직렬 전송 검증의 상태를 나눠 쓰세요.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실제로 보드·포트에서 관찰했다면 고정 문자열 전송만 확인한 것입니다. 센서 측정 정확도는 그 코드에 읽기 단계가 없어 미검증입니다.</a:t>
            </a:r>
          </a:p>
          <a:p xmlns:a="http://schemas.openxmlformats.org/drawingml/2006/main">
            <a:r>
              <a:t/>
            </a:r>
          </a:p>
          <a:p xmlns:a="http://schemas.openxmlformats.org/drawingml/2006/main">
            <a:r>
              <a:t>&lt;/details&gt;</a:t>
            </a:r>
          </a:p>
          <a:p xmlns:a="http://schemas.openxmlformats.org/drawingml/2006/main">
            <a:r>
              <a:t>수업 활동 뒤 선택한다. 50분 안에 다 풀기 어려우면 수업 뒤에 이어서 풀도록 안내한다.</a:t>
            </a:r>
          </a:p>
          <a:p xmlns:a="http://schemas.openxmlformats.org/drawingml/2006/main">
            <a:r>
              <a:t/>
            </a:r>
          </a:p>
          <a:p xmlns:a="http://schemas.openxmlformats.org/drawingml/2006/main">
            <a:r>
              <a:t>화면 예의 출처: .build/copyedited-ppt/spec-2026-10-23.json#slide-89</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https://zeusk302-png.github.io/kdigital-physical-ai/#/sessions/2026-10-23/activity-A15</a:t>
            </a:r>
          </a:p>
          <a:p xmlns:a="http://schemas.openxmlformats.org/drawingml/2006/main">
            <a:r>
              <a:t>공식 자료: https://docs.espressif.com/projects/arduino-esp32/en/latest/api/adc.html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6교시 필수 개념 보충 · 모의 검증과 실제 장비에서 추가로 시험할 내용</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다음 팀이 온도 상태 표시를 이어 만들려 합니다. “코드 완료”라는 한 줄로 넘기면 어떤 입력이 시험되었고 어떤 장비가 빠져 있는지 알 수 없습니다. 인수인계는 이어서 판단할 사람이 같은 입력으로 다시 실행할 수 있도록 입력, 처리 규칙, 출력과 미확인을 묶는 일입니다.</a:t>
            </a:r>
          </a:p>
          <a:p xmlns:a="http://schemas.openxmlformats.org/drawingml/2006/main">
            <a:r>
              <a:t/>
            </a:r>
          </a:p>
          <a:p xmlns:a="http://schemas.openxmlformats.org/drawingml/2006/main">
            <a:r>
              <a:t>완성 예의 요구는 숫자 온도가 28.0 이상일 때 alert를 출력하고 null일 때 missing을 출력하는 것입니다. 시험 입력 [27.9,28.0,None,"28.0"]의 기대는 normal,alert,missing,invalid입니다. 로컬 파일 실행에서 이 네 결과가 관찰되었다면 해당 비교는 통과입니다. 실제 센서의 측정 정확도, 신호 전압, 직렬 전송, 보드 재시작과 출력 부하의 반응은 별도 시험이며 장비가 없으면 미실행입니다. 모의 값은 제어 로직의 경계를 시험하기 좋지만 물리 장치의 정확성을 대신하지 않습니다.</a:t>
            </a:r>
          </a:p>
          <a:p xmlns:a="http://schemas.openxmlformats.org/drawingml/2006/main">
            <a:r>
              <a:t/>
            </a:r>
          </a:p>
          <a:p xmlns:a="http://schemas.openxmlformats.org/drawingml/2006/main">
            <a:r>
              <a:t>요구를 “새 온도 경계 30.0”으로 바꾸면 코드 한 숫자만 바꾸는 데서 끝내지 않습니다. 29.9,30.0,30.1과 결측을 포함한 새 기대값을 먼저 쓰고 시험표와 표시 설명을 갱신합니다. 히스테리시스가 있다면 꺼짐 문턱과 초기 상태도 다시 합의합니다. 전달 묶음에는 원본 모의 데이터, 코드, 실행 명령, 관찰 출력, 경계 시험표, 모델·전압·핀 확인표를 넣습니다. 실물 조건 표의 빈칸은 추측으로 채우지 않습니다. 실제 장비를 사용한 사람과 측정 방법이 있어야 실물 검증 상태를 바꿀 수 있습니다. 파일 성공과 장치 성공을 같은 칸에 적지 않습니다.</a:t>
            </a:r>
          </a:p>
          <a:p xmlns:a="http://schemas.openxmlformats.org/drawingml/2006/main">
            <a:r>
              <a:t/>
            </a:r>
          </a:p>
          <a:p xmlns:a="http://schemas.openxmlformats.org/drawingml/2006/main">
            <a:r>
              <a:t>새로운 입력에 직접 적용 · 복습 또는 도전</a:t>
            </a:r>
          </a:p>
          <a:p xmlns:a="http://schemas.openxmlformats.org/drawingml/2006/main">
            <a:r>
              <a:t/>
            </a:r>
          </a:p>
          <a:p xmlns:a="http://schemas.openxmlformats.org/drawingml/2006/main">
            <a:r>
              <a:t>복습 문제: 다음 팀이 “센서 오차 ±0.5℃도 검증된 것인가?”라고 물었습니다. 지금 시험한 내용으로 답하고 추가 시험의 입력·비교 기준·필요 장비를 제안하세요.</a:t>
            </a:r>
          </a:p>
          <a:p xmlns:a="http://schemas.openxmlformats.org/drawingml/2006/main">
            <a:r>
              <a:t/>
            </a:r>
          </a:p>
          <a:p xmlns:a="http://schemas.openxmlformats.org/drawingml/2006/main">
            <a:r>
              <a:t>정답과 오답의 이유</a:t>
            </a:r>
          </a:p>
          <a:p xmlns:a="http://schemas.openxmlformats.org/drawingml/2006/main">
            <a:r>
              <a:t/>
            </a:r>
          </a:p>
          <a:p xmlns:a="http://schemas.openxmlformats.org/drawingml/2006/main">
            <a:r>
              <a:t>현재는 모의 판단만 검증했고 실물 오차는 미확인입니다. 기준 온도계와 실제 센서를 같은 조건에서 비교하고 여러 온도 구간의 차이를 기록하는 시험을 제안합니다. 모의 28.0의 출력이 맞아도 실제 센서의 정확도를 확인한 것은 아닙니다.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모의 실행이 확인한 것은? → 주어진 값에 대한 처리 규칙입니다.</a:t>
            </a:r>
          </a:p>
          <a:p xmlns:a="http://schemas.openxmlformats.org/drawingml/2006/main">
            <a:r>
              <a:t>2. 새 경계 요청이면? → 기대값과 시험도 갱신합니다.</a:t>
            </a:r>
          </a:p>
          <a:p xmlns:a="http://schemas.openxmlformats.org/drawingml/2006/main">
            <a:r>
              <a:t>3. 실물 조건이 빈칸이면? → 미확인으로 남깁니다.</a:t>
            </a:r>
          </a:p>
          <a:p xmlns:a="http://schemas.openxmlformats.org/drawingml/2006/main">
            <a:r>
              <a:t>먼저 시연하고 학생과 값을 따라 읽는다. 한 값을 바꿔 실행한 뒤 예상과 실제 결과를 비교하고, 왜 달라졌는지 질문한다. 기본 실습을 마치면 추가·복습 문제를 선택한다.</a:t>
            </a:r>
          </a:p>
          <a:p xmlns:a="http://schemas.openxmlformats.org/drawingml/2006/main">
            <a:r>
              <a:t/>
            </a:r>
          </a:p>
          <a:p xmlns:a="http://schemas.openxmlformats.org/drawingml/2006/main">
            <a:r>
              <a:t>화면 예의 출처: .build/copyedited-ppt/spec-2026-10-23.json#slide-90</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https://zeusk302-png.github.io/kdigital-physical-ai/#/sessions/2026-10-23/activity-A16</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28.0 이상 → alert</a:t>
            </a:r>
          </a:p>
          <a:p xmlns:a="http://schemas.openxmlformats.org/drawingml/2006/main">
            <a:r>
              <a:t>null → missing</a:t>
            </a:r>
          </a:p>
          <a:p xmlns:a="http://schemas.openxmlformats.org/drawingml/2006/main">
            <a:r>
              <a:t>완성 예의 요구는 숫자 온도가 28.0 이상일 때 alert를 출력하고 null일 때 missing을 출력하는 것입니다. 시험 입력 [27.9,28.0,None,"28.0"]의 기대는 normal,alert,missing,invalid입니다. 로컬 파일 실행에서 이 네 결과가 관찰되었다면 해당 비교는 통과입니다. 실제 센서의 측정 정확도, 신호 전압, 직렬 전송, 보드 재시작과 출력 부하의 반응은 별도 시험이며 장비가 없으면 미실행입니다. 모의 값은 제어 로직의 경계를 시험하기 좋지만 물리 장치의 정확성을 대신하지 않습니다.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.build/copyedited-ppt/spec-2026-10-23.json#slide-91,97</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https://zeusk302-png.github.io/kdigital-physical-ai/#/sessions/2026-10-23/activity-A16</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28.0은 alert 조건에 포함됩니다.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27.9 · 28.0 · None · "28.0"</a:t>
            </a:r>
          </a:p>
          <a:p xmlns:a="http://schemas.openxmlformats.org/drawingml/2006/main">
            <a:r>
              <a:t>기대 상태를 실행 전에 적습니다.</a:t>
            </a:r>
          </a:p>
          <a:p xmlns:a="http://schemas.openxmlformats.org/drawingml/2006/main">
            <a:r>
              <a:t>요구를 “새 온도 경계 30.0”으로 바꾸면 코드 한 숫자만 바꾸는 데서 끝내지 않습니다. 29.9,30.0,30.1과 결측을 포함한 새 기대값을 먼저 쓰고 시험표와 표시 설명을 갱신합니다. 히스테리시스가 있다면 꺼짐 문턱과 초기 상태도 다시 합의합니다. 전달 묶음에는 원본 모의 데이터, 코드, 실행 명령, 관찰 출력, 경계 시험표, 모델·전압·핀 확인표를 넣습니다. 실물 조건 표의 빈칸은 추측으로 채우지 않습니다. 실제 장비를 사용한 사람과 측정 방법이 있어야 실물 검증 상태를 바꿀 수 있습니다. 파일 성공과 장치 성공을 같은 칸에 적지 않습니다.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.build/copyedited-ppt/spec-2026-10-23.json#slide-92</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https://zeusk302-png.github.io/kdigital-physical-ai/#/sessions/2026-10-23/activity-A16</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"28.0"은 숫자28.0과 다릅니다.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입력값에 대한 판단을 확인합니다.</a:t>
            </a:r>
          </a:p>
          <a:p xmlns:a="http://schemas.openxmlformats.org/drawingml/2006/main">
            <a:r>
              <a:t>센서 정확도나 배선 성공은 별도입니다.</a:t>
            </a:r>
          </a:p>
          <a:p xmlns:a="http://schemas.openxmlformats.org/drawingml/2006/main">
            <a:r>
              <a:t>현재는 모의 판단만 검증했고 실물 오차는 미확인입니다. 기준 온도계와 실제 센서를 같은 조건에서 비교하고 여러 온도 구간의 차이를 기록하는 시험을 제안합니다. 모의 28.0의 출력이 맞아도 실제 센서의 정확도를 확인한 것은 아닙니다.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.build/copyedited-ppt/spec-2026-10-23.json#slide-93</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https://zeusk302-png.github.io/kdigital-physical-ai/#/sessions/2026-10-23/activity-A17</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판단 규칙 통과가 배선 성공은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30.0으로 바꾸면 29.9·30.0·30.1을 비교합니다.</a:t>
            </a:r>
          </a:p>
          <a:p xmlns:a="http://schemas.openxmlformats.org/drawingml/2006/main">
            <a:r>
              <a:t>누락과 초기 상태도 재검토합니다.</a:t>
            </a:r>
          </a:p>
          <a:p xmlns:a="http://schemas.openxmlformats.org/drawingml/2006/main">
            <a:r>
              <a:t>요구를 “새 온도 경계 30.0”으로 바꾸면 코드 한 숫자만 바꾸는 데서 끝내지 않습니다. 29.9,30.0,30.1과 결측을 포함한 새 기대값을 먼저 쓰고 시험표와 표시 설명을 갱신합니다. 히스테리시스가 있다면 꺼짐 문턱과 초기 상태도 다시 합의합니다. 전달 묶음에는 원본 모의 데이터, 코드, 실행 명령, 관찰 출력, 경계 시험표, 모델·전압·핀 확인표를 넣습니다. 실물 조건 표의 빈칸은 추측으로 채우지 않습니다. 실제 장비를 사용한 사람과 측정 방법이 있어야 실물 검증 상태를 바꿀 수 있습니다. 파일 성공과 장치 성공을 같은 칸에 적지 않습니다.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.build/copyedited-ppt/spec-2026-10-23.json#slide-94</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https://zeusk302-png.github.io/kdigital-physical-ai/#/sessions/2026-10-23/activity-A16</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기준 미만·같음·초과를 각각 시험합니다.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보드 모델 · 신호 전압 · 센서 오차</a:t>
            </a:r>
          </a:p>
          <a:p xmlns:a="http://schemas.openxmlformats.org/drawingml/2006/main">
            <a:r>
              <a:t>모르는 항목은 비워 두고 확인할 자료를 적습니다.</a:t>
            </a:r>
          </a:p>
          <a:p xmlns:a="http://schemas.openxmlformats.org/drawingml/2006/main">
            <a:r>
              <a:t>요구를 “새 온도 경계 30.0”으로 바꾸면 코드 한 숫자만 바꾸는 데서 끝내지 않습니다. 29.9,30.0,30.1과 결측을 포함한 새 기대값을 먼저 쓰고 시험표와 표시 설명을 갱신합니다. 히스테리시스가 있다면 꺼짐 문턱과 초기 상태도 다시 합의합니다. 전달 묶음에는 원본 모의 데이터, 코드, 실행 명령, 관찰 출력, 경계 시험표, 모델·전압·핀 확인표를 넣습니다. 실물 조건 표의 빈칸은 추측으로 채우지 않습니다. 실제 장비를 사용한 사람과 측정 방법이 있어야 실물 검증 상태를 바꿀 수 있습니다. 파일 성공과 장치 성공을 같은 칸에 적지 않습니다.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.build/copyedited-ppt/spec-2026-10-23.json#slide-95,100</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https://zeusk302-png.github.io/kdigital-physical-ai/#/sessions/2026-10-23/activity-A18</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센서 오차는 실제 비교 시험이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입력 · 코드 · 명령 · 출력 · 시험표</a:t>
            </a:r>
          </a:p>
          <a:p xmlns:a="http://schemas.openxmlformats.org/drawingml/2006/main">
            <a:r>
              <a:t>예제 실행 결과를 적고, 장비에서 아직 시험하지 못한 항목을 표시합니다.</a:t>
            </a:r>
          </a:p>
          <a:p xmlns:a="http://schemas.openxmlformats.org/drawingml/2006/main">
            <a:r>
              <a:t>요구를 “새 온도 경계 30.0”으로 바꾸면 코드 한 숫자만 바꾸는 데서 끝내지 않습니다. 29.9,30.0,30.1과 결측을 포함한 새 기대값을 먼저 쓰고 시험표와 표시 설명을 갱신합니다. 히스테리시스가 있다면 꺼짐 문턱과 초기 상태도 다시 합의합니다. 전달 묶음에는 원본 모의 데이터, 코드, 실행 명령, 관찰 출력, 경계 시험표, 모델·전압·핀 확인표를 넣습니다. 실물 조건 표의 빈칸은 추측으로 채우지 않습니다. 실제 장비를 사용한 사람과 측정 방법이 있어야 실물 검증 상태를 바꿀 수 있습니다. 파일 성공과 장치 성공을 같은 칸에 적지 않습니다.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.build/copyedited-ppt/spec-2026-10-23.json#slide-96</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https://zeusk302-png.github.io/kdigital-physical-ai/#/sessions/2026-10-23/activity-A18</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
            </a:r>
          </a:p>
          <a:p xmlns:a="http://schemas.openxmlformats.org/drawingml/2006/main">
            <a:r>
              <a:t>다음 팀이 온도 상태 표시를 이어 만들려 합니다. “코드 완료”라는 한 줄로 넘기면 어떤 입력이 시험되었고 어떤 장비가 빠져 있는지 알 수 없습니다. 인수인계는 이어서 판단할 사람이 같은 입력으로 다시 실행할 수 있도록 입력, 처리 규칙, 출력과 미확인을 묶는 일입니다.</a:t>
            </a:r>
          </a:p>
          <a:p xmlns:a="http://schemas.openxmlformats.org/drawingml/2006/main">
            <a:r>
              <a:t>한 행을 입력과 기대 출력으로 이어 읽게 한다. 표의 값은 조건과 범위를 함께 확인한다.</a:t>
            </a:r>
          </a:p>
          <a:p xmlns:a="http://schemas.openxmlformats.org/drawingml/2006/main">
            <a:r>
              <a:t/>
            </a:r>
          </a:p>
          <a:p xmlns:a="http://schemas.openxmlformats.org/drawingml/2006/main">
            <a:r>
              <a:t>화면 예의 출처: .build/copyedited-ppt/spec-2026-10-23.json#slide-97</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https://zeusk302-png.github.io/kdigital-physical-ai/#/sessions/2026-10-23/activity-A17</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네 기대 상태와 관찰을 비교합니다.</a:t>
            </a:r>
          </a:p>
          <a:p xmlns:a="http://schemas.openxmlformats.org/drawingml/2006/main">
            <a:r>
              <a:t>실물 측정 정확도는 별도 시험입니다.</a:t>
            </a:r>
          </a:p>
          <a:p xmlns:a="http://schemas.openxmlformats.org/drawingml/2006/main">
            <a:r>
              <a:t>완성 예의 요구는 숫자 온도가 28.0 이상일 때 alert를 출력하고 null일 때 missing을 출력하는 것입니다. 시험 입력 [27.9,28.0,None,"28.0"]의 기대는 normal,alert,missing,invalid입니다. 로컬 파일 실행에서 이 네 결과가 관찰되었다면 해당 비교는 통과입니다. 실제 센서의 측정 정확도, 신호 전압, 직렬 전송, 보드 재시작과 출력 부하의 반응은 별도 시험이며 장비가 없으면 미실행입니다. 모의 값은 제어 로직의 경계를 시험하기 좋지만 물리 장치의 정확성을 대신하지 않습니다.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.build/copyedited-ppt/spec-2026-10-23.json#slide-98</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https://zeusk302-png.github.io/kdigital-physical-ai/#/sessions/2026-10-23/activity-A17</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outputs/2026-10-23/practice-guide.md</a:t>
            </a:r>
          </a:p>
          <a:p xmlns:a="http://schemas.openxmlformats.org/drawingml/2006/main">
            <a:r>
              <a:t>이 화면에서 설명할 내용:</a:t>
            </a:r>
          </a:p>
          <a:p xmlns:a="http://schemas.openxmlformats.org/drawingml/2006/main">
            <a:r>
              <a:t>센서 오차 ±0.5℃도 확인된 것인가요?</a:t>
            </a:r>
          </a:p>
          <a:p xmlns:a="http://schemas.openxmlformats.org/drawingml/2006/main">
            <a:r>
              <a:t>예제에서 확인한 결과와 센서에서 시험할 내용을 각각 쓰세요.</a:t>
            </a:r>
          </a:p>
          <a:p xmlns:a="http://schemas.openxmlformats.org/drawingml/2006/main">
            <a:r>
              <a:t>다음 팀이 온도 상태 표시를 이어 만들려 합니다. “코드 완료”라는 한 줄로 넘기면 어떤 입력이 시험되었고 어떤 장비가 빠져 있는지 알 수 없습니다. 인수인계는 이어서 판단할 사람이 같은 입력으로 다시 실행할 수 있도록 입력, 처리 규칙, 출력과 미확인을 묶는 일입니다.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.build/copyedited-ppt/spec-2026-10-23.json#slide-99</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https://zeusk302-png.github.io/kdigital-physical-ai/#/sessions/2026-10-23/activity-A16</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현재는 모의 판단 규칙만 확인했습니다.</a:t>
            </a:r>
          </a:p>
          <a:p xmlns:a="http://schemas.openxmlformats.org/drawingml/2006/main">
            <a:r>
              <a:t>기준 온도계와 실제 센서의 비교가 필요합니다.</a:t>
            </a:r>
          </a:p>
          <a:p xmlns:a="http://schemas.openxmlformats.org/drawingml/2006/main">
            <a:r>
              <a:t>여러 온도 조건과 측정 방법을 기록합니다.</a:t>
            </a:r>
          </a:p>
          <a:p xmlns:a="http://schemas.openxmlformats.org/drawingml/2006/main">
            <a:r>
              <a:t>현재는 모의 판단만 검증했고 실물 오차는 미확인입니다. 기준 온도계와 실제 센서를 같은 조건에서 비교하고 여러 온도 구간의 차이를 기록하는 시험을 제안합니다. 모의 28.0의 출력이 맞아도 실제 센서의 정확도를 확인한 것은 아닙니다.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.build/copyedited-ppt/spec-2026-10-23.json#slide-100</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https://zeusk302-png.github.io/kdigital-physical-ai/#/sessions/2026-10-23/activity-A16</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outputs/2026-10-23/practice-guide.md</a:t>
            </a:r>
          </a:p>
          <a:p xmlns:a="http://schemas.openxmlformats.org/drawingml/2006/main">
            <a:r>
              <a:t>이 화면에서 설명할 내용:</a:t>
            </a:r>
          </a:p>
          <a:p xmlns:a="http://schemas.openxmlformats.org/drawingml/2006/main">
            <a:r>
              <a:t>새 기준 30.0에 맞춰</a:t>
            </a:r>
          </a:p>
          <a:p xmlns:a="http://schemas.openxmlformats.org/drawingml/2006/main">
            <a:r>
              <a:t>입력·기대 상태·표시 설명을 갱신합니다.</a:t>
            </a:r>
          </a:p>
          <a:p xmlns:a="http://schemas.openxmlformats.org/drawingml/2006/main">
            <a:r>
              <a:t>요구를 “새 온도 경계 30.0”으로 바꾸면 코드 한 숫자만 바꾸는 데서 끝내지 않습니다. 29.9,30.0,30.1과 결측을 포함한 새 기대값을 먼저 쓰고 시험표와 표시 설명을 갱신합니다. 히스테리시스가 있다면 꺼짐 문턱과 초기 상태도 다시 합의합니다. 전달 묶음에는 원본 모의 데이터, 코드, 실행 명령, 관찰 출력, 경계 시험표, 모델·전압·핀 확인표를 넣습니다. 실물 조건 표의 빈칸은 추측으로 채우지 않습니다. 실제 장비를 사용한 사람과 측정 방법이 있어야 실물 검증 상태를 바꿀 수 있습니다. 파일 성공과 장치 성공을 같은 칸에 적지 않습니다.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.build/copyedited-ppt/spec-2026-10-23.json#slide-101</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https://zeusk302-png.github.io/kdigital-physical-ai/#/sessions/2026-10-23/activity-A16</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outputs/2026-10-23/beginner-start.md</a:t>
            </a:r>
          </a:p>
          <a:p xmlns:a="http://schemas.openxmlformats.org/drawingml/2006/main">
            <a:r>
              <a:t>이 화면에서 설명할 내용:</a:t>
            </a:r>
          </a:p>
          <a:p xmlns:a="http://schemas.openxmlformats.org/drawingml/2006/main">
            <a:r>
              <a:t>모의 28.0 일치를 센서 정확도로 쓰지 않습니다.</a:t>
            </a:r>
          </a:p>
          <a:p xmlns:a="http://schemas.openxmlformats.org/drawingml/2006/main">
            <a:r>
              <a:t>장비가 없어 시험하지 못한 항목은 그대로 표시합니다.</a:t>
            </a:r>
          </a:p>
          <a:p xmlns:a="http://schemas.openxmlformats.org/drawingml/2006/main">
            <a:r>
              <a:t>완성 예의 요구는 숫자 온도가 28.0 이상일 때 alert를 출력하고 null일 때 missing을 출력하는 것입니다. 시험 입력 [27.9,28.0,None,"28.0"]의 기대는 normal,alert,missing,invalid입니다. 로컬 파일 실행에서 이 네 결과가 관찰되었다면 해당 비교는 통과입니다. 실제 센서의 측정 정확도, 신호 전압, 직렬 전송, 보드 재시작과 출력 부하의 반응은 별도 시험이며 장비가 없으면 미실행입니다. 모의 값은 제어 로직의 경계를 시험하기 좋지만 물리 장치의 정확성을 대신하지 않습니다.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.build/copyedited-ppt/spec-2026-10-23.json#slide-102</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https://zeusk302-png.github.io/kdigital-physical-ai/#/sessions/2026-10-23/activity-A18</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outputs/2026-10-23/lesson.md</a:t>
            </a:r>
          </a:p>
          <a:p xmlns:a="http://schemas.openxmlformats.org/drawingml/2006/main">
            <a:r>
              <a:t>이 화면에서 설명할 내용:</a:t>
            </a:r>
          </a:p>
          <a:p xmlns:a="http://schemas.openxmlformats.org/drawingml/2006/main">
            <a:r>
              <a:t>예제에서 시험한 입력과 결과를 설명합니다.</a:t>
            </a:r>
          </a:p>
          <a:p xmlns:a="http://schemas.openxmlformats.org/drawingml/2006/main">
            <a:r>
              <a:t>다음 팀에 줄 파일 묶음을 가리켜 봅니다.</a:t>
            </a:r>
          </a:p>
          <a:p xmlns:a="http://schemas.openxmlformats.org/drawingml/2006/main">
            <a:r>
              <a:t>다음 팀이 온도 상태 표시를 이어 만들려 합니다. “코드 완료”라는 한 줄로 넘기면 어떤 입력이 시험되었고 어떤 장비가 빠져 있는지 알 수 없습니다. 인수인계는 이어서 판단할 사람이 같은 입력으로 다시 실행할 수 있도록 입력, 처리 규칙, 출력과 미확인을 묶는 일입니다.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.build/copyedited-ppt/spec-2026-10-23.json#slide-103</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https://zeusk302-png.github.io/kdigital-physical-ai/#/sessions/2026-10-23/activity-A18</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outputs/2026-10-23/assessment.md</a:t>
            </a:r>
          </a:p>
          <a:p xmlns:a="http://schemas.openxmlformats.org/drawingml/2006/main">
            <a:r>
              <a:t>이 화면에서 설명할 내용:</a:t>
            </a:r>
          </a:p>
          <a:p xmlns:a="http://schemas.openxmlformats.org/drawingml/2006/main">
            <a:r>
              <a:t>추가·복습: 경계 30.0</a:t>
            </a:r>
          </a:p>
          <a:p xmlns:a="http://schemas.openxmlformats.org/drawingml/2006/main">
            <a:r>
              <a:t>시험 세 입력과 실물 미확인 두 가지를 쓰세요.</a:t>
            </a:r>
          </a:p>
          <a:p xmlns:a="http://schemas.openxmlformats.org/drawingml/2006/main">
            <a:r>
              <a:t>요구를 “새 온도 경계 30.0”으로 바꾸면 코드 한 숫자만 바꾸는 데서 끝내지 않습니다. 29.9,30.0,30.1과 결측을 포함한 새 기대값을 먼저 쓰고 시험표와 표시 설명을 갱신합니다. 히스테리시스가 있다면 꺼짐 문턱과 초기 상태도 다시 합의합니다. 전달 묶음에는 원본 모의 데이터, 코드, 실행 명령, 관찰 출력, 경계 시험표, 모델·전압·핀 확인표를 넣습니다. 실물 조건 표의 빈칸은 추측으로 채우지 않습니다. 실제 장비를 사용한 사람과 측정 방법이 있어야 실물 검증 상태를 바꿀 수 있습니다. 파일 성공과 장치 성공을 같은 칸에 적지 않습니다.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관련 다른 상황에 적용하는 문제와 해설:</a:t>
            </a:r>
          </a:p>
          <a:p xmlns:a="http://schemas.openxmlformats.org/drawingml/2006/main">
            <a:r>
              <a:t>경계가 28에서 30으로 바뀌었습니다. 새 시험 세 입력과 실물 미확인 항목을 쓰세요.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29.9,30.0,30.1 및 결측을 시험하고 기대 상태를 갱신합니다. 보드 신호 전압·센서 오차 등은 별도 실물 확인입니다.</a:t>
            </a:r>
          </a:p>
          <a:p xmlns:a="http://schemas.openxmlformats.org/drawingml/2006/main">
            <a:r>
              <a:t/>
            </a:r>
          </a:p>
          <a:p xmlns:a="http://schemas.openxmlformats.org/drawingml/2006/main">
            <a:r>
              <a:t>&lt;/details&gt;</a:t>
            </a:r>
          </a:p>
          <a:p xmlns:a="http://schemas.openxmlformats.org/drawingml/2006/main">
            <a:r>
              <a:t>수업 활동 뒤 선택한다. 50분 안에 다 풀기 어려우면 수업 뒤에 이어서 풀도록 안내한다.</a:t>
            </a:r>
          </a:p>
          <a:p xmlns:a="http://schemas.openxmlformats.org/drawingml/2006/main">
            <a:r>
              <a:t/>
            </a:r>
          </a:p>
          <a:p xmlns:a="http://schemas.openxmlformats.org/drawingml/2006/main">
            <a:r>
              <a:t>화면 예의 출처: .build/copyedited-ppt/spec-2026-10-23.json#slide-104</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https://zeusk302-png.github.io/kdigital-physical-ai/#/sessions/2026-10-23/activity-A16</a:t>
            </a:r>
          </a:p>
          <a:p xmlns:a="http://schemas.openxmlformats.org/drawingml/2006/main">
            <a:r>
              <a:t>공식 자료: https://docs.espressif.com/projects/arduino-esp32/en/latest/api/serial.html</a:t>
            </a:r>
          </a:p>
          <a:p xmlns:a="http://schemas.openxmlformats.org/drawingml/2006/main">
            <a:r>
              <a:t/>
            </a:r>
          </a:p>
          <a:p xmlns:a="http://schemas.openxmlformats.org/drawingml/2006/main">
            <a:r>
              <a:t>코드와 개념 해설: 조건을 먼저 읽고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outputs/2026-10-23/assessment.md</a:t>
            </a:r>
          </a:p>
          <a:p xmlns:a="http://schemas.openxmlformats.org/drawingml/2006/main">
            <a:r>
              <a:t>이 화면에서 설명할 내용:</a:t>
            </a:r>
          </a:p>
          <a:p xmlns:a="http://schemas.openxmlformats.org/drawingml/2006/main">
            <a:r>
              <a:t>work의 기록과 수정본을 저장합니다.</a:t>
            </a:r>
          </a:p>
          <a:p xmlns:a="http://schemas.openxmlformats.org/drawingml/2006/main">
            <a:r>
              <a:t>입력·설정·결과가 같은 실행인지 확인합니다.</a:t>
            </a:r>
          </a:p>
          <a:p xmlns:a="http://schemas.openxmlformats.org/drawingml/2006/main">
            <a:r>
              <a:t>어떻게 확인했는지, 아직 시험하지 못한 것은 무엇인지 적습니다.</a:t>
            </a:r>
          </a:p>
          <a:p xmlns:a="http://schemas.openxmlformats.org/drawingml/2006/main">
            <a:r>
              <a:t>다음 팀이 온도 상태 표시를 이어 만들려 합니다. “코드 완료”라는 한 줄로 넘기면 어떤 입력이 시험되었고 어떤 장비가 빠져 있는지 알 수 없습니다. 인수인계는 이어서 판단할 사람이 같은 입력으로 다시 실행할 수 있도록 입력, 처리 규칙, 출력과 미확인을 묶는 일입니다.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화면 예의 출처: .build/copyedited-ppt/spec-2026-10-23.json#slide-105</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https://zeusk302-png.github.io/kdigital-physical-ai/#/sessions/2026-10-23/activity-A18</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outputs/2026-10-23/instructor-notes.md</a:t>
            </a:r>
          </a:p>
          <a:p xmlns:a="http://schemas.openxmlformats.org/drawingml/2006/main">
            <a:r>
              <a:t>이 화면에서 설명할 내용:</a:t>
            </a:r>
          </a:p>
          <a:p xmlns:a="http://schemas.openxmlformats.org/drawingml/2006/main">
            <a:r>
              <a:t>어느 폴더에서 어떤 명령을 입력하는지 설명합니다.</a:t>
            </a:r>
          </a:p>
          <a:p xmlns:a="http://schemas.openxmlformats.org/drawingml/2006/main">
            <a:r>
              <a:t>출력의 뜻과 추가로 시험할 내용을 설명합니다.</a:t>
            </a:r>
          </a:p>
          <a:p xmlns:a="http://schemas.openxmlformats.org/drawingml/2006/main">
            <a:r>
              <a:t>막힌 단계와 다시 확인할 항목을 적습니다.</a:t>
            </a:r>
          </a:p>
          <a:p xmlns:a="http://schemas.openxmlformats.org/drawingml/2006/main">
            <a:r>
              <a:t>다음 팀이 온도 상태 표시를 이어 만들려 합니다. “코드 완료”라는 한 줄로 넘기면 어떤 입력이 시험되었고 어떤 장비가 빠져 있는지 알 수 없습니다. 인수인계는 이어서 판단할 사람이 같은 입력으로 다시 실행할 수 있도록 입력, 처리 규칙, 출력과 미확인을 묶는 일입니다.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화면 예의 출처: .build/copyedited-ppt/spec-2026-10-23.json#slide-106</a:t>
            </a:r>
          </a:p>
          <a:p xmlns:a="http://schemas.openxmlformats.org/drawingml/2006/main">
            <a:r>
              <a:t/>
            </a:r>
          </a:p>
          <a:p xmlns:a="http://schemas.openxmlformats.org/drawingml/2006/main">
            <a:r>
              <a:t>학생 교안: https://zeusk302-png.github.io/kdigital-physical-ai/#/sessions/2026-10-23/lesson</a:t>
            </a:r>
          </a:p>
          <a:p xmlns:a="http://schemas.openxmlformats.org/drawingml/2006/main">
            <a:r>
              <a:t>실습: https://zeusk302-png.github.io/kdigital-physical-ai/#/sessions/2026-10-23/activity-A18</a:t>
            </a:r>
          </a:p>
          <a:p xmlns:a="http://schemas.openxmlformats.org/drawingml/2006/main">
            <a:r>
              <a:t>공식 자료: 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 시작 안내</a:t>
            </a:r>
          </a:p>
          <a:p xmlns:a="http://schemas.openxmlformats.org/drawingml/2006/main">
            <a:r>
              <a:t>https://zeusk302-png.github.io/kdigital-physical-ai/#/sessions/2026-10-23/start</a:t>
            </a:r>
          </a:p>
          <a:p xmlns:a="http://schemas.openxmlformats.org/drawingml/2006/main">
            <a:r>
              <a:t/>
            </a:r>
          </a:p>
          <a:p xmlns:a="http://schemas.openxmlformats.org/drawingml/2006/main">
            <a:r>
              <a:t>학생 교안</a:t>
            </a:r>
          </a:p>
          <a:p xmlns:a="http://schemas.openxmlformats.org/drawingml/2006/main">
            <a:r>
              <a:t>https://zeusk302-png.github.io/kdigital-physical-ai/#/sessions/2026-10-23/lesson</a:t>
            </a:r>
          </a:p>
          <a:p xmlns:a="http://schemas.openxmlformats.org/drawingml/2006/main">
            <a:r>
              <a:t/>
            </a:r>
          </a:p>
          <a:p xmlns:a="http://schemas.openxmlformats.org/drawingml/2006/main">
            <a:r>
              <a:t>실습 활동</a:t>
            </a:r>
          </a:p>
          <a:p xmlns:a="http://schemas.openxmlformats.org/drawingml/2006/main">
            <a:r>
              <a:t>https://zeusk302-png.github.io/kdigital-physical-ai/#/sessions/2026-10-23/workbook</a:t>
            </a:r>
          </a:p>
          <a:p xmlns:a="http://schemas.openxmlformats.org/drawingml/2006/main">
            <a:r>
              <a:t/>
            </a:r>
          </a:p>
          <a:p xmlns:a="http://schemas.openxmlformats.org/drawingml/2006/main">
            <a:r>
              <a:t>예제 코드와 데이터 ZIP</a:t>
            </a:r>
          </a:p>
          <a:p xmlns:a="http://schemas.openxmlformats.org/drawingml/2006/main">
            <a:r>
              <a:t>https://zeusk302-png.github.io/kdigital-physical-ai/downloads/2026-10-23/student-examples.zip</a:t>
            </a:r>
          </a:p>
          <a:p xmlns:a="http://schemas.openxmlformats.org/drawingml/2006/main">
            <a:r>
              <a:t/>
            </a:r>
          </a:p>
          <a:p xmlns:a="http://schemas.openxmlformats.org/drawingml/2006/main">
            <a:r>
              <a:t>날짜별 자료 다운로드</a:t>
            </a:r>
          </a:p>
          <a:p xmlns:a="http://schemas.openxmlformats.org/drawingml/2006/main">
            <a:r>
              <a:t>https://zeusk302-png.github.io/kdigital-physical-ai/#/sessions/2026-10-23/files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ESP32 GPIO</a:t>
            </a:r>
          </a:p>
          <a:p xmlns:a="http://schemas.openxmlformats.org/drawingml/2006/main">
            <a:r>
              <a:t>https://docs.espressif.com/projects/arduino-esp32/en/latest/api/gpio.html</a:t>
            </a:r>
          </a:p>
          <a:p xmlns:a="http://schemas.openxmlformats.org/drawingml/2006/main">
            <a:r>
              <a:t/>
            </a:r>
          </a:p>
          <a:p xmlns:a="http://schemas.openxmlformats.org/drawingml/2006/main">
            <a:r>
              <a:t>ESP32 ADC</a:t>
            </a:r>
          </a:p>
          <a:p xmlns:a="http://schemas.openxmlformats.org/drawingml/2006/main">
            <a:r>
              <a:t>https://docs.espressif.com/projects/arduino-esp32/en/latest/api/adc.html</a:t>
            </a:r>
          </a:p>
          <a:p xmlns:a="http://schemas.openxmlformats.org/drawingml/2006/main">
            <a:r>
              <a:t/>
            </a:r>
          </a:p>
          <a:p xmlns:a="http://schemas.openxmlformats.org/drawingml/2006/main">
            <a:r>
              <a:t>ESP32 직렬 통신</a:t>
            </a:r>
          </a:p>
          <a:p xmlns:a="http://schemas.openxmlformats.org/drawingml/2006/main">
            <a:r>
              <a:t>https://docs.espressif.com/projects/arduino-esp32/en/latest/api/serial.html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55b8d318d943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0a1dec5dc14cfc" /><Relationship Type="http://schemas.openxmlformats.org/officeDocument/2006/relationships/slideLayout" Target="/ppt/slideLayouts/slideLayout1.xml" Id="Rca2c167c61ab4e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2c167c61ab4e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8665626de4664abf" /><ns0:Relationship Type="http://schemas.openxmlformats.org/officeDocument/2006/relationships/image" Target="/ppt/media/image.png" Id="R3c8e9c4ce0e7411d" /><ns0:Relationship Type="http://schemas.openxmlformats.org/officeDocument/2006/relationships/notesSlide" Target="/ppt/notesSlides/notesSlide1.xml" Id="Rb515ac89a2904450"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1" TargetMode="External" /><ns0:Relationship Id="rIdLink3" Type="http://schemas.openxmlformats.org/officeDocument/2006/relationships/hyperlink" Target="https://docs.espressif.com/projects/arduino-esp32/en/latest/api/serial.html" TargetMode="External"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1.xml" Id="R23d7c69d19b2478f" /><ns0:Relationship Type="http://schemas.openxmlformats.org/officeDocument/2006/relationships/notesSlide" Target="/ppt/notesSlides/notesSlide2.xml" Id="Rb0e57566ab834984"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1" TargetMode="External" /><ns0:Relationship Id="rIdLink3" Type="http://schemas.openxmlformats.org/officeDocument/2006/relationships/hyperlink" Target="https://docs.espressif.com/projects/arduino-esp32/en/latest/api/serial.html" TargetMode="External"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1.xml" Id="Rbf09bdb190b44f07" /><ns0:Relationship Type="http://schemas.openxmlformats.org/officeDocument/2006/relationships/notesSlide" Target="/ppt/notesSlides/notesSlide3.xml" Id="R76d94dd9dc874198"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1" TargetMode="External" /><ns0:Relationship Id="rIdLink3" Type="http://schemas.openxmlformats.org/officeDocument/2006/relationships/hyperlink" Target="https://docs.espressif.com/projects/arduino-esp32/en/latest/api/serial.html" TargetMode="External"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1.xml" Id="Rfb51a7fb92fb4cfe" /><ns0:Relationship Type="http://schemas.openxmlformats.org/officeDocument/2006/relationships/notesSlide" Target="/ppt/notesSlides/notesSlide4.xml" Id="Rd1bf9dc97d2244a0"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1" TargetMode="External" /><ns0:Relationship Id="rIdLink3" Type="http://schemas.openxmlformats.org/officeDocument/2006/relationships/hyperlink" Target="https://docs.espressif.com/projects/arduino-esp32/en/latest/api/serial.html" TargetMode="External"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92cc7cd770304c1f" /><ns0:Relationship Type="http://schemas.openxmlformats.org/officeDocument/2006/relationships/notesSlide" Target="/ppt/notesSlides/notesSlide5.xml" Id="R418ee3a2c3584b3a"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1" TargetMode="External" /><ns0:Relationship Id="rIdLink3" Type="http://schemas.openxmlformats.org/officeDocument/2006/relationships/hyperlink" Target="https://docs.espressif.com/projects/arduino-esp32/en/latest/api/gpio.html" TargetMode="External"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1.xml" Id="R21a1e13d3d9d4d8a" /><ns0:Relationship Type="http://schemas.openxmlformats.org/officeDocument/2006/relationships/notesSlide" Target="/ppt/notesSlides/notesSlide6.xml" Id="R5b8c1d203d6d4c1a"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1" TargetMode="External" /><ns0:Relationship Id="rIdLink3" Type="http://schemas.openxmlformats.org/officeDocument/2006/relationships/hyperlink" Target="https://docs.espressif.com/projects/arduino-esp32/en/latest/api/gpio.html" TargetMode="External"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eb3ffdbea8ba43c1" /><ns0:Relationship Type="http://schemas.openxmlformats.org/officeDocument/2006/relationships/notesSlide" Target="/ppt/notesSlides/notesSlide7.xml" Id="R6af797fac3734097"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1" TargetMode="External" /><ns0:Relationship Id="rIdLink3" Type="http://schemas.openxmlformats.org/officeDocument/2006/relationships/hyperlink" Target="https://docs.espressif.com/projects/arduino-esp32/en/latest/api/gpio.html" TargetMode="External"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1.xml" Id="R6b2869abcb314133" /><ns0:Relationship Type="http://schemas.openxmlformats.org/officeDocument/2006/relationships/notesSlide" Target="/ppt/notesSlides/notesSlide8.xml" Id="R78bc965ab3344aca"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1" TargetMode="External" /><ns0:Relationship Id="rIdLink3" Type="http://schemas.openxmlformats.org/officeDocument/2006/relationships/hyperlink" Target="https://docs.espressif.com/projects/arduino-esp32/en/latest/api/gpio.html" TargetMode="External"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1.xml" Id="R996bd22b7f234ec7" /><ns0:Relationship Type="http://schemas.openxmlformats.org/officeDocument/2006/relationships/notesSlide" Target="/ppt/notesSlides/notesSlide9.xml" Id="R51071c43ec77426f"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2" TargetMode="External" /><ns0:Relationship Id="rIdLink3" Type="http://schemas.openxmlformats.org/officeDocument/2006/relationships/hyperlink" Target="https://docs.espressif.com/projects/arduino-esp32/en/latest/api/gpio.html" TargetMode="External"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1.xml" Id="Rd5ddea1629a846c7" /><ns0:Relationship Type="http://schemas.openxmlformats.org/officeDocument/2006/relationships/notesSlide" Target="/ppt/notesSlides/notesSlide10.xml" Id="Rae46a946ded94b88"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2" TargetMode="External" /><ns0:Relationship Id="rIdLink3" Type="http://schemas.openxmlformats.org/officeDocument/2006/relationships/hyperlink" Target="https://docs.espressif.com/projects/arduino-esp32/en/latest/api/gpio.html" TargetMode="External"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345a11ccb71049e3" /><ns0:Relationship Type="http://schemas.openxmlformats.org/officeDocument/2006/relationships/notesSlide" Target="/ppt/notesSlides/notesSlide11.xml" Id="R8ad446e693ff4a4b"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1" TargetMode="External" /><ns0:Relationship Id="rIdLink3" Type="http://schemas.openxmlformats.org/officeDocument/2006/relationships/hyperlink" Target="https://docs.espressif.com/projects/arduino-esp32/en/latest/api/gpio.html" TargetMode="External"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1.xml" Id="R1082211dcd18451c" /><ns0:Relationship Type="http://schemas.openxmlformats.org/officeDocument/2006/relationships/notesSlide" Target="/ppt/notesSlides/notesSlide12.xml" Id="R19efd1430b4b47d5"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3" TargetMode="External" /><ns0:Relationship Id="rIdLink3" Type="http://schemas.openxmlformats.org/officeDocument/2006/relationships/hyperlink" Target="https://docs.espressif.com/projects/arduino-esp32/en/latest/api/gpio.html" TargetMode="External" /></ns0:Relationships>
</file>

<file path=ppt/slides/_rels/slide13.xml.rels><?xml version='1.0' encoding='utf-8'?>
<ns0:Relationships xmlns:ns0="http://schemas.openxmlformats.org/package/2006/relationships"><ns0:Relationship Type="http://schemas.openxmlformats.org/officeDocument/2006/relationships/slideLayout" Target="/ppt/slideLayouts/slideLayout1.xml" Id="R0456154200834f24" /><ns0:Relationship Type="http://schemas.openxmlformats.org/officeDocument/2006/relationships/notesSlide" Target="/ppt/notesSlides/notesSlide13.xml" Id="Rde2efd23be5046c4"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3" TargetMode="External" /><ns0:Relationship Id="rIdLink3" Type="http://schemas.openxmlformats.org/officeDocument/2006/relationships/hyperlink" Target="https://docs.espressif.com/projects/arduino-esp32/en/latest/api/gpio.html" TargetMode="External" /></ns0:Relationships>
</file>

<file path=ppt/slides/_rels/slide14.xml.rels><?xml version='1.0' encoding='utf-8'?>
<ns0:Relationships xmlns:ns0="http://schemas.openxmlformats.org/package/2006/relationships"><ns0:Relationship Type="http://schemas.openxmlformats.org/officeDocument/2006/relationships/slideLayout" Target="/ppt/slideLayouts/slideLayout1.xml" Id="R36266c59e65e41d8" /><ns0:Relationship Type="http://schemas.openxmlformats.org/officeDocument/2006/relationships/notesSlide" Target="/ppt/notesSlides/notesSlide14.xml" Id="R8c05023db07f4568"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3" TargetMode="External" /><ns0:Relationship Id="rIdLink3" Type="http://schemas.openxmlformats.org/officeDocument/2006/relationships/hyperlink" Target="https://docs.espressif.com/projects/arduino-esp32/en/latest/api/gpio.html" TargetMode="External" /></ns0:Relationships>
</file>

<file path=ppt/slides/_rels/slide15.xml.rels><?xml version='1.0' encoding='utf-8'?>
<ns0:Relationships xmlns:ns0="http://schemas.openxmlformats.org/package/2006/relationships"><ns0:Relationship Type="http://schemas.openxmlformats.org/officeDocument/2006/relationships/slideLayout" Target="/ppt/slideLayouts/slideLayout1.xml" Id="Rbec43bb926ee4d8f" /><ns0:Relationship Type="http://schemas.openxmlformats.org/officeDocument/2006/relationships/notesSlide" Target="/ppt/notesSlides/notesSlide15.xml" Id="R5baf044a2f234312"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3" TargetMode="External" /><ns0:Relationship Id="rIdLink3" Type="http://schemas.openxmlformats.org/officeDocument/2006/relationships/hyperlink" Target="https://docs.espressif.com/projects/arduino-esp32/en/latest/api/gpio.html" TargetMode="External" /></ns0:Relationships>
</file>

<file path=ppt/slides/_rels/slide16.xml.rels><?xml version='1.0' encoding='utf-8'?>
<ns0:Relationships xmlns:ns0="http://schemas.openxmlformats.org/package/2006/relationships"><ns0:Relationship Type="http://schemas.openxmlformats.org/officeDocument/2006/relationships/slideLayout" Target="/ppt/slideLayouts/slideLayout1.xml" Id="R0a90849222c3404d" /><ns0:Relationship Type="http://schemas.openxmlformats.org/officeDocument/2006/relationships/notesSlide" Target="/ppt/notesSlides/notesSlide16.xml" Id="R1376915b15c44a29"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3" TargetMode="External" /><ns0:Relationship Id="rIdLink3" Type="http://schemas.openxmlformats.org/officeDocument/2006/relationships/hyperlink" Target="https://docs.espressif.com/projects/arduino-esp32/en/latest/api/gpio.html" TargetMode="External" /></ns0: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1.xml" Id="R7e143d6f6bbe48a0" /><ns0:Relationship Type="http://schemas.openxmlformats.org/officeDocument/2006/relationships/notesSlide" Target="/ppt/notesSlides/notesSlide17.xml" Id="Ree4ef512411f4dd8"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3" TargetMode="External" /><ns0:Relationship Id="rIdLink3" Type="http://schemas.openxmlformats.org/officeDocument/2006/relationships/hyperlink" Target="https://docs.espressif.com/projects/arduino-esp32/en/latest/api/gpio.html" TargetMode="External" /></ns0:Relationships>
</file>

<file path=ppt/slides/_rels/slide18.xml.rels><?xml version='1.0' encoding='utf-8'?>
<ns0:Relationships xmlns:ns0="http://schemas.openxmlformats.org/package/2006/relationships"><ns0:Relationship Type="http://schemas.openxmlformats.org/officeDocument/2006/relationships/slideLayout" Target="/ppt/slideLayouts/slideLayout1.xml" Id="Rc91e8b163a5b49d9" /><ns0:Relationship Type="http://schemas.openxmlformats.org/officeDocument/2006/relationships/notesSlide" Target="/ppt/notesSlides/notesSlide18.xml" Id="R92ff560c08d343b9"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3" TargetMode="External" /><ns0:Relationship Id="rIdLink3" Type="http://schemas.openxmlformats.org/officeDocument/2006/relationships/hyperlink" Target="https://docs.espressif.com/projects/arduino-esp32/en/latest/api/gpio.html" TargetMode="External" /></ns0: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1.xml" Id="R2f95f45d64fc487b" /><ns0:Relationship Type="http://schemas.openxmlformats.org/officeDocument/2006/relationships/notesSlide" Target="/ppt/notesSlides/notesSlide19.xml" Id="R70b3d060040b410d"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3" TargetMode="External" /><ns0:Relationship Id="rIdLink3" Type="http://schemas.openxmlformats.org/officeDocument/2006/relationships/hyperlink" Target="https://docs.espressif.com/projects/arduino-esp32/en/latest/api/gpio.html" TargetMode="External"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1.xml" Id="R9c140f0df83846b0" /><ns0:Relationship Type="http://schemas.openxmlformats.org/officeDocument/2006/relationships/notesSlide" Target="/ppt/notesSlides/notesSlide20.xml" Id="R96ddf631303645a1"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3" TargetMode="External" /><ns0:Relationship Id="rIdLink3" Type="http://schemas.openxmlformats.org/officeDocument/2006/relationships/hyperlink" Target="https://docs.espressif.com/projects/arduino-esp32/en/latest/api/gpio.html" TargetMode="External" /></ns0:Relationships>
</file>

<file path=ppt/slides/_rels/slide21.xml.rels><?xml version='1.0' encoding='utf-8'?>
<ns0:Relationships xmlns:ns0="http://schemas.openxmlformats.org/package/2006/relationships"><ns0:Relationship Type="http://schemas.openxmlformats.org/officeDocument/2006/relationships/slideLayout" Target="/ppt/slideLayouts/slideLayout1.xml" Id="R4f7635fcac9c4eb1" /><ns0:Relationship Type="http://schemas.openxmlformats.org/officeDocument/2006/relationships/notesSlide" Target="/ppt/notesSlides/notesSlide21.xml" Id="Rdd973d27e3bf4a10"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3" TargetMode="External" /><ns0:Relationship Id="rIdLink3" Type="http://schemas.openxmlformats.org/officeDocument/2006/relationships/hyperlink" Target="https://docs.espressif.com/projects/arduino-esp32/en/latest/api/gpio.html" TargetMode="External" /></ns0:Relationships>
</file>

<file path=ppt/slides/_rels/slide22.xml.rels><?xml version='1.0' encoding='utf-8'?>
<ns0:Relationships xmlns:ns0="http://schemas.openxmlformats.org/package/2006/relationships"><ns0:Relationship Type="http://schemas.openxmlformats.org/officeDocument/2006/relationships/slideLayout" Target="/ppt/slideLayouts/slideLayout1.xml" Id="R5bcb84218d274409" /><ns0:Relationship Type="http://schemas.openxmlformats.org/officeDocument/2006/relationships/notesSlide" Target="/ppt/notesSlides/notesSlide22.xml" Id="R8605d0983733412e"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23.xml.rels><?xml version='1.0' encoding='utf-8'?>
<ns0:Relationships xmlns:ns0="http://schemas.openxmlformats.org/package/2006/relationships"><ns0:Relationship Type="http://schemas.openxmlformats.org/officeDocument/2006/relationships/slideLayout" Target="/ppt/slideLayouts/slideLayout1.xml" Id="R1a216a24f98b41c5" /><ns0:Relationship Type="http://schemas.openxmlformats.org/officeDocument/2006/relationships/notesSlide" Target="/ppt/notesSlides/notesSlide23.xml" Id="R4fb1e48da95c4867"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24.xml.rels><?xml version='1.0' encoding='utf-8'?>
<ns0:Relationships xmlns:ns0="http://schemas.openxmlformats.org/package/2006/relationships"><ns0:Relationship Type="http://schemas.openxmlformats.org/officeDocument/2006/relationships/slideLayout" Target="/ppt/slideLayouts/slideLayout1.xml" Id="Re96226a0b7854e3b" /><ns0:Relationship Type="http://schemas.openxmlformats.org/officeDocument/2006/relationships/notesSlide" Target="/ppt/notesSlides/notesSlide24.xml" Id="R11c3f42a4f074445"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25.xml.rels><?xml version='1.0' encoding='utf-8'?>
<ns0:Relationships xmlns:ns0="http://schemas.openxmlformats.org/package/2006/relationships"><ns0:Relationship Type="http://schemas.openxmlformats.org/officeDocument/2006/relationships/slideLayout" Target="/ppt/slideLayouts/slideLayout1.xml" Id="R7166b8a44a46406f" /><ns0:Relationship Type="http://schemas.openxmlformats.org/officeDocument/2006/relationships/notesSlide" Target="/ppt/notesSlides/notesSlide25.xml" Id="R241698f2e8b24218"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26.xml.rels><?xml version='1.0' encoding='utf-8'?>
<ns0:Relationships xmlns:ns0="http://schemas.openxmlformats.org/package/2006/relationships"><ns0:Relationship Type="http://schemas.openxmlformats.org/officeDocument/2006/relationships/slideLayout" Target="/ppt/slideLayouts/slideLayout1.xml" Id="Rebd78e3db8f34d98" /><ns0:Relationship Type="http://schemas.openxmlformats.org/officeDocument/2006/relationships/notesSlide" Target="/ppt/notesSlides/notesSlide26.xml" Id="Ra6c224b245304fab"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5" TargetMode="External" /><ns0:Relationship Id="rIdLink3" Type="http://schemas.openxmlformats.org/officeDocument/2006/relationships/hyperlink" Target="https://docs.espressif.com/projects/arduino-esp32/en/latest/api/adc.html" TargetMode="External" /></ns0:Relationships>
</file>

<file path=ppt/slides/_rels/slide27.xml.rels><?xml version='1.0' encoding='utf-8'?>
<ns0:Relationships xmlns:ns0="http://schemas.openxmlformats.org/package/2006/relationships"><ns0:Relationship Type="http://schemas.openxmlformats.org/officeDocument/2006/relationships/slideLayout" Target="/ppt/slideLayouts/slideLayout1.xml" Id="R3939dab663d94c8e" /><ns0:Relationship Type="http://schemas.openxmlformats.org/officeDocument/2006/relationships/notesSlide" Target="/ppt/notesSlides/notesSlide27.xml" Id="R31ac42a66b2e44e9"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6" TargetMode="External" /><ns0:Relationship Id="rIdLink3" Type="http://schemas.openxmlformats.org/officeDocument/2006/relationships/hyperlink" Target="https://docs.espressif.com/projects/arduino-esp32/en/latest/api/adc.html" TargetMode="External" /></ns0:Relationships>
</file>

<file path=ppt/slides/_rels/slide28.xml.rels><?xml version='1.0' encoding='utf-8'?>
<ns0:Relationships xmlns:ns0="http://schemas.openxmlformats.org/package/2006/relationships"><ns0:Relationship Type="http://schemas.openxmlformats.org/officeDocument/2006/relationships/slideLayout" Target="/ppt/slideLayouts/slideLayout1.xml" Id="R13579bba697e4664" /><ns0:Relationship Type="http://schemas.openxmlformats.org/officeDocument/2006/relationships/notesSlide" Target="/ppt/notesSlides/notesSlide28.xml" Id="Rbd222162335b447d"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6" TargetMode="External" /><ns0:Relationship Id="rIdLink3" Type="http://schemas.openxmlformats.org/officeDocument/2006/relationships/hyperlink" Target="https://docs.espressif.com/projects/arduino-esp32/en/latest/api/adc.html" TargetMode="External" /></ns0:Relationships>
</file>

<file path=ppt/slides/_rels/slide29.xml.rels><?xml version='1.0' encoding='utf-8'?>
<ns0:Relationships xmlns:ns0="http://schemas.openxmlformats.org/package/2006/relationships"><ns0:Relationship Type="http://schemas.openxmlformats.org/officeDocument/2006/relationships/slideLayout" Target="/ppt/slideLayouts/slideLayout1.xml" Id="R12e946f52e744312" /><ns0:Relationship Type="http://schemas.openxmlformats.org/officeDocument/2006/relationships/notesSlide" Target="/ppt/notesSlides/notesSlide29.xml" Id="R5652908ae7354d63"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30.xml.rels><?xml version='1.0' encoding='utf-8'?>
<ns0:Relationships xmlns:ns0="http://schemas.openxmlformats.org/package/2006/relationships"><ns0:Relationship Type="http://schemas.openxmlformats.org/officeDocument/2006/relationships/slideLayout" Target="/ppt/slideLayouts/slideLayout1.xml" Id="R1b176706dece497b" /><ns0:Relationship Type="http://schemas.openxmlformats.org/officeDocument/2006/relationships/notesSlide" Target="/ppt/notesSlides/notesSlide30.xml" Id="Ra3656aa6809041c5"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31.xml.rels><?xml version='1.0' encoding='utf-8'?>
<ns0:Relationships xmlns:ns0="http://schemas.openxmlformats.org/package/2006/relationships"><ns0:Relationship Type="http://schemas.openxmlformats.org/officeDocument/2006/relationships/slideLayout" Target="/ppt/slideLayouts/slideLayout1.xml" Id="R28edf5e480ef4321" /><ns0:Relationship Type="http://schemas.openxmlformats.org/officeDocument/2006/relationships/notesSlide" Target="/ppt/notesSlides/notesSlide31.xml" Id="R9ff947f49443460b"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32.xml.rels><?xml version='1.0' encoding='utf-8'?>
<ns0:Relationships xmlns:ns0="http://schemas.openxmlformats.org/package/2006/relationships"><ns0:Relationship Type="http://schemas.openxmlformats.org/officeDocument/2006/relationships/slideLayout" Target="/ppt/slideLayouts/slideLayout1.xml" Id="Raf50f1d884984433" /><ns0:Relationship Type="http://schemas.openxmlformats.org/officeDocument/2006/relationships/notesSlide" Target="/ppt/notesSlides/notesSlide32.xml" Id="R8f2b0b08e4a34e1d"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33.xml.rels><?xml version='1.0' encoding='utf-8'?>
<ns0:Relationships xmlns:ns0="http://schemas.openxmlformats.org/package/2006/relationships"><ns0:Relationship Type="http://schemas.openxmlformats.org/officeDocument/2006/relationships/slideLayout" Target="/ppt/slideLayouts/slideLayout1.xml" Id="Re074374abb944099" /><ns0:Relationship Type="http://schemas.openxmlformats.org/officeDocument/2006/relationships/notesSlide" Target="/ppt/notesSlides/notesSlide33.xml" Id="R9864d7edb4c04d51"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34.xml.rels><?xml version='1.0' encoding='utf-8'?>
<ns0:Relationships xmlns:ns0="http://schemas.openxmlformats.org/package/2006/relationships"><ns0:Relationship Type="http://schemas.openxmlformats.org/officeDocument/2006/relationships/slideLayout" Target="/ppt/slideLayouts/slideLayout1.xml" Id="Rde6a57ef8f074851" /><ns0:Relationship Type="http://schemas.openxmlformats.org/officeDocument/2006/relationships/notesSlide" Target="/ppt/notesSlides/notesSlide34.xml" Id="R8d00760b2dc447df"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35.xml.rels><?xml version='1.0' encoding='utf-8'?>
<ns0:Relationships xmlns:ns0="http://schemas.openxmlformats.org/package/2006/relationships"><ns0:Relationship Type="http://schemas.openxmlformats.org/officeDocument/2006/relationships/slideLayout" Target="/ppt/slideLayouts/slideLayout1.xml" Id="R54f8a0d7fe51470d" /><ns0:Relationship Type="http://schemas.openxmlformats.org/officeDocument/2006/relationships/notesSlide" Target="/ppt/notesSlides/notesSlide35.xml" Id="R93678f82cd1d4fef"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36.xml.rels><?xml version='1.0' encoding='utf-8'?>
<ns0:Relationships xmlns:ns0="http://schemas.openxmlformats.org/package/2006/relationships"><ns0:Relationship Type="http://schemas.openxmlformats.org/officeDocument/2006/relationships/slideLayout" Target="/ppt/slideLayouts/slideLayout1.xml" Id="Rbca0ee73e0e74fd3" /><ns0:Relationship Type="http://schemas.openxmlformats.org/officeDocument/2006/relationships/notesSlide" Target="/ppt/notesSlides/notesSlide36.xml" Id="R22f2acaa46134cbd"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37.xml.rels><?xml version='1.0' encoding='utf-8'?>
<ns0:Relationships xmlns:ns0="http://schemas.openxmlformats.org/package/2006/relationships"><ns0:Relationship Type="http://schemas.openxmlformats.org/officeDocument/2006/relationships/slideLayout" Target="/ppt/slideLayouts/slideLayout1.xml" Id="Rb5759c362f5348f2" /><ns0:Relationship Type="http://schemas.openxmlformats.org/officeDocument/2006/relationships/notesSlide" Target="/ppt/notesSlides/notesSlide37.xml" Id="R45d2c9b45705420b"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38.xml.rels><?xml version='1.0' encoding='utf-8'?>
<ns0:Relationships xmlns:ns0="http://schemas.openxmlformats.org/package/2006/relationships"><ns0:Relationship Type="http://schemas.openxmlformats.org/officeDocument/2006/relationships/slideLayout" Target="/ppt/slideLayouts/slideLayout1.xml" Id="R5d190fca3e6d47a8" /><ns0:Relationship Type="http://schemas.openxmlformats.org/officeDocument/2006/relationships/notesSlide" Target="/ppt/notesSlides/notesSlide38.xml" Id="R9225f53181bc4389"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4" TargetMode="External" /><ns0:Relationship Id="rIdLink3" Type="http://schemas.openxmlformats.org/officeDocument/2006/relationships/hyperlink" Target="https://docs.espressif.com/projects/arduino-esp32/en/latest/api/adc.html" TargetMode="External" /></ns0:Relationships>
</file>

<file path=ppt/slides/_rels/slide39.xml.rels><?xml version='1.0' encoding='utf-8'?>
<ns0:Relationships xmlns:ns0="http://schemas.openxmlformats.org/package/2006/relationships"><ns0:Relationship Type="http://schemas.openxmlformats.org/officeDocument/2006/relationships/slideLayout" Target="/ppt/slideLayouts/slideLayout1.xml" Id="R0b49a47a129a43d2" /><ns0:Relationship Type="http://schemas.openxmlformats.org/officeDocument/2006/relationships/notesSlide" Target="/ppt/notesSlides/notesSlide39.xml" Id="Rea38d9aea7864f7b"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7" TargetMode="External" /><ns0:Relationship Id="rIdLink3" Type="http://schemas.openxmlformats.org/officeDocument/2006/relationships/hyperlink" Target="https://docs.espressif.com/projects/arduino-esp32/en/latest/api/serial.html" TargetMode="External" /></ns0:Relationships>
</file>

<file path=ppt/slides/_rels/slide40.xml.rels><?xml version='1.0' encoding='utf-8'?>
<ns0:Relationships xmlns:ns0="http://schemas.openxmlformats.org/package/2006/relationships"><ns0:Relationship Type="http://schemas.openxmlformats.org/officeDocument/2006/relationships/slideLayout" Target="/ppt/slideLayouts/slideLayout1.xml" Id="R4ec46a0ca4ad4a05" /><ns0:Relationship Type="http://schemas.openxmlformats.org/officeDocument/2006/relationships/notesSlide" Target="/ppt/notesSlides/notesSlide40.xml" Id="Rb7ea7282d3ce4b82"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7" TargetMode="External" /><ns0:Relationship Id="rIdLink3" Type="http://schemas.openxmlformats.org/officeDocument/2006/relationships/hyperlink" Target="https://docs.espressif.com/projects/arduino-esp32/en/latest/api/serial.html" TargetMode="External" /></ns0:Relationships>
</file>

<file path=ppt/slides/_rels/slide41.xml.rels><?xml version='1.0' encoding='utf-8'?>
<ns0:Relationships xmlns:ns0="http://schemas.openxmlformats.org/package/2006/relationships"><ns0:Relationship Type="http://schemas.openxmlformats.org/officeDocument/2006/relationships/slideLayout" Target="/ppt/slideLayouts/slideLayout1.xml" Id="R02b02b8a3b614ad1" /><ns0:Relationship Type="http://schemas.openxmlformats.org/officeDocument/2006/relationships/notesSlide" Target="/ppt/notesSlides/notesSlide41.xml" Id="R8179ac71614f4110"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7" TargetMode="External" /><ns0:Relationship Id="rIdLink3" Type="http://schemas.openxmlformats.org/officeDocument/2006/relationships/hyperlink" Target="https://docs.espressif.com/projects/arduino-esp32/en/latest/api/serial.html" TargetMode="External" /></ns0:Relationships>
</file>

<file path=ppt/slides/_rels/slide42.xml.rels><?xml version='1.0' encoding='utf-8'?>
<ns0:Relationships xmlns:ns0="http://schemas.openxmlformats.org/package/2006/relationships"><ns0:Relationship Type="http://schemas.openxmlformats.org/officeDocument/2006/relationships/slideLayout" Target="/ppt/slideLayouts/slideLayout1.xml" Id="R07d433b939594221" /><ns0:Relationship Type="http://schemas.openxmlformats.org/officeDocument/2006/relationships/notesSlide" Target="/ppt/notesSlides/notesSlide42.xml" Id="R49b26015a41f4179"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7" TargetMode="External" /><ns0:Relationship Id="rIdLink3" Type="http://schemas.openxmlformats.org/officeDocument/2006/relationships/hyperlink" Target="https://docs.espressif.com/projects/arduino-esp32/en/latest/api/serial.html" TargetMode="External" /></ns0:Relationships>
</file>

<file path=ppt/slides/_rels/slide43.xml.rels><?xml version='1.0' encoding='utf-8'?>
<ns0:Relationships xmlns:ns0="http://schemas.openxmlformats.org/package/2006/relationships"><ns0:Relationship Type="http://schemas.openxmlformats.org/officeDocument/2006/relationships/slideLayout" Target="/ppt/slideLayouts/slideLayout1.xml" Id="R632195ed20e74c46" /><ns0:Relationship Type="http://schemas.openxmlformats.org/officeDocument/2006/relationships/notesSlide" Target="/ppt/notesSlides/notesSlide43.xml" Id="R531002aa0e714c63"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7" TargetMode="External" /><ns0:Relationship Id="rIdLink3" Type="http://schemas.openxmlformats.org/officeDocument/2006/relationships/hyperlink" Target="https://docs.espressif.com/projects/arduino-esp32/en/latest/api/serial.html" TargetMode="External" /></ns0:Relationships>
</file>

<file path=ppt/slides/_rels/slide44.xml.rels><?xml version='1.0' encoding='utf-8'?>
<ns0:Relationships xmlns:ns0="http://schemas.openxmlformats.org/package/2006/relationships"><ns0:Relationship Type="http://schemas.openxmlformats.org/officeDocument/2006/relationships/slideLayout" Target="/ppt/slideLayouts/slideLayout1.xml" Id="R34d545c7bda24385" /><ns0:Relationship Type="http://schemas.openxmlformats.org/officeDocument/2006/relationships/notesSlide" Target="/ppt/notesSlides/notesSlide44.xml" Id="R62481cb14c0d4fc1"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8" TargetMode="External" /><ns0:Relationship Id="rIdLink3" Type="http://schemas.openxmlformats.org/officeDocument/2006/relationships/hyperlink" Target="https://docs.espressif.com/projects/arduino-esp32/en/latest/api/serial.html" TargetMode="External" /></ns0:Relationships>
</file>

<file path=ppt/slides/_rels/slide45.xml.rels><?xml version='1.0' encoding='utf-8'?>
<ns0:Relationships xmlns:ns0="http://schemas.openxmlformats.org/package/2006/relationships"><ns0:Relationship Type="http://schemas.openxmlformats.org/officeDocument/2006/relationships/slideLayout" Target="/ppt/slideLayouts/slideLayout1.xml" Id="R02a7961189674344" /><ns0:Relationship Type="http://schemas.openxmlformats.org/officeDocument/2006/relationships/notesSlide" Target="/ppt/notesSlides/notesSlide45.xml" Id="Re20b663d56fc49d2"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8" TargetMode="External" /><ns0:Relationship Id="rIdLink3" Type="http://schemas.openxmlformats.org/officeDocument/2006/relationships/hyperlink" Target="https://docs.espressif.com/projects/arduino-esp32/en/latest/api/serial.html" TargetMode="External" /></ns0:Relationships>
</file>

<file path=ppt/slides/_rels/slide46.xml.rels><?xml version='1.0' encoding='utf-8'?>
<ns0:Relationships xmlns:ns0="http://schemas.openxmlformats.org/package/2006/relationships"><ns0:Relationship Type="http://schemas.openxmlformats.org/officeDocument/2006/relationships/slideLayout" Target="/ppt/slideLayouts/slideLayout1.xml" Id="R52f67151ce994368" /><ns0:Relationship Type="http://schemas.openxmlformats.org/officeDocument/2006/relationships/notesSlide" Target="/ppt/notesSlides/notesSlide46.xml" Id="R9aad6d16984d4f69"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9" TargetMode="External" /><ns0:Relationship Id="rIdLink3" Type="http://schemas.openxmlformats.org/officeDocument/2006/relationships/hyperlink" Target="https://docs.espressif.com/projects/arduino-esp32/en/latest/api/serial.html" TargetMode="External" /></ns0:Relationships>
</file>

<file path=ppt/slides/_rels/slide47.xml.rels><?xml version='1.0' encoding='utf-8'?>
<ns0:Relationships xmlns:ns0="http://schemas.openxmlformats.org/package/2006/relationships"><ns0:Relationship Type="http://schemas.openxmlformats.org/officeDocument/2006/relationships/slideLayout" Target="/ppt/slideLayouts/slideLayout1.xml" Id="R59fa025b72d2497e" /><ns0:Relationship Type="http://schemas.openxmlformats.org/officeDocument/2006/relationships/notesSlide" Target="/ppt/notesSlides/notesSlide47.xml" Id="R4d4f30bf062f4032"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9" TargetMode="External" /><ns0:Relationship Id="rIdLink3" Type="http://schemas.openxmlformats.org/officeDocument/2006/relationships/hyperlink" Target="https://docs.espressif.com/projects/arduino-esp32/en/latest/api/serial.html" TargetMode="External" /></ns0:Relationships>
</file>

<file path=ppt/slides/_rels/slide48.xml.rels><?xml version='1.0' encoding='utf-8'?>
<ns0:Relationships xmlns:ns0="http://schemas.openxmlformats.org/package/2006/relationships"><ns0:Relationship Type="http://schemas.openxmlformats.org/officeDocument/2006/relationships/slideLayout" Target="/ppt/slideLayouts/slideLayout1.xml" Id="R3e460e422d3048cc" /><ns0:Relationship Type="http://schemas.openxmlformats.org/officeDocument/2006/relationships/notesSlide" Target="/ppt/notesSlides/notesSlide48.xml" Id="R3b85af8372224a55"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9" TargetMode="External" /><ns0:Relationship Id="rIdLink3" Type="http://schemas.openxmlformats.org/officeDocument/2006/relationships/hyperlink" Target="https://docs.espressif.com/projects/arduino-esp32/en/latest/api/serial.html" TargetMode="External" /></ns0:Relationships>
</file>

<file path=ppt/slides/_rels/slide49.xml.rels><?xml version='1.0' encoding='utf-8'?>
<ns0:Relationships xmlns:ns0="http://schemas.openxmlformats.org/package/2006/relationships"><ns0:Relationship Type="http://schemas.openxmlformats.org/officeDocument/2006/relationships/slideLayout" Target="/ppt/slideLayouts/slideLayout1.xml" Id="R7609f02357804ba1" /><ns0:Relationship Type="http://schemas.openxmlformats.org/officeDocument/2006/relationships/notesSlide" Target="/ppt/notesSlides/notesSlide49.xml" Id="R2991f0cf39664ab4"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9" TargetMode="External" /><ns0:Relationship Id="rIdLink3" Type="http://schemas.openxmlformats.org/officeDocument/2006/relationships/hyperlink" Target="https://docs.espressif.com/projects/arduino-esp32/en/latest/api/serial.html" TargetMode="External" /></ns0:Relationships>
</file>

<file path=ppt/slides/_rels/slide50.xml.rels><?xml version='1.0' encoding='utf-8'?>
<ns0:Relationships xmlns:ns0="http://schemas.openxmlformats.org/package/2006/relationships"><ns0:Relationship Type="http://schemas.openxmlformats.org/officeDocument/2006/relationships/slideLayout" Target="/ppt/slideLayouts/slideLayout1.xml" Id="R323870d35dfb43de" /><ns0:Relationship Type="http://schemas.openxmlformats.org/officeDocument/2006/relationships/notesSlide" Target="/ppt/notesSlides/notesSlide50.xml" Id="R52b36bbf4e224ed0"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9" TargetMode="External" /><ns0:Relationship Id="rIdLink3" Type="http://schemas.openxmlformats.org/officeDocument/2006/relationships/hyperlink" Target="https://docs.espressif.com/projects/arduino-esp32/en/latest/api/serial.html" TargetMode="External" /></ns0:Relationships>
</file>

<file path=ppt/slides/_rels/slide51.xml.rels><?xml version='1.0' encoding='utf-8'?>
<ns0:Relationships xmlns:ns0="http://schemas.openxmlformats.org/package/2006/relationships"><ns0:Relationship Type="http://schemas.openxmlformats.org/officeDocument/2006/relationships/slideLayout" Target="/ppt/slideLayouts/slideLayout1.xml" Id="Rdcf3e7f412e54cb0" /><ns0:Relationship Type="http://schemas.openxmlformats.org/officeDocument/2006/relationships/notesSlide" Target="/ppt/notesSlides/notesSlide51.xml" Id="Rfebe03c260a04430"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9" TargetMode="External" /><ns0:Relationship Id="rIdLink3" Type="http://schemas.openxmlformats.org/officeDocument/2006/relationships/hyperlink" Target="https://docs.espressif.com/projects/arduino-esp32/en/latest/api/serial.html" TargetMode="External" /></ns0:Relationships>
</file>

<file path=ppt/slides/_rels/slide52.xml.rels><?xml version='1.0' encoding='utf-8'?>
<ns0:Relationships xmlns:ns0="http://schemas.openxmlformats.org/package/2006/relationships"><ns0:Relationship Type="http://schemas.openxmlformats.org/officeDocument/2006/relationships/slideLayout" Target="/ppt/slideLayouts/slideLayout1.xml" Id="R2f05fe175c1149af" /><ns0:Relationship Type="http://schemas.openxmlformats.org/officeDocument/2006/relationships/notesSlide" Target="/ppt/notesSlides/notesSlide52.xml" Id="R8f81a56200a14492"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9" TargetMode="External" /><ns0:Relationship Id="rIdLink3" Type="http://schemas.openxmlformats.org/officeDocument/2006/relationships/hyperlink" Target="https://docs.espressif.com/projects/arduino-esp32/en/latest/api/serial.html" TargetMode="External" /></ns0:Relationships>
</file>

<file path=ppt/slides/_rels/slide53.xml.rels><?xml version='1.0' encoding='utf-8'?>
<ns0:Relationships xmlns:ns0="http://schemas.openxmlformats.org/package/2006/relationships"><ns0:Relationship Type="http://schemas.openxmlformats.org/officeDocument/2006/relationships/slideLayout" Target="/ppt/slideLayouts/slideLayout1.xml" Id="R0639c602a8cb4b2b" /><ns0:Relationship Type="http://schemas.openxmlformats.org/officeDocument/2006/relationships/notesSlide" Target="/ppt/notesSlides/notesSlide53.xml" Id="Radec88244a9848a2"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9" TargetMode="External" /><ns0:Relationship Id="rIdLink3" Type="http://schemas.openxmlformats.org/officeDocument/2006/relationships/hyperlink" Target="https://docs.espressif.com/projects/arduino-esp32/en/latest/api/serial.html" TargetMode="External" /></ns0:Relationships>
</file>

<file path=ppt/slides/_rels/slide54.xml.rels><?xml version='1.0' encoding='utf-8'?>
<ns0:Relationships xmlns:ns0="http://schemas.openxmlformats.org/package/2006/relationships"><ns0:Relationship Type="http://schemas.openxmlformats.org/officeDocument/2006/relationships/slideLayout" Target="/ppt/slideLayouts/slideLayout1.xml" Id="Rb21ec4412c1f4922" /><ns0:Relationship Type="http://schemas.openxmlformats.org/officeDocument/2006/relationships/notesSlide" Target="/ppt/notesSlides/notesSlide54.xml" Id="R8fc966fd47c44c50"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9" TargetMode="External" /><ns0:Relationship Id="rIdLink3" Type="http://schemas.openxmlformats.org/officeDocument/2006/relationships/hyperlink" Target="https://docs.espressif.com/projects/arduino-esp32/en/latest/api/serial.html" TargetMode="External" /></ns0:Relationships>
</file>

<file path=ppt/slides/_rels/slide55.xml.rels><?xml version='1.0' encoding='utf-8'?>
<ns0:Relationships xmlns:ns0="http://schemas.openxmlformats.org/package/2006/relationships"><ns0:Relationship Type="http://schemas.openxmlformats.org/officeDocument/2006/relationships/slideLayout" Target="/ppt/slideLayouts/slideLayout1.xml" Id="R68ca43bfef2d4c72" /><ns0:Relationship Type="http://schemas.openxmlformats.org/officeDocument/2006/relationships/notesSlide" Target="/ppt/notesSlides/notesSlide55.xml" Id="Rb4aa028b83ee4e12"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07" TargetMode="External" /><ns0:Relationship Id="rIdLink3" Type="http://schemas.openxmlformats.org/officeDocument/2006/relationships/hyperlink" Target="https://docs.espressif.com/projects/arduino-esp32/en/latest/api/serial.html" TargetMode="External" /></ns0:Relationships>
</file>

<file path=ppt/slides/_rels/slide56.xml.rels><?xml version='1.0' encoding='utf-8'?>
<ns0:Relationships xmlns:ns0="http://schemas.openxmlformats.org/package/2006/relationships"><ns0:Relationship Type="http://schemas.openxmlformats.org/officeDocument/2006/relationships/slideLayout" Target="/ppt/slideLayouts/slideLayout1.xml" Id="R097276e5c4524c2f" /><ns0:Relationship Type="http://schemas.openxmlformats.org/officeDocument/2006/relationships/notesSlide" Target="/ppt/notesSlides/notesSlide56.xml" Id="Rf8f8b4a60f744aa6"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0" TargetMode="External" /><ns0:Relationship Id="rIdLink3" Type="http://schemas.openxmlformats.org/officeDocument/2006/relationships/hyperlink" Target="https://docs.espressif.com/projects/arduino-esp32/en/latest/api/gpio.html" TargetMode="External" /></ns0:Relationships>
</file>

<file path=ppt/slides/_rels/slide57.xml.rels><?xml version='1.0' encoding='utf-8'?>
<ns0:Relationships xmlns:ns0="http://schemas.openxmlformats.org/package/2006/relationships"><ns0:Relationship Type="http://schemas.openxmlformats.org/officeDocument/2006/relationships/slideLayout" Target="/ppt/slideLayouts/slideLayout1.xml" Id="R2a0b6a433694450f" /><ns0:Relationship Type="http://schemas.openxmlformats.org/officeDocument/2006/relationships/notesSlide" Target="/ppt/notesSlides/notesSlide57.xml" Id="R2c011d1f304e4c3b"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1" TargetMode="External" /><ns0:Relationship Id="rIdLink3" Type="http://schemas.openxmlformats.org/officeDocument/2006/relationships/hyperlink" Target="https://docs.espressif.com/projects/arduino-esp32/en/latest/api/gpio.html" TargetMode="External" /></ns0:Relationships>
</file>

<file path=ppt/slides/_rels/slide58.xml.rels><?xml version='1.0' encoding='utf-8'?>
<ns0:Relationships xmlns:ns0="http://schemas.openxmlformats.org/package/2006/relationships"><ns0:Relationship Type="http://schemas.openxmlformats.org/officeDocument/2006/relationships/slideLayout" Target="/ppt/slideLayouts/slideLayout1.xml" Id="Rb948bdb709ba43df" /><ns0:Relationship Type="http://schemas.openxmlformats.org/officeDocument/2006/relationships/notesSlide" Target="/ppt/notesSlides/notesSlide58.xml" Id="Ra49ebd82b202406d"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1" TargetMode="External" /><ns0:Relationship Id="rIdLink3" Type="http://schemas.openxmlformats.org/officeDocument/2006/relationships/hyperlink" Target="https://docs.espressif.com/projects/arduino-esp32/en/latest/api/gpio.html" TargetMode="External" /></ns0:Relationships>
</file>

<file path=ppt/slides/_rels/slide59.xml.rels><?xml version='1.0' encoding='utf-8'?>
<ns0:Relationships xmlns:ns0="http://schemas.openxmlformats.org/package/2006/relationships"><ns0:Relationship Type="http://schemas.openxmlformats.org/officeDocument/2006/relationships/slideLayout" Target="/ppt/slideLayouts/slideLayout1.xml" Id="Rb477f49f5d6b4bba" /><ns0:Relationship Type="http://schemas.openxmlformats.org/officeDocument/2006/relationships/notesSlide" Target="/ppt/notesSlides/notesSlide59.xml" Id="R1e99abde6cc04bd8"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1" TargetMode="External" /><ns0:Relationship Id="rIdLink3" Type="http://schemas.openxmlformats.org/officeDocument/2006/relationships/hyperlink" Target="https://docs.espressif.com/projects/arduino-esp32/en/latest/api/gpio.html" TargetMode="External" /></ns0:Relationships>
</file>

<file path=ppt/slides/_rels/slide60.xml.rels><?xml version='1.0' encoding='utf-8'?>
<ns0:Relationships xmlns:ns0="http://schemas.openxmlformats.org/package/2006/relationships"><ns0:Relationship Type="http://schemas.openxmlformats.org/officeDocument/2006/relationships/slideLayout" Target="/ppt/slideLayouts/slideLayout1.xml" Id="R1241517b2f324f1d" /><ns0:Relationship Type="http://schemas.openxmlformats.org/officeDocument/2006/relationships/notesSlide" Target="/ppt/notesSlides/notesSlide60.xml" Id="Rf14412d51fc14408"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1" TargetMode="External" /><ns0:Relationship Id="rIdLink3" Type="http://schemas.openxmlformats.org/officeDocument/2006/relationships/hyperlink" Target="https://docs.espressif.com/projects/arduino-esp32/en/latest/api/gpio.html" TargetMode="External" /></ns0:Relationships>
</file>

<file path=ppt/slides/_rels/slide61.xml.rels><?xml version='1.0' encoding='utf-8'?>
<ns0:Relationships xmlns:ns0="http://schemas.openxmlformats.org/package/2006/relationships"><ns0:Relationship Type="http://schemas.openxmlformats.org/officeDocument/2006/relationships/slideLayout" Target="/ppt/slideLayouts/slideLayout1.xml" Id="R857137995dbf4516" /><ns0:Relationship Type="http://schemas.openxmlformats.org/officeDocument/2006/relationships/notesSlide" Target="/ppt/notesSlides/notesSlide61.xml" Id="R64099217e2574090"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0" TargetMode="External" /><ns0:Relationship Id="rIdLink3" Type="http://schemas.openxmlformats.org/officeDocument/2006/relationships/hyperlink" Target="https://docs.espressif.com/projects/arduino-esp32/en/latest/api/gpio.html" TargetMode="External" /></ns0:Relationships>
</file>

<file path=ppt/slides/_rels/slide62.xml.rels><?xml version='1.0' encoding='utf-8'?>
<ns0:Relationships xmlns:ns0="http://schemas.openxmlformats.org/package/2006/relationships"><ns0:Relationship Type="http://schemas.openxmlformats.org/officeDocument/2006/relationships/slideLayout" Target="/ppt/slideLayouts/slideLayout1.xml" Id="R383de246de75404e" /><ns0:Relationship Type="http://schemas.openxmlformats.org/officeDocument/2006/relationships/notesSlide" Target="/ppt/notesSlides/notesSlide62.xml" Id="R5953305d235f4119"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2" TargetMode="External" /><ns0:Relationship Id="rIdLink3" Type="http://schemas.openxmlformats.org/officeDocument/2006/relationships/hyperlink" Target="https://docs.espressif.com/projects/arduino-esp32/en/latest/api/gpio.html" TargetMode="External" /></ns0:Relationships>
</file>

<file path=ppt/slides/_rels/slide63.xml.rels><?xml version='1.0' encoding='utf-8'?>
<ns0:Relationships xmlns:ns0="http://schemas.openxmlformats.org/package/2006/relationships"><ns0:Relationship Type="http://schemas.openxmlformats.org/officeDocument/2006/relationships/slideLayout" Target="/ppt/slideLayouts/slideLayout1.xml" Id="R9ef19f504cb34d14" /><ns0:Relationship Type="http://schemas.openxmlformats.org/officeDocument/2006/relationships/notesSlide" Target="/ppt/notesSlides/notesSlide63.xml" Id="Re45463cd04464f92"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1" TargetMode="External" /><ns0:Relationship Id="rIdLink3" Type="http://schemas.openxmlformats.org/officeDocument/2006/relationships/hyperlink" Target="https://docs.espressif.com/projects/arduino-esp32/en/latest/api/gpio.html" TargetMode="External" /></ns0:Relationships>
</file>

<file path=ppt/slides/_rels/slide64.xml.rels><?xml version='1.0' encoding='utf-8'?>
<ns0:Relationships xmlns:ns0="http://schemas.openxmlformats.org/package/2006/relationships"><ns0:Relationship Type="http://schemas.openxmlformats.org/officeDocument/2006/relationships/slideLayout" Target="/ppt/slideLayouts/slideLayout1.xml" Id="R18ca18e1687c43ea" /><ns0:Relationship Type="http://schemas.openxmlformats.org/officeDocument/2006/relationships/notesSlide" Target="/ppt/notesSlides/notesSlide64.xml" Id="R58d89b05f86047a7"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1" TargetMode="External" /><ns0:Relationship Id="rIdLink3" Type="http://schemas.openxmlformats.org/officeDocument/2006/relationships/hyperlink" Target="https://docs.espressif.com/projects/arduino-esp32/en/latest/api/gpio.html" TargetMode="External" /></ns0:Relationships>
</file>

<file path=ppt/slides/_rels/slide65.xml.rels><?xml version='1.0' encoding='utf-8'?>
<ns0:Relationships xmlns:ns0="http://schemas.openxmlformats.org/package/2006/relationships"><ns0:Relationship Type="http://schemas.openxmlformats.org/officeDocument/2006/relationships/slideLayout" Target="/ppt/slideLayouts/slideLayout1.xml" Id="Rd15e58d1a00444d6" /><ns0:Relationship Type="http://schemas.openxmlformats.org/officeDocument/2006/relationships/notesSlide" Target="/ppt/notesSlides/notesSlide65.xml" Id="R0660b33d3b314b54"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1" TargetMode="External" /><ns0:Relationship Id="rIdLink3" Type="http://schemas.openxmlformats.org/officeDocument/2006/relationships/hyperlink" Target="https://docs.espressif.com/projects/arduino-esp32/en/latest/api/gpio.html" TargetMode="External" /></ns0:Relationships>
</file>

<file path=ppt/slides/_rels/slide66.xml.rels><?xml version='1.0' encoding='utf-8'?>
<ns0:Relationships xmlns:ns0="http://schemas.openxmlformats.org/package/2006/relationships"><ns0:Relationship Type="http://schemas.openxmlformats.org/officeDocument/2006/relationships/slideLayout" Target="/ppt/slideLayouts/slideLayout1.xml" Id="R6080e29708fc430f" /><ns0:Relationship Type="http://schemas.openxmlformats.org/officeDocument/2006/relationships/notesSlide" Target="/ppt/notesSlides/notesSlide66.xml" Id="R87bf8003e3504d8d"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1" TargetMode="External" /><ns0:Relationship Id="rIdLink3" Type="http://schemas.openxmlformats.org/officeDocument/2006/relationships/hyperlink" Target="https://docs.espressif.com/projects/arduino-esp32/en/latest/api/gpio.html" TargetMode="External" /></ns0:Relationships>
</file>

<file path=ppt/slides/_rels/slide67.xml.rels><?xml version='1.0' encoding='utf-8'?>
<ns0:Relationships xmlns:ns0="http://schemas.openxmlformats.org/package/2006/relationships"><ns0:Relationship Type="http://schemas.openxmlformats.org/officeDocument/2006/relationships/slideLayout" Target="/ppt/slideLayouts/slideLayout1.xml" Id="R4e2a605df88f4427" /><ns0:Relationship Type="http://schemas.openxmlformats.org/officeDocument/2006/relationships/notesSlide" Target="/ppt/notesSlides/notesSlide67.xml" Id="R492ebd755fbf4657"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0" TargetMode="External" /><ns0:Relationship Id="rIdLink3" Type="http://schemas.openxmlformats.org/officeDocument/2006/relationships/hyperlink" Target="https://docs.espressif.com/projects/arduino-esp32/en/latest/api/gpio.html" TargetMode="External" /></ns0:Relationships>
</file>

<file path=ppt/slides/_rels/slide68.xml.rels><?xml version='1.0' encoding='utf-8'?>
<ns0:Relationships xmlns:ns0="http://schemas.openxmlformats.org/package/2006/relationships"><ns0:Relationship Type="http://schemas.openxmlformats.org/officeDocument/2006/relationships/slideLayout" Target="/ppt/slideLayouts/slideLayout1.xml" Id="R1ea14483fbfa4081" /><ns0:Relationship Type="http://schemas.openxmlformats.org/officeDocument/2006/relationships/notesSlide" Target="/ppt/notesSlides/notesSlide68.xml" Id="R35c244a798774c11"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0" TargetMode="External" /><ns0:Relationship Id="rIdLink3" Type="http://schemas.openxmlformats.org/officeDocument/2006/relationships/hyperlink" Target="https://docs.espressif.com/projects/arduino-esp32/en/latest/api/gpio.html" TargetMode="External" /></ns0:Relationships>
</file>

<file path=ppt/slides/_rels/slide69.xml.rels><?xml version='1.0' encoding='utf-8'?>
<ns0:Relationships xmlns:ns0="http://schemas.openxmlformats.org/package/2006/relationships"><ns0:Relationship Type="http://schemas.openxmlformats.org/officeDocument/2006/relationships/slideLayout" Target="/ppt/slideLayouts/slideLayout1.xml" Id="R06136a4232df45bd" /><ns0:Relationship Type="http://schemas.openxmlformats.org/officeDocument/2006/relationships/notesSlide" Target="/ppt/notesSlides/notesSlide69.xml" Id="R8b8d2e27796d4a2d"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1" TargetMode="External" /><ns0:Relationship Id="rIdLink3" Type="http://schemas.openxmlformats.org/officeDocument/2006/relationships/hyperlink" Target="https://docs.espressif.com/projects/arduino-esp32/en/latest/api/gpio.html" TargetMode="External" /></ns0:Relationships>
</file>

<file path=ppt/slides/_rels/slide70.xml.rels><?xml version='1.0' encoding='utf-8'?>
<ns0:Relationships xmlns:ns0="http://schemas.openxmlformats.org/package/2006/relationships"><ns0:Relationship Type="http://schemas.openxmlformats.org/officeDocument/2006/relationships/slideLayout" Target="/ppt/slideLayouts/slideLayout1.xml" Id="Rd1af47ce5e604c15" /><ns0:Relationship Type="http://schemas.openxmlformats.org/officeDocument/2006/relationships/notesSlide" Target="/ppt/notesSlides/notesSlide70.xml" Id="Rdb3563cb98b547ef"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0" TargetMode="External" /><ns0:Relationship Id="rIdLink3" Type="http://schemas.openxmlformats.org/officeDocument/2006/relationships/hyperlink" Target="https://docs.espressif.com/projects/arduino-esp32/en/latest/api/gpio.html" TargetMode="External" /></ns0:Relationships>
</file>

<file path=ppt/slides/_rels/slide71.xml.rels><?xml version='1.0' encoding='utf-8'?>
<ns0:Relationships xmlns:ns0="http://schemas.openxmlformats.org/package/2006/relationships"><ns0:Relationship Type="http://schemas.openxmlformats.org/officeDocument/2006/relationships/slideLayout" Target="/ppt/slideLayouts/slideLayout1.xml" Id="Rb4de23d843ed470f" /><ns0:Relationship Type="http://schemas.openxmlformats.org/officeDocument/2006/relationships/notesSlide" Target="/ppt/notesSlides/notesSlide71.xml" Id="R400bf84042bf4d36"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1" TargetMode="External" /><ns0:Relationship Id="rIdLink3" Type="http://schemas.openxmlformats.org/officeDocument/2006/relationships/hyperlink" Target="https://docs.espressif.com/projects/arduino-esp32/en/latest/api/gpio.html" TargetMode="External" /></ns0:Relationships>
</file>

<file path=ppt/slides/_rels/slide72.xml.rels><?xml version='1.0' encoding='utf-8'?>
<ns0:Relationships xmlns:ns0="http://schemas.openxmlformats.org/package/2006/relationships"><ns0:Relationship Type="http://schemas.openxmlformats.org/officeDocument/2006/relationships/slideLayout" Target="/ppt/slideLayouts/slideLayout1.xml" Id="Rd352c0f057aa4a3b" /><ns0:Relationship Type="http://schemas.openxmlformats.org/officeDocument/2006/relationships/notesSlide" Target="/ppt/notesSlides/notesSlide72.xml" Id="R87ba299d892841df"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0" TargetMode="External" /><ns0:Relationship Id="rIdLink3" Type="http://schemas.openxmlformats.org/officeDocument/2006/relationships/hyperlink" Target="https://docs.espressif.com/projects/arduino-esp32/en/latest/api/gpio.html" TargetMode="External" /></ns0:Relationships>
</file>

<file path=ppt/slides/_rels/slide73.xml.rels><?xml version='1.0' encoding='utf-8'?>
<ns0:Relationships xmlns:ns0="http://schemas.openxmlformats.org/package/2006/relationships"><ns0:Relationship Type="http://schemas.openxmlformats.org/officeDocument/2006/relationships/slideLayout" Target="/ppt/slideLayouts/slideLayout1.xml" Id="Rbe21dfd96d5d4d08" /><ns0:Relationship Type="http://schemas.openxmlformats.org/officeDocument/2006/relationships/notesSlide" Target="/ppt/notesSlides/notesSlide73.xml" Id="R3d9ee7533ce6453e"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3" TargetMode="External" /><ns0:Relationship Id="rIdLink3" Type="http://schemas.openxmlformats.org/officeDocument/2006/relationships/hyperlink" Target="https://docs.espressif.com/projects/arduino-esp32/en/latest/api/adc.html" TargetMode="External" /></ns0:Relationships>
</file>

<file path=ppt/slides/_rels/slide74.xml.rels><?xml version='1.0' encoding='utf-8'?>
<ns0:Relationships xmlns:ns0="http://schemas.openxmlformats.org/package/2006/relationships"><ns0:Relationship Type="http://schemas.openxmlformats.org/officeDocument/2006/relationships/slideLayout" Target="/ppt/slideLayouts/slideLayout1.xml" Id="Rf8dd4e5f73a94bd4" /><ns0:Relationship Type="http://schemas.openxmlformats.org/officeDocument/2006/relationships/notesSlide" Target="/ppt/notesSlides/notesSlide74.xml" Id="R559eeaeb79fb40a5"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4" TargetMode="External" /><ns0:Relationship Id="rIdLink3" Type="http://schemas.openxmlformats.org/officeDocument/2006/relationships/hyperlink" Target="https://docs.espressif.com/projects/arduino-esp32/en/latest/api/adc.html" TargetMode="External" /></ns0:Relationships>
</file>

<file path=ppt/slides/_rels/slide75.xml.rels><?xml version='1.0' encoding='utf-8'?>
<ns0:Relationships xmlns:ns0="http://schemas.openxmlformats.org/package/2006/relationships"><ns0:Relationship Type="http://schemas.openxmlformats.org/officeDocument/2006/relationships/slideLayout" Target="/ppt/slideLayouts/slideLayout1.xml" Id="R898df1cf46fd4938" /><ns0:Relationship Type="http://schemas.openxmlformats.org/officeDocument/2006/relationships/notesSlide" Target="/ppt/notesSlides/notesSlide75.xml" Id="R8aec95db0bce47b7"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3" TargetMode="External" /><ns0:Relationship Id="rIdLink3" Type="http://schemas.openxmlformats.org/officeDocument/2006/relationships/hyperlink" Target="https://docs.espressif.com/projects/arduino-esp32/en/latest/api/adc.html" TargetMode="External" /></ns0:Relationships>
</file>

<file path=ppt/slides/_rels/slide76.xml.rels><?xml version='1.0' encoding='utf-8'?>
<ns0:Relationships xmlns:ns0="http://schemas.openxmlformats.org/package/2006/relationships"><ns0:Relationship Type="http://schemas.openxmlformats.org/officeDocument/2006/relationships/slideLayout" Target="/ppt/slideLayouts/slideLayout1.xml" Id="R6970bdbfdef84c5d" /><ns0:Relationship Type="http://schemas.openxmlformats.org/officeDocument/2006/relationships/notesSlide" Target="/ppt/notesSlides/notesSlide76.xml" Id="R75ef0fd765dc476e"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3" TargetMode="External" /><ns0:Relationship Id="rIdLink3" Type="http://schemas.openxmlformats.org/officeDocument/2006/relationships/hyperlink" Target="https://docs.espressif.com/projects/arduino-esp32/en/latest/api/adc.html" TargetMode="External" /></ns0:Relationships>
</file>

<file path=ppt/slides/_rels/slide77.xml.rels><?xml version='1.0' encoding='utf-8'?>
<ns0:Relationships xmlns:ns0="http://schemas.openxmlformats.org/package/2006/relationships"><ns0:Relationship Type="http://schemas.openxmlformats.org/officeDocument/2006/relationships/slideLayout" Target="/ppt/slideLayouts/slideLayout1.xml" Id="R5a40ac361e1b4739" /><ns0:Relationship Type="http://schemas.openxmlformats.org/officeDocument/2006/relationships/notesSlide" Target="/ppt/notesSlides/notesSlide77.xml" Id="R3f41a851ff4f453a"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3" TargetMode="External" /><ns0:Relationship Id="rIdLink3" Type="http://schemas.openxmlformats.org/officeDocument/2006/relationships/hyperlink" Target="https://docs.espressif.com/projects/arduino-esp32/en/latest/api/adc.html" TargetMode="External" /></ns0:Relationships>
</file>

<file path=ppt/slides/_rels/slide78.xml.rels><?xml version='1.0' encoding='utf-8'?>
<ns0:Relationships xmlns:ns0="http://schemas.openxmlformats.org/package/2006/relationships"><ns0:Relationship Type="http://schemas.openxmlformats.org/officeDocument/2006/relationships/slideLayout" Target="/ppt/slideLayouts/slideLayout1.xml" Id="Rc0431531da8a4deb" /><ns0:Relationship Type="http://schemas.openxmlformats.org/officeDocument/2006/relationships/notesSlide" Target="/ppt/notesSlides/notesSlide78.xml" Id="R24208666c6474ac8"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3" TargetMode="External" /><ns0:Relationship Id="rIdLink3" Type="http://schemas.openxmlformats.org/officeDocument/2006/relationships/hyperlink" Target="https://docs.espressif.com/projects/arduino-esp32/en/latest/api/adc.html" TargetMode="External" /></ns0:Relationships>
</file>

<file path=ppt/slides/_rels/slide79.xml.rels><?xml version='1.0' encoding='utf-8'?>
<ns0:Relationships xmlns:ns0="http://schemas.openxmlformats.org/package/2006/relationships"><ns0:Relationship Type="http://schemas.openxmlformats.org/officeDocument/2006/relationships/slideLayout" Target="/ppt/slideLayouts/slideLayout1.xml" Id="R8251097490e34e9e" /><ns0:Relationship Type="http://schemas.openxmlformats.org/officeDocument/2006/relationships/notesSlide" Target="/ppt/notesSlides/notesSlide79.xml" Id="R10064ee7585f4276"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5" TargetMode="External" /><ns0:Relationship Id="rIdLink3" Type="http://schemas.openxmlformats.org/officeDocument/2006/relationships/hyperlink" Target="https://docs.espressif.com/projects/arduino-esp32/en/latest/api/adc.html" TargetMode="External" /></ns0:Relationships>
</file>

<file path=ppt/slides/_rels/slide80.xml.rels><?xml version='1.0' encoding='utf-8'?>
<ns0:Relationships xmlns:ns0="http://schemas.openxmlformats.org/package/2006/relationships"><ns0:Relationship Type="http://schemas.openxmlformats.org/officeDocument/2006/relationships/slideLayout" Target="/ppt/slideLayouts/slideLayout1.xml" Id="Rd3fd5ee8d32a4b3e" /><ns0:Relationship Type="http://schemas.openxmlformats.org/officeDocument/2006/relationships/notesSlide" Target="/ppt/notesSlides/notesSlide80.xml" Id="R3c1f050b48d14577"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3" TargetMode="External" /><ns0:Relationship Id="rIdLink3" Type="http://schemas.openxmlformats.org/officeDocument/2006/relationships/hyperlink" Target="https://docs.espressif.com/projects/arduino-esp32/en/latest/api/adc.html" TargetMode="External" /></ns0:Relationships>
</file>

<file path=ppt/slides/_rels/slide81.xml.rels><?xml version='1.0' encoding='utf-8'?>
<ns0:Relationships xmlns:ns0="http://schemas.openxmlformats.org/package/2006/relationships"><ns0:Relationship Type="http://schemas.openxmlformats.org/officeDocument/2006/relationships/slideLayout" Target="/ppt/slideLayouts/slideLayout1.xml" Id="Ra250b0e42ea149fe" /><ns0:Relationship Type="http://schemas.openxmlformats.org/officeDocument/2006/relationships/notesSlide" Target="/ppt/notesSlides/notesSlide81.xml" Id="R4392326fcc2e4d85"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3" TargetMode="External" /><ns0:Relationship Id="rIdLink3" Type="http://schemas.openxmlformats.org/officeDocument/2006/relationships/hyperlink" Target="https://docs.espressif.com/projects/arduino-esp32/en/latest/api/adc.html" TargetMode="External" /></ns0:Relationships>
</file>

<file path=ppt/slides/_rels/slide82.xml.rels><?xml version='1.0' encoding='utf-8'?>
<ns0:Relationships xmlns:ns0="http://schemas.openxmlformats.org/package/2006/relationships"><ns0:Relationship Type="http://schemas.openxmlformats.org/officeDocument/2006/relationships/slideLayout" Target="/ppt/slideLayouts/slideLayout1.xml" Id="R0f50072067394084" /><ns0:Relationship Type="http://schemas.openxmlformats.org/officeDocument/2006/relationships/notesSlide" Target="/ppt/notesSlides/notesSlide82.xml" Id="Rb02c327e4ed64c12"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3" TargetMode="External" /><ns0:Relationship Id="rIdLink3" Type="http://schemas.openxmlformats.org/officeDocument/2006/relationships/hyperlink" Target="https://docs.espressif.com/projects/arduino-esp32/en/latest/api/adc.html" TargetMode="External" /></ns0:Relationships>
</file>

<file path=ppt/slides/_rels/slide83.xml.rels><?xml version='1.0' encoding='utf-8'?>
<ns0:Relationships xmlns:ns0="http://schemas.openxmlformats.org/package/2006/relationships"><ns0:Relationship Type="http://schemas.openxmlformats.org/officeDocument/2006/relationships/slideLayout" Target="/ppt/slideLayouts/slideLayout1.xml" Id="Ra6b27fc6687c45a7" /><ns0:Relationship Type="http://schemas.openxmlformats.org/officeDocument/2006/relationships/notesSlide" Target="/ppt/notesSlides/notesSlide83.xml" Id="Rde9f50c2ee464fb1"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3" TargetMode="External" /><ns0:Relationship Id="rIdLink3" Type="http://schemas.openxmlformats.org/officeDocument/2006/relationships/hyperlink" Target="https://docs.espressif.com/projects/arduino-esp32/en/latest/api/adc.html" TargetMode="External" /></ns0:Relationships>
</file>

<file path=ppt/slides/_rels/slide84.xml.rels><?xml version='1.0' encoding='utf-8'?>
<ns0:Relationships xmlns:ns0="http://schemas.openxmlformats.org/package/2006/relationships"><ns0:Relationship Type="http://schemas.openxmlformats.org/officeDocument/2006/relationships/slideLayout" Target="/ppt/slideLayouts/slideLayout1.xml" Id="R34d2c5f38b334fca" /><ns0:Relationship Type="http://schemas.openxmlformats.org/officeDocument/2006/relationships/notesSlide" Target="/ppt/notesSlides/notesSlide84.xml" Id="Rc69219597aba4740"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4" TargetMode="External" /><ns0:Relationship Id="rIdLink3" Type="http://schemas.openxmlformats.org/officeDocument/2006/relationships/hyperlink" Target="https://docs.espressif.com/projects/arduino-esp32/en/latest/api/adc.html" TargetMode="External" /></ns0:Relationships>
</file>

<file path=ppt/slides/_rels/slide85.xml.rels><?xml version='1.0' encoding='utf-8'?>
<ns0:Relationships xmlns:ns0="http://schemas.openxmlformats.org/package/2006/relationships"><ns0:Relationship Type="http://schemas.openxmlformats.org/officeDocument/2006/relationships/slideLayout" Target="/ppt/slideLayouts/slideLayout1.xml" Id="Re16df9ec2ae146e0" /><ns0:Relationship Type="http://schemas.openxmlformats.org/officeDocument/2006/relationships/notesSlide" Target="/ppt/notesSlides/notesSlide85.xml" Id="Rb9d84be704fb46ce"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4" TargetMode="External" /><ns0:Relationship Id="rIdLink3" Type="http://schemas.openxmlformats.org/officeDocument/2006/relationships/hyperlink" Target="https://docs.espressif.com/projects/arduino-esp32/en/latest/api/adc.html" TargetMode="External" /></ns0:Relationships>
</file>

<file path=ppt/slides/_rels/slide86.xml.rels><?xml version='1.0' encoding='utf-8'?>
<ns0:Relationships xmlns:ns0="http://schemas.openxmlformats.org/package/2006/relationships"><ns0:Relationship Type="http://schemas.openxmlformats.org/officeDocument/2006/relationships/slideLayout" Target="/ppt/slideLayouts/slideLayout1.xml" Id="Rc0425e4d71f84404" /><ns0:Relationship Type="http://schemas.openxmlformats.org/officeDocument/2006/relationships/notesSlide" Target="/ppt/notesSlides/notesSlide86.xml" Id="R401ec39f373c4fae"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3" TargetMode="External" /><ns0:Relationship Id="rIdLink3" Type="http://schemas.openxmlformats.org/officeDocument/2006/relationships/hyperlink" Target="https://docs.espressif.com/projects/arduino-esp32/en/latest/api/adc.html" TargetMode="External" /></ns0:Relationships>
</file>

<file path=ppt/slides/_rels/slide87.xml.rels><?xml version='1.0' encoding='utf-8'?>
<ns0:Relationships xmlns:ns0="http://schemas.openxmlformats.org/package/2006/relationships"><ns0:Relationship Type="http://schemas.openxmlformats.org/officeDocument/2006/relationships/slideLayout" Target="/ppt/slideLayouts/slideLayout1.xml" Id="Ra4704d5633734e23" /><ns0:Relationship Type="http://schemas.openxmlformats.org/officeDocument/2006/relationships/notesSlide" Target="/ppt/notesSlides/notesSlide87.xml" Id="Rcf178a543fb34b9b"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5" TargetMode="External" /><ns0:Relationship Id="rIdLink3" Type="http://schemas.openxmlformats.org/officeDocument/2006/relationships/hyperlink" Target="https://docs.espressif.com/projects/arduino-esp32/en/latest/api/adc.html" TargetMode="External" /></ns0:Relationships>
</file>

<file path=ppt/slides/_rels/slide88.xml.rels><?xml version='1.0' encoding='utf-8'?>
<ns0:Relationships xmlns:ns0="http://schemas.openxmlformats.org/package/2006/relationships"><ns0:Relationship Type="http://schemas.openxmlformats.org/officeDocument/2006/relationships/slideLayout" Target="/ppt/slideLayouts/slideLayout1.xml" Id="Rccffcc64fe4f4a20" /><ns0:Relationship Type="http://schemas.openxmlformats.org/officeDocument/2006/relationships/notesSlide" Target="/ppt/notesSlides/notesSlide88.xml" Id="Rabc3b30a679e4e5a"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4" TargetMode="External" /><ns0:Relationship Id="rIdLink3" Type="http://schemas.openxmlformats.org/officeDocument/2006/relationships/hyperlink" Target="https://docs.espressif.com/projects/arduino-esp32/en/latest/api/adc.html" TargetMode="External" /></ns0:Relationships>
</file>

<file path=ppt/slides/_rels/slide89.xml.rels><?xml version='1.0' encoding='utf-8'?>
<ns0:Relationships xmlns:ns0="http://schemas.openxmlformats.org/package/2006/relationships"><ns0:Relationship Type="http://schemas.openxmlformats.org/officeDocument/2006/relationships/slideLayout" Target="/ppt/slideLayouts/slideLayout1.xml" Id="R0792a523694243f7" /><ns0:Relationship Type="http://schemas.openxmlformats.org/officeDocument/2006/relationships/notesSlide" Target="/ppt/notesSlides/notesSlide89.xml" Id="Rdb620689740a43f3"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5" TargetMode="External" /><ns0:Relationship Id="rIdLink3" Type="http://schemas.openxmlformats.org/officeDocument/2006/relationships/hyperlink" Target="https://docs.espressif.com/projects/arduino-esp32/en/latest/api/adc.html" TargetMode="External" /></ns0:Relationships>
</file>

<file path=ppt/slides/_rels/slide90.xml.rels><?xml version='1.0' encoding='utf-8'?>
<ns0:Relationships xmlns:ns0="http://schemas.openxmlformats.org/package/2006/relationships"><ns0:Relationship Type="http://schemas.openxmlformats.org/officeDocument/2006/relationships/slideLayout" Target="/ppt/slideLayouts/slideLayout1.xml" Id="R90567275364b47e8" /><ns0:Relationship Type="http://schemas.openxmlformats.org/officeDocument/2006/relationships/notesSlide" Target="/ppt/notesSlides/notesSlide90.xml" Id="R27c9e73cdf84439d"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6" TargetMode="External" /><ns0:Relationship Id="rIdLink3" Type="http://schemas.openxmlformats.org/officeDocument/2006/relationships/hyperlink" Target="https://docs.espressif.com/projects/arduino-esp32/en/latest/api/serial.html" TargetMode="External" /></ns0:Relationships>
</file>

<file path=ppt/slides/_rels/slide91.xml.rels><?xml version='1.0' encoding='utf-8'?>
<ns0:Relationships xmlns:ns0="http://schemas.openxmlformats.org/package/2006/relationships"><ns0:Relationship Type="http://schemas.openxmlformats.org/officeDocument/2006/relationships/slideLayout" Target="/ppt/slideLayouts/slideLayout1.xml" Id="Rec4a5da05baa4ee0" /><ns0:Relationship Type="http://schemas.openxmlformats.org/officeDocument/2006/relationships/notesSlide" Target="/ppt/notesSlides/notesSlide91.xml" Id="R1605d3de83f348fd"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6" TargetMode="External" /><ns0:Relationship Id="rIdLink3" Type="http://schemas.openxmlformats.org/officeDocument/2006/relationships/hyperlink" Target="https://docs.espressif.com/projects/arduino-esp32/en/latest/api/serial.html" TargetMode="External" /></ns0:Relationships>
</file>

<file path=ppt/slides/_rels/slide92.xml.rels><?xml version='1.0' encoding='utf-8'?>
<ns0:Relationships xmlns:ns0="http://schemas.openxmlformats.org/package/2006/relationships"><ns0:Relationship Type="http://schemas.openxmlformats.org/officeDocument/2006/relationships/slideLayout" Target="/ppt/slideLayouts/slideLayout1.xml" Id="Rd5db76d8d634410d" /><ns0:Relationship Type="http://schemas.openxmlformats.org/officeDocument/2006/relationships/notesSlide" Target="/ppt/notesSlides/notesSlide92.xml" Id="R46a72f26236f493b"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6" TargetMode="External" /><ns0:Relationship Id="rIdLink3" Type="http://schemas.openxmlformats.org/officeDocument/2006/relationships/hyperlink" Target="https://docs.espressif.com/projects/arduino-esp32/en/latest/api/serial.html" TargetMode="External" /></ns0:Relationships>
</file>

<file path=ppt/slides/_rels/slide93.xml.rels><?xml version='1.0' encoding='utf-8'?>
<ns0:Relationships xmlns:ns0="http://schemas.openxmlformats.org/package/2006/relationships"><ns0:Relationship Type="http://schemas.openxmlformats.org/officeDocument/2006/relationships/slideLayout" Target="/ppt/slideLayouts/slideLayout1.xml" Id="R4f9d00d36d7c44a8" /><ns0:Relationship Type="http://schemas.openxmlformats.org/officeDocument/2006/relationships/notesSlide" Target="/ppt/notesSlides/notesSlide93.xml" Id="R43d8b40fc0b447a1"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7" TargetMode="External" /><ns0:Relationship Id="rIdLink3" Type="http://schemas.openxmlformats.org/officeDocument/2006/relationships/hyperlink" Target="https://docs.espressif.com/projects/arduino-esp32/en/latest/api/serial.html" TargetMode="External" /></ns0:Relationships>
</file>

<file path=ppt/slides/_rels/slide94.xml.rels><?xml version='1.0' encoding='utf-8'?>
<ns0:Relationships xmlns:ns0="http://schemas.openxmlformats.org/package/2006/relationships"><ns0:Relationship Type="http://schemas.openxmlformats.org/officeDocument/2006/relationships/slideLayout" Target="/ppt/slideLayouts/slideLayout1.xml" Id="Raf7ff0a409f644f3" /><ns0:Relationship Type="http://schemas.openxmlformats.org/officeDocument/2006/relationships/notesSlide" Target="/ppt/notesSlides/notesSlide94.xml" Id="R994abe2d5e38484f"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6" TargetMode="External" /><ns0:Relationship Id="rIdLink3" Type="http://schemas.openxmlformats.org/officeDocument/2006/relationships/hyperlink" Target="https://docs.espressif.com/projects/arduino-esp32/en/latest/api/serial.html" TargetMode="External" /></ns0:Relationships>
</file>

<file path=ppt/slides/_rels/slide95.xml.rels><?xml version='1.0' encoding='utf-8'?>
<ns0:Relationships xmlns:ns0="http://schemas.openxmlformats.org/package/2006/relationships"><ns0:Relationship Type="http://schemas.openxmlformats.org/officeDocument/2006/relationships/slideLayout" Target="/ppt/slideLayouts/slideLayout1.xml" Id="Rd64adf87fde74834" /><ns0:Relationship Type="http://schemas.openxmlformats.org/officeDocument/2006/relationships/notesSlide" Target="/ppt/notesSlides/notesSlide95.xml" Id="Rbfd1e40f79f740bc"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8" TargetMode="External" /><ns0:Relationship Id="rIdLink3" Type="http://schemas.openxmlformats.org/officeDocument/2006/relationships/hyperlink" Target="https://docs.espressif.com/projects/arduino-esp32/en/latest/api/serial.html" TargetMode="External" /></ns0:Relationships>
</file>

<file path=ppt/slides/_rels/slide96.xml.rels><?xml version='1.0' encoding='utf-8'?>
<ns0:Relationships xmlns:ns0="http://schemas.openxmlformats.org/package/2006/relationships"><ns0:Relationship Type="http://schemas.openxmlformats.org/officeDocument/2006/relationships/slideLayout" Target="/ppt/slideLayouts/slideLayout1.xml" Id="Rf4dfebae901b47b8" /><ns0:Relationship Type="http://schemas.openxmlformats.org/officeDocument/2006/relationships/notesSlide" Target="/ppt/notesSlides/notesSlide96.xml" Id="R456c7925ab404040"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8" TargetMode="External" /><ns0:Relationship Id="rIdLink3" Type="http://schemas.openxmlformats.org/officeDocument/2006/relationships/hyperlink" Target="https://docs.espressif.com/projects/arduino-esp32/en/latest/api/serial.html" TargetMode="External" /></ns0:Relationships>
</file>

<file path=ppt/slides/_rels/slide97.xml.rels><?xml version='1.0' encoding='utf-8'?>
<ns0:Relationships xmlns:ns0="http://schemas.openxmlformats.org/package/2006/relationships"><ns0:Relationship Type="http://schemas.openxmlformats.org/officeDocument/2006/relationships/slideLayout" Target="/ppt/slideLayouts/slideLayout1.xml" Id="R1ffc691c51eb496b" /><ns0:Relationship Type="http://schemas.openxmlformats.org/officeDocument/2006/relationships/notesSlide" Target="/ppt/notesSlides/notesSlide97.xml" Id="R8a838a3b5ec5437f"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7" TargetMode="External" /><ns0:Relationship Id="rIdLink3" Type="http://schemas.openxmlformats.org/officeDocument/2006/relationships/hyperlink" Target="https://docs.espressif.com/projects/arduino-esp32/en/latest/api/serial.html" TargetMode="External" /></ns0:Relationships>
</file>

<file path=ppt/slides/_rels/slide98.xml.rels><?xml version='1.0' encoding='utf-8'?>
<ns0:Relationships xmlns:ns0="http://schemas.openxmlformats.org/package/2006/relationships"><ns0:Relationship Type="http://schemas.openxmlformats.org/officeDocument/2006/relationships/slideLayout" Target="/ppt/slideLayouts/slideLayout1.xml" Id="R4122945a92654c8b" /><ns0:Relationship Type="http://schemas.openxmlformats.org/officeDocument/2006/relationships/notesSlide" Target="/ppt/notesSlides/notesSlide98.xml" Id="R3d4c4746b5344ec4"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7" TargetMode="External" /><ns0:Relationship Id="rIdLink3" Type="http://schemas.openxmlformats.org/officeDocument/2006/relationships/hyperlink" Target="https://docs.espressif.com/projects/arduino-esp32/en/latest/api/serial.html" TargetMode="External" /></ns0:Relationships>
</file>

<file path=ppt/slides/_rels/slide99.xml.rels><?xml version='1.0' encoding='utf-8'?>
<ns0:Relationships xmlns:ns0="http://schemas.openxmlformats.org/package/2006/relationships"><ns0:Relationship Type="http://schemas.openxmlformats.org/officeDocument/2006/relationships/slideLayout" Target="/ppt/slideLayouts/slideLayout1.xml" Id="R9347002696a04175" /><ns0:Relationship Type="http://schemas.openxmlformats.org/officeDocument/2006/relationships/notesSlide" Target="/ppt/notesSlides/notesSlide99.xml" Id="R9fa63dd441634e89"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6" TargetMode="External" /><ns0:Relationship Id="rIdLink3" Type="http://schemas.openxmlformats.org/officeDocument/2006/relationships/hyperlink" Target="https://docs.espressif.com/projects/arduino-esp32/en/latest/api/serial.html" TargetMode="External" /></ns0:Relationships>
</file>

<file path=ppt/slides/_rels/slide100.xml.rels><?xml version='1.0' encoding='utf-8'?>
<ns0:Relationships xmlns:ns0="http://schemas.openxmlformats.org/package/2006/relationships"><ns0:Relationship Type="http://schemas.openxmlformats.org/officeDocument/2006/relationships/slideLayout" Target="/ppt/slideLayouts/slideLayout1.xml" Id="Rf9bbcde9d1874dab" /><ns0:Relationship Type="http://schemas.openxmlformats.org/officeDocument/2006/relationships/notesSlide" Target="/ppt/notesSlides/notesSlide100.xml" Id="R8a0db33042284271"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6" TargetMode="External" /><ns0:Relationship Id="rIdLink3" Type="http://schemas.openxmlformats.org/officeDocument/2006/relationships/hyperlink" Target="https://docs.espressif.com/projects/arduino-esp32/en/latest/api/serial.html" TargetMode="External" /></ns0:Relationships>
</file>

<file path=ppt/slides/_rels/slide101.xml.rels><?xml version='1.0' encoding='utf-8'?>
<ns0:Relationships xmlns:ns0="http://schemas.openxmlformats.org/package/2006/relationships"><ns0:Relationship Type="http://schemas.openxmlformats.org/officeDocument/2006/relationships/slideLayout" Target="/ppt/slideLayouts/slideLayout1.xml" Id="R788406a58c314b4e" /><ns0:Relationship Type="http://schemas.openxmlformats.org/officeDocument/2006/relationships/notesSlide" Target="/ppt/notesSlides/notesSlide101.xml" Id="R6502d0652c84476e"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6" TargetMode="External" /><ns0:Relationship Id="rIdLink3" Type="http://schemas.openxmlformats.org/officeDocument/2006/relationships/hyperlink" Target="https://docs.espressif.com/projects/arduino-esp32/en/latest/api/serial.html" TargetMode="External" /></ns0:Relationships>
</file>

<file path=ppt/slides/_rels/slide102.xml.rels><?xml version='1.0' encoding='utf-8'?>
<ns0:Relationships xmlns:ns0="http://schemas.openxmlformats.org/package/2006/relationships"><ns0:Relationship Type="http://schemas.openxmlformats.org/officeDocument/2006/relationships/slideLayout" Target="/ppt/slideLayouts/slideLayout1.xml" Id="Rf460dcec377a4b29" /><ns0:Relationship Type="http://schemas.openxmlformats.org/officeDocument/2006/relationships/notesSlide" Target="/ppt/notesSlides/notesSlide102.xml" Id="R205b2126218348a7"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8" TargetMode="External" /><ns0:Relationship Id="rIdLink3" Type="http://schemas.openxmlformats.org/officeDocument/2006/relationships/hyperlink" Target="https://docs.espressif.com/projects/arduino-esp32/en/latest/api/serial.html" TargetMode="External" /></ns0:Relationships>
</file>

<file path=ppt/slides/_rels/slide103.xml.rels><?xml version='1.0' encoding='utf-8'?>
<ns0:Relationships xmlns:ns0="http://schemas.openxmlformats.org/package/2006/relationships"><ns0:Relationship Type="http://schemas.openxmlformats.org/officeDocument/2006/relationships/slideLayout" Target="/ppt/slideLayouts/slideLayout1.xml" Id="Rd3b01c81d4a94144" /><ns0:Relationship Type="http://schemas.openxmlformats.org/officeDocument/2006/relationships/notesSlide" Target="/ppt/notesSlides/notesSlide103.xml" Id="Rb891ff298ce44b21"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8" TargetMode="External" /><ns0:Relationship Id="rIdLink3" Type="http://schemas.openxmlformats.org/officeDocument/2006/relationships/hyperlink" Target="https://docs.espressif.com/projects/arduino-esp32/en/latest/api/serial.html" TargetMode="External" /></ns0:Relationships>
</file>

<file path=ppt/slides/_rels/slide104.xml.rels><?xml version='1.0' encoding='utf-8'?>
<ns0:Relationships xmlns:ns0="http://schemas.openxmlformats.org/package/2006/relationships"><ns0:Relationship Type="http://schemas.openxmlformats.org/officeDocument/2006/relationships/slideLayout" Target="/ppt/slideLayouts/slideLayout1.xml" Id="R7a2ec77171514dce" /><ns0:Relationship Type="http://schemas.openxmlformats.org/officeDocument/2006/relationships/notesSlide" Target="/ppt/notesSlides/notesSlide104.xml" Id="R0e4b9bee2fc5451c"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6" TargetMode="External" /><ns0:Relationship Id="rIdLink3" Type="http://schemas.openxmlformats.org/officeDocument/2006/relationships/hyperlink" Target="https://docs.espressif.com/projects/arduino-esp32/en/latest/api/serial.html" TargetMode="External" /></ns0:Relationships>
</file>

<file path=ppt/slides/_rels/slide105.xml.rels><?xml version='1.0' encoding='utf-8'?>
<ns0:Relationships xmlns:ns0="http://schemas.openxmlformats.org/package/2006/relationships"><ns0:Relationship Type="http://schemas.openxmlformats.org/officeDocument/2006/relationships/slideLayout" Target="/ppt/slideLayouts/slideLayout1.xml" Id="Re02025c211074e3e" /><ns0:Relationship Type="http://schemas.openxmlformats.org/officeDocument/2006/relationships/notesSlide" Target="/ppt/notesSlides/notesSlide105.xml" Id="R3daad2632bc248dd"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8" TargetMode="External" /><ns0:Relationship Id="rIdLink3" Type="http://schemas.openxmlformats.org/officeDocument/2006/relationships/hyperlink" Target="https://docs.espressif.com/projects/arduino-esp32/en/latest/api/serial.html" TargetMode="External" /></ns0:Relationships>
</file>

<file path=ppt/slides/_rels/slide106.xml.rels><?xml version='1.0' encoding='utf-8'?>
<ns0:Relationships xmlns:ns0="http://schemas.openxmlformats.org/package/2006/relationships"><ns0:Relationship Type="http://schemas.openxmlformats.org/officeDocument/2006/relationships/slideLayout" Target="/ppt/slideLayouts/slideLayout1.xml" Id="R1938027418064a37" /><ns0:Relationship Type="http://schemas.openxmlformats.org/officeDocument/2006/relationships/notesSlide" Target="/ppt/notesSlides/notesSlide106.xml" Id="Rb4f10e18a9254195"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activity-A18" TargetMode="External" /><ns0:Relationship Id="rIdLink3" Type="http://schemas.openxmlformats.org/officeDocument/2006/relationships/hyperlink" Target="https://docs.espressif.com/projects/arduino-esp32/en/latest/api/serial.html" TargetMode="External" /></ns0:Relationships>
</file>

<file path=ppt/slides/_rels/slide107.xml.rels><?xml version='1.0' encoding='utf-8'?>
<ns0:Relationships xmlns:ns0="http://schemas.openxmlformats.org/package/2006/relationships"><ns0:Relationship Type="http://schemas.openxmlformats.org/officeDocument/2006/relationships/slideLayout" Target="/ppt/slideLayouts/slideLayout1.xml" Id="R57446e507a5b4865" /><ns0:Relationship Type="http://schemas.openxmlformats.org/officeDocument/2006/relationships/notesSlide" Target="/ppt/notesSlides/notesSlide107.xml" Id="R776b720eaaeb49c4"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practice" TargetMode="External" /><ns0:Relationship Id="rIdLink3" Type="http://schemas.openxmlformats.org/officeDocument/2006/relationships/hyperlink" Target="https://docs.espressif.com/projects/arduino-esp32/en/latest/api/gpio.html" TargetMode="External" /><ns0:Relationship Id="rIdLink4" Type="http://schemas.openxmlformats.org/officeDocument/2006/relationships/hyperlink" Target="https://zeusk302-png.github.io/kdigital-physical-ai/#/sessions/2026-10-23/start" TargetMode="External" /><ns0:Relationship Id="rIdLink5" Type="http://schemas.openxmlformats.org/officeDocument/2006/relationships/hyperlink" Target="https://zeusk302-png.github.io/kdigital-physical-ai/#/sessions/2026-10-23/lesson" TargetMode="External" /><ns0:Relationship Id="rIdLink6" Type="http://schemas.openxmlformats.org/officeDocument/2006/relationships/hyperlink" Target="https://zeusk302-png.github.io/kdigital-physical-ai/#/sessions/2026-10-23/workbook" TargetMode="External" /><ns0:Relationship Id="rIdLink7" Type="http://schemas.openxmlformats.org/officeDocument/2006/relationships/hyperlink" Target="https://zeusk302-png.github.io/kdigital-physical-ai/downloads/2026-10-23/student-examples.zip" TargetMode="External" /><ns0:Relationship Id="rIdLink8" Type="http://schemas.openxmlformats.org/officeDocument/2006/relationships/hyperlink" Target="https://zeusk302-png.github.io/kdigital-physical-ai/#/sessions/2026-10-23/files" TargetMode="External" /></ns0:Relationships>
</file>

<file path=ppt/slides/_rels/slide108.xml.rels><?xml version='1.0' encoding='utf-8'?>
<ns0:Relationships xmlns:ns0="http://schemas.openxmlformats.org/package/2006/relationships"><ns0:Relationship Type="http://schemas.openxmlformats.org/officeDocument/2006/relationships/slideLayout" Target="/ppt/slideLayouts/slideLayout1.xml" Id="R4166b1636a1c449c" /><ns0:Relationship Type="http://schemas.openxmlformats.org/officeDocument/2006/relationships/notesSlide" Target="/ppt/notesSlides/notesSlide108.xml" Id="Rfb49be09d2474f3f" /><ns0:Relationship Id="rIdLink1" Type="http://schemas.openxmlformats.org/officeDocument/2006/relationships/hyperlink" Target="https://zeusk302-png.github.io/kdigital-physical-ai/#/sessions/2026-10-23/lesson" TargetMode="External" /><ns0:Relationship Id="rIdLink2" Type="http://schemas.openxmlformats.org/officeDocument/2006/relationships/hyperlink" Target="https://zeusk302-png.github.io/kdigital-physical-ai/#/sessions/2026-10-23/practice" TargetMode="External" /><ns0:Relationship Id="rIdLink3" Type="http://schemas.openxmlformats.org/officeDocument/2006/relationships/hyperlink" Target="https://docs.espressif.com/projects/arduino-esp32/en/latest/api/gpio.html" TargetMode="External" /><ns0:Relationship Id="rIdLink4" Type="http://schemas.openxmlformats.org/officeDocument/2006/relationships/hyperlink" Target="https://docs.espressif.com/projects/arduino-esp32/en/latest/api/gpio.html" TargetMode="External" /><ns0:Relationship Id="rIdLink5" Type="http://schemas.openxmlformats.org/officeDocument/2006/relationships/hyperlink" Target="https://docs.espressif.com/projects/arduino-esp32/en/latest/api/adc.html" TargetMode="External" /><ns0:Relationship Id="rIdLink6" Type="http://schemas.openxmlformats.org/officeDocument/2006/relationships/hyperlink" Target="https://docs.espressif.com/projects/arduino-esp32/en/latest/api/serial.html" TargetMode="External" /></ns0:Relationships>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pic>
        <p:nvPicPr>
          <p:cNvPr id="12" name=""/>
          <p:cNvPicPr>
            <a:picLocks noChangeAspect="1"/>
          </p:cNvPicPr>
          <p:nvPr/>
        </p:nvPicPr>
        <p:blipFill>
          <a:blip r:embed="R3c8e9c4ce0e7411d"/>
          <a:srcRect l="0" t="27" r="0" b="27"/>
          <a:stretch>
            <a:fillRect l="0" t="0" r="0" b="0"/>
          </a:stretch>
        </p:blipFill>
        <p:spPr>
          <a:xfrm>
            <a:off x="0" y="0"/>
            <a:ext cx="12192000" cy="6858000"/>
          </a:xfrm>
          <a:prstGeom prst="rect">
            <a:avLst/>
          </a:prstGeom>
        </p:spPr>
      </p:pic>
      <p:sp>
        <p:nvSpPr>
          <p:cNvPr id="2" name="">
            <a:extLst>
              <a:ext uri="{FF2B5EF4-FFF2-40B4-BE49-F238E27FC236}">
                <ns3:creationId id="{9D0FBA6A-9030-4C59-9FC1-A2D73F1D1E93}"/>
              </a:ext>
            </a:extLst>
          </p:cNvPr>
          <p:cNvSpPr>
            <a:spLocks noGrp="1"/>
          </p:cNvSpPr>
          <p:nvPr/>
        </p:nvSpPr>
        <p:spPr>
          <a:xfrm>
            <a:off x="685800" y="733425"/>
            <a:ext cx="5715000" cy="428625"/>
          </a:xfrm>
          <a:prstGeom prst="rect">
            <a:avLst/>
          </a:prstGeom>
          <a:noFill/>
          <a:ln w="0">
            <a:noFill/>
          </a:ln>
        </p:spPr>
        <p:txBody>
          <a:bodyPr wrap="square" lIns="0" tIns="0" rIns="0" bIns="0">
            <a:noAutofit/>
          </a:bodyPr>
          <a:lstStyle/>
          <a:p>
            <a:pPr>
              <a:defRPr sz="1800" b="1">
                <a:solidFill>
                  <a:srgbClr val="08786F"/>
                </a:solidFill>
                <a:latin typeface="Noto Sans KR"/>
                <a:ea typeface="Noto Sans KR"/>
                <a:cs typeface="Noto Sans KR"/>
              </a:defRPr>
            </a:pPr>
            <a:r>
              <a:t>피지컬AI 직무훈련</a:t>
            </a:r>
          </a:p>
        </p:txBody>
      </p:sp>
      <p:sp>
        <p:nvSpPr>
          <p:cNvPr id="3" name="">
            <a:extLst>
              <a:ext uri="{FF2B5EF4-FFF2-40B4-BE49-F238E27FC236}">
                <ns3:creationId id="{C168CF81-7217-4B31-8E9F-D9914005FD54}"/>
              </a:ext>
            </a:extLst>
          </p:cNvPr>
          <p:cNvSpPr>
            <a:spLocks noGrp="1"/>
          </p:cNvSpPr>
          <p:nvPr/>
        </p:nvSpPr>
        <p:spPr>
          <a:xfrm>
            <a:off x="685800" y="1562100"/>
            <a:ext cx="5667375" cy="2571750"/>
          </a:xfrm>
          <a:prstGeom prst="rect">
            <a:avLst/>
          </a:prstGeom>
          <a:noFill/>
          <a:ln w="0">
            <a:noFill/>
          </a:ln>
        </p:spPr>
        <p:txBody>
          <a:bodyPr wrap="square" lIns="0" tIns="0" rIns="0" bIns="0">
            <a:noAutofit/>
          </a:bodyPr>
          <a:lstStyle/>
          <a:p>
            <a:pPr>
              <a:defRPr sz="4650" b="1">
                <a:solidFill>
                  <a:srgbClr val="172F39"/>
                </a:solidFill>
                <a:latin typeface="Noto Sans KR"/>
                <a:ea typeface="Noto Sans KR"/>
                <a:cs typeface="Noto Sans KR"/>
              </a:defRPr>
            </a:pPr>
            <a:r>
              <a:t>전자회로와 ESP32</a:t>
            </a:r>
          </a:p>
        </p:txBody>
      </p:sp>
      <p:sp>
        <p:nvSpPr>
          <p:cNvPr id="4" name="">
            <a:extLst>
              <a:ext uri="{FF2B5EF4-FFF2-40B4-BE49-F238E27FC236}">
                <ns3:creationId id="{8F686134-91AA-439C-8C6F-F42B524658A4}"/>
              </a:ext>
            </a:extLst>
          </p:cNvPr>
          <p:cNvSpPr>
            <a:spLocks noGrp="1"/>
          </p:cNvSpPr>
          <p:nvPr/>
        </p:nvSpPr>
        <p:spPr>
          <a:xfrm>
            <a:off x="685800" y="4267200"/>
            <a:ext cx="5619750" cy="395288"/>
          </a:xfrm>
          <a:prstGeom prst="rect">
            <a:avLst/>
          </a:prstGeom>
          <a:noFill/>
          <a:ln w="0">
            <a:noFill/>
          </a:ln>
        </p:spPr>
        <p:txBody>
          <a:bodyPr wrap="square" lIns="0" tIns="0" rIns="0" bIns="0">
            <a:noAutofit/>
          </a:bodyPr>
          <a:lstStyle/>
          <a:p>
            <a:pPr>
              <a:defRPr sz="1875" b="0">
                <a:solidFill>
                  <a:srgbClr val="52636B"/>
                </a:solidFill>
                <a:latin typeface="Noto Sans KR"/>
                <a:ea typeface="Noto Sans KR"/>
                <a:cs typeface="Noto Sans KR"/>
              </a:defRPr>
            </a:pPr>
            <a:r>
              <a:t>2026-10-23</a:t>
            </a:r>
          </a:p>
        </p:txBody>
      </p:sp>
      <p:sp>
        <p:nvSpPr>
          <p:cNvPr id="5" name="">
            <a:extLst>
              <a:ext uri="{FF2B5EF4-FFF2-40B4-BE49-F238E27FC236}">
                <ns3:creationId id="{65EE0B65-423A-4728-9D1F-C8072023538E}"/>
              </a:ext>
            </a:extLst>
          </p:cNvPr>
          <p:cNvSpPr>
            <a:spLocks noGrp="1"/>
          </p:cNvSpPr>
          <p:nvPr/>
        </p:nvSpPr>
        <p:spPr>
          <a:xfrm>
            <a:off x="685800" y="4710113"/>
            <a:ext cx="5619750" cy="395288"/>
          </a:xfrm>
          <a:prstGeom prst="rect">
            <a:avLst/>
          </a:prstGeom>
          <a:noFill/>
          <a:ln w="0">
            <a:noFill/>
          </a:ln>
        </p:spPr>
        <p:txBody>
          <a:bodyPr wrap="square" lIns="0" tIns="0" rIns="0" bIns="0">
            <a:noAutofit/>
          </a:bodyPr>
          <a:lstStyle/>
          <a:p>
            <a:pPr>
              <a:defRPr sz="1875" b="0">
                <a:solidFill>
                  <a:srgbClr val="52636B"/>
                </a:solidFill>
                <a:latin typeface="Noto Sans KR"/>
                <a:ea typeface="Noto Sans KR"/>
                <a:cs typeface="Noto Sans KR"/>
              </a:defRPr>
            </a:pPr>
            <a:r>
              <a:t>예제를 읽고 실행 결과를 예상해 봅니다.</a:t>
            </a:r>
          </a:p>
        </p:txBody>
      </p:sp>
      <p:sp>
        <p:nvSpPr>
          <p:cNvPr id="6" name="">
            <a:extLst>
              <a:ext uri="{FF2B5EF4-FFF2-40B4-BE49-F238E27FC236}">
                <ns3:creationId id="{53A1D419-B680-4054-A397-9B2B2583C874}"/>
              </a:ext>
            </a:extLst>
          </p:cNvPr>
          <p:cNvSpPr>
            <a:spLocks noGrp="1"/>
          </p:cNvSpPr>
          <p:nvPr/>
        </p:nvSpPr>
        <p:spPr>
          <a:xfrm>
            <a:off x="685800" y="5153025"/>
            <a:ext cx="5619750" cy="676275"/>
          </a:xfrm>
          <a:prstGeom prst="rect">
            <a:avLst/>
          </a:prstGeom>
          <a:noFill/>
          <a:ln w="0">
            <a:noFill/>
          </a:ln>
        </p:spPr>
        <p:txBody>
          <a:bodyPr wrap="square" lIns="0" tIns="0" rIns="0" bIns="0">
            <a:noAutofit/>
          </a:bodyPr>
          <a:lstStyle/>
          <a:p>
            <a:pPr>
              <a:defRPr sz="1875" b="0">
                <a:solidFill>
                  <a:srgbClr val="52636B"/>
                </a:solidFill>
                <a:latin typeface="Noto Sans KR"/>
                <a:ea typeface="Noto Sans KR"/>
                <a:cs typeface="Noto Sans KR"/>
              </a:defRPr>
            </a:pPr>
            <a:r>
              <a:t>예제에서 확인한 결과와 장비에서 시험할 내용을 적습니다.</a:t>
            </a:r>
          </a:p>
        </p:txBody>
      </p:sp>
      <p:sp>
        <p:nvSpPr>
          <p:cNvPr id="7" name="">
            <a:extLst>
              <a:ext uri="{FF2B5EF4-FFF2-40B4-BE49-F238E27FC236}">
                <ns3:creationId id="{0FFEE842-97B4-4883-9DAE-E5D0C3997885}"/>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3:creationId id="{E2D16AE6-B327-4FF9-8140-7B34416F838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3:creationId id="{25B983C0-1A80-4A59-8446-F11CE7C632B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3:creationId id="{F491EDA2-8735-4D7A-AA2D-C293BC9B56D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3:creationId id="{BCD1827C-6A6B-4629-B0E2-F4E3B7E3C60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001</a:t>
            </a:r>
          </a:p>
        </p:txBody>
      </p:sp>
    </p:spTree>
    <p:extLst>
      <p:ext uri="{BB962C8B-B14F-4D97-AF65-F5344CB8AC3E}">
        <ns4:creationId val="1433043369"/>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A2A8BED9-513E-4ABE-844F-11DB2B475BA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10/23 수업</a:t>
            </a:r>
          </a:p>
        </p:txBody>
      </p:sp>
      <p:sp>
        <p:nvSpPr>
          <p:cNvPr id="2" name="">
            <a:extLst>
              <a:ext uri="{FF2B5EF4-FFF2-40B4-BE49-F238E27FC236}">
                <ns2:creationId id="{924CFA10-2660-44EC-8DAB-087879AD154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자료 폴더와 학생 작업 파일</a:t>
            </a:r>
          </a:p>
        </p:txBody>
      </p:sp>
      <p:sp>
        <p:nvSpPr>
          <p:cNvPr id="3" name="">
            <a:extLst>
              <a:ext uri="{FF2B5EF4-FFF2-40B4-BE49-F238E27FC236}">
                <ns2:creationId id="{EE178B7A-025C-45B1-B26B-0864B9A08376}"/>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data: 읽을 입력</a:t>
            </a:r>
          </a:p>
        </p:txBody>
      </p:sp>
      <p:sp>
        <p:nvSpPr>
          <p:cNvPr id="4" name="">
            <a:extLst>
              <a:ext uri="{FF2B5EF4-FFF2-40B4-BE49-F238E27FC236}">
                <ns2:creationId id="{B2F44959-9D36-429F-94D1-EF73D2404405}"/>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code: 제공 참고 코드</a:t>
            </a:r>
          </a:p>
        </p:txBody>
      </p:sp>
      <p:sp>
        <p:nvSpPr>
          <p:cNvPr id="5" name="">
            <a:extLst>
              <a:ext uri="{FF2B5EF4-FFF2-40B4-BE49-F238E27FC236}">
                <ns2:creationId id="{87EDD4F0-0046-4F13-AE84-6EC15DC2E98F}"/>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work: 나의 복사본과 기록</a:t>
            </a:r>
          </a:p>
        </p:txBody>
      </p:sp>
      <p:sp>
        <p:nvSpPr>
          <p:cNvPr id="6" name="">
            <a:extLst>
              <a:ext uri="{FF2B5EF4-FFF2-40B4-BE49-F238E27FC236}">
                <ns2:creationId id="{8A55C25A-300A-4DCE-9633-C62903868181}"/>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저장한 뒤 실행해야 결과가 나옵니다.</a:t>
            </a:r>
          </a:p>
        </p:txBody>
      </p:sp>
      <p:sp>
        <p:nvSpPr>
          <p:cNvPr id="7" name="">
            <a:extLst>
              <a:ext uri="{FF2B5EF4-FFF2-40B4-BE49-F238E27FC236}">
                <ns2:creationId id="{80807E83-040F-4B92-8455-C1E5F5117B7F}"/>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1BEE27ED-0AA7-4F19-9218-8ABA3CF9F27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3CD2F2DE-FABF-4A0C-B631-C3E5AEDF6FF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FCE18661-6A42-432D-9B69-11D618F7DD9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19E8A8C4-7C15-464C-A8D8-AF2ABFB1AE1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002</a:t>
            </a:r>
          </a:p>
        </p:txBody>
      </p:sp>
    </p:spTree>
    <p:extLst>
      <p:ext uri="{BB962C8B-B14F-4D97-AF65-F5344CB8AC3E}">
        <ns4:creationId val="367393476"/>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5C4F5B26-46CA-4723-BA92-ED0BE9F7528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10/23 수업</a:t>
            </a:r>
          </a:p>
        </p:txBody>
      </p:sp>
      <p:sp>
        <p:nvSpPr>
          <p:cNvPr id="2" name="">
            <a:extLst>
              <a:ext uri="{FF2B5EF4-FFF2-40B4-BE49-F238E27FC236}">
                <ns2:creationId id="{0ED48298-B777-45D8-A48D-7151BC4319D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오늘의 6교시 일정</a:t>
            </a:r>
          </a:p>
        </p:txBody>
      </p:sp>
      <p:sp>
        <p:nvSpPr>
          <p:cNvPr id="3" name="">
            <a:extLst>
              <a:ext uri="{FF2B5EF4-FFF2-40B4-BE49-F238E27FC236}">
                <ns2:creationId id="{92AB8F96-E62D-4D23-BFE4-3CB5EDCC7082}"/>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1·2교시 10:00~11:50</a:t>
            </a:r>
          </a:p>
        </p:txBody>
      </p:sp>
      <p:sp>
        <p:nvSpPr>
          <p:cNvPr id="4" name="">
            <a:extLst>
              <a:ext uri="{FF2B5EF4-FFF2-40B4-BE49-F238E27FC236}">
                <ns2:creationId id="{B7ADCFBC-F5ED-4A34-8BD6-D86EB1FA2A4B}"/>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중식 11:50~13:00</a:t>
            </a:r>
          </a:p>
        </p:txBody>
      </p:sp>
      <p:sp>
        <p:nvSpPr>
          <p:cNvPr id="5" name="">
            <a:extLst>
              <a:ext uri="{FF2B5EF4-FFF2-40B4-BE49-F238E27FC236}">
                <ns2:creationId id="{096FCCA9-6B15-420C-9826-52CC06B5DCA6}"/>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3~6교시 13:00~16:50</a:t>
            </a:r>
          </a:p>
        </p:txBody>
      </p:sp>
      <p:sp>
        <p:nvSpPr>
          <p:cNvPr id="6" name="">
            <a:extLst>
              <a:ext uri="{FF2B5EF4-FFF2-40B4-BE49-F238E27FC236}">
                <ns2:creationId id="{BCE521AD-17F0-4849-8EB0-06283220AAE5}"/>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수업 300분 · 나머지는 휴식과 정리입니다.</a:t>
            </a:r>
          </a:p>
        </p:txBody>
      </p:sp>
      <p:sp>
        <p:nvSpPr>
          <p:cNvPr id="7" name="">
            <a:extLst>
              <a:ext uri="{FF2B5EF4-FFF2-40B4-BE49-F238E27FC236}">
                <ns2:creationId id="{BE0A5A49-83C4-496B-8B9F-E9DE6C703EC6}"/>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E401E00E-D000-4615-ADF4-F74BA9B5B60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A260640C-3A23-46DC-B9F4-D91242D56B9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42B89E0E-FABB-4034-BD7E-E1F4D42265A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6114ACCC-A7E3-4871-9BB7-5271A94E8EC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003</a:t>
            </a:r>
          </a:p>
        </p:txBody>
      </p:sp>
    </p:spTree>
    <p:extLst>
      <p:ext uri="{BB962C8B-B14F-4D97-AF65-F5344CB8AC3E}">
        <ns4:creationId val="559792067"/>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F92551E0-D9E3-4614-9A0C-1455B1EE1F4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10/23 수업</a:t>
            </a:r>
          </a:p>
        </p:txBody>
      </p:sp>
      <p:sp>
        <p:nvSpPr>
          <p:cNvPr id="2" name="">
            <a:extLst>
              <a:ext uri="{FF2B5EF4-FFF2-40B4-BE49-F238E27FC236}">
                <ns2:creationId id="{C88F6A65-75AE-46AE-8DE1-FE2AE2E5675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시연·수정·비교·설명</a:t>
            </a:r>
          </a:p>
        </p:txBody>
      </p:sp>
      <p:sp>
        <p:nvSpPr>
          <p:cNvPr id="3" name="">
            <a:extLst>
              <a:ext uri="{FF2B5EF4-FFF2-40B4-BE49-F238E27FC236}">
                <ns2:creationId id="{AB745FA4-EB32-4049-B2A8-B43F9743DC5D}"/>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시연을 봅니다.</a:t>
            </a:r>
          </a:p>
        </p:txBody>
      </p:sp>
      <p:sp>
        <p:nvSpPr>
          <p:cNvPr id="4" name="">
            <a:extLst>
              <a:ext uri="{FF2B5EF4-FFF2-40B4-BE49-F238E27FC236}">
                <ns2:creationId id="{09196A1A-1115-4E61-BF52-E25D229D5CFF}"/>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같이 따라 하고 한 값을 바꿉니다.</a:t>
            </a:r>
          </a:p>
        </p:txBody>
      </p:sp>
      <p:sp>
        <p:nvSpPr>
          <p:cNvPr id="5" name="">
            <a:extLst>
              <a:ext uri="{FF2B5EF4-FFF2-40B4-BE49-F238E27FC236}">
                <ns2:creationId id="{F281EDC8-DF40-439A-9FB6-3188FBFC1AA1}"/>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예상과 결과를 비교합니다.</a:t>
            </a:r>
          </a:p>
        </p:txBody>
      </p:sp>
      <p:sp>
        <p:nvSpPr>
          <p:cNvPr id="6" name="">
            <a:extLst>
              <a:ext uri="{FF2B5EF4-FFF2-40B4-BE49-F238E27FC236}">
                <ns2:creationId id="{5DB4BF3C-B5A1-4A3F-83FF-B2041FAAD72A}"/>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어떤 값 때문에 결과가 바뀌었는지 설명합니다.</a:t>
            </a:r>
          </a:p>
        </p:txBody>
      </p:sp>
      <p:sp>
        <p:nvSpPr>
          <p:cNvPr id="7" name="">
            <a:extLst>
              <a:ext uri="{FF2B5EF4-FFF2-40B4-BE49-F238E27FC236}">
                <ns2:creationId id="{1112CF5A-C529-43F8-806F-ED9B45B357A4}"/>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39ADBC4E-47AD-496D-B561-81CFEC26D64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3E8AD180-9A3D-4CB8-A53E-266073607BB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7966B485-3CB2-4415-9859-36B96BDA0DE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9B83969F-0524-4E16-9736-832D62CC26F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004</a:t>
            </a:r>
          </a:p>
        </p:txBody>
      </p:sp>
    </p:spTree>
    <p:extLst>
      <p:ext uri="{BB962C8B-B14F-4D97-AF65-F5344CB8AC3E}">
        <ns4:creationId val="485251664"/>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AE3A1C3E-325E-4E97-BE3A-0AD34A1230D0}"/>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1교시</a:t>
            </a:r>
          </a:p>
        </p:txBody>
      </p:sp>
      <p:sp>
        <p:nvSpPr>
          <p:cNvPr id="2" name="">
            <a:extLst>
              <a:ext uri="{FF2B5EF4-FFF2-40B4-BE49-F238E27FC236}">
                <ns2:creationId id="{E32D4CB0-0676-4C17-B8D3-A8F8728280EF}"/>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전기 기초와 계산</a:t>
            </a:r>
          </a:p>
        </p:txBody>
      </p:sp>
      <p:sp>
        <p:nvSpPr>
          <p:cNvPr id="3" name="">
            <a:extLst>
              <a:ext uri="{FF2B5EF4-FFF2-40B4-BE49-F238E27FC236}">
                <ns2:creationId id="{9F05CFC8-5E20-4FB1-BA6A-F509FA7DE689}"/>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10:00~10:50 · 50분</a:t>
            </a:r>
          </a:p>
        </p:txBody>
      </p:sp>
      <p:sp>
        <p:nvSpPr>
          <p:cNvPr id="4" name="">
            <a:extLst>
              <a:ext uri="{FF2B5EF4-FFF2-40B4-BE49-F238E27FC236}">
                <ns2:creationId id="{2F3B9272-7BBC-414C-BFEB-20A9DD74EC7A}"/>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A01 · A02 · A03</a:t>
            </a:r>
          </a:p>
        </p:txBody>
      </p:sp>
      <p:sp>
        <p:nvSpPr>
          <p:cNvPr id="5" name="">
            <a:extLst>
              <a:ext uri="{FF2B5EF4-FFF2-40B4-BE49-F238E27FC236}">
                <ns2:creationId id="{B164C0AF-27CB-4028-88D9-867475574822}"/>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개념 설명 → 시연 → 직접 실습 → 확인</a:t>
            </a:r>
          </a:p>
        </p:txBody>
      </p:sp>
      <p:sp>
        <p:nvSpPr>
          <p:cNvPr id="6" name="">
            <a:extLst>
              <a:ext uri="{FF2B5EF4-FFF2-40B4-BE49-F238E27FC236}">
                <ns2:creationId id="{97C690AA-351C-45F1-85A9-CB9127739B0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13EE28A0-9828-468E-9665-C076F7114FA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2329D557-CF37-4993-B0CC-670FD7D8513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2E32A15C-F80B-4913-9418-4B155CFFDDB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4523B22F-3300-4682-9989-77AA9045254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005</a:t>
            </a:r>
          </a:p>
        </p:txBody>
      </p:sp>
    </p:spTree>
    <p:extLst>
      <p:ext uri="{BB962C8B-B14F-4D97-AF65-F5344CB8AC3E}">
        <ns4:creationId val="1375437527"/>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5B01413C-9D82-4976-8BF4-949919BAB9A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03F731D2-EE43-4896-907D-24EC540EC34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전압과 전위차</a:t>
            </a:r>
          </a:p>
        </p:txBody>
      </p:sp>
      <p:sp>
        <p:nvSpPr>
          <p:cNvPr id="3" name="">
            <a:extLst>
              <a:ext uri="{FF2B5EF4-FFF2-40B4-BE49-F238E27FC236}">
                <ns2:creationId id="{FD2B264F-7AFD-4861-8AB5-E6AD1D857CC9}"/>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전압과 전위차</a:t>
            </a:r>
          </a:p>
        </p:txBody>
      </p:sp>
      <p:sp>
        <p:nvSpPr>
          <p:cNvPr id="4" name="">
            <a:extLst>
              <a:ext uri="{FF2B5EF4-FFF2-40B4-BE49-F238E27FC236}">
                <ns2:creationId id="{DD28ED4F-495D-42F0-8416-BB171B80D38B}"/>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전압은 두 점 사이의 차이입니다.</a:t>
            </a:r>
          </a:p>
        </p:txBody>
      </p:sp>
      <p:sp>
        <p:nvSpPr>
          <p:cNvPr id="5" name="">
            <a:extLst>
              <a:ext uri="{FF2B5EF4-FFF2-40B4-BE49-F238E27FC236}">
                <ns2:creationId id="{E17E06C8-3E3C-4D49-9033-32D16FCB8CD7}"/>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단위는 V입니다.</a:t>
            </a:r>
          </a:p>
        </p:txBody>
      </p:sp>
      <p:sp>
        <p:nvSpPr>
          <p:cNvPr id="6" name="">
            <a:extLst>
              <a:ext uri="{FF2B5EF4-FFF2-40B4-BE49-F238E27FC236}">
                <ns2:creationId id="{D4E6F73F-C678-456D-B864-CB99BC33075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저항 양단 전압</a:t>
            </a:r>
          </a:p>
        </p:txBody>
      </p:sp>
      <p:sp>
        <p:nvSpPr>
          <p:cNvPr id="7" name="">
            <a:extLst>
              <a:ext uri="{FF2B5EF4-FFF2-40B4-BE49-F238E27FC236}">
                <ns2:creationId id="{D85AD051-C8C9-47ED-A0C2-59C490C4E9B2}"/>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계산 입력: 3.3V</a:t>
            </a:r>
          </a:p>
        </p:txBody>
      </p:sp>
      <p:sp>
        <p:nvSpPr>
          <p:cNvPr id="8" name="">
            <a:extLst>
              <a:ext uri="{FF2B5EF4-FFF2-40B4-BE49-F238E27FC236}">
                <ns2:creationId id="{F63412BC-112A-4BD8-8D90-DC17402A0986}"/>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전압은 저항의 두 점 사이 차이</a:t>
            </a:r>
          </a:p>
        </p:txBody>
      </p:sp>
      <p:sp>
        <p:nvSpPr>
          <p:cNvPr id="9" name="">
            <a:extLst>
              <a:ext uri="{FF2B5EF4-FFF2-40B4-BE49-F238E27FC236}">
                <ns2:creationId id="{4D20DE60-6CFC-44D9-919A-44A6F918DC94}"/>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B3EAD2B0-0A89-45A4-8AB9-D312E8252CE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FB92239A-D023-46D1-9EB6-59EE95F3219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D1C767D7-0374-4437-9DBE-E805B5AFA9A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D1EF3ADF-EB3A-4703-85B2-86F2FBC4ECE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006</a:t>
            </a:r>
          </a:p>
        </p:txBody>
      </p:sp>
    </p:spTree>
    <p:extLst>
      <p:ext uri="{BB962C8B-B14F-4D97-AF65-F5344CB8AC3E}">
        <ns4:creationId val="1462769459"/>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8D8C8A8A-5C91-43A4-B98C-9E770EC582A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280E85E5-20C5-4A68-B76F-0F1D72ACAFB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전류와 단위 A</a:t>
            </a:r>
          </a:p>
        </p:txBody>
      </p:sp>
      <p:sp>
        <p:nvSpPr>
          <p:cNvPr id="3" name="">
            <a:extLst>
              <a:ext uri="{FF2B5EF4-FFF2-40B4-BE49-F238E27FC236}">
                <ns2:creationId id="{A05BE9A0-CA27-4A20-ACA6-BB1FF8539480}"/>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전류와 단위 A</a:t>
            </a:r>
          </a:p>
        </p:txBody>
      </p:sp>
      <p:sp>
        <p:nvSpPr>
          <p:cNvPr id="4" name="">
            <a:extLst>
              <a:ext uri="{FF2B5EF4-FFF2-40B4-BE49-F238E27FC236}">
                <ns2:creationId id="{A95CDD57-EA5F-4351-ADA8-A7FB7173D4DE}"/>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시간당 이동하는 전하량입니다.</a:t>
            </a:r>
          </a:p>
        </p:txBody>
      </p:sp>
      <p:sp>
        <p:nvSpPr>
          <p:cNvPr id="5" name="">
            <a:extLst>
              <a:ext uri="{FF2B5EF4-FFF2-40B4-BE49-F238E27FC236}">
                <ns2:creationId id="{F86281E8-2B5D-4564-BCBC-6FAB2B5E9FC9}"/>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단위는 A, 작은 전류는 mA로 씁니다.</a:t>
            </a:r>
          </a:p>
        </p:txBody>
      </p:sp>
      <p:sp>
        <p:nvSpPr>
          <p:cNvPr id="6" name="">
            <a:extLst>
              <a:ext uri="{FF2B5EF4-FFF2-40B4-BE49-F238E27FC236}">
                <ns2:creationId id="{4A6E6428-C797-4231-882B-D430FD27D7A6}"/>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A를 mA로 표시</a:t>
            </a:r>
          </a:p>
        </p:txBody>
      </p:sp>
      <p:graphicFrame>
        <p:nvGraphicFramePr>
          <p:cNvPr id="19" name=""/>
          <p:cNvGraphicFramePr/>
          <p:nvPr/>
        </p:nvGraphicFramePr>
        <p:xfrm>
          <a:off x="6267450" y="2628900"/>
          <a:ext cx="5238750" cy="1028700"/>
        </p:xfrm>
        <a:graphic>
          <a:graphicData uri="http://schemas.openxmlformats.org/drawingml/2006/table">
            <a:tbl>
              <a:tblPr firstRow="1" bandRow="0"/>
              <a:tblGrid>
                <a:gridCol w="3007431"/>
                <a:gridCol w="2231319"/>
              </a:tblGrid>
              <a:tr h="514350">
                <a:tc>
                  <a:txBody>
                    <a:bodyPr wrap="square"/>
                    <a:lstStyle/>
                    <a:p>
                      <a:pPr>
                        <a:lnSpc>
                          <a:spcPct val="102000"/>
                        </a:lnSpc>
                        <a:buNone/>
                      </a:pPr>
                      <a:r>
                        <a:rPr sz="1875" b="1">
                          <a:solidFill>
                            <a:srgbClr val="172F39"/>
                          </a:solidFill>
                          <a:latin typeface="Noto Sans KR"/>
                          <a:ea typeface="Noto Sans KR"/>
                          <a:cs typeface="Noto Sans KR"/>
                        </a:rPr>
                        <a:t>A</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mA</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0.010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10</a:t>
                      </a:r>
                    </a:p>
                  </a:txBody>
                  <a:tcPr marL="114300" marR="114300" marT="76200" marB="76200" anchor="ctr">
                    <a:solidFill>
                      <a:srgbClr val="FFFFFF"/>
                    </a:solidFill>
                  </a:tcPr>
                </a:tc>
              </a:tr>
            </a:tbl>
          </a:graphicData>
        </a:graphic>
      </p:graphicFrame>
      <p:sp>
        <p:nvSpPr>
          <p:cNvPr id="8" name="">
            <a:extLst>
              <a:ext uri="{FF2B5EF4-FFF2-40B4-BE49-F238E27FC236}">
                <ns2:creationId id="{5FA399B4-6192-43CF-A026-C2E2E63BED29}"/>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DE47A419-05EB-42CC-AB9B-03C7DED6407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42C91ABB-1108-4C67-9B61-B0C38F4A19A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099963DA-3190-418F-B78A-03FD7448689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1CB4B303-230B-4D7B-A791-931968DA88D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007</a:t>
            </a:r>
          </a:p>
        </p:txBody>
      </p:sp>
    </p:spTree>
    <p:extLst>
      <p:ext uri="{BB962C8B-B14F-4D97-AF65-F5344CB8AC3E}">
        <ns4:creationId val="2075829241"/>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7CB7E7C7-22BF-4CE2-97FB-17F57CB0B47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D5B24CAC-C39D-404A-A0A1-56B184FDAE9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저항과 옴의 법칙</a:t>
            </a:r>
          </a:p>
        </p:txBody>
      </p:sp>
      <p:sp>
        <p:nvSpPr>
          <p:cNvPr id="3" name="">
            <a:extLst>
              <a:ext uri="{FF2B5EF4-FFF2-40B4-BE49-F238E27FC236}">
                <ns2:creationId id="{0313A53D-2F8E-4E10-BBF3-DAADB289CD02}"/>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저항과 옴의 법칙</a:t>
            </a:r>
          </a:p>
        </p:txBody>
      </p:sp>
      <p:sp>
        <p:nvSpPr>
          <p:cNvPr id="4" name="">
            <a:extLst>
              <a:ext uri="{FF2B5EF4-FFF2-40B4-BE49-F238E27FC236}">
                <ns2:creationId id="{79E91DB6-B0A0-425C-B6BC-200F2E9F325E}"/>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옴성 저항의 관계는 V=IR입니다.</a:t>
            </a:r>
          </a:p>
        </p:txBody>
      </p:sp>
      <p:sp>
        <p:nvSpPr>
          <p:cNvPr id="5" name="">
            <a:extLst>
              <a:ext uri="{FF2B5EF4-FFF2-40B4-BE49-F238E27FC236}">
                <ns2:creationId id="{D99FAA01-46D0-46F0-8ED6-335BF76C7968}"/>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저항 단위는 Ω입니다.</a:t>
            </a:r>
          </a:p>
        </p:txBody>
      </p:sp>
      <p:sp>
        <p:nvSpPr>
          <p:cNvPr id="6" name="">
            <a:extLst>
              <a:ext uri="{FF2B5EF4-FFF2-40B4-BE49-F238E27FC236}">
                <ns2:creationId id="{0BEB62ED-15E5-4DE7-8D4A-23C53C34C25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옴성 저항 계산</a:t>
            </a:r>
          </a:p>
        </p:txBody>
      </p:sp>
      <p:graphicFrame>
        <p:nvGraphicFramePr>
          <p:cNvPr id="19" name=""/>
          <p:cNvGraphicFramePr/>
          <p:nvPr/>
        </p:nvGraphicFramePr>
        <p:xfrm>
          <a:off x="6267450" y="2628900"/>
          <a:ext cx="5238750" cy="1028700"/>
        </p:xfrm>
        <a:graphic>
          <a:graphicData uri="http://schemas.openxmlformats.org/drawingml/2006/table">
            <a:tbl>
              <a:tblPr firstRow="1" bandRow="0"/>
              <a:tblGrid>
                <a:gridCol w="1555788"/>
                <a:gridCol w="1773163"/>
                <a:gridCol w="1909799"/>
              </a:tblGrid>
              <a:tr h="514350">
                <a:tc>
                  <a:txBody>
                    <a:bodyPr wrap="square"/>
                    <a:lstStyle/>
                    <a:p>
                      <a:pPr>
                        <a:lnSpc>
                          <a:spcPct val="102000"/>
                        </a:lnSpc>
                        <a:buNone/>
                      </a:pPr>
                      <a:r>
                        <a:rPr sz="1875" b="1">
                          <a:solidFill>
                            <a:srgbClr val="172F39"/>
                          </a:solidFill>
                          <a:latin typeface="Noto Sans KR"/>
                          <a:ea typeface="Noto Sans KR"/>
                          <a:cs typeface="Noto Sans KR"/>
                        </a:rPr>
                        <a:t>전압</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저항</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전류</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3.3V</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330Ω</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0.010A</a:t>
                      </a:r>
                    </a:p>
                  </a:txBody>
                  <a:tcPr marL="114300" marR="114300" marT="76200" marB="76200" anchor="ctr">
                    <a:solidFill>
                      <a:srgbClr val="FFFFFF"/>
                    </a:solidFill>
                  </a:tcPr>
                </a:tc>
              </a:tr>
            </a:tbl>
          </a:graphicData>
        </a:graphic>
      </p:graphicFrame>
      <p:sp>
        <p:nvSpPr>
          <p:cNvPr id="8" name="">
            <a:extLst>
              <a:ext uri="{FF2B5EF4-FFF2-40B4-BE49-F238E27FC236}">
                <ns2:creationId id="{67F56A09-D1DB-49BA-8EEC-2D0A53A9AC2A}"/>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88CF71B2-B155-495E-A9E0-78889D5AE05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DB8235A2-CD99-48EF-A9F5-8A8499D7BEB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4321A383-46CB-4E40-8180-03AA4C645E0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2CBC52BC-EB63-4D64-B37C-B4BB61CB563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008</a:t>
            </a:r>
          </a:p>
        </p:txBody>
      </p:sp>
    </p:spTree>
    <p:extLst>
      <p:ext uri="{BB962C8B-B14F-4D97-AF65-F5344CB8AC3E}">
        <ns4:creationId val="1493209066"/>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D8A347C5-4F29-4D2D-9132-59659708D1D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D4E6F973-9602-4D1A-9FDE-F75E388D9B6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닫힌 회로와 전류가 돌아오는 길</a:t>
            </a:r>
          </a:p>
        </p:txBody>
      </p:sp>
      <p:sp>
        <p:nvSpPr>
          <p:cNvPr id="3" name="">
            <a:extLst>
              <a:ext uri="{FF2B5EF4-FFF2-40B4-BE49-F238E27FC236}">
                <ns2:creationId id="{CCF5661F-163A-4715-AB1F-F1EF98DB9D77}"/>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닫힌 회로와 전류가 돌아오는 길</a:t>
            </a:r>
          </a:p>
        </p:txBody>
      </p:sp>
      <p:sp>
        <p:nvSpPr>
          <p:cNvPr id="4" name="">
            <a:extLst>
              <a:ext uri="{FF2B5EF4-FFF2-40B4-BE49-F238E27FC236}">
                <ns2:creationId id="{05DBD12C-9F08-46E4-9DCD-867AA8C485FE}"/>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전원 + → 저항 → 전원 −</a:t>
            </a:r>
          </a:p>
        </p:txBody>
      </p:sp>
      <p:sp>
        <p:nvSpPr>
          <p:cNvPr id="5" name="">
            <a:extLst>
              <a:ext uri="{FF2B5EF4-FFF2-40B4-BE49-F238E27FC236}">
                <ns2:creationId id="{50C9BCB3-00F1-413B-B11B-B2EC24293079}"/>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완전히 이어진 길이 닫힌 회로입니다.</a:t>
            </a:r>
          </a:p>
        </p:txBody>
      </p:sp>
      <p:sp>
        <p:nvSpPr>
          <p:cNvPr id="6" name="">
            <a:extLst>
              <a:ext uri="{FF2B5EF4-FFF2-40B4-BE49-F238E27FC236}">
                <ns2:creationId id="{64DE76E8-7B44-40D6-AADF-AC2595A13474}"/>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닫힌 전류 경로</a:t>
            </a:r>
          </a:p>
        </p:txBody>
      </p:sp>
      <p:sp>
        <p:nvSpPr>
          <p:cNvPr id="7" name="">
            <a:extLst>
              <a:ext uri="{FF2B5EF4-FFF2-40B4-BE49-F238E27FC236}">
                <ns2:creationId id="{27C80F13-F415-4229-85B6-372F51B2BB0D}"/>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전원 + → 저항 → 전원 −</a:t>
            </a:r>
          </a:p>
        </p:txBody>
      </p:sp>
      <p:sp>
        <p:nvSpPr>
          <p:cNvPr id="8" name="">
            <a:extLst>
              <a:ext uri="{FF2B5EF4-FFF2-40B4-BE49-F238E27FC236}">
                <ns2:creationId id="{23676EDA-0CF3-45FB-9A70-E48148A035D4}"/>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양 끝이 이어져야 닫힌 경로</a:t>
            </a:r>
          </a:p>
        </p:txBody>
      </p:sp>
      <p:sp>
        <p:nvSpPr>
          <p:cNvPr id="9" name="">
            <a:extLst>
              <a:ext uri="{FF2B5EF4-FFF2-40B4-BE49-F238E27FC236}">
                <ns2:creationId id="{C85843FA-F421-4163-AEE1-4AF4999265AC}"/>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75618BC2-DE29-497E-A759-D4FB05D1575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08F319CD-400F-48BE-A3CB-E1111A64286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842F3BD0-A701-40DC-A008-A110F7869CA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1557B5FD-73CD-4BAB-8374-719EEDBB9DB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009</a:t>
            </a:r>
          </a:p>
        </p:txBody>
      </p:sp>
    </p:spTree>
    <p:extLst>
      <p:ext uri="{BB962C8B-B14F-4D97-AF65-F5344CB8AC3E}">
        <ns4:creationId val="676651541"/>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DAF16B58-8503-4A82-A478-46344962422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395F8E5F-FAEA-4A93-8D42-62778FB83D2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GND와 전압 기준</a:t>
            </a:r>
          </a:p>
        </p:txBody>
      </p:sp>
      <p:sp>
        <p:nvSpPr>
          <p:cNvPr id="3" name="">
            <a:extLst>
              <a:ext uri="{FF2B5EF4-FFF2-40B4-BE49-F238E27FC236}">
                <ns2:creationId id="{241E74AD-5AF4-4D32-900C-081F586855C4}"/>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신호 기준</a:t>
            </a:r>
          </a:p>
        </p:txBody>
      </p:sp>
      <p:sp>
        <p:nvSpPr>
          <p:cNvPr id="4" name="">
            <a:extLst>
              <a:ext uri="{FF2B5EF4-FFF2-40B4-BE49-F238E27FC236}">
                <ns2:creationId id="{8CD1EA40-0AAB-43B1-8AC0-37C9C5F4DB4B}"/>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신호의 높고 낮음을 비교하는 기준입니다.</a:t>
            </a:r>
          </a:p>
        </p:txBody>
      </p:sp>
      <p:sp>
        <p:nvSpPr>
          <p:cNvPr id="5" name="">
            <a:extLst>
              <a:ext uri="{FF2B5EF4-FFF2-40B4-BE49-F238E27FC236}">
                <ns2:creationId id="{278326E5-CD9F-4B83-9965-6372F749915F}"/>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건물 접지</a:t>
            </a:r>
          </a:p>
        </p:txBody>
      </p:sp>
      <p:sp>
        <p:nvSpPr>
          <p:cNvPr id="6" name="">
            <a:extLst>
              <a:ext uri="{FF2B5EF4-FFF2-40B4-BE49-F238E27FC236}">
                <ns2:creationId id="{11EAECA7-A238-4A77-A59F-6BEFC9B96E8D}"/>
              </a:ext>
            </a:extLst>
          </p:cNvPr>
          <p:cNvSpPr>
            <a:spLocks noGrp="1"/>
          </p:cNvSpPr>
          <p:nvPr/>
        </p:nvSpPr>
        <p:spPr>
          <a:xfrm>
            <a:off x="6400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모든 GND가 건물 접지는 아닙니다.</a:t>
            </a:r>
          </a:p>
        </p:txBody>
      </p:sp>
      <p:sp>
        <p:nvSpPr>
          <p:cNvPr id="7" name="">
            <a:extLst>
              <a:ext uri="{FF2B5EF4-FFF2-40B4-BE49-F238E27FC236}">
                <ns2:creationId id="{7000F804-5D0D-45E7-9282-1F5B9CD7A9B9}"/>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F8798842-6B58-4EDD-9DCE-D954DB11F59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18B257D7-3649-4D6B-9F9F-40C5965B8E3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89EB21D0-E1AD-4C44-B477-B92643615C2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D1EB30D8-781F-4EBF-8A57-EC1D5C75FA8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010</a:t>
            </a:r>
          </a:p>
        </p:txBody>
      </p:sp>
    </p:spTree>
    <p:extLst>
      <p:ext uri="{BB962C8B-B14F-4D97-AF65-F5344CB8AC3E}">
        <ns4:creationId val="956648592"/>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B2503A8E-9D33-48C6-A19E-673ACDAE61C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41BEA709-974F-48C8-BD51-547C05CBE86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A와 mA 단위 변환</a:t>
            </a:r>
          </a:p>
        </p:txBody>
      </p:sp>
      <p:sp>
        <p:nvSpPr>
          <p:cNvPr id="3" name="">
            <a:extLst>
              <a:ext uri="{FF2B5EF4-FFF2-40B4-BE49-F238E27FC236}">
                <ns2:creationId id="{64CD0C3C-8644-49CD-8A02-D166A4B9220D}"/>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A와 mA 단위 변환</a:t>
            </a:r>
          </a:p>
        </p:txBody>
      </p:sp>
      <p:sp>
        <p:nvSpPr>
          <p:cNvPr id="4" name="">
            <a:extLst>
              <a:ext uri="{FF2B5EF4-FFF2-40B4-BE49-F238E27FC236}">
                <ns2:creationId id="{9A86EDBE-67EE-43FE-A741-90035C74BC4F}"/>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1A = 1000mA</a:t>
            </a:r>
          </a:p>
        </p:txBody>
      </p:sp>
      <p:sp>
        <p:nvSpPr>
          <p:cNvPr id="5" name="">
            <a:extLst>
              <a:ext uri="{FF2B5EF4-FFF2-40B4-BE49-F238E27FC236}">
                <ns2:creationId id="{43426609-6C9F-4C1A-8B2C-96EEA178A529}"/>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0.010A = 10mA</a:t>
            </a:r>
          </a:p>
        </p:txBody>
      </p:sp>
      <p:sp>
        <p:nvSpPr>
          <p:cNvPr id="6" name="">
            <a:extLst>
              <a:ext uri="{FF2B5EF4-FFF2-40B4-BE49-F238E27FC236}">
                <ns2:creationId id="{0FC2B5E6-602F-45A8-9460-B6DF79DF38B8}"/>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단위 변환</a:t>
            </a:r>
          </a:p>
        </p:txBody>
      </p:sp>
      <p:graphicFrame>
        <p:nvGraphicFramePr>
          <p:cNvPr id="19" name=""/>
          <p:cNvGraphicFramePr/>
          <p:nvPr/>
        </p:nvGraphicFramePr>
        <p:xfrm>
          <a:off x="6267450" y="2628900"/>
          <a:ext cx="5238750" cy="1543050"/>
        </p:xfrm>
        <a:graphic>
          <a:graphicData uri="http://schemas.openxmlformats.org/drawingml/2006/table">
            <a:tbl>
              <a:tblPr firstRow="1" bandRow="0"/>
              <a:tblGrid>
                <a:gridCol w="2691733"/>
                <a:gridCol w="2547017"/>
              </a:tblGrid>
              <a:tr h="514350">
                <a:tc>
                  <a:txBody>
                    <a:bodyPr wrap="square"/>
                    <a:lstStyle/>
                    <a:p>
                      <a:pPr>
                        <a:lnSpc>
                          <a:spcPct val="102000"/>
                        </a:lnSpc>
                        <a:buNone/>
                      </a:pPr>
                      <a:r>
                        <a:rPr sz="1875" b="1">
                          <a:solidFill>
                            <a:srgbClr val="172F39"/>
                          </a:solidFill>
                          <a:latin typeface="Noto Sans KR"/>
                          <a:ea typeface="Noto Sans KR"/>
                          <a:cs typeface="Noto Sans KR"/>
                        </a:rPr>
                        <a:t>A</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mA</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1000</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0.010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10</a:t>
                      </a:r>
                    </a:p>
                  </a:txBody>
                  <a:tcPr marL="114300" marR="114300" marT="76200" marB="76200" anchor="ctr">
                    <a:solidFill>
                      <a:srgbClr val="FFFFFF"/>
                    </a:solidFill>
                  </a:tcPr>
                </a:tc>
              </a:tr>
            </a:tbl>
          </a:graphicData>
        </a:graphic>
      </p:graphicFrame>
      <p:sp>
        <p:nvSpPr>
          <p:cNvPr id="8" name="">
            <a:extLst>
              <a:ext uri="{FF2B5EF4-FFF2-40B4-BE49-F238E27FC236}">
                <ns2:creationId id="{0E815817-1008-445C-9827-51A1306DDA5D}"/>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8435FFE2-FEE5-44A4-B15D-3956E5CD3AF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5B3413F9-6A16-4800-AA5F-9D547859753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2B3894C4-4820-4781-9C89-AAE90E75796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CA990D9A-499E-47E4-BE2A-F091A6BCB2A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011</a:t>
            </a:r>
          </a:p>
        </p:txBody>
      </p:sp>
    </p:spTree>
    <p:extLst>
      <p:ext uri="{BB962C8B-B14F-4D97-AF65-F5344CB8AC3E}">
        <ns4:creationId val="1954816458"/>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7" name="">
            <a:extLst>
              <a:ext uri="{FF2B5EF4-FFF2-40B4-BE49-F238E27FC236}">
                <ns2:creationId id="{DB240323-B2FE-4F96-A44C-F91998256A3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3D68A304-A44B-4468-9D9B-3D2ABB37A39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저항 전류 계산 예제</a:t>
            </a:r>
          </a:p>
        </p:txBody>
      </p:sp>
      <p:sp>
        <p:nvSpPr>
          <p:cNvPr id="3" name="">
            <a:extLst>
              <a:ext uri="{FF2B5EF4-FFF2-40B4-BE49-F238E27FC236}">
                <ns2:creationId id="{E36CAA34-7E32-40CC-8A5F-9B30F2DC2AF7}"/>
              </a:ext>
            </a:extLst>
          </p:cNvPr>
          <p:cNvSpPr>
            <a:spLocks noGrp="1"/>
          </p:cNvSpPr>
          <p:nvPr/>
        </p:nvSpPr>
        <p:spPr>
          <a:xfrm>
            <a:off x="685800" y="1809750"/>
            <a:ext cx="6953250" cy="2542794"/>
          </a:xfrm>
          <a:prstGeom prst="rect">
            <a:avLst/>
          </a:prstGeom>
          <a:solidFill>
            <a:srgbClr val="F1F6F5"/>
          </a:solidFill>
          <a:ln w="0">
            <a:noFill/>
          </a:ln>
        </p:spPr>
      </p:sp>
      <p:sp>
        <p:nvSpPr>
          <p:cNvPr id="4" name="">
            <a:extLst>
              <a:ext uri="{FF2B5EF4-FFF2-40B4-BE49-F238E27FC236}">
                <ns2:creationId id="{A2270D7C-E912-4258-8A80-A9AA74780875}"/>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8D3A4167-8696-482D-95CD-D0EC77144FB6}"/>
              </a:ext>
            </a:extLst>
          </p:cNvPr>
          <p:cNvSpPr>
            <a:spLocks noGrp="1"/>
          </p:cNvSpPr>
          <p:nvPr/>
        </p:nvSpPr>
        <p:spPr>
          <a:xfrm>
            <a:off x="1276350" y="1933575"/>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voltage_v = 3.3</a:t>
            </a:r>
          </a:p>
        </p:txBody>
      </p:sp>
      <p:sp>
        <p:nvSpPr>
          <p:cNvPr id="6" name="">
            <a:extLst>
              <a:ext uri="{FF2B5EF4-FFF2-40B4-BE49-F238E27FC236}">
                <ns2:creationId id="{9DA589E6-E7EE-43FD-8256-725C7194D2D0}"/>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0BDB1615-CB04-4350-BEC3-F89B1DBCD437}"/>
              </a:ext>
            </a:extLst>
          </p:cNvPr>
          <p:cNvSpPr>
            <a:spLocks noGrp="1"/>
          </p:cNvSpPr>
          <p:nvPr/>
        </p:nvSpPr>
        <p:spPr>
          <a:xfrm>
            <a:off x="1276350" y="2250567"/>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resistance_ohm = 330</a:t>
            </a:r>
          </a:p>
        </p:txBody>
      </p:sp>
      <p:sp>
        <p:nvSpPr>
          <p:cNvPr id="8" name="">
            <a:extLst>
              <a:ext uri="{FF2B5EF4-FFF2-40B4-BE49-F238E27FC236}">
                <ns2:creationId id="{328A801D-86D3-4CD3-92C1-05FD15E48C8E}"/>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155066A8-84D7-4E8A-BBA8-A41BB525AF29}"/>
              </a:ext>
            </a:extLst>
          </p:cNvPr>
          <p:cNvSpPr>
            <a:spLocks noGrp="1"/>
          </p:cNvSpPr>
          <p:nvPr/>
        </p:nvSpPr>
        <p:spPr>
          <a:xfrm>
            <a:off x="1276350" y="2567559"/>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if resistance_ohm &lt;= 0:</a:t>
            </a:r>
          </a:p>
        </p:txBody>
      </p:sp>
      <p:sp>
        <p:nvSpPr>
          <p:cNvPr id="10" name="">
            <a:extLst>
              <a:ext uri="{FF2B5EF4-FFF2-40B4-BE49-F238E27FC236}">
                <ns2:creationId id="{90A32EDE-9075-44DC-B333-9FE5A1BCDFAC}"/>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6AB2A446-55AA-4114-88B9-3361008415E8}"/>
              </a:ext>
            </a:extLst>
          </p:cNvPr>
          <p:cNvSpPr>
            <a:spLocks noGrp="1"/>
          </p:cNvSpPr>
          <p:nvPr/>
        </p:nvSpPr>
        <p:spPr>
          <a:xfrm>
            <a:off x="1276350" y="2884551"/>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raise ValueError("positive resistance only")</a:t>
            </a:r>
          </a:p>
        </p:txBody>
      </p:sp>
      <p:sp>
        <p:nvSpPr>
          <p:cNvPr id="12" name="">
            <a:extLst>
              <a:ext uri="{FF2B5EF4-FFF2-40B4-BE49-F238E27FC236}">
                <ns2:creationId id="{82B6752D-4174-489C-ACAF-33CE9DC3FB11}"/>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583D4B2D-432B-48CE-8F7F-08DCFD6A0243}"/>
              </a:ext>
            </a:extLst>
          </p:cNvPr>
          <p:cNvSpPr>
            <a:spLocks noGrp="1"/>
          </p:cNvSpPr>
          <p:nvPr/>
        </p:nvSpPr>
        <p:spPr>
          <a:xfrm>
            <a:off x="1276350" y="3201543"/>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current_a = voltage_v / resistance_ohm</a:t>
            </a:r>
          </a:p>
        </p:txBody>
      </p:sp>
      <p:sp>
        <p:nvSpPr>
          <p:cNvPr id="14" name="">
            <a:extLst>
              <a:ext uri="{FF2B5EF4-FFF2-40B4-BE49-F238E27FC236}">
                <ns2:creationId id="{1AF2C756-5C4A-414B-A0AF-95171EE381EB}"/>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00349679-2078-49B4-9301-CFFCD65E9FCA}"/>
              </a:ext>
            </a:extLst>
          </p:cNvPr>
          <p:cNvSpPr>
            <a:spLocks noGrp="1"/>
          </p:cNvSpPr>
          <p:nvPr/>
        </p:nvSpPr>
        <p:spPr>
          <a:xfrm>
            <a:off x="1276350" y="3518535"/>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current_ma = current_a * 1000</a:t>
            </a:r>
          </a:p>
        </p:txBody>
      </p:sp>
      <p:sp>
        <p:nvSpPr>
          <p:cNvPr id="16" name="">
            <a:extLst>
              <a:ext uri="{FF2B5EF4-FFF2-40B4-BE49-F238E27FC236}">
                <ns2:creationId id="{558D240F-E2C0-4839-A317-00A233AB6116}"/>
              </a:ext>
            </a:extLst>
          </p:cNvPr>
          <p:cNvSpPr>
            <a:spLocks noGrp="1"/>
          </p:cNvSpPr>
          <p:nvPr/>
        </p:nvSpPr>
        <p:spPr>
          <a:xfrm>
            <a:off x="828675" y="387362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07</a:t>
            </a:r>
          </a:p>
        </p:txBody>
      </p:sp>
      <p:sp>
        <p:nvSpPr>
          <p:cNvPr id="17" name="">
            <a:extLst>
              <a:ext uri="{FF2B5EF4-FFF2-40B4-BE49-F238E27FC236}">
                <ns2:creationId id="{7E625A99-E15E-4498-9595-3F959A8F4547}"/>
              </a:ext>
            </a:extLst>
          </p:cNvPr>
          <p:cNvSpPr>
            <a:spLocks noGrp="1"/>
          </p:cNvSpPr>
          <p:nvPr/>
        </p:nvSpPr>
        <p:spPr>
          <a:xfrm>
            <a:off x="1276350" y="3835527"/>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print(round(current_ma, 2))</a:t>
            </a:r>
          </a:p>
        </p:txBody>
      </p:sp>
      <p:sp>
        <p:nvSpPr>
          <p:cNvPr id="18" name="">
            <a:extLst>
              <a:ext uri="{FF2B5EF4-FFF2-40B4-BE49-F238E27FC236}">
                <ns2:creationId id="{7AA599ED-D26E-4583-9E07-679EB0F43411}"/>
              </a:ext>
            </a:extLst>
          </p:cNvPr>
          <p:cNvSpPr>
            <a:spLocks noGrp="1"/>
          </p:cNvSpPr>
          <p:nvPr/>
        </p:nvSpPr>
        <p:spPr>
          <a:xfrm>
            <a:off x="8143875" y="1828800"/>
            <a:ext cx="3333750" cy="4095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실행 결과</a:t>
            </a:r>
          </a:p>
        </p:txBody>
      </p:sp>
      <p:sp>
        <p:nvSpPr>
          <p:cNvPr id="19" name="">
            <a:extLst>
              <a:ext uri="{FF2B5EF4-FFF2-40B4-BE49-F238E27FC236}">
                <ns2:creationId id="{8C0A9C93-92FE-4ABC-B7EB-FB748CDA00EB}"/>
              </a:ext>
            </a:extLst>
          </p:cNvPr>
          <p:cNvSpPr>
            <a:spLocks noGrp="1"/>
          </p:cNvSpPr>
          <p:nvPr/>
        </p:nvSpPr>
        <p:spPr>
          <a:xfrm>
            <a:off x="8143875" y="2409825"/>
            <a:ext cx="3333750" cy="417767"/>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3.3÷330 = 0.010A</a:t>
            </a:r>
          </a:p>
        </p:txBody>
      </p:sp>
      <p:sp>
        <p:nvSpPr>
          <p:cNvPr id="20" name="">
            <a:extLst>
              <a:ext uri="{FF2B5EF4-FFF2-40B4-BE49-F238E27FC236}">
                <ns2:creationId id="{00D5E5F0-279B-496F-AF20-B3354AA52103}"/>
              </a:ext>
            </a:extLst>
          </p:cNvPr>
          <p:cNvSpPr>
            <a:spLocks noGrp="1"/>
          </p:cNvSpPr>
          <p:nvPr/>
        </p:nvSpPr>
        <p:spPr>
          <a:xfrm>
            <a:off x="8143875" y="2875217"/>
            <a:ext cx="3333750" cy="417767"/>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0.010×1000 = 10mA</a:t>
            </a:r>
          </a:p>
        </p:txBody>
      </p:sp>
      <p:sp>
        <p:nvSpPr>
          <p:cNvPr id="21" name="">
            <a:extLst>
              <a:ext uri="{FF2B5EF4-FFF2-40B4-BE49-F238E27FC236}">
                <ns2:creationId id="{1F9D8986-E476-4913-9D1F-BBFA43AB2A7B}"/>
              </a:ext>
            </a:extLst>
          </p:cNvPr>
          <p:cNvSpPr>
            <a:spLocks noGrp="1"/>
          </p:cNvSpPr>
          <p:nvPr/>
        </p:nvSpPr>
        <p:spPr>
          <a:xfrm>
            <a:off x="8143875" y="3340608"/>
            <a:ext cx="3333750" cy="417767"/>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출력: 10.0</a:t>
            </a:r>
          </a:p>
        </p:txBody>
      </p:sp>
      <p:sp>
        <p:nvSpPr>
          <p:cNvPr id="22" name="">
            <a:extLst>
              <a:ext uri="{FF2B5EF4-FFF2-40B4-BE49-F238E27FC236}">
                <ns2:creationId id="{67F7F182-4828-4358-B183-E302966A6BAB}"/>
              </a:ext>
            </a:extLst>
          </p:cNvPr>
          <p:cNvSpPr>
            <a:spLocks noGrp="1"/>
          </p:cNvSpPr>
          <p:nvPr/>
        </p:nvSpPr>
        <p:spPr>
          <a:xfrm>
            <a:off x="685800" y="6172200"/>
            <a:ext cx="10820400" cy="9525"/>
          </a:xfrm>
          <a:prstGeom prst="rect">
            <a:avLst/>
          </a:prstGeom>
          <a:solidFill>
            <a:srgbClr val="D5DEDD"/>
          </a:solidFill>
          <a:ln w="0">
            <a:noFill/>
          </a:ln>
        </p:spPr>
      </p:sp>
      <p:sp>
        <p:nvSpPr>
          <p:cNvPr id="23" name="">
            <a:extLst>
              <a:ext uri="{FF2B5EF4-FFF2-40B4-BE49-F238E27FC236}">
                <ns2:creationId id="{592E3FA3-5AB7-4A9C-8777-46BCFAEC44C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4" name="">
            <a:extLst>
              <a:ext uri="{FF2B5EF4-FFF2-40B4-BE49-F238E27FC236}">
                <ns2:creationId id="{7BEBE5D6-6DA2-4C2A-B38A-A3F47EED7F0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5" name="">
            <a:extLst>
              <a:ext uri="{FF2B5EF4-FFF2-40B4-BE49-F238E27FC236}">
                <ns2:creationId id="{357D4DF2-75BB-4873-9122-447790A9DFE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6" name="">
            <a:extLst>
              <a:ext uri="{FF2B5EF4-FFF2-40B4-BE49-F238E27FC236}">
                <ns2:creationId id="{CE5CEC7C-0034-4A46-9AA3-32C8ED5EF7F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012</a:t>
            </a:r>
          </a:p>
        </p:txBody>
      </p:sp>
    </p:spTree>
    <p:extLst>
      <p:ext uri="{BB962C8B-B14F-4D97-AF65-F5344CB8AC3E}">
        <ns4:creationId val="1355460665"/>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964763BB-CC6F-4675-96C3-32A9AFAD583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5D5CFB56-674A-472F-8F56-CAB7FA7B3A8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코드의 줄별 역할</a:t>
            </a:r>
          </a:p>
        </p:txBody>
      </p:sp>
      <p:sp>
        <p:nvSpPr>
          <p:cNvPr id="3" name="">
            <a:extLst>
              <a:ext uri="{FF2B5EF4-FFF2-40B4-BE49-F238E27FC236}">
                <ns2:creationId id="{DA0ECCA7-B1FB-4323-8C96-ACEFFF7245B4}"/>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1~2행: 전압과 저항 값을 저장합니다.</a:t>
            </a:r>
          </a:p>
        </p:txBody>
      </p:sp>
      <p:sp>
        <p:nvSpPr>
          <p:cNvPr id="4" name="">
            <a:extLst>
              <a:ext uri="{FF2B5EF4-FFF2-40B4-BE49-F238E27FC236}">
                <ns2:creationId id="{BCA563B4-D8EE-4E20-B30D-7D1A34238D13}"/>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3~4행: 0 이하 저항을 거절합니다.</a:t>
            </a:r>
          </a:p>
        </p:txBody>
      </p:sp>
      <p:sp>
        <p:nvSpPr>
          <p:cNvPr id="5" name="">
            <a:extLst>
              <a:ext uri="{FF2B5EF4-FFF2-40B4-BE49-F238E27FC236}">
                <ns2:creationId id="{DE6EF48C-1E27-41AD-971D-97B864D65B4A}"/>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5~6행: A를 구하고 mA로 바꿉니다.</a:t>
            </a:r>
          </a:p>
        </p:txBody>
      </p:sp>
      <p:sp>
        <p:nvSpPr>
          <p:cNvPr id="6" name="">
            <a:extLst>
              <a:ext uri="{FF2B5EF4-FFF2-40B4-BE49-F238E27FC236}">
                <ns2:creationId id="{88D69CA7-0AEB-4B04-85C3-58EF37010F6A}"/>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7행: 반올림해 출력합니다.</a:t>
            </a:r>
          </a:p>
        </p:txBody>
      </p:sp>
      <p:sp>
        <p:nvSpPr>
          <p:cNvPr id="7" name="">
            <a:extLst>
              <a:ext uri="{FF2B5EF4-FFF2-40B4-BE49-F238E27FC236}">
                <ns2:creationId id="{BAA11084-636E-47A0-95BB-ED40B9B04221}"/>
              </a:ext>
            </a:extLst>
          </p:cNvPr>
          <p:cNvSpPr>
            <a:spLocks noGrp="1"/>
          </p:cNvSpPr>
          <p:nvPr/>
        </p:nvSpPr>
        <p:spPr>
          <a:xfrm>
            <a:off x="685800" y="4338447"/>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코드 12번의 입력과 출력 15번을 함께 봅니다.</a:t>
            </a:r>
          </a:p>
        </p:txBody>
      </p:sp>
      <p:sp>
        <p:nvSpPr>
          <p:cNvPr id="8" name="">
            <a:extLst>
              <a:ext uri="{FF2B5EF4-FFF2-40B4-BE49-F238E27FC236}">
                <ns2:creationId id="{BB416363-E8A4-4AAA-AB4B-A03A3BBFF3BE}"/>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D7B137D7-0647-4428-B40E-D65594DF83E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9F786861-B35E-4B1B-A26B-59A5BD5AA24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F41AF277-BB7E-4BD2-AE94-8E300A099EF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C70C9807-2419-4557-87AB-8303B28DE53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013</a:t>
            </a:r>
          </a:p>
        </p:txBody>
      </p:sp>
    </p:spTree>
    <p:extLst>
      <p:ext uri="{BB962C8B-B14F-4D97-AF65-F5344CB8AC3E}">
        <ns4:creationId val="622393602"/>
      </p:ext>
    </p:extLst>
  </p:cSld>
</p:sld>
</file>

<file path=ppt/slides/slide1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F051A717-4AA9-4E88-AE43-0C8D0D76174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60F6F120-A80C-4714-9A1E-8EF194788DC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학생 파일과 실행 명령</a:t>
            </a:r>
          </a:p>
        </p:txBody>
      </p:sp>
      <p:sp>
        <p:nvSpPr>
          <p:cNvPr id="3" name="">
            <a:extLst>
              <a:ext uri="{FF2B5EF4-FFF2-40B4-BE49-F238E27FC236}">
                <ns2:creationId id="{00537B45-2881-47F2-8D63-631673E53AF8}"/>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현재 폴더: 압축을 푼 course</a:t>
            </a:r>
          </a:p>
        </p:txBody>
      </p:sp>
      <p:sp>
        <p:nvSpPr>
          <p:cNvPr id="4" name="">
            <a:extLst>
              <a:ext uri="{FF2B5EF4-FFF2-40B4-BE49-F238E27FC236}">
                <ns2:creationId id="{BF598674-BB66-43AF-A578-7ABAA7051C32}"/>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학생 파일: work/ohm_trace.py</a:t>
            </a:r>
          </a:p>
        </p:txBody>
      </p:sp>
      <p:sp>
        <p:nvSpPr>
          <p:cNvPr id="5" name="">
            <a:extLst>
              <a:ext uri="{FF2B5EF4-FFF2-40B4-BE49-F238E27FC236}">
                <ns2:creationId id="{6346C649-75E3-4D26-BB26-C0EA61347E20}"/>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python -X utf8 work/ohm_trace.py</a:t>
            </a:r>
          </a:p>
        </p:txBody>
      </p:sp>
      <p:sp>
        <p:nvSpPr>
          <p:cNvPr id="6" name="">
            <a:extLst>
              <a:ext uri="{FF2B5EF4-FFF2-40B4-BE49-F238E27FC236}">
                <ns2:creationId id="{8F2989F8-C886-4190-B9C5-CA5D92B60BD5}"/>
              </a:ext>
            </a:extLst>
          </p:cNvPr>
          <p:cNvSpPr>
            <a:spLocks noGrp="1"/>
          </p:cNvSpPr>
          <p:nvPr/>
        </p:nvSpPr>
        <p:spPr>
          <a:xfrm>
            <a:off x="685800" y="379437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코드 12번의 입력과 출력 15번을 함께 봅니다.</a:t>
            </a:r>
          </a:p>
        </p:txBody>
      </p:sp>
      <p:sp>
        <p:nvSpPr>
          <p:cNvPr id="7" name="">
            <a:extLst>
              <a:ext uri="{FF2B5EF4-FFF2-40B4-BE49-F238E27FC236}">
                <ns2:creationId id="{D7789A0E-8E80-49C6-ABA3-34ED82E0E4AF}"/>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B213534D-004A-4348-B9CD-AE6D131574C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103F4940-82A8-46BB-854E-B6BB6C8C0C3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122FB0E2-69C5-49BA-80BF-A72D97E0469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57B7DA41-56C1-44E9-B842-DBA3BD037A0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014</a:t>
            </a:r>
          </a:p>
        </p:txBody>
      </p:sp>
    </p:spTree>
    <p:extLst>
      <p:ext uri="{BB962C8B-B14F-4D97-AF65-F5344CB8AC3E}">
        <ns4:creationId val="1060928405"/>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628BA870-2CA6-499C-B469-D3BD7F9BB35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76A22C10-FD07-4AAD-9F62-6F7F8821BDF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a:t>
            </a:r>
          </a:p>
        </p:txBody>
      </p:sp>
      <p:sp>
        <p:nvSpPr>
          <p:cNvPr id="3" name="">
            <a:extLst>
              <a:ext uri="{FF2B5EF4-FFF2-40B4-BE49-F238E27FC236}">
                <ns2:creationId id="{D00A642A-D9C0-487D-9CEB-345EB127B208}"/>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3.3÷330 = 0.010A</a:t>
            </a:r>
          </a:p>
        </p:txBody>
      </p:sp>
      <p:sp>
        <p:nvSpPr>
          <p:cNvPr id="4" name="">
            <a:extLst>
              <a:ext uri="{FF2B5EF4-FFF2-40B4-BE49-F238E27FC236}">
                <ns2:creationId id="{5CF5FD48-495C-4385-97A3-DADAC4B53BCC}"/>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0.010×1000 = 10mA</a:t>
            </a:r>
          </a:p>
        </p:txBody>
      </p:sp>
      <p:sp>
        <p:nvSpPr>
          <p:cNvPr id="5" name="">
            <a:extLst>
              <a:ext uri="{FF2B5EF4-FFF2-40B4-BE49-F238E27FC236}">
                <ns2:creationId id="{69C04220-6EA2-422B-82CC-34AA3F6A7720}"/>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출력: 10.0</a:t>
            </a:r>
          </a:p>
        </p:txBody>
      </p:sp>
      <p:sp>
        <p:nvSpPr>
          <p:cNvPr id="6" name="">
            <a:extLst>
              <a:ext uri="{FF2B5EF4-FFF2-40B4-BE49-F238E27FC236}">
                <ns2:creationId id="{FFAB8782-B5F5-48F7-B216-9499FD8B3F6F}"/>
              </a:ext>
            </a:extLst>
          </p:cNvPr>
          <p:cNvSpPr>
            <a:spLocks noGrp="1"/>
          </p:cNvSpPr>
          <p:nvPr/>
        </p:nvSpPr>
        <p:spPr>
          <a:xfrm>
            <a:off x="685800" y="379437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코드 12번의 입력과 출력 15번을 함께 봅니다.</a:t>
            </a:r>
          </a:p>
        </p:txBody>
      </p:sp>
      <p:sp>
        <p:nvSpPr>
          <p:cNvPr id="7" name="">
            <a:extLst>
              <a:ext uri="{FF2B5EF4-FFF2-40B4-BE49-F238E27FC236}">
                <ns2:creationId id="{A271C458-9D18-4064-A27B-46F51EF71BEB}"/>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4F5012AB-CF33-4076-BFB1-AA8565AC8DE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547CB202-7682-4B72-963D-4E4EB7BC2C8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9D343553-EF90-4026-960F-C6BB25E55A5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0AB1E907-B1EB-42E8-8888-D441152B962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015</a:t>
            </a:r>
          </a:p>
        </p:txBody>
      </p:sp>
    </p:spTree>
    <p:extLst>
      <p:ext uri="{BB962C8B-B14F-4D97-AF65-F5344CB8AC3E}">
        <ns4:creationId val="2143244490"/>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602D6C1C-CFAF-420E-BFEE-A7E9B9459D6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331F3D55-7DA1-43F5-AE5E-FB603073E5B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연습 문제</a:t>
            </a:r>
          </a:p>
        </p:txBody>
      </p:sp>
      <p:sp>
        <p:nvSpPr>
          <p:cNvPr id="3" name="">
            <a:extLst>
              <a:ext uri="{FF2B5EF4-FFF2-40B4-BE49-F238E27FC236}">
                <ns2:creationId id="{0FB56437-1551-4397-8E16-4EC8DBCBA7CD}"/>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저항 양단 5V · 저항 1000Ω</a:t>
            </a:r>
          </a:p>
        </p:txBody>
      </p:sp>
      <p:sp>
        <p:nvSpPr>
          <p:cNvPr id="4" name="">
            <a:extLst>
              <a:ext uri="{FF2B5EF4-FFF2-40B4-BE49-F238E27FC236}">
                <ns2:creationId id="{72B024C7-E221-46DC-AAEA-73051EFF9713}"/>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전류를 A와 mA로 계산하세요.</a:t>
            </a:r>
          </a:p>
        </p:txBody>
      </p:sp>
      <p:sp>
        <p:nvSpPr>
          <p:cNvPr id="5" name="">
            <a:extLst>
              <a:ext uri="{FF2B5EF4-FFF2-40B4-BE49-F238E27FC236}">
                <ns2:creationId id="{ABC84866-FC65-449D-8F6B-7A79E09D5685}"/>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08281982-4973-408E-BB30-48C37967EB77}"/>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3AC1C3B6-6D30-4D03-80B5-027AC767601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C15DF859-5A18-4242-968D-EFBA0328B24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16FF9DDF-04FA-4BE1-8DB7-09CF97B4E3B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C30F3979-3BDE-4E53-8716-A363C42E51B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016</a:t>
            </a:r>
          </a:p>
        </p:txBody>
      </p:sp>
    </p:spTree>
    <p:extLst>
      <p:ext uri="{BB962C8B-B14F-4D97-AF65-F5344CB8AC3E}">
        <ns4:creationId val="437763847"/>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279BEFBD-5E72-475D-9F61-BE43625A1FB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4F38193C-4A4A-4D81-91C6-EC34CC81A62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정답과 풀이</a:t>
            </a:r>
          </a:p>
        </p:txBody>
      </p:sp>
      <p:sp>
        <p:nvSpPr>
          <p:cNvPr id="3" name="">
            <a:extLst>
              <a:ext uri="{FF2B5EF4-FFF2-40B4-BE49-F238E27FC236}">
                <ns2:creationId id="{C80FCE1F-BC40-4210-88B3-96709E42BD10}"/>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0.005A = 5mA</a:t>
            </a:r>
          </a:p>
        </p:txBody>
      </p:sp>
      <p:sp>
        <p:nvSpPr>
          <p:cNvPr id="4" name="">
            <a:extLst>
              <a:ext uri="{FF2B5EF4-FFF2-40B4-BE49-F238E27FC236}">
                <ns2:creationId id="{004986F9-C7C7-4AAD-ABAF-FF39526FA99B}"/>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단위 변환을 한 번 더 확인합니다.</a:t>
            </a:r>
          </a:p>
        </p:txBody>
      </p:sp>
      <p:sp>
        <p:nvSpPr>
          <p:cNvPr id="5" name="">
            <a:extLst>
              <a:ext uri="{FF2B5EF4-FFF2-40B4-BE49-F238E27FC236}">
                <ns2:creationId id="{521D6F09-A61D-4FC8-B335-9555A6A1BC4E}"/>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이 계산만으로 GPIO에 5V를 연결해도 된다고 판단할 수 없습니다.</a:t>
            </a:r>
          </a:p>
        </p:txBody>
      </p:sp>
      <p:sp>
        <p:nvSpPr>
          <p:cNvPr id="6" name="">
            <a:extLst>
              <a:ext uri="{FF2B5EF4-FFF2-40B4-BE49-F238E27FC236}">
                <ns2:creationId id="{BA510EC8-CB64-42DF-99A2-7E2C28291B2E}"/>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AD53EBFE-B8DA-42C0-95EF-9FF1EAC3BF9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760FFC62-A5F9-42DC-B543-CE25E90ED7E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9A8DAAD3-F04B-4F8B-B3D3-DB50E99FD2C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322A5EBB-0EF4-47DA-BF50-61A4F888ED9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017</a:t>
            </a:r>
          </a:p>
        </p:txBody>
      </p:sp>
    </p:spTree>
    <p:extLst>
      <p:ext uri="{BB962C8B-B14F-4D97-AF65-F5344CB8AC3E}">
        <ns4:creationId val="1639349831"/>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AE032033-17FD-4F53-9A07-A063B8B1612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105CD313-31E8-4DB0-8338-E2B945F52CD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값 바꾸기</a:t>
            </a:r>
          </a:p>
        </p:txBody>
      </p:sp>
      <p:sp>
        <p:nvSpPr>
          <p:cNvPr id="3" name="">
            <a:extLst>
              <a:ext uri="{FF2B5EF4-FFF2-40B4-BE49-F238E27FC236}">
                <ns2:creationId id="{51301989-17E7-4BE9-A17F-F647C4B6E75C}"/>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저항을 660Ω으로 바꿉니다.</a:t>
            </a:r>
          </a:p>
        </p:txBody>
      </p:sp>
      <p:sp>
        <p:nvSpPr>
          <p:cNvPr id="4" name="">
            <a:extLst>
              <a:ext uri="{FF2B5EF4-FFF2-40B4-BE49-F238E27FC236}">
                <ns2:creationId id="{77DB9030-E8A7-4B9B-9678-8E0710988EA2}"/>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전류는 5mA가 됩니다.</a:t>
            </a:r>
          </a:p>
        </p:txBody>
      </p:sp>
      <p:sp>
        <p:nvSpPr>
          <p:cNvPr id="5" name="">
            <a:extLst>
              <a:ext uri="{FF2B5EF4-FFF2-40B4-BE49-F238E27FC236}">
                <ns2:creationId id="{082996BD-0732-48B7-8082-78ACBB077FF9}"/>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AA57ABA4-38FE-4C6D-8C2D-0EAFD065E7A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559C948A-5516-494E-87C0-3A59EF5B6C0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3DA693DD-497D-47CB-B44C-D7306528E85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7A69AF4B-B89E-4AE9-924F-1B126AFF148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018</a:t>
            </a:r>
          </a:p>
        </p:txBody>
      </p:sp>
    </p:spTree>
    <p:extLst>
      <p:ext uri="{BB962C8B-B14F-4D97-AF65-F5344CB8AC3E}">
        <ns4:creationId val="169723107"/>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312D7E7D-F529-4B41-B495-C1E0A5D4BF9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49648DD0-DB78-4B3A-8149-8865C188788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오류 원인과 복구</a:t>
            </a:r>
          </a:p>
        </p:txBody>
      </p:sp>
      <p:sp>
        <p:nvSpPr>
          <p:cNvPr id="3" name="">
            <a:extLst>
              <a:ext uri="{FF2B5EF4-FFF2-40B4-BE49-F238E27FC236}">
                <ns2:creationId id="{8EDB1C56-CFB5-479B-9D08-3BCA7D78016C}"/>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저항 0은 계산 입력 오류입니다.</a:t>
            </a:r>
          </a:p>
        </p:txBody>
      </p:sp>
      <p:sp>
        <p:nvSpPr>
          <p:cNvPr id="4" name="">
            <a:extLst>
              <a:ext uri="{FF2B5EF4-FFF2-40B4-BE49-F238E27FC236}">
                <ns2:creationId id="{4EFAC2B6-A20B-4FD2-A1BD-7495B3C2D440}"/>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실제 단락을 만들어 시험하지 않습니다.</a:t>
            </a:r>
          </a:p>
        </p:txBody>
      </p:sp>
      <p:sp>
        <p:nvSpPr>
          <p:cNvPr id="5" name="">
            <a:extLst>
              <a:ext uri="{FF2B5EF4-FFF2-40B4-BE49-F238E27FC236}">
                <ns2:creationId id="{E67664DD-51FF-490E-9109-F4FA17F7384E}"/>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CA0BCC5D-84CB-4D99-944F-A7B58B52191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4365BB25-1DDC-4075-B302-A72AB2128D5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6C493A5D-8ECC-45A4-B10B-53B0450C1F8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B06D3DBB-F153-40AB-9EE1-728092425B8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019</a:t>
            </a:r>
          </a:p>
        </p:txBody>
      </p:sp>
    </p:spTree>
    <p:extLst>
      <p:ext uri="{BB962C8B-B14F-4D97-AF65-F5344CB8AC3E}">
        <ns4:creationId val="47498706"/>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C6742E93-8787-4853-AA4B-B6A9980F36A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F33403A7-877C-4F11-A735-D6589713E85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확인 질문</a:t>
            </a:r>
          </a:p>
        </p:txBody>
      </p:sp>
      <p:sp>
        <p:nvSpPr>
          <p:cNvPr id="3" name="">
            <a:extLst>
              <a:ext uri="{FF2B5EF4-FFF2-40B4-BE49-F238E27FC236}">
                <ns2:creationId id="{112A82BA-FAF0-425F-95C2-1C1A7A1C10F7}"/>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전압·전류·저항의 단위를 말해 봅시다.</a:t>
            </a:r>
          </a:p>
        </p:txBody>
      </p:sp>
      <p:sp>
        <p:nvSpPr>
          <p:cNvPr id="4" name="">
            <a:extLst>
              <a:ext uri="{FF2B5EF4-FFF2-40B4-BE49-F238E27FC236}">
                <ns2:creationId id="{19AC5647-96AD-4941-8F2A-5D905B0AA113}"/>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계산한 전류와 실제로 측정한 전류가 어떻게 다른지 설명합니다.</a:t>
            </a:r>
          </a:p>
        </p:txBody>
      </p:sp>
      <p:sp>
        <p:nvSpPr>
          <p:cNvPr id="5" name="">
            <a:extLst>
              <a:ext uri="{FF2B5EF4-FFF2-40B4-BE49-F238E27FC236}">
                <ns2:creationId id="{023F4C3F-39CB-402A-A6D2-ECCDFF22CB15}"/>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453AF676-17D4-461E-A1D8-7CA1E45DD5EF}"/>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D1ADC1B0-AADA-4817-BC80-E0E2512067D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601643AC-90BB-43BF-898D-CF6D5E61AAE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DAE6C16F-09AA-469A-B97A-E42A3FF0FB9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F9914E17-1468-4D8A-BD0A-C8AE847EE69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020</a:t>
            </a:r>
          </a:p>
        </p:txBody>
      </p:sp>
    </p:spTree>
    <p:extLst>
      <p:ext uri="{BB962C8B-B14F-4D97-AF65-F5344CB8AC3E}">
        <ns4:creationId val="739973705"/>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5B628E32-E2B7-42A6-9E11-3225802A017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5E13A0AA-9BE5-4A29-9D3F-84A6CF12AC4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추가·복습 문제</a:t>
            </a:r>
          </a:p>
        </p:txBody>
      </p:sp>
      <p:sp>
        <p:nvSpPr>
          <p:cNvPr id="3" name="">
            <a:extLst>
              <a:ext uri="{FF2B5EF4-FFF2-40B4-BE49-F238E27FC236}">
                <ns2:creationId id="{F843F77E-E38E-425D-AD8B-4D14804569F6}"/>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추가·복습: 2.4V · 1200Ω</a:t>
            </a:r>
          </a:p>
        </p:txBody>
      </p:sp>
      <p:sp>
        <p:nvSpPr>
          <p:cNvPr id="4" name="">
            <a:extLst>
              <a:ext uri="{FF2B5EF4-FFF2-40B4-BE49-F238E27FC236}">
                <ns2:creationId id="{246CC0C4-4FB6-4986-9AA0-3F5E0CEA21AE}"/>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계산 전류와 돌아오는 길을 설명하세요.</a:t>
            </a:r>
          </a:p>
        </p:txBody>
      </p:sp>
      <p:sp>
        <p:nvSpPr>
          <p:cNvPr id="5" name="">
            <a:extLst>
              <a:ext uri="{FF2B5EF4-FFF2-40B4-BE49-F238E27FC236}">
                <ns2:creationId id="{A2EB33A5-B652-4E28-986D-86A166480E33}"/>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7BED510F-0FB7-41FB-8B8F-8EF542B679DB}"/>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AE8BBDE5-E483-4B87-B8B7-BFF81A1DD3C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ED7F9A2E-600D-482D-8854-0C97985F303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00DC0432-6298-40F2-8D53-9743F26D833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3D1B4290-F76C-4576-95AF-9024389191D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021</a:t>
            </a:r>
          </a:p>
        </p:txBody>
      </p:sp>
    </p:spTree>
    <p:extLst>
      <p:ext uri="{BB962C8B-B14F-4D97-AF65-F5344CB8AC3E}">
        <ns4:creationId val="1477002220"/>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9815173C-02A3-4F6E-8887-93CC1F81F714}"/>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2교시</a:t>
            </a:r>
          </a:p>
        </p:txBody>
      </p:sp>
      <p:sp>
        <p:nvSpPr>
          <p:cNvPr id="2" name="">
            <a:extLst>
              <a:ext uri="{FF2B5EF4-FFF2-40B4-BE49-F238E27FC236}">
                <ns2:creationId id="{07C7C2E7-C91A-4D1A-8D0E-AA21F3E63C0D}"/>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LED·보드·신호 전압</a:t>
            </a:r>
          </a:p>
        </p:txBody>
      </p:sp>
      <p:sp>
        <p:nvSpPr>
          <p:cNvPr id="3" name="">
            <a:extLst>
              <a:ext uri="{FF2B5EF4-FFF2-40B4-BE49-F238E27FC236}">
                <ns2:creationId id="{01643BF7-7E8E-4C38-B5A0-99C752D8E8D5}"/>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11:00~11:50 · 50분</a:t>
            </a:r>
          </a:p>
        </p:txBody>
      </p:sp>
      <p:sp>
        <p:nvSpPr>
          <p:cNvPr id="4" name="">
            <a:extLst>
              <a:ext uri="{FF2B5EF4-FFF2-40B4-BE49-F238E27FC236}">
                <ns2:creationId id="{95A0F1CF-1367-4A35-A985-B80BFE6EDE5B}"/>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A04 · A05 · A06</a:t>
            </a:r>
          </a:p>
        </p:txBody>
      </p:sp>
      <p:sp>
        <p:nvSpPr>
          <p:cNvPr id="5" name="">
            <a:extLst>
              <a:ext uri="{FF2B5EF4-FFF2-40B4-BE49-F238E27FC236}">
                <ns2:creationId id="{6FEE93DD-FED5-4D05-B84A-1CC63B1680D3}"/>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개념 설명 → 시연 → 직접 실습 → 확인</a:t>
            </a:r>
          </a:p>
        </p:txBody>
      </p:sp>
      <p:sp>
        <p:nvSpPr>
          <p:cNvPr id="6" name="">
            <a:extLst>
              <a:ext uri="{FF2B5EF4-FFF2-40B4-BE49-F238E27FC236}">
                <ns2:creationId id="{B69AD244-F674-4C94-94C5-16A309230241}"/>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A9FE08F7-5BF3-4FCF-B3A6-231615AACF8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D7E961C6-5D74-480C-9534-8E587A17546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88B00F0D-EA0F-497B-BC49-F106BA5DA76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ACD716C1-2111-47C1-A689-B1EB8FB6CDB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022</a:t>
            </a:r>
          </a:p>
        </p:txBody>
      </p:sp>
    </p:spTree>
    <p:extLst>
      <p:ext uri="{BB962C8B-B14F-4D97-AF65-F5344CB8AC3E}">
        <ns4:creationId val="1996714245"/>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919C9106-C7FD-4E68-A02A-536DABDEB78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44B7D5EB-8DBC-4534-92E8-CF94C800237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LED의 방향과 전압 강하</a:t>
            </a:r>
          </a:p>
        </p:txBody>
      </p:sp>
      <p:sp>
        <p:nvSpPr>
          <p:cNvPr id="3" name="">
            <a:extLst>
              <a:ext uri="{FF2B5EF4-FFF2-40B4-BE49-F238E27FC236}">
                <ns2:creationId id="{47435C2C-93BA-4DE2-BBE9-31AB9EF3075B}"/>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LED의 방향과 전압 강하</a:t>
            </a:r>
          </a:p>
        </p:txBody>
      </p:sp>
      <p:sp>
        <p:nvSpPr>
          <p:cNvPr id="4" name="">
            <a:extLst>
              <a:ext uri="{FF2B5EF4-FFF2-40B4-BE49-F238E27FC236}">
                <ns2:creationId id="{70A4799A-450C-45BC-B3B3-0C6493E105EB}"/>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빛을 내는 다이오드입니다.</a:t>
            </a:r>
          </a:p>
        </p:txBody>
      </p:sp>
      <p:sp>
        <p:nvSpPr>
          <p:cNvPr id="5" name="">
            <a:extLst>
              <a:ext uri="{FF2B5EF4-FFF2-40B4-BE49-F238E27FC236}">
                <ns2:creationId id="{4E3137C2-9E06-458C-9514-7E433AEDB221}"/>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고정 저항처럼 계산하지 않습니다.</a:t>
            </a:r>
          </a:p>
        </p:txBody>
      </p:sp>
      <p:sp>
        <p:nvSpPr>
          <p:cNvPr id="6" name="">
            <a:extLst>
              <a:ext uri="{FF2B5EF4-FFF2-40B4-BE49-F238E27FC236}">
                <ns2:creationId id="{43F25F5B-0260-4003-BAB0-8E8690312CF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LED를 포함한 계산 가정</a:t>
            </a:r>
          </a:p>
        </p:txBody>
      </p:sp>
      <p:sp>
        <p:nvSpPr>
          <p:cNvPr id="7" name="">
            <a:extLst>
              <a:ext uri="{FF2B5EF4-FFF2-40B4-BE49-F238E27FC236}">
                <ns2:creationId id="{81FD0570-DDC8-40E5-801F-6CC59DCB87CF}"/>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공급 3.3V, LED 강하 2.0V</a:t>
            </a:r>
          </a:p>
        </p:txBody>
      </p:sp>
      <p:sp>
        <p:nvSpPr>
          <p:cNvPr id="8" name="">
            <a:extLst>
              <a:ext uri="{FF2B5EF4-FFF2-40B4-BE49-F238E27FC236}">
                <ns2:creationId id="{DD01C858-A1DE-43BD-AF68-D351A9EAC6A4}"/>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LED는 고정 저항처럼 계산하지 않음</a:t>
            </a:r>
          </a:p>
        </p:txBody>
      </p:sp>
      <p:sp>
        <p:nvSpPr>
          <p:cNvPr id="9" name="">
            <a:extLst>
              <a:ext uri="{FF2B5EF4-FFF2-40B4-BE49-F238E27FC236}">
                <ns2:creationId id="{23283AA8-9E39-4F7E-876F-166B50DA5532}"/>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A038AD9F-3684-4291-85EB-B189B5CCFB7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728C17E1-D37D-4910-BE28-5DB14D39179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FC9B793F-ADA5-4275-89FC-2720A98B233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ECB6AB94-42D4-4C3E-859F-A182C890E13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023</a:t>
            </a:r>
          </a:p>
        </p:txBody>
      </p:sp>
    </p:spTree>
    <p:extLst>
      <p:ext uri="{BB962C8B-B14F-4D97-AF65-F5344CB8AC3E}">
        <ns4:creationId val="989507115"/>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CBD1E316-AAAA-432A-B6F1-D5BE7FB4219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A9C046A3-1A15-49BA-8E76-38ED231294B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직렬 저항의 역할</a:t>
            </a:r>
          </a:p>
        </p:txBody>
      </p:sp>
      <p:sp>
        <p:nvSpPr>
          <p:cNvPr id="3" name="">
            <a:extLst>
              <a:ext uri="{FF2B5EF4-FFF2-40B4-BE49-F238E27FC236}">
                <ns2:creationId id="{5585596B-9500-4079-A68F-E2D3E43A6D58}"/>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직렬 저항의 역할</a:t>
            </a:r>
          </a:p>
        </p:txBody>
      </p:sp>
      <p:sp>
        <p:nvSpPr>
          <p:cNvPr id="4" name="">
            <a:extLst>
              <a:ext uri="{FF2B5EF4-FFF2-40B4-BE49-F238E27FC236}">
                <ns2:creationId id="{4FC3BC7F-5248-48A0-9817-A32888E97CC8}"/>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같은 가지의 전류는 같습니다.</a:t>
            </a:r>
          </a:p>
        </p:txBody>
      </p:sp>
      <p:sp>
        <p:nvSpPr>
          <p:cNvPr id="5" name="">
            <a:extLst>
              <a:ext uri="{FF2B5EF4-FFF2-40B4-BE49-F238E27FC236}">
                <ns2:creationId id="{4D08981C-8648-4265-BDE8-B6E0B3C1E8E1}"/>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공급 전압과 LED 강하를 구분합니다.</a:t>
            </a:r>
          </a:p>
        </p:txBody>
      </p:sp>
      <p:sp>
        <p:nvSpPr>
          <p:cNvPr id="6" name="">
            <a:extLst>
              <a:ext uri="{FF2B5EF4-FFF2-40B4-BE49-F238E27FC236}">
                <ns2:creationId id="{954D9330-54DF-48E4-8156-14CB953F5828}"/>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공급 전압의 나눔</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3106651"/>
                <a:gridCol w="2132099"/>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전압</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공급</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3.3V</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LED 가정</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2.0V</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저항 양단</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1.3V</a:t>
                      </a:r>
                    </a:p>
                  </a:txBody>
                  <a:tcPr marL="114300" marR="114300" marT="76200" marB="76200" anchor="ctr">
                    <a:solidFill>
                      <a:srgbClr val="FFFFFF"/>
                    </a:solidFill>
                  </a:tcPr>
                </a:tc>
              </a:tr>
            </a:tbl>
          </a:graphicData>
        </a:graphic>
      </p:graphicFrame>
      <p:sp>
        <p:nvSpPr>
          <p:cNvPr id="8" name="">
            <a:extLst>
              <a:ext uri="{FF2B5EF4-FFF2-40B4-BE49-F238E27FC236}">
                <ns2:creationId id="{F0C6E289-FC64-4E14-9E98-176AD76A7D6E}"/>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8E9EABFC-435D-4AEC-80CF-2258ABA95FF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FC446C37-586A-4280-B050-FE3BA366F71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050C916-AC32-4A81-AFC8-011656A7539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AEA8FF98-B3C6-436D-ABF8-F5A157F43A0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024</a:t>
            </a:r>
          </a:p>
        </p:txBody>
      </p:sp>
    </p:spTree>
    <p:extLst>
      <p:ext uri="{BB962C8B-B14F-4D97-AF65-F5344CB8AC3E}">
        <ns4:creationId val="1115406878"/>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CF3162B6-909A-46E7-AB03-C3BCEFEC008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20D268AC-3515-45E2-A234-DBA23A7E1B2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저항 양단 전압 1.3V</a:t>
            </a:r>
          </a:p>
        </p:txBody>
      </p:sp>
      <p:sp>
        <p:nvSpPr>
          <p:cNvPr id="3" name="">
            <a:extLst>
              <a:ext uri="{FF2B5EF4-FFF2-40B4-BE49-F238E27FC236}">
                <ns2:creationId id="{ACEAC4E7-35BC-4B49-93F4-264CD251408F}"/>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저항 양단 전압 1.3V</a:t>
            </a:r>
          </a:p>
        </p:txBody>
      </p:sp>
      <p:sp>
        <p:nvSpPr>
          <p:cNvPr id="4" name="">
            <a:extLst>
              <a:ext uri="{FF2B5EF4-FFF2-40B4-BE49-F238E27FC236}">
                <ns2:creationId id="{7520F3E7-D4B3-495F-8314-773F7822D1F7}"/>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계산 가정: 공급 3.3V · LED 강하 2.0V</a:t>
            </a:r>
          </a:p>
        </p:txBody>
      </p:sp>
      <p:sp>
        <p:nvSpPr>
          <p:cNvPr id="5" name="">
            <a:extLst>
              <a:ext uri="{FF2B5EF4-FFF2-40B4-BE49-F238E27FC236}">
                <ns2:creationId id="{0A7CF989-CBBF-437C-8D2E-9FFCC4792FC0}"/>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저항 전압 = 3.3−2.0 = 1.3V</a:t>
            </a:r>
          </a:p>
        </p:txBody>
      </p:sp>
      <p:sp>
        <p:nvSpPr>
          <p:cNvPr id="6" name="">
            <a:extLst>
              <a:ext uri="{FF2B5EF4-FFF2-40B4-BE49-F238E27FC236}">
                <ns2:creationId id="{8BC9A120-721B-496C-A9C3-9DE472F9703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저항 전압을 먼저 계산</a:t>
            </a:r>
          </a:p>
        </p:txBody>
      </p:sp>
      <p:sp>
        <p:nvSpPr>
          <p:cNvPr id="7" name="">
            <a:extLst>
              <a:ext uri="{FF2B5EF4-FFF2-40B4-BE49-F238E27FC236}">
                <ns2:creationId id="{7DAFFC38-ADA4-4440-8F64-F765B82B3024}"/>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3.3−2.0 = 1.3V</a:t>
            </a:r>
          </a:p>
        </p:txBody>
      </p:sp>
      <p:sp>
        <p:nvSpPr>
          <p:cNvPr id="8" name="">
            <a:extLst>
              <a:ext uri="{FF2B5EF4-FFF2-40B4-BE49-F238E27FC236}">
                <ns2:creationId id="{075F1416-CBA4-424A-8669-5D5BA5110AD2}"/>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LED 강하는 부품 조건을 가정한 값</a:t>
            </a:r>
          </a:p>
        </p:txBody>
      </p:sp>
      <p:sp>
        <p:nvSpPr>
          <p:cNvPr id="9" name="">
            <a:extLst>
              <a:ext uri="{FF2B5EF4-FFF2-40B4-BE49-F238E27FC236}">
                <ns2:creationId id="{A8E6CA7F-F4EC-4A6C-8256-D4534BDD8A02}"/>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49A2FA0B-B1F2-4D2A-A608-7990DC65D7A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D4518828-12CD-42E8-8A7B-B10014753E3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4CBC40AC-A2EB-4016-9BE6-EDE4DB7AC1C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FA44C090-959D-4211-A6C0-792A305DF58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025</a:t>
            </a:r>
          </a:p>
        </p:txBody>
      </p:sp>
    </p:spTree>
    <p:extLst>
      <p:ext uri="{BB962C8B-B14F-4D97-AF65-F5344CB8AC3E}">
        <ns4:creationId val="1029702027"/>
      </p:ext>
    </p:extLst>
  </p:cSld>
</p:sld>
</file>

<file path=ppt/slides/slide2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2F57CDE5-9B08-4B61-B008-4A811A10C8A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DB1C39D3-DECC-4862-BEBF-AB7AB1422AA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칩·모듈·개발 보드</a:t>
            </a:r>
          </a:p>
        </p:txBody>
      </p:sp>
      <p:sp>
        <p:nvSpPr>
          <p:cNvPr id="3" name="">
            <a:extLst>
              <a:ext uri="{FF2B5EF4-FFF2-40B4-BE49-F238E27FC236}">
                <ns2:creationId id="{A8FA45E9-5DA1-46E4-AEEB-BEB8ABBB644C}"/>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칩</a:t>
            </a:r>
          </a:p>
        </p:txBody>
      </p:sp>
      <p:sp>
        <p:nvSpPr>
          <p:cNvPr id="4" name="">
            <a:extLst>
              <a:ext uri="{FF2B5EF4-FFF2-40B4-BE49-F238E27FC236}">
                <ns2:creationId id="{C12DCDAC-1D3E-49BA-A3F0-8DB9B54AD789}"/>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칩: 계산과 입출력</a:t>
            </a:r>
          </a:p>
        </p:txBody>
      </p:sp>
      <p:sp>
        <p:nvSpPr>
          <p:cNvPr id="5" name="">
            <a:extLst>
              <a:ext uri="{FF2B5EF4-FFF2-40B4-BE49-F238E27FC236}">
                <ns2:creationId id="{45F40A60-1E6B-4EAB-B1E9-21A5785ECE5C}"/>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모듈·보드</a:t>
            </a:r>
          </a:p>
        </p:txBody>
      </p:sp>
      <p:sp>
        <p:nvSpPr>
          <p:cNvPr id="6" name="">
            <a:extLst>
              <a:ext uri="{FF2B5EF4-FFF2-40B4-BE49-F238E27FC236}">
                <ns2:creationId id="{9C0E1902-4115-4E91-AE65-234174863784}"/>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모듈: 주변 부품 묶음 · 보드: 개발 연결판</a:t>
            </a:r>
          </a:p>
        </p:txBody>
      </p:sp>
      <p:sp>
        <p:nvSpPr>
          <p:cNvPr id="7" name="">
            <a:extLst>
              <a:ext uri="{FF2B5EF4-FFF2-40B4-BE49-F238E27FC236}">
                <ns2:creationId id="{21745EC4-7AE9-4801-B107-E64CFB8C44F2}"/>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C6964A06-063C-4CBE-974B-D1269FDE495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B6826082-6B71-40FC-82D8-68BFA0F83B1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A94B7CC1-7B67-41C0-9627-99324CF05D1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03DA4403-5D2D-4A09-B6DD-4A0EA6B2B45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026</a:t>
            </a:r>
          </a:p>
        </p:txBody>
      </p:sp>
    </p:spTree>
    <p:extLst>
      <p:ext uri="{BB962C8B-B14F-4D97-AF65-F5344CB8AC3E}">
        <ns4:creationId val="927355792"/>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D2428354-5984-432D-9D15-CA864DC094E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D66A068C-8E55-4290-98E2-40FED31EF51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GPIO와 논리 수준</a:t>
            </a:r>
          </a:p>
        </p:txBody>
      </p:sp>
      <p:sp>
        <p:nvSpPr>
          <p:cNvPr id="3" name="">
            <a:extLst>
              <a:ext uri="{FF2B5EF4-FFF2-40B4-BE49-F238E27FC236}">
                <ns2:creationId id="{B6A4EB6E-01C9-42B5-A157-FDFF6D21FD6B}"/>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GPIO와 논리 수준</a:t>
            </a:r>
          </a:p>
        </p:txBody>
      </p:sp>
      <p:sp>
        <p:nvSpPr>
          <p:cNvPr id="4" name="">
            <a:extLst>
              <a:ext uri="{FF2B5EF4-FFF2-40B4-BE49-F238E27FC236}">
                <ns2:creationId id="{238CF486-0AE6-457E-A857-E93567C6CC11}"/>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프로그램으로 디지털 신호를 읽고 출력합니다.</a:t>
            </a:r>
          </a:p>
        </p:txBody>
      </p:sp>
      <p:sp>
        <p:nvSpPr>
          <p:cNvPr id="5" name="">
            <a:extLst>
              <a:ext uri="{FF2B5EF4-FFF2-40B4-BE49-F238E27FC236}">
                <ns2:creationId id="{93EDD4C2-A78D-4AE2-B700-9CF80D280047}"/>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HIGH의 전압 범위는 보드 문서로 확인합니다.</a:t>
            </a:r>
          </a:p>
        </p:txBody>
      </p:sp>
      <p:sp>
        <p:nvSpPr>
          <p:cNvPr id="6" name="">
            <a:extLst>
              <a:ext uri="{FF2B5EF4-FFF2-40B4-BE49-F238E27FC236}">
                <ns2:creationId id="{F42184BE-E1E9-494C-A985-06EC49A25515}"/>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GPIO의 신호 전압</a:t>
            </a:r>
          </a:p>
        </p:txBody>
      </p:sp>
      <p:sp>
        <p:nvSpPr>
          <p:cNvPr id="7" name="">
            <a:extLst>
              <a:ext uri="{FF2B5EF4-FFF2-40B4-BE49-F238E27FC236}">
                <ns2:creationId id="{06CE4571-1096-4C7B-9AA5-AEE142E2FFA9}"/>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HIGH: 보드 문서에서 전압 범위 확인</a:t>
            </a:r>
          </a:p>
        </p:txBody>
      </p:sp>
      <p:sp>
        <p:nvSpPr>
          <p:cNvPr id="8" name="">
            <a:extLst>
              <a:ext uri="{FF2B5EF4-FFF2-40B4-BE49-F238E27FC236}">
                <ns2:creationId id="{450A9A10-3C3D-4A16-BE9C-81B592E9FC8E}"/>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Python 계산값은 핀 정격이 아님</a:t>
            </a:r>
          </a:p>
        </p:txBody>
      </p:sp>
      <p:sp>
        <p:nvSpPr>
          <p:cNvPr id="9" name="">
            <a:extLst>
              <a:ext uri="{FF2B5EF4-FFF2-40B4-BE49-F238E27FC236}">
                <ns2:creationId id="{B7A612D1-17B4-4EFE-80ED-7F0C654EC306}"/>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3BBEF199-BE89-4362-A2DF-957CBD413FB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16276012-5451-472D-80B8-9C0032BA8DA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9FD1A560-8C65-42A8-998C-5ACB996294D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892B62F9-DE67-40C4-B152-5A72D75BDDB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027</a:t>
            </a:r>
          </a:p>
        </p:txBody>
      </p:sp>
    </p:spTree>
    <p:extLst>
      <p:ext uri="{BB962C8B-B14F-4D97-AF65-F5344CB8AC3E}">
        <ns4:creationId val="896795262"/>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EED44206-FA7A-4898-814A-09EC5FD9843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1B6F2C90-EB8A-4332-9C6A-597377A206B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전원 입력과 신호 정격</a:t>
            </a:r>
          </a:p>
        </p:txBody>
      </p:sp>
      <p:sp>
        <p:nvSpPr>
          <p:cNvPr id="3" name="">
            <a:extLst>
              <a:ext uri="{FF2B5EF4-FFF2-40B4-BE49-F238E27FC236}">
                <ns2:creationId id="{75E040F8-5F66-4B42-A5E5-73CFA33AEB24}"/>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전원 입력과 신호 정격</a:t>
            </a:r>
          </a:p>
        </p:txBody>
      </p:sp>
      <p:sp>
        <p:nvSpPr>
          <p:cNvPr id="4" name="">
            <a:extLst>
              <a:ext uri="{FF2B5EF4-FFF2-40B4-BE49-F238E27FC236}">
                <ns2:creationId id="{3B13F99E-818B-4EA1-8C2D-1399ED46E7FB}"/>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보드 전원 단자만 보고 신호 전압을 정하지 않습니다.</a:t>
            </a:r>
          </a:p>
        </p:txBody>
      </p:sp>
      <p:sp>
        <p:nvSpPr>
          <p:cNvPr id="5" name="">
            <a:extLst>
              <a:ext uri="{FF2B5EF4-FFF2-40B4-BE49-F238E27FC236}">
                <ns2:creationId id="{807ED9A5-95C9-4E1A-9B07-25A9E813A226}"/>
              </a:ext>
            </a:extLst>
          </p:cNvPr>
          <p:cNvSpPr>
            <a:spLocks noGrp="1"/>
          </p:cNvSpPr>
          <p:nvPr/>
        </p:nvSpPr>
        <p:spPr>
          <a:xfrm>
            <a:off x="685800" y="31984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정확한 보드·핀 문서가 필요합니다.</a:t>
            </a:r>
          </a:p>
        </p:txBody>
      </p:sp>
      <p:sp>
        <p:nvSpPr>
          <p:cNvPr id="6" name="">
            <a:extLst>
              <a:ext uri="{FF2B5EF4-FFF2-40B4-BE49-F238E27FC236}">
                <ns2:creationId id="{F79BC966-A8C8-463B-9337-64C3001365B4}"/>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연결 전에 확인</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227308"/>
                <a:gridCol w="3011442"/>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확인 자료</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전원 단자</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보드 문서</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신호 핀</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핀 기능·정격</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부품</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전압·전류 정격</a:t>
                      </a:r>
                    </a:p>
                  </a:txBody>
                  <a:tcPr marL="114300" marR="114300" marT="76200" marB="76200" anchor="ctr">
                    <a:solidFill>
                      <a:srgbClr val="FFFFFF"/>
                    </a:solidFill>
                  </a:tcPr>
                </a:tc>
              </a:tr>
            </a:tbl>
          </a:graphicData>
        </a:graphic>
      </p:graphicFrame>
      <p:sp>
        <p:nvSpPr>
          <p:cNvPr id="8" name="">
            <a:extLst>
              <a:ext uri="{FF2B5EF4-FFF2-40B4-BE49-F238E27FC236}">
                <ns2:creationId id="{50E83A2E-1599-45F0-AE63-E49419CB644D}"/>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A132B99D-62D0-4639-AE9C-3D30EECF814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0372B51D-49A8-4D57-B0F8-41845595C6A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3BCF7BEE-598B-4D42-939C-30FEE545380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F7797CF1-024B-4A0C-8152-EFE98F90D0C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028</a:t>
            </a:r>
          </a:p>
        </p:txBody>
      </p:sp>
    </p:spTree>
    <p:extLst>
      <p:ext uri="{BB962C8B-B14F-4D97-AF65-F5344CB8AC3E}">
        <ns4:creationId val="1799501010"/>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3" name="">
            <a:extLst>
              <a:ext uri="{FF2B5EF4-FFF2-40B4-BE49-F238E27FC236}">
                <ns2:creationId id="{E788FAC0-A3D6-4C32-9B1C-E419733D755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7352E364-AE20-4404-A09B-EB4A48AC90F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LED 전류 계산 예제</a:t>
            </a:r>
          </a:p>
        </p:txBody>
      </p:sp>
      <p:sp>
        <p:nvSpPr>
          <p:cNvPr id="3" name="">
            <a:extLst>
              <a:ext uri="{FF2B5EF4-FFF2-40B4-BE49-F238E27FC236}">
                <ns2:creationId id="{66F4DC28-B3D3-45A0-97FA-633962B34424}"/>
              </a:ext>
            </a:extLst>
          </p:cNvPr>
          <p:cNvSpPr>
            <a:spLocks noGrp="1"/>
          </p:cNvSpPr>
          <p:nvPr/>
        </p:nvSpPr>
        <p:spPr>
          <a:xfrm>
            <a:off x="685800" y="1809750"/>
            <a:ext cx="10820400" cy="2542794"/>
          </a:xfrm>
          <a:prstGeom prst="rect">
            <a:avLst/>
          </a:prstGeom>
          <a:solidFill>
            <a:srgbClr val="F1F6F5"/>
          </a:solidFill>
          <a:ln w="0">
            <a:noFill/>
          </a:ln>
        </p:spPr>
      </p:sp>
      <p:sp>
        <p:nvSpPr>
          <p:cNvPr id="4" name="">
            <a:extLst>
              <a:ext uri="{FF2B5EF4-FFF2-40B4-BE49-F238E27FC236}">
                <ns2:creationId id="{4AFE5B8D-EA6A-4F97-8363-C48F1C1A31CF}"/>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4FE2A2F4-5090-435D-BC95-D64B3D8134F5}"/>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supply_v = 3.3</a:t>
            </a:r>
          </a:p>
        </p:txBody>
      </p:sp>
      <p:sp>
        <p:nvSpPr>
          <p:cNvPr id="6" name="">
            <a:extLst>
              <a:ext uri="{FF2B5EF4-FFF2-40B4-BE49-F238E27FC236}">
                <ns2:creationId id="{ED9CFBEC-8FE2-4BD6-B054-184A18540E2B}"/>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0A40DCB0-6869-4DAC-8F98-51F742D88AA9}"/>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led_v = 2.0</a:t>
            </a:r>
          </a:p>
        </p:txBody>
      </p:sp>
      <p:sp>
        <p:nvSpPr>
          <p:cNvPr id="8" name="">
            <a:extLst>
              <a:ext uri="{FF2B5EF4-FFF2-40B4-BE49-F238E27FC236}">
                <ns2:creationId id="{A29EFFB6-9797-42EC-8C75-2D252514CBA8}"/>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BE453D83-DED4-4826-994D-25A48B12C968}"/>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resistance_ohm = 330</a:t>
            </a:r>
          </a:p>
        </p:txBody>
      </p:sp>
      <p:sp>
        <p:nvSpPr>
          <p:cNvPr id="10" name="">
            <a:extLst>
              <a:ext uri="{FF2B5EF4-FFF2-40B4-BE49-F238E27FC236}">
                <ns2:creationId id="{ECF5EEF2-1B92-4AC3-BF4E-14569CAE5B33}"/>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DD8B4ACF-CD6C-4DF1-B135-DBFF3E8E39A9}"/>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if resistance_ohm &lt;= 0 or supply_v &lt; led_v:</a:t>
            </a:r>
          </a:p>
        </p:txBody>
      </p:sp>
      <p:sp>
        <p:nvSpPr>
          <p:cNvPr id="12" name="">
            <a:extLst>
              <a:ext uri="{FF2B5EF4-FFF2-40B4-BE49-F238E27FC236}">
                <ns2:creationId id="{C4A0056D-E0C0-49DC-93AB-FDB671DF7FA5}"/>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A2056B4B-0971-45BA-86E1-B44807EBADBC}"/>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raise ValueError("check assumptions")</a:t>
            </a:r>
          </a:p>
        </p:txBody>
      </p:sp>
      <p:sp>
        <p:nvSpPr>
          <p:cNvPr id="14" name="">
            <a:extLst>
              <a:ext uri="{FF2B5EF4-FFF2-40B4-BE49-F238E27FC236}">
                <ns2:creationId id="{FCF4C21C-A990-4C94-BC74-A64011B9D393}"/>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6FFA5F81-3FAA-4A34-ACB0-B12D47B0C87C}"/>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current_ma = (supply_v - led_v) / resistance_ohm * 1000</a:t>
            </a:r>
          </a:p>
        </p:txBody>
      </p:sp>
      <p:sp>
        <p:nvSpPr>
          <p:cNvPr id="16" name="">
            <a:extLst>
              <a:ext uri="{FF2B5EF4-FFF2-40B4-BE49-F238E27FC236}">
                <ns2:creationId id="{73F119DA-01F0-4BA8-B34F-4B415BF95BFE}"/>
              </a:ext>
            </a:extLst>
          </p:cNvPr>
          <p:cNvSpPr>
            <a:spLocks noGrp="1"/>
          </p:cNvSpPr>
          <p:nvPr/>
        </p:nvSpPr>
        <p:spPr>
          <a:xfrm>
            <a:off x="828675" y="387362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07</a:t>
            </a:r>
          </a:p>
        </p:txBody>
      </p:sp>
      <p:sp>
        <p:nvSpPr>
          <p:cNvPr id="17" name="">
            <a:extLst>
              <a:ext uri="{FF2B5EF4-FFF2-40B4-BE49-F238E27FC236}">
                <ns2:creationId id="{C86A8640-FAA1-4D2A-B0D4-990A7DD2CA75}"/>
              </a:ext>
            </a:extLst>
          </p:cNvPr>
          <p:cNvSpPr>
            <a:spLocks noGrp="1"/>
          </p:cNvSpPr>
          <p:nvPr/>
        </p:nvSpPr>
        <p:spPr>
          <a:xfrm>
            <a:off x="1276350" y="383552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print(round(current_ma, 2))</a:t>
            </a:r>
          </a:p>
        </p:txBody>
      </p:sp>
      <p:sp>
        <p:nvSpPr>
          <p:cNvPr id="18" name="">
            <a:extLst>
              <a:ext uri="{FF2B5EF4-FFF2-40B4-BE49-F238E27FC236}">
                <ns2:creationId id="{89D3547E-8B42-4703-8771-79E1AFC95E4C}"/>
              </a:ext>
            </a:extLst>
          </p:cNvPr>
          <p:cNvSpPr>
            <a:spLocks noGrp="1"/>
          </p:cNvSpPr>
          <p:nvPr/>
        </p:nvSpPr>
        <p:spPr>
          <a:xfrm>
            <a:off x="685800" y="6172200"/>
            <a:ext cx="10820400" cy="9525"/>
          </a:xfrm>
          <a:prstGeom prst="rect">
            <a:avLst/>
          </a:prstGeom>
          <a:solidFill>
            <a:srgbClr val="D5DEDD"/>
          </a:solidFill>
          <a:ln w="0">
            <a:noFill/>
          </a:ln>
        </p:spPr>
      </p:sp>
      <p:sp>
        <p:nvSpPr>
          <p:cNvPr id="19" name="">
            <a:extLst>
              <a:ext uri="{FF2B5EF4-FFF2-40B4-BE49-F238E27FC236}">
                <ns2:creationId id="{B9DF79EC-3F08-4927-9EC3-81AAEEE4110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0" name="">
            <a:extLst>
              <a:ext uri="{FF2B5EF4-FFF2-40B4-BE49-F238E27FC236}">
                <ns2:creationId id="{4637D100-3B36-41C3-BC21-AC801A0E1B5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1" name="">
            <a:extLst>
              <a:ext uri="{FF2B5EF4-FFF2-40B4-BE49-F238E27FC236}">
                <ns2:creationId id="{F5C0C136-6AD5-4201-A65D-DD9BC8C4FAE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2" name="">
            <a:extLst>
              <a:ext uri="{FF2B5EF4-FFF2-40B4-BE49-F238E27FC236}">
                <ns2:creationId id="{220FA407-9CC1-4921-B2B2-7F7DA029B3C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029</a:t>
            </a:r>
          </a:p>
        </p:txBody>
      </p:sp>
    </p:spTree>
    <p:extLst>
      <p:ext uri="{BB962C8B-B14F-4D97-AF65-F5344CB8AC3E}">
        <ns4:creationId val="1594205441"/>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D9289384-8F0E-4BDD-909B-2F750F88618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4716D913-7212-4909-BA3D-C0A0FA8D59C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코드의 줄별 역할</a:t>
            </a:r>
          </a:p>
        </p:txBody>
      </p:sp>
      <p:sp>
        <p:nvSpPr>
          <p:cNvPr id="3" name="">
            <a:extLst>
              <a:ext uri="{FF2B5EF4-FFF2-40B4-BE49-F238E27FC236}">
                <ns2:creationId id="{E9D96D4F-0120-4D11-8DE9-9357CC46208B}"/>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1~3행: 공급·LED 강하·저항을 정합니다.</a:t>
            </a:r>
          </a:p>
        </p:txBody>
      </p:sp>
      <p:sp>
        <p:nvSpPr>
          <p:cNvPr id="4" name="">
            <a:extLst>
              <a:ext uri="{FF2B5EF4-FFF2-40B4-BE49-F238E27FC236}">
                <ns2:creationId id="{89918429-18C7-42E6-B2B3-A35B464B8E34}"/>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4~5행: 계산 가정을 검사합니다.</a:t>
            </a:r>
          </a:p>
        </p:txBody>
      </p:sp>
      <p:sp>
        <p:nvSpPr>
          <p:cNvPr id="5" name="">
            <a:extLst>
              <a:ext uri="{FF2B5EF4-FFF2-40B4-BE49-F238E27FC236}">
                <ns2:creationId id="{A7375BF7-27E3-4A1A-95DA-616C15D9A283}"/>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6행: 저항 전압으로 전류를 구합니다.</a:t>
            </a:r>
          </a:p>
        </p:txBody>
      </p:sp>
      <p:sp>
        <p:nvSpPr>
          <p:cNvPr id="6" name="">
            <a:extLst>
              <a:ext uri="{FF2B5EF4-FFF2-40B4-BE49-F238E27FC236}">
                <ns2:creationId id="{3B520CC6-33BE-4CDD-9A4C-EA157CE559A0}"/>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7행: mA를 출력합니다.</a:t>
            </a:r>
          </a:p>
        </p:txBody>
      </p:sp>
      <p:sp>
        <p:nvSpPr>
          <p:cNvPr id="7" name="">
            <a:extLst>
              <a:ext uri="{FF2B5EF4-FFF2-40B4-BE49-F238E27FC236}">
                <ns2:creationId id="{ABBDB5CA-1596-454E-8A50-98C48DF2034A}"/>
              </a:ext>
            </a:extLst>
          </p:cNvPr>
          <p:cNvSpPr>
            <a:spLocks noGrp="1"/>
          </p:cNvSpPr>
          <p:nvPr/>
        </p:nvSpPr>
        <p:spPr>
          <a:xfrm>
            <a:off x="685800" y="4338447"/>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코드 29번의 입력과 출력 32번을 함께 봅니다.</a:t>
            </a:r>
          </a:p>
        </p:txBody>
      </p:sp>
      <p:sp>
        <p:nvSpPr>
          <p:cNvPr id="8" name="">
            <a:extLst>
              <a:ext uri="{FF2B5EF4-FFF2-40B4-BE49-F238E27FC236}">
                <ns2:creationId id="{AD8AD846-BE93-4868-B926-2F1AABD89D36}"/>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35050098-FF47-4292-AAB6-C05A83D4521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7AB8FDA4-ED22-41B6-B635-19A743D7B90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E2CFE564-7627-4782-909C-B60C88D113A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CB2557D9-BFA8-43EC-9B57-67B4FED9049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030</a:t>
            </a:r>
          </a:p>
        </p:txBody>
      </p:sp>
    </p:spTree>
    <p:extLst>
      <p:ext uri="{BB962C8B-B14F-4D97-AF65-F5344CB8AC3E}">
        <ns4:creationId val="1174388450"/>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F4151270-80C0-4BF5-939B-70CC74C03FA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D35821B7-38A3-4CDA-9220-F2E15DC2878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학생 파일과 실행 명령</a:t>
            </a:r>
          </a:p>
        </p:txBody>
      </p:sp>
      <p:sp>
        <p:nvSpPr>
          <p:cNvPr id="3" name="">
            <a:extLst>
              <a:ext uri="{FF2B5EF4-FFF2-40B4-BE49-F238E27FC236}">
                <ns2:creationId id="{F7CBA0F6-0B08-4F1F-ABD1-DD15AB88FCAB}"/>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현재 폴더: 압축을 푼 course</a:t>
            </a:r>
          </a:p>
        </p:txBody>
      </p:sp>
      <p:sp>
        <p:nvSpPr>
          <p:cNvPr id="4" name="">
            <a:extLst>
              <a:ext uri="{FF2B5EF4-FFF2-40B4-BE49-F238E27FC236}">
                <ns2:creationId id="{FD1F8F23-B8B9-4B28-A60B-BAF751C13F40}"/>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학생 파일: work/05_led_calculation.py</a:t>
            </a:r>
          </a:p>
        </p:txBody>
      </p:sp>
      <p:sp>
        <p:nvSpPr>
          <p:cNvPr id="5" name="">
            <a:extLst>
              <a:ext uri="{FF2B5EF4-FFF2-40B4-BE49-F238E27FC236}">
                <ns2:creationId id="{2C0AD527-83DF-4A9C-B80B-8BB6EAF6DADA}"/>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python -X utf8 work/05_led_calculation.py</a:t>
            </a:r>
          </a:p>
        </p:txBody>
      </p:sp>
      <p:sp>
        <p:nvSpPr>
          <p:cNvPr id="6" name="">
            <a:extLst>
              <a:ext uri="{FF2B5EF4-FFF2-40B4-BE49-F238E27FC236}">
                <ns2:creationId id="{D973664F-F867-4603-A177-2951E417BCCC}"/>
              </a:ext>
            </a:extLst>
          </p:cNvPr>
          <p:cNvSpPr>
            <a:spLocks noGrp="1"/>
          </p:cNvSpPr>
          <p:nvPr/>
        </p:nvSpPr>
        <p:spPr>
          <a:xfrm>
            <a:off x="685800" y="379437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코드 29번의 입력과 출력 32번을 함께 봅니다.</a:t>
            </a:r>
          </a:p>
        </p:txBody>
      </p:sp>
      <p:sp>
        <p:nvSpPr>
          <p:cNvPr id="7" name="">
            <a:extLst>
              <a:ext uri="{FF2B5EF4-FFF2-40B4-BE49-F238E27FC236}">
                <ns2:creationId id="{AA138531-F292-419F-B3C7-31DCB2DCF221}"/>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0732F10F-EE10-4470-A049-BC1D6B66C34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A6373448-51D9-46D1-B249-31B95E084C0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400B98CD-022C-4940-9CEE-B3F3A587E57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AC6C6750-B93E-46C6-B83E-95C40A6D897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031</a:t>
            </a:r>
          </a:p>
        </p:txBody>
      </p:sp>
    </p:spTree>
    <p:extLst>
      <p:ext uri="{BB962C8B-B14F-4D97-AF65-F5344CB8AC3E}">
        <ns4:creationId val="1242401697"/>
      </p:ext>
    </p:extLst>
  </p:cSld>
</p:sld>
</file>

<file path=ppt/slides/slide3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F772B51A-8B9D-4B91-B17C-D1730274D9C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8DEE2598-D444-4881-A12E-889257C7A4B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a:t>
            </a:r>
          </a:p>
        </p:txBody>
      </p:sp>
      <p:sp>
        <p:nvSpPr>
          <p:cNvPr id="3" name="">
            <a:extLst>
              <a:ext uri="{FF2B5EF4-FFF2-40B4-BE49-F238E27FC236}">
                <ns2:creationId id="{F9F5F760-CDEE-46B7-BC4A-62F32B23B11F}"/>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LED 직렬 회로</a:t>
            </a:r>
          </a:p>
        </p:txBody>
      </p:sp>
      <p:sp>
        <p:nvSpPr>
          <p:cNvPr id="4" name="">
            <a:extLst>
              <a:ext uri="{FF2B5EF4-FFF2-40B4-BE49-F238E27FC236}">
                <ns2:creationId id="{FEA67FC5-0055-438E-97B6-6384EA8FC060}"/>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(3.3−2.0)÷330×1000</a:t>
            </a:r>
          </a:p>
        </p:txBody>
      </p:sp>
      <p:sp>
        <p:nvSpPr>
          <p:cNvPr id="5" name="">
            <a:extLst>
              <a:ext uri="{FF2B5EF4-FFF2-40B4-BE49-F238E27FC236}">
                <ns2:creationId id="{E7645CD4-1ACE-430D-81AF-EBAF08C85C7F}"/>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LED 계산 결과</a:t>
            </a:r>
          </a:p>
        </p:txBody>
      </p:sp>
      <p:sp>
        <p:nvSpPr>
          <p:cNvPr id="6" name="">
            <a:extLst>
              <a:ext uri="{FF2B5EF4-FFF2-40B4-BE49-F238E27FC236}">
                <ns2:creationId id="{258F08F1-3442-4616-8F95-1ABDE9BE2269}"/>
              </a:ext>
            </a:extLst>
          </p:cNvPr>
          <p:cNvSpPr>
            <a:spLocks noGrp="1"/>
          </p:cNvSpPr>
          <p:nvPr/>
        </p:nvSpPr>
        <p:spPr>
          <a:xfrm>
            <a:off x="6400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가정 전류: 3.94mA</a:t>
            </a:r>
          </a:p>
        </p:txBody>
      </p:sp>
      <p:sp>
        <p:nvSpPr>
          <p:cNvPr id="7" name="">
            <a:extLst>
              <a:ext uri="{FF2B5EF4-FFF2-40B4-BE49-F238E27FC236}">
                <ns2:creationId id="{D3FF5494-BF4B-4EA5-96D6-2CB206703DC1}"/>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6B4FBA5C-4A3F-448D-A27C-49E982B5C5D3}"/>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저항만 연결한 10mA와 다릅니다.</a:t>
            </a:r>
          </a:p>
        </p:txBody>
      </p:sp>
      <p:sp>
        <p:nvSpPr>
          <p:cNvPr id="9" name="">
            <a:extLst>
              <a:ext uri="{FF2B5EF4-FFF2-40B4-BE49-F238E27FC236}">
                <ns2:creationId id="{8BCF8146-FDBD-4B43-9BEA-B2BEFEE10EA5}"/>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34331C94-4EA5-496A-A39F-444AC94B5F9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C1E8A4CD-7F4F-4E15-8793-7E51652B457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5CB4EBD2-A8C9-4D1E-870A-24C89CCF8A2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A12D7A0D-19E6-451F-B99D-25A97CCE088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032</a:t>
            </a:r>
          </a:p>
        </p:txBody>
      </p:sp>
    </p:spTree>
    <p:extLst>
      <p:ext uri="{BB962C8B-B14F-4D97-AF65-F5344CB8AC3E}">
        <ns4:creationId val="1417494966"/>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01175AE3-51E0-4B8E-808B-4FE28ACED05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8014A631-A8C0-48E1-830B-9A8883AD74C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연습 문제</a:t>
            </a:r>
          </a:p>
        </p:txBody>
      </p:sp>
      <p:sp>
        <p:nvSpPr>
          <p:cNvPr id="3" name="">
            <a:extLst>
              <a:ext uri="{FF2B5EF4-FFF2-40B4-BE49-F238E27FC236}">
                <ns2:creationId id="{B608E2A5-FB30-44E5-A8F9-151E3B0FDA03}"/>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공급 3.3V · LED 가정 1.8V · 저항 500Ω</a:t>
            </a:r>
          </a:p>
        </p:txBody>
      </p:sp>
      <p:sp>
        <p:nvSpPr>
          <p:cNvPr id="4" name="">
            <a:extLst>
              <a:ext uri="{FF2B5EF4-FFF2-40B4-BE49-F238E27FC236}">
                <ns2:creationId id="{E9E54EA8-2AE5-41DA-AA3B-EFE91C9E49D2}"/>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계산 전류와 GPIO 연결 조건을 쓰세요.</a:t>
            </a:r>
          </a:p>
        </p:txBody>
      </p:sp>
      <p:sp>
        <p:nvSpPr>
          <p:cNvPr id="5" name="">
            <a:extLst>
              <a:ext uri="{FF2B5EF4-FFF2-40B4-BE49-F238E27FC236}">
                <ns2:creationId id="{8B10D9E5-C8BD-4A6D-9AE8-0C07C1E9566D}"/>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99958A89-CDAD-4F08-8D62-73999CA75429}"/>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A5CD25B2-F9BF-454A-9458-C81F086D65C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07C7462F-FF94-4FD6-9676-CF2C8DB76EE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B3DE093D-64B8-4014-8D46-8017294D428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85C54E9A-BFB4-45E4-9507-C6B08E2566F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033</a:t>
            </a:r>
          </a:p>
        </p:txBody>
      </p:sp>
    </p:spTree>
    <p:extLst>
      <p:ext uri="{BB962C8B-B14F-4D97-AF65-F5344CB8AC3E}">
        <ns4:creationId val="1880002012"/>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35EDF24E-29DC-4769-A079-229FD533AA3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D1FF21E7-40B6-413D-9C90-2C973073DF1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정답과 풀이</a:t>
            </a:r>
          </a:p>
        </p:txBody>
      </p:sp>
      <p:sp>
        <p:nvSpPr>
          <p:cNvPr id="3" name="">
            <a:extLst>
              <a:ext uri="{FF2B5EF4-FFF2-40B4-BE49-F238E27FC236}">
                <ns2:creationId id="{0196F3FA-8536-4266-8748-655DB4970268}"/>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저항 전압: 1.5V</a:t>
            </a:r>
          </a:p>
        </p:txBody>
      </p:sp>
      <p:sp>
        <p:nvSpPr>
          <p:cNvPr id="4" name="">
            <a:extLst>
              <a:ext uri="{FF2B5EF4-FFF2-40B4-BE49-F238E27FC236}">
                <ns2:creationId id="{B5D416CA-E698-4021-8C46-06BB5917C5A8}"/>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전류: 3mA</a:t>
            </a:r>
          </a:p>
        </p:txBody>
      </p:sp>
      <p:sp>
        <p:nvSpPr>
          <p:cNvPr id="5" name="">
            <a:extLst>
              <a:ext uri="{FF2B5EF4-FFF2-40B4-BE49-F238E27FC236}">
                <ns2:creationId id="{7ECFE586-1DAF-4C79-9D71-0D095A35A458}"/>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연결해도 되는지는 보드와 부품의 정격 문서로 확인합니다.</a:t>
            </a:r>
          </a:p>
        </p:txBody>
      </p:sp>
      <p:sp>
        <p:nvSpPr>
          <p:cNvPr id="6" name="">
            <a:extLst>
              <a:ext uri="{FF2B5EF4-FFF2-40B4-BE49-F238E27FC236}">
                <ns2:creationId id="{9373E485-0202-4185-A3F8-DC43E0EDFAF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8C63AFE1-8E5C-443C-A1D8-1FAA8232A72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ED9BFB3B-58AC-434A-A74D-059549951AE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130DB33F-9A1E-4F4E-8BB2-391330A2391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FDD1CBCA-B9CE-4471-B3FC-476B56E2B67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034</a:t>
            </a:r>
          </a:p>
        </p:txBody>
      </p:sp>
    </p:spTree>
    <p:extLst>
      <p:ext uri="{BB962C8B-B14F-4D97-AF65-F5344CB8AC3E}">
        <ns4:creationId val="1674610574"/>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EE6BBA35-9447-4632-BF89-6434FA579A9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BF785AE5-5882-48AE-A196-74436D68C5E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값 바꾸기</a:t>
            </a:r>
          </a:p>
        </p:txBody>
      </p:sp>
      <p:sp>
        <p:nvSpPr>
          <p:cNvPr id="3" name="">
            <a:extLst>
              <a:ext uri="{FF2B5EF4-FFF2-40B4-BE49-F238E27FC236}">
                <ns2:creationId id="{CDB29B28-2229-408D-8385-86A6F0948549}"/>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저항을 660Ω으로 바꿉니다.</a:t>
            </a:r>
          </a:p>
        </p:txBody>
      </p:sp>
      <p:sp>
        <p:nvSpPr>
          <p:cNvPr id="4" name="">
            <a:extLst>
              <a:ext uri="{FF2B5EF4-FFF2-40B4-BE49-F238E27FC236}">
                <ns2:creationId id="{259647C5-2770-4C10-96BD-0539897DC075}"/>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계산 전류는 약 1.97mA입니다.</a:t>
            </a:r>
          </a:p>
        </p:txBody>
      </p:sp>
      <p:sp>
        <p:nvSpPr>
          <p:cNvPr id="5" name="">
            <a:extLst>
              <a:ext uri="{FF2B5EF4-FFF2-40B4-BE49-F238E27FC236}">
                <ns2:creationId id="{425293F6-C4F0-4490-A18C-2A7F9EFC1D68}"/>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B0CE8C60-20B4-41E8-BF97-FF96B0CEE85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9436262F-CFF0-447E-9858-FCEF7172FF3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849CD4CA-AC94-4EA3-8996-94F8E98AECE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B5FA23F9-9B61-4B92-A0AE-8D2C3CDA58A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035</a:t>
            </a:r>
          </a:p>
        </p:txBody>
      </p:sp>
    </p:spTree>
    <p:extLst>
      <p:ext uri="{BB962C8B-B14F-4D97-AF65-F5344CB8AC3E}">
        <ns4:creationId val="602655584"/>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4B2E29E6-F69E-4718-B6F0-D031353DF67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C2E30445-063E-472C-BA21-53719887CA3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오류 원인과 복구</a:t>
            </a:r>
          </a:p>
        </p:txBody>
      </p:sp>
      <p:sp>
        <p:nvSpPr>
          <p:cNvPr id="3" name="">
            <a:extLst>
              <a:ext uri="{FF2B5EF4-FFF2-40B4-BE49-F238E27FC236}">
                <ns2:creationId id="{EBE7B35C-5D0A-46C9-B1B0-689D83D9EB4B}"/>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저항 없이 LED를 바로 연결하지 않습니다.</a:t>
            </a:r>
          </a:p>
        </p:txBody>
      </p:sp>
      <p:sp>
        <p:nvSpPr>
          <p:cNvPr id="4" name="">
            <a:extLst>
              <a:ext uri="{FF2B5EF4-FFF2-40B4-BE49-F238E27FC236}">
                <ns2:creationId id="{5F8D7490-FC39-4F00-A80E-E347BEA997AA}"/>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모델·극성·정격을 확인할 때까지 연결하지 않습니다.</a:t>
            </a:r>
          </a:p>
        </p:txBody>
      </p:sp>
      <p:sp>
        <p:nvSpPr>
          <p:cNvPr id="5" name="">
            <a:extLst>
              <a:ext uri="{FF2B5EF4-FFF2-40B4-BE49-F238E27FC236}">
                <ns2:creationId id="{D971F7B2-7004-4D97-BE68-E581393A1F9A}"/>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43AA860F-90E2-42CD-9ED7-6F2CC27AEB7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BB74DDE0-EEC1-44EA-9C9F-533293EF77B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6F6F951F-BF30-4897-8A32-AC7081BE99D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F3B3F894-45A3-43F5-9A99-6BAE52519AE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036</a:t>
            </a:r>
          </a:p>
        </p:txBody>
      </p:sp>
    </p:spTree>
    <p:extLst>
      <p:ext uri="{BB962C8B-B14F-4D97-AF65-F5344CB8AC3E}">
        <ns4:creationId val="1166981642"/>
      </p:ext>
    </p:extLst>
  </p:cSld>
</p:sld>
</file>

<file path=ppt/slides/slide3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8B051436-FC21-4E92-A63E-72E2C65F323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6E4A29B6-A3C8-4453-9A86-D3D67FDAFF1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확인 질문</a:t>
            </a:r>
          </a:p>
        </p:txBody>
      </p:sp>
      <p:sp>
        <p:nvSpPr>
          <p:cNvPr id="3" name="">
            <a:extLst>
              <a:ext uri="{FF2B5EF4-FFF2-40B4-BE49-F238E27FC236}">
                <ns2:creationId id="{CCCFAF4C-56C4-44AA-856C-472CCBBE4A46}"/>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LED의 2.0V는 무엇을 뜻하나요?</a:t>
            </a:r>
          </a:p>
        </p:txBody>
      </p:sp>
      <p:sp>
        <p:nvSpPr>
          <p:cNvPr id="4" name="">
            <a:extLst>
              <a:ext uri="{FF2B5EF4-FFF2-40B4-BE49-F238E27FC236}">
                <ns2:creationId id="{C89A9AD4-F326-4191-84FA-C24B81B25A70}"/>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계산값만 보고 연결하면 안 되는 이유를 설명합니다.</a:t>
            </a:r>
          </a:p>
        </p:txBody>
      </p:sp>
      <p:sp>
        <p:nvSpPr>
          <p:cNvPr id="5" name="">
            <a:extLst>
              <a:ext uri="{FF2B5EF4-FFF2-40B4-BE49-F238E27FC236}">
                <ns2:creationId id="{3EF89ADF-7B8F-4FD9-92FD-1FDB573662B7}"/>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14B1EFF6-C99E-4857-BDAA-C9C9C17B759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C8EA9C13-FCB0-47C9-8DFE-024AEAA0BAD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C08ECBB6-EEF9-4A82-BAB4-14790268016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E1984BF9-EAD7-4E1E-AFC4-4E8AAFE5DC1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DFFFE013-8F39-4984-B53C-E75E3B396C2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037</a:t>
            </a:r>
          </a:p>
        </p:txBody>
      </p:sp>
    </p:spTree>
    <p:extLst>
      <p:ext uri="{BB962C8B-B14F-4D97-AF65-F5344CB8AC3E}">
        <ns4:creationId val="1618172171"/>
      </p:ext>
    </p:extLst>
  </p:cSld>
</p:sld>
</file>

<file path=ppt/slides/slide3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0FADCB64-69F3-4752-9444-B6BE1E46B67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167A0A28-A004-42C9-8BBC-F69DAAC6926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추가·복습 문제</a:t>
            </a:r>
          </a:p>
        </p:txBody>
      </p:sp>
      <p:sp>
        <p:nvSpPr>
          <p:cNvPr id="3" name="">
            <a:extLst>
              <a:ext uri="{FF2B5EF4-FFF2-40B4-BE49-F238E27FC236}">
                <ns2:creationId id="{52B6CEB5-6F1A-49A8-9213-4C59153880B2}"/>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추가·도전: 목표 전류 5mA 가정</a:t>
            </a:r>
          </a:p>
        </p:txBody>
      </p:sp>
      <p:sp>
        <p:nvSpPr>
          <p:cNvPr id="4" name="">
            <a:extLst>
              <a:ext uri="{FF2B5EF4-FFF2-40B4-BE49-F238E27FC236}">
                <ns2:creationId id="{BADE7FBD-9389-43BE-A9F7-6624E29FE6AE}"/>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이상적 저항 260Ω과 실제 선택을 구분하세요.</a:t>
            </a:r>
          </a:p>
        </p:txBody>
      </p:sp>
      <p:sp>
        <p:nvSpPr>
          <p:cNvPr id="5" name="">
            <a:extLst>
              <a:ext uri="{FF2B5EF4-FFF2-40B4-BE49-F238E27FC236}">
                <ns2:creationId id="{04A482C3-1C7A-476D-AACE-8573B6B05AC0}"/>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A792EA02-1133-4549-A89F-86D0C519B50E}"/>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F3E7315F-2D0D-4306-99A9-1792735A7F4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F26ED600-DDAE-4E06-B81F-F21A6784EAA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DF8FCFC1-9D1A-46D0-89E1-1B02D44D1F1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A5263D3A-F79C-4012-82AD-AC8678A593F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038</a:t>
            </a:r>
          </a:p>
        </p:txBody>
      </p:sp>
    </p:spTree>
    <p:extLst>
      <p:ext uri="{BB962C8B-B14F-4D97-AF65-F5344CB8AC3E}">
        <ns4:creationId val="728436508"/>
      </p:ext>
    </p:extLst>
  </p:cSld>
</p:sld>
</file>

<file path=ppt/slides/slide3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86963C3C-6777-4F82-A4B7-87AF9647D2BE}"/>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3교시</a:t>
            </a:r>
          </a:p>
        </p:txBody>
      </p:sp>
      <p:sp>
        <p:nvSpPr>
          <p:cNvPr id="2" name="">
            <a:extLst>
              <a:ext uri="{FF2B5EF4-FFF2-40B4-BE49-F238E27FC236}">
                <ns2:creationId id="{B04BBA8B-5A4D-408E-9995-A0270A232B63}"/>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신호에서 숫자와 기록으로</a:t>
            </a:r>
          </a:p>
        </p:txBody>
      </p:sp>
      <p:sp>
        <p:nvSpPr>
          <p:cNvPr id="3" name="">
            <a:extLst>
              <a:ext uri="{FF2B5EF4-FFF2-40B4-BE49-F238E27FC236}">
                <ns2:creationId id="{BCD1A94A-3684-48FF-BBB0-D3DDC84CEBF7}"/>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13:00~13:50 · 50분</a:t>
            </a:r>
          </a:p>
        </p:txBody>
      </p:sp>
      <p:sp>
        <p:nvSpPr>
          <p:cNvPr id="4" name="">
            <a:extLst>
              <a:ext uri="{FF2B5EF4-FFF2-40B4-BE49-F238E27FC236}">
                <ns2:creationId id="{06432E51-8440-4C98-B9CF-3B37E55FC68E}"/>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A07 · A08 · A09</a:t>
            </a:r>
          </a:p>
        </p:txBody>
      </p:sp>
      <p:sp>
        <p:nvSpPr>
          <p:cNvPr id="5" name="">
            <a:extLst>
              <a:ext uri="{FF2B5EF4-FFF2-40B4-BE49-F238E27FC236}">
                <ns2:creationId id="{88B0076A-0582-4132-A772-E91CB6CFAE4A}"/>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개념 설명 → 시연 → 직접 실습 → 확인</a:t>
            </a:r>
          </a:p>
        </p:txBody>
      </p:sp>
      <p:sp>
        <p:nvSpPr>
          <p:cNvPr id="6" name="">
            <a:extLst>
              <a:ext uri="{FF2B5EF4-FFF2-40B4-BE49-F238E27FC236}">
                <ns2:creationId id="{F538A483-125D-4AB2-868E-E68F4DC3370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64B7E696-5C0C-4EDC-81B9-8F76F553DE9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30E18E36-6FDB-4EC4-9FF9-9BE0667C113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A4917080-D7E6-4040-89C6-95A3AAFBA32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98E30435-B720-460F-81DF-EA814E56A98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039</a:t>
            </a:r>
          </a:p>
        </p:txBody>
      </p:sp>
    </p:spTree>
    <p:extLst>
      <p:ext uri="{BB962C8B-B14F-4D97-AF65-F5344CB8AC3E}">
        <ns4:creationId val="1364447795"/>
      </p:ext>
    </p:extLst>
  </p:cSld>
</p:sld>
</file>

<file path=ppt/slides/slide4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9E1CBDC6-D3D2-442D-9824-B7E548BA66D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27DB443F-ADA2-44E6-BF09-11F0C02CABC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아날로그 신호와 ADC</a:t>
            </a:r>
          </a:p>
        </p:txBody>
      </p:sp>
      <p:sp>
        <p:nvSpPr>
          <p:cNvPr id="3" name="">
            <a:extLst>
              <a:ext uri="{FF2B5EF4-FFF2-40B4-BE49-F238E27FC236}">
                <ns2:creationId id="{C4E5EAE1-CDB7-4571-9C1F-C668BC3E87B3}"/>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아날로그 신호와 ADC</a:t>
            </a:r>
          </a:p>
        </p:txBody>
      </p:sp>
      <p:sp>
        <p:nvSpPr>
          <p:cNvPr id="4" name="">
            <a:extLst>
              <a:ext uri="{FF2B5EF4-FFF2-40B4-BE49-F238E27FC236}">
                <ns2:creationId id="{6DF72669-DEB4-4EB5-92B5-77274F7AB5E8}"/>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전압이 연속적으로 바뀔 수 있습니다.</a:t>
            </a:r>
          </a:p>
        </p:txBody>
      </p:sp>
      <p:sp>
        <p:nvSpPr>
          <p:cNvPr id="5" name="">
            <a:extLst>
              <a:ext uri="{FF2B5EF4-FFF2-40B4-BE49-F238E27FC236}">
                <ns2:creationId id="{27A83AFD-5901-4935-9FEA-0A0ABE90DCEA}"/>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ADC가 제한된 숫자 단계로 바꿉니다.</a:t>
            </a:r>
          </a:p>
        </p:txBody>
      </p:sp>
      <p:sp>
        <p:nvSpPr>
          <p:cNvPr id="6" name="">
            <a:extLst>
              <a:ext uri="{FF2B5EF4-FFF2-40B4-BE49-F238E27FC236}">
                <ns2:creationId id="{B022F1BE-CDFA-4626-BF82-29399BBEBB96}"/>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이상적 ADC 예</a:t>
            </a:r>
          </a:p>
        </p:txBody>
      </p:sp>
      <p:graphicFrame>
        <p:nvGraphicFramePr>
          <p:cNvPr id="19" name=""/>
          <p:cNvGraphicFramePr/>
          <p:nvPr/>
        </p:nvGraphicFramePr>
        <p:xfrm>
          <a:off x="6267450" y="2628900"/>
          <a:ext cx="5238750" cy="1028700"/>
        </p:xfrm>
        <a:graphic>
          <a:graphicData uri="http://schemas.openxmlformats.org/drawingml/2006/table">
            <a:tbl>
              <a:tblPr firstRow="1" bandRow="0"/>
              <a:tblGrid>
                <a:gridCol w="1519987"/>
                <a:gridCol w="2111325"/>
                <a:gridCol w="1607438"/>
              </a:tblGrid>
              <a:tr h="514350">
                <a:tc>
                  <a:txBody>
                    <a:bodyPr wrap="square"/>
                    <a:lstStyle/>
                    <a:p>
                      <a:pPr>
                        <a:lnSpc>
                          <a:spcPct val="102000"/>
                        </a:lnSpc>
                        <a:buNone/>
                      </a:pPr>
                      <a:r>
                        <a:rPr sz="1875" b="1">
                          <a:solidFill>
                            <a:srgbClr val="172F39"/>
                          </a:solidFill>
                          <a:latin typeface="Noto Sans KR"/>
                          <a:ea typeface="Noto Sans KR"/>
                          <a:cs typeface="Noto Sans KR"/>
                        </a:rPr>
                        <a:t>입력 코드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환산식</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전압</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2048</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2048/4095×3.3</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약1.6504V</a:t>
                      </a:r>
                    </a:p>
                  </a:txBody>
                  <a:tcPr marL="114300" marR="114300" marT="76200" marB="76200" anchor="ctr">
                    <a:solidFill>
                      <a:srgbClr val="FFFFFF"/>
                    </a:solidFill>
                  </a:tcPr>
                </a:tc>
              </a:tr>
            </a:tbl>
          </a:graphicData>
        </a:graphic>
      </p:graphicFrame>
      <p:sp>
        <p:nvSpPr>
          <p:cNvPr id="8" name="">
            <a:extLst>
              <a:ext uri="{FF2B5EF4-FFF2-40B4-BE49-F238E27FC236}">
                <ns2:creationId id="{C6720CF1-3C90-433B-A5B1-1055484EEBF0}"/>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455FD4EA-36BC-4589-8391-71DE0A93E55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11CFB7D1-C2EC-48BD-9616-2C161C88BB2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0638DD3D-BD51-4800-B174-14D2F4CA43A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83C4530C-2F4C-4733-899C-5F2CED79C33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040</a:t>
            </a:r>
          </a:p>
        </p:txBody>
      </p:sp>
    </p:spTree>
    <p:extLst>
      <p:ext uri="{BB962C8B-B14F-4D97-AF65-F5344CB8AC3E}">
        <ns4:creationId val="1434979678"/>
      </p:ext>
    </p:extLst>
  </p:cSld>
</p:sld>
</file>

<file path=ppt/slides/slide4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E466BA7B-285B-43B9-ADFA-D1DB282517D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9C82EBD8-106F-4715-8367-54E3C8CE3AF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ADC 코드와 온도 단위</a:t>
            </a:r>
          </a:p>
        </p:txBody>
      </p:sp>
      <p:sp>
        <p:nvSpPr>
          <p:cNvPr id="3" name="">
            <a:extLst>
              <a:ext uri="{FF2B5EF4-FFF2-40B4-BE49-F238E27FC236}">
                <ns2:creationId id="{7E75987A-70E6-4889-97A3-FA8D7C7A0F26}"/>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ADC 코드와 온도 단위</a:t>
            </a:r>
          </a:p>
        </p:txBody>
      </p:sp>
      <p:sp>
        <p:nvSpPr>
          <p:cNvPr id="4" name="">
            <a:extLst>
              <a:ext uri="{FF2B5EF4-FFF2-40B4-BE49-F238E27FC236}">
                <ns2:creationId id="{C74B40D7-0A8C-4213-BE6B-2A2D3D869ABE}"/>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전압 환산과 센서 변환식이 필요합니다.</a:t>
            </a:r>
          </a:p>
        </p:txBody>
      </p:sp>
      <p:sp>
        <p:nvSpPr>
          <p:cNvPr id="5" name="">
            <a:extLst>
              <a:ext uri="{FF2B5EF4-FFF2-40B4-BE49-F238E27FC236}">
                <ns2:creationId id="{5045BD63-C439-4DEA-81D0-944168480DC2}"/>
              </a:ext>
            </a:extLst>
          </p:cNvPr>
          <p:cNvSpPr>
            <a:spLocks noGrp="1"/>
          </p:cNvSpPr>
          <p:nvPr/>
        </p:nvSpPr>
        <p:spPr>
          <a:xfrm>
            <a:off x="685800" y="31984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단위를 확인하고 기록합니다.</a:t>
            </a:r>
          </a:p>
        </p:txBody>
      </p:sp>
      <p:sp>
        <p:nvSpPr>
          <p:cNvPr id="6" name="">
            <a:extLst>
              <a:ext uri="{FF2B5EF4-FFF2-40B4-BE49-F238E27FC236}">
                <ns2:creationId id="{94D61F94-A579-4DBC-963D-573E598A5551}"/>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코드값은 온도 자체가 아님</a:t>
            </a:r>
          </a:p>
        </p:txBody>
      </p:sp>
      <p:sp>
        <p:nvSpPr>
          <p:cNvPr id="7" name="">
            <a:extLst>
              <a:ext uri="{FF2B5EF4-FFF2-40B4-BE49-F238E27FC236}">
                <ns2:creationId id="{A32F9740-389F-49CB-90E4-0132075C0C9E}"/>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2048 → 이상적 전압 약1.6504V</a:t>
            </a:r>
          </a:p>
        </p:txBody>
      </p:sp>
      <p:sp>
        <p:nvSpPr>
          <p:cNvPr id="8" name="">
            <a:extLst>
              <a:ext uri="{FF2B5EF4-FFF2-40B4-BE49-F238E27FC236}">
                <ns2:creationId id="{9D9E4296-F1B1-49ED-A586-69A190DFB3E5}"/>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온도로 바꾸려면 센서 변환식 필요</a:t>
            </a:r>
          </a:p>
        </p:txBody>
      </p:sp>
      <p:sp>
        <p:nvSpPr>
          <p:cNvPr id="9" name="">
            <a:extLst>
              <a:ext uri="{FF2B5EF4-FFF2-40B4-BE49-F238E27FC236}">
                <ns2:creationId id="{160A51E7-BED4-456B-8DBE-488E35148AA4}"/>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2F92FA95-69FF-4735-A970-0EDC3B55250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03119D86-08C0-4ECB-9768-62D1401F9B8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063BCBAB-2C89-4245-96F3-A0CA134896D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0013FF50-14F5-4596-A615-186A5D3F4C7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041</a:t>
            </a:r>
          </a:p>
        </p:txBody>
      </p:sp>
    </p:spTree>
    <p:extLst>
      <p:ext uri="{BB962C8B-B14F-4D97-AF65-F5344CB8AC3E}">
        <ns4:creationId val="1494725818"/>
      </p:ext>
    </p:extLst>
  </p:cSld>
</p:sld>
</file>

<file path=ppt/slides/slide4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6C74004E-CEF1-446C-810C-AED73C5196D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7787A13C-3427-4CAC-8CFC-AD7D9AC9D6C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이상적 ADC 환산 모델</a:t>
            </a:r>
          </a:p>
        </p:txBody>
      </p:sp>
      <p:sp>
        <p:nvSpPr>
          <p:cNvPr id="3" name="">
            <a:extLst>
              <a:ext uri="{FF2B5EF4-FFF2-40B4-BE49-F238E27FC236}">
                <ns2:creationId id="{C820CC3D-BB43-4789-943E-DF4CC0D2182C}"/>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이상적 ADC 환산 모델</a:t>
            </a:r>
          </a:p>
        </p:txBody>
      </p:sp>
      <p:sp>
        <p:nvSpPr>
          <p:cNvPr id="4" name="">
            <a:extLst>
              <a:ext uri="{FF2B5EF4-FFF2-40B4-BE49-F238E27FC236}">
                <ns2:creationId id="{539E8954-BEC8-4782-ADB7-982473E89914}"/>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가정: 0~3.3V ↔ 코드 0~4095</a:t>
            </a:r>
          </a:p>
        </p:txBody>
      </p:sp>
      <p:sp>
        <p:nvSpPr>
          <p:cNvPr id="5" name="">
            <a:extLst>
              <a:ext uri="{FF2B5EF4-FFF2-40B4-BE49-F238E27FC236}">
                <ns2:creationId id="{928BAC17-7668-4BF1-9882-5A9649F39F41}"/>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2048÷4095×3.3 ≈ 1.6504V</a:t>
            </a:r>
          </a:p>
        </p:txBody>
      </p:sp>
      <p:sp>
        <p:nvSpPr>
          <p:cNvPr id="6" name="">
            <a:extLst>
              <a:ext uri="{FF2B5EF4-FFF2-40B4-BE49-F238E27FC236}">
                <ns2:creationId id="{37315496-FA8C-444D-A7FB-908B2E1C35E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이상적 범위 가정</a:t>
            </a:r>
          </a:p>
        </p:txBody>
      </p:sp>
      <p:sp>
        <p:nvSpPr>
          <p:cNvPr id="7" name="">
            <a:extLst>
              <a:ext uri="{FF2B5EF4-FFF2-40B4-BE49-F238E27FC236}">
                <ns2:creationId id="{144FBEC9-CB9D-4696-88F9-6888EC5E4DC0}"/>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0~4095 ↔ 0~3.3V</a:t>
            </a:r>
          </a:p>
        </p:txBody>
      </p:sp>
      <p:sp>
        <p:nvSpPr>
          <p:cNvPr id="8" name="">
            <a:extLst>
              <a:ext uri="{FF2B5EF4-FFF2-40B4-BE49-F238E27FC236}">
                <ns2:creationId id="{21CF3FC0-C665-40BC-B82F-2FD439185C7E}"/>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2048/4095×3.3 ≈ 1.6504V</a:t>
            </a:r>
          </a:p>
        </p:txBody>
      </p:sp>
      <p:sp>
        <p:nvSpPr>
          <p:cNvPr id="9" name="">
            <a:extLst>
              <a:ext uri="{FF2B5EF4-FFF2-40B4-BE49-F238E27FC236}">
                <ns2:creationId id="{923FA8E0-9210-4BC1-AD2C-E7509F1D5A30}"/>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393348D5-E5BF-4D78-98C4-118D1ECB1DA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11D9F24E-6A7A-42F4-9556-BDA835CF3D0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581E402C-F40F-4A47-9D09-60B35B85B3E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9B3779C9-0BE4-4C9E-AE59-3DB94AD16A0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042</a:t>
            </a:r>
          </a:p>
        </p:txBody>
      </p:sp>
    </p:spTree>
    <p:extLst>
      <p:ext uri="{BB962C8B-B14F-4D97-AF65-F5344CB8AC3E}">
        <ns4:creationId val="1593721508"/>
      </p:ext>
    </p:extLst>
  </p:cSld>
</p:sld>
</file>

<file path=ppt/slides/slide4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39386B64-971E-4F25-AF49-DED1E9EE1F9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104C774A-20C4-40BE-8B96-ADCA1FB51A9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실물 ADC의 교정 조건</a:t>
            </a:r>
          </a:p>
        </p:txBody>
      </p:sp>
      <p:sp>
        <p:nvSpPr>
          <p:cNvPr id="3" name="">
            <a:extLst>
              <a:ext uri="{FF2B5EF4-FFF2-40B4-BE49-F238E27FC236}">
                <ns2:creationId id="{88591ABD-041B-4789-B08B-95C7AA139F2F}"/>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실물 ADC의 교정 조건</a:t>
            </a:r>
          </a:p>
        </p:txBody>
      </p:sp>
      <p:sp>
        <p:nvSpPr>
          <p:cNvPr id="4" name="">
            <a:extLst>
              <a:ext uri="{FF2B5EF4-FFF2-40B4-BE49-F238E27FC236}">
                <ns2:creationId id="{397CDD40-6075-4C0C-AEF9-343389E1CD70}"/>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분해능 설정 · 감쇠 · 오차 · 교정</a:t>
            </a:r>
          </a:p>
        </p:txBody>
      </p:sp>
      <p:sp>
        <p:nvSpPr>
          <p:cNvPr id="5" name="">
            <a:extLst>
              <a:ext uri="{FF2B5EF4-FFF2-40B4-BE49-F238E27FC236}">
                <ns2:creationId id="{40CB5D04-E1C8-45F2-A9A1-C034C493183C}"/>
              </a:ext>
            </a:extLst>
          </p:cNvPr>
          <p:cNvSpPr>
            <a:spLocks noGrp="1"/>
          </p:cNvSpPr>
          <p:nvPr/>
        </p:nvSpPr>
        <p:spPr>
          <a:xfrm>
            <a:off x="685800" y="286131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이상적 계산을 실물 교정값으로 쓰지 않습니다.</a:t>
            </a:r>
          </a:p>
        </p:txBody>
      </p:sp>
      <p:sp>
        <p:nvSpPr>
          <p:cNvPr id="6" name="">
            <a:extLst>
              <a:ext uri="{FF2B5EF4-FFF2-40B4-BE49-F238E27FC236}">
                <ns2:creationId id="{C42A496C-A667-4827-BA18-A5AA09C24771}"/>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실물 ADC 확인 항목</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666936"/>
                <a:gridCol w="2571814"/>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확인 목적</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분해능</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숫자 단계</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감쇠</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입력 범위</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오차·교정</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실제 환산</a:t>
                      </a:r>
                    </a:p>
                  </a:txBody>
                  <a:tcPr marL="114300" marR="114300" marT="76200" marB="76200" anchor="ctr">
                    <a:solidFill>
                      <a:srgbClr val="FFFFFF"/>
                    </a:solidFill>
                  </a:tcPr>
                </a:tc>
              </a:tr>
            </a:tbl>
          </a:graphicData>
        </a:graphic>
      </p:graphicFrame>
      <p:sp>
        <p:nvSpPr>
          <p:cNvPr id="8" name="">
            <a:extLst>
              <a:ext uri="{FF2B5EF4-FFF2-40B4-BE49-F238E27FC236}">
                <ns2:creationId id="{FDCB972B-0F4D-4975-8649-1032501D0DDA}"/>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F77D3C18-2734-4F91-AAB4-68424AC583F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D063F13E-CA89-4389-A3F6-1E8F440E8B1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48FBF754-E369-49F0-B159-8082986FE90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C3A80CF3-D6F8-441B-B12E-D47D5F6C8E8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043</a:t>
            </a:r>
          </a:p>
        </p:txBody>
      </p:sp>
    </p:spTree>
    <p:extLst>
      <p:ext uri="{BB962C8B-B14F-4D97-AF65-F5344CB8AC3E}">
        <ns4:creationId val="147002910"/>
      </p:ext>
    </p:extLst>
  </p:cSld>
</p:sld>
</file>

<file path=ppt/slides/slide4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9D43F1A5-D04F-4BB4-A4A0-1085AFA548A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B2E7631E-E38A-4E2C-BDF4-A8413E089CC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센서 기록의 JSON 구조</a:t>
            </a:r>
          </a:p>
        </p:txBody>
      </p:sp>
      <p:sp>
        <p:nvSpPr>
          <p:cNvPr id="3" name="">
            <a:extLst>
              <a:ext uri="{FF2B5EF4-FFF2-40B4-BE49-F238E27FC236}">
                <ns2:creationId id="{EED43B2C-D097-4EA8-8BA7-BDC83847794D}"/>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센서 기록의 JSON 구조</a:t>
            </a:r>
          </a:p>
        </p:txBody>
      </p:sp>
      <p:sp>
        <p:nvSpPr>
          <p:cNvPr id="4" name="">
            <a:extLst>
              <a:ext uri="{FF2B5EF4-FFF2-40B4-BE49-F238E27FC236}">
                <ns2:creationId id="{38F682B2-19ED-4295-8320-436256CEF5DA}"/>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sensor_id · seq · temperature_c</a:t>
            </a:r>
          </a:p>
        </p:txBody>
      </p:sp>
      <p:sp>
        <p:nvSpPr>
          <p:cNvPr id="5" name="">
            <a:extLst>
              <a:ext uri="{FF2B5EF4-FFF2-40B4-BE49-F238E27FC236}">
                <ns2:creationId id="{A4778CC9-C329-458A-A012-3056033618CE}"/>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온도 단위는 ℃로 약속합니다.</a:t>
            </a:r>
          </a:p>
        </p:txBody>
      </p:sp>
      <p:sp>
        <p:nvSpPr>
          <p:cNvPr id="6" name="">
            <a:extLst>
              <a:ext uri="{FF2B5EF4-FFF2-40B4-BE49-F238E27FC236}">
                <ns2:creationId id="{9E792EF1-DF7E-4D67-B66A-BD92E5727901}"/>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센서 기록의 필드</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3079356"/>
                <a:gridCol w="2159394"/>
              </a:tblGrid>
              <a:tr h="514350">
                <a:tc>
                  <a:txBody>
                    <a:bodyPr wrap="square"/>
                    <a:lstStyle/>
                    <a:p>
                      <a:pPr>
                        <a:lnSpc>
                          <a:spcPct val="102000"/>
                        </a:lnSpc>
                        <a:buNone/>
                      </a:pPr>
                      <a:r>
                        <a:rPr sz="1875" b="1">
                          <a:solidFill>
                            <a:srgbClr val="172F39"/>
                          </a:solidFill>
                          <a:latin typeface="Noto Sans KR"/>
                          <a:ea typeface="Noto Sans KR"/>
                          <a:cs typeface="Noto Sans KR"/>
                        </a:rPr>
                        <a:t>필드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뜻</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sensor_id</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장치 ID</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seq</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순번</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temperature_c</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섭씨 온도</a:t>
                      </a:r>
                    </a:p>
                  </a:txBody>
                  <a:tcPr marL="114300" marR="114300" marT="76200" marB="76200" anchor="ctr">
                    <a:solidFill>
                      <a:srgbClr val="FFFFFF"/>
                    </a:solidFill>
                  </a:tcPr>
                </a:tc>
              </a:tr>
            </a:tbl>
          </a:graphicData>
        </a:graphic>
      </p:graphicFrame>
      <p:sp>
        <p:nvSpPr>
          <p:cNvPr id="8" name="">
            <a:extLst>
              <a:ext uri="{FF2B5EF4-FFF2-40B4-BE49-F238E27FC236}">
                <ns2:creationId id="{E865B005-DB95-46E6-A57A-988F46FD6F38}"/>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100A0804-363E-4133-A624-2817A155A69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421119EA-AFCB-4380-A83A-E211C0A1324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22A2135E-F49B-41A1-94A6-A902615E736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BCCEE4C2-B42B-496F-A503-24B2FE56074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044</a:t>
            </a:r>
          </a:p>
        </p:txBody>
      </p:sp>
    </p:spTree>
    <p:extLst>
      <p:ext uri="{BB962C8B-B14F-4D97-AF65-F5344CB8AC3E}">
        <ns4:creationId val="1510238743"/>
      </p:ext>
    </p:extLst>
  </p:cSld>
</p:sld>
</file>

<file path=ppt/slides/slide4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7D95CB24-927F-4EAE-8C45-B0CC8557311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2E383C17-DEE4-4924-8F78-49C49080AD5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숫자·결측·문자열</a:t>
            </a:r>
          </a:p>
        </p:txBody>
      </p:sp>
      <p:sp>
        <p:nvSpPr>
          <p:cNvPr id="3" name="">
            <a:extLst>
              <a:ext uri="{FF2B5EF4-FFF2-40B4-BE49-F238E27FC236}">
                <ns2:creationId id="{134E09FF-C807-4E9E-8DA9-25E9E058BA30}"/>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숫자·결측·문자열</a:t>
            </a:r>
          </a:p>
        </p:txBody>
      </p:sp>
      <p:sp>
        <p:nvSpPr>
          <p:cNvPr id="4" name="">
            <a:extLst>
              <a:ext uri="{FF2B5EF4-FFF2-40B4-BE49-F238E27FC236}">
                <ns2:creationId id="{96BB3886-70D7-4C72-9279-9B0B6982DBE9}"/>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0: 숫자 온도 · null: 미측정</a:t>
            </a:r>
          </a:p>
        </p:txBody>
      </p:sp>
      <p:sp>
        <p:nvSpPr>
          <p:cNvPr id="5" name="">
            <a:extLst>
              <a:ext uri="{FF2B5EF4-FFF2-40B4-BE49-F238E27FC236}">
                <ns2:creationId id="{AA10D09F-DC91-47C6-9856-EACF0474FD41}"/>
              </a:ext>
            </a:extLst>
          </p:cNvPr>
          <p:cNvSpPr>
            <a:spLocks noGrp="1"/>
          </p:cNvSpPr>
          <p:nvPr/>
        </p:nvSpPr>
        <p:spPr>
          <a:xfrm>
            <a:off x="685800" y="286131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"0": 문자열이라 현재 입력 규칙에서 invalid</a:t>
            </a:r>
          </a:p>
        </p:txBody>
      </p:sp>
      <p:sp>
        <p:nvSpPr>
          <p:cNvPr id="6" name="">
            <a:extLst>
              <a:ext uri="{FF2B5EF4-FFF2-40B4-BE49-F238E27FC236}">
                <ns2:creationId id="{4FC9A027-ADA7-4AF4-9B45-4111DA13293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0과 누락과 글자</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560102"/>
                <a:gridCol w="1772843"/>
                <a:gridCol w="1905806"/>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자료형</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상태</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숫자</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normal</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누락</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missing</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문자열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invalid</a:t>
                      </a:r>
                    </a:p>
                  </a:txBody>
                  <a:tcPr marL="114300" marR="114300" marT="76200" marB="76200" anchor="ctr">
                    <a:solidFill>
                      <a:srgbClr val="FFFFFF"/>
                    </a:solidFill>
                  </a:tcPr>
                </a:tc>
              </a:tr>
            </a:tbl>
          </a:graphicData>
        </a:graphic>
      </p:graphicFrame>
      <p:sp>
        <p:nvSpPr>
          <p:cNvPr id="8" name="">
            <a:extLst>
              <a:ext uri="{FF2B5EF4-FFF2-40B4-BE49-F238E27FC236}">
                <ns2:creationId id="{9D9FCC9E-F6FD-41AF-B1A4-63A78436EAD8}"/>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71FB12C0-C93A-46EF-92F9-D3089847485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CA54F1EE-8BC0-4F4A-B7E6-059BEDACEC9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2B90575E-41D7-4C6E-829A-D252B3ADCF0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A9BAC25C-2E67-4E0B-9388-BD62FDBC948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045</a:t>
            </a:r>
          </a:p>
        </p:txBody>
      </p:sp>
    </p:spTree>
    <p:extLst>
      <p:ext uri="{BB962C8B-B14F-4D97-AF65-F5344CB8AC3E}">
        <ns4:creationId val="90174127"/>
      </p:ext>
    </p:extLst>
  </p:cSld>
</p:sld>
</file>

<file path=ppt/slides/slide4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9" name="">
            <a:extLst>
              <a:ext uri="{FF2B5EF4-FFF2-40B4-BE49-F238E27FC236}">
                <ns2:creationId id="{8D455F72-6D5C-4F43-9BA0-4E349104C35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B5708CC1-D1B3-4F03-A832-7A94368C587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온도 판단 코드 예제</a:t>
            </a:r>
          </a:p>
        </p:txBody>
      </p:sp>
      <p:sp>
        <p:nvSpPr>
          <p:cNvPr id="3" name="">
            <a:extLst>
              <a:ext uri="{FF2B5EF4-FFF2-40B4-BE49-F238E27FC236}">
                <ns2:creationId id="{401AD015-A927-4D4B-8702-62DB8EE04810}"/>
              </a:ext>
            </a:extLst>
          </p:cNvPr>
          <p:cNvSpPr>
            <a:spLocks noGrp="1"/>
          </p:cNvSpPr>
          <p:nvPr/>
        </p:nvSpPr>
        <p:spPr>
          <a:xfrm>
            <a:off x="685800" y="1809750"/>
            <a:ext cx="10820400" cy="3493770"/>
          </a:xfrm>
          <a:prstGeom prst="rect">
            <a:avLst/>
          </a:prstGeom>
          <a:solidFill>
            <a:srgbClr val="F1F6F5"/>
          </a:solidFill>
          <a:ln w="0">
            <a:noFill/>
          </a:ln>
        </p:spPr>
      </p:sp>
      <p:sp>
        <p:nvSpPr>
          <p:cNvPr id="4" name="">
            <a:extLst>
              <a:ext uri="{FF2B5EF4-FFF2-40B4-BE49-F238E27FC236}">
                <ns2:creationId id="{04BB25AB-D6EF-4D2C-B526-184583BECEA6}"/>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E9C03C0A-955F-45D2-A2D5-6A68D8E28004}"/>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value = 28.0</a:t>
            </a:r>
          </a:p>
        </p:txBody>
      </p:sp>
      <p:sp>
        <p:nvSpPr>
          <p:cNvPr id="6" name="">
            <a:extLst>
              <a:ext uri="{FF2B5EF4-FFF2-40B4-BE49-F238E27FC236}">
                <ns2:creationId id="{4440E2AB-C708-45AB-877B-40B3A057762A}"/>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23BED79E-DA18-4DFF-BB75-E451E2CFB7D6}"/>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if value is None:</a:t>
            </a:r>
          </a:p>
        </p:txBody>
      </p:sp>
      <p:sp>
        <p:nvSpPr>
          <p:cNvPr id="8" name="">
            <a:extLst>
              <a:ext uri="{FF2B5EF4-FFF2-40B4-BE49-F238E27FC236}">
                <ns2:creationId id="{FFBF690D-C11A-46CA-911C-93571EB757B1}"/>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E0359CCC-A787-44CF-BA90-50D531CD7AF1}"/>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state = "missing"</a:t>
            </a:r>
          </a:p>
        </p:txBody>
      </p:sp>
      <p:sp>
        <p:nvSpPr>
          <p:cNvPr id="10" name="">
            <a:extLst>
              <a:ext uri="{FF2B5EF4-FFF2-40B4-BE49-F238E27FC236}">
                <ns2:creationId id="{6DF9A696-5DD0-4CB8-A00B-37C6036ACF12}"/>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AEC7EFC2-7D41-4C30-B062-826F3E85CC02}"/>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elif type(value) not in (int, float):</a:t>
            </a:r>
          </a:p>
        </p:txBody>
      </p:sp>
      <p:sp>
        <p:nvSpPr>
          <p:cNvPr id="12" name="">
            <a:extLst>
              <a:ext uri="{FF2B5EF4-FFF2-40B4-BE49-F238E27FC236}">
                <ns2:creationId id="{2C8ECAE6-359C-4FC8-A944-0269A90034DD}"/>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13EEF0FA-BA12-4BA5-9B99-09C91F08627D}"/>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state = "invalid"</a:t>
            </a:r>
          </a:p>
        </p:txBody>
      </p:sp>
      <p:sp>
        <p:nvSpPr>
          <p:cNvPr id="14" name="">
            <a:extLst>
              <a:ext uri="{FF2B5EF4-FFF2-40B4-BE49-F238E27FC236}">
                <ns2:creationId id="{C7B27F96-793C-45A5-88E8-801DDD1C4A16}"/>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4B40FBBA-3D40-4185-8310-097F20FAC13B}"/>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elif value &gt;= 28.0:</a:t>
            </a:r>
          </a:p>
        </p:txBody>
      </p:sp>
      <p:sp>
        <p:nvSpPr>
          <p:cNvPr id="16" name="">
            <a:extLst>
              <a:ext uri="{FF2B5EF4-FFF2-40B4-BE49-F238E27FC236}">
                <ns2:creationId id="{D839FA20-BBA2-4022-A5CD-1B08103821E6}"/>
              </a:ext>
            </a:extLst>
          </p:cNvPr>
          <p:cNvSpPr>
            <a:spLocks noGrp="1"/>
          </p:cNvSpPr>
          <p:nvPr/>
        </p:nvSpPr>
        <p:spPr>
          <a:xfrm>
            <a:off x="828675" y="387362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07</a:t>
            </a:r>
          </a:p>
        </p:txBody>
      </p:sp>
      <p:sp>
        <p:nvSpPr>
          <p:cNvPr id="17" name="">
            <a:extLst>
              <a:ext uri="{FF2B5EF4-FFF2-40B4-BE49-F238E27FC236}">
                <ns2:creationId id="{2483F36D-1F97-4234-8B31-9C57F3EBAB90}"/>
              </a:ext>
            </a:extLst>
          </p:cNvPr>
          <p:cNvSpPr>
            <a:spLocks noGrp="1"/>
          </p:cNvSpPr>
          <p:nvPr/>
        </p:nvSpPr>
        <p:spPr>
          <a:xfrm>
            <a:off x="1276350" y="383552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state = "alert"</a:t>
            </a:r>
          </a:p>
        </p:txBody>
      </p:sp>
      <p:sp>
        <p:nvSpPr>
          <p:cNvPr id="18" name="">
            <a:extLst>
              <a:ext uri="{FF2B5EF4-FFF2-40B4-BE49-F238E27FC236}">
                <ns2:creationId id="{19A138C8-7A44-4442-BB69-DFD64D89394B}"/>
              </a:ext>
            </a:extLst>
          </p:cNvPr>
          <p:cNvSpPr>
            <a:spLocks noGrp="1"/>
          </p:cNvSpPr>
          <p:nvPr/>
        </p:nvSpPr>
        <p:spPr>
          <a:xfrm>
            <a:off x="828675" y="419061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08</a:t>
            </a:r>
          </a:p>
        </p:txBody>
      </p:sp>
      <p:sp>
        <p:nvSpPr>
          <p:cNvPr id="19" name="">
            <a:extLst>
              <a:ext uri="{FF2B5EF4-FFF2-40B4-BE49-F238E27FC236}">
                <ns2:creationId id="{26346D8C-8B70-4CC3-A089-FFFA6A7956D3}"/>
              </a:ext>
            </a:extLst>
          </p:cNvPr>
          <p:cNvSpPr>
            <a:spLocks noGrp="1"/>
          </p:cNvSpPr>
          <p:nvPr/>
        </p:nvSpPr>
        <p:spPr>
          <a:xfrm>
            <a:off x="1276350" y="415251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else:</a:t>
            </a:r>
          </a:p>
        </p:txBody>
      </p:sp>
      <p:sp>
        <p:nvSpPr>
          <p:cNvPr id="20" name="">
            <a:extLst>
              <a:ext uri="{FF2B5EF4-FFF2-40B4-BE49-F238E27FC236}">
                <ns2:creationId id="{647A3170-CA2B-484D-A384-865C6BDA7F46}"/>
              </a:ext>
            </a:extLst>
          </p:cNvPr>
          <p:cNvSpPr>
            <a:spLocks noGrp="1"/>
          </p:cNvSpPr>
          <p:nvPr/>
        </p:nvSpPr>
        <p:spPr>
          <a:xfrm>
            <a:off x="828675" y="450761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09</a:t>
            </a:r>
          </a:p>
        </p:txBody>
      </p:sp>
      <p:sp>
        <p:nvSpPr>
          <p:cNvPr id="21" name="">
            <a:extLst>
              <a:ext uri="{FF2B5EF4-FFF2-40B4-BE49-F238E27FC236}">
                <ns2:creationId id="{C06C2F3F-33EB-4851-9512-64D0AA074AA3}"/>
              </a:ext>
            </a:extLst>
          </p:cNvPr>
          <p:cNvSpPr>
            <a:spLocks noGrp="1"/>
          </p:cNvSpPr>
          <p:nvPr/>
        </p:nvSpPr>
        <p:spPr>
          <a:xfrm>
            <a:off x="1276350" y="446951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state = "normal"</a:t>
            </a:r>
          </a:p>
        </p:txBody>
      </p:sp>
      <p:sp>
        <p:nvSpPr>
          <p:cNvPr id="22" name="">
            <a:extLst>
              <a:ext uri="{FF2B5EF4-FFF2-40B4-BE49-F238E27FC236}">
                <ns2:creationId id="{738910B8-5224-4046-9A39-143FCE2E5E1C}"/>
              </a:ext>
            </a:extLst>
          </p:cNvPr>
          <p:cNvSpPr>
            <a:spLocks noGrp="1"/>
          </p:cNvSpPr>
          <p:nvPr/>
        </p:nvSpPr>
        <p:spPr>
          <a:xfrm>
            <a:off x="828675" y="482460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10</a:t>
            </a:r>
          </a:p>
        </p:txBody>
      </p:sp>
      <p:sp>
        <p:nvSpPr>
          <p:cNvPr id="23" name="">
            <a:extLst>
              <a:ext uri="{FF2B5EF4-FFF2-40B4-BE49-F238E27FC236}">
                <ns2:creationId id="{9739F837-1E30-4C9F-8B6D-249C0BF4DE49}"/>
              </a:ext>
            </a:extLst>
          </p:cNvPr>
          <p:cNvSpPr>
            <a:spLocks noGrp="1"/>
          </p:cNvSpPr>
          <p:nvPr/>
        </p:nvSpPr>
        <p:spPr>
          <a:xfrm>
            <a:off x="1276350" y="478650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print(state)</a:t>
            </a:r>
          </a:p>
        </p:txBody>
      </p:sp>
      <p:sp>
        <p:nvSpPr>
          <p:cNvPr id="24" name="">
            <a:extLst>
              <a:ext uri="{FF2B5EF4-FFF2-40B4-BE49-F238E27FC236}">
                <ns2:creationId id="{2C523B95-6890-48A3-B0E4-D5183DD18896}"/>
              </a:ext>
            </a:extLst>
          </p:cNvPr>
          <p:cNvSpPr>
            <a:spLocks noGrp="1"/>
          </p:cNvSpPr>
          <p:nvPr/>
        </p:nvSpPr>
        <p:spPr>
          <a:xfrm>
            <a:off x="685800" y="6172200"/>
            <a:ext cx="10820400" cy="9525"/>
          </a:xfrm>
          <a:prstGeom prst="rect">
            <a:avLst/>
          </a:prstGeom>
          <a:solidFill>
            <a:srgbClr val="D5DEDD"/>
          </a:solidFill>
          <a:ln w="0">
            <a:noFill/>
          </a:ln>
        </p:spPr>
      </p:sp>
      <p:sp>
        <p:nvSpPr>
          <p:cNvPr id="25" name="">
            <a:extLst>
              <a:ext uri="{FF2B5EF4-FFF2-40B4-BE49-F238E27FC236}">
                <ns2:creationId id="{F54021FF-DBB8-4A34-B335-A016FC8657C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6" name="">
            <a:extLst>
              <a:ext uri="{FF2B5EF4-FFF2-40B4-BE49-F238E27FC236}">
                <ns2:creationId id="{867E50F0-8787-4AB8-87B4-94C2BB72871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7" name="">
            <a:extLst>
              <a:ext uri="{FF2B5EF4-FFF2-40B4-BE49-F238E27FC236}">
                <ns2:creationId id="{E07CE94C-9C74-4011-8780-0EF57739D75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8" name="">
            <a:extLst>
              <a:ext uri="{FF2B5EF4-FFF2-40B4-BE49-F238E27FC236}">
                <ns2:creationId id="{C87A2DE5-5C05-48FC-AAA2-14A87935906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046</a:t>
            </a:r>
          </a:p>
        </p:txBody>
      </p:sp>
    </p:spTree>
    <p:extLst>
      <p:ext uri="{BB962C8B-B14F-4D97-AF65-F5344CB8AC3E}">
        <ns4:creationId val="814128607"/>
      </p:ext>
    </p:extLst>
  </p:cSld>
</p:sld>
</file>

<file path=ppt/slides/slide4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DEF7DE72-102F-4751-A3B5-2DD77FD563B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D08081DF-5FF9-4149-9324-7C0B59B7673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코드의 줄별 역할</a:t>
            </a:r>
          </a:p>
        </p:txBody>
      </p:sp>
      <p:sp>
        <p:nvSpPr>
          <p:cNvPr id="3" name="">
            <a:extLst>
              <a:ext uri="{FF2B5EF4-FFF2-40B4-BE49-F238E27FC236}">
                <ns2:creationId id="{F70AA715-9EC0-45D6-A981-141EE46DF9CC}"/>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1~3행: 입력과 누락을 확인합니다.</a:t>
            </a:r>
          </a:p>
        </p:txBody>
      </p:sp>
      <p:sp>
        <p:nvSpPr>
          <p:cNvPr id="4" name="">
            <a:extLst>
              <a:ext uri="{FF2B5EF4-FFF2-40B4-BE49-F238E27FC236}">
                <ns2:creationId id="{C3FC1B8F-BD1F-4381-8CB3-7FFC29C414D4}"/>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4~5행: 숫자 자료형을 검사합니다.</a:t>
            </a:r>
          </a:p>
        </p:txBody>
      </p:sp>
      <p:sp>
        <p:nvSpPr>
          <p:cNvPr id="5" name="">
            <a:extLst>
              <a:ext uri="{FF2B5EF4-FFF2-40B4-BE49-F238E27FC236}">
                <ns2:creationId id="{89317B42-D6F5-488B-9F39-E90B8A3DEF4D}"/>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6~9행: 경계에 맞게 상태를 정합니다.</a:t>
            </a:r>
          </a:p>
        </p:txBody>
      </p:sp>
      <p:sp>
        <p:nvSpPr>
          <p:cNvPr id="6" name="">
            <a:extLst>
              <a:ext uri="{FF2B5EF4-FFF2-40B4-BE49-F238E27FC236}">
                <ns2:creationId id="{E4593A1E-0A88-4D39-AAF5-C05126BBF7AD}"/>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10행: 상태를 출력합니다.</a:t>
            </a:r>
          </a:p>
        </p:txBody>
      </p:sp>
      <p:sp>
        <p:nvSpPr>
          <p:cNvPr id="7" name="">
            <a:extLst>
              <a:ext uri="{FF2B5EF4-FFF2-40B4-BE49-F238E27FC236}">
                <ns2:creationId id="{A575F147-F414-4B23-B71F-3B60F56365FA}"/>
              </a:ext>
            </a:extLst>
          </p:cNvPr>
          <p:cNvSpPr>
            <a:spLocks noGrp="1"/>
          </p:cNvSpPr>
          <p:nvPr/>
        </p:nvSpPr>
        <p:spPr>
          <a:xfrm>
            <a:off x="685800" y="4338447"/>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코드 46번의 입력과 출력 49번을 함께 봅니다.</a:t>
            </a:r>
          </a:p>
        </p:txBody>
      </p:sp>
      <p:sp>
        <p:nvSpPr>
          <p:cNvPr id="8" name="">
            <a:extLst>
              <a:ext uri="{FF2B5EF4-FFF2-40B4-BE49-F238E27FC236}">
                <ns2:creationId id="{CE7554E4-8CA8-4A66-AB1D-A2ACA3E19108}"/>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C9161FE0-C981-4200-A127-FF089DA2A4E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E872031B-7963-4D1B-8264-328AF66332F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F54CB0FF-17F3-40E2-A40A-DD31A61D032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84187102-BEE5-4C9B-A12C-CE8258E5ADE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047</a:t>
            </a:r>
          </a:p>
        </p:txBody>
      </p:sp>
    </p:spTree>
    <p:extLst>
      <p:ext uri="{BB962C8B-B14F-4D97-AF65-F5344CB8AC3E}">
        <ns4:creationId val="771780407"/>
      </p:ext>
    </p:extLst>
  </p:cSld>
</p:sld>
</file>

<file path=ppt/slides/slide4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ECC95E86-716F-4167-827D-6EF02C99B77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3B9773CF-95AF-4248-86A8-7D78F78060B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학생 파일과 실행 명령</a:t>
            </a:r>
          </a:p>
        </p:txBody>
      </p:sp>
      <p:sp>
        <p:nvSpPr>
          <p:cNvPr id="3" name="">
            <a:extLst>
              <a:ext uri="{FF2B5EF4-FFF2-40B4-BE49-F238E27FC236}">
                <ns2:creationId id="{43D84757-33CB-4CA2-8957-48B493FC870A}"/>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현재 폴더: 압축을 푼 course</a:t>
            </a:r>
          </a:p>
        </p:txBody>
      </p:sp>
      <p:sp>
        <p:nvSpPr>
          <p:cNvPr id="4" name="">
            <a:extLst>
              <a:ext uri="{FF2B5EF4-FFF2-40B4-BE49-F238E27FC236}">
                <ns2:creationId id="{A3447571-8DD8-4BFB-8099-98E5162C9789}"/>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학생 파일: work/sensor_state.py</a:t>
            </a:r>
          </a:p>
        </p:txBody>
      </p:sp>
      <p:sp>
        <p:nvSpPr>
          <p:cNvPr id="5" name="">
            <a:extLst>
              <a:ext uri="{FF2B5EF4-FFF2-40B4-BE49-F238E27FC236}">
                <ns2:creationId id="{0F7AC034-EEE7-404A-AE53-6CB558BAAA87}"/>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python -X utf8 work/sensor_state.py</a:t>
            </a:r>
          </a:p>
        </p:txBody>
      </p:sp>
      <p:sp>
        <p:nvSpPr>
          <p:cNvPr id="6" name="">
            <a:extLst>
              <a:ext uri="{FF2B5EF4-FFF2-40B4-BE49-F238E27FC236}">
                <ns2:creationId id="{E8E7F386-BD46-4D91-8D77-EAC51658E198}"/>
              </a:ext>
            </a:extLst>
          </p:cNvPr>
          <p:cNvSpPr>
            <a:spLocks noGrp="1"/>
          </p:cNvSpPr>
          <p:nvPr/>
        </p:nvSpPr>
        <p:spPr>
          <a:xfrm>
            <a:off x="685800" y="379437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코드 46번의 입력과 출력 49번을 함께 봅니다.</a:t>
            </a:r>
          </a:p>
        </p:txBody>
      </p:sp>
      <p:sp>
        <p:nvSpPr>
          <p:cNvPr id="7" name="">
            <a:extLst>
              <a:ext uri="{FF2B5EF4-FFF2-40B4-BE49-F238E27FC236}">
                <ns2:creationId id="{559C3C38-A7DE-4331-A1E7-71B842D3EA4B}"/>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3B43BD36-37F7-4E90-A3BE-86C8E1E2516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FF1235B0-237B-436C-8139-AF14DD105D0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81F15818-2A11-48BF-A177-8EA7F48BD77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4CFBF8B4-2760-4884-86FA-A02676255DC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048</a:t>
            </a:r>
          </a:p>
        </p:txBody>
      </p:sp>
    </p:spTree>
    <p:extLst>
      <p:ext uri="{BB962C8B-B14F-4D97-AF65-F5344CB8AC3E}">
        <ns4:creationId val="314075160"/>
      </p:ext>
    </p:extLst>
  </p:cSld>
</p:sld>
</file>

<file path=ppt/slides/slide4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EB2CA997-6880-4512-B932-DCB9DC681B9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AA3907FE-A246-4701-AE2D-B16774F2AAA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a:t>
            </a:r>
          </a:p>
        </p:txBody>
      </p:sp>
      <p:sp>
        <p:nvSpPr>
          <p:cNvPr id="3" name="">
            <a:extLst>
              <a:ext uri="{FF2B5EF4-FFF2-40B4-BE49-F238E27FC236}">
                <ns2:creationId id="{36FED7EB-8496-48E3-BBBD-C22B082A12D4}"/>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입력: 숫자 28.0</a:t>
            </a:r>
          </a:p>
        </p:txBody>
      </p:sp>
      <p:sp>
        <p:nvSpPr>
          <p:cNvPr id="4" name="">
            <a:extLst>
              <a:ext uri="{FF2B5EF4-FFF2-40B4-BE49-F238E27FC236}">
                <ns2:creationId id="{3D584A65-6E81-46B2-B2FF-F2FA66BF8A2D}"/>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출력: alert</a:t>
            </a:r>
          </a:p>
        </p:txBody>
      </p:sp>
      <p:sp>
        <p:nvSpPr>
          <p:cNvPr id="5" name="">
            <a:extLst>
              <a:ext uri="{FF2B5EF4-FFF2-40B4-BE49-F238E27FC236}">
                <ns2:creationId id="{5E09EBA7-34BF-40F7-8090-83FAAA09ECB5}"/>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28.0은 이상 조건에 포함됩니다.</a:t>
            </a:r>
          </a:p>
        </p:txBody>
      </p:sp>
      <p:sp>
        <p:nvSpPr>
          <p:cNvPr id="6" name="">
            <a:extLst>
              <a:ext uri="{FF2B5EF4-FFF2-40B4-BE49-F238E27FC236}">
                <ns2:creationId id="{FC88E519-6824-446D-97C1-DB8FBE756841}"/>
              </a:ext>
            </a:extLst>
          </p:cNvPr>
          <p:cNvSpPr>
            <a:spLocks noGrp="1"/>
          </p:cNvSpPr>
          <p:nvPr/>
        </p:nvSpPr>
        <p:spPr>
          <a:xfrm>
            <a:off x="685800" y="379437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코드 46번의 입력과 출력 49번을 함께 봅니다.</a:t>
            </a:r>
          </a:p>
        </p:txBody>
      </p:sp>
      <p:sp>
        <p:nvSpPr>
          <p:cNvPr id="7" name="">
            <a:extLst>
              <a:ext uri="{FF2B5EF4-FFF2-40B4-BE49-F238E27FC236}">
                <ns2:creationId id="{3B5F84C1-A8C3-47EE-B911-A52FF7775521}"/>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C82EAE28-DFAD-4B00-B460-76ED928035F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0B57FD6E-BCEE-4E7D-838F-F0EC7468730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0677AB84-7A55-4165-ABF2-B49BBA99364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66CAE624-187A-4C4D-90A1-1802CA4BAEE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049</a:t>
            </a:r>
          </a:p>
        </p:txBody>
      </p:sp>
    </p:spTree>
    <p:extLst>
      <p:ext uri="{BB962C8B-B14F-4D97-AF65-F5344CB8AC3E}">
        <ns4:creationId val="1688864431"/>
      </p:ext>
    </p:extLst>
  </p:cSld>
</p:sld>
</file>

<file path=ppt/slides/slide5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C96B7A25-1334-4111-9F78-0A496772FA0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D9B8DA32-0D76-4A16-A039-65F47B5E0A7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연습 문제</a:t>
            </a:r>
          </a:p>
        </p:txBody>
      </p:sp>
      <p:sp>
        <p:nvSpPr>
          <p:cNvPr id="3" name="">
            <a:extLst>
              <a:ext uri="{FF2B5EF4-FFF2-40B4-BE49-F238E27FC236}">
                <ns2:creationId id="{60DB63A0-517D-407B-969C-D3B25CC6B9F1}"/>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값 0 · None · "0"의 상태는?</a:t>
            </a:r>
          </a:p>
        </p:txBody>
      </p:sp>
      <p:sp>
        <p:nvSpPr>
          <p:cNvPr id="4" name="">
            <a:extLst>
              <a:ext uri="{FF2B5EF4-FFF2-40B4-BE49-F238E27FC236}">
                <ns2:creationId id="{D3D409F9-C44A-4659-87F9-C8C3D84D3A53}"/>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누락을 0으로 바꾸면 어떤 문제가 생기나요?</a:t>
            </a:r>
          </a:p>
        </p:txBody>
      </p:sp>
      <p:sp>
        <p:nvSpPr>
          <p:cNvPr id="5" name="">
            <a:extLst>
              <a:ext uri="{FF2B5EF4-FFF2-40B4-BE49-F238E27FC236}">
                <ns2:creationId id="{E24C8E25-D81D-4248-BE32-45F541922A77}"/>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2052A267-A739-41BB-ADCE-9B58C49290E4}"/>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D5D82304-3F9B-4B93-9369-4855E0F44AB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F7882D4E-D16D-4B15-983B-ADA53005579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465187BC-132A-4D43-B890-43683C87F37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FC4ECC09-0F3F-4B1D-AE20-DC0C7D8D32F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050</a:t>
            </a:r>
          </a:p>
        </p:txBody>
      </p:sp>
    </p:spTree>
    <p:extLst>
      <p:ext uri="{BB962C8B-B14F-4D97-AF65-F5344CB8AC3E}">
        <ns4:creationId val="1978962182"/>
      </p:ext>
    </p:extLst>
  </p:cSld>
</p:sld>
</file>

<file path=ppt/slides/slide5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A86D1F1A-67F3-421D-A071-54C4F98DB59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3D6EAA29-CEB0-4AE3-8E3D-4C324786933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정답과 풀이</a:t>
            </a:r>
          </a:p>
        </p:txBody>
      </p:sp>
      <p:sp>
        <p:nvSpPr>
          <p:cNvPr id="3" name="">
            <a:extLst>
              <a:ext uri="{FF2B5EF4-FFF2-40B4-BE49-F238E27FC236}">
                <ns2:creationId id="{B8AAF16C-5644-4275-9C39-9354BB62E230}"/>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0 → normal · None → missing</a:t>
            </a:r>
          </a:p>
        </p:txBody>
      </p:sp>
      <p:sp>
        <p:nvSpPr>
          <p:cNvPr id="4" name="">
            <a:extLst>
              <a:ext uri="{FF2B5EF4-FFF2-40B4-BE49-F238E27FC236}">
                <ns2:creationId id="{BDE85DD0-FC1C-4A3F-BDBF-12265093A4E7}"/>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"0" → invalid</a:t>
            </a:r>
          </a:p>
        </p:txBody>
      </p:sp>
      <p:sp>
        <p:nvSpPr>
          <p:cNvPr id="5" name="">
            <a:extLst>
              <a:ext uri="{FF2B5EF4-FFF2-40B4-BE49-F238E27FC236}">
                <ns2:creationId id="{37B8FFA5-AFA9-4FAC-9700-10DB23FF4AA7}"/>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실제 영도와 미측정을 구별해야 합니다.</a:t>
            </a:r>
          </a:p>
        </p:txBody>
      </p:sp>
      <p:sp>
        <p:nvSpPr>
          <p:cNvPr id="6" name="">
            <a:extLst>
              <a:ext uri="{FF2B5EF4-FFF2-40B4-BE49-F238E27FC236}">
                <ns2:creationId id="{21768694-E040-4CC2-90C5-054CCE3E8AA4}"/>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0F67869A-AAC5-420F-845D-C968F5E8CC3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DA4DD955-1147-4A14-88E4-0EEC2CE36E5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402C230C-A96F-44E3-A2C2-C4AB3A6F9F8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A76303D2-8AAB-4447-A41B-4E94BF4B84A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051</a:t>
            </a:r>
          </a:p>
        </p:txBody>
      </p:sp>
    </p:spTree>
    <p:extLst>
      <p:ext uri="{BB962C8B-B14F-4D97-AF65-F5344CB8AC3E}">
        <ns4:creationId val="79918891"/>
      </p:ext>
    </p:extLst>
  </p:cSld>
</p:sld>
</file>

<file path=ppt/slides/slide5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2F75F849-140E-4E08-8768-1DD1DE7AC8A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7E526DFA-2FE3-46E9-BCC0-8D85FAD9661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값 바꾸기</a:t>
            </a:r>
          </a:p>
        </p:txBody>
      </p:sp>
      <p:sp>
        <p:nvSpPr>
          <p:cNvPr id="3" name="">
            <a:extLst>
              <a:ext uri="{FF2B5EF4-FFF2-40B4-BE49-F238E27FC236}">
                <ns2:creationId id="{2EE95AC3-9051-4032-AAC0-C8DCED2A65A6}"/>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value를 27.9로 바꿉니다.</a:t>
            </a:r>
          </a:p>
        </p:txBody>
      </p:sp>
      <p:sp>
        <p:nvSpPr>
          <p:cNvPr id="4" name="">
            <a:extLst>
              <a:ext uri="{FF2B5EF4-FFF2-40B4-BE49-F238E27FC236}">
                <ns2:creationId id="{E4A9416C-FBBD-4242-AA0B-F3E7FC6105B8}"/>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출력은 normal입니다.</a:t>
            </a:r>
          </a:p>
        </p:txBody>
      </p:sp>
      <p:sp>
        <p:nvSpPr>
          <p:cNvPr id="5" name="">
            <a:extLst>
              <a:ext uri="{FF2B5EF4-FFF2-40B4-BE49-F238E27FC236}">
                <ns2:creationId id="{D8AA63DE-C3E1-4AA1-8E54-6433B44D0A51}"/>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8F32C3C8-4894-4704-A075-8FB68F96076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7AEEC3BB-AF2A-4B6F-9751-FEE8FD90020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C94E4A4E-8FF2-4C89-81B1-3738DB5AE84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181C5DE6-1436-46CE-8317-044F7BD139E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052</a:t>
            </a:r>
          </a:p>
        </p:txBody>
      </p:sp>
    </p:spTree>
    <p:extLst>
      <p:ext uri="{BB962C8B-B14F-4D97-AF65-F5344CB8AC3E}">
        <ns4:creationId val="1427206471"/>
      </p:ext>
    </p:extLst>
  </p:cSld>
</p:sld>
</file>

<file path=ppt/slides/slide5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ADE291E2-0C91-46B6-B33A-5CA05C3A3C6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A273C291-3DD1-46BC-9D6A-E2594D203AA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오류 원인과 복구</a:t>
            </a:r>
          </a:p>
        </p:txBody>
      </p:sp>
      <p:sp>
        <p:nvSpPr>
          <p:cNvPr id="3" name="">
            <a:extLst>
              <a:ext uri="{FF2B5EF4-FFF2-40B4-BE49-F238E27FC236}">
                <ns2:creationId id="{64077828-FB83-4286-BE48-F1C0D482D31D}"/>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"28.0"은 숫자 28.0과 다릅니다.</a:t>
            </a:r>
          </a:p>
        </p:txBody>
      </p:sp>
      <p:sp>
        <p:nvSpPr>
          <p:cNvPr id="4" name="">
            <a:extLst>
              <a:ext uri="{FF2B5EF4-FFF2-40B4-BE49-F238E27FC236}">
                <ns2:creationId id="{F99CB061-2263-470F-9BC8-C9522335BB51}"/>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원래 값을 확인하고 정한 변환 규칙에 따라 처리합니다.</a:t>
            </a:r>
          </a:p>
        </p:txBody>
      </p:sp>
      <p:sp>
        <p:nvSpPr>
          <p:cNvPr id="5" name="">
            <a:extLst>
              <a:ext uri="{FF2B5EF4-FFF2-40B4-BE49-F238E27FC236}">
                <ns2:creationId id="{8A0258F2-7410-4796-8B12-4812B127F0D5}"/>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903C059D-999A-4CC6-937E-64D23EF8311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BF3B6AA4-123A-4055-AE91-E8ECACEFCEC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FDD85164-31A0-4BB1-9507-C52F3DC9AAC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5FD5B8EB-748A-435B-A0A9-2616BC86BC3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053</a:t>
            </a:r>
          </a:p>
        </p:txBody>
      </p:sp>
    </p:spTree>
    <p:extLst>
      <p:ext uri="{BB962C8B-B14F-4D97-AF65-F5344CB8AC3E}">
        <ns4:creationId val="104169647"/>
      </p:ext>
    </p:extLst>
  </p:cSld>
</p:sld>
</file>

<file path=ppt/slides/slide5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4A5C7F52-38FC-4B86-865B-9F09331D5BF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F738A56E-1487-42F5-8845-B34B402DC8D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확인 질문</a:t>
            </a:r>
          </a:p>
        </p:txBody>
      </p:sp>
      <p:sp>
        <p:nvSpPr>
          <p:cNvPr id="3" name="">
            <a:extLst>
              <a:ext uri="{FF2B5EF4-FFF2-40B4-BE49-F238E27FC236}">
                <ns2:creationId id="{C28DB1CD-FD37-4B57-B593-F775071CF977}"/>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ADC 코드와 섭씨 온도의 차이를 설명합니다.</a:t>
            </a:r>
          </a:p>
        </p:txBody>
      </p:sp>
      <p:sp>
        <p:nvSpPr>
          <p:cNvPr id="4" name="">
            <a:extLst>
              <a:ext uri="{FF2B5EF4-FFF2-40B4-BE49-F238E27FC236}">
                <ns2:creationId id="{F7D6EA4F-AF80-47A7-85D6-697FB3F7B450}"/>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값·단위·자료형을 각각 말해 봅시다.</a:t>
            </a:r>
          </a:p>
        </p:txBody>
      </p:sp>
      <p:sp>
        <p:nvSpPr>
          <p:cNvPr id="5" name="">
            <a:extLst>
              <a:ext uri="{FF2B5EF4-FFF2-40B4-BE49-F238E27FC236}">
                <ns2:creationId id="{32E027C4-FE54-40DE-B3B9-BFC50D99031D}"/>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D50B3146-D778-4DA8-92E0-CF42FDC274B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84130C7F-934E-4333-8FC8-D0602EE0B3B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B7A7E679-E431-49E1-A62A-56DB53D10F9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D1F2D320-7FBF-4AD7-831F-3C984142C03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7194E9C5-7CBA-4426-A4FA-6F59E77F994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054</a:t>
            </a:r>
          </a:p>
        </p:txBody>
      </p:sp>
    </p:spTree>
    <p:extLst>
      <p:ext uri="{BB962C8B-B14F-4D97-AF65-F5344CB8AC3E}">
        <ns4:creationId val="147166391"/>
      </p:ext>
    </p:extLst>
  </p:cSld>
</p:sld>
</file>

<file path=ppt/slides/slide5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355E6B6B-7C66-4CB4-8D44-339BEE32C56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D904F06C-B98F-4016-B823-0FFACA61775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추가·복습 문제</a:t>
            </a:r>
          </a:p>
        </p:txBody>
      </p:sp>
      <p:sp>
        <p:nvSpPr>
          <p:cNvPr id="3" name="">
            <a:extLst>
              <a:ext uri="{FF2B5EF4-FFF2-40B4-BE49-F238E27FC236}">
                <ns2:creationId id="{C2FD3CA1-0885-45CA-8A0F-E408216BF472}"/>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추가·복습: 가정 ADC 코드 4095</a:t>
            </a:r>
          </a:p>
        </p:txBody>
      </p:sp>
      <p:sp>
        <p:nvSpPr>
          <p:cNvPr id="4" name="">
            <a:extLst>
              <a:ext uri="{FF2B5EF4-FFF2-40B4-BE49-F238E27FC236}">
                <ns2:creationId id="{4BAEE184-7BBF-4AD3-9098-61049C5B7824}"/>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전압은 얼마이며 실물 교정인가요?</a:t>
            </a:r>
          </a:p>
        </p:txBody>
      </p:sp>
      <p:sp>
        <p:nvSpPr>
          <p:cNvPr id="5" name="">
            <a:extLst>
              <a:ext uri="{FF2B5EF4-FFF2-40B4-BE49-F238E27FC236}">
                <ns2:creationId id="{43518F1F-B25E-43D6-AF38-C45A2804CF6F}"/>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FAC2EAC2-6DEB-4B76-A089-2FE76DF8B4ED}"/>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3B3F0E90-8C02-414F-8B36-D70EDC96F92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DC30F1C3-803A-420D-A64D-07120FCC646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2040C328-CB71-4824-B363-47645ACDA65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AD19D946-FA38-4276-B8C8-37B57A0EF81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055</a:t>
            </a:r>
          </a:p>
        </p:txBody>
      </p:sp>
    </p:spTree>
    <p:extLst>
      <p:ext uri="{BB962C8B-B14F-4D97-AF65-F5344CB8AC3E}">
        <ns4:creationId val="1267800970"/>
      </p:ext>
    </p:extLst>
  </p:cSld>
</p:sld>
</file>

<file path=ppt/slides/slide5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1E48A423-C40E-45E2-B2A5-6568C95D30B5}"/>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4교시</a:t>
            </a:r>
          </a:p>
        </p:txBody>
      </p:sp>
      <p:sp>
        <p:nvSpPr>
          <p:cNvPr id="2" name="">
            <a:extLst>
              <a:ext uri="{FF2B5EF4-FFF2-40B4-BE49-F238E27FC236}">
                <ns2:creationId id="{34F7D3B3-5BDA-4CCA-B773-A0515FE5AFAD}"/>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경계와 상태 기억하기</a:t>
            </a:r>
          </a:p>
        </p:txBody>
      </p:sp>
      <p:sp>
        <p:nvSpPr>
          <p:cNvPr id="3" name="">
            <a:extLst>
              <a:ext uri="{FF2B5EF4-FFF2-40B4-BE49-F238E27FC236}">
                <ns2:creationId id="{4A842B2A-F965-4F7F-9483-06B814B32AF9}"/>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14:00~14:50 · 50분</a:t>
            </a:r>
          </a:p>
        </p:txBody>
      </p:sp>
      <p:sp>
        <p:nvSpPr>
          <p:cNvPr id="4" name="">
            <a:extLst>
              <a:ext uri="{FF2B5EF4-FFF2-40B4-BE49-F238E27FC236}">
                <ns2:creationId id="{8842160C-0B3F-4396-9A81-81ECC2DB82ED}"/>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A10 · A11 · A12</a:t>
            </a:r>
          </a:p>
        </p:txBody>
      </p:sp>
      <p:sp>
        <p:nvSpPr>
          <p:cNvPr id="5" name="">
            <a:extLst>
              <a:ext uri="{FF2B5EF4-FFF2-40B4-BE49-F238E27FC236}">
                <ns2:creationId id="{5AE1C9B4-602B-4E79-84BD-801091F55E58}"/>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개념 설명 → 시연 → 직접 실습 → 확인</a:t>
            </a:r>
          </a:p>
        </p:txBody>
      </p:sp>
      <p:sp>
        <p:nvSpPr>
          <p:cNvPr id="6" name="">
            <a:extLst>
              <a:ext uri="{FF2B5EF4-FFF2-40B4-BE49-F238E27FC236}">
                <ns2:creationId id="{B0693A4B-6AD4-4596-844D-70121AF0E7F2}"/>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6092E7BB-0E6D-4C07-972C-B7A6F723716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0B5EA576-D043-4509-80B9-4217640CEC2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2D079835-BD62-4DB6-9CBB-FC2F58DC8E2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48BE1C3A-1A28-46C4-AC37-0A6F0C4801C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056</a:t>
            </a:r>
          </a:p>
        </p:txBody>
      </p:sp>
    </p:spTree>
    <p:extLst>
      <p:ext uri="{BB962C8B-B14F-4D97-AF65-F5344CB8AC3E}">
        <ns4:creationId val="452700339"/>
      </p:ext>
    </p:extLst>
  </p:cSld>
</p:sld>
</file>

<file path=ppt/slides/slide5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5ED5953C-2866-4CF5-951A-E9750512670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B81AB3B8-F2D9-4802-8F07-4597CC504C8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문턱의 상태 흔들림</a:t>
            </a:r>
          </a:p>
        </p:txBody>
      </p:sp>
      <p:sp>
        <p:nvSpPr>
          <p:cNvPr id="3" name="">
            <a:extLst>
              <a:ext uri="{FF2B5EF4-FFF2-40B4-BE49-F238E27FC236}">
                <ns2:creationId id="{1229C1FF-E62C-433F-84BE-CD530F3A3D0E}"/>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한 문턱의 상태 흔들림</a:t>
            </a:r>
          </a:p>
        </p:txBody>
      </p:sp>
      <p:sp>
        <p:nvSpPr>
          <p:cNvPr id="4" name="">
            <a:extLst>
              <a:ext uri="{FF2B5EF4-FFF2-40B4-BE49-F238E27FC236}">
                <ns2:creationId id="{3D436242-E29E-4C73-B001-A371C2EAD05C}"/>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27.9↔28.1을 오가면 상태가 반복 변경됩니다.</a:t>
            </a:r>
          </a:p>
        </p:txBody>
      </p:sp>
      <p:sp>
        <p:nvSpPr>
          <p:cNvPr id="5" name="">
            <a:extLst>
              <a:ext uri="{FF2B5EF4-FFF2-40B4-BE49-F238E27FC236}">
                <ns2:creationId id="{7FE32E65-D967-4B25-8B66-B75D6080A223}"/>
              </a:ext>
            </a:extLst>
          </p:cNvPr>
          <p:cNvSpPr>
            <a:spLocks noGrp="1"/>
          </p:cNvSpPr>
          <p:nvPr/>
        </p:nvSpPr>
        <p:spPr>
          <a:xfrm>
            <a:off x="685800" y="31984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이전 상태를 함께 볼 수 있습니다.</a:t>
            </a:r>
          </a:p>
        </p:txBody>
      </p:sp>
      <p:sp>
        <p:nvSpPr>
          <p:cNvPr id="6" name="">
            <a:extLst>
              <a:ext uri="{FF2B5EF4-FFF2-40B4-BE49-F238E27FC236}">
                <ns2:creationId id="{2FF99965-6231-45AF-8E3D-5BE5C26155D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한 문턱의 반복 변경</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927029"/>
                <a:gridCol w="3311721"/>
              </a:tblGrid>
              <a:tr h="514350">
                <a:tc>
                  <a:txBody>
                    <a:bodyPr wrap="square"/>
                    <a:lstStyle/>
                    <a:p>
                      <a:pPr>
                        <a:lnSpc>
                          <a:spcPct val="102000"/>
                        </a:lnSpc>
                        <a:buNone/>
                      </a:pPr>
                      <a:r>
                        <a:rPr sz="1875" b="1">
                          <a:solidFill>
                            <a:srgbClr val="172F39"/>
                          </a:solidFill>
                          <a:latin typeface="Noto Sans KR"/>
                          <a:ea typeface="Noto Sans KR"/>
                          <a:cs typeface="Noto Sans KR"/>
                        </a:rPr>
                        <a:t>온도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한 문턱 28.0</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27.9</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normal</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28.1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alert</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27.9</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normal</a:t>
                      </a:r>
                    </a:p>
                  </a:txBody>
                  <a:tcPr marL="114300" marR="114300" marT="76200" marB="76200" anchor="ctr">
                    <a:solidFill>
                      <a:srgbClr val="FFFFFF"/>
                    </a:solidFill>
                  </a:tcPr>
                </a:tc>
              </a:tr>
            </a:tbl>
          </a:graphicData>
        </a:graphic>
      </p:graphicFrame>
      <p:sp>
        <p:nvSpPr>
          <p:cNvPr id="8" name="">
            <a:extLst>
              <a:ext uri="{FF2B5EF4-FFF2-40B4-BE49-F238E27FC236}">
                <ns2:creationId id="{223AC154-23BB-4646-8CF2-53C0C523E352}"/>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609C58F1-7F70-4BDE-9367-46E0C0E0677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4A2CA096-6ECB-4411-8A5A-0AC38725F2D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1B60B05F-6ED5-478C-8152-E51E0D45043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70FDC312-78E6-44FC-907F-66D2E016B4F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057</a:t>
            </a:r>
          </a:p>
        </p:txBody>
      </p:sp>
    </p:spTree>
    <p:extLst>
      <p:ext uri="{BB962C8B-B14F-4D97-AF65-F5344CB8AC3E}">
        <ns4:creationId val="1032053465"/>
      </p:ext>
    </p:extLst>
  </p:cSld>
</p:sld>
</file>

<file path=ppt/slides/slide5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7D16C632-C057-4E6D-A7E6-BD4DC6F3D9D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0F616FFF-C694-4827-BFBC-843E6054AC8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켜짐·꺼짐의 두 문턱</a:t>
            </a:r>
          </a:p>
        </p:txBody>
      </p:sp>
      <p:sp>
        <p:nvSpPr>
          <p:cNvPr id="3" name="">
            <a:extLst>
              <a:ext uri="{FF2B5EF4-FFF2-40B4-BE49-F238E27FC236}">
                <ns2:creationId id="{875A236B-7ABA-4E12-979E-E9175A24E5D1}"/>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켜짐·꺼짐의 두 문턱</a:t>
            </a:r>
          </a:p>
        </p:txBody>
      </p:sp>
      <p:sp>
        <p:nvSpPr>
          <p:cNvPr id="4" name="">
            <a:extLst>
              <a:ext uri="{FF2B5EF4-FFF2-40B4-BE49-F238E27FC236}">
                <ns2:creationId id="{8A126A5C-D472-4F6D-8496-89AD83D07584}"/>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28.0 이상이면 켜짐</a:t>
            </a:r>
          </a:p>
        </p:txBody>
      </p:sp>
      <p:sp>
        <p:nvSpPr>
          <p:cNvPr id="5" name="">
            <a:extLst>
              <a:ext uri="{FF2B5EF4-FFF2-40B4-BE49-F238E27FC236}">
                <ns2:creationId id="{6E2930F1-A372-452E-B7E2-A9EAC5FEA46D}"/>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27.5 이하이면 꺼짐</a:t>
            </a:r>
          </a:p>
        </p:txBody>
      </p:sp>
      <p:sp>
        <p:nvSpPr>
          <p:cNvPr id="6" name="">
            <a:extLst>
              <a:ext uri="{FF2B5EF4-FFF2-40B4-BE49-F238E27FC236}">
                <ns2:creationId id="{B8DD8A7B-233D-40C4-81F8-8BC4A4153B2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두 문턱</a:t>
            </a:r>
          </a:p>
        </p:txBody>
      </p:sp>
      <p:graphicFrame>
        <p:nvGraphicFramePr>
          <p:cNvPr id="19" name=""/>
          <p:cNvGraphicFramePr/>
          <p:nvPr/>
        </p:nvGraphicFramePr>
        <p:xfrm>
          <a:off x="6267450" y="2628900"/>
          <a:ext cx="5238750" cy="1543050"/>
        </p:xfrm>
        <a:graphic>
          <a:graphicData uri="http://schemas.openxmlformats.org/drawingml/2006/table">
            <a:tbl>
              <a:tblPr firstRow="1" bandRow="0"/>
              <a:tblGrid>
                <a:gridCol w="2813759"/>
                <a:gridCol w="2424991"/>
              </a:tblGrid>
              <a:tr h="514350">
                <a:tc>
                  <a:txBody>
                    <a:bodyPr wrap="square"/>
                    <a:lstStyle/>
                    <a:p>
                      <a:pPr>
                        <a:lnSpc>
                          <a:spcPct val="102000"/>
                        </a:lnSpc>
                        <a:buNone/>
                      </a:pPr>
                      <a:r>
                        <a:rPr sz="1875" b="1">
                          <a:solidFill>
                            <a:srgbClr val="172F39"/>
                          </a:solidFill>
                          <a:latin typeface="Noto Sans KR"/>
                          <a:ea typeface="Noto Sans KR"/>
                          <a:cs typeface="Noto Sans KR"/>
                        </a:rPr>
                        <a:t>입력 조건</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새 상태</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28.0 이상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True</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27.5 이하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False</a:t>
                      </a:r>
                    </a:p>
                  </a:txBody>
                  <a:tcPr marL="114300" marR="114300" marT="76200" marB="76200" anchor="ctr">
                    <a:solidFill>
                      <a:srgbClr val="FFFFFF"/>
                    </a:solidFill>
                  </a:tcPr>
                </a:tc>
              </a:tr>
            </a:tbl>
          </a:graphicData>
        </a:graphic>
      </p:graphicFrame>
      <p:sp>
        <p:nvSpPr>
          <p:cNvPr id="8" name="">
            <a:extLst>
              <a:ext uri="{FF2B5EF4-FFF2-40B4-BE49-F238E27FC236}">
                <ns2:creationId id="{5E28FFCF-FBBF-40C7-9633-B95B688729B0}"/>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9D80F938-FD56-4CD0-9842-CA0B09A7263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ABC412E1-1759-47BE-BB1D-F85C00D9438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A954B7D8-4E0A-40A9-9362-ADE4E984644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66003606-0AE1-4596-99A4-3ECD9E1474C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058</a:t>
            </a:r>
          </a:p>
        </p:txBody>
      </p:sp>
    </p:spTree>
    <p:extLst>
      <p:ext uri="{BB962C8B-B14F-4D97-AF65-F5344CB8AC3E}">
        <ns4:creationId val="1823501462"/>
      </p:ext>
    </p:extLst>
  </p:cSld>
</p:sld>
</file>

<file path=ppt/slides/slide5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6D2FE1E9-A276-4CF2-9671-26E2F437992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FA03BB9F-D240-430D-BA1B-A008874F9CF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중간 구간과 이전 상태</a:t>
            </a:r>
          </a:p>
        </p:txBody>
      </p:sp>
      <p:sp>
        <p:nvSpPr>
          <p:cNvPr id="3" name="">
            <a:extLst>
              <a:ext uri="{FF2B5EF4-FFF2-40B4-BE49-F238E27FC236}">
                <ns2:creationId id="{9824FF55-CCC9-44FC-9DC2-28E1A79CDCAB}"/>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중간 구간과 이전 상태</a:t>
            </a:r>
          </a:p>
        </p:txBody>
      </p:sp>
      <p:sp>
        <p:nvSpPr>
          <p:cNvPr id="4" name="">
            <a:extLst>
              <a:ext uri="{FF2B5EF4-FFF2-40B4-BE49-F238E27FC236}">
                <ns2:creationId id="{5D8B2E3B-43A6-430C-A286-2040B80202C2}"/>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27.5 초과·28.0 미만</a:t>
            </a:r>
          </a:p>
        </p:txBody>
      </p:sp>
      <p:sp>
        <p:nvSpPr>
          <p:cNvPr id="5" name="">
            <a:extLst>
              <a:ext uri="{FF2B5EF4-FFF2-40B4-BE49-F238E27FC236}">
                <ns2:creationId id="{7C3D6FB0-70F0-48FA-B33A-FB1181A40BB4}"/>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바로 이전 상태를 그대로 둡니다.</a:t>
            </a:r>
          </a:p>
        </p:txBody>
      </p:sp>
      <p:sp>
        <p:nvSpPr>
          <p:cNvPr id="6" name="">
            <a:extLst>
              <a:ext uri="{FF2B5EF4-FFF2-40B4-BE49-F238E27FC236}">
                <ns2:creationId id="{7E82D921-78AD-4F06-A061-A37F39A1D89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27.9에서는 이전 상태 유지</a:t>
            </a:r>
          </a:p>
        </p:txBody>
      </p:sp>
      <p:graphicFrame>
        <p:nvGraphicFramePr>
          <p:cNvPr id="19" name=""/>
          <p:cNvGraphicFramePr/>
          <p:nvPr/>
        </p:nvGraphicFramePr>
        <p:xfrm>
          <a:off x="6267450" y="2628900"/>
          <a:ext cx="5238750" cy="1028700"/>
        </p:xfrm>
        <a:graphic>
          <a:graphicData uri="http://schemas.openxmlformats.org/drawingml/2006/table">
            <a:tbl>
              <a:tblPr firstRow="1" bandRow="0"/>
              <a:tblGrid>
                <a:gridCol w="2054964"/>
                <a:gridCol w="1410324"/>
                <a:gridCol w="1773462"/>
              </a:tblGrid>
              <a:tr h="514350">
                <a:tc>
                  <a:txBody>
                    <a:bodyPr wrap="square"/>
                    <a:lstStyle/>
                    <a:p>
                      <a:pPr>
                        <a:lnSpc>
                          <a:spcPct val="102000"/>
                        </a:lnSpc>
                        <a:buNone/>
                      </a:pPr>
                      <a:r>
                        <a:rPr sz="1875" b="1">
                          <a:solidFill>
                            <a:srgbClr val="172F39"/>
                          </a:solidFill>
                          <a:latin typeface="Noto Sans KR"/>
                          <a:ea typeface="Noto Sans KR"/>
                          <a:cs typeface="Noto Sans KR"/>
                        </a:rPr>
                        <a:t>이전 상태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새 상태</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True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27.9</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True</a:t>
                      </a:r>
                    </a:p>
                  </a:txBody>
                  <a:tcPr marL="114300" marR="114300" marT="76200" marB="76200" anchor="ctr">
                    <a:solidFill>
                      <a:srgbClr val="FFFFFF"/>
                    </a:solidFill>
                  </a:tcPr>
                </a:tc>
              </a:tr>
            </a:tbl>
          </a:graphicData>
        </a:graphic>
      </p:graphicFrame>
      <p:sp>
        <p:nvSpPr>
          <p:cNvPr id="8" name="">
            <a:extLst>
              <a:ext uri="{FF2B5EF4-FFF2-40B4-BE49-F238E27FC236}">
                <ns2:creationId id="{BA059365-A5A7-4A10-B75A-10EB56389032}"/>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EC6E15FF-B7FB-4F5C-ADE7-E6C1BA86829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41C95238-09E0-4D49-95D1-683E42B1A63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310986AA-F517-4E75-9FF4-F1323A8C481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7BFB356D-B4F9-4038-8263-19DCF2F3751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059</a:t>
            </a:r>
          </a:p>
        </p:txBody>
      </p:sp>
    </p:spTree>
    <p:extLst>
      <p:ext uri="{BB962C8B-B14F-4D97-AF65-F5344CB8AC3E}">
        <ns4:creationId val="1734235244"/>
      </p:ext>
    </p:extLst>
  </p:cSld>
</p:sld>
</file>

<file path=ppt/slides/slide6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CAE59210-5750-46C6-AA28-A73B0C69DC5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F43EE0D9-2868-469A-A9FD-35235849962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초기 상태의 영향</a:t>
            </a:r>
          </a:p>
        </p:txBody>
      </p:sp>
      <p:sp>
        <p:nvSpPr>
          <p:cNvPr id="3" name="">
            <a:extLst>
              <a:ext uri="{FF2B5EF4-FFF2-40B4-BE49-F238E27FC236}">
                <ns2:creationId id="{D6210203-C2C9-498D-B42C-94608E294FF3}"/>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초기 상태의 영향</a:t>
            </a:r>
          </a:p>
        </p:txBody>
      </p:sp>
      <p:sp>
        <p:nvSpPr>
          <p:cNvPr id="4" name="">
            <a:extLst>
              <a:ext uri="{FF2B5EF4-FFF2-40B4-BE49-F238E27FC236}">
                <ns2:creationId id="{CFC9DC8E-4769-4FAA-8172-A027F9906D18}"/>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처음 alert=False로 시작합니다.</a:t>
            </a:r>
          </a:p>
        </p:txBody>
      </p:sp>
      <p:sp>
        <p:nvSpPr>
          <p:cNvPr id="5" name="">
            <a:extLst>
              <a:ext uri="{FF2B5EF4-FFF2-40B4-BE49-F238E27FC236}">
                <ns2:creationId id="{D2A08E27-C6D4-4506-B94F-55DF77D86BCD}"/>
              </a:ext>
            </a:extLst>
          </p:cNvPr>
          <p:cNvSpPr>
            <a:spLocks noGrp="1"/>
          </p:cNvSpPr>
          <p:nvPr/>
        </p:nvSpPr>
        <p:spPr>
          <a:xfrm>
            <a:off x="685800" y="286131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첫 값이 중간이면 초기 상태가 유지됩니다.</a:t>
            </a:r>
          </a:p>
        </p:txBody>
      </p:sp>
      <p:sp>
        <p:nvSpPr>
          <p:cNvPr id="6" name="">
            <a:extLst>
              <a:ext uri="{FF2B5EF4-FFF2-40B4-BE49-F238E27FC236}">
                <ns2:creationId id="{683A767F-13F3-4865-A2BD-ABE7EDC9052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첫 중간 값과 초기 상태</a:t>
            </a:r>
          </a:p>
        </p:txBody>
      </p:sp>
      <p:graphicFrame>
        <p:nvGraphicFramePr>
          <p:cNvPr id="19" name=""/>
          <p:cNvGraphicFramePr/>
          <p:nvPr/>
        </p:nvGraphicFramePr>
        <p:xfrm>
          <a:off x="6267450" y="2628900"/>
          <a:ext cx="5238750" cy="1543050"/>
        </p:xfrm>
        <a:graphic>
          <a:graphicData uri="http://schemas.openxmlformats.org/drawingml/2006/table">
            <a:tbl>
              <a:tblPr firstRow="1" bandRow="0"/>
              <a:tblGrid>
                <a:gridCol w="2103568"/>
                <a:gridCol w="1527248"/>
                <a:gridCol w="1607933"/>
              </a:tblGrid>
              <a:tr h="514350">
                <a:tc>
                  <a:txBody>
                    <a:bodyPr wrap="square"/>
                    <a:lstStyle/>
                    <a:p>
                      <a:pPr>
                        <a:lnSpc>
                          <a:spcPct val="102000"/>
                        </a:lnSpc>
                        <a:buNone/>
                      </a:pPr>
                      <a:r>
                        <a:rPr sz="1875" b="1">
                          <a:solidFill>
                            <a:srgbClr val="172F39"/>
                          </a:solidFill>
                          <a:latin typeface="Noto Sans KR"/>
                          <a:ea typeface="Noto Sans KR"/>
                          <a:cs typeface="Noto Sans KR"/>
                        </a:rPr>
                        <a:t>초기 상태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첫 값</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False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27.8</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False</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True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27.8</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True</a:t>
                      </a:r>
                    </a:p>
                  </a:txBody>
                  <a:tcPr marL="114300" marR="114300" marT="76200" marB="76200" anchor="ctr">
                    <a:solidFill>
                      <a:srgbClr val="FFFFFF"/>
                    </a:solidFill>
                  </a:tcPr>
                </a:tc>
              </a:tr>
            </a:tbl>
          </a:graphicData>
        </a:graphic>
      </p:graphicFrame>
      <p:sp>
        <p:nvSpPr>
          <p:cNvPr id="8" name="">
            <a:extLst>
              <a:ext uri="{FF2B5EF4-FFF2-40B4-BE49-F238E27FC236}">
                <ns2:creationId id="{7AD51182-E5C9-4572-8138-7ACB1ADDFDBD}"/>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A0DD34E7-EC5A-42A1-B232-96DECE71F1A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0764DA62-E9C7-40C1-A7EB-E14B76E22F4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CAAE5D62-2A0A-4625-9A0E-96BD6F6C8F3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5D33DA81-DBA4-45C5-8641-13D111F49B3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060</a:t>
            </a:r>
          </a:p>
        </p:txBody>
      </p:sp>
    </p:spTree>
    <p:extLst>
      <p:ext uri="{BB962C8B-B14F-4D97-AF65-F5344CB8AC3E}">
        <ns4:creationId val="11244822"/>
      </p:ext>
    </p:extLst>
  </p:cSld>
</p:sld>
</file>

<file path=ppt/slides/slide6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6AFDF534-35C7-4FCB-AE0C-F3692C125BF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784607BC-0D6B-43BE-BD85-251F07F5A28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결측과 상태 유지</a:t>
            </a:r>
          </a:p>
        </p:txBody>
      </p:sp>
      <p:sp>
        <p:nvSpPr>
          <p:cNvPr id="3" name="">
            <a:extLst>
              <a:ext uri="{FF2B5EF4-FFF2-40B4-BE49-F238E27FC236}">
                <ns2:creationId id="{6AF84507-3E94-47C0-AFC0-202538B8916D}"/>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누락 메시지</a:t>
            </a:r>
          </a:p>
        </p:txBody>
      </p:sp>
      <p:sp>
        <p:nvSpPr>
          <p:cNvPr id="4" name="">
            <a:extLst>
              <a:ext uri="{FF2B5EF4-FFF2-40B4-BE49-F238E27FC236}">
                <ns2:creationId id="{2153166E-BB9E-4BD8-AE11-18F0C25BF1C8}"/>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missing · no command를 기록합니다.</a:t>
            </a:r>
          </a:p>
        </p:txBody>
      </p:sp>
      <p:sp>
        <p:nvSpPr>
          <p:cNvPr id="5" name="">
            <a:extLst>
              <a:ext uri="{FF2B5EF4-FFF2-40B4-BE49-F238E27FC236}">
                <ns2:creationId id="{ECF1EBC2-B2B8-4CBE-92AE-1F343B39838F}"/>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내부 상태</a:t>
            </a:r>
          </a:p>
        </p:txBody>
      </p:sp>
      <p:sp>
        <p:nvSpPr>
          <p:cNvPr id="6" name="">
            <a:extLst>
              <a:ext uri="{FF2B5EF4-FFF2-40B4-BE49-F238E27FC236}">
                <ns2:creationId id="{E8CB5EFB-D5AA-48A4-BA95-9B57D26810C0}"/>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내부 상태와 측정 유효성을 구분합니다.</a:t>
            </a:r>
          </a:p>
        </p:txBody>
      </p:sp>
      <p:sp>
        <p:nvSpPr>
          <p:cNvPr id="7" name="">
            <a:extLst>
              <a:ext uri="{FF2B5EF4-FFF2-40B4-BE49-F238E27FC236}">
                <ns2:creationId id="{5743D3FA-D6E2-41BE-8E3F-F91ED8FE8DA6}"/>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B4E31829-954C-4884-80B5-58E2FA2C606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F7A359F8-4656-49DD-83D3-A208B4D974F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AD85FF7E-3DD0-48C8-8F4F-3ED8C11B534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83A204A4-BA42-4171-A2D5-1EBC89BCB3F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061</a:t>
            </a:r>
          </a:p>
        </p:txBody>
      </p:sp>
    </p:spTree>
    <p:extLst>
      <p:ext uri="{BB962C8B-B14F-4D97-AF65-F5344CB8AC3E}">
        <ns4:creationId val="923351713"/>
      </p:ext>
    </p:extLst>
  </p:cSld>
</p:sld>
</file>

<file path=ppt/slides/slide6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3C306E30-477A-4D63-B340-08FE10A8FD6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22D7209D-641B-4A9E-BA5A-6C0E3DD87F6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원시값과 판단 기록</a:t>
            </a:r>
          </a:p>
        </p:txBody>
      </p:sp>
      <p:sp>
        <p:nvSpPr>
          <p:cNvPr id="3" name="">
            <a:extLst>
              <a:ext uri="{FF2B5EF4-FFF2-40B4-BE49-F238E27FC236}">
                <ns2:creationId id="{91A14D97-D9AC-4AA9-930B-CA5C82BAF11B}"/>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원시값과 판단 기록</a:t>
            </a:r>
          </a:p>
        </p:txBody>
      </p:sp>
      <p:sp>
        <p:nvSpPr>
          <p:cNvPr id="4" name="">
            <a:extLst>
              <a:ext uri="{FF2B5EF4-FFF2-40B4-BE49-F238E27FC236}">
                <ns2:creationId id="{FA1F9227-1184-4C74-87CF-AD2B412F27B2}"/>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순번 · 입력값 · 이전 상태 · 새 상태</a:t>
            </a:r>
          </a:p>
        </p:txBody>
      </p:sp>
      <p:sp>
        <p:nvSpPr>
          <p:cNvPr id="5" name="">
            <a:extLst>
              <a:ext uri="{FF2B5EF4-FFF2-40B4-BE49-F238E27FC236}">
                <ns2:creationId id="{BE67317D-1F97-4B4E-B927-E280EA7BD163}"/>
              </a:ext>
            </a:extLst>
          </p:cNvPr>
          <p:cNvSpPr>
            <a:spLocks noGrp="1"/>
          </p:cNvSpPr>
          <p:nvPr/>
        </p:nvSpPr>
        <p:spPr>
          <a:xfrm>
            <a:off x="685800" y="286131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왜 상태가 유지됐는지 다시 읽을 수 있습니다.</a:t>
            </a:r>
          </a:p>
        </p:txBody>
      </p:sp>
      <p:sp>
        <p:nvSpPr>
          <p:cNvPr id="6" name="">
            <a:extLst>
              <a:ext uri="{FF2B5EF4-FFF2-40B4-BE49-F238E27FC236}">
                <ns2:creationId id="{BF264866-1D39-4DF1-90E1-4E059DF5BB22}"/>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변경 이유를 다시 읽기</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553945"/>
                <a:gridCol w="1730742"/>
                <a:gridCol w="1954063"/>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이전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새 상태</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28.1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False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True</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27.9</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True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True</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27.4</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True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False</a:t>
                      </a:r>
                    </a:p>
                  </a:txBody>
                  <a:tcPr marL="114300" marR="114300" marT="76200" marB="76200" anchor="ctr">
                    <a:solidFill>
                      <a:srgbClr val="FFFFFF"/>
                    </a:solidFill>
                  </a:tcPr>
                </a:tc>
              </a:tr>
            </a:tbl>
          </a:graphicData>
        </a:graphic>
      </p:graphicFrame>
      <p:sp>
        <p:nvSpPr>
          <p:cNvPr id="8" name="">
            <a:extLst>
              <a:ext uri="{FF2B5EF4-FFF2-40B4-BE49-F238E27FC236}">
                <ns2:creationId id="{30820A9C-1423-4315-828C-3352144E214B}"/>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1083E8EA-BAEE-4B4E-B0FB-0FB3BFDB2FB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4DFAD582-127A-48D4-8BDF-4319118F8AD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038E403B-7A82-4FCB-9793-52BE58C4079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EFA9F501-253E-4BD1-AE5B-7F6E025FBD8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062</a:t>
            </a:r>
          </a:p>
        </p:txBody>
      </p:sp>
    </p:spTree>
    <p:extLst>
      <p:ext uri="{BB962C8B-B14F-4D97-AF65-F5344CB8AC3E}">
        <ns4:creationId val="1143384550"/>
      </p:ext>
    </p:extLst>
  </p:cSld>
</p:sld>
</file>

<file path=ppt/slides/slide6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5" name="">
            <a:extLst>
              <a:ext uri="{FF2B5EF4-FFF2-40B4-BE49-F238E27FC236}">
                <ns2:creationId id="{37134486-2FD0-43A4-AF68-2B9B51768DC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5F051EC7-361A-4A1A-BEF2-1A10BFD5C1E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히스테리시스 추적 예제</a:t>
            </a:r>
          </a:p>
        </p:txBody>
      </p:sp>
      <p:sp>
        <p:nvSpPr>
          <p:cNvPr id="3" name="">
            <a:extLst>
              <a:ext uri="{FF2B5EF4-FFF2-40B4-BE49-F238E27FC236}">
                <ns2:creationId id="{BEF00249-C37B-4302-B640-8E9A01CD9819}"/>
              </a:ext>
            </a:extLst>
          </p:cNvPr>
          <p:cNvSpPr>
            <a:spLocks noGrp="1"/>
          </p:cNvSpPr>
          <p:nvPr/>
        </p:nvSpPr>
        <p:spPr>
          <a:xfrm>
            <a:off x="685800" y="1809750"/>
            <a:ext cx="10820400" cy="2859786"/>
          </a:xfrm>
          <a:prstGeom prst="rect">
            <a:avLst/>
          </a:prstGeom>
          <a:solidFill>
            <a:srgbClr val="F1F6F5"/>
          </a:solidFill>
          <a:ln w="0">
            <a:noFill/>
          </a:ln>
        </p:spPr>
      </p:sp>
      <p:sp>
        <p:nvSpPr>
          <p:cNvPr id="4" name="">
            <a:extLst>
              <a:ext uri="{FF2B5EF4-FFF2-40B4-BE49-F238E27FC236}">
                <ns2:creationId id="{BCA8D305-2CA2-40AF-B166-DC673D87AA74}"/>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A3A93036-C469-40E2-96C8-13B076A1182D}"/>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values = [27.8, 28.1, 27.9, 27.4]</a:t>
            </a:r>
          </a:p>
        </p:txBody>
      </p:sp>
      <p:sp>
        <p:nvSpPr>
          <p:cNvPr id="6" name="">
            <a:extLst>
              <a:ext uri="{FF2B5EF4-FFF2-40B4-BE49-F238E27FC236}">
                <ns2:creationId id="{294A7A5F-82A1-4955-B188-3E28A691E1D2}"/>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16837CA3-D94D-4F67-8697-17FD06DD43DD}"/>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alert = False</a:t>
            </a:r>
          </a:p>
        </p:txBody>
      </p:sp>
      <p:sp>
        <p:nvSpPr>
          <p:cNvPr id="8" name="">
            <a:extLst>
              <a:ext uri="{FF2B5EF4-FFF2-40B4-BE49-F238E27FC236}">
                <ns2:creationId id="{21862808-B66B-4AF9-A00B-BBABF95930C9}"/>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F873CD43-DB65-4B90-8256-16BD717DF320}"/>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for value in values:</a:t>
            </a:r>
          </a:p>
        </p:txBody>
      </p:sp>
      <p:sp>
        <p:nvSpPr>
          <p:cNvPr id="10" name="">
            <a:extLst>
              <a:ext uri="{FF2B5EF4-FFF2-40B4-BE49-F238E27FC236}">
                <ns2:creationId id="{CEE68F8B-3B8F-4089-A58E-319AEF5674A5}"/>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FCF8543B-2E2A-4A42-9B4E-BCD7CFDAFDF8}"/>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if value &gt;= 28.0:</a:t>
            </a:r>
          </a:p>
        </p:txBody>
      </p:sp>
      <p:sp>
        <p:nvSpPr>
          <p:cNvPr id="12" name="">
            <a:extLst>
              <a:ext uri="{FF2B5EF4-FFF2-40B4-BE49-F238E27FC236}">
                <ns2:creationId id="{CFA4E78B-C586-4A68-9706-0E87B28E5368}"/>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37821E46-1633-44B7-A5B8-58FB4E60A67A}"/>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alert = True</a:t>
            </a:r>
          </a:p>
        </p:txBody>
      </p:sp>
      <p:sp>
        <p:nvSpPr>
          <p:cNvPr id="14" name="">
            <a:extLst>
              <a:ext uri="{FF2B5EF4-FFF2-40B4-BE49-F238E27FC236}">
                <ns2:creationId id="{3F67045A-740E-452A-A502-BDEE285967CC}"/>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D024FD71-BC12-4E46-BCAD-DC76A6286734}"/>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elif value &lt;= 27.5:</a:t>
            </a:r>
          </a:p>
        </p:txBody>
      </p:sp>
      <p:sp>
        <p:nvSpPr>
          <p:cNvPr id="16" name="">
            <a:extLst>
              <a:ext uri="{FF2B5EF4-FFF2-40B4-BE49-F238E27FC236}">
                <ns2:creationId id="{8C4C576C-99C7-49DC-AAF5-088CD0748905}"/>
              </a:ext>
            </a:extLst>
          </p:cNvPr>
          <p:cNvSpPr>
            <a:spLocks noGrp="1"/>
          </p:cNvSpPr>
          <p:nvPr/>
        </p:nvSpPr>
        <p:spPr>
          <a:xfrm>
            <a:off x="828675" y="387362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07</a:t>
            </a:r>
          </a:p>
        </p:txBody>
      </p:sp>
      <p:sp>
        <p:nvSpPr>
          <p:cNvPr id="17" name="">
            <a:extLst>
              <a:ext uri="{FF2B5EF4-FFF2-40B4-BE49-F238E27FC236}">
                <ns2:creationId id="{AA6EEBE4-F49D-47DD-858F-A6D936BBA169}"/>
              </a:ext>
            </a:extLst>
          </p:cNvPr>
          <p:cNvSpPr>
            <a:spLocks noGrp="1"/>
          </p:cNvSpPr>
          <p:nvPr/>
        </p:nvSpPr>
        <p:spPr>
          <a:xfrm>
            <a:off x="1276350" y="383552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alert = False</a:t>
            </a:r>
          </a:p>
        </p:txBody>
      </p:sp>
      <p:sp>
        <p:nvSpPr>
          <p:cNvPr id="18" name="">
            <a:extLst>
              <a:ext uri="{FF2B5EF4-FFF2-40B4-BE49-F238E27FC236}">
                <ns2:creationId id="{A30BE3ED-B91A-464C-B1BA-981139404FE6}"/>
              </a:ext>
            </a:extLst>
          </p:cNvPr>
          <p:cNvSpPr>
            <a:spLocks noGrp="1"/>
          </p:cNvSpPr>
          <p:nvPr/>
        </p:nvSpPr>
        <p:spPr>
          <a:xfrm>
            <a:off x="828675" y="419061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08</a:t>
            </a:r>
          </a:p>
        </p:txBody>
      </p:sp>
      <p:sp>
        <p:nvSpPr>
          <p:cNvPr id="19" name="">
            <a:extLst>
              <a:ext uri="{FF2B5EF4-FFF2-40B4-BE49-F238E27FC236}">
                <ns2:creationId id="{DBA5D8D9-7DAF-4D01-BC43-717ED6F745C4}"/>
              </a:ext>
            </a:extLst>
          </p:cNvPr>
          <p:cNvSpPr>
            <a:spLocks noGrp="1"/>
          </p:cNvSpPr>
          <p:nvPr/>
        </p:nvSpPr>
        <p:spPr>
          <a:xfrm>
            <a:off x="1276350" y="415251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print(value, alert)</a:t>
            </a:r>
          </a:p>
        </p:txBody>
      </p:sp>
      <p:sp>
        <p:nvSpPr>
          <p:cNvPr id="20" name="">
            <a:extLst>
              <a:ext uri="{FF2B5EF4-FFF2-40B4-BE49-F238E27FC236}">
                <ns2:creationId id="{8AD7A3D1-4FD8-4F03-B84B-9D7A5012274B}"/>
              </a:ext>
            </a:extLst>
          </p:cNvPr>
          <p:cNvSpPr>
            <a:spLocks noGrp="1"/>
          </p:cNvSpPr>
          <p:nvPr/>
        </p:nvSpPr>
        <p:spPr>
          <a:xfrm>
            <a:off x="685800" y="6172200"/>
            <a:ext cx="10820400" cy="9525"/>
          </a:xfrm>
          <a:prstGeom prst="rect">
            <a:avLst/>
          </a:prstGeom>
          <a:solidFill>
            <a:srgbClr val="D5DEDD"/>
          </a:solidFill>
          <a:ln w="0">
            <a:noFill/>
          </a:ln>
        </p:spPr>
      </p:sp>
      <p:sp>
        <p:nvSpPr>
          <p:cNvPr id="21" name="">
            <a:extLst>
              <a:ext uri="{FF2B5EF4-FFF2-40B4-BE49-F238E27FC236}">
                <ns2:creationId id="{7DF14F3C-EC08-48E9-966E-8A73E2AFB8B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2" name="">
            <a:extLst>
              <a:ext uri="{FF2B5EF4-FFF2-40B4-BE49-F238E27FC236}">
                <ns2:creationId id="{033C67F0-F455-4E54-8B1E-17A6B572D96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3" name="">
            <a:extLst>
              <a:ext uri="{FF2B5EF4-FFF2-40B4-BE49-F238E27FC236}">
                <ns2:creationId id="{CFC8BAE5-8B45-4791-AC0F-D43A98C46EB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4" name="">
            <a:extLst>
              <a:ext uri="{FF2B5EF4-FFF2-40B4-BE49-F238E27FC236}">
                <ns2:creationId id="{B55B1381-7A83-440A-A942-6104C56D6F7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063</a:t>
            </a:r>
          </a:p>
        </p:txBody>
      </p:sp>
    </p:spTree>
    <p:extLst>
      <p:ext uri="{BB962C8B-B14F-4D97-AF65-F5344CB8AC3E}">
        <ns4:creationId val="1579792985"/>
      </p:ext>
    </p:extLst>
  </p:cSld>
</p:sld>
</file>

<file path=ppt/slides/slide6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537DA008-2725-43A5-AE6A-80A8F905030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6D9CE85A-809A-4452-A1F4-F4F216366C9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코드의 줄별 역할</a:t>
            </a:r>
          </a:p>
        </p:txBody>
      </p:sp>
      <p:sp>
        <p:nvSpPr>
          <p:cNvPr id="3" name="">
            <a:extLst>
              <a:ext uri="{FF2B5EF4-FFF2-40B4-BE49-F238E27FC236}">
                <ns2:creationId id="{DF457EC4-6902-4991-BC24-7CA3A04C8305}"/>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1~2행: 입력 목록과 초기 상태를 정합니다.</a:t>
            </a:r>
          </a:p>
        </p:txBody>
      </p:sp>
      <p:sp>
        <p:nvSpPr>
          <p:cNvPr id="4" name="">
            <a:extLst>
              <a:ext uri="{FF2B5EF4-FFF2-40B4-BE49-F238E27FC236}">
                <ns2:creationId id="{1155FE0B-E839-4457-AD49-4B2BAD3C891A}"/>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3행: 한 값씩 꺼냅니다.</a:t>
            </a:r>
          </a:p>
        </p:txBody>
      </p:sp>
      <p:sp>
        <p:nvSpPr>
          <p:cNvPr id="5" name="">
            <a:extLst>
              <a:ext uri="{FF2B5EF4-FFF2-40B4-BE49-F238E27FC236}">
                <ns2:creationId id="{1D0E639C-67D1-4155-B6B6-CFE5A108316E}"/>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4~7행: 켜짐·꺼짐 문턱을 검사합니다.</a:t>
            </a:r>
          </a:p>
        </p:txBody>
      </p:sp>
      <p:sp>
        <p:nvSpPr>
          <p:cNvPr id="6" name="">
            <a:extLst>
              <a:ext uri="{FF2B5EF4-FFF2-40B4-BE49-F238E27FC236}">
                <ns2:creationId id="{A23FA479-EB9D-47B5-91A4-EE99AF77BC84}"/>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8행: 값과 상태를 출력합니다.</a:t>
            </a:r>
          </a:p>
        </p:txBody>
      </p:sp>
      <p:sp>
        <p:nvSpPr>
          <p:cNvPr id="7" name="">
            <a:extLst>
              <a:ext uri="{FF2B5EF4-FFF2-40B4-BE49-F238E27FC236}">
                <ns2:creationId id="{AB32CBB3-FBFD-4F14-AD64-A87AAFB34D74}"/>
              </a:ext>
            </a:extLst>
          </p:cNvPr>
          <p:cNvSpPr>
            <a:spLocks noGrp="1"/>
          </p:cNvSpPr>
          <p:nvPr/>
        </p:nvSpPr>
        <p:spPr>
          <a:xfrm>
            <a:off x="685800" y="4338447"/>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코드 63번의 입력과 출력 66번을 함께 봅니다.</a:t>
            </a:r>
          </a:p>
        </p:txBody>
      </p:sp>
      <p:sp>
        <p:nvSpPr>
          <p:cNvPr id="8" name="">
            <a:extLst>
              <a:ext uri="{FF2B5EF4-FFF2-40B4-BE49-F238E27FC236}">
                <ns2:creationId id="{F3470E27-A624-4F49-8930-EF70D2D3675B}"/>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94881333-7EB1-4EBE-85CC-434927296E8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9CCBDA95-A57D-4543-97AD-E61E40B6921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7A8D707-0AEB-40DA-AB26-8AB04FF6203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C4071635-FE8B-4D8C-BADF-D83306DBF34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064</a:t>
            </a:r>
          </a:p>
        </p:txBody>
      </p:sp>
    </p:spTree>
    <p:extLst>
      <p:ext uri="{BB962C8B-B14F-4D97-AF65-F5344CB8AC3E}">
        <ns4:creationId val="1114304432"/>
      </p:ext>
    </p:extLst>
  </p:cSld>
</p:sld>
</file>

<file path=ppt/slides/slide6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76730B04-6987-4C27-AFD1-2C01A44EEB3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85F5E032-3B5A-4BD4-A328-18B5BFF363F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학생 파일과 실행 명령</a:t>
            </a:r>
          </a:p>
        </p:txBody>
      </p:sp>
      <p:sp>
        <p:nvSpPr>
          <p:cNvPr id="3" name="">
            <a:extLst>
              <a:ext uri="{FF2B5EF4-FFF2-40B4-BE49-F238E27FC236}">
                <ns2:creationId id="{71B15302-5347-4F7A-86C6-6D0BCF5BB4C2}"/>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현재 폴더: 압축을 푼 course</a:t>
            </a:r>
          </a:p>
        </p:txBody>
      </p:sp>
      <p:sp>
        <p:nvSpPr>
          <p:cNvPr id="4" name="">
            <a:extLst>
              <a:ext uri="{FF2B5EF4-FFF2-40B4-BE49-F238E27FC236}">
                <ns2:creationId id="{A2023C41-CEED-44A0-A4B8-231630683579}"/>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학생 파일: work/hysteresis_trace.py</a:t>
            </a:r>
          </a:p>
        </p:txBody>
      </p:sp>
      <p:sp>
        <p:nvSpPr>
          <p:cNvPr id="5" name="">
            <a:extLst>
              <a:ext uri="{FF2B5EF4-FFF2-40B4-BE49-F238E27FC236}">
                <ns2:creationId id="{A3C4C397-C5BC-43B7-BDEC-3B4BDB251D47}"/>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python -X utf8 work/hysteresis_trace.py</a:t>
            </a:r>
          </a:p>
        </p:txBody>
      </p:sp>
      <p:sp>
        <p:nvSpPr>
          <p:cNvPr id="6" name="">
            <a:extLst>
              <a:ext uri="{FF2B5EF4-FFF2-40B4-BE49-F238E27FC236}">
                <ns2:creationId id="{C186CCFB-AA0E-4FED-8D4C-3BA5E7796CCF}"/>
              </a:ext>
            </a:extLst>
          </p:cNvPr>
          <p:cNvSpPr>
            <a:spLocks noGrp="1"/>
          </p:cNvSpPr>
          <p:nvPr/>
        </p:nvSpPr>
        <p:spPr>
          <a:xfrm>
            <a:off x="685800" y="379437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코드 63번의 입력과 출력 66번을 함께 봅니다.</a:t>
            </a:r>
          </a:p>
        </p:txBody>
      </p:sp>
      <p:sp>
        <p:nvSpPr>
          <p:cNvPr id="7" name="">
            <a:extLst>
              <a:ext uri="{FF2B5EF4-FFF2-40B4-BE49-F238E27FC236}">
                <ns2:creationId id="{C3008792-37DA-4427-A09D-543C12BAF03A}"/>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4668FB14-E207-495B-B9F7-48D0D28AAD2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75362FFE-0724-48AD-8CED-4986076BB15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862A772B-75BC-43AE-BD8E-F96126DA2BE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77F349BD-BACB-4E48-BA14-BE7812B4753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065</a:t>
            </a:r>
          </a:p>
        </p:txBody>
      </p:sp>
    </p:spTree>
    <p:extLst>
      <p:ext uri="{BB962C8B-B14F-4D97-AF65-F5344CB8AC3E}">
        <ns4:creationId val="928043349"/>
      </p:ext>
    </p:extLst>
  </p:cSld>
</p:sld>
</file>

<file path=ppt/slides/slide6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97C5161C-F5F6-4FFB-8C24-54D66C2CD44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7DCC9EBD-4CAE-4C1E-A4F4-70DA49D25F4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a:t>
            </a:r>
          </a:p>
        </p:txBody>
      </p:sp>
      <p:sp>
        <p:nvSpPr>
          <p:cNvPr id="3" name="">
            <a:extLst>
              <a:ext uri="{FF2B5EF4-FFF2-40B4-BE49-F238E27FC236}">
                <ns2:creationId id="{6131AAA4-4D8C-4C3D-837D-0641B12E583C}"/>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27.8 False → 28.1 True</a:t>
            </a:r>
          </a:p>
        </p:txBody>
      </p:sp>
      <p:sp>
        <p:nvSpPr>
          <p:cNvPr id="4" name="">
            <a:extLst>
              <a:ext uri="{FF2B5EF4-FFF2-40B4-BE49-F238E27FC236}">
                <ns2:creationId id="{91231E48-8726-427B-B7BB-8BB4C44EC867}"/>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27.9 True → 27.4 False</a:t>
            </a:r>
          </a:p>
        </p:txBody>
      </p:sp>
      <p:sp>
        <p:nvSpPr>
          <p:cNvPr id="5" name="">
            <a:extLst>
              <a:ext uri="{FF2B5EF4-FFF2-40B4-BE49-F238E27FC236}">
                <ns2:creationId id="{B1E4912D-F44C-4CD5-BB28-CEBD0AF7E373}"/>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중간 27.9에서는 이전 True를 유지합니다.</a:t>
            </a:r>
          </a:p>
        </p:txBody>
      </p:sp>
      <p:sp>
        <p:nvSpPr>
          <p:cNvPr id="6" name="">
            <a:extLst>
              <a:ext uri="{FF2B5EF4-FFF2-40B4-BE49-F238E27FC236}">
                <ns2:creationId id="{FE8CFCF3-15D9-4644-9AB0-6410923F992A}"/>
              </a:ext>
            </a:extLst>
          </p:cNvPr>
          <p:cNvSpPr>
            <a:spLocks noGrp="1"/>
          </p:cNvSpPr>
          <p:nvPr/>
        </p:nvSpPr>
        <p:spPr>
          <a:xfrm>
            <a:off x="685800" y="379437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코드 63번의 입력과 출력 66번을 함께 봅니다.</a:t>
            </a:r>
          </a:p>
        </p:txBody>
      </p:sp>
      <p:sp>
        <p:nvSpPr>
          <p:cNvPr id="7" name="">
            <a:extLst>
              <a:ext uri="{FF2B5EF4-FFF2-40B4-BE49-F238E27FC236}">
                <ns2:creationId id="{A474212D-E647-4E8D-93B7-3F555FBE8215}"/>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A1AEFF86-BFAF-435E-A48A-1B42CE35BB1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63588993-C17E-4E18-944A-B669F18C007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6685E51C-1A7E-4CA4-93DC-ED7F2B6EC35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1990DC17-544A-4733-AAEC-861A754A916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066</a:t>
            </a:r>
          </a:p>
        </p:txBody>
      </p:sp>
    </p:spTree>
    <p:extLst>
      <p:ext uri="{BB962C8B-B14F-4D97-AF65-F5344CB8AC3E}">
        <ns4:creationId val="1410644033"/>
      </p:ext>
    </p:extLst>
  </p:cSld>
</p:sld>
</file>

<file path=ppt/slides/slide6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C5C9C014-5BF2-4E48-AC65-9193E0A4E44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37402C24-1056-4779-94FD-500615CF351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연습 문제</a:t>
            </a:r>
          </a:p>
        </p:txBody>
      </p:sp>
      <p:sp>
        <p:nvSpPr>
          <p:cNvPr id="3" name="">
            <a:extLst>
              <a:ext uri="{FF2B5EF4-FFF2-40B4-BE49-F238E27FC236}">
                <ns2:creationId id="{8DB00E9B-5964-41F5-98F3-B71A72694A34}"/>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초기 False · 입력 [28.0,27.7,None,27.5]</a:t>
            </a:r>
          </a:p>
        </p:txBody>
      </p:sp>
      <p:sp>
        <p:nvSpPr>
          <p:cNvPr id="4" name="">
            <a:extLst>
              <a:ext uri="{FF2B5EF4-FFF2-40B4-BE49-F238E27FC236}">
                <ns2:creationId id="{E0BC8242-556A-465F-9759-2338C8472A6B}"/>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상태와 누락 메시지를 순서대로 쓰세요.</a:t>
            </a:r>
          </a:p>
        </p:txBody>
      </p:sp>
      <p:sp>
        <p:nvSpPr>
          <p:cNvPr id="5" name="">
            <a:extLst>
              <a:ext uri="{FF2B5EF4-FFF2-40B4-BE49-F238E27FC236}">
                <ns2:creationId id="{1AB2CEFC-D8AC-47BC-9B9C-6C406F5367A3}"/>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8C09CD2E-A841-40B9-93A1-2639FDF0C15B}"/>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AF978E46-261C-4996-B020-635278B3304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31822AFC-1DD3-4E9F-AEEE-C707983D5A5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181800FE-F2FA-4E44-AAA6-AB5A064472F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30D37A6B-8FE8-4D6C-82C8-C63BDF7DEE2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067</a:t>
            </a:r>
          </a:p>
        </p:txBody>
      </p:sp>
    </p:spTree>
    <p:extLst>
      <p:ext uri="{BB962C8B-B14F-4D97-AF65-F5344CB8AC3E}">
        <ns4:creationId val="7492038"/>
      </p:ext>
    </p:extLst>
  </p:cSld>
</p:sld>
</file>

<file path=ppt/slides/slide6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1E0585FD-7681-4155-8A1D-0BB2EA3BCEE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BBBAA845-143D-4EBE-A705-419E745DC4A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정답과 풀이</a:t>
            </a:r>
          </a:p>
        </p:txBody>
      </p:sp>
      <p:sp>
        <p:nvSpPr>
          <p:cNvPr id="3" name="">
            <a:extLst>
              <a:ext uri="{FF2B5EF4-FFF2-40B4-BE49-F238E27FC236}">
                <ns2:creationId id="{4414EFEF-FF24-456F-94F1-A5F09B3FB0EE}"/>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True → True → 상태 유지·no command → False</a:t>
            </a:r>
          </a:p>
        </p:txBody>
      </p:sp>
      <p:sp>
        <p:nvSpPr>
          <p:cNvPr id="4" name="">
            <a:extLst>
              <a:ext uri="{FF2B5EF4-FFF2-40B4-BE49-F238E27FC236}">
                <ns2:creationId id="{734F0884-5E97-4953-AD60-13FF8192B5E6}"/>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None을 0으로 넣어 꺼짐 판정을 하지 않습니다.</a:t>
            </a:r>
          </a:p>
        </p:txBody>
      </p:sp>
      <p:sp>
        <p:nvSpPr>
          <p:cNvPr id="5" name="">
            <a:extLst>
              <a:ext uri="{FF2B5EF4-FFF2-40B4-BE49-F238E27FC236}">
                <ns2:creationId id="{2BF083FE-DD78-4BB3-B95B-D60CBA29E153}"/>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6DBB1FF4-F585-4CDA-95BE-FCCFEEE9A5F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4EA2E1A4-583A-4FE2-908B-CAB4639BFE3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856E0A28-29CC-4DA3-8CF7-65725F5075F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F35C1A7A-ADB7-4E34-B2E5-FA5FA4D5D9E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068</a:t>
            </a:r>
          </a:p>
        </p:txBody>
      </p:sp>
    </p:spTree>
    <p:extLst>
      <p:ext uri="{BB962C8B-B14F-4D97-AF65-F5344CB8AC3E}">
        <ns4:creationId val="1385099533"/>
      </p:ext>
    </p:extLst>
  </p:cSld>
</p:sld>
</file>

<file path=ppt/slides/slide6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87A592C9-B2A9-4D7E-8037-6BC9A565D5C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E5D30A19-573C-47DA-A437-831F01B85AA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값 바꾸기</a:t>
            </a:r>
          </a:p>
        </p:txBody>
      </p:sp>
      <p:sp>
        <p:nvSpPr>
          <p:cNvPr id="3" name="">
            <a:extLst>
              <a:ext uri="{FF2B5EF4-FFF2-40B4-BE49-F238E27FC236}">
                <ns2:creationId id="{3755F161-C89A-48D4-83F9-D94C4A7C3EF8}"/>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초기 상태를 True로 바꿉니다.</a:t>
            </a:r>
          </a:p>
        </p:txBody>
      </p:sp>
      <p:sp>
        <p:nvSpPr>
          <p:cNvPr id="4" name="">
            <a:extLst>
              <a:ext uri="{FF2B5EF4-FFF2-40B4-BE49-F238E27FC236}">
                <ns2:creationId id="{719BA428-69C0-4D5C-A240-73C1A1CD791B}"/>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첫 27.8에서 True가 유지됩니다.</a:t>
            </a:r>
          </a:p>
        </p:txBody>
      </p:sp>
      <p:sp>
        <p:nvSpPr>
          <p:cNvPr id="5" name="">
            <a:extLst>
              <a:ext uri="{FF2B5EF4-FFF2-40B4-BE49-F238E27FC236}">
                <ns2:creationId id="{6AC59F52-06C4-4F2D-9575-D5C6A7DCAFD8}"/>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45A5BF11-7DE3-410E-9215-522F0F7ACBF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7D18E3C1-F719-4A97-8EB7-A014779B1AB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9CA8C7D4-660B-465F-A28D-C61B7F188DD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7B604E20-9272-4189-89C2-10B0CC4C478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069</a:t>
            </a:r>
          </a:p>
        </p:txBody>
      </p:sp>
    </p:spTree>
    <p:extLst>
      <p:ext uri="{BB962C8B-B14F-4D97-AF65-F5344CB8AC3E}">
        <ns4:creationId val="1446953992"/>
      </p:ext>
    </p:extLst>
  </p:cSld>
</p:sld>
</file>

<file path=ppt/slides/slide7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F20223D0-B53E-4790-AE74-639F81A4602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C85B43A4-B248-4631-90FC-FF494839E4F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오류 원인과 복구</a:t>
            </a:r>
          </a:p>
        </p:txBody>
      </p:sp>
      <p:sp>
        <p:nvSpPr>
          <p:cNvPr id="3" name="">
            <a:extLst>
              <a:ext uri="{FF2B5EF4-FFF2-40B4-BE49-F238E27FC236}">
                <ns2:creationId id="{19EFF44F-3E39-4D42-8326-F338AD90C9E6}"/>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실물 제어의 안전 정책은 별도입니다.</a:t>
            </a:r>
          </a:p>
        </p:txBody>
      </p:sp>
      <p:sp>
        <p:nvSpPr>
          <p:cNvPr id="4" name="">
            <a:extLst>
              <a:ext uri="{FF2B5EF4-FFF2-40B4-BE49-F238E27FC236}">
                <ns2:creationId id="{A0272172-6C2E-4D4E-BEB3-896A4314E1FB}"/>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결측 처리 예를 모든 장비에 그대로 쓰지 않습니다.</a:t>
            </a:r>
          </a:p>
        </p:txBody>
      </p:sp>
      <p:sp>
        <p:nvSpPr>
          <p:cNvPr id="5" name="">
            <a:extLst>
              <a:ext uri="{FF2B5EF4-FFF2-40B4-BE49-F238E27FC236}">
                <ns2:creationId id="{F5711B5A-EA60-4E42-8A41-8A2AE89101B9}"/>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D3E47CF2-D892-47D2-9374-11AF9D8788E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6139A7B0-F9FC-4715-8D1C-F3028604D8A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6AA9D746-CC70-46CD-BFD5-C1D6D8CAA8E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064B244E-B446-4030-992D-5723114AD97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070</a:t>
            </a:r>
          </a:p>
        </p:txBody>
      </p:sp>
    </p:spTree>
    <p:extLst>
      <p:ext uri="{BB962C8B-B14F-4D97-AF65-F5344CB8AC3E}">
        <ns4:creationId val="1374978729"/>
      </p:ext>
    </p:extLst>
  </p:cSld>
</p:sld>
</file>

<file path=ppt/slides/slide7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5D74C8BE-5499-4FDE-AF6F-61BEF627459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790B87B6-7DA0-4B3D-BA09-F7960124588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확인 질문</a:t>
            </a:r>
          </a:p>
        </p:txBody>
      </p:sp>
      <p:sp>
        <p:nvSpPr>
          <p:cNvPr id="3" name="">
            <a:extLst>
              <a:ext uri="{FF2B5EF4-FFF2-40B4-BE49-F238E27FC236}">
                <ns2:creationId id="{1AF36694-6F29-47FC-9D1F-75228C6D48D3}"/>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히스테리시스가 이전 상태를 쓰는 이유는?</a:t>
            </a:r>
          </a:p>
        </p:txBody>
      </p:sp>
      <p:sp>
        <p:nvSpPr>
          <p:cNvPr id="4" name="">
            <a:extLst>
              <a:ext uri="{FF2B5EF4-FFF2-40B4-BE49-F238E27FC236}">
                <ns2:creationId id="{70E60044-3BB8-4272-AB2E-B4E9719E6BA7}"/>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중간 값 한 개로 설명해 봅시다.</a:t>
            </a:r>
          </a:p>
        </p:txBody>
      </p:sp>
      <p:sp>
        <p:nvSpPr>
          <p:cNvPr id="5" name="">
            <a:extLst>
              <a:ext uri="{FF2B5EF4-FFF2-40B4-BE49-F238E27FC236}">
                <ns2:creationId id="{15D86D93-3DD9-4E87-B419-CAAD279D54D9}"/>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479BCD81-1A50-4227-A57F-BB043D36DB9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7AB3E233-B8F3-462C-90F4-A7ACC1026B7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E1F0D083-7C80-485C-8E99-8151B5561E7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83430C18-C4B9-4339-8CA7-75E9F9B5DF1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69E00CA0-5368-4389-A976-BF274EE42A3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071</a:t>
            </a:r>
          </a:p>
        </p:txBody>
      </p:sp>
    </p:spTree>
    <p:extLst>
      <p:ext uri="{BB962C8B-B14F-4D97-AF65-F5344CB8AC3E}">
        <ns4:creationId val="1808783831"/>
      </p:ext>
    </p:extLst>
  </p:cSld>
</p:sld>
</file>

<file path=ppt/slides/slide7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B9F5D530-7303-4465-9170-D3DB012435E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E4593749-C8E2-407F-BEF8-96EB895C231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추가·복습 문제</a:t>
            </a:r>
          </a:p>
        </p:txBody>
      </p:sp>
      <p:sp>
        <p:nvSpPr>
          <p:cNvPr id="3" name="">
            <a:extLst>
              <a:ext uri="{FF2B5EF4-FFF2-40B4-BE49-F238E27FC236}">
                <ns2:creationId id="{F0C6AAB4-823B-4169-B79B-1F2E86033BA1}"/>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추가·복습: 초기 True, [27.6,27.5,None,28]</a:t>
            </a:r>
          </a:p>
        </p:txBody>
      </p:sp>
      <p:sp>
        <p:nvSpPr>
          <p:cNvPr id="4" name="">
            <a:extLst>
              <a:ext uri="{FF2B5EF4-FFF2-40B4-BE49-F238E27FC236}">
                <ns2:creationId id="{CAC99B33-F4B8-49F0-8841-CFD400B53E13}"/>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값과 상태 유효 여부를 따로 추적하세요.</a:t>
            </a:r>
          </a:p>
        </p:txBody>
      </p:sp>
      <p:sp>
        <p:nvSpPr>
          <p:cNvPr id="5" name="">
            <a:extLst>
              <a:ext uri="{FF2B5EF4-FFF2-40B4-BE49-F238E27FC236}">
                <ns2:creationId id="{94FDB02C-4770-437B-B076-7763A94F659D}"/>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B1330EDC-C1E2-4005-ADAC-B30A3C6746F7}"/>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4222CAF5-87E0-446D-9ECE-6701DDDC2C7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99304A6B-3B05-4DB4-A9F3-278947318DD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4AA65192-0849-4AA8-841B-1978B942640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FC36A550-B8FD-4C56-A20F-84C447965D7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072</a:t>
            </a:r>
          </a:p>
        </p:txBody>
      </p:sp>
    </p:spTree>
    <p:extLst>
      <p:ext uri="{BB962C8B-B14F-4D97-AF65-F5344CB8AC3E}">
        <ns4:creationId val="327747923"/>
      </p:ext>
    </p:extLst>
  </p:cSld>
</p:sld>
</file>

<file path=ppt/slides/slide7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2C91BBD4-7416-4B33-AA60-F33604AC76F2}"/>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5교시</a:t>
            </a:r>
          </a:p>
        </p:txBody>
      </p:sp>
      <p:sp>
        <p:nvSpPr>
          <p:cNvPr id="2" name="">
            <a:extLst>
              <a:ext uri="{FF2B5EF4-FFF2-40B4-BE49-F238E27FC236}">
                <ns2:creationId id="{C9A8B7AB-61DF-4418-86B8-6E1F8725A845}"/>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펌웨어·직렬 통신·배선 검토</a:t>
            </a:r>
          </a:p>
        </p:txBody>
      </p:sp>
      <p:sp>
        <p:nvSpPr>
          <p:cNvPr id="3" name="">
            <a:extLst>
              <a:ext uri="{FF2B5EF4-FFF2-40B4-BE49-F238E27FC236}">
                <ns2:creationId id="{51642B13-1C01-4427-8EC6-1907FB8E48A0}"/>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15:00~15:50 · 50분</a:t>
            </a:r>
          </a:p>
        </p:txBody>
      </p:sp>
      <p:sp>
        <p:nvSpPr>
          <p:cNvPr id="4" name="">
            <a:extLst>
              <a:ext uri="{FF2B5EF4-FFF2-40B4-BE49-F238E27FC236}">
                <ns2:creationId id="{A18FE2D5-8E26-47B1-8C2A-DDBEAA78EC2A}"/>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A13 · A14 · A15</a:t>
            </a:r>
          </a:p>
        </p:txBody>
      </p:sp>
      <p:sp>
        <p:nvSpPr>
          <p:cNvPr id="5" name="">
            <a:extLst>
              <a:ext uri="{FF2B5EF4-FFF2-40B4-BE49-F238E27FC236}">
                <ns2:creationId id="{2660D733-E039-4C12-B81F-81CD29BA8DFD}"/>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개념 설명 → 시연 → 직접 실습 → 확인</a:t>
            </a:r>
          </a:p>
        </p:txBody>
      </p:sp>
      <p:sp>
        <p:nvSpPr>
          <p:cNvPr id="6" name="">
            <a:extLst>
              <a:ext uri="{FF2B5EF4-FFF2-40B4-BE49-F238E27FC236}">
                <ns2:creationId id="{D50268D3-C1DC-4547-BF39-90179ECBA433}"/>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943E6DCE-985D-4EE3-A8F9-FB33F292D88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44F44919-3F0D-4BD1-B0AD-C0731BA2AB0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785FA327-1D90-4171-AF5A-AEFEC703577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B5C0559F-3322-4AC4-9C83-E522DF669D8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073</a:t>
            </a:r>
          </a:p>
        </p:txBody>
      </p:sp>
    </p:spTree>
    <p:extLst>
      <p:ext uri="{BB962C8B-B14F-4D97-AF65-F5344CB8AC3E}">
        <ns4:creationId val="1913435411"/>
      </p:ext>
    </p:extLst>
  </p:cSld>
</p:sld>
</file>

<file path=ppt/slides/slide7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9AA3D37C-AB05-42B7-8C11-A47382514EF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2986B490-D6B3-4EF6-B12F-4DCC819D2DB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PC 코드와 보드 펌웨어</a:t>
            </a:r>
          </a:p>
        </p:txBody>
      </p:sp>
      <p:sp>
        <p:nvSpPr>
          <p:cNvPr id="3" name="">
            <a:extLst>
              <a:ext uri="{FF2B5EF4-FFF2-40B4-BE49-F238E27FC236}">
                <ns2:creationId id="{97B75E47-D726-406F-9184-C99A8398BA81}"/>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PC 코드와 보드 펌웨어</a:t>
            </a:r>
          </a:p>
        </p:txBody>
      </p:sp>
      <p:sp>
        <p:nvSpPr>
          <p:cNvPr id="4" name="">
            <a:extLst>
              <a:ext uri="{FF2B5EF4-FFF2-40B4-BE49-F238E27FC236}">
                <ns2:creationId id="{5A3A36A8-82A4-49CE-ABEF-2E053DA8A096}"/>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Python 파일은 PC에서 실행합니다.</a:t>
            </a:r>
          </a:p>
        </p:txBody>
      </p:sp>
      <p:sp>
        <p:nvSpPr>
          <p:cNvPr id="5" name="">
            <a:extLst>
              <a:ext uri="{FF2B5EF4-FFF2-40B4-BE49-F238E27FC236}">
                <ns2:creationId id="{E5249EAB-5172-43D5-A003-5F10E1AEF7B5}"/>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펌웨어는 보드에 넣어 실행합니다.</a:t>
            </a:r>
          </a:p>
        </p:txBody>
      </p:sp>
      <p:sp>
        <p:nvSpPr>
          <p:cNvPr id="6" name="">
            <a:extLst>
              <a:ext uri="{FF2B5EF4-FFF2-40B4-BE49-F238E27FC236}">
                <ns2:creationId id="{0278BC38-A092-4885-B7D4-B270A18FBAEA}"/>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실행 장소</a:t>
            </a:r>
          </a:p>
        </p:txBody>
      </p:sp>
      <p:graphicFrame>
        <p:nvGraphicFramePr>
          <p:cNvPr id="19" name=""/>
          <p:cNvGraphicFramePr/>
          <p:nvPr/>
        </p:nvGraphicFramePr>
        <p:xfrm>
          <a:off x="6267450" y="2628900"/>
          <a:ext cx="5238750" cy="1543050"/>
        </p:xfrm>
        <a:graphic>
          <a:graphicData uri="http://schemas.openxmlformats.org/drawingml/2006/table">
            <a:tbl>
              <a:tblPr firstRow="1" bandRow="0"/>
              <a:tblGrid>
                <a:gridCol w="2451368"/>
                <a:gridCol w="2787382"/>
              </a:tblGrid>
              <a:tr h="514350">
                <a:tc>
                  <a:txBody>
                    <a:bodyPr wrap="square"/>
                    <a:lstStyle/>
                    <a:p>
                      <a:pPr>
                        <a:lnSpc>
                          <a:spcPct val="102000"/>
                        </a:lnSpc>
                        <a:buNone/>
                      </a:pPr>
                      <a:r>
                        <a:rPr sz="1875" b="1">
                          <a:solidFill>
                            <a:srgbClr val="172F39"/>
                          </a:solidFill>
                          <a:latin typeface="Noto Sans KR"/>
                          <a:ea typeface="Noto Sans KR"/>
                          <a:cs typeface="Noto Sans KR"/>
                        </a:rPr>
                        <a:t>파일</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실행 장소</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Python</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PC</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펌웨어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보드</a:t>
                      </a:r>
                    </a:p>
                  </a:txBody>
                  <a:tcPr marL="114300" marR="114300" marT="76200" marB="76200" anchor="ctr">
                    <a:solidFill>
                      <a:srgbClr val="FFFFFF"/>
                    </a:solidFill>
                  </a:tcPr>
                </a:tc>
              </a:tr>
            </a:tbl>
          </a:graphicData>
        </a:graphic>
      </p:graphicFrame>
      <p:sp>
        <p:nvSpPr>
          <p:cNvPr id="8" name="">
            <a:extLst>
              <a:ext uri="{FF2B5EF4-FFF2-40B4-BE49-F238E27FC236}">
                <ns2:creationId id="{7313DF80-9B89-4950-8AF3-11C1779FB9B0}"/>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2AAFE53D-EAC3-46AE-8A27-AFEED300C56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612E9694-2798-4F49-8F56-4ABBEC470B5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B1A7D245-2493-4B76-8213-BFC97120358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EB493D06-5AF6-4ECF-9DEE-D34D51AF4E7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074</a:t>
            </a:r>
          </a:p>
        </p:txBody>
      </p:sp>
    </p:spTree>
    <p:extLst>
      <p:ext uri="{BB962C8B-B14F-4D97-AF65-F5344CB8AC3E}">
        <ns4:creationId val="97741512"/>
      </p:ext>
    </p:extLst>
  </p:cSld>
</p:sld>
</file>

<file path=ppt/slides/slide7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03003BB4-03C7-40E8-8A6D-0514397AE95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7CC9F8B8-86DB-4007-86A8-362843988B4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setup과 loop</a:t>
            </a:r>
          </a:p>
        </p:txBody>
      </p:sp>
      <p:sp>
        <p:nvSpPr>
          <p:cNvPr id="3" name="">
            <a:extLst>
              <a:ext uri="{FF2B5EF4-FFF2-40B4-BE49-F238E27FC236}">
                <ns2:creationId id="{F993D454-DA06-4330-A981-DB157E997F83}"/>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setup과 loop</a:t>
            </a:r>
          </a:p>
        </p:txBody>
      </p:sp>
      <p:sp>
        <p:nvSpPr>
          <p:cNvPr id="4" name="">
            <a:extLst>
              <a:ext uri="{FF2B5EF4-FFF2-40B4-BE49-F238E27FC236}">
                <ns2:creationId id="{78DCDC07-68CE-4686-8BCD-97B5C1F553D4}"/>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통신 등 시작 설정을 합니다.</a:t>
            </a:r>
          </a:p>
        </p:txBody>
      </p:sp>
      <p:sp>
        <p:nvSpPr>
          <p:cNvPr id="5" name="">
            <a:extLst>
              <a:ext uri="{FF2B5EF4-FFF2-40B4-BE49-F238E27FC236}">
                <ns2:creationId id="{5204E47F-7942-4F72-BE85-5B280C41F1CC}"/>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loop는 그 뒤 반복되는 함수입니다.</a:t>
            </a:r>
          </a:p>
        </p:txBody>
      </p:sp>
      <p:sp>
        <p:nvSpPr>
          <p:cNvPr id="6" name="">
            <a:extLst>
              <a:ext uri="{FF2B5EF4-FFF2-40B4-BE49-F238E27FC236}">
                <ns2:creationId id="{81004ABB-5F58-4603-A5D3-506ABFC87CD5}"/>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시작 한 번과 그 뒤 반복</a:t>
            </a:r>
          </a:p>
        </p:txBody>
      </p:sp>
      <p:sp>
        <p:nvSpPr>
          <p:cNvPr id="7" name="">
            <a:extLst>
              <a:ext uri="{FF2B5EF4-FFF2-40B4-BE49-F238E27FC236}">
                <ns2:creationId id="{46806AED-F470-4FDF-B372-F67D3EBD7D5F}"/>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setup(): 통신 등 시작 설정</a:t>
            </a:r>
          </a:p>
        </p:txBody>
      </p:sp>
      <p:sp>
        <p:nvSpPr>
          <p:cNvPr id="8" name="">
            <a:extLst>
              <a:ext uri="{FF2B5EF4-FFF2-40B4-BE49-F238E27FC236}">
                <ns2:creationId id="{36454FDB-B77A-443D-ACD7-63F53EB72EC7}"/>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loop(): 그 뒤 반복할 문장</a:t>
            </a:r>
          </a:p>
        </p:txBody>
      </p:sp>
      <p:sp>
        <p:nvSpPr>
          <p:cNvPr id="9" name="">
            <a:extLst>
              <a:ext uri="{FF2B5EF4-FFF2-40B4-BE49-F238E27FC236}">
                <ns2:creationId id="{31DC1A38-4960-45D6-8771-9B6092157495}"/>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1260D3F7-130A-4BF0-AED7-E636D2BEAFC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36FAB41A-341A-4E9B-98E1-879FA250021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640B752F-3586-45D1-BC2F-F5640E8DA34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4A41CAE0-23A9-44B2-9279-FC5CCCB8345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075</a:t>
            </a:r>
          </a:p>
        </p:txBody>
      </p:sp>
    </p:spTree>
    <p:extLst>
      <p:ext uri="{BB962C8B-B14F-4D97-AF65-F5344CB8AC3E}">
        <ns4:creationId val="1632025132"/>
      </p:ext>
    </p:extLst>
  </p:cSld>
</p:sld>
</file>

<file path=ppt/slides/slide7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B9943B50-F6C4-4D81-B253-9D61C0AE10E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28E8C289-2A19-4986-B429-9526E716ECC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직렬 통신과 속도 설정</a:t>
            </a:r>
          </a:p>
        </p:txBody>
      </p:sp>
      <p:sp>
        <p:nvSpPr>
          <p:cNvPr id="3" name="">
            <a:extLst>
              <a:ext uri="{FF2B5EF4-FFF2-40B4-BE49-F238E27FC236}">
                <ns2:creationId id="{043C3183-679F-446B-910A-7063DD856BDF}"/>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직렬 통신과 속도 설정</a:t>
            </a:r>
          </a:p>
        </p:txBody>
      </p:sp>
      <p:sp>
        <p:nvSpPr>
          <p:cNvPr id="4" name="">
            <a:extLst>
              <a:ext uri="{FF2B5EF4-FFF2-40B4-BE49-F238E27FC236}">
                <ns2:creationId id="{484AE5F7-F9D0-43F8-819D-055BE3CD5498}"/>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양쪽 통신 속도를 맞춥니다.</a:t>
            </a:r>
          </a:p>
        </p:txBody>
      </p:sp>
      <p:sp>
        <p:nvSpPr>
          <p:cNvPr id="5" name="">
            <a:extLst>
              <a:ext uri="{FF2B5EF4-FFF2-40B4-BE49-F238E27FC236}">
                <ns2:creationId id="{877699ED-59D8-4286-8B2E-33AC916F4916}"/>
              </a:ext>
            </a:extLst>
          </p:cNvPr>
          <p:cNvSpPr>
            <a:spLocks noGrp="1"/>
          </p:cNvSpPr>
          <p:nvPr/>
        </p:nvSpPr>
        <p:spPr>
          <a:xfrm>
            <a:off x="685800" y="286131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예제는 Serial.begin(115200)을 사용합니다.</a:t>
            </a:r>
          </a:p>
        </p:txBody>
      </p:sp>
      <p:sp>
        <p:nvSpPr>
          <p:cNvPr id="6" name="">
            <a:extLst>
              <a:ext uri="{FF2B5EF4-FFF2-40B4-BE49-F238E27FC236}">
                <ns2:creationId id="{08B8A116-8F5B-4791-B606-FE1D29BC0C23}"/>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직렬 통신 설정</a:t>
            </a:r>
          </a:p>
        </p:txBody>
      </p:sp>
      <p:sp>
        <p:nvSpPr>
          <p:cNvPr id="7" name="">
            <a:extLst>
              <a:ext uri="{FF2B5EF4-FFF2-40B4-BE49-F238E27FC236}">
                <ns2:creationId id="{D114A556-6915-44CF-B8CC-8B07BD2531DD}"/>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Serial.begin(115200);</a:t>
            </a:r>
          </a:p>
        </p:txBody>
      </p:sp>
      <p:sp>
        <p:nvSpPr>
          <p:cNvPr id="8" name="">
            <a:extLst>
              <a:ext uri="{FF2B5EF4-FFF2-40B4-BE49-F238E27FC236}">
                <ns2:creationId id="{1B13607A-AA4D-413C-81A8-941A645AA591}"/>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모니터 쪽 속도도 맞춰야 함</a:t>
            </a:r>
          </a:p>
        </p:txBody>
      </p:sp>
      <p:sp>
        <p:nvSpPr>
          <p:cNvPr id="9" name="">
            <a:extLst>
              <a:ext uri="{FF2B5EF4-FFF2-40B4-BE49-F238E27FC236}">
                <ns2:creationId id="{B660D29C-6292-467C-92EE-22BC9CF26739}"/>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60BD794E-CBD9-4C99-AA90-AD7F1FD8A54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CA8E54FB-7F2A-4927-9AE7-AA0D5261803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3EA8F7EA-114D-429E-BA80-E36E7837002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32B75DA2-1F3B-4EB4-BC7A-582C9C87C58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076</a:t>
            </a:r>
          </a:p>
        </p:txBody>
      </p:sp>
    </p:spTree>
    <p:extLst>
      <p:ext uri="{BB962C8B-B14F-4D97-AF65-F5344CB8AC3E}">
        <ns4:creationId val="1566793843"/>
      </p:ext>
    </p:extLst>
  </p:cSld>
</p:sld>
</file>

<file path=ppt/slides/slide7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57BEE819-ABDD-416F-9A45-7859495AD47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74C24016-DF40-4CEA-AFC6-3E2F3537F25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고정 출력과 센서 측정</a:t>
            </a:r>
          </a:p>
        </p:txBody>
      </p:sp>
      <p:sp>
        <p:nvSpPr>
          <p:cNvPr id="3" name="">
            <a:extLst>
              <a:ext uri="{FF2B5EF4-FFF2-40B4-BE49-F238E27FC236}">
                <ns2:creationId id="{D1B36E10-24E9-494A-A774-0B528A4E0E0C}"/>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고정 출력과 센서 측정</a:t>
            </a:r>
          </a:p>
        </p:txBody>
      </p:sp>
      <p:sp>
        <p:nvSpPr>
          <p:cNvPr id="4" name="">
            <a:extLst>
              <a:ext uri="{FF2B5EF4-FFF2-40B4-BE49-F238E27FC236}">
                <ns2:creationId id="{6583906E-6D6A-416E-8BDF-23A0D3AA5527}"/>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Serial.println이 같은 문장을 보냅니다.</a:t>
            </a:r>
          </a:p>
        </p:txBody>
      </p:sp>
      <p:sp>
        <p:nvSpPr>
          <p:cNvPr id="5" name="">
            <a:extLst>
              <a:ext uri="{FF2B5EF4-FFF2-40B4-BE49-F238E27FC236}">
                <ns2:creationId id="{AF49E35A-5D94-4052-B8DD-0789CFD06D8B}"/>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이 예에는 센서를 읽는 함수가 없습니다.</a:t>
            </a:r>
          </a:p>
        </p:txBody>
      </p:sp>
      <p:sp>
        <p:nvSpPr>
          <p:cNvPr id="6" name="">
            <a:extLst>
              <a:ext uri="{FF2B5EF4-FFF2-40B4-BE49-F238E27FC236}">
                <ns2:creationId id="{73F158B9-4D91-4087-AB1D-C28A942A14E1}"/>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고정 가상 출력</a:t>
            </a:r>
          </a:p>
        </p:txBody>
      </p:sp>
      <p:sp>
        <p:nvSpPr>
          <p:cNvPr id="7" name="">
            <a:extLst>
              <a:ext uri="{FF2B5EF4-FFF2-40B4-BE49-F238E27FC236}">
                <ns2:creationId id="{30E9F81A-ACD9-4AC5-BD3F-2B0A69DCEDDE}"/>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Serial.println("mock:28.0");</a:t>
            </a:r>
          </a:p>
        </p:txBody>
      </p:sp>
      <p:sp>
        <p:nvSpPr>
          <p:cNvPr id="8" name="">
            <a:extLst>
              <a:ext uri="{FF2B5EF4-FFF2-40B4-BE49-F238E27FC236}">
                <ns2:creationId id="{177E32ED-16BD-46CD-BDD1-EE8EA3FBF539}"/>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센서를 읽는 함수는 없음</a:t>
            </a:r>
          </a:p>
        </p:txBody>
      </p:sp>
      <p:sp>
        <p:nvSpPr>
          <p:cNvPr id="9" name="">
            <a:extLst>
              <a:ext uri="{FF2B5EF4-FFF2-40B4-BE49-F238E27FC236}">
                <ns2:creationId id="{8F48B18D-806D-47D0-8D1C-990A9BDC1C57}"/>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0583769A-2E98-4E6D-80ED-61D1948B92B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EE93AD1B-D555-4A5F-8945-A34B5BEEC87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DD848958-77C0-4873-AE3C-9E407E4A4DA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F71FFDA3-2EE9-4607-9D34-68361313603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077</a:t>
            </a:r>
          </a:p>
        </p:txBody>
      </p:sp>
    </p:spTree>
    <p:extLst>
      <p:ext uri="{BB962C8B-B14F-4D97-AF65-F5344CB8AC3E}">
        <ns4:creationId val="397402710"/>
      </p:ext>
    </p:extLst>
  </p:cSld>
</p:sld>
</file>

<file path=ppt/slides/slide7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3696FEBA-A626-48A9-9CA9-99D938A10B3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570F3A16-1283-4BA4-8DE3-4FCA7FD6C0D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delay와 실행 주기</a:t>
            </a:r>
          </a:p>
        </p:txBody>
      </p:sp>
      <p:sp>
        <p:nvSpPr>
          <p:cNvPr id="3" name="">
            <a:extLst>
              <a:ext uri="{FF2B5EF4-FFF2-40B4-BE49-F238E27FC236}">
                <ns2:creationId id="{462B637F-15CD-4F8D-A6A2-FEBC122F6A8E}"/>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대기 시간</a:t>
            </a:r>
          </a:p>
        </p:txBody>
      </p:sp>
      <p:sp>
        <p:nvSpPr>
          <p:cNvPr id="4" name="">
            <a:extLst>
              <a:ext uri="{FF2B5EF4-FFF2-40B4-BE49-F238E27FC236}">
                <ns2:creationId id="{68037D47-D4C4-44BD-917C-E15FCF7B8A18}"/>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delay(1000)은 1000ms 대기입니다.</a:t>
            </a:r>
          </a:p>
        </p:txBody>
      </p:sp>
      <p:sp>
        <p:nvSpPr>
          <p:cNvPr id="5" name="">
            <a:extLst>
              <a:ext uri="{FF2B5EF4-FFF2-40B4-BE49-F238E27FC236}">
                <ns2:creationId id="{EC7CFD54-9689-404E-88D1-EEBA35F7E722}"/>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전체 반복 주기</a:t>
            </a:r>
          </a:p>
        </p:txBody>
      </p:sp>
      <p:sp>
        <p:nvSpPr>
          <p:cNvPr id="6" name="">
            <a:extLst>
              <a:ext uri="{FF2B5EF4-FFF2-40B4-BE49-F238E27FC236}">
                <ns2:creationId id="{94A209B0-56DE-4E1D-A62B-04048DED4499}"/>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전체 주기 정확도를 측정한 결과는 아닙니다.</a:t>
            </a:r>
          </a:p>
        </p:txBody>
      </p:sp>
      <p:sp>
        <p:nvSpPr>
          <p:cNvPr id="7" name="">
            <a:extLst>
              <a:ext uri="{FF2B5EF4-FFF2-40B4-BE49-F238E27FC236}">
                <ns2:creationId id="{BF1D287D-1295-46E2-B849-512F0A66E20C}"/>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A0C6D882-6FB7-4E9D-8EFA-CD91036772F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F8D493EC-CC98-4C27-878C-FECE550F91F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36971D7C-BDB6-4984-B4C5-BA08C3844C9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21F4D7A6-96BC-4DF5-BAB4-EF2052DFA22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078</a:t>
            </a:r>
          </a:p>
        </p:txBody>
      </p:sp>
    </p:spTree>
    <p:extLst>
      <p:ext uri="{BB962C8B-B14F-4D97-AF65-F5344CB8AC3E}">
        <ns4:creationId val="1081011732"/>
      </p:ext>
    </p:extLst>
  </p:cSld>
</p:sld>
</file>

<file path=ppt/slides/slide7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54D9EA24-0224-4289-830C-2686E865BA4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11CC5F2D-B320-4187-B466-AFCF6D32D57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배선 전 확인 조건</a:t>
            </a:r>
          </a:p>
        </p:txBody>
      </p:sp>
      <p:sp>
        <p:nvSpPr>
          <p:cNvPr id="3" name="">
            <a:extLst>
              <a:ext uri="{FF2B5EF4-FFF2-40B4-BE49-F238E27FC236}">
                <ns2:creationId id="{70C69E04-0C29-4754-B729-4E6E2C3244C0}"/>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배선 전 확인 조건</a:t>
            </a:r>
          </a:p>
        </p:txBody>
      </p:sp>
      <p:sp>
        <p:nvSpPr>
          <p:cNvPr id="4" name="">
            <a:extLst>
              <a:ext uri="{FF2B5EF4-FFF2-40B4-BE49-F238E27FC236}">
                <ns2:creationId id="{512ED4CF-6D19-421E-B962-4312C59D74B4}"/>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보드 모델 · 핀 기능 · 전압 · 전류가 돌아오는 길</a:t>
            </a:r>
          </a:p>
        </p:txBody>
      </p:sp>
      <p:sp>
        <p:nvSpPr>
          <p:cNvPr id="5" name="">
            <a:extLst>
              <a:ext uri="{FF2B5EF4-FFF2-40B4-BE49-F238E27FC236}">
                <ns2:creationId id="{83931145-594F-47F3-8F77-98FCD6973A86}"/>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전원을 끈 상태의 도면부터 검토합니다.</a:t>
            </a:r>
          </a:p>
        </p:txBody>
      </p:sp>
      <p:sp>
        <p:nvSpPr>
          <p:cNvPr id="6" name="">
            <a:extLst>
              <a:ext uri="{FF2B5EF4-FFF2-40B4-BE49-F238E27FC236}">
                <ns2:creationId id="{F06E0B07-40A9-45E0-8FB3-F597013BFB4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배선 검토 항목</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3102277"/>
                <a:gridCol w="2136473"/>
              </a:tblGrid>
              <a:tr h="514350">
                <a:tc>
                  <a:txBody>
                    <a:bodyPr wrap="square"/>
                    <a:lstStyle/>
                    <a:p>
                      <a:pPr>
                        <a:lnSpc>
                          <a:spcPct val="102000"/>
                        </a:lnSpc>
                        <a:buNone/>
                      </a:pPr>
                      <a:r>
                        <a:rPr sz="1875" b="1">
                          <a:solidFill>
                            <a:srgbClr val="172F39"/>
                          </a:solidFill>
                          <a:latin typeface="Noto Sans KR"/>
                          <a:ea typeface="Noto Sans KR"/>
                          <a:cs typeface="Noto Sans KR"/>
                        </a:rPr>
                        <a:t>확인할 대상</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상태</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보드 모델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미확인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핀 기능·전압</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문서 필요</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전류의 반환 경로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도면 검토</a:t>
                      </a:r>
                    </a:p>
                  </a:txBody>
                  <a:tcPr marL="114300" marR="114300" marT="76200" marB="76200" anchor="ctr">
                    <a:solidFill>
                      <a:srgbClr val="FFFFFF"/>
                    </a:solidFill>
                  </a:tcPr>
                </a:tc>
              </a:tr>
            </a:tbl>
          </a:graphicData>
        </a:graphic>
      </p:graphicFrame>
      <p:sp>
        <p:nvSpPr>
          <p:cNvPr id="8" name="">
            <a:extLst>
              <a:ext uri="{FF2B5EF4-FFF2-40B4-BE49-F238E27FC236}">
                <ns2:creationId id="{64FD6C9E-5A54-4074-92AC-BD81C44361D0}"/>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4C97DDB0-2FEA-45E6-AF38-1AACC78C5D9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69A13520-5873-44FF-91AA-9271CA6089C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8380D167-27EA-4575-9DCB-2C69D009884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821AD34D-B101-4CC9-9E26-21A0441C66B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079</a:t>
            </a:r>
          </a:p>
        </p:txBody>
      </p:sp>
    </p:spTree>
    <p:extLst>
      <p:ext uri="{BB962C8B-B14F-4D97-AF65-F5344CB8AC3E}">
        <ns4:creationId val="466942359"/>
      </p:ext>
    </p:extLst>
  </p:cSld>
</p:sld>
</file>

<file path=ppt/slides/slide8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3" name="">
            <a:extLst>
              <a:ext uri="{FF2B5EF4-FFF2-40B4-BE49-F238E27FC236}">
                <ns2:creationId id="{6A6B9E56-BDF9-4C27-BC65-B62DA12678A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7997A1BC-B5EA-4737-9C1E-C317DEA36F0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보드 반복 코드 읽기 예제</a:t>
            </a:r>
          </a:p>
        </p:txBody>
      </p:sp>
      <p:sp>
        <p:nvSpPr>
          <p:cNvPr id="3" name="">
            <a:extLst>
              <a:ext uri="{FF2B5EF4-FFF2-40B4-BE49-F238E27FC236}">
                <ns2:creationId id="{D84FD936-ECA9-4891-8FCD-1D623B6EED70}"/>
              </a:ext>
            </a:extLst>
          </p:cNvPr>
          <p:cNvSpPr>
            <a:spLocks noGrp="1"/>
          </p:cNvSpPr>
          <p:nvPr/>
        </p:nvSpPr>
        <p:spPr>
          <a:xfrm>
            <a:off x="685800" y="1809750"/>
            <a:ext cx="10820400" cy="2542794"/>
          </a:xfrm>
          <a:prstGeom prst="rect">
            <a:avLst/>
          </a:prstGeom>
          <a:solidFill>
            <a:srgbClr val="F1F6F5"/>
          </a:solidFill>
          <a:ln w="0">
            <a:noFill/>
          </a:ln>
        </p:spPr>
      </p:sp>
      <p:sp>
        <p:nvSpPr>
          <p:cNvPr id="4" name="">
            <a:extLst>
              <a:ext uri="{FF2B5EF4-FFF2-40B4-BE49-F238E27FC236}">
                <ns2:creationId id="{F96DDA14-1676-4767-B1A2-70B2B9DA5AED}"/>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B81A253D-BDE4-4EC4-B611-014F49B66E65}"/>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void setup() {</a:t>
            </a:r>
          </a:p>
        </p:txBody>
      </p:sp>
      <p:sp>
        <p:nvSpPr>
          <p:cNvPr id="6" name="">
            <a:extLst>
              <a:ext uri="{FF2B5EF4-FFF2-40B4-BE49-F238E27FC236}">
                <ns2:creationId id="{8E8A7D7C-56BA-4FD8-94DE-ABB756294DB4}"/>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6D1E0A07-474E-46EB-AC32-BFFE4174273A}"/>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Serial.begin(115200);</a:t>
            </a:r>
          </a:p>
        </p:txBody>
      </p:sp>
      <p:sp>
        <p:nvSpPr>
          <p:cNvPr id="8" name="">
            <a:extLst>
              <a:ext uri="{FF2B5EF4-FFF2-40B4-BE49-F238E27FC236}">
                <ns2:creationId id="{5C7BC5AB-8FA6-4B06-A89A-619588362DFC}"/>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DF9C269A-0789-4F20-8FB2-4D16159E8869}"/>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a:t>
            </a:r>
          </a:p>
        </p:txBody>
      </p:sp>
      <p:sp>
        <p:nvSpPr>
          <p:cNvPr id="10" name="">
            <a:extLst>
              <a:ext uri="{FF2B5EF4-FFF2-40B4-BE49-F238E27FC236}">
                <ns2:creationId id="{DA7EEEE5-D16A-4449-BCBD-46E4F7ADA9A7}"/>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0E5B93A9-5B8F-44F2-9507-B87F2377C311}"/>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void loop() {</a:t>
            </a:r>
          </a:p>
        </p:txBody>
      </p:sp>
      <p:sp>
        <p:nvSpPr>
          <p:cNvPr id="12" name="">
            <a:extLst>
              <a:ext uri="{FF2B5EF4-FFF2-40B4-BE49-F238E27FC236}">
                <ns2:creationId id="{766708D2-C4F9-4817-8580-EADBB7AC7FE1}"/>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33EF5F10-BABD-4DA6-9971-3386DD0F1BB6}"/>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Serial.println("mock:28.0");</a:t>
            </a:r>
          </a:p>
        </p:txBody>
      </p:sp>
      <p:sp>
        <p:nvSpPr>
          <p:cNvPr id="14" name="">
            <a:extLst>
              <a:ext uri="{FF2B5EF4-FFF2-40B4-BE49-F238E27FC236}">
                <ns2:creationId id="{8CA904E2-0DD9-4CA6-86CE-7D825415303D}"/>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74625E7F-7C81-4043-9576-EBFC9B29BD0C}"/>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delay(1000);</a:t>
            </a:r>
          </a:p>
        </p:txBody>
      </p:sp>
      <p:sp>
        <p:nvSpPr>
          <p:cNvPr id="16" name="">
            <a:extLst>
              <a:ext uri="{FF2B5EF4-FFF2-40B4-BE49-F238E27FC236}">
                <ns2:creationId id="{A7171831-773A-47F8-B944-266A4D247148}"/>
              </a:ext>
            </a:extLst>
          </p:cNvPr>
          <p:cNvSpPr>
            <a:spLocks noGrp="1"/>
          </p:cNvSpPr>
          <p:nvPr/>
        </p:nvSpPr>
        <p:spPr>
          <a:xfrm>
            <a:off x="828675" y="387362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07</a:t>
            </a:r>
          </a:p>
        </p:txBody>
      </p:sp>
      <p:sp>
        <p:nvSpPr>
          <p:cNvPr id="17" name="">
            <a:extLst>
              <a:ext uri="{FF2B5EF4-FFF2-40B4-BE49-F238E27FC236}">
                <ns2:creationId id="{A06DCC0F-7DF7-4EB2-80A5-61E09B79130B}"/>
              </a:ext>
            </a:extLst>
          </p:cNvPr>
          <p:cNvSpPr>
            <a:spLocks noGrp="1"/>
          </p:cNvSpPr>
          <p:nvPr/>
        </p:nvSpPr>
        <p:spPr>
          <a:xfrm>
            <a:off x="1276350" y="383552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a:t>
            </a:r>
          </a:p>
        </p:txBody>
      </p:sp>
      <p:sp>
        <p:nvSpPr>
          <p:cNvPr id="18" name="">
            <a:extLst>
              <a:ext uri="{FF2B5EF4-FFF2-40B4-BE49-F238E27FC236}">
                <ns2:creationId id="{41A4FCF4-4F5D-4205-8AE5-164CD7FE01D4}"/>
              </a:ext>
            </a:extLst>
          </p:cNvPr>
          <p:cNvSpPr>
            <a:spLocks noGrp="1"/>
          </p:cNvSpPr>
          <p:nvPr/>
        </p:nvSpPr>
        <p:spPr>
          <a:xfrm>
            <a:off x="685800" y="6172200"/>
            <a:ext cx="10820400" cy="9525"/>
          </a:xfrm>
          <a:prstGeom prst="rect">
            <a:avLst/>
          </a:prstGeom>
          <a:solidFill>
            <a:srgbClr val="D5DEDD"/>
          </a:solidFill>
          <a:ln w="0">
            <a:noFill/>
          </a:ln>
        </p:spPr>
      </p:sp>
      <p:sp>
        <p:nvSpPr>
          <p:cNvPr id="19" name="">
            <a:extLst>
              <a:ext uri="{FF2B5EF4-FFF2-40B4-BE49-F238E27FC236}">
                <ns2:creationId id="{69D324FC-5A67-4F3B-B7E4-59DDDAB8AB3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0" name="">
            <a:extLst>
              <a:ext uri="{FF2B5EF4-FFF2-40B4-BE49-F238E27FC236}">
                <ns2:creationId id="{0A00E4F3-275F-4AA8-B4D3-1A19FF06172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1" name="">
            <a:extLst>
              <a:ext uri="{FF2B5EF4-FFF2-40B4-BE49-F238E27FC236}">
                <ns2:creationId id="{CCF53755-6371-43CB-A5F9-BB913E60695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2" name="">
            <a:extLst>
              <a:ext uri="{FF2B5EF4-FFF2-40B4-BE49-F238E27FC236}">
                <ns2:creationId id="{40852B77-9671-4F85-B51C-19AA974A675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080</a:t>
            </a:r>
          </a:p>
        </p:txBody>
      </p:sp>
    </p:spTree>
    <p:extLst>
      <p:ext uri="{BB962C8B-B14F-4D97-AF65-F5344CB8AC3E}">
        <ns4:creationId val="228947625"/>
      </p:ext>
    </p:extLst>
  </p:cSld>
</p:sld>
</file>

<file path=ppt/slides/slide8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1B28668F-B07E-4027-A2BB-05AE7C4B1C4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19C32920-EF92-46D6-BEAE-28258DDF5D9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코드의 줄별 역할</a:t>
            </a:r>
          </a:p>
        </p:txBody>
      </p:sp>
      <p:sp>
        <p:nvSpPr>
          <p:cNvPr id="3" name="">
            <a:extLst>
              <a:ext uri="{FF2B5EF4-FFF2-40B4-BE49-F238E27FC236}">
                <ns2:creationId id="{E084BD61-EC00-4F58-B671-A36A14CD2687}"/>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1~3행: 시작할 때 통신을 설정합니다.</a:t>
            </a:r>
          </a:p>
        </p:txBody>
      </p:sp>
      <p:sp>
        <p:nvSpPr>
          <p:cNvPr id="4" name="">
            <a:extLst>
              <a:ext uri="{FF2B5EF4-FFF2-40B4-BE49-F238E27FC236}">
                <ns2:creationId id="{D5B252E3-F095-4B4A-BC81-BFAA55907114}"/>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4~7행: 고정 문장을 반복 출력합니다.</a:t>
            </a:r>
          </a:p>
        </p:txBody>
      </p:sp>
      <p:sp>
        <p:nvSpPr>
          <p:cNvPr id="5" name="">
            <a:extLst>
              <a:ext uri="{FF2B5EF4-FFF2-40B4-BE49-F238E27FC236}">
                <ns2:creationId id="{A24B4FCD-153D-4210-BD97-8801B29104AC}"/>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중괄호: 문장 묶음 · 세미콜론: 문장 끝</a:t>
            </a:r>
          </a:p>
        </p:txBody>
      </p:sp>
      <p:sp>
        <p:nvSpPr>
          <p:cNvPr id="6" name="">
            <a:extLst>
              <a:ext uri="{FF2B5EF4-FFF2-40B4-BE49-F238E27FC236}">
                <ns2:creationId id="{CC1615BD-F93E-4920-92CF-814BF88F26B0}"/>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delay(1000): 1초를 기다립니다.</a:t>
            </a:r>
          </a:p>
        </p:txBody>
      </p:sp>
      <p:sp>
        <p:nvSpPr>
          <p:cNvPr id="7" name="">
            <a:extLst>
              <a:ext uri="{FF2B5EF4-FFF2-40B4-BE49-F238E27FC236}">
                <ns2:creationId id="{6B8C88BD-37FA-4A48-AF71-7EAE0DE7ECB7}"/>
              </a:ext>
            </a:extLst>
          </p:cNvPr>
          <p:cNvSpPr>
            <a:spLocks noGrp="1"/>
          </p:cNvSpPr>
          <p:nvPr/>
        </p:nvSpPr>
        <p:spPr>
          <a:xfrm>
            <a:off x="685800" y="4338447"/>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코드 80번의 입력과 출력 83번을 함께 봅니다.</a:t>
            </a:r>
          </a:p>
        </p:txBody>
      </p:sp>
      <p:sp>
        <p:nvSpPr>
          <p:cNvPr id="8" name="">
            <a:extLst>
              <a:ext uri="{FF2B5EF4-FFF2-40B4-BE49-F238E27FC236}">
                <ns2:creationId id="{8143DC64-FA09-4BEF-88EA-8F5D434640DC}"/>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EB7FA68D-EEB6-4ED0-8602-19803C8787C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83C6FC31-2552-4A8D-BC8D-CD73BCA577B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0DD6D14B-7A6F-4337-9CE3-81CFEA8D07A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CAC9B466-757B-4497-9942-6EEE9C94924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081</a:t>
            </a:r>
          </a:p>
        </p:txBody>
      </p:sp>
    </p:spTree>
    <p:extLst>
      <p:ext uri="{BB962C8B-B14F-4D97-AF65-F5344CB8AC3E}">
        <ns4:creationId val="1462713343"/>
      </p:ext>
    </p:extLst>
  </p:cSld>
</p:sld>
</file>

<file path=ppt/slides/slide8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018E7CC2-D852-4B32-8B8C-AC04739EA5C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5499E3BB-A495-4DCE-A4E1-B94C562C3C7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학생 파일과 실행 명령</a:t>
            </a:r>
          </a:p>
        </p:txBody>
      </p:sp>
      <p:sp>
        <p:nvSpPr>
          <p:cNvPr id="3" name="">
            <a:extLst>
              <a:ext uri="{FF2B5EF4-FFF2-40B4-BE49-F238E27FC236}">
                <ns2:creationId id="{A3367345-D0C0-44B2-974B-E957C9EAF679}"/>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이 코드는 Python으로 실행하지 않습니다.</a:t>
            </a:r>
          </a:p>
        </p:txBody>
      </p:sp>
      <p:sp>
        <p:nvSpPr>
          <p:cNvPr id="4" name="">
            <a:extLst>
              <a:ext uri="{FF2B5EF4-FFF2-40B4-BE49-F238E27FC236}">
                <ns2:creationId id="{41D6BC39-C637-4FBC-9340-86E701CEE755}"/>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정확한 보드 모델을 먼저 확인합니다.</a:t>
            </a:r>
          </a:p>
        </p:txBody>
      </p:sp>
      <p:sp>
        <p:nvSpPr>
          <p:cNvPr id="5" name="">
            <a:extLst>
              <a:ext uri="{FF2B5EF4-FFF2-40B4-BE49-F238E27FC236}">
                <ns2:creationId id="{920B60ED-E539-4659-8E3C-39C43F738212}"/>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보드에서 컴파일·업로드·모니터 관찰을 아직 하지 않았습니다.</a:t>
            </a:r>
          </a:p>
        </p:txBody>
      </p:sp>
      <p:sp>
        <p:nvSpPr>
          <p:cNvPr id="6" name="">
            <a:extLst>
              <a:ext uri="{FF2B5EF4-FFF2-40B4-BE49-F238E27FC236}">
                <ns2:creationId id="{D75B8D16-5B19-4CFD-88E7-39837D912BD2}"/>
              </a:ext>
            </a:extLst>
          </p:cNvPr>
          <p:cNvSpPr>
            <a:spLocks noGrp="1"/>
          </p:cNvSpPr>
          <p:nvPr/>
        </p:nvSpPr>
        <p:spPr>
          <a:xfrm>
            <a:off x="685800" y="379437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코드 80번의 입력과 출력 83번을 함께 봅니다.</a:t>
            </a:r>
          </a:p>
        </p:txBody>
      </p:sp>
      <p:sp>
        <p:nvSpPr>
          <p:cNvPr id="7" name="">
            <a:extLst>
              <a:ext uri="{FF2B5EF4-FFF2-40B4-BE49-F238E27FC236}">
                <ns2:creationId id="{DC33F040-1953-47C2-BE9D-073EAA1A37EF}"/>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487C85D8-608B-4842-BCE9-78D9DCFD029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E1307F95-C872-4C90-A203-F921FC0D55C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70A7CBE3-3EE5-4D7A-AC52-7988D34F117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A2705624-9B0C-44A5-BD11-33EFE33C2E5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082</a:t>
            </a:r>
          </a:p>
        </p:txBody>
      </p:sp>
    </p:spTree>
    <p:extLst>
      <p:ext uri="{BB962C8B-B14F-4D97-AF65-F5344CB8AC3E}">
        <ns4:creationId val="1065848777"/>
      </p:ext>
    </p:extLst>
  </p:cSld>
</p:sld>
</file>

<file path=ppt/slides/slide8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1E38DF12-156E-42D2-A37B-68D4673DC4F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CA40291C-69BD-477F-9865-FC79E5BABE6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a:t>
            </a:r>
          </a:p>
        </p:txBody>
      </p:sp>
      <p:sp>
        <p:nvSpPr>
          <p:cNvPr id="3" name="">
            <a:extLst>
              <a:ext uri="{FF2B5EF4-FFF2-40B4-BE49-F238E27FC236}">
                <ns2:creationId id="{7DC5F2AE-F615-4E8C-9B68-0BB24B285B0C}"/>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고정 가상 출력</a:t>
            </a:r>
          </a:p>
        </p:txBody>
      </p:sp>
      <p:sp>
        <p:nvSpPr>
          <p:cNvPr id="4" name="">
            <a:extLst>
              <a:ext uri="{FF2B5EF4-FFF2-40B4-BE49-F238E27FC236}">
                <ns2:creationId id="{AC95BD24-CE40-4DCD-8D3E-EDF81F9FDCF7}"/>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읽기 예의 문장: mock:28.0</a:t>
            </a:r>
          </a:p>
        </p:txBody>
      </p:sp>
      <p:sp>
        <p:nvSpPr>
          <p:cNvPr id="5" name="">
            <a:extLst>
              <a:ext uri="{FF2B5EF4-FFF2-40B4-BE49-F238E27FC236}">
                <ns2:creationId id="{17A8C340-1A0B-4E7E-B40B-D3D2E4615E68}"/>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실물 실행 확인</a:t>
            </a:r>
          </a:p>
        </p:txBody>
      </p:sp>
      <p:sp>
        <p:nvSpPr>
          <p:cNvPr id="6" name="">
            <a:extLst>
              <a:ext uri="{FF2B5EF4-FFF2-40B4-BE49-F238E27FC236}">
                <ns2:creationId id="{B6148662-57D9-4DC5-B0E0-23F9C70E02D3}"/>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가상 출력이며 실제 측정값이 아닙니다.</a:t>
            </a:r>
          </a:p>
        </p:txBody>
      </p:sp>
      <p:sp>
        <p:nvSpPr>
          <p:cNvPr id="7" name="">
            <a:extLst>
              <a:ext uri="{FF2B5EF4-FFF2-40B4-BE49-F238E27FC236}">
                <ns2:creationId id="{F8477F8C-5A6E-404C-B4B8-1638E579C9E9}"/>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771E76DC-C162-46C2-87D8-62F39F37DA69}"/>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컴파일·업로드 성공은 아직 확인하지 않았습니다.</a:t>
            </a:r>
          </a:p>
        </p:txBody>
      </p:sp>
      <p:sp>
        <p:nvSpPr>
          <p:cNvPr id="9" name="">
            <a:extLst>
              <a:ext uri="{FF2B5EF4-FFF2-40B4-BE49-F238E27FC236}">
                <ns2:creationId id="{614DACDF-49A3-415A-9788-B3C3A021CD31}"/>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0D4EA384-5912-4635-87BA-CDA85F44CFB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00138944-CB78-4984-A2F3-84A1BF5FBED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F89BB0CA-8C49-42F2-8AE8-CFAA46E6E96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1B9BDA4C-49F5-42A7-B3BC-C1BAE8A778E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083</a:t>
            </a:r>
          </a:p>
        </p:txBody>
      </p:sp>
    </p:spTree>
    <p:extLst>
      <p:ext uri="{BB962C8B-B14F-4D97-AF65-F5344CB8AC3E}">
        <ns4:creationId val="151805123"/>
      </p:ext>
    </p:extLst>
  </p:cSld>
</p:sld>
</file>

<file path=ppt/slides/slide8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472BC517-AB67-4E94-BE9C-8CF02CDB10B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2C25A356-6BD5-4DC8-B521-043AFC433BA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연습 문제</a:t>
            </a:r>
          </a:p>
        </p:txBody>
      </p:sp>
      <p:sp>
        <p:nvSpPr>
          <p:cNvPr id="3" name="">
            <a:extLst>
              <a:ext uri="{FF2B5EF4-FFF2-40B4-BE49-F238E27FC236}">
                <ns2:creationId id="{13C7DDCB-EAA2-4476-812F-EF28FB4A7809}"/>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글자가 깨질 때와 포트가 없을 때</a:t>
            </a:r>
          </a:p>
        </p:txBody>
      </p:sp>
      <p:sp>
        <p:nvSpPr>
          <p:cNvPr id="4" name="">
            <a:extLst>
              <a:ext uri="{FF2B5EF4-FFF2-40B4-BE49-F238E27FC236}">
                <ns2:creationId id="{5C35BBC4-4F1C-492E-ACB5-7CF841763AAE}"/>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처음 확인할 항목을 각각 쓰세요.</a:t>
            </a:r>
          </a:p>
        </p:txBody>
      </p:sp>
      <p:sp>
        <p:nvSpPr>
          <p:cNvPr id="5" name="">
            <a:extLst>
              <a:ext uri="{FF2B5EF4-FFF2-40B4-BE49-F238E27FC236}">
                <ns2:creationId id="{07BE6336-3A1A-4FE5-BDAB-192563E614E6}"/>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308C3181-02AA-4B05-9BD7-9F15B8424B0F}"/>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DCBA95EB-460E-4574-ADBE-81CCB6D026A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3B1AD5FA-9783-4E3F-BCF7-E5434BA72E7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5D2DCBF7-43C8-4CB3-89AC-50DB00953D7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736F965A-FCE6-4D30-932F-CB875747ADE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084</a:t>
            </a:r>
          </a:p>
        </p:txBody>
      </p:sp>
    </p:spTree>
    <p:extLst>
      <p:ext uri="{BB962C8B-B14F-4D97-AF65-F5344CB8AC3E}">
        <ns4:creationId val="845243145"/>
      </p:ext>
    </p:extLst>
  </p:cSld>
</p:sld>
</file>

<file path=ppt/slides/slide8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EA40A443-DD8F-4AEA-BCEC-BBAA9DC22A4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1D4F6387-C5C1-41EC-8DE8-A100CA8C371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정답과 풀이</a:t>
            </a:r>
          </a:p>
        </p:txBody>
      </p:sp>
      <p:sp>
        <p:nvSpPr>
          <p:cNvPr id="3" name="">
            <a:extLst>
              <a:ext uri="{FF2B5EF4-FFF2-40B4-BE49-F238E27FC236}">
                <ns2:creationId id="{C7C96E4E-6BED-4C04-8B94-3F0C38647EB5}"/>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글자 깨짐</a:t>
            </a:r>
          </a:p>
        </p:txBody>
      </p:sp>
      <p:sp>
        <p:nvSpPr>
          <p:cNvPr id="4" name="">
            <a:extLst>
              <a:ext uri="{FF2B5EF4-FFF2-40B4-BE49-F238E27FC236}">
                <ns2:creationId id="{F80BC529-FAEA-4D7C-9755-247143A31FAC}"/>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글자 깨짐: 양쪽 속도 설정</a:t>
            </a:r>
          </a:p>
        </p:txBody>
      </p:sp>
      <p:sp>
        <p:nvSpPr>
          <p:cNvPr id="5" name="">
            <a:extLst>
              <a:ext uri="{FF2B5EF4-FFF2-40B4-BE49-F238E27FC236}">
                <ns2:creationId id="{26EC9FE1-A9CB-4C4D-B842-6FFF9DA7E33A}"/>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포트 없음</a:t>
            </a:r>
          </a:p>
        </p:txBody>
      </p:sp>
      <p:sp>
        <p:nvSpPr>
          <p:cNvPr id="6" name="">
            <a:extLst>
              <a:ext uri="{FF2B5EF4-FFF2-40B4-BE49-F238E27FC236}">
                <ns2:creationId id="{542C11A1-7F33-4750-8F21-41BC3A22C18F}"/>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포트 없음: 케이블·드라이버·장치 인식</a:t>
            </a:r>
          </a:p>
        </p:txBody>
      </p:sp>
      <p:sp>
        <p:nvSpPr>
          <p:cNvPr id="7" name="">
            <a:extLst>
              <a:ext uri="{FF2B5EF4-FFF2-40B4-BE49-F238E27FC236}">
                <ns2:creationId id="{8D955F6C-163E-4822-BE15-7749650A8DBA}"/>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AB0505C2-35B3-4C3D-A801-35FBF332F4F8}"/>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고정 문장이 보이는 것과 센서를 읽는 것은 별도로 확인합니다.</a:t>
            </a:r>
          </a:p>
        </p:txBody>
      </p:sp>
      <p:sp>
        <p:nvSpPr>
          <p:cNvPr id="9" name="">
            <a:extLst>
              <a:ext uri="{FF2B5EF4-FFF2-40B4-BE49-F238E27FC236}">
                <ns2:creationId id="{E239A35D-7D76-4CF1-93DD-607A99831FD7}"/>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406FC661-EE6E-4893-8D77-3C607B332D7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35D1B66B-FFEB-4565-9FBF-18D00CE2410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EBC8E82B-B8CD-447B-BAA7-A509C2CDEF9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52FCF17A-3C5B-4EA7-9064-D63929AA895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085</a:t>
            </a:r>
          </a:p>
        </p:txBody>
      </p:sp>
    </p:spTree>
    <p:extLst>
      <p:ext uri="{BB962C8B-B14F-4D97-AF65-F5344CB8AC3E}">
        <ns4:creationId val="735887905"/>
      </p:ext>
    </p:extLst>
  </p:cSld>
</p:sld>
</file>

<file path=ppt/slides/slide8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458CA014-A514-4CFF-89F2-09306DD4EDF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6FDEC7FB-2620-4BBA-9AEC-D04BAFFACB1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값 바꾸기</a:t>
            </a:r>
          </a:p>
        </p:txBody>
      </p:sp>
      <p:sp>
        <p:nvSpPr>
          <p:cNvPr id="3" name="">
            <a:extLst>
              <a:ext uri="{FF2B5EF4-FFF2-40B4-BE49-F238E27FC236}">
                <ns2:creationId id="{8AE7BD21-A114-4D95-B3D1-930C721910B6}"/>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출력 문장을 mock:25.0으로 바꿉니다.</a:t>
            </a:r>
          </a:p>
        </p:txBody>
      </p:sp>
      <p:sp>
        <p:nvSpPr>
          <p:cNvPr id="4" name="">
            <a:extLst>
              <a:ext uri="{FF2B5EF4-FFF2-40B4-BE49-F238E27FC236}">
                <ns2:creationId id="{5EB549F7-C0A9-4480-9A1A-174A0EE9DB3A}"/>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입력 센서를 읽는 기능이 생긴 것은 아닙니다.</a:t>
            </a:r>
          </a:p>
        </p:txBody>
      </p:sp>
      <p:sp>
        <p:nvSpPr>
          <p:cNvPr id="5" name="">
            <a:extLst>
              <a:ext uri="{FF2B5EF4-FFF2-40B4-BE49-F238E27FC236}">
                <ns2:creationId id="{E0F03589-FAA2-435F-9B3B-4F596C792BD9}"/>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3BEF8EE0-0AD6-4335-886E-DC8DC1DEE6F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E45269C2-0A25-46D0-A077-D8D8561F8CD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40CDBC14-E0EE-4BC0-9E01-E9CE95E9432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2D77B583-39BB-474B-8054-024943B6E51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086</a:t>
            </a:r>
          </a:p>
        </p:txBody>
      </p:sp>
    </p:spTree>
    <p:extLst>
      <p:ext uri="{BB962C8B-B14F-4D97-AF65-F5344CB8AC3E}">
        <ns4:creationId val="1549795723"/>
      </p:ext>
    </p:extLst>
  </p:cSld>
</p:sld>
</file>

<file path=ppt/slides/slide8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AEAA5207-A406-4DBA-AA9E-6E5EBFAC0BC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0FDCD7D8-0A01-4FE0-8255-E15C7FE52AB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오류 원인과 복구</a:t>
            </a:r>
          </a:p>
        </p:txBody>
      </p:sp>
      <p:sp>
        <p:nvSpPr>
          <p:cNvPr id="3" name="">
            <a:extLst>
              <a:ext uri="{FF2B5EF4-FFF2-40B4-BE49-F238E27FC236}">
                <ns2:creationId id="{CD4F207A-B81D-40E9-951B-39E744ABA2C9}"/>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핀 번호를 추측해 전원을 넣지 않습니다.</a:t>
            </a:r>
          </a:p>
        </p:txBody>
      </p:sp>
      <p:sp>
        <p:nvSpPr>
          <p:cNvPr id="4" name="">
            <a:extLst>
              <a:ext uri="{FF2B5EF4-FFF2-40B4-BE49-F238E27FC236}">
                <ns2:creationId id="{07781696-0ED6-40D0-ADD4-4FAA696E2AFC}"/>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모델을 모르면 확인표에 적고 배선을 멈춥니다.</a:t>
            </a:r>
          </a:p>
        </p:txBody>
      </p:sp>
      <p:sp>
        <p:nvSpPr>
          <p:cNvPr id="5" name="">
            <a:extLst>
              <a:ext uri="{FF2B5EF4-FFF2-40B4-BE49-F238E27FC236}">
                <ns2:creationId id="{8FE13D88-7BA3-4303-87DD-8C0DB428FD00}"/>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18A8CC53-1B5A-4F84-A267-25594965013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28D20FF3-7495-43E7-9C7D-29B1CB9DA18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1A3B6357-C36C-40AC-BFF8-39746C8D451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D1AA689F-BD9D-4112-80A4-AF9FF9BCAFD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087</a:t>
            </a:r>
          </a:p>
        </p:txBody>
      </p:sp>
    </p:spTree>
    <p:extLst>
      <p:ext uri="{BB962C8B-B14F-4D97-AF65-F5344CB8AC3E}">
        <ns4:creationId val="975244442"/>
      </p:ext>
    </p:extLst>
  </p:cSld>
</p:sld>
</file>

<file path=ppt/slides/slide8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27BDC689-5EF0-419C-AA7F-D5323FC8640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2F076ADB-429C-4B95-AE60-E2851B635DA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확인 질문</a:t>
            </a:r>
          </a:p>
        </p:txBody>
      </p:sp>
      <p:sp>
        <p:nvSpPr>
          <p:cNvPr id="3" name="">
            <a:extLst>
              <a:ext uri="{FF2B5EF4-FFF2-40B4-BE49-F238E27FC236}">
                <ns2:creationId id="{4233AC27-5E06-4199-BB04-5C665D35FC54}"/>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setup과 loop의 역할을 말해 봅시다.</a:t>
            </a:r>
          </a:p>
        </p:txBody>
      </p:sp>
      <p:sp>
        <p:nvSpPr>
          <p:cNvPr id="4" name="">
            <a:extLst>
              <a:ext uri="{FF2B5EF4-FFF2-40B4-BE49-F238E27FC236}">
                <ns2:creationId id="{4D758F87-CC30-4B0C-A5A0-76F33481B74E}"/>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PC 파일 재생과 보드 실행을 구분합니다.</a:t>
            </a:r>
          </a:p>
        </p:txBody>
      </p:sp>
      <p:sp>
        <p:nvSpPr>
          <p:cNvPr id="5" name="">
            <a:extLst>
              <a:ext uri="{FF2B5EF4-FFF2-40B4-BE49-F238E27FC236}">
                <ns2:creationId id="{A2017E17-0691-4CDC-922A-50487535E6D3}"/>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204B7DF1-5B6D-4915-8E21-799956CC95A9}"/>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54178CED-416F-43BC-99AB-804333164B4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D0C63AB4-3039-4C5B-B076-F57C89CFC6C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490C7099-741B-4DDB-80A4-D5776B20A74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2C9F3B4C-6229-4679-8999-8DBAE0F51F3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088</a:t>
            </a:r>
          </a:p>
        </p:txBody>
      </p:sp>
    </p:spTree>
    <p:extLst>
      <p:ext uri="{BB962C8B-B14F-4D97-AF65-F5344CB8AC3E}">
        <ns4:creationId val="630286471"/>
      </p:ext>
    </p:extLst>
  </p:cSld>
</p:sld>
</file>

<file path=ppt/slides/slide8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F4C770E3-02B0-4CED-9D96-02A09147B99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A409E5D1-BC6C-4A0D-9776-906EEFDD4A7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추가·복습 문제</a:t>
            </a:r>
          </a:p>
        </p:txBody>
      </p:sp>
      <p:sp>
        <p:nvSpPr>
          <p:cNvPr id="3" name="">
            <a:extLst>
              <a:ext uri="{FF2B5EF4-FFF2-40B4-BE49-F238E27FC236}">
                <ns2:creationId id="{B9B38CA3-0444-4982-A20D-98CA0B92A3C8}"/>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추가·도전: 고정값을 실제 온도로 바꾸려면</a:t>
            </a:r>
          </a:p>
        </p:txBody>
      </p:sp>
      <p:sp>
        <p:nvSpPr>
          <p:cNvPr id="4" name="">
            <a:extLst>
              <a:ext uri="{FF2B5EF4-FFF2-40B4-BE49-F238E27FC236}">
                <ns2:creationId id="{C5DC261E-45FB-4128-9D9A-5ED910D4F954}"/>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빠진 입력·변환·확인 단계를 쓰세요.</a:t>
            </a:r>
          </a:p>
        </p:txBody>
      </p:sp>
      <p:sp>
        <p:nvSpPr>
          <p:cNvPr id="5" name="">
            <a:extLst>
              <a:ext uri="{FF2B5EF4-FFF2-40B4-BE49-F238E27FC236}">
                <ns2:creationId id="{7C1BF7CE-622A-40BC-8163-CC53CBF416F4}"/>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692ED84B-8741-4943-B5B0-B06BF8473DF1}"/>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89AC2F82-6431-428D-B773-F7071A962B3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4E0BAB38-F1F4-4B49-8BAD-17725E85ADB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E6B716FA-B517-4DF7-8AE7-9321E7C1DE1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3B16D555-8163-4773-BCC3-2C3E9BC7CBB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089</a:t>
            </a:r>
          </a:p>
        </p:txBody>
      </p:sp>
    </p:spTree>
    <p:extLst>
      <p:ext uri="{BB962C8B-B14F-4D97-AF65-F5344CB8AC3E}">
        <ns4:creationId val="1755846637"/>
      </p:ext>
    </p:extLst>
  </p:cSld>
</p:sld>
</file>

<file path=ppt/slides/slide9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0D79B663-B214-469F-B94A-C40106522EA4}"/>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6교시</a:t>
            </a:r>
          </a:p>
        </p:txBody>
      </p:sp>
      <p:sp>
        <p:nvSpPr>
          <p:cNvPr id="2" name="">
            <a:extLst>
              <a:ext uri="{FF2B5EF4-FFF2-40B4-BE49-F238E27FC236}">
                <ns2:creationId id="{44D818BB-47DE-4B57-B0A6-6066DE0DF380}"/>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온도 판정 시험과 추가 확인</a:t>
            </a:r>
          </a:p>
        </p:txBody>
      </p:sp>
      <p:sp>
        <p:nvSpPr>
          <p:cNvPr id="3" name="">
            <a:extLst>
              <a:ext uri="{FF2B5EF4-FFF2-40B4-BE49-F238E27FC236}">
                <ns2:creationId id="{27995497-9765-4CC3-8111-C6B5DAC44A9A}"/>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16:00~16:50 · 50분</a:t>
            </a:r>
          </a:p>
        </p:txBody>
      </p:sp>
      <p:sp>
        <p:nvSpPr>
          <p:cNvPr id="4" name="">
            <a:extLst>
              <a:ext uri="{FF2B5EF4-FFF2-40B4-BE49-F238E27FC236}">
                <ns2:creationId id="{9DB3EF25-4DC8-4EE6-8281-C95D0967E02F}"/>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A16 · A17 · A18</a:t>
            </a:r>
          </a:p>
        </p:txBody>
      </p:sp>
      <p:sp>
        <p:nvSpPr>
          <p:cNvPr id="5" name="">
            <a:extLst>
              <a:ext uri="{FF2B5EF4-FFF2-40B4-BE49-F238E27FC236}">
                <ns2:creationId id="{7A9C1D1C-EECA-491B-B745-83D6E80866E9}"/>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개념 설명 → 시연 → 직접 실습 → 확인</a:t>
            </a:r>
          </a:p>
        </p:txBody>
      </p:sp>
      <p:sp>
        <p:nvSpPr>
          <p:cNvPr id="6" name="">
            <a:extLst>
              <a:ext uri="{FF2B5EF4-FFF2-40B4-BE49-F238E27FC236}">
                <ns2:creationId id="{7FA7D051-E8AF-405E-970D-107C65506BE2}"/>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D150A30C-8E65-4768-8895-B028FD54827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5CD9D14D-0F6A-4EDB-95E0-25DFBEAE26E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66CE9DFC-9DA9-420F-BCCD-2C5F7EC1E67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342614C9-B708-4A64-B1F3-A6CC77F257A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090</a:t>
            </a:r>
          </a:p>
        </p:txBody>
      </p:sp>
    </p:spTree>
    <p:extLst>
      <p:ext uri="{BB962C8B-B14F-4D97-AF65-F5344CB8AC3E}">
        <ns4:creationId val="1810057804"/>
      </p:ext>
    </p:extLst>
  </p:cSld>
</p:sld>
</file>

<file path=ppt/slides/slide9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28793ACD-8902-43F1-BD75-E3604A0D13F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6D3FBE76-134D-4866-91DD-89BF4B13626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온도 요구와 기대 상태</a:t>
            </a:r>
          </a:p>
        </p:txBody>
      </p:sp>
      <p:sp>
        <p:nvSpPr>
          <p:cNvPr id="3" name="">
            <a:extLst>
              <a:ext uri="{FF2B5EF4-FFF2-40B4-BE49-F238E27FC236}">
                <ns2:creationId id="{78456CC4-62B9-4BDC-A4AD-31FA0013E535}"/>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온도 요구와 기대 상태</a:t>
            </a:r>
          </a:p>
        </p:txBody>
      </p:sp>
      <p:sp>
        <p:nvSpPr>
          <p:cNvPr id="4" name="">
            <a:extLst>
              <a:ext uri="{FF2B5EF4-FFF2-40B4-BE49-F238E27FC236}">
                <ns2:creationId id="{834F457C-6FC4-452E-8323-946E0118D03E}"/>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28.0 이상 → alert</a:t>
            </a:r>
          </a:p>
        </p:txBody>
      </p:sp>
      <p:sp>
        <p:nvSpPr>
          <p:cNvPr id="5" name="">
            <a:extLst>
              <a:ext uri="{FF2B5EF4-FFF2-40B4-BE49-F238E27FC236}">
                <ns2:creationId id="{6C670B15-40EF-4DB5-8641-0D02FAC23D82}"/>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null → missing</a:t>
            </a:r>
          </a:p>
        </p:txBody>
      </p:sp>
      <p:sp>
        <p:nvSpPr>
          <p:cNvPr id="6" name="">
            <a:extLst>
              <a:ext uri="{FF2B5EF4-FFF2-40B4-BE49-F238E27FC236}">
                <ns2:creationId id="{23807476-AC31-4FAF-B5A5-E9B4FD91C4AB}"/>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온도 규칙의 경계</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290239"/>
                <a:gridCol w="2948511"/>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기대</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27.9</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normal</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28.0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alert</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null</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missing</a:t>
                      </a:r>
                    </a:p>
                  </a:txBody>
                  <a:tcPr marL="114300" marR="114300" marT="76200" marB="76200" anchor="ctr">
                    <a:solidFill>
                      <a:srgbClr val="FFFFFF"/>
                    </a:solidFill>
                  </a:tcPr>
                </a:tc>
              </a:tr>
            </a:tbl>
          </a:graphicData>
        </a:graphic>
      </p:graphicFrame>
      <p:sp>
        <p:nvSpPr>
          <p:cNvPr id="8" name="">
            <a:extLst>
              <a:ext uri="{FF2B5EF4-FFF2-40B4-BE49-F238E27FC236}">
                <ns2:creationId id="{7E1AFB35-B975-4B4F-9DC5-431A83BBC2EF}"/>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8D268B9A-99E5-44EB-B131-E4CD7EBB08B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EFC7B77D-5642-4A36-9AB5-E99EB61B685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9D762C06-E482-4BEC-AC9C-2E06B659F3F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A8189DCE-1B79-48A8-823A-06429DEDF83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091</a:t>
            </a:r>
          </a:p>
        </p:txBody>
      </p:sp>
    </p:spTree>
    <p:extLst>
      <p:ext uri="{BB962C8B-B14F-4D97-AF65-F5344CB8AC3E}">
        <ns4:creationId val="1930771935"/>
      </p:ext>
    </p:extLst>
  </p:cSld>
</p:sld>
</file>

<file path=ppt/slides/slide9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E01BEE81-D8D1-484A-A7B8-D5E0B73270E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89C334B2-5AC0-4A8E-BF4A-255204B6109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경계·결측·형식 시험</a:t>
            </a:r>
          </a:p>
        </p:txBody>
      </p:sp>
      <p:sp>
        <p:nvSpPr>
          <p:cNvPr id="3" name="">
            <a:extLst>
              <a:ext uri="{FF2B5EF4-FFF2-40B4-BE49-F238E27FC236}">
                <ns2:creationId id="{7ECD0497-371A-4ED0-9A90-FD951208B4E3}"/>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경계·결측·형식 시험</a:t>
            </a:r>
          </a:p>
        </p:txBody>
      </p:sp>
      <p:sp>
        <p:nvSpPr>
          <p:cNvPr id="4" name="">
            <a:extLst>
              <a:ext uri="{FF2B5EF4-FFF2-40B4-BE49-F238E27FC236}">
                <ns2:creationId id="{FED22CFB-22C8-4B2A-A710-4DC89DDEBC64}"/>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27.9 · 28.0 · None · "28.0"</a:t>
            </a:r>
          </a:p>
        </p:txBody>
      </p:sp>
      <p:sp>
        <p:nvSpPr>
          <p:cNvPr id="5" name="">
            <a:extLst>
              <a:ext uri="{FF2B5EF4-FFF2-40B4-BE49-F238E27FC236}">
                <ns2:creationId id="{8BCF4AF9-422E-40A0-89B0-F21A9D8DEB0B}"/>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기대 상태를 실행 전에 적습니다.</a:t>
            </a:r>
          </a:p>
        </p:txBody>
      </p:sp>
      <p:sp>
        <p:nvSpPr>
          <p:cNvPr id="6" name="">
            <a:extLst>
              <a:ext uri="{FF2B5EF4-FFF2-40B4-BE49-F238E27FC236}">
                <ns2:creationId id="{7F8B3E81-8AB6-4F58-BDD0-BDFCFADC2694}"/>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서로 다른 입력</a:t>
            </a:r>
          </a:p>
        </p:txBody>
      </p:sp>
      <p:graphicFrame>
        <p:nvGraphicFramePr>
          <p:cNvPr id="19" name=""/>
          <p:cNvGraphicFramePr/>
          <p:nvPr/>
        </p:nvGraphicFramePr>
        <p:xfrm>
          <a:off x="6267450" y="2628900"/>
          <a:ext cx="5238750" cy="1028700"/>
        </p:xfrm>
        <a:graphic>
          <a:graphicData uri="http://schemas.openxmlformats.org/drawingml/2006/table">
            <a:tbl>
              <a:tblPr firstRow="1" bandRow="0"/>
              <a:tblGrid>
                <a:gridCol w="2186818"/>
                <a:gridCol w="1409817"/>
                <a:gridCol w="1642116"/>
              </a:tblGrid>
              <a:tr h="514350">
                <a:tc>
                  <a:txBody>
                    <a:bodyPr wrap="square"/>
                    <a:lstStyle/>
                    <a:p>
                      <a:pPr>
                        <a:lnSpc>
                          <a:spcPct val="102000"/>
                        </a:lnSpc>
                        <a:buNone/>
                      </a:pPr>
                      <a:r>
                        <a:rPr sz="1875" b="1">
                          <a:solidFill>
                            <a:srgbClr val="172F39"/>
                          </a:solidFill>
                          <a:latin typeface="Noto Sans KR"/>
                          <a:ea typeface="Noto Sans KR"/>
                          <a:cs typeface="Noto Sans KR"/>
                        </a:rPr>
                        <a:t>숫자</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누락</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문자열</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27.9 / 28.0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"28.0"</a:t>
                      </a:r>
                    </a:p>
                  </a:txBody>
                  <a:tcPr marL="114300" marR="114300" marT="76200" marB="76200" anchor="ctr">
                    <a:solidFill>
                      <a:srgbClr val="FFFFFF"/>
                    </a:solidFill>
                  </a:tcPr>
                </a:tc>
              </a:tr>
            </a:tbl>
          </a:graphicData>
        </a:graphic>
      </p:graphicFrame>
      <p:sp>
        <p:nvSpPr>
          <p:cNvPr id="8" name="">
            <a:extLst>
              <a:ext uri="{FF2B5EF4-FFF2-40B4-BE49-F238E27FC236}">
                <ns2:creationId id="{80EA7EFA-72C0-4301-A2C2-D063E45FDE84}"/>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2BD06FEA-51AB-4F23-B2EB-5DC2B9E69A1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BB1D85E5-54AA-4F68-AC7E-E7409FBCC69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5CB612DC-823C-4A3E-8725-E58E5CE184A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E8AC2413-2963-48A9-8188-3C2ED18378D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092</a:t>
            </a:r>
          </a:p>
        </p:txBody>
      </p:sp>
    </p:spTree>
    <p:extLst>
      <p:ext uri="{BB962C8B-B14F-4D97-AF65-F5344CB8AC3E}">
        <ns4:creationId val="1391099027"/>
      </p:ext>
    </p:extLst>
  </p:cSld>
</p:sld>
</file>

<file path=ppt/slides/slide9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06D1BDA6-80BC-4462-AE07-427A9A911B4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260C2F08-F721-462A-B300-A54452F475E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모의 시험의 검증 범위</a:t>
            </a:r>
          </a:p>
        </p:txBody>
      </p:sp>
      <p:sp>
        <p:nvSpPr>
          <p:cNvPr id="3" name="">
            <a:extLst>
              <a:ext uri="{FF2B5EF4-FFF2-40B4-BE49-F238E27FC236}">
                <ns2:creationId id="{83D59B13-EE12-4A2B-B9CC-D044E163CC75}"/>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모의 시험의 검증 범위</a:t>
            </a:r>
          </a:p>
        </p:txBody>
      </p:sp>
      <p:sp>
        <p:nvSpPr>
          <p:cNvPr id="4" name="">
            <a:extLst>
              <a:ext uri="{FF2B5EF4-FFF2-40B4-BE49-F238E27FC236}">
                <ns2:creationId id="{E9777D34-A8B6-4508-9FC6-E74A6DEEFF98}"/>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입력값에 대한 판단을 확인합니다.</a:t>
            </a:r>
          </a:p>
        </p:txBody>
      </p:sp>
      <p:sp>
        <p:nvSpPr>
          <p:cNvPr id="5" name="">
            <a:extLst>
              <a:ext uri="{FF2B5EF4-FFF2-40B4-BE49-F238E27FC236}">
                <ns2:creationId id="{6D65F6B8-8890-4F77-84D9-1945A1FCE2E1}"/>
              </a:ext>
            </a:extLst>
          </p:cNvPr>
          <p:cNvSpPr>
            <a:spLocks noGrp="1"/>
          </p:cNvSpPr>
          <p:nvPr/>
        </p:nvSpPr>
        <p:spPr>
          <a:xfrm>
            <a:off x="685800" y="286131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센서 정확도나 배선 성공은 별도입니다.</a:t>
            </a:r>
          </a:p>
        </p:txBody>
      </p:sp>
      <p:sp>
        <p:nvSpPr>
          <p:cNvPr id="6" name="">
            <a:extLst>
              <a:ext uri="{FF2B5EF4-FFF2-40B4-BE49-F238E27FC236}">
                <ns2:creationId id="{84F55C2C-CA42-4A2B-AA04-84923B38CDD6}"/>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확인한 범위</a:t>
            </a:r>
          </a:p>
        </p:txBody>
      </p:sp>
      <p:sp>
        <p:nvSpPr>
          <p:cNvPr id="7" name="">
            <a:extLst>
              <a:ext uri="{FF2B5EF4-FFF2-40B4-BE49-F238E27FC236}">
                <ns2:creationId id="{5513AEC2-2E5E-472F-BF9C-9695753900DC}"/>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모의 입력 → 판단 규칙</a:t>
            </a:r>
          </a:p>
        </p:txBody>
      </p:sp>
      <p:sp>
        <p:nvSpPr>
          <p:cNvPr id="8" name="">
            <a:extLst>
              <a:ext uri="{FF2B5EF4-FFF2-40B4-BE49-F238E27FC236}">
                <ns2:creationId id="{C6D483F6-3EEE-4D29-B9C3-ADE81D2AB0DB}"/>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센서 정확도·배선 성공은 별도 시험</a:t>
            </a:r>
          </a:p>
        </p:txBody>
      </p:sp>
      <p:sp>
        <p:nvSpPr>
          <p:cNvPr id="9" name="">
            <a:extLst>
              <a:ext uri="{FF2B5EF4-FFF2-40B4-BE49-F238E27FC236}">
                <ns2:creationId id="{962A7D11-4558-439E-8AC5-E44E10B98F0E}"/>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0C4E2574-B461-4E8E-ABAA-ACBF06A4E3A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2FE7AF4F-1F93-40F0-9AA1-7E6020B4625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B8D0A18F-90A1-493A-8D8A-1B9F5BBEE91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71C6BFF4-7622-474E-917E-7EB44D35BD4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093</a:t>
            </a:r>
          </a:p>
        </p:txBody>
      </p:sp>
    </p:spTree>
    <p:extLst>
      <p:ext uri="{BB962C8B-B14F-4D97-AF65-F5344CB8AC3E}">
        <ns4:creationId val="83328842"/>
      </p:ext>
    </p:extLst>
  </p:cSld>
</p:sld>
</file>

<file path=ppt/slides/slide9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88AFB0BE-F188-4208-84D5-A251F0BBCE8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D6AA631B-9238-4C73-8862-67725B08332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문턱 변경과 시험 갱신</a:t>
            </a:r>
          </a:p>
        </p:txBody>
      </p:sp>
      <p:sp>
        <p:nvSpPr>
          <p:cNvPr id="3" name="">
            <a:extLst>
              <a:ext uri="{FF2B5EF4-FFF2-40B4-BE49-F238E27FC236}">
                <ns2:creationId id="{D9A106D3-3482-43AC-942A-5ABBEFD7A8F4}"/>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문턱 변경과 시험 갱신</a:t>
            </a:r>
          </a:p>
        </p:txBody>
      </p:sp>
      <p:sp>
        <p:nvSpPr>
          <p:cNvPr id="4" name="">
            <a:extLst>
              <a:ext uri="{FF2B5EF4-FFF2-40B4-BE49-F238E27FC236}">
                <ns2:creationId id="{BFC90828-D65A-4F8D-96B5-2EFDBC17098C}"/>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30.0으로 바꾸면 29.9·30.0·30.1을 비교합니다.</a:t>
            </a:r>
          </a:p>
        </p:txBody>
      </p:sp>
      <p:sp>
        <p:nvSpPr>
          <p:cNvPr id="5" name="">
            <a:extLst>
              <a:ext uri="{FF2B5EF4-FFF2-40B4-BE49-F238E27FC236}">
                <ns2:creationId id="{D53800EA-0FBE-4275-9B4A-DE74E4B7AE31}"/>
              </a:ext>
            </a:extLst>
          </p:cNvPr>
          <p:cNvSpPr>
            <a:spLocks noGrp="1"/>
          </p:cNvSpPr>
          <p:nvPr/>
        </p:nvSpPr>
        <p:spPr>
          <a:xfrm>
            <a:off x="685800" y="31984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누락과 초기 상태도 재검토합니다.</a:t>
            </a:r>
          </a:p>
        </p:txBody>
      </p:sp>
      <p:sp>
        <p:nvSpPr>
          <p:cNvPr id="6" name="">
            <a:extLst>
              <a:ext uri="{FF2B5EF4-FFF2-40B4-BE49-F238E27FC236}">
                <ns2:creationId id="{D59BF685-0039-4F1D-BC6F-D025240C9230}"/>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새 문턱 30.0 시험</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970431"/>
                <a:gridCol w="3268319"/>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30.0과 비교</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29.9</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30.0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같음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30.1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초과</a:t>
                      </a:r>
                    </a:p>
                  </a:txBody>
                  <a:tcPr marL="114300" marR="114300" marT="76200" marB="76200" anchor="ctr">
                    <a:solidFill>
                      <a:srgbClr val="FFFFFF"/>
                    </a:solidFill>
                  </a:tcPr>
                </a:tc>
              </a:tr>
            </a:tbl>
          </a:graphicData>
        </a:graphic>
      </p:graphicFrame>
      <p:sp>
        <p:nvSpPr>
          <p:cNvPr id="8" name="">
            <a:extLst>
              <a:ext uri="{FF2B5EF4-FFF2-40B4-BE49-F238E27FC236}">
                <ns2:creationId id="{3A4D894F-CE18-47A0-97BD-4954416AFD88}"/>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E2EEBB3B-11E3-4EFA-B160-A415F92AF8B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49E8F78D-546D-47AD-98EA-BB910F50AA8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322B3D5C-8B5F-4E11-A664-66BFF9CFF30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87BDAE17-B6CF-40FA-8427-227381EC9D4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094</a:t>
            </a:r>
          </a:p>
        </p:txBody>
      </p:sp>
    </p:spTree>
    <p:extLst>
      <p:ext uri="{BB962C8B-B14F-4D97-AF65-F5344CB8AC3E}">
        <ns4:creationId val="1072110291"/>
      </p:ext>
    </p:extLst>
  </p:cSld>
</p:sld>
</file>

<file path=ppt/slides/slide9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BDBA5F3B-FE88-4D32-9B7A-C95356DDA3F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B9719844-81B4-4752-9156-324233AFD51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미확인 실물 조건</a:t>
            </a:r>
          </a:p>
        </p:txBody>
      </p:sp>
      <p:sp>
        <p:nvSpPr>
          <p:cNvPr id="3" name="">
            <a:extLst>
              <a:ext uri="{FF2B5EF4-FFF2-40B4-BE49-F238E27FC236}">
                <ns2:creationId id="{3C4640D0-34BC-415B-BF0E-9D87A4509501}"/>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미확인 실물 조건</a:t>
            </a:r>
          </a:p>
        </p:txBody>
      </p:sp>
      <p:sp>
        <p:nvSpPr>
          <p:cNvPr id="4" name="">
            <a:extLst>
              <a:ext uri="{FF2B5EF4-FFF2-40B4-BE49-F238E27FC236}">
                <ns2:creationId id="{D01996C2-4001-4417-AE61-26B97E93BBCD}"/>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보드 모델 · 신호 전압 · 센서 오차</a:t>
            </a:r>
          </a:p>
        </p:txBody>
      </p:sp>
      <p:sp>
        <p:nvSpPr>
          <p:cNvPr id="5" name="">
            <a:extLst>
              <a:ext uri="{FF2B5EF4-FFF2-40B4-BE49-F238E27FC236}">
                <ns2:creationId id="{F92B30DD-24BD-431A-B304-936A4B2D5C8D}"/>
              </a:ext>
            </a:extLst>
          </p:cNvPr>
          <p:cNvSpPr>
            <a:spLocks noGrp="1"/>
          </p:cNvSpPr>
          <p:nvPr/>
        </p:nvSpPr>
        <p:spPr>
          <a:xfrm>
            <a:off x="685800" y="286131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모르는 항목은 비워 두고 확인할 자료를 적습니다.</a:t>
            </a:r>
          </a:p>
        </p:txBody>
      </p:sp>
      <p:sp>
        <p:nvSpPr>
          <p:cNvPr id="6" name="">
            <a:extLst>
              <a:ext uri="{FF2B5EF4-FFF2-40B4-BE49-F238E27FC236}">
                <ns2:creationId id="{4109121F-9C43-43C0-BD17-7796ED52343A}"/>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실물 조건 기록</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262892"/>
                <a:gridCol w="2975858"/>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현재 확인</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보드 모델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미확인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신호 전압</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문서 필요</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센서 오차</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실물 비교 필요</a:t>
                      </a:r>
                    </a:p>
                  </a:txBody>
                  <a:tcPr marL="114300" marR="114300" marT="76200" marB="76200" anchor="ctr">
                    <a:solidFill>
                      <a:srgbClr val="FFFFFF"/>
                    </a:solidFill>
                  </a:tcPr>
                </a:tc>
              </a:tr>
            </a:tbl>
          </a:graphicData>
        </a:graphic>
      </p:graphicFrame>
      <p:sp>
        <p:nvSpPr>
          <p:cNvPr id="8" name="">
            <a:extLst>
              <a:ext uri="{FF2B5EF4-FFF2-40B4-BE49-F238E27FC236}">
                <ns2:creationId id="{A4D773EF-D1F0-4A9B-8279-ADE17DACC156}"/>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6D4F8315-E394-46EE-AA13-7195C97DE13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4CC8A000-5790-4E50-A113-2B6E9C34321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68807B3A-DE79-4799-9D30-DCDC3A38C23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F12BB02B-E306-46E1-9BF7-F5B484E1D4E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095</a:t>
            </a:r>
          </a:p>
        </p:txBody>
      </p:sp>
    </p:spTree>
    <p:extLst>
      <p:ext uri="{BB962C8B-B14F-4D97-AF65-F5344CB8AC3E}">
        <ns4:creationId val="922247195"/>
      </p:ext>
    </p:extLst>
  </p:cSld>
</p:sld>
</file>

<file path=ppt/slides/slide9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4DDBFF6A-B6A1-4371-BE64-0E0082E2379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31E0440D-7524-4319-B4F3-9128DFC6FB6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온도 판정 시험 자료 전달</a:t>
            </a:r>
          </a:p>
        </p:txBody>
      </p:sp>
      <p:sp>
        <p:nvSpPr>
          <p:cNvPr id="3" name="">
            <a:extLst>
              <a:ext uri="{FF2B5EF4-FFF2-40B4-BE49-F238E27FC236}">
                <ns2:creationId id="{0228F71C-A48A-441F-91B2-A8AAA8543301}"/>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전달할 파일</a:t>
            </a:r>
          </a:p>
        </p:txBody>
      </p:sp>
      <p:sp>
        <p:nvSpPr>
          <p:cNvPr id="4" name="">
            <a:extLst>
              <a:ext uri="{FF2B5EF4-FFF2-40B4-BE49-F238E27FC236}">
                <ns2:creationId id="{FF4B78B3-FF2D-4435-8AEA-36C64085D058}"/>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입력 · 코드 · 명령 · 출력 · 시험표</a:t>
            </a:r>
          </a:p>
        </p:txBody>
      </p:sp>
      <p:sp>
        <p:nvSpPr>
          <p:cNvPr id="5" name="">
            <a:extLst>
              <a:ext uri="{FF2B5EF4-FFF2-40B4-BE49-F238E27FC236}">
                <ns2:creationId id="{A88F7F89-CC60-4230-A76B-9E7953301117}"/>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추가 장비 시험</a:t>
            </a:r>
          </a:p>
        </p:txBody>
      </p:sp>
      <p:sp>
        <p:nvSpPr>
          <p:cNvPr id="6" name="">
            <a:extLst>
              <a:ext uri="{FF2B5EF4-FFF2-40B4-BE49-F238E27FC236}">
                <ns2:creationId id="{860A288E-4ED4-434C-BC8C-E62662A73FD9}"/>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예제 실행 결과를 적고, 장비에서 아직 시험하지 못한 항목을 표시합니다.</a:t>
            </a:r>
          </a:p>
        </p:txBody>
      </p:sp>
      <p:sp>
        <p:nvSpPr>
          <p:cNvPr id="7" name="">
            <a:extLst>
              <a:ext uri="{FF2B5EF4-FFF2-40B4-BE49-F238E27FC236}">
                <ns2:creationId id="{F740F7AD-B20B-4C51-95DE-9AD40722AC8D}"/>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6FAC7F6A-142F-4CA9-8A26-7A6307980F8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A0B492A0-7E9A-4A0F-BBC5-82B11B3F069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2ED7E425-F2C8-4C1D-A8A5-CE7A37362BC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2CCCEF37-C00C-46D7-A3AB-70A31A9A83C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096</a:t>
            </a:r>
          </a:p>
        </p:txBody>
      </p:sp>
    </p:spTree>
    <p:extLst>
      <p:ext uri="{BB962C8B-B14F-4D97-AF65-F5344CB8AC3E}">
        <ns4:creationId val="1793051334"/>
      </p:ext>
    </p:extLst>
  </p:cSld>
</p:sld>
</file>

<file path=ppt/slides/slide9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3C3E80BF-7FCD-4961-B07F-CC8EB0658B1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5F17B25F-FA81-4DAD-AB38-16599BDC65E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모의 입력과 기대 상태</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5410200"/>
                <a:gridCol w="5410200"/>
              </a:tblGrid>
              <a:tr h="536448">
                <a:tc>
                  <a:txBody>
                    <a:bodyPr wrap="square"/>
                    <a:lstStyle/>
                    <a:p>
                      <a:pPr>
                        <a:lnSpc>
                          <a:spcPct val="102000"/>
                        </a:lnSpc>
                        <a:buNone/>
                      </a:pPr>
                      <a:r>
                        <a:rPr sz="2025" b="1">
                          <a:solidFill>
                            <a:srgbClr val="172F39"/>
                          </a:solidFill>
                          <a:latin typeface="Noto Sans KR"/>
                          <a:ea typeface="Noto Sans KR"/>
                          <a:cs typeface="Noto Sans KR"/>
                        </a:rPr>
                        <a:t>온도 입력</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기대 상태</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27.9</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normal</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28.0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alert</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missing</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"28.0"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invalid</a:t>
                      </a:r>
                    </a:p>
                  </a:txBody>
                  <a:tcPr marL="114300" marR="114300" marT="76200" marB="76200" anchor="ctr">
                    <a:solidFill>
                      <a:srgbClr val="FFFFFF"/>
                    </a:solidFill>
                  </a:tcPr>
                </a:tc>
              </a:tr>
            </a:tbl>
          </a:graphicData>
        </a:graphic>
      </p:graphicFrame>
      <p:sp>
        <p:nvSpPr>
          <p:cNvPr id="4" name="">
            <a:extLst>
              <a:ext uri="{FF2B5EF4-FFF2-40B4-BE49-F238E27FC236}">
                <ns2:creationId id="{DE07750F-D342-416E-8DCE-3A05BDCFCD7A}"/>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ED478F15-B6EF-47E1-9BDA-93B3C5174D6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3C1C0893-B437-442B-BF98-4B54068B698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633B80DD-3D66-46E2-814C-D1136EA9A06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0BD1E276-9D73-420D-B3CD-C7E5DFF2BF9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097</a:t>
            </a:r>
          </a:p>
        </p:txBody>
      </p:sp>
    </p:spTree>
    <p:extLst>
      <p:ext uri="{BB962C8B-B14F-4D97-AF65-F5344CB8AC3E}">
        <ns4:creationId val="2055152715"/>
      </p:ext>
    </p:extLst>
  </p:cSld>
</p:sld>
</file>

<file path=ppt/slides/slide9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02CA2F06-6DD0-406C-B241-D2D96DFD3A2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C3BE6431-A0E7-421E-B926-F8DFB74717A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a:t>
            </a:r>
          </a:p>
        </p:txBody>
      </p:sp>
      <p:sp>
        <p:nvSpPr>
          <p:cNvPr id="3" name="">
            <a:extLst>
              <a:ext uri="{FF2B5EF4-FFF2-40B4-BE49-F238E27FC236}">
                <ns2:creationId id="{8830298B-3DF5-4E9F-944A-68AE7FA718B8}"/>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네 기대 상태와 관찰을 비교합니다.</a:t>
            </a:r>
          </a:p>
        </p:txBody>
      </p:sp>
      <p:sp>
        <p:nvSpPr>
          <p:cNvPr id="4" name="">
            <a:extLst>
              <a:ext uri="{FF2B5EF4-FFF2-40B4-BE49-F238E27FC236}">
                <ns2:creationId id="{7C763513-806A-49C3-AEED-4CB853762CDF}"/>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실물 측정 정확도는 별도 시험입니다.</a:t>
            </a:r>
          </a:p>
        </p:txBody>
      </p:sp>
      <p:sp>
        <p:nvSpPr>
          <p:cNvPr id="5" name="">
            <a:extLst>
              <a:ext uri="{FF2B5EF4-FFF2-40B4-BE49-F238E27FC236}">
                <ns2:creationId id="{4C17CC98-34AA-47B4-B70F-770A4384A948}"/>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94253664-7AB2-463E-BD43-BCAD70ADF3C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17315699-EA9C-4754-9DFA-A37D514CA50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0B78D784-2D10-4F10-B86C-9D6C2CEC87E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526C0C58-61E7-40DA-9DDF-1C49F5B960F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098</a:t>
            </a:r>
          </a:p>
        </p:txBody>
      </p:sp>
    </p:spTree>
    <p:extLst>
      <p:ext uri="{BB962C8B-B14F-4D97-AF65-F5344CB8AC3E}">
        <ns4:creationId val="118294319"/>
      </p:ext>
    </p:extLst>
  </p:cSld>
</p:sld>
</file>

<file path=ppt/slides/slide9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D0D89341-37E3-4D49-A08A-1C4C26BF442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C82C32E8-74AA-49DE-8FBB-53C8FC58563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연습 문제</a:t>
            </a:r>
          </a:p>
        </p:txBody>
      </p:sp>
      <p:sp>
        <p:nvSpPr>
          <p:cNvPr id="3" name="">
            <a:extLst>
              <a:ext uri="{FF2B5EF4-FFF2-40B4-BE49-F238E27FC236}">
                <ns2:creationId id="{71ED7A5D-AE07-48A8-8E95-C23C59C48E3D}"/>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센서 오차 ±0.5℃도 확인된 것인가요?</a:t>
            </a:r>
          </a:p>
        </p:txBody>
      </p:sp>
      <p:sp>
        <p:nvSpPr>
          <p:cNvPr id="4" name="">
            <a:extLst>
              <a:ext uri="{FF2B5EF4-FFF2-40B4-BE49-F238E27FC236}">
                <ns2:creationId id="{ACAF0C7C-87E2-4CCD-864A-81CC2C60EA13}"/>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예제에서 확인한 결과와 센서에서 시험할 내용을 각각 쓰세요.</a:t>
            </a:r>
          </a:p>
        </p:txBody>
      </p:sp>
      <p:sp>
        <p:nvSpPr>
          <p:cNvPr id="5" name="">
            <a:extLst>
              <a:ext uri="{FF2B5EF4-FFF2-40B4-BE49-F238E27FC236}">
                <ns2:creationId id="{56F838C8-89E8-40C6-B15B-C2525808B5E9}"/>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6F7E0948-BFA2-4554-9173-7D8519CBFB42}"/>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50D05770-CCB3-4C24-8826-D4E809D2DE1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228B0945-9615-47FF-9FEE-4349CCFDDA2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328FD13A-B832-43AC-BE40-4A49387020D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287B6EA1-ECC7-4486-8EAF-59AD61A878E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099</a:t>
            </a:r>
          </a:p>
        </p:txBody>
      </p:sp>
    </p:spTree>
    <p:extLst>
      <p:ext uri="{BB962C8B-B14F-4D97-AF65-F5344CB8AC3E}">
        <ns4:creationId val="1064864387"/>
      </p:ext>
    </p:extLst>
  </p:cSld>
</p:sld>
</file>

<file path=ppt/slides/slide10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70CBFD3B-4EE9-4722-8F4B-C6C737847AD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A5FF41EC-4E65-49AA-84AD-DA7CAD3FF16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정답과 풀이</a:t>
            </a:r>
          </a:p>
        </p:txBody>
      </p:sp>
      <p:sp>
        <p:nvSpPr>
          <p:cNvPr id="3" name="">
            <a:extLst>
              <a:ext uri="{FF2B5EF4-FFF2-40B4-BE49-F238E27FC236}">
                <ns2:creationId id="{AD20B828-D97E-4485-BE16-8817846FD588}"/>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현재는 모의 판단 규칙만 확인했습니다.</a:t>
            </a:r>
          </a:p>
        </p:txBody>
      </p:sp>
      <p:sp>
        <p:nvSpPr>
          <p:cNvPr id="4" name="">
            <a:extLst>
              <a:ext uri="{FF2B5EF4-FFF2-40B4-BE49-F238E27FC236}">
                <ns2:creationId id="{660A1566-7894-4FCA-98CB-5F58ADB46395}"/>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기준 온도계와 실제 센서의 비교가 필요합니다.</a:t>
            </a:r>
          </a:p>
        </p:txBody>
      </p:sp>
      <p:sp>
        <p:nvSpPr>
          <p:cNvPr id="5" name="">
            <a:extLst>
              <a:ext uri="{FF2B5EF4-FFF2-40B4-BE49-F238E27FC236}">
                <ns2:creationId id="{C5B95F01-3827-40E6-BB2E-D760E7E05B19}"/>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여러 온도 조건과 측정 방법을 기록합니다.</a:t>
            </a:r>
          </a:p>
        </p:txBody>
      </p:sp>
      <p:sp>
        <p:nvSpPr>
          <p:cNvPr id="6" name="">
            <a:extLst>
              <a:ext uri="{FF2B5EF4-FFF2-40B4-BE49-F238E27FC236}">
                <ns2:creationId id="{6352248F-73E2-44BC-9B2B-5E5F8FD3028D}"/>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A39514D0-10B9-40DB-BBDC-44F4A775DC8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F76E36F0-8CB4-4238-B2C3-A674FE3384E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94B4FFB8-DC89-4D33-88F8-9096DAC20C0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E6B04117-EE08-4224-850B-F3FC2D18DE8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100</a:t>
            </a:r>
          </a:p>
        </p:txBody>
      </p:sp>
    </p:spTree>
    <p:extLst>
      <p:ext uri="{BB962C8B-B14F-4D97-AF65-F5344CB8AC3E}">
        <ns4:creationId val="1321365996"/>
      </p:ext>
    </p:extLst>
  </p:cSld>
</p:sld>
</file>

<file path=ppt/slides/slide10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798C9C19-A660-41C5-A8E4-5CBE0460E20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99318FD4-DBCD-4AD4-80AC-14BED1677E5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값 바꾸기</a:t>
            </a:r>
          </a:p>
        </p:txBody>
      </p:sp>
      <p:sp>
        <p:nvSpPr>
          <p:cNvPr id="3" name="">
            <a:extLst>
              <a:ext uri="{FF2B5EF4-FFF2-40B4-BE49-F238E27FC236}">
                <ns2:creationId id="{DBFF427C-1EF3-4950-A030-307DD8E465C7}"/>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새 기준 30.0에 맞춰</a:t>
            </a:r>
          </a:p>
        </p:txBody>
      </p:sp>
      <p:sp>
        <p:nvSpPr>
          <p:cNvPr id="4" name="">
            <a:extLst>
              <a:ext uri="{FF2B5EF4-FFF2-40B4-BE49-F238E27FC236}">
                <ns2:creationId id="{378DA3C7-ECDB-46DE-8125-3159FFB7E0B3}"/>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입력·기대 상태·표시 설명을 갱신합니다.</a:t>
            </a:r>
          </a:p>
        </p:txBody>
      </p:sp>
      <p:sp>
        <p:nvSpPr>
          <p:cNvPr id="5" name="">
            <a:extLst>
              <a:ext uri="{FF2B5EF4-FFF2-40B4-BE49-F238E27FC236}">
                <ns2:creationId id="{469EFA76-7CEE-4696-B3A8-6FE212FE84FE}"/>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A2A5382F-7F23-48DF-9D30-76DF14496EB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5E3BA3C6-A720-4F2A-BBCA-D6DC2029401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5292E414-FC1A-4C50-99A4-A76ECD377B2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AD2B28AC-3015-40B6-85A4-2DCC3D03FB1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101</a:t>
            </a:r>
          </a:p>
        </p:txBody>
      </p:sp>
    </p:spTree>
    <p:extLst>
      <p:ext uri="{BB962C8B-B14F-4D97-AF65-F5344CB8AC3E}">
        <ns4:creationId val="1607414620"/>
      </p:ext>
    </p:extLst>
  </p:cSld>
</p:sld>
</file>

<file path=ppt/slides/slide10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BA6B613A-0205-4D9A-A183-49005C45014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06A9D50D-C354-48DC-9DD2-DC518CA54E6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오류 원인과 복구</a:t>
            </a:r>
          </a:p>
        </p:txBody>
      </p:sp>
      <p:sp>
        <p:nvSpPr>
          <p:cNvPr id="3" name="">
            <a:extLst>
              <a:ext uri="{FF2B5EF4-FFF2-40B4-BE49-F238E27FC236}">
                <ns2:creationId id="{61CBFAD7-E18D-4C13-83BC-0545F96133A2}"/>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모의 28.0 일치를 센서 정확도로 쓰지 않습니다.</a:t>
            </a:r>
          </a:p>
        </p:txBody>
      </p:sp>
      <p:sp>
        <p:nvSpPr>
          <p:cNvPr id="4" name="">
            <a:extLst>
              <a:ext uri="{FF2B5EF4-FFF2-40B4-BE49-F238E27FC236}">
                <ns2:creationId id="{230A3AA4-FC56-47AB-8252-363B373794DF}"/>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장비가 없어 시험하지 못한 항목은 그대로 표시합니다.</a:t>
            </a:r>
          </a:p>
        </p:txBody>
      </p:sp>
      <p:sp>
        <p:nvSpPr>
          <p:cNvPr id="5" name="">
            <a:extLst>
              <a:ext uri="{FF2B5EF4-FFF2-40B4-BE49-F238E27FC236}">
                <ns2:creationId id="{484E449D-693B-4F93-9294-7BA6324FB926}"/>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5AC25C00-8D59-4BBF-8A6C-8874D0187AF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522DCFBE-4EC0-4E1F-8EBC-938462300DA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C6BACC1A-E5AC-487C-AC83-3AA8506951C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00443F83-BD7F-4560-87A7-BCED156D587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102</a:t>
            </a:r>
          </a:p>
        </p:txBody>
      </p:sp>
    </p:spTree>
    <p:extLst>
      <p:ext uri="{BB962C8B-B14F-4D97-AF65-F5344CB8AC3E}">
        <ns4:creationId val="1791948022"/>
      </p:ext>
    </p:extLst>
  </p:cSld>
</p:sld>
</file>

<file path=ppt/slides/slide10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C8A39F46-D2A8-483D-8E7A-F16A656FDA1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0BD157FE-527A-4D29-BC16-F8C948908F7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확인 질문</a:t>
            </a:r>
          </a:p>
        </p:txBody>
      </p:sp>
      <p:sp>
        <p:nvSpPr>
          <p:cNvPr id="3" name="">
            <a:extLst>
              <a:ext uri="{FF2B5EF4-FFF2-40B4-BE49-F238E27FC236}">
                <ns2:creationId id="{2A1AB84E-C66C-4802-AD44-241F60E8D6D4}"/>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예제에서 시험한 입력과 결과를 설명합니다.</a:t>
            </a:r>
          </a:p>
        </p:txBody>
      </p:sp>
      <p:sp>
        <p:nvSpPr>
          <p:cNvPr id="4" name="">
            <a:extLst>
              <a:ext uri="{FF2B5EF4-FFF2-40B4-BE49-F238E27FC236}">
                <ns2:creationId id="{571FD84A-93E4-4D72-845E-16937EE3CEC8}"/>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다음 팀에 줄 파일 묶음을 가리켜 봅니다.</a:t>
            </a:r>
          </a:p>
        </p:txBody>
      </p:sp>
      <p:sp>
        <p:nvSpPr>
          <p:cNvPr id="5" name="">
            <a:extLst>
              <a:ext uri="{FF2B5EF4-FFF2-40B4-BE49-F238E27FC236}">
                <ns2:creationId id="{39605738-BD9F-463D-AFB9-BF0FCDFBB571}"/>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B588CC6D-D845-429A-9792-83B5DADF47E7}"/>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55766AA0-796E-4C8F-BF99-BD2724CFB35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70CE0561-F1E7-4644-B665-657B981909F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84412650-85D7-4B83-95FD-BB9D9BBD189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D5520D09-AB95-4347-B48C-864E1119804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103</a:t>
            </a:r>
          </a:p>
        </p:txBody>
      </p:sp>
    </p:spTree>
    <p:extLst>
      <p:ext uri="{BB962C8B-B14F-4D97-AF65-F5344CB8AC3E}">
        <ns4:creationId val="1390191055"/>
      </p:ext>
    </p:extLst>
  </p:cSld>
</p:sld>
</file>

<file path=ppt/slides/slide10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111F63B6-C0B9-47AB-8082-4B2F0427D5E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DF05EBAF-4082-40C7-B72C-313462C6272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추가·복습 문제</a:t>
            </a:r>
          </a:p>
        </p:txBody>
      </p:sp>
      <p:sp>
        <p:nvSpPr>
          <p:cNvPr id="3" name="">
            <a:extLst>
              <a:ext uri="{FF2B5EF4-FFF2-40B4-BE49-F238E27FC236}">
                <ns2:creationId id="{1BD44AEE-EA86-4660-AFA2-3CEB7486C12A}"/>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추가·복습: 경계 30.0</a:t>
            </a:r>
          </a:p>
        </p:txBody>
      </p:sp>
      <p:sp>
        <p:nvSpPr>
          <p:cNvPr id="4" name="">
            <a:extLst>
              <a:ext uri="{FF2B5EF4-FFF2-40B4-BE49-F238E27FC236}">
                <ns2:creationId id="{9300E5D0-5C79-483C-9361-C3E79D750AD7}"/>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시험 세 입력과 실물 미확인 두 가지를 쓰세요.</a:t>
            </a:r>
          </a:p>
        </p:txBody>
      </p:sp>
      <p:sp>
        <p:nvSpPr>
          <p:cNvPr id="5" name="">
            <a:extLst>
              <a:ext uri="{FF2B5EF4-FFF2-40B4-BE49-F238E27FC236}">
                <ns2:creationId id="{BDC43568-29B1-4E02-B90A-9ECBEA84E5DA}"/>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조건을 먼저 읽고 결과를 적습니다.</a:t>
            </a:r>
          </a:p>
        </p:txBody>
      </p:sp>
      <p:sp>
        <p:nvSpPr>
          <p:cNvPr id="6" name="">
            <a:extLst>
              <a:ext uri="{FF2B5EF4-FFF2-40B4-BE49-F238E27FC236}">
                <ns2:creationId id="{E107A42E-1549-4575-A876-131EFB92E99B}"/>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A9BCDAA5-8154-4710-A305-6EBF5D515A8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26B95291-6344-4B6E-B7F6-BD0469A72C3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21448270-2D4F-401B-B2C2-03D03B3F1F7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4E5C1FBE-F841-405E-9A57-E3104F4AB19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104</a:t>
            </a:r>
          </a:p>
        </p:txBody>
      </p:sp>
    </p:spTree>
    <p:extLst>
      <p:ext uri="{BB962C8B-B14F-4D97-AF65-F5344CB8AC3E}">
        <ns4:creationId val="387339869"/>
      </p:ext>
    </p:extLst>
  </p:cSld>
</p:sld>
</file>

<file path=ppt/slides/slide10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7F0CB1CA-19C1-40F7-B2C2-1D96C008DC0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CED46C72-F231-44EA-B0C5-3CA53743C22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제출할 기록과 파일</a:t>
            </a:r>
          </a:p>
        </p:txBody>
      </p:sp>
      <p:sp>
        <p:nvSpPr>
          <p:cNvPr id="3" name="">
            <a:extLst>
              <a:ext uri="{FF2B5EF4-FFF2-40B4-BE49-F238E27FC236}">
                <ns2:creationId id="{F3564751-FCCD-41A8-98A4-9D681D1A6F3D}"/>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work의 기록과 수정본을 저장합니다.</a:t>
            </a:r>
          </a:p>
        </p:txBody>
      </p:sp>
      <p:sp>
        <p:nvSpPr>
          <p:cNvPr id="4" name="">
            <a:extLst>
              <a:ext uri="{FF2B5EF4-FFF2-40B4-BE49-F238E27FC236}">
                <ns2:creationId id="{B330DCFE-7877-4E10-B286-08221E85E446}"/>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입력·설정·결과가 같은 실행인지 확인합니다.</a:t>
            </a:r>
          </a:p>
        </p:txBody>
      </p:sp>
      <p:sp>
        <p:nvSpPr>
          <p:cNvPr id="5" name="">
            <a:extLst>
              <a:ext uri="{FF2B5EF4-FFF2-40B4-BE49-F238E27FC236}">
                <ns2:creationId id="{E83104BB-7DCF-4C6C-B2FD-AAD9D263A1F7}"/>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어떻게 확인했는지, 아직 시험하지 못한 것은 무엇인지 적습니다.</a:t>
            </a:r>
          </a:p>
        </p:txBody>
      </p:sp>
      <p:sp>
        <p:nvSpPr>
          <p:cNvPr id="6" name="">
            <a:extLst>
              <a:ext uri="{FF2B5EF4-FFF2-40B4-BE49-F238E27FC236}">
                <ns2:creationId id="{EEA635FE-9CA5-4DC0-98AB-0562609AD7D4}"/>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CB17E3C2-2D10-4CE8-85B5-D1CF40B54DE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2C6B0482-A7CD-4881-BAE2-85196E252F1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7018E205-2C84-49E9-9AFC-47B38DA612C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0F15C4AD-4320-4FE6-9ADF-D2724BBCB64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105</a:t>
            </a:r>
          </a:p>
        </p:txBody>
      </p:sp>
    </p:spTree>
    <p:extLst>
      <p:ext uri="{BB962C8B-B14F-4D97-AF65-F5344CB8AC3E}">
        <ns4:creationId val="2039431287"/>
      </p:ext>
    </p:extLst>
  </p:cSld>
</p:sld>
</file>

<file path=ppt/slides/slide10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4CA1B2E1-1EC2-47ED-8D95-710B98CB4DE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87587933-D73F-410F-A1C3-03D50237DB4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다음 사람이 알아야 할 내용</a:t>
            </a:r>
          </a:p>
        </p:txBody>
      </p:sp>
      <p:sp>
        <p:nvSpPr>
          <p:cNvPr id="3" name="">
            <a:extLst>
              <a:ext uri="{FF2B5EF4-FFF2-40B4-BE49-F238E27FC236}">
                <ns2:creationId id="{855CB909-F23B-48B3-B890-3C1D29EB5625}"/>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어느 폴더에서 어떤 명령을 입력하는지 설명합니다.</a:t>
            </a:r>
          </a:p>
        </p:txBody>
      </p:sp>
      <p:sp>
        <p:nvSpPr>
          <p:cNvPr id="4" name="">
            <a:extLst>
              <a:ext uri="{FF2B5EF4-FFF2-40B4-BE49-F238E27FC236}">
                <ns2:creationId id="{E140B4E4-0AAD-45A6-86A5-19A17167B8DF}"/>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출력의 뜻과 추가로 시험할 내용을 설명합니다.</a:t>
            </a:r>
          </a:p>
        </p:txBody>
      </p:sp>
      <p:sp>
        <p:nvSpPr>
          <p:cNvPr id="5" name="">
            <a:extLst>
              <a:ext uri="{FF2B5EF4-FFF2-40B4-BE49-F238E27FC236}">
                <ns2:creationId id="{79EFC09F-01ED-460B-9BBD-7B134E498AC2}"/>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막힌 단계와 다시 확인할 항목을 적습니다.</a:t>
            </a:r>
          </a:p>
        </p:txBody>
      </p:sp>
      <p:sp>
        <p:nvSpPr>
          <p:cNvPr id="6" name="">
            <a:extLst>
              <a:ext uri="{FF2B5EF4-FFF2-40B4-BE49-F238E27FC236}">
                <ns2:creationId id="{5131E4D7-9535-44C3-B1DE-E736384F42CC}"/>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1A3B8A15-979D-41FF-8868-107BBBFDFEE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207230ED-76FD-4F6F-9132-35942093C6D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05EC3827-A0DF-4483-86AB-27B2DC3EED3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E92C8937-9A1D-4633-95D5-91A9176B2B4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106</a:t>
            </a:r>
          </a:p>
        </p:txBody>
      </p:sp>
    </p:spTree>
    <p:extLst>
      <p:ext uri="{BB962C8B-B14F-4D97-AF65-F5344CB8AC3E}">
        <ns4:creationId val="1681792532"/>
      </p:ext>
    </p:extLst>
  </p:cSld>
</p:sld>
</file>

<file path=ppt/slides/slide10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8" name="">
            <a:extLst>
              <a:ext uri="{FF2B5EF4-FFF2-40B4-BE49-F238E27FC236}">
                <ns2:creationId id="{4E4E2001-E60C-4429-91A7-3AEA80FEF5C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10/23 수업</a:t>
            </a:r>
          </a:p>
        </p:txBody>
      </p:sp>
      <p:sp>
        <p:nvSpPr>
          <p:cNvPr id="2" name="">
            <a:extLst>
              <a:ext uri="{FF2B5EF4-FFF2-40B4-BE49-F238E27FC236}">
                <ns2:creationId id="{5D8061EA-0BF4-4EBE-B2BF-811078F35DF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오늘의 수업 자료</a:t>
            </a:r>
          </a:p>
        </p:txBody>
      </p:sp>
      <p:sp>
        <p:nvSpPr>
          <p:cNvPr id="3" name="">
            <a:extLst>
              <a:ext uri="{FF2B5EF4-FFF2-40B4-BE49-F238E27FC236}">
                <ns2:creationId id="{25428E88-2D38-4DCD-B00B-31717BD980FB}"/>
              </a:ext>
            </a:extLst>
          </p:cNvPr>
          <p:cNvSpPr>
            <a:spLocks noGrp="1"/>
          </p:cNvSpPr>
          <p:nvPr/>
        </p:nvSpPr>
        <p:spPr>
          <a:xfrm>
            <a:off x="685800" y="1885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4"/>
              </a:rPr>
              <a:t>처음 시작 안내 ↗</a:t>
            </a:r>
          </a:p>
        </p:txBody>
      </p:sp>
      <p:sp>
        <p:nvSpPr>
          <p:cNvPr id="4" name="">
            <a:extLst>
              <a:ext uri="{FF2B5EF4-FFF2-40B4-BE49-F238E27FC236}">
                <ns2:creationId id="{E5012BF1-F3B9-4BE4-9C8B-D3081171D8CA}"/>
              </a:ext>
            </a:extLst>
          </p:cNvPr>
          <p:cNvSpPr>
            <a:spLocks noGrp="1"/>
          </p:cNvSpPr>
          <p:nvPr/>
        </p:nvSpPr>
        <p:spPr>
          <a:xfrm>
            <a:off x="685800" y="2343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5" name="">
            <a:extLst>
              <a:ext uri="{FF2B5EF4-FFF2-40B4-BE49-F238E27FC236}">
                <ns2:creationId id="{8FE9AA2A-F6EF-4657-AE4C-0BDD2692D8C7}"/>
              </a:ext>
            </a:extLst>
          </p:cNvPr>
          <p:cNvSpPr>
            <a:spLocks noGrp="1"/>
          </p:cNvSpPr>
          <p:nvPr/>
        </p:nvSpPr>
        <p:spPr>
          <a:xfrm>
            <a:off x="685800" y="2647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5"/>
              </a:rPr>
              <a:t>학생 교안 ↗</a:t>
            </a:r>
          </a:p>
        </p:txBody>
      </p:sp>
      <p:sp>
        <p:nvSpPr>
          <p:cNvPr id="6" name="">
            <a:extLst>
              <a:ext uri="{FF2B5EF4-FFF2-40B4-BE49-F238E27FC236}">
                <ns2:creationId id="{B29FC5D6-64FE-4BD7-B5A3-95AA9437F6A5}"/>
              </a:ext>
            </a:extLst>
          </p:cNvPr>
          <p:cNvSpPr>
            <a:spLocks noGrp="1"/>
          </p:cNvSpPr>
          <p:nvPr/>
        </p:nvSpPr>
        <p:spPr>
          <a:xfrm>
            <a:off x="685800" y="3105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7" name="">
            <a:extLst>
              <a:ext uri="{FF2B5EF4-FFF2-40B4-BE49-F238E27FC236}">
                <ns2:creationId id="{2425A922-4F37-4EEB-920B-B8F838397DF3}"/>
              </a:ext>
            </a:extLst>
          </p:cNvPr>
          <p:cNvSpPr>
            <a:spLocks noGrp="1"/>
          </p:cNvSpPr>
          <p:nvPr/>
        </p:nvSpPr>
        <p:spPr>
          <a:xfrm>
            <a:off x="685800" y="3409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6"/>
              </a:rPr>
              <a:t>실습 활동 ↗</a:t>
            </a:r>
          </a:p>
        </p:txBody>
      </p:sp>
      <p:sp>
        <p:nvSpPr>
          <p:cNvPr id="8" name="">
            <a:extLst>
              <a:ext uri="{FF2B5EF4-FFF2-40B4-BE49-F238E27FC236}">
                <ns2:creationId id="{E88D3A76-AE6D-47FA-8A4F-EC4C0B2FD4D8}"/>
              </a:ext>
            </a:extLst>
          </p:cNvPr>
          <p:cNvSpPr>
            <a:spLocks noGrp="1"/>
          </p:cNvSpPr>
          <p:nvPr/>
        </p:nvSpPr>
        <p:spPr>
          <a:xfrm>
            <a:off x="685800" y="3867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9" name="">
            <a:extLst>
              <a:ext uri="{FF2B5EF4-FFF2-40B4-BE49-F238E27FC236}">
                <ns2:creationId id="{197E289D-2183-4583-94AE-D5C9B78803C9}"/>
              </a:ext>
            </a:extLst>
          </p:cNvPr>
          <p:cNvSpPr>
            <a:spLocks noGrp="1"/>
          </p:cNvSpPr>
          <p:nvPr/>
        </p:nvSpPr>
        <p:spPr>
          <a:xfrm>
            <a:off x="685800" y="4171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7"/>
              </a:rPr>
              <a:t>예제 코드와 데이터 ZIP ↗</a:t>
            </a:r>
          </a:p>
        </p:txBody>
      </p:sp>
      <p:sp>
        <p:nvSpPr>
          <p:cNvPr id="10" name="">
            <a:extLst>
              <a:ext uri="{FF2B5EF4-FFF2-40B4-BE49-F238E27FC236}">
                <ns2:creationId id="{132A0172-B30B-4110-AD1A-AE214BB2FCAC}"/>
              </a:ext>
            </a:extLst>
          </p:cNvPr>
          <p:cNvSpPr>
            <a:spLocks noGrp="1"/>
          </p:cNvSpPr>
          <p:nvPr/>
        </p:nvSpPr>
        <p:spPr>
          <a:xfrm>
            <a:off x="685800" y="4629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11" name="">
            <a:extLst>
              <a:ext uri="{FF2B5EF4-FFF2-40B4-BE49-F238E27FC236}">
                <ns2:creationId id="{6A6C531A-FEEB-4421-968D-C1938D4AF075}"/>
              </a:ext>
            </a:extLst>
          </p:cNvPr>
          <p:cNvSpPr>
            <a:spLocks noGrp="1"/>
          </p:cNvSpPr>
          <p:nvPr/>
        </p:nvSpPr>
        <p:spPr>
          <a:xfrm>
            <a:off x="685800" y="4933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8"/>
              </a:rPr>
              <a:t>날짜별 자료 다운로드 ↗</a:t>
            </a:r>
          </a:p>
        </p:txBody>
      </p:sp>
      <p:sp>
        <p:nvSpPr>
          <p:cNvPr id="12" name="">
            <a:extLst>
              <a:ext uri="{FF2B5EF4-FFF2-40B4-BE49-F238E27FC236}">
                <ns2:creationId id="{0DCE1B10-3AAB-40AB-B557-295DAC4CD679}"/>
              </a:ext>
            </a:extLst>
          </p:cNvPr>
          <p:cNvSpPr>
            <a:spLocks noGrp="1"/>
          </p:cNvSpPr>
          <p:nvPr/>
        </p:nvSpPr>
        <p:spPr>
          <a:xfrm>
            <a:off x="685800" y="5391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13" name="">
            <a:extLst>
              <a:ext uri="{FF2B5EF4-FFF2-40B4-BE49-F238E27FC236}">
                <ns2:creationId id="{9014ECFB-7E0D-4C54-9555-83D0628864C6}"/>
              </a:ext>
            </a:extLst>
          </p:cNvPr>
          <p:cNvSpPr>
            <a:spLocks noGrp="1"/>
          </p:cNvSpPr>
          <p:nvPr/>
        </p:nvSpPr>
        <p:spPr>
          <a:xfrm>
            <a:off x="685800" y="6172200"/>
            <a:ext cx="10820400" cy="9525"/>
          </a:xfrm>
          <a:prstGeom prst="rect">
            <a:avLst/>
          </a:prstGeom>
          <a:solidFill>
            <a:srgbClr val="D5DEDD"/>
          </a:solidFill>
          <a:ln w="0">
            <a:noFill/>
          </a:ln>
        </p:spPr>
      </p:sp>
      <p:sp>
        <p:nvSpPr>
          <p:cNvPr id="14" name="">
            <a:extLst>
              <a:ext uri="{FF2B5EF4-FFF2-40B4-BE49-F238E27FC236}">
                <ns2:creationId id="{36C5FC12-D9B4-4B14-99B3-376B86D90F9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5" name="">
            <a:extLst>
              <a:ext uri="{FF2B5EF4-FFF2-40B4-BE49-F238E27FC236}">
                <ns2:creationId id="{178C06E0-FC1A-4EA1-9234-D04FAEE010C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6" name="">
            <a:extLst>
              <a:ext uri="{FF2B5EF4-FFF2-40B4-BE49-F238E27FC236}">
                <ns2:creationId id="{7C8F179A-16E3-440F-8FF1-A10AF5C9708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7" name="">
            <a:extLst>
              <a:ext uri="{FF2B5EF4-FFF2-40B4-BE49-F238E27FC236}">
                <ns2:creationId id="{CD125B5D-FAD6-46B7-AB75-392FFB6BECF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107</a:t>
            </a:r>
          </a:p>
        </p:txBody>
      </p:sp>
    </p:spTree>
    <p:extLst>
      <p:ext uri="{BB962C8B-B14F-4D97-AF65-F5344CB8AC3E}">
        <ns4:creationId val="315634206"/>
      </p:ext>
    </p:extLst>
  </p:cSld>
</p:sld>
</file>

<file path=ppt/slides/slide10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FC51D769-B77D-4935-9DFC-61B5D35A20D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10/23 수업</a:t>
            </a:r>
          </a:p>
        </p:txBody>
      </p:sp>
      <p:sp>
        <p:nvSpPr>
          <p:cNvPr id="2" name="">
            <a:extLst>
              <a:ext uri="{FF2B5EF4-FFF2-40B4-BE49-F238E27FC236}">
                <ns2:creationId id="{EC4CA932-E55F-41BE-A222-D831B5AEC3E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공식 문서와 참고 자료</a:t>
            </a:r>
          </a:p>
        </p:txBody>
      </p:sp>
      <p:sp>
        <p:nvSpPr>
          <p:cNvPr id="3" name="">
            <a:extLst>
              <a:ext uri="{FF2B5EF4-FFF2-40B4-BE49-F238E27FC236}">
                <ns2:creationId id="{160BCB4B-E67F-444E-B979-87B1BBE9A525}"/>
              </a:ext>
            </a:extLst>
          </p:cNvPr>
          <p:cNvSpPr>
            <a:spLocks noGrp="1"/>
          </p:cNvSpPr>
          <p:nvPr/>
        </p:nvSpPr>
        <p:spPr>
          <a:xfrm>
            <a:off x="685800" y="1885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4"/>
              </a:rPr>
              <a:t>ESP32 GPIO ↗</a:t>
            </a:r>
          </a:p>
        </p:txBody>
      </p:sp>
      <p:sp>
        <p:nvSpPr>
          <p:cNvPr id="4" name="">
            <a:extLst>
              <a:ext uri="{FF2B5EF4-FFF2-40B4-BE49-F238E27FC236}">
                <ns2:creationId id="{0619890A-5C14-4B1B-ADF5-CDC3F46144B8}"/>
              </a:ext>
            </a:extLst>
          </p:cNvPr>
          <p:cNvSpPr>
            <a:spLocks noGrp="1"/>
          </p:cNvSpPr>
          <p:nvPr/>
        </p:nvSpPr>
        <p:spPr>
          <a:xfrm>
            <a:off x="685800" y="2343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docs.espressif.com</a:t>
            </a:r>
          </a:p>
        </p:txBody>
      </p:sp>
      <p:sp>
        <p:nvSpPr>
          <p:cNvPr id="5" name="">
            <a:extLst>
              <a:ext uri="{FF2B5EF4-FFF2-40B4-BE49-F238E27FC236}">
                <ns2:creationId id="{259768C3-65D3-4384-B6B0-BB2ABC3C2B1B}"/>
              </a:ext>
            </a:extLst>
          </p:cNvPr>
          <p:cNvSpPr>
            <a:spLocks noGrp="1"/>
          </p:cNvSpPr>
          <p:nvPr/>
        </p:nvSpPr>
        <p:spPr>
          <a:xfrm>
            <a:off x="685800" y="2647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5"/>
              </a:rPr>
              <a:t>ESP32 ADC ↗</a:t>
            </a:r>
          </a:p>
        </p:txBody>
      </p:sp>
      <p:sp>
        <p:nvSpPr>
          <p:cNvPr id="6" name="">
            <a:extLst>
              <a:ext uri="{FF2B5EF4-FFF2-40B4-BE49-F238E27FC236}">
                <ns2:creationId id="{6A1E5D95-6E92-4382-B54B-FFE3B9B4D487}"/>
              </a:ext>
            </a:extLst>
          </p:cNvPr>
          <p:cNvSpPr>
            <a:spLocks noGrp="1"/>
          </p:cNvSpPr>
          <p:nvPr/>
        </p:nvSpPr>
        <p:spPr>
          <a:xfrm>
            <a:off x="685800" y="3105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docs.espressif.com</a:t>
            </a:r>
          </a:p>
        </p:txBody>
      </p:sp>
      <p:sp>
        <p:nvSpPr>
          <p:cNvPr id="7" name="">
            <a:extLst>
              <a:ext uri="{FF2B5EF4-FFF2-40B4-BE49-F238E27FC236}">
                <ns2:creationId id="{3C414593-571B-4F09-A67B-9F8FE425C947}"/>
              </a:ext>
            </a:extLst>
          </p:cNvPr>
          <p:cNvSpPr>
            <a:spLocks noGrp="1"/>
          </p:cNvSpPr>
          <p:nvPr/>
        </p:nvSpPr>
        <p:spPr>
          <a:xfrm>
            <a:off x="685800" y="3409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6"/>
              </a:rPr>
              <a:t>ESP32 직렬 통신 ↗</a:t>
            </a:r>
          </a:p>
        </p:txBody>
      </p:sp>
      <p:sp>
        <p:nvSpPr>
          <p:cNvPr id="8" name="">
            <a:extLst>
              <a:ext uri="{FF2B5EF4-FFF2-40B4-BE49-F238E27FC236}">
                <ns2:creationId id="{B4CE942B-423D-4168-8BBD-7F1B4948AB2B}"/>
              </a:ext>
            </a:extLst>
          </p:cNvPr>
          <p:cNvSpPr>
            <a:spLocks noGrp="1"/>
          </p:cNvSpPr>
          <p:nvPr/>
        </p:nvSpPr>
        <p:spPr>
          <a:xfrm>
            <a:off x="685800" y="3867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docs.espressif.com</a:t>
            </a:r>
          </a:p>
        </p:txBody>
      </p:sp>
      <p:sp>
        <p:nvSpPr>
          <p:cNvPr id="9" name="">
            <a:extLst>
              <a:ext uri="{FF2B5EF4-FFF2-40B4-BE49-F238E27FC236}">
                <ns2:creationId id="{A76DEBDD-A1F3-4A54-B794-FC6FB2098BA8}"/>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EA832A4E-5E7E-4782-AF35-9E3FE06B5AC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E33CC002-9DD0-46D6-8BB5-94FD0EBE36E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41E8E13C-B113-470B-B5C7-18BB4480DC6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FDB1A259-BB3C-4438-A6A9-1900D4F53D4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10/23   108</a:t>
            </a:r>
          </a:p>
        </p:txBody>
      </p:sp>
    </p:spTree>
    <p:extLst>
      <p:ext uri="{BB962C8B-B14F-4D97-AF65-F5344CB8AC3E}">
        <ns4:creationId val="790330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2026-10-05T04:49:30.5150000Z</dcterms:created>
  <dcterms:modified xsi:type="dcterms:W3CDTF">2026-10-05T04:49:30.5150000Z</dcterms:modified>
</coreProperties>
</file>