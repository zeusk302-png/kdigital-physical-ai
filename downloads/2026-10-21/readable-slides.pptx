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cdbffd064274268" /><Relationship Type="http://schemas.openxmlformats.org/officeDocument/2006/relationships/extended-properties" Target="/docProps/app.xml" Id="Rfd6c3d706a734cd8" /><Relationship Type="http://schemas.openxmlformats.org/officeDocument/2006/relationships/officeDocument" Target="/ppt/presentation.xml" Id="Rcaa9c2047b7a4f4b" /></Relationships>
</file>

<file path=ppt/presentation.xml><?xml version="1.0" encoding="utf-8"?>
<p:presentation xmlns:p="http://schemas.openxmlformats.org/presentationml/2006/main">
  <p:sldMasterIdLst>
    <p:sldMasterId xmlns:r="http://schemas.openxmlformats.org/officeDocument/2006/relationships" id="2147483648" r:id="Rbf0785161774421a"/>
  </p:sldMasterIdLst>
  <p:notesMasterIdLst>
    <p:notesMasterId xmlns:r="http://schemas.openxmlformats.org/officeDocument/2006/relationships" r:id="R31ed2c522c854fa7"/>
  </p:notesMasterIdLst>
  <p:sldIdLst>
    <p:sldId xmlns:r="http://schemas.openxmlformats.org/officeDocument/2006/relationships" id="256" r:id="R0e7a35b72d414fc9"/>
    <p:sldId xmlns:r="http://schemas.openxmlformats.org/officeDocument/2006/relationships" id="257" r:id="Rd10d94596752435c"/>
    <p:sldId xmlns:r="http://schemas.openxmlformats.org/officeDocument/2006/relationships" id="258" r:id="R573a0b813a74419a"/>
    <p:sldId xmlns:r="http://schemas.openxmlformats.org/officeDocument/2006/relationships" id="259" r:id="R342b8043ae574407"/>
    <p:sldId xmlns:r="http://schemas.openxmlformats.org/officeDocument/2006/relationships" id="260" r:id="Ra349b30adb404adc"/>
    <p:sldId xmlns:r="http://schemas.openxmlformats.org/officeDocument/2006/relationships" id="261" r:id="R8a7eb4a3be744374"/>
    <p:sldId xmlns:r="http://schemas.openxmlformats.org/officeDocument/2006/relationships" id="262" r:id="R8c43fdf6dcc44f81"/>
    <p:sldId xmlns:r="http://schemas.openxmlformats.org/officeDocument/2006/relationships" id="263" r:id="Rd9639c043bd84b03"/>
    <p:sldId xmlns:r="http://schemas.openxmlformats.org/officeDocument/2006/relationships" id="264" r:id="Rb34006a70e2e4b20"/>
    <p:sldId xmlns:r="http://schemas.openxmlformats.org/officeDocument/2006/relationships" id="265" r:id="Rc449ab6304444d79"/>
    <p:sldId xmlns:r="http://schemas.openxmlformats.org/officeDocument/2006/relationships" id="266" r:id="R668477bc251440e9"/>
    <p:sldId xmlns:r="http://schemas.openxmlformats.org/officeDocument/2006/relationships" id="267" r:id="R002e15321cfd4ce7"/>
    <p:sldId xmlns:r="http://schemas.openxmlformats.org/officeDocument/2006/relationships" id="268" r:id="Rfe2d0e1493a94fe5"/>
    <p:sldId xmlns:r="http://schemas.openxmlformats.org/officeDocument/2006/relationships" id="269" r:id="R1bd52b9412914cd5"/>
    <p:sldId xmlns:r="http://schemas.openxmlformats.org/officeDocument/2006/relationships" id="270" r:id="R260014037d304c27"/>
    <p:sldId xmlns:r="http://schemas.openxmlformats.org/officeDocument/2006/relationships" id="271" r:id="Ra62ddac0d5054824"/>
    <p:sldId xmlns:r="http://schemas.openxmlformats.org/officeDocument/2006/relationships" id="272" r:id="Rf084f12d31d247db"/>
    <p:sldId xmlns:r="http://schemas.openxmlformats.org/officeDocument/2006/relationships" id="273" r:id="R6cff9e12293a4e1f"/>
    <p:sldId xmlns:r="http://schemas.openxmlformats.org/officeDocument/2006/relationships" id="274" r:id="R1c712130bb844cd1"/>
    <p:sldId xmlns:r="http://schemas.openxmlformats.org/officeDocument/2006/relationships" id="275" r:id="R57377f18a5ec4fae"/>
    <p:sldId xmlns:r="http://schemas.openxmlformats.org/officeDocument/2006/relationships" id="276" r:id="Rd9be1e936afe42b4"/>
    <p:sldId xmlns:r="http://schemas.openxmlformats.org/officeDocument/2006/relationships" id="277" r:id="R8f5d2eb3e7d7418b"/>
    <p:sldId xmlns:r="http://schemas.openxmlformats.org/officeDocument/2006/relationships" id="278" r:id="R770bf2f1e5204a84"/>
    <p:sldId xmlns:r="http://schemas.openxmlformats.org/officeDocument/2006/relationships" id="279" r:id="R8657334aa99c4bfc"/>
    <p:sldId xmlns:r="http://schemas.openxmlformats.org/officeDocument/2006/relationships" id="280" r:id="Re0899c49e71c4a33"/>
    <p:sldId xmlns:r="http://schemas.openxmlformats.org/officeDocument/2006/relationships" id="281" r:id="R6dbd7c06d84042f0"/>
    <p:sldId xmlns:r="http://schemas.openxmlformats.org/officeDocument/2006/relationships" id="282" r:id="Rbfc0f01b0e1f451d"/>
    <p:sldId xmlns:r="http://schemas.openxmlformats.org/officeDocument/2006/relationships" id="283" r:id="R4bfeb7f8f4a74b4f"/>
    <p:sldId xmlns:r="http://schemas.openxmlformats.org/officeDocument/2006/relationships" id="284" r:id="R389a790d990e4b6a"/>
    <p:sldId xmlns:r="http://schemas.openxmlformats.org/officeDocument/2006/relationships" id="285" r:id="R6163c302aba148bb"/>
    <p:sldId xmlns:r="http://schemas.openxmlformats.org/officeDocument/2006/relationships" id="286" r:id="R71f899b5772a41f3"/>
    <p:sldId xmlns:r="http://schemas.openxmlformats.org/officeDocument/2006/relationships" id="287" r:id="R675d25922b47477b"/>
    <p:sldId xmlns:r="http://schemas.openxmlformats.org/officeDocument/2006/relationships" id="288" r:id="R74335568dafc48f7"/>
    <p:sldId xmlns:r="http://schemas.openxmlformats.org/officeDocument/2006/relationships" id="289" r:id="R2bb51b3abaea44d4"/>
    <p:sldId xmlns:r="http://schemas.openxmlformats.org/officeDocument/2006/relationships" id="290" r:id="R3e06cbd5efc647da"/>
    <p:sldId xmlns:r="http://schemas.openxmlformats.org/officeDocument/2006/relationships" id="291" r:id="R7113b5389dde4b13"/>
    <p:sldId xmlns:r="http://schemas.openxmlformats.org/officeDocument/2006/relationships" id="292" r:id="R131c4ddf8fc34df9"/>
    <p:sldId xmlns:r="http://schemas.openxmlformats.org/officeDocument/2006/relationships" id="293" r:id="Rd2911b01059e45a5"/>
    <p:sldId xmlns:r="http://schemas.openxmlformats.org/officeDocument/2006/relationships" id="294" r:id="R0a5c5e2357bf48b3"/>
    <p:sldId xmlns:r="http://schemas.openxmlformats.org/officeDocument/2006/relationships" id="295" r:id="R977e5acf499240c0"/>
    <p:sldId xmlns:r="http://schemas.openxmlformats.org/officeDocument/2006/relationships" id="296" r:id="R0c416a5dc3924f04"/>
    <p:sldId xmlns:r="http://schemas.openxmlformats.org/officeDocument/2006/relationships" id="297" r:id="R013643bcacfe4e4e"/>
    <p:sldId xmlns:r="http://schemas.openxmlformats.org/officeDocument/2006/relationships" id="298" r:id="Rd61aaabf516b49bd"/>
    <p:sldId xmlns:r="http://schemas.openxmlformats.org/officeDocument/2006/relationships" id="299" r:id="R6641afe4b16047e5"/>
    <p:sldId xmlns:r="http://schemas.openxmlformats.org/officeDocument/2006/relationships" id="300" r:id="R8157821b37244494"/>
    <p:sldId xmlns:r="http://schemas.openxmlformats.org/officeDocument/2006/relationships" id="301" r:id="Rcaffff48231b47fe"/>
    <p:sldId xmlns:r="http://schemas.openxmlformats.org/officeDocument/2006/relationships" id="302" r:id="R76928d8dcf9948ec"/>
    <p:sldId xmlns:r="http://schemas.openxmlformats.org/officeDocument/2006/relationships" id="303" r:id="R2d3753a663f84e40"/>
    <p:sldId xmlns:r="http://schemas.openxmlformats.org/officeDocument/2006/relationships" id="304" r:id="Rfd6a3c81d61f41c0"/>
    <p:sldId xmlns:r="http://schemas.openxmlformats.org/officeDocument/2006/relationships" id="305" r:id="R6b63a4e07de34462"/>
    <p:sldId xmlns:r="http://schemas.openxmlformats.org/officeDocument/2006/relationships" id="306" r:id="Reea3e1015a344cb2"/>
    <p:sldId xmlns:r="http://schemas.openxmlformats.org/officeDocument/2006/relationships" id="307" r:id="R24a495987a264c5c"/>
    <p:sldId xmlns:r="http://schemas.openxmlformats.org/officeDocument/2006/relationships" id="308" r:id="Rc7708aecf58a4620"/>
    <p:sldId xmlns:r="http://schemas.openxmlformats.org/officeDocument/2006/relationships" id="309" r:id="Rd63b629f176a4d9d"/>
    <p:sldId xmlns:r="http://schemas.openxmlformats.org/officeDocument/2006/relationships" id="310" r:id="R9a0b81256ccd4f39"/>
    <p:sldId xmlns:r="http://schemas.openxmlformats.org/officeDocument/2006/relationships" id="311" r:id="Rd47119de72e245cd"/>
    <p:sldId xmlns:r="http://schemas.openxmlformats.org/officeDocument/2006/relationships" id="312" r:id="Rcc994fc12bcc4740"/>
    <p:sldId xmlns:r="http://schemas.openxmlformats.org/officeDocument/2006/relationships" id="313" r:id="R15a8f55512be46ad"/>
    <p:sldId xmlns:r="http://schemas.openxmlformats.org/officeDocument/2006/relationships" id="314" r:id="R5300383243ca44b9"/>
    <p:sldId xmlns:r="http://schemas.openxmlformats.org/officeDocument/2006/relationships" id="315" r:id="R55d785af09964f2a"/>
    <p:sldId xmlns:r="http://schemas.openxmlformats.org/officeDocument/2006/relationships" id="316" r:id="Rb52e5ace26c94f75"/>
    <p:sldId xmlns:r="http://schemas.openxmlformats.org/officeDocument/2006/relationships" id="317" r:id="Rbb601e8abe4449c3"/>
    <p:sldId xmlns:r="http://schemas.openxmlformats.org/officeDocument/2006/relationships" id="318" r:id="Rc186b7c80fa840b1"/>
    <p:sldId xmlns:r="http://schemas.openxmlformats.org/officeDocument/2006/relationships" id="319" r:id="Rbf6ff873334a48f5"/>
    <p:sldId xmlns:r="http://schemas.openxmlformats.org/officeDocument/2006/relationships" id="320" r:id="R4b67732d76f5426c"/>
    <p:sldId xmlns:r="http://schemas.openxmlformats.org/officeDocument/2006/relationships" id="321" r:id="R2b14ba9fe8934477"/>
    <p:sldId xmlns:r="http://schemas.openxmlformats.org/officeDocument/2006/relationships" id="322" r:id="Rd948f598ea2f41db"/>
    <p:sldId xmlns:r="http://schemas.openxmlformats.org/officeDocument/2006/relationships" id="323" r:id="Rc52f1e0f481a47c4"/>
    <p:sldId xmlns:r="http://schemas.openxmlformats.org/officeDocument/2006/relationships" id="324" r:id="Ra04bf16b76354ee0"/>
    <p:sldId xmlns:r="http://schemas.openxmlformats.org/officeDocument/2006/relationships" id="325" r:id="R2e19ac46c9d14667"/>
    <p:sldId xmlns:r="http://schemas.openxmlformats.org/officeDocument/2006/relationships" id="326" r:id="Rf3e328232bd74b85"/>
    <p:sldId xmlns:r="http://schemas.openxmlformats.org/officeDocument/2006/relationships" id="327" r:id="R7bbab594900f4e88"/>
    <p:sldId xmlns:r="http://schemas.openxmlformats.org/officeDocument/2006/relationships" id="328" r:id="Rfc571bfa471e4f4d"/>
    <p:sldId xmlns:r="http://schemas.openxmlformats.org/officeDocument/2006/relationships" id="329" r:id="Rd0cfdfa359e14233"/>
    <p:sldId xmlns:r="http://schemas.openxmlformats.org/officeDocument/2006/relationships" id="330" r:id="R2a833c9c88f343b5"/>
    <p:sldId xmlns:r="http://schemas.openxmlformats.org/officeDocument/2006/relationships" id="331" r:id="R0ecaebaab97245b4"/>
    <p:sldId xmlns:r="http://schemas.openxmlformats.org/officeDocument/2006/relationships" id="332" r:id="R37b164fa614246df"/>
    <p:sldId xmlns:r="http://schemas.openxmlformats.org/officeDocument/2006/relationships" id="333" r:id="R711499d7d1984229"/>
    <p:sldId xmlns:r="http://schemas.openxmlformats.org/officeDocument/2006/relationships" id="334" r:id="R7150be82ddce42ea"/>
    <p:sldId xmlns:r="http://schemas.openxmlformats.org/officeDocument/2006/relationships" id="335" r:id="R5ad61c8456bc4105"/>
    <p:sldId xmlns:r="http://schemas.openxmlformats.org/officeDocument/2006/relationships" id="336" r:id="R04c82b37f99545ff"/>
    <p:sldId xmlns:r="http://schemas.openxmlformats.org/officeDocument/2006/relationships" id="337" r:id="R3b263baa9f384aa6"/>
    <p:sldId xmlns:r="http://schemas.openxmlformats.org/officeDocument/2006/relationships" id="338" r:id="R5ac6230321a54829"/>
    <p:sldId xmlns:r="http://schemas.openxmlformats.org/officeDocument/2006/relationships" id="339" r:id="R85d39cf850644518"/>
    <p:sldId xmlns:r="http://schemas.openxmlformats.org/officeDocument/2006/relationships" id="340" r:id="R9831083451614cb7"/>
    <p:sldId xmlns:r="http://schemas.openxmlformats.org/officeDocument/2006/relationships" id="341" r:id="R196ce5e3453648fa"/>
    <p:sldId xmlns:r="http://schemas.openxmlformats.org/officeDocument/2006/relationships" id="342" r:id="R891fc1fb236b4486"/>
    <p:sldId xmlns:r="http://schemas.openxmlformats.org/officeDocument/2006/relationships" id="343" r:id="R1cc74c734ae04ca1"/>
    <p:sldId xmlns:r="http://schemas.openxmlformats.org/officeDocument/2006/relationships" id="344" r:id="Ra7de0a4a7f224bf0"/>
    <p:sldId xmlns:r="http://schemas.openxmlformats.org/officeDocument/2006/relationships" id="345" r:id="Rca49ef1f2e2c457e"/>
    <p:sldId xmlns:r="http://schemas.openxmlformats.org/officeDocument/2006/relationships" id="346" r:id="R14528547803347ed"/>
    <p:sldId xmlns:r="http://schemas.openxmlformats.org/officeDocument/2006/relationships" id="347" r:id="R147f8b90cd8947c3"/>
    <p:sldId xmlns:r="http://schemas.openxmlformats.org/officeDocument/2006/relationships" id="348" r:id="R9cacee8d90c34c29"/>
    <p:sldId xmlns:r="http://schemas.openxmlformats.org/officeDocument/2006/relationships" id="349" r:id="R6366f70969ce4601"/>
    <p:sldId xmlns:r="http://schemas.openxmlformats.org/officeDocument/2006/relationships" id="350" r:id="R289e0a63fe214146"/>
    <p:sldId xmlns:r="http://schemas.openxmlformats.org/officeDocument/2006/relationships" id="351" r:id="Re66664c0098d46f1"/>
    <p:sldId xmlns:r="http://schemas.openxmlformats.org/officeDocument/2006/relationships" id="352" r:id="R3de2e81776e549f2"/>
    <p:sldId xmlns:r="http://schemas.openxmlformats.org/officeDocument/2006/relationships" id="353" r:id="R3b2cb4df50c94f15"/>
    <p:sldId xmlns:r="http://schemas.openxmlformats.org/officeDocument/2006/relationships" id="354" r:id="Rd75d30d10fb241ee"/>
    <p:sldId xmlns:r="http://schemas.openxmlformats.org/officeDocument/2006/relationships" id="355" r:id="R72caa55304d24e82"/>
    <p:sldId xmlns:r="http://schemas.openxmlformats.org/officeDocument/2006/relationships" id="356" r:id="Rba42fc4fc9c34cc6"/>
    <p:sldId xmlns:r="http://schemas.openxmlformats.org/officeDocument/2006/relationships" id="357" r:id="R34320e66ee724bb5"/>
    <p:sldId xmlns:r="http://schemas.openxmlformats.org/officeDocument/2006/relationships" id="358" r:id="R7dc945b73748457f"/>
    <p:sldId xmlns:r="http://schemas.openxmlformats.org/officeDocument/2006/relationships" id="359" r:id="Rd59a9579250a4145"/>
    <p:sldId xmlns:r="http://schemas.openxmlformats.org/officeDocument/2006/relationships" id="360" r:id="R12073a8eb844421d"/>
    <p:sldId xmlns:r="http://schemas.openxmlformats.org/officeDocument/2006/relationships" id="361" r:id="R09dad708f2074140"/>
    <p:sldId xmlns:r="http://schemas.openxmlformats.org/officeDocument/2006/relationships" id="362" r:id="Rd78836c5874349df"/>
    <p:sldId xmlns:r="http://schemas.openxmlformats.org/officeDocument/2006/relationships" id="363" r:id="R98a47b11d9b742e6"/>
    <p:sldId xmlns:r="http://schemas.openxmlformats.org/officeDocument/2006/relationships" id="364" r:id="Ra4ff1df9a4ee4c3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792b39a24474f1a" /><Relationship Type="http://schemas.openxmlformats.org/officeDocument/2006/relationships/slideMaster" Target="/ppt/slideMasters/slideMaster1.xml" Id="Rbf0785161774421a" /><Relationship Type="http://schemas.openxmlformats.org/officeDocument/2006/relationships/notesMaster" Target="/ppt/notesMasters/notesMaster1.xml" Id="R31ed2c522c854fa7" /><Relationship Type="http://schemas.openxmlformats.org/officeDocument/2006/relationships/presProps" Target="/ppt/presProps.xml" Id="R40d8df9b4d084b33" /><Relationship Type="http://schemas.openxmlformats.org/officeDocument/2006/relationships/tableStyles" Target="/ppt/tableStyles.xml" Id="Rd7b217a2939947e2" /><Relationship Type="http://schemas.openxmlformats.org/officeDocument/2006/relationships/slide" Target="/ppt/slides/slide1.xml" Id="R0e7a35b72d414fc9" /><Relationship Type="http://schemas.openxmlformats.org/officeDocument/2006/relationships/slide" Target="/ppt/slides/slide2.xml" Id="Rd10d94596752435c" /><Relationship Type="http://schemas.openxmlformats.org/officeDocument/2006/relationships/slide" Target="/ppt/slides/slide3.xml" Id="R573a0b813a74419a" /><Relationship Type="http://schemas.openxmlformats.org/officeDocument/2006/relationships/slide" Target="/ppt/slides/slide4.xml" Id="R342b8043ae574407" /><Relationship Type="http://schemas.openxmlformats.org/officeDocument/2006/relationships/slide" Target="/ppt/slides/slide5.xml" Id="Ra349b30adb404adc" /><Relationship Type="http://schemas.openxmlformats.org/officeDocument/2006/relationships/slide" Target="/ppt/slides/slide6.xml" Id="R8a7eb4a3be744374" /><Relationship Type="http://schemas.openxmlformats.org/officeDocument/2006/relationships/slide" Target="/ppt/slides/slide7.xml" Id="R8c43fdf6dcc44f81" /><Relationship Type="http://schemas.openxmlformats.org/officeDocument/2006/relationships/slide" Target="/ppt/slides/slide8.xml" Id="Rd9639c043bd84b03" /><Relationship Type="http://schemas.openxmlformats.org/officeDocument/2006/relationships/slide" Target="/ppt/slides/slide9.xml" Id="Rb34006a70e2e4b20" /><Relationship Type="http://schemas.openxmlformats.org/officeDocument/2006/relationships/slide" Target="/ppt/slides/slide10.xml" Id="Rc449ab6304444d79" /><Relationship Type="http://schemas.openxmlformats.org/officeDocument/2006/relationships/slide" Target="/ppt/slides/slide11.xml" Id="R668477bc251440e9" /><Relationship Type="http://schemas.openxmlformats.org/officeDocument/2006/relationships/slide" Target="/ppt/slides/slide12.xml" Id="R002e15321cfd4ce7" /><Relationship Type="http://schemas.openxmlformats.org/officeDocument/2006/relationships/slide" Target="/ppt/slides/slide13.xml" Id="Rfe2d0e1493a94fe5" /><Relationship Type="http://schemas.openxmlformats.org/officeDocument/2006/relationships/slide" Target="/ppt/slides/slide14.xml" Id="R1bd52b9412914cd5" /><Relationship Type="http://schemas.openxmlformats.org/officeDocument/2006/relationships/slide" Target="/ppt/slides/slide15.xml" Id="R260014037d304c27" /><Relationship Type="http://schemas.openxmlformats.org/officeDocument/2006/relationships/slide" Target="/ppt/slides/slide16.xml" Id="Ra62ddac0d5054824" /><Relationship Type="http://schemas.openxmlformats.org/officeDocument/2006/relationships/slide" Target="/ppt/slides/slide17.xml" Id="Rf084f12d31d247db" /><Relationship Type="http://schemas.openxmlformats.org/officeDocument/2006/relationships/slide" Target="/ppt/slides/slide18.xml" Id="R6cff9e12293a4e1f" /><Relationship Type="http://schemas.openxmlformats.org/officeDocument/2006/relationships/slide" Target="/ppt/slides/slide19.xml" Id="R1c712130bb844cd1" /><Relationship Type="http://schemas.openxmlformats.org/officeDocument/2006/relationships/slide" Target="/ppt/slides/slide20.xml" Id="R57377f18a5ec4fae" /><Relationship Type="http://schemas.openxmlformats.org/officeDocument/2006/relationships/slide" Target="/ppt/slides/slide21.xml" Id="Rd9be1e936afe42b4" /><Relationship Type="http://schemas.openxmlformats.org/officeDocument/2006/relationships/slide" Target="/ppt/slides/slide22.xml" Id="R8f5d2eb3e7d7418b" /><Relationship Type="http://schemas.openxmlformats.org/officeDocument/2006/relationships/slide" Target="/ppt/slides/slide23.xml" Id="R770bf2f1e5204a84" /><Relationship Type="http://schemas.openxmlformats.org/officeDocument/2006/relationships/slide" Target="/ppt/slides/slide24.xml" Id="R8657334aa99c4bfc" /><Relationship Type="http://schemas.openxmlformats.org/officeDocument/2006/relationships/slide" Target="/ppt/slides/slide25.xml" Id="Re0899c49e71c4a33" /><Relationship Type="http://schemas.openxmlformats.org/officeDocument/2006/relationships/slide" Target="/ppt/slides/slide26.xml" Id="R6dbd7c06d84042f0" /><Relationship Type="http://schemas.openxmlformats.org/officeDocument/2006/relationships/slide" Target="/ppt/slides/slide27.xml" Id="Rbfc0f01b0e1f451d" /><Relationship Type="http://schemas.openxmlformats.org/officeDocument/2006/relationships/slide" Target="/ppt/slides/slide28.xml" Id="R4bfeb7f8f4a74b4f" /><Relationship Type="http://schemas.openxmlformats.org/officeDocument/2006/relationships/slide" Target="/ppt/slides/slide29.xml" Id="R389a790d990e4b6a" /><Relationship Type="http://schemas.openxmlformats.org/officeDocument/2006/relationships/slide" Target="/ppt/slides/slide30.xml" Id="R6163c302aba148bb" /><Relationship Type="http://schemas.openxmlformats.org/officeDocument/2006/relationships/slide" Target="/ppt/slides/slide31.xml" Id="R71f899b5772a41f3" /><Relationship Type="http://schemas.openxmlformats.org/officeDocument/2006/relationships/slide" Target="/ppt/slides/slide32.xml" Id="R675d25922b47477b" /><Relationship Type="http://schemas.openxmlformats.org/officeDocument/2006/relationships/slide" Target="/ppt/slides/slide33.xml" Id="R74335568dafc48f7" /><Relationship Type="http://schemas.openxmlformats.org/officeDocument/2006/relationships/slide" Target="/ppt/slides/slide34.xml" Id="R2bb51b3abaea44d4" /><Relationship Type="http://schemas.openxmlformats.org/officeDocument/2006/relationships/slide" Target="/ppt/slides/slide35.xml" Id="R3e06cbd5efc647da" /><Relationship Type="http://schemas.openxmlformats.org/officeDocument/2006/relationships/slide" Target="/ppt/slides/slide36.xml" Id="R7113b5389dde4b13" /><Relationship Type="http://schemas.openxmlformats.org/officeDocument/2006/relationships/slide" Target="/ppt/slides/slide37.xml" Id="R131c4ddf8fc34df9" /><Relationship Type="http://schemas.openxmlformats.org/officeDocument/2006/relationships/slide" Target="/ppt/slides/slide38.xml" Id="Rd2911b01059e45a5" /><Relationship Type="http://schemas.openxmlformats.org/officeDocument/2006/relationships/slide" Target="/ppt/slides/slide39.xml" Id="R0a5c5e2357bf48b3" /><Relationship Type="http://schemas.openxmlformats.org/officeDocument/2006/relationships/slide" Target="/ppt/slides/slide40.xml" Id="R977e5acf499240c0" /><Relationship Type="http://schemas.openxmlformats.org/officeDocument/2006/relationships/slide" Target="/ppt/slides/slide41.xml" Id="R0c416a5dc3924f04" /><Relationship Type="http://schemas.openxmlformats.org/officeDocument/2006/relationships/slide" Target="/ppt/slides/slide42.xml" Id="R013643bcacfe4e4e" /><Relationship Type="http://schemas.openxmlformats.org/officeDocument/2006/relationships/slide" Target="/ppt/slides/slide43.xml" Id="Rd61aaabf516b49bd" /><Relationship Type="http://schemas.openxmlformats.org/officeDocument/2006/relationships/slide" Target="/ppt/slides/slide44.xml" Id="R6641afe4b16047e5" /><Relationship Type="http://schemas.openxmlformats.org/officeDocument/2006/relationships/slide" Target="/ppt/slides/slide45.xml" Id="R8157821b37244494" /><Relationship Type="http://schemas.openxmlformats.org/officeDocument/2006/relationships/slide" Target="/ppt/slides/slide46.xml" Id="Rcaffff48231b47fe" /><Relationship Type="http://schemas.openxmlformats.org/officeDocument/2006/relationships/slide" Target="/ppt/slides/slide47.xml" Id="R76928d8dcf9948ec" /><Relationship Type="http://schemas.openxmlformats.org/officeDocument/2006/relationships/slide" Target="/ppt/slides/slide48.xml" Id="R2d3753a663f84e40" /><Relationship Type="http://schemas.openxmlformats.org/officeDocument/2006/relationships/slide" Target="/ppt/slides/slide49.xml" Id="Rfd6a3c81d61f41c0" /><Relationship Type="http://schemas.openxmlformats.org/officeDocument/2006/relationships/slide" Target="/ppt/slides/slide50.xml" Id="R6b63a4e07de34462" /><Relationship Type="http://schemas.openxmlformats.org/officeDocument/2006/relationships/slide" Target="/ppt/slides/slide51.xml" Id="Reea3e1015a344cb2" /><Relationship Type="http://schemas.openxmlformats.org/officeDocument/2006/relationships/slide" Target="/ppt/slides/slide52.xml" Id="R24a495987a264c5c" /><Relationship Type="http://schemas.openxmlformats.org/officeDocument/2006/relationships/slide" Target="/ppt/slides/slide53.xml" Id="Rc7708aecf58a4620" /><Relationship Type="http://schemas.openxmlformats.org/officeDocument/2006/relationships/slide" Target="/ppt/slides/slide54.xml" Id="Rd63b629f176a4d9d" /><Relationship Type="http://schemas.openxmlformats.org/officeDocument/2006/relationships/slide" Target="/ppt/slides/slide55.xml" Id="R9a0b81256ccd4f39" /><Relationship Type="http://schemas.openxmlformats.org/officeDocument/2006/relationships/slide" Target="/ppt/slides/slide56.xml" Id="Rd47119de72e245cd" /><Relationship Type="http://schemas.openxmlformats.org/officeDocument/2006/relationships/slide" Target="/ppt/slides/slide57.xml" Id="Rcc994fc12bcc4740" /><Relationship Type="http://schemas.openxmlformats.org/officeDocument/2006/relationships/slide" Target="/ppt/slides/slide58.xml" Id="R15a8f55512be46ad" /><Relationship Type="http://schemas.openxmlformats.org/officeDocument/2006/relationships/slide" Target="/ppt/slides/slide59.xml" Id="R5300383243ca44b9" /><Relationship Type="http://schemas.openxmlformats.org/officeDocument/2006/relationships/slide" Target="/ppt/slides/slide60.xml" Id="R55d785af09964f2a" /><Relationship Type="http://schemas.openxmlformats.org/officeDocument/2006/relationships/slide" Target="/ppt/slides/slide61.xml" Id="Rb52e5ace26c94f75" /><Relationship Type="http://schemas.openxmlformats.org/officeDocument/2006/relationships/slide" Target="/ppt/slides/slide62.xml" Id="Rbb601e8abe4449c3" /><Relationship Type="http://schemas.openxmlformats.org/officeDocument/2006/relationships/slide" Target="/ppt/slides/slide63.xml" Id="Rc186b7c80fa840b1" /><Relationship Type="http://schemas.openxmlformats.org/officeDocument/2006/relationships/slide" Target="/ppt/slides/slide64.xml" Id="Rbf6ff873334a48f5" /><Relationship Type="http://schemas.openxmlformats.org/officeDocument/2006/relationships/slide" Target="/ppt/slides/slide65.xml" Id="R4b67732d76f5426c" /><Relationship Type="http://schemas.openxmlformats.org/officeDocument/2006/relationships/slide" Target="/ppt/slides/slide66.xml" Id="R2b14ba9fe8934477" /><Relationship Type="http://schemas.openxmlformats.org/officeDocument/2006/relationships/slide" Target="/ppt/slides/slide67.xml" Id="Rd948f598ea2f41db" /><Relationship Type="http://schemas.openxmlformats.org/officeDocument/2006/relationships/slide" Target="/ppt/slides/slide68.xml" Id="Rc52f1e0f481a47c4" /><Relationship Type="http://schemas.openxmlformats.org/officeDocument/2006/relationships/slide" Target="/ppt/slides/slide69.xml" Id="Ra04bf16b76354ee0" /><Relationship Type="http://schemas.openxmlformats.org/officeDocument/2006/relationships/slide" Target="/ppt/slides/slide70.xml" Id="R2e19ac46c9d14667" /><Relationship Type="http://schemas.openxmlformats.org/officeDocument/2006/relationships/slide" Target="/ppt/slides/slide71.xml" Id="Rf3e328232bd74b85" /><Relationship Type="http://schemas.openxmlformats.org/officeDocument/2006/relationships/slide" Target="/ppt/slides/slide72.xml" Id="R7bbab594900f4e88" /><Relationship Type="http://schemas.openxmlformats.org/officeDocument/2006/relationships/slide" Target="/ppt/slides/slide73.xml" Id="Rfc571bfa471e4f4d" /><Relationship Type="http://schemas.openxmlformats.org/officeDocument/2006/relationships/slide" Target="/ppt/slides/slide74.xml" Id="Rd0cfdfa359e14233" /><Relationship Type="http://schemas.openxmlformats.org/officeDocument/2006/relationships/slide" Target="/ppt/slides/slide75.xml" Id="R2a833c9c88f343b5" /><Relationship Type="http://schemas.openxmlformats.org/officeDocument/2006/relationships/slide" Target="/ppt/slides/slide76.xml" Id="R0ecaebaab97245b4" /><Relationship Type="http://schemas.openxmlformats.org/officeDocument/2006/relationships/slide" Target="/ppt/slides/slide77.xml" Id="R37b164fa614246df" /><Relationship Type="http://schemas.openxmlformats.org/officeDocument/2006/relationships/slide" Target="/ppt/slides/slide78.xml" Id="R711499d7d1984229" /><Relationship Type="http://schemas.openxmlformats.org/officeDocument/2006/relationships/slide" Target="/ppt/slides/slide79.xml" Id="R7150be82ddce42ea" /><Relationship Type="http://schemas.openxmlformats.org/officeDocument/2006/relationships/slide" Target="/ppt/slides/slide80.xml" Id="R5ad61c8456bc4105" /><Relationship Type="http://schemas.openxmlformats.org/officeDocument/2006/relationships/slide" Target="/ppt/slides/slide81.xml" Id="R04c82b37f99545ff" /><Relationship Type="http://schemas.openxmlformats.org/officeDocument/2006/relationships/slide" Target="/ppt/slides/slide82.xml" Id="R3b263baa9f384aa6" /><Relationship Type="http://schemas.openxmlformats.org/officeDocument/2006/relationships/slide" Target="/ppt/slides/slide83.xml" Id="R5ac6230321a54829" /><Relationship Type="http://schemas.openxmlformats.org/officeDocument/2006/relationships/slide" Target="/ppt/slides/slide84.xml" Id="R85d39cf850644518" /><Relationship Type="http://schemas.openxmlformats.org/officeDocument/2006/relationships/slide" Target="/ppt/slides/slide85.xml" Id="R9831083451614cb7" /><Relationship Type="http://schemas.openxmlformats.org/officeDocument/2006/relationships/slide" Target="/ppt/slides/slide86.xml" Id="R196ce5e3453648fa" /><Relationship Type="http://schemas.openxmlformats.org/officeDocument/2006/relationships/slide" Target="/ppt/slides/slide87.xml" Id="R891fc1fb236b4486" /><Relationship Type="http://schemas.openxmlformats.org/officeDocument/2006/relationships/slide" Target="/ppt/slides/slide88.xml" Id="R1cc74c734ae04ca1" /><Relationship Type="http://schemas.openxmlformats.org/officeDocument/2006/relationships/slide" Target="/ppt/slides/slide89.xml" Id="Ra7de0a4a7f224bf0" /><Relationship Type="http://schemas.openxmlformats.org/officeDocument/2006/relationships/slide" Target="/ppt/slides/slide90.xml" Id="Rca49ef1f2e2c457e" /><Relationship Type="http://schemas.openxmlformats.org/officeDocument/2006/relationships/slide" Target="/ppt/slides/slide91.xml" Id="R14528547803347ed" /><Relationship Type="http://schemas.openxmlformats.org/officeDocument/2006/relationships/slide" Target="/ppt/slides/slide92.xml" Id="R147f8b90cd8947c3" /><Relationship Type="http://schemas.openxmlformats.org/officeDocument/2006/relationships/slide" Target="/ppt/slides/slide93.xml" Id="R9cacee8d90c34c29" /><Relationship Type="http://schemas.openxmlformats.org/officeDocument/2006/relationships/slide" Target="/ppt/slides/slide94.xml" Id="R6366f70969ce4601" /><Relationship Type="http://schemas.openxmlformats.org/officeDocument/2006/relationships/slide" Target="/ppt/slides/slide95.xml" Id="R289e0a63fe214146" /><Relationship Type="http://schemas.openxmlformats.org/officeDocument/2006/relationships/slide" Target="/ppt/slides/slide96.xml" Id="Re66664c0098d46f1" /><Relationship Type="http://schemas.openxmlformats.org/officeDocument/2006/relationships/slide" Target="/ppt/slides/slide97.xml" Id="R3de2e81776e549f2" /><Relationship Type="http://schemas.openxmlformats.org/officeDocument/2006/relationships/slide" Target="/ppt/slides/slide98.xml" Id="R3b2cb4df50c94f15" /><Relationship Type="http://schemas.openxmlformats.org/officeDocument/2006/relationships/slide" Target="/ppt/slides/slide99.xml" Id="Rd75d30d10fb241ee" /><Relationship Type="http://schemas.openxmlformats.org/officeDocument/2006/relationships/slide" Target="/ppt/slides/slide100.xml" Id="R72caa55304d24e82" /><Relationship Type="http://schemas.openxmlformats.org/officeDocument/2006/relationships/slide" Target="/ppt/slides/slide101.xml" Id="Rba42fc4fc9c34cc6" /><Relationship Type="http://schemas.openxmlformats.org/officeDocument/2006/relationships/slide" Target="/ppt/slides/slide102.xml" Id="R34320e66ee724bb5" /><Relationship Type="http://schemas.openxmlformats.org/officeDocument/2006/relationships/slide" Target="/ppt/slides/slide103.xml" Id="R7dc945b73748457f" /><Relationship Type="http://schemas.openxmlformats.org/officeDocument/2006/relationships/slide" Target="/ppt/slides/slide104.xml" Id="Rd59a9579250a4145" /><Relationship Type="http://schemas.openxmlformats.org/officeDocument/2006/relationships/slide" Target="/ppt/slides/slide105.xml" Id="R12073a8eb844421d" /><Relationship Type="http://schemas.openxmlformats.org/officeDocument/2006/relationships/slide" Target="/ppt/slides/slide106.xml" Id="R09dad708f2074140" /><Relationship Type="http://schemas.openxmlformats.org/officeDocument/2006/relationships/slide" Target="/ppt/slides/slide107.xml" Id="Rd78836c5874349df" /><Relationship Type="http://schemas.openxmlformats.org/officeDocument/2006/relationships/slide" Target="/ppt/slides/slide108.xml" Id="R98a47b11d9b742e6" /><Relationship Type="http://schemas.openxmlformats.org/officeDocument/2006/relationships/slide" Target="/ppt/slides/slide109.xml" Id="Ra4ff1df9a4ee4c3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4482715d67c42f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eaabc901e0b4136" /><Relationship Type="http://schemas.openxmlformats.org/officeDocument/2006/relationships/notesMaster" Target="/ppt/notesMasters/notesMaster1.xml" Id="Rf2e114f616184aa1" /></Relationships>
</file>

<file path=ppt/notesSlides/_rels/notesSlide2.xml.rels>&#65279;<?xml version="1.0" encoding="utf-8"?><Relationships xmlns="http://schemas.openxmlformats.org/package/2006/relationships"><Relationship Type="http://schemas.openxmlformats.org/officeDocument/2006/relationships/slide" Target="/ppt/slides/slide2.xml" Id="R6efbca74bdd84602" /><Relationship Type="http://schemas.openxmlformats.org/officeDocument/2006/relationships/notesMaster" Target="/ppt/notesMasters/notesMaster1.xml" Id="Rf01c3460ab814ab7" /></Relationships>
</file>

<file path=ppt/notesSlides/_rels/notesSlide3.xml.rels>&#65279;<?xml version="1.0" encoding="utf-8"?><Relationships xmlns="http://schemas.openxmlformats.org/package/2006/relationships"><Relationship Type="http://schemas.openxmlformats.org/officeDocument/2006/relationships/slide" Target="/ppt/slides/slide3.xml" Id="R6cfb23071c3b470d" /><Relationship Type="http://schemas.openxmlformats.org/officeDocument/2006/relationships/notesMaster" Target="/ppt/notesMasters/notesMaster1.xml" Id="R4c3fc010d9af4879" /></Relationships>
</file>

<file path=ppt/notesSlides/_rels/notesSlide4.xml.rels>&#65279;<?xml version="1.0" encoding="utf-8"?><Relationships xmlns="http://schemas.openxmlformats.org/package/2006/relationships"><Relationship Type="http://schemas.openxmlformats.org/officeDocument/2006/relationships/slide" Target="/ppt/slides/slide4.xml" Id="R6a56851cb19e4e4f" /><Relationship Type="http://schemas.openxmlformats.org/officeDocument/2006/relationships/notesMaster" Target="/ppt/notesMasters/notesMaster1.xml" Id="R8b9686f0107f4b9b" /></Relationships>
</file>

<file path=ppt/notesSlides/_rels/notesSlide5.xml.rels>&#65279;<?xml version="1.0" encoding="utf-8"?><Relationships xmlns="http://schemas.openxmlformats.org/package/2006/relationships"><Relationship Type="http://schemas.openxmlformats.org/officeDocument/2006/relationships/slide" Target="/ppt/slides/slide5.xml" Id="R52d8d9480da04f50" /><Relationship Type="http://schemas.openxmlformats.org/officeDocument/2006/relationships/notesMaster" Target="/ppt/notesMasters/notesMaster1.xml" Id="Rcbecc6778b314e0a" /></Relationships>
</file>

<file path=ppt/notesSlides/_rels/notesSlide6.xml.rels>&#65279;<?xml version="1.0" encoding="utf-8"?><Relationships xmlns="http://schemas.openxmlformats.org/package/2006/relationships"><Relationship Type="http://schemas.openxmlformats.org/officeDocument/2006/relationships/slide" Target="/ppt/slides/slide6.xml" Id="Ra09d1b5fb23549d3" /><Relationship Type="http://schemas.openxmlformats.org/officeDocument/2006/relationships/notesMaster" Target="/ppt/notesMasters/notesMaster1.xml" Id="R9e403e0afeed48b9" /></Relationships>
</file>

<file path=ppt/notesSlides/_rels/notesSlide7.xml.rels>&#65279;<?xml version="1.0" encoding="utf-8"?><Relationships xmlns="http://schemas.openxmlformats.org/package/2006/relationships"><Relationship Type="http://schemas.openxmlformats.org/officeDocument/2006/relationships/slide" Target="/ppt/slides/slide7.xml" Id="R913a0a9769cc4ce7" /><Relationship Type="http://schemas.openxmlformats.org/officeDocument/2006/relationships/notesMaster" Target="/ppt/notesMasters/notesMaster1.xml" Id="R8e4953eaf22f4206" /></Relationships>
</file>

<file path=ppt/notesSlides/_rels/notesSlide8.xml.rels>&#65279;<?xml version="1.0" encoding="utf-8"?><Relationships xmlns="http://schemas.openxmlformats.org/package/2006/relationships"><Relationship Type="http://schemas.openxmlformats.org/officeDocument/2006/relationships/slide" Target="/ppt/slides/slide8.xml" Id="Re3986e51edd74dff" /><Relationship Type="http://schemas.openxmlformats.org/officeDocument/2006/relationships/notesMaster" Target="/ppt/notesMasters/notesMaster1.xml" Id="R298e0f3f6dd641c8" /></Relationships>
</file>

<file path=ppt/notesSlides/_rels/notesSlide9.xml.rels>&#65279;<?xml version="1.0" encoding="utf-8"?><Relationships xmlns="http://schemas.openxmlformats.org/package/2006/relationships"><Relationship Type="http://schemas.openxmlformats.org/officeDocument/2006/relationships/slide" Target="/ppt/slides/slide9.xml" Id="R947d81060e684bd4" /><Relationship Type="http://schemas.openxmlformats.org/officeDocument/2006/relationships/notesMaster" Target="/ppt/notesMasters/notesMaster1.xml" Id="Rc8a3c5a30820421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f05d6df90cd407d" /><Relationship Type="http://schemas.openxmlformats.org/officeDocument/2006/relationships/notesMaster" Target="/ppt/notesMasters/notesMaster1.xml" Id="R81f89a919a4b426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a4341065f654221" /><Relationship Type="http://schemas.openxmlformats.org/officeDocument/2006/relationships/notesMaster" Target="/ppt/notesMasters/notesMaster1.xml" Id="R92baaae694ab410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61bc94340814756" /><Relationship Type="http://schemas.openxmlformats.org/officeDocument/2006/relationships/notesMaster" Target="/ppt/notesMasters/notesMaster1.xml" Id="R6551a615e19d4ee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73e9cc814fc407d" /><Relationship Type="http://schemas.openxmlformats.org/officeDocument/2006/relationships/notesMaster" Target="/ppt/notesMasters/notesMaster1.xml" Id="Rf4c1a72b9a8e428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12ddee196404c55" /><Relationship Type="http://schemas.openxmlformats.org/officeDocument/2006/relationships/notesMaster" Target="/ppt/notesMasters/notesMaster1.xml" Id="Rf94a6b41e59d44c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5831d015e0341a5" /><Relationship Type="http://schemas.openxmlformats.org/officeDocument/2006/relationships/notesMaster" Target="/ppt/notesMasters/notesMaster1.xml" Id="R46a800d97c154ce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7edce63186242f1" /><Relationship Type="http://schemas.openxmlformats.org/officeDocument/2006/relationships/notesMaster" Target="/ppt/notesMasters/notesMaster1.xml" Id="Rda771596d7a44bd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851451484954014" /><Relationship Type="http://schemas.openxmlformats.org/officeDocument/2006/relationships/notesMaster" Target="/ppt/notesMasters/notesMaster1.xml" Id="R1159366195934ac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3b696f5c7ca4e96" /><Relationship Type="http://schemas.openxmlformats.org/officeDocument/2006/relationships/notesMaster" Target="/ppt/notesMasters/notesMaster1.xml" Id="R9e1a1d332bdd485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3d2c4d710814e8d" /><Relationship Type="http://schemas.openxmlformats.org/officeDocument/2006/relationships/notesMaster" Target="/ppt/notesMasters/notesMaster1.xml" Id="R4aecb351fbf446f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9c2d0ba06414dd7" /><Relationship Type="http://schemas.openxmlformats.org/officeDocument/2006/relationships/notesMaster" Target="/ppt/notesMasters/notesMaster1.xml" Id="Rdc4ff7f5cd2e4c7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b833de0e3f6475f" /><Relationship Type="http://schemas.openxmlformats.org/officeDocument/2006/relationships/notesMaster" Target="/ppt/notesMasters/notesMaster1.xml" Id="R91cadb8e78894f5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3ae1e740548481f" /><Relationship Type="http://schemas.openxmlformats.org/officeDocument/2006/relationships/notesMaster" Target="/ppt/notesMasters/notesMaster1.xml" Id="R5dfae5caaa194f0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25454ba75e74e16" /><Relationship Type="http://schemas.openxmlformats.org/officeDocument/2006/relationships/notesMaster" Target="/ppt/notesMasters/notesMaster1.xml" Id="R11f5c0b7fdb94cd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fbef3ea49134c68" /><Relationship Type="http://schemas.openxmlformats.org/officeDocument/2006/relationships/notesMaster" Target="/ppt/notesMasters/notesMaster1.xml" Id="Rb24beff4e9ca431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c694d530ab04df6" /><Relationship Type="http://schemas.openxmlformats.org/officeDocument/2006/relationships/notesMaster" Target="/ppt/notesMasters/notesMaster1.xml" Id="R7dcfbd592788423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e486f2772b54aab" /><Relationship Type="http://schemas.openxmlformats.org/officeDocument/2006/relationships/notesMaster" Target="/ppt/notesMasters/notesMaster1.xml" Id="Reefbcc08c438482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14f88f7f0f6485b" /><Relationship Type="http://schemas.openxmlformats.org/officeDocument/2006/relationships/notesMaster" Target="/ppt/notesMasters/notesMaster1.xml" Id="R82916cad0a50469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511bba16b7643b9" /><Relationship Type="http://schemas.openxmlformats.org/officeDocument/2006/relationships/notesMaster" Target="/ppt/notesMasters/notesMaster1.xml" Id="R3932220024174f7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45ebe571f5a4385" /><Relationship Type="http://schemas.openxmlformats.org/officeDocument/2006/relationships/notesMaster" Target="/ppt/notesMasters/notesMaster1.xml" Id="Rd22368cf01a6420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05117422fc74d0b" /><Relationship Type="http://schemas.openxmlformats.org/officeDocument/2006/relationships/notesMaster" Target="/ppt/notesMasters/notesMaster1.xml" Id="R92db34869c234ef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e0cc5f06835498d" /><Relationship Type="http://schemas.openxmlformats.org/officeDocument/2006/relationships/notesMaster" Target="/ppt/notesMasters/notesMaster1.xml" Id="R12e67c5a1a40410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4bfc8f19416c4ab9" /><Relationship Type="http://schemas.openxmlformats.org/officeDocument/2006/relationships/notesMaster" Target="/ppt/notesMasters/notesMaster1.xml" Id="Rc44c0ccf42b74734"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0ed0e9a9ee34589" /><Relationship Type="http://schemas.openxmlformats.org/officeDocument/2006/relationships/notesMaster" Target="/ppt/notesMasters/notesMaster1.xml" Id="R8fb389cf8bdd4e2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7af1408d3b14ba1" /><Relationship Type="http://schemas.openxmlformats.org/officeDocument/2006/relationships/notesMaster" Target="/ppt/notesMasters/notesMaster1.xml" Id="Ra793263ad9eb4df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11cb08c662643b2" /><Relationship Type="http://schemas.openxmlformats.org/officeDocument/2006/relationships/notesMaster" Target="/ppt/notesMasters/notesMaster1.xml" Id="R9bcd91d2c3ad466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4a69468295a44fa" /><Relationship Type="http://schemas.openxmlformats.org/officeDocument/2006/relationships/notesMaster" Target="/ppt/notesMasters/notesMaster1.xml" Id="R96ef781b24e54a8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97344af1a01b4ed7" /><Relationship Type="http://schemas.openxmlformats.org/officeDocument/2006/relationships/notesMaster" Target="/ppt/notesMasters/notesMaster1.xml" Id="R4cd01cca8cab4f0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ad28d45abad4546" /><Relationship Type="http://schemas.openxmlformats.org/officeDocument/2006/relationships/notesMaster" Target="/ppt/notesMasters/notesMaster1.xml" Id="Rb6d4ccb1252c4f4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c5f04c5d7d954a6d" /><Relationship Type="http://schemas.openxmlformats.org/officeDocument/2006/relationships/notesMaster" Target="/ppt/notesMasters/notesMaster1.xml" Id="R6a599b223891456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acb79aa35bc34bc0" /><Relationship Type="http://schemas.openxmlformats.org/officeDocument/2006/relationships/notesMaster" Target="/ppt/notesMasters/notesMaster1.xml" Id="Rb044252629dd4187"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2fb0db8e63b149c6" /><Relationship Type="http://schemas.openxmlformats.org/officeDocument/2006/relationships/notesMaster" Target="/ppt/notesMasters/notesMaster1.xml" Id="R32fef117036d4254"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d779ee424548447b" /><Relationship Type="http://schemas.openxmlformats.org/officeDocument/2006/relationships/notesMaster" Target="/ppt/notesMasters/notesMaster1.xml" Id="Rf354450c45fa4a8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0c072ceee60d41cb" /><Relationship Type="http://schemas.openxmlformats.org/officeDocument/2006/relationships/notesMaster" Target="/ppt/notesMasters/notesMaster1.xml" Id="Rfbf81e52d6664e03"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b1a0621cd18547ab" /><Relationship Type="http://schemas.openxmlformats.org/officeDocument/2006/relationships/notesMaster" Target="/ppt/notesMasters/notesMaster1.xml" Id="R189e3d61285444c4"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99db1882e0e2428f" /><Relationship Type="http://schemas.openxmlformats.org/officeDocument/2006/relationships/notesMaster" Target="/ppt/notesMasters/notesMaster1.xml" Id="R826b9fcb86984110"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229772e35868469b" /><Relationship Type="http://schemas.openxmlformats.org/officeDocument/2006/relationships/notesMaster" Target="/ppt/notesMasters/notesMaster1.xml" Id="R75b7d294a4774edc"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3bc627ec65cf4ec5" /><Relationship Type="http://schemas.openxmlformats.org/officeDocument/2006/relationships/notesMaster" Target="/ppt/notesMasters/notesMaster1.xml" Id="R1f8abe4366a64a38"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e2e9dabb54e4519" /><Relationship Type="http://schemas.openxmlformats.org/officeDocument/2006/relationships/notesMaster" Target="/ppt/notesMasters/notesMaster1.xml" Id="R36ae9fc9a18a4206"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2d0ac0639e254d8a" /><Relationship Type="http://schemas.openxmlformats.org/officeDocument/2006/relationships/notesMaster" Target="/ppt/notesMasters/notesMaster1.xml" Id="R42f5c64e07cd4c43"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dc1af7f4e6c6453d" /><Relationship Type="http://schemas.openxmlformats.org/officeDocument/2006/relationships/notesMaster" Target="/ppt/notesMasters/notesMaster1.xml" Id="R44fa38549e934339"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380e3cd960d7451c" /><Relationship Type="http://schemas.openxmlformats.org/officeDocument/2006/relationships/notesMaster" Target="/ppt/notesMasters/notesMaster1.xml" Id="R32907e14e9a34734"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7b3a1077acea4db6" /><Relationship Type="http://schemas.openxmlformats.org/officeDocument/2006/relationships/notesMaster" Target="/ppt/notesMasters/notesMaster1.xml" Id="Ra68ef735f27e4786"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de8aa46690b44fbb" /><Relationship Type="http://schemas.openxmlformats.org/officeDocument/2006/relationships/notesMaster" Target="/ppt/notesMasters/notesMaster1.xml" Id="R7f99116e39b845bc"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7cd73c43db8c4101" /><Relationship Type="http://schemas.openxmlformats.org/officeDocument/2006/relationships/notesMaster" Target="/ppt/notesMasters/notesMaster1.xml" Id="R8fcfe60571c343e6"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0f955c82873046d1" /><Relationship Type="http://schemas.openxmlformats.org/officeDocument/2006/relationships/notesMaster" Target="/ppt/notesMasters/notesMaster1.xml" Id="R089b8479cfbb4b94"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45f991340baf4ab9" /><Relationship Type="http://schemas.openxmlformats.org/officeDocument/2006/relationships/notesMaster" Target="/ppt/notesMasters/notesMaster1.xml" Id="Rd0457b25f9e342aa"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36729f34e0d24991" /><Relationship Type="http://schemas.openxmlformats.org/officeDocument/2006/relationships/notesMaster" Target="/ppt/notesMasters/notesMaster1.xml" Id="R6577bf886914401a"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1c02dd3f5d854a7e" /><Relationship Type="http://schemas.openxmlformats.org/officeDocument/2006/relationships/notesMaster" Target="/ppt/notesMasters/notesMaster1.xml" Id="R9c96572d74ba4756"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8cf0a0441dc94fa5" /><Relationship Type="http://schemas.openxmlformats.org/officeDocument/2006/relationships/notesMaster" Target="/ppt/notesMasters/notesMaster1.xml" Id="R39b9577710ff4cbc"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d0beb316e2d48db" /><Relationship Type="http://schemas.openxmlformats.org/officeDocument/2006/relationships/notesMaster" Target="/ppt/notesMasters/notesMaster1.xml" Id="R32e1eb1e24454962"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9020287ad79843f8" /><Relationship Type="http://schemas.openxmlformats.org/officeDocument/2006/relationships/notesMaster" Target="/ppt/notesMasters/notesMaster1.xml" Id="Rb70eec13e6794ce8"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8fb9ce0752324164" /><Relationship Type="http://schemas.openxmlformats.org/officeDocument/2006/relationships/notesMaster" Target="/ppt/notesMasters/notesMaster1.xml" Id="Rdd60c21aa2684c57"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05830c71841d48a0" /><Relationship Type="http://schemas.openxmlformats.org/officeDocument/2006/relationships/notesMaster" Target="/ppt/notesMasters/notesMaster1.xml" Id="R7f5272c18f6043f0"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aa40df74bf724985" /><Relationship Type="http://schemas.openxmlformats.org/officeDocument/2006/relationships/notesMaster" Target="/ppt/notesMasters/notesMaster1.xml" Id="Rb4998603cd8f407d"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3cb11d7509914aa0" /><Relationship Type="http://schemas.openxmlformats.org/officeDocument/2006/relationships/notesMaster" Target="/ppt/notesMasters/notesMaster1.xml" Id="R8b1837d164a24a0a"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12d1e6e4f8704896" /><Relationship Type="http://schemas.openxmlformats.org/officeDocument/2006/relationships/notesMaster" Target="/ppt/notesMasters/notesMaster1.xml" Id="R1256d8eb66dd48eb"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c09689dbaa524916" /><Relationship Type="http://schemas.openxmlformats.org/officeDocument/2006/relationships/notesMaster" Target="/ppt/notesMasters/notesMaster1.xml" Id="R33d56f25ebf242ad"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c3b0b75799fc4942" /><Relationship Type="http://schemas.openxmlformats.org/officeDocument/2006/relationships/notesMaster" Target="/ppt/notesMasters/notesMaster1.xml" Id="R2bb4f7fc0d1a4b32"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de635cf1c4c3441b" /><Relationship Type="http://schemas.openxmlformats.org/officeDocument/2006/relationships/notesMaster" Target="/ppt/notesMasters/notesMaster1.xml" Id="R373589d053b34078"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e44057941ea940b8" /><Relationship Type="http://schemas.openxmlformats.org/officeDocument/2006/relationships/notesMaster" Target="/ppt/notesMasters/notesMaster1.xml" Id="R3d91fc5645634f8e"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76166a1f0793459a" /><Relationship Type="http://schemas.openxmlformats.org/officeDocument/2006/relationships/notesMaster" Target="/ppt/notesMasters/notesMaster1.xml" Id="Ra83410f5005b4a92"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c188f36c2e054d12" /><Relationship Type="http://schemas.openxmlformats.org/officeDocument/2006/relationships/notesMaster" Target="/ppt/notesMasters/notesMaster1.xml" Id="R1c210df4d72f4707"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69d78bb5b7cb44aa" /><Relationship Type="http://schemas.openxmlformats.org/officeDocument/2006/relationships/notesMaster" Target="/ppt/notesMasters/notesMaster1.xml" Id="R7067f03df3024085"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bb4063c18f5140be" /><Relationship Type="http://schemas.openxmlformats.org/officeDocument/2006/relationships/notesMaster" Target="/ppt/notesMasters/notesMaster1.xml" Id="Rdd18ac0307674875"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a556e1cc2c0d4447" /><Relationship Type="http://schemas.openxmlformats.org/officeDocument/2006/relationships/notesMaster" Target="/ppt/notesMasters/notesMaster1.xml" Id="Rf21f2b272349456c"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4320294e0f454b9c" /><Relationship Type="http://schemas.openxmlformats.org/officeDocument/2006/relationships/notesMaster" Target="/ppt/notesMasters/notesMaster1.xml" Id="R4897533172ce4164"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db5ed9a4969f4f5f" /><Relationship Type="http://schemas.openxmlformats.org/officeDocument/2006/relationships/notesMaster" Target="/ppt/notesMasters/notesMaster1.xml" Id="Rfa6dc665efdb4ce7"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6e1f31cd4c1d4989" /><Relationship Type="http://schemas.openxmlformats.org/officeDocument/2006/relationships/notesMaster" Target="/ppt/notesMasters/notesMaster1.xml" Id="R5476aafda59145d1"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3dd112092a024826" /><Relationship Type="http://schemas.openxmlformats.org/officeDocument/2006/relationships/notesMaster" Target="/ppt/notesMasters/notesMaster1.xml" Id="R4132feb8a32245dd"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3a8c5d0e6ba04e93" /><Relationship Type="http://schemas.openxmlformats.org/officeDocument/2006/relationships/notesMaster" Target="/ppt/notesMasters/notesMaster1.xml" Id="Rb9ec7affe1594b6a"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fa0ef328cab645bf" /><Relationship Type="http://schemas.openxmlformats.org/officeDocument/2006/relationships/notesMaster" Target="/ppt/notesMasters/notesMaster1.xml" Id="R22fede19c8b34a3e"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89504275bbc24a3d" /><Relationship Type="http://schemas.openxmlformats.org/officeDocument/2006/relationships/notesMaster" Target="/ppt/notesMasters/notesMaster1.xml" Id="R92e5dfcbdbea4be8"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16dd9f1fb0e84ada" /><Relationship Type="http://schemas.openxmlformats.org/officeDocument/2006/relationships/notesMaster" Target="/ppt/notesMasters/notesMaster1.xml" Id="R1a8b0d7781874b29"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97d87a26ac0e426d" /><Relationship Type="http://schemas.openxmlformats.org/officeDocument/2006/relationships/notesMaster" Target="/ppt/notesMasters/notesMaster1.xml" Id="R889f658b7ca14692"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63a116b0f0654dfd" /><Relationship Type="http://schemas.openxmlformats.org/officeDocument/2006/relationships/notesMaster" Target="/ppt/notesMasters/notesMaster1.xml" Id="R1ecb3dd87a314f06"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a4d40f1da5924ac1" /><Relationship Type="http://schemas.openxmlformats.org/officeDocument/2006/relationships/notesMaster" Target="/ppt/notesMasters/notesMaster1.xml" Id="Ra74c0a3fd87f4859"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ab2ad4205bb44abb" /><Relationship Type="http://schemas.openxmlformats.org/officeDocument/2006/relationships/notesMaster" Target="/ppt/notesMasters/notesMaster1.xml" Id="R6e43c74ae2524b6c"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a33f405f02d949fb" /><Relationship Type="http://schemas.openxmlformats.org/officeDocument/2006/relationships/notesMaster" Target="/ppt/notesMasters/notesMaster1.xml" Id="R894dbc66fa054418"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19cfb66021674445" /><Relationship Type="http://schemas.openxmlformats.org/officeDocument/2006/relationships/notesMaster" Target="/ppt/notesMasters/notesMaster1.xml" Id="R1bb21ed390c64d96"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0b0c5e5179ff4729" /><Relationship Type="http://schemas.openxmlformats.org/officeDocument/2006/relationships/notesMaster" Target="/ppt/notesMasters/notesMaster1.xml" Id="Rf20dfc0878124ee5"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bd2aa5e9ec3f43fc" /><Relationship Type="http://schemas.openxmlformats.org/officeDocument/2006/relationships/notesMaster" Target="/ppt/notesMasters/notesMaster1.xml" Id="R66124ae187804883"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1ce2f998645044a6" /><Relationship Type="http://schemas.openxmlformats.org/officeDocument/2006/relationships/notesMaster" Target="/ppt/notesMasters/notesMaster1.xml" Id="Reb740ebee0dc4b75"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b4586d2cdfa3473a" /><Relationship Type="http://schemas.openxmlformats.org/officeDocument/2006/relationships/notesMaster" Target="/ppt/notesMasters/notesMaster1.xml" Id="Rc805fa0640654072"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2740b0f6e45d420a" /><Relationship Type="http://schemas.openxmlformats.org/officeDocument/2006/relationships/notesMaster" Target="/ppt/notesMasters/notesMaster1.xml" Id="R0bf6a01078ab4f13"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1e1a6ec754b9490b" /><Relationship Type="http://schemas.openxmlformats.org/officeDocument/2006/relationships/notesMaster" Target="/ppt/notesMasters/notesMaster1.xml" Id="R96c4cd14c0194293"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770a18802b584931" /><Relationship Type="http://schemas.openxmlformats.org/officeDocument/2006/relationships/notesMaster" Target="/ppt/notesMasters/notesMaster1.xml" Id="R32afb5d4c49b4791"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49f24fb202bd40f5" /><Relationship Type="http://schemas.openxmlformats.org/officeDocument/2006/relationships/notesMaster" Target="/ppt/notesMasters/notesMaster1.xml" Id="Rc71c1d7c85b649f8"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ac73f15fc6174e19" /><Relationship Type="http://schemas.openxmlformats.org/officeDocument/2006/relationships/notesMaster" Target="/ppt/notesMasters/notesMaster1.xml" Id="Ra5946d3c5b13403a"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3c80a1a0c7c24cbb" /><Relationship Type="http://schemas.openxmlformats.org/officeDocument/2006/relationships/notesMaster" Target="/ppt/notesMasters/notesMaster1.xml" Id="R0d950bd76e524e57"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52b525b95a334842" /><Relationship Type="http://schemas.openxmlformats.org/officeDocument/2006/relationships/notesMaster" Target="/ppt/notesMasters/notesMaster1.xml" Id="R7a4f26982590498a"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f8a5f685365c47fd" /><Relationship Type="http://schemas.openxmlformats.org/officeDocument/2006/relationships/notesMaster" Target="/ppt/notesMasters/notesMaster1.xml" Id="R7f8d44a797e64e7a"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8dac0578c11b433a" /><Relationship Type="http://schemas.openxmlformats.org/officeDocument/2006/relationships/notesMaster" Target="/ppt/notesMasters/notesMaster1.xml" Id="Rdec9aecb2c464f98"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1df212bf084749be" /><Relationship Type="http://schemas.openxmlformats.org/officeDocument/2006/relationships/notesMaster" Target="/ppt/notesMasters/notesMaster1.xml" Id="R98af04d7558b4e4b"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a802d112a1854753" /><Relationship Type="http://schemas.openxmlformats.org/officeDocument/2006/relationships/notesMaster" Target="/ppt/notesMasters/notesMaster1.xml" Id="R506cd4f3dcf649e0"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b7883b6558a14fbe" /><Relationship Type="http://schemas.openxmlformats.org/officeDocument/2006/relationships/notesMaster" Target="/ppt/notesMasters/notesMaster1.xml" Id="R0027093aba724bad"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8622b63f62514723" /><Relationship Type="http://schemas.openxmlformats.org/officeDocument/2006/relationships/notesMaster" Target="/ppt/notesMasters/notesMaster1.xml" Id="R1a76ccf376fc4488"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962b28e7a40b4157" /><Relationship Type="http://schemas.openxmlformats.org/officeDocument/2006/relationships/notesMaster" Target="/ppt/notesMasters/notesMaster1.xml" Id="Rdcbc7b9fe95a459f"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30acf49365ed4574" /><Relationship Type="http://schemas.openxmlformats.org/officeDocument/2006/relationships/notesMaster" Target="/ppt/notesMasters/notesMaster1.xml" Id="Rfa7c586b33c24c90"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94508a0d146f4e91" /><Relationship Type="http://schemas.openxmlformats.org/officeDocument/2006/relationships/notesMaster" Target="/ppt/notesMasters/notesMaster1.xml" Id="R83b2a2bdb2cd4e8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HTML 문서를 열고 CSS와 데이터 값을 고칩니다. React는 제공 번들로 보고, MCP는 로컬 요청과 응답을 확인합니다.</a:t>
            </a:r>
          </a:p>
          <a:p xmlns:a="http://schemas.openxmlformats.org/drawingml/2006/main">
            <a:r>
              <a:t/>
            </a:r>
          </a:p>
          <a:p xmlns:a="http://schemas.openxmlformats.org/drawingml/2006/main">
            <a:r>
              <a:t>수업은 50분씩 6교시입니다. 추가 문제는 수업 활동 뒤에 풀거나 복습으로 안내합니다.</a:t>
            </a:r>
          </a:p>
          <a:p xmlns:a="http://schemas.openxmlformats.org/drawingml/2006/main">
            <a:r>
              <a:t>화면의 핵심: 2026-10-21 예제 파일을 고치고 결과를 확인합니다. 50분 수업 6교시로 진행합니다.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outputs/2026-10-21/beginner-start.md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https://zeusk302-png.github.io/kdigital-physical-ai/#/sessions/2026-10-21/activity-A01</a:t>
            </a:r>
          </a:p>
          <a:p xmlns:a="http://schemas.openxmlformats.org/drawingml/2006/main">
            <a:r>
              <a:t>공식 자료: https://modelcontextprotocol.io/specification/2025-11-25/basic/lifecycle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ZIP을 일반 폴더에 풉니다. course의 code·data·work를 찾습니다. work만 수정하고 원본을 보존합니다. 저장과 실행을 구별합니다.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outputs/2026-10-21/beginner-start.md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https://zeusk302-png.github.io/kdigital-physical-ai/#/sessions/2026-10-21/activity-A01</a:t>
            </a:r>
          </a:p>
          <a:p xmlns:a="http://schemas.openxmlformats.org/drawingml/2006/main">
            <a:r>
              <a:t>공식 자료: https://modelcontextprotocol.io/specification/2025-11-25/basic/lifecycle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직접 실행했는지, 시연을 봤는지 적습니다. 실행 전에 넣을 값과 나올 결과를 적습니다. 실제 결과를 적고, 예상과 다른 곳을 찾습니다.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직접 실행, 강사 시연 관찰, 코드를 읽으며 계산한 결과를 따로 표시하게 합니다.</a:t>
            </a:r>
          </a:p>
          <a:p xmlns:a="http://schemas.openxmlformats.org/drawingml/2006/main">
            <a:r>
              <a:t/>
            </a:r>
          </a:p>
          <a:p xmlns:a="http://schemas.openxmlformats.org/drawingml/2006/main">
            <a:r>
              <a:t>화면 예의 출처: 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https://zeusk302-png.github.io/kdigital-physical-ai/#/sessions/2026-10-21/activity-A01</a:t>
            </a:r>
          </a:p>
          <a:p xmlns:a="http://schemas.openxmlformats.org/drawingml/2006/main">
            <a:r>
              <a:t>공식 자료: https://modelcontextprotocol.io/specification/2025-11-25/basic/lifecycle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10:00~17:00에 수업과 휴식을 진행합니다. 중식은 11:50~13:00입니다. 수업 활동을 마치면 추가 문제를 풀어 봅니다. 추가 문제는 수업 뒤에도 이어서 풀 수 있습니다.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outputs/2026-10-21/beginner-start.md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https://zeusk302-png.github.io/kdigital-physical-ai/#/sessions/2026-10-21/activity-A01</a:t>
            </a:r>
          </a:p>
          <a:p xmlns:a="http://schemas.openxmlformats.org/drawingml/2006/main">
            <a:r>
              <a:t>공식 자료: https://modelcontextprotocol.io/specification/2025-11-25/basic/lifecycle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1교시 주제는 웹 문서의 내용입니다.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outputs/2026-10-21/beginner-start.md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https://zeusk302-png.github.io/kdigital-physical-ai/#/sessions/2026-10-21/activity-A01</a:t>
            </a:r>
          </a:p>
          <a:p xmlns:a="http://schemas.openxmlformats.org/drawingml/2006/main">
            <a:r>
              <a:t>공식 자료: https://developer.mozilla.org/en-US/docs/Learn_web_development/Core/Structuring_content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파일 이름, 탭 이름, 본문 제목은 다릅니다. 버튼 글자와 클릭 동작도 따로 확인합니다.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outputs/2026-10-21/lesson.md#A01</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https://zeusk302-png.github.io/kdigital-physical-ai/#/sessions/2026-10-21/activity-A01</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파일 이름, 탭 이름, 본문 제목은 다릅니다.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A01의 개념과 원문 해설입니다.</a:t>
            </a:r>
          </a:p>
          <a:p xmlns:a="http://schemas.openxmlformats.org/drawingml/2006/main">
            <a:r>
              <a:t>### A01 · 파일과 브라우저의 관계</a:t>
            </a:r>
          </a:p>
          <a:p xmlns:a="http://schemas.openxmlformats.org/drawingml/2006/main">
            <a:r>
              <a:t/>
            </a:r>
          </a:p>
          <a:p xmlns:a="http://schemas.openxmlformats.org/drawingml/2006/main">
            <a:r>
              <a:t>#### 사례로 이해하기 · 문서의 의미와 화면 표시를 분리하기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작업장 안내판의 제목을 바꿨는데 브라우저 탭 이름은 예전대로입니다. 파일 이름도 달라지지 않았습니다. 제목이라는 말이 세 곳에 쓰이지만 파일 이름, 탭 이름, 본문 제목은 각각 다른 정보입니다. 어디를 바꿨고 어떤 결과를 기대했는지 먼저 정해야 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HTML은 문서 내용과 의미를 표시하는 글입니다. 태그는 내용을 감싸며 역할을 붙이는 표시입니다. h1은 본문의 큰 제목 역할이고 title은 브라우저 탭의 이름입니다. 속성은 태그에 붙이는 추가 정보이며 id는 프로그램이 특정 요소를 찾는 이름입니다. 편집기는 글을 고치는 곳, 브라우저는 문서를 읽어 화면으로 보여 주는 곳입니다. 확장자 .html은 파일 종류를 나타내며 .html.txt와 구별합니다.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아래 문서를 안내.html로 저장합니다. 꺾쇠와 닫는 태그를 유지하고 한글 내용만 읽습니다.</a:t>
            </a:r>
          </a:p>
          <a:p xmlns:a="http://schemas.openxmlformats.org/drawingml/2006/main">
            <a:r>
              <a:t/>
            </a:r>
          </a:p>
          <a:p xmlns:a="http://schemas.openxmlformats.org/drawingml/2006/main">
            <a:r>
              <a:t>```html</a:t>
            </a:r>
          </a:p>
          <a:p xmlns:a="http://schemas.openxmlformats.org/drawingml/2006/main">
            <a:r>
              <a:t>&lt;!doctype html&gt;</a:t>
            </a:r>
          </a:p>
          <a:p xmlns:a="http://schemas.openxmlformats.org/drawingml/2006/main">
            <a:r>
              <a:t>&lt;html lang="ko"&gt;&lt;head&gt;&lt;meta charset="utf-8"&gt;&lt;title&gt;작업장&lt;/title&gt;&lt;/head&gt;</a:t>
            </a:r>
          </a:p>
          <a:p xmlns:a="http://schemas.openxmlformats.org/drawingml/2006/main">
            <a:r>
              <a:t>&lt;body&gt;&lt;h1&gt;센서 안내&lt;/h1&gt;&lt;button id="check"&gt;값 확인&lt;/button&gt;&lt;/body&gt;&lt;/html&gt;</a:t>
            </a:r>
          </a:p>
          <a:p xmlns:a="http://schemas.openxmlformats.org/drawingml/2006/main">
            <a:r>
              <a:t>```</a:t>
            </a:r>
          </a:p>
          <a:p xmlns:a="http://schemas.openxmlformats.org/drawingml/2006/main">
            <a:r>
              <a:t/>
            </a:r>
          </a:p>
          <a:p xmlns:a="http://schemas.openxmlformats.org/drawingml/2006/main">
            <a:r>
              <a:t>첫 줄은 HTML 문서 형식, lang은 한국어 정보, charset은 한글을 읽는 문자 규칙입니다. head는 문서 정보, body는 보이는 내용입니다. 브라우저에서 탭은 작업장, 본문은 센서 안내, 버튼은 값 확인으로 보입니다. 버튼은 아직 동작 코드가 없으므로 누른다고 센서 값을 읽지 않습니다. 저장한 같은 파일을 열고 수정 뒤 새로고침합니다.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탭은 “공장 A”, 본문 제목은 “온도 확인”, 버튼은 “기록 조회”로 작성하되 버튼 id는 check를 유지하세요. 이어서 id까지 바꾸면 뒤의 JavaScript 연결에 어떤 확인이 필요한지 설명하세요.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title과 h1과 버튼 사이 글자를 각각 바꾸며 id는 유지합니다. “글자 크기가 같으면 제목 역할도 같다”는 답은 의미와 모양을 혼동합니다. “버튼이 보이면 데이터 연결도 됐다”는 답에는 동작 확인이 빠졌습니다.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저장만 하면 화면이 자동 갱신되나요? 제공 정적 파일은 새로고침이 필요합니다. ② id는 사용자 문구인가요? 내부에서 찾는 이름입니다. ③ 한글이 깨지면 무엇을 확인하나요? 파일 저장 인코딩과 charset, 실제 열린 경로를 확인합니다.</a:t>
            </a:r>
          </a:p>
          <a:p xmlns:a="http://schemas.openxmlformats.org/drawingml/2006/main">
            <a:r>
              <a:t/>
            </a:r>
          </a:p>
          <a:p xmlns:a="http://schemas.openxmlformats.org/drawingml/2006/main">
            <a:r>
              <a:t>**뜻과 비유.** 브라우저는 HTML 문서를 읽어 화면으로 보여 주는 프로그램입니다. 파일을 편집하는 창과 결과를 보는 창은 역할이 다릅니다.</a:t>
            </a:r>
          </a:p>
          <a:p xmlns:a="http://schemas.openxmlformats.org/drawingml/2006/main">
            <a:r>
              <a:t/>
            </a:r>
          </a:p>
          <a:p xmlns:a="http://schemas.openxmlformats.org/drawingml/2006/main">
            <a:r>
              <a:t>**왜 필요한가.** 어디에 썼는지와 무엇을 열었는지를 구분해야 저장한 변경을 다시 확인할 수 있습니다.</a:t>
            </a:r>
          </a:p>
          <a:p xmlns:a="http://schemas.openxmlformats.org/drawingml/2006/main">
            <a:r>
              <a:t/>
            </a:r>
          </a:p>
          <a:p xmlns:a="http://schemas.openxmlformats.org/drawingml/2006/main">
            <a:r>
              <a:t>**예를 따라 읽기.** work/static/index.html을 편집하고 같은 파일을 브라우저로 열면 제공 안내판을 볼 수 있습니다.</a:t>
            </a:r>
          </a:p>
          <a:p xmlns:a="http://schemas.openxmlformats.org/drawingml/2006/main">
            <a:r>
              <a:t/>
            </a:r>
          </a:p>
          <a:p xmlns:a="http://schemas.openxmlformats.org/drawingml/2006/main">
            <a:r>
              <a:t>**헷갈리는 반례.** 코드 편집기에 글자를 바꾼 것만으로 이미 열린 화면이 자동 갱신되는 것은 아닙니다.</a:t>
            </a:r>
          </a:p>
          <a:p xmlns:a="http://schemas.openxmlformats.org/drawingml/2006/main">
            <a:r>
              <a:t/>
            </a:r>
          </a:p>
          <a:p xmlns:a="http://schemas.openxmlformats.org/drawingml/2006/main">
            <a:r>
              <a:t>**직접 적용.** course 폴더를 압축 풀기 → work/static/index.html 경로 적기 → 브라우저에서 안내판 열기 → 편집·저장·새로고침 순서를 말하기</a:t>
            </a:r>
          </a:p>
          <a:p xmlns:a="http://schemas.openxmlformats.org/drawingml/2006/main">
            <a:r>
              <a:t/>
            </a:r>
          </a:p>
          <a:p xmlns:a="http://schemas.openxmlformats.org/drawingml/2006/main">
            <a:r>
              <a:t>**설명할 질문.** 편집 창과 브라우저 화면은 어떻게 다른가요?</a:t>
            </a:r>
          </a:p>
          <a:p xmlns:a="http://schemas.openxmlformats.org/drawingml/2006/main">
            <a:r>
              <a:t/>
            </a:r>
          </a:p>
          <a:p xmlns:a="http://schemas.openxmlformats.org/drawingml/2006/main">
            <a:r>
              <a:t>**막혔을 때.** 확장자가.txt로 붙었으면 파일 이름과 종류를 확인합니다. ZIP 안의 미리 보기에서 편집하지 않습니다.</a:t>
            </a:r>
          </a:p>
          <a:p xmlns:a="http://schemas.openxmlformats.org/drawingml/2006/main">
            <a:r>
              <a:t/>
            </a:r>
          </a:p>
          <a:p xmlns:a="http://schemas.openxmlformats.org/drawingml/2006/main">
            <a:r>
              <a:t>입력·답칸·확인 순서는 [실습지의 A01](practice-guide.md#a01)와 [활동 원문](examples/course/data/A01_input.md)에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outputs/2026-10-21/lesson.md#A01</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https://zeusk302-png.github.io/kdigital-physical-ai/#/sessions/2026-10-21/activity-A01</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편집기는 파일 내용을 고칩니다.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work/static/index.html을 엽니다. 저장 후 같은 화면을 새로고침합니다.</a:t>
            </a:r>
          </a:p>
          <a:p xmlns:a="http://schemas.openxmlformats.org/drawingml/2006/main">
            <a:r>
              <a:t/>
            </a:r>
          </a:p>
          <a:p xmlns:a="http://schemas.openxmlformats.org/drawingml/2006/main">
            <a:r>
              <a:t>이 표에서 볼 것: 편집기는 파일 내용을 고칩니다. 브라우저는 HTML을 읽어 화면으로 보여 줍니다.</a:t>
            </a:r>
          </a:p>
          <a:p xmlns:a="http://schemas.openxmlformats.org/drawingml/2006/main">
            <a:r>
              <a:t>예상 결과: .html.txt와 .html을 구별합니다. ZIP 안의 미리 보기에서 편집하지 않습니다.</a:t>
            </a:r>
          </a:p>
          <a:p xmlns:a="http://schemas.openxmlformats.org/drawingml/2006/main">
            <a:r>
              <a:t/>
            </a:r>
          </a:p>
          <a:p xmlns:a="http://schemas.openxmlformats.org/drawingml/2006/main">
            <a:r>
              <a:t>풀이: 저장 여부·실제 파일 경로·브라우저에서 연 파일·새로고침을 확인합니다. 실행 환경이 없으면 강사 화면과 원문을 대조하고 개인 실행 미수행을 기록합니다.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outputs/2026-10-21/lesson.md#A01</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https://zeusk302-png.github.io/kdigital-physical-ai/#/sessions/2026-10-21/activity-A01</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work/static/index.html을 엽니다.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.html.txt와 .html을 구별합니다. ZIP 안의 미리 보기에서 편집하지 않습니다.</a:t>
            </a:r>
          </a:p>
          <a:p xmlns:a="http://schemas.openxmlformats.org/drawingml/2006/main">
            <a:r>
              <a:t/>
            </a:r>
          </a:p>
          <a:p xmlns:a="http://schemas.openxmlformats.org/drawingml/2006/main">
            <a:r>
              <a:t>앞에서 배운 내용: 편집기는 파일 내용을 고칩니다. 브라우저는 HTML을 읽어 화면으로 보여 줍니다.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저장 여부·실제 파일 경로·브라우저에서 연 파일·새로고침을 확인합니다. 실행 환경이 없으면 강사 화면과 원문을 대조하고 개인 실행 미수행을 기록합니다.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outputs/2026-10-21/lesson.md#A01</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https://zeusk302-png.github.io/kdigital-physical-ai/#/sessions/2026-10-21/activity-A01</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.html.txt와 .html을 구별합니다.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문장을 고쳤는데 화면은 그대로입니다. 어떤 순서로 확인하나요?</a:t>
            </a:r>
          </a:p>
          <a:p xmlns:a="http://schemas.openxmlformats.org/drawingml/2006/main">
            <a:r>
              <a:t/>
            </a:r>
          </a:p>
          <a:p xmlns:a="http://schemas.openxmlformats.org/drawingml/2006/main">
            <a:r>
              <a:t>정답과 풀이: 저장 여부·실제 파일 경로·브라우저에서 연 파일·새로고침을 확인합니다. 실행 환경이 없으면 강사 화면과 원문을 대조하고 개인 실행 미수행을 기록합니다.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https://zeusk302-png.github.io/kdigital-physical-ai/#/sessions/2026-10-21/activity-A01</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A02의 개념과 원문 해설입니다.</a:t>
            </a:r>
          </a:p>
          <a:p xmlns:a="http://schemas.openxmlformats.org/drawingml/2006/main">
            <a:r>
              <a:t>### A02 · HTML 태그와 문서 의미</a:t>
            </a:r>
          </a:p>
          <a:p xmlns:a="http://schemas.openxmlformats.org/drawingml/2006/main">
            <a:r>
              <a:t/>
            </a:r>
          </a:p>
          <a:p xmlns:a="http://schemas.openxmlformats.org/drawingml/2006/main">
            <a:r>
              <a:t>**뜻과 비유.** HTML은 제목·문단·버튼 같은 내용의 의미를 표시하는 문서 형식입니다. 여는 태그와 닫는 태그 사이의 내용이 하나의 요소가 됩니다.</a:t>
            </a:r>
          </a:p>
          <a:p xmlns:a="http://schemas.openxmlformats.org/drawingml/2006/main">
            <a:r>
              <a:t/>
            </a:r>
          </a:p>
          <a:p xmlns:a="http://schemas.openxmlformats.org/drawingml/2006/main">
            <a:r>
              <a:t>**왜 필요한가.** 보기에 큰 글자를 만드는 것과 문서의 제목이라는 의미를 주는 것을 구별해야 내용 구조를 읽을 수 있습니다.</a:t>
            </a:r>
          </a:p>
          <a:p xmlns:a="http://schemas.openxmlformats.org/drawingml/2006/main">
            <a:r>
              <a:t/>
            </a:r>
          </a:p>
          <a:p xmlns:a="http://schemas.openxmlformats.org/drawingml/2006/main">
            <a:r>
              <a:t>**예를 따라 읽기.** `&lt;h1&gt;입구 센서 안내판&lt;/h1&gt;`에서 h1은 주요 제목, 안의 글자는 화면 내용입니다.</a:t>
            </a:r>
          </a:p>
          <a:p xmlns:a="http://schemas.openxmlformats.org/drawingml/2006/main">
            <a:r>
              <a:t/>
            </a:r>
          </a:p>
          <a:p xmlns:a="http://schemas.openxmlformats.org/drawingml/2006/main">
            <a:r>
              <a:t>**헷갈리는 반례.** 모든 글자를 h1으로 만들면 크기가 같아질 수 있어도 제목과 설명의 관계가 흐려집니다.</a:t>
            </a:r>
          </a:p>
          <a:p xmlns:a="http://schemas.openxmlformats.org/drawingml/2006/main">
            <a:r>
              <a:t/>
            </a:r>
          </a:p>
          <a:p xmlns:a="http://schemas.openxmlformats.org/drawingml/2006/main">
            <a:r>
              <a:t>**직접 적용.** 전체 HTML에서 h1·p·button 찾기 → 여는 태그와 닫는 태그 짝 표시하기 → 제목 글자만 창고 센서 안내판으로 바꾸기 → 저장 후 어떤 내용이 바뀌었는지 확인하기</a:t>
            </a:r>
          </a:p>
          <a:p xmlns:a="http://schemas.openxmlformats.org/drawingml/2006/main">
            <a:r>
              <a:t/>
            </a:r>
          </a:p>
          <a:p xmlns:a="http://schemas.openxmlformats.org/drawingml/2006/main">
            <a:r>
              <a:t>**설명할 질문.** h1과 CSS 글자 크기는 왜 같은 역할이 아닌가요?</a:t>
            </a:r>
          </a:p>
          <a:p xmlns:a="http://schemas.openxmlformats.org/drawingml/2006/main">
            <a:r>
              <a:t/>
            </a:r>
          </a:p>
          <a:p xmlns:a="http://schemas.openxmlformats.org/drawingml/2006/main">
            <a:r>
              <a:t>**막혔을 때.** 태그 꺾쇠를 지웠다면 원본의 해당 줄과 비교합니다. 제목 문구와 title 탭 이름은 다른 위치입니다.</a:t>
            </a:r>
          </a:p>
          <a:p xmlns:a="http://schemas.openxmlformats.org/drawingml/2006/main">
            <a:r>
              <a:t/>
            </a:r>
          </a:p>
          <a:p xmlns:a="http://schemas.openxmlformats.org/drawingml/2006/main">
            <a:r>
              <a:t>입력·답칸·확인 순서는 [실습지의 A02](practice-guide.md#a02)와 [활동 원문](examples/course/data/A02_input.md)에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outputs/2026-10-21/lesson.md#A02</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https://zeusk302-png.github.io/kdigital-physical-ai/#/sessions/2026-10-21/activity-A02</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태그는 문서 내용의 역할을 표시합니다.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HTML의 의미의 예</a:t>
            </a:r>
          </a:p>
          <a:p xmlns:a="http://schemas.openxmlformats.org/drawingml/2006/main">
            <a:r>
              <a:t>짧은 완성 HTML. 안내.html로 저장합니다.</a:t>
            </a:r>
          </a:p>
          <a:p xmlns:a="http://schemas.openxmlformats.org/drawingml/2006/main">
            <a:r>
              <a:t/>
            </a:r>
          </a:p>
          <a:p xmlns:a="http://schemas.openxmlformats.org/drawingml/2006/main">
            <a:r>
              <a:t>&lt;!doctype html&gt;</a:t>
            </a:r>
          </a:p>
          <a:p xmlns:a="http://schemas.openxmlformats.org/drawingml/2006/main">
            <a:r>
              <a:t>뜻: 브라우저에 HTML 문서라고 알려 줍니다.</a:t>
            </a:r>
          </a:p>
          <a:p xmlns:a="http://schemas.openxmlformats.org/drawingml/2006/main">
            <a:r>
              <a:t/>
            </a:r>
          </a:p>
          <a:p xmlns:a="http://schemas.openxmlformats.org/drawingml/2006/main">
            <a:r>
              <a:t>&lt;html lang="ko"&gt;&lt;head&gt;</a:t>
            </a:r>
          </a:p>
          <a:p xmlns:a="http://schemas.openxmlformats.org/drawingml/2006/main">
            <a:r>
              <a:t>뜻: 문서를 열고 언어를 한국어로 정합니다. head에는 문서 설정을 넣습니다.</a:t>
            </a:r>
          </a:p>
          <a:p xmlns:a="http://schemas.openxmlformats.org/drawingml/2006/main">
            <a:r>
              <a:t/>
            </a:r>
          </a:p>
          <a:p xmlns:a="http://schemas.openxmlformats.org/drawingml/2006/main">
            <a:r>
              <a:t>&lt;meta charset="utf-8"&gt;&lt;title&gt;작업장&lt;/title&gt;</a:t>
            </a:r>
          </a:p>
          <a:p xmlns:a="http://schemas.openxmlformats.org/drawingml/2006/main">
            <a:r>
              <a:t>뜻: 문자를 UTF-8로 읽고, 브라우저 탭 이름을 작업장으로 정합니다.</a:t>
            </a:r>
          </a:p>
          <a:p xmlns:a="http://schemas.openxmlformats.org/drawingml/2006/main">
            <a:r>
              <a:t/>
            </a:r>
          </a:p>
          <a:p xmlns:a="http://schemas.openxmlformats.org/drawingml/2006/main">
            <a:r>
              <a:t>&lt;/head&gt;&lt;body&gt;</a:t>
            </a:r>
          </a:p>
          <a:p xmlns:a="http://schemas.openxmlformats.org/drawingml/2006/main">
            <a:r>
              <a:t>뜻: 설정 부분을 닫고, 화면에 표시할 본문을 시작합니다.</a:t>
            </a:r>
          </a:p>
          <a:p xmlns:a="http://schemas.openxmlformats.org/drawingml/2006/main">
            <a:r>
              <a:t/>
            </a:r>
          </a:p>
          <a:p xmlns:a="http://schemas.openxmlformats.org/drawingml/2006/main">
            <a:r>
              <a:t>&lt;h1&gt;센서 안내&lt;/h1&gt;</a:t>
            </a:r>
          </a:p>
          <a:p xmlns:a="http://schemas.openxmlformats.org/drawingml/2006/main">
            <a:r>
              <a:t>뜻: 본문의 큰 제목으로 센서 안내를 표시합니다. 탭 이름과는 다른 위치입니다.</a:t>
            </a:r>
          </a:p>
          <a:p xmlns:a="http://schemas.openxmlformats.org/drawingml/2006/main">
            <a:r>
              <a:t/>
            </a:r>
          </a:p>
          <a:p xmlns:a="http://schemas.openxmlformats.org/drawingml/2006/main">
            <a:r>
              <a:t>&lt;button id="check"&gt;값 확인&lt;/button&gt;</a:t>
            </a:r>
          </a:p>
          <a:p xmlns:a="http://schemas.openxmlformats.org/drawingml/2006/main">
            <a:r>
              <a:t>뜻: 버튼에 값 확인을 표시합니다. check는 코드가 찾을 내부 이름이며, 이 줄만으로 클릭 동작은 생기지 않습니다.</a:t>
            </a:r>
          </a:p>
          <a:p xmlns:a="http://schemas.openxmlformats.org/drawingml/2006/main">
            <a:r>
              <a:t/>
            </a:r>
          </a:p>
          <a:p xmlns:a="http://schemas.openxmlformats.org/drawingml/2006/main">
            <a:r>
              <a:t>&lt;/body&gt;&lt;/html&gt;</a:t>
            </a:r>
          </a:p>
          <a:p xmlns:a="http://schemas.openxmlformats.org/drawingml/2006/main">
            <a:r>
              <a:t>뜻: 본문과 HTML 문서를 닫습니다.</a:t>
            </a:r>
          </a:p>
          <a:p xmlns:a="http://schemas.openxmlformats.org/drawingml/2006/main">
            <a:r>
              <a:t/>
            </a:r>
          </a:p>
          <a:p xmlns:a="http://schemas.openxmlformats.org/drawingml/2006/main">
            <a:r>
              <a:t>확인할 결과: 탭은 작업장, 본문 제목은 센서 안내입니다. 버튼에는 아직 동작 코드가 없습니다.</a:t>
            </a:r>
          </a:p>
          <a:p xmlns:a="http://schemas.openxmlformats.org/drawingml/2006/main">
            <a:r>
              <a:t>풀이: title과 h1 사이 문구를 각각 바꿉니다. button의 글자와 내부 id는 구별합니다. 처음 문서는 내용 표시만 하므로 센서 호출이 생기지 않습니다.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 / 원고 12장</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https://zeusk302-png.github.io/kdigital-physical-ai/#/sessions/2026-10-21/activity-A02</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title은 탭 이름, h1은 본문 제목이므로 두 문구를 따로 봅니다.</a:t>
            </a:r>
          </a:p>
          <a:p xmlns:a="http://schemas.openxmlformats.org/drawingml/2006/main">
            <a:r>
              <a:t>button id="check"만으로 클릭 동작은 생기지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&lt;!doctype html&gt;</a:t>
            </a:r>
          </a:p>
          <a:p xmlns:a="http://schemas.openxmlformats.org/drawingml/2006/main">
            <a:r>
              <a:t>뜻: 브라우저에 HTML 문서라고 알려 줍니다.</a:t>
            </a:r>
          </a:p>
          <a:p xmlns:a="http://schemas.openxmlformats.org/drawingml/2006/main">
            <a:r>
              <a:t/>
            </a:r>
          </a:p>
          <a:p xmlns:a="http://schemas.openxmlformats.org/drawingml/2006/main">
            <a:r>
              <a:t>&lt;html lang="ko"&gt;&lt;head&gt;</a:t>
            </a:r>
          </a:p>
          <a:p xmlns:a="http://schemas.openxmlformats.org/drawingml/2006/main">
            <a:r>
              <a:t>뜻: 문서를 열고 언어를 한국어로 정합니다. head에는 문서 설정을 넣습니다.</a:t>
            </a:r>
          </a:p>
          <a:p xmlns:a="http://schemas.openxmlformats.org/drawingml/2006/main">
            <a:r>
              <a:t/>
            </a:r>
          </a:p>
          <a:p xmlns:a="http://schemas.openxmlformats.org/drawingml/2006/main">
            <a:r>
              <a:t>&lt;meta charset="utf-8"&gt;&lt;title&gt;작업장&lt;/title&gt;</a:t>
            </a:r>
          </a:p>
          <a:p xmlns:a="http://schemas.openxmlformats.org/drawingml/2006/main">
            <a:r>
              <a:t>뜻: 문자를 UTF-8로 읽고, 브라우저 탭 이름을 작업장으로 정합니다.</a:t>
            </a:r>
          </a:p>
          <a:p xmlns:a="http://schemas.openxmlformats.org/drawingml/2006/main">
            <a:r>
              <a:t/>
            </a:r>
          </a:p>
          <a:p xmlns:a="http://schemas.openxmlformats.org/drawingml/2006/main">
            <a:r>
              <a:t>&lt;/head&gt;&lt;body&gt;</a:t>
            </a:r>
          </a:p>
          <a:p xmlns:a="http://schemas.openxmlformats.org/drawingml/2006/main">
            <a:r>
              <a:t>뜻: 설정 부분을 닫고, 화면에 표시할 본문을 시작합니다.</a:t>
            </a:r>
          </a:p>
          <a:p xmlns:a="http://schemas.openxmlformats.org/drawingml/2006/main">
            <a:r>
              <a:t/>
            </a:r>
          </a:p>
          <a:p xmlns:a="http://schemas.openxmlformats.org/drawingml/2006/main">
            <a:r>
              <a:t>&lt;h1&gt;센서 안내&lt;/h1&gt;</a:t>
            </a:r>
          </a:p>
          <a:p xmlns:a="http://schemas.openxmlformats.org/drawingml/2006/main">
            <a:r>
              <a:t>뜻: 본문의 큰 제목으로 센서 안내를 표시합니다. 탭 이름과는 다른 위치입니다.</a:t>
            </a:r>
          </a:p>
          <a:p xmlns:a="http://schemas.openxmlformats.org/drawingml/2006/main">
            <a:r>
              <a:t/>
            </a:r>
          </a:p>
          <a:p xmlns:a="http://schemas.openxmlformats.org/drawingml/2006/main">
            <a:r>
              <a:t>&lt;button id="check"&gt;값 확인&lt;/button&gt;</a:t>
            </a:r>
          </a:p>
          <a:p xmlns:a="http://schemas.openxmlformats.org/drawingml/2006/main">
            <a:r>
              <a:t>뜻: 버튼에 값 확인을 표시합니다. check는 코드가 찾을 내부 이름이며, 이 줄만으로 클릭 동작은 생기지 않습니다.</a:t>
            </a:r>
          </a:p>
          <a:p xmlns:a="http://schemas.openxmlformats.org/drawingml/2006/main">
            <a:r>
              <a:t/>
            </a:r>
          </a:p>
          <a:p xmlns:a="http://schemas.openxmlformats.org/drawingml/2006/main">
            <a:r>
              <a:t>&lt;/body&gt;&lt;/html&gt;</a:t>
            </a:r>
          </a:p>
          <a:p xmlns:a="http://schemas.openxmlformats.org/drawingml/2006/main">
            <a:r>
              <a:t>뜻: 본문과 HTML 문서를 닫습니다.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D:\KDigital_PhysicalAI\.build\copyedited-ppt\spec-2026-10-21.json#slide-12</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https://zeusk302-png.github.io/kdigital-physical-ai/#/sessions/2026-10-21/activity-A02</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title은 탭 이름, h1은 본문 제목입니다.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탭은 작업장, 본문 제목은 센서 안내입니다. 버튼에는 아직 동작 코드가 없습니다.</a:t>
            </a:r>
          </a:p>
          <a:p xmlns:a="http://schemas.openxmlformats.org/drawingml/2006/main">
            <a:r>
              <a:t/>
            </a:r>
          </a:p>
          <a:p xmlns:a="http://schemas.openxmlformats.org/drawingml/2006/main">
            <a:r>
              <a:t>앞에서 배운 내용: 태그는 문서 내용의 역할을 표시합니다. 탭 이름과 본문 제목은 다른 위치입니다.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title과 h1 사이 문구를 각각 바꿉니다. button의 글자와 내부 id는 구별합니다. 처음 문서는 내용 표시만 하므로 센서 호출이 생기지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D:\KDigital_PhysicalAI\.build\copyedited-ppt\spec-2026-10-21.json#slide-12</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https://zeusk302-png.github.io/kdigital-physical-ai/#/sessions/2026-10-21/activity-A02</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탭은 작업장, 본문 제목은 센서 안내입니다.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탭은 공장 A, 본문은 온도 확인으로 쓰세요. 버튼 id는 check를 유지하세요.</a:t>
            </a:r>
          </a:p>
          <a:p xmlns:a="http://schemas.openxmlformats.org/drawingml/2006/main">
            <a:r>
              <a:t/>
            </a:r>
          </a:p>
          <a:p xmlns:a="http://schemas.openxmlformats.org/drawingml/2006/main">
            <a:r>
              <a:t>정답과 풀이: title과 h1 사이 문구를 각각 바꿉니다. button의 글자와 내부 id는 구별합니다. 처음 문서는 내용 표시만 하므로 센서 호출이 생기지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https://zeusk302-png.github.io/kdigital-physical-ai/#/sessions/2026-10-21/activity-A02</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A03의 개념과 원문 해설입니다.</a:t>
            </a:r>
          </a:p>
          <a:p xmlns:a="http://schemas.openxmlformats.org/drawingml/2006/main">
            <a:r>
              <a:t>### A03 · 속성·연결·접근성</a:t>
            </a:r>
          </a:p>
          <a:p xmlns:a="http://schemas.openxmlformats.org/drawingml/2006/main">
            <a:r>
              <a:t/>
            </a:r>
          </a:p>
          <a:p xmlns:a="http://schemas.openxmlformats.org/drawingml/2006/main">
            <a:r>
              <a:t>**뜻과 비유.** 속성은 요소에 추가 정보를 붙이는 이름과 값입니다. lang은 문서 언어, id 는 특정 요소를 찾는 이름, type은 버튼 동작 종류를 설명합니다.</a:t>
            </a:r>
          </a:p>
          <a:p xmlns:a="http://schemas.openxmlformats.org/drawingml/2006/main">
            <a:r>
              <a:t/>
            </a:r>
          </a:p>
          <a:p xmlns:a="http://schemas.openxmlformats.org/drawingml/2006/main">
            <a:r>
              <a:t>**왜 필요한가.** 사람이 보는 문구와 프로그램이 찾는 이름을 구분해야 버튼 연결을 끊지 않고 내용을 수정할 수 있습니다.</a:t>
            </a:r>
          </a:p>
          <a:p xmlns:a="http://schemas.openxmlformats.org/drawingml/2006/main">
            <a:r>
              <a:t/>
            </a:r>
          </a:p>
          <a:p xmlns:a="http://schemas.openxmlformats.org/drawingml/2006/main">
            <a:r>
              <a:t>**예를 따라 읽기.** id ="check"는 JavaScript가 버튼을 찾는 기준이고 버튼 안 글자는 사용자에게 보이는 안내입니다.</a:t>
            </a:r>
          </a:p>
          <a:p xmlns:a="http://schemas.openxmlformats.org/drawingml/2006/main">
            <a:r>
              <a:t/>
            </a:r>
          </a:p>
          <a:p xmlns:a="http://schemas.openxmlformats.org/drawingml/2006/main">
            <a:r>
              <a:t>**헷갈리는 반례.** id를 임의로 바꾸고 연결 코드를 그대로 두면 화면은 보여도 버튼 반응이 사라질 수 있습니다.</a:t>
            </a:r>
          </a:p>
          <a:p xmlns:a="http://schemas.openxmlformats.org/drawingml/2006/main">
            <a:r>
              <a:t/>
            </a:r>
          </a:p>
          <a:p xmlns:a="http://schemas.openxmlformats.org/drawingml/2006/main">
            <a:r>
              <a:t>**직접 적용.** lang·id·type 속성 찾기 → 보이는 글자와 내부 이름 나누기 → 버튼 문구만 값 다시 확인으로 바꾸기 → Tab 키로 버튼에 이동해 테두리 보기</a:t>
            </a:r>
          </a:p>
          <a:p xmlns:a="http://schemas.openxmlformats.org/drawingml/2006/main">
            <a:r>
              <a:t/>
            </a:r>
          </a:p>
          <a:p xmlns:a="http://schemas.openxmlformats.org/drawingml/2006/main">
            <a:r>
              <a:t>**설명할 질문.** 사용자에게 보이는 이름과 코드가 찾는 이름은 왜 구분하나요?</a:t>
            </a:r>
          </a:p>
          <a:p xmlns:a="http://schemas.openxmlformats.org/drawingml/2006/main">
            <a:r>
              <a:t/>
            </a:r>
          </a:p>
          <a:p xmlns:a="http://schemas.openxmlformats.org/drawingml/2006/main">
            <a:r>
              <a:t>**막혔을 때.** 버튼 반응이 없으면 id와 선택자 #check가 같은지 봅니다. 화면 문구를 바꾸려면 태그 사이를 고칩니다.</a:t>
            </a:r>
          </a:p>
          <a:p xmlns:a="http://schemas.openxmlformats.org/drawingml/2006/main">
            <a:r>
              <a:t/>
            </a:r>
          </a:p>
          <a:p xmlns:a="http://schemas.openxmlformats.org/drawingml/2006/main">
            <a:r>
              <a:t>입력·답칸·확인 순서는 [실습지의 A03](practice-guide.md#a03)와 [활동 원문](examples/course/data/A03_input.md)에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outputs/2026-10-21/lesson.md#A03</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https://zeusk302-png.github.io/kdigital-physical-ai/#/sessions/2026-10-21/activity-A03</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id는 코드가 요소를 찾는 이름입니다.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속성과 내부 연결의 예</a:t>
            </a:r>
          </a:p>
          <a:p xmlns:a="http://schemas.openxmlformats.org/drawingml/2006/main">
            <a:r>
              <a:t>발췌: HTML id와 선택자를 연결합니다.</a:t>
            </a:r>
          </a:p>
          <a:p xmlns:a="http://schemas.openxmlformats.org/drawingml/2006/main">
            <a:r>
              <a:t/>
            </a:r>
          </a:p>
          <a:p xmlns:a="http://schemas.openxmlformats.org/drawingml/2006/main">
            <a:r>
              <a:t>const button = document.querySelector("#check");</a:t>
            </a:r>
          </a:p>
          <a:p xmlns:a="http://schemas.openxmlformats.org/drawingml/2006/main">
            <a:r>
              <a:t>뜻: id가 check인 요소를 찾아 button이라는 이름으로 보관합니다. #은 id를 고르는 표시입니다.</a:t>
            </a:r>
          </a:p>
          <a:p xmlns:a="http://schemas.openxmlformats.org/drawingml/2006/main">
            <a:r>
              <a:t/>
            </a:r>
          </a:p>
          <a:p xmlns:a="http://schemas.openxmlformats.org/drawingml/2006/main">
            <a:r>
              <a:t>확인할 결과: 버튼 id와 선택자가 일치해야 합니다. Tab으로 버튼 초점도 확인합니다.</a:t>
            </a:r>
          </a:p>
          <a:p xmlns:a="http://schemas.openxmlformats.org/drawingml/2006/main">
            <a:r>
              <a:t>풀이: 아닙니다. 태그 사이 문구만 바꾸고 id를 유지하면 내부 연결은 유지됩니다. id까지 바꾸면 JavaScript 선택자도 대조합니다.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 / 원고 17장</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https://zeusk302-png.github.io/kdigital-physical-ai/#/sessions/2026-10-21/activity-A03</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#check는 id가 check인 요소를 찾는 선택자입니다.</a:t>
            </a:r>
          </a:p>
          <a:p xmlns:a="http://schemas.openxmlformats.org/drawingml/2006/main">
            <a:r>
              <a:t>버튼 글자를 바꾸는 것과 내부 id를 바꾸는 것을 구별합니다.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const button = document.querySelector("#check");</a:t>
            </a:r>
          </a:p>
          <a:p xmlns:a="http://schemas.openxmlformats.org/drawingml/2006/main">
            <a:r>
              <a:t>뜻: id가 check인 요소를 찾아 button이라는 이름으로 보관합니다. #은 id를 고르는 표시입니다.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D:\KDigital_PhysicalAI\.build\copyedited-ppt\spec-2026-10-21.json#slide-17</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https://zeusk302-png.github.io/kdigital-physical-ai/#/sessions/2026-10-21/activity-A03</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id="check"가 버튼의 내부 이름입니다.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버튼 id와 선택자가 일치해야 합니다. Tab으로 버튼 초점도 확인합니다.</a:t>
            </a:r>
          </a:p>
          <a:p xmlns:a="http://schemas.openxmlformats.org/drawingml/2006/main">
            <a:r>
              <a:t/>
            </a:r>
          </a:p>
          <a:p xmlns:a="http://schemas.openxmlformats.org/drawingml/2006/main">
            <a:r>
              <a:t>앞에서 배운 내용: id는 코드가 요소를 찾는 이름입니다. 사용자에게 보이는 문구와 구별합니다.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아닙니다. 태그 사이 문구만 바꾸고 id를 유지하면 내부 연결은 유지됩니다. id까지 바꾸면 JavaScript 선택자도 대조합니다.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D:\KDigital_PhysicalAI\.build\copyedited-ppt\spec-2026-10-21.json#slide-17</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https://zeusk302-png.github.io/kdigital-physical-ai/#/sessions/2026-10-21/activity-A03</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버튼 id와 선택자가 일치해야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버튼 글자만 바꾸면 #check도 바꾸나요?</a:t>
            </a:r>
          </a:p>
          <a:p xmlns:a="http://schemas.openxmlformats.org/drawingml/2006/main">
            <a:r>
              <a:t/>
            </a:r>
          </a:p>
          <a:p xmlns:a="http://schemas.openxmlformats.org/drawingml/2006/main">
            <a:r>
              <a:t>정답과 풀이: 아닙니다. 태그 사이 문구만 바꾸고 id를 유지하면 내부 연결은 유지됩니다. id까지 바꾸면 JavaScript 선택자도 대조합니다.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https://zeusk302-png.github.io/kdigital-physical-ai/#/sessions/2026-10-21/activity-A03</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2교시 주제는 CSS의 모양과 읽기입니다.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outputs/2026-10-21/beginner-start.md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https://zeusk302-png.github.io/kdigital-physical-ai/#/sessions/2026-10-21/activity-A04</a:t>
            </a:r>
          </a:p>
          <a:p xmlns:a="http://schemas.openxmlformats.org/drawingml/2006/main">
            <a:r>
              <a:t>공식 자료: https://react.dev/learn/passing-props-to-a-component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상자 안팎을 보고 간격을 고릅니다. 색 외에 상태 문구와 초점을 제공합니다.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outputs/2026-10-21/lesson.md#A04</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https://zeusk302-png.github.io/kdigital-physical-ai/#/sessions/2026-10-21/activity-A04</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상자 안팎을 보고 간격을 고릅니다.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A04의 개념과 원문 해설입니다.</a:t>
            </a:r>
          </a:p>
          <a:p xmlns:a="http://schemas.openxmlformats.org/drawingml/2006/main">
            <a:r>
              <a:t>### A04 · CSS 선택자와 선언</a:t>
            </a:r>
          </a:p>
          <a:p xmlns:a="http://schemas.openxmlformats.org/drawingml/2006/main">
            <a:r>
              <a:t/>
            </a:r>
          </a:p>
          <a:p xmlns:a="http://schemas.openxmlformats.org/drawingml/2006/main">
            <a:r>
              <a:t>#### 사례로 이해하기 · 선택자와 상자 모델로 읽기 편한 화면 만들기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센서 카드의 글자가 테두리에 붙어 읽기 어렵습니다. 카드 사이 간격도 좁습니다. 글자만 띄우려다가 페이지 전체를 오른쪽으로 밀면 작은 화면에서 내용이 잘립니다. 어떤 상자의 어느 공간을 바꾸는지 먼저 그려 봅니다.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CSS는 문서의 모양을 정하는 규칙입니다. 선택자는 꾸밀 대상을 고르는 이름이고 선언은 속성과 값의 짝입니다. 중괄호 안의 `color: teal;`은 글자색을 청록으로 정합니다. 세미콜론은 선언의 끝입니다. 상자에서 content는 내용, padding은 내용과 테두리 사이, border는 테두리, margin은 다른 상자와의 바깥 간격입니다. 색과 여백은 온도 데이터의 의미를 바꾸지 않습니다.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앞 문서의 head 안에 style 태그로 아래 규칙을 넣습니다.</a:t>
            </a:r>
          </a:p>
          <a:p xmlns:a="http://schemas.openxmlformats.org/drawingml/2006/main">
            <a:r>
              <a:t/>
            </a:r>
          </a:p>
          <a:p xmlns:a="http://schemas.openxmlformats.org/drawingml/2006/main">
            <a:r>
              <a:t>```css</a:t>
            </a:r>
          </a:p>
          <a:p xmlns:a="http://schemas.openxmlformats.org/drawingml/2006/main">
            <a:r>
              <a:t>body { margin: 16px; font-family: sans-serif; }</a:t>
            </a:r>
          </a:p>
          <a:p xmlns:a="http://schemas.openxmlformats.org/drawingml/2006/main">
            <a:r>
              <a:t>h1 { color: teal; }</a:t>
            </a:r>
          </a:p>
          <a:p xmlns:a="http://schemas.openxmlformats.org/drawingml/2006/main">
            <a:r>
              <a:t>button { padding: 12px; margin-top: 8px; }</a:t>
            </a:r>
          </a:p>
          <a:p xmlns:a="http://schemas.openxmlformats.org/drawingml/2006/main">
            <a:r>
              <a:t>button:focus-visible { outline: 3px solid black; }</a:t>
            </a:r>
          </a:p>
          <a:p xmlns:a="http://schemas.openxmlformats.org/drawingml/2006/main">
            <a:r>
              <a:t>```</a:t>
            </a:r>
          </a:p>
          <a:p xmlns:a="http://schemas.openxmlformats.org/drawingml/2006/main">
            <a:r>
              <a:t/>
            </a:r>
          </a:p>
          <a:p xmlns:a="http://schemas.openxmlformats.org/drawingml/2006/main">
            <a:r>
              <a:t>body 규칙은 전체 가장자리와 글꼴, h1 규칙은 제목만, button 규칙은 버튼 안팎 공간을 조절합니다. 마지막 규칙은 키보드로 이동할 때 초점을 표시합니다. 저장 후 새로고침하고 Tab 키로 버튼에 이동합니다. 초점은 지금 키보드로 조작할 대상이며 색 표시만으로 정상 상태를 전달하지 않듯 초점도 보이게 제공합니다. 별도 style.css를 쓰면 HTML의 link 경로가 같은 파일을 가리키는지도 확인합니다.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버튼 글자 주변 공간만 늘리고 버튼과 제목 사이 공간은 유지하려면 어떤 속성을 바꾸나요? 다음으로 정상 상태를 녹색 원 하나로만 보여 주는 화면을 글자와 함께 표현하는 문장을 작성하세요.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안쪽 공간은 padding입니다. 상태 문장은 “정상: 제공된 가상 온도가 기준 미만입니다”처럼 뜻을 적습니다. margin을 늘리는 답은 바깥 공간을 바꿉니다. “색을 더 진하게 하면 의미가 전달된다”는 답은 색을 구별하기 어려운 상황을 해결하지 못합니다.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CSS 변경으로 센서값이 변하나요? 표시 모양만 달라집니다. ② 적용이 안 되면 무엇부터 보나요? 저장·경로·선택자·새로고침을 확인합니다. ③ 좁은 화면도 확인하는 이유는 무엇인가요? 읽기 폭과 넘침은 큰 화면에서 보이지 않을 수 있습니다.</a:t>
            </a:r>
          </a:p>
          <a:p xmlns:a="http://schemas.openxmlformats.org/drawingml/2006/main">
            <a:r>
              <a:t/>
            </a:r>
          </a:p>
          <a:p xmlns:a="http://schemas.openxmlformats.org/drawingml/2006/main">
            <a:r>
              <a:t>**뜻과 비유.** CSS는 어떤 요소에 어떤 모양을 적용할지 쓰는 규칙입니다. 선택자는 대상을 고르고, 속성과 값은 색·크기·간격을 정합니다.</a:t>
            </a:r>
          </a:p>
          <a:p xmlns:a="http://schemas.openxmlformats.org/drawingml/2006/main">
            <a:r>
              <a:t/>
            </a:r>
          </a:p>
          <a:p xmlns:a="http://schemas.openxmlformats.org/drawingml/2006/main">
            <a:r>
              <a:t>**왜 필요한가.** 내용과 모양을 나누면 같은 제목을 유지하면서 여러 화면 크기에 맞게 조정할 수 있습니다.</a:t>
            </a:r>
          </a:p>
          <a:p xmlns:a="http://schemas.openxmlformats.org/drawingml/2006/main">
            <a:r>
              <a:t/>
            </a:r>
          </a:p>
          <a:p xmlns:a="http://schemas.openxmlformats.org/drawingml/2006/main">
            <a:r>
              <a:t>**예를 따라 읽기.** h1 { color: #126d65; }는 제목 글자의 색을 정합니다. #126d65는 색을 나타내는 표기입니다.</a:t>
            </a:r>
          </a:p>
          <a:p xmlns:a="http://schemas.openxmlformats.org/drawingml/2006/main">
            <a:r>
              <a:t/>
            </a:r>
          </a:p>
          <a:p xmlns:a="http://schemas.openxmlformats.org/drawingml/2006/main">
            <a:r>
              <a:t>**헷갈리는 반례.** 색을 바꿔도 센서 온도의 데이터 값이 바뀌는 것은 아닙니다.</a:t>
            </a:r>
          </a:p>
          <a:p xmlns:a="http://schemas.openxmlformats.org/drawingml/2006/main">
            <a:r>
              <a:t/>
            </a:r>
          </a:p>
          <a:p xmlns:a="http://schemas.openxmlformats.org/drawingml/2006/main">
            <a:r>
              <a:t>**직접 적용.** style.css에서 h1 규칙 찾기 → color와 값의 경계 표시하기 → 색을 #75421b로 바꾸기 → 같은 제목 내용이 유지되는지 비교하기</a:t>
            </a:r>
          </a:p>
          <a:p xmlns:a="http://schemas.openxmlformats.org/drawingml/2006/main">
            <a:r>
              <a:t/>
            </a:r>
          </a:p>
          <a:p xmlns:a="http://schemas.openxmlformats.org/drawingml/2006/main">
            <a:r>
              <a:t>**설명할 질문.** CSS 값을 바꿨을 때 무엇이 유지돼야 하나요?</a:t>
            </a:r>
          </a:p>
          <a:p xmlns:a="http://schemas.openxmlformats.org/drawingml/2006/main">
            <a:r>
              <a:t/>
            </a:r>
          </a:p>
          <a:p xmlns:a="http://schemas.openxmlformats.org/drawingml/2006/main">
            <a:r>
              <a:t>**막혔을 때.** CSS가 적용되지 않으면 HTML의 href와 파일 이름이 일치하는지 먼저 확인합니다.</a:t>
            </a:r>
          </a:p>
          <a:p xmlns:a="http://schemas.openxmlformats.org/drawingml/2006/main">
            <a:r>
              <a:t/>
            </a:r>
          </a:p>
          <a:p xmlns:a="http://schemas.openxmlformats.org/drawingml/2006/main">
            <a:r>
              <a:t>입력·답칸·확인 순서는 [실습지의 A04](practice-guide.md#a04)와 [활동 원문](examples/course/data/A04_input.md)에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outputs/2026-10-21/lesson.md#A04</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https://zeusk302-png.github.io/kdigital-physical-ai/#/sessions/2026-10-21/activity-A04</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선택자는 꾸밀 대상을 고릅니다.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CSS의 선택과 선언의 예</a:t>
            </a:r>
          </a:p>
          <a:p xmlns:a="http://schemas.openxmlformats.org/drawingml/2006/main">
            <a:r>
              <a:t>발췌: style 태그 또는 style.css에 넣습니다.</a:t>
            </a:r>
          </a:p>
          <a:p xmlns:a="http://schemas.openxmlformats.org/drawingml/2006/main">
            <a:r>
              <a:t/>
            </a:r>
          </a:p>
          <a:p xmlns:a="http://schemas.openxmlformats.org/drawingml/2006/main">
            <a:r>
              <a:t>h1 {</a:t>
            </a:r>
          </a:p>
          <a:p xmlns:a="http://schemas.openxmlformats.org/drawingml/2006/main">
            <a:r>
              <a:t>뜻: 본문의 h1 제목에 적용할 CSS 규칙을 시작합니다.</a:t>
            </a:r>
          </a:p>
          <a:p xmlns:a="http://schemas.openxmlformats.org/drawingml/2006/main">
            <a:r>
              <a:t/>
            </a:r>
          </a:p>
          <a:p xmlns:a="http://schemas.openxmlformats.org/drawingml/2006/main">
            <a:r>
              <a:t>  color: teal;</a:t>
            </a:r>
          </a:p>
          <a:p xmlns:a="http://schemas.openxmlformats.org/drawingml/2006/main">
            <a:r>
              <a:t>뜻: 글자색을 청록색 teal로 정합니다. 콜론은 속성과 값을 나누고 세미콜론은 선언을 끝냅니다.</a:t>
            </a:r>
          </a:p>
          <a:p xmlns:a="http://schemas.openxmlformats.org/drawingml/2006/main">
            <a:r>
              <a:t/>
            </a:r>
          </a:p>
          <a:p xmlns:a="http://schemas.openxmlformats.org/drawingml/2006/main">
            <a:r>
              <a:t>}</a:t>
            </a:r>
          </a:p>
          <a:p xmlns:a="http://schemas.openxmlformats.org/drawingml/2006/main">
            <a:r>
              <a:t>뜻: 중괄호로 감싼 CSS 규칙을 끝냅니다.</a:t>
            </a:r>
          </a:p>
          <a:p xmlns:a="http://schemas.openxmlformats.org/drawingml/2006/main">
            <a:r>
              <a:t/>
            </a:r>
          </a:p>
          <a:p xmlns:a="http://schemas.openxmlformats.org/drawingml/2006/main">
            <a:r>
              <a:t>확인할 결과: 제목 색이 청록으로 바뀝니다. 제목 문구와 온도 데이터는 유지됩니다.</a:t>
            </a:r>
          </a:p>
          <a:p xmlns:a="http://schemas.openxmlformats.org/drawingml/2006/main">
            <a:r>
              <a:t>풀이: 저장·HTML의 link 경로·style.css 파일 이름·선택자·브라우저 새로고침을 확인합니다. 코드의 콜론·세미콜론·중괄호 뜻을 각각 설명합니다.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 / 원고 24장</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https://zeusk302-png.github.io/kdigital-physical-ai/#/sessions/2026-10-21/activity-A04</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h1은 꾸밀 제목을 고르고 color: teal은 글자색을 정합니다.</a:t>
            </a:r>
          </a:p>
          <a:p xmlns:a="http://schemas.openxmlformats.org/drawingml/2006/main">
            <a:r>
              <a:t>문구와 센서 값은 이 CSS 규칙으로 바뀌지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h1 {</a:t>
            </a:r>
          </a:p>
          <a:p xmlns:a="http://schemas.openxmlformats.org/drawingml/2006/main">
            <a:r>
              <a:t>뜻: 본문의 h1 제목에 적용할 CSS 규칙을 시작합니다.</a:t>
            </a:r>
          </a:p>
          <a:p xmlns:a="http://schemas.openxmlformats.org/drawingml/2006/main">
            <a:r>
              <a:t/>
            </a:r>
          </a:p>
          <a:p xmlns:a="http://schemas.openxmlformats.org/drawingml/2006/main">
            <a:r>
              <a:t>  color: teal;</a:t>
            </a:r>
          </a:p>
          <a:p xmlns:a="http://schemas.openxmlformats.org/drawingml/2006/main">
            <a:r>
              <a:t>뜻: 글자색을 청록색 teal로 정합니다. 콜론은 속성과 값을 나누고 세미콜론은 선언을 끝냅니다.</a:t>
            </a:r>
          </a:p>
          <a:p xmlns:a="http://schemas.openxmlformats.org/drawingml/2006/main">
            <a:r>
              <a:t/>
            </a:r>
          </a:p>
          <a:p xmlns:a="http://schemas.openxmlformats.org/drawingml/2006/main">
            <a:r>
              <a:t>}</a:t>
            </a:r>
          </a:p>
          <a:p xmlns:a="http://schemas.openxmlformats.org/drawingml/2006/main">
            <a:r>
              <a:t>뜻: 중괄호로 감싼 CSS 규칙을 끝냅니다.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D:\KDigital_PhysicalAI\.build\copyedited-ppt\spec-2026-10-21.json#slide-24</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https://zeusk302-png.github.io/kdigital-physical-ai/#/sessions/2026-10-21/activity-A04</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h1은 꾸밀 제목을 고르는 선택자입니다.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제목 색이 청록으로 바뀝니다. 제목 문구와 온도 데이터는 유지됩니다.</a:t>
            </a:r>
          </a:p>
          <a:p xmlns:a="http://schemas.openxmlformats.org/drawingml/2006/main">
            <a:r>
              <a:t/>
            </a:r>
          </a:p>
          <a:p xmlns:a="http://schemas.openxmlformats.org/drawingml/2006/main">
            <a:r>
              <a:t>앞에서 배운 내용: 선택자는 꾸밀 대상을 고릅니다. 속성과 값으로 모양을 정합니다.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저장·HTML의 link 경로·style.css 파일 이름·선택자·브라우저 새로고침을 확인합니다. 코드의 콜론·세미콜론·중괄호 뜻을 각각 설명합니다.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outputs/2026-10-21/lesson.md#A04</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https://zeusk302-png.github.io/kdigital-physical-ai/#/sessions/2026-10-21/activity-A04</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제목 색이 청록으로 바뀝니다.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CSS 색이 그대로라면 무엇을 확인하나요?</a:t>
            </a:r>
          </a:p>
          <a:p xmlns:a="http://schemas.openxmlformats.org/drawingml/2006/main">
            <a:r>
              <a:t/>
            </a:r>
          </a:p>
          <a:p xmlns:a="http://schemas.openxmlformats.org/drawingml/2006/main">
            <a:r>
              <a:t>정답과 풀이: 저장·HTML의 link 경로·style.css 파일 이름·선택자·브라우저 새로고침을 확인합니다. 코드의 콜론·세미콜론·중괄호 뜻을 각각 설명합니다.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https://zeusk302-png.github.io/kdigital-physical-ai/#/sessions/2026-10-21/activity-A04</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A05의 개념과 원문 해설입니다.</a:t>
            </a:r>
          </a:p>
          <a:p xmlns:a="http://schemas.openxmlformats.org/drawingml/2006/main">
            <a:r>
              <a:t>### A05 · 상자·여백·읽기 폭</a:t>
            </a:r>
          </a:p>
          <a:p xmlns:a="http://schemas.openxmlformats.org/drawingml/2006/main">
            <a:r>
              <a:t/>
            </a:r>
          </a:p>
          <a:p xmlns:a="http://schemas.openxmlformats.org/drawingml/2006/main">
            <a:r>
              <a:t>**뜻과 비유.** 브라우저의 요소는 화면 공간을 차지하는 상자로 배치됩니다. padding은 안쪽 간격, margin 은 바깥 간격이며 max-width 는 너무 넓어지지 않게 제한합니다.</a:t>
            </a:r>
          </a:p>
          <a:p xmlns:a="http://schemas.openxmlformats.org/drawingml/2006/main">
            <a:r>
              <a:t/>
            </a:r>
          </a:p>
          <a:p xmlns:a="http://schemas.openxmlformats.org/drawingml/2006/main">
            <a:r>
              <a:t>**왜 필요한가.** 문장이 화면 끝까지 길어지거나 요소가 붙어 있으면 내용을 읽기 어렵습니다. 간격도 정보 전달에 영향을 줍니다.</a:t>
            </a:r>
          </a:p>
          <a:p xmlns:a="http://schemas.openxmlformats.org/drawingml/2006/main">
            <a:r>
              <a:t/>
            </a:r>
          </a:p>
          <a:p xmlns:a="http://schemas.openxmlformats.org/drawingml/2006/main">
            <a:r>
              <a:t>**예를 따라 읽기.** main의 padding:24px을 32px로 바꾸면 안내판 내용과 바깥 영역 사이의 안쪽 간격이 커집니다.</a:t>
            </a:r>
          </a:p>
          <a:p xmlns:a="http://schemas.openxmlformats.org/drawingml/2006/main">
            <a:r>
              <a:t/>
            </a:r>
          </a:p>
          <a:p xmlns:a="http://schemas.openxmlformats.org/drawingml/2006/main">
            <a:r>
              <a:t>**헷갈리는 반례.** 글자를 작게 줄여 모든 것을 한 화면에 넣는 방식은 초심자의 읽기를 어렵게 할 수 있습니다.</a:t>
            </a:r>
          </a:p>
          <a:p xmlns:a="http://schemas.openxmlformats.org/drawingml/2006/main">
            <a:r>
              <a:t/>
            </a:r>
          </a:p>
          <a:p xmlns:a="http://schemas.openxmlformats.org/drawingml/2006/main">
            <a:r>
              <a:t>**직접 적용.** main의 세 배치 규칙 찾기 → padding과 margin 을 그림으로 구분하기 → padding 한 값을 바꿔 비교하기 → 글자 크기와 읽기 폭의 영향을 설명하기</a:t>
            </a:r>
          </a:p>
          <a:p xmlns:a="http://schemas.openxmlformats.org/drawingml/2006/main">
            <a:r>
              <a:t/>
            </a:r>
          </a:p>
          <a:p xmlns:a="http://schemas.openxmlformats.org/drawingml/2006/main">
            <a:r>
              <a:t>**설명할 질문.** 안쪽 여백과 바깥 여백은 어떻게 구분하나요?</a:t>
            </a:r>
          </a:p>
          <a:p xmlns:a="http://schemas.openxmlformats.org/drawingml/2006/main">
            <a:r>
              <a:t/>
            </a:r>
          </a:p>
          <a:p xmlns:a="http://schemas.openxmlformats.org/drawingml/2006/main">
            <a:r>
              <a:t>**막혔을 때.** 차이가 안 보이면 같은 파일을 저장했는지와 브라우저 새로고침 여부를 확인합니다.</a:t>
            </a:r>
          </a:p>
          <a:p xmlns:a="http://schemas.openxmlformats.org/drawingml/2006/main">
            <a:r>
              <a:t/>
            </a:r>
          </a:p>
          <a:p xmlns:a="http://schemas.openxmlformats.org/drawingml/2006/main">
            <a:r>
              <a:t>입력·답칸·확인 순서는 [실습지의 A05](practice-guide.md#a05)와 [활동 원문](examples/course/data/A05_input.md)에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outputs/2026-10-21/lesson.md#A05</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https://zeusk302-png.github.io/kdigital-physical-ai/#/sessions/2026-10-21/activity-A05</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padding은 내용 안쪽 공간입니다.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상자의 안쪽과 바깥의 예</a:t>
            </a:r>
          </a:p>
          <a:p xmlns:a="http://schemas.openxmlformats.org/drawingml/2006/main">
            <a:r>
              <a:t>발췌: button의 CSS 규칙</a:t>
            </a:r>
          </a:p>
          <a:p xmlns:a="http://schemas.openxmlformats.org/drawingml/2006/main">
            <a:r>
              <a:t/>
            </a:r>
          </a:p>
          <a:p xmlns:a="http://schemas.openxmlformats.org/drawingml/2006/main">
            <a:r>
              <a:t>button {</a:t>
            </a:r>
          </a:p>
          <a:p xmlns:a="http://schemas.openxmlformats.org/drawingml/2006/main">
            <a:r>
              <a:t>뜻: button 요소에 적용할 CSS 규칙을 시작합니다.</a:t>
            </a:r>
          </a:p>
          <a:p xmlns:a="http://schemas.openxmlformats.org/drawingml/2006/main">
            <a:r>
              <a:t/>
            </a:r>
          </a:p>
          <a:p xmlns:a="http://schemas.openxmlformats.org/drawingml/2006/main">
            <a:r>
              <a:t>  padding: 12px;</a:t>
            </a:r>
          </a:p>
          <a:p xmlns:a="http://schemas.openxmlformats.org/drawingml/2006/main">
            <a:r>
              <a:t>뜻: 버튼 내용과 테두리 사이에 안쪽 여백 12px을 둡니다.</a:t>
            </a:r>
          </a:p>
          <a:p xmlns:a="http://schemas.openxmlformats.org/drawingml/2006/main">
            <a:r>
              <a:t/>
            </a:r>
          </a:p>
          <a:p xmlns:a="http://schemas.openxmlformats.org/drawingml/2006/main">
            <a:r>
              <a:t>  margin-top: 8px;</a:t>
            </a:r>
          </a:p>
          <a:p xmlns:a="http://schemas.openxmlformats.org/drawingml/2006/main">
            <a:r>
              <a:t>뜻: 버튼 위쪽의 바깥 간격을 8px로 정합니다.</a:t>
            </a:r>
          </a:p>
          <a:p xmlns:a="http://schemas.openxmlformats.org/drawingml/2006/main">
            <a:r>
              <a:t/>
            </a:r>
          </a:p>
          <a:p xmlns:a="http://schemas.openxmlformats.org/drawingml/2006/main">
            <a:r>
              <a:t>}</a:t>
            </a:r>
          </a:p>
          <a:p xmlns:a="http://schemas.openxmlformats.org/drawingml/2006/main">
            <a:r>
              <a:t>뜻: 중괄호로 감싼 CSS 규칙을 끝냅니다.</a:t>
            </a:r>
          </a:p>
          <a:p xmlns:a="http://schemas.openxmlformats.org/drawingml/2006/main">
            <a:r>
              <a:t/>
            </a:r>
          </a:p>
          <a:p xmlns:a="http://schemas.openxmlformats.org/drawingml/2006/main">
            <a:r>
              <a:t>확인할 결과: 글자 주변을 넓히려면 padding을 바꿉니다. 값과 상태의 의미는 그대로입니다.</a:t>
            </a:r>
          </a:p>
          <a:p xmlns:a="http://schemas.openxmlformats.org/drawingml/2006/main">
            <a:r>
              <a:t>풀이: padding입니다. margin은 바깥 위치 관계를 바꿉니다. 줄어든 화면에서 넘침이 생기는지도 따로 확인합니다.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 / 원고 29장</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https://zeusk302-png.github.io/kdigital-physical-ai/#/sessions/2026-10-21/activity-A05</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padding 12px은 테두리 안쪽, margin-top 8px은 바깥 위쪽입니다.</a:t>
            </a:r>
          </a:p>
          <a:p xmlns:a="http://schemas.openxmlformats.org/drawingml/2006/main">
            <a:r>
              <a:t>글자 주변만 넓히려면 padding 값을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button {</a:t>
            </a:r>
          </a:p>
          <a:p xmlns:a="http://schemas.openxmlformats.org/drawingml/2006/main">
            <a:r>
              <a:t>뜻: button 요소에 적용할 CSS 규칙을 시작합니다.</a:t>
            </a:r>
          </a:p>
          <a:p xmlns:a="http://schemas.openxmlformats.org/drawingml/2006/main">
            <a:r>
              <a:t/>
            </a:r>
          </a:p>
          <a:p xmlns:a="http://schemas.openxmlformats.org/drawingml/2006/main">
            <a:r>
              <a:t>  padding: 12px;</a:t>
            </a:r>
          </a:p>
          <a:p xmlns:a="http://schemas.openxmlformats.org/drawingml/2006/main">
            <a:r>
              <a:t>뜻: 버튼 내용과 테두리 사이에 안쪽 여백 12px을 둡니다.</a:t>
            </a:r>
          </a:p>
          <a:p xmlns:a="http://schemas.openxmlformats.org/drawingml/2006/main">
            <a:r>
              <a:t/>
            </a:r>
          </a:p>
          <a:p xmlns:a="http://schemas.openxmlformats.org/drawingml/2006/main">
            <a:r>
              <a:t>  margin-top: 8px;</a:t>
            </a:r>
          </a:p>
          <a:p xmlns:a="http://schemas.openxmlformats.org/drawingml/2006/main">
            <a:r>
              <a:t>뜻: 버튼 위쪽의 바깥 간격을 8px로 정합니다.</a:t>
            </a:r>
          </a:p>
          <a:p xmlns:a="http://schemas.openxmlformats.org/drawingml/2006/main">
            <a:r>
              <a:t/>
            </a:r>
          </a:p>
          <a:p xmlns:a="http://schemas.openxmlformats.org/drawingml/2006/main">
            <a:r>
              <a:t>}</a:t>
            </a:r>
          </a:p>
          <a:p xmlns:a="http://schemas.openxmlformats.org/drawingml/2006/main">
            <a:r>
              <a:t>뜻: 중괄호로 감싼 CSS 규칙을 끝냅니다.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D:\KDigital_PhysicalAI\.build\copyedited-ppt\spec-2026-10-21.json#slide-29</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https://zeusk302-png.github.io/kdigital-physical-ai/#/sessions/2026-10-21/activity-A05</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padding은 테두리 안쪽 여백입니다.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글자 주변을 넓히려면 padding을 바꿉니다. 값과 상태의 의미는 그대로입니다.</a:t>
            </a:r>
          </a:p>
          <a:p xmlns:a="http://schemas.openxmlformats.org/drawingml/2006/main">
            <a:r>
              <a:t/>
            </a:r>
          </a:p>
          <a:p xmlns:a="http://schemas.openxmlformats.org/drawingml/2006/main">
            <a:r>
              <a:t>앞에서 배운 내용: padding은 내용 안쪽 공간입니다. margin은 다른 요소와의 바깥 간격입니다.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padding입니다. margin은 바깥 위치 관계를 바꿉니다. 줄어든 화면에서 넘침이 생기는지도 따로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outputs/2026-10-21/lesson.md#A05</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https://zeusk302-png.github.io/kdigital-physical-ai/#/sessions/2026-10-21/activity-A05</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글자 주변을 넓히려면 padding을 바꿉니다.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버튼 글자 주변만 넓히고 싶습니다. 어느 속성을 바꿀까요?</a:t>
            </a:r>
          </a:p>
          <a:p xmlns:a="http://schemas.openxmlformats.org/drawingml/2006/main">
            <a:r>
              <a:t/>
            </a:r>
          </a:p>
          <a:p xmlns:a="http://schemas.openxmlformats.org/drawingml/2006/main">
            <a:r>
              <a:t>정답과 풀이: padding입니다. margin은 바깥 위치 관계를 바꿉니다. 줄어든 화면에서 넘침이 생기는지도 따로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https://zeusk302-png.github.io/kdigital-physical-ai/#/sessions/2026-10-21/activity-A05</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A06의 개념과 원문 해설입니다.</a:t>
            </a:r>
          </a:p>
          <a:p xmlns:a="http://schemas.openxmlformats.org/drawingml/2006/main">
            <a:r>
              <a:t>### A06 · 작은 화면과 상태의 표시</a:t>
            </a:r>
          </a:p>
          <a:p xmlns:a="http://schemas.openxmlformats.org/drawingml/2006/main">
            <a:r>
              <a:t/>
            </a:r>
          </a:p>
          <a:p xmlns:a="http://schemas.openxmlformats.org/drawingml/2006/main">
            <a:r>
              <a:t>**뜻과 비유.** 반응형 규칙은 화면 폭 같은 조건에 따라 모양을 조정하는 CSS입니다. 색만으로 의미를 전달하지 않고 글자와 구조도 함께 사용합니다.</a:t>
            </a:r>
          </a:p>
          <a:p xmlns:a="http://schemas.openxmlformats.org/drawingml/2006/main">
            <a:r>
              <a:t/>
            </a:r>
          </a:p>
          <a:p xmlns:a="http://schemas.openxmlformats.org/drawingml/2006/main">
            <a:r>
              <a:t>**왜 필요한가.** 같은 자료를 좁은 화면과 키보드로도 읽을 수 있어야 업무 확인에 사용할 수 있습니다.</a:t>
            </a:r>
          </a:p>
          <a:p xmlns:a="http://schemas.openxmlformats.org/drawingml/2006/main">
            <a:r>
              <a:t/>
            </a:r>
          </a:p>
          <a:p xmlns:a="http://schemas.openxmlformats.org/drawingml/2006/main">
            <a:r>
              <a:t>**예를 따라 읽기.** max-width:600px 조건에서는 main의 바깥 간격이 8px로 바뀝니다. focus-visible은 키보드 초점을 드러냅니다.</a:t>
            </a:r>
          </a:p>
          <a:p xmlns:a="http://schemas.openxmlformats.org/drawingml/2006/main">
            <a:r>
              <a:t/>
            </a:r>
          </a:p>
          <a:p xmlns:a="http://schemas.openxmlformats.org/drawingml/2006/main">
            <a:r>
              <a:t>**헷갈리는 반례.** 초록색만 보고 정상이라고 판단하게 하면 색을 구분하기 어렵거나 상태가 바뀐 경우 설명이 부족합니다.</a:t>
            </a:r>
          </a:p>
          <a:p xmlns:a="http://schemas.openxmlformats.org/drawingml/2006/main">
            <a:r>
              <a:t/>
            </a:r>
          </a:p>
          <a:p xmlns:a="http://schemas.openxmlformats.org/drawingml/2006/main">
            <a:r>
              <a:t>**직접 적용.** 브라우저 폭을 넓고 좁게 바꾸기 → 줄 바꿈과 가로 넘침 확인하기 → Tab으로 버튼에 이동하기 → 상태를 글자로도 알 수 있는 지 기록하기</a:t>
            </a:r>
          </a:p>
          <a:p xmlns:a="http://schemas.openxmlformats.org/drawingml/2006/main">
            <a:r>
              <a:t/>
            </a:r>
          </a:p>
          <a:p xmlns:a="http://schemas.openxmlformats.org/drawingml/2006/main">
            <a:r>
              <a:t>**설명할 질문.** 정상 상태를 색만으로 표시하면 어떤 정보가 빠질까요?</a:t>
            </a:r>
          </a:p>
          <a:p xmlns:a="http://schemas.openxmlformats.org/drawingml/2006/main">
            <a:r>
              <a:t/>
            </a:r>
          </a:p>
          <a:p xmlns:a="http://schemas.openxmlformats.org/drawingml/2006/main">
            <a:r>
              <a:t>**막혔을 때.** 좁은 화면이 넘치면 고정 폭을 늘리지 말고 max-width와 여백 규칙부터 확인합니다.</a:t>
            </a:r>
          </a:p>
          <a:p xmlns:a="http://schemas.openxmlformats.org/drawingml/2006/main">
            <a:r>
              <a:t/>
            </a:r>
          </a:p>
          <a:p xmlns:a="http://schemas.openxmlformats.org/drawingml/2006/main">
            <a:r>
              <a:t>입력·답칸·확인 순서는 [실습지의 A06](practice-guide.md#a06)와 [활동 원문](examples/course/data/A06_input.md)에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outputs/2026-10-21/lesson.md#A06</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https://zeusk302-png.github.io/kdigital-physical-ai/#/sessions/2026-10-21/activity-A06</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좁은 화면에서도 글자가 읽혀야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작은 화면과 상태의 예</a:t>
            </a:r>
          </a:p>
          <a:p xmlns:a="http://schemas.openxmlformats.org/drawingml/2006/main">
            <a:r>
              <a:t>발췌: 키보드 초점을 보이게 합니다.</a:t>
            </a:r>
          </a:p>
          <a:p xmlns:a="http://schemas.openxmlformats.org/drawingml/2006/main">
            <a:r>
              <a:t/>
            </a:r>
          </a:p>
          <a:p xmlns:a="http://schemas.openxmlformats.org/drawingml/2006/main">
            <a:r>
              <a:t>button:focus-visible {</a:t>
            </a:r>
          </a:p>
          <a:p xmlns:a="http://schemas.openxmlformats.org/drawingml/2006/main">
            <a:r>
              <a:t>뜻: 키보드로 버튼에 초점이 왔을 때 보일 CSS 규칙을 시작합니다.</a:t>
            </a:r>
          </a:p>
          <a:p xmlns:a="http://schemas.openxmlformats.org/drawingml/2006/main">
            <a:r>
              <a:t/>
            </a:r>
          </a:p>
          <a:p xmlns:a="http://schemas.openxmlformats.org/drawingml/2006/main">
            <a:r>
              <a:t>  outline: 3px solid black;</a:t>
            </a:r>
          </a:p>
          <a:p xmlns:a="http://schemas.openxmlformats.org/drawingml/2006/main">
            <a:r>
              <a:t>뜻: 버튼 둘레에 두께 3px의 검은 실선을 그려 초점을 보여 줍니다.</a:t>
            </a:r>
          </a:p>
          <a:p xmlns:a="http://schemas.openxmlformats.org/drawingml/2006/main">
            <a:r>
              <a:t/>
            </a:r>
          </a:p>
          <a:p xmlns:a="http://schemas.openxmlformats.org/drawingml/2006/main">
            <a:r>
              <a:t>}</a:t>
            </a:r>
          </a:p>
          <a:p xmlns:a="http://schemas.openxmlformats.org/drawingml/2006/main">
            <a:r>
              <a:t>뜻: 중괄호로 감싼 CSS 규칙을 끝냅니다.</a:t>
            </a:r>
          </a:p>
          <a:p xmlns:a="http://schemas.openxmlformats.org/drawingml/2006/main">
            <a:r>
              <a:t/>
            </a:r>
          </a:p>
          <a:p xmlns:a="http://schemas.openxmlformats.org/drawingml/2006/main">
            <a:r>
              <a:t>확인할 결과: Tab 키로 버튼 초점이 보이는지 봅니다. 정상·미측정 문구를 함께 읽습니다.</a:t>
            </a:r>
          </a:p>
          <a:p xmlns:a="http://schemas.openxmlformats.org/drawingml/2006/main">
            <a:r>
              <a:t>풀이: 상태 이름과 의미를 함께 표시합니다. 색 구별이 어려운 사용자가 있어 초점과 상태를 텍스트로도 전달합니다. 화면 폭 검사를 별도로 기록합니다.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 / 원고 34장</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https://zeusk302-png.github.io/kdigital-physical-ai/#/sessions/2026-10-21/activity-A06</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:focus-visible과 3px outline으로 키보드 초점을 보이게 합니다.</a:t>
            </a:r>
          </a:p>
          <a:p xmlns:a="http://schemas.openxmlformats.org/drawingml/2006/main">
            <a:r>
              <a:t>Tab 키로 실제 초점 표시가 나오는지 확인합니다.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button:focus-visible {</a:t>
            </a:r>
          </a:p>
          <a:p xmlns:a="http://schemas.openxmlformats.org/drawingml/2006/main">
            <a:r>
              <a:t>뜻: 키보드로 버튼에 초점이 왔을 때 보일 CSS 규칙을 시작합니다.</a:t>
            </a:r>
          </a:p>
          <a:p xmlns:a="http://schemas.openxmlformats.org/drawingml/2006/main">
            <a:r>
              <a:t/>
            </a:r>
          </a:p>
          <a:p xmlns:a="http://schemas.openxmlformats.org/drawingml/2006/main">
            <a:r>
              <a:t>  outline: 3px solid black;</a:t>
            </a:r>
          </a:p>
          <a:p xmlns:a="http://schemas.openxmlformats.org/drawingml/2006/main">
            <a:r>
              <a:t>뜻: 버튼 둘레에 두께 3px의 검은 실선을 그려 초점을 보여 줍니다.</a:t>
            </a:r>
          </a:p>
          <a:p xmlns:a="http://schemas.openxmlformats.org/drawingml/2006/main">
            <a:r>
              <a:t/>
            </a:r>
          </a:p>
          <a:p xmlns:a="http://schemas.openxmlformats.org/drawingml/2006/main">
            <a:r>
              <a:t>}</a:t>
            </a:r>
          </a:p>
          <a:p xmlns:a="http://schemas.openxmlformats.org/drawingml/2006/main">
            <a:r>
              <a:t>뜻: 중괄호로 감싼 CSS 규칙을 끝냅니다.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D:\KDigital_PhysicalAI\.build\copyedited-ppt\spec-2026-10-21.json#slide-34</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https://zeusk302-png.github.io/kdigital-physical-ai/#/sessions/2026-10-21/activity-A06</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:focus-visible은 키보드 초점을 표시합니다.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Tab 키로 버튼 초점이 보이는지 봅니다. 정상·미측정 문구를 함께 읽습니다.</a:t>
            </a:r>
          </a:p>
          <a:p xmlns:a="http://schemas.openxmlformats.org/drawingml/2006/main">
            <a:r>
              <a:t/>
            </a:r>
          </a:p>
          <a:p xmlns:a="http://schemas.openxmlformats.org/drawingml/2006/main">
            <a:r>
              <a:t>앞에서 배운 내용: 좁은 화면에서도 글자가 읽혀야 합니다. 색과 함께 상태 문구를 제공합니다.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상태 이름과 의미를 함께 표시합니다. 색 구별이 어려운 사용자가 있어 초점과 상태를 텍스트로도 전달합니다. 화면 폭 검사를 별도로 기록합니다.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D:\KDigital_PhysicalAI\.build\copyedited-ppt\spec-2026-10-21.json#slide-34</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https://zeusk302-png.github.io/kdigital-physical-ai/#/sessions/2026-10-21/activity-A06</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Tab 키로 버튼 초점이 보이는지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초록 원만으로 정상 상태를 알려도 될까요?</a:t>
            </a:r>
          </a:p>
          <a:p xmlns:a="http://schemas.openxmlformats.org/drawingml/2006/main">
            <a:r>
              <a:t/>
            </a:r>
          </a:p>
          <a:p xmlns:a="http://schemas.openxmlformats.org/drawingml/2006/main">
            <a:r>
              <a:t>정답과 풀이: 상태 이름과 의미를 함께 표시합니다. 색 구별이 어려운 사용자가 있어 초점과 상태를 텍스트로도 전달합니다. 화면 폭 검사를 별도로 기록합니다.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https://zeusk302-png.github.io/kdigital-physical-ai/#/sessions/2026-10-21/activity-A06</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3교시 주제는 버튼과 데이터 변화입니다.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outputs/2026-10-21/beginner-start.md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https://zeusk302-png.github.io/kdigital-physical-ai/#/sessions/2026-10-21/activity-A07</a:t>
            </a:r>
          </a:p>
          <a:p xmlns:a="http://schemas.openxmlformats.org/drawingml/2006/main">
            <a:r>
              <a:t>공식 자료: https://modelcontextprotocol.io/specification/2025-11-25/basic/lifecycle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HTML에 처음 적힌 숫자부터 확인합니다. 클릭 뒤에는 데이터 파일의 값을 보여 줍니다.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outputs/2026-10-21/lesson.md#A07</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https://zeusk302-png.github.io/kdigital-physical-ai/#/sessions/2026-10-21/activity-A07</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HTML에 처음 적힌 숫자부터 확인합니다.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A07의 개념과 원문 해설입니다.</a:t>
            </a:r>
          </a:p>
          <a:p xmlns:a="http://schemas.openxmlformats.org/drawingml/2006/main">
            <a:r>
              <a:t>### A07 · JavaScript와 이벤트</a:t>
            </a:r>
          </a:p>
          <a:p xmlns:a="http://schemas.openxmlformats.org/drawingml/2006/main">
            <a:r>
              <a:t/>
            </a:r>
          </a:p>
          <a:p xmlns:a="http://schemas.openxmlformats.org/drawingml/2006/main">
            <a:r>
              <a:t>#### 사례로 이해하기 · 버튼 사건에서 데이터 표시까지 따라가기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안내판은 처음에 22.5를 표시하지만 담당자가 data.js 값을 25로 바꾼 뒤에도 화면은 22.5입니다. 버튼을 누르자 25가 나타납니다. 오류라고 단정하기 전에 초기 문서와 버튼 동작의 데이터 흐름을 나누어 읽습니다.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JavaScript는 브라우저에서 동작을 수행하는 프로그램 언어입니다. 이벤트는 클릭처럼 일어난 사건이고 이벤트 처리 함수는 그 사건 때 실행할 행동입니다. querySelector는 이름에 맞는 문서 요소를 찾습니다. #은 id를 찾는 표시입니다. textContent는 요소의 글자 내용이며 이를 바꾸면 화면 글자가 달라집니다. 데이터 파일의 값, HTML의 처음 글자, 화면의 현재 글자는 같은 장소에 있지 않습니다.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제공 static/index.html은 data.js와 app.js를 연결합니다. data.js가 먼저 window.SENSOR에 가상 기록을 넣고 app.js가 #check·#temperature·#status를 찾습니다. 버튼 클릭 때 temperature 요소에 SENSOR.temperature_c를 넣고 상태에 장소 설명을 넣습니다. 처음 HTML의 22.5는 클릭 전의 표시이며 data.js에서 25를 저장한 뒤 새로고침하고 클릭하면 25가 보입니다. script 연결 순서와 같은 폴더의 파일 경로도 확인합니다. 실제 센서에서 받은 값이라는 의미는 없습니다.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데이터는 26, 처음 HTML 글자는 22.5인 카드의 “열기 직후 / 클릭 뒤 / 데이터 파일 저장 여부” 세 칸을 작성하세요. 버튼 id만 read로 바꾼 경우 필요한 연결 수정을 결정하고 어떤 행동으로 복구를 확인할지 쓰세요.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처음은 22.5, 클릭 뒤는 26이며 클릭은 파일에 값을 저장하지 않습니다. id를 read로 바꾸면 JavaScript 선택자도 #read로 맞춰야 합니다. 수정 후 같은 버튼 클릭으로 결과를 확인합니다. “HTML 숫자만 고치면 이후 클릭도 바뀐다”는 답은 실제 데이터 출처를 놓쳤습니다.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버튼이 안 되면 무조건 데이터 문제인가요? 요소 이름이나 코드 로딩도 확인합니다. ② 새로고침과 클릭을 따로 기록하는 이유는 무엇인가요? 초기 표시와 사건 후 표시가 다릅니다. ③ 복구 후 파일 내용만 보면 충분한가요? 이전 실패 행동을 다시 수행하여 동작까지 확인해야 합니다.</a:t>
            </a:r>
          </a:p>
          <a:p xmlns:a="http://schemas.openxmlformats.org/drawingml/2006/main">
            <a:r>
              <a:t/>
            </a:r>
          </a:p>
          <a:p xmlns:a="http://schemas.openxmlformats.org/drawingml/2006/main">
            <a:r>
              <a:t>**뜻과 비유.** JavaScript는 프로그램의 동작을 적는 언어입니다. 이 예제에서는 클릭이나 데이터 변화에 따라 화면을 바꿉니다. 이벤트는 버튼 클릭처럼 프로그램이 반응할 수 있는 사건입니다.</a:t>
            </a:r>
          </a:p>
          <a:p xmlns:a="http://schemas.openxmlformats.org/drawingml/2006/main">
            <a:r>
              <a:t/>
            </a:r>
          </a:p>
          <a:p xmlns:a="http://schemas.openxmlformats.org/drawingml/2006/main">
            <a:r>
              <a:t>**왜 필요한가.** 정적인 문서 내용과 클릭 뒤 실행되는 동작을 나누면 화면이 왜 바뀌었는지 따라갈 수 있습니다.</a:t>
            </a:r>
          </a:p>
          <a:p xmlns:a="http://schemas.openxmlformats.org/drawingml/2006/main">
            <a:r>
              <a:t/>
            </a:r>
          </a:p>
          <a:p xmlns:a="http://schemas.openxmlformats.org/drawingml/2006/main">
            <a:r>
              <a:t>**예를 따라 읽기.** addEventListener("click", ...)는 클릭 때 안쪽 코드를 실행하도록 연결합니다.</a:t>
            </a:r>
          </a:p>
          <a:p xmlns:a="http://schemas.openxmlformats.org/drawingml/2006/main">
            <a:r>
              <a:t/>
            </a:r>
          </a:p>
          <a:p xmlns:a="http://schemas.openxmlformats.org/drawingml/2006/main">
            <a:r>
              <a:t>**헷갈리는 반례.** 버튼이 보인다는 사실만으로 클릭 동작이 연결됐다고 볼 수 없습니다.</a:t>
            </a:r>
          </a:p>
          <a:p xmlns:a="http://schemas.openxmlformats.org/drawingml/2006/main">
            <a:r>
              <a:t/>
            </a:r>
          </a:p>
          <a:p xmlns:a="http://schemas.openxmlformats.org/drawingml/2006/main">
            <a:r>
              <a:t>**직접 적용.** app.js 전체 일곱 줄 읽기 → 버튼 선택과 클릭 연결 구간 나누기 → 누르기 전 상태 문구 예상하기 → 클릭 후 바뀐 문구를 비교하기</a:t>
            </a:r>
          </a:p>
          <a:p xmlns:a="http://schemas.openxmlformats.org/drawingml/2006/main">
            <a:r>
              <a:t/>
            </a:r>
          </a:p>
          <a:p xmlns:a="http://schemas.openxmlformats.org/drawingml/2006/main">
            <a:r>
              <a:t>**설명할 질문.** 버튼 표시와 클릭 반응은 어떻게 다른가요?</a:t>
            </a:r>
          </a:p>
          <a:p xmlns:a="http://schemas.openxmlformats.org/drawingml/2006/main">
            <a:r>
              <a:t/>
            </a:r>
          </a:p>
          <a:p xmlns:a="http://schemas.openxmlformats.org/drawingml/2006/main">
            <a:r>
              <a:t>**막혔을 때.** 선택한 요소가 없다는 오류면 HTML의 id와 querySelector 이름을 비교합니다.</a:t>
            </a:r>
          </a:p>
          <a:p xmlns:a="http://schemas.openxmlformats.org/drawingml/2006/main">
            <a:r>
              <a:t/>
            </a:r>
          </a:p>
          <a:p xmlns:a="http://schemas.openxmlformats.org/drawingml/2006/main">
            <a:r>
              <a:t>입력·답칸·확인 순서는 [실습지의 A07](practice-guide.md#a07)와 [활동 원문](examples/course/data/A07_input.md)에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outputs/2026-10-21/lesson.md#A07</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https://zeusk302-png.github.io/kdigital-physical-ai/#/sessions/2026-10-21/activity-A07</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클릭은 브라우저에서 일어난 사건입니다.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클릭과 JavaScript의 예</a:t>
            </a:r>
          </a:p>
          <a:p xmlns:a="http://schemas.openxmlformats.org/drawingml/2006/main">
            <a:r>
              <a:t>짧은 동작 예. 같은 id와 SENSOR가 필요합니다.</a:t>
            </a:r>
          </a:p>
          <a:p xmlns:a="http://schemas.openxmlformats.org/drawingml/2006/main">
            <a:r>
              <a:t/>
            </a:r>
          </a:p>
          <a:p xmlns:a="http://schemas.openxmlformats.org/drawingml/2006/main">
            <a:r>
              <a:t>const button = document.querySelector("#check");</a:t>
            </a:r>
          </a:p>
          <a:p xmlns:a="http://schemas.openxmlformats.org/drawingml/2006/main">
            <a:r>
              <a:t>뜻: id가 check인 요소를 찾아 button이라는 이름으로 보관합니다. #은 id를 고르는 표시입니다.</a:t>
            </a:r>
          </a:p>
          <a:p xmlns:a="http://schemas.openxmlformats.org/drawingml/2006/main">
            <a:r>
              <a:t/>
            </a:r>
          </a:p>
          <a:p xmlns:a="http://schemas.openxmlformats.org/drawingml/2006/main">
            <a:r>
              <a:t>const value = document.querySelector("#temperature");</a:t>
            </a:r>
          </a:p>
          <a:p xmlns:a="http://schemas.openxmlformats.org/drawingml/2006/main">
            <a:r>
              <a:t>뜻: id가 temperature인 요소를 찾아 value라는 이름으로 보관합니다.</a:t>
            </a:r>
          </a:p>
          <a:p xmlns:a="http://schemas.openxmlformats.org/drawingml/2006/main">
            <a:r>
              <a:t/>
            </a:r>
          </a:p>
          <a:p xmlns:a="http://schemas.openxmlformats.org/drawingml/2006/main">
            <a:r>
              <a:t>button.addEventListener("click", () =&gt; {</a:t>
            </a:r>
          </a:p>
          <a:p xmlns:a="http://schemas.openxmlformats.org/drawingml/2006/main">
            <a:r>
              <a:t>뜻: 버튼을 클릭할 때 중괄호 안의 함수를 실행하도록 등록합니다.</a:t>
            </a:r>
          </a:p>
          <a:p xmlns:a="http://schemas.openxmlformats.org/drawingml/2006/main">
            <a:r>
              <a:t/>
            </a:r>
          </a:p>
          <a:p xmlns:a="http://schemas.openxmlformats.org/drawingml/2006/main">
            <a:r>
              <a:t>  value.textContent = window.SENSOR.temperature_c;</a:t>
            </a:r>
          </a:p>
          <a:p xmlns:a="http://schemas.openxmlformats.org/drawingml/2006/main">
            <a:r>
              <a:t>뜻: 데이터의 온도 값을 화면 요소의 글자로 표시합니다. data.js 파일을 저장하는 동작은 아닙니다.</a:t>
            </a:r>
          </a:p>
          <a:p xmlns:a="http://schemas.openxmlformats.org/drawingml/2006/main">
            <a:r>
              <a:t/>
            </a:r>
          </a:p>
          <a:p xmlns:a="http://schemas.openxmlformats.org/drawingml/2006/main">
            <a:r>
              <a:t>});</a:t>
            </a:r>
          </a:p>
          <a:p xmlns:a="http://schemas.openxmlformats.org/drawingml/2006/main">
            <a:r>
              <a:t>뜻: 클릭 처리 함수의 중괄호와 addEventListener 호출의 괄호를 닫습니다.</a:t>
            </a:r>
          </a:p>
          <a:p xmlns:a="http://schemas.openxmlformats.org/drawingml/2006/main">
            <a:r>
              <a:t/>
            </a:r>
          </a:p>
          <a:p xmlns:a="http://schemas.openxmlformats.org/drawingml/2006/main">
            <a:r>
              <a:t>확인할 결과: 클릭하면 제공 데이터의 온도가 보입니다. 파일에 온도가 저장되는 것은 아닙니다.</a:t>
            </a:r>
          </a:p>
          <a:p xmlns:a="http://schemas.openxmlformats.org/drawingml/2006/main">
            <a:r>
              <a:t>풀이: HTML id와 querySelector 이름, 스크립트 경로, data.js 로딩 순서, 저장과 새로고침을 확인합니다. 짧은 코드의 각 줄은 요소 찾기·사건 등록·글자 바꾸기입니다.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 / 원고 41장</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https://zeusk302-png.github.io/kdigital-physical-ai/#/sessions/2026-10-21/activity-A07</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#check와 #temperature는 실제 HTML id와 같아야 합니다.</a:t>
            </a:r>
          </a:p>
          <a:p xmlns:a="http://schemas.openxmlformats.org/drawingml/2006/main">
            <a:r>
              <a:t>textContent 대입은 클릭 때 화면을 바꾸며 data.js를 저장하지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const button = document.querySelector("#check");</a:t>
            </a:r>
          </a:p>
          <a:p xmlns:a="http://schemas.openxmlformats.org/drawingml/2006/main">
            <a:r>
              <a:t>뜻: id가 check인 요소를 찾아 button이라는 이름으로 보관합니다. #은 id를 고르는 표시입니다.</a:t>
            </a:r>
          </a:p>
          <a:p xmlns:a="http://schemas.openxmlformats.org/drawingml/2006/main">
            <a:r>
              <a:t/>
            </a:r>
          </a:p>
          <a:p xmlns:a="http://schemas.openxmlformats.org/drawingml/2006/main">
            <a:r>
              <a:t>const value = document.querySelector("#temperature");</a:t>
            </a:r>
          </a:p>
          <a:p xmlns:a="http://schemas.openxmlformats.org/drawingml/2006/main">
            <a:r>
              <a:t>뜻: id가 temperature인 요소를 찾아 value라는 이름으로 보관합니다.</a:t>
            </a:r>
          </a:p>
          <a:p xmlns:a="http://schemas.openxmlformats.org/drawingml/2006/main">
            <a:r>
              <a:t/>
            </a:r>
          </a:p>
          <a:p xmlns:a="http://schemas.openxmlformats.org/drawingml/2006/main">
            <a:r>
              <a:t>button.addEventListener("click", () =&gt; {</a:t>
            </a:r>
          </a:p>
          <a:p xmlns:a="http://schemas.openxmlformats.org/drawingml/2006/main">
            <a:r>
              <a:t>뜻: 버튼을 클릭할 때 중괄호 안의 함수를 실행하도록 등록합니다.</a:t>
            </a:r>
          </a:p>
          <a:p xmlns:a="http://schemas.openxmlformats.org/drawingml/2006/main">
            <a:r>
              <a:t/>
            </a:r>
          </a:p>
          <a:p xmlns:a="http://schemas.openxmlformats.org/drawingml/2006/main">
            <a:r>
              <a:t>  value.textContent = window.SENSOR.temperature_c;</a:t>
            </a:r>
          </a:p>
          <a:p xmlns:a="http://schemas.openxmlformats.org/drawingml/2006/main">
            <a:r>
              <a:t>뜻: 데이터의 온도 값을 화면 요소의 글자로 표시합니다. data.js 파일을 저장하는 동작은 아닙니다.</a:t>
            </a:r>
          </a:p>
          <a:p xmlns:a="http://schemas.openxmlformats.org/drawingml/2006/main">
            <a:r>
              <a:t/>
            </a:r>
          </a:p>
          <a:p xmlns:a="http://schemas.openxmlformats.org/drawingml/2006/main">
            <a:r>
              <a:t>});</a:t>
            </a:r>
          </a:p>
          <a:p xmlns:a="http://schemas.openxmlformats.org/drawingml/2006/main">
            <a:r>
              <a:t>뜻: 클릭 처리 함수의 중괄호와 addEventListener 호출의 괄호를 닫습니다.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D:\KDigital_PhysicalAI\.build\copyedited-ppt\spec-2026-10-21.json#slide-41</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https://zeusk302-png.github.io/kdigital-physical-ai/#/sessions/2026-10-21/activity-A07</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querySelector로 화면 요소를 찾습니다.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클릭하면 제공 데이터의 온도가 보입니다. 파일에 온도가 저장되는 것은 아닙니다.</a:t>
            </a:r>
          </a:p>
          <a:p xmlns:a="http://schemas.openxmlformats.org/drawingml/2006/main">
            <a:r>
              <a:t/>
            </a:r>
          </a:p>
          <a:p xmlns:a="http://schemas.openxmlformats.org/drawingml/2006/main">
            <a:r>
              <a:t>앞에서 배운 내용: 클릭은 브라우저에서 일어난 사건입니다. 처리 함수가 화면의 글자를 바꿉니다.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HTML id와 querySelector 이름, 스크립트 경로, data.js 로딩 순서, 저장과 새로고침을 확인합니다. 짧은 코드의 각 줄은 요소 찾기·사건 등록·글자 바꾸기입니다.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outputs/2026-10-21/lesson.md#A07</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https://zeusk302-png.github.io/kdigital-physical-ai/#/sessions/2026-10-21/activity-A07</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클릭하면 제공 데이터의 온도가 보입니다.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버튼이 반응하지 않으면 무엇을 대조하나요?</a:t>
            </a:r>
          </a:p>
          <a:p xmlns:a="http://schemas.openxmlformats.org/drawingml/2006/main">
            <a:r>
              <a:t/>
            </a:r>
          </a:p>
          <a:p xmlns:a="http://schemas.openxmlformats.org/drawingml/2006/main">
            <a:r>
              <a:t>정답과 풀이: HTML id와 querySelector 이름, 스크립트 경로, data.js 로딩 순서, 저장과 새로고침을 확인합니다. 짧은 코드의 각 줄은 요소 찾기·사건 등록·글자 바꾸기입니다.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https://zeusk302-png.github.io/kdigital-physical-ai/#/sessions/2026-10-21/activity-A07</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A08의 개념과 원문 해설입니다.</a:t>
            </a:r>
          </a:p>
          <a:p xmlns:a="http://schemas.openxmlformats.org/drawingml/2006/main">
            <a:r>
              <a:t>### A08 · 데이터와 화면 내용 연결</a:t>
            </a:r>
          </a:p>
          <a:p xmlns:a="http://schemas.openxmlformats.org/drawingml/2006/main">
            <a:r>
              <a:t/>
            </a:r>
          </a:p>
          <a:p xmlns:a="http://schemas.openxmlformats.org/drawingml/2006/main">
            <a:r>
              <a:t>**뜻과 비유.** 데이터는 프로그램이 보여 줄 값이며 화면 요소는 그 값을 담는 자리입니다. textContent는 글자를 넣는 방법으로 오늘의 단순 숫자·문구 표시에 사용합니다.</a:t>
            </a:r>
          </a:p>
          <a:p xmlns:a="http://schemas.openxmlformats.org/drawingml/2006/main">
            <a:r>
              <a:t/>
            </a:r>
          </a:p>
          <a:p xmlns:a="http://schemas.openxmlformats.org/drawingml/2006/main">
            <a:r>
              <a:t>**왜 필요한가.** 어느 파일의 값이 어느 화면 자리로 이동하는지 알면 작은 변경을 스스로 확인할 수 있습니다.</a:t>
            </a:r>
          </a:p>
          <a:p xmlns:a="http://schemas.openxmlformats.org/drawingml/2006/main">
            <a:r>
              <a:t/>
            </a:r>
          </a:p>
          <a:p xmlns:a="http://schemas.openxmlformats.org/drawingml/2006/main">
            <a:r>
              <a:t>**예를 따라 읽기.** data.js의 temperature_c를 24.5로 바꾼 뒤 클릭하면 온도 자리에 24.5가 표시됩니다.</a:t>
            </a:r>
          </a:p>
          <a:p xmlns:a="http://schemas.openxmlformats.org/drawingml/2006/main">
            <a:r>
              <a:t/>
            </a:r>
          </a:p>
          <a:p xmlns:a="http://schemas.openxmlformats.org/drawingml/2006/main">
            <a:r>
              <a:t>**헷갈리는 반례.** HTML에 처음 적힌 22.5와 클릭 후 data.js에서 읽은 값은 출처가 다르므로 수정 위치를 구분합니다.</a:t>
            </a:r>
          </a:p>
          <a:p xmlns:a="http://schemas.openxmlformats.org/drawingml/2006/main">
            <a:r>
              <a:t/>
            </a:r>
          </a:p>
          <a:p xmlns:a="http://schemas.openxmlformats.org/drawingml/2006/main">
            <a:r>
              <a:t>**직접 적용.** data.js의 세 필드 읽기 → 온도 하나를 24.5로 바꾸기 → 새로고침 직후와 클릭 후 비교하기 → 초기 HTML 값과 동적 값의 출처 쓰기</a:t>
            </a:r>
          </a:p>
          <a:p xmlns:a="http://schemas.openxmlformats.org/drawingml/2006/main">
            <a:r>
              <a:t/>
            </a:r>
          </a:p>
          <a:p xmlns:a="http://schemas.openxmlformats.org/drawingml/2006/main">
            <a:r>
              <a:t>**설명할 질문.** 새로고침 직후와 클릭 뒤 값이 다른 이유는 무엇인가요?</a:t>
            </a:r>
          </a:p>
          <a:p xmlns:a="http://schemas.openxmlformats.org/drawingml/2006/main">
            <a:r>
              <a:t/>
            </a:r>
          </a:p>
          <a:p xmlns:a="http://schemas.openxmlformats.org/drawingml/2006/main">
            <a:r>
              <a:t>**막혔을 때.** 값이 그대로면 클릭까지 수행했는지 봅니다. 초기 HTML 값만 확인하고 변경 실패라고 판단하지 않습니다.</a:t>
            </a:r>
          </a:p>
          <a:p xmlns:a="http://schemas.openxmlformats.org/drawingml/2006/main">
            <a:r>
              <a:t/>
            </a:r>
          </a:p>
          <a:p xmlns:a="http://schemas.openxmlformats.org/drawingml/2006/main">
            <a:r>
              <a:t>입력·답칸·확인 순서는 [실습지의 A08](practice-guide.md#a08)와 [활동 원문](examples/course/data/A08_input.md)에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outputs/2026-10-21/lesson.md#A08</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https://zeusk302-png.github.io/kdigital-physical-ai/#/sessions/2026-10-21/activity-A08</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HTML의 처음 숫자와 데이터 값은 다릅니다.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데이터와 초기 글자의 예</a:t>
            </a:r>
          </a:p>
          <a:p xmlns:a="http://schemas.openxmlformats.org/drawingml/2006/main">
            <a:r>
              <a:t>짧은 완성 데이터 파일: data.js</a:t>
            </a:r>
          </a:p>
          <a:p xmlns:a="http://schemas.openxmlformats.org/drawingml/2006/main">
            <a:r>
              <a:t/>
            </a:r>
          </a:p>
          <a:p xmlns:a="http://schemas.openxmlformats.org/drawingml/2006/main">
            <a:r>
              <a:t>window.SENSOR = {</a:t>
            </a:r>
          </a:p>
          <a:p xmlns:a="http://schemas.openxmlformats.org/drawingml/2006/main">
            <a:r>
              <a:t>뜻: 브라우저에서 사용할 SENSOR 데이터를 만들고 속성 목록을 시작합니다.</a:t>
            </a:r>
          </a:p>
          <a:p xmlns:a="http://schemas.openxmlformats.org/drawingml/2006/main">
            <a:r>
              <a:t/>
            </a:r>
          </a:p>
          <a:p xmlns:a="http://schemas.openxmlformats.org/drawingml/2006/main">
            <a:r>
              <a:t>  location: "입구",</a:t>
            </a:r>
          </a:p>
          <a:p xmlns:a="http://schemas.openxmlformats.org/drawingml/2006/main">
            <a:r>
              <a:t>뜻: 장소 이름으로 문자 입구를 저장합니다. 쉼표 뒤에 다음 속성을 씁니다.</a:t>
            </a:r>
          </a:p>
          <a:p xmlns:a="http://schemas.openxmlformats.org/drawingml/2006/main">
            <a:r>
              <a:t/>
            </a:r>
          </a:p>
          <a:p xmlns:a="http://schemas.openxmlformats.org/drawingml/2006/main">
            <a:r>
              <a:t>  temperature_c: 26</a:t>
            </a:r>
          </a:p>
          <a:p xmlns:a="http://schemas.openxmlformats.org/drawingml/2006/main">
            <a:r>
              <a:t>뜻: 섭씨 온도를 숫자 26으로 저장합니다. 따옴표로 감싸면 문자가 됩니다.</a:t>
            </a:r>
          </a:p>
          <a:p xmlns:a="http://schemas.openxmlformats.org/drawingml/2006/main">
            <a:r>
              <a:t/>
            </a:r>
          </a:p>
          <a:p xmlns:a="http://schemas.openxmlformats.org/drawingml/2006/main">
            <a:r>
              <a:t>};</a:t>
            </a:r>
          </a:p>
          <a:p xmlns:a="http://schemas.openxmlformats.org/drawingml/2006/main">
            <a:r>
              <a:t>뜻: 데이터 객체를 닫고 대입 문장을 끝냅니다.</a:t>
            </a:r>
          </a:p>
          <a:p xmlns:a="http://schemas.openxmlformats.org/drawingml/2006/main">
            <a:r>
              <a:t/>
            </a:r>
          </a:p>
          <a:p xmlns:a="http://schemas.openxmlformats.org/drawingml/2006/main">
            <a:r>
              <a:t>확인할 결과: 처음 HTML이 22.5면 열기 직후도 22.5입니다. 클릭 뒤 데이터 26을 표시합니다.</a:t>
            </a:r>
          </a:p>
          <a:p xmlns:a="http://schemas.openxmlformats.org/drawingml/2006/main">
            <a:r>
              <a:t>풀이: 초기 HTML22.5, 클릭 후26입니다. 클릭은 화면 글자를 바꾸며 데이터 파일을 저장하지 않습니다. 실제 센서 데이터가 아니라 가상 데이터입니다.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 / 원고 46장</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https://zeusk302-png.github.io/kdigital-physical-ai/#/sessions/2026-10-21/activity-A08</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temperature_c: 26은 원고의 값 수정 연습입니다.</a:t>
            </a:r>
          </a:p>
          <a:p xmlns:a="http://schemas.openxmlformats.org/drawingml/2006/main">
            <a:r>
              <a:t>실제 제공 data.js 초기값 22.5와 수정 뒤의 26을 구별합니다.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window.SENSOR = {</a:t>
            </a:r>
          </a:p>
          <a:p xmlns:a="http://schemas.openxmlformats.org/drawingml/2006/main">
            <a:r>
              <a:t>뜻: 브라우저에서 사용할 SENSOR 데이터를 만들고 속성 목록을 시작합니다.</a:t>
            </a:r>
          </a:p>
          <a:p xmlns:a="http://schemas.openxmlformats.org/drawingml/2006/main">
            <a:r>
              <a:t/>
            </a:r>
          </a:p>
          <a:p xmlns:a="http://schemas.openxmlformats.org/drawingml/2006/main">
            <a:r>
              <a:t>  location: "입구",</a:t>
            </a:r>
          </a:p>
          <a:p xmlns:a="http://schemas.openxmlformats.org/drawingml/2006/main">
            <a:r>
              <a:t>뜻: 장소 이름으로 문자 입구를 저장합니다. 쉼표 뒤에 다음 속성을 씁니다.</a:t>
            </a:r>
          </a:p>
          <a:p xmlns:a="http://schemas.openxmlformats.org/drawingml/2006/main">
            <a:r>
              <a:t/>
            </a:r>
          </a:p>
          <a:p xmlns:a="http://schemas.openxmlformats.org/drawingml/2006/main">
            <a:r>
              <a:t>  temperature_c: 26</a:t>
            </a:r>
          </a:p>
          <a:p xmlns:a="http://schemas.openxmlformats.org/drawingml/2006/main">
            <a:r>
              <a:t>뜻: 섭씨 온도를 숫자 26으로 저장합니다. 따옴표로 감싸면 문자가 됩니다.</a:t>
            </a:r>
          </a:p>
          <a:p xmlns:a="http://schemas.openxmlformats.org/drawingml/2006/main">
            <a:r>
              <a:t/>
            </a:r>
          </a:p>
          <a:p xmlns:a="http://schemas.openxmlformats.org/drawingml/2006/main">
            <a:r>
              <a:t>};</a:t>
            </a:r>
          </a:p>
          <a:p xmlns:a="http://schemas.openxmlformats.org/drawingml/2006/main">
            <a:r>
              <a:t>뜻: 데이터 객체를 닫고 대입 문장을 끝냅니다.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D:\KDigital_PhysicalAI\.build\copyedited-ppt\spec-2026-10-21.json#slide-46</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https://zeusk302-png.github.io/kdigital-physical-ai/#/sessions/2026-10-21/activity-A08</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window.SENSOR에 값을 모아 둡니다.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처음 HTML이 22.5면 열기 직후도 22.5입니다. 클릭 뒤 데이터 26을 표시합니다.</a:t>
            </a:r>
          </a:p>
          <a:p xmlns:a="http://schemas.openxmlformats.org/drawingml/2006/main">
            <a:r>
              <a:t/>
            </a:r>
          </a:p>
          <a:p xmlns:a="http://schemas.openxmlformats.org/drawingml/2006/main">
            <a:r>
              <a:t>앞에서 배운 내용: HTML의 처음 숫자와 데이터 값은 다릅니다. 버튼이 data.js의 값을 읽어 표시합니다.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초기 HTML22.5, 클릭 후26입니다. 클릭은 화면 글자를 바꾸며 데이터 파일을 저장하지 않습니다. 실제 센서 데이터가 아니라 가상 데이터입니다.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outputs/2026-10-21/lesson.md#A08</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https://zeusk302-png.github.io/kdigital-physical-ai/#/sessions/2026-10-21/activity-A08</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처음 HTML이 22.5면 열기 직후도 22.5입니다.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새로고침 직후와 클릭 뒤 값을 쓰세요. 클릭하면 data.js도 바뀌나요?</a:t>
            </a:r>
          </a:p>
          <a:p xmlns:a="http://schemas.openxmlformats.org/drawingml/2006/main">
            <a:r>
              <a:t/>
            </a:r>
          </a:p>
          <a:p xmlns:a="http://schemas.openxmlformats.org/drawingml/2006/main">
            <a:r>
              <a:t>정답과 풀이: 초기 HTML22.5, 클릭 후26입니다. 클릭은 화면 글자를 바꾸며 데이터 파일을 저장하지 않습니다. 실제 센서 데이터가 아니라 가상 데이터입니다.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https://zeusk302-png.github.io/kdigital-physical-ai/#/sessions/2026-10-21/activity-A08</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A09의 개념과 원문 해설입니다.</a:t>
            </a:r>
          </a:p>
          <a:p xmlns:a="http://schemas.openxmlformats.org/drawingml/2006/main">
            <a:r>
              <a:t>### A09 · 오류 위치와 최소 복구</a:t>
            </a:r>
          </a:p>
          <a:p xmlns:a="http://schemas.openxmlformats.org/drawingml/2006/main">
            <a:r>
              <a:t/>
            </a:r>
          </a:p>
          <a:p xmlns:a="http://schemas.openxmlformats.org/drawingml/2006/main">
            <a:r>
              <a:t>**뜻과 비유.** 오류를 찾을 때는 증상·실제 파일·가장 최근에 바꾼 부분을 순서대로 확인합니다. 코드 전체를 다시 쓰기보다 연결 하나를 비교합니다.</a:t>
            </a:r>
          </a:p>
          <a:p xmlns:a="http://schemas.openxmlformats.org/drawingml/2006/main">
            <a:r>
              <a:t/>
            </a:r>
          </a:p>
          <a:p xmlns:a="http://schemas.openxmlformats.org/drawingml/2006/main">
            <a:r>
              <a:t>**왜 필요한가.** 작은 오타를 찾는 과정은 화면이 여러 파일의 연결로 만들어진다는 사실을 보여 줍니다.</a:t>
            </a:r>
          </a:p>
          <a:p xmlns:a="http://schemas.openxmlformats.org/drawingml/2006/main">
            <a:r>
              <a:t/>
            </a:r>
          </a:p>
          <a:p xmlns:a="http://schemas.openxmlformats.org/drawingml/2006/main">
            <a:r>
              <a:t>**예를 따라 읽기.** 복사본의 id ="check"를 id ="checkx"로 바꾸면 #check 선택과 어긋납니다. 원복하면 클릭이 돌아옵니다.</a:t>
            </a:r>
          </a:p>
          <a:p xmlns:a="http://schemas.openxmlformats.org/drawingml/2006/main">
            <a:r>
              <a:t/>
            </a:r>
          </a:p>
          <a:p xmlns:a="http://schemas.openxmlformats.org/drawingml/2006/main">
            <a:r>
              <a:t>**헷갈리는 반례.** 정상 원본까지 고치면 비교 기준을 잃으므로 의도적 오류는 작업 복사본에만 만듭니다.</a:t>
            </a:r>
          </a:p>
          <a:p xmlns:a="http://schemas.openxmlformats.org/drawingml/2006/main">
            <a:r>
              <a:t/>
            </a:r>
          </a:p>
          <a:p xmlns:a="http://schemas.openxmlformats.org/drawingml/2006/main">
            <a:r>
              <a:t>**직접 적용.** 복사본에서 id 한 글자 바꾸기 → 클릭 반응이 없는 증상 관찰하기 → HTML과 JavaScript 이름 대조하기 → 원복 후 같은 행동으로 재확인하기</a:t>
            </a:r>
          </a:p>
          <a:p xmlns:a="http://schemas.openxmlformats.org/drawingml/2006/main">
            <a:r>
              <a:t/>
            </a:r>
          </a:p>
          <a:p xmlns:a="http://schemas.openxmlformats.org/drawingml/2006/main">
            <a:r>
              <a:t>**설명할 질문.** 원복 후에도 같은 행동으로 확인해야 하는 이유는 무엇인가요?</a:t>
            </a:r>
          </a:p>
          <a:p xmlns:a="http://schemas.openxmlformats.org/drawingml/2006/main">
            <a:r>
              <a:t/>
            </a:r>
          </a:p>
          <a:p xmlns:a="http://schemas.openxmlformats.org/drawingml/2006/main">
            <a:r>
              <a:t>**막혔을 때.** 개발자 도구가 익숙하지 않으면 먼저 원문 이름 비교로 찾고 강사가 콘솔 오류를 보여 줍니다.</a:t>
            </a:r>
          </a:p>
          <a:p xmlns:a="http://schemas.openxmlformats.org/drawingml/2006/main">
            <a:r>
              <a:t/>
            </a:r>
          </a:p>
          <a:p xmlns:a="http://schemas.openxmlformats.org/drawingml/2006/main">
            <a:r>
              <a:t>입력·답칸·확인 순서는 [실습지의 A09](practice-guide.md#a09)와 [활동 원문](examples/course/data/A09_input.md)에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outputs/2026-10-21/lesson.md#A09</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https://zeusk302-png.github.io/kdigital-physical-ai/#/sessions/2026-10-21/activity-A09</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보이는 문제와 생각한 원인을 구분합니다.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id를 유지하거나 선택자를 함께 맞춥니다.</a:t>
            </a:r>
          </a:p>
          <a:p xmlns:a="http://schemas.openxmlformats.org/drawingml/2006/main">
            <a:r>
              <a:t/>
            </a:r>
          </a:p>
          <a:p xmlns:a="http://schemas.openxmlformats.org/drawingml/2006/main">
            <a:r>
              <a:t>이 표에서 볼 것: 증상과 원인을 먼저 나누어 읽습니다. 연결 이름 한 곳을 대조해 복구합니다.</a:t>
            </a:r>
          </a:p>
          <a:p xmlns:a="http://schemas.openxmlformats.org/drawingml/2006/main">
            <a:r>
              <a:t>예상 결과: 이름을 맞춘 뒤 같은 버튼을 눌러 봅니다. 원문만 읽고 동작 복구를 단정하지 않습니다.</a:t>
            </a:r>
          </a:p>
          <a:p xmlns:a="http://schemas.openxmlformats.org/drawingml/2006/main">
            <a:r>
              <a:t/>
            </a:r>
          </a:p>
          <a:p xmlns:a="http://schemas.openxmlformats.org/drawingml/2006/main">
            <a:r>
              <a:t>풀이: id를 check로 돌리거나 선택자를 #read로 맞춥니다. 제공 연결 경로를 유지하는 최소 변경을 우선하고 실제 클릭으로 결과를 확인합니다.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https://zeusk302-png.github.io/kdigital-physical-ai/#/sessions/2026-10-21/activity-A09</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표의 항목과 값은 원문 그대로 표시합니다.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이름을 맞춘 뒤 같은 버튼을 눌러 봅니다. 코드만 읽고 버튼이 고쳐졌다고 쓰지 않습니다.</a:t>
            </a:r>
          </a:p>
          <a:p xmlns:a="http://schemas.openxmlformats.org/drawingml/2006/main">
            <a:r>
              <a:t/>
            </a:r>
          </a:p>
          <a:p xmlns:a="http://schemas.openxmlformats.org/drawingml/2006/main">
            <a:r>
              <a:t>앞에서 배운 내용: 증상과 원인을 먼저 나누어 읽습니다. 연결 이름 한 곳을 대조해 복구합니다.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id를 check로 돌리거나 선택자를 #read로 맞춥니다. 제공 연결 경로를 유지하는 최소 변경을 우선하고 실제 클릭으로 결과를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outputs/2026-10-21/lesson.md#A09</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https://zeusk302-png.github.io/kdigital-physical-ai/#/sessions/2026-10-21/activity-A09</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이름을 맞춘 뒤 같은 버튼을 눌러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id가 read이고 선택자가 #check입니다. 두 가지 복구 방법을 설명해 보세요.</a:t>
            </a:r>
          </a:p>
          <a:p xmlns:a="http://schemas.openxmlformats.org/drawingml/2006/main">
            <a:r>
              <a:t/>
            </a:r>
          </a:p>
          <a:p xmlns:a="http://schemas.openxmlformats.org/drawingml/2006/main">
            <a:r>
              <a:t>정답과 풀이: id를 check로 돌리거나 선택자를 #read로 맞춥니다. 제공 연결 경로를 유지하는 최소 변경을 우선하고 실제 클릭으로 결과를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https://zeusk302-png.github.io/kdigital-physical-ai/#/sessions/2026-10-21/activity-A09</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4교시 주제는 React의 화면 부품입니다.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outputs/2026-10-21/beginner-start.md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https://zeusk302-png.github.io/kdigital-physical-ai/#/sessions/2026-10-21/activity-A10</a:t>
            </a:r>
          </a:p>
          <a:p xmlns:a="http://schemas.openxmlformats.org/drawingml/2006/main">
            <a:r>
              <a:t>공식 자료: https://developer.mozilla.org/en-US/docs/Learn_web_development/Core/Structuring_content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JSX 작성에는 변환 단계가 필요합니다. 제공 번들은 브라우저가 실행합니다.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outputs/2026-10-21/lesson.md#A10</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https://zeusk302-png.github.io/kdigital-physical-ai/#/sessions/2026-10-21/activity-A10</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JSX 작성에는 변환 단계가 필요합니다.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A10의 개념과 원문 해설입니다.</a:t>
            </a:r>
          </a:p>
          <a:p xmlns:a="http://schemas.openxmlformats.org/drawingml/2006/main">
            <a:r>
              <a:t>### A10 · React와 컴포넌트</a:t>
            </a:r>
          </a:p>
          <a:p xmlns:a="http://schemas.openxmlformats.org/drawingml/2006/main">
            <a:r>
              <a:t/>
            </a:r>
          </a:p>
          <a:p xmlns:a="http://schemas.openxmlformats.org/drawingml/2006/main">
            <a:r>
              <a:t>#### 사례로 이해하기 · React 부품과 브라우저가 실행하는 파일</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센서 카드를 여러 장소에 쓰려 합니다. 카드마다 제목과 온도를 직접 복사하면 한 곳을 고칠 때 다른 곳도 찾아야 합니다. 공통 화면 부품에 장소 값을 전달하면 구조를 재사용할 수 있습니다. 다만 소스 파일과 실제 실행 파일이 다르면 소스만 고치고 화면이 바뀌었다고 기대해서는 안 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React 컴포넌트는 화면을 만드는 함수이며 props는 바깥에서 그 부품에 전달하는 값입니다. state는 화면 부품이 기억하고 바꾸는 현재 값입니다. JSX는 JavaScript 안에서 화면 구조를 적는 문법입니다. 일반 브라우저는 JSX가 들어 있는 .jsx 소스를 그대로 실행하지 못하며 변환 단계가 필요합니다. 번들은 변환된 코드와 필요한 라이브러리를 묶어 브라우저가 읽도록 만든 파일입니다. 제공 index.html은 app.bundle.js를 실행합니다.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App.jsx의 `&lt;SensorCard location={window.SENSOR.location} /&gt;`은 같은 부품에 장소를 전달합니다. SensorCard 안에서 useState는 SENSOR.temperature_c를 시작 값으로 기억합니다. 클릭은 setTemperature로 현재 값을 0.5 올립니다. 제공 데이터가 22.5라면 두 번 클릭 뒤 23.5가 보이며 새로고침하면 22.5로 돌아옵니다. 클릭이 data.js나 센서 장비에 저장한 것은 아닙니다. data.js는 HTML이 별도로 읽으므로 장소를 바꿔 저장·새로고침하면 반영됩니다. App.jsx의 문구나 증가량을 바꾸려면 번들을 다시 만드는 환경이 필요하고 오늘 필수 활동은 제공 번들을 사용합니다.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“장소 이름 바꾸기”, “클릭한 현재 온도 올리기”, “증가량을 1로 바꾸기”를 데이터 파일·상태 변경·소스와 번들 재생성에 각각 연결하세요. 원래 값이 24라면 세 번 클릭과 새로고침 뒤의 값도 예상하세요.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장소는 data.js, 현재 값은 브라우저 state, 증가량은 App.jsx 수정과 빌드가 필요합니다. 세 번 뒤 25.5이고 새로고침 뒤 24입니다. “JSX는 HTML과 같아서 파일을 열면 된다”는 답은 변환을 빠뜨렸습니다. “클릭값이 저장됐다”는 답은 메모리와 파일을 혼동합니다.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props와 state는 같은가요? 전달 입력과 부품의 현재 기억입니다. ② 번들을 직접 고치나요? 생성 결과보다 소스를 수정하고 다시 만드는 경로가 기준입니다. ③ React가 MCP를 자동 호출하나요? 별도 연결 처리 없이는 호출하지 않습니다.</a:t>
            </a:r>
          </a:p>
          <a:p xmlns:a="http://schemas.openxmlformats.org/drawingml/2006/main">
            <a:r>
              <a:t/>
            </a:r>
          </a:p>
          <a:p xmlns:a="http://schemas.openxmlformats.org/drawingml/2006/main">
            <a:r>
              <a:t>**뜻과 비유.** React는 데이터와 상태를 이용해 화면을 구성하는 JavaScript 라이브러리입니다. 컴포넌트는 내용과 동작을 함께 설명하는 재사용 가능한 화면 부품입니다.</a:t>
            </a:r>
          </a:p>
          <a:p xmlns:a="http://schemas.openxmlformats.org/drawingml/2006/main">
            <a:r>
              <a:t/>
            </a:r>
          </a:p>
          <a:p xmlns:a="http://schemas.openxmlformats.org/drawingml/2006/main">
            <a:r>
              <a:t>**왜 필요한가.** 같은 센서 안내 형식을 여러 곳에 쓸 때 각 부품의 입력과 상태를 구분할 수 있습니다.</a:t>
            </a:r>
          </a:p>
          <a:p xmlns:a="http://schemas.openxmlformats.org/drawingml/2006/main">
            <a:r>
              <a:t/>
            </a:r>
          </a:p>
          <a:p xmlns:a="http://schemas.openxmlformats.org/drawingml/2006/main">
            <a:r>
              <a:t>**예를 따라 읽기.** SensorCard는 장소와 온도를 보여 주는 제공된 완성 부품입니다. App은 제목과 이 부품을 화면에 배치합니다.</a:t>
            </a:r>
          </a:p>
          <a:p xmlns:a="http://schemas.openxmlformats.org/drawingml/2006/main">
            <a:r>
              <a:t/>
            </a:r>
          </a:p>
          <a:p xmlns:a="http://schemas.openxmlformats.org/drawingml/2006/main">
            <a:r>
              <a:t>**헷갈리는 반례.** React는 HTML이나 CSS를 없애는 도구가 아니며 화면의 내용과 모양을 여전히 이해해야 합니다.</a:t>
            </a:r>
          </a:p>
          <a:p xmlns:a="http://schemas.openxmlformats.org/drawingml/2006/main">
            <a:r>
              <a:t/>
            </a:r>
          </a:p>
          <a:p xmlns:a="http://schemas.openxmlformats.org/drawingml/2006/main">
            <a:r>
              <a:t>**직접 적용.** code/react/index.html 실행하기 → App.jsx에서 두 함수 이름 찾기 → 제목·SensorCard·안내문 위치 연결하기 → 정적 화면과 React 부품의 공통점 적기</a:t>
            </a:r>
          </a:p>
          <a:p xmlns:a="http://schemas.openxmlformats.org/drawingml/2006/main">
            <a:r>
              <a:t/>
            </a:r>
          </a:p>
          <a:p xmlns:a="http://schemas.openxmlformats.org/drawingml/2006/main">
            <a:r>
              <a:t>**설명할 질문.** 컴포넌트는 표의 데이터 한 행과 같은 말인가요?</a:t>
            </a:r>
          </a:p>
          <a:p xmlns:a="http://schemas.openxmlformats.org/drawingml/2006/main">
            <a:r>
              <a:t/>
            </a:r>
          </a:p>
          <a:p xmlns:a="http://schemas.openxmlformats.org/drawingml/2006/main">
            <a:r>
              <a:t>**막혔을 때.** 패키지 설치가 없어도 제공 app.bundle.js로 화면을 볼 수 있습니다. JSX를 브라우저가 그대로 읽는다고 가정하지 않습니다.</a:t>
            </a:r>
          </a:p>
          <a:p xmlns:a="http://schemas.openxmlformats.org/drawingml/2006/main">
            <a:r>
              <a:t/>
            </a:r>
          </a:p>
          <a:p xmlns:a="http://schemas.openxmlformats.org/drawingml/2006/main">
            <a:r>
              <a:t>입력·답칸·확인 순서는 [실습지의 A10](practice-guide.md#a10)와 [활동 원문](examples/course/data/A10_input.md)에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outputs/2026-10-21/lesson.md#A10</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https://zeusk302-png.github.io/kdigital-physical-ai/#/sessions/2026-10-21/activity-A10</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컴포넌트는 재사용하는 화면 함수입니다.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React의 화면 부품의 예</a:t>
            </a:r>
          </a:p>
          <a:p xmlns:a="http://schemas.openxmlformats.org/drawingml/2006/main">
            <a:r>
              <a:t>JSX 발췌. 브라우저는 제공 번들을 실행합니다.</a:t>
            </a:r>
          </a:p>
          <a:p xmlns:a="http://schemas.openxmlformats.org/drawingml/2006/main">
            <a:r>
              <a:t/>
            </a:r>
          </a:p>
          <a:p xmlns:a="http://schemas.openxmlformats.org/drawingml/2006/main">
            <a:r>
              <a:t>&lt;SensorCard location={window.SENSOR.location} /&gt;</a:t>
            </a:r>
          </a:p>
          <a:p xmlns:a="http://schemas.openxmlformats.org/drawingml/2006/main">
            <a:r>
              <a:t>뜻: SensorCard에 데이터의 장소 이름을 location이라는 props로 건넵니다. JSX이므로 변환된 번들을 통해 실행합니다.</a:t>
            </a:r>
          </a:p>
          <a:p xmlns:a="http://schemas.openxmlformats.org/drawingml/2006/main">
            <a:r>
              <a:t/>
            </a:r>
          </a:p>
          <a:p xmlns:a="http://schemas.openxmlformats.org/drawingml/2006/main">
            <a:r>
              <a:t>확인할 결과: App.jsx는 작성 소스입니다. app.bundle.js는 변환한 실행 파일입니다. JSX를 일반 브라우저가 그대로 실행하지 못합니다.</a:t>
            </a:r>
          </a:p>
          <a:p xmlns:a="http://schemas.openxmlformats.org/drawingml/2006/main">
            <a:r>
              <a:t>풀이: 아닙니다. source를 바꾼 뒤 번들을 다시 만드는 환경이 필요합니다. 설치와 전체 앱 작성은 필수가 아니며 제공 index.html은 data.js와 app.bundle.js를 로드합니다.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 / 원고 57장</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https://zeusk302-png.github.io/kdigital-physical-ai/#/sessions/2026-10-21/activity-A10</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location의 중괄호는 SENSOR.location 값을 props로 전달합니다.</a:t>
            </a:r>
          </a:p>
          <a:p xmlns:a="http://schemas.openxmlformats.org/drawingml/2006/main">
            <a:r>
              <a:t>JSX 발췌 자체가 아니라 변환한 app.bundle.js가 브라우저에서 실행됩니다.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&lt;SensorCard location={window.SENSOR.location} /&gt;</a:t>
            </a:r>
          </a:p>
          <a:p xmlns:a="http://schemas.openxmlformats.org/drawingml/2006/main">
            <a:r>
              <a:t>뜻: SensorCard에 데이터의 장소 이름을 location이라는 props로 건넵니다. JSX이므로 변환된 번들을 통해 실행합니다.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D:\KDigital_PhysicalAI\.build\copyedited-ppt\spec-2026-10-21.json#slide-57</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https://zeusk302-png.github.io/kdigital-physical-ai/#/sessions/2026-10-21/activity-A10</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SensorCard는 다시 쓸 수 있는 화면 함수입니다.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App.jsx는 작성 소스입니다. app.bundle.js는 변환한 실행 파일입니다. JSX를 일반 브라우저가 그대로 실행하지 못합니다.</a:t>
            </a:r>
          </a:p>
          <a:p xmlns:a="http://schemas.openxmlformats.org/drawingml/2006/main">
            <a:r>
              <a:t/>
            </a:r>
          </a:p>
          <a:p xmlns:a="http://schemas.openxmlformats.org/drawingml/2006/main">
            <a:r>
              <a:t>앞에서 배운 내용: 컴포넌트는 재사용하는 화면 함수입니다. props는 부품에 전달하는 입력입니다.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아닙니다. source를 바꾼 뒤 번들을 다시 만드는 환경이 필요합니다. 설치와 전체 앱 작성은 필수가 아니며 제공 index.html은 data.js와 app.bundle.js를 로드합니다.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outputs/2026-10-21/lesson.md#A10</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https://zeusk302-png.github.io/kdigital-physical-ai/#/sessions/2026-10-21/activity-A10</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App.jsx는 작성 소스입니다.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App.jsx만 고치고 번들은 그대로입니다. 화면이 바뀌었다고 판단할 수 있나요?</a:t>
            </a:r>
          </a:p>
          <a:p xmlns:a="http://schemas.openxmlformats.org/drawingml/2006/main">
            <a:r>
              <a:t/>
            </a:r>
          </a:p>
          <a:p xmlns:a="http://schemas.openxmlformats.org/drawingml/2006/main">
            <a:r>
              <a:t>정답과 풀이: 아닙니다. source를 바꾼 뒤 번들을 다시 만드는 환경이 필요합니다. 설치와 전체 앱 작성은 필수가 아니며 제공 index.html은 data.js와 app.bundle.js를 로드합니다.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https://zeusk302-png.github.io/kdigital-physical-ai/#/sessions/2026-10-21/activity-A10</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A11의 개념과 원문 해설입니다.</a:t>
            </a:r>
          </a:p>
          <a:p xmlns:a="http://schemas.openxmlformats.org/drawingml/2006/main">
            <a:r>
              <a:t>### A11 · props와 제공 데이터 수정</a:t>
            </a:r>
          </a:p>
          <a:p xmlns:a="http://schemas.openxmlformats.org/drawingml/2006/main">
            <a:r>
              <a:t/>
            </a:r>
          </a:p>
          <a:p xmlns:a="http://schemas.openxmlformats.org/drawingml/2006/main">
            <a:r>
              <a:t>**뜻과 비유.** props는 부모가 부품에 전달하는 입력입니다. 오늘은 장소를 전달하고 온도의 첫 값을 제공 데이터에서 읽는 작은 완성 예제를 사용합니다.</a:t>
            </a:r>
          </a:p>
          <a:p xmlns:a="http://schemas.openxmlformats.org/drawingml/2006/main">
            <a:r>
              <a:t/>
            </a:r>
          </a:p>
          <a:p xmlns:a="http://schemas.openxmlformats.org/drawingml/2006/main">
            <a:r>
              <a:t>**왜 필요한가.** 부품을 처음부터 새로 만들지 않아도 어떤 입력을 바꾸면 어느 화면이 달라지는지 확인할 수 있습니다.</a:t>
            </a:r>
          </a:p>
          <a:p xmlns:a="http://schemas.openxmlformats.org/drawingml/2006/main">
            <a:r>
              <a:t/>
            </a:r>
          </a:p>
          <a:p xmlns:a="http://schemas.openxmlformats.org/drawingml/2006/main">
            <a:r>
              <a:t>**예를 따라 읽기.** work/react/data.js에서 location을 창고,temperature_c를 24.5로 바꾸고 새로고침하면 부품의 내용이 바뀝니다.</a:t>
            </a:r>
          </a:p>
          <a:p xmlns:a="http://schemas.openxmlformats.org/drawingml/2006/main">
            <a:r>
              <a:t/>
            </a:r>
          </a:p>
          <a:p xmlns:a="http://schemas.openxmlformats.org/drawingml/2006/main">
            <a:r>
              <a:t>**헷갈리는 반례.** JSX의 중괄호는 여기서 JavaScript 값을 넣는 자리이며 CSS 규칙의 중괄호와 역할이 다릅니다.</a:t>
            </a:r>
          </a:p>
          <a:p xmlns:a="http://schemas.openxmlformats.org/drawingml/2006/main">
            <a:r>
              <a:t/>
            </a:r>
          </a:p>
          <a:p xmlns:a="http://schemas.openxmlformats.org/drawingml/2006/main">
            <a:r>
              <a:t>**직접 적용.** 작업 React 폴더 열기 → data.js의 장소와 온도 수정하기 → 새로고침 해두 표시 비교하기 → props로 전달되는 장소 경로 쓰기</a:t>
            </a:r>
          </a:p>
          <a:p xmlns:a="http://schemas.openxmlformats.org/drawingml/2006/main">
            <a:r>
              <a:t/>
            </a:r>
          </a:p>
          <a:p xmlns:a="http://schemas.openxmlformats.org/drawingml/2006/main">
            <a:r>
              <a:t>**설명할 질문.** 같은 부품을 다른 장소에 쓰려면 어떤 입력을 바꿀까요?</a:t>
            </a:r>
          </a:p>
          <a:p xmlns:a="http://schemas.openxmlformats.org/drawingml/2006/main">
            <a:r>
              <a:t/>
            </a:r>
          </a:p>
          <a:p xmlns:a="http://schemas.openxmlformats.org/drawingml/2006/main">
            <a:r>
              <a:t>**막혔을 때.** 수정한 data.js가 code인지 work인지 확인합니다. 변경 값을 읽는 곳은 현재 열린 HTML 과 같은 폴더입니다.</a:t>
            </a:r>
          </a:p>
          <a:p xmlns:a="http://schemas.openxmlformats.org/drawingml/2006/main">
            <a:r>
              <a:t/>
            </a:r>
          </a:p>
          <a:p xmlns:a="http://schemas.openxmlformats.org/drawingml/2006/main">
            <a:r>
              <a:t>입력·답칸·확인 순서는 [실습지의 A11](practice-guide.md#a11)와 [활동 원문](examples/course/data/A11_input.md)에 있습니다.</a:t>
            </a:r>
          </a:p>
          <a:p xmlns:a="http://schemas.openxmlformats.org/drawingml/2006/main">
            <a:r>
              <a:t/>
            </a:r>
          </a:p>
          <a:p xmlns:a="http://schemas.openxmlformats.org/drawingml/2006/main">
            <a:r>
              <a:t>#### 작업 화면으로 전환하기 · A10 → A11</a:t>
            </a:r>
          </a:p>
          <a:p xmlns:a="http://schemas.openxmlformats.org/drawingml/2006/main">
            <a:r>
              <a:t/>
            </a:r>
          </a:p>
          <a:p xmlns:a="http://schemas.openxmlformats.org/drawingml/2006/main">
            <a:r>
              <a:t>탐색기에서 `course/work/react/index.html`을 브라우저로 엽니다. 주소에 **work/react/index.html**이 있는지 확인하고 기록합니다. 같은 폴더의 `data.js`를 수정·저장한 뒤 이 작업 탭을 새로고침합니다. 장소 `창고`, 온도 `24.5`가 보이는지 비교합니다. A10의 code/react 탭은 원본이므로 작업 수정이 반영되지 않습니다. App.jsx 재빌드는 선택입니다.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outputs/2026-10-21/lesson.md#A11</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https://zeusk302-png.github.io/kdigital-physical-ai/#/sessions/2026-10-21/activity-A11</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SENSOR.location을 부품에 전달합니다.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장소를 props로 전달의 예</a:t>
            </a:r>
          </a:p>
          <a:p xmlns:a="http://schemas.openxmlformats.org/drawingml/2006/main">
            <a:r>
              <a:t>work/react/data.js의 가상 데이터</a:t>
            </a:r>
          </a:p>
          <a:p xmlns:a="http://schemas.openxmlformats.org/drawingml/2006/main">
            <a:r>
              <a:t/>
            </a:r>
          </a:p>
          <a:p xmlns:a="http://schemas.openxmlformats.org/drawingml/2006/main">
            <a:r>
              <a:t>window.SENSOR = {</a:t>
            </a:r>
          </a:p>
          <a:p xmlns:a="http://schemas.openxmlformats.org/drawingml/2006/main">
            <a:r>
              <a:t>뜻: 브라우저에서 사용할 SENSOR 데이터를 만들고 속성 목록을 시작합니다.</a:t>
            </a:r>
          </a:p>
          <a:p xmlns:a="http://schemas.openxmlformats.org/drawingml/2006/main">
            <a:r>
              <a:t/>
            </a:r>
          </a:p>
          <a:p xmlns:a="http://schemas.openxmlformats.org/drawingml/2006/main">
            <a:r>
              <a:t>  sensor_id: "S01",</a:t>
            </a:r>
          </a:p>
          <a:p xmlns:a="http://schemas.openxmlformats.org/drawingml/2006/main">
            <a:r>
              <a:t>뜻: 센서 식별자로 문자열 S01을 저장합니다.</a:t>
            </a:r>
          </a:p>
          <a:p xmlns:a="http://schemas.openxmlformats.org/drawingml/2006/main">
            <a:r>
              <a:t/>
            </a:r>
          </a:p>
          <a:p xmlns:a="http://schemas.openxmlformats.org/drawingml/2006/main">
            <a:r>
              <a:t>  location: "창고",</a:t>
            </a:r>
          </a:p>
          <a:p xmlns:a="http://schemas.openxmlformats.org/drawingml/2006/main">
            <a:r>
              <a:t>뜻: 장소 이름으로 문자 창고를 저장합니다. SENSOR.location으로 읽습니다.</a:t>
            </a:r>
          </a:p>
          <a:p xmlns:a="http://schemas.openxmlformats.org/drawingml/2006/main">
            <a:r>
              <a:t/>
            </a:r>
          </a:p>
          <a:p xmlns:a="http://schemas.openxmlformats.org/drawingml/2006/main">
            <a:r>
              <a:t>  temperature_c: 22.5</a:t>
            </a:r>
          </a:p>
          <a:p xmlns:a="http://schemas.openxmlformats.org/drawingml/2006/main">
            <a:r>
              <a:t>뜻: 섭씨 온도를 숫자 22.5로 저장합니다. 화면의 시작값으로 사용합니다.</a:t>
            </a:r>
          </a:p>
          <a:p xmlns:a="http://schemas.openxmlformats.org/drawingml/2006/main">
            <a:r>
              <a:t/>
            </a:r>
          </a:p>
          <a:p xmlns:a="http://schemas.openxmlformats.org/drawingml/2006/main">
            <a:r>
              <a:t>};</a:t>
            </a:r>
          </a:p>
          <a:p xmlns:a="http://schemas.openxmlformats.org/drawingml/2006/main">
            <a:r>
              <a:t>뜻: 데이터 객체를 닫고 대입 문장을 끝냅니다.</a:t>
            </a:r>
          </a:p>
          <a:p xmlns:a="http://schemas.openxmlformats.org/drawingml/2006/main">
            <a:r>
              <a:t/>
            </a:r>
          </a:p>
          <a:p xmlns:a="http://schemas.openxmlformats.org/drawingml/2006/main">
            <a:r>
              <a:t>확인할 결과: 저장·새로고침 뒤 창고 센서로 보입니다. data.js는 HTML이 별도로 읽습니다.</a:t>
            </a:r>
          </a:p>
          <a:p xmlns:a="http://schemas.openxmlformats.org/drawingml/2006/main">
            <a:r>
              <a:t>풀이: work/react/data.js의 location을 바꿉니다. 실제 열린 HTML과 같은 폴더의 데이터인지 확인합니다. 코드를 가진 code 폴더는 보존합니다.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 / 원고 62장</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https://zeusk302-png.github.io/kdigital-physical-ai/#/sessions/2026-10-21/activity-A11</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location: 창고는 장소를 바꾸는 연습 입력입니다.</a:t>
            </a:r>
          </a:p>
          <a:p xmlns:a="http://schemas.openxmlformats.org/drawingml/2006/main">
            <a:r>
              <a:t>SensorCard를 고치지 않고 전달할 데이터를 바꿉니다.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window.SENSOR = {</a:t>
            </a:r>
          </a:p>
          <a:p xmlns:a="http://schemas.openxmlformats.org/drawingml/2006/main">
            <a:r>
              <a:t>뜻: 브라우저에서 사용할 SENSOR 데이터를 만들고 속성 목록을 시작합니다.</a:t>
            </a:r>
          </a:p>
          <a:p xmlns:a="http://schemas.openxmlformats.org/drawingml/2006/main">
            <a:r>
              <a:t/>
            </a:r>
          </a:p>
          <a:p xmlns:a="http://schemas.openxmlformats.org/drawingml/2006/main">
            <a:r>
              <a:t>  sensor_id: "S01",</a:t>
            </a:r>
          </a:p>
          <a:p xmlns:a="http://schemas.openxmlformats.org/drawingml/2006/main">
            <a:r>
              <a:t>뜻: 센서 식별자로 문자열 S01을 저장합니다.</a:t>
            </a:r>
          </a:p>
          <a:p xmlns:a="http://schemas.openxmlformats.org/drawingml/2006/main">
            <a:r>
              <a:t/>
            </a:r>
          </a:p>
          <a:p xmlns:a="http://schemas.openxmlformats.org/drawingml/2006/main">
            <a:r>
              <a:t>  location: "창고",</a:t>
            </a:r>
          </a:p>
          <a:p xmlns:a="http://schemas.openxmlformats.org/drawingml/2006/main">
            <a:r>
              <a:t>뜻: 장소 이름으로 문자 창고를 저장합니다. SENSOR.location으로 읽습니다.</a:t>
            </a:r>
          </a:p>
          <a:p xmlns:a="http://schemas.openxmlformats.org/drawingml/2006/main">
            <a:r>
              <a:t/>
            </a:r>
          </a:p>
          <a:p xmlns:a="http://schemas.openxmlformats.org/drawingml/2006/main">
            <a:r>
              <a:t>  temperature_c: 22.5</a:t>
            </a:r>
          </a:p>
          <a:p xmlns:a="http://schemas.openxmlformats.org/drawingml/2006/main">
            <a:r>
              <a:t>뜻: 섭씨 온도를 숫자 22.5로 저장합니다. 화면의 시작값으로 사용합니다.</a:t>
            </a:r>
          </a:p>
          <a:p xmlns:a="http://schemas.openxmlformats.org/drawingml/2006/main">
            <a:r>
              <a:t/>
            </a:r>
          </a:p>
          <a:p xmlns:a="http://schemas.openxmlformats.org/drawingml/2006/main">
            <a:r>
              <a:t>};</a:t>
            </a:r>
          </a:p>
          <a:p xmlns:a="http://schemas.openxmlformats.org/drawingml/2006/main">
            <a:r>
              <a:t>뜻: 데이터 객체를 닫고 대입 문장을 끝냅니다.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D:\KDigital_PhysicalAI\.build\copyedited-ppt\spec-2026-10-21.json#slide-62</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https://zeusk302-png.github.io/kdigital-physical-ai/#/sessions/2026-10-21/activity-A11</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location은 장소 이름입니다.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저장·새로고침 뒤 창고 센서로 보입니다. data.js는 HTML이 별도로 읽습니다.</a:t>
            </a:r>
          </a:p>
          <a:p xmlns:a="http://schemas.openxmlformats.org/drawingml/2006/main">
            <a:r>
              <a:t/>
            </a:r>
          </a:p>
          <a:p xmlns:a="http://schemas.openxmlformats.org/drawingml/2006/main">
            <a:r>
              <a:t>앞에서 배운 내용: SENSOR.location을 부품에 전달합니다. 같은 부품을 다른 장소에도 사용합니다.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work/react/data.js의 location을 바꿉니다. 실제 열린 HTML과 같은 폴더의 데이터인지 확인합니다. 코드를 가진 code 폴더는 보존합니다.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D:\KDigital_PhysicalAI\.build\copyedited-ppt\spec-2026-10-21.json#slide-62</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https://zeusk302-png.github.io/kdigital-physical-ai/#/sessions/2026-10-21/activity-A11</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저장·새로고침 뒤 창고 센서로 보입니다.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같은 SensorCard를 실습실에 쓰려면? 어떤 제공 입력을 바꿀까요?</a:t>
            </a:r>
          </a:p>
          <a:p xmlns:a="http://schemas.openxmlformats.org/drawingml/2006/main">
            <a:r>
              <a:t/>
            </a:r>
          </a:p>
          <a:p xmlns:a="http://schemas.openxmlformats.org/drawingml/2006/main">
            <a:r>
              <a:t>정답과 풀이: work/react/data.js의 location을 바꿉니다. 실제 열린 HTML과 같은 폴더의 데이터인지 확인합니다. 코드를 가진 code 폴더는 보존합니다.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https://zeusk302-png.github.io/kdigital-physical-ai/#/sessions/2026-10-21/activity-A11</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A12의 개념과 원문 해설입니다.</a:t>
            </a:r>
          </a:p>
          <a:p xmlns:a="http://schemas.openxmlformats.org/drawingml/2006/main">
            <a:r>
              <a:t>### A12 · 상태와 화면의 다시 그리기</a:t>
            </a:r>
          </a:p>
          <a:p xmlns:a="http://schemas.openxmlformats.org/drawingml/2006/main">
            <a:r>
              <a:t/>
            </a:r>
          </a:p>
          <a:p xmlns:a="http://schemas.openxmlformats.org/drawingml/2006/main">
            <a:r>
              <a:t>**뜻과 비유.** 상태는 컴포넌트가 기억하는 값입니다. useState는 현재 값과 그 값을 바꾸는 함수를 제공하며 상태 변경에 따라 화면이 다시 계산됩니다.</a:t>
            </a:r>
          </a:p>
          <a:p xmlns:a="http://schemas.openxmlformats.org/drawingml/2006/main">
            <a:r>
              <a:t/>
            </a:r>
          </a:p>
          <a:p xmlns:a="http://schemas.openxmlformats.org/drawingml/2006/main">
            <a:r>
              <a:t>**왜 필요한가.** 화면 글자를 직접 찾는 방식과 상태를 바꿔 화면을 설명하는 방식의 차이를 작은 클릭으로 관찰합니다.</a:t>
            </a:r>
          </a:p>
          <a:p xmlns:a="http://schemas.openxmlformats.org/drawingml/2006/main">
            <a:r>
              <a:t/>
            </a:r>
          </a:p>
          <a:p xmlns:a="http://schemas.openxmlformats.org/drawingml/2006/main">
            <a:r>
              <a:t>**예를 따라 읽기.** 0.5 올린 모의값 버튼을 누르면 22.5 →23.0처럼 상태가 바뀝니다. 이것은 실제 센서 측정이 아닙니다.</a:t>
            </a:r>
          </a:p>
          <a:p xmlns:a="http://schemas.openxmlformats.org/drawingml/2006/main">
            <a:r>
              <a:t/>
            </a:r>
          </a:p>
          <a:p xmlns:a="http://schemas.openxmlformats.org/drawingml/2006/main">
            <a:r>
              <a:t>**헷갈리는 반례.** 새로고침하면 서버에 저장한 값이 아니라 data.js의 초기 값으로 돌아갑니다.</a:t>
            </a:r>
          </a:p>
          <a:p xmlns:a="http://schemas.openxmlformats.org/drawingml/2006/main">
            <a:r>
              <a:t/>
            </a:r>
          </a:p>
          <a:p xmlns:a="http://schemas.openxmlformats.org/drawingml/2006/main">
            <a:r>
              <a:t>**직접 적용.** useState와 setTemperature 위치 찾기 → 클릭 전후 숫자 예상하기 → 두 번 클릭한 값과 실제 비교하기 → 새로고침 뒤 초기화 이유 설명하기</a:t>
            </a:r>
          </a:p>
          <a:p xmlns:a="http://schemas.openxmlformats.org/drawingml/2006/main">
            <a:r>
              <a:t/>
            </a:r>
          </a:p>
          <a:p xmlns:a="http://schemas.openxmlformats.org/drawingml/2006/main">
            <a:r>
              <a:t>**설명할 질문.** 상태 변경과 파일 저장은 어떤 차이가 있나요?</a:t>
            </a:r>
          </a:p>
          <a:p xmlns:a="http://schemas.openxmlformats.org/drawingml/2006/main">
            <a:r>
              <a:t/>
            </a:r>
          </a:p>
          <a:p xmlns:a="http://schemas.openxmlformats.org/drawingml/2006/main">
            <a:r>
              <a:t>**막혔을 때.** 버튼을 누른 값이 파일에 저장됐다고 생각되면 data.js 원문을 다시 열어 비교합니다.</a:t>
            </a:r>
          </a:p>
          <a:p xmlns:a="http://schemas.openxmlformats.org/drawingml/2006/main">
            <a:r>
              <a:t/>
            </a:r>
          </a:p>
          <a:p xmlns:a="http://schemas.openxmlformats.org/drawingml/2006/main">
            <a:r>
              <a:t>입력·답칸·확인 순서는 [실습지의 A12](practice-guide.md#a12)와 [활동 원문](examples/course/data/A12_input.md)에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outputs/2026-10-21/lesson.md#A12</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https://zeusk302-png.github.io/kdigital-physical-ai/#/sessions/2026-10-21/activity-A12</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state는 화면 부품이 기억하는 현재 값입니다.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현재 값 기억하기의 예</a:t>
            </a:r>
          </a:p>
          <a:p xmlns:a="http://schemas.openxmlformats.org/drawingml/2006/main">
            <a:r>
              <a:t>발췌: SensorCard 안의 상태 시작 부분</a:t>
            </a:r>
          </a:p>
          <a:p xmlns:a="http://schemas.openxmlformats.org/drawingml/2006/main">
            <a:r>
              <a:t/>
            </a:r>
          </a:p>
          <a:p xmlns:a="http://schemas.openxmlformats.org/drawingml/2006/main">
            <a:r>
              <a:t>const [temperature, setTemperature] =</a:t>
            </a:r>
          </a:p>
          <a:p xmlns:a="http://schemas.openxmlformats.org/drawingml/2006/main">
            <a:r>
              <a:t>뜻: 현재 값은 temperature, 값을 바꿀 함수는 setTemperature라는 이름으로 받습니다. 오른쪽 useState 호출은 다음 줄에 이어집니다.</a:t>
            </a:r>
          </a:p>
          <a:p xmlns:a="http://schemas.openxmlformats.org/drawingml/2006/main">
            <a:r>
              <a:t/>
            </a:r>
          </a:p>
          <a:p xmlns:a="http://schemas.openxmlformats.org/drawingml/2006/main">
            <a:r>
              <a:t>  useState(window.SENSOR.temperature_c);</a:t>
            </a:r>
          </a:p>
          <a:p xmlns:a="http://schemas.openxmlformats.org/drawingml/2006/main">
            <a:r>
              <a:t>뜻: 데이터 파일의 온도로 state의 시작값을 정합니다. 클릭 뒤 바뀐 state가 파일에 저장되는 것은 아닙니다.</a:t>
            </a:r>
          </a:p>
          <a:p xmlns:a="http://schemas.openxmlformats.org/drawingml/2006/main">
            <a:r>
              <a:t/>
            </a:r>
          </a:p>
          <a:p xmlns:a="http://schemas.openxmlformats.org/drawingml/2006/main">
            <a:r>
              <a:t>확인할 결과: 22.5에서 두 번 클릭하면 23.5입니다. 새로고침하면 처음 값 22.5로 돌아옵니다.</a:t>
            </a:r>
          </a:p>
          <a:p xmlns:a="http://schemas.openxmlformats.org/drawingml/2006/main">
            <a:r>
              <a:t>풀이: 25.5, 새로고침 후24입니다. 기존 App.jsx의 setTemperature(temperature+0.5)가 클릭을 처리합니다. useState는 현재 브라우저 메모리의 상태이며 파일이나 서버 저장과 다릅니다.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 / 원고 67장</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https://zeusk302-png.github.io/kdigital-physical-ai/#/sessions/2026-10-21/activity-A12</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useState의 처음 값은 SENSOR.temperature_c입니다.</a:t>
            </a:r>
          </a:p>
          <a:p xmlns:a="http://schemas.openxmlformats.org/drawingml/2006/main">
            <a:r>
              <a:t>setTemperature로 화면 상태를 바꿔도 데이터 파일을 저장하지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const [temperature, setTemperature] =</a:t>
            </a:r>
          </a:p>
          <a:p xmlns:a="http://schemas.openxmlformats.org/drawingml/2006/main">
            <a:r>
              <a:t>뜻: 현재 값은 temperature, 값을 바꿀 함수는 setTemperature라는 이름으로 받습니다. 오른쪽 useState 호출은 다음 줄에 이어집니다.</a:t>
            </a:r>
          </a:p>
          <a:p xmlns:a="http://schemas.openxmlformats.org/drawingml/2006/main">
            <a:r>
              <a:t/>
            </a:r>
          </a:p>
          <a:p xmlns:a="http://schemas.openxmlformats.org/drawingml/2006/main">
            <a:r>
              <a:t>  useState(window.SENSOR.temperature_c);</a:t>
            </a:r>
          </a:p>
          <a:p xmlns:a="http://schemas.openxmlformats.org/drawingml/2006/main">
            <a:r>
              <a:t>뜻: 데이터 파일의 온도로 state의 시작값을 정합니다. 클릭 뒤 바뀐 state가 파일에 저장되는 것은 아닙니다.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D:\KDigital_PhysicalAI\.build\copyedited-ppt\spec-2026-10-21.json#slide-67</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https://zeusk302-png.github.io/kdigital-physical-ai/#/sessions/2026-10-21/activity-A12</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useState는 화면에서 기억할 값을 만듭니다.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22.5에서 두 번 클릭하면 23.5입니다. 새로고침하면 처음 값 22.5로 돌아옵니다.</a:t>
            </a:r>
          </a:p>
          <a:p xmlns:a="http://schemas.openxmlformats.org/drawingml/2006/main">
            <a:r>
              <a:t/>
            </a:r>
          </a:p>
          <a:p xmlns:a="http://schemas.openxmlformats.org/drawingml/2006/main">
            <a:r>
              <a:t>앞에서 배운 내용: state는 화면 부품이 기억하는 현재 값입니다. 클릭으로 바꿔도 파일을 저장하지 않습니다.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25.5, 새로고침 후24입니다. 기존 App.jsx의 setTemperature(temperature+0.5)가 클릭을 처리합니다. useState는 현재 브라우저 메모리의 상태이며 파일이나 서버 저장과 다릅니다.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outputs/2026-10-21/lesson.md#A12</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https://zeusk302-png.github.io/kdigital-physical-ai/#/sessions/2026-10-21/activity-A12</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22.5에서 두 번 클릭하면 23.5입니다.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처음 24에서 0.5 버튼을 세 번 누르면? 새로고침 뒤에는 얼마인가요?</a:t>
            </a:r>
          </a:p>
          <a:p xmlns:a="http://schemas.openxmlformats.org/drawingml/2006/main">
            <a:r>
              <a:t/>
            </a:r>
          </a:p>
          <a:p xmlns:a="http://schemas.openxmlformats.org/drawingml/2006/main">
            <a:r>
              <a:t>정답과 풀이: 25.5, 새로고침 후24입니다. 기존 App.jsx의 setTemperature(temperature+0.5)가 클릭을 처리합니다. useState는 현재 브라우저 메모리의 상태이며 파일이나 서버 저장과 다릅니다.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https://zeusk302-png.github.io/kdigital-physical-ai/#/sessions/2026-10-21/activity-A12</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5교시 주제는 MCP 요청과 응답입니다.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outputs/2026-10-21/beginner-start.md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https://zeusk302-png.github.io/kdigital-physical-ai/#/sessions/2026-10-21/activity-A13</a:t>
            </a:r>
          </a:p>
          <a:p xmlns:a="http://schemas.openxmlformats.org/drawingml/2006/main">
            <a:r>
              <a:t>공식 자료: https://react.dev/learn/passing-props-to-a-component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파일을 직접 읽는 방법과 MCP 조회를 비교합니다. 연결됐어도 쓰기 작업이 허용된 것은 아닙니다.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outputs/2026-10-21/lesson.md#A13</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https://zeusk302-png.github.io/kdigital-physical-ai/#/sessions/2026-10-21/activity-A13</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파일을 직접 읽는 방법과 MCP 조회를 비교합니다.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A13의 개념과 원문 해설입니다.</a:t>
            </a:r>
          </a:p>
          <a:p xmlns:a="http://schemas.openxmlformats.org/drawingml/2006/main">
            <a:r>
              <a:t>### A13 · MCP의 호스트·클라이언트·서버</a:t>
            </a:r>
          </a:p>
          <a:p xmlns:a="http://schemas.openxmlformats.org/drawingml/2006/main">
            <a:r>
              <a:t/>
            </a:r>
          </a:p>
          <a:p xmlns:a="http://schemas.openxmlformats.org/drawingml/2006/main">
            <a:r>
              <a:t>#### 사례로 이해하기 · 직접 연결과 MCP 연결을 비교한 뒤 권한 정하기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온도 안내판이 기록을 보여 주는 방법에는 파일을 직접 읽는 경로, 서버 API를 호출하는 경로, AI 도구가 MCP 서버를 통해 기록을 조회하는 경로가 있습니다. 화면 모양은 비슷해도 중간 프로그램과 권한은 다릅니다. 연결을 그렸다는 사실만으로 실제 호출이 구현되었다고 보고하지 않습니다.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MCP는 AI 애플리케이션이 도구와 자료에 접근할 때 주고받는 메시지의 공통 약속입니다. 호스트는 AI 애플리케이션, 클라이언트는 서버와 통신하는 부분, 서버는 도구와 자료를 제공하는 프로그램입니다. 직접 파일 읽기는 공통 프로토콜 없이 해당 파일 구조를 알아야 합니다. MCP는 초기화·도구 목록·호출 같은 약속을 공유하지만 모든 서버가 같은 자료나 권한을 갖지는 않습니다. 연결 가능성과 쓰기 허용도 별개입니다.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오늘은 mcp_client.py가 로컬 mcp_server.py를 실행하여 표준 입력과 표준 출력으로 메시지를 주고받습니다. initialize 요청에 id 1이 있고 initialized 알림에는 id가 없습니다. tools/list가 get_reading의 입력 이름 sensor_id를 알려 줍니다. tools/call로 S01을 요청하면 22.5가 담긴 가상 기록이 돌아옵니다. S02는 존재하지만 미측정 null이며 S99는 Unknown sensor와 isError입니다. 이 서버는 읽기 도구만 제공하며 네트워크 요청, React 갱신, 실제 AI 추론을 수행하지 않습니다. 실제 호스트의 권한 통제 전체를 재현한 프로그램도 아닙니다.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“HTML의 고정 숫자”, “data.js의 가상 값”, “MCP get_reading의 응답”을 자료 출처와 필요한 연결 단계로 비교하세요. 이어서 센서 조회에 계정 삭제 도구 권한까지 요구하는 서버가 있다면 허용 범위를 어떻게 판단할지 쓰세요.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고정 숫자는 HTML, 가상 값은 데이터 파일, MCP 응답은 서버 기록과 호출 연결입니다. 조회 목적에 필요하지 않은 삭제 권한은 제공하지 않고 필요한 범위를 확인합니다. “MCP가 연결되면 모든 작업이 자동 허용”은 오답입니다.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알림에 응답 id가 있나요? 오늘 initialized 알림은 응답을 기대하지 않습니다. ② null은 도구 오류인가요? 존재하는 기록의 미측정 값일 수 있습니다. ③ 실제로 연결됐는지는 무엇을 보고 확인하나요? 실제 요청과 대응 응답, 실행 범위를 남겨야 합니다.</a:t>
            </a:r>
          </a:p>
          <a:p xmlns:a="http://schemas.openxmlformats.org/drawingml/2006/main">
            <a:r>
              <a:t/>
            </a:r>
          </a:p>
          <a:p xmlns:a="http://schemas.openxmlformats.org/drawingml/2006/main">
            <a:r>
              <a:t>호스트는 사용자가 요청하는 AI 앱 전체이고, 클라이언트는 그 안에서 특정 서버와 메시지를 주고받는 연결 부분입니다. 서버는 도구와 입력 규칙을 제공하고 실행 결과를 돌려줍니다. 오늘 예제의 클라이언트는 미리 쓴 요청만 보내며 실제 AI 호스트나 모델이 판단하는 과정을 구현하지 않습니다.</a:t>
            </a:r>
          </a:p>
          <a:p xmlns:a="http://schemas.openxmlformats.org/drawingml/2006/main">
            <a:r>
              <a:t/>
            </a:r>
          </a:p>
          <a:p xmlns:a="http://schemas.openxmlformats.org/drawingml/2006/main">
            <a:r>
              <a:t>**뜻과 비유.** MCP는 AI 앱이 외부 도구나 자료를 정해진 메시지 형식으로 사용하도록 연결하는 프로토콜입니다. 서버는 기능을 제공하고 클라이언트는 요청을 전달합니다.</a:t>
            </a:r>
          </a:p>
          <a:p xmlns:a="http://schemas.openxmlformats.org/drawingml/2006/main">
            <a:r>
              <a:t/>
            </a:r>
          </a:p>
          <a:p xmlns:a="http://schemas.openxmlformats.org/drawingml/2006/main">
            <a:r>
              <a:t>**왜 필요한가.** React의 화면 구성과 MCP의 도구 통신을 같은 역할로 생각하지 않도록 경계를 구분합니다.</a:t>
            </a:r>
          </a:p>
          <a:p xmlns:a="http://schemas.openxmlformats.org/drawingml/2006/main">
            <a:r>
              <a:t/>
            </a:r>
          </a:p>
          <a:p xmlns:a="http://schemas.openxmlformats.org/drawingml/2006/main">
            <a:r>
              <a:t>**예를 따라 읽기.** 제공 클라이언트는 get_reading이라는 읽기 도구를 요청하고 서버는 가상 센서 기록을 반환합니다.</a:t>
            </a:r>
          </a:p>
          <a:p xmlns:a="http://schemas.openxmlformats.org/drawingml/2006/main">
            <a:r>
              <a:t/>
            </a:r>
          </a:p>
          <a:p xmlns:a="http://schemas.openxmlformats.org/drawingml/2006/main">
            <a:r>
              <a:t>**헷갈리는 반례.** 오늘의 mcp_client.py는 저장된 요청을 보내는 프로그램이며 AI 모델이나 실제 AI 호스트가 아닙니다.</a:t>
            </a:r>
          </a:p>
          <a:p xmlns:a="http://schemas.openxmlformats.org/drawingml/2006/main">
            <a:r>
              <a:t/>
            </a:r>
          </a:p>
          <a:p xmlns:a="http://schemas.openxmlformats.org/drawingml/2006/main">
            <a:r>
              <a:t>**직접 적용.** 역할 카드의 네 요소 읽기 → 화면 역할과 도구 통신 역할 나누기 → 클라이언트·서버·데이터 파일 연결하기 → 실제 AI 호출이 없는 조건 쓰기</a:t>
            </a:r>
          </a:p>
          <a:p xmlns:a="http://schemas.openxmlformats.org/drawingml/2006/main">
            <a:r>
              <a:t/>
            </a:r>
          </a:p>
          <a:p xmlns:a="http://schemas.openxmlformats.org/drawingml/2006/main">
            <a:r>
              <a:t>**설명할 질문.** MCP 서버가 웹 화면을 자동으로 만드는 것은 왜 아닌가요?</a:t>
            </a:r>
          </a:p>
          <a:p xmlns:a="http://schemas.openxmlformats.org/drawingml/2006/main">
            <a:r>
              <a:t/>
            </a:r>
          </a:p>
          <a:p xmlns:a="http://schemas.openxmlformats.org/drawingml/2006/main">
            <a:r>
              <a:t>**막혔을 때.** MCP를 모든 AI 서비스의 동의어로 보지 않고 오늘 메시지를 주고 받는 두 프로그램을 정확히 지정합니다.</a:t>
            </a:r>
          </a:p>
          <a:p xmlns:a="http://schemas.openxmlformats.org/drawingml/2006/main">
            <a:r>
              <a:t/>
            </a:r>
          </a:p>
          <a:p xmlns:a="http://schemas.openxmlformats.org/drawingml/2006/main">
            <a:r>
              <a:t>입력·답칸·확인 순서는 [실습지의 A13](practice-guide.md#a13)와 [활동 원문](examples/course/data/A13_input.md)에 있습니다.</a:t>
            </a:r>
          </a:p>
          <a:p xmlns:a="http://schemas.openxmlformats.org/drawingml/2006/main">
            <a:r>
              <a:t/>
            </a:r>
          </a:p>
          <a:p xmlns:a="http://schemas.openxmlformats.org/drawingml/2006/main">
            <a:r>
              <a:t>#### MCP 필수 읽기와 참고 범위</a:t>
            </a:r>
          </a:p>
          <a:p xmlns:a="http://schemas.openxmlformats.org/drawingml/2006/main">
            <a:r>
              <a:t/>
            </a:r>
          </a:p>
          <a:p xmlns:a="http://schemas.openxmlformats.org/drawingml/2006/main">
            <a:r>
              <a:t>**필수:** 역할 카드에서 호스트·클라이언트·서버·데이터를 구별합니다. `requests.jsonl` 첫 세 줄의 초기화·알림·도구 목록과 네 번째 줄의 `method/id/params`를 읽습니다. `recorded_responses.json`에서 S01의 숫자, S02의 미측정, S99의 `isError`를 대조합니다. 제공 클라이언트 실행 또는 강사 실행 관찰 후 수행 방법을 표시합니다.</a:t>
            </a:r>
          </a:p>
          <a:p xmlns:a="http://schemas.openxmlformats.org/drawingml/2006/main">
            <a:r>
              <a:t/>
            </a:r>
          </a:p>
          <a:p xmlns:a="http://schemas.openxmlformats.org/drawingml/2006/main">
            <a:r>
              <a:t>필수 코드 확인은 `mcp_client.py` 6~7행(입력 메시지와 서버 실행), `mcp_server.py` 16~17행(id·method), 20~22행(초기화), 34~43행(도구 요청과 결과)입니다. 구현 문법 전체를 풀이하지 않고 메시지의 역할과 입출력 대응을 확인합니다. 줄 번호는 이번 제공본 기준입니다.</a:t>
            </a:r>
          </a:p>
          <a:p xmlns:a="http://schemas.openxmlformats.org/drawingml/2006/main">
            <a:r>
              <a:t/>
            </a:r>
          </a:p>
          <a:p xmlns:a="http://schemas.openxmlformats.org/drawingml/2006/main">
            <a:r>
              <a:t>**강사 참고·선택:** 서버 전체의 예외 처리, 표준 입출력, subprocess 구현과 모든 줄 해설. 전체 코드를 새로 작성하는 것은 필수가 아닙니다. 실제 AI 호스트 호출·인증·HTTP 연결은 이번 관찰 범위에 포함되지 않습니다.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outputs/2026-10-21/lesson.md#A13</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https://zeusk302-png.github.io/kdigital-physical-ai/#/sessions/2026-10-21/activity-A13</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호스트는 AI 애플리케이션입니다.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오늘은 Python STDIO 예제입니다.</a:t>
            </a:r>
          </a:p>
          <a:p xmlns:a="http://schemas.openxmlformats.org/drawingml/2006/main">
            <a:r>
              <a:t/>
            </a:r>
          </a:p>
          <a:p xmlns:a="http://schemas.openxmlformats.org/drawingml/2006/main">
            <a:r>
              <a:t>이 표에서 볼 것: 호스트는 AI 애플리케이션입니다. 클라이언트는 서버와 메시지를 주고받습니다. 서버는 도구와 자료를 제공합니다.</a:t>
            </a:r>
          </a:p>
          <a:p xmlns:a="http://schemas.openxmlformats.org/drawingml/2006/main">
            <a:r>
              <a:t>예상 결과: 읽기 연결에 삭제 권한을 붙이지 않습니다. MCP가 React 화면을 자동으로 만들지 않습니다.</a:t>
            </a:r>
          </a:p>
          <a:p xmlns:a="http://schemas.openxmlformats.org/drawingml/2006/main">
            <a:r>
              <a:t/>
            </a:r>
          </a:p>
          <a:p xmlns:a="http://schemas.openxmlformats.org/drawingml/2006/main">
            <a:r>
              <a:t>풀이: 필요한 읽기 범위를 확인하고 목적과 무관한 삭제 권한을 허용하지 않습니다. 오늘 예제는 실제 AI 호스트·인증·네트워크 연결·권한 통제 전체를 구현하지 않았습니다.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https://zeusk302-png.github.io/kdigital-physical-ai/#/sessions/2026-10-21/activity-A13</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표의 항목과 값은 원문 그대로 표시합니다.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온도 조회에 파일 삭제 권한은 필요하지 않습니다. MCP가 React 화면을 자동으로 만들지 않습니다.</a:t>
            </a:r>
          </a:p>
          <a:p xmlns:a="http://schemas.openxmlformats.org/drawingml/2006/main">
            <a:r>
              <a:t/>
            </a:r>
          </a:p>
          <a:p xmlns:a="http://schemas.openxmlformats.org/drawingml/2006/main">
            <a:r>
              <a:t>앞에서 배운 내용: 호스트는 AI 애플리케이션입니다. 클라이언트는 서버와 메시지를 주고받습니다. 서버는 도구와 자료를 제공합니다.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필요한 읽기 범위를 확인하고 목적과 무관한 삭제 권한을 허용하지 않습니다. 오늘 예제는 실제 AI 호스트·인증·네트워크 연결·권한 통제 전체를 구현하지 않았습니다.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outputs/2026-10-21/lesson.md#A13</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https://zeusk302-png.github.io/kdigital-physical-ai/#/sessions/2026-10-21/activity-A13</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온도 조회에 파일 삭제 권한은 필요하지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온도 조회 도구가 계정 삭제 권한도 요구합니다. 이번 목적에 어떤 범위가 필요한가요?</a:t>
            </a:r>
          </a:p>
          <a:p xmlns:a="http://schemas.openxmlformats.org/drawingml/2006/main">
            <a:r>
              <a:t/>
            </a:r>
          </a:p>
          <a:p xmlns:a="http://schemas.openxmlformats.org/drawingml/2006/main">
            <a:r>
              <a:t>정답과 풀이: 필요한 읽기 범위를 확인하고 목적과 무관한 삭제 권한을 허용하지 않습니다. 오늘 예제는 실제 AI 호스트·인증·네트워크 연결·권한 통제 전체를 구현하지 않았습니다.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https://zeusk302-png.github.io/kdigital-physical-ai/#/sessions/2026-10-21/activity-A13</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활동 A14의 개념과 원문 해설입니다.</a:t>
            </a:r>
          </a:p>
          <a:p xmlns:a="http://schemas.openxmlformats.org/drawingml/2006/main">
            <a:r>
              <a:t>### A14 · JSON-RPC 요청과 초기화</a:t>
            </a:r>
          </a:p>
          <a:p xmlns:a="http://schemas.openxmlformats.org/drawingml/2006/main">
            <a:r>
              <a:t/>
            </a:r>
          </a:p>
          <a:p xmlns:a="http://schemas.openxmlformats.org/drawingml/2006/main">
            <a:r>
              <a:t>**뜻과 비유.** JSON-RPC 메시지는 method로 요청 종류를, id로 요청과 응답의 대응을 나타냅니다. 오늘의 MCP 예제는 2025-11-25규격 버전에 고정한 초기화 절차를 사용합니다.</a:t>
            </a:r>
          </a:p>
          <a:p xmlns:a="http://schemas.openxmlformats.org/drawingml/2006/main">
            <a:r>
              <a:t/>
            </a:r>
          </a:p>
          <a:p xmlns:a="http://schemas.openxmlformats.org/drawingml/2006/main">
            <a:r>
              <a:t>**왜 필요한가.** 버전과 기능을 먼저 맞추면 어떤 도구 통신을 기대할지 확인할 수 있습니다. 최신 전체 규격 구현과 교육용 일부 구현을 구분합니다.</a:t>
            </a:r>
          </a:p>
          <a:p xmlns:a="http://schemas.openxmlformats.org/drawingml/2006/main">
            <a:r>
              <a:t/>
            </a:r>
          </a:p>
          <a:p xmlns:a="http://schemas.openxmlformats.org/drawingml/2006/main">
            <a:r>
              <a:t>**예를 따라 읽기.** initialize 응답 뒤 notifications/initialized를 보내고 tools/list로 get_reading의 입력 규칙을 읽습니다.</a:t>
            </a:r>
          </a:p>
          <a:p xmlns:a="http://schemas.openxmlformats.org/drawingml/2006/main">
            <a:r>
              <a:t/>
            </a:r>
          </a:p>
          <a:p xmlns:a="http://schemas.openxmlformats.org/drawingml/2006/main">
            <a:r>
              <a:t>**헷갈리는 반례.** id가 없는 알림은 일반 요청과 달리 같은 id의 결과 응답을 기다리는 메시지가 아닙니다.</a:t>
            </a:r>
          </a:p>
          <a:p xmlns:a="http://schemas.openxmlformats.org/drawingml/2006/main">
            <a:r>
              <a:t/>
            </a:r>
          </a:p>
          <a:p xmlns:a="http://schemas.openxmlformats.org/drawingml/2006/main">
            <a:r>
              <a:t>**직접 적용.** requests.jsonl의 첫 세 메시지 읽기 → method·id·params 표시하기 → 초기화 요청과 알림 구별하기 → tools/list에서 입력 필드 찾기</a:t>
            </a:r>
          </a:p>
          <a:p xmlns:a="http://schemas.openxmlformats.org/drawingml/2006/main">
            <a:r>
              <a:t/>
            </a:r>
          </a:p>
          <a:p xmlns:a="http://schemas.openxmlformats.org/drawingml/2006/main">
            <a:r>
              <a:t>**설명할 질문.** 초기화 알림과 도구 요청은 어떻게 구분하나요?</a:t>
            </a:r>
          </a:p>
          <a:p xmlns:a="http://schemas.openxmlformats.org/drawingml/2006/main">
            <a:r>
              <a:t/>
            </a:r>
          </a:p>
          <a:p xmlns:a="http://schemas.openxmlformats.org/drawingml/2006/main">
            <a:r>
              <a:t>**막혔을 때.** JSONL은 메시지 한 개당 한 줄입니다. 예쁘게 여러 줄로 바꾸면 이 STDIO 입력 규칙과 맞지 않습니다.</a:t>
            </a:r>
          </a:p>
          <a:p xmlns:a="http://schemas.openxmlformats.org/drawingml/2006/main">
            <a:r>
              <a:t/>
            </a:r>
          </a:p>
          <a:p xmlns:a="http://schemas.openxmlformats.org/drawingml/2006/main">
            <a:r>
              <a:t>입력·답칸·확인 순서는 [실습지의 A14](practice-guide.md#a14)와 [활동 원문](examples/course/data/A14_input.md)에 있습니다.</a:t>
            </a:r>
          </a:p>
          <a:p xmlns:a="http://schemas.openxmlformats.org/drawingml/2006/main">
            <a:r>
              <a:t/>
            </a:r>
          </a:p>
          <a:p xmlns:a="http://schemas.openxmlformats.org/drawingml/2006/main">
            <a:r>
              <a:t>#### MCP 필수 읽기와 참고 범위</a:t>
            </a:r>
          </a:p>
          <a:p xmlns:a="http://schemas.openxmlformats.org/drawingml/2006/main">
            <a:r>
              <a:t/>
            </a:r>
          </a:p>
          <a:p xmlns:a="http://schemas.openxmlformats.org/drawingml/2006/main">
            <a:r>
              <a:t>**필수:** 역할 카드에서 호스트·클라이언트·서버·데이터를 구별합니다. `requests.jsonl` 첫 세 줄의 초기화·알림·도구 목록과 네 번째 줄의 `method/id/params`를 읽습니다. `recorded_responses.json`에서 S01의 숫자, S02의 미측정, S99의 `isError`를 대조합니다. 제공 클라이언트 실행 또는 강사 실행 관찰 후 수행 방법을 표시합니다.</a:t>
            </a:r>
          </a:p>
          <a:p xmlns:a="http://schemas.openxmlformats.org/drawingml/2006/main">
            <a:r>
              <a:t/>
            </a:r>
          </a:p>
          <a:p xmlns:a="http://schemas.openxmlformats.org/drawingml/2006/main">
            <a:r>
              <a:t>필수 코드 확인은 `mcp_client.py` 6~7행(입력 메시지와 서버 실행), `mcp_server.py` 16~17행(id·method), 20~22행(초기화), 34~43행(도구 요청과 결과)입니다. 구현 문법 전체를 풀이하지 않고 메시지의 역할과 입출력 대응을 확인합니다. 줄 번호는 이번 제공본 기준입니다.</a:t>
            </a:r>
          </a:p>
          <a:p xmlns:a="http://schemas.openxmlformats.org/drawingml/2006/main">
            <a:r>
              <a:t/>
            </a:r>
          </a:p>
          <a:p xmlns:a="http://schemas.openxmlformats.org/drawingml/2006/main">
            <a:r>
              <a:t>**강사 참고·선택:** 서버 전체의 예외 처리, 표준 입출력, subprocess 구현과 모든 줄 해설. 전체 코드를 새로 작성하는 것은 필수가 아닙니다. 실제 AI 호스트 호출·인증·HTTP 연결은 이번 관찰 범위에 포함되지 않습니다.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outputs/2026-10-21/lesson.md#A14</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https://zeusk302-png.github.io/kdigital-physical-ai/#/sessions/2026-10-21/activity-A14</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추가·복습: 초기화 뒤 도구 목록을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이 화면의 예: requests.jsonl의 첫 세 줄을 대조합니다.</a:t>
            </a:r>
          </a:p>
          <a:p xmlns:a="http://schemas.openxmlformats.org/drawingml/2006/main">
            <a:r>
              <a:t/>
            </a:r>
          </a:p>
          <a:p xmlns:a="http://schemas.openxmlformats.org/drawingml/2006/main">
            <a:r>
              <a:t>이 표에서 볼 것: 초기화 뒤 도구 목록을 읽습니다. 요청 id로 대응 응답을 찾습니다.</a:t>
            </a:r>
          </a:p>
          <a:p xmlns:a="http://schemas.openxmlformats.org/drawingml/2006/main">
            <a:r>
              <a:t>예상 결과: get_reading은 sensor_id 문자열을 받습니다. 메시지 한 개를 한 줄로 보냅니다.</a:t>
            </a:r>
          </a:p>
          <a:p xmlns:a="http://schemas.openxmlformats.org/drawingml/2006/main">
            <a:r>
              <a:t/>
            </a:r>
          </a:p>
          <a:p xmlns:a="http://schemas.openxmlformats.org/drawingml/2006/main">
            <a:r>
              <a:t>풀이: 오늘 notifications/initialized에는 id가 없고 응답을 기대하지 않습니다. JSON-RPC 요청·알림과 도구 목록을 구별합니다. 메시지 줄을 잘게 끊으면 STDIO 입력 형식이 달라집니다.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https://zeusk302-png.github.io/kdigital-physical-ai/#/sessions/2026-10-21/activity-A14</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표의 항목과 값은 원문 그대로 표시합니다.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예상 결과: get_reading은 sensor_id 문자열을 받습니다. 메시지 한 개를 한 줄로 보냅니다.</a:t>
            </a:r>
          </a:p>
          <a:p xmlns:a="http://schemas.openxmlformats.org/drawingml/2006/main">
            <a:r>
              <a:t/>
            </a:r>
          </a:p>
          <a:p xmlns:a="http://schemas.openxmlformats.org/drawingml/2006/main">
            <a:r>
              <a:t>앞에서 배운 내용: 초기화 뒤 도구 목록을 읽습니다. 요청 id로 대응 응답을 찾습니다.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오늘 notifications/initialized에는 id가 없고 응답을 기대하지 않습니다. JSON-RPC 요청·알림과 도구 목록을 구별합니다. 메시지 줄을 잘게 끊으면 STDIO 입력 형식이 달라집니다.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outputs/2026-10-21/lesson.md#A14</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https://zeusk302-png.github.io/kdigital-physical-ai/#/sessions/2026-10-21/activity-A14</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추가·복습: get_reading은 sensor_id 문자열을 받습니다.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질문: initialized 알림도 응답을 기다리나요?</a:t>
            </a:r>
          </a:p>
          <a:p xmlns:a="http://schemas.openxmlformats.org/drawingml/2006/main">
            <a:r>
              <a:t/>
            </a:r>
          </a:p>
          <a:p xmlns:a="http://schemas.openxmlformats.org/drawingml/2006/main">
            <a:r>
              <a:t>정답과 풀이: 오늘 notifications/initialized에는 id가 없고 응답을 기대하지 않습니다. JSON-RPC 요청·알림과 도구 목록을 구별합니다. 메시지 줄을 잘게 끊으면 STDIO 입력 형식이 달라집니다.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https://zeusk302-png.github.io/kdigital-physical-ai/#/sessions/2026-10-21/activity-A14</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A15의 개념과 원문 해설입니다.</a:t>
            </a:r>
          </a:p>
          <a:p xmlns:a="http://schemas.openxmlformats.org/drawingml/2006/main">
            <a:r>
              <a:t>### A15 · 실제 STDIO 도구 호출</a:t>
            </a:r>
          </a:p>
          <a:p xmlns:a="http://schemas.openxmlformats.org/drawingml/2006/main">
            <a:r>
              <a:t/>
            </a:r>
          </a:p>
          <a:p xmlns:a="http://schemas.openxmlformats.org/drawingml/2006/main">
            <a:r>
              <a:t>**뜻과 비유.** STDIO는 한 프로그램이 다른 프로그램의 표준 입력과 표준 출력으로 메시지를 교환하는 방법입니다. 네트워크 계정 없이 로컬 자식 프로세스를 실행할 수 있습니다.</a:t>
            </a:r>
          </a:p>
          <a:p xmlns:a="http://schemas.openxmlformats.org/drawingml/2006/main">
            <a:r>
              <a:t/>
            </a:r>
          </a:p>
          <a:p xmlns:a="http://schemas.openxmlformats.org/drawingml/2006/main">
            <a:r>
              <a:t>**왜 필요한가.** 저장된 예시 문장을 읽는 것과 실제 서버가 응답한 기록을 구분하면서 작은 프로토콜을 관찰합니다.</a:t>
            </a:r>
          </a:p>
          <a:p xmlns:a="http://schemas.openxmlformats.org/drawingml/2006/main">
            <a:r>
              <a:t/>
            </a:r>
          </a:p>
          <a:p xmlns:a="http://schemas.openxmlformats.org/drawingml/2006/main">
            <a:r>
              <a:t>**예를 따라 읽기.** python code/mcp_client.py는 서버를 실행해 S01의 22.5,S02의 null,S99의 도구 오류를 받습니다.</a:t>
            </a:r>
          </a:p>
          <a:p xmlns:a="http://schemas.openxmlformats.org/drawingml/2006/main">
            <a:r>
              <a:t/>
            </a:r>
          </a:p>
          <a:p xmlns:a="http://schemas.openxmlformats.org/drawingml/2006/main">
            <a:r>
              <a:t>**헷갈리는 반례.** S02의 null은 통신 실패가 아닙니다. S99의 isError:true와 값 없음은 서로 다릅니다.</a:t>
            </a:r>
          </a:p>
          <a:p xmlns:a="http://schemas.openxmlformats.org/drawingml/2006/main">
            <a:r>
              <a:t/>
            </a:r>
          </a:p>
          <a:p xmlns:a="http://schemas.openxmlformats.org/drawingml/2006/main">
            <a:r>
              <a:t>**직접 적용.** 완성 클라이언트와 서버 줄 해설 읽기 → 클라이언트 명령 실행 또는 강사 결과 비교하기 → id3·4·5의 값과 오류 표시 찾기 → 응답 예와 실제 실행 여부를 분리 기록하기</a:t>
            </a:r>
          </a:p>
          <a:p xmlns:a="http://schemas.openxmlformats.org/drawingml/2006/main">
            <a:r>
              <a:t/>
            </a:r>
          </a:p>
          <a:p xmlns:a="http://schemas.openxmlformats.org/drawingml/2006/main">
            <a:r>
              <a:t>**설명할 질문.** null 응답과 도구 오류 응답은 무엇이 다른가요?</a:t>
            </a:r>
          </a:p>
          <a:p xmlns:a="http://schemas.openxmlformats.org/drawingml/2006/main">
            <a:r>
              <a:t/>
            </a:r>
          </a:p>
          <a:p xmlns:a="http://schemas.openxmlformats.org/drawingml/2006/main">
            <a:r>
              <a:t>**막혔을 때.** 서버를 단독 실행하면 입력을 기다릴 수 있습니다. 기본 활동은 제공 클라이언트 명령으로 실행합니다.</a:t>
            </a:r>
          </a:p>
          <a:p xmlns:a="http://schemas.openxmlformats.org/drawingml/2006/main">
            <a:r>
              <a:t/>
            </a:r>
          </a:p>
          <a:p xmlns:a="http://schemas.openxmlformats.org/drawingml/2006/main">
            <a:r>
              <a:t>입력·답칸·확인 순서는 [실습지의 A15](practice-guide.md#a15)와 [활동 원문](examples/course/data/A15_input.md)에 있습니다.</a:t>
            </a:r>
          </a:p>
          <a:p xmlns:a="http://schemas.openxmlformats.org/drawingml/2006/main">
            <a:r>
              <a:t/>
            </a:r>
          </a:p>
          <a:p xmlns:a="http://schemas.openxmlformats.org/drawingml/2006/main">
            <a:r>
              <a:t>#### MCP 필수 읽기와 참고 범위</a:t>
            </a:r>
          </a:p>
          <a:p xmlns:a="http://schemas.openxmlformats.org/drawingml/2006/main">
            <a:r>
              <a:t/>
            </a:r>
          </a:p>
          <a:p xmlns:a="http://schemas.openxmlformats.org/drawingml/2006/main">
            <a:r>
              <a:t>**필수:** 역할 카드에서 호스트·클라이언트·서버·데이터를 구별합니다. `requests.jsonl` 첫 세 줄의 초기화·알림·도구 목록과 네 번째 줄의 `method/id/params`를 읽습니다. `recorded_responses.json`에서 S01의 숫자, S02의 미측정, S99의 `isError`를 대조합니다. 제공 클라이언트 실행 또는 강사 실행 관찰 후 수행 방법을 표시합니다.</a:t>
            </a:r>
          </a:p>
          <a:p xmlns:a="http://schemas.openxmlformats.org/drawingml/2006/main">
            <a:r>
              <a:t/>
            </a:r>
          </a:p>
          <a:p xmlns:a="http://schemas.openxmlformats.org/drawingml/2006/main">
            <a:r>
              <a:t>필수 코드 확인은 `mcp_client.py` 6~7행(입력 메시지와 서버 실행), `mcp_server.py` 16~17행(id·method), 20~22행(초기화), 34~43행(도구 요청과 결과)입니다. 구현 문법 전체를 풀이하지 않고 메시지의 역할과 입출력 대응을 확인합니다. 줄 번호는 이번 제공본 기준입니다.</a:t>
            </a:r>
          </a:p>
          <a:p xmlns:a="http://schemas.openxmlformats.org/drawingml/2006/main">
            <a:r>
              <a:t/>
            </a:r>
          </a:p>
          <a:p xmlns:a="http://schemas.openxmlformats.org/drawingml/2006/main">
            <a:r>
              <a:t>**강사 참고·선택:** 서버 전체의 예외 처리, 표준 입출력, subprocess 구현과 모든 줄 해설. 전체 코드를 새로 작성하는 것은 필수가 아닙니다. 실제 AI 호스트 호출·인증·HTTP 연결은 이번 관찰 범위에 포함되지 않습니다.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outputs/2026-10-21/lesson.md#A15</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https://zeusk302-png.github.io/kdigital-physical-ai/#/sessions/2026-10-21/activity-A15</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제공 클라이언트가 로컬 서버를 실행합니다.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STDIO 도구 호출의 예</a:t>
            </a:r>
          </a:p>
          <a:p xmlns:a="http://schemas.openxmlformats.org/drawingml/2006/main">
            <a:r>
              <a:t>실행 위치: course. 외부 API 호출은 없습니다.</a:t>
            </a:r>
          </a:p>
          <a:p xmlns:a="http://schemas.openxmlformats.org/drawingml/2006/main">
            <a:r>
              <a:t/>
            </a:r>
          </a:p>
          <a:p xmlns:a="http://schemas.openxmlformats.org/drawingml/2006/main">
            <a:r>
              <a:t>python -X utf8 code/mcp_client.py</a:t>
            </a:r>
          </a:p>
          <a:p xmlns:a="http://schemas.openxmlformats.org/drawingml/2006/main">
            <a:r>
              <a:t>뜻: course 폴더에서 클라이언트를 실행합니다. -X utf8은 Python의 기본 문자 입출력을 UTF-8로 맞춥니다. 클라이언트가 로컬 서버를 실행합니다.</a:t>
            </a:r>
          </a:p>
          <a:p xmlns:a="http://schemas.openxmlformats.org/drawingml/2006/main">
            <a:r>
              <a:t/>
            </a:r>
          </a:p>
          <a:p xmlns:a="http://schemas.openxmlformats.org/drawingml/2006/main">
            <a:r>
              <a:t>확인할 결과: S01은 22.5, S02는 미측정 null입니다. S99는 Unknown sensor와 isError입니다.</a:t>
            </a:r>
          </a:p>
          <a:p xmlns:a="http://schemas.openxmlformats.org/drawingml/2006/main">
            <a:r>
              <a:t>풀이: S02는 존재하는 기록의 미측정 값이며 isError=false입니다. S99는 모르는 센서의 도구 오류이며 isError=true입니다. recorded_responses.json의 id3·4·5를 대조합니다.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 / 원고 82장</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https://zeusk302-png.github.io/kdigital-physical-ai/#/sessions/2026-10-21/activity-A15</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course 폴더에서 실행한 클라이언트가 로컬 서버를 시작합니다.</a:t>
            </a:r>
          </a:p>
          <a:p xmlns:a="http://schemas.openxmlformats.org/drawingml/2006/main">
            <a:r>
              <a:t>S01·S02·S99의 값·null·도구 오류를 구별해서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python -X utf8 code/mcp_client.py</a:t>
            </a:r>
          </a:p>
          <a:p xmlns:a="http://schemas.openxmlformats.org/drawingml/2006/main">
            <a:r>
              <a:t>뜻: course 폴더에서 클라이언트를 실행합니다. -X utf8은 Python의 기본 문자 입출력을 UTF-8로 맞춥니다. 클라이언트가 로컬 서버를 실행합니다.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D:\KDigital_PhysicalAI\.build\copyedited-ppt\spec-2026-10-21.json#slide-82</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https://zeusk302-png.github.io/kdigital-physical-ai/#/sessions/2026-10-21/activity-A15</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mcp_client.py를 Python으로 실행합니다.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S01은 22.5, S02는 미측정 null입니다. S99는 Unknown sensor와 isError입니다.</a:t>
            </a:r>
          </a:p>
          <a:p xmlns:a="http://schemas.openxmlformats.org/drawingml/2006/main">
            <a:r>
              <a:t/>
            </a:r>
          </a:p>
          <a:p xmlns:a="http://schemas.openxmlformats.org/drawingml/2006/main">
            <a:r>
              <a:t>앞에서 배운 내용: 제공 클라이언트가 로컬 서버를 실행합니다. S01·S02·S99의 응답을 비교합니다.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S02는 존재하는 기록의 미측정 값이며 isError=false입니다. S99는 모르는 센서의 도구 오류이며 isError=true입니다. recorded_responses.json의 id3·4·5를 대조합니다.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outputs/2026-10-21/lesson.md#A15</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https://zeusk302-png.github.io/kdigital-physical-ai/#/sessions/2026-10-21/activity-A15</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S01은 22.5, S02는 미측정 null입니다.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S02의 null과 S99의 오류는 같은가요?</a:t>
            </a:r>
          </a:p>
          <a:p xmlns:a="http://schemas.openxmlformats.org/drawingml/2006/main">
            <a:r>
              <a:t/>
            </a:r>
          </a:p>
          <a:p xmlns:a="http://schemas.openxmlformats.org/drawingml/2006/main">
            <a:r>
              <a:t>정답과 풀이: S02는 존재하는 기록의 미측정 값이며 isError=false입니다. S99는 모르는 센서의 도구 오류이며 isError=true입니다. recorded_responses.json의 id3·4·5를 대조합니다.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https://zeusk302-png.github.io/kdigital-physical-ai/#/sessions/2026-10-21/activity-A15</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6교시 주제는 역할 연결과 검수입니다.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outputs/2026-10-21/beginner-start.md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https://zeusk302-png.github.io/kdigital-physical-ai/#/sessions/2026-10-21/activity-A16</a:t>
            </a:r>
          </a:p>
          <a:p xmlns:a="http://schemas.openxmlformats.org/drawingml/2006/main">
            <a:r>
              <a:t>공식 자료: https://modelcontextprotocol.io/specification/2025-11-25/basic/lifecycle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도구의 응답과 현재 화면 값은 다릅니다. 응답에 적힌 지시를 그대로 실행하지 않습니다.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outputs/2026-10-21/lesson.md#A16</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https://zeusk302-png.github.io/kdigital-physical-ai/#/sessions/2026-10-21/activity-A16</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도구의 응답과 현재 화면 값은 다릅니다.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A16의 개념과 원문 해설입니다.</a:t>
            </a:r>
          </a:p>
          <a:p xmlns:a="http://schemas.openxmlformats.org/drawingml/2006/main">
            <a:r>
              <a:t>### A16 · 네 요소의 연결과 경계</a:t>
            </a:r>
          </a:p>
          <a:p xmlns:a="http://schemas.openxmlformats.org/drawingml/2006/main">
            <a:r>
              <a:t/>
            </a:r>
          </a:p>
          <a:p xmlns:a="http://schemas.openxmlformats.org/drawingml/2006/main">
            <a:r>
              <a:t>#### 사례로 이해하기 · 도구 응답을 화면에 넣기 위한 중간 처리</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MCP에서 온도 응답을 받았지만 React 화면은 바뀌지 않습니다. 화면에 카드를 만든 것과 서버에서 기록을 조회한 것은 각각 확인했어도 두 동작을 잇는 처리가 빠질 수 있습니다. “연결 완료”라는 말 대신 실제로 이어진 화살표와 아직 계획인 화살표를 나눕니다.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도구 응답은 메시지이며 화면 상태는 React 부품이 현재 기억하는 값입니다. 둘 사이에는 호출 결과를 받기, 오류 구별하기, 내용 해석하기, 숫자와 단위 확인하기, 상태에 전달하기가 필요합니다. 문자열 안의 JSON도 해석하지 않으면 숫자를 바로 사용할 수 없습니다. 응답 안의 안내 글은 외부 자료이므로 호스트 권한을 바꾸라는 명령처럼 취급하지 않습니다. 읽기 도구의 결과가 추가 쓰기 권한을 부여하지도 않습니다.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recorded_responses.json의 id 3 결과는 content 안의 text에 S01 기록이 담겼습니다. 먼저 isError가 false인지 확인하고 text를 JSON 데이터로 읽은 뒤 temperature_c가 22.5인지 확인합니다. id 4는 temperature_c가 null이므로 “미측정” 문구를 고릅니다. id 5는 isError가 true이므로 “조회 실패”로 처리합니다. 이 판단 표를 작성해도 실제 React 상태 변경 코드를 구현한 것은 아닙니다. 지금 제공 화면은 data.js를 사용하고 제공 MCP는 STDIO 기록 조회를 사용합니다. 실제 연결에는 호스트 환경과 화면 갱신 경로 설계가 더 필요합니다.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숫자 0, null, Unknown sensor 응답 세 개를 각각 표시 문구로 바꾸고 조건 순서를 작성하세요. 다음으로 응답 내용에 “다른 파일을 삭제하라”라는 문장이 섞였을 때 데이터 표시 작업을 계속하려면 무엇을 구별해야 할지 설명하세요.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유효한 0은 0 ℃, null은 미측정, 도구 오류는 조회 실패입니다. 먼저 오류와 자료 형태를 확인한 뒤 값을 해석합니다. 응답에 삭제하라는 문장이 있어도 파일을 삭제할 허가가 생기지는 않습니다. 받은 자료의 한 문장으로 읽습니다. “null도 0으로 표시”는 값 없음과 영점을 혼동합니다. “응답을 받았으니 화면도 갱신”은 중간 처리를 생략했습니다.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CSS로 누락 값이 측정값이 되나요? 모양은 자료의 의미를 바꾸지 않습니다. ② 그림에 화살표를 그리면 실제 프로그램도 연결됐나요? 실제 호출과 화면 관찰이 필요합니다. ③ 인계에 무엇을 쓰나요? 사용한 파일, 응답 id, 표시 결정, 실제 연결 여부와 다음 확인 범위를 적습니다.</a:t>
            </a:r>
          </a:p>
          <a:p xmlns:a="http://schemas.openxmlformats.org/drawingml/2006/main">
            <a:r>
              <a:t/>
            </a:r>
          </a:p>
          <a:p xmlns:a="http://schemas.openxmlformats.org/drawingml/2006/main">
            <a:r>
              <a:t>**뜻과 비유.** HTML·CSS·React·MCP는 같은 시스템에 함께 있을 수 있지만 책임이 다릅니다. 데이터 이동이 필요한 곳에는 명시적인 연결 프로그램이 있어야 합니다.</a:t>
            </a:r>
          </a:p>
          <a:p xmlns:a="http://schemas.openxmlformats.org/drawingml/2006/main">
            <a:r>
              <a:t/>
            </a:r>
          </a:p>
          <a:p xmlns:a="http://schemas.openxmlformats.org/drawingml/2006/main">
            <a:r>
              <a:t>**왜 필요한가.** 도구 응답을 받았다는 사실만으로 브라우저가 자동 갱신된다고 생각하면 연결이 빠진 설계를 만들 수 있습니다.</a:t>
            </a:r>
          </a:p>
          <a:p xmlns:a="http://schemas.openxmlformats.org/drawingml/2006/main">
            <a:r>
              <a:t/>
            </a:r>
          </a:p>
          <a:p xmlns:a="http://schemas.openxmlformats.org/drawingml/2006/main">
            <a:r>
              <a:t>**예를 따라 읽기.** 오늘은 MCP 응답의 온도를 사람이 읽고 제공 데이터와 비교합니다. React와 MCP 간 자동 연결은 만들지 않았습니다.</a:t>
            </a:r>
          </a:p>
          <a:p xmlns:a="http://schemas.openxmlformats.org/drawingml/2006/main">
            <a:r>
              <a:t/>
            </a:r>
          </a:p>
          <a:p xmlns:a="http://schemas.openxmlformats.org/drawingml/2006/main">
            <a:r>
              <a:t>**헷갈리는 반례.** MCP 서버가 있으니 로그인·화면·저장이 모두 해결됐다고 말하지 않습니다.</a:t>
            </a:r>
          </a:p>
          <a:p xmlns:a="http://schemas.openxmlformats.org/drawingml/2006/main">
            <a:r>
              <a:t/>
            </a:r>
          </a:p>
          <a:p xmlns:a="http://schemas.openxmlformats.org/drawingml/2006/main">
            <a:r>
              <a:t>**직접 적용.** 네 요소 역할을 한 문장씩 쓰기 → S01 값의 출처와 화면 표시 구분하기 → 자동 연결한 것과 사람이 옮긴 것 표시하기 → 다음 연결에 필요한 프로그램 제안하기</a:t>
            </a:r>
          </a:p>
          <a:p xmlns:a="http://schemas.openxmlformats.org/drawingml/2006/main">
            <a:r>
              <a:t/>
            </a:r>
          </a:p>
          <a:p xmlns:a="http://schemas.openxmlformats.org/drawingml/2006/main">
            <a:r>
              <a:t>**설명할 질문.** 도구 응답을 화면에 보이려면 무엇이 더 필요할까요?</a:t>
            </a:r>
          </a:p>
          <a:p xmlns:a="http://schemas.openxmlformats.org/drawingml/2006/main">
            <a:r>
              <a:t/>
            </a:r>
          </a:p>
          <a:p xmlns:a="http://schemas.openxmlformats.org/drawingml/2006/main">
            <a:r>
              <a:t>**막혔을 때.** 그림의 화살표가 실제 동작인지 가정인지 따로 표시합니다.</a:t>
            </a:r>
          </a:p>
          <a:p xmlns:a="http://schemas.openxmlformats.org/drawingml/2006/main">
            <a:r>
              <a:t/>
            </a:r>
          </a:p>
          <a:p xmlns:a="http://schemas.openxmlformats.org/drawingml/2006/main">
            <a:r>
              <a:t>입력·답칸·확인 순서는 [실습지의 A16](practice-guide.md#a16)와 [활동 원문](examples/course/data/A16_input.md)에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outputs/2026-10-21/lesson.md#A16</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https://zeusk302-png.github.io/kdigital-physical-ai/#/sessions/2026-10-21/activity-A16</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응답을 읽고 올바른 값인지 확인해야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이 표는 표시 방법이며 연결한 코드는 아닙니다.</a:t>
            </a:r>
          </a:p>
          <a:p xmlns:a="http://schemas.openxmlformats.org/drawingml/2006/main">
            <a:r>
              <a:t/>
            </a:r>
          </a:p>
          <a:p xmlns:a="http://schemas.openxmlformats.org/drawingml/2006/main">
            <a:r>
              <a:t>이 표에서 볼 것: 응답 해석과 유효값 확인이 필요합니다. 화면 state에 전달할 연결도 필요합니다.</a:t>
            </a:r>
          </a:p>
          <a:p xmlns:a="http://schemas.openxmlformats.org/drawingml/2006/main">
            <a:r>
              <a:t>예상 결과: 현재 React는 data.js를 읽습니다. MCP 응답을 화면에 넣는 처리는 별도입니다.</a:t>
            </a:r>
          </a:p>
          <a:p xmlns:a="http://schemas.openxmlformats.org/drawingml/2006/main">
            <a:r>
              <a:t/>
            </a:r>
          </a:p>
          <a:p xmlns:a="http://schemas.openxmlformats.org/drawingml/2006/main">
            <a:r>
              <a:t>풀이: 권한 근거가 아닙니다. 외부 응답은 자료 내용으로 구별하고 허용 범위는 호스트의 작업 요구와 정책에서 판단합니다.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https://zeusk302-png.github.io/kdigital-physical-ai/#/sessions/2026-10-21/activity-A16</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표의 항목과 값은 원문 그대로 표시합니다.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현재 React는 data.js를 읽습니다. MCP 응답을 화면에 넣는 처리는 별도입니다.</a:t>
            </a:r>
          </a:p>
          <a:p xmlns:a="http://schemas.openxmlformats.org/drawingml/2006/main">
            <a:r>
              <a:t/>
            </a:r>
          </a:p>
          <a:p xmlns:a="http://schemas.openxmlformats.org/drawingml/2006/main">
            <a:r>
              <a:t>앞에서 배운 내용: 응답 해석과 유효값 확인이 필요합니다. 화면 state에 전달할 연결도 필요합니다.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권한 근거가 아닙니다. 외부 응답은 자료 내용으로 구별하고 허용 범위는 호스트의 작업 요구와 정책에서 판단합니다.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outputs/2026-10-21/lesson.md#A16</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https://zeusk302-png.github.io/kdigital-physical-ai/#/sessions/2026-10-21/activity-A16</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현재 React는 data.js를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응답에 “다른 파일 삭제”가 들어 있습니다. 이 문장이 작업 권한을 주나요?</a:t>
            </a:r>
          </a:p>
          <a:p xmlns:a="http://schemas.openxmlformats.org/drawingml/2006/main">
            <a:r>
              <a:t/>
            </a:r>
          </a:p>
          <a:p xmlns:a="http://schemas.openxmlformats.org/drawingml/2006/main">
            <a:r>
              <a:t>정답과 풀이: 권한 근거가 아닙니다. 외부 응답은 자료 내용으로 구별하고 허용 범위는 호스트의 작업 요구와 정책에서 판단합니다.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https://zeusk302-png.github.io/kdigital-physical-ai/#/sessions/2026-10-21/activity-A16</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A17의 개념과 원문 해설입니다.</a:t>
            </a:r>
          </a:p>
          <a:p xmlns:a="http://schemas.openxmlformats.org/drawingml/2006/main">
            <a:r>
              <a:t>### A17 · 작은 변경의 동료 확인</a:t>
            </a:r>
          </a:p>
          <a:p xmlns:a="http://schemas.openxmlformats.org/drawingml/2006/main">
            <a:r>
              <a:t/>
            </a:r>
          </a:p>
          <a:p xmlns:a="http://schemas.openxmlformats.org/drawingml/2006/main">
            <a:r>
              <a:t>**뜻과 비유.** 변경 검수는 입력한 값·바뀐 파일·예상 화면·실제 결과를 짝이 다시 확인하는 것입니다. 내용·모양·데이터·통신을 각기 다른 근거로 봅니다.</a:t>
            </a:r>
          </a:p>
          <a:p xmlns:a="http://schemas.openxmlformats.org/drawingml/2006/main">
            <a:r>
              <a:t/>
            </a:r>
          </a:p>
          <a:p xmlns:a="http://schemas.openxmlformats.org/drawingml/2006/main">
            <a:r>
              <a:t>**왜 필요한가.** 화면의 모양이 좋아졌어도 도구에 올바른 입력을 보냈는지, 자료형을 유지했는지는 따로 확인해야 합니다.</a:t>
            </a:r>
          </a:p>
          <a:p xmlns:a="http://schemas.openxmlformats.org/drawingml/2006/main">
            <a:r>
              <a:t/>
            </a:r>
          </a:p>
          <a:p xmlns:a="http://schemas.openxmlformats.org/drawingml/2006/main">
            <a:r>
              <a:t>**예를 따라 읽기.** HTML 제목,CSS 색,React 장소·온도,MCP sensor_id를 각각 한 줄의 변경 기록으로 남깁니다.</a:t>
            </a:r>
          </a:p>
          <a:p xmlns:a="http://schemas.openxmlformats.org/drawingml/2006/main">
            <a:r>
              <a:t/>
            </a:r>
          </a:p>
          <a:p xmlns:a="http://schemas.openxmlformats.org/drawingml/2006/main">
            <a:r>
              <a:t>**헷갈리는 반례.** CSS 색 변경을 센서 상태로 기록하거나 모의 버튼을 실제 측정이라고 부르지 않습니다.</a:t>
            </a:r>
          </a:p>
          <a:p xmlns:a="http://schemas.openxmlformats.org/drawingml/2006/main">
            <a:r>
              <a:t/>
            </a:r>
          </a:p>
          <a:p xmlns:a="http://schemas.openxmlformats.org/drawingml/2006/main">
            <a:r>
              <a:t>**직접 적용.** 작업 파일과 관찰 표 교환하기 → 네 역할 중 각 한 개 근거 확인하기 → 새로고침과 클릭 결과 구분하기 → 설명이 모호한 한 곳 보완하기</a:t>
            </a:r>
          </a:p>
          <a:p xmlns:a="http://schemas.openxmlformats.org/drawingml/2006/main">
            <a:r>
              <a:t/>
            </a:r>
          </a:p>
          <a:p xmlns:a="http://schemas.openxmlformats.org/drawingml/2006/main">
            <a:r>
              <a:t>**설명할 질문.** 같은 화면에서 서로 다른 역할의 변경을 어떻게 확인하나요?</a:t>
            </a:r>
          </a:p>
          <a:p xmlns:a="http://schemas.openxmlformats.org/drawingml/2006/main">
            <a:r>
              <a:t/>
            </a:r>
          </a:p>
          <a:p xmlns:a="http://schemas.openxmlformats.org/drawingml/2006/main">
            <a:r>
              <a:t>**막혔을 때.** 짝의 코드를 바로 수정하지 말고 대상 파일과 기대한 결과를 먼저 설명합니다.</a:t>
            </a:r>
          </a:p>
          <a:p xmlns:a="http://schemas.openxmlformats.org/drawingml/2006/main">
            <a:r>
              <a:t/>
            </a:r>
          </a:p>
          <a:p xmlns:a="http://schemas.openxmlformats.org/drawingml/2006/main">
            <a:r>
              <a:t>입력·답칸·확인 순서는 [실습지의 A17](practice-guide.md#a17)와 [활동 원문](examples/course/data/A17_input.md)에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outputs/2026-10-21/lesson.md#A17</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https://zeusk302-png.github.io/kdigital-physical-ai/#/sessions/2026-10-21/activity-A17</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어느 파일에서 무엇을 바꿨는지 확인합니다.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한 종류씩 바꿔 어떤 수정이 화면을 바꿨는지 봅니다.</a:t>
            </a:r>
          </a:p>
          <a:p xmlns:a="http://schemas.openxmlformats.org/drawingml/2006/main">
            <a:r>
              <a:t/>
            </a:r>
          </a:p>
          <a:p xmlns:a="http://schemas.openxmlformats.org/drawingml/2006/main">
            <a:r>
              <a:t>이 표에서 볼 것: 변경한 파일과 역할을 연결해 읽습니다. 같은 입력과 행동으로 결과를 확인합니다.</a:t>
            </a:r>
          </a:p>
          <a:p xmlns:a="http://schemas.openxmlformats.org/drawingml/2006/main">
            <a:r>
              <a:t>예상 결과: 동료 코드를 먼저 덮어쓰지 않습니다. 경로·기대·실제를 묶어 제안합니다.</a:t>
            </a:r>
          </a:p>
          <a:p xmlns:a="http://schemas.openxmlformats.org/drawingml/2006/main">
            <a:r>
              <a:t/>
            </a:r>
          </a:p>
          <a:p xmlns:a="http://schemas.openxmlformats.org/drawingml/2006/main">
            <a:r>
              <a:t>풀이: CSS는 모양, React state는 화면의 현재 값, MCP는 도구 호출 결과를 다룹니다. 각 화살표가 실제 구현인지 계획인지 따로 표시합니다.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https://zeusk302-png.github.io/kdigital-physical-ai/#/sessions/2026-10-21/activity-A17</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표의 항목과 값은 원문 그대로 표시합니다.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동료 코드를 먼저 덮어쓰지 않습니다. 파일 위치와 예상한 결과, 실제 결과를 적습니다.</a:t>
            </a:r>
          </a:p>
          <a:p xmlns:a="http://schemas.openxmlformats.org/drawingml/2006/main">
            <a:r>
              <a:t/>
            </a:r>
          </a:p>
          <a:p xmlns:a="http://schemas.openxmlformats.org/drawingml/2006/main">
            <a:r>
              <a:t>앞에서 배운 내용: 변경한 파일과 역할을 연결해 읽습니다. 같은 입력과 행동으로 결과를 확인합니다.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CSS는 모양, React state는 화면의 현재 값, MCP는 도구 호출 결과를 다룹니다. 각 화살표가 실제 구현인지 계획인지 따로 표시합니다.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outputs/2026-10-21/lesson.md#A17</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https://zeusk302-png.github.io/kdigital-physical-ai/#/sessions/2026-10-21/activity-A17</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동료 코드를 먼저 덮어쓰지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색·온도·응답은 각각 무엇을 바꾸나요?</a:t>
            </a:r>
          </a:p>
          <a:p xmlns:a="http://schemas.openxmlformats.org/drawingml/2006/main">
            <a:r>
              <a:t/>
            </a:r>
          </a:p>
          <a:p xmlns:a="http://schemas.openxmlformats.org/drawingml/2006/main">
            <a:r>
              <a:t>정답과 풀이: CSS는 모양, React state는 화면의 현재 값, MCP는 도구 호출 결과를 다룹니다. 각 화살표가 실제 구현인지 계획인지 따로 표시합니다.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https://zeusk302-png.github.io/kdigital-physical-ai/#/sessions/2026-10-21/activity-A17</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A18의 개념과 원문 해설입니다.</a:t>
            </a:r>
          </a:p>
          <a:p xmlns:a="http://schemas.openxmlformats.org/drawingml/2006/main">
            <a:r>
              <a:t>### A18 · 결과 설명과 선택 확장</a:t>
            </a:r>
          </a:p>
          <a:p xmlns:a="http://schemas.openxmlformats.org/drawingml/2006/main">
            <a:r>
              <a:t/>
            </a:r>
          </a:p>
          <a:p xmlns:a="http://schemas.openxmlformats.org/drawingml/2006/main">
            <a:r>
              <a:t>**뜻과 비유.** 학습 결과는 수정한 작은 부분의 이유와 결과를 설명하는 것입니다. 전체 앱이나 MCP 서버를 독립 작성하는 능력을 오늘의 필수 목표로 삼지 않습니다.</a:t>
            </a:r>
          </a:p>
          <a:p xmlns:a="http://schemas.openxmlformats.org/drawingml/2006/main">
            <a:r>
              <a:t/>
            </a:r>
          </a:p>
          <a:p xmlns:a="http://schemas.openxmlformats.org/drawingml/2006/main">
            <a:r>
              <a:t>**왜 필요한가.** 네 기술의 이름만 기억하는 것보다 어느 문제를 어떤 요소가 맡는지 말할 수 있어야 다음 대시보드로 연결됩니다.</a:t>
            </a:r>
          </a:p>
          <a:p xmlns:a="http://schemas.openxmlformats.org/drawingml/2006/main">
            <a:r>
              <a:t/>
            </a:r>
          </a:p>
          <a:p xmlns:a="http://schemas.openxmlformats.org/drawingml/2006/main">
            <a:r>
              <a:t>**예를 따라 읽기.** 필수 결과는 제목·색·React 데이터 수정과 MCP 요청·응답 한 쌍의 설명입니다.</a:t>
            </a:r>
          </a:p>
          <a:p xmlns:a="http://schemas.openxmlformats.org/drawingml/2006/main">
            <a:r>
              <a:t/>
            </a:r>
          </a:p>
          <a:p xmlns:a="http://schemas.openxmlformats.org/drawingml/2006/main">
            <a:r>
              <a:t>**헷갈리는 반례.** 패키지 설치를 못 했다고 개념 설명과 제공 번들 수정까지 실패로 판정하지 않습니다.</a:t>
            </a:r>
          </a:p>
          <a:p xmlns:a="http://schemas.openxmlformats.org/drawingml/2006/main">
            <a:r>
              <a:t/>
            </a:r>
          </a:p>
          <a:p xmlns:a="http://schemas.openxmlformats.org/drawingml/2006/main">
            <a:r>
              <a:t>**직접 적용.** 수정한 파일 목록 정리하기 → 실제로 실행한 경로 쓰기 → 네 역할에 대한 새 질문 답하기 → 남은 환경·자동 연결 조건을 인계하기</a:t>
            </a:r>
          </a:p>
          <a:p xmlns:a="http://schemas.openxmlformats.org/drawingml/2006/main">
            <a:r>
              <a:t/>
            </a:r>
          </a:p>
          <a:p xmlns:a="http://schemas.openxmlformats.org/drawingml/2006/main">
            <a:r>
              <a:t>**설명할 질문.** React 상태·CSS 색·MCP 응답은 각각 무엇을 바꾸나요?</a:t>
            </a:r>
          </a:p>
          <a:p xmlns:a="http://schemas.openxmlformats.org/drawingml/2006/main">
            <a:r>
              <a:t/>
            </a:r>
          </a:p>
          <a:p xmlns:a="http://schemas.openxmlformats.org/drawingml/2006/main">
            <a:r>
              <a:t>**막혔을 때.** 설치나 외부 호스트 연결이 막히면 오프라인 번들과 저장된 응답으로 동일 개념을 확인하고 실행 범위를 명시합니다.</a:t>
            </a:r>
          </a:p>
          <a:p xmlns:a="http://schemas.openxmlformats.org/drawingml/2006/main">
            <a:r>
              <a:t/>
            </a:r>
          </a:p>
          <a:p xmlns:a="http://schemas.openxmlformats.org/drawingml/2006/main">
            <a:r>
              <a:t>입력·답칸·확인 순서는 [실습지의 A18](practice-guide.md#a18)와 [활동 원문](examples/course/data/A18_input.md)에 있습니다.</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outputs/2026-10-21/lesson.md#A18</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https://zeusk302-png.github.io/kdigital-physical-ai/#/sessions/2026-10-21/activity-A18</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파일 위치, 명령, 출력, 화면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실행과 시연 관찰을 구별합니다.</a:t>
            </a:r>
          </a:p>
          <a:p xmlns:a="http://schemas.openxmlformats.org/drawingml/2006/main">
            <a:r>
              <a:t/>
            </a:r>
          </a:p>
          <a:p xmlns:a="http://schemas.openxmlformats.org/drawingml/2006/main">
            <a:r>
              <a:t>이 표에서 볼 것: 파일·명령·출력·화면을 연결해 보고합니다. 실제 장비와 호스트 연결은 따로 확인합니다.</a:t>
            </a:r>
          </a:p>
          <a:p xmlns:a="http://schemas.openxmlformats.org/drawingml/2006/main">
            <a:r>
              <a:t>예상 결과: 누가 같은 결과를 재현할지 생각합니다. 단위·누락·오류와 남은 연결을 적습니다.</a:t>
            </a:r>
          </a:p>
          <a:p xmlns:a="http://schemas.openxmlformats.org/drawingml/2006/main">
            <a:r>
              <a:t/>
            </a:r>
          </a:p>
          <a:p xmlns:a="http://schemas.openxmlformats.org/drawingml/2006/main">
            <a:r>
              <a:t>풀이: 파일 위치·시작 명령·데이터 출처·예상과 실제·수행 방식·미확인 범위를 남깁니다. 화면 표시 성공을 실제 센서나 AI 서비스 연결 성공으로 확대하지 않습니다.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https://zeusk302-png.github.io/kdigital-physical-ai/#/sessions/2026-10-21/activity-A18</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표의 항목과 값은 원문 그대로 표시합니다.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동료가 같은 순서로 실행할 수 있게 적습니다. 단위·값 없음·오류와 연결 안 된 곳을 적습니다.</a:t>
            </a:r>
          </a:p>
          <a:p xmlns:a="http://schemas.openxmlformats.org/drawingml/2006/main">
            <a:r>
              <a:t/>
            </a:r>
          </a:p>
          <a:p xmlns:a="http://schemas.openxmlformats.org/drawingml/2006/main">
            <a:r>
              <a:t>앞에서 배운 내용: 파일·명령·출력·화면을 연결해 보고합니다. 실제 장비와 호스트 연결은 따로 확인합니다.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파일 위치·시작 명령·데이터 출처·예상과 실제·수행 방식·미확인 범위를 남깁니다. 화면 표시 성공을 실제 센서나 AI 서비스 연결 성공으로 확대하지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outputs/2026-10-21/lesson.md#A18</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https://zeusk302-png.github.io/kdigital-physical-ai/#/sessions/2026-10-21/activity-A18</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동료가 같은 순서로 실행할 수 있게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동료가 다시 확인하려면 무엇이 필요한가요?</a:t>
            </a:r>
          </a:p>
          <a:p xmlns:a="http://schemas.openxmlformats.org/drawingml/2006/main">
            <a:r>
              <a:t/>
            </a:r>
          </a:p>
          <a:p xmlns:a="http://schemas.openxmlformats.org/drawingml/2006/main">
            <a:r>
              <a:t>정답과 풀이: 파일 위치·시작 명령·데이터 출처·예상과 실제·수행 방식·미확인 범위를 남깁니다. 화면 표시 성공을 실제 센서나 AI 서비스 연결 성공으로 확대하지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D:\KDigital_PhysicalAI\outputs\2026-10-21\lesson.md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https://zeusk302-png.github.io/kdigital-physical-ai/#/sessions/2026-10-21/activity-A18</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1 · 서로 다른 이름</a:t>
            </a:r>
          </a:p>
          <a:p xmlns:a="http://schemas.openxmlformats.org/drawingml/2006/main">
            <a:r>
              <a:t/>
            </a:r>
          </a:p>
          <a:p xmlns:a="http://schemas.openxmlformats.org/drawingml/2006/main">
            <a:r>
              <a:t>**문제:** 탭=공장 A,본문 제목=온도 확인,버튼 글자=기록 조회로 바꾸고 내부 id check를 유지하려면 어느 태그 부분을 고치나요? 버튼 반응까지 생겼다고 보고할 수 있나요?</a:t>
            </a:r>
          </a:p>
          <a:p xmlns:a="http://schemas.openxmlformats.org/drawingml/2006/main">
            <a:r>
              <a:t/>
            </a:r>
          </a:p>
          <a:p xmlns:a="http://schemas.openxmlformats.org/drawingml/2006/main">
            <a:r>
              <a:t>**해설·확인 기준:** title, h1의 내용, button의 태그 사이 문구를 바꾸며 id는 유지합니다. 동작 코드가 없으면 클릭 반응은 생기지 않습니다. 저장→같은 경로 열기→새로고침 확인까지 설명합니다.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D:\KDigital_PhysicalAI\outputs\2026-10-21\assessment.md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https://zeusk302-png.github.io/kdigital-physical-ai/#/sessions/2026-10-21/activity-A18</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2 · 안쪽과 바깥 간격</a:t>
            </a:r>
          </a:p>
          <a:p xmlns:a="http://schemas.openxmlformats.org/drawingml/2006/main">
            <a:r>
              <a:t/>
            </a:r>
          </a:p>
          <a:p xmlns:a="http://schemas.openxmlformats.org/drawingml/2006/main">
            <a:r>
              <a:t>**문제:** 버튼 글자 주변만 넓히고 다른 카드와의 거리는 유지하려 합니다. 속성을 선택하세요. 녹색 원만 있는 정상 표시는 어떻게 보완하나요?</a:t>
            </a:r>
          </a:p>
          <a:p xmlns:a="http://schemas.openxmlformats.org/drawingml/2006/main">
            <a:r>
              <a:t/>
            </a:r>
          </a:p>
          <a:p xmlns:a="http://schemas.openxmlformats.org/drawingml/2006/main">
            <a:r>
              <a:t>**해설·확인 기준:** padding을 바꾸고 margin은 유지합니다. “정상: 가상 온도가 기준 미만입니다” 같은 글자를 함께 표시합니다. Tab으로 초점도 확인합니다. 색이 바뀌었다고 온도 값도 맞게 읽었다고 할 수는 없습니다.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D:\KDigital_PhysicalAI\outputs\2026-10-21\assessment.md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https://zeusk302-png.github.io/kdigital-physical-ai/#/sessions/2026-10-21/activity-A18</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3 · 초기 표시와 클릭값</a:t>
            </a:r>
          </a:p>
          <a:p xmlns:a="http://schemas.openxmlformats.org/drawingml/2006/main">
            <a:r>
              <a:t/>
            </a:r>
          </a:p>
          <a:p xmlns:a="http://schemas.openxmlformats.org/drawingml/2006/main">
            <a:r>
              <a:t>**문제:** HTML은 22.5, data.js는 26입니다. 열기 직후와 클릭 뒤 값은 무엇인가요? 버튼 id가 read인데 선택자가 #check이면 어디를 고치고 어떻게 재검사하나요?</a:t>
            </a:r>
          </a:p>
          <a:p xmlns:a="http://schemas.openxmlformats.org/drawingml/2006/main">
            <a:r>
              <a:t/>
            </a:r>
          </a:p>
          <a:p xmlns:a="http://schemas.openxmlformats.org/drawingml/2006/main">
            <a:r>
              <a:t>**해설·확인 기준:** 직후 22.5, 클릭 뒤 26입니다. HTML id와 JavaScript 선택자를 일치시키며 같은 클릭 행동으로 재검사합니다. 클릭은 data.js를 저장하지 않습니다. 실제 데이터 출처를 구별하면 충족입니다.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D:\KDigital_PhysicalAI\outputs\2026-10-21\assessment.md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https://zeusk302-png.github.io/kdigital-physical-ai/#/sessions/2026-10-21/activity-A18</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4 · JSX와 번들</a:t>
            </a:r>
          </a:p>
          <a:p xmlns:a="http://schemas.openxmlformats.org/drawingml/2006/main">
            <a:r>
              <a:t/>
            </a:r>
          </a:p>
          <a:p xmlns:a="http://schemas.openxmlformats.org/drawingml/2006/main">
            <a:r>
              <a:t>**문제:** App.jsx 증가량을 1로 바꿨지만 제공 app.bundle.js는 그대로입니다. 화면 증가량을 단정할 수 있나요? 처음 값 24에서 기존 0.5 버튼을 세 번 누르고 새로고침하면 어떻게 되나요?</a:t>
            </a:r>
          </a:p>
          <a:p xmlns:a="http://schemas.openxmlformats.org/drawingml/2006/main">
            <a:r>
              <a:t/>
            </a:r>
          </a:p>
          <a:p xmlns:a="http://schemas.openxmlformats.org/drawingml/2006/main">
            <a:r>
              <a:t>**해설·확인 기준:** 브라우저는 기존 번들을 실행하므로 소스 수정만으로 새 증가량을 보장할 수 없습니다. 기존 동작은 25.5 뒤 새로고침 24입니다. JSX는 변환이 필요하며 state는 파일 저장이 아닙니다.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D:\KDigital_PhysicalAI\outputs\2026-10-21\assessment.md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https://zeusk302-png.github.io/kdigital-physical-ai/#/sessions/2026-10-21/activity-A18</a:t>
            </a:r>
          </a:p>
          <a:p xmlns:a="http://schemas.openxmlformats.org/drawingml/2006/main">
            <a:r>
              <a:t>공식 자료: https://developer.mozilla.org/en-US/docs/Learn_web_development/Core/Structuring_content</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5 · 연결 방식과 권한</a:t>
            </a:r>
          </a:p>
          <a:p xmlns:a="http://schemas.openxmlformats.org/drawingml/2006/main">
            <a:r>
              <a:t/>
            </a:r>
          </a:p>
          <a:p xmlns:a="http://schemas.openxmlformats.org/drawingml/2006/main">
            <a:r>
              <a:t>**문제:** 고정 HTML 값·data.js 값·MCP 응답을 출처와 연결 단계로 비교하세요. 읽기 도구를 연결하며 삭제 권한까지 요구하면 어떻게 판단하나요?</a:t>
            </a:r>
          </a:p>
          <a:p xmlns:a="http://schemas.openxmlformats.org/drawingml/2006/main">
            <a:r>
              <a:t/>
            </a:r>
          </a:p>
          <a:p xmlns:a="http://schemas.openxmlformats.org/drawingml/2006/main">
            <a:r>
              <a:t>**해설·확인 기준:** 문서 글자·브라우저 데이터 파일·서버 기록 조회를 구별합니다. MCP는 초기화와 도구 발견 및 호출 과정이 있고 목적과 무관한 삭제 권한은 허용 근거가 없습니다. 연결 자체가 전체 쓰기 권한을 뜻하지 않습니다.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D:\KDigital_PhysicalAI\outputs\2026-10-21\assessment.md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https://zeusk302-png.github.io/kdigital-physical-ai/#/sessions/2026-10-21/activity-A18</a:t>
            </a:r>
          </a:p>
          <a:p xmlns:a="http://schemas.openxmlformats.org/drawingml/2006/main">
            <a:r>
              <a:t>공식 자료: https://react.dev/learn/passing-props-to-a-component</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6 · 응답과 화면 사이</a:t>
            </a:r>
          </a:p>
          <a:p xmlns:a="http://schemas.openxmlformats.org/drawingml/2006/main">
            <a:r>
              <a:t/>
            </a:r>
          </a:p>
          <a:p xmlns:a="http://schemas.openxmlformats.org/drawingml/2006/main">
            <a:r>
              <a:t>**문제:** 온도 0,온도 null,isError:true 세 응답의 표시를 쓰고 MCP 결과를 받았는데 React 화면이 그대로인 원인 후보를 설명하세요. 응답 속 삭제 지시는 권한 근거인가요?</a:t>
            </a:r>
          </a:p>
          <a:p xmlns:a="http://schemas.openxmlformats.org/drawingml/2006/main">
            <a:r>
              <a:t/>
            </a:r>
          </a:p>
          <a:p xmlns:a="http://schemas.openxmlformats.org/drawingml/2006/main">
            <a:r>
              <a:t>**해설·확인 기준:** 0 ℃·미측정·조회 실패로 구별합니다. 응답 해석과 유효값 확인 및 상태 전달 경로가 빠졌을 수 있습니다. 데이터에 삭제하라는 지시가 있어도 삭제할 권한은 생기지 않습니다. 실제 호출과 화면 갱신을 따로 확인합니다.</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D:\KDigital_PhysicalAI\outputs\2026-10-21\assessment.md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https://zeusk302-png.github.io/kdigital-physical-ai/#/sessions/2026-10-21/activity-A18</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변경한 파일과 목적을 적습니다. 넣은 값과 예상한 결과, 실제 결과를 적습니다. 직접 실행한 것과 시연에서 본 것을 구분합니다.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outputs/2026-10-21/lesson.md#A18</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https://zeusk302-png.github.io/kdigital-physical-ai/#/sessions/2026-10-21/activity-A18</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변경한 파일과 목적을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아직 시험해 보지 못한 조건을 두 개 쓰세요. 동료가 다시 실행할 순서를 적어 보세요.</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D:\KDigital_PhysicalAI\outputs\2026-10-21\lesson.md</a:t>
            </a:r>
          </a:p>
          <a:p xmlns:a="http://schemas.openxmlformats.org/drawingml/2006/main">
            <a:r>
              <a:t>실습 단계·예상 출력·복구: D:\KDigital_PhysicalAI\outputs\2026-10-21\practice-guide.md</a:t>
            </a:r>
          </a:p>
          <a:p xmlns:a="http://schemas.openxmlformats.org/drawingml/2006/main">
            <a:r>
              <a:t>수업 활동과 추가 문제: D:\KDigital_PhysicalAI\outputs\2026-10-21\beginner-start.md</a:t>
            </a:r>
          </a:p>
          <a:p xmlns:a="http://schemas.openxmlformats.org/drawingml/2006/main">
            <a:r>
              <a:t>실행 예제 원본: D:\KDigital_PhysicalAI\outputs\2026-10-21\examples\course</a:t>
            </a:r>
          </a:p>
          <a:p xmlns:a="http://schemas.openxmlformats.org/drawingml/2006/main">
            <a:r>
              <a:t/>
            </a:r>
          </a:p>
          <a:p xmlns:a="http://schemas.openxmlformats.org/drawingml/2006/main">
            <a:r>
              <a:t>화면 예의 출처: D:\KDigital_PhysicalAI\outputs\2026-10-21\assessment.md</a:t>
            </a:r>
          </a:p>
          <a:p xmlns:a="http://schemas.openxmlformats.org/drawingml/2006/main">
            <a:r>
              <a:t/>
            </a:r>
          </a:p>
          <a:p xmlns:a="http://schemas.openxmlformats.org/drawingml/2006/main">
            <a:r>
              <a:t>학생 교안: https://zeusk302-png.github.io/kdigital-physical-ai/#/sessions/2026-10-21/lesson</a:t>
            </a:r>
          </a:p>
          <a:p xmlns:a="http://schemas.openxmlformats.org/drawingml/2006/main">
            <a:r>
              <a:t>실습: https://zeusk302-png.github.io/kdigital-physical-ai/#/sessions/2026-10-21/activity-A18</a:t>
            </a:r>
          </a:p>
          <a:p xmlns:a="http://schemas.openxmlformats.org/drawingml/2006/main">
            <a:r>
              <a:t>공식 자료: https://modelcontextprotocol.io/specification/2025-11-25/basic/lifecycle</a:t>
            </a:r>
          </a:p>
          <a:p xmlns:a="http://schemas.openxmlformats.org/drawingml/2006/main">
            <a:r>
              <a:t/>
            </a:r>
          </a:p>
          <a:p xmlns:a="http://schemas.openxmlformats.org/drawingml/2006/main">
            <a:r>
              <a:t>코드와 개념 해설: 지금 화면에는 풀이를 표시하지 않습니다. 입력과 판단 조건부터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처음 시작 안내</a:t>
            </a:r>
          </a:p>
          <a:p xmlns:a="http://schemas.openxmlformats.org/drawingml/2006/main">
            <a:r>
              <a:t>https://zeusk302-png.github.io/kdigital-physical-ai/#/sessions/2026-10-21/start</a:t>
            </a:r>
          </a:p>
          <a:p xmlns:a="http://schemas.openxmlformats.org/drawingml/2006/main">
            <a:r>
              <a:t/>
            </a:r>
          </a:p>
          <a:p xmlns:a="http://schemas.openxmlformats.org/drawingml/2006/main">
            <a:r>
              <a:t>학생 교안</a:t>
            </a:r>
          </a:p>
          <a:p xmlns:a="http://schemas.openxmlformats.org/drawingml/2006/main">
            <a:r>
              <a:t>https://zeusk302-png.github.io/kdigital-physical-ai/#/sessions/2026-10-21/lesson</a:t>
            </a:r>
          </a:p>
          <a:p xmlns:a="http://schemas.openxmlformats.org/drawingml/2006/main">
            <a:r>
              <a:t/>
            </a:r>
          </a:p>
          <a:p xmlns:a="http://schemas.openxmlformats.org/drawingml/2006/main">
            <a:r>
              <a:t>실습 활동</a:t>
            </a:r>
          </a:p>
          <a:p xmlns:a="http://schemas.openxmlformats.org/drawingml/2006/main">
            <a:r>
              <a:t>https://zeusk302-png.github.io/kdigital-physical-ai/#/sessions/2026-10-21/workbook</a:t>
            </a:r>
          </a:p>
          <a:p xmlns:a="http://schemas.openxmlformats.org/drawingml/2006/main">
            <a:r>
              <a:t/>
            </a:r>
          </a:p>
          <a:p xmlns:a="http://schemas.openxmlformats.org/drawingml/2006/main">
            <a:r>
              <a:t>예제 코드와 데이터 ZIP</a:t>
            </a:r>
          </a:p>
          <a:p xmlns:a="http://schemas.openxmlformats.org/drawingml/2006/main">
            <a:r>
              <a:t>https://zeusk302-png.github.io/kdigital-physical-ai/downloads/2026-10-21/student-examples.zip</a:t>
            </a:r>
          </a:p>
          <a:p xmlns:a="http://schemas.openxmlformats.org/drawingml/2006/main">
            <a:r>
              <a:t/>
            </a:r>
          </a:p>
          <a:p xmlns:a="http://schemas.openxmlformats.org/drawingml/2006/main">
            <a:r>
              <a:t>날짜별 자료 다운로드</a:t>
            </a:r>
          </a:p>
          <a:p xmlns:a="http://schemas.openxmlformats.org/drawingml/2006/main">
            <a:r>
              <a:t>https://zeusk302-png.github.io/kdigital-physical-ai/#/sessions/2026-10-21/files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HTML 문서 구조</a:t>
            </a:r>
          </a:p>
          <a:p xmlns:a="http://schemas.openxmlformats.org/drawingml/2006/main">
            <a:r>
              <a:t>https://developer.mozilla.org/en-US/docs/Learn_web_development/Core/Structuring_content</a:t>
            </a:r>
          </a:p>
          <a:p xmlns:a="http://schemas.openxmlformats.org/drawingml/2006/main">
            <a:r>
              <a:t/>
            </a:r>
          </a:p>
          <a:p xmlns:a="http://schemas.openxmlformats.org/drawingml/2006/main">
            <a:r>
              <a:t>React props 전달</a:t>
            </a:r>
          </a:p>
          <a:p xmlns:a="http://schemas.openxmlformats.org/drawingml/2006/main">
            <a:r>
              <a:t>https://react.dev/learn/passing-props-to-a-component</a:t>
            </a:r>
          </a:p>
          <a:p xmlns:a="http://schemas.openxmlformats.org/drawingml/2006/main">
            <a:r>
              <a:t/>
            </a:r>
          </a:p>
          <a:p xmlns:a="http://schemas.openxmlformats.org/drawingml/2006/main">
            <a:r>
              <a:t>MCP 2025-11-25 초기화</a:t>
            </a:r>
          </a:p>
          <a:p xmlns:a="http://schemas.openxmlformats.org/drawingml/2006/main">
            <a:r>
              <a:t>https://modelcontextprotocol.io/specification/2025-11-25/basic/lifecycle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87ab24e73854f4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5b21c47aec44502" /><Relationship Type="http://schemas.openxmlformats.org/officeDocument/2006/relationships/slideLayout" Target="/ppt/slideLayouts/slideLayout1.xml" Id="Rb4e19ce50c85458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4e19ce50c85458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1.xml" Id="R8bea1bdd248c46e5" /><ns0:Relationship Type="http://schemas.openxmlformats.org/officeDocument/2006/relationships/image" Target="/ppt/media/image.png" Id="Rf244d37936484701" /><ns0:Relationship Type="http://schemas.openxmlformats.org/officeDocument/2006/relationships/notesSlide" Target="/ppt/notesSlides/notesSlide1.xml" Id="R04c614be80d3463a"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1" TargetMode="External" /><ns0:Relationship Id="rIdLink3" Type="http://schemas.openxmlformats.org/officeDocument/2006/relationships/hyperlink" Target="https://modelcontextprotocol.io/specification/2025-11-25/basic/lifecycle" TargetMode="External" /></ns0: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1.xml" Id="R440a96c8ce5f4d93" /><ns0:Relationship Type="http://schemas.openxmlformats.org/officeDocument/2006/relationships/notesSlide" Target="/ppt/notesSlides/notesSlide2.xml" Id="R5687706d00b04705"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1" TargetMode="External" /><ns0:Relationship Id="rIdLink3" Type="http://schemas.openxmlformats.org/officeDocument/2006/relationships/hyperlink" Target="https://modelcontextprotocol.io/specification/2025-11-25/basic/lifecycle" TargetMode="External"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1.xml" Id="R00c9cf7957794bf2" /><ns0:Relationship Type="http://schemas.openxmlformats.org/officeDocument/2006/relationships/notesSlide" Target="/ppt/notesSlides/notesSlide3.xml" Id="R76600ecbb84e42f7"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1" TargetMode="External" /><ns0:Relationship Id="rIdLink3" Type="http://schemas.openxmlformats.org/officeDocument/2006/relationships/hyperlink" Target="https://modelcontextprotocol.io/specification/2025-11-25/basic/lifecycle" TargetMode="External"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1.xml" Id="Re3fcbf35a55f44f0" /><ns0:Relationship Type="http://schemas.openxmlformats.org/officeDocument/2006/relationships/notesSlide" Target="/ppt/notesSlides/notesSlide4.xml" Id="Re3892e65cc0f4a7c"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1" TargetMode="External" /><ns0:Relationship Id="rIdLink3" Type="http://schemas.openxmlformats.org/officeDocument/2006/relationships/hyperlink" Target="https://modelcontextprotocol.io/specification/2025-11-25/basic/lifecycle" TargetMode="External"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1.xml" Id="R8cb791e0c86b4d1d" /><ns0:Relationship Type="http://schemas.openxmlformats.org/officeDocument/2006/relationships/notesSlide" Target="/ppt/notesSlides/notesSlide5.xml" Id="R9e9e601884a94e39"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1" TargetMode="External" /><ns0:Relationship Id="rIdLink3" Type="http://schemas.openxmlformats.org/officeDocument/2006/relationships/hyperlink" Target="https://developer.mozilla.org/en-US/docs/Learn_web_development/Core/Structuring_content" TargetMode="External"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1.xml" Id="R542690f632e84e98" /><ns0:Relationship Type="http://schemas.openxmlformats.org/officeDocument/2006/relationships/notesSlide" Target="/ppt/notesSlides/notesSlide6.xml" Id="R224f7f84c8644a15"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1" TargetMode="External" /><ns0:Relationship Id="rIdLink3" Type="http://schemas.openxmlformats.org/officeDocument/2006/relationships/hyperlink" Target="https://developer.mozilla.org/en-US/docs/Learn_web_development/Core/Structuring_content" TargetMode="External"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1.xml" Id="Raa8b35317c8b4c89" /><ns0:Relationship Type="http://schemas.openxmlformats.org/officeDocument/2006/relationships/notesSlide" Target="/ppt/notesSlides/notesSlide7.xml" Id="Rcea8c131694146d2"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1" TargetMode="External" /><ns0:Relationship Id="rIdLink3" Type="http://schemas.openxmlformats.org/officeDocument/2006/relationships/hyperlink" Target="https://developer.mozilla.org/en-US/docs/Learn_web_development/Core/Structuring_content" TargetMode="External"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1.xml" Id="R478419e0e3204f09" /><ns0:Relationship Type="http://schemas.openxmlformats.org/officeDocument/2006/relationships/notesSlide" Target="/ppt/notesSlides/notesSlide8.xml" Id="Rc4bf3ca6f6c64eab"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1" TargetMode="External" /><ns0:Relationship Id="rIdLink3" Type="http://schemas.openxmlformats.org/officeDocument/2006/relationships/hyperlink" Target="https://developer.mozilla.org/en-US/docs/Learn_web_development/Core/Structuring_content" TargetMode="External"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1.xml" Id="R21efc260978148e1" /><ns0:Relationship Type="http://schemas.openxmlformats.org/officeDocument/2006/relationships/notesSlide" Target="/ppt/notesSlides/notesSlide9.xml" Id="R083da579b6b9455c"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1" TargetMode="External" /><ns0:Relationship Id="rIdLink3" Type="http://schemas.openxmlformats.org/officeDocument/2006/relationships/hyperlink" Target="https://developer.mozilla.org/en-US/docs/Learn_web_development/Core/Structuring_content" TargetMode="External"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1.xml" Id="R89f1aedb34d848f3" /><ns0:Relationship Type="http://schemas.openxmlformats.org/officeDocument/2006/relationships/notesSlide" Target="/ppt/notesSlides/notesSlide10.xml" Id="Rf2d063e820c444f4"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1" TargetMode="External" /><ns0:Relationship Id="rIdLink3" Type="http://schemas.openxmlformats.org/officeDocument/2006/relationships/hyperlink" Target="https://developer.mozilla.org/en-US/docs/Learn_web_development/Core/Structuring_content" TargetMode="External" /></ns0: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1.xml" Id="R091e99b68bcc415b" /><ns0:Relationship Type="http://schemas.openxmlformats.org/officeDocument/2006/relationships/notesSlide" Target="/ppt/notesSlides/notesSlide11.xml" Id="R809ede615f93452f"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2" TargetMode="External" /><ns0:Relationship Id="rIdLink3" Type="http://schemas.openxmlformats.org/officeDocument/2006/relationships/hyperlink" Target="https://developer.mozilla.org/en-US/docs/Learn_web_development/Core/Structuring_content" TargetMode="External"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1.xml" Id="Ra41a6854e68a442e" /><ns0:Relationship Type="http://schemas.openxmlformats.org/officeDocument/2006/relationships/notesSlide" Target="/ppt/notesSlides/notesSlide12.xml" Id="R1f76a7cd6755457b"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2" TargetMode="External" /><ns0:Relationship Id="rIdLink3" Type="http://schemas.openxmlformats.org/officeDocument/2006/relationships/hyperlink" Target="https://developer.mozilla.org/en-US/docs/Learn_web_development/Core/Structuring_content" TargetMode="External" /></ns0:Relationships>
</file>

<file path=ppt/slides/_rels/slide13.xml.rels><?xml version='1.0' encoding='utf-8'?>
<ns0:Relationships xmlns:ns0="http://schemas.openxmlformats.org/package/2006/relationships"><ns0:Relationship Type="http://schemas.openxmlformats.org/officeDocument/2006/relationships/slideLayout" Target="/ppt/slideLayouts/slideLayout1.xml" Id="R0f9d8d42ae2940fd" /><ns0:Relationship Type="http://schemas.openxmlformats.org/officeDocument/2006/relationships/notesSlide" Target="/ppt/notesSlides/notesSlide13.xml" Id="R7a0f90f7d8224f9e"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2" TargetMode="External" /><ns0:Relationship Id="rIdLink3" Type="http://schemas.openxmlformats.org/officeDocument/2006/relationships/hyperlink" Target="https://developer.mozilla.org/en-US/docs/Learn_web_development/Core/Structuring_content" TargetMode="External" /></ns0:Relationships>
</file>

<file path=ppt/slides/_rels/slide14.xml.rels><?xml version='1.0' encoding='utf-8'?>
<ns0:Relationships xmlns:ns0="http://schemas.openxmlformats.org/package/2006/relationships"><ns0:Relationship Type="http://schemas.openxmlformats.org/officeDocument/2006/relationships/slideLayout" Target="/ppt/slideLayouts/slideLayout1.xml" Id="R57915d68f32c482d" /><ns0:Relationship Type="http://schemas.openxmlformats.org/officeDocument/2006/relationships/notesSlide" Target="/ppt/notesSlides/notesSlide14.xml" Id="Rbc82d9fd44644044"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2" TargetMode="External" /><ns0:Relationship Id="rIdLink3" Type="http://schemas.openxmlformats.org/officeDocument/2006/relationships/hyperlink" Target="https://developer.mozilla.org/en-US/docs/Learn_web_development/Core/Structuring_content" TargetMode="External" /></ns0:Relationships>
</file>

<file path=ppt/slides/_rels/slide15.xml.rels><?xml version='1.0' encoding='utf-8'?>
<ns0:Relationships xmlns:ns0="http://schemas.openxmlformats.org/package/2006/relationships"><ns0:Relationship Type="http://schemas.openxmlformats.org/officeDocument/2006/relationships/slideLayout" Target="/ppt/slideLayouts/slideLayout1.xml" Id="R0f0b7ce72d31417d" /><ns0:Relationship Type="http://schemas.openxmlformats.org/officeDocument/2006/relationships/notesSlide" Target="/ppt/notesSlides/notesSlide15.xml" Id="Rd5238fb0fa144fa3"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2" TargetMode="External" /><ns0:Relationship Id="rIdLink3" Type="http://schemas.openxmlformats.org/officeDocument/2006/relationships/hyperlink" Target="https://developer.mozilla.org/en-US/docs/Learn_web_development/Core/Structuring_content" TargetMode="External" /></ns0:Relationships>
</file>

<file path=ppt/slides/_rels/slide16.xml.rels><?xml version='1.0' encoding='utf-8'?>
<ns0:Relationships xmlns:ns0="http://schemas.openxmlformats.org/package/2006/relationships"><ns0:Relationship Type="http://schemas.openxmlformats.org/officeDocument/2006/relationships/slideLayout" Target="/ppt/slideLayouts/slideLayout1.xml" Id="R61061b7b6edb4132" /><ns0:Relationship Type="http://schemas.openxmlformats.org/officeDocument/2006/relationships/notesSlide" Target="/ppt/notesSlides/notesSlide16.xml" Id="Rb524365e5dbb467e"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3" TargetMode="External" /><ns0:Relationship Id="rIdLink3" Type="http://schemas.openxmlformats.org/officeDocument/2006/relationships/hyperlink" Target="https://developer.mozilla.org/en-US/docs/Learn_web_development/Core/Structuring_content" TargetMode="External" /></ns0:Relationships>
</file>

<file path=ppt/slides/_rels/slide17.xml.rels><?xml version='1.0' encoding='utf-8'?>
<ns0:Relationships xmlns:ns0="http://schemas.openxmlformats.org/package/2006/relationships"><ns0:Relationship Type="http://schemas.openxmlformats.org/officeDocument/2006/relationships/slideLayout" Target="/ppt/slideLayouts/slideLayout1.xml" Id="Rfde5427030224bb4" /><ns0:Relationship Type="http://schemas.openxmlformats.org/officeDocument/2006/relationships/notesSlide" Target="/ppt/notesSlides/notesSlide17.xml" Id="R6651560834304be5"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3" TargetMode="External" /><ns0:Relationship Id="rIdLink3" Type="http://schemas.openxmlformats.org/officeDocument/2006/relationships/hyperlink" Target="https://developer.mozilla.org/en-US/docs/Learn_web_development/Core/Structuring_content" TargetMode="External" /></ns0:Relationships>
</file>

<file path=ppt/slides/_rels/slide18.xml.rels><?xml version='1.0' encoding='utf-8'?>
<ns0:Relationships xmlns:ns0="http://schemas.openxmlformats.org/package/2006/relationships"><ns0:Relationship Type="http://schemas.openxmlformats.org/officeDocument/2006/relationships/slideLayout" Target="/ppt/slideLayouts/slideLayout1.xml" Id="Rdd822cbc575d4460" /><ns0:Relationship Type="http://schemas.openxmlformats.org/officeDocument/2006/relationships/notesSlide" Target="/ppt/notesSlides/notesSlide18.xml" Id="R2638f2ff6fa34df5"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3" TargetMode="External" /><ns0:Relationship Id="rIdLink3" Type="http://schemas.openxmlformats.org/officeDocument/2006/relationships/hyperlink" Target="https://developer.mozilla.org/en-US/docs/Learn_web_development/Core/Structuring_content" TargetMode="External" /></ns0:Relationships>
</file>

<file path=ppt/slides/_rels/slide19.xml.rels><?xml version='1.0' encoding='utf-8'?>
<ns0:Relationships xmlns:ns0="http://schemas.openxmlformats.org/package/2006/relationships"><ns0:Relationship Type="http://schemas.openxmlformats.org/officeDocument/2006/relationships/slideLayout" Target="/ppt/slideLayouts/slideLayout1.xml" Id="Rf9f7982c9248467f" /><ns0:Relationship Type="http://schemas.openxmlformats.org/officeDocument/2006/relationships/notesSlide" Target="/ppt/notesSlides/notesSlide19.xml" Id="R76d48e4018df462e"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3" TargetMode="External" /><ns0:Relationship Id="rIdLink3" Type="http://schemas.openxmlformats.org/officeDocument/2006/relationships/hyperlink" Target="https://developer.mozilla.org/en-US/docs/Learn_web_development/Core/Structuring_content" TargetMode="External" /></ns0:Relationships>
</file>

<file path=ppt/slides/_rels/slide20.xml.rels><?xml version='1.0' encoding='utf-8'?>
<ns0:Relationships xmlns:ns0="http://schemas.openxmlformats.org/package/2006/relationships"><ns0:Relationship Type="http://schemas.openxmlformats.org/officeDocument/2006/relationships/slideLayout" Target="/ppt/slideLayouts/slideLayout1.xml" Id="Rbae8f737311944cf" /><ns0:Relationship Type="http://schemas.openxmlformats.org/officeDocument/2006/relationships/notesSlide" Target="/ppt/notesSlides/notesSlide20.xml" Id="R1e87d4a0226a446d"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3" TargetMode="External" /><ns0:Relationship Id="rIdLink3" Type="http://schemas.openxmlformats.org/officeDocument/2006/relationships/hyperlink" Target="https://developer.mozilla.org/en-US/docs/Learn_web_development/Core/Structuring_content" TargetMode="External" /></ns0:Relationships>
</file>

<file path=ppt/slides/_rels/slide21.xml.rels><?xml version='1.0' encoding='utf-8'?>
<ns0:Relationships xmlns:ns0="http://schemas.openxmlformats.org/package/2006/relationships"><ns0:Relationship Type="http://schemas.openxmlformats.org/officeDocument/2006/relationships/slideLayout" Target="/ppt/slideLayouts/slideLayout1.xml" Id="Rb64eae466c754f54" /><ns0:Relationship Type="http://schemas.openxmlformats.org/officeDocument/2006/relationships/notesSlide" Target="/ppt/notesSlides/notesSlide21.xml" Id="Rbb966270e4fa49c2"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4" TargetMode="External" /><ns0:Relationship Id="rIdLink3" Type="http://schemas.openxmlformats.org/officeDocument/2006/relationships/hyperlink" Target="https://react.dev/learn/passing-props-to-a-component" TargetMode="External" /></ns0:Relationships>
</file>

<file path=ppt/slides/_rels/slide22.xml.rels><?xml version='1.0' encoding='utf-8'?>
<ns0:Relationships xmlns:ns0="http://schemas.openxmlformats.org/package/2006/relationships"><ns0:Relationship Type="http://schemas.openxmlformats.org/officeDocument/2006/relationships/slideLayout" Target="/ppt/slideLayouts/slideLayout1.xml" Id="R84deb91e70974e72" /><ns0:Relationship Type="http://schemas.openxmlformats.org/officeDocument/2006/relationships/notesSlide" Target="/ppt/notesSlides/notesSlide22.xml" Id="R0ee74ae4f4ec4d66"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4" TargetMode="External" /><ns0:Relationship Id="rIdLink3" Type="http://schemas.openxmlformats.org/officeDocument/2006/relationships/hyperlink" Target="https://react.dev/learn/passing-props-to-a-component" TargetMode="External" /></ns0:Relationships>
</file>

<file path=ppt/slides/_rels/slide23.xml.rels><?xml version='1.0' encoding='utf-8'?>
<ns0:Relationships xmlns:ns0="http://schemas.openxmlformats.org/package/2006/relationships"><ns0:Relationship Type="http://schemas.openxmlformats.org/officeDocument/2006/relationships/slideLayout" Target="/ppt/slideLayouts/slideLayout1.xml" Id="R6f9375141e894cae" /><ns0:Relationship Type="http://schemas.openxmlformats.org/officeDocument/2006/relationships/notesSlide" Target="/ppt/notesSlides/notesSlide23.xml" Id="R2314f3d37f7b4fcf"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4" TargetMode="External" /><ns0:Relationship Id="rIdLink3" Type="http://schemas.openxmlformats.org/officeDocument/2006/relationships/hyperlink" Target="https://react.dev/learn/passing-props-to-a-component" TargetMode="External" /></ns0:Relationships>
</file>

<file path=ppt/slides/_rels/slide24.xml.rels><?xml version='1.0' encoding='utf-8'?>
<ns0:Relationships xmlns:ns0="http://schemas.openxmlformats.org/package/2006/relationships"><ns0:Relationship Type="http://schemas.openxmlformats.org/officeDocument/2006/relationships/slideLayout" Target="/ppt/slideLayouts/slideLayout1.xml" Id="R1a8ee67b03e248f0" /><ns0:Relationship Type="http://schemas.openxmlformats.org/officeDocument/2006/relationships/notesSlide" Target="/ppt/notesSlides/notesSlide24.xml" Id="Ra73750bca0dd4386"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4" TargetMode="External" /><ns0:Relationship Id="rIdLink3" Type="http://schemas.openxmlformats.org/officeDocument/2006/relationships/hyperlink" Target="https://react.dev/learn/passing-props-to-a-component" TargetMode="External" /></ns0:Relationships>
</file>

<file path=ppt/slides/_rels/slide25.xml.rels><?xml version='1.0' encoding='utf-8'?>
<ns0:Relationships xmlns:ns0="http://schemas.openxmlformats.org/package/2006/relationships"><ns0:Relationship Type="http://schemas.openxmlformats.org/officeDocument/2006/relationships/slideLayout" Target="/ppt/slideLayouts/slideLayout1.xml" Id="Ra0853a5071e64db0" /><ns0:Relationship Type="http://schemas.openxmlformats.org/officeDocument/2006/relationships/notesSlide" Target="/ppt/notesSlides/notesSlide25.xml" Id="R0c97a6dfbfc0432c"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4" TargetMode="External" /><ns0:Relationship Id="rIdLink3" Type="http://schemas.openxmlformats.org/officeDocument/2006/relationships/hyperlink" Target="https://react.dev/learn/passing-props-to-a-component" TargetMode="External" /></ns0:Relationships>
</file>

<file path=ppt/slides/_rels/slide26.xml.rels><?xml version='1.0' encoding='utf-8'?>
<ns0:Relationships xmlns:ns0="http://schemas.openxmlformats.org/package/2006/relationships"><ns0:Relationship Type="http://schemas.openxmlformats.org/officeDocument/2006/relationships/slideLayout" Target="/ppt/slideLayouts/slideLayout1.xml" Id="Rbd53a066a1ac42b4" /><ns0:Relationship Type="http://schemas.openxmlformats.org/officeDocument/2006/relationships/notesSlide" Target="/ppt/notesSlides/notesSlide26.xml" Id="R4edb0c13c22f4a12"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4" TargetMode="External" /><ns0:Relationship Id="rIdLink3" Type="http://schemas.openxmlformats.org/officeDocument/2006/relationships/hyperlink" Target="https://react.dev/learn/passing-props-to-a-component" TargetMode="External" /></ns0:Relationships>
</file>

<file path=ppt/slides/_rels/slide27.xml.rels><?xml version='1.0' encoding='utf-8'?>
<ns0:Relationships xmlns:ns0="http://schemas.openxmlformats.org/package/2006/relationships"><ns0:Relationship Type="http://schemas.openxmlformats.org/officeDocument/2006/relationships/slideLayout" Target="/ppt/slideLayouts/slideLayout1.xml" Id="R89785cccdd914d71" /><ns0:Relationship Type="http://schemas.openxmlformats.org/officeDocument/2006/relationships/notesSlide" Target="/ppt/notesSlides/notesSlide27.xml" Id="R80f9501695054c2d"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4" TargetMode="External" /><ns0:Relationship Id="rIdLink3" Type="http://schemas.openxmlformats.org/officeDocument/2006/relationships/hyperlink" Target="https://react.dev/learn/passing-props-to-a-component" TargetMode="External" /></ns0:Relationships>
</file>

<file path=ppt/slides/_rels/slide28.xml.rels><?xml version='1.0' encoding='utf-8'?>
<ns0:Relationships xmlns:ns0="http://schemas.openxmlformats.org/package/2006/relationships"><ns0:Relationship Type="http://schemas.openxmlformats.org/officeDocument/2006/relationships/slideLayout" Target="/ppt/slideLayouts/slideLayout1.xml" Id="Re3042a3c166548ea" /><ns0:Relationship Type="http://schemas.openxmlformats.org/officeDocument/2006/relationships/notesSlide" Target="/ppt/notesSlides/notesSlide28.xml" Id="Rd3c96dcb42ba4a3d"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5" TargetMode="External" /><ns0:Relationship Id="rIdLink3" Type="http://schemas.openxmlformats.org/officeDocument/2006/relationships/hyperlink" Target="https://react.dev/learn/passing-props-to-a-component" TargetMode="External" /></ns0:Relationships>
</file>

<file path=ppt/slides/_rels/slide29.xml.rels><?xml version='1.0' encoding='utf-8'?>
<ns0:Relationships xmlns:ns0="http://schemas.openxmlformats.org/package/2006/relationships"><ns0:Relationship Type="http://schemas.openxmlformats.org/officeDocument/2006/relationships/slideLayout" Target="/ppt/slideLayouts/slideLayout1.xml" Id="Rfe4f65061fbd47d8" /><ns0:Relationship Type="http://schemas.openxmlformats.org/officeDocument/2006/relationships/notesSlide" Target="/ppt/notesSlides/notesSlide29.xml" Id="R533e5461be3f448c"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5" TargetMode="External" /><ns0:Relationship Id="rIdLink3" Type="http://schemas.openxmlformats.org/officeDocument/2006/relationships/hyperlink" Target="https://react.dev/learn/passing-props-to-a-component" TargetMode="External" /></ns0:Relationships>
</file>

<file path=ppt/slides/_rels/slide30.xml.rels><?xml version='1.0' encoding='utf-8'?>
<ns0:Relationships xmlns:ns0="http://schemas.openxmlformats.org/package/2006/relationships"><ns0:Relationship Type="http://schemas.openxmlformats.org/officeDocument/2006/relationships/slideLayout" Target="/ppt/slideLayouts/slideLayout1.xml" Id="Rf70387566a444508" /><ns0:Relationship Type="http://schemas.openxmlformats.org/officeDocument/2006/relationships/notesSlide" Target="/ppt/notesSlides/notesSlide30.xml" Id="Rccbbd1782d8740f1"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5" TargetMode="External" /><ns0:Relationship Id="rIdLink3" Type="http://schemas.openxmlformats.org/officeDocument/2006/relationships/hyperlink" Target="https://react.dev/learn/passing-props-to-a-component" TargetMode="External" /></ns0:Relationships>
</file>

<file path=ppt/slides/_rels/slide31.xml.rels><?xml version='1.0' encoding='utf-8'?>
<ns0:Relationships xmlns:ns0="http://schemas.openxmlformats.org/package/2006/relationships"><ns0:Relationship Type="http://schemas.openxmlformats.org/officeDocument/2006/relationships/slideLayout" Target="/ppt/slideLayouts/slideLayout1.xml" Id="R172481a029044390" /><ns0:Relationship Type="http://schemas.openxmlformats.org/officeDocument/2006/relationships/notesSlide" Target="/ppt/notesSlides/notesSlide31.xml" Id="Rf92adbb6f5e34d70"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5" TargetMode="External" /><ns0:Relationship Id="rIdLink3" Type="http://schemas.openxmlformats.org/officeDocument/2006/relationships/hyperlink" Target="https://react.dev/learn/passing-props-to-a-component" TargetMode="External" /></ns0:Relationships>
</file>

<file path=ppt/slides/_rels/slide32.xml.rels><?xml version='1.0' encoding='utf-8'?>
<ns0:Relationships xmlns:ns0="http://schemas.openxmlformats.org/package/2006/relationships"><ns0:Relationship Type="http://schemas.openxmlformats.org/officeDocument/2006/relationships/slideLayout" Target="/ppt/slideLayouts/slideLayout1.xml" Id="Re322e00a594340c5" /><ns0:Relationship Type="http://schemas.openxmlformats.org/officeDocument/2006/relationships/notesSlide" Target="/ppt/notesSlides/notesSlide32.xml" Id="R5ed4761cc19e4448"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5" TargetMode="External" /><ns0:Relationship Id="rIdLink3" Type="http://schemas.openxmlformats.org/officeDocument/2006/relationships/hyperlink" Target="https://react.dev/learn/passing-props-to-a-component" TargetMode="External" /></ns0:Relationships>
</file>

<file path=ppt/slides/_rels/slide33.xml.rels><?xml version='1.0' encoding='utf-8'?>
<ns0:Relationships xmlns:ns0="http://schemas.openxmlformats.org/package/2006/relationships"><ns0:Relationship Type="http://schemas.openxmlformats.org/officeDocument/2006/relationships/slideLayout" Target="/ppt/slideLayouts/slideLayout1.xml" Id="R05dadb39ad364740" /><ns0:Relationship Type="http://schemas.openxmlformats.org/officeDocument/2006/relationships/notesSlide" Target="/ppt/notesSlides/notesSlide33.xml" Id="Rad154ecbcb474393"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6" TargetMode="External" /><ns0:Relationship Id="rIdLink3" Type="http://schemas.openxmlformats.org/officeDocument/2006/relationships/hyperlink" Target="https://react.dev/learn/passing-props-to-a-component" TargetMode="External" /></ns0:Relationships>
</file>

<file path=ppt/slides/_rels/slide34.xml.rels><?xml version='1.0' encoding='utf-8'?>
<ns0:Relationships xmlns:ns0="http://schemas.openxmlformats.org/package/2006/relationships"><ns0:Relationship Type="http://schemas.openxmlformats.org/officeDocument/2006/relationships/slideLayout" Target="/ppt/slideLayouts/slideLayout1.xml" Id="R3c6468b271394b5a" /><ns0:Relationship Type="http://schemas.openxmlformats.org/officeDocument/2006/relationships/notesSlide" Target="/ppt/notesSlides/notesSlide34.xml" Id="Raa478c83de1b47bb"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6" TargetMode="External" /><ns0:Relationship Id="rIdLink3" Type="http://schemas.openxmlformats.org/officeDocument/2006/relationships/hyperlink" Target="https://react.dev/learn/passing-props-to-a-component" TargetMode="External" /></ns0:Relationships>
</file>

<file path=ppt/slides/_rels/slide35.xml.rels><?xml version='1.0' encoding='utf-8'?>
<ns0:Relationships xmlns:ns0="http://schemas.openxmlformats.org/package/2006/relationships"><ns0:Relationship Type="http://schemas.openxmlformats.org/officeDocument/2006/relationships/slideLayout" Target="/ppt/slideLayouts/slideLayout1.xml" Id="R230168cdca3f41dc" /><ns0:Relationship Type="http://schemas.openxmlformats.org/officeDocument/2006/relationships/notesSlide" Target="/ppt/notesSlides/notesSlide35.xml" Id="R6b6cb4aef3944410"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6" TargetMode="External" /><ns0:Relationship Id="rIdLink3" Type="http://schemas.openxmlformats.org/officeDocument/2006/relationships/hyperlink" Target="https://react.dev/learn/passing-props-to-a-component" TargetMode="External" /></ns0:Relationships>
</file>

<file path=ppt/slides/_rels/slide36.xml.rels><?xml version='1.0' encoding='utf-8'?>
<ns0:Relationships xmlns:ns0="http://schemas.openxmlformats.org/package/2006/relationships"><ns0:Relationship Type="http://schemas.openxmlformats.org/officeDocument/2006/relationships/slideLayout" Target="/ppt/slideLayouts/slideLayout1.xml" Id="R68778e66887c4d2f" /><ns0:Relationship Type="http://schemas.openxmlformats.org/officeDocument/2006/relationships/notesSlide" Target="/ppt/notesSlides/notesSlide36.xml" Id="Ra5ab0abefec74851"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6" TargetMode="External" /><ns0:Relationship Id="rIdLink3" Type="http://schemas.openxmlformats.org/officeDocument/2006/relationships/hyperlink" Target="https://react.dev/learn/passing-props-to-a-component" TargetMode="External" /></ns0:Relationships>
</file>

<file path=ppt/slides/_rels/slide37.xml.rels><?xml version='1.0' encoding='utf-8'?>
<ns0:Relationships xmlns:ns0="http://schemas.openxmlformats.org/package/2006/relationships"><ns0:Relationship Type="http://schemas.openxmlformats.org/officeDocument/2006/relationships/slideLayout" Target="/ppt/slideLayouts/slideLayout1.xml" Id="R1fec0e92edd04526" /><ns0:Relationship Type="http://schemas.openxmlformats.org/officeDocument/2006/relationships/notesSlide" Target="/ppt/notesSlides/notesSlide37.xml" Id="Rd5206b1d49974eab"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6" TargetMode="External" /><ns0:Relationship Id="rIdLink3" Type="http://schemas.openxmlformats.org/officeDocument/2006/relationships/hyperlink" Target="https://react.dev/learn/passing-props-to-a-component" TargetMode="External" /></ns0:Relationships>
</file>

<file path=ppt/slides/_rels/slide38.xml.rels><?xml version='1.0' encoding='utf-8'?>
<ns0:Relationships xmlns:ns0="http://schemas.openxmlformats.org/package/2006/relationships"><ns0:Relationship Type="http://schemas.openxmlformats.org/officeDocument/2006/relationships/slideLayout" Target="/ppt/slideLayouts/slideLayout1.xml" Id="R7fdfbfb6cb9d4095" /><ns0:Relationship Type="http://schemas.openxmlformats.org/officeDocument/2006/relationships/notesSlide" Target="/ppt/notesSlides/notesSlide38.xml" Id="Ra250b96b72864fa2"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7" TargetMode="External" /><ns0:Relationship Id="rIdLink3" Type="http://schemas.openxmlformats.org/officeDocument/2006/relationships/hyperlink" Target="https://modelcontextprotocol.io/specification/2025-11-25/basic/lifecycle" TargetMode="External" /></ns0:Relationships>
</file>

<file path=ppt/slides/_rels/slide39.xml.rels><?xml version='1.0' encoding='utf-8'?>
<ns0:Relationships xmlns:ns0="http://schemas.openxmlformats.org/package/2006/relationships"><ns0:Relationship Type="http://schemas.openxmlformats.org/officeDocument/2006/relationships/slideLayout" Target="/ppt/slideLayouts/slideLayout1.xml" Id="R4fe197f868114665" /><ns0:Relationship Type="http://schemas.openxmlformats.org/officeDocument/2006/relationships/notesSlide" Target="/ppt/notesSlides/notesSlide39.xml" Id="R8bd722621cef4c76"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7" TargetMode="External" /><ns0:Relationship Id="rIdLink3" Type="http://schemas.openxmlformats.org/officeDocument/2006/relationships/hyperlink" Target="https://modelcontextprotocol.io/specification/2025-11-25/basic/lifecycle" TargetMode="External" /></ns0:Relationships>
</file>

<file path=ppt/slides/_rels/slide40.xml.rels><?xml version='1.0' encoding='utf-8'?>
<ns0:Relationships xmlns:ns0="http://schemas.openxmlformats.org/package/2006/relationships"><ns0:Relationship Type="http://schemas.openxmlformats.org/officeDocument/2006/relationships/slideLayout" Target="/ppt/slideLayouts/slideLayout1.xml" Id="R0279293c44984776" /><ns0:Relationship Type="http://schemas.openxmlformats.org/officeDocument/2006/relationships/notesSlide" Target="/ppt/notesSlides/notesSlide40.xml" Id="Rde21d31fad294546"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7" TargetMode="External" /><ns0:Relationship Id="rIdLink3" Type="http://schemas.openxmlformats.org/officeDocument/2006/relationships/hyperlink" Target="https://modelcontextprotocol.io/specification/2025-11-25/basic/lifecycle" TargetMode="External" /></ns0:Relationships>
</file>

<file path=ppt/slides/_rels/slide41.xml.rels><?xml version='1.0' encoding='utf-8'?>
<ns0:Relationships xmlns:ns0="http://schemas.openxmlformats.org/package/2006/relationships"><ns0:Relationship Type="http://schemas.openxmlformats.org/officeDocument/2006/relationships/slideLayout" Target="/ppt/slideLayouts/slideLayout1.xml" Id="R0291b14b13744831" /><ns0:Relationship Type="http://schemas.openxmlformats.org/officeDocument/2006/relationships/notesSlide" Target="/ppt/notesSlides/notesSlide41.xml" Id="Rcad6622b4ff24f5f"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7" TargetMode="External" /><ns0:Relationship Id="rIdLink3" Type="http://schemas.openxmlformats.org/officeDocument/2006/relationships/hyperlink" Target="https://modelcontextprotocol.io/specification/2025-11-25/basic/lifecycle" TargetMode="External" /></ns0:Relationships>
</file>

<file path=ppt/slides/_rels/slide42.xml.rels><?xml version='1.0' encoding='utf-8'?>
<ns0:Relationships xmlns:ns0="http://schemas.openxmlformats.org/package/2006/relationships"><ns0:Relationship Type="http://schemas.openxmlformats.org/officeDocument/2006/relationships/slideLayout" Target="/ppt/slideLayouts/slideLayout1.xml" Id="Ra1fe8fdbdb5649cb" /><ns0:Relationship Type="http://schemas.openxmlformats.org/officeDocument/2006/relationships/notesSlide" Target="/ppt/notesSlides/notesSlide42.xml" Id="R4e7c8a927db44a75"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7" TargetMode="External" /><ns0:Relationship Id="rIdLink3" Type="http://schemas.openxmlformats.org/officeDocument/2006/relationships/hyperlink" Target="https://modelcontextprotocol.io/specification/2025-11-25/basic/lifecycle" TargetMode="External" /></ns0:Relationships>
</file>

<file path=ppt/slides/_rels/slide43.xml.rels><?xml version='1.0' encoding='utf-8'?>
<ns0:Relationships xmlns:ns0="http://schemas.openxmlformats.org/package/2006/relationships"><ns0:Relationship Type="http://schemas.openxmlformats.org/officeDocument/2006/relationships/slideLayout" Target="/ppt/slideLayouts/slideLayout1.xml" Id="R3bad7500bd7944fb" /><ns0:Relationship Type="http://schemas.openxmlformats.org/officeDocument/2006/relationships/notesSlide" Target="/ppt/notesSlides/notesSlide43.xml" Id="Rfb787b58d3ee4cc3"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7" TargetMode="External" /><ns0:Relationship Id="rIdLink3" Type="http://schemas.openxmlformats.org/officeDocument/2006/relationships/hyperlink" Target="https://modelcontextprotocol.io/specification/2025-11-25/basic/lifecycle" TargetMode="External" /></ns0:Relationships>
</file>

<file path=ppt/slides/_rels/slide44.xml.rels><?xml version='1.0' encoding='utf-8'?>
<ns0:Relationships xmlns:ns0="http://schemas.openxmlformats.org/package/2006/relationships"><ns0:Relationship Type="http://schemas.openxmlformats.org/officeDocument/2006/relationships/slideLayout" Target="/ppt/slideLayouts/slideLayout1.xml" Id="R21abbc0de6bc437e" /><ns0:Relationship Type="http://schemas.openxmlformats.org/officeDocument/2006/relationships/notesSlide" Target="/ppt/notesSlides/notesSlide44.xml" Id="Rcd801b4557e94d71"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7" TargetMode="External" /><ns0:Relationship Id="rIdLink3" Type="http://schemas.openxmlformats.org/officeDocument/2006/relationships/hyperlink" Target="https://modelcontextprotocol.io/specification/2025-11-25/basic/lifecycle" TargetMode="External" /></ns0:Relationships>
</file>

<file path=ppt/slides/_rels/slide45.xml.rels><?xml version='1.0' encoding='utf-8'?>
<ns0:Relationships xmlns:ns0="http://schemas.openxmlformats.org/package/2006/relationships"><ns0:Relationship Type="http://schemas.openxmlformats.org/officeDocument/2006/relationships/slideLayout" Target="/ppt/slideLayouts/slideLayout1.xml" Id="Rbc6984c10e6d447b" /><ns0:Relationship Type="http://schemas.openxmlformats.org/officeDocument/2006/relationships/notesSlide" Target="/ppt/notesSlides/notesSlide45.xml" Id="R944cee26fe06450c"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8" TargetMode="External" /><ns0:Relationship Id="rIdLink3" Type="http://schemas.openxmlformats.org/officeDocument/2006/relationships/hyperlink" Target="https://modelcontextprotocol.io/specification/2025-11-25/basic/lifecycle" TargetMode="External" /></ns0:Relationships>
</file>

<file path=ppt/slides/_rels/slide46.xml.rels><?xml version='1.0' encoding='utf-8'?>
<ns0:Relationships xmlns:ns0="http://schemas.openxmlformats.org/package/2006/relationships"><ns0:Relationship Type="http://schemas.openxmlformats.org/officeDocument/2006/relationships/slideLayout" Target="/ppt/slideLayouts/slideLayout1.xml" Id="R37ba7a32ec56437b" /><ns0:Relationship Type="http://schemas.openxmlformats.org/officeDocument/2006/relationships/notesSlide" Target="/ppt/notesSlides/notesSlide46.xml" Id="Ra5476b41bc5a4698"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8" TargetMode="External" /><ns0:Relationship Id="rIdLink3" Type="http://schemas.openxmlformats.org/officeDocument/2006/relationships/hyperlink" Target="https://modelcontextprotocol.io/specification/2025-11-25/basic/lifecycle" TargetMode="External" /></ns0:Relationships>
</file>

<file path=ppt/slides/_rels/slide47.xml.rels><?xml version='1.0' encoding='utf-8'?>
<ns0:Relationships xmlns:ns0="http://schemas.openxmlformats.org/package/2006/relationships"><ns0:Relationship Type="http://schemas.openxmlformats.org/officeDocument/2006/relationships/slideLayout" Target="/ppt/slideLayouts/slideLayout1.xml" Id="R378ac8b0dedf472c" /><ns0:Relationship Type="http://schemas.openxmlformats.org/officeDocument/2006/relationships/notesSlide" Target="/ppt/notesSlides/notesSlide47.xml" Id="Ra522ae913c8f436e"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8" TargetMode="External" /><ns0:Relationship Id="rIdLink3" Type="http://schemas.openxmlformats.org/officeDocument/2006/relationships/hyperlink" Target="https://modelcontextprotocol.io/specification/2025-11-25/basic/lifecycle" TargetMode="External" /></ns0:Relationships>
</file>

<file path=ppt/slides/_rels/slide48.xml.rels><?xml version='1.0' encoding='utf-8'?>
<ns0:Relationships xmlns:ns0="http://schemas.openxmlformats.org/package/2006/relationships"><ns0:Relationship Type="http://schemas.openxmlformats.org/officeDocument/2006/relationships/slideLayout" Target="/ppt/slideLayouts/slideLayout1.xml" Id="R970c83d76c964723" /><ns0:Relationship Type="http://schemas.openxmlformats.org/officeDocument/2006/relationships/notesSlide" Target="/ppt/notesSlides/notesSlide48.xml" Id="Rbcb25663cdb74fe7"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8" TargetMode="External" /><ns0:Relationship Id="rIdLink3" Type="http://schemas.openxmlformats.org/officeDocument/2006/relationships/hyperlink" Target="https://modelcontextprotocol.io/specification/2025-11-25/basic/lifecycle" TargetMode="External" /></ns0:Relationships>
</file>

<file path=ppt/slides/_rels/slide49.xml.rels><?xml version='1.0' encoding='utf-8'?>
<ns0:Relationships xmlns:ns0="http://schemas.openxmlformats.org/package/2006/relationships"><ns0:Relationship Type="http://schemas.openxmlformats.org/officeDocument/2006/relationships/slideLayout" Target="/ppt/slideLayouts/slideLayout1.xml" Id="R718d901626b648f7" /><ns0:Relationship Type="http://schemas.openxmlformats.org/officeDocument/2006/relationships/notesSlide" Target="/ppt/notesSlides/notesSlide49.xml" Id="R51997f59560a4253"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8" TargetMode="External" /><ns0:Relationship Id="rIdLink3" Type="http://schemas.openxmlformats.org/officeDocument/2006/relationships/hyperlink" Target="https://modelcontextprotocol.io/specification/2025-11-25/basic/lifecycle" TargetMode="External" /></ns0:Relationships>
</file>

<file path=ppt/slides/_rels/slide50.xml.rels><?xml version='1.0' encoding='utf-8'?>
<ns0:Relationships xmlns:ns0="http://schemas.openxmlformats.org/package/2006/relationships"><ns0:Relationship Type="http://schemas.openxmlformats.org/officeDocument/2006/relationships/slideLayout" Target="/ppt/slideLayouts/slideLayout1.xml" Id="R8d042c66a7cc4ac8" /><ns0:Relationship Type="http://schemas.openxmlformats.org/officeDocument/2006/relationships/notesSlide" Target="/ppt/notesSlides/notesSlide50.xml" Id="Rb90ff051a3a44051"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9" TargetMode="External" /><ns0:Relationship Id="rIdLink3" Type="http://schemas.openxmlformats.org/officeDocument/2006/relationships/hyperlink" Target="https://modelcontextprotocol.io/specification/2025-11-25/basic/lifecycle" TargetMode="External" /></ns0:Relationships>
</file>

<file path=ppt/slides/_rels/slide51.xml.rels><?xml version='1.0' encoding='utf-8'?>
<ns0:Relationships xmlns:ns0="http://schemas.openxmlformats.org/package/2006/relationships"><ns0:Relationship Type="http://schemas.openxmlformats.org/officeDocument/2006/relationships/slideLayout" Target="/ppt/slideLayouts/slideLayout1.xml" Id="Rd690e9457bd84eab" /><ns0:Relationship Type="http://schemas.openxmlformats.org/officeDocument/2006/relationships/notesSlide" Target="/ppt/notesSlides/notesSlide51.xml" Id="Rac5277f37b704e9e"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9" TargetMode="External" /><ns0:Relationship Id="rIdLink3" Type="http://schemas.openxmlformats.org/officeDocument/2006/relationships/hyperlink" Target="https://modelcontextprotocol.io/specification/2025-11-25/basic/lifecycle" TargetMode="External" /></ns0:Relationships>
</file>

<file path=ppt/slides/_rels/slide52.xml.rels><?xml version='1.0' encoding='utf-8'?>
<ns0:Relationships xmlns:ns0="http://schemas.openxmlformats.org/package/2006/relationships"><ns0:Relationship Type="http://schemas.openxmlformats.org/officeDocument/2006/relationships/slideLayout" Target="/ppt/slideLayouts/slideLayout1.xml" Id="R3dc773de16a443b2" /><ns0:Relationship Type="http://schemas.openxmlformats.org/officeDocument/2006/relationships/notesSlide" Target="/ppt/notesSlides/notesSlide52.xml" Id="Rdf361fe549f540c6"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9" TargetMode="External" /><ns0:Relationship Id="rIdLink3" Type="http://schemas.openxmlformats.org/officeDocument/2006/relationships/hyperlink" Target="https://modelcontextprotocol.io/specification/2025-11-25/basic/lifecycle" TargetMode="External" /></ns0:Relationships>
</file>

<file path=ppt/slides/_rels/slide53.xml.rels><?xml version='1.0' encoding='utf-8'?>
<ns0:Relationships xmlns:ns0="http://schemas.openxmlformats.org/package/2006/relationships"><ns0:Relationship Type="http://schemas.openxmlformats.org/officeDocument/2006/relationships/slideLayout" Target="/ppt/slideLayouts/slideLayout1.xml" Id="R6488ded5db2d4988" /><ns0:Relationship Type="http://schemas.openxmlformats.org/officeDocument/2006/relationships/notesSlide" Target="/ppt/notesSlides/notesSlide53.xml" Id="Rcc1406e2da724f35"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09" TargetMode="External" /><ns0:Relationship Id="rIdLink3" Type="http://schemas.openxmlformats.org/officeDocument/2006/relationships/hyperlink" Target="https://modelcontextprotocol.io/specification/2025-11-25/basic/lifecycle" TargetMode="External" /></ns0:Relationships>
</file>

<file path=ppt/slides/_rels/slide54.xml.rels><?xml version='1.0' encoding='utf-8'?>
<ns0:Relationships xmlns:ns0="http://schemas.openxmlformats.org/package/2006/relationships"><ns0:Relationship Type="http://schemas.openxmlformats.org/officeDocument/2006/relationships/slideLayout" Target="/ppt/slideLayouts/slideLayout1.xml" Id="R3d8e20ebcbcc495b" /><ns0:Relationship Type="http://schemas.openxmlformats.org/officeDocument/2006/relationships/notesSlide" Target="/ppt/notesSlides/notesSlide54.xml" Id="Rcd6450d5e6fd4446"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0" TargetMode="External" /><ns0:Relationship Id="rIdLink3" Type="http://schemas.openxmlformats.org/officeDocument/2006/relationships/hyperlink" Target="https://developer.mozilla.org/en-US/docs/Learn_web_development/Core/Structuring_content" TargetMode="External" /></ns0:Relationships>
</file>

<file path=ppt/slides/_rels/slide55.xml.rels><?xml version='1.0' encoding='utf-8'?>
<ns0:Relationships xmlns:ns0="http://schemas.openxmlformats.org/package/2006/relationships"><ns0:Relationship Type="http://schemas.openxmlformats.org/officeDocument/2006/relationships/slideLayout" Target="/ppt/slideLayouts/slideLayout1.xml" Id="R668fe99d313943aa" /><ns0:Relationship Type="http://schemas.openxmlformats.org/officeDocument/2006/relationships/notesSlide" Target="/ppt/notesSlides/notesSlide55.xml" Id="R17ed4f1456c24977"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0" TargetMode="External" /><ns0:Relationship Id="rIdLink3" Type="http://schemas.openxmlformats.org/officeDocument/2006/relationships/hyperlink" Target="https://developer.mozilla.org/en-US/docs/Learn_web_development/Core/Structuring_content" TargetMode="External" /></ns0:Relationships>
</file>

<file path=ppt/slides/_rels/slide56.xml.rels><?xml version='1.0' encoding='utf-8'?>
<ns0:Relationships xmlns:ns0="http://schemas.openxmlformats.org/package/2006/relationships"><ns0:Relationship Type="http://schemas.openxmlformats.org/officeDocument/2006/relationships/slideLayout" Target="/ppt/slideLayouts/slideLayout1.xml" Id="R76837e7112384f30" /><ns0:Relationship Type="http://schemas.openxmlformats.org/officeDocument/2006/relationships/notesSlide" Target="/ppt/notesSlides/notesSlide56.xml" Id="Ra4b105bce6374b80"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0" TargetMode="External" /><ns0:Relationship Id="rIdLink3" Type="http://schemas.openxmlformats.org/officeDocument/2006/relationships/hyperlink" Target="https://developer.mozilla.org/en-US/docs/Learn_web_development/Core/Structuring_content" TargetMode="External" /></ns0:Relationships>
</file>

<file path=ppt/slides/_rels/slide57.xml.rels><?xml version='1.0' encoding='utf-8'?>
<ns0:Relationships xmlns:ns0="http://schemas.openxmlformats.org/package/2006/relationships"><ns0:Relationship Type="http://schemas.openxmlformats.org/officeDocument/2006/relationships/slideLayout" Target="/ppt/slideLayouts/slideLayout1.xml" Id="Rb6e5c55b08a34332" /><ns0:Relationship Type="http://schemas.openxmlformats.org/officeDocument/2006/relationships/notesSlide" Target="/ppt/notesSlides/notesSlide57.xml" Id="Rd39626ac7a9845c3"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0" TargetMode="External" /><ns0:Relationship Id="rIdLink3" Type="http://schemas.openxmlformats.org/officeDocument/2006/relationships/hyperlink" Target="https://developer.mozilla.org/en-US/docs/Learn_web_development/Core/Structuring_content" TargetMode="External" /></ns0:Relationships>
</file>

<file path=ppt/slides/_rels/slide58.xml.rels><?xml version='1.0' encoding='utf-8'?>
<ns0:Relationships xmlns:ns0="http://schemas.openxmlformats.org/package/2006/relationships"><ns0:Relationship Type="http://schemas.openxmlformats.org/officeDocument/2006/relationships/slideLayout" Target="/ppt/slideLayouts/slideLayout1.xml" Id="Ra06d28dfdad849fa" /><ns0:Relationship Type="http://schemas.openxmlformats.org/officeDocument/2006/relationships/notesSlide" Target="/ppt/notesSlides/notesSlide58.xml" Id="R4b5f760265414443"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0" TargetMode="External" /><ns0:Relationship Id="rIdLink3" Type="http://schemas.openxmlformats.org/officeDocument/2006/relationships/hyperlink" Target="https://developer.mozilla.org/en-US/docs/Learn_web_development/Core/Structuring_content" TargetMode="External" /></ns0:Relationships>
</file>

<file path=ppt/slides/_rels/slide59.xml.rels><?xml version='1.0' encoding='utf-8'?>
<ns0:Relationships xmlns:ns0="http://schemas.openxmlformats.org/package/2006/relationships"><ns0:Relationship Type="http://schemas.openxmlformats.org/officeDocument/2006/relationships/slideLayout" Target="/ppt/slideLayouts/slideLayout1.xml" Id="R83b4635fd35f4d70" /><ns0:Relationship Type="http://schemas.openxmlformats.org/officeDocument/2006/relationships/notesSlide" Target="/ppt/notesSlides/notesSlide59.xml" Id="R1faee84c9d9e4768"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0" TargetMode="External" /><ns0:Relationship Id="rIdLink3" Type="http://schemas.openxmlformats.org/officeDocument/2006/relationships/hyperlink" Target="https://developer.mozilla.org/en-US/docs/Learn_web_development/Core/Structuring_content" TargetMode="External" /></ns0:Relationships>
</file>

<file path=ppt/slides/_rels/slide60.xml.rels><?xml version='1.0' encoding='utf-8'?>
<ns0:Relationships xmlns:ns0="http://schemas.openxmlformats.org/package/2006/relationships"><ns0:Relationship Type="http://schemas.openxmlformats.org/officeDocument/2006/relationships/slideLayout" Target="/ppt/slideLayouts/slideLayout1.xml" Id="R78a035270aa44a17" /><ns0:Relationship Type="http://schemas.openxmlformats.org/officeDocument/2006/relationships/notesSlide" Target="/ppt/notesSlides/notesSlide60.xml" Id="R325ea8bc1bc34e8f"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0" TargetMode="External" /><ns0:Relationship Id="rIdLink3" Type="http://schemas.openxmlformats.org/officeDocument/2006/relationships/hyperlink" Target="https://developer.mozilla.org/en-US/docs/Learn_web_development/Core/Structuring_content" TargetMode="External" /></ns0:Relationships>
</file>

<file path=ppt/slides/_rels/slide61.xml.rels><?xml version='1.0' encoding='utf-8'?>
<ns0:Relationships xmlns:ns0="http://schemas.openxmlformats.org/package/2006/relationships"><ns0:Relationship Type="http://schemas.openxmlformats.org/officeDocument/2006/relationships/slideLayout" Target="/ppt/slideLayouts/slideLayout1.xml" Id="Rc7bba49fcaa64b38" /><ns0:Relationship Type="http://schemas.openxmlformats.org/officeDocument/2006/relationships/notesSlide" Target="/ppt/notesSlides/notesSlide61.xml" Id="Rce278a8a759442ea"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1" TargetMode="External" /><ns0:Relationship Id="rIdLink3" Type="http://schemas.openxmlformats.org/officeDocument/2006/relationships/hyperlink" Target="https://developer.mozilla.org/en-US/docs/Learn_web_development/Core/Structuring_content" TargetMode="External" /></ns0:Relationships>
</file>

<file path=ppt/slides/_rels/slide62.xml.rels><?xml version='1.0' encoding='utf-8'?>
<ns0:Relationships xmlns:ns0="http://schemas.openxmlformats.org/package/2006/relationships"><ns0:Relationship Type="http://schemas.openxmlformats.org/officeDocument/2006/relationships/slideLayout" Target="/ppt/slideLayouts/slideLayout1.xml" Id="R925b683e0b12431b" /><ns0:Relationship Type="http://schemas.openxmlformats.org/officeDocument/2006/relationships/notesSlide" Target="/ppt/notesSlides/notesSlide62.xml" Id="Rceaf7cdd80e94778"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1" TargetMode="External" /><ns0:Relationship Id="rIdLink3" Type="http://schemas.openxmlformats.org/officeDocument/2006/relationships/hyperlink" Target="https://developer.mozilla.org/en-US/docs/Learn_web_development/Core/Structuring_content" TargetMode="External" /></ns0:Relationships>
</file>

<file path=ppt/slides/_rels/slide63.xml.rels><?xml version='1.0' encoding='utf-8'?>
<ns0:Relationships xmlns:ns0="http://schemas.openxmlformats.org/package/2006/relationships"><ns0:Relationship Type="http://schemas.openxmlformats.org/officeDocument/2006/relationships/slideLayout" Target="/ppt/slideLayouts/slideLayout1.xml" Id="Rc699413f6ab8467b" /><ns0:Relationship Type="http://schemas.openxmlformats.org/officeDocument/2006/relationships/notesSlide" Target="/ppt/notesSlides/notesSlide63.xml" Id="R407efe3566f64141"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1" TargetMode="External" /><ns0:Relationship Id="rIdLink3" Type="http://schemas.openxmlformats.org/officeDocument/2006/relationships/hyperlink" Target="https://developer.mozilla.org/en-US/docs/Learn_web_development/Core/Structuring_content" TargetMode="External" /></ns0:Relationships>
</file>

<file path=ppt/slides/_rels/slide64.xml.rels><?xml version='1.0' encoding='utf-8'?>
<ns0:Relationships xmlns:ns0="http://schemas.openxmlformats.org/package/2006/relationships"><ns0:Relationship Type="http://schemas.openxmlformats.org/officeDocument/2006/relationships/slideLayout" Target="/ppt/slideLayouts/slideLayout1.xml" Id="Raba24a1f386149c6" /><ns0:Relationship Type="http://schemas.openxmlformats.org/officeDocument/2006/relationships/notesSlide" Target="/ppt/notesSlides/notesSlide64.xml" Id="R1a8c02f5b4df403e"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1" TargetMode="External" /><ns0:Relationship Id="rIdLink3" Type="http://schemas.openxmlformats.org/officeDocument/2006/relationships/hyperlink" Target="https://developer.mozilla.org/en-US/docs/Learn_web_development/Core/Structuring_content" TargetMode="External" /></ns0:Relationships>
</file>

<file path=ppt/slides/_rels/slide65.xml.rels><?xml version='1.0' encoding='utf-8'?>
<ns0:Relationships xmlns:ns0="http://schemas.openxmlformats.org/package/2006/relationships"><ns0:Relationship Type="http://schemas.openxmlformats.org/officeDocument/2006/relationships/slideLayout" Target="/ppt/slideLayouts/slideLayout1.xml" Id="Re5bd126bddcf4b20" /><ns0:Relationship Type="http://schemas.openxmlformats.org/officeDocument/2006/relationships/notesSlide" Target="/ppt/notesSlides/notesSlide65.xml" Id="R68099e88a19d4228"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1" TargetMode="External" /><ns0:Relationship Id="rIdLink3" Type="http://schemas.openxmlformats.org/officeDocument/2006/relationships/hyperlink" Target="https://developer.mozilla.org/en-US/docs/Learn_web_development/Core/Structuring_content" TargetMode="External" /></ns0:Relationships>
</file>

<file path=ppt/slides/_rels/slide66.xml.rels><?xml version='1.0' encoding='utf-8'?>
<ns0:Relationships xmlns:ns0="http://schemas.openxmlformats.org/package/2006/relationships"><ns0:Relationship Type="http://schemas.openxmlformats.org/officeDocument/2006/relationships/slideLayout" Target="/ppt/slideLayouts/slideLayout1.xml" Id="R6734155c7ad9441f" /><ns0:Relationship Type="http://schemas.openxmlformats.org/officeDocument/2006/relationships/notesSlide" Target="/ppt/notesSlides/notesSlide66.xml" Id="Rf4da4e6edaa546ec"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2" TargetMode="External" /><ns0:Relationship Id="rIdLink3" Type="http://schemas.openxmlformats.org/officeDocument/2006/relationships/hyperlink" Target="https://developer.mozilla.org/en-US/docs/Learn_web_development/Core/Structuring_content" TargetMode="External" /></ns0:Relationships>
</file>

<file path=ppt/slides/_rels/slide67.xml.rels><?xml version='1.0' encoding='utf-8'?>
<ns0:Relationships xmlns:ns0="http://schemas.openxmlformats.org/package/2006/relationships"><ns0:Relationship Type="http://schemas.openxmlformats.org/officeDocument/2006/relationships/slideLayout" Target="/ppt/slideLayouts/slideLayout1.xml" Id="Rdc380446b797495e" /><ns0:Relationship Type="http://schemas.openxmlformats.org/officeDocument/2006/relationships/notesSlide" Target="/ppt/notesSlides/notesSlide67.xml" Id="Rfd97d93b6530452e"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2" TargetMode="External" /><ns0:Relationship Id="rIdLink3" Type="http://schemas.openxmlformats.org/officeDocument/2006/relationships/hyperlink" Target="https://developer.mozilla.org/en-US/docs/Learn_web_development/Core/Structuring_content" TargetMode="External" /></ns0:Relationships>
</file>

<file path=ppt/slides/_rels/slide68.xml.rels><?xml version='1.0' encoding='utf-8'?>
<ns0:Relationships xmlns:ns0="http://schemas.openxmlformats.org/package/2006/relationships"><ns0:Relationship Type="http://schemas.openxmlformats.org/officeDocument/2006/relationships/slideLayout" Target="/ppt/slideLayouts/slideLayout1.xml" Id="R9f9be0bee7e541d0" /><ns0:Relationship Type="http://schemas.openxmlformats.org/officeDocument/2006/relationships/notesSlide" Target="/ppt/notesSlides/notesSlide68.xml" Id="R063fe0dd6a4549b6"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2" TargetMode="External" /><ns0:Relationship Id="rIdLink3" Type="http://schemas.openxmlformats.org/officeDocument/2006/relationships/hyperlink" Target="https://developer.mozilla.org/en-US/docs/Learn_web_development/Core/Structuring_content" TargetMode="External" /></ns0:Relationships>
</file>

<file path=ppt/slides/_rels/slide69.xml.rels><?xml version='1.0' encoding='utf-8'?>
<ns0:Relationships xmlns:ns0="http://schemas.openxmlformats.org/package/2006/relationships"><ns0:Relationship Type="http://schemas.openxmlformats.org/officeDocument/2006/relationships/slideLayout" Target="/ppt/slideLayouts/slideLayout1.xml" Id="Rbce5e5b43fe04367" /><ns0:Relationship Type="http://schemas.openxmlformats.org/officeDocument/2006/relationships/notesSlide" Target="/ppt/notesSlides/notesSlide69.xml" Id="Rd0add7c8a9b447d9"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2" TargetMode="External" /><ns0:Relationship Id="rIdLink3" Type="http://schemas.openxmlformats.org/officeDocument/2006/relationships/hyperlink" Target="https://developer.mozilla.org/en-US/docs/Learn_web_development/Core/Structuring_content" TargetMode="External" /></ns0:Relationships>
</file>

<file path=ppt/slides/_rels/slide70.xml.rels><?xml version='1.0' encoding='utf-8'?>
<ns0:Relationships xmlns:ns0="http://schemas.openxmlformats.org/package/2006/relationships"><ns0:Relationship Type="http://schemas.openxmlformats.org/officeDocument/2006/relationships/slideLayout" Target="/ppt/slideLayouts/slideLayout1.xml" Id="R84f80e0f4cde45e7" /><ns0:Relationship Type="http://schemas.openxmlformats.org/officeDocument/2006/relationships/notesSlide" Target="/ppt/notesSlides/notesSlide70.xml" Id="R95a075090a54457c"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2" TargetMode="External" /><ns0:Relationship Id="rIdLink3" Type="http://schemas.openxmlformats.org/officeDocument/2006/relationships/hyperlink" Target="https://developer.mozilla.org/en-US/docs/Learn_web_development/Core/Structuring_content" TargetMode="External" /></ns0:Relationships>
</file>

<file path=ppt/slides/_rels/slide71.xml.rels><?xml version='1.0' encoding='utf-8'?>
<ns0:Relationships xmlns:ns0="http://schemas.openxmlformats.org/package/2006/relationships"><ns0:Relationship Type="http://schemas.openxmlformats.org/officeDocument/2006/relationships/slideLayout" Target="/ppt/slideLayouts/slideLayout1.xml" Id="R074858bbe1e84c0e" /><ns0:Relationship Type="http://schemas.openxmlformats.org/officeDocument/2006/relationships/notesSlide" Target="/ppt/notesSlides/notesSlide71.xml" Id="R0f68ea388ca04aa9"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3" TargetMode="External" /><ns0:Relationship Id="rIdLink3" Type="http://schemas.openxmlformats.org/officeDocument/2006/relationships/hyperlink" Target="https://react.dev/learn/passing-props-to-a-component" TargetMode="External" /></ns0:Relationships>
</file>

<file path=ppt/slides/_rels/slide72.xml.rels><?xml version='1.0' encoding='utf-8'?>
<ns0:Relationships xmlns:ns0="http://schemas.openxmlformats.org/package/2006/relationships"><ns0:Relationship Type="http://schemas.openxmlformats.org/officeDocument/2006/relationships/slideLayout" Target="/ppt/slideLayouts/slideLayout1.xml" Id="Rc48564dd511c4451" /><ns0:Relationship Type="http://schemas.openxmlformats.org/officeDocument/2006/relationships/notesSlide" Target="/ppt/notesSlides/notesSlide72.xml" Id="R613e39259751428d"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3" TargetMode="External" /><ns0:Relationship Id="rIdLink3" Type="http://schemas.openxmlformats.org/officeDocument/2006/relationships/hyperlink" Target="https://react.dev/learn/passing-props-to-a-component" TargetMode="External" /></ns0:Relationships>
</file>

<file path=ppt/slides/_rels/slide73.xml.rels><?xml version='1.0' encoding='utf-8'?>
<ns0:Relationships xmlns:ns0="http://schemas.openxmlformats.org/package/2006/relationships"><ns0:Relationship Type="http://schemas.openxmlformats.org/officeDocument/2006/relationships/slideLayout" Target="/ppt/slideLayouts/slideLayout1.xml" Id="Rb18f902b7fb6488e" /><ns0:Relationship Type="http://schemas.openxmlformats.org/officeDocument/2006/relationships/notesSlide" Target="/ppt/notesSlides/notesSlide73.xml" Id="R1de7ec2db7e64ef1"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3" TargetMode="External" /><ns0:Relationship Id="rIdLink3" Type="http://schemas.openxmlformats.org/officeDocument/2006/relationships/hyperlink" Target="https://react.dev/learn/passing-props-to-a-component" TargetMode="External" /></ns0:Relationships>
</file>

<file path=ppt/slides/_rels/slide74.xml.rels><?xml version='1.0' encoding='utf-8'?>
<ns0:Relationships xmlns:ns0="http://schemas.openxmlformats.org/package/2006/relationships"><ns0:Relationship Type="http://schemas.openxmlformats.org/officeDocument/2006/relationships/slideLayout" Target="/ppt/slideLayouts/slideLayout1.xml" Id="R6ff286ad43604ce9" /><ns0:Relationship Type="http://schemas.openxmlformats.org/officeDocument/2006/relationships/notesSlide" Target="/ppt/notesSlides/notesSlide74.xml" Id="R2ddbb49464b1473a"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3" TargetMode="External" /><ns0:Relationship Id="rIdLink3" Type="http://schemas.openxmlformats.org/officeDocument/2006/relationships/hyperlink" Target="https://react.dev/learn/passing-props-to-a-component" TargetMode="External" /></ns0:Relationships>
</file>

<file path=ppt/slides/_rels/slide75.xml.rels><?xml version='1.0' encoding='utf-8'?>
<ns0:Relationships xmlns:ns0="http://schemas.openxmlformats.org/package/2006/relationships"><ns0:Relationship Type="http://schemas.openxmlformats.org/officeDocument/2006/relationships/slideLayout" Target="/ppt/slideLayouts/slideLayout1.xml" Id="R87b2c3621ddc46c7" /><ns0:Relationship Type="http://schemas.openxmlformats.org/officeDocument/2006/relationships/notesSlide" Target="/ppt/notesSlides/notesSlide75.xml" Id="R11e846fdecd949cf"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3" TargetMode="External" /><ns0:Relationship Id="rIdLink3" Type="http://schemas.openxmlformats.org/officeDocument/2006/relationships/hyperlink" Target="https://react.dev/learn/passing-props-to-a-component" TargetMode="External" /></ns0:Relationships>
</file>

<file path=ppt/slides/_rels/slide76.xml.rels><?xml version='1.0' encoding='utf-8'?>
<ns0:Relationships xmlns:ns0="http://schemas.openxmlformats.org/package/2006/relationships"><ns0:Relationship Type="http://schemas.openxmlformats.org/officeDocument/2006/relationships/slideLayout" Target="/ppt/slideLayouts/slideLayout1.xml" Id="R77758e07c3d1468c" /><ns0:Relationship Type="http://schemas.openxmlformats.org/officeDocument/2006/relationships/notesSlide" Target="/ppt/notesSlides/notesSlide76.xml" Id="R9c7ec88ef25842ae"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3" TargetMode="External" /><ns0:Relationship Id="rIdLink3" Type="http://schemas.openxmlformats.org/officeDocument/2006/relationships/hyperlink" Target="https://react.dev/learn/passing-props-to-a-component" TargetMode="External" /></ns0:Relationships>
</file>

<file path=ppt/slides/_rels/slide77.xml.rels><?xml version='1.0' encoding='utf-8'?>
<ns0:Relationships xmlns:ns0="http://schemas.openxmlformats.org/package/2006/relationships"><ns0:Relationship Type="http://schemas.openxmlformats.org/officeDocument/2006/relationships/slideLayout" Target="/ppt/slideLayouts/slideLayout1.xml" Id="Rd9c2eb9742d9400b" /><ns0:Relationship Type="http://schemas.openxmlformats.org/officeDocument/2006/relationships/notesSlide" Target="/ppt/notesSlides/notesSlide77.xml" Id="Rb816ce60c0fe438f"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4" TargetMode="External" /><ns0:Relationship Id="rIdLink3" Type="http://schemas.openxmlformats.org/officeDocument/2006/relationships/hyperlink" Target="https://react.dev/learn/passing-props-to-a-component" TargetMode="External" /></ns0:Relationships>
</file>

<file path=ppt/slides/_rels/slide78.xml.rels><?xml version='1.0' encoding='utf-8'?>
<ns0:Relationships xmlns:ns0="http://schemas.openxmlformats.org/package/2006/relationships"><ns0:Relationship Type="http://schemas.openxmlformats.org/officeDocument/2006/relationships/slideLayout" Target="/ppt/slideLayouts/slideLayout1.xml" Id="R10a2ba9a3d804949" /><ns0:Relationship Type="http://schemas.openxmlformats.org/officeDocument/2006/relationships/notesSlide" Target="/ppt/notesSlides/notesSlide78.xml" Id="R992d7f66614e48ce"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4" TargetMode="External" /><ns0:Relationship Id="rIdLink3" Type="http://schemas.openxmlformats.org/officeDocument/2006/relationships/hyperlink" Target="https://react.dev/learn/passing-props-to-a-component" TargetMode="External" /></ns0:Relationships>
</file>

<file path=ppt/slides/_rels/slide79.xml.rels><?xml version='1.0' encoding='utf-8'?>
<ns0:Relationships xmlns:ns0="http://schemas.openxmlformats.org/package/2006/relationships"><ns0:Relationship Type="http://schemas.openxmlformats.org/officeDocument/2006/relationships/slideLayout" Target="/ppt/slideLayouts/slideLayout1.xml" Id="R857ca5bdbe504611" /><ns0:Relationship Type="http://schemas.openxmlformats.org/officeDocument/2006/relationships/notesSlide" Target="/ppt/notesSlides/notesSlide79.xml" Id="R940f34699fb648f1"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4" TargetMode="External" /><ns0:Relationship Id="rIdLink3" Type="http://schemas.openxmlformats.org/officeDocument/2006/relationships/hyperlink" Target="https://react.dev/learn/passing-props-to-a-component" TargetMode="External" /></ns0:Relationships>
</file>

<file path=ppt/slides/_rels/slide80.xml.rels><?xml version='1.0' encoding='utf-8'?>
<ns0:Relationships xmlns:ns0="http://schemas.openxmlformats.org/package/2006/relationships"><ns0:Relationship Type="http://schemas.openxmlformats.org/officeDocument/2006/relationships/slideLayout" Target="/ppt/slideLayouts/slideLayout1.xml" Id="Re986684960f64545" /><ns0:Relationship Type="http://schemas.openxmlformats.org/officeDocument/2006/relationships/notesSlide" Target="/ppt/notesSlides/notesSlide80.xml" Id="R43b3f249c06c4a69"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4" TargetMode="External" /><ns0:Relationship Id="rIdLink3" Type="http://schemas.openxmlformats.org/officeDocument/2006/relationships/hyperlink" Target="https://react.dev/learn/passing-props-to-a-component" TargetMode="External" /></ns0:Relationships>
</file>

<file path=ppt/slides/_rels/slide81.xml.rels><?xml version='1.0' encoding='utf-8'?>
<ns0:Relationships xmlns:ns0="http://schemas.openxmlformats.org/package/2006/relationships"><ns0:Relationship Type="http://schemas.openxmlformats.org/officeDocument/2006/relationships/slideLayout" Target="/ppt/slideLayouts/slideLayout1.xml" Id="Rbfc42f41171a46d7" /><ns0:Relationship Type="http://schemas.openxmlformats.org/officeDocument/2006/relationships/notesSlide" Target="/ppt/notesSlides/notesSlide81.xml" Id="Rbe2e895528334002"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5" TargetMode="External" /><ns0:Relationship Id="rIdLink3" Type="http://schemas.openxmlformats.org/officeDocument/2006/relationships/hyperlink" Target="https://react.dev/learn/passing-props-to-a-component" TargetMode="External" /></ns0:Relationships>
</file>

<file path=ppt/slides/_rels/slide82.xml.rels><?xml version='1.0' encoding='utf-8'?>
<ns0:Relationships xmlns:ns0="http://schemas.openxmlformats.org/package/2006/relationships"><ns0:Relationship Type="http://schemas.openxmlformats.org/officeDocument/2006/relationships/slideLayout" Target="/ppt/slideLayouts/slideLayout1.xml" Id="Re3d291080680422f" /><ns0:Relationship Type="http://schemas.openxmlformats.org/officeDocument/2006/relationships/notesSlide" Target="/ppt/notesSlides/notesSlide82.xml" Id="Ra0405be313af4265"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5" TargetMode="External" /><ns0:Relationship Id="rIdLink3" Type="http://schemas.openxmlformats.org/officeDocument/2006/relationships/hyperlink" Target="https://react.dev/learn/passing-props-to-a-component" TargetMode="External" /></ns0:Relationships>
</file>

<file path=ppt/slides/_rels/slide83.xml.rels><?xml version='1.0' encoding='utf-8'?>
<ns0:Relationships xmlns:ns0="http://schemas.openxmlformats.org/package/2006/relationships"><ns0:Relationship Type="http://schemas.openxmlformats.org/officeDocument/2006/relationships/slideLayout" Target="/ppt/slideLayouts/slideLayout1.xml" Id="Rfe5cc87643af45e1" /><ns0:Relationship Type="http://schemas.openxmlformats.org/officeDocument/2006/relationships/notesSlide" Target="/ppt/notesSlides/notesSlide83.xml" Id="R53bbeddb8f7b4143"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5" TargetMode="External" /><ns0:Relationship Id="rIdLink3" Type="http://schemas.openxmlformats.org/officeDocument/2006/relationships/hyperlink" Target="https://react.dev/learn/passing-props-to-a-component" TargetMode="External" /></ns0:Relationships>
</file>

<file path=ppt/slides/_rels/slide84.xml.rels><?xml version='1.0' encoding='utf-8'?>
<ns0:Relationships xmlns:ns0="http://schemas.openxmlformats.org/package/2006/relationships"><ns0:Relationship Type="http://schemas.openxmlformats.org/officeDocument/2006/relationships/slideLayout" Target="/ppt/slideLayouts/slideLayout1.xml" Id="Rc39b53b9ff274a37" /><ns0:Relationship Type="http://schemas.openxmlformats.org/officeDocument/2006/relationships/notesSlide" Target="/ppt/notesSlides/notesSlide84.xml" Id="R1aa9528be52649ae"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5" TargetMode="External" /><ns0:Relationship Id="rIdLink3" Type="http://schemas.openxmlformats.org/officeDocument/2006/relationships/hyperlink" Target="https://react.dev/learn/passing-props-to-a-component" TargetMode="External" /></ns0:Relationships>
</file>

<file path=ppt/slides/_rels/slide85.xml.rels><?xml version='1.0' encoding='utf-8'?>
<ns0:Relationships xmlns:ns0="http://schemas.openxmlformats.org/package/2006/relationships"><ns0:Relationship Type="http://schemas.openxmlformats.org/officeDocument/2006/relationships/slideLayout" Target="/ppt/slideLayouts/slideLayout1.xml" Id="Rf9e1df1c0018408d" /><ns0:Relationship Type="http://schemas.openxmlformats.org/officeDocument/2006/relationships/notesSlide" Target="/ppt/notesSlides/notesSlide85.xml" Id="Rf2350eb73fe4434b"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5" TargetMode="External" /><ns0:Relationship Id="rIdLink3" Type="http://schemas.openxmlformats.org/officeDocument/2006/relationships/hyperlink" Target="https://react.dev/learn/passing-props-to-a-component" TargetMode="External" /></ns0:Relationships>
</file>

<file path=ppt/slides/_rels/slide86.xml.rels><?xml version='1.0' encoding='utf-8'?>
<ns0:Relationships xmlns:ns0="http://schemas.openxmlformats.org/package/2006/relationships"><ns0:Relationship Type="http://schemas.openxmlformats.org/officeDocument/2006/relationships/slideLayout" Target="/ppt/slideLayouts/slideLayout1.xml" Id="Ra37303a2e2704b7e" /><ns0:Relationship Type="http://schemas.openxmlformats.org/officeDocument/2006/relationships/notesSlide" Target="/ppt/notesSlides/notesSlide86.xml" Id="R66fbf3fe1d9648b6"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6" TargetMode="External" /><ns0:Relationship Id="rIdLink3" Type="http://schemas.openxmlformats.org/officeDocument/2006/relationships/hyperlink" Target="https://modelcontextprotocol.io/specification/2025-11-25/basic/lifecycle" TargetMode="External" /></ns0:Relationships>
</file>

<file path=ppt/slides/_rels/slide87.xml.rels><?xml version='1.0' encoding='utf-8'?>
<ns0:Relationships xmlns:ns0="http://schemas.openxmlformats.org/package/2006/relationships"><ns0:Relationship Type="http://schemas.openxmlformats.org/officeDocument/2006/relationships/slideLayout" Target="/ppt/slideLayouts/slideLayout1.xml" Id="R4f1d386419014577" /><ns0:Relationship Type="http://schemas.openxmlformats.org/officeDocument/2006/relationships/notesSlide" Target="/ppt/notesSlides/notesSlide87.xml" Id="R7cc2732a97314895"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6" TargetMode="External" /><ns0:Relationship Id="rIdLink3" Type="http://schemas.openxmlformats.org/officeDocument/2006/relationships/hyperlink" Target="https://modelcontextprotocol.io/specification/2025-11-25/basic/lifecycle" TargetMode="External" /></ns0:Relationships>
</file>

<file path=ppt/slides/_rels/slide88.xml.rels><?xml version='1.0' encoding='utf-8'?>
<ns0:Relationships xmlns:ns0="http://schemas.openxmlformats.org/package/2006/relationships"><ns0:Relationship Type="http://schemas.openxmlformats.org/officeDocument/2006/relationships/slideLayout" Target="/ppt/slideLayouts/slideLayout1.xml" Id="Re6574c1f581b40e4" /><ns0:Relationship Type="http://schemas.openxmlformats.org/officeDocument/2006/relationships/notesSlide" Target="/ppt/notesSlides/notesSlide88.xml" Id="R9b91c0bf84b94401"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6" TargetMode="External" /><ns0:Relationship Id="rIdLink3" Type="http://schemas.openxmlformats.org/officeDocument/2006/relationships/hyperlink" Target="https://modelcontextprotocol.io/specification/2025-11-25/basic/lifecycle" TargetMode="External" /></ns0:Relationships>
</file>

<file path=ppt/slides/_rels/slide89.xml.rels><?xml version='1.0' encoding='utf-8'?>
<ns0:Relationships xmlns:ns0="http://schemas.openxmlformats.org/package/2006/relationships"><ns0:Relationship Type="http://schemas.openxmlformats.org/officeDocument/2006/relationships/slideLayout" Target="/ppt/slideLayouts/slideLayout1.xml" Id="R12da4daf67914ee0" /><ns0:Relationship Type="http://schemas.openxmlformats.org/officeDocument/2006/relationships/notesSlide" Target="/ppt/notesSlides/notesSlide89.xml" Id="R3bd32bdfcfb74df5"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6" TargetMode="External" /><ns0:Relationship Id="rIdLink3" Type="http://schemas.openxmlformats.org/officeDocument/2006/relationships/hyperlink" Target="https://modelcontextprotocol.io/specification/2025-11-25/basic/lifecycle" TargetMode="External" /></ns0:Relationships>
</file>

<file path=ppt/slides/_rels/slide90.xml.rels><?xml version='1.0' encoding='utf-8'?>
<ns0:Relationships xmlns:ns0="http://schemas.openxmlformats.org/package/2006/relationships"><ns0:Relationship Type="http://schemas.openxmlformats.org/officeDocument/2006/relationships/slideLayout" Target="/ppt/slideLayouts/slideLayout1.xml" Id="R65ea0404bd0448d5" /><ns0:Relationship Type="http://schemas.openxmlformats.org/officeDocument/2006/relationships/notesSlide" Target="/ppt/notesSlides/notesSlide90.xml" Id="R4b151a3c1e0d4c7c"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6" TargetMode="External" /><ns0:Relationship Id="rIdLink3" Type="http://schemas.openxmlformats.org/officeDocument/2006/relationships/hyperlink" Target="https://modelcontextprotocol.io/specification/2025-11-25/basic/lifecycle" TargetMode="External" /></ns0:Relationships>
</file>

<file path=ppt/slides/_rels/slide91.xml.rels><?xml version='1.0' encoding='utf-8'?>
<ns0:Relationships xmlns:ns0="http://schemas.openxmlformats.org/package/2006/relationships"><ns0:Relationship Type="http://schemas.openxmlformats.org/officeDocument/2006/relationships/slideLayout" Target="/ppt/slideLayouts/slideLayout1.xml" Id="R11cf63973ff44a51" /><ns0:Relationship Type="http://schemas.openxmlformats.org/officeDocument/2006/relationships/notesSlide" Target="/ppt/notesSlides/notesSlide91.xml" Id="R7eff18de69e74689"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6" TargetMode="External" /><ns0:Relationship Id="rIdLink3" Type="http://schemas.openxmlformats.org/officeDocument/2006/relationships/hyperlink" Target="https://modelcontextprotocol.io/specification/2025-11-25/basic/lifecycle" TargetMode="External" /></ns0:Relationships>
</file>

<file path=ppt/slides/_rels/slide92.xml.rels><?xml version='1.0' encoding='utf-8'?>
<ns0:Relationships xmlns:ns0="http://schemas.openxmlformats.org/package/2006/relationships"><ns0:Relationship Type="http://schemas.openxmlformats.org/officeDocument/2006/relationships/slideLayout" Target="/ppt/slideLayouts/slideLayout1.xml" Id="R616d07b1de314f2d" /><ns0:Relationship Type="http://schemas.openxmlformats.org/officeDocument/2006/relationships/notesSlide" Target="/ppt/notesSlides/notesSlide92.xml" Id="R77654e7e0e974d3d"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7" TargetMode="External" /><ns0:Relationship Id="rIdLink3" Type="http://schemas.openxmlformats.org/officeDocument/2006/relationships/hyperlink" Target="https://modelcontextprotocol.io/specification/2025-11-25/basic/lifecycle" TargetMode="External" /></ns0:Relationships>
</file>

<file path=ppt/slides/_rels/slide93.xml.rels><?xml version='1.0' encoding='utf-8'?>
<ns0:Relationships xmlns:ns0="http://schemas.openxmlformats.org/package/2006/relationships"><ns0:Relationship Type="http://schemas.openxmlformats.org/officeDocument/2006/relationships/slideLayout" Target="/ppt/slideLayouts/slideLayout1.xml" Id="R11520dc509e44411" /><ns0:Relationship Type="http://schemas.openxmlformats.org/officeDocument/2006/relationships/notesSlide" Target="/ppt/notesSlides/notesSlide93.xml" Id="R89abf6bc963f47c0"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7" TargetMode="External" /><ns0:Relationship Id="rIdLink3" Type="http://schemas.openxmlformats.org/officeDocument/2006/relationships/hyperlink" Target="https://modelcontextprotocol.io/specification/2025-11-25/basic/lifecycle" TargetMode="External" /></ns0:Relationships>
</file>

<file path=ppt/slides/_rels/slide94.xml.rels><?xml version='1.0' encoding='utf-8'?>
<ns0:Relationships xmlns:ns0="http://schemas.openxmlformats.org/package/2006/relationships"><ns0:Relationship Type="http://schemas.openxmlformats.org/officeDocument/2006/relationships/slideLayout" Target="/ppt/slideLayouts/slideLayout1.xml" Id="Rc052ef81bfec4cd5" /><ns0:Relationship Type="http://schemas.openxmlformats.org/officeDocument/2006/relationships/notesSlide" Target="/ppt/notesSlides/notesSlide94.xml" Id="R0fa81a3dc57d4796"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7" TargetMode="External" /><ns0:Relationship Id="rIdLink3" Type="http://schemas.openxmlformats.org/officeDocument/2006/relationships/hyperlink" Target="https://modelcontextprotocol.io/specification/2025-11-25/basic/lifecycle" TargetMode="External" /></ns0:Relationships>
</file>

<file path=ppt/slides/_rels/slide95.xml.rels><?xml version='1.0' encoding='utf-8'?>
<ns0:Relationships xmlns:ns0="http://schemas.openxmlformats.org/package/2006/relationships"><ns0:Relationship Type="http://schemas.openxmlformats.org/officeDocument/2006/relationships/slideLayout" Target="/ppt/slideLayouts/slideLayout1.xml" Id="R8ec94904551146ce" /><ns0:Relationship Type="http://schemas.openxmlformats.org/officeDocument/2006/relationships/notesSlide" Target="/ppt/notesSlides/notesSlide95.xml" Id="R1214b00734a94069"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7" TargetMode="External" /><ns0:Relationship Id="rIdLink3" Type="http://schemas.openxmlformats.org/officeDocument/2006/relationships/hyperlink" Target="https://modelcontextprotocol.io/specification/2025-11-25/basic/lifecycle" TargetMode="External" /></ns0:Relationships>
</file>

<file path=ppt/slides/_rels/slide96.xml.rels><?xml version='1.0' encoding='utf-8'?>
<ns0:Relationships xmlns:ns0="http://schemas.openxmlformats.org/package/2006/relationships"><ns0:Relationship Type="http://schemas.openxmlformats.org/officeDocument/2006/relationships/slideLayout" Target="/ppt/slideLayouts/slideLayout1.xml" Id="R5ddfd4175cae4766" /><ns0:Relationship Type="http://schemas.openxmlformats.org/officeDocument/2006/relationships/notesSlide" Target="/ppt/notesSlides/notesSlide96.xml" Id="Ra7af495213344aa7"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8" TargetMode="External" /><ns0:Relationship Id="rIdLink3" Type="http://schemas.openxmlformats.org/officeDocument/2006/relationships/hyperlink" Target="https://modelcontextprotocol.io/specification/2025-11-25/basic/lifecycle" TargetMode="External" /></ns0:Relationships>
</file>

<file path=ppt/slides/_rels/slide97.xml.rels><?xml version='1.0' encoding='utf-8'?>
<ns0:Relationships xmlns:ns0="http://schemas.openxmlformats.org/package/2006/relationships"><ns0:Relationship Type="http://schemas.openxmlformats.org/officeDocument/2006/relationships/slideLayout" Target="/ppt/slideLayouts/slideLayout1.xml" Id="R4fc6b241e4214093" /><ns0:Relationship Type="http://schemas.openxmlformats.org/officeDocument/2006/relationships/notesSlide" Target="/ppt/notesSlides/notesSlide97.xml" Id="R6b6c5d375f1c4585"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8" TargetMode="External" /><ns0:Relationship Id="rIdLink3" Type="http://schemas.openxmlformats.org/officeDocument/2006/relationships/hyperlink" Target="https://modelcontextprotocol.io/specification/2025-11-25/basic/lifecycle" TargetMode="External" /></ns0:Relationships>
</file>

<file path=ppt/slides/_rels/slide98.xml.rels><?xml version='1.0' encoding='utf-8'?>
<ns0:Relationships xmlns:ns0="http://schemas.openxmlformats.org/package/2006/relationships"><ns0:Relationship Type="http://schemas.openxmlformats.org/officeDocument/2006/relationships/slideLayout" Target="/ppt/slideLayouts/slideLayout1.xml" Id="R0cf7269b19404d64" /><ns0:Relationship Type="http://schemas.openxmlformats.org/officeDocument/2006/relationships/notesSlide" Target="/ppt/notesSlides/notesSlide98.xml" Id="Rb57d8edc02a64e15"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8" TargetMode="External" /><ns0:Relationship Id="rIdLink3" Type="http://schemas.openxmlformats.org/officeDocument/2006/relationships/hyperlink" Target="https://modelcontextprotocol.io/specification/2025-11-25/basic/lifecycle" TargetMode="External" /></ns0:Relationships>
</file>

<file path=ppt/slides/_rels/slide99.xml.rels><?xml version='1.0' encoding='utf-8'?>
<ns0:Relationships xmlns:ns0="http://schemas.openxmlformats.org/package/2006/relationships"><ns0:Relationship Type="http://schemas.openxmlformats.org/officeDocument/2006/relationships/slideLayout" Target="/ppt/slideLayouts/slideLayout1.xml" Id="R341e9c1cd58b44ca" /><ns0:Relationship Type="http://schemas.openxmlformats.org/officeDocument/2006/relationships/notesSlide" Target="/ppt/notesSlides/notesSlide99.xml" Id="Rf20e6ff973754545"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8" TargetMode="External" /><ns0:Relationship Id="rIdLink3" Type="http://schemas.openxmlformats.org/officeDocument/2006/relationships/hyperlink" Target="https://modelcontextprotocol.io/specification/2025-11-25/basic/lifecycle" TargetMode="External" /></ns0:Relationships>
</file>

<file path=ppt/slides/_rels/slide100.xml.rels><?xml version='1.0' encoding='utf-8'?>
<ns0:Relationships xmlns:ns0="http://schemas.openxmlformats.org/package/2006/relationships"><ns0:Relationship Type="http://schemas.openxmlformats.org/officeDocument/2006/relationships/slideLayout" Target="/ppt/slideLayouts/slideLayout1.xml" Id="R7ea6235f39724e85" /><ns0:Relationship Type="http://schemas.openxmlformats.org/officeDocument/2006/relationships/notesSlide" Target="/ppt/notesSlides/notesSlide100.xml" Id="R747e02c31c2649e1"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8" TargetMode="External" /><ns0:Relationship Id="rIdLink3" Type="http://schemas.openxmlformats.org/officeDocument/2006/relationships/hyperlink" Target="https://developer.mozilla.org/en-US/docs/Learn_web_development/Core/Structuring_content" TargetMode="External" /></ns0:Relationships>
</file>

<file path=ppt/slides/_rels/slide101.xml.rels><?xml version='1.0' encoding='utf-8'?>
<ns0:Relationships xmlns:ns0="http://schemas.openxmlformats.org/package/2006/relationships"><ns0:Relationship Type="http://schemas.openxmlformats.org/officeDocument/2006/relationships/slideLayout" Target="/ppt/slideLayouts/slideLayout1.xml" Id="R662be0abc78c470f" /><ns0:Relationship Type="http://schemas.openxmlformats.org/officeDocument/2006/relationships/notesSlide" Target="/ppt/notesSlides/notesSlide101.xml" Id="R5e50619be7044d52"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8" TargetMode="External" /><ns0:Relationship Id="rIdLink3" Type="http://schemas.openxmlformats.org/officeDocument/2006/relationships/hyperlink" Target="https://react.dev/learn/passing-props-to-a-component" TargetMode="External" /></ns0:Relationships>
</file>

<file path=ppt/slides/_rels/slide102.xml.rels><?xml version='1.0' encoding='utf-8'?>
<ns0:Relationships xmlns:ns0="http://schemas.openxmlformats.org/package/2006/relationships"><ns0:Relationship Type="http://schemas.openxmlformats.org/officeDocument/2006/relationships/slideLayout" Target="/ppt/slideLayouts/slideLayout1.xml" Id="R8411b0f51c374811" /><ns0:Relationship Type="http://schemas.openxmlformats.org/officeDocument/2006/relationships/notesSlide" Target="/ppt/notesSlides/notesSlide102.xml" Id="R8d937915e948422c"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8" TargetMode="External" /><ns0:Relationship Id="rIdLink3" Type="http://schemas.openxmlformats.org/officeDocument/2006/relationships/hyperlink" Target="https://modelcontextprotocol.io/specification/2025-11-25/basic/lifecycle" TargetMode="External" /></ns0:Relationships>
</file>

<file path=ppt/slides/_rels/slide103.xml.rels><?xml version='1.0' encoding='utf-8'?>
<ns0:Relationships xmlns:ns0="http://schemas.openxmlformats.org/package/2006/relationships"><ns0:Relationship Type="http://schemas.openxmlformats.org/officeDocument/2006/relationships/slideLayout" Target="/ppt/slideLayouts/slideLayout1.xml" Id="R55605142e41a4314" /><ns0:Relationship Type="http://schemas.openxmlformats.org/officeDocument/2006/relationships/notesSlide" Target="/ppt/notesSlides/notesSlide103.xml" Id="Rdd87df5747fd48b4"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8" TargetMode="External" /><ns0:Relationship Id="rIdLink3" Type="http://schemas.openxmlformats.org/officeDocument/2006/relationships/hyperlink" Target="https://developer.mozilla.org/en-US/docs/Learn_web_development/Core/Structuring_content" TargetMode="External" /></ns0:Relationships>
</file>

<file path=ppt/slides/_rels/slide104.xml.rels><?xml version='1.0' encoding='utf-8'?>
<ns0:Relationships xmlns:ns0="http://schemas.openxmlformats.org/package/2006/relationships"><ns0:Relationship Type="http://schemas.openxmlformats.org/officeDocument/2006/relationships/slideLayout" Target="/ppt/slideLayouts/slideLayout1.xml" Id="Rbfcd8dfa7506430e" /><ns0:Relationship Type="http://schemas.openxmlformats.org/officeDocument/2006/relationships/notesSlide" Target="/ppt/notesSlides/notesSlide104.xml" Id="Rdbdc40b14f844c33"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8" TargetMode="External" /><ns0:Relationship Id="rIdLink3" Type="http://schemas.openxmlformats.org/officeDocument/2006/relationships/hyperlink" Target="https://react.dev/learn/passing-props-to-a-component" TargetMode="External" /></ns0:Relationships>
</file>

<file path=ppt/slides/_rels/slide105.xml.rels><?xml version='1.0' encoding='utf-8'?>
<ns0:Relationships xmlns:ns0="http://schemas.openxmlformats.org/package/2006/relationships"><ns0:Relationship Type="http://schemas.openxmlformats.org/officeDocument/2006/relationships/slideLayout" Target="/ppt/slideLayouts/slideLayout1.xml" Id="Rd9d9bcc408b14572" /><ns0:Relationship Type="http://schemas.openxmlformats.org/officeDocument/2006/relationships/notesSlide" Target="/ppt/notesSlides/notesSlide105.xml" Id="R44662e6fab4f4601"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8" TargetMode="External" /><ns0:Relationship Id="rIdLink3" Type="http://schemas.openxmlformats.org/officeDocument/2006/relationships/hyperlink" Target="https://modelcontextprotocol.io/specification/2025-11-25/basic/lifecycle" TargetMode="External" /></ns0:Relationships>
</file>

<file path=ppt/slides/_rels/slide106.xml.rels><?xml version='1.0' encoding='utf-8'?>
<ns0:Relationships xmlns:ns0="http://schemas.openxmlformats.org/package/2006/relationships"><ns0:Relationship Type="http://schemas.openxmlformats.org/officeDocument/2006/relationships/slideLayout" Target="/ppt/slideLayouts/slideLayout1.xml" Id="R0e04b5be52e54fa2" /><ns0:Relationship Type="http://schemas.openxmlformats.org/officeDocument/2006/relationships/notesSlide" Target="/ppt/notesSlides/notesSlide106.xml" Id="Rf2feb69a722a44a3"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8" TargetMode="External" /><ns0:Relationship Id="rIdLink3" Type="http://schemas.openxmlformats.org/officeDocument/2006/relationships/hyperlink" Target="https://modelcontextprotocol.io/specification/2025-11-25/basic/lifecycle" TargetMode="External" /></ns0:Relationships>
</file>

<file path=ppt/slides/_rels/slide107.xml.rels><?xml version='1.0' encoding='utf-8'?>
<ns0:Relationships xmlns:ns0="http://schemas.openxmlformats.org/package/2006/relationships"><ns0:Relationship Type="http://schemas.openxmlformats.org/officeDocument/2006/relationships/slideLayout" Target="/ppt/slideLayouts/slideLayout1.xml" Id="Raaadb4664da540e9" /><ns0:Relationship Type="http://schemas.openxmlformats.org/officeDocument/2006/relationships/notesSlide" Target="/ppt/notesSlides/notesSlide107.xml" Id="Rc87046eea9b34d2a"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activity-A18" TargetMode="External" /><ns0:Relationship Id="rIdLink3" Type="http://schemas.openxmlformats.org/officeDocument/2006/relationships/hyperlink" Target="https://modelcontextprotocol.io/specification/2025-11-25/basic/lifecycle" TargetMode="External" /></ns0:Relationships>
</file>

<file path=ppt/slides/_rels/slide108.xml.rels><?xml version='1.0' encoding='utf-8'?>
<ns0:Relationships xmlns:ns0="http://schemas.openxmlformats.org/package/2006/relationships"><ns0:Relationship Type="http://schemas.openxmlformats.org/officeDocument/2006/relationships/slideLayout" Target="/ppt/slideLayouts/slideLayout1.xml" Id="R9c1d722b711146e5" /><ns0:Relationship Type="http://schemas.openxmlformats.org/officeDocument/2006/relationships/notesSlide" Target="/ppt/notesSlides/notesSlide108.xml" Id="Rff5e4216c33d4e9f"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practice" TargetMode="External" /><ns0:Relationship Id="rIdLink3" Type="http://schemas.openxmlformats.org/officeDocument/2006/relationships/hyperlink" Target="https://developer.mozilla.org/en-US/docs/Learn_web_development/Core/Structuring_content" TargetMode="External" /><ns0:Relationship Id="rIdLink4" Type="http://schemas.openxmlformats.org/officeDocument/2006/relationships/hyperlink" Target="https://zeusk302-png.github.io/kdigital-physical-ai/#/sessions/2026-10-21/start" TargetMode="External" /><ns0:Relationship Id="rIdLink5" Type="http://schemas.openxmlformats.org/officeDocument/2006/relationships/hyperlink" Target="https://zeusk302-png.github.io/kdigital-physical-ai/#/sessions/2026-10-21/lesson" TargetMode="External" /><ns0:Relationship Id="rIdLink6" Type="http://schemas.openxmlformats.org/officeDocument/2006/relationships/hyperlink" Target="https://zeusk302-png.github.io/kdigital-physical-ai/#/sessions/2026-10-21/workbook" TargetMode="External" /><ns0:Relationship Id="rIdLink7" Type="http://schemas.openxmlformats.org/officeDocument/2006/relationships/hyperlink" Target="https://zeusk302-png.github.io/kdigital-physical-ai/downloads/2026-10-21/student-examples.zip" TargetMode="External" /><ns0:Relationship Id="rIdLink8" Type="http://schemas.openxmlformats.org/officeDocument/2006/relationships/hyperlink" Target="https://zeusk302-png.github.io/kdigital-physical-ai/#/sessions/2026-10-21/files" TargetMode="External" /></ns0:Relationships>
</file>

<file path=ppt/slides/_rels/slide109.xml.rels><?xml version='1.0' encoding='utf-8'?>
<ns0:Relationships xmlns:ns0="http://schemas.openxmlformats.org/package/2006/relationships"><ns0:Relationship Type="http://schemas.openxmlformats.org/officeDocument/2006/relationships/slideLayout" Target="/ppt/slideLayouts/slideLayout1.xml" Id="R8ceb7e0694c64fc5" /><ns0:Relationship Type="http://schemas.openxmlformats.org/officeDocument/2006/relationships/notesSlide" Target="/ppt/notesSlides/notesSlide109.xml" Id="Rb8e823ee7ded4478" /><ns0:Relationship Id="rIdLink1" Type="http://schemas.openxmlformats.org/officeDocument/2006/relationships/hyperlink" Target="https://zeusk302-png.github.io/kdigital-physical-ai/#/sessions/2026-10-21/lesson" TargetMode="External" /><ns0:Relationship Id="rIdLink2" Type="http://schemas.openxmlformats.org/officeDocument/2006/relationships/hyperlink" Target="https://zeusk302-png.github.io/kdigital-physical-ai/#/sessions/2026-10-21/practice" TargetMode="External" /><ns0:Relationship Id="rIdLink3" Type="http://schemas.openxmlformats.org/officeDocument/2006/relationships/hyperlink" Target="https://developer.mozilla.org/en-US/docs/Learn_web_development/Core/Structuring_content" TargetMode="External" /><ns0:Relationship Id="rIdLink4" Type="http://schemas.openxmlformats.org/officeDocument/2006/relationships/hyperlink" Target="https://developer.mozilla.org/en-US/docs/Learn_web_development/Core/Structuring_content" TargetMode="External" /><ns0:Relationship Id="rIdLink5" Type="http://schemas.openxmlformats.org/officeDocument/2006/relationships/hyperlink" Target="https://react.dev/learn/passing-props-to-a-component" TargetMode="External" /><ns0:Relationship Id="rIdLink6" Type="http://schemas.openxmlformats.org/officeDocument/2006/relationships/hyperlink" Target="https://modelcontextprotocol.io/specification/2025-11-25/basic/lifecycle" TargetMode="External" /></ns0:Relationships>
</file>

<file path=ppt/slides/slide1.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pic>
        <p:nvPicPr>
          <p:cNvPr id="12" name=""/>
          <p:cNvPicPr>
            <a:picLocks noChangeAspect="1"/>
          </p:cNvPicPr>
          <p:nvPr/>
        </p:nvPicPr>
        <p:blipFill>
          <a:blip r:embed="Rf244d37936484701"/>
          <a:srcRect l="0" t="27" r="0" b="27"/>
          <a:stretch>
            <a:fillRect l="0" t="0" r="0" b="0"/>
          </a:stretch>
        </p:blipFill>
        <p:spPr>
          <a:xfrm>
            <a:off x="0" y="0"/>
            <a:ext cx="12192000" cy="6858000"/>
          </a:xfrm>
          <a:prstGeom prst="rect">
            <a:avLst/>
          </a:prstGeom>
        </p:spPr>
      </p:pic>
      <p:sp>
        <p:nvSpPr>
          <p:cNvPr id="2" name="">
            <a:extLst>
              <a:ext uri="{FF2B5EF4-FFF2-40B4-BE49-F238E27FC236}">
                <ns3:creationId id="{89942835-6FFE-4702-B4B8-FB3813BFAA04}"/>
              </a:ext>
            </a:extLst>
          </p:cNvPr>
          <p:cNvSpPr>
            <a:spLocks noGrp="1"/>
          </p:cNvSpPr>
          <p:nvPr/>
        </p:nvSpPr>
        <p:spPr>
          <a:xfrm>
            <a:off x="685800" y="733425"/>
            <a:ext cx="5715000" cy="428625"/>
          </a:xfrm>
          <a:prstGeom prst="rect">
            <a:avLst/>
          </a:prstGeom>
          <a:noFill/>
          <a:ln w="0">
            <a:noFill/>
          </a:ln>
        </p:spPr>
        <p:txBody>
          <a:bodyPr wrap="square" lIns="0" tIns="0" rIns="0" bIns="0">
            <a:noAutofit/>
          </a:bodyPr>
          <a:lstStyle/>
          <a:p>
            <a:pPr>
              <a:defRPr sz="1800" b="1">
                <a:solidFill>
                  <a:srgbClr val="08786F"/>
                </a:solidFill>
                <a:latin typeface="Noto Sans KR"/>
                <a:ea typeface="Noto Sans KR"/>
                <a:cs typeface="Noto Sans KR"/>
              </a:defRPr>
            </a:pPr>
            <a:r>
              <a:t>피지컬AI 직무훈련</a:t>
            </a:r>
          </a:p>
        </p:txBody>
      </p:sp>
      <p:sp>
        <p:nvSpPr>
          <p:cNvPr id="3" name="">
            <a:extLst>
              <a:ext uri="{FF2B5EF4-FFF2-40B4-BE49-F238E27FC236}">
                <ns3:creationId id="{4AA344EF-2624-4192-92E6-6707232745CE}"/>
              </a:ext>
            </a:extLst>
          </p:cNvPr>
          <p:cNvSpPr>
            <a:spLocks noGrp="1"/>
          </p:cNvSpPr>
          <p:nvPr/>
        </p:nvSpPr>
        <p:spPr>
          <a:xfrm>
            <a:off x="685800" y="1562100"/>
            <a:ext cx="5667375" cy="2571750"/>
          </a:xfrm>
          <a:prstGeom prst="rect">
            <a:avLst/>
          </a:prstGeom>
          <a:noFill/>
          <a:ln w="0">
            <a:noFill/>
          </a:ln>
        </p:spPr>
        <p:txBody>
          <a:bodyPr wrap="square" lIns="0" tIns="0" rIns="0" bIns="0">
            <a:noAutofit/>
          </a:bodyPr>
          <a:lstStyle/>
          <a:p>
            <a:pPr>
              <a:defRPr sz="4650" b="1">
                <a:solidFill>
                  <a:srgbClr val="172F39"/>
                </a:solidFill>
                <a:latin typeface="Noto Sans KR"/>
                <a:ea typeface="Noto Sans KR"/>
                <a:cs typeface="Noto Sans KR"/>
              </a:defRPr>
            </a:pPr>
            <a:r>
              <a:t>HTML</a:t>
            </a:r>
          </a:p>
          <a:p>
            <a:pPr>
              <a:defRPr sz="4650" b="1">
                <a:solidFill>
                  <a:srgbClr val="172F39"/>
                </a:solidFill>
                <a:latin typeface="Noto Sans KR"/>
                <a:ea typeface="Noto Sans KR"/>
                <a:cs typeface="Noto Sans KR"/>
              </a:defRPr>
            </a:pPr>
            <a:r>
              <a:t>CSS</a:t>
            </a:r>
          </a:p>
          <a:p>
            <a:pPr>
              <a:defRPr sz="4650" b="1">
                <a:solidFill>
                  <a:srgbClr val="172F39"/>
                </a:solidFill>
                <a:latin typeface="Noto Sans KR"/>
                <a:ea typeface="Noto Sans KR"/>
                <a:cs typeface="Noto Sans KR"/>
              </a:defRPr>
            </a:pPr>
            <a:r>
              <a:t>React</a:t>
            </a:r>
          </a:p>
          <a:p>
            <a:pPr>
              <a:defRPr sz="4650" b="1">
                <a:solidFill>
                  <a:srgbClr val="172F39"/>
                </a:solidFill>
                <a:latin typeface="Noto Sans KR"/>
                <a:ea typeface="Noto Sans KR"/>
                <a:cs typeface="Noto Sans KR"/>
              </a:defRPr>
            </a:pPr>
            <a:r>
              <a:t>MCP</a:t>
            </a:r>
          </a:p>
        </p:txBody>
      </p:sp>
      <p:sp>
        <p:nvSpPr>
          <p:cNvPr id="4" name="">
            <a:extLst>
              <a:ext uri="{FF2B5EF4-FFF2-40B4-BE49-F238E27FC236}">
                <ns3:creationId id="{C3323734-2827-4FDB-8C19-4D229277D5DD}"/>
              </a:ext>
            </a:extLst>
          </p:cNvPr>
          <p:cNvSpPr>
            <a:spLocks noGrp="1"/>
          </p:cNvSpPr>
          <p:nvPr/>
        </p:nvSpPr>
        <p:spPr>
          <a:xfrm>
            <a:off x="685800" y="4267200"/>
            <a:ext cx="561975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2026-10-21</a:t>
            </a:r>
          </a:p>
        </p:txBody>
      </p:sp>
      <p:sp>
        <p:nvSpPr>
          <p:cNvPr id="5" name="">
            <a:extLst>
              <a:ext uri="{FF2B5EF4-FFF2-40B4-BE49-F238E27FC236}">
                <ns3:creationId id="{688E0B36-E3EF-40D4-A869-FAB02F399E86}"/>
              </a:ext>
            </a:extLst>
          </p:cNvPr>
          <p:cNvSpPr>
            <a:spLocks noGrp="1"/>
          </p:cNvSpPr>
          <p:nvPr/>
        </p:nvSpPr>
        <p:spPr>
          <a:xfrm>
            <a:off x="685800" y="4710113"/>
            <a:ext cx="561975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예제 파일을 고치고 결과를 확인합니다.</a:t>
            </a:r>
          </a:p>
        </p:txBody>
      </p:sp>
      <p:sp>
        <p:nvSpPr>
          <p:cNvPr id="6" name="">
            <a:extLst>
              <a:ext uri="{FF2B5EF4-FFF2-40B4-BE49-F238E27FC236}">
                <ns3:creationId id="{AA6EB050-FA3C-44C5-B3FD-34A7EB4A74E5}"/>
              </a:ext>
            </a:extLst>
          </p:cNvPr>
          <p:cNvSpPr>
            <a:spLocks noGrp="1"/>
          </p:cNvSpPr>
          <p:nvPr/>
        </p:nvSpPr>
        <p:spPr>
          <a:xfrm>
            <a:off x="685800" y="5153025"/>
            <a:ext cx="561975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50분 수업 6교시로 진행합니다.</a:t>
            </a:r>
          </a:p>
        </p:txBody>
      </p:sp>
      <p:sp>
        <p:nvSpPr>
          <p:cNvPr id="7" name="">
            <a:extLst>
              <a:ext uri="{FF2B5EF4-FFF2-40B4-BE49-F238E27FC236}">
                <ns3:creationId id="{F3737ED4-0E4F-4870-BD1F-8F1270EF8FAD}"/>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3:creationId id="{A74D1CA8-264B-4450-995A-931AC6728A1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3:creationId id="{BEFDFEE0-9379-4005-A168-853A4258A8C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3:creationId id="{918A2ABD-D952-4DE3-BA13-FB5D95B949F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3:creationId id="{884E95F2-4C53-4188-8BDB-A1D45DC0C61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001</a:t>
            </a:r>
          </a:p>
        </p:txBody>
      </p:sp>
    </p:spTree>
    <p:extLst>
      <p:ext uri="{BB962C8B-B14F-4D97-AF65-F5344CB8AC3E}">
        <ns4:creationId val="1131153615"/>
      </p:ext>
    </p:extLst>
  </p:cSld>
</p:sld>
</file>

<file path=ppt/slides/slide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5" name="">
            <a:extLst>
              <a:ext uri="{FF2B5EF4-FFF2-40B4-BE49-F238E27FC236}">
                <ns2:creationId id="{333F5B79-89B2-4DB3-B136-22F7341D5DF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10/21 수업</a:t>
            </a:r>
          </a:p>
        </p:txBody>
      </p:sp>
      <p:sp>
        <p:nvSpPr>
          <p:cNvPr id="2" name="">
            <a:extLst>
              <a:ext uri="{FF2B5EF4-FFF2-40B4-BE49-F238E27FC236}">
                <ns2:creationId id="{1EA44EFB-D5F6-4ADD-82FC-84A9819E6E5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실습 파일부터 열어 봅시다</a:t>
            </a:r>
          </a:p>
        </p:txBody>
      </p:sp>
      <p:sp>
        <p:nvSpPr>
          <p:cNvPr id="3" name="">
            <a:extLst>
              <a:ext uri="{FF2B5EF4-FFF2-40B4-BE49-F238E27FC236}">
                <ns2:creationId id="{6329672B-FE2D-4942-8F4D-F18D8E85E8BB}"/>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3BCADCCF-865C-4863-A409-FF77FFC9F33B}"/>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ZIP을 일반 폴더에 풉니다.</a:t>
            </a:r>
          </a:p>
        </p:txBody>
      </p:sp>
      <p:sp>
        <p:nvSpPr>
          <p:cNvPr id="5" name="">
            <a:extLst>
              <a:ext uri="{FF2B5EF4-FFF2-40B4-BE49-F238E27FC236}">
                <ns2:creationId id="{3C3FEF03-20DF-412C-9420-18D8A71FD8E5}"/>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course의 code·data·work를 찾습니다.</a:t>
            </a:r>
          </a:p>
        </p:txBody>
      </p:sp>
      <p:sp>
        <p:nvSpPr>
          <p:cNvPr id="6" name="">
            <a:extLst>
              <a:ext uri="{FF2B5EF4-FFF2-40B4-BE49-F238E27FC236}">
                <ns2:creationId id="{87DC7A71-F6AF-4510-B12A-F9474AF777D4}"/>
              </a:ext>
            </a:extLst>
          </p:cNvPr>
          <p:cNvSpPr>
            <a:spLocks noGrp="1"/>
          </p:cNvSpPr>
          <p:nvPr/>
        </p:nvSpPr>
        <p:spPr>
          <a:xfrm>
            <a:off x="685800" y="369760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work만 수정하고 원본을 보존합니다.</a:t>
            </a:r>
          </a:p>
        </p:txBody>
      </p:sp>
      <p:sp>
        <p:nvSpPr>
          <p:cNvPr id="7" name="">
            <a:extLst>
              <a:ext uri="{FF2B5EF4-FFF2-40B4-BE49-F238E27FC236}">
                <ns2:creationId id="{9AA9F899-A9F2-4C86-9733-5FC0CAE363B2}"/>
              </a:ext>
            </a:extLst>
          </p:cNvPr>
          <p:cNvSpPr>
            <a:spLocks noGrp="1"/>
          </p:cNvSpPr>
          <p:nvPr/>
        </p:nvSpPr>
        <p:spPr>
          <a:xfrm>
            <a:off x="685800" y="419671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저장과 실행을 구별합니다.</a:t>
            </a:r>
          </a:p>
        </p:txBody>
      </p:sp>
      <p:sp>
        <p:nvSpPr>
          <p:cNvPr id="8" name="">
            <a:extLst>
              <a:ext uri="{FF2B5EF4-FFF2-40B4-BE49-F238E27FC236}">
                <ns2:creationId id="{1DA767E0-A985-4639-815E-C11D7FB70F18}"/>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실제 파일을 고르는 위치</a:t>
            </a:r>
          </a:p>
        </p:txBody>
      </p:sp>
      <p:graphicFrame>
        <p:nvGraphicFramePr>
          <p:cNvPr id="23" name=""/>
          <p:cNvGraphicFramePr/>
          <p:nvPr/>
        </p:nvGraphicFramePr>
        <p:xfrm>
          <a:off x="6267450" y="2628900"/>
          <a:ext cx="5238750" cy="2057400"/>
        </p:xfrm>
        <a:graphic>
          <a:graphicData uri="http://schemas.openxmlformats.org/drawingml/2006/table">
            <a:tbl>
              <a:tblPr firstRow="1" bandRow="0"/>
              <a:tblGrid>
                <a:gridCol w="2036863"/>
                <a:gridCol w="3201887"/>
              </a:tblGrid>
              <a:tr h="514350">
                <a:tc>
                  <a:txBody>
                    <a:bodyPr wrap="square"/>
                    <a:lstStyle/>
                    <a:p>
                      <a:pPr>
                        <a:lnSpc>
                          <a:spcPct val="102000"/>
                        </a:lnSpc>
                        <a:buNone/>
                      </a:pPr>
                      <a:r>
                        <a:rPr sz="1875" b="1">
                          <a:solidFill>
                            <a:srgbClr val="172F39"/>
                          </a:solidFill>
                          <a:latin typeface="Noto Sans KR"/>
                          <a:ea typeface="Noto Sans KR"/>
                          <a:cs typeface="Noto Sans KR"/>
                        </a:rPr>
                        <a:t>폴더</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역할</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code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제공 원본</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data</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제공 입력</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work</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학생 수정본</a:t>
                      </a:r>
                    </a:p>
                  </a:txBody>
                  <a:tcPr marL="114300" marR="114300" marT="76200" marB="76200" anchor="ctr">
                    <a:solidFill>
                      <a:srgbClr val="FFFFFF"/>
                    </a:solidFill>
                  </a:tcPr>
                </a:tc>
              </a:tr>
            </a:tbl>
          </a:graphicData>
        </a:graphic>
      </p:graphicFrame>
      <p:sp>
        <p:nvSpPr>
          <p:cNvPr id="10" name="">
            <a:extLst>
              <a:ext uri="{FF2B5EF4-FFF2-40B4-BE49-F238E27FC236}">
                <ns2:creationId id="{ED55C9B3-865E-46EA-9B92-027E99608410}"/>
              </a:ext>
            </a:extLst>
          </p:cNvPr>
          <p:cNvSpPr>
            <a:spLocks noGrp="1"/>
          </p:cNvSpPr>
          <p:nvPr/>
        </p:nvSpPr>
        <p:spPr>
          <a:xfrm>
            <a:off x="685800" y="6172200"/>
            <a:ext cx="10820400" cy="9525"/>
          </a:xfrm>
          <a:prstGeom prst="rect">
            <a:avLst/>
          </a:prstGeom>
          <a:solidFill>
            <a:srgbClr val="D5DEDD"/>
          </a:solidFill>
          <a:ln w="0">
            <a:noFill/>
          </a:ln>
        </p:spPr>
      </p:sp>
      <p:sp>
        <p:nvSpPr>
          <p:cNvPr id="11" name="">
            <a:extLst>
              <a:ext uri="{FF2B5EF4-FFF2-40B4-BE49-F238E27FC236}">
                <ns2:creationId id="{C0D6C019-3C6D-4F95-BB17-6E8A4CE285F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2" name="">
            <a:extLst>
              <a:ext uri="{FF2B5EF4-FFF2-40B4-BE49-F238E27FC236}">
                <ns2:creationId id="{E8C488BA-DD49-4D69-B9B2-851D14F9CA8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3" name="">
            <a:extLst>
              <a:ext uri="{FF2B5EF4-FFF2-40B4-BE49-F238E27FC236}">
                <ns2:creationId id="{D2AAEA4A-6449-43F0-B4B8-917E25E10BD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4" name="">
            <a:extLst>
              <a:ext uri="{FF2B5EF4-FFF2-40B4-BE49-F238E27FC236}">
                <ns2:creationId id="{8D4141ED-6AD0-43CA-9E4D-169B94E86AE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002</a:t>
            </a:r>
          </a:p>
        </p:txBody>
      </p:sp>
    </p:spTree>
    <p:extLst>
      <p:ext uri="{BB962C8B-B14F-4D97-AF65-F5344CB8AC3E}">
        <ns4:creationId val="2046995860"/>
      </p:ext>
    </p:extLst>
  </p:cSld>
</p:sld>
</file>

<file path=ppt/slides/slide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6" name="">
            <a:extLst>
              <a:ext uri="{FF2B5EF4-FFF2-40B4-BE49-F238E27FC236}">
                <ns2:creationId id="{C6E383A2-E85F-443B-B1D4-F0BD5E14980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10/21 수업</a:t>
            </a:r>
          </a:p>
        </p:txBody>
      </p:sp>
      <p:sp>
        <p:nvSpPr>
          <p:cNvPr id="2" name="">
            <a:extLst>
              <a:ext uri="{FF2B5EF4-FFF2-40B4-BE49-F238E27FC236}">
                <ns2:creationId id="{1312F3CC-A84F-4ED2-B80E-DC101866651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결과를 어떻게 확인했나요?</a:t>
            </a:r>
          </a:p>
        </p:txBody>
      </p:sp>
      <p:sp>
        <p:nvSpPr>
          <p:cNvPr id="3" name="">
            <a:extLst>
              <a:ext uri="{FF2B5EF4-FFF2-40B4-BE49-F238E27FC236}">
                <ns2:creationId id="{6C8EC792-F07D-45BD-B1CD-206206793288}"/>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D36F50FB-735F-47BF-B05C-8ACA1BFDD77F}"/>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직접 실행했는지, 시연을 봤는지 적습니다.</a:t>
            </a:r>
          </a:p>
        </p:txBody>
      </p:sp>
      <p:sp>
        <p:nvSpPr>
          <p:cNvPr id="5" name="">
            <a:extLst>
              <a:ext uri="{FF2B5EF4-FFF2-40B4-BE49-F238E27FC236}">
                <ns2:creationId id="{DFA31DD9-7EF4-4244-A6AD-34231CA27117}"/>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실행 전에 넣을 값과 나올 결과를 적습니다.</a:t>
            </a:r>
          </a:p>
        </p:txBody>
      </p:sp>
      <p:sp>
        <p:nvSpPr>
          <p:cNvPr id="6" name="">
            <a:extLst>
              <a:ext uri="{FF2B5EF4-FFF2-40B4-BE49-F238E27FC236}">
                <ns2:creationId id="{D3EDDB20-052F-4747-B9E4-2043F2B221E9}"/>
              </a:ext>
            </a:extLst>
          </p:cNvPr>
          <p:cNvSpPr>
            <a:spLocks noGrp="1"/>
          </p:cNvSpPr>
          <p:nvPr/>
        </p:nvSpPr>
        <p:spPr>
          <a:xfrm>
            <a:off x="685800" y="403479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실제 결과를 적고, 예상과 다른 곳을 찾습니다.</a:t>
            </a:r>
          </a:p>
        </p:txBody>
      </p:sp>
      <p:sp>
        <p:nvSpPr>
          <p:cNvPr id="7" name="">
            <a:extLst>
              <a:ext uri="{FF2B5EF4-FFF2-40B4-BE49-F238E27FC236}">
                <ns2:creationId id="{778C7F45-9675-4F57-934D-3447193AF757}"/>
              </a:ext>
            </a:extLst>
          </p:cNvPr>
          <p:cNvSpPr>
            <a:spLocks noGrp="1"/>
          </p:cNvSpPr>
          <p:nvPr/>
        </p:nvSpPr>
        <p:spPr>
          <a:xfrm>
            <a:off x="685800" y="487108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코드를 읽고 계산했다면 그 방법도 적습니다.</a:t>
            </a:r>
          </a:p>
        </p:txBody>
      </p:sp>
      <p:sp>
        <p:nvSpPr>
          <p:cNvPr id="8" name="">
            <a:extLst>
              <a:ext uri="{FF2B5EF4-FFF2-40B4-BE49-F238E27FC236}">
                <ns2:creationId id="{1C4383BB-600F-441C-8CC6-DC61AB3CF674}"/>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이번 자료에서 확인하는 결과</a:t>
            </a:r>
          </a:p>
        </p:txBody>
      </p:sp>
      <p:sp>
        <p:nvSpPr>
          <p:cNvPr id="9" name="">
            <a:extLst>
              <a:ext uri="{FF2B5EF4-FFF2-40B4-BE49-F238E27FC236}">
                <ns2:creationId id="{1D4E0ECB-338E-4B84-AC6D-8EF255242E4D}"/>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HTML 처음 값 22.5 / 수정 데이터 26</a:t>
            </a:r>
          </a:p>
        </p:txBody>
      </p:sp>
      <p:sp>
        <p:nvSpPr>
          <p:cNvPr id="10" name="">
            <a:extLst>
              <a:ext uri="{FF2B5EF4-FFF2-40B4-BE49-F238E27FC236}">
                <ns2:creationId id="{94858515-4C28-4025-B1B2-3CE6173E6581}"/>
              </a:ext>
            </a:extLst>
          </p:cNvPr>
          <p:cNvSpPr>
            <a:spLocks noGrp="1"/>
          </p:cNvSpPr>
          <p:nvPr/>
        </p:nvSpPr>
        <p:spPr>
          <a:xfrm>
            <a:off x="6267450" y="3116771"/>
            <a:ext cx="5238750" cy="766191"/>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수행 방법: 직접 실행 / 시연 관찰 / 수동 추적</a:t>
            </a:r>
          </a:p>
        </p:txBody>
      </p:sp>
      <p:sp>
        <p:nvSpPr>
          <p:cNvPr id="11" name="">
            <a:extLst>
              <a:ext uri="{FF2B5EF4-FFF2-40B4-BE49-F238E27FC236}">
                <ns2:creationId id="{1DA5CC5F-4AAE-416C-8656-FB5DF223E33E}"/>
              </a:ext>
            </a:extLst>
          </p:cNvPr>
          <p:cNvSpPr>
            <a:spLocks noGrp="1"/>
          </p:cNvSpPr>
          <p:nvPr/>
        </p:nvSpPr>
        <p:spPr>
          <a:xfrm>
            <a:off x="685800" y="6172200"/>
            <a:ext cx="10820400" cy="9525"/>
          </a:xfrm>
          <a:prstGeom prst="rect">
            <a:avLst/>
          </a:prstGeom>
          <a:solidFill>
            <a:srgbClr val="D5DEDD"/>
          </a:solidFill>
          <a:ln w="0">
            <a:noFill/>
          </a:ln>
        </p:spPr>
      </p:sp>
      <p:sp>
        <p:nvSpPr>
          <p:cNvPr id="12" name="">
            <a:extLst>
              <a:ext uri="{FF2B5EF4-FFF2-40B4-BE49-F238E27FC236}">
                <ns2:creationId id="{1109608A-4C28-40A5-BC2A-FD90776656E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3" name="">
            <a:extLst>
              <a:ext uri="{FF2B5EF4-FFF2-40B4-BE49-F238E27FC236}">
                <ns2:creationId id="{3F38497D-258A-4CEF-AEA9-33E103AB084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4" name="">
            <a:extLst>
              <a:ext uri="{FF2B5EF4-FFF2-40B4-BE49-F238E27FC236}">
                <ns2:creationId id="{ADAE0FB2-6092-465B-A058-734D71CC604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5" name="">
            <a:extLst>
              <a:ext uri="{FF2B5EF4-FFF2-40B4-BE49-F238E27FC236}">
                <ns2:creationId id="{806DE379-E1D3-490F-AEF9-90A7C09B420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003</a:t>
            </a:r>
          </a:p>
        </p:txBody>
      </p:sp>
    </p:spTree>
    <p:extLst>
      <p:ext uri="{BB962C8B-B14F-4D97-AF65-F5344CB8AC3E}">
        <ns4:creationId val="1806417572"/>
      </p:ext>
    </p:extLst>
  </p:cSld>
</p:sld>
</file>

<file path=ppt/slides/slide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6" name="">
            <a:extLst>
              <a:ext uri="{FF2B5EF4-FFF2-40B4-BE49-F238E27FC236}">
                <ns2:creationId id="{90474946-BCDF-41E3-839E-8A4B1A2E89F3}"/>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10/21 수업</a:t>
            </a:r>
          </a:p>
        </p:txBody>
      </p:sp>
      <p:sp>
        <p:nvSpPr>
          <p:cNvPr id="2" name="">
            <a:extLst>
              <a:ext uri="{FF2B5EF4-FFF2-40B4-BE49-F238E27FC236}">
                <ns2:creationId id="{E8676782-8A31-41D3-914E-2F3ECEF1C55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오늘의 수업과 추가 복습</a:t>
            </a:r>
          </a:p>
        </p:txBody>
      </p:sp>
      <p:sp>
        <p:nvSpPr>
          <p:cNvPr id="3" name="">
            <a:extLst>
              <a:ext uri="{FF2B5EF4-FFF2-40B4-BE49-F238E27FC236}">
                <ns2:creationId id="{8B53082D-F04F-4994-8641-C9D4D22B777E}"/>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0C995D86-4467-4276-AF7C-E77A12BFC29E}"/>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10:00~17:00에 수업과 휴식을 진행합니다.</a:t>
            </a:r>
          </a:p>
        </p:txBody>
      </p:sp>
      <p:sp>
        <p:nvSpPr>
          <p:cNvPr id="5" name="">
            <a:extLst>
              <a:ext uri="{FF2B5EF4-FFF2-40B4-BE49-F238E27FC236}">
                <ns2:creationId id="{575C8ED4-9CA9-4C66-9C6A-6139E878CBD8}"/>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중식은 11:50~13:00입니다.</a:t>
            </a:r>
          </a:p>
        </p:txBody>
      </p:sp>
      <p:sp>
        <p:nvSpPr>
          <p:cNvPr id="6" name="">
            <a:extLst>
              <a:ext uri="{FF2B5EF4-FFF2-40B4-BE49-F238E27FC236}">
                <ns2:creationId id="{6032A9A6-621A-41F1-86BA-3859300B1604}"/>
              </a:ext>
            </a:extLst>
          </p:cNvPr>
          <p:cNvSpPr>
            <a:spLocks noGrp="1"/>
          </p:cNvSpPr>
          <p:nvPr/>
        </p:nvSpPr>
        <p:spPr>
          <a:xfrm>
            <a:off x="685800" y="369760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수업 활동을 마치면 추가 문제를 풀어 봅니다.</a:t>
            </a:r>
          </a:p>
        </p:txBody>
      </p:sp>
      <p:sp>
        <p:nvSpPr>
          <p:cNvPr id="7" name="">
            <a:extLst>
              <a:ext uri="{FF2B5EF4-FFF2-40B4-BE49-F238E27FC236}">
                <ns2:creationId id="{30AE9E49-B8D5-4B07-A1D2-060EA2C6FDD0}"/>
              </a:ext>
            </a:extLst>
          </p:cNvPr>
          <p:cNvSpPr>
            <a:spLocks noGrp="1"/>
          </p:cNvSpPr>
          <p:nvPr/>
        </p:nvSpPr>
        <p:spPr>
          <a:xfrm>
            <a:off x="685800" y="45339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추가 문제는 수업 뒤에도 이어서 풀 수 있습니다.</a:t>
            </a:r>
          </a:p>
        </p:txBody>
      </p:sp>
      <p:sp>
        <p:nvSpPr>
          <p:cNvPr id="8" name="">
            <a:extLst>
              <a:ext uri="{FF2B5EF4-FFF2-40B4-BE49-F238E27FC236}">
                <ns2:creationId id="{BEE7D3A2-ECAA-44A7-98E4-B56A3BAE866F}"/>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오늘 다룰 실제 자료</a:t>
            </a:r>
          </a:p>
        </p:txBody>
      </p:sp>
      <p:sp>
        <p:nvSpPr>
          <p:cNvPr id="9" name="">
            <a:extLst>
              <a:ext uri="{FF2B5EF4-FFF2-40B4-BE49-F238E27FC236}">
                <ns2:creationId id="{A3CFC798-A912-4910-A9FF-86805310CDE6}"/>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50분 × 6교시</a:t>
            </a:r>
          </a:p>
        </p:txBody>
      </p:sp>
      <p:sp>
        <p:nvSpPr>
          <p:cNvPr id="10" name="">
            <a:extLst>
              <a:ext uri="{FF2B5EF4-FFF2-40B4-BE49-F238E27FC236}">
                <ns2:creationId id="{D620770B-D48B-4C15-B86E-48BD62652F93}"/>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중식 11:50~13:00</a:t>
            </a:r>
          </a:p>
        </p:txBody>
      </p:sp>
      <p:sp>
        <p:nvSpPr>
          <p:cNvPr id="11" name="">
            <a:extLst>
              <a:ext uri="{FF2B5EF4-FFF2-40B4-BE49-F238E27FC236}">
                <ns2:creationId id="{4FEF14AD-3B16-43DD-BEC2-A158E5E390D9}"/>
              </a:ext>
            </a:extLst>
          </p:cNvPr>
          <p:cNvSpPr>
            <a:spLocks noGrp="1"/>
          </p:cNvSpPr>
          <p:nvPr/>
        </p:nvSpPr>
        <p:spPr>
          <a:xfrm>
            <a:off x="685800" y="6172200"/>
            <a:ext cx="10820400" cy="9525"/>
          </a:xfrm>
          <a:prstGeom prst="rect">
            <a:avLst/>
          </a:prstGeom>
          <a:solidFill>
            <a:srgbClr val="D5DEDD"/>
          </a:solidFill>
          <a:ln w="0">
            <a:noFill/>
          </a:ln>
        </p:spPr>
      </p:sp>
      <p:sp>
        <p:nvSpPr>
          <p:cNvPr id="12" name="">
            <a:extLst>
              <a:ext uri="{FF2B5EF4-FFF2-40B4-BE49-F238E27FC236}">
                <ns2:creationId id="{D8190AD8-D84C-4CEA-AE49-C2F0E7EE6C8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3" name="">
            <a:extLst>
              <a:ext uri="{FF2B5EF4-FFF2-40B4-BE49-F238E27FC236}">
                <ns2:creationId id="{3A10732E-488D-4AA1-80E1-5A9BA68500E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4" name="">
            <a:extLst>
              <a:ext uri="{FF2B5EF4-FFF2-40B4-BE49-F238E27FC236}">
                <ns2:creationId id="{587ACD96-B4A1-42C0-8445-7EC35F0C45F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5" name="">
            <a:extLst>
              <a:ext uri="{FF2B5EF4-FFF2-40B4-BE49-F238E27FC236}">
                <ns2:creationId id="{8F474103-E127-4B96-8690-9A5A6A4E0D7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004</a:t>
            </a:r>
          </a:p>
        </p:txBody>
      </p:sp>
    </p:spTree>
    <p:extLst>
      <p:ext uri="{BB962C8B-B14F-4D97-AF65-F5344CB8AC3E}">
        <ns4:creationId val="1672682467"/>
      </p:ext>
    </p:extLst>
  </p:cSld>
</p:sld>
</file>

<file path=ppt/slides/slide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1B1EB331-5793-4425-8858-D167F80C63D5}"/>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1교시</a:t>
            </a:r>
          </a:p>
        </p:txBody>
      </p:sp>
      <p:sp>
        <p:nvSpPr>
          <p:cNvPr id="2" name="">
            <a:extLst>
              <a:ext uri="{FF2B5EF4-FFF2-40B4-BE49-F238E27FC236}">
                <ns2:creationId id="{61462FC9-7898-4636-8B3B-00EC56F5E0BB}"/>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웹 문서의 내용</a:t>
            </a:r>
          </a:p>
        </p:txBody>
      </p:sp>
      <p:sp>
        <p:nvSpPr>
          <p:cNvPr id="3" name="">
            <a:extLst>
              <a:ext uri="{FF2B5EF4-FFF2-40B4-BE49-F238E27FC236}">
                <ns2:creationId id="{A26DE874-FBAD-4519-B014-B4DA2B4D923C}"/>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50분 수업입니다.</a:t>
            </a:r>
          </a:p>
        </p:txBody>
      </p:sp>
      <p:sp>
        <p:nvSpPr>
          <p:cNvPr id="4" name="">
            <a:extLst>
              <a:ext uri="{FF2B5EF4-FFF2-40B4-BE49-F238E27FC236}">
                <ns2:creationId id="{04E8F7D7-56CE-4ECD-933A-5DB47419A5F6}"/>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예제를 함께 보고 따라 해 봅니다.</a:t>
            </a:r>
          </a:p>
        </p:txBody>
      </p:sp>
      <p:sp>
        <p:nvSpPr>
          <p:cNvPr id="5" name="">
            <a:extLst>
              <a:ext uri="{FF2B5EF4-FFF2-40B4-BE49-F238E27FC236}">
                <ns2:creationId id="{9DE92BEE-4AB1-4D0E-8EBC-C5A6F4A43376}"/>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결과가 예상과 같은지 확인해 봅니다.</a:t>
            </a:r>
          </a:p>
        </p:txBody>
      </p:sp>
      <p:sp>
        <p:nvSpPr>
          <p:cNvPr id="6" name="">
            <a:extLst>
              <a:ext uri="{FF2B5EF4-FFF2-40B4-BE49-F238E27FC236}">
                <ns2:creationId id="{55862E9D-19F3-46D4-88B7-4F2AABB80163}"/>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478594CB-9DB0-45DD-B0ED-80AB853248B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7BEB6B80-7BD1-4CF1-AC3E-36F097ED6C0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DD15EC78-B5D8-4745-BBA0-C2995B41921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4434D83E-F6AE-4C4D-B66A-B10130A4EA3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005</a:t>
            </a:r>
          </a:p>
        </p:txBody>
      </p:sp>
    </p:spTree>
    <p:extLst>
      <p:ext uri="{BB962C8B-B14F-4D97-AF65-F5344CB8AC3E}">
        <ns4:creationId val="359567418"/>
      </p:ext>
    </p:extLst>
  </p:cSld>
</p:sld>
</file>

<file path=ppt/slides/slide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2DDD2A21-C355-4012-AF2B-41AC4F96554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73AC09E9-10AB-454B-A739-34C66081666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파일 이름과 화면의 이름</a:t>
            </a:r>
          </a:p>
        </p:txBody>
      </p:sp>
      <p:sp>
        <p:nvSpPr>
          <p:cNvPr id="3" name="">
            <a:extLst>
              <a:ext uri="{FF2B5EF4-FFF2-40B4-BE49-F238E27FC236}">
                <ns2:creationId id="{24BEBF1B-DF91-44B3-A9F3-EEAE0193BDC9}"/>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파일·탭·본문 이름</a:t>
            </a:r>
          </a:p>
        </p:txBody>
      </p:sp>
      <p:sp>
        <p:nvSpPr>
          <p:cNvPr id="4" name="">
            <a:extLst>
              <a:ext uri="{FF2B5EF4-FFF2-40B4-BE49-F238E27FC236}">
                <ns2:creationId id="{8DD675DA-001A-4F3C-B4B4-958F1C9E3234}"/>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파일 이름, 탭 이름, 본문 제목은 다릅니다.</a:t>
            </a:r>
          </a:p>
        </p:txBody>
      </p:sp>
      <p:sp>
        <p:nvSpPr>
          <p:cNvPr id="5" name="">
            <a:extLst>
              <a:ext uri="{FF2B5EF4-FFF2-40B4-BE49-F238E27FC236}">
                <ns2:creationId id="{375E6A5C-0954-4308-A864-A2AEE5B3FEF1}"/>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버튼 글자와 클릭 동작도 따로 확인합니다.</a:t>
            </a:r>
          </a:p>
        </p:txBody>
      </p:sp>
      <p:sp>
        <p:nvSpPr>
          <p:cNvPr id="6" name="">
            <a:extLst>
              <a:ext uri="{FF2B5EF4-FFF2-40B4-BE49-F238E27FC236}">
                <ns2:creationId id="{DC99D381-A2D6-4C08-8C74-46A789224DB8}"/>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같은 파일 다시 열기</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2086344"/>
                <a:gridCol w="3152406"/>
              </a:tblGrid>
              <a:tr h="514350">
                <a:tc>
                  <a:txBody>
                    <a:bodyPr wrap="square"/>
                    <a:lstStyle/>
                    <a:p>
                      <a:pPr>
                        <a:lnSpc>
                          <a:spcPct val="102000"/>
                        </a:lnSpc>
                        <a:buNone/>
                      </a:pPr>
                      <a:r>
                        <a:rPr sz="1875" b="1">
                          <a:solidFill>
                            <a:srgbClr val="172F39"/>
                          </a:solidFill>
                          <a:latin typeface="Noto Sans KR"/>
                          <a:ea typeface="Noto Sans KR"/>
                          <a:cs typeface="Noto Sans KR"/>
                        </a:rPr>
                        <a:t>순서</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대상</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편집·저장</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work/static/index.html</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열기·새로고침</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같은 HTML</a:t>
                      </a:r>
                    </a:p>
                  </a:txBody>
                  <a:tcPr marL="114300" marR="114300" marT="76200" marB="76200" anchor="ctr">
                    <a:solidFill>
                      <a:srgbClr val="FFFFFF"/>
                    </a:solidFill>
                  </a:tcPr>
                </a:tc>
              </a:tr>
            </a:tbl>
          </a:graphicData>
        </a:graphic>
      </p:graphicFrame>
      <p:sp>
        <p:nvSpPr>
          <p:cNvPr id="8" name="">
            <a:extLst>
              <a:ext uri="{FF2B5EF4-FFF2-40B4-BE49-F238E27FC236}">
                <ns2:creationId id="{BE2D7198-A7D2-4C8A-94CE-6AF659BE11B8}"/>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5F687B52-0EB4-47EE-91A9-E222A3B2FA8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57C4EA30-BA6E-4626-821B-AAEA1338BAE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9C2AD6BF-1EDB-4819-B1C3-9AFF0CA6363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98287A02-72D4-47E7-8DA2-5E84A6F1400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006</a:t>
            </a:r>
          </a:p>
        </p:txBody>
      </p:sp>
    </p:spTree>
    <p:extLst>
      <p:ext uri="{BB962C8B-B14F-4D97-AF65-F5344CB8AC3E}">
        <ns4:creationId val="1041833617"/>
      </p:ext>
    </p:extLst>
  </p:cSld>
</p:sld>
</file>

<file path=ppt/slides/slide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C457B5DC-E23D-44E8-AE64-0FD33CCB06B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2C5A4214-39D9-42E0-9834-CA4F334C87B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A01  파일과 브라우저</a:t>
            </a:r>
          </a:p>
        </p:txBody>
      </p:sp>
      <p:sp>
        <p:nvSpPr>
          <p:cNvPr id="3" name="">
            <a:extLst>
              <a:ext uri="{FF2B5EF4-FFF2-40B4-BE49-F238E27FC236}">
                <ns2:creationId id="{868F340C-EB3E-44B0-A21D-7FC965278FF2}"/>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편집기에서 수정</a:t>
            </a:r>
          </a:p>
        </p:txBody>
      </p:sp>
      <p:sp>
        <p:nvSpPr>
          <p:cNvPr id="4" name="">
            <a:extLst>
              <a:ext uri="{FF2B5EF4-FFF2-40B4-BE49-F238E27FC236}">
                <ns2:creationId id="{4F6EFBFE-115B-4816-866B-A69F5BF1BA47}"/>
              </a:ext>
            </a:extLst>
          </p:cNvPr>
          <p:cNvSpPr>
            <a:spLocks noGrp="1"/>
          </p:cNvSpPr>
          <p:nvPr/>
        </p:nvSpPr>
        <p:spPr>
          <a:xfrm>
            <a:off x="685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편집기는 파일 내용을 고칩니다.</a:t>
            </a:r>
          </a:p>
        </p:txBody>
      </p:sp>
      <p:sp>
        <p:nvSpPr>
          <p:cNvPr id="5" name="">
            <a:extLst>
              <a:ext uri="{FF2B5EF4-FFF2-40B4-BE49-F238E27FC236}">
                <ns2:creationId id="{491B57E0-230B-4B20-8FB5-24749D46B658}"/>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브라우저에서 표시</a:t>
            </a:r>
          </a:p>
        </p:txBody>
      </p:sp>
      <p:sp>
        <p:nvSpPr>
          <p:cNvPr id="6" name="">
            <a:extLst>
              <a:ext uri="{FF2B5EF4-FFF2-40B4-BE49-F238E27FC236}">
                <ns2:creationId id="{0E9526F0-32F6-4EF0-B4C7-AC24DE3ABC65}"/>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브라우저는 HTML을 읽어 화면으로 보여 줍니다.</a:t>
            </a:r>
          </a:p>
        </p:txBody>
      </p:sp>
      <p:sp>
        <p:nvSpPr>
          <p:cNvPr id="7" name="">
            <a:extLst>
              <a:ext uri="{FF2B5EF4-FFF2-40B4-BE49-F238E27FC236}">
                <ns2:creationId id="{26C5489E-4BA3-4575-A487-13C981F052DB}"/>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6C939A5A-0F46-4FCC-961D-22B401B83F1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53D5FC2F-0C74-4FEE-B4C3-01E4387AF46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D8D27658-E21B-4AB9-8A4D-D5C83F758A7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D27C916D-8068-4A9A-B661-AE1CAFA6171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007</a:t>
            </a:r>
          </a:p>
        </p:txBody>
      </p:sp>
    </p:spTree>
    <p:extLst>
      <p:ext uri="{BB962C8B-B14F-4D97-AF65-F5344CB8AC3E}">
        <ns4:creationId val="230211661"/>
      </p:ext>
    </p:extLst>
  </p:cSld>
</p:sld>
</file>

<file path=ppt/slides/slide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0283EFC7-52EF-42B2-B5F3-9F23B8D07DF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BA365392-0EDB-4761-A986-7C1E957C0D3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파일과 브라우저의 예</a:t>
            </a:r>
          </a:p>
        </p:txBody>
      </p:sp>
      <p:sp>
        <p:nvSpPr>
          <p:cNvPr id="3" name="">
            <a:extLst>
              <a:ext uri="{FF2B5EF4-FFF2-40B4-BE49-F238E27FC236}">
                <ns2:creationId id="{6FE1644F-7E51-43FA-A134-7F0130333A36}"/>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73A4D4DA-3F74-4B7C-B62F-538DB08F3D25}"/>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work/static/index.html을 엽니다.</a:t>
            </a:r>
          </a:p>
        </p:txBody>
      </p:sp>
      <p:sp>
        <p:nvSpPr>
          <p:cNvPr id="5" name="">
            <a:extLst>
              <a:ext uri="{FF2B5EF4-FFF2-40B4-BE49-F238E27FC236}">
                <ns2:creationId id="{FC39B346-DA74-469E-86AC-BE159399ADF7}"/>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저장 후 같은 화면을 새로고침합니다.</a:t>
            </a:r>
          </a:p>
        </p:txBody>
      </p:sp>
      <p:sp>
        <p:nvSpPr>
          <p:cNvPr id="6" name="">
            <a:extLst>
              <a:ext uri="{FF2B5EF4-FFF2-40B4-BE49-F238E27FC236}">
                <ns2:creationId id="{E3A39A28-B08E-40EF-A387-42395C4FE611}"/>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같은 파일 다시 열기</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2086344"/>
                <a:gridCol w="3152406"/>
              </a:tblGrid>
              <a:tr h="514350">
                <a:tc>
                  <a:txBody>
                    <a:bodyPr wrap="square"/>
                    <a:lstStyle/>
                    <a:p>
                      <a:pPr>
                        <a:lnSpc>
                          <a:spcPct val="102000"/>
                        </a:lnSpc>
                        <a:buNone/>
                      </a:pPr>
                      <a:r>
                        <a:rPr sz="1875" b="1">
                          <a:solidFill>
                            <a:srgbClr val="172F39"/>
                          </a:solidFill>
                          <a:latin typeface="Noto Sans KR"/>
                          <a:ea typeface="Noto Sans KR"/>
                          <a:cs typeface="Noto Sans KR"/>
                        </a:rPr>
                        <a:t>순서</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대상</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편집·저장</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work/static/index.html</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열기·새로고침</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같은 HTML</a:t>
                      </a:r>
                    </a:p>
                  </a:txBody>
                  <a:tcPr marL="114300" marR="114300" marT="76200" marB="76200" anchor="ctr">
                    <a:solidFill>
                      <a:srgbClr val="FFFFFF"/>
                    </a:solidFill>
                  </a:tcPr>
                </a:tc>
              </a:tr>
            </a:tbl>
          </a:graphicData>
        </a:graphic>
      </p:graphicFrame>
      <p:sp>
        <p:nvSpPr>
          <p:cNvPr id="8" name="">
            <a:extLst>
              <a:ext uri="{FF2B5EF4-FFF2-40B4-BE49-F238E27FC236}">
                <ns2:creationId id="{79037D02-F81C-4111-8AA0-FCC4C411E9CD}"/>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E765D279-AD47-4E92-B750-7A9CC4675FE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414CAC7C-6E12-44BD-B5E6-25E02AA900C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A19A2B0F-494D-45B3-93A5-262098D5AA2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D0995498-9554-4908-A421-180BA055416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008</a:t>
            </a:r>
          </a:p>
        </p:txBody>
      </p:sp>
    </p:spTree>
    <p:extLst>
      <p:ext uri="{BB962C8B-B14F-4D97-AF65-F5344CB8AC3E}">
        <ns4:creationId val="2026891669"/>
      </p:ext>
    </p:extLst>
  </p:cSld>
</p:sld>
</file>

<file path=ppt/slides/slide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05553067-E22B-4BA0-B038-3238EFB9A10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582B3E83-1372-478C-87BB-27150D016D6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파일 경로 확인</a:t>
            </a:r>
          </a:p>
        </p:txBody>
      </p:sp>
      <p:sp>
        <p:nvSpPr>
          <p:cNvPr id="3" name="">
            <a:extLst>
              <a:ext uri="{FF2B5EF4-FFF2-40B4-BE49-F238E27FC236}">
                <ns2:creationId id="{F2C04363-1D11-496D-AF35-194C192DAE47}"/>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명령·입력</a:t>
            </a:r>
          </a:p>
        </p:txBody>
      </p:sp>
      <p:sp>
        <p:nvSpPr>
          <p:cNvPr id="4" name="">
            <a:extLst>
              <a:ext uri="{FF2B5EF4-FFF2-40B4-BE49-F238E27FC236}">
                <ns2:creationId id="{13301EF8-1DF4-4187-97C8-BF56B34D40C5}"/>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.html.txt와 .html을 구별합니다.</a:t>
            </a:r>
          </a:p>
        </p:txBody>
      </p:sp>
      <p:sp>
        <p:nvSpPr>
          <p:cNvPr id="5" name="">
            <a:extLst>
              <a:ext uri="{FF2B5EF4-FFF2-40B4-BE49-F238E27FC236}">
                <ns2:creationId id="{19C2BC8A-788B-4694-A39B-1FA459B64073}"/>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ZIP 안의 미리 보기에서 편집하지 않습니다.</a:t>
            </a:r>
          </a:p>
        </p:txBody>
      </p:sp>
      <p:sp>
        <p:nvSpPr>
          <p:cNvPr id="6" name="">
            <a:extLst>
              <a:ext uri="{FF2B5EF4-FFF2-40B4-BE49-F238E27FC236}">
                <ns2:creationId id="{F406C227-C4F0-4819-9893-5DBADC75CA97}"/>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같은 파일 다시 열기</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2086344"/>
                <a:gridCol w="3152406"/>
              </a:tblGrid>
              <a:tr h="514350">
                <a:tc>
                  <a:txBody>
                    <a:bodyPr wrap="square"/>
                    <a:lstStyle/>
                    <a:p>
                      <a:pPr>
                        <a:lnSpc>
                          <a:spcPct val="102000"/>
                        </a:lnSpc>
                        <a:buNone/>
                      </a:pPr>
                      <a:r>
                        <a:rPr sz="1875" b="1">
                          <a:solidFill>
                            <a:srgbClr val="172F39"/>
                          </a:solidFill>
                          <a:latin typeface="Noto Sans KR"/>
                          <a:ea typeface="Noto Sans KR"/>
                          <a:cs typeface="Noto Sans KR"/>
                        </a:rPr>
                        <a:t>순서</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대상</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편집·저장</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work/static/index.html</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열기·새로고침</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같은 HTML</a:t>
                      </a:r>
                    </a:p>
                  </a:txBody>
                  <a:tcPr marL="114300" marR="114300" marT="76200" marB="76200" anchor="ctr">
                    <a:solidFill>
                      <a:srgbClr val="FFFFFF"/>
                    </a:solidFill>
                  </a:tcPr>
                </a:tc>
              </a:tr>
            </a:tbl>
          </a:graphicData>
        </a:graphic>
      </p:graphicFrame>
      <p:sp>
        <p:nvSpPr>
          <p:cNvPr id="8" name="">
            <a:extLst>
              <a:ext uri="{FF2B5EF4-FFF2-40B4-BE49-F238E27FC236}">
                <ns2:creationId id="{F12565FD-A225-422F-AF1B-A933BD84599D}"/>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FCB8DB0F-86A5-40E1-8418-4F395F9D053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78530607-5269-412A-9CA2-87BB1042D89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E33C03AF-EA0C-41BE-9D49-7755A157006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DCCE78E1-35D1-47FA-8A3E-27D62271235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009</a:t>
            </a:r>
          </a:p>
        </p:txBody>
      </p:sp>
    </p:spTree>
    <p:extLst>
      <p:ext uri="{BB962C8B-B14F-4D97-AF65-F5344CB8AC3E}">
        <ns4:creationId val="1770546233"/>
      </p:ext>
    </p:extLst>
  </p:cSld>
</p:sld>
</file>

<file path=ppt/slides/slide1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6B2B85D0-3ABF-4B94-A5FE-E967E50E193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63BA9654-1263-488F-B9EB-0F86E96A209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저장과 화면</a:t>
            </a:r>
          </a:p>
        </p:txBody>
      </p:sp>
      <p:sp>
        <p:nvSpPr>
          <p:cNvPr id="3" name="">
            <a:extLst>
              <a:ext uri="{FF2B5EF4-FFF2-40B4-BE49-F238E27FC236}">
                <ns2:creationId id="{36F59FBA-96F2-4D04-A9B3-545A3FDE760A}"/>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문장을 고쳤는데 화면은 그대로입니다.</a:t>
            </a:r>
          </a:p>
        </p:txBody>
      </p:sp>
      <p:sp>
        <p:nvSpPr>
          <p:cNvPr id="4" name="">
            <a:extLst>
              <a:ext uri="{FF2B5EF4-FFF2-40B4-BE49-F238E27FC236}">
                <ns2:creationId id="{6032D36E-3613-45C8-9A64-10AB26D647F5}"/>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어떤 순서로 확인하나요?</a:t>
            </a:r>
          </a:p>
        </p:txBody>
      </p:sp>
      <p:sp>
        <p:nvSpPr>
          <p:cNvPr id="5" name="">
            <a:extLst>
              <a:ext uri="{FF2B5EF4-FFF2-40B4-BE49-F238E27FC236}">
                <ns2:creationId id="{1C2CCDF9-8652-4CAD-B352-34ECCC4FB05E}"/>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82C048C1-A1B6-4232-AB11-51B4ED16F0FD}"/>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2C4CFFB7-EA39-48C0-BF89-0C12657377E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545FFADF-7EBC-4F40-AB4E-893DC4C4A7A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9DB53D50-F226-4E24-ADF0-81427BA220D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A2177F41-F0AE-4F6E-9C77-D7E4DC26516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010</a:t>
            </a:r>
          </a:p>
        </p:txBody>
      </p:sp>
    </p:spTree>
    <p:extLst>
      <p:ext uri="{BB962C8B-B14F-4D97-AF65-F5344CB8AC3E}">
        <ns4:creationId val="1727886830"/>
      </p:ext>
    </p:extLst>
  </p:cSld>
</p:sld>
</file>

<file path=ppt/slides/slide1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CEE17B2E-68C0-42F2-8D60-840011D75FA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6F6A64FF-B5F7-450D-88E0-DFC4394CC66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A02  HTML의 의미</a:t>
            </a:r>
          </a:p>
        </p:txBody>
      </p:sp>
      <p:sp>
        <p:nvSpPr>
          <p:cNvPr id="3" name="">
            <a:extLst>
              <a:ext uri="{FF2B5EF4-FFF2-40B4-BE49-F238E27FC236}">
                <ns2:creationId id="{CDC95F48-6BBB-4CDE-83FA-3DF8C27107FB}"/>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C3F0D7F1-068C-4020-B867-7ED9FA8F915C}"/>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태그는 문서 내용의 역할을 표시합니다.</a:t>
            </a:r>
          </a:p>
        </p:txBody>
      </p:sp>
      <p:sp>
        <p:nvSpPr>
          <p:cNvPr id="5" name="">
            <a:extLst>
              <a:ext uri="{FF2B5EF4-FFF2-40B4-BE49-F238E27FC236}">
                <ns2:creationId id="{FECBD4CF-EC80-4312-B984-8B682A07302C}"/>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탭 이름과 본문 제목은 다른 위치입니다.</a:t>
            </a:r>
          </a:p>
        </p:txBody>
      </p:sp>
      <p:sp>
        <p:nvSpPr>
          <p:cNvPr id="6" name="">
            <a:extLst>
              <a:ext uri="{FF2B5EF4-FFF2-40B4-BE49-F238E27FC236}">
                <ns2:creationId id="{0DB7BBB1-88EE-4B0E-B3EC-689C3943D33F}"/>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짧은 HTML의 세 이름</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502336"/>
                <a:gridCol w="2736414"/>
              </a:tblGrid>
              <a:tr h="514350">
                <a:tc>
                  <a:txBody>
                    <a:bodyPr wrap="square"/>
                    <a:lstStyle/>
                    <a:p>
                      <a:pPr>
                        <a:lnSpc>
                          <a:spcPct val="102000"/>
                        </a:lnSpc>
                        <a:buNone/>
                      </a:pPr>
                      <a:r>
                        <a:rPr sz="1875" b="1">
                          <a:solidFill>
                            <a:srgbClr val="172F39"/>
                          </a:solidFill>
                          <a:latin typeface="Noto Sans KR"/>
                          <a:ea typeface="Noto Sans KR"/>
                          <a:cs typeface="Noto Sans KR"/>
                        </a:rPr>
                        <a:t>부분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원고의 문구</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title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작업장</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h1</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센서 안내</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button id</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check</a:t>
                      </a:r>
                    </a:p>
                  </a:txBody>
                  <a:tcPr marL="114300" marR="114300" marT="76200" marB="76200" anchor="ctr">
                    <a:solidFill>
                      <a:srgbClr val="FFFFFF"/>
                    </a:solidFill>
                  </a:tcPr>
                </a:tc>
              </a:tr>
            </a:tbl>
          </a:graphicData>
        </a:graphic>
      </p:graphicFrame>
      <p:sp>
        <p:nvSpPr>
          <p:cNvPr id="8" name="">
            <a:extLst>
              <a:ext uri="{FF2B5EF4-FFF2-40B4-BE49-F238E27FC236}">
                <ns2:creationId id="{B570668D-028E-4F08-8FEB-DDCEA5D2339D}"/>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2B4909B5-878F-4E44-B985-3D435E70ED4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E9259522-419C-4025-BCE2-283B6B3A913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959818FB-1572-46E0-9AE5-BB8DC8458A2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8513B5A5-7F49-4593-9E16-CE7D5F2C9A7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011</a:t>
            </a:r>
          </a:p>
        </p:txBody>
      </p:sp>
    </p:spTree>
    <p:extLst>
      <p:ext uri="{BB962C8B-B14F-4D97-AF65-F5344CB8AC3E}">
        <ns4:creationId val="63447577"/>
      </p:ext>
    </p:extLst>
  </p:cSld>
</p:sld>
</file>

<file path=ppt/slides/slide1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7" name="">
            <a:extLst>
              <a:ext uri="{FF2B5EF4-FFF2-40B4-BE49-F238E27FC236}">
                <ns2:creationId id="{678A2E0F-EF87-4ED5-A7CA-363FFACFF2B3}"/>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2A145635-E964-4603-B95C-FFE937C423B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HTML의 의미의 예</a:t>
            </a:r>
          </a:p>
        </p:txBody>
      </p:sp>
      <p:sp>
        <p:nvSpPr>
          <p:cNvPr id="3" name="">
            <a:extLst>
              <a:ext uri="{FF2B5EF4-FFF2-40B4-BE49-F238E27FC236}">
                <ns2:creationId id="{4B0E95FD-B008-4C7B-9A9E-34CF3F661B16}"/>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짧은 완성 HTML. 안내.html로 저장합니다.</a:t>
            </a:r>
          </a:p>
        </p:txBody>
      </p:sp>
      <p:sp>
        <p:nvSpPr>
          <p:cNvPr id="4" name="">
            <a:extLst>
              <a:ext uri="{FF2B5EF4-FFF2-40B4-BE49-F238E27FC236}">
                <ns2:creationId id="{FA0BA00C-6ED5-453C-B640-6A6335D612E3}"/>
              </a:ext>
            </a:extLst>
          </p:cNvPr>
          <p:cNvSpPr>
            <a:spLocks noGrp="1"/>
          </p:cNvSpPr>
          <p:nvPr/>
        </p:nvSpPr>
        <p:spPr>
          <a:xfrm>
            <a:off x="685800" y="2262188"/>
            <a:ext cx="6953250" cy="2542794"/>
          </a:xfrm>
          <a:prstGeom prst="rect">
            <a:avLst/>
          </a:prstGeom>
          <a:solidFill>
            <a:srgbClr val="F1F6F5"/>
          </a:solidFill>
          <a:ln w="0">
            <a:noFill/>
          </a:ln>
        </p:spPr>
      </p:sp>
      <p:sp>
        <p:nvSpPr>
          <p:cNvPr id="5" name="">
            <a:extLst>
              <a:ext uri="{FF2B5EF4-FFF2-40B4-BE49-F238E27FC236}">
                <ns2:creationId id="{A73C9B71-860A-46E4-A83D-9DF3CA7AD1F8}"/>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32928949-FA90-4D46-9FE6-5EA5F1FBB3C7}"/>
              </a:ext>
            </a:extLst>
          </p:cNvPr>
          <p:cNvSpPr>
            <a:spLocks noGrp="1"/>
          </p:cNvSpPr>
          <p:nvPr/>
        </p:nvSpPr>
        <p:spPr>
          <a:xfrm>
            <a:off x="1276350" y="2386013"/>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&lt;!doctype html&gt;</a:t>
            </a:r>
          </a:p>
        </p:txBody>
      </p:sp>
      <p:sp>
        <p:nvSpPr>
          <p:cNvPr id="7" name="">
            <a:extLst>
              <a:ext uri="{FF2B5EF4-FFF2-40B4-BE49-F238E27FC236}">
                <ns2:creationId id="{EA68D1BC-38C5-4EEE-8DD1-E5CFA6557B8B}"/>
              </a:ext>
            </a:extLst>
          </p:cNvPr>
          <p:cNvSpPr>
            <a:spLocks noGrp="1"/>
          </p:cNvSpPr>
          <p:nvPr/>
        </p:nvSpPr>
        <p:spPr>
          <a:xfrm>
            <a:off x="828675" y="2741104"/>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8" name="">
            <a:extLst>
              <a:ext uri="{FF2B5EF4-FFF2-40B4-BE49-F238E27FC236}">
                <ns2:creationId id="{CD13A473-7369-4B0F-AF5E-B611FC4DEF2C}"/>
              </a:ext>
            </a:extLst>
          </p:cNvPr>
          <p:cNvSpPr>
            <a:spLocks noGrp="1"/>
          </p:cNvSpPr>
          <p:nvPr/>
        </p:nvSpPr>
        <p:spPr>
          <a:xfrm>
            <a:off x="1276350" y="2703004"/>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&lt;html lang="ko"&gt;&lt;head&gt;</a:t>
            </a:r>
          </a:p>
        </p:txBody>
      </p:sp>
      <p:sp>
        <p:nvSpPr>
          <p:cNvPr id="9" name="">
            <a:extLst>
              <a:ext uri="{FF2B5EF4-FFF2-40B4-BE49-F238E27FC236}">
                <ns2:creationId id="{EB127D0F-5D7B-4E99-ABBC-99CAA9EFC57C}"/>
              </a:ext>
            </a:extLst>
          </p:cNvPr>
          <p:cNvSpPr>
            <a:spLocks noGrp="1"/>
          </p:cNvSpPr>
          <p:nvPr/>
        </p:nvSpPr>
        <p:spPr>
          <a:xfrm>
            <a:off x="828675" y="305809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0" name="">
            <a:extLst>
              <a:ext uri="{FF2B5EF4-FFF2-40B4-BE49-F238E27FC236}">
                <ns2:creationId id="{38EFDC2F-549B-46E4-8C1F-96C3DE131CFE}"/>
              </a:ext>
            </a:extLst>
          </p:cNvPr>
          <p:cNvSpPr>
            <a:spLocks noGrp="1"/>
          </p:cNvSpPr>
          <p:nvPr/>
        </p:nvSpPr>
        <p:spPr>
          <a:xfrm>
            <a:off x="1276350" y="3019997"/>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&lt;meta charset="utf-8"&gt;&lt;title&gt;작업장&lt;/title&gt;</a:t>
            </a:r>
          </a:p>
        </p:txBody>
      </p:sp>
      <p:sp>
        <p:nvSpPr>
          <p:cNvPr id="11" name="">
            <a:extLst>
              <a:ext uri="{FF2B5EF4-FFF2-40B4-BE49-F238E27FC236}">
                <ns2:creationId id="{F8C1FF6D-F7C2-48E3-ABF2-61E61B9DD5E4}"/>
              </a:ext>
            </a:extLst>
          </p:cNvPr>
          <p:cNvSpPr>
            <a:spLocks noGrp="1"/>
          </p:cNvSpPr>
          <p:nvPr/>
        </p:nvSpPr>
        <p:spPr>
          <a:xfrm>
            <a:off x="828675" y="337508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2" name="">
            <a:extLst>
              <a:ext uri="{FF2B5EF4-FFF2-40B4-BE49-F238E27FC236}">
                <ns2:creationId id="{10506C81-510E-4BD3-958D-FE50132614A7}"/>
              </a:ext>
            </a:extLst>
          </p:cNvPr>
          <p:cNvSpPr>
            <a:spLocks noGrp="1"/>
          </p:cNvSpPr>
          <p:nvPr/>
        </p:nvSpPr>
        <p:spPr>
          <a:xfrm>
            <a:off x="1276350" y="3336989"/>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&lt;/head&gt;&lt;body&gt;</a:t>
            </a:r>
          </a:p>
        </p:txBody>
      </p:sp>
      <p:sp>
        <p:nvSpPr>
          <p:cNvPr id="13" name="">
            <a:extLst>
              <a:ext uri="{FF2B5EF4-FFF2-40B4-BE49-F238E27FC236}">
                <ns2:creationId id="{76FBE456-E536-4B4D-9C67-4146B47A5ED8}"/>
              </a:ext>
            </a:extLst>
          </p:cNvPr>
          <p:cNvSpPr>
            <a:spLocks noGrp="1"/>
          </p:cNvSpPr>
          <p:nvPr/>
        </p:nvSpPr>
        <p:spPr>
          <a:xfrm>
            <a:off x="828675" y="369208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4" name="">
            <a:extLst>
              <a:ext uri="{FF2B5EF4-FFF2-40B4-BE49-F238E27FC236}">
                <ns2:creationId id="{3A3A7C16-2D29-4DD2-9A93-4A94FAFD4A06}"/>
              </a:ext>
            </a:extLst>
          </p:cNvPr>
          <p:cNvSpPr>
            <a:spLocks noGrp="1"/>
          </p:cNvSpPr>
          <p:nvPr/>
        </p:nvSpPr>
        <p:spPr>
          <a:xfrm>
            <a:off x="1276350" y="3653981"/>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&lt;h1&gt;센서 안내&lt;/h1&gt;</a:t>
            </a:r>
          </a:p>
        </p:txBody>
      </p:sp>
      <p:sp>
        <p:nvSpPr>
          <p:cNvPr id="15" name="">
            <a:extLst>
              <a:ext uri="{FF2B5EF4-FFF2-40B4-BE49-F238E27FC236}">
                <ns2:creationId id="{CF506CAB-AADE-4A74-B569-EB2FDBF7FBEC}"/>
              </a:ext>
            </a:extLst>
          </p:cNvPr>
          <p:cNvSpPr>
            <a:spLocks noGrp="1"/>
          </p:cNvSpPr>
          <p:nvPr/>
        </p:nvSpPr>
        <p:spPr>
          <a:xfrm>
            <a:off x="828675" y="400907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06</a:t>
            </a:r>
          </a:p>
        </p:txBody>
      </p:sp>
      <p:sp>
        <p:nvSpPr>
          <p:cNvPr id="16" name="">
            <a:extLst>
              <a:ext uri="{FF2B5EF4-FFF2-40B4-BE49-F238E27FC236}">
                <ns2:creationId id="{8176FEA2-EAA1-4C53-B696-BFD104B89F9F}"/>
              </a:ext>
            </a:extLst>
          </p:cNvPr>
          <p:cNvSpPr>
            <a:spLocks noGrp="1"/>
          </p:cNvSpPr>
          <p:nvPr/>
        </p:nvSpPr>
        <p:spPr>
          <a:xfrm>
            <a:off x="1276350" y="3970973"/>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&lt;button id="check"&gt;값 확인&lt;/button&gt;</a:t>
            </a:r>
          </a:p>
        </p:txBody>
      </p:sp>
      <p:sp>
        <p:nvSpPr>
          <p:cNvPr id="17" name="">
            <a:extLst>
              <a:ext uri="{FF2B5EF4-FFF2-40B4-BE49-F238E27FC236}">
                <ns2:creationId id="{EA00A597-5CDB-4DFB-9ABB-227BE0D22C13}"/>
              </a:ext>
            </a:extLst>
          </p:cNvPr>
          <p:cNvSpPr>
            <a:spLocks noGrp="1"/>
          </p:cNvSpPr>
          <p:nvPr/>
        </p:nvSpPr>
        <p:spPr>
          <a:xfrm>
            <a:off x="828675" y="432606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07</a:t>
            </a:r>
          </a:p>
        </p:txBody>
      </p:sp>
      <p:sp>
        <p:nvSpPr>
          <p:cNvPr id="18" name="">
            <a:extLst>
              <a:ext uri="{FF2B5EF4-FFF2-40B4-BE49-F238E27FC236}">
                <ns2:creationId id="{7C36C5D8-9F00-4880-9B74-A61EC699A2A3}"/>
              </a:ext>
            </a:extLst>
          </p:cNvPr>
          <p:cNvSpPr>
            <a:spLocks noGrp="1"/>
          </p:cNvSpPr>
          <p:nvPr/>
        </p:nvSpPr>
        <p:spPr>
          <a:xfrm>
            <a:off x="1276350" y="4287965"/>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&lt;/body&gt;&lt;/html&gt;</a:t>
            </a:r>
          </a:p>
        </p:txBody>
      </p:sp>
      <p:sp>
        <p:nvSpPr>
          <p:cNvPr id="19" name="">
            <a:extLst>
              <a:ext uri="{FF2B5EF4-FFF2-40B4-BE49-F238E27FC236}">
                <ns2:creationId id="{CF598138-C2C2-4AFE-9F62-443B2B6522DD}"/>
              </a:ext>
            </a:extLst>
          </p:cNvPr>
          <p:cNvSpPr>
            <a:spLocks noGrp="1"/>
          </p:cNvSpPr>
          <p:nvPr/>
        </p:nvSpPr>
        <p:spPr>
          <a:xfrm>
            <a:off x="8143875" y="2281238"/>
            <a:ext cx="3333750" cy="4095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실행 결과</a:t>
            </a:r>
          </a:p>
        </p:txBody>
      </p:sp>
      <p:sp>
        <p:nvSpPr>
          <p:cNvPr id="20" name="">
            <a:extLst>
              <a:ext uri="{FF2B5EF4-FFF2-40B4-BE49-F238E27FC236}">
                <ns2:creationId id="{F380FDC5-1AB7-4C65-96CC-B0927E523E16}"/>
              </a:ext>
            </a:extLst>
          </p:cNvPr>
          <p:cNvSpPr>
            <a:spLocks noGrp="1"/>
          </p:cNvSpPr>
          <p:nvPr/>
        </p:nvSpPr>
        <p:spPr>
          <a:xfrm>
            <a:off x="8143875" y="2862263"/>
            <a:ext cx="3333750" cy="721233"/>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탭은 작업장, 본문 제목은 센서 안내입니다.</a:t>
            </a:r>
          </a:p>
        </p:txBody>
      </p:sp>
      <p:sp>
        <p:nvSpPr>
          <p:cNvPr id="21" name="">
            <a:extLst>
              <a:ext uri="{FF2B5EF4-FFF2-40B4-BE49-F238E27FC236}">
                <ns2:creationId id="{54806123-7502-4907-90E3-68CD1C159CE6}"/>
              </a:ext>
            </a:extLst>
          </p:cNvPr>
          <p:cNvSpPr>
            <a:spLocks noGrp="1"/>
          </p:cNvSpPr>
          <p:nvPr/>
        </p:nvSpPr>
        <p:spPr>
          <a:xfrm>
            <a:off x="8143875" y="3631121"/>
            <a:ext cx="3333750" cy="721233"/>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버튼에는 아직 동작 코드가 없습니다.</a:t>
            </a:r>
          </a:p>
        </p:txBody>
      </p:sp>
      <p:sp>
        <p:nvSpPr>
          <p:cNvPr id="22" name="">
            <a:extLst>
              <a:ext uri="{FF2B5EF4-FFF2-40B4-BE49-F238E27FC236}">
                <ns2:creationId id="{DDB5F1AE-BFD8-4E05-A9AF-16A9B6F712AB}"/>
              </a:ext>
            </a:extLst>
          </p:cNvPr>
          <p:cNvSpPr>
            <a:spLocks noGrp="1"/>
          </p:cNvSpPr>
          <p:nvPr/>
        </p:nvSpPr>
        <p:spPr>
          <a:xfrm>
            <a:off x="685800" y="6172200"/>
            <a:ext cx="10820400" cy="9525"/>
          </a:xfrm>
          <a:prstGeom prst="rect">
            <a:avLst/>
          </a:prstGeom>
          <a:solidFill>
            <a:srgbClr val="D5DEDD"/>
          </a:solidFill>
          <a:ln w="0">
            <a:noFill/>
          </a:ln>
        </p:spPr>
      </p:sp>
      <p:sp>
        <p:nvSpPr>
          <p:cNvPr id="23" name="">
            <a:extLst>
              <a:ext uri="{FF2B5EF4-FFF2-40B4-BE49-F238E27FC236}">
                <ns2:creationId id="{E6551F48-A706-4C61-92B7-15F0D7AC440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24" name="">
            <a:extLst>
              <a:ext uri="{FF2B5EF4-FFF2-40B4-BE49-F238E27FC236}">
                <ns2:creationId id="{3E71DE3A-FC95-4DA0-A80B-D7155486BEC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25" name="">
            <a:extLst>
              <a:ext uri="{FF2B5EF4-FFF2-40B4-BE49-F238E27FC236}">
                <ns2:creationId id="{D599C337-86A3-42E3-AA24-933013166AA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6" name="">
            <a:extLst>
              <a:ext uri="{FF2B5EF4-FFF2-40B4-BE49-F238E27FC236}">
                <ns2:creationId id="{296B24A8-6C77-4BAF-8531-058CE6654BC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012</a:t>
            </a:r>
          </a:p>
        </p:txBody>
      </p:sp>
    </p:spTree>
    <p:extLst>
      <p:ext uri="{BB962C8B-B14F-4D97-AF65-F5344CB8AC3E}">
        <ns4:creationId val="838524585"/>
      </p:ext>
    </p:extLst>
  </p:cSld>
</p:sld>
</file>

<file path=ppt/slides/slide1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B350C9F2-ED53-4AF0-8C2C-DE6DC4249AA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AB087892-8AA0-46FA-AD97-FD893BE5E53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HTML을 한 줄씩 읽어 봅시다</a:t>
            </a:r>
          </a:p>
        </p:txBody>
      </p:sp>
      <p:sp>
        <p:nvSpPr>
          <p:cNvPr id="3" name="">
            <a:extLst>
              <a:ext uri="{FF2B5EF4-FFF2-40B4-BE49-F238E27FC236}">
                <ns2:creationId id="{95B92C2C-EBCC-499E-B371-BE67AD4F5A47}"/>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6F750957-3786-44C4-83B7-A1AC66F5DD45}"/>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title은 탭 이름, h1은 본문 제목입니다.</a:t>
            </a:r>
          </a:p>
        </p:txBody>
      </p:sp>
      <p:sp>
        <p:nvSpPr>
          <p:cNvPr id="5" name="">
            <a:extLst>
              <a:ext uri="{FF2B5EF4-FFF2-40B4-BE49-F238E27FC236}">
                <ns2:creationId id="{54748917-253D-4D92-8A2D-F8D636E871E1}"/>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태그 사이 글자를 바꾸면 문구가 바뀝니다.</a:t>
            </a:r>
          </a:p>
        </p:txBody>
      </p:sp>
      <p:sp>
        <p:nvSpPr>
          <p:cNvPr id="6" name="">
            <a:extLst>
              <a:ext uri="{FF2B5EF4-FFF2-40B4-BE49-F238E27FC236}">
                <ns2:creationId id="{C77C2060-F49F-4D07-B308-E94273AE4912}"/>
              </a:ext>
            </a:extLst>
          </p:cNvPr>
          <p:cNvSpPr>
            <a:spLocks noGrp="1"/>
          </p:cNvSpPr>
          <p:nvPr/>
        </p:nvSpPr>
        <p:spPr>
          <a:xfrm>
            <a:off x="685800" y="403479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id는 JavaScript가 찾을 내부 이름입니다.</a:t>
            </a:r>
          </a:p>
        </p:txBody>
      </p:sp>
      <p:sp>
        <p:nvSpPr>
          <p:cNvPr id="7" name="">
            <a:extLst>
              <a:ext uri="{FF2B5EF4-FFF2-40B4-BE49-F238E27FC236}">
                <ns2:creationId id="{082D3D23-2DA7-4512-8F5F-3AF3787A9FE4}"/>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짧은 HTML의 세 이름</a:t>
            </a:r>
          </a:p>
        </p:txBody>
      </p:sp>
      <p:graphicFrame>
        <p:nvGraphicFramePr>
          <p:cNvPr id="21" name=""/>
          <p:cNvGraphicFramePr/>
          <p:nvPr/>
        </p:nvGraphicFramePr>
        <p:xfrm>
          <a:off x="6267450" y="2628900"/>
          <a:ext cx="5238750" cy="2057400"/>
        </p:xfrm>
        <a:graphic>
          <a:graphicData uri="http://schemas.openxmlformats.org/drawingml/2006/table">
            <a:tbl>
              <a:tblPr firstRow="1" bandRow="0"/>
              <a:tblGrid>
                <a:gridCol w="2674049"/>
                <a:gridCol w="2564701"/>
              </a:tblGrid>
              <a:tr h="514350">
                <a:tc>
                  <a:txBody>
                    <a:bodyPr wrap="square"/>
                    <a:lstStyle/>
                    <a:p>
                      <a:pPr>
                        <a:lnSpc>
                          <a:spcPct val="102000"/>
                        </a:lnSpc>
                        <a:buNone/>
                      </a:pPr>
                      <a:r>
                        <a:rPr sz="1875" b="1">
                          <a:solidFill>
                            <a:srgbClr val="172F39"/>
                          </a:solidFill>
                          <a:latin typeface="Noto Sans KR"/>
                          <a:ea typeface="Noto Sans KR"/>
                          <a:cs typeface="Noto Sans KR"/>
                        </a:rPr>
                        <a:t>HTML 부분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문구·이름</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title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작업장</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h1</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센서 안내</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button id / 문구</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check / 값 확인</a:t>
                      </a:r>
                    </a:p>
                  </a:txBody>
                  <a:tcPr marL="114300" marR="114300" marT="76200" marB="76200" anchor="ctr">
                    <a:solidFill>
                      <a:srgbClr val="FFFFFF"/>
                    </a:solidFill>
                  </a:tcPr>
                </a:tc>
              </a:tr>
            </a:tbl>
          </a:graphicData>
        </a:graphic>
      </p:graphicFrame>
      <p:sp>
        <p:nvSpPr>
          <p:cNvPr id="9" name="">
            <a:extLst>
              <a:ext uri="{FF2B5EF4-FFF2-40B4-BE49-F238E27FC236}">
                <ns2:creationId id="{D326DCD5-B907-4C2F-92C3-8A0655824CD9}"/>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333552C8-AEA5-415C-BB67-1327285F742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0AA837C5-E12D-49D8-9221-AC9AEED058A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3F3CE50C-C842-4925-BDCC-900A7140E74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AECAF443-03E9-4F02-8594-572E609FAF6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013</a:t>
            </a:r>
          </a:p>
        </p:txBody>
      </p:sp>
    </p:spTree>
    <p:extLst>
      <p:ext uri="{BB962C8B-B14F-4D97-AF65-F5344CB8AC3E}">
        <ns4:creationId val="1677351074"/>
      </p:ext>
    </p:extLst>
  </p:cSld>
</p:sld>
</file>

<file path=ppt/slides/slide1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046F5054-8785-47C0-ADAD-DFEBD6A94C0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B8FE8C29-7038-4F02-A6AF-DE2FEAA8EC5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화면의 세 이름</a:t>
            </a:r>
          </a:p>
        </p:txBody>
      </p:sp>
      <p:sp>
        <p:nvSpPr>
          <p:cNvPr id="3" name="">
            <a:extLst>
              <a:ext uri="{FF2B5EF4-FFF2-40B4-BE49-F238E27FC236}">
                <ns2:creationId id="{48287EAA-1F83-4B6B-8FDC-E1AD9265BF78}"/>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명령·입력</a:t>
            </a:r>
          </a:p>
        </p:txBody>
      </p:sp>
      <p:sp>
        <p:nvSpPr>
          <p:cNvPr id="4" name="">
            <a:extLst>
              <a:ext uri="{FF2B5EF4-FFF2-40B4-BE49-F238E27FC236}">
                <ns2:creationId id="{CD78A33A-EEE0-4039-8558-88B05371B7E3}"/>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탭은 작업장, 본문 제목은 센서 안내입니다.</a:t>
            </a:r>
          </a:p>
        </p:txBody>
      </p:sp>
      <p:sp>
        <p:nvSpPr>
          <p:cNvPr id="5" name="">
            <a:extLst>
              <a:ext uri="{FF2B5EF4-FFF2-40B4-BE49-F238E27FC236}">
                <ns2:creationId id="{5331B004-22E9-4033-AB3D-163DA849D57A}"/>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버튼에는 아직 동작 코드가 없습니다.</a:t>
            </a:r>
          </a:p>
        </p:txBody>
      </p:sp>
      <p:sp>
        <p:nvSpPr>
          <p:cNvPr id="6" name="">
            <a:extLst>
              <a:ext uri="{FF2B5EF4-FFF2-40B4-BE49-F238E27FC236}">
                <ns2:creationId id="{98DF2A1C-C5F6-4391-A225-33CEED9CF737}"/>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짧은 HTML의 세 이름</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674049"/>
                <a:gridCol w="2564701"/>
              </a:tblGrid>
              <a:tr h="514350">
                <a:tc>
                  <a:txBody>
                    <a:bodyPr wrap="square"/>
                    <a:lstStyle/>
                    <a:p>
                      <a:pPr>
                        <a:lnSpc>
                          <a:spcPct val="102000"/>
                        </a:lnSpc>
                        <a:buNone/>
                      </a:pPr>
                      <a:r>
                        <a:rPr sz="1875" b="1">
                          <a:solidFill>
                            <a:srgbClr val="172F39"/>
                          </a:solidFill>
                          <a:latin typeface="Noto Sans KR"/>
                          <a:ea typeface="Noto Sans KR"/>
                          <a:cs typeface="Noto Sans KR"/>
                        </a:rPr>
                        <a:t>HTML 부분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문구·이름</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title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작업장</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h1</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센서 안내</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button id / 문구</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check / 값 확인</a:t>
                      </a:r>
                    </a:p>
                  </a:txBody>
                  <a:tcPr marL="114300" marR="114300" marT="76200" marB="76200" anchor="ctr">
                    <a:solidFill>
                      <a:srgbClr val="FFFFFF"/>
                    </a:solidFill>
                  </a:tcPr>
                </a:tc>
              </a:tr>
            </a:tbl>
          </a:graphicData>
        </a:graphic>
      </p:graphicFrame>
      <p:sp>
        <p:nvSpPr>
          <p:cNvPr id="8" name="">
            <a:extLst>
              <a:ext uri="{FF2B5EF4-FFF2-40B4-BE49-F238E27FC236}">
                <ns2:creationId id="{5F486F36-7D2A-4870-8F9C-6A4C4CE2CEFE}"/>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AB836413-EACB-4FAB-9B2C-57E6773A611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9A66E594-A583-49F5-BFFA-211D5FE2931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0A74B275-ECD9-4F33-802D-5B176E26C03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F11DE17E-AA35-4115-81CF-D7BF1C5DB46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014</a:t>
            </a:r>
          </a:p>
        </p:txBody>
      </p:sp>
    </p:spTree>
    <p:extLst>
      <p:ext uri="{BB962C8B-B14F-4D97-AF65-F5344CB8AC3E}">
        <ns4:creationId val="1683768939"/>
      </p:ext>
    </p:extLst>
  </p:cSld>
</p:sld>
</file>

<file path=ppt/slides/slide1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38CA9317-888E-452C-808B-553471B4716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A63C4C2A-3CE3-44FD-B7BC-D5A6A0CD3B2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제목 바꾸기</a:t>
            </a:r>
          </a:p>
        </p:txBody>
      </p:sp>
      <p:sp>
        <p:nvSpPr>
          <p:cNvPr id="3" name="">
            <a:extLst>
              <a:ext uri="{FF2B5EF4-FFF2-40B4-BE49-F238E27FC236}">
                <ns2:creationId id="{BA45E85B-7BB2-469E-95C9-B10683C08957}"/>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탭은 공장 A, 본문은 온도 확인으로 쓰세요.</a:t>
            </a:r>
          </a:p>
        </p:txBody>
      </p:sp>
      <p:sp>
        <p:nvSpPr>
          <p:cNvPr id="4" name="">
            <a:extLst>
              <a:ext uri="{FF2B5EF4-FFF2-40B4-BE49-F238E27FC236}">
                <ns2:creationId id="{435869CD-C974-44C8-B797-A5DBA80142F0}"/>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버튼 id는 check를 유지하세요.</a:t>
            </a:r>
          </a:p>
        </p:txBody>
      </p:sp>
      <p:sp>
        <p:nvSpPr>
          <p:cNvPr id="5" name="">
            <a:extLst>
              <a:ext uri="{FF2B5EF4-FFF2-40B4-BE49-F238E27FC236}">
                <ns2:creationId id="{D0D1BB39-27E5-4A90-AAED-572AAD04A9B5}"/>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4259A7D9-5E74-4BE2-A25E-4D1C8E086776}"/>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21EA4ADC-C650-4922-BC0D-65BBE8B10B6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C314BC39-40E3-4E5B-BDBE-BF3EF13417A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94BC800A-65AC-48D1-B230-00C68CC9D8A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486A1C9C-EB50-467F-BAAA-4181FA1F40C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015</a:t>
            </a:r>
          </a:p>
        </p:txBody>
      </p:sp>
    </p:spTree>
    <p:extLst>
      <p:ext uri="{BB962C8B-B14F-4D97-AF65-F5344CB8AC3E}">
        <ns4:creationId val="2044788987"/>
      </p:ext>
    </p:extLst>
  </p:cSld>
</p:sld>
</file>

<file path=ppt/slides/slide1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4ED240CE-B028-4E24-8740-82FBD70EB91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A2BDB7DB-5B8C-4DB2-A62B-8FA90CBD3D6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A03  속성과 내부 연결</a:t>
            </a:r>
          </a:p>
        </p:txBody>
      </p:sp>
      <p:sp>
        <p:nvSpPr>
          <p:cNvPr id="3" name="">
            <a:extLst>
              <a:ext uri="{FF2B5EF4-FFF2-40B4-BE49-F238E27FC236}">
                <ns2:creationId id="{85D429C3-F72B-4CAA-A5E2-5F0825CB04AB}"/>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프로그램의 id</a:t>
            </a:r>
          </a:p>
        </p:txBody>
      </p:sp>
      <p:sp>
        <p:nvSpPr>
          <p:cNvPr id="4" name="">
            <a:extLst>
              <a:ext uri="{FF2B5EF4-FFF2-40B4-BE49-F238E27FC236}">
                <ns2:creationId id="{AF9DD378-1005-4E3F-802B-9E4101727B66}"/>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id는 코드가 요소를 찾는 이름입니다.</a:t>
            </a:r>
          </a:p>
        </p:txBody>
      </p:sp>
      <p:sp>
        <p:nvSpPr>
          <p:cNvPr id="5" name="">
            <a:extLst>
              <a:ext uri="{FF2B5EF4-FFF2-40B4-BE49-F238E27FC236}">
                <ns2:creationId id="{F259EFBA-25F4-4B84-98A6-9C8BAFCEA28B}"/>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사용자에게 보이는 문구</a:t>
            </a:r>
          </a:p>
        </p:txBody>
      </p:sp>
      <p:sp>
        <p:nvSpPr>
          <p:cNvPr id="6" name="">
            <a:extLst>
              <a:ext uri="{FF2B5EF4-FFF2-40B4-BE49-F238E27FC236}">
                <ns2:creationId id="{900B1221-6709-4A1C-8BC5-B9F2EA6976B3}"/>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사용자에게 보이는 문구와 구별합니다.</a:t>
            </a:r>
          </a:p>
        </p:txBody>
      </p:sp>
      <p:sp>
        <p:nvSpPr>
          <p:cNvPr id="7" name="">
            <a:extLst>
              <a:ext uri="{FF2B5EF4-FFF2-40B4-BE49-F238E27FC236}">
                <ns2:creationId id="{D8D63760-248F-4CBF-BAA1-7BA11E992F92}"/>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E101BAF9-D7AD-4A39-A8F9-39885D230B8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00A9D02D-6AE4-4090-A882-AA2D582704D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7CB24EF1-053A-4F3B-856A-6A4EB47731C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19E8956D-C56D-4F1C-A384-7CAB2C4D6EA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016</a:t>
            </a:r>
          </a:p>
        </p:txBody>
      </p:sp>
    </p:spTree>
    <p:extLst>
      <p:ext uri="{BB962C8B-B14F-4D97-AF65-F5344CB8AC3E}">
        <ns4:creationId val="1064580971"/>
      </p:ext>
    </p:extLst>
  </p:cSld>
</p:sld>
</file>

<file path=ppt/slides/slide1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628C8C38-B4D2-47A8-9013-EF048EC14D8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B104DDD2-6085-44FF-B5BF-4658F892A16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속성과 내부 연결의 예</a:t>
            </a:r>
          </a:p>
        </p:txBody>
      </p:sp>
      <p:sp>
        <p:nvSpPr>
          <p:cNvPr id="3" name="">
            <a:extLst>
              <a:ext uri="{FF2B5EF4-FFF2-40B4-BE49-F238E27FC236}">
                <ns2:creationId id="{2FADA202-CC2B-44CC-A524-EE0CCB665ABD}"/>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발췌: HTML id와 선택자를 연결합니다.</a:t>
            </a:r>
          </a:p>
        </p:txBody>
      </p:sp>
      <p:sp>
        <p:nvSpPr>
          <p:cNvPr id="4" name="">
            <a:extLst>
              <a:ext uri="{FF2B5EF4-FFF2-40B4-BE49-F238E27FC236}">
                <ns2:creationId id="{2F27EC74-93CB-402E-B7B4-BC5FBC884718}"/>
              </a:ext>
            </a:extLst>
          </p:cNvPr>
          <p:cNvSpPr>
            <a:spLocks noGrp="1"/>
          </p:cNvSpPr>
          <p:nvPr/>
        </p:nvSpPr>
        <p:spPr>
          <a:xfrm>
            <a:off x="685800" y="2262188"/>
            <a:ext cx="10820400" cy="640842"/>
          </a:xfrm>
          <a:prstGeom prst="rect">
            <a:avLst/>
          </a:prstGeom>
          <a:solidFill>
            <a:srgbClr val="F1F6F5"/>
          </a:solidFill>
          <a:ln w="0">
            <a:noFill/>
          </a:ln>
        </p:spPr>
      </p:sp>
      <p:sp>
        <p:nvSpPr>
          <p:cNvPr id="5" name="">
            <a:extLst>
              <a:ext uri="{FF2B5EF4-FFF2-40B4-BE49-F238E27FC236}">
                <ns2:creationId id="{59559F63-D7BF-4306-9702-995F6452192C}"/>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DCDD7004-3046-484F-8E66-E88C07DD761F}"/>
              </a:ext>
            </a:extLst>
          </p:cNvPr>
          <p:cNvSpPr>
            <a:spLocks noGrp="1"/>
          </p:cNvSpPr>
          <p:nvPr/>
        </p:nvSpPr>
        <p:spPr>
          <a:xfrm>
            <a:off x="1276350" y="238601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const button = document.querySelector("#check");</a:t>
            </a:r>
          </a:p>
        </p:txBody>
      </p:sp>
      <p:sp>
        <p:nvSpPr>
          <p:cNvPr id="7" name="">
            <a:extLst>
              <a:ext uri="{FF2B5EF4-FFF2-40B4-BE49-F238E27FC236}">
                <ns2:creationId id="{3E3A177F-E47A-42AC-BB09-CF81E4C9BAE1}"/>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EB23CFBF-C8DC-4F0F-9486-5692CAD7DAF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FECFB975-12A2-48A7-A1CB-DC794F5151C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AC5F3A35-F6ED-45E0-99C8-A510571C9FB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2AC2259C-138B-4727-8C56-F99300F7270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017</a:t>
            </a:r>
          </a:p>
        </p:txBody>
      </p:sp>
    </p:spTree>
    <p:extLst>
      <p:ext uri="{BB962C8B-B14F-4D97-AF65-F5344CB8AC3E}">
        <ns4:creationId val="1991150678"/>
      </p:ext>
    </p:extLst>
  </p:cSld>
</p:sld>
</file>

<file path=ppt/slides/slide1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6460FC20-E685-48CE-8D3E-2EDADE5C8F7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E1EA64AD-9649-4C47-97FD-0F234FFD596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id와 선택자를 읽어 봅시다</a:t>
            </a:r>
          </a:p>
        </p:txBody>
      </p:sp>
      <p:sp>
        <p:nvSpPr>
          <p:cNvPr id="3" name="">
            <a:extLst>
              <a:ext uri="{FF2B5EF4-FFF2-40B4-BE49-F238E27FC236}">
                <ns2:creationId id="{48658CDB-97A2-4031-86C1-937BC903AAA7}"/>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788F9C04-1FEE-4344-A1F8-44609E833005}"/>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id="check"가 버튼의 내부 이름입니다.</a:t>
            </a:r>
          </a:p>
        </p:txBody>
      </p:sp>
      <p:sp>
        <p:nvSpPr>
          <p:cNvPr id="5" name="">
            <a:extLst>
              <a:ext uri="{FF2B5EF4-FFF2-40B4-BE49-F238E27FC236}">
                <ns2:creationId id="{D6FE5C14-873D-49B4-9286-CEC5680EE07F}"/>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"#check"는 그 id를 가진 요소를 찾습니다.</a:t>
            </a:r>
          </a:p>
        </p:txBody>
      </p:sp>
      <p:sp>
        <p:nvSpPr>
          <p:cNvPr id="6" name="">
            <a:extLst>
              <a:ext uri="{FF2B5EF4-FFF2-40B4-BE49-F238E27FC236}">
                <ns2:creationId id="{DD13E050-F4FE-47D8-A906-7E706442301B}"/>
              </a:ext>
            </a:extLst>
          </p:cNvPr>
          <p:cNvSpPr>
            <a:spLocks noGrp="1"/>
          </p:cNvSpPr>
          <p:nvPr/>
        </p:nvSpPr>
        <p:spPr>
          <a:xfrm>
            <a:off x="685800" y="403479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보이는 버튼 글자와 id는 다릅니다.</a:t>
            </a:r>
          </a:p>
        </p:txBody>
      </p:sp>
      <p:sp>
        <p:nvSpPr>
          <p:cNvPr id="7" name="">
            <a:extLst>
              <a:ext uri="{FF2B5EF4-FFF2-40B4-BE49-F238E27FC236}">
                <ns2:creationId id="{6867F7EA-E720-421B-A359-65A505B31599}"/>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HTML 이름과 선택자</a:t>
            </a:r>
          </a:p>
        </p:txBody>
      </p:sp>
      <p:graphicFrame>
        <p:nvGraphicFramePr>
          <p:cNvPr id="21" name=""/>
          <p:cNvGraphicFramePr/>
          <p:nvPr/>
        </p:nvGraphicFramePr>
        <p:xfrm>
          <a:off x="6267450" y="2628900"/>
          <a:ext cx="5238750" cy="2057400"/>
        </p:xfrm>
        <a:graphic>
          <a:graphicData uri="http://schemas.openxmlformats.org/drawingml/2006/table">
            <a:tbl>
              <a:tblPr firstRow="1" bandRow="0"/>
              <a:tblGrid>
                <a:gridCol w="3545257"/>
                <a:gridCol w="1693493"/>
              </a:tblGrid>
              <a:tr h="514350">
                <a:tc>
                  <a:txBody>
                    <a:bodyPr wrap="square"/>
                    <a:lstStyle/>
                    <a:p>
                      <a:pPr>
                        <a:lnSpc>
                          <a:spcPct val="102000"/>
                        </a:lnSpc>
                        <a:buNone/>
                      </a:pPr>
                      <a:r>
                        <a:rPr sz="1875" b="1">
                          <a:solidFill>
                            <a:srgbClr val="172F39"/>
                          </a:solidFill>
                          <a:latin typeface="Noto Sans KR"/>
                          <a:ea typeface="Noto Sans KR"/>
                          <a:cs typeface="Noto Sans KR"/>
                        </a:rPr>
                        <a:t>부분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값</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HTML id</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check</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querySelector의 인수</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#check</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화면 버튼 문구</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값 확인</a:t>
                      </a:r>
                    </a:p>
                  </a:txBody>
                  <a:tcPr marL="114300" marR="114300" marT="76200" marB="76200" anchor="ctr">
                    <a:solidFill>
                      <a:srgbClr val="FFFFFF"/>
                    </a:solidFill>
                  </a:tcPr>
                </a:tc>
              </a:tr>
            </a:tbl>
          </a:graphicData>
        </a:graphic>
      </p:graphicFrame>
      <p:sp>
        <p:nvSpPr>
          <p:cNvPr id="9" name="">
            <a:extLst>
              <a:ext uri="{FF2B5EF4-FFF2-40B4-BE49-F238E27FC236}">
                <ns2:creationId id="{64F04AEB-FB0D-4C40-A3E1-78AF59023678}"/>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059C9880-B6B1-4E22-A2B9-B3027C9DD9E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FC500F4B-B1A4-4B08-9575-6EE2535F504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482D8525-6AB9-4514-9D92-D58FE7829C4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84C29C25-3AF2-483C-8A3D-0B998646529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018</a:t>
            </a:r>
          </a:p>
        </p:txBody>
      </p:sp>
    </p:spTree>
    <p:extLst>
      <p:ext uri="{BB962C8B-B14F-4D97-AF65-F5344CB8AC3E}">
        <ns4:creationId val="554193361"/>
      </p:ext>
    </p:extLst>
  </p:cSld>
</p:sld>
</file>

<file path=ppt/slides/slide1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C5735E4D-3E14-44FF-8740-C04E734E705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95C41FC5-218A-4567-AB4B-C36024B17A1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이름을 바꾼 영향</a:t>
            </a:r>
          </a:p>
        </p:txBody>
      </p:sp>
      <p:sp>
        <p:nvSpPr>
          <p:cNvPr id="3" name="">
            <a:extLst>
              <a:ext uri="{FF2B5EF4-FFF2-40B4-BE49-F238E27FC236}">
                <ns2:creationId id="{0E148DBF-CF56-46A6-BD7B-9407EC4F2E43}"/>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명령·입력</a:t>
            </a:r>
          </a:p>
        </p:txBody>
      </p:sp>
      <p:sp>
        <p:nvSpPr>
          <p:cNvPr id="4" name="">
            <a:extLst>
              <a:ext uri="{FF2B5EF4-FFF2-40B4-BE49-F238E27FC236}">
                <ns2:creationId id="{BDC2B35A-C36C-47A6-A461-E60F73F2690F}"/>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버튼 id와 선택자가 일치해야 합니다.</a:t>
            </a:r>
          </a:p>
        </p:txBody>
      </p:sp>
      <p:sp>
        <p:nvSpPr>
          <p:cNvPr id="5" name="">
            <a:extLst>
              <a:ext uri="{FF2B5EF4-FFF2-40B4-BE49-F238E27FC236}">
                <ns2:creationId id="{F7517E96-8E7E-4233-AAB1-A6D85AC62DCD}"/>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Tab으로 버튼 초점도 확인합니다.</a:t>
            </a:r>
          </a:p>
        </p:txBody>
      </p:sp>
      <p:sp>
        <p:nvSpPr>
          <p:cNvPr id="6" name="">
            <a:extLst>
              <a:ext uri="{FF2B5EF4-FFF2-40B4-BE49-F238E27FC236}">
                <ns2:creationId id="{8E89BC64-121E-4737-8B28-541D7DD0419C}"/>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HTML 이름과 선택자</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3545257"/>
                <a:gridCol w="1693493"/>
              </a:tblGrid>
              <a:tr h="514350">
                <a:tc>
                  <a:txBody>
                    <a:bodyPr wrap="square"/>
                    <a:lstStyle/>
                    <a:p>
                      <a:pPr>
                        <a:lnSpc>
                          <a:spcPct val="102000"/>
                        </a:lnSpc>
                        <a:buNone/>
                      </a:pPr>
                      <a:r>
                        <a:rPr sz="1875" b="1">
                          <a:solidFill>
                            <a:srgbClr val="172F39"/>
                          </a:solidFill>
                          <a:latin typeface="Noto Sans KR"/>
                          <a:ea typeface="Noto Sans KR"/>
                          <a:cs typeface="Noto Sans KR"/>
                        </a:rPr>
                        <a:t>부분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값</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HTML id</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check</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querySelector의 인수</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#check</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화면 버튼 문구</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값 확인</a:t>
                      </a:r>
                    </a:p>
                  </a:txBody>
                  <a:tcPr marL="114300" marR="114300" marT="76200" marB="76200" anchor="ctr">
                    <a:solidFill>
                      <a:srgbClr val="FFFFFF"/>
                    </a:solidFill>
                  </a:tcPr>
                </a:tc>
              </a:tr>
            </a:tbl>
          </a:graphicData>
        </a:graphic>
      </p:graphicFrame>
      <p:sp>
        <p:nvSpPr>
          <p:cNvPr id="8" name="">
            <a:extLst>
              <a:ext uri="{FF2B5EF4-FFF2-40B4-BE49-F238E27FC236}">
                <ns2:creationId id="{67D4E663-FC7B-499E-900F-DCBC862189ED}"/>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16DFD1E2-486F-4696-AC5A-22D6AD28686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9EA94A67-1DA4-4B1B-80BB-A9FA7BF06FC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40F39C13-04B9-4FE4-9644-8036A8136D5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983A46EE-8284-4D7A-BF98-D1379A53E85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019</a:t>
            </a:r>
          </a:p>
        </p:txBody>
      </p:sp>
    </p:spTree>
    <p:extLst>
      <p:ext uri="{BB962C8B-B14F-4D97-AF65-F5344CB8AC3E}">
        <ns4:creationId val="556407020"/>
      </p:ext>
    </p:extLst>
  </p:cSld>
</p:sld>
</file>

<file path=ppt/slides/slide2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EFEA81DA-8C5E-47A6-83F6-759BD78CD07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646D7BD3-5BFE-438A-ADB2-D13FF0FF277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연결 이름 판단</a:t>
            </a:r>
          </a:p>
        </p:txBody>
      </p:sp>
      <p:sp>
        <p:nvSpPr>
          <p:cNvPr id="3" name="">
            <a:extLst>
              <a:ext uri="{FF2B5EF4-FFF2-40B4-BE49-F238E27FC236}">
                <ns2:creationId id="{582220E0-4B7C-4EA4-B1D2-A5AEA59D7C4A}"/>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1">
                <a:solidFill>
                  <a:srgbClr val="172F39"/>
                </a:solidFill>
                <a:latin typeface="Noto Sans KR"/>
                <a:ea typeface="Noto Sans KR"/>
                <a:cs typeface="Noto Sans KR"/>
              </a:defRPr>
            </a:pPr>
            <a:r>
              <a:t>버튼 글자만 바꾸면 #check도 바꾸나요?</a:t>
            </a:r>
          </a:p>
        </p:txBody>
      </p:sp>
      <p:sp>
        <p:nvSpPr>
          <p:cNvPr id="4" name="">
            <a:extLst>
              <a:ext uri="{FF2B5EF4-FFF2-40B4-BE49-F238E27FC236}">
                <ns2:creationId id="{B384A32A-1060-404A-BF20-53C7AD84F979}"/>
              </a:ext>
            </a:extLst>
          </p:cNvPr>
          <p:cNvSpPr>
            <a:spLocks noGrp="1"/>
          </p:cNvSpPr>
          <p:nvPr/>
        </p:nvSpPr>
        <p:spPr>
          <a:xfrm>
            <a:off x="685800" y="2728722"/>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5" name="">
            <a:extLst>
              <a:ext uri="{FF2B5EF4-FFF2-40B4-BE49-F238E27FC236}">
                <ns2:creationId id="{5D9341F0-0798-4C81-8060-09A7404CCF7F}"/>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51669E32-51E3-4DA6-B84B-6EF6B98179E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D79C647F-4FBF-4A41-B1C5-39E0AADA959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B3CAE724-2AFE-4C3F-8766-740F0A769EF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893B088F-8367-4988-AA88-BD7436B2262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020</a:t>
            </a:r>
          </a:p>
        </p:txBody>
      </p:sp>
    </p:spTree>
    <p:extLst>
      <p:ext uri="{BB962C8B-B14F-4D97-AF65-F5344CB8AC3E}">
        <ns4:creationId val="1894097888"/>
      </p:ext>
    </p:extLst>
  </p:cSld>
</p:sld>
</file>

<file path=ppt/slides/slide2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84799CA5-3F60-429C-8546-D4FB1E3B4C35}"/>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2교시</a:t>
            </a:r>
          </a:p>
        </p:txBody>
      </p:sp>
      <p:sp>
        <p:nvSpPr>
          <p:cNvPr id="2" name="">
            <a:extLst>
              <a:ext uri="{FF2B5EF4-FFF2-40B4-BE49-F238E27FC236}">
                <ns2:creationId id="{8F14120E-60DF-46E4-AE02-35D84B82FB4C}"/>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CSS의 모양과 읽기</a:t>
            </a:r>
          </a:p>
        </p:txBody>
      </p:sp>
      <p:sp>
        <p:nvSpPr>
          <p:cNvPr id="3" name="">
            <a:extLst>
              <a:ext uri="{FF2B5EF4-FFF2-40B4-BE49-F238E27FC236}">
                <ns2:creationId id="{9F121585-DF34-4D88-A884-411AE3984A5D}"/>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50분 수업입니다.</a:t>
            </a:r>
          </a:p>
        </p:txBody>
      </p:sp>
      <p:sp>
        <p:nvSpPr>
          <p:cNvPr id="4" name="">
            <a:extLst>
              <a:ext uri="{FF2B5EF4-FFF2-40B4-BE49-F238E27FC236}">
                <ns2:creationId id="{19D1742C-C0B0-450E-AD56-2A60A8E1079B}"/>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예제를 함께 보고 따라 해 봅니다.</a:t>
            </a:r>
          </a:p>
        </p:txBody>
      </p:sp>
      <p:sp>
        <p:nvSpPr>
          <p:cNvPr id="5" name="">
            <a:extLst>
              <a:ext uri="{FF2B5EF4-FFF2-40B4-BE49-F238E27FC236}">
                <ns2:creationId id="{8FE61F44-BA9C-46C4-9ABE-E5228FB9AF01}"/>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결과가 예상과 같은지 확인해 봅니다.</a:t>
            </a:r>
          </a:p>
        </p:txBody>
      </p:sp>
      <p:sp>
        <p:nvSpPr>
          <p:cNvPr id="6" name="">
            <a:extLst>
              <a:ext uri="{FF2B5EF4-FFF2-40B4-BE49-F238E27FC236}">
                <ns2:creationId id="{BC30C137-375E-46CD-BBF4-9CEFA9C9661F}"/>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DF4BE558-ECCB-49C7-9DDF-45D8DB5394D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62B5FD6F-D5AC-4639-9BD5-1455CC11900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3BD8AFED-DDC8-40D5-84FB-88A96184A01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053C6D5B-2695-4289-83FA-B524FA6BA36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021</a:t>
            </a:r>
          </a:p>
        </p:txBody>
      </p:sp>
    </p:spTree>
    <p:extLst>
      <p:ext uri="{BB962C8B-B14F-4D97-AF65-F5344CB8AC3E}">
        <ns4:creationId val="1120452133"/>
      </p:ext>
    </p:extLst>
  </p:cSld>
</p:sld>
</file>

<file path=ppt/slides/slide2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8BE9C508-34CC-4AF3-84CC-953C8C9457A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EEFC9214-8CF3-47A8-A018-ED0B41814E7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모양과 데이터의 의미</a:t>
            </a:r>
          </a:p>
        </p:txBody>
      </p:sp>
      <p:sp>
        <p:nvSpPr>
          <p:cNvPr id="3" name="">
            <a:extLst>
              <a:ext uri="{FF2B5EF4-FFF2-40B4-BE49-F238E27FC236}">
                <ns2:creationId id="{EBA55CD7-B2FD-482E-91C6-0B181BDBF21B}"/>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모양·간격</a:t>
            </a:r>
          </a:p>
        </p:txBody>
      </p:sp>
      <p:sp>
        <p:nvSpPr>
          <p:cNvPr id="4" name="">
            <a:extLst>
              <a:ext uri="{FF2B5EF4-FFF2-40B4-BE49-F238E27FC236}">
                <ns2:creationId id="{E8AEEB31-81A5-47FA-8FF4-327C8D57A3CD}"/>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상자 안팎을 보고 간격을 고릅니다.</a:t>
            </a:r>
          </a:p>
        </p:txBody>
      </p:sp>
      <p:sp>
        <p:nvSpPr>
          <p:cNvPr id="5" name="">
            <a:extLst>
              <a:ext uri="{FF2B5EF4-FFF2-40B4-BE49-F238E27FC236}">
                <ns2:creationId id="{441C5192-46AE-499C-A00E-73B23A09BB91}"/>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색 외에 상태 문구와 초점을 제공합니다.</a:t>
            </a:r>
          </a:p>
        </p:txBody>
      </p:sp>
      <p:sp>
        <p:nvSpPr>
          <p:cNvPr id="6" name="">
            <a:extLst>
              <a:ext uri="{FF2B5EF4-FFF2-40B4-BE49-F238E27FC236}">
                <ns2:creationId id="{D5216042-639F-46A1-873A-877D0828B444}"/>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제목 글자색</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714378"/>
                <a:gridCol w="2524372"/>
              </a:tblGrid>
              <a:tr h="514350">
                <a:tc>
                  <a:txBody>
                    <a:bodyPr wrap="square"/>
                    <a:lstStyle/>
                    <a:p>
                      <a:pPr>
                        <a:lnSpc>
                          <a:spcPct val="102000"/>
                        </a:lnSpc>
                        <a:buNone/>
                      </a:pPr>
                      <a:r>
                        <a:rPr sz="1875" b="1">
                          <a:solidFill>
                            <a:srgbClr val="172F39"/>
                          </a:solidFill>
                          <a:latin typeface="Noto Sans KR"/>
                          <a:ea typeface="Noto Sans KR"/>
                          <a:cs typeface="Noto Sans KR"/>
                        </a:rPr>
                        <a:t>부분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값</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선택자</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h1</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속성</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color</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값</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teal</a:t>
                      </a:r>
                    </a:p>
                  </a:txBody>
                  <a:tcPr marL="114300" marR="114300" marT="76200" marB="76200" anchor="ctr">
                    <a:solidFill>
                      <a:srgbClr val="FFFFFF"/>
                    </a:solidFill>
                  </a:tcPr>
                </a:tc>
              </a:tr>
            </a:tbl>
          </a:graphicData>
        </a:graphic>
      </p:graphicFrame>
      <p:sp>
        <p:nvSpPr>
          <p:cNvPr id="8" name="">
            <a:extLst>
              <a:ext uri="{FF2B5EF4-FFF2-40B4-BE49-F238E27FC236}">
                <ns2:creationId id="{87129861-D452-4077-B9B9-8BDE739C04FE}"/>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FC8C0A83-29AD-4279-96CA-EC5FEDF9A6B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53B47AF0-8158-435B-9675-958B63F7A26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85F10F7E-DDD9-4472-8522-1157AC00986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55A6A79C-C732-409A-86EC-93B04BF20BF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022</a:t>
            </a:r>
          </a:p>
        </p:txBody>
      </p:sp>
    </p:spTree>
    <p:extLst>
      <p:ext uri="{BB962C8B-B14F-4D97-AF65-F5344CB8AC3E}">
        <ns4:creationId val="204964988"/>
      </p:ext>
    </p:extLst>
  </p:cSld>
</p:sld>
</file>

<file path=ppt/slides/slide2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5F8A2895-AB7F-4C4C-B471-7116BC16988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2CF5430B-3F0A-49A8-B6AB-ADBBBF0A53A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A04  CSS의 선택과 선언</a:t>
            </a:r>
          </a:p>
        </p:txBody>
      </p:sp>
      <p:sp>
        <p:nvSpPr>
          <p:cNvPr id="3" name="">
            <a:extLst>
              <a:ext uri="{FF2B5EF4-FFF2-40B4-BE49-F238E27FC236}">
                <ns2:creationId id="{B670B121-D4BE-4E43-A0B0-52D8FA73CE87}"/>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215E1830-A3F4-4BC5-9673-C427C852F466}"/>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선택자는 꾸밀 대상을 고릅니다.</a:t>
            </a:r>
          </a:p>
        </p:txBody>
      </p:sp>
      <p:sp>
        <p:nvSpPr>
          <p:cNvPr id="5" name="">
            <a:extLst>
              <a:ext uri="{FF2B5EF4-FFF2-40B4-BE49-F238E27FC236}">
                <ns2:creationId id="{6D2B52DB-DCAD-42F5-A54C-F068596CDC7E}"/>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속성과 값으로 모양을 정합니다.</a:t>
            </a:r>
          </a:p>
        </p:txBody>
      </p:sp>
      <p:sp>
        <p:nvSpPr>
          <p:cNvPr id="6" name="">
            <a:extLst>
              <a:ext uri="{FF2B5EF4-FFF2-40B4-BE49-F238E27FC236}">
                <ns2:creationId id="{B021A0F4-FD98-4523-9AF8-6E2716F87786}"/>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제목 글자색</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714378"/>
                <a:gridCol w="2524372"/>
              </a:tblGrid>
              <a:tr h="514350">
                <a:tc>
                  <a:txBody>
                    <a:bodyPr wrap="square"/>
                    <a:lstStyle/>
                    <a:p>
                      <a:pPr>
                        <a:lnSpc>
                          <a:spcPct val="102000"/>
                        </a:lnSpc>
                        <a:buNone/>
                      </a:pPr>
                      <a:r>
                        <a:rPr sz="1875" b="1">
                          <a:solidFill>
                            <a:srgbClr val="172F39"/>
                          </a:solidFill>
                          <a:latin typeface="Noto Sans KR"/>
                          <a:ea typeface="Noto Sans KR"/>
                          <a:cs typeface="Noto Sans KR"/>
                        </a:rPr>
                        <a:t>부분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값</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선택자</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h1</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속성</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color</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값</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teal</a:t>
                      </a:r>
                    </a:p>
                  </a:txBody>
                  <a:tcPr marL="114300" marR="114300" marT="76200" marB="76200" anchor="ctr">
                    <a:solidFill>
                      <a:srgbClr val="FFFFFF"/>
                    </a:solidFill>
                  </a:tcPr>
                </a:tc>
              </a:tr>
            </a:tbl>
          </a:graphicData>
        </a:graphic>
      </p:graphicFrame>
      <p:sp>
        <p:nvSpPr>
          <p:cNvPr id="8" name="">
            <a:extLst>
              <a:ext uri="{FF2B5EF4-FFF2-40B4-BE49-F238E27FC236}">
                <ns2:creationId id="{45D976DF-48A7-4874-A6A7-4675DA44CD40}"/>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EBB4ED7F-6C4D-4280-8149-479683C6D14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3EFADFC4-A044-4B12-A451-762A1519BD2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EC332136-C000-4569-AF79-C41434B0C9A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8205326B-2F8B-4ACD-978D-FA7C8CB80BB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023</a:t>
            </a:r>
          </a:p>
        </p:txBody>
      </p:sp>
    </p:spTree>
    <p:extLst>
      <p:ext uri="{BB962C8B-B14F-4D97-AF65-F5344CB8AC3E}">
        <ns4:creationId val="2064861546"/>
      </p:ext>
    </p:extLst>
  </p:cSld>
</p:sld>
</file>

<file path=ppt/slides/slide2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9" name="">
            <a:extLst>
              <a:ext uri="{FF2B5EF4-FFF2-40B4-BE49-F238E27FC236}">
                <ns2:creationId id="{3AC6C5C1-5C1E-4CFB-B31B-94659B612D0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7F5F0176-3B52-4CC0-AFC6-BCD872BB52A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CSS의 선택과 선언의 예</a:t>
            </a:r>
          </a:p>
        </p:txBody>
      </p:sp>
      <p:sp>
        <p:nvSpPr>
          <p:cNvPr id="3" name="">
            <a:extLst>
              <a:ext uri="{FF2B5EF4-FFF2-40B4-BE49-F238E27FC236}">
                <ns2:creationId id="{96B75BE7-D3B3-48F6-B434-45E64B44EA75}"/>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발췌: style 태그 또는 style.css에 넣습니다.</a:t>
            </a:r>
          </a:p>
        </p:txBody>
      </p:sp>
      <p:sp>
        <p:nvSpPr>
          <p:cNvPr id="4" name="">
            <a:extLst>
              <a:ext uri="{FF2B5EF4-FFF2-40B4-BE49-F238E27FC236}">
                <ns2:creationId id="{80179EA5-E97D-488A-BEA7-082B64F7450F}"/>
              </a:ext>
            </a:extLst>
          </p:cNvPr>
          <p:cNvSpPr>
            <a:spLocks noGrp="1"/>
          </p:cNvSpPr>
          <p:nvPr/>
        </p:nvSpPr>
        <p:spPr>
          <a:xfrm>
            <a:off x="685800" y="2262188"/>
            <a:ext cx="6953250" cy="1274826"/>
          </a:xfrm>
          <a:prstGeom prst="rect">
            <a:avLst/>
          </a:prstGeom>
          <a:solidFill>
            <a:srgbClr val="F1F6F5"/>
          </a:solidFill>
          <a:ln w="0">
            <a:noFill/>
          </a:ln>
        </p:spPr>
      </p:sp>
      <p:sp>
        <p:nvSpPr>
          <p:cNvPr id="5" name="">
            <a:extLst>
              <a:ext uri="{FF2B5EF4-FFF2-40B4-BE49-F238E27FC236}">
                <ns2:creationId id="{411E8E83-25A1-40CC-B7B7-4F130D41670B}"/>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E3CF6A9A-E5DB-4652-88D5-1275B729B707}"/>
              </a:ext>
            </a:extLst>
          </p:cNvPr>
          <p:cNvSpPr>
            <a:spLocks noGrp="1"/>
          </p:cNvSpPr>
          <p:nvPr/>
        </p:nvSpPr>
        <p:spPr>
          <a:xfrm>
            <a:off x="1276350" y="2386013"/>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h1 {</a:t>
            </a:r>
          </a:p>
        </p:txBody>
      </p:sp>
      <p:sp>
        <p:nvSpPr>
          <p:cNvPr id="7" name="">
            <a:extLst>
              <a:ext uri="{FF2B5EF4-FFF2-40B4-BE49-F238E27FC236}">
                <ns2:creationId id="{73BF47D2-1138-425C-B6E4-C13962643C96}"/>
              </a:ext>
            </a:extLst>
          </p:cNvPr>
          <p:cNvSpPr>
            <a:spLocks noGrp="1"/>
          </p:cNvSpPr>
          <p:nvPr/>
        </p:nvSpPr>
        <p:spPr>
          <a:xfrm>
            <a:off x="828675" y="2741104"/>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8" name="">
            <a:extLst>
              <a:ext uri="{FF2B5EF4-FFF2-40B4-BE49-F238E27FC236}">
                <ns2:creationId id="{1DE85609-33B3-4AEA-A135-94E5EFAC5D6C}"/>
              </a:ext>
            </a:extLst>
          </p:cNvPr>
          <p:cNvSpPr>
            <a:spLocks noGrp="1"/>
          </p:cNvSpPr>
          <p:nvPr/>
        </p:nvSpPr>
        <p:spPr>
          <a:xfrm>
            <a:off x="1276350" y="2703004"/>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color: teal;</a:t>
            </a:r>
          </a:p>
        </p:txBody>
      </p:sp>
      <p:sp>
        <p:nvSpPr>
          <p:cNvPr id="9" name="">
            <a:extLst>
              <a:ext uri="{FF2B5EF4-FFF2-40B4-BE49-F238E27FC236}">
                <ns2:creationId id="{B5E16222-2CBC-4EBE-9077-35B6F3657121}"/>
              </a:ext>
            </a:extLst>
          </p:cNvPr>
          <p:cNvSpPr>
            <a:spLocks noGrp="1"/>
          </p:cNvSpPr>
          <p:nvPr/>
        </p:nvSpPr>
        <p:spPr>
          <a:xfrm>
            <a:off x="828675" y="305809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0" name="">
            <a:extLst>
              <a:ext uri="{FF2B5EF4-FFF2-40B4-BE49-F238E27FC236}">
                <ns2:creationId id="{A0758D76-4673-41E2-9A96-14CD389BF5C2}"/>
              </a:ext>
            </a:extLst>
          </p:cNvPr>
          <p:cNvSpPr>
            <a:spLocks noGrp="1"/>
          </p:cNvSpPr>
          <p:nvPr/>
        </p:nvSpPr>
        <p:spPr>
          <a:xfrm>
            <a:off x="1276350" y="3019997"/>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a:t>
            </a:r>
          </a:p>
        </p:txBody>
      </p:sp>
      <p:sp>
        <p:nvSpPr>
          <p:cNvPr id="11" name="">
            <a:extLst>
              <a:ext uri="{FF2B5EF4-FFF2-40B4-BE49-F238E27FC236}">
                <ns2:creationId id="{C58D17E8-C60A-41F7-8067-DA0E207D80B0}"/>
              </a:ext>
            </a:extLst>
          </p:cNvPr>
          <p:cNvSpPr>
            <a:spLocks noGrp="1"/>
          </p:cNvSpPr>
          <p:nvPr/>
        </p:nvSpPr>
        <p:spPr>
          <a:xfrm>
            <a:off x="8143875" y="2281238"/>
            <a:ext cx="3333750" cy="4095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실행 결과</a:t>
            </a:r>
          </a:p>
        </p:txBody>
      </p:sp>
      <p:sp>
        <p:nvSpPr>
          <p:cNvPr id="12" name="">
            <a:extLst>
              <a:ext uri="{FF2B5EF4-FFF2-40B4-BE49-F238E27FC236}">
                <ns2:creationId id="{52BBAE6E-CC95-42FB-A705-0591E7D6D0F4}"/>
              </a:ext>
            </a:extLst>
          </p:cNvPr>
          <p:cNvSpPr>
            <a:spLocks noGrp="1"/>
          </p:cNvSpPr>
          <p:nvPr/>
        </p:nvSpPr>
        <p:spPr>
          <a:xfrm>
            <a:off x="8143875" y="2862263"/>
            <a:ext cx="3333750" cy="721233"/>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제목 색이 청록으로 바뀝니다.</a:t>
            </a:r>
          </a:p>
        </p:txBody>
      </p:sp>
      <p:sp>
        <p:nvSpPr>
          <p:cNvPr id="13" name="">
            <a:extLst>
              <a:ext uri="{FF2B5EF4-FFF2-40B4-BE49-F238E27FC236}">
                <ns2:creationId id="{7CE7E697-F60C-4D0B-8BB8-DEA5BEAC3CFD}"/>
              </a:ext>
            </a:extLst>
          </p:cNvPr>
          <p:cNvSpPr>
            <a:spLocks noGrp="1"/>
          </p:cNvSpPr>
          <p:nvPr/>
        </p:nvSpPr>
        <p:spPr>
          <a:xfrm>
            <a:off x="8143875" y="3631121"/>
            <a:ext cx="3333750" cy="721233"/>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제목 문구와 온도 데이터는 유지됩니다.</a:t>
            </a:r>
          </a:p>
        </p:txBody>
      </p:sp>
      <p:sp>
        <p:nvSpPr>
          <p:cNvPr id="14" name="">
            <a:extLst>
              <a:ext uri="{FF2B5EF4-FFF2-40B4-BE49-F238E27FC236}">
                <ns2:creationId id="{2CE98586-B231-466B-97DF-23A48E40E496}"/>
              </a:ext>
            </a:extLst>
          </p:cNvPr>
          <p:cNvSpPr>
            <a:spLocks noGrp="1"/>
          </p:cNvSpPr>
          <p:nvPr/>
        </p:nvSpPr>
        <p:spPr>
          <a:xfrm>
            <a:off x="685800" y="6172200"/>
            <a:ext cx="10820400" cy="9525"/>
          </a:xfrm>
          <a:prstGeom prst="rect">
            <a:avLst/>
          </a:prstGeom>
          <a:solidFill>
            <a:srgbClr val="D5DEDD"/>
          </a:solidFill>
          <a:ln w="0">
            <a:noFill/>
          </a:ln>
        </p:spPr>
      </p:sp>
      <p:sp>
        <p:nvSpPr>
          <p:cNvPr id="15" name="">
            <a:extLst>
              <a:ext uri="{FF2B5EF4-FFF2-40B4-BE49-F238E27FC236}">
                <ns2:creationId id="{E173362F-2719-4966-9237-BE6CF964DD3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6" name="">
            <a:extLst>
              <a:ext uri="{FF2B5EF4-FFF2-40B4-BE49-F238E27FC236}">
                <ns2:creationId id="{CFA3EC25-6C9E-4208-B4BF-772B06BAB13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7" name="">
            <a:extLst>
              <a:ext uri="{FF2B5EF4-FFF2-40B4-BE49-F238E27FC236}">
                <ns2:creationId id="{0804D333-C4A7-49F4-8C87-2958552261C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8" name="">
            <a:extLst>
              <a:ext uri="{FF2B5EF4-FFF2-40B4-BE49-F238E27FC236}">
                <ns2:creationId id="{9EA7AC65-6AD9-4DB1-A8A9-088A35955E2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024</a:t>
            </a:r>
          </a:p>
        </p:txBody>
      </p:sp>
    </p:spTree>
    <p:extLst>
      <p:ext uri="{BB962C8B-B14F-4D97-AF65-F5344CB8AC3E}">
        <ns4:creationId val="1040485777"/>
      </p:ext>
    </p:extLst>
  </p:cSld>
</p:sld>
</file>

<file path=ppt/slides/slide2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0" name="">
            <a:extLst>
              <a:ext uri="{FF2B5EF4-FFF2-40B4-BE49-F238E27FC236}">
                <ns2:creationId id="{F360635C-417C-4EF5-8495-58C4994F801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135940A2-BABD-4156-8858-C4D5ABB8408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CSS 한 줄의 뜻</a:t>
            </a:r>
          </a:p>
        </p:txBody>
      </p:sp>
      <p:sp>
        <p:nvSpPr>
          <p:cNvPr id="3" name="">
            <a:extLst>
              <a:ext uri="{FF2B5EF4-FFF2-40B4-BE49-F238E27FC236}">
                <ns2:creationId id="{4ECADC47-8E52-4DDE-A5CB-BE561AB7415E}"/>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86E1E3A8-5B9C-4AC6-983E-E0D09F5982C4}"/>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h1은 꾸밀 제목을 고르는 선택자입니다.</a:t>
            </a:r>
          </a:p>
        </p:txBody>
      </p:sp>
      <p:sp>
        <p:nvSpPr>
          <p:cNvPr id="5" name="">
            <a:extLst>
              <a:ext uri="{FF2B5EF4-FFF2-40B4-BE49-F238E27FC236}">
                <ns2:creationId id="{B12AB83E-1377-4F60-B541-9B283229125F}"/>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color는 글자색 속성입니다.</a:t>
            </a:r>
          </a:p>
        </p:txBody>
      </p:sp>
      <p:sp>
        <p:nvSpPr>
          <p:cNvPr id="6" name="">
            <a:extLst>
              <a:ext uri="{FF2B5EF4-FFF2-40B4-BE49-F238E27FC236}">
                <ns2:creationId id="{F171A78D-AB56-43BC-BF30-8FCC680EC4CA}"/>
              </a:ext>
            </a:extLst>
          </p:cNvPr>
          <p:cNvSpPr>
            <a:spLocks noGrp="1"/>
          </p:cNvSpPr>
          <p:nvPr/>
        </p:nvSpPr>
        <p:spPr>
          <a:xfrm>
            <a:off x="685800" y="369760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teal은 적용할 청록색의 이름입니다.</a:t>
            </a:r>
          </a:p>
        </p:txBody>
      </p:sp>
      <p:sp>
        <p:nvSpPr>
          <p:cNvPr id="7" name="">
            <a:extLst>
              <a:ext uri="{FF2B5EF4-FFF2-40B4-BE49-F238E27FC236}">
                <ns2:creationId id="{3B949841-4677-4FB2-894B-BA236032CDA4}"/>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24장의 실제 예제 다시 읽기</a:t>
            </a:r>
          </a:p>
        </p:txBody>
      </p:sp>
      <p:sp>
        <p:nvSpPr>
          <p:cNvPr id="8" name="">
            <a:extLst>
              <a:ext uri="{FF2B5EF4-FFF2-40B4-BE49-F238E27FC236}">
                <ns2:creationId id="{9462EA89-65DF-4413-B7E6-4A8D65C2C41D}"/>
              </a:ext>
            </a:extLst>
          </p:cNvPr>
          <p:cNvSpPr>
            <a:spLocks noGrp="1"/>
          </p:cNvSpPr>
          <p:nvPr/>
        </p:nvSpPr>
        <p:spPr>
          <a:xfrm>
            <a:off x="6267450" y="2628900"/>
            <a:ext cx="5238750" cy="1201674"/>
          </a:xfrm>
          <a:prstGeom prst="rect">
            <a:avLst/>
          </a:prstGeom>
          <a:solidFill>
            <a:srgbClr val="F1F6F5"/>
          </a:solidFill>
          <a:ln w="0">
            <a:noFill/>
          </a:ln>
        </p:spPr>
      </p:sp>
      <p:sp>
        <p:nvSpPr>
          <p:cNvPr id="9" name="">
            <a:extLst>
              <a:ext uri="{FF2B5EF4-FFF2-40B4-BE49-F238E27FC236}">
                <ns2:creationId id="{B42BD9AE-E22F-48BF-833A-B4F2C18DCCEE}"/>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10" name="">
            <a:extLst>
              <a:ext uri="{FF2B5EF4-FFF2-40B4-BE49-F238E27FC236}">
                <ns2:creationId id="{1366AEA1-6399-482D-B55F-B9EE2146188F}"/>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h1 {</a:t>
            </a:r>
          </a:p>
        </p:txBody>
      </p:sp>
      <p:sp>
        <p:nvSpPr>
          <p:cNvPr id="11" name="">
            <a:extLst>
              <a:ext uri="{FF2B5EF4-FFF2-40B4-BE49-F238E27FC236}">
                <ns2:creationId id="{3863F6F0-E984-4BEA-A376-54FBC580D836}"/>
              </a:ext>
            </a:extLst>
          </p:cNvPr>
          <p:cNvSpPr>
            <a:spLocks noGrp="1"/>
          </p:cNvSpPr>
          <p:nvPr/>
        </p:nvSpPr>
        <p:spPr>
          <a:xfrm>
            <a:off x="6410325" y="308343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12" name="">
            <a:extLst>
              <a:ext uri="{FF2B5EF4-FFF2-40B4-BE49-F238E27FC236}">
                <ns2:creationId id="{9056B943-BF3C-4C0D-9F98-F58279E06227}"/>
              </a:ext>
            </a:extLst>
          </p:cNvPr>
          <p:cNvSpPr>
            <a:spLocks noGrp="1"/>
          </p:cNvSpPr>
          <p:nvPr/>
        </p:nvSpPr>
        <p:spPr>
          <a:xfrm>
            <a:off x="6858000" y="304533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color: teal;</a:t>
            </a:r>
          </a:p>
        </p:txBody>
      </p:sp>
      <p:sp>
        <p:nvSpPr>
          <p:cNvPr id="13" name="">
            <a:extLst>
              <a:ext uri="{FF2B5EF4-FFF2-40B4-BE49-F238E27FC236}">
                <ns2:creationId id="{08031166-DCE4-4886-871E-9E65BD1F1020}"/>
              </a:ext>
            </a:extLst>
          </p:cNvPr>
          <p:cNvSpPr>
            <a:spLocks noGrp="1"/>
          </p:cNvSpPr>
          <p:nvPr/>
        </p:nvSpPr>
        <p:spPr>
          <a:xfrm>
            <a:off x="6410325" y="3376041"/>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4" name="">
            <a:extLst>
              <a:ext uri="{FF2B5EF4-FFF2-40B4-BE49-F238E27FC236}">
                <ns2:creationId id="{D829F36B-D80E-4437-A0B7-20D56BF0596F}"/>
              </a:ext>
            </a:extLst>
          </p:cNvPr>
          <p:cNvSpPr>
            <a:spLocks noGrp="1"/>
          </p:cNvSpPr>
          <p:nvPr/>
        </p:nvSpPr>
        <p:spPr>
          <a:xfrm>
            <a:off x="6858000" y="3337941"/>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a:t>
            </a:r>
          </a:p>
        </p:txBody>
      </p:sp>
      <p:sp>
        <p:nvSpPr>
          <p:cNvPr id="15" name="">
            <a:extLst>
              <a:ext uri="{FF2B5EF4-FFF2-40B4-BE49-F238E27FC236}">
                <ns2:creationId id="{62296B69-426C-4519-B052-02B4DCFFAB8A}"/>
              </a:ext>
            </a:extLst>
          </p:cNvPr>
          <p:cNvSpPr>
            <a:spLocks noGrp="1"/>
          </p:cNvSpPr>
          <p:nvPr/>
        </p:nvSpPr>
        <p:spPr>
          <a:xfrm>
            <a:off x="685800" y="6172200"/>
            <a:ext cx="10820400" cy="9525"/>
          </a:xfrm>
          <a:prstGeom prst="rect">
            <a:avLst/>
          </a:prstGeom>
          <a:solidFill>
            <a:srgbClr val="D5DEDD"/>
          </a:solidFill>
          <a:ln w="0">
            <a:noFill/>
          </a:ln>
        </p:spPr>
      </p:sp>
      <p:sp>
        <p:nvSpPr>
          <p:cNvPr id="16" name="">
            <a:extLst>
              <a:ext uri="{FF2B5EF4-FFF2-40B4-BE49-F238E27FC236}">
                <ns2:creationId id="{F0718A35-A6E2-4593-9838-7FC542BFCCA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7" name="">
            <a:extLst>
              <a:ext uri="{FF2B5EF4-FFF2-40B4-BE49-F238E27FC236}">
                <ns2:creationId id="{632CBD02-D763-4B1C-920B-8FC47813562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8" name="">
            <a:extLst>
              <a:ext uri="{FF2B5EF4-FFF2-40B4-BE49-F238E27FC236}">
                <ns2:creationId id="{7E1A3DCF-2206-4B46-8369-F4CB7BC9F20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9" name="">
            <a:extLst>
              <a:ext uri="{FF2B5EF4-FFF2-40B4-BE49-F238E27FC236}">
                <ns2:creationId id="{F69DB711-BB6B-44AB-816D-8F5FD7C4B7E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025</a:t>
            </a:r>
          </a:p>
        </p:txBody>
      </p:sp>
    </p:spTree>
    <p:extLst>
      <p:ext uri="{BB962C8B-B14F-4D97-AF65-F5344CB8AC3E}">
        <ns4:creationId val="1035438064"/>
      </p:ext>
    </p:extLst>
  </p:cSld>
</p:sld>
</file>

<file path=ppt/slides/slide2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7253DB03-90D4-46CB-A4A2-A02A2E4E78F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ACAF6C0F-0DD5-4F75-85E3-32D8062D6AD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모양 변경의 결과</a:t>
            </a:r>
          </a:p>
        </p:txBody>
      </p:sp>
      <p:sp>
        <p:nvSpPr>
          <p:cNvPr id="3" name="">
            <a:extLst>
              <a:ext uri="{FF2B5EF4-FFF2-40B4-BE49-F238E27FC236}">
                <ns2:creationId id="{F465448C-1AEA-431A-A2F4-C061FF77954A}"/>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달라진 글자색</a:t>
            </a:r>
          </a:p>
        </p:txBody>
      </p:sp>
      <p:sp>
        <p:nvSpPr>
          <p:cNvPr id="4" name="">
            <a:extLst>
              <a:ext uri="{FF2B5EF4-FFF2-40B4-BE49-F238E27FC236}">
                <ns2:creationId id="{C40A0D86-01CA-4140-A783-89217CBA7C05}"/>
              </a:ext>
            </a:extLst>
          </p:cNvPr>
          <p:cNvSpPr>
            <a:spLocks noGrp="1"/>
          </p:cNvSpPr>
          <p:nvPr/>
        </p:nvSpPr>
        <p:spPr>
          <a:xfrm>
            <a:off x="685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제목 색이 청록으로 바뀝니다.</a:t>
            </a:r>
          </a:p>
        </p:txBody>
      </p:sp>
      <p:sp>
        <p:nvSpPr>
          <p:cNvPr id="5" name="">
            <a:extLst>
              <a:ext uri="{FF2B5EF4-FFF2-40B4-BE49-F238E27FC236}">
                <ns2:creationId id="{ED7BB310-FED5-428C-BD27-9BAC826450E2}"/>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그대로인 문구·데이터</a:t>
            </a:r>
          </a:p>
        </p:txBody>
      </p:sp>
      <p:sp>
        <p:nvSpPr>
          <p:cNvPr id="6" name="">
            <a:extLst>
              <a:ext uri="{FF2B5EF4-FFF2-40B4-BE49-F238E27FC236}">
                <ns2:creationId id="{89EDEA1F-05F5-4A44-838B-7B5BD386B7A7}"/>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제목 문구와 온도 데이터는 유지됩니다.</a:t>
            </a:r>
          </a:p>
        </p:txBody>
      </p:sp>
      <p:sp>
        <p:nvSpPr>
          <p:cNvPr id="7" name="">
            <a:extLst>
              <a:ext uri="{FF2B5EF4-FFF2-40B4-BE49-F238E27FC236}">
                <ns2:creationId id="{5A280132-CF35-4DA8-A395-5269A5D51E8C}"/>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1B909130-6808-4E17-ADCD-C16F68C6050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DD296284-BE29-4C68-A698-46A862577B8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792D3C6C-6A45-4505-8616-C318F4F50C0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7A746AE8-70AA-4A82-88EA-7232EB3236F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026</a:t>
            </a:r>
          </a:p>
        </p:txBody>
      </p:sp>
    </p:spTree>
    <p:extLst>
      <p:ext uri="{BB962C8B-B14F-4D97-AF65-F5344CB8AC3E}">
        <ns4:creationId val="1502538931"/>
      </p:ext>
    </p:extLst>
  </p:cSld>
</p:sld>
</file>

<file path=ppt/slides/slide2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DF474F2F-910B-4BB7-920E-B1762D1D3EB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59FD4563-DEF6-4FCC-B12F-C22AB064104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적용이 안 될 때</a:t>
            </a:r>
          </a:p>
        </p:txBody>
      </p:sp>
      <p:sp>
        <p:nvSpPr>
          <p:cNvPr id="3" name="">
            <a:extLst>
              <a:ext uri="{FF2B5EF4-FFF2-40B4-BE49-F238E27FC236}">
                <ns2:creationId id="{4A310F50-A3AE-48EB-8BE9-A57B14D5E4DE}"/>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1">
                <a:solidFill>
                  <a:srgbClr val="172F39"/>
                </a:solidFill>
                <a:latin typeface="Noto Sans KR"/>
                <a:ea typeface="Noto Sans KR"/>
                <a:cs typeface="Noto Sans KR"/>
              </a:defRPr>
            </a:pPr>
            <a:r>
              <a:t>CSS 색이 그대로라면 무엇을 확인하나요?</a:t>
            </a:r>
          </a:p>
        </p:txBody>
      </p:sp>
      <p:sp>
        <p:nvSpPr>
          <p:cNvPr id="4" name="">
            <a:extLst>
              <a:ext uri="{FF2B5EF4-FFF2-40B4-BE49-F238E27FC236}">
                <ns2:creationId id="{1A471709-0644-49E5-935F-844E38D3B75C}"/>
              </a:ext>
            </a:extLst>
          </p:cNvPr>
          <p:cNvSpPr>
            <a:spLocks noGrp="1"/>
          </p:cNvSpPr>
          <p:nvPr/>
        </p:nvSpPr>
        <p:spPr>
          <a:xfrm>
            <a:off x="685800" y="2728722"/>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5" name="">
            <a:extLst>
              <a:ext uri="{FF2B5EF4-FFF2-40B4-BE49-F238E27FC236}">
                <ns2:creationId id="{8C9B7E38-C86B-4E11-BE35-B443131AB924}"/>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147CF6ED-CCA3-4343-AB9F-1DB1BCCE340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ABD18A83-970F-41ED-9BE8-85DDB26A647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E9DB52F6-D191-4926-8FEF-519700FD0C9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D95E0BB8-B555-436A-8935-F6BF0F69E30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027</a:t>
            </a:r>
          </a:p>
        </p:txBody>
      </p:sp>
    </p:spTree>
    <p:extLst>
      <p:ext uri="{BB962C8B-B14F-4D97-AF65-F5344CB8AC3E}">
        <ns4:creationId val="815428008"/>
      </p:ext>
    </p:extLst>
  </p:cSld>
</p:sld>
</file>

<file path=ppt/slides/slide2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C8E35CCA-E85B-4E75-A25D-EFD2E61467A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A1B37064-0A41-412F-9EF7-03A31905A2E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A05  상자의 안쪽과 바깥</a:t>
            </a:r>
          </a:p>
        </p:txBody>
      </p:sp>
      <p:sp>
        <p:nvSpPr>
          <p:cNvPr id="3" name="">
            <a:extLst>
              <a:ext uri="{FF2B5EF4-FFF2-40B4-BE49-F238E27FC236}">
                <ns2:creationId id="{62E5B31B-2D3F-4050-8CC5-F503D42C31AF}"/>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padding 안쪽</a:t>
            </a:r>
          </a:p>
        </p:txBody>
      </p:sp>
      <p:sp>
        <p:nvSpPr>
          <p:cNvPr id="4" name="">
            <a:extLst>
              <a:ext uri="{FF2B5EF4-FFF2-40B4-BE49-F238E27FC236}">
                <ns2:creationId id="{88EF6887-452C-471A-9D48-3C6F7FFDAA9D}"/>
              </a:ext>
            </a:extLst>
          </p:cNvPr>
          <p:cNvSpPr>
            <a:spLocks noGrp="1"/>
          </p:cNvSpPr>
          <p:nvPr/>
        </p:nvSpPr>
        <p:spPr>
          <a:xfrm>
            <a:off x="685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padding은 내용 안쪽 공간입니다.</a:t>
            </a:r>
          </a:p>
        </p:txBody>
      </p:sp>
      <p:sp>
        <p:nvSpPr>
          <p:cNvPr id="5" name="">
            <a:extLst>
              <a:ext uri="{FF2B5EF4-FFF2-40B4-BE49-F238E27FC236}">
                <ns2:creationId id="{0987D4D4-50D7-43D0-A5F4-D70F64853563}"/>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margin 바깥</a:t>
            </a:r>
          </a:p>
        </p:txBody>
      </p:sp>
      <p:sp>
        <p:nvSpPr>
          <p:cNvPr id="6" name="">
            <a:extLst>
              <a:ext uri="{FF2B5EF4-FFF2-40B4-BE49-F238E27FC236}">
                <ns2:creationId id="{096D9C7E-1E37-457D-A15A-676521DA26B3}"/>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margin은 다른 요소와의 바깥 간격입니다.</a:t>
            </a:r>
          </a:p>
        </p:txBody>
      </p:sp>
      <p:sp>
        <p:nvSpPr>
          <p:cNvPr id="7" name="">
            <a:extLst>
              <a:ext uri="{FF2B5EF4-FFF2-40B4-BE49-F238E27FC236}">
                <ns2:creationId id="{F3F2A6DD-D793-428B-B699-53656A086DDD}"/>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1AE3AFDA-9548-4E2A-A484-A16F2D361E7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89F3C594-ED28-4160-ABF8-2BAE5DEAF1B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7BD4FE34-FBD0-4517-9591-FADB736FE51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6CF94C5E-F698-4C5D-9F2D-737111F19D2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028</a:t>
            </a:r>
          </a:p>
        </p:txBody>
      </p:sp>
    </p:spTree>
    <p:extLst>
      <p:ext uri="{BB962C8B-B14F-4D97-AF65-F5344CB8AC3E}">
        <ns4:creationId val="609103514"/>
      </p:ext>
    </p:extLst>
  </p:cSld>
</p:sld>
</file>

<file path=ppt/slides/slide2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1" name="">
            <a:extLst>
              <a:ext uri="{FF2B5EF4-FFF2-40B4-BE49-F238E27FC236}">
                <ns2:creationId id="{67C77D0A-339D-42CF-8C50-786F1BDDFC1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7E353F89-47E3-4864-AC2C-3791F790B53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상자의 안쪽과 바깥의 예</a:t>
            </a:r>
          </a:p>
        </p:txBody>
      </p:sp>
      <p:sp>
        <p:nvSpPr>
          <p:cNvPr id="3" name="">
            <a:extLst>
              <a:ext uri="{FF2B5EF4-FFF2-40B4-BE49-F238E27FC236}">
                <ns2:creationId id="{70AEA221-8170-4E6E-B9A3-0DC4A2E3FACC}"/>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발췌: button의 CSS 규칙</a:t>
            </a:r>
          </a:p>
        </p:txBody>
      </p:sp>
      <p:sp>
        <p:nvSpPr>
          <p:cNvPr id="4" name="">
            <a:extLst>
              <a:ext uri="{FF2B5EF4-FFF2-40B4-BE49-F238E27FC236}">
                <ns2:creationId id="{69796BE8-3A36-4F23-A15B-41E03ACCE052}"/>
              </a:ext>
            </a:extLst>
          </p:cNvPr>
          <p:cNvSpPr>
            <a:spLocks noGrp="1"/>
          </p:cNvSpPr>
          <p:nvPr/>
        </p:nvSpPr>
        <p:spPr>
          <a:xfrm>
            <a:off x="685800" y="2262188"/>
            <a:ext cx="6953250" cy="1591818"/>
          </a:xfrm>
          <a:prstGeom prst="rect">
            <a:avLst/>
          </a:prstGeom>
          <a:solidFill>
            <a:srgbClr val="F1F6F5"/>
          </a:solidFill>
          <a:ln w="0">
            <a:noFill/>
          </a:ln>
        </p:spPr>
      </p:sp>
      <p:sp>
        <p:nvSpPr>
          <p:cNvPr id="5" name="">
            <a:extLst>
              <a:ext uri="{FF2B5EF4-FFF2-40B4-BE49-F238E27FC236}">
                <ns2:creationId id="{44C4BAC0-9BCC-4604-B874-F416C9BCFAC8}"/>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BAFB9E04-E5CB-43EA-96C3-2AC322F07E72}"/>
              </a:ext>
            </a:extLst>
          </p:cNvPr>
          <p:cNvSpPr>
            <a:spLocks noGrp="1"/>
          </p:cNvSpPr>
          <p:nvPr/>
        </p:nvSpPr>
        <p:spPr>
          <a:xfrm>
            <a:off x="1276350" y="2386013"/>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button {</a:t>
            </a:r>
          </a:p>
        </p:txBody>
      </p:sp>
      <p:sp>
        <p:nvSpPr>
          <p:cNvPr id="7" name="">
            <a:extLst>
              <a:ext uri="{FF2B5EF4-FFF2-40B4-BE49-F238E27FC236}">
                <ns2:creationId id="{C2322AD7-AB29-4311-B272-77ADDA8142CD}"/>
              </a:ext>
            </a:extLst>
          </p:cNvPr>
          <p:cNvSpPr>
            <a:spLocks noGrp="1"/>
          </p:cNvSpPr>
          <p:nvPr/>
        </p:nvSpPr>
        <p:spPr>
          <a:xfrm>
            <a:off x="828675" y="2741104"/>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8" name="">
            <a:extLst>
              <a:ext uri="{FF2B5EF4-FFF2-40B4-BE49-F238E27FC236}">
                <ns2:creationId id="{54FD6BCC-6936-4FF4-8DB4-427AFF4D82A3}"/>
              </a:ext>
            </a:extLst>
          </p:cNvPr>
          <p:cNvSpPr>
            <a:spLocks noGrp="1"/>
          </p:cNvSpPr>
          <p:nvPr/>
        </p:nvSpPr>
        <p:spPr>
          <a:xfrm>
            <a:off x="1276350" y="2703004"/>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padding: 12px;</a:t>
            </a:r>
          </a:p>
        </p:txBody>
      </p:sp>
      <p:sp>
        <p:nvSpPr>
          <p:cNvPr id="9" name="">
            <a:extLst>
              <a:ext uri="{FF2B5EF4-FFF2-40B4-BE49-F238E27FC236}">
                <ns2:creationId id="{FF8D02A2-AA4A-4785-AC9E-9A5A4DABC133}"/>
              </a:ext>
            </a:extLst>
          </p:cNvPr>
          <p:cNvSpPr>
            <a:spLocks noGrp="1"/>
          </p:cNvSpPr>
          <p:nvPr/>
        </p:nvSpPr>
        <p:spPr>
          <a:xfrm>
            <a:off x="828675" y="305809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0" name="">
            <a:extLst>
              <a:ext uri="{FF2B5EF4-FFF2-40B4-BE49-F238E27FC236}">
                <ns2:creationId id="{17993140-31C0-458C-81F8-3BCED253B7FF}"/>
              </a:ext>
            </a:extLst>
          </p:cNvPr>
          <p:cNvSpPr>
            <a:spLocks noGrp="1"/>
          </p:cNvSpPr>
          <p:nvPr/>
        </p:nvSpPr>
        <p:spPr>
          <a:xfrm>
            <a:off x="1276350" y="3019997"/>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margin-top: 8px;</a:t>
            </a:r>
          </a:p>
        </p:txBody>
      </p:sp>
      <p:sp>
        <p:nvSpPr>
          <p:cNvPr id="11" name="">
            <a:extLst>
              <a:ext uri="{FF2B5EF4-FFF2-40B4-BE49-F238E27FC236}">
                <ns2:creationId id="{8E9A144A-EFEF-40E2-A6BF-FD55F0A901BD}"/>
              </a:ext>
            </a:extLst>
          </p:cNvPr>
          <p:cNvSpPr>
            <a:spLocks noGrp="1"/>
          </p:cNvSpPr>
          <p:nvPr/>
        </p:nvSpPr>
        <p:spPr>
          <a:xfrm>
            <a:off x="828675" y="337508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2" name="">
            <a:extLst>
              <a:ext uri="{FF2B5EF4-FFF2-40B4-BE49-F238E27FC236}">
                <ns2:creationId id="{7C9B4A65-EEF2-457A-9F18-7078A1E4113E}"/>
              </a:ext>
            </a:extLst>
          </p:cNvPr>
          <p:cNvSpPr>
            <a:spLocks noGrp="1"/>
          </p:cNvSpPr>
          <p:nvPr/>
        </p:nvSpPr>
        <p:spPr>
          <a:xfrm>
            <a:off x="1276350" y="3336989"/>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a:t>
            </a:r>
          </a:p>
        </p:txBody>
      </p:sp>
      <p:sp>
        <p:nvSpPr>
          <p:cNvPr id="13" name="">
            <a:extLst>
              <a:ext uri="{FF2B5EF4-FFF2-40B4-BE49-F238E27FC236}">
                <ns2:creationId id="{6C6B01D6-100C-4963-ACF2-450D4368D90D}"/>
              </a:ext>
            </a:extLst>
          </p:cNvPr>
          <p:cNvSpPr>
            <a:spLocks noGrp="1"/>
          </p:cNvSpPr>
          <p:nvPr/>
        </p:nvSpPr>
        <p:spPr>
          <a:xfrm>
            <a:off x="8143875" y="2281238"/>
            <a:ext cx="3333750" cy="4095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실행 결과</a:t>
            </a:r>
          </a:p>
        </p:txBody>
      </p:sp>
      <p:sp>
        <p:nvSpPr>
          <p:cNvPr id="14" name="">
            <a:extLst>
              <a:ext uri="{FF2B5EF4-FFF2-40B4-BE49-F238E27FC236}">
                <ns2:creationId id="{19FA82DE-4A49-4FB2-9FDE-E189D450FDCE}"/>
              </a:ext>
            </a:extLst>
          </p:cNvPr>
          <p:cNvSpPr>
            <a:spLocks noGrp="1"/>
          </p:cNvSpPr>
          <p:nvPr/>
        </p:nvSpPr>
        <p:spPr>
          <a:xfrm>
            <a:off x="8143875" y="2862263"/>
            <a:ext cx="3333750" cy="721233"/>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글자 주변을 넓히려면 padding을 바꿉니다.</a:t>
            </a:r>
          </a:p>
        </p:txBody>
      </p:sp>
      <p:sp>
        <p:nvSpPr>
          <p:cNvPr id="15" name="">
            <a:extLst>
              <a:ext uri="{FF2B5EF4-FFF2-40B4-BE49-F238E27FC236}">
                <ns2:creationId id="{5FD1A6CC-D768-452E-A1ED-25E43307CF5F}"/>
              </a:ext>
            </a:extLst>
          </p:cNvPr>
          <p:cNvSpPr>
            <a:spLocks noGrp="1"/>
          </p:cNvSpPr>
          <p:nvPr/>
        </p:nvSpPr>
        <p:spPr>
          <a:xfrm>
            <a:off x="8143875" y="3631121"/>
            <a:ext cx="3333750" cy="721233"/>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값과 상태의 의미는 그대로입니다.</a:t>
            </a:r>
          </a:p>
        </p:txBody>
      </p:sp>
      <p:sp>
        <p:nvSpPr>
          <p:cNvPr id="16" name="">
            <a:extLst>
              <a:ext uri="{FF2B5EF4-FFF2-40B4-BE49-F238E27FC236}">
                <ns2:creationId id="{B99784FF-5E8A-4449-946B-D97125324D92}"/>
              </a:ext>
            </a:extLst>
          </p:cNvPr>
          <p:cNvSpPr>
            <a:spLocks noGrp="1"/>
          </p:cNvSpPr>
          <p:nvPr/>
        </p:nvSpPr>
        <p:spPr>
          <a:xfrm>
            <a:off x="685800" y="6172200"/>
            <a:ext cx="10820400" cy="9525"/>
          </a:xfrm>
          <a:prstGeom prst="rect">
            <a:avLst/>
          </a:prstGeom>
          <a:solidFill>
            <a:srgbClr val="D5DEDD"/>
          </a:solidFill>
          <a:ln w="0">
            <a:noFill/>
          </a:ln>
        </p:spPr>
      </p:sp>
      <p:sp>
        <p:nvSpPr>
          <p:cNvPr id="17" name="">
            <a:extLst>
              <a:ext uri="{FF2B5EF4-FFF2-40B4-BE49-F238E27FC236}">
                <ns2:creationId id="{AB91A03A-B2F9-4A14-B91F-ECA9F3764EAC}"/>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8" name="">
            <a:extLst>
              <a:ext uri="{FF2B5EF4-FFF2-40B4-BE49-F238E27FC236}">
                <ns2:creationId id="{3F1C1506-F8CC-42EC-8F89-DAF3E605119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9" name="">
            <a:extLst>
              <a:ext uri="{FF2B5EF4-FFF2-40B4-BE49-F238E27FC236}">
                <ns2:creationId id="{67527C92-9322-4697-8C0E-9DFC9FC522C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0" name="">
            <a:extLst>
              <a:ext uri="{FF2B5EF4-FFF2-40B4-BE49-F238E27FC236}">
                <ns2:creationId id="{F938E7ED-433A-41BE-85A7-DE827D3F015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029</a:t>
            </a:r>
          </a:p>
        </p:txBody>
      </p:sp>
    </p:spTree>
    <p:extLst>
      <p:ext uri="{BB962C8B-B14F-4D97-AF65-F5344CB8AC3E}">
        <ns4:creationId val="1072819029"/>
      </p:ext>
    </p:extLst>
  </p:cSld>
</p:sld>
</file>

<file path=ppt/slides/slide3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2" name="">
            <a:extLst>
              <a:ext uri="{FF2B5EF4-FFF2-40B4-BE49-F238E27FC236}">
                <ns2:creationId id="{93EA39A3-D2B4-410E-A2AB-A5CA7AA295C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40C096A0-1D60-4DBD-8182-27922E06C25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여백 속성 읽기</a:t>
            </a:r>
          </a:p>
        </p:txBody>
      </p:sp>
      <p:sp>
        <p:nvSpPr>
          <p:cNvPr id="3" name="">
            <a:extLst>
              <a:ext uri="{FF2B5EF4-FFF2-40B4-BE49-F238E27FC236}">
                <ns2:creationId id="{6280306E-0607-4FC1-BF30-9E465F5BB8FE}"/>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913F5529-80AD-4070-88B4-DC2DD782F08F}"/>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padding은 테두리 안쪽 여백입니다.</a:t>
            </a:r>
          </a:p>
        </p:txBody>
      </p:sp>
      <p:sp>
        <p:nvSpPr>
          <p:cNvPr id="5" name="">
            <a:extLst>
              <a:ext uri="{FF2B5EF4-FFF2-40B4-BE49-F238E27FC236}">
                <ns2:creationId id="{7FB9CC66-5D3C-4A38-8E43-20172195FAD6}"/>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margin은 다른 요소와의 바깥 간격입니다.</a:t>
            </a:r>
          </a:p>
        </p:txBody>
      </p:sp>
      <p:sp>
        <p:nvSpPr>
          <p:cNvPr id="6" name="">
            <a:extLst>
              <a:ext uri="{FF2B5EF4-FFF2-40B4-BE49-F238E27FC236}">
                <ns2:creationId id="{EF5BC1F9-8810-457B-9BA1-F556F51F2739}"/>
              </a:ext>
            </a:extLst>
          </p:cNvPr>
          <p:cNvSpPr>
            <a:spLocks noGrp="1"/>
          </p:cNvSpPr>
          <p:nvPr/>
        </p:nvSpPr>
        <p:spPr>
          <a:xfrm>
            <a:off x="685800" y="369760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px 앞 숫자를 바꾸면 간격이 달라집니다.</a:t>
            </a:r>
          </a:p>
        </p:txBody>
      </p:sp>
      <p:sp>
        <p:nvSpPr>
          <p:cNvPr id="7" name="">
            <a:extLst>
              <a:ext uri="{FF2B5EF4-FFF2-40B4-BE49-F238E27FC236}">
                <ns2:creationId id="{E6076301-329A-4F41-9049-588E06091F19}"/>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29장의 실제 예제 다시 읽기</a:t>
            </a:r>
          </a:p>
        </p:txBody>
      </p:sp>
      <p:sp>
        <p:nvSpPr>
          <p:cNvPr id="8" name="">
            <a:extLst>
              <a:ext uri="{FF2B5EF4-FFF2-40B4-BE49-F238E27FC236}">
                <ns2:creationId id="{018CDB96-0F72-426B-A07C-6852B9BE5BB5}"/>
              </a:ext>
            </a:extLst>
          </p:cNvPr>
          <p:cNvSpPr>
            <a:spLocks noGrp="1"/>
          </p:cNvSpPr>
          <p:nvPr/>
        </p:nvSpPr>
        <p:spPr>
          <a:xfrm>
            <a:off x="6267450" y="2628900"/>
            <a:ext cx="5238750" cy="1494282"/>
          </a:xfrm>
          <a:prstGeom prst="rect">
            <a:avLst/>
          </a:prstGeom>
          <a:solidFill>
            <a:srgbClr val="F1F6F5"/>
          </a:solidFill>
          <a:ln w="0">
            <a:noFill/>
          </a:ln>
        </p:spPr>
      </p:sp>
      <p:sp>
        <p:nvSpPr>
          <p:cNvPr id="9" name="">
            <a:extLst>
              <a:ext uri="{FF2B5EF4-FFF2-40B4-BE49-F238E27FC236}">
                <ns2:creationId id="{3D0D5186-CF74-4790-8C3F-412F753ADE4C}"/>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10" name="">
            <a:extLst>
              <a:ext uri="{FF2B5EF4-FFF2-40B4-BE49-F238E27FC236}">
                <ns2:creationId id="{B3D1C2E6-4C75-4CDF-A914-77387C852201}"/>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button {</a:t>
            </a:r>
          </a:p>
        </p:txBody>
      </p:sp>
      <p:sp>
        <p:nvSpPr>
          <p:cNvPr id="11" name="">
            <a:extLst>
              <a:ext uri="{FF2B5EF4-FFF2-40B4-BE49-F238E27FC236}">
                <ns2:creationId id="{BC2AEF9D-4019-49B9-9524-C1359994F978}"/>
              </a:ext>
            </a:extLst>
          </p:cNvPr>
          <p:cNvSpPr>
            <a:spLocks noGrp="1"/>
          </p:cNvSpPr>
          <p:nvPr/>
        </p:nvSpPr>
        <p:spPr>
          <a:xfrm>
            <a:off x="6410325" y="308343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12" name="">
            <a:extLst>
              <a:ext uri="{FF2B5EF4-FFF2-40B4-BE49-F238E27FC236}">
                <ns2:creationId id="{10E5264B-8B07-4F61-90DC-85858DC2EE6A}"/>
              </a:ext>
            </a:extLst>
          </p:cNvPr>
          <p:cNvSpPr>
            <a:spLocks noGrp="1"/>
          </p:cNvSpPr>
          <p:nvPr/>
        </p:nvSpPr>
        <p:spPr>
          <a:xfrm>
            <a:off x="6858000" y="304533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padding: 12px;</a:t>
            </a:r>
          </a:p>
        </p:txBody>
      </p:sp>
      <p:sp>
        <p:nvSpPr>
          <p:cNvPr id="13" name="">
            <a:extLst>
              <a:ext uri="{FF2B5EF4-FFF2-40B4-BE49-F238E27FC236}">
                <ns2:creationId id="{75B08222-1CFE-43B3-A52C-6F36009D3021}"/>
              </a:ext>
            </a:extLst>
          </p:cNvPr>
          <p:cNvSpPr>
            <a:spLocks noGrp="1"/>
          </p:cNvSpPr>
          <p:nvPr/>
        </p:nvSpPr>
        <p:spPr>
          <a:xfrm>
            <a:off x="6410325" y="3376041"/>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4" name="">
            <a:extLst>
              <a:ext uri="{FF2B5EF4-FFF2-40B4-BE49-F238E27FC236}">
                <ns2:creationId id="{D324D67D-1B8A-46CA-A3FC-42E8B35CD948}"/>
              </a:ext>
            </a:extLst>
          </p:cNvPr>
          <p:cNvSpPr>
            <a:spLocks noGrp="1"/>
          </p:cNvSpPr>
          <p:nvPr/>
        </p:nvSpPr>
        <p:spPr>
          <a:xfrm>
            <a:off x="6858000" y="3337941"/>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margin-top: 8px;</a:t>
            </a:r>
          </a:p>
        </p:txBody>
      </p:sp>
      <p:sp>
        <p:nvSpPr>
          <p:cNvPr id="15" name="">
            <a:extLst>
              <a:ext uri="{FF2B5EF4-FFF2-40B4-BE49-F238E27FC236}">
                <ns2:creationId id="{84061EB9-AF12-47C3-8E99-976E731570EB}"/>
              </a:ext>
            </a:extLst>
          </p:cNvPr>
          <p:cNvSpPr>
            <a:spLocks noGrp="1"/>
          </p:cNvSpPr>
          <p:nvPr/>
        </p:nvSpPr>
        <p:spPr>
          <a:xfrm>
            <a:off x="6410325" y="3668649"/>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6" name="">
            <a:extLst>
              <a:ext uri="{FF2B5EF4-FFF2-40B4-BE49-F238E27FC236}">
                <ns2:creationId id="{9BE674AC-957E-492D-B871-A3F0E8AF785B}"/>
              </a:ext>
            </a:extLst>
          </p:cNvPr>
          <p:cNvSpPr>
            <a:spLocks noGrp="1"/>
          </p:cNvSpPr>
          <p:nvPr/>
        </p:nvSpPr>
        <p:spPr>
          <a:xfrm>
            <a:off x="6858000" y="3630549"/>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a:t>
            </a:r>
          </a:p>
        </p:txBody>
      </p:sp>
      <p:sp>
        <p:nvSpPr>
          <p:cNvPr id="17" name="">
            <a:extLst>
              <a:ext uri="{FF2B5EF4-FFF2-40B4-BE49-F238E27FC236}">
                <ns2:creationId id="{466DB449-BE51-4E6B-938E-9FDE392A35B5}"/>
              </a:ext>
            </a:extLst>
          </p:cNvPr>
          <p:cNvSpPr>
            <a:spLocks noGrp="1"/>
          </p:cNvSpPr>
          <p:nvPr/>
        </p:nvSpPr>
        <p:spPr>
          <a:xfrm>
            <a:off x="685800" y="6172200"/>
            <a:ext cx="10820400" cy="9525"/>
          </a:xfrm>
          <a:prstGeom prst="rect">
            <a:avLst/>
          </a:prstGeom>
          <a:solidFill>
            <a:srgbClr val="D5DEDD"/>
          </a:solidFill>
          <a:ln w="0">
            <a:noFill/>
          </a:ln>
        </p:spPr>
      </p:sp>
      <p:sp>
        <p:nvSpPr>
          <p:cNvPr id="18" name="">
            <a:extLst>
              <a:ext uri="{FF2B5EF4-FFF2-40B4-BE49-F238E27FC236}">
                <ns2:creationId id="{A4D6717B-50DD-4037-A1F6-542A27F7148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9" name="">
            <a:extLst>
              <a:ext uri="{FF2B5EF4-FFF2-40B4-BE49-F238E27FC236}">
                <ns2:creationId id="{FFDE5ED7-10A2-48E9-AC23-AB2CC2301FF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20" name="">
            <a:extLst>
              <a:ext uri="{FF2B5EF4-FFF2-40B4-BE49-F238E27FC236}">
                <ns2:creationId id="{5C16EC0C-6A72-40E2-9CC0-3D97FFEF680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1" name="">
            <a:extLst>
              <a:ext uri="{FF2B5EF4-FFF2-40B4-BE49-F238E27FC236}">
                <ns2:creationId id="{D6B3ADC4-C848-4B61-86D6-792D3C2A590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030</a:t>
            </a:r>
          </a:p>
        </p:txBody>
      </p:sp>
    </p:spTree>
    <p:extLst>
      <p:ext uri="{BB962C8B-B14F-4D97-AF65-F5344CB8AC3E}">
        <ns4:creationId val="1070943048"/>
      </p:ext>
    </p:extLst>
  </p:cSld>
</p:sld>
</file>

<file path=ppt/slides/slide3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2FB2A876-78A2-43EE-914A-FC39392FF53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C8BD54F8-BF25-415F-87F7-3A7996C6684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간격을 바꾼 결과</a:t>
            </a:r>
          </a:p>
        </p:txBody>
      </p:sp>
      <p:sp>
        <p:nvSpPr>
          <p:cNvPr id="3" name="">
            <a:extLst>
              <a:ext uri="{FF2B5EF4-FFF2-40B4-BE49-F238E27FC236}">
                <ns2:creationId id="{24F06FEA-3DCF-4635-9FDE-9E9C455B9991}"/>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달라진 padding</a:t>
            </a:r>
          </a:p>
        </p:txBody>
      </p:sp>
      <p:sp>
        <p:nvSpPr>
          <p:cNvPr id="4" name="">
            <a:extLst>
              <a:ext uri="{FF2B5EF4-FFF2-40B4-BE49-F238E27FC236}">
                <ns2:creationId id="{BF840EB4-AA72-4ECC-BF9A-8C51C37D352C}"/>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글자 주변을 넓히려면 padding을 바꿉니다.</a:t>
            </a:r>
          </a:p>
        </p:txBody>
      </p:sp>
      <p:sp>
        <p:nvSpPr>
          <p:cNvPr id="5" name="">
            <a:extLst>
              <a:ext uri="{FF2B5EF4-FFF2-40B4-BE49-F238E27FC236}">
                <ns2:creationId id="{B554F295-1BCB-4EB1-BE9B-609E213C4BD1}"/>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그대로인 값·상태</a:t>
            </a:r>
          </a:p>
        </p:txBody>
      </p:sp>
      <p:sp>
        <p:nvSpPr>
          <p:cNvPr id="6" name="">
            <a:extLst>
              <a:ext uri="{FF2B5EF4-FFF2-40B4-BE49-F238E27FC236}">
                <ns2:creationId id="{606E27EF-A470-45E6-996C-2E69B4AD8A12}"/>
              </a:ext>
            </a:extLst>
          </p:cNvPr>
          <p:cNvSpPr>
            <a:spLocks noGrp="1"/>
          </p:cNvSpPr>
          <p:nvPr/>
        </p:nvSpPr>
        <p:spPr>
          <a:xfrm>
            <a:off x="6400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값과 상태의 의미는 그대로입니다.</a:t>
            </a:r>
          </a:p>
        </p:txBody>
      </p:sp>
      <p:sp>
        <p:nvSpPr>
          <p:cNvPr id="7" name="">
            <a:extLst>
              <a:ext uri="{FF2B5EF4-FFF2-40B4-BE49-F238E27FC236}">
                <ns2:creationId id="{A9B36548-D9FC-4E8D-9D82-C9A794262408}"/>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5ACA1434-071F-433C-BBCD-620565B8201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00F1C75C-1742-49DB-8943-AEAA71DB5F3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5B20C5B6-3C37-49A7-B890-175EA2F9CD7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05EB0A53-63B9-4A62-B9D6-309ADF2D257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031</a:t>
            </a:r>
          </a:p>
        </p:txBody>
      </p:sp>
    </p:spTree>
    <p:extLst>
      <p:ext uri="{BB962C8B-B14F-4D97-AF65-F5344CB8AC3E}">
        <ns4:creationId val="2064143605"/>
      </p:ext>
    </p:extLst>
  </p:cSld>
</p:sld>
</file>

<file path=ppt/slides/slide3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4675CEC6-2668-44D3-A01A-A541F0B419A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CD0B32A7-8416-4E9B-A28A-E93FC5BCA51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공간 선택</a:t>
            </a:r>
          </a:p>
        </p:txBody>
      </p:sp>
      <p:sp>
        <p:nvSpPr>
          <p:cNvPr id="3" name="">
            <a:extLst>
              <a:ext uri="{FF2B5EF4-FFF2-40B4-BE49-F238E27FC236}">
                <ns2:creationId id="{A546D17A-31B6-45D2-B91E-B5952170CA40}"/>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버튼 글자 주변만 넓히고 싶습니다.</a:t>
            </a:r>
          </a:p>
        </p:txBody>
      </p:sp>
      <p:sp>
        <p:nvSpPr>
          <p:cNvPr id="4" name="">
            <a:extLst>
              <a:ext uri="{FF2B5EF4-FFF2-40B4-BE49-F238E27FC236}">
                <ns2:creationId id="{51D0EE3E-799E-467D-9007-CF153A8AB29F}"/>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어느 속성을 바꿀까요?</a:t>
            </a:r>
          </a:p>
        </p:txBody>
      </p:sp>
      <p:sp>
        <p:nvSpPr>
          <p:cNvPr id="5" name="">
            <a:extLst>
              <a:ext uri="{FF2B5EF4-FFF2-40B4-BE49-F238E27FC236}">
                <ns2:creationId id="{E3D91DE5-36FE-44DC-A6D7-0C9556050116}"/>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C9D8EA9F-F301-401E-A82E-61FBB23163CD}"/>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A27C95C2-AADF-4074-9F9E-6B9131ABC96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C90572BB-5EDB-4FA0-ACA8-9C35789F732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8F3333ED-1810-472E-B25D-11CB34BC2D0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48B7AFBF-0AE8-4902-871A-F6592B1E800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032</a:t>
            </a:r>
          </a:p>
        </p:txBody>
      </p:sp>
    </p:spTree>
    <p:extLst>
      <p:ext uri="{BB962C8B-B14F-4D97-AF65-F5344CB8AC3E}">
        <ns4:creationId val="1719399236"/>
      </p:ext>
    </p:extLst>
  </p:cSld>
</p:sld>
</file>

<file path=ppt/slides/slide3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FEF01788-0322-4A46-9BD0-01A5BFAB743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96D4235A-4EFE-4BCB-B1B3-0FF10424717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A06  작은 화면과 상태</a:t>
            </a:r>
          </a:p>
        </p:txBody>
      </p:sp>
      <p:sp>
        <p:nvSpPr>
          <p:cNvPr id="3" name="">
            <a:extLst>
              <a:ext uri="{FF2B5EF4-FFF2-40B4-BE49-F238E27FC236}">
                <ns2:creationId id="{8001401F-5BD7-4C06-9666-253D12FB0BA8}"/>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81982FE1-E12D-43BB-A6B0-BB0CE7B9678D}"/>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좁은 화면에서도 글자가 읽혀야 합니다.</a:t>
            </a:r>
          </a:p>
        </p:txBody>
      </p:sp>
      <p:sp>
        <p:nvSpPr>
          <p:cNvPr id="5" name="">
            <a:extLst>
              <a:ext uri="{FF2B5EF4-FFF2-40B4-BE49-F238E27FC236}">
                <ns2:creationId id="{C44B79C6-5374-44FB-A367-5D20C173B14C}"/>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색과 함께 상태 문구를 제공합니다.</a:t>
            </a:r>
          </a:p>
        </p:txBody>
      </p:sp>
      <p:sp>
        <p:nvSpPr>
          <p:cNvPr id="6" name="">
            <a:extLst>
              <a:ext uri="{FF2B5EF4-FFF2-40B4-BE49-F238E27FC236}">
                <ns2:creationId id="{0B57D920-F666-4A6E-9517-43A40094208E}"/>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키보드 초점 표시</a:t>
            </a:r>
          </a:p>
        </p:txBody>
      </p:sp>
      <p:graphicFrame>
        <p:nvGraphicFramePr>
          <p:cNvPr id="19" name=""/>
          <p:cNvGraphicFramePr/>
          <p:nvPr/>
        </p:nvGraphicFramePr>
        <p:xfrm>
          <a:off x="6267450" y="2628900"/>
          <a:ext cx="5238750" cy="1028700"/>
        </p:xfrm>
        <a:graphic>
          <a:graphicData uri="http://schemas.openxmlformats.org/drawingml/2006/table">
            <a:tbl>
              <a:tblPr firstRow="1" bandRow="0"/>
              <a:tblGrid>
                <a:gridCol w="2966843"/>
                <a:gridCol w="2271907"/>
              </a:tblGrid>
              <a:tr h="514350">
                <a:tc>
                  <a:txBody>
                    <a:bodyPr wrap="square"/>
                    <a:lstStyle/>
                    <a:p>
                      <a:pPr>
                        <a:lnSpc>
                          <a:spcPct val="102000"/>
                        </a:lnSpc>
                        <a:buNone/>
                      </a:pPr>
                      <a:r>
                        <a:rPr sz="1875" b="1">
                          <a:solidFill>
                            <a:srgbClr val="172F39"/>
                          </a:solidFill>
                          <a:latin typeface="Noto Sans KR"/>
                          <a:ea typeface="Noto Sans KR"/>
                          <a:cs typeface="Noto Sans KR"/>
                        </a:rPr>
                        <a:t>선택자</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속성 값</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button:focus-visible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3px solid black</a:t>
                      </a:r>
                    </a:p>
                  </a:txBody>
                  <a:tcPr marL="114300" marR="114300" marT="76200" marB="76200" anchor="ctr">
                    <a:solidFill>
                      <a:srgbClr val="FFFFFF"/>
                    </a:solidFill>
                  </a:tcPr>
                </a:tc>
              </a:tr>
            </a:tbl>
          </a:graphicData>
        </a:graphic>
      </p:graphicFrame>
      <p:sp>
        <p:nvSpPr>
          <p:cNvPr id="8" name="">
            <a:extLst>
              <a:ext uri="{FF2B5EF4-FFF2-40B4-BE49-F238E27FC236}">
                <ns2:creationId id="{6CEE1005-7567-4514-9CC4-5CA62520C5F7}"/>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10F8037C-FCFD-41DD-B297-1097BF8B3F6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65626718-52F4-4465-B8AC-5B482B2972A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91EECEB0-2653-4CB4-895B-6DFE2A196CB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D0C42A68-F8F2-407B-A7E3-1F0C6006551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033</a:t>
            </a:r>
          </a:p>
        </p:txBody>
      </p:sp>
    </p:spTree>
    <p:extLst>
      <p:ext uri="{BB962C8B-B14F-4D97-AF65-F5344CB8AC3E}">
        <ns4:creationId val="1949821393"/>
      </p:ext>
    </p:extLst>
  </p:cSld>
</p:sld>
</file>

<file path=ppt/slides/slide3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9" name="">
            <a:extLst>
              <a:ext uri="{FF2B5EF4-FFF2-40B4-BE49-F238E27FC236}">
                <ns2:creationId id="{A1DEBAEB-BD2D-42EC-A6FD-D9E3594ABD4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88428B36-4AFF-46EB-9909-FC56E6EF899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작은 화면과 상태의 예</a:t>
            </a:r>
          </a:p>
        </p:txBody>
      </p:sp>
      <p:sp>
        <p:nvSpPr>
          <p:cNvPr id="3" name="">
            <a:extLst>
              <a:ext uri="{FF2B5EF4-FFF2-40B4-BE49-F238E27FC236}">
                <ns2:creationId id="{FEFDCD5C-7499-442F-A533-0EDB1F2BF34C}"/>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발췌: 키보드 초점을 보이게 합니다.</a:t>
            </a:r>
          </a:p>
        </p:txBody>
      </p:sp>
      <p:sp>
        <p:nvSpPr>
          <p:cNvPr id="4" name="">
            <a:extLst>
              <a:ext uri="{FF2B5EF4-FFF2-40B4-BE49-F238E27FC236}">
                <ns2:creationId id="{71CBFBC7-1F5E-4301-B10A-4977F7C6DC14}"/>
              </a:ext>
            </a:extLst>
          </p:cNvPr>
          <p:cNvSpPr>
            <a:spLocks noGrp="1"/>
          </p:cNvSpPr>
          <p:nvPr/>
        </p:nvSpPr>
        <p:spPr>
          <a:xfrm>
            <a:off x="685800" y="2262188"/>
            <a:ext cx="6953250" cy="1274826"/>
          </a:xfrm>
          <a:prstGeom prst="rect">
            <a:avLst/>
          </a:prstGeom>
          <a:solidFill>
            <a:srgbClr val="F1F6F5"/>
          </a:solidFill>
          <a:ln w="0">
            <a:noFill/>
          </a:ln>
        </p:spPr>
      </p:sp>
      <p:sp>
        <p:nvSpPr>
          <p:cNvPr id="5" name="">
            <a:extLst>
              <a:ext uri="{FF2B5EF4-FFF2-40B4-BE49-F238E27FC236}">
                <ns2:creationId id="{27A93779-D7F1-464D-8DA5-69A40F9026EE}"/>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A9699717-CF5C-4720-BADD-68E375CE3169}"/>
              </a:ext>
            </a:extLst>
          </p:cNvPr>
          <p:cNvSpPr>
            <a:spLocks noGrp="1"/>
          </p:cNvSpPr>
          <p:nvPr/>
        </p:nvSpPr>
        <p:spPr>
          <a:xfrm>
            <a:off x="1276350" y="2386013"/>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button:focus-visible {</a:t>
            </a:r>
          </a:p>
        </p:txBody>
      </p:sp>
      <p:sp>
        <p:nvSpPr>
          <p:cNvPr id="7" name="">
            <a:extLst>
              <a:ext uri="{FF2B5EF4-FFF2-40B4-BE49-F238E27FC236}">
                <ns2:creationId id="{2248DBE4-2AC0-4ED1-A78D-ACBAAF4EB89E}"/>
              </a:ext>
            </a:extLst>
          </p:cNvPr>
          <p:cNvSpPr>
            <a:spLocks noGrp="1"/>
          </p:cNvSpPr>
          <p:nvPr/>
        </p:nvSpPr>
        <p:spPr>
          <a:xfrm>
            <a:off x="828675" y="2741104"/>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8" name="">
            <a:extLst>
              <a:ext uri="{FF2B5EF4-FFF2-40B4-BE49-F238E27FC236}">
                <ns2:creationId id="{0A78D89C-E74F-43C9-AD91-DC9FCC629483}"/>
              </a:ext>
            </a:extLst>
          </p:cNvPr>
          <p:cNvSpPr>
            <a:spLocks noGrp="1"/>
          </p:cNvSpPr>
          <p:nvPr/>
        </p:nvSpPr>
        <p:spPr>
          <a:xfrm>
            <a:off x="1276350" y="2703004"/>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outline: 3px solid black;</a:t>
            </a:r>
          </a:p>
        </p:txBody>
      </p:sp>
      <p:sp>
        <p:nvSpPr>
          <p:cNvPr id="9" name="">
            <a:extLst>
              <a:ext uri="{FF2B5EF4-FFF2-40B4-BE49-F238E27FC236}">
                <ns2:creationId id="{64D43E29-A899-4E96-8499-25590C1FA619}"/>
              </a:ext>
            </a:extLst>
          </p:cNvPr>
          <p:cNvSpPr>
            <a:spLocks noGrp="1"/>
          </p:cNvSpPr>
          <p:nvPr/>
        </p:nvSpPr>
        <p:spPr>
          <a:xfrm>
            <a:off x="828675" y="305809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0" name="">
            <a:extLst>
              <a:ext uri="{FF2B5EF4-FFF2-40B4-BE49-F238E27FC236}">
                <ns2:creationId id="{EF349981-2BD5-48D9-893F-7236BE167153}"/>
              </a:ext>
            </a:extLst>
          </p:cNvPr>
          <p:cNvSpPr>
            <a:spLocks noGrp="1"/>
          </p:cNvSpPr>
          <p:nvPr/>
        </p:nvSpPr>
        <p:spPr>
          <a:xfrm>
            <a:off x="1276350" y="3019997"/>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a:t>
            </a:r>
          </a:p>
        </p:txBody>
      </p:sp>
      <p:sp>
        <p:nvSpPr>
          <p:cNvPr id="11" name="">
            <a:extLst>
              <a:ext uri="{FF2B5EF4-FFF2-40B4-BE49-F238E27FC236}">
                <ns2:creationId id="{C62EDE4B-0123-4F25-9AA1-7E19B1F4177D}"/>
              </a:ext>
            </a:extLst>
          </p:cNvPr>
          <p:cNvSpPr>
            <a:spLocks noGrp="1"/>
          </p:cNvSpPr>
          <p:nvPr/>
        </p:nvSpPr>
        <p:spPr>
          <a:xfrm>
            <a:off x="8143875" y="2281238"/>
            <a:ext cx="3333750" cy="4095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실행 결과</a:t>
            </a:r>
          </a:p>
        </p:txBody>
      </p:sp>
      <p:sp>
        <p:nvSpPr>
          <p:cNvPr id="12" name="">
            <a:extLst>
              <a:ext uri="{FF2B5EF4-FFF2-40B4-BE49-F238E27FC236}">
                <ns2:creationId id="{FB32A96A-5A0B-402E-AD24-19F65089B4A9}"/>
              </a:ext>
            </a:extLst>
          </p:cNvPr>
          <p:cNvSpPr>
            <a:spLocks noGrp="1"/>
          </p:cNvSpPr>
          <p:nvPr/>
        </p:nvSpPr>
        <p:spPr>
          <a:xfrm>
            <a:off x="8143875" y="2862263"/>
            <a:ext cx="3333750" cy="721233"/>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Tab 키로 버튼 초점이 보이는지 봅니다.</a:t>
            </a:r>
          </a:p>
        </p:txBody>
      </p:sp>
      <p:sp>
        <p:nvSpPr>
          <p:cNvPr id="13" name="">
            <a:extLst>
              <a:ext uri="{FF2B5EF4-FFF2-40B4-BE49-F238E27FC236}">
                <ns2:creationId id="{F7D8C144-7D5F-4366-8045-BD13497BE61B}"/>
              </a:ext>
            </a:extLst>
          </p:cNvPr>
          <p:cNvSpPr>
            <a:spLocks noGrp="1"/>
          </p:cNvSpPr>
          <p:nvPr/>
        </p:nvSpPr>
        <p:spPr>
          <a:xfrm>
            <a:off x="8143875" y="3631121"/>
            <a:ext cx="3333750" cy="721233"/>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정상·미측정 문구를 함께 읽습니다.</a:t>
            </a:r>
          </a:p>
        </p:txBody>
      </p:sp>
      <p:sp>
        <p:nvSpPr>
          <p:cNvPr id="14" name="">
            <a:extLst>
              <a:ext uri="{FF2B5EF4-FFF2-40B4-BE49-F238E27FC236}">
                <ns2:creationId id="{8DA24B65-0EE2-4894-B08E-FE93B1D23B68}"/>
              </a:ext>
            </a:extLst>
          </p:cNvPr>
          <p:cNvSpPr>
            <a:spLocks noGrp="1"/>
          </p:cNvSpPr>
          <p:nvPr/>
        </p:nvSpPr>
        <p:spPr>
          <a:xfrm>
            <a:off x="685800" y="6172200"/>
            <a:ext cx="10820400" cy="9525"/>
          </a:xfrm>
          <a:prstGeom prst="rect">
            <a:avLst/>
          </a:prstGeom>
          <a:solidFill>
            <a:srgbClr val="D5DEDD"/>
          </a:solidFill>
          <a:ln w="0">
            <a:noFill/>
          </a:ln>
        </p:spPr>
      </p:sp>
      <p:sp>
        <p:nvSpPr>
          <p:cNvPr id="15" name="">
            <a:extLst>
              <a:ext uri="{FF2B5EF4-FFF2-40B4-BE49-F238E27FC236}">
                <ns2:creationId id="{0F5CE27C-5C01-44B7-909B-BE92062A6E5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6" name="">
            <a:extLst>
              <a:ext uri="{FF2B5EF4-FFF2-40B4-BE49-F238E27FC236}">
                <ns2:creationId id="{ED8FED99-015A-4C1B-8766-EE46C8193C2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7" name="">
            <a:extLst>
              <a:ext uri="{FF2B5EF4-FFF2-40B4-BE49-F238E27FC236}">
                <ns2:creationId id="{9A56F33F-4A08-426D-B926-0F40C2DAD75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8" name="">
            <a:extLst>
              <a:ext uri="{FF2B5EF4-FFF2-40B4-BE49-F238E27FC236}">
                <ns2:creationId id="{AE799058-8765-488E-B74E-9E5BCFF2565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034</a:t>
            </a:r>
          </a:p>
        </p:txBody>
      </p:sp>
    </p:spTree>
    <p:extLst>
      <p:ext uri="{BB962C8B-B14F-4D97-AF65-F5344CB8AC3E}">
        <ns4:creationId val="1678216171"/>
      </p:ext>
    </p:extLst>
  </p:cSld>
</p:sld>
</file>

<file path=ppt/slides/slide3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0" name="">
            <a:extLst>
              <a:ext uri="{FF2B5EF4-FFF2-40B4-BE49-F238E27FC236}">
                <ns2:creationId id="{7C5966B1-FF42-49AA-A96A-8E2481B993E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103ED579-8162-4470-B52F-9F65A71354C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초점 표시의 CSS 읽기</a:t>
            </a:r>
          </a:p>
        </p:txBody>
      </p:sp>
      <p:sp>
        <p:nvSpPr>
          <p:cNvPr id="3" name="">
            <a:extLst>
              <a:ext uri="{FF2B5EF4-FFF2-40B4-BE49-F238E27FC236}">
                <ns2:creationId id="{6E90B052-824A-4B84-899B-9F9FD992A81C}"/>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F0E92AED-0AD1-4DA7-AD57-9379FABB6797}"/>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:focus-visible은 키보드 초점을 표시합니다.</a:t>
            </a:r>
          </a:p>
        </p:txBody>
      </p:sp>
      <p:sp>
        <p:nvSpPr>
          <p:cNvPr id="5" name="">
            <a:extLst>
              <a:ext uri="{FF2B5EF4-FFF2-40B4-BE49-F238E27FC236}">
                <ns2:creationId id="{92BD784F-651F-414C-ACFA-73D98A384B93}"/>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outline은 버튼 둘레에 선을 그립니다.</a:t>
            </a:r>
          </a:p>
        </p:txBody>
      </p:sp>
      <p:sp>
        <p:nvSpPr>
          <p:cNvPr id="6" name="">
            <a:extLst>
              <a:ext uri="{FF2B5EF4-FFF2-40B4-BE49-F238E27FC236}">
                <ns2:creationId id="{4D516084-0388-4AD4-8936-A103637C7E17}"/>
              </a:ext>
            </a:extLst>
          </p:cNvPr>
          <p:cNvSpPr>
            <a:spLocks noGrp="1"/>
          </p:cNvSpPr>
          <p:nvPr/>
        </p:nvSpPr>
        <p:spPr>
          <a:xfrm>
            <a:off x="685800" y="403479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3px은 선 두께, black은 검은색입니다.</a:t>
            </a:r>
          </a:p>
        </p:txBody>
      </p:sp>
      <p:sp>
        <p:nvSpPr>
          <p:cNvPr id="7" name="">
            <a:extLst>
              <a:ext uri="{FF2B5EF4-FFF2-40B4-BE49-F238E27FC236}">
                <ns2:creationId id="{D5283A50-BD52-4427-9047-4B749E717273}"/>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34장의 실제 예제 다시 읽기</a:t>
            </a:r>
          </a:p>
        </p:txBody>
      </p:sp>
      <p:sp>
        <p:nvSpPr>
          <p:cNvPr id="8" name="">
            <a:extLst>
              <a:ext uri="{FF2B5EF4-FFF2-40B4-BE49-F238E27FC236}">
                <ns2:creationId id="{D9C632BD-9144-428F-8392-D9D7DF35286A}"/>
              </a:ext>
            </a:extLst>
          </p:cNvPr>
          <p:cNvSpPr>
            <a:spLocks noGrp="1"/>
          </p:cNvSpPr>
          <p:nvPr/>
        </p:nvSpPr>
        <p:spPr>
          <a:xfrm>
            <a:off x="6267450" y="2628900"/>
            <a:ext cx="5238750" cy="1201674"/>
          </a:xfrm>
          <a:prstGeom prst="rect">
            <a:avLst/>
          </a:prstGeom>
          <a:solidFill>
            <a:srgbClr val="F1F6F5"/>
          </a:solidFill>
          <a:ln w="0">
            <a:noFill/>
          </a:ln>
        </p:spPr>
      </p:sp>
      <p:sp>
        <p:nvSpPr>
          <p:cNvPr id="9" name="">
            <a:extLst>
              <a:ext uri="{FF2B5EF4-FFF2-40B4-BE49-F238E27FC236}">
                <ns2:creationId id="{D1CD090F-BC5D-4E4E-AC10-6FFBD4258EC4}"/>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10" name="">
            <a:extLst>
              <a:ext uri="{FF2B5EF4-FFF2-40B4-BE49-F238E27FC236}">
                <ns2:creationId id="{93C3FC7A-0F46-4BC5-A562-5A7273D33ED9}"/>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button:focus-visible {</a:t>
            </a:r>
          </a:p>
        </p:txBody>
      </p:sp>
      <p:sp>
        <p:nvSpPr>
          <p:cNvPr id="11" name="">
            <a:extLst>
              <a:ext uri="{FF2B5EF4-FFF2-40B4-BE49-F238E27FC236}">
                <ns2:creationId id="{3C3D6DE1-6AD2-4232-879B-F449BB3B3FBA}"/>
              </a:ext>
            </a:extLst>
          </p:cNvPr>
          <p:cNvSpPr>
            <a:spLocks noGrp="1"/>
          </p:cNvSpPr>
          <p:nvPr/>
        </p:nvSpPr>
        <p:spPr>
          <a:xfrm>
            <a:off x="6410325" y="308343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12" name="">
            <a:extLst>
              <a:ext uri="{FF2B5EF4-FFF2-40B4-BE49-F238E27FC236}">
                <ns2:creationId id="{E4885B1E-92FF-4901-980D-E07F6DCD1433}"/>
              </a:ext>
            </a:extLst>
          </p:cNvPr>
          <p:cNvSpPr>
            <a:spLocks noGrp="1"/>
          </p:cNvSpPr>
          <p:nvPr/>
        </p:nvSpPr>
        <p:spPr>
          <a:xfrm>
            <a:off x="6858000" y="304533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outline: 3px solid black;</a:t>
            </a:r>
          </a:p>
        </p:txBody>
      </p:sp>
      <p:sp>
        <p:nvSpPr>
          <p:cNvPr id="13" name="">
            <a:extLst>
              <a:ext uri="{FF2B5EF4-FFF2-40B4-BE49-F238E27FC236}">
                <ns2:creationId id="{5C481A32-F3E9-4748-BAD9-4736E29B4A83}"/>
              </a:ext>
            </a:extLst>
          </p:cNvPr>
          <p:cNvSpPr>
            <a:spLocks noGrp="1"/>
          </p:cNvSpPr>
          <p:nvPr/>
        </p:nvSpPr>
        <p:spPr>
          <a:xfrm>
            <a:off x="6410325" y="3376041"/>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4" name="">
            <a:extLst>
              <a:ext uri="{FF2B5EF4-FFF2-40B4-BE49-F238E27FC236}">
                <ns2:creationId id="{D0CF706B-6649-4724-B9CA-ED265F2AC772}"/>
              </a:ext>
            </a:extLst>
          </p:cNvPr>
          <p:cNvSpPr>
            <a:spLocks noGrp="1"/>
          </p:cNvSpPr>
          <p:nvPr/>
        </p:nvSpPr>
        <p:spPr>
          <a:xfrm>
            <a:off x="6858000" y="3337941"/>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a:t>
            </a:r>
          </a:p>
        </p:txBody>
      </p:sp>
      <p:sp>
        <p:nvSpPr>
          <p:cNvPr id="15" name="">
            <a:extLst>
              <a:ext uri="{FF2B5EF4-FFF2-40B4-BE49-F238E27FC236}">
                <ns2:creationId id="{4318A21C-E628-4D63-8312-45FAED0BE3BA}"/>
              </a:ext>
            </a:extLst>
          </p:cNvPr>
          <p:cNvSpPr>
            <a:spLocks noGrp="1"/>
          </p:cNvSpPr>
          <p:nvPr/>
        </p:nvSpPr>
        <p:spPr>
          <a:xfrm>
            <a:off x="685800" y="6172200"/>
            <a:ext cx="10820400" cy="9525"/>
          </a:xfrm>
          <a:prstGeom prst="rect">
            <a:avLst/>
          </a:prstGeom>
          <a:solidFill>
            <a:srgbClr val="D5DEDD"/>
          </a:solidFill>
          <a:ln w="0">
            <a:noFill/>
          </a:ln>
        </p:spPr>
      </p:sp>
      <p:sp>
        <p:nvSpPr>
          <p:cNvPr id="16" name="">
            <a:extLst>
              <a:ext uri="{FF2B5EF4-FFF2-40B4-BE49-F238E27FC236}">
                <ns2:creationId id="{BADEA04D-4C82-43F7-A581-9088227557A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7" name="">
            <a:extLst>
              <a:ext uri="{FF2B5EF4-FFF2-40B4-BE49-F238E27FC236}">
                <ns2:creationId id="{A344A971-12B5-458D-8D75-2C6519353B0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8" name="">
            <a:extLst>
              <a:ext uri="{FF2B5EF4-FFF2-40B4-BE49-F238E27FC236}">
                <ns2:creationId id="{C1CDC570-E87D-4F35-A8C2-9FA01F78BE9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9" name="">
            <a:extLst>
              <a:ext uri="{FF2B5EF4-FFF2-40B4-BE49-F238E27FC236}">
                <ns2:creationId id="{356B6355-9FFB-444B-932B-3E404DA48EB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035</a:t>
            </a:r>
          </a:p>
        </p:txBody>
      </p:sp>
    </p:spTree>
    <p:extLst>
      <p:ext uri="{BB962C8B-B14F-4D97-AF65-F5344CB8AC3E}">
        <ns4:creationId val="348482569"/>
      </p:ext>
    </p:extLst>
  </p:cSld>
</p:sld>
</file>

<file path=ppt/slides/slide3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9" name="">
            <a:extLst>
              <a:ext uri="{FF2B5EF4-FFF2-40B4-BE49-F238E27FC236}">
                <ns2:creationId id="{291DC5B4-FF0A-483C-B318-18496D85B86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945F0D01-E8F7-41FC-A03F-E0B29BE7362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키보드 확인</a:t>
            </a:r>
          </a:p>
        </p:txBody>
      </p:sp>
      <p:sp>
        <p:nvSpPr>
          <p:cNvPr id="3" name="">
            <a:extLst>
              <a:ext uri="{FF2B5EF4-FFF2-40B4-BE49-F238E27FC236}">
                <ns2:creationId id="{0542FA9B-78F5-491D-BE61-7C9CFF9B7BAE}"/>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명령·입력</a:t>
            </a:r>
          </a:p>
        </p:txBody>
      </p:sp>
      <p:sp>
        <p:nvSpPr>
          <p:cNvPr id="4" name="">
            <a:extLst>
              <a:ext uri="{FF2B5EF4-FFF2-40B4-BE49-F238E27FC236}">
                <ns2:creationId id="{830ADD42-EE6A-4BC0-9E52-EDB4D6991B56}"/>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Tab 키로 버튼 초점이 보이는지 봅니다.</a:t>
            </a:r>
          </a:p>
        </p:txBody>
      </p:sp>
      <p:sp>
        <p:nvSpPr>
          <p:cNvPr id="5" name="">
            <a:extLst>
              <a:ext uri="{FF2B5EF4-FFF2-40B4-BE49-F238E27FC236}">
                <ns2:creationId id="{0C5EAD34-231C-40FB-A0BA-1F3358176D60}"/>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정상·미측정 문구를 함께 읽습니다.</a:t>
            </a:r>
          </a:p>
        </p:txBody>
      </p:sp>
      <p:sp>
        <p:nvSpPr>
          <p:cNvPr id="6" name="">
            <a:extLst>
              <a:ext uri="{FF2B5EF4-FFF2-40B4-BE49-F238E27FC236}">
                <ns2:creationId id="{CA390CC8-6DB8-411A-BEC2-D72C9877E393}"/>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34장의 실제 예제 다시 읽기</a:t>
            </a:r>
          </a:p>
        </p:txBody>
      </p:sp>
      <p:sp>
        <p:nvSpPr>
          <p:cNvPr id="7" name="">
            <a:extLst>
              <a:ext uri="{FF2B5EF4-FFF2-40B4-BE49-F238E27FC236}">
                <ns2:creationId id="{B36A8003-295C-4119-93FF-B5D5073DFCCB}"/>
              </a:ext>
            </a:extLst>
          </p:cNvPr>
          <p:cNvSpPr>
            <a:spLocks noGrp="1"/>
          </p:cNvSpPr>
          <p:nvPr/>
        </p:nvSpPr>
        <p:spPr>
          <a:xfrm>
            <a:off x="6267450" y="2628900"/>
            <a:ext cx="5238750" cy="1201674"/>
          </a:xfrm>
          <a:prstGeom prst="rect">
            <a:avLst/>
          </a:prstGeom>
          <a:solidFill>
            <a:srgbClr val="F1F6F5"/>
          </a:solidFill>
          <a:ln w="0">
            <a:noFill/>
          </a:ln>
        </p:spPr>
      </p:sp>
      <p:sp>
        <p:nvSpPr>
          <p:cNvPr id="8" name="">
            <a:extLst>
              <a:ext uri="{FF2B5EF4-FFF2-40B4-BE49-F238E27FC236}">
                <ns2:creationId id="{F6785622-70DF-41DE-A85B-39DE56EAC0A1}"/>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9" name="">
            <a:extLst>
              <a:ext uri="{FF2B5EF4-FFF2-40B4-BE49-F238E27FC236}">
                <ns2:creationId id="{76AD0949-F9DA-4241-9BF9-A19C3C6CE2B2}"/>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button:focus-visible {</a:t>
            </a:r>
          </a:p>
        </p:txBody>
      </p:sp>
      <p:sp>
        <p:nvSpPr>
          <p:cNvPr id="10" name="">
            <a:extLst>
              <a:ext uri="{FF2B5EF4-FFF2-40B4-BE49-F238E27FC236}">
                <ns2:creationId id="{A6EF60C7-0104-404A-893A-4405F3795735}"/>
              </a:ext>
            </a:extLst>
          </p:cNvPr>
          <p:cNvSpPr>
            <a:spLocks noGrp="1"/>
          </p:cNvSpPr>
          <p:nvPr/>
        </p:nvSpPr>
        <p:spPr>
          <a:xfrm>
            <a:off x="6410325" y="308343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11" name="">
            <a:extLst>
              <a:ext uri="{FF2B5EF4-FFF2-40B4-BE49-F238E27FC236}">
                <ns2:creationId id="{2C148449-C9D1-40A0-9303-0105AC661878}"/>
              </a:ext>
            </a:extLst>
          </p:cNvPr>
          <p:cNvSpPr>
            <a:spLocks noGrp="1"/>
          </p:cNvSpPr>
          <p:nvPr/>
        </p:nvSpPr>
        <p:spPr>
          <a:xfrm>
            <a:off x="6858000" y="304533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outline: 3px solid black;</a:t>
            </a:r>
          </a:p>
        </p:txBody>
      </p:sp>
      <p:sp>
        <p:nvSpPr>
          <p:cNvPr id="12" name="">
            <a:extLst>
              <a:ext uri="{FF2B5EF4-FFF2-40B4-BE49-F238E27FC236}">
                <ns2:creationId id="{A46D1FA9-17F0-4E37-8C6E-B298FB58C90F}"/>
              </a:ext>
            </a:extLst>
          </p:cNvPr>
          <p:cNvSpPr>
            <a:spLocks noGrp="1"/>
          </p:cNvSpPr>
          <p:nvPr/>
        </p:nvSpPr>
        <p:spPr>
          <a:xfrm>
            <a:off x="6410325" y="3376041"/>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3" name="">
            <a:extLst>
              <a:ext uri="{FF2B5EF4-FFF2-40B4-BE49-F238E27FC236}">
                <ns2:creationId id="{396AC304-2FF5-4AD6-8290-87D11F29B7D3}"/>
              </a:ext>
            </a:extLst>
          </p:cNvPr>
          <p:cNvSpPr>
            <a:spLocks noGrp="1"/>
          </p:cNvSpPr>
          <p:nvPr/>
        </p:nvSpPr>
        <p:spPr>
          <a:xfrm>
            <a:off x="6858000" y="3337941"/>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a:t>
            </a:r>
          </a:p>
        </p:txBody>
      </p:sp>
      <p:sp>
        <p:nvSpPr>
          <p:cNvPr id="14" name="">
            <a:extLst>
              <a:ext uri="{FF2B5EF4-FFF2-40B4-BE49-F238E27FC236}">
                <ns2:creationId id="{59F78093-1F2C-4711-99FB-32E94D4FC78C}"/>
              </a:ext>
            </a:extLst>
          </p:cNvPr>
          <p:cNvSpPr>
            <a:spLocks noGrp="1"/>
          </p:cNvSpPr>
          <p:nvPr/>
        </p:nvSpPr>
        <p:spPr>
          <a:xfrm>
            <a:off x="685800" y="6172200"/>
            <a:ext cx="10820400" cy="9525"/>
          </a:xfrm>
          <a:prstGeom prst="rect">
            <a:avLst/>
          </a:prstGeom>
          <a:solidFill>
            <a:srgbClr val="D5DEDD"/>
          </a:solidFill>
          <a:ln w="0">
            <a:noFill/>
          </a:ln>
        </p:spPr>
      </p:sp>
      <p:sp>
        <p:nvSpPr>
          <p:cNvPr id="15" name="">
            <a:extLst>
              <a:ext uri="{FF2B5EF4-FFF2-40B4-BE49-F238E27FC236}">
                <ns2:creationId id="{13D7DC0C-17B7-4E5D-9B38-BB49A5FAA9A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6" name="">
            <a:extLst>
              <a:ext uri="{FF2B5EF4-FFF2-40B4-BE49-F238E27FC236}">
                <ns2:creationId id="{566CD540-0D06-4030-9A10-32FA7A81B8C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7" name="">
            <a:extLst>
              <a:ext uri="{FF2B5EF4-FFF2-40B4-BE49-F238E27FC236}">
                <ns2:creationId id="{8D34A046-5E51-4648-BE40-BBE219100F1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8" name="">
            <a:extLst>
              <a:ext uri="{FF2B5EF4-FFF2-40B4-BE49-F238E27FC236}">
                <ns2:creationId id="{CD0CB386-CD1D-47E0-99F1-687778146B9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036</a:t>
            </a:r>
          </a:p>
        </p:txBody>
      </p:sp>
    </p:spTree>
    <p:extLst>
      <p:ext uri="{BB962C8B-B14F-4D97-AF65-F5344CB8AC3E}">
        <ns4:creationId val="1878191165"/>
      </p:ext>
    </p:extLst>
  </p:cSld>
</p:sld>
</file>

<file path=ppt/slides/slide3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CF0196AD-A36E-4392-B39A-D617CF23658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BCF4FCD8-5DE6-497E-A253-58DFD7C627B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색만 있는 표시</a:t>
            </a:r>
          </a:p>
        </p:txBody>
      </p:sp>
      <p:sp>
        <p:nvSpPr>
          <p:cNvPr id="3" name="">
            <a:extLst>
              <a:ext uri="{FF2B5EF4-FFF2-40B4-BE49-F238E27FC236}">
                <ns2:creationId id="{760AD14D-3E00-452B-A6F2-2F6E228A4509}"/>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1">
                <a:solidFill>
                  <a:srgbClr val="172F39"/>
                </a:solidFill>
                <a:latin typeface="Noto Sans KR"/>
                <a:ea typeface="Noto Sans KR"/>
                <a:cs typeface="Noto Sans KR"/>
              </a:defRPr>
            </a:pPr>
            <a:r>
              <a:t>초록 원만으로 정상 상태를 알려도 될까요?</a:t>
            </a:r>
          </a:p>
        </p:txBody>
      </p:sp>
      <p:sp>
        <p:nvSpPr>
          <p:cNvPr id="4" name="">
            <a:extLst>
              <a:ext uri="{FF2B5EF4-FFF2-40B4-BE49-F238E27FC236}">
                <ns2:creationId id="{4DC9FE8F-63B4-4828-BC08-51C55BEDC8F0}"/>
              </a:ext>
            </a:extLst>
          </p:cNvPr>
          <p:cNvSpPr>
            <a:spLocks noGrp="1"/>
          </p:cNvSpPr>
          <p:nvPr/>
        </p:nvSpPr>
        <p:spPr>
          <a:xfrm>
            <a:off x="685800" y="2728722"/>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5" name="">
            <a:extLst>
              <a:ext uri="{FF2B5EF4-FFF2-40B4-BE49-F238E27FC236}">
                <ns2:creationId id="{80997456-667F-4851-9475-7922EB7A673A}"/>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BAE476B8-DA44-4DB9-85D8-6E0E5E3519F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942689BA-8EDF-4727-8581-9BEF8AF9B1D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1C54B915-11E0-42BD-97C9-E0A5A4FDCDB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2C712D43-EA70-4C5B-93C0-E5D5A3F5D3B5}"/>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037</a:t>
            </a:r>
          </a:p>
        </p:txBody>
      </p:sp>
    </p:spTree>
    <p:extLst>
      <p:ext uri="{BB962C8B-B14F-4D97-AF65-F5344CB8AC3E}">
        <ns4:creationId val="1388681299"/>
      </p:ext>
    </p:extLst>
  </p:cSld>
</p:sld>
</file>

<file path=ppt/slides/slide3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C286547B-C88D-4275-80CF-0BC2C62D9639}"/>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3교시</a:t>
            </a:r>
          </a:p>
        </p:txBody>
      </p:sp>
      <p:sp>
        <p:nvSpPr>
          <p:cNvPr id="2" name="">
            <a:extLst>
              <a:ext uri="{FF2B5EF4-FFF2-40B4-BE49-F238E27FC236}">
                <ns2:creationId id="{8C8F4CEE-521E-4C45-8A74-943F0C989B94}"/>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버튼과 데이터 변화</a:t>
            </a:r>
          </a:p>
        </p:txBody>
      </p:sp>
      <p:sp>
        <p:nvSpPr>
          <p:cNvPr id="3" name="">
            <a:extLst>
              <a:ext uri="{FF2B5EF4-FFF2-40B4-BE49-F238E27FC236}">
                <ns2:creationId id="{51AC42FF-FF94-4AB3-B77B-405FAC5FC504}"/>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50분 수업입니다.</a:t>
            </a:r>
          </a:p>
        </p:txBody>
      </p:sp>
      <p:sp>
        <p:nvSpPr>
          <p:cNvPr id="4" name="">
            <a:extLst>
              <a:ext uri="{FF2B5EF4-FFF2-40B4-BE49-F238E27FC236}">
                <ns2:creationId id="{D5B8A4CF-101D-4A3D-B85D-94F067202D0D}"/>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예제를 함께 보고 따라 해 봅니다.</a:t>
            </a:r>
          </a:p>
        </p:txBody>
      </p:sp>
      <p:sp>
        <p:nvSpPr>
          <p:cNvPr id="5" name="">
            <a:extLst>
              <a:ext uri="{FF2B5EF4-FFF2-40B4-BE49-F238E27FC236}">
                <ns2:creationId id="{087A5412-4764-4379-8B62-07780F9B03B4}"/>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결과가 예상과 같은지 확인해 봅니다.</a:t>
            </a:r>
          </a:p>
        </p:txBody>
      </p:sp>
      <p:sp>
        <p:nvSpPr>
          <p:cNvPr id="6" name="">
            <a:extLst>
              <a:ext uri="{FF2B5EF4-FFF2-40B4-BE49-F238E27FC236}">
                <ns2:creationId id="{DFD89749-76DA-41DD-BF35-D3C8DD6421D2}"/>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DA0D5816-CCA0-4EE3-A1B0-752E336FD3CC}"/>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7BCD7B52-E946-4595-9148-0295A7F4224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658694FC-9D9B-4585-8C7B-E3214F22DC4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9E6F2A6B-8AD2-4780-8C89-A61886CE7FD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038</a:t>
            </a:r>
          </a:p>
        </p:txBody>
      </p:sp>
    </p:spTree>
    <p:extLst>
      <p:ext uri="{BB962C8B-B14F-4D97-AF65-F5344CB8AC3E}">
        <ns4:creationId val="885626643"/>
      </p:ext>
    </p:extLst>
  </p:cSld>
</p:sld>
</file>

<file path=ppt/slides/slide3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DC6C4589-A924-4446-9780-0C77976E185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9926FBB9-FCEB-40C5-B9E0-D03C13D67ED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처음 숫자와 클릭 뒤 숫자</a:t>
            </a:r>
          </a:p>
        </p:txBody>
      </p:sp>
      <p:sp>
        <p:nvSpPr>
          <p:cNvPr id="3" name="">
            <a:extLst>
              <a:ext uri="{FF2B5EF4-FFF2-40B4-BE49-F238E27FC236}">
                <ns2:creationId id="{516E6C2A-358A-4735-A767-B484B29CB632}"/>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열기 직후</a:t>
            </a:r>
          </a:p>
        </p:txBody>
      </p:sp>
      <p:sp>
        <p:nvSpPr>
          <p:cNvPr id="4" name="">
            <a:extLst>
              <a:ext uri="{FF2B5EF4-FFF2-40B4-BE49-F238E27FC236}">
                <ns2:creationId id="{0CCB5332-C2B8-449C-BE37-177DE6DEDE10}"/>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HTML에 처음 적힌 숫자부터 확인합니다.</a:t>
            </a:r>
          </a:p>
        </p:txBody>
      </p:sp>
      <p:sp>
        <p:nvSpPr>
          <p:cNvPr id="5" name="">
            <a:extLst>
              <a:ext uri="{FF2B5EF4-FFF2-40B4-BE49-F238E27FC236}">
                <ns2:creationId id="{CE8A6FB7-6AB3-4C25-AEA0-E33307E735C4}"/>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클릭 뒤에는 데이터 파일의 값을 보여 줍니다.</a:t>
            </a:r>
          </a:p>
        </p:txBody>
      </p:sp>
      <p:sp>
        <p:nvSpPr>
          <p:cNvPr id="6" name="">
            <a:extLst>
              <a:ext uri="{FF2B5EF4-FFF2-40B4-BE49-F238E27FC236}">
                <ns2:creationId id="{2C641C81-47C8-4E45-812A-FE784F32D004}"/>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클릭할 때의 동작</a:t>
            </a:r>
          </a:p>
        </p:txBody>
      </p:sp>
      <p:graphicFrame>
        <p:nvGraphicFramePr>
          <p:cNvPr id="19" name=""/>
          <p:cNvGraphicFramePr/>
          <p:nvPr/>
        </p:nvGraphicFramePr>
        <p:xfrm>
          <a:off x="6267450" y="2628900"/>
          <a:ext cx="5238750" cy="2333625"/>
        </p:xfrm>
        <a:graphic>
          <a:graphicData uri="http://schemas.openxmlformats.org/drawingml/2006/table">
            <a:tbl>
              <a:tblPr firstRow="1" bandRow="0"/>
              <a:tblGrid>
                <a:gridCol w="1932078"/>
                <a:gridCol w="3306672"/>
              </a:tblGrid>
              <a:tr h="514350">
                <a:tc>
                  <a:txBody>
                    <a:bodyPr wrap="square"/>
                    <a:lstStyle/>
                    <a:p>
                      <a:pPr>
                        <a:lnSpc>
                          <a:spcPct val="102000"/>
                        </a:lnSpc>
                        <a:buNone/>
                      </a:pPr>
                      <a:r>
                        <a:rPr sz="1875" b="1">
                          <a:solidFill>
                            <a:srgbClr val="172F39"/>
                          </a:solidFill>
                          <a:latin typeface="Noto Sans KR"/>
                          <a:ea typeface="Noto Sans KR"/>
                          <a:cs typeface="Noto Sans KR"/>
                        </a:rPr>
                        <a:t>순서</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확인할 곳</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버튼 찾기</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#check</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표시 자리 찾기</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#temperature</a:t>
                      </a:r>
                    </a:p>
                  </a:txBody>
                  <a:tcPr marL="114300" marR="114300" marT="76200" marB="76200" anchor="ctr">
                    <a:solidFill>
                      <a:srgbClr val="FFFFFF"/>
                    </a:solidFill>
                  </a:tcPr>
                </a:tc>
              </a:tr>
              <a:tr h="790575">
                <a:tc>
                  <a:txBody>
                    <a:bodyPr wrap="square"/>
                    <a:lstStyle/>
                    <a:p>
                      <a:pPr>
                        <a:lnSpc>
                          <a:spcPct val="102000"/>
                        </a:lnSpc>
                        <a:buNone/>
                      </a:pPr>
                      <a:r>
                        <a:rPr sz="1875" b="0">
                          <a:solidFill>
                            <a:srgbClr val="172F39"/>
                          </a:solidFill>
                          <a:latin typeface="Noto Sans KR"/>
                          <a:ea typeface="Noto Sans KR"/>
                          <a:cs typeface="Noto Sans KR"/>
                        </a:rPr>
                        <a:t>클릭</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SENSOR.temperature_c 표시</a:t>
                      </a:r>
                    </a:p>
                  </a:txBody>
                  <a:tcPr marL="114300" marR="114300" marT="76200" marB="76200" anchor="ctr">
                    <a:solidFill>
                      <a:srgbClr val="FFFFFF"/>
                    </a:solidFill>
                  </a:tcPr>
                </a:tc>
              </a:tr>
            </a:tbl>
          </a:graphicData>
        </a:graphic>
      </p:graphicFrame>
      <p:sp>
        <p:nvSpPr>
          <p:cNvPr id="8" name="">
            <a:extLst>
              <a:ext uri="{FF2B5EF4-FFF2-40B4-BE49-F238E27FC236}">
                <ns2:creationId id="{EECD310D-24E9-4C60-96EB-F1B8ED75C28A}"/>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30B412DE-23D1-41DC-BFCE-3631E2BFA93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A8A7B907-93F9-498C-ABCC-D0B4D59F7D5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E2CAF7C6-0050-4301-B85F-FE90C58FAB6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E956A2C1-AF66-4D87-A864-715205CC9AC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039</a:t>
            </a:r>
          </a:p>
        </p:txBody>
      </p:sp>
    </p:spTree>
    <p:extLst>
      <p:ext uri="{BB962C8B-B14F-4D97-AF65-F5344CB8AC3E}">
        <ns4:creationId val="1586480240"/>
      </p:ext>
    </p:extLst>
  </p:cSld>
</p:sld>
</file>

<file path=ppt/slides/slide4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EC5CD156-356E-440C-BB48-03B83B1BB3D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993DD274-CB12-48B0-B0F0-C618141F83C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A07  클릭과 JavaScript</a:t>
            </a:r>
          </a:p>
        </p:txBody>
      </p:sp>
      <p:sp>
        <p:nvSpPr>
          <p:cNvPr id="3" name="">
            <a:extLst>
              <a:ext uri="{FF2B5EF4-FFF2-40B4-BE49-F238E27FC236}">
                <ns2:creationId id="{F81DE7AF-08B9-47F1-B483-50E2AF2C897B}"/>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77E83E5C-404E-4498-9F60-2FA1570CE785}"/>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클릭은 브라우저에서 일어난 사건입니다.</a:t>
            </a:r>
          </a:p>
        </p:txBody>
      </p:sp>
      <p:sp>
        <p:nvSpPr>
          <p:cNvPr id="5" name="">
            <a:extLst>
              <a:ext uri="{FF2B5EF4-FFF2-40B4-BE49-F238E27FC236}">
                <ns2:creationId id="{FF823573-F239-4AAC-AC0C-B35FBC5EFB27}"/>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처리 함수가 화면의 글자를 바꿉니다.</a:t>
            </a:r>
          </a:p>
        </p:txBody>
      </p:sp>
      <p:sp>
        <p:nvSpPr>
          <p:cNvPr id="6" name="">
            <a:extLst>
              <a:ext uri="{FF2B5EF4-FFF2-40B4-BE49-F238E27FC236}">
                <ns2:creationId id="{7E7229CA-6E7C-4F93-9DDD-970AFDB35DDC}"/>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클릭할 때의 동작</a:t>
            </a:r>
          </a:p>
        </p:txBody>
      </p:sp>
      <p:graphicFrame>
        <p:nvGraphicFramePr>
          <p:cNvPr id="19" name=""/>
          <p:cNvGraphicFramePr/>
          <p:nvPr/>
        </p:nvGraphicFramePr>
        <p:xfrm>
          <a:off x="6267450" y="2628900"/>
          <a:ext cx="5238750" cy="2333625"/>
        </p:xfrm>
        <a:graphic>
          <a:graphicData uri="http://schemas.openxmlformats.org/drawingml/2006/table">
            <a:tbl>
              <a:tblPr firstRow="1" bandRow="0"/>
              <a:tblGrid>
                <a:gridCol w="1932078"/>
                <a:gridCol w="3306672"/>
              </a:tblGrid>
              <a:tr h="514350">
                <a:tc>
                  <a:txBody>
                    <a:bodyPr wrap="square"/>
                    <a:lstStyle/>
                    <a:p>
                      <a:pPr>
                        <a:lnSpc>
                          <a:spcPct val="102000"/>
                        </a:lnSpc>
                        <a:buNone/>
                      </a:pPr>
                      <a:r>
                        <a:rPr sz="1875" b="1">
                          <a:solidFill>
                            <a:srgbClr val="172F39"/>
                          </a:solidFill>
                          <a:latin typeface="Noto Sans KR"/>
                          <a:ea typeface="Noto Sans KR"/>
                          <a:cs typeface="Noto Sans KR"/>
                        </a:rPr>
                        <a:t>순서</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확인할 곳</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버튼 찾기</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#check</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표시 자리 찾기</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#temperature</a:t>
                      </a:r>
                    </a:p>
                  </a:txBody>
                  <a:tcPr marL="114300" marR="114300" marT="76200" marB="76200" anchor="ctr">
                    <a:solidFill>
                      <a:srgbClr val="FFFFFF"/>
                    </a:solidFill>
                  </a:tcPr>
                </a:tc>
              </a:tr>
              <a:tr h="790575">
                <a:tc>
                  <a:txBody>
                    <a:bodyPr wrap="square"/>
                    <a:lstStyle/>
                    <a:p>
                      <a:pPr>
                        <a:lnSpc>
                          <a:spcPct val="102000"/>
                        </a:lnSpc>
                        <a:buNone/>
                      </a:pPr>
                      <a:r>
                        <a:rPr sz="1875" b="0">
                          <a:solidFill>
                            <a:srgbClr val="172F39"/>
                          </a:solidFill>
                          <a:latin typeface="Noto Sans KR"/>
                          <a:ea typeface="Noto Sans KR"/>
                          <a:cs typeface="Noto Sans KR"/>
                        </a:rPr>
                        <a:t>클릭</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SENSOR.temperature_c 표시</a:t>
                      </a:r>
                    </a:p>
                  </a:txBody>
                  <a:tcPr marL="114300" marR="114300" marT="76200" marB="76200" anchor="ctr">
                    <a:solidFill>
                      <a:srgbClr val="FFFFFF"/>
                    </a:solidFill>
                  </a:tcPr>
                </a:tc>
              </a:tr>
            </a:tbl>
          </a:graphicData>
        </a:graphic>
      </p:graphicFrame>
      <p:sp>
        <p:nvSpPr>
          <p:cNvPr id="8" name="">
            <a:extLst>
              <a:ext uri="{FF2B5EF4-FFF2-40B4-BE49-F238E27FC236}">
                <ns2:creationId id="{DD5A0370-1E73-4C55-B395-AAE75167A4C2}"/>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0169E56E-B3C8-4460-948C-324DE983B74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D80B6225-29EA-4C4D-8E91-8366826C0F6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F37BB504-013D-4ED2-8A8E-995DEAC5B77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DC1E289E-574C-4709-95D3-6594B8CD414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040</a:t>
            </a:r>
          </a:p>
        </p:txBody>
      </p:sp>
    </p:spTree>
    <p:extLst>
      <p:ext uri="{BB962C8B-B14F-4D97-AF65-F5344CB8AC3E}">
        <ns4:creationId val="782151305"/>
      </p:ext>
    </p:extLst>
  </p:cSld>
</p:sld>
</file>

<file path=ppt/slides/slide4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0" name="">
            <a:extLst>
              <a:ext uri="{FF2B5EF4-FFF2-40B4-BE49-F238E27FC236}">
                <ns2:creationId id="{8845C19A-F777-4294-AC61-74AEE6E3E15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F58A5067-DC4D-4ABF-BE5A-39BD5E17995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클릭과 JavaScript의 예</a:t>
            </a:r>
          </a:p>
        </p:txBody>
      </p:sp>
      <p:sp>
        <p:nvSpPr>
          <p:cNvPr id="3" name="">
            <a:extLst>
              <a:ext uri="{FF2B5EF4-FFF2-40B4-BE49-F238E27FC236}">
                <ns2:creationId id="{1D41498A-1D53-400C-98AD-B6AFE4404AE5}"/>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짧은 동작 예. 같은 id와 SENSOR가 필요합니다.</a:t>
            </a:r>
          </a:p>
        </p:txBody>
      </p:sp>
      <p:sp>
        <p:nvSpPr>
          <p:cNvPr id="4" name="">
            <a:extLst>
              <a:ext uri="{FF2B5EF4-FFF2-40B4-BE49-F238E27FC236}">
                <ns2:creationId id="{8158B8D6-970A-4EAC-A2D8-26529189BE72}"/>
              </a:ext>
            </a:extLst>
          </p:cNvPr>
          <p:cNvSpPr>
            <a:spLocks noGrp="1"/>
          </p:cNvSpPr>
          <p:nvPr/>
        </p:nvSpPr>
        <p:spPr>
          <a:xfrm>
            <a:off x="685800" y="2262188"/>
            <a:ext cx="10820400" cy="1908810"/>
          </a:xfrm>
          <a:prstGeom prst="rect">
            <a:avLst/>
          </a:prstGeom>
          <a:solidFill>
            <a:srgbClr val="F1F6F5"/>
          </a:solidFill>
          <a:ln w="0">
            <a:noFill/>
          </a:ln>
        </p:spPr>
      </p:sp>
      <p:sp>
        <p:nvSpPr>
          <p:cNvPr id="5" name="">
            <a:extLst>
              <a:ext uri="{FF2B5EF4-FFF2-40B4-BE49-F238E27FC236}">
                <ns2:creationId id="{6B77F088-069F-43FA-8777-846027511208}"/>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A00E0D90-A971-41B4-BD6D-815D510361C8}"/>
              </a:ext>
            </a:extLst>
          </p:cNvPr>
          <p:cNvSpPr>
            <a:spLocks noGrp="1"/>
          </p:cNvSpPr>
          <p:nvPr/>
        </p:nvSpPr>
        <p:spPr>
          <a:xfrm>
            <a:off x="1276350" y="238601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const button = document.querySelector("#check");</a:t>
            </a:r>
          </a:p>
        </p:txBody>
      </p:sp>
      <p:sp>
        <p:nvSpPr>
          <p:cNvPr id="7" name="">
            <a:extLst>
              <a:ext uri="{FF2B5EF4-FFF2-40B4-BE49-F238E27FC236}">
                <ns2:creationId id="{099A9A1B-9563-48C4-AD21-A9EE0ADE713D}"/>
              </a:ext>
            </a:extLst>
          </p:cNvPr>
          <p:cNvSpPr>
            <a:spLocks noGrp="1"/>
          </p:cNvSpPr>
          <p:nvPr/>
        </p:nvSpPr>
        <p:spPr>
          <a:xfrm>
            <a:off x="828675" y="2741104"/>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8" name="">
            <a:extLst>
              <a:ext uri="{FF2B5EF4-FFF2-40B4-BE49-F238E27FC236}">
                <ns2:creationId id="{EBA00371-1DBE-4FC9-887A-73097280966D}"/>
              </a:ext>
            </a:extLst>
          </p:cNvPr>
          <p:cNvSpPr>
            <a:spLocks noGrp="1"/>
          </p:cNvSpPr>
          <p:nvPr/>
        </p:nvSpPr>
        <p:spPr>
          <a:xfrm>
            <a:off x="1276350" y="2703004"/>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const value = document.querySelector("#temperature");</a:t>
            </a:r>
          </a:p>
        </p:txBody>
      </p:sp>
      <p:sp>
        <p:nvSpPr>
          <p:cNvPr id="9" name="">
            <a:extLst>
              <a:ext uri="{FF2B5EF4-FFF2-40B4-BE49-F238E27FC236}">
                <ns2:creationId id="{F123D77D-DB66-4F30-AF0A-4C5BBA0BC244}"/>
              </a:ext>
            </a:extLst>
          </p:cNvPr>
          <p:cNvSpPr>
            <a:spLocks noGrp="1"/>
          </p:cNvSpPr>
          <p:nvPr/>
        </p:nvSpPr>
        <p:spPr>
          <a:xfrm>
            <a:off x="828675" y="305809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0" name="">
            <a:extLst>
              <a:ext uri="{FF2B5EF4-FFF2-40B4-BE49-F238E27FC236}">
                <ns2:creationId id="{217C23F9-7B83-4E71-AC87-C3163C7D1D5C}"/>
              </a:ext>
            </a:extLst>
          </p:cNvPr>
          <p:cNvSpPr>
            <a:spLocks noGrp="1"/>
          </p:cNvSpPr>
          <p:nvPr/>
        </p:nvSpPr>
        <p:spPr>
          <a:xfrm>
            <a:off x="1276350" y="301999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button.addEventListener("click", () =&gt; {</a:t>
            </a:r>
          </a:p>
        </p:txBody>
      </p:sp>
      <p:sp>
        <p:nvSpPr>
          <p:cNvPr id="11" name="">
            <a:extLst>
              <a:ext uri="{FF2B5EF4-FFF2-40B4-BE49-F238E27FC236}">
                <ns2:creationId id="{BBBA533D-56A1-4293-B846-11ADDE9EE5F0}"/>
              </a:ext>
            </a:extLst>
          </p:cNvPr>
          <p:cNvSpPr>
            <a:spLocks noGrp="1"/>
          </p:cNvSpPr>
          <p:nvPr/>
        </p:nvSpPr>
        <p:spPr>
          <a:xfrm>
            <a:off x="828675" y="337508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2" name="">
            <a:extLst>
              <a:ext uri="{FF2B5EF4-FFF2-40B4-BE49-F238E27FC236}">
                <ns2:creationId id="{2AAEB318-657A-45DC-B804-4A1C7179937D}"/>
              </a:ext>
            </a:extLst>
          </p:cNvPr>
          <p:cNvSpPr>
            <a:spLocks noGrp="1"/>
          </p:cNvSpPr>
          <p:nvPr/>
        </p:nvSpPr>
        <p:spPr>
          <a:xfrm>
            <a:off x="1276350" y="333698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value.textContent = window.SENSOR.temperature_c;</a:t>
            </a:r>
          </a:p>
        </p:txBody>
      </p:sp>
      <p:sp>
        <p:nvSpPr>
          <p:cNvPr id="13" name="">
            <a:extLst>
              <a:ext uri="{FF2B5EF4-FFF2-40B4-BE49-F238E27FC236}">
                <ns2:creationId id="{11677372-CACF-4D1F-BCDF-A416F1F8512B}"/>
              </a:ext>
            </a:extLst>
          </p:cNvPr>
          <p:cNvSpPr>
            <a:spLocks noGrp="1"/>
          </p:cNvSpPr>
          <p:nvPr/>
        </p:nvSpPr>
        <p:spPr>
          <a:xfrm>
            <a:off x="828675" y="369208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4" name="">
            <a:extLst>
              <a:ext uri="{FF2B5EF4-FFF2-40B4-BE49-F238E27FC236}">
                <ns2:creationId id="{01FD0425-5B37-470D-8C41-BBE5B981C03C}"/>
              </a:ext>
            </a:extLst>
          </p:cNvPr>
          <p:cNvSpPr>
            <a:spLocks noGrp="1"/>
          </p:cNvSpPr>
          <p:nvPr/>
        </p:nvSpPr>
        <p:spPr>
          <a:xfrm>
            <a:off x="1276350" y="365398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a:t>
            </a:r>
          </a:p>
        </p:txBody>
      </p:sp>
      <p:sp>
        <p:nvSpPr>
          <p:cNvPr id="15" name="">
            <a:extLst>
              <a:ext uri="{FF2B5EF4-FFF2-40B4-BE49-F238E27FC236}">
                <ns2:creationId id="{773858B0-8F0B-4C5F-A6B6-6156492AC433}"/>
              </a:ext>
            </a:extLst>
          </p:cNvPr>
          <p:cNvSpPr>
            <a:spLocks noGrp="1"/>
          </p:cNvSpPr>
          <p:nvPr/>
        </p:nvSpPr>
        <p:spPr>
          <a:xfrm>
            <a:off x="685800" y="6172200"/>
            <a:ext cx="10820400" cy="9525"/>
          </a:xfrm>
          <a:prstGeom prst="rect">
            <a:avLst/>
          </a:prstGeom>
          <a:solidFill>
            <a:srgbClr val="D5DEDD"/>
          </a:solidFill>
          <a:ln w="0">
            <a:noFill/>
          </a:ln>
        </p:spPr>
      </p:sp>
      <p:sp>
        <p:nvSpPr>
          <p:cNvPr id="16" name="">
            <a:extLst>
              <a:ext uri="{FF2B5EF4-FFF2-40B4-BE49-F238E27FC236}">
                <ns2:creationId id="{4A1AA56E-A668-49E2-ABCE-6E60351AF99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7" name="">
            <a:extLst>
              <a:ext uri="{FF2B5EF4-FFF2-40B4-BE49-F238E27FC236}">
                <ns2:creationId id="{C5EDF1DB-8E97-4EC3-A4EC-328B1C5EADD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8" name="">
            <a:extLst>
              <a:ext uri="{FF2B5EF4-FFF2-40B4-BE49-F238E27FC236}">
                <ns2:creationId id="{1BC1EE33-5DD4-4387-A523-40C90196981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9" name="">
            <a:extLst>
              <a:ext uri="{FF2B5EF4-FFF2-40B4-BE49-F238E27FC236}">
                <ns2:creationId id="{EF41FC60-1EFB-42EB-BF00-E5A9B3D9783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041</a:t>
            </a:r>
          </a:p>
        </p:txBody>
      </p:sp>
    </p:spTree>
    <p:extLst>
      <p:ext uri="{BB962C8B-B14F-4D97-AF65-F5344CB8AC3E}">
        <ns4:creationId val="1622427936"/>
      </p:ext>
    </p:extLst>
  </p:cSld>
</p:sld>
</file>

<file path=ppt/slides/slide4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962F2764-F99C-4A7D-BA9A-762ED69D4A5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FA4E1822-F761-45EF-B031-2C9B4C3450C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클릭할 때 실행되는 코드</a:t>
            </a:r>
          </a:p>
        </p:txBody>
      </p:sp>
      <p:sp>
        <p:nvSpPr>
          <p:cNvPr id="3" name="">
            <a:extLst>
              <a:ext uri="{FF2B5EF4-FFF2-40B4-BE49-F238E27FC236}">
                <ns2:creationId id="{521A41E9-DBEF-4916-921B-B6A89CA53F55}"/>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AC359A50-2D37-498A-9370-9E002360B696}"/>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querySelector로 화면 요소를 찾습니다.</a:t>
            </a:r>
          </a:p>
        </p:txBody>
      </p:sp>
      <p:sp>
        <p:nvSpPr>
          <p:cNvPr id="5" name="">
            <a:extLst>
              <a:ext uri="{FF2B5EF4-FFF2-40B4-BE49-F238E27FC236}">
                <ns2:creationId id="{75958DCD-8619-454A-8CC1-9FA7ABA56D70}"/>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click 처리 안의 문장은 클릭할 때 실행됩니다.</a:t>
            </a:r>
          </a:p>
        </p:txBody>
      </p:sp>
      <p:sp>
        <p:nvSpPr>
          <p:cNvPr id="6" name="">
            <a:extLst>
              <a:ext uri="{FF2B5EF4-FFF2-40B4-BE49-F238E27FC236}">
                <ns2:creationId id="{9BFDC15A-8A6B-4F35-8049-665123AB10DF}"/>
              </a:ext>
            </a:extLst>
          </p:cNvPr>
          <p:cNvSpPr>
            <a:spLocks noGrp="1"/>
          </p:cNvSpPr>
          <p:nvPr/>
        </p:nvSpPr>
        <p:spPr>
          <a:xfrm>
            <a:off x="685800" y="403479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textContent가 화면 글자를 바꿉니다.</a:t>
            </a:r>
          </a:p>
        </p:txBody>
      </p:sp>
      <p:sp>
        <p:nvSpPr>
          <p:cNvPr id="7" name="">
            <a:extLst>
              <a:ext uri="{FF2B5EF4-FFF2-40B4-BE49-F238E27FC236}">
                <ns2:creationId id="{CDB05F80-250F-4E9F-A874-D832E8E99540}"/>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클릭 코드에서 찾는 값</a:t>
            </a:r>
          </a:p>
        </p:txBody>
      </p:sp>
      <p:graphicFrame>
        <p:nvGraphicFramePr>
          <p:cNvPr id="21" name=""/>
          <p:cNvGraphicFramePr/>
          <p:nvPr/>
        </p:nvGraphicFramePr>
        <p:xfrm>
          <a:off x="6267450" y="2628900"/>
          <a:ext cx="5238750" cy="2057400"/>
        </p:xfrm>
        <a:graphic>
          <a:graphicData uri="http://schemas.openxmlformats.org/drawingml/2006/table">
            <a:tbl>
              <a:tblPr firstRow="1" bandRow="0"/>
              <a:tblGrid>
                <a:gridCol w="2993269"/>
                <a:gridCol w="2245481"/>
              </a:tblGrid>
              <a:tr h="514350">
                <a:tc>
                  <a:txBody>
                    <a:bodyPr wrap="square"/>
                    <a:lstStyle/>
                    <a:p>
                      <a:pPr>
                        <a:lnSpc>
                          <a:spcPct val="102000"/>
                        </a:lnSpc>
                        <a:buNone/>
                      </a:pPr>
                      <a:r>
                        <a:rPr sz="1875" b="1">
                          <a:solidFill>
                            <a:srgbClr val="172F39"/>
                          </a:solidFill>
                          <a:latin typeface="Noto Sans KR"/>
                          <a:ea typeface="Noto Sans KR"/>
                          <a:cs typeface="Noto Sans KR"/>
                        </a:rPr>
                        <a:t>부분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역할</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#check</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누를 버튼</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#temperature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값을 표시할 자리</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SENSOR.temperature_c</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클릭 뒤 넣을 값</a:t>
                      </a:r>
                    </a:p>
                  </a:txBody>
                  <a:tcPr marL="114300" marR="114300" marT="76200" marB="76200" anchor="ctr">
                    <a:solidFill>
                      <a:srgbClr val="FFFFFF"/>
                    </a:solidFill>
                  </a:tcPr>
                </a:tc>
              </a:tr>
            </a:tbl>
          </a:graphicData>
        </a:graphic>
      </p:graphicFrame>
      <p:sp>
        <p:nvSpPr>
          <p:cNvPr id="9" name="">
            <a:extLst>
              <a:ext uri="{FF2B5EF4-FFF2-40B4-BE49-F238E27FC236}">
                <ns2:creationId id="{C4755F14-7110-49A1-B98E-8C0565986BF2}"/>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9BC00A3F-5535-40D5-A889-4640643921D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3276BD99-90D7-49F2-B1AA-CB6136F81BB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9B477E12-3F6B-4261-8C14-F98650895B9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C9FD52B1-7471-4565-9FCB-BC174447005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042</a:t>
            </a:r>
          </a:p>
        </p:txBody>
      </p:sp>
    </p:spTree>
    <p:extLst>
      <p:ext uri="{BB962C8B-B14F-4D97-AF65-F5344CB8AC3E}">
        <ns4:creationId val="984429544"/>
      </p:ext>
    </p:extLst>
  </p:cSld>
</p:sld>
</file>

<file path=ppt/slides/slide4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A5E05A5D-C338-401B-8572-829629869B3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0899D588-66EA-4C50-A9D1-042E0945542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버튼 뒤 변화</a:t>
            </a:r>
          </a:p>
        </p:txBody>
      </p:sp>
      <p:sp>
        <p:nvSpPr>
          <p:cNvPr id="3" name="">
            <a:extLst>
              <a:ext uri="{FF2B5EF4-FFF2-40B4-BE49-F238E27FC236}">
                <ns2:creationId id="{7EB074D8-522A-4330-84E7-F3943B2050AD}"/>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클릭 뒤 화면 표시</a:t>
            </a:r>
          </a:p>
        </p:txBody>
      </p:sp>
      <p:sp>
        <p:nvSpPr>
          <p:cNvPr id="4" name="">
            <a:extLst>
              <a:ext uri="{FF2B5EF4-FFF2-40B4-BE49-F238E27FC236}">
                <ns2:creationId id="{06F8D87D-8027-482B-96E3-97B9F1FC0CD7}"/>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클릭하면 제공 데이터의 온도가 보입니다.</a:t>
            </a:r>
          </a:p>
        </p:txBody>
      </p:sp>
      <p:sp>
        <p:nvSpPr>
          <p:cNvPr id="5" name="">
            <a:extLst>
              <a:ext uri="{FF2B5EF4-FFF2-40B4-BE49-F238E27FC236}">
                <ns2:creationId id="{C7947324-D41E-4DBB-8B70-A3B219DEF59E}"/>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파일에 남는 값</a:t>
            </a:r>
          </a:p>
        </p:txBody>
      </p:sp>
      <p:sp>
        <p:nvSpPr>
          <p:cNvPr id="6" name="">
            <a:extLst>
              <a:ext uri="{FF2B5EF4-FFF2-40B4-BE49-F238E27FC236}">
                <ns2:creationId id="{C769E61B-42F1-4A1F-9E95-06FF21DD6CC7}"/>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파일에 온도가 저장되는 것은 아닙니다.</a:t>
            </a:r>
          </a:p>
        </p:txBody>
      </p:sp>
      <p:sp>
        <p:nvSpPr>
          <p:cNvPr id="7" name="">
            <a:extLst>
              <a:ext uri="{FF2B5EF4-FFF2-40B4-BE49-F238E27FC236}">
                <ns2:creationId id="{9D23729F-39E0-4B60-8A06-7DF95A01AADF}"/>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8FD1DBD7-4864-4E9C-BDA5-C425E92A234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D6E5A20F-BCFA-4012-9BC1-13D06128610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FC2C302D-8C9F-4E18-8565-EAC0A54ADE6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1D7DED9E-BFC5-407A-B66D-9BA9EE963665}"/>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043</a:t>
            </a:r>
          </a:p>
        </p:txBody>
      </p:sp>
    </p:spTree>
    <p:extLst>
      <p:ext uri="{BB962C8B-B14F-4D97-AF65-F5344CB8AC3E}">
        <ns4:creationId val="35769264"/>
      </p:ext>
    </p:extLst>
  </p:cSld>
</p:sld>
</file>

<file path=ppt/slides/slide4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189047D0-F230-4719-BAD8-4F375BC6A5E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2DA18CE8-6D8A-4104-803B-77FC6453797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클릭 복구</a:t>
            </a:r>
          </a:p>
        </p:txBody>
      </p:sp>
      <p:sp>
        <p:nvSpPr>
          <p:cNvPr id="3" name="">
            <a:extLst>
              <a:ext uri="{FF2B5EF4-FFF2-40B4-BE49-F238E27FC236}">
                <ns2:creationId id="{A9D17D1C-89F5-4A08-B1B3-0BE0B55DE025}"/>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1">
                <a:solidFill>
                  <a:srgbClr val="172F39"/>
                </a:solidFill>
                <a:latin typeface="Noto Sans KR"/>
                <a:ea typeface="Noto Sans KR"/>
                <a:cs typeface="Noto Sans KR"/>
              </a:defRPr>
            </a:pPr>
            <a:r>
              <a:t>버튼이 반응하지 않으면 무엇을 대조하나요?</a:t>
            </a:r>
          </a:p>
        </p:txBody>
      </p:sp>
      <p:sp>
        <p:nvSpPr>
          <p:cNvPr id="4" name="">
            <a:extLst>
              <a:ext uri="{FF2B5EF4-FFF2-40B4-BE49-F238E27FC236}">
                <ns2:creationId id="{813B7C1E-64B1-4A9B-872B-5049394C2AF7}"/>
              </a:ext>
            </a:extLst>
          </p:cNvPr>
          <p:cNvSpPr>
            <a:spLocks noGrp="1"/>
          </p:cNvSpPr>
          <p:nvPr/>
        </p:nvSpPr>
        <p:spPr>
          <a:xfrm>
            <a:off x="685800" y="2728722"/>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5" name="">
            <a:extLst>
              <a:ext uri="{FF2B5EF4-FFF2-40B4-BE49-F238E27FC236}">
                <ns2:creationId id="{821D9203-6630-4E7E-823B-2FC0F9D30441}"/>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B0490515-50F9-4210-B7D0-F3D7F153B4C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9E7E3887-C373-4DC0-87A9-EB8F2AF887D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06948A52-A16E-4B70-817B-92B53656816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14DF5528-4A4F-480B-A69A-AE242914CEA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044</a:t>
            </a:r>
          </a:p>
        </p:txBody>
      </p:sp>
    </p:spTree>
    <p:extLst>
      <p:ext uri="{BB962C8B-B14F-4D97-AF65-F5344CB8AC3E}">
        <ns4:creationId val="1738241469"/>
      </p:ext>
    </p:extLst>
  </p:cSld>
</p:sld>
</file>

<file path=ppt/slides/slide4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343E2695-300B-487D-A376-F1FA5AB7EDA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F612AED9-D68A-488C-B880-95E11CF1791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A08  데이터와 초기 글자</a:t>
            </a:r>
          </a:p>
        </p:txBody>
      </p:sp>
      <p:sp>
        <p:nvSpPr>
          <p:cNvPr id="3" name="">
            <a:extLst>
              <a:ext uri="{FF2B5EF4-FFF2-40B4-BE49-F238E27FC236}">
                <ns2:creationId id="{D8B86DE5-BF9F-4F47-9BBE-CCDFA4531EB0}"/>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0F763038-E759-4ED4-B27A-D29059D812F9}"/>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HTML의 처음 숫자와 데이터 값은 다릅니다.</a:t>
            </a:r>
          </a:p>
        </p:txBody>
      </p:sp>
      <p:sp>
        <p:nvSpPr>
          <p:cNvPr id="5" name="">
            <a:extLst>
              <a:ext uri="{FF2B5EF4-FFF2-40B4-BE49-F238E27FC236}">
                <ns2:creationId id="{84E175C0-207C-4A89-8D3B-4953F3FD38D0}"/>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버튼이 data.js의 값을 읽어 표시합니다.</a:t>
            </a:r>
          </a:p>
        </p:txBody>
      </p:sp>
      <p:sp>
        <p:nvSpPr>
          <p:cNvPr id="6" name="">
            <a:extLst>
              <a:ext uri="{FF2B5EF4-FFF2-40B4-BE49-F238E27FC236}">
                <ns2:creationId id="{E6A22518-93DE-48BF-97B5-C2DCD10BA084}"/>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수정 연습의 두 시점</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3875675"/>
                <a:gridCol w="1363075"/>
              </a:tblGrid>
              <a:tr h="514350">
                <a:tc>
                  <a:txBody>
                    <a:bodyPr wrap="square"/>
                    <a:lstStyle/>
                    <a:p>
                      <a:pPr>
                        <a:lnSpc>
                          <a:spcPct val="102000"/>
                        </a:lnSpc>
                        <a:buNone/>
                      </a:pPr>
                      <a:r>
                        <a:rPr sz="1875" b="1">
                          <a:solidFill>
                            <a:srgbClr val="172F39"/>
                          </a:solidFill>
                          <a:latin typeface="Noto Sans KR"/>
                          <a:ea typeface="Noto Sans KR"/>
                          <a:cs typeface="Noto Sans KR"/>
                        </a:rPr>
                        <a:t>시점</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표시값</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HTML 열기</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22.5</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data.js를 26으로 수정 후 클릭</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26</a:t>
                      </a:r>
                    </a:p>
                  </a:txBody>
                  <a:tcPr marL="114300" marR="114300" marT="76200" marB="76200" anchor="ctr">
                    <a:solidFill>
                      <a:srgbClr val="FFFFFF"/>
                    </a:solidFill>
                  </a:tcPr>
                </a:tc>
              </a:tr>
            </a:tbl>
          </a:graphicData>
        </a:graphic>
      </p:graphicFrame>
      <p:sp>
        <p:nvSpPr>
          <p:cNvPr id="8" name="">
            <a:extLst>
              <a:ext uri="{FF2B5EF4-FFF2-40B4-BE49-F238E27FC236}">
                <ns2:creationId id="{B2A78AD6-C2F2-4004-81B0-2E722B8BC702}"/>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68E3455B-4CA0-4699-8D9C-53DAA76DB4C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3DAD129C-65D6-48E2-AEC8-FB63AC0BB7C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2FE48820-EF5B-41C8-A9C1-5718CBED90B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CF12E7AE-59F2-46A0-B83D-49F83382E1F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045</a:t>
            </a:r>
          </a:p>
        </p:txBody>
      </p:sp>
    </p:spTree>
    <p:extLst>
      <p:ext uri="{BB962C8B-B14F-4D97-AF65-F5344CB8AC3E}">
        <ns4:creationId val="1765588248"/>
      </p:ext>
    </p:extLst>
  </p:cSld>
</p:sld>
</file>

<file path=ppt/slides/slide4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1" name="">
            <a:extLst>
              <a:ext uri="{FF2B5EF4-FFF2-40B4-BE49-F238E27FC236}">
                <ns2:creationId id="{2C64ADDA-2971-40E6-ABA5-CBDDDA75417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B5082096-02C8-456E-900B-F9E866945AE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데이터와 초기 글자의 예</a:t>
            </a:r>
          </a:p>
        </p:txBody>
      </p:sp>
      <p:sp>
        <p:nvSpPr>
          <p:cNvPr id="3" name="">
            <a:extLst>
              <a:ext uri="{FF2B5EF4-FFF2-40B4-BE49-F238E27FC236}">
                <ns2:creationId id="{699C5B29-0709-4CCE-B456-25B1C2C4477E}"/>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짧은 완성 데이터 파일: data.js</a:t>
            </a:r>
          </a:p>
        </p:txBody>
      </p:sp>
      <p:sp>
        <p:nvSpPr>
          <p:cNvPr id="4" name="">
            <a:extLst>
              <a:ext uri="{FF2B5EF4-FFF2-40B4-BE49-F238E27FC236}">
                <ns2:creationId id="{C27718EB-87D4-4A8E-96FB-4661FD3A8F59}"/>
              </a:ext>
            </a:extLst>
          </p:cNvPr>
          <p:cNvSpPr>
            <a:spLocks noGrp="1"/>
          </p:cNvSpPr>
          <p:nvPr/>
        </p:nvSpPr>
        <p:spPr>
          <a:xfrm>
            <a:off x="685800" y="2262188"/>
            <a:ext cx="6953250" cy="1591818"/>
          </a:xfrm>
          <a:prstGeom prst="rect">
            <a:avLst/>
          </a:prstGeom>
          <a:solidFill>
            <a:srgbClr val="F1F6F5"/>
          </a:solidFill>
          <a:ln w="0">
            <a:noFill/>
          </a:ln>
        </p:spPr>
      </p:sp>
      <p:sp>
        <p:nvSpPr>
          <p:cNvPr id="5" name="">
            <a:extLst>
              <a:ext uri="{FF2B5EF4-FFF2-40B4-BE49-F238E27FC236}">
                <ns2:creationId id="{9D2ADE0B-B248-418C-883E-2491D42829EE}"/>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1AFD76F7-7C11-42BB-802A-F7298FDCEA14}"/>
              </a:ext>
            </a:extLst>
          </p:cNvPr>
          <p:cNvSpPr>
            <a:spLocks noGrp="1"/>
          </p:cNvSpPr>
          <p:nvPr/>
        </p:nvSpPr>
        <p:spPr>
          <a:xfrm>
            <a:off x="1276350" y="2386013"/>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window.SENSOR = {</a:t>
            </a:r>
          </a:p>
        </p:txBody>
      </p:sp>
      <p:sp>
        <p:nvSpPr>
          <p:cNvPr id="7" name="">
            <a:extLst>
              <a:ext uri="{FF2B5EF4-FFF2-40B4-BE49-F238E27FC236}">
                <ns2:creationId id="{A90A4160-270D-40B7-BD1F-41185D026AB6}"/>
              </a:ext>
            </a:extLst>
          </p:cNvPr>
          <p:cNvSpPr>
            <a:spLocks noGrp="1"/>
          </p:cNvSpPr>
          <p:nvPr/>
        </p:nvSpPr>
        <p:spPr>
          <a:xfrm>
            <a:off x="828675" y="2741104"/>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8" name="">
            <a:extLst>
              <a:ext uri="{FF2B5EF4-FFF2-40B4-BE49-F238E27FC236}">
                <ns2:creationId id="{61BCB314-1B01-480D-A5CF-7B83F4B11087}"/>
              </a:ext>
            </a:extLst>
          </p:cNvPr>
          <p:cNvSpPr>
            <a:spLocks noGrp="1"/>
          </p:cNvSpPr>
          <p:nvPr/>
        </p:nvSpPr>
        <p:spPr>
          <a:xfrm>
            <a:off x="1276350" y="2703004"/>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location: "입구",</a:t>
            </a:r>
          </a:p>
        </p:txBody>
      </p:sp>
      <p:sp>
        <p:nvSpPr>
          <p:cNvPr id="9" name="">
            <a:extLst>
              <a:ext uri="{FF2B5EF4-FFF2-40B4-BE49-F238E27FC236}">
                <ns2:creationId id="{28707665-8E25-4052-8AE9-8290926AEBFF}"/>
              </a:ext>
            </a:extLst>
          </p:cNvPr>
          <p:cNvSpPr>
            <a:spLocks noGrp="1"/>
          </p:cNvSpPr>
          <p:nvPr/>
        </p:nvSpPr>
        <p:spPr>
          <a:xfrm>
            <a:off x="828675" y="305809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0" name="">
            <a:extLst>
              <a:ext uri="{FF2B5EF4-FFF2-40B4-BE49-F238E27FC236}">
                <ns2:creationId id="{4B548849-30E3-4B99-8322-D46ED52A7699}"/>
              </a:ext>
            </a:extLst>
          </p:cNvPr>
          <p:cNvSpPr>
            <a:spLocks noGrp="1"/>
          </p:cNvSpPr>
          <p:nvPr/>
        </p:nvSpPr>
        <p:spPr>
          <a:xfrm>
            <a:off x="1276350" y="3019997"/>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temperature_c: 26</a:t>
            </a:r>
          </a:p>
        </p:txBody>
      </p:sp>
      <p:sp>
        <p:nvSpPr>
          <p:cNvPr id="11" name="">
            <a:extLst>
              <a:ext uri="{FF2B5EF4-FFF2-40B4-BE49-F238E27FC236}">
                <ns2:creationId id="{8D296100-54E1-40E0-8620-A00C87C3EB35}"/>
              </a:ext>
            </a:extLst>
          </p:cNvPr>
          <p:cNvSpPr>
            <a:spLocks noGrp="1"/>
          </p:cNvSpPr>
          <p:nvPr/>
        </p:nvSpPr>
        <p:spPr>
          <a:xfrm>
            <a:off x="828675" y="337508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2" name="">
            <a:extLst>
              <a:ext uri="{FF2B5EF4-FFF2-40B4-BE49-F238E27FC236}">
                <ns2:creationId id="{C5A14309-6585-4812-8154-E1D9A0B7E0A1}"/>
              </a:ext>
            </a:extLst>
          </p:cNvPr>
          <p:cNvSpPr>
            <a:spLocks noGrp="1"/>
          </p:cNvSpPr>
          <p:nvPr/>
        </p:nvSpPr>
        <p:spPr>
          <a:xfrm>
            <a:off x="1276350" y="3336989"/>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a:t>
            </a:r>
          </a:p>
        </p:txBody>
      </p:sp>
      <p:sp>
        <p:nvSpPr>
          <p:cNvPr id="13" name="">
            <a:extLst>
              <a:ext uri="{FF2B5EF4-FFF2-40B4-BE49-F238E27FC236}">
                <ns2:creationId id="{377051AB-377D-4764-8645-C76782B65760}"/>
              </a:ext>
            </a:extLst>
          </p:cNvPr>
          <p:cNvSpPr>
            <a:spLocks noGrp="1"/>
          </p:cNvSpPr>
          <p:nvPr/>
        </p:nvSpPr>
        <p:spPr>
          <a:xfrm>
            <a:off x="8143875" y="2281238"/>
            <a:ext cx="3333750" cy="4095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실행 결과</a:t>
            </a:r>
          </a:p>
        </p:txBody>
      </p:sp>
      <p:sp>
        <p:nvSpPr>
          <p:cNvPr id="14" name="">
            <a:extLst>
              <a:ext uri="{FF2B5EF4-FFF2-40B4-BE49-F238E27FC236}">
                <ns2:creationId id="{658E0BC7-44E7-40EC-8062-59862146D54F}"/>
              </a:ext>
            </a:extLst>
          </p:cNvPr>
          <p:cNvSpPr>
            <a:spLocks noGrp="1"/>
          </p:cNvSpPr>
          <p:nvPr/>
        </p:nvSpPr>
        <p:spPr>
          <a:xfrm>
            <a:off x="8143875" y="2862263"/>
            <a:ext cx="3333750" cy="721233"/>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처음 HTML이 22.5면 열기 직후도 22.5입니다.</a:t>
            </a:r>
          </a:p>
        </p:txBody>
      </p:sp>
      <p:sp>
        <p:nvSpPr>
          <p:cNvPr id="15" name="">
            <a:extLst>
              <a:ext uri="{FF2B5EF4-FFF2-40B4-BE49-F238E27FC236}">
                <ns2:creationId id="{AA72D010-A514-469E-B57D-3E79A7CFD334}"/>
              </a:ext>
            </a:extLst>
          </p:cNvPr>
          <p:cNvSpPr>
            <a:spLocks noGrp="1"/>
          </p:cNvSpPr>
          <p:nvPr/>
        </p:nvSpPr>
        <p:spPr>
          <a:xfrm>
            <a:off x="8143875" y="3631121"/>
            <a:ext cx="3333750" cy="721233"/>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클릭 뒤 데이터 26을 표시합니다.</a:t>
            </a:r>
          </a:p>
        </p:txBody>
      </p:sp>
      <p:sp>
        <p:nvSpPr>
          <p:cNvPr id="16" name="">
            <a:extLst>
              <a:ext uri="{FF2B5EF4-FFF2-40B4-BE49-F238E27FC236}">
                <ns2:creationId id="{DFB9CEC8-2C70-4765-A180-E7D428DFBA4B}"/>
              </a:ext>
            </a:extLst>
          </p:cNvPr>
          <p:cNvSpPr>
            <a:spLocks noGrp="1"/>
          </p:cNvSpPr>
          <p:nvPr/>
        </p:nvSpPr>
        <p:spPr>
          <a:xfrm>
            <a:off x="685800" y="6172200"/>
            <a:ext cx="10820400" cy="9525"/>
          </a:xfrm>
          <a:prstGeom prst="rect">
            <a:avLst/>
          </a:prstGeom>
          <a:solidFill>
            <a:srgbClr val="D5DEDD"/>
          </a:solidFill>
          <a:ln w="0">
            <a:noFill/>
          </a:ln>
        </p:spPr>
      </p:sp>
      <p:sp>
        <p:nvSpPr>
          <p:cNvPr id="17" name="">
            <a:extLst>
              <a:ext uri="{FF2B5EF4-FFF2-40B4-BE49-F238E27FC236}">
                <ns2:creationId id="{6450A1CD-6F7D-4483-99C2-9463DCF4019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8" name="">
            <a:extLst>
              <a:ext uri="{FF2B5EF4-FFF2-40B4-BE49-F238E27FC236}">
                <ns2:creationId id="{494BACED-2945-48D6-8B56-AF5F9DAADB7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9" name="">
            <a:extLst>
              <a:ext uri="{FF2B5EF4-FFF2-40B4-BE49-F238E27FC236}">
                <ns2:creationId id="{D8395087-D62F-4747-A3E5-E5242369979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0" name="">
            <a:extLst>
              <a:ext uri="{FF2B5EF4-FFF2-40B4-BE49-F238E27FC236}">
                <ns2:creationId id="{88FB72E7-0C14-4AA4-874B-985280CBE0B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046</a:t>
            </a:r>
          </a:p>
        </p:txBody>
      </p:sp>
    </p:spTree>
    <p:extLst>
      <p:ext uri="{BB962C8B-B14F-4D97-AF65-F5344CB8AC3E}">
        <ns4:creationId val="1076716444"/>
      </p:ext>
    </p:extLst>
  </p:cSld>
</p:sld>
</file>

<file path=ppt/slides/slide4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2" name="">
            <a:extLst>
              <a:ext uri="{FF2B5EF4-FFF2-40B4-BE49-F238E27FC236}">
                <ns2:creationId id="{35CF94EF-7A26-4466-B372-FF60F6D41B13}"/>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B91AF8B7-2C21-4939-A552-E5B27E8D23A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데이터 파일 읽기</a:t>
            </a:r>
          </a:p>
        </p:txBody>
      </p:sp>
      <p:sp>
        <p:nvSpPr>
          <p:cNvPr id="3" name="">
            <a:extLst>
              <a:ext uri="{FF2B5EF4-FFF2-40B4-BE49-F238E27FC236}">
                <ns2:creationId id="{E1D9FA15-67EF-413C-A9EB-77AC9550120F}"/>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CEB3D9C7-0625-447C-8330-F4E3E9DEA100}"/>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window.SENSOR에 값을 모아 둡니다.</a:t>
            </a:r>
          </a:p>
        </p:txBody>
      </p:sp>
      <p:sp>
        <p:nvSpPr>
          <p:cNvPr id="5" name="">
            <a:extLst>
              <a:ext uri="{FF2B5EF4-FFF2-40B4-BE49-F238E27FC236}">
                <ns2:creationId id="{6B13A67D-EB28-4883-A1BB-416CC9D6EA92}"/>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temperature_c는 온도 값의 이름입니다.</a:t>
            </a:r>
          </a:p>
        </p:txBody>
      </p:sp>
      <p:sp>
        <p:nvSpPr>
          <p:cNvPr id="6" name="">
            <a:extLst>
              <a:ext uri="{FF2B5EF4-FFF2-40B4-BE49-F238E27FC236}">
                <ns2:creationId id="{007361D3-FE8C-47D8-B5C5-2551EEAD06D8}"/>
              </a:ext>
            </a:extLst>
          </p:cNvPr>
          <p:cNvSpPr>
            <a:spLocks noGrp="1"/>
          </p:cNvSpPr>
          <p:nvPr/>
        </p:nvSpPr>
        <p:spPr>
          <a:xfrm>
            <a:off x="685800" y="369760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문자는 따옴표로, 숫자는 그대로 적습니다.</a:t>
            </a:r>
          </a:p>
        </p:txBody>
      </p:sp>
      <p:sp>
        <p:nvSpPr>
          <p:cNvPr id="7" name="">
            <a:extLst>
              <a:ext uri="{FF2B5EF4-FFF2-40B4-BE49-F238E27FC236}">
                <ns2:creationId id="{8E0925ED-F53D-4DC3-8531-1442012BE07A}"/>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46장의 실제 예제 다시 읽기</a:t>
            </a:r>
          </a:p>
        </p:txBody>
      </p:sp>
      <p:sp>
        <p:nvSpPr>
          <p:cNvPr id="8" name="">
            <a:extLst>
              <a:ext uri="{FF2B5EF4-FFF2-40B4-BE49-F238E27FC236}">
                <ns2:creationId id="{2B78B237-17D4-4EAB-8CD1-F95004677BA7}"/>
              </a:ext>
            </a:extLst>
          </p:cNvPr>
          <p:cNvSpPr>
            <a:spLocks noGrp="1"/>
          </p:cNvSpPr>
          <p:nvPr/>
        </p:nvSpPr>
        <p:spPr>
          <a:xfrm>
            <a:off x="6267450" y="2628900"/>
            <a:ext cx="5238750" cy="1494282"/>
          </a:xfrm>
          <a:prstGeom prst="rect">
            <a:avLst/>
          </a:prstGeom>
          <a:solidFill>
            <a:srgbClr val="F1F6F5"/>
          </a:solidFill>
          <a:ln w="0">
            <a:noFill/>
          </a:ln>
        </p:spPr>
      </p:sp>
      <p:sp>
        <p:nvSpPr>
          <p:cNvPr id="9" name="">
            <a:extLst>
              <a:ext uri="{FF2B5EF4-FFF2-40B4-BE49-F238E27FC236}">
                <ns2:creationId id="{6CB5E2EA-8175-4356-A28F-C8EF4DB1F4EC}"/>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10" name="">
            <a:extLst>
              <a:ext uri="{FF2B5EF4-FFF2-40B4-BE49-F238E27FC236}">
                <ns2:creationId id="{D476A89B-D644-42C4-9F7E-E2E3CA851E5E}"/>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window.SENSOR = {</a:t>
            </a:r>
          </a:p>
        </p:txBody>
      </p:sp>
      <p:sp>
        <p:nvSpPr>
          <p:cNvPr id="11" name="">
            <a:extLst>
              <a:ext uri="{FF2B5EF4-FFF2-40B4-BE49-F238E27FC236}">
                <ns2:creationId id="{D092D92E-8C31-48B0-8C05-C18B052DEA4B}"/>
              </a:ext>
            </a:extLst>
          </p:cNvPr>
          <p:cNvSpPr>
            <a:spLocks noGrp="1"/>
          </p:cNvSpPr>
          <p:nvPr/>
        </p:nvSpPr>
        <p:spPr>
          <a:xfrm>
            <a:off x="6410325" y="308343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12" name="">
            <a:extLst>
              <a:ext uri="{FF2B5EF4-FFF2-40B4-BE49-F238E27FC236}">
                <ns2:creationId id="{BE770CEE-A968-4A67-A3F2-A878E6C219C7}"/>
              </a:ext>
            </a:extLst>
          </p:cNvPr>
          <p:cNvSpPr>
            <a:spLocks noGrp="1"/>
          </p:cNvSpPr>
          <p:nvPr/>
        </p:nvSpPr>
        <p:spPr>
          <a:xfrm>
            <a:off x="6858000" y="304533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location: "입구",</a:t>
            </a:r>
          </a:p>
        </p:txBody>
      </p:sp>
      <p:sp>
        <p:nvSpPr>
          <p:cNvPr id="13" name="">
            <a:extLst>
              <a:ext uri="{FF2B5EF4-FFF2-40B4-BE49-F238E27FC236}">
                <ns2:creationId id="{3417AE04-A53F-45DF-8DFA-48676C1B8F97}"/>
              </a:ext>
            </a:extLst>
          </p:cNvPr>
          <p:cNvSpPr>
            <a:spLocks noGrp="1"/>
          </p:cNvSpPr>
          <p:nvPr/>
        </p:nvSpPr>
        <p:spPr>
          <a:xfrm>
            <a:off x="6410325" y="3376041"/>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4" name="">
            <a:extLst>
              <a:ext uri="{FF2B5EF4-FFF2-40B4-BE49-F238E27FC236}">
                <ns2:creationId id="{DE267F7B-B6E3-43C8-B12C-14D68324EDA0}"/>
              </a:ext>
            </a:extLst>
          </p:cNvPr>
          <p:cNvSpPr>
            <a:spLocks noGrp="1"/>
          </p:cNvSpPr>
          <p:nvPr/>
        </p:nvSpPr>
        <p:spPr>
          <a:xfrm>
            <a:off x="6858000" y="3337941"/>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temperature_c: 26</a:t>
            </a:r>
          </a:p>
        </p:txBody>
      </p:sp>
      <p:sp>
        <p:nvSpPr>
          <p:cNvPr id="15" name="">
            <a:extLst>
              <a:ext uri="{FF2B5EF4-FFF2-40B4-BE49-F238E27FC236}">
                <ns2:creationId id="{88356DB2-F535-42F3-A57A-D85DBD9CAD4F}"/>
              </a:ext>
            </a:extLst>
          </p:cNvPr>
          <p:cNvSpPr>
            <a:spLocks noGrp="1"/>
          </p:cNvSpPr>
          <p:nvPr/>
        </p:nvSpPr>
        <p:spPr>
          <a:xfrm>
            <a:off x="6410325" y="3668649"/>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6" name="">
            <a:extLst>
              <a:ext uri="{FF2B5EF4-FFF2-40B4-BE49-F238E27FC236}">
                <ns2:creationId id="{CA2922CC-0B12-4D3F-8ADE-61A74FF63FB9}"/>
              </a:ext>
            </a:extLst>
          </p:cNvPr>
          <p:cNvSpPr>
            <a:spLocks noGrp="1"/>
          </p:cNvSpPr>
          <p:nvPr/>
        </p:nvSpPr>
        <p:spPr>
          <a:xfrm>
            <a:off x="6858000" y="3630549"/>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a:t>
            </a:r>
          </a:p>
        </p:txBody>
      </p:sp>
      <p:sp>
        <p:nvSpPr>
          <p:cNvPr id="17" name="">
            <a:extLst>
              <a:ext uri="{FF2B5EF4-FFF2-40B4-BE49-F238E27FC236}">
                <ns2:creationId id="{6BD75471-51DE-4D50-A7C2-37FB1C12343D}"/>
              </a:ext>
            </a:extLst>
          </p:cNvPr>
          <p:cNvSpPr>
            <a:spLocks noGrp="1"/>
          </p:cNvSpPr>
          <p:nvPr/>
        </p:nvSpPr>
        <p:spPr>
          <a:xfrm>
            <a:off x="685800" y="6172200"/>
            <a:ext cx="10820400" cy="9525"/>
          </a:xfrm>
          <a:prstGeom prst="rect">
            <a:avLst/>
          </a:prstGeom>
          <a:solidFill>
            <a:srgbClr val="D5DEDD"/>
          </a:solidFill>
          <a:ln w="0">
            <a:noFill/>
          </a:ln>
        </p:spPr>
      </p:sp>
      <p:sp>
        <p:nvSpPr>
          <p:cNvPr id="18" name="">
            <a:extLst>
              <a:ext uri="{FF2B5EF4-FFF2-40B4-BE49-F238E27FC236}">
                <ns2:creationId id="{B177C545-FE99-4A04-887D-0AEE77A54C6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9" name="">
            <a:extLst>
              <a:ext uri="{FF2B5EF4-FFF2-40B4-BE49-F238E27FC236}">
                <ns2:creationId id="{88FF6A08-4587-4667-B549-A7E1BA5CE42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20" name="">
            <a:extLst>
              <a:ext uri="{FF2B5EF4-FFF2-40B4-BE49-F238E27FC236}">
                <ns2:creationId id="{66034FF7-FD18-4F18-AE2D-B7301E6BF60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1" name="">
            <a:extLst>
              <a:ext uri="{FF2B5EF4-FFF2-40B4-BE49-F238E27FC236}">
                <ns2:creationId id="{CE1F8D7A-B427-4DF9-87FC-77242ADB165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047</a:t>
            </a:r>
          </a:p>
        </p:txBody>
      </p:sp>
    </p:spTree>
    <p:extLst>
      <p:ext uri="{BB962C8B-B14F-4D97-AF65-F5344CB8AC3E}">
        <ns4:creationId val="1348508914"/>
      </p:ext>
    </p:extLst>
  </p:cSld>
</p:sld>
</file>

<file path=ppt/slides/slide4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49F8E21D-B2C3-4EB8-84BC-DCA110C04BC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2FECD006-A2D4-46DB-8BFB-DAEE9B0C333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열기와 클릭</a:t>
            </a:r>
          </a:p>
        </p:txBody>
      </p:sp>
      <p:sp>
        <p:nvSpPr>
          <p:cNvPr id="3" name="">
            <a:extLst>
              <a:ext uri="{FF2B5EF4-FFF2-40B4-BE49-F238E27FC236}">
                <ns2:creationId id="{36C0B781-82C9-4FE6-BF71-4568012681AD}"/>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열기 직후 22.5</a:t>
            </a:r>
          </a:p>
        </p:txBody>
      </p:sp>
      <p:sp>
        <p:nvSpPr>
          <p:cNvPr id="4" name="">
            <a:extLst>
              <a:ext uri="{FF2B5EF4-FFF2-40B4-BE49-F238E27FC236}">
                <ns2:creationId id="{54B98C2C-430E-4EC8-BBA2-267816DDCFCD}"/>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처음 HTML이 22.5면 열기 직후도 22.5입니다.</a:t>
            </a:r>
          </a:p>
        </p:txBody>
      </p:sp>
      <p:sp>
        <p:nvSpPr>
          <p:cNvPr id="5" name="">
            <a:extLst>
              <a:ext uri="{FF2B5EF4-FFF2-40B4-BE49-F238E27FC236}">
                <ns2:creationId id="{C0B3006B-82B7-4EF6-8241-A93412830DF9}"/>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클릭 뒤 26</a:t>
            </a:r>
          </a:p>
        </p:txBody>
      </p:sp>
      <p:sp>
        <p:nvSpPr>
          <p:cNvPr id="6" name="">
            <a:extLst>
              <a:ext uri="{FF2B5EF4-FFF2-40B4-BE49-F238E27FC236}">
                <ns2:creationId id="{23007F46-6186-47AC-882B-49EDCB76D6D5}"/>
              </a:ext>
            </a:extLst>
          </p:cNvPr>
          <p:cNvSpPr>
            <a:spLocks noGrp="1"/>
          </p:cNvSpPr>
          <p:nvPr/>
        </p:nvSpPr>
        <p:spPr>
          <a:xfrm>
            <a:off x="6400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클릭 뒤 데이터 26을 표시합니다.</a:t>
            </a:r>
          </a:p>
        </p:txBody>
      </p:sp>
      <p:sp>
        <p:nvSpPr>
          <p:cNvPr id="7" name="">
            <a:extLst>
              <a:ext uri="{FF2B5EF4-FFF2-40B4-BE49-F238E27FC236}">
                <ns2:creationId id="{5345528C-0BF5-487C-964A-38D0A21D07C3}"/>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A0537F93-4353-49A1-A160-78BEF115704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A73B07F6-C8D6-44C0-A904-CC01EFBE00C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FB11EC73-E314-4CEB-92BF-FB255CD0AE2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71D80931-D668-47EC-9A62-3A333C05000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048</a:t>
            </a:r>
          </a:p>
        </p:txBody>
      </p:sp>
    </p:spTree>
    <p:extLst>
      <p:ext uri="{BB962C8B-B14F-4D97-AF65-F5344CB8AC3E}">
        <ns4:creationId val="497281307"/>
      </p:ext>
    </p:extLst>
  </p:cSld>
</p:sld>
</file>

<file path=ppt/slides/slide4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49973E10-8DFC-4C26-8D8E-2019A3E16E4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0BD8D368-6F76-4E74-93EC-B32251B11B5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두 시점의 결과</a:t>
            </a:r>
          </a:p>
        </p:txBody>
      </p:sp>
      <p:sp>
        <p:nvSpPr>
          <p:cNvPr id="3" name="">
            <a:extLst>
              <a:ext uri="{FF2B5EF4-FFF2-40B4-BE49-F238E27FC236}">
                <ns2:creationId id="{752B12D0-8A48-4824-9116-3CD4AF10907B}"/>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새로고침 직후와 클릭 뒤 값을 쓰세요.</a:t>
            </a:r>
          </a:p>
        </p:txBody>
      </p:sp>
      <p:sp>
        <p:nvSpPr>
          <p:cNvPr id="4" name="">
            <a:extLst>
              <a:ext uri="{FF2B5EF4-FFF2-40B4-BE49-F238E27FC236}">
                <ns2:creationId id="{C9E5781F-ECCE-4D9A-A10A-102243B38E5F}"/>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클릭하면 data.js도 바뀌나요?</a:t>
            </a:r>
          </a:p>
        </p:txBody>
      </p:sp>
      <p:sp>
        <p:nvSpPr>
          <p:cNvPr id="5" name="">
            <a:extLst>
              <a:ext uri="{FF2B5EF4-FFF2-40B4-BE49-F238E27FC236}">
                <ns2:creationId id="{34385A95-AF79-4B5C-A8D7-536D766BBBD3}"/>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9990A1DF-834A-4EDE-A721-5F4356325E6A}"/>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A035E74D-1BC4-456D-9DD8-93F2363BD8D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C9787C3E-4BD5-4B04-886E-72FD038CDC7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879671CD-9147-456F-B4F7-68745A8767B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8C3991F6-15A4-4673-A7B3-3A8CC61BFCD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049</a:t>
            </a:r>
          </a:p>
        </p:txBody>
      </p:sp>
    </p:spTree>
    <p:extLst>
      <p:ext uri="{BB962C8B-B14F-4D97-AF65-F5344CB8AC3E}">
        <ns4:creationId val="1880237434"/>
      </p:ext>
    </p:extLst>
  </p:cSld>
</p:sld>
</file>

<file path=ppt/slides/slide5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9DE26C11-7DA3-478F-A25E-417A90C3CD74}"/>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D20A007C-A0CA-4430-8660-7BF4336C4CB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A09  버튼이 안 되면 이름부터 확인</a:t>
            </a:r>
          </a:p>
        </p:txBody>
      </p:sp>
      <p:sp>
        <p:nvSpPr>
          <p:cNvPr id="3" name="">
            <a:extLst>
              <a:ext uri="{FF2B5EF4-FFF2-40B4-BE49-F238E27FC236}">
                <ns2:creationId id="{FD665F76-1AB3-429C-A9C4-117BDB209006}"/>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DD88DC82-54C3-44F0-97CF-34FF2B261FC8}"/>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보이는 문제와 생각한 원인을 구분합니다.</a:t>
            </a:r>
          </a:p>
        </p:txBody>
      </p:sp>
      <p:sp>
        <p:nvSpPr>
          <p:cNvPr id="5" name="">
            <a:extLst>
              <a:ext uri="{FF2B5EF4-FFF2-40B4-BE49-F238E27FC236}">
                <ns2:creationId id="{F0E3FEA2-E034-4C67-8531-2D5401D17657}"/>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버튼 id와 선택자 이름을 비교해 고칩니다.</a:t>
            </a:r>
          </a:p>
        </p:txBody>
      </p:sp>
      <p:sp>
        <p:nvSpPr>
          <p:cNvPr id="6" name="">
            <a:extLst>
              <a:ext uri="{FF2B5EF4-FFF2-40B4-BE49-F238E27FC236}">
                <ns2:creationId id="{44FF2E95-29D0-4CBC-9FA2-8DAD14E83A1E}"/>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이름 불일치</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1691680"/>
                <a:gridCol w="1887223"/>
                <a:gridCol w="1659847"/>
              </a:tblGrid>
              <a:tr h="514350">
                <a:tc>
                  <a:txBody>
                    <a:bodyPr wrap="square"/>
                    <a:lstStyle/>
                    <a:p>
                      <a:pPr>
                        <a:lnSpc>
                          <a:spcPct val="102000"/>
                        </a:lnSpc>
                        <a:buNone/>
                      </a:pPr>
                      <a:r>
                        <a:rPr sz="1875" b="1">
                          <a:solidFill>
                            <a:srgbClr val="172F39"/>
                          </a:solidFill>
                          <a:latin typeface="Noto Sans KR"/>
                          <a:ea typeface="Noto Sans KR"/>
                          <a:cs typeface="Noto Sans KR"/>
                        </a:rPr>
                        <a:t>부분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잘못된 이름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맞출 이름</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HTML id</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read</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check</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JS 선택자</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#check</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#check</a:t>
                      </a:r>
                    </a:p>
                  </a:txBody>
                  <a:tcPr marL="114300" marR="114300" marT="76200" marB="76200" anchor="ctr">
                    <a:solidFill>
                      <a:srgbClr val="FFFFFF"/>
                    </a:solidFill>
                  </a:tcPr>
                </a:tc>
              </a:tr>
            </a:tbl>
          </a:graphicData>
        </a:graphic>
      </p:graphicFrame>
      <p:sp>
        <p:nvSpPr>
          <p:cNvPr id="8" name="">
            <a:extLst>
              <a:ext uri="{FF2B5EF4-FFF2-40B4-BE49-F238E27FC236}">
                <ns2:creationId id="{53ECCF45-03C3-4B2B-B07F-5B0E3DF23B2C}"/>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A2EE6879-E3A0-467F-815A-1840BD0A5FD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F6F54296-7525-4DE0-83A3-79418A197BA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E4DC6DE1-AFAA-4B1D-8CFF-0346C5D2E95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583FF14D-A940-4CA4-9CFA-5E35ABA4B81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050</a:t>
            </a:r>
          </a:p>
        </p:txBody>
      </p:sp>
    </p:spTree>
    <p:extLst>
      <p:ext uri="{BB962C8B-B14F-4D97-AF65-F5344CB8AC3E}">
        <ns4:creationId val="1642307351"/>
      </p:ext>
    </p:extLst>
  </p:cSld>
</p:sld>
</file>

<file path=ppt/slides/slide5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89A8842C-BB8E-4A6B-A08A-2809ACDFC4E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76CA020B-3636-43CC-94F3-F42187F8A57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오류 위치와 복구의 예</a:t>
            </a:r>
          </a:p>
        </p:txBody>
      </p:sp>
      <p:graphicFrame>
        <p:nvGraphicFramePr>
          <p:cNvPr id="12" name=""/>
          <p:cNvGraphicFramePr/>
          <p:nvPr/>
        </p:nvGraphicFramePr>
        <p:xfrm>
          <a:off x="685800" y="1809750"/>
          <a:ext cx="10820400" cy="1609344"/>
        </p:xfrm>
        <a:graphic>
          <a:graphicData uri="http://schemas.openxmlformats.org/drawingml/2006/table">
            <a:tbl>
              <a:tblPr firstRow="1" bandRow="0"/>
              <a:tblGrid>
                <a:gridCol w="3804526"/>
                <a:gridCol w="3732936"/>
                <a:gridCol w="3282938"/>
              </a:tblGrid>
              <a:tr h="536448">
                <a:tc>
                  <a:txBody>
                    <a:bodyPr wrap="square"/>
                    <a:lstStyle/>
                    <a:p>
                      <a:pPr>
                        <a:lnSpc>
                          <a:spcPct val="102000"/>
                        </a:lnSpc>
                        <a:buNone/>
                      </a:pPr>
                      <a:r>
                        <a:rPr sz="2025" b="1">
                          <a:solidFill>
                            <a:srgbClr val="172F39"/>
                          </a:solidFill>
                          <a:latin typeface="Noto Sans KR"/>
                          <a:ea typeface="Noto Sans KR"/>
                          <a:cs typeface="Noto Sans KR"/>
                        </a:rPr>
                        <a:t>부분</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잘못된 값</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맞출 값</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HTML id</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read</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check</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JS 선택자</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#check</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#check</a:t>
                      </a:r>
                    </a:p>
                  </a:txBody>
                  <a:tcPr marL="114300" marR="114300" marT="76200" marB="76200" anchor="ctr">
                    <a:solidFill>
                      <a:srgbClr val="FFFFFF"/>
                    </a:solidFill>
                  </a:tcPr>
                </a:tc>
              </a:tr>
            </a:tbl>
          </a:graphicData>
        </a:graphic>
      </p:graphicFrame>
      <p:sp>
        <p:nvSpPr>
          <p:cNvPr id="4" name="">
            <a:extLst>
              <a:ext uri="{FF2B5EF4-FFF2-40B4-BE49-F238E27FC236}">
                <ns2:creationId id="{D66FA710-E5BA-4267-83B6-ABC19D6AA14C}"/>
              </a:ext>
            </a:extLst>
          </p:cNvPr>
          <p:cNvSpPr>
            <a:spLocks noGrp="1"/>
          </p:cNvSpPr>
          <p:nvPr/>
        </p:nvSpPr>
        <p:spPr>
          <a:xfrm>
            <a:off x="685800" y="3647694"/>
            <a:ext cx="10820400" cy="395288"/>
          </a:xfrm>
          <a:prstGeom prst="rect">
            <a:avLst/>
          </a:prstGeom>
          <a:noFill/>
          <a:ln w="0">
            <a:noFill/>
          </a:ln>
        </p:spPr>
        <p:txBody>
          <a:bodyPr wrap="square" lIns="0" tIns="0" rIns="0" bIns="0">
            <a:noAutofit/>
          </a:bodyPr>
          <a:lstStyle/>
          <a:p>
            <a:pPr>
              <a:defRPr sz="1875" b="1">
                <a:solidFill>
                  <a:srgbClr val="08786F"/>
                </a:solidFill>
                <a:latin typeface="Noto Sans KR"/>
                <a:ea typeface="Noto Sans KR"/>
                <a:cs typeface="Noto Sans KR"/>
              </a:defRPr>
            </a:pPr>
            <a:r>
              <a:t>id를 유지하거나 선택자를 함께 맞춥니다.</a:t>
            </a:r>
          </a:p>
        </p:txBody>
      </p:sp>
      <p:sp>
        <p:nvSpPr>
          <p:cNvPr id="5" name="">
            <a:extLst>
              <a:ext uri="{FF2B5EF4-FFF2-40B4-BE49-F238E27FC236}">
                <ns2:creationId id="{7261F76A-B40E-42E2-8369-0D8356EAB214}"/>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02022772-2435-4CFB-9055-E061D7F7D68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B7662262-D222-4C86-A00C-4DB2C9965E5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A47931F7-D187-4BA6-9A1B-58F869D8A56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89B8EB67-77B6-4577-A6CA-AEDF2AEA0F2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051</a:t>
            </a:r>
          </a:p>
        </p:txBody>
      </p:sp>
    </p:spTree>
    <p:extLst>
      <p:ext uri="{BB962C8B-B14F-4D97-AF65-F5344CB8AC3E}">
        <ns4:creationId val="828863040"/>
      </p:ext>
    </p:extLst>
  </p:cSld>
</p:sld>
</file>

<file path=ppt/slides/slide5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24444582-9666-43DB-B076-2D83F02EBB5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2738D12E-7E6A-4E4E-A4A2-3EA4DF5288F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같은 행동 재검사</a:t>
            </a:r>
          </a:p>
        </p:txBody>
      </p:sp>
      <p:sp>
        <p:nvSpPr>
          <p:cNvPr id="3" name="">
            <a:extLst>
              <a:ext uri="{FF2B5EF4-FFF2-40B4-BE49-F238E27FC236}">
                <ns2:creationId id="{16D60BBE-9482-477F-BBF3-DE0F2CFD5FC6}"/>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명령·입력</a:t>
            </a:r>
          </a:p>
        </p:txBody>
      </p:sp>
      <p:sp>
        <p:nvSpPr>
          <p:cNvPr id="4" name="">
            <a:extLst>
              <a:ext uri="{FF2B5EF4-FFF2-40B4-BE49-F238E27FC236}">
                <ns2:creationId id="{87650B53-71CA-4BF0-8457-5E7C66277F5E}"/>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이름을 맞춘 뒤 같은 버튼을 눌러 봅니다.</a:t>
            </a:r>
          </a:p>
        </p:txBody>
      </p:sp>
      <p:sp>
        <p:nvSpPr>
          <p:cNvPr id="5" name="">
            <a:extLst>
              <a:ext uri="{FF2B5EF4-FFF2-40B4-BE49-F238E27FC236}">
                <ns2:creationId id="{D2B4081E-8175-44B5-BB41-DF71283B1713}"/>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코드만 읽고 버튼이 고쳐졌다고 쓰지 않습니다.</a:t>
            </a:r>
          </a:p>
        </p:txBody>
      </p:sp>
      <p:sp>
        <p:nvSpPr>
          <p:cNvPr id="6" name="">
            <a:extLst>
              <a:ext uri="{FF2B5EF4-FFF2-40B4-BE49-F238E27FC236}">
                <ns2:creationId id="{1052D6D4-7109-45A0-A534-7BAF6B615F12}"/>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이름 불일치</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1691680"/>
                <a:gridCol w="1887223"/>
                <a:gridCol w="1659847"/>
              </a:tblGrid>
              <a:tr h="514350">
                <a:tc>
                  <a:txBody>
                    <a:bodyPr wrap="square"/>
                    <a:lstStyle/>
                    <a:p>
                      <a:pPr>
                        <a:lnSpc>
                          <a:spcPct val="102000"/>
                        </a:lnSpc>
                        <a:buNone/>
                      </a:pPr>
                      <a:r>
                        <a:rPr sz="1875" b="1">
                          <a:solidFill>
                            <a:srgbClr val="172F39"/>
                          </a:solidFill>
                          <a:latin typeface="Noto Sans KR"/>
                          <a:ea typeface="Noto Sans KR"/>
                          <a:cs typeface="Noto Sans KR"/>
                        </a:rPr>
                        <a:t>부분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잘못된 이름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맞출 이름</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HTML id</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read</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check</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JS 선택자</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#check</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#check</a:t>
                      </a:r>
                    </a:p>
                  </a:txBody>
                  <a:tcPr marL="114300" marR="114300" marT="76200" marB="76200" anchor="ctr">
                    <a:solidFill>
                      <a:srgbClr val="FFFFFF"/>
                    </a:solidFill>
                  </a:tcPr>
                </a:tc>
              </a:tr>
            </a:tbl>
          </a:graphicData>
        </a:graphic>
      </p:graphicFrame>
      <p:sp>
        <p:nvSpPr>
          <p:cNvPr id="8" name="">
            <a:extLst>
              <a:ext uri="{FF2B5EF4-FFF2-40B4-BE49-F238E27FC236}">
                <ns2:creationId id="{8D69BA79-B9EB-4892-8DF3-CB428DBEC939}"/>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06FAF228-332B-4C88-89AA-10E9023EFF6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7F85C9F6-AFEE-425D-9787-BF7822F1D4A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464B1A24-EA25-487E-B00F-8F62BA1327C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30CCD181-2285-4818-82F1-65AE69F9D99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052</a:t>
            </a:r>
          </a:p>
        </p:txBody>
      </p:sp>
    </p:spTree>
    <p:extLst>
      <p:ext uri="{BB962C8B-B14F-4D97-AF65-F5344CB8AC3E}">
        <ns4:creationId val="911756237"/>
      </p:ext>
    </p:extLst>
  </p:cSld>
</p:sld>
</file>

<file path=ppt/slides/slide5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E05E03E9-2FEA-4BFE-B863-F70ADE6EF4F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E2DE09A2-D91E-4B2D-A1B1-FAD8B30A5C6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이름 복구 방법</a:t>
            </a:r>
          </a:p>
        </p:txBody>
      </p:sp>
      <p:sp>
        <p:nvSpPr>
          <p:cNvPr id="3" name="">
            <a:extLst>
              <a:ext uri="{FF2B5EF4-FFF2-40B4-BE49-F238E27FC236}">
                <ns2:creationId id="{1547E979-5431-4DBE-B4ED-9C609E17F77C}"/>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id가 read이고 선택자가 #check입니다.</a:t>
            </a:r>
          </a:p>
        </p:txBody>
      </p:sp>
      <p:sp>
        <p:nvSpPr>
          <p:cNvPr id="4" name="">
            <a:extLst>
              <a:ext uri="{FF2B5EF4-FFF2-40B4-BE49-F238E27FC236}">
                <ns2:creationId id="{AB718D2A-0C0D-44D5-BF65-66A3E9B1C48C}"/>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두 가지 복구 방법을 설명해 보세요.</a:t>
            </a:r>
          </a:p>
        </p:txBody>
      </p:sp>
      <p:sp>
        <p:nvSpPr>
          <p:cNvPr id="5" name="">
            <a:extLst>
              <a:ext uri="{FF2B5EF4-FFF2-40B4-BE49-F238E27FC236}">
                <ns2:creationId id="{C309B98F-F55D-4D94-A18D-A19B5D79A82D}"/>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9DF17CBB-010B-44C3-A85E-5230F67132F1}"/>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813277B2-44D8-4EB0-82E4-8851A3B845A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223D839E-A502-43FF-8B13-A70268FF785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E392FCDA-75E6-4DC0-8184-B797E4D40DC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A9628E69-E151-4AE0-A323-A9AD62C2CE0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053</a:t>
            </a:r>
          </a:p>
        </p:txBody>
      </p:sp>
    </p:spTree>
    <p:extLst>
      <p:ext uri="{BB962C8B-B14F-4D97-AF65-F5344CB8AC3E}">
        <ns4:creationId val="1796987607"/>
      </p:ext>
    </p:extLst>
  </p:cSld>
</p:sld>
</file>

<file path=ppt/slides/slide5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F8B30F8B-53EE-4B99-BA33-F341AD9ECB59}"/>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4교시</a:t>
            </a:r>
          </a:p>
        </p:txBody>
      </p:sp>
      <p:sp>
        <p:nvSpPr>
          <p:cNvPr id="2" name="">
            <a:extLst>
              <a:ext uri="{FF2B5EF4-FFF2-40B4-BE49-F238E27FC236}">
                <ns2:creationId id="{1B95C771-9231-4FF8-9427-12C57472E919}"/>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React의 화면 부품</a:t>
            </a:r>
          </a:p>
        </p:txBody>
      </p:sp>
      <p:sp>
        <p:nvSpPr>
          <p:cNvPr id="3" name="">
            <a:extLst>
              <a:ext uri="{FF2B5EF4-FFF2-40B4-BE49-F238E27FC236}">
                <ns2:creationId id="{0BED9C69-A790-4587-AF9D-C8B3654C8286}"/>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50분 수업입니다.</a:t>
            </a:r>
          </a:p>
        </p:txBody>
      </p:sp>
      <p:sp>
        <p:nvSpPr>
          <p:cNvPr id="4" name="">
            <a:extLst>
              <a:ext uri="{FF2B5EF4-FFF2-40B4-BE49-F238E27FC236}">
                <ns2:creationId id="{6DEBF621-852B-4CB4-B955-9B3E9FD0DEE7}"/>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예제를 함께 보고 따라 해 봅니다.</a:t>
            </a:r>
          </a:p>
        </p:txBody>
      </p:sp>
      <p:sp>
        <p:nvSpPr>
          <p:cNvPr id="5" name="">
            <a:extLst>
              <a:ext uri="{FF2B5EF4-FFF2-40B4-BE49-F238E27FC236}">
                <ns2:creationId id="{10E33DD7-8DDB-4A4E-B0DE-49C55578B74A}"/>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결과가 예상과 같은지 확인해 봅니다.</a:t>
            </a:r>
          </a:p>
        </p:txBody>
      </p:sp>
      <p:sp>
        <p:nvSpPr>
          <p:cNvPr id="6" name="">
            <a:extLst>
              <a:ext uri="{FF2B5EF4-FFF2-40B4-BE49-F238E27FC236}">
                <ns2:creationId id="{AC6739F1-5A65-4921-A300-4EC7F92A5630}"/>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E1A5D62C-77AC-499A-9D8E-880400400E9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E5C2AD27-2493-4B2C-B007-10038E992B6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2966848E-7A4D-41DC-9DD7-A753CFF2EBF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F94D56B9-BEA9-4E97-AA0F-FC06E91AA54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054</a:t>
            </a:r>
          </a:p>
        </p:txBody>
      </p:sp>
    </p:spTree>
    <p:extLst>
      <p:ext uri="{BB962C8B-B14F-4D97-AF65-F5344CB8AC3E}">
        <ns4:creationId val="1961017682"/>
      </p:ext>
    </p:extLst>
  </p:cSld>
</p:sld>
</file>

<file path=ppt/slides/slide5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FFAC805C-888B-48F3-95AF-A94911DA034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AFD4CBAC-C86C-4D8A-BE89-17EFAC35604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JSX와 실행 파일</a:t>
            </a:r>
          </a:p>
        </p:txBody>
      </p:sp>
      <p:sp>
        <p:nvSpPr>
          <p:cNvPr id="3" name="">
            <a:extLst>
              <a:ext uri="{FF2B5EF4-FFF2-40B4-BE49-F238E27FC236}">
                <ns2:creationId id="{229AAA34-F21F-4F3C-BA1B-7FEC67D1964F}"/>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JSX 소스</a:t>
            </a:r>
          </a:p>
        </p:txBody>
      </p:sp>
      <p:sp>
        <p:nvSpPr>
          <p:cNvPr id="4" name="">
            <a:extLst>
              <a:ext uri="{FF2B5EF4-FFF2-40B4-BE49-F238E27FC236}">
                <ns2:creationId id="{553182D3-A255-4E4E-8E82-4F830985C44C}"/>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JSX 작성에는 변환 단계가 필요합니다.</a:t>
            </a:r>
          </a:p>
        </p:txBody>
      </p:sp>
      <p:sp>
        <p:nvSpPr>
          <p:cNvPr id="5" name="">
            <a:extLst>
              <a:ext uri="{FF2B5EF4-FFF2-40B4-BE49-F238E27FC236}">
                <ns2:creationId id="{C81854AE-B24C-42DD-8815-B06620E3F304}"/>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변환된 번들</a:t>
            </a:r>
          </a:p>
        </p:txBody>
      </p:sp>
      <p:sp>
        <p:nvSpPr>
          <p:cNvPr id="6" name="">
            <a:extLst>
              <a:ext uri="{FF2B5EF4-FFF2-40B4-BE49-F238E27FC236}">
                <ns2:creationId id="{C628B283-F143-47AD-985B-E00849C4159B}"/>
              </a:ext>
            </a:extLst>
          </p:cNvPr>
          <p:cNvSpPr>
            <a:spLocks noGrp="1"/>
          </p:cNvSpPr>
          <p:nvPr/>
        </p:nvSpPr>
        <p:spPr>
          <a:xfrm>
            <a:off x="6400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제공 번들은 브라우저가 실행합니다.</a:t>
            </a:r>
          </a:p>
        </p:txBody>
      </p:sp>
      <p:sp>
        <p:nvSpPr>
          <p:cNvPr id="7" name="">
            <a:extLst>
              <a:ext uri="{FF2B5EF4-FFF2-40B4-BE49-F238E27FC236}">
                <ns2:creationId id="{A200B5F2-4A7F-41DA-BECF-6B7385BD978A}"/>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FC2E2B09-E333-4F16-A82D-291DEE5C1B7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3FCA82D9-9033-4E81-9190-43AF52A9C16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F9D75C92-440C-43A8-AF3C-F5F02586F22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BB8A3D69-2520-4733-9013-C434C47A267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055</a:t>
            </a:r>
          </a:p>
        </p:txBody>
      </p:sp>
    </p:spTree>
    <p:extLst>
      <p:ext uri="{BB962C8B-B14F-4D97-AF65-F5344CB8AC3E}">
        <ns4:creationId val="1964533972"/>
      </p:ext>
    </p:extLst>
  </p:cSld>
</p:sld>
</file>

<file path=ppt/slides/slide5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D7160A7D-9DF8-43F4-88F0-D57AB7EA87F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FC19869B-7DF2-407D-836D-50742ED2600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A10  React의 화면 부품</a:t>
            </a:r>
          </a:p>
        </p:txBody>
      </p:sp>
      <p:sp>
        <p:nvSpPr>
          <p:cNvPr id="3" name="">
            <a:extLst>
              <a:ext uri="{FF2B5EF4-FFF2-40B4-BE49-F238E27FC236}">
                <ns2:creationId id="{9ED06BB8-D37E-4437-B502-A62BD5A08CEB}"/>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컴포넌트 함수</a:t>
            </a:r>
          </a:p>
        </p:txBody>
      </p:sp>
      <p:sp>
        <p:nvSpPr>
          <p:cNvPr id="4" name="">
            <a:extLst>
              <a:ext uri="{FF2B5EF4-FFF2-40B4-BE49-F238E27FC236}">
                <ns2:creationId id="{BF9C54BD-5EC8-434B-9487-B706181EAD94}"/>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컴포넌트는 재사용하는 화면 함수입니다.</a:t>
            </a:r>
          </a:p>
        </p:txBody>
      </p:sp>
      <p:sp>
        <p:nvSpPr>
          <p:cNvPr id="5" name="">
            <a:extLst>
              <a:ext uri="{FF2B5EF4-FFF2-40B4-BE49-F238E27FC236}">
                <ns2:creationId id="{696BF83E-D711-4448-AB7F-917BF977F059}"/>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전달할 props</a:t>
            </a:r>
          </a:p>
        </p:txBody>
      </p:sp>
      <p:sp>
        <p:nvSpPr>
          <p:cNvPr id="6" name="">
            <a:extLst>
              <a:ext uri="{FF2B5EF4-FFF2-40B4-BE49-F238E27FC236}">
                <ns2:creationId id="{FFA53B97-09E7-42CB-AEE3-66D026254B41}"/>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props는 부품에 전달하는 입력입니다.</a:t>
            </a:r>
          </a:p>
        </p:txBody>
      </p:sp>
      <p:sp>
        <p:nvSpPr>
          <p:cNvPr id="7" name="">
            <a:extLst>
              <a:ext uri="{FF2B5EF4-FFF2-40B4-BE49-F238E27FC236}">
                <ns2:creationId id="{04FBFBD0-A94D-4821-BF5D-D400A277850A}"/>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B8A1B48E-AF4C-4075-B2FB-8D5BE23243B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53F39AAC-D89F-478A-AEB7-3C6FD510F75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CB981D81-434D-4FB2-8593-6C500E0696B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1D8481E6-59CC-4F19-881B-A0752DBAA2E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056</a:t>
            </a:r>
          </a:p>
        </p:txBody>
      </p:sp>
    </p:spTree>
    <p:extLst>
      <p:ext uri="{BB962C8B-B14F-4D97-AF65-F5344CB8AC3E}">
        <ns4:creationId val="1288855449"/>
      </p:ext>
    </p:extLst>
  </p:cSld>
</p:sld>
</file>

<file path=ppt/slides/slide5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6" name="">
            <a:extLst>
              <a:ext uri="{FF2B5EF4-FFF2-40B4-BE49-F238E27FC236}">
                <ns2:creationId id="{F3050F38-434B-4348-A609-A0F7EEAC0E8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00B16C79-F98D-4CFE-BAFF-18D7A46E363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React의 화면 부품의 예</a:t>
            </a:r>
          </a:p>
        </p:txBody>
      </p:sp>
      <p:sp>
        <p:nvSpPr>
          <p:cNvPr id="3" name="">
            <a:extLst>
              <a:ext uri="{FF2B5EF4-FFF2-40B4-BE49-F238E27FC236}">
                <ns2:creationId id="{1A0452C8-A339-4AD6-8880-699617C3D850}"/>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JSX 발췌. 브라우저는 제공 번들을 실행합니다.</a:t>
            </a:r>
          </a:p>
        </p:txBody>
      </p:sp>
      <p:sp>
        <p:nvSpPr>
          <p:cNvPr id="4" name="">
            <a:extLst>
              <a:ext uri="{FF2B5EF4-FFF2-40B4-BE49-F238E27FC236}">
                <ns2:creationId id="{3D05F044-DE1B-4567-94FE-52E27977932F}"/>
              </a:ext>
            </a:extLst>
          </p:cNvPr>
          <p:cNvSpPr>
            <a:spLocks noGrp="1"/>
          </p:cNvSpPr>
          <p:nvPr/>
        </p:nvSpPr>
        <p:spPr>
          <a:xfrm>
            <a:off x="685800" y="2262188"/>
            <a:ext cx="6953250" cy="640842"/>
          </a:xfrm>
          <a:prstGeom prst="rect">
            <a:avLst/>
          </a:prstGeom>
          <a:solidFill>
            <a:srgbClr val="F1F6F5"/>
          </a:solidFill>
          <a:ln w="0">
            <a:noFill/>
          </a:ln>
        </p:spPr>
      </p:sp>
      <p:sp>
        <p:nvSpPr>
          <p:cNvPr id="5" name="">
            <a:extLst>
              <a:ext uri="{FF2B5EF4-FFF2-40B4-BE49-F238E27FC236}">
                <ns2:creationId id="{A1FA8960-38E3-470E-8647-FDFE023B0915}"/>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3BB65C18-CAAB-404C-A28D-714FB794E286}"/>
              </a:ext>
            </a:extLst>
          </p:cNvPr>
          <p:cNvSpPr>
            <a:spLocks noGrp="1"/>
          </p:cNvSpPr>
          <p:nvPr/>
        </p:nvSpPr>
        <p:spPr>
          <a:xfrm>
            <a:off x="1276350" y="2386013"/>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&lt;SensorCard location={window.SENSOR.location} /&gt;</a:t>
            </a:r>
          </a:p>
        </p:txBody>
      </p:sp>
      <p:sp>
        <p:nvSpPr>
          <p:cNvPr id="7" name="">
            <a:extLst>
              <a:ext uri="{FF2B5EF4-FFF2-40B4-BE49-F238E27FC236}">
                <ns2:creationId id="{A28C56DF-5F2E-4558-BAE5-30184413BD9A}"/>
              </a:ext>
            </a:extLst>
          </p:cNvPr>
          <p:cNvSpPr>
            <a:spLocks noGrp="1"/>
          </p:cNvSpPr>
          <p:nvPr/>
        </p:nvSpPr>
        <p:spPr>
          <a:xfrm>
            <a:off x="8143875" y="2281238"/>
            <a:ext cx="3333750" cy="4095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실행 결과</a:t>
            </a:r>
          </a:p>
        </p:txBody>
      </p:sp>
      <p:sp>
        <p:nvSpPr>
          <p:cNvPr id="8" name="">
            <a:extLst>
              <a:ext uri="{FF2B5EF4-FFF2-40B4-BE49-F238E27FC236}">
                <ns2:creationId id="{1FAD9D58-A422-4E79-9A3C-BC153359B3BF}"/>
              </a:ext>
            </a:extLst>
          </p:cNvPr>
          <p:cNvSpPr>
            <a:spLocks noGrp="1"/>
          </p:cNvSpPr>
          <p:nvPr/>
        </p:nvSpPr>
        <p:spPr>
          <a:xfrm>
            <a:off x="8143875" y="2862263"/>
            <a:ext cx="3333750" cy="417767"/>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App.jsx는 작성 소스입니다.</a:t>
            </a:r>
          </a:p>
        </p:txBody>
      </p:sp>
      <p:sp>
        <p:nvSpPr>
          <p:cNvPr id="9" name="">
            <a:extLst>
              <a:ext uri="{FF2B5EF4-FFF2-40B4-BE49-F238E27FC236}">
                <ns2:creationId id="{0D203CED-096F-4F02-AFE1-56879B6495C4}"/>
              </a:ext>
            </a:extLst>
          </p:cNvPr>
          <p:cNvSpPr>
            <a:spLocks noGrp="1"/>
          </p:cNvSpPr>
          <p:nvPr/>
        </p:nvSpPr>
        <p:spPr>
          <a:xfrm>
            <a:off x="8143875" y="3327654"/>
            <a:ext cx="3333750" cy="721233"/>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app.bundle.js는 변환한 실행 파일입니다.</a:t>
            </a:r>
          </a:p>
        </p:txBody>
      </p:sp>
      <p:sp>
        <p:nvSpPr>
          <p:cNvPr id="10" name="">
            <a:extLst>
              <a:ext uri="{FF2B5EF4-FFF2-40B4-BE49-F238E27FC236}">
                <ns2:creationId id="{614C417E-761C-42F3-AE95-571C47F81650}"/>
              </a:ext>
            </a:extLst>
          </p:cNvPr>
          <p:cNvSpPr>
            <a:spLocks noGrp="1"/>
          </p:cNvSpPr>
          <p:nvPr/>
        </p:nvSpPr>
        <p:spPr>
          <a:xfrm>
            <a:off x="8143875" y="4096512"/>
            <a:ext cx="3333750" cy="721233"/>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JSX를 일반 브라우저가 그대로 실행하지 못합니다.</a:t>
            </a:r>
          </a:p>
        </p:txBody>
      </p:sp>
      <p:sp>
        <p:nvSpPr>
          <p:cNvPr id="11" name="">
            <a:extLst>
              <a:ext uri="{FF2B5EF4-FFF2-40B4-BE49-F238E27FC236}">
                <ns2:creationId id="{9A477E60-346F-4484-8D39-03FB0C81C262}"/>
              </a:ext>
            </a:extLst>
          </p:cNvPr>
          <p:cNvSpPr>
            <a:spLocks noGrp="1"/>
          </p:cNvSpPr>
          <p:nvPr/>
        </p:nvSpPr>
        <p:spPr>
          <a:xfrm>
            <a:off x="685800" y="6172200"/>
            <a:ext cx="10820400" cy="9525"/>
          </a:xfrm>
          <a:prstGeom prst="rect">
            <a:avLst/>
          </a:prstGeom>
          <a:solidFill>
            <a:srgbClr val="D5DEDD"/>
          </a:solidFill>
          <a:ln w="0">
            <a:noFill/>
          </a:ln>
        </p:spPr>
      </p:sp>
      <p:sp>
        <p:nvSpPr>
          <p:cNvPr id="12" name="">
            <a:extLst>
              <a:ext uri="{FF2B5EF4-FFF2-40B4-BE49-F238E27FC236}">
                <ns2:creationId id="{A2C9099C-002A-4193-AF54-ABF774C5CEB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3" name="">
            <a:extLst>
              <a:ext uri="{FF2B5EF4-FFF2-40B4-BE49-F238E27FC236}">
                <ns2:creationId id="{1A9200E1-22DA-47AC-BD12-B026EF9F5AA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4" name="">
            <a:extLst>
              <a:ext uri="{FF2B5EF4-FFF2-40B4-BE49-F238E27FC236}">
                <ns2:creationId id="{E5404D23-4289-4B48-AD4D-04A964E5ACF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5" name="">
            <a:extLst>
              <a:ext uri="{FF2B5EF4-FFF2-40B4-BE49-F238E27FC236}">
                <ns2:creationId id="{361FC6D6-F328-4709-BF95-823E34A96BA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057</a:t>
            </a:r>
          </a:p>
        </p:txBody>
      </p:sp>
    </p:spTree>
    <p:extLst>
      <p:ext uri="{BB962C8B-B14F-4D97-AF65-F5344CB8AC3E}">
        <ns4:creationId val="186770533"/>
      </p:ext>
    </p:extLst>
  </p:cSld>
</p:sld>
</file>

<file path=ppt/slides/slide5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BAC907BC-FE3F-4652-8CCB-C3B7B06285D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0C2B5F5B-2A0C-4F48-A963-53BA53899C7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컴포넌트와 props 읽기</a:t>
            </a:r>
          </a:p>
        </p:txBody>
      </p:sp>
      <p:sp>
        <p:nvSpPr>
          <p:cNvPr id="3" name="">
            <a:extLst>
              <a:ext uri="{FF2B5EF4-FFF2-40B4-BE49-F238E27FC236}">
                <ns2:creationId id="{9309EC6A-72B9-4369-ACAE-EAFB07F5E1D7}"/>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DD5509D1-D18D-46EB-92F6-20EFB91453AF}"/>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SensorCard는 다시 쓸 수 있는 화면 함수입니다.</a:t>
            </a:r>
          </a:p>
        </p:txBody>
      </p:sp>
      <p:sp>
        <p:nvSpPr>
          <p:cNvPr id="5" name="">
            <a:extLst>
              <a:ext uri="{FF2B5EF4-FFF2-40B4-BE49-F238E27FC236}">
                <ns2:creationId id="{D890822A-8B08-434F-B741-8114369E448E}"/>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location은 부품에 건네는 장소 이름입니다.</a:t>
            </a:r>
          </a:p>
        </p:txBody>
      </p:sp>
      <p:sp>
        <p:nvSpPr>
          <p:cNvPr id="6" name="">
            <a:extLst>
              <a:ext uri="{FF2B5EF4-FFF2-40B4-BE49-F238E27FC236}">
                <ns2:creationId id="{B4188A32-F76A-43F0-9508-BDB4B1000B7B}"/>
              </a:ext>
            </a:extLst>
          </p:cNvPr>
          <p:cNvSpPr>
            <a:spLocks noGrp="1"/>
          </p:cNvSpPr>
          <p:nvPr/>
        </p:nvSpPr>
        <p:spPr>
          <a:xfrm>
            <a:off x="685800" y="403479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중괄호 안에는 표시할 값을 넣습니다.</a:t>
            </a:r>
          </a:p>
        </p:txBody>
      </p:sp>
      <p:sp>
        <p:nvSpPr>
          <p:cNvPr id="7" name="">
            <a:extLst>
              <a:ext uri="{FF2B5EF4-FFF2-40B4-BE49-F238E27FC236}">
                <ns2:creationId id="{BA1DBEA8-BFED-484A-AE8B-3034F5E35D9F}"/>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SensorCard에 장소 전달</a:t>
            </a:r>
          </a:p>
        </p:txBody>
      </p:sp>
      <p:graphicFrame>
        <p:nvGraphicFramePr>
          <p:cNvPr id="21" name=""/>
          <p:cNvGraphicFramePr/>
          <p:nvPr/>
        </p:nvGraphicFramePr>
        <p:xfrm>
          <a:off x="6267450" y="2628900"/>
          <a:ext cx="5238750" cy="2057400"/>
        </p:xfrm>
        <a:graphic>
          <a:graphicData uri="http://schemas.openxmlformats.org/drawingml/2006/table">
            <a:tbl>
              <a:tblPr firstRow="1" bandRow="0"/>
              <a:tblGrid>
                <a:gridCol w="2485167"/>
                <a:gridCol w="2753583"/>
              </a:tblGrid>
              <a:tr h="514350">
                <a:tc>
                  <a:txBody>
                    <a:bodyPr wrap="square"/>
                    <a:lstStyle/>
                    <a:p>
                      <a:pPr>
                        <a:lnSpc>
                          <a:spcPct val="102000"/>
                        </a:lnSpc>
                        <a:buNone/>
                      </a:pPr>
                      <a:r>
                        <a:rPr sz="1875" b="1">
                          <a:solidFill>
                            <a:srgbClr val="172F39"/>
                          </a:solidFill>
                          <a:latin typeface="Noto Sans KR"/>
                          <a:ea typeface="Noto Sans KR"/>
                          <a:cs typeface="Noto Sans KR"/>
                        </a:rPr>
                        <a:t>부분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역할</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SensorCard</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다시 쓰는 화면 함수</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location</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장소를 받는 props</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SENSOR.location</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전달할 실제 값</a:t>
                      </a:r>
                    </a:p>
                  </a:txBody>
                  <a:tcPr marL="114300" marR="114300" marT="76200" marB="76200" anchor="ctr">
                    <a:solidFill>
                      <a:srgbClr val="FFFFFF"/>
                    </a:solidFill>
                  </a:tcPr>
                </a:tc>
              </a:tr>
            </a:tbl>
          </a:graphicData>
        </a:graphic>
      </p:graphicFrame>
      <p:sp>
        <p:nvSpPr>
          <p:cNvPr id="9" name="">
            <a:extLst>
              <a:ext uri="{FF2B5EF4-FFF2-40B4-BE49-F238E27FC236}">
                <ns2:creationId id="{1BC00321-AB7C-4D8E-BE39-9BD47260FD43}"/>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359FACB8-E9D2-4878-AB39-0685609727C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4ECEEE2C-C8C4-4AA3-9D72-22E530F3AE6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6CD0DCE7-50A2-4847-857E-026B00D859A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CCBB6E64-1C52-4F46-8F31-FC3BC7A4666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058</a:t>
            </a:r>
          </a:p>
        </p:txBody>
      </p:sp>
    </p:spTree>
    <p:extLst>
      <p:ext uri="{BB962C8B-B14F-4D97-AF65-F5344CB8AC3E}">
        <ns4:creationId val="66952328"/>
      </p:ext>
    </p:extLst>
  </p:cSld>
</p:sld>
</file>

<file path=ppt/slides/slide5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13836B1F-193C-48C8-AB10-C4C0AFA4699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4DC4A089-E181-4BE6-9A23-57A00811C23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소스와 실행 파일</a:t>
            </a:r>
          </a:p>
        </p:txBody>
      </p:sp>
      <p:sp>
        <p:nvSpPr>
          <p:cNvPr id="3" name="">
            <a:extLst>
              <a:ext uri="{FF2B5EF4-FFF2-40B4-BE49-F238E27FC236}">
                <ns2:creationId id="{E715B033-422A-4DB7-80EF-6DDB5A24DF27}"/>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App.jsx</a:t>
            </a:r>
          </a:p>
        </p:txBody>
      </p:sp>
      <p:sp>
        <p:nvSpPr>
          <p:cNvPr id="4" name="">
            <a:extLst>
              <a:ext uri="{FF2B5EF4-FFF2-40B4-BE49-F238E27FC236}">
                <ns2:creationId id="{8DB30A84-182A-4DB8-B60A-C010DD0A4718}"/>
              </a:ext>
            </a:extLst>
          </p:cNvPr>
          <p:cNvSpPr>
            <a:spLocks noGrp="1"/>
          </p:cNvSpPr>
          <p:nvPr/>
        </p:nvSpPr>
        <p:spPr>
          <a:xfrm>
            <a:off x="685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App.jsx는 작성 소스입니다.</a:t>
            </a:r>
          </a:p>
        </p:txBody>
      </p:sp>
      <p:sp>
        <p:nvSpPr>
          <p:cNvPr id="5" name="">
            <a:extLst>
              <a:ext uri="{FF2B5EF4-FFF2-40B4-BE49-F238E27FC236}">
                <ns2:creationId id="{37F8B8B0-71E7-4B85-A660-A39D97723FCB}"/>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app.bundle.js</a:t>
            </a:r>
          </a:p>
        </p:txBody>
      </p:sp>
      <p:sp>
        <p:nvSpPr>
          <p:cNvPr id="6" name="">
            <a:extLst>
              <a:ext uri="{FF2B5EF4-FFF2-40B4-BE49-F238E27FC236}">
                <ns2:creationId id="{D261A426-A2E8-4251-BBAB-184F0DA5B828}"/>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app.bundle.js는 변환한 실행 파일입니다.</a:t>
            </a:r>
          </a:p>
        </p:txBody>
      </p:sp>
      <p:sp>
        <p:nvSpPr>
          <p:cNvPr id="7" name="">
            <a:extLst>
              <a:ext uri="{FF2B5EF4-FFF2-40B4-BE49-F238E27FC236}">
                <ns2:creationId id="{6B8D142D-BAB5-453E-8043-173EA4D2C346}"/>
              </a:ext>
            </a:extLst>
          </p:cNvPr>
          <p:cNvSpPr>
            <a:spLocks noGrp="1"/>
          </p:cNvSpPr>
          <p:nvPr/>
        </p:nvSpPr>
        <p:spPr>
          <a:xfrm>
            <a:off x="685800" y="4943475"/>
            <a:ext cx="10820400" cy="9525"/>
          </a:xfrm>
          <a:prstGeom prst="rect">
            <a:avLst/>
          </a:prstGeom>
          <a:solidFill>
            <a:srgbClr val="D5DEDD"/>
          </a:solidFill>
          <a:ln w="0">
            <a:noFill/>
          </a:ln>
        </p:spPr>
      </p:sp>
      <p:sp>
        <p:nvSpPr>
          <p:cNvPr id="8" name="">
            <a:extLst>
              <a:ext uri="{FF2B5EF4-FFF2-40B4-BE49-F238E27FC236}">
                <ns2:creationId id="{FA5B021F-CF40-474D-B17D-ABBA42FE458E}"/>
              </a:ext>
            </a:extLst>
          </p:cNvPr>
          <p:cNvSpPr>
            <a:spLocks noGrp="1"/>
          </p:cNvSpPr>
          <p:nvPr/>
        </p:nvSpPr>
        <p:spPr>
          <a:xfrm>
            <a:off x="685800" y="5191125"/>
            <a:ext cx="10820400" cy="417767"/>
          </a:xfrm>
          <a:prstGeom prst="rect">
            <a:avLst/>
          </a:prstGeom>
          <a:noFill/>
          <a:ln w="0">
            <a:noFill/>
          </a:ln>
        </p:spPr>
        <p:txBody>
          <a:bodyPr wrap="square" lIns="0" tIns="0" rIns="0" bIns="0">
            <a:noAutofit/>
          </a:bodyPr>
          <a:lstStyle/>
          <a:p>
            <a:pPr>
              <a:defRPr sz="2025" b="1">
                <a:solidFill>
                  <a:srgbClr val="52636B"/>
                </a:solidFill>
                <a:latin typeface="Noto Sans KR"/>
                <a:ea typeface="Noto Sans KR"/>
                <a:cs typeface="Noto Sans KR"/>
              </a:defRPr>
            </a:pPr>
            <a:r>
              <a:t>JSX를 일반 브라우저가 그대로 실행하지 못합니다.</a:t>
            </a:r>
          </a:p>
        </p:txBody>
      </p:sp>
      <p:sp>
        <p:nvSpPr>
          <p:cNvPr id="9" name="">
            <a:extLst>
              <a:ext uri="{FF2B5EF4-FFF2-40B4-BE49-F238E27FC236}">
                <ns2:creationId id="{CAF40185-A06F-4F95-BEB8-60E0A2BC65EC}"/>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5A398E34-4D54-4A06-9799-C3DFC4BAEF5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C5CC425C-83A3-403A-A631-AC06A5F29F7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D7C48E13-4101-4F46-A6F0-C4CD60CA3E4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15F49BCA-BFE5-4BA4-A18C-76AA0494790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059</a:t>
            </a:r>
          </a:p>
        </p:txBody>
      </p:sp>
    </p:spTree>
    <p:extLst>
      <p:ext uri="{BB962C8B-B14F-4D97-AF65-F5344CB8AC3E}">
        <ns4:creationId val="1223885951"/>
      </p:ext>
    </p:extLst>
  </p:cSld>
</p:sld>
</file>

<file path=ppt/slides/slide6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47B69C92-B217-4F04-8D2E-8F825583C71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1EAF8802-4173-4F69-B06C-D2CBE68C3D2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JSX 수정의 반영</a:t>
            </a:r>
          </a:p>
        </p:txBody>
      </p:sp>
      <p:sp>
        <p:nvSpPr>
          <p:cNvPr id="3" name="">
            <a:extLst>
              <a:ext uri="{FF2B5EF4-FFF2-40B4-BE49-F238E27FC236}">
                <ns2:creationId id="{793A152E-2DCD-498B-B8B3-EAD0E0FF77EE}"/>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App.jsx만 고치고 번들은 그대로입니다.</a:t>
            </a:r>
          </a:p>
        </p:txBody>
      </p:sp>
      <p:sp>
        <p:nvSpPr>
          <p:cNvPr id="4" name="">
            <a:extLst>
              <a:ext uri="{FF2B5EF4-FFF2-40B4-BE49-F238E27FC236}">
                <ns2:creationId id="{CB237CE1-F544-4FA4-B2EC-C5B9752D84B5}"/>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화면이 바뀌었다고 판단할 수 있나요?</a:t>
            </a:r>
          </a:p>
        </p:txBody>
      </p:sp>
      <p:sp>
        <p:nvSpPr>
          <p:cNvPr id="5" name="">
            <a:extLst>
              <a:ext uri="{FF2B5EF4-FFF2-40B4-BE49-F238E27FC236}">
                <ns2:creationId id="{27DE7B3A-BB12-41E8-B11E-DD8B46DC5B81}"/>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1ADFDF7E-C37A-4577-820A-6024ED8089C3}"/>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0888EA02-6D25-40E4-8A29-ADE7675921A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9E93BEAC-6A25-4EA5-AD79-49A2CAA259E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0541CC86-2C92-4D3A-A21D-5C727607261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6C0C16A4-883F-4D11-89BB-FFCFD742182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060</a:t>
            </a:r>
          </a:p>
        </p:txBody>
      </p:sp>
    </p:spTree>
    <p:extLst>
      <p:ext uri="{BB962C8B-B14F-4D97-AF65-F5344CB8AC3E}">
        <ns4:creationId val="778094282"/>
      </p:ext>
    </p:extLst>
  </p:cSld>
</p:sld>
</file>

<file path=ppt/slides/slide6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5E2C642D-686B-4B27-A943-AD8380E6343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B3318D4A-BB43-47CE-8D09-AA5E7380221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A11  장소를 props로 전달</a:t>
            </a:r>
          </a:p>
        </p:txBody>
      </p:sp>
      <p:sp>
        <p:nvSpPr>
          <p:cNvPr id="3" name="">
            <a:extLst>
              <a:ext uri="{FF2B5EF4-FFF2-40B4-BE49-F238E27FC236}">
                <ns2:creationId id="{4753625D-72AD-416B-8E4A-2088B4385600}"/>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579D47E5-F233-45DE-BCEA-32E68F5D5CF7}"/>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SENSOR.location을 부품에 전달합니다.</a:t>
            </a:r>
          </a:p>
        </p:txBody>
      </p:sp>
      <p:sp>
        <p:nvSpPr>
          <p:cNvPr id="5" name="">
            <a:extLst>
              <a:ext uri="{FF2B5EF4-FFF2-40B4-BE49-F238E27FC236}">
                <ns2:creationId id="{41761A71-6E58-429F-AA51-B2771BAE3F63}"/>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같은 부품을 다른 장소에도 사용합니다.</a:t>
            </a:r>
          </a:p>
        </p:txBody>
      </p:sp>
      <p:sp>
        <p:nvSpPr>
          <p:cNvPr id="6" name="">
            <a:extLst>
              <a:ext uri="{FF2B5EF4-FFF2-40B4-BE49-F238E27FC236}">
                <ns2:creationId id="{EC4316E0-B755-4152-A75E-4AE76DF8FE21}"/>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장소 입력 수정</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868774"/>
                <a:gridCol w="2369976"/>
              </a:tblGrid>
              <a:tr h="514350">
                <a:tc>
                  <a:txBody>
                    <a:bodyPr wrap="square"/>
                    <a:lstStyle/>
                    <a:p>
                      <a:pPr>
                        <a:lnSpc>
                          <a:spcPct val="102000"/>
                        </a:lnSpc>
                        <a:buNone/>
                      </a:pPr>
                      <a:r>
                        <a:rPr sz="1875" b="1">
                          <a:solidFill>
                            <a:srgbClr val="172F39"/>
                          </a:solidFill>
                          <a:latin typeface="Noto Sans KR"/>
                          <a:ea typeface="Noto Sans KR"/>
                          <a:cs typeface="Noto Sans KR"/>
                        </a:rPr>
                        <a:t>항목</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수정 연습 값</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sensor_id</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S01</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location</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창고</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temperature_c</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22.5</a:t>
                      </a:r>
                    </a:p>
                  </a:txBody>
                  <a:tcPr marL="114300" marR="114300" marT="76200" marB="76200" anchor="ctr">
                    <a:solidFill>
                      <a:srgbClr val="FFFFFF"/>
                    </a:solidFill>
                  </a:tcPr>
                </a:tc>
              </a:tr>
            </a:tbl>
          </a:graphicData>
        </a:graphic>
      </p:graphicFrame>
      <p:sp>
        <p:nvSpPr>
          <p:cNvPr id="8" name="">
            <a:extLst>
              <a:ext uri="{FF2B5EF4-FFF2-40B4-BE49-F238E27FC236}">
                <ns2:creationId id="{1E0BC834-2186-4F31-A68B-E32D766375B9}"/>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D4A893C2-8B96-4F95-80F7-C354EE8B2E4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FCA798A6-A0F4-4994-905B-5EE8BD96657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5DBEB194-79FF-427D-ADFA-09E97D50E16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515B5DA9-6347-4390-A168-02025F77A51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061</a:t>
            </a:r>
          </a:p>
        </p:txBody>
      </p:sp>
    </p:spTree>
    <p:extLst>
      <p:ext uri="{BB962C8B-B14F-4D97-AF65-F5344CB8AC3E}">
        <ns4:creationId val="944580797"/>
      </p:ext>
    </p:extLst>
  </p:cSld>
</p:sld>
</file>

<file path=ppt/slides/slide6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3" name="">
            <a:extLst>
              <a:ext uri="{FF2B5EF4-FFF2-40B4-BE49-F238E27FC236}">
                <ns2:creationId id="{0E5F9F98-170F-43D0-BBDF-F7A7C976FB1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DDB4F8A2-CDA4-494D-AB07-FF167300356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장소를 props로 전달의 예</a:t>
            </a:r>
          </a:p>
        </p:txBody>
      </p:sp>
      <p:sp>
        <p:nvSpPr>
          <p:cNvPr id="3" name="">
            <a:extLst>
              <a:ext uri="{FF2B5EF4-FFF2-40B4-BE49-F238E27FC236}">
                <ns2:creationId id="{9B27144D-3D63-4E4A-844F-F47006DE8346}"/>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work/react/data.js의 가상 데이터</a:t>
            </a:r>
          </a:p>
        </p:txBody>
      </p:sp>
      <p:sp>
        <p:nvSpPr>
          <p:cNvPr id="4" name="">
            <a:extLst>
              <a:ext uri="{FF2B5EF4-FFF2-40B4-BE49-F238E27FC236}">
                <ns2:creationId id="{F7752C42-03D7-41F4-9328-3E748EA07A22}"/>
              </a:ext>
            </a:extLst>
          </p:cNvPr>
          <p:cNvSpPr>
            <a:spLocks noGrp="1"/>
          </p:cNvSpPr>
          <p:nvPr/>
        </p:nvSpPr>
        <p:spPr>
          <a:xfrm>
            <a:off x="685800" y="2262188"/>
            <a:ext cx="6953250" cy="1908810"/>
          </a:xfrm>
          <a:prstGeom prst="rect">
            <a:avLst/>
          </a:prstGeom>
          <a:solidFill>
            <a:srgbClr val="F1F6F5"/>
          </a:solidFill>
          <a:ln w="0">
            <a:noFill/>
          </a:ln>
        </p:spPr>
      </p:sp>
      <p:sp>
        <p:nvSpPr>
          <p:cNvPr id="5" name="">
            <a:extLst>
              <a:ext uri="{FF2B5EF4-FFF2-40B4-BE49-F238E27FC236}">
                <ns2:creationId id="{F568EF70-2599-432E-8A6F-EF9032919800}"/>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D2ABD915-9307-43AC-B8BB-7C36211262D6}"/>
              </a:ext>
            </a:extLst>
          </p:cNvPr>
          <p:cNvSpPr>
            <a:spLocks noGrp="1"/>
          </p:cNvSpPr>
          <p:nvPr/>
        </p:nvSpPr>
        <p:spPr>
          <a:xfrm>
            <a:off x="1276350" y="2386013"/>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window.SENSOR = {</a:t>
            </a:r>
          </a:p>
        </p:txBody>
      </p:sp>
      <p:sp>
        <p:nvSpPr>
          <p:cNvPr id="7" name="">
            <a:extLst>
              <a:ext uri="{FF2B5EF4-FFF2-40B4-BE49-F238E27FC236}">
                <ns2:creationId id="{5350E635-80DF-46FD-877C-971056AD4FAB}"/>
              </a:ext>
            </a:extLst>
          </p:cNvPr>
          <p:cNvSpPr>
            <a:spLocks noGrp="1"/>
          </p:cNvSpPr>
          <p:nvPr/>
        </p:nvSpPr>
        <p:spPr>
          <a:xfrm>
            <a:off x="828675" y="2741104"/>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8" name="">
            <a:extLst>
              <a:ext uri="{FF2B5EF4-FFF2-40B4-BE49-F238E27FC236}">
                <ns2:creationId id="{8DB623A2-94EF-4D35-800D-A1FA6B770D9D}"/>
              </a:ext>
            </a:extLst>
          </p:cNvPr>
          <p:cNvSpPr>
            <a:spLocks noGrp="1"/>
          </p:cNvSpPr>
          <p:nvPr/>
        </p:nvSpPr>
        <p:spPr>
          <a:xfrm>
            <a:off x="1276350" y="2703004"/>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sensor_id: "S01",</a:t>
            </a:r>
          </a:p>
        </p:txBody>
      </p:sp>
      <p:sp>
        <p:nvSpPr>
          <p:cNvPr id="9" name="">
            <a:extLst>
              <a:ext uri="{FF2B5EF4-FFF2-40B4-BE49-F238E27FC236}">
                <ns2:creationId id="{B5A10F02-11C2-448F-A059-6179D09415B7}"/>
              </a:ext>
            </a:extLst>
          </p:cNvPr>
          <p:cNvSpPr>
            <a:spLocks noGrp="1"/>
          </p:cNvSpPr>
          <p:nvPr/>
        </p:nvSpPr>
        <p:spPr>
          <a:xfrm>
            <a:off x="828675" y="305809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0" name="">
            <a:extLst>
              <a:ext uri="{FF2B5EF4-FFF2-40B4-BE49-F238E27FC236}">
                <ns2:creationId id="{073E2F72-4843-40BE-B77D-35C50E3D817A}"/>
              </a:ext>
            </a:extLst>
          </p:cNvPr>
          <p:cNvSpPr>
            <a:spLocks noGrp="1"/>
          </p:cNvSpPr>
          <p:nvPr/>
        </p:nvSpPr>
        <p:spPr>
          <a:xfrm>
            <a:off x="1276350" y="3019997"/>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location: "창고",</a:t>
            </a:r>
          </a:p>
        </p:txBody>
      </p:sp>
      <p:sp>
        <p:nvSpPr>
          <p:cNvPr id="11" name="">
            <a:extLst>
              <a:ext uri="{FF2B5EF4-FFF2-40B4-BE49-F238E27FC236}">
                <ns2:creationId id="{82893280-0F7D-405A-B057-35B24BADFC1E}"/>
              </a:ext>
            </a:extLst>
          </p:cNvPr>
          <p:cNvSpPr>
            <a:spLocks noGrp="1"/>
          </p:cNvSpPr>
          <p:nvPr/>
        </p:nvSpPr>
        <p:spPr>
          <a:xfrm>
            <a:off x="828675" y="337508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2" name="">
            <a:extLst>
              <a:ext uri="{FF2B5EF4-FFF2-40B4-BE49-F238E27FC236}">
                <ns2:creationId id="{F05839AE-4957-4C47-8E0E-5FE76324BC06}"/>
              </a:ext>
            </a:extLst>
          </p:cNvPr>
          <p:cNvSpPr>
            <a:spLocks noGrp="1"/>
          </p:cNvSpPr>
          <p:nvPr/>
        </p:nvSpPr>
        <p:spPr>
          <a:xfrm>
            <a:off x="1276350" y="3336989"/>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temperature_c: 22.5</a:t>
            </a:r>
          </a:p>
        </p:txBody>
      </p:sp>
      <p:sp>
        <p:nvSpPr>
          <p:cNvPr id="13" name="">
            <a:extLst>
              <a:ext uri="{FF2B5EF4-FFF2-40B4-BE49-F238E27FC236}">
                <ns2:creationId id="{6683E878-D913-4BAF-8213-AE07C182F366}"/>
              </a:ext>
            </a:extLst>
          </p:cNvPr>
          <p:cNvSpPr>
            <a:spLocks noGrp="1"/>
          </p:cNvSpPr>
          <p:nvPr/>
        </p:nvSpPr>
        <p:spPr>
          <a:xfrm>
            <a:off x="828675" y="369208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4" name="">
            <a:extLst>
              <a:ext uri="{FF2B5EF4-FFF2-40B4-BE49-F238E27FC236}">
                <ns2:creationId id="{432752FD-1296-4581-ACB5-DB2A34054BDC}"/>
              </a:ext>
            </a:extLst>
          </p:cNvPr>
          <p:cNvSpPr>
            <a:spLocks noGrp="1"/>
          </p:cNvSpPr>
          <p:nvPr/>
        </p:nvSpPr>
        <p:spPr>
          <a:xfrm>
            <a:off x="1276350" y="3653981"/>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a:t>
            </a:r>
          </a:p>
        </p:txBody>
      </p:sp>
      <p:sp>
        <p:nvSpPr>
          <p:cNvPr id="15" name="">
            <a:extLst>
              <a:ext uri="{FF2B5EF4-FFF2-40B4-BE49-F238E27FC236}">
                <ns2:creationId id="{BD9D1310-8C01-45BF-8499-7AA5029908B6}"/>
              </a:ext>
            </a:extLst>
          </p:cNvPr>
          <p:cNvSpPr>
            <a:spLocks noGrp="1"/>
          </p:cNvSpPr>
          <p:nvPr/>
        </p:nvSpPr>
        <p:spPr>
          <a:xfrm>
            <a:off x="8143875" y="2281238"/>
            <a:ext cx="3333750" cy="4095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실행 결과</a:t>
            </a:r>
          </a:p>
        </p:txBody>
      </p:sp>
      <p:sp>
        <p:nvSpPr>
          <p:cNvPr id="16" name="">
            <a:extLst>
              <a:ext uri="{FF2B5EF4-FFF2-40B4-BE49-F238E27FC236}">
                <ns2:creationId id="{F0EC0BE5-C1F4-4D65-BAC5-8ACC149D937F}"/>
              </a:ext>
            </a:extLst>
          </p:cNvPr>
          <p:cNvSpPr>
            <a:spLocks noGrp="1"/>
          </p:cNvSpPr>
          <p:nvPr/>
        </p:nvSpPr>
        <p:spPr>
          <a:xfrm>
            <a:off x="8143875" y="2862263"/>
            <a:ext cx="3333750" cy="721233"/>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저장·새로고침 뒤 창고 센서로 보입니다.</a:t>
            </a:r>
          </a:p>
        </p:txBody>
      </p:sp>
      <p:sp>
        <p:nvSpPr>
          <p:cNvPr id="17" name="">
            <a:extLst>
              <a:ext uri="{FF2B5EF4-FFF2-40B4-BE49-F238E27FC236}">
                <ns2:creationId id="{570794E8-8987-45EC-8A44-C2DBAFB962C5}"/>
              </a:ext>
            </a:extLst>
          </p:cNvPr>
          <p:cNvSpPr>
            <a:spLocks noGrp="1"/>
          </p:cNvSpPr>
          <p:nvPr/>
        </p:nvSpPr>
        <p:spPr>
          <a:xfrm>
            <a:off x="8143875" y="3631121"/>
            <a:ext cx="3333750" cy="721233"/>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data.js는 HTML이 별도로 읽습니다.</a:t>
            </a:r>
          </a:p>
        </p:txBody>
      </p:sp>
      <p:sp>
        <p:nvSpPr>
          <p:cNvPr id="18" name="">
            <a:extLst>
              <a:ext uri="{FF2B5EF4-FFF2-40B4-BE49-F238E27FC236}">
                <ns2:creationId id="{A9AB5523-8E45-4F5F-AEDD-0576FE0B0C37}"/>
              </a:ext>
            </a:extLst>
          </p:cNvPr>
          <p:cNvSpPr>
            <a:spLocks noGrp="1"/>
          </p:cNvSpPr>
          <p:nvPr/>
        </p:nvSpPr>
        <p:spPr>
          <a:xfrm>
            <a:off x="685800" y="6172200"/>
            <a:ext cx="10820400" cy="9525"/>
          </a:xfrm>
          <a:prstGeom prst="rect">
            <a:avLst/>
          </a:prstGeom>
          <a:solidFill>
            <a:srgbClr val="D5DEDD"/>
          </a:solidFill>
          <a:ln w="0">
            <a:noFill/>
          </a:ln>
        </p:spPr>
      </p:sp>
      <p:sp>
        <p:nvSpPr>
          <p:cNvPr id="19" name="">
            <a:extLst>
              <a:ext uri="{FF2B5EF4-FFF2-40B4-BE49-F238E27FC236}">
                <ns2:creationId id="{3A9EE335-C4DC-4D95-95ED-73CB0A6F99B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20" name="">
            <a:extLst>
              <a:ext uri="{FF2B5EF4-FFF2-40B4-BE49-F238E27FC236}">
                <ns2:creationId id="{F6B73A89-5C6F-4B8A-9C55-0242D59F178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21" name="">
            <a:extLst>
              <a:ext uri="{FF2B5EF4-FFF2-40B4-BE49-F238E27FC236}">
                <ns2:creationId id="{270EB245-F09C-488A-95EE-3B65E6DB210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2" name="">
            <a:extLst>
              <a:ext uri="{FF2B5EF4-FFF2-40B4-BE49-F238E27FC236}">
                <ns2:creationId id="{FD7608F7-7462-4386-9243-517037C6497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062</a:t>
            </a:r>
          </a:p>
        </p:txBody>
      </p:sp>
    </p:spTree>
    <p:extLst>
      <p:ext uri="{BB962C8B-B14F-4D97-AF65-F5344CB8AC3E}">
        <ns4:creationId val="728824186"/>
      </p:ext>
    </p:extLst>
  </p:cSld>
</p:sld>
</file>

<file path=ppt/slides/slide6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4" name="">
            <a:extLst>
              <a:ext uri="{FF2B5EF4-FFF2-40B4-BE49-F238E27FC236}">
                <ns2:creationId id="{BA099BDF-AFF0-43CF-88BF-CE3A0AF3E9F3}"/>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C58A9D02-B83F-40D3-ABC9-B59157EE0FF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장소 데이터 읽기</a:t>
            </a:r>
          </a:p>
        </p:txBody>
      </p:sp>
      <p:sp>
        <p:nvSpPr>
          <p:cNvPr id="3" name="">
            <a:extLst>
              <a:ext uri="{FF2B5EF4-FFF2-40B4-BE49-F238E27FC236}">
                <ns2:creationId id="{90E8BC49-453F-4046-BECE-3A3EAC5DE825}"/>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2D06D23F-634E-443E-A9D2-44239F89BE4D}"/>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location은 장소 이름입니다.</a:t>
            </a:r>
          </a:p>
        </p:txBody>
      </p:sp>
      <p:sp>
        <p:nvSpPr>
          <p:cNvPr id="5" name="">
            <a:extLst>
              <a:ext uri="{FF2B5EF4-FFF2-40B4-BE49-F238E27FC236}">
                <ns2:creationId id="{330A20C1-C89B-4CA2-B710-7273C5AD6F0C}"/>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"창고"는 화면에 보여 줄 문자입니다.</a:t>
            </a:r>
          </a:p>
        </p:txBody>
      </p:sp>
      <p:sp>
        <p:nvSpPr>
          <p:cNvPr id="6" name="">
            <a:extLst>
              <a:ext uri="{FF2B5EF4-FFF2-40B4-BE49-F238E27FC236}">
                <ns2:creationId id="{B9755536-4666-4777-B6D1-C770BEF126D3}"/>
              </a:ext>
            </a:extLst>
          </p:cNvPr>
          <p:cNvSpPr>
            <a:spLocks noGrp="1"/>
          </p:cNvSpPr>
          <p:nvPr/>
        </p:nvSpPr>
        <p:spPr>
          <a:xfrm>
            <a:off x="685800" y="336042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SensorCard는 이 값을 props로 받습니다.</a:t>
            </a:r>
          </a:p>
        </p:txBody>
      </p:sp>
      <p:sp>
        <p:nvSpPr>
          <p:cNvPr id="7" name="">
            <a:extLst>
              <a:ext uri="{FF2B5EF4-FFF2-40B4-BE49-F238E27FC236}">
                <ns2:creationId id="{0D671B6A-E5B6-49EC-A2BD-19F2EDA13C54}"/>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62장의 실제 예제 다시 읽기</a:t>
            </a:r>
          </a:p>
        </p:txBody>
      </p:sp>
      <p:sp>
        <p:nvSpPr>
          <p:cNvPr id="8" name="">
            <a:extLst>
              <a:ext uri="{FF2B5EF4-FFF2-40B4-BE49-F238E27FC236}">
                <ns2:creationId id="{1FCC768E-4453-43D9-B26C-5EDB67CC6563}"/>
              </a:ext>
            </a:extLst>
          </p:cNvPr>
          <p:cNvSpPr>
            <a:spLocks noGrp="1"/>
          </p:cNvSpPr>
          <p:nvPr/>
        </p:nvSpPr>
        <p:spPr>
          <a:xfrm>
            <a:off x="6267450" y="2628900"/>
            <a:ext cx="5238750" cy="1786890"/>
          </a:xfrm>
          <a:prstGeom prst="rect">
            <a:avLst/>
          </a:prstGeom>
          <a:solidFill>
            <a:srgbClr val="F1F6F5"/>
          </a:solidFill>
          <a:ln w="0">
            <a:noFill/>
          </a:ln>
        </p:spPr>
      </p:sp>
      <p:sp>
        <p:nvSpPr>
          <p:cNvPr id="9" name="">
            <a:extLst>
              <a:ext uri="{FF2B5EF4-FFF2-40B4-BE49-F238E27FC236}">
                <ns2:creationId id="{ACC95D1E-E953-4469-A3EF-45272A4840CD}"/>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10" name="">
            <a:extLst>
              <a:ext uri="{FF2B5EF4-FFF2-40B4-BE49-F238E27FC236}">
                <ns2:creationId id="{80F8EF32-4EB3-4632-831F-913FE146BDA8}"/>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window.SENSOR = {</a:t>
            </a:r>
          </a:p>
        </p:txBody>
      </p:sp>
      <p:sp>
        <p:nvSpPr>
          <p:cNvPr id="11" name="">
            <a:extLst>
              <a:ext uri="{FF2B5EF4-FFF2-40B4-BE49-F238E27FC236}">
                <ns2:creationId id="{CD57CC00-A050-44A7-95A7-A574C47236C3}"/>
              </a:ext>
            </a:extLst>
          </p:cNvPr>
          <p:cNvSpPr>
            <a:spLocks noGrp="1"/>
          </p:cNvSpPr>
          <p:nvPr/>
        </p:nvSpPr>
        <p:spPr>
          <a:xfrm>
            <a:off x="6410325" y="308343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12" name="">
            <a:extLst>
              <a:ext uri="{FF2B5EF4-FFF2-40B4-BE49-F238E27FC236}">
                <ns2:creationId id="{C6BB4DA7-9748-4943-B279-264841AB5E33}"/>
              </a:ext>
            </a:extLst>
          </p:cNvPr>
          <p:cNvSpPr>
            <a:spLocks noGrp="1"/>
          </p:cNvSpPr>
          <p:nvPr/>
        </p:nvSpPr>
        <p:spPr>
          <a:xfrm>
            <a:off x="6858000" y="304533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sensor_id: "S01",</a:t>
            </a:r>
          </a:p>
        </p:txBody>
      </p:sp>
      <p:sp>
        <p:nvSpPr>
          <p:cNvPr id="13" name="">
            <a:extLst>
              <a:ext uri="{FF2B5EF4-FFF2-40B4-BE49-F238E27FC236}">
                <ns2:creationId id="{6119CB07-BA9A-4571-912C-CDC4134917C8}"/>
              </a:ext>
            </a:extLst>
          </p:cNvPr>
          <p:cNvSpPr>
            <a:spLocks noGrp="1"/>
          </p:cNvSpPr>
          <p:nvPr/>
        </p:nvSpPr>
        <p:spPr>
          <a:xfrm>
            <a:off x="6410325" y="3376041"/>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4" name="">
            <a:extLst>
              <a:ext uri="{FF2B5EF4-FFF2-40B4-BE49-F238E27FC236}">
                <ns2:creationId id="{74AB9D6E-3C01-46AD-B909-8C4168C6481D}"/>
              </a:ext>
            </a:extLst>
          </p:cNvPr>
          <p:cNvSpPr>
            <a:spLocks noGrp="1"/>
          </p:cNvSpPr>
          <p:nvPr/>
        </p:nvSpPr>
        <p:spPr>
          <a:xfrm>
            <a:off x="6858000" y="3337941"/>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location: "창고",</a:t>
            </a:r>
          </a:p>
        </p:txBody>
      </p:sp>
      <p:sp>
        <p:nvSpPr>
          <p:cNvPr id="15" name="">
            <a:extLst>
              <a:ext uri="{FF2B5EF4-FFF2-40B4-BE49-F238E27FC236}">
                <ns2:creationId id="{D9290C7B-38C3-4307-ADDE-153802D9E2A6}"/>
              </a:ext>
            </a:extLst>
          </p:cNvPr>
          <p:cNvSpPr>
            <a:spLocks noGrp="1"/>
          </p:cNvSpPr>
          <p:nvPr/>
        </p:nvSpPr>
        <p:spPr>
          <a:xfrm>
            <a:off x="6410325" y="3668649"/>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6" name="">
            <a:extLst>
              <a:ext uri="{FF2B5EF4-FFF2-40B4-BE49-F238E27FC236}">
                <ns2:creationId id="{9DA408CF-C584-4F35-A39E-0FF13998F247}"/>
              </a:ext>
            </a:extLst>
          </p:cNvPr>
          <p:cNvSpPr>
            <a:spLocks noGrp="1"/>
          </p:cNvSpPr>
          <p:nvPr/>
        </p:nvSpPr>
        <p:spPr>
          <a:xfrm>
            <a:off x="6858000" y="3630549"/>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temperature_c: 22.5</a:t>
            </a:r>
          </a:p>
        </p:txBody>
      </p:sp>
      <p:sp>
        <p:nvSpPr>
          <p:cNvPr id="17" name="">
            <a:extLst>
              <a:ext uri="{FF2B5EF4-FFF2-40B4-BE49-F238E27FC236}">
                <ns2:creationId id="{FCA13D4B-CA5E-447A-B96D-0978C1B609E0}"/>
              </a:ext>
            </a:extLst>
          </p:cNvPr>
          <p:cNvSpPr>
            <a:spLocks noGrp="1"/>
          </p:cNvSpPr>
          <p:nvPr/>
        </p:nvSpPr>
        <p:spPr>
          <a:xfrm>
            <a:off x="6410325" y="3961257"/>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8" name="">
            <a:extLst>
              <a:ext uri="{FF2B5EF4-FFF2-40B4-BE49-F238E27FC236}">
                <ns2:creationId id="{C9364C05-0F4B-4C02-B54A-DBB14406253A}"/>
              </a:ext>
            </a:extLst>
          </p:cNvPr>
          <p:cNvSpPr>
            <a:spLocks noGrp="1"/>
          </p:cNvSpPr>
          <p:nvPr/>
        </p:nvSpPr>
        <p:spPr>
          <a:xfrm>
            <a:off x="6858000" y="3923157"/>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a:t>
            </a:r>
          </a:p>
        </p:txBody>
      </p:sp>
      <p:sp>
        <p:nvSpPr>
          <p:cNvPr id="19" name="">
            <a:extLst>
              <a:ext uri="{FF2B5EF4-FFF2-40B4-BE49-F238E27FC236}">
                <ns2:creationId id="{AE639BBF-AE9A-490E-BB40-3E1AFFE5CB26}"/>
              </a:ext>
            </a:extLst>
          </p:cNvPr>
          <p:cNvSpPr>
            <a:spLocks noGrp="1"/>
          </p:cNvSpPr>
          <p:nvPr/>
        </p:nvSpPr>
        <p:spPr>
          <a:xfrm>
            <a:off x="685800" y="6172200"/>
            <a:ext cx="10820400" cy="9525"/>
          </a:xfrm>
          <a:prstGeom prst="rect">
            <a:avLst/>
          </a:prstGeom>
          <a:solidFill>
            <a:srgbClr val="D5DEDD"/>
          </a:solidFill>
          <a:ln w="0">
            <a:noFill/>
          </a:ln>
        </p:spPr>
      </p:sp>
      <p:sp>
        <p:nvSpPr>
          <p:cNvPr id="20" name="">
            <a:extLst>
              <a:ext uri="{FF2B5EF4-FFF2-40B4-BE49-F238E27FC236}">
                <ns2:creationId id="{37DD036D-BD0E-428A-9F9A-34AB0662067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21" name="">
            <a:extLst>
              <a:ext uri="{FF2B5EF4-FFF2-40B4-BE49-F238E27FC236}">
                <ns2:creationId id="{CAD2267A-424A-4D22-A1D1-8D847A5544C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22" name="">
            <a:extLst>
              <a:ext uri="{FF2B5EF4-FFF2-40B4-BE49-F238E27FC236}">
                <ns2:creationId id="{C4776ACB-E7C4-4115-B549-DA5BA4FE993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3" name="">
            <a:extLst>
              <a:ext uri="{FF2B5EF4-FFF2-40B4-BE49-F238E27FC236}">
                <ns2:creationId id="{FC4F3073-FFBB-4BD5-97B8-0A14FF5188C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063</a:t>
            </a:r>
          </a:p>
        </p:txBody>
      </p:sp>
    </p:spTree>
    <p:extLst>
      <p:ext uri="{BB962C8B-B14F-4D97-AF65-F5344CB8AC3E}">
        <ns4:creationId val="466417169"/>
      </p:ext>
    </p:extLst>
  </p:cSld>
</p:sld>
</file>

<file path=ppt/slides/slide6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3" name="">
            <a:extLst>
              <a:ext uri="{FF2B5EF4-FFF2-40B4-BE49-F238E27FC236}">
                <ns2:creationId id="{E60F2672-76DC-4A2E-961A-8EDAF389536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15D46864-10A2-4057-91B4-E20041FA342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장소 변경의 결과</a:t>
            </a:r>
          </a:p>
        </p:txBody>
      </p:sp>
      <p:sp>
        <p:nvSpPr>
          <p:cNvPr id="3" name="">
            <a:extLst>
              <a:ext uri="{FF2B5EF4-FFF2-40B4-BE49-F238E27FC236}">
                <ns2:creationId id="{8BB193E9-8537-44CA-9634-FCA3A9FBE77F}"/>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명령·입력</a:t>
            </a:r>
          </a:p>
        </p:txBody>
      </p:sp>
      <p:sp>
        <p:nvSpPr>
          <p:cNvPr id="4" name="">
            <a:extLst>
              <a:ext uri="{FF2B5EF4-FFF2-40B4-BE49-F238E27FC236}">
                <ns2:creationId id="{DBBEF86F-B03A-4B76-8BC1-998FA54ECF0C}"/>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저장·새로고침 뒤 창고 센서로 보입니다.</a:t>
            </a:r>
          </a:p>
        </p:txBody>
      </p:sp>
      <p:sp>
        <p:nvSpPr>
          <p:cNvPr id="5" name="">
            <a:extLst>
              <a:ext uri="{FF2B5EF4-FFF2-40B4-BE49-F238E27FC236}">
                <ns2:creationId id="{44580AD8-ED23-4EB5-A177-943547275D82}"/>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data.js는 HTML이 별도로 읽습니다.</a:t>
            </a:r>
          </a:p>
        </p:txBody>
      </p:sp>
      <p:sp>
        <p:nvSpPr>
          <p:cNvPr id="6" name="">
            <a:extLst>
              <a:ext uri="{FF2B5EF4-FFF2-40B4-BE49-F238E27FC236}">
                <ns2:creationId id="{3CBA7684-F216-4FCD-A35E-D3574FC7A1A2}"/>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62장의 실제 예제 다시 읽기</a:t>
            </a:r>
          </a:p>
        </p:txBody>
      </p:sp>
      <p:sp>
        <p:nvSpPr>
          <p:cNvPr id="7" name="">
            <a:extLst>
              <a:ext uri="{FF2B5EF4-FFF2-40B4-BE49-F238E27FC236}">
                <ns2:creationId id="{C5853C7E-67F1-453D-806B-22D8398A8F95}"/>
              </a:ext>
            </a:extLst>
          </p:cNvPr>
          <p:cNvSpPr>
            <a:spLocks noGrp="1"/>
          </p:cNvSpPr>
          <p:nvPr/>
        </p:nvSpPr>
        <p:spPr>
          <a:xfrm>
            <a:off x="6267450" y="2628900"/>
            <a:ext cx="5238750" cy="1786890"/>
          </a:xfrm>
          <a:prstGeom prst="rect">
            <a:avLst/>
          </a:prstGeom>
          <a:solidFill>
            <a:srgbClr val="F1F6F5"/>
          </a:solidFill>
          <a:ln w="0">
            <a:noFill/>
          </a:ln>
        </p:spPr>
      </p:sp>
      <p:sp>
        <p:nvSpPr>
          <p:cNvPr id="8" name="">
            <a:extLst>
              <a:ext uri="{FF2B5EF4-FFF2-40B4-BE49-F238E27FC236}">
                <ns2:creationId id="{91599761-BD60-4469-A161-FA89C6027ABA}"/>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9" name="">
            <a:extLst>
              <a:ext uri="{FF2B5EF4-FFF2-40B4-BE49-F238E27FC236}">
                <ns2:creationId id="{8ADC7DE7-EABB-4EE3-BB29-A3B43801C7DD}"/>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window.SENSOR = {</a:t>
            </a:r>
          </a:p>
        </p:txBody>
      </p:sp>
      <p:sp>
        <p:nvSpPr>
          <p:cNvPr id="10" name="">
            <a:extLst>
              <a:ext uri="{FF2B5EF4-FFF2-40B4-BE49-F238E27FC236}">
                <ns2:creationId id="{EF0B8978-B18F-4BAF-85DD-FAB558D02A7A}"/>
              </a:ext>
            </a:extLst>
          </p:cNvPr>
          <p:cNvSpPr>
            <a:spLocks noGrp="1"/>
          </p:cNvSpPr>
          <p:nvPr/>
        </p:nvSpPr>
        <p:spPr>
          <a:xfrm>
            <a:off x="6410325" y="3083433"/>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11" name="">
            <a:extLst>
              <a:ext uri="{FF2B5EF4-FFF2-40B4-BE49-F238E27FC236}">
                <ns2:creationId id="{CA31C920-5718-43CF-A487-8B0C1413AFE0}"/>
              </a:ext>
            </a:extLst>
          </p:cNvPr>
          <p:cNvSpPr>
            <a:spLocks noGrp="1"/>
          </p:cNvSpPr>
          <p:nvPr/>
        </p:nvSpPr>
        <p:spPr>
          <a:xfrm>
            <a:off x="6858000" y="3045333"/>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sensor_id: "S01",</a:t>
            </a:r>
          </a:p>
        </p:txBody>
      </p:sp>
      <p:sp>
        <p:nvSpPr>
          <p:cNvPr id="12" name="">
            <a:extLst>
              <a:ext uri="{FF2B5EF4-FFF2-40B4-BE49-F238E27FC236}">
                <ns2:creationId id="{84FE31F4-9877-400E-AABA-214660DADC1C}"/>
              </a:ext>
            </a:extLst>
          </p:cNvPr>
          <p:cNvSpPr>
            <a:spLocks noGrp="1"/>
          </p:cNvSpPr>
          <p:nvPr/>
        </p:nvSpPr>
        <p:spPr>
          <a:xfrm>
            <a:off x="6410325" y="3376041"/>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13" name="">
            <a:extLst>
              <a:ext uri="{FF2B5EF4-FFF2-40B4-BE49-F238E27FC236}">
                <ns2:creationId id="{DE9FB1E1-2B30-481A-8868-502342CFF67F}"/>
              </a:ext>
            </a:extLst>
          </p:cNvPr>
          <p:cNvSpPr>
            <a:spLocks noGrp="1"/>
          </p:cNvSpPr>
          <p:nvPr/>
        </p:nvSpPr>
        <p:spPr>
          <a:xfrm>
            <a:off x="6858000" y="3337941"/>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location: "창고",</a:t>
            </a:r>
          </a:p>
        </p:txBody>
      </p:sp>
      <p:sp>
        <p:nvSpPr>
          <p:cNvPr id="14" name="">
            <a:extLst>
              <a:ext uri="{FF2B5EF4-FFF2-40B4-BE49-F238E27FC236}">
                <ns2:creationId id="{2E4ACDA1-4BDA-4614-929B-F8F2C85F585F}"/>
              </a:ext>
            </a:extLst>
          </p:cNvPr>
          <p:cNvSpPr>
            <a:spLocks noGrp="1"/>
          </p:cNvSpPr>
          <p:nvPr/>
        </p:nvSpPr>
        <p:spPr>
          <a:xfrm>
            <a:off x="6410325" y="3668649"/>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5" name="">
            <a:extLst>
              <a:ext uri="{FF2B5EF4-FFF2-40B4-BE49-F238E27FC236}">
                <ns2:creationId id="{BFB13DA6-96BD-4EB0-B480-EA7A2854FE7B}"/>
              </a:ext>
            </a:extLst>
          </p:cNvPr>
          <p:cNvSpPr>
            <a:spLocks noGrp="1"/>
          </p:cNvSpPr>
          <p:nvPr/>
        </p:nvSpPr>
        <p:spPr>
          <a:xfrm>
            <a:off x="6858000" y="3630549"/>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  temperature_c: 22.5</a:t>
            </a:r>
          </a:p>
        </p:txBody>
      </p:sp>
      <p:sp>
        <p:nvSpPr>
          <p:cNvPr id="16" name="">
            <a:extLst>
              <a:ext uri="{FF2B5EF4-FFF2-40B4-BE49-F238E27FC236}">
                <ns2:creationId id="{F0B8B017-F548-4105-A651-162C950B807F}"/>
              </a:ext>
            </a:extLst>
          </p:cNvPr>
          <p:cNvSpPr>
            <a:spLocks noGrp="1"/>
          </p:cNvSpPr>
          <p:nvPr/>
        </p:nvSpPr>
        <p:spPr>
          <a:xfrm>
            <a:off x="6410325" y="3961257"/>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7" name="">
            <a:extLst>
              <a:ext uri="{FF2B5EF4-FFF2-40B4-BE49-F238E27FC236}">
                <ns2:creationId id="{279FE6BF-4874-4475-AFE3-D52B5EEDC0DD}"/>
              </a:ext>
            </a:extLst>
          </p:cNvPr>
          <p:cNvSpPr>
            <a:spLocks noGrp="1"/>
          </p:cNvSpPr>
          <p:nvPr/>
        </p:nvSpPr>
        <p:spPr>
          <a:xfrm>
            <a:off x="6858000" y="3923157"/>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a:t>
            </a:r>
          </a:p>
        </p:txBody>
      </p:sp>
      <p:sp>
        <p:nvSpPr>
          <p:cNvPr id="18" name="">
            <a:extLst>
              <a:ext uri="{FF2B5EF4-FFF2-40B4-BE49-F238E27FC236}">
                <ns2:creationId id="{73527468-C2A7-4432-B513-1AE6D6DA64ED}"/>
              </a:ext>
            </a:extLst>
          </p:cNvPr>
          <p:cNvSpPr>
            <a:spLocks noGrp="1"/>
          </p:cNvSpPr>
          <p:nvPr/>
        </p:nvSpPr>
        <p:spPr>
          <a:xfrm>
            <a:off x="685800" y="6172200"/>
            <a:ext cx="10820400" cy="9525"/>
          </a:xfrm>
          <a:prstGeom prst="rect">
            <a:avLst/>
          </a:prstGeom>
          <a:solidFill>
            <a:srgbClr val="D5DEDD"/>
          </a:solidFill>
          <a:ln w="0">
            <a:noFill/>
          </a:ln>
        </p:spPr>
      </p:sp>
      <p:sp>
        <p:nvSpPr>
          <p:cNvPr id="19" name="">
            <a:extLst>
              <a:ext uri="{FF2B5EF4-FFF2-40B4-BE49-F238E27FC236}">
                <ns2:creationId id="{E1FD62D7-6139-45FE-9653-9AA7D948D6BC}"/>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20" name="">
            <a:extLst>
              <a:ext uri="{FF2B5EF4-FFF2-40B4-BE49-F238E27FC236}">
                <ns2:creationId id="{1D799267-C455-4578-8D32-7D7778CB8ED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21" name="">
            <a:extLst>
              <a:ext uri="{FF2B5EF4-FFF2-40B4-BE49-F238E27FC236}">
                <ns2:creationId id="{2678CD3A-8EED-4EDB-8346-D6BB47CA6B3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2" name="">
            <a:extLst>
              <a:ext uri="{FF2B5EF4-FFF2-40B4-BE49-F238E27FC236}">
                <ns2:creationId id="{DAAE9233-76A0-46A1-8278-935E18E669C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064</a:t>
            </a:r>
          </a:p>
        </p:txBody>
      </p:sp>
    </p:spTree>
    <p:extLst>
      <p:ext uri="{BB962C8B-B14F-4D97-AF65-F5344CB8AC3E}">
        <ns4:creationId val="396228430"/>
      </p:ext>
    </p:extLst>
  </p:cSld>
</p:sld>
</file>

<file path=ppt/slides/slide6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F15DD3FE-DCAA-4C04-99E4-10C086016343}"/>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1FA17F39-C327-40E2-9D5F-C6B2C0B17D3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입력과 부품</a:t>
            </a:r>
          </a:p>
        </p:txBody>
      </p:sp>
      <p:sp>
        <p:nvSpPr>
          <p:cNvPr id="3" name="">
            <a:extLst>
              <a:ext uri="{FF2B5EF4-FFF2-40B4-BE49-F238E27FC236}">
                <ns2:creationId id="{4749F8C1-D4D8-47ED-A4BB-DB456F73BF0F}"/>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같은 SensorCard를 실습실에 쓰려면?</a:t>
            </a:r>
          </a:p>
        </p:txBody>
      </p:sp>
      <p:sp>
        <p:nvSpPr>
          <p:cNvPr id="4" name="">
            <a:extLst>
              <a:ext uri="{FF2B5EF4-FFF2-40B4-BE49-F238E27FC236}">
                <ns2:creationId id="{52662FB1-89F2-4BB1-AE66-E8F0CB5A9E76}"/>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어떤 제공 입력을 바꿀까요?</a:t>
            </a:r>
          </a:p>
        </p:txBody>
      </p:sp>
      <p:sp>
        <p:nvSpPr>
          <p:cNvPr id="5" name="">
            <a:extLst>
              <a:ext uri="{FF2B5EF4-FFF2-40B4-BE49-F238E27FC236}">
                <ns2:creationId id="{09A4060D-1707-4E5C-BA7C-24F4F45139DC}"/>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30B1E6CC-71C9-44D5-95F9-0123CDB61141}"/>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BB5B2C47-9E58-4831-8051-78EFA0CEB67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DF2A4A0F-8FC1-477A-8710-FAFDD2040B2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80D834AB-0F2A-4C7A-B39E-B480178791E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AE77DF3F-31B3-4404-8C64-094615E7B12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065</a:t>
            </a:r>
          </a:p>
        </p:txBody>
      </p:sp>
    </p:spTree>
    <p:extLst>
      <p:ext uri="{BB962C8B-B14F-4D97-AF65-F5344CB8AC3E}">
        <ns4:creationId val="115862293"/>
      </p:ext>
    </p:extLst>
  </p:cSld>
</p:sld>
</file>

<file path=ppt/slides/slide6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2C435C72-5973-4928-B2BF-F7E4806374E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32E447F7-251B-40BA-BC7B-B7B7F62D456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A12  현재 값 기억하기</a:t>
            </a:r>
          </a:p>
        </p:txBody>
      </p:sp>
      <p:sp>
        <p:nvSpPr>
          <p:cNvPr id="3" name="">
            <a:extLst>
              <a:ext uri="{FF2B5EF4-FFF2-40B4-BE49-F238E27FC236}">
                <ns2:creationId id="{A6763CF6-2D8F-4FF2-8DB4-43E8DEE31026}"/>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441711F7-E4F2-45D8-A85A-FDE83389BA00}"/>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state는 화면 부품이 기억하는 현재 값입니다.</a:t>
            </a:r>
          </a:p>
        </p:txBody>
      </p:sp>
      <p:sp>
        <p:nvSpPr>
          <p:cNvPr id="5" name="">
            <a:extLst>
              <a:ext uri="{FF2B5EF4-FFF2-40B4-BE49-F238E27FC236}">
                <ns2:creationId id="{2E3F7341-25CF-4CD2-9E3F-BB0DF37A1AE5}"/>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클릭으로 바꿔도 파일을 저장하지 않습니다.</a:t>
            </a:r>
          </a:p>
        </p:txBody>
      </p:sp>
      <p:sp>
        <p:nvSpPr>
          <p:cNvPr id="6" name="">
            <a:extLst>
              <a:ext uri="{FF2B5EF4-FFF2-40B4-BE49-F238E27FC236}">
                <ns2:creationId id="{A338C7E4-291D-4F4B-9437-E387C2C3C2DE}"/>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모의 온도의 변화</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3128512"/>
                <a:gridCol w="2110238"/>
              </a:tblGrid>
              <a:tr h="514350">
                <a:tc>
                  <a:txBody>
                    <a:bodyPr wrap="square"/>
                    <a:lstStyle/>
                    <a:p>
                      <a:pPr>
                        <a:lnSpc>
                          <a:spcPct val="102000"/>
                        </a:lnSpc>
                        <a:buNone/>
                      </a:pPr>
                      <a:r>
                        <a:rPr sz="1875" b="1">
                          <a:solidFill>
                            <a:srgbClr val="172F39"/>
                          </a:solidFill>
                          <a:latin typeface="Noto Sans KR"/>
                          <a:ea typeface="Noto Sans KR"/>
                          <a:cs typeface="Noto Sans KR"/>
                        </a:rPr>
                        <a:t>행동</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화면 값</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처음</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22.5</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0.5 버튼 두 번</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23.5</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새로고침</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22.5</a:t>
                      </a:r>
                    </a:p>
                  </a:txBody>
                  <a:tcPr marL="114300" marR="114300" marT="76200" marB="76200" anchor="ctr">
                    <a:solidFill>
                      <a:srgbClr val="FFFFFF"/>
                    </a:solidFill>
                  </a:tcPr>
                </a:tc>
              </a:tr>
            </a:tbl>
          </a:graphicData>
        </a:graphic>
      </p:graphicFrame>
      <p:sp>
        <p:nvSpPr>
          <p:cNvPr id="8" name="">
            <a:extLst>
              <a:ext uri="{FF2B5EF4-FFF2-40B4-BE49-F238E27FC236}">
                <ns2:creationId id="{D712A758-248F-4E98-AD83-DBBC66E0E142}"/>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9A724881-BE7A-413D-91E3-0026EEF8916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49A2B16B-7814-4587-ACF7-68F61E54D7D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7FB33780-5170-49CE-B36F-A3E7A5610EB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250802BA-915F-4578-A746-31213E00085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066</a:t>
            </a:r>
          </a:p>
        </p:txBody>
      </p:sp>
    </p:spTree>
    <p:extLst>
      <p:ext uri="{BB962C8B-B14F-4D97-AF65-F5344CB8AC3E}">
        <ns4:creationId val="762707063"/>
      </p:ext>
    </p:extLst>
  </p:cSld>
</p:sld>
</file>

<file path=ppt/slides/slide6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7" name="">
            <a:extLst>
              <a:ext uri="{FF2B5EF4-FFF2-40B4-BE49-F238E27FC236}">
                <ns2:creationId id="{7ABF68EC-1CE1-4880-918A-0169093627B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71129E3E-C191-4635-A69B-EDA45CEDEB1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현재 값 기억하기의 예</a:t>
            </a:r>
          </a:p>
        </p:txBody>
      </p:sp>
      <p:sp>
        <p:nvSpPr>
          <p:cNvPr id="3" name="">
            <a:extLst>
              <a:ext uri="{FF2B5EF4-FFF2-40B4-BE49-F238E27FC236}">
                <ns2:creationId id="{83BCB6DD-292E-4FA1-8596-7F0575956A01}"/>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발췌: SensorCard 안의 상태 시작 부분</a:t>
            </a:r>
          </a:p>
        </p:txBody>
      </p:sp>
      <p:sp>
        <p:nvSpPr>
          <p:cNvPr id="4" name="">
            <a:extLst>
              <a:ext uri="{FF2B5EF4-FFF2-40B4-BE49-F238E27FC236}">
                <ns2:creationId id="{987EAA3A-E826-41C5-99F2-BEC44621C121}"/>
              </a:ext>
            </a:extLst>
          </p:cNvPr>
          <p:cNvSpPr>
            <a:spLocks noGrp="1"/>
          </p:cNvSpPr>
          <p:nvPr/>
        </p:nvSpPr>
        <p:spPr>
          <a:xfrm>
            <a:off x="685800" y="2262188"/>
            <a:ext cx="6953250" cy="957834"/>
          </a:xfrm>
          <a:prstGeom prst="rect">
            <a:avLst/>
          </a:prstGeom>
          <a:solidFill>
            <a:srgbClr val="F1F6F5"/>
          </a:solidFill>
          <a:ln w="0">
            <a:noFill/>
          </a:ln>
        </p:spPr>
      </p:sp>
      <p:sp>
        <p:nvSpPr>
          <p:cNvPr id="5" name="">
            <a:extLst>
              <a:ext uri="{FF2B5EF4-FFF2-40B4-BE49-F238E27FC236}">
                <ns2:creationId id="{4EB8F7E0-52EF-4CDC-916D-082031EE3FC2}"/>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3D052771-AACC-4670-BF59-F86D2F8F1683}"/>
              </a:ext>
            </a:extLst>
          </p:cNvPr>
          <p:cNvSpPr>
            <a:spLocks noGrp="1"/>
          </p:cNvSpPr>
          <p:nvPr/>
        </p:nvSpPr>
        <p:spPr>
          <a:xfrm>
            <a:off x="1276350" y="2386013"/>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const [temperature, setTemperature] =</a:t>
            </a:r>
          </a:p>
        </p:txBody>
      </p:sp>
      <p:sp>
        <p:nvSpPr>
          <p:cNvPr id="7" name="">
            <a:extLst>
              <a:ext uri="{FF2B5EF4-FFF2-40B4-BE49-F238E27FC236}">
                <ns2:creationId id="{F706BAC9-A92A-4136-910F-9B33526BB4BD}"/>
              </a:ext>
            </a:extLst>
          </p:cNvPr>
          <p:cNvSpPr>
            <a:spLocks noGrp="1"/>
          </p:cNvSpPr>
          <p:nvPr/>
        </p:nvSpPr>
        <p:spPr>
          <a:xfrm>
            <a:off x="828675" y="2741104"/>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8" name="">
            <a:extLst>
              <a:ext uri="{FF2B5EF4-FFF2-40B4-BE49-F238E27FC236}">
                <ns2:creationId id="{A14319B9-ACA7-47DE-B7CA-4B4E8E12857A}"/>
              </a:ext>
            </a:extLst>
          </p:cNvPr>
          <p:cNvSpPr>
            <a:spLocks noGrp="1"/>
          </p:cNvSpPr>
          <p:nvPr/>
        </p:nvSpPr>
        <p:spPr>
          <a:xfrm>
            <a:off x="1276350" y="2703004"/>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useState(window.SENSOR.temperature_c);</a:t>
            </a:r>
          </a:p>
        </p:txBody>
      </p:sp>
      <p:sp>
        <p:nvSpPr>
          <p:cNvPr id="9" name="">
            <a:extLst>
              <a:ext uri="{FF2B5EF4-FFF2-40B4-BE49-F238E27FC236}">
                <ns2:creationId id="{E5137F64-6126-4C7C-A7C2-E5907E0FC2A4}"/>
              </a:ext>
            </a:extLst>
          </p:cNvPr>
          <p:cNvSpPr>
            <a:spLocks noGrp="1"/>
          </p:cNvSpPr>
          <p:nvPr/>
        </p:nvSpPr>
        <p:spPr>
          <a:xfrm>
            <a:off x="8143875" y="2281238"/>
            <a:ext cx="3333750" cy="4095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실행 결과</a:t>
            </a:r>
          </a:p>
        </p:txBody>
      </p:sp>
      <p:sp>
        <p:nvSpPr>
          <p:cNvPr id="10" name="">
            <a:extLst>
              <a:ext uri="{FF2B5EF4-FFF2-40B4-BE49-F238E27FC236}">
                <ns2:creationId id="{3A926E7E-4300-4F9D-99EC-E4BE1CEEB2DD}"/>
              </a:ext>
            </a:extLst>
          </p:cNvPr>
          <p:cNvSpPr>
            <a:spLocks noGrp="1"/>
          </p:cNvSpPr>
          <p:nvPr/>
        </p:nvSpPr>
        <p:spPr>
          <a:xfrm>
            <a:off x="8143875" y="2862263"/>
            <a:ext cx="3333750" cy="721233"/>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22.5에서 두 번 클릭하면 23.5입니다.</a:t>
            </a:r>
          </a:p>
        </p:txBody>
      </p:sp>
      <p:sp>
        <p:nvSpPr>
          <p:cNvPr id="11" name="">
            <a:extLst>
              <a:ext uri="{FF2B5EF4-FFF2-40B4-BE49-F238E27FC236}">
                <ns2:creationId id="{D109E42B-6142-4228-9C55-AB4D4123479E}"/>
              </a:ext>
            </a:extLst>
          </p:cNvPr>
          <p:cNvSpPr>
            <a:spLocks noGrp="1"/>
          </p:cNvSpPr>
          <p:nvPr/>
        </p:nvSpPr>
        <p:spPr>
          <a:xfrm>
            <a:off x="8143875" y="3631121"/>
            <a:ext cx="3333750" cy="721233"/>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새로고침하면 처음 값 22.5로 돌아옵니다.</a:t>
            </a:r>
          </a:p>
        </p:txBody>
      </p:sp>
      <p:sp>
        <p:nvSpPr>
          <p:cNvPr id="12" name="">
            <a:extLst>
              <a:ext uri="{FF2B5EF4-FFF2-40B4-BE49-F238E27FC236}">
                <ns2:creationId id="{C4CA1867-F256-4EC1-B319-E70CE38F171D}"/>
              </a:ext>
            </a:extLst>
          </p:cNvPr>
          <p:cNvSpPr>
            <a:spLocks noGrp="1"/>
          </p:cNvSpPr>
          <p:nvPr/>
        </p:nvSpPr>
        <p:spPr>
          <a:xfrm>
            <a:off x="685800" y="6172200"/>
            <a:ext cx="10820400" cy="9525"/>
          </a:xfrm>
          <a:prstGeom prst="rect">
            <a:avLst/>
          </a:prstGeom>
          <a:solidFill>
            <a:srgbClr val="D5DEDD"/>
          </a:solidFill>
          <a:ln w="0">
            <a:noFill/>
          </a:ln>
        </p:spPr>
      </p:sp>
      <p:sp>
        <p:nvSpPr>
          <p:cNvPr id="13" name="">
            <a:extLst>
              <a:ext uri="{FF2B5EF4-FFF2-40B4-BE49-F238E27FC236}">
                <ns2:creationId id="{958A2A41-8D6B-49B1-86EE-35FC85A512D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4" name="">
            <a:extLst>
              <a:ext uri="{FF2B5EF4-FFF2-40B4-BE49-F238E27FC236}">
                <ns2:creationId id="{998996C3-E4D4-44C0-A786-DE1F23F01B0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5" name="">
            <a:extLst>
              <a:ext uri="{FF2B5EF4-FFF2-40B4-BE49-F238E27FC236}">
                <ns2:creationId id="{EE7B6F3B-9FD8-4340-B0E7-26F8AE8DD0E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6" name="">
            <a:extLst>
              <a:ext uri="{FF2B5EF4-FFF2-40B4-BE49-F238E27FC236}">
                <ns2:creationId id="{B8B8CF5E-67CF-4204-8E43-886BD70E8DB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067</a:t>
            </a:r>
          </a:p>
        </p:txBody>
      </p:sp>
    </p:spTree>
    <p:extLst>
      <p:ext uri="{BB962C8B-B14F-4D97-AF65-F5344CB8AC3E}">
        <ns4:creationId val="576041491"/>
      </p:ext>
    </p:extLst>
  </p:cSld>
</p:sld>
</file>

<file path=ppt/slides/slide6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25573514-3A8F-4091-B578-01CEA99059A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724B1482-6C17-4EBB-B7A9-7B6886E0905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state의 시작값 읽기</a:t>
            </a:r>
          </a:p>
        </p:txBody>
      </p:sp>
      <p:sp>
        <p:nvSpPr>
          <p:cNvPr id="3" name="">
            <a:extLst>
              <a:ext uri="{FF2B5EF4-FFF2-40B4-BE49-F238E27FC236}">
                <ns2:creationId id="{0DFB48C8-54AF-4051-93E1-B4EB667BF309}"/>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57EBDEA8-CFD3-4EED-B4EE-02EEE7FC134E}"/>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useState는 화면에서 기억할 값을 만듭니다.</a:t>
            </a:r>
          </a:p>
        </p:txBody>
      </p:sp>
      <p:sp>
        <p:nvSpPr>
          <p:cNvPr id="5" name="">
            <a:extLst>
              <a:ext uri="{FF2B5EF4-FFF2-40B4-BE49-F238E27FC236}">
                <ns2:creationId id="{7E317990-A6B5-4183-A841-2570CAF277D0}"/>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첫 값은 SENSOR.temperature_c입니다.</a:t>
            </a:r>
          </a:p>
        </p:txBody>
      </p:sp>
      <p:sp>
        <p:nvSpPr>
          <p:cNvPr id="6" name="">
            <a:extLst>
              <a:ext uri="{FF2B5EF4-FFF2-40B4-BE49-F238E27FC236}">
                <ns2:creationId id="{11AF43ED-9C99-4F1D-AF13-155D35A5184F}"/>
              </a:ext>
            </a:extLst>
          </p:cNvPr>
          <p:cNvSpPr>
            <a:spLocks noGrp="1"/>
          </p:cNvSpPr>
          <p:nvPr/>
        </p:nvSpPr>
        <p:spPr>
          <a:xfrm>
            <a:off x="685800" y="403479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setTemperature로 현재 값을 바꿉니다.</a:t>
            </a:r>
          </a:p>
        </p:txBody>
      </p:sp>
      <p:sp>
        <p:nvSpPr>
          <p:cNvPr id="7" name="">
            <a:extLst>
              <a:ext uri="{FF2B5EF4-FFF2-40B4-BE49-F238E27FC236}">
                <ns2:creationId id="{09A964BD-7FB5-4295-8A48-3754445DE979}"/>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처음 값과 현재 값</a:t>
            </a:r>
          </a:p>
        </p:txBody>
      </p:sp>
      <p:graphicFrame>
        <p:nvGraphicFramePr>
          <p:cNvPr id="21" name=""/>
          <p:cNvGraphicFramePr/>
          <p:nvPr/>
        </p:nvGraphicFramePr>
        <p:xfrm>
          <a:off x="6267450" y="2628900"/>
          <a:ext cx="5238750" cy="2333625"/>
        </p:xfrm>
        <a:graphic>
          <a:graphicData uri="http://schemas.openxmlformats.org/drawingml/2006/table">
            <a:tbl>
              <a:tblPr firstRow="1" bandRow="0"/>
              <a:tblGrid>
                <a:gridCol w="2876935"/>
                <a:gridCol w="2361815"/>
              </a:tblGrid>
              <a:tr h="514350">
                <a:tc>
                  <a:txBody>
                    <a:bodyPr wrap="square"/>
                    <a:lstStyle/>
                    <a:p>
                      <a:pPr>
                        <a:lnSpc>
                          <a:spcPct val="102000"/>
                        </a:lnSpc>
                        <a:buNone/>
                      </a:pPr>
                      <a:r>
                        <a:rPr sz="1875" b="1">
                          <a:solidFill>
                            <a:srgbClr val="172F39"/>
                          </a:solidFill>
                          <a:latin typeface="Noto Sans KR"/>
                          <a:ea typeface="Noto Sans KR"/>
                          <a:cs typeface="Noto Sans KR"/>
                        </a:rPr>
                        <a:t>부분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역할</a:t>
                      </a:r>
                    </a:p>
                  </a:txBody>
                  <a:tcPr marL="114300" marR="114300" marT="76200" marB="76200" anchor="ctr">
                    <a:solidFill>
                      <a:srgbClr val="DCECE8"/>
                    </a:solidFill>
                  </a:tcPr>
                </a:tc>
              </a:tr>
              <a:tr h="790575">
                <a:tc>
                  <a:txBody>
                    <a:bodyPr wrap="square"/>
                    <a:lstStyle/>
                    <a:p>
                      <a:pPr>
                        <a:lnSpc>
                          <a:spcPct val="102000"/>
                        </a:lnSpc>
                        <a:buNone/>
                      </a:pPr>
                      <a:r>
                        <a:rPr sz="1875" b="0">
                          <a:solidFill>
                            <a:srgbClr val="172F39"/>
                          </a:solidFill>
                          <a:latin typeface="Noto Sans KR"/>
                          <a:ea typeface="Noto Sans KR"/>
                          <a:cs typeface="Noto Sans KR"/>
                        </a:rPr>
                        <a:t>SENSOR.temperature_c</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처음 표시할 값</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temperature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기억하는 현재 온도</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setTemperature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현재 온도를 바꿈</a:t>
                      </a:r>
                    </a:p>
                  </a:txBody>
                  <a:tcPr marL="114300" marR="114300" marT="76200" marB="76200" anchor="ctr">
                    <a:solidFill>
                      <a:srgbClr val="FFFFFF"/>
                    </a:solidFill>
                  </a:tcPr>
                </a:tc>
              </a:tr>
            </a:tbl>
          </a:graphicData>
        </a:graphic>
      </p:graphicFrame>
      <p:sp>
        <p:nvSpPr>
          <p:cNvPr id="9" name="">
            <a:extLst>
              <a:ext uri="{FF2B5EF4-FFF2-40B4-BE49-F238E27FC236}">
                <ns2:creationId id="{49C2589A-C2DB-4D51-90E8-5FFE3041ECC4}"/>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36A6BCFA-453B-4035-B319-D7779C78262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FFBBB95A-347F-42A4-BDC1-5425A75A2EB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7C336D9B-AC45-4A0A-9C4B-B60EA2ADF04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44CF7B24-1E9C-4D0E-8FDF-35DB523893F5}"/>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068</a:t>
            </a:r>
          </a:p>
        </p:txBody>
      </p:sp>
    </p:spTree>
    <p:extLst>
      <p:ext uri="{BB962C8B-B14F-4D97-AF65-F5344CB8AC3E}">
        <ns4:creationId val="574430041"/>
      </p:ext>
    </p:extLst>
  </p:cSld>
</p:sld>
</file>

<file path=ppt/slides/slide6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1C90E638-56BE-42A5-9A21-765022A1E9A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439E6A36-5A61-40B4-BAA9-FAE9412F706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두 번 클릭과 새로고침</a:t>
            </a:r>
          </a:p>
        </p:txBody>
      </p:sp>
      <p:sp>
        <p:nvSpPr>
          <p:cNvPr id="3" name="">
            <a:extLst>
              <a:ext uri="{FF2B5EF4-FFF2-40B4-BE49-F238E27FC236}">
                <ns2:creationId id="{B826BDA1-7831-49FE-9B4D-8C5A8CF78432}"/>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두 번 클릭한 값</a:t>
            </a:r>
          </a:p>
        </p:txBody>
      </p:sp>
      <p:sp>
        <p:nvSpPr>
          <p:cNvPr id="4" name="">
            <a:extLst>
              <a:ext uri="{FF2B5EF4-FFF2-40B4-BE49-F238E27FC236}">
                <ns2:creationId id="{A796F049-56ED-4791-A169-56AD5207F164}"/>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22.5에서 두 번 클릭하면 23.5입니다.</a:t>
            </a:r>
          </a:p>
        </p:txBody>
      </p:sp>
      <p:sp>
        <p:nvSpPr>
          <p:cNvPr id="5" name="">
            <a:extLst>
              <a:ext uri="{FF2B5EF4-FFF2-40B4-BE49-F238E27FC236}">
                <ns2:creationId id="{EE4CDC5B-3D1E-4063-BE3C-6557395EF764}"/>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새로고침한 값</a:t>
            </a:r>
          </a:p>
        </p:txBody>
      </p:sp>
      <p:sp>
        <p:nvSpPr>
          <p:cNvPr id="6" name="">
            <a:extLst>
              <a:ext uri="{FF2B5EF4-FFF2-40B4-BE49-F238E27FC236}">
                <ns2:creationId id="{5CB237E5-E756-4DB2-A50E-DBE950290989}"/>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새로고침하면 처음 값 22.5로 돌아옵니다.</a:t>
            </a:r>
          </a:p>
        </p:txBody>
      </p:sp>
      <p:sp>
        <p:nvSpPr>
          <p:cNvPr id="7" name="">
            <a:extLst>
              <a:ext uri="{FF2B5EF4-FFF2-40B4-BE49-F238E27FC236}">
                <ns2:creationId id="{8D566867-F7DC-440D-A838-07331821908E}"/>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14B83B62-45BA-4657-A461-920EF68344F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DDCA2AF2-34C8-4A29-9FDA-F7F7E583DFF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35E684DB-E08C-43C2-8836-49A06B00C00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30E13807-8E63-4E7F-9B84-19A4F091ECE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069</a:t>
            </a:r>
          </a:p>
        </p:txBody>
      </p:sp>
    </p:spTree>
    <p:extLst>
      <p:ext uri="{BB962C8B-B14F-4D97-AF65-F5344CB8AC3E}">
        <ns4:creationId val="677803343"/>
      </p:ext>
    </p:extLst>
  </p:cSld>
</p:sld>
</file>

<file path=ppt/slides/slide7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333E8BA3-E02C-458D-8CFC-B98E134ADAC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5A514270-AD19-4ED8-BF8E-9D22B236C1F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새 입력 추적</a:t>
            </a:r>
          </a:p>
        </p:txBody>
      </p:sp>
      <p:sp>
        <p:nvSpPr>
          <p:cNvPr id="3" name="">
            <a:extLst>
              <a:ext uri="{FF2B5EF4-FFF2-40B4-BE49-F238E27FC236}">
                <ns2:creationId id="{287650C9-875B-434C-B2A7-5F3D51199589}"/>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처음 24에서 0.5 버튼을 세 번 누르면?</a:t>
            </a:r>
          </a:p>
        </p:txBody>
      </p:sp>
      <p:sp>
        <p:nvSpPr>
          <p:cNvPr id="4" name="">
            <a:extLst>
              <a:ext uri="{FF2B5EF4-FFF2-40B4-BE49-F238E27FC236}">
                <ns2:creationId id="{272ED4DE-92D2-4B83-B153-F36BA118860C}"/>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새로고침 뒤에는 얼마인가요?</a:t>
            </a:r>
          </a:p>
        </p:txBody>
      </p:sp>
      <p:sp>
        <p:nvSpPr>
          <p:cNvPr id="5" name="">
            <a:extLst>
              <a:ext uri="{FF2B5EF4-FFF2-40B4-BE49-F238E27FC236}">
                <ns2:creationId id="{F39059EB-574F-4938-9F28-66E90D87ADF5}"/>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4CA0C592-94AE-4EDF-8C19-E20D6BA8F00F}"/>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CB445200-F2BB-4CA6-B3AF-268A6F1519C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919BB8B3-09ED-4526-89D8-E7F6B22550B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C1DBB6C2-FC44-4217-9903-9EC02DFE0C3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CA2E4CFE-2548-4B04-AE1A-7E50F31E374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070</a:t>
            </a:r>
          </a:p>
        </p:txBody>
      </p:sp>
    </p:spTree>
    <p:extLst>
      <p:ext uri="{BB962C8B-B14F-4D97-AF65-F5344CB8AC3E}">
        <ns4:creationId val="1053417576"/>
      </p:ext>
    </p:extLst>
  </p:cSld>
</p:sld>
</file>

<file path=ppt/slides/slide7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F76E9642-CDC0-4A34-B2F8-724F128F32F5}"/>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5교시</a:t>
            </a:r>
          </a:p>
        </p:txBody>
      </p:sp>
      <p:sp>
        <p:nvSpPr>
          <p:cNvPr id="2" name="">
            <a:extLst>
              <a:ext uri="{FF2B5EF4-FFF2-40B4-BE49-F238E27FC236}">
                <ns2:creationId id="{2CC27C59-D42A-43DF-B4B4-5F1BBD0C18DA}"/>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MCP 요청과 응답</a:t>
            </a:r>
          </a:p>
        </p:txBody>
      </p:sp>
      <p:sp>
        <p:nvSpPr>
          <p:cNvPr id="3" name="">
            <a:extLst>
              <a:ext uri="{FF2B5EF4-FFF2-40B4-BE49-F238E27FC236}">
                <ns2:creationId id="{AA0338CE-B725-4A6D-8D97-61994DAA14B0}"/>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50분 수업입니다.</a:t>
            </a:r>
          </a:p>
        </p:txBody>
      </p:sp>
      <p:sp>
        <p:nvSpPr>
          <p:cNvPr id="4" name="">
            <a:extLst>
              <a:ext uri="{FF2B5EF4-FFF2-40B4-BE49-F238E27FC236}">
                <ns2:creationId id="{4C828096-EED3-449B-B435-D6CC8074CA2D}"/>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예제를 함께 보고 따라 해 봅니다.</a:t>
            </a:r>
          </a:p>
        </p:txBody>
      </p:sp>
      <p:sp>
        <p:nvSpPr>
          <p:cNvPr id="5" name="">
            <a:extLst>
              <a:ext uri="{FF2B5EF4-FFF2-40B4-BE49-F238E27FC236}">
                <ns2:creationId id="{891C101C-0848-4DB0-A203-DF45685802CC}"/>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결과가 예상과 같은지 확인해 봅니다.</a:t>
            </a:r>
          </a:p>
        </p:txBody>
      </p:sp>
      <p:sp>
        <p:nvSpPr>
          <p:cNvPr id="6" name="">
            <a:extLst>
              <a:ext uri="{FF2B5EF4-FFF2-40B4-BE49-F238E27FC236}">
                <ns2:creationId id="{224246AF-B5C2-49ED-A4C3-D7C8FD88C783}"/>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EB03B632-A413-453C-A60F-B655EEEFBFA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E177FF0C-EE3F-47FD-ADEE-EEEFA98ACA9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A6580272-2427-4DBC-AAEE-D0E76397BE7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42E91B5E-04CE-4A3E-AC54-82CFCBF499B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071</a:t>
            </a:r>
          </a:p>
        </p:txBody>
      </p:sp>
    </p:spTree>
    <p:extLst>
      <p:ext uri="{BB962C8B-B14F-4D97-AF65-F5344CB8AC3E}">
        <ns4:creationId val="952970588"/>
      </p:ext>
    </p:extLst>
  </p:cSld>
</p:sld>
</file>

<file path=ppt/slides/slide7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32124562-C529-4574-AB09-57634140EE1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E2E43666-34DC-4046-BEBD-1B279710EB0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읽는 방법과 허용할 작업</a:t>
            </a:r>
          </a:p>
        </p:txBody>
      </p:sp>
      <p:sp>
        <p:nvSpPr>
          <p:cNvPr id="3" name="">
            <a:extLst>
              <a:ext uri="{FF2B5EF4-FFF2-40B4-BE49-F238E27FC236}">
                <ns2:creationId id="{39A67324-E243-4CE4-ADC3-DC0954D17F5D}"/>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파일 직접 읽기</a:t>
            </a:r>
          </a:p>
        </p:txBody>
      </p:sp>
      <p:sp>
        <p:nvSpPr>
          <p:cNvPr id="4" name="">
            <a:extLst>
              <a:ext uri="{FF2B5EF4-FFF2-40B4-BE49-F238E27FC236}">
                <ns2:creationId id="{F8FB091E-2E7B-459F-9838-C1398E4B925D}"/>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파일을 직접 읽는 방법과 MCP 조회를 비교합니다.</a:t>
            </a:r>
          </a:p>
        </p:txBody>
      </p:sp>
      <p:sp>
        <p:nvSpPr>
          <p:cNvPr id="5" name="">
            <a:extLst>
              <a:ext uri="{FF2B5EF4-FFF2-40B4-BE49-F238E27FC236}">
                <ns2:creationId id="{3D0459DC-4D95-43CB-BFF0-7C16BB9C288B}"/>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연결됐어도 쓰기 작업이 허용된 것은 아닙니다.</a:t>
            </a:r>
          </a:p>
        </p:txBody>
      </p:sp>
      <p:sp>
        <p:nvSpPr>
          <p:cNvPr id="6" name="">
            <a:extLst>
              <a:ext uri="{FF2B5EF4-FFF2-40B4-BE49-F238E27FC236}">
                <ns2:creationId id="{3A4116F9-6868-437D-B6FF-265EAC914221}"/>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자료를 읽는 경로</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352472"/>
                <a:gridCol w="2886278"/>
              </a:tblGrid>
              <a:tr h="514350">
                <a:tc>
                  <a:txBody>
                    <a:bodyPr wrap="square"/>
                    <a:lstStyle/>
                    <a:p>
                      <a:pPr>
                        <a:lnSpc>
                          <a:spcPct val="102000"/>
                        </a:lnSpc>
                        <a:buNone/>
                      </a:pPr>
                      <a:r>
                        <a:rPr sz="1875" b="1">
                          <a:solidFill>
                            <a:srgbClr val="172F39"/>
                          </a:solidFill>
                          <a:latin typeface="Noto Sans KR"/>
                          <a:ea typeface="Noto Sans KR"/>
                          <a:cs typeface="Noto Sans KR"/>
                        </a:rPr>
                        <a:t>경로</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자료 위치</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고정 HTML</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문서</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data.js</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브라우저 파일</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MCP 도구</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서버 기록</a:t>
                      </a:r>
                    </a:p>
                  </a:txBody>
                  <a:tcPr marL="114300" marR="114300" marT="76200" marB="76200" anchor="ctr">
                    <a:solidFill>
                      <a:srgbClr val="FFFFFF"/>
                    </a:solidFill>
                  </a:tcPr>
                </a:tc>
              </a:tr>
            </a:tbl>
          </a:graphicData>
        </a:graphic>
      </p:graphicFrame>
      <p:sp>
        <p:nvSpPr>
          <p:cNvPr id="8" name="">
            <a:extLst>
              <a:ext uri="{FF2B5EF4-FFF2-40B4-BE49-F238E27FC236}">
                <ns2:creationId id="{51566533-7ABA-4B5C-8437-F700FD0266EA}"/>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BE9E1307-C0C9-4BAD-88C7-C4FE6C41651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1A264007-C1FD-4082-9100-DE642BA2BCE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D8FC9B6D-CA58-4D98-A7A0-71F615F22C6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F86C59A1-38C2-4305-AD6F-74CC77A17BD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072</a:t>
            </a:r>
          </a:p>
        </p:txBody>
      </p:sp>
    </p:spTree>
    <p:extLst>
      <p:ext uri="{BB962C8B-B14F-4D97-AF65-F5344CB8AC3E}">
        <ns4:creationId val="1157709189"/>
      </p:ext>
    </p:extLst>
  </p:cSld>
</p:sld>
</file>

<file path=ppt/slides/slide7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BA68E6AE-CC78-4574-A5F7-E362BEC37DA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8398E99E-EB0A-4803-BC2F-9BB575B488F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A13  MCP의 세 역할</a:t>
            </a:r>
          </a:p>
        </p:txBody>
      </p:sp>
      <p:sp>
        <p:nvSpPr>
          <p:cNvPr id="3" name="">
            <a:extLst>
              <a:ext uri="{FF2B5EF4-FFF2-40B4-BE49-F238E27FC236}">
                <ns2:creationId id="{D964B3AA-456E-49C6-9AF1-737B060D39F5}"/>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02984E92-2BCB-4CBE-A1DE-D758D5BE9285}"/>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호스트는 AI 애플리케이션입니다.</a:t>
            </a:r>
          </a:p>
        </p:txBody>
      </p:sp>
      <p:sp>
        <p:nvSpPr>
          <p:cNvPr id="5" name="">
            <a:extLst>
              <a:ext uri="{FF2B5EF4-FFF2-40B4-BE49-F238E27FC236}">
                <ns2:creationId id="{26CDF926-A555-4E15-BD4B-5EE22D948AC1}"/>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클라이언트는 서버와 메시지를 주고받습니다.</a:t>
            </a:r>
          </a:p>
        </p:txBody>
      </p:sp>
      <p:sp>
        <p:nvSpPr>
          <p:cNvPr id="6" name="">
            <a:extLst>
              <a:ext uri="{FF2B5EF4-FFF2-40B4-BE49-F238E27FC236}">
                <ns2:creationId id="{BEBE5A84-4373-45F9-A163-2924AED677FF}"/>
              </a:ext>
            </a:extLst>
          </p:cNvPr>
          <p:cNvSpPr>
            <a:spLocks noGrp="1"/>
          </p:cNvSpPr>
          <p:nvPr/>
        </p:nvSpPr>
        <p:spPr>
          <a:xfrm>
            <a:off x="685800" y="369760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서버는 도구와 자료를 제공합니다.</a:t>
            </a:r>
          </a:p>
        </p:txBody>
      </p:sp>
      <p:sp>
        <p:nvSpPr>
          <p:cNvPr id="7" name="">
            <a:extLst>
              <a:ext uri="{FF2B5EF4-FFF2-40B4-BE49-F238E27FC236}">
                <ns2:creationId id="{2492413B-2865-40BE-9828-857ADE4A32BF}"/>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자료를 읽는 경로</a:t>
            </a:r>
          </a:p>
        </p:txBody>
      </p:sp>
      <p:graphicFrame>
        <p:nvGraphicFramePr>
          <p:cNvPr id="21" name=""/>
          <p:cNvGraphicFramePr/>
          <p:nvPr/>
        </p:nvGraphicFramePr>
        <p:xfrm>
          <a:off x="6267450" y="2628900"/>
          <a:ext cx="5238750" cy="2057400"/>
        </p:xfrm>
        <a:graphic>
          <a:graphicData uri="http://schemas.openxmlformats.org/drawingml/2006/table">
            <a:tbl>
              <a:tblPr firstRow="1" bandRow="0"/>
              <a:tblGrid>
                <a:gridCol w="2352472"/>
                <a:gridCol w="2886278"/>
              </a:tblGrid>
              <a:tr h="514350">
                <a:tc>
                  <a:txBody>
                    <a:bodyPr wrap="square"/>
                    <a:lstStyle/>
                    <a:p>
                      <a:pPr>
                        <a:lnSpc>
                          <a:spcPct val="102000"/>
                        </a:lnSpc>
                        <a:buNone/>
                      </a:pPr>
                      <a:r>
                        <a:rPr sz="1875" b="1">
                          <a:solidFill>
                            <a:srgbClr val="172F39"/>
                          </a:solidFill>
                          <a:latin typeface="Noto Sans KR"/>
                          <a:ea typeface="Noto Sans KR"/>
                          <a:cs typeface="Noto Sans KR"/>
                        </a:rPr>
                        <a:t>경로</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자료 위치</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고정 HTML</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문서</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data.js</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브라우저 파일</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MCP 도구</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서버 기록</a:t>
                      </a:r>
                    </a:p>
                  </a:txBody>
                  <a:tcPr marL="114300" marR="114300" marT="76200" marB="76200" anchor="ctr">
                    <a:solidFill>
                      <a:srgbClr val="FFFFFF"/>
                    </a:solidFill>
                  </a:tcPr>
                </a:tc>
              </a:tr>
            </a:tbl>
          </a:graphicData>
        </a:graphic>
      </p:graphicFrame>
      <p:sp>
        <p:nvSpPr>
          <p:cNvPr id="9" name="">
            <a:extLst>
              <a:ext uri="{FF2B5EF4-FFF2-40B4-BE49-F238E27FC236}">
                <ns2:creationId id="{20B1A66F-5008-4DF7-B978-8D0FD07C3850}"/>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AF61BABC-57EE-46A9-B9E7-8CEFB8F8A2D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FC4F8B38-8990-4CD2-9676-5E873949F11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473F5F05-42D5-44E6-8DCA-3C326A27AEF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ECED7023-1C8D-4B91-8537-F2B41BE317F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073</a:t>
            </a:r>
          </a:p>
        </p:txBody>
      </p:sp>
    </p:spTree>
    <p:extLst>
      <p:ext uri="{BB962C8B-B14F-4D97-AF65-F5344CB8AC3E}">
        <ns4:creationId val="1095025272"/>
      </p:ext>
    </p:extLst>
  </p:cSld>
</p:sld>
</file>

<file path=ppt/slides/slide7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99A0C134-9D74-41B6-BFA0-1C9A23E8A13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6B3B18AB-3ACF-418E-9B3E-FECEFC8659A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MCP의 세 역할의 예</a:t>
            </a:r>
          </a:p>
        </p:txBody>
      </p:sp>
      <p:graphicFrame>
        <p:nvGraphicFramePr>
          <p:cNvPr id="12" name=""/>
          <p:cNvGraphicFramePr/>
          <p:nvPr/>
        </p:nvGraphicFramePr>
        <p:xfrm>
          <a:off x="685800" y="1809750"/>
          <a:ext cx="10820400" cy="2145792"/>
        </p:xfrm>
        <a:graphic>
          <a:graphicData uri="http://schemas.openxmlformats.org/drawingml/2006/table">
            <a:tbl>
              <a:tblPr firstRow="1" bandRow="0"/>
              <a:tblGrid>
                <a:gridCol w="4774076"/>
                <a:gridCol w="6046324"/>
              </a:tblGrid>
              <a:tr h="536448">
                <a:tc>
                  <a:txBody>
                    <a:bodyPr wrap="square"/>
                    <a:lstStyle/>
                    <a:p>
                      <a:pPr>
                        <a:lnSpc>
                          <a:spcPct val="102000"/>
                        </a:lnSpc>
                        <a:buNone/>
                      </a:pPr>
                      <a:r>
                        <a:rPr sz="2025" b="1">
                          <a:solidFill>
                            <a:srgbClr val="172F39"/>
                          </a:solidFill>
                          <a:latin typeface="Noto Sans KR"/>
                          <a:ea typeface="Noto Sans KR"/>
                          <a:cs typeface="Noto Sans KR"/>
                        </a:rPr>
                        <a:t>경로</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자료를 읽는 곳</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고정 HTML</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문서</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data.js</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브라우저 파일</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MCP 도구</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서버 기록</a:t>
                      </a:r>
                    </a:p>
                  </a:txBody>
                  <a:tcPr marL="114300" marR="114300" marT="76200" marB="76200" anchor="ctr">
                    <a:solidFill>
                      <a:srgbClr val="FFFFFF"/>
                    </a:solidFill>
                  </a:tcPr>
                </a:tc>
              </a:tr>
            </a:tbl>
          </a:graphicData>
        </a:graphic>
      </p:graphicFrame>
      <p:sp>
        <p:nvSpPr>
          <p:cNvPr id="4" name="">
            <a:extLst>
              <a:ext uri="{FF2B5EF4-FFF2-40B4-BE49-F238E27FC236}">
                <ns2:creationId id="{5CE57F3A-B41C-42FC-AB55-40A156101A67}"/>
              </a:ext>
            </a:extLst>
          </p:cNvPr>
          <p:cNvSpPr>
            <a:spLocks noGrp="1"/>
          </p:cNvSpPr>
          <p:nvPr/>
        </p:nvSpPr>
        <p:spPr>
          <a:xfrm>
            <a:off x="685800" y="4184142"/>
            <a:ext cx="10820400" cy="395288"/>
          </a:xfrm>
          <a:prstGeom prst="rect">
            <a:avLst/>
          </a:prstGeom>
          <a:noFill/>
          <a:ln w="0">
            <a:noFill/>
          </a:ln>
        </p:spPr>
        <p:txBody>
          <a:bodyPr wrap="square" lIns="0" tIns="0" rIns="0" bIns="0">
            <a:noAutofit/>
          </a:bodyPr>
          <a:lstStyle/>
          <a:p>
            <a:pPr>
              <a:defRPr sz="1875" b="1">
                <a:solidFill>
                  <a:srgbClr val="08786F"/>
                </a:solidFill>
                <a:latin typeface="Noto Sans KR"/>
                <a:ea typeface="Noto Sans KR"/>
                <a:cs typeface="Noto Sans KR"/>
              </a:defRPr>
            </a:pPr>
            <a:r>
              <a:t>오늘은 Python STDIO 예제입니다.</a:t>
            </a:r>
          </a:p>
        </p:txBody>
      </p:sp>
      <p:sp>
        <p:nvSpPr>
          <p:cNvPr id="5" name="">
            <a:extLst>
              <a:ext uri="{FF2B5EF4-FFF2-40B4-BE49-F238E27FC236}">
                <ns2:creationId id="{74911946-337E-43A3-A9CA-2A3F7AE72D3E}"/>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454F18A1-40DF-4523-843C-5DF9CF3DFF6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EC2A67AF-74D5-481E-89AF-6AAD9F81697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5EB17B4A-A26C-4D78-A84C-4DC3C140274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7099D856-271B-4291-970B-8BE359FB898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074</a:t>
            </a:r>
          </a:p>
        </p:txBody>
      </p:sp>
    </p:spTree>
    <p:extLst>
      <p:ext uri="{BB962C8B-B14F-4D97-AF65-F5344CB8AC3E}">
        <ns4:creationId val="103336196"/>
      </p:ext>
    </p:extLst>
  </p:cSld>
</p:sld>
</file>

<file path=ppt/slides/slide7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9E5C34B3-3E6A-4910-A4FB-7AABB10A519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66CF9C00-A9A3-4EB8-A413-CC8E77F093F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읽기만 필요한 작업</a:t>
            </a:r>
          </a:p>
        </p:txBody>
      </p:sp>
      <p:sp>
        <p:nvSpPr>
          <p:cNvPr id="3" name="">
            <a:extLst>
              <a:ext uri="{FF2B5EF4-FFF2-40B4-BE49-F238E27FC236}">
                <ns2:creationId id="{80325424-3EAF-42AD-93CA-863F56CC3A27}"/>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필요한 온도 조회</a:t>
            </a:r>
          </a:p>
        </p:txBody>
      </p:sp>
      <p:sp>
        <p:nvSpPr>
          <p:cNvPr id="4" name="">
            <a:extLst>
              <a:ext uri="{FF2B5EF4-FFF2-40B4-BE49-F238E27FC236}">
                <ns2:creationId id="{34E0B65C-D5EA-4EE0-81C2-5F329C8098A6}"/>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온도 조회에 파일 삭제 권한은 필요하지 않습니다.</a:t>
            </a:r>
          </a:p>
        </p:txBody>
      </p:sp>
      <p:sp>
        <p:nvSpPr>
          <p:cNvPr id="5" name="">
            <a:extLst>
              <a:ext uri="{FF2B5EF4-FFF2-40B4-BE49-F238E27FC236}">
                <ns2:creationId id="{6EFC67FE-B1AE-4A8B-9327-B951CA8B4544}"/>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MCP가 React 화면을 자동으로 만들지 않습니다.</a:t>
            </a:r>
          </a:p>
        </p:txBody>
      </p:sp>
      <p:sp>
        <p:nvSpPr>
          <p:cNvPr id="6" name="">
            <a:extLst>
              <a:ext uri="{FF2B5EF4-FFF2-40B4-BE49-F238E27FC236}">
                <ns2:creationId id="{B93A7D9F-EF36-458A-841A-BF7E78EF0269}"/>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자료를 읽는 경로</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352472"/>
                <a:gridCol w="2886278"/>
              </a:tblGrid>
              <a:tr h="514350">
                <a:tc>
                  <a:txBody>
                    <a:bodyPr wrap="square"/>
                    <a:lstStyle/>
                    <a:p>
                      <a:pPr>
                        <a:lnSpc>
                          <a:spcPct val="102000"/>
                        </a:lnSpc>
                        <a:buNone/>
                      </a:pPr>
                      <a:r>
                        <a:rPr sz="1875" b="1">
                          <a:solidFill>
                            <a:srgbClr val="172F39"/>
                          </a:solidFill>
                          <a:latin typeface="Noto Sans KR"/>
                          <a:ea typeface="Noto Sans KR"/>
                          <a:cs typeface="Noto Sans KR"/>
                        </a:rPr>
                        <a:t>경로</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자료 위치</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고정 HTML</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문서</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data.js</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브라우저 파일</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MCP 도구</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서버 기록</a:t>
                      </a:r>
                    </a:p>
                  </a:txBody>
                  <a:tcPr marL="114300" marR="114300" marT="76200" marB="76200" anchor="ctr">
                    <a:solidFill>
                      <a:srgbClr val="FFFFFF"/>
                    </a:solidFill>
                  </a:tcPr>
                </a:tc>
              </a:tr>
            </a:tbl>
          </a:graphicData>
        </a:graphic>
      </p:graphicFrame>
      <p:sp>
        <p:nvSpPr>
          <p:cNvPr id="8" name="">
            <a:extLst>
              <a:ext uri="{FF2B5EF4-FFF2-40B4-BE49-F238E27FC236}">
                <ns2:creationId id="{0DDFAAAA-D83F-4480-9CB9-6FE4936745CA}"/>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3588E336-15B6-4E9C-BFDB-C96951000EA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A788263D-890A-418C-A948-FAE57F58190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6AA09918-BDEE-4825-BB3A-C0B59DBC1BE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7554B8BE-F3BD-4FF0-B2D6-7477772151A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075</a:t>
            </a:r>
          </a:p>
        </p:txBody>
      </p:sp>
    </p:spTree>
    <p:extLst>
      <p:ext uri="{BB962C8B-B14F-4D97-AF65-F5344CB8AC3E}">
        <ns4:creationId val="910457825"/>
      </p:ext>
    </p:extLst>
  </p:cSld>
</p:sld>
</file>

<file path=ppt/slides/slide7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F873779D-90F9-403D-80F0-73ACE9641C84}"/>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2A8C27A2-92F6-4925-8E19-69556B3A37F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필요한 권한</a:t>
            </a:r>
          </a:p>
        </p:txBody>
      </p:sp>
      <p:sp>
        <p:nvSpPr>
          <p:cNvPr id="3" name="">
            <a:extLst>
              <a:ext uri="{FF2B5EF4-FFF2-40B4-BE49-F238E27FC236}">
                <ns2:creationId id="{72F52E1F-7D0D-4E2C-B691-D4174CEDB242}"/>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온도 조회 도구가 계정 삭제 권한도 요구합니다.</a:t>
            </a:r>
          </a:p>
        </p:txBody>
      </p:sp>
      <p:sp>
        <p:nvSpPr>
          <p:cNvPr id="4" name="">
            <a:extLst>
              <a:ext uri="{FF2B5EF4-FFF2-40B4-BE49-F238E27FC236}">
                <ns2:creationId id="{F718FDE1-09FF-4D4A-A049-3D8849499070}"/>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이번 목적에 어떤 범위가 필요한가요?</a:t>
            </a:r>
          </a:p>
        </p:txBody>
      </p:sp>
      <p:sp>
        <p:nvSpPr>
          <p:cNvPr id="5" name="">
            <a:extLst>
              <a:ext uri="{FF2B5EF4-FFF2-40B4-BE49-F238E27FC236}">
                <ns2:creationId id="{2DB591F9-131B-4BCC-9F6C-AAD88614BD60}"/>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E218091B-1779-4D6E-B48A-9F41A4EE9967}"/>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45B0D0D8-4C3C-4D1C-85F0-F070886308E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6BD6E9CE-82C3-44AD-919A-B61D1C07FE7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C76F2DCF-F43D-4C42-A494-4CCF71F1501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932EFEBC-7028-4173-B9F2-51CB02D7256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076</a:t>
            </a:r>
          </a:p>
        </p:txBody>
      </p:sp>
    </p:spTree>
    <p:extLst>
      <p:ext uri="{BB962C8B-B14F-4D97-AF65-F5344CB8AC3E}">
        <ns4:creationId val="965506323"/>
      </p:ext>
    </p:extLst>
  </p:cSld>
</p:sld>
</file>

<file path=ppt/slides/slide7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EABDE46A-65E0-4D36-B10D-EDFCE98755E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B45EF006-823F-455E-AEE3-2D5CF91D844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A14  요청·알림·도구 목록</a:t>
            </a:r>
          </a:p>
        </p:txBody>
      </p:sp>
      <p:sp>
        <p:nvSpPr>
          <p:cNvPr id="3" name="">
            <a:extLst>
              <a:ext uri="{FF2B5EF4-FFF2-40B4-BE49-F238E27FC236}">
                <ns2:creationId id="{A857F2B1-6A03-4FC4-9B93-30853A6E76C3}"/>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23EE44C7-54C2-4427-9250-7A65FE7807A6}"/>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추가·복습: 초기화 뒤 도구 목록을 읽습니다.</a:t>
            </a:r>
          </a:p>
        </p:txBody>
      </p:sp>
      <p:sp>
        <p:nvSpPr>
          <p:cNvPr id="5" name="">
            <a:extLst>
              <a:ext uri="{FF2B5EF4-FFF2-40B4-BE49-F238E27FC236}">
                <ns2:creationId id="{702B22F5-C063-4F35-8BED-02378F8B93B9}"/>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요청 id로 대응 응답을 찾습니다.</a:t>
            </a:r>
          </a:p>
        </p:txBody>
      </p:sp>
      <p:sp>
        <p:nvSpPr>
          <p:cNvPr id="6" name="">
            <a:extLst>
              <a:ext uri="{FF2B5EF4-FFF2-40B4-BE49-F238E27FC236}">
                <ns2:creationId id="{8BC6323C-6ACC-4325-ACC2-7485EE091E46}"/>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요청과 알림</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377443"/>
                <a:gridCol w="1163133"/>
                <a:gridCol w="1698174"/>
              </a:tblGrid>
              <a:tr h="514350">
                <a:tc>
                  <a:txBody>
                    <a:bodyPr wrap="square"/>
                    <a:lstStyle/>
                    <a:p>
                      <a:pPr>
                        <a:lnSpc>
                          <a:spcPct val="102000"/>
                        </a:lnSpc>
                        <a:buNone/>
                      </a:pPr>
                      <a:r>
                        <a:rPr sz="1875" b="1">
                          <a:solidFill>
                            <a:srgbClr val="172F39"/>
                          </a:solidFill>
                          <a:latin typeface="Noto Sans KR"/>
                          <a:ea typeface="Noto Sans KR"/>
                          <a:cs typeface="Noto Sans KR"/>
                        </a:rPr>
                        <a:t>메시지</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id</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응답</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initialize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있음</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initialized 알림</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없음</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없음</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tools/list</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도구 목록</a:t>
                      </a:r>
                    </a:p>
                  </a:txBody>
                  <a:tcPr marL="114300" marR="114300" marT="76200" marB="76200" anchor="ctr">
                    <a:solidFill>
                      <a:srgbClr val="FFFFFF"/>
                    </a:solidFill>
                  </a:tcPr>
                </a:tc>
              </a:tr>
            </a:tbl>
          </a:graphicData>
        </a:graphic>
      </p:graphicFrame>
      <p:sp>
        <p:nvSpPr>
          <p:cNvPr id="8" name="">
            <a:extLst>
              <a:ext uri="{FF2B5EF4-FFF2-40B4-BE49-F238E27FC236}">
                <ns2:creationId id="{AF0F2A13-0887-43BF-95CE-A688D05FCB35}"/>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D61E99D8-14E9-490D-B877-3FE6A934102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B998C5E0-FC5C-45B1-B925-20AE2068C22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7104F3D7-DE37-441E-ACFB-9C7B42E63E0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BAD39319-C4D1-48F8-9BFA-9D8693BEE04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077</a:t>
            </a:r>
          </a:p>
        </p:txBody>
      </p:sp>
    </p:spTree>
    <p:extLst>
      <p:ext uri="{BB962C8B-B14F-4D97-AF65-F5344CB8AC3E}">
        <ns4:creationId val="1587236257"/>
      </p:ext>
    </p:extLst>
  </p:cSld>
</p:sld>
</file>

<file path=ppt/slides/slide7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8A0DDB48-D15E-40C8-90E8-BCB7A7C8382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B67BFE2C-E34F-416A-BA4D-AECC00D9D5D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요청·알림·도구 목록의 예</a:t>
            </a:r>
          </a:p>
        </p:txBody>
      </p:sp>
      <p:graphicFrame>
        <p:nvGraphicFramePr>
          <p:cNvPr id="12" name=""/>
          <p:cNvGraphicFramePr/>
          <p:nvPr/>
        </p:nvGraphicFramePr>
        <p:xfrm>
          <a:off x="685800" y="1809750"/>
          <a:ext cx="10820400" cy="2145792"/>
        </p:xfrm>
        <a:graphic>
          <a:graphicData uri="http://schemas.openxmlformats.org/drawingml/2006/table">
            <a:tbl>
              <a:tblPr firstRow="1" bandRow="0"/>
              <a:tblGrid>
                <a:gridCol w="5469065"/>
                <a:gridCol w="2675668"/>
                <a:gridCol w="2675668"/>
              </a:tblGrid>
              <a:tr h="536448">
                <a:tc>
                  <a:txBody>
                    <a:bodyPr wrap="square"/>
                    <a:lstStyle/>
                    <a:p>
                      <a:pPr>
                        <a:lnSpc>
                          <a:spcPct val="102000"/>
                        </a:lnSpc>
                        <a:buNone/>
                      </a:pPr>
                      <a:r>
                        <a:rPr sz="2025" b="1">
                          <a:solidFill>
                            <a:srgbClr val="172F39"/>
                          </a:solidFill>
                          <a:latin typeface="Noto Sans KR"/>
                          <a:ea typeface="Noto Sans KR"/>
                          <a:cs typeface="Noto Sans KR"/>
                        </a:rPr>
                        <a:t>메시지</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id</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응답</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initialize</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1</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있음</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initialized 알림</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없음</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없음</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tools/list</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목록</a:t>
                      </a:r>
                    </a:p>
                  </a:txBody>
                  <a:tcPr marL="114300" marR="114300" marT="76200" marB="76200" anchor="ctr">
                    <a:solidFill>
                      <a:srgbClr val="FFFFFF"/>
                    </a:solidFill>
                  </a:tcPr>
                </a:tc>
              </a:tr>
            </a:tbl>
          </a:graphicData>
        </a:graphic>
      </p:graphicFrame>
      <p:sp>
        <p:nvSpPr>
          <p:cNvPr id="4" name="">
            <a:extLst>
              <a:ext uri="{FF2B5EF4-FFF2-40B4-BE49-F238E27FC236}">
                <ns2:creationId id="{3F093F8A-CFEB-41F3-92DF-0FF3A1E14912}"/>
              </a:ext>
            </a:extLst>
          </p:cNvPr>
          <p:cNvSpPr>
            <a:spLocks noGrp="1"/>
          </p:cNvSpPr>
          <p:nvPr/>
        </p:nvSpPr>
        <p:spPr>
          <a:xfrm>
            <a:off x="685800" y="4184142"/>
            <a:ext cx="10820400" cy="395288"/>
          </a:xfrm>
          <a:prstGeom prst="rect">
            <a:avLst/>
          </a:prstGeom>
          <a:noFill/>
          <a:ln w="0">
            <a:noFill/>
          </a:ln>
        </p:spPr>
        <p:txBody>
          <a:bodyPr wrap="square" lIns="0" tIns="0" rIns="0" bIns="0">
            <a:noAutofit/>
          </a:bodyPr>
          <a:lstStyle/>
          <a:p>
            <a:pPr>
              <a:defRPr sz="1875" b="1">
                <a:solidFill>
                  <a:srgbClr val="08786F"/>
                </a:solidFill>
                <a:latin typeface="Noto Sans KR"/>
                <a:ea typeface="Noto Sans KR"/>
                <a:cs typeface="Noto Sans KR"/>
              </a:defRPr>
            </a:pPr>
            <a:r>
              <a:t>추가·복습: requests.jsonl의 첫 세 줄을 대조합니다.</a:t>
            </a:r>
          </a:p>
        </p:txBody>
      </p:sp>
      <p:sp>
        <p:nvSpPr>
          <p:cNvPr id="5" name="">
            <a:extLst>
              <a:ext uri="{FF2B5EF4-FFF2-40B4-BE49-F238E27FC236}">
                <ns2:creationId id="{AF2FA5B8-37C0-41B3-B567-F07BAE064F39}"/>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799C4B92-7D51-49EE-9E9B-A4CFF1894DF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57EA2B14-BDAD-4D9B-8A57-413689EFBCB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D87FF516-43E7-481F-A3D8-24935FA7077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E281CD08-DF9D-4764-9019-9526235B718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078</a:t>
            </a:r>
          </a:p>
        </p:txBody>
      </p:sp>
    </p:spTree>
    <p:extLst>
      <p:ext uri="{BB962C8B-B14F-4D97-AF65-F5344CB8AC3E}">
        <ns4:creationId val="956215999"/>
      </p:ext>
    </p:extLst>
  </p:cSld>
</p:sld>
</file>

<file path=ppt/slides/slide7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22F59E69-1F03-4CFD-BFC2-996002E25D4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F8DC33BA-11B6-44F6-A478-14EEDD98F66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호출의 입력 약속</a:t>
            </a:r>
          </a:p>
        </p:txBody>
      </p:sp>
      <p:sp>
        <p:nvSpPr>
          <p:cNvPr id="3" name="">
            <a:extLst>
              <a:ext uri="{FF2B5EF4-FFF2-40B4-BE49-F238E27FC236}">
                <ns2:creationId id="{C12CBB0C-B00B-42F6-80CB-5BF712EFC304}"/>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30303810-26AE-4AC0-A174-1044D70DE051}"/>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추가·복습: get_reading은 sensor_id 문자열을 받습니다.</a:t>
            </a:r>
          </a:p>
        </p:txBody>
      </p:sp>
      <p:sp>
        <p:nvSpPr>
          <p:cNvPr id="5" name="">
            <a:extLst>
              <a:ext uri="{FF2B5EF4-FFF2-40B4-BE49-F238E27FC236}">
                <ns2:creationId id="{21A773FF-D955-4046-80A6-91F41F750A68}"/>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메시지 한 개를 한 줄로 보냅니다.</a:t>
            </a:r>
          </a:p>
        </p:txBody>
      </p:sp>
      <p:sp>
        <p:nvSpPr>
          <p:cNvPr id="6" name="">
            <a:extLst>
              <a:ext uri="{FF2B5EF4-FFF2-40B4-BE49-F238E27FC236}">
                <ns2:creationId id="{B676543B-720C-497E-827B-6EB8543684F8}"/>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요청과 알림</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377443"/>
                <a:gridCol w="1163133"/>
                <a:gridCol w="1698174"/>
              </a:tblGrid>
              <a:tr h="514350">
                <a:tc>
                  <a:txBody>
                    <a:bodyPr wrap="square"/>
                    <a:lstStyle/>
                    <a:p>
                      <a:pPr>
                        <a:lnSpc>
                          <a:spcPct val="102000"/>
                        </a:lnSpc>
                        <a:buNone/>
                      </a:pPr>
                      <a:r>
                        <a:rPr sz="1875" b="1">
                          <a:solidFill>
                            <a:srgbClr val="172F39"/>
                          </a:solidFill>
                          <a:latin typeface="Noto Sans KR"/>
                          <a:ea typeface="Noto Sans KR"/>
                          <a:cs typeface="Noto Sans KR"/>
                        </a:rPr>
                        <a:t>메시지</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id</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응답</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initialize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있음</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initialized 알림</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없음</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없음</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tools/list</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도구 목록</a:t>
                      </a:r>
                    </a:p>
                  </a:txBody>
                  <a:tcPr marL="114300" marR="114300" marT="76200" marB="76200" anchor="ctr">
                    <a:solidFill>
                      <a:srgbClr val="FFFFFF"/>
                    </a:solidFill>
                  </a:tcPr>
                </a:tc>
              </a:tr>
            </a:tbl>
          </a:graphicData>
        </a:graphic>
      </p:graphicFrame>
      <p:sp>
        <p:nvSpPr>
          <p:cNvPr id="8" name="">
            <a:extLst>
              <a:ext uri="{FF2B5EF4-FFF2-40B4-BE49-F238E27FC236}">
                <ns2:creationId id="{23700497-5509-4EC0-98CB-B344E767B5B7}"/>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43686D99-D8F2-4F6F-A180-999F1637453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4C885B12-3D7B-44DC-9581-3EF745E348A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F1776E0B-CA93-44C3-B580-1BBBF8CA56E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E46B9CCA-447B-4DF4-8154-0B49ED666EF5}"/>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079</a:t>
            </a:r>
          </a:p>
        </p:txBody>
      </p:sp>
    </p:spTree>
    <p:extLst>
      <p:ext uri="{BB962C8B-B14F-4D97-AF65-F5344CB8AC3E}">
        <ns4:creationId val="2099613493"/>
      </p:ext>
    </p:extLst>
  </p:cSld>
</p:sld>
</file>

<file path=ppt/slides/slide8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39A6808D-F64C-4C2C-9794-C30AF51FBC3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BB43C6F0-0C2C-42C5-B887-45456D3E0E9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초기화 알림</a:t>
            </a:r>
          </a:p>
        </p:txBody>
      </p:sp>
      <p:sp>
        <p:nvSpPr>
          <p:cNvPr id="3" name="">
            <a:extLst>
              <a:ext uri="{FF2B5EF4-FFF2-40B4-BE49-F238E27FC236}">
                <ns2:creationId id="{FE690A3F-B56C-4EF7-A54B-4176C95E903D}"/>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1">
                <a:solidFill>
                  <a:srgbClr val="172F39"/>
                </a:solidFill>
                <a:latin typeface="Noto Sans KR"/>
                <a:ea typeface="Noto Sans KR"/>
                <a:cs typeface="Noto Sans KR"/>
              </a:defRPr>
            </a:pPr>
            <a:r>
              <a:t>추가·복습: initialized 알림도 응답을 기다리나요?</a:t>
            </a:r>
          </a:p>
        </p:txBody>
      </p:sp>
      <p:sp>
        <p:nvSpPr>
          <p:cNvPr id="4" name="">
            <a:extLst>
              <a:ext uri="{FF2B5EF4-FFF2-40B4-BE49-F238E27FC236}">
                <ns2:creationId id="{48788039-E8F3-4506-ACB9-E43F54B55EF8}"/>
              </a:ext>
            </a:extLst>
          </p:cNvPr>
          <p:cNvSpPr>
            <a:spLocks noGrp="1"/>
          </p:cNvSpPr>
          <p:nvPr/>
        </p:nvSpPr>
        <p:spPr>
          <a:xfrm>
            <a:off x="685800" y="2728722"/>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5" name="">
            <a:extLst>
              <a:ext uri="{FF2B5EF4-FFF2-40B4-BE49-F238E27FC236}">
                <ns2:creationId id="{C7030B7E-3D0A-4608-9711-640415D1CA39}"/>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BC034F90-DDD4-4813-B0AC-AECDA0C1CD3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EFB85DDA-E225-462C-8475-84D957D3EFA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7BCE1365-013B-4829-B147-FCCA3BE1591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1BB6F56D-B7C6-463F-9DCD-6F1359F4B045}"/>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080</a:t>
            </a:r>
          </a:p>
        </p:txBody>
      </p:sp>
    </p:spTree>
    <p:extLst>
      <p:ext uri="{BB962C8B-B14F-4D97-AF65-F5344CB8AC3E}">
        <ns4:creationId val="825000559"/>
      </p:ext>
    </p:extLst>
  </p:cSld>
</p:sld>
</file>

<file path=ppt/slides/slide8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88790214-2F8F-4E51-B6CC-3AB133733AC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1E48A86B-BB73-49A7-9559-B41B723E4F4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A15  STDIO 도구 호출</a:t>
            </a:r>
          </a:p>
        </p:txBody>
      </p:sp>
      <p:sp>
        <p:nvSpPr>
          <p:cNvPr id="3" name="">
            <a:extLst>
              <a:ext uri="{FF2B5EF4-FFF2-40B4-BE49-F238E27FC236}">
                <ns2:creationId id="{20B1525A-5838-4991-ADF0-9DC48414DCAC}"/>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51EB54A5-A947-4479-BB42-F02E2739D1CE}"/>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제공 클라이언트가 로컬 서버를 실행합니다.</a:t>
            </a:r>
          </a:p>
        </p:txBody>
      </p:sp>
      <p:sp>
        <p:nvSpPr>
          <p:cNvPr id="5" name="">
            <a:extLst>
              <a:ext uri="{FF2B5EF4-FFF2-40B4-BE49-F238E27FC236}">
                <ns2:creationId id="{08873C42-3D15-4CD0-A189-A19942AE00C5}"/>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S01·S02·S99의 응답을 비교합니다.</a:t>
            </a:r>
          </a:p>
        </p:txBody>
      </p:sp>
      <p:sp>
        <p:nvSpPr>
          <p:cNvPr id="6" name="">
            <a:extLst>
              <a:ext uri="{FF2B5EF4-FFF2-40B4-BE49-F238E27FC236}">
                <ns2:creationId id="{499AA2D4-EFD2-4506-B6CC-1459511D3656}"/>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같은 도구의 세 응답</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1628176"/>
                <a:gridCol w="2218545"/>
                <a:gridCol w="1392028"/>
              </a:tblGrid>
              <a:tr h="514350">
                <a:tc>
                  <a:txBody>
                    <a:bodyPr wrap="square"/>
                    <a:lstStyle/>
                    <a:p>
                      <a:pPr>
                        <a:lnSpc>
                          <a:spcPct val="102000"/>
                        </a:lnSpc>
                        <a:buNone/>
                      </a:pPr>
                      <a:r>
                        <a:rPr sz="1875" b="1">
                          <a:solidFill>
                            <a:srgbClr val="172F39"/>
                          </a:solidFill>
                          <a:latin typeface="Noto Sans KR"/>
                          <a:ea typeface="Noto Sans KR"/>
                          <a:cs typeface="Noto Sans KR"/>
                        </a:rPr>
                        <a:t>sensor_id</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결과</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isError</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S01</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22.5</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false</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S02</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null</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false</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S99</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Unknown sensor</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true</a:t>
                      </a:r>
                    </a:p>
                  </a:txBody>
                  <a:tcPr marL="114300" marR="114300" marT="76200" marB="76200" anchor="ctr">
                    <a:solidFill>
                      <a:srgbClr val="FFFFFF"/>
                    </a:solidFill>
                  </a:tcPr>
                </a:tc>
              </a:tr>
            </a:tbl>
          </a:graphicData>
        </a:graphic>
      </p:graphicFrame>
      <p:sp>
        <p:nvSpPr>
          <p:cNvPr id="8" name="">
            <a:extLst>
              <a:ext uri="{FF2B5EF4-FFF2-40B4-BE49-F238E27FC236}">
                <ns2:creationId id="{8B3AEA9F-8F18-4040-BAAE-AF9E44EE40EE}"/>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952EC4F9-8CF6-408A-A01F-6F83D4C1E1B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36147194-FBF0-4E69-99BA-2C6079DE0B5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9BC7A65A-E4C1-44B2-A989-6D3303AC4D5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5C9DEC3C-F909-401F-B865-22A5DB7FB6B5}"/>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081</a:t>
            </a:r>
          </a:p>
        </p:txBody>
      </p:sp>
    </p:spTree>
    <p:extLst>
      <p:ext uri="{BB962C8B-B14F-4D97-AF65-F5344CB8AC3E}">
        <ns4:creationId val="1182215100"/>
      </p:ext>
    </p:extLst>
  </p:cSld>
</p:sld>
</file>

<file path=ppt/slides/slide8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5" name="">
            <a:extLst>
              <a:ext uri="{FF2B5EF4-FFF2-40B4-BE49-F238E27FC236}">
                <ns2:creationId id="{284C8FD7-7763-4CE5-87C5-6E47E56F811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34EE308A-E92B-4D16-A7D2-4A87F4012D7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STDIO 도구 호출의 예</a:t>
            </a:r>
          </a:p>
        </p:txBody>
      </p:sp>
      <p:sp>
        <p:nvSpPr>
          <p:cNvPr id="3" name="">
            <a:extLst>
              <a:ext uri="{FF2B5EF4-FFF2-40B4-BE49-F238E27FC236}">
                <ns2:creationId id="{CCFE15E7-53FC-475C-9F52-A2CC6BCFEABC}"/>
              </a:ext>
            </a:extLst>
          </p:cNvPr>
          <p:cNvSpPr>
            <a:spLocks noGrp="1"/>
          </p:cNvSpPr>
          <p:nvPr/>
        </p:nvSpPr>
        <p:spPr>
          <a:xfrm>
            <a:off x="685800" y="1704975"/>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실행 위치: course. 외부 API 호출은 없습니다.</a:t>
            </a:r>
          </a:p>
        </p:txBody>
      </p:sp>
      <p:sp>
        <p:nvSpPr>
          <p:cNvPr id="4" name="">
            <a:extLst>
              <a:ext uri="{FF2B5EF4-FFF2-40B4-BE49-F238E27FC236}">
                <ns2:creationId id="{266C1E70-A467-4515-9E58-0D9524DCD483}"/>
              </a:ext>
            </a:extLst>
          </p:cNvPr>
          <p:cNvSpPr>
            <a:spLocks noGrp="1"/>
          </p:cNvSpPr>
          <p:nvPr/>
        </p:nvSpPr>
        <p:spPr>
          <a:xfrm>
            <a:off x="685800" y="2262188"/>
            <a:ext cx="6953250" cy="640842"/>
          </a:xfrm>
          <a:prstGeom prst="rect">
            <a:avLst/>
          </a:prstGeom>
          <a:solidFill>
            <a:srgbClr val="F1F6F5"/>
          </a:solidFill>
          <a:ln w="0">
            <a:noFill/>
          </a:ln>
        </p:spPr>
      </p:sp>
      <p:sp>
        <p:nvSpPr>
          <p:cNvPr id="5" name="">
            <a:extLst>
              <a:ext uri="{FF2B5EF4-FFF2-40B4-BE49-F238E27FC236}">
                <ns2:creationId id="{896E30C8-02F9-4650-8C5D-FE3A031F06C2}"/>
              </a:ext>
            </a:extLst>
          </p:cNvPr>
          <p:cNvSpPr>
            <a:spLocks noGrp="1"/>
          </p:cNvSpPr>
          <p:nvPr/>
        </p:nvSpPr>
        <p:spPr>
          <a:xfrm>
            <a:off x="828675" y="242411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6" name="">
            <a:extLst>
              <a:ext uri="{FF2B5EF4-FFF2-40B4-BE49-F238E27FC236}">
                <ns2:creationId id="{A9FC41C3-2DEE-40BF-813D-0065D700C7A9}"/>
              </a:ext>
            </a:extLst>
          </p:cNvPr>
          <p:cNvSpPr>
            <a:spLocks noGrp="1"/>
          </p:cNvSpPr>
          <p:nvPr/>
        </p:nvSpPr>
        <p:spPr>
          <a:xfrm>
            <a:off x="1276350" y="2386013"/>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python -X utf8 code/mcp_client.py</a:t>
            </a:r>
          </a:p>
        </p:txBody>
      </p:sp>
      <p:sp>
        <p:nvSpPr>
          <p:cNvPr id="7" name="">
            <a:extLst>
              <a:ext uri="{FF2B5EF4-FFF2-40B4-BE49-F238E27FC236}">
                <ns2:creationId id="{893301AE-0D3B-4428-AD77-97BC52EB7216}"/>
              </a:ext>
            </a:extLst>
          </p:cNvPr>
          <p:cNvSpPr>
            <a:spLocks noGrp="1"/>
          </p:cNvSpPr>
          <p:nvPr/>
        </p:nvSpPr>
        <p:spPr>
          <a:xfrm>
            <a:off x="8143875" y="2281238"/>
            <a:ext cx="3333750" cy="4095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실행 결과</a:t>
            </a:r>
          </a:p>
        </p:txBody>
      </p:sp>
      <p:sp>
        <p:nvSpPr>
          <p:cNvPr id="8" name="">
            <a:extLst>
              <a:ext uri="{FF2B5EF4-FFF2-40B4-BE49-F238E27FC236}">
                <ns2:creationId id="{B384B326-1857-4E5D-8D18-009C95A8EBBD}"/>
              </a:ext>
            </a:extLst>
          </p:cNvPr>
          <p:cNvSpPr>
            <a:spLocks noGrp="1"/>
          </p:cNvSpPr>
          <p:nvPr/>
        </p:nvSpPr>
        <p:spPr>
          <a:xfrm>
            <a:off x="8143875" y="2862263"/>
            <a:ext cx="3333750" cy="721233"/>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S01은 22.5, S02는 미측정 null입니다.</a:t>
            </a:r>
          </a:p>
        </p:txBody>
      </p:sp>
      <p:sp>
        <p:nvSpPr>
          <p:cNvPr id="9" name="">
            <a:extLst>
              <a:ext uri="{FF2B5EF4-FFF2-40B4-BE49-F238E27FC236}">
                <ns2:creationId id="{891BDEC3-5EAF-47A0-9F6A-43CB74DE353B}"/>
              </a:ext>
            </a:extLst>
          </p:cNvPr>
          <p:cNvSpPr>
            <a:spLocks noGrp="1"/>
          </p:cNvSpPr>
          <p:nvPr/>
        </p:nvSpPr>
        <p:spPr>
          <a:xfrm>
            <a:off x="8143875" y="3631121"/>
            <a:ext cx="3333750" cy="721233"/>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S99는 Unknown sensor와 isError입니다.</a:t>
            </a:r>
          </a:p>
        </p:txBody>
      </p:sp>
      <p:sp>
        <p:nvSpPr>
          <p:cNvPr id="10" name="">
            <a:extLst>
              <a:ext uri="{FF2B5EF4-FFF2-40B4-BE49-F238E27FC236}">
                <ns2:creationId id="{F68FBBB7-FF61-4D2A-AAB7-9BBD839CF3BF}"/>
              </a:ext>
            </a:extLst>
          </p:cNvPr>
          <p:cNvSpPr>
            <a:spLocks noGrp="1"/>
          </p:cNvSpPr>
          <p:nvPr/>
        </p:nvSpPr>
        <p:spPr>
          <a:xfrm>
            <a:off x="685800" y="6172200"/>
            <a:ext cx="10820400" cy="9525"/>
          </a:xfrm>
          <a:prstGeom prst="rect">
            <a:avLst/>
          </a:prstGeom>
          <a:solidFill>
            <a:srgbClr val="D5DEDD"/>
          </a:solidFill>
          <a:ln w="0">
            <a:noFill/>
          </a:ln>
        </p:spPr>
      </p:sp>
      <p:sp>
        <p:nvSpPr>
          <p:cNvPr id="11" name="">
            <a:extLst>
              <a:ext uri="{FF2B5EF4-FFF2-40B4-BE49-F238E27FC236}">
                <ns2:creationId id="{10E45D99-48E4-4335-8EF2-2005A8B9205C}"/>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2" name="">
            <a:extLst>
              <a:ext uri="{FF2B5EF4-FFF2-40B4-BE49-F238E27FC236}">
                <ns2:creationId id="{2C74E903-CEF9-40B6-91BD-F595C659123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3" name="">
            <a:extLst>
              <a:ext uri="{FF2B5EF4-FFF2-40B4-BE49-F238E27FC236}">
                <ns2:creationId id="{264F87F2-08B6-44B2-9EB9-5DF420A966A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4" name="">
            <a:extLst>
              <a:ext uri="{FF2B5EF4-FFF2-40B4-BE49-F238E27FC236}">
                <ns2:creationId id="{F999663C-AD23-4458-AAF2-20A425D4D97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082</a:t>
            </a:r>
          </a:p>
        </p:txBody>
      </p:sp>
    </p:spTree>
    <p:extLst>
      <p:ext uri="{BB962C8B-B14F-4D97-AF65-F5344CB8AC3E}">
        <ns4:creationId val="359526340"/>
      </p:ext>
    </p:extLst>
  </p:cSld>
</p:sld>
</file>

<file path=ppt/slides/slide8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6" name="">
            <a:extLst>
              <a:ext uri="{FF2B5EF4-FFF2-40B4-BE49-F238E27FC236}">
                <ns2:creationId id="{0798FB65-1AD4-4C33-9231-EB411441161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5CEDC79A-8E0F-4A03-8F0F-E412B92C965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STDIO 실행 명령 읽기</a:t>
            </a:r>
          </a:p>
        </p:txBody>
      </p:sp>
      <p:sp>
        <p:nvSpPr>
          <p:cNvPr id="3" name="">
            <a:extLst>
              <a:ext uri="{FF2B5EF4-FFF2-40B4-BE49-F238E27FC236}">
                <ns2:creationId id="{CC44B364-369C-4BA8-B134-C3C3E55EE5A5}"/>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E692DFFE-0CFA-4DF7-89AB-4B4F86232E28}"/>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mcp_client.py를 Python으로 실행합니다.</a:t>
            </a:r>
          </a:p>
        </p:txBody>
      </p:sp>
      <p:sp>
        <p:nvSpPr>
          <p:cNvPr id="5" name="">
            <a:extLst>
              <a:ext uri="{FF2B5EF4-FFF2-40B4-BE49-F238E27FC236}">
                <ns2:creationId id="{9ADC600D-65D4-497E-92FA-2D1C3B620497}"/>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클라이언트가 로컬 서버를 시작합니다.</a:t>
            </a:r>
          </a:p>
        </p:txBody>
      </p:sp>
      <p:sp>
        <p:nvSpPr>
          <p:cNvPr id="6" name="">
            <a:extLst>
              <a:ext uri="{FF2B5EF4-FFF2-40B4-BE49-F238E27FC236}">
                <ns2:creationId id="{999E08B5-854C-43D4-8A54-DD206756B05A}"/>
              </a:ext>
            </a:extLst>
          </p:cNvPr>
          <p:cNvSpPr>
            <a:spLocks noGrp="1"/>
          </p:cNvSpPr>
          <p:nvPr/>
        </p:nvSpPr>
        <p:spPr>
          <a:xfrm>
            <a:off x="685800" y="403479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-X utf8은 Python 입출력을 UTF-8로 정합니다.</a:t>
            </a:r>
          </a:p>
        </p:txBody>
      </p:sp>
      <p:sp>
        <p:nvSpPr>
          <p:cNvPr id="7" name="">
            <a:extLst>
              <a:ext uri="{FF2B5EF4-FFF2-40B4-BE49-F238E27FC236}">
                <ns2:creationId id="{79FF33E9-F5DB-4CAF-862D-F20C8EB06446}"/>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82장의 실제 예제 다시 읽기</a:t>
            </a:r>
          </a:p>
        </p:txBody>
      </p:sp>
      <p:sp>
        <p:nvSpPr>
          <p:cNvPr id="8" name="">
            <a:extLst>
              <a:ext uri="{FF2B5EF4-FFF2-40B4-BE49-F238E27FC236}">
                <ns2:creationId id="{3A677D64-080A-4435-A862-6D20CFFE258D}"/>
              </a:ext>
            </a:extLst>
          </p:cNvPr>
          <p:cNvSpPr>
            <a:spLocks noGrp="1"/>
          </p:cNvSpPr>
          <p:nvPr/>
        </p:nvSpPr>
        <p:spPr>
          <a:xfrm>
            <a:off x="6267450" y="2628900"/>
            <a:ext cx="5238750" cy="616458"/>
          </a:xfrm>
          <a:prstGeom prst="rect">
            <a:avLst/>
          </a:prstGeom>
          <a:solidFill>
            <a:srgbClr val="F1F6F5"/>
          </a:solidFill>
          <a:ln w="0">
            <a:noFill/>
          </a:ln>
        </p:spPr>
      </p:sp>
      <p:sp>
        <p:nvSpPr>
          <p:cNvPr id="9" name="">
            <a:extLst>
              <a:ext uri="{FF2B5EF4-FFF2-40B4-BE49-F238E27FC236}">
                <ns2:creationId id="{6E44B198-DA41-4F17-8BF5-95D91D357603}"/>
              </a:ext>
            </a:extLst>
          </p:cNvPr>
          <p:cNvSpPr>
            <a:spLocks noGrp="1"/>
          </p:cNvSpPr>
          <p:nvPr/>
        </p:nvSpPr>
        <p:spPr>
          <a:xfrm>
            <a:off x="6410325" y="2790825"/>
            <a:ext cx="361950" cy="292608"/>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10" name="">
            <a:extLst>
              <a:ext uri="{FF2B5EF4-FFF2-40B4-BE49-F238E27FC236}">
                <ns2:creationId id="{A5C10EA8-B64D-4B1E-B702-A2442F90A76A}"/>
              </a:ext>
            </a:extLst>
          </p:cNvPr>
          <p:cNvSpPr>
            <a:spLocks noGrp="1"/>
          </p:cNvSpPr>
          <p:nvPr/>
        </p:nvSpPr>
        <p:spPr>
          <a:xfrm>
            <a:off x="6858000" y="2752725"/>
            <a:ext cx="4514850" cy="349758"/>
          </a:xfrm>
          <a:prstGeom prst="rect">
            <a:avLst/>
          </a:prstGeom>
          <a:noFill/>
          <a:ln w="0">
            <a:noFill/>
          </a:ln>
        </p:spPr>
        <p:txBody>
          <a:bodyPr wrap="none" lIns="0" tIns="0" rIns="0" bIns="0">
            <a:noAutofit/>
          </a:bodyPr>
          <a:lstStyle/>
          <a:p>
            <a:pPr>
              <a:defRPr sz="1800" b="0">
                <a:solidFill>
                  <a:srgbClr val="172F39"/>
                </a:solidFill>
                <a:latin typeface="Consolas"/>
                <a:ea typeface="Consolas"/>
                <a:cs typeface="Consolas"/>
              </a:defRPr>
            </a:pPr>
            <a:r>
              <a:t>python -X utf8 code/mcp_client.py</a:t>
            </a:r>
          </a:p>
        </p:txBody>
      </p:sp>
      <p:sp>
        <p:nvSpPr>
          <p:cNvPr id="11" name="">
            <a:extLst>
              <a:ext uri="{FF2B5EF4-FFF2-40B4-BE49-F238E27FC236}">
                <ns2:creationId id="{137E539A-1D9A-418B-9904-E0A1765738AB}"/>
              </a:ext>
            </a:extLst>
          </p:cNvPr>
          <p:cNvSpPr>
            <a:spLocks noGrp="1"/>
          </p:cNvSpPr>
          <p:nvPr/>
        </p:nvSpPr>
        <p:spPr>
          <a:xfrm>
            <a:off x="685800" y="6172200"/>
            <a:ext cx="10820400" cy="9525"/>
          </a:xfrm>
          <a:prstGeom prst="rect">
            <a:avLst/>
          </a:prstGeom>
          <a:solidFill>
            <a:srgbClr val="D5DEDD"/>
          </a:solidFill>
          <a:ln w="0">
            <a:noFill/>
          </a:ln>
        </p:spPr>
      </p:sp>
      <p:sp>
        <p:nvSpPr>
          <p:cNvPr id="12" name="">
            <a:extLst>
              <a:ext uri="{FF2B5EF4-FFF2-40B4-BE49-F238E27FC236}">
                <ns2:creationId id="{83F53289-8667-40A5-9E8B-F65759FAE26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3" name="">
            <a:extLst>
              <a:ext uri="{FF2B5EF4-FFF2-40B4-BE49-F238E27FC236}">
                <ns2:creationId id="{7F8FAC2A-1B36-4588-986C-691B17C1614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4" name="">
            <a:extLst>
              <a:ext uri="{FF2B5EF4-FFF2-40B4-BE49-F238E27FC236}">
                <ns2:creationId id="{874D167E-8C1B-4F0E-9AFD-001DFB6F938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5" name="">
            <a:extLst>
              <a:ext uri="{FF2B5EF4-FFF2-40B4-BE49-F238E27FC236}">
                <ns2:creationId id="{832C3BE3-2B58-4726-B13D-662C3A9751B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083</a:t>
            </a:r>
          </a:p>
        </p:txBody>
      </p:sp>
    </p:spTree>
    <p:extLst>
      <p:ext uri="{BB962C8B-B14F-4D97-AF65-F5344CB8AC3E}">
        <ns4:creationId val="320936320"/>
      </p:ext>
    </p:extLst>
  </p:cSld>
</p:sld>
</file>

<file path=ppt/slides/slide8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94EA318F-D542-4052-812A-46E2FDB883C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7A6B9592-F6C7-4653-9F97-7F6083FA554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세 응답의 차이</a:t>
            </a:r>
          </a:p>
        </p:txBody>
      </p:sp>
      <p:sp>
        <p:nvSpPr>
          <p:cNvPr id="3" name="">
            <a:extLst>
              <a:ext uri="{FF2B5EF4-FFF2-40B4-BE49-F238E27FC236}">
                <ns2:creationId id="{F6DF70C4-C4BA-44BC-9A9D-120B8D631FC0}"/>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있는 센서 S01·S02</a:t>
            </a:r>
          </a:p>
        </p:txBody>
      </p:sp>
      <p:sp>
        <p:nvSpPr>
          <p:cNvPr id="4" name="">
            <a:extLst>
              <a:ext uri="{FF2B5EF4-FFF2-40B4-BE49-F238E27FC236}">
                <ns2:creationId id="{83E85FDA-7CFB-4804-8EF0-80EE63FA5DEA}"/>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S01은 22.5, S02는 미측정 null입니다.</a:t>
            </a:r>
          </a:p>
        </p:txBody>
      </p:sp>
      <p:sp>
        <p:nvSpPr>
          <p:cNvPr id="5" name="">
            <a:extLst>
              <a:ext uri="{FF2B5EF4-FFF2-40B4-BE49-F238E27FC236}">
                <ns2:creationId id="{4D72B474-8B91-47AF-8276-48A530860B9F}"/>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없는 센서 S99</a:t>
            </a:r>
          </a:p>
        </p:txBody>
      </p:sp>
      <p:sp>
        <p:nvSpPr>
          <p:cNvPr id="6" name="">
            <a:extLst>
              <a:ext uri="{FF2B5EF4-FFF2-40B4-BE49-F238E27FC236}">
                <ns2:creationId id="{7EC0D36C-61DD-488A-8BB0-6C6FEDF99FD2}"/>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S99는 Unknown sensor와 isError입니다.</a:t>
            </a:r>
          </a:p>
        </p:txBody>
      </p:sp>
      <p:sp>
        <p:nvSpPr>
          <p:cNvPr id="7" name="">
            <a:extLst>
              <a:ext uri="{FF2B5EF4-FFF2-40B4-BE49-F238E27FC236}">
                <ns2:creationId id="{072E6978-8951-47BA-B5EB-10EE7F95FAA9}"/>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BC6A8839-BB96-41CD-B141-CF374626577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3CD5F19B-41B1-4A3E-81D7-9E303AFF1C2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C3EEB8CC-865C-457B-B387-09BA8C29509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406A3380-3FA0-4776-B2A7-8C3A67D0D81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084</a:t>
            </a:r>
          </a:p>
        </p:txBody>
      </p:sp>
    </p:spTree>
    <p:extLst>
      <p:ext uri="{BB962C8B-B14F-4D97-AF65-F5344CB8AC3E}">
        <ns4:creationId val="366609959"/>
      </p:ext>
    </p:extLst>
  </p:cSld>
</p:sld>
</file>

<file path=ppt/slides/slide8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D8E44C59-0907-422B-99E5-9CC24F32016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4E7066A6-92AB-4B5A-9103-196B92D9A38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null과 도구 오류</a:t>
            </a:r>
          </a:p>
        </p:txBody>
      </p:sp>
      <p:sp>
        <p:nvSpPr>
          <p:cNvPr id="3" name="">
            <a:extLst>
              <a:ext uri="{FF2B5EF4-FFF2-40B4-BE49-F238E27FC236}">
                <ns2:creationId id="{6E97ED31-2585-4DF8-B568-B3DEBCF6734C}"/>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1">
                <a:solidFill>
                  <a:srgbClr val="172F39"/>
                </a:solidFill>
                <a:latin typeface="Noto Sans KR"/>
                <a:ea typeface="Noto Sans KR"/>
                <a:cs typeface="Noto Sans KR"/>
              </a:defRPr>
            </a:pPr>
            <a:r>
              <a:t>S02의 null과 S99의 오류는 같은가요?</a:t>
            </a:r>
          </a:p>
        </p:txBody>
      </p:sp>
      <p:sp>
        <p:nvSpPr>
          <p:cNvPr id="4" name="">
            <a:extLst>
              <a:ext uri="{FF2B5EF4-FFF2-40B4-BE49-F238E27FC236}">
                <ns2:creationId id="{C57C1105-B29E-4AE2-90D6-F564C518F69B}"/>
              </a:ext>
            </a:extLst>
          </p:cNvPr>
          <p:cNvSpPr>
            <a:spLocks noGrp="1"/>
          </p:cNvSpPr>
          <p:nvPr/>
        </p:nvSpPr>
        <p:spPr>
          <a:xfrm>
            <a:off x="685800" y="2728722"/>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5" name="">
            <a:extLst>
              <a:ext uri="{FF2B5EF4-FFF2-40B4-BE49-F238E27FC236}">
                <ns2:creationId id="{1609141C-CEA1-400B-9383-9F6F014FE8DA}"/>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67296E39-1E99-47D6-8717-F2D4404DE15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8C06430B-8C53-42E7-A980-CFCC564E8DD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18205272-EBB1-4750-B4A5-49A4DA7132F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D8D702AE-941F-445F-BFE1-F93F597E239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085</a:t>
            </a:r>
          </a:p>
        </p:txBody>
      </p:sp>
    </p:spTree>
    <p:extLst>
      <p:ext uri="{BB962C8B-B14F-4D97-AF65-F5344CB8AC3E}">
        <ns4:creationId val="1739238593"/>
      </p:ext>
    </p:extLst>
  </p:cSld>
</p:sld>
</file>

<file path=ppt/slides/slide8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3F0785FE-D92F-4A02-B9E0-067897B05ABE}"/>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6교시</a:t>
            </a:r>
          </a:p>
        </p:txBody>
      </p:sp>
      <p:sp>
        <p:nvSpPr>
          <p:cNvPr id="2" name="">
            <a:extLst>
              <a:ext uri="{FF2B5EF4-FFF2-40B4-BE49-F238E27FC236}">
                <ns2:creationId id="{B9365827-16F2-4184-978C-B639179EA6DA}"/>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응답과 화면을 따로 확인</a:t>
            </a:r>
          </a:p>
        </p:txBody>
      </p:sp>
      <p:sp>
        <p:nvSpPr>
          <p:cNvPr id="3" name="">
            <a:extLst>
              <a:ext uri="{FF2B5EF4-FFF2-40B4-BE49-F238E27FC236}">
                <ns2:creationId id="{D2329561-BF09-4D6A-BBB6-1DA71F43556D}"/>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50분 수업입니다.</a:t>
            </a:r>
          </a:p>
        </p:txBody>
      </p:sp>
      <p:sp>
        <p:nvSpPr>
          <p:cNvPr id="4" name="">
            <a:extLst>
              <a:ext uri="{FF2B5EF4-FFF2-40B4-BE49-F238E27FC236}">
                <ns2:creationId id="{7FE6ADA2-F305-4B2F-87B2-0FF319DD01B6}"/>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예제를 함께 보고 따라 해 봅니다.</a:t>
            </a:r>
          </a:p>
        </p:txBody>
      </p:sp>
      <p:sp>
        <p:nvSpPr>
          <p:cNvPr id="5" name="">
            <a:extLst>
              <a:ext uri="{FF2B5EF4-FFF2-40B4-BE49-F238E27FC236}">
                <ns2:creationId id="{D7F437D4-98CF-4DE5-9B54-72CA6A836B81}"/>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결과가 예상과 같은지 확인해 봅니다.</a:t>
            </a:r>
          </a:p>
        </p:txBody>
      </p:sp>
      <p:sp>
        <p:nvSpPr>
          <p:cNvPr id="6" name="">
            <a:extLst>
              <a:ext uri="{FF2B5EF4-FFF2-40B4-BE49-F238E27FC236}">
                <ns2:creationId id="{EDFA0598-EECE-4D6A-B137-31CCBF11DFF3}"/>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68FEEF0D-77DD-47D1-AE46-EFD522D362D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6FAF4EDB-C6EC-4DAD-89AC-7B927339D15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94E82882-4A10-434E-8480-99C6454396D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64FC0BFF-9B10-4410-B0EF-DADB08189D8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086</a:t>
            </a:r>
          </a:p>
        </p:txBody>
      </p:sp>
    </p:spTree>
    <p:extLst>
      <p:ext uri="{BB962C8B-B14F-4D97-AF65-F5344CB8AC3E}">
        <ns4:creationId val="2008511498"/>
      </p:ext>
    </p:extLst>
  </p:cSld>
</p:sld>
</file>

<file path=ppt/slides/slide8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4B2FCDDB-51A4-44AF-8728-9F71869826F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4F73BCCE-6A75-48B6-809E-37927CC7D3E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응답 속 지시는 작업 허가가 아닙니다</a:t>
            </a:r>
          </a:p>
        </p:txBody>
      </p:sp>
      <p:sp>
        <p:nvSpPr>
          <p:cNvPr id="3" name="">
            <a:extLst>
              <a:ext uri="{FF2B5EF4-FFF2-40B4-BE49-F238E27FC236}">
                <ns2:creationId id="{66E1E0CA-8467-4060-97E8-9A0F34A2B48C}"/>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도구 응답의 내용</a:t>
            </a:r>
          </a:p>
        </p:txBody>
      </p:sp>
      <p:sp>
        <p:nvSpPr>
          <p:cNvPr id="4" name="">
            <a:extLst>
              <a:ext uri="{FF2B5EF4-FFF2-40B4-BE49-F238E27FC236}">
                <ns2:creationId id="{44C4AC61-DD86-45E9-A142-72000991B549}"/>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도구의 응답과 현재 화면 값은 다릅니다.</a:t>
            </a:r>
          </a:p>
        </p:txBody>
      </p:sp>
      <p:sp>
        <p:nvSpPr>
          <p:cNvPr id="5" name="">
            <a:extLst>
              <a:ext uri="{FF2B5EF4-FFF2-40B4-BE49-F238E27FC236}">
                <ns2:creationId id="{8982070C-BA7B-4B26-9367-A6B943ABEF42}"/>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응답에 적힌 지시를 그대로 실행하지 않습니다.</a:t>
            </a:r>
          </a:p>
        </p:txBody>
      </p:sp>
      <p:sp>
        <p:nvSpPr>
          <p:cNvPr id="6" name="">
            <a:extLst>
              <a:ext uri="{FF2B5EF4-FFF2-40B4-BE49-F238E27FC236}">
                <ns2:creationId id="{CA74CCF5-6EE7-47C2-B96D-0965C63F53E7}"/>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화면에 표시할 문구</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971834"/>
                <a:gridCol w="2266916"/>
              </a:tblGrid>
              <a:tr h="514350">
                <a:tc>
                  <a:txBody>
                    <a:bodyPr wrap="square"/>
                    <a:lstStyle/>
                    <a:p>
                      <a:pPr>
                        <a:lnSpc>
                          <a:spcPct val="102000"/>
                        </a:lnSpc>
                        <a:buNone/>
                      </a:pPr>
                      <a:r>
                        <a:rPr sz="1875" b="1">
                          <a:solidFill>
                            <a:srgbClr val="172F39"/>
                          </a:solidFill>
                          <a:latin typeface="Noto Sans KR"/>
                          <a:ea typeface="Noto Sans KR"/>
                          <a:cs typeface="Noto Sans KR"/>
                        </a:rPr>
                        <a:t>응답</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표시 계획</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숫자 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0 ℃</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null</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미측정</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isError=true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조회 실패</a:t>
                      </a:r>
                    </a:p>
                  </a:txBody>
                  <a:tcPr marL="114300" marR="114300" marT="76200" marB="76200" anchor="ctr">
                    <a:solidFill>
                      <a:srgbClr val="FFFFFF"/>
                    </a:solidFill>
                  </a:tcPr>
                </a:tc>
              </a:tr>
            </a:tbl>
          </a:graphicData>
        </a:graphic>
      </p:graphicFrame>
      <p:sp>
        <p:nvSpPr>
          <p:cNvPr id="8" name="">
            <a:extLst>
              <a:ext uri="{FF2B5EF4-FFF2-40B4-BE49-F238E27FC236}">
                <ns2:creationId id="{3E284AC9-A108-4F57-BA1E-4502B139EDE7}"/>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9D0935A2-BB64-4AD3-8D35-BD5810BE887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6284D8E3-F859-4665-84EA-4C2464ECD20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E1657DB5-9198-44DF-8FFE-8CAB66617A6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63FEE22C-2F10-49B5-865E-35CE44552E1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087</a:t>
            </a:r>
          </a:p>
        </p:txBody>
      </p:sp>
    </p:spTree>
    <p:extLst>
      <p:ext uri="{BB962C8B-B14F-4D97-AF65-F5344CB8AC3E}">
        <ns4:creationId val="298032899"/>
      </p:ext>
    </p:extLst>
  </p:cSld>
</p:sld>
</file>

<file path=ppt/slides/slide8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D9CD0100-0137-4CA7-B39F-7653FC59378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8B4AC2E4-3752-438E-9AA3-F3FBEDF7D71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A16  응답을 화면에 보여 주려면</a:t>
            </a:r>
          </a:p>
        </p:txBody>
      </p:sp>
      <p:sp>
        <p:nvSpPr>
          <p:cNvPr id="3" name="">
            <a:extLst>
              <a:ext uri="{FF2B5EF4-FFF2-40B4-BE49-F238E27FC236}">
                <ns2:creationId id="{12C29506-28D4-4440-ACBE-E2C530808B93}"/>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DCD15C47-1EB6-478D-97F1-D8F9D874B2F6}"/>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응답을 읽고 올바른 값인지 확인해야 합니다.</a:t>
            </a:r>
          </a:p>
        </p:txBody>
      </p:sp>
      <p:sp>
        <p:nvSpPr>
          <p:cNvPr id="5" name="">
            <a:extLst>
              <a:ext uri="{FF2B5EF4-FFF2-40B4-BE49-F238E27FC236}">
                <ns2:creationId id="{A79C208E-3678-454D-8B16-E489CFE529C9}"/>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그 값을 화면의 state에 넣는 코드도 필요합니다.</a:t>
            </a:r>
          </a:p>
        </p:txBody>
      </p:sp>
      <p:sp>
        <p:nvSpPr>
          <p:cNvPr id="6" name="">
            <a:extLst>
              <a:ext uri="{FF2B5EF4-FFF2-40B4-BE49-F238E27FC236}">
                <ns2:creationId id="{7C975AFD-7E93-4C61-9462-6D4F4F04650A}"/>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화면에 표시할 문구</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971834"/>
                <a:gridCol w="2266916"/>
              </a:tblGrid>
              <a:tr h="514350">
                <a:tc>
                  <a:txBody>
                    <a:bodyPr wrap="square"/>
                    <a:lstStyle/>
                    <a:p>
                      <a:pPr>
                        <a:lnSpc>
                          <a:spcPct val="102000"/>
                        </a:lnSpc>
                        <a:buNone/>
                      </a:pPr>
                      <a:r>
                        <a:rPr sz="1875" b="1">
                          <a:solidFill>
                            <a:srgbClr val="172F39"/>
                          </a:solidFill>
                          <a:latin typeface="Noto Sans KR"/>
                          <a:ea typeface="Noto Sans KR"/>
                          <a:cs typeface="Noto Sans KR"/>
                        </a:rPr>
                        <a:t>응답</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표시 계획</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숫자 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0 ℃</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null</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미측정</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isError=true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조회 실패</a:t>
                      </a:r>
                    </a:p>
                  </a:txBody>
                  <a:tcPr marL="114300" marR="114300" marT="76200" marB="76200" anchor="ctr">
                    <a:solidFill>
                      <a:srgbClr val="FFFFFF"/>
                    </a:solidFill>
                  </a:tcPr>
                </a:tc>
              </a:tr>
            </a:tbl>
          </a:graphicData>
        </a:graphic>
      </p:graphicFrame>
      <p:sp>
        <p:nvSpPr>
          <p:cNvPr id="8" name="">
            <a:extLst>
              <a:ext uri="{FF2B5EF4-FFF2-40B4-BE49-F238E27FC236}">
                <ns2:creationId id="{0B98C0EF-3CDD-42B3-8C20-985EC91DEFC5}"/>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74C3060A-7E92-46D0-BF8B-8E7068FEB05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C833E0EF-508F-46A1-9CE1-889C635D442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220A550D-5ADC-49A5-9102-46E3D708B8B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AE717367-4CFE-4022-8B74-E6F08120468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088</a:t>
            </a:r>
          </a:p>
        </p:txBody>
      </p:sp>
    </p:spTree>
    <p:extLst>
      <p:ext uri="{BB962C8B-B14F-4D97-AF65-F5344CB8AC3E}">
        <ns4:creationId val="1136037450"/>
      </p:ext>
    </p:extLst>
  </p:cSld>
</p:sld>
</file>

<file path=ppt/slides/slide8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0200B686-2757-44F8-A94B-F3C2773420A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4B0CB651-930E-421E-BE60-40787A3D006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응답과 화면 사이의 예</a:t>
            </a:r>
          </a:p>
        </p:txBody>
      </p:sp>
      <p:graphicFrame>
        <p:nvGraphicFramePr>
          <p:cNvPr id="12" name=""/>
          <p:cNvGraphicFramePr/>
          <p:nvPr/>
        </p:nvGraphicFramePr>
        <p:xfrm>
          <a:off x="685800" y="1809750"/>
          <a:ext cx="10820400" cy="2145792"/>
        </p:xfrm>
        <a:graphic>
          <a:graphicData uri="http://schemas.openxmlformats.org/drawingml/2006/table">
            <a:tbl>
              <a:tblPr firstRow="1" bandRow="0"/>
              <a:tblGrid>
                <a:gridCol w="6138188"/>
                <a:gridCol w="4682212"/>
              </a:tblGrid>
              <a:tr h="536448">
                <a:tc>
                  <a:txBody>
                    <a:bodyPr wrap="square"/>
                    <a:lstStyle/>
                    <a:p>
                      <a:pPr>
                        <a:lnSpc>
                          <a:spcPct val="102000"/>
                        </a:lnSpc>
                        <a:buNone/>
                      </a:pPr>
                      <a:r>
                        <a:rPr sz="2025" b="1">
                          <a:solidFill>
                            <a:srgbClr val="172F39"/>
                          </a:solidFill>
                          <a:latin typeface="Noto Sans KR"/>
                          <a:ea typeface="Noto Sans KR"/>
                          <a:cs typeface="Noto Sans KR"/>
                        </a:rPr>
                        <a:t>응답</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표시 결정</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숫자 0</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0 ℃</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null</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미측정</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isError=true</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조회 실패</a:t>
                      </a:r>
                    </a:p>
                  </a:txBody>
                  <a:tcPr marL="114300" marR="114300" marT="76200" marB="76200" anchor="ctr">
                    <a:solidFill>
                      <a:srgbClr val="FFFFFF"/>
                    </a:solidFill>
                  </a:tcPr>
                </a:tc>
              </a:tr>
            </a:tbl>
          </a:graphicData>
        </a:graphic>
      </p:graphicFrame>
      <p:sp>
        <p:nvSpPr>
          <p:cNvPr id="4" name="">
            <a:extLst>
              <a:ext uri="{FF2B5EF4-FFF2-40B4-BE49-F238E27FC236}">
                <ns2:creationId id="{638DA9E3-DC66-46D1-97B6-59D2C16C32FD}"/>
              </a:ext>
            </a:extLst>
          </p:cNvPr>
          <p:cNvSpPr>
            <a:spLocks noGrp="1"/>
          </p:cNvSpPr>
          <p:nvPr/>
        </p:nvSpPr>
        <p:spPr>
          <a:xfrm>
            <a:off x="685800" y="4184142"/>
            <a:ext cx="10820400" cy="395288"/>
          </a:xfrm>
          <a:prstGeom prst="rect">
            <a:avLst/>
          </a:prstGeom>
          <a:noFill/>
          <a:ln w="0">
            <a:noFill/>
          </a:ln>
        </p:spPr>
        <p:txBody>
          <a:bodyPr wrap="square" lIns="0" tIns="0" rIns="0" bIns="0">
            <a:noAutofit/>
          </a:bodyPr>
          <a:lstStyle/>
          <a:p>
            <a:pPr>
              <a:defRPr sz="1875" b="1">
                <a:solidFill>
                  <a:srgbClr val="08786F"/>
                </a:solidFill>
                <a:latin typeface="Noto Sans KR"/>
                <a:ea typeface="Noto Sans KR"/>
                <a:cs typeface="Noto Sans KR"/>
              </a:defRPr>
            </a:pPr>
            <a:r>
              <a:t>이 표는 표시 방법이며 연결한 코드는 아닙니다.</a:t>
            </a:r>
          </a:p>
        </p:txBody>
      </p:sp>
      <p:sp>
        <p:nvSpPr>
          <p:cNvPr id="5" name="">
            <a:extLst>
              <a:ext uri="{FF2B5EF4-FFF2-40B4-BE49-F238E27FC236}">
                <ns2:creationId id="{4A40462C-F375-43FA-90FE-BB12BFE73864}"/>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D763689E-CF21-450C-B239-CFE89AE047A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B6532360-6B3E-437C-A90B-3F400FE6DC5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529AAB9E-249E-45A8-B2B1-09AD03A6B92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299A24D0-982A-4216-AA0F-E3A6F38D596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089</a:t>
            </a:r>
          </a:p>
        </p:txBody>
      </p:sp>
    </p:spTree>
    <p:extLst>
      <p:ext uri="{BB962C8B-B14F-4D97-AF65-F5344CB8AC3E}">
        <ns4:creationId val="482527389"/>
      </p:ext>
    </p:extLst>
  </p:cSld>
</p:sld>
</file>

<file path=ppt/slides/slide9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F8AC071D-4AFE-433E-B81E-3841E33D8C6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1C8892E7-2E22-4064-8A9C-0D01C3874C2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자동 연결의 경계</a:t>
            </a:r>
          </a:p>
        </p:txBody>
      </p:sp>
      <p:sp>
        <p:nvSpPr>
          <p:cNvPr id="3" name="">
            <a:extLst>
              <a:ext uri="{FF2B5EF4-FFF2-40B4-BE49-F238E27FC236}">
                <ns2:creationId id="{C69D325E-2CDA-49BA-83C6-E4FE612077CB}"/>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data.js 화면 입력</a:t>
            </a:r>
          </a:p>
        </p:txBody>
      </p:sp>
      <p:sp>
        <p:nvSpPr>
          <p:cNvPr id="4" name="">
            <a:extLst>
              <a:ext uri="{FF2B5EF4-FFF2-40B4-BE49-F238E27FC236}">
                <ns2:creationId id="{2A572B22-F9F6-4F01-9F9D-83FD352581E9}"/>
              </a:ext>
            </a:extLst>
          </p:cNvPr>
          <p:cNvSpPr>
            <a:spLocks noGrp="1"/>
          </p:cNvSpPr>
          <p:nvPr/>
        </p:nvSpPr>
        <p:spPr>
          <a:xfrm>
            <a:off x="685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현재 React는 data.js를 읽습니다.</a:t>
            </a:r>
          </a:p>
        </p:txBody>
      </p:sp>
      <p:sp>
        <p:nvSpPr>
          <p:cNvPr id="5" name="">
            <a:extLst>
              <a:ext uri="{FF2B5EF4-FFF2-40B4-BE49-F238E27FC236}">
                <ns2:creationId id="{E95DB26D-D612-474E-922C-C7BA1C6A8223}"/>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별도 MCP 응답 처리</a:t>
            </a:r>
          </a:p>
        </p:txBody>
      </p:sp>
      <p:sp>
        <p:nvSpPr>
          <p:cNvPr id="6" name="">
            <a:extLst>
              <a:ext uri="{FF2B5EF4-FFF2-40B4-BE49-F238E27FC236}">
                <ns2:creationId id="{004F748D-C55A-40E8-AD69-7CE8F2C900A7}"/>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MCP 응답을 화면에 넣는 처리는 별도입니다.</a:t>
            </a:r>
          </a:p>
        </p:txBody>
      </p:sp>
      <p:sp>
        <p:nvSpPr>
          <p:cNvPr id="7" name="">
            <a:extLst>
              <a:ext uri="{FF2B5EF4-FFF2-40B4-BE49-F238E27FC236}">
                <ns2:creationId id="{24DDF74E-4F17-4DDA-A9A4-B28623D3FB13}"/>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EE63A84A-CE51-40A4-B298-FE4FAE9459C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B488ABE5-C491-43A0-8A15-981954C938C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942A181C-736F-4856-A93A-B18E09629F8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D4901AB4-7F98-4667-B646-F404B9B5806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090</a:t>
            </a:r>
          </a:p>
        </p:txBody>
      </p:sp>
    </p:spTree>
    <p:extLst>
      <p:ext uri="{BB962C8B-B14F-4D97-AF65-F5344CB8AC3E}">
        <ns4:creationId val="1610271744"/>
      </p:ext>
    </p:extLst>
  </p:cSld>
</p:sld>
</file>

<file path=ppt/slides/slide9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6F6565EB-766B-47A5-93A1-F503A22E8CF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1447250B-D499-4783-BF18-7811147ABF1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자료 속 지시</a:t>
            </a:r>
          </a:p>
        </p:txBody>
      </p:sp>
      <p:sp>
        <p:nvSpPr>
          <p:cNvPr id="3" name="">
            <a:extLst>
              <a:ext uri="{FF2B5EF4-FFF2-40B4-BE49-F238E27FC236}">
                <ns2:creationId id="{63C4228D-63B7-4C31-9615-0DC6C363D8B0}"/>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응답에 “다른 파일 삭제”가 들어 있습니다.</a:t>
            </a:r>
          </a:p>
        </p:txBody>
      </p:sp>
      <p:sp>
        <p:nvSpPr>
          <p:cNvPr id="4" name="">
            <a:extLst>
              <a:ext uri="{FF2B5EF4-FFF2-40B4-BE49-F238E27FC236}">
                <ns2:creationId id="{151B163E-019D-4069-97CC-A07DCB11C913}"/>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이 문장이 작업 권한을 주나요?</a:t>
            </a:r>
          </a:p>
        </p:txBody>
      </p:sp>
      <p:sp>
        <p:nvSpPr>
          <p:cNvPr id="5" name="">
            <a:extLst>
              <a:ext uri="{FF2B5EF4-FFF2-40B4-BE49-F238E27FC236}">
                <ns2:creationId id="{2368D7C1-15CE-494F-9CDF-FB24340BA2F3}"/>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3BD46A75-9894-4B3A-82B1-4B2DD4D07019}"/>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904EB89A-A77A-464B-96A9-AD42D77E842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B3A8272A-D9B0-49A1-9FB9-658642CAF29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90A4E85E-9E23-49DF-96FC-9F59BB9B5EF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F94C6C82-08F4-4CB3-BF4C-5CE57A099A7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091</a:t>
            </a:r>
          </a:p>
        </p:txBody>
      </p:sp>
    </p:spTree>
    <p:extLst>
      <p:ext uri="{BB962C8B-B14F-4D97-AF65-F5344CB8AC3E}">
        <ns4:creationId val="836693221"/>
      </p:ext>
    </p:extLst>
  </p:cSld>
</p:sld>
</file>

<file path=ppt/slides/slide9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886619CF-CE9F-4897-89F3-74C91F6E6BD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E41674D5-429E-4A37-A0FA-7E7E19B784D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A17  동료의 수정 파일 확인하기</a:t>
            </a:r>
          </a:p>
        </p:txBody>
      </p:sp>
      <p:sp>
        <p:nvSpPr>
          <p:cNvPr id="3" name="">
            <a:extLst>
              <a:ext uri="{FF2B5EF4-FFF2-40B4-BE49-F238E27FC236}">
                <ns2:creationId id="{A011D765-7B1D-4F60-B0EA-1E4CF7414830}"/>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8582CFEE-6B38-4B36-A5A1-3200178EDE23}"/>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어느 파일에서 무엇을 바꿨는지 확인합니다.</a:t>
            </a:r>
          </a:p>
        </p:txBody>
      </p:sp>
      <p:sp>
        <p:nvSpPr>
          <p:cNvPr id="5" name="">
            <a:extLst>
              <a:ext uri="{FF2B5EF4-FFF2-40B4-BE49-F238E27FC236}">
                <ns2:creationId id="{A0D87713-A036-4A35-8CF0-A449E4792A98}"/>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같은 값을 넣고 같은 버튼을 눌러 봅니다.</a:t>
            </a:r>
          </a:p>
        </p:txBody>
      </p:sp>
      <p:sp>
        <p:nvSpPr>
          <p:cNvPr id="6" name="">
            <a:extLst>
              <a:ext uri="{FF2B5EF4-FFF2-40B4-BE49-F238E27FC236}">
                <ns2:creationId id="{5702F55D-DFC8-4BA2-B0BD-9940B785F404}"/>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바꾼 파일과 역할</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534879"/>
                <a:gridCol w="2703871"/>
              </a:tblGrid>
              <a:tr h="514350">
                <a:tc>
                  <a:txBody>
                    <a:bodyPr wrap="square"/>
                    <a:lstStyle/>
                    <a:p>
                      <a:pPr>
                        <a:lnSpc>
                          <a:spcPct val="102000"/>
                        </a:lnSpc>
                        <a:buNone/>
                      </a:pPr>
                      <a:r>
                        <a:rPr sz="1875" b="1">
                          <a:solidFill>
                            <a:srgbClr val="172F39"/>
                          </a:solidFill>
                          <a:latin typeface="Noto Sans KR"/>
                          <a:ea typeface="Noto Sans KR"/>
                          <a:cs typeface="Noto Sans KR"/>
                        </a:rPr>
                        <a:t>부분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바뀌는 것</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HTML h1</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문서 내용</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CSS 색</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모양</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React state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화면의 현재 값</a:t>
                      </a:r>
                    </a:p>
                  </a:txBody>
                  <a:tcPr marL="114300" marR="114300" marT="76200" marB="76200" anchor="ctr">
                    <a:solidFill>
                      <a:srgbClr val="FFFFFF"/>
                    </a:solidFill>
                  </a:tcPr>
                </a:tc>
              </a:tr>
            </a:tbl>
          </a:graphicData>
        </a:graphic>
      </p:graphicFrame>
      <p:sp>
        <p:nvSpPr>
          <p:cNvPr id="8" name="">
            <a:extLst>
              <a:ext uri="{FF2B5EF4-FFF2-40B4-BE49-F238E27FC236}">
                <ns2:creationId id="{167F66AB-A8E4-42D4-A7A1-8FA966306BF9}"/>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5C3EEF25-73A6-435B-AC23-6A9F5581D96C}"/>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AA911DE2-FC06-4B71-AAE3-B9ACF8376B6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1F68DED7-56E7-4B9F-B862-65F730176B9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2A0AF73B-BC88-46F6-8BB2-4467CFB8270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092</a:t>
            </a:r>
          </a:p>
        </p:txBody>
      </p:sp>
    </p:spTree>
    <p:extLst>
      <p:ext uri="{BB962C8B-B14F-4D97-AF65-F5344CB8AC3E}">
        <ns4:creationId val="1156446293"/>
      </p:ext>
    </p:extLst>
  </p:cSld>
</p:sld>
</file>

<file path=ppt/slides/slide9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433B60B2-8CD2-4234-AA7F-6A630A5D19A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9BC8106C-0889-478B-9505-1CA86BD4465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동료가 작은 변경 확인의 예</a:t>
            </a:r>
          </a:p>
        </p:txBody>
      </p:sp>
      <p:graphicFrame>
        <p:nvGraphicFramePr>
          <p:cNvPr id="12" name=""/>
          <p:cNvGraphicFramePr/>
          <p:nvPr/>
        </p:nvGraphicFramePr>
        <p:xfrm>
          <a:off x="685800" y="1809750"/>
          <a:ext cx="10820400" cy="2682240"/>
        </p:xfrm>
        <a:graphic>
          <a:graphicData uri="http://schemas.openxmlformats.org/drawingml/2006/table">
            <a:tbl>
              <a:tblPr firstRow="1" bandRow="0"/>
              <a:tblGrid>
                <a:gridCol w="5235677"/>
                <a:gridCol w="5584723"/>
              </a:tblGrid>
              <a:tr h="536448">
                <a:tc>
                  <a:txBody>
                    <a:bodyPr wrap="square"/>
                    <a:lstStyle/>
                    <a:p>
                      <a:pPr>
                        <a:lnSpc>
                          <a:spcPct val="102000"/>
                        </a:lnSpc>
                        <a:buNone/>
                      </a:pPr>
                      <a:r>
                        <a:rPr sz="2025" b="1">
                          <a:solidFill>
                            <a:srgbClr val="172F39"/>
                          </a:solidFill>
                          <a:latin typeface="Noto Sans KR"/>
                          <a:ea typeface="Noto Sans KR"/>
                          <a:cs typeface="Noto Sans KR"/>
                        </a:rPr>
                        <a:t>파일·값</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역할</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HTML h1</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문서 내용</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CSS 색</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표시 모양</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React state</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현재 화면 값</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MCP 응답</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서버 조회 결과</a:t>
                      </a:r>
                    </a:p>
                  </a:txBody>
                  <a:tcPr marL="114300" marR="114300" marT="76200" marB="76200" anchor="ctr">
                    <a:solidFill>
                      <a:srgbClr val="FFFFFF"/>
                    </a:solidFill>
                  </a:tcPr>
                </a:tc>
              </a:tr>
            </a:tbl>
          </a:graphicData>
        </a:graphic>
      </p:graphicFrame>
      <p:sp>
        <p:nvSpPr>
          <p:cNvPr id="4" name="">
            <a:extLst>
              <a:ext uri="{FF2B5EF4-FFF2-40B4-BE49-F238E27FC236}">
                <ns2:creationId id="{2ED34A6E-517F-4FE5-B95F-55C6BE025493}"/>
              </a:ext>
            </a:extLst>
          </p:cNvPr>
          <p:cNvSpPr>
            <a:spLocks noGrp="1"/>
          </p:cNvSpPr>
          <p:nvPr/>
        </p:nvSpPr>
        <p:spPr>
          <a:xfrm>
            <a:off x="685800" y="4720590"/>
            <a:ext cx="10820400" cy="395288"/>
          </a:xfrm>
          <a:prstGeom prst="rect">
            <a:avLst/>
          </a:prstGeom>
          <a:noFill/>
          <a:ln w="0">
            <a:noFill/>
          </a:ln>
        </p:spPr>
        <p:txBody>
          <a:bodyPr wrap="square" lIns="0" tIns="0" rIns="0" bIns="0">
            <a:noAutofit/>
          </a:bodyPr>
          <a:lstStyle/>
          <a:p>
            <a:pPr>
              <a:defRPr sz="1875" b="1">
                <a:solidFill>
                  <a:srgbClr val="08786F"/>
                </a:solidFill>
                <a:latin typeface="Noto Sans KR"/>
                <a:ea typeface="Noto Sans KR"/>
                <a:cs typeface="Noto Sans KR"/>
              </a:defRPr>
            </a:pPr>
            <a:r>
              <a:t>한 종류씩 바꿔 어떤 수정이 화면을 바꿨는지 봅니다.</a:t>
            </a:r>
          </a:p>
        </p:txBody>
      </p:sp>
      <p:sp>
        <p:nvSpPr>
          <p:cNvPr id="5" name="">
            <a:extLst>
              <a:ext uri="{FF2B5EF4-FFF2-40B4-BE49-F238E27FC236}">
                <ns2:creationId id="{95656FA5-8971-4B34-8064-E204B5F1F5EC}"/>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B81F1F93-D7CC-4F67-8E42-EA037E343B7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AB9F716F-C528-4308-A991-1D7B4652749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9E658503-D1DE-4374-A8AC-94A53CFD32D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1EEE39DA-4157-48FE-B95A-B73573F6B83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093</a:t>
            </a:r>
          </a:p>
        </p:txBody>
      </p:sp>
    </p:spTree>
    <p:extLst>
      <p:ext uri="{BB962C8B-B14F-4D97-AF65-F5344CB8AC3E}">
        <ns4:creationId val="1558247762"/>
      </p:ext>
    </p:extLst>
  </p:cSld>
</p:sld>
</file>

<file path=ppt/slides/slide9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19412B18-630A-4C03-A108-2CF844424AB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EDBD04CF-2290-487D-8920-DF8DE598992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동료에게 수정 의견 남기기</a:t>
            </a:r>
          </a:p>
        </p:txBody>
      </p:sp>
      <p:sp>
        <p:nvSpPr>
          <p:cNvPr id="3" name="">
            <a:extLst>
              <a:ext uri="{FF2B5EF4-FFF2-40B4-BE49-F238E27FC236}">
                <ns2:creationId id="{84825076-4CA1-44B2-B92A-E6F92C55A4AF}"/>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명령·입력</a:t>
            </a:r>
          </a:p>
        </p:txBody>
      </p:sp>
      <p:sp>
        <p:nvSpPr>
          <p:cNvPr id="4" name="">
            <a:extLst>
              <a:ext uri="{FF2B5EF4-FFF2-40B4-BE49-F238E27FC236}">
                <ns2:creationId id="{F2C28236-C4FB-4949-9578-ECD030AB9E18}"/>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동료 코드를 먼저 덮어쓰지 않습니다.</a:t>
            </a:r>
          </a:p>
        </p:txBody>
      </p:sp>
      <p:sp>
        <p:nvSpPr>
          <p:cNvPr id="5" name="">
            <a:extLst>
              <a:ext uri="{FF2B5EF4-FFF2-40B4-BE49-F238E27FC236}">
                <ns2:creationId id="{021CF89A-2C68-4CDF-A784-E993935D60C4}"/>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파일 위치와 예상한 결과, 실제 결과를 적습니다.</a:t>
            </a:r>
          </a:p>
        </p:txBody>
      </p:sp>
      <p:sp>
        <p:nvSpPr>
          <p:cNvPr id="6" name="">
            <a:extLst>
              <a:ext uri="{FF2B5EF4-FFF2-40B4-BE49-F238E27FC236}">
                <ns2:creationId id="{465AD592-B4A3-43FC-A775-1CCF6209D52F}"/>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바꾼 파일과 역할</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534879"/>
                <a:gridCol w="2703871"/>
              </a:tblGrid>
              <a:tr h="514350">
                <a:tc>
                  <a:txBody>
                    <a:bodyPr wrap="square"/>
                    <a:lstStyle/>
                    <a:p>
                      <a:pPr>
                        <a:lnSpc>
                          <a:spcPct val="102000"/>
                        </a:lnSpc>
                        <a:buNone/>
                      </a:pPr>
                      <a:r>
                        <a:rPr sz="1875" b="1">
                          <a:solidFill>
                            <a:srgbClr val="172F39"/>
                          </a:solidFill>
                          <a:latin typeface="Noto Sans KR"/>
                          <a:ea typeface="Noto Sans KR"/>
                          <a:cs typeface="Noto Sans KR"/>
                        </a:rPr>
                        <a:t>부분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바뀌는 것</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HTML h1</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문서 내용</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CSS 색</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모양</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React state</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화면의 현재 값</a:t>
                      </a:r>
                    </a:p>
                  </a:txBody>
                  <a:tcPr marL="114300" marR="114300" marT="76200" marB="76200" anchor="ctr">
                    <a:solidFill>
                      <a:srgbClr val="FFFFFF"/>
                    </a:solidFill>
                  </a:tcPr>
                </a:tc>
              </a:tr>
            </a:tbl>
          </a:graphicData>
        </a:graphic>
      </p:graphicFrame>
      <p:sp>
        <p:nvSpPr>
          <p:cNvPr id="8" name="">
            <a:extLst>
              <a:ext uri="{FF2B5EF4-FFF2-40B4-BE49-F238E27FC236}">
                <ns2:creationId id="{CD455C82-16AF-4F39-87A8-C641CEFD1C6F}"/>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4D98FB75-4569-4930-BD67-6F1341239A9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CB162D17-7873-4B84-A434-73A6F8D42C0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6500A829-E8A1-4199-B32B-BD7BC1AFF09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ABD7E456-CFFA-4F61-B1EB-4CC4EB4036D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094</a:t>
            </a:r>
          </a:p>
        </p:txBody>
      </p:sp>
    </p:spTree>
    <p:extLst>
      <p:ext uri="{BB962C8B-B14F-4D97-AF65-F5344CB8AC3E}">
        <ns4:creationId val="362802970"/>
      </p:ext>
    </p:extLst>
  </p:cSld>
</p:sld>
</file>

<file path=ppt/slides/slide9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5D91D8B8-D77B-4273-8460-55AA73C0DFC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85C7CDA1-F8E0-4240-A549-1B86CF77F88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같은 화면의 다른 역할</a:t>
            </a:r>
          </a:p>
        </p:txBody>
      </p:sp>
      <p:sp>
        <p:nvSpPr>
          <p:cNvPr id="3" name="">
            <a:extLst>
              <a:ext uri="{FF2B5EF4-FFF2-40B4-BE49-F238E27FC236}">
                <ns2:creationId id="{A723664C-BCCD-4CE0-9966-D0ADC9952EFD}"/>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1">
                <a:solidFill>
                  <a:srgbClr val="172F39"/>
                </a:solidFill>
                <a:latin typeface="Noto Sans KR"/>
                <a:ea typeface="Noto Sans KR"/>
                <a:cs typeface="Noto Sans KR"/>
              </a:defRPr>
            </a:pPr>
            <a:r>
              <a:t>색·온도·응답은 각각 무엇을 바꾸나요?</a:t>
            </a:r>
          </a:p>
        </p:txBody>
      </p:sp>
      <p:sp>
        <p:nvSpPr>
          <p:cNvPr id="4" name="">
            <a:extLst>
              <a:ext uri="{FF2B5EF4-FFF2-40B4-BE49-F238E27FC236}">
                <ns2:creationId id="{1CBBC6C7-247C-49AA-B55D-EF32BEF78A56}"/>
              </a:ext>
            </a:extLst>
          </p:cNvPr>
          <p:cNvSpPr>
            <a:spLocks noGrp="1"/>
          </p:cNvSpPr>
          <p:nvPr/>
        </p:nvSpPr>
        <p:spPr>
          <a:xfrm>
            <a:off x="685800" y="2728722"/>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5" name="">
            <a:extLst>
              <a:ext uri="{FF2B5EF4-FFF2-40B4-BE49-F238E27FC236}">
                <ns2:creationId id="{D2FA0DB9-B30D-4617-923C-77ED8683F305}"/>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D092A2CA-CCC8-4C28-ABA6-A074D314424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1FCD285A-6424-49EF-9914-CCCE2D04815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BC212D8C-6C5C-46CC-A164-05BF501F40F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8CE86F17-E346-418F-9F2A-D981F414081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095</a:t>
            </a:r>
          </a:p>
        </p:txBody>
      </p:sp>
    </p:spTree>
    <p:extLst>
      <p:ext uri="{BB962C8B-B14F-4D97-AF65-F5344CB8AC3E}">
        <ns4:creationId val="1033062121"/>
      </p:ext>
    </p:extLst>
  </p:cSld>
</p:sld>
</file>

<file path=ppt/slides/slide9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2852FBCD-D481-4104-99A4-C71DC0D23D3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8403CE5F-1BD9-4155-8A25-1B208F9F62F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A18  동료가 다시 확인할 안내</a:t>
            </a:r>
          </a:p>
        </p:txBody>
      </p:sp>
      <p:sp>
        <p:nvSpPr>
          <p:cNvPr id="3" name="">
            <a:extLst>
              <a:ext uri="{FF2B5EF4-FFF2-40B4-BE49-F238E27FC236}">
                <ns2:creationId id="{998459DF-9554-460E-92B2-543179A7BA8E}"/>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파일·출력으로 확인</a:t>
            </a:r>
          </a:p>
        </p:txBody>
      </p:sp>
      <p:sp>
        <p:nvSpPr>
          <p:cNvPr id="4" name="">
            <a:extLst>
              <a:ext uri="{FF2B5EF4-FFF2-40B4-BE49-F238E27FC236}">
                <ns2:creationId id="{7F650FBD-2955-45DC-9BE6-D8A79EE338CD}"/>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파일 위치, 명령, 출력, 화면 결과를 적습니다.</a:t>
            </a:r>
          </a:p>
        </p:txBody>
      </p:sp>
      <p:sp>
        <p:nvSpPr>
          <p:cNvPr id="5" name="">
            <a:extLst>
              <a:ext uri="{FF2B5EF4-FFF2-40B4-BE49-F238E27FC236}">
                <ns2:creationId id="{9BC6AFA6-D57A-4C5C-A339-6B9310DF4590}"/>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실물·호스트 추가 확인</a:t>
            </a:r>
          </a:p>
        </p:txBody>
      </p:sp>
      <p:sp>
        <p:nvSpPr>
          <p:cNvPr id="6" name="">
            <a:extLst>
              <a:ext uri="{FF2B5EF4-FFF2-40B4-BE49-F238E27FC236}">
                <ns2:creationId id="{BF0807D3-52C3-43FB-A935-F2092253CBBE}"/>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실제 장비와 호스트 연결은 따로 확인합니다.</a:t>
            </a:r>
          </a:p>
        </p:txBody>
      </p:sp>
      <p:sp>
        <p:nvSpPr>
          <p:cNvPr id="7" name="">
            <a:extLst>
              <a:ext uri="{FF2B5EF4-FFF2-40B4-BE49-F238E27FC236}">
                <ns2:creationId id="{616D5119-AC30-4260-AA49-3714C70367F8}"/>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05FE2BF7-D3F8-4B92-8C39-CD6B7FA568F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7A95C0A4-A994-487A-B943-1BA24525E58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C67649A3-F12A-497D-A098-9FA13D61161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2E57F7DC-FFB0-4A30-BA06-06357940F1F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096</a:t>
            </a:r>
          </a:p>
        </p:txBody>
      </p:sp>
    </p:spTree>
    <p:extLst>
      <p:ext uri="{BB962C8B-B14F-4D97-AF65-F5344CB8AC3E}">
        <ns4:creationId val="1209482687"/>
      </p:ext>
    </p:extLst>
  </p:cSld>
</p:sld>
</file>

<file path=ppt/slides/slide9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356EBD97-846B-4CDF-9BE2-46DA9CB23BE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AD31AA91-43F0-4223-A40E-C467907BFAD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결과와 다음 확인의 예</a:t>
            </a:r>
          </a:p>
        </p:txBody>
      </p:sp>
      <p:graphicFrame>
        <p:nvGraphicFramePr>
          <p:cNvPr id="12" name=""/>
          <p:cNvGraphicFramePr/>
          <p:nvPr/>
        </p:nvGraphicFramePr>
        <p:xfrm>
          <a:off x="685800" y="1809750"/>
          <a:ext cx="10820400" cy="2145792"/>
        </p:xfrm>
        <a:graphic>
          <a:graphicData uri="http://schemas.openxmlformats.org/drawingml/2006/table">
            <a:tbl>
              <a:tblPr firstRow="1" bandRow="0"/>
              <a:tblGrid>
                <a:gridCol w="5600455"/>
                <a:gridCol w="5219945"/>
              </a:tblGrid>
              <a:tr h="536448">
                <a:tc>
                  <a:txBody>
                    <a:bodyPr wrap="square"/>
                    <a:lstStyle/>
                    <a:p>
                      <a:pPr>
                        <a:lnSpc>
                          <a:spcPct val="102000"/>
                        </a:lnSpc>
                        <a:buNone/>
                      </a:pPr>
                      <a:r>
                        <a:rPr sz="2025" b="1">
                          <a:solidFill>
                            <a:srgbClr val="172F39"/>
                          </a:solidFill>
                          <a:latin typeface="Noto Sans KR"/>
                          <a:ea typeface="Noto Sans KR"/>
                          <a:cs typeface="Noto Sans KR"/>
                        </a:rPr>
                        <a:t>현재 확인</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미확인</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제공 React 번들</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전체 빌드 환경</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로컬 STDIO</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실제 AI 호스트</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가상 데이터</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실물 센서</a:t>
                      </a:r>
                    </a:p>
                  </a:txBody>
                  <a:tcPr marL="114300" marR="114300" marT="76200" marB="76200" anchor="ctr">
                    <a:solidFill>
                      <a:srgbClr val="FFFFFF"/>
                    </a:solidFill>
                  </a:tcPr>
                </a:tc>
              </a:tr>
            </a:tbl>
          </a:graphicData>
        </a:graphic>
      </p:graphicFrame>
      <p:sp>
        <p:nvSpPr>
          <p:cNvPr id="4" name="">
            <a:extLst>
              <a:ext uri="{FF2B5EF4-FFF2-40B4-BE49-F238E27FC236}">
                <ns2:creationId id="{D126EB12-4CEC-4A70-B3D0-FCF54CDFF556}"/>
              </a:ext>
            </a:extLst>
          </p:cNvPr>
          <p:cNvSpPr>
            <a:spLocks noGrp="1"/>
          </p:cNvSpPr>
          <p:nvPr/>
        </p:nvSpPr>
        <p:spPr>
          <a:xfrm>
            <a:off x="685800" y="4184142"/>
            <a:ext cx="10820400" cy="395288"/>
          </a:xfrm>
          <a:prstGeom prst="rect">
            <a:avLst/>
          </a:prstGeom>
          <a:noFill/>
          <a:ln w="0">
            <a:noFill/>
          </a:ln>
        </p:spPr>
        <p:txBody>
          <a:bodyPr wrap="square" lIns="0" tIns="0" rIns="0" bIns="0">
            <a:noAutofit/>
          </a:bodyPr>
          <a:lstStyle/>
          <a:p>
            <a:pPr>
              <a:defRPr sz="1875" b="1">
                <a:solidFill>
                  <a:srgbClr val="08786F"/>
                </a:solidFill>
                <a:latin typeface="Noto Sans KR"/>
                <a:ea typeface="Noto Sans KR"/>
                <a:cs typeface="Noto Sans KR"/>
              </a:defRPr>
            </a:pPr>
            <a:r>
              <a:t>실행과 시연 관찰을 구별합니다.</a:t>
            </a:r>
          </a:p>
        </p:txBody>
      </p:sp>
      <p:sp>
        <p:nvSpPr>
          <p:cNvPr id="5" name="">
            <a:extLst>
              <a:ext uri="{FF2B5EF4-FFF2-40B4-BE49-F238E27FC236}">
                <ns2:creationId id="{6E438453-DE5B-4432-8411-3325A739E232}"/>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492938CA-57E6-46A4-AB97-CCCDA534A51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BA008C08-7405-41F7-A518-1ED17E97D21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3AFD947E-4D8D-4471-9183-C402A6455C3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54A9AF8C-589F-435F-A87F-8EC2890D5C6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097</a:t>
            </a:r>
          </a:p>
        </p:txBody>
      </p:sp>
    </p:spTree>
    <p:extLst>
      <p:ext uri="{BB962C8B-B14F-4D97-AF65-F5344CB8AC3E}">
        <ns4:creationId val="2081631250"/>
      </p:ext>
    </p:extLst>
  </p:cSld>
</p:sld>
</file>

<file path=ppt/slides/slide9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712A2D76-2D2E-4898-9C60-D6C9E485805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990D3A78-6985-42C1-AE38-44A3DF86AD7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다음 사람에게 알려 줄 것</a:t>
            </a:r>
          </a:p>
        </p:txBody>
      </p:sp>
      <p:sp>
        <p:nvSpPr>
          <p:cNvPr id="3" name="">
            <a:extLst>
              <a:ext uri="{FF2B5EF4-FFF2-40B4-BE49-F238E27FC236}">
                <ns2:creationId id="{F72D9159-2D34-4544-9494-08DA9C646052}"/>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명령·입력</a:t>
            </a:r>
          </a:p>
        </p:txBody>
      </p:sp>
      <p:sp>
        <p:nvSpPr>
          <p:cNvPr id="4" name="">
            <a:extLst>
              <a:ext uri="{FF2B5EF4-FFF2-40B4-BE49-F238E27FC236}">
                <ns2:creationId id="{271795AB-23FF-428C-B3B1-F0DFB88A9CE9}"/>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동료가 같은 순서로 실행할 수 있게 적습니다.</a:t>
            </a:r>
          </a:p>
        </p:txBody>
      </p:sp>
      <p:sp>
        <p:nvSpPr>
          <p:cNvPr id="5" name="">
            <a:extLst>
              <a:ext uri="{FF2B5EF4-FFF2-40B4-BE49-F238E27FC236}">
                <ns2:creationId id="{56A7638D-C2C7-470F-9449-FE50799A3A28}"/>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단위·값 없음·오류와 연결 안 된 곳을 적습니다.</a:t>
            </a:r>
          </a:p>
        </p:txBody>
      </p:sp>
      <p:sp>
        <p:nvSpPr>
          <p:cNvPr id="6" name="">
            <a:extLst>
              <a:ext uri="{FF2B5EF4-FFF2-40B4-BE49-F238E27FC236}">
                <ns2:creationId id="{FDBB0701-F3DE-42B0-8A80-D92DE57517FF}"/>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확인한 것과 남은 것</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711488"/>
                <a:gridCol w="2527262"/>
              </a:tblGrid>
              <a:tr h="514350">
                <a:tc>
                  <a:txBody>
                    <a:bodyPr wrap="square"/>
                    <a:lstStyle/>
                    <a:p>
                      <a:pPr>
                        <a:lnSpc>
                          <a:spcPct val="102000"/>
                        </a:lnSpc>
                        <a:buNone/>
                      </a:pPr>
                      <a:r>
                        <a:rPr sz="1875" b="1">
                          <a:solidFill>
                            <a:srgbClr val="172F39"/>
                          </a:solidFill>
                          <a:latin typeface="Noto Sans KR"/>
                          <a:ea typeface="Noto Sans KR"/>
                          <a:cs typeface="Noto Sans KR"/>
                        </a:rPr>
                        <a:t>현재 확인</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추가 확인</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제공 React 번들</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전체 빌드 환경</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로컬 STDIO</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실제 AI 호스트</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가상 데이터</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실물 센서</a:t>
                      </a:r>
                    </a:p>
                  </a:txBody>
                  <a:tcPr marL="114300" marR="114300" marT="76200" marB="76200" anchor="ctr">
                    <a:solidFill>
                      <a:srgbClr val="FFFFFF"/>
                    </a:solidFill>
                  </a:tcPr>
                </a:tc>
              </a:tr>
            </a:tbl>
          </a:graphicData>
        </a:graphic>
      </p:graphicFrame>
      <p:sp>
        <p:nvSpPr>
          <p:cNvPr id="8" name="">
            <a:extLst>
              <a:ext uri="{FF2B5EF4-FFF2-40B4-BE49-F238E27FC236}">
                <ns2:creationId id="{FA01BDF2-88B2-4091-A9EA-06FBB18E1C09}"/>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8830D310-1B12-4F83-9AB0-5E2E35F2015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093386B1-FF16-4AD4-B1F6-2FB373BA17E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B5E4B5EB-DC48-4E30-9D24-2279AC30579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E3459580-5802-444B-A213-DD58E09A46B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098</a:t>
            </a:r>
          </a:p>
        </p:txBody>
      </p:sp>
    </p:spTree>
    <p:extLst>
      <p:ext uri="{BB962C8B-B14F-4D97-AF65-F5344CB8AC3E}">
        <ns4:creationId val="967733274"/>
      </p:ext>
    </p:extLst>
  </p:cSld>
</p:sld>
</file>

<file path=ppt/slides/slide9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52BED94B-E3D0-483D-AA7F-68826949C61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7D6A0A27-FACA-4EF4-98D2-DE99207CF59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최소 전달 묶음</a:t>
            </a:r>
          </a:p>
        </p:txBody>
      </p:sp>
      <p:sp>
        <p:nvSpPr>
          <p:cNvPr id="3" name="">
            <a:extLst>
              <a:ext uri="{FF2B5EF4-FFF2-40B4-BE49-F238E27FC236}">
                <ns2:creationId id="{61B58821-2C0D-4D04-B3BF-B843D3E1CD9A}"/>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1">
                <a:solidFill>
                  <a:srgbClr val="172F39"/>
                </a:solidFill>
                <a:latin typeface="Noto Sans KR"/>
                <a:ea typeface="Noto Sans KR"/>
                <a:cs typeface="Noto Sans KR"/>
              </a:defRPr>
            </a:pPr>
            <a:r>
              <a:t>동료가 다시 확인하려면 무엇이 필요한가요?</a:t>
            </a:r>
          </a:p>
        </p:txBody>
      </p:sp>
      <p:sp>
        <p:nvSpPr>
          <p:cNvPr id="4" name="">
            <a:extLst>
              <a:ext uri="{FF2B5EF4-FFF2-40B4-BE49-F238E27FC236}">
                <ns2:creationId id="{B38C6D98-9E04-483D-AF4B-C76EE29ABBA4}"/>
              </a:ext>
            </a:extLst>
          </p:cNvPr>
          <p:cNvSpPr>
            <a:spLocks noGrp="1"/>
          </p:cNvSpPr>
          <p:nvPr/>
        </p:nvSpPr>
        <p:spPr>
          <a:xfrm>
            <a:off x="685800" y="2728722"/>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5" name="">
            <a:extLst>
              <a:ext uri="{FF2B5EF4-FFF2-40B4-BE49-F238E27FC236}">
                <ns2:creationId id="{742F7665-7239-43C4-901C-627C762EA4A9}"/>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32F74BA4-5583-47D1-A05E-F9658DB8403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B56D1759-AEB6-4AA9-8865-4B4A22CD1C6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FF12BA07-52EA-40D5-96FA-52A0CD4252F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A469BDE8-C35A-4A10-B2E0-06EBC4CEF43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099</a:t>
            </a:r>
          </a:p>
        </p:txBody>
      </p:sp>
    </p:spTree>
    <p:extLst>
      <p:ext uri="{BB962C8B-B14F-4D97-AF65-F5344CB8AC3E}">
        <ns4:creationId val="575721679"/>
      </p:ext>
    </p:extLst>
  </p:cSld>
</p:sld>
</file>

<file path=ppt/slides/slide10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85DB7B87-17B9-435F-A06C-F8E1A5E01A1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559AC39E-2A14-452C-803C-CA61F0AF671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 복습 1  새 상황 적용</a:t>
            </a:r>
          </a:p>
        </p:txBody>
      </p:sp>
      <p:sp>
        <p:nvSpPr>
          <p:cNvPr id="3" name="">
            <a:extLst>
              <a:ext uri="{FF2B5EF4-FFF2-40B4-BE49-F238E27FC236}">
                <ns2:creationId id="{9D744334-1C80-48C7-8DCB-43CD392D720C}"/>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탭·본문 제목·버튼 문구를 바꿉니다.</a:t>
            </a:r>
          </a:p>
        </p:txBody>
      </p:sp>
      <p:sp>
        <p:nvSpPr>
          <p:cNvPr id="4" name="">
            <a:extLst>
              <a:ext uri="{FF2B5EF4-FFF2-40B4-BE49-F238E27FC236}">
                <ns2:creationId id="{67059ADF-6A6A-421E-A65F-6B202E47D014}"/>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내부 id를 유지할 수정 위치를 쓰세요.</a:t>
            </a:r>
          </a:p>
        </p:txBody>
      </p:sp>
      <p:sp>
        <p:nvSpPr>
          <p:cNvPr id="5" name="">
            <a:extLst>
              <a:ext uri="{FF2B5EF4-FFF2-40B4-BE49-F238E27FC236}">
                <ns2:creationId id="{742688A3-30A0-4C6C-9ABB-8015E69B88C1}"/>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2F9C04FD-6B87-48CF-B7E2-F25AA455A309}"/>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3933AC0A-7D74-4656-84AA-73DF849DD5A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2CDE45ED-DEC3-4E29-B6A5-1EC112507A1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A2AB1117-CD78-44DB-872E-9A7FCA5AEB9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F285D608-3875-4B78-A9EF-DC864806882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100</a:t>
            </a:r>
          </a:p>
        </p:txBody>
      </p:sp>
    </p:spTree>
    <p:extLst>
      <p:ext uri="{BB962C8B-B14F-4D97-AF65-F5344CB8AC3E}">
        <ns4:creationId val="236489259"/>
      </p:ext>
    </p:extLst>
  </p:cSld>
</p:sld>
</file>

<file path=ppt/slides/slide10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C45C927B-62DA-450F-A406-8D82E0ED384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33687A10-96FC-4E3B-BDD6-9F1BF4040CB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 복습 2  새 상황 적용</a:t>
            </a:r>
          </a:p>
        </p:txBody>
      </p:sp>
      <p:sp>
        <p:nvSpPr>
          <p:cNvPr id="3" name="">
            <a:extLst>
              <a:ext uri="{FF2B5EF4-FFF2-40B4-BE49-F238E27FC236}">
                <ns2:creationId id="{406EDA9A-72A0-45C7-B36A-EFFCD91E8EEB}"/>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글자 주변 공간만 넓히려 합니다.</a:t>
            </a:r>
          </a:p>
        </p:txBody>
      </p:sp>
      <p:sp>
        <p:nvSpPr>
          <p:cNvPr id="4" name="">
            <a:extLst>
              <a:ext uri="{FF2B5EF4-FFF2-40B4-BE49-F238E27FC236}">
                <ns2:creationId id="{E4161EA6-1372-49D4-B8D3-74DB202190A6}"/>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속성과 색 외 상태 문구를 고르세요.</a:t>
            </a:r>
          </a:p>
        </p:txBody>
      </p:sp>
      <p:sp>
        <p:nvSpPr>
          <p:cNvPr id="5" name="">
            <a:extLst>
              <a:ext uri="{FF2B5EF4-FFF2-40B4-BE49-F238E27FC236}">
                <ns2:creationId id="{19A562DB-01C9-453C-AD64-990B291CAEEC}"/>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9C3CA44E-22AF-4236-9530-06CDB7868D95}"/>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E68C59C5-6E83-4DF5-93FB-909DCABD04B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5C420A00-5A05-436A-A797-3815EB99B2A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B26A550E-93B0-4AE9-8BD9-FBAFC81D457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C9AF82C8-9B3E-4AD3-AEC3-D1352AB852C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101</a:t>
            </a:r>
          </a:p>
        </p:txBody>
      </p:sp>
    </p:spTree>
    <p:extLst>
      <p:ext uri="{BB962C8B-B14F-4D97-AF65-F5344CB8AC3E}">
        <ns4:creationId val="373253236"/>
      </p:ext>
    </p:extLst>
  </p:cSld>
</p:sld>
</file>

<file path=ppt/slides/slide10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C61EF45D-25A2-4F19-B6F2-4745EA77A79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BCCB7EB2-B00B-4ADE-A8A2-8C02184AFD5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 복습 3  새 상황 적용</a:t>
            </a:r>
          </a:p>
        </p:txBody>
      </p:sp>
      <p:sp>
        <p:nvSpPr>
          <p:cNvPr id="3" name="">
            <a:extLst>
              <a:ext uri="{FF2B5EF4-FFF2-40B4-BE49-F238E27FC236}">
                <ns2:creationId id="{F590710A-A3E9-4334-991B-719AB98869FD}"/>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HTML은 22.5, 데이터는 26입니다.</a:t>
            </a:r>
          </a:p>
        </p:txBody>
      </p:sp>
      <p:sp>
        <p:nvSpPr>
          <p:cNvPr id="4" name="">
            <a:extLst>
              <a:ext uri="{FF2B5EF4-FFF2-40B4-BE49-F238E27FC236}">
                <ns2:creationId id="{800A4E90-97AB-4E85-B168-699B4F810CCA}"/>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열기와 클릭 결과, id 복구를 쓰세요.</a:t>
            </a:r>
          </a:p>
        </p:txBody>
      </p:sp>
      <p:sp>
        <p:nvSpPr>
          <p:cNvPr id="5" name="">
            <a:extLst>
              <a:ext uri="{FF2B5EF4-FFF2-40B4-BE49-F238E27FC236}">
                <ns2:creationId id="{C247173E-EC67-485B-9AFB-2EE2548E29D4}"/>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494BA77D-67D6-4776-8872-0AFDB2FA4D08}"/>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A2171257-66D7-4CAE-B401-D2B67051854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C53134E5-F1D1-40D5-B0EA-555721B3210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4E0E7C99-5CDA-4BE6-A0E4-B520DDB551D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39B1D732-168F-4614-87FD-1AD3E6DB868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102</a:t>
            </a:r>
          </a:p>
        </p:txBody>
      </p:sp>
    </p:spTree>
    <p:extLst>
      <p:ext uri="{BB962C8B-B14F-4D97-AF65-F5344CB8AC3E}">
        <ns4:creationId val="263656239"/>
      </p:ext>
    </p:extLst>
  </p:cSld>
</p:sld>
</file>

<file path=ppt/slides/slide10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4554FD0E-D0A7-4141-9AF4-BC5587B9062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ABAFF228-2C7E-41EF-8555-22D87159592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 복습 4  새 상황 적용</a:t>
            </a:r>
          </a:p>
        </p:txBody>
      </p:sp>
      <p:sp>
        <p:nvSpPr>
          <p:cNvPr id="3" name="">
            <a:extLst>
              <a:ext uri="{FF2B5EF4-FFF2-40B4-BE49-F238E27FC236}">
                <ns2:creationId id="{1625BBE6-090A-46E9-ADFB-3419727C9C09}"/>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JSX 소스만 바꾸고 번들은 그대로입니다.</a:t>
            </a:r>
          </a:p>
        </p:txBody>
      </p:sp>
      <p:sp>
        <p:nvSpPr>
          <p:cNvPr id="4" name="">
            <a:extLst>
              <a:ext uri="{FF2B5EF4-FFF2-40B4-BE49-F238E27FC236}">
                <ns2:creationId id="{CB5B3CBA-51E0-4F0D-9E9D-C6409AB3E59B}"/>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화면 반영과 상태 초기화를 설명하세요.</a:t>
            </a:r>
          </a:p>
        </p:txBody>
      </p:sp>
      <p:sp>
        <p:nvSpPr>
          <p:cNvPr id="5" name="">
            <a:extLst>
              <a:ext uri="{FF2B5EF4-FFF2-40B4-BE49-F238E27FC236}">
                <ns2:creationId id="{27D19FFB-49C2-44CF-9257-300A29FFE885}"/>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02E5176A-DCD8-4957-B65B-EC8DC2AA5089}"/>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90C517C0-4AC7-4C3A-99B3-9D4B492E3794}"/>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09220F80-BA7D-44EB-B2A6-9435D5E072A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B7F2E086-92DD-4F3C-880C-2F2700710FB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A54BC72F-4830-4E19-8A8A-5C0A6D9FD9F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103</a:t>
            </a:r>
          </a:p>
        </p:txBody>
      </p:sp>
    </p:spTree>
    <p:extLst>
      <p:ext uri="{BB962C8B-B14F-4D97-AF65-F5344CB8AC3E}">
        <ns4:creationId val="235964207"/>
      </p:ext>
    </p:extLst>
  </p:cSld>
</p:sld>
</file>

<file path=ppt/slides/slide10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5798B670-9A6E-466B-B598-65004F54E86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3637B663-0165-45FF-9437-37979877609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 복습 5  새 상황 적용</a:t>
            </a:r>
          </a:p>
        </p:txBody>
      </p:sp>
      <p:sp>
        <p:nvSpPr>
          <p:cNvPr id="3" name="">
            <a:extLst>
              <a:ext uri="{FF2B5EF4-FFF2-40B4-BE49-F238E27FC236}">
                <ns2:creationId id="{2924E325-EB31-4BE6-B0AB-85937EE91C4C}"/>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문서·데이터 파일·MCP의 출처를 비교하세요.</a:t>
            </a:r>
          </a:p>
        </p:txBody>
      </p:sp>
      <p:sp>
        <p:nvSpPr>
          <p:cNvPr id="4" name="">
            <a:extLst>
              <a:ext uri="{FF2B5EF4-FFF2-40B4-BE49-F238E27FC236}">
                <ns2:creationId id="{B0AD9C7E-90CB-462C-A415-D6C49C27C03C}"/>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조회에 필요한 권한도 판단하세요.</a:t>
            </a:r>
          </a:p>
        </p:txBody>
      </p:sp>
      <p:sp>
        <p:nvSpPr>
          <p:cNvPr id="5" name="">
            <a:extLst>
              <a:ext uri="{FF2B5EF4-FFF2-40B4-BE49-F238E27FC236}">
                <ns2:creationId id="{7540E5E3-76C6-400D-BF0F-2A2F0F2F5F9D}"/>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AEF36B4B-1CEC-459D-A650-7C6EB69F07BF}"/>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11F1290F-883C-4723-8CA9-0843ECB9C56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42370620-EB07-4290-BA9F-9CF988357FB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BE77C8CF-45D4-439F-ABB1-42BCD42F88C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2E787A60-9E20-413F-A31D-737D31020BA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104</a:t>
            </a:r>
          </a:p>
        </p:txBody>
      </p:sp>
    </p:spTree>
    <p:extLst>
      <p:ext uri="{BB962C8B-B14F-4D97-AF65-F5344CB8AC3E}">
        <ns4:creationId val="2048417270"/>
      </p:ext>
    </p:extLst>
  </p:cSld>
</p:sld>
</file>

<file path=ppt/slides/slide10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A0D4CC57-9ABF-46F2-BFFC-6C908BF995B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F5E188BC-28A5-4E21-96E3-9BE50DC7C29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 복습 6  새 상황 적용</a:t>
            </a:r>
          </a:p>
        </p:txBody>
      </p:sp>
      <p:sp>
        <p:nvSpPr>
          <p:cNvPr id="3" name="">
            <a:extLst>
              <a:ext uri="{FF2B5EF4-FFF2-40B4-BE49-F238E27FC236}">
                <ns2:creationId id="{A3E643F0-C5C5-40AC-A9FE-3A338BBF92C1}"/>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0·null·isError 응답의 화면 문구를 정하세요.</a:t>
            </a:r>
          </a:p>
        </p:txBody>
      </p:sp>
      <p:sp>
        <p:nvSpPr>
          <p:cNvPr id="4" name="">
            <a:extLst>
              <a:ext uri="{FF2B5EF4-FFF2-40B4-BE49-F238E27FC236}">
                <ns2:creationId id="{37DAFA25-AD04-46A8-A098-282F516C10CB}"/>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응답을 읽어 화면 값에 넣을 과정을 설명하세요.</a:t>
            </a:r>
          </a:p>
        </p:txBody>
      </p:sp>
      <p:sp>
        <p:nvSpPr>
          <p:cNvPr id="5" name="">
            <a:extLst>
              <a:ext uri="{FF2B5EF4-FFF2-40B4-BE49-F238E27FC236}">
                <ns2:creationId id="{0DE0079A-3B5B-4BA5-A663-432F32A1411F}"/>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79B2208A-6C9B-4AEE-A235-FB2541C68509}"/>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8F79B48A-63E2-4835-8666-7115C2799DE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FEC23AF1-9341-4743-B98B-018077DE4AD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B5FC98D8-06B6-488E-91B0-ED655AA8313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30622CB8-24AD-45CC-9521-352CB094071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105</a:t>
            </a:r>
          </a:p>
        </p:txBody>
      </p:sp>
    </p:spTree>
    <p:extLst>
      <p:ext uri="{BB962C8B-B14F-4D97-AF65-F5344CB8AC3E}">
        <ns4:creationId val="1462201925"/>
      </p:ext>
    </p:extLst>
  </p:cSld>
</p:sld>
</file>

<file path=ppt/slides/slide10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951485D7-9C46-47B2-AB07-90D23ECFCBA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B4B50EDA-AB73-4DE6-9528-8657CC647F3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오늘 바꾼 파일과 확인한 결과</a:t>
            </a:r>
          </a:p>
        </p:txBody>
      </p:sp>
      <p:sp>
        <p:nvSpPr>
          <p:cNvPr id="3" name="">
            <a:extLst>
              <a:ext uri="{FF2B5EF4-FFF2-40B4-BE49-F238E27FC236}">
                <ns2:creationId id="{F2FDAB79-B70B-4B9D-9A68-56B864312203}"/>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확인할 자료</a:t>
            </a:r>
          </a:p>
        </p:txBody>
      </p:sp>
      <p:sp>
        <p:nvSpPr>
          <p:cNvPr id="4" name="">
            <a:extLst>
              <a:ext uri="{FF2B5EF4-FFF2-40B4-BE49-F238E27FC236}">
                <ns2:creationId id="{4255CBC7-0183-47A7-A153-23F1756C9759}"/>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변경한 파일과 목적을 적습니다.</a:t>
            </a:r>
          </a:p>
        </p:txBody>
      </p:sp>
      <p:sp>
        <p:nvSpPr>
          <p:cNvPr id="5" name="">
            <a:extLst>
              <a:ext uri="{FF2B5EF4-FFF2-40B4-BE49-F238E27FC236}">
                <ns2:creationId id="{67980BE2-D529-49AD-A5D8-AFA7905C032F}"/>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넣은 값과 예상한 결과, 실제 결과를 적습니다.</a:t>
            </a:r>
          </a:p>
        </p:txBody>
      </p:sp>
      <p:sp>
        <p:nvSpPr>
          <p:cNvPr id="6" name="">
            <a:extLst>
              <a:ext uri="{FF2B5EF4-FFF2-40B4-BE49-F238E27FC236}">
                <ns2:creationId id="{3DDA7852-8098-4DF6-94CE-02D441D65271}"/>
              </a:ext>
            </a:extLst>
          </p:cNvPr>
          <p:cNvSpPr>
            <a:spLocks noGrp="1"/>
          </p:cNvSpPr>
          <p:nvPr/>
        </p:nvSpPr>
        <p:spPr>
          <a:xfrm>
            <a:off x="685800" y="369760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직접 실행한 것과 시연에서 본 것을 구분합니다.</a:t>
            </a:r>
          </a:p>
        </p:txBody>
      </p:sp>
      <p:sp>
        <p:nvSpPr>
          <p:cNvPr id="7" name="">
            <a:extLst>
              <a:ext uri="{FF2B5EF4-FFF2-40B4-BE49-F238E27FC236}">
                <ns2:creationId id="{AF290885-4E70-43FB-BA29-88D9C19FC0BD}"/>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확인한 것과 남은 것</a:t>
            </a:r>
          </a:p>
        </p:txBody>
      </p:sp>
      <p:graphicFrame>
        <p:nvGraphicFramePr>
          <p:cNvPr id="21" name=""/>
          <p:cNvGraphicFramePr/>
          <p:nvPr/>
        </p:nvGraphicFramePr>
        <p:xfrm>
          <a:off x="6267450" y="2628900"/>
          <a:ext cx="5238750" cy="2057400"/>
        </p:xfrm>
        <a:graphic>
          <a:graphicData uri="http://schemas.openxmlformats.org/drawingml/2006/table">
            <a:tbl>
              <a:tblPr firstRow="1" bandRow="0"/>
              <a:tblGrid>
                <a:gridCol w="2711488"/>
                <a:gridCol w="2527262"/>
              </a:tblGrid>
              <a:tr h="514350">
                <a:tc>
                  <a:txBody>
                    <a:bodyPr wrap="square"/>
                    <a:lstStyle/>
                    <a:p>
                      <a:pPr>
                        <a:lnSpc>
                          <a:spcPct val="102000"/>
                        </a:lnSpc>
                        <a:buNone/>
                      </a:pPr>
                      <a:r>
                        <a:rPr sz="1875" b="1">
                          <a:solidFill>
                            <a:srgbClr val="172F39"/>
                          </a:solidFill>
                          <a:latin typeface="Noto Sans KR"/>
                          <a:ea typeface="Noto Sans KR"/>
                          <a:cs typeface="Noto Sans KR"/>
                        </a:rPr>
                        <a:t>현재 확인</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추가 확인</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제공 React 번들</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전체 빌드 환경</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로컬 STDIO</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실제 AI 호스트</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가상 데이터</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실물 센서</a:t>
                      </a:r>
                    </a:p>
                  </a:txBody>
                  <a:tcPr marL="114300" marR="114300" marT="76200" marB="76200" anchor="ctr">
                    <a:solidFill>
                      <a:srgbClr val="FFFFFF"/>
                    </a:solidFill>
                  </a:tcPr>
                </a:tc>
              </a:tr>
            </a:tbl>
          </a:graphicData>
        </a:graphic>
      </p:graphicFrame>
      <p:sp>
        <p:nvSpPr>
          <p:cNvPr id="9" name="">
            <a:extLst>
              <a:ext uri="{FF2B5EF4-FFF2-40B4-BE49-F238E27FC236}">
                <ns2:creationId id="{A718DC44-5467-4971-A580-248ED82B1CA4}"/>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3980527A-1276-48B4-B071-82D9D6CA21F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906FF3B4-1957-432F-A622-0DE1C2DA45F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A7516D59-8113-4B9C-BCCB-58641BBEEA8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EAE0384A-A677-4A05-B955-47F5455B7E9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106</a:t>
            </a:r>
          </a:p>
        </p:txBody>
      </p:sp>
    </p:spTree>
    <p:extLst>
      <p:ext uri="{BB962C8B-B14F-4D97-AF65-F5344CB8AC3E}">
        <ns4:creationId val="1786601869"/>
      </p:ext>
    </p:extLst>
  </p:cSld>
</p:sld>
</file>

<file path=ppt/slides/slide10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049918A8-CE00-47A3-9C47-C20270C4C3D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75695A30-9266-47ED-8428-EB5ADCAAC8F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다음에 확인할 것은 무엇인가요?</a:t>
            </a:r>
          </a:p>
        </p:txBody>
      </p:sp>
      <p:sp>
        <p:nvSpPr>
          <p:cNvPr id="3" name="">
            <a:extLst>
              <a:ext uri="{FF2B5EF4-FFF2-40B4-BE49-F238E27FC236}">
                <ns2:creationId id="{9D2C7353-5690-4C20-90E7-97F36AD0454F}"/>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아직 시험해 보지 못한 조건을 두 개 쓰세요.</a:t>
            </a:r>
          </a:p>
        </p:txBody>
      </p:sp>
      <p:sp>
        <p:nvSpPr>
          <p:cNvPr id="4" name="">
            <a:extLst>
              <a:ext uri="{FF2B5EF4-FFF2-40B4-BE49-F238E27FC236}">
                <ns2:creationId id="{B8EAB55B-A95B-4792-9FBF-F6F1A55A8963}"/>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동료가 다시 실행할 순서를 적어 보세요.</a:t>
            </a:r>
          </a:p>
        </p:txBody>
      </p:sp>
      <p:sp>
        <p:nvSpPr>
          <p:cNvPr id="5" name="">
            <a:extLst>
              <a:ext uri="{FF2B5EF4-FFF2-40B4-BE49-F238E27FC236}">
                <ns2:creationId id="{C72CC4D7-A6DA-436E-9EF8-9274E32C37DC}"/>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지금 화면에는 풀이를 표시하지 않습니다. 입력과 판단 조건부터 읽습니다.</a:t>
            </a:r>
          </a:p>
        </p:txBody>
      </p:sp>
      <p:sp>
        <p:nvSpPr>
          <p:cNvPr id="6" name="">
            <a:extLst>
              <a:ext uri="{FF2B5EF4-FFF2-40B4-BE49-F238E27FC236}">
                <ns2:creationId id="{4A96DA0F-24E1-40DB-B177-3907F31960D1}"/>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C930E840-CA66-4C41-8F71-F2FBD5BEDAB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C2AB43C1-E171-4896-BB68-694CF6320BE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EBBD8495-2D34-461C-9A86-7617F4DBD95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D5ED4224-06F6-42FF-8819-05DADFCCEA8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107</a:t>
            </a:r>
          </a:p>
        </p:txBody>
      </p:sp>
    </p:spTree>
    <p:extLst>
      <p:ext uri="{BB962C8B-B14F-4D97-AF65-F5344CB8AC3E}">
        <ns4:creationId val="1796614315"/>
      </p:ext>
    </p:extLst>
  </p:cSld>
</p:sld>
</file>

<file path=ppt/slides/slide10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517F4D6A-2C3E-48C0-BF2F-25E43F51027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10/21 수업</a:t>
            </a:r>
          </a:p>
        </p:txBody>
      </p:sp>
      <p:sp>
        <p:nvSpPr>
          <p:cNvPr id="2" name="">
            <a:extLst>
              <a:ext uri="{FF2B5EF4-FFF2-40B4-BE49-F238E27FC236}">
                <ns2:creationId id="{0042E288-B187-4190-8E56-0D2E115CF78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오늘의 수업 자료</a:t>
            </a:r>
          </a:p>
        </p:txBody>
      </p:sp>
      <p:sp>
        <p:nvSpPr>
          <p:cNvPr id="3" name="">
            <a:extLst>
              <a:ext uri="{FF2B5EF4-FFF2-40B4-BE49-F238E27FC236}">
                <ns2:creationId id="{A919E5CA-631A-4134-8E8D-B26FFC83EC16}"/>
              </a:ext>
            </a:extLst>
          </p:cNvPr>
          <p:cNvSpPr>
            <a:spLocks noGrp="1"/>
          </p:cNvSpPr>
          <p:nvPr/>
        </p:nvSpPr>
        <p:spPr>
          <a:xfrm>
            <a:off x="685800" y="1885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4"/>
              </a:rPr>
              <a:t>처음 시작 안내 ↗</a:t>
            </a:r>
          </a:p>
        </p:txBody>
      </p:sp>
      <p:sp>
        <p:nvSpPr>
          <p:cNvPr id="4" name="">
            <a:extLst>
              <a:ext uri="{FF2B5EF4-FFF2-40B4-BE49-F238E27FC236}">
                <ns2:creationId id="{834F9B02-F17E-45CA-9857-FE9DD8A45B40}"/>
              </a:ext>
            </a:extLst>
          </p:cNvPr>
          <p:cNvSpPr>
            <a:spLocks noGrp="1"/>
          </p:cNvSpPr>
          <p:nvPr/>
        </p:nvSpPr>
        <p:spPr>
          <a:xfrm>
            <a:off x="685800" y="2343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5" name="">
            <a:extLst>
              <a:ext uri="{FF2B5EF4-FFF2-40B4-BE49-F238E27FC236}">
                <ns2:creationId id="{C08C4C1A-C7B2-435D-A3A5-CAC2361496F0}"/>
              </a:ext>
            </a:extLst>
          </p:cNvPr>
          <p:cNvSpPr>
            <a:spLocks noGrp="1"/>
          </p:cNvSpPr>
          <p:nvPr/>
        </p:nvSpPr>
        <p:spPr>
          <a:xfrm>
            <a:off x="685800" y="2647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5"/>
              </a:rPr>
              <a:t>학생 교안 ↗</a:t>
            </a:r>
          </a:p>
        </p:txBody>
      </p:sp>
      <p:sp>
        <p:nvSpPr>
          <p:cNvPr id="6" name="">
            <a:extLst>
              <a:ext uri="{FF2B5EF4-FFF2-40B4-BE49-F238E27FC236}">
                <ns2:creationId id="{D047EC61-57F7-4B2E-9E2B-28E0AD4C8D72}"/>
              </a:ext>
            </a:extLst>
          </p:cNvPr>
          <p:cNvSpPr>
            <a:spLocks noGrp="1"/>
          </p:cNvSpPr>
          <p:nvPr/>
        </p:nvSpPr>
        <p:spPr>
          <a:xfrm>
            <a:off x="685800" y="3105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7" name="">
            <a:extLst>
              <a:ext uri="{FF2B5EF4-FFF2-40B4-BE49-F238E27FC236}">
                <ns2:creationId id="{C5A18D96-AC6B-46E3-91FC-D6EB942804D2}"/>
              </a:ext>
            </a:extLst>
          </p:cNvPr>
          <p:cNvSpPr>
            <a:spLocks noGrp="1"/>
          </p:cNvSpPr>
          <p:nvPr/>
        </p:nvSpPr>
        <p:spPr>
          <a:xfrm>
            <a:off x="685800" y="3409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6"/>
              </a:rPr>
              <a:t>실습 활동 ↗</a:t>
            </a:r>
          </a:p>
        </p:txBody>
      </p:sp>
      <p:sp>
        <p:nvSpPr>
          <p:cNvPr id="8" name="">
            <a:extLst>
              <a:ext uri="{FF2B5EF4-FFF2-40B4-BE49-F238E27FC236}">
                <ns2:creationId id="{702E36BA-4509-4D7D-83A7-8AAFEC52CAA1}"/>
              </a:ext>
            </a:extLst>
          </p:cNvPr>
          <p:cNvSpPr>
            <a:spLocks noGrp="1"/>
          </p:cNvSpPr>
          <p:nvPr/>
        </p:nvSpPr>
        <p:spPr>
          <a:xfrm>
            <a:off x="685800" y="3867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9" name="">
            <a:extLst>
              <a:ext uri="{FF2B5EF4-FFF2-40B4-BE49-F238E27FC236}">
                <ns2:creationId id="{0A1B86FF-BB41-4C46-A09A-5AACD8F698AE}"/>
              </a:ext>
            </a:extLst>
          </p:cNvPr>
          <p:cNvSpPr>
            <a:spLocks noGrp="1"/>
          </p:cNvSpPr>
          <p:nvPr/>
        </p:nvSpPr>
        <p:spPr>
          <a:xfrm>
            <a:off x="685800" y="4171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7"/>
              </a:rPr>
              <a:t>예제 코드와 데이터 ZIP ↗</a:t>
            </a:r>
          </a:p>
        </p:txBody>
      </p:sp>
      <p:sp>
        <p:nvSpPr>
          <p:cNvPr id="10" name="">
            <a:extLst>
              <a:ext uri="{FF2B5EF4-FFF2-40B4-BE49-F238E27FC236}">
                <ns2:creationId id="{2A579D41-B691-4509-9CA5-E3758920B82A}"/>
              </a:ext>
            </a:extLst>
          </p:cNvPr>
          <p:cNvSpPr>
            <a:spLocks noGrp="1"/>
          </p:cNvSpPr>
          <p:nvPr/>
        </p:nvSpPr>
        <p:spPr>
          <a:xfrm>
            <a:off x="685800" y="4629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11" name="">
            <a:extLst>
              <a:ext uri="{FF2B5EF4-FFF2-40B4-BE49-F238E27FC236}">
                <ns2:creationId id="{410F88B1-12A2-4645-A63C-0F621C1539C0}"/>
              </a:ext>
            </a:extLst>
          </p:cNvPr>
          <p:cNvSpPr>
            <a:spLocks noGrp="1"/>
          </p:cNvSpPr>
          <p:nvPr/>
        </p:nvSpPr>
        <p:spPr>
          <a:xfrm>
            <a:off x="685800" y="4933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8"/>
              </a:rPr>
              <a:t>날짜별 자료 다운로드 ↗</a:t>
            </a:r>
          </a:p>
        </p:txBody>
      </p:sp>
      <p:sp>
        <p:nvSpPr>
          <p:cNvPr id="12" name="">
            <a:extLst>
              <a:ext uri="{FF2B5EF4-FFF2-40B4-BE49-F238E27FC236}">
                <ns2:creationId id="{93C0F0C4-C225-42A3-BF8C-F50A36C1F5CD}"/>
              </a:ext>
            </a:extLst>
          </p:cNvPr>
          <p:cNvSpPr>
            <a:spLocks noGrp="1"/>
          </p:cNvSpPr>
          <p:nvPr/>
        </p:nvSpPr>
        <p:spPr>
          <a:xfrm>
            <a:off x="685800" y="5391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13" name="">
            <a:extLst>
              <a:ext uri="{FF2B5EF4-FFF2-40B4-BE49-F238E27FC236}">
                <ns2:creationId id="{00FF1963-B7E5-4543-AA44-2AE31E1BF7FD}"/>
              </a:ext>
            </a:extLst>
          </p:cNvPr>
          <p:cNvSpPr>
            <a:spLocks noGrp="1"/>
          </p:cNvSpPr>
          <p:nvPr/>
        </p:nvSpPr>
        <p:spPr>
          <a:xfrm>
            <a:off x="685800" y="6172200"/>
            <a:ext cx="10820400" cy="9525"/>
          </a:xfrm>
          <a:prstGeom prst="rect">
            <a:avLst/>
          </a:prstGeom>
          <a:solidFill>
            <a:srgbClr val="D5DEDD"/>
          </a:solidFill>
          <a:ln w="0">
            <a:noFill/>
          </a:ln>
        </p:spPr>
      </p:sp>
      <p:sp>
        <p:nvSpPr>
          <p:cNvPr id="14" name="">
            <a:extLst>
              <a:ext uri="{FF2B5EF4-FFF2-40B4-BE49-F238E27FC236}">
                <ns2:creationId id="{3BFEB821-39A1-4450-A98C-BC8B5F1290A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5" name="">
            <a:extLst>
              <a:ext uri="{FF2B5EF4-FFF2-40B4-BE49-F238E27FC236}">
                <ns2:creationId id="{B7E40BB0-CFA6-46F7-B8A0-CB098E52445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6" name="">
            <a:extLst>
              <a:ext uri="{FF2B5EF4-FFF2-40B4-BE49-F238E27FC236}">
                <ns2:creationId id="{1D28F4DD-5ADE-40FB-AB75-ACCC225F0B3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7" name="">
            <a:extLst>
              <a:ext uri="{FF2B5EF4-FFF2-40B4-BE49-F238E27FC236}">
                <ns2:creationId id="{1665B894-1FA5-4A3F-A991-16F3AD2C936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108</a:t>
            </a:r>
          </a:p>
        </p:txBody>
      </p:sp>
    </p:spTree>
    <p:extLst>
      <p:ext uri="{BB962C8B-B14F-4D97-AF65-F5344CB8AC3E}">
        <ns4:creationId val="1371501217"/>
      </p:ext>
    </p:extLst>
  </p:cSld>
</p:sld>
</file>

<file path=ppt/slides/slide10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A760376E-4C07-483D-B5C3-64E1A25BC18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10/21 수업</a:t>
            </a:r>
          </a:p>
        </p:txBody>
      </p:sp>
      <p:sp>
        <p:nvSpPr>
          <p:cNvPr id="2" name="">
            <a:extLst>
              <a:ext uri="{FF2B5EF4-FFF2-40B4-BE49-F238E27FC236}">
                <ns2:creationId id="{80167E4A-33B5-40A0-AF06-7660BA5EC9B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공식 문서와 참고 자료</a:t>
            </a:r>
          </a:p>
        </p:txBody>
      </p:sp>
      <p:sp>
        <p:nvSpPr>
          <p:cNvPr id="3" name="">
            <a:extLst>
              <a:ext uri="{FF2B5EF4-FFF2-40B4-BE49-F238E27FC236}">
                <ns2:creationId id="{95232E6B-EC07-4B0E-82E9-1AC0E7D25631}"/>
              </a:ext>
            </a:extLst>
          </p:cNvPr>
          <p:cNvSpPr>
            <a:spLocks noGrp="1"/>
          </p:cNvSpPr>
          <p:nvPr/>
        </p:nvSpPr>
        <p:spPr>
          <a:xfrm>
            <a:off x="685800" y="1885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4"/>
              </a:rPr>
              <a:t>HTML 문서 구조 ↗</a:t>
            </a:r>
          </a:p>
        </p:txBody>
      </p:sp>
      <p:sp>
        <p:nvSpPr>
          <p:cNvPr id="4" name="">
            <a:extLst>
              <a:ext uri="{FF2B5EF4-FFF2-40B4-BE49-F238E27FC236}">
                <ns2:creationId id="{C7FFB8C8-AA9C-4335-9A2E-205AA259D6BD}"/>
              </a:ext>
            </a:extLst>
          </p:cNvPr>
          <p:cNvSpPr>
            <a:spLocks noGrp="1"/>
          </p:cNvSpPr>
          <p:nvPr/>
        </p:nvSpPr>
        <p:spPr>
          <a:xfrm>
            <a:off x="685800" y="2343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developer.mozilla.org</a:t>
            </a:r>
          </a:p>
        </p:txBody>
      </p:sp>
      <p:sp>
        <p:nvSpPr>
          <p:cNvPr id="5" name="">
            <a:extLst>
              <a:ext uri="{FF2B5EF4-FFF2-40B4-BE49-F238E27FC236}">
                <ns2:creationId id="{2F2CBA59-5537-4268-84D9-8E44E110CECE}"/>
              </a:ext>
            </a:extLst>
          </p:cNvPr>
          <p:cNvSpPr>
            <a:spLocks noGrp="1"/>
          </p:cNvSpPr>
          <p:nvPr/>
        </p:nvSpPr>
        <p:spPr>
          <a:xfrm>
            <a:off x="685800" y="2647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5"/>
              </a:rPr>
              <a:t>React props 전달 ↗</a:t>
            </a:r>
          </a:p>
        </p:txBody>
      </p:sp>
      <p:sp>
        <p:nvSpPr>
          <p:cNvPr id="6" name="">
            <a:extLst>
              <a:ext uri="{FF2B5EF4-FFF2-40B4-BE49-F238E27FC236}">
                <ns2:creationId id="{4113A70F-D8B5-4102-A02D-AAF561306850}"/>
              </a:ext>
            </a:extLst>
          </p:cNvPr>
          <p:cNvSpPr>
            <a:spLocks noGrp="1"/>
          </p:cNvSpPr>
          <p:nvPr/>
        </p:nvSpPr>
        <p:spPr>
          <a:xfrm>
            <a:off x="685800" y="3105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react.dev</a:t>
            </a:r>
          </a:p>
        </p:txBody>
      </p:sp>
      <p:sp>
        <p:nvSpPr>
          <p:cNvPr id="7" name="">
            <a:extLst>
              <a:ext uri="{FF2B5EF4-FFF2-40B4-BE49-F238E27FC236}">
                <ns2:creationId id="{65B03B62-D9C0-4022-8AB3-F64B43CE0496}"/>
              </a:ext>
            </a:extLst>
          </p:cNvPr>
          <p:cNvSpPr>
            <a:spLocks noGrp="1"/>
          </p:cNvSpPr>
          <p:nvPr/>
        </p:nvSpPr>
        <p:spPr>
          <a:xfrm>
            <a:off x="685800" y="3409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6"/>
              </a:rPr>
              <a:t>MCP 2025-11-25 초기화 ↗</a:t>
            </a:r>
          </a:p>
        </p:txBody>
      </p:sp>
      <p:sp>
        <p:nvSpPr>
          <p:cNvPr id="8" name="">
            <a:extLst>
              <a:ext uri="{FF2B5EF4-FFF2-40B4-BE49-F238E27FC236}">
                <ns2:creationId id="{96B7765A-D210-47FC-89A1-79C9FF3916CD}"/>
              </a:ext>
            </a:extLst>
          </p:cNvPr>
          <p:cNvSpPr>
            <a:spLocks noGrp="1"/>
          </p:cNvSpPr>
          <p:nvPr/>
        </p:nvSpPr>
        <p:spPr>
          <a:xfrm>
            <a:off x="685800" y="3867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modelcontextprotocol.io</a:t>
            </a:r>
          </a:p>
        </p:txBody>
      </p:sp>
      <p:sp>
        <p:nvSpPr>
          <p:cNvPr id="9" name="">
            <a:extLst>
              <a:ext uri="{FF2B5EF4-FFF2-40B4-BE49-F238E27FC236}">
                <ns2:creationId id="{9A43781E-E1E3-4EB1-842A-6AAAD2BB32D6}"/>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1E79EA52-EBF2-4992-879F-A3A19EC6EC2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A1F726D6-F233-4102-A11F-28F20036B95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64C7CA7C-5396-45A7-8D77-CE9F1DB3D1A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DC632FE6-893D-43B3-AAE5-DFF296A10C0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10/21   109</a:t>
            </a:r>
          </a:p>
        </p:txBody>
      </p:sp>
    </p:spTree>
    <p:extLst>
      <p:ext uri="{BB962C8B-B14F-4D97-AF65-F5344CB8AC3E}">
        <ns4:creationId val="198410050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2026-10-05T04:43:04.1470000Z</dcterms:created>
  <dcterms:modified xsi:type="dcterms:W3CDTF">2026-10-05T04:43:04.1470000Z</dcterms:modified>
</coreProperties>
</file>