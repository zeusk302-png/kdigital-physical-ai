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65112436d04d92" /><Relationship Type="http://schemas.openxmlformats.org/officeDocument/2006/relationships/extended-properties" Target="/docProps/app.xml" Id="R12bd2c810691417a" /><Relationship Type="http://schemas.openxmlformats.org/officeDocument/2006/relationships/officeDocument" Target="/ppt/presentation.xml" Id="R94b1a20017904d3f" /></Relationships>
</file>

<file path=ppt/presentation.xml><?xml version="1.0" encoding="utf-8"?>
<p:presentation xmlns:p="http://schemas.openxmlformats.org/presentationml/2006/main">
  <p:sldMasterIdLst>
    <p:sldMasterId xmlns:r="http://schemas.openxmlformats.org/officeDocument/2006/relationships" id="2147483648" r:id="R4d18a8470f44470f"/>
  </p:sldMasterIdLst>
  <p:notesMasterIdLst>
    <p:notesMasterId xmlns:r="http://schemas.openxmlformats.org/officeDocument/2006/relationships" r:id="R5cea165af8544d12"/>
  </p:notesMasterIdLst>
  <p:sldIdLst>
    <p:sldId xmlns:r="http://schemas.openxmlformats.org/officeDocument/2006/relationships" id="256" r:id="R0d67f8f13c514825"/>
    <p:sldId xmlns:r="http://schemas.openxmlformats.org/officeDocument/2006/relationships" id="257" r:id="R839ca05b3f81457e"/>
    <p:sldId xmlns:r="http://schemas.openxmlformats.org/officeDocument/2006/relationships" id="258" r:id="R2a0946ededd340e8"/>
    <p:sldId xmlns:r="http://schemas.openxmlformats.org/officeDocument/2006/relationships" id="259" r:id="R4d1a4e0ab4bd4dcc"/>
    <p:sldId xmlns:r="http://schemas.openxmlformats.org/officeDocument/2006/relationships" id="260" r:id="Re23587d3a7dd4965"/>
    <p:sldId xmlns:r="http://schemas.openxmlformats.org/officeDocument/2006/relationships" id="261" r:id="Rcfcdf2fdfbbc4f0f"/>
    <p:sldId xmlns:r="http://schemas.openxmlformats.org/officeDocument/2006/relationships" id="262" r:id="R20db2242f9ab4076"/>
    <p:sldId xmlns:r="http://schemas.openxmlformats.org/officeDocument/2006/relationships" id="263" r:id="Re6100988e5574822"/>
    <p:sldId xmlns:r="http://schemas.openxmlformats.org/officeDocument/2006/relationships" id="264" r:id="R3a5f30062337414c"/>
    <p:sldId xmlns:r="http://schemas.openxmlformats.org/officeDocument/2006/relationships" id="265" r:id="R45ba296926d14977"/>
    <p:sldId xmlns:r="http://schemas.openxmlformats.org/officeDocument/2006/relationships" id="266" r:id="R5c4eca7a51654bbe"/>
    <p:sldId xmlns:r="http://schemas.openxmlformats.org/officeDocument/2006/relationships" id="267" r:id="R6597c515936046c0"/>
    <p:sldId xmlns:r="http://schemas.openxmlformats.org/officeDocument/2006/relationships" id="268" r:id="Rae33741976f947fc"/>
    <p:sldId xmlns:r="http://schemas.openxmlformats.org/officeDocument/2006/relationships" id="269" r:id="R2d22d1e5cf27423b"/>
    <p:sldId xmlns:r="http://schemas.openxmlformats.org/officeDocument/2006/relationships" id="270" r:id="Rb5d452eb2e9a4808"/>
    <p:sldId xmlns:r="http://schemas.openxmlformats.org/officeDocument/2006/relationships" id="271" r:id="Rc90ec1db69df49b8"/>
    <p:sldId xmlns:r="http://schemas.openxmlformats.org/officeDocument/2006/relationships" id="272" r:id="Rf30a4dcf013e41aa"/>
    <p:sldId xmlns:r="http://schemas.openxmlformats.org/officeDocument/2006/relationships" id="273" r:id="R489c6215b09a4b93"/>
    <p:sldId xmlns:r="http://schemas.openxmlformats.org/officeDocument/2006/relationships" id="274" r:id="Rbf44998722d744d8"/>
    <p:sldId xmlns:r="http://schemas.openxmlformats.org/officeDocument/2006/relationships" id="275" r:id="Re08831d44af248d9"/>
    <p:sldId xmlns:r="http://schemas.openxmlformats.org/officeDocument/2006/relationships" id="276" r:id="Re2398031ebb646a7"/>
    <p:sldId xmlns:r="http://schemas.openxmlformats.org/officeDocument/2006/relationships" id="277" r:id="R8c37db25633a4b01"/>
    <p:sldId xmlns:r="http://schemas.openxmlformats.org/officeDocument/2006/relationships" id="278" r:id="Rdfd7429edac04c54"/>
    <p:sldId xmlns:r="http://schemas.openxmlformats.org/officeDocument/2006/relationships" id="279" r:id="Rca2e4a9292be450e"/>
    <p:sldId xmlns:r="http://schemas.openxmlformats.org/officeDocument/2006/relationships" id="280" r:id="Rdfbf514d8fa3435b"/>
    <p:sldId xmlns:r="http://schemas.openxmlformats.org/officeDocument/2006/relationships" id="281" r:id="R1c90569a346b49a4"/>
    <p:sldId xmlns:r="http://schemas.openxmlformats.org/officeDocument/2006/relationships" id="282" r:id="Rd1fd6fb6b33f431a"/>
    <p:sldId xmlns:r="http://schemas.openxmlformats.org/officeDocument/2006/relationships" id="283" r:id="R3c25a432990c4b24"/>
    <p:sldId xmlns:r="http://schemas.openxmlformats.org/officeDocument/2006/relationships" id="284" r:id="R85dc5df317954858"/>
    <p:sldId xmlns:r="http://schemas.openxmlformats.org/officeDocument/2006/relationships" id="285" r:id="R269e02021c54433c"/>
    <p:sldId xmlns:r="http://schemas.openxmlformats.org/officeDocument/2006/relationships" id="286" r:id="Raf0a2b35801c48b8"/>
    <p:sldId xmlns:r="http://schemas.openxmlformats.org/officeDocument/2006/relationships" id="287" r:id="Re4a8f2a5eae04f17"/>
    <p:sldId xmlns:r="http://schemas.openxmlformats.org/officeDocument/2006/relationships" id="288" r:id="R43f77febdc7a4b0c"/>
    <p:sldId xmlns:r="http://schemas.openxmlformats.org/officeDocument/2006/relationships" id="289" r:id="R1013c96c8d624f98"/>
    <p:sldId xmlns:r="http://schemas.openxmlformats.org/officeDocument/2006/relationships" id="290" r:id="Rdcb33aa1fcbb491d"/>
    <p:sldId xmlns:r="http://schemas.openxmlformats.org/officeDocument/2006/relationships" id="291" r:id="R3e16b19c40fa4786"/>
    <p:sldId xmlns:r="http://schemas.openxmlformats.org/officeDocument/2006/relationships" id="292" r:id="Rae20678c0f6b49be"/>
    <p:sldId xmlns:r="http://schemas.openxmlformats.org/officeDocument/2006/relationships" id="293" r:id="R68711df56f94476f"/>
    <p:sldId xmlns:r="http://schemas.openxmlformats.org/officeDocument/2006/relationships" id="294" r:id="Rf2656e7c0df94634"/>
    <p:sldId xmlns:r="http://schemas.openxmlformats.org/officeDocument/2006/relationships" id="295" r:id="Rff4fc446f77a4421"/>
    <p:sldId xmlns:r="http://schemas.openxmlformats.org/officeDocument/2006/relationships" id="296" r:id="R78538ac625214ec1"/>
    <p:sldId xmlns:r="http://schemas.openxmlformats.org/officeDocument/2006/relationships" id="297" r:id="R3ae3083bc41241da"/>
    <p:sldId xmlns:r="http://schemas.openxmlformats.org/officeDocument/2006/relationships" id="298" r:id="R4ad01fad2d8e4f8b"/>
    <p:sldId xmlns:r="http://schemas.openxmlformats.org/officeDocument/2006/relationships" id="299" r:id="R5cca8655052f4778"/>
    <p:sldId xmlns:r="http://schemas.openxmlformats.org/officeDocument/2006/relationships" id="300" r:id="R20050f342f4a440f"/>
    <p:sldId xmlns:r="http://schemas.openxmlformats.org/officeDocument/2006/relationships" id="301" r:id="R44ad8308c3e541c5"/>
    <p:sldId xmlns:r="http://schemas.openxmlformats.org/officeDocument/2006/relationships" id="302" r:id="R9fd91dcbad76452e"/>
    <p:sldId xmlns:r="http://schemas.openxmlformats.org/officeDocument/2006/relationships" id="303" r:id="R7827948924044a1e"/>
    <p:sldId xmlns:r="http://schemas.openxmlformats.org/officeDocument/2006/relationships" id="304" r:id="Rbb0e62870aa142e3"/>
    <p:sldId xmlns:r="http://schemas.openxmlformats.org/officeDocument/2006/relationships" id="305" r:id="Rf201d7ee8b70463b"/>
    <p:sldId xmlns:r="http://schemas.openxmlformats.org/officeDocument/2006/relationships" id="306" r:id="R058ae547c9f343d0"/>
    <p:sldId xmlns:r="http://schemas.openxmlformats.org/officeDocument/2006/relationships" id="307" r:id="R1dddc86ed49a4d6f"/>
    <p:sldId xmlns:r="http://schemas.openxmlformats.org/officeDocument/2006/relationships" id="308" r:id="R1f3f7d27e5bd499a"/>
    <p:sldId xmlns:r="http://schemas.openxmlformats.org/officeDocument/2006/relationships" id="309" r:id="R315d0886271742fd"/>
    <p:sldId xmlns:r="http://schemas.openxmlformats.org/officeDocument/2006/relationships" id="310" r:id="R2d726ef239624e4e"/>
    <p:sldId xmlns:r="http://schemas.openxmlformats.org/officeDocument/2006/relationships" id="311" r:id="R39ad01a4e9044398"/>
    <p:sldId xmlns:r="http://schemas.openxmlformats.org/officeDocument/2006/relationships" id="312" r:id="R6d4a979cd0824b2d"/>
    <p:sldId xmlns:r="http://schemas.openxmlformats.org/officeDocument/2006/relationships" id="313" r:id="R4f7c604afa1042bd"/>
    <p:sldId xmlns:r="http://schemas.openxmlformats.org/officeDocument/2006/relationships" id="314" r:id="R7273166bec544358"/>
    <p:sldId xmlns:r="http://schemas.openxmlformats.org/officeDocument/2006/relationships" id="315" r:id="R9d05679048694bb2"/>
    <p:sldId xmlns:r="http://schemas.openxmlformats.org/officeDocument/2006/relationships" id="316" r:id="R29be47377bfd4941"/>
    <p:sldId xmlns:r="http://schemas.openxmlformats.org/officeDocument/2006/relationships" id="317" r:id="R9e430465df254428"/>
    <p:sldId xmlns:r="http://schemas.openxmlformats.org/officeDocument/2006/relationships" id="318" r:id="Rd40f98694416498b"/>
    <p:sldId xmlns:r="http://schemas.openxmlformats.org/officeDocument/2006/relationships" id="319" r:id="R7bbdfec87a824023"/>
    <p:sldId xmlns:r="http://schemas.openxmlformats.org/officeDocument/2006/relationships" id="320" r:id="R88f08f4b4c834330"/>
    <p:sldId xmlns:r="http://schemas.openxmlformats.org/officeDocument/2006/relationships" id="321" r:id="R188bfebfbf26438c"/>
    <p:sldId xmlns:r="http://schemas.openxmlformats.org/officeDocument/2006/relationships" id="322" r:id="R6ba275cfac424fe2"/>
    <p:sldId xmlns:r="http://schemas.openxmlformats.org/officeDocument/2006/relationships" id="323" r:id="R51440dc9c10a4e8b"/>
    <p:sldId xmlns:r="http://schemas.openxmlformats.org/officeDocument/2006/relationships" id="324" r:id="R20b5005a561544d9"/>
    <p:sldId xmlns:r="http://schemas.openxmlformats.org/officeDocument/2006/relationships" id="325" r:id="Rdbd3aaa403f9420e"/>
    <p:sldId xmlns:r="http://schemas.openxmlformats.org/officeDocument/2006/relationships" id="326" r:id="Ra5abcf999c494a1e"/>
    <p:sldId xmlns:r="http://schemas.openxmlformats.org/officeDocument/2006/relationships" id="327" r:id="Rdd5aaaa28a244506"/>
    <p:sldId xmlns:r="http://schemas.openxmlformats.org/officeDocument/2006/relationships" id="328" r:id="R997b3f73ed97487d"/>
    <p:sldId xmlns:r="http://schemas.openxmlformats.org/officeDocument/2006/relationships" id="329" r:id="R880b9004bcd34595"/>
    <p:sldId xmlns:r="http://schemas.openxmlformats.org/officeDocument/2006/relationships" id="330" r:id="R98f7e360a60b433a"/>
    <p:sldId xmlns:r="http://schemas.openxmlformats.org/officeDocument/2006/relationships" id="331" r:id="Rdb58bf9dddc8413a"/>
    <p:sldId xmlns:r="http://schemas.openxmlformats.org/officeDocument/2006/relationships" id="332" r:id="R539d576602df4043"/>
    <p:sldId xmlns:r="http://schemas.openxmlformats.org/officeDocument/2006/relationships" id="333" r:id="R6947195a02a44100"/>
    <p:sldId xmlns:r="http://schemas.openxmlformats.org/officeDocument/2006/relationships" id="334" r:id="Rc4ff32600e78414c"/>
    <p:sldId xmlns:r="http://schemas.openxmlformats.org/officeDocument/2006/relationships" id="335" r:id="R3ca2825d403b420d"/>
    <p:sldId xmlns:r="http://schemas.openxmlformats.org/officeDocument/2006/relationships" id="336" r:id="R7eabc85b17304574"/>
    <p:sldId xmlns:r="http://schemas.openxmlformats.org/officeDocument/2006/relationships" id="337" r:id="Ra355e64d13c34358"/>
    <p:sldId xmlns:r="http://schemas.openxmlformats.org/officeDocument/2006/relationships" id="338" r:id="R7d4d7da864a146bb"/>
    <p:sldId xmlns:r="http://schemas.openxmlformats.org/officeDocument/2006/relationships" id="339" r:id="R1f8ecc4fd5164bcc"/>
    <p:sldId xmlns:r="http://schemas.openxmlformats.org/officeDocument/2006/relationships" id="340" r:id="R781c1b63edb84672"/>
    <p:sldId xmlns:r="http://schemas.openxmlformats.org/officeDocument/2006/relationships" id="341" r:id="R95e48d8be9aa4895"/>
    <p:sldId xmlns:r="http://schemas.openxmlformats.org/officeDocument/2006/relationships" id="342" r:id="R318a3c08baca4307"/>
    <p:sldId xmlns:r="http://schemas.openxmlformats.org/officeDocument/2006/relationships" id="343" r:id="Ra932e15d77844e12"/>
    <p:sldId xmlns:r="http://schemas.openxmlformats.org/officeDocument/2006/relationships" id="344" r:id="R0e1d8e6c1c704549"/>
    <p:sldId xmlns:r="http://schemas.openxmlformats.org/officeDocument/2006/relationships" id="345" r:id="R1f2ebaf0dba24cfe"/>
    <p:sldId xmlns:r="http://schemas.openxmlformats.org/officeDocument/2006/relationships" id="346" r:id="Ra4a36d535e2b40c4"/>
    <p:sldId xmlns:r="http://schemas.openxmlformats.org/officeDocument/2006/relationships" id="347" r:id="R12f6942342e74755"/>
    <p:sldId xmlns:r="http://schemas.openxmlformats.org/officeDocument/2006/relationships" id="348" r:id="Rc8bf07926b4c4997"/>
    <p:sldId xmlns:r="http://schemas.openxmlformats.org/officeDocument/2006/relationships" id="349" r:id="R6a15811faa404874"/>
    <p:sldId xmlns:r="http://schemas.openxmlformats.org/officeDocument/2006/relationships" id="350" r:id="Rd103ce229889448a"/>
    <p:sldId xmlns:r="http://schemas.openxmlformats.org/officeDocument/2006/relationships" id="351" r:id="R0f6b683240a441b3"/>
    <p:sldId xmlns:r="http://schemas.openxmlformats.org/officeDocument/2006/relationships" id="352" r:id="R5df6d24a9396473a"/>
    <p:sldId xmlns:r="http://schemas.openxmlformats.org/officeDocument/2006/relationships" id="353" r:id="R1bb545eeb0104d21"/>
    <p:sldId xmlns:r="http://schemas.openxmlformats.org/officeDocument/2006/relationships" id="354" r:id="Rb0534de61dec432f"/>
    <p:sldId xmlns:r="http://schemas.openxmlformats.org/officeDocument/2006/relationships" id="355" r:id="R2b1a83e18bdd49ed"/>
    <p:sldId xmlns:r="http://schemas.openxmlformats.org/officeDocument/2006/relationships" id="356" r:id="R2139ff0ba9054286"/>
    <p:sldId xmlns:r="http://schemas.openxmlformats.org/officeDocument/2006/relationships" id="357" r:id="R31bc3e75bdf547d2"/>
    <p:sldId xmlns:r="http://schemas.openxmlformats.org/officeDocument/2006/relationships" id="358" r:id="R52e9c9cc308c465e"/>
    <p:sldId xmlns:r="http://schemas.openxmlformats.org/officeDocument/2006/relationships" id="359" r:id="R78b641f961164e48"/>
    <p:sldId xmlns:r="http://schemas.openxmlformats.org/officeDocument/2006/relationships" id="360" r:id="R16f9fccb83be4631"/>
    <p:sldId xmlns:r="http://schemas.openxmlformats.org/officeDocument/2006/relationships" id="361" r:id="R93b7373eb7e34022"/>
    <p:sldId xmlns:r="http://schemas.openxmlformats.org/officeDocument/2006/relationships" id="362" r:id="R5650197087494a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8506bcdcdf4dd0" /><Relationship Type="http://schemas.openxmlformats.org/officeDocument/2006/relationships/slideMaster" Target="/ppt/slideMasters/slideMaster1.xml" Id="R4d18a8470f44470f" /><Relationship Type="http://schemas.openxmlformats.org/officeDocument/2006/relationships/notesMaster" Target="/ppt/notesMasters/notesMaster1.xml" Id="R5cea165af8544d12" /><Relationship Type="http://schemas.openxmlformats.org/officeDocument/2006/relationships/presProps" Target="/ppt/presProps.xml" Id="R11ba95329ee4434e" /><Relationship Type="http://schemas.openxmlformats.org/officeDocument/2006/relationships/tableStyles" Target="/ppt/tableStyles.xml" Id="R00af216edf374f61" /><Relationship Type="http://schemas.openxmlformats.org/officeDocument/2006/relationships/slide" Target="/ppt/slides/slide1.xml" Id="R0d67f8f13c514825" /><Relationship Type="http://schemas.openxmlformats.org/officeDocument/2006/relationships/slide" Target="/ppt/slides/slide2.xml" Id="R839ca05b3f81457e" /><Relationship Type="http://schemas.openxmlformats.org/officeDocument/2006/relationships/slide" Target="/ppt/slides/slide3.xml" Id="R2a0946ededd340e8" /><Relationship Type="http://schemas.openxmlformats.org/officeDocument/2006/relationships/slide" Target="/ppt/slides/slide4.xml" Id="R4d1a4e0ab4bd4dcc" /><Relationship Type="http://schemas.openxmlformats.org/officeDocument/2006/relationships/slide" Target="/ppt/slides/slide5.xml" Id="Re23587d3a7dd4965" /><Relationship Type="http://schemas.openxmlformats.org/officeDocument/2006/relationships/slide" Target="/ppt/slides/slide6.xml" Id="Rcfcdf2fdfbbc4f0f" /><Relationship Type="http://schemas.openxmlformats.org/officeDocument/2006/relationships/slide" Target="/ppt/slides/slide7.xml" Id="R20db2242f9ab4076" /><Relationship Type="http://schemas.openxmlformats.org/officeDocument/2006/relationships/slide" Target="/ppt/slides/slide8.xml" Id="Re6100988e5574822" /><Relationship Type="http://schemas.openxmlformats.org/officeDocument/2006/relationships/slide" Target="/ppt/slides/slide9.xml" Id="R3a5f30062337414c" /><Relationship Type="http://schemas.openxmlformats.org/officeDocument/2006/relationships/slide" Target="/ppt/slides/slide10.xml" Id="R45ba296926d14977" /><Relationship Type="http://schemas.openxmlformats.org/officeDocument/2006/relationships/slide" Target="/ppt/slides/slide11.xml" Id="R5c4eca7a51654bbe" /><Relationship Type="http://schemas.openxmlformats.org/officeDocument/2006/relationships/slide" Target="/ppt/slides/slide12.xml" Id="R6597c515936046c0" /><Relationship Type="http://schemas.openxmlformats.org/officeDocument/2006/relationships/slide" Target="/ppt/slides/slide13.xml" Id="Rae33741976f947fc" /><Relationship Type="http://schemas.openxmlformats.org/officeDocument/2006/relationships/slide" Target="/ppt/slides/slide14.xml" Id="R2d22d1e5cf27423b" /><Relationship Type="http://schemas.openxmlformats.org/officeDocument/2006/relationships/slide" Target="/ppt/slides/slide15.xml" Id="Rb5d452eb2e9a4808" /><Relationship Type="http://schemas.openxmlformats.org/officeDocument/2006/relationships/slide" Target="/ppt/slides/slide16.xml" Id="Rc90ec1db69df49b8" /><Relationship Type="http://schemas.openxmlformats.org/officeDocument/2006/relationships/slide" Target="/ppt/slides/slide17.xml" Id="Rf30a4dcf013e41aa" /><Relationship Type="http://schemas.openxmlformats.org/officeDocument/2006/relationships/slide" Target="/ppt/slides/slide18.xml" Id="R489c6215b09a4b93" /><Relationship Type="http://schemas.openxmlformats.org/officeDocument/2006/relationships/slide" Target="/ppt/slides/slide19.xml" Id="Rbf44998722d744d8" /><Relationship Type="http://schemas.openxmlformats.org/officeDocument/2006/relationships/slide" Target="/ppt/slides/slide20.xml" Id="Re08831d44af248d9" /><Relationship Type="http://schemas.openxmlformats.org/officeDocument/2006/relationships/slide" Target="/ppt/slides/slide21.xml" Id="Re2398031ebb646a7" /><Relationship Type="http://schemas.openxmlformats.org/officeDocument/2006/relationships/slide" Target="/ppt/slides/slide22.xml" Id="R8c37db25633a4b01" /><Relationship Type="http://schemas.openxmlformats.org/officeDocument/2006/relationships/slide" Target="/ppt/slides/slide23.xml" Id="Rdfd7429edac04c54" /><Relationship Type="http://schemas.openxmlformats.org/officeDocument/2006/relationships/slide" Target="/ppt/slides/slide24.xml" Id="Rca2e4a9292be450e" /><Relationship Type="http://schemas.openxmlformats.org/officeDocument/2006/relationships/slide" Target="/ppt/slides/slide25.xml" Id="Rdfbf514d8fa3435b" /><Relationship Type="http://schemas.openxmlformats.org/officeDocument/2006/relationships/slide" Target="/ppt/slides/slide26.xml" Id="R1c90569a346b49a4" /><Relationship Type="http://schemas.openxmlformats.org/officeDocument/2006/relationships/slide" Target="/ppt/slides/slide27.xml" Id="Rd1fd6fb6b33f431a" /><Relationship Type="http://schemas.openxmlformats.org/officeDocument/2006/relationships/slide" Target="/ppt/slides/slide28.xml" Id="R3c25a432990c4b24" /><Relationship Type="http://schemas.openxmlformats.org/officeDocument/2006/relationships/slide" Target="/ppt/slides/slide29.xml" Id="R85dc5df317954858" /><Relationship Type="http://schemas.openxmlformats.org/officeDocument/2006/relationships/slide" Target="/ppt/slides/slide30.xml" Id="R269e02021c54433c" /><Relationship Type="http://schemas.openxmlformats.org/officeDocument/2006/relationships/slide" Target="/ppt/slides/slide31.xml" Id="Raf0a2b35801c48b8" /><Relationship Type="http://schemas.openxmlformats.org/officeDocument/2006/relationships/slide" Target="/ppt/slides/slide32.xml" Id="Re4a8f2a5eae04f17" /><Relationship Type="http://schemas.openxmlformats.org/officeDocument/2006/relationships/slide" Target="/ppt/slides/slide33.xml" Id="R43f77febdc7a4b0c" /><Relationship Type="http://schemas.openxmlformats.org/officeDocument/2006/relationships/slide" Target="/ppt/slides/slide34.xml" Id="R1013c96c8d624f98" /><Relationship Type="http://schemas.openxmlformats.org/officeDocument/2006/relationships/slide" Target="/ppt/slides/slide35.xml" Id="Rdcb33aa1fcbb491d" /><Relationship Type="http://schemas.openxmlformats.org/officeDocument/2006/relationships/slide" Target="/ppt/slides/slide36.xml" Id="R3e16b19c40fa4786" /><Relationship Type="http://schemas.openxmlformats.org/officeDocument/2006/relationships/slide" Target="/ppt/slides/slide37.xml" Id="Rae20678c0f6b49be" /><Relationship Type="http://schemas.openxmlformats.org/officeDocument/2006/relationships/slide" Target="/ppt/slides/slide38.xml" Id="R68711df56f94476f" /><Relationship Type="http://schemas.openxmlformats.org/officeDocument/2006/relationships/slide" Target="/ppt/slides/slide39.xml" Id="Rf2656e7c0df94634" /><Relationship Type="http://schemas.openxmlformats.org/officeDocument/2006/relationships/slide" Target="/ppt/slides/slide40.xml" Id="Rff4fc446f77a4421" /><Relationship Type="http://schemas.openxmlformats.org/officeDocument/2006/relationships/slide" Target="/ppt/slides/slide41.xml" Id="R78538ac625214ec1" /><Relationship Type="http://schemas.openxmlformats.org/officeDocument/2006/relationships/slide" Target="/ppt/slides/slide42.xml" Id="R3ae3083bc41241da" /><Relationship Type="http://schemas.openxmlformats.org/officeDocument/2006/relationships/slide" Target="/ppt/slides/slide43.xml" Id="R4ad01fad2d8e4f8b" /><Relationship Type="http://schemas.openxmlformats.org/officeDocument/2006/relationships/slide" Target="/ppt/slides/slide44.xml" Id="R5cca8655052f4778" /><Relationship Type="http://schemas.openxmlformats.org/officeDocument/2006/relationships/slide" Target="/ppt/slides/slide45.xml" Id="R20050f342f4a440f" /><Relationship Type="http://schemas.openxmlformats.org/officeDocument/2006/relationships/slide" Target="/ppt/slides/slide46.xml" Id="R44ad8308c3e541c5" /><Relationship Type="http://schemas.openxmlformats.org/officeDocument/2006/relationships/slide" Target="/ppt/slides/slide47.xml" Id="R9fd91dcbad76452e" /><Relationship Type="http://schemas.openxmlformats.org/officeDocument/2006/relationships/slide" Target="/ppt/slides/slide48.xml" Id="R7827948924044a1e" /><Relationship Type="http://schemas.openxmlformats.org/officeDocument/2006/relationships/slide" Target="/ppt/slides/slide49.xml" Id="Rbb0e62870aa142e3" /><Relationship Type="http://schemas.openxmlformats.org/officeDocument/2006/relationships/slide" Target="/ppt/slides/slide50.xml" Id="Rf201d7ee8b70463b" /><Relationship Type="http://schemas.openxmlformats.org/officeDocument/2006/relationships/slide" Target="/ppt/slides/slide51.xml" Id="R058ae547c9f343d0" /><Relationship Type="http://schemas.openxmlformats.org/officeDocument/2006/relationships/slide" Target="/ppt/slides/slide52.xml" Id="R1dddc86ed49a4d6f" /><Relationship Type="http://schemas.openxmlformats.org/officeDocument/2006/relationships/slide" Target="/ppt/slides/slide53.xml" Id="R1f3f7d27e5bd499a" /><Relationship Type="http://schemas.openxmlformats.org/officeDocument/2006/relationships/slide" Target="/ppt/slides/slide54.xml" Id="R315d0886271742fd" /><Relationship Type="http://schemas.openxmlformats.org/officeDocument/2006/relationships/slide" Target="/ppt/slides/slide55.xml" Id="R2d726ef239624e4e" /><Relationship Type="http://schemas.openxmlformats.org/officeDocument/2006/relationships/slide" Target="/ppt/slides/slide56.xml" Id="R39ad01a4e9044398" /><Relationship Type="http://schemas.openxmlformats.org/officeDocument/2006/relationships/slide" Target="/ppt/slides/slide57.xml" Id="R6d4a979cd0824b2d" /><Relationship Type="http://schemas.openxmlformats.org/officeDocument/2006/relationships/slide" Target="/ppt/slides/slide58.xml" Id="R4f7c604afa1042bd" /><Relationship Type="http://schemas.openxmlformats.org/officeDocument/2006/relationships/slide" Target="/ppt/slides/slide59.xml" Id="R7273166bec544358" /><Relationship Type="http://schemas.openxmlformats.org/officeDocument/2006/relationships/slide" Target="/ppt/slides/slide60.xml" Id="R9d05679048694bb2" /><Relationship Type="http://schemas.openxmlformats.org/officeDocument/2006/relationships/slide" Target="/ppt/slides/slide61.xml" Id="R29be47377bfd4941" /><Relationship Type="http://schemas.openxmlformats.org/officeDocument/2006/relationships/slide" Target="/ppt/slides/slide62.xml" Id="R9e430465df254428" /><Relationship Type="http://schemas.openxmlformats.org/officeDocument/2006/relationships/slide" Target="/ppt/slides/slide63.xml" Id="Rd40f98694416498b" /><Relationship Type="http://schemas.openxmlformats.org/officeDocument/2006/relationships/slide" Target="/ppt/slides/slide64.xml" Id="R7bbdfec87a824023" /><Relationship Type="http://schemas.openxmlformats.org/officeDocument/2006/relationships/slide" Target="/ppt/slides/slide65.xml" Id="R88f08f4b4c834330" /><Relationship Type="http://schemas.openxmlformats.org/officeDocument/2006/relationships/slide" Target="/ppt/slides/slide66.xml" Id="R188bfebfbf26438c" /><Relationship Type="http://schemas.openxmlformats.org/officeDocument/2006/relationships/slide" Target="/ppt/slides/slide67.xml" Id="R6ba275cfac424fe2" /><Relationship Type="http://schemas.openxmlformats.org/officeDocument/2006/relationships/slide" Target="/ppt/slides/slide68.xml" Id="R51440dc9c10a4e8b" /><Relationship Type="http://schemas.openxmlformats.org/officeDocument/2006/relationships/slide" Target="/ppt/slides/slide69.xml" Id="R20b5005a561544d9" /><Relationship Type="http://schemas.openxmlformats.org/officeDocument/2006/relationships/slide" Target="/ppt/slides/slide70.xml" Id="Rdbd3aaa403f9420e" /><Relationship Type="http://schemas.openxmlformats.org/officeDocument/2006/relationships/slide" Target="/ppt/slides/slide71.xml" Id="Ra5abcf999c494a1e" /><Relationship Type="http://schemas.openxmlformats.org/officeDocument/2006/relationships/slide" Target="/ppt/slides/slide72.xml" Id="Rdd5aaaa28a244506" /><Relationship Type="http://schemas.openxmlformats.org/officeDocument/2006/relationships/slide" Target="/ppt/slides/slide73.xml" Id="R997b3f73ed97487d" /><Relationship Type="http://schemas.openxmlformats.org/officeDocument/2006/relationships/slide" Target="/ppt/slides/slide74.xml" Id="R880b9004bcd34595" /><Relationship Type="http://schemas.openxmlformats.org/officeDocument/2006/relationships/slide" Target="/ppt/slides/slide75.xml" Id="R98f7e360a60b433a" /><Relationship Type="http://schemas.openxmlformats.org/officeDocument/2006/relationships/slide" Target="/ppt/slides/slide76.xml" Id="Rdb58bf9dddc8413a" /><Relationship Type="http://schemas.openxmlformats.org/officeDocument/2006/relationships/slide" Target="/ppt/slides/slide77.xml" Id="R539d576602df4043" /><Relationship Type="http://schemas.openxmlformats.org/officeDocument/2006/relationships/slide" Target="/ppt/slides/slide78.xml" Id="R6947195a02a44100" /><Relationship Type="http://schemas.openxmlformats.org/officeDocument/2006/relationships/slide" Target="/ppt/slides/slide79.xml" Id="Rc4ff32600e78414c" /><Relationship Type="http://schemas.openxmlformats.org/officeDocument/2006/relationships/slide" Target="/ppt/slides/slide80.xml" Id="R3ca2825d403b420d" /><Relationship Type="http://schemas.openxmlformats.org/officeDocument/2006/relationships/slide" Target="/ppt/slides/slide81.xml" Id="R7eabc85b17304574" /><Relationship Type="http://schemas.openxmlformats.org/officeDocument/2006/relationships/slide" Target="/ppt/slides/slide82.xml" Id="Ra355e64d13c34358" /><Relationship Type="http://schemas.openxmlformats.org/officeDocument/2006/relationships/slide" Target="/ppt/slides/slide83.xml" Id="R7d4d7da864a146bb" /><Relationship Type="http://schemas.openxmlformats.org/officeDocument/2006/relationships/slide" Target="/ppt/slides/slide84.xml" Id="R1f8ecc4fd5164bcc" /><Relationship Type="http://schemas.openxmlformats.org/officeDocument/2006/relationships/slide" Target="/ppt/slides/slide85.xml" Id="R781c1b63edb84672" /><Relationship Type="http://schemas.openxmlformats.org/officeDocument/2006/relationships/slide" Target="/ppt/slides/slide86.xml" Id="R95e48d8be9aa4895" /><Relationship Type="http://schemas.openxmlformats.org/officeDocument/2006/relationships/slide" Target="/ppt/slides/slide87.xml" Id="R318a3c08baca4307" /><Relationship Type="http://schemas.openxmlformats.org/officeDocument/2006/relationships/slide" Target="/ppt/slides/slide88.xml" Id="Ra932e15d77844e12" /><Relationship Type="http://schemas.openxmlformats.org/officeDocument/2006/relationships/slide" Target="/ppt/slides/slide89.xml" Id="R0e1d8e6c1c704549" /><Relationship Type="http://schemas.openxmlformats.org/officeDocument/2006/relationships/slide" Target="/ppt/slides/slide90.xml" Id="R1f2ebaf0dba24cfe" /><Relationship Type="http://schemas.openxmlformats.org/officeDocument/2006/relationships/slide" Target="/ppt/slides/slide91.xml" Id="Ra4a36d535e2b40c4" /><Relationship Type="http://schemas.openxmlformats.org/officeDocument/2006/relationships/slide" Target="/ppt/slides/slide92.xml" Id="R12f6942342e74755" /><Relationship Type="http://schemas.openxmlformats.org/officeDocument/2006/relationships/slide" Target="/ppt/slides/slide93.xml" Id="Rc8bf07926b4c4997" /><Relationship Type="http://schemas.openxmlformats.org/officeDocument/2006/relationships/slide" Target="/ppt/slides/slide94.xml" Id="R6a15811faa404874" /><Relationship Type="http://schemas.openxmlformats.org/officeDocument/2006/relationships/slide" Target="/ppt/slides/slide95.xml" Id="Rd103ce229889448a" /><Relationship Type="http://schemas.openxmlformats.org/officeDocument/2006/relationships/slide" Target="/ppt/slides/slide96.xml" Id="R0f6b683240a441b3" /><Relationship Type="http://schemas.openxmlformats.org/officeDocument/2006/relationships/slide" Target="/ppt/slides/slide97.xml" Id="R5df6d24a9396473a" /><Relationship Type="http://schemas.openxmlformats.org/officeDocument/2006/relationships/slide" Target="/ppt/slides/slide98.xml" Id="R1bb545eeb0104d21" /><Relationship Type="http://schemas.openxmlformats.org/officeDocument/2006/relationships/slide" Target="/ppt/slides/slide99.xml" Id="Rb0534de61dec432f" /><Relationship Type="http://schemas.openxmlformats.org/officeDocument/2006/relationships/slide" Target="/ppt/slides/slide100.xml" Id="R2b1a83e18bdd49ed" /><Relationship Type="http://schemas.openxmlformats.org/officeDocument/2006/relationships/slide" Target="/ppt/slides/slide101.xml" Id="R2139ff0ba9054286" /><Relationship Type="http://schemas.openxmlformats.org/officeDocument/2006/relationships/slide" Target="/ppt/slides/slide102.xml" Id="R31bc3e75bdf547d2" /><Relationship Type="http://schemas.openxmlformats.org/officeDocument/2006/relationships/slide" Target="/ppt/slides/slide103.xml" Id="R52e9c9cc308c465e" /><Relationship Type="http://schemas.openxmlformats.org/officeDocument/2006/relationships/slide" Target="/ppt/slides/slide104.xml" Id="R78b641f961164e48" /><Relationship Type="http://schemas.openxmlformats.org/officeDocument/2006/relationships/slide" Target="/ppt/slides/slide105.xml" Id="R16f9fccb83be4631" /><Relationship Type="http://schemas.openxmlformats.org/officeDocument/2006/relationships/slide" Target="/ppt/slides/slide106.xml" Id="R93b7373eb7e34022" /><Relationship Type="http://schemas.openxmlformats.org/officeDocument/2006/relationships/slide" Target="/ppt/slides/slide107.xml" Id="R5650197087494a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e91e9de4a745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2241ae15d647ed" /><Relationship Type="http://schemas.openxmlformats.org/officeDocument/2006/relationships/notesMaster" Target="/ppt/notesMasters/notesMaster1.xml" Id="R5a265f60120246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037fd8025341ea" /><Relationship Type="http://schemas.openxmlformats.org/officeDocument/2006/relationships/notesMaster" Target="/ppt/notesMasters/notesMaster1.xml" Id="Rfb0a4cf61d2b4f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90ace04d7f4d91" /><Relationship Type="http://schemas.openxmlformats.org/officeDocument/2006/relationships/notesMaster" Target="/ppt/notesMasters/notesMaster1.xml" Id="Rf42aa45cead740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3509c6148640f3" /><Relationship Type="http://schemas.openxmlformats.org/officeDocument/2006/relationships/notesMaster" Target="/ppt/notesMasters/notesMaster1.xml" Id="R66a5ca9d82674a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afc708e4054eb0" /><Relationship Type="http://schemas.openxmlformats.org/officeDocument/2006/relationships/notesMaster" Target="/ppt/notesMasters/notesMaster1.xml" Id="R64a5f98d75bf49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dc5dd13cea4322" /><Relationship Type="http://schemas.openxmlformats.org/officeDocument/2006/relationships/notesMaster" Target="/ppt/notesMasters/notesMaster1.xml" Id="Raa0f48fdf55e49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fe99855a984b44" /><Relationship Type="http://schemas.openxmlformats.org/officeDocument/2006/relationships/notesMaster" Target="/ppt/notesMasters/notesMaster1.xml" Id="R838813f0239143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c6e60d7bda4152" /><Relationship Type="http://schemas.openxmlformats.org/officeDocument/2006/relationships/notesMaster" Target="/ppt/notesMasters/notesMaster1.xml" Id="R2f18e39e5b2c44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5cca3002f54575" /><Relationship Type="http://schemas.openxmlformats.org/officeDocument/2006/relationships/notesMaster" Target="/ppt/notesMasters/notesMaster1.xml" Id="R26c29b972bb449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9a646c7c614bce" /><Relationship Type="http://schemas.openxmlformats.org/officeDocument/2006/relationships/notesMaster" Target="/ppt/notesMasters/notesMaster1.xml" Id="R4c51fb2063ac4a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8fef4b42614be5" /><Relationship Type="http://schemas.openxmlformats.org/officeDocument/2006/relationships/notesMaster" Target="/ppt/notesMasters/notesMaster1.xml" Id="Rc339135f7b9c46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8bad72fa1d4129" /><Relationship Type="http://schemas.openxmlformats.org/officeDocument/2006/relationships/notesMaster" Target="/ppt/notesMasters/notesMaster1.xml" Id="R16aad870516049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6cb3d817d946be" /><Relationship Type="http://schemas.openxmlformats.org/officeDocument/2006/relationships/notesMaster" Target="/ppt/notesMasters/notesMaster1.xml" Id="R4e9943808a6142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c14604e55541fa" /><Relationship Type="http://schemas.openxmlformats.org/officeDocument/2006/relationships/notesMaster" Target="/ppt/notesMasters/notesMaster1.xml" Id="Rf0092a94d4f448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8dcaf277404a90" /><Relationship Type="http://schemas.openxmlformats.org/officeDocument/2006/relationships/notesMaster" Target="/ppt/notesMasters/notesMaster1.xml" Id="R8150ddf2d78c44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4bd194caf748a2" /><Relationship Type="http://schemas.openxmlformats.org/officeDocument/2006/relationships/notesMaster" Target="/ppt/notesMasters/notesMaster1.xml" Id="R45bf792b42944f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bd1f2c18d5479b" /><Relationship Type="http://schemas.openxmlformats.org/officeDocument/2006/relationships/notesMaster" Target="/ppt/notesMasters/notesMaster1.xml" Id="R161ff536834740f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d74f446539d4bcc" /><Relationship Type="http://schemas.openxmlformats.org/officeDocument/2006/relationships/notesMaster" Target="/ppt/notesMasters/notesMaster1.xml" Id="R8078e0ee219a41f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1f3685d935424b" /><Relationship Type="http://schemas.openxmlformats.org/officeDocument/2006/relationships/notesMaster" Target="/ppt/notesMasters/notesMaster1.xml" Id="Rebfd573c31824b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657e5691fdb4021" /><Relationship Type="http://schemas.openxmlformats.org/officeDocument/2006/relationships/notesMaster" Target="/ppt/notesMasters/notesMaster1.xml" Id="R388665a99167435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3020604755240a6" /><Relationship Type="http://schemas.openxmlformats.org/officeDocument/2006/relationships/notesMaster" Target="/ppt/notesMasters/notesMaster1.xml" Id="R41c7ec40be3d45b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d8b497e2a924f85" /><Relationship Type="http://schemas.openxmlformats.org/officeDocument/2006/relationships/notesMaster" Target="/ppt/notesMasters/notesMaster1.xml" Id="Rbcacfaa50ee6412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391bd3d050740d5" /><Relationship Type="http://schemas.openxmlformats.org/officeDocument/2006/relationships/notesMaster" Target="/ppt/notesMasters/notesMaster1.xml" Id="R761558485d57400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f9e05baafe44557" /><Relationship Type="http://schemas.openxmlformats.org/officeDocument/2006/relationships/notesMaster" Target="/ppt/notesMasters/notesMaster1.xml" Id="Rfabf5cfb743543b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804e2a2ab994c4a" /><Relationship Type="http://schemas.openxmlformats.org/officeDocument/2006/relationships/notesMaster" Target="/ppt/notesMasters/notesMaster1.xml" Id="R1558405774df437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5a0e2ac7204646" /><Relationship Type="http://schemas.openxmlformats.org/officeDocument/2006/relationships/notesMaster" Target="/ppt/notesMasters/notesMaster1.xml" Id="Rc95908c029ef4e9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ffb309495ec4fb7" /><Relationship Type="http://schemas.openxmlformats.org/officeDocument/2006/relationships/notesMaster" Target="/ppt/notesMasters/notesMaster1.xml" Id="Rbf6163076986405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54c140033c04ea1" /><Relationship Type="http://schemas.openxmlformats.org/officeDocument/2006/relationships/notesMaster" Target="/ppt/notesMasters/notesMaster1.xml" Id="R40e21756473e428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84201ca05044b60" /><Relationship Type="http://schemas.openxmlformats.org/officeDocument/2006/relationships/notesMaster" Target="/ppt/notesMasters/notesMaster1.xml" Id="R911831129d42489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5414c2b00a24d60" /><Relationship Type="http://schemas.openxmlformats.org/officeDocument/2006/relationships/notesMaster" Target="/ppt/notesMasters/notesMaster1.xml" Id="R99d8845cfa84454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a135f404b684de4" /><Relationship Type="http://schemas.openxmlformats.org/officeDocument/2006/relationships/notesMaster" Target="/ppt/notesMasters/notesMaster1.xml" Id="R914c36e71dd143f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458e71c427b4d0d" /><Relationship Type="http://schemas.openxmlformats.org/officeDocument/2006/relationships/notesMaster" Target="/ppt/notesMasters/notesMaster1.xml" Id="R0707da8ef379481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98af2cec66747dd" /><Relationship Type="http://schemas.openxmlformats.org/officeDocument/2006/relationships/notesMaster" Target="/ppt/notesMasters/notesMaster1.xml" Id="R60e4e528d7554d4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3df9c03e1b34739" /><Relationship Type="http://schemas.openxmlformats.org/officeDocument/2006/relationships/notesMaster" Target="/ppt/notesMasters/notesMaster1.xml" Id="Rf5aaec46ea83475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db2aabd936946bf" /><Relationship Type="http://schemas.openxmlformats.org/officeDocument/2006/relationships/notesMaster" Target="/ppt/notesMasters/notesMaster1.xml" Id="R837dc02482654b4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29c56722c4d423e" /><Relationship Type="http://schemas.openxmlformats.org/officeDocument/2006/relationships/notesMaster" Target="/ppt/notesMasters/notesMaster1.xml" Id="Rb3a30ef441264f4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b4adaffbe9641b8" /><Relationship Type="http://schemas.openxmlformats.org/officeDocument/2006/relationships/notesMaster" Target="/ppt/notesMasters/notesMaster1.xml" Id="R6bdead6ce8e2479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dc05ec003024810" /><Relationship Type="http://schemas.openxmlformats.org/officeDocument/2006/relationships/notesMaster" Target="/ppt/notesMasters/notesMaster1.xml" Id="R0cbac3f17114440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3aff07a92004a9c" /><Relationship Type="http://schemas.openxmlformats.org/officeDocument/2006/relationships/notesMaster" Target="/ppt/notesMasters/notesMaster1.xml" Id="R5445cac3efc149e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42f1c0e7a1d4c75" /><Relationship Type="http://schemas.openxmlformats.org/officeDocument/2006/relationships/notesMaster" Target="/ppt/notesMasters/notesMaster1.xml" Id="Re93ca37e4254463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791fe8cc990435c" /><Relationship Type="http://schemas.openxmlformats.org/officeDocument/2006/relationships/notesMaster" Target="/ppt/notesMasters/notesMaster1.xml" Id="R772b0f0b691a443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f50e62ef79e4cba" /><Relationship Type="http://schemas.openxmlformats.org/officeDocument/2006/relationships/notesMaster" Target="/ppt/notesMasters/notesMaster1.xml" Id="Rcc3255a3fd06497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fe430cc650e4042" /><Relationship Type="http://schemas.openxmlformats.org/officeDocument/2006/relationships/notesMaster" Target="/ppt/notesMasters/notesMaster1.xml" Id="Rfc801f9443ef4f2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4360c2e5aea4cf5" /><Relationship Type="http://schemas.openxmlformats.org/officeDocument/2006/relationships/notesMaster" Target="/ppt/notesMasters/notesMaster1.xml" Id="R899c74634ec14eb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1366bcbd60945e4" /><Relationship Type="http://schemas.openxmlformats.org/officeDocument/2006/relationships/notesMaster" Target="/ppt/notesMasters/notesMaster1.xml" Id="R2dcb80a51d53420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518fb901f8d418d" /><Relationship Type="http://schemas.openxmlformats.org/officeDocument/2006/relationships/notesMaster" Target="/ppt/notesMasters/notesMaster1.xml" Id="Rc846e594cc5f46e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5428d07c5814855" /><Relationship Type="http://schemas.openxmlformats.org/officeDocument/2006/relationships/notesMaster" Target="/ppt/notesMasters/notesMaster1.xml" Id="R500dae0e31774c4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52db490ff9b4957" /><Relationship Type="http://schemas.openxmlformats.org/officeDocument/2006/relationships/notesMaster" Target="/ppt/notesMasters/notesMaster1.xml" Id="Rce5b718ef073406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40b2fd7ce544507" /><Relationship Type="http://schemas.openxmlformats.org/officeDocument/2006/relationships/notesMaster" Target="/ppt/notesMasters/notesMaster1.xml" Id="R153429122da24eb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06b911e49004509" /><Relationship Type="http://schemas.openxmlformats.org/officeDocument/2006/relationships/notesMaster" Target="/ppt/notesMasters/notesMaster1.xml" Id="R01387db45e4541f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2cf6168bc0f4241" /><Relationship Type="http://schemas.openxmlformats.org/officeDocument/2006/relationships/notesMaster" Target="/ppt/notesMasters/notesMaster1.xml" Id="R956ee978d8f84bb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907a8aecc1e4fee" /><Relationship Type="http://schemas.openxmlformats.org/officeDocument/2006/relationships/notesMaster" Target="/ppt/notesMasters/notesMaster1.xml" Id="R10ffdc46c60d48c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4a14604e8a14af4" /><Relationship Type="http://schemas.openxmlformats.org/officeDocument/2006/relationships/notesMaster" Target="/ppt/notesMasters/notesMaster1.xml" Id="R46a120606f8344c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5f74a71f6334a9a" /><Relationship Type="http://schemas.openxmlformats.org/officeDocument/2006/relationships/notesMaster" Target="/ppt/notesMasters/notesMaster1.xml" Id="R831ec7a720bd443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8ef978c764e4cbf" /><Relationship Type="http://schemas.openxmlformats.org/officeDocument/2006/relationships/notesMaster" Target="/ppt/notesMasters/notesMaster1.xml" Id="Re7603b534e2f421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f8de6e848d64a77" /><Relationship Type="http://schemas.openxmlformats.org/officeDocument/2006/relationships/notesMaster" Target="/ppt/notesMasters/notesMaster1.xml" Id="Rd552b5acf4a8487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bcc96a8802b4aba" /><Relationship Type="http://schemas.openxmlformats.org/officeDocument/2006/relationships/notesMaster" Target="/ppt/notesMasters/notesMaster1.xml" Id="R4797857a3913456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e68b84ff0d2458d" /><Relationship Type="http://schemas.openxmlformats.org/officeDocument/2006/relationships/notesMaster" Target="/ppt/notesMasters/notesMaster1.xml" Id="Rb0611d3b0865427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e651a7572e64ac2" /><Relationship Type="http://schemas.openxmlformats.org/officeDocument/2006/relationships/notesMaster" Target="/ppt/notesMasters/notesMaster1.xml" Id="Rbaf95a1ea6034df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cda3290e4bf4892" /><Relationship Type="http://schemas.openxmlformats.org/officeDocument/2006/relationships/notesMaster" Target="/ppt/notesMasters/notesMaster1.xml" Id="Re26eb23737ac413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7cfbd5627824e6e" /><Relationship Type="http://schemas.openxmlformats.org/officeDocument/2006/relationships/notesMaster" Target="/ppt/notesMasters/notesMaster1.xml" Id="R95c94950245f470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bd35fa150f74765" /><Relationship Type="http://schemas.openxmlformats.org/officeDocument/2006/relationships/notesMaster" Target="/ppt/notesMasters/notesMaster1.xml" Id="R4ab75c25fa56472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41cbc461e074258" /><Relationship Type="http://schemas.openxmlformats.org/officeDocument/2006/relationships/notesMaster" Target="/ppt/notesMasters/notesMaster1.xml" Id="R46affe2a184249e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f1ce97d39ce492f" /><Relationship Type="http://schemas.openxmlformats.org/officeDocument/2006/relationships/notesMaster" Target="/ppt/notesMasters/notesMaster1.xml" Id="R0d2c9b3a4f88426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95a0ceacb3744fb" /><Relationship Type="http://schemas.openxmlformats.org/officeDocument/2006/relationships/notesMaster" Target="/ppt/notesMasters/notesMaster1.xml" Id="R8f4ecd0487a741c4"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d6824ecbdb4b4348" /><Relationship Type="http://schemas.openxmlformats.org/officeDocument/2006/relationships/notesMaster" Target="/ppt/notesMasters/notesMaster1.xml" Id="R867baddef9704a4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3a07b8185cb459f" /><Relationship Type="http://schemas.openxmlformats.org/officeDocument/2006/relationships/notesMaster" Target="/ppt/notesMasters/notesMaster1.xml" Id="R9c1bdb69d7d84a6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b0e7de93004454b" /><Relationship Type="http://schemas.openxmlformats.org/officeDocument/2006/relationships/notesMaster" Target="/ppt/notesMasters/notesMaster1.xml" Id="R5b9a941130cd495e"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b053c8229f146e5" /><Relationship Type="http://schemas.openxmlformats.org/officeDocument/2006/relationships/notesMaster" Target="/ppt/notesMasters/notesMaster1.xml" Id="R3f81628c4c1f451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661585c41a34714" /><Relationship Type="http://schemas.openxmlformats.org/officeDocument/2006/relationships/notesMaster" Target="/ppt/notesMasters/notesMaster1.xml" Id="Rd98f9affdb8c43f7"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6f52566f8303431d" /><Relationship Type="http://schemas.openxmlformats.org/officeDocument/2006/relationships/notesMaster" Target="/ppt/notesMasters/notesMaster1.xml" Id="R98070b2ebcac419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c861a4540524486" /><Relationship Type="http://schemas.openxmlformats.org/officeDocument/2006/relationships/notesMaster" Target="/ppt/notesMasters/notesMaster1.xml" Id="R952a2be4f7f342be"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8e0362cb7b794fcd" /><Relationship Type="http://schemas.openxmlformats.org/officeDocument/2006/relationships/notesMaster" Target="/ppt/notesMasters/notesMaster1.xml" Id="R589262ac8ead4ff7"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c325bd82528477e" /><Relationship Type="http://schemas.openxmlformats.org/officeDocument/2006/relationships/notesMaster" Target="/ppt/notesMasters/notesMaster1.xml" Id="R36b059582ee44d11"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c8c6cfba15794b2f" /><Relationship Type="http://schemas.openxmlformats.org/officeDocument/2006/relationships/notesMaster" Target="/ppt/notesMasters/notesMaster1.xml" Id="Rdf73315c94b34f77"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684054f283c64648" /><Relationship Type="http://schemas.openxmlformats.org/officeDocument/2006/relationships/notesMaster" Target="/ppt/notesMasters/notesMaster1.xml" Id="Re2decee952314bd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ce933417b6948e2" /><Relationship Type="http://schemas.openxmlformats.org/officeDocument/2006/relationships/notesMaster" Target="/ppt/notesMasters/notesMaster1.xml" Id="R34977b2862d041e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3e54a8756054c9a" /><Relationship Type="http://schemas.openxmlformats.org/officeDocument/2006/relationships/notesMaster" Target="/ppt/notesMasters/notesMaster1.xml" Id="Rf9b86de6a5c24681"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1a64339593d4d65" /><Relationship Type="http://schemas.openxmlformats.org/officeDocument/2006/relationships/notesMaster" Target="/ppt/notesMasters/notesMaster1.xml" Id="R6ebf15c43aca4430"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8f2d379603054174" /><Relationship Type="http://schemas.openxmlformats.org/officeDocument/2006/relationships/notesMaster" Target="/ppt/notesMasters/notesMaster1.xml" Id="R095bb5b11f3f4361"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a1297024063146d1" /><Relationship Type="http://schemas.openxmlformats.org/officeDocument/2006/relationships/notesMaster" Target="/ppt/notesMasters/notesMaster1.xml" Id="R282bfb39f6eb4f13"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a04c96de51cf497a" /><Relationship Type="http://schemas.openxmlformats.org/officeDocument/2006/relationships/notesMaster" Target="/ppt/notesMasters/notesMaster1.xml" Id="R5ae4b53a52a74289"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3450dd4a22f4afc" /><Relationship Type="http://schemas.openxmlformats.org/officeDocument/2006/relationships/notesMaster" Target="/ppt/notesMasters/notesMaster1.xml" Id="Re6f8c4e3dbaf4d67"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22344330c6aa43d5" /><Relationship Type="http://schemas.openxmlformats.org/officeDocument/2006/relationships/notesMaster" Target="/ppt/notesMasters/notesMaster1.xml" Id="R0e967f316ae0418e"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73545346b0604307" /><Relationship Type="http://schemas.openxmlformats.org/officeDocument/2006/relationships/notesMaster" Target="/ppt/notesMasters/notesMaster1.xml" Id="R914beddee7404ff1"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65d724a3b9fe4923" /><Relationship Type="http://schemas.openxmlformats.org/officeDocument/2006/relationships/notesMaster" Target="/ppt/notesMasters/notesMaster1.xml" Id="R595b9ca0d557487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8f24cdd69e948b7" /><Relationship Type="http://schemas.openxmlformats.org/officeDocument/2006/relationships/notesMaster" Target="/ppt/notesMasters/notesMaster1.xml" Id="R49b41d8cad154f18"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2114757974ae4d03" /><Relationship Type="http://schemas.openxmlformats.org/officeDocument/2006/relationships/notesMaster" Target="/ppt/notesMasters/notesMaster1.xml" Id="R6536aba15f944fd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57a2e26fa66c4ece" /><Relationship Type="http://schemas.openxmlformats.org/officeDocument/2006/relationships/notesMaster" Target="/ppt/notesMasters/notesMaster1.xml" Id="R5025011316d54739"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77d6215a2f94a82" /><Relationship Type="http://schemas.openxmlformats.org/officeDocument/2006/relationships/notesMaster" Target="/ppt/notesMasters/notesMaster1.xml" Id="Re6f6390f7b804a61"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96befd4d603b4d51" /><Relationship Type="http://schemas.openxmlformats.org/officeDocument/2006/relationships/notesMaster" Target="/ppt/notesMasters/notesMaster1.xml" Id="Rd34493edbb684009"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b8f9a6ee332748f0" /><Relationship Type="http://schemas.openxmlformats.org/officeDocument/2006/relationships/notesMaster" Target="/ppt/notesMasters/notesMaster1.xml" Id="Rcfe0de3e3b1844a2"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59e339858ce3497f" /><Relationship Type="http://schemas.openxmlformats.org/officeDocument/2006/relationships/notesMaster" Target="/ppt/notesMasters/notesMaster1.xml" Id="Rf96bb555291b446a"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88841505ac9e4bab" /><Relationship Type="http://schemas.openxmlformats.org/officeDocument/2006/relationships/notesMaster" Target="/ppt/notesMasters/notesMaster1.xml" Id="R40c549f093e440ef"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91b3d315f3ad40f4" /><Relationship Type="http://schemas.openxmlformats.org/officeDocument/2006/relationships/notesMaster" Target="/ppt/notesMasters/notesMaster1.xml" Id="R4e2da36756ce4990"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3444ea3011854253" /><Relationship Type="http://schemas.openxmlformats.org/officeDocument/2006/relationships/notesMaster" Target="/ppt/notesMasters/notesMaster1.xml" Id="Re4ac9a511cfc4609"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3151e9c119a54cd4" /><Relationship Type="http://schemas.openxmlformats.org/officeDocument/2006/relationships/notesMaster" Target="/ppt/notesMasters/notesMaster1.xml" Id="R2125dfd6a4834bf9"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fc290de92cef4a91" /><Relationship Type="http://schemas.openxmlformats.org/officeDocument/2006/relationships/notesMaster" Target="/ppt/notesMasters/notesMaster1.xml" Id="Ra3c73e8e9191490d"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b51d9175cc1d4831" /><Relationship Type="http://schemas.openxmlformats.org/officeDocument/2006/relationships/notesMaster" Target="/ppt/notesMasters/notesMaster1.xml" Id="Rc10a413af4b74a52"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c149246749a949b7" /><Relationship Type="http://schemas.openxmlformats.org/officeDocument/2006/relationships/notesMaster" Target="/ppt/notesMasters/notesMaster1.xml" Id="R2099087452a946d7"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e4ba2b3ba7574cd5" /><Relationship Type="http://schemas.openxmlformats.org/officeDocument/2006/relationships/notesMaster" Target="/ppt/notesMasters/notesMaster1.xml" Id="R8f544f1ac8eb4de7"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f73f312b147a4f21" /><Relationship Type="http://schemas.openxmlformats.org/officeDocument/2006/relationships/notesMaster" Target="/ppt/notesMasters/notesMaster1.xml" Id="R1e29a3f0a8874f44"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31849d61e60d436a" /><Relationship Type="http://schemas.openxmlformats.org/officeDocument/2006/relationships/notesMaster" Target="/ppt/notesMasters/notesMaster1.xml" Id="R021977fca96b41fd"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a02549e5e29143a0" /><Relationship Type="http://schemas.openxmlformats.org/officeDocument/2006/relationships/notesMaster" Target="/ppt/notesMasters/notesMaster1.xml" Id="Racf53b3ca6134a81"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d63671c8f38d4097" /><Relationship Type="http://schemas.openxmlformats.org/officeDocument/2006/relationships/notesMaster" Target="/ppt/notesMasters/notesMaster1.xml" Id="R2ac68920b86343cc"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780cd62346e34da3" /><Relationship Type="http://schemas.openxmlformats.org/officeDocument/2006/relationships/notesMaster" Target="/ppt/notesMasters/notesMaster1.xml" Id="Rfd93e08208624e28"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63e3a43b8e24234" /><Relationship Type="http://schemas.openxmlformats.org/officeDocument/2006/relationships/notesMaster" Target="/ppt/notesMasters/notesMaster1.xml" Id="Ra55b33497cd24c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2026-10-21 가상 자료로 개념과 결과를 확인합니다. 50분 수업 6교시로 진행합니다.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ZIP을 일반 폴더에 풉니다. course의 code·data·work를 찾습니다. work만 수정하고 원본을 보존합니다. 저장과 실행을 구별합니다.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D:\KDigital_PhysicalAI\outputs\2026-10-21\beginner-start.md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직접 실행·강사 관찰·수동 추적을 적습니다. 입력과 예상 결과를 먼저 씁니다. 실제 결과와 다음 확인을 남깁니다.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D:\KDigital_PhysicalAI\outputs\2026-10-21\beginner-start.md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10:00~17:00에 수업과 휴식을 진행합니다. 중식은 11:50~13:00입니다. 추가 문제는 필수 결과 확인 뒤 사용합니다. 모든 장의 50분 완수를 보장하지 않습니다.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D:\KDigital_PhysicalAI\outputs\2026-10-21\beginner-start.md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1교시 주제는 웹 문서의 내용입니다. 운영: 50분 × 6교시입니다. 필수 결과를 먼저 확인하고 독립 문제는 추가 복습으로 사용합니다.</a:t>
            </a:r>
          </a:p>
          <a:p xmlns:a="http://schemas.openxmlformats.org/drawingml/2006/main">
            <a:r>
              <a:t/>
            </a:r>
          </a:p>
          <a:p xmlns:a="http://schemas.openxmlformats.org/drawingml/2006/main">
            <a:r>
              <a:t>시연 → 함께 따라 하기 → 한 값 수정 → 예상과 실제 비교 → 자기 말로 설명 순서로 진행합니다. 오늘 필수 활동과 추가 활동은 beginner-start의 해당 교시 표를 확인합니다. 모든 장을 50분 안에 끝냈다고 가정하지 않습니다. 설치 문제가 있으면 동일한 제공 입력과 출력으로 수동 추적하고 개인 실행 여부를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파일 이름·탭 이름·본문 제목을 구별합니다. 버튼 표시와 클릭 동작도 따로 확인합니다.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A01의 개념과 원문 해설입니다.</a:t>
            </a:r>
          </a:p>
          <a:p xmlns:a="http://schemas.openxmlformats.org/drawingml/2006/main">
            <a:r>
              <a:t>### A01 · 파일과 브라우저의 관계</a:t>
            </a:r>
          </a:p>
          <a:p xmlns:a="http://schemas.openxmlformats.org/drawingml/2006/main">
            <a:r>
              <a:t/>
            </a:r>
          </a:p>
          <a:p xmlns:a="http://schemas.openxmlformats.org/drawingml/2006/main">
            <a:r>
              <a:t>#### 사례로 이해하기 · 문서의 의미와 화면 표시를 분리하기</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작업장 안내판의 제목을 바꿨는데 브라우저 탭 이름은 예전대로입니다. 파일 이름도 달라지지 않았습니다. 제목이라는 말이 세 곳에 쓰이지만 파일 이름, 탭 이름, 본문 제목은 각각 다른 정보입니다. 어디를 바꿨고 어떤 결과를 기대했는지 먼저 정해야 합니다.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HTML은 문서 내용과 의미를 표시하는 글입니다. 태그는 내용을 감싸며 역할을 붙이는 표시입니다. h1은 본문의 큰 제목 역할이고 title은 브라우저 탭의 이름입니다. 속성은 태그에 붙이는 추가 정보이며 id는 프로그램이 특정 요소를 찾는 이름입니다. 편집기는 글을 고치는 곳, 브라우저는 문서를 읽어 화면으로 보여 주는 곳입니다. 확장자 .html은 파일 종류를 나타내며 .html.txt와 구별합니다.</a:t>
            </a:r>
          </a:p>
          <a:p xmlns:a="http://schemas.openxmlformats.org/drawingml/2006/main">
            <a:r>
              <a:t/>
            </a:r>
          </a:p>
          <a:p xmlns:a="http://schemas.openxmlformats.org/drawingml/2006/main">
            <a:r>
              <a:t>#### 완성 예와 단계 풀이</a:t>
            </a:r>
          </a:p>
          <a:p xmlns:a="http://schemas.openxmlformats.org/drawingml/2006/main">
            <a:r>
              <a:t/>
            </a:r>
          </a:p>
          <a:p xmlns:a="http://schemas.openxmlformats.org/drawingml/2006/main">
            <a:r>
              <a:t>아래 문서를 안내.html로 저장합니다. 꺾쇠와 닫는 태그를 유지하고 한글 내용만 읽습니다.</a:t>
            </a:r>
          </a:p>
          <a:p xmlns:a="http://schemas.openxmlformats.org/drawingml/2006/main">
            <a:r>
              <a:t/>
            </a:r>
          </a:p>
          <a:p xmlns:a="http://schemas.openxmlformats.org/drawingml/2006/main">
            <a:r>
              <a:t>```html</a:t>
            </a:r>
          </a:p>
          <a:p xmlns:a="http://schemas.openxmlformats.org/drawingml/2006/main">
            <a:r>
              <a:t>&lt;!doctype html&gt;</a:t>
            </a:r>
          </a:p>
          <a:p xmlns:a="http://schemas.openxmlformats.org/drawingml/2006/main">
            <a:r>
              <a:t>&lt;html lang="ko"&gt;&lt;head&gt;&lt;meta charset="utf-8"&gt;&lt;title&gt;작업장&lt;/title&gt;&lt;/head&gt;</a:t>
            </a:r>
          </a:p>
          <a:p xmlns:a="http://schemas.openxmlformats.org/drawingml/2006/main">
            <a:r>
              <a:t>&lt;body&gt;&lt;h1&gt;센서 안내&lt;/h1&gt;&lt;button id="check"&gt;값 확인&lt;/button&gt;&lt;/body&gt;&lt;/html&gt;</a:t>
            </a:r>
          </a:p>
          <a:p xmlns:a="http://schemas.openxmlformats.org/drawingml/2006/main">
            <a:r>
              <a:t>```</a:t>
            </a:r>
          </a:p>
          <a:p xmlns:a="http://schemas.openxmlformats.org/drawingml/2006/main">
            <a:r>
              <a:t/>
            </a:r>
          </a:p>
          <a:p xmlns:a="http://schemas.openxmlformats.org/drawingml/2006/main">
            <a:r>
              <a:t>첫 줄은 HTML 문서 형식, lang은 한국어 정보, charset은 한글을 읽는 문자 규칙입니다. head는 문서 정보, body는 보이는 내용입니다. 브라우저에서 탭은 작업장, 본문은 센서 안내, 버튼은 값 확인으로 보입니다. 버튼은 아직 동작 코드가 없으므로 누른다고 센서 값을 읽지 않습니다. 저장한 같은 파일을 열고 수정 뒤 새로고침합니다.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탭은 “공장 A”, 본문 제목은 “온도 확인”, 버튼은 “기록 조회”로 작성하되 버튼 id는 check를 유지하세요. 이어서 id까지 바꾸면 뒤의 JavaScript 연결에 어떤 확인이 필요한지 설명하세요.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title과 h1과 버튼 사이 글자를 각각 바꾸며 id는 유지합니다. “글자 크기가 같으면 제목 역할도 같다”는 답은 의미와 모양을 혼동합니다. “버튼이 보이면 데이터 연결도 됐다”는 답에는 동작 확인이 빠졌습니다.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저장만 하면 화면이 자동 갱신되나요? 제공 정적 파일은 새로고침이 필요합니다. ② id는 사용자 문구인가요? 내부에서 찾는 이름입니다. ③ 한글이 깨지면 무엇을 확인하나요? 파일 저장 인코딩과 charset, 실제 열린 경로를 확인합니다.</a:t>
            </a:r>
          </a:p>
          <a:p xmlns:a="http://schemas.openxmlformats.org/drawingml/2006/main">
            <a:r>
              <a:t/>
            </a:r>
          </a:p>
          <a:p xmlns:a="http://schemas.openxmlformats.org/drawingml/2006/main">
            <a:r>
              <a:t>**뜻과 비유.** 브라우저는 HTML 문서를 읽어 화면으로 보여 주는 프로그램입니다. 파일을 편집하는 창과 결과를 보는 창은 역할이 다릅니다.</a:t>
            </a:r>
          </a:p>
          <a:p xmlns:a="http://schemas.openxmlformats.org/drawingml/2006/main">
            <a:r>
              <a:t/>
            </a:r>
          </a:p>
          <a:p xmlns:a="http://schemas.openxmlformats.org/drawingml/2006/main">
            <a:r>
              <a:t>**왜 필요한가.** 어디에 썼는지와 무엇을 열었는지를 구분해야 저장한 변경을 다시 확인할 수 있습니다.</a:t>
            </a:r>
          </a:p>
          <a:p xmlns:a="http://schemas.openxmlformats.org/drawingml/2006/main">
            <a:r>
              <a:t/>
            </a:r>
          </a:p>
          <a:p xmlns:a="http://schemas.openxmlformats.org/drawingml/2006/main">
            <a:r>
              <a:t>**예를 따라 읽기.** work/static/index.html을 편집하고 같은 파일을 브라우저로 열면 제공 안내판을 볼 수 있습니다.</a:t>
            </a:r>
          </a:p>
          <a:p xmlns:a="http://schemas.openxmlformats.org/drawingml/2006/main">
            <a:r>
              <a:t/>
            </a:r>
          </a:p>
          <a:p xmlns:a="http://schemas.openxmlformats.org/drawingml/2006/main">
            <a:r>
              <a:t>**헷갈리는 반례.** 코드 편집기에 글자를 바꾼 것만으로 이미 열린 화면이 자동 갱신되는 것은 아닙니다.</a:t>
            </a:r>
          </a:p>
          <a:p xmlns:a="http://schemas.openxmlformats.org/drawingml/2006/main">
            <a:r>
              <a:t/>
            </a:r>
          </a:p>
          <a:p xmlns:a="http://schemas.openxmlformats.org/drawingml/2006/main">
            <a:r>
              <a:t>**직접 적용.** course 폴더를 압축 풀기 → work/static/index.html 경로 적기 → 브라우저에서 안내판 열기 → 편집·저장·새로고침 순서를 말하기</a:t>
            </a:r>
          </a:p>
          <a:p xmlns:a="http://schemas.openxmlformats.org/drawingml/2006/main">
            <a:r>
              <a:t/>
            </a:r>
          </a:p>
          <a:p xmlns:a="http://schemas.openxmlformats.org/drawingml/2006/main">
            <a:r>
              <a:t>**설명할 질문.** 편집 창과 브라우저 화면은 어떻게 다른가요?</a:t>
            </a:r>
          </a:p>
          <a:p xmlns:a="http://schemas.openxmlformats.org/drawingml/2006/main">
            <a:r>
              <a:t/>
            </a:r>
          </a:p>
          <a:p xmlns:a="http://schemas.openxmlformats.org/drawingml/2006/main">
            <a:r>
              <a:t>**막혔을 때.** 확장자가.txt로 붙었으면 파일 이름과 종류를 확인합니다. ZIP 안의 미리 보기에서 편집하지 않습니다.</a:t>
            </a:r>
          </a:p>
          <a:p xmlns:a="http://schemas.openxmlformats.org/drawingml/2006/main">
            <a:r>
              <a:t/>
            </a:r>
          </a:p>
          <a:p xmlns:a="http://schemas.openxmlformats.org/drawingml/2006/main">
            <a:r>
              <a:t>입력·답칸·확인 순서는 [실습지의 A01](practice-guide.md#a01)와 [활동 원문](examples/course/data/A01_input.md)에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work/static/index.html을 엽니다. 저장 후 같은 화면을 새로고침합니다.</a:t>
            </a:r>
          </a:p>
          <a:p xmlns:a="http://schemas.openxmlformats.org/drawingml/2006/main">
            <a:r>
              <a:t/>
            </a:r>
          </a:p>
          <a:p xmlns:a="http://schemas.openxmlformats.org/drawingml/2006/main">
            <a:r>
              <a:t>표와 문장을 읽는 방법: 편집기는 파일 내용을 고칩니다. 브라우저는 HTML을 읽어 화면으로 보여 줍니다.</a:t>
            </a:r>
          </a:p>
          <a:p xmlns:a="http://schemas.openxmlformats.org/drawingml/2006/main">
            <a:r>
              <a:t>예상 결과: .html.txt와 .html을 구별합니다. ZIP 안의 미리 보기에서 편집하지 않습니다.</a:t>
            </a:r>
          </a:p>
          <a:p xmlns:a="http://schemas.openxmlformats.org/drawingml/2006/main">
            <a:r>
              <a:t/>
            </a:r>
          </a:p>
          <a:p xmlns:a="http://schemas.openxmlformats.org/drawingml/2006/main">
            <a:r>
              <a:t>판단 해설: 저장 여부·실제 파일 경로·브라우저에서 연 파일·새로고침을 확인합니다. 실행 환경이 없으면 강사 화면과 원문을 대조하고 개인 실행 미수행을 기록합니다.</a:t>
            </a:r>
          </a:p>
          <a:p xmlns:a="http://schemas.openxmlformats.org/drawingml/2006/main">
            <a:r>
              <a:t>학생이 각 행의 입력과 출력을 자신의 말로 연결하게 합니다. 이름이 같은 파일을 다른 폴더에서 읽지 않았는지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.html.txt와 .html을 구별합니다. ZIP 안의 미리 보기에서 편집하지 않습니다.</a:t>
            </a:r>
          </a:p>
          <a:p xmlns:a="http://schemas.openxmlformats.org/drawingml/2006/main">
            <a:r>
              <a:t/>
            </a:r>
          </a:p>
          <a:p xmlns:a="http://schemas.openxmlformats.org/drawingml/2006/main">
            <a:r>
              <a:t>개념과 연결: 편집기는 파일 내용을 고칩니다. 브라우저는 HTML을 읽어 화면으로 보여 줍니다.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저장 여부·실제 파일 경로·브라우저에서 연 파일·새로고침을 확인합니다. 실행 환경이 없으면 강사 화면과 원문을 대조하고 개인 실행 미수행을 기록합니다.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문장을 고쳤는데 화면은 그대로입니다. 어떤 순서로 확인하나요?</a:t>
            </a:r>
          </a:p>
          <a:p xmlns:a="http://schemas.openxmlformats.org/drawingml/2006/main">
            <a:r>
              <a:t/>
            </a:r>
          </a:p>
          <a:p xmlns:a="http://schemas.openxmlformats.org/drawingml/2006/main">
            <a:r>
              <a:t>정답과 풀이: 저장 여부·실제 파일 경로·브라우저에서 연 파일·새로고침을 확인합니다. 실행 환경이 없으면 강사 화면과 원문을 대조하고 개인 실행 미수행을 기록합니다.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A02의 개념과 원문 해설입니다.</a:t>
            </a:r>
          </a:p>
          <a:p xmlns:a="http://schemas.openxmlformats.org/drawingml/2006/main">
            <a:r>
              <a:t>### A02 · HTML 태그와 문서 의미</a:t>
            </a:r>
          </a:p>
          <a:p xmlns:a="http://schemas.openxmlformats.org/drawingml/2006/main">
            <a:r>
              <a:t/>
            </a:r>
          </a:p>
          <a:p xmlns:a="http://schemas.openxmlformats.org/drawingml/2006/main">
            <a:r>
              <a:t>**뜻과 비유.** HTML은 제목·문단·버튼 같은 내용의 의미를 표시하는 문서 형식입니다. 여는 태그와 닫는 태그 사이의 내용이 하나의 요소가 됩니다.</a:t>
            </a:r>
          </a:p>
          <a:p xmlns:a="http://schemas.openxmlformats.org/drawingml/2006/main">
            <a:r>
              <a:t/>
            </a:r>
          </a:p>
          <a:p xmlns:a="http://schemas.openxmlformats.org/drawingml/2006/main">
            <a:r>
              <a:t>**왜 필요한가.** 보기에 큰 글자를 만드는 것과 문서의 제목이라는 의미를 주는 것을 구별해야 내용 구조를 읽을 수 있습니다.</a:t>
            </a:r>
          </a:p>
          <a:p xmlns:a="http://schemas.openxmlformats.org/drawingml/2006/main">
            <a:r>
              <a:t/>
            </a:r>
          </a:p>
          <a:p xmlns:a="http://schemas.openxmlformats.org/drawingml/2006/main">
            <a:r>
              <a:t>**예를 따라 읽기.** `&lt;h1&gt;입구 센서 안내판&lt;/h1&gt;`에서 h1은 주요 제목, 안의 글자는 화면 내용입니다.</a:t>
            </a:r>
          </a:p>
          <a:p xmlns:a="http://schemas.openxmlformats.org/drawingml/2006/main">
            <a:r>
              <a:t/>
            </a:r>
          </a:p>
          <a:p xmlns:a="http://schemas.openxmlformats.org/drawingml/2006/main">
            <a:r>
              <a:t>**헷갈리는 반례.** 모든 글자를 h1으로 만들면 크기가 같아질 수 있어도 제목과 설명의 관계가 흐려집니다.</a:t>
            </a:r>
          </a:p>
          <a:p xmlns:a="http://schemas.openxmlformats.org/drawingml/2006/main">
            <a:r>
              <a:t/>
            </a:r>
          </a:p>
          <a:p xmlns:a="http://schemas.openxmlformats.org/drawingml/2006/main">
            <a:r>
              <a:t>**직접 적용.** 전체 HTML에서 h1·p·button 찾기 → 여는 태그와 닫는 태그 짝 표시하기 → 제목 글자만 창고 센서 안내판으로 바꾸기 → 저장 후 어떤 내용이 바뀌었는지 확인하기</a:t>
            </a:r>
          </a:p>
          <a:p xmlns:a="http://schemas.openxmlformats.org/drawingml/2006/main">
            <a:r>
              <a:t/>
            </a:r>
          </a:p>
          <a:p xmlns:a="http://schemas.openxmlformats.org/drawingml/2006/main">
            <a:r>
              <a:t>**설명할 질문.** h1과 CSS 글자 크기는 왜 같은 역할이 아닌가요?</a:t>
            </a:r>
          </a:p>
          <a:p xmlns:a="http://schemas.openxmlformats.org/drawingml/2006/main">
            <a:r>
              <a:t/>
            </a:r>
          </a:p>
          <a:p xmlns:a="http://schemas.openxmlformats.org/drawingml/2006/main">
            <a:r>
              <a:t>**막혔을 때.** 태그 꺾쇠를 지웠다면 원본의 해당 줄과 비교합니다. 제목 문구와 title 탭 이름은 다른 위치입니다.</a:t>
            </a:r>
          </a:p>
          <a:p xmlns:a="http://schemas.openxmlformats.org/drawingml/2006/main">
            <a:r>
              <a:t/>
            </a:r>
          </a:p>
          <a:p xmlns:a="http://schemas.openxmlformats.org/drawingml/2006/main">
            <a:r>
              <a:t>입력·답칸·확인 순서는 [실습지의 A02](practice-guide.md#a02)와 [활동 원문](examples/course/data/A02_input.md)에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HTML의 의미의 예</a:t>
            </a:r>
          </a:p>
          <a:p xmlns:a="http://schemas.openxmlformats.org/drawingml/2006/main">
            <a:r>
              <a:t>짧은 완성 HTML. 안내.html로 저장합니다.</a:t>
            </a:r>
          </a:p>
          <a:p xmlns:a="http://schemas.openxmlformats.org/drawingml/2006/main">
            <a:r>
              <a:t/>
            </a:r>
          </a:p>
          <a:p xmlns:a="http://schemas.openxmlformats.org/drawingml/2006/main">
            <a:r>
              <a:t>&lt;!doctype html&gt;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&lt;html lang="ko"&gt;&lt;head&gt;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&lt;meta charset="utf-8"&gt;&lt;title&gt;작업장&lt;/title&gt;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&lt;/head&gt;&lt;body&gt;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&lt;h1&gt;센서 안내&lt;/h1&gt;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&lt;button id="check"&gt;값 확인&lt;/button&gt;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&lt;/body&gt;&lt;/html&gt;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예상과 확인: 탭은 작업장, 본문 제목은 센서 안내입니다. 버튼에는 아직 동작 코드가 없습니다.</a:t>
            </a:r>
          </a:p>
          <a:p xmlns:a="http://schemas.openxmlformats.org/drawingml/2006/main">
            <a:r>
              <a:t>판단 해설: title과 h1 사이 문구를 각각 바꿉니다. button의 글자와 내부 id는 구별합니다. 처음 문서는 내용 표시만 하므로 센서 호출이 생기지 않습니다.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&lt;!doctype html&gt;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&lt;html lang="ko"&gt;&lt;head&gt;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&lt;meta charset="utf-8"&gt;&lt;title&gt;작업장&lt;/title&gt;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&lt;/head&gt;&lt;body&gt;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&lt;h1&gt;센서 안내&lt;/h1&gt;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&lt;button id="check"&gt;값 확인&lt;/button&gt;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&lt;/body&gt;&lt;/html&gt;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탭은 작업장, 본문 제목은 센서 안내입니다. 버튼에는 아직 동작 코드가 없습니다.</a:t>
            </a:r>
          </a:p>
          <a:p xmlns:a="http://schemas.openxmlformats.org/drawingml/2006/main">
            <a:r>
              <a:t/>
            </a:r>
          </a:p>
          <a:p xmlns:a="http://schemas.openxmlformats.org/drawingml/2006/main">
            <a:r>
              <a:t>개념과 연결: 태그는 문서 내용의 역할을 표시합니다. 탭 이름과 본문 제목은 다른 위치입니다.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title과 h1 사이 문구를 각각 바꿉니다. button의 글자와 내부 id는 구별합니다. 처음 문서는 내용 표시만 하므로 센서 호출이 생기지 않습니다.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탭은 공장 A, 본문은 온도 확인으로 쓰세요. 버튼 id는 check를 유지하세요.</a:t>
            </a:r>
          </a:p>
          <a:p xmlns:a="http://schemas.openxmlformats.org/drawingml/2006/main">
            <a:r>
              <a:t/>
            </a:r>
          </a:p>
          <a:p xmlns:a="http://schemas.openxmlformats.org/drawingml/2006/main">
            <a:r>
              <a:t>정답과 풀이: title과 h1 사이 문구를 각각 바꿉니다. button의 글자와 내부 id는 구별합니다. 처음 문서는 내용 표시만 하므로 센서 호출이 생기지 않습니다.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A03의 개념과 원문 해설입니다.</a:t>
            </a:r>
          </a:p>
          <a:p xmlns:a="http://schemas.openxmlformats.org/drawingml/2006/main">
            <a:r>
              <a:t>### A03 · 속성·연결·접근성</a:t>
            </a:r>
          </a:p>
          <a:p xmlns:a="http://schemas.openxmlformats.org/drawingml/2006/main">
            <a:r>
              <a:t/>
            </a:r>
          </a:p>
          <a:p xmlns:a="http://schemas.openxmlformats.org/drawingml/2006/main">
            <a:r>
              <a:t>**뜻과 비유.** 속성은 요소에 추가 정보를 붙이는 이름과 값입니다. lang은 문서 언어, id 는 특정 요소를 찾는 이름, type은 버튼 동작 종류를 설명합니다.</a:t>
            </a:r>
          </a:p>
          <a:p xmlns:a="http://schemas.openxmlformats.org/drawingml/2006/main">
            <a:r>
              <a:t/>
            </a:r>
          </a:p>
          <a:p xmlns:a="http://schemas.openxmlformats.org/drawingml/2006/main">
            <a:r>
              <a:t>**왜 필요한가.** 사람이 보는 문구와 프로그램이 찾는 이름을 구분해야 버튼 연결을 끊지 않고 내용을 수정할 수 있습니다.</a:t>
            </a:r>
          </a:p>
          <a:p xmlns:a="http://schemas.openxmlformats.org/drawingml/2006/main">
            <a:r>
              <a:t/>
            </a:r>
          </a:p>
          <a:p xmlns:a="http://schemas.openxmlformats.org/drawingml/2006/main">
            <a:r>
              <a:t>**예를 따라 읽기.** id ="check"는 JavaScript가 버튼을 찾는 기준이고 버튼 안 글자는 사용자에게 보이는 안내입니다.</a:t>
            </a:r>
          </a:p>
          <a:p xmlns:a="http://schemas.openxmlformats.org/drawingml/2006/main">
            <a:r>
              <a:t/>
            </a:r>
          </a:p>
          <a:p xmlns:a="http://schemas.openxmlformats.org/drawingml/2006/main">
            <a:r>
              <a:t>**헷갈리는 반례.** id를 임의로 바꾸고 연결 코드를 그대로 두면 화면은 보여도 버튼 반응이 사라질 수 있습니다.</a:t>
            </a:r>
          </a:p>
          <a:p xmlns:a="http://schemas.openxmlformats.org/drawingml/2006/main">
            <a:r>
              <a:t/>
            </a:r>
          </a:p>
          <a:p xmlns:a="http://schemas.openxmlformats.org/drawingml/2006/main">
            <a:r>
              <a:t>**직접 적용.** lang·id·type 속성 찾기 → 보이는 글자와 내부 이름 나누기 → 버튼 문구만 값 다시 확인으로 바꾸기 → Tab 키로 버튼에 이동해 테두리 보기</a:t>
            </a:r>
          </a:p>
          <a:p xmlns:a="http://schemas.openxmlformats.org/drawingml/2006/main">
            <a:r>
              <a:t/>
            </a:r>
          </a:p>
          <a:p xmlns:a="http://schemas.openxmlformats.org/drawingml/2006/main">
            <a:r>
              <a:t>**설명할 질문.** 사용자에게 보이는 이름과 코드가 찾는 이름은 왜 구분하나요?</a:t>
            </a:r>
          </a:p>
          <a:p xmlns:a="http://schemas.openxmlformats.org/drawingml/2006/main">
            <a:r>
              <a:t/>
            </a:r>
          </a:p>
          <a:p xmlns:a="http://schemas.openxmlformats.org/drawingml/2006/main">
            <a:r>
              <a:t>**막혔을 때.** 버튼 반응이 없으면 id와 선택자 #check가 같은지 봅니다. 화면 문구를 바꾸려면 태그 사이를 고칩니다.</a:t>
            </a:r>
          </a:p>
          <a:p xmlns:a="http://schemas.openxmlformats.org/drawingml/2006/main">
            <a:r>
              <a:t/>
            </a:r>
          </a:p>
          <a:p xmlns:a="http://schemas.openxmlformats.org/drawingml/2006/main">
            <a:r>
              <a:t>입력·답칸·확인 순서는 [실습지의 A03](practice-guide.md#a03)와 [활동 원문](examples/course/data/A03_input.md)에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속성과 내부 연결의 예</a:t>
            </a:r>
          </a:p>
          <a:p xmlns:a="http://schemas.openxmlformats.org/drawingml/2006/main">
            <a:r>
              <a:t>발췌: HTML id와 선택자를 연결합니다.</a:t>
            </a:r>
          </a:p>
          <a:p xmlns:a="http://schemas.openxmlformats.org/drawingml/2006/main">
            <a:r>
              <a:t/>
            </a:r>
          </a:p>
          <a:p xmlns:a="http://schemas.openxmlformats.org/drawingml/2006/main">
            <a:r>
              <a:t>const button = document.querySelector("#check");</a:t>
            </a:r>
          </a:p>
          <a:p xmlns:a="http://schemas.openxmlformats.org/drawingml/2006/main">
            <a:r>
              <a:t>뜻: querySelector는 HTML에서 이름에 맞는 요소를 찾는다. #은 id 선택이고 문자열의 따옴표를 유지한다.</a:t>
            </a:r>
          </a:p>
          <a:p xmlns:a="http://schemas.openxmlformats.org/drawingml/2006/main">
            <a:r>
              <a:t/>
            </a:r>
          </a:p>
          <a:p xmlns:a="http://schemas.openxmlformats.org/drawingml/2006/main">
            <a:r>
              <a:t>예상과 확인: 버튼 id와 선택자가 일치해야 합니다. Tab으로 버튼 초점도 확인합니다.</a:t>
            </a:r>
          </a:p>
          <a:p xmlns:a="http://schemas.openxmlformats.org/drawingml/2006/main">
            <a:r>
              <a:t>판단 해설: 아닙니다. 태그 사이 문구만 바꾸고 id를 유지하면 내부 연결은 유지됩니다. id까지 바꾸면 JavaScript 선택자도 대조합니다.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const button = document.querySelector("#check");</a:t>
            </a:r>
          </a:p>
          <a:p xmlns:a="http://schemas.openxmlformats.org/drawingml/2006/main">
            <a:r>
              <a:t>뜻: querySelector는 HTML에서 이름에 맞는 요소를 찾는다. #은 id 선택이고 문자열의 따옴표를 유지한다.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버튼 id와 선택자가 일치해야 합니다. Tab으로 버튼 초점도 확인합니다.</a:t>
            </a:r>
          </a:p>
          <a:p xmlns:a="http://schemas.openxmlformats.org/drawingml/2006/main">
            <a:r>
              <a:t/>
            </a:r>
          </a:p>
          <a:p xmlns:a="http://schemas.openxmlformats.org/drawingml/2006/main">
            <a:r>
              <a:t>개념과 연결: id는 코드가 요소를 찾는 이름입니다. 사용자에게 보이는 문구와 구별합니다.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아닙니다. 태그 사이 문구만 바꾸고 id를 유지하면 내부 연결은 유지됩니다. id까지 바꾸면 JavaScript 선택자도 대조합니다.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버튼 글자만 바꾸면 #check도 바꾸나요?</a:t>
            </a:r>
          </a:p>
          <a:p xmlns:a="http://schemas.openxmlformats.org/drawingml/2006/main">
            <a:r>
              <a:t/>
            </a:r>
          </a:p>
          <a:p xmlns:a="http://schemas.openxmlformats.org/drawingml/2006/main">
            <a:r>
              <a:t>정답과 풀이: 아닙니다. 태그 사이 문구만 바꾸고 id를 유지하면 내부 연결은 유지됩니다. id까지 바꾸면 JavaScript 선택자도 대조합니다.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2교시 주제는 CSS의 모양과 읽기입니다. 운영: 50분 × 6교시입니다. 필수 결과를 먼저 확인하고 독립 문제는 추가 복습으로 사용합니다.</a:t>
            </a:r>
          </a:p>
          <a:p xmlns:a="http://schemas.openxmlformats.org/drawingml/2006/main">
            <a:r>
              <a:t/>
            </a:r>
          </a:p>
          <a:p xmlns:a="http://schemas.openxmlformats.org/drawingml/2006/main">
            <a:r>
              <a:t>시연 → 함께 따라 하기 → 한 값 수정 → 예상과 실제 비교 → 자기 말로 설명 순서로 진행합니다. 오늘 필수 활동과 추가 활동은 beginner-start의 해당 교시 표를 확인합니다. 모든 장을 50분 안에 끝냈다고 가정하지 않습니다. 설치 문제가 있으면 동일한 제공 입력과 출력으로 수동 추적하고 개인 실행 여부를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상자 안팎을 보고 간격을 고릅니다. 색 외에 상태 문구와 초점을 제공합니다.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A04의 개념과 원문 해설입니다.</a:t>
            </a:r>
          </a:p>
          <a:p xmlns:a="http://schemas.openxmlformats.org/drawingml/2006/main">
            <a:r>
              <a:t>### A04 · CSS 선택자와 선언</a:t>
            </a:r>
          </a:p>
          <a:p xmlns:a="http://schemas.openxmlformats.org/drawingml/2006/main">
            <a:r>
              <a:t/>
            </a:r>
          </a:p>
          <a:p xmlns:a="http://schemas.openxmlformats.org/drawingml/2006/main">
            <a:r>
              <a:t>#### 사례로 이해하기 · 선택자와 상자 모델로 읽기 편한 화면 만들기</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센서 카드의 글자가 테두리에 붙어 읽기 어렵습니다. 카드 사이 간격도 좁습니다. 글자만 띄우려다가 페이지 전체를 오른쪽으로 밀면 작은 화면에서 내용이 잘립니다. 어떤 상자의 어느 공간을 바꾸는지 먼저 그려 봅니다.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CSS는 문서의 모양을 정하는 규칙입니다. 선택자는 꾸밀 대상을 고르는 이름이고 선언은 속성과 값의 짝입니다. 중괄호 안의 `color: teal;`은 글자색을 청록으로 정합니다. 세미콜론은 선언의 끝입니다. 상자에서 content는 내용, padding은 내용과 테두리 사이, border는 테두리, margin은 다른 상자와의 바깥 간격입니다. 색과 여백은 온도 데이터의 의미를 바꾸지 않습니다.</a:t>
            </a:r>
          </a:p>
          <a:p xmlns:a="http://schemas.openxmlformats.org/drawingml/2006/main">
            <a:r>
              <a:t/>
            </a:r>
          </a:p>
          <a:p xmlns:a="http://schemas.openxmlformats.org/drawingml/2006/main">
            <a:r>
              <a:t>#### 완성 예와 풀이</a:t>
            </a:r>
          </a:p>
          <a:p xmlns:a="http://schemas.openxmlformats.org/drawingml/2006/main">
            <a:r>
              <a:t/>
            </a:r>
          </a:p>
          <a:p xmlns:a="http://schemas.openxmlformats.org/drawingml/2006/main">
            <a:r>
              <a:t>앞 문서의 head 안에 style 태그로 아래 규칙을 넣습니다.</a:t>
            </a:r>
          </a:p>
          <a:p xmlns:a="http://schemas.openxmlformats.org/drawingml/2006/main">
            <a:r>
              <a:t/>
            </a:r>
          </a:p>
          <a:p xmlns:a="http://schemas.openxmlformats.org/drawingml/2006/main">
            <a:r>
              <a:t>```css</a:t>
            </a:r>
          </a:p>
          <a:p xmlns:a="http://schemas.openxmlformats.org/drawingml/2006/main">
            <a:r>
              <a:t>body { margin: 16px; font-family: sans-serif; }</a:t>
            </a:r>
          </a:p>
          <a:p xmlns:a="http://schemas.openxmlformats.org/drawingml/2006/main">
            <a:r>
              <a:t>h1 { color: teal; }</a:t>
            </a:r>
          </a:p>
          <a:p xmlns:a="http://schemas.openxmlformats.org/drawingml/2006/main">
            <a:r>
              <a:t>button { padding: 12px; margin-top: 8px; }</a:t>
            </a:r>
          </a:p>
          <a:p xmlns:a="http://schemas.openxmlformats.org/drawingml/2006/main">
            <a:r>
              <a:t>button:focus-visible { outline: 3px solid black; }</a:t>
            </a:r>
          </a:p>
          <a:p xmlns:a="http://schemas.openxmlformats.org/drawingml/2006/main">
            <a:r>
              <a:t>```</a:t>
            </a:r>
          </a:p>
          <a:p xmlns:a="http://schemas.openxmlformats.org/drawingml/2006/main">
            <a:r>
              <a:t/>
            </a:r>
          </a:p>
          <a:p xmlns:a="http://schemas.openxmlformats.org/drawingml/2006/main">
            <a:r>
              <a:t>body 규칙은 전체 가장자리와 글꼴, h1 규칙은 제목만, button 규칙은 버튼 안팎 공간을 조절합니다. 마지막 규칙은 키보드로 이동할 때 초점을 표시합니다. 저장 후 새로고침하고 Tab 키로 버튼에 이동합니다. 초점은 지금 키보드로 조작할 대상이며 색 표시만으로 정상 상태를 전달하지 않듯 초점도 보이게 제공합니다. 별도 style.css를 쓰면 HTML의 link 경로가 같은 파일을 가리키는지도 확인합니다.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버튼 글자 주변 공간만 늘리고 버튼과 제목 사이 공간은 유지하려면 어떤 속성을 바꾸나요? 다음으로 정상 상태를 녹색 원 하나로만 보여 주는 화면을 글자와 함께 표현하는 문장을 작성하세요.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안쪽 공간은 padding입니다. 상태 문장은 “정상: 제공된 가상 온도가 기준 미만입니다”처럼 뜻을 적습니다. margin을 늘리는 답은 바깥 공간을 바꿉니다. “색을 더 진하게 하면 의미가 전달된다”는 답은 색을 구별하기 어려운 상황을 해결하지 못합니다.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CSS 변경으로 센서값이 변하나요? 표시 모양만 달라집니다. ② 적용이 안 되면 무엇부터 보나요? 저장·경로·선택자·새로고침을 확인합니다. ③ 좁은 화면도 확인하는 이유는 무엇인가요? 읽기 폭과 넘침은 큰 화면에서 보이지 않을 수 있습니다.</a:t>
            </a:r>
          </a:p>
          <a:p xmlns:a="http://schemas.openxmlformats.org/drawingml/2006/main">
            <a:r>
              <a:t/>
            </a:r>
          </a:p>
          <a:p xmlns:a="http://schemas.openxmlformats.org/drawingml/2006/main">
            <a:r>
              <a:t>**뜻과 비유.** CSS는 어떤 요소에 어떤 모양을 적용할지 쓰는 규칙입니다. 선택자는 대상을 고르고, 속성과 값은 색·크기·간격을 정합니다.</a:t>
            </a:r>
          </a:p>
          <a:p xmlns:a="http://schemas.openxmlformats.org/drawingml/2006/main">
            <a:r>
              <a:t/>
            </a:r>
          </a:p>
          <a:p xmlns:a="http://schemas.openxmlformats.org/drawingml/2006/main">
            <a:r>
              <a:t>**왜 필요한가.** 내용과 모양을 나누면 같은 제목을 유지하면서 여러 화면 크기에 맞게 조정할 수 있습니다.</a:t>
            </a:r>
          </a:p>
          <a:p xmlns:a="http://schemas.openxmlformats.org/drawingml/2006/main">
            <a:r>
              <a:t/>
            </a:r>
          </a:p>
          <a:p xmlns:a="http://schemas.openxmlformats.org/drawingml/2006/main">
            <a:r>
              <a:t>**예를 따라 읽기.** h1 { color: #126d65; }는 제목 글자의 색을 정합니다. #126d65는 색을 나타내는 표기입니다.</a:t>
            </a:r>
          </a:p>
          <a:p xmlns:a="http://schemas.openxmlformats.org/drawingml/2006/main">
            <a:r>
              <a:t/>
            </a:r>
          </a:p>
          <a:p xmlns:a="http://schemas.openxmlformats.org/drawingml/2006/main">
            <a:r>
              <a:t>**헷갈리는 반례.** 색을 바꿔도 센서 온도의 데이터 값이 바뀌는 것은 아닙니다.</a:t>
            </a:r>
          </a:p>
          <a:p xmlns:a="http://schemas.openxmlformats.org/drawingml/2006/main">
            <a:r>
              <a:t/>
            </a:r>
          </a:p>
          <a:p xmlns:a="http://schemas.openxmlformats.org/drawingml/2006/main">
            <a:r>
              <a:t>**직접 적용.** style.css에서 h1 규칙 찾기 → color와 값의 경계 표시하기 → 색을 #75421b로 바꾸기 → 같은 제목 내용이 유지되는지 비교하기</a:t>
            </a:r>
          </a:p>
          <a:p xmlns:a="http://schemas.openxmlformats.org/drawingml/2006/main">
            <a:r>
              <a:t/>
            </a:r>
          </a:p>
          <a:p xmlns:a="http://schemas.openxmlformats.org/drawingml/2006/main">
            <a:r>
              <a:t>**설명할 질문.** CSS 값을 바꿨을 때 무엇이 유지돼야하나요?</a:t>
            </a:r>
          </a:p>
          <a:p xmlns:a="http://schemas.openxmlformats.org/drawingml/2006/main">
            <a:r>
              <a:t/>
            </a:r>
          </a:p>
          <a:p xmlns:a="http://schemas.openxmlformats.org/drawingml/2006/main">
            <a:r>
              <a:t>**막혔을 때.** CSS가 적용되지 않으면 HTML의 href와 파일 이름이 일치하는지 먼저 확인합니다.</a:t>
            </a:r>
          </a:p>
          <a:p xmlns:a="http://schemas.openxmlformats.org/drawingml/2006/main">
            <a:r>
              <a:t/>
            </a:r>
          </a:p>
          <a:p xmlns:a="http://schemas.openxmlformats.org/drawingml/2006/main">
            <a:r>
              <a:t>입력·답칸·확인 순서는 [실습지의 A04](practice-guide.md#a04)와 [활동 원문](examples/course/data/A04_input.md)에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CSS의 선택과 선언의 예</a:t>
            </a:r>
          </a:p>
          <a:p xmlns:a="http://schemas.openxmlformats.org/drawingml/2006/main">
            <a:r>
              <a:t>발췌: style 태그 또는 style.css에 넣습니다.</a:t>
            </a:r>
          </a:p>
          <a:p xmlns:a="http://schemas.openxmlformats.org/drawingml/2006/main">
            <a:r>
              <a:t/>
            </a:r>
          </a:p>
          <a:p xmlns:a="http://schemas.openxmlformats.org/drawingml/2006/main">
            <a:r>
              <a:t>h1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color: teal;</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예상과 확인: 제목 색이 청록으로 바뀝니다. 제목 문구와 온도 데이터는 유지됩니다.</a:t>
            </a:r>
          </a:p>
          <a:p xmlns:a="http://schemas.openxmlformats.org/drawingml/2006/main">
            <a:r>
              <a:t>판단 해설: 저장·HTML의 link 경로·style.css 파일 이름·선택자·브라우저 새로고침을 확인합니다. 코드의 콜론·세미콜론·중괄호 뜻을 각각 설명합니다.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h1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color: teal;</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제목 색이 청록으로 바뀝니다. 제목 문구와 온도 데이터는 유지됩니다.</a:t>
            </a:r>
          </a:p>
          <a:p xmlns:a="http://schemas.openxmlformats.org/drawingml/2006/main">
            <a:r>
              <a:t/>
            </a:r>
          </a:p>
          <a:p xmlns:a="http://schemas.openxmlformats.org/drawingml/2006/main">
            <a:r>
              <a:t>개념과 연결: 선택자는 꾸밀 대상을 고릅니다. 속성과 값으로 모양을 정합니다.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저장·HTML의 link 경로·style.css 파일 이름·선택자·브라우저 새로고침을 확인합니다. 코드의 콜론·세미콜론·중괄호 뜻을 각각 설명합니다.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CSS 색이 그대로라면 무엇을 확인하나요?</a:t>
            </a:r>
          </a:p>
          <a:p xmlns:a="http://schemas.openxmlformats.org/drawingml/2006/main">
            <a:r>
              <a:t/>
            </a:r>
          </a:p>
          <a:p xmlns:a="http://schemas.openxmlformats.org/drawingml/2006/main">
            <a:r>
              <a:t>정답과 풀이: 저장·HTML의 link 경로·style.css 파일 이름·선택자·브라우저 새로고침을 확인합니다. 코드의 콜론·세미콜론·중괄호 뜻을 각각 설명합니다.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A05의 개념과 원문 해설입니다.</a:t>
            </a:r>
          </a:p>
          <a:p xmlns:a="http://schemas.openxmlformats.org/drawingml/2006/main">
            <a:r>
              <a:t>### A05 · 상자·여백·읽기 폭</a:t>
            </a:r>
          </a:p>
          <a:p xmlns:a="http://schemas.openxmlformats.org/drawingml/2006/main">
            <a:r>
              <a:t/>
            </a:r>
          </a:p>
          <a:p xmlns:a="http://schemas.openxmlformats.org/drawingml/2006/main">
            <a:r>
              <a:t>**뜻과 비유.** 브라우저의 요소는 화면 공간을 차지하는 상자로 배치됩니다. padding은 안쪽 간격, margin 은 바깥 간격이며 max-width 는 너무 넓어지지 않게 제한합니다.</a:t>
            </a:r>
          </a:p>
          <a:p xmlns:a="http://schemas.openxmlformats.org/drawingml/2006/main">
            <a:r>
              <a:t/>
            </a:r>
          </a:p>
          <a:p xmlns:a="http://schemas.openxmlformats.org/drawingml/2006/main">
            <a:r>
              <a:t>**왜 필요한가.** 문장이 화면 끝까지 길어지거나 요소가 붙어 있으면 내용을 읽기 어렵습니다. 간격도 정보 전달에 영향을 줍니다.</a:t>
            </a:r>
          </a:p>
          <a:p xmlns:a="http://schemas.openxmlformats.org/drawingml/2006/main">
            <a:r>
              <a:t/>
            </a:r>
          </a:p>
          <a:p xmlns:a="http://schemas.openxmlformats.org/drawingml/2006/main">
            <a:r>
              <a:t>**예를 따라 읽기.** main의 padding:24px을 32px로 바꾸면 안내판 내용과 바깥 영역 사이의 안쪽 간격이 커집니다.</a:t>
            </a:r>
          </a:p>
          <a:p xmlns:a="http://schemas.openxmlformats.org/drawingml/2006/main">
            <a:r>
              <a:t/>
            </a:r>
          </a:p>
          <a:p xmlns:a="http://schemas.openxmlformats.org/drawingml/2006/main">
            <a:r>
              <a:t>**헷갈리는 반례.** 글자를 작게 줄여 모든 것을 한 화면에 넣는 방식은 초심자의 읽기를 어렵게 할 수 있습니다.</a:t>
            </a:r>
          </a:p>
          <a:p xmlns:a="http://schemas.openxmlformats.org/drawingml/2006/main">
            <a:r>
              <a:t/>
            </a:r>
          </a:p>
          <a:p xmlns:a="http://schemas.openxmlformats.org/drawingml/2006/main">
            <a:r>
              <a:t>**직접 적용.** main의 세 배치 규칙 찾기 → padding과 margin 을 그림으로 구분하기 → padding 한 값을 바꿔 비교하기 → 글자 크기와 읽기 폭의 영향을 설명하기</a:t>
            </a:r>
          </a:p>
          <a:p xmlns:a="http://schemas.openxmlformats.org/drawingml/2006/main">
            <a:r>
              <a:t/>
            </a:r>
          </a:p>
          <a:p xmlns:a="http://schemas.openxmlformats.org/drawingml/2006/main">
            <a:r>
              <a:t>**설명할 질문.** 안쪽 여백과 바깥 여백은 어떻게 구분하나요?</a:t>
            </a:r>
          </a:p>
          <a:p xmlns:a="http://schemas.openxmlformats.org/drawingml/2006/main">
            <a:r>
              <a:t/>
            </a:r>
          </a:p>
          <a:p xmlns:a="http://schemas.openxmlformats.org/drawingml/2006/main">
            <a:r>
              <a:t>**막혔을 때.** 차이가 안 보이면 같은 파일을 저장했는지와 브라우저 새로고침 여부를 확인합니다.</a:t>
            </a:r>
          </a:p>
          <a:p xmlns:a="http://schemas.openxmlformats.org/drawingml/2006/main">
            <a:r>
              <a:t/>
            </a:r>
          </a:p>
          <a:p xmlns:a="http://schemas.openxmlformats.org/drawingml/2006/main">
            <a:r>
              <a:t>입력·답칸·확인 순서는 [실습지의 A05](practice-guide.md#a05)와 [활동 원문](examples/course/data/A05_input.md)에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상자의 안쪽과 바깥의 예</a:t>
            </a:r>
          </a:p>
          <a:p xmlns:a="http://schemas.openxmlformats.org/drawingml/2006/main">
            <a:r>
              <a:t>발췌: button의 CSS 규칙</a:t>
            </a:r>
          </a:p>
          <a:p xmlns:a="http://schemas.openxmlformats.org/drawingml/2006/main">
            <a:r>
              <a:t/>
            </a:r>
          </a:p>
          <a:p xmlns:a="http://schemas.openxmlformats.org/drawingml/2006/main">
            <a:r>
              <a:t>button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padding: 12px;</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margin-top: 8px;</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예상과 확인: 글자 주변을 넓히려면 padding을 바꿉니다. 값과 상태의 의미는 그대로입니다.</a:t>
            </a:r>
          </a:p>
          <a:p xmlns:a="http://schemas.openxmlformats.org/drawingml/2006/main">
            <a:r>
              <a:t>판단 해설: padding입니다. margin은 바깥 위치 관계를 바꿉니다. 줄어든 화면에서 넘침이 생기는지도 따로 확인합니다.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button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padding: 12px;</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margin-top: 8px;</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글자 주변을 넓히려면 padding을 바꿉니다. 값과 상태의 의미는 그대로입니다.</a:t>
            </a:r>
          </a:p>
          <a:p xmlns:a="http://schemas.openxmlformats.org/drawingml/2006/main">
            <a:r>
              <a:t/>
            </a:r>
          </a:p>
          <a:p xmlns:a="http://schemas.openxmlformats.org/drawingml/2006/main">
            <a:r>
              <a:t>개념과 연결: padding은 내용 안쪽 공간입니다. margin은 다른 요소와의 바깥 간격입니다.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padding입니다. margin은 바깥 위치 관계를 바꿉니다. 줄어든 화면에서 넘침이 생기는지도 따로 확인합니다.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버튼 글자 주변만 넓히고 싶습니다. 어느 속성을 바꿀까요?</a:t>
            </a:r>
          </a:p>
          <a:p xmlns:a="http://schemas.openxmlformats.org/drawingml/2006/main">
            <a:r>
              <a:t/>
            </a:r>
          </a:p>
          <a:p xmlns:a="http://schemas.openxmlformats.org/drawingml/2006/main">
            <a:r>
              <a:t>정답과 풀이: padding입니다. margin은 바깥 위치 관계를 바꿉니다. 줄어든 화면에서 넘침이 생기는지도 따로 확인합니다.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A06의 개념과 원문 해설입니다.</a:t>
            </a:r>
          </a:p>
          <a:p xmlns:a="http://schemas.openxmlformats.org/drawingml/2006/main">
            <a:r>
              <a:t>### A06 · 작은 화면과 상태의 표시</a:t>
            </a:r>
          </a:p>
          <a:p xmlns:a="http://schemas.openxmlformats.org/drawingml/2006/main">
            <a:r>
              <a:t/>
            </a:r>
          </a:p>
          <a:p xmlns:a="http://schemas.openxmlformats.org/drawingml/2006/main">
            <a:r>
              <a:t>**뜻과 비유.** 반응형 규칙은 화면 폭 같은 조건에 따라 모양을 조정하는 CSS입니다. 색만으로 의미를 전달하지 않고 글자와 구조도 함께 사용합니다.</a:t>
            </a:r>
          </a:p>
          <a:p xmlns:a="http://schemas.openxmlformats.org/drawingml/2006/main">
            <a:r>
              <a:t/>
            </a:r>
          </a:p>
          <a:p xmlns:a="http://schemas.openxmlformats.org/drawingml/2006/main">
            <a:r>
              <a:t>**왜 필요한가.** 같은 자료를 좁은 화면과 키보드로도 읽을 수 있어야 업무 확인에 사용할 수 있습니다.</a:t>
            </a:r>
          </a:p>
          <a:p xmlns:a="http://schemas.openxmlformats.org/drawingml/2006/main">
            <a:r>
              <a:t/>
            </a:r>
          </a:p>
          <a:p xmlns:a="http://schemas.openxmlformats.org/drawingml/2006/main">
            <a:r>
              <a:t>**예를 따라 읽기.** max-width:600px 조건에서는 main의 바깥 간격이 8px로 바뀝니다. focus-visible은 키보드 초점을 드러냅니다.</a:t>
            </a:r>
          </a:p>
          <a:p xmlns:a="http://schemas.openxmlformats.org/drawingml/2006/main">
            <a:r>
              <a:t/>
            </a:r>
          </a:p>
          <a:p xmlns:a="http://schemas.openxmlformats.org/drawingml/2006/main">
            <a:r>
              <a:t>**헷갈리는 반례.** 초록색만 보고 정상이라고 판단하게 하면 색을 구분하기 어렵거나 상태가 바뀐 경우 설명이 부족합니다.</a:t>
            </a:r>
          </a:p>
          <a:p xmlns:a="http://schemas.openxmlformats.org/drawingml/2006/main">
            <a:r>
              <a:t/>
            </a:r>
          </a:p>
          <a:p xmlns:a="http://schemas.openxmlformats.org/drawingml/2006/main">
            <a:r>
              <a:t>**직접 적용.** 브라우저 폭을 넓고 좁게 바꾸기 → 줄 바꿈과 가로 넘침 확인하기 → Tab으로 버튼에 이동하기 → 상태를 글자로도 알 수 있는 지 기록하기</a:t>
            </a:r>
          </a:p>
          <a:p xmlns:a="http://schemas.openxmlformats.org/drawingml/2006/main">
            <a:r>
              <a:t/>
            </a:r>
          </a:p>
          <a:p xmlns:a="http://schemas.openxmlformats.org/drawingml/2006/main">
            <a:r>
              <a:t>**설명할 질문.** 정상 상태를 색만으로 표시하면 어떤 정보가 빠질까요?</a:t>
            </a:r>
          </a:p>
          <a:p xmlns:a="http://schemas.openxmlformats.org/drawingml/2006/main">
            <a:r>
              <a:t/>
            </a:r>
          </a:p>
          <a:p xmlns:a="http://schemas.openxmlformats.org/drawingml/2006/main">
            <a:r>
              <a:t>**막혔을 때.** 좁은 화면이 넘치면 고정 폭을 늘리지 말고 max-width와 여백 규칙부터 확인합니다.</a:t>
            </a:r>
          </a:p>
          <a:p xmlns:a="http://schemas.openxmlformats.org/drawingml/2006/main">
            <a:r>
              <a:t/>
            </a:r>
          </a:p>
          <a:p xmlns:a="http://schemas.openxmlformats.org/drawingml/2006/main">
            <a:r>
              <a:t>입력·답칸·확인 순서는 [실습지의 A06](practice-guide.md#a06)와 [활동 원문](examples/course/data/A06_input.md)에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작은 화면과 상태의 예</a:t>
            </a:r>
          </a:p>
          <a:p xmlns:a="http://schemas.openxmlformats.org/drawingml/2006/main">
            <a:r>
              <a:t>발췌: 키보드 초점을 보이게 합니다.</a:t>
            </a:r>
          </a:p>
          <a:p xmlns:a="http://schemas.openxmlformats.org/drawingml/2006/main">
            <a:r>
              <a:t/>
            </a:r>
          </a:p>
          <a:p xmlns:a="http://schemas.openxmlformats.org/drawingml/2006/main">
            <a:r>
              <a:t>button:focus-visible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outline: 3px solid black;</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예상과 확인: Tab 키로 버튼 초점이 보이는지 봅니다. 정상·미측정 문구를 함께 읽습니다.</a:t>
            </a:r>
          </a:p>
          <a:p xmlns:a="http://schemas.openxmlformats.org/drawingml/2006/main">
            <a:r>
              <a:t>판단 해설: 상태 이름과 의미를 함께 표시합니다. 색 구별이 어려운 사용자가 있어 초점과 상태를 텍스트로도 전달합니다. 화면 폭 검사를 별도로 기록합니다.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button:focus-visible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outline: 3px solid black;</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Tab 키로 버튼 초점이 보이는지 봅니다. 정상·미측정 문구를 함께 읽습니다.</a:t>
            </a:r>
          </a:p>
          <a:p xmlns:a="http://schemas.openxmlformats.org/drawingml/2006/main">
            <a:r>
              <a:t/>
            </a:r>
          </a:p>
          <a:p xmlns:a="http://schemas.openxmlformats.org/drawingml/2006/main">
            <a:r>
              <a:t>개념과 연결: 좁은 화면에서도 글자가 읽혀야 합니다. 색과 함께 상태 문구를 제공합니다.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상태 이름과 의미를 함께 표시합니다. 색 구별이 어려운 사용자가 있어 초점과 상태를 텍스트로도 전달합니다. 화면 폭 검사를 별도로 기록합니다.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초록 원만으로 정상 상태를 알려도 될까요?</a:t>
            </a:r>
          </a:p>
          <a:p xmlns:a="http://schemas.openxmlformats.org/drawingml/2006/main">
            <a:r>
              <a:t/>
            </a:r>
          </a:p>
          <a:p xmlns:a="http://schemas.openxmlformats.org/drawingml/2006/main">
            <a:r>
              <a:t>정답과 풀이: 상태 이름과 의미를 함께 표시합니다. 색 구별이 어려운 사용자가 있어 초점과 상태를 텍스트로도 전달합니다. 화면 폭 검사를 별도로 기록합니다.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3교시 주제는 버튼과 데이터 변화입니다. 운영: 50분 × 6교시입니다. 필수 결과를 먼저 확인하고 독립 문제는 추가 복습으로 사용합니다.</a:t>
            </a:r>
          </a:p>
          <a:p xmlns:a="http://schemas.openxmlformats.org/drawingml/2006/main">
            <a:r>
              <a:t/>
            </a:r>
          </a:p>
          <a:p xmlns:a="http://schemas.openxmlformats.org/drawingml/2006/main">
            <a:r>
              <a:t>시연 → 함께 따라 하기 → 한 값 수정 → 예상과 실제 비교 → 자기 말로 설명 순서로 진행합니다. 오늘 필수 활동과 추가 활동은 beginner-start의 해당 교시 표를 확인합니다. 모든 장을 50분 안에 끝냈다고 가정하지 않습니다. 설치 문제가 있으면 동일한 제공 입력과 출력으로 수동 추적하고 개인 실행 여부를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데이터 파일과 초기 글자를 나누어 봅니다. 열기 직후와 클릭 뒤를 따로 기록합니다.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A07의 개념과 원문 해설입니다.</a:t>
            </a:r>
          </a:p>
          <a:p xmlns:a="http://schemas.openxmlformats.org/drawingml/2006/main">
            <a:r>
              <a:t>### A07 · JavaScript와 이벤트</a:t>
            </a:r>
          </a:p>
          <a:p xmlns:a="http://schemas.openxmlformats.org/drawingml/2006/main">
            <a:r>
              <a:t/>
            </a:r>
          </a:p>
          <a:p xmlns:a="http://schemas.openxmlformats.org/drawingml/2006/main">
            <a:r>
              <a:t>#### 사례로 이해하기 · 버튼 사건에서 데이터 표시까지 따라가기</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안내판은 처음에 22.5를 표시하지만 담당자가 data.js 값을 25로 바꾼 뒤에도 화면은 22.5입니다. 버튼을 누르자 25가 나타납니다. 오류라고 단정하기 전에 초기 문서와 버튼 동작의 데이터 흐름을 나누어 읽습니다.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JavaScript는 브라우저에서 동작을 수행하는 프로그램 언어입니다. 이벤트는 클릭처럼 일어난 사건이고 이벤트 처리 함수는 그 사건 때 실행할 행동입니다. querySelector는 이름에 맞는 문서 요소를 찾습니다. #은 id를 찾는 표시입니다. textContent는 요소의 글자 내용이며 이를 바꾸면 화면 글자가 달라집니다. 데이터 파일의 값, HTML의 처음 글자, 화면의 현재 글자는 같은 장소에 있지 않습니다.</a:t>
            </a:r>
          </a:p>
          <a:p xmlns:a="http://schemas.openxmlformats.org/drawingml/2006/main">
            <a:r>
              <a:t/>
            </a:r>
          </a:p>
          <a:p xmlns:a="http://schemas.openxmlformats.org/drawingml/2006/main">
            <a:r>
              <a:t>#### 완성 예와 단계 풀이</a:t>
            </a:r>
          </a:p>
          <a:p xmlns:a="http://schemas.openxmlformats.org/drawingml/2006/main">
            <a:r>
              <a:t/>
            </a:r>
          </a:p>
          <a:p xmlns:a="http://schemas.openxmlformats.org/drawingml/2006/main">
            <a:r>
              <a:t>제공 static/index.html은 data.js와 app.js를 연결합니다. data.js가 먼저 window.SENSOR에 가상 기록을 넣고 app.js가 #check·#temperature·#status를 찾습니다. 버튼 클릭 때 temperature 요소에 SENSOR.temperature_c를 넣고 상태에 장소 설명을 넣습니다. 처음 HTML의 22.5는 클릭 전의 표시이며 data.js에서 25를 저장한 뒤 새로고침하고 클릭하면 25가 보입니다. script 연결 순서와 같은 폴더의 파일 경로도 확인합니다. 실제 센서에서 받은 값이라는 의미는 없습니다.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데이터는 26, 처음 HTML 글자는 22.5인 카드의 “열기 직후 / 클릭 뒤 / 데이터 파일 저장 여부” 세 칸을 작성하세요. 버튼 id만 read로 바꾼 경우 필요한 연결 수정을 결정하고 어떤 행동으로 복구를 확인할지 쓰세요.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처음은 22.5, 클릭 뒤는 26이며 클릭은 파일에 값을 저장하지 않습니다. id를 read로 바꾸면 JavaScript 선택자도 #read로 맞춰야 합니다. 수정 후 같은 버튼 클릭으로 결과를 확인합니다. “HTML 숫자만 고치면 이후 클릭도 바뀐다”는 답은 실제 데이터 출처를 놓쳤습니다.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버튼이 안 되면 무조건 데이터 문제인가요? 요소 이름이나 코드 로딩도 확인합니다. ② 새로고침과 클릭을 따로 기록하는 이유는 무엇인가요? 초기 표시와 사건 후 표시가 다릅니다. ③ 복구 후 파일 내용만 보면 충분한가요? 이전 실패 행동을 다시 수행하여 동작까지 확인해야 합니다.</a:t>
            </a:r>
          </a:p>
          <a:p xmlns:a="http://schemas.openxmlformats.org/drawingml/2006/main">
            <a:r>
              <a:t/>
            </a:r>
          </a:p>
          <a:p xmlns:a="http://schemas.openxmlformats.org/drawingml/2006/main">
            <a:r>
              <a:t>**뜻과 비유.** JavaScript는 프로그램의 동작을 적는 언어입니다. 이 예제에서는 클릭이나 데이터 변화에 따라 화면을 바꿉니다. 이벤트는 버튼 클릭처럼 프로그램이 반응할 수 있는 사건입니다.</a:t>
            </a:r>
          </a:p>
          <a:p xmlns:a="http://schemas.openxmlformats.org/drawingml/2006/main">
            <a:r>
              <a:t/>
            </a:r>
          </a:p>
          <a:p xmlns:a="http://schemas.openxmlformats.org/drawingml/2006/main">
            <a:r>
              <a:t>**왜 필요한가.** 정적인 문서 내용과 클릭 뒤 실행되는 동작을 나누면 화면이 왜 바뀌었는지 따라갈 수 있습니다.</a:t>
            </a:r>
          </a:p>
          <a:p xmlns:a="http://schemas.openxmlformats.org/drawingml/2006/main">
            <a:r>
              <a:t/>
            </a:r>
          </a:p>
          <a:p xmlns:a="http://schemas.openxmlformats.org/drawingml/2006/main">
            <a:r>
              <a:t>**예를 따라 읽기.** addEventListener("click", ...)는 클릭 때 안쪽 코드를 실행하도록 연결합니다.</a:t>
            </a:r>
          </a:p>
          <a:p xmlns:a="http://schemas.openxmlformats.org/drawingml/2006/main">
            <a:r>
              <a:t/>
            </a:r>
          </a:p>
          <a:p xmlns:a="http://schemas.openxmlformats.org/drawingml/2006/main">
            <a:r>
              <a:t>**헷갈리는 반례.** 버튼이 보인다는 사실만으로 클릭 동작이 연결됐다고 볼 수 없습니다.</a:t>
            </a:r>
          </a:p>
          <a:p xmlns:a="http://schemas.openxmlformats.org/drawingml/2006/main">
            <a:r>
              <a:t/>
            </a:r>
          </a:p>
          <a:p xmlns:a="http://schemas.openxmlformats.org/drawingml/2006/main">
            <a:r>
              <a:t>**직접 적용.** app.js 전체 일곱 줄 읽기 → 버튼 선택과 클릭 연결 구간 나누기 → 누르기 전 상태 문구 예상하기 → 클릭 후 바뀐 문구를 비교하기</a:t>
            </a:r>
          </a:p>
          <a:p xmlns:a="http://schemas.openxmlformats.org/drawingml/2006/main">
            <a:r>
              <a:t/>
            </a:r>
          </a:p>
          <a:p xmlns:a="http://schemas.openxmlformats.org/drawingml/2006/main">
            <a:r>
              <a:t>**설명할 질문.** 버튼 표시와 클릭 반응은 어떻게 다른가요?</a:t>
            </a:r>
          </a:p>
          <a:p xmlns:a="http://schemas.openxmlformats.org/drawingml/2006/main">
            <a:r>
              <a:t/>
            </a:r>
          </a:p>
          <a:p xmlns:a="http://schemas.openxmlformats.org/drawingml/2006/main">
            <a:r>
              <a:t>**막혔을 때.** 선택한 요소가 없다는 오류면 HTML의 id와 querySelector 이름을 비교합니다.</a:t>
            </a:r>
          </a:p>
          <a:p xmlns:a="http://schemas.openxmlformats.org/drawingml/2006/main">
            <a:r>
              <a:t/>
            </a:r>
          </a:p>
          <a:p xmlns:a="http://schemas.openxmlformats.org/drawingml/2006/main">
            <a:r>
              <a:t>입력·답칸·확인 순서는 [실습지의 A07](practice-guide.md#a07)와 [활동 원문](examples/course/data/A07_input.md)에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클릭과 JavaScript의 예</a:t>
            </a:r>
          </a:p>
          <a:p xmlns:a="http://schemas.openxmlformats.org/drawingml/2006/main">
            <a:r>
              <a:t>짧은 동작 예. 같은 id와 SENSOR가 필요합니다.</a:t>
            </a:r>
          </a:p>
          <a:p xmlns:a="http://schemas.openxmlformats.org/drawingml/2006/main">
            <a:r>
              <a:t/>
            </a:r>
          </a:p>
          <a:p xmlns:a="http://schemas.openxmlformats.org/drawingml/2006/main">
            <a:r>
              <a:t>const button = document.querySelector("#check");</a:t>
            </a:r>
          </a:p>
          <a:p xmlns:a="http://schemas.openxmlformats.org/drawingml/2006/main">
            <a:r>
              <a:t>뜻: querySelector는 HTML에서 이름에 맞는 요소를 찾는다. #은 id 선택이고 문자열의 따옴표를 유지한다.</a:t>
            </a:r>
          </a:p>
          <a:p xmlns:a="http://schemas.openxmlformats.org/drawingml/2006/main">
            <a:r>
              <a:t/>
            </a:r>
          </a:p>
          <a:p xmlns:a="http://schemas.openxmlformats.org/drawingml/2006/main">
            <a:r>
              <a:t>const value = document.querySelector("#temperature");</a:t>
            </a:r>
          </a:p>
          <a:p xmlns:a="http://schemas.openxmlformats.org/drawingml/2006/main">
            <a:r>
              <a:t>뜻: querySelector는 HTML에서 이름에 맞는 요소를 찾는다. #은 id 선택이고 문자열의 따옴표를 유지한다.</a:t>
            </a:r>
          </a:p>
          <a:p xmlns:a="http://schemas.openxmlformats.org/drawingml/2006/main">
            <a:r>
              <a:t/>
            </a:r>
          </a:p>
          <a:p xmlns:a="http://schemas.openxmlformats.org/drawingml/2006/main">
            <a:r>
              <a:t>button.addEventListener("click", () =&gt; {</a:t>
            </a:r>
          </a:p>
          <a:p xmlns:a="http://schemas.openxmlformats.org/drawingml/2006/main">
            <a:r>
              <a:t>뜻: click 사건 때 함수 내부를 실행하도록 등록한다. 괄호와 중괄호의 범위를 함께 읽는다.</a:t>
            </a:r>
          </a:p>
          <a:p xmlns:a="http://schemas.openxmlformats.org/drawingml/2006/main">
            <a:r>
              <a:t/>
            </a:r>
          </a:p>
          <a:p xmlns:a="http://schemas.openxmlformats.org/drawingml/2006/main">
            <a:r>
              <a:t>  value.textContent = window.SENSOR.temperature_c;</a:t>
            </a:r>
          </a:p>
          <a:p xmlns:a="http://schemas.openxmlformats.org/drawingml/2006/main">
            <a:r>
              <a:t>뜻: textContent에 값을 넣으면 화면 글자가 바뀐다. 파일 저장이나 센서 제어를 뜻하지 않는다.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예상과 확인: 클릭하면 제공 데이터의 온도가 보입니다. 파일에 온도가 저장되는 것은 아닙니다.</a:t>
            </a:r>
          </a:p>
          <a:p xmlns:a="http://schemas.openxmlformats.org/drawingml/2006/main">
            <a:r>
              <a:t>판단 해설: HTML id와 querySelector 이름, 스크립트 경로, data.js 로딩 순서, 저장과 새로고침을 확인합니다. 짧은 코드의 각 줄은 요소 찾기·사건 등록·글자 바꾸기입니다.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const button = document.querySelector("#check");</a:t>
            </a:r>
          </a:p>
          <a:p xmlns:a="http://schemas.openxmlformats.org/drawingml/2006/main">
            <a:r>
              <a:t>뜻: querySelector는 HTML에서 이름에 맞는 요소를 찾는다. #은 id 선택이고 문자열의 따옴표를 유지한다.</a:t>
            </a:r>
          </a:p>
          <a:p xmlns:a="http://schemas.openxmlformats.org/drawingml/2006/main">
            <a:r>
              <a:t/>
            </a:r>
          </a:p>
          <a:p xmlns:a="http://schemas.openxmlformats.org/drawingml/2006/main">
            <a:r>
              <a:t>const value = document.querySelector("#temperature");</a:t>
            </a:r>
          </a:p>
          <a:p xmlns:a="http://schemas.openxmlformats.org/drawingml/2006/main">
            <a:r>
              <a:t>뜻: querySelector는 HTML에서 이름에 맞는 요소를 찾는다. #은 id 선택이고 문자열의 따옴표를 유지한다.</a:t>
            </a:r>
          </a:p>
          <a:p xmlns:a="http://schemas.openxmlformats.org/drawingml/2006/main">
            <a:r>
              <a:t/>
            </a:r>
          </a:p>
          <a:p xmlns:a="http://schemas.openxmlformats.org/drawingml/2006/main">
            <a:r>
              <a:t>button.addEventListener("click", () =&gt; {</a:t>
            </a:r>
          </a:p>
          <a:p xmlns:a="http://schemas.openxmlformats.org/drawingml/2006/main">
            <a:r>
              <a:t>뜻: click 사건 때 함수 내부를 실행하도록 등록한다. 괄호와 중괄호의 범위를 함께 읽는다.</a:t>
            </a:r>
          </a:p>
          <a:p xmlns:a="http://schemas.openxmlformats.org/drawingml/2006/main">
            <a:r>
              <a:t/>
            </a:r>
          </a:p>
          <a:p xmlns:a="http://schemas.openxmlformats.org/drawingml/2006/main">
            <a:r>
              <a:t>  value.textContent = window.SENSOR.temperature_c;</a:t>
            </a:r>
          </a:p>
          <a:p xmlns:a="http://schemas.openxmlformats.org/drawingml/2006/main">
            <a:r>
              <a:t>뜻: textContent에 값을 넣으면 화면 글자가 바뀐다. 파일 저장이나 센서 제어를 뜻하지 않는다.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클릭하면 제공 데이터의 온도가 보입니다. 파일에 온도가 저장되는 것은 아닙니다.</a:t>
            </a:r>
          </a:p>
          <a:p xmlns:a="http://schemas.openxmlformats.org/drawingml/2006/main">
            <a:r>
              <a:t/>
            </a:r>
          </a:p>
          <a:p xmlns:a="http://schemas.openxmlformats.org/drawingml/2006/main">
            <a:r>
              <a:t>개념과 연결: 클릭은 브라우저에서 일어난 사건입니다. 처리 함수가 화면의 글자를 바꿉니다.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HTML id와 querySelector 이름, 스크립트 경로, data.js 로딩 순서, 저장과 새로고침을 확인합니다. 짧은 코드의 각 줄은 요소 찾기·사건 등록·글자 바꾸기입니다.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버튼이 반응하지 않으면 무엇을 대조하나요?</a:t>
            </a:r>
          </a:p>
          <a:p xmlns:a="http://schemas.openxmlformats.org/drawingml/2006/main">
            <a:r>
              <a:t/>
            </a:r>
          </a:p>
          <a:p xmlns:a="http://schemas.openxmlformats.org/drawingml/2006/main">
            <a:r>
              <a:t>정답과 풀이: HTML id와 querySelector 이름, 스크립트 경로, data.js 로딩 순서, 저장과 새로고침을 확인합니다. 짧은 코드의 각 줄은 요소 찾기·사건 등록·글자 바꾸기입니다.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A08의 개념과 원문 해설입니다.</a:t>
            </a:r>
          </a:p>
          <a:p xmlns:a="http://schemas.openxmlformats.org/drawingml/2006/main">
            <a:r>
              <a:t>### A08 · 데이터와 화면 내용 연결</a:t>
            </a:r>
          </a:p>
          <a:p xmlns:a="http://schemas.openxmlformats.org/drawingml/2006/main">
            <a:r>
              <a:t/>
            </a:r>
          </a:p>
          <a:p xmlns:a="http://schemas.openxmlformats.org/drawingml/2006/main">
            <a:r>
              <a:t>**뜻과 비유.** 데이터는 프로그램이 보여 줄 값이며 화면 요소는 그 값을 담는 자리입니다. textContent는 글자를 넣는 방법으로 오늘의 단순 숫자·문구 표시에 사용합니다.</a:t>
            </a:r>
          </a:p>
          <a:p xmlns:a="http://schemas.openxmlformats.org/drawingml/2006/main">
            <a:r>
              <a:t/>
            </a:r>
          </a:p>
          <a:p xmlns:a="http://schemas.openxmlformats.org/drawingml/2006/main">
            <a:r>
              <a:t>**왜 필요한가.** 어느 파일의 값이 어느 화면 자리로 이동하는지 알면 작은 변경을 스스로 확인할 수 있습니다.</a:t>
            </a:r>
          </a:p>
          <a:p xmlns:a="http://schemas.openxmlformats.org/drawingml/2006/main">
            <a:r>
              <a:t/>
            </a:r>
          </a:p>
          <a:p xmlns:a="http://schemas.openxmlformats.org/drawingml/2006/main">
            <a:r>
              <a:t>**예를 따라 읽기.** data.js의 temperature_c를 24.5로 바꾼 뒤 클릭하면 온도 자리에 24.5가 표시됩니다.</a:t>
            </a:r>
          </a:p>
          <a:p xmlns:a="http://schemas.openxmlformats.org/drawingml/2006/main">
            <a:r>
              <a:t/>
            </a:r>
          </a:p>
          <a:p xmlns:a="http://schemas.openxmlformats.org/drawingml/2006/main">
            <a:r>
              <a:t>**헷갈리는 반례.** HTML에 처음 적힌 22.5와 클릭 후 data.js에서 읽은 값은 출처가 다르므로 수정 위치를 구분합니다.</a:t>
            </a:r>
          </a:p>
          <a:p xmlns:a="http://schemas.openxmlformats.org/drawingml/2006/main">
            <a:r>
              <a:t/>
            </a:r>
          </a:p>
          <a:p xmlns:a="http://schemas.openxmlformats.org/drawingml/2006/main">
            <a:r>
              <a:t>**직접 적용.** data.js의 세 필드 읽기 → 온도 하나를 24.5로 바꾸기 → 새로고침 직후와 클릭 후 비교하기 → 초기 HTML 값과 동적 값의 출처 쓰기</a:t>
            </a:r>
          </a:p>
          <a:p xmlns:a="http://schemas.openxmlformats.org/drawingml/2006/main">
            <a:r>
              <a:t/>
            </a:r>
          </a:p>
          <a:p xmlns:a="http://schemas.openxmlformats.org/drawingml/2006/main">
            <a:r>
              <a:t>**설명할 질문.** 새로고침 직후와 클릭 뒤 값이 다른 이유는 무엇인가요?</a:t>
            </a:r>
          </a:p>
          <a:p xmlns:a="http://schemas.openxmlformats.org/drawingml/2006/main">
            <a:r>
              <a:t/>
            </a:r>
          </a:p>
          <a:p xmlns:a="http://schemas.openxmlformats.org/drawingml/2006/main">
            <a:r>
              <a:t>**막혔을 때.** 값이 그대로면 클릭까지 수행했는지 봅니다. 초기 HTML 값만 확인하고 변경 실패라고 판단하지 않습니다.</a:t>
            </a:r>
          </a:p>
          <a:p xmlns:a="http://schemas.openxmlformats.org/drawingml/2006/main">
            <a:r>
              <a:t/>
            </a:r>
          </a:p>
          <a:p xmlns:a="http://schemas.openxmlformats.org/drawingml/2006/main">
            <a:r>
              <a:t>입력·답칸·확인 순서는 [실습지의 A08](practice-guide.md#a08)와 [활동 원문](examples/course/data/A08_input.md)에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데이터와 초기 글자의 예</a:t>
            </a:r>
          </a:p>
          <a:p xmlns:a="http://schemas.openxmlformats.org/drawingml/2006/main">
            <a:r>
              <a:t>짧은 완성 데이터 파일: data.js</a:t>
            </a:r>
          </a:p>
          <a:p xmlns:a="http://schemas.openxmlformats.org/drawingml/2006/main">
            <a:r>
              <a:t/>
            </a:r>
          </a:p>
          <a:p xmlns:a="http://schemas.openxmlformats.org/drawingml/2006/main">
            <a:r>
              <a:t>window.SENSOR =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location: "입구",</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temperature_c: 26</a:t>
            </a:r>
          </a:p>
          <a:p xmlns:a="http://schemas.openxmlformats.org/drawingml/2006/main">
            <a:r>
              <a:t>뜻: temperature_c는 섭씨 가상 값 필드이다. 숫자와 따옴표 문자열·null을 구별한다.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예상과 확인: 처음 HTML이 22.5면 열기 직후도 22.5입니다. 클릭 뒤 데이터 26을 표시합니다.</a:t>
            </a:r>
          </a:p>
          <a:p xmlns:a="http://schemas.openxmlformats.org/drawingml/2006/main">
            <a:r>
              <a:t>판단 해설: 초기 HTML22.5, 클릭 후26입니다. 클릭은 화면 글자를 바꾸며 데이터 파일을 저장하지 않습니다. 실제 센서 데이터가 아니라 가상 데이터입니다.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window.SENSOR =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location: "입구",</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temperature_c: 26</a:t>
            </a:r>
          </a:p>
          <a:p xmlns:a="http://schemas.openxmlformats.org/drawingml/2006/main">
            <a:r>
              <a:t>뜻: temperature_c는 섭씨 가상 값 필드이다. 숫자와 따옴표 문자열·null을 구별한다.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처음 HTML이 22.5면 열기 직후도 22.5입니다. 클릭 뒤 데이터 26을 표시합니다.</a:t>
            </a:r>
          </a:p>
          <a:p xmlns:a="http://schemas.openxmlformats.org/drawingml/2006/main">
            <a:r>
              <a:t/>
            </a:r>
          </a:p>
          <a:p xmlns:a="http://schemas.openxmlformats.org/drawingml/2006/main">
            <a:r>
              <a:t>개념과 연결: HTML의 처음 숫자와 데이터 값은 다릅니다. 버튼이 data.js의 값을 읽어 표시합니다.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초기 HTML22.5, 클릭 후26입니다. 클릭은 화면 글자를 바꾸며 데이터 파일을 저장하지 않습니다. 실제 센서 데이터가 아니라 가상 데이터입니다.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새로고침 직후와 클릭 뒤 값을 쓰세요. 클릭하면 data.js도 바뀌나요?</a:t>
            </a:r>
          </a:p>
          <a:p xmlns:a="http://schemas.openxmlformats.org/drawingml/2006/main">
            <a:r>
              <a:t/>
            </a:r>
          </a:p>
          <a:p xmlns:a="http://schemas.openxmlformats.org/drawingml/2006/main">
            <a:r>
              <a:t>정답과 풀이: 초기 HTML22.5, 클릭 후26입니다. 클릭은 화면 글자를 바꾸며 데이터 파일을 저장하지 않습니다. 실제 센서 데이터가 아니라 가상 데이터입니다.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A09의 개념과 원문 해설입니다.</a:t>
            </a:r>
          </a:p>
          <a:p xmlns:a="http://schemas.openxmlformats.org/drawingml/2006/main">
            <a:r>
              <a:t>### A09 · 오류 위치와 최소 복구</a:t>
            </a:r>
          </a:p>
          <a:p xmlns:a="http://schemas.openxmlformats.org/drawingml/2006/main">
            <a:r>
              <a:t/>
            </a:r>
          </a:p>
          <a:p xmlns:a="http://schemas.openxmlformats.org/drawingml/2006/main">
            <a:r>
              <a:t>**뜻과 비유.** 오류를 찾을 때는 증상·실제 파일·가장 최근에 바꾼 부분을 순서대로 확인합니다. 코드 전체를 다시 쓰기보다 연결 하나를 비교합니다.</a:t>
            </a:r>
          </a:p>
          <a:p xmlns:a="http://schemas.openxmlformats.org/drawingml/2006/main">
            <a:r>
              <a:t/>
            </a:r>
          </a:p>
          <a:p xmlns:a="http://schemas.openxmlformats.org/drawingml/2006/main">
            <a:r>
              <a:t>**왜 필요한가.** 작은 오타를 찾는 과정은 화면이 여러 파일의 연결로 만들어진다는 사실을 보여 줍니다.</a:t>
            </a:r>
          </a:p>
          <a:p xmlns:a="http://schemas.openxmlformats.org/drawingml/2006/main">
            <a:r>
              <a:t/>
            </a:r>
          </a:p>
          <a:p xmlns:a="http://schemas.openxmlformats.org/drawingml/2006/main">
            <a:r>
              <a:t>**예를 따라 읽기.** 복사본의 id ="check"를 id ="checkx"로 바꾸면 #check 선택과 어긋납니다. 원복하면 클릭이 돌아옵니다.</a:t>
            </a:r>
          </a:p>
          <a:p xmlns:a="http://schemas.openxmlformats.org/drawingml/2006/main">
            <a:r>
              <a:t/>
            </a:r>
          </a:p>
          <a:p xmlns:a="http://schemas.openxmlformats.org/drawingml/2006/main">
            <a:r>
              <a:t>**헷갈리는 반례.** 정상 원본까지 고치면 비교 기준을 잃으므로 의도적 오류는 작업 복사본에만 만듭니다.</a:t>
            </a:r>
          </a:p>
          <a:p xmlns:a="http://schemas.openxmlformats.org/drawingml/2006/main">
            <a:r>
              <a:t/>
            </a:r>
          </a:p>
          <a:p xmlns:a="http://schemas.openxmlformats.org/drawingml/2006/main">
            <a:r>
              <a:t>**직접 적용.** 복사본에서 id 한 글자 바꾸기 → 클릭 반응이 없는 증상 관찰하기 → HTML과 JavaScript 이름 대조하기 → 원복 후 같은 행동으로 재확인하기</a:t>
            </a:r>
          </a:p>
          <a:p xmlns:a="http://schemas.openxmlformats.org/drawingml/2006/main">
            <a:r>
              <a:t/>
            </a:r>
          </a:p>
          <a:p xmlns:a="http://schemas.openxmlformats.org/drawingml/2006/main">
            <a:r>
              <a:t>**설명할 질문.** 원복 후에도 같은 행동으로 확인해야 하는 이유는 무엇인가요?</a:t>
            </a:r>
          </a:p>
          <a:p xmlns:a="http://schemas.openxmlformats.org/drawingml/2006/main">
            <a:r>
              <a:t/>
            </a:r>
          </a:p>
          <a:p xmlns:a="http://schemas.openxmlformats.org/drawingml/2006/main">
            <a:r>
              <a:t>**막혔을 때.** 개발자 도구가 익숙하지 않으면 먼저 원문 이름 비교로 찾고 강사가 콘솔 오류를 보여 줍니다.</a:t>
            </a:r>
          </a:p>
          <a:p xmlns:a="http://schemas.openxmlformats.org/drawingml/2006/main">
            <a:r>
              <a:t/>
            </a:r>
          </a:p>
          <a:p xmlns:a="http://schemas.openxmlformats.org/drawingml/2006/main">
            <a:r>
              <a:t>입력·답칸·확인 순서는 [실습지의 A09](practice-guide.md#a09)와 [활동 원문](examples/course/data/A09_input.md)에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id를 유지하거나 선택자를 함께 맞춥니다.</a:t>
            </a:r>
          </a:p>
          <a:p xmlns:a="http://schemas.openxmlformats.org/drawingml/2006/main">
            <a:r>
              <a:t/>
            </a:r>
          </a:p>
          <a:p xmlns:a="http://schemas.openxmlformats.org/drawingml/2006/main">
            <a:r>
              <a:t>표와 문장을 읽는 방법: 증상과 원인을 먼저 나누어 읽습니다. 연결 이름 한 곳을 대조해 복구합니다.</a:t>
            </a:r>
          </a:p>
          <a:p xmlns:a="http://schemas.openxmlformats.org/drawingml/2006/main">
            <a:r>
              <a:t>예상 결과: 이름을 맞춘 뒤 같은 버튼을 눌러 봅니다. 원문만 읽고 동작 복구를 단정하지 않습니다.</a:t>
            </a:r>
          </a:p>
          <a:p xmlns:a="http://schemas.openxmlformats.org/drawingml/2006/main">
            <a:r>
              <a:t/>
            </a:r>
          </a:p>
          <a:p xmlns:a="http://schemas.openxmlformats.org/drawingml/2006/main">
            <a:r>
              <a:t>판단 해설: id를 check로 돌리거나 선택자를 #read로 맞춥니다. 제공 연결 경로를 유지하는 최소 변경을 우선하고 실제 클릭으로 결과를 확인합니다.</a:t>
            </a:r>
          </a:p>
          <a:p xmlns:a="http://schemas.openxmlformats.org/drawingml/2006/main">
            <a:r>
              <a:t>학생이 각 행의 입력과 출력을 자신의 말로 연결하게 합니다. 이름이 같은 파일을 다른 폴더에서 읽지 않았는지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이름을 맞춘 뒤 같은 버튼을 눌러 봅니다. 원문만 읽고 동작 복구를 단정하지 않습니다.</a:t>
            </a:r>
          </a:p>
          <a:p xmlns:a="http://schemas.openxmlformats.org/drawingml/2006/main">
            <a:r>
              <a:t/>
            </a:r>
          </a:p>
          <a:p xmlns:a="http://schemas.openxmlformats.org/drawingml/2006/main">
            <a:r>
              <a:t>개념과 연결: 증상과 원인을 먼저 나누어 읽습니다. 연결 이름 한 곳을 대조해 복구합니다.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id를 check로 돌리거나 선택자를 #read로 맞춥니다. 제공 연결 경로를 유지하는 최소 변경을 우선하고 실제 클릭으로 결과를 확인합니다.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id가 read이고 선택자가 #check입니다. 두 가지 복구 방법을 설명해 보세요.</a:t>
            </a:r>
          </a:p>
          <a:p xmlns:a="http://schemas.openxmlformats.org/drawingml/2006/main">
            <a:r>
              <a:t/>
            </a:r>
          </a:p>
          <a:p xmlns:a="http://schemas.openxmlformats.org/drawingml/2006/main">
            <a:r>
              <a:t>정답과 풀이: id를 check로 돌리거나 선택자를 #read로 맞춥니다. 제공 연결 경로를 유지하는 최소 변경을 우선하고 실제 클릭으로 결과를 확인합니다.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4교시 주제는 React의 화면 부품입니다. 운영: 50분 × 6교시입니다. 필수 결과를 먼저 확인하고 독립 문제는 추가 복습으로 사용합니다.</a:t>
            </a:r>
          </a:p>
          <a:p xmlns:a="http://schemas.openxmlformats.org/drawingml/2006/main">
            <a:r>
              <a:t/>
            </a:r>
          </a:p>
          <a:p xmlns:a="http://schemas.openxmlformats.org/drawingml/2006/main">
            <a:r>
              <a:t>시연 → 함께 따라 하기 → 한 값 수정 → 예상과 실제 비교 → 자기 말로 설명 순서로 진행합니다. 오늘 필수 활동과 추가 활동은 beginner-start의 해당 교시 표를 확인합니다. 모든 장을 50분 안에 끝냈다고 가정하지 않습니다. 설치 문제가 있으면 동일한 제공 입력과 출력으로 수동 추적하고 개인 실행 여부를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JSX 작성에는 변환 단계가 필요합니다. 제공 번들은 브라우저가 실행합니다.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A10의 개념과 원문 해설입니다.</a:t>
            </a:r>
          </a:p>
          <a:p xmlns:a="http://schemas.openxmlformats.org/drawingml/2006/main">
            <a:r>
              <a:t>### A10 · React와 컴포넌트</a:t>
            </a:r>
          </a:p>
          <a:p xmlns:a="http://schemas.openxmlformats.org/drawingml/2006/main">
            <a:r>
              <a:t/>
            </a:r>
          </a:p>
          <a:p xmlns:a="http://schemas.openxmlformats.org/drawingml/2006/main">
            <a:r>
              <a:t>#### 사례로 이해하기 · React 부품과 브라우저가 실행하는 파일</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센서 카드를 여러 장소에 쓰려 합니다. 카드마다 제목과 온도를 직접 복사하면 한 곳을 고칠 때 다른 곳도 찾아야 합니다. 공통 화면 부품에 장소 값을 전달하면 구조를 재사용할 수 있습니다. 다만 소스 파일과 실제 실행 파일이 다르면 소스만 고치고 화면이 바뀌었다고 기대해서는 안 됩니다.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React 컴포넌트는 화면을 만드는 함수이며 props는 바깥에서 그 부품에 전달하는 값입니다. state는 화면 부품이 기억하고 바꾸는 현재 값입니다. JSX는 JavaScript 안에서 화면 구조를 적는 문법입니다. 일반 브라우저는 JSX가 들어 있는 .jsx 소스를 그대로 실행하지 못하며 변환 단계가 필요합니다. 번들은 변환된 코드와 필요한 라이브러리를 묶어 브라우저가 읽도록 만든 파일입니다. 제공 index.html은 app.bundle.js를 실행합니다.</a:t>
            </a:r>
          </a:p>
          <a:p xmlns:a="http://schemas.openxmlformats.org/drawingml/2006/main">
            <a:r>
              <a:t/>
            </a:r>
          </a:p>
          <a:p xmlns:a="http://schemas.openxmlformats.org/drawingml/2006/main">
            <a:r>
              <a:t>#### 완성 예와 풀이</a:t>
            </a:r>
          </a:p>
          <a:p xmlns:a="http://schemas.openxmlformats.org/drawingml/2006/main">
            <a:r>
              <a:t/>
            </a:r>
          </a:p>
          <a:p xmlns:a="http://schemas.openxmlformats.org/drawingml/2006/main">
            <a:r>
              <a:t>App.jsx의 `&lt;SensorCard location={window.SENSOR.location} /&gt;`은 같은 부품에 장소를 전달합니다. SensorCard 안에서 useState는 SENSOR.temperature_c를 시작 값으로 기억합니다. 클릭은 setTemperature로 현재 값을 0.5 올립니다. 제공 데이터가 22.5라면 두 번 클릭 뒤 23.5가 보이며 새로고침하면 22.5로 돌아옵니다. 클릭이 data.js나 센서 장비에 저장한 것은 아닙니다. data.js는 HTML이 별도로 읽으므로 장소를 바꿔 저장·새로고침하면 반영됩니다. App.jsx의 문구나 증가량을 바꾸려면 번들을 다시 만드는 환경이 필요하고 오늘 필수 활동은 제공 번들을 사용합니다.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“장소 이름 바꾸기”, “클릭한 현재 온도 올리기”, “증가량을 1로 바꾸기”를 데이터 파일·상태 변경·소스와 번들 재생성에 각각 연결하세요. 원래 값이 24라면 세 번 클릭과 새로고침 뒤의 값도 예상하세요.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장소는 data.js, 현재 값은 브라우저 state, 증가량은 App.jsx 수정과 빌드가 필요합니다. 세 번 뒤 25.5이고 새로고침 뒤 24입니다. “JSX는 HTML과 같아서 파일을 열면 된다”는 답은 변환을 빠뜨렸습니다. “클릭값이 저장됐다”는 답은 메모리와 파일을 혼동합니다.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props와 state는 같은가요? 전달 입력과 부품의 현재 기억입니다. ② 번들을 직접 고치나요? 생성 결과보다 소스를 수정하고 다시 만드는 경로가 기준입니다. ③ React가 MCP를 자동 호출하나요? 별도 연결 처리 없이는 호출하지 않습니다.</a:t>
            </a:r>
          </a:p>
          <a:p xmlns:a="http://schemas.openxmlformats.org/drawingml/2006/main">
            <a:r>
              <a:t/>
            </a:r>
          </a:p>
          <a:p xmlns:a="http://schemas.openxmlformats.org/drawingml/2006/main">
            <a:r>
              <a:t>**뜻과 비유.** React는 데이터와 상태를 이용해 화면을 구성하는 JavaScript 라이브러리입니다. 컴포넌트는 내용과 동작을 함께 설명하는 재사용 가능한 화면 부품입니다.</a:t>
            </a:r>
          </a:p>
          <a:p xmlns:a="http://schemas.openxmlformats.org/drawingml/2006/main">
            <a:r>
              <a:t/>
            </a:r>
          </a:p>
          <a:p xmlns:a="http://schemas.openxmlformats.org/drawingml/2006/main">
            <a:r>
              <a:t>**왜 필요한가.** 같은 센서 안내 형식을 여러 곳에 쓸 때 각 부품의 입력과 상태를 구분할 수 있습니다.</a:t>
            </a:r>
          </a:p>
          <a:p xmlns:a="http://schemas.openxmlformats.org/drawingml/2006/main">
            <a:r>
              <a:t/>
            </a:r>
          </a:p>
          <a:p xmlns:a="http://schemas.openxmlformats.org/drawingml/2006/main">
            <a:r>
              <a:t>**예를 따라 읽기.** SensorCard는 장소와 온도를 보여 주는 제공된 완성 부품입니다. App은 제목과 이 부품을 화면에 배치합니다.</a:t>
            </a:r>
          </a:p>
          <a:p xmlns:a="http://schemas.openxmlformats.org/drawingml/2006/main">
            <a:r>
              <a:t/>
            </a:r>
          </a:p>
          <a:p xmlns:a="http://schemas.openxmlformats.org/drawingml/2006/main">
            <a:r>
              <a:t>**헷갈리는 반례.** React는 HTML이나 CSS를 없애는 도구가 아니며 화면의 내용과 모양을 여전히 이해해야 합니다.</a:t>
            </a:r>
          </a:p>
          <a:p xmlns:a="http://schemas.openxmlformats.org/drawingml/2006/main">
            <a:r>
              <a:t/>
            </a:r>
          </a:p>
          <a:p xmlns:a="http://schemas.openxmlformats.org/drawingml/2006/main">
            <a:r>
              <a:t>**직접 적용.** code/react/index.html 실행하기 → App.jsx에서 두 함수 이름 찾기 → 제목·SensorCard·안내문 위치 연결하기 → 정적 화면과 React 부품의 공통점 적기</a:t>
            </a:r>
          </a:p>
          <a:p xmlns:a="http://schemas.openxmlformats.org/drawingml/2006/main">
            <a:r>
              <a:t/>
            </a:r>
          </a:p>
          <a:p xmlns:a="http://schemas.openxmlformats.org/drawingml/2006/main">
            <a:r>
              <a:t>**설명할 질문.** 컴포넌트는 표의 데이터 한 행과 같은 말인가요?</a:t>
            </a:r>
          </a:p>
          <a:p xmlns:a="http://schemas.openxmlformats.org/drawingml/2006/main">
            <a:r>
              <a:t/>
            </a:r>
          </a:p>
          <a:p xmlns:a="http://schemas.openxmlformats.org/drawingml/2006/main">
            <a:r>
              <a:t>**막혔을 때.** 패키지 설치가 없어도 제공 app.bundle.js로 화면을 볼 수 있습니다. JSX를 브라우저가 그대로 읽는다고 가정하지 않습니다.</a:t>
            </a:r>
          </a:p>
          <a:p xmlns:a="http://schemas.openxmlformats.org/drawingml/2006/main">
            <a:r>
              <a:t/>
            </a:r>
          </a:p>
          <a:p xmlns:a="http://schemas.openxmlformats.org/drawingml/2006/main">
            <a:r>
              <a:t>입력·답칸·확인 순서는 [실습지의 A10](practice-guide.md#a10)와 [활동 원문](examples/course/data/A10_input.md)에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React의 화면 부품의 예</a:t>
            </a:r>
          </a:p>
          <a:p xmlns:a="http://schemas.openxmlformats.org/drawingml/2006/main">
            <a:r>
              <a:t>JSX 발췌. 브라우저는 제공 번들을 실행합니다.</a:t>
            </a:r>
          </a:p>
          <a:p xmlns:a="http://schemas.openxmlformats.org/drawingml/2006/main">
            <a:r>
              <a:t/>
            </a:r>
          </a:p>
          <a:p xmlns:a="http://schemas.openxmlformats.org/drawingml/2006/main">
            <a:r>
              <a:t>&lt;SensorCard location={window.SENSOR.location} /&gt;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예상과 확인: App.jsx는 작성 소스입니다. app.bundle.js는 변환한 실행 파일입니다. JSX를 일반 브라우저가 그대로 실행하지 못합니다.</a:t>
            </a:r>
          </a:p>
          <a:p xmlns:a="http://schemas.openxmlformats.org/drawingml/2006/main">
            <a:r>
              <a:t>판단 해설: 아닙니다. source를 바꾼 뒤 번들을 다시 만드는 환경이 필요합니다. 설치와 전체 앱 작성은 필수가 아니며 제공 index.html은 data.js와 app.bundle.js를 로드합니다.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&lt;SensorCard location={window.SENSOR.location} /&gt;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App.jsx는 작성 소스입니다. app.bundle.js는 변환한 실행 파일입니다. JSX를 일반 브라우저가 그대로 실행하지 못합니다.</a:t>
            </a:r>
          </a:p>
          <a:p xmlns:a="http://schemas.openxmlformats.org/drawingml/2006/main">
            <a:r>
              <a:t/>
            </a:r>
          </a:p>
          <a:p xmlns:a="http://schemas.openxmlformats.org/drawingml/2006/main">
            <a:r>
              <a:t>개념과 연결: 컴포넌트는 재사용하는 화면 함수입니다. props는 부품에 전달하는 입력입니다.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아닙니다. source를 바꾼 뒤 번들을 다시 만드는 환경이 필요합니다. 설치와 전체 앱 작성은 필수가 아니며 제공 index.html은 data.js와 app.bundle.js를 로드합니다.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App.jsx만 고치고 번들은 그대로입니다. 화면이 바뀌었다고 판단할 수 있나요?</a:t>
            </a:r>
          </a:p>
          <a:p xmlns:a="http://schemas.openxmlformats.org/drawingml/2006/main">
            <a:r>
              <a:t/>
            </a:r>
          </a:p>
          <a:p xmlns:a="http://schemas.openxmlformats.org/drawingml/2006/main">
            <a:r>
              <a:t>정답과 풀이: 아닙니다. source를 바꾼 뒤 번들을 다시 만드는 환경이 필요합니다. 설치와 전체 앱 작성은 필수가 아니며 제공 index.html은 data.js와 app.bundle.js를 로드합니다.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A11의 개념과 원문 해설입니다.</a:t>
            </a:r>
          </a:p>
          <a:p xmlns:a="http://schemas.openxmlformats.org/drawingml/2006/main">
            <a:r>
              <a:t>### A11 · props와 제공 데이터 수정</a:t>
            </a:r>
          </a:p>
          <a:p xmlns:a="http://schemas.openxmlformats.org/drawingml/2006/main">
            <a:r>
              <a:t/>
            </a:r>
          </a:p>
          <a:p xmlns:a="http://schemas.openxmlformats.org/drawingml/2006/main">
            <a:r>
              <a:t>**뜻과 비유.** props는 부모가 부품에 전달하는 입력입니다. 오늘은 장소를 전달하고 온도의 첫 값을 제공 데이터에서 읽는 작은 완성 예제를 사용합니다.</a:t>
            </a:r>
          </a:p>
          <a:p xmlns:a="http://schemas.openxmlformats.org/drawingml/2006/main">
            <a:r>
              <a:t/>
            </a:r>
          </a:p>
          <a:p xmlns:a="http://schemas.openxmlformats.org/drawingml/2006/main">
            <a:r>
              <a:t>**왜 필요한가.** 부품을 처음부터 새로 만들지 않아도 어떤 입력을 바꾸면 어느 화면이 달라지는지 확인할 수 있습니다.</a:t>
            </a:r>
          </a:p>
          <a:p xmlns:a="http://schemas.openxmlformats.org/drawingml/2006/main">
            <a:r>
              <a:t/>
            </a:r>
          </a:p>
          <a:p xmlns:a="http://schemas.openxmlformats.org/drawingml/2006/main">
            <a:r>
              <a:t>**예를 따라 읽기.** work/react/data.js에서 location을 창고,temperature_c를 24.5로 바꾸고 새로고침하면 부품의 내용이 바뀝니다.</a:t>
            </a:r>
          </a:p>
          <a:p xmlns:a="http://schemas.openxmlformats.org/drawingml/2006/main">
            <a:r>
              <a:t/>
            </a:r>
          </a:p>
          <a:p xmlns:a="http://schemas.openxmlformats.org/drawingml/2006/main">
            <a:r>
              <a:t>**헷갈리는 반례.** JSX의 중괄호는 여기서 JavaScript 값을 넣는 자리이며 CSS 규칙의 중괄호와 역할이 다릅니다.</a:t>
            </a:r>
          </a:p>
          <a:p xmlns:a="http://schemas.openxmlformats.org/drawingml/2006/main">
            <a:r>
              <a:t/>
            </a:r>
          </a:p>
          <a:p xmlns:a="http://schemas.openxmlformats.org/drawingml/2006/main">
            <a:r>
              <a:t>**직접 적용.** 작업 React 폴더 열기 → data.js의 장소와 온도 수정하기 → 새로고침 해두 표시 비교하기 → props로 전달되는 장소 경로 쓰기</a:t>
            </a:r>
          </a:p>
          <a:p xmlns:a="http://schemas.openxmlformats.org/drawingml/2006/main">
            <a:r>
              <a:t/>
            </a:r>
          </a:p>
          <a:p xmlns:a="http://schemas.openxmlformats.org/drawingml/2006/main">
            <a:r>
              <a:t>**설명할 질문.** 같은 부품을 다른 장소에 쓰려면 어떤 입력을 바꿀까요?</a:t>
            </a:r>
          </a:p>
          <a:p xmlns:a="http://schemas.openxmlformats.org/drawingml/2006/main">
            <a:r>
              <a:t/>
            </a:r>
          </a:p>
          <a:p xmlns:a="http://schemas.openxmlformats.org/drawingml/2006/main">
            <a:r>
              <a:t>**막혔을 때.** 수정한 data.js가 code인지 work인지 확인합니다. 변경 값을 읽는 곳은 현재 열린 HTML 과 같은 폴더입니다.</a:t>
            </a:r>
          </a:p>
          <a:p xmlns:a="http://schemas.openxmlformats.org/drawingml/2006/main">
            <a:r>
              <a:t/>
            </a:r>
          </a:p>
          <a:p xmlns:a="http://schemas.openxmlformats.org/drawingml/2006/main">
            <a:r>
              <a:t>입력·답칸·확인 순서는 [실습지의 A11](practice-guide.md#a11)와 [활동 원문](examples/course/data/A11_input.md)에 있습니다.</a:t>
            </a:r>
          </a:p>
          <a:p xmlns:a="http://schemas.openxmlformats.org/drawingml/2006/main">
            <a:r>
              <a:t/>
            </a:r>
          </a:p>
          <a:p xmlns:a="http://schemas.openxmlformats.org/drawingml/2006/main">
            <a:r>
              <a:t>#### 작업 화면으로 전환하기 · A10 → A11</a:t>
            </a:r>
          </a:p>
          <a:p xmlns:a="http://schemas.openxmlformats.org/drawingml/2006/main">
            <a:r>
              <a:t/>
            </a:r>
          </a:p>
          <a:p xmlns:a="http://schemas.openxmlformats.org/drawingml/2006/main">
            <a:r>
              <a:t>탐색기에서 `course/work/react/index.html`을 브라우저로 엽니다. 주소에 **work/react/index.html**이 있는지 확인하고 기록합니다. 같은 폴더의 `data.js`를 수정·저장한 뒤 이 작업 탭을 새로고침합니다. 장소 `창고`, 온도 `24.5`가 보이는지 비교합니다. A10의 code/react 탭은 원본이므로 작업 수정이 반영되지 않습니다. App.jsx 재빌드는 선택입니다.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장소를 props로 전달의 예</a:t>
            </a:r>
          </a:p>
          <a:p xmlns:a="http://schemas.openxmlformats.org/drawingml/2006/main">
            <a:r>
              <a:t>work/react/data.js의 가상 데이터</a:t>
            </a:r>
          </a:p>
          <a:p xmlns:a="http://schemas.openxmlformats.org/drawingml/2006/main">
            <a:r>
              <a:t/>
            </a:r>
          </a:p>
          <a:p xmlns:a="http://schemas.openxmlformats.org/drawingml/2006/main">
            <a:r>
              <a:t>window.SENSOR =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sensor_id: "S01",</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location: "창고",</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temperature_c: 22.5</a:t>
            </a:r>
          </a:p>
          <a:p xmlns:a="http://schemas.openxmlformats.org/drawingml/2006/main">
            <a:r>
              <a:t>뜻: temperature_c는 섭씨 가상 값 필드이다. 숫자와 따옴표 문자열·null을 구별한다.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예상과 확인: 저장·새로고침 뒤 창고 센서로 보입니다. data.js는 HTML이 별도로 읽습니다.</a:t>
            </a:r>
          </a:p>
          <a:p xmlns:a="http://schemas.openxmlformats.org/drawingml/2006/main">
            <a:r>
              <a:t>판단 해설: work/react/data.js의 location을 바꿉니다. 실제 열린 HTML과 같은 폴더의 데이터인지 확인합니다. 코드를 가진 code 폴더는 보존합니다.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window.SENSOR =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sensor_id: "S01",</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location: "창고",</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temperature_c: 22.5</a:t>
            </a:r>
          </a:p>
          <a:p xmlns:a="http://schemas.openxmlformats.org/drawingml/2006/main">
            <a:r>
              <a:t>뜻: temperature_c는 섭씨 가상 값 필드이다. 숫자와 따옴표 문자열·null을 구별한다.</a:t>
            </a:r>
          </a:p>
          <a:p xmlns:a="http://schemas.openxmlformats.org/drawingml/2006/main">
            <a:r>
              <a:t/>
            </a:r>
          </a:p>
          <a:p xmlns:a="http://schemas.openxmlformats.org/drawingml/2006/main">
            <a:r>
              <a:t>};</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저장·새로고침 뒤 창고 센서로 보입니다. data.js는 HTML이 별도로 읽습니다.</a:t>
            </a:r>
          </a:p>
          <a:p xmlns:a="http://schemas.openxmlformats.org/drawingml/2006/main">
            <a:r>
              <a:t/>
            </a:r>
          </a:p>
          <a:p xmlns:a="http://schemas.openxmlformats.org/drawingml/2006/main">
            <a:r>
              <a:t>개념과 연결: SENSOR.location을 부품에 전달합니다. 같은 부품을 다른 장소에도 사용합니다.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work/react/data.js의 location을 바꿉니다. 실제 열린 HTML과 같은 폴더의 데이터인지 확인합니다. 코드를 가진 code 폴더는 보존합니다.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같은 SensorCard를 실습실에 쓰려면? 어떤 제공 입력을 바꿀까요?</a:t>
            </a:r>
          </a:p>
          <a:p xmlns:a="http://schemas.openxmlformats.org/drawingml/2006/main">
            <a:r>
              <a:t/>
            </a:r>
          </a:p>
          <a:p xmlns:a="http://schemas.openxmlformats.org/drawingml/2006/main">
            <a:r>
              <a:t>정답과 풀이: work/react/data.js의 location을 바꿉니다. 실제 열린 HTML과 같은 폴더의 데이터인지 확인합니다. 코드를 가진 code 폴더는 보존합니다.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A12의 개념과 원문 해설입니다.</a:t>
            </a:r>
          </a:p>
          <a:p xmlns:a="http://schemas.openxmlformats.org/drawingml/2006/main">
            <a:r>
              <a:t>### A12 · 상태와 화면의 다시 그리기</a:t>
            </a:r>
          </a:p>
          <a:p xmlns:a="http://schemas.openxmlformats.org/drawingml/2006/main">
            <a:r>
              <a:t/>
            </a:r>
          </a:p>
          <a:p xmlns:a="http://schemas.openxmlformats.org/drawingml/2006/main">
            <a:r>
              <a:t>**뜻과 비유.** 상태는 컴포넌트가 기억하는 값입니다. useState는 현재 값과 그 값을 바꾸는 함수를 제공하며 상태 변경에 따라 화면이 다시 계산됩니다.</a:t>
            </a:r>
          </a:p>
          <a:p xmlns:a="http://schemas.openxmlformats.org/drawingml/2006/main">
            <a:r>
              <a:t/>
            </a:r>
          </a:p>
          <a:p xmlns:a="http://schemas.openxmlformats.org/drawingml/2006/main">
            <a:r>
              <a:t>**왜 필요한가.** 화면 글자를 직접 찾는 방식과 상태를 바꿔 화면을 설명하는 방식의 차이를 작은 클릭으로 관찰합니다.</a:t>
            </a:r>
          </a:p>
          <a:p xmlns:a="http://schemas.openxmlformats.org/drawingml/2006/main">
            <a:r>
              <a:t/>
            </a:r>
          </a:p>
          <a:p xmlns:a="http://schemas.openxmlformats.org/drawingml/2006/main">
            <a:r>
              <a:t>**예를 따라 읽기.** 0.5 올린 모의값 버튼을 누르면 22.5 →23.0처럼 상태가 바뀝니다. 이것은 실제 센서 측정이 아닙니다.</a:t>
            </a:r>
          </a:p>
          <a:p xmlns:a="http://schemas.openxmlformats.org/drawingml/2006/main">
            <a:r>
              <a:t/>
            </a:r>
          </a:p>
          <a:p xmlns:a="http://schemas.openxmlformats.org/drawingml/2006/main">
            <a:r>
              <a:t>**헷갈리는 반례.** 새로고침하면 서버에 저장한 값이 아니라 data.js의 초기 값으로 돌아갑니다.</a:t>
            </a:r>
          </a:p>
          <a:p xmlns:a="http://schemas.openxmlformats.org/drawingml/2006/main">
            <a:r>
              <a:t/>
            </a:r>
          </a:p>
          <a:p xmlns:a="http://schemas.openxmlformats.org/drawingml/2006/main">
            <a:r>
              <a:t>**직접 적용.** useState와 setTemperature 위치 찾기 → 클릭 전후 숫자 예상하기 → 두 번 클릭한 값과 실제 비교하기 → 새로고침 뒤 초기화 이유 설명하기</a:t>
            </a:r>
          </a:p>
          <a:p xmlns:a="http://schemas.openxmlformats.org/drawingml/2006/main">
            <a:r>
              <a:t/>
            </a:r>
          </a:p>
          <a:p xmlns:a="http://schemas.openxmlformats.org/drawingml/2006/main">
            <a:r>
              <a:t>**설명할 질문.** 상태 변경과 파일 저장은 어떤 차이가 있나요?</a:t>
            </a:r>
          </a:p>
          <a:p xmlns:a="http://schemas.openxmlformats.org/drawingml/2006/main">
            <a:r>
              <a:t/>
            </a:r>
          </a:p>
          <a:p xmlns:a="http://schemas.openxmlformats.org/drawingml/2006/main">
            <a:r>
              <a:t>**막혔을 때.** 버튼을 누른 값이 파일에 저장됐다고 생각되면 data.js 원문을 다시 열어 비교합니다.</a:t>
            </a:r>
          </a:p>
          <a:p xmlns:a="http://schemas.openxmlformats.org/drawingml/2006/main">
            <a:r>
              <a:t/>
            </a:r>
          </a:p>
          <a:p xmlns:a="http://schemas.openxmlformats.org/drawingml/2006/main">
            <a:r>
              <a:t>입력·답칸·확인 순서는 [실습지의 A12](practice-guide.md#a12)와 [활동 원문](examples/course/data/A12_input.md)에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현재 값 기억하기의 예</a:t>
            </a:r>
          </a:p>
          <a:p xmlns:a="http://schemas.openxmlformats.org/drawingml/2006/main">
            <a:r>
              <a:t>발췌: SensorCard 안의 상태 시작 부분</a:t>
            </a:r>
          </a:p>
          <a:p xmlns:a="http://schemas.openxmlformats.org/drawingml/2006/main">
            <a:r>
              <a:t/>
            </a:r>
          </a:p>
          <a:p xmlns:a="http://schemas.openxmlformats.org/drawingml/2006/main">
            <a:r>
              <a:t>const [temperature, setTemperature]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useState(window.SENSOR.temperature_c);</a:t>
            </a:r>
          </a:p>
          <a:p xmlns:a="http://schemas.openxmlformats.org/drawingml/2006/main">
            <a:r>
              <a:t>뜻: temperature_c는 섭씨 가상 값 필드이다. 숫자와 따옴표 문자열·null을 구별한다.</a:t>
            </a:r>
          </a:p>
          <a:p xmlns:a="http://schemas.openxmlformats.org/drawingml/2006/main">
            <a:r>
              <a:t/>
            </a:r>
          </a:p>
          <a:p xmlns:a="http://schemas.openxmlformats.org/drawingml/2006/main">
            <a:r>
              <a:t>예상과 확인: 22.5에서 두 번 클릭하면 23.5입니다. 새로고침하면 처음 값 22.5로 돌아옵니다.</a:t>
            </a:r>
          </a:p>
          <a:p xmlns:a="http://schemas.openxmlformats.org/drawingml/2006/main">
            <a:r>
              <a:t>판단 해설: 25.5, 새로고침 후24입니다. 기존 App.jsx의 setTemperature(temperature+0.5)가 클릭을 처리합니다. useState는 현재 브라우저 메모리의 상태이며 파일이나 서버 저장과 다릅니다.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const [temperature, setTemperature] =</a:t>
            </a:r>
          </a:p>
          <a:p xmlns:a="http://schemas.openxmlformats.org/drawingml/2006/main">
            <a:r>
              <a:t>뜻: 이 줄의 태그·속성·괄호·기호는 원문 전체와 함께 읽는다. 다른 파일의 동일 이름과 연결이 필요한지 확인한다.</a:t>
            </a:r>
          </a:p>
          <a:p xmlns:a="http://schemas.openxmlformats.org/drawingml/2006/main">
            <a:r>
              <a:t/>
            </a:r>
          </a:p>
          <a:p xmlns:a="http://schemas.openxmlformats.org/drawingml/2006/main">
            <a:r>
              <a:t>  useState(window.SENSOR.temperature_c);</a:t>
            </a:r>
          </a:p>
          <a:p xmlns:a="http://schemas.openxmlformats.org/drawingml/2006/main">
            <a:r>
              <a:t>뜻: temperature_c는 섭씨 가상 값 필드이다. 숫자와 따옴표 문자열·null을 구별한다.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22.5에서 두 번 클릭하면 23.5입니다. 새로고침하면 처음 값 22.5로 돌아옵니다.</a:t>
            </a:r>
          </a:p>
          <a:p xmlns:a="http://schemas.openxmlformats.org/drawingml/2006/main">
            <a:r>
              <a:t/>
            </a:r>
          </a:p>
          <a:p xmlns:a="http://schemas.openxmlformats.org/drawingml/2006/main">
            <a:r>
              <a:t>개념과 연결: state는 화면 부품이 기억하는 현재 값입니다. 클릭으로 바꿔도 파일을 저장하지 않습니다.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25.5, 새로고침 후24입니다. 기존 App.jsx의 setTemperature(temperature+0.5)가 클릭을 처리합니다. useState는 현재 브라우저 메모리의 상태이며 파일이나 서버 저장과 다릅니다.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처음 24에서 0.5 버튼을 세 번 누르면? 새로고침 뒤에는 얼마인가요?</a:t>
            </a:r>
          </a:p>
          <a:p xmlns:a="http://schemas.openxmlformats.org/drawingml/2006/main">
            <a:r>
              <a:t/>
            </a:r>
          </a:p>
          <a:p xmlns:a="http://schemas.openxmlformats.org/drawingml/2006/main">
            <a:r>
              <a:t>정답과 풀이: 25.5, 새로고침 후24입니다. 기존 App.jsx의 setTemperature(temperature+0.5)가 클릭을 처리합니다. useState는 현재 브라우저 메모리의 상태이며 파일이나 서버 저장과 다릅니다.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5교시 주제는 MCP 요청과 응답입니다. 운영: 50분 × 6교시입니다. 필수 결과를 먼저 확인하고 독립 문제는 추가 복습으로 사용합니다.</a:t>
            </a:r>
          </a:p>
          <a:p xmlns:a="http://schemas.openxmlformats.org/drawingml/2006/main">
            <a:r>
              <a:t/>
            </a:r>
          </a:p>
          <a:p xmlns:a="http://schemas.openxmlformats.org/drawingml/2006/main">
            <a:r>
              <a:t>시연 → 함께 따라 하기 → 한 값 수정 → 예상과 실제 비교 → 자기 말로 설명 순서로 진행합니다. 오늘 필수 활동과 추가 활동은 beginner-start의 해당 교시 표를 확인합니다. 모든 장을 50분 안에 끝냈다고 가정하지 않습니다. 설치 문제가 있으면 동일한 제공 입력과 출력으로 수동 추적하고 개인 실행 여부를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직접 읽기와 MCP 경로를 비교합니다. 연결 가능성과 쓰기 허용을 구별합니다.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A13의 개념과 원문 해설입니다.</a:t>
            </a:r>
          </a:p>
          <a:p xmlns:a="http://schemas.openxmlformats.org/drawingml/2006/main">
            <a:r>
              <a:t>### A13 · MCP의 호스트·클라이언트·서버</a:t>
            </a:r>
          </a:p>
          <a:p xmlns:a="http://schemas.openxmlformats.org/drawingml/2006/main">
            <a:r>
              <a:t/>
            </a:r>
          </a:p>
          <a:p xmlns:a="http://schemas.openxmlformats.org/drawingml/2006/main">
            <a:r>
              <a:t>#### 사례로 이해하기 · 직접 연결과 MCP 연결을 비교한 뒤 권한 정하기</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온도 안내판이 기록을 보여 주는 방법에는 파일을 직접 읽는 경로, 서버 API를 호출하는 경로, AI 도구가 MCP 서버를 통해 기록을 조회하는 경로가 있습니다. 화면 모양은 비슷해도 중간 프로그램과 권한은 다릅니다. 연결을 그렸다는 사실만으로 실제 호출이 구현되었다고 보고하지 않습니다.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MCP는 AI 애플리케이션이 도구와 자료에 접근할 때 주고받는 메시지의 공통 약속입니다. 호스트는 AI 애플리케이션, 클라이언트는 서버와 통신하는 부분, 서버는 도구와 자료를 제공하는 프로그램입니다. 직접 파일 읽기는 공통 프로토콜 없이 해당 파일 구조를 알아야 합니다. MCP는 초기화·도구 목록·호출 같은 약속을 공유하지만 모든 서버가 같은 자료나 권한을 갖지는 않습니다. 연결 가능성과 쓰기 허용도 별개입니다.</a:t>
            </a:r>
          </a:p>
          <a:p xmlns:a="http://schemas.openxmlformats.org/drawingml/2006/main">
            <a:r>
              <a:t/>
            </a:r>
          </a:p>
          <a:p xmlns:a="http://schemas.openxmlformats.org/drawingml/2006/main">
            <a:r>
              <a:t>#### 완성 예와 단계 풀이</a:t>
            </a:r>
          </a:p>
          <a:p xmlns:a="http://schemas.openxmlformats.org/drawingml/2006/main">
            <a:r>
              <a:t/>
            </a:r>
          </a:p>
          <a:p xmlns:a="http://schemas.openxmlformats.org/drawingml/2006/main">
            <a:r>
              <a:t>오늘은 mcp_client.py가 로컬 mcp_server.py를 실행하여 표준 입력과 표준 출력으로 메시지를 주고받습니다. initialize 요청에 id 1이 있고 initialized 알림에는 id가 없습니다. tools/list가 get_reading의 입력 이름 sensor_id를 알려 줍니다. tools/call로 S01을 요청하면 22.5가 담긴 가상 기록이 돌아옵니다. S02는 존재하지만 미측정 null이며 S99는 Unknown sensor와 isError입니다. 이 서버는 읽기 도구만 제공하며 네트워크 요청, React 갱신, 실제 AI 추론을 수행하지 않습니다. 실제 호스트의 권한 통제 전체를 재현한 프로그램도 아닙니다.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“HTML의 고정 숫자”, “data.js의 가상 값”, “MCP get_reading의 응답”을 자료 출처와 필요한 연결 단계로 비교하세요. 이어서 센서 조회에 계정 삭제 도구 권한까지 요구하는 서버가 있다면 허용 범위를 어떻게 판단할지 쓰세요.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고정 숫자는 HTML, 가상 값은 데이터 파일, MCP 응답은 서버 기록과 호출 연결입니다. 조회 목적에 필요하지 않은 삭제 권한은 제공하지 않고 필요한 범위를 확인합니다. “MCP가 연결되면 모든 작업이 자동 허용”은 오답입니다.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알림에 응답 id가 있나요? 오늘 initialized 알림은 응답을 기대하지 않습니다. ② null은 도구 오류인가요? 존재하는 기록의 미측정 값일 수 있습니다. ③ 연결 증거는 무엇인가요? 실제 요청과 대응 응답, 실행 범위를 남겨야 합니다.</a:t>
            </a:r>
          </a:p>
          <a:p xmlns:a="http://schemas.openxmlformats.org/drawingml/2006/main">
            <a:r>
              <a:t/>
            </a:r>
          </a:p>
          <a:p xmlns:a="http://schemas.openxmlformats.org/drawingml/2006/main">
            <a:r>
              <a:t>호스트는 사용자가 요청하는 AI 앱 전체이고, 클라이언트는 그 안에서 특정 서버와 메시지를 주고받는 연결 부분입니다. 서버는 도구와 입력 규칙을 제공하고 실행 결과를 돌려줍니다. 오늘 예제의 클라이언트는 미리 쓴 요청만 보내며 실제 AI 호스트나 모델이 판단하는 과정을 구현하지 않습니다.</a:t>
            </a:r>
          </a:p>
          <a:p xmlns:a="http://schemas.openxmlformats.org/drawingml/2006/main">
            <a:r>
              <a:t/>
            </a:r>
          </a:p>
          <a:p xmlns:a="http://schemas.openxmlformats.org/drawingml/2006/main">
            <a:r>
              <a:t>**뜻과 비유.** MCP는 AI 앱이 외부 도구나 자료를 정해진 메시지 형식으로 사용하도록 연결하는 프로토콜입니다. 서버는 기능을 제공하고 클라이언트는 요청을 전달합니다.</a:t>
            </a:r>
          </a:p>
          <a:p xmlns:a="http://schemas.openxmlformats.org/drawingml/2006/main">
            <a:r>
              <a:t/>
            </a:r>
          </a:p>
          <a:p xmlns:a="http://schemas.openxmlformats.org/drawingml/2006/main">
            <a:r>
              <a:t>**왜 필요한가.** React의 화면 구성과 MCP의 도구 통신을 같은 역할로 생각하지 않도록 경계를 구분합니다.</a:t>
            </a:r>
          </a:p>
          <a:p xmlns:a="http://schemas.openxmlformats.org/drawingml/2006/main">
            <a:r>
              <a:t/>
            </a:r>
          </a:p>
          <a:p xmlns:a="http://schemas.openxmlformats.org/drawingml/2006/main">
            <a:r>
              <a:t>**예를 따라 읽기.** 제공 클라이언트는 get_reading이라는 읽기 도구를 요청하고 서버는 가상 센서 기록을 반환합니다.</a:t>
            </a:r>
          </a:p>
          <a:p xmlns:a="http://schemas.openxmlformats.org/drawingml/2006/main">
            <a:r>
              <a:t/>
            </a:r>
          </a:p>
          <a:p xmlns:a="http://schemas.openxmlformats.org/drawingml/2006/main">
            <a:r>
              <a:t>**헷갈리는 반례.** 오늘의 mcp_client.py는 저장된 요청을 보내는 프로그램이며 AI 모델이나 실제 AI 호스트가 아닙니다.</a:t>
            </a:r>
          </a:p>
          <a:p xmlns:a="http://schemas.openxmlformats.org/drawingml/2006/main">
            <a:r>
              <a:t/>
            </a:r>
          </a:p>
          <a:p xmlns:a="http://schemas.openxmlformats.org/drawingml/2006/main">
            <a:r>
              <a:t>**직접 적용.** 역할 카드의 네 요소 읽기 → 화면 역할과 도구 통신 역할 나누기 → 클라이언트·서버·데이터 파일 연결하기 → 실제 AI 호출이 없는 조건 쓰기</a:t>
            </a:r>
          </a:p>
          <a:p xmlns:a="http://schemas.openxmlformats.org/drawingml/2006/main">
            <a:r>
              <a:t/>
            </a:r>
          </a:p>
          <a:p xmlns:a="http://schemas.openxmlformats.org/drawingml/2006/main">
            <a:r>
              <a:t>**설명할 질문.** MCP 서버가 웹 화면을 자동으로 만드는 것은 왜 아닌가요?</a:t>
            </a:r>
          </a:p>
          <a:p xmlns:a="http://schemas.openxmlformats.org/drawingml/2006/main">
            <a:r>
              <a:t/>
            </a:r>
          </a:p>
          <a:p xmlns:a="http://schemas.openxmlformats.org/drawingml/2006/main">
            <a:r>
              <a:t>**막혔을 때.** MCP를 모든 AI 서비스의 동의어로 보지 않고 오늘 메시지를 주고 받는 두 프로그램을 정확히 지정합니다.</a:t>
            </a:r>
          </a:p>
          <a:p xmlns:a="http://schemas.openxmlformats.org/drawingml/2006/main">
            <a:r>
              <a:t/>
            </a:r>
          </a:p>
          <a:p xmlns:a="http://schemas.openxmlformats.org/drawingml/2006/main">
            <a:r>
              <a:t>입력·답칸·확인 순서는 [실습지의 A13](practice-guide.md#a13)와 [활동 원문](examples/course/data/A13_input.md)에 있습니다.</a:t>
            </a:r>
          </a:p>
          <a:p xmlns:a="http://schemas.openxmlformats.org/drawingml/2006/main">
            <a:r>
              <a:t/>
            </a:r>
          </a:p>
          <a:p xmlns:a="http://schemas.openxmlformats.org/drawingml/2006/main">
            <a:r>
              <a:t>#### MCP 필수 읽기와 참고 범위</a:t>
            </a:r>
          </a:p>
          <a:p xmlns:a="http://schemas.openxmlformats.org/drawingml/2006/main">
            <a:r>
              <a:t/>
            </a:r>
          </a:p>
          <a:p xmlns:a="http://schemas.openxmlformats.org/drawingml/2006/main">
            <a:r>
              <a:t>**필수:** 역할 카드에서 호스트·클라이언트·서버·데이터를 구별합니다. `requests.jsonl` 첫 세 줄의 초기화·알림·도구 목록과 네 번째 줄의 `method/id/params`를 읽습니다. `recorded_responses.json`에서 S01의 숫자, S02의 미측정, S99의 `isError`를 대조합니다. 제공 클라이언트 실행 또는 강사 실행 관찰 후 수행 방법을 표시합니다.</a:t>
            </a:r>
          </a:p>
          <a:p xmlns:a="http://schemas.openxmlformats.org/drawingml/2006/main">
            <a:r>
              <a:t/>
            </a:r>
          </a:p>
          <a:p xmlns:a="http://schemas.openxmlformats.org/drawingml/2006/main">
            <a:r>
              <a:t>필수 코드 확인은 `mcp_client.py` 6~7행(입력 메시지와 서버 실행), `mcp_server.py` 16~17행(id·method), 20~22행(초기화), 34~43행(도구 요청과 결과)입니다. 구현 문법 전체를 풀이하지 않고 메시지의 역할과 입출력 대응을 확인합니다. 줄 번호는 이번 제공본 기준입니다.</a:t>
            </a:r>
          </a:p>
          <a:p xmlns:a="http://schemas.openxmlformats.org/drawingml/2006/main">
            <a:r>
              <a:t/>
            </a:r>
          </a:p>
          <a:p xmlns:a="http://schemas.openxmlformats.org/drawingml/2006/main">
            <a:r>
              <a:t>**강사 참고·선택:** 서버 전체의 예외 처리, 표준 입출력, subprocess 구현과 모든 줄 해설. 전체 코드를 새로 작성하는 것은 필수가 아닙니다. 실제 AI 호스트 호출·인증·HTTP 연결은 이번 관찰 범위에 포함되지 않습니다.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오늘은 Python STDIO 예제입니다.</a:t>
            </a:r>
          </a:p>
          <a:p xmlns:a="http://schemas.openxmlformats.org/drawingml/2006/main">
            <a:r>
              <a:t/>
            </a:r>
          </a:p>
          <a:p xmlns:a="http://schemas.openxmlformats.org/drawingml/2006/main">
            <a:r>
              <a:t>표와 문장을 읽는 방법: 호스트는 AI 애플리케이션입니다. 클라이언트는 서버와 메시지를 주고받습니다. 서버는 도구와 자료를 제공합니다.</a:t>
            </a:r>
          </a:p>
          <a:p xmlns:a="http://schemas.openxmlformats.org/drawingml/2006/main">
            <a:r>
              <a:t>예상 결과: 읽기 연결에 삭제 권한을 붙이지 않습니다. MCP가 React 화면을 자동으로 만들지 않습니다.</a:t>
            </a:r>
          </a:p>
          <a:p xmlns:a="http://schemas.openxmlformats.org/drawingml/2006/main">
            <a:r>
              <a:t/>
            </a:r>
          </a:p>
          <a:p xmlns:a="http://schemas.openxmlformats.org/drawingml/2006/main">
            <a:r>
              <a:t>판단 해설: 필요한 읽기 범위를 확인하고 목적과 무관한 삭제 권한을 허용하지 않습니다. 오늘 예제는 실제 AI 호스트·인증·네트워크 연결·권한 통제 전체를 구현하지 않았습니다.</a:t>
            </a:r>
          </a:p>
          <a:p xmlns:a="http://schemas.openxmlformats.org/drawingml/2006/main">
            <a:r>
              <a:t>학생이 각 행의 입력과 출력을 자신의 말로 연결하게 합니다. 이름이 같은 파일을 다른 폴더에서 읽지 않았는지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읽기 연결에 삭제 권한을 붙이지 않습니다. MCP가 React 화면을 자동으로 만들지 않습니다.</a:t>
            </a:r>
          </a:p>
          <a:p xmlns:a="http://schemas.openxmlformats.org/drawingml/2006/main">
            <a:r>
              <a:t/>
            </a:r>
          </a:p>
          <a:p xmlns:a="http://schemas.openxmlformats.org/drawingml/2006/main">
            <a:r>
              <a:t>개념과 연결: 호스트는 AI 애플리케이션입니다. 클라이언트는 서버와 메시지를 주고받습니다. 서버는 도구와 자료를 제공합니다.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필요한 읽기 범위를 확인하고 목적과 무관한 삭제 권한을 허용하지 않습니다. 오늘 예제는 실제 AI 호스트·인증·네트워크 연결·권한 통제 전체를 구현하지 않았습니다.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온도 조회 도구가 계정 삭제 권한도 요구합니다. 이번 목적에 어떤 범위가 필요한가요?</a:t>
            </a:r>
          </a:p>
          <a:p xmlns:a="http://schemas.openxmlformats.org/drawingml/2006/main">
            <a:r>
              <a:t/>
            </a:r>
          </a:p>
          <a:p xmlns:a="http://schemas.openxmlformats.org/drawingml/2006/main">
            <a:r>
              <a:t>정답과 풀이: 필요한 읽기 범위를 확인하고 목적과 무관한 삭제 권한을 허용하지 않습니다. 오늘 예제는 실제 AI 호스트·인증·네트워크 연결·권한 통제 전체를 구현하지 않았습니다.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활동은 추가·복습입니다. 필수 결과를 확인한 뒤 진행합니다.</a:t>
            </a:r>
          </a:p>
          <a:p xmlns:a="http://schemas.openxmlformats.org/drawingml/2006/main">
            <a:r>
              <a:t>활동 A14의 개념과 원문 해설입니다.</a:t>
            </a:r>
          </a:p>
          <a:p xmlns:a="http://schemas.openxmlformats.org/drawingml/2006/main">
            <a:r>
              <a:t>### A14 · JSON-RPC 요청과 초기화</a:t>
            </a:r>
          </a:p>
          <a:p xmlns:a="http://schemas.openxmlformats.org/drawingml/2006/main">
            <a:r>
              <a:t/>
            </a:r>
          </a:p>
          <a:p xmlns:a="http://schemas.openxmlformats.org/drawingml/2006/main">
            <a:r>
              <a:t>**뜻과 비유.** JSON-RPC 메시지는 method로 요청 종류를, id로 요청과 응답의 대응을 나타냅니다. 오늘의 MCP 예제는 2025-11-25규격 버전에 고정한 초기화 절차를 사용합니다.</a:t>
            </a:r>
          </a:p>
          <a:p xmlns:a="http://schemas.openxmlformats.org/drawingml/2006/main">
            <a:r>
              <a:t/>
            </a:r>
          </a:p>
          <a:p xmlns:a="http://schemas.openxmlformats.org/drawingml/2006/main">
            <a:r>
              <a:t>**왜 필요한가.** 버전과 기능을 먼저 맞추면 어떤 도구 통신을 기대할지 확인할 수 있습니다. 최신 전체 규격 구현과 교육용 일부 구현을 구분합니다.</a:t>
            </a:r>
          </a:p>
          <a:p xmlns:a="http://schemas.openxmlformats.org/drawingml/2006/main">
            <a:r>
              <a:t/>
            </a:r>
          </a:p>
          <a:p xmlns:a="http://schemas.openxmlformats.org/drawingml/2006/main">
            <a:r>
              <a:t>**예를 따라 읽기.** initialize 응답 뒤 notifications/initialized를 보내고 tools/list로 get_reading의 입력 규칙을 읽습니다.</a:t>
            </a:r>
          </a:p>
          <a:p xmlns:a="http://schemas.openxmlformats.org/drawingml/2006/main">
            <a:r>
              <a:t/>
            </a:r>
          </a:p>
          <a:p xmlns:a="http://schemas.openxmlformats.org/drawingml/2006/main">
            <a:r>
              <a:t>**헷갈리는 반례.** id가 없는 알림은 일반 요청과 달리 같은 id의 결과 응답을 기다리는 메시지가 아닙니다.</a:t>
            </a:r>
          </a:p>
          <a:p xmlns:a="http://schemas.openxmlformats.org/drawingml/2006/main">
            <a:r>
              <a:t/>
            </a:r>
          </a:p>
          <a:p xmlns:a="http://schemas.openxmlformats.org/drawingml/2006/main">
            <a:r>
              <a:t>**직접 적용.** requests.jsonl의 첫 세 메시지 읽기 → method·id·params 표시하기 → 초기화 요청과 알림 구별하기 → tools/list에서 입력 필드 찾기</a:t>
            </a:r>
          </a:p>
          <a:p xmlns:a="http://schemas.openxmlformats.org/drawingml/2006/main">
            <a:r>
              <a:t/>
            </a:r>
          </a:p>
          <a:p xmlns:a="http://schemas.openxmlformats.org/drawingml/2006/main">
            <a:r>
              <a:t>**설명할 질문.** 초기화 알림과 도구 요청은 어떻게 구분하나요?</a:t>
            </a:r>
          </a:p>
          <a:p xmlns:a="http://schemas.openxmlformats.org/drawingml/2006/main">
            <a:r>
              <a:t/>
            </a:r>
          </a:p>
          <a:p xmlns:a="http://schemas.openxmlformats.org/drawingml/2006/main">
            <a:r>
              <a:t>**막혔을 때.** JSONL은 메시지 한 개당 한 줄입니다. 예쁘게 여러 줄로 바꾸면 이 STDIO 입력 규칙과 맞지 않습니다.</a:t>
            </a:r>
          </a:p>
          <a:p xmlns:a="http://schemas.openxmlformats.org/drawingml/2006/main">
            <a:r>
              <a:t/>
            </a:r>
          </a:p>
          <a:p xmlns:a="http://schemas.openxmlformats.org/drawingml/2006/main">
            <a:r>
              <a:t>입력·답칸·확인 순서는 [실습지의 A14](practice-guide.md#a14)와 [활동 원문](examples/course/data/A14_input.md)에 있습니다.</a:t>
            </a:r>
          </a:p>
          <a:p xmlns:a="http://schemas.openxmlformats.org/drawingml/2006/main">
            <a:r>
              <a:t/>
            </a:r>
          </a:p>
          <a:p xmlns:a="http://schemas.openxmlformats.org/drawingml/2006/main">
            <a:r>
              <a:t>#### MCP 필수 읽기와 참고 범위</a:t>
            </a:r>
          </a:p>
          <a:p xmlns:a="http://schemas.openxmlformats.org/drawingml/2006/main">
            <a:r>
              <a:t/>
            </a:r>
          </a:p>
          <a:p xmlns:a="http://schemas.openxmlformats.org/drawingml/2006/main">
            <a:r>
              <a:t>**필수:** 역할 카드에서 호스트·클라이언트·서버·데이터를 구별합니다. `requests.jsonl` 첫 세 줄의 초기화·알림·도구 목록과 네 번째 줄의 `method/id/params`를 읽습니다. `recorded_responses.json`에서 S01의 숫자, S02의 미측정, S99의 `isError`를 대조합니다. 제공 클라이언트 실행 또는 강사 실행 관찰 후 수행 방법을 표시합니다.</a:t>
            </a:r>
          </a:p>
          <a:p xmlns:a="http://schemas.openxmlformats.org/drawingml/2006/main">
            <a:r>
              <a:t/>
            </a:r>
          </a:p>
          <a:p xmlns:a="http://schemas.openxmlformats.org/drawingml/2006/main">
            <a:r>
              <a:t>필수 코드 확인은 `mcp_client.py` 6~7행(입력 메시지와 서버 실행), `mcp_server.py` 16~17행(id·method), 20~22행(초기화), 34~43행(도구 요청과 결과)입니다. 구현 문법 전체를 풀이하지 않고 메시지의 역할과 입출력 대응을 확인합니다. 줄 번호는 이번 제공본 기준입니다.</a:t>
            </a:r>
          </a:p>
          <a:p xmlns:a="http://schemas.openxmlformats.org/drawingml/2006/main">
            <a:r>
              <a:t/>
            </a:r>
          </a:p>
          <a:p xmlns:a="http://schemas.openxmlformats.org/drawingml/2006/main">
            <a:r>
              <a:t>**강사 참고·선택:** 서버 전체의 예외 처리, 표준 입출력, subprocess 구현과 모든 줄 해설. 전체 코드를 새로 작성하는 것은 필수가 아닙니다. 실제 AI 호스트 호출·인증·HTTP 연결은 이번 관찰 범위에 포함되지 않습니다.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활동은 추가·복습입니다. 필수 결과를 확인한 뒤 진행합니다.</a:t>
            </a:r>
          </a:p>
          <a:p xmlns:a="http://schemas.openxmlformats.org/drawingml/2006/main">
            <a:r>
              <a:t>이 화면의 예: requests.jsonl의 첫 세 줄을 대조합니다.</a:t>
            </a:r>
          </a:p>
          <a:p xmlns:a="http://schemas.openxmlformats.org/drawingml/2006/main">
            <a:r>
              <a:t/>
            </a:r>
          </a:p>
          <a:p xmlns:a="http://schemas.openxmlformats.org/drawingml/2006/main">
            <a:r>
              <a:t>표와 문장을 읽는 방법: 초기화 뒤 도구 목록을 읽습니다. 요청 id로 대응 응답을 찾습니다.</a:t>
            </a:r>
          </a:p>
          <a:p xmlns:a="http://schemas.openxmlformats.org/drawingml/2006/main">
            <a:r>
              <a:t>예상 결과: get_reading은 sensor_id 문자열을 받습니다. 메시지 한 개를 한 줄로 보냅니다.</a:t>
            </a:r>
          </a:p>
          <a:p xmlns:a="http://schemas.openxmlformats.org/drawingml/2006/main">
            <a:r>
              <a:t/>
            </a:r>
          </a:p>
          <a:p xmlns:a="http://schemas.openxmlformats.org/drawingml/2006/main">
            <a:r>
              <a:t>판단 해설: 오늘 notifications/initialized에는 id가 없고 응답을 기대하지 않습니다. JSON-RPC 요청·알림과 도구 목록을 구별합니다. 메시지 줄을 잘게 끊으면 STDIO 입력 형식이 달라집니다.</a:t>
            </a:r>
          </a:p>
          <a:p xmlns:a="http://schemas.openxmlformats.org/drawingml/2006/main">
            <a:r>
              <a:t>학생이 각 행의 입력과 출력을 자신의 말로 연결하게 합니다. 이름이 같은 파일을 다른 폴더에서 읽지 않았는지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활동은 추가·복습입니다. 필수 결과를 확인한 뒤 진행합니다.</a:t>
            </a:r>
          </a:p>
          <a:p xmlns:a="http://schemas.openxmlformats.org/drawingml/2006/main">
            <a:r>
              <a:t>예상 결과: get_reading은 sensor_id 문자열을 받습니다. 메시지 한 개를 한 줄로 보냅니다.</a:t>
            </a:r>
          </a:p>
          <a:p xmlns:a="http://schemas.openxmlformats.org/drawingml/2006/main">
            <a:r>
              <a:t/>
            </a:r>
          </a:p>
          <a:p xmlns:a="http://schemas.openxmlformats.org/drawingml/2006/main">
            <a:r>
              <a:t>개념과 연결: 초기화 뒤 도구 목록을 읽습니다. 요청 id로 대응 응답을 찾습니다.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오늘 notifications/initialized에는 id가 없고 응답을 기대하지 않습니다. JSON-RPC 요청·알림과 도구 목록을 구별합니다. 메시지 줄을 잘게 끊으면 STDIO 입력 형식이 달라집니다.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활동은 추가·복습입니다. 필수 결과를 확인한 뒤 진행합니다.</a:t>
            </a:r>
          </a:p>
          <a:p xmlns:a="http://schemas.openxmlformats.org/drawingml/2006/main">
            <a:r>
              <a:t>질문: initialized 알림도 응답을 기다리나요?</a:t>
            </a:r>
          </a:p>
          <a:p xmlns:a="http://schemas.openxmlformats.org/drawingml/2006/main">
            <a:r>
              <a:t/>
            </a:r>
          </a:p>
          <a:p xmlns:a="http://schemas.openxmlformats.org/drawingml/2006/main">
            <a:r>
              <a:t>정답과 풀이: 오늘 notifications/initialized에는 id가 없고 응답을 기대하지 않습니다. JSON-RPC 요청·알림과 도구 목록을 구별합니다. 메시지 줄을 잘게 끊으면 STDIO 입력 형식이 달라집니다.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A15의 개념과 원문 해설입니다.</a:t>
            </a:r>
          </a:p>
          <a:p xmlns:a="http://schemas.openxmlformats.org/drawingml/2006/main">
            <a:r>
              <a:t>### A15 · 실제 STDIO 도구 호출</a:t>
            </a:r>
          </a:p>
          <a:p xmlns:a="http://schemas.openxmlformats.org/drawingml/2006/main">
            <a:r>
              <a:t/>
            </a:r>
          </a:p>
          <a:p xmlns:a="http://schemas.openxmlformats.org/drawingml/2006/main">
            <a:r>
              <a:t>**뜻과 비유.** STDIO는 한 프로그램이 다른 프로그램의 표준 입력과 표준 출력으로 메시지를 교환하는 방법입니다. 네트워크 계정 없이 로컬 자식 프로세스를 실행할 수 있습니다.</a:t>
            </a:r>
          </a:p>
          <a:p xmlns:a="http://schemas.openxmlformats.org/drawingml/2006/main">
            <a:r>
              <a:t/>
            </a:r>
          </a:p>
          <a:p xmlns:a="http://schemas.openxmlformats.org/drawingml/2006/main">
            <a:r>
              <a:t>**왜 필요한가.** 저장된 예시 문장을 읽는 것과 실제 서버가 응답한 기록을 구분하면서 작은 프로토콜을 관찰합니다.</a:t>
            </a:r>
          </a:p>
          <a:p xmlns:a="http://schemas.openxmlformats.org/drawingml/2006/main">
            <a:r>
              <a:t/>
            </a:r>
          </a:p>
          <a:p xmlns:a="http://schemas.openxmlformats.org/drawingml/2006/main">
            <a:r>
              <a:t>**예를 따라 읽기.** python code/mcp_client.py는 서버를 실행해 S01의 22.5,S02의 null,S99의 도구 오류를 받습니다.</a:t>
            </a:r>
          </a:p>
          <a:p xmlns:a="http://schemas.openxmlformats.org/drawingml/2006/main">
            <a:r>
              <a:t/>
            </a:r>
          </a:p>
          <a:p xmlns:a="http://schemas.openxmlformats.org/drawingml/2006/main">
            <a:r>
              <a:t>**헷갈리는 반례.** S02의 null은 통신 실패가 아닙니다. S99의 isError:true와 값 없음은 서로 다릅니다.</a:t>
            </a:r>
          </a:p>
          <a:p xmlns:a="http://schemas.openxmlformats.org/drawingml/2006/main">
            <a:r>
              <a:t/>
            </a:r>
          </a:p>
          <a:p xmlns:a="http://schemas.openxmlformats.org/drawingml/2006/main">
            <a:r>
              <a:t>**직접 적용.** 완성 클라이언트와 서버 줄 해설 읽기 → 클라이언트 명령 실행 또는 강사 결과 비교하기 → id3·4·5의 값과 오류 표시 찾기 → 응답 예와 실제 실행 여부를 분리 기록하기</a:t>
            </a:r>
          </a:p>
          <a:p xmlns:a="http://schemas.openxmlformats.org/drawingml/2006/main">
            <a:r>
              <a:t/>
            </a:r>
          </a:p>
          <a:p xmlns:a="http://schemas.openxmlformats.org/drawingml/2006/main">
            <a:r>
              <a:t>**설명할 질문.** null 응답과 도구 오류 응답은 무엇이 다른가요?</a:t>
            </a:r>
          </a:p>
          <a:p xmlns:a="http://schemas.openxmlformats.org/drawingml/2006/main">
            <a:r>
              <a:t/>
            </a:r>
          </a:p>
          <a:p xmlns:a="http://schemas.openxmlformats.org/drawingml/2006/main">
            <a:r>
              <a:t>**막혔을 때.** 서버를 단독 실행하면 입력을 기다릴 수 있습니다. 기본 활동은 제공 클라이언트 명령으로 실행합니다.</a:t>
            </a:r>
          </a:p>
          <a:p xmlns:a="http://schemas.openxmlformats.org/drawingml/2006/main">
            <a:r>
              <a:t/>
            </a:r>
          </a:p>
          <a:p xmlns:a="http://schemas.openxmlformats.org/drawingml/2006/main">
            <a:r>
              <a:t>입력·답칸·확인 순서는 [실습지의 A15](practice-guide.md#a15)와 [활동 원문](examples/course/data/A15_input.md)에 있습니다.</a:t>
            </a:r>
          </a:p>
          <a:p xmlns:a="http://schemas.openxmlformats.org/drawingml/2006/main">
            <a:r>
              <a:t/>
            </a:r>
          </a:p>
          <a:p xmlns:a="http://schemas.openxmlformats.org/drawingml/2006/main">
            <a:r>
              <a:t>#### MCP 필수 읽기와 참고 범위</a:t>
            </a:r>
          </a:p>
          <a:p xmlns:a="http://schemas.openxmlformats.org/drawingml/2006/main">
            <a:r>
              <a:t/>
            </a:r>
          </a:p>
          <a:p xmlns:a="http://schemas.openxmlformats.org/drawingml/2006/main">
            <a:r>
              <a:t>**필수:** 역할 카드에서 호스트·클라이언트·서버·데이터를 구별합니다. `requests.jsonl` 첫 세 줄의 초기화·알림·도구 목록과 네 번째 줄의 `method/id/params`를 읽습니다. `recorded_responses.json`에서 S01의 숫자, S02의 미측정, S99의 `isError`를 대조합니다. 제공 클라이언트 실행 또는 강사 실행 관찰 후 수행 방법을 표시합니다.</a:t>
            </a:r>
          </a:p>
          <a:p xmlns:a="http://schemas.openxmlformats.org/drawingml/2006/main">
            <a:r>
              <a:t/>
            </a:r>
          </a:p>
          <a:p xmlns:a="http://schemas.openxmlformats.org/drawingml/2006/main">
            <a:r>
              <a:t>필수 코드 확인은 `mcp_client.py` 6~7행(입력 메시지와 서버 실행), `mcp_server.py` 16~17행(id·method), 20~22행(초기화), 34~43행(도구 요청과 결과)입니다. 구현 문법 전체를 풀이하지 않고 메시지의 역할과 입출력 대응을 확인합니다. 줄 번호는 이번 제공본 기준입니다.</a:t>
            </a:r>
          </a:p>
          <a:p xmlns:a="http://schemas.openxmlformats.org/drawingml/2006/main">
            <a:r>
              <a:t/>
            </a:r>
          </a:p>
          <a:p xmlns:a="http://schemas.openxmlformats.org/drawingml/2006/main">
            <a:r>
              <a:t>**강사 참고·선택:** 서버 전체의 예외 처리, 표준 입출력, subprocess 구현과 모든 줄 해설. 전체 코드를 새로 작성하는 것은 필수가 아닙니다. 실제 AI 호스트 호출·인증·HTTP 연결은 이번 관찰 범위에 포함되지 않습니다.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예제: STDIO 도구 호출의 예</a:t>
            </a:r>
          </a:p>
          <a:p xmlns:a="http://schemas.openxmlformats.org/drawingml/2006/main">
            <a:r>
              <a:t>실행 위치: course. 외부 API 호출은 없습니다.</a:t>
            </a:r>
          </a:p>
          <a:p xmlns:a="http://schemas.openxmlformats.org/drawingml/2006/main">
            <a:r>
              <a:t/>
            </a:r>
          </a:p>
          <a:p xmlns:a="http://schemas.openxmlformats.org/drawingml/2006/main">
            <a:r>
              <a:t>python -X utf8 code/mcp_client.py</a:t>
            </a:r>
          </a:p>
          <a:p xmlns:a="http://schemas.openxmlformats.org/drawingml/2006/main">
            <a:r>
              <a:t>뜻: python은 지정 스크립트를 실행한다. 현재 위치는 course이며 뒤 인수는 확인할 파일이다. -X utf8은 한글 출력 인코딩을 맞춘다.</a:t>
            </a:r>
          </a:p>
          <a:p xmlns:a="http://schemas.openxmlformats.org/drawingml/2006/main">
            <a:r>
              <a:t/>
            </a:r>
          </a:p>
          <a:p xmlns:a="http://schemas.openxmlformats.org/drawingml/2006/main">
            <a:r>
              <a:t>예상과 확인: S01은 22.5, S02는 미측정 null입니다. S99는 Unknown sensor와 isError입니다.</a:t>
            </a:r>
          </a:p>
          <a:p xmlns:a="http://schemas.openxmlformats.org/drawingml/2006/main">
            <a:r>
              <a:t>판단 해설: S02는 존재하는 기록의 미측정 값이며 isError=false입니다. S99는 모르는 센서의 도구 오류이며 isError=true입니다. recorded_responses.json의 id3·4·5를 대조합니다.</a:t>
            </a:r>
          </a:p>
          <a:p xmlns:a="http://schemas.openxmlformats.org/drawingml/2006/main">
            <a:r>
              <a:t/>
            </a:r>
          </a:p>
          <a:p xmlns:a="http://schemas.openxmlformats.org/drawingml/2006/main">
            <a:r>
              <a:t>원문 전체와 필요한 주변 파일은 아래 경로에서 확인합니다. 발췌 코드는 전체 파일의 표시된 위치에 연결하며 독립 실행 프로그램으로 설명하지 않습니다. 저장 위치와 실행 위치를 먼저 확인하고 한 단계씩 결과를 비교합니다.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해당 화면 코드의 줄별 풀이입니다.</a:t>
            </a:r>
          </a:p>
          <a:p xmlns:a="http://schemas.openxmlformats.org/drawingml/2006/main">
            <a:r>
              <a:t>python -X utf8 code/mcp_client.py</a:t>
            </a:r>
          </a:p>
          <a:p xmlns:a="http://schemas.openxmlformats.org/drawingml/2006/main">
            <a:r>
              <a:t>뜻: python은 지정 스크립트를 실행한다. 현재 위치는 course이며 뒤 인수는 확인할 파일이다. -X utf8은 한글 출력 인코딩을 맞춘다.</a:t>
            </a:r>
          </a:p>
          <a:p xmlns:a="http://schemas.openxmlformats.org/drawingml/2006/main">
            <a:r>
              <a:t/>
            </a:r>
          </a:p>
          <a:p xmlns:a="http://schemas.openxmlformats.org/drawingml/2006/main">
            <a:r>
              <a:t>전체 예제 연결과 실행 위치는 아래 활동의 같은 코드 단락을 확인합니다. 한 줄씩 역할을 말한 뒤 다음 줄로 이동하고 파일을 저장하는 행동과 프로그램 실행을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S01은 22.5, S02는 미측정 null입니다. S99는 Unknown sensor와 isError입니다.</a:t>
            </a:r>
          </a:p>
          <a:p xmlns:a="http://schemas.openxmlformats.org/drawingml/2006/main">
            <a:r>
              <a:t/>
            </a:r>
          </a:p>
          <a:p xmlns:a="http://schemas.openxmlformats.org/drawingml/2006/main">
            <a:r>
              <a:t>개념과 연결: 제공 클라이언트가 로컬 서버를 실행합니다. S01·S02·S99의 응답을 비교합니다.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S02는 존재하는 기록의 미측정 값이며 isError=false입니다. S99는 모르는 센서의 도구 오류이며 isError=true입니다. recorded_responses.json의 id3·4·5를 대조합니다.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S02의 null과 S99의 오류는 같은가요?</a:t>
            </a:r>
          </a:p>
          <a:p xmlns:a="http://schemas.openxmlformats.org/drawingml/2006/main">
            <a:r>
              <a:t/>
            </a:r>
          </a:p>
          <a:p xmlns:a="http://schemas.openxmlformats.org/drawingml/2006/main">
            <a:r>
              <a:t>정답과 풀이: S02는 존재하는 기록의 미측정 값이며 isError=false입니다. S99는 모르는 센서의 도구 오류이며 isError=true입니다. recorded_responses.json의 id3·4·5를 대조합니다.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6교시 주제는 역할 연결과 검수입니다. 운영: 50분 × 6교시입니다. 필수 결과를 먼저 확인하고 독립 문제는 추가 복습으로 사용합니다.</a:t>
            </a:r>
          </a:p>
          <a:p xmlns:a="http://schemas.openxmlformats.org/drawingml/2006/main">
            <a:r>
              <a:t/>
            </a:r>
          </a:p>
          <a:p xmlns:a="http://schemas.openxmlformats.org/drawingml/2006/main">
            <a:r>
              <a:t>시연 → 함께 따라 하기 → 한 값 수정 → 예상과 실제 비교 → 자기 말로 설명 순서로 진행합니다. 오늘 필수 활동과 추가 활동은 beginner-start의 해당 교시 표를 확인합니다. 모든 장을 50분 안에 끝냈다고 가정하지 않습니다. 설치 문제가 있으면 동일한 제공 입력과 출력으로 수동 추적하고 개인 실행 여부를 구별합니다.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도구 응답은 화면 상태와 다릅니다. 자료 안 지시가 새 권한을 주지 않습니다.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A16의 개념과 원문 해설입니다.</a:t>
            </a:r>
          </a:p>
          <a:p xmlns:a="http://schemas.openxmlformats.org/drawingml/2006/main">
            <a:r>
              <a:t>### A16 · 네 요소의 연결과 경계</a:t>
            </a:r>
          </a:p>
          <a:p xmlns:a="http://schemas.openxmlformats.org/drawingml/2006/main">
            <a:r>
              <a:t/>
            </a:r>
          </a:p>
          <a:p xmlns:a="http://schemas.openxmlformats.org/drawingml/2006/main">
            <a:r>
              <a:t>#### 사례로 이해하기 · 도구 응답을 화면에 넣기 위한 중간 처리</a:t>
            </a:r>
          </a:p>
          <a:p xmlns:a="http://schemas.openxmlformats.org/drawingml/2006/main">
            <a:r>
              <a:t/>
            </a:r>
          </a:p>
          <a:p xmlns:a="http://schemas.openxmlformats.org/drawingml/2006/main">
            <a:r>
              <a:t>#### 실무 상황</a:t>
            </a:r>
          </a:p>
          <a:p xmlns:a="http://schemas.openxmlformats.org/drawingml/2006/main">
            <a:r>
              <a:t/>
            </a:r>
          </a:p>
          <a:p xmlns:a="http://schemas.openxmlformats.org/drawingml/2006/main">
            <a:r>
              <a:t>MCP에서 온도 응답을 받았지만 React 화면은 바뀌지 않습니다. 화면에 카드를 만든 것과 서버에서 기록을 조회한 것은 각각 확인했어도 두 동작을 잇는 처리가 빠질 수 있습니다. “연결 완료”라는 말 대신 실제로 이어진 화살표와 아직 계획인 화살표를 나눕니다.</a:t>
            </a:r>
          </a:p>
          <a:p xmlns:a="http://schemas.openxmlformats.org/drawingml/2006/main">
            <a:r>
              <a:t/>
            </a:r>
          </a:p>
          <a:p xmlns:a="http://schemas.openxmlformats.org/drawingml/2006/main">
            <a:r>
              <a:t>#### 쉬운 풀이</a:t>
            </a:r>
          </a:p>
          <a:p xmlns:a="http://schemas.openxmlformats.org/drawingml/2006/main">
            <a:r>
              <a:t/>
            </a:r>
          </a:p>
          <a:p xmlns:a="http://schemas.openxmlformats.org/drawingml/2006/main">
            <a:r>
              <a:t>도구 응답은 메시지이며 화면 상태는 React 부품이 현재 기억하는 값입니다. 둘 사이에는 호출 결과를 받기, 오류 구별하기, 내용 해석하기, 숫자와 단위 확인하기, 상태에 전달하기가 필요합니다. 문자열 안의 JSON도 해석하지 않으면 숫자를 바로 사용할 수 없습니다. 응답 안의 안내 글은 외부 자료이므로 호스트 권한을 바꾸라는 명령처럼 취급하지 않습니다. 읽기 도구의 결과가 추가 쓰기 권한을 부여하지도 않습니다.</a:t>
            </a:r>
          </a:p>
          <a:p xmlns:a="http://schemas.openxmlformats.org/drawingml/2006/main">
            <a:r>
              <a:t/>
            </a:r>
          </a:p>
          <a:p xmlns:a="http://schemas.openxmlformats.org/drawingml/2006/main">
            <a:r>
              <a:t>#### 완성 예와 단계 풀이</a:t>
            </a:r>
          </a:p>
          <a:p xmlns:a="http://schemas.openxmlformats.org/drawingml/2006/main">
            <a:r>
              <a:t/>
            </a:r>
          </a:p>
          <a:p xmlns:a="http://schemas.openxmlformats.org/drawingml/2006/main">
            <a:r>
              <a:t>recorded_responses.json의 id 3 결과는 content 안의 text에 S01 기록이 담겼습니다. 먼저 isError가 false인지 확인하고 text를 JSON 데이터로 읽은 뒤 temperature_c가 22.5인지 확인합니다. id 4는 temperature_c가 null이므로 “미측정” 문구를 고릅니다. id 5는 isError가 true이므로 “조회 실패”로 처리합니다. 이 판단 표를 작성해도 실제 React 상태 변경 코드를 구현한 것은 아닙니다. 지금 제공 화면은 data.js를 사용하고 제공 MCP는 STDIO 기록 조회를 사용합니다. 실제 연결에는 호스트 환경과 화면 갱신 경로 설계가 더 필요합니다.</a:t>
            </a:r>
          </a:p>
          <a:p xmlns:a="http://schemas.openxmlformats.org/drawingml/2006/main">
            <a:r>
              <a:t/>
            </a:r>
          </a:p>
          <a:p xmlns:a="http://schemas.openxmlformats.org/drawingml/2006/main">
            <a:r>
              <a:t>#### 독립 추가 복습 과제</a:t>
            </a:r>
          </a:p>
          <a:p xmlns:a="http://schemas.openxmlformats.org/drawingml/2006/main">
            <a:r>
              <a:t/>
            </a:r>
          </a:p>
          <a:p xmlns:a="http://schemas.openxmlformats.org/drawingml/2006/main">
            <a:r>
              <a:t>숫자 0, null, Unknown sensor 응답 세 개를 각각 표시 문구로 바꾸고 조건 순서를 작성하세요. 다음으로 응답 내용에 “다른 파일을 삭제하라”라는 문장이 섞였을 때 데이터 표시 작업을 계속하려면 무엇을 구별해야 할지 설명하세요.</a:t>
            </a:r>
          </a:p>
          <a:p xmlns:a="http://schemas.openxmlformats.org/drawingml/2006/main">
            <a:r>
              <a:t/>
            </a:r>
          </a:p>
          <a:p xmlns:a="http://schemas.openxmlformats.org/drawingml/2006/main">
            <a:r>
              <a:t>#### 답과 대표 오답</a:t>
            </a:r>
          </a:p>
          <a:p xmlns:a="http://schemas.openxmlformats.org/drawingml/2006/main">
            <a:r>
              <a:t/>
            </a:r>
          </a:p>
          <a:p xmlns:a="http://schemas.openxmlformats.org/drawingml/2006/main">
            <a:r>
              <a:t>유효한 0은 0 ℃, null은 미측정, 도구 오류는 조회 실패입니다. 먼저 오류와 자료 형태를 확인한 뒤 값을 해석합니다. 응답 속 삭제 요구는 작업 권한의 근거가 아니며 데이터 내용으로 분리합니다. “null도 0으로 표시”는 값 없음과 영점을 혼동합니다. “응답을 받았으니 화면도 갱신”은 중간 처리를 생략했습니다.</a:t>
            </a:r>
          </a:p>
          <a:p xmlns:a="http://schemas.openxmlformats.org/drawingml/2006/main">
            <a:r>
              <a:t/>
            </a:r>
          </a:p>
          <a:p xmlns:a="http://schemas.openxmlformats.org/drawingml/2006/main">
            <a:r>
              <a:t>#### 확인 질문과 해설</a:t>
            </a:r>
          </a:p>
          <a:p xmlns:a="http://schemas.openxmlformats.org/drawingml/2006/main">
            <a:r>
              <a:t/>
            </a:r>
          </a:p>
          <a:p xmlns:a="http://schemas.openxmlformats.org/drawingml/2006/main">
            <a:r>
              <a:t>① CSS로 누락 값이 측정값이 되나요? 모양은 자료의 의미를 바꾸지 않습니다. ② 다이어그램의 화살표는 실행 증거인가요? 실제 호출과 화면 관찰이 필요합니다. ③ 인계에 무엇을 쓰나요? 사용한 파일, 응답 id, 표시 결정, 실제 연결 여부와 다음 확인 범위를 적습니다.</a:t>
            </a:r>
          </a:p>
          <a:p xmlns:a="http://schemas.openxmlformats.org/drawingml/2006/main">
            <a:r>
              <a:t/>
            </a:r>
          </a:p>
          <a:p xmlns:a="http://schemas.openxmlformats.org/drawingml/2006/main">
            <a:r>
              <a:t>**뜻과 비유.** HTML·CSS·React·MCP는 같은 시스템에 함께 있을 수 있지만 책임이 다릅니다. 데이터 이동이 필요한 곳에는 명시적인 연결 프로그램이 있어야 합니다.</a:t>
            </a:r>
          </a:p>
          <a:p xmlns:a="http://schemas.openxmlformats.org/drawingml/2006/main">
            <a:r>
              <a:t/>
            </a:r>
          </a:p>
          <a:p xmlns:a="http://schemas.openxmlformats.org/drawingml/2006/main">
            <a:r>
              <a:t>**왜 필요한가.** 도구 응답을 받았다는 사실만으로 브라우저가 자동 갱신된다고 생각하면 연결이 빠진 설계를 만들 수 있습니다.</a:t>
            </a:r>
          </a:p>
          <a:p xmlns:a="http://schemas.openxmlformats.org/drawingml/2006/main">
            <a:r>
              <a:t/>
            </a:r>
          </a:p>
          <a:p xmlns:a="http://schemas.openxmlformats.org/drawingml/2006/main">
            <a:r>
              <a:t>**예를 따라 읽기.** 오늘은 MCP 응답의 온도를 사람이 읽고 제공 데이터와 비교합니다. React와 MCP 간 자동 연결은 만들지 않았습니다.</a:t>
            </a:r>
          </a:p>
          <a:p xmlns:a="http://schemas.openxmlformats.org/drawingml/2006/main">
            <a:r>
              <a:t/>
            </a:r>
          </a:p>
          <a:p xmlns:a="http://schemas.openxmlformats.org/drawingml/2006/main">
            <a:r>
              <a:t>**헷갈리는 반례.** MCP 서버가 있으니 로그인·화면·저장이 모두 해결됐다고 말하지 않습니다.</a:t>
            </a:r>
          </a:p>
          <a:p xmlns:a="http://schemas.openxmlformats.org/drawingml/2006/main">
            <a:r>
              <a:t/>
            </a:r>
          </a:p>
          <a:p xmlns:a="http://schemas.openxmlformats.org/drawingml/2006/main">
            <a:r>
              <a:t>**직접 적용.** 네 요소 역할을 한 문장씩 쓰기 → S01 값의 출처와 화면 표시 구분하기 → 자동 연결한 것과 사람이 옮긴 것 표시하기 → 다음 연결에 필요한 프로그램 제안하기</a:t>
            </a:r>
          </a:p>
          <a:p xmlns:a="http://schemas.openxmlformats.org/drawingml/2006/main">
            <a:r>
              <a:t/>
            </a:r>
          </a:p>
          <a:p xmlns:a="http://schemas.openxmlformats.org/drawingml/2006/main">
            <a:r>
              <a:t>**설명할 질문.** 도구 응답을 화면에 보이려면 무엇이 더 필요할까요?</a:t>
            </a:r>
          </a:p>
          <a:p xmlns:a="http://schemas.openxmlformats.org/drawingml/2006/main">
            <a:r>
              <a:t/>
            </a:r>
          </a:p>
          <a:p xmlns:a="http://schemas.openxmlformats.org/drawingml/2006/main">
            <a:r>
              <a:t>**막혔을 때.** 그림의 화살표가 실제 동작인지 가정인지 따로 표시합니다.</a:t>
            </a:r>
          </a:p>
          <a:p xmlns:a="http://schemas.openxmlformats.org/drawingml/2006/main">
            <a:r>
              <a:t/>
            </a:r>
          </a:p>
          <a:p xmlns:a="http://schemas.openxmlformats.org/drawingml/2006/main">
            <a:r>
              <a:t>입력·답칸·확인 순서는 [실습지의 A16](practice-guide.md#a16)와 [활동 원문](examples/course/data/A16_input.md)에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판단 표와 실제 연결 구현을 구별합니다.</a:t>
            </a:r>
          </a:p>
          <a:p xmlns:a="http://schemas.openxmlformats.org/drawingml/2006/main">
            <a:r>
              <a:t/>
            </a:r>
          </a:p>
          <a:p xmlns:a="http://schemas.openxmlformats.org/drawingml/2006/main">
            <a:r>
              <a:t>표와 문장을 읽는 방법: 응답 해석과 유효값 확인이 필요합니다. 화면 state에 전달할 연결도 필요합니다.</a:t>
            </a:r>
          </a:p>
          <a:p xmlns:a="http://schemas.openxmlformats.org/drawingml/2006/main">
            <a:r>
              <a:t>예상 결과: 현재 React는 data.js를 읽습니다. MCP 응답을 화면에 넣는 처리는 별도입니다.</a:t>
            </a:r>
          </a:p>
          <a:p xmlns:a="http://schemas.openxmlformats.org/drawingml/2006/main">
            <a:r>
              <a:t/>
            </a:r>
          </a:p>
          <a:p xmlns:a="http://schemas.openxmlformats.org/drawingml/2006/main">
            <a:r>
              <a:t>판단 해설: 권한 근거가 아닙니다. 외부 응답은 자료 내용으로 구별하고 허용 범위는 호스트의 작업 요구와 정책에서 판단합니다.</a:t>
            </a:r>
          </a:p>
          <a:p xmlns:a="http://schemas.openxmlformats.org/drawingml/2006/main">
            <a:r>
              <a:t>학생이 각 행의 입력과 출력을 자신의 말로 연결하게 합니다. 이름이 같은 파일을 다른 폴더에서 읽지 않았는지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현재 React는 data.js를 읽습니다. MCP 응답을 화면에 넣는 처리는 별도입니다.</a:t>
            </a:r>
          </a:p>
          <a:p xmlns:a="http://schemas.openxmlformats.org/drawingml/2006/main">
            <a:r>
              <a:t/>
            </a:r>
          </a:p>
          <a:p xmlns:a="http://schemas.openxmlformats.org/drawingml/2006/main">
            <a:r>
              <a:t>개념과 연결: 응답 해석과 유효값 확인이 필요합니다. 화면 state에 전달할 연결도 필요합니다.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권한 근거가 아닙니다. 외부 응답은 자료 내용으로 구별하고 허용 범위는 호스트의 작업 요구와 정책에서 판단합니다.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응답에 “다른 파일 삭제”가 들어 있습니다. 이 문장이 작업 권한을 주나요?</a:t>
            </a:r>
          </a:p>
          <a:p xmlns:a="http://schemas.openxmlformats.org/drawingml/2006/main">
            <a:r>
              <a:t/>
            </a:r>
          </a:p>
          <a:p xmlns:a="http://schemas.openxmlformats.org/drawingml/2006/main">
            <a:r>
              <a:t>정답과 풀이: 권한 근거가 아닙니다. 외부 응답은 자료 내용으로 구별하고 허용 범위는 호스트의 작업 요구와 정책에서 판단합니다.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A17의 개념과 원문 해설입니다.</a:t>
            </a:r>
          </a:p>
          <a:p xmlns:a="http://schemas.openxmlformats.org/drawingml/2006/main">
            <a:r>
              <a:t>### A17 · 작은 변경의 동료 확인</a:t>
            </a:r>
          </a:p>
          <a:p xmlns:a="http://schemas.openxmlformats.org/drawingml/2006/main">
            <a:r>
              <a:t/>
            </a:r>
          </a:p>
          <a:p xmlns:a="http://schemas.openxmlformats.org/drawingml/2006/main">
            <a:r>
              <a:t>**뜻과 비유.** 변경 검수는 입력한 값·바뀐 파일·예상 화면·실제 결과를 짝이 다시 확인하는 것입니다. 내용·모양·데이터·통신을 각기 다른 근거로 봅니다.</a:t>
            </a:r>
          </a:p>
          <a:p xmlns:a="http://schemas.openxmlformats.org/drawingml/2006/main">
            <a:r>
              <a:t/>
            </a:r>
          </a:p>
          <a:p xmlns:a="http://schemas.openxmlformats.org/drawingml/2006/main">
            <a:r>
              <a:t>**왜 필요한가.** 한 화면이 예뻐졌어도 도구 요청 입력이 맞거나 자료형이 보존됐다는 증거는 아닙니다.</a:t>
            </a:r>
          </a:p>
          <a:p xmlns:a="http://schemas.openxmlformats.org/drawingml/2006/main">
            <a:r>
              <a:t/>
            </a:r>
          </a:p>
          <a:p xmlns:a="http://schemas.openxmlformats.org/drawingml/2006/main">
            <a:r>
              <a:t>**예를 따라 읽기.** HTML 제목,CSS 색,React 장소·온도,MCP sensor_id를 각각 한 줄의 변경 기록으로 남깁니다.</a:t>
            </a:r>
          </a:p>
          <a:p xmlns:a="http://schemas.openxmlformats.org/drawingml/2006/main">
            <a:r>
              <a:t/>
            </a:r>
          </a:p>
          <a:p xmlns:a="http://schemas.openxmlformats.org/drawingml/2006/main">
            <a:r>
              <a:t>**헷갈리는 반례.** CSS 색 변경을 센서 상태로 기록하거나 모의 버튼을 실제 측정이라고 부르지 않습니다.</a:t>
            </a:r>
          </a:p>
          <a:p xmlns:a="http://schemas.openxmlformats.org/drawingml/2006/main">
            <a:r>
              <a:t/>
            </a:r>
          </a:p>
          <a:p xmlns:a="http://schemas.openxmlformats.org/drawingml/2006/main">
            <a:r>
              <a:t>**직접 적용.** 작업 파일과 관찰 표 교환하기 → 네 역할 중 각 한 개 근거 확인하기 → 새로고침과 클릭 결과 구분하기 → 설명이 모호한 한 곳 보완하기</a:t>
            </a:r>
          </a:p>
          <a:p xmlns:a="http://schemas.openxmlformats.org/drawingml/2006/main">
            <a:r>
              <a:t/>
            </a:r>
          </a:p>
          <a:p xmlns:a="http://schemas.openxmlformats.org/drawingml/2006/main">
            <a:r>
              <a:t>**설명할 질문.** 같은 화면에서 서로 다른 역할의 변경을 어떻게 확인하나요?</a:t>
            </a:r>
          </a:p>
          <a:p xmlns:a="http://schemas.openxmlformats.org/drawingml/2006/main">
            <a:r>
              <a:t/>
            </a:r>
          </a:p>
          <a:p xmlns:a="http://schemas.openxmlformats.org/drawingml/2006/main">
            <a:r>
              <a:t>**막혔을 때.** 짝의 코드를 바로 수정하지 말고 대상 파일과 기대한 결과를 먼저 설명합니다.</a:t>
            </a:r>
          </a:p>
          <a:p xmlns:a="http://schemas.openxmlformats.org/drawingml/2006/main">
            <a:r>
              <a:t/>
            </a:r>
          </a:p>
          <a:p xmlns:a="http://schemas.openxmlformats.org/drawingml/2006/main">
            <a:r>
              <a:t>입력·답칸·확인 순서는 [실습지의 A17](practice-guide.md#a17)와 [활동 원문](examples/course/data/A17_input.md)에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한 역할씩 바꾸어 원인을 설명합니다.</a:t>
            </a:r>
          </a:p>
          <a:p xmlns:a="http://schemas.openxmlformats.org/drawingml/2006/main">
            <a:r>
              <a:t/>
            </a:r>
          </a:p>
          <a:p xmlns:a="http://schemas.openxmlformats.org/drawingml/2006/main">
            <a:r>
              <a:t>표와 문장을 읽는 방법: 변경한 파일과 역할을 연결해 읽습니다. 같은 입력과 행동으로 결과를 확인합니다.</a:t>
            </a:r>
          </a:p>
          <a:p xmlns:a="http://schemas.openxmlformats.org/drawingml/2006/main">
            <a:r>
              <a:t>예상 결과: 동료 코드를 먼저 덮어쓰지 않습니다. 경로·기대·실제를 묶어 제안합니다.</a:t>
            </a:r>
          </a:p>
          <a:p xmlns:a="http://schemas.openxmlformats.org/drawingml/2006/main">
            <a:r>
              <a:t/>
            </a:r>
          </a:p>
          <a:p xmlns:a="http://schemas.openxmlformats.org/drawingml/2006/main">
            <a:r>
              <a:t>판단 해설: CSS는 모양, React state는 화면의 현재 값, MCP는 도구 호출 결과를 다룹니다. 각 화살표가 실제 구현인지 계획인지 따로 표시합니다.</a:t>
            </a:r>
          </a:p>
          <a:p xmlns:a="http://schemas.openxmlformats.org/drawingml/2006/main">
            <a:r>
              <a:t>학생이 각 행의 입력과 출력을 자신의 말로 연결하게 합니다. 이름이 같은 파일을 다른 폴더에서 읽지 않았는지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동료 코드를 먼저 덮어쓰지 않습니다. 경로·기대·실제를 묶어 제안합니다.</a:t>
            </a:r>
          </a:p>
          <a:p xmlns:a="http://schemas.openxmlformats.org/drawingml/2006/main">
            <a:r>
              <a:t/>
            </a:r>
          </a:p>
          <a:p xmlns:a="http://schemas.openxmlformats.org/drawingml/2006/main">
            <a:r>
              <a:t>개념과 연결: 변경한 파일과 역할을 연결해 읽습니다. 같은 입력과 행동으로 결과를 확인합니다.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CSS는 모양, React state는 화면의 현재 값, MCP는 도구 호출 결과를 다룹니다. 각 화살표가 실제 구현인지 계획인지 따로 표시합니다.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색·온도·응답은 각각 무엇을 바꾸나요?</a:t>
            </a:r>
          </a:p>
          <a:p xmlns:a="http://schemas.openxmlformats.org/drawingml/2006/main">
            <a:r>
              <a:t/>
            </a:r>
          </a:p>
          <a:p xmlns:a="http://schemas.openxmlformats.org/drawingml/2006/main">
            <a:r>
              <a:t>정답과 풀이: CSS는 모양, React state는 화면의 현재 값, MCP는 도구 호출 결과를 다룹니다. 각 화살표가 실제 구현인지 계획인지 따로 표시합니다.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활동 A18의 개념과 원문 해설입니다.</a:t>
            </a:r>
          </a:p>
          <a:p xmlns:a="http://schemas.openxmlformats.org/drawingml/2006/main">
            <a:r>
              <a:t>### A18 · 결과 설명과 선택 확장</a:t>
            </a:r>
          </a:p>
          <a:p xmlns:a="http://schemas.openxmlformats.org/drawingml/2006/main">
            <a:r>
              <a:t/>
            </a:r>
          </a:p>
          <a:p xmlns:a="http://schemas.openxmlformats.org/drawingml/2006/main">
            <a:r>
              <a:t>**뜻과 비유.** 학습 결과는 수정한 작은 부분의 이유와 결과를 설명하는 것입니다. 전체 앱이나 MCP 서버를 독립 작성하는 능력을 오늘의 필수 목표로 삼지 않습니다.</a:t>
            </a:r>
          </a:p>
          <a:p xmlns:a="http://schemas.openxmlformats.org/drawingml/2006/main">
            <a:r>
              <a:t/>
            </a:r>
          </a:p>
          <a:p xmlns:a="http://schemas.openxmlformats.org/drawingml/2006/main">
            <a:r>
              <a:t>**왜 필요한가.** 네 기술의 이름만 기억하는 것보다 어느 문제를 어떤 요소가 맡는지 말할 수 있어야 다음 대시보드로 연결됩니다.</a:t>
            </a:r>
          </a:p>
          <a:p xmlns:a="http://schemas.openxmlformats.org/drawingml/2006/main">
            <a:r>
              <a:t/>
            </a:r>
          </a:p>
          <a:p xmlns:a="http://schemas.openxmlformats.org/drawingml/2006/main">
            <a:r>
              <a:t>**예를 따라 읽기.** 필수 결과는 제목·색·React 데이터 수정과 MCP 요청·응답 한 쌍의 설명입니다.</a:t>
            </a:r>
          </a:p>
          <a:p xmlns:a="http://schemas.openxmlformats.org/drawingml/2006/main">
            <a:r>
              <a:t/>
            </a:r>
          </a:p>
          <a:p xmlns:a="http://schemas.openxmlformats.org/drawingml/2006/main">
            <a:r>
              <a:t>**헷갈리는 반례.** 패키지 설치를 못 했다고 개념 설명과 제공 번들 수정까지 실패로 판정하지 않습니다.</a:t>
            </a:r>
          </a:p>
          <a:p xmlns:a="http://schemas.openxmlformats.org/drawingml/2006/main">
            <a:r>
              <a:t/>
            </a:r>
          </a:p>
          <a:p xmlns:a="http://schemas.openxmlformats.org/drawingml/2006/main">
            <a:r>
              <a:t>**직접 적용.** 수정한 파일 목록 정리하기 → 실제로 실행한 경로 쓰기 → 네 역할에 대한 새 질문 답하기 → 남은 환경·자동 연결 조건을 인계하기</a:t>
            </a:r>
          </a:p>
          <a:p xmlns:a="http://schemas.openxmlformats.org/drawingml/2006/main">
            <a:r>
              <a:t/>
            </a:r>
          </a:p>
          <a:p xmlns:a="http://schemas.openxmlformats.org/drawingml/2006/main">
            <a:r>
              <a:t>**설명할 질문.** React 상태·CSS 색·MCP 응답은 각각 무엇을 바꾸나요?</a:t>
            </a:r>
          </a:p>
          <a:p xmlns:a="http://schemas.openxmlformats.org/drawingml/2006/main">
            <a:r>
              <a:t/>
            </a:r>
          </a:p>
          <a:p xmlns:a="http://schemas.openxmlformats.org/drawingml/2006/main">
            <a:r>
              <a:t>**막혔을 때.** 설치나 외부 호스트 연결이 막히면 오프라인 번들과 저장된 응답으로 동일 개념을 확인하고 실행 범위를 명시합니다.</a:t>
            </a:r>
          </a:p>
          <a:p xmlns:a="http://schemas.openxmlformats.org/drawingml/2006/main">
            <a:r>
              <a:t/>
            </a:r>
          </a:p>
          <a:p xmlns:a="http://schemas.openxmlformats.org/drawingml/2006/main">
            <a:r>
              <a:t>입력·답칸·확인 순서는 [실습지의 A18](practice-guide.md#a18)와 [활동 원문](examples/course/data/A18_input.md)에 있습니다.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화면의 예: 실행과 시연 관찰을 구별합니다.</a:t>
            </a:r>
          </a:p>
          <a:p xmlns:a="http://schemas.openxmlformats.org/drawingml/2006/main">
            <a:r>
              <a:t/>
            </a:r>
          </a:p>
          <a:p xmlns:a="http://schemas.openxmlformats.org/drawingml/2006/main">
            <a:r>
              <a:t>표와 문장을 읽는 방법: 파일·명령·출력·화면을 연결해 보고합니다. 실제 장비와 호스트 연결은 따로 확인합니다.</a:t>
            </a:r>
          </a:p>
          <a:p xmlns:a="http://schemas.openxmlformats.org/drawingml/2006/main">
            <a:r>
              <a:t>예상 결과: 누가 같은 결과를 재현할지 생각합니다. 단위·누락·오류와 남은 연결을 적습니다.</a:t>
            </a:r>
          </a:p>
          <a:p xmlns:a="http://schemas.openxmlformats.org/drawingml/2006/main">
            <a:r>
              <a:t/>
            </a:r>
          </a:p>
          <a:p xmlns:a="http://schemas.openxmlformats.org/drawingml/2006/main">
            <a:r>
              <a:t>판단 해설: 파일 위치·시작 명령·데이터 출처·예상과 실제·수행 방식·미확인 범위를 남깁니다. 화면 표시 성공을 실제 센서나 AI 서비스 연결 성공으로 확대하지 않습니다.</a:t>
            </a:r>
          </a:p>
          <a:p xmlns:a="http://schemas.openxmlformats.org/drawingml/2006/main">
            <a:r>
              <a:t>학생이 각 행의 입력과 출력을 자신의 말로 연결하게 합니다. 이름이 같은 파일을 다른 폴더에서 읽지 않았는지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결과: 누가 같은 결과를 재현할지 생각합니다. 단위·누락·오류와 남은 연결을 적습니다.</a:t>
            </a:r>
          </a:p>
          <a:p xmlns:a="http://schemas.openxmlformats.org/drawingml/2006/main">
            <a:r>
              <a:t/>
            </a:r>
          </a:p>
          <a:p xmlns:a="http://schemas.openxmlformats.org/drawingml/2006/main">
            <a:r>
              <a:t>개념과 연결: 파일·명령·출력·화면을 연결해 보고합니다. 실제 장비와 호스트 연결은 따로 확인합니다.</a:t>
            </a:r>
          </a:p>
          <a:p xmlns:a="http://schemas.openxmlformats.org/drawingml/2006/main">
            <a:r>
              <a:t>학생이 입력·예상·실제를 세 칸으로 적고 차이가 난 위치를 찾게 합니다.</a:t>
            </a:r>
          </a:p>
          <a:p xmlns:a="http://schemas.openxmlformats.org/drawingml/2006/main">
            <a:r>
              <a:t/>
            </a:r>
          </a:p>
          <a:p xmlns:a="http://schemas.openxmlformats.org/drawingml/2006/main">
            <a:r>
              <a:t>대표 판단과 풀이: 파일 위치·시작 명령·데이터 출처·예상과 실제·수행 방식·미확인 범위를 남깁니다. 화면 표시 성공을 실제 센서나 AI 서비스 연결 성공으로 확대하지 않습니다.</a:t>
            </a:r>
          </a:p>
          <a:p xmlns:a="http://schemas.openxmlformats.org/drawingml/2006/main">
            <a:r>
              <a:t>실행한 파일 경로와 입력을 먼저 확인합니다. 화면 관찰만 했다면 개인 실행 성공으로 기록하지 않습니다. 수정 뒤에는 같은 입력과 기존 입력을 다시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동료가 다시 확인하려면 무엇이 필요한가요?</a:t>
            </a:r>
          </a:p>
          <a:p xmlns:a="http://schemas.openxmlformats.org/drawingml/2006/main">
            <a:r>
              <a:t/>
            </a:r>
          </a:p>
          <a:p xmlns:a="http://schemas.openxmlformats.org/drawingml/2006/main">
            <a:r>
              <a:t>정답과 풀이: 파일 위치·시작 명령·데이터 출처·예상과 실제·수행 방식·미확인 범위를 남깁니다. 화면 표시 성공을 실제 센서나 AI 서비스 연결 성공으로 확대하지 않습니다.</a:t>
            </a:r>
          </a:p>
          <a:p xmlns:a="http://schemas.openxmlformats.org/drawingml/2006/main">
            <a:r>
              <a:t/>
            </a:r>
          </a:p>
          <a:p xmlns:a="http://schemas.openxmlformats.org/drawingml/2006/main">
            <a:r>
              <a:t>먼저 학생이 결과를 예상하고 이유를 말하게 합니다. 풀이를 읽은 뒤 자기 답에서 바뀐 부분을 표시합니다. 설치가 안 된 학생은 제공 입력을 같은 순서로 추적하고 관찰 방식을 적습니다.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D:\KDigital_PhysicalAI\outputs\2026-10-21\lesson.md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필수 결과 확인 뒤 사용하며 50분 필수 경로에 모두 넣었다고 주장하지 않습니다. 학생이 먼저 독립 답안을 작성하고 정답을 notes로 읽습니다.</a:t>
            </a:r>
          </a:p>
          <a:p xmlns:a="http://schemas.openxmlformats.org/drawingml/2006/main">
            <a:r>
              <a:t>1 · 서로 다른 이름</a:t>
            </a:r>
          </a:p>
          <a:p xmlns:a="http://schemas.openxmlformats.org/drawingml/2006/main">
            <a:r>
              <a:t/>
            </a:r>
          </a:p>
          <a:p xmlns:a="http://schemas.openxmlformats.org/drawingml/2006/main">
            <a:r>
              <a:t>**문제:** 탭=공장 A,본문 제목=온도 확인,버튼 글자=기록 조회로 바꾸고 내부 id check를 유지하려면 어느 태그 부분을 고치나요? 버튼 반응까지 생겼다고 보고할 수 있나요?</a:t>
            </a:r>
          </a:p>
          <a:p xmlns:a="http://schemas.openxmlformats.org/drawingml/2006/main">
            <a:r>
              <a:t/>
            </a:r>
          </a:p>
          <a:p xmlns:a="http://schemas.openxmlformats.org/drawingml/2006/main">
            <a:r>
              <a:t>**해설·확인 기준:** title, h1의 내용, button의 태그 사이 문구를 바꾸며 id는 유지합니다. 동작 코드가 없으면 클릭 반응은 생기지 않습니다. 저장→같은 경로 열기→새로고침 확인까지 설명합니다.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D:\KDigital_PhysicalAI\outputs\2026-10-21\assessment.md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필수 결과 확인 뒤 사용하며 50분 필수 경로에 모두 넣었다고 주장하지 않습니다. 학생이 먼저 독립 답안을 작성하고 정답을 notes로 읽습니다.</a:t>
            </a:r>
          </a:p>
          <a:p xmlns:a="http://schemas.openxmlformats.org/drawingml/2006/main">
            <a:r>
              <a:t>2 · 안쪽과 바깥 간격</a:t>
            </a:r>
          </a:p>
          <a:p xmlns:a="http://schemas.openxmlformats.org/drawingml/2006/main">
            <a:r>
              <a:t/>
            </a:r>
          </a:p>
          <a:p xmlns:a="http://schemas.openxmlformats.org/drawingml/2006/main">
            <a:r>
              <a:t>**문제:** 버튼 글자 주변만 넓히고 다른 카드와의 거리는 유지하려 합니다. 속성을 선택하세요. 녹색 원만 있는 정상 표시는 어떻게 보완하나요?</a:t>
            </a:r>
          </a:p>
          <a:p xmlns:a="http://schemas.openxmlformats.org/drawingml/2006/main">
            <a:r>
              <a:t/>
            </a:r>
          </a:p>
          <a:p xmlns:a="http://schemas.openxmlformats.org/drawingml/2006/main">
            <a:r>
              <a:t>**해설·확인 기준:** padding을 바꾸고 margin은 유지합니다. “정상: 가상 온도가 기준 미만입니다” 같은 글자를 함께 표시합니다. Tab으로 초점도 확인합니다. 색 자체가 데이터의 정확성 근거는 아닙니다.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D:\KDigital_PhysicalAI\outputs\2026-10-21\assessment.md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필수 결과 확인 뒤 사용하며 50분 필수 경로에 모두 넣었다고 주장하지 않습니다. 학생이 먼저 독립 답안을 작성하고 정답을 notes로 읽습니다.</a:t>
            </a:r>
          </a:p>
          <a:p xmlns:a="http://schemas.openxmlformats.org/drawingml/2006/main">
            <a:r>
              <a:t>3 · 초기 표시와 클릭값</a:t>
            </a:r>
          </a:p>
          <a:p xmlns:a="http://schemas.openxmlformats.org/drawingml/2006/main">
            <a:r>
              <a:t/>
            </a:r>
          </a:p>
          <a:p xmlns:a="http://schemas.openxmlformats.org/drawingml/2006/main">
            <a:r>
              <a:t>**문제:** HTML은 22.5, data.js는 26입니다. 열기 직후와 클릭 뒤 값은 무엇인가요? 버튼 id가 read인데 선택자가 #check이면 어디를 고치고 어떻게 재검사하나요?</a:t>
            </a:r>
          </a:p>
          <a:p xmlns:a="http://schemas.openxmlformats.org/drawingml/2006/main">
            <a:r>
              <a:t/>
            </a:r>
          </a:p>
          <a:p xmlns:a="http://schemas.openxmlformats.org/drawingml/2006/main">
            <a:r>
              <a:t>**해설·확인 기준:** 직후 22.5, 클릭 뒤 26입니다. HTML id와 JavaScript 선택자를 일치시키며 같은 클릭 행동으로 재검사합니다. 클릭은 data.js를 저장하지 않습니다. 실제 데이터 출처를 구별하면 충족입니다.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D:\KDigital_PhysicalAI\outputs\2026-10-21\assessment.md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필수 결과 확인 뒤 사용하며 50분 필수 경로에 모두 넣었다고 주장하지 않습니다. 학생이 먼저 독립 답안을 작성하고 정답을 notes로 읽습니다.</a:t>
            </a:r>
          </a:p>
          <a:p xmlns:a="http://schemas.openxmlformats.org/drawingml/2006/main">
            <a:r>
              <a:t>4 · JSX와 번들</a:t>
            </a:r>
          </a:p>
          <a:p xmlns:a="http://schemas.openxmlformats.org/drawingml/2006/main">
            <a:r>
              <a:t/>
            </a:r>
          </a:p>
          <a:p xmlns:a="http://schemas.openxmlformats.org/drawingml/2006/main">
            <a:r>
              <a:t>**문제:** App.jsx 증가량을 1로 바꿨지만 제공 app.bundle.js는 그대로입니다. 화면 증가량을 단정할 수 있나요? 처음 값 24에서 기존 0.5 버튼을 세 번 누르고 새로고침하면 어떻게 되나요?</a:t>
            </a:r>
          </a:p>
          <a:p xmlns:a="http://schemas.openxmlformats.org/drawingml/2006/main">
            <a:r>
              <a:t/>
            </a:r>
          </a:p>
          <a:p xmlns:a="http://schemas.openxmlformats.org/drawingml/2006/main">
            <a:r>
              <a:t>**해설·확인 기준:** 브라우저는 기존 번들을 실행하므로 소스 수정만으로 새 증가량을 보장할 수 없습니다. 기존 동작은 25.5 뒤 새로고침 24입니다. JSX는 변환이 필요하며 state는 파일 저장이 아닙니다.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D:\KDigital_PhysicalAI\outputs\2026-10-21\assessment.md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필수 결과 확인 뒤 사용하며 50분 필수 경로에 모두 넣었다고 주장하지 않습니다. 학생이 먼저 독립 답안을 작성하고 정답을 notes로 읽습니다.</a:t>
            </a:r>
          </a:p>
          <a:p xmlns:a="http://schemas.openxmlformats.org/drawingml/2006/main">
            <a:r>
              <a:t>5 · 연결 방식과 권한</a:t>
            </a:r>
          </a:p>
          <a:p xmlns:a="http://schemas.openxmlformats.org/drawingml/2006/main">
            <a:r>
              <a:t/>
            </a:r>
          </a:p>
          <a:p xmlns:a="http://schemas.openxmlformats.org/drawingml/2006/main">
            <a:r>
              <a:t>**문제:** 고정 HTML 값·data.js 값·MCP 응답을 출처와 연결 단계로 비교하세요. 읽기 도구를 연결하며 삭제 권한까지 요구하면 어떻게 판단하나요?</a:t>
            </a:r>
          </a:p>
          <a:p xmlns:a="http://schemas.openxmlformats.org/drawingml/2006/main">
            <a:r>
              <a:t/>
            </a:r>
          </a:p>
          <a:p xmlns:a="http://schemas.openxmlformats.org/drawingml/2006/main">
            <a:r>
              <a:t>**해설·확인 기준:** 문서 글자·브라우저 데이터 파일·서버 기록 조회를 구별합니다. MCP는 초기화와 도구 발견 및 호출 과정이 있고 목적과 무관한 삭제 권한은 허용 근거가 없습니다. 연결 자체가 전체 쓰기 권한을 뜻하지 않습니다.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D:\KDigital_PhysicalAI\outputs\2026-10-21\assessment.md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추가·복습 슬라이드. 필수 결과 확인 뒤 사용하며 50분 필수 경로에 모두 넣었다고 주장하지 않습니다. 학생이 먼저 독립 답안을 작성하고 정답을 notes로 읽습니다.</a:t>
            </a:r>
          </a:p>
          <a:p xmlns:a="http://schemas.openxmlformats.org/drawingml/2006/main">
            <a:r>
              <a:t>6 · 응답과 화면 사이</a:t>
            </a:r>
          </a:p>
          <a:p xmlns:a="http://schemas.openxmlformats.org/drawingml/2006/main">
            <a:r>
              <a:t/>
            </a:r>
          </a:p>
          <a:p xmlns:a="http://schemas.openxmlformats.org/drawingml/2006/main">
            <a:r>
              <a:t>**문제:** 온도 0,온도 null,isError:true 세 응답의 표시를 쓰고 MCP 결과를 받았는데 React 화면이 그대로인 원인 후보를 설명하세요. 응답 속 삭제 지시는 권한 근거인가요?</a:t>
            </a:r>
          </a:p>
          <a:p xmlns:a="http://schemas.openxmlformats.org/drawingml/2006/main">
            <a:r>
              <a:t/>
            </a:r>
          </a:p>
          <a:p xmlns:a="http://schemas.openxmlformats.org/drawingml/2006/main">
            <a:r>
              <a:t>**해설·확인 기준:** 0 ℃·미측정·조회 실패로 구별합니다. 응답 해석과 유효값 확인 및 상태 전달 경로가 빠졌을 수 있습니다. 데이터 속 삭제 지시는 권한 근거가 아닙니다. 실제 호출과 화면 갱신을 따로 확인합니다.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D:\KDigital_PhysicalAI\outputs\2026-10-21\assessment.md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변경한 파일과 목적을 적습니다. 입력·예상·실제 결과를 연결합니다. 직접 실행과 관찰 방식을 구별합니다.</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D:\KDigital_PhysicalAI\outputs\2026-10-21\assessment.md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아직 확인하지 않은 조건을 두 개 쓰세요. 같은 결과를 다시 얻을 방법을 설명하세요.</a:t>
            </a:r>
          </a:p>
          <a:p xmlns:a="http://schemas.openxmlformats.org/drawingml/2006/main">
            <a:r>
              <a:t/>
            </a:r>
          </a:p>
          <a:p xmlns:a="http://schemas.openxmlformats.org/drawingml/2006/main">
            <a:r>
              <a:t>운영: 50분 × 6교시입니다. 필수 결과를 먼저 확인하고 독립 문제는 추가 복습으로 사용합니다.</a:t>
            </a:r>
          </a:p>
          <a:p xmlns:a="http://schemas.openxmlformats.org/drawingml/2006/main">
            <a:r>
              <a:t>학생이 낯선 용어를 일상적인 표현으로 먼저 설명하도록 합니다. 파일 탐색기는 위치를 찾고 편집기는 내용을 저장하며 터미널·브라우저는 지정한 파일을 실행하거나 표시합니다. 같은 이름의 원본과 작업본을 혼동하지 않도록 열린 경로를 확인합니다.</a:t>
            </a:r>
          </a:p>
          <a:p xmlns:a="http://schemas.openxmlformats.org/drawingml/2006/main">
            <a:r>
              <a:t>이 화면에서 관찰할 근거를 하나 고른 뒤 입력, 예상 결과, 실제 결과를 연결합니다. 실행하지 못한 항목은 제공 결과 읽기 또는 강사 시연 관찰로 기록합니다.</a:t>
            </a:r>
          </a:p>
          <a:p xmlns:a="http://schemas.openxmlformats.org/drawingml/2006/main">
            <a:r>
              <a:t>출처: D:\KDigital_PhysicalAI\outputs\2026-10-21\lesson.md</a:t>
            </a:r>
          </a:p>
          <a:p xmlns:a="http://schemas.openxmlformats.org/drawingml/2006/main">
            <a:r>
              <a:t>실습 단계·예상 출력·복구: D:\KDigital_PhysicalAI\outputs\2026-10-21\practice-guide.md</a:t>
            </a:r>
          </a:p>
          <a:p xmlns:a="http://schemas.openxmlformats.org/drawingml/2006/main">
            <a:r>
              <a:t>필수·추가 경로: D:\KDigital_PhysicalAI\outputs\2026-10-21\beginner-start.md</a:t>
            </a:r>
          </a:p>
          <a:p xmlns:a="http://schemas.openxmlformats.org/drawingml/2006/main">
            <a:r>
              <a:t>실행 예제 원본: D:\KDigital_PhysicalAI\outputs\2026-10-21\examples\course</a:t>
            </a:r>
          </a:p>
          <a:p xmlns:a="http://schemas.openxmlformats.org/drawingml/2006/main">
            <a:r>
              <a:t/>
            </a:r>
          </a:p>
          <a:p xmlns:a="http://schemas.openxmlformats.org/drawingml/2006/main">
            <a:r>
              <a:t>자료 위치: D:\KDigital_PhysicalAI\outputs\2026-10-21\assessment.md</a:t>
            </a:r>
          </a:p>
          <a:p xmlns:a="http://schemas.openxmlformats.org/drawingml/2006/main">
            <a:r>
              <a:t>웹 교안: https://zeusk302-png.github.io/kdigital-physical-ai/#/sessions/2026-10-21/lesson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d233a7fa5246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33f1b28a21426b" /><Relationship Type="http://schemas.openxmlformats.org/officeDocument/2006/relationships/slideLayout" Target="/ppt/slideLayouts/slideLayout1.xml" Id="Rf65aa260f96b4c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5aa260f96b4c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43800482994ec4" /><Relationship Type="http://schemas.openxmlformats.org/officeDocument/2006/relationships/notesSlide" Target="/ppt/notesSlides/notesSlide1.xml" Id="R9ffa6c8d804d41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232b75acd54084" /><Relationship Type="http://schemas.openxmlformats.org/officeDocument/2006/relationships/notesSlide" Target="/ppt/notesSlides/notesSlide2.xml" Id="Ra77a4fd070b142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f71aa19cbe488d" /><Relationship Type="http://schemas.openxmlformats.org/officeDocument/2006/relationships/notesSlide" Target="/ppt/notesSlides/notesSlide3.xml" Id="R9a9b35b006e74c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e9f620720f4fc7" /><Relationship Type="http://schemas.openxmlformats.org/officeDocument/2006/relationships/notesSlide" Target="/ppt/notesSlides/notesSlide4.xml" Id="Rd886a394fdd044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44f695788749af" /><Relationship Type="http://schemas.openxmlformats.org/officeDocument/2006/relationships/notesSlide" Target="/ppt/notesSlides/notesSlide5.xml" Id="R2af9b90893b44b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6cbea7a80f40c5" /><Relationship Type="http://schemas.openxmlformats.org/officeDocument/2006/relationships/notesSlide" Target="/ppt/notesSlides/notesSlide6.xml" Id="R4d8ae340465745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7ca29b415f489c" /><Relationship Type="http://schemas.openxmlformats.org/officeDocument/2006/relationships/notesSlide" Target="/ppt/notesSlides/notesSlide7.xml" Id="R305394ba70ee4c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76b5d7cffa4af1" /><Relationship Type="http://schemas.openxmlformats.org/officeDocument/2006/relationships/notesSlide" Target="/ppt/notesSlides/notesSlide8.xml" Id="Rf4c1146206924e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5069c1422f460d" /><Relationship Type="http://schemas.openxmlformats.org/officeDocument/2006/relationships/notesSlide" Target="/ppt/notesSlides/notesSlide9.xml" Id="Rfa5e43c3fedb43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4f6ef3ad83425a" /><Relationship Type="http://schemas.openxmlformats.org/officeDocument/2006/relationships/notesSlide" Target="/ppt/notesSlides/notesSlide10.xml" Id="R48807a7997a040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2cbb2073d94a10" /><Relationship Type="http://schemas.openxmlformats.org/officeDocument/2006/relationships/notesSlide" Target="/ppt/notesSlides/notesSlide11.xml" Id="R2beca2bf69a34d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228eb1e379e464f" /><Relationship Type="http://schemas.openxmlformats.org/officeDocument/2006/relationships/notesSlide" Target="/ppt/notesSlides/notesSlide12.xml" Id="Re7210d69efc740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5e39c573094992" /><Relationship Type="http://schemas.openxmlformats.org/officeDocument/2006/relationships/notesSlide" Target="/ppt/notesSlides/notesSlide13.xml" Id="R79b97331094844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7b57dfb9e564a77" /><Relationship Type="http://schemas.openxmlformats.org/officeDocument/2006/relationships/notesSlide" Target="/ppt/notesSlides/notesSlide14.xml" Id="Ra8ca275e787c42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126998104a24bf6" /><Relationship Type="http://schemas.openxmlformats.org/officeDocument/2006/relationships/notesSlide" Target="/ppt/notesSlides/notesSlide15.xml" Id="R319b3df276364d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b9def3299849a7" /><Relationship Type="http://schemas.openxmlformats.org/officeDocument/2006/relationships/notesSlide" Target="/ppt/notesSlides/notesSlide16.xml" Id="R6003ea3ee39b45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7227184f48465e" /><Relationship Type="http://schemas.openxmlformats.org/officeDocument/2006/relationships/notesSlide" Target="/ppt/notesSlides/notesSlide17.xml" Id="R05e1a63e29dd43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12d571736254402" /><Relationship Type="http://schemas.openxmlformats.org/officeDocument/2006/relationships/notesSlide" Target="/ppt/notesSlides/notesSlide18.xml" Id="R42f95297e3bc4a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1e3e58cf71e4c1c" /><Relationship Type="http://schemas.openxmlformats.org/officeDocument/2006/relationships/notesSlide" Target="/ppt/notesSlides/notesSlide19.xml" Id="Rdcf5f1d17dc741a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f82bfa2daa446cd" /><Relationship Type="http://schemas.openxmlformats.org/officeDocument/2006/relationships/notesSlide" Target="/ppt/notesSlides/notesSlide20.xml" Id="Rf65a2e33456644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0ec443c0cc747f5" /><Relationship Type="http://schemas.openxmlformats.org/officeDocument/2006/relationships/notesSlide" Target="/ppt/notesSlides/notesSlide21.xml" Id="R06631ade345947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b550bc9e0df4078" /><Relationship Type="http://schemas.openxmlformats.org/officeDocument/2006/relationships/notesSlide" Target="/ppt/notesSlides/notesSlide22.xml" Id="R7aff756758ab40f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84756f11c744104" /><Relationship Type="http://schemas.openxmlformats.org/officeDocument/2006/relationships/notesSlide" Target="/ppt/notesSlides/notesSlide23.xml" Id="R6650a0a5c34d45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1c3a61ecef94c8f" /><Relationship Type="http://schemas.openxmlformats.org/officeDocument/2006/relationships/notesSlide" Target="/ppt/notesSlides/notesSlide24.xml" Id="Rf6a6eaa14af049d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d43f453aee04686" /><Relationship Type="http://schemas.openxmlformats.org/officeDocument/2006/relationships/notesSlide" Target="/ppt/notesSlides/notesSlide25.xml" Id="Rf342fc439a1d4be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1f14f90a8dd45b6" /><Relationship Type="http://schemas.openxmlformats.org/officeDocument/2006/relationships/notesSlide" Target="/ppt/notesSlides/notesSlide26.xml" Id="Rf75c74eb615d40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1f3dde945dd4012" /><Relationship Type="http://schemas.openxmlformats.org/officeDocument/2006/relationships/notesSlide" Target="/ppt/notesSlides/notesSlide27.xml" Id="R785019a91a094fe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467a17cbc8d441c" /><Relationship Type="http://schemas.openxmlformats.org/officeDocument/2006/relationships/notesSlide" Target="/ppt/notesSlides/notesSlide28.xml" Id="Re8d2d2330ca94de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096a29c26e04e57" /><Relationship Type="http://schemas.openxmlformats.org/officeDocument/2006/relationships/notesSlide" Target="/ppt/notesSlides/notesSlide29.xml" Id="R5e149e864f15479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7afe80b7259401c" /><Relationship Type="http://schemas.openxmlformats.org/officeDocument/2006/relationships/notesSlide" Target="/ppt/notesSlides/notesSlide30.xml" Id="R3e9502c02a4f468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e83b0ea23b44c79" /><Relationship Type="http://schemas.openxmlformats.org/officeDocument/2006/relationships/notesSlide" Target="/ppt/notesSlides/notesSlide31.xml" Id="Re3d40d2d3315472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44aeae5bccd402b" /><Relationship Type="http://schemas.openxmlformats.org/officeDocument/2006/relationships/notesSlide" Target="/ppt/notesSlides/notesSlide32.xml" Id="R2cbe236875b449d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61e660a83454506" /><Relationship Type="http://schemas.openxmlformats.org/officeDocument/2006/relationships/notesSlide" Target="/ppt/notesSlides/notesSlide33.xml" Id="R8fcb572523f0496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c54dc8487f64d24" /><Relationship Type="http://schemas.openxmlformats.org/officeDocument/2006/relationships/notesSlide" Target="/ppt/notesSlides/notesSlide34.xml" Id="R5dd192348873474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2c497f9fa894695" /><Relationship Type="http://schemas.openxmlformats.org/officeDocument/2006/relationships/notesSlide" Target="/ppt/notesSlides/notesSlide35.xml" Id="R778b9c07976f47b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debf2d88b9c43c2" /><Relationship Type="http://schemas.openxmlformats.org/officeDocument/2006/relationships/notesSlide" Target="/ppt/notesSlides/notesSlide36.xml" Id="Rfc43d3fa70ea404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28ddbf7d73e4f8b" /><Relationship Type="http://schemas.openxmlformats.org/officeDocument/2006/relationships/notesSlide" Target="/ppt/notesSlides/notesSlide37.xml" Id="Rcb5cd24abf65435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b28eacd2852440f" /><Relationship Type="http://schemas.openxmlformats.org/officeDocument/2006/relationships/notesSlide" Target="/ppt/notesSlides/notesSlide38.xml" Id="Rcaedd1e57ed448e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7446804efac4204" /><Relationship Type="http://schemas.openxmlformats.org/officeDocument/2006/relationships/notesSlide" Target="/ppt/notesSlides/notesSlide39.xml" Id="R8286278a486442f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30562e2b17e4625" /><Relationship Type="http://schemas.openxmlformats.org/officeDocument/2006/relationships/notesSlide" Target="/ppt/notesSlides/notesSlide40.xml" Id="Rd97edd66f2af4d1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ad755030ec74ae2" /><Relationship Type="http://schemas.openxmlformats.org/officeDocument/2006/relationships/notesSlide" Target="/ppt/notesSlides/notesSlide41.xml" Id="Rb12428e8286941c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1cfb5a0771d4cae" /><Relationship Type="http://schemas.openxmlformats.org/officeDocument/2006/relationships/notesSlide" Target="/ppt/notesSlides/notesSlide42.xml" Id="R9803dbf6b9ea433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267ed0467fc4a00" /><Relationship Type="http://schemas.openxmlformats.org/officeDocument/2006/relationships/notesSlide" Target="/ppt/notesSlides/notesSlide43.xml" Id="Ra6e8d11da3c5455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82db0f0fbb0442c" /><Relationship Type="http://schemas.openxmlformats.org/officeDocument/2006/relationships/notesSlide" Target="/ppt/notesSlides/notesSlide44.xml" Id="R689a9e2261924b1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38d4812550584b48" /><Relationship Type="http://schemas.openxmlformats.org/officeDocument/2006/relationships/notesSlide" Target="/ppt/notesSlides/notesSlide45.xml" Id="Rfddcd5fd57a8411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eb22569b12b4631" /><Relationship Type="http://schemas.openxmlformats.org/officeDocument/2006/relationships/notesSlide" Target="/ppt/notesSlides/notesSlide46.xml" Id="Rf5aac5eeb7864c7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43162b5d07e4071" /><Relationship Type="http://schemas.openxmlformats.org/officeDocument/2006/relationships/notesSlide" Target="/ppt/notesSlides/notesSlide47.xml" Id="R205e14d4de23489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846a7a721fe4f12" /><Relationship Type="http://schemas.openxmlformats.org/officeDocument/2006/relationships/notesSlide" Target="/ppt/notesSlides/notesSlide48.xml" Id="R8b17f9c9208740a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5f872822dc34cab" /><Relationship Type="http://schemas.openxmlformats.org/officeDocument/2006/relationships/notesSlide" Target="/ppt/notesSlides/notesSlide49.xml" Id="R2a3bf7b93acd42e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30f56a2aa2b43f9" /><Relationship Type="http://schemas.openxmlformats.org/officeDocument/2006/relationships/notesSlide" Target="/ppt/notesSlides/notesSlide50.xml" Id="R9ca0947845db4be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438ae9d5eed4d3e" /><Relationship Type="http://schemas.openxmlformats.org/officeDocument/2006/relationships/notesSlide" Target="/ppt/notesSlides/notesSlide51.xml" Id="R4d3206a4e8a8467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d3b198146744d33" /><Relationship Type="http://schemas.openxmlformats.org/officeDocument/2006/relationships/notesSlide" Target="/ppt/notesSlides/notesSlide52.xml" Id="R1f1409bc99934fd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dd7c59e3aa44840" /><Relationship Type="http://schemas.openxmlformats.org/officeDocument/2006/relationships/notesSlide" Target="/ppt/notesSlides/notesSlide53.xml" Id="R4f5810352d1c423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5e4478a194946b0" /><Relationship Type="http://schemas.openxmlformats.org/officeDocument/2006/relationships/notesSlide" Target="/ppt/notesSlides/notesSlide54.xml" Id="Rddb07036a97d4a1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c812ebbe1eb4456" /><Relationship Type="http://schemas.openxmlformats.org/officeDocument/2006/relationships/notesSlide" Target="/ppt/notesSlides/notesSlide55.xml" Id="R4f2785f013604c6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25fe17bfbe014e6e" /><Relationship Type="http://schemas.openxmlformats.org/officeDocument/2006/relationships/notesSlide" Target="/ppt/notesSlides/notesSlide56.xml" Id="R81a140d243934cc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d59fc368ea94db3" /><Relationship Type="http://schemas.openxmlformats.org/officeDocument/2006/relationships/notesSlide" Target="/ppt/notesSlides/notesSlide57.xml" Id="R411c9a6297354ee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0eb5c7c540d44b7" /><Relationship Type="http://schemas.openxmlformats.org/officeDocument/2006/relationships/notesSlide" Target="/ppt/notesSlides/notesSlide58.xml" Id="R645f71b50bfe487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433a7f8e4d547d7" /><Relationship Type="http://schemas.openxmlformats.org/officeDocument/2006/relationships/notesSlide" Target="/ppt/notesSlides/notesSlide59.xml" Id="R17ea71767a9f4b1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b1fb40109424ae4" /><Relationship Type="http://schemas.openxmlformats.org/officeDocument/2006/relationships/notesSlide" Target="/ppt/notesSlides/notesSlide60.xml" Id="R64dc7a7acec64b5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ca9b432cfc444a18" /><Relationship Type="http://schemas.openxmlformats.org/officeDocument/2006/relationships/notesSlide" Target="/ppt/notesSlides/notesSlide61.xml" Id="R63ffb10e2dc0461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918970e17e248e0" /><Relationship Type="http://schemas.openxmlformats.org/officeDocument/2006/relationships/notesSlide" Target="/ppt/notesSlides/notesSlide62.xml" Id="R2ef62bc5441b45c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0ccb5332139946d6" /><Relationship Type="http://schemas.openxmlformats.org/officeDocument/2006/relationships/notesSlide" Target="/ppt/notesSlides/notesSlide63.xml" Id="Rb928c7b5d3c7453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3442ec654c8487e" /><Relationship Type="http://schemas.openxmlformats.org/officeDocument/2006/relationships/notesSlide" Target="/ppt/notesSlides/notesSlide64.xml" Id="R05298f9db82d4f0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03859cdded274ea8" /><Relationship Type="http://schemas.openxmlformats.org/officeDocument/2006/relationships/notesSlide" Target="/ppt/notesSlides/notesSlide65.xml" Id="Re00489f783c1472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d46790ef1c064df1" /><Relationship Type="http://schemas.openxmlformats.org/officeDocument/2006/relationships/notesSlide" Target="/ppt/notesSlides/notesSlide66.xml" Id="R15ae50c5ac954ca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5d574ef82c6043d7" /><Relationship Type="http://schemas.openxmlformats.org/officeDocument/2006/relationships/notesSlide" Target="/ppt/notesSlides/notesSlide67.xml" Id="R187e88a5659d40d1"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17f96b3fb2644125" /><Relationship Type="http://schemas.openxmlformats.org/officeDocument/2006/relationships/notesSlide" Target="/ppt/notesSlides/notesSlide68.xml" Id="R3644b254902f4998"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ce35b8ed1f2c4cbf" /><Relationship Type="http://schemas.openxmlformats.org/officeDocument/2006/relationships/notesSlide" Target="/ppt/notesSlides/notesSlide69.xml" Id="R5ea0276080e8498d"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29f4a282f9c460b" /><Relationship Type="http://schemas.openxmlformats.org/officeDocument/2006/relationships/notesSlide" Target="/ppt/notesSlides/notesSlide70.xml" Id="Red773a9a51594e7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03b1ea5a4d9641fb" /><Relationship Type="http://schemas.openxmlformats.org/officeDocument/2006/relationships/notesSlide" Target="/ppt/notesSlides/notesSlide71.xml" Id="Red44be5dd0304613"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d7598309c48547f4" /><Relationship Type="http://schemas.openxmlformats.org/officeDocument/2006/relationships/notesSlide" Target="/ppt/notesSlides/notesSlide72.xml" Id="R73aefa3f10d24736"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5c1a094eed574ad2" /><Relationship Type="http://schemas.openxmlformats.org/officeDocument/2006/relationships/notesSlide" Target="/ppt/notesSlides/notesSlide73.xml" Id="R75842a097a3947c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5fac58c69711492a" /><Relationship Type="http://schemas.openxmlformats.org/officeDocument/2006/relationships/notesSlide" Target="/ppt/notesSlides/notesSlide74.xml" Id="R78568d5d90894bbd"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5cba53acf6924e42" /><Relationship Type="http://schemas.openxmlformats.org/officeDocument/2006/relationships/notesSlide" Target="/ppt/notesSlides/notesSlide75.xml" Id="R85af3abe926c4009"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caf78c4fe9ed47fd" /><Relationship Type="http://schemas.openxmlformats.org/officeDocument/2006/relationships/notesSlide" Target="/ppt/notesSlides/notesSlide76.xml" Id="R98c6661b28a6499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235bbe826cd84dbf" /><Relationship Type="http://schemas.openxmlformats.org/officeDocument/2006/relationships/notesSlide" Target="/ppt/notesSlides/notesSlide77.xml" Id="R70b5f26a70e5464c"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244fb68c42c749df" /><Relationship Type="http://schemas.openxmlformats.org/officeDocument/2006/relationships/notesSlide" Target="/ppt/notesSlides/notesSlide78.xml" Id="R45faed2579a54eaa"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dc05f35233774095" /><Relationship Type="http://schemas.openxmlformats.org/officeDocument/2006/relationships/notesSlide" Target="/ppt/notesSlides/notesSlide79.xml" Id="R825b177c1eda4894"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7cdef42f2cdf4586" /><Relationship Type="http://schemas.openxmlformats.org/officeDocument/2006/relationships/notesSlide" Target="/ppt/notesSlides/notesSlide80.xml" Id="R27702197f8844f3c"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83c287ab8bcb4e2f" /><Relationship Type="http://schemas.openxmlformats.org/officeDocument/2006/relationships/notesSlide" Target="/ppt/notesSlides/notesSlide81.xml" Id="Rbb4938b2a05743b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11f237205e754a33" /><Relationship Type="http://schemas.openxmlformats.org/officeDocument/2006/relationships/notesSlide" Target="/ppt/notesSlides/notesSlide82.xml" Id="R18dcdb19852f4c9f"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262db53aea2349f9" /><Relationship Type="http://schemas.openxmlformats.org/officeDocument/2006/relationships/notesSlide" Target="/ppt/notesSlides/notesSlide83.xml" Id="R80cb69fc6af24eb9"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a0925d34ce37408b" /><Relationship Type="http://schemas.openxmlformats.org/officeDocument/2006/relationships/notesSlide" Target="/ppt/notesSlides/notesSlide84.xml" Id="R096ba39ce0c94643"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6b100966742a4608" /><Relationship Type="http://schemas.openxmlformats.org/officeDocument/2006/relationships/notesSlide" Target="/ppt/notesSlides/notesSlide85.xml" Id="R81bf6b1358b84fa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354cbda95dff4ae9" /><Relationship Type="http://schemas.openxmlformats.org/officeDocument/2006/relationships/notesSlide" Target="/ppt/notesSlides/notesSlide86.xml" Id="R70bde39da8734fe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a4ca64a50d0d4d15" /><Relationship Type="http://schemas.openxmlformats.org/officeDocument/2006/relationships/notesSlide" Target="/ppt/notesSlides/notesSlide87.xml" Id="R11eba3de198442a4"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4271959433a148fc" /><Relationship Type="http://schemas.openxmlformats.org/officeDocument/2006/relationships/notesSlide" Target="/ppt/notesSlides/notesSlide88.xml" Id="Raad8bef53cf84f86"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cd278933562a479d" /><Relationship Type="http://schemas.openxmlformats.org/officeDocument/2006/relationships/notesSlide" Target="/ppt/notesSlides/notesSlide89.xml" Id="Rb72320ee2ad3443e"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6d99e317f67c495f" /><Relationship Type="http://schemas.openxmlformats.org/officeDocument/2006/relationships/notesSlide" Target="/ppt/notesSlides/notesSlide90.xml" Id="R6e59d896b29541f4"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9223b514f9614bf6" /><Relationship Type="http://schemas.openxmlformats.org/officeDocument/2006/relationships/notesSlide" Target="/ppt/notesSlides/notesSlide91.xml" Id="R9825948c3deb4870"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5d36ba0fa24b49d4" /><Relationship Type="http://schemas.openxmlformats.org/officeDocument/2006/relationships/notesSlide" Target="/ppt/notesSlides/notesSlide92.xml" Id="Rb81e7daadc0e4570"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a7d2be6481cd4f37" /><Relationship Type="http://schemas.openxmlformats.org/officeDocument/2006/relationships/notesSlide" Target="/ppt/notesSlides/notesSlide93.xml" Id="R9f1f26b4807f4d20"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17e29a9305bf45d4" /><Relationship Type="http://schemas.openxmlformats.org/officeDocument/2006/relationships/notesSlide" Target="/ppt/notesSlides/notesSlide94.xml" Id="R99e64591ecb14290"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78e8273776f74447" /><Relationship Type="http://schemas.openxmlformats.org/officeDocument/2006/relationships/notesSlide" Target="/ppt/notesSlides/notesSlide95.xml" Id="R6e522791fbf145cd"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99e80da52d7448e1" /><Relationship Type="http://schemas.openxmlformats.org/officeDocument/2006/relationships/notesSlide" Target="/ppt/notesSlides/notesSlide96.xml" Id="R6bcfdb8ba86c4d81"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5d1c01dd12a9462b" /><Relationship Type="http://schemas.openxmlformats.org/officeDocument/2006/relationships/notesSlide" Target="/ppt/notesSlides/notesSlide97.xml" Id="Ra19d31b47fe74b7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657ced4b226b4153" /><Relationship Type="http://schemas.openxmlformats.org/officeDocument/2006/relationships/notesSlide" Target="/ppt/notesSlides/notesSlide98.xml" Id="Rc0298e1bb0a34d7f"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cfefcc3719744097" /><Relationship Type="http://schemas.openxmlformats.org/officeDocument/2006/relationships/notesSlide" Target="/ppt/notesSlides/notesSlide99.xml" Id="R179764cd7ba64cd6"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a49348c7cab04a3b" /><Relationship Type="http://schemas.openxmlformats.org/officeDocument/2006/relationships/notesSlide" Target="/ppt/notesSlides/notesSlide100.xml" Id="R59396a2b780343bf"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461c6f9415c544df" /><Relationship Type="http://schemas.openxmlformats.org/officeDocument/2006/relationships/notesSlide" Target="/ppt/notesSlides/notesSlide101.xml" Id="R35a586de858047b0"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2c07b2c0a1544599" /><Relationship Type="http://schemas.openxmlformats.org/officeDocument/2006/relationships/notesSlide" Target="/ppt/notesSlides/notesSlide102.xml" Id="R79ef1806fc0240f2"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9f3d17b0e2ff4d39" /><Relationship Type="http://schemas.openxmlformats.org/officeDocument/2006/relationships/notesSlide" Target="/ppt/notesSlides/notesSlide103.xml" Id="R288a3f2ae1e24806"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b2738d33afdd49d7" /><Relationship Type="http://schemas.openxmlformats.org/officeDocument/2006/relationships/notesSlide" Target="/ppt/notesSlides/notesSlide104.xml" Id="Ra30f0e42ca0949df"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1f9684742bdb468c" /><Relationship Type="http://schemas.openxmlformats.org/officeDocument/2006/relationships/notesSlide" Target="/ppt/notesSlides/notesSlide105.xml" Id="Rea07cc7f6cd84e60"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09f700e17cb443ea" /><Relationship Type="http://schemas.openxmlformats.org/officeDocument/2006/relationships/notesSlide" Target="/ppt/notesSlides/notesSlide106.xml" Id="R5e69a5d50b524742"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7ac6d903a62d4f49" /><Relationship Type="http://schemas.openxmlformats.org/officeDocument/2006/relationships/notesSlide" Target="/ppt/notesSlides/notesSlide107.xml" Id="Rf4042c19f67b4182" /></Relationships>
</file>

<file path=ppt/slides/slide1.xml><?xml version="1.0" encoding="utf-8"?>
<p:sld xmlns:p="http://schemas.openxmlformats.org/presentationml/2006/main">
  <p:cSld>
    <p:bg>
      <p:bgPr>
        <a:solidFill xmlns:a="http://schemas.openxmlformats.org/drawingml/2006/main">
          <a:srgbClr val="183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F153C2-EEB8-41BB-B75F-C46F3435BE97}"/>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A6D1C6"/>
                </a:solidFill>
                <a:latin typeface="Malgun Gothic"/>
                <a:ea typeface="Malgun Gothic"/>
                <a:cs typeface="Malgun Gothic"/>
              </a:defRPr>
            </a:pPr>
            <a:r>
              <a:rPr sz="1725" b="0">
                <a:solidFill>
                  <a:srgbClr val="A6D1C6"/>
                </a:solidFill>
                <a:latin typeface="Malgun Gothic"/>
                <a:ea typeface="Malgun Gothic"/>
                <a:cs typeface="Malgun Gothic"/>
              </a:rPr>
              <a:t>10/21  HTML·CSS·React·MCP</a:t>
            </a:r>
          </a:p>
        </p:txBody>
      </p:sp>
      <p:sp>
        <p:nvSpPr>
          <p:cNvPr id="2" name="">
            <a:extLst xmlns:a="http://schemas.openxmlformats.org/drawingml/2006/main">
              <a:ext uri="{FF2B5EF4-FFF2-40B4-BE49-F238E27FC236}">
                <a16:creationId xmlns:a16="http://schemas.microsoft.com/office/drawing/2014/main" id="{9A1E3836-B62F-4B63-8A35-349E61CC3089}"/>
              </a:ext>
            </a:extLst>
          </p:cNvPr>
          <p:cNvSpPr>
            <a:spLocks xmlns:a="http://schemas.openxmlformats.org/drawingml/2006/main" noGrp="1"/>
          </p:cNvSpPr>
          <p:nvPr/>
        </p:nvSpPr>
        <p:spPr>
          <a:xfrm xmlns:a="http://schemas.openxmlformats.org/drawingml/2006/main">
            <a:off x="723900" y="17335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F8F7F2"/>
                </a:solidFill>
                <a:latin typeface="Malgun Gothic"/>
                <a:ea typeface="Malgun Gothic"/>
                <a:cs typeface="Malgun Gothic"/>
              </a:defRPr>
            </a:pPr>
            <a:r>
              <a:rPr sz="4500" b="1">
                <a:solidFill>
                  <a:srgbClr val="F8F7F2"/>
                </a:solidFill>
                <a:latin typeface="Malgun Gothic"/>
                <a:ea typeface="Malgun Gothic"/>
                <a:cs typeface="Malgun Gothic"/>
              </a:rPr>
              <a:t>HTML·CSS·React·MCP</a:t>
            </a:r>
          </a:p>
        </p:txBody>
      </p:sp>
      <p:sp>
        <p:nvSpPr>
          <p:cNvPr id="3" name="">
            <a:extLst xmlns:a="http://schemas.openxmlformats.org/drawingml/2006/main">
              <a:ext uri="{FF2B5EF4-FFF2-40B4-BE49-F238E27FC236}">
                <a16:creationId xmlns:a16="http://schemas.microsoft.com/office/drawing/2014/main" id="{582A1C77-97A7-4C43-834F-491BD2E44D83}"/>
              </a:ext>
            </a:extLst>
          </p:cNvPr>
          <p:cNvSpPr>
            <a:spLocks xmlns:a="http://schemas.openxmlformats.org/drawingml/2006/main" noGrp="1"/>
          </p:cNvSpPr>
          <p:nvPr/>
        </p:nvSpPr>
        <p:spPr>
          <a:xfrm xmlns:a="http://schemas.openxmlformats.org/drawingml/2006/main">
            <a:off x="762000" y="34099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2026-10-21</a:t>
            </a:r>
          </a:p>
        </p:txBody>
      </p:sp>
      <p:sp>
        <p:nvSpPr>
          <p:cNvPr id="4" name="">
            <a:extLst xmlns:a="http://schemas.openxmlformats.org/drawingml/2006/main">
              <a:ext uri="{FF2B5EF4-FFF2-40B4-BE49-F238E27FC236}">
                <a16:creationId xmlns:a16="http://schemas.microsoft.com/office/drawing/2014/main" id="{554DB7C4-FEEE-4302-B75D-952BDD91C9DB}"/>
              </a:ext>
            </a:extLst>
          </p:cNvPr>
          <p:cNvSpPr>
            <a:spLocks xmlns:a="http://schemas.openxmlformats.org/drawingml/2006/main" noGrp="1"/>
          </p:cNvSpPr>
          <p:nvPr/>
        </p:nvSpPr>
        <p:spPr>
          <a:xfrm xmlns:a="http://schemas.openxmlformats.org/drawingml/2006/main">
            <a:off x="762000" y="40195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가상 자료로 개념과 결과를 확인합니다.</a:t>
            </a:r>
          </a:p>
        </p:txBody>
      </p:sp>
      <p:sp>
        <p:nvSpPr>
          <p:cNvPr id="5" name="">
            <a:extLst xmlns:a="http://schemas.openxmlformats.org/drawingml/2006/main">
              <a:ext uri="{FF2B5EF4-FFF2-40B4-BE49-F238E27FC236}">
                <a16:creationId xmlns:a16="http://schemas.microsoft.com/office/drawing/2014/main" id="{84726C45-795A-4ED7-B658-6E5E3AC3792C}"/>
              </a:ext>
            </a:extLst>
          </p:cNvPr>
          <p:cNvSpPr>
            <a:spLocks xmlns:a="http://schemas.openxmlformats.org/drawingml/2006/main" noGrp="1"/>
          </p:cNvSpPr>
          <p:nvPr/>
        </p:nvSpPr>
        <p:spPr>
          <a:xfrm xmlns:a="http://schemas.openxmlformats.org/drawingml/2006/main">
            <a:off x="762000" y="46291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50분 수업 6교시로 진행합니다.</a:t>
            </a:r>
          </a:p>
        </p:txBody>
      </p:sp>
      <p:sp>
        <p:nvSpPr>
          <p:cNvPr id="6" name="">
            <a:extLst xmlns:a="http://schemas.openxmlformats.org/drawingml/2006/main">
              <a:ext uri="{FF2B5EF4-FFF2-40B4-BE49-F238E27FC236}">
                <a16:creationId xmlns:a16="http://schemas.microsoft.com/office/drawing/2014/main" id="{AA4EFABA-6BF4-4181-9A8E-A788E3F0292D}"/>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A6D1C6"/>
                </a:solidFill>
                <a:latin typeface="Malgun Gothic"/>
                <a:ea typeface="Malgun Gothic"/>
                <a:cs typeface="Malgun Gothic"/>
              </a:defRPr>
            </a:pPr>
            <a:r>
              <a:rPr sz="1500" b="0">
                <a:solidFill>
                  <a:srgbClr val="A6D1C6"/>
                </a:solidFill>
                <a:latin typeface="Malgun Gothic"/>
                <a:ea typeface="Malgun Gothic"/>
                <a:cs typeface="Malgun Gothic"/>
              </a:rPr>
              <a:t>01</a:t>
            </a:r>
          </a:p>
        </p:txBody>
      </p:sp>
    </p:spTree>
    <p:extLst>
      <p:ext uri="{BB962C8B-B14F-4D97-AF65-F5344CB8AC3E}">
        <p14:creationId xmlns:p14="http://schemas.microsoft.com/office/powerpoint/2010/main" val="310187886"/>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002004-74D3-4E81-ADB2-DA2ACE04660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10/21  HTML·CSS·React·MCP</a:t>
            </a:r>
          </a:p>
        </p:txBody>
      </p:sp>
      <p:sp>
        <p:nvSpPr>
          <p:cNvPr id="2" name="">
            <a:extLst xmlns:a="http://schemas.openxmlformats.org/drawingml/2006/main">
              <a:ext uri="{FF2B5EF4-FFF2-40B4-BE49-F238E27FC236}">
                <a16:creationId xmlns:a16="http://schemas.microsoft.com/office/drawing/2014/main" id="{3CBC4FBD-7CAC-4466-A2DE-46FF292B69D3}"/>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파일을 여는 첫 순서</a:t>
            </a:r>
          </a:p>
        </p:txBody>
      </p:sp>
      <p:sp>
        <p:nvSpPr>
          <p:cNvPr id="3" name="">
            <a:extLst xmlns:a="http://schemas.openxmlformats.org/drawingml/2006/main">
              <a:ext uri="{FF2B5EF4-FFF2-40B4-BE49-F238E27FC236}">
                <a16:creationId xmlns:a16="http://schemas.microsoft.com/office/drawing/2014/main" id="{A633392D-5215-4302-B8F5-C01C878D58F5}"/>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ZIP을 일반 폴더에 풉니다.</a:t>
            </a:r>
          </a:p>
        </p:txBody>
      </p:sp>
      <p:sp>
        <p:nvSpPr>
          <p:cNvPr id="4" name="">
            <a:extLst xmlns:a="http://schemas.openxmlformats.org/drawingml/2006/main">
              <a:ext uri="{FF2B5EF4-FFF2-40B4-BE49-F238E27FC236}">
                <a16:creationId xmlns:a16="http://schemas.microsoft.com/office/drawing/2014/main" id="{498B1083-9123-45AC-8327-6F9A69795E1F}"/>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course의 code·data·work를 찾습니다.</a:t>
            </a:r>
          </a:p>
        </p:txBody>
      </p:sp>
      <p:sp>
        <p:nvSpPr>
          <p:cNvPr id="5" name="">
            <a:extLst xmlns:a="http://schemas.openxmlformats.org/drawingml/2006/main">
              <a:ext uri="{FF2B5EF4-FFF2-40B4-BE49-F238E27FC236}">
                <a16:creationId xmlns:a16="http://schemas.microsoft.com/office/drawing/2014/main" id="{FD6DE3DE-AB2E-430B-A151-1FC2CD9F5829}"/>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work만 수정하고 원본을 보존합니다.</a:t>
            </a:r>
          </a:p>
        </p:txBody>
      </p:sp>
      <p:sp>
        <p:nvSpPr>
          <p:cNvPr id="6" name="">
            <a:extLst xmlns:a="http://schemas.openxmlformats.org/drawingml/2006/main">
              <a:ext uri="{FF2B5EF4-FFF2-40B4-BE49-F238E27FC236}">
                <a16:creationId xmlns:a16="http://schemas.microsoft.com/office/drawing/2014/main" id="{A6BAF62E-AC9B-4F80-A782-9243F1C07AA8}"/>
              </a:ext>
            </a:extLst>
          </p:cNvPr>
          <p:cNvSpPr>
            <a:spLocks xmlns:a="http://schemas.openxmlformats.org/drawingml/2006/main" noGrp="1"/>
          </p:cNvSpPr>
          <p:nvPr/>
        </p:nvSpPr>
        <p:spPr>
          <a:xfrm xmlns:a="http://schemas.openxmlformats.org/drawingml/2006/main">
            <a:off x="762000" y="534352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저장과 실행을 구별합니다.</a:t>
            </a:r>
          </a:p>
        </p:txBody>
      </p:sp>
      <p:sp>
        <p:nvSpPr>
          <p:cNvPr id="7" name="">
            <a:extLst xmlns:a="http://schemas.openxmlformats.org/drawingml/2006/main">
              <a:ext uri="{FF2B5EF4-FFF2-40B4-BE49-F238E27FC236}">
                <a16:creationId xmlns:a16="http://schemas.microsoft.com/office/drawing/2014/main" id="{D9C26A3B-EF15-4B61-B0DC-93ADFF51C41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02</a:t>
            </a:r>
          </a:p>
        </p:txBody>
      </p:sp>
    </p:spTree>
    <p:extLst>
      <p:ext uri="{BB962C8B-B14F-4D97-AF65-F5344CB8AC3E}">
        <p14:creationId xmlns:p14="http://schemas.microsoft.com/office/powerpoint/2010/main" val="705470568"/>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E380E2-0993-4AC9-AE06-50AED98DB68E}"/>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10/21  HTML·CSS·React·MCP</a:t>
            </a:r>
          </a:p>
        </p:txBody>
      </p:sp>
      <p:sp>
        <p:nvSpPr>
          <p:cNvPr id="2" name="">
            <a:extLst xmlns:a="http://schemas.openxmlformats.org/drawingml/2006/main">
              <a:ext uri="{FF2B5EF4-FFF2-40B4-BE49-F238E27FC236}">
                <a16:creationId xmlns:a16="http://schemas.microsoft.com/office/drawing/2014/main" id="{885EE248-EA03-48EB-930A-FDD17116442D}"/>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실행했는지 구별하는 기록</a:t>
            </a:r>
          </a:p>
        </p:txBody>
      </p:sp>
      <p:sp>
        <p:nvSpPr>
          <p:cNvPr id="3" name="">
            <a:extLst xmlns:a="http://schemas.openxmlformats.org/drawingml/2006/main">
              <a:ext uri="{FF2B5EF4-FFF2-40B4-BE49-F238E27FC236}">
                <a16:creationId xmlns:a16="http://schemas.microsoft.com/office/drawing/2014/main" id="{9B8BA9CE-C18F-4153-A3DB-7CADC24AA22B}"/>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직접 실행·강사 관찰·수동 추적을 적습니다.</a:t>
            </a:r>
          </a:p>
        </p:txBody>
      </p:sp>
      <p:sp>
        <p:nvSpPr>
          <p:cNvPr id="4" name="">
            <a:extLst xmlns:a="http://schemas.openxmlformats.org/drawingml/2006/main">
              <a:ext uri="{FF2B5EF4-FFF2-40B4-BE49-F238E27FC236}">
                <a16:creationId xmlns:a16="http://schemas.microsoft.com/office/drawing/2014/main" id="{E826D7AC-8D0F-43CF-8772-6B2F9A06CDB2}"/>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입력과 예상 결과를 먼저 씁니다.</a:t>
            </a:r>
          </a:p>
        </p:txBody>
      </p:sp>
      <p:sp>
        <p:nvSpPr>
          <p:cNvPr id="5" name="">
            <a:extLst xmlns:a="http://schemas.openxmlformats.org/drawingml/2006/main">
              <a:ext uri="{FF2B5EF4-FFF2-40B4-BE49-F238E27FC236}">
                <a16:creationId xmlns:a16="http://schemas.microsoft.com/office/drawing/2014/main" id="{11C972C9-24D0-41EF-92D7-32B5E231F977}"/>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실제 결과와 다음 확인을 남깁니다.</a:t>
            </a:r>
          </a:p>
        </p:txBody>
      </p:sp>
      <p:sp>
        <p:nvSpPr>
          <p:cNvPr id="6" name="">
            <a:extLst xmlns:a="http://schemas.openxmlformats.org/drawingml/2006/main">
              <a:ext uri="{FF2B5EF4-FFF2-40B4-BE49-F238E27FC236}">
                <a16:creationId xmlns:a16="http://schemas.microsoft.com/office/drawing/2014/main" id="{41DDB1BA-E8CD-4658-9D01-B93F81CE65C3}"/>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03</a:t>
            </a:r>
          </a:p>
        </p:txBody>
      </p:sp>
    </p:spTree>
    <p:extLst>
      <p:ext uri="{BB962C8B-B14F-4D97-AF65-F5344CB8AC3E}">
        <p14:creationId xmlns:p14="http://schemas.microsoft.com/office/powerpoint/2010/main" val="795848749"/>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02267D-3957-4E16-A915-52E95D3EA39D}"/>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10/21  HTML·CSS·React·MCP</a:t>
            </a:r>
          </a:p>
        </p:txBody>
      </p:sp>
      <p:sp>
        <p:nvSpPr>
          <p:cNvPr id="2" name="">
            <a:extLst xmlns:a="http://schemas.openxmlformats.org/drawingml/2006/main">
              <a:ext uri="{FF2B5EF4-FFF2-40B4-BE49-F238E27FC236}">
                <a16:creationId xmlns:a16="http://schemas.microsoft.com/office/drawing/2014/main" id="{C526607E-1A7A-4DF6-BA11-0CE57DD0E084}"/>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오늘의 수업과 추가 복습</a:t>
            </a:r>
          </a:p>
        </p:txBody>
      </p:sp>
      <p:sp>
        <p:nvSpPr>
          <p:cNvPr id="3" name="">
            <a:extLst xmlns:a="http://schemas.openxmlformats.org/drawingml/2006/main">
              <a:ext uri="{FF2B5EF4-FFF2-40B4-BE49-F238E27FC236}">
                <a16:creationId xmlns:a16="http://schemas.microsoft.com/office/drawing/2014/main" id="{19607288-EE17-463B-BE8D-A073B30CC21A}"/>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10:00~17:00에 수업과 휴식을 진행합니다.</a:t>
            </a:r>
          </a:p>
        </p:txBody>
      </p:sp>
      <p:sp>
        <p:nvSpPr>
          <p:cNvPr id="4" name="">
            <a:extLst xmlns:a="http://schemas.openxmlformats.org/drawingml/2006/main">
              <a:ext uri="{FF2B5EF4-FFF2-40B4-BE49-F238E27FC236}">
                <a16:creationId xmlns:a16="http://schemas.microsoft.com/office/drawing/2014/main" id="{BAE68D71-BFBA-411F-ABAF-7C9B6FFF4797}"/>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중식은 11:50~13:00입니다.</a:t>
            </a:r>
          </a:p>
        </p:txBody>
      </p:sp>
      <p:sp>
        <p:nvSpPr>
          <p:cNvPr id="5" name="">
            <a:extLst xmlns:a="http://schemas.openxmlformats.org/drawingml/2006/main">
              <a:ext uri="{FF2B5EF4-FFF2-40B4-BE49-F238E27FC236}">
                <a16:creationId xmlns:a16="http://schemas.microsoft.com/office/drawing/2014/main" id="{54060CDF-3662-41F0-A232-8BB0F1F38801}"/>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추가 문제는 필수 결과 확인 뒤 사용합니다.</a:t>
            </a:r>
          </a:p>
        </p:txBody>
      </p:sp>
      <p:sp>
        <p:nvSpPr>
          <p:cNvPr id="6" name="">
            <a:extLst xmlns:a="http://schemas.openxmlformats.org/drawingml/2006/main">
              <a:ext uri="{FF2B5EF4-FFF2-40B4-BE49-F238E27FC236}">
                <a16:creationId xmlns:a16="http://schemas.microsoft.com/office/drawing/2014/main" id="{E87AFB30-D158-4DF6-9282-EB2700995556}"/>
              </a:ext>
            </a:extLst>
          </p:cNvPr>
          <p:cNvSpPr>
            <a:spLocks xmlns:a="http://schemas.openxmlformats.org/drawingml/2006/main" noGrp="1"/>
          </p:cNvSpPr>
          <p:nvPr/>
        </p:nvSpPr>
        <p:spPr>
          <a:xfrm xmlns:a="http://schemas.openxmlformats.org/drawingml/2006/main">
            <a:off x="762000" y="534352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모든 장의 50분 완수를 보장하지 않습니다.</a:t>
            </a:r>
          </a:p>
        </p:txBody>
      </p:sp>
      <p:sp>
        <p:nvSpPr>
          <p:cNvPr id="7" name="">
            <a:extLst xmlns:a="http://schemas.openxmlformats.org/drawingml/2006/main">
              <a:ext uri="{FF2B5EF4-FFF2-40B4-BE49-F238E27FC236}">
                <a16:creationId xmlns:a16="http://schemas.microsoft.com/office/drawing/2014/main" id="{8EBE88F4-A41D-4CCE-B384-2E85092AD2A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04</a:t>
            </a:r>
          </a:p>
        </p:txBody>
      </p:sp>
    </p:spTree>
    <p:extLst>
      <p:ext uri="{BB962C8B-B14F-4D97-AF65-F5344CB8AC3E}">
        <p14:creationId xmlns:p14="http://schemas.microsoft.com/office/powerpoint/2010/main" val="659015491"/>
      </p:ext>
    </p:extLst>
  </p:cSld>
</p:sld>
</file>

<file path=ppt/slides/slide5.xml><?xml version="1.0" encoding="utf-8"?>
<p:sld xmlns:p="http://schemas.openxmlformats.org/presentationml/2006/main">
  <p:cSld>
    <p:bg>
      <p:bgPr>
        <a:solidFill xmlns:a="http://schemas.openxmlformats.org/drawingml/2006/main">
          <a:srgbClr val="183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650AC5-B893-450B-B942-06EC2EDB26C3}"/>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A6D1C6"/>
                </a:solidFill>
                <a:latin typeface="Malgun Gothic"/>
                <a:ea typeface="Malgun Gothic"/>
                <a:cs typeface="Malgun Gothic"/>
              </a:defRPr>
            </a:pPr>
            <a:r>
              <a:rPr sz="1725" b="0">
                <a:solidFill>
                  <a:srgbClr val="A6D1C6"/>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BE89F286-6055-4DEC-AC83-75BB12AA625B}"/>
              </a:ext>
            </a:extLst>
          </p:cNvPr>
          <p:cNvSpPr>
            <a:spLocks xmlns:a="http://schemas.openxmlformats.org/drawingml/2006/main" noGrp="1"/>
          </p:cNvSpPr>
          <p:nvPr/>
        </p:nvSpPr>
        <p:spPr>
          <a:xfrm xmlns:a="http://schemas.openxmlformats.org/drawingml/2006/main">
            <a:off x="723900" y="17335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F8F7F2"/>
                </a:solidFill>
                <a:latin typeface="Malgun Gothic"/>
                <a:ea typeface="Malgun Gothic"/>
                <a:cs typeface="Malgun Gothic"/>
              </a:defRPr>
            </a:pPr>
            <a:r>
              <a:rPr sz="4500" b="1">
                <a:solidFill>
                  <a:srgbClr val="F8F7F2"/>
                </a:solidFill>
                <a:latin typeface="Malgun Gothic"/>
                <a:ea typeface="Malgun Gothic"/>
                <a:cs typeface="Malgun Gothic"/>
              </a:rPr>
              <a:t>1교시  웹 문서의 내용</a:t>
            </a:r>
          </a:p>
        </p:txBody>
      </p:sp>
      <p:sp>
        <p:nvSpPr>
          <p:cNvPr id="3" name="">
            <a:extLst xmlns:a="http://schemas.openxmlformats.org/drawingml/2006/main">
              <a:ext uri="{FF2B5EF4-FFF2-40B4-BE49-F238E27FC236}">
                <a16:creationId xmlns:a16="http://schemas.microsoft.com/office/drawing/2014/main" id="{E0068C08-01A1-4FE9-988E-E9F3C7A8008A}"/>
              </a:ext>
            </a:extLst>
          </p:cNvPr>
          <p:cNvSpPr>
            <a:spLocks xmlns:a="http://schemas.openxmlformats.org/drawingml/2006/main" noGrp="1"/>
          </p:cNvSpPr>
          <p:nvPr/>
        </p:nvSpPr>
        <p:spPr>
          <a:xfrm xmlns:a="http://schemas.openxmlformats.org/drawingml/2006/main">
            <a:off x="762000" y="34099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50분 수업입니다.</a:t>
            </a:r>
          </a:p>
        </p:txBody>
      </p:sp>
      <p:sp>
        <p:nvSpPr>
          <p:cNvPr id="4" name="">
            <a:extLst xmlns:a="http://schemas.openxmlformats.org/drawingml/2006/main">
              <a:ext uri="{FF2B5EF4-FFF2-40B4-BE49-F238E27FC236}">
                <a16:creationId xmlns:a16="http://schemas.microsoft.com/office/drawing/2014/main" id="{9D222D15-D674-4B69-A771-2591E96B3B44}"/>
              </a:ext>
            </a:extLst>
          </p:cNvPr>
          <p:cNvSpPr>
            <a:spLocks xmlns:a="http://schemas.openxmlformats.org/drawingml/2006/main" noGrp="1"/>
          </p:cNvSpPr>
          <p:nvPr/>
        </p:nvSpPr>
        <p:spPr>
          <a:xfrm xmlns:a="http://schemas.openxmlformats.org/drawingml/2006/main">
            <a:off x="762000" y="40195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먼저 개념을 보고 함께 따라 합니다.</a:t>
            </a:r>
          </a:p>
        </p:txBody>
      </p:sp>
      <p:sp>
        <p:nvSpPr>
          <p:cNvPr id="5" name="">
            <a:extLst xmlns:a="http://schemas.openxmlformats.org/drawingml/2006/main">
              <a:ext uri="{FF2B5EF4-FFF2-40B4-BE49-F238E27FC236}">
                <a16:creationId xmlns:a16="http://schemas.microsoft.com/office/drawing/2014/main" id="{C9826D35-4C32-47F2-9CF7-2B3A19DE4525}"/>
              </a:ext>
            </a:extLst>
          </p:cNvPr>
          <p:cNvSpPr>
            <a:spLocks xmlns:a="http://schemas.openxmlformats.org/drawingml/2006/main" noGrp="1"/>
          </p:cNvSpPr>
          <p:nvPr/>
        </p:nvSpPr>
        <p:spPr>
          <a:xfrm xmlns:a="http://schemas.openxmlformats.org/drawingml/2006/main">
            <a:off x="762000" y="46291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예상과 실제를 비교하고 설명합니다.</a:t>
            </a:r>
          </a:p>
        </p:txBody>
      </p:sp>
      <p:sp>
        <p:nvSpPr>
          <p:cNvPr id="6" name="">
            <a:extLst xmlns:a="http://schemas.openxmlformats.org/drawingml/2006/main">
              <a:ext uri="{FF2B5EF4-FFF2-40B4-BE49-F238E27FC236}">
                <a16:creationId xmlns:a16="http://schemas.microsoft.com/office/drawing/2014/main" id="{E8DC002F-2E11-43A9-BD9E-2BD3E2D173F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A6D1C6"/>
                </a:solidFill>
                <a:latin typeface="Malgun Gothic"/>
                <a:ea typeface="Malgun Gothic"/>
                <a:cs typeface="Malgun Gothic"/>
              </a:defRPr>
            </a:pPr>
            <a:r>
              <a:rPr sz="1500" b="0">
                <a:solidFill>
                  <a:srgbClr val="A6D1C6"/>
                </a:solidFill>
                <a:latin typeface="Malgun Gothic"/>
                <a:ea typeface="Malgun Gothic"/>
                <a:cs typeface="Malgun Gothic"/>
              </a:rPr>
              <a:t>05</a:t>
            </a:r>
          </a:p>
        </p:txBody>
      </p:sp>
    </p:spTree>
    <p:extLst>
      <p:ext uri="{BB962C8B-B14F-4D97-AF65-F5344CB8AC3E}">
        <p14:creationId xmlns:p14="http://schemas.microsoft.com/office/powerpoint/2010/main" val="1700264154"/>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0E3BFF-A1B9-40C4-A3C4-02401CB7B69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718D8508-A076-4BFD-9F95-36FE0BFD779C}"/>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이름과 의미의 위치</a:t>
            </a:r>
          </a:p>
        </p:txBody>
      </p:sp>
      <p:sp>
        <p:nvSpPr>
          <p:cNvPr id="3" name="">
            <a:extLst xmlns:a="http://schemas.openxmlformats.org/drawingml/2006/main">
              <a:ext uri="{FF2B5EF4-FFF2-40B4-BE49-F238E27FC236}">
                <a16:creationId xmlns:a16="http://schemas.microsoft.com/office/drawing/2014/main" id="{22ACC802-B538-4336-920C-DDEEFD462F6B}"/>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파일 이름·탭 이름·본문 제목을 구별합니다.</a:t>
            </a:r>
          </a:p>
        </p:txBody>
      </p:sp>
      <p:sp>
        <p:nvSpPr>
          <p:cNvPr id="4" name="">
            <a:extLst xmlns:a="http://schemas.openxmlformats.org/drawingml/2006/main">
              <a:ext uri="{FF2B5EF4-FFF2-40B4-BE49-F238E27FC236}">
                <a16:creationId xmlns:a16="http://schemas.microsoft.com/office/drawing/2014/main" id="{FD977FF4-3A08-4664-85F2-345EA220D2E2}"/>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버튼 표시와 클릭 동작도 따로 확인합니다.</a:t>
            </a:r>
          </a:p>
        </p:txBody>
      </p:sp>
      <p:sp>
        <p:nvSpPr>
          <p:cNvPr id="5" name="">
            <a:extLst xmlns:a="http://schemas.openxmlformats.org/drawingml/2006/main">
              <a:ext uri="{FF2B5EF4-FFF2-40B4-BE49-F238E27FC236}">
                <a16:creationId xmlns:a16="http://schemas.microsoft.com/office/drawing/2014/main" id="{1F6A51CF-D706-4D24-81FB-6ABECA527155}"/>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06</a:t>
            </a:r>
          </a:p>
        </p:txBody>
      </p:sp>
    </p:spTree>
    <p:extLst>
      <p:ext uri="{BB962C8B-B14F-4D97-AF65-F5344CB8AC3E}">
        <p14:creationId xmlns:p14="http://schemas.microsoft.com/office/powerpoint/2010/main" val="2143992954"/>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51BCF1-4726-4AE9-BEF0-35B1DDB0CB1E}"/>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30C5DD2D-B8C1-4E3F-AC04-94A99B02A1C0}"/>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A01  파일과 브라우저</a:t>
            </a:r>
          </a:p>
        </p:txBody>
      </p:sp>
      <p:sp>
        <p:nvSpPr>
          <p:cNvPr id="3" name="">
            <a:extLst xmlns:a="http://schemas.openxmlformats.org/drawingml/2006/main">
              <a:ext uri="{FF2B5EF4-FFF2-40B4-BE49-F238E27FC236}">
                <a16:creationId xmlns:a16="http://schemas.microsoft.com/office/drawing/2014/main" id="{759CFC03-745F-4488-9358-C019236D72B7}"/>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편집기는 파일 내용을 고칩니다.</a:t>
            </a:r>
          </a:p>
        </p:txBody>
      </p:sp>
      <p:sp>
        <p:nvSpPr>
          <p:cNvPr id="4" name="">
            <a:extLst xmlns:a="http://schemas.openxmlformats.org/drawingml/2006/main">
              <a:ext uri="{FF2B5EF4-FFF2-40B4-BE49-F238E27FC236}">
                <a16:creationId xmlns:a16="http://schemas.microsoft.com/office/drawing/2014/main" id="{50924FC9-D53F-4540-8D5E-73E2B94EED08}"/>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브라우저는 HTML을 읽어 화면으로 보여 줍니다.</a:t>
            </a:r>
          </a:p>
        </p:txBody>
      </p:sp>
      <p:sp>
        <p:nvSpPr>
          <p:cNvPr id="5" name="">
            <a:extLst xmlns:a="http://schemas.openxmlformats.org/drawingml/2006/main">
              <a:ext uri="{FF2B5EF4-FFF2-40B4-BE49-F238E27FC236}">
                <a16:creationId xmlns:a16="http://schemas.microsoft.com/office/drawing/2014/main" id="{7298643B-56B4-42E1-99BE-7B656147EB1A}"/>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07</a:t>
            </a:r>
          </a:p>
        </p:txBody>
      </p:sp>
    </p:spTree>
    <p:extLst>
      <p:ext uri="{BB962C8B-B14F-4D97-AF65-F5344CB8AC3E}">
        <p14:creationId xmlns:p14="http://schemas.microsoft.com/office/powerpoint/2010/main" val="171272993"/>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B7EC92-D912-48E8-A4CC-2001020DAEEA}"/>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ADD337B3-2AA5-4DC3-98FE-12AA458DBC34}"/>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파일과 브라우저의 예</a:t>
            </a:r>
          </a:p>
        </p:txBody>
      </p:sp>
      <p:sp>
        <p:nvSpPr>
          <p:cNvPr id="3" name="">
            <a:extLst xmlns:a="http://schemas.openxmlformats.org/drawingml/2006/main">
              <a:ext uri="{FF2B5EF4-FFF2-40B4-BE49-F238E27FC236}">
                <a16:creationId xmlns:a16="http://schemas.microsoft.com/office/drawing/2014/main" id="{959F462E-D552-40EC-92C8-7613AA861106}"/>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work/static/index.html을 엽니다.</a:t>
            </a:r>
          </a:p>
        </p:txBody>
      </p:sp>
      <p:sp>
        <p:nvSpPr>
          <p:cNvPr id="4" name="">
            <a:extLst xmlns:a="http://schemas.openxmlformats.org/drawingml/2006/main">
              <a:ext uri="{FF2B5EF4-FFF2-40B4-BE49-F238E27FC236}">
                <a16:creationId xmlns:a16="http://schemas.microsoft.com/office/drawing/2014/main" id="{58CD7114-AB07-4E48-8BF6-9AA531A0AE8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저장 후 같은 화면을 새로고침합니다.</a:t>
            </a:r>
          </a:p>
        </p:txBody>
      </p:sp>
      <p:sp>
        <p:nvSpPr>
          <p:cNvPr id="5" name="">
            <a:extLst xmlns:a="http://schemas.openxmlformats.org/drawingml/2006/main">
              <a:ext uri="{FF2B5EF4-FFF2-40B4-BE49-F238E27FC236}">
                <a16:creationId xmlns:a16="http://schemas.microsoft.com/office/drawing/2014/main" id="{9ACBAFCB-C92A-42D8-AD5C-C27922486830}"/>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08</a:t>
            </a:r>
          </a:p>
        </p:txBody>
      </p:sp>
    </p:spTree>
    <p:extLst>
      <p:ext uri="{BB962C8B-B14F-4D97-AF65-F5344CB8AC3E}">
        <p14:creationId xmlns:p14="http://schemas.microsoft.com/office/powerpoint/2010/main" val="1971194112"/>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B36615-7CBE-4089-9733-8FF763D56000}"/>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56A4FB94-A4B2-442C-8FB4-B8C0F59DF9D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파일 경로 확인</a:t>
            </a:r>
          </a:p>
        </p:txBody>
      </p:sp>
      <p:sp>
        <p:nvSpPr>
          <p:cNvPr id="3" name="">
            <a:extLst xmlns:a="http://schemas.openxmlformats.org/drawingml/2006/main">
              <a:ext uri="{FF2B5EF4-FFF2-40B4-BE49-F238E27FC236}">
                <a16:creationId xmlns:a16="http://schemas.microsoft.com/office/drawing/2014/main" id="{D6BE98A8-5F1E-4E21-88DE-548A7617FD94}"/>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.html.txt와 .html을 구별합니다.</a:t>
            </a:r>
          </a:p>
        </p:txBody>
      </p:sp>
      <p:sp>
        <p:nvSpPr>
          <p:cNvPr id="4" name="">
            <a:extLst xmlns:a="http://schemas.openxmlformats.org/drawingml/2006/main">
              <a:ext uri="{FF2B5EF4-FFF2-40B4-BE49-F238E27FC236}">
                <a16:creationId xmlns:a16="http://schemas.microsoft.com/office/drawing/2014/main" id="{4C7261EE-F04C-4EF4-8B3C-4F28C5C13EEF}"/>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ZIP 안의 미리 보기에서 편집하지 않습니다.</a:t>
            </a:r>
          </a:p>
        </p:txBody>
      </p:sp>
      <p:sp>
        <p:nvSpPr>
          <p:cNvPr id="5" name="">
            <a:extLst xmlns:a="http://schemas.openxmlformats.org/drawingml/2006/main">
              <a:ext uri="{FF2B5EF4-FFF2-40B4-BE49-F238E27FC236}">
                <a16:creationId xmlns:a16="http://schemas.microsoft.com/office/drawing/2014/main" id="{ECF523ED-1475-47D0-BE76-81E28567F3E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09</a:t>
            </a:r>
          </a:p>
        </p:txBody>
      </p:sp>
    </p:spTree>
    <p:extLst>
      <p:ext uri="{BB962C8B-B14F-4D97-AF65-F5344CB8AC3E}">
        <p14:creationId xmlns:p14="http://schemas.microsoft.com/office/powerpoint/2010/main" val="213572839"/>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1606A1-9F92-4D9E-AE11-62E91191E26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2100D5D0-9F36-4B30-9BD6-AD21B50FB8FE}"/>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저장과 화면</a:t>
            </a:r>
          </a:p>
        </p:txBody>
      </p:sp>
      <p:sp>
        <p:nvSpPr>
          <p:cNvPr id="3" name="">
            <a:extLst xmlns:a="http://schemas.openxmlformats.org/drawingml/2006/main">
              <a:ext uri="{FF2B5EF4-FFF2-40B4-BE49-F238E27FC236}">
                <a16:creationId xmlns:a16="http://schemas.microsoft.com/office/drawing/2014/main" id="{63F08382-BE57-4800-8811-C8B95244785E}"/>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문장을 고쳤는데 화면은 그대로입니다.</a:t>
            </a:r>
          </a:p>
        </p:txBody>
      </p:sp>
      <p:sp>
        <p:nvSpPr>
          <p:cNvPr id="4" name="">
            <a:extLst xmlns:a="http://schemas.openxmlformats.org/drawingml/2006/main">
              <a:ext uri="{FF2B5EF4-FFF2-40B4-BE49-F238E27FC236}">
                <a16:creationId xmlns:a16="http://schemas.microsoft.com/office/drawing/2014/main" id="{2ACC9DFF-D7F8-4670-9D50-5BAEFF9965B9}"/>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어떤 순서로 확인하나요?</a:t>
            </a:r>
          </a:p>
        </p:txBody>
      </p:sp>
      <p:sp>
        <p:nvSpPr>
          <p:cNvPr id="5" name="">
            <a:extLst xmlns:a="http://schemas.openxmlformats.org/drawingml/2006/main">
              <a:ext uri="{FF2B5EF4-FFF2-40B4-BE49-F238E27FC236}">
                <a16:creationId xmlns:a16="http://schemas.microsoft.com/office/drawing/2014/main" id="{1057CAE5-FD32-468A-8D2B-5C7B4792C6D6}"/>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a:t>
            </a:r>
          </a:p>
        </p:txBody>
      </p:sp>
    </p:spTree>
    <p:extLst>
      <p:ext uri="{BB962C8B-B14F-4D97-AF65-F5344CB8AC3E}">
        <p14:creationId xmlns:p14="http://schemas.microsoft.com/office/powerpoint/2010/main" val="802559659"/>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CEB217-6D5B-4787-B7C1-7A34CDD4BE1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A6C53E35-F565-472E-B400-4624222E905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A02  HTML의 의미</a:t>
            </a:r>
          </a:p>
        </p:txBody>
      </p:sp>
      <p:sp>
        <p:nvSpPr>
          <p:cNvPr id="3" name="">
            <a:extLst xmlns:a="http://schemas.openxmlformats.org/drawingml/2006/main">
              <a:ext uri="{FF2B5EF4-FFF2-40B4-BE49-F238E27FC236}">
                <a16:creationId xmlns:a16="http://schemas.microsoft.com/office/drawing/2014/main" id="{25135355-687E-4DB2-ACCD-443A305095FE}"/>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태그는 문서 내용의 역할을 표시합니다.</a:t>
            </a:r>
          </a:p>
        </p:txBody>
      </p:sp>
      <p:sp>
        <p:nvSpPr>
          <p:cNvPr id="4" name="">
            <a:extLst xmlns:a="http://schemas.openxmlformats.org/drawingml/2006/main">
              <a:ext uri="{FF2B5EF4-FFF2-40B4-BE49-F238E27FC236}">
                <a16:creationId xmlns:a16="http://schemas.microsoft.com/office/drawing/2014/main" id="{077C4E92-F2AF-4579-B8BC-3D5ADD4DC365}"/>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탭 이름과 본문 제목은 다른 위치입니다.</a:t>
            </a:r>
          </a:p>
        </p:txBody>
      </p:sp>
      <p:sp>
        <p:nvSpPr>
          <p:cNvPr id="5" name="">
            <a:extLst xmlns:a="http://schemas.openxmlformats.org/drawingml/2006/main">
              <a:ext uri="{FF2B5EF4-FFF2-40B4-BE49-F238E27FC236}">
                <a16:creationId xmlns:a16="http://schemas.microsoft.com/office/drawing/2014/main" id="{20CADC92-21B1-4D27-AA6A-58CD4BA6FA4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11</a:t>
            </a:r>
          </a:p>
        </p:txBody>
      </p:sp>
    </p:spTree>
    <p:extLst>
      <p:ext uri="{BB962C8B-B14F-4D97-AF65-F5344CB8AC3E}">
        <p14:creationId xmlns:p14="http://schemas.microsoft.com/office/powerpoint/2010/main" val="322886240"/>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826274-A26B-4FC6-9F5A-D2F0524D3673}"/>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981F588B-0773-4B2E-AE56-91270AD7D82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HTML의 의미의 예</a:t>
            </a:r>
          </a:p>
        </p:txBody>
      </p:sp>
      <p:sp>
        <p:nvSpPr>
          <p:cNvPr id="3" name="">
            <a:extLst xmlns:a="http://schemas.openxmlformats.org/drawingml/2006/main">
              <a:ext uri="{FF2B5EF4-FFF2-40B4-BE49-F238E27FC236}">
                <a16:creationId xmlns:a16="http://schemas.microsoft.com/office/drawing/2014/main" id="{E9264B40-974E-491A-B26F-5F0FF06166F1}"/>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&lt;!doctype html&gt;</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&lt;html lang="ko"&gt;&lt;head&gt;</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&lt;meta charset="utf-8"&gt;&lt;title&gt;작업장&lt;/title&gt;</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&lt;/head&gt;&lt;body&gt;</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&lt;h1&gt;센서 안내&lt;/h1&gt;</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&lt;button id="check"&gt;값 확인&lt;/button&gt;</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&lt;/body&gt;&lt;/html&gt;</a:t>
            </a:r>
          </a:p>
        </p:txBody>
      </p:sp>
      <p:sp>
        <p:nvSpPr>
          <p:cNvPr id="4" name="">
            <a:extLst xmlns:a="http://schemas.openxmlformats.org/drawingml/2006/main">
              <a:ext uri="{FF2B5EF4-FFF2-40B4-BE49-F238E27FC236}">
                <a16:creationId xmlns:a16="http://schemas.microsoft.com/office/drawing/2014/main" id="{205188BE-E67F-465A-B36E-9DA1E3245E06}"/>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짧은 완성 HTML. 안내.html로 저장합니다.</a:t>
            </a:r>
          </a:p>
        </p:txBody>
      </p:sp>
      <p:sp>
        <p:nvSpPr>
          <p:cNvPr id="5" name="">
            <a:extLst xmlns:a="http://schemas.openxmlformats.org/drawingml/2006/main">
              <a:ext uri="{FF2B5EF4-FFF2-40B4-BE49-F238E27FC236}">
                <a16:creationId xmlns:a16="http://schemas.microsoft.com/office/drawing/2014/main" id="{B4F1C8BD-2CE5-47D5-A3F9-100F0873E0DE}"/>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12</a:t>
            </a:r>
          </a:p>
        </p:txBody>
      </p:sp>
    </p:spTree>
    <p:extLst>
      <p:ext uri="{BB962C8B-B14F-4D97-AF65-F5344CB8AC3E}">
        <p14:creationId xmlns:p14="http://schemas.microsoft.com/office/powerpoint/2010/main" val="1587632323"/>
      </p:ext>
    </p:extLst>
  </p:cSld>
</p:sld>
</file>

<file path=ppt/slides/slide1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7D09B1-4160-4FF4-9835-D2ABDC88F86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01769EAB-5694-45BE-8CD7-DA37B5AE8465}"/>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HTML의 의미의 줄 읽기</a:t>
            </a:r>
          </a:p>
        </p:txBody>
      </p:sp>
      <p:sp>
        <p:nvSpPr>
          <p:cNvPr id="3" name="">
            <a:extLst xmlns:a="http://schemas.openxmlformats.org/drawingml/2006/main">
              <a:ext uri="{FF2B5EF4-FFF2-40B4-BE49-F238E27FC236}">
                <a16:creationId xmlns:a16="http://schemas.microsoft.com/office/drawing/2014/main" id="{51143225-24E3-4486-B444-8FEA48CB9C91}"/>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C1F9AB82-A918-403B-8A38-3B51A80EAD8C}"/>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F5C2D70D-C2C5-4076-A289-14879D2A0B82}"/>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EAAE0AE9-D093-4B44-8D7F-C991D83B5D50}"/>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13</a:t>
            </a:r>
          </a:p>
        </p:txBody>
      </p:sp>
    </p:spTree>
    <p:extLst>
      <p:ext uri="{BB962C8B-B14F-4D97-AF65-F5344CB8AC3E}">
        <p14:creationId xmlns:p14="http://schemas.microsoft.com/office/powerpoint/2010/main" val="24681369"/>
      </p:ext>
    </p:extLst>
  </p:cSld>
</p:sld>
</file>

<file path=ppt/slides/slide1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71ED1D-59F8-4551-BEA5-9AF3A3AE584B}"/>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A6E35180-32FC-4D9C-9CC8-7FA3A7579B4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화면의 세 이름</a:t>
            </a:r>
          </a:p>
        </p:txBody>
      </p:sp>
      <p:sp>
        <p:nvSpPr>
          <p:cNvPr id="3" name="">
            <a:extLst xmlns:a="http://schemas.openxmlformats.org/drawingml/2006/main">
              <a:ext uri="{FF2B5EF4-FFF2-40B4-BE49-F238E27FC236}">
                <a16:creationId xmlns:a16="http://schemas.microsoft.com/office/drawing/2014/main" id="{18F18D94-85D7-4A66-9096-82E106D6D178}"/>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탭은 작업장, 본문 제목은 센서 안내입니다.</a:t>
            </a:r>
          </a:p>
        </p:txBody>
      </p:sp>
      <p:sp>
        <p:nvSpPr>
          <p:cNvPr id="4" name="">
            <a:extLst xmlns:a="http://schemas.openxmlformats.org/drawingml/2006/main">
              <a:ext uri="{FF2B5EF4-FFF2-40B4-BE49-F238E27FC236}">
                <a16:creationId xmlns:a16="http://schemas.microsoft.com/office/drawing/2014/main" id="{789EDE5C-CFCB-4FFB-BB74-00D129295F61}"/>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버튼에는 아직 동작 코드가 없습니다.</a:t>
            </a:r>
          </a:p>
        </p:txBody>
      </p:sp>
      <p:sp>
        <p:nvSpPr>
          <p:cNvPr id="5" name="">
            <a:extLst xmlns:a="http://schemas.openxmlformats.org/drawingml/2006/main">
              <a:ext uri="{FF2B5EF4-FFF2-40B4-BE49-F238E27FC236}">
                <a16:creationId xmlns:a16="http://schemas.microsoft.com/office/drawing/2014/main" id="{50C475D0-E007-4147-A1D9-68AE26DB888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14</a:t>
            </a:r>
          </a:p>
        </p:txBody>
      </p:sp>
    </p:spTree>
    <p:extLst>
      <p:ext uri="{BB962C8B-B14F-4D97-AF65-F5344CB8AC3E}">
        <p14:creationId xmlns:p14="http://schemas.microsoft.com/office/powerpoint/2010/main" val="1317447202"/>
      </p:ext>
    </p:extLst>
  </p:cSld>
</p:sld>
</file>

<file path=ppt/slides/slide1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0EF289-1102-443B-B7E7-E4D161B17FEF}"/>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D4448987-B377-4D66-8DFA-4BC9652ACA05}"/>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제목 바꾸기</a:t>
            </a:r>
          </a:p>
        </p:txBody>
      </p:sp>
      <p:sp>
        <p:nvSpPr>
          <p:cNvPr id="3" name="">
            <a:extLst xmlns:a="http://schemas.openxmlformats.org/drawingml/2006/main">
              <a:ext uri="{FF2B5EF4-FFF2-40B4-BE49-F238E27FC236}">
                <a16:creationId xmlns:a16="http://schemas.microsoft.com/office/drawing/2014/main" id="{DE35D57A-3E25-4B97-AECE-CEAB67FFA197}"/>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탭은 공장 A, 본문은 온도 확인으로 쓰세요.</a:t>
            </a:r>
          </a:p>
        </p:txBody>
      </p:sp>
      <p:sp>
        <p:nvSpPr>
          <p:cNvPr id="4" name="">
            <a:extLst xmlns:a="http://schemas.openxmlformats.org/drawingml/2006/main">
              <a:ext uri="{FF2B5EF4-FFF2-40B4-BE49-F238E27FC236}">
                <a16:creationId xmlns:a16="http://schemas.microsoft.com/office/drawing/2014/main" id="{77E3BC2F-2F80-4E11-AFBA-DA4F93D151B7}"/>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버튼 id는 check를 유지하세요.</a:t>
            </a:r>
          </a:p>
        </p:txBody>
      </p:sp>
      <p:sp>
        <p:nvSpPr>
          <p:cNvPr id="5" name="">
            <a:extLst xmlns:a="http://schemas.openxmlformats.org/drawingml/2006/main">
              <a:ext uri="{FF2B5EF4-FFF2-40B4-BE49-F238E27FC236}">
                <a16:creationId xmlns:a16="http://schemas.microsoft.com/office/drawing/2014/main" id="{484F740F-B54B-444B-A3E0-9EBD406C417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15</a:t>
            </a:r>
          </a:p>
        </p:txBody>
      </p:sp>
    </p:spTree>
    <p:extLst>
      <p:ext uri="{BB962C8B-B14F-4D97-AF65-F5344CB8AC3E}">
        <p14:creationId xmlns:p14="http://schemas.microsoft.com/office/powerpoint/2010/main" val="1188204049"/>
      </p:ext>
    </p:extLst>
  </p:cSld>
</p:sld>
</file>

<file path=ppt/slides/slide1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625307-5BB5-473B-81A0-CE324A4A47D5}"/>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0A868476-7B6C-45CC-BB2B-BC919ED7EDCD}"/>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A03  속성과 내부 연결</a:t>
            </a:r>
          </a:p>
        </p:txBody>
      </p:sp>
      <p:sp>
        <p:nvSpPr>
          <p:cNvPr id="3" name="">
            <a:extLst xmlns:a="http://schemas.openxmlformats.org/drawingml/2006/main">
              <a:ext uri="{FF2B5EF4-FFF2-40B4-BE49-F238E27FC236}">
                <a16:creationId xmlns:a16="http://schemas.microsoft.com/office/drawing/2014/main" id="{CA86D0DD-6704-4D67-A1BE-6838FC6396B0}"/>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id는 코드가 요소를 찾는 이름입니다.</a:t>
            </a:r>
          </a:p>
        </p:txBody>
      </p:sp>
      <p:sp>
        <p:nvSpPr>
          <p:cNvPr id="4" name="">
            <a:extLst xmlns:a="http://schemas.openxmlformats.org/drawingml/2006/main">
              <a:ext uri="{FF2B5EF4-FFF2-40B4-BE49-F238E27FC236}">
                <a16:creationId xmlns:a16="http://schemas.microsoft.com/office/drawing/2014/main" id="{2FB94774-8681-4B80-849C-FFB01D6C7F1A}"/>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사용자에게 보이는 문구와 구별합니다.</a:t>
            </a:r>
          </a:p>
        </p:txBody>
      </p:sp>
      <p:sp>
        <p:nvSpPr>
          <p:cNvPr id="5" name="">
            <a:extLst xmlns:a="http://schemas.openxmlformats.org/drawingml/2006/main">
              <a:ext uri="{FF2B5EF4-FFF2-40B4-BE49-F238E27FC236}">
                <a16:creationId xmlns:a16="http://schemas.microsoft.com/office/drawing/2014/main" id="{E4BACC09-940E-4C64-8ACF-52EB21A6190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16</a:t>
            </a:r>
          </a:p>
        </p:txBody>
      </p:sp>
    </p:spTree>
    <p:extLst>
      <p:ext uri="{BB962C8B-B14F-4D97-AF65-F5344CB8AC3E}">
        <p14:creationId xmlns:p14="http://schemas.microsoft.com/office/powerpoint/2010/main" val="1722570953"/>
      </p:ext>
    </p:extLst>
  </p:cSld>
</p:sld>
</file>

<file path=ppt/slides/slide1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D453DE-5DDE-46FC-847D-428187E8AC1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EBA17AAF-B405-42C6-8594-D452D73429F1}"/>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속성과 내부 연결의 예</a:t>
            </a:r>
          </a:p>
        </p:txBody>
      </p:sp>
      <p:sp>
        <p:nvSpPr>
          <p:cNvPr id="3" name="">
            <a:extLst xmlns:a="http://schemas.openxmlformats.org/drawingml/2006/main">
              <a:ext uri="{FF2B5EF4-FFF2-40B4-BE49-F238E27FC236}">
                <a16:creationId xmlns:a16="http://schemas.microsoft.com/office/drawing/2014/main" id="{CC4AA3BE-5CCC-4A4A-8721-9C0EE994C746}"/>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const button = document.querySelector("#check");</a:t>
            </a:r>
          </a:p>
        </p:txBody>
      </p:sp>
      <p:sp>
        <p:nvSpPr>
          <p:cNvPr id="4" name="">
            <a:extLst xmlns:a="http://schemas.openxmlformats.org/drawingml/2006/main">
              <a:ext uri="{FF2B5EF4-FFF2-40B4-BE49-F238E27FC236}">
                <a16:creationId xmlns:a16="http://schemas.microsoft.com/office/drawing/2014/main" id="{79470272-593D-4861-B800-2278701B3A89}"/>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발췌: HTML id와 선택자를 연결합니다.</a:t>
            </a:r>
          </a:p>
        </p:txBody>
      </p:sp>
      <p:sp>
        <p:nvSpPr>
          <p:cNvPr id="5" name="">
            <a:extLst xmlns:a="http://schemas.openxmlformats.org/drawingml/2006/main">
              <a:ext uri="{FF2B5EF4-FFF2-40B4-BE49-F238E27FC236}">
                <a16:creationId xmlns:a16="http://schemas.microsoft.com/office/drawing/2014/main" id="{9BFEF176-1901-4A98-A210-105EAD3845F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17</a:t>
            </a:r>
          </a:p>
        </p:txBody>
      </p:sp>
    </p:spTree>
    <p:extLst>
      <p:ext uri="{BB962C8B-B14F-4D97-AF65-F5344CB8AC3E}">
        <p14:creationId xmlns:p14="http://schemas.microsoft.com/office/powerpoint/2010/main" val="1089111299"/>
      </p:ext>
    </p:extLst>
  </p:cSld>
</p:sld>
</file>

<file path=ppt/slides/slide1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DCE4F4-5871-4FCD-A0B5-C604227D7CC7}"/>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E3279E18-52FD-4D18-99F6-3B98F27A497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속성과 내부 연결의 줄 읽기</a:t>
            </a:r>
          </a:p>
        </p:txBody>
      </p:sp>
      <p:sp>
        <p:nvSpPr>
          <p:cNvPr id="3" name="">
            <a:extLst xmlns:a="http://schemas.openxmlformats.org/drawingml/2006/main">
              <a:ext uri="{FF2B5EF4-FFF2-40B4-BE49-F238E27FC236}">
                <a16:creationId xmlns:a16="http://schemas.microsoft.com/office/drawing/2014/main" id="{4B73804E-82FE-428C-A471-782A747F7A6C}"/>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8FEFE39A-E55D-42DD-878C-BA594C5A84F3}"/>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E77FBB45-DA2E-4893-9423-3FB870E7B6BC}"/>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AA841297-D580-4F76-8FD1-6D21D061A210}"/>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18</a:t>
            </a:r>
          </a:p>
        </p:txBody>
      </p:sp>
    </p:spTree>
    <p:extLst>
      <p:ext uri="{BB962C8B-B14F-4D97-AF65-F5344CB8AC3E}">
        <p14:creationId xmlns:p14="http://schemas.microsoft.com/office/powerpoint/2010/main" val="509796720"/>
      </p:ext>
    </p:extLst>
  </p:cSld>
</p:sld>
</file>

<file path=ppt/slides/slide1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259149-E7F5-4394-8FBA-37DFD740BA8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4EB5514B-13DB-4574-8F24-C8E9FB23ADF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이름을 바꾼 영향</a:t>
            </a:r>
          </a:p>
        </p:txBody>
      </p:sp>
      <p:sp>
        <p:nvSpPr>
          <p:cNvPr id="3" name="">
            <a:extLst xmlns:a="http://schemas.openxmlformats.org/drawingml/2006/main">
              <a:ext uri="{FF2B5EF4-FFF2-40B4-BE49-F238E27FC236}">
                <a16:creationId xmlns:a16="http://schemas.microsoft.com/office/drawing/2014/main" id="{FF767CAD-2E7C-49C0-9743-DE5268065CC0}"/>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버튼 id와 선택자가 일치해야 합니다.</a:t>
            </a:r>
          </a:p>
        </p:txBody>
      </p:sp>
      <p:sp>
        <p:nvSpPr>
          <p:cNvPr id="4" name="">
            <a:extLst xmlns:a="http://schemas.openxmlformats.org/drawingml/2006/main">
              <a:ext uri="{FF2B5EF4-FFF2-40B4-BE49-F238E27FC236}">
                <a16:creationId xmlns:a16="http://schemas.microsoft.com/office/drawing/2014/main" id="{D13A741B-5CAA-40A0-A3C5-5FC1C9347B9D}"/>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Tab으로 버튼 초점도 확인합니다.</a:t>
            </a:r>
          </a:p>
        </p:txBody>
      </p:sp>
      <p:sp>
        <p:nvSpPr>
          <p:cNvPr id="5" name="">
            <a:extLst xmlns:a="http://schemas.openxmlformats.org/drawingml/2006/main">
              <a:ext uri="{FF2B5EF4-FFF2-40B4-BE49-F238E27FC236}">
                <a16:creationId xmlns:a16="http://schemas.microsoft.com/office/drawing/2014/main" id="{300E99FB-98DC-4B28-9E73-BB5FC815BB6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19</a:t>
            </a:r>
          </a:p>
        </p:txBody>
      </p:sp>
    </p:spTree>
    <p:extLst>
      <p:ext uri="{BB962C8B-B14F-4D97-AF65-F5344CB8AC3E}">
        <p14:creationId xmlns:p14="http://schemas.microsoft.com/office/powerpoint/2010/main" val="1967206998"/>
      </p:ext>
    </p:extLst>
  </p:cSld>
</p:sld>
</file>

<file path=ppt/slides/slide2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24BDA9-75DD-4015-979E-396D01F267CA}"/>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1AE48739-22FE-4717-A828-FCCC830AFE51}"/>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연결 이름 판단</a:t>
            </a:r>
          </a:p>
        </p:txBody>
      </p:sp>
      <p:sp>
        <p:nvSpPr>
          <p:cNvPr id="3" name="">
            <a:extLst xmlns:a="http://schemas.openxmlformats.org/drawingml/2006/main">
              <a:ext uri="{FF2B5EF4-FFF2-40B4-BE49-F238E27FC236}">
                <a16:creationId xmlns:a16="http://schemas.microsoft.com/office/drawing/2014/main" id="{284B52B5-1522-42BA-A334-F97BD6F58B4E}"/>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버튼 글자만 바꾸면 #check도 바꾸나요?</a:t>
            </a:r>
          </a:p>
        </p:txBody>
      </p:sp>
      <p:sp>
        <p:nvSpPr>
          <p:cNvPr id="4" name="">
            <a:extLst xmlns:a="http://schemas.openxmlformats.org/drawingml/2006/main">
              <a:ext uri="{FF2B5EF4-FFF2-40B4-BE49-F238E27FC236}">
                <a16:creationId xmlns:a16="http://schemas.microsoft.com/office/drawing/2014/main" id="{6BE0807B-8A9F-4CFC-BE66-9FA70BC0FE3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20</a:t>
            </a:r>
          </a:p>
        </p:txBody>
      </p:sp>
    </p:spTree>
    <p:extLst>
      <p:ext uri="{BB962C8B-B14F-4D97-AF65-F5344CB8AC3E}">
        <p14:creationId xmlns:p14="http://schemas.microsoft.com/office/powerpoint/2010/main" val="36314322"/>
      </p:ext>
    </p:extLst>
  </p:cSld>
</p:sld>
</file>

<file path=ppt/slides/slide21.xml><?xml version="1.0" encoding="utf-8"?>
<p:sld xmlns:p="http://schemas.openxmlformats.org/presentationml/2006/main">
  <p:cSld>
    <p:bg>
      <p:bgPr>
        <a:solidFill xmlns:a="http://schemas.openxmlformats.org/drawingml/2006/main">
          <a:srgbClr val="183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89847F-680B-45CE-8AFB-87541A52A75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A6D1C6"/>
                </a:solidFill>
                <a:latin typeface="Malgun Gothic"/>
                <a:ea typeface="Malgun Gothic"/>
                <a:cs typeface="Malgun Gothic"/>
              </a:defRPr>
            </a:pPr>
            <a:r>
              <a:rPr sz="1725" b="0">
                <a:solidFill>
                  <a:srgbClr val="A6D1C6"/>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1D43D031-CB68-4822-9E29-0690B68B6B8F}"/>
              </a:ext>
            </a:extLst>
          </p:cNvPr>
          <p:cNvSpPr>
            <a:spLocks xmlns:a="http://schemas.openxmlformats.org/drawingml/2006/main" noGrp="1"/>
          </p:cNvSpPr>
          <p:nvPr/>
        </p:nvSpPr>
        <p:spPr>
          <a:xfrm xmlns:a="http://schemas.openxmlformats.org/drawingml/2006/main">
            <a:off x="723900" y="17335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F8F7F2"/>
                </a:solidFill>
                <a:latin typeface="Malgun Gothic"/>
                <a:ea typeface="Malgun Gothic"/>
                <a:cs typeface="Malgun Gothic"/>
              </a:defRPr>
            </a:pPr>
            <a:r>
              <a:rPr sz="4500" b="1">
                <a:solidFill>
                  <a:srgbClr val="F8F7F2"/>
                </a:solidFill>
                <a:latin typeface="Malgun Gothic"/>
                <a:ea typeface="Malgun Gothic"/>
                <a:cs typeface="Malgun Gothic"/>
              </a:rPr>
              <a:t>2교시  CSS의 모양과 읽기</a:t>
            </a:r>
          </a:p>
        </p:txBody>
      </p:sp>
      <p:sp>
        <p:nvSpPr>
          <p:cNvPr id="3" name="">
            <a:extLst xmlns:a="http://schemas.openxmlformats.org/drawingml/2006/main">
              <a:ext uri="{FF2B5EF4-FFF2-40B4-BE49-F238E27FC236}">
                <a16:creationId xmlns:a16="http://schemas.microsoft.com/office/drawing/2014/main" id="{15557B36-748D-4546-AD7A-BDDB075B8283}"/>
              </a:ext>
            </a:extLst>
          </p:cNvPr>
          <p:cNvSpPr>
            <a:spLocks xmlns:a="http://schemas.openxmlformats.org/drawingml/2006/main" noGrp="1"/>
          </p:cNvSpPr>
          <p:nvPr/>
        </p:nvSpPr>
        <p:spPr>
          <a:xfrm xmlns:a="http://schemas.openxmlformats.org/drawingml/2006/main">
            <a:off x="762000" y="34099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50분 수업입니다.</a:t>
            </a:r>
          </a:p>
        </p:txBody>
      </p:sp>
      <p:sp>
        <p:nvSpPr>
          <p:cNvPr id="4" name="">
            <a:extLst xmlns:a="http://schemas.openxmlformats.org/drawingml/2006/main">
              <a:ext uri="{FF2B5EF4-FFF2-40B4-BE49-F238E27FC236}">
                <a16:creationId xmlns:a16="http://schemas.microsoft.com/office/drawing/2014/main" id="{76231FFB-8299-42F2-A9F4-2213D1E21F73}"/>
              </a:ext>
            </a:extLst>
          </p:cNvPr>
          <p:cNvSpPr>
            <a:spLocks xmlns:a="http://schemas.openxmlformats.org/drawingml/2006/main" noGrp="1"/>
          </p:cNvSpPr>
          <p:nvPr/>
        </p:nvSpPr>
        <p:spPr>
          <a:xfrm xmlns:a="http://schemas.openxmlformats.org/drawingml/2006/main">
            <a:off x="762000" y="40195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먼저 개념을 보고 함께 따라 합니다.</a:t>
            </a:r>
          </a:p>
        </p:txBody>
      </p:sp>
      <p:sp>
        <p:nvSpPr>
          <p:cNvPr id="5" name="">
            <a:extLst xmlns:a="http://schemas.openxmlformats.org/drawingml/2006/main">
              <a:ext uri="{FF2B5EF4-FFF2-40B4-BE49-F238E27FC236}">
                <a16:creationId xmlns:a16="http://schemas.microsoft.com/office/drawing/2014/main" id="{50AED6E5-0DC2-4E8D-AAB2-9D7C1BCA026F}"/>
              </a:ext>
            </a:extLst>
          </p:cNvPr>
          <p:cNvSpPr>
            <a:spLocks xmlns:a="http://schemas.openxmlformats.org/drawingml/2006/main" noGrp="1"/>
          </p:cNvSpPr>
          <p:nvPr/>
        </p:nvSpPr>
        <p:spPr>
          <a:xfrm xmlns:a="http://schemas.openxmlformats.org/drawingml/2006/main">
            <a:off x="762000" y="46291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예상과 실제를 비교하고 설명합니다.</a:t>
            </a:r>
          </a:p>
        </p:txBody>
      </p:sp>
      <p:sp>
        <p:nvSpPr>
          <p:cNvPr id="6" name="">
            <a:extLst xmlns:a="http://schemas.openxmlformats.org/drawingml/2006/main">
              <a:ext uri="{FF2B5EF4-FFF2-40B4-BE49-F238E27FC236}">
                <a16:creationId xmlns:a16="http://schemas.microsoft.com/office/drawing/2014/main" id="{DA072CEA-F58E-4C87-A34D-D93F0E414A6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A6D1C6"/>
                </a:solidFill>
                <a:latin typeface="Malgun Gothic"/>
                <a:ea typeface="Malgun Gothic"/>
                <a:cs typeface="Malgun Gothic"/>
              </a:defRPr>
            </a:pPr>
            <a:r>
              <a:rPr sz="1500" b="0">
                <a:solidFill>
                  <a:srgbClr val="A6D1C6"/>
                </a:solidFill>
                <a:latin typeface="Malgun Gothic"/>
                <a:ea typeface="Malgun Gothic"/>
                <a:cs typeface="Malgun Gothic"/>
              </a:rPr>
              <a:t>21</a:t>
            </a:r>
          </a:p>
        </p:txBody>
      </p:sp>
    </p:spTree>
    <p:extLst>
      <p:ext uri="{BB962C8B-B14F-4D97-AF65-F5344CB8AC3E}">
        <p14:creationId xmlns:p14="http://schemas.microsoft.com/office/powerpoint/2010/main" val="1028168083"/>
      </p:ext>
    </p:extLst>
  </p:cSld>
</p:sld>
</file>

<file path=ppt/slides/slide2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8FEE1B-42E1-4080-B58D-4E05F818F6E3}"/>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F7512F2F-33FC-4ECF-AF9A-CFD8220361C3}"/>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모양과 데이터의 의미</a:t>
            </a:r>
          </a:p>
        </p:txBody>
      </p:sp>
      <p:sp>
        <p:nvSpPr>
          <p:cNvPr id="3" name="">
            <a:extLst xmlns:a="http://schemas.openxmlformats.org/drawingml/2006/main">
              <a:ext uri="{FF2B5EF4-FFF2-40B4-BE49-F238E27FC236}">
                <a16:creationId xmlns:a16="http://schemas.microsoft.com/office/drawing/2014/main" id="{F0CCFAA2-A93D-4B94-93EB-196DEB11EAF7}"/>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상자 안팎을 보고 간격을 고릅니다.</a:t>
            </a:r>
          </a:p>
        </p:txBody>
      </p:sp>
      <p:sp>
        <p:nvSpPr>
          <p:cNvPr id="4" name="">
            <a:extLst xmlns:a="http://schemas.openxmlformats.org/drawingml/2006/main">
              <a:ext uri="{FF2B5EF4-FFF2-40B4-BE49-F238E27FC236}">
                <a16:creationId xmlns:a16="http://schemas.microsoft.com/office/drawing/2014/main" id="{A6564437-3C50-4233-A601-B1EE735D02C8}"/>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색 외에 상태 문구와 초점을 제공합니다.</a:t>
            </a:r>
          </a:p>
        </p:txBody>
      </p:sp>
      <p:sp>
        <p:nvSpPr>
          <p:cNvPr id="5" name="">
            <a:extLst xmlns:a="http://schemas.openxmlformats.org/drawingml/2006/main">
              <a:ext uri="{FF2B5EF4-FFF2-40B4-BE49-F238E27FC236}">
                <a16:creationId xmlns:a16="http://schemas.microsoft.com/office/drawing/2014/main" id="{CD47B8CA-331B-49E9-B131-5D59D60F0513}"/>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22</a:t>
            </a:r>
          </a:p>
        </p:txBody>
      </p:sp>
    </p:spTree>
    <p:extLst>
      <p:ext uri="{BB962C8B-B14F-4D97-AF65-F5344CB8AC3E}">
        <p14:creationId xmlns:p14="http://schemas.microsoft.com/office/powerpoint/2010/main" val="1034150149"/>
      </p:ext>
    </p:extLst>
  </p:cSld>
</p:sld>
</file>

<file path=ppt/slides/slide2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DD46CF-C747-44A7-B24C-2DBD9AC2CEC0}"/>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1AA13320-7050-4E4F-A0C2-EE4F68F8E890}"/>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A04  CSS의 선택과 선언</a:t>
            </a:r>
          </a:p>
        </p:txBody>
      </p:sp>
      <p:sp>
        <p:nvSpPr>
          <p:cNvPr id="3" name="">
            <a:extLst xmlns:a="http://schemas.openxmlformats.org/drawingml/2006/main">
              <a:ext uri="{FF2B5EF4-FFF2-40B4-BE49-F238E27FC236}">
                <a16:creationId xmlns:a16="http://schemas.microsoft.com/office/drawing/2014/main" id="{8AADB6FD-8268-41AE-B5AB-FD05236B6F4E}"/>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선택자는 꾸밀 대상을 고릅니다.</a:t>
            </a:r>
          </a:p>
        </p:txBody>
      </p:sp>
      <p:sp>
        <p:nvSpPr>
          <p:cNvPr id="4" name="">
            <a:extLst xmlns:a="http://schemas.openxmlformats.org/drawingml/2006/main">
              <a:ext uri="{FF2B5EF4-FFF2-40B4-BE49-F238E27FC236}">
                <a16:creationId xmlns:a16="http://schemas.microsoft.com/office/drawing/2014/main" id="{65F8AA0E-F455-4DB9-8849-2B61013ACA36}"/>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속성과 값으로 모양을 정합니다.</a:t>
            </a:r>
          </a:p>
        </p:txBody>
      </p:sp>
      <p:sp>
        <p:nvSpPr>
          <p:cNvPr id="5" name="">
            <a:extLst xmlns:a="http://schemas.openxmlformats.org/drawingml/2006/main">
              <a:ext uri="{FF2B5EF4-FFF2-40B4-BE49-F238E27FC236}">
                <a16:creationId xmlns:a16="http://schemas.microsoft.com/office/drawing/2014/main" id="{CE1091EF-7BD3-4FF9-9C67-CA4E924A6D45}"/>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23</a:t>
            </a:r>
          </a:p>
        </p:txBody>
      </p:sp>
    </p:spTree>
    <p:extLst>
      <p:ext uri="{BB962C8B-B14F-4D97-AF65-F5344CB8AC3E}">
        <p14:creationId xmlns:p14="http://schemas.microsoft.com/office/powerpoint/2010/main" val="730868054"/>
      </p:ext>
    </p:extLst>
  </p:cSld>
</p:sld>
</file>

<file path=ppt/slides/slide2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2A24CE-88E7-470C-987E-1A30E7397D17}"/>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98F1E919-4287-41D7-9634-791B460DA4C5}"/>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CSS의 선택과 선언의 예</a:t>
            </a:r>
          </a:p>
        </p:txBody>
      </p:sp>
      <p:sp>
        <p:nvSpPr>
          <p:cNvPr id="3" name="">
            <a:extLst xmlns:a="http://schemas.openxmlformats.org/drawingml/2006/main">
              <a:ext uri="{FF2B5EF4-FFF2-40B4-BE49-F238E27FC236}">
                <a16:creationId xmlns:a16="http://schemas.microsoft.com/office/drawing/2014/main" id="{F2E00782-CDF2-4EB3-8E37-7C6833271C64}"/>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h1 {</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color: teal;</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4F06F8D6-E36A-42C6-A839-DAC4F69D863F}"/>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발췌: style 태그 또는 style.css에 넣습니다.</a:t>
            </a:r>
          </a:p>
        </p:txBody>
      </p:sp>
      <p:sp>
        <p:nvSpPr>
          <p:cNvPr id="5" name="">
            <a:extLst xmlns:a="http://schemas.openxmlformats.org/drawingml/2006/main">
              <a:ext uri="{FF2B5EF4-FFF2-40B4-BE49-F238E27FC236}">
                <a16:creationId xmlns:a16="http://schemas.microsoft.com/office/drawing/2014/main" id="{23E404C3-A63A-45C5-B145-8B13F5716B8D}"/>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24</a:t>
            </a:r>
          </a:p>
        </p:txBody>
      </p:sp>
    </p:spTree>
    <p:extLst>
      <p:ext uri="{BB962C8B-B14F-4D97-AF65-F5344CB8AC3E}">
        <p14:creationId xmlns:p14="http://schemas.microsoft.com/office/powerpoint/2010/main" val="223140918"/>
      </p:ext>
    </p:extLst>
  </p:cSld>
</p:sld>
</file>

<file path=ppt/slides/slide2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0F19B8-0A5A-460F-B7EC-4BA6EDE7D62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C42FDE27-3DDE-460F-94A0-F9D3830EBE9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CSS의 선택과 선언의 줄 읽기</a:t>
            </a:r>
          </a:p>
        </p:txBody>
      </p:sp>
      <p:sp>
        <p:nvSpPr>
          <p:cNvPr id="3" name="">
            <a:extLst xmlns:a="http://schemas.openxmlformats.org/drawingml/2006/main">
              <a:ext uri="{FF2B5EF4-FFF2-40B4-BE49-F238E27FC236}">
                <a16:creationId xmlns:a16="http://schemas.microsoft.com/office/drawing/2014/main" id="{8E498672-67C2-4D74-8B60-7B0E79EAFB37}"/>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FD8DB67C-E24C-486B-8A16-82C350719FA5}"/>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6FCF1BD0-D88F-4136-98D2-6EB5DF4A46CA}"/>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A40FD96A-CFAF-4A1C-A0E0-C0605A50252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25</a:t>
            </a:r>
          </a:p>
        </p:txBody>
      </p:sp>
    </p:spTree>
    <p:extLst>
      <p:ext uri="{BB962C8B-B14F-4D97-AF65-F5344CB8AC3E}">
        <p14:creationId xmlns:p14="http://schemas.microsoft.com/office/powerpoint/2010/main" val="596037642"/>
      </p:ext>
    </p:extLst>
  </p:cSld>
</p:sld>
</file>

<file path=ppt/slides/slide2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CC90B8-2B9E-4D98-886E-1213FD42B57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63F9C5F0-E878-450A-AA75-DCF7F688081E}"/>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모양 변경의 결과</a:t>
            </a:r>
          </a:p>
        </p:txBody>
      </p:sp>
      <p:sp>
        <p:nvSpPr>
          <p:cNvPr id="3" name="">
            <a:extLst xmlns:a="http://schemas.openxmlformats.org/drawingml/2006/main">
              <a:ext uri="{FF2B5EF4-FFF2-40B4-BE49-F238E27FC236}">
                <a16:creationId xmlns:a16="http://schemas.microsoft.com/office/drawing/2014/main" id="{720BD90C-8344-4F64-ACAE-0914907BCF49}"/>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제목 색이 청록으로 바뀝니다.</a:t>
            </a:r>
          </a:p>
        </p:txBody>
      </p:sp>
      <p:sp>
        <p:nvSpPr>
          <p:cNvPr id="4" name="">
            <a:extLst xmlns:a="http://schemas.openxmlformats.org/drawingml/2006/main">
              <a:ext uri="{FF2B5EF4-FFF2-40B4-BE49-F238E27FC236}">
                <a16:creationId xmlns:a16="http://schemas.microsoft.com/office/drawing/2014/main" id="{0FDC2070-6080-42A1-A48C-D27A1750CDD4}"/>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제목 문구와 온도 데이터는 유지됩니다.</a:t>
            </a:r>
          </a:p>
        </p:txBody>
      </p:sp>
      <p:sp>
        <p:nvSpPr>
          <p:cNvPr id="5" name="">
            <a:extLst xmlns:a="http://schemas.openxmlformats.org/drawingml/2006/main">
              <a:ext uri="{FF2B5EF4-FFF2-40B4-BE49-F238E27FC236}">
                <a16:creationId xmlns:a16="http://schemas.microsoft.com/office/drawing/2014/main" id="{0F51373B-D00B-4FEB-BC86-A4F12C66B966}"/>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26</a:t>
            </a:r>
          </a:p>
        </p:txBody>
      </p:sp>
    </p:spTree>
    <p:extLst>
      <p:ext uri="{BB962C8B-B14F-4D97-AF65-F5344CB8AC3E}">
        <p14:creationId xmlns:p14="http://schemas.microsoft.com/office/powerpoint/2010/main" val="183647304"/>
      </p:ext>
    </p:extLst>
  </p:cSld>
</p:sld>
</file>

<file path=ppt/slides/slide2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A09F17-C6B9-44F2-8580-49E90671B51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5123BD8B-FA75-499E-8A02-328C67E38AD9}"/>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적용이 안 될 때</a:t>
            </a:r>
          </a:p>
        </p:txBody>
      </p:sp>
      <p:sp>
        <p:nvSpPr>
          <p:cNvPr id="3" name="">
            <a:extLst xmlns:a="http://schemas.openxmlformats.org/drawingml/2006/main">
              <a:ext uri="{FF2B5EF4-FFF2-40B4-BE49-F238E27FC236}">
                <a16:creationId xmlns:a16="http://schemas.microsoft.com/office/drawing/2014/main" id="{6F895CD1-9B44-4EF6-A664-EFFFDF4C4D03}"/>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CSS 색이 그대로라면 무엇을 확인하나요?</a:t>
            </a:r>
          </a:p>
        </p:txBody>
      </p:sp>
      <p:sp>
        <p:nvSpPr>
          <p:cNvPr id="4" name="">
            <a:extLst xmlns:a="http://schemas.openxmlformats.org/drawingml/2006/main">
              <a:ext uri="{FF2B5EF4-FFF2-40B4-BE49-F238E27FC236}">
                <a16:creationId xmlns:a16="http://schemas.microsoft.com/office/drawing/2014/main" id="{EC08C8F0-108B-445A-9EA1-0B66A1988E4F}"/>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27</a:t>
            </a:r>
          </a:p>
        </p:txBody>
      </p:sp>
    </p:spTree>
    <p:extLst>
      <p:ext uri="{BB962C8B-B14F-4D97-AF65-F5344CB8AC3E}">
        <p14:creationId xmlns:p14="http://schemas.microsoft.com/office/powerpoint/2010/main" val="1599009003"/>
      </p:ext>
    </p:extLst>
  </p:cSld>
</p:sld>
</file>

<file path=ppt/slides/slide2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F37FE7-FB3D-434A-99E8-578DC3E0384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2824E1DB-311D-4D90-8AE3-E45189AE28C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A05  상자의 안쪽과 바깥</a:t>
            </a:r>
          </a:p>
        </p:txBody>
      </p:sp>
      <p:sp>
        <p:nvSpPr>
          <p:cNvPr id="3" name="">
            <a:extLst xmlns:a="http://schemas.openxmlformats.org/drawingml/2006/main">
              <a:ext uri="{FF2B5EF4-FFF2-40B4-BE49-F238E27FC236}">
                <a16:creationId xmlns:a16="http://schemas.microsoft.com/office/drawing/2014/main" id="{35F56152-B74D-4B87-BCC5-E20FC352BCC3}"/>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padding은 내용 안쪽 공간입니다.</a:t>
            </a:r>
          </a:p>
        </p:txBody>
      </p:sp>
      <p:sp>
        <p:nvSpPr>
          <p:cNvPr id="4" name="">
            <a:extLst xmlns:a="http://schemas.openxmlformats.org/drawingml/2006/main">
              <a:ext uri="{FF2B5EF4-FFF2-40B4-BE49-F238E27FC236}">
                <a16:creationId xmlns:a16="http://schemas.microsoft.com/office/drawing/2014/main" id="{C49050A7-402B-4743-A3B9-18EC262D4A59}"/>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margin은 다른 요소와의 바깥 간격입니다.</a:t>
            </a:r>
          </a:p>
        </p:txBody>
      </p:sp>
      <p:sp>
        <p:nvSpPr>
          <p:cNvPr id="5" name="">
            <a:extLst xmlns:a="http://schemas.openxmlformats.org/drawingml/2006/main">
              <a:ext uri="{FF2B5EF4-FFF2-40B4-BE49-F238E27FC236}">
                <a16:creationId xmlns:a16="http://schemas.microsoft.com/office/drawing/2014/main" id="{EBEE5129-172D-4991-9EE1-77C127D146B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28</a:t>
            </a:r>
          </a:p>
        </p:txBody>
      </p:sp>
    </p:spTree>
    <p:extLst>
      <p:ext uri="{BB962C8B-B14F-4D97-AF65-F5344CB8AC3E}">
        <p14:creationId xmlns:p14="http://schemas.microsoft.com/office/powerpoint/2010/main" val="1591749653"/>
      </p:ext>
    </p:extLst>
  </p:cSld>
</p:sld>
</file>

<file path=ppt/slides/slide2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3A5410-ED63-4606-9B85-0C98036275A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E8C353E0-0907-42D7-8939-20494E039F95}"/>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상자의 안쪽과 바깥의 예</a:t>
            </a:r>
          </a:p>
        </p:txBody>
      </p:sp>
      <p:sp>
        <p:nvSpPr>
          <p:cNvPr id="3" name="">
            <a:extLst xmlns:a="http://schemas.openxmlformats.org/drawingml/2006/main">
              <a:ext uri="{FF2B5EF4-FFF2-40B4-BE49-F238E27FC236}">
                <a16:creationId xmlns:a16="http://schemas.microsoft.com/office/drawing/2014/main" id="{C0D5FA2F-1D1F-41F4-9549-CFC78ED81284}"/>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button {</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padding: 12px;</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margin-top: 8px;</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441F40D5-B3E9-452F-B5F6-4098D44D8258}"/>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발췌: button의 CSS 규칙</a:t>
            </a:r>
          </a:p>
        </p:txBody>
      </p:sp>
      <p:sp>
        <p:nvSpPr>
          <p:cNvPr id="5" name="">
            <a:extLst xmlns:a="http://schemas.openxmlformats.org/drawingml/2006/main">
              <a:ext uri="{FF2B5EF4-FFF2-40B4-BE49-F238E27FC236}">
                <a16:creationId xmlns:a16="http://schemas.microsoft.com/office/drawing/2014/main" id="{742535E7-91CE-4689-8333-0FC297EE026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29</a:t>
            </a:r>
          </a:p>
        </p:txBody>
      </p:sp>
    </p:spTree>
    <p:extLst>
      <p:ext uri="{BB962C8B-B14F-4D97-AF65-F5344CB8AC3E}">
        <p14:creationId xmlns:p14="http://schemas.microsoft.com/office/powerpoint/2010/main" val="671880530"/>
      </p:ext>
    </p:extLst>
  </p:cSld>
</p:sld>
</file>

<file path=ppt/slides/slide3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3BE217-EF0E-455D-978E-04EA39E47E3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12BE9564-19F9-4A46-B0EF-0BD3AA1A3404}"/>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상자의 안쪽과 바깥의 줄 읽기</a:t>
            </a:r>
          </a:p>
        </p:txBody>
      </p:sp>
      <p:sp>
        <p:nvSpPr>
          <p:cNvPr id="3" name="">
            <a:extLst xmlns:a="http://schemas.openxmlformats.org/drawingml/2006/main">
              <a:ext uri="{FF2B5EF4-FFF2-40B4-BE49-F238E27FC236}">
                <a16:creationId xmlns:a16="http://schemas.microsoft.com/office/drawing/2014/main" id="{F2055EFE-9CAF-4068-9484-3639BF0CC37C}"/>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3D419E0A-2E33-4F35-8A9D-130CE760839E}"/>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7B2FD907-C183-4001-AD44-9F1D37DB2CA3}"/>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F7B32B8C-1DCE-456F-9201-DB9498ECAF7F}"/>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30</a:t>
            </a:r>
          </a:p>
        </p:txBody>
      </p:sp>
    </p:spTree>
    <p:extLst>
      <p:ext uri="{BB962C8B-B14F-4D97-AF65-F5344CB8AC3E}">
        <p14:creationId xmlns:p14="http://schemas.microsoft.com/office/powerpoint/2010/main" val="163909118"/>
      </p:ext>
    </p:extLst>
  </p:cSld>
</p:sld>
</file>

<file path=ppt/slides/slide3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BF2D45-9EF3-450D-BCF0-FDA82F90382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0DACF08C-5F30-4951-BDBB-7019E6450EBD}"/>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간격을 바꾼 결과</a:t>
            </a:r>
          </a:p>
        </p:txBody>
      </p:sp>
      <p:sp>
        <p:nvSpPr>
          <p:cNvPr id="3" name="">
            <a:extLst xmlns:a="http://schemas.openxmlformats.org/drawingml/2006/main">
              <a:ext uri="{FF2B5EF4-FFF2-40B4-BE49-F238E27FC236}">
                <a16:creationId xmlns:a16="http://schemas.microsoft.com/office/drawing/2014/main" id="{726F2D70-573D-49C0-AD03-EE4BCA4A04D8}"/>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글자 주변을 넓히려면 padding을 바꿉니다.</a:t>
            </a:r>
          </a:p>
        </p:txBody>
      </p:sp>
      <p:sp>
        <p:nvSpPr>
          <p:cNvPr id="4" name="">
            <a:extLst xmlns:a="http://schemas.openxmlformats.org/drawingml/2006/main">
              <a:ext uri="{FF2B5EF4-FFF2-40B4-BE49-F238E27FC236}">
                <a16:creationId xmlns:a16="http://schemas.microsoft.com/office/drawing/2014/main" id="{5DE8FEB2-EF2E-4420-BA32-D4C0CA987A22}"/>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값과 상태의 의미는 그대로입니다.</a:t>
            </a:r>
          </a:p>
        </p:txBody>
      </p:sp>
      <p:sp>
        <p:nvSpPr>
          <p:cNvPr id="5" name="">
            <a:extLst xmlns:a="http://schemas.openxmlformats.org/drawingml/2006/main">
              <a:ext uri="{FF2B5EF4-FFF2-40B4-BE49-F238E27FC236}">
                <a16:creationId xmlns:a16="http://schemas.microsoft.com/office/drawing/2014/main" id="{422A20B2-2593-46F6-90E3-CE8885FD5770}"/>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31</a:t>
            </a:r>
          </a:p>
        </p:txBody>
      </p:sp>
    </p:spTree>
    <p:extLst>
      <p:ext uri="{BB962C8B-B14F-4D97-AF65-F5344CB8AC3E}">
        <p14:creationId xmlns:p14="http://schemas.microsoft.com/office/powerpoint/2010/main" val="1895382433"/>
      </p:ext>
    </p:extLst>
  </p:cSld>
</p:sld>
</file>

<file path=ppt/slides/slide3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AC0077-FF11-4725-B9D2-B9E9004D4F5A}"/>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3957ECC2-99F3-4526-AB2C-A348E10FC555}"/>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공간 선택</a:t>
            </a:r>
          </a:p>
        </p:txBody>
      </p:sp>
      <p:sp>
        <p:nvSpPr>
          <p:cNvPr id="3" name="">
            <a:extLst xmlns:a="http://schemas.openxmlformats.org/drawingml/2006/main">
              <a:ext uri="{FF2B5EF4-FFF2-40B4-BE49-F238E27FC236}">
                <a16:creationId xmlns:a16="http://schemas.microsoft.com/office/drawing/2014/main" id="{4C5DCB74-95C9-4E18-9F5B-51AA5B7A0F7D}"/>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버튼 글자 주변만 넓히고 싶습니다.</a:t>
            </a:r>
          </a:p>
        </p:txBody>
      </p:sp>
      <p:sp>
        <p:nvSpPr>
          <p:cNvPr id="4" name="">
            <a:extLst xmlns:a="http://schemas.openxmlformats.org/drawingml/2006/main">
              <a:ext uri="{FF2B5EF4-FFF2-40B4-BE49-F238E27FC236}">
                <a16:creationId xmlns:a16="http://schemas.microsoft.com/office/drawing/2014/main" id="{95084155-CF14-48CC-9728-E32BF90B878A}"/>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어느 속성을 바꿀까요?</a:t>
            </a:r>
          </a:p>
        </p:txBody>
      </p:sp>
      <p:sp>
        <p:nvSpPr>
          <p:cNvPr id="5" name="">
            <a:extLst xmlns:a="http://schemas.openxmlformats.org/drawingml/2006/main">
              <a:ext uri="{FF2B5EF4-FFF2-40B4-BE49-F238E27FC236}">
                <a16:creationId xmlns:a16="http://schemas.microsoft.com/office/drawing/2014/main" id="{3B4235EC-AFE0-49A9-A7F8-FB72FC7F4D06}"/>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32</a:t>
            </a:r>
          </a:p>
        </p:txBody>
      </p:sp>
    </p:spTree>
    <p:extLst>
      <p:ext uri="{BB962C8B-B14F-4D97-AF65-F5344CB8AC3E}">
        <p14:creationId xmlns:p14="http://schemas.microsoft.com/office/powerpoint/2010/main" val="440592070"/>
      </p:ext>
    </p:extLst>
  </p:cSld>
</p:sld>
</file>

<file path=ppt/slides/slide3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07AAC4-6AFB-4E04-99DC-371869DF9865}"/>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3BE0AAE4-E774-4416-8D79-A69618114044}"/>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A06  작은 화면과 상태</a:t>
            </a:r>
          </a:p>
        </p:txBody>
      </p:sp>
      <p:sp>
        <p:nvSpPr>
          <p:cNvPr id="3" name="">
            <a:extLst xmlns:a="http://schemas.openxmlformats.org/drawingml/2006/main">
              <a:ext uri="{FF2B5EF4-FFF2-40B4-BE49-F238E27FC236}">
                <a16:creationId xmlns:a16="http://schemas.microsoft.com/office/drawing/2014/main" id="{E9A275E7-534E-4741-A3DC-0F4FC67DB254}"/>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좁은 화면에서도 글자가 읽혀야 합니다.</a:t>
            </a:r>
          </a:p>
        </p:txBody>
      </p:sp>
      <p:sp>
        <p:nvSpPr>
          <p:cNvPr id="4" name="">
            <a:extLst xmlns:a="http://schemas.openxmlformats.org/drawingml/2006/main">
              <a:ext uri="{FF2B5EF4-FFF2-40B4-BE49-F238E27FC236}">
                <a16:creationId xmlns:a16="http://schemas.microsoft.com/office/drawing/2014/main" id="{82D4AE4B-B74E-42CE-A0B5-D4D47B96FFFC}"/>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색과 함께 상태 문구를 제공합니다.</a:t>
            </a:r>
          </a:p>
        </p:txBody>
      </p:sp>
      <p:sp>
        <p:nvSpPr>
          <p:cNvPr id="5" name="">
            <a:extLst xmlns:a="http://schemas.openxmlformats.org/drawingml/2006/main">
              <a:ext uri="{FF2B5EF4-FFF2-40B4-BE49-F238E27FC236}">
                <a16:creationId xmlns:a16="http://schemas.microsoft.com/office/drawing/2014/main" id="{7138C9F7-5D92-45FE-AF4A-E3C0C2651B6A}"/>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33</a:t>
            </a:r>
          </a:p>
        </p:txBody>
      </p:sp>
    </p:spTree>
    <p:extLst>
      <p:ext uri="{BB962C8B-B14F-4D97-AF65-F5344CB8AC3E}">
        <p14:creationId xmlns:p14="http://schemas.microsoft.com/office/powerpoint/2010/main" val="516981480"/>
      </p:ext>
    </p:extLst>
  </p:cSld>
</p:sld>
</file>

<file path=ppt/slides/slide3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361781-09CD-41B2-8EFD-1BA3DD1F6F2E}"/>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E7C281F6-3F1E-45CF-9E96-367E04D42473}"/>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작은 화면과 상태의 예</a:t>
            </a:r>
          </a:p>
        </p:txBody>
      </p:sp>
      <p:sp>
        <p:nvSpPr>
          <p:cNvPr id="3" name="">
            <a:extLst xmlns:a="http://schemas.openxmlformats.org/drawingml/2006/main">
              <a:ext uri="{FF2B5EF4-FFF2-40B4-BE49-F238E27FC236}">
                <a16:creationId xmlns:a16="http://schemas.microsoft.com/office/drawing/2014/main" id="{000C9212-AAEC-40B4-8B73-246BED97CA21}"/>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button:focus-visible {</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outline: 3px solid black;</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62888062-568F-4420-BDB1-F53ED0F7C87C}"/>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발췌: 키보드 초점을 보이게 합니다.</a:t>
            </a:r>
          </a:p>
        </p:txBody>
      </p:sp>
      <p:sp>
        <p:nvSpPr>
          <p:cNvPr id="5" name="">
            <a:extLst xmlns:a="http://schemas.openxmlformats.org/drawingml/2006/main">
              <a:ext uri="{FF2B5EF4-FFF2-40B4-BE49-F238E27FC236}">
                <a16:creationId xmlns:a16="http://schemas.microsoft.com/office/drawing/2014/main" id="{02450EB2-2249-40F0-AE91-89220DB5323D}"/>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34</a:t>
            </a:r>
          </a:p>
        </p:txBody>
      </p:sp>
    </p:spTree>
    <p:extLst>
      <p:ext uri="{BB962C8B-B14F-4D97-AF65-F5344CB8AC3E}">
        <p14:creationId xmlns:p14="http://schemas.microsoft.com/office/powerpoint/2010/main" val="1747388632"/>
      </p:ext>
    </p:extLst>
  </p:cSld>
</p:sld>
</file>

<file path=ppt/slides/slide3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1BC387-583D-4D07-BD3F-B50E4C5D5CA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B67FA706-31ED-438D-A430-AFD914FC6FC5}"/>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작은 화면과 상태의 줄 읽기</a:t>
            </a:r>
          </a:p>
        </p:txBody>
      </p:sp>
      <p:sp>
        <p:nvSpPr>
          <p:cNvPr id="3" name="">
            <a:extLst xmlns:a="http://schemas.openxmlformats.org/drawingml/2006/main">
              <a:ext uri="{FF2B5EF4-FFF2-40B4-BE49-F238E27FC236}">
                <a16:creationId xmlns:a16="http://schemas.microsoft.com/office/drawing/2014/main" id="{E70838DE-DC52-49A1-8A08-C19F83C0D717}"/>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6779C0B4-61B0-4BDC-B62D-3532D55CF9AF}"/>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AFFF9AFA-996B-42D1-9442-85645D806BEB}"/>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E8542A47-EE2C-4181-9AC6-95CABD473093}"/>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35</a:t>
            </a:r>
          </a:p>
        </p:txBody>
      </p:sp>
    </p:spTree>
    <p:extLst>
      <p:ext uri="{BB962C8B-B14F-4D97-AF65-F5344CB8AC3E}">
        <p14:creationId xmlns:p14="http://schemas.microsoft.com/office/powerpoint/2010/main" val="1771005502"/>
      </p:ext>
    </p:extLst>
  </p:cSld>
</p:sld>
</file>

<file path=ppt/slides/slide3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9A67AE-1A0C-43F6-BB6A-67FDDC6D36CA}"/>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8D710166-2EB9-4517-B239-224F2B00C9C1}"/>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키보드 확인</a:t>
            </a:r>
          </a:p>
        </p:txBody>
      </p:sp>
      <p:sp>
        <p:nvSpPr>
          <p:cNvPr id="3" name="">
            <a:extLst xmlns:a="http://schemas.openxmlformats.org/drawingml/2006/main">
              <a:ext uri="{FF2B5EF4-FFF2-40B4-BE49-F238E27FC236}">
                <a16:creationId xmlns:a16="http://schemas.microsoft.com/office/drawing/2014/main" id="{6F8089C5-BC90-4548-BE18-0F8FE3DE107B}"/>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Tab 키로 버튼 초점이 보이는지 봅니다.</a:t>
            </a:r>
          </a:p>
        </p:txBody>
      </p:sp>
      <p:sp>
        <p:nvSpPr>
          <p:cNvPr id="4" name="">
            <a:extLst xmlns:a="http://schemas.openxmlformats.org/drawingml/2006/main">
              <a:ext uri="{FF2B5EF4-FFF2-40B4-BE49-F238E27FC236}">
                <a16:creationId xmlns:a16="http://schemas.microsoft.com/office/drawing/2014/main" id="{EC5C70F4-72C1-41E5-9E5F-C585F718F6EA}"/>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정상·미측정 문구를 함께 읽습니다.</a:t>
            </a:r>
          </a:p>
        </p:txBody>
      </p:sp>
      <p:sp>
        <p:nvSpPr>
          <p:cNvPr id="5" name="">
            <a:extLst xmlns:a="http://schemas.openxmlformats.org/drawingml/2006/main">
              <a:ext uri="{FF2B5EF4-FFF2-40B4-BE49-F238E27FC236}">
                <a16:creationId xmlns:a16="http://schemas.microsoft.com/office/drawing/2014/main" id="{A450DBDD-9C09-49CB-9997-7E68799AB60C}"/>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36</a:t>
            </a:r>
          </a:p>
        </p:txBody>
      </p:sp>
    </p:spTree>
    <p:extLst>
      <p:ext uri="{BB962C8B-B14F-4D97-AF65-F5344CB8AC3E}">
        <p14:creationId xmlns:p14="http://schemas.microsoft.com/office/powerpoint/2010/main" val="620392778"/>
      </p:ext>
    </p:extLst>
  </p:cSld>
</p:sld>
</file>

<file path=ppt/slides/slide3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4EA8EB-8B39-473E-9990-BE1BD9739FB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443502B1-493A-41B4-A557-D256882CD4B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색만 있는 표시</a:t>
            </a:r>
          </a:p>
        </p:txBody>
      </p:sp>
      <p:sp>
        <p:nvSpPr>
          <p:cNvPr id="3" name="">
            <a:extLst xmlns:a="http://schemas.openxmlformats.org/drawingml/2006/main">
              <a:ext uri="{FF2B5EF4-FFF2-40B4-BE49-F238E27FC236}">
                <a16:creationId xmlns:a16="http://schemas.microsoft.com/office/drawing/2014/main" id="{7EE3E4AE-0608-4CA8-B268-E55F6AFEE971}"/>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초록 원만으로 정상 상태를 알려도 될까요?</a:t>
            </a:r>
          </a:p>
        </p:txBody>
      </p:sp>
      <p:sp>
        <p:nvSpPr>
          <p:cNvPr id="4" name="">
            <a:extLst xmlns:a="http://schemas.openxmlformats.org/drawingml/2006/main">
              <a:ext uri="{FF2B5EF4-FFF2-40B4-BE49-F238E27FC236}">
                <a16:creationId xmlns:a16="http://schemas.microsoft.com/office/drawing/2014/main" id="{8126F09B-0982-4EEE-949C-346AF9C62ED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37</a:t>
            </a:r>
          </a:p>
        </p:txBody>
      </p:sp>
    </p:spTree>
    <p:extLst>
      <p:ext uri="{BB962C8B-B14F-4D97-AF65-F5344CB8AC3E}">
        <p14:creationId xmlns:p14="http://schemas.microsoft.com/office/powerpoint/2010/main" val="1117832735"/>
      </p:ext>
    </p:extLst>
  </p:cSld>
</p:sld>
</file>

<file path=ppt/slides/slide38.xml><?xml version="1.0" encoding="utf-8"?>
<p:sld xmlns:p="http://schemas.openxmlformats.org/presentationml/2006/main">
  <p:cSld>
    <p:bg>
      <p:bgPr>
        <a:solidFill xmlns:a="http://schemas.openxmlformats.org/drawingml/2006/main">
          <a:srgbClr val="183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0AD902-E297-4202-A256-C4D264F998C5}"/>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A6D1C6"/>
                </a:solidFill>
                <a:latin typeface="Malgun Gothic"/>
                <a:ea typeface="Malgun Gothic"/>
                <a:cs typeface="Malgun Gothic"/>
              </a:defRPr>
            </a:pPr>
            <a:r>
              <a:rPr sz="1725" b="0">
                <a:solidFill>
                  <a:srgbClr val="A6D1C6"/>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082AEDA7-E510-4032-9AAF-6A39CABBFA20}"/>
              </a:ext>
            </a:extLst>
          </p:cNvPr>
          <p:cNvSpPr>
            <a:spLocks xmlns:a="http://schemas.openxmlformats.org/drawingml/2006/main" noGrp="1"/>
          </p:cNvSpPr>
          <p:nvPr/>
        </p:nvSpPr>
        <p:spPr>
          <a:xfrm xmlns:a="http://schemas.openxmlformats.org/drawingml/2006/main">
            <a:off x="723900" y="17335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F8F7F2"/>
                </a:solidFill>
                <a:latin typeface="Malgun Gothic"/>
                <a:ea typeface="Malgun Gothic"/>
                <a:cs typeface="Malgun Gothic"/>
              </a:defRPr>
            </a:pPr>
            <a:r>
              <a:rPr sz="4500" b="1">
                <a:solidFill>
                  <a:srgbClr val="F8F7F2"/>
                </a:solidFill>
                <a:latin typeface="Malgun Gothic"/>
                <a:ea typeface="Malgun Gothic"/>
                <a:cs typeface="Malgun Gothic"/>
              </a:rPr>
              <a:t>3교시  버튼과 데이터 변화</a:t>
            </a:r>
          </a:p>
        </p:txBody>
      </p:sp>
      <p:sp>
        <p:nvSpPr>
          <p:cNvPr id="3" name="">
            <a:extLst xmlns:a="http://schemas.openxmlformats.org/drawingml/2006/main">
              <a:ext uri="{FF2B5EF4-FFF2-40B4-BE49-F238E27FC236}">
                <a16:creationId xmlns:a16="http://schemas.microsoft.com/office/drawing/2014/main" id="{3EEDC29A-0DBC-4D3D-AE1D-98C8596DCB5C}"/>
              </a:ext>
            </a:extLst>
          </p:cNvPr>
          <p:cNvSpPr>
            <a:spLocks xmlns:a="http://schemas.openxmlformats.org/drawingml/2006/main" noGrp="1"/>
          </p:cNvSpPr>
          <p:nvPr/>
        </p:nvSpPr>
        <p:spPr>
          <a:xfrm xmlns:a="http://schemas.openxmlformats.org/drawingml/2006/main">
            <a:off x="762000" y="34099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50분 수업입니다.</a:t>
            </a:r>
          </a:p>
        </p:txBody>
      </p:sp>
      <p:sp>
        <p:nvSpPr>
          <p:cNvPr id="4" name="">
            <a:extLst xmlns:a="http://schemas.openxmlformats.org/drawingml/2006/main">
              <a:ext uri="{FF2B5EF4-FFF2-40B4-BE49-F238E27FC236}">
                <a16:creationId xmlns:a16="http://schemas.microsoft.com/office/drawing/2014/main" id="{EECFB3B0-344E-4F9D-A970-34C71FA22F63}"/>
              </a:ext>
            </a:extLst>
          </p:cNvPr>
          <p:cNvSpPr>
            <a:spLocks xmlns:a="http://schemas.openxmlformats.org/drawingml/2006/main" noGrp="1"/>
          </p:cNvSpPr>
          <p:nvPr/>
        </p:nvSpPr>
        <p:spPr>
          <a:xfrm xmlns:a="http://schemas.openxmlformats.org/drawingml/2006/main">
            <a:off x="762000" y="40195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먼저 개념을 보고 함께 따라 합니다.</a:t>
            </a:r>
          </a:p>
        </p:txBody>
      </p:sp>
      <p:sp>
        <p:nvSpPr>
          <p:cNvPr id="5" name="">
            <a:extLst xmlns:a="http://schemas.openxmlformats.org/drawingml/2006/main">
              <a:ext uri="{FF2B5EF4-FFF2-40B4-BE49-F238E27FC236}">
                <a16:creationId xmlns:a16="http://schemas.microsoft.com/office/drawing/2014/main" id="{F2B7B7EF-1FEC-4EFC-A3A4-597923E75902}"/>
              </a:ext>
            </a:extLst>
          </p:cNvPr>
          <p:cNvSpPr>
            <a:spLocks xmlns:a="http://schemas.openxmlformats.org/drawingml/2006/main" noGrp="1"/>
          </p:cNvSpPr>
          <p:nvPr/>
        </p:nvSpPr>
        <p:spPr>
          <a:xfrm xmlns:a="http://schemas.openxmlformats.org/drawingml/2006/main">
            <a:off x="762000" y="46291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예상과 실제를 비교하고 설명합니다.</a:t>
            </a:r>
          </a:p>
        </p:txBody>
      </p:sp>
      <p:sp>
        <p:nvSpPr>
          <p:cNvPr id="6" name="">
            <a:extLst xmlns:a="http://schemas.openxmlformats.org/drawingml/2006/main">
              <a:ext uri="{FF2B5EF4-FFF2-40B4-BE49-F238E27FC236}">
                <a16:creationId xmlns:a16="http://schemas.microsoft.com/office/drawing/2014/main" id="{A5F4F4E5-D870-4554-BC3D-234733E973D0}"/>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A6D1C6"/>
                </a:solidFill>
                <a:latin typeface="Malgun Gothic"/>
                <a:ea typeface="Malgun Gothic"/>
                <a:cs typeface="Malgun Gothic"/>
              </a:defRPr>
            </a:pPr>
            <a:r>
              <a:rPr sz="1500" b="0">
                <a:solidFill>
                  <a:srgbClr val="A6D1C6"/>
                </a:solidFill>
                <a:latin typeface="Malgun Gothic"/>
                <a:ea typeface="Malgun Gothic"/>
                <a:cs typeface="Malgun Gothic"/>
              </a:rPr>
              <a:t>38</a:t>
            </a:r>
          </a:p>
        </p:txBody>
      </p:sp>
    </p:spTree>
    <p:extLst>
      <p:ext uri="{BB962C8B-B14F-4D97-AF65-F5344CB8AC3E}">
        <p14:creationId xmlns:p14="http://schemas.microsoft.com/office/powerpoint/2010/main" val="1928433192"/>
      </p:ext>
    </p:extLst>
  </p:cSld>
</p:sld>
</file>

<file path=ppt/slides/slide3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63D92C-0AC7-4CB6-990B-BFD21A6BBD7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91AF7660-3D5F-43D4-AB04-A5AA48280B84}"/>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같은 값의 이동</a:t>
            </a:r>
          </a:p>
        </p:txBody>
      </p:sp>
      <p:sp>
        <p:nvSpPr>
          <p:cNvPr id="3" name="">
            <a:extLst xmlns:a="http://schemas.openxmlformats.org/drawingml/2006/main">
              <a:ext uri="{FF2B5EF4-FFF2-40B4-BE49-F238E27FC236}">
                <a16:creationId xmlns:a16="http://schemas.microsoft.com/office/drawing/2014/main" id="{22BED593-9AE7-4E53-B5D6-057C1DA0F251}"/>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데이터 파일과 초기 글자를 나누어 봅니다.</a:t>
            </a:r>
          </a:p>
        </p:txBody>
      </p:sp>
      <p:sp>
        <p:nvSpPr>
          <p:cNvPr id="4" name="">
            <a:extLst xmlns:a="http://schemas.openxmlformats.org/drawingml/2006/main">
              <a:ext uri="{FF2B5EF4-FFF2-40B4-BE49-F238E27FC236}">
                <a16:creationId xmlns:a16="http://schemas.microsoft.com/office/drawing/2014/main" id="{4CB46864-0D60-4B38-8309-DF7A5593A838}"/>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열기 직후와 클릭 뒤를 따로 기록합니다.</a:t>
            </a:r>
          </a:p>
        </p:txBody>
      </p:sp>
      <p:sp>
        <p:nvSpPr>
          <p:cNvPr id="5" name="">
            <a:extLst xmlns:a="http://schemas.openxmlformats.org/drawingml/2006/main">
              <a:ext uri="{FF2B5EF4-FFF2-40B4-BE49-F238E27FC236}">
                <a16:creationId xmlns:a16="http://schemas.microsoft.com/office/drawing/2014/main" id="{D870E234-4578-41B1-B4AB-01B14452D8B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39</a:t>
            </a:r>
          </a:p>
        </p:txBody>
      </p:sp>
    </p:spTree>
    <p:extLst>
      <p:ext uri="{BB962C8B-B14F-4D97-AF65-F5344CB8AC3E}">
        <p14:creationId xmlns:p14="http://schemas.microsoft.com/office/powerpoint/2010/main" val="1115045091"/>
      </p:ext>
    </p:extLst>
  </p:cSld>
</p:sld>
</file>

<file path=ppt/slides/slide4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2B9001-B2C9-4351-A9CE-C2B9E569E93B}"/>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357E8556-00BA-4AFE-A7DD-383E4FBAD92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A07  클릭과 JavaScript</a:t>
            </a:r>
          </a:p>
        </p:txBody>
      </p:sp>
      <p:sp>
        <p:nvSpPr>
          <p:cNvPr id="3" name="">
            <a:extLst xmlns:a="http://schemas.openxmlformats.org/drawingml/2006/main">
              <a:ext uri="{FF2B5EF4-FFF2-40B4-BE49-F238E27FC236}">
                <a16:creationId xmlns:a16="http://schemas.microsoft.com/office/drawing/2014/main" id="{1DA92D28-CCC7-4FA6-BA00-479FD4DAFF81}"/>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클릭은 브라우저에서 일어난 사건입니다.</a:t>
            </a:r>
          </a:p>
        </p:txBody>
      </p:sp>
      <p:sp>
        <p:nvSpPr>
          <p:cNvPr id="4" name="">
            <a:extLst xmlns:a="http://schemas.openxmlformats.org/drawingml/2006/main">
              <a:ext uri="{FF2B5EF4-FFF2-40B4-BE49-F238E27FC236}">
                <a16:creationId xmlns:a16="http://schemas.microsoft.com/office/drawing/2014/main" id="{CA725887-5810-48CB-8F94-A37D0C8865CA}"/>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처리 함수가 화면의 글자를 바꿉니다.</a:t>
            </a:r>
          </a:p>
        </p:txBody>
      </p:sp>
      <p:sp>
        <p:nvSpPr>
          <p:cNvPr id="5" name="">
            <a:extLst xmlns:a="http://schemas.openxmlformats.org/drawingml/2006/main">
              <a:ext uri="{FF2B5EF4-FFF2-40B4-BE49-F238E27FC236}">
                <a16:creationId xmlns:a16="http://schemas.microsoft.com/office/drawing/2014/main" id="{691716C2-390C-498F-9E00-65FA2F0C15B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40</a:t>
            </a:r>
          </a:p>
        </p:txBody>
      </p:sp>
    </p:spTree>
    <p:extLst>
      <p:ext uri="{BB962C8B-B14F-4D97-AF65-F5344CB8AC3E}">
        <p14:creationId xmlns:p14="http://schemas.microsoft.com/office/powerpoint/2010/main" val="677424177"/>
      </p:ext>
    </p:extLst>
  </p:cSld>
</p:sld>
</file>

<file path=ppt/slides/slide4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F0F94B-2416-46AC-8B3F-AD3294FD2E7D}"/>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3B18DC02-4442-4AA7-876C-884FD3B8CB6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클릭과 JavaScript의 예</a:t>
            </a:r>
          </a:p>
        </p:txBody>
      </p:sp>
      <p:sp>
        <p:nvSpPr>
          <p:cNvPr id="3" name="">
            <a:extLst xmlns:a="http://schemas.openxmlformats.org/drawingml/2006/main">
              <a:ext uri="{FF2B5EF4-FFF2-40B4-BE49-F238E27FC236}">
                <a16:creationId xmlns:a16="http://schemas.microsoft.com/office/drawing/2014/main" id="{8D2C2A1E-55F6-47C1-8A17-09768E83FF14}"/>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const button = document.querySelector("#check");</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const value = document.querySelector("#temperature");</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button.addEventListener("click", () =&gt; {</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value.textContent = window.SENSOR.temperature_c;</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C6AF9E54-7F51-4ED1-B788-877C80BA60CE}"/>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짧은 동작 예. 같은 id와 SENSOR가 필요합니다.</a:t>
            </a:r>
          </a:p>
        </p:txBody>
      </p:sp>
      <p:sp>
        <p:nvSpPr>
          <p:cNvPr id="5" name="">
            <a:extLst xmlns:a="http://schemas.openxmlformats.org/drawingml/2006/main">
              <a:ext uri="{FF2B5EF4-FFF2-40B4-BE49-F238E27FC236}">
                <a16:creationId xmlns:a16="http://schemas.microsoft.com/office/drawing/2014/main" id="{B7BF150F-0326-4869-8FE1-C483FD91AB3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41</a:t>
            </a:r>
          </a:p>
        </p:txBody>
      </p:sp>
    </p:spTree>
    <p:extLst>
      <p:ext uri="{BB962C8B-B14F-4D97-AF65-F5344CB8AC3E}">
        <p14:creationId xmlns:p14="http://schemas.microsoft.com/office/powerpoint/2010/main" val="2125549352"/>
      </p:ext>
    </p:extLst>
  </p:cSld>
</p:sld>
</file>

<file path=ppt/slides/slide4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514AAE-13BF-4985-8660-0AE45A5CB8E3}"/>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06ADA82C-EF9E-4245-8F63-8501D6DFECBA}"/>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클릭과 JavaScript의 줄 읽기</a:t>
            </a:r>
          </a:p>
        </p:txBody>
      </p:sp>
      <p:sp>
        <p:nvSpPr>
          <p:cNvPr id="3" name="">
            <a:extLst xmlns:a="http://schemas.openxmlformats.org/drawingml/2006/main">
              <a:ext uri="{FF2B5EF4-FFF2-40B4-BE49-F238E27FC236}">
                <a16:creationId xmlns:a16="http://schemas.microsoft.com/office/drawing/2014/main" id="{D1B13E7C-4C1D-4E77-810B-C3DEC72CEF93}"/>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1E6612A2-B914-4D5B-8C9B-FE6C5F61860D}"/>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83123EA7-DCA9-4A1C-8CB0-07DD0DF7E1F3}"/>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E526A82D-7DD6-48FE-AEEC-859F4F06CE3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42</a:t>
            </a:r>
          </a:p>
        </p:txBody>
      </p:sp>
    </p:spTree>
    <p:extLst>
      <p:ext uri="{BB962C8B-B14F-4D97-AF65-F5344CB8AC3E}">
        <p14:creationId xmlns:p14="http://schemas.microsoft.com/office/powerpoint/2010/main" val="1134269994"/>
      </p:ext>
    </p:extLst>
  </p:cSld>
</p:sld>
</file>

<file path=ppt/slides/slide4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DEB3A1-F3CF-470D-B923-59B0DA2723C1}"/>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DDB31B35-A914-45C9-B75E-8022CE269889}"/>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버튼 뒤 변화</a:t>
            </a:r>
          </a:p>
        </p:txBody>
      </p:sp>
      <p:sp>
        <p:nvSpPr>
          <p:cNvPr id="3" name="">
            <a:extLst xmlns:a="http://schemas.openxmlformats.org/drawingml/2006/main">
              <a:ext uri="{FF2B5EF4-FFF2-40B4-BE49-F238E27FC236}">
                <a16:creationId xmlns:a16="http://schemas.microsoft.com/office/drawing/2014/main" id="{56318745-CB3D-4ADB-BC26-11B50E26B21D}"/>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클릭하면 제공 데이터의 온도가 보입니다.</a:t>
            </a:r>
          </a:p>
        </p:txBody>
      </p:sp>
      <p:sp>
        <p:nvSpPr>
          <p:cNvPr id="4" name="">
            <a:extLst xmlns:a="http://schemas.openxmlformats.org/drawingml/2006/main">
              <a:ext uri="{FF2B5EF4-FFF2-40B4-BE49-F238E27FC236}">
                <a16:creationId xmlns:a16="http://schemas.microsoft.com/office/drawing/2014/main" id="{D918065F-ED98-4B36-9E9F-CCC5110F1D60}"/>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파일에 온도가 저장되는 것은 아닙니다.</a:t>
            </a:r>
          </a:p>
        </p:txBody>
      </p:sp>
      <p:sp>
        <p:nvSpPr>
          <p:cNvPr id="5" name="">
            <a:extLst xmlns:a="http://schemas.openxmlformats.org/drawingml/2006/main">
              <a:ext uri="{FF2B5EF4-FFF2-40B4-BE49-F238E27FC236}">
                <a16:creationId xmlns:a16="http://schemas.microsoft.com/office/drawing/2014/main" id="{A0786049-0DC9-4CB0-A093-58B43629612D}"/>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43</a:t>
            </a:r>
          </a:p>
        </p:txBody>
      </p:sp>
    </p:spTree>
    <p:extLst>
      <p:ext uri="{BB962C8B-B14F-4D97-AF65-F5344CB8AC3E}">
        <p14:creationId xmlns:p14="http://schemas.microsoft.com/office/powerpoint/2010/main" val="185147500"/>
      </p:ext>
    </p:extLst>
  </p:cSld>
</p:sld>
</file>

<file path=ppt/slides/slide4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403442-F9D8-419F-B05A-C01DDF4D556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9DCECC83-72CA-4635-AF35-B9AC7C3441F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클릭 복구</a:t>
            </a:r>
          </a:p>
        </p:txBody>
      </p:sp>
      <p:sp>
        <p:nvSpPr>
          <p:cNvPr id="3" name="">
            <a:extLst xmlns:a="http://schemas.openxmlformats.org/drawingml/2006/main">
              <a:ext uri="{FF2B5EF4-FFF2-40B4-BE49-F238E27FC236}">
                <a16:creationId xmlns:a16="http://schemas.microsoft.com/office/drawing/2014/main" id="{04E0B108-F403-4B67-8C33-8FC9A9B61CEC}"/>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버튼이 반응하지 않으면 무엇을 대조하나요?</a:t>
            </a:r>
          </a:p>
        </p:txBody>
      </p:sp>
      <p:sp>
        <p:nvSpPr>
          <p:cNvPr id="4" name="">
            <a:extLst xmlns:a="http://schemas.openxmlformats.org/drawingml/2006/main">
              <a:ext uri="{FF2B5EF4-FFF2-40B4-BE49-F238E27FC236}">
                <a16:creationId xmlns:a16="http://schemas.microsoft.com/office/drawing/2014/main" id="{A8F82D11-A9EE-484D-BA22-EEF314A2979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44</a:t>
            </a:r>
          </a:p>
        </p:txBody>
      </p:sp>
    </p:spTree>
    <p:extLst>
      <p:ext uri="{BB962C8B-B14F-4D97-AF65-F5344CB8AC3E}">
        <p14:creationId xmlns:p14="http://schemas.microsoft.com/office/powerpoint/2010/main" val="878644473"/>
      </p:ext>
    </p:extLst>
  </p:cSld>
</p:sld>
</file>

<file path=ppt/slides/slide4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82F42B-7BF6-422E-996D-52F178B950DC}"/>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68572B94-629A-4219-ABF3-0A407A0E93AA}"/>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A08  데이터와 초기 글자</a:t>
            </a:r>
          </a:p>
        </p:txBody>
      </p:sp>
      <p:sp>
        <p:nvSpPr>
          <p:cNvPr id="3" name="">
            <a:extLst xmlns:a="http://schemas.openxmlformats.org/drawingml/2006/main">
              <a:ext uri="{FF2B5EF4-FFF2-40B4-BE49-F238E27FC236}">
                <a16:creationId xmlns:a16="http://schemas.microsoft.com/office/drawing/2014/main" id="{AA0741F1-CF9F-4E76-A4D6-FDC9A79F21E6}"/>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HTML의 처음 숫자와 데이터 값은 다릅니다.</a:t>
            </a:r>
          </a:p>
        </p:txBody>
      </p:sp>
      <p:sp>
        <p:nvSpPr>
          <p:cNvPr id="4" name="">
            <a:extLst xmlns:a="http://schemas.openxmlformats.org/drawingml/2006/main">
              <a:ext uri="{FF2B5EF4-FFF2-40B4-BE49-F238E27FC236}">
                <a16:creationId xmlns:a16="http://schemas.microsoft.com/office/drawing/2014/main" id="{6EA98020-6B81-48FC-A86B-69E73D49D825}"/>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버튼이 data.js의 값을 읽어 표시합니다.</a:t>
            </a:r>
          </a:p>
        </p:txBody>
      </p:sp>
      <p:sp>
        <p:nvSpPr>
          <p:cNvPr id="5" name="">
            <a:extLst xmlns:a="http://schemas.openxmlformats.org/drawingml/2006/main">
              <a:ext uri="{FF2B5EF4-FFF2-40B4-BE49-F238E27FC236}">
                <a16:creationId xmlns:a16="http://schemas.microsoft.com/office/drawing/2014/main" id="{69D410F4-7722-40AA-871F-0C2FF1005A2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45</a:t>
            </a:r>
          </a:p>
        </p:txBody>
      </p:sp>
    </p:spTree>
    <p:extLst>
      <p:ext uri="{BB962C8B-B14F-4D97-AF65-F5344CB8AC3E}">
        <p14:creationId xmlns:p14="http://schemas.microsoft.com/office/powerpoint/2010/main" val="471762758"/>
      </p:ext>
    </p:extLst>
  </p:cSld>
</p:sld>
</file>

<file path=ppt/slides/slide4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220D6D-C631-4A21-B4F5-6F31B8C7C187}"/>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1156E7DB-8E82-450C-A7CF-A8775B47676B}"/>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데이터와 초기 글자의 예</a:t>
            </a:r>
          </a:p>
        </p:txBody>
      </p:sp>
      <p:sp>
        <p:nvSpPr>
          <p:cNvPr id="3" name="">
            <a:extLst xmlns:a="http://schemas.openxmlformats.org/drawingml/2006/main">
              <a:ext uri="{FF2B5EF4-FFF2-40B4-BE49-F238E27FC236}">
                <a16:creationId xmlns:a16="http://schemas.microsoft.com/office/drawing/2014/main" id="{CD35548C-C4EA-40C8-88D9-7A496A972623}"/>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window.SENSOR = {</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location: "입구",</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temperature_c: 26</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61DF20DE-60A5-495C-8DBB-3EEFE4138C44}"/>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짧은 완성 데이터 파일: data.js</a:t>
            </a:r>
          </a:p>
        </p:txBody>
      </p:sp>
      <p:sp>
        <p:nvSpPr>
          <p:cNvPr id="5" name="">
            <a:extLst xmlns:a="http://schemas.openxmlformats.org/drawingml/2006/main">
              <a:ext uri="{FF2B5EF4-FFF2-40B4-BE49-F238E27FC236}">
                <a16:creationId xmlns:a16="http://schemas.microsoft.com/office/drawing/2014/main" id="{31C29469-E432-4E56-A173-07286CD95702}"/>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46</a:t>
            </a:r>
          </a:p>
        </p:txBody>
      </p:sp>
    </p:spTree>
    <p:extLst>
      <p:ext uri="{BB962C8B-B14F-4D97-AF65-F5344CB8AC3E}">
        <p14:creationId xmlns:p14="http://schemas.microsoft.com/office/powerpoint/2010/main" val="1221518272"/>
      </p:ext>
    </p:extLst>
  </p:cSld>
</p:sld>
</file>

<file path=ppt/slides/slide4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6E1151-2BBC-47FA-80C9-FE7D5029591A}"/>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90E8F7BE-CE72-4A8F-ABC7-98B643588AE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데이터와 초기 글자의 줄 읽기</a:t>
            </a:r>
          </a:p>
        </p:txBody>
      </p:sp>
      <p:sp>
        <p:nvSpPr>
          <p:cNvPr id="3" name="">
            <a:extLst xmlns:a="http://schemas.openxmlformats.org/drawingml/2006/main">
              <a:ext uri="{FF2B5EF4-FFF2-40B4-BE49-F238E27FC236}">
                <a16:creationId xmlns:a16="http://schemas.microsoft.com/office/drawing/2014/main" id="{A6446DE5-F3B4-4981-B23C-408D979E699F}"/>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567AD8AF-1A3D-4127-B938-0D1C92E984DA}"/>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FCC9E0D5-F4A5-4473-94A1-4205F82F5117}"/>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23166197-FB08-4C43-806E-88A02DA5FB7F}"/>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47</a:t>
            </a:r>
          </a:p>
        </p:txBody>
      </p:sp>
    </p:spTree>
    <p:extLst>
      <p:ext uri="{BB962C8B-B14F-4D97-AF65-F5344CB8AC3E}">
        <p14:creationId xmlns:p14="http://schemas.microsoft.com/office/powerpoint/2010/main" val="858342863"/>
      </p:ext>
    </p:extLst>
  </p:cSld>
</p:sld>
</file>

<file path=ppt/slides/slide4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5157CB-7A3B-4145-BDCE-0BBC646401F0}"/>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C7A3C3EA-05C4-4660-AF25-6102B096CF24}"/>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열기와 클릭</a:t>
            </a:r>
          </a:p>
        </p:txBody>
      </p:sp>
      <p:sp>
        <p:nvSpPr>
          <p:cNvPr id="3" name="">
            <a:extLst xmlns:a="http://schemas.openxmlformats.org/drawingml/2006/main">
              <a:ext uri="{FF2B5EF4-FFF2-40B4-BE49-F238E27FC236}">
                <a16:creationId xmlns:a16="http://schemas.microsoft.com/office/drawing/2014/main" id="{1ADDF580-44F7-4BA1-9BD0-3CA186827EA7}"/>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처음 HTML이 22.5면 열기 직후도 22.5입니다.</a:t>
            </a:r>
          </a:p>
        </p:txBody>
      </p:sp>
      <p:sp>
        <p:nvSpPr>
          <p:cNvPr id="4" name="">
            <a:extLst xmlns:a="http://schemas.openxmlformats.org/drawingml/2006/main">
              <a:ext uri="{FF2B5EF4-FFF2-40B4-BE49-F238E27FC236}">
                <a16:creationId xmlns:a16="http://schemas.microsoft.com/office/drawing/2014/main" id="{D3223D3E-BB51-497A-B959-3BD0335C6C7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클릭 뒤 데이터 26을 표시합니다.</a:t>
            </a:r>
          </a:p>
        </p:txBody>
      </p:sp>
      <p:sp>
        <p:nvSpPr>
          <p:cNvPr id="5" name="">
            <a:extLst xmlns:a="http://schemas.openxmlformats.org/drawingml/2006/main">
              <a:ext uri="{FF2B5EF4-FFF2-40B4-BE49-F238E27FC236}">
                <a16:creationId xmlns:a16="http://schemas.microsoft.com/office/drawing/2014/main" id="{4AC45E91-578D-425E-8AE4-FCF32FEB220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48</a:t>
            </a:r>
          </a:p>
        </p:txBody>
      </p:sp>
    </p:spTree>
    <p:extLst>
      <p:ext uri="{BB962C8B-B14F-4D97-AF65-F5344CB8AC3E}">
        <p14:creationId xmlns:p14="http://schemas.microsoft.com/office/powerpoint/2010/main" val="1465858136"/>
      </p:ext>
    </p:extLst>
  </p:cSld>
</p:sld>
</file>

<file path=ppt/slides/slide4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CC4A82-8C6C-471E-8BD3-3F6810D3509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21529CB8-D862-4F57-92B2-190866833F7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두 시점의 결과</a:t>
            </a:r>
          </a:p>
        </p:txBody>
      </p:sp>
      <p:sp>
        <p:nvSpPr>
          <p:cNvPr id="3" name="">
            <a:extLst xmlns:a="http://schemas.openxmlformats.org/drawingml/2006/main">
              <a:ext uri="{FF2B5EF4-FFF2-40B4-BE49-F238E27FC236}">
                <a16:creationId xmlns:a16="http://schemas.microsoft.com/office/drawing/2014/main" id="{274844C6-8AD9-4282-99B3-2A12EDD659BA}"/>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새로고침 직후와 클릭 뒤 값을 쓰세요.</a:t>
            </a:r>
          </a:p>
        </p:txBody>
      </p:sp>
      <p:sp>
        <p:nvSpPr>
          <p:cNvPr id="4" name="">
            <a:extLst xmlns:a="http://schemas.openxmlformats.org/drawingml/2006/main">
              <a:ext uri="{FF2B5EF4-FFF2-40B4-BE49-F238E27FC236}">
                <a16:creationId xmlns:a16="http://schemas.microsoft.com/office/drawing/2014/main" id="{7D5A55FC-F92B-4A20-8B1E-D442409F091A}"/>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클릭하면 data.js도 바뀌나요?</a:t>
            </a:r>
          </a:p>
        </p:txBody>
      </p:sp>
      <p:sp>
        <p:nvSpPr>
          <p:cNvPr id="5" name="">
            <a:extLst xmlns:a="http://schemas.openxmlformats.org/drawingml/2006/main">
              <a:ext uri="{FF2B5EF4-FFF2-40B4-BE49-F238E27FC236}">
                <a16:creationId xmlns:a16="http://schemas.microsoft.com/office/drawing/2014/main" id="{7BE0E172-AABD-4959-838A-447A069CDB3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49</a:t>
            </a:r>
          </a:p>
        </p:txBody>
      </p:sp>
    </p:spTree>
    <p:extLst>
      <p:ext uri="{BB962C8B-B14F-4D97-AF65-F5344CB8AC3E}">
        <p14:creationId xmlns:p14="http://schemas.microsoft.com/office/powerpoint/2010/main" val="2127113780"/>
      </p:ext>
    </p:extLst>
  </p:cSld>
</p:sld>
</file>

<file path=ppt/slides/slide5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307423-4E2D-4D61-86FB-9646447E37A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443195DA-5EA0-42A8-BEE0-1C62DEB7718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A09  오류 위치와 복구</a:t>
            </a:r>
          </a:p>
        </p:txBody>
      </p:sp>
      <p:sp>
        <p:nvSpPr>
          <p:cNvPr id="3" name="">
            <a:extLst xmlns:a="http://schemas.openxmlformats.org/drawingml/2006/main">
              <a:ext uri="{FF2B5EF4-FFF2-40B4-BE49-F238E27FC236}">
                <a16:creationId xmlns:a16="http://schemas.microsoft.com/office/drawing/2014/main" id="{B3E27CF1-FCFA-4B73-BFAB-E076CBE53B7D}"/>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증상과 원인을 먼저 나누어 읽습니다.</a:t>
            </a:r>
          </a:p>
        </p:txBody>
      </p:sp>
      <p:sp>
        <p:nvSpPr>
          <p:cNvPr id="4" name="">
            <a:extLst xmlns:a="http://schemas.openxmlformats.org/drawingml/2006/main">
              <a:ext uri="{FF2B5EF4-FFF2-40B4-BE49-F238E27FC236}">
                <a16:creationId xmlns:a16="http://schemas.microsoft.com/office/drawing/2014/main" id="{8D3EAEAB-860B-4184-9AB4-0B0ED507BD2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연결 이름 한 곳을 대조해 복구합니다.</a:t>
            </a:r>
          </a:p>
        </p:txBody>
      </p:sp>
      <p:sp>
        <p:nvSpPr>
          <p:cNvPr id="5" name="">
            <a:extLst xmlns:a="http://schemas.openxmlformats.org/drawingml/2006/main">
              <a:ext uri="{FF2B5EF4-FFF2-40B4-BE49-F238E27FC236}">
                <a16:creationId xmlns:a16="http://schemas.microsoft.com/office/drawing/2014/main" id="{06DB673F-F331-4A8C-A9BC-D2A13E71544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50</a:t>
            </a:r>
          </a:p>
        </p:txBody>
      </p:sp>
    </p:spTree>
    <p:extLst>
      <p:ext uri="{BB962C8B-B14F-4D97-AF65-F5344CB8AC3E}">
        <p14:creationId xmlns:p14="http://schemas.microsoft.com/office/powerpoint/2010/main" val="331746164"/>
      </p:ext>
    </p:extLst>
  </p:cSld>
</p:sld>
</file>

<file path=ppt/slides/slide5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376E10-AA5A-4F82-A688-32875A4C26C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9A335B0A-E445-4AC5-8490-94ACD1D67FC1}"/>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오류 위치와 복구의 예</a:t>
            </a:r>
          </a:p>
        </p:txBody>
      </p:sp>
      <p:graphicFrame>
        <p:nvGraphicFramePr>
          <p:cNvPr id="8" name=""/>
          <p:cNvGraphicFramePr/>
          <p:nvPr/>
        </p:nvGraphicFramePr>
        <p:xfrm>
          <a:off xmlns:a="http://schemas.openxmlformats.org/drawingml/2006/main" x="762000" y="2333625"/>
          <a:ext xmlns:a="http://schemas.openxmlformats.org/drawingml/2006/main" cx="10668000" cy="2171700"/>
        </p:xfrm>
        <a:graphic xmlns:a="http://schemas.openxmlformats.org/drawingml/2006/main">
          <a:graphicData uri="http://schemas.openxmlformats.org/drawingml/2006/table">
            <a:tbl>
              <a:tblPr firstRow="1" bandRow="0"/>
              <a:tblGrid>
                <a:gridCol w="3556000"/>
                <a:gridCol w="3556000"/>
                <a:gridCol w="3556000"/>
              </a:tblGrid>
              <a:tr h="723900">
                <a:tc>
                  <a:txBody>
                    <a:bodyPr wrap="square"/>
                    <a:lstStyle/>
                    <a:p>
                      <a:pPr>
                        <a:lnSpc>
                          <a:spcPct val="93000"/>
                        </a:lnSpc>
                        <a:buNone/>
                      </a:pPr>
                      <a:r>
                        <a:rPr sz="2100" b="1">
                          <a:solidFill>
                            <a:srgbClr val="FFFFFF"/>
                          </a:solidFill>
                          <a:latin typeface="Malgun Gothic"/>
                          <a:ea typeface="Malgun Gothic"/>
                          <a:cs typeface="Malgun Gothic"/>
                        </a:rPr>
                        <a:t>부분</a:t>
                      </a:r>
                    </a:p>
                  </a:txBody>
                  <a:tcPr marL="114300" marR="114300" marT="47625" marB="47625" anchor="ctr">
                    <a:solidFill>
                      <a:srgbClr val="137A72"/>
                    </a:solidFill>
                  </a:tcPr>
                </a:tc>
                <a:tc>
                  <a:txBody>
                    <a:bodyPr wrap="square"/>
                    <a:lstStyle/>
                    <a:p>
                      <a:pPr>
                        <a:lnSpc>
                          <a:spcPct val="93000"/>
                        </a:lnSpc>
                        <a:buNone/>
                      </a:pPr>
                      <a:r>
                        <a:rPr sz="2100" b="1">
                          <a:solidFill>
                            <a:srgbClr val="FFFFFF"/>
                          </a:solidFill>
                          <a:latin typeface="Malgun Gothic"/>
                          <a:ea typeface="Malgun Gothic"/>
                          <a:cs typeface="Malgun Gothic"/>
                        </a:rPr>
                        <a:t>잘못된 값</a:t>
                      </a:r>
                    </a:p>
                  </a:txBody>
                  <a:tcPr marL="114300" marR="114300" marT="47625" marB="47625" anchor="ctr">
                    <a:solidFill>
                      <a:srgbClr val="137A72"/>
                    </a:solidFill>
                  </a:tcPr>
                </a:tc>
                <a:tc>
                  <a:txBody>
                    <a:bodyPr wrap="square"/>
                    <a:lstStyle/>
                    <a:p>
                      <a:pPr>
                        <a:lnSpc>
                          <a:spcPct val="93000"/>
                        </a:lnSpc>
                        <a:buNone/>
                      </a:pPr>
                      <a:r>
                        <a:rPr sz="2100" b="1">
                          <a:solidFill>
                            <a:srgbClr val="FFFFFF"/>
                          </a:solidFill>
                          <a:latin typeface="Malgun Gothic"/>
                          <a:ea typeface="Malgun Gothic"/>
                          <a:cs typeface="Malgun Gothic"/>
                        </a:rPr>
                        <a:t>맞출 값</a:t>
                      </a:r>
                    </a:p>
                  </a:txBody>
                  <a:tcPr marL="114300" marR="114300" marT="47625" marB="47625" anchor="ctr">
                    <a:solidFill>
                      <a:srgbClr val="137A72"/>
                    </a:solidFill>
                  </a:tcPr>
                </a:tc>
              </a:tr>
              <a:tr h="723900">
                <a:tc>
                  <a:txBody>
                    <a:bodyPr wrap="square"/>
                    <a:lstStyle/>
                    <a:p>
                      <a:pPr>
                        <a:lnSpc>
                          <a:spcPct val="93000"/>
                        </a:lnSpc>
                        <a:buNone/>
                      </a:pPr>
                      <a:r>
                        <a:rPr sz="2100" b="0">
                          <a:solidFill>
                            <a:srgbClr val="183D38"/>
                          </a:solidFill>
                          <a:latin typeface="Malgun Gothic"/>
                          <a:ea typeface="Malgun Gothic"/>
                          <a:cs typeface="Malgun Gothic"/>
                        </a:rPr>
                        <a:t>HTML id</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read</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check</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JS 선택자</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#check</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#check</a:t>
                      </a:r>
                    </a:p>
                  </a:txBody>
                  <a:tcPr marL="114300" marR="114300" marT="47625" marB="47625" anchor="ctr">
                    <a:solidFill>
                      <a:srgbClr val="F8F7F2"/>
                    </a:solidFill>
                  </a:tcPr>
                </a:tc>
              </a:tr>
            </a:tbl>
          </a:graphicData>
        </a:graphic>
      </p:graphicFrame>
      <p:sp>
        <p:nvSpPr>
          <p:cNvPr id="4" name="">
            <a:extLst xmlns:a="http://schemas.openxmlformats.org/drawingml/2006/main">
              <a:ext uri="{FF2B5EF4-FFF2-40B4-BE49-F238E27FC236}">
                <a16:creationId xmlns:a16="http://schemas.microsoft.com/office/drawing/2014/main" id="{6B4210A0-C70B-4FF5-A9BA-97EE82C1F065}"/>
              </a:ext>
            </a:extLst>
          </p:cNvPr>
          <p:cNvSpPr>
            <a:spLocks xmlns:a="http://schemas.openxmlformats.org/drawingml/2006/main" noGrp="1"/>
          </p:cNvSpPr>
          <p:nvPr/>
        </p:nvSpPr>
        <p:spPr>
          <a:xfrm xmlns:a="http://schemas.openxmlformats.org/drawingml/2006/main">
            <a:off x="762000" y="60579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37A72"/>
                </a:solidFill>
                <a:latin typeface="Malgun Gothic"/>
                <a:ea typeface="Malgun Gothic"/>
                <a:cs typeface="Malgun Gothic"/>
              </a:defRPr>
            </a:pPr>
            <a:r>
              <a:rPr sz="1800" b="0">
                <a:solidFill>
                  <a:srgbClr val="137A72"/>
                </a:solidFill>
                <a:latin typeface="Malgun Gothic"/>
                <a:ea typeface="Malgun Gothic"/>
                <a:cs typeface="Malgun Gothic"/>
              </a:rPr>
              <a:t>id를 유지하거나 선택자를 함께 맞춥니다.</a:t>
            </a:r>
          </a:p>
        </p:txBody>
      </p:sp>
      <p:sp>
        <p:nvSpPr>
          <p:cNvPr id="5" name="">
            <a:extLst xmlns:a="http://schemas.openxmlformats.org/drawingml/2006/main">
              <a:ext uri="{FF2B5EF4-FFF2-40B4-BE49-F238E27FC236}">
                <a16:creationId xmlns:a16="http://schemas.microsoft.com/office/drawing/2014/main" id="{FF15B2DB-E7B4-460C-A45A-8E4C3CC01485}"/>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51</a:t>
            </a:r>
          </a:p>
        </p:txBody>
      </p:sp>
    </p:spTree>
    <p:extLst>
      <p:ext uri="{BB962C8B-B14F-4D97-AF65-F5344CB8AC3E}">
        <p14:creationId xmlns:p14="http://schemas.microsoft.com/office/powerpoint/2010/main" val="1330162243"/>
      </p:ext>
    </p:extLst>
  </p:cSld>
</p:sld>
</file>

<file path=ppt/slides/slide5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4A3C78-48B7-4A29-8188-C276975EF31A}"/>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C69949D7-951D-4F0E-BDD7-A07CAC369695}"/>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같은 행동 재검사</a:t>
            </a:r>
          </a:p>
        </p:txBody>
      </p:sp>
      <p:sp>
        <p:nvSpPr>
          <p:cNvPr id="3" name="">
            <a:extLst xmlns:a="http://schemas.openxmlformats.org/drawingml/2006/main">
              <a:ext uri="{FF2B5EF4-FFF2-40B4-BE49-F238E27FC236}">
                <a16:creationId xmlns:a16="http://schemas.microsoft.com/office/drawing/2014/main" id="{A6192322-D40B-41CA-B8FE-5FBB79133097}"/>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이름을 맞춘 뒤 같은 버튼을 눌러 봅니다.</a:t>
            </a:r>
          </a:p>
        </p:txBody>
      </p:sp>
      <p:sp>
        <p:nvSpPr>
          <p:cNvPr id="4" name="">
            <a:extLst xmlns:a="http://schemas.openxmlformats.org/drawingml/2006/main">
              <a:ext uri="{FF2B5EF4-FFF2-40B4-BE49-F238E27FC236}">
                <a16:creationId xmlns:a16="http://schemas.microsoft.com/office/drawing/2014/main" id="{270E2F3A-5876-45AF-9693-347FE0053C61}"/>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원문만 읽고 동작 복구를 단정하지 않습니다.</a:t>
            </a:r>
          </a:p>
        </p:txBody>
      </p:sp>
      <p:sp>
        <p:nvSpPr>
          <p:cNvPr id="5" name="">
            <a:extLst xmlns:a="http://schemas.openxmlformats.org/drawingml/2006/main">
              <a:ext uri="{FF2B5EF4-FFF2-40B4-BE49-F238E27FC236}">
                <a16:creationId xmlns:a16="http://schemas.microsoft.com/office/drawing/2014/main" id="{FF95F2A5-EB3E-442C-AB44-D3EBDBFFD0E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52</a:t>
            </a:r>
          </a:p>
        </p:txBody>
      </p:sp>
    </p:spTree>
    <p:extLst>
      <p:ext uri="{BB962C8B-B14F-4D97-AF65-F5344CB8AC3E}">
        <p14:creationId xmlns:p14="http://schemas.microsoft.com/office/powerpoint/2010/main" val="2027860807"/>
      </p:ext>
    </p:extLst>
  </p:cSld>
</p:sld>
</file>

<file path=ppt/slides/slide5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D1DE62-ECE6-4652-B868-59803B341BA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2C8A8ACA-8D9A-4461-8669-BF5EADCBFBE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이름 복구 방법</a:t>
            </a:r>
          </a:p>
        </p:txBody>
      </p:sp>
      <p:sp>
        <p:nvSpPr>
          <p:cNvPr id="3" name="">
            <a:extLst xmlns:a="http://schemas.openxmlformats.org/drawingml/2006/main">
              <a:ext uri="{FF2B5EF4-FFF2-40B4-BE49-F238E27FC236}">
                <a16:creationId xmlns:a16="http://schemas.microsoft.com/office/drawing/2014/main" id="{8CC2FDD9-FA29-47F3-A237-C625BB0C11ED}"/>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id가 read이고 선택자가 #check입니다.</a:t>
            </a:r>
          </a:p>
        </p:txBody>
      </p:sp>
      <p:sp>
        <p:nvSpPr>
          <p:cNvPr id="4" name="">
            <a:extLst xmlns:a="http://schemas.openxmlformats.org/drawingml/2006/main">
              <a:ext uri="{FF2B5EF4-FFF2-40B4-BE49-F238E27FC236}">
                <a16:creationId xmlns:a16="http://schemas.microsoft.com/office/drawing/2014/main" id="{7F986533-16AD-4DEB-ACAC-A6C8945D605F}"/>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두 가지 복구 방법을 설명해 보세요.</a:t>
            </a:r>
          </a:p>
        </p:txBody>
      </p:sp>
      <p:sp>
        <p:nvSpPr>
          <p:cNvPr id="5" name="">
            <a:extLst xmlns:a="http://schemas.openxmlformats.org/drawingml/2006/main">
              <a:ext uri="{FF2B5EF4-FFF2-40B4-BE49-F238E27FC236}">
                <a16:creationId xmlns:a16="http://schemas.microsoft.com/office/drawing/2014/main" id="{84FDB173-CCEB-4775-912F-10BD96CE7C2F}"/>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53</a:t>
            </a:r>
          </a:p>
        </p:txBody>
      </p:sp>
    </p:spTree>
    <p:extLst>
      <p:ext uri="{BB962C8B-B14F-4D97-AF65-F5344CB8AC3E}">
        <p14:creationId xmlns:p14="http://schemas.microsoft.com/office/powerpoint/2010/main" val="430974812"/>
      </p:ext>
    </p:extLst>
  </p:cSld>
</p:sld>
</file>

<file path=ppt/slides/slide54.xml><?xml version="1.0" encoding="utf-8"?>
<p:sld xmlns:p="http://schemas.openxmlformats.org/presentationml/2006/main">
  <p:cSld>
    <p:bg>
      <p:bgPr>
        <a:solidFill xmlns:a="http://schemas.openxmlformats.org/drawingml/2006/main">
          <a:srgbClr val="183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FA91B4-A850-42EF-9B0D-B9B2F9A374D1}"/>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A6D1C6"/>
                </a:solidFill>
                <a:latin typeface="Malgun Gothic"/>
                <a:ea typeface="Malgun Gothic"/>
                <a:cs typeface="Malgun Gothic"/>
              </a:defRPr>
            </a:pPr>
            <a:r>
              <a:rPr sz="1725" b="0">
                <a:solidFill>
                  <a:srgbClr val="A6D1C6"/>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4B23CB3A-69A5-48F5-B2AA-718D23414879}"/>
              </a:ext>
            </a:extLst>
          </p:cNvPr>
          <p:cNvSpPr>
            <a:spLocks xmlns:a="http://schemas.openxmlformats.org/drawingml/2006/main" noGrp="1"/>
          </p:cNvSpPr>
          <p:nvPr/>
        </p:nvSpPr>
        <p:spPr>
          <a:xfrm xmlns:a="http://schemas.openxmlformats.org/drawingml/2006/main">
            <a:off x="723900" y="17335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F8F7F2"/>
                </a:solidFill>
                <a:latin typeface="Malgun Gothic"/>
                <a:ea typeface="Malgun Gothic"/>
                <a:cs typeface="Malgun Gothic"/>
              </a:defRPr>
            </a:pPr>
            <a:r>
              <a:rPr sz="4500" b="1">
                <a:solidFill>
                  <a:srgbClr val="F8F7F2"/>
                </a:solidFill>
                <a:latin typeface="Malgun Gothic"/>
                <a:ea typeface="Malgun Gothic"/>
                <a:cs typeface="Malgun Gothic"/>
              </a:rPr>
              <a:t>4교시  React의 화면 부품</a:t>
            </a:r>
          </a:p>
        </p:txBody>
      </p:sp>
      <p:sp>
        <p:nvSpPr>
          <p:cNvPr id="3" name="">
            <a:extLst xmlns:a="http://schemas.openxmlformats.org/drawingml/2006/main">
              <a:ext uri="{FF2B5EF4-FFF2-40B4-BE49-F238E27FC236}">
                <a16:creationId xmlns:a16="http://schemas.microsoft.com/office/drawing/2014/main" id="{A0290FB5-65AC-49BC-82EE-08EA78158EE8}"/>
              </a:ext>
            </a:extLst>
          </p:cNvPr>
          <p:cNvSpPr>
            <a:spLocks xmlns:a="http://schemas.openxmlformats.org/drawingml/2006/main" noGrp="1"/>
          </p:cNvSpPr>
          <p:nvPr/>
        </p:nvSpPr>
        <p:spPr>
          <a:xfrm xmlns:a="http://schemas.openxmlformats.org/drawingml/2006/main">
            <a:off x="762000" y="34099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50분 수업입니다.</a:t>
            </a:r>
          </a:p>
        </p:txBody>
      </p:sp>
      <p:sp>
        <p:nvSpPr>
          <p:cNvPr id="4" name="">
            <a:extLst xmlns:a="http://schemas.openxmlformats.org/drawingml/2006/main">
              <a:ext uri="{FF2B5EF4-FFF2-40B4-BE49-F238E27FC236}">
                <a16:creationId xmlns:a16="http://schemas.microsoft.com/office/drawing/2014/main" id="{21530FE0-BB32-4A31-9F81-F3DB6CCCAE43}"/>
              </a:ext>
            </a:extLst>
          </p:cNvPr>
          <p:cNvSpPr>
            <a:spLocks xmlns:a="http://schemas.openxmlformats.org/drawingml/2006/main" noGrp="1"/>
          </p:cNvSpPr>
          <p:nvPr/>
        </p:nvSpPr>
        <p:spPr>
          <a:xfrm xmlns:a="http://schemas.openxmlformats.org/drawingml/2006/main">
            <a:off x="762000" y="40195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먼저 개념을 보고 함께 따라 합니다.</a:t>
            </a:r>
          </a:p>
        </p:txBody>
      </p:sp>
      <p:sp>
        <p:nvSpPr>
          <p:cNvPr id="5" name="">
            <a:extLst xmlns:a="http://schemas.openxmlformats.org/drawingml/2006/main">
              <a:ext uri="{FF2B5EF4-FFF2-40B4-BE49-F238E27FC236}">
                <a16:creationId xmlns:a16="http://schemas.microsoft.com/office/drawing/2014/main" id="{ABE89179-C281-494C-93A8-71BDE537DA67}"/>
              </a:ext>
            </a:extLst>
          </p:cNvPr>
          <p:cNvSpPr>
            <a:spLocks xmlns:a="http://schemas.openxmlformats.org/drawingml/2006/main" noGrp="1"/>
          </p:cNvSpPr>
          <p:nvPr/>
        </p:nvSpPr>
        <p:spPr>
          <a:xfrm xmlns:a="http://schemas.openxmlformats.org/drawingml/2006/main">
            <a:off x="762000" y="46291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예상과 실제를 비교하고 설명합니다.</a:t>
            </a:r>
          </a:p>
        </p:txBody>
      </p:sp>
      <p:sp>
        <p:nvSpPr>
          <p:cNvPr id="6" name="">
            <a:extLst xmlns:a="http://schemas.openxmlformats.org/drawingml/2006/main">
              <a:ext uri="{FF2B5EF4-FFF2-40B4-BE49-F238E27FC236}">
                <a16:creationId xmlns:a16="http://schemas.microsoft.com/office/drawing/2014/main" id="{788D1033-FB0D-4465-9FA8-1F82D0383FA2}"/>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A6D1C6"/>
                </a:solidFill>
                <a:latin typeface="Malgun Gothic"/>
                <a:ea typeface="Malgun Gothic"/>
                <a:cs typeface="Malgun Gothic"/>
              </a:defRPr>
            </a:pPr>
            <a:r>
              <a:rPr sz="1500" b="0">
                <a:solidFill>
                  <a:srgbClr val="A6D1C6"/>
                </a:solidFill>
                <a:latin typeface="Malgun Gothic"/>
                <a:ea typeface="Malgun Gothic"/>
                <a:cs typeface="Malgun Gothic"/>
              </a:rPr>
              <a:t>54</a:t>
            </a:r>
          </a:p>
        </p:txBody>
      </p:sp>
    </p:spTree>
    <p:extLst>
      <p:ext uri="{BB962C8B-B14F-4D97-AF65-F5344CB8AC3E}">
        <p14:creationId xmlns:p14="http://schemas.microsoft.com/office/powerpoint/2010/main" val="682217619"/>
      </p:ext>
    </p:extLst>
  </p:cSld>
</p:sld>
</file>

<file path=ppt/slides/slide5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88116A-A9F5-4B59-98D3-82D765F1B5E3}"/>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624D4A49-31BA-4DF2-8101-1F7C002E4F3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JSX와 실행 파일</a:t>
            </a:r>
          </a:p>
        </p:txBody>
      </p:sp>
      <p:sp>
        <p:nvSpPr>
          <p:cNvPr id="3" name="">
            <a:extLst xmlns:a="http://schemas.openxmlformats.org/drawingml/2006/main">
              <a:ext uri="{FF2B5EF4-FFF2-40B4-BE49-F238E27FC236}">
                <a16:creationId xmlns:a16="http://schemas.microsoft.com/office/drawing/2014/main" id="{13DB6639-A9AA-4FF3-AE4B-4CB9C472057C}"/>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JSX 작성에는 변환 단계가 필요합니다.</a:t>
            </a:r>
          </a:p>
        </p:txBody>
      </p:sp>
      <p:sp>
        <p:nvSpPr>
          <p:cNvPr id="4" name="">
            <a:extLst xmlns:a="http://schemas.openxmlformats.org/drawingml/2006/main">
              <a:ext uri="{FF2B5EF4-FFF2-40B4-BE49-F238E27FC236}">
                <a16:creationId xmlns:a16="http://schemas.microsoft.com/office/drawing/2014/main" id="{43BD76E2-E4E4-4719-9E0A-85C1F37C1875}"/>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제공 번들은 브라우저가 실행합니다.</a:t>
            </a:r>
          </a:p>
        </p:txBody>
      </p:sp>
      <p:sp>
        <p:nvSpPr>
          <p:cNvPr id="5" name="">
            <a:extLst xmlns:a="http://schemas.openxmlformats.org/drawingml/2006/main">
              <a:ext uri="{FF2B5EF4-FFF2-40B4-BE49-F238E27FC236}">
                <a16:creationId xmlns:a16="http://schemas.microsoft.com/office/drawing/2014/main" id="{BA210225-0157-4E4E-8F8D-28471FFC545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55</a:t>
            </a:r>
          </a:p>
        </p:txBody>
      </p:sp>
    </p:spTree>
    <p:extLst>
      <p:ext uri="{BB962C8B-B14F-4D97-AF65-F5344CB8AC3E}">
        <p14:creationId xmlns:p14="http://schemas.microsoft.com/office/powerpoint/2010/main" val="1724143278"/>
      </p:ext>
    </p:extLst>
  </p:cSld>
</p:sld>
</file>

<file path=ppt/slides/slide5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244A72-CDD7-46ED-BECC-8BE77A8CAFF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06978380-97C0-45B2-B31B-45CF8DD71FB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A10  React의 화면 부품</a:t>
            </a:r>
          </a:p>
        </p:txBody>
      </p:sp>
      <p:sp>
        <p:nvSpPr>
          <p:cNvPr id="3" name="">
            <a:extLst xmlns:a="http://schemas.openxmlformats.org/drawingml/2006/main">
              <a:ext uri="{FF2B5EF4-FFF2-40B4-BE49-F238E27FC236}">
                <a16:creationId xmlns:a16="http://schemas.microsoft.com/office/drawing/2014/main" id="{6570E637-23FD-40D1-AB67-6E830394E1B6}"/>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컴포넌트는 재사용하는 화면 함수입니다.</a:t>
            </a:r>
          </a:p>
        </p:txBody>
      </p:sp>
      <p:sp>
        <p:nvSpPr>
          <p:cNvPr id="4" name="">
            <a:extLst xmlns:a="http://schemas.openxmlformats.org/drawingml/2006/main">
              <a:ext uri="{FF2B5EF4-FFF2-40B4-BE49-F238E27FC236}">
                <a16:creationId xmlns:a16="http://schemas.microsoft.com/office/drawing/2014/main" id="{AB5AD967-B031-4544-923D-6FBCB7E146A0}"/>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props는 부품에 전달하는 입력입니다.</a:t>
            </a:r>
          </a:p>
        </p:txBody>
      </p:sp>
      <p:sp>
        <p:nvSpPr>
          <p:cNvPr id="5" name="">
            <a:extLst xmlns:a="http://schemas.openxmlformats.org/drawingml/2006/main">
              <a:ext uri="{FF2B5EF4-FFF2-40B4-BE49-F238E27FC236}">
                <a16:creationId xmlns:a16="http://schemas.microsoft.com/office/drawing/2014/main" id="{5E9B28E7-F3BD-4255-99F0-4B8E57C86DF3}"/>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56</a:t>
            </a:r>
          </a:p>
        </p:txBody>
      </p:sp>
    </p:spTree>
    <p:extLst>
      <p:ext uri="{BB962C8B-B14F-4D97-AF65-F5344CB8AC3E}">
        <p14:creationId xmlns:p14="http://schemas.microsoft.com/office/powerpoint/2010/main" val="801153730"/>
      </p:ext>
    </p:extLst>
  </p:cSld>
</p:sld>
</file>

<file path=ppt/slides/slide5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2EC618-B21B-40C9-8230-8755D3CC8F3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109E173A-7484-480A-8FC9-A8ADACE97FCC}"/>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React의 화면 부품의 예</a:t>
            </a:r>
          </a:p>
        </p:txBody>
      </p:sp>
      <p:sp>
        <p:nvSpPr>
          <p:cNvPr id="3" name="">
            <a:extLst xmlns:a="http://schemas.openxmlformats.org/drawingml/2006/main">
              <a:ext uri="{FF2B5EF4-FFF2-40B4-BE49-F238E27FC236}">
                <a16:creationId xmlns:a16="http://schemas.microsoft.com/office/drawing/2014/main" id="{10570AB0-5558-457F-BCE2-7D15FEDFF3AC}"/>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&lt;SensorCard location={window.SENSOR.location} /&gt;</a:t>
            </a:r>
          </a:p>
        </p:txBody>
      </p:sp>
      <p:sp>
        <p:nvSpPr>
          <p:cNvPr id="4" name="">
            <a:extLst xmlns:a="http://schemas.openxmlformats.org/drawingml/2006/main">
              <a:ext uri="{FF2B5EF4-FFF2-40B4-BE49-F238E27FC236}">
                <a16:creationId xmlns:a16="http://schemas.microsoft.com/office/drawing/2014/main" id="{F8699E1B-20CE-4AA2-90C7-E8B88844323A}"/>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JSX 발췌. 브라우저는 제공 번들을 실행합니다.</a:t>
            </a:r>
          </a:p>
        </p:txBody>
      </p:sp>
      <p:sp>
        <p:nvSpPr>
          <p:cNvPr id="5" name="">
            <a:extLst xmlns:a="http://schemas.openxmlformats.org/drawingml/2006/main">
              <a:ext uri="{FF2B5EF4-FFF2-40B4-BE49-F238E27FC236}">
                <a16:creationId xmlns:a16="http://schemas.microsoft.com/office/drawing/2014/main" id="{A50FDC37-F2BB-4DE4-9BEC-9910E14BA32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57</a:t>
            </a:r>
          </a:p>
        </p:txBody>
      </p:sp>
    </p:spTree>
    <p:extLst>
      <p:ext uri="{BB962C8B-B14F-4D97-AF65-F5344CB8AC3E}">
        <p14:creationId xmlns:p14="http://schemas.microsoft.com/office/powerpoint/2010/main" val="603793365"/>
      </p:ext>
    </p:extLst>
  </p:cSld>
</p:sld>
</file>

<file path=ppt/slides/slide5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87AA53-EAB4-42A9-BB63-5B1D23585EFC}"/>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5F6998E4-86E2-4542-BFB7-C95BCCB2893D}"/>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React의 화면 부품의 줄 읽기</a:t>
            </a:r>
          </a:p>
        </p:txBody>
      </p:sp>
      <p:sp>
        <p:nvSpPr>
          <p:cNvPr id="3" name="">
            <a:extLst xmlns:a="http://schemas.openxmlformats.org/drawingml/2006/main">
              <a:ext uri="{FF2B5EF4-FFF2-40B4-BE49-F238E27FC236}">
                <a16:creationId xmlns:a16="http://schemas.microsoft.com/office/drawing/2014/main" id="{4C7C511A-C33A-42B2-BAD2-327D08802E6D}"/>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067F5471-1C94-4171-B5BB-20E9F553E8CC}"/>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BB8FC1E6-641C-402B-B560-7833D7974391}"/>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AF3AB404-968F-451E-B0E7-3B3A19D87D7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58</a:t>
            </a:r>
          </a:p>
        </p:txBody>
      </p:sp>
    </p:spTree>
    <p:extLst>
      <p:ext uri="{BB962C8B-B14F-4D97-AF65-F5344CB8AC3E}">
        <p14:creationId xmlns:p14="http://schemas.microsoft.com/office/powerpoint/2010/main" val="328160063"/>
      </p:ext>
    </p:extLst>
  </p:cSld>
</p:sld>
</file>

<file path=ppt/slides/slide5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57D16F-1FBE-4850-84C4-52820259E387}"/>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CE3B30C8-F009-48A9-94F1-67A0F5D6539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소스와 실행 파일</a:t>
            </a:r>
          </a:p>
        </p:txBody>
      </p:sp>
      <p:sp>
        <p:nvSpPr>
          <p:cNvPr id="3" name="">
            <a:extLst xmlns:a="http://schemas.openxmlformats.org/drawingml/2006/main">
              <a:ext uri="{FF2B5EF4-FFF2-40B4-BE49-F238E27FC236}">
                <a16:creationId xmlns:a16="http://schemas.microsoft.com/office/drawing/2014/main" id="{68A71DF8-C6F2-430F-8D20-56AF3D5807B3}"/>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App.jsx는 작성 소스입니다.</a:t>
            </a:r>
          </a:p>
        </p:txBody>
      </p:sp>
      <p:sp>
        <p:nvSpPr>
          <p:cNvPr id="4" name="">
            <a:extLst xmlns:a="http://schemas.openxmlformats.org/drawingml/2006/main">
              <a:ext uri="{FF2B5EF4-FFF2-40B4-BE49-F238E27FC236}">
                <a16:creationId xmlns:a16="http://schemas.microsoft.com/office/drawing/2014/main" id="{D2F21686-8C18-45DA-9532-C222D9070EF9}"/>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app.bundle.js는 변환한 실행 파일입니다.</a:t>
            </a:r>
          </a:p>
        </p:txBody>
      </p:sp>
      <p:sp>
        <p:nvSpPr>
          <p:cNvPr id="5" name="">
            <a:extLst xmlns:a="http://schemas.openxmlformats.org/drawingml/2006/main">
              <a:ext uri="{FF2B5EF4-FFF2-40B4-BE49-F238E27FC236}">
                <a16:creationId xmlns:a16="http://schemas.microsoft.com/office/drawing/2014/main" id="{C0165A38-1692-45A5-A467-EDBBCFA84DE5}"/>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JSX를 일반 브라우저가 그대로 실행하지 못합니다.</a:t>
            </a:r>
          </a:p>
        </p:txBody>
      </p:sp>
      <p:sp>
        <p:nvSpPr>
          <p:cNvPr id="6" name="">
            <a:extLst xmlns:a="http://schemas.openxmlformats.org/drawingml/2006/main">
              <a:ext uri="{FF2B5EF4-FFF2-40B4-BE49-F238E27FC236}">
                <a16:creationId xmlns:a16="http://schemas.microsoft.com/office/drawing/2014/main" id="{0E7EBDAA-7C26-4A0E-BE2F-5496E9EAFC6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59</a:t>
            </a:r>
          </a:p>
        </p:txBody>
      </p:sp>
    </p:spTree>
    <p:extLst>
      <p:ext uri="{BB962C8B-B14F-4D97-AF65-F5344CB8AC3E}">
        <p14:creationId xmlns:p14="http://schemas.microsoft.com/office/powerpoint/2010/main" val="132633711"/>
      </p:ext>
    </p:extLst>
  </p:cSld>
</p:sld>
</file>

<file path=ppt/slides/slide6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A4E954-A6CF-415C-BA37-C50F2F786726}"/>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2FAA1E49-B517-4C5B-A420-8FFFC81D55BF}"/>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JSX 수정의 반영</a:t>
            </a:r>
          </a:p>
        </p:txBody>
      </p:sp>
      <p:sp>
        <p:nvSpPr>
          <p:cNvPr id="3" name="">
            <a:extLst xmlns:a="http://schemas.openxmlformats.org/drawingml/2006/main">
              <a:ext uri="{FF2B5EF4-FFF2-40B4-BE49-F238E27FC236}">
                <a16:creationId xmlns:a16="http://schemas.microsoft.com/office/drawing/2014/main" id="{4475FB69-E5C8-4701-8E9D-CC356D53E679}"/>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App.jsx만 고치고 번들은 그대로입니다.</a:t>
            </a:r>
          </a:p>
        </p:txBody>
      </p:sp>
      <p:sp>
        <p:nvSpPr>
          <p:cNvPr id="4" name="">
            <a:extLst xmlns:a="http://schemas.openxmlformats.org/drawingml/2006/main">
              <a:ext uri="{FF2B5EF4-FFF2-40B4-BE49-F238E27FC236}">
                <a16:creationId xmlns:a16="http://schemas.microsoft.com/office/drawing/2014/main" id="{E811872A-FB8C-4DAB-B597-D5DDAE357E36}"/>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화면이 바뀌었다고 판단할 수 있나요?</a:t>
            </a:r>
          </a:p>
        </p:txBody>
      </p:sp>
      <p:sp>
        <p:nvSpPr>
          <p:cNvPr id="5" name="">
            <a:extLst xmlns:a="http://schemas.openxmlformats.org/drawingml/2006/main">
              <a:ext uri="{FF2B5EF4-FFF2-40B4-BE49-F238E27FC236}">
                <a16:creationId xmlns:a16="http://schemas.microsoft.com/office/drawing/2014/main" id="{C42852E7-155D-4EA4-9581-191CA8FB551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60</a:t>
            </a:r>
          </a:p>
        </p:txBody>
      </p:sp>
    </p:spTree>
    <p:extLst>
      <p:ext uri="{BB962C8B-B14F-4D97-AF65-F5344CB8AC3E}">
        <p14:creationId xmlns:p14="http://schemas.microsoft.com/office/powerpoint/2010/main" val="496838163"/>
      </p:ext>
    </p:extLst>
  </p:cSld>
</p:sld>
</file>

<file path=ppt/slides/slide6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462AC6-7346-4946-956B-28A3963F5C61}"/>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48044562-D6FD-40DA-BBC4-0E334044F5C7}"/>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A11  장소를 props로 전달</a:t>
            </a:r>
          </a:p>
        </p:txBody>
      </p:sp>
      <p:sp>
        <p:nvSpPr>
          <p:cNvPr id="3" name="">
            <a:extLst xmlns:a="http://schemas.openxmlformats.org/drawingml/2006/main">
              <a:ext uri="{FF2B5EF4-FFF2-40B4-BE49-F238E27FC236}">
                <a16:creationId xmlns:a16="http://schemas.microsoft.com/office/drawing/2014/main" id="{144D572A-BCE9-4D47-838F-E6D73D0BAB0E}"/>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SENSOR.location을 부품에 전달합니다.</a:t>
            </a:r>
          </a:p>
        </p:txBody>
      </p:sp>
      <p:sp>
        <p:nvSpPr>
          <p:cNvPr id="4" name="">
            <a:extLst xmlns:a="http://schemas.openxmlformats.org/drawingml/2006/main">
              <a:ext uri="{FF2B5EF4-FFF2-40B4-BE49-F238E27FC236}">
                <a16:creationId xmlns:a16="http://schemas.microsoft.com/office/drawing/2014/main" id="{835BA398-1FD1-4095-9B4B-DE81F66CA0CA}"/>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같은 부품을 다른 장소에도 사용합니다.</a:t>
            </a:r>
          </a:p>
        </p:txBody>
      </p:sp>
      <p:sp>
        <p:nvSpPr>
          <p:cNvPr id="5" name="">
            <a:extLst xmlns:a="http://schemas.openxmlformats.org/drawingml/2006/main">
              <a:ext uri="{FF2B5EF4-FFF2-40B4-BE49-F238E27FC236}">
                <a16:creationId xmlns:a16="http://schemas.microsoft.com/office/drawing/2014/main" id="{CC810FDA-29BA-45AB-AC79-E46D701A9DD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61</a:t>
            </a:r>
          </a:p>
        </p:txBody>
      </p:sp>
    </p:spTree>
    <p:extLst>
      <p:ext uri="{BB962C8B-B14F-4D97-AF65-F5344CB8AC3E}">
        <p14:creationId xmlns:p14="http://schemas.microsoft.com/office/powerpoint/2010/main" val="1678293500"/>
      </p:ext>
    </p:extLst>
  </p:cSld>
</p:sld>
</file>

<file path=ppt/slides/slide6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D63FFF-F903-4153-8D38-E8F3FE35D316}"/>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A368F738-DFF8-4AFB-93B8-448F8E309C3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장소를 props로 전달의 예</a:t>
            </a:r>
          </a:p>
        </p:txBody>
      </p:sp>
      <p:sp>
        <p:nvSpPr>
          <p:cNvPr id="3" name="">
            <a:extLst xmlns:a="http://schemas.openxmlformats.org/drawingml/2006/main">
              <a:ext uri="{FF2B5EF4-FFF2-40B4-BE49-F238E27FC236}">
                <a16:creationId xmlns:a16="http://schemas.microsoft.com/office/drawing/2014/main" id="{00B62242-919D-4F81-BF69-D7A576320851}"/>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window.SENSOR = {</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sensor_id: "S01",</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location: "창고",</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temperature_c: 22.5</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341684EF-1D3F-4800-A7FE-F725C4D1467E}"/>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work/react/data.js의 가상 데이터</a:t>
            </a:r>
          </a:p>
        </p:txBody>
      </p:sp>
      <p:sp>
        <p:nvSpPr>
          <p:cNvPr id="5" name="">
            <a:extLst xmlns:a="http://schemas.openxmlformats.org/drawingml/2006/main">
              <a:ext uri="{FF2B5EF4-FFF2-40B4-BE49-F238E27FC236}">
                <a16:creationId xmlns:a16="http://schemas.microsoft.com/office/drawing/2014/main" id="{A8DBCE1F-4D10-44A9-9BDF-DE007FC1D02F}"/>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62</a:t>
            </a:r>
          </a:p>
        </p:txBody>
      </p:sp>
    </p:spTree>
    <p:extLst>
      <p:ext uri="{BB962C8B-B14F-4D97-AF65-F5344CB8AC3E}">
        <p14:creationId xmlns:p14="http://schemas.microsoft.com/office/powerpoint/2010/main" val="95155960"/>
      </p:ext>
    </p:extLst>
  </p:cSld>
</p:sld>
</file>

<file path=ppt/slides/slide6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18EB98-9477-4CB5-A04E-3E1975CEF43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76F5CDB4-1A23-4F43-B6F3-3DC17ADFD42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장소를 props로 전달의 줄 읽기</a:t>
            </a:r>
          </a:p>
        </p:txBody>
      </p:sp>
      <p:sp>
        <p:nvSpPr>
          <p:cNvPr id="3" name="">
            <a:extLst xmlns:a="http://schemas.openxmlformats.org/drawingml/2006/main">
              <a:ext uri="{FF2B5EF4-FFF2-40B4-BE49-F238E27FC236}">
                <a16:creationId xmlns:a16="http://schemas.microsoft.com/office/drawing/2014/main" id="{A48CA4B7-018B-431F-9D72-497750083608}"/>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9ABF724B-F69A-4B71-95C1-F9579A4DFF8D}"/>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AFCCF7EF-4DBE-41D9-B7A1-5E0E5FE8DF24}"/>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6AD9F7C4-5C1B-4479-820F-62B5F98E60B6}"/>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63</a:t>
            </a:r>
          </a:p>
        </p:txBody>
      </p:sp>
    </p:spTree>
    <p:extLst>
      <p:ext uri="{BB962C8B-B14F-4D97-AF65-F5344CB8AC3E}">
        <p14:creationId xmlns:p14="http://schemas.microsoft.com/office/powerpoint/2010/main" val="1391085413"/>
      </p:ext>
    </p:extLst>
  </p:cSld>
</p:sld>
</file>

<file path=ppt/slides/slide6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B37ECC-42C4-4FB3-818B-9E25B88CEF9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9B52FC42-CB04-48CF-B9FF-574B8EA5812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장소 변경의 결과</a:t>
            </a:r>
          </a:p>
        </p:txBody>
      </p:sp>
      <p:sp>
        <p:nvSpPr>
          <p:cNvPr id="3" name="">
            <a:extLst xmlns:a="http://schemas.openxmlformats.org/drawingml/2006/main">
              <a:ext uri="{FF2B5EF4-FFF2-40B4-BE49-F238E27FC236}">
                <a16:creationId xmlns:a16="http://schemas.microsoft.com/office/drawing/2014/main" id="{465C3408-DECC-4535-B7C6-BC9AD8C69D7C}"/>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저장·새로고침 뒤 창고 센서로 보입니다.</a:t>
            </a:r>
          </a:p>
        </p:txBody>
      </p:sp>
      <p:sp>
        <p:nvSpPr>
          <p:cNvPr id="4" name="">
            <a:extLst xmlns:a="http://schemas.openxmlformats.org/drawingml/2006/main">
              <a:ext uri="{FF2B5EF4-FFF2-40B4-BE49-F238E27FC236}">
                <a16:creationId xmlns:a16="http://schemas.microsoft.com/office/drawing/2014/main" id="{E614C78E-0C4F-4971-92AE-0B8ABA7DD8D9}"/>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data.js는 HTML이 별도로 읽습니다.</a:t>
            </a:r>
          </a:p>
        </p:txBody>
      </p:sp>
      <p:sp>
        <p:nvSpPr>
          <p:cNvPr id="5" name="">
            <a:extLst xmlns:a="http://schemas.openxmlformats.org/drawingml/2006/main">
              <a:ext uri="{FF2B5EF4-FFF2-40B4-BE49-F238E27FC236}">
                <a16:creationId xmlns:a16="http://schemas.microsoft.com/office/drawing/2014/main" id="{DBB7EAFA-FAD7-451A-9908-18CD3BC34626}"/>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64</a:t>
            </a:r>
          </a:p>
        </p:txBody>
      </p:sp>
    </p:spTree>
    <p:extLst>
      <p:ext uri="{BB962C8B-B14F-4D97-AF65-F5344CB8AC3E}">
        <p14:creationId xmlns:p14="http://schemas.microsoft.com/office/powerpoint/2010/main" val="1550849301"/>
      </p:ext>
    </p:extLst>
  </p:cSld>
</p:sld>
</file>

<file path=ppt/slides/slide6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822F2D-6E9D-45A7-B731-38694ECF636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D0D6D65A-8E5C-4F0E-A428-3393BF30933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입력과 부품</a:t>
            </a:r>
          </a:p>
        </p:txBody>
      </p:sp>
      <p:sp>
        <p:nvSpPr>
          <p:cNvPr id="3" name="">
            <a:extLst xmlns:a="http://schemas.openxmlformats.org/drawingml/2006/main">
              <a:ext uri="{FF2B5EF4-FFF2-40B4-BE49-F238E27FC236}">
                <a16:creationId xmlns:a16="http://schemas.microsoft.com/office/drawing/2014/main" id="{D51EA71D-BD49-4E18-AFF8-A27CFB5F6F9C}"/>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같은 SensorCard를 실습실에 쓰려면?</a:t>
            </a:r>
          </a:p>
        </p:txBody>
      </p:sp>
      <p:sp>
        <p:nvSpPr>
          <p:cNvPr id="4" name="">
            <a:extLst xmlns:a="http://schemas.openxmlformats.org/drawingml/2006/main">
              <a:ext uri="{FF2B5EF4-FFF2-40B4-BE49-F238E27FC236}">
                <a16:creationId xmlns:a16="http://schemas.microsoft.com/office/drawing/2014/main" id="{D6F3C5E3-9E06-4961-B4C6-560A0BC2C7E6}"/>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어떤 제공 입력을 바꿀까요?</a:t>
            </a:r>
          </a:p>
        </p:txBody>
      </p:sp>
      <p:sp>
        <p:nvSpPr>
          <p:cNvPr id="5" name="">
            <a:extLst xmlns:a="http://schemas.openxmlformats.org/drawingml/2006/main">
              <a:ext uri="{FF2B5EF4-FFF2-40B4-BE49-F238E27FC236}">
                <a16:creationId xmlns:a16="http://schemas.microsoft.com/office/drawing/2014/main" id="{0993E29F-73D9-4147-BE6B-63DF7C9DB8B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65</a:t>
            </a:r>
          </a:p>
        </p:txBody>
      </p:sp>
    </p:spTree>
    <p:extLst>
      <p:ext uri="{BB962C8B-B14F-4D97-AF65-F5344CB8AC3E}">
        <p14:creationId xmlns:p14="http://schemas.microsoft.com/office/powerpoint/2010/main" val="1433594551"/>
      </p:ext>
    </p:extLst>
  </p:cSld>
</p:sld>
</file>

<file path=ppt/slides/slide6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EF54CA-3489-4EF4-827E-0501052B511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1D9DD207-CC3B-4219-8DE2-01E2FBF3D29D}"/>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A12  현재 값 기억하기</a:t>
            </a:r>
          </a:p>
        </p:txBody>
      </p:sp>
      <p:sp>
        <p:nvSpPr>
          <p:cNvPr id="3" name="">
            <a:extLst xmlns:a="http://schemas.openxmlformats.org/drawingml/2006/main">
              <a:ext uri="{FF2B5EF4-FFF2-40B4-BE49-F238E27FC236}">
                <a16:creationId xmlns:a16="http://schemas.microsoft.com/office/drawing/2014/main" id="{4E4D4D2D-0C96-46BC-9B98-8DACE55A29AA}"/>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state는 화면 부품이 기억하는 현재 값입니다.</a:t>
            </a:r>
          </a:p>
        </p:txBody>
      </p:sp>
      <p:sp>
        <p:nvSpPr>
          <p:cNvPr id="4" name="">
            <a:extLst xmlns:a="http://schemas.openxmlformats.org/drawingml/2006/main">
              <a:ext uri="{FF2B5EF4-FFF2-40B4-BE49-F238E27FC236}">
                <a16:creationId xmlns:a16="http://schemas.microsoft.com/office/drawing/2014/main" id="{9B068F4C-1AE0-41A5-9344-82F97AB7FDE5}"/>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클릭으로 바꿔도 파일을 저장하지 않습니다.</a:t>
            </a:r>
          </a:p>
        </p:txBody>
      </p:sp>
      <p:sp>
        <p:nvSpPr>
          <p:cNvPr id="5" name="">
            <a:extLst xmlns:a="http://schemas.openxmlformats.org/drawingml/2006/main">
              <a:ext uri="{FF2B5EF4-FFF2-40B4-BE49-F238E27FC236}">
                <a16:creationId xmlns:a16="http://schemas.microsoft.com/office/drawing/2014/main" id="{751EA49C-0907-427D-916D-18E65A02F202}"/>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66</a:t>
            </a:r>
          </a:p>
        </p:txBody>
      </p:sp>
    </p:spTree>
    <p:extLst>
      <p:ext uri="{BB962C8B-B14F-4D97-AF65-F5344CB8AC3E}">
        <p14:creationId xmlns:p14="http://schemas.microsoft.com/office/powerpoint/2010/main" val="1512577957"/>
      </p:ext>
    </p:extLst>
  </p:cSld>
</p:sld>
</file>

<file path=ppt/slides/slide6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D6038B-51E3-4AF9-81C7-3EAD3C7C5385}"/>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9F60DB25-F03C-49E2-9165-27251765324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현재 값 기억하기의 예</a:t>
            </a:r>
          </a:p>
        </p:txBody>
      </p:sp>
      <p:sp>
        <p:nvSpPr>
          <p:cNvPr id="3" name="">
            <a:extLst xmlns:a="http://schemas.openxmlformats.org/drawingml/2006/main">
              <a:ext uri="{FF2B5EF4-FFF2-40B4-BE49-F238E27FC236}">
                <a16:creationId xmlns:a16="http://schemas.microsoft.com/office/drawing/2014/main" id="{A8626F37-7860-4EE5-AA1B-BB15D4FC564A}"/>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const [temperature, setTemperature] =</a:t>
            </a:r>
          </a:p>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  useState(window.SENSOR.temperature_c);</a:t>
            </a:r>
          </a:p>
        </p:txBody>
      </p:sp>
      <p:sp>
        <p:nvSpPr>
          <p:cNvPr id="4" name="">
            <a:extLst xmlns:a="http://schemas.openxmlformats.org/drawingml/2006/main">
              <a:ext uri="{FF2B5EF4-FFF2-40B4-BE49-F238E27FC236}">
                <a16:creationId xmlns:a16="http://schemas.microsoft.com/office/drawing/2014/main" id="{8E1B814C-1EED-42DC-B7DD-FB5E6961CF73}"/>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발췌: SensorCard 안의 상태 시작 부분</a:t>
            </a:r>
          </a:p>
        </p:txBody>
      </p:sp>
      <p:sp>
        <p:nvSpPr>
          <p:cNvPr id="5" name="">
            <a:extLst xmlns:a="http://schemas.openxmlformats.org/drawingml/2006/main">
              <a:ext uri="{FF2B5EF4-FFF2-40B4-BE49-F238E27FC236}">
                <a16:creationId xmlns:a16="http://schemas.microsoft.com/office/drawing/2014/main" id="{CC96902D-2EC9-4693-B634-8A4628B1492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67</a:t>
            </a:r>
          </a:p>
        </p:txBody>
      </p:sp>
    </p:spTree>
    <p:extLst>
      <p:ext uri="{BB962C8B-B14F-4D97-AF65-F5344CB8AC3E}">
        <p14:creationId xmlns:p14="http://schemas.microsoft.com/office/powerpoint/2010/main" val="701554764"/>
      </p:ext>
    </p:extLst>
  </p:cSld>
</p:sld>
</file>

<file path=ppt/slides/slide6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2B103E-A13A-4660-AA60-66BA096F5E0D}"/>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A6B2493E-FCB6-4AD6-8792-660B03224F89}"/>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현재 값 기억하기의 줄 읽기</a:t>
            </a:r>
          </a:p>
        </p:txBody>
      </p:sp>
      <p:sp>
        <p:nvSpPr>
          <p:cNvPr id="3" name="">
            <a:extLst xmlns:a="http://schemas.openxmlformats.org/drawingml/2006/main">
              <a:ext uri="{FF2B5EF4-FFF2-40B4-BE49-F238E27FC236}">
                <a16:creationId xmlns:a16="http://schemas.microsoft.com/office/drawing/2014/main" id="{CC80FDD7-A9BD-4A28-BF06-CF5AD3268045}"/>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C7115F9E-49F3-4C3A-90EB-183D53BE9583}"/>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417EBD3C-2EA1-475C-83FF-E39E93B503CC}"/>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0A9656CD-D113-41FF-9A52-43832098224F}"/>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68</a:t>
            </a:r>
          </a:p>
        </p:txBody>
      </p:sp>
    </p:spTree>
    <p:extLst>
      <p:ext uri="{BB962C8B-B14F-4D97-AF65-F5344CB8AC3E}">
        <p14:creationId xmlns:p14="http://schemas.microsoft.com/office/powerpoint/2010/main" val="1766526772"/>
      </p:ext>
    </p:extLst>
  </p:cSld>
</p:sld>
</file>

<file path=ppt/slides/slide6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BC9B18-CD3F-43FA-B90A-BEED98CF267B}"/>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288F39E7-DCA3-4D16-8B6D-34A20A6BD4F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두 번 클릭과 새로고침</a:t>
            </a:r>
          </a:p>
        </p:txBody>
      </p:sp>
      <p:sp>
        <p:nvSpPr>
          <p:cNvPr id="3" name="">
            <a:extLst xmlns:a="http://schemas.openxmlformats.org/drawingml/2006/main">
              <a:ext uri="{FF2B5EF4-FFF2-40B4-BE49-F238E27FC236}">
                <a16:creationId xmlns:a16="http://schemas.microsoft.com/office/drawing/2014/main" id="{DEB1B005-1C84-4CAD-B051-EC23240D6339}"/>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22.5에서 두 번 클릭하면 23.5입니다.</a:t>
            </a:r>
          </a:p>
        </p:txBody>
      </p:sp>
      <p:sp>
        <p:nvSpPr>
          <p:cNvPr id="4" name="">
            <a:extLst xmlns:a="http://schemas.openxmlformats.org/drawingml/2006/main">
              <a:ext uri="{FF2B5EF4-FFF2-40B4-BE49-F238E27FC236}">
                <a16:creationId xmlns:a16="http://schemas.microsoft.com/office/drawing/2014/main" id="{707D9916-57DD-474A-90E2-285825EBBCD0}"/>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새로고침하면 처음 값 22.5로 돌아옵니다.</a:t>
            </a:r>
          </a:p>
        </p:txBody>
      </p:sp>
      <p:sp>
        <p:nvSpPr>
          <p:cNvPr id="5" name="">
            <a:extLst xmlns:a="http://schemas.openxmlformats.org/drawingml/2006/main">
              <a:ext uri="{FF2B5EF4-FFF2-40B4-BE49-F238E27FC236}">
                <a16:creationId xmlns:a16="http://schemas.microsoft.com/office/drawing/2014/main" id="{5BEC9A41-458B-449E-A86B-9699E4FB59C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69</a:t>
            </a:r>
          </a:p>
        </p:txBody>
      </p:sp>
    </p:spTree>
    <p:extLst>
      <p:ext uri="{BB962C8B-B14F-4D97-AF65-F5344CB8AC3E}">
        <p14:creationId xmlns:p14="http://schemas.microsoft.com/office/powerpoint/2010/main" val="995884791"/>
      </p:ext>
    </p:extLst>
  </p:cSld>
</p:sld>
</file>

<file path=ppt/slides/slide7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B90E0E-A3DB-4874-A0B7-0C4E4D04F87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BEE6F43E-02F0-42AB-8298-F7A029B27F7C}"/>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새 입력 추적</a:t>
            </a:r>
          </a:p>
        </p:txBody>
      </p:sp>
      <p:sp>
        <p:nvSpPr>
          <p:cNvPr id="3" name="">
            <a:extLst xmlns:a="http://schemas.openxmlformats.org/drawingml/2006/main">
              <a:ext uri="{FF2B5EF4-FFF2-40B4-BE49-F238E27FC236}">
                <a16:creationId xmlns:a16="http://schemas.microsoft.com/office/drawing/2014/main" id="{E0E0E063-9B76-4139-A463-85341DB8E965}"/>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처음 24에서 0.5 버튼을 세 번 누르면?</a:t>
            </a:r>
          </a:p>
        </p:txBody>
      </p:sp>
      <p:sp>
        <p:nvSpPr>
          <p:cNvPr id="4" name="">
            <a:extLst xmlns:a="http://schemas.openxmlformats.org/drawingml/2006/main">
              <a:ext uri="{FF2B5EF4-FFF2-40B4-BE49-F238E27FC236}">
                <a16:creationId xmlns:a16="http://schemas.microsoft.com/office/drawing/2014/main" id="{46287707-DFC3-497D-A8E1-CD0AA3F165CF}"/>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새로고침 뒤에는 얼마인가요?</a:t>
            </a:r>
          </a:p>
        </p:txBody>
      </p:sp>
      <p:sp>
        <p:nvSpPr>
          <p:cNvPr id="5" name="">
            <a:extLst xmlns:a="http://schemas.openxmlformats.org/drawingml/2006/main">
              <a:ext uri="{FF2B5EF4-FFF2-40B4-BE49-F238E27FC236}">
                <a16:creationId xmlns:a16="http://schemas.microsoft.com/office/drawing/2014/main" id="{7B155077-3F55-4C35-B0D7-076D17CBA9EE}"/>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70</a:t>
            </a:r>
          </a:p>
        </p:txBody>
      </p:sp>
    </p:spTree>
    <p:extLst>
      <p:ext uri="{BB962C8B-B14F-4D97-AF65-F5344CB8AC3E}">
        <p14:creationId xmlns:p14="http://schemas.microsoft.com/office/powerpoint/2010/main" val="751831805"/>
      </p:ext>
    </p:extLst>
  </p:cSld>
</p:sld>
</file>

<file path=ppt/slides/slide71.xml><?xml version="1.0" encoding="utf-8"?>
<p:sld xmlns:p="http://schemas.openxmlformats.org/presentationml/2006/main">
  <p:cSld>
    <p:bg>
      <p:bgPr>
        <a:solidFill xmlns:a="http://schemas.openxmlformats.org/drawingml/2006/main">
          <a:srgbClr val="183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0F6FCA-800C-4626-BDDF-AB7D68D0F0B0}"/>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A6D1C6"/>
                </a:solidFill>
                <a:latin typeface="Malgun Gothic"/>
                <a:ea typeface="Malgun Gothic"/>
                <a:cs typeface="Malgun Gothic"/>
              </a:defRPr>
            </a:pPr>
            <a:r>
              <a:rPr sz="1725" b="0">
                <a:solidFill>
                  <a:srgbClr val="A6D1C6"/>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CB16384D-5EAC-412B-B26C-18D5C89459BE}"/>
              </a:ext>
            </a:extLst>
          </p:cNvPr>
          <p:cNvSpPr>
            <a:spLocks xmlns:a="http://schemas.openxmlformats.org/drawingml/2006/main" noGrp="1"/>
          </p:cNvSpPr>
          <p:nvPr/>
        </p:nvSpPr>
        <p:spPr>
          <a:xfrm xmlns:a="http://schemas.openxmlformats.org/drawingml/2006/main">
            <a:off x="723900" y="17335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F8F7F2"/>
                </a:solidFill>
                <a:latin typeface="Malgun Gothic"/>
                <a:ea typeface="Malgun Gothic"/>
                <a:cs typeface="Malgun Gothic"/>
              </a:defRPr>
            </a:pPr>
            <a:r>
              <a:rPr sz="4500" b="1">
                <a:solidFill>
                  <a:srgbClr val="F8F7F2"/>
                </a:solidFill>
                <a:latin typeface="Malgun Gothic"/>
                <a:ea typeface="Malgun Gothic"/>
                <a:cs typeface="Malgun Gothic"/>
              </a:rPr>
              <a:t>5교시  MCP 요청과 응답</a:t>
            </a:r>
          </a:p>
        </p:txBody>
      </p:sp>
      <p:sp>
        <p:nvSpPr>
          <p:cNvPr id="3" name="">
            <a:extLst xmlns:a="http://schemas.openxmlformats.org/drawingml/2006/main">
              <a:ext uri="{FF2B5EF4-FFF2-40B4-BE49-F238E27FC236}">
                <a16:creationId xmlns:a16="http://schemas.microsoft.com/office/drawing/2014/main" id="{AC656010-4C22-4713-AE21-86834E8D5EE8}"/>
              </a:ext>
            </a:extLst>
          </p:cNvPr>
          <p:cNvSpPr>
            <a:spLocks xmlns:a="http://schemas.openxmlformats.org/drawingml/2006/main" noGrp="1"/>
          </p:cNvSpPr>
          <p:nvPr/>
        </p:nvSpPr>
        <p:spPr>
          <a:xfrm xmlns:a="http://schemas.openxmlformats.org/drawingml/2006/main">
            <a:off x="762000" y="34099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50분 수업입니다.</a:t>
            </a:r>
          </a:p>
        </p:txBody>
      </p:sp>
      <p:sp>
        <p:nvSpPr>
          <p:cNvPr id="4" name="">
            <a:extLst xmlns:a="http://schemas.openxmlformats.org/drawingml/2006/main">
              <a:ext uri="{FF2B5EF4-FFF2-40B4-BE49-F238E27FC236}">
                <a16:creationId xmlns:a16="http://schemas.microsoft.com/office/drawing/2014/main" id="{2BE00533-6B1B-40A8-A0A2-D62F368048CF}"/>
              </a:ext>
            </a:extLst>
          </p:cNvPr>
          <p:cNvSpPr>
            <a:spLocks xmlns:a="http://schemas.openxmlformats.org/drawingml/2006/main" noGrp="1"/>
          </p:cNvSpPr>
          <p:nvPr/>
        </p:nvSpPr>
        <p:spPr>
          <a:xfrm xmlns:a="http://schemas.openxmlformats.org/drawingml/2006/main">
            <a:off x="762000" y="40195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먼저 개념을 보고 함께 따라 합니다.</a:t>
            </a:r>
          </a:p>
        </p:txBody>
      </p:sp>
      <p:sp>
        <p:nvSpPr>
          <p:cNvPr id="5" name="">
            <a:extLst xmlns:a="http://schemas.openxmlformats.org/drawingml/2006/main">
              <a:ext uri="{FF2B5EF4-FFF2-40B4-BE49-F238E27FC236}">
                <a16:creationId xmlns:a16="http://schemas.microsoft.com/office/drawing/2014/main" id="{D6E0919F-95E3-4117-8E59-3162CC75B4F5}"/>
              </a:ext>
            </a:extLst>
          </p:cNvPr>
          <p:cNvSpPr>
            <a:spLocks xmlns:a="http://schemas.openxmlformats.org/drawingml/2006/main" noGrp="1"/>
          </p:cNvSpPr>
          <p:nvPr/>
        </p:nvSpPr>
        <p:spPr>
          <a:xfrm xmlns:a="http://schemas.openxmlformats.org/drawingml/2006/main">
            <a:off x="762000" y="46291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예상과 실제를 비교하고 설명합니다.</a:t>
            </a:r>
          </a:p>
        </p:txBody>
      </p:sp>
      <p:sp>
        <p:nvSpPr>
          <p:cNvPr id="6" name="">
            <a:extLst xmlns:a="http://schemas.openxmlformats.org/drawingml/2006/main">
              <a:ext uri="{FF2B5EF4-FFF2-40B4-BE49-F238E27FC236}">
                <a16:creationId xmlns:a16="http://schemas.microsoft.com/office/drawing/2014/main" id="{8FA9A32F-9771-4166-81DA-02442405B9E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A6D1C6"/>
                </a:solidFill>
                <a:latin typeface="Malgun Gothic"/>
                <a:ea typeface="Malgun Gothic"/>
                <a:cs typeface="Malgun Gothic"/>
              </a:defRPr>
            </a:pPr>
            <a:r>
              <a:rPr sz="1500" b="0">
                <a:solidFill>
                  <a:srgbClr val="A6D1C6"/>
                </a:solidFill>
                <a:latin typeface="Malgun Gothic"/>
                <a:ea typeface="Malgun Gothic"/>
                <a:cs typeface="Malgun Gothic"/>
              </a:rPr>
              <a:t>71</a:t>
            </a:r>
          </a:p>
        </p:txBody>
      </p:sp>
    </p:spTree>
    <p:extLst>
      <p:ext uri="{BB962C8B-B14F-4D97-AF65-F5344CB8AC3E}">
        <p14:creationId xmlns:p14="http://schemas.microsoft.com/office/powerpoint/2010/main" val="868166728"/>
      </p:ext>
    </p:extLst>
  </p:cSld>
</p:sld>
</file>

<file path=ppt/slides/slide7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6D015D-13E7-44A9-B5DE-D0C4DC8D693A}"/>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D5374987-700E-4E30-BB38-1E24EBCA359A}"/>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연결 방식과 권한</a:t>
            </a:r>
          </a:p>
        </p:txBody>
      </p:sp>
      <p:sp>
        <p:nvSpPr>
          <p:cNvPr id="3" name="">
            <a:extLst xmlns:a="http://schemas.openxmlformats.org/drawingml/2006/main">
              <a:ext uri="{FF2B5EF4-FFF2-40B4-BE49-F238E27FC236}">
                <a16:creationId xmlns:a16="http://schemas.microsoft.com/office/drawing/2014/main" id="{AC35F7D2-7795-475B-A13F-45344D517AA9}"/>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직접 읽기와 MCP 경로를 비교합니다.</a:t>
            </a:r>
          </a:p>
        </p:txBody>
      </p:sp>
      <p:sp>
        <p:nvSpPr>
          <p:cNvPr id="4" name="">
            <a:extLst xmlns:a="http://schemas.openxmlformats.org/drawingml/2006/main">
              <a:ext uri="{FF2B5EF4-FFF2-40B4-BE49-F238E27FC236}">
                <a16:creationId xmlns:a16="http://schemas.microsoft.com/office/drawing/2014/main" id="{A2D05639-B67C-4DD3-9A78-E892878D63F7}"/>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연결 가능성과 쓰기 허용을 구별합니다.</a:t>
            </a:r>
          </a:p>
        </p:txBody>
      </p:sp>
      <p:sp>
        <p:nvSpPr>
          <p:cNvPr id="5" name="">
            <a:extLst xmlns:a="http://schemas.openxmlformats.org/drawingml/2006/main">
              <a:ext uri="{FF2B5EF4-FFF2-40B4-BE49-F238E27FC236}">
                <a16:creationId xmlns:a16="http://schemas.microsoft.com/office/drawing/2014/main" id="{E4029210-6D75-49A8-A904-DB0A862860CD}"/>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72</a:t>
            </a:r>
          </a:p>
        </p:txBody>
      </p:sp>
    </p:spTree>
    <p:extLst>
      <p:ext uri="{BB962C8B-B14F-4D97-AF65-F5344CB8AC3E}">
        <p14:creationId xmlns:p14="http://schemas.microsoft.com/office/powerpoint/2010/main" val="1417039509"/>
      </p:ext>
    </p:extLst>
  </p:cSld>
</p:sld>
</file>

<file path=ppt/slides/slide7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508C6A-0F0D-4901-B80F-93235CE0279B}"/>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53B0FBD8-3F02-484A-9F5D-27E4C4D8191B}"/>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A13  MCP의 세 역할</a:t>
            </a:r>
          </a:p>
        </p:txBody>
      </p:sp>
      <p:sp>
        <p:nvSpPr>
          <p:cNvPr id="3" name="">
            <a:extLst xmlns:a="http://schemas.openxmlformats.org/drawingml/2006/main">
              <a:ext uri="{FF2B5EF4-FFF2-40B4-BE49-F238E27FC236}">
                <a16:creationId xmlns:a16="http://schemas.microsoft.com/office/drawing/2014/main" id="{70F999B7-F1F3-4FA6-93BC-188887F03F0A}"/>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호스트는 AI 애플리케이션입니다.</a:t>
            </a:r>
          </a:p>
        </p:txBody>
      </p:sp>
      <p:sp>
        <p:nvSpPr>
          <p:cNvPr id="4" name="">
            <a:extLst xmlns:a="http://schemas.openxmlformats.org/drawingml/2006/main">
              <a:ext uri="{FF2B5EF4-FFF2-40B4-BE49-F238E27FC236}">
                <a16:creationId xmlns:a16="http://schemas.microsoft.com/office/drawing/2014/main" id="{8F259270-41FD-40D8-A0A8-3BD134D18B3E}"/>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클라이언트는 서버와 메시지를 주고받습니다.</a:t>
            </a:r>
          </a:p>
        </p:txBody>
      </p:sp>
      <p:sp>
        <p:nvSpPr>
          <p:cNvPr id="5" name="">
            <a:extLst xmlns:a="http://schemas.openxmlformats.org/drawingml/2006/main">
              <a:ext uri="{FF2B5EF4-FFF2-40B4-BE49-F238E27FC236}">
                <a16:creationId xmlns:a16="http://schemas.microsoft.com/office/drawing/2014/main" id="{1417A4C8-92B9-41AA-AA41-2DC98F632BCC}"/>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서버는 도구와 자료를 제공합니다.</a:t>
            </a:r>
          </a:p>
        </p:txBody>
      </p:sp>
      <p:sp>
        <p:nvSpPr>
          <p:cNvPr id="6" name="">
            <a:extLst xmlns:a="http://schemas.openxmlformats.org/drawingml/2006/main">
              <a:ext uri="{FF2B5EF4-FFF2-40B4-BE49-F238E27FC236}">
                <a16:creationId xmlns:a16="http://schemas.microsoft.com/office/drawing/2014/main" id="{2A7587E5-4D3A-459C-AF59-AA1D14075EF2}"/>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73</a:t>
            </a:r>
          </a:p>
        </p:txBody>
      </p:sp>
    </p:spTree>
    <p:extLst>
      <p:ext uri="{BB962C8B-B14F-4D97-AF65-F5344CB8AC3E}">
        <p14:creationId xmlns:p14="http://schemas.microsoft.com/office/powerpoint/2010/main" val="1855047441"/>
      </p:ext>
    </p:extLst>
  </p:cSld>
</p:sld>
</file>

<file path=ppt/slides/slide7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3569EA-B79C-4B53-AC20-52C49B86FBFF}"/>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73B6496E-CE52-4A60-B536-265869A78A65}"/>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MCP의 세 역할의 예</a:t>
            </a:r>
          </a:p>
        </p:txBody>
      </p:sp>
      <p:graphicFrame>
        <p:nvGraphicFramePr>
          <p:cNvPr id="8" name=""/>
          <p:cNvGraphicFramePr/>
          <p:nvPr/>
        </p:nvGraphicFramePr>
        <p:xfrm>
          <a:off xmlns:a="http://schemas.openxmlformats.org/drawingml/2006/main" x="762000" y="2333625"/>
          <a:ext xmlns:a="http://schemas.openxmlformats.org/drawingml/2006/main" cx="10668000" cy="2895600"/>
        </p:xfrm>
        <a:graphic xmlns:a="http://schemas.openxmlformats.org/drawingml/2006/main">
          <a:graphicData uri="http://schemas.openxmlformats.org/drawingml/2006/table">
            <a:tbl>
              <a:tblPr firstRow="1" bandRow="0"/>
              <a:tblGrid>
                <a:gridCol w="5334000"/>
                <a:gridCol w="5334000"/>
              </a:tblGrid>
              <a:tr h="723900">
                <a:tc>
                  <a:txBody>
                    <a:bodyPr wrap="square"/>
                    <a:lstStyle/>
                    <a:p>
                      <a:pPr>
                        <a:lnSpc>
                          <a:spcPct val="93000"/>
                        </a:lnSpc>
                        <a:buNone/>
                      </a:pPr>
                      <a:r>
                        <a:rPr sz="2100" b="1">
                          <a:solidFill>
                            <a:srgbClr val="FFFFFF"/>
                          </a:solidFill>
                          <a:latin typeface="Malgun Gothic"/>
                          <a:ea typeface="Malgun Gothic"/>
                          <a:cs typeface="Malgun Gothic"/>
                        </a:rPr>
                        <a:t>경로</a:t>
                      </a:r>
                    </a:p>
                  </a:txBody>
                  <a:tcPr marL="114300" marR="114300" marT="47625" marB="47625" anchor="ctr">
                    <a:solidFill>
                      <a:srgbClr val="137A72"/>
                    </a:solidFill>
                  </a:tcPr>
                </a:tc>
                <a:tc>
                  <a:txBody>
                    <a:bodyPr wrap="square"/>
                    <a:lstStyle/>
                    <a:p>
                      <a:pPr>
                        <a:lnSpc>
                          <a:spcPct val="93000"/>
                        </a:lnSpc>
                        <a:buNone/>
                      </a:pPr>
                      <a:r>
                        <a:rPr sz="2100" b="1">
                          <a:solidFill>
                            <a:srgbClr val="FFFFFF"/>
                          </a:solidFill>
                          <a:latin typeface="Malgun Gothic"/>
                          <a:ea typeface="Malgun Gothic"/>
                          <a:cs typeface="Malgun Gothic"/>
                        </a:rPr>
                        <a:t>자료를 읽는 곳</a:t>
                      </a:r>
                    </a:p>
                  </a:txBody>
                  <a:tcPr marL="114300" marR="114300" marT="47625" marB="47625" anchor="ctr">
                    <a:solidFill>
                      <a:srgbClr val="137A72"/>
                    </a:solidFill>
                  </a:tcPr>
                </a:tc>
              </a:tr>
              <a:tr h="723900">
                <a:tc>
                  <a:txBody>
                    <a:bodyPr wrap="square"/>
                    <a:lstStyle/>
                    <a:p>
                      <a:pPr>
                        <a:lnSpc>
                          <a:spcPct val="93000"/>
                        </a:lnSpc>
                        <a:buNone/>
                      </a:pPr>
                      <a:r>
                        <a:rPr sz="2100" b="0">
                          <a:solidFill>
                            <a:srgbClr val="183D38"/>
                          </a:solidFill>
                          <a:latin typeface="Malgun Gothic"/>
                          <a:ea typeface="Malgun Gothic"/>
                          <a:cs typeface="Malgun Gothic"/>
                        </a:rPr>
                        <a:t>고정 HTML</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문서</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data.js</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브라우저 파일</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MCP 도구</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서버 기록</a:t>
                      </a:r>
                    </a:p>
                  </a:txBody>
                  <a:tcPr marL="114300" marR="114300" marT="47625" marB="47625" anchor="ctr">
                    <a:solidFill>
                      <a:srgbClr val="F8F7F2"/>
                    </a:solidFill>
                  </a:tcPr>
                </a:tc>
              </a:tr>
            </a:tbl>
          </a:graphicData>
        </a:graphic>
      </p:graphicFrame>
      <p:sp>
        <p:nvSpPr>
          <p:cNvPr id="4" name="">
            <a:extLst xmlns:a="http://schemas.openxmlformats.org/drawingml/2006/main">
              <a:ext uri="{FF2B5EF4-FFF2-40B4-BE49-F238E27FC236}">
                <a16:creationId xmlns:a16="http://schemas.microsoft.com/office/drawing/2014/main" id="{7D6298C7-9DBC-4866-8E8E-3599EB5BD327}"/>
              </a:ext>
            </a:extLst>
          </p:cNvPr>
          <p:cNvSpPr>
            <a:spLocks xmlns:a="http://schemas.openxmlformats.org/drawingml/2006/main" noGrp="1"/>
          </p:cNvSpPr>
          <p:nvPr/>
        </p:nvSpPr>
        <p:spPr>
          <a:xfrm xmlns:a="http://schemas.openxmlformats.org/drawingml/2006/main">
            <a:off x="762000" y="60579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37A72"/>
                </a:solidFill>
                <a:latin typeface="Malgun Gothic"/>
                <a:ea typeface="Malgun Gothic"/>
                <a:cs typeface="Malgun Gothic"/>
              </a:defRPr>
            </a:pPr>
            <a:r>
              <a:rPr sz="1800" b="0">
                <a:solidFill>
                  <a:srgbClr val="137A72"/>
                </a:solidFill>
                <a:latin typeface="Malgun Gothic"/>
                <a:ea typeface="Malgun Gothic"/>
                <a:cs typeface="Malgun Gothic"/>
              </a:rPr>
              <a:t>오늘은 Python STDIO 예제입니다.</a:t>
            </a:r>
          </a:p>
        </p:txBody>
      </p:sp>
      <p:sp>
        <p:nvSpPr>
          <p:cNvPr id="5" name="">
            <a:extLst xmlns:a="http://schemas.openxmlformats.org/drawingml/2006/main">
              <a:ext uri="{FF2B5EF4-FFF2-40B4-BE49-F238E27FC236}">
                <a16:creationId xmlns:a16="http://schemas.microsoft.com/office/drawing/2014/main" id="{88167FA7-AE2B-4ED0-87E7-497C242369C7}"/>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74</a:t>
            </a:r>
          </a:p>
        </p:txBody>
      </p:sp>
    </p:spTree>
    <p:extLst>
      <p:ext uri="{BB962C8B-B14F-4D97-AF65-F5344CB8AC3E}">
        <p14:creationId xmlns:p14="http://schemas.microsoft.com/office/powerpoint/2010/main" val="1928955535"/>
      </p:ext>
    </p:extLst>
  </p:cSld>
</p:sld>
</file>

<file path=ppt/slides/slide7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792E86-547C-4ED5-948C-1DBCE393987D}"/>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16451CB9-636E-47C5-A473-9A8F8B373A8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연결과 권한</a:t>
            </a:r>
          </a:p>
        </p:txBody>
      </p:sp>
      <p:sp>
        <p:nvSpPr>
          <p:cNvPr id="3" name="">
            <a:extLst xmlns:a="http://schemas.openxmlformats.org/drawingml/2006/main">
              <a:ext uri="{FF2B5EF4-FFF2-40B4-BE49-F238E27FC236}">
                <a16:creationId xmlns:a16="http://schemas.microsoft.com/office/drawing/2014/main" id="{53497CE1-AD2D-454E-8DD0-89946DB0DCA1}"/>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읽기 연결에 삭제 권한을 붙이지 않습니다.</a:t>
            </a:r>
          </a:p>
        </p:txBody>
      </p:sp>
      <p:sp>
        <p:nvSpPr>
          <p:cNvPr id="4" name="">
            <a:extLst xmlns:a="http://schemas.openxmlformats.org/drawingml/2006/main">
              <a:ext uri="{FF2B5EF4-FFF2-40B4-BE49-F238E27FC236}">
                <a16:creationId xmlns:a16="http://schemas.microsoft.com/office/drawing/2014/main" id="{374B977A-998D-43B1-8DAB-7F4759E2691A}"/>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MCP가 React 화면을 자동으로 만들지 않습니다.</a:t>
            </a:r>
          </a:p>
        </p:txBody>
      </p:sp>
      <p:sp>
        <p:nvSpPr>
          <p:cNvPr id="5" name="">
            <a:extLst xmlns:a="http://schemas.openxmlformats.org/drawingml/2006/main">
              <a:ext uri="{FF2B5EF4-FFF2-40B4-BE49-F238E27FC236}">
                <a16:creationId xmlns:a16="http://schemas.microsoft.com/office/drawing/2014/main" id="{F06EB28A-437A-4C88-B638-B05F7887918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75</a:t>
            </a:r>
          </a:p>
        </p:txBody>
      </p:sp>
    </p:spTree>
    <p:extLst>
      <p:ext uri="{BB962C8B-B14F-4D97-AF65-F5344CB8AC3E}">
        <p14:creationId xmlns:p14="http://schemas.microsoft.com/office/powerpoint/2010/main" val="1110512060"/>
      </p:ext>
    </p:extLst>
  </p:cSld>
</p:sld>
</file>

<file path=ppt/slides/slide7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DA7327-9756-4FFA-99EF-C30B6FD85885}"/>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26CD2E6A-7178-4AD5-B051-07E35807E5BA}"/>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필요한 권한</a:t>
            </a:r>
          </a:p>
        </p:txBody>
      </p:sp>
      <p:sp>
        <p:nvSpPr>
          <p:cNvPr id="3" name="">
            <a:extLst xmlns:a="http://schemas.openxmlformats.org/drawingml/2006/main">
              <a:ext uri="{FF2B5EF4-FFF2-40B4-BE49-F238E27FC236}">
                <a16:creationId xmlns:a16="http://schemas.microsoft.com/office/drawing/2014/main" id="{056AAFF6-C397-4132-86DA-D810D768F0DD}"/>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온도 조회 도구가 계정 삭제 권한도 요구합니다.</a:t>
            </a:r>
          </a:p>
        </p:txBody>
      </p:sp>
      <p:sp>
        <p:nvSpPr>
          <p:cNvPr id="4" name="">
            <a:extLst xmlns:a="http://schemas.openxmlformats.org/drawingml/2006/main">
              <a:ext uri="{FF2B5EF4-FFF2-40B4-BE49-F238E27FC236}">
                <a16:creationId xmlns:a16="http://schemas.microsoft.com/office/drawing/2014/main" id="{540CD768-8CF9-4A0D-8477-83CEF8842231}"/>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이번 목적에 어떤 범위가 필요한가요?</a:t>
            </a:r>
          </a:p>
        </p:txBody>
      </p:sp>
      <p:sp>
        <p:nvSpPr>
          <p:cNvPr id="5" name="">
            <a:extLst xmlns:a="http://schemas.openxmlformats.org/drawingml/2006/main">
              <a:ext uri="{FF2B5EF4-FFF2-40B4-BE49-F238E27FC236}">
                <a16:creationId xmlns:a16="http://schemas.microsoft.com/office/drawing/2014/main" id="{1A2A7AE0-5905-4089-B0ED-764A9695D7F3}"/>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76</a:t>
            </a:r>
          </a:p>
        </p:txBody>
      </p:sp>
    </p:spTree>
    <p:extLst>
      <p:ext uri="{BB962C8B-B14F-4D97-AF65-F5344CB8AC3E}">
        <p14:creationId xmlns:p14="http://schemas.microsoft.com/office/powerpoint/2010/main" val="984938260"/>
      </p:ext>
    </p:extLst>
  </p:cSld>
</p:sld>
</file>

<file path=ppt/slides/slide7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E90997-F6BB-4BC3-935E-ECED447B67BD}"/>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35E5ECD1-1E35-424F-BE37-99DDC40F44C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A14  요청·알림·도구 목록</a:t>
            </a:r>
          </a:p>
        </p:txBody>
      </p:sp>
      <p:sp>
        <p:nvSpPr>
          <p:cNvPr id="3" name="">
            <a:extLst xmlns:a="http://schemas.openxmlformats.org/drawingml/2006/main">
              <a:ext uri="{FF2B5EF4-FFF2-40B4-BE49-F238E27FC236}">
                <a16:creationId xmlns:a16="http://schemas.microsoft.com/office/drawing/2014/main" id="{1F9E395F-16E2-4554-B544-8998763A7D31}"/>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추가·복습: 초기화 뒤 도구 목록을 읽습니다.</a:t>
            </a:r>
          </a:p>
        </p:txBody>
      </p:sp>
      <p:sp>
        <p:nvSpPr>
          <p:cNvPr id="4" name="">
            <a:extLst xmlns:a="http://schemas.openxmlformats.org/drawingml/2006/main">
              <a:ext uri="{FF2B5EF4-FFF2-40B4-BE49-F238E27FC236}">
                <a16:creationId xmlns:a16="http://schemas.microsoft.com/office/drawing/2014/main" id="{AFAE50F4-8991-4B20-8F27-299FF34AC962}"/>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요청 id로 대응 응답을 찾습니다.</a:t>
            </a:r>
          </a:p>
        </p:txBody>
      </p:sp>
      <p:sp>
        <p:nvSpPr>
          <p:cNvPr id="5" name="">
            <a:extLst xmlns:a="http://schemas.openxmlformats.org/drawingml/2006/main">
              <a:ext uri="{FF2B5EF4-FFF2-40B4-BE49-F238E27FC236}">
                <a16:creationId xmlns:a16="http://schemas.microsoft.com/office/drawing/2014/main" id="{83C8FEA0-CBF4-41FA-9601-88F6B7C3668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77</a:t>
            </a:r>
          </a:p>
        </p:txBody>
      </p:sp>
    </p:spTree>
    <p:extLst>
      <p:ext uri="{BB962C8B-B14F-4D97-AF65-F5344CB8AC3E}">
        <p14:creationId xmlns:p14="http://schemas.microsoft.com/office/powerpoint/2010/main" val="1468201821"/>
      </p:ext>
    </p:extLst>
  </p:cSld>
</p:sld>
</file>

<file path=ppt/slides/slide7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53E7E5-B820-4460-B8D4-BE34A37A7D55}"/>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C4B5095D-9E03-4E76-98AE-FDDBF9C5805E}"/>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요청·알림·도구 목록의 예</a:t>
            </a:r>
          </a:p>
        </p:txBody>
      </p:sp>
      <p:graphicFrame>
        <p:nvGraphicFramePr>
          <p:cNvPr id="8" name=""/>
          <p:cNvGraphicFramePr/>
          <p:nvPr/>
        </p:nvGraphicFramePr>
        <p:xfrm>
          <a:off xmlns:a="http://schemas.openxmlformats.org/drawingml/2006/main" x="762000" y="2333625"/>
          <a:ext xmlns:a="http://schemas.openxmlformats.org/drawingml/2006/main" cx="10668000" cy="2895600"/>
        </p:xfrm>
        <a:graphic xmlns:a="http://schemas.openxmlformats.org/drawingml/2006/main">
          <a:graphicData uri="http://schemas.openxmlformats.org/drawingml/2006/table">
            <a:tbl>
              <a:tblPr firstRow="1" bandRow="0"/>
              <a:tblGrid>
                <a:gridCol w="3556000"/>
                <a:gridCol w="3556000"/>
                <a:gridCol w="3556000"/>
              </a:tblGrid>
              <a:tr h="723900">
                <a:tc>
                  <a:txBody>
                    <a:bodyPr wrap="square"/>
                    <a:lstStyle/>
                    <a:p>
                      <a:pPr>
                        <a:lnSpc>
                          <a:spcPct val="93000"/>
                        </a:lnSpc>
                        <a:buNone/>
                      </a:pPr>
                      <a:r>
                        <a:rPr sz="2100" b="1">
                          <a:solidFill>
                            <a:srgbClr val="FFFFFF"/>
                          </a:solidFill>
                          <a:latin typeface="Malgun Gothic"/>
                          <a:ea typeface="Malgun Gothic"/>
                          <a:cs typeface="Malgun Gothic"/>
                        </a:rPr>
                        <a:t>메시지</a:t>
                      </a:r>
                    </a:p>
                  </a:txBody>
                  <a:tcPr marL="114300" marR="114300" marT="47625" marB="47625" anchor="ctr">
                    <a:solidFill>
                      <a:srgbClr val="137A72"/>
                    </a:solidFill>
                  </a:tcPr>
                </a:tc>
                <a:tc>
                  <a:txBody>
                    <a:bodyPr wrap="square"/>
                    <a:lstStyle/>
                    <a:p>
                      <a:pPr>
                        <a:lnSpc>
                          <a:spcPct val="93000"/>
                        </a:lnSpc>
                        <a:buNone/>
                      </a:pPr>
                      <a:r>
                        <a:rPr sz="2100" b="1">
                          <a:solidFill>
                            <a:srgbClr val="FFFFFF"/>
                          </a:solidFill>
                          <a:latin typeface="Malgun Gothic"/>
                          <a:ea typeface="Malgun Gothic"/>
                          <a:cs typeface="Malgun Gothic"/>
                        </a:rPr>
                        <a:t>id</a:t>
                      </a:r>
                    </a:p>
                  </a:txBody>
                  <a:tcPr marL="114300" marR="114300" marT="47625" marB="47625" anchor="ctr">
                    <a:solidFill>
                      <a:srgbClr val="137A72"/>
                    </a:solidFill>
                  </a:tcPr>
                </a:tc>
                <a:tc>
                  <a:txBody>
                    <a:bodyPr wrap="square"/>
                    <a:lstStyle/>
                    <a:p>
                      <a:pPr>
                        <a:lnSpc>
                          <a:spcPct val="93000"/>
                        </a:lnSpc>
                        <a:buNone/>
                      </a:pPr>
                      <a:r>
                        <a:rPr sz="2100" b="1">
                          <a:solidFill>
                            <a:srgbClr val="FFFFFF"/>
                          </a:solidFill>
                          <a:latin typeface="Malgun Gothic"/>
                          <a:ea typeface="Malgun Gothic"/>
                          <a:cs typeface="Malgun Gothic"/>
                        </a:rPr>
                        <a:t>응답</a:t>
                      </a:r>
                    </a:p>
                  </a:txBody>
                  <a:tcPr marL="114300" marR="114300" marT="47625" marB="47625" anchor="ctr">
                    <a:solidFill>
                      <a:srgbClr val="137A72"/>
                    </a:solidFill>
                  </a:tcPr>
                </a:tc>
              </a:tr>
              <a:tr h="723900">
                <a:tc>
                  <a:txBody>
                    <a:bodyPr wrap="square"/>
                    <a:lstStyle/>
                    <a:p>
                      <a:pPr>
                        <a:lnSpc>
                          <a:spcPct val="93000"/>
                        </a:lnSpc>
                        <a:buNone/>
                      </a:pPr>
                      <a:r>
                        <a:rPr sz="2100" b="0">
                          <a:solidFill>
                            <a:srgbClr val="183D38"/>
                          </a:solidFill>
                          <a:latin typeface="Malgun Gothic"/>
                          <a:ea typeface="Malgun Gothic"/>
                          <a:cs typeface="Malgun Gothic"/>
                        </a:rPr>
                        <a:t>initialize</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1</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있음</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initialized 알림</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없음</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없음</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tools/list</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2</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목록</a:t>
                      </a:r>
                    </a:p>
                  </a:txBody>
                  <a:tcPr marL="114300" marR="114300" marT="47625" marB="47625" anchor="ctr">
                    <a:solidFill>
                      <a:srgbClr val="F8F7F2"/>
                    </a:solidFill>
                  </a:tcPr>
                </a:tc>
              </a:tr>
            </a:tbl>
          </a:graphicData>
        </a:graphic>
      </p:graphicFrame>
      <p:sp>
        <p:nvSpPr>
          <p:cNvPr id="4" name="">
            <a:extLst xmlns:a="http://schemas.openxmlformats.org/drawingml/2006/main">
              <a:ext uri="{FF2B5EF4-FFF2-40B4-BE49-F238E27FC236}">
                <a16:creationId xmlns:a16="http://schemas.microsoft.com/office/drawing/2014/main" id="{6BB59163-DC79-48A6-B376-1CB8872807D2}"/>
              </a:ext>
            </a:extLst>
          </p:cNvPr>
          <p:cNvSpPr>
            <a:spLocks xmlns:a="http://schemas.openxmlformats.org/drawingml/2006/main" noGrp="1"/>
          </p:cNvSpPr>
          <p:nvPr/>
        </p:nvSpPr>
        <p:spPr>
          <a:xfrm xmlns:a="http://schemas.openxmlformats.org/drawingml/2006/main">
            <a:off x="762000" y="60579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37A72"/>
                </a:solidFill>
                <a:latin typeface="Malgun Gothic"/>
                <a:ea typeface="Malgun Gothic"/>
                <a:cs typeface="Malgun Gothic"/>
              </a:defRPr>
            </a:pPr>
            <a:r>
              <a:rPr sz="1800" b="0">
                <a:solidFill>
                  <a:srgbClr val="137A72"/>
                </a:solidFill>
                <a:latin typeface="Malgun Gothic"/>
                <a:ea typeface="Malgun Gothic"/>
                <a:cs typeface="Malgun Gothic"/>
              </a:rPr>
              <a:t>추가·복습: requests.jsonl의 첫 세 줄을 대조합니다.</a:t>
            </a:r>
          </a:p>
        </p:txBody>
      </p:sp>
      <p:sp>
        <p:nvSpPr>
          <p:cNvPr id="5" name="">
            <a:extLst xmlns:a="http://schemas.openxmlformats.org/drawingml/2006/main">
              <a:ext uri="{FF2B5EF4-FFF2-40B4-BE49-F238E27FC236}">
                <a16:creationId xmlns:a16="http://schemas.microsoft.com/office/drawing/2014/main" id="{FC3087D6-D07D-4D8C-8BC2-C48902814FF5}"/>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78</a:t>
            </a:r>
          </a:p>
        </p:txBody>
      </p:sp>
    </p:spTree>
    <p:extLst>
      <p:ext uri="{BB962C8B-B14F-4D97-AF65-F5344CB8AC3E}">
        <p14:creationId xmlns:p14="http://schemas.microsoft.com/office/powerpoint/2010/main" val="1088580955"/>
      </p:ext>
    </p:extLst>
  </p:cSld>
</p:sld>
</file>

<file path=ppt/slides/slide7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98FFDA-E1AB-4103-8C2E-FCC184D4EB2E}"/>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8BE6E775-D585-4D3D-90C9-836061751D5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호출의 입력 약속</a:t>
            </a:r>
          </a:p>
        </p:txBody>
      </p:sp>
      <p:sp>
        <p:nvSpPr>
          <p:cNvPr id="3" name="">
            <a:extLst xmlns:a="http://schemas.openxmlformats.org/drawingml/2006/main">
              <a:ext uri="{FF2B5EF4-FFF2-40B4-BE49-F238E27FC236}">
                <a16:creationId xmlns:a16="http://schemas.microsoft.com/office/drawing/2014/main" id="{47B881F0-3809-4D6A-832F-6ADB266D4012}"/>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추가·복습: get_reading은 sensor_id 문자열을 받습니다.</a:t>
            </a:r>
          </a:p>
        </p:txBody>
      </p:sp>
      <p:sp>
        <p:nvSpPr>
          <p:cNvPr id="4" name="">
            <a:extLst xmlns:a="http://schemas.openxmlformats.org/drawingml/2006/main">
              <a:ext uri="{FF2B5EF4-FFF2-40B4-BE49-F238E27FC236}">
                <a16:creationId xmlns:a16="http://schemas.microsoft.com/office/drawing/2014/main" id="{A4990A67-4D44-45E8-A76D-B87DE3CD682B}"/>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메시지 한 개를 한 줄로 보냅니다.</a:t>
            </a:r>
          </a:p>
        </p:txBody>
      </p:sp>
      <p:sp>
        <p:nvSpPr>
          <p:cNvPr id="5" name="">
            <a:extLst xmlns:a="http://schemas.openxmlformats.org/drawingml/2006/main">
              <a:ext uri="{FF2B5EF4-FFF2-40B4-BE49-F238E27FC236}">
                <a16:creationId xmlns:a16="http://schemas.microsoft.com/office/drawing/2014/main" id="{5BAEA526-7A9F-4376-AFB9-BB404D60339D}"/>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79</a:t>
            </a:r>
          </a:p>
        </p:txBody>
      </p:sp>
    </p:spTree>
    <p:extLst>
      <p:ext uri="{BB962C8B-B14F-4D97-AF65-F5344CB8AC3E}">
        <p14:creationId xmlns:p14="http://schemas.microsoft.com/office/powerpoint/2010/main" val="955592542"/>
      </p:ext>
    </p:extLst>
  </p:cSld>
</p:sld>
</file>

<file path=ppt/slides/slide8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EAC163-6AE2-4401-B57F-EB19613943BB}"/>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65F930CD-B542-4594-B750-1995811E0589}"/>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초기화 알림</a:t>
            </a:r>
          </a:p>
        </p:txBody>
      </p:sp>
      <p:sp>
        <p:nvSpPr>
          <p:cNvPr id="3" name="">
            <a:extLst xmlns:a="http://schemas.openxmlformats.org/drawingml/2006/main">
              <a:ext uri="{FF2B5EF4-FFF2-40B4-BE49-F238E27FC236}">
                <a16:creationId xmlns:a16="http://schemas.microsoft.com/office/drawing/2014/main" id="{8C083028-04F8-4437-B053-C84A3499E28A}"/>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추가·복습: initialized 알림도 응답을 기다리나요?</a:t>
            </a:r>
          </a:p>
        </p:txBody>
      </p:sp>
      <p:sp>
        <p:nvSpPr>
          <p:cNvPr id="4" name="">
            <a:extLst xmlns:a="http://schemas.openxmlformats.org/drawingml/2006/main">
              <a:ext uri="{FF2B5EF4-FFF2-40B4-BE49-F238E27FC236}">
                <a16:creationId xmlns:a16="http://schemas.microsoft.com/office/drawing/2014/main" id="{492A3C96-7EED-4717-891D-8C66D709C43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80</a:t>
            </a:r>
          </a:p>
        </p:txBody>
      </p:sp>
    </p:spTree>
    <p:extLst>
      <p:ext uri="{BB962C8B-B14F-4D97-AF65-F5344CB8AC3E}">
        <p14:creationId xmlns:p14="http://schemas.microsoft.com/office/powerpoint/2010/main" val="327176407"/>
      </p:ext>
    </p:extLst>
  </p:cSld>
</p:sld>
</file>

<file path=ppt/slides/slide8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9EE5F3-9DF4-481D-B47E-A18DBCBB18A5}"/>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D79D1E16-6E0B-405B-99BC-0A45A386F77C}"/>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A15  STDIO 도구 호출</a:t>
            </a:r>
          </a:p>
        </p:txBody>
      </p:sp>
      <p:sp>
        <p:nvSpPr>
          <p:cNvPr id="3" name="">
            <a:extLst xmlns:a="http://schemas.openxmlformats.org/drawingml/2006/main">
              <a:ext uri="{FF2B5EF4-FFF2-40B4-BE49-F238E27FC236}">
                <a16:creationId xmlns:a16="http://schemas.microsoft.com/office/drawing/2014/main" id="{E7CD57E6-CC66-4F90-8D02-0386259B93E9}"/>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제공 클라이언트가 로컬 서버를 실행합니다.</a:t>
            </a:r>
          </a:p>
        </p:txBody>
      </p:sp>
      <p:sp>
        <p:nvSpPr>
          <p:cNvPr id="4" name="">
            <a:extLst xmlns:a="http://schemas.openxmlformats.org/drawingml/2006/main">
              <a:ext uri="{FF2B5EF4-FFF2-40B4-BE49-F238E27FC236}">
                <a16:creationId xmlns:a16="http://schemas.microsoft.com/office/drawing/2014/main" id="{8EB14D7C-23B8-4180-B3F8-EBBF8CE3D4A6}"/>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S01·S02·S99의 응답을 비교합니다.</a:t>
            </a:r>
          </a:p>
        </p:txBody>
      </p:sp>
      <p:sp>
        <p:nvSpPr>
          <p:cNvPr id="5" name="">
            <a:extLst xmlns:a="http://schemas.openxmlformats.org/drawingml/2006/main">
              <a:ext uri="{FF2B5EF4-FFF2-40B4-BE49-F238E27FC236}">
                <a16:creationId xmlns:a16="http://schemas.microsoft.com/office/drawing/2014/main" id="{5B0F865D-3B9B-4689-8F07-1396AAED4D50}"/>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81</a:t>
            </a:r>
          </a:p>
        </p:txBody>
      </p:sp>
    </p:spTree>
    <p:extLst>
      <p:ext uri="{BB962C8B-B14F-4D97-AF65-F5344CB8AC3E}">
        <p14:creationId xmlns:p14="http://schemas.microsoft.com/office/powerpoint/2010/main" val="237981405"/>
      </p:ext>
    </p:extLst>
  </p:cSld>
</p:sld>
</file>

<file path=ppt/slides/slide8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99C4FE-3188-4003-84B7-9453AFC41BA0}"/>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762E6B0E-5C8B-4721-9D5E-ABB68F5CF6DF}"/>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STDIO 도구 호출의 예</a:t>
            </a:r>
          </a:p>
        </p:txBody>
      </p:sp>
      <p:sp>
        <p:nvSpPr>
          <p:cNvPr id="3" name="">
            <a:extLst xmlns:a="http://schemas.openxmlformats.org/drawingml/2006/main">
              <a:ext uri="{FF2B5EF4-FFF2-40B4-BE49-F238E27FC236}">
                <a16:creationId xmlns:a16="http://schemas.microsoft.com/office/drawing/2014/main" id="{6730B2ED-2D47-4529-A836-452D8FC885BA}"/>
              </a:ext>
            </a:extLst>
          </p:cNvPr>
          <p:cNvSpPr>
            <a:spLocks xmlns:a="http://schemas.openxmlformats.org/drawingml/2006/main" noGrp="1"/>
          </p:cNvSpPr>
          <p:nvPr/>
        </p:nvSpPr>
        <p:spPr>
          <a:xfrm xmlns:a="http://schemas.openxmlformats.org/drawingml/2006/main">
            <a:off x="762000" y="2724150"/>
            <a:ext cx="106489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0000"/>
              </a:lnSpc>
              <a:buNone/>
              <a:defRPr sz="2400" b="0">
                <a:solidFill>
                  <a:srgbClr val="183D38"/>
                </a:solidFill>
                <a:latin typeface="Consolas"/>
                <a:ea typeface="Consolas"/>
                <a:cs typeface="Consolas"/>
              </a:defRPr>
            </a:pPr>
            <a:r>
              <a:rPr sz="2400" b="0">
                <a:solidFill>
                  <a:srgbClr val="183D38"/>
                </a:solidFill>
                <a:latin typeface="Consolas"/>
                <a:ea typeface="Consolas"/>
                <a:cs typeface="Consolas"/>
              </a:rPr>
              <a:t>python -X utf8 code/mcp_client.py</a:t>
            </a:r>
          </a:p>
        </p:txBody>
      </p:sp>
      <p:sp>
        <p:nvSpPr>
          <p:cNvPr id="4" name="">
            <a:extLst xmlns:a="http://schemas.openxmlformats.org/drawingml/2006/main">
              <a:ext uri="{FF2B5EF4-FFF2-40B4-BE49-F238E27FC236}">
                <a16:creationId xmlns:a16="http://schemas.microsoft.com/office/drawing/2014/main" id="{38B367FF-3AF7-476C-B757-2FC10B93E2E1}"/>
              </a:ext>
            </a:extLst>
          </p:cNvPr>
          <p:cNvSpPr>
            <a:spLocks xmlns:a="http://schemas.openxmlformats.org/drawingml/2006/main" noGrp="1"/>
          </p:cNvSpPr>
          <p:nvPr/>
        </p:nvSpPr>
        <p:spPr>
          <a:xfrm xmlns:a="http://schemas.openxmlformats.org/drawingml/2006/main">
            <a:off x="762000" y="2200275"/>
            <a:ext cx="1064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37A72"/>
                </a:solidFill>
                <a:latin typeface="Malgun Gothic"/>
                <a:ea typeface="Malgun Gothic"/>
                <a:cs typeface="Malgun Gothic"/>
              </a:defRPr>
            </a:pPr>
            <a:r>
              <a:rPr sz="1875" b="0">
                <a:solidFill>
                  <a:srgbClr val="137A72"/>
                </a:solidFill>
                <a:latin typeface="Malgun Gothic"/>
                <a:ea typeface="Malgun Gothic"/>
                <a:cs typeface="Malgun Gothic"/>
              </a:rPr>
              <a:t>실행 위치: course. 외부 API 호출은 없습니다.</a:t>
            </a:r>
          </a:p>
        </p:txBody>
      </p:sp>
      <p:sp>
        <p:nvSpPr>
          <p:cNvPr id="5" name="">
            <a:extLst xmlns:a="http://schemas.openxmlformats.org/drawingml/2006/main">
              <a:ext uri="{FF2B5EF4-FFF2-40B4-BE49-F238E27FC236}">
                <a16:creationId xmlns:a16="http://schemas.microsoft.com/office/drawing/2014/main" id="{949FC649-C1F9-45BB-9A3C-471DC8E7FD6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82</a:t>
            </a:r>
          </a:p>
        </p:txBody>
      </p:sp>
    </p:spTree>
    <p:extLst>
      <p:ext uri="{BB962C8B-B14F-4D97-AF65-F5344CB8AC3E}">
        <p14:creationId xmlns:p14="http://schemas.microsoft.com/office/powerpoint/2010/main" val="1978668239"/>
      </p:ext>
    </p:extLst>
  </p:cSld>
</p:sld>
</file>

<file path=ppt/slides/slide8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574752-C4DC-47E4-9E29-88ECD898517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513D41EB-A6FE-4A77-B349-1A2675EA01CB}"/>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STDIO 도구 호출의 줄 읽기</a:t>
            </a:r>
          </a:p>
        </p:txBody>
      </p:sp>
      <p:sp>
        <p:nvSpPr>
          <p:cNvPr id="3" name="">
            <a:extLst xmlns:a="http://schemas.openxmlformats.org/drawingml/2006/main">
              <a:ext uri="{FF2B5EF4-FFF2-40B4-BE49-F238E27FC236}">
                <a16:creationId xmlns:a16="http://schemas.microsoft.com/office/drawing/2014/main" id="{1240CE62-6A8F-4148-810B-AB55614F841F}"/>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요소·속성·값의 이름을 연결합니다.</a:t>
            </a:r>
          </a:p>
        </p:txBody>
      </p:sp>
      <p:sp>
        <p:nvSpPr>
          <p:cNvPr id="4" name="">
            <a:extLst xmlns:a="http://schemas.openxmlformats.org/drawingml/2006/main">
              <a:ext uri="{FF2B5EF4-FFF2-40B4-BE49-F238E27FC236}">
                <a16:creationId xmlns:a16="http://schemas.microsoft.com/office/drawing/2014/main" id="{730F5698-1590-44B9-BA33-6A5D8994AE7B}"/>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사건 때 실행할 문장 범위를 읽습니다.</a:t>
            </a:r>
          </a:p>
        </p:txBody>
      </p:sp>
      <p:sp>
        <p:nvSpPr>
          <p:cNvPr id="5" name="">
            <a:extLst xmlns:a="http://schemas.openxmlformats.org/drawingml/2006/main">
              <a:ext uri="{FF2B5EF4-FFF2-40B4-BE49-F238E27FC236}">
                <a16:creationId xmlns:a16="http://schemas.microsoft.com/office/drawing/2014/main" id="{5B393945-18A5-4ED0-B26D-78E22E0D7959}"/>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전체 소스와 발췌 코드를 구별합니다.</a:t>
            </a:r>
          </a:p>
        </p:txBody>
      </p:sp>
      <p:sp>
        <p:nvSpPr>
          <p:cNvPr id="6" name="">
            <a:extLst xmlns:a="http://schemas.openxmlformats.org/drawingml/2006/main">
              <a:ext uri="{FF2B5EF4-FFF2-40B4-BE49-F238E27FC236}">
                <a16:creationId xmlns:a16="http://schemas.microsoft.com/office/drawing/2014/main" id="{9B6C4235-1940-499D-9626-E158A85FE436}"/>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83</a:t>
            </a:r>
          </a:p>
        </p:txBody>
      </p:sp>
    </p:spTree>
    <p:extLst>
      <p:ext uri="{BB962C8B-B14F-4D97-AF65-F5344CB8AC3E}">
        <p14:creationId xmlns:p14="http://schemas.microsoft.com/office/powerpoint/2010/main" val="1597965385"/>
      </p:ext>
    </p:extLst>
  </p:cSld>
</p:sld>
</file>

<file path=ppt/slides/slide8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2F1D38-636C-430C-87D6-AE6E463768E1}"/>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4B315264-1E1A-4088-B42F-77F7E03D5FDF}"/>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세 응답의 차이</a:t>
            </a:r>
          </a:p>
        </p:txBody>
      </p:sp>
      <p:sp>
        <p:nvSpPr>
          <p:cNvPr id="3" name="">
            <a:extLst xmlns:a="http://schemas.openxmlformats.org/drawingml/2006/main">
              <a:ext uri="{FF2B5EF4-FFF2-40B4-BE49-F238E27FC236}">
                <a16:creationId xmlns:a16="http://schemas.microsoft.com/office/drawing/2014/main" id="{383E6982-153C-4CC5-AD95-85CB07F78F10}"/>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S01은 22.5, S02는 미측정 null입니다.</a:t>
            </a:r>
          </a:p>
        </p:txBody>
      </p:sp>
      <p:sp>
        <p:nvSpPr>
          <p:cNvPr id="4" name="">
            <a:extLst xmlns:a="http://schemas.openxmlformats.org/drawingml/2006/main">
              <a:ext uri="{FF2B5EF4-FFF2-40B4-BE49-F238E27FC236}">
                <a16:creationId xmlns:a16="http://schemas.microsoft.com/office/drawing/2014/main" id="{714C9124-CFED-4A5D-9EC6-2E6B1B432F3C}"/>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S99는 Unknown sensor와 isError입니다.</a:t>
            </a:r>
          </a:p>
        </p:txBody>
      </p:sp>
      <p:sp>
        <p:nvSpPr>
          <p:cNvPr id="5" name="">
            <a:extLst xmlns:a="http://schemas.openxmlformats.org/drawingml/2006/main">
              <a:ext uri="{FF2B5EF4-FFF2-40B4-BE49-F238E27FC236}">
                <a16:creationId xmlns:a16="http://schemas.microsoft.com/office/drawing/2014/main" id="{FF431AC2-1F69-4DDA-85D1-78ADB9AC10A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84</a:t>
            </a:r>
          </a:p>
        </p:txBody>
      </p:sp>
    </p:spTree>
    <p:extLst>
      <p:ext uri="{BB962C8B-B14F-4D97-AF65-F5344CB8AC3E}">
        <p14:creationId xmlns:p14="http://schemas.microsoft.com/office/powerpoint/2010/main" val="1620596883"/>
      </p:ext>
    </p:extLst>
  </p:cSld>
</p:sld>
</file>

<file path=ppt/slides/slide8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5AD27C-3B0E-462E-B352-C627EDE2BA9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B8AEBFA3-9711-4137-A140-3D4298D93B4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null과 도구 오류</a:t>
            </a:r>
          </a:p>
        </p:txBody>
      </p:sp>
      <p:sp>
        <p:nvSpPr>
          <p:cNvPr id="3" name="">
            <a:extLst xmlns:a="http://schemas.openxmlformats.org/drawingml/2006/main">
              <a:ext uri="{FF2B5EF4-FFF2-40B4-BE49-F238E27FC236}">
                <a16:creationId xmlns:a16="http://schemas.microsoft.com/office/drawing/2014/main" id="{A4510E8A-681A-4A80-A3CA-EA67DF1DE2A1}"/>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S02의 null과 S99의 오류는 같은가요?</a:t>
            </a:r>
          </a:p>
        </p:txBody>
      </p:sp>
      <p:sp>
        <p:nvSpPr>
          <p:cNvPr id="4" name="">
            <a:extLst xmlns:a="http://schemas.openxmlformats.org/drawingml/2006/main">
              <a:ext uri="{FF2B5EF4-FFF2-40B4-BE49-F238E27FC236}">
                <a16:creationId xmlns:a16="http://schemas.microsoft.com/office/drawing/2014/main" id="{849835F4-BFD4-4C43-ACB4-FF44E6505D7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85</a:t>
            </a:r>
          </a:p>
        </p:txBody>
      </p:sp>
    </p:spTree>
    <p:extLst>
      <p:ext uri="{BB962C8B-B14F-4D97-AF65-F5344CB8AC3E}">
        <p14:creationId xmlns:p14="http://schemas.microsoft.com/office/powerpoint/2010/main" val="84480885"/>
      </p:ext>
    </p:extLst>
  </p:cSld>
</p:sld>
</file>

<file path=ppt/slides/slide86.xml><?xml version="1.0" encoding="utf-8"?>
<p:sld xmlns:p="http://schemas.openxmlformats.org/presentationml/2006/main">
  <p:cSld>
    <p:bg>
      <p:bgPr>
        <a:solidFill xmlns:a="http://schemas.openxmlformats.org/drawingml/2006/main">
          <a:srgbClr val="183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818144-4046-4634-A7AD-FE6330596FA6}"/>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A6D1C6"/>
                </a:solidFill>
                <a:latin typeface="Malgun Gothic"/>
                <a:ea typeface="Malgun Gothic"/>
                <a:cs typeface="Malgun Gothic"/>
              </a:defRPr>
            </a:pPr>
            <a:r>
              <a:rPr sz="1725" b="0">
                <a:solidFill>
                  <a:srgbClr val="A6D1C6"/>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4C460CD2-A556-44CA-AA49-326CA99BE2F2}"/>
              </a:ext>
            </a:extLst>
          </p:cNvPr>
          <p:cNvSpPr>
            <a:spLocks xmlns:a="http://schemas.openxmlformats.org/drawingml/2006/main" noGrp="1"/>
          </p:cNvSpPr>
          <p:nvPr/>
        </p:nvSpPr>
        <p:spPr>
          <a:xfrm xmlns:a="http://schemas.openxmlformats.org/drawingml/2006/main">
            <a:off x="723900" y="17335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F8F7F2"/>
                </a:solidFill>
                <a:latin typeface="Malgun Gothic"/>
                <a:ea typeface="Malgun Gothic"/>
                <a:cs typeface="Malgun Gothic"/>
              </a:defRPr>
            </a:pPr>
            <a:r>
              <a:rPr sz="4500" b="1">
                <a:solidFill>
                  <a:srgbClr val="F8F7F2"/>
                </a:solidFill>
                <a:latin typeface="Malgun Gothic"/>
                <a:ea typeface="Malgun Gothic"/>
                <a:cs typeface="Malgun Gothic"/>
              </a:rPr>
              <a:t>6교시  역할 연결과 검수</a:t>
            </a:r>
          </a:p>
        </p:txBody>
      </p:sp>
      <p:sp>
        <p:nvSpPr>
          <p:cNvPr id="3" name="">
            <a:extLst xmlns:a="http://schemas.openxmlformats.org/drawingml/2006/main">
              <a:ext uri="{FF2B5EF4-FFF2-40B4-BE49-F238E27FC236}">
                <a16:creationId xmlns:a16="http://schemas.microsoft.com/office/drawing/2014/main" id="{A2010B26-D342-4F02-9555-8F7BD64C8ACA}"/>
              </a:ext>
            </a:extLst>
          </p:cNvPr>
          <p:cNvSpPr>
            <a:spLocks xmlns:a="http://schemas.openxmlformats.org/drawingml/2006/main" noGrp="1"/>
          </p:cNvSpPr>
          <p:nvPr/>
        </p:nvSpPr>
        <p:spPr>
          <a:xfrm xmlns:a="http://schemas.openxmlformats.org/drawingml/2006/main">
            <a:off x="762000" y="34099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50분 수업입니다.</a:t>
            </a:r>
          </a:p>
        </p:txBody>
      </p:sp>
      <p:sp>
        <p:nvSpPr>
          <p:cNvPr id="4" name="">
            <a:extLst xmlns:a="http://schemas.openxmlformats.org/drawingml/2006/main">
              <a:ext uri="{FF2B5EF4-FFF2-40B4-BE49-F238E27FC236}">
                <a16:creationId xmlns:a16="http://schemas.microsoft.com/office/drawing/2014/main" id="{53621555-962E-40DB-A2B4-1C1DB60CE705}"/>
              </a:ext>
            </a:extLst>
          </p:cNvPr>
          <p:cNvSpPr>
            <a:spLocks xmlns:a="http://schemas.openxmlformats.org/drawingml/2006/main" noGrp="1"/>
          </p:cNvSpPr>
          <p:nvPr/>
        </p:nvSpPr>
        <p:spPr>
          <a:xfrm xmlns:a="http://schemas.openxmlformats.org/drawingml/2006/main">
            <a:off x="762000" y="40195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먼저 개념을 보고 함께 따라 합니다.</a:t>
            </a:r>
          </a:p>
        </p:txBody>
      </p:sp>
      <p:sp>
        <p:nvSpPr>
          <p:cNvPr id="5" name="">
            <a:extLst xmlns:a="http://schemas.openxmlformats.org/drawingml/2006/main">
              <a:ext uri="{FF2B5EF4-FFF2-40B4-BE49-F238E27FC236}">
                <a16:creationId xmlns:a16="http://schemas.microsoft.com/office/drawing/2014/main" id="{16DEE2A2-14DA-42B7-ABD9-D780B22C3421}"/>
              </a:ext>
            </a:extLst>
          </p:cNvPr>
          <p:cNvSpPr>
            <a:spLocks xmlns:a="http://schemas.openxmlformats.org/drawingml/2006/main" noGrp="1"/>
          </p:cNvSpPr>
          <p:nvPr/>
        </p:nvSpPr>
        <p:spPr>
          <a:xfrm xmlns:a="http://schemas.openxmlformats.org/drawingml/2006/main">
            <a:off x="762000" y="46291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8F7F2"/>
                </a:solidFill>
                <a:latin typeface="Malgun Gothic"/>
                <a:ea typeface="Malgun Gothic"/>
                <a:cs typeface="Malgun Gothic"/>
              </a:defRPr>
            </a:pPr>
            <a:r>
              <a:rPr sz="2550" b="0">
                <a:solidFill>
                  <a:srgbClr val="F8F7F2"/>
                </a:solidFill>
                <a:latin typeface="Malgun Gothic"/>
                <a:ea typeface="Malgun Gothic"/>
                <a:cs typeface="Malgun Gothic"/>
              </a:rPr>
              <a:t>예상과 실제를 비교하고 설명합니다.</a:t>
            </a:r>
          </a:p>
        </p:txBody>
      </p:sp>
      <p:sp>
        <p:nvSpPr>
          <p:cNvPr id="6" name="">
            <a:extLst xmlns:a="http://schemas.openxmlformats.org/drawingml/2006/main">
              <a:ext uri="{FF2B5EF4-FFF2-40B4-BE49-F238E27FC236}">
                <a16:creationId xmlns:a16="http://schemas.microsoft.com/office/drawing/2014/main" id="{4E9E0D7E-DC96-492F-8B1E-0582F5965A8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A6D1C6"/>
                </a:solidFill>
                <a:latin typeface="Malgun Gothic"/>
                <a:ea typeface="Malgun Gothic"/>
                <a:cs typeface="Malgun Gothic"/>
              </a:defRPr>
            </a:pPr>
            <a:r>
              <a:rPr sz="1500" b="0">
                <a:solidFill>
                  <a:srgbClr val="A6D1C6"/>
                </a:solidFill>
                <a:latin typeface="Malgun Gothic"/>
                <a:ea typeface="Malgun Gothic"/>
                <a:cs typeface="Malgun Gothic"/>
              </a:rPr>
              <a:t>86</a:t>
            </a:r>
          </a:p>
        </p:txBody>
      </p:sp>
    </p:spTree>
    <p:extLst>
      <p:ext uri="{BB962C8B-B14F-4D97-AF65-F5344CB8AC3E}">
        <p14:creationId xmlns:p14="http://schemas.microsoft.com/office/powerpoint/2010/main" val="1213176923"/>
      </p:ext>
    </p:extLst>
  </p:cSld>
</p:sld>
</file>

<file path=ppt/slides/slide8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2762D9-00AE-43DE-B6F0-2D25F66834ED}"/>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B291D570-A9F8-4ADD-9C28-02C96D2353BD}"/>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자료와 작업 지시의 경계</a:t>
            </a:r>
          </a:p>
        </p:txBody>
      </p:sp>
      <p:sp>
        <p:nvSpPr>
          <p:cNvPr id="3" name="">
            <a:extLst xmlns:a="http://schemas.openxmlformats.org/drawingml/2006/main">
              <a:ext uri="{FF2B5EF4-FFF2-40B4-BE49-F238E27FC236}">
                <a16:creationId xmlns:a16="http://schemas.microsoft.com/office/drawing/2014/main" id="{96FB4A02-5705-4E75-9B28-051C6564172A}"/>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도구 응답은 화면 상태와 다릅니다.</a:t>
            </a:r>
          </a:p>
        </p:txBody>
      </p:sp>
      <p:sp>
        <p:nvSpPr>
          <p:cNvPr id="4" name="">
            <a:extLst xmlns:a="http://schemas.openxmlformats.org/drawingml/2006/main">
              <a:ext uri="{FF2B5EF4-FFF2-40B4-BE49-F238E27FC236}">
                <a16:creationId xmlns:a16="http://schemas.microsoft.com/office/drawing/2014/main" id="{8F468B1C-1DBC-4609-8C51-E7684050777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자료 안 지시가 새 권한을 주지 않습니다.</a:t>
            </a:r>
          </a:p>
        </p:txBody>
      </p:sp>
      <p:sp>
        <p:nvSpPr>
          <p:cNvPr id="5" name="">
            <a:extLst xmlns:a="http://schemas.openxmlformats.org/drawingml/2006/main">
              <a:ext uri="{FF2B5EF4-FFF2-40B4-BE49-F238E27FC236}">
                <a16:creationId xmlns:a16="http://schemas.microsoft.com/office/drawing/2014/main" id="{DA8D2CB4-B2AD-4DD8-A054-4B53D935734C}"/>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87</a:t>
            </a:r>
          </a:p>
        </p:txBody>
      </p:sp>
    </p:spTree>
    <p:extLst>
      <p:ext uri="{BB962C8B-B14F-4D97-AF65-F5344CB8AC3E}">
        <p14:creationId xmlns:p14="http://schemas.microsoft.com/office/powerpoint/2010/main" val="1004808428"/>
      </p:ext>
    </p:extLst>
  </p:cSld>
</p:sld>
</file>

<file path=ppt/slides/slide8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61104F-2D5B-4878-991A-C524991BD17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B54AC66C-1891-455E-BB0D-A19597FC06A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A16  응답과 화면 사이</a:t>
            </a:r>
          </a:p>
        </p:txBody>
      </p:sp>
      <p:sp>
        <p:nvSpPr>
          <p:cNvPr id="3" name="">
            <a:extLst xmlns:a="http://schemas.openxmlformats.org/drawingml/2006/main">
              <a:ext uri="{FF2B5EF4-FFF2-40B4-BE49-F238E27FC236}">
                <a16:creationId xmlns:a16="http://schemas.microsoft.com/office/drawing/2014/main" id="{726A6E63-043B-499B-B797-216EF834C57D}"/>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응답 해석과 유효값 확인이 필요합니다.</a:t>
            </a:r>
          </a:p>
        </p:txBody>
      </p:sp>
      <p:sp>
        <p:nvSpPr>
          <p:cNvPr id="4" name="">
            <a:extLst xmlns:a="http://schemas.openxmlformats.org/drawingml/2006/main">
              <a:ext uri="{FF2B5EF4-FFF2-40B4-BE49-F238E27FC236}">
                <a16:creationId xmlns:a16="http://schemas.microsoft.com/office/drawing/2014/main" id="{91290921-483A-47EB-BD3B-44B23AEBE9B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화면 state에 전달할 연결도 필요합니다.</a:t>
            </a:r>
          </a:p>
        </p:txBody>
      </p:sp>
      <p:sp>
        <p:nvSpPr>
          <p:cNvPr id="5" name="">
            <a:extLst xmlns:a="http://schemas.openxmlformats.org/drawingml/2006/main">
              <a:ext uri="{FF2B5EF4-FFF2-40B4-BE49-F238E27FC236}">
                <a16:creationId xmlns:a16="http://schemas.microsoft.com/office/drawing/2014/main" id="{2EB28177-6285-4791-8A3B-E26268028E9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88</a:t>
            </a:r>
          </a:p>
        </p:txBody>
      </p:sp>
    </p:spTree>
    <p:extLst>
      <p:ext uri="{BB962C8B-B14F-4D97-AF65-F5344CB8AC3E}">
        <p14:creationId xmlns:p14="http://schemas.microsoft.com/office/powerpoint/2010/main" val="1943787263"/>
      </p:ext>
    </p:extLst>
  </p:cSld>
</p:sld>
</file>

<file path=ppt/slides/slide8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EA73CD-ED62-4561-87FD-847F7CDE2914}"/>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99CE130F-88D4-48E3-A13F-55E66032FE13}"/>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응답과 화면 사이의 예</a:t>
            </a:r>
          </a:p>
        </p:txBody>
      </p:sp>
      <p:graphicFrame>
        <p:nvGraphicFramePr>
          <p:cNvPr id="8" name=""/>
          <p:cNvGraphicFramePr/>
          <p:nvPr/>
        </p:nvGraphicFramePr>
        <p:xfrm>
          <a:off xmlns:a="http://schemas.openxmlformats.org/drawingml/2006/main" x="762000" y="2333625"/>
          <a:ext xmlns:a="http://schemas.openxmlformats.org/drawingml/2006/main" cx="10668000" cy="2895600"/>
        </p:xfrm>
        <a:graphic xmlns:a="http://schemas.openxmlformats.org/drawingml/2006/main">
          <a:graphicData uri="http://schemas.openxmlformats.org/drawingml/2006/table">
            <a:tbl>
              <a:tblPr firstRow="1" bandRow="0"/>
              <a:tblGrid>
                <a:gridCol w="5334000"/>
                <a:gridCol w="5334000"/>
              </a:tblGrid>
              <a:tr h="723900">
                <a:tc>
                  <a:txBody>
                    <a:bodyPr wrap="square"/>
                    <a:lstStyle/>
                    <a:p>
                      <a:pPr>
                        <a:lnSpc>
                          <a:spcPct val="93000"/>
                        </a:lnSpc>
                        <a:buNone/>
                      </a:pPr>
                      <a:r>
                        <a:rPr sz="2100" b="1">
                          <a:solidFill>
                            <a:srgbClr val="FFFFFF"/>
                          </a:solidFill>
                          <a:latin typeface="Malgun Gothic"/>
                          <a:ea typeface="Malgun Gothic"/>
                          <a:cs typeface="Malgun Gothic"/>
                        </a:rPr>
                        <a:t>응답</a:t>
                      </a:r>
                    </a:p>
                  </a:txBody>
                  <a:tcPr marL="114300" marR="114300" marT="47625" marB="47625" anchor="ctr">
                    <a:solidFill>
                      <a:srgbClr val="137A72"/>
                    </a:solidFill>
                  </a:tcPr>
                </a:tc>
                <a:tc>
                  <a:txBody>
                    <a:bodyPr wrap="square"/>
                    <a:lstStyle/>
                    <a:p>
                      <a:pPr>
                        <a:lnSpc>
                          <a:spcPct val="93000"/>
                        </a:lnSpc>
                        <a:buNone/>
                      </a:pPr>
                      <a:r>
                        <a:rPr sz="2100" b="1">
                          <a:solidFill>
                            <a:srgbClr val="FFFFFF"/>
                          </a:solidFill>
                          <a:latin typeface="Malgun Gothic"/>
                          <a:ea typeface="Malgun Gothic"/>
                          <a:cs typeface="Malgun Gothic"/>
                        </a:rPr>
                        <a:t>표시 결정</a:t>
                      </a:r>
                    </a:p>
                  </a:txBody>
                  <a:tcPr marL="114300" marR="114300" marT="47625" marB="47625" anchor="ctr">
                    <a:solidFill>
                      <a:srgbClr val="137A72"/>
                    </a:solidFill>
                  </a:tcPr>
                </a:tc>
              </a:tr>
              <a:tr h="723900">
                <a:tc>
                  <a:txBody>
                    <a:bodyPr wrap="square"/>
                    <a:lstStyle/>
                    <a:p>
                      <a:pPr>
                        <a:lnSpc>
                          <a:spcPct val="93000"/>
                        </a:lnSpc>
                        <a:buNone/>
                      </a:pPr>
                      <a:r>
                        <a:rPr sz="2100" b="0">
                          <a:solidFill>
                            <a:srgbClr val="183D38"/>
                          </a:solidFill>
                          <a:latin typeface="Malgun Gothic"/>
                          <a:ea typeface="Malgun Gothic"/>
                          <a:cs typeface="Malgun Gothic"/>
                        </a:rPr>
                        <a:t>숫자 0</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0 ℃</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null</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미측정</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isError=true</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조회 실패</a:t>
                      </a:r>
                    </a:p>
                  </a:txBody>
                  <a:tcPr marL="114300" marR="114300" marT="47625" marB="47625" anchor="ctr">
                    <a:solidFill>
                      <a:srgbClr val="F8F7F2"/>
                    </a:solidFill>
                  </a:tcPr>
                </a:tc>
              </a:tr>
            </a:tbl>
          </a:graphicData>
        </a:graphic>
      </p:graphicFrame>
      <p:sp>
        <p:nvSpPr>
          <p:cNvPr id="4" name="">
            <a:extLst xmlns:a="http://schemas.openxmlformats.org/drawingml/2006/main">
              <a:ext uri="{FF2B5EF4-FFF2-40B4-BE49-F238E27FC236}">
                <a16:creationId xmlns:a16="http://schemas.microsoft.com/office/drawing/2014/main" id="{96E7153A-15D1-4641-A0AE-F2F7B8AA86BA}"/>
              </a:ext>
            </a:extLst>
          </p:cNvPr>
          <p:cNvSpPr>
            <a:spLocks xmlns:a="http://schemas.openxmlformats.org/drawingml/2006/main" noGrp="1"/>
          </p:cNvSpPr>
          <p:nvPr/>
        </p:nvSpPr>
        <p:spPr>
          <a:xfrm xmlns:a="http://schemas.openxmlformats.org/drawingml/2006/main">
            <a:off x="762000" y="60579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37A72"/>
                </a:solidFill>
                <a:latin typeface="Malgun Gothic"/>
                <a:ea typeface="Malgun Gothic"/>
                <a:cs typeface="Malgun Gothic"/>
              </a:defRPr>
            </a:pPr>
            <a:r>
              <a:rPr sz="1800" b="0">
                <a:solidFill>
                  <a:srgbClr val="137A72"/>
                </a:solidFill>
                <a:latin typeface="Malgun Gothic"/>
                <a:ea typeface="Malgun Gothic"/>
                <a:cs typeface="Malgun Gothic"/>
              </a:rPr>
              <a:t>판단 표와 실제 연결 구현을 구별합니다.</a:t>
            </a:r>
          </a:p>
        </p:txBody>
      </p:sp>
      <p:sp>
        <p:nvSpPr>
          <p:cNvPr id="5" name="">
            <a:extLst xmlns:a="http://schemas.openxmlformats.org/drawingml/2006/main">
              <a:ext uri="{FF2B5EF4-FFF2-40B4-BE49-F238E27FC236}">
                <a16:creationId xmlns:a16="http://schemas.microsoft.com/office/drawing/2014/main" id="{0EA5004A-CB5B-468B-9E6E-B461B6C30A0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89</a:t>
            </a:r>
          </a:p>
        </p:txBody>
      </p:sp>
    </p:spTree>
    <p:extLst>
      <p:ext uri="{BB962C8B-B14F-4D97-AF65-F5344CB8AC3E}">
        <p14:creationId xmlns:p14="http://schemas.microsoft.com/office/powerpoint/2010/main" val="391791038"/>
      </p:ext>
    </p:extLst>
  </p:cSld>
</p:sld>
</file>

<file path=ppt/slides/slide9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F3AE0B-B2D0-4CCF-AFE8-2104FD296A8D}"/>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2A9194C1-39A4-4739-B8D5-7CB4C5066426}"/>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자동 연결의 경계</a:t>
            </a:r>
          </a:p>
        </p:txBody>
      </p:sp>
      <p:sp>
        <p:nvSpPr>
          <p:cNvPr id="3" name="">
            <a:extLst xmlns:a="http://schemas.openxmlformats.org/drawingml/2006/main">
              <a:ext uri="{FF2B5EF4-FFF2-40B4-BE49-F238E27FC236}">
                <a16:creationId xmlns:a16="http://schemas.microsoft.com/office/drawing/2014/main" id="{BA63925F-0898-41CF-986A-4F091822699A}"/>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현재 React는 data.js를 읽습니다.</a:t>
            </a:r>
          </a:p>
        </p:txBody>
      </p:sp>
      <p:sp>
        <p:nvSpPr>
          <p:cNvPr id="4" name="">
            <a:extLst xmlns:a="http://schemas.openxmlformats.org/drawingml/2006/main">
              <a:ext uri="{FF2B5EF4-FFF2-40B4-BE49-F238E27FC236}">
                <a16:creationId xmlns:a16="http://schemas.microsoft.com/office/drawing/2014/main" id="{46E3A281-398C-4966-BF2B-0AED29FB8DCE}"/>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MCP 응답을 화면에 넣는 처리는 별도입니다.</a:t>
            </a:r>
          </a:p>
        </p:txBody>
      </p:sp>
      <p:sp>
        <p:nvSpPr>
          <p:cNvPr id="5" name="">
            <a:extLst xmlns:a="http://schemas.openxmlformats.org/drawingml/2006/main">
              <a:ext uri="{FF2B5EF4-FFF2-40B4-BE49-F238E27FC236}">
                <a16:creationId xmlns:a16="http://schemas.microsoft.com/office/drawing/2014/main" id="{021DB1FD-793E-4948-931E-1FBF08B3C115}"/>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90</a:t>
            </a:r>
          </a:p>
        </p:txBody>
      </p:sp>
    </p:spTree>
    <p:extLst>
      <p:ext uri="{BB962C8B-B14F-4D97-AF65-F5344CB8AC3E}">
        <p14:creationId xmlns:p14="http://schemas.microsoft.com/office/powerpoint/2010/main" val="2042507833"/>
      </p:ext>
    </p:extLst>
  </p:cSld>
</p:sld>
</file>

<file path=ppt/slides/slide9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9211FD-5238-4F21-B626-FE9FA045EFB0}"/>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7742658D-FE88-4C17-A780-C88BE2B6BFEA}"/>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자료 속 지시</a:t>
            </a:r>
          </a:p>
        </p:txBody>
      </p:sp>
      <p:sp>
        <p:nvSpPr>
          <p:cNvPr id="3" name="">
            <a:extLst xmlns:a="http://schemas.openxmlformats.org/drawingml/2006/main">
              <a:ext uri="{FF2B5EF4-FFF2-40B4-BE49-F238E27FC236}">
                <a16:creationId xmlns:a16="http://schemas.microsoft.com/office/drawing/2014/main" id="{D2D6F014-9A7B-4F05-AFAE-23EC3CBDCC2E}"/>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응답에 “다른 파일 삭제”가 들어 있습니다.</a:t>
            </a:r>
          </a:p>
        </p:txBody>
      </p:sp>
      <p:sp>
        <p:nvSpPr>
          <p:cNvPr id="4" name="">
            <a:extLst xmlns:a="http://schemas.openxmlformats.org/drawingml/2006/main">
              <a:ext uri="{FF2B5EF4-FFF2-40B4-BE49-F238E27FC236}">
                <a16:creationId xmlns:a16="http://schemas.microsoft.com/office/drawing/2014/main" id="{4847A0C9-F685-4117-B8CC-FF5F66503FB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이 문장이 작업 권한을 주나요?</a:t>
            </a:r>
          </a:p>
        </p:txBody>
      </p:sp>
      <p:sp>
        <p:nvSpPr>
          <p:cNvPr id="5" name="">
            <a:extLst xmlns:a="http://schemas.openxmlformats.org/drawingml/2006/main">
              <a:ext uri="{FF2B5EF4-FFF2-40B4-BE49-F238E27FC236}">
                <a16:creationId xmlns:a16="http://schemas.microsoft.com/office/drawing/2014/main" id="{C4BC5503-5A7F-4664-8D3D-F9C2425E97D2}"/>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91</a:t>
            </a:r>
          </a:p>
        </p:txBody>
      </p:sp>
    </p:spTree>
    <p:extLst>
      <p:ext uri="{BB962C8B-B14F-4D97-AF65-F5344CB8AC3E}">
        <p14:creationId xmlns:p14="http://schemas.microsoft.com/office/powerpoint/2010/main" val="1855034368"/>
      </p:ext>
    </p:extLst>
  </p:cSld>
</p:sld>
</file>

<file path=ppt/slides/slide9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75AE06-DE19-42E8-AEC7-BF0C3F5B3BC2}"/>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A7381351-7D7C-475E-8A5A-6AB9F9F14BB4}"/>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A17  동료가 작은 변경 확인</a:t>
            </a:r>
          </a:p>
        </p:txBody>
      </p:sp>
      <p:sp>
        <p:nvSpPr>
          <p:cNvPr id="3" name="">
            <a:extLst xmlns:a="http://schemas.openxmlformats.org/drawingml/2006/main">
              <a:ext uri="{FF2B5EF4-FFF2-40B4-BE49-F238E27FC236}">
                <a16:creationId xmlns:a16="http://schemas.microsoft.com/office/drawing/2014/main" id="{4A45C4BB-415E-4822-B6E2-3108421912EA}"/>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변경한 파일과 역할을 연결해 읽습니다.</a:t>
            </a:r>
          </a:p>
        </p:txBody>
      </p:sp>
      <p:sp>
        <p:nvSpPr>
          <p:cNvPr id="4" name="">
            <a:extLst xmlns:a="http://schemas.openxmlformats.org/drawingml/2006/main">
              <a:ext uri="{FF2B5EF4-FFF2-40B4-BE49-F238E27FC236}">
                <a16:creationId xmlns:a16="http://schemas.microsoft.com/office/drawing/2014/main" id="{B6374D4A-0CF7-4C7D-AEF3-EFDA3E8698A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같은 입력과 행동으로 결과를 확인합니다.</a:t>
            </a:r>
          </a:p>
        </p:txBody>
      </p:sp>
      <p:sp>
        <p:nvSpPr>
          <p:cNvPr id="5" name="">
            <a:extLst xmlns:a="http://schemas.openxmlformats.org/drawingml/2006/main">
              <a:ext uri="{FF2B5EF4-FFF2-40B4-BE49-F238E27FC236}">
                <a16:creationId xmlns:a16="http://schemas.microsoft.com/office/drawing/2014/main" id="{B8A8D657-F19E-481A-993F-4141A0A96B4C}"/>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92</a:t>
            </a:r>
          </a:p>
        </p:txBody>
      </p:sp>
    </p:spTree>
    <p:extLst>
      <p:ext uri="{BB962C8B-B14F-4D97-AF65-F5344CB8AC3E}">
        <p14:creationId xmlns:p14="http://schemas.microsoft.com/office/powerpoint/2010/main" val="1144345765"/>
      </p:ext>
    </p:extLst>
  </p:cSld>
</p:sld>
</file>

<file path=ppt/slides/slide9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CA4049-CDA7-468A-94DD-82B8F45F751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E223EF17-B2DE-4B2D-809F-24786E3F14E7}"/>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동료가 작은 변경 확인의 예</a:t>
            </a:r>
          </a:p>
        </p:txBody>
      </p:sp>
      <p:graphicFrame>
        <p:nvGraphicFramePr>
          <p:cNvPr id="8" name=""/>
          <p:cNvGraphicFramePr/>
          <p:nvPr/>
        </p:nvGraphicFramePr>
        <p:xfrm>
          <a:off xmlns:a="http://schemas.openxmlformats.org/drawingml/2006/main" x="762000" y="2333625"/>
          <a:ext xmlns:a="http://schemas.openxmlformats.org/drawingml/2006/main" cx="10668000" cy="3619500"/>
        </p:xfrm>
        <a:graphic xmlns:a="http://schemas.openxmlformats.org/drawingml/2006/main">
          <a:graphicData uri="http://schemas.openxmlformats.org/drawingml/2006/table">
            <a:tbl>
              <a:tblPr firstRow="1" bandRow="0"/>
              <a:tblGrid>
                <a:gridCol w="5334000"/>
                <a:gridCol w="5334000"/>
              </a:tblGrid>
              <a:tr h="723900">
                <a:tc>
                  <a:txBody>
                    <a:bodyPr wrap="square"/>
                    <a:lstStyle/>
                    <a:p>
                      <a:pPr>
                        <a:lnSpc>
                          <a:spcPct val="93000"/>
                        </a:lnSpc>
                        <a:buNone/>
                      </a:pPr>
                      <a:r>
                        <a:rPr sz="2100" b="1">
                          <a:solidFill>
                            <a:srgbClr val="FFFFFF"/>
                          </a:solidFill>
                          <a:latin typeface="Malgun Gothic"/>
                          <a:ea typeface="Malgun Gothic"/>
                          <a:cs typeface="Malgun Gothic"/>
                        </a:rPr>
                        <a:t>파일·값</a:t>
                      </a:r>
                    </a:p>
                  </a:txBody>
                  <a:tcPr marL="114300" marR="114300" marT="47625" marB="47625" anchor="ctr">
                    <a:solidFill>
                      <a:srgbClr val="137A72"/>
                    </a:solidFill>
                  </a:tcPr>
                </a:tc>
                <a:tc>
                  <a:txBody>
                    <a:bodyPr wrap="square"/>
                    <a:lstStyle/>
                    <a:p>
                      <a:pPr>
                        <a:lnSpc>
                          <a:spcPct val="93000"/>
                        </a:lnSpc>
                        <a:buNone/>
                      </a:pPr>
                      <a:r>
                        <a:rPr sz="2100" b="1">
                          <a:solidFill>
                            <a:srgbClr val="FFFFFF"/>
                          </a:solidFill>
                          <a:latin typeface="Malgun Gothic"/>
                          <a:ea typeface="Malgun Gothic"/>
                          <a:cs typeface="Malgun Gothic"/>
                        </a:rPr>
                        <a:t>역할</a:t>
                      </a:r>
                    </a:p>
                  </a:txBody>
                  <a:tcPr marL="114300" marR="114300" marT="47625" marB="47625" anchor="ctr">
                    <a:solidFill>
                      <a:srgbClr val="137A72"/>
                    </a:solidFill>
                  </a:tcPr>
                </a:tc>
              </a:tr>
              <a:tr h="723900">
                <a:tc>
                  <a:txBody>
                    <a:bodyPr wrap="square"/>
                    <a:lstStyle/>
                    <a:p>
                      <a:pPr>
                        <a:lnSpc>
                          <a:spcPct val="93000"/>
                        </a:lnSpc>
                        <a:buNone/>
                      </a:pPr>
                      <a:r>
                        <a:rPr sz="2100" b="0">
                          <a:solidFill>
                            <a:srgbClr val="183D38"/>
                          </a:solidFill>
                          <a:latin typeface="Malgun Gothic"/>
                          <a:ea typeface="Malgun Gothic"/>
                          <a:cs typeface="Malgun Gothic"/>
                        </a:rPr>
                        <a:t>HTML h1</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문서 내용</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CSS 색</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표시 모양</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React state</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현재 화면 값</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MCP 응답</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서버 조회 결과</a:t>
                      </a:r>
                    </a:p>
                  </a:txBody>
                  <a:tcPr marL="114300" marR="114300" marT="47625" marB="47625" anchor="ctr">
                    <a:solidFill>
                      <a:srgbClr val="F8F7F2"/>
                    </a:solidFill>
                  </a:tcPr>
                </a:tc>
              </a:tr>
            </a:tbl>
          </a:graphicData>
        </a:graphic>
      </p:graphicFrame>
      <p:sp>
        <p:nvSpPr>
          <p:cNvPr id="4" name="">
            <a:extLst xmlns:a="http://schemas.openxmlformats.org/drawingml/2006/main">
              <a:ext uri="{FF2B5EF4-FFF2-40B4-BE49-F238E27FC236}">
                <a16:creationId xmlns:a16="http://schemas.microsoft.com/office/drawing/2014/main" id="{EFC77AFC-236E-4FD9-A28E-F6D6E4A84EA5}"/>
              </a:ext>
            </a:extLst>
          </p:cNvPr>
          <p:cNvSpPr>
            <a:spLocks xmlns:a="http://schemas.openxmlformats.org/drawingml/2006/main" noGrp="1"/>
          </p:cNvSpPr>
          <p:nvPr/>
        </p:nvSpPr>
        <p:spPr>
          <a:xfrm xmlns:a="http://schemas.openxmlformats.org/drawingml/2006/main">
            <a:off x="762000" y="60579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37A72"/>
                </a:solidFill>
                <a:latin typeface="Malgun Gothic"/>
                <a:ea typeface="Malgun Gothic"/>
                <a:cs typeface="Malgun Gothic"/>
              </a:defRPr>
            </a:pPr>
            <a:r>
              <a:rPr sz="1800" b="0">
                <a:solidFill>
                  <a:srgbClr val="137A72"/>
                </a:solidFill>
                <a:latin typeface="Malgun Gothic"/>
                <a:ea typeface="Malgun Gothic"/>
                <a:cs typeface="Malgun Gothic"/>
              </a:rPr>
              <a:t>한 역할씩 바꾸어 원인을 설명합니다.</a:t>
            </a:r>
          </a:p>
        </p:txBody>
      </p:sp>
      <p:sp>
        <p:nvSpPr>
          <p:cNvPr id="5" name="">
            <a:extLst xmlns:a="http://schemas.openxmlformats.org/drawingml/2006/main">
              <a:ext uri="{FF2B5EF4-FFF2-40B4-BE49-F238E27FC236}">
                <a16:creationId xmlns:a16="http://schemas.microsoft.com/office/drawing/2014/main" id="{E958204A-032A-4DC2-A2B2-F6EB94AB6EE5}"/>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93</a:t>
            </a:r>
          </a:p>
        </p:txBody>
      </p:sp>
    </p:spTree>
    <p:extLst>
      <p:ext uri="{BB962C8B-B14F-4D97-AF65-F5344CB8AC3E}">
        <p14:creationId xmlns:p14="http://schemas.microsoft.com/office/powerpoint/2010/main" val="1497706471"/>
      </p:ext>
    </p:extLst>
  </p:cSld>
</p:sld>
</file>

<file path=ppt/slides/slide9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3CDE25-819F-43C5-AFBF-3925D346B958}"/>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6BBCBE48-5755-4339-8371-00C6DC168CE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변경의 근거</a:t>
            </a:r>
          </a:p>
        </p:txBody>
      </p:sp>
      <p:sp>
        <p:nvSpPr>
          <p:cNvPr id="3" name="">
            <a:extLst xmlns:a="http://schemas.openxmlformats.org/drawingml/2006/main">
              <a:ext uri="{FF2B5EF4-FFF2-40B4-BE49-F238E27FC236}">
                <a16:creationId xmlns:a16="http://schemas.microsoft.com/office/drawing/2014/main" id="{F797DB43-4B77-4AF5-9E00-8524513FDA50}"/>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동료 코드를 먼저 덮어쓰지 않습니다.</a:t>
            </a:r>
          </a:p>
        </p:txBody>
      </p:sp>
      <p:sp>
        <p:nvSpPr>
          <p:cNvPr id="4" name="">
            <a:extLst xmlns:a="http://schemas.openxmlformats.org/drawingml/2006/main">
              <a:ext uri="{FF2B5EF4-FFF2-40B4-BE49-F238E27FC236}">
                <a16:creationId xmlns:a16="http://schemas.microsoft.com/office/drawing/2014/main" id="{F22DAA22-BD67-4963-B0A8-A644422D7249}"/>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경로·기대·실제를 묶어 제안합니다.</a:t>
            </a:r>
          </a:p>
        </p:txBody>
      </p:sp>
      <p:sp>
        <p:nvSpPr>
          <p:cNvPr id="5" name="">
            <a:extLst xmlns:a="http://schemas.openxmlformats.org/drawingml/2006/main">
              <a:ext uri="{FF2B5EF4-FFF2-40B4-BE49-F238E27FC236}">
                <a16:creationId xmlns:a16="http://schemas.microsoft.com/office/drawing/2014/main" id="{45A19CD2-5278-4612-83A6-71A53D0E83FA}"/>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94</a:t>
            </a:r>
          </a:p>
        </p:txBody>
      </p:sp>
    </p:spTree>
    <p:extLst>
      <p:ext uri="{BB962C8B-B14F-4D97-AF65-F5344CB8AC3E}">
        <p14:creationId xmlns:p14="http://schemas.microsoft.com/office/powerpoint/2010/main" val="1847666917"/>
      </p:ext>
    </p:extLst>
  </p:cSld>
</p:sld>
</file>

<file path=ppt/slides/slide9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9F9767-4665-49EB-AEC3-49E39ED1921C}"/>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73C8B2CF-2DA1-4876-A5DE-FBFF47482B8D}"/>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같은 화면의 다른 역할</a:t>
            </a:r>
          </a:p>
        </p:txBody>
      </p:sp>
      <p:sp>
        <p:nvSpPr>
          <p:cNvPr id="3" name="">
            <a:extLst xmlns:a="http://schemas.openxmlformats.org/drawingml/2006/main">
              <a:ext uri="{FF2B5EF4-FFF2-40B4-BE49-F238E27FC236}">
                <a16:creationId xmlns:a16="http://schemas.microsoft.com/office/drawing/2014/main" id="{2C07013A-A84E-4189-BBE6-7674D3394827}"/>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색·온도·응답은 각각 무엇을 바꾸나요?</a:t>
            </a:r>
          </a:p>
        </p:txBody>
      </p:sp>
      <p:sp>
        <p:nvSpPr>
          <p:cNvPr id="4" name="">
            <a:extLst xmlns:a="http://schemas.openxmlformats.org/drawingml/2006/main">
              <a:ext uri="{FF2B5EF4-FFF2-40B4-BE49-F238E27FC236}">
                <a16:creationId xmlns:a16="http://schemas.microsoft.com/office/drawing/2014/main" id="{745D384D-B200-4A81-8883-53763AB5386D}"/>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95</a:t>
            </a:r>
          </a:p>
        </p:txBody>
      </p:sp>
    </p:spTree>
    <p:extLst>
      <p:ext uri="{BB962C8B-B14F-4D97-AF65-F5344CB8AC3E}">
        <p14:creationId xmlns:p14="http://schemas.microsoft.com/office/powerpoint/2010/main" val="1949635717"/>
      </p:ext>
    </p:extLst>
  </p:cSld>
</p:sld>
</file>

<file path=ppt/slides/slide9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95AE90-CE68-428D-8377-648071C8921B}"/>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0C9BBCCA-FF03-468D-AF84-A92DDE10228D}"/>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A18  결과와 다음 확인</a:t>
            </a:r>
          </a:p>
        </p:txBody>
      </p:sp>
      <p:sp>
        <p:nvSpPr>
          <p:cNvPr id="3" name="">
            <a:extLst xmlns:a="http://schemas.openxmlformats.org/drawingml/2006/main">
              <a:ext uri="{FF2B5EF4-FFF2-40B4-BE49-F238E27FC236}">
                <a16:creationId xmlns:a16="http://schemas.microsoft.com/office/drawing/2014/main" id="{5E088329-EFA2-4B65-AC00-6C3C2D0CF27E}"/>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파일·명령·출력·화면을 연결해 보고합니다.</a:t>
            </a:r>
          </a:p>
        </p:txBody>
      </p:sp>
      <p:sp>
        <p:nvSpPr>
          <p:cNvPr id="4" name="">
            <a:extLst xmlns:a="http://schemas.openxmlformats.org/drawingml/2006/main">
              <a:ext uri="{FF2B5EF4-FFF2-40B4-BE49-F238E27FC236}">
                <a16:creationId xmlns:a16="http://schemas.microsoft.com/office/drawing/2014/main" id="{18B40B20-2DFF-4A01-BEEA-14CE480DF0B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실제 장비와 호스트 연결은 따로 확인합니다.</a:t>
            </a:r>
          </a:p>
        </p:txBody>
      </p:sp>
      <p:sp>
        <p:nvSpPr>
          <p:cNvPr id="5" name="">
            <a:extLst xmlns:a="http://schemas.openxmlformats.org/drawingml/2006/main">
              <a:ext uri="{FF2B5EF4-FFF2-40B4-BE49-F238E27FC236}">
                <a16:creationId xmlns:a16="http://schemas.microsoft.com/office/drawing/2014/main" id="{10C608E3-F4DE-4B89-AFB9-E971465280CA}"/>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96</a:t>
            </a:r>
          </a:p>
        </p:txBody>
      </p:sp>
    </p:spTree>
    <p:extLst>
      <p:ext uri="{BB962C8B-B14F-4D97-AF65-F5344CB8AC3E}">
        <p14:creationId xmlns:p14="http://schemas.microsoft.com/office/powerpoint/2010/main" val="417536773"/>
      </p:ext>
    </p:extLst>
  </p:cSld>
</p:sld>
</file>

<file path=ppt/slides/slide9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A6D0BC-0B9E-4092-82A1-E053A28BFC06}"/>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798BA00B-0007-47F0-96A4-215B3AB9377A}"/>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결과와 다음 확인의 예</a:t>
            </a:r>
          </a:p>
        </p:txBody>
      </p:sp>
      <p:graphicFrame>
        <p:nvGraphicFramePr>
          <p:cNvPr id="8" name=""/>
          <p:cNvGraphicFramePr/>
          <p:nvPr/>
        </p:nvGraphicFramePr>
        <p:xfrm>
          <a:off xmlns:a="http://schemas.openxmlformats.org/drawingml/2006/main" x="762000" y="2333625"/>
          <a:ext xmlns:a="http://schemas.openxmlformats.org/drawingml/2006/main" cx="10668000" cy="2895600"/>
        </p:xfrm>
        <a:graphic xmlns:a="http://schemas.openxmlformats.org/drawingml/2006/main">
          <a:graphicData uri="http://schemas.openxmlformats.org/drawingml/2006/table">
            <a:tbl>
              <a:tblPr firstRow="1" bandRow="0"/>
              <a:tblGrid>
                <a:gridCol w="5334000"/>
                <a:gridCol w="5334000"/>
              </a:tblGrid>
              <a:tr h="723900">
                <a:tc>
                  <a:txBody>
                    <a:bodyPr wrap="square"/>
                    <a:lstStyle/>
                    <a:p>
                      <a:pPr>
                        <a:lnSpc>
                          <a:spcPct val="93000"/>
                        </a:lnSpc>
                        <a:buNone/>
                      </a:pPr>
                      <a:r>
                        <a:rPr sz="2100" b="1">
                          <a:solidFill>
                            <a:srgbClr val="FFFFFF"/>
                          </a:solidFill>
                          <a:latin typeface="Malgun Gothic"/>
                          <a:ea typeface="Malgun Gothic"/>
                          <a:cs typeface="Malgun Gothic"/>
                        </a:rPr>
                        <a:t>현재 확인</a:t>
                      </a:r>
                    </a:p>
                  </a:txBody>
                  <a:tcPr marL="114300" marR="114300" marT="47625" marB="47625" anchor="ctr">
                    <a:solidFill>
                      <a:srgbClr val="137A72"/>
                    </a:solidFill>
                  </a:tcPr>
                </a:tc>
                <a:tc>
                  <a:txBody>
                    <a:bodyPr wrap="square"/>
                    <a:lstStyle/>
                    <a:p>
                      <a:pPr>
                        <a:lnSpc>
                          <a:spcPct val="93000"/>
                        </a:lnSpc>
                        <a:buNone/>
                      </a:pPr>
                      <a:r>
                        <a:rPr sz="2100" b="1">
                          <a:solidFill>
                            <a:srgbClr val="FFFFFF"/>
                          </a:solidFill>
                          <a:latin typeface="Malgun Gothic"/>
                          <a:ea typeface="Malgun Gothic"/>
                          <a:cs typeface="Malgun Gothic"/>
                        </a:rPr>
                        <a:t>미확인</a:t>
                      </a:r>
                    </a:p>
                  </a:txBody>
                  <a:tcPr marL="114300" marR="114300" marT="47625" marB="47625" anchor="ctr">
                    <a:solidFill>
                      <a:srgbClr val="137A72"/>
                    </a:solidFill>
                  </a:tcPr>
                </a:tc>
              </a:tr>
              <a:tr h="723900">
                <a:tc>
                  <a:txBody>
                    <a:bodyPr wrap="square"/>
                    <a:lstStyle/>
                    <a:p>
                      <a:pPr>
                        <a:lnSpc>
                          <a:spcPct val="93000"/>
                        </a:lnSpc>
                        <a:buNone/>
                      </a:pPr>
                      <a:r>
                        <a:rPr sz="2100" b="0">
                          <a:solidFill>
                            <a:srgbClr val="183D38"/>
                          </a:solidFill>
                          <a:latin typeface="Malgun Gothic"/>
                          <a:ea typeface="Malgun Gothic"/>
                          <a:cs typeface="Malgun Gothic"/>
                        </a:rPr>
                        <a:t>제공 React 번들</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전체 빌드 환경</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로컬 STDIO</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실제 AI 호스트</a:t>
                      </a:r>
                    </a:p>
                  </a:txBody>
                  <a:tcPr marL="114300" marR="114300" marT="47625" marB="47625" anchor="ctr">
                    <a:solidFill>
                      <a:srgbClr val="F8F7F2"/>
                    </a:solidFill>
                  </a:tcPr>
                </a:tc>
              </a:tr>
              <a:tr h="723900">
                <a:tc>
                  <a:txBody>
                    <a:bodyPr wrap="square"/>
                    <a:lstStyle/>
                    <a:p>
                      <a:pPr>
                        <a:lnSpc>
                          <a:spcPct val="93000"/>
                        </a:lnSpc>
                        <a:buNone/>
                      </a:pPr>
                      <a:r>
                        <a:rPr sz="2100" b="0">
                          <a:solidFill>
                            <a:srgbClr val="183D38"/>
                          </a:solidFill>
                          <a:latin typeface="Malgun Gothic"/>
                          <a:ea typeface="Malgun Gothic"/>
                          <a:cs typeface="Malgun Gothic"/>
                        </a:rPr>
                        <a:t>가상 데이터</a:t>
                      </a:r>
                    </a:p>
                  </a:txBody>
                  <a:tcPr marL="114300" marR="114300" marT="47625" marB="47625" anchor="ctr">
                    <a:solidFill>
                      <a:srgbClr val="F8F7F2"/>
                    </a:solidFill>
                  </a:tcPr>
                </a:tc>
                <a:tc>
                  <a:txBody>
                    <a:bodyPr wrap="square"/>
                    <a:lstStyle/>
                    <a:p>
                      <a:pPr>
                        <a:lnSpc>
                          <a:spcPct val="93000"/>
                        </a:lnSpc>
                        <a:buNone/>
                      </a:pPr>
                      <a:r>
                        <a:rPr sz="2100" b="0">
                          <a:solidFill>
                            <a:srgbClr val="183D38"/>
                          </a:solidFill>
                          <a:latin typeface="Malgun Gothic"/>
                          <a:ea typeface="Malgun Gothic"/>
                          <a:cs typeface="Malgun Gothic"/>
                        </a:rPr>
                        <a:t>실물 센서</a:t>
                      </a:r>
                    </a:p>
                  </a:txBody>
                  <a:tcPr marL="114300" marR="114300" marT="47625" marB="47625" anchor="ctr">
                    <a:solidFill>
                      <a:srgbClr val="F8F7F2"/>
                    </a:solidFill>
                  </a:tcPr>
                </a:tc>
              </a:tr>
            </a:tbl>
          </a:graphicData>
        </a:graphic>
      </p:graphicFrame>
      <p:sp>
        <p:nvSpPr>
          <p:cNvPr id="4" name="">
            <a:extLst xmlns:a="http://schemas.openxmlformats.org/drawingml/2006/main">
              <a:ext uri="{FF2B5EF4-FFF2-40B4-BE49-F238E27FC236}">
                <a16:creationId xmlns:a16="http://schemas.microsoft.com/office/drawing/2014/main" id="{E3A18FE1-F6C4-40BD-9E64-5D8BDE5F4329}"/>
              </a:ext>
            </a:extLst>
          </p:cNvPr>
          <p:cNvSpPr>
            <a:spLocks xmlns:a="http://schemas.openxmlformats.org/drawingml/2006/main" noGrp="1"/>
          </p:cNvSpPr>
          <p:nvPr/>
        </p:nvSpPr>
        <p:spPr>
          <a:xfrm xmlns:a="http://schemas.openxmlformats.org/drawingml/2006/main">
            <a:off x="762000" y="60579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37A72"/>
                </a:solidFill>
                <a:latin typeface="Malgun Gothic"/>
                <a:ea typeface="Malgun Gothic"/>
                <a:cs typeface="Malgun Gothic"/>
              </a:defRPr>
            </a:pPr>
            <a:r>
              <a:rPr sz="1800" b="0">
                <a:solidFill>
                  <a:srgbClr val="137A72"/>
                </a:solidFill>
                <a:latin typeface="Malgun Gothic"/>
                <a:ea typeface="Malgun Gothic"/>
                <a:cs typeface="Malgun Gothic"/>
              </a:rPr>
              <a:t>실행과 시연 관찰을 구별합니다.</a:t>
            </a:r>
          </a:p>
        </p:txBody>
      </p:sp>
      <p:sp>
        <p:nvSpPr>
          <p:cNvPr id="5" name="">
            <a:extLst xmlns:a="http://schemas.openxmlformats.org/drawingml/2006/main">
              <a:ext uri="{FF2B5EF4-FFF2-40B4-BE49-F238E27FC236}">
                <a16:creationId xmlns:a16="http://schemas.microsoft.com/office/drawing/2014/main" id="{F0D34ADF-3BDE-4813-92E3-3AD10BAFD7A1}"/>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97</a:t>
            </a:r>
          </a:p>
        </p:txBody>
      </p:sp>
    </p:spTree>
    <p:extLst>
      <p:ext uri="{BB962C8B-B14F-4D97-AF65-F5344CB8AC3E}">
        <p14:creationId xmlns:p14="http://schemas.microsoft.com/office/powerpoint/2010/main" val="1223516999"/>
      </p:ext>
    </p:extLst>
  </p:cSld>
</p:sld>
</file>

<file path=ppt/slides/slide9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86EE71-B40F-4BCC-813F-28DEE30709AC}"/>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B0A5AD9B-636E-49B2-96DD-8E237D5EB672}"/>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인수인계 범위</a:t>
            </a:r>
          </a:p>
        </p:txBody>
      </p:sp>
      <p:sp>
        <p:nvSpPr>
          <p:cNvPr id="3" name="">
            <a:extLst xmlns:a="http://schemas.openxmlformats.org/drawingml/2006/main">
              <a:ext uri="{FF2B5EF4-FFF2-40B4-BE49-F238E27FC236}">
                <a16:creationId xmlns:a16="http://schemas.microsoft.com/office/drawing/2014/main" id="{F8B2413E-38C1-4DA3-B2FA-44AA1A93B7E4}"/>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누가 같은 결과를 재현할지 생각합니다.</a:t>
            </a:r>
          </a:p>
        </p:txBody>
      </p:sp>
      <p:sp>
        <p:nvSpPr>
          <p:cNvPr id="4" name="">
            <a:extLst xmlns:a="http://schemas.openxmlformats.org/drawingml/2006/main">
              <a:ext uri="{FF2B5EF4-FFF2-40B4-BE49-F238E27FC236}">
                <a16:creationId xmlns:a16="http://schemas.microsoft.com/office/drawing/2014/main" id="{1A548DE8-E36B-484A-8120-13804A9E703D}"/>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단위·누락·오류와 남은 연결을 적습니다.</a:t>
            </a:r>
          </a:p>
        </p:txBody>
      </p:sp>
      <p:sp>
        <p:nvSpPr>
          <p:cNvPr id="5" name="">
            <a:extLst xmlns:a="http://schemas.openxmlformats.org/drawingml/2006/main">
              <a:ext uri="{FF2B5EF4-FFF2-40B4-BE49-F238E27FC236}">
                <a16:creationId xmlns:a16="http://schemas.microsoft.com/office/drawing/2014/main" id="{862240B0-F7B9-411D-BFEF-ABC72F167655}"/>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98</a:t>
            </a:r>
          </a:p>
        </p:txBody>
      </p:sp>
    </p:spTree>
    <p:extLst>
      <p:ext uri="{BB962C8B-B14F-4D97-AF65-F5344CB8AC3E}">
        <p14:creationId xmlns:p14="http://schemas.microsoft.com/office/powerpoint/2010/main" val="869055175"/>
      </p:ext>
    </p:extLst>
  </p:cSld>
</p:sld>
</file>

<file path=ppt/slides/slide9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F28C0E-6D90-43F0-91A3-23FFF44C3F4C}"/>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D33674DF-1810-454E-A274-4C607247279C}"/>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최소 전달 묶음</a:t>
            </a:r>
          </a:p>
        </p:txBody>
      </p:sp>
      <p:sp>
        <p:nvSpPr>
          <p:cNvPr id="3" name="">
            <a:extLst xmlns:a="http://schemas.openxmlformats.org/drawingml/2006/main">
              <a:ext uri="{FF2B5EF4-FFF2-40B4-BE49-F238E27FC236}">
                <a16:creationId xmlns:a16="http://schemas.microsoft.com/office/drawing/2014/main" id="{6897B52D-2632-4C6C-B0F9-A46880106F73}"/>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동료가 다시 확인하려면 무엇이 필요한가요?</a:t>
            </a:r>
          </a:p>
        </p:txBody>
      </p:sp>
      <p:sp>
        <p:nvSpPr>
          <p:cNvPr id="4" name="">
            <a:extLst xmlns:a="http://schemas.openxmlformats.org/drawingml/2006/main">
              <a:ext uri="{FF2B5EF4-FFF2-40B4-BE49-F238E27FC236}">
                <a16:creationId xmlns:a16="http://schemas.microsoft.com/office/drawing/2014/main" id="{BFE90748-4969-41EC-BE8E-4ACCC06BFC6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99</a:t>
            </a:r>
          </a:p>
        </p:txBody>
      </p:sp>
    </p:spTree>
    <p:extLst>
      <p:ext uri="{BB962C8B-B14F-4D97-AF65-F5344CB8AC3E}">
        <p14:creationId xmlns:p14="http://schemas.microsoft.com/office/powerpoint/2010/main" val="1012934542"/>
      </p:ext>
    </p:extLst>
  </p:cSld>
</p:sld>
</file>

<file path=ppt/slides/slide10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C5090A-8890-44C1-B2A6-66C84E52C57A}"/>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1교시</a:t>
            </a:r>
          </a:p>
        </p:txBody>
      </p:sp>
      <p:sp>
        <p:nvSpPr>
          <p:cNvPr id="2" name="">
            <a:extLst xmlns:a="http://schemas.openxmlformats.org/drawingml/2006/main">
              <a:ext uri="{FF2B5EF4-FFF2-40B4-BE49-F238E27FC236}">
                <a16:creationId xmlns:a16="http://schemas.microsoft.com/office/drawing/2014/main" id="{058EAF21-24EF-4D75-9227-C13EC80B0758}"/>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추가 복습 1  새 상황 적용</a:t>
            </a:r>
          </a:p>
        </p:txBody>
      </p:sp>
      <p:sp>
        <p:nvSpPr>
          <p:cNvPr id="3" name="">
            <a:extLst xmlns:a="http://schemas.openxmlformats.org/drawingml/2006/main">
              <a:ext uri="{FF2B5EF4-FFF2-40B4-BE49-F238E27FC236}">
                <a16:creationId xmlns:a16="http://schemas.microsoft.com/office/drawing/2014/main" id="{BDEE9DFE-CF28-4B4C-B0FF-4C7A06ED5D9E}"/>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탭·본문 제목·버튼 문구를 바꿉니다.</a:t>
            </a:r>
          </a:p>
        </p:txBody>
      </p:sp>
      <p:sp>
        <p:nvSpPr>
          <p:cNvPr id="4" name="">
            <a:extLst xmlns:a="http://schemas.openxmlformats.org/drawingml/2006/main">
              <a:ext uri="{FF2B5EF4-FFF2-40B4-BE49-F238E27FC236}">
                <a16:creationId xmlns:a16="http://schemas.microsoft.com/office/drawing/2014/main" id="{245A35BF-205E-45DE-B5A0-3374D915DCE6}"/>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내부 id를 유지할 수정 위치를 쓰세요.</a:t>
            </a:r>
          </a:p>
        </p:txBody>
      </p:sp>
      <p:sp>
        <p:nvSpPr>
          <p:cNvPr id="5" name="">
            <a:extLst xmlns:a="http://schemas.openxmlformats.org/drawingml/2006/main">
              <a:ext uri="{FF2B5EF4-FFF2-40B4-BE49-F238E27FC236}">
                <a16:creationId xmlns:a16="http://schemas.microsoft.com/office/drawing/2014/main" id="{107FD736-3802-4535-BE37-A7F5642001C9}"/>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100</a:t>
            </a:r>
          </a:p>
        </p:txBody>
      </p:sp>
    </p:spTree>
    <p:extLst>
      <p:ext uri="{BB962C8B-B14F-4D97-AF65-F5344CB8AC3E}">
        <p14:creationId xmlns:p14="http://schemas.microsoft.com/office/powerpoint/2010/main" val="875598710"/>
      </p:ext>
    </p:extLst>
  </p:cSld>
</p:sld>
</file>

<file path=ppt/slides/slide10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4CAD4A-D181-4571-AF7A-2443848F2F67}"/>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2교시</a:t>
            </a:r>
          </a:p>
        </p:txBody>
      </p:sp>
      <p:sp>
        <p:nvSpPr>
          <p:cNvPr id="2" name="">
            <a:extLst xmlns:a="http://schemas.openxmlformats.org/drawingml/2006/main">
              <a:ext uri="{FF2B5EF4-FFF2-40B4-BE49-F238E27FC236}">
                <a16:creationId xmlns:a16="http://schemas.microsoft.com/office/drawing/2014/main" id="{81F5040E-4417-4EC2-9282-5AF7F37B3AAC}"/>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추가 복습 2  새 상황 적용</a:t>
            </a:r>
          </a:p>
        </p:txBody>
      </p:sp>
      <p:sp>
        <p:nvSpPr>
          <p:cNvPr id="3" name="">
            <a:extLst xmlns:a="http://schemas.openxmlformats.org/drawingml/2006/main">
              <a:ext uri="{FF2B5EF4-FFF2-40B4-BE49-F238E27FC236}">
                <a16:creationId xmlns:a16="http://schemas.microsoft.com/office/drawing/2014/main" id="{7FB8849D-B518-4893-ACDB-8CBDF6ED850A}"/>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글자 주변 공간만 넓히려 합니다.</a:t>
            </a:r>
          </a:p>
        </p:txBody>
      </p:sp>
      <p:sp>
        <p:nvSpPr>
          <p:cNvPr id="4" name="">
            <a:extLst xmlns:a="http://schemas.openxmlformats.org/drawingml/2006/main">
              <a:ext uri="{FF2B5EF4-FFF2-40B4-BE49-F238E27FC236}">
                <a16:creationId xmlns:a16="http://schemas.microsoft.com/office/drawing/2014/main" id="{55F33F17-D542-4AF8-AD29-7A493A893E05}"/>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속성과 색 외 상태 문구를 고르세요.</a:t>
            </a:r>
          </a:p>
        </p:txBody>
      </p:sp>
      <p:sp>
        <p:nvSpPr>
          <p:cNvPr id="5" name="">
            <a:extLst xmlns:a="http://schemas.openxmlformats.org/drawingml/2006/main">
              <a:ext uri="{FF2B5EF4-FFF2-40B4-BE49-F238E27FC236}">
                <a16:creationId xmlns:a16="http://schemas.microsoft.com/office/drawing/2014/main" id="{4052583F-244B-4FE0-A703-E8D76B289C9E}"/>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101</a:t>
            </a:r>
          </a:p>
        </p:txBody>
      </p:sp>
    </p:spTree>
    <p:extLst>
      <p:ext uri="{BB962C8B-B14F-4D97-AF65-F5344CB8AC3E}">
        <p14:creationId xmlns:p14="http://schemas.microsoft.com/office/powerpoint/2010/main" val="1906474995"/>
      </p:ext>
    </p:extLst>
  </p:cSld>
</p:sld>
</file>

<file path=ppt/slides/slide10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113672-BB62-473F-B3FD-4003CE17B22B}"/>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3교시</a:t>
            </a:r>
          </a:p>
        </p:txBody>
      </p:sp>
      <p:sp>
        <p:nvSpPr>
          <p:cNvPr id="2" name="">
            <a:extLst xmlns:a="http://schemas.openxmlformats.org/drawingml/2006/main">
              <a:ext uri="{FF2B5EF4-FFF2-40B4-BE49-F238E27FC236}">
                <a16:creationId xmlns:a16="http://schemas.microsoft.com/office/drawing/2014/main" id="{A1AE5BF6-0B09-4E14-B5E2-F280249E231F}"/>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추가 복습 3  새 상황 적용</a:t>
            </a:r>
          </a:p>
        </p:txBody>
      </p:sp>
      <p:sp>
        <p:nvSpPr>
          <p:cNvPr id="3" name="">
            <a:extLst xmlns:a="http://schemas.openxmlformats.org/drawingml/2006/main">
              <a:ext uri="{FF2B5EF4-FFF2-40B4-BE49-F238E27FC236}">
                <a16:creationId xmlns:a16="http://schemas.microsoft.com/office/drawing/2014/main" id="{C88723BA-2EE8-42F4-863A-B0A657FFCE0A}"/>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HTML은 22.5, 데이터는 26입니다.</a:t>
            </a:r>
          </a:p>
        </p:txBody>
      </p:sp>
      <p:sp>
        <p:nvSpPr>
          <p:cNvPr id="4" name="">
            <a:extLst xmlns:a="http://schemas.openxmlformats.org/drawingml/2006/main">
              <a:ext uri="{FF2B5EF4-FFF2-40B4-BE49-F238E27FC236}">
                <a16:creationId xmlns:a16="http://schemas.microsoft.com/office/drawing/2014/main" id="{057F6503-83C1-46CC-B3B5-CD56473CAA63}"/>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열기와 클릭 결과, id 복구를 쓰세요.</a:t>
            </a:r>
          </a:p>
        </p:txBody>
      </p:sp>
      <p:sp>
        <p:nvSpPr>
          <p:cNvPr id="5" name="">
            <a:extLst xmlns:a="http://schemas.openxmlformats.org/drawingml/2006/main">
              <a:ext uri="{FF2B5EF4-FFF2-40B4-BE49-F238E27FC236}">
                <a16:creationId xmlns:a16="http://schemas.microsoft.com/office/drawing/2014/main" id="{0958610B-6B66-48C8-9683-CC5F3FB0B223}"/>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102</a:t>
            </a:r>
          </a:p>
        </p:txBody>
      </p:sp>
    </p:spTree>
    <p:extLst>
      <p:ext uri="{BB962C8B-B14F-4D97-AF65-F5344CB8AC3E}">
        <p14:creationId xmlns:p14="http://schemas.microsoft.com/office/powerpoint/2010/main" val="1278374674"/>
      </p:ext>
    </p:extLst>
  </p:cSld>
</p:sld>
</file>

<file path=ppt/slides/slide10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B989D3-4604-4F2A-9958-6AB27CE83F0D}"/>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4교시</a:t>
            </a:r>
          </a:p>
        </p:txBody>
      </p:sp>
      <p:sp>
        <p:nvSpPr>
          <p:cNvPr id="2" name="">
            <a:extLst xmlns:a="http://schemas.openxmlformats.org/drawingml/2006/main">
              <a:ext uri="{FF2B5EF4-FFF2-40B4-BE49-F238E27FC236}">
                <a16:creationId xmlns:a16="http://schemas.microsoft.com/office/drawing/2014/main" id="{BB996EFB-5015-455A-8064-D8939D1724EA}"/>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추가 복습 4  새 상황 적용</a:t>
            </a:r>
          </a:p>
        </p:txBody>
      </p:sp>
      <p:sp>
        <p:nvSpPr>
          <p:cNvPr id="3" name="">
            <a:extLst xmlns:a="http://schemas.openxmlformats.org/drawingml/2006/main">
              <a:ext uri="{FF2B5EF4-FFF2-40B4-BE49-F238E27FC236}">
                <a16:creationId xmlns:a16="http://schemas.microsoft.com/office/drawing/2014/main" id="{038E7237-9425-4676-BADC-FF0B0B54F808}"/>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JSX 소스만 바꾸고 번들은 그대로입니다.</a:t>
            </a:r>
          </a:p>
        </p:txBody>
      </p:sp>
      <p:sp>
        <p:nvSpPr>
          <p:cNvPr id="4" name="">
            <a:extLst xmlns:a="http://schemas.openxmlformats.org/drawingml/2006/main">
              <a:ext uri="{FF2B5EF4-FFF2-40B4-BE49-F238E27FC236}">
                <a16:creationId xmlns:a16="http://schemas.microsoft.com/office/drawing/2014/main" id="{3876E679-3FA5-4F2E-B25F-EE784886292F}"/>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화면 반영과 상태 초기화를 설명하세요.</a:t>
            </a:r>
          </a:p>
        </p:txBody>
      </p:sp>
      <p:sp>
        <p:nvSpPr>
          <p:cNvPr id="5" name="">
            <a:extLst xmlns:a="http://schemas.openxmlformats.org/drawingml/2006/main">
              <a:ext uri="{FF2B5EF4-FFF2-40B4-BE49-F238E27FC236}">
                <a16:creationId xmlns:a16="http://schemas.microsoft.com/office/drawing/2014/main" id="{39EB94F7-0A79-4E68-997B-11C7593B4C5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103</a:t>
            </a:r>
          </a:p>
        </p:txBody>
      </p:sp>
    </p:spTree>
    <p:extLst>
      <p:ext uri="{BB962C8B-B14F-4D97-AF65-F5344CB8AC3E}">
        <p14:creationId xmlns:p14="http://schemas.microsoft.com/office/powerpoint/2010/main" val="1402241243"/>
      </p:ext>
    </p:extLst>
  </p:cSld>
</p:sld>
</file>

<file path=ppt/slides/slide10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D43EC8-72F5-4225-B0D8-4EEF1A059A59}"/>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5교시</a:t>
            </a:r>
          </a:p>
        </p:txBody>
      </p:sp>
      <p:sp>
        <p:nvSpPr>
          <p:cNvPr id="2" name="">
            <a:extLst xmlns:a="http://schemas.openxmlformats.org/drawingml/2006/main">
              <a:ext uri="{FF2B5EF4-FFF2-40B4-BE49-F238E27FC236}">
                <a16:creationId xmlns:a16="http://schemas.microsoft.com/office/drawing/2014/main" id="{E4707382-71C1-4C82-9719-A11806F3DDF9}"/>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추가 복습 5  새 상황 적용</a:t>
            </a:r>
          </a:p>
        </p:txBody>
      </p:sp>
      <p:sp>
        <p:nvSpPr>
          <p:cNvPr id="3" name="">
            <a:extLst xmlns:a="http://schemas.openxmlformats.org/drawingml/2006/main">
              <a:ext uri="{FF2B5EF4-FFF2-40B4-BE49-F238E27FC236}">
                <a16:creationId xmlns:a16="http://schemas.microsoft.com/office/drawing/2014/main" id="{CF451104-D8F6-473B-8DC3-2D7687CB4C66}"/>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문서·데이터 파일·MCP의 출처를 비교하세요.</a:t>
            </a:r>
          </a:p>
        </p:txBody>
      </p:sp>
      <p:sp>
        <p:nvSpPr>
          <p:cNvPr id="4" name="">
            <a:extLst xmlns:a="http://schemas.openxmlformats.org/drawingml/2006/main">
              <a:ext uri="{FF2B5EF4-FFF2-40B4-BE49-F238E27FC236}">
                <a16:creationId xmlns:a16="http://schemas.microsoft.com/office/drawing/2014/main" id="{C9653808-C5C1-4BCC-B16A-C082C52C1CB0}"/>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조회에 필요한 권한도 판단하세요.</a:t>
            </a:r>
          </a:p>
        </p:txBody>
      </p:sp>
      <p:sp>
        <p:nvSpPr>
          <p:cNvPr id="5" name="">
            <a:extLst xmlns:a="http://schemas.openxmlformats.org/drawingml/2006/main">
              <a:ext uri="{FF2B5EF4-FFF2-40B4-BE49-F238E27FC236}">
                <a16:creationId xmlns:a16="http://schemas.microsoft.com/office/drawing/2014/main" id="{9B886A45-C628-4385-92A5-F74852B45E08}"/>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104</a:t>
            </a:r>
          </a:p>
        </p:txBody>
      </p:sp>
    </p:spTree>
    <p:extLst>
      <p:ext uri="{BB962C8B-B14F-4D97-AF65-F5344CB8AC3E}">
        <p14:creationId xmlns:p14="http://schemas.microsoft.com/office/powerpoint/2010/main" val="1593647489"/>
      </p:ext>
    </p:extLst>
  </p:cSld>
</p:sld>
</file>

<file path=ppt/slides/slide10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08C584-137D-4C7A-99B6-5B0DEF29634C}"/>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AD1F0B8A-B82F-45E2-A14C-211CBAD6E884}"/>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추가 복습 6  새 상황 적용</a:t>
            </a:r>
          </a:p>
        </p:txBody>
      </p:sp>
      <p:sp>
        <p:nvSpPr>
          <p:cNvPr id="3" name="">
            <a:extLst xmlns:a="http://schemas.openxmlformats.org/drawingml/2006/main">
              <a:ext uri="{FF2B5EF4-FFF2-40B4-BE49-F238E27FC236}">
                <a16:creationId xmlns:a16="http://schemas.microsoft.com/office/drawing/2014/main" id="{A3C319F5-EEDB-45E4-929B-56992362D1DB}"/>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0·null·isError 응답을 표시로 바꾸세요.</a:t>
            </a:r>
          </a:p>
        </p:txBody>
      </p:sp>
      <p:sp>
        <p:nvSpPr>
          <p:cNvPr id="4" name="">
            <a:extLst xmlns:a="http://schemas.openxmlformats.org/drawingml/2006/main">
              <a:ext uri="{FF2B5EF4-FFF2-40B4-BE49-F238E27FC236}">
                <a16:creationId xmlns:a16="http://schemas.microsoft.com/office/drawing/2014/main" id="{D454B64D-1B26-413A-8E0F-2513ECD877EF}"/>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응답과 화면 사이 처리를 설명하세요.</a:t>
            </a:r>
          </a:p>
        </p:txBody>
      </p:sp>
      <p:sp>
        <p:nvSpPr>
          <p:cNvPr id="5" name="">
            <a:extLst xmlns:a="http://schemas.openxmlformats.org/drawingml/2006/main">
              <a:ext uri="{FF2B5EF4-FFF2-40B4-BE49-F238E27FC236}">
                <a16:creationId xmlns:a16="http://schemas.microsoft.com/office/drawing/2014/main" id="{85B487AB-D42E-42B7-BE36-16824B99A8F3}"/>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105</a:t>
            </a:r>
          </a:p>
        </p:txBody>
      </p:sp>
    </p:spTree>
    <p:extLst>
      <p:ext uri="{BB962C8B-B14F-4D97-AF65-F5344CB8AC3E}">
        <p14:creationId xmlns:p14="http://schemas.microsoft.com/office/powerpoint/2010/main" val="1728615379"/>
      </p:ext>
    </p:extLst>
  </p:cSld>
</p:sld>
</file>

<file path=ppt/slides/slide10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2886D0-A7DC-4728-A41E-5424724136B3}"/>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60B89EEF-8589-4B68-8CD9-74425B45B5D0}"/>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오늘 확인한 증거</a:t>
            </a:r>
          </a:p>
        </p:txBody>
      </p:sp>
      <p:sp>
        <p:nvSpPr>
          <p:cNvPr id="3" name="">
            <a:extLst xmlns:a="http://schemas.openxmlformats.org/drawingml/2006/main">
              <a:ext uri="{FF2B5EF4-FFF2-40B4-BE49-F238E27FC236}">
                <a16:creationId xmlns:a16="http://schemas.microsoft.com/office/drawing/2014/main" id="{0DCECCFC-C44A-41D2-80D3-D2C6DFA1379C}"/>
              </a:ext>
            </a:extLst>
          </p:cNvPr>
          <p:cNvSpPr>
            <a:spLocks xmlns:a="http://schemas.openxmlformats.org/drawingml/2006/main" noGrp="1"/>
          </p:cNvSpPr>
          <p:nvPr/>
        </p:nvSpPr>
        <p:spPr>
          <a:xfrm xmlns:a="http://schemas.openxmlformats.org/drawingml/2006/main">
            <a:off x="762000" y="245745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변경한 파일과 목적을 적습니다.</a:t>
            </a:r>
          </a:p>
        </p:txBody>
      </p:sp>
      <p:sp>
        <p:nvSpPr>
          <p:cNvPr id="4" name="">
            <a:extLst xmlns:a="http://schemas.openxmlformats.org/drawingml/2006/main">
              <a:ext uri="{FF2B5EF4-FFF2-40B4-BE49-F238E27FC236}">
                <a16:creationId xmlns:a16="http://schemas.microsoft.com/office/drawing/2014/main" id="{6957FB3A-0957-42AD-8683-2205F0E708B9}"/>
              </a:ext>
            </a:extLst>
          </p:cNvPr>
          <p:cNvSpPr>
            <a:spLocks xmlns:a="http://schemas.openxmlformats.org/drawingml/2006/main" noGrp="1"/>
          </p:cNvSpPr>
          <p:nvPr/>
        </p:nvSpPr>
        <p:spPr>
          <a:xfrm xmlns:a="http://schemas.openxmlformats.org/drawingml/2006/main">
            <a:off x="762000" y="3419475"/>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입력·예상·실제 결과를 연결합니다.</a:t>
            </a:r>
          </a:p>
        </p:txBody>
      </p:sp>
      <p:sp>
        <p:nvSpPr>
          <p:cNvPr id="5" name="">
            <a:extLst xmlns:a="http://schemas.openxmlformats.org/drawingml/2006/main">
              <a:ext uri="{FF2B5EF4-FFF2-40B4-BE49-F238E27FC236}">
                <a16:creationId xmlns:a16="http://schemas.microsoft.com/office/drawing/2014/main" id="{12B29AC1-4A0D-4A78-B3F0-34FB9AAFFB13}"/>
              </a:ext>
            </a:extLst>
          </p:cNvPr>
          <p:cNvSpPr>
            <a:spLocks xmlns:a="http://schemas.openxmlformats.org/drawingml/2006/main" noGrp="1"/>
          </p:cNvSpPr>
          <p:nvPr/>
        </p:nvSpPr>
        <p:spPr>
          <a:xfrm xmlns:a="http://schemas.openxmlformats.org/drawingml/2006/main">
            <a:off x="762000" y="4381500"/>
            <a:ext cx="10648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3D38"/>
                </a:solidFill>
                <a:latin typeface="Malgun Gothic"/>
                <a:ea typeface="Malgun Gothic"/>
                <a:cs typeface="Malgun Gothic"/>
              </a:defRPr>
            </a:pPr>
            <a:r>
              <a:rPr sz="2850" b="0">
                <a:solidFill>
                  <a:srgbClr val="183D38"/>
                </a:solidFill>
                <a:latin typeface="Malgun Gothic"/>
                <a:ea typeface="Malgun Gothic"/>
                <a:cs typeface="Malgun Gothic"/>
              </a:rPr>
              <a:t>직접 실행과 관찰 방식을 구별합니다.</a:t>
            </a:r>
          </a:p>
        </p:txBody>
      </p:sp>
      <p:sp>
        <p:nvSpPr>
          <p:cNvPr id="6" name="">
            <a:extLst xmlns:a="http://schemas.openxmlformats.org/drawingml/2006/main">
              <a:ext uri="{FF2B5EF4-FFF2-40B4-BE49-F238E27FC236}">
                <a16:creationId xmlns:a16="http://schemas.microsoft.com/office/drawing/2014/main" id="{2FE66C58-6B64-466F-B6A9-6A191B880574}"/>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106</a:t>
            </a:r>
          </a:p>
        </p:txBody>
      </p:sp>
    </p:spTree>
    <p:extLst>
      <p:ext uri="{BB962C8B-B14F-4D97-AF65-F5344CB8AC3E}">
        <p14:creationId xmlns:p14="http://schemas.microsoft.com/office/powerpoint/2010/main" val="598095924"/>
      </p:ext>
    </p:extLst>
  </p:cSld>
</p:sld>
</file>

<file path=ppt/slides/slide10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6F81A7-880C-443D-8EC6-0BE16E3E3F97}"/>
              </a:ext>
            </a:extLst>
          </p:cNvPr>
          <p:cNvSpPr>
            <a:spLocks xmlns:a="http://schemas.openxmlformats.org/drawingml/2006/main" noGrp="1"/>
          </p:cNvSpPr>
          <p:nvPr/>
        </p:nvSpPr>
        <p:spPr>
          <a:xfrm xmlns:a="http://schemas.openxmlformats.org/drawingml/2006/main">
            <a:off x="742950" y="4286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37A72"/>
                </a:solidFill>
                <a:latin typeface="Malgun Gothic"/>
                <a:ea typeface="Malgun Gothic"/>
                <a:cs typeface="Malgun Gothic"/>
              </a:defRPr>
            </a:pPr>
            <a:r>
              <a:rPr sz="1725" b="0">
                <a:solidFill>
                  <a:srgbClr val="137A72"/>
                </a:solidFill>
                <a:latin typeface="Malgun Gothic"/>
                <a:ea typeface="Malgun Gothic"/>
                <a:cs typeface="Malgun Gothic"/>
              </a:rPr>
              <a:t>6교시</a:t>
            </a:r>
          </a:p>
        </p:txBody>
      </p:sp>
      <p:sp>
        <p:nvSpPr>
          <p:cNvPr id="2" name="">
            <a:extLst xmlns:a="http://schemas.openxmlformats.org/drawingml/2006/main">
              <a:ext uri="{FF2B5EF4-FFF2-40B4-BE49-F238E27FC236}">
                <a16:creationId xmlns:a16="http://schemas.microsoft.com/office/drawing/2014/main" id="{90B62C81-CAA6-4D4A-93BE-F81ACD1BBA0B}"/>
              </a:ext>
            </a:extLst>
          </p:cNvPr>
          <p:cNvSpPr>
            <a:spLocks xmlns:a="http://schemas.openxmlformats.org/drawingml/2006/main" noGrp="1"/>
          </p:cNvSpPr>
          <p:nvPr/>
        </p:nvSpPr>
        <p:spPr>
          <a:xfrm xmlns:a="http://schemas.openxmlformats.org/drawingml/2006/main">
            <a:off x="723900" y="1019175"/>
            <a:ext cx="10744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D38"/>
                </a:solidFill>
                <a:latin typeface="Malgun Gothic"/>
                <a:ea typeface="Malgun Gothic"/>
                <a:cs typeface="Malgun Gothic"/>
              </a:defRPr>
            </a:pPr>
            <a:r>
              <a:rPr sz="3600" b="1">
                <a:solidFill>
                  <a:srgbClr val="183D38"/>
                </a:solidFill>
                <a:latin typeface="Malgun Gothic"/>
                <a:ea typeface="Malgun Gothic"/>
                <a:cs typeface="Malgun Gothic"/>
              </a:rPr>
              <a:t>동료에게 남길 질문</a:t>
            </a:r>
          </a:p>
        </p:txBody>
      </p:sp>
      <p:sp>
        <p:nvSpPr>
          <p:cNvPr id="3" name="">
            <a:extLst xmlns:a="http://schemas.openxmlformats.org/drawingml/2006/main">
              <a:ext uri="{FF2B5EF4-FFF2-40B4-BE49-F238E27FC236}">
                <a16:creationId xmlns:a16="http://schemas.microsoft.com/office/drawing/2014/main" id="{28B3AB05-8520-43BC-A21E-236753954622}"/>
              </a:ext>
            </a:extLst>
          </p:cNvPr>
          <p:cNvSpPr>
            <a:spLocks xmlns:a="http://schemas.openxmlformats.org/drawingml/2006/main" noGrp="1"/>
          </p:cNvSpPr>
          <p:nvPr/>
        </p:nvSpPr>
        <p:spPr>
          <a:xfrm xmlns:a="http://schemas.openxmlformats.org/drawingml/2006/main">
            <a:off x="762000" y="2457450"/>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37A72"/>
                </a:solidFill>
                <a:latin typeface="Malgun Gothic"/>
                <a:ea typeface="Malgun Gothic"/>
                <a:cs typeface="Malgun Gothic"/>
              </a:defRPr>
            </a:pPr>
            <a:r>
              <a:rPr sz="3450" b="0">
                <a:solidFill>
                  <a:srgbClr val="137A72"/>
                </a:solidFill>
                <a:latin typeface="Malgun Gothic"/>
                <a:ea typeface="Malgun Gothic"/>
                <a:cs typeface="Malgun Gothic"/>
              </a:rPr>
              <a:t>아직 확인하지 않은 조건을 두 개 쓰세요.</a:t>
            </a:r>
          </a:p>
        </p:txBody>
      </p:sp>
      <p:sp>
        <p:nvSpPr>
          <p:cNvPr id="4" name="">
            <a:extLst xmlns:a="http://schemas.openxmlformats.org/drawingml/2006/main">
              <a:ext uri="{FF2B5EF4-FFF2-40B4-BE49-F238E27FC236}">
                <a16:creationId xmlns:a16="http://schemas.microsoft.com/office/drawing/2014/main" id="{8426F820-093C-44D7-A6DC-FDB7F5EF5A5A}"/>
              </a:ext>
            </a:extLst>
          </p:cNvPr>
          <p:cNvSpPr>
            <a:spLocks xmlns:a="http://schemas.openxmlformats.org/drawingml/2006/main" noGrp="1"/>
          </p:cNvSpPr>
          <p:nvPr/>
        </p:nvSpPr>
        <p:spPr>
          <a:xfrm xmlns:a="http://schemas.openxmlformats.org/drawingml/2006/main">
            <a:off x="762000" y="3914775"/>
            <a:ext cx="10648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83D38"/>
                </a:solidFill>
                <a:latin typeface="Malgun Gothic"/>
                <a:ea typeface="Malgun Gothic"/>
                <a:cs typeface="Malgun Gothic"/>
              </a:defRPr>
            </a:pPr>
            <a:r>
              <a:rPr sz="3450" b="0">
                <a:solidFill>
                  <a:srgbClr val="183D38"/>
                </a:solidFill>
                <a:latin typeface="Malgun Gothic"/>
                <a:ea typeface="Malgun Gothic"/>
                <a:cs typeface="Malgun Gothic"/>
              </a:rPr>
              <a:t>같은 결과를 다시 얻을 방법을 설명하세요.</a:t>
            </a:r>
          </a:p>
        </p:txBody>
      </p:sp>
      <p:sp>
        <p:nvSpPr>
          <p:cNvPr id="5" name="">
            <a:extLst xmlns:a="http://schemas.openxmlformats.org/drawingml/2006/main">
              <a:ext uri="{FF2B5EF4-FFF2-40B4-BE49-F238E27FC236}">
                <a16:creationId xmlns:a16="http://schemas.microsoft.com/office/drawing/2014/main" id="{9CED5F07-5887-46A9-B6AE-7240026A3B3B}"/>
              </a:ext>
            </a:extLst>
          </p:cNvPr>
          <p:cNvSpPr>
            <a:spLocks xmlns:a="http://schemas.openxmlformats.org/drawingml/2006/main" noGrp="1"/>
          </p:cNvSpPr>
          <p:nvPr/>
        </p:nvSpPr>
        <p:spPr>
          <a:xfrm xmlns:a="http://schemas.openxmlformats.org/drawingml/2006/main">
            <a:off x="106680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65716D"/>
                </a:solidFill>
                <a:latin typeface="Malgun Gothic"/>
                <a:ea typeface="Malgun Gothic"/>
                <a:cs typeface="Malgun Gothic"/>
              </a:defRPr>
            </a:pPr>
            <a:r>
              <a:rPr sz="1500" b="0">
                <a:solidFill>
                  <a:srgbClr val="65716D"/>
                </a:solidFill>
                <a:latin typeface="Malgun Gothic"/>
                <a:ea typeface="Malgun Gothic"/>
                <a:cs typeface="Malgun Gothic"/>
              </a:rPr>
              <a:t>107</a:t>
            </a:r>
          </a:p>
        </p:txBody>
      </p:sp>
    </p:spTree>
    <p:extLst>
      <p:ext uri="{BB962C8B-B14F-4D97-AF65-F5344CB8AC3E}">
        <p14:creationId xmlns:p14="http://schemas.microsoft.com/office/powerpoint/2010/main" val="896107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2026-10-05T03:00:42.6320000Z</dcterms:created>
  <dcterms:modified xsi:type="dcterms:W3CDTF">2026-10-05T03:00:42.6320000Z</dcterms:modified>
</coreProperties>
</file>