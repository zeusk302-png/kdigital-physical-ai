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d7bd8520c444d8" /><Relationship Type="http://schemas.openxmlformats.org/officeDocument/2006/relationships/extended-properties" Target="/docProps/app.xml" Id="R55ae429b831e4b38" /><Relationship Type="http://schemas.openxmlformats.org/officeDocument/2006/relationships/officeDocument" Target="/ppt/presentation.xml" Id="R02e2925af8a34a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b00ac71c414ba0"/>
  </p:sldMasterIdLst>
  <p:notesMasterIdLst>
    <p:notesMasterId xmlns:r="http://schemas.openxmlformats.org/officeDocument/2006/relationships" r:id="R0f7cf722aec04c9b"/>
  </p:notesMasterIdLst>
  <p:sldIdLst>
    <p:sldId xmlns:r="http://schemas.openxmlformats.org/officeDocument/2006/relationships" id="256" r:id="R2b939fc5626f4aeb"/>
    <p:sldId xmlns:r="http://schemas.openxmlformats.org/officeDocument/2006/relationships" id="257" r:id="R7731d13122f148d1"/>
    <p:sldId xmlns:r="http://schemas.openxmlformats.org/officeDocument/2006/relationships" id="258" r:id="R7541d44c98414601"/>
    <p:sldId xmlns:r="http://schemas.openxmlformats.org/officeDocument/2006/relationships" id="259" r:id="Rc085645e26c04fb2"/>
    <p:sldId xmlns:r="http://schemas.openxmlformats.org/officeDocument/2006/relationships" id="260" r:id="R3d5fd63bd4074f24"/>
    <p:sldId xmlns:r="http://schemas.openxmlformats.org/officeDocument/2006/relationships" id="261" r:id="R04608e6d869f49bc"/>
    <p:sldId xmlns:r="http://schemas.openxmlformats.org/officeDocument/2006/relationships" id="262" r:id="Rcb2d710388b0462d"/>
    <p:sldId xmlns:r="http://schemas.openxmlformats.org/officeDocument/2006/relationships" id="263" r:id="R82a192fd5e0548d3"/>
    <p:sldId xmlns:r="http://schemas.openxmlformats.org/officeDocument/2006/relationships" id="264" r:id="Rfa5817b8452c4827"/>
    <p:sldId xmlns:r="http://schemas.openxmlformats.org/officeDocument/2006/relationships" id="265" r:id="R0e2fd6f0d3fa46b3"/>
    <p:sldId xmlns:r="http://schemas.openxmlformats.org/officeDocument/2006/relationships" id="266" r:id="R2f3c0c4549a449e7"/>
    <p:sldId xmlns:r="http://schemas.openxmlformats.org/officeDocument/2006/relationships" id="267" r:id="R3382c5301cd04f1e"/>
    <p:sldId xmlns:r="http://schemas.openxmlformats.org/officeDocument/2006/relationships" id="268" r:id="R7f968e0515274bd8"/>
    <p:sldId xmlns:r="http://schemas.openxmlformats.org/officeDocument/2006/relationships" id="269" r:id="R45bfb9da6fc44fc2"/>
    <p:sldId xmlns:r="http://schemas.openxmlformats.org/officeDocument/2006/relationships" id="270" r:id="Rca93ad3c81494527"/>
    <p:sldId xmlns:r="http://schemas.openxmlformats.org/officeDocument/2006/relationships" id="271" r:id="R822546b833ad40a8"/>
    <p:sldId xmlns:r="http://schemas.openxmlformats.org/officeDocument/2006/relationships" id="272" r:id="Rea62e0eab5de4500"/>
    <p:sldId xmlns:r="http://schemas.openxmlformats.org/officeDocument/2006/relationships" id="273" r:id="R8e1f4716f5af408b"/>
    <p:sldId xmlns:r="http://schemas.openxmlformats.org/officeDocument/2006/relationships" id="274" r:id="R1340628f14f7459c"/>
    <p:sldId xmlns:r="http://schemas.openxmlformats.org/officeDocument/2006/relationships" id="275" r:id="R51cbc2ccabab47b7"/>
    <p:sldId xmlns:r="http://schemas.openxmlformats.org/officeDocument/2006/relationships" id="276" r:id="Rf702ad4dc82b4a09"/>
    <p:sldId xmlns:r="http://schemas.openxmlformats.org/officeDocument/2006/relationships" id="277" r:id="R269a0a9f9b154a64"/>
    <p:sldId xmlns:r="http://schemas.openxmlformats.org/officeDocument/2006/relationships" id="278" r:id="R44135cde42d8453c"/>
    <p:sldId xmlns:r="http://schemas.openxmlformats.org/officeDocument/2006/relationships" id="279" r:id="Rcfd0223c99d04407"/>
    <p:sldId xmlns:r="http://schemas.openxmlformats.org/officeDocument/2006/relationships" id="280" r:id="R2e8ef7e868e24784"/>
    <p:sldId xmlns:r="http://schemas.openxmlformats.org/officeDocument/2006/relationships" id="281" r:id="R78abd56d868249d8"/>
    <p:sldId xmlns:r="http://schemas.openxmlformats.org/officeDocument/2006/relationships" id="282" r:id="Rafe617f83cb34c14"/>
    <p:sldId xmlns:r="http://schemas.openxmlformats.org/officeDocument/2006/relationships" id="283" r:id="R5728bac5645746d3"/>
    <p:sldId xmlns:r="http://schemas.openxmlformats.org/officeDocument/2006/relationships" id="284" r:id="R604e394c24f04aa4"/>
    <p:sldId xmlns:r="http://schemas.openxmlformats.org/officeDocument/2006/relationships" id="285" r:id="Ra710f53ff1a44ee9"/>
    <p:sldId xmlns:r="http://schemas.openxmlformats.org/officeDocument/2006/relationships" id="286" r:id="R0037798da60d4d68"/>
    <p:sldId xmlns:r="http://schemas.openxmlformats.org/officeDocument/2006/relationships" id="287" r:id="R9c1f8325a8514ef4"/>
    <p:sldId xmlns:r="http://schemas.openxmlformats.org/officeDocument/2006/relationships" id="288" r:id="R5de5aec96ad4454b"/>
    <p:sldId xmlns:r="http://schemas.openxmlformats.org/officeDocument/2006/relationships" id="289" r:id="Ree324e6e69c34b06"/>
    <p:sldId xmlns:r="http://schemas.openxmlformats.org/officeDocument/2006/relationships" id="290" r:id="Rbcbd2f413b9648ae"/>
    <p:sldId xmlns:r="http://schemas.openxmlformats.org/officeDocument/2006/relationships" id="291" r:id="Rc81ad7a46afa4275"/>
    <p:sldId xmlns:r="http://schemas.openxmlformats.org/officeDocument/2006/relationships" id="292" r:id="R241ad95e3b01493c"/>
    <p:sldId xmlns:r="http://schemas.openxmlformats.org/officeDocument/2006/relationships" id="293" r:id="Rfd64ddae117e4cad"/>
    <p:sldId xmlns:r="http://schemas.openxmlformats.org/officeDocument/2006/relationships" id="294" r:id="R9e1fb97b52154e22"/>
    <p:sldId xmlns:r="http://schemas.openxmlformats.org/officeDocument/2006/relationships" id="295" r:id="Rb311d5ae1f5c4b4c"/>
    <p:sldId xmlns:r="http://schemas.openxmlformats.org/officeDocument/2006/relationships" id="296" r:id="R48a38e9dcff94b98"/>
    <p:sldId xmlns:r="http://schemas.openxmlformats.org/officeDocument/2006/relationships" id="297" r:id="R45df8bec9bd04fad"/>
    <p:sldId xmlns:r="http://schemas.openxmlformats.org/officeDocument/2006/relationships" id="298" r:id="Rcbc4cc731c624db1"/>
    <p:sldId xmlns:r="http://schemas.openxmlformats.org/officeDocument/2006/relationships" id="299" r:id="R5a7d12d136944a29"/>
    <p:sldId xmlns:r="http://schemas.openxmlformats.org/officeDocument/2006/relationships" id="300" r:id="R2ea7bb527e8649ed"/>
    <p:sldId xmlns:r="http://schemas.openxmlformats.org/officeDocument/2006/relationships" id="301" r:id="R882c4dcf56d0420d"/>
    <p:sldId xmlns:r="http://schemas.openxmlformats.org/officeDocument/2006/relationships" id="302" r:id="R0c6865f773a645ca"/>
    <p:sldId xmlns:r="http://schemas.openxmlformats.org/officeDocument/2006/relationships" id="303" r:id="R6ea7248eb6c1446c"/>
    <p:sldId xmlns:r="http://schemas.openxmlformats.org/officeDocument/2006/relationships" id="304" r:id="R1b5d8a901db649c2"/>
    <p:sldId xmlns:r="http://schemas.openxmlformats.org/officeDocument/2006/relationships" id="305" r:id="Ra6145a01fd444476"/>
    <p:sldId xmlns:r="http://schemas.openxmlformats.org/officeDocument/2006/relationships" id="306" r:id="Rabb504e5a7d248a7"/>
    <p:sldId xmlns:r="http://schemas.openxmlformats.org/officeDocument/2006/relationships" id="307" r:id="Ra133431d2c644167"/>
    <p:sldId xmlns:r="http://schemas.openxmlformats.org/officeDocument/2006/relationships" id="308" r:id="R8855a15d36f149ed"/>
    <p:sldId xmlns:r="http://schemas.openxmlformats.org/officeDocument/2006/relationships" id="309" r:id="R69948f99fada48c3"/>
    <p:sldId xmlns:r="http://schemas.openxmlformats.org/officeDocument/2006/relationships" id="310" r:id="R7bdd9f09b4524dc8"/>
    <p:sldId xmlns:r="http://schemas.openxmlformats.org/officeDocument/2006/relationships" id="311" r:id="R58564e7dfc8c4a7a"/>
    <p:sldId xmlns:r="http://schemas.openxmlformats.org/officeDocument/2006/relationships" id="312" r:id="R8997441252d14a5d"/>
    <p:sldId xmlns:r="http://schemas.openxmlformats.org/officeDocument/2006/relationships" id="313" r:id="Rad6ba660d4304669"/>
    <p:sldId xmlns:r="http://schemas.openxmlformats.org/officeDocument/2006/relationships" id="314" r:id="R3afd6e53f8994195"/>
    <p:sldId xmlns:r="http://schemas.openxmlformats.org/officeDocument/2006/relationships" id="315" r:id="R1ca4906c2c524147"/>
    <p:sldId xmlns:r="http://schemas.openxmlformats.org/officeDocument/2006/relationships" id="316" r:id="R9e0a70f41eb14970"/>
    <p:sldId xmlns:r="http://schemas.openxmlformats.org/officeDocument/2006/relationships" id="317" r:id="R10101ea38adc4f0d"/>
    <p:sldId xmlns:r="http://schemas.openxmlformats.org/officeDocument/2006/relationships" id="318" r:id="Rd2cf00f241c04741"/>
    <p:sldId xmlns:r="http://schemas.openxmlformats.org/officeDocument/2006/relationships" id="319" r:id="Rdda6d3ba23e9474c"/>
    <p:sldId xmlns:r="http://schemas.openxmlformats.org/officeDocument/2006/relationships" id="320" r:id="R4265f860f96d42f5"/>
    <p:sldId xmlns:r="http://schemas.openxmlformats.org/officeDocument/2006/relationships" id="321" r:id="Re226c395b7904371"/>
    <p:sldId xmlns:r="http://schemas.openxmlformats.org/officeDocument/2006/relationships" id="322" r:id="R3391f71e108545c0"/>
    <p:sldId xmlns:r="http://schemas.openxmlformats.org/officeDocument/2006/relationships" id="323" r:id="Rbf5637233d2a4009"/>
    <p:sldId xmlns:r="http://schemas.openxmlformats.org/officeDocument/2006/relationships" id="324" r:id="R8827b051f815433a"/>
    <p:sldId xmlns:r="http://schemas.openxmlformats.org/officeDocument/2006/relationships" id="325" r:id="Re66c6a3dfd1244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5aa086adec467f" /><Relationship Type="http://schemas.openxmlformats.org/officeDocument/2006/relationships/slideMaster" Target="/ppt/slideMasters/slideMaster1.xml" Id="Redb00ac71c414ba0" /><Relationship Type="http://schemas.openxmlformats.org/officeDocument/2006/relationships/notesMaster" Target="/ppt/notesMasters/notesMaster1.xml" Id="R0f7cf722aec04c9b" /><Relationship Type="http://schemas.openxmlformats.org/officeDocument/2006/relationships/presProps" Target="/ppt/presProps.xml" Id="R87d26e4b11de4a41" /><Relationship Type="http://schemas.openxmlformats.org/officeDocument/2006/relationships/tableStyles" Target="/ppt/tableStyles.xml" Id="R59980f36cc364383" /><Relationship Type="http://schemas.openxmlformats.org/officeDocument/2006/relationships/slide" Target="/ppt/slides/slide1.xml" Id="R2b939fc5626f4aeb" /><Relationship Type="http://schemas.openxmlformats.org/officeDocument/2006/relationships/slide" Target="/ppt/slides/slide2.xml" Id="R7731d13122f148d1" /><Relationship Type="http://schemas.openxmlformats.org/officeDocument/2006/relationships/slide" Target="/ppt/slides/slide3.xml" Id="R7541d44c98414601" /><Relationship Type="http://schemas.openxmlformats.org/officeDocument/2006/relationships/slide" Target="/ppt/slides/slide4.xml" Id="Rc085645e26c04fb2" /><Relationship Type="http://schemas.openxmlformats.org/officeDocument/2006/relationships/slide" Target="/ppt/slides/slide5.xml" Id="R3d5fd63bd4074f24" /><Relationship Type="http://schemas.openxmlformats.org/officeDocument/2006/relationships/slide" Target="/ppt/slides/slide6.xml" Id="R04608e6d869f49bc" /><Relationship Type="http://schemas.openxmlformats.org/officeDocument/2006/relationships/slide" Target="/ppt/slides/slide7.xml" Id="Rcb2d710388b0462d" /><Relationship Type="http://schemas.openxmlformats.org/officeDocument/2006/relationships/slide" Target="/ppt/slides/slide8.xml" Id="R82a192fd5e0548d3" /><Relationship Type="http://schemas.openxmlformats.org/officeDocument/2006/relationships/slide" Target="/ppt/slides/slide9.xml" Id="Rfa5817b8452c4827" /><Relationship Type="http://schemas.openxmlformats.org/officeDocument/2006/relationships/slide" Target="/ppt/slides/slide10.xml" Id="R0e2fd6f0d3fa46b3" /><Relationship Type="http://schemas.openxmlformats.org/officeDocument/2006/relationships/slide" Target="/ppt/slides/slide11.xml" Id="R2f3c0c4549a449e7" /><Relationship Type="http://schemas.openxmlformats.org/officeDocument/2006/relationships/slide" Target="/ppt/slides/slide12.xml" Id="R3382c5301cd04f1e" /><Relationship Type="http://schemas.openxmlformats.org/officeDocument/2006/relationships/slide" Target="/ppt/slides/slide13.xml" Id="R7f968e0515274bd8" /><Relationship Type="http://schemas.openxmlformats.org/officeDocument/2006/relationships/slide" Target="/ppt/slides/slide14.xml" Id="R45bfb9da6fc44fc2" /><Relationship Type="http://schemas.openxmlformats.org/officeDocument/2006/relationships/slide" Target="/ppt/slides/slide15.xml" Id="Rca93ad3c81494527" /><Relationship Type="http://schemas.openxmlformats.org/officeDocument/2006/relationships/slide" Target="/ppt/slides/slide16.xml" Id="R822546b833ad40a8" /><Relationship Type="http://schemas.openxmlformats.org/officeDocument/2006/relationships/slide" Target="/ppt/slides/slide17.xml" Id="Rea62e0eab5de4500" /><Relationship Type="http://schemas.openxmlformats.org/officeDocument/2006/relationships/slide" Target="/ppt/slides/slide18.xml" Id="R8e1f4716f5af408b" /><Relationship Type="http://schemas.openxmlformats.org/officeDocument/2006/relationships/slide" Target="/ppt/slides/slide19.xml" Id="R1340628f14f7459c" /><Relationship Type="http://schemas.openxmlformats.org/officeDocument/2006/relationships/slide" Target="/ppt/slides/slide20.xml" Id="R51cbc2ccabab47b7" /><Relationship Type="http://schemas.openxmlformats.org/officeDocument/2006/relationships/slide" Target="/ppt/slides/slide21.xml" Id="Rf702ad4dc82b4a09" /><Relationship Type="http://schemas.openxmlformats.org/officeDocument/2006/relationships/slide" Target="/ppt/slides/slide22.xml" Id="R269a0a9f9b154a64" /><Relationship Type="http://schemas.openxmlformats.org/officeDocument/2006/relationships/slide" Target="/ppt/slides/slide23.xml" Id="R44135cde42d8453c" /><Relationship Type="http://schemas.openxmlformats.org/officeDocument/2006/relationships/slide" Target="/ppt/slides/slide24.xml" Id="Rcfd0223c99d04407" /><Relationship Type="http://schemas.openxmlformats.org/officeDocument/2006/relationships/slide" Target="/ppt/slides/slide25.xml" Id="R2e8ef7e868e24784" /><Relationship Type="http://schemas.openxmlformats.org/officeDocument/2006/relationships/slide" Target="/ppt/slides/slide26.xml" Id="R78abd56d868249d8" /><Relationship Type="http://schemas.openxmlformats.org/officeDocument/2006/relationships/slide" Target="/ppt/slides/slide27.xml" Id="Rafe617f83cb34c14" /><Relationship Type="http://schemas.openxmlformats.org/officeDocument/2006/relationships/slide" Target="/ppt/slides/slide28.xml" Id="R5728bac5645746d3" /><Relationship Type="http://schemas.openxmlformats.org/officeDocument/2006/relationships/slide" Target="/ppt/slides/slide29.xml" Id="R604e394c24f04aa4" /><Relationship Type="http://schemas.openxmlformats.org/officeDocument/2006/relationships/slide" Target="/ppt/slides/slide30.xml" Id="Ra710f53ff1a44ee9" /><Relationship Type="http://schemas.openxmlformats.org/officeDocument/2006/relationships/slide" Target="/ppt/slides/slide31.xml" Id="R0037798da60d4d68" /><Relationship Type="http://schemas.openxmlformats.org/officeDocument/2006/relationships/slide" Target="/ppt/slides/slide32.xml" Id="R9c1f8325a8514ef4" /><Relationship Type="http://schemas.openxmlformats.org/officeDocument/2006/relationships/slide" Target="/ppt/slides/slide33.xml" Id="R5de5aec96ad4454b" /><Relationship Type="http://schemas.openxmlformats.org/officeDocument/2006/relationships/slide" Target="/ppt/slides/slide34.xml" Id="Ree324e6e69c34b06" /><Relationship Type="http://schemas.openxmlformats.org/officeDocument/2006/relationships/slide" Target="/ppt/slides/slide35.xml" Id="Rbcbd2f413b9648ae" /><Relationship Type="http://schemas.openxmlformats.org/officeDocument/2006/relationships/slide" Target="/ppt/slides/slide36.xml" Id="Rc81ad7a46afa4275" /><Relationship Type="http://schemas.openxmlformats.org/officeDocument/2006/relationships/slide" Target="/ppt/slides/slide37.xml" Id="R241ad95e3b01493c" /><Relationship Type="http://schemas.openxmlformats.org/officeDocument/2006/relationships/slide" Target="/ppt/slides/slide38.xml" Id="Rfd64ddae117e4cad" /><Relationship Type="http://schemas.openxmlformats.org/officeDocument/2006/relationships/slide" Target="/ppt/slides/slide39.xml" Id="R9e1fb97b52154e22" /><Relationship Type="http://schemas.openxmlformats.org/officeDocument/2006/relationships/slide" Target="/ppt/slides/slide40.xml" Id="Rb311d5ae1f5c4b4c" /><Relationship Type="http://schemas.openxmlformats.org/officeDocument/2006/relationships/slide" Target="/ppt/slides/slide41.xml" Id="R48a38e9dcff94b98" /><Relationship Type="http://schemas.openxmlformats.org/officeDocument/2006/relationships/slide" Target="/ppt/slides/slide42.xml" Id="R45df8bec9bd04fad" /><Relationship Type="http://schemas.openxmlformats.org/officeDocument/2006/relationships/slide" Target="/ppt/slides/slide43.xml" Id="Rcbc4cc731c624db1" /><Relationship Type="http://schemas.openxmlformats.org/officeDocument/2006/relationships/slide" Target="/ppt/slides/slide44.xml" Id="R5a7d12d136944a29" /><Relationship Type="http://schemas.openxmlformats.org/officeDocument/2006/relationships/slide" Target="/ppt/slides/slide45.xml" Id="R2ea7bb527e8649ed" /><Relationship Type="http://schemas.openxmlformats.org/officeDocument/2006/relationships/slide" Target="/ppt/slides/slide46.xml" Id="R882c4dcf56d0420d" /><Relationship Type="http://schemas.openxmlformats.org/officeDocument/2006/relationships/slide" Target="/ppt/slides/slide47.xml" Id="R0c6865f773a645ca" /><Relationship Type="http://schemas.openxmlformats.org/officeDocument/2006/relationships/slide" Target="/ppt/slides/slide48.xml" Id="R6ea7248eb6c1446c" /><Relationship Type="http://schemas.openxmlformats.org/officeDocument/2006/relationships/slide" Target="/ppt/slides/slide49.xml" Id="R1b5d8a901db649c2" /><Relationship Type="http://schemas.openxmlformats.org/officeDocument/2006/relationships/slide" Target="/ppt/slides/slide50.xml" Id="Ra6145a01fd444476" /><Relationship Type="http://schemas.openxmlformats.org/officeDocument/2006/relationships/slide" Target="/ppt/slides/slide51.xml" Id="Rabb504e5a7d248a7" /><Relationship Type="http://schemas.openxmlformats.org/officeDocument/2006/relationships/slide" Target="/ppt/slides/slide52.xml" Id="Ra133431d2c644167" /><Relationship Type="http://schemas.openxmlformats.org/officeDocument/2006/relationships/slide" Target="/ppt/slides/slide53.xml" Id="R8855a15d36f149ed" /><Relationship Type="http://schemas.openxmlformats.org/officeDocument/2006/relationships/slide" Target="/ppt/slides/slide54.xml" Id="R69948f99fada48c3" /><Relationship Type="http://schemas.openxmlformats.org/officeDocument/2006/relationships/slide" Target="/ppt/slides/slide55.xml" Id="R7bdd9f09b4524dc8" /><Relationship Type="http://schemas.openxmlformats.org/officeDocument/2006/relationships/slide" Target="/ppt/slides/slide56.xml" Id="R58564e7dfc8c4a7a" /><Relationship Type="http://schemas.openxmlformats.org/officeDocument/2006/relationships/slide" Target="/ppt/slides/slide57.xml" Id="R8997441252d14a5d" /><Relationship Type="http://schemas.openxmlformats.org/officeDocument/2006/relationships/slide" Target="/ppt/slides/slide58.xml" Id="Rad6ba660d4304669" /><Relationship Type="http://schemas.openxmlformats.org/officeDocument/2006/relationships/slide" Target="/ppt/slides/slide59.xml" Id="R3afd6e53f8994195" /><Relationship Type="http://schemas.openxmlformats.org/officeDocument/2006/relationships/slide" Target="/ppt/slides/slide60.xml" Id="R1ca4906c2c524147" /><Relationship Type="http://schemas.openxmlformats.org/officeDocument/2006/relationships/slide" Target="/ppt/slides/slide61.xml" Id="R9e0a70f41eb14970" /><Relationship Type="http://schemas.openxmlformats.org/officeDocument/2006/relationships/slide" Target="/ppt/slides/slide62.xml" Id="R10101ea38adc4f0d" /><Relationship Type="http://schemas.openxmlformats.org/officeDocument/2006/relationships/slide" Target="/ppt/slides/slide63.xml" Id="Rd2cf00f241c04741" /><Relationship Type="http://schemas.openxmlformats.org/officeDocument/2006/relationships/slide" Target="/ppt/slides/slide64.xml" Id="Rdda6d3ba23e9474c" /><Relationship Type="http://schemas.openxmlformats.org/officeDocument/2006/relationships/slide" Target="/ppt/slides/slide65.xml" Id="R4265f860f96d42f5" /><Relationship Type="http://schemas.openxmlformats.org/officeDocument/2006/relationships/slide" Target="/ppt/slides/slide66.xml" Id="Re226c395b7904371" /><Relationship Type="http://schemas.openxmlformats.org/officeDocument/2006/relationships/slide" Target="/ppt/slides/slide67.xml" Id="R3391f71e108545c0" /><Relationship Type="http://schemas.openxmlformats.org/officeDocument/2006/relationships/slide" Target="/ppt/slides/slide68.xml" Id="Rbf5637233d2a4009" /><Relationship Type="http://schemas.openxmlformats.org/officeDocument/2006/relationships/slide" Target="/ppt/slides/slide69.xml" Id="R8827b051f815433a" /><Relationship Type="http://schemas.openxmlformats.org/officeDocument/2006/relationships/slide" Target="/ppt/slides/slide70.xml" Id="Re66c6a3dfd1244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4b1712b32040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14f81983194bfd" /><Relationship Type="http://schemas.openxmlformats.org/officeDocument/2006/relationships/notesMaster" Target="/ppt/notesMasters/notesMaster1.xml" Id="Rad02e48ed52744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908d0c9d5b4d00" /><Relationship Type="http://schemas.openxmlformats.org/officeDocument/2006/relationships/notesMaster" Target="/ppt/notesMasters/notesMaster1.xml" Id="Rca9e1d12bc754c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b079a9ff5f4bed" /><Relationship Type="http://schemas.openxmlformats.org/officeDocument/2006/relationships/notesMaster" Target="/ppt/notesMasters/notesMaster1.xml" Id="R4487532b860844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fbcaad48d84fc5" /><Relationship Type="http://schemas.openxmlformats.org/officeDocument/2006/relationships/notesMaster" Target="/ppt/notesMasters/notesMaster1.xml" Id="R49120ae28bf742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6a110ba130420d" /><Relationship Type="http://schemas.openxmlformats.org/officeDocument/2006/relationships/notesMaster" Target="/ppt/notesMasters/notesMaster1.xml" Id="R56c87c3f7dea46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3cd16007214507" /><Relationship Type="http://schemas.openxmlformats.org/officeDocument/2006/relationships/notesMaster" Target="/ppt/notesMasters/notesMaster1.xml" Id="R29686613cf1843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029a1ed26e4640" /><Relationship Type="http://schemas.openxmlformats.org/officeDocument/2006/relationships/notesMaster" Target="/ppt/notesMasters/notesMaster1.xml" Id="R5e435450215849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ef778b99e14fa6" /><Relationship Type="http://schemas.openxmlformats.org/officeDocument/2006/relationships/notesMaster" Target="/ppt/notesMasters/notesMaster1.xml" Id="R30ce97cfa64f48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d2b973229c4365" /><Relationship Type="http://schemas.openxmlformats.org/officeDocument/2006/relationships/notesMaster" Target="/ppt/notesMasters/notesMaster1.xml" Id="R3c09b66a563b48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93936817ca410a" /><Relationship Type="http://schemas.openxmlformats.org/officeDocument/2006/relationships/notesMaster" Target="/ppt/notesMasters/notesMaster1.xml" Id="R31d866ccce5448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ff9dfb7f384e7b" /><Relationship Type="http://schemas.openxmlformats.org/officeDocument/2006/relationships/notesMaster" Target="/ppt/notesMasters/notesMaster1.xml" Id="R04b7b52b079a43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dd9838eaac4d6e" /><Relationship Type="http://schemas.openxmlformats.org/officeDocument/2006/relationships/notesMaster" Target="/ppt/notesMasters/notesMaster1.xml" Id="Rb2aa89b920e444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e74565f06c48b3" /><Relationship Type="http://schemas.openxmlformats.org/officeDocument/2006/relationships/notesMaster" Target="/ppt/notesMasters/notesMaster1.xml" Id="Ra27c4c6f164b43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93ff2e9bf94aa7" /><Relationship Type="http://schemas.openxmlformats.org/officeDocument/2006/relationships/notesMaster" Target="/ppt/notesMasters/notesMaster1.xml" Id="Ra5af9b9d275a41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5b072e59af428e" /><Relationship Type="http://schemas.openxmlformats.org/officeDocument/2006/relationships/notesMaster" Target="/ppt/notesMasters/notesMaster1.xml" Id="Rb1750996c98e4a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aa3ec8a6de4a55" /><Relationship Type="http://schemas.openxmlformats.org/officeDocument/2006/relationships/notesMaster" Target="/ppt/notesMasters/notesMaster1.xml" Id="Rc4d8b89a5bcc42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1a9d5b335e47fb" /><Relationship Type="http://schemas.openxmlformats.org/officeDocument/2006/relationships/notesMaster" Target="/ppt/notesMasters/notesMaster1.xml" Id="Rd97f1c335df54f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13f3d0f1284433" /><Relationship Type="http://schemas.openxmlformats.org/officeDocument/2006/relationships/notesMaster" Target="/ppt/notesMasters/notesMaster1.xml" Id="Rbbf67afc72d94ef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7ee03ff781466e" /><Relationship Type="http://schemas.openxmlformats.org/officeDocument/2006/relationships/notesMaster" Target="/ppt/notesMasters/notesMaster1.xml" Id="Rcaebb990ea2446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2954e5fdb844c7" /><Relationship Type="http://schemas.openxmlformats.org/officeDocument/2006/relationships/notesMaster" Target="/ppt/notesMasters/notesMaster1.xml" Id="R9f81d43d84fd42f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8d17bd4126482b" /><Relationship Type="http://schemas.openxmlformats.org/officeDocument/2006/relationships/notesMaster" Target="/ppt/notesMasters/notesMaster1.xml" Id="Ra3203bbcb6a14b4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4427d7e1ee47bd" /><Relationship Type="http://schemas.openxmlformats.org/officeDocument/2006/relationships/notesMaster" Target="/ppt/notesMasters/notesMaster1.xml" Id="Ra6831ee2fdd346e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38c4582db4f46db" /><Relationship Type="http://schemas.openxmlformats.org/officeDocument/2006/relationships/notesMaster" Target="/ppt/notesMasters/notesMaster1.xml" Id="Rb3a13192463f49a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06d13bd73ea4508" /><Relationship Type="http://schemas.openxmlformats.org/officeDocument/2006/relationships/notesMaster" Target="/ppt/notesMasters/notesMaster1.xml" Id="Rfa3156f692a7432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b7d050913314db5" /><Relationship Type="http://schemas.openxmlformats.org/officeDocument/2006/relationships/notesMaster" Target="/ppt/notesMasters/notesMaster1.xml" Id="Raa10067911cf449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c98d4c73c704fbf" /><Relationship Type="http://schemas.openxmlformats.org/officeDocument/2006/relationships/notesMaster" Target="/ppt/notesMasters/notesMaster1.xml" Id="Rce53e0be99134f0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8806798f1124c11" /><Relationship Type="http://schemas.openxmlformats.org/officeDocument/2006/relationships/notesMaster" Target="/ppt/notesMasters/notesMaster1.xml" Id="Ra0f71d53dafe4e2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774f4c78e0141b6" /><Relationship Type="http://schemas.openxmlformats.org/officeDocument/2006/relationships/notesMaster" Target="/ppt/notesMasters/notesMaster1.xml" Id="R2c821df05a574d1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315562813f34a77" /><Relationship Type="http://schemas.openxmlformats.org/officeDocument/2006/relationships/notesMaster" Target="/ppt/notesMasters/notesMaster1.xml" Id="R759ae6045d10475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5f43bf3a7154929" /><Relationship Type="http://schemas.openxmlformats.org/officeDocument/2006/relationships/notesMaster" Target="/ppt/notesMasters/notesMaster1.xml" Id="R9b434a93603d4b3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bd463f19a4d41e0" /><Relationship Type="http://schemas.openxmlformats.org/officeDocument/2006/relationships/notesMaster" Target="/ppt/notesMasters/notesMaster1.xml" Id="R74f56ecb580b4e4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3fa2e9c713442af" /><Relationship Type="http://schemas.openxmlformats.org/officeDocument/2006/relationships/notesMaster" Target="/ppt/notesMasters/notesMaster1.xml" Id="Rc29f47f81354403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b203b42a66941bc" /><Relationship Type="http://schemas.openxmlformats.org/officeDocument/2006/relationships/notesMaster" Target="/ppt/notesMasters/notesMaster1.xml" Id="R8ac21a49f27147e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c04e4a681124d4a" /><Relationship Type="http://schemas.openxmlformats.org/officeDocument/2006/relationships/notesMaster" Target="/ppt/notesMasters/notesMaster1.xml" Id="R97e147b18884450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13e81f87e0b4d9b" /><Relationship Type="http://schemas.openxmlformats.org/officeDocument/2006/relationships/notesMaster" Target="/ppt/notesMasters/notesMaster1.xml" Id="R620c0bb54bbb4ba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d9bc7d38e6d4960" /><Relationship Type="http://schemas.openxmlformats.org/officeDocument/2006/relationships/notesMaster" Target="/ppt/notesMasters/notesMaster1.xml" Id="R6a6b9bcb000340c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98e161c1f9c43e6" /><Relationship Type="http://schemas.openxmlformats.org/officeDocument/2006/relationships/notesMaster" Target="/ppt/notesMasters/notesMaster1.xml" Id="Rbcde7a10e5be409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21fac4c89414aae" /><Relationship Type="http://schemas.openxmlformats.org/officeDocument/2006/relationships/notesMaster" Target="/ppt/notesMasters/notesMaster1.xml" Id="R5db073cf37834d9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1dac1288d6a47bc" /><Relationship Type="http://schemas.openxmlformats.org/officeDocument/2006/relationships/notesMaster" Target="/ppt/notesMasters/notesMaster1.xml" Id="Rc3ee817a9682465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1f502912b0e422f" /><Relationship Type="http://schemas.openxmlformats.org/officeDocument/2006/relationships/notesMaster" Target="/ppt/notesMasters/notesMaster1.xml" Id="R900418a939d9447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98acc6b6d63464d" /><Relationship Type="http://schemas.openxmlformats.org/officeDocument/2006/relationships/notesMaster" Target="/ppt/notesMasters/notesMaster1.xml" Id="Ra2443bda4c42422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bc3cfff3fde4350" /><Relationship Type="http://schemas.openxmlformats.org/officeDocument/2006/relationships/notesMaster" Target="/ppt/notesMasters/notesMaster1.xml" Id="R463590fe0023476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2cf8f7267964e72" /><Relationship Type="http://schemas.openxmlformats.org/officeDocument/2006/relationships/notesMaster" Target="/ppt/notesMasters/notesMaster1.xml" Id="R2a8c8c8bb42c4df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067ac0c50d34f69" /><Relationship Type="http://schemas.openxmlformats.org/officeDocument/2006/relationships/notesMaster" Target="/ppt/notesMasters/notesMaster1.xml" Id="Ra3ddc3bb6f5442c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38ba7a3d02942e8" /><Relationship Type="http://schemas.openxmlformats.org/officeDocument/2006/relationships/notesMaster" Target="/ppt/notesMasters/notesMaster1.xml" Id="Rcaf449b17f0f4e7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3152ee182aa4138" /><Relationship Type="http://schemas.openxmlformats.org/officeDocument/2006/relationships/notesMaster" Target="/ppt/notesMasters/notesMaster1.xml" Id="Rcf16a1c2d4d74c0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bd8d234d4654066" /><Relationship Type="http://schemas.openxmlformats.org/officeDocument/2006/relationships/notesMaster" Target="/ppt/notesMasters/notesMaster1.xml" Id="R43377e21ba8146e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52506c67c9f4e9a" /><Relationship Type="http://schemas.openxmlformats.org/officeDocument/2006/relationships/notesMaster" Target="/ppt/notesMasters/notesMaster1.xml" Id="R0b007b95f5ab4eb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f65f6b040e84641" /><Relationship Type="http://schemas.openxmlformats.org/officeDocument/2006/relationships/notesMaster" Target="/ppt/notesMasters/notesMaster1.xml" Id="R567c9641b97c43a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59ecaeae2314549" /><Relationship Type="http://schemas.openxmlformats.org/officeDocument/2006/relationships/notesMaster" Target="/ppt/notesMasters/notesMaster1.xml" Id="Rdf9c2deafcb94d4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eccdeed597848b0" /><Relationship Type="http://schemas.openxmlformats.org/officeDocument/2006/relationships/notesMaster" Target="/ppt/notesMasters/notesMaster1.xml" Id="Rac2d1f8df3d7453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772c5dfabcf4232" /><Relationship Type="http://schemas.openxmlformats.org/officeDocument/2006/relationships/notesMaster" Target="/ppt/notesMasters/notesMaster1.xml" Id="Ra5429873a65d4af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b2213446cc940e0" /><Relationship Type="http://schemas.openxmlformats.org/officeDocument/2006/relationships/notesMaster" Target="/ppt/notesMasters/notesMaster1.xml" Id="Rfb4ee1b5e1204dd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c9813c84e394cfd" /><Relationship Type="http://schemas.openxmlformats.org/officeDocument/2006/relationships/notesMaster" Target="/ppt/notesMasters/notesMaster1.xml" Id="R6af1ba2a025a4c1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2760abe5c33436f" /><Relationship Type="http://schemas.openxmlformats.org/officeDocument/2006/relationships/notesMaster" Target="/ppt/notesMasters/notesMaster1.xml" Id="R09653231de2445e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b8126f3172e470d" /><Relationship Type="http://schemas.openxmlformats.org/officeDocument/2006/relationships/notesMaster" Target="/ppt/notesMasters/notesMaster1.xml" Id="Recee3c8a60a3448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b5d9ec9a41d4da9" /><Relationship Type="http://schemas.openxmlformats.org/officeDocument/2006/relationships/notesMaster" Target="/ppt/notesMasters/notesMaster1.xml" Id="R76c38d22ec4440e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2b502924d2945f1" /><Relationship Type="http://schemas.openxmlformats.org/officeDocument/2006/relationships/notesMaster" Target="/ppt/notesMasters/notesMaster1.xml" Id="Rae2f9725cf11408a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703b1f82c9d4434" /><Relationship Type="http://schemas.openxmlformats.org/officeDocument/2006/relationships/notesMaster" Target="/ppt/notesMasters/notesMaster1.xml" Id="R6ae03f1eb37744a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6e5414f2d6e4fd3" /><Relationship Type="http://schemas.openxmlformats.org/officeDocument/2006/relationships/notesMaster" Target="/ppt/notesMasters/notesMaster1.xml" Id="R9ecec3a3631f4733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a282b3356de4dbf" /><Relationship Type="http://schemas.openxmlformats.org/officeDocument/2006/relationships/notesMaster" Target="/ppt/notesMasters/notesMaster1.xml" Id="R4fc9f75e6d6e47f2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9967f52057b437a" /><Relationship Type="http://schemas.openxmlformats.org/officeDocument/2006/relationships/notesMaster" Target="/ppt/notesMasters/notesMaster1.xml" Id="Rae59fda9e83c4c5e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2d9a0cb8f6e84233" /><Relationship Type="http://schemas.openxmlformats.org/officeDocument/2006/relationships/notesMaster" Target="/ppt/notesMasters/notesMaster1.xml" Id="Ra5bd76abb6554b26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7cd3d14c2dfd4c2b" /><Relationship Type="http://schemas.openxmlformats.org/officeDocument/2006/relationships/notesMaster" Target="/ppt/notesMasters/notesMaster1.xml" Id="R9f6f3bcf61c64972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410c57392e0460c" /><Relationship Type="http://schemas.openxmlformats.org/officeDocument/2006/relationships/notesMaster" Target="/ppt/notesMasters/notesMaster1.xml" Id="R4bd1aff6c3b04b19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37e07c4853f84cb6" /><Relationship Type="http://schemas.openxmlformats.org/officeDocument/2006/relationships/notesMaster" Target="/ppt/notesMasters/notesMaster1.xml" Id="Rd14ff074598f4065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7d11b824c964fc9" /><Relationship Type="http://schemas.openxmlformats.org/officeDocument/2006/relationships/notesMaster" Target="/ppt/notesMasters/notesMaster1.xml" Id="Rb5fbff4eca354ba6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350ec3b0c8a644b2" /><Relationship Type="http://schemas.openxmlformats.org/officeDocument/2006/relationships/notesMaster" Target="/ppt/notesMasters/notesMaster1.xml" Id="Re40ebb72c0bd4caf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4adcbdfb79884295" /><Relationship Type="http://schemas.openxmlformats.org/officeDocument/2006/relationships/notesMaster" Target="/ppt/notesMasters/notesMaster1.xml" Id="Rdf0d33c673034bd7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40f8c6e0c7d84e8c" /><Relationship Type="http://schemas.openxmlformats.org/officeDocument/2006/relationships/notesMaster" Target="/ppt/notesMasters/notesMaster1.xml" Id="R2d751d7014164b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브라우저는 HTML 문서를 읽어 화면으로 보여 주는 프로그램입니다. 파일을 편집하는 창과 결과를 보는 창은 역할이 다릅니다.</a:t>
            </a:r>
          </a:p>
          <a:p xmlns:a="http://schemas.openxmlformats.org/drawingml/2006/main">
            <a:r>
              <a:t>어디에 썼는지와 무엇을 열었는지를 구분해야 저장한 변경을 다시 확인할 수 있습니다.</a:t>
            </a:r>
          </a:p>
          <a:p xmlns:a="http://schemas.openxmlformats.org/drawingml/2006/main">
            <a:r>
              <a:t>예: work/static/index.html을 편집하고 같은 파일을 브라우저로 열면 제공 안내판을 볼 수 있습니다.</a:t>
            </a:r>
          </a:p>
          <a:p xmlns:a="http://schemas.openxmlformats.org/drawingml/2006/main">
            <a:r>
              <a:t>반례: 코드 편집기에 글자를 바꾼 것만으로 이미 열린 화면이 자동 갱신되는 것은 아닙니다.</a:t>
            </a:r>
          </a:p>
          <a:p xmlns:a="http://schemas.openxmlformats.org/drawingml/2006/main">
            <a:r>
              <a:t>풀이: 같은 경로의 HTML을 열고 저장 뒤 새로고침한다. 개인 PC 환경이 없으면 강사 화면과 파일 원문을 대조한다.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브라우저는 HTML 문서를 읽어 화면으로 보여 주는 프로그램입니다. 파일을 편집하는 창과 결과를 보는 창은 역할이 다릅니다.</a:t>
            </a:r>
          </a:p>
          <a:p xmlns:a="http://schemas.openxmlformats.org/drawingml/2006/main">
            <a:r>
              <a:t>어디에 썼는지와 무엇을 열었는지를 구분해야 저장한 변경을 다시 확인할 수 있습니다.</a:t>
            </a:r>
          </a:p>
          <a:p xmlns:a="http://schemas.openxmlformats.org/drawingml/2006/main">
            <a:r>
              <a:t>예: work/static/index.html을 편집하고 같은 파일을 브라우저로 열면 제공 안내판을 볼 수 있습니다.</a:t>
            </a:r>
          </a:p>
          <a:p xmlns:a="http://schemas.openxmlformats.org/drawingml/2006/main">
            <a:r>
              <a:t>반례: 코드 편집기에 글자를 바꾼 것만으로 이미 열린 화면이 자동 갱신되는 것은 아닙니다.</a:t>
            </a:r>
          </a:p>
          <a:p xmlns:a="http://schemas.openxmlformats.org/drawingml/2006/main">
            <a:r>
              <a:t>풀이: 같은 경로의 HTML을 열고 저장 뒤 새로고침한다. 개인 PC 환경이 없으면 강사 화면과 파일 원문을 대조한다.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브라우저는 HTML 문서를 읽어 화면으로 보여 주는 프로그램입니다. 파일을 편집하는 창과 결과를 보는 창은 역할이 다릅니다.</a:t>
            </a:r>
          </a:p>
          <a:p xmlns:a="http://schemas.openxmlformats.org/drawingml/2006/main">
            <a:r>
              <a:t>어디에 썼는지와 무엇을 열었는지를 구분해야 저장한 변경을 다시 확인할 수 있습니다.</a:t>
            </a:r>
          </a:p>
          <a:p xmlns:a="http://schemas.openxmlformats.org/drawingml/2006/main">
            <a:r>
              <a:t>예: work/static/index.html을 편집하고 같은 파일을 브라우저로 열면 제공 안내판을 볼 수 있습니다.</a:t>
            </a:r>
          </a:p>
          <a:p xmlns:a="http://schemas.openxmlformats.org/drawingml/2006/main">
            <a:r>
              <a:t>반례: 코드 편집기에 글자를 바꾼 것만으로 이미 열린 화면이 자동 갱신되는 것은 아닙니다.</a:t>
            </a:r>
          </a:p>
          <a:p xmlns:a="http://schemas.openxmlformats.org/drawingml/2006/main">
            <a:r>
              <a:t>풀이: 같은 경로의 HTML을 열고 저장 뒤 새로고침한다. 개인 PC 환경이 없으면 강사 화면과 파일 원문을 대조한다.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확장자가.txt로 붙었으면 파일 이름과 종류를 확인합니다. ZIP 안의 미리 보기에서 편집하지 않습니다.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HTML은 제목·문단·버튼 같은 내용의 의미를 표시하는 문서 형식입니다. 여는 태그와 닫는 태그 사이의 내용이 하나의 요소가 됩니다.</a:t>
            </a:r>
          </a:p>
          <a:p xmlns:a="http://schemas.openxmlformats.org/drawingml/2006/main">
            <a:r>
              <a:t>보기에 큰 글자를 만드는 것과 문서의 제목이라는 의미를 주는 것을 구별해야 내용 구조를 읽을 수 있습니다.</a:t>
            </a:r>
          </a:p>
          <a:p xmlns:a="http://schemas.openxmlformats.org/drawingml/2006/main">
            <a:r>
              <a:t>예: `&lt;h1&gt;입구 센서 안내판&lt;/h1&gt;`에서 h1은 주요 제목, 안의 글자는 화면 내용입니다.</a:t>
            </a:r>
          </a:p>
          <a:p xmlns:a="http://schemas.openxmlformats.org/drawingml/2006/main">
            <a:r>
              <a:t>반례: 모든 글자를 h1으로 만들면 크기가 같아질 수 있어도 제목과 설명의 관계가 흐려집니다.</a:t>
            </a:r>
          </a:p>
          <a:p xmlns:a="http://schemas.openxmlformats.org/drawingml/2006/main">
            <a:r>
              <a:t>풀이: h1은 내용 의미, CSS 는 모양이다. h1 안 문구만 바꾸면 본문 제목이 바뀌고 탭 title은 유지된다.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HTML은 제목·문단·버튼 같은 내용의 의미를 표시하는 문서 형식입니다. 여는 태그와 닫는 태그 사이의 내용이 하나의 요소가 됩니다.</a:t>
            </a:r>
          </a:p>
          <a:p xmlns:a="http://schemas.openxmlformats.org/drawingml/2006/main">
            <a:r>
              <a:t>보기에 큰 글자를 만드는 것과 문서의 제목이라는 의미를 주는 것을 구별해야 내용 구조를 읽을 수 있습니다.</a:t>
            </a:r>
          </a:p>
          <a:p xmlns:a="http://schemas.openxmlformats.org/drawingml/2006/main">
            <a:r>
              <a:t>예: `&lt;h1&gt;입구 센서 안내판&lt;/h1&gt;`에서 h1은 주요 제목, 안의 글자는 화면 내용입니다.</a:t>
            </a:r>
          </a:p>
          <a:p xmlns:a="http://schemas.openxmlformats.org/drawingml/2006/main">
            <a:r>
              <a:t>반례: 모든 글자를 h1으로 만들면 크기가 같아질 수 있어도 제목과 설명의 관계가 흐려집니다.</a:t>
            </a:r>
          </a:p>
          <a:p xmlns:a="http://schemas.openxmlformats.org/drawingml/2006/main">
            <a:r>
              <a:t>풀이: h1은 내용 의미, CSS 는 모양이다. h1 안 문구만 바꾸면 본문 제목이 바뀌고 탭 title은 유지된다.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파일 index.html 10~16줄입니다. 모든 줄의 상세 해설은 code/line-guide.md에 있습니다. 추가 시간 없이 해당 활동 시연 시간 안에서 사용합니다.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HTML은 제목·문단·버튼 같은 내용의 의미를 표시하는 문서 형식입니다. 여는 태그와 닫는 태그 사이의 내용이 하나의 요소가 됩니다.</a:t>
            </a:r>
          </a:p>
          <a:p xmlns:a="http://schemas.openxmlformats.org/drawingml/2006/main">
            <a:r>
              <a:t>보기에 큰 글자를 만드는 것과 문서의 제목이라는 의미를 주는 것을 구별해야 내용 구조를 읽을 수 있습니다.</a:t>
            </a:r>
          </a:p>
          <a:p xmlns:a="http://schemas.openxmlformats.org/drawingml/2006/main">
            <a:r>
              <a:t>예: `&lt;h1&gt;입구 센서 안내판&lt;/h1&gt;`에서 h1은 주요 제목, 안의 글자는 화면 내용입니다.</a:t>
            </a:r>
          </a:p>
          <a:p xmlns:a="http://schemas.openxmlformats.org/drawingml/2006/main">
            <a:r>
              <a:t>반례: 모든 글자를 h1으로 만들면 크기가 같아질 수 있어도 제목과 설명의 관계가 흐려집니다.</a:t>
            </a:r>
          </a:p>
          <a:p xmlns:a="http://schemas.openxmlformats.org/drawingml/2006/main">
            <a:r>
              <a:t>풀이: h1은 내용 의미, CSS 는 모양이다. h1 안 문구만 바꾸면 본문 제목이 바뀌고 탭 title은 유지된다.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태그 꺾쇠를 지웠다면 원본의 해당 줄과 비교합니다. 제목 문구와 title 탭 이름은 다른 위치입니다.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속성은 요소에 추가 정보를 붙이는 이름과 값입니다. lang은 문서 언어, id 는 특정 요소를 찾는 이름, type은 버튼 동작 종류를 설명합니다.</a:t>
            </a:r>
          </a:p>
          <a:p xmlns:a="http://schemas.openxmlformats.org/drawingml/2006/main">
            <a:r>
              <a:t>사람이 보는 문구와 프로그램이 찾는 이름을 구분해야 버튼 연결을 끊지 않고 내용을 수정할 수 있습니다.</a:t>
            </a:r>
          </a:p>
          <a:p xmlns:a="http://schemas.openxmlformats.org/drawingml/2006/main">
            <a:r>
              <a:t>예: id ="check"는 JavaScript가 버튼을 찾는 기준이고 버튼 안 글자는 사용자에게 보이는 안내입니다.</a:t>
            </a:r>
          </a:p>
          <a:p xmlns:a="http://schemas.openxmlformats.org/drawingml/2006/main">
            <a:r>
              <a:t>반례: id를 임의로 바꾸고 연결 코드를 그대로 두면 화면은 보여도 버튼 반응이 사라질 수 있습니다.</a:t>
            </a:r>
          </a:p>
          <a:p xmlns:a="http://schemas.openxmlformats.org/drawingml/2006/main">
            <a:r>
              <a:t>풀이: 문구 수정은 id를 유지한다. 키보드 초점이 보이는 지도 확인한다.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속성은 요소에 추가 정보를 붙이는 이름과 값입니다. lang은 문서 언어, id 는 특정 요소를 찾는 이름, type은 버튼 동작 종류를 설명합니다.</a:t>
            </a:r>
          </a:p>
          <a:p xmlns:a="http://schemas.openxmlformats.org/drawingml/2006/main">
            <a:r>
              <a:t>사람이 보는 문구와 프로그램이 찾는 이름을 구분해야 버튼 연결을 끊지 않고 내용을 수정할 수 있습니다.</a:t>
            </a:r>
          </a:p>
          <a:p xmlns:a="http://schemas.openxmlformats.org/drawingml/2006/main">
            <a:r>
              <a:t>예: id ="check"는 JavaScript가 버튼을 찾는 기준이고 버튼 안 글자는 사용자에게 보이는 안내입니다.</a:t>
            </a:r>
          </a:p>
          <a:p xmlns:a="http://schemas.openxmlformats.org/drawingml/2006/main">
            <a:r>
              <a:t>반례: id를 임의로 바꾸고 연결 코드를 그대로 두면 화면은 보여도 버튼 반응이 사라질 수 있습니다.</a:t>
            </a:r>
          </a:p>
          <a:p xmlns:a="http://schemas.openxmlformats.org/drawingml/2006/main">
            <a:r>
              <a:t>풀이: 문구 수정은 id를 유지한다. 키보드 초점이 보이는 지도 확인한다.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속성은 요소에 추가 정보를 붙이는 이름과 값입니다. lang은 문서 언어, id 는 특정 요소를 찾는 이름, type은 버튼 동작 종류를 설명합니다.</a:t>
            </a:r>
          </a:p>
          <a:p xmlns:a="http://schemas.openxmlformats.org/drawingml/2006/main">
            <a:r>
              <a:t>사람이 보는 문구와 프로그램이 찾는 이름을 구분해야 버튼 연결을 끊지 않고 내용을 수정할 수 있습니다.</a:t>
            </a:r>
          </a:p>
          <a:p xmlns:a="http://schemas.openxmlformats.org/drawingml/2006/main">
            <a:r>
              <a:t>예: id ="check"는 JavaScript가 버튼을 찾는 기준이고 버튼 안 글자는 사용자에게 보이는 안내입니다.</a:t>
            </a:r>
          </a:p>
          <a:p xmlns:a="http://schemas.openxmlformats.org/drawingml/2006/main">
            <a:r>
              <a:t>반례: id를 임의로 바꾸고 연결 코드를 그대로 두면 화면은 보여도 버튼 반응이 사라질 수 있습니다.</a:t>
            </a:r>
          </a:p>
          <a:p xmlns:a="http://schemas.openxmlformats.org/drawingml/2006/main">
            <a:r>
              <a:t>풀이: 문구 수정은 id를 유지한다. 키보드 초점이 보이는 지도 확인한다.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버튼 반응이 없으면 id와 선택자 #check가 같은지 봅니다. 화면 문구를 바꾸려면 태그 사이를 고칩니다.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CSS는 어떤 요소에 어떤 모양을 적용할지 쓰는 규칙입니다. 선택자는 대상을 고르고, 속성과 값은 색·크기·간격을 정합니다.</a:t>
            </a:r>
          </a:p>
          <a:p xmlns:a="http://schemas.openxmlformats.org/drawingml/2006/main">
            <a:r>
              <a:t>내용과 모양을 나누면 같은 제목을 유지하면서 여러 화면 크기에 맞게 조정할 수 있습니다.</a:t>
            </a:r>
          </a:p>
          <a:p xmlns:a="http://schemas.openxmlformats.org/drawingml/2006/main">
            <a:r>
              <a:t>예: h1 { color: #126d65; }는 제목 글자의 색을 정합니다. #126d65는 색을 나타내는 표기입니다.</a:t>
            </a:r>
          </a:p>
          <a:p xmlns:a="http://schemas.openxmlformats.org/drawingml/2006/main">
            <a:r>
              <a:t>반례: 색을 바꿔도 센서 온도의 데이터 값이 바뀌는 것은 아닙니다.</a:t>
            </a:r>
          </a:p>
          <a:p xmlns:a="http://schemas.openxmlformats.org/drawingml/2006/main">
            <a:r>
              <a:t>풀이: h1 색만 변경되며 제목 글자와 온도 데이터는 유지된다.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CSS는 어떤 요소에 어떤 모양을 적용할지 쓰는 규칙입니다. 선택자는 대상을 고르고, 속성과 값은 색·크기·간격을 정합니다.</a:t>
            </a:r>
          </a:p>
          <a:p xmlns:a="http://schemas.openxmlformats.org/drawingml/2006/main">
            <a:r>
              <a:t>내용과 모양을 나누면 같은 제목을 유지하면서 여러 화면 크기에 맞게 조정할 수 있습니다.</a:t>
            </a:r>
          </a:p>
          <a:p xmlns:a="http://schemas.openxmlformats.org/drawingml/2006/main">
            <a:r>
              <a:t>예: h1 { color: #126d65; }는 제목 글자의 색을 정합니다. #126d65는 색을 나타내는 표기입니다.</a:t>
            </a:r>
          </a:p>
          <a:p xmlns:a="http://schemas.openxmlformats.org/drawingml/2006/main">
            <a:r>
              <a:t>반례: 색을 바꿔도 센서 온도의 데이터 값이 바뀌는 것은 아닙니다.</a:t>
            </a:r>
          </a:p>
          <a:p xmlns:a="http://schemas.openxmlformats.org/drawingml/2006/main">
            <a:r>
              <a:t>풀이: h1 색만 변경되며 제목 글자와 온도 데이터는 유지된다.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파일 style.css 1~5줄입니다. 모든 줄의 상세 해설은 code/line-guide.md에 있습니다. 추가 시간 없이 해당 활동 시연 시간 안에서 사용합니다.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CSS는 어떤 요소에 어떤 모양을 적용할지 쓰는 규칙입니다. 선택자는 대상을 고르고, 속성과 값은 색·크기·간격을 정합니다.</a:t>
            </a:r>
          </a:p>
          <a:p xmlns:a="http://schemas.openxmlformats.org/drawingml/2006/main">
            <a:r>
              <a:t>내용과 모양을 나누면 같은 제목을 유지하면서 여러 화면 크기에 맞게 조정할 수 있습니다.</a:t>
            </a:r>
          </a:p>
          <a:p xmlns:a="http://schemas.openxmlformats.org/drawingml/2006/main">
            <a:r>
              <a:t>예: h1 { color: #126d65; }는 제목 글자의 색을 정합니다. #126d65는 색을 나타내는 표기입니다.</a:t>
            </a:r>
          </a:p>
          <a:p xmlns:a="http://schemas.openxmlformats.org/drawingml/2006/main">
            <a:r>
              <a:t>반례: 색을 바꿔도 센서 온도의 데이터 값이 바뀌는 것은 아닙니다.</a:t>
            </a:r>
          </a:p>
          <a:p xmlns:a="http://schemas.openxmlformats.org/drawingml/2006/main">
            <a:r>
              <a:t>풀이: h1 색만 변경되며 제목 글자와 온도 데이터는 유지된다.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CSS가 적용되지 않으면 HTML의 href와 파일 이름이 일치하는지 먼저 확인합니다.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브라우저의 요소는 화면 공간을 차지하는 상자로 배치됩니다. padding은 안쪽 간격, margin 은 바깥 간격이며 max-width 는 너무 넓어지지 않게 제한합니다.</a:t>
            </a:r>
          </a:p>
          <a:p xmlns:a="http://schemas.openxmlformats.org/drawingml/2006/main">
            <a:r>
              <a:t>문장이 화면 끝까지 길어지거나 요소가 붙어 있으면 내용을 읽기 어렵습니다. 간격도 정보 전달에 영향을 줍니다.</a:t>
            </a:r>
          </a:p>
          <a:p xmlns:a="http://schemas.openxmlformats.org/drawingml/2006/main">
            <a:r>
              <a:t>예: main의 padding:24px을 32px로 바꾸면 안내판 내용과 바깥 영역 사이의 안쪽 간격이 커집니다.</a:t>
            </a:r>
          </a:p>
          <a:p xmlns:a="http://schemas.openxmlformats.org/drawingml/2006/main">
            <a:r>
              <a:t>반례: 글자를 작게 줄여 모든 것을 한 화면에 넣는 방식은 초심자의 읽기를 어렵게 할 수 있습니다.</a:t>
            </a:r>
          </a:p>
          <a:p xmlns:a="http://schemas.openxmlformats.org/drawingml/2006/main">
            <a:r>
              <a:t>풀이: padding은 내용 안쪽 간격, margin 은 요소 바깥 간격이다. 데이터 값은 바뀌지 않는다.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브라우저의 요소는 화면 공간을 차지하는 상자로 배치됩니다. padding은 안쪽 간격, margin 은 바깥 간격이며 max-width 는 너무 넓어지지 않게 제한합니다.</a:t>
            </a:r>
          </a:p>
          <a:p xmlns:a="http://schemas.openxmlformats.org/drawingml/2006/main">
            <a:r>
              <a:t>문장이 화면 끝까지 길어지거나 요소가 붙어 있으면 내용을 읽기 어렵습니다. 간격도 정보 전달에 영향을 줍니다.</a:t>
            </a:r>
          </a:p>
          <a:p xmlns:a="http://schemas.openxmlformats.org/drawingml/2006/main">
            <a:r>
              <a:t>예: main의 padding:24px을 32px로 바꾸면 안내판 내용과 바깥 영역 사이의 안쪽 간격이 커집니다.</a:t>
            </a:r>
          </a:p>
          <a:p xmlns:a="http://schemas.openxmlformats.org/drawingml/2006/main">
            <a:r>
              <a:t>반례: 글자를 작게 줄여 모든 것을 한 화면에 넣는 방식은 초심자의 읽기를 어렵게 할 수 있습니다.</a:t>
            </a:r>
          </a:p>
          <a:p xmlns:a="http://schemas.openxmlformats.org/drawingml/2006/main">
            <a:r>
              <a:t>풀이: padding은 내용 안쪽 간격, margin 은 요소 바깥 간격이다. 데이터 값은 바뀌지 않는다.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브라우저의 요소는 화면 공간을 차지하는 상자로 배치됩니다. padding은 안쪽 간격, margin 은 바깥 간격이며 max-width 는 너무 넓어지지 않게 제한합니다.</a:t>
            </a:r>
          </a:p>
          <a:p xmlns:a="http://schemas.openxmlformats.org/drawingml/2006/main">
            <a:r>
              <a:t>문장이 화면 끝까지 길어지거나 요소가 붙어 있으면 내용을 읽기 어렵습니다. 간격도 정보 전달에 영향을 줍니다.</a:t>
            </a:r>
          </a:p>
          <a:p xmlns:a="http://schemas.openxmlformats.org/drawingml/2006/main">
            <a:r>
              <a:t>예: main의 padding:24px을 32px로 바꾸면 안내판 내용과 바깥 영역 사이의 안쪽 간격이 커집니다.</a:t>
            </a:r>
          </a:p>
          <a:p xmlns:a="http://schemas.openxmlformats.org/drawingml/2006/main">
            <a:r>
              <a:t>반례: 글자를 작게 줄여 모든 것을 한 화면에 넣는 방식은 초심자의 읽기를 어렵게 할 수 있습니다.</a:t>
            </a:r>
          </a:p>
          <a:p xmlns:a="http://schemas.openxmlformats.org/drawingml/2006/main">
            <a:r>
              <a:t>풀이: padding은 내용 안쪽 간격, margin 은 요소 바깥 간격이다. 데이터 값은 바뀌지 않는다.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차이가 안 보이면 같은 파일을 저장했는지와 브라우저 새로고침 여부를 확인합니다.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반응형 규칙은 화면 폭 같은 조건에 따라 모양을 조정하는 CSS입니다. 색만으로 의미를 전달하지 않고 글자와 구조도 함께 사용합니다.</a:t>
            </a:r>
          </a:p>
          <a:p xmlns:a="http://schemas.openxmlformats.org/drawingml/2006/main">
            <a:r>
              <a:t>같은 자료를 좁은 화면과 키보드로도 읽을 수 있어야 업무 확인에 사용할 수 있습니다.</a:t>
            </a:r>
          </a:p>
          <a:p xmlns:a="http://schemas.openxmlformats.org/drawingml/2006/main">
            <a:r>
              <a:t>예: max-width:600px 조건에서는 main의 바깥 간격이 8px로 바뀝니다. focus-visible은 키보드 초점을 드러냅니다.</a:t>
            </a:r>
          </a:p>
          <a:p xmlns:a="http://schemas.openxmlformats.org/drawingml/2006/main">
            <a:r>
              <a:t>반례: 초록색만 보고 정상이라고 판단하게 하면 색을 구분하기 어렵거나 상태가 바뀐 경우 설명이 부족합니다.</a:t>
            </a:r>
          </a:p>
          <a:p xmlns:a="http://schemas.openxmlformats.org/drawingml/2006/main">
            <a:r>
              <a:t>풀이: 미디어 규칙과 초점 표시를 확인하고 상태는 읽을 수 있는 문구로 제공한다.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반응형 규칙은 화면 폭 같은 조건에 따라 모양을 조정하는 CSS입니다. 색만으로 의미를 전달하지 않고 글자와 구조도 함께 사용합니다.</a:t>
            </a:r>
          </a:p>
          <a:p xmlns:a="http://schemas.openxmlformats.org/drawingml/2006/main">
            <a:r>
              <a:t>같은 자료를 좁은 화면과 키보드로도 읽을 수 있어야 업무 확인에 사용할 수 있습니다.</a:t>
            </a:r>
          </a:p>
          <a:p xmlns:a="http://schemas.openxmlformats.org/drawingml/2006/main">
            <a:r>
              <a:t>예: max-width:600px 조건에서는 main의 바깥 간격이 8px로 바뀝니다. focus-visible은 키보드 초점을 드러냅니다.</a:t>
            </a:r>
          </a:p>
          <a:p xmlns:a="http://schemas.openxmlformats.org/drawingml/2006/main">
            <a:r>
              <a:t>반례: 초록색만 보고 정상이라고 판단하게 하면 색을 구분하기 어렵거나 상태가 바뀐 경우 설명이 부족합니다.</a:t>
            </a:r>
          </a:p>
          <a:p xmlns:a="http://schemas.openxmlformats.org/drawingml/2006/main">
            <a:r>
              <a:t>풀이: 미디어 규칙과 초점 표시를 확인하고 상태는 읽을 수 있는 문구로 제공한다.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반응형 규칙은 화면 폭 같은 조건에 따라 모양을 조정하는 CSS입니다. 색만으로 의미를 전달하지 않고 글자와 구조도 함께 사용합니다.</a:t>
            </a:r>
          </a:p>
          <a:p xmlns:a="http://schemas.openxmlformats.org/drawingml/2006/main">
            <a:r>
              <a:t>같은 자료를 좁은 화면과 키보드로도 읽을 수 있어야 업무 확인에 사용할 수 있습니다.</a:t>
            </a:r>
          </a:p>
          <a:p xmlns:a="http://schemas.openxmlformats.org/drawingml/2006/main">
            <a:r>
              <a:t>예: max-width:600px 조건에서는 main의 바깥 간격이 8px로 바뀝니다. focus-visible은 키보드 초점을 드러냅니다.</a:t>
            </a:r>
          </a:p>
          <a:p xmlns:a="http://schemas.openxmlformats.org/drawingml/2006/main">
            <a:r>
              <a:t>반례: 초록색만 보고 정상이라고 판단하게 하면 색을 구분하기 어렵거나 상태가 바뀐 경우 설명이 부족합니다.</a:t>
            </a:r>
          </a:p>
          <a:p xmlns:a="http://schemas.openxmlformats.org/drawingml/2006/main">
            <a:r>
              <a:t>풀이: 미디어 규칙과 초점 표시를 확인하고 상태는 읽을 수 있는 문구로 제공한다.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좁은 화면이 넘치면 고정 폭을 늘리지 말고 max-width와 여백 규칙부터 확인합니다.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JavaScript는 프로그램의 동작을 적는 언어입니다. 이 예제에서는 클릭이나 데이터 변화에 따라 화면을 바꿉니다. 이벤트는 버튼 클릭처럼 프로그램이 반응할 수 있는 사건입니다.</a:t>
            </a:r>
          </a:p>
          <a:p xmlns:a="http://schemas.openxmlformats.org/drawingml/2006/main">
            <a:r>
              <a:t>정적인 문서 내용과 클릭 뒤 실행되는 동작을 나누면 화면이 왜 바뀌었는지 따라갈 수 있습니다.</a:t>
            </a:r>
          </a:p>
          <a:p xmlns:a="http://schemas.openxmlformats.org/drawingml/2006/main">
            <a:r>
              <a:t>예: addEventListener("click", ...)는 클릭 때 안쪽 코드를 실행하도록 연결합니다.</a:t>
            </a:r>
          </a:p>
          <a:p xmlns:a="http://schemas.openxmlformats.org/drawingml/2006/main">
            <a:r>
              <a:t>반례: 버튼이 보인다는 사실만으로 클릭 동작이 연결됐다고 볼 수 없습니다.</a:t>
            </a:r>
          </a:p>
          <a:p xmlns:a="http://schemas.openxmlformats.org/drawingml/2006/main">
            <a:r>
              <a:t>풀이: querySelector로 요소를 찾고 클릭 때 textContent를 바꾼다. 브라우저가 JavaScript를 실행한다.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JavaScript는 프로그램의 동작을 적는 언어입니다. 이 예제에서는 클릭이나 데이터 변화에 따라 화면을 바꿉니다. 이벤트는 버튼 클릭처럼 프로그램이 반응할 수 있는 사건입니다.</a:t>
            </a:r>
          </a:p>
          <a:p xmlns:a="http://schemas.openxmlformats.org/drawingml/2006/main">
            <a:r>
              <a:t>정적인 문서 내용과 클릭 뒤 실행되는 동작을 나누면 화면이 왜 바뀌었는지 따라갈 수 있습니다.</a:t>
            </a:r>
          </a:p>
          <a:p xmlns:a="http://schemas.openxmlformats.org/drawingml/2006/main">
            <a:r>
              <a:t>예: addEventListener("click", ...)는 클릭 때 안쪽 코드를 실행하도록 연결합니다.</a:t>
            </a:r>
          </a:p>
          <a:p xmlns:a="http://schemas.openxmlformats.org/drawingml/2006/main">
            <a:r>
              <a:t>반례: 버튼이 보인다는 사실만으로 클릭 동작이 연결됐다고 볼 수 없습니다.</a:t>
            </a:r>
          </a:p>
          <a:p xmlns:a="http://schemas.openxmlformats.org/drawingml/2006/main">
            <a:r>
              <a:t>풀이: querySelector로 요소를 찾고 클릭 때 textContent를 바꾼다. 브라우저가 JavaScript를 실행한다.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파일 app.js 1~7줄입니다. 모든 줄의 상세 해설은 code/line-guide.md에 있습니다. 추가 시간 없이 해당 활동 시연 시간 안에서 사용합니다.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JavaScript는 프로그램의 동작을 적는 언어입니다. 이 예제에서는 클릭이나 데이터 변화에 따라 화면을 바꿉니다. 이벤트는 버튼 클릭처럼 프로그램이 반응할 수 있는 사건입니다.</a:t>
            </a:r>
          </a:p>
          <a:p xmlns:a="http://schemas.openxmlformats.org/drawingml/2006/main">
            <a:r>
              <a:t>정적인 문서 내용과 클릭 뒤 실행되는 동작을 나누면 화면이 왜 바뀌었는지 따라갈 수 있습니다.</a:t>
            </a:r>
          </a:p>
          <a:p xmlns:a="http://schemas.openxmlformats.org/drawingml/2006/main">
            <a:r>
              <a:t>예: addEventListener("click", ...)는 클릭 때 안쪽 코드를 실행하도록 연결합니다.</a:t>
            </a:r>
          </a:p>
          <a:p xmlns:a="http://schemas.openxmlformats.org/drawingml/2006/main">
            <a:r>
              <a:t>반례: 버튼이 보인다는 사실만으로 클릭 동작이 연결됐다고 볼 수 없습니다.</a:t>
            </a:r>
          </a:p>
          <a:p xmlns:a="http://schemas.openxmlformats.org/drawingml/2006/main">
            <a:r>
              <a:t>풀이: querySelector로 요소를 찾고 클릭 때 textContent를 바꾼다. 브라우저가 JavaScript를 실행한다.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선택한 요소가 없다는 오류면 HTML의 id와 querySelector 이름을 비교합니다.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데이터는 프로그램이 보여 줄 값이며 화면 요소는 그 값을 담는 자리입니다. textContent는 글자를 넣는 방법으로 오늘의 단순 숫자·문구 표시에 사용합니다.</a:t>
            </a:r>
          </a:p>
          <a:p xmlns:a="http://schemas.openxmlformats.org/drawingml/2006/main">
            <a:r>
              <a:t>어느 파일의 값이 어느 화면 자리로 이동하는지 알면 작은 변경을 스스로 확인할 수 있습니다.</a:t>
            </a:r>
          </a:p>
          <a:p xmlns:a="http://schemas.openxmlformats.org/drawingml/2006/main">
            <a:r>
              <a:t>예: data.js의 temperature_c를 24.5로 바꾼 뒤 클릭하면 온도 자리에 24.5가 표시됩니다.</a:t>
            </a:r>
          </a:p>
          <a:p xmlns:a="http://schemas.openxmlformats.org/drawingml/2006/main">
            <a:r>
              <a:t>반례: HTML에 처음 적힌 22.5와 클릭 후 data.js에서 읽은 값은 출처가 다르므로 수정 위치를 구분합니다.</a:t>
            </a:r>
          </a:p>
          <a:p xmlns:a="http://schemas.openxmlformats.org/drawingml/2006/main">
            <a:r>
              <a:t>풀이: 초기 HTML은 22.5이며 클릭 후 SENSOR.temperature_c를 표시한다. 데이터 수정은 클릭 결과에 반영된다.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데이터는 프로그램이 보여 줄 값이며 화면 요소는 그 값을 담는 자리입니다. textContent는 글자를 넣는 방법으로 오늘의 단순 숫자·문구 표시에 사용합니다.</a:t>
            </a:r>
          </a:p>
          <a:p xmlns:a="http://schemas.openxmlformats.org/drawingml/2006/main">
            <a:r>
              <a:t>어느 파일의 값이 어느 화면 자리로 이동하는지 알면 작은 변경을 스스로 확인할 수 있습니다.</a:t>
            </a:r>
          </a:p>
          <a:p xmlns:a="http://schemas.openxmlformats.org/drawingml/2006/main">
            <a:r>
              <a:t>예: data.js의 temperature_c를 24.5로 바꾼 뒤 클릭하면 온도 자리에 24.5가 표시됩니다.</a:t>
            </a:r>
          </a:p>
          <a:p xmlns:a="http://schemas.openxmlformats.org/drawingml/2006/main">
            <a:r>
              <a:t>반례: HTML에 처음 적힌 22.5와 클릭 후 data.js에서 읽은 값은 출처가 다르므로 수정 위치를 구분합니다.</a:t>
            </a:r>
          </a:p>
          <a:p xmlns:a="http://schemas.openxmlformats.org/drawingml/2006/main">
            <a:r>
              <a:t>풀이: 초기 HTML은 22.5이며 클릭 후 SENSOR.temperature_c를 표시한다. 데이터 수정은 클릭 결과에 반영된다.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데이터는 프로그램이 보여 줄 값이며 화면 요소는 그 값을 담는 자리입니다. textContent는 글자를 넣는 방법으로 오늘의 단순 숫자·문구 표시에 사용합니다.</a:t>
            </a:r>
          </a:p>
          <a:p xmlns:a="http://schemas.openxmlformats.org/drawingml/2006/main">
            <a:r>
              <a:t>어느 파일의 값이 어느 화면 자리로 이동하는지 알면 작은 변경을 스스로 확인할 수 있습니다.</a:t>
            </a:r>
          </a:p>
          <a:p xmlns:a="http://schemas.openxmlformats.org/drawingml/2006/main">
            <a:r>
              <a:t>예: data.js의 temperature_c를 24.5로 바꾼 뒤 클릭하면 온도 자리에 24.5가 표시됩니다.</a:t>
            </a:r>
          </a:p>
          <a:p xmlns:a="http://schemas.openxmlformats.org/drawingml/2006/main">
            <a:r>
              <a:t>반례: HTML에 처음 적힌 22.5와 클릭 후 data.js에서 읽은 값은 출처가 다르므로 수정 위치를 구분합니다.</a:t>
            </a:r>
          </a:p>
          <a:p xmlns:a="http://schemas.openxmlformats.org/drawingml/2006/main">
            <a:r>
              <a:t>풀이: 초기 HTML은 22.5이며 클릭 후 SENSOR.temperature_c를 표시한다. 데이터 수정은 클릭 결과에 반영된다.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값이 그대로면 클릭까지 수행했는지 봅니다. 초기 HTML 값만 확인하고 변경 실패라고 판단하지 않습니다.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오류를 찾을 때는 증상·실제 파일·가장 최근에 바꾼 부분을 순서대로 확인합니다. 코드 전체를 다시 쓰기보다 연결 하나를 비교합니다.</a:t>
            </a:r>
          </a:p>
          <a:p xmlns:a="http://schemas.openxmlformats.org/drawingml/2006/main">
            <a:r>
              <a:t>작은 오타를 찾는 과정은 화면이 여러 파일의 연결로 만들어진다는 사실을 보여 줍니다.</a:t>
            </a:r>
          </a:p>
          <a:p xmlns:a="http://schemas.openxmlformats.org/drawingml/2006/main">
            <a:r>
              <a:t>예: 복사본의 id ="check"를 id ="checkx"로 바꾸면 #check 선택과 어긋납니다. 원복하면 클릭이 돌아옵니다.</a:t>
            </a:r>
          </a:p>
          <a:p xmlns:a="http://schemas.openxmlformats.org/drawingml/2006/main">
            <a:r>
              <a:t>반례: 정상 원본까지 고치면 비교 기준을 잃으므로 의도적 오류는 작업 복사본에만 만듭니다.</a:t>
            </a:r>
          </a:p>
          <a:p xmlns:a="http://schemas.openxmlformats.org/drawingml/2006/main">
            <a:r>
              <a:t>풀이: id와 선택자가 일치해야한다. 수정 뒤 클릭을 다시 실행해 동작 복구를 확인한다.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오류를 찾을 때는 증상·실제 파일·가장 최근에 바꾼 부분을 순서대로 확인합니다. 코드 전체를 다시 쓰기보다 연결 하나를 비교합니다.</a:t>
            </a:r>
          </a:p>
          <a:p xmlns:a="http://schemas.openxmlformats.org/drawingml/2006/main">
            <a:r>
              <a:t>작은 오타를 찾는 과정은 화면이 여러 파일의 연결로 만들어진다는 사실을 보여 줍니다.</a:t>
            </a:r>
          </a:p>
          <a:p xmlns:a="http://schemas.openxmlformats.org/drawingml/2006/main">
            <a:r>
              <a:t>예: 복사본의 id ="check"를 id ="checkx"로 바꾸면 #check 선택과 어긋납니다. 원복하면 클릭이 돌아옵니다.</a:t>
            </a:r>
          </a:p>
          <a:p xmlns:a="http://schemas.openxmlformats.org/drawingml/2006/main">
            <a:r>
              <a:t>반례: 정상 원본까지 고치면 비교 기준을 잃으므로 의도적 오류는 작업 복사본에만 만듭니다.</a:t>
            </a:r>
          </a:p>
          <a:p xmlns:a="http://schemas.openxmlformats.org/drawingml/2006/main">
            <a:r>
              <a:t>풀이: id와 선택자가 일치해야한다. 수정 뒤 클릭을 다시 실행해 동작 복구를 확인한다.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오류를 찾을 때는 증상·실제 파일·가장 최근에 바꾼 부분을 순서대로 확인합니다. 코드 전체를 다시 쓰기보다 연결 하나를 비교합니다.</a:t>
            </a:r>
          </a:p>
          <a:p xmlns:a="http://schemas.openxmlformats.org/drawingml/2006/main">
            <a:r>
              <a:t>작은 오타를 찾는 과정은 화면이 여러 파일의 연결로 만들어진다는 사실을 보여 줍니다.</a:t>
            </a:r>
          </a:p>
          <a:p xmlns:a="http://schemas.openxmlformats.org/drawingml/2006/main">
            <a:r>
              <a:t>예: 복사본의 id ="check"를 id ="checkx"로 바꾸면 #check 선택과 어긋납니다. 원복하면 클릭이 돌아옵니다.</a:t>
            </a:r>
          </a:p>
          <a:p xmlns:a="http://schemas.openxmlformats.org/drawingml/2006/main">
            <a:r>
              <a:t>반례: 정상 원본까지 고치면 비교 기준을 잃으므로 의도적 오류는 작업 복사본에만 만듭니다.</a:t>
            </a:r>
          </a:p>
          <a:p xmlns:a="http://schemas.openxmlformats.org/drawingml/2006/main">
            <a:r>
              <a:t>풀이: id와 선택자가 일치해야한다. 수정 뒤 클릭을 다시 실행해 동작 복구를 확인한다.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개발자 도구가 익숙하지 않으면 먼저 원문 이름 비교로 찾고 강사가 콘솔 오류를 보여 줍니다.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React는 데이터와 상태를 이용해 화면을 구성하는 JavaScript 라이브러리입니다. 컴포넌트는 내용과 동작을 함께 설명하는 재사용 가능한 화면 부품입니다.</a:t>
            </a:r>
          </a:p>
          <a:p xmlns:a="http://schemas.openxmlformats.org/drawingml/2006/main">
            <a:r>
              <a:t>같은 센서 안내 형식을 여러 곳에 쓸 때 각 부품의 입력과 상태를 구분할 수 있습니다.</a:t>
            </a:r>
          </a:p>
          <a:p xmlns:a="http://schemas.openxmlformats.org/drawingml/2006/main">
            <a:r>
              <a:t>예: SensorCard는 장소와 온도를 보여 주는 제공된 완성 부품입니다. App은 제목과 이 부품을 화면에 배치합니다.</a:t>
            </a:r>
          </a:p>
          <a:p xmlns:a="http://schemas.openxmlformats.org/drawingml/2006/main">
            <a:r>
              <a:t>반례: React는 HTML이나 CSS를 없애는 도구가 아니며 화면의 내용과 모양을 여전히 이해해야 합니다.</a:t>
            </a:r>
          </a:p>
          <a:p xmlns:a="http://schemas.openxmlformats.org/drawingml/2006/main">
            <a:r>
              <a:t>풀이: 컴포넌트는 화면 부품, 데이터는 그 부품에 넣는 값이다. 번들 파일이 브라우저에서 실행된다.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React는 데이터와 상태를 이용해 화면을 구성하는 JavaScript 라이브러리입니다. 컴포넌트는 내용과 동작을 함께 설명하는 재사용 가능한 화면 부품입니다.</a:t>
            </a:r>
          </a:p>
          <a:p xmlns:a="http://schemas.openxmlformats.org/drawingml/2006/main">
            <a:r>
              <a:t>같은 센서 안내 형식을 여러 곳에 쓸 때 각 부품의 입력과 상태를 구분할 수 있습니다.</a:t>
            </a:r>
          </a:p>
          <a:p xmlns:a="http://schemas.openxmlformats.org/drawingml/2006/main">
            <a:r>
              <a:t>예: SensorCard는 장소와 온도를 보여 주는 제공된 완성 부품입니다. App은 제목과 이 부품을 화면에 배치합니다.</a:t>
            </a:r>
          </a:p>
          <a:p xmlns:a="http://schemas.openxmlformats.org/drawingml/2006/main">
            <a:r>
              <a:t>반례: React는 HTML이나 CSS를 없애는 도구가 아니며 화면의 내용과 모양을 여전히 이해해야 합니다.</a:t>
            </a:r>
          </a:p>
          <a:p xmlns:a="http://schemas.openxmlformats.org/drawingml/2006/main">
            <a:r>
              <a:t>풀이: 컴포넌트는 화면 부품, 데이터는 그 부품에 넣는 값이다. 번들 파일이 브라우저에서 실행된다.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파일 App.jsx 1~10줄입니다. 모든 줄의 상세 해설은 code/line-guide.md에 있습니다. 추가 시간 없이 해당 활동 시연 시간 안에서 사용합니다.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React는 데이터와 상태를 이용해 화면을 구성하는 JavaScript 라이브러리입니다. 컴포넌트는 내용과 동작을 함께 설명하는 재사용 가능한 화면 부품입니다.</a:t>
            </a:r>
          </a:p>
          <a:p xmlns:a="http://schemas.openxmlformats.org/drawingml/2006/main">
            <a:r>
              <a:t>같은 센서 안내 형식을 여러 곳에 쓸 때 각 부품의 입력과 상태를 구분할 수 있습니다.</a:t>
            </a:r>
          </a:p>
          <a:p xmlns:a="http://schemas.openxmlformats.org/drawingml/2006/main">
            <a:r>
              <a:t>예: SensorCard는 장소와 온도를 보여 주는 제공된 완성 부품입니다. App은 제목과 이 부품을 화면에 배치합니다.</a:t>
            </a:r>
          </a:p>
          <a:p xmlns:a="http://schemas.openxmlformats.org/drawingml/2006/main">
            <a:r>
              <a:t>반례: React는 HTML이나 CSS를 없애는 도구가 아니며 화면의 내용과 모양을 여전히 이해해야 합니다.</a:t>
            </a:r>
          </a:p>
          <a:p xmlns:a="http://schemas.openxmlformats.org/drawingml/2006/main">
            <a:r>
              <a:t>풀이: 컴포넌트는 화면 부품, 데이터는 그 부품에 넣는 값이다. 번들 파일이 브라우저에서 실행된다.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패키지 설치가 없어도 제공 app.bundle.js로 화면을 볼 수 있습니다. JSX를 브라우저가 그대로 읽는다고 가정하지 않습니다.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props는 부모가 부품에 전달하는 입력입니다. 오늘은 장소를 전달하고 온도의 첫 값을 제공 데이터에서 읽는 작은 완성 예제를 사용합니다.</a:t>
            </a:r>
          </a:p>
          <a:p xmlns:a="http://schemas.openxmlformats.org/drawingml/2006/main">
            <a:r>
              <a:t>부품을 처음부터 새로 만들지 않아도 어떤 입력을 바꾸면 어느 화면이 달라지는지 확인할 수 있습니다.</a:t>
            </a:r>
          </a:p>
          <a:p xmlns:a="http://schemas.openxmlformats.org/drawingml/2006/main">
            <a:r>
              <a:t>예: work/react/data.js에서 location을 창고,temperature_c를 24.5로 바꾸고 새로고침하면 부품의 내용이 바뀝니다.</a:t>
            </a:r>
          </a:p>
          <a:p xmlns:a="http://schemas.openxmlformats.org/drawingml/2006/main">
            <a:r>
              <a:t>반례: JSX의 중괄호는 여기서 JavaScript 값을 넣는 자리이며 CSS 규칙의 중괄호와 역할이 다릅니다.</a:t>
            </a:r>
          </a:p>
          <a:p xmlns:a="http://schemas.openxmlformats.org/drawingml/2006/main">
            <a:r>
              <a:t>풀이: SENSOR.location이 SensorCard의 location 입력으로 전달된다. 첫 온도는 useState 초기 값으로 사용된다.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props는 부모가 부품에 전달하는 입력입니다. 오늘은 장소를 전달하고 온도의 첫 값을 제공 데이터에서 읽는 작은 완성 예제를 사용합니다.</a:t>
            </a:r>
          </a:p>
          <a:p xmlns:a="http://schemas.openxmlformats.org/drawingml/2006/main">
            <a:r>
              <a:t>부품을 처음부터 새로 만들지 않아도 어떤 입력을 바꾸면 어느 화면이 달라지는지 확인할 수 있습니다.</a:t>
            </a:r>
          </a:p>
          <a:p xmlns:a="http://schemas.openxmlformats.org/drawingml/2006/main">
            <a:r>
              <a:t>예: work/react/data.js에서 location을 창고,temperature_c를 24.5로 바꾸고 새로고침하면 부품의 내용이 바뀝니다.</a:t>
            </a:r>
          </a:p>
          <a:p xmlns:a="http://schemas.openxmlformats.org/drawingml/2006/main">
            <a:r>
              <a:t>반례: JSX의 중괄호는 여기서 JavaScript 값을 넣는 자리이며 CSS 규칙의 중괄호와 역할이 다릅니다.</a:t>
            </a:r>
          </a:p>
          <a:p xmlns:a="http://schemas.openxmlformats.org/drawingml/2006/main">
            <a:r>
              <a:t>풀이: SENSOR.location이 SensorCard의 location 입력으로 전달된다. 첫 온도는 useState 초기 값으로 사용된다.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파일 App.jsx 11~17줄입니다. 모든 줄의 상세 해설은 code/line-guide.md에 있습니다. 추가 시간 없이 해당 활동 시연 시간 안에서 사용합니다.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props는 부모가 부품에 전달하는 입력입니다. 오늘은 장소를 전달하고 온도의 첫 값을 제공 데이터에서 읽는 작은 완성 예제를 사용합니다.</a:t>
            </a:r>
          </a:p>
          <a:p xmlns:a="http://schemas.openxmlformats.org/drawingml/2006/main">
            <a:r>
              <a:t>부품을 처음부터 새로 만들지 않아도 어떤 입력을 바꾸면 어느 화면이 달라지는지 확인할 수 있습니다.</a:t>
            </a:r>
          </a:p>
          <a:p xmlns:a="http://schemas.openxmlformats.org/drawingml/2006/main">
            <a:r>
              <a:t>예: work/react/data.js에서 location을 창고,temperature_c를 24.5로 바꾸고 새로고침하면 부품의 내용이 바뀝니다.</a:t>
            </a:r>
          </a:p>
          <a:p xmlns:a="http://schemas.openxmlformats.org/drawingml/2006/main">
            <a:r>
              <a:t>반례: JSX의 중괄호는 여기서 JavaScript 값을 넣는 자리이며 CSS 규칙의 중괄호와 역할이 다릅니다.</a:t>
            </a:r>
          </a:p>
          <a:p xmlns:a="http://schemas.openxmlformats.org/drawingml/2006/main">
            <a:r>
              <a:t>풀이: SENSOR.location이 SensorCard의 location 입력으로 전달된다. 첫 온도는 useState 초기 값으로 사용된다.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수정한 data.js가 code인지 work인지 확인합니다. 변경 값을 읽는 곳은 현재 열린 HTML 과 같은 폴더입니다.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상태는 컴포넌트가 기억하는 값입니다. useState는 현재 값과 그 값을 바꾸는 함수를 제공하며 상태 변경에 따라 화면이 다시 계산됩니다.</a:t>
            </a:r>
          </a:p>
          <a:p xmlns:a="http://schemas.openxmlformats.org/drawingml/2006/main">
            <a:r>
              <a:t>화면 글자를 직접 찾는 방식과 상태를 바꿔 화면을 설명하는 방식의 차이를 작은 클릭으로 관찰합니다.</a:t>
            </a:r>
          </a:p>
          <a:p xmlns:a="http://schemas.openxmlformats.org/drawingml/2006/main">
            <a:r>
              <a:t>예: 0.5 올린 모의값 버튼을 누르면 22.5 →23.0처럼 상태가 바뀝니다. 이것은 실제 센서 측정이 아닙니다.</a:t>
            </a:r>
          </a:p>
          <a:p xmlns:a="http://schemas.openxmlformats.org/drawingml/2006/main">
            <a:r>
              <a:t>반례: 새로고침하면 서버에 저장한 값이 아니라 data.js의 초기 값으로 돌아갑니다.</a:t>
            </a:r>
          </a:p>
          <a:p xmlns:a="http://schemas.openxmlformats.org/drawingml/2006/main">
            <a:r>
              <a:t>풀이: 클릭은 브라우저 메모리 상태만 변경한다.22.5에서 두 번이면 23.5, 새로고침하면 초기 값으로 돌아간다.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상태는 컴포넌트가 기억하는 값입니다. useState는 현재 값과 그 값을 바꾸는 함수를 제공하며 상태 변경에 따라 화면이 다시 계산됩니다.</a:t>
            </a:r>
          </a:p>
          <a:p xmlns:a="http://schemas.openxmlformats.org/drawingml/2006/main">
            <a:r>
              <a:t>화면 글자를 직접 찾는 방식과 상태를 바꿔 화면을 설명하는 방식의 차이를 작은 클릭으로 관찰합니다.</a:t>
            </a:r>
          </a:p>
          <a:p xmlns:a="http://schemas.openxmlformats.org/drawingml/2006/main">
            <a:r>
              <a:t>예: 0.5 올린 모의값 버튼을 누르면 22.5 →23.0처럼 상태가 바뀝니다. 이것은 실제 센서 측정이 아닙니다.</a:t>
            </a:r>
          </a:p>
          <a:p xmlns:a="http://schemas.openxmlformats.org/drawingml/2006/main">
            <a:r>
              <a:t>반례: 새로고침하면 서버에 저장한 값이 아니라 data.js의 초기 값으로 돌아갑니다.</a:t>
            </a:r>
          </a:p>
          <a:p xmlns:a="http://schemas.openxmlformats.org/drawingml/2006/main">
            <a:r>
              <a:t>풀이: 클릭은 브라우저 메모리 상태만 변경한다.22.5에서 두 번이면 23.5, 새로고침하면 초기 값으로 돌아간다.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상태는 컴포넌트가 기억하는 값입니다. useState는 현재 값과 그 값을 바꾸는 함수를 제공하며 상태 변경에 따라 화면이 다시 계산됩니다.</a:t>
            </a:r>
          </a:p>
          <a:p xmlns:a="http://schemas.openxmlformats.org/drawingml/2006/main">
            <a:r>
              <a:t>화면 글자를 직접 찾는 방식과 상태를 바꿔 화면을 설명하는 방식의 차이를 작은 클릭으로 관찰합니다.</a:t>
            </a:r>
          </a:p>
          <a:p xmlns:a="http://schemas.openxmlformats.org/drawingml/2006/main">
            <a:r>
              <a:t>예: 0.5 올린 모의값 버튼을 누르면 22.5 →23.0처럼 상태가 바뀝니다. 이것은 실제 센서 측정이 아닙니다.</a:t>
            </a:r>
          </a:p>
          <a:p xmlns:a="http://schemas.openxmlformats.org/drawingml/2006/main">
            <a:r>
              <a:t>반례: 새로고침하면 서버에 저장한 값이 아니라 data.js의 초기 값으로 돌아갑니다.</a:t>
            </a:r>
          </a:p>
          <a:p xmlns:a="http://schemas.openxmlformats.org/drawingml/2006/main">
            <a:r>
              <a:t>풀이: 클릭은 브라우저 메모리 상태만 변경한다.22.5에서 두 번이면 23.5, 새로고침하면 초기 값으로 돌아간다.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버튼을 누른 값이 파일에 저장됐다고 생각되면 data.js 원문을 다시 열어 비교합니다.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MCP는 AI 앱이 외부 도구나 자료를 정해진 메시지 형식으로 사용하도록 연결하는 프로토콜입니다. 서버는 기능을 제공하고 클라이언트는 요청을 전달합니다.</a:t>
            </a:r>
          </a:p>
          <a:p xmlns:a="http://schemas.openxmlformats.org/drawingml/2006/main">
            <a:r>
              <a:t>React의 화면 구성과 MCP의 도구 통신을 같은 역할로 생각하지 않도록 경계를 구분합니다.</a:t>
            </a:r>
          </a:p>
          <a:p xmlns:a="http://schemas.openxmlformats.org/drawingml/2006/main">
            <a:r>
              <a:t>예: 제공 클라이언트는 get_reading이라는 읽기 도구를 요청하고 서버는 가상 센서 기록을 반환합니다.</a:t>
            </a:r>
          </a:p>
          <a:p xmlns:a="http://schemas.openxmlformats.org/drawingml/2006/main">
            <a:r>
              <a:t>반례: 오늘의 mcp_client.py는 저장된 요청을 보내는 프로그램이며 AI 모델이나 실제 AI 호스트가 아닙니다.</a:t>
            </a:r>
          </a:p>
          <a:p xmlns:a="http://schemas.openxmlformats.org/drawingml/2006/main">
            <a:r>
              <a:t>풀이: 요청 프로그램과 도구 서버가 STDIO로 통신한다. 모델 추론이나 React 자동 연결은 수행하지 않는다.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MCP는 AI 앱이 외부 도구나 자료를 정해진 메시지 형식으로 사용하도록 연결하는 프로토콜입니다. 서버는 기능을 제공하고 클라이언트는 요청을 전달합니다.</a:t>
            </a:r>
          </a:p>
          <a:p xmlns:a="http://schemas.openxmlformats.org/drawingml/2006/main">
            <a:r>
              <a:t>React의 화면 구성과 MCP의 도구 통신을 같은 역할로 생각하지 않도록 경계를 구분합니다.</a:t>
            </a:r>
          </a:p>
          <a:p xmlns:a="http://schemas.openxmlformats.org/drawingml/2006/main">
            <a:r>
              <a:t>예: 제공 클라이언트는 get_reading이라는 읽기 도구를 요청하고 서버는 가상 센서 기록을 반환합니다.</a:t>
            </a:r>
          </a:p>
          <a:p xmlns:a="http://schemas.openxmlformats.org/drawingml/2006/main">
            <a:r>
              <a:t>반례: 오늘의 mcp_client.py는 저장된 요청을 보내는 프로그램이며 AI 모델이나 실제 AI 호스트가 아닙니다.</a:t>
            </a:r>
          </a:p>
          <a:p xmlns:a="http://schemas.openxmlformats.org/drawingml/2006/main">
            <a:r>
              <a:t>풀이: 요청 프로그램과 도구 서버가 STDIO로 통신한다. 모델 추론이나 React 자동 연결은 수행하지 않는다.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MCP는 AI 앱이 외부 도구나 자료를 정해진 메시지 형식으로 사용하도록 연결하는 프로토콜입니다. 서버는 기능을 제공하고 클라이언트는 요청을 전달합니다.</a:t>
            </a:r>
          </a:p>
          <a:p xmlns:a="http://schemas.openxmlformats.org/drawingml/2006/main">
            <a:r>
              <a:t>React의 화면 구성과 MCP의 도구 통신을 같은 역할로 생각하지 않도록 경계를 구분합니다.</a:t>
            </a:r>
          </a:p>
          <a:p xmlns:a="http://schemas.openxmlformats.org/drawingml/2006/main">
            <a:r>
              <a:t>예: 제공 클라이언트는 get_reading이라는 읽기 도구를 요청하고 서버는 가상 센서 기록을 반환합니다.</a:t>
            </a:r>
          </a:p>
          <a:p xmlns:a="http://schemas.openxmlformats.org/drawingml/2006/main">
            <a:r>
              <a:t>반례: 오늘의 mcp_client.py는 저장된 요청을 보내는 프로그램이며 AI 모델이나 실제 AI 호스트가 아닙니다.</a:t>
            </a:r>
          </a:p>
          <a:p xmlns:a="http://schemas.openxmlformats.org/drawingml/2006/main">
            <a:r>
              <a:t>풀이: 요청 프로그램과 도구 서버가 STDIO로 통신한다. 모델 추론이나 React 자동 연결은 수행하지 않는다.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MCP를 모든 AI 서비스의 동의어로 보지 않고 오늘 메시지를 주고 받는 두 프로그램을 정확히 지정합니다.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JSON-RPC 메시지는 method로 요청 종류를, id로 요청과 응답의 대응을 나타냅니다. 오늘의 MCP 예제는 2025-11-25규격 버전에 고정한 초기화 절차를 사용합니다.</a:t>
            </a:r>
          </a:p>
          <a:p xmlns:a="http://schemas.openxmlformats.org/drawingml/2006/main">
            <a:r>
              <a:t>버전과 기능을 먼저 맞추면 어떤 도구 통신을 기대할지 확인할 수 있습니다. 최신 전체 규격 구현과 교육용 일부 구현을 구분합니다.</a:t>
            </a:r>
          </a:p>
          <a:p xmlns:a="http://schemas.openxmlformats.org/drawingml/2006/main">
            <a:r>
              <a:t>예: initialize 응답 뒤 notifications/initialized를 보내고 tools/list로 get_reading의 입력 규칙을 읽습니다.</a:t>
            </a:r>
          </a:p>
          <a:p xmlns:a="http://schemas.openxmlformats.org/drawingml/2006/main">
            <a:r>
              <a:t>반례: id가 없는 알림은 일반 요청과 달리 같은 id의 결과 응답을 기다리는 메시지가 아닙니다.</a:t>
            </a:r>
          </a:p>
          <a:p xmlns:a="http://schemas.openxmlformats.org/drawingml/2006/main">
            <a:r>
              <a:t>풀이: id1 초기화 응답,initialized 알림은 응답 없음,id2 도구 목록. 입력은 sensor_id 문자열이다.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JSON-RPC 메시지는 method로 요청 종류를, id로 요청과 응답의 대응을 나타냅니다. 오늘의 MCP 예제는 2025-11-25규격 버전에 고정한 초기화 절차를 사용합니다.</a:t>
            </a:r>
          </a:p>
          <a:p xmlns:a="http://schemas.openxmlformats.org/drawingml/2006/main">
            <a:r>
              <a:t>버전과 기능을 먼저 맞추면 어떤 도구 통신을 기대할지 확인할 수 있습니다. 최신 전체 규격 구현과 교육용 일부 구현을 구분합니다.</a:t>
            </a:r>
          </a:p>
          <a:p xmlns:a="http://schemas.openxmlformats.org/drawingml/2006/main">
            <a:r>
              <a:t>예: initialize 응답 뒤 notifications/initialized를 보내고 tools/list로 get_reading의 입력 규칙을 읽습니다.</a:t>
            </a:r>
          </a:p>
          <a:p xmlns:a="http://schemas.openxmlformats.org/drawingml/2006/main">
            <a:r>
              <a:t>반례: id가 없는 알림은 일반 요청과 달리 같은 id의 결과 응답을 기다리는 메시지가 아닙니다.</a:t>
            </a:r>
          </a:p>
          <a:p xmlns:a="http://schemas.openxmlformats.org/drawingml/2006/main">
            <a:r>
              <a:t>풀이: id1 초기화 응답,initialized 알림은 응답 없음,id2 도구 목록. 입력은 sensor_id 문자열이다.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JSON-RPC 메시지는 method로 요청 종류를, id로 요청과 응답의 대응을 나타냅니다. 오늘의 MCP 예제는 2025-11-25규격 버전에 고정한 초기화 절차를 사용합니다.</a:t>
            </a:r>
          </a:p>
          <a:p xmlns:a="http://schemas.openxmlformats.org/drawingml/2006/main">
            <a:r>
              <a:t>버전과 기능을 먼저 맞추면 어떤 도구 통신을 기대할지 확인할 수 있습니다. 최신 전체 규격 구현과 교육용 일부 구현을 구분합니다.</a:t>
            </a:r>
          </a:p>
          <a:p xmlns:a="http://schemas.openxmlformats.org/drawingml/2006/main">
            <a:r>
              <a:t>예: initialize 응답 뒤 notifications/initialized를 보내고 tools/list로 get_reading의 입력 규칙을 읽습니다.</a:t>
            </a:r>
          </a:p>
          <a:p xmlns:a="http://schemas.openxmlformats.org/drawingml/2006/main">
            <a:r>
              <a:t>반례: id가 없는 알림은 일반 요청과 달리 같은 id의 결과 응답을 기다리는 메시지가 아닙니다.</a:t>
            </a:r>
          </a:p>
          <a:p xmlns:a="http://schemas.openxmlformats.org/drawingml/2006/main">
            <a:r>
              <a:t>풀이: id1 초기화 응답,initialized 알림은 응답 없음,id2 도구 목록. 입력은 sensor_id 문자열이다.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JSONL은 메시지 한 개당 한 줄입니다. 예쁘게 여러 줄로 바꾸면 이 STDIO 입력 규칙과 맞지 않습니다.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STDIO는 한 프로그램이 다른 프로그램의 표준 입력과 표준 출력으로 메시지를 교환하는 방법입니다. 네트워크 계정 없이 로컬 자식 프로세스를 실행할 수 있습니다.</a:t>
            </a:r>
          </a:p>
          <a:p xmlns:a="http://schemas.openxmlformats.org/drawingml/2006/main">
            <a:r>
              <a:t>저장된 예시 문장을 읽는 것과 실제 서버가 응답한 기록을 구분하면서 작은 프로토콜을 관찰합니다.</a:t>
            </a:r>
          </a:p>
          <a:p xmlns:a="http://schemas.openxmlformats.org/drawingml/2006/main">
            <a:r>
              <a:t>예: python code/mcp_client.py는 서버를 실행해 S01의 22.5,S02의 null,S99의 도구 오류를 받습니다.</a:t>
            </a:r>
          </a:p>
          <a:p xmlns:a="http://schemas.openxmlformats.org/drawingml/2006/main">
            <a:r>
              <a:t>반례: S02의 null은 통신 실패가 아닙니다. S99의 isError:true와 값 없음은 서로 다릅니다.</a:t>
            </a:r>
          </a:p>
          <a:p xmlns:a="http://schemas.openxmlformats.org/drawingml/2006/main">
            <a:r>
              <a:t>풀이: S01은 성공 22.5,S02는 성공 null,S99는 Unknown sensor와 isError:true. 외부 API 호출 없음.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STDIO는 한 프로그램이 다른 프로그램의 표준 입력과 표준 출력으로 메시지를 교환하는 방법입니다. 네트워크 계정 없이 로컬 자식 프로세스를 실행할 수 있습니다.</a:t>
            </a:r>
          </a:p>
          <a:p xmlns:a="http://schemas.openxmlformats.org/drawingml/2006/main">
            <a:r>
              <a:t>저장된 예시 문장을 읽는 것과 실제 서버가 응답한 기록을 구분하면서 작은 프로토콜을 관찰합니다.</a:t>
            </a:r>
          </a:p>
          <a:p xmlns:a="http://schemas.openxmlformats.org/drawingml/2006/main">
            <a:r>
              <a:t>예: python code/mcp_client.py는 서버를 실행해 S01의 22.5,S02의 null,S99의 도구 오류를 받습니다.</a:t>
            </a:r>
          </a:p>
          <a:p xmlns:a="http://schemas.openxmlformats.org/drawingml/2006/main">
            <a:r>
              <a:t>반례: S02의 null은 통신 실패가 아닙니다. S99의 isError:true와 값 없음은 서로 다릅니다.</a:t>
            </a:r>
          </a:p>
          <a:p xmlns:a="http://schemas.openxmlformats.org/drawingml/2006/main">
            <a:r>
              <a:t>풀이: S01은 성공 22.5,S02는 성공 null,S99는 Unknown sensor와 isError:true. 외부 API 호출 없음.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STDIO는 한 프로그램이 다른 프로그램의 표준 입력과 표준 출력으로 메시지를 교환하는 방법입니다. 네트워크 계정 없이 로컬 자식 프로세스를 실행할 수 있습니다.</a:t>
            </a:r>
          </a:p>
          <a:p xmlns:a="http://schemas.openxmlformats.org/drawingml/2006/main">
            <a:r>
              <a:t>저장된 예시 문장을 읽는 것과 실제 서버가 응답한 기록을 구분하면서 작은 프로토콜을 관찰합니다.</a:t>
            </a:r>
          </a:p>
          <a:p xmlns:a="http://schemas.openxmlformats.org/drawingml/2006/main">
            <a:r>
              <a:t>예: python code/mcp_client.py는 서버를 실행해 S01의 22.5,S02의 null,S99의 도구 오류를 받습니다.</a:t>
            </a:r>
          </a:p>
          <a:p xmlns:a="http://schemas.openxmlformats.org/drawingml/2006/main">
            <a:r>
              <a:t>반례: S02의 null은 통신 실패가 아닙니다. S99의 isError:true와 값 없음은 서로 다릅니다.</a:t>
            </a:r>
          </a:p>
          <a:p xmlns:a="http://schemas.openxmlformats.org/drawingml/2006/main">
            <a:r>
              <a:t>풀이: S01은 성공 22.5,S02는 성공 null,S99는 Unknown sensor와 isError:true. 외부 API 호출 없음.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서버를 단독 실행하면 입력을 기다릴 수 있습니다. 기본 활동은 제공 클라이언트 명령으로 실행합니다.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HTML·CSS·React·MCP는 같은 시스템에 함께 있을 수 있지만 책임이 다릅니다. 데이터 이동이 필요한 곳에는 명시적인 연결 프로그램이 있어야 합니다.</a:t>
            </a:r>
          </a:p>
          <a:p xmlns:a="http://schemas.openxmlformats.org/drawingml/2006/main">
            <a:r>
              <a:t>도구 응답을 받았다는 사실만으로 브라우저가 자동 갱신된다고 생각하면 연결이 빠진 설계를 만들 수 있습니다.</a:t>
            </a:r>
          </a:p>
          <a:p xmlns:a="http://schemas.openxmlformats.org/drawingml/2006/main">
            <a:r>
              <a:t>예: 오늘은 MCP 응답의 온도를 사람이 읽고 제공 데이터와 비교합니다. React와 MCP 간 자동 연결은 만들지 않았습니다.</a:t>
            </a:r>
          </a:p>
          <a:p xmlns:a="http://schemas.openxmlformats.org/drawingml/2006/main">
            <a:r>
              <a:t>반례: MCP 서버가 있으니 로그인·화면·저장이 모두 해결됐다고 말하지 않습니다.</a:t>
            </a:r>
          </a:p>
          <a:p xmlns:a="http://schemas.openxmlformats.org/drawingml/2006/main">
            <a:r>
              <a:t>풀이: 응답을 받아 화면 상태로 전달하는 중간 처리가 필요하며 이 교재는 자동 연결을 완료하지 않았다.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HTML·CSS·React·MCP는 같은 시스템에 함께 있을 수 있지만 책임이 다릅니다. 데이터 이동이 필요한 곳에는 명시적인 연결 프로그램이 있어야 합니다.</a:t>
            </a:r>
          </a:p>
          <a:p xmlns:a="http://schemas.openxmlformats.org/drawingml/2006/main">
            <a:r>
              <a:t>도구 응답을 받았다는 사실만으로 브라우저가 자동 갱신된다고 생각하면 연결이 빠진 설계를 만들 수 있습니다.</a:t>
            </a:r>
          </a:p>
          <a:p xmlns:a="http://schemas.openxmlformats.org/drawingml/2006/main">
            <a:r>
              <a:t>예: 오늘은 MCP 응답의 온도를 사람이 읽고 제공 데이터와 비교합니다. React와 MCP 간 자동 연결은 만들지 않았습니다.</a:t>
            </a:r>
          </a:p>
          <a:p xmlns:a="http://schemas.openxmlformats.org/drawingml/2006/main">
            <a:r>
              <a:t>반례: MCP 서버가 있으니 로그인·화면·저장이 모두 해결됐다고 말하지 않습니다.</a:t>
            </a:r>
          </a:p>
          <a:p xmlns:a="http://schemas.openxmlformats.org/drawingml/2006/main">
            <a:r>
              <a:t>풀이: 응답을 받아 화면 상태로 전달하는 중간 처리가 필요하며 이 교재는 자동 연결을 완료하지 않았다.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HTML·CSS·React·MCP는 같은 시스템에 함께 있을 수 있지만 책임이 다릅니다. 데이터 이동이 필요한 곳에는 명시적인 연결 프로그램이 있어야 합니다.</a:t>
            </a:r>
          </a:p>
          <a:p xmlns:a="http://schemas.openxmlformats.org/drawingml/2006/main">
            <a:r>
              <a:t>도구 응답을 받았다는 사실만으로 브라우저가 자동 갱신된다고 생각하면 연결이 빠진 설계를 만들 수 있습니다.</a:t>
            </a:r>
          </a:p>
          <a:p xmlns:a="http://schemas.openxmlformats.org/drawingml/2006/main">
            <a:r>
              <a:t>예: 오늘은 MCP 응답의 온도를 사람이 읽고 제공 데이터와 비교합니다. React와 MCP 간 자동 연결은 만들지 않았습니다.</a:t>
            </a:r>
          </a:p>
          <a:p xmlns:a="http://schemas.openxmlformats.org/drawingml/2006/main">
            <a:r>
              <a:t>반례: MCP 서버가 있으니 로그인·화면·저장이 모두 해결됐다고 말하지 않습니다.</a:t>
            </a:r>
          </a:p>
          <a:p xmlns:a="http://schemas.openxmlformats.org/drawingml/2006/main">
            <a:r>
              <a:t>풀이: 응답을 받아 화면 상태로 전달하는 중간 처리가 필요하며 이 교재는 자동 연결을 완료하지 않았다.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그림의 화살표가 실제 동작인지 가정인지 따로 표시합니다.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변경 검수는 입력한 값·바뀐 파일·예상 화면·실제 결과를 짝이 다시 확인하는 것입니다. 내용·모양·데이터·통신을 각기 다른 근거로 봅니다.</a:t>
            </a:r>
          </a:p>
          <a:p xmlns:a="http://schemas.openxmlformats.org/drawingml/2006/main">
            <a:r>
              <a:t>한 화면이 예뻐졌어도 도구 요청 입력이 맞거나 자료형이 보존됐다는 증거는 아닙니다.</a:t>
            </a:r>
          </a:p>
          <a:p xmlns:a="http://schemas.openxmlformats.org/drawingml/2006/main">
            <a:r>
              <a:t>예: HTML 제목,CSS 색,React 장소·온도,MCP sensor_id를 각각 한 줄의 변경 기록으로 남깁니다.</a:t>
            </a:r>
          </a:p>
          <a:p xmlns:a="http://schemas.openxmlformats.org/drawingml/2006/main">
            <a:r>
              <a:t>반례: CSS 색 변경을 센서 상태로 기록하거나 모의 버튼을 실제 측정이라고 부르지 않습니다.</a:t>
            </a:r>
          </a:p>
          <a:p xmlns:a="http://schemas.openxmlformats.org/drawingml/2006/main">
            <a:r>
              <a:t>풀이: 네 역할을 각 파일·값·결과와 연결해 확인한다.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변경 검수는 입력한 값·바뀐 파일·예상 화면·실제 결과를 짝이 다시 확인하는 것입니다. 내용·모양·데이터·통신을 각기 다른 근거로 봅니다.</a:t>
            </a:r>
          </a:p>
          <a:p xmlns:a="http://schemas.openxmlformats.org/drawingml/2006/main">
            <a:r>
              <a:t>한 화면이 예뻐졌어도 도구 요청 입력이 맞거나 자료형이 보존됐다는 증거는 아닙니다.</a:t>
            </a:r>
          </a:p>
          <a:p xmlns:a="http://schemas.openxmlformats.org/drawingml/2006/main">
            <a:r>
              <a:t>예: HTML 제목,CSS 색,React 장소·온도,MCP sensor_id를 각각 한 줄의 변경 기록으로 남깁니다.</a:t>
            </a:r>
          </a:p>
          <a:p xmlns:a="http://schemas.openxmlformats.org/drawingml/2006/main">
            <a:r>
              <a:t>반례: CSS 색 변경을 센서 상태로 기록하거나 모의 버튼을 실제 측정이라고 부르지 않습니다.</a:t>
            </a:r>
          </a:p>
          <a:p xmlns:a="http://schemas.openxmlformats.org/drawingml/2006/main">
            <a:r>
              <a:t>풀이: 네 역할을 각 파일·값·결과와 연결해 확인한다.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변경 검수는 입력한 값·바뀐 파일·예상 화면·실제 결과를 짝이 다시 확인하는 것입니다. 내용·모양·데이터·통신을 각기 다른 근거로 봅니다.</a:t>
            </a:r>
          </a:p>
          <a:p xmlns:a="http://schemas.openxmlformats.org/drawingml/2006/main">
            <a:r>
              <a:t>한 화면이 예뻐졌어도 도구 요청 입력이 맞거나 자료형이 보존됐다는 증거는 아닙니다.</a:t>
            </a:r>
          </a:p>
          <a:p xmlns:a="http://schemas.openxmlformats.org/drawingml/2006/main">
            <a:r>
              <a:t>예: HTML 제목,CSS 색,React 장소·온도,MCP sensor_id를 각각 한 줄의 변경 기록으로 남깁니다.</a:t>
            </a:r>
          </a:p>
          <a:p xmlns:a="http://schemas.openxmlformats.org/drawingml/2006/main">
            <a:r>
              <a:t>반례: CSS 색 변경을 센서 상태로 기록하거나 모의 버튼을 실제 측정이라고 부르지 않습니다.</a:t>
            </a:r>
          </a:p>
          <a:p xmlns:a="http://schemas.openxmlformats.org/drawingml/2006/main">
            <a:r>
              <a:t>풀이: 네 역할을 각 파일·값·결과와 연결해 확인한다.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짝의 코드를 바로 수정하지 말고 대상 파일과 기대한 결과를 먼저 설명합니다.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학습 결과는 수정한 작은 부분의 이유와 결과를 설명하는 것입니다. 전체 앱이나 MCP 서버를 독립 작성하는 능력을 오늘의 필수 목표로 삼지 않습니다.</a:t>
            </a:r>
          </a:p>
          <a:p xmlns:a="http://schemas.openxmlformats.org/drawingml/2006/main">
            <a:r>
              <a:t>네 기술의 이름만 기억하는 것보다 어느 문제를 어떤 요소가 맡는지 말할 수 있어야 다음 대시보드로 연결됩니다.</a:t>
            </a:r>
          </a:p>
          <a:p xmlns:a="http://schemas.openxmlformats.org/drawingml/2006/main">
            <a:r>
              <a:t>예: 필수 결과는 제목·색·React 데이터 수정과 MCP 요청·응답 한 쌍의 설명입니다.</a:t>
            </a:r>
          </a:p>
          <a:p xmlns:a="http://schemas.openxmlformats.org/drawingml/2006/main">
            <a:r>
              <a:t>반례: 패키지 설치를 못 했다고 개념 설명과 제공 번들 수정까지 실패로 판정하지 않습니다.</a:t>
            </a:r>
          </a:p>
          <a:p xmlns:a="http://schemas.openxmlformats.org/drawingml/2006/main">
            <a:r>
              <a:t>풀이: 실제 호스트·네트워크·장비 미검증을 구분하고 로컬 번들 및 프로토콜 실행 결과를 보고한다.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학습 결과는 수정한 작은 부분의 이유와 결과를 설명하는 것입니다. 전체 앱이나 MCP 서버를 독립 작성하는 능력을 오늘의 필수 목표로 삼지 않습니다.</a:t>
            </a:r>
          </a:p>
          <a:p xmlns:a="http://schemas.openxmlformats.org/drawingml/2006/main">
            <a:r>
              <a:t>네 기술의 이름만 기억하는 것보다 어느 문제를 어떤 요소가 맡는지 말할 수 있어야 다음 대시보드로 연결됩니다.</a:t>
            </a:r>
          </a:p>
          <a:p xmlns:a="http://schemas.openxmlformats.org/drawingml/2006/main">
            <a:r>
              <a:t>예: 필수 결과는 제목·색·React 데이터 수정과 MCP 요청·응답 한 쌍의 설명입니다.</a:t>
            </a:r>
          </a:p>
          <a:p xmlns:a="http://schemas.openxmlformats.org/drawingml/2006/main">
            <a:r>
              <a:t>반례: 패키지 설치를 못 했다고 개념 설명과 제공 번들 수정까지 실패로 판정하지 않습니다.</a:t>
            </a:r>
          </a:p>
          <a:p xmlns:a="http://schemas.openxmlformats.org/drawingml/2006/main">
            <a:r>
              <a:t>풀이: 실제 호스트·네트워크·장비 미검증을 구분하고 로컬 번들 및 프로토콜 실행 결과를 보고한다.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(HTML/CSS/JavaScript 참고. React 본문과 MCP 실제 예제는 신규 제작)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학습 결과는 수정한 작은 부분의 이유와 결과를 설명하는 것입니다. 전체 앱이나 MCP 서버를 독립 작성하는 능력을 오늘의 필수 목표로 삼지 않습니다.</a:t>
            </a:r>
          </a:p>
          <a:p xmlns:a="http://schemas.openxmlformats.org/drawingml/2006/main">
            <a:r>
              <a:t>네 기술의 이름만 기억하는 것보다 어느 문제를 어떤 요소가 맡는지 말할 수 있어야 다음 대시보드로 연결됩니다.</a:t>
            </a:r>
          </a:p>
          <a:p xmlns:a="http://schemas.openxmlformats.org/drawingml/2006/main">
            <a:r>
              <a:t>예: 필수 결과는 제목·색·React 데이터 수정과 MCP 요청·응답 한 쌍의 설명입니다.</a:t>
            </a:r>
          </a:p>
          <a:p xmlns:a="http://schemas.openxmlformats.org/drawingml/2006/main">
            <a:r>
              <a:t>반례: 패키지 설치를 못 했다고 개념 설명과 제공 번들 수정까지 실패로 판정하지 않습니다.</a:t>
            </a:r>
          </a:p>
          <a:p xmlns:a="http://schemas.openxmlformats.org/drawingml/2006/main">
            <a:r>
              <a:t>풀이: 실제 호스트·네트워크·장비 미검증을 구분하고 로컬 번들 및 프로토콜 실행 결과를 보고한다.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설치나 외부 호스트 연결이 막히면 오프라인 번들과 저장된 응답으로 동일 개념을 확인하고 실행 범위를 명시합니다.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6f80a60dc47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405ddb12324c0d" /><Relationship Type="http://schemas.openxmlformats.org/officeDocument/2006/relationships/slideLayout" Target="/ppt/slideLayouts/slideLayout1.xml" Id="R88ceea62207840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ceea62207840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256d6324e48a6" /><Relationship Type="http://schemas.openxmlformats.org/officeDocument/2006/relationships/notesSlide" Target="/ppt/notesSlides/notesSlide1.xml" Id="Ree168463091544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4a7ba078c4fd3" /><Relationship Type="http://schemas.openxmlformats.org/officeDocument/2006/relationships/notesSlide" Target="/ppt/notesSlides/notesSlide2.xml" Id="R92101cc3d48b49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ee5fb178d4c81" /><Relationship Type="http://schemas.openxmlformats.org/officeDocument/2006/relationships/notesSlide" Target="/ppt/notesSlides/notesSlide3.xml" Id="R4299fef5a3b447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c64a4830044bc" /><Relationship Type="http://schemas.openxmlformats.org/officeDocument/2006/relationships/notesSlide" Target="/ppt/notesSlides/notesSlide4.xml" Id="R238b546d7a3f4b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1384fba10458b" /><Relationship Type="http://schemas.openxmlformats.org/officeDocument/2006/relationships/notesSlide" Target="/ppt/notesSlides/notesSlide5.xml" Id="R791b2073bcd740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7ee5330a44076" /><Relationship Type="http://schemas.openxmlformats.org/officeDocument/2006/relationships/notesSlide" Target="/ppt/notesSlides/notesSlide6.xml" Id="R39fd51f564c245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fe3d2ed8d4d89" /><Relationship Type="http://schemas.openxmlformats.org/officeDocument/2006/relationships/notesSlide" Target="/ppt/notesSlides/notesSlide7.xml" Id="Rb2838f2107e94a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f242950cb44da" /><Relationship Type="http://schemas.openxmlformats.org/officeDocument/2006/relationships/notesSlide" Target="/ppt/notesSlides/notesSlide8.xml" Id="Rd844e92d6ef24c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c00c83b4e4b3a" /><Relationship Type="http://schemas.openxmlformats.org/officeDocument/2006/relationships/notesSlide" Target="/ppt/notesSlides/notesSlide9.xml" Id="R0665010baf2a4f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02f7ef4ae4909" /><Relationship Type="http://schemas.openxmlformats.org/officeDocument/2006/relationships/notesSlide" Target="/ppt/notesSlides/notesSlide10.xml" Id="Rb4edc492bb5c49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ecc8fcadc422f" /><Relationship Type="http://schemas.openxmlformats.org/officeDocument/2006/relationships/notesSlide" Target="/ppt/notesSlides/notesSlide11.xml" Id="R5e330e69bae84e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e9ff5f05041e7" /><Relationship Type="http://schemas.openxmlformats.org/officeDocument/2006/relationships/notesSlide" Target="/ppt/notesSlides/notesSlide12.xml" Id="R8138b459a9e044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e35d19a8b48d4" /><Relationship Type="http://schemas.openxmlformats.org/officeDocument/2006/relationships/notesSlide" Target="/ppt/notesSlides/notesSlide13.xml" Id="R6597b975c65a4a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ffeba537845cd" /><Relationship Type="http://schemas.openxmlformats.org/officeDocument/2006/relationships/notesSlide" Target="/ppt/notesSlides/notesSlide14.xml" Id="R941d5277ddde45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66c8008d64107" /><Relationship Type="http://schemas.openxmlformats.org/officeDocument/2006/relationships/notesSlide" Target="/ppt/notesSlides/notesSlide15.xml" Id="Rb2ae82808fbe44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adb518845420d" /><Relationship Type="http://schemas.openxmlformats.org/officeDocument/2006/relationships/notesSlide" Target="/ppt/notesSlides/notesSlide16.xml" Id="R98406b3e6ddb4f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b9c7cc2db4a01" /><Relationship Type="http://schemas.openxmlformats.org/officeDocument/2006/relationships/notesSlide" Target="/ppt/notesSlides/notesSlide17.xml" Id="R065ff5ef2ee849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a8ff7cdfe4021" /><Relationship Type="http://schemas.openxmlformats.org/officeDocument/2006/relationships/notesSlide" Target="/ppt/notesSlides/notesSlide18.xml" Id="R88b428c51a54473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fe5e9f44c4481" /><Relationship Type="http://schemas.openxmlformats.org/officeDocument/2006/relationships/notesSlide" Target="/ppt/notesSlides/notesSlide19.xml" Id="Rfc061750c6c64b0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fcfff93eb453f" /><Relationship Type="http://schemas.openxmlformats.org/officeDocument/2006/relationships/notesSlide" Target="/ppt/notesSlides/notesSlide20.xml" Id="Rc155d10c414e4ce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15e92d1dc486b" /><Relationship Type="http://schemas.openxmlformats.org/officeDocument/2006/relationships/notesSlide" Target="/ppt/notesSlides/notesSlide21.xml" Id="R1d92b463f53c4ea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fdf0ea83244d8" /><Relationship Type="http://schemas.openxmlformats.org/officeDocument/2006/relationships/notesSlide" Target="/ppt/notesSlides/notesSlide22.xml" Id="Rfd73e21d248147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05555918e4df8" /><Relationship Type="http://schemas.openxmlformats.org/officeDocument/2006/relationships/notesSlide" Target="/ppt/notesSlides/notesSlide23.xml" Id="Rda7b1db12e424b3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e44aae8fa48b9" /><Relationship Type="http://schemas.openxmlformats.org/officeDocument/2006/relationships/notesSlide" Target="/ppt/notesSlides/notesSlide24.xml" Id="Rded858c5cffb498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77402c7924c9a" /><Relationship Type="http://schemas.openxmlformats.org/officeDocument/2006/relationships/notesSlide" Target="/ppt/notesSlides/notesSlide25.xml" Id="Rc44e005805d84e4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7fc10f5114569" /><Relationship Type="http://schemas.openxmlformats.org/officeDocument/2006/relationships/notesSlide" Target="/ppt/notesSlides/notesSlide26.xml" Id="R7558b1ff8896425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5b02cd0a442b7" /><Relationship Type="http://schemas.openxmlformats.org/officeDocument/2006/relationships/notesSlide" Target="/ppt/notesSlides/notesSlide27.xml" Id="R3f32a161d642407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9e1f7217147f7" /><Relationship Type="http://schemas.openxmlformats.org/officeDocument/2006/relationships/notesSlide" Target="/ppt/notesSlides/notesSlide28.xml" Id="R803c2dbb7c6b43c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aba33704e4af6" /><Relationship Type="http://schemas.openxmlformats.org/officeDocument/2006/relationships/notesSlide" Target="/ppt/notesSlides/notesSlide29.xml" Id="Rb1b45cb21fa9459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450c13dec4ace" /><Relationship Type="http://schemas.openxmlformats.org/officeDocument/2006/relationships/notesSlide" Target="/ppt/notesSlides/notesSlide30.xml" Id="R04023684333c420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4cbab60694221" /><Relationship Type="http://schemas.openxmlformats.org/officeDocument/2006/relationships/notesSlide" Target="/ppt/notesSlides/notesSlide31.xml" Id="R013179a237ba477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1b77335da441e" /><Relationship Type="http://schemas.openxmlformats.org/officeDocument/2006/relationships/notesSlide" Target="/ppt/notesSlides/notesSlide32.xml" Id="Rb877a43180d74c0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5c88e6d9e4512" /><Relationship Type="http://schemas.openxmlformats.org/officeDocument/2006/relationships/notesSlide" Target="/ppt/notesSlides/notesSlide33.xml" Id="R68acae55e8944b2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8f6dba2ac49ec" /><Relationship Type="http://schemas.openxmlformats.org/officeDocument/2006/relationships/notesSlide" Target="/ppt/notesSlides/notesSlide34.xml" Id="R464b3b4fe49042e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a92503a1e4c55" /><Relationship Type="http://schemas.openxmlformats.org/officeDocument/2006/relationships/notesSlide" Target="/ppt/notesSlides/notesSlide35.xml" Id="R61f9c0ed4306455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6893c2002459c" /><Relationship Type="http://schemas.openxmlformats.org/officeDocument/2006/relationships/notesSlide" Target="/ppt/notesSlides/notesSlide36.xml" Id="Rf8f3fa04814c49e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3949984664391" /><Relationship Type="http://schemas.openxmlformats.org/officeDocument/2006/relationships/notesSlide" Target="/ppt/notesSlides/notesSlide37.xml" Id="R2d91ee315ef242e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d27a970ca44b2" /><Relationship Type="http://schemas.openxmlformats.org/officeDocument/2006/relationships/notesSlide" Target="/ppt/notesSlides/notesSlide38.xml" Id="R8e42c7bdcf6d41a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f9659f8c44a11" /><Relationship Type="http://schemas.openxmlformats.org/officeDocument/2006/relationships/notesSlide" Target="/ppt/notesSlides/notesSlide39.xml" Id="R324efcd2bf9e4e0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e21a8f3e842cd" /><Relationship Type="http://schemas.openxmlformats.org/officeDocument/2006/relationships/notesSlide" Target="/ppt/notesSlides/notesSlide40.xml" Id="R60eac3ebee864e5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ae82311ac49df" /><Relationship Type="http://schemas.openxmlformats.org/officeDocument/2006/relationships/notesSlide" Target="/ppt/notesSlides/notesSlide41.xml" Id="R90aaf43a5941476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bcd6598214f09" /><Relationship Type="http://schemas.openxmlformats.org/officeDocument/2006/relationships/notesSlide" Target="/ppt/notesSlides/notesSlide42.xml" Id="Re5195cfb87074dc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093d5ef19470a" /><Relationship Type="http://schemas.openxmlformats.org/officeDocument/2006/relationships/notesSlide" Target="/ppt/notesSlides/notesSlide43.xml" Id="Ra0f208bdccf6462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538ab6e5242af" /><Relationship Type="http://schemas.openxmlformats.org/officeDocument/2006/relationships/notesSlide" Target="/ppt/notesSlides/notesSlide44.xml" Id="Rf30b44365e2d491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c7b6a998f4771" /><Relationship Type="http://schemas.openxmlformats.org/officeDocument/2006/relationships/notesSlide" Target="/ppt/notesSlides/notesSlide45.xml" Id="R392ca89de0d94df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c8bb1e62a4fe1" /><Relationship Type="http://schemas.openxmlformats.org/officeDocument/2006/relationships/notesSlide" Target="/ppt/notesSlides/notesSlide46.xml" Id="R052a6aa1e2cc4ae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ee2edaa3f4520" /><Relationship Type="http://schemas.openxmlformats.org/officeDocument/2006/relationships/notesSlide" Target="/ppt/notesSlides/notesSlide47.xml" Id="R22eb48defbe44a8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2061c9d37464c" /><Relationship Type="http://schemas.openxmlformats.org/officeDocument/2006/relationships/notesSlide" Target="/ppt/notesSlides/notesSlide48.xml" Id="Rb7257ef4aa8349b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bd11e5b664880" /><Relationship Type="http://schemas.openxmlformats.org/officeDocument/2006/relationships/notesSlide" Target="/ppt/notesSlides/notesSlide49.xml" Id="R6f973a9d2cdb477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1f6d4144045c1" /><Relationship Type="http://schemas.openxmlformats.org/officeDocument/2006/relationships/notesSlide" Target="/ppt/notesSlides/notesSlide50.xml" Id="R0969f29c36144c2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436a5f25c4c23" /><Relationship Type="http://schemas.openxmlformats.org/officeDocument/2006/relationships/notesSlide" Target="/ppt/notesSlides/notesSlide51.xml" Id="R4ea7f3375c33408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24aab743549e2" /><Relationship Type="http://schemas.openxmlformats.org/officeDocument/2006/relationships/notesSlide" Target="/ppt/notesSlides/notesSlide52.xml" Id="R259342a4d6754ba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6e1199c6e4135" /><Relationship Type="http://schemas.openxmlformats.org/officeDocument/2006/relationships/notesSlide" Target="/ppt/notesSlides/notesSlide53.xml" Id="R0db641beeb0a417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4eaed747343e2" /><Relationship Type="http://schemas.openxmlformats.org/officeDocument/2006/relationships/notesSlide" Target="/ppt/notesSlides/notesSlide54.xml" Id="R9b09dbb5c02e4e9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e327042f743e4" /><Relationship Type="http://schemas.openxmlformats.org/officeDocument/2006/relationships/notesSlide" Target="/ppt/notesSlides/notesSlide55.xml" Id="R4599524fe646470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2e50a05fa4d27" /><Relationship Type="http://schemas.openxmlformats.org/officeDocument/2006/relationships/notesSlide" Target="/ppt/notesSlides/notesSlide56.xml" Id="R9457c39f304a4d90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d695261d94bf2" /><Relationship Type="http://schemas.openxmlformats.org/officeDocument/2006/relationships/notesSlide" Target="/ppt/notesSlides/notesSlide57.xml" Id="Rc316cb9a4fb74b2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bab089af24be5" /><Relationship Type="http://schemas.openxmlformats.org/officeDocument/2006/relationships/notesSlide" Target="/ppt/notesSlides/notesSlide58.xml" Id="R2c55b944c23a42a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0232c7e3e46f3" /><Relationship Type="http://schemas.openxmlformats.org/officeDocument/2006/relationships/notesSlide" Target="/ppt/notesSlides/notesSlide59.xml" Id="R5937cfe79aed4bc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c69696bce446b" /><Relationship Type="http://schemas.openxmlformats.org/officeDocument/2006/relationships/notesSlide" Target="/ppt/notesSlides/notesSlide60.xml" Id="Rc2c1f6d57d8c47b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198dcba234b19" /><Relationship Type="http://schemas.openxmlformats.org/officeDocument/2006/relationships/notesSlide" Target="/ppt/notesSlides/notesSlide61.xml" Id="Rd9e6d2ba4fcc455a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917a70f4d4e32" /><Relationship Type="http://schemas.openxmlformats.org/officeDocument/2006/relationships/notesSlide" Target="/ppt/notesSlides/notesSlide62.xml" Id="Rcedf8d0683814281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826fd1a134297" /><Relationship Type="http://schemas.openxmlformats.org/officeDocument/2006/relationships/notesSlide" Target="/ppt/notesSlides/notesSlide63.xml" Id="Rf4c57fcb834b4ded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4a1091c4049e0" /><Relationship Type="http://schemas.openxmlformats.org/officeDocument/2006/relationships/notesSlide" Target="/ppt/notesSlides/notesSlide64.xml" Id="R7502cc3539314010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aa68aa1614cb2" /><Relationship Type="http://schemas.openxmlformats.org/officeDocument/2006/relationships/notesSlide" Target="/ppt/notesSlides/notesSlide65.xml" Id="R547b95637c5c41e7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172489a244b4d" /><Relationship Type="http://schemas.openxmlformats.org/officeDocument/2006/relationships/notesSlide" Target="/ppt/notesSlides/notesSlide66.xml" Id="R8dd08a1bf2104c35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7be32c80b46a8" /><Relationship Type="http://schemas.openxmlformats.org/officeDocument/2006/relationships/notesSlide" Target="/ppt/notesSlides/notesSlide67.xml" Id="Ref327febef0b4696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142aa31804ae8" /><Relationship Type="http://schemas.openxmlformats.org/officeDocument/2006/relationships/notesSlide" Target="/ppt/notesSlides/notesSlide68.xml" Id="R9d914b8f00c646d7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2549e5e6f4cdd" /><Relationship Type="http://schemas.openxmlformats.org/officeDocument/2006/relationships/notesSlide" Target="/ppt/notesSlides/notesSlide69.xml" Id="R81266251b34f48f6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787cefbfb458c" /><Relationship Type="http://schemas.openxmlformats.org/officeDocument/2006/relationships/notesSlide" Target="/ppt/notesSlides/notesSlide70.xml" Id="Rc9212089d03c4e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FBBAE-9338-4E5F-A819-CDB5BB57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2026-10-21  HTML/CSS/React/MCP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AD994-924F-4FA1-9813-6D6FEC39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HTML/CSS/React/MCP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34149-5FC1-4C99-8AEA-5604710D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K-Digital 피지컬AI  /  2026-10-21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0EF7F-8532-4AF5-9924-DDA0C979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79BE2-3927-4C0A-BC96-F335325F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HTML/CSS/React/MCP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9BB39-AB5D-4238-89AB-9956B2F4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개념·완성 예제·작은 수정·근거 있는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A7837-1873-46EE-8E09-AFE2C3A8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6구간 수업 자료  ·  실교육 360분 운영안</a:t>
            </a:r>
          </a:p>
        </p:txBody>
      </p:sp>
    </p:spTree>
    <p:extLst>
      <p:ext uri="{BB962C8B-B14F-4D97-AF65-F5344CB8AC3E}">
        <p14:creationId xmlns:p14="http://schemas.microsoft.com/office/powerpoint/2010/main" val="493836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7C31D-5C1A-496E-9CBA-277EF311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752E5-C588-4591-81DA-646EF3CB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파일과 브라우저의 관계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15205-FF3F-4360-925B-7B318753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24A23-64ED-4F61-A171-928A03DC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99B18-54D4-46D5-912E-1283BB34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8CA2D-DCA1-4545-BEC0-0173143E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브라우저는 HTML 문서를 읽어 화면으로 보여 주는 프로그램입니다. 파일을 편집하는 창과 결과를 보는 창은 역할이 다릅니다.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1CD8F-34B9-410D-AD08-FE8C2A1F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E0BF1-5768-4833-81E7-3F252F20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어디에 썼는지와 무엇을 열었는지를 구분해야 저장한 변경을 다시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253235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CB575-7D54-47CF-AA09-0412989F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767A3-DA22-4091-9F78-C3DEC1E0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파일과 브라우저의 관계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10435-5A82-43F6-9FC8-68BA1366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5F884-D531-4052-8FBA-E3B74F3A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9BE12-3C6C-4EA5-9CF2-94859090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F45C6-B798-449C-B0C4-734FEC53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work/static/index.html을 편집하고 같은 파일을 브라우저로 열면 제공 안내판을 볼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4CAA2-DFAB-4DA9-B359-F8011EB0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BAB7-AB77-485B-873B-B9F1375C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코드 편집기에 글자를 바꾼 것만으로 이미 열린 화면이 자동 갱신되는 것은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4944841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0E6FE-E8C6-4EB8-95AB-F7F72F66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4D5C6-0366-437A-BE78-C7A2300B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파일과 브라우저의 관계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CACF6-5E1E-408E-B2F4-00DE8174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1978D-68E8-4EC3-AB35-3C91265C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99104-D427-46F7-9E27-01735721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A01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27138-6C78-43A5-852E-50CDE7A3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course 폴더를 압축 풀기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8F8E9-7696-4C16-9186-82009857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work/static/index.html 경로 적기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DC561-228C-4258-96D6-98E6184A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브라우저에서 안내판 열기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8A7BF-3986-4D07-8F45-286AFB69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편집·저장·새로고침 순서를 말하기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FB3FB-56CE-4859-8F07-BA7B6D1E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안내판 화면과 정확한 파일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D173A-A5A2-4E2D-923A-EB1B44D8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편집 창과 브라우저 화면은 어떻게 다른가요?</a:t>
            </a:r>
          </a:p>
        </p:txBody>
      </p:sp>
    </p:spTree>
    <p:extLst>
      <p:ext uri="{BB962C8B-B14F-4D97-AF65-F5344CB8AC3E}">
        <p14:creationId xmlns:p14="http://schemas.microsoft.com/office/powerpoint/2010/main" val="177952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78965-703F-4771-9D4C-FA1002A1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12359-C935-4043-8AD5-C87F6701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HTML 태그와 문서 의미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2F47F-FB8E-4E29-95A3-66DFD2D7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AA45C-23E5-4F1B-A46D-2762FB5D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ABC71-4534-4D5A-AE6E-D181ABED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A9895-9BAC-4998-A6BF-1DBF2D28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HTML은 제목·문단·버튼 같은 내용의 의미를 표시하는 문서 형식입니다. 여는 태그와 닫는 태그 사이의 내용이 하나의 요소가 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B50EA-1CCD-4DDE-81A5-0F74C5FA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1FF2D-9A53-4926-B48D-26622FFC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보기에 큰 글자를 만드는 것과 문서의 제목이라는 의미를 주는 것을 구별해야 내용 구조를 읽을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7308299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8D838-C87D-4F12-9E9C-EAF38342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C5B00-AA48-477F-9A3F-6A49BCE9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HTML 태그와 문서 의미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75A4C-31EF-4251-AAAE-466A2149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F0B7C-E279-42C1-AB5E-6E94F374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678B6-F346-446C-9894-9B516DDC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49CF5-415E-48F6-96DF-49A117E0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`&lt;h1&gt;입구 센서 안내판&lt;/h1&gt;`에서 h1은 주요 제목, 안의 글자는 화면 내용입니다.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FAA35-14A3-4338-BA52-2BC5821A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6AE66-1C62-41C9-88B9-F8CF6C1F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모든 글자를 h1으로 만들면 크기가 같아질 수 있어도 제목과 설명의 관계가 흐려집니다.</a:t>
            </a:r>
          </a:p>
        </p:txBody>
      </p:sp>
    </p:spTree>
    <p:extLst>
      <p:ext uri="{BB962C8B-B14F-4D97-AF65-F5344CB8AC3E}">
        <p14:creationId xmlns:p14="http://schemas.microsoft.com/office/powerpoint/2010/main" val="7663273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BFF10-BDE4-47B1-BF1F-7BF2342E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코드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60F82-F876-41F8-B2A8-BD55D28E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HTML의 내용과 표식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35022-77BC-4D16-BED9-780C2114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9DA90-9938-4B2E-ABC2-DAC1A61D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AD402-DFE4-4410-9D2F-8E669E37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태그는 의미, id는 프로그램이 찾을 이름입니다.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D7522-7224-4BBE-94E1-E498E618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D9E9E-0403-4FEC-AFA3-1FF3F3AE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&lt;main&gt;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&lt;h1&gt;입구 센서 안내판&lt;/h1&gt;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&lt;p&gt;가상 측정값: &lt;strong id="temperature"&gt;22.5&lt;/strong&gt; ℃&lt;/p&gt;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&lt;p id="status" role="status"&gt;아직 확인하지 않았습니다.&lt;/p&gt;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&lt;button id="check" type="button"&gt;측정값 확인&lt;/button&gt;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&lt;p&gt;가상 데이터이며 실제 장비와 연결하지 않습니다.&lt;/p&gt;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&lt;/main&gt;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1E042-0CE7-4A0E-BD3F-C6DDC166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제목만 바꾸면 측정값과 프로그램은 그대로입니다.</a:t>
            </a:r>
          </a:p>
        </p:txBody>
      </p:sp>
    </p:spTree>
    <p:extLst>
      <p:ext uri="{BB962C8B-B14F-4D97-AF65-F5344CB8AC3E}">
        <p14:creationId xmlns:p14="http://schemas.microsoft.com/office/powerpoint/2010/main" val="3914749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052A4-A604-485B-A319-287152A6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31D38-8164-44FB-A53B-6AF2A3B8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HTML 태그와 문서 의미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47C50-C233-4969-BAA2-96036FB6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29894-EB4C-4CB8-B963-D87CB5CE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9748B-1F9E-43A9-85D1-7857C934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A02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E59C6-5397-43E6-8B8C-115E883E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전체 HTML에서 h1·p·button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E6813-659F-4D2C-983E-3F960707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여는 태그와 닫는 태그 짝 표시하기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FD52F-2299-4219-9FB2-50E7578D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제목 글자만 창고 센서 안내판으로 바꾸기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A0712-C98F-48B9-8CD6-313B596A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저장 후 어떤 내용이 바뀌었는지 확인하기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DF2D7-0F07-4497-AA0F-A1A07945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제목이 바뀐 작업 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CB031-E9EA-424A-9F3F-40365B4C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h1과 CSS 글자 크기는 왜 같은 역할이 아닌가요?</a:t>
            </a:r>
          </a:p>
        </p:txBody>
      </p:sp>
    </p:spTree>
    <p:extLst>
      <p:ext uri="{BB962C8B-B14F-4D97-AF65-F5344CB8AC3E}">
        <p14:creationId xmlns:p14="http://schemas.microsoft.com/office/powerpoint/2010/main" val="6245079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34323-209E-444D-8985-A9CDA7CB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4FDD9-E9E7-4E39-A0F3-D036325F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속성·연결·접근성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8D9C9-27C6-4F71-9652-14151402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6B4D2-FA9C-44C1-B663-816B14E0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436C2-9B4B-49C4-891C-1BD54065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6C4BC-F602-46B2-A073-A7BA3C95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속성은 요소에 추가 정보를 붙이는 이름과 값입니다. lang은 문서 언어, id 는 특정 요소를 찾는 이름, type은 버튼 동작 종류를 설명합니다.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72149-A9D8-4328-A294-9BA05681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0321B-3674-41D8-8A17-7CBF9EA4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사람이 보는 문구와 프로그램이 찾는 이름을 구분해야 버튼 연결을 끊지 않고 내용을 수정할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8406924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7D6A9-338A-4E35-A978-BFEEA2BE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52D09-C3AC-4B1A-B17E-4A3C1962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속성·연결·접근성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7A831-98A4-4899-8D16-19A4CC68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F616C-1B4E-4179-B7FF-A48D2285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28AEF-502E-40C0-83F5-D8FF3FAB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E9F06-72DE-46D3-982D-D486192E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id ="check"는 JavaScript가 버튼을 찾는 기준이고 버튼 안 글자는 사용자에게 보이는 안내입니다.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8544F-15D6-43FA-BEC5-C6E0D0B8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78DE5-38F9-455E-B3A0-3932D2A8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id를 임의로 바꾸고 연결 코드를 그대로 두면 화면은 보여도 버튼 반응이 사라질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476606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35B44-4100-4196-BA7C-16FB01DA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F289A-437B-4F48-902C-D6FF4BE7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속성·연결·접근성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4E11A-E4F5-43C6-ABCA-01AD2067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85741-5ABE-45BC-8F89-783CD178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A2A4F-A9FE-4977-BF7A-5343549B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A03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33A60-47D4-411E-9012-EFEC0640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lang·id·type 속성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B0861-A092-437C-B0CB-6621BD31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보이는 글자와 내부 이름 나누기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304F5-A348-4F69-9A1A-25F07F97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버튼 문구만 값 다시 확인으로 바꾸기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FE5A5-A84C-470D-A4FC-7D5DFF75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Tab 키로 버튼에 이동해 테두리 보기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67AEB-681D-4494-AE4B-5110D222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내용 수정과 내부 연결 이름의 차이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F0525-988D-4DA1-91F0-E5C2CE57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사용자에게 보이는 이름과 코드가 찾는 이름은 왜 구분하나요?</a:t>
            </a:r>
          </a:p>
        </p:txBody>
      </p:sp>
    </p:spTree>
    <p:extLst>
      <p:ext uri="{BB962C8B-B14F-4D97-AF65-F5344CB8AC3E}">
        <p14:creationId xmlns:p14="http://schemas.microsoft.com/office/powerpoint/2010/main" val="19238926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BAD5A-ACA5-481E-AFD2-A82D402C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2FF07-1062-40DE-ACF5-C4A9EA1A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웹 문서의 내용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434CA-EDF4-45F5-B901-DA91772D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F897A-D70A-48EA-9D72-95148985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파일과 브라우저의 관계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편집 창과 브라우저 화면은 어떻게 다른가요?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HTML 태그와 문서 의미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h1과 CSS 글자 크기는 왜 같은 역할이 아닌가요?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속성·연결·접근성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사용자에게 보이는 이름과 코드가 찾는 이름은 왜 구분하나요?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7970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86EA2-F35A-4B3F-B383-DFFDDD18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3EB5A-F2D9-43E3-980C-DCE9EE7E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CSS 선택자와 선언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5598D-D0C1-486B-AA36-9EE872BD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F391F-74C8-4D4D-9E27-FC15E893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3B81B-1B78-4F78-8EBE-EBB0979A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6F06A-DA0F-4D14-A511-FAFD2236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CSS는 어떤 요소에 어떤 모양을 적용할지 쓰는 규칙입니다. 선택자는 대상을 고르고, 속성과 값은 색·크기·간격을 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5BF51-46E8-4CDC-8E3D-505C193B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07431-58F4-449F-BD00-37C69123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내용과 모양을 나누면 같은 제목을 유지하면서 여러 화면 크기에 맞게 조정할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9338211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2E673-9224-4CFD-9A0F-B6DAF919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39F28-A12C-48F2-AD1F-D83B1494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CSS 선택자와 선언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8916C-6852-4251-8B03-CD91B06A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95550-6F48-48F4-A874-37814C00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6E60A-B2BE-463F-AECE-37D4E81D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5CDF0-14E2-435A-BF88-62953BA7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h1 { color: #126d65; }는 제목 글자의 색을 정합니다. #126d65는 색을 나타내는 표기입니다.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31DC2-CA01-437F-BA0F-6FC97411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88E53-B1E8-492F-85D3-E8DA1C3E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색을 바꿔도 센서 온도의 데이터 값이 바뀌는 것은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7481722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32743-5768-4822-A9A0-60BAB40E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코드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0859A-BBDD-4F63-AD5C-7E6A3C7B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CSS의 대상과 모양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15784-3929-4711-B096-602415F5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873B1-B2A5-4709-B07D-60E6F067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8984B-3889-4C84-98BD-98A609F1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선택자 { 속성: 값; } 형식으로 읽습니다.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EE6C5-C2C5-4B37-A984-9C942F9C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3E7B3-9F41-4392-A6A8-94651B7A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body { font-family: sans-serif; margin: 0; background: #f5f1e8; color: #163332; }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main { max-width: 720px; margin: 40px auto; padding: 24px; }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h1 { font-size: 2rem; color: #126d65; }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 { line-height: 1.7; }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button { padding: 12px 20px; background: #126d65; color: white; border: 0; 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99A2F-5BBC-4EF0-83E5-AAFA9EC3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h1 색 하나를 바꾸고 저장한 뒤 화면을 다시 엽니다.</a:t>
            </a:r>
          </a:p>
        </p:txBody>
      </p:sp>
    </p:spTree>
    <p:extLst>
      <p:ext uri="{BB962C8B-B14F-4D97-AF65-F5344CB8AC3E}">
        <p14:creationId xmlns:p14="http://schemas.microsoft.com/office/powerpoint/2010/main" val="12192781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6119C-586C-4F7C-98FE-E68264E9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A61E6-D2CA-48A3-B466-BEC86A8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CSS 선택자와 선언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63CBD-B114-4CD5-9406-B3975569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37B42-7D24-43C8-A03D-4CC0EDBA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4E202-2B3F-456F-8E10-F7AF591C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A04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F9064-3C2C-4924-8530-F521D73D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style.css에서 h1 규칙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8C1BA-C107-4BA0-8383-ECD4EBA2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color와 값의 경계 표시하기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CB43D-E2D3-4059-BCE0-5134EB6A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색을 #75421b로 바꾸기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51DEB-2BF2-463D-92D3-1BDBFDBC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같은 제목 내용이 유지되는지 비교하기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7937B-D479-4492-B5E9-431719F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색만 달라진 제목과 수정한 규칙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72545-48A7-4C13-96AC-86BFA5E2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CSS 값을 바꿨을 때 무엇이 유지돼야하나요?</a:t>
            </a:r>
          </a:p>
        </p:txBody>
      </p:sp>
    </p:spTree>
    <p:extLst>
      <p:ext uri="{BB962C8B-B14F-4D97-AF65-F5344CB8AC3E}">
        <p14:creationId xmlns:p14="http://schemas.microsoft.com/office/powerpoint/2010/main" val="1929862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2C493-46A8-48DE-906B-D961926A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93BF8-48AB-4416-B9C2-6174241A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상자·여백·읽기 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C1407-F0EA-487D-A8F0-394FF102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B11F8-E53A-4DB8-8B61-F5E791BC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4CBDF-D5BB-4905-A5E9-E8E3C012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40D19-9100-4DA4-80C6-5E29DDF7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브라우저의 요소는 화면 공간을 차지하는 상자로 배치됩니다. padding은 안쪽 간격, margin 은 바깥 간격이며 max-width 는 너무 넓어지지 않게 제한합니다.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1D327-FEE5-4030-A1C3-F125555B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12B0D-63CB-4D43-937E-10543E83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문장이 화면 끝까지 길어지거나 요소가 붙어 있으면 내용을 읽기 어렵습니다. 간격도 정보 전달에 영향을 줍니다.</a:t>
            </a:r>
          </a:p>
        </p:txBody>
      </p:sp>
    </p:spTree>
    <p:extLst>
      <p:ext uri="{BB962C8B-B14F-4D97-AF65-F5344CB8AC3E}">
        <p14:creationId xmlns:p14="http://schemas.microsoft.com/office/powerpoint/2010/main" val="6472640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9EC5B-20ED-4A10-8A29-65B70AB7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00138-7A61-4085-BE6E-C5B8778B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상자·여백·읽기 폭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08614-D298-4015-ACB5-FEA0287A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1D5A7-76A8-48DE-9807-3326A721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A2E90-FC45-4CB8-8BB5-1A3FD5F8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F6C16-6C21-4CFE-8336-751077E1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main의 padding:24px을 32px로 바꾸면 안내판 내용과 바깥 영역 사이의 안쪽 간격이 커집니다.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A45E4-9DB2-4BDA-941A-0E133E67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9E412-872F-4559-A2A8-5175A1A6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글자를 작게 줄여 모든 것을 한 화면에 넣는 방식은 초심자의 읽기를 어렵게 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9462857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EEC9C-2D74-4832-8561-ACE0F8E3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E3997-1385-4B5C-96D6-AA9E4F97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상자·여백·읽기 폭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38CEA-09CD-4F2C-B87B-8CD2983E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D100C-CA91-449F-BC3F-8C2E82D6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E5F7B-1E74-4BEF-A692-C6168FEB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A05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B1A5E-378F-480E-B007-2260814F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main의 세 배치 규칙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90AAE-A5C5-494B-A234-9CA7DA23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padding과 margin 을 그림으로 구분하기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45A60-FD3E-4E99-9377-44633C20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padding 한 값을 바꿔 비교하기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73282-6D4E-412F-9854-3994C346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글자 크기와 읽기 폭의 영향을 설명하기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146DD-D413-4D9C-B275-F7398DF0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간격 수정 전후 관찰 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DA5F6-95CE-4D00-866F-222656C8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안쪽 여백과 바깥 여백은 어떻게 구분하나요?</a:t>
            </a:r>
          </a:p>
        </p:txBody>
      </p:sp>
    </p:spTree>
    <p:extLst>
      <p:ext uri="{BB962C8B-B14F-4D97-AF65-F5344CB8AC3E}">
        <p14:creationId xmlns:p14="http://schemas.microsoft.com/office/powerpoint/2010/main" val="18286237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CC7A3-CB5A-4496-87D2-9110FE9E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D6350-E80F-4CBA-B3FE-446079C4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작은 화면과 상태의 표시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6E616-167A-4B20-9DC3-872FE96D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99CB7-8310-413E-A491-5036553C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299FB-0607-4395-A1A4-816110F1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38584-B56A-4331-8053-87A80302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반응형 규칙은 화면 폭 같은 조건에 따라 모양을 조정하는 CSS입니다. 색만으로 의미를 전달하지 않고 글자와 구조도 함께 사용합니다.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79ED0-4AAB-4D55-9544-3FDCBAAF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0526A-E7DF-43AE-8767-6EEB8A6C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같은 자료를 좁은 화면과 키보드로도 읽을 수 있어야 업무 확인에 사용할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733810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41BFE-CD87-4A4D-A910-43301420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19EBB-8A0F-4A1B-9223-21B2C2C7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작은 화면과 상태의 표시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D72F8-5334-4ECA-A507-FE3F12E0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785E9-4091-44BA-97A6-22ED1188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4061D-5D44-4A93-ADB3-6E2D7B65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F8610-7A38-48CF-A38A-1B49DE57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max-width:600px 조건에서는 main의 바깥 간격이 8px로 바뀝니다. focus-visible은 키보드 초점을 드러냅니다.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E1AD8-69AB-49F9-BC37-C745170E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AE3AB-BDC8-491D-9C49-B338BF16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초록색만 보고 정상이라고 판단하게 하면 색을 구분하기 어렵거나 상태가 바뀐 경우 설명이 부족합니다.</a:t>
            </a:r>
          </a:p>
        </p:txBody>
      </p:sp>
    </p:spTree>
    <p:extLst>
      <p:ext uri="{BB962C8B-B14F-4D97-AF65-F5344CB8AC3E}">
        <p14:creationId xmlns:p14="http://schemas.microsoft.com/office/powerpoint/2010/main" val="7459407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09418-6883-4A42-B1B6-84D47BD2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6E8F5-52C1-4481-A977-03C94DD5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작은 화면과 상태의 표시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57FF5-FF5A-44B9-AD15-16EDE4F0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41DAB-FD39-41EA-A534-DBA0BE4F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D48C1-5808-4109-B728-D12C5BB0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A06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87849-23B8-4C62-9D89-3494597B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브라우저 폭을 넓고 좁게 바꾸기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5F49A-AB47-40DF-A584-A9627055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줄 바꿈과 가로 넘침 확인하기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812FA-89A3-4C3F-A57C-B7AE0A8B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Tab으로 버튼에 이동하기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8980F-CFC4-4C2D-B09A-7D8A6085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상태를 글자로도 알 수 있는 지 기록하기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164AB-CBE9-47B6-B33F-02330D50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화면 폭·키보드·상태 문구 검수 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491FA-0E96-4D2F-9B3D-7F639750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정상 상태를 색만으로 표시하면 어떤 정보가 빠질까요?</a:t>
            </a:r>
          </a:p>
        </p:txBody>
      </p:sp>
    </p:spTree>
    <p:extLst>
      <p:ext uri="{BB962C8B-B14F-4D97-AF65-F5344CB8AC3E}">
        <p14:creationId xmlns:p14="http://schemas.microsoft.com/office/powerpoint/2010/main" val="15710382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B92AE-6462-4C56-80B5-CC49B06F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5F8E3-E817-4E35-A5A1-F6C04DA3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CSS의 모양과 읽기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DB1B5-9E07-4F75-AE0D-ABE7DAB4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20DEF-260A-4DBD-93BA-07659667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CSS 선택자와 선언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CSS 값을 바꿨을 때 무엇이 유지돼야하나요?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상자·여백·읽기 폭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안쪽 여백과 바깥 여백은 어떻게 구분하나요?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화면과 상태의 표시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상태를 색만으로 표시하면 어떤 정보가 빠질까요?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2569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C426A-030E-4B58-9469-1353E678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A4A52-D976-4156-86A5-87EA713D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JavaScript와 이벤트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01DD1-5D25-4F0E-A41E-1FAC1407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5937B-DD3D-44E1-9904-25614E09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E32C1-0DD6-4F17-86DE-060AF8A1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0C1B4-B6CA-4F74-94F6-2EE8BAA8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JavaScript는 프로그램의 동작을 적는 언어입니다. 이 예제에서는 클릭이나 데이터 변화에 따라 화면을 바꿉니다. 이벤트는 버튼 클릭처럼 프로그램이 반응할 수 있는 사건입니다.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B5389-1258-49DA-AEBD-0E1C1CA0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355AD-05EF-44D8-B0F2-25BCAA7F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정적인 문서 내용과 클릭 뒤 실행되는 동작을 나누면 화면이 왜 바뀌었는지 따라갈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662863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7170D-B1AB-4E9B-B997-B53D7435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6EB4A-369E-44FF-B97D-BCB8D834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JavaScript와 이벤트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252C0-32C8-4D6B-937F-DB7FC5D7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7AC9E-273C-4E0A-838A-BA696FE4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9ECFA-CC95-47FF-8625-A3B4A177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77BB3-61D7-4DD9-A965-9AFA859D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addEventListener("click", ...)는 클릭 때 안쪽 코드를 실행하도록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6ECE3-0B0A-407C-B24C-4EE8F389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D9635-947B-4BCA-8CC9-4FF14068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버튼이 보인다는 사실만으로 클릭 동작이 연결됐다고 볼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5129322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8D012-C8AA-4FA4-8C2E-DDC7ABE9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코드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E05B5-DFC4-44D3-A3A3-826D2060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클릭 때 실행할 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D4416-99F5-4F8D-BC1F-5E61572F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20372-1D0B-4282-BEEB-B6378D95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1461F-8036-4209-813B-54C0CB10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위 세 줄은 위치 찾기, 뒤 네 줄은 클릭 처리입니다.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0827F-F1AC-45D5-B0C2-32FB2027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78806-707A-4054-B21E-AC3D43CB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const button = document.querySelector("#check");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const value = document.querySelector("#temperature");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const status = document.querySelector("#status");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button.addEventListener("click", () =&gt; {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value.textContent = window.SENSOR.temperature_c;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status.textContent = window.SENSOR.location + "의 가상 값을 확인했습니다.";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});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C59D1-6D78-4520-8507-A54445C2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id가 맞지 않으면 선택 결과가 null이라 연결에 실패합니다.</a:t>
            </a:r>
          </a:p>
        </p:txBody>
      </p:sp>
    </p:spTree>
    <p:extLst>
      <p:ext uri="{BB962C8B-B14F-4D97-AF65-F5344CB8AC3E}">
        <p14:creationId xmlns:p14="http://schemas.microsoft.com/office/powerpoint/2010/main" val="4292444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DE2B7-1F57-4879-875A-C08EF60F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4A9E3-F918-4A46-85B4-1F28F3D2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JavaScript와 이벤트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D689E-D58D-4479-BC42-09AA10A8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5FEA0-0175-49C5-A96D-12310F74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FBA27-CDA9-4E24-89DB-F56F3175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A07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28B87-7826-41D3-9206-DA273891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app.js 전체 일곱 줄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D6474-555A-445B-851A-D5CC4DA2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버튼 선택과 클릭 연결 구간 나누기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462D0-DB31-497C-95B1-C6994924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누르기 전 상태 문구 예상하기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3CC4C-1937-44DE-86DE-034D1F3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클릭 후 바뀐 문구를 비교하기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1D534-D0A6-4407-AFFB-0746EB4B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클릭 전후 문구와 이벤트 흐름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26B6C-7812-48C9-AF72-17E62890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버튼 표시와 클릭 반응은 어떻게 다른가요?</a:t>
            </a:r>
          </a:p>
        </p:txBody>
      </p:sp>
    </p:spTree>
    <p:extLst>
      <p:ext uri="{BB962C8B-B14F-4D97-AF65-F5344CB8AC3E}">
        <p14:creationId xmlns:p14="http://schemas.microsoft.com/office/powerpoint/2010/main" val="13902831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C12A3-C016-4ADC-ADC9-84A3E83C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147AB-F8C3-4E11-845F-A2DE14C4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데이터와 화면 내용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2A49C-49C0-4F9B-A295-D6CD7AE7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E72B7-79A9-42F0-A127-EFBD9F72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4E08B-46B7-4CDE-A0AA-E753482C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A1224-96BE-4430-A550-64250DA4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데이터는 프로그램이 보여 줄 값이며 화면 요소는 그 값을 담는 자리입니다. textContent는 글자를 넣는 방법으로 오늘의 단순 숫자·문구 표시에 사용합니다.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AAAAF-14FB-42AC-A3CD-D4FB15A1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D3D1B-B793-4175-9FAA-8B93C0F4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어느 파일의 값이 어느 화면 자리로 이동하는지 알면 작은 변경을 스스로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4129878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9FF85-080D-418B-AD60-47C5D9F1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BD716-9E62-4371-BAA5-2AAD65E6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데이터와 화면 내용 연결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16745-1AB0-43E2-8D83-4E36B61B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2BBA5-6853-498E-AAC7-86302489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89C88-A6FE-4D70-A076-EB35F962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260D9-BECE-4D0E-A63C-96FCA61E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data.js의 temperature_c를 24.5로 바꾼 뒤 클릭하면 온도 자리에 24.5가 표시됩니다.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D06D3-3357-471E-8D1F-069A25B2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34BA7-BFC5-4C68-BA83-A05BCA20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HTML에 처음 적힌 22.5와 클릭 후 data.js에서 읽은 값은 출처가 다르므로 수정 위치를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45525529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70A7E-6E37-4E42-9B0E-3E375D63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4E820-9333-4B72-948F-EAD311E3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데이터와 화면 내용 연결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16789-0049-44A9-9842-7A9DFE11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4B1F4-BAEF-4EFA-A08A-89C13548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F76C4-70BB-4702-A936-2F1E37C9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A08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2A58E-BC03-4193-BA38-D82771BB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data.js의 세 필드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3EBB9-182B-4DAB-8817-DD80BEE4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온도 하나를 24.5로 바꾸기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7C75A-872F-41A4-884A-17B3647C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새로고침 직후와 클릭 후 비교하기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2F939-DF52-4642-B4D7-70BDEE50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초기 HTML 값과 동적 값의 출처 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34044-E621-49DA-BF64-E2483295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입력 24.5와 클릭 후 표시 값의 대응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08731-A8FC-4F81-A54E-A1EABDA7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새로고침 직후와 클릭 뒤 값이 다른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58570882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F4AF2-E54D-4F27-BD02-9317A5A5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386CD-7762-4D3C-9F12-75E9B263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오류 위치와 최소 복구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F97E2-C7A5-496E-9ABB-ABE22137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0DE47-1BF6-4CC0-B6AE-E4EB0C42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35ABA-AE6D-4340-B0B6-8DCB5808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C2CD4-707A-47A6-98FA-6130687F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오류를 찾을 때는 증상·실제 파일·가장 최근에 바꾼 부분을 순서대로 확인합니다. 코드 전체를 다시 쓰기보다 연결 하나를 비교합니다.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F26AC-48AB-4F56-B2B4-0D9B2E0B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8C0ED-F09E-4154-A505-C31B99AF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작은 오타를 찾는 과정은 화면이 여러 파일의 연결로 만들어진다는 사실을 보여 줍니다.</a:t>
            </a:r>
          </a:p>
        </p:txBody>
      </p:sp>
    </p:spTree>
    <p:extLst>
      <p:ext uri="{BB962C8B-B14F-4D97-AF65-F5344CB8AC3E}">
        <p14:creationId xmlns:p14="http://schemas.microsoft.com/office/powerpoint/2010/main" val="156229870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D0688-CF2D-46F3-B310-0A40ADB3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83D69-AF22-49CE-85DE-66E7ABA3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오류 위치와 최소 복구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470A1-4A29-446B-A40F-33B1A606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77253-F0E0-4F87-BBA5-471CD7B3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219D2-DAC5-4729-92CA-EB2B8C9D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066F6-5F1E-438D-BD7D-394D75DB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복사본의 id ="check"를 id ="checkx"로 바꾸면 #check 선택과 어긋납니다. 원복하면 클릭이 돌아옵니다.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5C48A-F608-4E3D-B491-6D4ABFDB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259FC-A16C-4E54-98B6-1FCC33DF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정상 원본까지 고치면 비교 기준을 잃으므로 의도적 오류는 작업 복사본에만 만듭니다.</a:t>
            </a:r>
          </a:p>
        </p:txBody>
      </p:sp>
    </p:spTree>
    <p:extLst>
      <p:ext uri="{BB962C8B-B14F-4D97-AF65-F5344CB8AC3E}">
        <p14:creationId xmlns:p14="http://schemas.microsoft.com/office/powerpoint/2010/main" val="114370367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95A9E-C1E1-4A53-9147-EA26FA21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8D81E-850E-414D-96EC-5FFED433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오류 위치와 최소 복구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C6519-D6D4-4CE6-A8E4-627C36A2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490D5-B904-461E-96EC-8C2B5369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267E6-CA2B-47F6-8996-583AB457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A09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9805E-1DDE-467A-862D-F098A197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복사본에서 id 한 글자 바꾸기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18B88-B7A1-496E-877F-B68CE240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클릭 반응이 없는 증상 관찰하기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EF598-3DD5-4221-8757-D7C8E00C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HTML과 JavaScript 이름 대조하기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37DEE-542F-4760-9ABF-C397BD1F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원복 후 같은 행동으로 재확인하기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0865C-AE78-4BCE-A6B4-D29E68D4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한 오류의 증상·원인·복구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40C5D-1521-4B26-A2E2-6104F72D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원복 후에도 같은 행동으로 확인해야 하는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94284704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1603C-1341-484B-A180-D5B67EE1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DEAB1-449B-439C-9A31-A21DDCEA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버튼과 데이터 변화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DAE06-D11F-4679-BB36-C54D0650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A4A3A-3415-4332-958E-7A38BD72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JavaScript와 이벤트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 표시와 클릭 반응은 어떻게 다른가요?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데이터와 화면 내용 연결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새로고침 직후와 클릭 뒤 값이 다른 이유는 무엇인가요?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위치와 최소 복구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원복 후에도 같은 행동으로 확인해야 하는 이유는 무엇인가요?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537211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C943A-B25B-4CE5-A7C4-D84A9A56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FB316-3CCC-4182-BC6D-3A0EE10D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React와 컴포넌트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4281A-0BFB-40DF-A5DF-8095B27A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6F594-2958-4041-9558-1A08C08C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EEB80-C65A-4A60-8086-ADB8AA4F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68DFB-AF58-45DE-AEC4-E04F14DC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React는 데이터와 상태를 이용해 화면을 구성하는 JavaScript 라이브러리입니다. 컴포넌트는 내용과 동작을 함께 설명하는 재사용 가능한 화면 부품입니다.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A96D8-65F5-4D72-B5B7-6E779DE1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D0FC8-B614-4FF4-A3EC-F1E50C22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같은 센서 안내 형식을 여러 곳에 쓸 때 각 부품의 입력과 상태를 구분할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8542256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2B714-ECD1-4400-B3E6-024A99B5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4A664-4BF4-4FC3-9B5C-DCC34243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React와 컴포넌트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E5560-7624-4C91-9C60-7109B024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CC683-0CB9-42FA-96B9-95D09255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D016C-C6F4-4A52-813C-4A95D0D1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D7E5D-06B0-485F-B9AA-3A6DD517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SensorCard는 장소와 온도를 보여 주는 제공된 완성 부품입니다. App은 제목과 이 부품을 화면에 배치합니다.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DBA39-0FB6-47F2-A476-BD265A74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7A9A7-C5AC-4D16-88CB-B9396891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React는 HTML이나 CSS를 없애는 도구가 아니며 화면의 내용과 모양을 여전히 이해해야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62794402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223AB-B9F7-4690-8F38-AE409771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코드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26A6C-B78D-4A6A-86CD-01480367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React 부품의 첫 부분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504AA-1EB1-4D37-BD70-7D2E282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0ED45-4950-4814-965E-E8448EF4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5D29A-43E2-4C9D-8280-82652BA0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 location과 바뀌는 상태 temperature를 구별합니다.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D7FE6-3CC0-4A0E-B50F-5A5F7983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EA989-D273-4121-A512-B7A00C85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React, { useState } from "react";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{ createRoot } from "react-dom/client";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function SensorCard({ location }) {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const [temperature, setTemperature] = useState(window.SENSOR.temperature_c);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return &lt;section&gt;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&lt;h2&gt;{location} 센서&lt;/h2&gt;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&lt;p aria-live="polite"&gt;가상 온도: {temperature} ℃&lt;/p&gt;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&lt;button onClick={() =&gt; setTemperature(temperature + 0.5)}&gt;0.5 올린 모의값&lt;/button&gt;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&lt;/section&gt;;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5BA18-67D7-45DF-ACA0-27B98E9F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코드는 해설에 있습니다. 필수 수정은 data.js의 한 값입니다.</a:t>
            </a:r>
          </a:p>
        </p:txBody>
      </p:sp>
    </p:spTree>
    <p:extLst>
      <p:ext uri="{BB962C8B-B14F-4D97-AF65-F5344CB8AC3E}">
        <p14:creationId xmlns:p14="http://schemas.microsoft.com/office/powerpoint/2010/main" val="154413013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48FDC-AFBA-4294-9C2A-BE164EAF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FEE72-A629-4B3F-9482-8462B071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React와 컴포넌트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0613A-1ED8-422B-8BBD-A58B3B44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805F6-8F6C-43B4-A0A8-2CDC0B04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FF923-76D0-4584-A19E-8689929F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A10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E2E18-020A-4EE5-B00D-AB4CF9EC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code/react/index.html 실행하기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BF4B0-5B27-4576-92DC-C8896365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App.jsx에서 두 함수 이름 찾기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38ABB-7077-4F49-BC68-67839FDF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제목·SensorCard·안내문 위치 연결하기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3899E-2C73-46B0-84E9-2F8D4E58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정적 화면과 React 부품의 공통점 적기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FBB59-6BD6-4CC1-9525-6EF2FF4B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완성 React 화면과 부품 역할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52C43-B504-416D-B58F-1F5A0BEE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컴포넌트는 표의 데이터 한 행과 같은 말인가요?</a:t>
            </a:r>
          </a:p>
        </p:txBody>
      </p:sp>
    </p:spTree>
    <p:extLst>
      <p:ext uri="{BB962C8B-B14F-4D97-AF65-F5344CB8AC3E}">
        <p14:creationId xmlns:p14="http://schemas.microsoft.com/office/powerpoint/2010/main" val="78969526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459EB-BCF5-45C8-AE0B-89AD243A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3D60F-9E3A-4E24-A483-B07692AA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props와 제공 데이터 수정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3098A-369C-4823-97FF-076B59B6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875F2-0661-4FCB-B6B7-0B7DD335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4956A-EA28-497D-A079-2DB98C33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2BD1B-2619-4521-93EC-2C8F33FA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props는 부모가 부품에 전달하는 입력입니다. 오늘은 장소를 전달하고 온도의 첫 값을 제공 데이터에서 읽는 작은 완성 예제를 사용합니다.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6E947-E937-4F25-81DD-65B1A0BA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400FD-59F1-47E1-ADE8-40027BE6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부품을 처음부터 새로 만들지 않아도 어떤 입력을 바꾸면 어느 화면이 달라지는지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5932368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0581F-2EB5-4D4E-8030-D48C2CB5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5CAD0-6A87-47C3-80ED-801647F6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props와 제공 데이터 수정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6BC9F-1F92-478C-B10C-AE582240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AC294-4558-4FA2-AA90-568BFA6A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6FFA0-3050-427C-8550-7EBD9451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BD2D9-E4D3-4A21-9226-39148DC6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work/react/data.js에서 location을 창고,temperature_c를 24.5로 바꾸고 새로고침하면 부품의 내용이 바뀝니다.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DD515-8CBF-4426-932E-162B02E4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A88F7-555E-4142-B718-FE5FE79C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JSX의 중괄호는 여기서 JavaScript 값을 넣는 자리이며 CSS 규칙의 중괄호와 역할이 다릅니다.</a:t>
            </a:r>
          </a:p>
        </p:txBody>
      </p:sp>
    </p:spTree>
    <p:extLst>
      <p:ext uri="{BB962C8B-B14F-4D97-AF65-F5344CB8AC3E}">
        <p14:creationId xmlns:p14="http://schemas.microsoft.com/office/powerpoint/2010/main" val="150705335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957CC-2836-49F7-8AEF-4ABA5B1B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코드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334C0-6464-4D28-B4C9-C2DDE2C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부모가 부품에 주는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282C9-B4D9-4849-9DB7-D64B8A46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06208-9F31-42C3-BF60-1BBD3F6A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DD05E-4208-40C5-B6E2-24698585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SensorCard를 사용하며 location 값을 전달합니다.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5BD74-A0A3-4F26-A856-0A27D46C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604A0-6B36-4729-AC58-5D81C070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function App() {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return &lt;main&gt;&lt;h1&gt;React 센서 안내판&lt;/h1&gt;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&lt;SensorCard location={window.SENSOR.location} /&gt;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&lt;p&gt;새로고침하면 제공 데이터의 처음 값으로 돌아갑니다.&lt;/p&gt;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&lt;/main&gt;;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}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createRoot(document.getElementById("root")).render(&lt;App /&gt;);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1DE9C-DD17-4EAE-94A6-DB7FE15D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props는 부모가 주는 입력, 상태는 부품이 기억하는 값입니다.</a:t>
            </a:r>
          </a:p>
        </p:txBody>
      </p:sp>
    </p:spTree>
    <p:extLst>
      <p:ext uri="{BB962C8B-B14F-4D97-AF65-F5344CB8AC3E}">
        <p14:creationId xmlns:p14="http://schemas.microsoft.com/office/powerpoint/2010/main" val="189845953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91A46-687A-4F1D-936A-E50722A2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8FF1E-3A8B-4FAD-807E-B0FE7CD4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props와 제공 데이터 수정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15EE4-BBDB-480A-A6F4-6D4EB0C6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14F06-139C-4871-AC38-AD296948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CECFB-58D3-48CA-9EC1-798F24D7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A11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B4C25-4231-4CEA-B4B3-64A95D23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작업 React 폴더 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E0EE2-AF98-47CD-8D76-98B97979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data.js의 장소와 온도 수정하기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EEAAE-8AB5-4973-8017-3E0715C4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새로고침 해두 표시 비교하기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981A0-7227-484A-8C2B-6D1CD07C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props로 전달되는 장소 경로 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568FE-3FD3-472B-B49F-223BFF27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장소·온도 수정본과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36D26-58D6-4336-A219-A23ECE92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같은 부품을 다른 장소에 쓰려면 어떤 입력을 바꿀까요?</a:t>
            </a:r>
          </a:p>
        </p:txBody>
      </p:sp>
    </p:spTree>
    <p:extLst>
      <p:ext uri="{BB962C8B-B14F-4D97-AF65-F5344CB8AC3E}">
        <p14:creationId xmlns:p14="http://schemas.microsoft.com/office/powerpoint/2010/main" val="15361491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7C501-3692-469A-8302-C8EC0E96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71AB7-3794-4365-A48C-7611ABA4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상태와 화면의 다시 그리기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9E7C5-F39A-4E8B-A41E-C80FA137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B42CC-AF73-4617-9FEC-901C39AA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03877-692D-441E-B4ED-87577A78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AB539-8015-44CB-9BA1-222E44AB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상태는 컴포넌트가 기억하는 값입니다. useState는 현재 값과 그 값을 바꾸는 함수를 제공하며 상태 변경에 따라 화면이 다시 계산됩니다.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FCAE2-4C7F-4518-A477-4601AC9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48A7F-F566-44D5-B898-D7462AF4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화면 글자를 직접 찾는 방식과 상태를 바꿔 화면을 설명하는 방식의 차이를 작은 클릭으로 관찰합니다.</a:t>
            </a:r>
          </a:p>
        </p:txBody>
      </p:sp>
    </p:spTree>
    <p:extLst>
      <p:ext uri="{BB962C8B-B14F-4D97-AF65-F5344CB8AC3E}">
        <p14:creationId xmlns:p14="http://schemas.microsoft.com/office/powerpoint/2010/main" val="89977922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877C1-D3DD-4EEA-9C1D-CBEA0FC7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D73EB-CB26-4457-8B2F-3602CE5A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상태와 화면의 다시 그리기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6A498-49AA-4B97-8967-2F883242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10E70-422E-4DD1-8133-7F5F1599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6E54D-1504-408F-BA12-6B9F378D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1FB3A-786D-44A1-BACB-D5FED42F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0.5 올린 모의값 버튼을 누르면 22.5 →23.0처럼 상태가 바뀝니다. 이것은 실제 센서 측정이 아닙니다.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6DC7E-D4A2-49FB-8FEF-C9749BA5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45A20-F112-41B3-ADA6-5979A77F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새로고침하면 서버에 저장한 값이 아니라 data.js의 초기 값으로 돌아갑니다.</a:t>
            </a:r>
          </a:p>
        </p:txBody>
      </p:sp>
    </p:spTree>
    <p:extLst>
      <p:ext uri="{BB962C8B-B14F-4D97-AF65-F5344CB8AC3E}">
        <p14:creationId xmlns:p14="http://schemas.microsoft.com/office/powerpoint/2010/main" val="165450335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4B69A-016A-4A51-A240-713D79F5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결과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44FEC-6E98-4339-AEB3-940C9763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상태와 새로고침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BA6AD-E479-4B0A-B408-E76E2340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8E181-55C1-476D-87D6-7CAD8265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행동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값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처음 열기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data.js에서 초기화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 한 번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상태에 0.5 더함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 또 한 번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23.5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상태에서 더함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새로고침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22.5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기능이 없어 초기화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9C204-890B-4BF4-AEA3-29B9853C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실제 제공 번들의 동작을 기준으로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96316678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02C19-710D-4291-9FA5-953031C2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F9DF0-7546-4606-88D7-C7305165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상태와 화면의 다시 그리기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3001F-3889-4943-85A0-75FA384D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413B2-F55A-46D8-932E-645056F7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EE0D9-4BF6-4274-BC86-B45C67F5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A12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6DD08-46A5-40A0-9544-DC170DA5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useState와 setTemperature 위치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31B3A-DC59-4757-8216-7358D017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클릭 전후 숫자 예상하기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E5023-AF0C-429E-B719-ECDD51F8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두 번 클릭한 값과 실제 비교하기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D40C5-D23F-40C7-AF02-E9BC604D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새로고침 뒤 초기화 이유 설명하기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F3F8A-94BF-4A1E-AA8E-58BB2013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상태 변화와 초기화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3F922-303C-4D7D-B56D-37D4FCE2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상태 변경과 파일 저장은 어떤 차이가 있나요?</a:t>
            </a:r>
          </a:p>
        </p:txBody>
      </p:sp>
    </p:spTree>
    <p:extLst>
      <p:ext uri="{BB962C8B-B14F-4D97-AF65-F5344CB8AC3E}">
        <p14:creationId xmlns:p14="http://schemas.microsoft.com/office/powerpoint/2010/main" val="166551780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BBC9F-47D7-4682-B876-2F218BB8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9ADD5-FCE0-47E2-8ABE-196AE23A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React 완성 부품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9A096-7CFF-4D44-A13D-8BD0D8FE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F16C0-775A-4BEB-B349-70102228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React와 컴포넌트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컴포넌트는 표의 데이터 한 행과 같은 말인가요?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props와 제공 데이터 수정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부품을 다른 장소에 쓰려면 어떤 입력을 바꿀까요?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상태와 화면의 다시 그리기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변경과 파일 저장은 어떤 차이가 있나요?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9235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A6FBD-7FFA-41AB-849A-1C76CF88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C98E8-C1F5-40F1-9144-B0AC3449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MCP의 호스트·클라이언트·서버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1E41E-2998-40EA-B022-51B880B9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F9185-AFA4-4E27-84A3-8018C425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E6FF2-7FCB-46B4-A060-5DE345BD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95F75-A951-4A9E-9E74-6ECA5143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MCP는 AI 앱이 외부 도구나 자료를 정해진 메시지 형식으로 사용하도록 연결하는 프로토콜입니다. 서버는 기능을 제공하고 클라이언트는 요청을 전달합니다.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FC020-C5FB-4EF0-9E8E-BFAF1F49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AC12A-0A40-40F0-9BAD-964AD3F0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React의 화면 구성과 MCP의 도구 통신을 같은 역할로 생각하지 않도록 경계를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47232561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91E74-CE57-4ABB-82BF-0B0B9A53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C58CE-58FF-4E9E-A548-C49CE4D3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MCP의 호스트·클라이언트·서버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5641C-2B54-4159-AF8E-DF5AFA92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419CB-7C1A-43EF-B971-27E2DF85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9F0AB-053F-42D6-A935-8F5DFBBD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D0F3F-6E0A-49EA-817B-F6DE80E1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제공 클라이언트는 get_reading이라는 읽기 도구를 요청하고 서버는 가상 센서 기록을 반환합니다.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A8F22-0E41-4037-8EE5-E1F54D27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35778-C5FC-46DD-8A60-96BC79D8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오늘의 mcp_client.py는 저장된 요청을 보내는 프로그램이며 AI 모델이나 실제 AI 호스트가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29926647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97589-70D7-4029-A0A7-D43CCAD3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9B652-858B-4FAD-B70E-E2EFF4DB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MCP의 호스트·클라이언트·서버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EB776-CCA6-4191-91EA-6F2B20E2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C5FA8-A0E8-4493-BD2D-91D54928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2C7CA-63E7-48F5-A0A4-EA0F2933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A13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BFCE9-94F8-4FEE-810C-61F18A07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역할 카드의 네 요소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45892-39D6-44B2-941B-6A5DD92B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화면 역할과 도구 통신 역할 나누기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B2367-FCE6-40C9-B3E2-A7C60B3B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클라이언트·서버·데이터 파일 연결하기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2DC87-148F-4018-99CF-6E52D8E2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실제 AI 호출이 없는 조건 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187CC-5302-411A-8232-485483F4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역할과 실제 실행 범위 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4CCA6-3A6C-4D83-A3AC-C67FCBAD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MCP 서버가 웹 화면을 자동으로 만드는 것은 왜 아닌가요?</a:t>
            </a:r>
          </a:p>
        </p:txBody>
      </p:sp>
    </p:spTree>
    <p:extLst>
      <p:ext uri="{BB962C8B-B14F-4D97-AF65-F5344CB8AC3E}">
        <p14:creationId xmlns:p14="http://schemas.microsoft.com/office/powerpoint/2010/main" val="171972926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E3262-A30A-467D-A640-FC46131D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5C091-5CD3-47D1-AE54-E7EC4108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JSON-RPC 요청과 초기화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237DB-4567-4FF0-BF50-ED6EBE36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67DB8-8E22-4AED-BB92-CB2D4177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4E82B-4B94-43B1-8FD5-6B4C14F3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49FFE-3EC5-4D47-9440-AB5D22B1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JSON-RPC 메시지는 method로 요청 종류를, id로 요청과 응답의 대응을 나타냅니다. 오늘의 MCP 예제는 2025-11-25규격 버전에 고정한 초기화 절차를 사용합니다.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5A30E-4D81-41A7-B690-E8415753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6C863-D5F2-4232-893B-8E7FBD89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버전과 기능을 먼저 맞추면 어떤 도구 통신을 기대할지 확인할 수 있습니다. 최신 전체 규격 구현과 교육용 일부 구현을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9653794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0FBF5-0B70-4BCB-B192-AD67F79C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F0C54-6D17-4A52-8819-FE847FF5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JSON-RPC 요청과 초기화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D89D1-D382-466C-B818-1DB13C89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0F7B0-9B1D-4D09-9B14-B5CA2663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A397E-6F0A-433E-A789-CC306792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2A042-DE0B-4645-B005-2A6DA59F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initialize 응답 뒤 notifications/initialized를 보내고 tools/list로 get_reading의 입력 규칙을 읽습니다.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79FD8-A690-43E9-B9BF-317834FD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884D1-3E29-4867-A3A9-5FF0B3D9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id가 없는 알림은 일반 요청과 달리 같은 id의 결과 응답을 기다리는 메시지가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32504994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87EF6-5486-49EB-A1CC-1E323323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결과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C7409-473D-4A98-886B-47D70DD5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요청과 응답의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EC261-9703-4941-8F1B-218567DB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EF39C-48C5-4CF2-95FA-DDFD0C67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보내는 메서드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받는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initialize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버전·기능·서버 정보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notifications/initialized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알림이므로 응답 없음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tools/list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 이름과 입력 규칙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tools/call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기록 또는 오류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E81FB-E34D-4A2E-8114-892F500D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이 예제의 명시 버전은 2025-11-25입니다.</a:t>
            </a:r>
          </a:p>
        </p:txBody>
      </p:sp>
    </p:spTree>
    <p:extLst>
      <p:ext uri="{BB962C8B-B14F-4D97-AF65-F5344CB8AC3E}">
        <p14:creationId xmlns:p14="http://schemas.microsoft.com/office/powerpoint/2010/main" val="208951716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E9F7C-168A-44D6-A3D3-94B5676A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8D451-4F5F-48C7-BB59-DE986D0E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JSON-RPC 요청과 초기화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F9F5F-97FD-4391-8089-CE2494E5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D7908-FBCA-426A-AF20-987A059C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B1506-FF76-41D7-8367-272CC721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A14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26D41-AEED-4FC8-921F-91A3A2E4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requests.jsonl의 첫 세 메시지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95B42-06F4-40EE-A005-8103655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method·id·params 표시하기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465A5-E5C4-4F7B-B51E-F7661844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초기화 요청과 알림 구별하기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ED327-C0E4-4395-9F24-4DCA281D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tools/list에서 입력 필드 찾기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5604B-1ABA-4564-BC9C-A2316778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세 메시지의 역할과 대응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EFD57-0CBE-4489-B5F9-1001BDB7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초기화 알림과 도구 요청은 어떻게 구분하나요?</a:t>
            </a:r>
          </a:p>
        </p:txBody>
      </p:sp>
    </p:spTree>
    <p:extLst>
      <p:ext uri="{BB962C8B-B14F-4D97-AF65-F5344CB8AC3E}">
        <p14:creationId xmlns:p14="http://schemas.microsoft.com/office/powerpoint/2010/main" val="159958984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6E201-473F-44FD-B74C-CCB6B1FD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DAD1E-029B-49E9-AF2E-E5D2BDD0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실제 STDIO 도구 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1AE11-05A4-46D8-AF71-1F56E045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F526D-FE4B-4A58-827A-9D53D194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A0DE7-01BF-40F3-A755-073D1D4D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22D37-3FB4-4570-A255-2039041E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STDIO는 한 프로그램이 다른 프로그램의 표준 입력과 표준 출력으로 메시지를 교환하는 방법입니다. 네트워크 계정 없이 로컬 자식 프로세스를 실행할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C874F-3974-4458-B5C9-D8480DE3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1377A-D687-4302-BD82-55D567A4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저장된 예시 문장을 읽는 것과 실제 서버가 응답한 기록을 구분하면서 작은 프로토콜을 관찰합니다.</a:t>
            </a:r>
          </a:p>
        </p:txBody>
      </p:sp>
    </p:spTree>
    <p:extLst>
      <p:ext uri="{BB962C8B-B14F-4D97-AF65-F5344CB8AC3E}">
        <p14:creationId xmlns:p14="http://schemas.microsoft.com/office/powerpoint/2010/main" val="142831076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88C60-756E-4D37-8FE3-B996A118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2CF77-F6E5-450F-B258-27FBB7F0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실제 STDIO 도구 호출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D9827-4F03-4577-ABA0-FECBC12E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9A09B-1778-47A6-9F2A-B24255E5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07AFD-1109-4EC2-ACF8-D2EF1575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22E17-1599-493F-82FF-DB7CD30A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python code/mcp_client.py는 서버를 실행해 S01의 22.5,S02의 null,S99의 도구 오류를 받습니다.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CB06E-620E-4D7E-8E3D-462D2D90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B9D02-A702-494B-9385-0368AAC1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S02의 null은 통신 실패가 아닙니다. S99의 isError:true와 값 없음은 서로 다릅니다.</a:t>
            </a:r>
          </a:p>
        </p:txBody>
      </p:sp>
    </p:spTree>
    <p:extLst>
      <p:ext uri="{BB962C8B-B14F-4D97-AF65-F5344CB8AC3E}">
        <p14:creationId xmlns:p14="http://schemas.microsoft.com/office/powerpoint/2010/main" val="46730627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D13C8-9123-4399-A242-88B173AD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코드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5399B-197B-4890-A262-008A57DF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실제 도구 호출 한 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248BC-96C6-4DCE-842B-4DC2B9A8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90CC4-4BFB-4531-8D6B-ABE617B0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2E23B-A91A-43B7-AD81-496A194B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메서드는 호출 종류, name은 도구, arguments는 입력입니다.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6576B-E31D-46FD-AADD-35FCBF14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0A854-0DD6-48BD-A975-B62FB9A8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{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"jsonrpc": "2.0",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"id": 3,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"method": "tools/call",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"params": {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"name": "get_reading",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"arguments": {"sensor_id": "S01"}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}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3172D-9844-4CE8-8067-32370AC8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requests.jsonl에서는 이 객체가 한 줄로 전달됩니다.</a:t>
            </a:r>
          </a:p>
        </p:txBody>
      </p:sp>
    </p:spTree>
    <p:extLst>
      <p:ext uri="{BB962C8B-B14F-4D97-AF65-F5344CB8AC3E}">
        <p14:creationId xmlns:p14="http://schemas.microsoft.com/office/powerpoint/2010/main" val="80112966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D0A76-E4BB-42B4-BCC6-26433EA4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76E65-3832-4A83-9035-760436C1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실제 STDIO 도구 호출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B7AEC-E310-4364-ADD2-F520F63A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57C79-056E-412E-BE2F-C69D4BE8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BAB9F-5946-4F52-9FEA-15ACF12E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A15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964F1-0843-4A54-85BF-26E924D9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완성 클라이언트와 서버 줄 해설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020E1-B523-4863-9B89-2855D5E4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클라이언트 명령 실행 또는 강사 결과 비교하기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1E90F-E96B-4CF0-B8AB-738E2907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id3·4·5의 값과 오류 표시 찾기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CA451-6CB1-48CA-B063-2572B19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응답 예와 실제 실행 여부를 분리 기록하기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E51C5-7583-466F-92D3-8ED67A3E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성공·미측정·오류 호출 관찰 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969E1-83F6-41DE-95E9-22F0E35D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null 응답과 도구 오류 응답은 무엇이 다른가요?</a:t>
            </a:r>
          </a:p>
        </p:txBody>
      </p:sp>
    </p:spTree>
    <p:extLst>
      <p:ext uri="{BB962C8B-B14F-4D97-AF65-F5344CB8AC3E}">
        <p14:creationId xmlns:p14="http://schemas.microsoft.com/office/powerpoint/2010/main" val="152737481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2803F-13B5-4963-82D4-40C13559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0864C-C860-4801-A7B6-5542454A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MCP 요청과 응답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52D40-3ED1-4C7D-9092-20DB05FF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95368-A0E7-4161-B0CE-306D8457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MCP의 호스트·클라이언트·서버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MCP 서버가 웹 화면을 자동으로 만드는 것은 왜 아닌가요?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JSON-RPC 요청과 초기화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초기화 알림과 도구 요청은 어떻게 구분하나요?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STDIO 도구 호출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null 응답과 도구 오류 응답은 무엇이 다른가요?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97153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9F239-2569-40E4-A6C5-A3689902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9DCC6-C1D8-402B-9848-C038A180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네 요소의 연결과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2F0AC-0CE2-42B3-9CB7-2C21CD7E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98D87-239E-4B6E-A174-1F7E7459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E899B-AE4C-4792-ACC9-7FB6D620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80044-1862-4485-AB32-2E27EEAC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HTML·CSS·React·MCP는 같은 시스템에 함께 있을 수 있지만 책임이 다릅니다. 데이터 이동이 필요한 곳에는 명시적인 연결 프로그램이 있어야 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95C21-7CA6-4E31-A9B0-856D57E0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07AD3-7949-4ED5-ABDB-A9A1D550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도구 응답을 받았다는 사실만으로 브라우저가 자동 갱신된다고 생각하면 연결이 빠진 설계를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534795301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481F6-04EB-429E-B4A3-EE06ED88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8B698-99B4-49BD-A8D4-33FF284E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네 요소의 연결과 경계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320C9-4E92-42B1-ABF5-76F4F511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ADACF-B57C-4E52-85F1-1F59450A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A8EC0-FD95-4165-A9FD-AB45464A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D4CAF-A4B8-43FE-BDBB-F3123277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오늘은 MCP 응답의 온도를 사람이 읽고 제공 데이터와 비교합니다. React와 MCP 간 자동 연결은 만들지 않았습니다.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4A33E-AE8D-46A6-A45E-5FD389BC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56C04-69CC-4954-A800-BEB5A4BE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MCP 서버가 있으니 로그인·화면·저장이 모두 해결됐다고 말하지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10907803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A0A99-6A32-46E4-8B4B-E00D33F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결과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A9506-1F30-40CB-B881-1D5A775C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요청 규칙과 도구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9C88C-8984-42D6-BD27-3231EEEB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AD7D5-B57A-4FA3-9E4C-E323BCE6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 문자열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22.5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읽기 성공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S02 문자열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null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성공한 읽기의 미측정 값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S99 문자열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isError: true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도구에서 센서를 찾지 못함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sensor_id: 3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error -32602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자료형이 틀림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37786-D784-40DA-B48E-99832B58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JSON-RPC 오류와 도구 실행 실패, 미측정을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986663389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7471D-6749-4DFF-B325-488B7483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41368-DE93-4019-BEA2-AAD224EF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네 요소의 연결과 경계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A3659-6607-47CA-A7DC-EFFCB496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4FE65-1523-4F39-A927-80F02C5D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A8BBC-C4B7-42C6-AEEF-D5E5280A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A16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4C98E-DAE7-41FB-A1C2-113CD3F1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네 요소 역할을 한 문장씩 쓰기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4D4B8-2CB4-49D7-9CBE-CFCC69A9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S01 값의 출처와 화면 표시 구분하기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94444-3A02-4F88-850E-832EA1BD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자동 연결한 것과 사람이 옮긴 것 표시하기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5D4C3-78FF-4C5D-A3AC-25912AD5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다음 연결에 필요한 프로그램 제안하기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3FF5D-FFD5-4FEE-8A7E-860F14CB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역할과 미구현 연결을 표시한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D0C45-FED6-443E-A235-FE7F45DE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도구 응답을 화면에 보이려면 무엇이 더 필요할까요?</a:t>
            </a:r>
          </a:p>
        </p:txBody>
      </p:sp>
    </p:spTree>
    <p:extLst>
      <p:ext uri="{BB962C8B-B14F-4D97-AF65-F5344CB8AC3E}">
        <p14:creationId xmlns:p14="http://schemas.microsoft.com/office/powerpoint/2010/main" val="122581554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BFDCD-53AD-42D4-9188-EC28005B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0B880-449C-4FD9-AD10-C4FA0694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작은 변경의 동료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E6E2A-0BEC-4149-A3DC-C3AEE61F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4AFAB-F9D9-4A7D-A517-1809C33E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19315-AA34-40E7-BE56-581E7091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3930B-726F-4A7E-A33D-2D619BF3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변경 검수는 입력한 값·바뀐 파일·예상 화면·실제 결과를 짝이 다시 확인하는 것입니다. 내용·모양·데이터·통신을 각기 다른 근거로 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D6BE2-94B5-49D9-AB52-8C029958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72600-A6E5-4D01-A6E0-67545736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한 화면이 예뻐졌어도 도구 요청 입력이 맞거나 자료형이 보존됐다는 증거는 아닙니다.</a:t>
            </a:r>
          </a:p>
        </p:txBody>
      </p:sp>
    </p:spTree>
    <p:extLst>
      <p:ext uri="{BB962C8B-B14F-4D97-AF65-F5344CB8AC3E}">
        <p14:creationId xmlns:p14="http://schemas.microsoft.com/office/powerpoint/2010/main" val="210594419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4554D-B75A-4B17-842C-2F520394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620B3-2B1F-4D6E-B8E4-BDD74ED8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작은 변경의 동료 확인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B1204-1D4E-4B70-AB22-6E5692B3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31938-8667-41EF-B38E-2BD4536A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D6753-3A27-479C-8CE9-B15B56AD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D884C-8E80-4532-AAB6-D62601E3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HTML 제목,CSS 색,React 장소·온도,MCP sensor_id를 각각 한 줄의 변경 기록으로 남깁니다.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C5E81-34CE-4087-B723-16ABC187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5AE07-5F66-4A8C-BCF4-C0671A21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CSS 색 변경을 센서 상태로 기록하거나 모의 버튼을 실제 측정이라고 부르지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24637746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D3E9D-7D45-4CC8-80D2-6137F286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8A897-2AF0-418C-9B8B-F3DC5311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작은 변경의 동료 확인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6B633-89C2-4DCB-BDFB-F8FC3E3E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44F0F-A756-4516-902F-F50C7A1A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5861D-EA12-4AFA-B375-8E1176FF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A17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2D9CA-CDB6-46B7-9CCD-E40A77A2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작업 파일과 관찰 표 교환하기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759D5-A6DF-4EC1-B08B-51D851C6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네 역할 중 각 한 개 근거 확인하기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F8CAC-BE76-4660-8838-47D18B18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새로고침과 클릭 결과 구분하기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F9043-2EDD-4F2E-B3EB-21C4D446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설명이 모호한 한 곳 보완하기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BFC4F-F1BF-4E02-BD97-1F24FA65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네 요소별 입력·결과 검토 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BC804-3F25-4D0A-9741-8C0D4B0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같은 화면에서 서로 다른 역할의 변경을 어떻게 확인하나요?</a:t>
            </a:r>
          </a:p>
        </p:txBody>
      </p:sp>
    </p:spTree>
    <p:extLst>
      <p:ext uri="{BB962C8B-B14F-4D97-AF65-F5344CB8AC3E}">
        <p14:creationId xmlns:p14="http://schemas.microsoft.com/office/powerpoint/2010/main" val="147678025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46E01-D0AB-4B34-8767-E71C41E4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90597-DB10-44F5-8321-5D50AFC1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결과 설명과 선택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61EF0-A8B6-46CE-AE8E-8AFC7697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EDBF1-076E-4784-A6CF-64BCBE09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1C2D8-B29E-4FEC-BD17-106D94BF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82B46-C2FE-4D00-B3FC-2BB2B05A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학습 결과는 수정한 작은 부분의 이유와 결과를 설명하는 것입니다. 전체 앱이나 MCP 서버를 독립 작성하는 능력을 오늘의 필수 목표로 삼지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93E66-68D0-4E56-AF4C-6E8D4CFF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EB614-5704-4BF8-9722-6502DD49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네 기술의 이름만 기억하는 것보다 어느 문제를 어떤 요소가 맡는지 말할 수 있어야 다음 대시보드로 연결됩니다.</a:t>
            </a:r>
          </a:p>
        </p:txBody>
      </p:sp>
    </p:spTree>
    <p:extLst>
      <p:ext uri="{BB962C8B-B14F-4D97-AF65-F5344CB8AC3E}">
        <p14:creationId xmlns:p14="http://schemas.microsoft.com/office/powerpoint/2010/main" val="740200572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4C838-6419-4A1F-AD45-A532C8E5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34592-791F-4319-99F1-91B201F2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결과 설명과 선택 확장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7676F-882C-4681-A5AB-B6779232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296F2-81CC-4687-A8F4-21EC056E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7EA2E-54F1-4124-9B44-CC2906C1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37131-E78D-4312-81C0-72263B9F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필수 결과는 제목·색·React 데이터 수정과 MCP 요청·응답 한 쌍의 설명입니다.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263FE-DA80-4E84-8F02-0C692FE2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A2552-2F7F-43D0-8FC0-8D4EF9BA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패키지 설치를 못 했다고 개념 설명과 제공 번들 수정까지 실패로 판정하지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2640945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38FB2-21A8-4C93-8865-BD4F2A1B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89CB7-70D0-4597-872D-4903485B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결과 설명과 선택 확장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BC6AB-15A6-4D47-B10F-B477D815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53E4A-77C5-4950-89FA-BAF001F7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9CA39-9F4A-4CE9-9525-F1E370BA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A18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A7033-48EA-4800-B53E-5BB85DA5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수정한 파일 목록 정리하기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76BDA-FC10-492E-8D0E-6D19D7F8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실제로 실행한 경로 쓰기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1A3E0-D6E0-425F-8D42-DBBAEEE3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네 역할에 대한 새 질문 답하기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BB72E-7DBA-46F4-A405-7327C6ED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남은 환경·자동 연결 조건을 인계하기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ECA21-BFB0-4C81-A199-A262D450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수정 묶음과 역할·검증·미확인 범위 보고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7C1C1-AE1D-4F37-93E6-E48EA9D5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React 상태·CSS 색·MCP 응답은 각각 무엇을 바꾸나요?</a:t>
            </a:r>
          </a:p>
        </p:txBody>
      </p:sp>
    </p:spTree>
    <p:extLst>
      <p:ext uri="{BB962C8B-B14F-4D97-AF65-F5344CB8AC3E}">
        <p14:creationId xmlns:p14="http://schemas.microsoft.com/office/powerpoint/2010/main" val="967786033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CE7CA-38A2-46AA-B8E7-7385AFD8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BEC5A-03A7-495C-8998-CD45B1ED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역할 연결과 검수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81186-7239-42F0-B8C5-C9120CB1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77ADE-EE93-4AA5-A676-926BF5F9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 요소의 연결과 경계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 응답을 화면에 보이려면 무엇이 더 필요할까요?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변경의 동료 확인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화면에서 서로 다른 역할의 변경을 어떻게 확인하나요?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설명과 선택 확장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React 상태·CSS 색·MCP 응답은 각각 무엇을 바꾸나요?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93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2026-09-25T16:36:02.5740000Z</dcterms:created>
  <dcterms:modified xsi:type="dcterms:W3CDTF">2026-09-25T16:36:02.5740000Z</dcterms:modified>
</coreProperties>
</file>