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99e29fd81642ae" /><Relationship Type="http://schemas.openxmlformats.org/officeDocument/2006/relationships/extended-properties" Target="/docProps/app.xml" Id="R8dffec73abf34a1e" /><Relationship Type="http://schemas.openxmlformats.org/officeDocument/2006/relationships/officeDocument" Target="/ppt/presentation.xml" Id="Rdaab61de60ce42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1aa8db4b834d71"/>
  </p:sldMasterIdLst>
  <p:notesMasterIdLst>
    <p:notesMasterId xmlns:r="http://schemas.openxmlformats.org/officeDocument/2006/relationships" r:id="Rf563f620f0d64792"/>
  </p:notesMasterIdLst>
  <p:sldIdLst>
    <p:sldId xmlns:r="http://schemas.openxmlformats.org/officeDocument/2006/relationships" id="256" r:id="R4dc9da533aab4708"/>
    <p:sldId xmlns:r="http://schemas.openxmlformats.org/officeDocument/2006/relationships" id="257" r:id="Rbc9f3831709b464f"/>
    <p:sldId xmlns:r="http://schemas.openxmlformats.org/officeDocument/2006/relationships" id="258" r:id="R90fee0ebdcd44d20"/>
    <p:sldId xmlns:r="http://schemas.openxmlformats.org/officeDocument/2006/relationships" id="259" r:id="Ra5036bc866f14ecd"/>
    <p:sldId xmlns:r="http://schemas.openxmlformats.org/officeDocument/2006/relationships" id="260" r:id="Rd0bd34140f53451b"/>
    <p:sldId xmlns:r="http://schemas.openxmlformats.org/officeDocument/2006/relationships" id="261" r:id="R065d88e18ee44a3d"/>
    <p:sldId xmlns:r="http://schemas.openxmlformats.org/officeDocument/2006/relationships" id="262" r:id="R9936d70c6a5c4fe6"/>
    <p:sldId xmlns:r="http://schemas.openxmlformats.org/officeDocument/2006/relationships" id="263" r:id="R270066106f3741f5"/>
    <p:sldId xmlns:r="http://schemas.openxmlformats.org/officeDocument/2006/relationships" id="264" r:id="R2f5b349ed7614e4c"/>
    <p:sldId xmlns:r="http://schemas.openxmlformats.org/officeDocument/2006/relationships" id="265" r:id="R4b6131fb7b0b481c"/>
    <p:sldId xmlns:r="http://schemas.openxmlformats.org/officeDocument/2006/relationships" id="266" r:id="R71d67794aedc4997"/>
    <p:sldId xmlns:r="http://schemas.openxmlformats.org/officeDocument/2006/relationships" id="267" r:id="R39821c38ae6a43b7"/>
    <p:sldId xmlns:r="http://schemas.openxmlformats.org/officeDocument/2006/relationships" id="268" r:id="R1ead4408fb9e4a3b"/>
    <p:sldId xmlns:r="http://schemas.openxmlformats.org/officeDocument/2006/relationships" id="269" r:id="Rb7f5543949c14196"/>
    <p:sldId xmlns:r="http://schemas.openxmlformats.org/officeDocument/2006/relationships" id="270" r:id="R962b78d50556441c"/>
    <p:sldId xmlns:r="http://schemas.openxmlformats.org/officeDocument/2006/relationships" id="271" r:id="R0b2efdd64d8a4069"/>
    <p:sldId xmlns:r="http://schemas.openxmlformats.org/officeDocument/2006/relationships" id="272" r:id="R8d4ce6c52e1a4dd0"/>
    <p:sldId xmlns:r="http://schemas.openxmlformats.org/officeDocument/2006/relationships" id="273" r:id="R658f9bb7059c4bb4"/>
    <p:sldId xmlns:r="http://schemas.openxmlformats.org/officeDocument/2006/relationships" id="274" r:id="R4c25f07e38744a2e"/>
    <p:sldId xmlns:r="http://schemas.openxmlformats.org/officeDocument/2006/relationships" id="275" r:id="Rf20c2ca8d1634e44"/>
    <p:sldId xmlns:r="http://schemas.openxmlformats.org/officeDocument/2006/relationships" id="276" r:id="Rb9348c30f9a34d1e"/>
    <p:sldId xmlns:r="http://schemas.openxmlformats.org/officeDocument/2006/relationships" id="277" r:id="Rdfe81b85d12e4ec7"/>
    <p:sldId xmlns:r="http://schemas.openxmlformats.org/officeDocument/2006/relationships" id="278" r:id="Rb7d897735fc54dac"/>
    <p:sldId xmlns:r="http://schemas.openxmlformats.org/officeDocument/2006/relationships" id="279" r:id="R5ee241ba18894352"/>
    <p:sldId xmlns:r="http://schemas.openxmlformats.org/officeDocument/2006/relationships" id="280" r:id="R265ebc50b89b490d"/>
    <p:sldId xmlns:r="http://schemas.openxmlformats.org/officeDocument/2006/relationships" id="281" r:id="Rd8e15b1eb5844d28"/>
    <p:sldId xmlns:r="http://schemas.openxmlformats.org/officeDocument/2006/relationships" id="282" r:id="Ra476968ca502460e"/>
    <p:sldId xmlns:r="http://schemas.openxmlformats.org/officeDocument/2006/relationships" id="283" r:id="R7fc7df269a1243c1"/>
    <p:sldId xmlns:r="http://schemas.openxmlformats.org/officeDocument/2006/relationships" id="284" r:id="Rd912fb83c4774de1"/>
    <p:sldId xmlns:r="http://schemas.openxmlformats.org/officeDocument/2006/relationships" id="285" r:id="Rb5c196e13c2c46d7"/>
    <p:sldId xmlns:r="http://schemas.openxmlformats.org/officeDocument/2006/relationships" id="286" r:id="R65c559ee7c5d46c6"/>
    <p:sldId xmlns:r="http://schemas.openxmlformats.org/officeDocument/2006/relationships" id="287" r:id="Rece214c56b5345a7"/>
    <p:sldId xmlns:r="http://schemas.openxmlformats.org/officeDocument/2006/relationships" id="288" r:id="Rd01da6102e164d4c"/>
    <p:sldId xmlns:r="http://schemas.openxmlformats.org/officeDocument/2006/relationships" id="289" r:id="R3a55b491a90a4624"/>
    <p:sldId xmlns:r="http://schemas.openxmlformats.org/officeDocument/2006/relationships" id="290" r:id="Rd0822b7f5dbc4d31"/>
    <p:sldId xmlns:r="http://schemas.openxmlformats.org/officeDocument/2006/relationships" id="291" r:id="R09b61e2032514000"/>
    <p:sldId xmlns:r="http://schemas.openxmlformats.org/officeDocument/2006/relationships" id="292" r:id="R1d7b68d9e0d74014"/>
    <p:sldId xmlns:r="http://schemas.openxmlformats.org/officeDocument/2006/relationships" id="293" r:id="R59b55c1ebd4446f0"/>
    <p:sldId xmlns:r="http://schemas.openxmlformats.org/officeDocument/2006/relationships" id="294" r:id="R2cf6e5a8424e4ba4"/>
    <p:sldId xmlns:r="http://schemas.openxmlformats.org/officeDocument/2006/relationships" id="295" r:id="R4a7c708d2258425d"/>
    <p:sldId xmlns:r="http://schemas.openxmlformats.org/officeDocument/2006/relationships" id="296" r:id="R0661a90674734d67"/>
    <p:sldId xmlns:r="http://schemas.openxmlformats.org/officeDocument/2006/relationships" id="297" r:id="Reda5ab5e89eb47ba"/>
    <p:sldId xmlns:r="http://schemas.openxmlformats.org/officeDocument/2006/relationships" id="298" r:id="R565b4102aa6146bd"/>
    <p:sldId xmlns:r="http://schemas.openxmlformats.org/officeDocument/2006/relationships" id="299" r:id="Ra0c8dbdec2e04007"/>
    <p:sldId xmlns:r="http://schemas.openxmlformats.org/officeDocument/2006/relationships" id="300" r:id="R7b416495ee874af1"/>
    <p:sldId xmlns:r="http://schemas.openxmlformats.org/officeDocument/2006/relationships" id="301" r:id="Rb2b5688e42d0408b"/>
    <p:sldId xmlns:r="http://schemas.openxmlformats.org/officeDocument/2006/relationships" id="302" r:id="R7ed51c69abbb4362"/>
    <p:sldId xmlns:r="http://schemas.openxmlformats.org/officeDocument/2006/relationships" id="303" r:id="R7145d825ab0741ff"/>
    <p:sldId xmlns:r="http://schemas.openxmlformats.org/officeDocument/2006/relationships" id="304" r:id="Ra0a406a10e3a426c"/>
    <p:sldId xmlns:r="http://schemas.openxmlformats.org/officeDocument/2006/relationships" id="305" r:id="Rea52bff91dd94322"/>
    <p:sldId xmlns:r="http://schemas.openxmlformats.org/officeDocument/2006/relationships" id="306" r:id="Ra6e2e660efcc4828"/>
    <p:sldId xmlns:r="http://schemas.openxmlformats.org/officeDocument/2006/relationships" id="307" r:id="R21b6bebb080f4adc"/>
    <p:sldId xmlns:r="http://schemas.openxmlformats.org/officeDocument/2006/relationships" id="308" r:id="R6cba27f42ead4935"/>
    <p:sldId xmlns:r="http://schemas.openxmlformats.org/officeDocument/2006/relationships" id="309" r:id="R90a9283b155b443e"/>
    <p:sldId xmlns:r="http://schemas.openxmlformats.org/officeDocument/2006/relationships" id="310" r:id="Ref03c04b21a14641"/>
    <p:sldId xmlns:r="http://schemas.openxmlformats.org/officeDocument/2006/relationships" id="311" r:id="Re4512b044eff4f10"/>
    <p:sldId xmlns:r="http://schemas.openxmlformats.org/officeDocument/2006/relationships" id="312" r:id="R75528e11b7fa4bf3"/>
    <p:sldId xmlns:r="http://schemas.openxmlformats.org/officeDocument/2006/relationships" id="313" r:id="Rb71825cddab74365"/>
    <p:sldId xmlns:r="http://schemas.openxmlformats.org/officeDocument/2006/relationships" id="314" r:id="R2e0032191a9a4775"/>
    <p:sldId xmlns:r="http://schemas.openxmlformats.org/officeDocument/2006/relationships" id="315" r:id="R4ba9248c4f974e4e"/>
    <p:sldId xmlns:r="http://schemas.openxmlformats.org/officeDocument/2006/relationships" id="316" r:id="R3f1ebe4c905b44a8"/>
    <p:sldId xmlns:r="http://schemas.openxmlformats.org/officeDocument/2006/relationships" id="317" r:id="R0fe3101f9ced4235"/>
    <p:sldId xmlns:r="http://schemas.openxmlformats.org/officeDocument/2006/relationships" id="318" r:id="R19b52bf2935b494a"/>
    <p:sldId xmlns:r="http://schemas.openxmlformats.org/officeDocument/2006/relationships" id="319" r:id="R02d45319ec4440a8"/>
    <p:sldId xmlns:r="http://schemas.openxmlformats.org/officeDocument/2006/relationships" id="320" r:id="Rfc0b4ae31d374963"/>
    <p:sldId xmlns:r="http://schemas.openxmlformats.org/officeDocument/2006/relationships" id="321" r:id="R22162ddb869143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9595ce48bb4807" /><Relationship Type="http://schemas.openxmlformats.org/officeDocument/2006/relationships/slideMaster" Target="/ppt/slideMasters/slideMaster1.xml" Id="R921aa8db4b834d71" /><Relationship Type="http://schemas.openxmlformats.org/officeDocument/2006/relationships/notesMaster" Target="/ppt/notesMasters/notesMaster1.xml" Id="Rf563f620f0d64792" /><Relationship Type="http://schemas.openxmlformats.org/officeDocument/2006/relationships/presProps" Target="/ppt/presProps.xml" Id="R1a16f3e1f52046aa" /><Relationship Type="http://schemas.openxmlformats.org/officeDocument/2006/relationships/tableStyles" Target="/ppt/tableStyles.xml" Id="R706fa08750a84898" /><Relationship Type="http://schemas.openxmlformats.org/officeDocument/2006/relationships/slide" Target="/ppt/slides/slide1.xml" Id="R4dc9da533aab4708" /><Relationship Type="http://schemas.openxmlformats.org/officeDocument/2006/relationships/slide" Target="/ppt/slides/slide2.xml" Id="Rbc9f3831709b464f" /><Relationship Type="http://schemas.openxmlformats.org/officeDocument/2006/relationships/slide" Target="/ppt/slides/slide3.xml" Id="R90fee0ebdcd44d20" /><Relationship Type="http://schemas.openxmlformats.org/officeDocument/2006/relationships/slide" Target="/ppt/slides/slide4.xml" Id="Ra5036bc866f14ecd" /><Relationship Type="http://schemas.openxmlformats.org/officeDocument/2006/relationships/slide" Target="/ppt/slides/slide5.xml" Id="Rd0bd34140f53451b" /><Relationship Type="http://schemas.openxmlformats.org/officeDocument/2006/relationships/slide" Target="/ppt/slides/slide6.xml" Id="R065d88e18ee44a3d" /><Relationship Type="http://schemas.openxmlformats.org/officeDocument/2006/relationships/slide" Target="/ppt/slides/slide7.xml" Id="R9936d70c6a5c4fe6" /><Relationship Type="http://schemas.openxmlformats.org/officeDocument/2006/relationships/slide" Target="/ppt/slides/slide8.xml" Id="R270066106f3741f5" /><Relationship Type="http://schemas.openxmlformats.org/officeDocument/2006/relationships/slide" Target="/ppt/slides/slide9.xml" Id="R2f5b349ed7614e4c" /><Relationship Type="http://schemas.openxmlformats.org/officeDocument/2006/relationships/slide" Target="/ppt/slides/slide10.xml" Id="R4b6131fb7b0b481c" /><Relationship Type="http://schemas.openxmlformats.org/officeDocument/2006/relationships/slide" Target="/ppt/slides/slide11.xml" Id="R71d67794aedc4997" /><Relationship Type="http://schemas.openxmlformats.org/officeDocument/2006/relationships/slide" Target="/ppt/slides/slide12.xml" Id="R39821c38ae6a43b7" /><Relationship Type="http://schemas.openxmlformats.org/officeDocument/2006/relationships/slide" Target="/ppt/slides/slide13.xml" Id="R1ead4408fb9e4a3b" /><Relationship Type="http://schemas.openxmlformats.org/officeDocument/2006/relationships/slide" Target="/ppt/slides/slide14.xml" Id="Rb7f5543949c14196" /><Relationship Type="http://schemas.openxmlformats.org/officeDocument/2006/relationships/slide" Target="/ppt/slides/slide15.xml" Id="R962b78d50556441c" /><Relationship Type="http://schemas.openxmlformats.org/officeDocument/2006/relationships/slide" Target="/ppt/slides/slide16.xml" Id="R0b2efdd64d8a4069" /><Relationship Type="http://schemas.openxmlformats.org/officeDocument/2006/relationships/slide" Target="/ppt/slides/slide17.xml" Id="R8d4ce6c52e1a4dd0" /><Relationship Type="http://schemas.openxmlformats.org/officeDocument/2006/relationships/slide" Target="/ppt/slides/slide18.xml" Id="R658f9bb7059c4bb4" /><Relationship Type="http://schemas.openxmlformats.org/officeDocument/2006/relationships/slide" Target="/ppt/slides/slide19.xml" Id="R4c25f07e38744a2e" /><Relationship Type="http://schemas.openxmlformats.org/officeDocument/2006/relationships/slide" Target="/ppt/slides/slide20.xml" Id="Rf20c2ca8d1634e44" /><Relationship Type="http://schemas.openxmlformats.org/officeDocument/2006/relationships/slide" Target="/ppt/slides/slide21.xml" Id="Rb9348c30f9a34d1e" /><Relationship Type="http://schemas.openxmlformats.org/officeDocument/2006/relationships/slide" Target="/ppt/slides/slide22.xml" Id="Rdfe81b85d12e4ec7" /><Relationship Type="http://schemas.openxmlformats.org/officeDocument/2006/relationships/slide" Target="/ppt/slides/slide23.xml" Id="Rb7d897735fc54dac" /><Relationship Type="http://schemas.openxmlformats.org/officeDocument/2006/relationships/slide" Target="/ppt/slides/slide24.xml" Id="R5ee241ba18894352" /><Relationship Type="http://schemas.openxmlformats.org/officeDocument/2006/relationships/slide" Target="/ppt/slides/slide25.xml" Id="R265ebc50b89b490d" /><Relationship Type="http://schemas.openxmlformats.org/officeDocument/2006/relationships/slide" Target="/ppt/slides/slide26.xml" Id="Rd8e15b1eb5844d28" /><Relationship Type="http://schemas.openxmlformats.org/officeDocument/2006/relationships/slide" Target="/ppt/slides/slide27.xml" Id="Ra476968ca502460e" /><Relationship Type="http://schemas.openxmlformats.org/officeDocument/2006/relationships/slide" Target="/ppt/slides/slide28.xml" Id="R7fc7df269a1243c1" /><Relationship Type="http://schemas.openxmlformats.org/officeDocument/2006/relationships/slide" Target="/ppt/slides/slide29.xml" Id="Rd912fb83c4774de1" /><Relationship Type="http://schemas.openxmlformats.org/officeDocument/2006/relationships/slide" Target="/ppt/slides/slide30.xml" Id="Rb5c196e13c2c46d7" /><Relationship Type="http://schemas.openxmlformats.org/officeDocument/2006/relationships/slide" Target="/ppt/slides/slide31.xml" Id="R65c559ee7c5d46c6" /><Relationship Type="http://schemas.openxmlformats.org/officeDocument/2006/relationships/slide" Target="/ppt/slides/slide32.xml" Id="Rece214c56b5345a7" /><Relationship Type="http://schemas.openxmlformats.org/officeDocument/2006/relationships/slide" Target="/ppt/slides/slide33.xml" Id="Rd01da6102e164d4c" /><Relationship Type="http://schemas.openxmlformats.org/officeDocument/2006/relationships/slide" Target="/ppt/slides/slide34.xml" Id="R3a55b491a90a4624" /><Relationship Type="http://schemas.openxmlformats.org/officeDocument/2006/relationships/slide" Target="/ppt/slides/slide35.xml" Id="Rd0822b7f5dbc4d31" /><Relationship Type="http://schemas.openxmlformats.org/officeDocument/2006/relationships/slide" Target="/ppt/slides/slide36.xml" Id="R09b61e2032514000" /><Relationship Type="http://schemas.openxmlformats.org/officeDocument/2006/relationships/slide" Target="/ppt/slides/slide37.xml" Id="R1d7b68d9e0d74014" /><Relationship Type="http://schemas.openxmlformats.org/officeDocument/2006/relationships/slide" Target="/ppt/slides/slide38.xml" Id="R59b55c1ebd4446f0" /><Relationship Type="http://schemas.openxmlformats.org/officeDocument/2006/relationships/slide" Target="/ppt/slides/slide39.xml" Id="R2cf6e5a8424e4ba4" /><Relationship Type="http://schemas.openxmlformats.org/officeDocument/2006/relationships/slide" Target="/ppt/slides/slide40.xml" Id="R4a7c708d2258425d" /><Relationship Type="http://schemas.openxmlformats.org/officeDocument/2006/relationships/slide" Target="/ppt/slides/slide41.xml" Id="R0661a90674734d67" /><Relationship Type="http://schemas.openxmlformats.org/officeDocument/2006/relationships/slide" Target="/ppt/slides/slide42.xml" Id="Reda5ab5e89eb47ba" /><Relationship Type="http://schemas.openxmlformats.org/officeDocument/2006/relationships/slide" Target="/ppt/slides/slide43.xml" Id="R565b4102aa6146bd" /><Relationship Type="http://schemas.openxmlformats.org/officeDocument/2006/relationships/slide" Target="/ppt/slides/slide44.xml" Id="Ra0c8dbdec2e04007" /><Relationship Type="http://schemas.openxmlformats.org/officeDocument/2006/relationships/slide" Target="/ppt/slides/slide45.xml" Id="R7b416495ee874af1" /><Relationship Type="http://schemas.openxmlformats.org/officeDocument/2006/relationships/slide" Target="/ppt/slides/slide46.xml" Id="Rb2b5688e42d0408b" /><Relationship Type="http://schemas.openxmlformats.org/officeDocument/2006/relationships/slide" Target="/ppt/slides/slide47.xml" Id="R7ed51c69abbb4362" /><Relationship Type="http://schemas.openxmlformats.org/officeDocument/2006/relationships/slide" Target="/ppt/slides/slide48.xml" Id="R7145d825ab0741ff" /><Relationship Type="http://schemas.openxmlformats.org/officeDocument/2006/relationships/slide" Target="/ppt/slides/slide49.xml" Id="Ra0a406a10e3a426c" /><Relationship Type="http://schemas.openxmlformats.org/officeDocument/2006/relationships/slide" Target="/ppt/slides/slide50.xml" Id="Rea52bff91dd94322" /><Relationship Type="http://schemas.openxmlformats.org/officeDocument/2006/relationships/slide" Target="/ppt/slides/slide51.xml" Id="Ra6e2e660efcc4828" /><Relationship Type="http://schemas.openxmlformats.org/officeDocument/2006/relationships/slide" Target="/ppt/slides/slide52.xml" Id="R21b6bebb080f4adc" /><Relationship Type="http://schemas.openxmlformats.org/officeDocument/2006/relationships/slide" Target="/ppt/slides/slide53.xml" Id="R6cba27f42ead4935" /><Relationship Type="http://schemas.openxmlformats.org/officeDocument/2006/relationships/slide" Target="/ppt/slides/slide54.xml" Id="R90a9283b155b443e" /><Relationship Type="http://schemas.openxmlformats.org/officeDocument/2006/relationships/slide" Target="/ppt/slides/slide55.xml" Id="Ref03c04b21a14641" /><Relationship Type="http://schemas.openxmlformats.org/officeDocument/2006/relationships/slide" Target="/ppt/slides/slide56.xml" Id="Re4512b044eff4f10" /><Relationship Type="http://schemas.openxmlformats.org/officeDocument/2006/relationships/slide" Target="/ppt/slides/slide57.xml" Id="R75528e11b7fa4bf3" /><Relationship Type="http://schemas.openxmlformats.org/officeDocument/2006/relationships/slide" Target="/ppt/slides/slide58.xml" Id="Rb71825cddab74365" /><Relationship Type="http://schemas.openxmlformats.org/officeDocument/2006/relationships/slide" Target="/ppt/slides/slide59.xml" Id="R2e0032191a9a4775" /><Relationship Type="http://schemas.openxmlformats.org/officeDocument/2006/relationships/slide" Target="/ppt/slides/slide60.xml" Id="R4ba9248c4f974e4e" /><Relationship Type="http://schemas.openxmlformats.org/officeDocument/2006/relationships/slide" Target="/ppt/slides/slide61.xml" Id="R3f1ebe4c905b44a8" /><Relationship Type="http://schemas.openxmlformats.org/officeDocument/2006/relationships/slide" Target="/ppt/slides/slide62.xml" Id="R0fe3101f9ced4235" /><Relationship Type="http://schemas.openxmlformats.org/officeDocument/2006/relationships/slide" Target="/ppt/slides/slide63.xml" Id="R19b52bf2935b494a" /><Relationship Type="http://schemas.openxmlformats.org/officeDocument/2006/relationships/slide" Target="/ppt/slides/slide64.xml" Id="R02d45319ec4440a8" /><Relationship Type="http://schemas.openxmlformats.org/officeDocument/2006/relationships/slide" Target="/ppt/slides/slide65.xml" Id="Rfc0b4ae31d374963" /><Relationship Type="http://schemas.openxmlformats.org/officeDocument/2006/relationships/slide" Target="/ppt/slides/slide66.xml" Id="R22162ddb869143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aaa7176b444d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feaa0e2d8147f6" /><Relationship Type="http://schemas.openxmlformats.org/officeDocument/2006/relationships/notesMaster" Target="/ppt/notesMasters/notesMaster1.xml" Id="R4d19a069274d42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025b746d4a41c7" /><Relationship Type="http://schemas.openxmlformats.org/officeDocument/2006/relationships/notesMaster" Target="/ppt/notesMasters/notesMaster1.xml" Id="Rca432c1417e54d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bd44f66bad43a4" /><Relationship Type="http://schemas.openxmlformats.org/officeDocument/2006/relationships/notesMaster" Target="/ppt/notesMasters/notesMaster1.xml" Id="R9fe0c7c1973749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e2d33e597f4e3e" /><Relationship Type="http://schemas.openxmlformats.org/officeDocument/2006/relationships/notesMaster" Target="/ppt/notesMasters/notesMaster1.xml" Id="Rbbd16c090d3343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e003d6fd4047be" /><Relationship Type="http://schemas.openxmlformats.org/officeDocument/2006/relationships/notesMaster" Target="/ppt/notesMasters/notesMaster1.xml" Id="R7fc788c92cce40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26ba949c8f4195" /><Relationship Type="http://schemas.openxmlformats.org/officeDocument/2006/relationships/notesMaster" Target="/ppt/notesMasters/notesMaster1.xml" Id="R30b860ab20ad42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691e3d9382490c" /><Relationship Type="http://schemas.openxmlformats.org/officeDocument/2006/relationships/notesMaster" Target="/ppt/notesMasters/notesMaster1.xml" Id="Re7fbf633c8fe49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f12979eccd440d" /><Relationship Type="http://schemas.openxmlformats.org/officeDocument/2006/relationships/notesMaster" Target="/ppt/notesMasters/notesMaster1.xml" Id="Rc910cedb180c49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d787464c32438c" /><Relationship Type="http://schemas.openxmlformats.org/officeDocument/2006/relationships/notesMaster" Target="/ppt/notesMasters/notesMaster1.xml" Id="Rcac325c92a3941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9c77845e7c4327" /><Relationship Type="http://schemas.openxmlformats.org/officeDocument/2006/relationships/notesMaster" Target="/ppt/notesMasters/notesMaster1.xml" Id="R4baea97de02c4d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c29bd81c97477b" /><Relationship Type="http://schemas.openxmlformats.org/officeDocument/2006/relationships/notesMaster" Target="/ppt/notesMasters/notesMaster1.xml" Id="R98bff84e53c14e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14b5a2e2af4fc3" /><Relationship Type="http://schemas.openxmlformats.org/officeDocument/2006/relationships/notesMaster" Target="/ppt/notesMasters/notesMaster1.xml" Id="R85a6eb162df44c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09d2fb99c74d4b" /><Relationship Type="http://schemas.openxmlformats.org/officeDocument/2006/relationships/notesMaster" Target="/ppt/notesMasters/notesMaster1.xml" Id="Ra2e7496c270f41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c4cfb37ac64493" /><Relationship Type="http://schemas.openxmlformats.org/officeDocument/2006/relationships/notesMaster" Target="/ppt/notesMasters/notesMaster1.xml" Id="Rcecd09e7083747e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09eb05191b4442" /><Relationship Type="http://schemas.openxmlformats.org/officeDocument/2006/relationships/notesMaster" Target="/ppt/notesMasters/notesMaster1.xml" Id="R381f7b472b7c4ff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2d6733c16946e3" /><Relationship Type="http://schemas.openxmlformats.org/officeDocument/2006/relationships/notesMaster" Target="/ppt/notesMasters/notesMaster1.xml" Id="R55db120baa224eb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3980aa52ad54270" /><Relationship Type="http://schemas.openxmlformats.org/officeDocument/2006/relationships/notesMaster" Target="/ppt/notesMasters/notesMaster1.xml" Id="R1b68c13433f344b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5464ed49c054dfa" /><Relationship Type="http://schemas.openxmlformats.org/officeDocument/2006/relationships/notesMaster" Target="/ppt/notesMasters/notesMaster1.xml" Id="Rad536527b1444a2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58c43145d784334" /><Relationship Type="http://schemas.openxmlformats.org/officeDocument/2006/relationships/notesMaster" Target="/ppt/notesMasters/notesMaster1.xml" Id="R2d195a0a90e645c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92b42e56f924e2e" /><Relationship Type="http://schemas.openxmlformats.org/officeDocument/2006/relationships/notesMaster" Target="/ppt/notesMasters/notesMaster1.xml" Id="R27998cb236bc4aa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8a20514367c4a9e" /><Relationship Type="http://schemas.openxmlformats.org/officeDocument/2006/relationships/notesMaster" Target="/ppt/notesMasters/notesMaster1.xml" Id="R0a148dfc0d7842d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bcafead6bd74693" /><Relationship Type="http://schemas.openxmlformats.org/officeDocument/2006/relationships/notesMaster" Target="/ppt/notesMasters/notesMaster1.xml" Id="R5a2df9276909432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0ec7d2f300c4f99" /><Relationship Type="http://schemas.openxmlformats.org/officeDocument/2006/relationships/notesMaster" Target="/ppt/notesMasters/notesMaster1.xml" Id="R7451f2f82bea4bc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f5cf86e20474e82" /><Relationship Type="http://schemas.openxmlformats.org/officeDocument/2006/relationships/notesMaster" Target="/ppt/notesMasters/notesMaster1.xml" Id="Rdfdb648a3c8949f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30f2b8bba0d40f9" /><Relationship Type="http://schemas.openxmlformats.org/officeDocument/2006/relationships/notesMaster" Target="/ppt/notesMasters/notesMaster1.xml" Id="Re20247458323443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9f95d952fbb4f26" /><Relationship Type="http://schemas.openxmlformats.org/officeDocument/2006/relationships/notesMaster" Target="/ppt/notesMasters/notesMaster1.xml" Id="R7c3faefd4742477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5f9413ad6544db2" /><Relationship Type="http://schemas.openxmlformats.org/officeDocument/2006/relationships/notesMaster" Target="/ppt/notesMasters/notesMaster1.xml" Id="Rcd1bf7da7925460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59db43f41df4b0b" /><Relationship Type="http://schemas.openxmlformats.org/officeDocument/2006/relationships/notesMaster" Target="/ppt/notesMasters/notesMaster1.xml" Id="R252f80f87e914bc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1c21f15d10341c0" /><Relationship Type="http://schemas.openxmlformats.org/officeDocument/2006/relationships/notesMaster" Target="/ppt/notesMasters/notesMaster1.xml" Id="R04ee1983ed43474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8b61f91c48742e6" /><Relationship Type="http://schemas.openxmlformats.org/officeDocument/2006/relationships/notesMaster" Target="/ppt/notesMasters/notesMaster1.xml" Id="Rda8e7801021540d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070dd5e97114909" /><Relationship Type="http://schemas.openxmlformats.org/officeDocument/2006/relationships/notesMaster" Target="/ppt/notesMasters/notesMaster1.xml" Id="R2e8bbf86dbe94f1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281ab0053c04721" /><Relationship Type="http://schemas.openxmlformats.org/officeDocument/2006/relationships/notesMaster" Target="/ppt/notesMasters/notesMaster1.xml" Id="R08003bf3ad24491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9beb18bb2084b67" /><Relationship Type="http://schemas.openxmlformats.org/officeDocument/2006/relationships/notesMaster" Target="/ppt/notesMasters/notesMaster1.xml" Id="Rfe522700ef784b5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b8c34a8ef5c4d21" /><Relationship Type="http://schemas.openxmlformats.org/officeDocument/2006/relationships/notesMaster" Target="/ppt/notesMasters/notesMaster1.xml" Id="R5a46c140eee44df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aaf3670f4b049e7" /><Relationship Type="http://schemas.openxmlformats.org/officeDocument/2006/relationships/notesMaster" Target="/ppt/notesMasters/notesMaster1.xml" Id="Rafb1748ee0bc41a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0828d2c0f184b7e" /><Relationship Type="http://schemas.openxmlformats.org/officeDocument/2006/relationships/notesMaster" Target="/ppt/notesMasters/notesMaster1.xml" Id="R827cfe41a04e49c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33ef2062f2b4e2f" /><Relationship Type="http://schemas.openxmlformats.org/officeDocument/2006/relationships/notesMaster" Target="/ppt/notesMasters/notesMaster1.xml" Id="Ra10fe8ee79e8415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37cfc6942ca4211" /><Relationship Type="http://schemas.openxmlformats.org/officeDocument/2006/relationships/notesMaster" Target="/ppt/notesMasters/notesMaster1.xml" Id="R4a70b89302ca471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0d87a4dc28d4651" /><Relationship Type="http://schemas.openxmlformats.org/officeDocument/2006/relationships/notesMaster" Target="/ppt/notesMasters/notesMaster1.xml" Id="R21c56ed265d54c4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a17c3a869fb49a4" /><Relationship Type="http://schemas.openxmlformats.org/officeDocument/2006/relationships/notesMaster" Target="/ppt/notesMasters/notesMaster1.xml" Id="R957e1b6bc765442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a9e4d7004224abf" /><Relationship Type="http://schemas.openxmlformats.org/officeDocument/2006/relationships/notesMaster" Target="/ppt/notesMasters/notesMaster1.xml" Id="R6ea5993457a7479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e9c6ce98c8945b6" /><Relationship Type="http://schemas.openxmlformats.org/officeDocument/2006/relationships/notesMaster" Target="/ppt/notesMasters/notesMaster1.xml" Id="R72132f2e7bcb466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da0f8ddb5594e0c" /><Relationship Type="http://schemas.openxmlformats.org/officeDocument/2006/relationships/notesMaster" Target="/ppt/notesMasters/notesMaster1.xml" Id="R195d04ed518a4de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4810b535abf4261" /><Relationship Type="http://schemas.openxmlformats.org/officeDocument/2006/relationships/notesMaster" Target="/ppt/notesMasters/notesMaster1.xml" Id="Ra3d9db09c13849f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7c46bbd7d6a4b26" /><Relationship Type="http://schemas.openxmlformats.org/officeDocument/2006/relationships/notesMaster" Target="/ppt/notesMasters/notesMaster1.xml" Id="R5cccae83487547d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2d47986f31d4a77" /><Relationship Type="http://schemas.openxmlformats.org/officeDocument/2006/relationships/notesMaster" Target="/ppt/notesMasters/notesMaster1.xml" Id="R84a23a19708645e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c05a0eed45642fc" /><Relationship Type="http://schemas.openxmlformats.org/officeDocument/2006/relationships/notesMaster" Target="/ppt/notesMasters/notesMaster1.xml" Id="R74b0264c353e42a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994da8b110f43b0" /><Relationship Type="http://schemas.openxmlformats.org/officeDocument/2006/relationships/notesMaster" Target="/ppt/notesMasters/notesMaster1.xml" Id="R110d4a7f699549b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e4a662e129a426b" /><Relationship Type="http://schemas.openxmlformats.org/officeDocument/2006/relationships/notesMaster" Target="/ppt/notesMasters/notesMaster1.xml" Id="R65c5e664168d4a6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565cfe1cb994ba2" /><Relationship Type="http://schemas.openxmlformats.org/officeDocument/2006/relationships/notesMaster" Target="/ppt/notesMasters/notesMaster1.xml" Id="R65ce09dd401e4ab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68b9a6e845044dd" /><Relationship Type="http://schemas.openxmlformats.org/officeDocument/2006/relationships/notesMaster" Target="/ppt/notesMasters/notesMaster1.xml" Id="R10ddbe258211408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4fca230b072042ba" /><Relationship Type="http://schemas.openxmlformats.org/officeDocument/2006/relationships/notesMaster" Target="/ppt/notesMasters/notesMaster1.xml" Id="R44a252681fc8421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b2893e2036244b3" /><Relationship Type="http://schemas.openxmlformats.org/officeDocument/2006/relationships/notesMaster" Target="/ppt/notesMasters/notesMaster1.xml" Id="Rc7b071077cca418b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301235f2c1514bc3" /><Relationship Type="http://schemas.openxmlformats.org/officeDocument/2006/relationships/notesMaster" Target="/ppt/notesMasters/notesMaster1.xml" Id="R19f7e1d786da459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01fda8a423240e2" /><Relationship Type="http://schemas.openxmlformats.org/officeDocument/2006/relationships/notesMaster" Target="/ppt/notesMasters/notesMaster1.xml" Id="R5bb34e0de3b841ad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b774bcd23c84420" /><Relationship Type="http://schemas.openxmlformats.org/officeDocument/2006/relationships/notesMaster" Target="/ppt/notesMasters/notesMaster1.xml" Id="R896522942d1642c9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a0cf9f9fff7a49c7" /><Relationship Type="http://schemas.openxmlformats.org/officeDocument/2006/relationships/notesMaster" Target="/ppt/notesMasters/notesMaster1.xml" Id="Ra7ada69c61c143b7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aadcd159abe4cb3" /><Relationship Type="http://schemas.openxmlformats.org/officeDocument/2006/relationships/notesMaster" Target="/ppt/notesMasters/notesMaster1.xml" Id="Re5e4fa5c8f0b4d78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db2516a24b14547" /><Relationship Type="http://schemas.openxmlformats.org/officeDocument/2006/relationships/notesMaster" Target="/ppt/notesMasters/notesMaster1.xml" Id="R483c36d6931f4850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f0c6e23d9536415a" /><Relationship Type="http://schemas.openxmlformats.org/officeDocument/2006/relationships/notesMaster" Target="/ppt/notesMasters/notesMaster1.xml" Id="R19bcda96729b423c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72ee69c2d8ba4d34" /><Relationship Type="http://schemas.openxmlformats.org/officeDocument/2006/relationships/notesMaster" Target="/ppt/notesMasters/notesMaster1.xml" Id="R76e8bcffc4ae4730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92b2cebff1ec4220" /><Relationship Type="http://schemas.openxmlformats.org/officeDocument/2006/relationships/notesMaster" Target="/ppt/notesMasters/notesMaster1.xml" Id="R80650f4407d742d2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43c8d8924d72486b" /><Relationship Type="http://schemas.openxmlformats.org/officeDocument/2006/relationships/notesMaster" Target="/ppt/notesMasters/notesMaster1.xml" Id="Ree314564b4b74ed0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c54ebf4ff9d34224" /><Relationship Type="http://schemas.openxmlformats.org/officeDocument/2006/relationships/notesMaster" Target="/ppt/notesMasters/notesMaster1.xml" Id="R347fd185efb84f34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4c10aab4c8b943e8" /><Relationship Type="http://schemas.openxmlformats.org/officeDocument/2006/relationships/notesMaster" Target="/ppt/notesMasters/notesMaster1.xml" Id="R2e554094a47745f5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b8ef41c1f542416a" /><Relationship Type="http://schemas.openxmlformats.org/officeDocument/2006/relationships/notesMaster" Target="/ppt/notesMasters/notesMaster1.xml" Id="Rf53447918a9648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코드에이전트는 요청을 해석하고 파일과 실행 도구를 사용해 작업을 이어 가는 AI 도구입니다. 대화 답변 한 번과 파일 변경·실행이 연결된 작업 흐름을 구분합니다.</a:t>
            </a:r>
          </a:p>
          <a:p xmlns:a="http://schemas.openxmlformats.org/drawingml/2006/main">
            <a:r>
              <a:t>동료에게 일을 맡겨도 완료 기준은 함께 정합니다. 코드가 생겼다는 사실과 업무 요구가 충족됐다는 사실은 다릅니다.</a:t>
            </a:r>
          </a:p>
          <a:p xmlns:a="http://schemas.openxmlformats.org/drawingml/2006/main">
            <a:r>
              <a:t>예: 센서 온도 28을 주의로 분류해 달라는 요청은 입력·기준·출력·확인 방법을 포함할 수 있습니다.</a:t>
            </a:r>
          </a:p>
          <a:p xmlns:a="http://schemas.openxmlformats.org/drawingml/2006/main">
            <a:r>
              <a:t>반례: “알아서 좋게 고쳐”는 유지해야할 함수 이름이나 28 ℃ 경계를 알려 주지 않습니다.</a:t>
            </a:r>
          </a:p>
          <a:p xmlns:a="http://schemas.openxmlformats.org/drawingml/2006/main">
            <a:r>
              <a:t>풀이: 제안·변경·실행은 도구가 수행할 수 있으나 요구 부합 여부는 기대 결과와 실제 결과로 확인한다.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코드에이전트는 요청을 해석하고 파일과 실행 도구를 사용해 작업을 이어 가는 AI 도구입니다. 대화 답변 한 번과 파일 변경·실행이 연결된 작업 흐름을 구분합니다.</a:t>
            </a:r>
          </a:p>
          <a:p xmlns:a="http://schemas.openxmlformats.org/drawingml/2006/main">
            <a:r>
              <a:t>동료에게 일을 맡겨도 완료 기준은 함께 정합니다. 코드가 생겼다는 사실과 업무 요구가 충족됐다는 사실은 다릅니다.</a:t>
            </a:r>
          </a:p>
          <a:p xmlns:a="http://schemas.openxmlformats.org/drawingml/2006/main">
            <a:r>
              <a:t>예: 센서 온도 28을 주의로 분류해 달라는 요청은 입력·기준·출력·확인 방법을 포함할 수 있습니다.</a:t>
            </a:r>
          </a:p>
          <a:p xmlns:a="http://schemas.openxmlformats.org/drawingml/2006/main">
            <a:r>
              <a:t>반례: “알아서 좋게 고쳐”는 유지해야할 함수 이름이나 28 ℃ 경계를 알려 주지 않습니다.</a:t>
            </a:r>
          </a:p>
          <a:p xmlns:a="http://schemas.openxmlformats.org/drawingml/2006/main">
            <a:r>
              <a:t>풀이: 제안·변경·실행은 도구가 수행할 수 있으나 요구 부합 여부는 기대 결과와 실제 결과로 확인한다.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코드에이전트는 요청을 해석하고 파일과 실행 도구를 사용해 작업을 이어 가는 AI 도구입니다. 대화 답변 한 번과 파일 변경·실행이 연결된 작업 흐름을 구분합니다.</a:t>
            </a:r>
          </a:p>
          <a:p xmlns:a="http://schemas.openxmlformats.org/drawingml/2006/main">
            <a:r>
              <a:t>동료에게 일을 맡겨도 완료 기준은 함께 정합니다. 코드가 생겼다는 사실과 업무 요구가 충족됐다는 사실은 다릅니다.</a:t>
            </a:r>
          </a:p>
          <a:p xmlns:a="http://schemas.openxmlformats.org/drawingml/2006/main">
            <a:r>
              <a:t>예: 센서 온도 28을 주의로 분류해 달라는 요청은 입력·기준·출력·확인 방법을 포함할 수 있습니다.</a:t>
            </a:r>
          </a:p>
          <a:p xmlns:a="http://schemas.openxmlformats.org/drawingml/2006/main">
            <a:r>
              <a:t>반례: “알아서 좋게 고쳐”는 유지해야할 함수 이름이나 28 ℃ 경계를 알려 주지 않습니다.</a:t>
            </a:r>
          </a:p>
          <a:p xmlns:a="http://schemas.openxmlformats.org/drawingml/2006/main">
            <a:r>
              <a:t>풀이: 제안·변경·실행은 도구가 수행할 수 있으나 요구 부합 여부는 기대 결과와 실제 결과로 확인한다.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도구 이름과 능력을 혼동하면 읽기·변경·실행 중 실제로 허용한 행동을 따로 적습니다.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작업 범위는 어떤 파일과 동작을 바꿀지 정한 경계입니다. 전체 프로그램을 한 번에 고치기보다 한 함수의 분류 규칙처럼 확인 가능한 단위로 나눕니다.</a:t>
            </a:r>
          </a:p>
          <a:p xmlns:a="http://schemas.openxmlformats.org/drawingml/2006/main">
            <a:r>
              <a:t>범위를 알면 변경 비교가 짧아지고 잘못 바꾼 항목을 되돌리기 쉽습니다. 10/16의 변경 비교가 여기서 업무 검토 근거가 됩니다.</a:t>
            </a:r>
          </a:p>
          <a:p xmlns:a="http://schemas.openxmlformats.org/drawingml/2006/main">
            <a:r>
              <a:t>예: 오늘은 classifier.py의 classify 동작만 바꾸고 함수 이름과 threshold =28을 유지합니다.</a:t>
            </a:r>
          </a:p>
          <a:p xmlns:a="http://schemas.openxmlformats.org/drawingml/2006/main">
            <a:r>
              <a:t>반례: 결과를 맞추려고 cases.json 기대 값을 변경하면 검사기준을 바꾼 것이므로 요청을 해결한 증거가 아닙니다.</a:t>
            </a:r>
          </a:p>
          <a:p xmlns:a="http://schemas.openxmlformats.org/drawingml/2006/main">
            <a:r>
              <a:t>풀이: 함수 이름·기준 28·반환 상태·원본과 검사 사례를 유지하며 작업 복사본만 수정한다.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작업 범위는 어떤 파일과 동작을 바꿀지 정한 경계입니다. 전체 프로그램을 한 번에 고치기보다 한 함수의 분류 규칙처럼 확인 가능한 단위로 나눕니다.</a:t>
            </a:r>
          </a:p>
          <a:p xmlns:a="http://schemas.openxmlformats.org/drawingml/2006/main">
            <a:r>
              <a:t>범위를 알면 변경 비교가 짧아지고 잘못 바꾼 항목을 되돌리기 쉽습니다. 10/16의 변경 비교가 여기서 업무 검토 근거가 됩니다.</a:t>
            </a:r>
          </a:p>
          <a:p xmlns:a="http://schemas.openxmlformats.org/drawingml/2006/main">
            <a:r>
              <a:t>예: 오늘은 classifier.py의 classify 동작만 바꾸고 함수 이름과 threshold =28을 유지합니다.</a:t>
            </a:r>
          </a:p>
          <a:p xmlns:a="http://schemas.openxmlformats.org/drawingml/2006/main">
            <a:r>
              <a:t>반례: 결과를 맞추려고 cases.json 기대 값을 변경하면 검사기준을 바꾼 것이므로 요청을 해결한 증거가 아닙니다.</a:t>
            </a:r>
          </a:p>
          <a:p xmlns:a="http://schemas.openxmlformats.org/drawingml/2006/main">
            <a:r>
              <a:t>풀이: 함수 이름·기준 28·반환 상태·원본과 검사 사례를 유지하며 작업 복사본만 수정한다.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작업 범위는 어떤 파일과 동작을 바꿀지 정한 경계입니다. 전체 프로그램을 한 번에 고치기보다 한 함수의 분류 규칙처럼 확인 가능한 단위로 나눕니다.</a:t>
            </a:r>
          </a:p>
          <a:p xmlns:a="http://schemas.openxmlformats.org/drawingml/2006/main">
            <a:r>
              <a:t>범위를 알면 변경 비교가 짧아지고 잘못 바꾼 항목을 되돌리기 쉽습니다. 10/16의 변경 비교가 여기서 업무 검토 근거가 됩니다.</a:t>
            </a:r>
          </a:p>
          <a:p xmlns:a="http://schemas.openxmlformats.org/drawingml/2006/main">
            <a:r>
              <a:t>예: 오늘은 classifier.py의 classify 동작만 바꾸고 함수 이름과 threshold =28을 유지합니다.</a:t>
            </a:r>
          </a:p>
          <a:p xmlns:a="http://schemas.openxmlformats.org/drawingml/2006/main">
            <a:r>
              <a:t>반례: 결과를 맞추려고 cases.json 기대 값을 변경하면 검사기준을 바꾼 것이므로 요청을 해결한 증거가 아닙니다.</a:t>
            </a:r>
          </a:p>
          <a:p xmlns:a="http://schemas.openxmlformats.org/drawingml/2006/main">
            <a:r>
              <a:t>풀이: 함수 이름·기준 28·반환 상태·원본과 검사 사례를 유지하며 작업 복사본만 수정한다.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파일을 못 찾으면 압축을 푼 course 폴더의 code·data·work 위치부터 확인합니다.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컨 텍스트는 이번 일을 이해하는 데 필요한 설명과 자료입니다. 파일 전체를 많이 넣는 것보다 어떤 입력이 어떤 문제를 만드는지 정확히 전달하는 것이 중요합니다.</a:t>
            </a:r>
          </a:p>
          <a:p xmlns:a="http://schemas.openxmlformats.org/drawingml/2006/main">
            <a:r>
              <a:t>도구가 보지 못한 파일이나 숨은 업무 규칙을 저절로 안다고 가정하면 엉뚱한 수정이 나올 수 있습니다.</a:t>
            </a:r>
          </a:p>
          <a:p xmlns:a="http://schemas.openxmlformats.org/drawingml/2006/main">
            <a:r>
              <a:t>예: 원본 함수·가상 입력·기대 결과·실제 오류 마지막 줄은 문제를 재현하는 데 도움이 됩니다.</a:t>
            </a:r>
          </a:p>
          <a:p xmlns:a="http://schemas.openxmlformats.org/drawingml/2006/main">
            <a:r>
              <a:t>반례: 관계없는 오래된 프로젝트와 실제 계정 비밀번호는 오늘의 분류 규칙을 설명하는 데 필요하지 않습니다.</a:t>
            </a:r>
          </a:p>
          <a:p xmlns:a="http://schemas.openxmlformats.org/drawingml/2006/main">
            <a:r>
              <a:t>풀이: 1·2·5·6은 관련 근거이며 실제 비밀이나 무관한 과거 자료는 필요 없다. 외부 전송 없이 검토한다.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컨 텍스트는 이번 일을 이해하는 데 필요한 설명과 자료입니다. 파일 전체를 많이 넣는 것보다 어떤 입력이 어떤 문제를 만드는지 정확히 전달하는 것이 중요합니다.</a:t>
            </a:r>
          </a:p>
          <a:p xmlns:a="http://schemas.openxmlformats.org/drawingml/2006/main">
            <a:r>
              <a:t>도구가 보지 못한 파일이나 숨은 업무 규칙을 저절로 안다고 가정하면 엉뚱한 수정이 나올 수 있습니다.</a:t>
            </a:r>
          </a:p>
          <a:p xmlns:a="http://schemas.openxmlformats.org/drawingml/2006/main">
            <a:r>
              <a:t>예: 원본 함수·가상 입력·기대 결과·실제 오류 마지막 줄은 문제를 재현하는 데 도움이 됩니다.</a:t>
            </a:r>
          </a:p>
          <a:p xmlns:a="http://schemas.openxmlformats.org/drawingml/2006/main">
            <a:r>
              <a:t>반례: 관계없는 오래된 프로젝트와 실제 계정 비밀번호는 오늘의 분류 규칙을 설명하는 데 필요하지 않습니다.</a:t>
            </a:r>
          </a:p>
          <a:p xmlns:a="http://schemas.openxmlformats.org/drawingml/2006/main">
            <a:r>
              <a:t>풀이: 1·2·5·6은 관련 근거이며 실제 비밀이나 무관한 과거 자료는 필요 없다. 외부 전송 없이 검토한다.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컨 텍스트는 이번 일을 이해하는 데 필요한 설명과 자료입니다. 파일 전체를 많이 넣는 것보다 어떤 입력이 어떤 문제를 만드는지 정확히 전달하는 것이 중요합니다.</a:t>
            </a:r>
          </a:p>
          <a:p xmlns:a="http://schemas.openxmlformats.org/drawingml/2006/main">
            <a:r>
              <a:t>도구가 보지 못한 파일이나 숨은 업무 규칙을 저절로 안다고 가정하면 엉뚱한 수정이 나올 수 있습니다.</a:t>
            </a:r>
          </a:p>
          <a:p xmlns:a="http://schemas.openxmlformats.org/drawingml/2006/main">
            <a:r>
              <a:t>예: 원본 함수·가상 입력·기대 결과·실제 오류 마지막 줄은 문제를 재현하는 데 도움이 됩니다.</a:t>
            </a:r>
          </a:p>
          <a:p xmlns:a="http://schemas.openxmlformats.org/drawingml/2006/main">
            <a:r>
              <a:t>반례: 관계없는 오래된 프로젝트와 실제 계정 비밀번호는 오늘의 분류 규칙을 설명하는 데 필요하지 않습니다.</a:t>
            </a:r>
          </a:p>
          <a:p xmlns:a="http://schemas.openxmlformats.org/drawingml/2006/main">
            <a:r>
              <a:t>풀이: 1·2·5·6은 관련 근거이며 실제 비밀이나 무관한 과거 자료는 필요 없다. 외부 전송 없이 검토한다.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출처와 사용 목적을 구분하지 못하면 각 자료가 어떤 질문에 답하는지 적어 봅니다.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세 활동 안의 풀이 시간에 사용합니다. 별도 추가 시간으로 더하지 않습니다.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입출력 계약은 어떤 값을 받아 어떤 형태로 답할지 정한 약속입니다. 함수의 내부가 달라져도 호출하는 쪽이 기대하는 이름과 결과는 유지해야합니다.</a:t>
            </a:r>
          </a:p>
          <a:p xmlns:a="http://schemas.openxmlformats.org/drawingml/2006/main">
            <a:r>
              <a:t>함수 이름을 바꾸거나 새 숫자 코드를 반환하면 기존 호출 자는 결과를 이해하지 못할 수 있습니다.</a:t>
            </a:r>
          </a:p>
          <a:p xmlns:a="http://schemas.openxmlformats.org/drawingml/2006/main">
            <a:r>
              <a:t>예: classify(28)는 주의, classify(None)는 미측정으로 답하도록 요청에 씁니다.</a:t>
            </a:r>
          </a:p>
          <a:p xmlns:a="http://schemas.openxmlformats.org/drawingml/2006/main">
            <a:r>
              <a:t>반례: 미측정을 정상으로 부르면 측정하지 못한 상황이 정상 온도로 보입니다.</a:t>
            </a:r>
          </a:p>
          <a:p xmlns:a="http://schemas.openxmlformats.org/drawingml/2006/main">
            <a:r>
              <a:t>풀이: 숫자 0~50·None과 오류 입력을 나누고 정상/ 주의/ 미측정/ 입력 오류의 반환 계약을 유지한다.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입출력 계약은 어떤 값을 받아 어떤 형태로 답할지 정한 약속입니다. 함수의 내부가 달라져도 호출하는 쪽이 기대하는 이름과 결과는 유지해야합니다.</a:t>
            </a:r>
          </a:p>
          <a:p xmlns:a="http://schemas.openxmlformats.org/drawingml/2006/main">
            <a:r>
              <a:t>함수 이름을 바꾸거나 새 숫자 코드를 반환하면 기존 호출 자는 결과를 이해하지 못할 수 있습니다.</a:t>
            </a:r>
          </a:p>
          <a:p xmlns:a="http://schemas.openxmlformats.org/drawingml/2006/main">
            <a:r>
              <a:t>예: classify(28)는 주의, classify(None)는 미측정으로 답하도록 요청에 씁니다.</a:t>
            </a:r>
          </a:p>
          <a:p xmlns:a="http://schemas.openxmlformats.org/drawingml/2006/main">
            <a:r>
              <a:t>반례: 미측정을 정상으로 부르면 측정하지 못한 상황이 정상 온도로 보입니다.</a:t>
            </a:r>
          </a:p>
          <a:p xmlns:a="http://schemas.openxmlformats.org/drawingml/2006/main">
            <a:r>
              <a:t>풀이: 숫자 0~50·None과 오류 입력을 나누고 정상/ 주의/ 미측정/ 입력 오류의 반환 계약을 유지한다.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파일 baseline.py 1~6줄입니다. 모든 줄의 상세 해설은 code/line-guide.md에 있습니다. 추가 시간 없이 해당 활동 시연 시간 안에서 사용합니다.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입출력 계약은 어떤 값을 받아 어떤 형태로 답할지 정한 약속입니다. 함수의 내부가 달라져도 호출하는 쪽이 기대하는 이름과 결과는 유지해야합니다.</a:t>
            </a:r>
          </a:p>
          <a:p xmlns:a="http://schemas.openxmlformats.org/drawingml/2006/main">
            <a:r>
              <a:t>함수 이름을 바꾸거나 새 숫자 코드를 반환하면 기존 호출 자는 결과를 이해하지 못할 수 있습니다.</a:t>
            </a:r>
          </a:p>
          <a:p xmlns:a="http://schemas.openxmlformats.org/drawingml/2006/main">
            <a:r>
              <a:t>예: classify(28)는 주의, classify(None)는 미측정으로 답하도록 요청에 씁니다.</a:t>
            </a:r>
          </a:p>
          <a:p xmlns:a="http://schemas.openxmlformats.org/drawingml/2006/main">
            <a:r>
              <a:t>반례: 미측정을 정상으로 부르면 측정하지 못한 상황이 정상 온도로 보입니다.</a:t>
            </a:r>
          </a:p>
          <a:p xmlns:a="http://schemas.openxmlformats.org/drawingml/2006/main">
            <a:r>
              <a:t>풀이: 숫자 0~50·None과 오류 입력을 나누고 정상/ 주의/ 미측정/ 입력 오류의 반환 계약을 유지한다.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None과 문자열 "None"이 헷갈리면 10/8의 값 없음과 글자 차이를 다시 비교합니다.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검사 사례는 입력과 기대 결과를 한 쌍으로 적은 것입니다. 경계 사례는 규칙이 달라지는 바로 앞·같은 값·바로 뒤를 비교합니다.</a:t>
            </a:r>
          </a:p>
          <a:p xmlns:a="http://schemas.openxmlformats.org/drawingml/2006/main">
            <a:r>
              <a:t>평범한 22.5 하나가 통과해도 28에서 비교 기호가 틀린 문제는 드러나지 않습니다.</a:t>
            </a:r>
          </a:p>
          <a:p xmlns:a="http://schemas.openxmlformats.org/drawingml/2006/main">
            <a:r>
              <a:t>예: 27.9는 정상, 28 과 28.1은 주의입니다. 0은 유효하며 None은 미측정입니다.</a:t>
            </a:r>
          </a:p>
          <a:p xmlns:a="http://schemas.openxmlformats.org/drawingml/2006/main">
            <a:r>
              <a:t>반례: 글자 “뜨거움”을 0으로 바꿔 처리하면 오류 입력이 정상 기록으로 둔갑합니다.</a:t>
            </a:r>
          </a:p>
          <a:p xmlns:a="http://schemas.openxmlformats.org/drawingml/2006/main">
            <a:r>
              <a:t>풀이: zero/below 정상,boundary/above 주의,missing 미측정,text/boolean/negative/high 입력 오류.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검사 사례는 입력과 기대 결과를 한 쌍으로 적은 것입니다. 경계 사례는 규칙이 달라지는 바로 앞·같은 값·바로 뒤를 비교합니다.</a:t>
            </a:r>
          </a:p>
          <a:p xmlns:a="http://schemas.openxmlformats.org/drawingml/2006/main">
            <a:r>
              <a:t>평범한 22.5 하나가 통과해도 28에서 비교 기호가 틀린 문제는 드러나지 않습니다.</a:t>
            </a:r>
          </a:p>
          <a:p xmlns:a="http://schemas.openxmlformats.org/drawingml/2006/main">
            <a:r>
              <a:t>예: 27.9는 정상, 28 과 28.1은 주의입니다. 0은 유효하며 None은 미측정입니다.</a:t>
            </a:r>
          </a:p>
          <a:p xmlns:a="http://schemas.openxmlformats.org/drawingml/2006/main">
            <a:r>
              <a:t>반례: 글자 “뜨거움”을 0으로 바꿔 처리하면 오류 입력이 정상 기록으로 둔갑합니다.</a:t>
            </a:r>
          </a:p>
          <a:p xmlns:a="http://schemas.openxmlformats.org/drawingml/2006/main">
            <a:r>
              <a:t>풀이: zero/below 정상,boundary/above 주의,missing 미측정,text/boolean/negative/high 입력 오류.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검사 사례는 입력과 기대 결과를 한 쌍으로 적은 것입니다. 경계 사례는 규칙이 달라지는 바로 앞·같은 값·바로 뒤를 비교합니다.</a:t>
            </a:r>
          </a:p>
          <a:p xmlns:a="http://schemas.openxmlformats.org/drawingml/2006/main">
            <a:r>
              <a:t>평범한 22.5 하나가 통과해도 28에서 비교 기호가 틀린 문제는 드러나지 않습니다.</a:t>
            </a:r>
          </a:p>
          <a:p xmlns:a="http://schemas.openxmlformats.org/drawingml/2006/main">
            <a:r>
              <a:t>예: 27.9는 정상, 28 과 28.1은 주의입니다. 0은 유효하며 None은 미측정입니다.</a:t>
            </a:r>
          </a:p>
          <a:p xmlns:a="http://schemas.openxmlformats.org/drawingml/2006/main">
            <a:r>
              <a:t>반례: 글자 “뜨거움”을 0으로 바꿔 처리하면 오류 입력이 정상 기록으로 둔갑합니다.</a:t>
            </a:r>
          </a:p>
          <a:p xmlns:a="http://schemas.openxmlformats.org/drawingml/2006/main">
            <a:r>
              <a:t>풀이: zero/below 정상,boundary/above 주의,missing 미측정,text/boolean/negative/high 입력 오류.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숫자와 불리 언을 혼동하면 type(True)가 bool임을 확인하고 온도 계약과 비교합니다.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프롬프트는 도구에게 전달하는 요청 문장입니다. 목표·입력·범위·유지 조건·확인 사례를 짧게 연결하면 모호한 칭찬 대신 확인 가능한 결과를 요구할 수 있습니다.</a:t>
            </a:r>
          </a:p>
          <a:p xmlns:a="http://schemas.openxmlformats.org/drawingml/2006/main">
            <a:r>
              <a:t>검사 방법을 먼저 적으면 도구가 스스로 완료라고 말해도 무엇이 확인됐는지 비교할 수 있습니다.</a:t>
            </a:r>
          </a:p>
          <a:p xmlns:a="http://schemas.openxmlformats.org/drawingml/2006/main">
            <a:r>
              <a:t>예: “28 이상은 주의로 고치고 None은 미측정으로 남기며 아홉 사례를 실행해 결과를 보고해 주세요.”</a:t>
            </a:r>
          </a:p>
          <a:p xmlns:a="http://schemas.openxmlformats.org/drawingml/2006/main">
            <a:r>
              <a:t>반례: “완벽한 전문가 코드로 만들어”는 어떤 결과가 맞는지 판단할 기준이 없습니다.</a:t>
            </a:r>
          </a:p>
          <a:p xmlns:a="http://schemas.openxmlformats.org/drawingml/2006/main">
            <a:r>
              <a:t>풀이: 목표·수정 파일·유지 계약·아홉 입력·실행 증거·미확인 범위를 포함하면 충분하다.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프롬프트는 도구에게 전달하는 요청 문장입니다. 목표·입력·범위·유지 조건·확인 사례를 짧게 연결하면 모호한 칭찬 대신 확인 가능한 결과를 요구할 수 있습니다.</a:t>
            </a:r>
          </a:p>
          <a:p xmlns:a="http://schemas.openxmlformats.org/drawingml/2006/main">
            <a:r>
              <a:t>검사 방법을 먼저 적으면 도구가 스스로 완료라고 말해도 무엇이 확인됐는지 비교할 수 있습니다.</a:t>
            </a:r>
          </a:p>
          <a:p xmlns:a="http://schemas.openxmlformats.org/drawingml/2006/main">
            <a:r>
              <a:t>예: “28 이상은 주의로 고치고 None은 미측정으로 남기며 아홉 사례를 실행해 결과를 보고해 주세요.”</a:t>
            </a:r>
          </a:p>
          <a:p xmlns:a="http://schemas.openxmlformats.org/drawingml/2006/main">
            <a:r>
              <a:t>반례: “완벽한 전문가 코드로 만들어”는 어떤 결과가 맞는지 판단할 기준이 없습니다.</a:t>
            </a:r>
          </a:p>
          <a:p xmlns:a="http://schemas.openxmlformats.org/drawingml/2006/main">
            <a:r>
              <a:t>풀이: 목표·수정 파일·유지 계약·아홉 입력·실행 증거·미확인 범위를 포함하면 충분하다.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프롬프트는 도구에게 전달하는 요청 문장입니다. 목표·입력·범위·유지 조건·확인 사례를 짧게 연결하면 모호한 칭찬 대신 확인 가능한 결과를 요구할 수 있습니다.</a:t>
            </a:r>
          </a:p>
          <a:p xmlns:a="http://schemas.openxmlformats.org/drawingml/2006/main">
            <a:r>
              <a:t>검사 방법을 먼저 적으면 도구가 스스로 완료라고 말해도 무엇이 확인됐는지 비교할 수 있습니다.</a:t>
            </a:r>
          </a:p>
          <a:p xmlns:a="http://schemas.openxmlformats.org/drawingml/2006/main">
            <a:r>
              <a:t>예: “28 이상은 주의로 고치고 None은 미측정으로 남기며 아홉 사례를 실행해 결과를 보고해 주세요.”</a:t>
            </a:r>
          </a:p>
          <a:p xmlns:a="http://schemas.openxmlformats.org/drawingml/2006/main">
            <a:r>
              <a:t>반례: “완벽한 전문가 코드로 만들어”는 어떤 결과가 맞는지 판단할 기준이 없습니다.</a:t>
            </a:r>
          </a:p>
          <a:p xmlns:a="http://schemas.openxmlformats.org/drawingml/2006/main">
            <a:r>
              <a:t>풀이: 목표·수정 파일·유지 계약·아홉 입력·실행 증거·미확인 범위를 포함하면 충분하다.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요청이 길어지면 목적과 유지 조건을 분리하고 이번에 필요 없는 기능은 후속 요청으로 둡니다.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세 활동 안의 풀이 시간에 사용합니다. 별도 추가 시간으로 더하지 않습니다.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diff는 전후 코드에서 빠진 줄과 새 줄을 보여 주는 변경 비교입니다. -는 이전 줄, +는 새 줄이며 코드의 빼기·더하기 연산과 다릅니다.</a:t>
            </a:r>
          </a:p>
          <a:p xmlns:a="http://schemas.openxmlformats.org/drawingml/2006/main">
            <a:r>
              <a:t>전체 파일을 외우지 않아도 요청이 어느 변경에 반영됐는지 확인할 수 있습니다.</a:t>
            </a:r>
          </a:p>
          <a:p xmlns:a="http://schemas.openxmlformats.org/drawingml/2006/main">
            <a:r>
              <a:t>예: &gt;를 &gt;=로 바꾼 줄은 경계 28을 포함하도록 동작을 바꿉니다.</a:t>
            </a:r>
          </a:p>
          <a:p xmlns:a="http://schemas.openxmlformats.org/drawingml/2006/main">
            <a:r>
              <a:t>반례: 주석만 “28 이상”으로 바뀌고 실제 비교가 &gt;이면 동작은 그대로입니다.</a:t>
            </a:r>
          </a:p>
          <a:p xmlns:a="http://schemas.openxmlformats.org/drawingml/2006/main">
            <a:r>
              <a:t>풀이: 미측정 반환, 종류 검사, 범위 검사,&gt;=경계를 각 요구와 연결한다.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diff는 전후 코드에서 빠진 줄과 새 줄을 보여 주는 변경 비교입니다. -는 이전 줄, +는 새 줄이며 코드의 빼기·더하기 연산과 다릅니다.</a:t>
            </a:r>
          </a:p>
          <a:p xmlns:a="http://schemas.openxmlformats.org/drawingml/2006/main">
            <a:r>
              <a:t>전체 파일을 외우지 않아도 요청이 어느 변경에 반영됐는지 확인할 수 있습니다.</a:t>
            </a:r>
          </a:p>
          <a:p xmlns:a="http://schemas.openxmlformats.org/drawingml/2006/main">
            <a:r>
              <a:t>예: &gt;를 &gt;=로 바꾼 줄은 경계 28을 포함하도록 동작을 바꿉니다.</a:t>
            </a:r>
          </a:p>
          <a:p xmlns:a="http://schemas.openxmlformats.org/drawingml/2006/main">
            <a:r>
              <a:t>반례: 주석만 “28 이상”으로 바뀌고 실제 비교가 &gt;이면 동작은 그대로입니다.</a:t>
            </a:r>
          </a:p>
          <a:p xmlns:a="http://schemas.openxmlformats.org/drawingml/2006/main">
            <a:r>
              <a:t>풀이: 미측정 반환, 종류 검사, 범위 검사,&gt;=경계를 각 요구와 연결한다.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파일 proposal_a.py 1~6줄입니다. 모든 줄의 상세 해설은 code/line-guide.md에 있습니다. 추가 시간 없이 해당 활동 시연 시간 안에서 사용합니다.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diff는 전후 코드에서 빠진 줄과 새 줄을 보여 주는 변경 비교입니다. -는 이전 줄, +는 새 줄이며 코드의 빼기·더하기 연산과 다릅니다.</a:t>
            </a:r>
          </a:p>
          <a:p xmlns:a="http://schemas.openxmlformats.org/drawingml/2006/main">
            <a:r>
              <a:t>전체 파일을 외우지 않아도 요청이 어느 변경에 반영됐는지 확인할 수 있습니다.</a:t>
            </a:r>
          </a:p>
          <a:p xmlns:a="http://schemas.openxmlformats.org/drawingml/2006/main">
            <a:r>
              <a:t>예: &gt;를 &gt;=로 바꾼 줄은 경계 28을 포함하도록 동작을 바꿉니다.</a:t>
            </a:r>
          </a:p>
          <a:p xmlns:a="http://schemas.openxmlformats.org/drawingml/2006/main">
            <a:r>
              <a:t>반례: 주석만 “28 이상”으로 바뀌고 실제 비교가 &gt;이면 동작은 그대로입니다.</a:t>
            </a:r>
          </a:p>
          <a:p xmlns:a="http://schemas.openxmlformats.org/drawingml/2006/main">
            <a:r>
              <a:t>풀이: 미측정 반환, 종류 검사, 범위 검사,&gt;=경계를 각 요구와 연결한다.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diff의 +를 원본 코드에 복사했다면 실제 소스 파일의 완성 줄을 참고해 제거합니다.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응답은 설명이며 실행 증거 그 자체가 아닙니다. 코드를 바꿨다는 주장, 검사를 했다는 주장, 실제 결과를 각각 확인합니다.</a:t>
            </a:r>
          </a:p>
          <a:p xmlns:a="http://schemas.openxmlformats.org/drawingml/2006/main">
            <a:r>
              <a:t>자신 있는 문장 때문에 범위 밖 수정이나 누락된 검사를 지나칠 수 있습니다.</a:t>
            </a:r>
          </a:p>
          <a:p xmlns:a="http://schemas.openxmlformats.org/drawingml/2006/main">
            <a:r>
              <a:t>예: 응답 A는 기준을 27로 바꾸고 None을 0으로 채웁니다. 요청의 28 유지와 미측정 보존에 어긋납니다.</a:t>
            </a:r>
          </a:p>
          <a:p xmlns:a="http://schemas.openxmlformats.org/drawingml/2006/main">
            <a:r>
              <a:t>반례: “모든 문제 해결”이라는 문장이 있어도 어떤 입력으로 확인했는지 없으면 결론을 보류합니다.</a:t>
            </a:r>
          </a:p>
          <a:p xmlns:a="http://schemas.openxmlformats.org/drawingml/2006/main">
            <a:r>
              <a:t>풀이: 기준 27과 None →0은 요구 위반. AI 실제 호출 기록이 아닌 합성 응답이며 완료 주장은 테스트로 검사한다.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응답은 설명이며 실행 증거 그 자체가 아닙니다. 코드를 바꿨다는 주장, 검사를 했다는 주장, 실제 결과를 각각 확인합니다.</a:t>
            </a:r>
          </a:p>
          <a:p xmlns:a="http://schemas.openxmlformats.org/drawingml/2006/main">
            <a:r>
              <a:t>자신 있는 문장 때문에 범위 밖 수정이나 누락된 검사를 지나칠 수 있습니다.</a:t>
            </a:r>
          </a:p>
          <a:p xmlns:a="http://schemas.openxmlformats.org/drawingml/2006/main">
            <a:r>
              <a:t>예: 응답 A는 기준을 27로 바꾸고 None을 0으로 채웁니다. 요청의 28 유지와 미측정 보존에 어긋납니다.</a:t>
            </a:r>
          </a:p>
          <a:p xmlns:a="http://schemas.openxmlformats.org/drawingml/2006/main">
            <a:r>
              <a:t>반례: “모든 문제 해결”이라는 문장이 있어도 어떤 입력으로 확인했는지 없으면 결론을 보류합니다.</a:t>
            </a:r>
          </a:p>
          <a:p xmlns:a="http://schemas.openxmlformats.org/drawingml/2006/main">
            <a:r>
              <a:t>풀이: 기준 27과 None →0은 요구 위반. AI 실제 호출 기록이 아닌 합성 응답이며 완료 주장은 테스트로 검사한다.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응답은 설명이며 실행 증거 그 자체가 아닙니다. 코드를 바꿨다는 주장, 검사를 했다는 주장, 실제 결과를 각각 확인합니다.</a:t>
            </a:r>
          </a:p>
          <a:p xmlns:a="http://schemas.openxmlformats.org/drawingml/2006/main">
            <a:r>
              <a:t>자신 있는 문장 때문에 범위 밖 수정이나 누락된 검사를 지나칠 수 있습니다.</a:t>
            </a:r>
          </a:p>
          <a:p xmlns:a="http://schemas.openxmlformats.org/drawingml/2006/main">
            <a:r>
              <a:t>예: 응답 A는 기준을 27로 바꾸고 None을 0으로 채웁니다. 요청의 28 유지와 미측정 보존에 어긋납니다.</a:t>
            </a:r>
          </a:p>
          <a:p xmlns:a="http://schemas.openxmlformats.org/drawingml/2006/main">
            <a:r>
              <a:t>반례: “모든 문제 해결”이라는 문장이 있어도 어떤 입력으로 확인했는지 없으면 결론을 보류합니다.</a:t>
            </a:r>
          </a:p>
          <a:p xmlns:a="http://schemas.openxmlformats.org/drawingml/2006/main">
            <a:r>
              <a:t>풀이: 기준 27과 None →0은 요구 위반. AI 실제 호출 기록이 아닌 합성 응답이며 완료 주장은 테스트로 검사한다.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응답의 어조보다 실제 바뀐 값과 반환을 원문 요청에 대조합니다.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작업 복사본은 원본을 남기고 수정 결과를 비교하기 위한 파일입니다. 저장한 파일과 실행한 파일의 경로가 같아야 변경의 효과를 볼 수 있습니다.</a:t>
            </a:r>
          </a:p>
          <a:p xmlns:a="http://schemas.openxmlformats.org/drawingml/2006/main">
            <a:r>
              <a:t>같은 이름의 파일을 다른 폴더에서 실행하면 고쳤는데도 이전 결과가 나오는 것처럼 보입니다.</a:t>
            </a:r>
          </a:p>
          <a:p xmlns:a="http://schemas.openxmlformats.org/drawingml/2006/main">
            <a:r>
              <a:t>예: work/classifier.py는 원본과 같은 시작 코드입니다. code/baseline.py는 비교용으로 유지합니다.</a:t>
            </a:r>
          </a:p>
          <a:p xmlns:a="http://schemas.openxmlformats.org/drawingml/2006/main">
            <a:r>
              <a:t>반례: 원본까지 덮어쓰고 이 전 동작을 기억만 하면 변경 근거와 되돌릴 기준을 잃습니다.</a:t>
            </a:r>
          </a:p>
          <a:p xmlns:a="http://schemas.openxmlformats.org/drawingml/2006/main">
            <a:r>
              <a:t>풀이: 원본은 code에 보존,work 복사본만 수정, 실행 명령의 경로로 대상 확인.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작업 복사본은 원본을 남기고 수정 결과를 비교하기 위한 파일입니다. 저장한 파일과 실행한 파일의 경로가 같아야 변경의 효과를 볼 수 있습니다.</a:t>
            </a:r>
          </a:p>
          <a:p xmlns:a="http://schemas.openxmlformats.org/drawingml/2006/main">
            <a:r>
              <a:t>같은 이름의 파일을 다른 폴더에서 실행하면 고쳤는데도 이전 결과가 나오는 것처럼 보입니다.</a:t>
            </a:r>
          </a:p>
          <a:p xmlns:a="http://schemas.openxmlformats.org/drawingml/2006/main">
            <a:r>
              <a:t>예: work/classifier.py는 원본과 같은 시작 코드입니다. code/baseline.py는 비교용으로 유지합니다.</a:t>
            </a:r>
          </a:p>
          <a:p xmlns:a="http://schemas.openxmlformats.org/drawingml/2006/main">
            <a:r>
              <a:t>반례: 원본까지 덮어쓰고 이 전 동작을 기억만 하면 변경 근거와 되돌릴 기준을 잃습니다.</a:t>
            </a:r>
          </a:p>
          <a:p xmlns:a="http://schemas.openxmlformats.org/drawingml/2006/main">
            <a:r>
              <a:t>풀이: 원본은 code에 보존,work 복사본만 수정, 실행 명령의 경로로 대상 확인.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작업 복사본은 원본을 남기고 수정 결과를 비교하기 위한 파일입니다. 저장한 파일과 실행한 파일의 경로가 같아야 변경의 효과를 볼 수 있습니다.</a:t>
            </a:r>
          </a:p>
          <a:p xmlns:a="http://schemas.openxmlformats.org/drawingml/2006/main">
            <a:r>
              <a:t>같은 이름의 파일을 다른 폴더에서 실행하면 고쳤는데도 이전 결과가 나오는 것처럼 보입니다.</a:t>
            </a:r>
          </a:p>
          <a:p xmlns:a="http://schemas.openxmlformats.org/drawingml/2006/main">
            <a:r>
              <a:t>예: work/classifier.py는 원본과 같은 시작 코드입니다. code/baseline.py는 비교용으로 유지합니다.</a:t>
            </a:r>
          </a:p>
          <a:p xmlns:a="http://schemas.openxmlformats.org/drawingml/2006/main">
            <a:r>
              <a:t>반례: 원본까지 덮어쓰고 이 전 동작을 기억만 하면 변경 근거와 되돌릴 기준을 잃습니다.</a:t>
            </a:r>
          </a:p>
          <a:p xmlns:a="http://schemas.openxmlformats.org/drawingml/2006/main">
            <a:r>
              <a:t>풀이: 원본은 code에 보존,work 복사본만 수정, 실행 명령의 경로로 대상 확인.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파일 확장자 숨김이면 파일 속성을 확인하고 ZIP 목록 안에서 편집하지 않습니다.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세 활동 안의 풀이 시간에 사용합니다. 별도 추가 시간으로 더하지 않습니다.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실패 검사는 실수로 망가진 수업이 아니라 요구와 현재 동작의 차이를 드러내는 관찰입니다. 검사 프로그램은 기대와 실제를 나란히 비교합니다.</a:t>
            </a:r>
          </a:p>
          <a:p xmlns:a="http://schemas.openxmlformats.org/drawingml/2006/main">
            <a:r>
              <a:t>수정 전 실패를 재현해 두면 수정 후 무엇이 달라졌는지 확인할 기준이 생깁니다.</a:t>
            </a:r>
          </a:p>
          <a:p xmlns:a="http://schemas.openxmlformats.org/drawingml/2006/main">
            <a:r>
              <a:t>예: python code/check_cases.py code/baseline.py를 실행하면 경계와 미측정 등의 차이가 FAIL로 나옵니다.</a:t>
            </a:r>
          </a:p>
          <a:p xmlns:a="http://schemas.openxmlformats.org/drawingml/2006/main">
            <a:r>
              <a:t>반례: 종료 코드 1을 보고 무조건 재설치하지 않습니다. 이 검사기는 실패 사례가 있으면 의도적으로 1을 반환합니다.</a:t>
            </a:r>
          </a:p>
          <a:p xmlns:a="http://schemas.openxmlformats.org/drawingml/2006/main">
            <a:r>
              <a:t>풀이: FAIL 행은 계약 불일치 증거다. TypeError도 문자 입력 처리가 없다는 실제 결과로 기록한다.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실패 검사는 실수로 망가진 수업이 아니라 요구와 현재 동작의 차이를 드러내는 관찰입니다. 검사 프로그램은 기대와 실제를 나란히 비교합니다.</a:t>
            </a:r>
          </a:p>
          <a:p xmlns:a="http://schemas.openxmlformats.org/drawingml/2006/main">
            <a:r>
              <a:t>수정 전 실패를 재현해 두면 수정 후 무엇이 달라졌는지 확인할 기준이 생깁니다.</a:t>
            </a:r>
          </a:p>
          <a:p xmlns:a="http://schemas.openxmlformats.org/drawingml/2006/main">
            <a:r>
              <a:t>예: python code/check_cases.py code/baseline.py를 실행하면 경계와 미측정 등의 차이가 FAIL로 나옵니다.</a:t>
            </a:r>
          </a:p>
          <a:p xmlns:a="http://schemas.openxmlformats.org/drawingml/2006/main">
            <a:r>
              <a:t>반례: 종료 코드 1을 보고 무조건 재설치하지 않습니다. 이 검사기는 실패 사례가 있으면 의도적으로 1을 반환합니다.</a:t>
            </a:r>
          </a:p>
          <a:p xmlns:a="http://schemas.openxmlformats.org/drawingml/2006/main">
            <a:r>
              <a:t>풀이: FAIL 행은 계약 불일치 증거다. TypeError도 문자 입력 처리가 없다는 실제 결과로 기록한다.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실패 검사는 실수로 망가진 수업이 아니라 요구와 현재 동작의 차이를 드러내는 관찰입니다. 검사 프로그램은 기대와 실제를 나란히 비교합니다.</a:t>
            </a:r>
          </a:p>
          <a:p xmlns:a="http://schemas.openxmlformats.org/drawingml/2006/main">
            <a:r>
              <a:t>수정 전 실패를 재현해 두면 수정 후 무엇이 달라졌는지 확인할 기준이 생깁니다.</a:t>
            </a:r>
          </a:p>
          <a:p xmlns:a="http://schemas.openxmlformats.org/drawingml/2006/main">
            <a:r>
              <a:t>예: python code/check_cases.py code/baseline.py를 실행하면 경계와 미측정 등의 차이가 FAIL로 나옵니다.</a:t>
            </a:r>
          </a:p>
          <a:p xmlns:a="http://schemas.openxmlformats.org/drawingml/2006/main">
            <a:r>
              <a:t>반례: 종료 코드 1을 보고 무조건 재설치하지 않습니다. 이 검사기는 실패 사례가 있으면 의도적으로 1을 반환합니다.</a:t>
            </a:r>
          </a:p>
          <a:p xmlns:a="http://schemas.openxmlformats.org/drawingml/2006/main">
            <a:r>
              <a:t>풀이: FAIL 행은 계약 불일치 증거다. TypeError도 문자 입력 처리가 없다는 실제 결과로 기록한다.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모듈 경로 오류면 course 폴더에서 명령을 실행하고 파일 경로 인수를 빠뜨리지 않았는지 봅니다.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&gt;는 기준보다 큰 값, &gt;=는 기준과 같은 값까지 포함합니다. 말로 쓴 “이상”과 코드 비교 기호를 연결합니다.</a:t>
            </a:r>
          </a:p>
          <a:p xmlns:a="http://schemas.openxmlformats.org/drawingml/2006/main">
            <a:r>
              <a:t>경계 한 글자는 업무 분류를 바꿉니다. 정상 값만 시험하면 이 차이를 놓칩니다.</a:t>
            </a:r>
          </a:p>
          <a:p xmlns:a="http://schemas.openxmlformats.org/drawingml/2006/main">
            <a:r>
              <a:t>예: 작업본의 value &gt; threshold를 value &gt;= threshold로 바꾸면 28의 결과가 정상에서 주의로 달라집니다.</a:t>
            </a:r>
          </a:p>
          <a:p xmlns:a="http://schemas.openxmlformats.org/drawingml/2006/main">
            <a:r>
              <a:t>반례: 기본 threshold를 27로 내리는 것은 같은 수정이 아닙니다. 27.9까지 주의가 되어 규칙을 바꿉니다.</a:t>
            </a:r>
          </a:p>
          <a:p xmlns:a="http://schemas.openxmlformats.org/drawingml/2006/main">
            <a:r>
              <a:t>풀이: &gt;=수정은 boundary만 바꾸며 다른 미측정·종류·범위 실패는 아직 남는다.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&gt;는 기준보다 큰 값, &gt;=는 기준과 같은 값까지 포함합니다. 말로 쓴 “이상”과 코드 비교 기호를 연결합니다.</a:t>
            </a:r>
          </a:p>
          <a:p xmlns:a="http://schemas.openxmlformats.org/drawingml/2006/main">
            <a:r>
              <a:t>경계 한 글자는 업무 분류를 바꿉니다. 정상 값만 시험하면 이 차이를 놓칩니다.</a:t>
            </a:r>
          </a:p>
          <a:p xmlns:a="http://schemas.openxmlformats.org/drawingml/2006/main">
            <a:r>
              <a:t>예: 작업본의 value &gt; threshold를 value &gt;= threshold로 바꾸면 28의 결과가 정상에서 주의로 달라집니다.</a:t>
            </a:r>
          </a:p>
          <a:p xmlns:a="http://schemas.openxmlformats.org/drawingml/2006/main">
            <a:r>
              <a:t>반례: 기본 threshold를 27로 내리는 것은 같은 수정이 아닙니다. 27.9까지 주의가 되어 규칙을 바꿉니다.</a:t>
            </a:r>
          </a:p>
          <a:p xmlns:a="http://schemas.openxmlformats.org/drawingml/2006/main">
            <a:r>
              <a:t>풀이: &gt;=수정은 boundary만 바꾸며 다른 미측정·종류·범위 실패는 아직 남는다.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&gt;는 기준보다 큰 값, &gt;=는 기준과 같은 값까지 포함합니다. 말로 쓴 “이상”과 코드 비교 기호를 연결합니다.</a:t>
            </a:r>
          </a:p>
          <a:p xmlns:a="http://schemas.openxmlformats.org/drawingml/2006/main">
            <a:r>
              <a:t>경계 한 글자는 업무 분류를 바꿉니다. 정상 값만 시험하면 이 차이를 놓칩니다.</a:t>
            </a:r>
          </a:p>
          <a:p xmlns:a="http://schemas.openxmlformats.org/drawingml/2006/main">
            <a:r>
              <a:t>예: 작업본의 value &gt; threshold를 value &gt;= threshold로 바꾸면 28의 결과가 정상에서 주의로 달라집니다.</a:t>
            </a:r>
          </a:p>
          <a:p xmlns:a="http://schemas.openxmlformats.org/drawingml/2006/main">
            <a:r>
              <a:t>반례: 기본 threshold를 27로 내리는 것은 같은 수정이 아닙니다. 27.9까지 주의가 되어 규칙을 바꿉니다.</a:t>
            </a:r>
          </a:p>
          <a:p xmlns:a="http://schemas.openxmlformats.org/drawingml/2006/main">
            <a:r>
              <a:t>풀이: &gt;=수정은 boundary만 바꾸며 다른 미측정·종류·범위 실패는 아직 남는다.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결과가 그대로면 저장 여부와 실행 경로를 먼저 확인합니다.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 검사는 자료가 함수의 약속에 맞는지 살펴보는 것입니다. 값이 없는 경우와 종류가 틀린 경우, 범위를 벗어난 경우를 따로 처리합니다.</a:t>
            </a:r>
          </a:p>
          <a:p xmlns:a="http://schemas.openxmlformats.org/drawingml/2006/main">
            <a:r>
              <a:t>없음을 0으로 채우면 실제 0 측정과 구분할 수 없고 문자에 비교 연산을 하면 실행 오류가 납니다.</a:t>
            </a:r>
          </a:p>
          <a:p xmlns:a="http://schemas.openxmlformats.org/drawingml/2006/main">
            <a:r>
              <a:t>예: reviewed.py는 None →미측정, 숫자 아님 →입력 오류, 범위 밖 →입력 오류를 먼저 검사합니다.</a:t>
            </a:r>
          </a:p>
          <a:p xmlns:a="http://schemas.openxmlformats.org/drawingml/2006/main">
            <a:r>
              <a:t>반례: Python에서 bool은 숫자와 관련된 특성이 있지만 이 업무 계약은 온도로 받지 않으므로 type을 정확히 확인합니다.</a:t>
            </a:r>
          </a:p>
          <a:p xmlns:a="http://schemas.openxmlformats.org/drawingml/2006/main">
            <a:r>
              <a:t>풀이: None을 먼저 구분하고 type 정확 검사와 0~50 범위를 거친 뒤&gt;=28을 판단한다.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 검사는 자료가 함수의 약속에 맞는지 살펴보는 것입니다. 값이 없는 경우와 종류가 틀린 경우, 범위를 벗어난 경우를 따로 처리합니다.</a:t>
            </a:r>
          </a:p>
          <a:p xmlns:a="http://schemas.openxmlformats.org/drawingml/2006/main">
            <a:r>
              <a:t>없음을 0으로 채우면 실제 0 측정과 구분할 수 없고 문자에 비교 연산을 하면 실행 오류가 납니다.</a:t>
            </a:r>
          </a:p>
          <a:p xmlns:a="http://schemas.openxmlformats.org/drawingml/2006/main">
            <a:r>
              <a:t>예: reviewed.py는 None →미측정, 숫자 아님 →입력 오류, 범위 밖 →입력 오류를 먼저 검사합니다.</a:t>
            </a:r>
          </a:p>
          <a:p xmlns:a="http://schemas.openxmlformats.org/drawingml/2006/main">
            <a:r>
              <a:t>반례: Python에서 bool은 숫자와 관련된 특성이 있지만 이 업무 계약은 온도로 받지 않으므로 type을 정확히 확인합니다.</a:t>
            </a:r>
          </a:p>
          <a:p xmlns:a="http://schemas.openxmlformats.org/drawingml/2006/main">
            <a:r>
              <a:t>풀이: None을 먼저 구분하고 type 정확 검사와 0~50 범위를 거친 뒤&gt;=28을 판단한다.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파일 reviewed.py 1~10줄입니다. 모든 줄의 상세 해설은 code/line-guide.md에 있습니다. 추가 시간 없이 해당 활동 시연 시간 안에서 사용합니다.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 검사는 자료가 함수의 약속에 맞는지 살펴보는 것입니다. 값이 없는 경우와 종류가 틀린 경우, 범위를 벗어난 경우를 따로 처리합니다.</a:t>
            </a:r>
          </a:p>
          <a:p xmlns:a="http://schemas.openxmlformats.org/drawingml/2006/main">
            <a:r>
              <a:t>없음을 0으로 채우면 실제 0 측정과 구분할 수 없고 문자에 비교 연산을 하면 실행 오류가 납니다.</a:t>
            </a:r>
          </a:p>
          <a:p xmlns:a="http://schemas.openxmlformats.org/drawingml/2006/main">
            <a:r>
              <a:t>예: reviewed.py는 None →미측정, 숫자 아님 →입력 오류, 범위 밖 →입력 오류를 먼저 검사합니다.</a:t>
            </a:r>
          </a:p>
          <a:p xmlns:a="http://schemas.openxmlformats.org/drawingml/2006/main">
            <a:r>
              <a:t>반례: Python에서 bool은 숫자와 관련된 특성이 있지만 이 업무 계약은 온도로 받지 않으므로 type을 정확히 확인합니다.</a:t>
            </a:r>
          </a:p>
          <a:p xmlns:a="http://schemas.openxmlformats.org/drawingml/2006/main">
            <a:r>
              <a:t>풀이: None을 먼저 구분하고 type 정확 검사와 0~50 범위를 거친 뒤&gt;=28을 판단한다.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들여 쓰기가 틀리면 원본 완성 예제의 블록 범위를 대조합니다. 조건 순서도 함께 확인합니다.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세 활동 안의 풀이 시간에 사용합니다. 별도 추가 시간으로 더하지 않습니다.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오류 보고는 실제로 한 행동·입력·기대한 결과·실제 결과를 다른 사람이 다시 따라갈 수 있게 적은 문서입니다.</a:t>
            </a:r>
          </a:p>
          <a:p xmlns:a="http://schemas.openxmlformats.org/drawingml/2006/main">
            <a:r>
              <a:t>“안 돼요”보다 파일 경로와 입력 하나를 제시하면 재현 범위가 좁아지고 원인 추측을 줄입니다.</a:t>
            </a:r>
          </a:p>
          <a:p xmlns:a="http://schemas.openxmlformats.org/drawingml/2006/main">
            <a:r>
              <a:t>예: 입력 28, 기대 주의, 실제 정상,baseline.py 실행이라는 네 정보가 있으면 경계 문제를 재현할 수 있습니다.</a:t>
            </a:r>
          </a:p>
          <a:p xmlns:a="http://schemas.openxmlformats.org/drawingml/2006/main">
            <a:r>
              <a:t>반례: 관찰하지 않은 원인을 확정해“AI가 고장 났다”고 쓰면 다음 확인 행동이 불명확합니다.</a:t>
            </a:r>
          </a:p>
          <a:p xmlns:a="http://schemas.openxmlformats.org/drawingml/2006/main">
            <a:r>
              <a:t>풀이: boundary 사례 등을 실행 경로와 함께 기록하며 미실행을 실행 완료로 쓰지 않는다.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오류 보고는 실제로 한 행동·입력·기대한 결과·실제 결과를 다른 사람이 다시 따라갈 수 있게 적은 문서입니다.</a:t>
            </a:r>
          </a:p>
          <a:p xmlns:a="http://schemas.openxmlformats.org/drawingml/2006/main">
            <a:r>
              <a:t>“안 돼요”보다 파일 경로와 입력 하나를 제시하면 재현 범위가 좁아지고 원인 추측을 줄입니다.</a:t>
            </a:r>
          </a:p>
          <a:p xmlns:a="http://schemas.openxmlformats.org/drawingml/2006/main">
            <a:r>
              <a:t>예: 입력 28, 기대 주의, 실제 정상,baseline.py 실행이라는 네 정보가 있으면 경계 문제를 재현할 수 있습니다.</a:t>
            </a:r>
          </a:p>
          <a:p xmlns:a="http://schemas.openxmlformats.org/drawingml/2006/main">
            <a:r>
              <a:t>반례: 관찰하지 않은 원인을 확정해“AI가 고장 났다”고 쓰면 다음 확인 행동이 불명확합니다.</a:t>
            </a:r>
          </a:p>
          <a:p xmlns:a="http://schemas.openxmlformats.org/drawingml/2006/main">
            <a:r>
              <a:t>풀이: boundary 사례 등을 실행 경로와 함께 기록하며 미실행을 실행 완료로 쓰지 않는다.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오류 보고는 실제로 한 행동·입력·기대한 결과·실제 결과를 다른 사람이 다시 따라갈 수 있게 적은 문서입니다.</a:t>
            </a:r>
          </a:p>
          <a:p xmlns:a="http://schemas.openxmlformats.org/drawingml/2006/main">
            <a:r>
              <a:t>“안 돼요”보다 파일 경로와 입력 하나를 제시하면 재현 범위가 좁아지고 원인 추측을 줄입니다.</a:t>
            </a:r>
          </a:p>
          <a:p xmlns:a="http://schemas.openxmlformats.org/drawingml/2006/main">
            <a:r>
              <a:t>예: 입력 28, 기대 주의, 실제 정상,baseline.py 실행이라는 네 정보가 있으면 경계 문제를 재현할 수 있습니다.</a:t>
            </a:r>
          </a:p>
          <a:p xmlns:a="http://schemas.openxmlformats.org/drawingml/2006/main">
            <a:r>
              <a:t>반례: 관찰하지 않은 원인을 확정해“AI가 고장 났다”고 쓰면 다음 확인 행동이 불명확합니다.</a:t>
            </a:r>
          </a:p>
          <a:p xmlns:a="http://schemas.openxmlformats.org/drawingml/2006/main">
            <a:r>
              <a:t>풀이: boundary 사례 등을 실행 경로와 함께 기록하며 미실행을 실행 완료로 쓰지 않는다.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실행 화면을 남기지 못 했으면 실제 출력 문구를 그대로 적고 확인하지 않은 내용은 비워 둡니다.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추가 요청은 실패한 조건과 유지할 조건을 함께 적는 것입니다. 문제가 하나 발견됐다고 전체 프로그램을 다시 만드는 요청으로 넓히지 않습니다.</a:t>
            </a:r>
          </a:p>
          <a:p xmlns:a="http://schemas.openxmlformats.org/drawingml/2006/main">
            <a:r>
              <a:t>작은 수정은 이미 통과한 사례를 보존하는지 재확인하기 쉽습니다.</a:t>
            </a:r>
          </a:p>
          <a:p xmlns:a="http://schemas.openxmlformats.org/drawingml/2006/main">
            <a:r>
              <a:t>예: “28의 기대는 주의인데 정상입니다. 기준 28과 함수 이름을 유지하고 비교 조건만 검토해 주세요.”</a:t>
            </a:r>
          </a:p>
          <a:p xmlns:a="http://schemas.openxmlformats.org/drawingml/2006/main">
            <a:r>
              <a:t>반례: “전부 새로 고쳐”는 빈 값 처리나 이름까지 바꾸어 새 문제를 만들 수 있습니다.</a:t>
            </a:r>
          </a:p>
          <a:p xmlns:a="http://schemas.openxmlformats.org/drawingml/2006/main">
            <a:r>
              <a:t>풀이: 실패 재현과 유지 계약을 함께 적고 응답 B도 코드 및 실제 결과로 검토한다.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추가 요청은 실패한 조건과 유지할 조건을 함께 적는 것입니다. 문제가 하나 발견됐다고 전체 프로그램을 다시 만드는 요청으로 넓히지 않습니다.</a:t>
            </a:r>
          </a:p>
          <a:p xmlns:a="http://schemas.openxmlformats.org/drawingml/2006/main">
            <a:r>
              <a:t>작은 수정은 이미 통과한 사례를 보존하는지 재확인하기 쉽습니다.</a:t>
            </a:r>
          </a:p>
          <a:p xmlns:a="http://schemas.openxmlformats.org/drawingml/2006/main">
            <a:r>
              <a:t>예: “28의 기대는 주의인데 정상입니다. 기준 28과 함수 이름을 유지하고 비교 조건만 검토해 주세요.”</a:t>
            </a:r>
          </a:p>
          <a:p xmlns:a="http://schemas.openxmlformats.org/drawingml/2006/main">
            <a:r>
              <a:t>반례: “전부 새로 고쳐”는 빈 값 처리나 이름까지 바꾸어 새 문제를 만들 수 있습니다.</a:t>
            </a:r>
          </a:p>
          <a:p xmlns:a="http://schemas.openxmlformats.org/drawingml/2006/main">
            <a:r>
              <a:t>풀이: 실패 재현과 유지 계약을 함께 적고 응답 B도 코드 및 실제 결과로 검토한다.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추가 요청은 실패한 조건과 유지할 조건을 함께 적는 것입니다. 문제가 하나 발견됐다고 전체 프로그램을 다시 만드는 요청으로 넓히지 않습니다.</a:t>
            </a:r>
          </a:p>
          <a:p xmlns:a="http://schemas.openxmlformats.org/drawingml/2006/main">
            <a:r>
              <a:t>작은 수정은 이미 통과한 사례를 보존하는지 재확인하기 쉽습니다.</a:t>
            </a:r>
          </a:p>
          <a:p xmlns:a="http://schemas.openxmlformats.org/drawingml/2006/main">
            <a:r>
              <a:t>예: “28의 기대는 주의인데 정상입니다. 기준 28과 함수 이름을 유지하고 비교 조건만 검토해 주세요.”</a:t>
            </a:r>
          </a:p>
          <a:p xmlns:a="http://schemas.openxmlformats.org/drawingml/2006/main">
            <a:r>
              <a:t>반례: “전부 새로 고쳐”는 빈 값 처리나 이름까지 바꾸어 새 문제를 만들 수 있습니다.</a:t>
            </a:r>
          </a:p>
          <a:p xmlns:a="http://schemas.openxmlformats.org/drawingml/2006/main">
            <a:r>
              <a:t>풀이: 실패 재현과 유지 계약을 함께 적고 응답 B도 코드 및 실제 결과로 검토한다.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응답에 없는 검증을 했다고 추측하지 말고 별도 확인 항목으로 남깁니다.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회귀는 수정한 뒤 예전에 맞던 동작이 다시 틀리는 현상입니다. 수정한 사례 뿐 아니라 관련된 기존 사례도 함께 확인합니다.</a:t>
            </a:r>
          </a:p>
          <a:p xmlns:a="http://schemas.openxmlformats.org/drawingml/2006/main">
            <a:r>
              <a:t>경계를 고치며 기준을 27로 바꾸면 28 은 맞아도 27.9가 틀려집니다.</a:t>
            </a:r>
          </a:p>
          <a:p xmlns:a="http://schemas.openxmlformats.org/drawingml/2006/main">
            <a:r>
              <a:t>예: baseline·proposal_a·reviewed의 아홉 결과를 같은 기대 값으로 비교합니다.</a:t>
            </a:r>
          </a:p>
          <a:p xmlns:a="http://schemas.openxmlformats.org/drawingml/2006/main">
            <a:r>
              <a:t>반례: 검사를 새 코드에 유리하게 바꾸거나 통과 한 줄만 보고하면 근거가 사라집니다.</a:t>
            </a:r>
          </a:p>
          <a:p xmlns:a="http://schemas.openxmlformats.org/drawingml/2006/main">
            <a:r>
              <a:t>풀이: reviewed는 아홉 계약을 충족한다. 제공 검사 통과가 모든 가능한 입력의 완전 검증은 아니다.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회귀는 수정한 뒤 예전에 맞던 동작이 다시 틀리는 현상입니다. 수정한 사례 뿐 아니라 관련된 기존 사례도 함께 확인합니다.</a:t>
            </a:r>
          </a:p>
          <a:p xmlns:a="http://schemas.openxmlformats.org/drawingml/2006/main">
            <a:r>
              <a:t>경계를 고치며 기준을 27로 바꾸면 28 은 맞아도 27.9가 틀려집니다.</a:t>
            </a:r>
          </a:p>
          <a:p xmlns:a="http://schemas.openxmlformats.org/drawingml/2006/main">
            <a:r>
              <a:t>예: baseline·proposal_a·reviewed의 아홉 결과를 같은 기대 값으로 비교합니다.</a:t>
            </a:r>
          </a:p>
          <a:p xmlns:a="http://schemas.openxmlformats.org/drawingml/2006/main">
            <a:r>
              <a:t>반례: 검사를 새 코드에 유리하게 바꾸거나 통과 한 줄만 보고하면 근거가 사라집니다.</a:t>
            </a:r>
          </a:p>
          <a:p xmlns:a="http://schemas.openxmlformats.org/drawingml/2006/main">
            <a:r>
              <a:t>풀이: reviewed는 아홉 계약을 충족한다. 제공 검사 통과가 모든 가능한 입력의 완전 검증은 아니다.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회귀는 수정한 뒤 예전에 맞던 동작이 다시 틀리는 현상입니다. 수정한 사례 뿐 아니라 관련된 기존 사례도 함께 확인합니다.</a:t>
            </a:r>
          </a:p>
          <a:p xmlns:a="http://schemas.openxmlformats.org/drawingml/2006/main">
            <a:r>
              <a:t>경계를 고치며 기준을 27로 바꾸면 28 은 맞아도 27.9가 틀려집니다.</a:t>
            </a:r>
          </a:p>
          <a:p xmlns:a="http://schemas.openxmlformats.org/drawingml/2006/main">
            <a:r>
              <a:t>예: baseline·proposal_a·reviewed의 아홉 결과를 같은 기대 값으로 비교합니다.</a:t>
            </a:r>
          </a:p>
          <a:p xmlns:a="http://schemas.openxmlformats.org/drawingml/2006/main">
            <a:r>
              <a:t>반례: 검사를 새 코드에 유리하게 바꾸거나 통과 한 줄만 보고하면 근거가 사라집니다.</a:t>
            </a:r>
          </a:p>
          <a:p xmlns:a="http://schemas.openxmlformats.org/drawingml/2006/main">
            <a:r>
              <a:t>풀이: reviewed는 아홉 계약을 충족한다. 제공 검사 통과가 모든 가능한 입력의 완전 검증은 아니다.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FAIL 수가 줄어도 새로운 실패가 입력되었는지 각 행을 확인합니다.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세 활동 안의 풀이 시간에 사용합니다. 별도 추가 시간으로 더하지 않습니다.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 업무 조건은 기존 규칙과 독립인지 먼저 확인한 뒤 작은 사례로 설계합니다. 오늘은 추가 코드보다 변경이 영향 줄 입력을 설명하는 일에 집중합니다.</a:t>
            </a:r>
          </a:p>
          <a:p xmlns:a="http://schemas.openxmlformats.org/drawingml/2006/main">
            <a:r>
              <a:t>특수 기준을 추가하면 조건 순서와 기존 계약을 함께 검토해야합니다.</a:t>
            </a:r>
          </a:p>
          <a:p xmlns:a="http://schemas.openxmlformats.org/drawingml/2006/main">
            <a:r>
              <a:t>예: 담당자가 기준을 30으로 바꿔 달라고 새로 요청했다면 29.9·30·30.1을 새 경계로 예상합니다.</a:t>
            </a:r>
          </a:p>
          <a:p xmlns:a="http://schemas.openxmlformats.org/drawingml/2006/main">
            <a:r>
              <a:t>반례: 승인된 새 요청 없이 기준을 바꾸는 것과 업무 담당자가 조건을 변경한 것은 다릅니다.</a:t>
            </a:r>
          </a:p>
          <a:p xmlns:a="http://schemas.openxmlformats.org/drawingml/2006/main">
            <a:r>
              <a:t>풀이: 추가 인수 threshold =30으로 29.9 정상·30주의·30.1주의 예상. 기본값 변경은 별도 승인 범위다.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 업무 조건은 기존 규칙과 독립인지 먼저 확인한 뒤 작은 사례로 설계합니다. 오늘은 추가 코드보다 변경이 영향 줄 입력을 설명하는 일에 집중합니다.</a:t>
            </a:r>
          </a:p>
          <a:p xmlns:a="http://schemas.openxmlformats.org/drawingml/2006/main">
            <a:r>
              <a:t>특수 기준을 추가하면 조건 순서와 기존 계약을 함께 검토해야합니다.</a:t>
            </a:r>
          </a:p>
          <a:p xmlns:a="http://schemas.openxmlformats.org/drawingml/2006/main">
            <a:r>
              <a:t>예: 담당자가 기준을 30으로 바꿔 달라고 새로 요청했다면 29.9·30·30.1을 새 경계로 예상합니다.</a:t>
            </a:r>
          </a:p>
          <a:p xmlns:a="http://schemas.openxmlformats.org/drawingml/2006/main">
            <a:r>
              <a:t>반례: 승인된 새 요청 없이 기준을 바꾸는 것과 업무 담당자가 조건을 변경한 것은 다릅니다.</a:t>
            </a:r>
          </a:p>
          <a:p xmlns:a="http://schemas.openxmlformats.org/drawingml/2006/main">
            <a:r>
              <a:t>풀이: 추가 인수 threshold =30으로 29.9 정상·30주의·30.1주의 예상. 기본값 변경은 별도 승인 범위다.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 업무 조건은 기존 규칙과 독립인지 먼저 확인한 뒤 작은 사례로 설계합니다. 오늘은 추가 코드보다 변경이 영향 줄 입력을 설명하는 일에 집중합니다.</a:t>
            </a:r>
          </a:p>
          <a:p xmlns:a="http://schemas.openxmlformats.org/drawingml/2006/main">
            <a:r>
              <a:t>특수 기준을 추가하면 조건 순서와 기존 계약을 함께 검토해야합니다.</a:t>
            </a:r>
          </a:p>
          <a:p xmlns:a="http://schemas.openxmlformats.org/drawingml/2006/main">
            <a:r>
              <a:t>예: 담당자가 기준을 30으로 바꿔 달라고 새로 요청했다면 29.9·30·30.1을 새 경계로 예상합니다.</a:t>
            </a:r>
          </a:p>
          <a:p xmlns:a="http://schemas.openxmlformats.org/drawingml/2006/main">
            <a:r>
              <a:t>반례: 승인된 새 요청 없이 기준을 바꾸는 것과 업무 담당자가 조건을 변경한 것은 다릅니다.</a:t>
            </a:r>
          </a:p>
          <a:p xmlns:a="http://schemas.openxmlformats.org/drawingml/2006/main">
            <a:r>
              <a:t>풀이: 추가 인수 threshold =30으로 29.9 정상·30주의·30.1주의 예상. 기본값 변경은 별도 승인 범위다.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기본 기준 변경과 함수 인수 전달을 혼동하면 classify(30,threshold =30)호출 예를 읽습니다.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동료 검토는 작성자의 설명 없이도 요구·변경·검사 근거를 찾을 수 있는지 확인하는 과정입니다.</a:t>
            </a:r>
          </a:p>
          <a:p xmlns:a="http://schemas.openxmlformats.org/drawingml/2006/main">
            <a:r>
              <a:t>다른 사람에게 설명할 수 없다면 어떤 줄을 왜 바꿨는지 자신도 놓친 부분이 있을 수 있습니다.</a:t>
            </a:r>
          </a:p>
          <a:p xmlns:a="http://schemas.openxmlformats.org/drawingml/2006/main">
            <a:r>
              <a:t>예: 짝은 None 처리와&gt;=조건을 찾고 요청서 및 검사 입력을 한 곳씩 연결합니다.</a:t>
            </a:r>
          </a:p>
          <a:p xmlns:a="http://schemas.openxmlformats.org/drawingml/2006/main">
            <a:r>
              <a:t>반례: “테스트됐음”한 줄만 있으면 실행한 대상과 입력이 불명확합니다.</a:t>
            </a:r>
          </a:p>
          <a:p xmlns:a="http://schemas.openxmlformats.org/drawingml/2006/main">
            <a:r>
              <a:t>풀이: 수정 경로·입력·기대·실제·실행 방법이 있어야 재현 가능하다.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동료 검토는 작성자의 설명 없이도 요구·변경·검사 근거를 찾을 수 있는지 확인하는 과정입니다.</a:t>
            </a:r>
          </a:p>
          <a:p xmlns:a="http://schemas.openxmlformats.org/drawingml/2006/main">
            <a:r>
              <a:t>다른 사람에게 설명할 수 없다면 어떤 줄을 왜 바꿨는지 자신도 놓친 부분이 있을 수 있습니다.</a:t>
            </a:r>
          </a:p>
          <a:p xmlns:a="http://schemas.openxmlformats.org/drawingml/2006/main">
            <a:r>
              <a:t>예: 짝은 None 처리와&gt;=조건을 찾고 요청서 및 검사 입력을 한 곳씩 연결합니다.</a:t>
            </a:r>
          </a:p>
          <a:p xmlns:a="http://schemas.openxmlformats.org/drawingml/2006/main">
            <a:r>
              <a:t>반례: “테스트됐음”한 줄만 있으면 실행한 대상과 입력이 불명확합니다.</a:t>
            </a:r>
          </a:p>
          <a:p xmlns:a="http://schemas.openxmlformats.org/drawingml/2006/main">
            <a:r>
              <a:t>풀이: 수정 경로·입력·기대·실제·실행 방법이 있어야 재현 가능하다.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동료 검토는 작성자의 설명 없이도 요구·변경·검사 근거를 찾을 수 있는지 확인하는 과정입니다.</a:t>
            </a:r>
          </a:p>
          <a:p xmlns:a="http://schemas.openxmlformats.org/drawingml/2006/main">
            <a:r>
              <a:t>다른 사람에게 설명할 수 없다면 어떤 줄을 왜 바꿨는지 자신도 놓친 부분이 있을 수 있습니다.</a:t>
            </a:r>
          </a:p>
          <a:p xmlns:a="http://schemas.openxmlformats.org/drawingml/2006/main">
            <a:r>
              <a:t>예: 짝은 None 처리와&gt;=조건을 찾고 요청서 및 검사 입력을 한 곳씩 연결합니다.</a:t>
            </a:r>
          </a:p>
          <a:p xmlns:a="http://schemas.openxmlformats.org/drawingml/2006/main">
            <a:r>
              <a:t>반례: “테스트됐음”한 줄만 있으면 실행한 대상과 입력이 불명확합니다.</a:t>
            </a:r>
          </a:p>
          <a:p xmlns:a="http://schemas.openxmlformats.org/drawingml/2006/main">
            <a:r>
              <a:t>풀이: 수정 경로·입력·기대·실제·실행 방법이 있어야 재현 가능하다.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짝의 작업본을 바로 덮어쓰지 말고 수정 제안을 먼저 기록합니다.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인수인계는 요청한 일, 실제 바뀐 것, 확인한 증거, 남은 조건을 다음 사람이 이해할 수 있게 남기는 일입니다.</a:t>
            </a:r>
          </a:p>
          <a:p xmlns:a="http://schemas.openxmlformats.org/drawingml/2006/main">
            <a:r>
              <a:t>합성 데이터 검사와 실제 센서 운영은 다른 범위입니다. 확인하지 않은 서비스 호출이나 장비 연결을 완료라고 쓰지 않습니다.</a:t>
            </a:r>
          </a:p>
          <a:p xmlns:a="http://schemas.openxmlformats.org/drawingml/2006/main">
            <a:r>
              <a:t>예: 분류기 아홉 사례 통과·오프라인 응답 검토·실제 AI 호출 미 수행을 함께 적습니다.</a:t>
            </a:r>
          </a:p>
          <a:p xmlns:a="http://schemas.openxmlformats.org/drawingml/2006/main">
            <a:r>
              <a:t>반례: AI가 코드를 썼다고 가정하거나 검사 통과만으로 실제 안전 시스템 완성이라고 표현하지 않습니다.</a:t>
            </a:r>
          </a:p>
          <a:p xmlns:a="http://schemas.openxmlformats.org/drawingml/2006/main">
            <a:r>
              <a:t>풀이: 아홉 합성 사례 범위 검증, 실제 AI·장비·교실 리허설 미확인이라고 기록한다.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인수인계는 요청한 일, 실제 바뀐 것, 확인한 증거, 남은 조건을 다음 사람이 이해할 수 있게 남기는 일입니다.</a:t>
            </a:r>
          </a:p>
          <a:p xmlns:a="http://schemas.openxmlformats.org/drawingml/2006/main">
            <a:r>
              <a:t>합성 데이터 검사와 실제 센서 운영은 다른 범위입니다. 확인하지 않은 서비스 호출이나 장비 연결을 완료라고 쓰지 않습니다.</a:t>
            </a:r>
          </a:p>
          <a:p xmlns:a="http://schemas.openxmlformats.org/drawingml/2006/main">
            <a:r>
              <a:t>예: 분류기 아홉 사례 통과·오프라인 응답 검토·실제 AI 호출 미 수행을 함께 적습니다.</a:t>
            </a:r>
          </a:p>
          <a:p xmlns:a="http://schemas.openxmlformats.org/drawingml/2006/main">
            <a:r>
              <a:t>반례: AI가 코드를 썼다고 가정하거나 검사 통과만으로 실제 안전 시스템 완성이라고 표현하지 않습니다.</a:t>
            </a:r>
          </a:p>
          <a:p xmlns:a="http://schemas.openxmlformats.org/drawingml/2006/main">
            <a:r>
              <a:t>풀이: 아홉 합성 사례 범위 검증, 실제 AI·장비·교실 리허설 미확인이라고 기록한다.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R1: 트랙별 자료/TrackA/A3.pptx (기존 요청·에이전트 흐름 참고, 현행 도구 사용법으로 단정하지 않음)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인수인계는 요청한 일, 실제 바뀐 것, 확인한 증거, 남은 조건을 다음 사람이 이해할 수 있게 남기는 일입니다.</a:t>
            </a:r>
          </a:p>
          <a:p xmlns:a="http://schemas.openxmlformats.org/drawingml/2006/main">
            <a:r>
              <a:t>합성 데이터 검사와 실제 센서 운영은 다른 범위입니다. 확인하지 않은 서비스 호출이나 장비 연결을 완료라고 쓰지 않습니다.</a:t>
            </a:r>
          </a:p>
          <a:p xmlns:a="http://schemas.openxmlformats.org/drawingml/2006/main">
            <a:r>
              <a:t>예: 분류기 아홉 사례 통과·오프라인 응답 검토·실제 AI 호출 미 수행을 함께 적습니다.</a:t>
            </a:r>
          </a:p>
          <a:p xmlns:a="http://schemas.openxmlformats.org/drawingml/2006/main">
            <a:r>
              <a:t>반례: AI가 코드를 썼다고 가정하거나 검사 통과만으로 실제 안전 시스템 완성이라고 표현하지 않습니다.</a:t>
            </a:r>
          </a:p>
          <a:p xmlns:a="http://schemas.openxmlformats.org/drawingml/2006/main">
            <a:r>
              <a:t>풀이: 아홉 합성 사례 범위 검증, 실제 AI·장비·교실 리허설 미확인이라고 기록한다.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>막힌 학생: 완료 문장이 추상적이면 파일·입력 수·실행 방법을 넣습니다.</a:t>
            </a:r>
          </a:p>
          <a:p xmlns:a="http://schemas.openxmlformats.org/drawingml/2006/main">
            <a:r>
              <a:t>빠른 학생: 필수 확인을 마친 뒤 같은 규칙의 다른 입력 하나를 만들고 예상과 실제 결과를 비교합니다. 새 기능 전체를 독립 작성하는 것은 선택입니다.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세 활동 안의 풀이 시간에 사용합니다. 별도 추가 시간으로 더하지 않습니다.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d01a44cdf649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7c1bf2e269490b" /><Relationship Type="http://schemas.openxmlformats.org/officeDocument/2006/relationships/slideLayout" Target="/ppt/slideLayouts/slideLayout1.xml" Id="R0b00c5beb21647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00c5beb21647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271a4fed84d92" /><Relationship Type="http://schemas.openxmlformats.org/officeDocument/2006/relationships/notesSlide" Target="/ppt/notesSlides/notesSlide1.xml" Id="R53394be363c041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291fb2087473e" /><Relationship Type="http://schemas.openxmlformats.org/officeDocument/2006/relationships/notesSlide" Target="/ppt/notesSlides/notesSlide2.xml" Id="R3dbf706b3b9249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a5f26d5b4417e" /><Relationship Type="http://schemas.openxmlformats.org/officeDocument/2006/relationships/notesSlide" Target="/ppt/notesSlides/notesSlide3.xml" Id="R49aa8cf1841641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45a7172664047" /><Relationship Type="http://schemas.openxmlformats.org/officeDocument/2006/relationships/notesSlide" Target="/ppt/notesSlides/notesSlide4.xml" Id="R2836f486462144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a59d225e94b6a" /><Relationship Type="http://schemas.openxmlformats.org/officeDocument/2006/relationships/notesSlide" Target="/ppt/notesSlides/notesSlide5.xml" Id="Rcaee46eb5d804e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1042784964a26" /><Relationship Type="http://schemas.openxmlformats.org/officeDocument/2006/relationships/notesSlide" Target="/ppt/notesSlides/notesSlide6.xml" Id="Re2784dd7c15547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be66b687842a3" /><Relationship Type="http://schemas.openxmlformats.org/officeDocument/2006/relationships/notesSlide" Target="/ppt/notesSlides/notesSlide7.xml" Id="Refe094414d3a4e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6a11f78b044d9" /><Relationship Type="http://schemas.openxmlformats.org/officeDocument/2006/relationships/notesSlide" Target="/ppt/notesSlides/notesSlide8.xml" Id="R5372c2d5d0d941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b8671dfd444f6" /><Relationship Type="http://schemas.openxmlformats.org/officeDocument/2006/relationships/notesSlide" Target="/ppt/notesSlides/notesSlide9.xml" Id="R86eecd011ed041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7c863912d4c37" /><Relationship Type="http://schemas.openxmlformats.org/officeDocument/2006/relationships/notesSlide" Target="/ppt/notesSlides/notesSlide10.xml" Id="Rd3fae30414e94d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bcc7cd654411b" /><Relationship Type="http://schemas.openxmlformats.org/officeDocument/2006/relationships/notesSlide" Target="/ppt/notesSlides/notesSlide11.xml" Id="R988f89053e0949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e3ffe4d294ff2" /><Relationship Type="http://schemas.openxmlformats.org/officeDocument/2006/relationships/notesSlide" Target="/ppt/notesSlides/notesSlide12.xml" Id="R2b7c52b638a047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7e3980048421b" /><Relationship Type="http://schemas.openxmlformats.org/officeDocument/2006/relationships/notesSlide" Target="/ppt/notesSlides/notesSlide13.xml" Id="R5620bbe8c52c48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c81618fd14fd0" /><Relationship Type="http://schemas.openxmlformats.org/officeDocument/2006/relationships/notesSlide" Target="/ppt/notesSlides/notesSlide14.xml" Id="R5e5bb8f980714d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2068e89024b1f" /><Relationship Type="http://schemas.openxmlformats.org/officeDocument/2006/relationships/notesSlide" Target="/ppt/notesSlides/notesSlide15.xml" Id="R83f3c9ecb543453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c086bdd3e4495" /><Relationship Type="http://schemas.openxmlformats.org/officeDocument/2006/relationships/notesSlide" Target="/ppt/notesSlides/notesSlide16.xml" Id="R6a0e9dcb4c9c496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bd75447344d1a" /><Relationship Type="http://schemas.openxmlformats.org/officeDocument/2006/relationships/notesSlide" Target="/ppt/notesSlides/notesSlide17.xml" Id="Rebc38a81283f425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27b40caf94394" /><Relationship Type="http://schemas.openxmlformats.org/officeDocument/2006/relationships/notesSlide" Target="/ppt/notesSlides/notesSlide18.xml" Id="Rb4205a05ae4648c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a65d56f254205" /><Relationship Type="http://schemas.openxmlformats.org/officeDocument/2006/relationships/notesSlide" Target="/ppt/notesSlides/notesSlide19.xml" Id="R5258e3d0b7e444e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f2383b3e946b9" /><Relationship Type="http://schemas.openxmlformats.org/officeDocument/2006/relationships/notesSlide" Target="/ppt/notesSlides/notesSlide20.xml" Id="R968ef127d50c46a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7b7cb21874f28" /><Relationship Type="http://schemas.openxmlformats.org/officeDocument/2006/relationships/notesSlide" Target="/ppt/notesSlides/notesSlide21.xml" Id="R1e0bc1d163d5453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fce692400446f" /><Relationship Type="http://schemas.openxmlformats.org/officeDocument/2006/relationships/notesSlide" Target="/ppt/notesSlides/notesSlide22.xml" Id="R9dfdf3cea8324c8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386d5112a488e" /><Relationship Type="http://schemas.openxmlformats.org/officeDocument/2006/relationships/notesSlide" Target="/ppt/notesSlides/notesSlide23.xml" Id="Rbf629bb28e5c4e8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c49b4595e4dde" /><Relationship Type="http://schemas.openxmlformats.org/officeDocument/2006/relationships/notesSlide" Target="/ppt/notesSlides/notesSlide24.xml" Id="R0fff0aef6bd2488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1df5fcd0e4a6c" /><Relationship Type="http://schemas.openxmlformats.org/officeDocument/2006/relationships/notesSlide" Target="/ppt/notesSlides/notesSlide25.xml" Id="R8bc47f4bd242478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3968f195a4522" /><Relationship Type="http://schemas.openxmlformats.org/officeDocument/2006/relationships/notesSlide" Target="/ppt/notesSlides/notesSlide26.xml" Id="Rcbf21f85d6a04ea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58684cf024d26" /><Relationship Type="http://schemas.openxmlformats.org/officeDocument/2006/relationships/notesSlide" Target="/ppt/notesSlides/notesSlide27.xml" Id="Rdf43f83a7546408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5cbfe02364b7e" /><Relationship Type="http://schemas.openxmlformats.org/officeDocument/2006/relationships/notesSlide" Target="/ppt/notesSlides/notesSlide28.xml" Id="Raa805224935c44a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5fc1cb59848a0" /><Relationship Type="http://schemas.openxmlformats.org/officeDocument/2006/relationships/notesSlide" Target="/ppt/notesSlides/notesSlide29.xml" Id="R94d02ebd5bf746b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0449057a74117" /><Relationship Type="http://schemas.openxmlformats.org/officeDocument/2006/relationships/notesSlide" Target="/ppt/notesSlides/notesSlide30.xml" Id="R5b1cdf1081ff4cd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5431eab5b469f" /><Relationship Type="http://schemas.openxmlformats.org/officeDocument/2006/relationships/notesSlide" Target="/ppt/notesSlides/notesSlide31.xml" Id="Rf9804e5879bd4f8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bd00a2bee4cfa" /><Relationship Type="http://schemas.openxmlformats.org/officeDocument/2006/relationships/notesSlide" Target="/ppt/notesSlides/notesSlide32.xml" Id="Ra59ea06a248e48e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046d839f542c9" /><Relationship Type="http://schemas.openxmlformats.org/officeDocument/2006/relationships/notesSlide" Target="/ppt/notesSlides/notesSlide33.xml" Id="R101f8b46719043b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a748978c34e91" /><Relationship Type="http://schemas.openxmlformats.org/officeDocument/2006/relationships/notesSlide" Target="/ppt/notesSlides/notesSlide34.xml" Id="R787929bd0ea84c3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fcb29292d4fef" /><Relationship Type="http://schemas.openxmlformats.org/officeDocument/2006/relationships/notesSlide" Target="/ppt/notesSlides/notesSlide35.xml" Id="Rec9e83682f9d420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939e6e979426e" /><Relationship Type="http://schemas.openxmlformats.org/officeDocument/2006/relationships/notesSlide" Target="/ppt/notesSlides/notesSlide36.xml" Id="R969d94f3ff2f4b1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f190f86c546b9" /><Relationship Type="http://schemas.openxmlformats.org/officeDocument/2006/relationships/notesSlide" Target="/ppt/notesSlides/notesSlide37.xml" Id="R7298072a5f92478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c3eb829614e06" /><Relationship Type="http://schemas.openxmlformats.org/officeDocument/2006/relationships/notesSlide" Target="/ppt/notesSlides/notesSlide38.xml" Id="R581a83344bf34c3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a4f4d5e414706" /><Relationship Type="http://schemas.openxmlformats.org/officeDocument/2006/relationships/notesSlide" Target="/ppt/notesSlides/notesSlide39.xml" Id="R3ddccf89eac04e4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7bd8fc5e94bce" /><Relationship Type="http://schemas.openxmlformats.org/officeDocument/2006/relationships/notesSlide" Target="/ppt/notesSlides/notesSlide40.xml" Id="R56158de1d94b40c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7afb1f8694072" /><Relationship Type="http://schemas.openxmlformats.org/officeDocument/2006/relationships/notesSlide" Target="/ppt/notesSlides/notesSlide41.xml" Id="R1cb6d97ff467431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b6b0e9b00417a" /><Relationship Type="http://schemas.openxmlformats.org/officeDocument/2006/relationships/notesSlide" Target="/ppt/notesSlides/notesSlide42.xml" Id="R3e891166e40a496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bdf9a2d3c4bdb" /><Relationship Type="http://schemas.openxmlformats.org/officeDocument/2006/relationships/notesSlide" Target="/ppt/notesSlides/notesSlide43.xml" Id="Rf7395d973c114e5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82b1deda04339" /><Relationship Type="http://schemas.openxmlformats.org/officeDocument/2006/relationships/notesSlide" Target="/ppt/notesSlides/notesSlide44.xml" Id="R788cc099ac0749e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8f09ce7fe41bd" /><Relationship Type="http://schemas.openxmlformats.org/officeDocument/2006/relationships/notesSlide" Target="/ppt/notesSlides/notesSlide45.xml" Id="R35cb2227438b494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a74e2960d423b" /><Relationship Type="http://schemas.openxmlformats.org/officeDocument/2006/relationships/notesSlide" Target="/ppt/notesSlides/notesSlide46.xml" Id="Rbfe5a7f9621041c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f5e6d3b724053" /><Relationship Type="http://schemas.openxmlformats.org/officeDocument/2006/relationships/notesSlide" Target="/ppt/notesSlides/notesSlide47.xml" Id="R67fffba619004cd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e4fac321943a0" /><Relationship Type="http://schemas.openxmlformats.org/officeDocument/2006/relationships/notesSlide" Target="/ppt/notesSlides/notesSlide48.xml" Id="Rda179ee8c879406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92fed23bf4b2c" /><Relationship Type="http://schemas.openxmlformats.org/officeDocument/2006/relationships/notesSlide" Target="/ppt/notesSlides/notesSlide49.xml" Id="R243a768ae93b4d1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4446bc2274fc6" /><Relationship Type="http://schemas.openxmlformats.org/officeDocument/2006/relationships/notesSlide" Target="/ppt/notesSlides/notesSlide50.xml" Id="R1e8421e4d7044c9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0d576a82e41c2" /><Relationship Type="http://schemas.openxmlformats.org/officeDocument/2006/relationships/notesSlide" Target="/ppt/notesSlides/notesSlide51.xml" Id="R0da6f3b1e3594f09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ea5c41a564be6" /><Relationship Type="http://schemas.openxmlformats.org/officeDocument/2006/relationships/notesSlide" Target="/ppt/notesSlides/notesSlide52.xml" Id="R7b2ffcad72e84204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775efa0214a68" /><Relationship Type="http://schemas.openxmlformats.org/officeDocument/2006/relationships/notesSlide" Target="/ppt/notesSlides/notesSlide53.xml" Id="Ra40c32731fa14d8a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c8355fcca4106" /><Relationship Type="http://schemas.openxmlformats.org/officeDocument/2006/relationships/notesSlide" Target="/ppt/notesSlides/notesSlide54.xml" Id="R84f2aafc91fb40c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122a9de454a14" /><Relationship Type="http://schemas.openxmlformats.org/officeDocument/2006/relationships/notesSlide" Target="/ppt/notesSlides/notesSlide55.xml" Id="R0773c22deb03430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38e7611a646dd" /><Relationship Type="http://schemas.openxmlformats.org/officeDocument/2006/relationships/notesSlide" Target="/ppt/notesSlides/notesSlide56.xml" Id="R4384b7be6d5c42b1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f059d5783418c" /><Relationship Type="http://schemas.openxmlformats.org/officeDocument/2006/relationships/notesSlide" Target="/ppt/notesSlides/notesSlide57.xml" Id="R4582fc294b8646ac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571916445467d" /><Relationship Type="http://schemas.openxmlformats.org/officeDocument/2006/relationships/notesSlide" Target="/ppt/notesSlides/notesSlide58.xml" Id="R7a806b16a0284ad6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d41074d4148c2" /><Relationship Type="http://schemas.openxmlformats.org/officeDocument/2006/relationships/notesSlide" Target="/ppt/notesSlides/notesSlide59.xml" Id="R44af311465464cb0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3feaf25754b2b" /><Relationship Type="http://schemas.openxmlformats.org/officeDocument/2006/relationships/notesSlide" Target="/ppt/notesSlides/notesSlide60.xml" Id="Rf439974d271448d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7e8b452c64b23" /><Relationship Type="http://schemas.openxmlformats.org/officeDocument/2006/relationships/notesSlide" Target="/ppt/notesSlides/notesSlide61.xml" Id="Rccefa81c1f6d4011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e69d22a7648d0" /><Relationship Type="http://schemas.openxmlformats.org/officeDocument/2006/relationships/notesSlide" Target="/ppt/notesSlides/notesSlide62.xml" Id="R05ddbfb9421f44a2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f1c1e66a64c2d" /><Relationship Type="http://schemas.openxmlformats.org/officeDocument/2006/relationships/notesSlide" Target="/ppt/notesSlides/notesSlide63.xml" Id="R270d655940ed4dae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68a0db89c40d2" /><Relationship Type="http://schemas.openxmlformats.org/officeDocument/2006/relationships/notesSlide" Target="/ppt/notesSlides/notesSlide64.xml" Id="R66919accd8b744a4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7cf5b1a2c4e60" /><Relationship Type="http://schemas.openxmlformats.org/officeDocument/2006/relationships/notesSlide" Target="/ppt/notesSlides/notesSlide65.xml" Id="Re1f080aedf134643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c1bf23edd4740" /><Relationship Type="http://schemas.openxmlformats.org/officeDocument/2006/relationships/notesSlide" Target="/ppt/notesSlides/notesSlide66.xml" Id="R19ae64e8e49c41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7FDC0-A8FA-424F-9D71-E03DDB6B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2026-10-20  AI 코드에이전트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095B1-1F5A-454B-A2A9-5B8CD296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AI 코드에이전트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FDD5E-D99E-4FBE-8F8B-9521CFD4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K-Digital 피지컬AI  /  2026-10-20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79240-FF62-4063-AAC8-B12736BD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9E9FC-4268-4017-8913-E2B41A0E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09728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AI 코드에이전트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1CF5A-FC72-49E5-A05C-75FFF82E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rPr>
              <a:t>개념·완성 예제·작은 수정·근거 있는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4A6BD-A260-4C93-AC4C-87BBACE2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rPr>
              <a:t>6구간 수업 자료  ·  실교육 360분 운영안</a:t>
            </a:r>
          </a:p>
        </p:txBody>
      </p:sp>
    </p:spTree>
    <p:extLst>
      <p:ext uri="{BB962C8B-B14F-4D97-AF65-F5344CB8AC3E}">
        <p14:creationId xmlns:p14="http://schemas.microsoft.com/office/powerpoint/2010/main" val="1863941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04645-1F21-44BC-A603-B8EC7620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F8809-1A9D-40B3-AF89-CB81E16A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에이전트와 사람의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287E3-58A2-4E2F-88AA-0861C4D5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45A45-E096-4570-A497-C8808CC2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C3D38-4F91-46AD-B23D-89194999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99297-5080-479A-B563-780F5C03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코드에이전트는 요청을 해석하고 파일과 실행 도구를 사용해 작업을 이어 가는 AI 도구입니다. 대화 답변 한 번과 파일 변경·실행이 연결된 작업 흐름을 구분합니다.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51912-B7AF-484D-AD40-1E191282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AA398-60A1-4BAE-A6B5-D472B68E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동료에게 일을 맡겨도 완료 기준은 함께 정합니다. 코드가 생겼다는 사실과 업무 요구가 충족됐다는 사실은 다릅니다.</a:t>
            </a:r>
          </a:p>
        </p:txBody>
      </p:sp>
    </p:spTree>
    <p:extLst>
      <p:ext uri="{BB962C8B-B14F-4D97-AF65-F5344CB8AC3E}">
        <p14:creationId xmlns:p14="http://schemas.microsoft.com/office/powerpoint/2010/main" val="18563013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00114-5B7A-48EC-AE2B-7D9CD00D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92A66-7145-423A-859E-84CA46FE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에이전트와 사람의 역할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4C2FF-214A-4D7B-8C87-CA0699EA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804D3-8AEE-4278-A446-03301CA8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58658-06FB-40CF-9E67-FAED634F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096DE-1E02-492E-92F6-EE1EC9F4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센서 온도 28을 주의로 분류해 달라는 요청은 입력·기준·출력·확인 방법을 포함할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EA260-AD08-4ADF-81D9-5FB876C4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BFA75-9020-43FC-A307-A0F5371E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“알아서 좋게 고쳐”는 유지해야할 함수 이름이나 28 ℃ 경계를 알려 주지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8771965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24333-B808-4566-AE21-A7285FB9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2D595-1BCE-4326-9ED2-0151EDEA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에이전트와 사람의 역할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3EA21-9BD1-406F-996E-FE9BAE8E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3DF0A-9466-4E97-8B41-7A72457A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AB350-48E2-498D-AD56-5B08B59F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A01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25141-E1B3-4A7E-9814-D4998D47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요청서에서 목적을 한 문장으로 찾기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430D3-4F32-408E-B3BA-79B15C0A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AI가 제안할 일과 사람이 판단할 일 나누기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6581A-960C-4875-AB33-A2158807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완료라고 부를 증거 두 가지 적기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85B4A-785C-409F-87B8-3907A27E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짝에게 도구와 검토자의 역할 설명하기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00155-67A1-4450-B444-065B9022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목적·역할·완료 근거가 있는 작업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83EF3-5714-47B6-A13E-31578C49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코드가 생긴 것만으로 완료가 아닌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7474152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95A36-59FA-4568-99EB-DF66F389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13BEF-325A-490C-BB9B-E0189A65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작은 작업과 수정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1886F-D71B-4E5E-9504-3504FA29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62174-B5AE-4DE1-88B3-3CBBC7AB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DE85D-AD57-4563-93A3-05675C64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0AD36-9706-44C3-AD84-BA282F26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작업 범위는 어떤 파일과 동작을 바꿀지 정한 경계입니다. 전체 프로그램을 한 번에 고치기보다 한 함수의 분류 규칙처럼 확인 가능한 단위로 나눕니다.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4F52C-FF48-47FD-83C6-C006F923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49E2B-EB39-4BAC-B65D-6CB11451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범위를 알면 변경 비교가 짧아지고 잘못 바꾼 항목을 되돌리기 쉽습니다. 10/16의 변경 비교가 여기서 업무 검토 근거가 됩니다.</a:t>
            </a:r>
          </a:p>
        </p:txBody>
      </p:sp>
    </p:spTree>
    <p:extLst>
      <p:ext uri="{BB962C8B-B14F-4D97-AF65-F5344CB8AC3E}">
        <p14:creationId xmlns:p14="http://schemas.microsoft.com/office/powerpoint/2010/main" val="8559133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1E92F-CE0B-42F1-A49C-F1CDB0A2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A346E-B366-433E-A4E3-72DBC4E0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작은 작업과 수정 범위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5292A-78CA-4ABA-9AC6-68299DA5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1AB45-6C4E-4E1C-82AC-DC3E1B21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910D0-2855-4B3E-94BA-84F7E32E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DE9BD-B500-4158-ADF8-200645DD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오늘은 classifier.py의 classify 동작만 바꾸고 함수 이름과 threshold =28을 유지합니다.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007B7-2DE2-4BCF-983D-CE519DAE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C46C1-D2D3-4F23-B73F-CA88CFA3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결과를 맞추려고 cases.json 기대 값을 변경하면 검사기준을 바꾼 것이므로 요청을 해결한 증거가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0001184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DC9E6-EA2A-4F85-8B51-FEBCE30C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D0476-DFBB-4B85-997C-6EADEC78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작은 작업과 수정 범위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421F3-8599-40AC-94D0-66CE1092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B3041-6192-4014-97A3-3F892375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FFD58-D48C-4EA0-A7CB-AD9626D3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A02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D12C61-0D9C-4898-BA48-DF55EC70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바꿀 파일 하나 적기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19147-D628-434A-B2DA-9E262F03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유지할 이름·기준·입출력 찾기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EC0CF-E463-426E-BCA7-469E0D63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요청 밖 변경 예 두 가지 표시하기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4A198-6118-4932-A91D-C98A7D57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작업 요청서에 범위 적기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68222-19E7-4FF7-8463-1D4DDDFD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변경 가능·유지 범위가 구분된 요청서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F39C0-E613-4395-B95F-34CBC912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테스트 기대 값을 바꾸면 왜 문제가 숨을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690130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6139A-49D4-428F-B5CB-59E8452D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C3C9D-39A8-4F5F-8BAE-23AD6808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컨텍스트와 관련 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BCB33-9A63-4F9B-B0B1-65ECED6E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1641C-588E-4E3F-95A3-4A9190B1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5AE4E-73B4-4A60-86FC-BB0640F9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43DF3-B337-4FE9-8C23-42C19175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컨 텍스트는 이번 일을 이해하는 데 필요한 설명과 자료입니다. 파일 전체를 많이 넣는 것보다 어떤 입력이 어떤 문제를 만드는지 정확히 전달하는 것이 중요합니다.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A44CB-448C-4D88-9F05-DBEEE30D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95771-52A7-4F47-AEC2-D3963838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도구가 보지 못한 파일이나 숨은 업무 규칙을 저절로 안다고 가정하면 엉뚱한 수정이 나올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8476138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81B61-38BD-4A00-9020-2CA02E99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4E712-5AD1-46A1-BDEB-FD43878B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컨텍스트와 관련 자료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7F7EA-CED7-4116-891E-580FF829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DDCD6-1683-4A27-96CF-FEEC7F8A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5CB47-1E93-45A0-A1F6-64024669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B9816-1A6B-47D7-9DCA-80B7F423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원본 함수·가상 입력·기대 결과·실제 오류 마지막 줄은 문제를 재현하는 데 도움이 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73141-3D6E-4718-9238-E005715C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62953-16F2-4B33-AE29-F6932E35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관계없는 오래된 프로젝트와 실제 계정 비밀번호는 오늘의 분류 규칙을 설명하는 데 필요하지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005504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BF1C7-611A-48F5-B7B5-157DE7FB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02AC0-34C4-4334-8A3F-7D06D2E1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컨텍스트와 관련 자료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7A454-7921-4E2D-ACCC-91EDF4E1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63650-76B3-465D-AF9D-1FD4936D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D7A63-769C-4DB6-9AAB-D64A4B44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A03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01E9C-0008-40B3-9FC9-2AC79F87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여섯 자료 카드 읽기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E55B0-343B-4B25-A5C2-C92A434E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관련·무관·공유하지 않을 자료로 분류하기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C834D-B603-4C67-8A62-1BC9260B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선택한 자료의 필요성을 한 줄씩 쓰기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A31AE-F8B6-4D43-970E-0004CCFA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빠진 맥락 하나를 질문으로 남기기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F189F-9AF6-45BC-8CCB-ED5B93F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최소 관련 자료 목록과 선택 이유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C4776-DE58-42C2-AE46-0DB7A70D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자료가 많으면 항상 더 좋은 요청이 되나요?</a:t>
            </a:r>
          </a:p>
        </p:txBody>
      </p:sp>
    </p:spTree>
    <p:extLst>
      <p:ext uri="{BB962C8B-B14F-4D97-AF65-F5344CB8AC3E}">
        <p14:creationId xmlns:p14="http://schemas.microsoft.com/office/powerpoint/2010/main" val="5400336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9468B-BCEF-4C85-BCB0-F00A3584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구간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2DFF8-B4DF-4217-A817-D40C4BD2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작업을 맡기는 방법 ·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51975-CACE-4274-98AC-23E40F23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EB326-9831-4894-A7A0-801A0EEB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설명할 대상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자기 말로 답할 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에이전트와 사람의 역할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코드가 생긴 것만으로 완료가 아닌 이유는 무엇인가요?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작은 작업과 수정 범위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테스트 기대 값을 바꾸면 왜 문제가 숨을 수 있나요?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컨텍스트와 관련 자료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자료가 많으면 항상 더 좋은 요청이 되나요?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22042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1C5C7-AD68-4C4D-A6DE-1080B85F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5D641-35DF-4AD2-B867-3D384B20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입력과 출력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14899-5E98-407F-A8F8-2636E5B4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16E15-21C8-4096-8FB5-E5B4802C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786C7-95C7-42A7-82B1-2D8E569F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97781-174A-4C68-8D86-922463F6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입출력 계약은 어떤 값을 받아 어떤 형태로 답할지 정한 약속입니다. 함수의 내부가 달라져도 호출하는 쪽이 기대하는 이름과 결과는 유지해야합니다.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08850-69B6-45E1-8D10-20A40079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EE93F-0A5E-4105-8D58-1766CBF8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함수 이름을 바꾸거나 새 숫자 코드를 반환하면 기존 호출 자는 결과를 이해하지 못할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8560122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98510-6A8C-4CEE-AC42-A035ADC4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FB026-742A-40F9-B398-9B928F63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입력과 출력 계약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2BDFC-AF58-4166-9484-08A3239E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71DAA-4E7B-4096-A757-F321976C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A94DE-88C6-49A9-B197-1F55DCF4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36749-8169-47C7-A2B7-95926B7B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classify(28)는 주의, classify(None)는 미측정으로 답하도록 요청에 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038AE-06EF-4F42-BEF9-872DB3BE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28B70-84DB-4DF7-B4A4-7657D6CE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미측정을 정상으로 부르면 측정하지 못한 상황이 정상 온도로 보입니다.</a:t>
            </a:r>
          </a:p>
        </p:txBody>
      </p:sp>
    </p:spTree>
    <p:extLst>
      <p:ext uri="{BB962C8B-B14F-4D97-AF65-F5344CB8AC3E}">
        <p14:creationId xmlns:p14="http://schemas.microsoft.com/office/powerpoint/2010/main" val="19441816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1496E-852B-4A69-940C-2F7E892D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코드 함께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57229-21FD-4366-A6B5-FBA9FB68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받을 값과 돌려줄 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3BBC1-A87A-41DB-B418-04FEF02B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3AC7F-3270-4B61-8BF4-9F8F8E1D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A9543-4C33-46F2-B494-5144A4FC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value는 이번 입력, threshold는 판단 기준입니다.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7C99F-E58B-48B1-AC47-A47D4BD2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51725-12FD-4CAD-9F7B-ADE25B29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def classify(value, threshold=28):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value is None: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return "정상"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value &gt; threshold: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return "주의"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return "정상"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9EA9D-EE4A-49F2-BFF9-420409EA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None을 정상으로 돌려주는 부분과 &gt; 비교를 함께 찾습니다.</a:t>
            </a:r>
          </a:p>
        </p:txBody>
      </p:sp>
    </p:spTree>
    <p:extLst>
      <p:ext uri="{BB962C8B-B14F-4D97-AF65-F5344CB8AC3E}">
        <p14:creationId xmlns:p14="http://schemas.microsoft.com/office/powerpoint/2010/main" val="17666155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99EAE-166C-42DA-A48A-8F146536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50BE4-4FFA-4630-B4D2-0A68CFA6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입력과 출력 계약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E6FC0-001F-4138-BA37-C9BDABC6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C9691-79D4-40C9-B9CB-B12FD86E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431E5-B057-4D6E-954B-03EC3B89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A04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A1183-4802-49D2-9EEC-8845336C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요청서에서 허용 입력 추출하기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A29FA-181C-4568-9A85-DD88FF33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네 반환 문자열을 표로 쓰기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0AF63-98A3-4E11-9B67-2072922F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함수 호출 하나의 입력·출력 연결하기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51107-84B6-4981-9567-CB9ED3E7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task.md에 계약 작성하기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E8B6A-5688-4ACB-ABC9-56471FFA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입력 종류와 네 출력 상태를 명시한 계약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A915A-EEE2-4BCF-BD74-DEDDC020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함수 이름과 반환 문자열을 유지하는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1260056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32115-A9C2-4295-BD2E-040D0E28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C31F9-CB8C-424C-921D-7AB79DC6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정상·경계·오류 사례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29C45-EE40-4B90-8A91-BF27A0C4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2E612-CDB2-4929-AA48-0CD5452D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40371-3AAE-472B-A4A4-CD60D3DD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F6E0F-2DEB-4DCC-8A03-C1276DD9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검사 사례는 입력과 기대 결과를 한 쌍으로 적은 것입니다. 경계 사례는 규칙이 달라지는 바로 앞·같은 값·바로 뒤를 비교합니다.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8EAA0-93CB-4BFE-B0BB-0F04760A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627DE-E916-46BB-ADD4-1B91EFC6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평범한 22.5 하나가 통과해도 28에서 비교 기호가 틀린 문제는 드러나지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3699694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E7754-E7F6-470B-B6AE-79095DBE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B798F-CB7F-4897-BDBF-49B6C09F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정상·경계·오류 사례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6EE16-C848-4AF2-8208-CACF00BA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F2CB5-96EF-46DF-B776-55F6547F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7CE69-90E7-4D85-9AA6-A0A96DC1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2CCD6-E6FA-4FAF-A58F-90FD151E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27.9는 정상, 28 과 28.1은 주의입니다. 0은 유효하며 None은 미측정입니다.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F339A-AEB1-4C9E-BB67-7BF1A178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86F07-4C85-4BA2-8F12-C1F69FAF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글자 “뜨거움”을 0으로 바꿔 처리하면 오류 입력이 정상 기록으로 둔갑합니다.</a:t>
            </a:r>
          </a:p>
        </p:txBody>
      </p:sp>
    </p:spTree>
    <p:extLst>
      <p:ext uri="{BB962C8B-B14F-4D97-AF65-F5344CB8AC3E}">
        <p14:creationId xmlns:p14="http://schemas.microsoft.com/office/powerpoint/2010/main" val="15862028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EB490-34FC-465A-80F0-F6DAD7E0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결과 함께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13325-ACB8-4728-9D2B-90A1BE0D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검사 전에 정한 기대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CF050-F791-4415-9846-86A56A34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485FF-0174-4043-A269-75B0427C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524250"/>
                <a:gridCol w="5353050"/>
              </a:tblGrid>
              <a:tr h="619125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기대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이유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27.9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바로 아래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기준과 같음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null / None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값이 아직 없음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"뜨거움"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오류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숫자가 아님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숫자 0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6377F-E967-437F-A1D1-0825AFD7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기대값은 수정 코드를 본 뒤 맞추어 바꾸지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5162313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48318-AC6D-4E5A-9989-C4D5E081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9DFC0-F2D3-4698-BC7D-0DA9D8E0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정상·경계·오류 사례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B7DF4-F71B-4407-8FA2-F48CC6FB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C737F-8A9F-4125-82D5-758A3D27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92387-647F-4003-800F-BDE34496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A05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38131-7C2A-40CF-AF4A-8C787F7F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cases.json 아홉 입력 읽기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FAF60-4785-4F32-B820-90BDBA16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실행 전에 기대 상태 써 보기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B9511-2BD4-47C8-9231-E6B2F433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경계 세 사례를 묶기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29EF9-E80F-491A-A211-9282BDED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결과가 틀릴 때의 업무 영향을 설명하기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769F1-5E5C-40DB-8C98-06B95F7D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아홉 사례의 예상과 경계 근거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584D1-DB25-498A-8DB1-27343DD9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왜 28만 확인하지 않고 27.9와 28.1도 보나요?</a:t>
            </a:r>
          </a:p>
        </p:txBody>
      </p:sp>
    </p:spTree>
    <p:extLst>
      <p:ext uri="{BB962C8B-B14F-4D97-AF65-F5344CB8AC3E}">
        <p14:creationId xmlns:p14="http://schemas.microsoft.com/office/powerpoint/2010/main" val="10897582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1C7D7-15D1-43A7-8921-BE0338BF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5D46C-7BFD-4037-8497-D7453B91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검증 가능한 프롬프트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3929E-C2A6-4EE6-8552-C9B13630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7492C-EEE4-4D0D-9B9F-D73A2640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2AF85-7FE3-4939-9E5F-55BC8204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A116D-8B3A-4F80-958E-D7322A5C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프롬프트는 도구에게 전달하는 요청 문장입니다. 목표·입력·범위·유지 조건·확인 사례를 짧게 연결하면 모호한 칭찬 대신 확인 가능한 결과를 요구할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34F4E-B09F-421F-9E59-CBE68A2C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BF13D-E477-4B82-9956-0BBB9575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검사 방법을 먼저 적으면 도구가 스스로 완료라고 말해도 무엇이 확인됐는지 비교할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73690712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2158D-0F8D-43FC-8E2D-C65DB4FE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76732-4247-4B4C-981B-9C75661B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검증 가능한 프롬프트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B5022-F87F-461C-B86D-281D3663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43BCC-AE5C-4D7B-AD3C-5BED0AB6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32FF8-04A2-46E7-8386-6DB58856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898B5-D568-412B-99EA-60099221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“28 이상은 주의로 고치고 None은 미측정으로 남기며 아홉 사례를 실행해 결과를 보고해 주세요.”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74C99-B1E2-4C1A-B255-14B76B5A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6EFE2-62DD-4A19-B311-28F3C346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“완벽한 전문가 코드로 만들어”는 어떤 결과가 맞는지 판단할 기준이 없습니다.</a:t>
            </a:r>
          </a:p>
        </p:txBody>
      </p:sp>
    </p:spTree>
    <p:extLst>
      <p:ext uri="{BB962C8B-B14F-4D97-AF65-F5344CB8AC3E}">
        <p14:creationId xmlns:p14="http://schemas.microsoft.com/office/powerpoint/2010/main" val="11218636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62302-6EE3-4736-AD71-B8E0A9D8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B103D-53B9-4330-B3BF-A70C2E6A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검증 가능한 프롬프트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81E1D-5A43-4E44-A13F-D45467E1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F7282-EC27-4E00-9E22-0DBBCFC5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250D0-F0D6-4A19-B90A-DD68F349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A06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EE8F0-F568-4172-A111-975D84CC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work/task.md의 여섯 칸 채우기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0F1F3-60F0-42CB-8E93-127B945E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모호한 형용사 한 개를 구체 조건으로 고치기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1CBCB-688E-475C-BAFE-A42E7A90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짝이 요청만 보고 예상 결과 말하기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D7267-72CB-4A07-93EC-7173464A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해석이 갈린 문장 다시 쓰기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569F2-4AE1-4A6C-9ED4-7A657E25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입력·제약·검사 가능한 작업 요청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1F938-DC52-43A0-B29C-16FA6950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좋은 요청에 실행 전 기대 결과가 들어가는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74894081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37E98-6CCC-4D28-91A1-A93EAC48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구간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59A16-A00A-4201-A6EC-23DE6E8F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근거가 있는 요청서 ·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9BC56-47AA-43A7-9A7D-6A53F23A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5098C-5A21-4769-845E-110EFB67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설명할 대상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자기 말로 답할 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입력과 출력 계약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 이름과 반환 문자열을 유지하는 이유는 무엇인가요?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정상·경계·오류 사례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28만 확인하지 않고 27.9와 28.1도 보나요?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가능한 프롬프트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좋은 요청에 실행 전 기대 결과가 들어가는 이유는 무엇인가요?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4531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2C974-0828-48CB-BAF4-9B7B3AF6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18A74-392A-4DA3-872D-7509DDDB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변경 비교의 기호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4FBF0-F14F-40EB-B239-A414CBC3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E6BAE-D5A3-49D9-9817-0464D7BA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0FAA3-FAED-47F6-869A-FA60BBF5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BEFE2-93B8-49AE-B96D-F47D7185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diff는 전후 코드에서 빠진 줄과 새 줄을 보여 주는 변경 비교입니다. -는 이전 줄, +는 새 줄이며 코드의 빼기·더하기 연산과 다릅니다.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D0C51-8EBA-42C1-8A3A-B1D8F1D3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113A1-F2F9-4C9F-8AE1-503C1AD2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전체 파일을 외우지 않아도 요청이 어느 변경에 반영됐는지 확인할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4661060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35882-4484-4DB0-90AE-6BB31C6F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C576E-F34A-477E-AF31-C9360127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변경 비교의 기호 읽기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98BAE-5DAD-4DAF-AE37-E9697187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0330A-7D2C-4C82-97F9-E059D124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6A64A2-CD53-47A8-9E77-2352BFD7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DCBA0-95A3-4995-88C0-55CEC9B7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&gt;를 &gt;=로 바꾼 줄은 경계 28을 포함하도록 동작을 바꿉니다.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D36820-56FD-46E4-952E-4D8873C1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39958-5939-4E1C-B17A-CFD82366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주석만 “28 이상”으로 바뀌고 실제 비교가 &gt;이면 동작은 그대로입니다.</a:t>
            </a:r>
          </a:p>
        </p:txBody>
      </p:sp>
    </p:spTree>
    <p:extLst>
      <p:ext uri="{BB962C8B-B14F-4D97-AF65-F5344CB8AC3E}">
        <p14:creationId xmlns:p14="http://schemas.microsoft.com/office/powerpoint/2010/main" val="131551846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74C25-73E3-41EE-9F6C-1D8A05D4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코드 함께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E85B9-63DE-4D3A-A65D-4E09716A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그럴듯한 제안의 변경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0F61A-0411-403E-8256-E6D97146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68C2F-8A09-44B8-9F4E-4ADAB52B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4F171-CF92-40A8-905E-CFAF21F3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처음 코드와 달라진 줄을 직접 짚습니다.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BD563-B8BA-4CE0-A90C-76499042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EA103-F3AF-4F81-9443-6E8F9FD3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def classify(value, threshold=27):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value is None: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value = 0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value &gt;= threshold: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return "주의"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return "정상"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008DF-8109-4A5F-95F1-FF9D0D01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기준값 27로 변경, None을 0으로 변환: 요구와 다릅니다.</a:t>
            </a:r>
          </a:p>
        </p:txBody>
      </p:sp>
    </p:spTree>
    <p:extLst>
      <p:ext uri="{BB962C8B-B14F-4D97-AF65-F5344CB8AC3E}">
        <p14:creationId xmlns:p14="http://schemas.microsoft.com/office/powerpoint/2010/main" val="15711229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F8350-7936-4202-A780-4A17E0DF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1553D-AF05-469F-A222-8677E6EF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변경 비교의 기호 읽기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97C34-4974-444F-9866-D1D8406C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05986-0B0E-4592-A6FC-E69A07EC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74618-541A-4793-80D2-A854FB34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A07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E45D9-80E6-4B0E-9BDB-705FBE18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changes.diff에서 파일 이름 찾기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A4F74-6DAC-43A5-9AF4-56647C81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미측정·검사·경계 변경 줄 묶기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E73D4-422D-4E7B-AF19-1EE0F9D7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요청한 항목과 변경 한 곳 연결하기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712C2-2329-422D-9316-5FF22D00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문구 변경과 동작 변경 구분하기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06CFF-47A4-4862-8D4C-2E908527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요청과 실제 변경 줄의 대응 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CA575-3B26-4B53-9D64-A745BE52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diff의 +와 Python의 +는 어떤 차이가 있나요?</a:t>
            </a:r>
          </a:p>
        </p:txBody>
      </p:sp>
    </p:spTree>
    <p:extLst>
      <p:ext uri="{BB962C8B-B14F-4D97-AF65-F5344CB8AC3E}">
        <p14:creationId xmlns:p14="http://schemas.microsoft.com/office/powerpoint/2010/main" val="189318624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301B8-DFBA-4F1B-8ECB-BB6A9576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35FD3-6251-4A0F-BF3B-A7E5AA0E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설득력 있는 응답 검토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E7129-FD62-484B-807A-CAF2100D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09DA6-0763-4C60-9284-8ABBD51C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8F742-52BA-418B-8664-EF9D2A52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29A29-B387-4DBD-8CBC-18B56593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AI 응답은 설명이며 실행 증거 그 자체가 아닙니다. 코드를 바꿨다는 주장, 검사를 했다는 주장, 실제 결과를 각각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E1560-AC39-4879-B4B8-4D4AC69D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CAF1D-207C-4307-9C38-422CC842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자신 있는 문장 때문에 범위 밖 수정이나 누락된 검사를 지나칠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32567238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82853-2080-4DF2-AED3-EE046FB6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AC2C6-31CC-4CDE-9A9E-AF95CEBE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설득력 있는 응답 검토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999E2-17F4-47F1-B93D-83E1B8AC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BA22B-F326-49E5-A7B6-3F85CAFC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65D63-F4B8-458A-8DD5-0068110A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154A2-4AF5-45DD-BAE0-7D85B118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응답 A는 기준을 27로 바꾸고 None을 0으로 채웁니다. 요청의 28 유지와 미측정 보존에 어긋납니다.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A6E13-A26D-4D06-A4A3-55C86FCE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1B84F-2D94-4C3C-B639-BBE58AD2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“모든 문제 해결”이라는 문장이 있어도 어떤 입력으로 확인했는지 없으면 결론을 보류합니다.</a:t>
            </a:r>
          </a:p>
        </p:txBody>
      </p:sp>
    </p:spTree>
    <p:extLst>
      <p:ext uri="{BB962C8B-B14F-4D97-AF65-F5344CB8AC3E}">
        <p14:creationId xmlns:p14="http://schemas.microsoft.com/office/powerpoint/2010/main" val="186162192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ABFA7-C14F-4CBC-95B5-66AF408C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2E317-6B75-41E1-9A77-FDD60370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설득력 있는 응답 검토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BAE80-DA82-487A-A86A-C665EB95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7C6FD-EFA5-4FAE-93C8-F61085CD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CCBB7-A3A1-46A9-9CC4-71691837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A08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0FE01-E078-48C6-B39D-8690AF8F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응답 A와 코드 나란히 읽기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4A922-D684-4C1F-B591-EA35E86A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기준 변경과 빈 값 처리 표시하기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ED4FE-F327-4756-8793-6D5C23E6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요구 위반 두 개를 근거로 쓰기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1462F-1057-40D7-868C-6C38813F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승인 전 추가 확인 질문 작성하기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FA780-2716-40C9-96A9-B3D70A02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응답의 주장과 코드 근거를 분리한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4FB47-7D89-4F82-8DE0-D73F06AF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친절하고 자신 있는 응답도 왜 다시 확인하나요?</a:t>
            </a:r>
          </a:p>
        </p:txBody>
      </p:sp>
    </p:spTree>
    <p:extLst>
      <p:ext uri="{BB962C8B-B14F-4D97-AF65-F5344CB8AC3E}">
        <p14:creationId xmlns:p14="http://schemas.microsoft.com/office/powerpoint/2010/main" val="51669900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06F67-C785-43D6-B1A5-3A57EBE9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FAD74-9EE8-402D-9B6F-DA41A0CB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작업 복사본과 되돌림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A0456-F0CB-488A-8DAC-7D7087A3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78577-134D-445C-843C-CFB2F603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38B2A-7E19-4BBC-A278-AE2583F2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EF8EF-D59E-40B6-9C86-0B2E4B0D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작업 복사본은 원본을 남기고 수정 결과를 비교하기 위한 파일입니다. 저장한 파일과 실행한 파일의 경로가 같아야 변경의 효과를 볼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2B8FC-FB70-4656-80EF-01804A26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C7951-7323-4FB7-A869-35CCB462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같은 이름의 파일을 다른 폴더에서 실행하면 고쳤는데도 이전 결과가 나오는 것처럼 보입니다.</a:t>
            </a:r>
          </a:p>
        </p:txBody>
      </p:sp>
    </p:spTree>
    <p:extLst>
      <p:ext uri="{BB962C8B-B14F-4D97-AF65-F5344CB8AC3E}">
        <p14:creationId xmlns:p14="http://schemas.microsoft.com/office/powerpoint/2010/main" val="62649207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7C4F5-66D6-4DBD-8735-DBE5F89E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4A929-41D9-4D10-98D8-B21E88A1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작업 복사본과 되돌림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9E432-EC3E-4F6D-8E50-5CB10C92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7B180-D197-4828-AE7E-5BFB91A6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90194-894A-4488-95BF-25E28105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13644-6FC0-4C1E-85AA-C1BE0A28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work/classifier.py는 원본과 같은 시작 코드입니다. code/baseline.py는 비교용으로 유지합니다.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0E42C-6FBA-4796-8DB6-236DA2DF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D322E-A8CA-4054-B891-A4538C7F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원본까지 덮어쓰고 이 전 동작을 기억만 하면 변경 근거와 되돌릴 기준을 잃습니다.</a:t>
            </a:r>
          </a:p>
        </p:txBody>
      </p:sp>
    </p:spTree>
    <p:extLst>
      <p:ext uri="{BB962C8B-B14F-4D97-AF65-F5344CB8AC3E}">
        <p14:creationId xmlns:p14="http://schemas.microsoft.com/office/powerpoint/2010/main" val="145392994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57D9F-41E9-4FEE-AA3A-7EFDE990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E48A8-215C-438D-95F5-4A9980FA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작업 복사본과 되돌림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9B91B-5E18-4126-B367-0C536A6C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35F04-1757-45CF-A762-94B88FA3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A01A7-364E-41A9-AF6B-621DDEC4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A09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2A882-A960-4A5D-89CE-C11A013B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세 폴더 역할 적기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D2F92-F63D-42AC-AAF5-C427EF6B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work/classifier.py를 열어 원본과 대조하기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2CCB1-27BE-4581-B31C-2BA3D7A5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실행할 정확 경로 기록하기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32511-478B-44BF-A290-F3348810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수정전 사본과 복구 방법 적기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25291-6133-4BFD-882F-42967E2A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원본·작업본·실행 경로와 복구 기준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7B6F1-3FE6-41A1-A5B9-70A11074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파일 이름이 같은데 다른 결과가 나올 수 있는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204845211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67319-D188-42D1-8C0C-4ED5023D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구간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6168A-62B8-4979-82CA-EC43ECB3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변경된 코드 읽기 ·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3F95D-4F1B-4592-B3F4-C087A037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49016-8639-439A-848A-2C8311D0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설명할 대상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자기 말로 답할 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비교의 기호 읽기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diff의 +와 Python의 +는 어떤 차이가 있나요?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설득력 있는 응답 검토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친절하고 자신 있는 응답도 왜 다시 확인하나요?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복사본과 되돌림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이름이 같은데 다른 결과가 나올 수 있는 이유는 무엇인가요?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829068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BC51B-3303-4326-BDEA-2873403E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48462-8F5A-4C13-893A-8530B0A0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기준 코드의 실제 실패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2B94A-CC16-4607-8739-BC3896A2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25A2E-E912-4312-A143-1115BF07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56540-FDB1-45D8-AA46-78E02E60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74E66-1330-47A4-A56F-3650104A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실패 검사는 실수로 망가진 수업이 아니라 요구와 현재 동작의 차이를 드러내는 관찰입니다. 검사 프로그램은 기대와 실제를 나란히 비교합니다.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19961-4E59-482F-8E9E-4FC3D44D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40A1B-DF0D-4D79-A88E-2216A937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수정 전 실패를 재현해 두면 수정 후 무엇이 달라졌는지 확인할 기준이 생깁니다.</a:t>
            </a:r>
          </a:p>
        </p:txBody>
      </p:sp>
    </p:spTree>
    <p:extLst>
      <p:ext uri="{BB962C8B-B14F-4D97-AF65-F5344CB8AC3E}">
        <p14:creationId xmlns:p14="http://schemas.microsoft.com/office/powerpoint/2010/main" val="70615219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2F2F5-870F-4549-986F-82A153AD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6A34A-B092-4352-9296-F69EC367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기준 코드의 실제 실패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F0B80-3635-469F-A4E8-F4D55CAA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FCFE1-9149-4137-ABF2-EB37C511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E0F71-2FCA-4A08-8679-8139EEDC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11724-D997-4F14-9637-4771BF9B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python code/check_cases.py code/baseline.py를 실행하면 경계와 미측정 등의 차이가 FAIL로 나옵니다.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AFF38-A9AC-4B17-9E85-D5468EA2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C8C64-F3A9-4D86-ADED-E2938AE2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종료 코드 1을 보고 무조건 재설치하지 않습니다. 이 검사기는 실패 사례가 있으면 의도적으로 1을 반환합니다.</a:t>
            </a:r>
          </a:p>
        </p:txBody>
      </p:sp>
    </p:spTree>
    <p:extLst>
      <p:ext uri="{BB962C8B-B14F-4D97-AF65-F5344CB8AC3E}">
        <p14:creationId xmlns:p14="http://schemas.microsoft.com/office/powerpoint/2010/main" val="121097276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57D0D-478B-4E30-923F-30C93333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결과 함께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DB5BF-4C3F-475A-8CC0-E4B99559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실제 실행 결과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D0099-156C-4645-AED3-DE90B137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23BA6-A99B-46DF-9212-663050D0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3143250"/>
                <a:gridCol w="2952750"/>
                <a:gridCol w="3162300"/>
              </a:tblGrid>
              <a:tr h="619125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처음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A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27.9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None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True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오류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6191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통과 수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3/9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3/9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9/9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3F0C6-48E4-419C-A1C6-62728616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제안의 설명과 실제 결과를 별도로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60932033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028FF-9CFB-45C2-AAF0-3E71CF22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75B3F-03E7-47C6-ABC5-092E799F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기준 코드의 실제 실패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9F55E-F5A1-47AC-B9AF-156108D2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F6F1C-EF77-4601-9251-44E6F47D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A6661-5DE1-4CF0-AE75-F7EF2D62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A10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07F29-4307-4D14-ADF1-DF3BE66F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전체 검사 코드와 줄 해설 읽기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72147-306C-4DD0-BCC6-2D1AE522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원본 실행 명령 확인하기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350BF-89C0-4D39-9C95-F063D545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아홉 줄 결과에서 FAIL의 입력 찾기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B7C5B-1CE6-4829-BA7F-7EE166AA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예상과 실제 차이를 표에 남기기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2D8A8-EB8E-41B6-B34F-588BB293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기준 코드의 실제 결과와 실패 원인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16C9A-D3F9-4235-B45C-C007BA49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테스트가 실패한 것과 실행환경이 고장 난 것은 어떻게 구별하나요?</a:t>
            </a:r>
          </a:p>
        </p:txBody>
      </p:sp>
    </p:spTree>
    <p:extLst>
      <p:ext uri="{BB962C8B-B14F-4D97-AF65-F5344CB8AC3E}">
        <p14:creationId xmlns:p14="http://schemas.microsoft.com/office/powerpoint/2010/main" val="46009239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7DF2D-015A-4662-B1C8-11E35B33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9C9B3-0B43-4447-B969-6D7312B2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경계 비교 기호 수정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7C9F1-967E-41C7-82CA-399EA01A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73446-CA98-48DE-B765-BCC00E5F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C995F-7D1A-4F0A-B939-2DE704DE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E7042-E142-4091-9BCE-C242A05F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&gt;는 기준보다 큰 값, &gt;=는 기준과 같은 값까지 포함합니다. 말로 쓴 “이상”과 코드 비교 기호를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C3AFA-DC12-402F-B84C-AFF12FAA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7A963-7B24-475F-BFE2-107771BB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경계 한 글자는 업무 분류를 바꿉니다. 정상 값만 시험하면 이 차이를 놓칩니다.</a:t>
            </a:r>
          </a:p>
        </p:txBody>
      </p:sp>
    </p:spTree>
    <p:extLst>
      <p:ext uri="{BB962C8B-B14F-4D97-AF65-F5344CB8AC3E}">
        <p14:creationId xmlns:p14="http://schemas.microsoft.com/office/powerpoint/2010/main" val="109088434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5045D-C18F-496F-B232-EDBC5856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9B523-324A-4060-8BD4-0B244EDC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경계 비교 기호 수정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82D81-308D-46BF-8D91-DFE4419F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0C2BF-AF16-4E20-B7B8-0BAAB188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91A6F-F32E-4F76-813A-139A00EC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CF5E6-37BC-4973-AB75-A87AC4FD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작업본의 value &gt; threshold를 value &gt;= threshold로 바꾸면 28의 결과가 정상에서 주의로 달라집니다.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14319-159C-439A-9D05-C249EA5C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CE841-B727-481D-85C2-0761D241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기본 threshold를 27로 내리는 것은 같은 수정이 아닙니다. 27.9까지 주의가 되어 규칙을 바꿉니다.</a:t>
            </a:r>
          </a:p>
        </p:txBody>
      </p:sp>
    </p:spTree>
    <p:extLst>
      <p:ext uri="{BB962C8B-B14F-4D97-AF65-F5344CB8AC3E}">
        <p14:creationId xmlns:p14="http://schemas.microsoft.com/office/powerpoint/2010/main" val="69628387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00CF9-6FC4-40EC-8EA1-3286B0B6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F9798-7F17-47F5-B5FC-E23880FE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경계 비교 기호 수정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26053-FF1C-4471-9B08-3B9A2343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89CEF-716D-4367-9677-10EDF213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10043-5351-4386-8FD7-0D386362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A11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EF822-E5FA-4C39-B3D7-D0A099B6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수정 전 28결과 기록하기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2EF9E-9C37-4506-B7EB-8C661904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work의 비교 기호 한곳 수정하기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B6ABB-E999-4484-A03E-6513FF6A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저장 후 같은 검사 다시 실행하기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CF159-AEB8-4A07-90DB-AB1D9A12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27.9·28·28.1 변화 비교하기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B7F4C7-FADC-4AF1-A7EA-6248FF52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경계 수정 전후의 세 입력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35257-A1C1-4F5C-91A9-6263FC03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기준값을 바꾸는 것과 비교 기호를 바꾸는 것은 왜 다른가요?</a:t>
            </a:r>
          </a:p>
        </p:txBody>
      </p:sp>
    </p:spTree>
    <p:extLst>
      <p:ext uri="{BB962C8B-B14F-4D97-AF65-F5344CB8AC3E}">
        <p14:creationId xmlns:p14="http://schemas.microsoft.com/office/powerpoint/2010/main" val="163770036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00D2F-5FB3-4B04-B953-7F92463E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43F5C-1827-4ADF-B6F8-F5B21C4E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누락과 잘못된 입력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F1F1C-455E-45AC-9672-3600B60B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61B53-0F55-411E-8E4C-7EF15E71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66396-96AB-4AE7-8325-F50EE966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92A24-F775-40BC-8AB2-736090A3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 검사는 자료가 함수의 약속에 맞는지 살펴보는 것입니다. 값이 없는 경우와 종류가 틀린 경우, 범위를 벗어난 경우를 따로 처리합니다.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A319D-709B-4A06-B935-32F4A176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A6BB9-D64F-4D67-B05E-184745F3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없음을 0으로 채우면 실제 0 측정과 구분할 수 없고 문자에 비교 연산을 하면 실행 오류가 납니다.</a:t>
            </a:r>
          </a:p>
        </p:txBody>
      </p:sp>
    </p:spTree>
    <p:extLst>
      <p:ext uri="{BB962C8B-B14F-4D97-AF65-F5344CB8AC3E}">
        <p14:creationId xmlns:p14="http://schemas.microsoft.com/office/powerpoint/2010/main" val="54275656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78186-6CCE-4E65-8E1A-C097B162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958C7-8F78-4FDF-9D48-7BC5C528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누락과 잘못된 입력 처리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F2723-3E5A-4013-A30F-3A835199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67C5D-4A05-4382-AED7-7F757D89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8E0F1-9C16-45E7-977E-2C957E18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D7FF1-281D-4DE4-A839-2E6B0261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reviewed.py는 None →미측정, 숫자 아님 →입력 오류, 범위 밖 →입력 오류를 먼저 검사합니다.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D17059-048E-4E49-87BA-C377071C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599026-7E9E-43FE-B699-6AC5BCEB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Python에서 bool은 숫자와 관련된 특성이 있지만 이 업무 계약은 온도로 받지 않으므로 type을 정확히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53584761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DECC2-D5F9-43B8-B5A6-EBD028EF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코드 함께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B59E0-B8F0-4386-892A-48700A05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누락과 자료형 먼저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9E42F-B525-4B53-9AEA-DE183881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7C834-E107-45AD-8483-429DF058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975EC-3299-4DC7-BF8F-AB9E7182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앞 조건에서 반환하면 아래 조건은 실행하지 않습니다.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DA10A-133F-43DB-8BE4-99F1DE45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9F101-FFA3-4EE4-8F53-813F345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def classify(value, threshold=28):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value is None: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return "미측정"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type(value) not in (int, float):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return "입력 오류"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not 0 &lt;= value &lt;= 50: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return "입력 오류"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value &gt;= threshold: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return "주의"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return "정상"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CB873-39C5-447A-9B2E-621B4168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숫자 범위 0~50도 이번 수업의 입력 계약입니다.</a:t>
            </a:r>
          </a:p>
        </p:txBody>
      </p:sp>
    </p:spTree>
    <p:extLst>
      <p:ext uri="{BB962C8B-B14F-4D97-AF65-F5344CB8AC3E}">
        <p14:creationId xmlns:p14="http://schemas.microsoft.com/office/powerpoint/2010/main" val="162291833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A6C1A-B3A7-4938-B05B-B0982B19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63155-7188-4374-A4D7-FFF5550D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누락과 잘못된 입력 처리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1F696-F5B2-4745-B359-B8C7049B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1D822-F093-43FD-B49E-C011E4EA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95B85-870E-4D07-B15D-BFF62B5F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A12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9C564-62D7-4ACD-8895-F48DDD60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완성 검사 세 부분 줄별로 읽기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92D62-5D6B-4EA4-83B5-591E3365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작업본에 제공된 검사 구간 반영하기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DC1B7-7102-436C-AAD8-DEE46A2B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0·None·True·51결과 예상하기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FE488-1398-4811-BC14-97BB3A35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검사기로 실제 결과 확인하기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2EE31-C4A0-43D1-94DA-907850F5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값 없음·종류·범위·경계가 구별된 분류기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5B1F7-210C-424D-86E2-A17E3BB0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값 검사를 비교보다 먼저 하는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141229423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E444E-1C45-4844-AA23-93C83999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구간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F898D-AF04-4DFC-A4C6-77FD1E80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예상과 실제 결과 ·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C6825-9B0A-4096-8BE1-BF95BD37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472ED-DB9C-4E6F-819F-6DFD1220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설명할 대상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자기 말로 답할 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코드의 실제 실패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테스트가 실패한 것과 실행환경이 고장 난 것은 어떻게 구별하나요?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경계 비교 기호 수정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기준값을 바꾸는 것과 비교 기호를 바꾸는 것은 왜 다른가요?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누락과 잘못된 입력 처리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 검사를 비교보다 먼저 하는 이유는 무엇인가요?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89303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89149-6803-4414-9A87-8C23C99C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ABAF7-B59D-4544-8B38-1B83548E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재현 가능한 오류 보고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20247-72DD-47C9-A190-F1020FAD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6C4B2-DD7C-421E-9628-D28F53FE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1B148-019E-4D7D-911A-77761D65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FC7DF-1A45-4230-824A-28C8FE98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오류 보고는 실제로 한 행동·입력·기대한 결과·실제 결과를 다른 사람이 다시 따라갈 수 있게 적은 문서입니다.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1122E-FFEA-402F-B285-9956D9EA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2709B-C120-43AF-88EC-5F4CF226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“안 돼요”보다 파일 경로와 입력 하나를 제시하면 재현 범위가 좁아지고 원인 추측을 줄입니다.</a:t>
            </a:r>
          </a:p>
        </p:txBody>
      </p:sp>
    </p:spTree>
    <p:extLst>
      <p:ext uri="{BB962C8B-B14F-4D97-AF65-F5344CB8AC3E}">
        <p14:creationId xmlns:p14="http://schemas.microsoft.com/office/powerpoint/2010/main" val="162101226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4D8B8-9B47-4279-8C15-46B582ED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12EC5-B3E4-4042-8502-9E4618E2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재현 가능한 오류 보고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B6066-97F6-4097-841B-D30F52F7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87E3A-1C22-4671-AD20-066A377A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30FDF-6DF6-46A0-A5E4-BF227404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2B73E-32F9-4393-B9A4-7F48D1D5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 28, 기대 주의, 실제 정상,baseline.py 실행이라는 네 정보가 있으면 경계 문제를 재현할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D12CF-655F-43A4-A642-EEBA87C4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A74A2-4FB0-4CBE-B739-CC4EB3BC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관찰하지 않은 원인을 확정해“AI가 고장 났다”고 쓰면 다음 확인 행동이 불명확합니다.</a:t>
            </a:r>
          </a:p>
        </p:txBody>
      </p:sp>
    </p:spTree>
    <p:extLst>
      <p:ext uri="{BB962C8B-B14F-4D97-AF65-F5344CB8AC3E}">
        <p14:creationId xmlns:p14="http://schemas.microsoft.com/office/powerpoint/2010/main" val="85641674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22EC5-0D85-426F-B752-5187A8E0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0BEF3-E5CC-4AC9-B029-F2840A42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재현 가능한 오류 보고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E48D6-85E2-49A8-B5E5-D2816CC3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B38D6-F485-4823-9AD5-746FFD11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6BA69-6F11-417E-A0BD-AFFF8C19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A13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39B45-3D5B-4186-9A83-1A568142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실패한 사례 하나 고르기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885DE-DE32-487E-8707-A6113AB6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파일·명령·입력·기대·실제 쓰기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9F758-9E45-4046-A636-A6190EE0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추정 원인과 관찰 사실 분리하기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51366-5D53-4811-9ACE-8F3B057D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짝이 같은 문제를 재현할 수 있는 지 읽기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784B1-4970-40C9-B3AB-AD2B1053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따라 할 수 있는 오류 보고 한 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E296B-1DA0-463C-A209-32CD73E2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관찰 사실과 원인 추정은 왜 나누어 쓰나요?</a:t>
            </a:r>
          </a:p>
        </p:txBody>
      </p:sp>
    </p:spTree>
    <p:extLst>
      <p:ext uri="{BB962C8B-B14F-4D97-AF65-F5344CB8AC3E}">
        <p14:creationId xmlns:p14="http://schemas.microsoft.com/office/powerpoint/2010/main" val="86034144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1A68A-3A6B-4541-A4EB-44789324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17D38-2A36-476F-B0CD-D73FFAC1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수정 요청을 좁히기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78B39-A276-49DF-8D58-A8D9DB8D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A430E-E733-45D6-8BEC-EA844259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EEDE5-1561-4E29-B99F-12CCB93F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7562E-57D5-4C6B-8AEB-1232F45D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추가 요청은 실패한 조건과 유지할 조건을 함께 적는 것입니다. 문제가 하나 발견됐다고 전체 프로그램을 다시 만드는 요청으로 넓히지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5B2CF-E248-4E88-A3EF-F0585415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39C61-26E6-4825-A8AE-435D964E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작은 수정은 이미 통과한 사례를 보존하는지 재확인하기 쉽습니다.</a:t>
            </a:r>
          </a:p>
        </p:txBody>
      </p:sp>
    </p:spTree>
    <p:extLst>
      <p:ext uri="{BB962C8B-B14F-4D97-AF65-F5344CB8AC3E}">
        <p14:creationId xmlns:p14="http://schemas.microsoft.com/office/powerpoint/2010/main" val="213291494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2F7C3-C3EA-4C2A-B23D-F0F5B7BF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60D64-4F64-4CDD-A798-C121F4BB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수정 요청을 좁히기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76B19-64DE-4131-8A49-AC1D2111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F023F-2F9B-4913-A614-DA25821D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7A359-B4D7-443C-8034-93A53560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A822D-35D9-457A-94D8-F8F86C7C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“28의 기대는 주의인데 정상입니다. 기준 28과 함수 이름을 유지하고 비교 조건만 검토해 주세요.”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9EFF5-C10F-4664-A0F1-1B8282EC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A909B-0B7A-44B2-B384-B45213F3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“전부 새로 고쳐”는 빈 값 처리나 이름까지 바꾸어 새 문제를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8604635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2225F-A59F-4808-AD9B-11BFA18D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CF72C-2B1A-461A-B174-542072F2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수정 요청을 좁히기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30F38-01F3-4A9C-827B-E0EDD9BA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2FB25-4A12-44A9-850E-96D13621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46ABC-C6CF-4566-980E-111862CD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A14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E8018-E344-4D13-9940-CEC76DF0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이전 실패에서 추가 요청한 문단 쓰기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7013C-5252-4F58-82F8-CBABD25B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수정 대상과 유지 대상 분리하기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6730D-2871-4357-ADA2-92E64B72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응답 B가 주장한 범위 읽기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D8CD6-4AF3-4479-906E-93EE65F8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실행으로 확인할 주장 표시하기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40059-43A4-4724-8EDF-D0C25F8E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증상·기대·수정 범위가 좁혀진 재 요청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4BACF-FBFD-425C-80CF-61D8406B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추가 요청에서도 유지할 조건을 다시 적는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69244867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5F2F4-A769-43FC-B0D1-251AEFEA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52573-AC64-4F23-BC67-39F9E6BE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회귀 확인과 증거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5B638-3C66-4415-A70F-CB2612E9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BA87C-C1A2-4640-BF1D-AC64D1A0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E60B5-04C7-458E-96E1-72E13559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D9CBE-0D9A-43A9-8DDF-1430C398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회귀는 수정한 뒤 예전에 맞던 동작이 다시 틀리는 현상입니다. 수정한 사례 뿐 아니라 관련된 기존 사례도 함께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3C96F-B9D3-4BBE-938F-0CF49F1D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244ED-7AC4-44E5-9DB0-28AFB506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경계를 고치며 기준을 27로 바꾸면 28 은 맞아도 27.9가 틀려집니다.</a:t>
            </a:r>
          </a:p>
        </p:txBody>
      </p:sp>
    </p:spTree>
    <p:extLst>
      <p:ext uri="{BB962C8B-B14F-4D97-AF65-F5344CB8AC3E}">
        <p14:creationId xmlns:p14="http://schemas.microsoft.com/office/powerpoint/2010/main" val="132612960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EAE9F-1A46-4888-987E-0260B152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6A1A9-DEBE-4B5E-820F-E0A65658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회귀 확인과 증거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D5519-D7EC-4560-BA59-A081F7DA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1B6A3-9BC3-4B17-9EB9-2E1C0A54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00D62-3D61-4F8C-BA6F-DEBFB3B8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10CD6-C190-46D1-B4C5-FD2104C1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baseline·proposal_a·reviewed의 아홉 결과를 같은 기대 값으로 비교합니다.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96C0B-D7B2-4AAD-AD5B-EC577910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2747C-783C-4373-8ECC-913FC5FB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검사를 새 코드에 유리하게 바꾸거나 통과 한 줄만 보고하면 근거가 사라집니다.</a:t>
            </a:r>
          </a:p>
        </p:txBody>
      </p:sp>
    </p:spTree>
    <p:extLst>
      <p:ext uri="{BB962C8B-B14F-4D97-AF65-F5344CB8AC3E}">
        <p14:creationId xmlns:p14="http://schemas.microsoft.com/office/powerpoint/2010/main" val="130491759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05BD4-DBD8-4911-A948-3B17EA38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952D2-8D77-47C5-8F46-2D0832C1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회귀 확인과 증거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8BCB5-3541-46A0-A2EA-7A446158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7B072-0F58-4CE3-8004-F5AC02D1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CB14A-34C6-4F8A-8AF0-18D6A7E5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A15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770C5-D96B-404F-A45F-64136645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세 후보에 같은 검사 실행하기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2C9E7-B28A-481D-809C-7E9B87DD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통과 수와 실패 입력 표로 비교하기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0FC9F-9C7D-4126-9B47-8A1DEC7F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요구 위반과 실패의 연결 쓰기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2160D-31BD-4D2F-A89D-3D9CAD60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원본 검사 파일이 유지됐는지 확인하기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2316E-D217-4AB4-9D47-483E3E35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세 후보의 비교표와 선택 근거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7C9C7-BC5C-46B3-A22F-94B5DC93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통과 수만 같으면 같은 품질이라고 할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167257005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F10B7-7105-4663-AE6F-35C7B1DC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구간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9748E-DAB7-4AA4-AC95-C4E58C41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오류 재현과 수정 ·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F7057-9128-44F3-9083-24E8DA79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AD6C1-C660-4A85-8FAB-EED45B4B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설명할 대상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자기 말로 답할 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 가능한 오류 보고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관찰 사실과 원인 추정은 왜 나누어 쓰나요?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 요청을 좁히기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요청에서도 유지할 조건을 다시 적는 이유는 무엇인가요?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회귀 확인과 증거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통과 수만 같으면 같은 품질이라고 할 수 있나요?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2411913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26814-A281-46FA-A3FF-D6BC70CA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D077C-9A4F-4455-8370-79CA6D16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조건의 영향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DE41C-52AC-4436-9076-5AA8C16F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05648-2683-430D-9BF8-FEDDFBBA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025B8-27C5-4DBE-B88A-98C798F9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EA665-14A7-47C0-9D62-79EF7E10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업무 조건은 기존 규칙과 독립인지 먼저 확인한 뒤 작은 사례로 설계합니다. 오늘은 추가 코드보다 변경이 영향 줄 입력을 설명하는 일에 집중합니다.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5D0CB-0E8C-41BF-8D59-E4970AD7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60575-4831-40D1-93BF-D27285E0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특수 기준을 추가하면 조건 순서와 기존 계약을 함께 검토해야합니다.</a:t>
            </a:r>
          </a:p>
        </p:txBody>
      </p:sp>
    </p:spTree>
    <p:extLst>
      <p:ext uri="{BB962C8B-B14F-4D97-AF65-F5344CB8AC3E}">
        <p14:creationId xmlns:p14="http://schemas.microsoft.com/office/powerpoint/2010/main" val="1581960108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5B5EB-B491-4FF0-B9D6-D8B1F41F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4DFAE-750C-40BF-B1C3-03D69553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조건의 영향 분석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75698-491B-4E86-BFF0-03856A63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7FB19-DBA6-440F-B3E0-BA454D8C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2B7CC-5B48-48A0-A726-331FDB43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00181-452C-4C5F-A245-F077D7EA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담당자가 기준을 30으로 바꿔 달라고 새로 요청했다면 29.9·30·30.1을 새 경계로 예상합니다.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2B7B9-FF78-45CC-8157-1AE29038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F0BD0-C282-43FE-8432-13CC7383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승인된 새 요청 없이 기준을 바꾸는 것과 업무 담당자가 조건을 변경한 것은 다릅니다.</a:t>
            </a:r>
          </a:p>
        </p:txBody>
      </p:sp>
    </p:spTree>
    <p:extLst>
      <p:ext uri="{BB962C8B-B14F-4D97-AF65-F5344CB8AC3E}">
        <p14:creationId xmlns:p14="http://schemas.microsoft.com/office/powerpoint/2010/main" val="1561301455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4786C-4C8B-4F44-AAE4-949562BC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0F09A-82AC-4FCE-9529-EF993B6D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조건의 영향 분석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13B62-7B25-4CFE-B352-35440DCD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2018C-444A-4F22-9CF5-7D48A9CD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84C89-5F75-4EF6-8B26-F9D29D4B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A16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4C05C-7791-40FF-9273-22D399BE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기준 30이라는 새 요청서 작성하기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D2FA9-6C82-486F-B298-B3DBDA60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영향 받을 기대 값 찾기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72DD5-F1CB-4431-AE11-9A9F1818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29.9·30·30.1의 예상 작성하기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227D7-2973-4BCB-BAB1-CE2ABC60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기본 기준 28 을 유지할지 인수로 전달할지 설명하기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AFEA7-83E0-4BEB-8E23-CFEA21C3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추가 조건의 영향 표와 검증 계획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7CA76-9EA4-4302-B1A9-6EE8BAA0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새 조건에서 어떤 기존 검사를 그대로 써야하나요?</a:t>
            </a:r>
          </a:p>
        </p:txBody>
      </p:sp>
    </p:spTree>
    <p:extLst>
      <p:ext uri="{BB962C8B-B14F-4D97-AF65-F5344CB8AC3E}">
        <p14:creationId xmlns:p14="http://schemas.microsoft.com/office/powerpoint/2010/main" val="42658616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6A49D-E7C6-41EA-980D-E20CB0F8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CA97B-63DE-47C5-9CE6-1E2269EC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동료의 변경을 설명하기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8753F-F6E0-4CA6-A3A0-4698E99E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ADF90-C6E8-4AFA-B091-D35A37A7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34BB4-C986-4929-9018-997ABEDC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0B750-623C-4952-90E2-A120099A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동료 검토는 작성자의 설명 없이도 요구·변경·검사 근거를 찾을 수 있는지 확인하는 과정입니다.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4F395-8666-4B18-B779-6FFC5C2E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30C6C-9A49-47CE-ABE4-B8B41269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다른 사람에게 설명할 수 없다면 어떤 줄을 왜 바꿨는지 자신도 놓친 부분이 있을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868290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C5F53-13C8-4444-B0CD-CC0F9FB1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2293E-3486-41B0-B44A-21AF121E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동료의 변경을 설명하기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37790-6ED5-4E3A-B018-93145AF1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3324C-1F19-43F3-B100-D457B729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7D452-B579-4C96-B650-0CC15C18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BB0E5-81A8-4743-9833-CFB959E1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짝은 None 처리와&gt;=조건을 찾고 요청서 및 검사 입력을 한 곳씩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F2F90-47EB-4117-9D88-6A210A7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6E047-5551-49A5-8589-1F953CEB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“테스트됐음”한 줄만 있으면 실행한 대상과 입력이 불명확합니다.</a:t>
            </a:r>
          </a:p>
        </p:txBody>
      </p:sp>
    </p:spTree>
    <p:extLst>
      <p:ext uri="{BB962C8B-B14F-4D97-AF65-F5344CB8AC3E}">
        <p14:creationId xmlns:p14="http://schemas.microsoft.com/office/powerpoint/2010/main" val="1383164801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25CDB0-108C-4F73-BFCB-AA125361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F9B51-1AE9-4951-9372-3A3D4B9D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동료의 변경을 설명하기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AC382-2EB2-49C3-A4EF-9A30C388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15FBA-0CF6-4EEC-8592-967B1D1A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D573C-A666-4815-BB30-3064EC1C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A17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AD5D6-DED0-4F21-BF7D-41F884E9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작업본과 검토 노트를 짝에게 전달하기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93853-AF80-416E-AAEC-725F7158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요구 두 개에 대응하는 줄 찾기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0B3E6-7450-4C89-8AC6-7853DDCD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검사 결과 한 개를 재현하기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2C964-9376-4843-B378-CC99ABF9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부족한 설명하나 보완하기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58923-46F3-4D44-9398-3ED1E226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요구·줄·결과를 이어 설명한 동료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08992-2F89-4EBC-9F2B-16CC56BB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동료가 다시 확인하려면 어떤 정보가 있어야하나요?</a:t>
            </a:r>
          </a:p>
        </p:txBody>
      </p:sp>
    </p:spTree>
    <p:extLst>
      <p:ext uri="{BB962C8B-B14F-4D97-AF65-F5344CB8AC3E}">
        <p14:creationId xmlns:p14="http://schemas.microsoft.com/office/powerpoint/2010/main" val="39603907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00E1C-FEF2-4F04-9CFA-1E8ED8F1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1E8A1-9E8E-4FE6-A434-B82CEDFD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완료 범위와 다음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56348-1C47-4D73-8DE0-368CDD0F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43AEA-6441-4939-97B0-9564ADDE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F55B5-66AA-49BA-A0BC-70EDE114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993AC-8EEE-49A8-988C-012C0E84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인수인계는 요청한 일, 실제 바뀐 것, 확인한 증거, 남은 조건을 다음 사람이 이해할 수 있게 남기는 일입니다.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03060-41E6-4A0D-9DD8-1B69C932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필요한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132C1-5F16-4728-AB41-EDE5B8BD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합성 데이터 검사와 실제 센서 운영은 다른 범위입니다. 확인하지 않은 서비스 호출이나 장비 연결을 완료라고 쓰지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934110692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1D7E5-1AB9-415B-AE99-0BBB0FD5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비교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ABF52-B0D8-400F-A73D-9E80938A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완료 범위와 다음 확인 ·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BAF38-DBBD-462E-83CD-C06AA0A6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42B37-5960-4E9D-B4B8-E744F61B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6AF28-5E0F-4EA3-A152-F1134E42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38FE5-C591-41E1-8FA0-6995F4CD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분류기 아홉 사례 통과·오프라인 응답 검토·실제 AI 호출 미 수행을 함께 적습니다.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D9266-4CA0-4658-802F-1C9D5EC6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주의할 반례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4F948-D5A0-4CC4-B942-EF3CCF9E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AI가 코드를 썼다고 가정하거나 검사 통과만으로 실제 안전 시스템 완성이라고 표현하지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716660500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B4D55-3933-4E1B-839E-E67CB5DF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학생 작업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B9060-5419-4A3A-822F-A7A4DCAE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완료 범위와 다음 확인 ·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933FF-0E62-47C9-A448-D9197A2C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  /  이 화면의 학생 작업 8분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DE72A-04E0-4FF1-B036-F5A5CE40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7419A-5A55-4086-8D47-F6CF3CC1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A18 입력 카드와 지정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9344A-38D9-4267-8F09-2AAE706D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세 문장 인계 작성하기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7DB15-3A62-498C-AD97-23B3608D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실제 AI 호출 여부 명시하기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C3873-C186-4897-A312-985AF675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미검증 조건 두 개 쓰기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BDF97-C432-48E1-92CB-364789D9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새 질문:0과 None·기준과 경계·설명과 증거 답하기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1299A-D569-4E01-80EA-8806B578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완료·증거·미확인 범위가 있는 인계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60EAB-BA9C-42A3-9BDC-B802F743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자료 작성과 실제 운영 검증을 어떻게 구분하나요?</a:t>
            </a:r>
          </a:p>
        </p:txBody>
      </p:sp>
    </p:spTree>
    <p:extLst>
      <p:ext uri="{BB962C8B-B14F-4D97-AF65-F5344CB8AC3E}">
        <p14:creationId xmlns:p14="http://schemas.microsoft.com/office/powerpoint/2010/main" val="682787946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0CFC7-1543-47B9-87E5-3A1D87D6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구간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228F8-C662-4C8E-8BE0-286DD92B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요청과 인수인계 ·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133B2-1753-4206-8EF8-1F5E13FA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8D35C-0F1A-4CCD-9B8D-5416B24D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설명할 대상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자기 말로 답할 질문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조건의 영향 분석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조건에서 어떤 기존 검사를 그대로 써야하나요?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동료의 변경을 설명하기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동료가 다시 확인하려면 어떤 정보가 있어야하나요?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범위와 다음 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작성과 실제 운영 검증을 어떻게 구분하나요?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360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2026-09-25T16:32:54.5940000Z</dcterms:created>
  <dcterms:modified xsi:type="dcterms:W3CDTF">2026-09-25T16:32:54.5940000Z</dcterms:modified>
</coreProperties>
</file>