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eee13591534c01" /><Relationship Type="http://schemas.openxmlformats.org/officeDocument/2006/relationships/extended-properties" Target="/docProps/app.xml" Id="R2153a4f9b1ca45c1" /><Relationship Type="http://schemas.openxmlformats.org/officeDocument/2006/relationships/officeDocument" Target="/ppt/presentation.xml" Id="R5806a4f78cce4a76" /></Relationships>
</file>

<file path=ppt/presentation.xml><?xml version="1.0" encoding="utf-8"?>
<p:presentation xmlns:p="http://schemas.openxmlformats.org/presentationml/2006/main">
  <p:sldMasterIdLst>
    <p:sldMasterId xmlns:r="http://schemas.openxmlformats.org/officeDocument/2006/relationships" id="2147483648" r:id="R3a09902d49ee4c23"/>
  </p:sldMasterIdLst>
  <p:notesMasterIdLst>
    <p:notesMasterId xmlns:r="http://schemas.openxmlformats.org/officeDocument/2006/relationships" r:id="R7e996667d00143c7"/>
  </p:notesMasterIdLst>
  <p:sldIdLst>
    <p:sldId xmlns:r="http://schemas.openxmlformats.org/officeDocument/2006/relationships" id="256" r:id="Rcdcf23bf0c2d4cf2"/>
    <p:sldId xmlns:r="http://schemas.openxmlformats.org/officeDocument/2006/relationships" id="257" r:id="Rad58943a4697487a"/>
    <p:sldId xmlns:r="http://schemas.openxmlformats.org/officeDocument/2006/relationships" id="258" r:id="R6d24f8fa08e44486"/>
    <p:sldId xmlns:r="http://schemas.openxmlformats.org/officeDocument/2006/relationships" id="259" r:id="R5a960c8297fb4882"/>
    <p:sldId xmlns:r="http://schemas.openxmlformats.org/officeDocument/2006/relationships" id="260" r:id="Rdd48bf59f9d64e0b"/>
    <p:sldId xmlns:r="http://schemas.openxmlformats.org/officeDocument/2006/relationships" id="261" r:id="R9f7369f002c944c1"/>
    <p:sldId xmlns:r="http://schemas.openxmlformats.org/officeDocument/2006/relationships" id="262" r:id="Re5c9441fef564a79"/>
    <p:sldId xmlns:r="http://schemas.openxmlformats.org/officeDocument/2006/relationships" id="263" r:id="R0346a0204d644625"/>
    <p:sldId xmlns:r="http://schemas.openxmlformats.org/officeDocument/2006/relationships" id="264" r:id="Ra78358b6decd4f5c"/>
    <p:sldId xmlns:r="http://schemas.openxmlformats.org/officeDocument/2006/relationships" id="265" r:id="Rd721639872394404"/>
    <p:sldId xmlns:r="http://schemas.openxmlformats.org/officeDocument/2006/relationships" id="266" r:id="Rf23f8ca698da4fae"/>
    <p:sldId xmlns:r="http://schemas.openxmlformats.org/officeDocument/2006/relationships" id="267" r:id="R31b1691cfc904198"/>
    <p:sldId xmlns:r="http://schemas.openxmlformats.org/officeDocument/2006/relationships" id="268" r:id="R58c57a8f3c324009"/>
    <p:sldId xmlns:r="http://schemas.openxmlformats.org/officeDocument/2006/relationships" id="269" r:id="R0f99379e4b2c40e6"/>
    <p:sldId xmlns:r="http://schemas.openxmlformats.org/officeDocument/2006/relationships" id="270" r:id="R2af3362cbc104c80"/>
    <p:sldId xmlns:r="http://schemas.openxmlformats.org/officeDocument/2006/relationships" id="271" r:id="R6ca761cf6bb94f20"/>
    <p:sldId xmlns:r="http://schemas.openxmlformats.org/officeDocument/2006/relationships" id="272" r:id="R5463253a818e431b"/>
    <p:sldId xmlns:r="http://schemas.openxmlformats.org/officeDocument/2006/relationships" id="273" r:id="R071e81b6d1b74d1f"/>
    <p:sldId xmlns:r="http://schemas.openxmlformats.org/officeDocument/2006/relationships" id="274" r:id="Rcbfe253983f94abe"/>
    <p:sldId xmlns:r="http://schemas.openxmlformats.org/officeDocument/2006/relationships" id="275" r:id="Rdc7791b87a9d4629"/>
    <p:sldId xmlns:r="http://schemas.openxmlformats.org/officeDocument/2006/relationships" id="276" r:id="R72f21c9a4a6e4b2f"/>
    <p:sldId xmlns:r="http://schemas.openxmlformats.org/officeDocument/2006/relationships" id="277" r:id="R1ca533ef94484c00"/>
    <p:sldId xmlns:r="http://schemas.openxmlformats.org/officeDocument/2006/relationships" id="278" r:id="R90b97df074b946cb"/>
    <p:sldId xmlns:r="http://schemas.openxmlformats.org/officeDocument/2006/relationships" id="279" r:id="Rcb1c786f829843e1"/>
    <p:sldId xmlns:r="http://schemas.openxmlformats.org/officeDocument/2006/relationships" id="280" r:id="Rb099be54bf284dff"/>
    <p:sldId xmlns:r="http://schemas.openxmlformats.org/officeDocument/2006/relationships" id="281" r:id="R3bc4f71347d84a62"/>
    <p:sldId xmlns:r="http://schemas.openxmlformats.org/officeDocument/2006/relationships" id="282" r:id="Rfa28a9827b09445f"/>
    <p:sldId xmlns:r="http://schemas.openxmlformats.org/officeDocument/2006/relationships" id="283" r:id="Rabddcde9fe694b36"/>
    <p:sldId xmlns:r="http://schemas.openxmlformats.org/officeDocument/2006/relationships" id="284" r:id="R727b5dc2c07c4796"/>
    <p:sldId xmlns:r="http://schemas.openxmlformats.org/officeDocument/2006/relationships" id="285" r:id="R9d13f80bad6342c5"/>
    <p:sldId xmlns:r="http://schemas.openxmlformats.org/officeDocument/2006/relationships" id="286" r:id="R9f54b4e7244440c1"/>
    <p:sldId xmlns:r="http://schemas.openxmlformats.org/officeDocument/2006/relationships" id="287" r:id="R5d3b259ee4a64d2a"/>
    <p:sldId xmlns:r="http://schemas.openxmlformats.org/officeDocument/2006/relationships" id="288" r:id="Rc37a77dfc85546bf"/>
    <p:sldId xmlns:r="http://schemas.openxmlformats.org/officeDocument/2006/relationships" id="289" r:id="R43cdbea6ea1e4f5d"/>
    <p:sldId xmlns:r="http://schemas.openxmlformats.org/officeDocument/2006/relationships" id="290" r:id="R5c5fd3d7d45e4f08"/>
    <p:sldId xmlns:r="http://schemas.openxmlformats.org/officeDocument/2006/relationships" id="291" r:id="R7966b8247fa64106"/>
    <p:sldId xmlns:r="http://schemas.openxmlformats.org/officeDocument/2006/relationships" id="292" r:id="Rdfa5402edeb64e13"/>
    <p:sldId xmlns:r="http://schemas.openxmlformats.org/officeDocument/2006/relationships" id="293" r:id="R81f31d2b6eeb4c14"/>
    <p:sldId xmlns:r="http://schemas.openxmlformats.org/officeDocument/2006/relationships" id="294" r:id="R13134d5f9f09454c"/>
    <p:sldId xmlns:r="http://schemas.openxmlformats.org/officeDocument/2006/relationships" id="295" r:id="Ra93223de351a4471"/>
    <p:sldId xmlns:r="http://schemas.openxmlformats.org/officeDocument/2006/relationships" id="296" r:id="R298596f86aee4e2d"/>
    <p:sldId xmlns:r="http://schemas.openxmlformats.org/officeDocument/2006/relationships" id="297" r:id="R10e355934d354c49"/>
    <p:sldId xmlns:r="http://schemas.openxmlformats.org/officeDocument/2006/relationships" id="298" r:id="R2fc9f84363f84701"/>
    <p:sldId xmlns:r="http://schemas.openxmlformats.org/officeDocument/2006/relationships" id="299" r:id="Rab3e2b1ad34e4540"/>
    <p:sldId xmlns:r="http://schemas.openxmlformats.org/officeDocument/2006/relationships" id="300" r:id="Rc60ccc3ae58d490c"/>
    <p:sldId xmlns:r="http://schemas.openxmlformats.org/officeDocument/2006/relationships" id="301" r:id="Rcd14be0ee3744ba8"/>
    <p:sldId xmlns:r="http://schemas.openxmlformats.org/officeDocument/2006/relationships" id="302" r:id="Rdc4b192b34054d62"/>
    <p:sldId xmlns:r="http://schemas.openxmlformats.org/officeDocument/2006/relationships" id="303" r:id="R7c5bc937aa6748b4"/>
    <p:sldId xmlns:r="http://schemas.openxmlformats.org/officeDocument/2006/relationships" id="304" r:id="R1925c3586121442f"/>
    <p:sldId xmlns:r="http://schemas.openxmlformats.org/officeDocument/2006/relationships" id="305" r:id="R93a6731216af4fa5"/>
    <p:sldId xmlns:r="http://schemas.openxmlformats.org/officeDocument/2006/relationships" id="306" r:id="R8beb59e2b92d40e6"/>
    <p:sldId xmlns:r="http://schemas.openxmlformats.org/officeDocument/2006/relationships" id="307" r:id="R6464cbd0a4ed4ff7"/>
    <p:sldId xmlns:r="http://schemas.openxmlformats.org/officeDocument/2006/relationships" id="308" r:id="R79c4518f8c844fa7"/>
    <p:sldId xmlns:r="http://schemas.openxmlformats.org/officeDocument/2006/relationships" id="309" r:id="Rde0f7a86ca0b471b"/>
    <p:sldId xmlns:r="http://schemas.openxmlformats.org/officeDocument/2006/relationships" id="310" r:id="R48619e2d0e654c6e"/>
    <p:sldId xmlns:r="http://schemas.openxmlformats.org/officeDocument/2006/relationships" id="311" r:id="Rc977833797c14a73"/>
    <p:sldId xmlns:r="http://schemas.openxmlformats.org/officeDocument/2006/relationships" id="312" r:id="R27533909e80d419a"/>
    <p:sldId xmlns:r="http://schemas.openxmlformats.org/officeDocument/2006/relationships" id="313" r:id="R7744e44a03ef4fa6"/>
    <p:sldId xmlns:r="http://schemas.openxmlformats.org/officeDocument/2006/relationships" id="314" r:id="R6b31390bef914027"/>
    <p:sldId xmlns:r="http://schemas.openxmlformats.org/officeDocument/2006/relationships" id="315" r:id="Rfa7f8481335847a5"/>
    <p:sldId xmlns:r="http://schemas.openxmlformats.org/officeDocument/2006/relationships" id="316" r:id="R19d715969ce4414a"/>
    <p:sldId xmlns:r="http://schemas.openxmlformats.org/officeDocument/2006/relationships" id="317" r:id="Rdce24811190f4f7c"/>
    <p:sldId xmlns:r="http://schemas.openxmlformats.org/officeDocument/2006/relationships" id="318" r:id="R073a93092fe64e5e"/>
    <p:sldId xmlns:r="http://schemas.openxmlformats.org/officeDocument/2006/relationships" id="319" r:id="R704fd6eaa8cc4f6a"/>
    <p:sldId xmlns:r="http://schemas.openxmlformats.org/officeDocument/2006/relationships" id="320" r:id="Ra221c6805a724952"/>
    <p:sldId xmlns:r="http://schemas.openxmlformats.org/officeDocument/2006/relationships" id="321" r:id="R74ed756dd6e145b0"/>
    <p:sldId xmlns:r="http://schemas.openxmlformats.org/officeDocument/2006/relationships" id="322" r:id="R997fbe352aea4247"/>
    <p:sldId xmlns:r="http://schemas.openxmlformats.org/officeDocument/2006/relationships" id="323" r:id="Rf2a75263587246fd"/>
    <p:sldId xmlns:r="http://schemas.openxmlformats.org/officeDocument/2006/relationships" id="324" r:id="Raeac3443941f49c4"/>
    <p:sldId xmlns:r="http://schemas.openxmlformats.org/officeDocument/2006/relationships" id="325" r:id="R8e46a727ad4047be"/>
    <p:sldId xmlns:r="http://schemas.openxmlformats.org/officeDocument/2006/relationships" id="326" r:id="Rc9c8972b1a954327"/>
    <p:sldId xmlns:r="http://schemas.openxmlformats.org/officeDocument/2006/relationships" id="327" r:id="Rc128cf3e3e2f4423"/>
    <p:sldId xmlns:r="http://schemas.openxmlformats.org/officeDocument/2006/relationships" id="328" r:id="R040f22773028420e"/>
    <p:sldId xmlns:r="http://schemas.openxmlformats.org/officeDocument/2006/relationships" id="329" r:id="R2c5e3dff86324769"/>
    <p:sldId xmlns:r="http://schemas.openxmlformats.org/officeDocument/2006/relationships" id="330" r:id="R63eff279969a49c4"/>
    <p:sldId xmlns:r="http://schemas.openxmlformats.org/officeDocument/2006/relationships" id="331" r:id="Rab4ab4a185d74d3b"/>
    <p:sldId xmlns:r="http://schemas.openxmlformats.org/officeDocument/2006/relationships" id="332" r:id="R1cb83a43254f48f8"/>
    <p:sldId xmlns:r="http://schemas.openxmlformats.org/officeDocument/2006/relationships" id="333" r:id="R50bd3253512d4853"/>
    <p:sldId xmlns:r="http://schemas.openxmlformats.org/officeDocument/2006/relationships" id="334" r:id="Rb8d6ea913e394c12"/>
    <p:sldId xmlns:r="http://schemas.openxmlformats.org/officeDocument/2006/relationships" id="335" r:id="R6974b46220194236"/>
    <p:sldId xmlns:r="http://schemas.openxmlformats.org/officeDocument/2006/relationships" id="336" r:id="R3f67b6395cbd48b4"/>
    <p:sldId xmlns:r="http://schemas.openxmlformats.org/officeDocument/2006/relationships" id="337" r:id="R4836332249a44165"/>
    <p:sldId xmlns:r="http://schemas.openxmlformats.org/officeDocument/2006/relationships" id="338" r:id="R9008e86fd29847a8"/>
    <p:sldId xmlns:r="http://schemas.openxmlformats.org/officeDocument/2006/relationships" id="339" r:id="Ra7672adaed9e4981"/>
    <p:sldId xmlns:r="http://schemas.openxmlformats.org/officeDocument/2006/relationships" id="340" r:id="Rbb05ab121e9f4b1d"/>
    <p:sldId xmlns:r="http://schemas.openxmlformats.org/officeDocument/2006/relationships" id="341" r:id="Rcd27aabb63504e9c"/>
    <p:sldId xmlns:r="http://schemas.openxmlformats.org/officeDocument/2006/relationships" id="342" r:id="Rde9c79597fd14cfc"/>
    <p:sldId xmlns:r="http://schemas.openxmlformats.org/officeDocument/2006/relationships" id="343" r:id="R44e529e8bab748a6"/>
    <p:sldId xmlns:r="http://schemas.openxmlformats.org/officeDocument/2006/relationships" id="344" r:id="Re477b6b8ce744fb6"/>
    <p:sldId xmlns:r="http://schemas.openxmlformats.org/officeDocument/2006/relationships" id="345" r:id="R0e19a95a43334d06"/>
    <p:sldId xmlns:r="http://schemas.openxmlformats.org/officeDocument/2006/relationships" id="346" r:id="Rc3684c7fab374f6a"/>
    <p:sldId xmlns:r="http://schemas.openxmlformats.org/officeDocument/2006/relationships" id="347" r:id="R6cad9efe640c4d8e"/>
    <p:sldId xmlns:r="http://schemas.openxmlformats.org/officeDocument/2006/relationships" id="348" r:id="R531b04fad00b4483"/>
    <p:sldId xmlns:r="http://schemas.openxmlformats.org/officeDocument/2006/relationships" id="349" r:id="Rff06423bdae5405e"/>
    <p:sldId xmlns:r="http://schemas.openxmlformats.org/officeDocument/2006/relationships" id="350" r:id="R920fcc892aac4f54"/>
    <p:sldId xmlns:r="http://schemas.openxmlformats.org/officeDocument/2006/relationships" id="351" r:id="R10679a3a28334b4a"/>
    <p:sldId xmlns:r="http://schemas.openxmlformats.org/officeDocument/2006/relationships" id="352" r:id="Rfa098f06a5034ad1"/>
    <p:sldId xmlns:r="http://schemas.openxmlformats.org/officeDocument/2006/relationships" id="353" r:id="Rc6a566bd2d0d4f4a"/>
    <p:sldId xmlns:r="http://schemas.openxmlformats.org/officeDocument/2006/relationships" id="354" r:id="Rd1db30ffd0ac44d3"/>
    <p:sldId xmlns:r="http://schemas.openxmlformats.org/officeDocument/2006/relationships" id="355" r:id="R3ad3e032a42b4b75"/>
    <p:sldId xmlns:r="http://schemas.openxmlformats.org/officeDocument/2006/relationships" id="356" r:id="Rcad82b17d0874687"/>
    <p:sldId xmlns:r="http://schemas.openxmlformats.org/officeDocument/2006/relationships" id="357" r:id="R2c47a9bf6c9c488d"/>
    <p:sldId xmlns:r="http://schemas.openxmlformats.org/officeDocument/2006/relationships" id="358" r:id="Rc30fa6a2ed594e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5258a989944384" /><Relationship Type="http://schemas.openxmlformats.org/officeDocument/2006/relationships/slideMaster" Target="/ppt/slideMasters/slideMaster1.xml" Id="R3a09902d49ee4c23" /><Relationship Type="http://schemas.openxmlformats.org/officeDocument/2006/relationships/notesMaster" Target="/ppt/notesMasters/notesMaster1.xml" Id="R7e996667d00143c7" /><Relationship Type="http://schemas.openxmlformats.org/officeDocument/2006/relationships/presProps" Target="/ppt/presProps.xml" Id="R5361a66fe2a74d0b" /><Relationship Type="http://schemas.openxmlformats.org/officeDocument/2006/relationships/tableStyles" Target="/ppt/tableStyles.xml" Id="Rf11d62e280a84862" /><Relationship Type="http://schemas.openxmlformats.org/officeDocument/2006/relationships/slide" Target="/ppt/slides/slide1.xml" Id="Rcdcf23bf0c2d4cf2" /><Relationship Type="http://schemas.openxmlformats.org/officeDocument/2006/relationships/slide" Target="/ppt/slides/slide2.xml" Id="Rad58943a4697487a" /><Relationship Type="http://schemas.openxmlformats.org/officeDocument/2006/relationships/slide" Target="/ppt/slides/slide3.xml" Id="R6d24f8fa08e44486" /><Relationship Type="http://schemas.openxmlformats.org/officeDocument/2006/relationships/slide" Target="/ppt/slides/slide4.xml" Id="R5a960c8297fb4882" /><Relationship Type="http://schemas.openxmlformats.org/officeDocument/2006/relationships/slide" Target="/ppt/slides/slide5.xml" Id="Rdd48bf59f9d64e0b" /><Relationship Type="http://schemas.openxmlformats.org/officeDocument/2006/relationships/slide" Target="/ppt/slides/slide6.xml" Id="R9f7369f002c944c1" /><Relationship Type="http://schemas.openxmlformats.org/officeDocument/2006/relationships/slide" Target="/ppt/slides/slide7.xml" Id="Re5c9441fef564a79" /><Relationship Type="http://schemas.openxmlformats.org/officeDocument/2006/relationships/slide" Target="/ppt/slides/slide8.xml" Id="R0346a0204d644625" /><Relationship Type="http://schemas.openxmlformats.org/officeDocument/2006/relationships/slide" Target="/ppt/slides/slide9.xml" Id="Ra78358b6decd4f5c" /><Relationship Type="http://schemas.openxmlformats.org/officeDocument/2006/relationships/slide" Target="/ppt/slides/slide10.xml" Id="Rd721639872394404" /><Relationship Type="http://schemas.openxmlformats.org/officeDocument/2006/relationships/slide" Target="/ppt/slides/slide11.xml" Id="Rf23f8ca698da4fae" /><Relationship Type="http://schemas.openxmlformats.org/officeDocument/2006/relationships/slide" Target="/ppt/slides/slide12.xml" Id="R31b1691cfc904198" /><Relationship Type="http://schemas.openxmlformats.org/officeDocument/2006/relationships/slide" Target="/ppt/slides/slide13.xml" Id="R58c57a8f3c324009" /><Relationship Type="http://schemas.openxmlformats.org/officeDocument/2006/relationships/slide" Target="/ppt/slides/slide14.xml" Id="R0f99379e4b2c40e6" /><Relationship Type="http://schemas.openxmlformats.org/officeDocument/2006/relationships/slide" Target="/ppt/slides/slide15.xml" Id="R2af3362cbc104c80" /><Relationship Type="http://schemas.openxmlformats.org/officeDocument/2006/relationships/slide" Target="/ppt/slides/slide16.xml" Id="R6ca761cf6bb94f20" /><Relationship Type="http://schemas.openxmlformats.org/officeDocument/2006/relationships/slide" Target="/ppt/slides/slide17.xml" Id="R5463253a818e431b" /><Relationship Type="http://schemas.openxmlformats.org/officeDocument/2006/relationships/slide" Target="/ppt/slides/slide18.xml" Id="R071e81b6d1b74d1f" /><Relationship Type="http://schemas.openxmlformats.org/officeDocument/2006/relationships/slide" Target="/ppt/slides/slide19.xml" Id="Rcbfe253983f94abe" /><Relationship Type="http://schemas.openxmlformats.org/officeDocument/2006/relationships/slide" Target="/ppt/slides/slide20.xml" Id="Rdc7791b87a9d4629" /><Relationship Type="http://schemas.openxmlformats.org/officeDocument/2006/relationships/slide" Target="/ppt/slides/slide21.xml" Id="R72f21c9a4a6e4b2f" /><Relationship Type="http://schemas.openxmlformats.org/officeDocument/2006/relationships/slide" Target="/ppt/slides/slide22.xml" Id="R1ca533ef94484c00" /><Relationship Type="http://schemas.openxmlformats.org/officeDocument/2006/relationships/slide" Target="/ppt/slides/slide23.xml" Id="R90b97df074b946cb" /><Relationship Type="http://schemas.openxmlformats.org/officeDocument/2006/relationships/slide" Target="/ppt/slides/slide24.xml" Id="Rcb1c786f829843e1" /><Relationship Type="http://schemas.openxmlformats.org/officeDocument/2006/relationships/slide" Target="/ppt/slides/slide25.xml" Id="Rb099be54bf284dff" /><Relationship Type="http://schemas.openxmlformats.org/officeDocument/2006/relationships/slide" Target="/ppt/slides/slide26.xml" Id="R3bc4f71347d84a62" /><Relationship Type="http://schemas.openxmlformats.org/officeDocument/2006/relationships/slide" Target="/ppt/slides/slide27.xml" Id="Rfa28a9827b09445f" /><Relationship Type="http://schemas.openxmlformats.org/officeDocument/2006/relationships/slide" Target="/ppt/slides/slide28.xml" Id="Rabddcde9fe694b36" /><Relationship Type="http://schemas.openxmlformats.org/officeDocument/2006/relationships/slide" Target="/ppt/slides/slide29.xml" Id="R727b5dc2c07c4796" /><Relationship Type="http://schemas.openxmlformats.org/officeDocument/2006/relationships/slide" Target="/ppt/slides/slide30.xml" Id="R9d13f80bad6342c5" /><Relationship Type="http://schemas.openxmlformats.org/officeDocument/2006/relationships/slide" Target="/ppt/slides/slide31.xml" Id="R9f54b4e7244440c1" /><Relationship Type="http://schemas.openxmlformats.org/officeDocument/2006/relationships/slide" Target="/ppt/slides/slide32.xml" Id="R5d3b259ee4a64d2a" /><Relationship Type="http://schemas.openxmlformats.org/officeDocument/2006/relationships/slide" Target="/ppt/slides/slide33.xml" Id="Rc37a77dfc85546bf" /><Relationship Type="http://schemas.openxmlformats.org/officeDocument/2006/relationships/slide" Target="/ppt/slides/slide34.xml" Id="R43cdbea6ea1e4f5d" /><Relationship Type="http://schemas.openxmlformats.org/officeDocument/2006/relationships/slide" Target="/ppt/slides/slide35.xml" Id="R5c5fd3d7d45e4f08" /><Relationship Type="http://schemas.openxmlformats.org/officeDocument/2006/relationships/slide" Target="/ppt/slides/slide36.xml" Id="R7966b8247fa64106" /><Relationship Type="http://schemas.openxmlformats.org/officeDocument/2006/relationships/slide" Target="/ppt/slides/slide37.xml" Id="Rdfa5402edeb64e13" /><Relationship Type="http://schemas.openxmlformats.org/officeDocument/2006/relationships/slide" Target="/ppt/slides/slide38.xml" Id="R81f31d2b6eeb4c14" /><Relationship Type="http://schemas.openxmlformats.org/officeDocument/2006/relationships/slide" Target="/ppt/slides/slide39.xml" Id="R13134d5f9f09454c" /><Relationship Type="http://schemas.openxmlformats.org/officeDocument/2006/relationships/slide" Target="/ppt/slides/slide40.xml" Id="Ra93223de351a4471" /><Relationship Type="http://schemas.openxmlformats.org/officeDocument/2006/relationships/slide" Target="/ppt/slides/slide41.xml" Id="R298596f86aee4e2d" /><Relationship Type="http://schemas.openxmlformats.org/officeDocument/2006/relationships/slide" Target="/ppt/slides/slide42.xml" Id="R10e355934d354c49" /><Relationship Type="http://schemas.openxmlformats.org/officeDocument/2006/relationships/slide" Target="/ppt/slides/slide43.xml" Id="R2fc9f84363f84701" /><Relationship Type="http://schemas.openxmlformats.org/officeDocument/2006/relationships/slide" Target="/ppt/slides/slide44.xml" Id="Rab3e2b1ad34e4540" /><Relationship Type="http://schemas.openxmlformats.org/officeDocument/2006/relationships/slide" Target="/ppt/slides/slide45.xml" Id="Rc60ccc3ae58d490c" /><Relationship Type="http://schemas.openxmlformats.org/officeDocument/2006/relationships/slide" Target="/ppt/slides/slide46.xml" Id="Rcd14be0ee3744ba8" /><Relationship Type="http://schemas.openxmlformats.org/officeDocument/2006/relationships/slide" Target="/ppt/slides/slide47.xml" Id="Rdc4b192b34054d62" /><Relationship Type="http://schemas.openxmlformats.org/officeDocument/2006/relationships/slide" Target="/ppt/slides/slide48.xml" Id="R7c5bc937aa6748b4" /><Relationship Type="http://schemas.openxmlformats.org/officeDocument/2006/relationships/slide" Target="/ppt/slides/slide49.xml" Id="R1925c3586121442f" /><Relationship Type="http://schemas.openxmlformats.org/officeDocument/2006/relationships/slide" Target="/ppt/slides/slide50.xml" Id="R93a6731216af4fa5" /><Relationship Type="http://schemas.openxmlformats.org/officeDocument/2006/relationships/slide" Target="/ppt/slides/slide51.xml" Id="R8beb59e2b92d40e6" /><Relationship Type="http://schemas.openxmlformats.org/officeDocument/2006/relationships/slide" Target="/ppt/slides/slide52.xml" Id="R6464cbd0a4ed4ff7" /><Relationship Type="http://schemas.openxmlformats.org/officeDocument/2006/relationships/slide" Target="/ppt/slides/slide53.xml" Id="R79c4518f8c844fa7" /><Relationship Type="http://schemas.openxmlformats.org/officeDocument/2006/relationships/slide" Target="/ppt/slides/slide54.xml" Id="Rde0f7a86ca0b471b" /><Relationship Type="http://schemas.openxmlformats.org/officeDocument/2006/relationships/slide" Target="/ppt/slides/slide55.xml" Id="R48619e2d0e654c6e" /><Relationship Type="http://schemas.openxmlformats.org/officeDocument/2006/relationships/slide" Target="/ppt/slides/slide56.xml" Id="Rc977833797c14a73" /><Relationship Type="http://schemas.openxmlformats.org/officeDocument/2006/relationships/slide" Target="/ppt/slides/slide57.xml" Id="R27533909e80d419a" /><Relationship Type="http://schemas.openxmlformats.org/officeDocument/2006/relationships/slide" Target="/ppt/slides/slide58.xml" Id="R7744e44a03ef4fa6" /><Relationship Type="http://schemas.openxmlformats.org/officeDocument/2006/relationships/slide" Target="/ppt/slides/slide59.xml" Id="R6b31390bef914027" /><Relationship Type="http://schemas.openxmlformats.org/officeDocument/2006/relationships/slide" Target="/ppt/slides/slide60.xml" Id="Rfa7f8481335847a5" /><Relationship Type="http://schemas.openxmlformats.org/officeDocument/2006/relationships/slide" Target="/ppt/slides/slide61.xml" Id="R19d715969ce4414a" /><Relationship Type="http://schemas.openxmlformats.org/officeDocument/2006/relationships/slide" Target="/ppt/slides/slide62.xml" Id="Rdce24811190f4f7c" /><Relationship Type="http://schemas.openxmlformats.org/officeDocument/2006/relationships/slide" Target="/ppt/slides/slide63.xml" Id="R073a93092fe64e5e" /><Relationship Type="http://schemas.openxmlformats.org/officeDocument/2006/relationships/slide" Target="/ppt/slides/slide64.xml" Id="R704fd6eaa8cc4f6a" /><Relationship Type="http://schemas.openxmlformats.org/officeDocument/2006/relationships/slide" Target="/ppt/slides/slide65.xml" Id="Ra221c6805a724952" /><Relationship Type="http://schemas.openxmlformats.org/officeDocument/2006/relationships/slide" Target="/ppt/slides/slide66.xml" Id="R74ed756dd6e145b0" /><Relationship Type="http://schemas.openxmlformats.org/officeDocument/2006/relationships/slide" Target="/ppt/slides/slide67.xml" Id="R997fbe352aea4247" /><Relationship Type="http://schemas.openxmlformats.org/officeDocument/2006/relationships/slide" Target="/ppt/slides/slide68.xml" Id="Rf2a75263587246fd" /><Relationship Type="http://schemas.openxmlformats.org/officeDocument/2006/relationships/slide" Target="/ppt/slides/slide69.xml" Id="Raeac3443941f49c4" /><Relationship Type="http://schemas.openxmlformats.org/officeDocument/2006/relationships/slide" Target="/ppt/slides/slide70.xml" Id="R8e46a727ad4047be" /><Relationship Type="http://schemas.openxmlformats.org/officeDocument/2006/relationships/slide" Target="/ppt/slides/slide71.xml" Id="Rc9c8972b1a954327" /><Relationship Type="http://schemas.openxmlformats.org/officeDocument/2006/relationships/slide" Target="/ppt/slides/slide72.xml" Id="Rc128cf3e3e2f4423" /><Relationship Type="http://schemas.openxmlformats.org/officeDocument/2006/relationships/slide" Target="/ppt/slides/slide73.xml" Id="R040f22773028420e" /><Relationship Type="http://schemas.openxmlformats.org/officeDocument/2006/relationships/slide" Target="/ppt/slides/slide74.xml" Id="R2c5e3dff86324769" /><Relationship Type="http://schemas.openxmlformats.org/officeDocument/2006/relationships/slide" Target="/ppt/slides/slide75.xml" Id="R63eff279969a49c4" /><Relationship Type="http://schemas.openxmlformats.org/officeDocument/2006/relationships/slide" Target="/ppt/slides/slide76.xml" Id="Rab4ab4a185d74d3b" /><Relationship Type="http://schemas.openxmlformats.org/officeDocument/2006/relationships/slide" Target="/ppt/slides/slide77.xml" Id="R1cb83a43254f48f8" /><Relationship Type="http://schemas.openxmlformats.org/officeDocument/2006/relationships/slide" Target="/ppt/slides/slide78.xml" Id="R50bd3253512d4853" /><Relationship Type="http://schemas.openxmlformats.org/officeDocument/2006/relationships/slide" Target="/ppt/slides/slide79.xml" Id="Rb8d6ea913e394c12" /><Relationship Type="http://schemas.openxmlformats.org/officeDocument/2006/relationships/slide" Target="/ppt/slides/slide80.xml" Id="R6974b46220194236" /><Relationship Type="http://schemas.openxmlformats.org/officeDocument/2006/relationships/slide" Target="/ppt/slides/slide81.xml" Id="R3f67b6395cbd48b4" /><Relationship Type="http://schemas.openxmlformats.org/officeDocument/2006/relationships/slide" Target="/ppt/slides/slide82.xml" Id="R4836332249a44165" /><Relationship Type="http://schemas.openxmlformats.org/officeDocument/2006/relationships/slide" Target="/ppt/slides/slide83.xml" Id="R9008e86fd29847a8" /><Relationship Type="http://schemas.openxmlformats.org/officeDocument/2006/relationships/slide" Target="/ppt/slides/slide84.xml" Id="Ra7672adaed9e4981" /><Relationship Type="http://schemas.openxmlformats.org/officeDocument/2006/relationships/slide" Target="/ppt/slides/slide85.xml" Id="Rbb05ab121e9f4b1d" /><Relationship Type="http://schemas.openxmlformats.org/officeDocument/2006/relationships/slide" Target="/ppt/slides/slide86.xml" Id="Rcd27aabb63504e9c" /><Relationship Type="http://schemas.openxmlformats.org/officeDocument/2006/relationships/slide" Target="/ppt/slides/slide87.xml" Id="Rde9c79597fd14cfc" /><Relationship Type="http://schemas.openxmlformats.org/officeDocument/2006/relationships/slide" Target="/ppt/slides/slide88.xml" Id="R44e529e8bab748a6" /><Relationship Type="http://schemas.openxmlformats.org/officeDocument/2006/relationships/slide" Target="/ppt/slides/slide89.xml" Id="Re477b6b8ce744fb6" /><Relationship Type="http://schemas.openxmlformats.org/officeDocument/2006/relationships/slide" Target="/ppt/slides/slide90.xml" Id="R0e19a95a43334d06" /><Relationship Type="http://schemas.openxmlformats.org/officeDocument/2006/relationships/slide" Target="/ppt/slides/slide91.xml" Id="Rc3684c7fab374f6a" /><Relationship Type="http://schemas.openxmlformats.org/officeDocument/2006/relationships/slide" Target="/ppt/slides/slide92.xml" Id="R6cad9efe640c4d8e" /><Relationship Type="http://schemas.openxmlformats.org/officeDocument/2006/relationships/slide" Target="/ppt/slides/slide93.xml" Id="R531b04fad00b4483" /><Relationship Type="http://schemas.openxmlformats.org/officeDocument/2006/relationships/slide" Target="/ppt/slides/slide94.xml" Id="Rff06423bdae5405e" /><Relationship Type="http://schemas.openxmlformats.org/officeDocument/2006/relationships/slide" Target="/ppt/slides/slide95.xml" Id="R920fcc892aac4f54" /><Relationship Type="http://schemas.openxmlformats.org/officeDocument/2006/relationships/slide" Target="/ppt/slides/slide96.xml" Id="R10679a3a28334b4a" /><Relationship Type="http://schemas.openxmlformats.org/officeDocument/2006/relationships/slide" Target="/ppt/slides/slide97.xml" Id="Rfa098f06a5034ad1" /><Relationship Type="http://schemas.openxmlformats.org/officeDocument/2006/relationships/slide" Target="/ppt/slides/slide98.xml" Id="Rc6a566bd2d0d4f4a" /><Relationship Type="http://schemas.openxmlformats.org/officeDocument/2006/relationships/slide" Target="/ppt/slides/slide99.xml" Id="Rd1db30ffd0ac44d3" /><Relationship Type="http://schemas.openxmlformats.org/officeDocument/2006/relationships/slide" Target="/ppt/slides/slide100.xml" Id="R3ad3e032a42b4b75" /><Relationship Type="http://schemas.openxmlformats.org/officeDocument/2006/relationships/slide" Target="/ppt/slides/slide101.xml" Id="Rcad82b17d0874687" /><Relationship Type="http://schemas.openxmlformats.org/officeDocument/2006/relationships/slide" Target="/ppt/slides/slide102.xml" Id="R2c47a9bf6c9c488d" /><Relationship Type="http://schemas.openxmlformats.org/officeDocument/2006/relationships/slide" Target="/ppt/slides/slide103.xml" Id="Rc30fa6a2ed594e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4103c5d56840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89d8abe00a4359" /><Relationship Type="http://schemas.openxmlformats.org/officeDocument/2006/relationships/notesMaster" Target="/ppt/notesMasters/notesMaster1.xml" Id="R4676766bb25342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707e7bdc9f4977" /><Relationship Type="http://schemas.openxmlformats.org/officeDocument/2006/relationships/notesMaster" Target="/ppt/notesMasters/notesMaster1.xml" Id="R05f07b90321843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7fc28d244b46df" /><Relationship Type="http://schemas.openxmlformats.org/officeDocument/2006/relationships/notesMaster" Target="/ppt/notesMasters/notesMaster1.xml" Id="Rb0732c21a7074d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d4b21b04684026" /><Relationship Type="http://schemas.openxmlformats.org/officeDocument/2006/relationships/notesMaster" Target="/ppt/notesMasters/notesMaster1.xml" Id="R4666138222f944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bcae1aaedb4041" /><Relationship Type="http://schemas.openxmlformats.org/officeDocument/2006/relationships/notesMaster" Target="/ppt/notesMasters/notesMaster1.xml" Id="Rea4da479c5f742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f45c66957d43c2" /><Relationship Type="http://schemas.openxmlformats.org/officeDocument/2006/relationships/notesMaster" Target="/ppt/notesMasters/notesMaster1.xml" Id="Rbafdb93a4ffa40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c55505f2eb4ec4" /><Relationship Type="http://schemas.openxmlformats.org/officeDocument/2006/relationships/notesMaster" Target="/ppt/notesMasters/notesMaster1.xml" Id="Reb939d56c3814e4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a88f64a54f4379" /><Relationship Type="http://schemas.openxmlformats.org/officeDocument/2006/relationships/notesMaster" Target="/ppt/notesMasters/notesMaster1.xml" Id="R483c3e23bc5047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4eb9c07b824fd4" /><Relationship Type="http://schemas.openxmlformats.org/officeDocument/2006/relationships/notesMaster" Target="/ppt/notesMasters/notesMaster1.xml" Id="R985171ea5e274e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2fe1944de24af3" /><Relationship Type="http://schemas.openxmlformats.org/officeDocument/2006/relationships/notesMaster" Target="/ppt/notesMasters/notesMaster1.xml" Id="Rae1a77da5f2540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80d46b5baf4d72" /><Relationship Type="http://schemas.openxmlformats.org/officeDocument/2006/relationships/notesMaster" Target="/ppt/notesMasters/notesMaster1.xml" Id="Rf1957cdfa3db44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9cf68d3b3448d8" /><Relationship Type="http://schemas.openxmlformats.org/officeDocument/2006/relationships/notesMaster" Target="/ppt/notesMasters/notesMaster1.xml" Id="R15db800455a74d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b89ac916e5a4f14" /><Relationship Type="http://schemas.openxmlformats.org/officeDocument/2006/relationships/notesMaster" Target="/ppt/notesMasters/notesMaster1.xml" Id="R5f8653da1bf849f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b6254f0797457b" /><Relationship Type="http://schemas.openxmlformats.org/officeDocument/2006/relationships/notesMaster" Target="/ppt/notesMasters/notesMaster1.xml" Id="R32ede4511ba44c3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4e003001744892" /><Relationship Type="http://schemas.openxmlformats.org/officeDocument/2006/relationships/notesMaster" Target="/ppt/notesMasters/notesMaster1.xml" Id="R9f405efd589c433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bc78bc03e7442b1" /><Relationship Type="http://schemas.openxmlformats.org/officeDocument/2006/relationships/notesMaster" Target="/ppt/notesMasters/notesMaster1.xml" Id="R8faf2637002b4bd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a5b3d11b65a4a98" /><Relationship Type="http://schemas.openxmlformats.org/officeDocument/2006/relationships/notesMaster" Target="/ppt/notesMasters/notesMaster1.xml" Id="Ra1f71aba198d4c2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895000707b94f19" /><Relationship Type="http://schemas.openxmlformats.org/officeDocument/2006/relationships/notesMaster" Target="/ppt/notesMasters/notesMaster1.xml" Id="Rb6084b1ff2a8421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cbf1df0a75641be" /><Relationship Type="http://schemas.openxmlformats.org/officeDocument/2006/relationships/notesMaster" Target="/ppt/notesMasters/notesMaster1.xml" Id="R5d3de88f5634476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6a096596eb84060" /><Relationship Type="http://schemas.openxmlformats.org/officeDocument/2006/relationships/notesMaster" Target="/ppt/notesMasters/notesMaster1.xml" Id="Rc529a02dec9e4d1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4b67c74bb22491f" /><Relationship Type="http://schemas.openxmlformats.org/officeDocument/2006/relationships/notesMaster" Target="/ppt/notesMasters/notesMaster1.xml" Id="Rbf6c883ae0b3418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c304992381c4a82" /><Relationship Type="http://schemas.openxmlformats.org/officeDocument/2006/relationships/notesMaster" Target="/ppt/notesMasters/notesMaster1.xml" Id="R190e83d0d2664f4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9a8ae9ac15d4c18" /><Relationship Type="http://schemas.openxmlformats.org/officeDocument/2006/relationships/notesMaster" Target="/ppt/notesMasters/notesMaster1.xml" Id="R61462cc20b3b4d3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171e43858114659" /><Relationship Type="http://schemas.openxmlformats.org/officeDocument/2006/relationships/notesMaster" Target="/ppt/notesMasters/notesMaster1.xml" Id="Rb050004d6db9416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c9ed63198e14603" /><Relationship Type="http://schemas.openxmlformats.org/officeDocument/2006/relationships/notesMaster" Target="/ppt/notesMasters/notesMaster1.xml" Id="Rfd1f2d0efc5d42e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0409740fc6649c9" /><Relationship Type="http://schemas.openxmlformats.org/officeDocument/2006/relationships/notesMaster" Target="/ppt/notesMasters/notesMaster1.xml" Id="Rcd38bdc549d4471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91671b8294443b1" /><Relationship Type="http://schemas.openxmlformats.org/officeDocument/2006/relationships/notesMaster" Target="/ppt/notesMasters/notesMaster1.xml" Id="R9b411d52e34b452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8b1b88578da48aa" /><Relationship Type="http://schemas.openxmlformats.org/officeDocument/2006/relationships/notesMaster" Target="/ppt/notesMasters/notesMaster1.xml" Id="R000974bbb3454fc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57d57adb5664f5e" /><Relationship Type="http://schemas.openxmlformats.org/officeDocument/2006/relationships/notesMaster" Target="/ppt/notesMasters/notesMaster1.xml" Id="R509cd9d36edc4da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d982fc496fa4821" /><Relationship Type="http://schemas.openxmlformats.org/officeDocument/2006/relationships/notesMaster" Target="/ppt/notesMasters/notesMaster1.xml" Id="R5f19fcc143ef4ef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2382e82aaa248d5" /><Relationship Type="http://schemas.openxmlformats.org/officeDocument/2006/relationships/notesMaster" Target="/ppt/notesMasters/notesMaster1.xml" Id="Re3ea30c72d7e405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43e204ba3c24430" /><Relationship Type="http://schemas.openxmlformats.org/officeDocument/2006/relationships/notesMaster" Target="/ppt/notesMasters/notesMaster1.xml" Id="R380e321ec705487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05b89e7eef144b6" /><Relationship Type="http://schemas.openxmlformats.org/officeDocument/2006/relationships/notesMaster" Target="/ppt/notesMasters/notesMaster1.xml" Id="R280643ff81204e8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2fb743ff7c04d9b" /><Relationship Type="http://schemas.openxmlformats.org/officeDocument/2006/relationships/notesMaster" Target="/ppt/notesMasters/notesMaster1.xml" Id="R07c876695369400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cce3df105874f9a" /><Relationship Type="http://schemas.openxmlformats.org/officeDocument/2006/relationships/notesMaster" Target="/ppt/notesMasters/notesMaster1.xml" Id="R165b034d6e4a424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920a56d3afb4d20" /><Relationship Type="http://schemas.openxmlformats.org/officeDocument/2006/relationships/notesMaster" Target="/ppt/notesMasters/notesMaster1.xml" Id="R72041c8684a643f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9478aa4a0db4933" /><Relationship Type="http://schemas.openxmlformats.org/officeDocument/2006/relationships/notesMaster" Target="/ppt/notesMasters/notesMaster1.xml" Id="R4feac4bc19ce4c8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940369c64ee40ba" /><Relationship Type="http://schemas.openxmlformats.org/officeDocument/2006/relationships/notesMaster" Target="/ppt/notesMasters/notesMaster1.xml" Id="R7a76e0ba65024df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c89fb3ec5d4444a" /><Relationship Type="http://schemas.openxmlformats.org/officeDocument/2006/relationships/notesMaster" Target="/ppt/notesMasters/notesMaster1.xml" Id="Re9def99c22784e3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ee05d14731f4627" /><Relationship Type="http://schemas.openxmlformats.org/officeDocument/2006/relationships/notesMaster" Target="/ppt/notesMasters/notesMaster1.xml" Id="Rde634a32c0a0450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445746af8954715" /><Relationship Type="http://schemas.openxmlformats.org/officeDocument/2006/relationships/notesMaster" Target="/ppt/notesMasters/notesMaster1.xml" Id="R666a594a3f5041d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a558bc7ff794abc" /><Relationship Type="http://schemas.openxmlformats.org/officeDocument/2006/relationships/notesMaster" Target="/ppt/notesMasters/notesMaster1.xml" Id="R16707ebaed56447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5f0e7d9a8a94268" /><Relationship Type="http://schemas.openxmlformats.org/officeDocument/2006/relationships/notesMaster" Target="/ppt/notesMasters/notesMaster1.xml" Id="Ree9404bdf42b431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a4502d52f0c483d" /><Relationship Type="http://schemas.openxmlformats.org/officeDocument/2006/relationships/notesMaster" Target="/ppt/notesMasters/notesMaster1.xml" Id="R53f8a35c0fda4a8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8f6a96c31d6472f" /><Relationship Type="http://schemas.openxmlformats.org/officeDocument/2006/relationships/notesMaster" Target="/ppt/notesMasters/notesMaster1.xml" Id="Re4176d7fd7d346b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aaa6fc012bf4a23" /><Relationship Type="http://schemas.openxmlformats.org/officeDocument/2006/relationships/notesMaster" Target="/ppt/notesMasters/notesMaster1.xml" Id="R40d64189ab0847b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e2a44d3c2ce461f" /><Relationship Type="http://schemas.openxmlformats.org/officeDocument/2006/relationships/notesMaster" Target="/ppt/notesMasters/notesMaster1.xml" Id="Rc3e7ef589b5c4ad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8cc2386926143d8" /><Relationship Type="http://schemas.openxmlformats.org/officeDocument/2006/relationships/notesMaster" Target="/ppt/notesMasters/notesMaster1.xml" Id="R760459df646e467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ce0118f980444b5" /><Relationship Type="http://schemas.openxmlformats.org/officeDocument/2006/relationships/notesMaster" Target="/ppt/notesMasters/notesMaster1.xml" Id="Red3cd32396584d0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884274957be4dc5" /><Relationship Type="http://schemas.openxmlformats.org/officeDocument/2006/relationships/notesMaster" Target="/ppt/notesMasters/notesMaster1.xml" Id="R6b4a5ffac0ff40e7"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8e26e2c1ba04a8e" /><Relationship Type="http://schemas.openxmlformats.org/officeDocument/2006/relationships/notesMaster" Target="/ppt/notesMasters/notesMaster1.xml" Id="Refd458b21188481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956564c3aab452c" /><Relationship Type="http://schemas.openxmlformats.org/officeDocument/2006/relationships/notesMaster" Target="/ppt/notesMasters/notesMaster1.xml" Id="Rb113b6b843ee4159"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ef4785ffa6d428d" /><Relationship Type="http://schemas.openxmlformats.org/officeDocument/2006/relationships/notesMaster" Target="/ppt/notesMasters/notesMaster1.xml" Id="Rbf8a38215bfa4f60"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2ec79e50e0c42d9" /><Relationship Type="http://schemas.openxmlformats.org/officeDocument/2006/relationships/notesMaster" Target="/ppt/notesMasters/notesMaster1.xml" Id="R39e63cc4794c4e0c"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e35689fae3754095" /><Relationship Type="http://schemas.openxmlformats.org/officeDocument/2006/relationships/notesMaster" Target="/ppt/notesMasters/notesMaster1.xml" Id="R24ba594ae28b436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e1d4c569e514639" /><Relationship Type="http://schemas.openxmlformats.org/officeDocument/2006/relationships/notesMaster" Target="/ppt/notesMasters/notesMaster1.xml" Id="Re591a835d26b4390"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6209adc8efd4e7a" /><Relationship Type="http://schemas.openxmlformats.org/officeDocument/2006/relationships/notesMaster" Target="/ppt/notesMasters/notesMaster1.xml" Id="R1e32376b527b434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d65e9e61d4954e7f" /><Relationship Type="http://schemas.openxmlformats.org/officeDocument/2006/relationships/notesMaster" Target="/ppt/notesMasters/notesMaster1.xml" Id="Rf4e1b0c48bd441ff"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7c0f00bbc384b55" /><Relationship Type="http://schemas.openxmlformats.org/officeDocument/2006/relationships/notesMaster" Target="/ppt/notesMasters/notesMaster1.xml" Id="R79a9f94edbf5407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f5df9160aca94d84" /><Relationship Type="http://schemas.openxmlformats.org/officeDocument/2006/relationships/notesMaster" Target="/ppt/notesMasters/notesMaster1.xml" Id="Ra5813ea6fc924f7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d69ec648e2b462d" /><Relationship Type="http://schemas.openxmlformats.org/officeDocument/2006/relationships/notesMaster" Target="/ppt/notesMasters/notesMaster1.xml" Id="R831d50d98930421d"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bdfc5633366446e6" /><Relationship Type="http://schemas.openxmlformats.org/officeDocument/2006/relationships/notesMaster" Target="/ppt/notesMasters/notesMaster1.xml" Id="Rf92278ef32ab4818"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b29dcc36b2e146b1" /><Relationship Type="http://schemas.openxmlformats.org/officeDocument/2006/relationships/notesMaster" Target="/ppt/notesMasters/notesMaster1.xml" Id="R81dfdce3dda14739"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baa9342428024d35" /><Relationship Type="http://schemas.openxmlformats.org/officeDocument/2006/relationships/notesMaster" Target="/ppt/notesMasters/notesMaster1.xml" Id="R6a4850758a2848ba"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829b5a83bb6b4f68" /><Relationship Type="http://schemas.openxmlformats.org/officeDocument/2006/relationships/notesMaster" Target="/ppt/notesMasters/notesMaster1.xml" Id="Rac5425a68fed4e4f"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5c6c71d9607248ab" /><Relationship Type="http://schemas.openxmlformats.org/officeDocument/2006/relationships/notesMaster" Target="/ppt/notesMasters/notesMaster1.xml" Id="Rc7ee1be8ebca45c7"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de588e02ece74325" /><Relationship Type="http://schemas.openxmlformats.org/officeDocument/2006/relationships/notesMaster" Target="/ppt/notesMasters/notesMaster1.xml" Id="Ra71c617ccca54081"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21b02c3197854400" /><Relationship Type="http://schemas.openxmlformats.org/officeDocument/2006/relationships/notesMaster" Target="/ppt/notesMasters/notesMaster1.xml" Id="R21502194a14947f3"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95042fa894b14f89" /><Relationship Type="http://schemas.openxmlformats.org/officeDocument/2006/relationships/notesMaster" Target="/ppt/notesMasters/notesMaster1.xml" Id="R90552e1d7ab6448e"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9b12e24cc2434086" /><Relationship Type="http://schemas.openxmlformats.org/officeDocument/2006/relationships/notesMaster" Target="/ppt/notesMasters/notesMaster1.xml" Id="Racf246b663e445e8"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7d2923ad7103434f" /><Relationship Type="http://schemas.openxmlformats.org/officeDocument/2006/relationships/notesMaster" Target="/ppt/notesMasters/notesMaster1.xml" Id="R0fe737dbe532421c"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675bd9ff13bd44a3" /><Relationship Type="http://schemas.openxmlformats.org/officeDocument/2006/relationships/notesMaster" Target="/ppt/notesMasters/notesMaster1.xml" Id="Rc7a05bc541de4ff1"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eecc46c605224981" /><Relationship Type="http://schemas.openxmlformats.org/officeDocument/2006/relationships/notesMaster" Target="/ppt/notesMasters/notesMaster1.xml" Id="R88bc088f4d8e4efc"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4c447a13feea4227" /><Relationship Type="http://schemas.openxmlformats.org/officeDocument/2006/relationships/notesMaster" Target="/ppt/notesMasters/notesMaster1.xml" Id="Rb09d0477d8ae4019"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14338a78dd4044d9" /><Relationship Type="http://schemas.openxmlformats.org/officeDocument/2006/relationships/notesMaster" Target="/ppt/notesMasters/notesMaster1.xml" Id="R9144d989f6e640c5"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2886a5ad1a2b4dd2" /><Relationship Type="http://schemas.openxmlformats.org/officeDocument/2006/relationships/notesMaster" Target="/ppt/notesMasters/notesMaster1.xml" Id="Rc4fc4e9a815347b7"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b24bf88684ec4427" /><Relationship Type="http://schemas.openxmlformats.org/officeDocument/2006/relationships/notesMaster" Target="/ppt/notesMasters/notesMaster1.xml" Id="R9986b28c1aa644f1"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6ae60612058a4e86" /><Relationship Type="http://schemas.openxmlformats.org/officeDocument/2006/relationships/notesMaster" Target="/ppt/notesMasters/notesMaster1.xml" Id="R9e4b85be44e74d10"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6ac416c52cb94f07" /><Relationship Type="http://schemas.openxmlformats.org/officeDocument/2006/relationships/notesMaster" Target="/ppt/notesMasters/notesMaster1.xml" Id="R88d0e09b78e646ea"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e7c070b8df344653" /><Relationship Type="http://schemas.openxmlformats.org/officeDocument/2006/relationships/notesMaster" Target="/ppt/notesMasters/notesMaster1.xml" Id="R057435183ac74c7a"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2c8f8c6e91c44995" /><Relationship Type="http://schemas.openxmlformats.org/officeDocument/2006/relationships/notesMaster" Target="/ppt/notesMasters/notesMaster1.xml" Id="Ra5b3b10b2dc3474e"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2e3eb83b7d764abf" /><Relationship Type="http://schemas.openxmlformats.org/officeDocument/2006/relationships/notesMaster" Target="/ppt/notesMasters/notesMaster1.xml" Id="R399145e526134d56"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5f3e2be8f81e4cd8" /><Relationship Type="http://schemas.openxmlformats.org/officeDocument/2006/relationships/notesMaster" Target="/ppt/notesMasters/notesMaster1.xml" Id="R402d59a2d3ef42a0"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579e9d0213b242a2" /><Relationship Type="http://schemas.openxmlformats.org/officeDocument/2006/relationships/notesMaster" Target="/ppt/notesMasters/notesMaster1.xml" Id="Rce9c402959944d6a"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8005f3fda52c49b9" /><Relationship Type="http://schemas.openxmlformats.org/officeDocument/2006/relationships/notesMaster" Target="/ppt/notesMasters/notesMaster1.xml" Id="R0945ab7e4eb64522"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447a755eebbe4c3a" /><Relationship Type="http://schemas.openxmlformats.org/officeDocument/2006/relationships/notesMaster" Target="/ppt/notesMasters/notesMaster1.xml" Id="R6d92f1e8c15c451a"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80461f49dc8c4c38" /><Relationship Type="http://schemas.openxmlformats.org/officeDocument/2006/relationships/notesMaster" Target="/ppt/notesMasters/notesMaster1.xml" Id="R8ed83e39f9bb4b84"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761a63f072004cbf" /><Relationship Type="http://schemas.openxmlformats.org/officeDocument/2006/relationships/notesMaster" Target="/ppt/notesMasters/notesMaster1.xml" Id="Rdb7bfbeb293443ac"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2a85fdc92c4d4271" /><Relationship Type="http://schemas.openxmlformats.org/officeDocument/2006/relationships/notesMaster" Target="/ppt/notesMasters/notesMaster1.xml" Id="R6738104ec6804583"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97264741839748f5" /><Relationship Type="http://schemas.openxmlformats.org/officeDocument/2006/relationships/notesMaster" Target="/ppt/notesMasters/notesMaster1.xml" Id="R55a6de6880914eee"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fa22122c09234f84" /><Relationship Type="http://schemas.openxmlformats.org/officeDocument/2006/relationships/notesMaster" Target="/ppt/notesMasters/notesMaster1.xml" Id="Re26a4a070c2e499a"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84ddc72a4a6642d0" /><Relationship Type="http://schemas.openxmlformats.org/officeDocument/2006/relationships/notesMaster" Target="/ppt/notesMasters/notesMaster1.xml" Id="Rb4cae16f19ee4b43"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9015a4fb300d4480" /><Relationship Type="http://schemas.openxmlformats.org/officeDocument/2006/relationships/notesMaster" Target="/ppt/notesMasters/notesMaster1.xml" Id="R3ff46bac25e94469"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b74656bb645144a0" /><Relationship Type="http://schemas.openxmlformats.org/officeDocument/2006/relationships/notesMaster" Target="/ppt/notesMasters/notesMaster1.xml" Id="Rac0740ccc9754a94"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480fe3db8f334b30" /><Relationship Type="http://schemas.openxmlformats.org/officeDocument/2006/relationships/notesMaster" Target="/ppt/notesMasters/notesMaster1.xml" Id="R880b25df7e7d4045"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dbd1591c5bf84006" /><Relationship Type="http://schemas.openxmlformats.org/officeDocument/2006/relationships/notesMaster" Target="/ppt/notesMasters/notesMaster1.xml" Id="Ra829e6e77a384cc8"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82aae5e0baea48de" /><Relationship Type="http://schemas.openxmlformats.org/officeDocument/2006/relationships/notesMaster" Target="/ppt/notesMasters/notesMaster1.xml" Id="Rc03b5bddf0a14e73"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ffce6467268e4bec" /><Relationship Type="http://schemas.openxmlformats.org/officeDocument/2006/relationships/notesMaster" Target="/ppt/notesMasters/notesMaster1.xml" Id="R10c6022720de4cc3"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fee521e09581454b" /><Relationship Type="http://schemas.openxmlformats.org/officeDocument/2006/relationships/notesMaster" Target="/ppt/notesMasters/notesMaster1.xml" Id="R393c7a0dce6c4cf6"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6752beca22314446" /><Relationship Type="http://schemas.openxmlformats.org/officeDocument/2006/relationships/notesMaster" Target="/ppt/notesMasters/notesMaster1.xml" Id="R8c0326b827414bb5"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e97c5f89dc1c48b9" /><Relationship Type="http://schemas.openxmlformats.org/officeDocument/2006/relationships/notesMaster" Target="/ppt/notesMasters/notesMaster1.xml" Id="Re66ed3cbc82a4aaa"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aa8d5ad75fe7488b" /><Relationship Type="http://schemas.openxmlformats.org/officeDocument/2006/relationships/notesMaster" Target="/ppt/notesMasters/notesMaster1.xml" Id="R199ac319b3904d9e"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6baf232cd047461a" /><Relationship Type="http://schemas.openxmlformats.org/officeDocument/2006/relationships/notesMaster" Target="/ppt/notesMasters/notesMaster1.xml" Id="R7603e0fcebca46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미리 작성한 AI 응답을 읽고 Python 파일을 고칩니다. 실제 AI 모델이나 유료 API를 호출하는 수업은 아닙니다.</a:t>
            </a:r>
          </a:p>
          <a:p xmlns:a="http://schemas.openxmlformats.org/drawingml/2006/main">
            <a:r>
              <a:t/>
            </a:r>
          </a:p>
          <a:p xmlns:a="http://schemas.openxmlformats.org/drawingml/2006/main">
            <a:r>
              <a:t>수업은 50분씩 6교시입니다. 추가 문제는 수업 활동 뒤에 풀거나 복습으로 안내합니다.</a:t>
            </a:r>
          </a:p>
          <a:p xmlns:a="http://schemas.openxmlformats.org/drawingml/2006/main">
            <a:r>
              <a:t>화면의 핵심: 2026-10-20 예제 파일을 고치고 결과를 확인합니다. 50분 수업 6교시로 진행합니다.</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outputs/2026-10-20/beginner-start.md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https://zeusk302-png.github.io/kdigital-physical-ai/#/sessions/2026-10-20/activity-A01</a:t>
            </a:r>
          </a:p>
          <a:p xmlns:a="http://schemas.openxmlformats.org/drawingml/2006/main">
            <a:r>
              <a:t>공식 자료: 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ZIP을 일반 폴더에 풉니다. course의 code·data·work를 찾습니다. work만 수정하고 원본을 보존합니다. 저장과 실행을 구별합니다.</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outputs/2026-10-20/beginner-start.md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https://zeusk302-png.github.io/kdigital-physical-ai/#/sessions/2026-10-20/activity-A01</a:t>
            </a:r>
          </a:p>
          <a:p xmlns:a="http://schemas.openxmlformats.org/drawingml/2006/main">
            <a:r>
              <a:t>공식 자료: 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직접 실행했는지, 시연을 봤는지 적습니다. 실행 전에 넣을 값과 나올 결과를 적습니다. 실제 결과를 적고, 예상과 다른 곳을 찾습니다.</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직접 실행, 강사 시연 관찰, 코드를 읽으며 계산한 결과를 따로 표시하게 합니다.</a:t>
            </a:r>
          </a:p>
          <a:p xmlns:a="http://schemas.openxmlformats.org/drawingml/2006/main">
            <a:r>
              <a:t/>
            </a:r>
          </a:p>
          <a:p xmlns:a="http://schemas.openxmlformats.org/drawingml/2006/main">
            <a:r>
              <a:t>화면 예의 출처: 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https://zeusk302-png.github.io/kdigital-physical-ai/#/sessions/2026-10-20/activity-A01</a:t>
            </a:r>
          </a:p>
          <a:p xmlns:a="http://schemas.openxmlformats.org/drawingml/2006/main">
            <a:r>
              <a:t>공식 자료: 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10:00~17:00에 수업과 휴식을 진행합니다. 중식은 11:50~13:00입니다. 수업 활동을 마치면 추가 문제를 풀어 봅니다. 추가 문제는 수업 뒤에도 이어서 풀 수 있습니다.</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outputs/2026-10-20/beginner-start.md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https://zeusk302-png.github.io/kdigital-physical-ai/#/sessions/2026-10-20/activity-A01</a:t>
            </a:r>
          </a:p>
          <a:p xmlns:a="http://schemas.openxmlformats.org/drawingml/2006/main">
            <a:r>
              <a:t>공식 자료: 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1교시 주제는 작업을 맡기는 방법입니다. </a:t>
            </a:r>
          </a:p>
          <a:p xmlns:a="http://schemas.openxmlformats.org/drawingml/2006/main">
            <a:r>
              <a:t/>
            </a:r>
          </a:p>
          <a:p xmlns:a="http://schemas.openxmlformats.org/drawingml/2006/main">
            <a:r>
              <a:t>예제를 보여 준 뒤 학생과 함께 따라 해 봅니다. 학생이 한 값을 바꾸고 결과를 예상하게 한 다음 실제 결과와 비교합니다. beginner-start의 교시별 활동부터 진행하고 남은 문제는 복습으로 안내합니다. 설치가 안 되면 제공 출력으로 같은 문제를 풀게 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outputs/2026-10-20/beginner-start.md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https://zeusk302-png.github.io/kdigital-physical-ai/#/sessions/2026-10-20/activity-A01</a:t>
            </a:r>
          </a:p>
          <a:p xmlns:a="http://schemas.openxmlformats.org/drawingml/2006/main">
            <a:r>
              <a:t>공식 자료: https://docs.github.com/en/copilot/concepts/agents/cloud-agent/about-cloud-agent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도구가 실행할 수 있어도 모두 허용하지 않습니다. 이 작업에 필요한 가상 자료만 건넵니다.</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outputs/2026-10-20/lesson.md#A01</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https://zeusk302-png.github.io/kdigital-physical-ai/#/sessions/2026-10-20/activity-A01</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도구가 실행할 수 있어도 모두 허용하지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A01의 개념과 원문 해설입니다.</a:t>
            </a:r>
          </a:p>
          <a:p xmlns:a="http://schemas.openxmlformats.org/drawingml/2006/main">
            <a:r>
              <a:t>### A01 · 에이전트와 사람의 역할</a:t>
            </a:r>
          </a:p>
          <a:p xmlns:a="http://schemas.openxmlformats.org/drawingml/2006/main">
            <a:r>
              <a:t/>
            </a:r>
          </a:p>
          <a:p xmlns:a="http://schemas.openxmlformats.org/drawingml/2006/main">
            <a:r>
              <a:t>#### 사례로 이해하기 · 실행하는 AI와 책임을 갖는 사람</a:t>
            </a:r>
          </a:p>
          <a:p xmlns:a="http://schemas.openxmlformats.org/drawingml/2006/main">
            <a:r>
              <a:t/>
            </a:r>
          </a:p>
          <a:p xmlns:a="http://schemas.openxmlformats.org/drawingml/2006/main">
            <a:r>
              <a:t>#### 실무 상황</a:t>
            </a:r>
          </a:p>
          <a:p xmlns:a="http://schemas.openxmlformats.org/drawingml/2006/main">
            <a:r>
              <a:t/>
            </a:r>
          </a:p>
          <a:p xmlns:a="http://schemas.openxmlformats.org/drawingml/2006/main">
            <a:r>
              <a:t>센서 안내 프로그램을 고치려는 직원이 AI에게 “온도 분류를 개선해 줘”라고 보냅니다. AI는 파일 이름과 기준을 추측하고 새 코드를 제안할 수 있습니다. 직원이 기대한 것은 경계 오류 하나의 수정인데 프로그램 전체가 바뀌면 검토가 어려워집니다. 먼저 맡길 범위와 사람이 결정할 규칙을 구별합니다.</a:t>
            </a:r>
          </a:p>
          <a:p xmlns:a="http://schemas.openxmlformats.org/drawingml/2006/main">
            <a:r>
              <a:t/>
            </a:r>
          </a:p>
          <a:p xmlns:a="http://schemas.openxmlformats.org/drawingml/2006/main">
            <a:r>
              <a:t>#### 쉬운 풀이</a:t>
            </a:r>
          </a:p>
          <a:p xmlns:a="http://schemas.openxmlformats.org/drawingml/2006/main">
            <a:r>
              <a:t/>
            </a:r>
          </a:p>
          <a:p xmlns:a="http://schemas.openxmlformats.org/drawingml/2006/main">
            <a:r>
              <a:t>대화형 AI는 문장이나 코드를 답할 수 있습니다. 코드에이전트는 허용된 도구를 이용하여 파일을 읽고 고치거나 실행까지 이어갈 수 있습니다. 가능한 능력과 이번 작업에서 허용한 행동은 다릅니다. 프롬프트는 요청 글이고 컨텍스트는 그 요청을 이해하는 데 필요한 자료입니다. 사람은 업무 기준, 공유할 자료, 적용 승인, 실제 확인 범위를 결정합니다. 도구가 읽지 못한 숨은 규칙까지 안다고 추정하지 않습니다.</a:t>
            </a:r>
          </a:p>
          <a:p xmlns:a="http://schemas.openxmlformats.org/drawingml/2006/main">
            <a:r>
              <a:t/>
            </a:r>
          </a:p>
          <a:p xmlns:a="http://schemas.openxmlformats.org/drawingml/2006/main">
            <a:r>
              <a:t>#### 완성 예와 풀이</a:t>
            </a:r>
          </a:p>
          <a:p xmlns:a="http://schemas.openxmlformats.org/drawingml/2006/main">
            <a:r>
              <a:t/>
            </a:r>
          </a:p>
          <a:p xmlns:a="http://schemas.openxmlformats.org/drawingml/2006/main">
            <a:r>
              <a:t>요청의 목적을 “28 이상을 주의로 분류”로 적습니다. 대상은 work/classifier.py의 classify 함수이며 입력은 가상 온도, 출력은 정상·주의·미측정·입력 오류입니다. 관련 자료는 현재 함수와 cases.json, 실패 출력 마지막 부분입니다. 읽기와 수정은 이 연습 복사본에만 허용하고 외부 게시와 계정 접근은 허용하지 않습니다. 실제 토큰 대신 `DEMO_TOKEN`이라는 표시를 씁니다. 확인 근거는 변경 비교와 같은 검사 입력의 실행 결과입니다. 제공 AI 응답은 수업용 작성 자료이며 실제로 모델을 호출해서 받은 결과가 아닙니다.</a:t>
            </a:r>
          </a:p>
          <a:p xmlns:a="http://schemas.openxmlformats.org/drawingml/2006/main">
            <a:r>
              <a:t/>
            </a:r>
          </a:p>
          <a:p xmlns:a="http://schemas.openxmlformats.org/drawingml/2006/main">
            <a:r>
              <a:t>#### 독립 추가 복습 과제</a:t>
            </a:r>
          </a:p>
          <a:p xmlns:a="http://schemas.openxmlformats.org/drawingml/2006/main">
            <a:r>
              <a:t/>
            </a:r>
          </a:p>
          <a:p xmlns:a="http://schemas.openxmlformats.org/drawingml/2006/main">
            <a:r>
              <a:t>파일 세 개, 고객 명단, 접속 암호, 가상 실패 로그 가운데 온도 경계 수정에 필요한 자료를 선택하세요. 이어서 “목적 / 바꿀 곳 / 유지할 것 / 금지할 행동 / 확인 근거” 다섯 줄 요청서를 작성하세요.</a:t>
            </a:r>
          </a:p>
          <a:p xmlns:a="http://schemas.openxmlformats.org/drawingml/2006/main">
            <a:r>
              <a:t/>
            </a:r>
          </a:p>
          <a:p xmlns:a="http://schemas.openxmlformats.org/drawingml/2006/main">
            <a:r>
              <a:t>#### 답과 대표 오답</a:t>
            </a:r>
          </a:p>
          <a:p xmlns:a="http://schemas.openxmlformats.org/drawingml/2006/main">
            <a:r>
              <a:t/>
            </a:r>
          </a:p>
          <a:p xmlns:a="http://schemas.openxmlformats.org/drawingml/2006/main">
            <a:r>
              <a:t>현재 함수·검사 입력·가상 실패 로그를 선택하고 고객 명단과 암호는 제외합니다. “자료를 전부 보내면 정확해진다”는 답은 관련성과 공유 범위를 검토하지 않았습니다. “AI가 썼으니 실행도 했다” 역시 생성과 실행의 차이를 놓칩니다.</a:t>
            </a:r>
          </a:p>
          <a:p xmlns:a="http://schemas.openxmlformats.org/drawingml/2006/main">
            <a:r>
              <a:t/>
            </a:r>
          </a:p>
          <a:p xmlns:a="http://schemas.openxmlformats.org/drawingml/2006/main">
            <a:r>
              <a:t>#### 확인 질문과 해설</a:t>
            </a:r>
          </a:p>
          <a:p xmlns:a="http://schemas.openxmlformats.org/drawingml/2006/main">
            <a:r>
              <a:t/>
            </a:r>
          </a:p>
          <a:p xmlns:a="http://schemas.openxmlformats.org/drawingml/2006/main">
            <a:r>
              <a:t>① 에이전트 이름이 능력을 보장하나요? 실제 연결 도구와 권한을 확인해야 합니다. ② 비밀이 필요한 상황은 어떻게 하나요? 그대로 공유하지 말고 담당 절차와 대체 데이터를 확인합니다. ③ 완료 판단은 누구의 일인가요? 사람이 요청한 조건과 바뀐 코드, 실행 결과를 직접 비교해야 합니다.</a:t>
            </a:r>
          </a:p>
          <a:p xmlns:a="http://schemas.openxmlformats.org/drawingml/2006/main">
            <a:r>
              <a:t/>
            </a:r>
          </a:p>
          <a:p xmlns:a="http://schemas.openxmlformats.org/drawingml/2006/main">
            <a:r>
              <a:t>**뜻과 비유.** 코드에이전트는 요청을 해석하고 파일과 실행 도구를 사용해 작업을 이어 가는 AI 도구입니다. 대화 답변 한 번과 파일 변경·실행이 연결된 작업 흐름을 구분합니다.</a:t>
            </a:r>
          </a:p>
          <a:p xmlns:a="http://schemas.openxmlformats.org/drawingml/2006/main">
            <a:r>
              <a:t/>
            </a:r>
          </a:p>
          <a:p xmlns:a="http://schemas.openxmlformats.org/drawingml/2006/main">
            <a:r>
              <a:t>**왜 필요한가.** 동료에게 일을 맡겨도 완료 기준은 함께 정합니다. 코드가 생겼다는 사실과 업무 요구가 충족됐다는 사실은 다릅니다.</a:t>
            </a:r>
          </a:p>
          <a:p xmlns:a="http://schemas.openxmlformats.org/drawingml/2006/main">
            <a:r>
              <a:t/>
            </a:r>
          </a:p>
          <a:p xmlns:a="http://schemas.openxmlformats.org/drawingml/2006/main">
            <a:r>
              <a:t>**예를 따라 읽기.** 센서 온도 28을 주의로 분류해 달라는 요청은 입력·기준·출력·확인 방법을 포함할 수 있습니다.</a:t>
            </a:r>
          </a:p>
          <a:p xmlns:a="http://schemas.openxmlformats.org/drawingml/2006/main">
            <a:r>
              <a:t/>
            </a:r>
          </a:p>
          <a:p xmlns:a="http://schemas.openxmlformats.org/drawingml/2006/main">
            <a:r>
              <a:t>**헷갈리는 반례.** “알아서 좋게 고쳐”는 유지해야할 함수 이름이나 28 ℃ 경계를 알려 주지 않습니다.</a:t>
            </a:r>
          </a:p>
          <a:p xmlns:a="http://schemas.openxmlformats.org/drawingml/2006/main">
            <a:r>
              <a:t/>
            </a:r>
          </a:p>
          <a:p xmlns:a="http://schemas.openxmlformats.org/drawingml/2006/main">
            <a:r>
              <a:t>**직접 적용.** 요청서에서 목적을 한 문장으로 찾기 → AI가 제안할 일과 사람이 판단할 일 나누기 → 고친 파일과 실행 결과 두 가지 적기 → 짝에게 도구와 검토자의 역할 설명하기</a:t>
            </a:r>
          </a:p>
          <a:p xmlns:a="http://schemas.openxmlformats.org/drawingml/2006/main">
            <a:r>
              <a:t/>
            </a:r>
          </a:p>
          <a:p xmlns:a="http://schemas.openxmlformats.org/drawingml/2006/main">
            <a:r>
              <a:t>**설명할 질문.** 코드가 생긴 것만으로 완료가 아닌 이유는 무엇인가요?</a:t>
            </a:r>
          </a:p>
          <a:p xmlns:a="http://schemas.openxmlformats.org/drawingml/2006/main">
            <a:r>
              <a:t/>
            </a:r>
          </a:p>
          <a:p xmlns:a="http://schemas.openxmlformats.org/drawingml/2006/main">
            <a:r>
              <a:t>**막혔을 때.** 도구 이름과 능력을 혼동하면 읽기·변경·실행 중 실제로 허용한 행동을 따로 적습니다.</a:t>
            </a:r>
          </a:p>
          <a:p xmlns:a="http://schemas.openxmlformats.org/drawingml/2006/main">
            <a:r>
              <a:t/>
            </a:r>
          </a:p>
          <a:p xmlns:a="http://schemas.openxmlformats.org/drawingml/2006/main">
            <a:r>
              <a:t>입력·답칸·확인 순서는 [실습지의 A01](practice-guide.md#a01)와 [활동 원문](examples/course/data/A01_input.md)에 있습니다.</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outputs/2026-10-20/lesson.md#A01</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https://zeusk302-png.github.io/kdigital-physical-ai/#/sessions/2026-10-20/activity-A01</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AI 도구는 허용된 파일과 명령을 사용합니다.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실제 모델·유료 API 호출은 없습니다.</a:t>
            </a:r>
          </a:p>
          <a:p xmlns:a="http://schemas.openxmlformats.org/drawingml/2006/main">
            <a:r>
              <a:t/>
            </a:r>
          </a:p>
          <a:p xmlns:a="http://schemas.openxmlformats.org/drawingml/2006/main">
            <a:r>
              <a:t>이 표에서 볼 것: AI 도구는 허용된 파일과 명령을 사용합니다. 사람은 업무 규칙과 확인 범위를 결정합니다.</a:t>
            </a:r>
          </a:p>
          <a:p xmlns:a="http://schemas.openxmlformats.org/drawingml/2006/main">
            <a:r>
              <a:t>예상 결과: 코드 생성과 실제 실행은 서로 다릅니다. 실행 성공 뒤에도 요구를 확인합니다.</a:t>
            </a:r>
          </a:p>
          <a:p xmlns:a="http://schemas.openxmlformats.org/drawingml/2006/main">
            <a:r>
              <a:t/>
            </a:r>
          </a:p>
          <a:p xmlns:a="http://schemas.openxmlformats.org/drawingml/2006/main">
            <a:r>
              <a:t>풀이: 연습 작업본 읽기·수정·검사 실행으로 제한합니다. 고객 정보·접속 암호·외부 게시 등은 해당 작업의 근거에 필요하지 않습니다.</a:t>
            </a:r>
          </a:p>
          <a:p xmlns:a="http://schemas.openxmlformats.org/drawingml/2006/main">
            <a:r>
              <a:t>학생에게 각 행에 어떤 값을 넣고 어떤 결과가 나오는지 물어봅니다. 이름이 같은 파일을 다른 폴더에서 읽지 않았는지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https://zeusk302-png.github.io/kdigital-physical-ai/#/sessions/2026-10-20/activity-A01</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표의 항목과 값은 원문 그대로 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코드 생성과 실제 실행은 서로 다릅니다. 실행 성공 뒤에도 요구를 확인합니다.</a:t>
            </a:r>
          </a:p>
          <a:p xmlns:a="http://schemas.openxmlformats.org/drawingml/2006/main">
            <a:r>
              <a:t/>
            </a:r>
          </a:p>
          <a:p xmlns:a="http://schemas.openxmlformats.org/drawingml/2006/main">
            <a:r>
              <a:t>앞에서 배운 내용: AI 도구는 허용된 파일과 명령을 사용합니다. 사람은 업무 규칙과 확인 범위를 결정합니다.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풀이: 연습 작업본 읽기·수정·검사 실행으로 제한합니다. 고객 정보·접속 암호·외부 게시 등은 해당 작업의 근거에 필요하지 않습니다.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outputs/2026-10-20/lesson.md#A01</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https://zeusk302-png.github.io/kdigital-physical-ai/#/sessions/2026-10-20/activity-A01</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코드 생성과 실제 실행은 서로 다릅니다.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한 함수 수정에 허용할 행동을 적어 보세요.</a:t>
            </a:r>
          </a:p>
          <a:p xmlns:a="http://schemas.openxmlformats.org/drawingml/2006/main">
            <a:r>
              <a:t/>
            </a:r>
          </a:p>
          <a:p xmlns:a="http://schemas.openxmlformats.org/drawingml/2006/main">
            <a:r>
              <a:t>정답과 풀이: 연습 작업본 읽기·수정·검사 실행으로 제한합니다. 고객 정보·접속 암호·외부 게시 등은 해당 작업의 근거에 필요하지 않습니다.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https://zeusk302-png.github.io/kdigital-physical-ai/#/sessions/2026-10-20/activity-A01</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A02의 개념과 원문 해설입니다.</a:t>
            </a:r>
          </a:p>
          <a:p xmlns:a="http://schemas.openxmlformats.org/drawingml/2006/main">
            <a:r>
              <a:t>### A02 · 작은 작업과 수정 범위</a:t>
            </a:r>
          </a:p>
          <a:p xmlns:a="http://schemas.openxmlformats.org/drawingml/2006/main">
            <a:r>
              <a:t/>
            </a:r>
          </a:p>
          <a:p xmlns:a="http://schemas.openxmlformats.org/drawingml/2006/main">
            <a:r>
              <a:t>**뜻과 비유.** 작업 범위는 어떤 파일과 동작을 바꿀지 정한 경계입니다. 전체 프로그램을 한 번에 고치기보다 한 함수의 분류 규칙처럼 확인 가능한 단위로 나눕니다.</a:t>
            </a:r>
          </a:p>
          <a:p xmlns:a="http://schemas.openxmlformats.org/drawingml/2006/main">
            <a:r>
              <a:t/>
            </a:r>
          </a:p>
          <a:p xmlns:a="http://schemas.openxmlformats.org/drawingml/2006/main">
            <a:r>
              <a:t>**왜 필요한가.** 범위를 알면 변경 비교가 짧아지고 잘못 바꾼 항목을 되돌리기 쉽습니다. 10/16의 변경 비교가 여기서 업무 검토 근거가 됩니다.</a:t>
            </a:r>
          </a:p>
          <a:p xmlns:a="http://schemas.openxmlformats.org/drawingml/2006/main">
            <a:r>
              <a:t/>
            </a:r>
          </a:p>
          <a:p xmlns:a="http://schemas.openxmlformats.org/drawingml/2006/main">
            <a:r>
              <a:t>**예를 따라 읽기.** 오늘은 classifier.py의 classify 동작만 바꾸고 함수 이름과 threshold =28을 유지합니다.</a:t>
            </a:r>
          </a:p>
          <a:p xmlns:a="http://schemas.openxmlformats.org/drawingml/2006/main">
            <a:r>
              <a:t/>
            </a:r>
          </a:p>
          <a:p xmlns:a="http://schemas.openxmlformats.org/drawingml/2006/main">
            <a:r>
              <a:t>**헷갈리는 반례.** 결과를 맞추려고 cases.json 기대 값을 변경하면 검사기준을 바꾼 것이므로 요청한 코드를 올바르게 고쳤다고 할 수 없습니다.</a:t>
            </a:r>
          </a:p>
          <a:p xmlns:a="http://schemas.openxmlformats.org/drawingml/2006/main">
            <a:r>
              <a:t/>
            </a:r>
          </a:p>
          <a:p xmlns:a="http://schemas.openxmlformats.org/drawingml/2006/main">
            <a:r>
              <a:t>**직접 적용.** 바꿀 파일 하나 적기 → 유지할 이름·기준·입출력 찾기 → 요청 밖 변경 예 두 가지 표시하기 → 작업 요청서에 범위 적기</a:t>
            </a:r>
          </a:p>
          <a:p xmlns:a="http://schemas.openxmlformats.org/drawingml/2006/main">
            <a:r>
              <a:t/>
            </a:r>
          </a:p>
          <a:p xmlns:a="http://schemas.openxmlformats.org/drawingml/2006/main">
            <a:r>
              <a:t>**설명할 질문.** 테스트 기대 값을 바꾸면 왜 문제가 숨을 수 있나요?</a:t>
            </a:r>
          </a:p>
          <a:p xmlns:a="http://schemas.openxmlformats.org/drawingml/2006/main">
            <a:r>
              <a:t/>
            </a:r>
          </a:p>
          <a:p xmlns:a="http://schemas.openxmlformats.org/drawingml/2006/main">
            <a:r>
              <a:t>**막혔을 때.** 파일을 못 찾으면 압축을 푼 course 폴더의 code·data·work 위치부터 확인합니다.</a:t>
            </a:r>
          </a:p>
          <a:p xmlns:a="http://schemas.openxmlformats.org/drawingml/2006/main">
            <a:r>
              <a:t/>
            </a:r>
          </a:p>
          <a:p xmlns:a="http://schemas.openxmlformats.org/drawingml/2006/main">
            <a:r>
              <a:t>입력·답칸·확인 순서는 [실습지의 A02](practice-guide.md#a02)와 [활동 원문](examples/course/data/A02_input.md)에 있습니다.</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outputs/2026-10-20/lesson.md#A02</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https://zeusk302-png.github.io/kdigital-physical-ai/#/sessions/2026-10-20/activity-A02</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work/classifier.py의 classify를 고칩니다.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검사 기대를 후보에 맞춰 바꾸지 않습니다.</a:t>
            </a:r>
          </a:p>
          <a:p xmlns:a="http://schemas.openxmlformats.org/drawingml/2006/main">
            <a:r>
              <a:t/>
            </a:r>
          </a:p>
          <a:p xmlns:a="http://schemas.openxmlformats.org/drawingml/2006/main">
            <a:r>
              <a:t>이 표에서 볼 것: work/classifier.py의 classify를 고칩니다. 함수 이름과 기본 기준 28을 유지합니다.</a:t>
            </a:r>
          </a:p>
          <a:p xmlns:a="http://schemas.openxmlformats.org/drawingml/2006/main">
            <a:r>
              <a:t>예상 결과: 변경한 파일과 이유를 설명합니다. 요청 밖 변경은 따로 확인합니다.</a:t>
            </a:r>
          </a:p>
          <a:p xmlns:a="http://schemas.openxmlformats.org/drawingml/2006/main">
            <a:r>
              <a:t/>
            </a:r>
          </a:p>
          <a:p xmlns:a="http://schemas.openxmlformats.org/drawingml/2006/main">
            <a:r>
              <a:t>풀이: 요구를 해결한 근거가 아닙니다. 승인된 요구 변경 없이 기대를 바꾸면 실패를 숨길 수 있습니다.</a:t>
            </a:r>
          </a:p>
          <a:p xmlns:a="http://schemas.openxmlformats.org/drawingml/2006/main">
            <a:r>
              <a:t>학생에게 각 행에 어떤 값을 넣고 어떤 결과가 나오는지 물어봅니다. 이름이 같은 파일을 다른 폴더에서 읽지 않았는지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https://zeusk302-png.github.io/kdigital-physical-ai/#/sessions/2026-10-20/activity-A02</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표의 항목과 값은 원문 그대로 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어느 파일의 어느 줄을 왜 고쳤는지 적습니다. 요청하지 않은 곳도 바뀌었는지 확인합니다.</a:t>
            </a:r>
          </a:p>
          <a:p xmlns:a="http://schemas.openxmlformats.org/drawingml/2006/main">
            <a:r>
              <a:t/>
            </a:r>
          </a:p>
          <a:p xmlns:a="http://schemas.openxmlformats.org/drawingml/2006/main">
            <a:r>
              <a:t>앞에서 배운 내용: work/classifier.py의 classify를 고칩니다. 함수 이름과 기본 기준 28을 유지합니다.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풀이: 요구를 해결한 근거가 아닙니다. 승인된 요구 변경 없이 기대를 바꾸면 실패를 숨길 수 있습니다.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outputs/2026-10-20/lesson.md#A02</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https://zeusk302-png.github.io/kdigital-physical-ai/#/sessions/2026-10-20/activity-A02</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어느 파일의 어느 줄을 왜 고쳤는지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AI가 기대 결과를 고쳐 통과시키자고 합니다. 이 제안을 어떻게 검토하나요?</a:t>
            </a:r>
          </a:p>
          <a:p xmlns:a="http://schemas.openxmlformats.org/drawingml/2006/main">
            <a:r>
              <a:t/>
            </a:r>
          </a:p>
          <a:p xmlns:a="http://schemas.openxmlformats.org/drawingml/2006/main">
            <a:r>
              <a:t>정답과 풀이: 요구를 해결한 근거가 아닙니다. 승인된 요구 변경 없이 기대를 바꾸면 실패를 숨길 수 있습니다.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https://zeusk302-png.github.io/kdigital-physical-ai/#/sessions/2026-10-20/activity-A02</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A03의 개념과 원문 해설입니다.</a:t>
            </a:r>
          </a:p>
          <a:p xmlns:a="http://schemas.openxmlformats.org/drawingml/2006/main">
            <a:r>
              <a:t>### A03 · 컨텍스트와 관련 자료</a:t>
            </a:r>
          </a:p>
          <a:p xmlns:a="http://schemas.openxmlformats.org/drawingml/2006/main">
            <a:r>
              <a:t/>
            </a:r>
          </a:p>
          <a:p xmlns:a="http://schemas.openxmlformats.org/drawingml/2006/main">
            <a:r>
              <a:t>**뜻과 비유.** 컨텍스트는 이번 일을 이해하는 데 필요한 설명과 자료입니다. 파일 전체를 많이 넣는 것보다 어떤 입력이 어떤 문제를 만드는지 정확히 전달하는 것이 중요합니다.</a:t>
            </a:r>
          </a:p>
          <a:p xmlns:a="http://schemas.openxmlformats.org/drawingml/2006/main">
            <a:r>
              <a:t/>
            </a:r>
          </a:p>
          <a:p xmlns:a="http://schemas.openxmlformats.org/drawingml/2006/main">
            <a:r>
              <a:t>**왜 필요한가.** 도구가 보지 못한 파일이나 숨은 업무 규칙을 저절로 안다고 가정하면 엉뚱한 수정이 나올 수 있습니다.</a:t>
            </a:r>
          </a:p>
          <a:p xmlns:a="http://schemas.openxmlformats.org/drawingml/2006/main">
            <a:r>
              <a:t/>
            </a:r>
          </a:p>
          <a:p xmlns:a="http://schemas.openxmlformats.org/drawingml/2006/main">
            <a:r>
              <a:t>**예를 따라 읽기.** 원본 함수·가상 입력·기대 결과·실제 오류 마지막 줄은 문제를 재현하는 데 도움이 됩니다.</a:t>
            </a:r>
          </a:p>
          <a:p xmlns:a="http://schemas.openxmlformats.org/drawingml/2006/main">
            <a:r>
              <a:t/>
            </a:r>
          </a:p>
          <a:p xmlns:a="http://schemas.openxmlformats.org/drawingml/2006/main">
            <a:r>
              <a:t>**헷갈리는 반례.** 관계없는 오래된 프로젝트와 실제 계정 비밀번호는 오늘의 분류 규칙을 설명하는 데 필요하지 않습니다.</a:t>
            </a:r>
          </a:p>
          <a:p xmlns:a="http://schemas.openxmlformats.org/drawingml/2006/main">
            <a:r>
              <a:t/>
            </a:r>
          </a:p>
          <a:p xmlns:a="http://schemas.openxmlformats.org/drawingml/2006/main">
            <a:r>
              <a:t>**직접 적용.** 여섯 자료 카드 읽기 → 관련·무관·공유하지 않을 자료로 분류하기 → 선택한 자료의 필요성을 한 줄씩 쓰기 → 빠진 맥락 하나를 질문으로 남기기</a:t>
            </a:r>
          </a:p>
          <a:p xmlns:a="http://schemas.openxmlformats.org/drawingml/2006/main">
            <a:r>
              <a:t/>
            </a:r>
          </a:p>
          <a:p xmlns:a="http://schemas.openxmlformats.org/drawingml/2006/main">
            <a:r>
              <a:t>**설명할 질문.** 자료가 많으면 항상 더 좋은 요청이 되나요?</a:t>
            </a:r>
          </a:p>
          <a:p xmlns:a="http://schemas.openxmlformats.org/drawingml/2006/main">
            <a:r>
              <a:t/>
            </a:r>
          </a:p>
          <a:p xmlns:a="http://schemas.openxmlformats.org/drawingml/2006/main">
            <a:r>
              <a:t>**막혔을 때.** 출처와 사용 목적을 구분하지 못하면 각 자료가 어떤 질문에 답하는지 적어 봅니다.</a:t>
            </a:r>
          </a:p>
          <a:p xmlns:a="http://schemas.openxmlformats.org/drawingml/2006/main">
            <a:r>
              <a:t/>
            </a:r>
          </a:p>
          <a:p xmlns:a="http://schemas.openxmlformats.org/drawingml/2006/main">
            <a:r>
              <a:t>입력·답칸·확인 순서는 [실습지의 A03](practice-guide.md#a03)와 [활동 원문](examples/course/data/A03_input.md)에 있습니다.</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outputs/2026-10-20/lesson.md#A03</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https://zeusk302-png.github.io/kdigital-physical-ai/#/sessions/2026-10-20/activity-A03</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현재 함수와 실패 입력을 제공합니다.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현재 함수와 실패한 입력을 함께 보여 줍니다.</a:t>
            </a:r>
          </a:p>
          <a:p xmlns:a="http://schemas.openxmlformats.org/drawingml/2006/main">
            <a:r>
              <a:t/>
            </a:r>
          </a:p>
          <a:p xmlns:a="http://schemas.openxmlformats.org/drawingml/2006/main">
            <a:r>
              <a:t>이 표에서 볼 것: 현재 함수와 실패 입력을 제공합니다. 비밀 대신 가상 자료를 사용합니다.</a:t>
            </a:r>
          </a:p>
          <a:p xmlns:a="http://schemas.openxmlformats.org/drawingml/2006/main">
            <a:r>
              <a:t>예상 결과: 기준값과 기대 출력이 빠졌는지 읽습니다. 자료의 출처와 목적도 남깁니다.</a:t>
            </a:r>
          </a:p>
          <a:p xmlns:a="http://schemas.openxmlformats.org/drawingml/2006/main">
            <a:r>
              <a:t/>
            </a:r>
          </a:p>
          <a:p xmlns:a="http://schemas.openxmlformats.org/drawingml/2006/main">
            <a:r>
              <a:t>풀이: 현재 함수, 동일한 검사 입력, 비밀을 제거한 실패 결과를 제공합니다. 읽지 못한 업무 규칙을 AI가 저절로 아는 것으로 추정하지 않습니다.</a:t>
            </a:r>
          </a:p>
          <a:p xmlns:a="http://schemas.openxmlformats.org/drawingml/2006/main">
            <a:r>
              <a:t>학생에게 각 행에 어떤 값을 넣고 어떤 결과가 나오는지 물어봅니다. 이름이 같은 파일을 다른 폴더에서 읽지 않았는지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https://zeusk302-png.github.io/kdigital-physical-ai/#/sessions/2026-10-20/activity-A03</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표의 항목과 값은 원문 그대로 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기준값과 예상 출력이 적혀 있는지 확인합니다. 자료를 어디에서 얻었는지도 적습니다.</a:t>
            </a:r>
          </a:p>
          <a:p xmlns:a="http://schemas.openxmlformats.org/drawingml/2006/main">
            <a:r>
              <a:t/>
            </a:r>
          </a:p>
          <a:p xmlns:a="http://schemas.openxmlformats.org/drawingml/2006/main">
            <a:r>
              <a:t>앞에서 배운 내용: 현재 함수와 실패 입력을 제공합니다. 비밀 대신 가상 자료를 사용합니다.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풀이: 현재 함수, 동일한 검사 입력, 비밀을 제거한 실패 결과를 제공합니다. 읽지 못한 업무 규칙을 AI가 저절로 아는 것으로 추정하지 않습니다.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outputs/2026-10-20/lesson.md#A03</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https://zeusk302-png.github.io/kdigital-physical-ai/#/sessions/2026-10-20/activity-A03</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기준값과 예상 출력이 적혀 있는지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28 경계 수정에 자료 세 개를 고르세요.</a:t>
            </a:r>
          </a:p>
          <a:p xmlns:a="http://schemas.openxmlformats.org/drawingml/2006/main">
            <a:r>
              <a:t/>
            </a:r>
          </a:p>
          <a:p xmlns:a="http://schemas.openxmlformats.org/drawingml/2006/main">
            <a:r>
              <a:t>정답과 풀이: 현재 함수, 동일한 검사 입력, 비밀을 제거한 실패 결과를 제공합니다. 읽지 못한 업무 규칙을 AI가 저절로 아는 것으로 추정하지 않습니다.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https://zeusk302-png.github.io/kdigital-physical-ai/#/sessions/2026-10-20/activity-A03</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2교시 주제는 근거가 있는 요청서입니다. </a:t>
            </a:r>
          </a:p>
          <a:p xmlns:a="http://schemas.openxmlformats.org/drawingml/2006/main">
            <a:r>
              <a:t/>
            </a:r>
          </a:p>
          <a:p xmlns:a="http://schemas.openxmlformats.org/drawingml/2006/main">
            <a:r>
              <a:t>예제를 보여 준 뒤 학생과 함께 따라 해 봅니다. 학생이 한 값을 바꾸고 결과를 예상하게 한 다음 실제 결과와 비교합니다. beginner-start의 교시별 활동부터 진행하고 남은 문제는 복습으로 안내합니다. 설치가 안 되면 제공 출력으로 같은 문제를 풀게 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outputs/2026-10-20/beginner-start.md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https://zeusk302-png.github.io/kdigital-physical-ai/#/sessions/2026-10-20/activity-A04</a:t>
            </a:r>
          </a:p>
          <a:p xmlns:a="http://schemas.openxmlformats.org/drawingml/2006/main">
            <a:r>
              <a:t>공식 자료: https://docs.python.org/3/builtins/functions.html#type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정상·경계·누락·오류의 기대 결과를 정합니다. 함수 이름과 반환값도 그대로 지켜야 합니다.</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outputs/2026-10-20/lesson.md#A04</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https://zeusk302-png.github.io/kdigital-physical-ai/#/sessions/2026-10-20/activity-A04</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정상·경계·누락·오류의 기대 결과를 정합니다.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A04의 개념과 원문 해설입니다.</a:t>
            </a:r>
          </a:p>
          <a:p xmlns:a="http://schemas.openxmlformats.org/drawingml/2006/main">
            <a:r>
              <a:t>### A04 · 입력과 출력 계약</a:t>
            </a:r>
          </a:p>
          <a:p xmlns:a="http://schemas.openxmlformats.org/drawingml/2006/main">
            <a:r>
              <a:t/>
            </a:r>
          </a:p>
          <a:p xmlns:a="http://schemas.openxmlformats.org/drawingml/2006/main">
            <a:r>
              <a:t>#### 사례로 이해하기 · 요청을 검사 가능한 약속으로 바꾸기</a:t>
            </a:r>
          </a:p>
          <a:p xmlns:a="http://schemas.openxmlformats.org/drawingml/2006/main">
            <a:r>
              <a:t/>
            </a:r>
          </a:p>
          <a:p xmlns:a="http://schemas.openxmlformats.org/drawingml/2006/main">
            <a:r>
              <a:t>#### 실무 상황</a:t>
            </a:r>
          </a:p>
          <a:p xmlns:a="http://schemas.openxmlformats.org/drawingml/2006/main">
            <a:r>
              <a:t/>
            </a:r>
          </a:p>
          <a:p xmlns:a="http://schemas.openxmlformats.org/drawingml/2006/main">
            <a:r>
              <a:t>동료가 “높은 온도를 주의로 표시”라고만 설명합니다. 28은 높은 값인가요? 값이 없으면 무엇을 표시하나요? 기계가 이해할 조건을 쓰기 전에 사람끼리 애매한 표현을 정확한 입출력 약속으로 바꿔야 합니다. 코드 한 줄의 차이가 사용자 안내를 바꾸기 때문입니다.</a:t>
            </a:r>
          </a:p>
          <a:p xmlns:a="http://schemas.openxmlformats.org/drawingml/2006/main">
            <a:r>
              <a:t/>
            </a:r>
          </a:p>
          <a:p xmlns:a="http://schemas.openxmlformats.org/drawingml/2006/main">
            <a:r>
              <a:t>#### 쉬운 풀이</a:t>
            </a:r>
          </a:p>
          <a:p xmlns:a="http://schemas.openxmlformats.org/drawingml/2006/main">
            <a:r>
              <a:t/>
            </a:r>
          </a:p>
          <a:p xmlns:a="http://schemas.openxmlformats.org/drawingml/2006/main">
            <a:r>
              <a:t>계약은 함수가 받을 값과 돌려줄 결과의 약속입니다. 정상 사례는 흔한 입력, 경계 사례는 규칙이 바뀌는 근처 입력, 오류 사례는 허용하지 않은 입력입니다. 온도 0은 측정값이고 None은 값이 없다는 표시입니다. 글자 "28"과 숫자 28은 화면에 비슷해 보여도 자료형이 다릅니다. 오늘 계약은 문자 숫자를 자동 변환하지 않고 입력 오류로 처리합니다. 업무 규칙이 달라지면 별도 승인이 필요합니다.</a:t>
            </a:r>
          </a:p>
          <a:p xmlns:a="http://schemas.openxmlformats.org/drawingml/2006/main">
            <a:r>
              <a:t/>
            </a:r>
          </a:p>
          <a:p xmlns:a="http://schemas.openxmlformats.org/drawingml/2006/main">
            <a:r>
              <a:t>#### 완성 예와 풀이</a:t>
            </a:r>
          </a:p>
          <a:p xmlns:a="http://schemas.openxmlformats.org/drawingml/2006/main">
            <a:r>
              <a:t/>
            </a:r>
          </a:p>
          <a:p xmlns:a="http://schemas.openxmlformats.org/drawingml/2006/main">
            <a:r>
              <a:t>함수 이름 classify와 기본 기준 28을 유지합니다. 유효한 수는 0~50이며 28 이상은 주의, 미만은 정상입니다. None은 미측정, 문자·불리언·범위 밖 값은 입력 오류입니다. `classify(27.9)`→정상, `classify(28)`→주의, `classify(28.1)`→주의, `classify(None)`→미측정으로 표를 작성합니다. `classify(0)`→정상을 별도 행으로 두면 None을 0으로 바꾼 후보의 문제를 찾을 수 있습니다. 기준을 27로 내리면 27.9의 약속이 깨집니다. 검사 파일의 기대 값을 바꾸어서 후보를 통과시키면 요구 검증이 되지 않습니다.</a:t>
            </a:r>
          </a:p>
          <a:p xmlns:a="http://schemas.openxmlformats.org/drawingml/2006/main">
            <a:r>
              <a:t/>
            </a:r>
          </a:p>
          <a:p xmlns:a="http://schemas.openxmlformats.org/drawingml/2006/main">
            <a:r>
              <a:t>#### 독립 추가 복습 과제</a:t>
            </a:r>
          </a:p>
          <a:p xmlns:a="http://schemas.openxmlformats.org/drawingml/2006/main">
            <a:r>
              <a:t/>
            </a:r>
          </a:p>
          <a:p xmlns:a="http://schemas.openxmlformats.org/drawingml/2006/main">
            <a:r>
              <a:t>냉장 보관 가상 규칙은 “5 초과이면 점검, 5 이하는 정상”입니다. 4.9·5·5.1의 기대를 직접 쓰고 온도 기준의 “이상” 규칙과 어떤 비교 기호가 다른지 설명하세요. 누락 값의 처리 약속도 한 문장 작성하세요.</a:t>
            </a:r>
          </a:p>
          <a:p xmlns:a="http://schemas.openxmlformats.org/drawingml/2006/main">
            <a:r>
              <a:t/>
            </a:r>
          </a:p>
          <a:p xmlns:a="http://schemas.openxmlformats.org/drawingml/2006/main">
            <a:r>
              <a:t>#### 답과 대표 오답</a:t>
            </a:r>
          </a:p>
          <a:p xmlns:a="http://schemas.openxmlformats.org/drawingml/2006/main">
            <a:r>
              <a:t/>
            </a:r>
          </a:p>
          <a:p xmlns:a="http://schemas.openxmlformats.org/drawingml/2006/main">
            <a:r>
              <a:t>4.9와 5는 정상, 5.1은 점검이며 초과는 &gt;입니다. “5도 점검”은 초과와 이상을 혼동했습니다. 누락은 측정하지 못했음을 별도로 표시해야 하며 정상으로 채우는 답은 유효 측정과 누락을 합칩니다.</a:t>
            </a:r>
          </a:p>
          <a:p xmlns:a="http://schemas.openxmlformats.org/drawingml/2006/main">
            <a:r>
              <a:t/>
            </a:r>
          </a:p>
          <a:p xmlns:a="http://schemas.openxmlformats.org/drawingml/2006/main">
            <a:r>
              <a:t>#### 확인 질문과 해설</a:t>
            </a:r>
          </a:p>
          <a:p xmlns:a="http://schemas.openxmlformats.org/drawingml/2006/main">
            <a:r>
              <a:t/>
            </a:r>
          </a:p>
          <a:p xmlns:a="http://schemas.openxmlformats.org/drawingml/2006/main">
            <a:r>
              <a:t>① 함수 이름을 유지하는 이유는 무엇인가요? 기존 호출자가 같은 이름을 사용합니다. ② 경계 세 값을 두는 이유는 무엇인가요? 기준과 비교 기호의 오류를 구별합니다. ③ 출력 표만 맞으면 충분한가요? 실제 대상 함수의 실행과 유지 조건도 확인합니다.</a:t>
            </a:r>
          </a:p>
          <a:p xmlns:a="http://schemas.openxmlformats.org/drawingml/2006/main">
            <a:r>
              <a:t/>
            </a:r>
          </a:p>
          <a:p xmlns:a="http://schemas.openxmlformats.org/drawingml/2006/main">
            <a:r>
              <a:t>**뜻과 비유.** 입출력 계약은 어떤 값을 받아 어떤 형태로 답할지 정한 약속입니다. 함수의 내부가 달라져도 호출하는 쪽이 기대하는 이름과 결과는 유지해야합니다.</a:t>
            </a:r>
          </a:p>
          <a:p xmlns:a="http://schemas.openxmlformats.org/drawingml/2006/main">
            <a:r>
              <a:t/>
            </a:r>
          </a:p>
          <a:p xmlns:a="http://schemas.openxmlformats.org/drawingml/2006/main">
            <a:r>
              <a:t>**왜 필요한가.** 함수 이름을 바꾸거나 새 숫자 코드를 반환하면 기존 호출 자는 결과를 이해하지 못할 수 있습니다.</a:t>
            </a:r>
          </a:p>
          <a:p xmlns:a="http://schemas.openxmlformats.org/drawingml/2006/main">
            <a:r>
              <a:t/>
            </a:r>
          </a:p>
          <a:p xmlns:a="http://schemas.openxmlformats.org/drawingml/2006/main">
            <a:r>
              <a:t>**예를 따라 읽기.** classify(28)는 주의, classify(None)는 미측정으로 답하도록 요청에 씁니다.</a:t>
            </a:r>
          </a:p>
          <a:p xmlns:a="http://schemas.openxmlformats.org/drawingml/2006/main">
            <a:r>
              <a:t/>
            </a:r>
          </a:p>
          <a:p xmlns:a="http://schemas.openxmlformats.org/drawingml/2006/main">
            <a:r>
              <a:t>**헷갈리는 반례.** 미측정을 정상으로 부르면 측정하지 못한 상황이 정상 온도로 보입니다.</a:t>
            </a:r>
          </a:p>
          <a:p xmlns:a="http://schemas.openxmlformats.org/drawingml/2006/main">
            <a:r>
              <a:t/>
            </a:r>
          </a:p>
          <a:p xmlns:a="http://schemas.openxmlformats.org/drawingml/2006/main">
            <a:r>
              <a:t>**직접 적용.** 요청서에서 허용 입력 추출하기 → 네 반환 문자열을 표로 쓰기 → 함수 호출 하나의 입력·출력 연결하기 → task.md에 계약 작성하기</a:t>
            </a:r>
          </a:p>
          <a:p xmlns:a="http://schemas.openxmlformats.org/drawingml/2006/main">
            <a:r>
              <a:t/>
            </a:r>
          </a:p>
          <a:p xmlns:a="http://schemas.openxmlformats.org/drawingml/2006/main">
            <a:r>
              <a:t>**설명할 질문.** 함수 이름과 반환 문자열을 유지하는 이유는 무엇인가요?</a:t>
            </a:r>
          </a:p>
          <a:p xmlns:a="http://schemas.openxmlformats.org/drawingml/2006/main">
            <a:r>
              <a:t/>
            </a:r>
          </a:p>
          <a:p xmlns:a="http://schemas.openxmlformats.org/drawingml/2006/main">
            <a:r>
              <a:t>**막혔을 때.** None과 문자열 "None"이 헷갈리면 10/8의 값 없음과 글자 차이를 다시 비교합니다.</a:t>
            </a:r>
          </a:p>
          <a:p xmlns:a="http://schemas.openxmlformats.org/drawingml/2006/main">
            <a:r>
              <a:t/>
            </a:r>
          </a:p>
          <a:p xmlns:a="http://schemas.openxmlformats.org/drawingml/2006/main">
            <a:r>
              <a:t>입력·답칸·확인 순서는 [실습지의 A04](practice-guide.md#a04)와 [활동 원문](examples/course/data/A04_input.md)에 있습니다.</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outputs/2026-10-20/lesson.md#A04</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https://zeusk302-png.github.io/kdigital-physical-ai/#/sessions/2026-10-20/activity-A04</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0~50의 숫자 온도를 받습니다.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문자 숫자와 실제 숫자를 구별합니다.</a:t>
            </a:r>
          </a:p>
          <a:p xmlns:a="http://schemas.openxmlformats.org/drawingml/2006/main">
            <a:r>
              <a:t/>
            </a:r>
          </a:p>
          <a:p xmlns:a="http://schemas.openxmlformats.org/drawingml/2006/main">
            <a:r>
              <a:t>이 표에서 볼 것: 0~50의 숫자 온도를 받습니다. 28 이상은 주의, 미만은 정상입니다.</a:t>
            </a:r>
          </a:p>
          <a:p xmlns:a="http://schemas.openxmlformats.org/drawingml/2006/main">
            <a:r>
              <a:t>예상 결과: 함수 이름과 반환 문자열을 유지합니다. 누락을 정상 값으로 채우지 않습니다.</a:t>
            </a:r>
          </a:p>
          <a:p xmlns:a="http://schemas.openxmlformats.org/drawingml/2006/main">
            <a:r>
              <a:t/>
            </a:r>
          </a:p>
          <a:p xmlns:a="http://schemas.openxmlformats.org/drawingml/2006/main">
            <a:r>
              <a:t>풀이: 0은 실제 유효한 온도이고 None은 측정 값 없음입니다. 정상과 미측정을 나눕니다. 문자열 "None"과 None도 자료형이 다릅니다.</a:t>
            </a:r>
          </a:p>
          <a:p xmlns:a="http://schemas.openxmlformats.org/drawingml/2006/main">
            <a:r>
              <a:t>학생에게 각 행에 어떤 값을 넣고 어떤 결과가 나오는지 물어봅니다. 이름이 같은 파일을 다른 폴더에서 읽지 않았는지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https://zeusk302-png.github.io/kdigital-physical-ai/#/sessions/2026-10-20/activity-A04</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표의 항목과 값은 원문 그대로 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함수 이름과 반환 문자열을 유지합니다. 값이 없을 때 임의로 정상 값을 넣지 않습니다.</a:t>
            </a:r>
          </a:p>
          <a:p xmlns:a="http://schemas.openxmlformats.org/drawingml/2006/main">
            <a:r>
              <a:t/>
            </a:r>
          </a:p>
          <a:p xmlns:a="http://schemas.openxmlformats.org/drawingml/2006/main">
            <a:r>
              <a:t>앞에서 배운 내용: 0~50의 숫자 온도를 받습니다. 28 이상은 주의, 미만은 정상입니다.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풀이: 0은 실제 유효한 온도이고 None은 측정 값 없음입니다. 정상과 미측정을 나눕니다. 문자열 "None"과 None도 자료형이 다릅니다.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outputs/2026-10-20/lesson.md#A04</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https://zeusk302-png.github.io/kdigital-physical-ai/#/sessions/2026-10-20/activity-A04</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함수 이름과 반환 문자열을 유지합니다.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0과 None은 같은 결과를 뜻하나요?</a:t>
            </a:r>
          </a:p>
          <a:p xmlns:a="http://schemas.openxmlformats.org/drawingml/2006/main">
            <a:r>
              <a:t/>
            </a:r>
          </a:p>
          <a:p xmlns:a="http://schemas.openxmlformats.org/drawingml/2006/main">
            <a:r>
              <a:t>정답과 풀이: 0은 실제 유효한 온도이고 None은 측정 값 없음입니다. 정상과 미측정을 나눕니다. 문자열 "None"과 None도 자료형이 다릅니다.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https://zeusk302-png.github.io/kdigital-physical-ai/#/sessions/2026-10-20/activity-A04</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A05의 개념과 원문 해설입니다.</a:t>
            </a:r>
          </a:p>
          <a:p xmlns:a="http://schemas.openxmlformats.org/drawingml/2006/main">
            <a:r>
              <a:t>### A05 · 정상·경계·오류 사례</a:t>
            </a:r>
          </a:p>
          <a:p xmlns:a="http://schemas.openxmlformats.org/drawingml/2006/main">
            <a:r>
              <a:t/>
            </a:r>
          </a:p>
          <a:p xmlns:a="http://schemas.openxmlformats.org/drawingml/2006/main">
            <a:r>
              <a:t>**뜻과 비유.** 검사 사례는 입력과 기대 결과를 한 쌍으로 적은 것입니다. 경계 사례는 규칙이 달라지는 바로 앞·같은 값·바로 뒤를 비교합니다.</a:t>
            </a:r>
          </a:p>
          <a:p xmlns:a="http://schemas.openxmlformats.org/drawingml/2006/main">
            <a:r>
              <a:t/>
            </a:r>
          </a:p>
          <a:p xmlns:a="http://schemas.openxmlformats.org/drawingml/2006/main">
            <a:r>
              <a:t>**왜 필요한가.** 평범한 22.5 하나가 통과해도 28에서 비교 기호가 틀린 문제는 드러나지 않습니다.</a:t>
            </a:r>
          </a:p>
          <a:p xmlns:a="http://schemas.openxmlformats.org/drawingml/2006/main">
            <a:r>
              <a:t/>
            </a:r>
          </a:p>
          <a:p xmlns:a="http://schemas.openxmlformats.org/drawingml/2006/main">
            <a:r>
              <a:t>**예를 따라 읽기.** 27.9는 정상, 28 과 28.1은 주의입니다. 0은 유효하며 None은 미측정입니다.</a:t>
            </a:r>
          </a:p>
          <a:p xmlns:a="http://schemas.openxmlformats.org/drawingml/2006/main">
            <a:r>
              <a:t/>
            </a:r>
          </a:p>
          <a:p xmlns:a="http://schemas.openxmlformats.org/drawingml/2006/main">
            <a:r>
              <a:t>**헷갈리는 반례.** 글자 “뜨거움”을 0으로 바꿔 처리하면 오류 입력이 정상 기록으로 둔갑합니다.</a:t>
            </a:r>
          </a:p>
          <a:p xmlns:a="http://schemas.openxmlformats.org/drawingml/2006/main">
            <a:r>
              <a:t/>
            </a:r>
          </a:p>
          <a:p xmlns:a="http://schemas.openxmlformats.org/drawingml/2006/main">
            <a:r>
              <a:t>**직접 적용.** cases.json 아홉 입력 읽기 → 실행 전에 기대 상태 써 보기 → 경계 세 사례를 묶기 → 결과가 틀릴 때의 업무 영향을 설명하기</a:t>
            </a:r>
          </a:p>
          <a:p xmlns:a="http://schemas.openxmlformats.org/drawingml/2006/main">
            <a:r>
              <a:t/>
            </a:r>
          </a:p>
          <a:p xmlns:a="http://schemas.openxmlformats.org/drawingml/2006/main">
            <a:r>
              <a:t>**설명할 질문.** 왜 28만 확인하지 않고 27.9와 28.1도 보나요?</a:t>
            </a:r>
          </a:p>
          <a:p xmlns:a="http://schemas.openxmlformats.org/drawingml/2006/main">
            <a:r>
              <a:t/>
            </a:r>
          </a:p>
          <a:p xmlns:a="http://schemas.openxmlformats.org/drawingml/2006/main">
            <a:r>
              <a:t>**막혔을 때.** 숫자와 불리 언을 혼동하면 type(True)가 bool임을 확인하고 온도 계약과 비교합니다.</a:t>
            </a:r>
          </a:p>
          <a:p xmlns:a="http://schemas.openxmlformats.org/drawingml/2006/main">
            <a:r>
              <a:t/>
            </a:r>
          </a:p>
          <a:p xmlns:a="http://schemas.openxmlformats.org/drawingml/2006/main">
            <a:r>
              <a:t>입력·답칸·확인 순서는 [실습지의 A05](practice-guide.md#a05)와 [활동 원문](examples/course/data/A05_input.md)에 있습니다.</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outputs/2026-10-20/lesson.md#A05</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https://zeusk302-png.github.io/kdigital-physical-ai/#/sessions/2026-10-20/activity-A05</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규칙이 바뀌는 바로 앞·같은 값·뒤를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“이상”은 기준값도 포함하므로 &gt;=를 씁니다.</a:t>
            </a:r>
          </a:p>
          <a:p xmlns:a="http://schemas.openxmlformats.org/drawingml/2006/main">
            <a:r>
              <a:t/>
            </a:r>
          </a:p>
          <a:p xmlns:a="http://schemas.openxmlformats.org/drawingml/2006/main">
            <a:r>
              <a:t>이 표에서 볼 것: 규칙이 바뀌는 바로 앞·같은 값·뒤를 봅니다. 평범한 입력 한 개로는 경계를 알 수 없습니다.</a:t>
            </a:r>
          </a:p>
          <a:p xmlns:a="http://schemas.openxmlformats.org/drawingml/2006/main">
            <a:r>
              <a:t>예상 결과: 기준을 27로 낮추면 27.9도 주의가 됩니다. 기호 수정과 기준 수정은 다릅니다.</a:t>
            </a:r>
          </a:p>
          <a:p xmlns:a="http://schemas.openxmlformats.org/drawingml/2006/main">
            <a:r>
              <a:t/>
            </a:r>
          </a:p>
          <a:p xmlns:a="http://schemas.openxmlformats.org/drawingml/2006/main">
            <a:r>
              <a:t>풀이: 정상·정상·점검입니다. 초과는 &gt;이고 이상은 &gt;=입니다. None은 여전히 별도 누락 상태로 둡니다.</a:t>
            </a:r>
          </a:p>
          <a:p xmlns:a="http://schemas.openxmlformats.org/drawingml/2006/main">
            <a:r>
              <a:t>학생에게 각 행에 어떤 값을 넣고 어떤 결과가 나오는지 물어봅니다. 이름이 같은 파일을 다른 폴더에서 읽지 않았는지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https://zeusk302-png.github.io/kdigital-physical-ai/#/sessions/2026-10-20/activity-A05</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표의 항목과 값은 원문 그대로 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기준을 27로 낮추면 27.9도 주의가 됩니다. 기호 수정과 기준 수정은 다릅니다.</a:t>
            </a:r>
          </a:p>
          <a:p xmlns:a="http://schemas.openxmlformats.org/drawingml/2006/main">
            <a:r>
              <a:t/>
            </a:r>
          </a:p>
          <a:p xmlns:a="http://schemas.openxmlformats.org/drawingml/2006/main">
            <a:r>
              <a:t>앞에서 배운 내용: 규칙이 바뀌는 바로 앞·같은 값·뒤를 봅니다. 평범한 입력 한 개로는 경계를 알 수 없습니다.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풀이: 정상·정상·점검입니다. 초과는 &gt;이고 이상은 &gt;=입니다. None은 여전히 별도 누락 상태로 둡니다.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outputs/2026-10-20/lesson.md#A05</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https://zeusk302-png.github.io/kdigital-physical-ai/#/sessions/2026-10-20/activity-A05</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기준을 27로 낮추면 27.9도 주의가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새 규칙은 5 초과 점검입니다. 4.9·5·5.1의 결과는 무엇인가요?</a:t>
            </a:r>
          </a:p>
          <a:p xmlns:a="http://schemas.openxmlformats.org/drawingml/2006/main">
            <a:r>
              <a:t/>
            </a:r>
          </a:p>
          <a:p xmlns:a="http://schemas.openxmlformats.org/drawingml/2006/main">
            <a:r>
              <a:t>정답과 풀이: 정상·정상·점검입니다. 초과는 &gt;이고 이상은 &gt;=입니다. None은 여전히 별도 누락 상태로 둡니다.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https://zeusk302-png.github.io/kdigital-physical-ai/#/sessions/2026-10-20/activity-A05</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A06의 개념과 원문 해설입니다.</a:t>
            </a:r>
          </a:p>
          <a:p xmlns:a="http://schemas.openxmlformats.org/drawingml/2006/main">
            <a:r>
              <a:t>### A06 · 검증 가능한 프롬프트</a:t>
            </a:r>
          </a:p>
          <a:p xmlns:a="http://schemas.openxmlformats.org/drawingml/2006/main">
            <a:r>
              <a:t/>
            </a:r>
          </a:p>
          <a:p xmlns:a="http://schemas.openxmlformats.org/drawingml/2006/main">
            <a:r>
              <a:t>**뜻과 비유.** 프롬프트는 도구에게 전달하는 요청 문장입니다. 무엇을 고칠지, 어떤 값을 넣을지, 무엇을 유지할지, 어떻게 시험할지 적으면 도구의 결과를 직접 확인할 수 있습니다.</a:t>
            </a:r>
          </a:p>
          <a:p xmlns:a="http://schemas.openxmlformats.org/drawingml/2006/main">
            <a:r>
              <a:t/>
            </a:r>
          </a:p>
          <a:p xmlns:a="http://schemas.openxmlformats.org/drawingml/2006/main">
            <a:r>
              <a:t>**왜 필요한가.** 검사 방법을 먼저 적으면 도구가 스스로 완료라고 말해도 무엇이 확인됐는지 비교할 수 있습니다.</a:t>
            </a:r>
          </a:p>
          <a:p xmlns:a="http://schemas.openxmlformats.org/drawingml/2006/main">
            <a:r>
              <a:t/>
            </a:r>
          </a:p>
          <a:p xmlns:a="http://schemas.openxmlformats.org/drawingml/2006/main">
            <a:r>
              <a:t>**예를 따라 읽기.** “28 이상은 주의로 고치고 None은 미측정으로 남기며 아홉 사례를 실행해 결과를 보고해 주세요.”</a:t>
            </a:r>
          </a:p>
          <a:p xmlns:a="http://schemas.openxmlformats.org/drawingml/2006/main">
            <a:r>
              <a:t/>
            </a:r>
          </a:p>
          <a:p xmlns:a="http://schemas.openxmlformats.org/drawingml/2006/main">
            <a:r>
              <a:t>**헷갈리는 반례.** “완벽한 전문가 코드로 만들어”는 어떤 결과가 맞는지 판단할 기준이 없습니다.</a:t>
            </a:r>
          </a:p>
          <a:p xmlns:a="http://schemas.openxmlformats.org/drawingml/2006/main">
            <a:r>
              <a:t/>
            </a:r>
          </a:p>
          <a:p xmlns:a="http://schemas.openxmlformats.org/drawingml/2006/main">
            <a:r>
              <a:t>**직접 적용.** work/task.md의 여섯 칸 채우기 → 모호한 형용사 한 개를 구체 조건으로 고치기 → 짝이 요청만 보고 예상 결과 말하기 → 해석이 갈린 문장 다시 쓰기</a:t>
            </a:r>
          </a:p>
          <a:p xmlns:a="http://schemas.openxmlformats.org/drawingml/2006/main">
            <a:r>
              <a:t/>
            </a:r>
          </a:p>
          <a:p xmlns:a="http://schemas.openxmlformats.org/drawingml/2006/main">
            <a:r>
              <a:t>**설명할 질문.** 좋은 요청에 실행 전 기대 결과가 들어가는 이유는 무엇인가요?</a:t>
            </a:r>
          </a:p>
          <a:p xmlns:a="http://schemas.openxmlformats.org/drawingml/2006/main">
            <a:r>
              <a:t/>
            </a:r>
          </a:p>
          <a:p xmlns:a="http://schemas.openxmlformats.org/drawingml/2006/main">
            <a:r>
              <a:t>**막혔을 때.** 요청이 길어지면 목적과 유지 조건을 분리하고 이번에 필요 없는 기능은 후속 요청으로 둡니다.</a:t>
            </a:r>
          </a:p>
          <a:p xmlns:a="http://schemas.openxmlformats.org/drawingml/2006/main">
            <a:r>
              <a:t/>
            </a:r>
          </a:p>
          <a:p xmlns:a="http://schemas.openxmlformats.org/drawingml/2006/main">
            <a:r>
              <a:t>입력·답칸·확인 순서는 [실습지의 A06](practice-guide.md#a06)와 [활동 원문](examples/course/data/A06_input.md)에 있습니다.</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outputs/2026-10-20/lesson.md#A06</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https://zeusk302-png.github.io/kdigital-physical-ai/#/sessions/2026-10-20/activity-A06</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목적, 고칠 파일, 그대로 둘 조건을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“알아서 좋게”보다 확인할 조건을 씁니다.</a:t>
            </a:r>
          </a:p>
          <a:p xmlns:a="http://schemas.openxmlformats.org/drawingml/2006/main">
            <a:r>
              <a:t/>
            </a:r>
          </a:p>
          <a:p xmlns:a="http://schemas.openxmlformats.org/drawingml/2006/main">
            <a:r>
              <a:t>이 표에서 볼 것: 목적·대상·유지 조건을 적습니다. 입력과 기대 결과로 확인 방법을 정합니다.</a:t>
            </a:r>
          </a:p>
          <a:p xmlns:a="http://schemas.openxmlformats.org/drawingml/2006/main">
            <a:r>
              <a:t>예상 결과: 동료가 같은 검사를 할 수 있는지 읽습니다. 허용할 파일과 행동도 명시합니다.</a:t>
            </a:r>
          </a:p>
          <a:p xmlns:a="http://schemas.openxmlformats.org/drawingml/2006/main">
            <a:r>
              <a:t/>
            </a:r>
          </a:p>
          <a:p xmlns:a="http://schemas.openxmlformats.org/drawingml/2006/main">
            <a:r>
              <a:t>풀이: work/classifier.py의 경계·누락·입력 검사를 요청하되 classify·기준28·출력명은 유지합니다. 동일한 cases.json으로 확인하고 실제 서비스 게시나 비밀 자료 사용은 요청 범위에 넣지 않습니다.</a:t>
            </a:r>
          </a:p>
          <a:p xmlns:a="http://schemas.openxmlformats.org/drawingml/2006/main">
            <a:r>
              <a:t>학생에게 각 행에 어떤 값을 넣고 어떤 결과가 나오는지 물어봅니다. 이름이 같은 파일을 다른 폴더에서 읽지 않았는지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https://zeusk302-png.github.io/kdigital-physical-ai/#/sessions/2026-10-20/activity-A06</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표의 항목과 값은 원문 그대로 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동료가 같은 검사를 할 수 있는지 읽습니다. 허용할 파일과 행동도 명시합니다.</a:t>
            </a:r>
          </a:p>
          <a:p xmlns:a="http://schemas.openxmlformats.org/drawingml/2006/main">
            <a:r>
              <a:t/>
            </a:r>
          </a:p>
          <a:p xmlns:a="http://schemas.openxmlformats.org/drawingml/2006/main">
            <a:r>
              <a:t>앞에서 배운 내용: 목적·대상·유지 조건을 적습니다. 입력과 기대 결과로 확인 방법을 정합니다.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풀이: work/classifier.py의 경계·누락·입력 검사를 요청하되 classify·기준28·출력명은 유지합니다. 동일한 cases.json으로 확인하고 실제 서비스 게시나 비밀 자료 사용은 요청 범위에 넣지 않습니다.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outputs/2026-10-20/lesson.md#A06</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https://zeusk302-png.github.io/kdigital-physical-ai/#/sessions/2026-10-20/activity-A06</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동료가 같은 검사를 할 수 있는지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목적·대상·유지·권한·검사를 작성하세요.</a:t>
            </a:r>
          </a:p>
          <a:p xmlns:a="http://schemas.openxmlformats.org/drawingml/2006/main">
            <a:r>
              <a:t/>
            </a:r>
          </a:p>
          <a:p xmlns:a="http://schemas.openxmlformats.org/drawingml/2006/main">
            <a:r>
              <a:t>정답과 풀이: work/classifier.py의 경계·누락·입력 검사를 요청하되 classify·기준28·출력명은 유지합니다. 동일한 cases.json으로 확인하고 실제 서비스 게시나 비밀 자료 사용은 요청 범위에 넣지 않습니다.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https://zeusk302-png.github.io/kdigital-physical-ai/#/sessions/2026-10-20/activity-A06</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3교시 주제는 변경된 코드 읽기입니다. </a:t>
            </a:r>
          </a:p>
          <a:p xmlns:a="http://schemas.openxmlformats.org/drawingml/2006/main">
            <a:r>
              <a:t/>
            </a:r>
          </a:p>
          <a:p xmlns:a="http://schemas.openxmlformats.org/drawingml/2006/main">
            <a:r>
              <a:t>예제를 보여 준 뒤 학생과 함께 따라 해 봅니다. 학생이 한 값을 바꾸고 결과를 예상하게 한 다음 실제 결과와 비교합니다. beginner-start의 교시별 활동부터 진행하고 남은 문제는 복습으로 안내합니다. 설치가 안 되면 제공 출력으로 같은 문제를 풀게 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outputs/2026-10-20/beginner-start.md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https://zeusk302-png.github.io/kdigital-physical-ai/#/sessions/2026-10-20/activity-A07</a:t>
            </a:r>
          </a:p>
          <a:p xmlns:a="http://schemas.openxmlformats.org/drawingml/2006/main">
            <a:r>
              <a:t>공식 자료: 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코드 비교에서 어느 줄을 고쳤는지 봅니다. 실행 명령과 넣은 값, 나온 결과를 확인합니다.</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outputs/2026-10-20/lesson.md#A07</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https://zeusk302-png.github.io/kdigital-physical-ai/#/sessions/2026-10-20/activity-A07</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코드 비교에서 어느 줄을 고쳤는지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A07의 개념과 원문 해설입니다.</a:t>
            </a:r>
          </a:p>
          <a:p xmlns:a="http://schemas.openxmlformats.org/drawingml/2006/main">
            <a:r>
              <a:t>### A07 · 변경 비교의 기호 읽기</a:t>
            </a:r>
          </a:p>
          <a:p xmlns:a="http://schemas.openxmlformats.org/drawingml/2006/main">
            <a:r>
              <a:t/>
            </a:r>
          </a:p>
          <a:p xmlns:a="http://schemas.openxmlformats.org/drawingml/2006/main">
            <a:r>
              <a:t>#### 사례로 이해하기 · 그럴듯한 완료 문장에서 근거 찾기</a:t>
            </a:r>
          </a:p>
          <a:p xmlns:a="http://schemas.openxmlformats.org/drawingml/2006/main">
            <a:r>
              <a:t/>
            </a:r>
          </a:p>
          <a:p xmlns:a="http://schemas.openxmlformats.org/drawingml/2006/main">
            <a:r>
              <a:t>#### 실무 상황</a:t>
            </a:r>
          </a:p>
          <a:p xmlns:a="http://schemas.openxmlformats.org/drawingml/2006/main">
            <a:r>
              <a:t/>
            </a:r>
          </a:p>
          <a:p xmlns:a="http://schemas.openxmlformats.org/drawingml/2006/main">
            <a:r>
              <a:t>제공 응답 A는 “모든 문제를 해결했습니다”라고 말합니다. 하지만 코드에서 기본 기준을 27로 낮추고 None을 0으로 바꿨습니다. 설명이 친절하고 자신 있어도 요청한 규칙대로 고쳤는지는 따로 확인해야 합니다. 바꿨다고 말한 부분을 코드에서 찾고 실행 결과와 비교합니다.</a:t>
            </a:r>
          </a:p>
          <a:p xmlns:a="http://schemas.openxmlformats.org/drawingml/2006/main">
            <a:r>
              <a:t/>
            </a:r>
          </a:p>
          <a:p xmlns:a="http://schemas.openxmlformats.org/drawingml/2006/main">
            <a:r>
              <a:t>#### 쉬운 풀이</a:t>
            </a:r>
          </a:p>
          <a:p xmlns:a="http://schemas.openxmlformats.org/drawingml/2006/main">
            <a:r>
              <a:t/>
            </a:r>
          </a:p>
          <a:p xmlns:a="http://schemas.openxmlformats.org/drawingml/2006/main">
            <a:r>
              <a:t>변경 비교는 이전과 이후의 차이를 보여 줍니다. 삭제 표시 -와 추가 표시 +는 파일 내용에 넣는 기호가 아닙니다. 주장에는 “고쳤다”, “검사했다”, “운영 가능하다”처럼 서로 다른 범위가 있습니다. 첫 주장은 코드 차이로, 둘째는 대상과 명령과 출력으로, 셋째는 실제 장비에서 실행한 결과로 확인합니다. 결과를 보지 못했다면 거짓이라고 단정하지 말고 아직 확인하지 못했다고 적습니다. 다음에 무엇을 시험할지도 정합니다.</a:t>
            </a:r>
          </a:p>
          <a:p xmlns:a="http://schemas.openxmlformats.org/drawingml/2006/main">
            <a:r>
              <a:t/>
            </a:r>
          </a:p>
          <a:p xmlns:a="http://schemas.openxmlformats.org/drawingml/2006/main">
            <a:r>
              <a:t>#### 완성 예와 풀이</a:t>
            </a:r>
          </a:p>
          <a:p xmlns:a="http://schemas.openxmlformats.org/drawingml/2006/main">
            <a:r>
              <a:t/>
            </a:r>
          </a:p>
          <a:p xmlns:a="http://schemas.openxmlformats.org/drawingml/2006/main">
            <a:r>
              <a:t>code/proposal_a.py를 읽으면 `threshold=27`과 None을 0으로 바꾸는 줄이 보입니다. 요청의 유지 조건은 threshold=28이고 None은 미측정입니다. 먼저 두 차이를 표시한 뒤 같은 code/check_cases.py로 실행합니다. 응답의 말과 실제 함수 동작은 별도로 기록합니다. 실행 경로가 proposal_a.py인지도 확인합니다. work/classifier.py를 고쳤는데 baseline.py를 실행했다면 고친 코드를 시험한 것이 아닙니다. 복구할 때는 원본 baseline.py를 보존한 채 작업 복사본만 다시 가져옵니다.</a:t>
            </a:r>
          </a:p>
          <a:p xmlns:a="http://schemas.openxmlformats.org/drawingml/2006/main">
            <a:r>
              <a:t/>
            </a:r>
          </a:p>
          <a:p xmlns:a="http://schemas.openxmlformats.org/drawingml/2006/main">
            <a:r>
              <a:t>#### 독립 추가 복습 과제</a:t>
            </a:r>
          </a:p>
          <a:p xmlns:a="http://schemas.openxmlformats.org/drawingml/2006/main">
            <a:r>
              <a:t/>
            </a:r>
          </a:p>
          <a:p xmlns:a="http://schemas.openxmlformats.org/drawingml/2006/main">
            <a:r>
              <a:t>“수정 완료, 오류 없음, 실제 장비에서도 안정적”이라는 세 주장 옆에 어떤 파일이나 실행 결과를 확인해야 하는지 적으세요. 주어진 자료가 코드 비교와 로컬 가상 검사 출력뿐일 때 어느 문장까지 보고할 수 있는지도 결정하세요.</a:t>
            </a:r>
          </a:p>
          <a:p xmlns:a="http://schemas.openxmlformats.org/drawingml/2006/main">
            <a:r>
              <a:t/>
            </a:r>
          </a:p>
          <a:p xmlns:a="http://schemas.openxmlformats.org/drawingml/2006/main">
            <a:r>
              <a:t>#### 답과 대표 오답</a:t>
            </a:r>
          </a:p>
          <a:p xmlns:a="http://schemas.openxmlformats.org/drawingml/2006/main">
            <a:r>
              <a:t/>
            </a:r>
          </a:p>
          <a:p xmlns:a="http://schemas.openxmlformats.org/drawingml/2006/main">
            <a:r>
              <a:t>변경 완료에는 diff, 오류 검사는 사례별 실행 결과, 장비 안정성에는 실제 장비와 운영 조건의 관찰이 필요합니다. 현재는 가상 검사 범위만 보고하고 장비 부분은 미확인으로 남깁니다. “AI의 자신감이 높아서 승인”은 코드나 실행 결과를 확인하지 않은 답입니다. “검사 결과가 없으니 코드는 반드시 틀렸다”도 맞지 않습니다. 아직 확인하지 못한 것과 검사에서 실패한 것은 다릅니다.</a:t>
            </a:r>
          </a:p>
          <a:p xmlns:a="http://schemas.openxmlformats.org/drawingml/2006/main">
            <a:r>
              <a:t/>
            </a:r>
          </a:p>
          <a:p xmlns:a="http://schemas.openxmlformats.org/drawingml/2006/main">
            <a:r>
              <a:t>#### 확인 질문과 해설</a:t>
            </a:r>
          </a:p>
          <a:p xmlns:a="http://schemas.openxmlformats.org/drawingml/2006/main">
            <a:r>
              <a:t/>
            </a:r>
          </a:p>
          <a:p xmlns:a="http://schemas.openxmlformats.org/drawingml/2006/main">
            <a:r>
              <a:t>① 코드 차이만으로 실행 성공을 아나요? 실제로 실행한 결과를 봐야 합니다. ② 통과 화면에 대상 경로가 필요한 이유는 무엇인가요? 어느 복사본을 확인했는지 식별합니다. ③ 불확실성을 어떻게 쓰나요? 관찰 사실과 아직 확인하지 않은 조건을 나누어 구체적으로 적습니다.</a:t>
            </a:r>
          </a:p>
          <a:p xmlns:a="http://schemas.openxmlformats.org/drawingml/2006/main">
            <a:r>
              <a:t/>
            </a:r>
          </a:p>
          <a:p xmlns:a="http://schemas.openxmlformats.org/drawingml/2006/main">
            <a:r>
              <a:t>**뜻과 비유.** diff는 전후 코드에서 빠진 줄과 새 줄을 보여 주는 변경 비교입니다. -는 이전 줄, +는 새 줄이며 코드의 빼기·더하기 연산과 다릅니다.</a:t>
            </a:r>
          </a:p>
          <a:p xmlns:a="http://schemas.openxmlformats.org/drawingml/2006/main">
            <a:r>
              <a:t/>
            </a:r>
          </a:p>
          <a:p xmlns:a="http://schemas.openxmlformats.org/drawingml/2006/main">
            <a:r>
              <a:t>**왜 필요한가.** 전체 파일을 외우지 않아도 요청이 어느 변경에 반영됐는지 확인할 수 있습니다.</a:t>
            </a:r>
          </a:p>
          <a:p xmlns:a="http://schemas.openxmlformats.org/drawingml/2006/main">
            <a:r>
              <a:t/>
            </a:r>
          </a:p>
          <a:p xmlns:a="http://schemas.openxmlformats.org/drawingml/2006/main">
            <a:r>
              <a:t>**예를 따라 읽기.** &gt;를 &gt;=로 바꾼 줄은 경계 28을 포함하도록 동작을 바꿉니다.</a:t>
            </a:r>
          </a:p>
          <a:p xmlns:a="http://schemas.openxmlformats.org/drawingml/2006/main">
            <a:r>
              <a:t/>
            </a:r>
          </a:p>
          <a:p xmlns:a="http://schemas.openxmlformats.org/drawingml/2006/main">
            <a:r>
              <a:t>**헷갈리는 반례.** 주석만 “28 이상”으로 바뀌고 실제 비교가 &gt;이면 동작은 그대로입니다.</a:t>
            </a:r>
          </a:p>
          <a:p xmlns:a="http://schemas.openxmlformats.org/drawingml/2006/main">
            <a:r>
              <a:t/>
            </a:r>
          </a:p>
          <a:p xmlns:a="http://schemas.openxmlformats.org/drawingml/2006/main">
            <a:r>
              <a:t>**직접 적용.** changes.diff에서 파일 이름 찾기 → 미측정·검사·경계 변경 줄 묶기 → 요청한 항목과 변경 한 곳 연결하기 → 문구 변경과 동작 변경 구분하기</a:t>
            </a:r>
          </a:p>
          <a:p xmlns:a="http://schemas.openxmlformats.org/drawingml/2006/main">
            <a:r>
              <a:t/>
            </a:r>
          </a:p>
          <a:p xmlns:a="http://schemas.openxmlformats.org/drawingml/2006/main">
            <a:r>
              <a:t>**설명할 질문.** diff의 +와 Python의 +는 어떤 차이가 있나요?</a:t>
            </a:r>
          </a:p>
          <a:p xmlns:a="http://schemas.openxmlformats.org/drawingml/2006/main">
            <a:r>
              <a:t/>
            </a:r>
          </a:p>
          <a:p xmlns:a="http://schemas.openxmlformats.org/drawingml/2006/main">
            <a:r>
              <a:t>**막혔을 때.** diff의 +를 원본 코드에 복사했다면 실제 소스 파일의 완성 줄을 참고해 제거합니다.</a:t>
            </a:r>
          </a:p>
          <a:p xmlns:a="http://schemas.openxmlformats.org/drawingml/2006/main">
            <a:r>
              <a:t/>
            </a:r>
          </a:p>
          <a:p xmlns:a="http://schemas.openxmlformats.org/drawingml/2006/main">
            <a:r>
              <a:t>입력·답칸·확인 순서는 [실습지의 A07](practice-guide.md#a07)와 [활동 원문](examples/course/data/A07_input.md)에 있습니다.</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outputs/2026-10-20/lesson.md#A07</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https://zeusk302-png.github.io/kdigital-physical-ai/#/sessions/2026-10-20/activity-A07</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-는 이전 줄, +는 새 줄의 표시입니다.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바뀐 줄이 요청한 조건을 지키는지 봅니다.</a:t>
            </a:r>
          </a:p>
          <a:p xmlns:a="http://schemas.openxmlformats.org/drawingml/2006/main">
            <a:r>
              <a:t/>
            </a:r>
          </a:p>
          <a:p xmlns:a="http://schemas.openxmlformats.org/drawingml/2006/main">
            <a:r>
              <a:t>이 표에서 볼 것: -는 이전 줄, +는 새 줄의 표시입니다. 최종 파일에 비교 기호를 넣지 않습니다.</a:t>
            </a:r>
          </a:p>
          <a:p xmlns:a="http://schemas.openxmlformats.org/drawingml/2006/main">
            <a:r>
              <a:t>예상 결과: threshold=27은 유지 조건을 어겼습니다. None을 0으로 바꾸면 누락이 사라집니다.</a:t>
            </a:r>
          </a:p>
          <a:p xmlns:a="http://schemas.openxmlformats.org/drawingml/2006/main">
            <a:r>
              <a:t/>
            </a:r>
          </a:p>
          <a:p xmlns:a="http://schemas.openxmlformats.org/drawingml/2006/main">
            <a:r>
              <a:t>풀이: 요구 원문과 실제 코드 차이와 동일 검사 결과를 연결합니다. 자신감이나 어조는 요구 충족의 증거가 아닙니다.</a:t>
            </a:r>
          </a:p>
          <a:p xmlns:a="http://schemas.openxmlformats.org/drawingml/2006/main">
            <a:r>
              <a:t>학생에게 각 행에 어떤 값을 넣고 어떤 결과가 나오는지 물어봅니다. 이름이 같은 파일을 다른 폴더에서 읽지 않았는지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https://zeusk302-png.github.io/kdigital-physical-ai/#/sessions/2026-10-20/activity-A07</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표의 항목과 값은 원문 그대로 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threshold=27은 유지 조건을 어겼습니다. None을 0으로 바꾸면 누락이 사라집니다.</a:t>
            </a:r>
          </a:p>
          <a:p xmlns:a="http://schemas.openxmlformats.org/drawingml/2006/main">
            <a:r>
              <a:t/>
            </a:r>
          </a:p>
          <a:p xmlns:a="http://schemas.openxmlformats.org/drawingml/2006/main">
            <a:r>
              <a:t>앞에서 배운 내용: -는 이전 줄, +는 새 줄의 표시입니다. 최종 파일에 비교 기호를 넣지 않습니다.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풀이: 요구 원문과 실제 코드 차이와 동일 검사 결과를 연결합니다. 자신감이나 어조는 요구 충족의 증거가 아닙니다.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outputs/2026-10-20/lesson.md#A07</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https://zeusk302-png.github.io/kdigital-physical-ai/#/sessions/2026-10-20/activity-A07</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threshold=27은 유지 조건을 어겼습니다.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AI의 설명과 실제 코드가 다릅니다. 어떤 줄과 실행 결과를 확인해야 할까요?</a:t>
            </a:r>
          </a:p>
          <a:p xmlns:a="http://schemas.openxmlformats.org/drawingml/2006/main">
            <a:r>
              <a:t/>
            </a:r>
          </a:p>
          <a:p xmlns:a="http://schemas.openxmlformats.org/drawingml/2006/main">
            <a:r>
              <a:t>정답과 풀이: 요구 원문과 실제 코드 차이와 동일 검사 결과를 연결합니다. 자신감이나 어조는 요구 충족의 증거가 아닙니다.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https://zeusk302-png.github.io/kdigital-physical-ai/#/sessions/2026-10-20/activity-A07</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A08의 개념과 원문 해설입니다.</a:t>
            </a:r>
          </a:p>
          <a:p xmlns:a="http://schemas.openxmlformats.org/drawingml/2006/main">
            <a:r>
              <a:t>### A08 · 설득력 있는 응답 검토</a:t>
            </a:r>
          </a:p>
          <a:p xmlns:a="http://schemas.openxmlformats.org/drawingml/2006/main">
            <a:r>
              <a:t/>
            </a:r>
          </a:p>
          <a:p xmlns:a="http://schemas.openxmlformats.org/drawingml/2006/main">
            <a:r>
              <a:t>**뜻과 비유.** AI가 실행했다고 말해도 그것만으로 실행 결과를 알 수는 없습니다. 코드를 바꿨다는 주장, 검사를 했다는 주장, 실제 결과를 각각 확인합니다.</a:t>
            </a:r>
          </a:p>
          <a:p xmlns:a="http://schemas.openxmlformats.org/drawingml/2006/main">
            <a:r>
              <a:t/>
            </a:r>
          </a:p>
          <a:p xmlns:a="http://schemas.openxmlformats.org/drawingml/2006/main">
            <a:r>
              <a:t>**왜 필요한가.** 자신 있는 문장 때문에 범위 밖 수정이나 누락된 검사를 지나칠 수 있습니다.</a:t>
            </a:r>
          </a:p>
          <a:p xmlns:a="http://schemas.openxmlformats.org/drawingml/2006/main">
            <a:r>
              <a:t/>
            </a:r>
          </a:p>
          <a:p xmlns:a="http://schemas.openxmlformats.org/drawingml/2006/main">
            <a:r>
              <a:t>**예를 따라 읽기.** 응답 A는 기준을 27로 바꾸고 None을 0으로 채웁니다. 요청의 28 유지와 미측정 보존에 어긋납니다.</a:t>
            </a:r>
          </a:p>
          <a:p xmlns:a="http://schemas.openxmlformats.org/drawingml/2006/main">
            <a:r>
              <a:t/>
            </a:r>
          </a:p>
          <a:p xmlns:a="http://schemas.openxmlformats.org/drawingml/2006/main">
            <a:r>
              <a:t>**헷갈리는 반례.** “모든 문제 해결”이라는 문장이 있어도 어떤 입력으로 확인했는지 없으면 결론을 보류합니다.</a:t>
            </a:r>
          </a:p>
          <a:p xmlns:a="http://schemas.openxmlformats.org/drawingml/2006/main">
            <a:r>
              <a:t/>
            </a:r>
          </a:p>
          <a:p xmlns:a="http://schemas.openxmlformats.org/drawingml/2006/main">
            <a:r>
              <a:t>**직접 적용.** 응답 A와 코드 나란히 읽기 → 기준 변경과 빈 값 처리 표시하기 → 요청과 달라진 조건 두 개 적기 → 승인 전 추가 확인 질문 작성하기</a:t>
            </a:r>
          </a:p>
          <a:p xmlns:a="http://schemas.openxmlformats.org/drawingml/2006/main">
            <a:r>
              <a:t/>
            </a:r>
          </a:p>
          <a:p xmlns:a="http://schemas.openxmlformats.org/drawingml/2006/main">
            <a:r>
              <a:t>**설명할 질문.** 친절하고 자신 있는 응답도 왜 다시 확인하나요?</a:t>
            </a:r>
          </a:p>
          <a:p xmlns:a="http://schemas.openxmlformats.org/drawingml/2006/main">
            <a:r>
              <a:t/>
            </a:r>
          </a:p>
          <a:p xmlns:a="http://schemas.openxmlformats.org/drawingml/2006/main">
            <a:r>
              <a:t>**막혔을 때.** 응답의 어조보다 실제 바뀐 값과 반환을 원문 요청에 대조합니다.</a:t>
            </a:r>
          </a:p>
          <a:p xmlns:a="http://schemas.openxmlformats.org/drawingml/2006/main">
            <a:r>
              <a:t/>
            </a:r>
          </a:p>
          <a:p xmlns:a="http://schemas.openxmlformats.org/drawingml/2006/main">
            <a:r>
              <a:t>입력·답칸·확인 순서는 [실습지의 A08](practice-guide.md#a08)와 [활동 원문](examples/course/data/A08_input.md)에 있습니다.</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outputs/2026-10-20/lesson.md#A08</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https://zeusk302-png.github.io/kdigital-physical-ai/#/sessions/2026-10-20/activity-A08</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수정·검사·운영을 완료했는지 따로 묻습니다.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확인할 결과가 없다면 미확인으로 적습니다.</a:t>
            </a:r>
          </a:p>
          <a:p xmlns:a="http://schemas.openxmlformats.org/drawingml/2006/main">
            <a:r>
              <a:t/>
            </a:r>
          </a:p>
          <a:p xmlns:a="http://schemas.openxmlformats.org/drawingml/2006/main">
            <a:r>
              <a:t>이 표에서 볼 것: 수정·검사·운영은 서로 다른 주장입니다. 각 주장에 맞는 증거를 찾습니다.</a:t>
            </a:r>
          </a:p>
          <a:p xmlns:a="http://schemas.openxmlformats.org/drawingml/2006/main">
            <a:r>
              <a:t>예상 결과: 로컬 가상 검사만 확인했다면 그 범위만 씁니다. 장비 안정성은 별도 확인이 필요합니다.</a:t>
            </a:r>
          </a:p>
          <a:p xmlns:a="http://schemas.openxmlformats.org/drawingml/2006/main">
            <a:r>
              <a:t/>
            </a:r>
          </a:p>
          <a:p xmlns:a="http://schemas.openxmlformats.org/drawingml/2006/main">
            <a:r>
              <a:t>풀이: 코드와 로컬 가상 출력만으로 장비 안정성을 확인할 수 없습니다. 미확인 조건과 필요한 다음 시험을 적습니다.</a:t>
            </a:r>
          </a:p>
          <a:p xmlns:a="http://schemas.openxmlformats.org/drawingml/2006/main">
            <a:r>
              <a:t>학생에게 각 행에 어떤 값을 넣고 어떤 결과가 나오는지 물어봅니다. 이름이 같은 파일을 다른 폴더에서 읽지 않았는지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https://zeusk302-png.github.io/kdigital-physical-ai/#/sessions/2026-10-20/activity-A08</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표의 항목과 값은 원문 그대로 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가상 입력으로 검사한 결과까지만 보고합니다. 실제 장비에서 잘 되는지는 따로 시험해야 합니다.</a:t>
            </a:r>
          </a:p>
          <a:p xmlns:a="http://schemas.openxmlformats.org/drawingml/2006/main">
            <a:r>
              <a:t/>
            </a:r>
          </a:p>
          <a:p xmlns:a="http://schemas.openxmlformats.org/drawingml/2006/main">
            <a:r>
              <a:t>앞에서 배운 내용: 수정·검사·운영은 서로 다른 주장입니다. 각 주장에 맞는 증거를 찾습니다.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풀이: 코드와 로컬 가상 출력만으로 장비 안정성을 확인할 수 없습니다. 미확인 조건과 필요한 다음 시험을 적습니다.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outputs/2026-10-20/lesson.md#A08</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https://zeusk302-png.github.io/kdigital-physical-ai/#/sessions/2026-10-20/activity-A08</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가상 입력으로 검사한 결과까지만 보고합니다.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“실제 장비도 안정적”이라고 적었습니다. 현재 자료로 확인할 수 있나요?</a:t>
            </a:r>
          </a:p>
          <a:p xmlns:a="http://schemas.openxmlformats.org/drawingml/2006/main">
            <a:r>
              <a:t/>
            </a:r>
          </a:p>
          <a:p xmlns:a="http://schemas.openxmlformats.org/drawingml/2006/main">
            <a:r>
              <a:t>정답과 풀이: 코드와 로컬 가상 출력만으로 장비 안정성을 확인할 수 없습니다. 미확인 조건과 필요한 다음 시험을 적습니다.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https://zeusk302-png.github.io/kdigital-physical-ai/#/sessions/2026-10-20/activity-A08</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A09의 개념과 원문 해설입니다.</a:t>
            </a:r>
          </a:p>
          <a:p xmlns:a="http://schemas.openxmlformats.org/drawingml/2006/main">
            <a:r>
              <a:t>### A09 · 작업 복사본과 되돌림</a:t>
            </a:r>
          </a:p>
          <a:p xmlns:a="http://schemas.openxmlformats.org/drawingml/2006/main">
            <a:r>
              <a:t/>
            </a:r>
          </a:p>
          <a:p xmlns:a="http://schemas.openxmlformats.org/drawingml/2006/main">
            <a:r>
              <a:t>**뜻과 비유.** 작업 복사본은 원본을 남기고 수정 결과를 비교하기 위한 파일입니다. 저장한 파일과 실행한 파일의 경로가 같아야 변경의 효과를 볼 수 있습니다.</a:t>
            </a:r>
          </a:p>
          <a:p xmlns:a="http://schemas.openxmlformats.org/drawingml/2006/main">
            <a:r>
              <a:t/>
            </a:r>
          </a:p>
          <a:p xmlns:a="http://schemas.openxmlformats.org/drawingml/2006/main">
            <a:r>
              <a:t>**왜 필요한가.** 같은 이름의 파일을 다른 폴더에서 실행하면 고쳤는데도 이전 결과가 나오는 것처럼 보입니다.</a:t>
            </a:r>
          </a:p>
          <a:p xmlns:a="http://schemas.openxmlformats.org/drawingml/2006/main">
            <a:r>
              <a:t/>
            </a:r>
          </a:p>
          <a:p xmlns:a="http://schemas.openxmlformats.org/drawingml/2006/main">
            <a:r>
              <a:t>**예를 따라 읽기.** work/classifier.py는 원본과 같은 시작 코드입니다. code/baseline.py는 비교용으로 유지합니다.</a:t>
            </a:r>
          </a:p>
          <a:p xmlns:a="http://schemas.openxmlformats.org/drawingml/2006/main">
            <a:r>
              <a:t/>
            </a:r>
          </a:p>
          <a:p xmlns:a="http://schemas.openxmlformats.org/drawingml/2006/main">
            <a:r>
              <a:t>**헷갈리는 반례.** 원본까지 덮어쓰고 이 전 동작을 기억만 하면 변경 근거와 되돌릴 기준을 잃습니다.</a:t>
            </a:r>
          </a:p>
          <a:p xmlns:a="http://schemas.openxmlformats.org/drawingml/2006/main">
            <a:r>
              <a:t/>
            </a:r>
          </a:p>
          <a:p xmlns:a="http://schemas.openxmlformats.org/drawingml/2006/main">
            <a:r>
              <a:t>**직접 적용.** 세 폴더 역할 적기 → work/classifier.py를 열어 원본과 대조하기 → 실행할 정확 경로 기록하기 → 수정전 사본과 복구 방법 적기</a:t>
            </a:r>
          </a:p>
          <a:p xmlns:a="http://schemas.openxmlformats.org/drawingml/2006/main">
            <a:r>
              <a:t/>
            </a:r>
          </a:p>
          <a:p xmlns:a="http://schemas.openxmlformats.org/drawingml/2006/main">
            <a:r>
              <a:t>**설명할 질문.** 파일 이름이 같은데 다른 결과가 나올 수 있는 이유는 무엇인가요?</a:t>
            </a:r>
          </a:p>
          <a:p xmlns:a="http://schemas.openxmlformats.org/drawingml/2006/main">
            <a:r>
              <a:t/>
            </a:r>
          </a:p>
          <a:p xmlns:a="http://schemas.openxmlformats.org/drawingml/2006/main">
            <a:r>
              <a:t>**막혔을 때.** 파일 확장자 숨김이면 파일 속성을 확인하고 ZIP 목록 안에서 편집하지 않습니다.</a:t>
            </a:r>
          </a:p>
          <a:p xmlns:a="http://schemas.openxmlformats.org/drawingml/2006/main">
            <a:r>
              <a:t/>
            </a:r>
          </a:p>
          <a:p xmlns:a="http://schemas.openxmlformats.org/drawingml/2006/main">
            <a:r>
              <a:t>입력·답칸·확인 순서는 [실습지의 A09](practice-guide.md#a09)와 [활동 원문](examples/course/data/A09_input.md)에 있습니다.</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outputs/2026-10-20/lesson.md#A09</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https://zeusk302-png.github.io/kdigital-physical-ai/#/sessions/2026-10-20/activity-A09</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code는 원본, work는 수정할 복사본입니다.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ZIP을 풀고 실제 폴더에서 작업합니다.</a:t>
            </a:r>
          </a:p>
          <a:p xmlns:a="http://schemas.openxmlformats.org/drawingml/2006/main">
            <a:r>
              <a:t/>
            </a:r>
          </a:p>
          <a:p xmlns:a="http://schemas.openxmlformats.org/drawingml/2006/main">
            <a:r>
              <a:t>이 표에서 볼 것: code의 원본과 work의 수정본을 나눕니다. 수정한 파일의 경로로 실행합니다.</a:t>
            </a:r>
          </a:p>
          <a:p xmlns:a="http://schemas.openxmlformats.org/drawingml/2006/main">
            <a:r>
              <a:t>예상 결과: 저장한 경로와 실행한 경로를 비교합니다. 원본까지 고치면 처음 코드로 되돌리기 어렵습니다.</a:t>
            </a:r>
          </a:p>
          <a:p xmlns:a="http://schemas.openxmlformats.org/drawingml/2006/main">
            <a:r>
              <a:t/>
            </a:r>
          </a:p>
          <a:p xmlns:a="http://schemas.openxmlformats.org/drawingml/2006/main">
            <a:r>
              <a:t>풀이: 원본 baseline의 동작을 확인한 것입니다. 수정본 검증은 work/classifier.py를 인수로 실행해야 합니다.</a:t>
            </a:r>
          </a:p>
          <a:p xmlns:a="http://schemas.openxmlformats.org/drawingml/2006/main">
            <a:r>
              <a:t>학생에게 각 행에 어떤 값을 넣고 어떤 결과가 나오는지 물어봅니다. 이름이 같은 파일을 다른 폴더에서 읽지 않았는지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https://zeusk302-png.github.io/kdigital-physical-ai/#/sessions/2026-10-20/activity-A09</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표의 항목과 값은 원문 그대로 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저장한 경로와 실행한 경로를 비교합니다. 원본까지 고치면 처음 코드로 되돌리기 어렵습니다.</a:t>
            </a:r>
          </a:p>
          <a:p xmlns:a="http://schemas.openxmlformats.org/drawingml/2006/main">
            <a:r>
              <a:t/>
            </a:r>
          </a:p>
          <a:p xmlns:a="http://schemas.openxmlformats.org/drawingml/2006/main">
            <a:r>
              <a:t>앞에서 배운 내용: code의 원본과 work의 수정본을 나눕니다. 수정한 파일의 경로로 실행합니다.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풀이: 원본 baseline의 동작을 확인한 것입니다. 수정본 검증은 work/classifier.py를 인수로 실행해야 합니다.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outputs/2026-10-20/lesson.md#A09</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https://zeusk302-png.github.io/kdigital-physical-ai/#/sessions/2026-10-20/activity-A09</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저장한 경로와 실행한 경로를 비교합니다.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work를 고쳤는데 baseline을 실행했습니다. 고친 코드도 시험했다고 말할 수 있나요?</a:t>
            </a:r>
          </a:p>
          <a:p xmlns:a="http://schemas.openxmlformats.org/drawingml/2006/main">
            <a:r>
              <a:t/>
            </a:r>
          </a:p>
          <a:p xmlns:a="http://schemas.openxmlformats.org/drawingml/2006/main">
            <a:r>
              <a:t>정답과 풀이: 원본 baseline의 동작을 확인한 것입니다. 수정본 검증은 work/classifier.py를 인수로 실행해야 합니다.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https://zeusk302-png.github.io/kdigital-physical-ai/#/sessions/2026-10-20/activity-A09</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4교시 주제는 예상과 실제 결과입니다. </a:t>
            </a:r>
          </a:p>
          <a:p xmlns:a="http://schemas.openxmlformats.org/drawingml/2006/main">
            <a:r>
              <a:t/>
            </a:r>
          </a:p>
          <a:p xmlns:a="http://schemas.openxmlformats.org/drawingml/2006/main">
            <a:r>
              <a:t>예제를 보여 준 뒤 학생과 함께 따라 해 봅니다. 학생이 한 값을 바꾸고 결과를 예상하게 한 다음 실제 결과와 비교합니다. beginner-start의 교시별 활동부터 진행하고 남은 문제는 복습으로 안내합니다. 설치가 안 되면 제공 출력으로 같은 문제를 풀게 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outputs/2026-10-20/beginner-start.md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https://zeusk302-png.github.io/kdigital-physical-ai/#/sessions/2026-10-20/activity-A10</a:t>
            </a:r>
          </a:p>
          <a:p xmlns:a="http://schemas.openxmlformats.org/drawingml/2006/main">
            <a:r>
              <a:t>공식 자료: https://docs.github.com/en/copilot/concepts/agents/cloud-agent/about-cloud-agent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어느 파일을 실행했는지 봅니다. 기대와 실제가 다른 행을 찾습니다.</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outputs/2026-10-20/lesson.md#A10</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https://zeusk302-png.github.io/kdigital-physical-ai/#/sessions/2026-10-20/activity-A10</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어느 파일을 실행했는지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A10의 개념과 원문 해설입니다.</a:t>
            </a:r>
          </a:p>
          <a:p xmlns:a="http://schemas.openxmlformats.org/drawingml/2006/main">
            <a:r>
              <a:t>### A10 · 기준 코드의 실제 실패</a:t>
            </a:r>
          </a:p>
          <a:p xmlns:a="http://schemas.openxmlformats.org/drawingml/2006/main">
            <a:r>
              <a:t/>
            </a:r>
          </a:p>
          <a:p xmlns:a="http://schemas.openxmlformats.org/drawingml/2006/main">
            <a:r>
              <a:t>#### 사례로 이해하기 · 실패 결과를 요구와 연결하는 검사</a:t>
            </a:r>
          </a:p>
          <a:p xmlns:a="http://schemas.openxmlformats.org/drawingml/2006/main">
            <a:r>
              <a:t/>
            </a:r>
          </a:p>
          <a:p xmlns:a="http://schemas.openxmlformats.org/drawingml/2006/main">
            <a:r>
              <a:t>#### 실무 상황</a:t>
            </a:r>
          </a:p>
          <a:p xmlns:a="http://schemas.openxmlformats.org/drawingml/2006/main">
            <a:r>
              <a:t/>
            </a:r>
          </a:p>
          <a:p xmlns:a="http://schemas.openxmlformats.org/drawingml/2006/main">
            <a:r>
              <a:t>프로그램이 실행되었는데 검사 결과에 FAIL이 보입니다. 비전공자는 설치가 잘못됐다고 생각하기 쉽습니다. 하지만 이 검사기는 요구와 다른 출력이 나오면 의도적으로 실패 상태를 남깁니다. 실패를 읽을 수 있으면 재설치보다 수정할 규칙을 먼저 찾을 수 있습니다.</a:t>
            </a:r>
          </a:p>
          <a:p xmlns:a="http://schemas.openxmlformats.org/drawingml/2006/main">
            <a:r>
              <a:t/>
            </a:r>
          </a:p>
          <a:p xmlns:a="http://schemas.openxmlformats.org/drawingml/2006/main">
            <a:r>
              <a:t>#### 쉬운 풀이</a:t>
            </a:r>
          </a:p>
          <a:p xmlns:a="http://schemas.openxmlformats.org/drawingml/2006/main">
            <a:r>
              <a:t/>
            </a:r>
          </a:p>
          <a:p xmlns:a="http://schemas.openxmlformats.org/drawingml/2006/main">
            <a:r>
              <a:t>예상은 실행 전에 규칙으로 정한 답이고 실제는 실행으로 관찰한 답입니다. 종료 코드 0은 이 검사에서 모든 사례가 맞았다는 뜻이며 1은 적어도 하나가 달랐다는 뜻입니다. 이 의미는 프로그램마다 다릅니다. TypeError가 출력에 보이면 값 종류에 맞지 않는 비교가 발생했을 수 있습니다. 누락과 종류와 범위를 먼저 확인한 뒤 경계를 비교하면 오류 상황을 정상 온도로 착각하지 않습니다.</a:t>
            </a:r>
          </a:p>
          <a:p xmlns:a="http://schemas.openxmlformats.org/drawingml/2006/main">
            <a:r>
              <a:t/>
            </a:r>
          </a:p>
          <a:p xmlns:a="http://schemas.openxmlformats.org/drawingml/2006/main">
            <a:r>
              <a:t>#### 완성 예와 풀이</a:t>
            </a:r>
          </a:p>
          <a:p xmlns:a="http://schemas.openxmlformats.org/drawingml/2006/main">
            <a:r>
              <a:t/>
            </a:r>
          </a:p>
          <a:p xmlns:a="http://schemas.openxmlformats.org/drawingml/2006/main">
            <a:r>
              <a:t>압축을 푼 course에서 `python code/check_cases.py code/baseline.py`를 실행합니다. baseline은 28을 정상, None을 정상으로 반환하고 문자 비교에서는 예외가 발생합니다. 따라서 성공적인 수업 시연에서도 종료 코드가 1입니다. reviewed.py는 None을 먼저 미측정으로 처리하고 정확한 숫자 종류와 0~50 범위를 확인한 뒤 &gt;=28을 적용합니다. `python code/check_cases.py code/reviewed.py`는 제공 아홉 사례에서 9/9입니다. 예상 목록이 같고 실행 대상만 달라졌음을 확인해야 변화의 원인을 설명할 수 있습니다.</a:t>
            </a:r>
          </a:p>
          <a:p xmlns:a="http://schemas.openxmlformats.org/drawingml/2006/main">
            <a:r>
              <a:t/>
            </a:r>
          </a:p>
          <a:p xmlns:a="http://schemas.openxmlformats.org/drawingml/2006/main">
            <a:r>
              <a:t>#### 독립 추가 복습 과제</a:t>
            </a:r>
          </a:p>
          <a:p xmlns:a="http://schemas.openxmlformats.org/drawingml/2006/main">
            <a:r>
              <a:t/>
            </a:r>
          </a:p>
          <a:p xmlns:a="http://schemas.openxmlformats.org/drawingml/2006/main">
            <a:r>
              <a:t>입력 0, None, True, "28", 50, 51의 출력을 먼저 표로 작성하세요. 이후 제공 완성 함수의 조건을 위에서 아래로 따라가며 각 입력이 어느 줄에서 반환되는지 설명하세요. 조건 순서를 바꾸면 문자 비교가 어떻게 달라지는지도 판단하세요.</a:t>
            </a:r>
          </a:p>
          <a:p xmlns:a="http://schemas.openxmlformats.org/drawingml/2006/main">
            <a:r>
              <a:t/>
            </a:r>
          </a:p>
          <a:p xmlns:a="http://schemas.openxmlformats.org/drawingml/2006/main">
            <a:r>
              <a:t>#### 답과 대표 오답</a:t>
            </a:r>
          </a:p>
          <a:p xmlns:a="http://schemas.openxmlformats.org/drawingml/2006/main">
            <a:r>
              <a:t/>
            </a:r>
          </a:p>
          <a:p xmlns:a="http://schemas.openxmlformats.org/drawingml/2006/main">
            <a:r>
              <a:t>0은 정상, None은 미측정, True와 "28"과 51은 입력 오류, 50은 주의입니다. “True는 1과 같으니 정상”은 오늘의 계약이 허용한 정확한 종류를 놓쳤습니다. “None은 0”은 값 없음과 유효한 영점을 혼동합니다.</a:t>
            </a:r>
          </a:p>
          <a:p xmlns:a="http://schemas.openxmlformats.org/drawingml/2006/main">
            <a:r>
              <a:t/>
            </a:r>
          </a:p>
          <a:p xmlns:a="http://schemas.openxmlformats.org/drawingml/2006/main">
            <a:r>
              <a:t>#### 확인 질문과 해설</a:t>
            </a:r>
          </a:p>
          <a:p xmlns:a="http://schemas.openxmlformats.org/drawingml/2006/main">
            <a:r>
              <a:t/>
            </a:r>
          </a:p>
          <a:p xmlns:a="http://schemas.openxmlformats.org/drawingml/2006/main">
            <a:r>
              <a:t>① FAIL이면 파이썬이 실행되지 않았나요? 실행된 뒤 기대와 달랐을 수 있습니다. ② 기준만 낮추면 해결되나요? 기존 정상 경계를 깨뜨립니다. ③ 아홉 통과로 모든 입력을 보장하나요? 제공된 검사 범위만 확인한 것이므로 새로운 입력 조건은 별도로 검토합니다.</a:t>
            </a:r>
          </a:p>
          <a:p xmlns:a="http://schemas.openxmlformats.org/drawingml/2006/main">
            <a:r>
              <a:t/>
            </a:r>
          </a:p>
          <a:p xmlns:a="http://schemas.openxmlformats.org/drawingml/2006/main">
            <a:r>
              <a:t>**뜻과 비유.** 실패 검사는 실수로 망가진 수업이 아니라 요구와 현재 동작의 차이를 드러내는 관찰입니다. 검사 프로그램은 기대와 실제를 나란히 비교합니다.</a:t>
            </a:r>
          </a:p>
          <a:p xmlns:a="http://schemas.openxmlformats.org/drawingml/2006/main">
            <a:r>
              <a:t/>
            </a:r>
          </a:p>
          <a:p xmlns:a="http://schemas.openxmlformats.org/drawingml/2006/main">
            <a:r>
              <a:t>**왜 필요한가.** 수정 전 실패를 재현해 두면 수정 후 무엇이 달라졌는지 확인할 기준이 생깁니다.</a:t>
            </a:r>
          </a:p>
          <a:p xmlns:a="http://schemas.openxmlformats.org/drawingml/2006/main">
            <a:r>
              <a:t/>
            </a:r>
          </a:p>
          <a:p xmlns:a="http://schemas.openxmlformats.org/drawingml/2006/main">
            <a:r>
              <a:t>**예를 따라 읽기.** python code/check_cases.py code/baseline.py를 실행하면 경계와 미측정 등의 차이가 FAIL로 나옵니다.</a:t>
            </a:r>
          </a:p>
          <a:p xmlns:a="http://schemas.openxmlformats.org/drawingml/2006/main">
            <a:r>
              <a:t/>
            </a:r>
          </a:p>
          <a:p xmlns:a="http://schemas.openxmlformats.org/drawingml/2006/main">
            <a:r>
              <a:t>**헷갈리는 반례.** 종료 코드 1을 보고 무조건 재설치하지 않습니다. 이 검사기는 실패 사례가 있으면 의도적으로 1을 반환합니다.</a:t>
            </a:r>
          </a:p>
          <a:p xmlns:a="http://schemas.openxmlformats.org/drawingml/2006/main">
            <a:r>
              <a:t/>
            </a:r>
          </a:p>
          <a:p xmlns:a="http://schemas.openxmlformats.org/drawingml/2006/main">
            <a:r>
              <a:t>**직접 적용.** 전체 검사 코드와 줄 해설 읽기 → 원본 실행 명령 확인하기 → 아홉 줄 결과에서 FAIL의 입력 찾기 → 예상과 실제 차이를 표에 남기기</a:t>
            </a:r>
          </a:p>
          <a:p xmlns:a="http://schemas.openxmlformats.org/drawingml/2006/main">
            <a:r>
              <a:t/>
            </a:r>
          </a:p>
          <a:p xmlns:a="http://schemas.openxmlformats.org/drawingml/2006/main">
            <a:r>
              <a:t>**설명할 질문.** 테스트가 실패한 것과 실행환경이 고장 난 것은 어떻게 구별하나요?</a:t>
            </a:r>
          </a:p>
          <a:p xmlns:a="http://schemas.openxmlformats.org/drawingml/2006/main">
            <a:r>
              <a:t/>
            </a:r>
          </a:p>
          <a:p xmlns:a="http://schemas.openxmlformats.org/drawingml/2006/main">
            <a:r>
              <a:t>**막혔을 때.** 모듈 경로 오류면 course 폴더에서 명령을 실행하고 파일 경로 인수를 빠뜨리지 않았는지 봅니다.</a:t>
            </a:r>
          </a:p>
          <a:p xmlns:a="http://schemas.openxmlformats.org/drawingml/2006/main">
            <a:r>
              <a:t/>
            </a:r>
          </a:p>
          <a:p xmlns:a="http://schemas.openxmlformats.org/drawingml/2006/main">
            <a:r>
              <a:t>입력·답칸·확인 순서는 [실습지의 A10](practice-guide.md#a10)와 [활동 원문](examples/course/data/A10_input.md)에 있습니다.</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outputs/2026-10-20/lesson.md#A10</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https://zeusk302-png.github.io/kdigital-physical-ai/#/sessions/2026-10-20/activity-A10</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수정 전에 같은 입력으로 실패를 다시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예제: 실패도 검사 결과의 예</a:t>
            </a:r>
          </a:p>
          <a:p xmlns:a="http://schemas.openxmlformats.org/drawingml/2006/main">
            <a:r>
              <a:t>실행 위치: 압축을 푼 course</a:t>
            </a:r>
          </a:p>
          <a:p xmlns:a="http://schemas.openxmlformats.org/drawingml/2006/main">
            <a:r>
              <a:t/>
            </a:r>
          </a:p>
          <a:p xmlns:a="http://schemas.openxmlformats.org/drawingml/2006/main">
            <a:r>
              <a:t>python -X utf8 code/check_cases.py code/baseline.py</a:t>
            </a:r>
          </a:p>
          <a:p xmlns:a="http://schemas.openxmlformats.org/drawingml/2006/main">
            <a:r>
              <a:t>뜻: course 폴더에서 검사기를 실행하고 code/baseline.py를 검사 대상으로 건넵니다. 제공된 같은 입력 목록으로 결과를 비교합니다. -X utf8은 문자 입출력을 UTF-8로 맞춥니다.</a:t>
            </a:r>
          </a:p>
          <a:p xmlns:a="http://schemas.openxmlformats.org/drawingml/2006/main">
            <a:r>
              <a:t/>
            </a:r>
          </a:p>
          <a:p xmlns:a="http://schemas.openxmlformats.org/drawingml/2006/main">
            <a:r>
              <a:t>확인할 결과: 28과 None에서 계약과 다른 결과가 나옵니다. 이 검사기의 종료 코드 1은 실패 사례입니다.</a:t>
            </a:r>
          </a:p>
          <a:p xmlns:a="http://schemas.openxmlformats.org/drawingml/2006/main">
            <a:r>
              <a:t>풀이: 아닙니다. 검사기가 실행된 뒤 기대와 실제가 다른 것인지, 프로그램 자체가 시작하지 못한 것인지 구별합니다. 대상 파일·명령·출력을 기록합니다.</a:t>
            </a:r>
          </a:p>
          <a:p xmlns:a="http://schemas.openxmlformats.org/drawingml/2006/main">
            <a:r>
              <a:t/>
            </a:r>
          </a:p>
          <a:p xmlns:a="http://schemas.openxmlformats.org/drawingml/2006/main">
            <a:r>
              <a:t>전체 코드와 함께 쓰는 파일은 아래 자료에서 확인합니다. 발췌 코드는 전체 파일의 어느 부분인지 먼저 보여 줍니다. 이 부분만 새 파일에 붙여 실행하지 않도록 안내합니다. 저장 위치와 실행 위치를 먼저 확인하고 한 단계씩 결과를 비교합니다.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 / 원고 50장</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https://zeusk302-png.github.io/kdigital-physical-ai/#/sessions/2026-10-20/activity-A10</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마지막 인수 code/baseline.py가 이번에 검사할 파일입니다.</a:t>
            </a:r>
          </a:p>
          <a:p xmlns:a="http://schemas.openxmlformats.org/drawingml/2006/main">
            <a:r>
              <a:t>28·None에서 예상과 다른 FAIL을 찾습니다.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해당 화면 코드의 줄별 풀이입니다.</a:t>
            </a:r>
          </a:p>
          <a:p xmlns:a="http://schemas.openxmlformats.org/drawingml/2006/main">
            <a:r>
              <a:t>python -X utf8 code/check_cases.py code/baseline.py</a:t>
            </a:r>
          </a:p>
          <a:p xmlns:a="http://schemas.openxmlformats.org/drawingml/2006/main">
            <a:r>
              <a:t>뜻: course 폴더에서 검사기를 실행하고 code/baseline.py를 검사 대상으로 건넵니다. 제공된 같은 입력 목록으로 결과를 비교합니다. -X utf8은 문자 입출력을 UTF-8로 맞춥니다.</a:t>
            </a:r>
          </a:p>
          <a:p xmlns:a="http://schemas.openxmlformats.org/drawingml/2006/main">
            <a:r>
              <a:t/>
            </a:r>
          </a:p>
          <a:p xmlns:a="http://schemas.openxmlformats.org/drawingml/2006/main">
            <a:r>
              <a:t>전체 코드와 실행할 폴더는 아래 원문 활동을 확인합니다. 화면에 나온 줄부터 차례대로 읽습니다.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D:\KDigital_PhysicalAI\.build\copyedited-ppt\spec-2026-10-20.json#slide-50</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https://zeusk302-png.github.io/kdigital-physical-ai/#/sessions/2026-10-20/activity-A10</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검사할 파일이 baseline.py인지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28과 None에서 계약과 다른 결과가 나옵니다. 이 검사기의 종료 코드 1은 실패 사례입니다.</a:t>
            </a:r>
          </a:p>
          <a:p xmlns:a="http://schemas.openxmlformats.org/drawingml/2006/main">
            <a:r>
              <a:t/>
            </a:r>
          </a:p>
          <a:p xmlns:a="http://schemas.openxmlformats.org/drawingml/2006/main">
            <a:r>
              <a:t>앞에서 배운 내용: 수정 전 실패를 먼저 재현합니다. 기대와 실제 차이가 수정의 근거입니다.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풀이: 아닙니다. 검사기가 실행된 뒤 기대와 실제가 다른 것인지, 프로그램 자체가 시작하지 못한 것인지 구별합니다. 대상 파일·명령·출력을 기록합니다.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D:\KDigital_PhysicalAI\.build\copyedited-ppt\spec-2026-10-20.json#slide-50</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https://zeusk302-png.github.io/kdigital-physical-ai/#/sessions/2026-10-20/activity-A10</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28과 None에서 계약과 다른 결과가 나옵니다.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FAIL이 보이면 재설치부터 해야 하나요?</a:t>
            </a:r>
          </a:p>
          <a:p xmlns:a="http://schemas.openxmlformats.org/drawingml/2006/main">
            <a:r>
              <a:t/>
            </a:r>
          </a:p>
          <a:p xmlns:a="http://schemas.openxmlformats.org/drawingml/2006/main">
            <a:r>
              <a:t>정답과 풀이: 아닙니다. 검사기가 실행된 뒤 기대와 실제가 다른 것인지, 프로그램 자체가 시작하지 못한 것인지 구별합니다. 대상 파일·명령·출력을 기록합니다.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https://zeusk302-png.github.io/kdigital-physical-ai/#/sessions/2026-10-20/activity-A10</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A11의 개념과 원문 해설입니다.</a:t>
            </a:r>
          </a:p>
          <a:p xmlns:a="http://schemas.openxmlformats.org/drawingml/2006/main">
            <a:r>
              <a:t>### A11 · 경계 비교 기호 수정</a:t>
            </a:r>
          </a:p>
          <a:p xmlns:a="http://schemas.openxmlformats.org/drawingml/2006/main">
            <a:r>
              <a:t/>
            </a:r>
          </a:p>
          <a:p xmlns:a="http://schemas.openxmlformats.org/drawingml/2006/main">
            <a:r>
              <a:t>**뜻과 비유.** &gt;는 기준보다 큰 값, &gt;=는 기준과 같은 값까지 포함합니다. 말로 쓴 “이상”과 코드 비교 기호를 연결합니다.</a:t>
            </a:r>
          </a:p>
          <a:p xmlns:a="http://schemas.openxmlformats.org/drawingml/2006/main">
            <a:r>
              <a:t/>
            </a:r>
          </a:p>
          <a:p xmlns:a="http://schemas.openxmlformats.org/drawingml/2006/main">
            <a:r>
              <a:t>**왜 필요한가.** 경계 한 글자는 업무 분류를 바꿉니다. 정상 값만 시험하면 이 차이를 놓칩니다.</a:t>
            </a:r>
          </a:p>
          <a:p xmlns:a="http://schemas.openxmlformats.org/drawingml/2006/main">
            <a:r>
              <a:t/>
            </a:r>
          </a:p>
          <a:p xmlns:a="http://schemas.openxmlformats.org/drawingml/2006/main">
            <a:r>
              <a:t>**예를 따라 읽기.** 작업본의 value &gt; threshold를 value &gt;= threshold로 바꾸면 28의 결과가 정상에서 주의로 달라집니다.</a:t>
            </a:r>
          </a:p>
          <a:p xmlns:a="http://schemas.openxmlformats.org/drawingml/2006/main">
            <a:r>
              <a:t/>
            </a:r>
          </a:p>
          <a:p xmlns:a="http://schemas.openxmlformats.org/drawingml/2006/main">
            <a:r>
              <a:t>**헷갈리는 반례.** 기본 threshold를 27로 내리는 것은 같은 수정이 아닙니다. 27.9까지 주의가 되어 규칙을 바꿉니다.</a:t>
            </a:r>
          </a:p>
          <a:p xmlns:a="http://schemas.openxmlformats.org/drawingml/2006/main">
            <a:r>
              <a:t/>
            </a:r>
          </a:p>
          <a:p xmlns:a="http://schemas.openxmlformats.org/drawingml/2006/main">
            <a:r>
              <a:t>**직접 적용.** 수정 전 28결과 기록하기 → work의 비교 기호 한곳 수정하기 → 저장 후 같은 검사 다시 실행하기 → 27.9·28·28.1 변화 비교하기</a:t>
            </a:r>
          </a:p>
          <a:p xmlns:a="http://schemas.openxmlformats.org/drawingml/2006/main">
            <a:r>
              <a:t/>
            </a:r>
          </a:p>
          <a:p xmlns:a="http://schemas.openxmlformats.org/drawingml/2006/main">
            <a:r>
              <a:t>**설명할 질문.** 기준값을 바꾸는 것과 비교 기호를 바꾸는 것은 왜 다른가요?</a:t>
            </a:r>
          </a:p>
          <a:p xmlns:a="http://schemas.openxmlformats.org/drawingml/2006/main">
            <a:r>
              <a:t/>
            </a:r>
          </a:p>
          <a:p xmlns:a="http://schemas.openxmlformats.org/drawingml/2006/main">
            <a:r>
              <a:t>**막혔을 때.** 결과가 그대로면 저장 여부와 실행 경로를 먼저 확인합니다.</a:t>
            </a:r>
          </a:p>
          <a:p xmlns:a="http://schemas.openxmlformats.org/drawingml/2006/main">
            <a:r>
              <a:t/>
            </a:r>
          </a:p>
          <a:p xmlns:a="http://schemas.openxmlformats.org/drawingml/2006/main">
            <a:r>
              <a:t>입력·답칸·확인 순서는 [실습지의 A11](practice-guide.md#a11)와 [활동 원문](examples/course/data/A11_input.md)에 있습니다.</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outputs/2026-10-20/lesson.md#A11</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https://zeusk302-png.github.io/kdigital-physical-ai/#/sessions/2026-10-20/activity-A11</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&gt;는 기준보다 큰 값입니다.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예제: 같은 값의 포함 여부의 예</a:t>
            </a:r>
          </a:p>
          <a:p xmlns:a="http://schemas.openxmlformats.org/drawingml/2006/main">
            <a:r>
              <a:t>경계 비교만 떼어 낸 짧은 완성 예입니다.</a:t>
            </a:r>
          </a:p>
          <a:p xmlns:a="http://schemas.openxmlformats.org/drawingml/2006/main">
            <a:r>
              <a:t/>
            </a:r>
          </a:p>
          <a:p xmlns:a="http://schemas.openxmlformats.org/drawingml/2006/main">
            <a:r>
              <a:t>def classify(value, threshold=28):</a:t>
            </a:r>
          </a:p>
          <a:p xmlns:a="http://schemas.openxmlformats.org/drawingml/2006/main">
            <a:r>
              <a:t>뜻: classify 함수를 만듭니다. value는 분류할 값이고, threshold를 따로 주지 않으면 28을 씁니다. 콜론 아래 들여쓴 줄이 함수 안입니다.</a:t>
            </a:r>
          </a:p>
          <a:p xmlns:a="http://schemas.openxmlformats.org/drawingml/2006/main">
            <a:r>
              <a:t/>
            </a:r>
          </a:p>
          <a:p xmlns:a="http://schemas.openxmlformats.org/drawingml/2006/main">
            <a:r>
              <a:t>    if value &gt; threshold:</a:t>
            </a:r>
          </a:p>
          <a:p xmlns:a="http://schemas.openxmlformats.org/drawingml/2006/main">
            <a:r>
              <a:t>뜻: 온도가 기준보다 큰지 묻습니다. 28과 기준 28은 같으므로 이 조건은 거짓입니다.</a:t>
            </a:r>
          </a:p>
          <a:p xmlns:a="http://schemas.openxmlformats.org/drawingml/2006/main">
            <a:r>
              <a:t/>
            </a:r>
          </a:p>
          <a:p xmlns:a="http://schemas.openxmlformats.org/drawingml/2006/main">
            <a:r>
              <a:t>        return "주의"</a:t>
            </a:r>
          </a:p>
          <a:p xmlns:a="http://schemas.openxmlformats.org/drawingml/2006/main">
            <a:r>
              <a:t>뜻: 함수 결과로 문자열 주의를 돌려주고 이번 호출을 끝냅니다.</a:t>
            </a:r>
          </a:p>
          <a:p xmlns:a="http://schemas.openxmlformats.org/drawingml/2006/main">
            <a:r>
              <a:t/>
            </a:r>
          </a:p>
          <a:p xmlns:a="http://schemas.openxmlformats.org/drawingml/2006/main">
            <a:r>
              <a:t>    return "정상"</a:t>
            </a:r>
          </a:p>
          <a:p xmlns:a="http://schemas.openxmlformats.org/drawingml/2006/main">
            <a:r>
              <a:t>뜻: 앞 조건에 해당하지 않으면 문자열 정상을 돌려줍니다.</a:t>
            </a:r>
          </a:p>
          <a:p xmlns:a="http://schemas.openxmlformats.org/drawingml/2006/main">
            <a:r>
              <a:t/>
            </a:r>
          </a:p>
          <a:p xmlns:a="http://schemas.openxmlformats.org/drawingml/2006/main">
            <a:r>
              <a:t>확인할 결과: &gt;를 &gt;=로 바꾸면 28이 주의가 됩니다. 27.9와 28.1도 다시 확인합니다.</a:t>
            </a:r>
          </a:p>
          <a:p xmlns:a="http://schemas.openxmlformats.org/drawingml/2006/main">
            <a:r>
              <a:t>풀이: 다릅니다. 기준 변경은27.9까지 주의로 바꾸므로 기존 규칙을 깨뜨립니다. 이 짧은 예는 누락·형식 검사가 없는 경계 설명용입니다. 전체 함수는 code/reviewed.py에 있습니다.</a:t>
            </a:r>
          </a:p>
          <a:p xmlns:a="http://schemas.openxmlformats.org/drawingml/2006/main">
            <a:r>
              <a:t/>
            </a:r>
          </a:p>
          <a:p xmlns:a="http://schemas.openxmlformats.org/drawingml/2006/main">
            <a:r>
              <a:t>전체 코드와 함께 쓰는 파일은 아래 자료에서 확인합니다. 발췌 코드는 전체 파일의 어느 부분인지 먼저 보여 줍니다. 이 부분만 새 파일에 붙여 실행하지 않도록 안내합니다. 저장 위치와 실행 위치를 먼저 확인하고 한 단계씩 결과를 비교합니다.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 / 원고 55장</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https://zeusk302-png.github.io/kdigital-physical-ai/#/sessions/2026-10-20/activity-A11</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value &gt; threshold는 값이 정확히 28일 때 False입니다.</a:t>
            </a:r>
          </a:p>
          <a:p xmlns:a="http://schemas.openxmlformats.org/drawingml/2006/main">
            <a:r>
              <a:t>이 짧은 함수는 경계 비교만 보여 주므로 전체 입력 검사 예제와 구별합니다.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해당 화면 코드의 줄별 풀이입니다.</a:t>
            </a:r>
          </a:p>
          <a:p xmlns:a="http://schemas.openxmlformats.org/drawingml/2006/main">
            <a:r>
              <a:t>def classify(value, threshold=28):</a:t>
            </a:r>
          </a:p>
          <a:p xmlns:a="http://schemas.openxmlformats.org/drawingml/2006/main">
            <a:r>
              <a:t>뜻: classify 함수를 만듭니다. value는 분류할 값이고, threshold를 따로 주지 않으면 28을 씁니다. 콜론 아래 들여쓴 줄이 함수 안입니다.</a:t>
            </a:r>
          </a:p>
          <a:p xmlns:a="http://schemas.openxmlformats.org/drawingml/2006/main">
            <a:r>
              <a:t/>
            </a:r>
          </a:p>
          <a:p xmlns:a="http://schemas.openxmlformats.org/drawingml/2006/main">
            <a:r>
              <a:t>    if value &gt; threshold:</a:t>
            </a:r>
          </a:p>
          <a:p xmlns:a="http://schemas.openxmlformats.org/drawingml/2006/main">
            <a:r>
              <a:t>뜻: 온도가 기준보다 큰지 묻습니다. 28과 기준 28은 같으므로 이 조건은 거짓입니다.</a:t>
            </a:r>
          </a:p>
          <a:p xmlns:a="http://schemas.openxmlformats.org/drawingml/2006/main">
            <a:r>
              <a:t/>
            </a:r>
          </a:p>
          <a:p xmlns:a="http://schemas.openxmlformats.org/drawingml/2006/main">
            <a:r>
              <a:t>        return "주의"</a:t>
            </a:r>
          </a:p>
          <a:p xmlns:a="http://schemas.openxmlformats.org/drawingml/2006/main">
            <a:r>
              <a:t>뜻: 함수 결과로 문자열 주의를 돌려주고 이번 호출을 끝냅니다.</a:t>
            </a:r>
          </a:p>
          <a:p xmlns:a="http://schemas.openxmlformats.org/drawingml/2006/main">
            <a:r>
              <a:t/>
            </a:r>
          </a:p>
          <a:p xmlns:a="http://schemas.openxmlformats.org/drawingml/2006/main">
            <a:r>
              <a:t>    return "정상"</a:t>
            </a:r>
          </a:p>
          <a:p xmlns:a="http://schemas.openxmlformats.org/drawingml/2006/main">
            <a:r>
              <a:t>뜻: 앞 조건에 해당하지 않으면 문자열 정상을 돌려줍니다.</a:t>
            </a:r>
          </a:p>
          <a:p xmlns:a="http://schemas.openxmlformats.org/drawingml/2006/main">
            <a:r>
              <a:t/>
            </a:r>
          </a:p>
          <a:p xmlns:a="http://schemas.openxmlformats.org/drawingml/2006/main">
            <a:r>
              <a:t>전체 코드와 실행할 폴더는 아래 원문 활동을 확인합니다. 화면에 나온 줄부터 차례대로 읽습니다.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D:\KDigital_PhysicalAI\.build\copyedited-ppt\spec-2026-10-20.json#slide-55</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https://zeusk302-png.github.io/kdigital-physical-ai/#/sessions/2026-10-20/activity-A11</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왼쪽 온도와 오른쪽 기준값을 비교합니다.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&gt;를 &gt;=로 바꾸면 28이 주의가 됩니다. 27.9와 28.1도 다시 확인합니다.</a:t>
            </a:r>
          </a:p>
          <a:p xmlns:a="http://schemas.openxmlformats.org/drawingml/2006/main">
            <a:r>
              <a:t/>
            </a:r>
          </a:p>
          <a:p xmlns:a="http://schemas.openxmlformats.org/drawingml/2006/main">
            <a:r>
              <a:t>앞에서 배운 내용: &gt;는 기준보다 큰 값입니다. &gt;=는 기준과 같은 값도 포함합니다.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풀이: 다릅니다. 기준 변경은27.9까지 주의로 바꾸므로 기존 규칙을 깨뜨립니다. 이 짧은 예는 누락·형식 검사가 없는 경계 설명용입니다. 전체 함수는 code/reviewed.py에 있습니다.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D:\KDigital_PhysicalAI\.build\copyedited-ppt\spec-2026-10-20.json#slide-55</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https://zeusk302-png.github.io/kdigital-physical-ai/#/sessions/2026-10-20/activity-A11</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&gt;를 &gt;=로 바꾸면 28이 주의가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기준을 27로 낮추는 것과 같은가요?</a:t>
            </a:r>
          </a:p>
          <a:p xmlns:a="http://schemas.openxmlformats.org/drawingml/2006/main">
            <a:r>
              <a:t/>
            </a:r>
          </a:p>
          <a:p xmlns:a="http://schemas.openxmlformats.org/drawingml/2006/main">
            <a:r>
              <a:t>정답과 풀이: 다릅니다. 기준 변경은27.9까지 주의로 바꾸므로 기존 규칙을 깨뜨립니다. 이 짧은 예는 누락·형식 검사가 없는 경계 설명용입니다. 전체 함수는 code/reviewed.py에 있습니다.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https://zeusk302-png.github.io/kdigital-physical-ai/#/sessions/2026-10-20/activity-A11</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A12의 개념과 원문 해설입니다.</a:t>
            </a:r>
          </a:p>
          <a:p xmlns:a="http://schemas.openxmlformats.org/drawingml/2006/main">
            <a:r>
              <a:t>### A12 · 누락과 잘못된 입력 처리</a:t>
            </a:r>
          </a:p>
          <a:p xmlns:a="http://schemas.openxmlformats.org/drawingml/2006/main">
            <a:r>
              <a:t/>
            </a:r>
          </a:p>
          <a:p xmlns:a="http://schemas.openxmlformats.org/drawingml/2006/main">
            <a:r>
              <a:t>**뜻과 비유.** 입력 검사는 자료가 함수의 약속에 맞는지 살펴보는 것입니다. 값이 없는 경우와 종류가 틀린 경우, 범위를 벗어난 경우를 따로 처리합니다.</a:t>
            </a:r>
          </a:p>
          <a:p xmlns:a="http://schemas.openxmlformats.org/drawingml/2006/main">
            <a:r>
              <a:t/>
            </a:r>
          </a:p>
          <a:p xmlns:a="http://schemas.openxmlformats.org/drawingml/2006/main">
            <a:r>
              <a:t>**왜 필요한가.** 없음을 0으로 채우면 실제 0 측정과 구분할 수 없고 문자에 비교 연산을 하면 실행 오류가 납니다.</a:t>
            </a:r>
          </a:p>
          <a:p xmlns:a="http://schemas.openxmlformats.org/drawingml/2006/main">
            <a:r>
              <a:t/>
            </a:r>
          </a:p>
          <a:p xmlns:a="http://schemas.openxmlformats.org/drawingml/2006/main">
            <a:r>
              <a:t>**예를 따라 읽기.** reviewed.py는 None →미측정, 숫자 아님 →입력 오류, 범위 밖 →입력 오류를 먼저 검사합니다.</a:t>
            </a:r>
          </a:p>
          <a:p xmlns:a="http://schemas.openxmlformats.org/drawingml/2006/main">
            <a:r>
              <a:t/>
            </a:r>
          </a:p>
          <a:p xmlns:a="http://schemas.openxmlformats.org/drawingml/2006/main">
            <a:r>
              <a:t>**헷갈리는 반례.** Python에서 bool은 숫자와 관련된 특성이 있지만 이 업무 계약은 온도로 받지 않으므로 type을 정확히 확인합니다.</a:t>
            </a:r>
          </a:p>
          <a:p xmlns:a="http://schemas.openxmlformats.org/drawingml/2006/main">
            <a:r>
              <a:t/>
            </a:r>
          </a:p>
          <a:p xmlns:a="http://schemas.openxmlformats.org/drawingml/2006/main">
            <a:r>
              <a:t>**직접 적용.** 완성 검사 세 부분 줄별로 읽기 → 작업본에 제공된 검사 구간 반영하기 → 0·None·True·51결과 예상하기 → 검사기로 실제 결과 확인하기</a:t>
            </a:r>
          </a:p>
          <a:p xmlns:a="http://schemas.openxmlformats.org/drawingml/2006/main">
            <a:r>
              <a:t/>
            </a:r>
          </a:p>
          <a:p xmlns:a="http://schemas.openxmlformats.org/drawingml/2006/main">
            <a:r>
              <a:t>**설명할 질문.** 값 검사를 비교보다 먼저 하는 이유는 무엇인가요?</a:t>
            </a:r>
          </a:p>
          <a:p xmlns:a="http://schemas.openxmlformats.org/drawingml/2006/main">
            <a:r>
              <a:t/>
            </a:r>
          </a:p>
          <a:p xmlns:a="http://schemas.openxmlformats.org/drawingml/2006/main">
            <a:r>
              <a:t>**막혔을 때.** 들여 쓰기가 틀리면 원본 완성 예제의 블록 범위를 대조합니다. 조건 순서도 함께 확인합니다.</a:t>
            </a:r>
          </a:p>
          <a:p xmlns:a="http://schemas.openxmlformats.org/drawingml/2006/main">
            <a:r>
              <a:t/>
            </a:r>
          </a:p>
          <a:p xmlns:a="http://schemas.openxmlformats.org/drawingml/2006/main">
            <a:r>
              <a:t>입력·답칸·확인 순서는 [실습지의 A12](practice-guide.md#a12)와 [활동 원문](examples/course/data/A12_input.md)에 있습니다.</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outputs/2026-10-20/lesson.md#A12</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https://zeusk302-png.github.io/kdigital-physical-ai/#/sessions/2026-10-20/activity-A12</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None은 미측정으로 먼저 돌려줍니다.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예제: 누락·종류·범위 검사의 예</a:t>
            </a:r>
          </a:p>
          <a:p xmlns:a="http://schemas.openxmlformats.org/drawingml/2006/main">
            <a:r>
              <a:t>발췌: code/reviewed.py의 함수 내부</a:t>
            </a:r>
          </a:p>
          <a:p xmlns:a="http://schemas.openxmlformats.org/drawingml/2006/main">
            <a:r>
              <a:t/>
            </a:r>
          </a:p>
          <a:p xmlns:a="http://schemas.openxmlformats.org/drawingml/2006/main">
            <a:r>
              <a:t>if value is None:</a:t>
            </a:r>
          </a:p>
          <a:p xmlns:a="http://schemas.openxmlformats.org/drawingml/2006/main">
            <a:r>
              <a:t>뜻: 값이 없는 None인지 먼저 확인합니다. 실제 온도 0과 다릅니다.</a:t>
            </a:r>
          </a:p>
          <a:p xmlns:a="http://schemas.openxmlformats.org/drawingml/2006/main">
            <a:r>
              <a:t/>
            </a:r>
          </a:p>
          <a:p xmlns:a="http://schemas.openxmlformats.org/drawingml/2006/main">
            <a:r>
              <a:t>    return "미측정"</a:t>
            </a:r>
          </a:p>
          <a:p xmlns:a="http://schemas.openxmlformats.org/drawingml/2006/main">
            <a:r>
              <a:t>뜻: 온도가 없다는 뜻으로 미측정을 돌려줍니다. 정상 온도로 채우지 않습니다.</a:t>
            </a:r>
          </a:p>
          <a:p xmlns:a="http://schemas.openxmlformats.org/drawingml/2006/main">
            <a:r>
              <a:t/>
            </a:r>
          </a:p>
          <a:p xmlns:a="http://schemas.openxmlformats.org/drawingml/2006/main">
            <a:r>
              <a:t>if type(value) not in (int, float):</a:t>
            </a:r>
          </a:p>
          <a:p xmlns:a="http://schemas.openxmlformats.org/drawingml/2006/main">
            <a:r>
              <a:t>뜻: 정확한 자료형이 int나 float인지 봅니다. 문자와 bool은 이 예제의 온도 입력으로 받지 않습니다.</a:t>
            </a:r>
          </a:p>
          <a:p xmlns:a="http://schemas.openxmlformats.org/drawingml/2006/main">
            <a:r>
              <a:t/>
            </a:r>
          </a:p>
          <a:p xmlns:a="http://schemas.openxmlformats.org/drawingml/2006/main">
            <a:r>
              <a:t>    return "입력 오류"</a:t>
            </a:r>
          </a:p>
          <a:p xmlns:a="http://schemas.openxmlformats.org/drawingml/2006/main">
            <a:r>
              <a:t>뜻: 입력이 약속한 종류나 범위와 다르면 입력 오류를 돌려줍니다.</a:t>
            </a:r>
          </a:p>
          <a:p xmlns:a="http://schemas.openxmlformats.org/drawingml/2006/main">
            <a:r>
              <a:t/>
            </a:r>
          </a:p>
          <a:p xmlns:a="http://schemas.openxmlformats.org/drawingml/2006/main">
            <a:r>
              <a:t>if not 0 &lt;= value &lt;= 50:</a:t>
            </a:r>
          </a:p>
          <a:p xmlns:a="http://schemas.openxmlformats.org/drawingml/2006/main">
            <a:r>
              <a:t>뜻: 0부터 50까지의 범위에 속하지 않는지 봅니다. 0과 50은 범위에 포함됩니다.</a:t>
            </a:r>
          </a:p>
          <a:p xmlns:a="http://schemas.openxmlformats.org/drawingml/2006/main">
            <a:r>
              <a:t/>
            </a:r>
          </a:p>
          <a:p xmlns:a="http://schemas.openxmlformats.org/drawingml/2006/main">
            <a:r>
              <a:t>    return "입력 오류"</a:t>
            </a:r>
          </a:p>
          <a:p xmlns:a="http://schemas.openxmlformats.org/drawingml/2006/main">
            <a:r>
              <a:t>뜻: 입력이 약속한 종류나 범위와 다르면 입력 오류를 돌려줍니다.</a:t>
            </a:r>
          </a:p>
          <a:p xmlns:a="http://schemas.openxmlformats.org/drawingml/2006/main">
            <a:r>
              <a:t/>
            </a:r>
          </a:p>
          <a:p xmlns:a="http://schemas.openxmlformats.org/drawingml/2006/main">
            <a:r>
              <a:t>확인할 결과: 0은 정상, None은 미측정입니다. True와 "28"과 51은 입력 오류입니다.</a:t>
            </a:r>
          </a:p>
          <a:p xmlns:a="http://schemas.openxmlformats.org/drawingml/2006/main">
            <a:r>
              <a:t>풀이: TypeError가 발생할 수 있습니다. 이 계약은 불리언을 온도로 받지 않으므로 정확한 type으로 검사합니다. 원본 reviewed.py 전체를 읽고 함수 내부 들여쓰기를 유지합니다.</a:t>
            </a:r>
          </a:p>
          <a:p xmlns:a="http://schemas.openxmlformats.org/drawingml/2006/main">
            <a:r>
              <a:t/>
            </a:r>
          </a:p>
          <a:p xmlns:a="http://schemas.openxmlformats.org/drawingml/2006/main">
            <a:r>
              <a:t>전체 코드와 함께 쓰는 파일은 아래 자료에서 확인합니다. 발췌 코드는 전체 파일의 어느 부분인지 먼저 보여 줍니다. 이 부분만 새 파일에 붙여 실행하지 않도록 안내합니다. 저장 위치와 실행 위치를 먼저 확인하고 한 단계씩 결과를 비교합니다.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 / 원고 60장</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https://zeusk302-png.github.io/kdigital-physical-ai/#/sessions/2026-10-20/activity-A12</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None을 먼저 확인해 미측정과 실제 0을 구별합니다.</a:t>
            </a:r>
          </a:p>
          <a:p xmlns:a="http://schemas.openxmlformats.org/drawingml/2006/main">
            <a:r>
              <a:t>type 검사와 0~50 범위 검사 뒤에만 온도를 비교합니다.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해당 화면 코드의 줄별 풀이입니다.</a:t>
            </a:r>
          </a:p>
          <a:p xmlns:a="http://schemas.openxmlformats.org/drawingml/2006/main">
            <a:r>
              <a:t>if value is None:</a:t>
            </a:r>
          </a:p>
          <a:p xmlns:a="http://schemas.openxmlformats.org/drawingml/2006/main">
            <a:r>
              <a:t>뜻: 값이 없는 None인지 먼저 확인합니다. 실제 온도 0과 다릅니다.</a:t>
            </a:r>
          </a:p>
          <a:p xmlns:a="http://schemas.openxmlformats.org/drawingml/2006/main">
            <a:r>
              <a:t/>
            </a:r>
          </a:p>
          <a:p xmlns:a="http://schemas.openxmlformats.org/drawingml/2006/main">
            <a:r>
              <a:t>    return "미측정"</a:t>
            </a:r>
          </a:p>
          <a:p xmlns:a="http://schemas.openxmlformats.org/drawingml/2006/main">
            <a:r>
              <a:t>뜻: 온도가 없다는 뜻으로 미측정을 돌려줍니다. 정상 온도로 채우지 않습니다.</a:t>
            </a:r>
          </a:p>
          <a:p xmlns:a="http://schemas.openxmlformats.org/drawingml/2006/main">
            <a:r>
              <a:t/>
            </a:r>
          </a:p>
          <a:p xmlns:a="http://schemas.openxmlformats.org/drawingml/2006/main">
            <a:r>
              <a:t>if type(value) not in (int, float):</a:t>
            </a:r>
          </a:p>
          <a:p xmlns:a="http://schemas.openxmlformats.org/drawingml/2006/main">
            <a:r>
              <a:t>뜻: 정확한 자료형이 int나 float인지 봅니다. 문자와 bool은 이 예제의 온도 입력으로 받지 않습니다.</a:t>
            </a:r>
          </a:p>
          <a:p xmlns:a="http://schemas.openxmlformats.org/drawingml/2006/main">
            <a:r>
              <a:t/>
            </a:r>
          </a:p>
          <a:p xmlns:a="http://schemas.openxmlformats.org/drawingml/2006/main">
            <a:r>
              <a:t>    return "입력 오류"</a:t>
            </a:r>
          </a:p>
          <a:p xmlns:a="http://schemas.openxmlformats.org/drawingml/2006/main">
            <a:r>
              <a:t>뜻: 입력이 약속한 종류나 범위와 다르면 입력 오류를 돌려줍니다.</a:t>
            </a:r>
          </a:p>
          <a:p xmlns:a="http://schemas.openxmlformats.org/drawingml/2006/main">
            <a:r>
              <a:t/>
            </a:r>
          </a:p>
          <a:p xmlns:a="http://schemas.openxmlformats.org/drawingml/2006/main">
            <a:r>
              <a:t>if not 0 &lt;= value &lt;= 50:</a:t>
            </a:r>
          </a:p>
          <a:p xmlns:a="http://schemas.openxmlformats.org/drawingml/2006/main">
            <a:r>
              <a:t>뜻: 0부터 50까지의 범위에 속하지 않는지 봅니다. 0과 50은 범위에 포함됩니다.</a:t>
            </a:r>
          </a:p>
          <a:p xmlns:a="http://schemas.openxmlformats.org/drawingml/2006/main">
            <a:r>
              <a:t/>
            </a:r>
          </a:p>
          <a:p xmlns:a="http://schemas.openxmlformats.org/drawingml/2006/main">
            <a:r>
              <a:t>    return "입력 오류"</a:t>
            </a:r>
          </a:p>
          <a:p xmlns:a="http://schemas.openxmlformats.org/drawingml/2006/main">
            <a:r>
              <a:t>뜻: 입력이 약속한 종류나 범위와 다르면 입력 오류를 돌려줍니다.</a:t>
            </a:r>
          </a:p>
          <a:p xmlns:a="http://schemas.openxmlformats.org/drawingml/2006/main">
            <a:r>
              <a:t/>
            </a:r>
          </a:p>
          <a:p xmlns:a="http://schemas.openxmlformats.org/drawingml/2006/main">
            <a:r>
              <a:t>전체 코드와 실행할 폴더는 아래 원문 활동을 확인합니다. 화면에 나온 줄부터 차례대로 읽습니다.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D:\KDigital_PhysicalAI\.build\copyedited-ppt\spec-2026-10-20.json#slide-60</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https://zeusk302-png.github.io/kdigital-physical-ai/#/sessions/2026-10-20/activity-A12</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먼저 None인지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0은 정상, None은 미측정입니다. True와 "28"과 51은 입력 오류입니다.</a:t>
            </a:r>
          </a:p>
          <a:p xmlns:a="http://schemas.openxmlformats.org/drawingml/2006/main">
            <a:r>
              <a:t/>
            </a:r>
          </a:p>
          <a:p xmlns:a="http://schemas.openxmlformats.org/drawingml/2006/main">
            <a:r>
              <a:t>앞에서 배운 내용: None은 미측정으로 먼저 돌려줍니다. 숫자 종류와 범위를 비교 전에 확인합니다.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풀이: TypeError가 발생할 수 있습니다. 이 계약은 불리언을 온도로 받지 않으므로 정확한 type으로 검사합니다. 원본 reviewed.py 전체를 읽고 함수 내부 들여쓰기를 유지합니다.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outputs/2026-10-20/lesson.md#A12</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https://zeusk302-png.github.io/kdigital-physical-ai/#/sessions/2026-10-20/activity-A12</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0은 정상, None은 미측정입니다.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문자에 온도 비교를 먼저 하면? 어떤 문제가 생길 수 있나요?</a:t>
            </a:r>
          </a:p>
          <a:p xmlns:a="http://schemas.openxmlformats.org/drawingml/2006/main">
            <a:r>
              <a:t/>
            </a:r>
          </a:p>
          <a:p xmlns:a="http://schemas.openxmlformats.org/drawingml/2006/main">
            <a:r>
              <a:t>정답과 풀이: TypeError가 발생할 수 있습니다. 이 계약은 불리언을 온도로 받지 않으므로 정확한 type으로 검사합니다. 원본 reviewed.py 전체를 읽고 함수 내부 들여쓰기를 유지합니다.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https://zeusk302-png.github.io/kdigital-physical-ai/#/sessions/2026-10-20/activity-A12</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5교시 주제는 오류 재현과 수정입니다. </a:t>
            </a:r>
          </a:p>
          <a:p xmlns:a="http://schemas.openxmlformats.org/drawingml/2006/main">
            <a:r>
              <a:t/>
            </a:r>
          </a:p>
          <a:p xmlns:a="http://schemas.openxmlformats.org/drawingml/2006/main">
            <a:r>
              <a:t>예제를 보여 준 뒤 학생과 함께 따라 해 봅니다. 학생이 한 값을 바꾸고 결과를 예상하게 한 다음 실제 결과와 비교합니다. beginner-start의 교시별 활동부터 진행하고 남은 문제는 복습으로 안내합니다. 설치가 안 되면 제공 출력으로 같은 문제를 풀게 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outputs/2026-10-20/beginner-start.md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https://zeusk302-png.github.io/kdigital-physical-ai/#/sessions/2026-10-20/activity-A13</a:t>
            </a:r>
          </a:p>
          <a:p xmlns:a="http://schemas.openxmlformats.org/drawingml/2006/main">
            <a:r>
              <a:t>공식 자료: https://docs.python.org/3/builtins/functions.html#type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실패했던 입력과 기존 입력을 모두 시험합니다. 실제 오류와 추측한 원인을 따로 적습니다.</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outputs/2026-10-20/lesson.md#A13</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https://zeusk302-png.github.io/kdigital-physical-ai/#/sessions/2026-10-20/activity-A13</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실패했던 입력과 기존 입력을 모두 시험합니다.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A13의 개념과 원문 해설입니다.</a:t>
            </a:r>
          </a:p>
          <a:p xmlns:a="http://schemas.openxmlformats.org/drawingml/2006/main">
            <a:r>
              <a:t>### A13 · 재현 가능한 오류 보고</a:t>
            </a:r>
          </a:p>
          <a:p xmlns:a="http://schemas.openxmlformats.org/drawingml/2006/main">
            <a:r>
              <a:t/>
            </a:r>
          </a:p>
          <a:p xmlns:a="http://schemas.openxmlformats.org/drawingml/2006/main">
            <a:r>
              <a:t>#### 사례로 이해하기 · 다른 사람이 재현할 수 있는 오류 보고</a:t>
            </a:r>
          </a:p>
          <a:p xmlns:a="http://schemas.openxmlformats.org/drawingml/2006/main">
            <a:r>
              <a:t/>
            </a:r>
          </a:p>
          <a:p xmlns:a="http://schemas.openxmlformats.org/drawingml/2006/main">
            <a:r>
              <a:t>#### 실무 상황</a:t>
            </a:r>
          </a:p>
          <a:p xmlns:a="http://schemas.openxmlformats.org/drawingml/2006/main">
            <a:r>
              <a:t/>
            </a:r>
          </a:p>
          <a:p xmlns:a="http://schemas.openxmlformats.org/drawingml/2006/main">
            <a:r>
              <a:t>직원이 “AI가 이상하게 고쳤어요”라고 보고하면 동료는 어떤 입력과 파일을 봐야 할지 모릅니다. 대신 “proposal_a.py에서 27.9를 넣었더니 주의가 나왔고 요청상 정상이어야 한다”고 쓰면 바로 확인할 수 있습니다. 좋은 보고는 원인을 먼저 단정하지 않고 재현 정보를 먼저 제공합니다.</a:t>
            </a:r>
          </a:p>
          <a:p xmlns:a="http://schemas.openxmlformats.org/drawingml/2006/main">
            <a:r>
              <a:t/>
            </a:r>
          </a:p>
          <a:p xmlns:a="http://schemas.openxmlformats.org/drawingml/2006/main">
            <a:r>
              <a:t>#### 쉬운 풀이</a:t>
            </a:r>
          </a:p>
          <a:p xmlns:a="http://schemas.openxmlformats.org/drawingml/2006/main">
            <a:r>
              <a:t/>
            </a:r>
          </a:p>
          <a:p xmlns:a="http://schemas.openxmlformats.org/drawingml/2006/main">
            <a:r>
              <a:t>재현은 같은 조건에서 같은 현상을 다시 보는 일입니다. 회귀는 새 변경 때문에 이전에 맞던 동작이 다시 틀리는 현상입니다. 오류 보고에는 현재 폴더, 대상 파일, 실행 명령, 입력, 기대, 실제, 관찰 방식이 들어갑니다. 추정 원인은 별도 칸에 씁니다. 학생이 강사 시연을 봤다면 개인 실행으로 적지 않고 관찰이라고 표시합니다. 제공 결과를 읽기만 했다면 기록 읽기로 구분합니다.</a:t>
            </a:r>
          </a:p>
          <a:p xmlns:a="http://schemas.openxmlformats.org/drawingml/2006/main">
            <a:r>
              <a:t/>
            </a:r>
          </a:p>
          <a:p xmlns:a="http://schemas.openxmlformats.org/drawingml/2006/main">
            <a:r>
              <a:t>#### 완성 예와 풀이</a:t>
            </a:r>
          </a:p>
          <a:p xmlns:a="http://schemas.openxmlformats.org/drawingml/2006/main">
            <a:r>
              <a:t/>
            </a:r>
          </a:p>
          <a:p xmlns:a="http://schemas.openxmlformats.org/drawingml/2006/main">
            <a:r>
              <a:t>보고의 제목은 “27.9 경계 아래 값이 주의로 분류됨”입니다. 명령은 `python code/check_cases.py code/proposal_a.py`, 기대는 below 사례 정상, 실제는 주의입니다. 원인 추정은 기본 threshold가 27로 바뀐 영향입니다. 추가 요청은 “기준 28과 함수 이름, None의 미측정 계약을 유지하고 경계 비교를 검토”입니다. 수정 후에는 27.9와 28뿐 아니라 0·누락·문자·불리언·범위 밖까지 같은 검사를 다시 돌립니다. 변경한 검사가 아니라 동일한 요구 사례로 비교해야 회귀 여부를 볼 수 있습니다.</a:t>
            </a:r>
          </a:p>
          <a:p xmlns:a="http://schemas.openxmlformats.org/drawingml/2006/main">
            <a:r>
              <a:t/>
            </a:r>
          </a:p>
          <a:p xmlns:a="http://schemas.openxmlformats.org/drawingml/2006/main">
            <a:r>
              <a:t>#### 독립 추가 복습 과제</a:t>
            </a:r>
          </a:p>
          <a:p xmlns:a="http://schemas.openxmlformats.org/drawingml/2006/main">
            <a:r>
              <a:t/>
            </a:r>
          </a:p>
          <a:p xmlns:a="http://schemas.openxmlformats.org/drawingml/2006/main">
            <a:r>
              <a:t>“검사에서 text 행이 TypeError”인 상황의 재현 보고 다섯 줄을 쓰세요. 확정 사실 하나와 추정 하나를 표시하고, 고친 뒤에도 반드시 다시 확인할 다른 입력을 두 개 골라 이유를 설명하세요.</a:t>
            </a:r>
          </a:p>
          <a:p xmlns:a="http://schemas.openxmlformats.org/drawingml/2006/main">
            <a:r>
              <a:t/>
            </a:r>
          </a:p>
          <a:p xmlns:a="http://schemas.openxmlformats.org/drawingml/2006/main">
            <a:r>
              <a:t>#### 답과 대표 오답</a:t>
            </a:r>
          </a:p>
          <a:p xmlns:a="http://schemas.openxmlformats.org/drawingml/2006/main">
            <a:r>
              <a:t/>
            </a:r>
          </a:p>
          <a:p xmlns:a="http://schemas.openxmlformats.org/drawingml/2006/main">
            <a:r>
              <a:t>파일과 명령, 문자 입력, 입력 오류라는 기대, TypeError라는 실제, 실행 또는 관찰 방식이 필요합니다. 종류 검사를 비교보다 먼저 하는 것이 수정 후보이며 실제 원인은 코드 확인 전에는 추정으로 둡니다. 28과 None 등을 재확인하여 경계와 누락 계약이 유지됐는지 봅니다. “전부 고쳐”는 범위를 넓혀 새 오류를 만들 수 있습니다.</a:t>
            </a:r>
          </a:p>
          <a:p xmlns:a="http://schemas.openxmlformats.org/drawingml/2006/main">
            <a:r>
              <a:t/>
            </a:r>
          </a:p>
          <a:p xmlns:a="http://schemas.openxmlformats.org/drawingml/2006/main">
            <a:r>
              <a:t>#### 확인 질문과 해설</a:t>
            </a:r>
          </a:p>
          <a:p xmlns:a="http://schemas.openxmlformats.org/drawingml/2006/main">
            <a:r>
              <a:t/>
            </a:r>
          </a:p>
          <a:p xmlns:a="http://schemas.openxmlformats.org/drawingml/2006/main">
            <a:r>
              <a:t>① 통과 수만 기록하면 충분한가요? 같은 수라도 실패 입력이 다를 수 있습니다. ② 재검사에 기존 사례가 필요한 이유는 무엇인가요? 회귀를 찾습니다. ③ 원인을 확정하는 시점은 언제인가요? 코드와 재현 결과가 가설을 뒷받침할 때입니다.</a:t>
            </a:r>
          </a:p>
          <a:p xmlns:a="http://schemas.openxmlformats.org/drawingml/2006/main">
            <a:r>
              <a:t/>
            </a:r>
          </a:p>
          <a:p xmlns:a="http://schemas.openxmlformats.org/drawingml/2006/main">
            <a:r>
              <a:t>**뜻과 비유.** 오류 보고는 실제로 한 행동·입력·기대한 결과·실제 결과를 다른 사람이 다시 따라갈 수 있게 적은 문서입니다.</a:t>
            </a:r>
          </a:p>
          <a:p xmlns:a="http://schemas.openxmlformats.org/drawingml/2006/main">
            <a:r>
              <a:t/>
            </a:r>
          </a:p>
          <a:p xmlns:a="http://schemas.openxmlformats.org/drawingml/2006/main">
            <a:r>
              <a:t>**왜 필요한가.** “안 돼요”보다 파일 경로와 입력 하나를 제시하면 재현 범위가 좁아지고 원인 추측을 줄입니다.</a:t>
            </a:r>
          </a:p>
          <a:p xmlns:a="http://schemas.openxmlformats.org/drawingml/2006/main">
            <a:r>
              <a:t/>
            </a:r>
          </a:p>
          <a:p xmlns:a="http://schemas.openxmlformats.org/drawingml/2006/main">
            <a:r>
              <a:t>**예를 따라 읽기.** 입력 28, 기대 주의, 실제 정상,baseline.py 실행이라는 네 정보가 있으면 경계 문제를 재현할 수 있습니다.</a:t>
            </a:r>
          </a:p>
          <a:p xmlns:a="http://schemas.openxmlformats.org/drawingml/2006/main">
            <a:r>
              <a:t/>
            </a:r>
          </a:p>
          <a:p xmlns:a="http://schemas.openxmlformats.org/drawingml/2006/main">
            <a:r>
              <a:t>**헷갈리는 반례.** 관찰하지 않은 원인을 확정해“AI가 고장 났다”고 쓰면 다음 확인 행동이 불명확합니다.</a:t>
            </a:r>
          </a:p>
          <a:p xmlns:a="http://schemas.openxmlformats.org/drawingml/2006/main">
            <a:r>
              <a:t/>
            </a:r>
          </a:p>
          <a:p xmlns:a="http://schemas.openxmlformats.org/drawingml/2006/main">
            <a:r>
              <a:t>**직접 적용.** 실패한 사례 하나 고르기 → 파일·명령·입력·기대·실제 쓰기 → 추정 원인과 관찰 사실 분리하기 → 짝이 같은 문제를 재현할 수 있는지 읽기</a:t>
            </a:r>
          </a:p>
          <a:p xmlns:a="http://schemas.openxmlformats.org/drawingml/2006/main">
            <a:r>
              <a:t/>
            </a:r>
          </a:p>
          <a:p xmlns:a="http://schemas.openxmlformats.org/drawingml/2006/main">
            <a:r>
              <a:t>**설명할 질문.** 관찰 사실과 원인 추정은 왜 나누어 쓰나요?</a:t>
            </a:r>
          </a:p>
          <a:p xmlns:a="http://schemas.openxmlformats.org/drawingml/2006/main">
            <a:r>
              <a:t/>
            </a:r>
          </a:p>
          <a:p xmlns:a="http://schemas.openxmlformats.org/drawingml/2006/main">
            <a:r>
              <a:t>**막혔을 때.** 실행 화면을 남기지 못 했으면 실제 출력 문구를 그대로 적고 확인하지 않은 내용은 비워 둡니다.</a:t>
            </a:r>
          </a:p>
          <a:p xmlns:a="http://schemas.openxmlformats.org/drawingml/2006/main">
            <a:r>
              <a:t/>
            </a:r>
          </a:p>
          <a:p xmlns:a="http://schemas.openxmlformats.org/drawingml/2006/main">
            <a:r>
              <a:t>입력·답칸·확인 순서는 [실습지의 A13](practice-guide.md#a13)와 [활동 원문](examples/course/data/A13_input.md)에 있습니다.</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outputs/2026-10-20/lesson.md#A13</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https://zeusk302-png.github.io/kdigital-physical-ai/#/sessions/2026-10-20/activity-A13</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파일·명령·입력·기대·실제 결과를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현재 위치와 관찰 방식도 적습니다.</a:t>
            </a:r>
          </a:p>
          <a:p xmlns:a="http://schemas.openxmlformats.org/drawingml/2006/main">
            <a:r>
              <a:t/>
            </a:r>
          </a:p>
          <a:p xmlns:a="http://schemas.openxmlformats.org/drawingml/2006/main">
            <a:r>
              <a:t>이 표에서 볼 것: 파일·명령·입력·기대·실제를 남깁니다. 관찰 사실과 원인 추정을 구별합니다.</a:t>
            </a:r>
          </a:p>
          <a:p xmlns:a="http://schemas.openxmlformats.org/drawingml/2006/main">
            <a:r>
              <a:t>예상 결과: 기준 28과 함수 이름을 유지한다고 씁니다. 실패한 입력을 다음 요청에 연결합니다.</a:t>
            </a:r>
          </a:p>
          <a:p xmlns:a="http://schemas.openxmlformats.org/drawingml/2006/main">
            <a:r>
              <a:t/>
            </a:r>
          </a:p>
          <a:p xmlns:a="http://schemas.openxmlformats.org/drawingml/2006/main">
            <a:r>
              <a:t>풀이: 파일·명령·입력·기대 입력 오류·실제 TypeError를 씁니다. 코드 확인 전 종류 검사 누락은 추정입니다. 직접 실행·강사 관찰·제공 결과 읽기를 구별합니다.</a:t>
            </a:r>
          </a:p>
          <a:p xmlns:a="http://schemas.openxmlformats.org/drawingml/2006/main">
            <a:r>
              <a:t>학생에게 각 행에 어떤 값을 넣고 어떤 결과가 나오는지 물어봅니다. 이름이 같은 파일을 다른 폴더에서 읽지 않았는지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https://zeusk302-png.github.io/kdigital-physical-ai/#/sessions/2026-10-20/activity-A13</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표의 항목과 값은 원문 그대로 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기준 28과 함수 이름은 유지한다고 씁니다. 어떤 입력에서 실패했는지도 함께 적습니다.</a:t>
            </a:r>
          </a:p>
          <a:p xmlns:a="http://schemas.openxmlformats.org/drawingml/2006/main">
            <a:r>
              <a:t/>
            </a:r>
          </a:p>
          <a:p xmlns:a="http://schemas.openxmlformats.org/drawingml/2006/main">
            <a:r>
              <a:t>앞에서 배운 내용: 파일·명령·입력·기대·실제를 남깁니다. 관찰 사실과 원인 추정을 구별합니다.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풀이: 파일·명령·입력·기대 입력 오류·실제 TypeError를 씁니다. 코드 확인 전 종류 검사 누락은 추정입니다. 직접 실행·강사 관찰·제공 결과 읽기를 구별합니다.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outputs/2026-10-20/lesson.md#A13</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https://zeusk302-png.github.io/kdigital-physical-ai/#/sessions/2026-10-20/activity-A13</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기준 28과 함수 이름은 유지한다고 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"뜨거움" 입력에서 TypeError가 나왔습니다. 재현 보고 다섯 줄을 작성하세요.</a:t>
            </a:r>
          </a:p>
          <a:p xmlns:a="http://schemas.openxmlformats.org/drawingml/2006/main">
            <a:r>
              <a:t/>
            </a:r>
          </a:p>
          <a:p xmlns:a="http://schemas.openxmlformats.org/drawingml/2006/main">
            <a:r>
              <a:t>정답과 풀이: 파일·명령·입력·기대 입력 오류·실제 TypeError를 씁니다. 코드 확인 전 종류 검사 누락은 추정입니다. 직접 실행·강사 관찰·제공 결과 읽기를 구별합니다.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https://zeusk302-png.github.io/kdigital-physical-ai/#/sessions/2026-10-20/activity-A13</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A14의 개념과 원문 해설입니다.</a:t>
            </a:r>
          </a:p>
          <a:p xmlns:a="http://schemas.openxmlformats.org/drawingml/2006/main">
            <a:r>
              <a:t>### A14 · 수정 요청을 좁히기</a:t>
            </a:r>
          </a:p>
          <a:p xmlns:a="http://schemas.openxmlformats.org/drawingml/2006/main">
            <a:r>
              <a:t/>
            </a:r>
          </a:p>
          <a:p xmlns:a="http://schemas.openxmlformats.org/drawingml/2006/main">
            <a:r>
              <a:t>**뜻과 비유.** 추가 요청은 실패한 조건과 유지할 조건을 함께 적는 것입니다. 문제가 하나 발견됐다고 전체 프로그램을 다시 만드는 요청으로 넓히지 않습니다.</a:t>
            </a:r>
          </a:p>
          <a:p xmlns:a="http://schemas.openxmlformats.org/drawingml/2006/main">
            <a:r>
              <a:t/>
            </a:r>
          </a:p>
          <a:p xmlns:a="http://schemas.openxmlformats.org/drawingml/2006/main">
            <a:r>
              <a:t>**왜 필요한가.** 작은 수정은 이미 통과한 사례를 보존하는지 재확인하기 쉽습니다.</a:t>
            </a:r>
          </a:p>
          <a:p xmlns:a="http://schemas.openxmlformats.org/drawingml/2006/main">
            <a:r>
              <a:t/>
            </a:r>
          </a:p>
          <a:p xmlns:a="http://schemas.openxmlformats.org/drawingml/2006/main">
            <a:r>
              <a:t>**예를 따라 읽기.** “28의 기대는 주의인데 정상입니다. 기준 28과 함수 이름을 유지하고 비교 조건만 검토해 주세요.”</a:t>
            </a:r>
          </a:p>
          <a:p xmlns:a="http://schemas.openxmlformats.org/drawingml/2006/main">
            <a:r>
              <a:t/>
            </a:r>
          </a:p>
          <a:p xmlns:a="http://schemas.openxmlformats.org/drawingml/2006/main">
            <a:r>
              <a:t>**헷갈리는 반례.** “전부 새로 고쳐”는 빈 값 처리나 이름까지 바꾸어 새 문제를 만들 수 있습니다.</a:t>
            </a:r>
          </a:p>
          <a:p xmlns:a="http://schemas.openxmlformats.org/drawingml/2006/main">
            <a:r>
              <a:t/>
            </a:r>
          </a:p>
          <a:p xmlns:a="http://schemas.openxmlformats.org/drawingml/2006/main">
            <a:r>
              <a:t>**직접 적용.** 이전 실패에서 추가 요청한 문단 쓰기 → 수정 대상과 유지 대상 분리하기 → 응답 B가 주장한 범위 읽기 → 실행으로 확인할 주장 표시하기</a:t>
            </a:r>
          </a:p>
          <a:p xmlns:a="http://schemas.openxmlformats.org/drawingml/2006/main">
            <a:r>
              <a:t/>
            </a:r>
          </a:p>
          <a:p xmlns:a="http://schemas.openxmlformats.org/drawingml/2006/main">
            <a:r>
              <a:t>**설명할 질문.** 추가 요청에서도 유지할 조건을 다시 적는 이유는 무엇인가요?</a:t>
            </a:r>
          </a:p>
          <a:p xmlns:a="http://schemas.openxmlformats.org/drawingml/2006/main">
            <a:r>
              <a:t/>
            </a:r>
          </a:p>
          <a:p xmlns:a="http://schemas.openxmlformats.org/drawingml/2006/main">
            <a:r>
              <a:t>**막혔을 때.** 응답에 없는 검증을 했다고 추측하지 말고 별도 확인 항목으로 남깁니다.</a:t>
            </a:r>
          </a:p>
          <a:p xmlns:a="http://schemas.openxmlformats.org/drawingml/2006/main">
            <a:r>
              <a:t/>
            </a:r>
          </a:p>
          <a:p xmlns:a="http://schemas.openxmlformats.org/drawingml/2006/main">
            <a:r>
              <a:t>입력·답칸·확인 순서는 [실습지의 A14](practice-guide.md#a14)와 [활동 원문](examples/course/data/A14_input.md)에 있습니다.</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outputs/2026-10-20/lesson.md#A14</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https://zeusk302-png.github.io/kdigital-physical-ai/#/sessions/2026-10-20/activity-A14</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실패한 입력과 유지할 조건을 함께 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28의 기대는 주의인데 정상입니다. 기준 28과 함수 이름을 유지합니다. 경계 비교를 검토해 주세요.</a:t>
            </a:r>
          </a:p>
          <a:p xmlns:a="http://schemas.openxmlformats.org/drawingml/2006/main">
            <a:r>
              <a:t/>
            </a:r>
          </a:p>
          <a:p xmlns:a="http://schemas.openxmlformats.org/drawingml/2006/main">
            <a:r>
              <a:t>이 표에서 볼 것: 실패 조건과 유지 조건을 함께 씁니다. 전체 재작성보다 확인할 문제를 정합니다.</a:t>
            </a:r>
          </a:p>
          <a:p xmlns:a="http://schemas.openxmlformats.org/drawingml/2006/main">
            <a:r>
              <a:t>예상 결과: 설명만 읽고 검사가 끝났다고 쓰지 않습니다. 수정한 파일에 같은 입력을 적용합니다.</a:t>
            </a:r>
          </a:p>
          <a:p xmlns:a="http://schemas.openxmlformats.org/drawingml/2006/main">
            <a:r>
              <a:t/>
            </a:r>
          </a:p>
          <a:p xmlns:a="http://schemas.openxmlformats.org/drawingml/2006/main">
            <a:r>
              <a:t>풀이: 작은 수정이 이름·기준·누락 처리 등 이미 맞던 계약을 바꾸지 않도록 합니다. 응답이 검사했다고 주장하면 실제 대상과 실행 근거를 확인합니다.</a:t>
            </a:r>
          </a:p>
          <a:p xmlns:a="http://schemas.openxmlformats.org/drawingml/2006/main">
            <a:r>
              <a:t>학생에게 각 행에 어떤 값을 넣고 어떤 결과가 나오는지 물어봅니다. 이름이 같은 파일을 다른 폴더에서 읽지 않았는지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outputs/2026-10-20/lesson.md#A14</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https://zeusk302-png.github.io/kdigital-physical-ai/#/sessions/2026-10-20/activity-A14</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28의 기대는 주의인데 정상입니다.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설명만 읽고 검사가 끝났다고 쓰지 않습니다. 수정한 파일에 같은 입력을 적용합니다.</a:t>
            </a:r>
          </a:p>
          <a:p xmlns:a="http://schemas.openxmlformats.org/drawingml/2006/main">
            <a:r>
              <a:t/>
            </a:r>
          </a:p>
          <a:p xmlns:a="http://schemas.openxmlformats.org/drawingml/2006/main">
            <a:r>
              <a:t>앞에서 배운 내용: 실패 조건과 유지 조건을 함께 씁니다. 전체 재작성보다 확인할 문제를 정합니다.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풀이: 작은 수정이 이름·기준·누락 처리 등 이미 맞던 계약을 바꾸지 않도록 합니다. 응답이 검사했다고 주장하면 실제 대상과 실행 근거를 확인합니다.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outputs/2026-10-20/lesson.md#A14</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https://zeusk302-png.github.io/kdigital-physical-ai/#/sessions/2026-10-20/activity-A14</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설명만 읽고 검사가 끝났다고 쓰지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추가 요청에 유지 조건을 다시 쓰는 이유는?</a:t>
            </a:r>
          </a:p>
          <a:p xmlns:a="http://schemas.openxmlformats.org/drawingml/2006/main">
            <a:r>
              <a:t/>
            </a:r>
          </a:p>
          <a:p xmlns:a="http://schemas.openxmlformats.org/drawingml/2006/main">
            <a:r>
              <a:t>정답과 풀이: 작은 수정이 이름·기준·누락 처리 등 이미 맞던 계약을 바꾸지 않도록 합니다. 응답이 검사했다고 주장하면 실제 대상과 실행 근거를 확인합니다.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https://zeusk302-png.github.io/kdigital-physical-ai/#/sessions/2026-10-20/activity-A14</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A15의 개념과 원문 해설입니다.</a:t>
            </a:r>
          </a:p>
          <a:p xmlns:a="http://schemas.openxmlformats.org/drawingml/2006/main">
            <a:r>
              <a:t>### A15 · 회귀 확인과 증거</a:t>
            </a:r>
          </a:p>
          <a:p xmlns:a="http://schemas.openxmlformats.org/drawingml/2006/main">
            <a:r>
              <a:t/>
            </a:r>
          </a:p>
          <a:p xmlns:a="http://schemas.openxmlformats.org/drawingml/2006/main">
            <a:r>
              <a:t>**뜻과 비유.** 회귀는 수정한 뒤 예전에 맞던 동작이 다시 틀리는 현상입니다. 수정한 사례 뿐 아니라 관련된 기존 사례도 함께 확인합니다.</a:t>
            </a:r>
          </a:p>
          <a:p xmlns:a="http://schemas.openxmlformats.org/drawingml/2006/main">
            <a:r>
              <a:t/>
            </a:r>
          </a:p>
          <a:p xmlns:a="http://schemas.openxmlformats.org/drawingml/2006/main">
            <a:r>
              <a:t>**왜 필요한가.** 경계를 고치며 기준을 27로 바꾸면 28 은 맞아도 27.9가 틀려집니다.</a:t>
            </a:r>
          </a:p>
          <a:p xmlns:a="http://schemas.openxmlformats.org/drawingml/2006/main">
            <a:r>
              <a:t/>
            </a:r>
          </a:p>
          <a:p xmlns:a="http://schemas.openxmlformats.org/drawingml/2006/main">
            <a:r>
              <a:t>**예를 따라 읽기.** baseline·proposal_a·reviewed의 아홉 결과를 같은 기대 값으로 비교합니다.</a:t>
            </a:r>
          </a:p>
          <a:p xmlns:a="http://schemas.openxmlformats.org/drawingml/2006/main">
            <a:r>
              <a:t/>
            </a:r>
          </a:p>
          <a:p xmlns:a="http://schemas.openxmlformats.org/drawingml/2006/main">
            <a:r>
              <a:t>**헷갈리는 반례.** 검사를 새 코드에 유리하게 바꾸거나 통과 한 줄만 보고하면 근거가 사라집니다.</a:t>
            </a:r>
          </a:p>
          <a:p xmlns:a="http://schemas.openxmlformats.org/drawingml/2006/main">
            <a:r>
              <a:t/>
            </a:r>
          </a:p>
          <a:p xmlns:a="http://schemas.openxmlformats.org/drawingml/2006/main">
            <a:r>
              <a:t>**직접 적용.** 세 후보에 같은 검사 실행하기 → 통과 수와 실패 입력 표로 비교하기 → 요구 위반과 실패의 연결 쓰기 → 원본 검사 파일이 유지됐는지 확인하기</a:t>
            </a:r>
          </a:p>
          <a:p xmlns:a="http://schemas.openxmlformats.org/drawingml/2006/main">
            <a:r>
              <a:t/>
            </a:r>
          </a:p>
          <a:p xmlns:a="http://schemas.openxmlformats.org/drawingml/2006/main">
            <a:r>
              <a:t>**설명할 질문.** 통과 수만 같으면 같은 품질이라고 할 수 있나요?</a:t>
            </a:r>
          </a:p>
          <a:p xmlns:a="http://schemas.openxmlformats.org/drawingml/2006/main">
            <a:r>
              <a:t/>
            </a:r>
          </a:p>
          <a:p xmlns:a="http://schemas.openxmlformats.org/drawingml/2006/main">
            <a:r>
              <a:t>**막혔을 때.** FAIL 수가 줄어도 새로운 실패가 입력되었는지 각 행을 확인합니다.</a:t>
            </a:r>
          </a:p>
          <a:p xmlns:a="http://schemas.openxmlformats.org/drawingml/2006/main">
            <a:r>
              <a:t/>
            </a:r>
          </a:p>
          <a:p xmlns:a="http://schemas.openxmlformats.org/drawingml/2006/main">
            <a:r>
              <a:t>입력·답칸·확인 순서는 [실습지의 A15](practice-guide.md#a15)와 [활동 원문](examples/course/data/A15_input.md)에 있습니다.</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outputs/2026-10-20/lesson.md#A15</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https://zeusk302-png.github.io/kdigital-physical-ai/#/sessions/2026-10-20/activity-A15</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고친 뒤 예전 동작도 다시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예제: 회귀 확인의 예</a:t>
            </a:r>
          </a:p>
          <a:p xmlns:a="http://schemas.openxmlformats.org/drawingml/2006/main">
            <a:r>
              <a:t>실행 위치: course. 기준은 동일합니다.</a:t>
            </a:r>
          </a:p>
          <a:p xmlns:a="http://schemas.openxmlformats.org/drawingml/2006/main">
            <a:r>
              <a:t/>
            </a:r>
          </a:p>
          <a:p xmlns:a="http://schemas.openxmlformats.org/drawingml/2006/main">
            <a:r>
              <a:t>python code/check_cases.py code/baseline.py</a:t>
            </a:r>
          </a:p>
          <a:p xmlns:a="http://schemas.openxmlformats.org/drawingml/2006/main">
            <a:r>
              <a:t>뜻: course 폴더에서 검사기를 실행하고 code/baseline.py를 검사 대상으로 건넵니다. 제공된 같은 입력 목록으로 결과를 비교합니다.</a:t>
            </a:r>
          </a:p>
          <a:p xmlns:a="http://schemas.openxmlformats.org/drawingml/2006/main">
            <a:r>
              <a:t/>
            </a:r>
          </a:p>
          <a:p xmlns:a="http://schemas.openxmlformats.org/drawingml/2006/main">
            <a:r>
              <a:t>python code/check_cases.py code/proposal_a.py</a:t>
            </a:r>
          </a:p>
          <a:p xmlns:a="http://schemas.openxmlformats.org/drawingml/2006/main">
            <a:r>
              <a:t>뜻: course 폴더에서 검사기를 실행하고 code/proposal_a.py를 검사 대상으로 건넵니다. 제공된 같은 입력 목록으로 결과를 비교합니다.</a:t>
            </a:r>
          </a:p>
          <a:p xmlns:a="http://schemas.openxmlformats.org/drawingml/2006/main">
            <a:r>
              <a:t/>
            </a:r>
          </a:p>
          <a:p xmlns:a="http://schemas.openxmlformats.org/drawingml/2006/main">
            <a:r>
              <a:t>python code/check_cases.py code/reviewed.py</a:t>
            </a:r>
          </a:p>
          <a:p xmlns:a="http://schemas.openxmlformats.org/drawingml/2006/main">
            <a:r>
              <a:t>뜻: course 폴더에서 검사기를 실행하고 code/reviewed.py를 검사 대상으로 건넵니다. 제공된 같은 입력 목록으로 결과를 비교합니다.</a:t>
            </a:r>
          </a:p>
          <a:p xmlns:a="http://schemas.openxmlformats.org/drawingml/2006/main">
            <a:r>
              <a:t/>
            </a:r>
          </a:p>
          <a:p xmlns:a="http://schemas.openxmlformats.org/drawingml/2006/main">
            <a:r>
              <a:t>확인할 결과: reviewed는 제공 아홉 사례에서 9/9입니다. 모든 실제 센서 조건의 보장은 아닙니다.</a:t>
            </a:r>
          </a:p>
          <a:p xmlns:a="http://schemas.openxmlformats.org/drawingml/2006/main">
            <a:r>
              <a:t>풀이: 실패한 입력이 다를 수 있으므로 각 행과 요구 위반을 비교합니다. 실패가 줄었어도 새로운 회귀가 생겼는지 확인합니다.</a:t>
            </a:r>
          </a:p>
          <a:p xmlns:a="http://schemas.openxmlformats.org/drawingml/2006/main">
            <a:r>
              <a:t/>
            </a:r>
          </a:p>
          <a:p xmlns:a="http://schemas.openxmlformats.org/drawingml/2006/main">
            <a:r>
              <a:t>전체 코드와 함께 쓰는 파일은 아래 자료에서 확인합니다. 발췌 코드는 전체 파일의 어느 부분인지 먼저 보여 줍니다. 이 부분만 새 파일에 붙여 실행하지 않도록 안내합니다. 저장 위치와 실행 위치를 먼저 확인하고 한 단계씩 결과를 비교합니다.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 / 원고 75장</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https://zeusk302-png.github.io/kdigital-physical-ai/#/sessions/2026-10-20/activity-A15</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명령의 마지막 파일만 바뀌고 cases.json 기준은 같습니다.</a:t>
            </a:r>
          </a:p>
          <a:p xmlns:a="http://schemas.openxmlformats.org/drawingml/2006/main">
            <a:r>
              <a:t>검사 기대값을 후보 결과에 맞춰 바꾸지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해당 화면 코드의 줄별 풀이입니다.</a:t>
            </a:r>
          </a:p>
          <a:p xmlns:a="http://schemas.openxmlformats.org/drawingml/2006/main">
            <a:r>
              <a:t>python code/check_cases.py code/baseline.py</a:t>
            </a:r>
          </a:p>
          <a:p xmlns:a="http://schemas.openxmlformats.org/drawingml/2006/main">
            <a:r>
              <a:t>뜻: course 폴더에서 검사기를 실행하고 code/baseline.py를 검사 대상으로 건넵니다. 제공된 같은 입력 목록으로 결과를 비교합니다.</a:t>
            </a:r>
          </a:p>
          <a:p xmlns:a="http://schemas.openxmlformats.org/drawingml/2006/main">
            <a:r>
              <a:t/>
            </a:r>
          </a:p>
          <a:p xmlns:a="http://schemas.openxmlformats.org/drawingml/2006/main">
            <a:r>
              <a:t>python code/check_cases.py code/proposal_a.py</a:t>
            </a:r>
          </a:p>
          <a:p xmlns:a="http://schemas.openxmlformats.org/drawingml/2006/main">
            <a:r>
              <a:t>뜻: course 폴더에서 검사기를 실행하고 code/proposal_a.py를 검사 대상으로 건넵니다. 제공된 같은 입력 목록으로 결과를 비교합니다.</a:t>
            </a:r>
          </a:p>
          <a:p xmlns:a="http://schemas.openxmlformats.org/drawingml/2006/main">
            <a:r>
              <a:t/>
            </a:r>
          </a:p>
          <a:p xmlns:a="http://schemas.openxmlformats.org/drawingml/2006/main">
            <a:r>
              <a:t>python code/check_cases.py code/reviewed.py</a:t>
            </a:r>
          </a:p>
          <a:p xmlns:a="http://schemas.openxmlformats.org/drawingml/2006/main">
            <a:r>
              <a:t>뜻: course 폴더에서 검사기를 실행하고 code/reviewed.py를 검사 대상으로 건넵니다. 제공된 같은 입력 목록으로 결과를 비교합니다.</a:t>
            </a:r>
          </a:p>
          <a:p xmlns:a="http://schemas.openxmlformats.org/drawingml/2006/main">
            <a:r>
              <a:t/>
            </a:r>
          </a:p>
          <a:p xmlns:a="http://schemas.openxmlformats.org/drawingml/2006/main">
            <a:r>
              <a:t>전체 코드와 실행할 폴더는 아래 원문 활동을 확인합니다. 화면에 나온 줄부터 차례대로 읽습니다.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D:\KDigital_PhysicalAI\.build\copyedited-ppt\spec-2026-10-20.json#slide-75</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https://zeusk302-png.github.io/kdigital-physical-ai/#/sessions/2026-10-20/activity-A15</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명령마다 검사할 후보 파일을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reviewed는 제공 아홉 사례에서 9/9입니다. 모든 실제 센서 조건의 보장은 아닙니다.</a:t>
            </a:r>
          </a:p>
          <a:p xmlns:a="http://schemas.openxmlformats.org/drawingml/2006/main">
            <a:r>
              <a:t/>
            </a:r>
          </a:p>
          <a:p xmlns:a="http://schemas.openxmlformats.org/drawingml/2006/main">
            <a:r>
              <a:t>앞에서 배운 내용: 고친 뒤 예전 동작도 다시 확인합니다. 세 후보에 같은 검사 기준을 적용합니다.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풀이: 실패한 입력이 다를 수 있으므로 각 행과 요구 위반을 비교합니다. 실패가 줄었어도 새로운 회귀가 생겼는지 확인합니다.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outputs/2026-10-20/lesson.md#A15</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https://zeusk302-png.github.io/kdigital-physical-ai/#/sessions/2026-10-20/activity-A15</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reviewed는 제공 아홉 사례에서 9/9입니다.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두 코드의 통과 수가 같습니다. 같은 품질이라고 판단할 수 있나요?</a:t>
            </a:r>
          </a:p>
          <a:p xmlns:a="http://schemas.openxmlformats.org/drawingml/2006/main">
            <a:r>
              <a:t/>
            </a:r>
          </a:p>
          <a:p xmlns:a="http://schemas.openxmlformats.org/drawingml/2006/main">
            <a:r>
              <a:t>정답과 풀이: 실패한 입력이 다를 수 있으므로 각 행과 요구 위반을 비교합니다. 실패가 줄었어도 새로운 회귀가 생겼는지 확인합니다.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https://zeusk302-png.github.io/kdigital-physical-ai/#/sessions/2026-10-20/activity-A15</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6교시 주제는 새 요청과 인수인계입니다. </a:t>
            </a:r>
          </a:p>
          <a:p xmlns:a="http://schemas.openxmlformats.org/drawingml/2006/main">
            <a:r>
              <a:t/>
            </a:r>
          </a:p>
          <a:p xmlns:a="http://schemas.openxmlformats.org/drawingml/2006/main">
            <a:r>
              <a:t>예제를 보여 준 뒤 학생과 함께 따라 해 봅니다. 학생이 한 값을 바꾸고 결과를 예상하게 한 다음 실제 결과와 비교합니다. beginner-start의 교시별 활동부터 진행하고 남은 문제는 복습으로 안내합니다. 설치가 안 되면 제공 출력으로 같은 문제를 풀게 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outputs/2026-10-20/beginner-start.md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https://zeusk302-png.github.io/kdigital-physical-ai/#/sessions/2026-10-20/activity-A16</a:t>
            </a:r>
          </a:p>
          <a:p xmlns:a="http://schemas.openxmlformats.org/drawingml/2006/main">
            <a:r>
              <a:t>공식 자료: 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이번 호출만 바꿀지, 기본값을 바꿀지 정합니다. 누가 요청했는지와 검사할 입력을 적습니다.</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outputs/2026-10-20/lesson.md#A16</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https://zeusk302-png.github.io/kdigital-physical-ai/#/sessions/2026-10-20/activity-A16</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이번 호출만 바꿀지, 기본값을 바꿀지 정합니다.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A16의 개념과 원문 해설입니다.</a:t>
            </a:r>
          </a:p>
          <a:p xmlns:a="http://schemas.openxmlformats.org/drawingml/2006/main">
            <a:r>
              <a:t>### A16 · 새 조건의 영향 분석</a:t>
            </a:r>
          </a:p>
          <a:p xmlns:a="http://schemas.openxmlformats.org/drawingml/2006/main">
            <a:r>
              <a:t/>
            </a:r>
          </a:p>
          <a:p xmlns:a="http://schemas.openxmlformats.org/drawingml/2006/main">
            <a:r>
              <a:t>#### 사례로 이해하기 · 새 기준과 완료 범위를 인계하기</a:t>
            </a:r>
          </a:p>
          <a:p xmlns:a="http://schemas.openxmlformats.org/drawingml/2006/main">
            <a:r>
              <a:t/>
            </a:r>
          </a:p>
          <a:p xmlns:a="http://schemas.openxmlformats.org/drawingml/2006/main">
            <a:r>
              <a:t>#### 실무 상황</a:t>
            </a:r>
          </a:p>
          <a:p xmlns:a="http://schemas.openxmlformats.org/drawingml/2006/main">
            <a:r>
              <a:t/>
            </a:r>
          </a:p>
          <a:p xmlns:a="http://schemas.openxmlformats.org/drawingml/2006/main">
            <a:r>
              <a:t>담당자가 새 장소에는 기준 30을 적용해 달라고 승인했습니다. 기존 모든 장소의 기본값을 30으로 바꾸면 이전 업무가 달라집니다. 새 요청이 특정 장소만의 조건인지 전체 기본값 변경인지 먼저 확인하고 영향 받는 호출과 검사를 찾습니다.</a:t>
            </a:r>
          </a:p>
          <a:p xmlns:a="http://schemas.openxmlformats.org/drawingml/2006/main">
            <a:r>
              <a:t/>
            </a:r>
          </a:p>
          <a:p xmlns:a="http://schemas.openxmlformats.org/drawingml/2006/main">
            <a:r>
              <a:t>#### 쉬운 풀이</a:t>
            </a:r>
          </a:p>
          <a:p xmlns:a="http://schemas.openxmlformats.org/drawingml/2006/main">
            <a:r>
              <a:t/>
            </a:r>
          </a:p>
          <a:p xmlns:a="http://schemas.openxmlformats.org/drawingml/2006/main">
            <a:r>
              <a:t>함수 인수는 호출할 때 전달하는 입력입니다. 기본값은 그 인수를 생략했을 때 사용하는 값입니다. `classify(29.9, threshold=30)`과 `classify(29.9)`는 같은 입력 온도지만 기준이 다르므로 결과가 다를 수 있습니다. 요구 변경은 검사의 기대를 바꿀 수 있으나 어떤 승인된 요구에 따른 변경인지 근거를 남겨야 합니다. 기존 실패를 숨기려고 기대를 바꾼 상황과 구별합니다.</a:t>
            </a:r>
          </a:p>
          <a:p xmlns:a="http://schemas.openxmlformats.org/drawingml/2006/main">
            <a:r>
              <a:t/>
            </a:r>
          </a:p>
          <a:p xmlns:a="http://schemas.openxmlformats.org/drawingml/2006/main">
            <a:r>
              <a:t>#### 완성 예와 풀이</a:t>
            </a:r>
          </a:p>
          <a:p xmlns:a="http://schemas.openxmlformats.org/drawingml/2006/main">
            <a:r>
              <a:t/>
            </a:r>
          </a:p>
          <a:p xmlns:a="http://schemas.openxmlformats.org/drawingml/2006/main">
            <a:r>
              <a:t>새 장소 요청서에 기준 30, 기본 계약 28 유지, 유효 범위 0~50 유지라고 씁니다. 새 호출의 29.9는 정상, 30과 30.1은 주의입니다. 기본 호출의 28은 여전히 주의입니다. None은 두 호출 모두 미측정이고 범위 밖은 입력 오류입니다. 인계에는 수정한 파일, 변경 조건, 기본 아홉 사례 결과, 새 경계 세 사례 결과, 실제 AI 호출 여부를 씁니다. 오늘은 제공 응답을 검토한 오프라인 활동이며 실제 센서 안전 판단과 실제 AI 서비스 연결은 확인하지 않았다고 기록합니다.</a:t>
            </a:r>
          </a:p>
          <a:p xmlns:a="http://schemas.openxmlformats.org/drawingml/2006/main">
            <a:r>
              <a:t/>
            </a:r>
          </a:p>
          <a:p xmlns:a="http://schemas.openxmlformats.org/drawingml/2006/main">
            <a:r>
              <a:t>#### 독립 추가 복습 과제</a:t>
            </a:r>
          </a:p>
          <a:p xmlns:a="http://schemas.openxmlformats.org/drawingml/2006/main">
            <a:r>
              <a:t/>
            </a:r>
          </a:p>
          <a:p xmlns:a="http://schemas.openxmlformats.org/drawingml/2006/main">
            <a:r>
              <a:t>기준 30을 특정 장소에만 적용하는 요청과 전체 기본값을 30으로 바꾸는 요청을 각각 한 문장으로 작성하세요. 두 요청에서 기대가 달라질 기본 호출 한 개를 고르고, 동료가 다시 확인할 명령과 자료 위치를 인계문에 넣으세요.</a:t>
            </a:r>
          </a:p>
          <a:p xmlns:a="http://schemas.openxmlformats.org/drawingml/2006/main">
            <a:r>
              <a:t/>
            </a:r>
          </a:p>
          <a:p xmlns:a="http://schemas.openxmlformats.org/drawingml/2006/main">
            <a:r>
              <a:t>#### 답과 대표 오답</a:t>
            </a:r>
          </a:p>
          <a:p xmlns:a="http://schemas.openxmlformats.org/drawingml/2006/main">
            <a:r>
              <a:t/>
            </a:r>
          </a:p>
          <a:p xmlns:a="http://schemas.openxmlformats.org/drawingml/2006/main">
            <a:r>
              <a:t>특정 장소에는 threshold 인수를 명시하고 전체 변경에는 기본값 변경 승인을 명시합니다. 기본 classify(28)은 전자에서 주의, 후자에서 정상입니다. “새 검사가 통과했으니 모든 서비스 운영 완료”는 검증 범위를 넘었습니다. “새 요청은 절대 기대를 바꾸면 안 된다”도 승인된 요구 변경을 무시합니다.</a:t>
            </a:r>
          </a:p>
          <a:p xmlns:a="http://schemas.openxmlformats.org/drawingml/2006/main">
            <a:r>
              <a:t/>
            </a:r>
          </a:p>
          <a:p xmlns:a="http://schemas.openxmlformats.org/drawingml/2006/main">
            <a:r>
              <a:t>#### 확인 질문과 해설</a:t>
            </a:r>
          </a:p>
          <a:p xmlns:a="http://schemas.openxmlformats.org/drawingml/2006/main">
            <a:r>
              <a:t/>
            </a:r>
          </a:p>
          <a:p xmlns:a="http://schemas.openxmlformats.org/drawingml/2006/main">
            <a:r>
              <a:t>① 기본값과 인수는 왜 구별하나요? 영향 받는 호출 범위가 다릅니다. ② 동료가 같은 결과를 보려면 무엇이 필요한가요? 대상 파일·실행 위치·입력·기대를 연결한 기록입니다. ③ 아직 모르는 사항은 어떻게 전달하나요? 실제 환경, 장비, 계정 등 미확인 항목과 다음 확인 담당을 구체적으로 남깁니다.</a:t>
            </a:r>
          </a:p>
          <a:p xmlns:a="http://schemas.openxmlformats.org/drawingml/2006/main">
            <a:r>
              <a:t/>
            </a:r>
          </a:p>
          <a:p xmlns:a="http://schemas.openxmlformats.org/drawingml/2006/main">
            <a:r>
              <a:t>**뜻과 비유.** 새 업무 조건은 기존 규칙과 독립인지 먼저 확인한 뒤 작은 사례로 설계합니다. 오늘은 추가 코드보다 변경이 영향 줄 입력을 설명하는 일에 집중합니다.</a:t>
            </a:r>
          </a:p>
          <a:p xmlns:a="http://schemas.openxmlformats.org/drawingml/2006/main">
            <a:r>
              <a:t/>
            </a:r>
          </a:p>
          <a:p xmlns:a="http://schemas.openxmlformats.org/drawingml/2006/main">
            <a:r>
              <a:t>**왜 필요한가.** 특수 기준을 추가하면 조건 순서와 기존 계약을 함께 검토해야합니다.</a:t>
            </a:r>
          </a:p>
          <a:p xmlns:a="http://schemas.openxmlformats.org/drawingml/2006/main">
            <a:r>
              <a:t/>
            </a:r>
          </a:p>
          <a:p xmlns:a="http://schemas.openxmlformats.org/drawingml/2006/main">
            <a:r>
              <a:t>**예를 따라 읽기.** 담당자가 기준을 30으로 바꿔 달라고 새로 요청했다면 29.9·30·30.1을 새 경계로 예상합니다.</a:t>
            </a:r>
          </a:p>
          <a:p xmlns:a="http://schemas.openxmlformats.org/drawingml/2006/main">
            <a:r>
              <a:t/>
            </a:r>
          </a:p>
          <a:p xmlns:a="http://schemas.openxmlformats.org/drawingml/2006/main">
            <a:r>
              <a:t>**헷갈리는 반례.** 승인된 새 요청 없이 기준을 바꾸는 것과 업무 담당자가 조건을 변경한 것은 다릅니다.</a:t>
            </a:r>
          </a:p>
          <a:p xmlns:a="http://schemas.openxmlformats.org/drawingml/2006/main">
            <a:r>
              <a:t/>
            </a:r>
          </a:p>
          <a:p xmlns:a="http://schemas.openxmlformats.org/drawingml/2006/main">
            <a:r>
              <a:t>**직접 적용.** 기준 30이라는 새 요청서 작성하기 → 영향 받을 기대 값 찾기 → 29.9·30·30.1의 예상 작성하기 → 기본 기준 28 을 유지할지 인수로 전달할지 설명하기</a:t>
            </a:r>
          </a:p>
          <a:p xmlns:a="http://schemas.openxmlformats.org/drawingml/2006/main">
            <a:r>
              <a:t/>
            </a:r>
          </a:p>
          <a:p xmlns:a="http://schemas.openxmlformats.org/drawingml/2006/main">
            <a:r>
              <a:t>**설명할 질문.** 새 조건에서 어떤 기존 검사를 그대로 써야하나요?</a:t>
            </a:r>
          </a:p>
          <a:p xmlns:a="http://schemas.openxmlformats.org/drawingml/2006/main">
            <a:r>
              <a:t/>
            </a:r>
          </a:p>
          <a:p xmlns:a="http://schemas.openxmlformats.org/drawingml/2006/main">
            <a:r>
              <a:t>**막혔을 때.** 기본 기준 변경과 함수 인수 전달을 혼동하면 classify(30,threshold =30)호출 예를 읽습니다.</a:t>
            </a:r>
          </a:p>
          <a:p xmlns:a="http://schemas.openxmlformats.org/drawingml/2006/main">
            <a:r>
              <a:t/>
            </a:r>
          </a:p>
          <a:p xmlns:a="http://schemas.openxmlformats.org/drawingml/2006/main">
            <a:r>
              <a:t>입력·답칸·확인 순서는 [실습지의 A16](practice-guide.md#a16)와 [활동 원문](examples/course/data/A16_input.md)에 있습니다.</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outputs/2026-10-20/lesson.md#A16</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https://zeusk302-png.github.io/kdigital-physical-ai/#/sessions/2026-10-20/activity-A16</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특정 장소만 기준 30을 사용합니다.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예제: 새 기준의 영향의 예</a:t>
            </a:r>
          </a:p>
          <a:p xmlns:a="http://schemas.openxmlformats.org/drawingml/2006/main">
            <a:r>
              <a:t>호출 발췌: reviewed의 classify가 필요합니다.</a:t>
            </a:r>
          </a:p>
          <a:p xmlns:a="http://schemas.openxmlformats.org/drawingml/2006/main">
            <a:r>
              <a:t/>
            </a:r>
          </a:p>
          <a:p xmlns:a="http://schemas.openxmlformats.org/drawingml/2006/main">
            <a:r>
              <a:t>classify(28)</a:t>
            </a:r>
          </a:p>
          <a:p xmlns:a="http://schemas.openxmlformats.org/drawingml/2006/main">
            <a:r>
              <a:t>뜻: 온도 28을 기본 기준 28과 비교합니다. reviewed 함수라면 주의입니다.</a:t>
            </a:r>
          </a:p>
          <a:p xmlns:a="http://schemas.openxmlformats.org/drawingml/2006/main">
            <a:r>
              <a:t/>
            </a:r>
          </a:p>
          <a:p xmlns:a="http://schemas.openxmlformats.org/drawingml/2006/main">
            <a:r>
              <a:t>classify(29.9, threshold=30)</a:t>
            </a:r>
          </a:p>
          <a:p xmlns:a="http://schemas.openxmlformats.org/drawingml/2006/main">
            <a:r>
              <a:t>뜻: 이번 호출은 기준 30을 씁니다. 29.9는 기준 미만이므로 정상입니다.</a:t>
            </a:r>
          </a:p>
          <a:p xmlns:a="http://schemas.openxmlformats.org/drawingml/2006/main">
            <a:r>
              <a:t/>
            </a:r>
          </a:p>
          <a:p xmlns:a="http://schemas.openxmlformats.org/drawingml/2006/main">
            <a:r>
              <a:t>classify(30, threshold=30)</a:t>
            </a:r>
          </a:p>
          <a:p xmlns:a="http://schemas.openxmlformats.org/drawingml/2006/main">
            <a:r>
              <a:t>뜻: 온도 30과 기준 30이 같습니다. 이상 조건에 포함되어 주의입니다.</a:t>
            </a:r>
          </a:p>
          <a:p xmlns:a="http://schemas.openxmlformats.org/drawingml/2006/main">
            <a:r>
              <a:t/>
            </a:r>
          </a:p>
          <a:p xmlns:a="http://schemas.openxmlformats.org/drawingml/2006/main">
            <a:r>
              <a:t>확인할 결과: 기본 28은 주의입니다. 기준 30에서 29.9는 정상, 30은 주의입니다.</a:t>
            </a:r>
          </a:p>
          <a:p xmlns:a="http://schemas.openxmlformats.org/drawingml/2006/main">
            <a:r>
              <a:t>풀이: 특정 호출은 threshold=30을 명시하고 전체 기본값 변경에는 별도 요구 승인이 필요합니다. 새 경계29.9·30·30.1과 기존 기본 검사를 함께 확인합니다.</a:t>
            </a:r>
          </a:p>
          <a:p xmlns:a="http://schemas.openxmlformats.org/drawingml/2006/main">
            <a:r>
              <a:t/>
            </a:r>
          </a:p>
          <a:p xmlns:a="http://schemas.openxmlformats.org/drawingml/2006/main">
            <a:r>
              <a:t>전체 코드와 함께 쓰는 파일은 아래 자료에서 확인합니다. 발췌 코드는 전체 파일의 어느 부분인지 먼저 보여 줍니다. 이 부분만 새 파일에 붙여 실행하지 않도록 안내합니다. 저장 위치와 실행 위치를 먼저 확인하고 한 단계씩 결과를 비교합니다.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 / 원고 82장</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https://zeusk302-png.github.io/kdigital-physical-ai/#/sessions/2026-10-20/activity-A16</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threshold=30은 이번 호출에만 적용됩니다.</a:t>
            </a:r>
          </a:p>
          <a:p xmlns:a="http://schemas.openxmlformats.org/drawingml/2006/main">
            <a:r>
              <a:t>기본 classify(28)의 기준 28은 그대로입니다.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해당 화면 코드의 줄별 풀이입니다.</a:t>
            </a:r>
          </a:p>
          <a:p xmlns:a="http://schemas.openxmlformats.org/drawingml/2006/main">
            <a:r>
              <a:t>classify(28)</a:t>
            </a:r>
          </a:p>
          <a:p xmlns:a="http://schemas.openxmlformats.org/drawingml/2006/main">
            <a:r>
              <a:t>뜻: 온도 28을 기본 기준 28과 비교합니다. reviewed 함수라면 주의입니다.</a:t>
            </a:r>
          </a:p>
          <a:p xmlns:a="http://schemas.openxmlformats.org/drawingml/2006/main">
            <a:r>
              <a:t/>
            </a:r>
          </a:p>
          <a:p xmlns:a="http://schemas.openxmlformats.org/drawingml/2006/main">
            <a:r>
              <a:t>classify(29.9, threshold=30)</a:t>
            </a:r>
          </a:p>
          <a:p xmlns:a="http://schemas.openxmlformats.org/drawingml/2006/main">
            <a:r>
              <a:t>뜻: 이번 호출은 기준 30을 씁니다. 29.9는 기준 미만이므로 정상입니다.</a:t>
            </a:r>
          </a:p>
          <a:p xmlns:a="http://schemas.openxmlformats.org/drawingml/2006/main">
            <a:r>
              <a:t/>
            </a:r>
          </a:p>
          <a:p xmlns:a="http://schemas.openxmlformats.org/drawingml/2006/main">
            <a:r>
              <a:t>classify(30, threshold=30)</a:t>
            </a:r>
          </a:p>
          <a:p xmlns:a="http://schemas.openxmlformats.org/drawingml/2006/main">
            <a:r>
              <a:t>뜻: 온도 30과 기준 30이 같습니다. 이상 조건에 포함되어 주의입니다.</a:t>
            </a:r>
          </a:p>
          <a:p xmlns:a="http://schemas.openxmlformats.org/drawingml/2006/main">
            <a:r>
              <a:t/>
            </a:r>
          </a:p>
          <a:p xmlns:a="http://schemas.openxmlformats.org/drawingml/2006/main">
            <a:r>
              <a:t>전체 코드와 실행할 폴더는 아래 원문 활동을 확인합니다. 화면에 나온 줄부터 차례대로 읽습니다.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D:\KDigital_PhysicalAI\.build\copyedited-ppt\spec-2026-10-20.json#slide-82</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https://zeusk302-png.github.io/kdigital-physical-ai/#/sessions/2026-10-20/activity-A16</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첫 인수는 분류할 온도입니다.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기본 28은 주의입니다. 기준 30에서 29.9는 정상, 30은 주의입니다.</a:t>
            </a:r>
          </a:p>
          <a:p xmlns:a="http://schemas.openxmlformats.org/drawingml/2006/main">
            <a:r>
              <a:t/>
            </a:r>
          </a:p>
          <a:p xmlns:a="http://schemas.openxmlformats.org/drawingml/2006/main">
            <a:r>
              <a:t>앞에서 배운 내용: 특정 장소만 기준 30을 사용합니다. 기본값 28과 호출 인수를 구별합니다.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풀이: 특정 호출은 threshold=30을 명시하고 전체 기본값 변경에는 별도 요구 승인이 필요합니다. 새 경계29.9·30·30.1과 기존 기본 검사를 함께 확인합니다.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outputs/2026-10-20/lesson.md#A16</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https://zeusk302-png.github.io/kdigital-physical-ai/#/sessions/2026-10-20/activity-A16</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기본 28은 주의입니다.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특정 장소만 바꾸는 요청과 전체 변경은? 영향 받을 호출을 구별해 보세요.</a:t>
            </a:r>
          </a:p>
          <a:p xmlns:a="http://schemas.openxmlformats.org/drawingml/2006/main">
            <a:r>
              <a:t/>
            </a:r>
          </a:p>
          <a:p xmlns:a="http://schemas.openxmlformats.org/drawingml/2006/main">
            <a:r>
              <a:t>정답과 풀이: 특정 호출은 threshold=30을 명시하고 전체 기본값 변경에는 별도 요구 승인이 필요합니다. 새 경계29.9·30·30.1과 기존 기본 검사를 함께 확인합니다.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https://zeusk302-png.github.io/kdigital-physical-ai/#/sessions/2026-10-20/activity-A16</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A17의 개념과 원문 해설입니다.</a:t>
            </a:r>
          </a:p>
          <a:p xmlns:a="http://schemas.openxmlformats.org/drawingml/2006/main">
            <a:r>
              <a:t>### A17 · 동료의 변경을 설명하기</a:t>
            </a:r>
          </a:p>
          <a:p xmlns:a="http://schemas.openxmlformats.org/drawingml/2006/main">
            <a:r>
              <a:t/>
            </a:r>
          </a:p>
          <a:p xmlns:a="http://schemas.openxmlformats.org/drawingml/2006/main">
            <a:r>
              <a:t>**뜻과 비유.** 동료 검토에서는 요청한 조건, 바뀐 줄, 검사 결과를 다른 사람도 찾을 수 있는지 확인합니다.</a:t>
            </a:r>
          </a:p>
          <a:p xmlns:a="http://schemas.openxmlformats.org/drawingml/2006/main">
            <a:r>
              <a:t/>
            </a:r>
          </a:p>
          <a:p xmlns:a="http://schemas.openxmlformats.org/drawingml/2006/main">
            <a:r>
              <a:t>**왜 필요한가.** 다른 사람에게 설명할 수 없다면 어떤 줄을 왜 바꿨는지 자신도 놓친 부분이 있을 수 있습니다.</a:t>
            </a:r>
          </a:p>
          <a:p xmlns:a="http://schemas.openxmlformats.org/drawingml/2006/main">
            <a:r>
              <a:t/>
            </a:r>
          </a:p>
          <a:p xmlns:a="http://schemas.openxmlformats.org/drawingml/2006/main">
            <a:r>
              <a:t>**예를 따라 읽기.** 짝은 None을 처리하는 줄과 &gt;= 조건을 찾습니다. 요청서의 조건에 맞는지 읽고 같은 검사 입력으로 실행해 봅니다.</a:t>
            </a:r>
          </a:p>
          <a:p xmlns:a="http://schemas.openxmlformats.org/drawingml/2006/main">
            <a:r>
              <a:t/>
            </a:r>
          </a:p>
          <a:p xmlns:a="http://schemas.openxmlformats.org/drawingml/2006/main">
            <a:r>
              <a:t>**헷갈리는 반례.** “테스트됐음”한 줄만 있으면 실행한 대상과 입력이 불명확합니다.</a:t>
            </a:r>
          </a:p>
          <a:p xmlns:a="http://schemas.openxmlformats.org/drawingml/2006/main">
            <a:r>
              <a:t/>
            </a:r>
          </a:p>
          <a:p xmlns:a="http://schemas.openxmlformats.org/drawingml/2006/main">
            <a:r>
              <a:t>**직접 적용.** 작업본과 검토 노트를 짝에게 전달하기 → 요구 두 개에 대응하는 줄 찾기 → 검사 결과 한 개를 재현하기 → 부족한 설명하나 보완하기</a:t>
            </a:r>
          </a:p>
          <a:p xmlns:a="http://schemas.openxmlformats.org/drawingml/2006/main">
            <a:r>
              <a:t/>
            </a:r>
          </a:p>
          <a:p xmlns:a="http://schemas.openxmlformats.org/drawingml/2006/main">
            <a:r>
              <a:t>**설명할 질문.** 동료가 다시 확인하려면 어떤 정보가 있어야 하나요?</a:t>
            </a:r>
          </a:p>
          <a:p xmlns:a="http://schemas.openxmlformats.org/drawingml/2006/main">
            <a:r>
              <a:t/>
            </a:r>
          </a:p>
          <a:p xmlns:a="http://schemas.openxmlformats.org/drawingml/2006/main">
            <a:r>
              <a:t>**막혔을 때.** 짝의 작업본을 바로 덮어쓰지 말고 수정 제안을 먼저 기록합니다.</a:t>
            </a:r>
          </a:p>
          <a:p xmlns:a="http://schemas.openxmlformats.org/drawingml/2006/main">
            <a:r>
              <a:t/>
            </a:r>
          </a:p>
          <a:p xmlns:a="http://schemas.openxmlformats.org/drawingml/2006/main">
            <a:r>
              <a:t>입력·답칸·확인 순서는 [실습지의 A17](practice-guide.md#a17)와 [활동 원문](examples/course/data/A17_input.md)에 있습니다.</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outputs/2026-10-20/lesson.md#A17</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https://zeusk302-png.github.io/kdigital-physical-ai/#/sessions/2026-10-20/activity-A17</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요청을 지키려고 어느 줄을 고쳤는지 말합니다.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동료 코드를 덮어쓰기 전에 바뀐 줄을 읽습니다.</a:t>
            </a:r>
          </a:p>
          <a:p xmlns:a="http://schemas.openxmlformats.org/drawingml/2006/main">
            <a:r>
              <a:t/>
            </a:r>
          </a:p>
          <a:p xmlns:a="http://schemas.openxmlformats.org/drawingml/2006/main">
            <a:r>
              <a:t>이 표에서 볼 것: 요구 한 개를 바뀐 줄과 연결합니다. 검사 한 개를 동료가 다시 확인합니다.</a:t>
            </a:r>
          </a:p>
          <a:p xmlns:a="http://schemas.openxmlformats.org/drawingml/2006/main">
            <a:r>
              <a:t>예상 결과: 동료가 파일과 실행 경로를 찾을 수 있어야 합니다. 부족한 설명을 검토 메모로 남깁니다.</a:t>
            </a:r>
          </a:p>
          <a:p xmlns:a="http://schemas.openxmlformats.org/drawingml/2006/main">
            <a:r>
              <a:t/>
            </a:r>
          </a:p>
          <a:p xmlns:a="http://schemas.openxmlformats.org/drawingml/2006/main">
            <a:r>
              <a:t>풀이: 대상 파일·명령·입력·기대·실제와 수행 방법을 넣습니다. 실제로 하지 않은 검증은 미실행으로 남깁니다.</a:t>
            </a:r>
          </a:p>
          <a:p xmlns:a="http://schemas.openxmlformats.org/drawingml/2006/main">
            <a:r>
              <a:t>학생에게 각 행에 어떤 값을 넣고 어떤 결과가 나오는지 물어봅니다. 이름이 같은 파일을 다른 폴더에서 읽지 않았는지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https://zeusk302-png.github.io/kdigital-physical-ai/#/sessions/2026-10-20/activity-A17</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표의 항목과 값은 원문 그대로 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파일 위치와 실행할 명령을 적어 줍니다. 설명이 빠진 곳은 동료에게 물어봅니다.</a:t>
            </a:r>
          </a:p>
          <a:p xmlns:a="http://schemas.openxmlformats.org/drawingml/2006/main">
            <a:r>
              <a:t/>
            </a:r>
          </a:p>
          <a:p xmlns:a="http://schemas.openxmlformats.org/drawingml/2006/main">
            <a:r>
              <a:t>앞에서 배운 내용: 요구 한 개를 바뀐 줄과 연결합니다. 검사 한 개를 동료가 다시 확인합니다.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풀이: 대상 파일·명령·입력·기대·실제와 수행 방법을 넣습니다. 실제로 하지 않은 검증은 미실행으로 남깁니다.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outputs/2026-10-20/lesson.md#A17</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https://zeusk302-png.github.io/kdigital-physical-ai/#/sessions/2026-10-20/activity-A17</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파일 위치와 실행할 명령을 적어 줍니다.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“테스트됐음”만 적은 설명을 보완하세요.</a:t>
            </a:r>
          </a:p>
          <a:p xmlns:a="http://schemas.openxmlformats.org/drawingml/2006/main">
            <a:r>
              <a:t/>
            </a:r>
          </a:p>
          <a:p xmlns:a="http://schemas.openxmlformats.org/drawingml/2006/main">
            <a:r>
              <a:t>정답과 풀이: 대상 파일·명령·입력·기대·실제와 수행 방법을 넣습니다. 실제로 하지 않은 검증은 미실행으로 남깁니다.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https://zeusk302-png.github.io/kdigital-physical-ai/#/sessions/2026-10-20/activity-A17</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A18의 개념과 원문 해설입니다.</a:t>
            </a:r>
          </a:p>
          <a:p xmlns:a="http://schemas.openxmlformats.org/drawingml/2006/main">
            <a:r>
              <a:t>### A18 · 완료 범위와 다음 확인</a:t>
            </a:r>
          </a:p>
          <a:p xmlns:a="http://schemas.openxmlformats.org/drawingml/2006/main">
            <a:r>
              <a:t/>
            </a:r>
          </a:p>
          <a:p xmlns:a="http://schemas.openxmlformats.org/drawingml/2006/main">
            <a:r>
              <a:t>**뜻과 비유.** 인수인계에서는 요청받은 일, 고친 파일, 실행 결과, 아직 시험하지 못한 조건을 다음 사람에게 알려 줍니다.</a:t>
            </a:r>
          </a:p>
          <a:p xmlns:a="http://schemas.openxmlformats.org/drawingml/2006/main">
            <a:r>
              <a:t/>
            </a:r>
          </a:p>
          <a:p xmlns:a="http://schemas.openxmlformats.org/drawingml/2006/main">
            <a:r>
              <a:t>**왜 필요한가.** 합성 데이터 검사와 실제 센서 운영은 다른 범위입니다. 확인하지 않은 서비스 호출이나 장비 연결을 완료라고 쓰지 않습니다.</a:t>
            </a:r>
          </a:p>
          <a:p xmlns:a="http://schemas.openxmlformats.org/drawingml/2006/main">
            <a:r>
              <a:t/>
            </a:r>
          </a:p>
          <a:p xmlns:a="http://schemas.openxmlformats.org/drawingml/2006/main">
            <a:r>
              <a:t>**예를 따라 읽기.** 분류기 아홉 사례 통과·오프라인 응답 검토·실제 AI 호출 미수행을 함께 적습니다.</a:t>
            </a:r>
          </a:p>
          <a:p xmlns:a="http://schemas.openxmlformats.org/drawingml/2006/main">
            <a:r>
              <a:t/>
            </a:r>
          </a:p>
          <a:p xmlns:a="http://schemas.openxmlformats.org/drawingml/2006/main">
            <a:r>
              <a:t>**헷갈리는 반례.** AI가 코드를 썼다고 가정하거나 검사 통과만으로 실제 안전 시스템 완성이라고 표현하지 않습니다.</a:t>
            </a:r>
          </a:p>
          <a:p xmlns:a="http://schemas.openxmlformats.org/drawingml/2006/main">
            <a:r>
              <a:t/>
            </a:r>
          </a:p>
          <a:p xmlns:a="http://schemas.openxmlformats.org/drawingml/2006/main">
            <a:r>
              <a:t>**직접 적용.** 세 문장 인계 작성하기 → 실제 AI 호출 여부 명시하기 → 미검증 조건 두 개 쓰기 → 0과 None의 차이, 기준과 경계값의 차이, AI 설명을 확인하는 방법에 답하기</a:t>
            </a:r>
          </a:p>
          <a:p xmlns:a="http://schemas.openxmlformats.org/drawingml/2006/main">
            <a:r>
              <a:t/>
            </a:r>
          </a:p>
          <a:p xmlns:a="http://schemas.openxmlformats.org/drawingml/2006/main">
            <a:r>
              <a:t>**설명할 질문.** 자료 작성과 실제 운영 검증을 어떻게 구분하나요?</a:t>
            </a:r>
          </a:p>
          <a:p xmlns:a="http://schemas.openxmlformats.org/drawingml/2006/main">
            <a:r>
              <a:t/>
            </a:r>
          </a:p>
          <a:p xmlns:a="http://schemas.openxmlformats.org/drawingml/2006/main">
            <a:r>
              <a:t>**막혔을 때.** 완료 문장이 추상적이면 파일·입력 수·실행 방법을 넣습니다.</a:t>
            </a:r>
          </a:p>
          <a:p xmlns:a="http://schemas.openxmlformats.org/drawingml/2006/main">
            <a:r>
              <a:t/>
            </a:r>
          </a:p>
          <a:p xmlns:a="http://schemas.openxmlformats.org/drawingml/2006/main">
            <a:r>
              <a:t>입력·답칸·확인 순서는 [실습지의 A18](practice-guide.md#a18)와 [활동 원문](examples/course/data/A18_input.md)에 있습니다.</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outputs/2026-10-20/lesson.md#A18</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https://zeusk302-png.github.io/kdigital-physical-ai/#/sessions/2026-10-20/activity-A18</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바뀐 조건과 관찰한 결과를 보고합니다.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다음 확인 조건도 함께 전달합니다.</a:t>
            </a:r>
          </a:p>
          <a:p xmlns:a="http://schemas.openxmlformats.org/drawingml/2006/main">
            <a:r>
              <a:t/>
            </a:r>
          </a:p>
          <a:p xmlns:a="http://schemas.openxmlformats.org/drawingml/2006/main">
            <a:r>
              <a:t>이 표에서 볼 것: 바뀐 조건과 관찰한 결과를 보고합니다. 가상 검사와 실제 운영을 구별합니다.</a:t>
            </a:r>
          </a:p>
          <a:p xmlns:a="http://schemas.openxmlformats.org/drawingml/2006/main">
            <a:r>
              <a:t>예상 결과: 제공 응답 검토와 로컬 분류 검사를 남깁니다. 실제 AI가 작성했다고 추정하지 않습니다.</a:t>
            </a:r>
          </a:p>
          <a:p xmlns:a="http://schemas.openxmlformats.org/drawingml/2006/main">
            <a:r>
              <a:t/>
            </a:r>
          </a:p>
          <a:p xmlns:a="http://schemas.openxmlformats.org/drawingml/2006/main">
            <a:r>
              <a:t>풀이: 작업본의 조건 변경, 제공 검사 입력과 관찰 결과, 실제 AI 호출·센서·서비스 연결 등 미확인 범위를 구체적으로 적습니다.</a:t>
            </a:r>
          </a:p>
          <a:p xmlns:a="http://schemas.openxmlformats.org/drawingml/2006/main">
            <a:r>
              <a:t>학생에게 각 행에 어떤 값을 넣고 어떤 결과가 나오는지 물어봅니다. 이름이 같은 파일을 다른 폴더에서 읽지 않았는지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https://zeusk302-png.github.io/kdigital-physical-ai/#/sessions/2026-10-20/activity-A18</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표의 항목과 값은 원문 그대로 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제공 응답 검토와 로컬 분류 검사를 남깁니다. 실제 AI가 작성했다고 추정하지 않습니다.</a:t>
            </a:r>
          </a:p>
          <a:p xmlns:a="http://schemas.openxmlformats.org/drawingml/2006/main">
            <a:r>
              <a:t/>
            </a:r>
          </a:p>
          <a:p xmlns:a="http://schemas.openxmlformats.org/drawingml/2006/main">
            <a:r>
              <a:t>앞에서 배운 내용: 바뀐 조건과 관찰한 결과를 보고합니다. 가상 검사와 실제 운영을 구별합니다.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풀이: 작업본의 조건 변경, 제공 검사 입력과 관찰 결과, 실제 AI 호출·센서·서비스 연결 등 미확인 범위를 구체적으로 적습니다.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outputs/2026-10-20/lesson.md#A18</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https://zeusk302-png.github.io/kdigital-physical-ai/#/sessions/2026-10-20/activity-A18</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제공 응답 검토와 로컬 분류 검사를 남깁니다.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고친 줄, 확인한 결과, 남은 질문을 한 문장씩 쓰세요.</a:t>
            </a:r>
          </a:p>
          <a:p xmlns:a="http://schemas.openxmlformats.org/drawingml/2006/main">
            <a:r>
              <a:t/>
            </a:r>
          </a:p>
          <a:p xmlns:a="http://schemas.openxmlformats.org/drawingml/2006/main">
            <a:r>
              <a:t>정답과 풀이: 작업본의 조건 변경, 제공 검사 입력과 관찰 결과, 실제 AI 호출·센서·서비스 연결 등 미확인 범위를 구체적으로 적습니다.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D:\KDigital_PhysicalAI\outputs\2026-10-20\lesson.md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https://zeusk302-png.github.io/kdigital-physical-ai/#/sessions/2026-10-20/activity-A18</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추가·복습 슬라이드. 수업 활동을 마친 뒤 풀어 보는 추가 문제입니다. 시간이 부족하면 수업 뒤에 이어서 풀도록 안내합니다. 학생이 먼저 독립 답안을 작성하고 정답을 notes로 읽습니다.</a:t>
            </a:r>
          </a:p>
          <a:p xmlns:a="http://schemas.openxmlformats.org/drawingml/2006/main">
            <a:r>
              <a:t>1 · 작업 요청과 공유 자료</a:t>
            </a:r>
          </a:p>
          <a:p xmlns:a="http://schemas.openxmlformats.org/drawingml/2006/main">
            <a:r>
              <a:t/>
            </a:r>
          </a:p>
          <a:p xmlns:a="http://schemas.openxmlformats.org/drawingml/2006/main">
            <a:r>
              <a:t>**문제:** 온도 경계 오류를 맡길 때 고객 연락처, 실제 API 키, 현재 함수, 가상 검사 입력, 실패 로그 중 무엇을 제공하나요? 다섯 줄 요청을 작성하세요.</a:t>
            </a:r>
          </a:p>
          <a:p xmlns:a="http://schemas.openxmlformats.org/drawingml/2006/main">
            <a:r>
              <a:t/>
            </a:r>
          </a:p>
          <a:p xmlns:a="http://schemas.openxmlformats.org/drawingml/2006/main">
            <a:r>
              <a:t>**해설·확인 기준:** 현재 함수·가상 검사 입력·비밀을 제거한 실패 로그를 제공합니다. 목적·대상·유지 조건·허용 행동·검증을 씁니다. 실제 키와 고객 연락처는 이번 문제의 근거에 필요하지 않습니다. 자료를 많이 보내는 것이 목표라는 답은 부족합니다.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D:\KDigital_PhysicalAI\outputs\2026-10-20\assessment.md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https://zeusk302-png.github.io/kdigital-physical-ai/#/sessions/2026-10-20/activity-A18</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추가·복습 슬라이드. 수업 활동을 마친 뒤 풀어 보는 추가 문제입니다. 시간이 부족하면 수업 뒤에 이어서 풀도록 안내합니다. 학생이 먼저 독립 답안을 작성하고 정답을 notes로 읽습니다.</a:t>
            </a:r>
          </a:p>
          <a:p xmlns:a="http://schemas.openxmlformats.org/drawingml/2006/main">
            <a:r>
              <a:t>2 · 새 경계 규칙</a:t>
            </a:r>
          </a:p>
          <a:p xmlns:a="http://schemas.openxmlformats.org/drawingml/2006/main">
            <a:r>
              <a:t/>
            </a:r>
          </a:p>
          <a:p xmlns:a="http://schemas.openxmlformats.org/drawingml/2006/main">
            <a:r>
              <a:t>**문제:** 업무 규칙은 5 초과 점검입니다. 4.9·5·5.1과 None의 기대를 쓰고 28 이상 주의 규칙과 비교 기호 차이를 설명하세요.</a:t>
            </a:r>
          </a:p>
          <a:p xmlns:a="http://schemas.openxmlformats.org/drawingml/2006/main">
            <a:r>
              <a:t/>
            </a:r>
          </a:p>
          <a:p xmlns:a="http://schemas.openxmlformats.org/drawingml/2006/main">
            <a:r>
              <a:t>**해설·확인 기준:** 정상·정상·점검이며 누락은 별도 미측정입니다. 초과는 &gt;, 이상은 &gt;=입니다. 함수 출력 문자열은 새로운 업무 계약에 맞게 명시합니다. 기준과 기호를 함께 설명하면 충족입니다.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D:\KDigital_PhysicalAI\outputs\2026-10-20\assessment.md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https://zeusk302-png.github.io/kdigital-physical-ai/#/sessions/2026-10-20/activity-A18</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추가·복습 슬라이드. 수업 활동을 마친 뒤 풀어 보는 추가 문제입니다. 시간이 부족하면 수업 뒤에 이어서 풀도록 안내합니다. 학생이 먼저 독립 답안을 작성하고 정답을 notes로 읽습니다.</a:t>
            </a:r>
          </a:p>
          <a:p xmlns:a="http://schemas.openxmlformats.org/drawingml/2006/main">
            <a:r>
              <a:t>3 · 주장과 근거</a:t>
            </a:r>
          </a:p>
          <a:p xmlns:a="http://schemas.openxmlformats.org/drawingml/2006/main">
            <a:r>
              <a:t/>
            </a:r>
          </a:p>
          <a:p xmlns:a="http://schemas.openxmlformats.org/drawingml/2006/main">
            <a:r>
              <a:t>**문제:** 응답은 “수정·검사·실제 운영 모두 완료”라고 합니다. 제공 근거는 코드 diff와 로컬 가상 검사 출력뿐입니다. 보고할 수 있는 범위와 남은 질문을 쓰세요.</a:t>
            </a:r>
          </a:p>
          <a:p xmlns:a="http://schemas.openxmlformats.org/drawingml/2006/main">
            <a:r>
              <a:t/>
            </a:r>
          </a:p>
          <a:p xmlns:a="http://schemas.openxmlformats.org/drawingml/2006/main">
            <a:r>
              <a:t>**해설·확인 기준:** 실제 변경과 해당 로컬 검사 결과까지 보고하고 실제 장비·서비스 운영은 미확인으로 남깁니다. 대상 파일·명령·입력이 필요합니다. 확인한 결과가 없으면 실패로 단정하지 말고 아직 확인하지 못했다고 적습니다.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D:\KDigital_PhysicalAI\outputs\2026-10-20\assessment.md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https://zeusk302-png.github.io/kdigital-physical-ai/#/sessions/2026-10-20/activity-A18</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추가·복습 슬라이드. 수업 활동을 마친 뒤 풀어 보는 추가 문제입니다. 시간이 부족하면 수업 뒤에 이어서 풀도록 안내합니다. 학생이 먼저 독립 답안을 작성하고 정답을 notes로 읽습니다.</a:t>
            </a:r>
          </a:p>
          <a:p xmlns:a="http://schemas.openxmlformats.org/drawingml/2006/main">
            <a:r>
              <a:t>4 · 잘못된 입력의 해석</a:t>
            </a:r>
          </a:p>
          <a:p xmlns:a="http://schemas.openxmlformats.org/drawingml/2006/main">
            <a:r>
              <a:t/>
            </a:r>
          </a:p>
          <a:p xmlns:a="http://schemas.openxmlformats.org/drawingml/2006/main">
            <a:r>
              <a:t>**문제:** 0·None·True·문자 "28"·50·51을 현재 분류 계약으로 판단하고 종류 검사를 비교보다 먼저 해야 하는 이유를 쓰세요.</a:t>
            </a:r>
          </a:p>
          <a:p xmlns:a="http://schemas.openxmlformats.org/drawingml/2006/main">
            <a:r>
              <a:t/>
            </a:r>
          </a:p>
          <a:p xmlns:a="http://schemas.openxmlformats.org/drawingml/2006/main">
            <a:r>
              <a:t>**해설·확인 기준:** 정상·미측정·입력 오류·입력 오류·주의·입력 오류입니다. 문자나 불리언은 허용한 정확한 숫자 종류가 아니며 문자 비교는 예외를 낼 수 있습니다. None을 0으로 바꾸면 측정과 누락을 합칩니다.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D:\KDigital_PhysicalAI\outputs\2026-10-20\assessment.md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https://zeusk302-png.github.io/kdigital-physical-ai/#/sessions/2026-10-20/activity-A18</a:t>
            </a:r>
          </a:p>
          <a:p xmlns:a="http://schemas.openxmlformats.org/drawingml/2006/main">
            <a:r>
              <a:t>공식 자료: https://docs.github.com/en/copilot/concepts/agents/cloud-agent/about-cloud-agent</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추가·복습 슬라이드. 수업 활동을 마친 뒤 풀어 보는 추가 문제입니다. 시간이 부족하면 수업 뒤에 이어서 풀도록 안내합니다. 학생이 먼저 독립 답안을 작성하고 정답을 notes로 읽습니다.</a:t>
            </a:r>
          </a:p>
          <a:p xmlns:a="http://schemas.openxmlformats.org/drawingml/2006/main">
            <a:r>
              <a:t>5 · 재현 가능한 보고</a:t>
            </a:r>
          </a:p>
          <a:p xmlns:a="http://schemas.openxmlformats.org/drawingml/2006/main">
            <a:r>
              <a:t/>
            </a:r>
          </a:p>
          <a:p xmlns:a="http://schemas.openxmlformats.org/drawingml/2006/main">
            <a:r>
              <a:t>**문제:** 입력 문자 "뜨거움"에서 TypeError가 관찰되었습니다. 다른 사람이 재현할 수 있는 보고와 수정 뒤 회귀 확인 두 사례를 쓰세요.</a:t>
            </a:r>
          </a:p>
          <a:p xmlns:a="http://schemas.openxmlformats.org/drawingml/2006/main">
            <a:r>
              <a:t/>
            </a:r>
          </a:p>
          <a:p xmlns:a="http://schemas.openxmlformats.org/drawingml/2006/main">
            <a:r>
              <a:t>**해설·확인 기준:** 파일·현재 위치·명령·입력·기대 입력 오류·실제 TypeError·관찰 방식을 씁니다. 종류 검사 누락은 코드 확인 전 가설입니다. 기존 28 경계와 None 등을 다시 확인하여 이전 계약을 보존합니다.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D:\KDigital_PhysicalAI\outputs\2026-10-20\assessment.md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https://zeusk302-png.github.io/kdigital-physical-ai/#/sessions/2026-10-20/activity-A18</a:t>
            </a:r>
          </a:p>
          <a:p xmlns:a="http://schemas.openxmlformats.org/drawingml/2006/main">
            <a:r>
              <a:t>공식 자료: https://docs.python.org/3/builtins/functions.html#type</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추가·복습 슬라이드. 수업 활동을 마친 뒤 풀어 보는 추가 문제입니다. 시간이 부족하면 수업 뒤에 이어서 풀도록 안내합니다. 학생이 먼저 독립 답안을 작성하고 정답을 notes로 읽습니다.</a:t>
            </a:r>
          </a:p>
          <a:p xmlns:a="http://schemas.openxmlformats.org/drawingml/2006/main">
            <a:r>
              <a:t>6 · 기본값과 특정 호출</a:t>
            </a:r>
          </a:p>
          <a:p xmlns:a="http://schemas.openxmlformats.org/drawingml/2006/main">
            <a:r>
              <a:t/>
            </a:r>
          </a:p>
          <a:p xmlns:a="http://schemas.openxmlformats.org/drawingml/2006/main">
            <a:r>
              <a:t>**문제:** 특정 장소만 기준 30입니다. classify(28)과 classify(29.9,threshold=30)의 기대를 쓰고 인계에 남길 미확인 범위 두 개를 제시하세요.</a:t>
            </a:r>
          </a:p>
          <a:p xmlns:a="http://schemas.openxmlformats.org/drawingml/2006/main">
            <a:r>
              <a:t/>
            </a:r>
          </a:p>
          <a:p xmlns:a="http://schemas.openxmlformats.org/drawingml/2006/main">
            <a:r>
              <a:t>**해설·확인 기준:** 기본 호출은 주의, 기준 30 호출은 정상입니다. 기본값 28을 유지하고 특정 호출 인수를 지정합니다. 실제 AI 서비스 연결과 실제 센서 운영은 미확인입니다. 기본 전체 변경은 별도 요구라는 점을 설명하면 충족입니다.</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D:\KDigital_PhysicalAI\outputs\2026-10-20\assessment.md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https://zeusk302-png.github.io/kdigital-physical-ai/#/sessions/2026-10-20/activity-A18</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변경한 파일과 목적을 적습니다. 넣은 값과 예상한 결과, 실제 결과를 적습니다. 직접 실행한 것과 시연에서 본 것을 구분합니다.</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outputs/2026-10-20/lesson.md#A18</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https://zeusk302-png.github.io/kdigital-physical-ai/#/sessions/2026-10-20/activity-A18</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변경한 파일과 목적을 적습니다.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아직 시험해 보지 못한 조건을 두 개 쓰세요. 동료가 다시 실행할 순서를 적어 보세요.</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출처: D:\KDigital_PhysicalAI\outputs\2026-10-20\lesson.md</a:t>
            </a:r>
          </a:p>
          <a:p xmlns:a="http://schemas.openxmlformats.org/drawingml/2006/main">
            <a:r>
              <a:t>실습 단계·예상 출력·복구: D:\KDigital_PhysicalAI\outputs\2026-10-20\practice-guide.md</a:t>
            </a:r>
          </a:p>
          <a:p xmlns:a="http://schemas.openxmlformats.org/drawingml/2006/main">
            <a:r>
              <a:t>수업 활동과 추가 문제: D:\KDigital_PhysicalAI\outputs\2026-10-20\beginner-start.md</a:t>
            </a:r>
          </a:p>
          <a:p xmlns:a="http://schemas.openxmlformats.org/drawingml/2006/main">
            <a:r>
              <a:t>실행 예제 원본: D:\KDigital_PhysicalAI\outputs\2026-10-20\examples\course</a:t>
            </a:r>
          </a:p>
          <a:p xmlns:a="http://schemas.openxmlformats.org/drawingml/2006/main">
            <a:r>
              <a:t/>
            </a:r>
          </a:p>
          <a:p xmlns:a="http://schemas.openxmlformats.org/drawingml/2006/main">
            <a:r>
              <a:t>화면 예의 출처: D:\KDigital_PhysicalAI\outputs\2026-10-20\assessment.md</a:t>
            </a:r>
          </a:p>
          <a:p xmlns:a="http://schemas.openxmlformats.org/drawingml/2006/main">
            <a:r>
              <a:t/>
            </a:r>
          </a:p>
          <a:p xmlns:a="http://schemas.openxmlformats.org/drawingml/2006/main">
            <a:r>
              <a:t>학생 교안: https://zeusk302-png.github.io/kdigital-physical-ai/#/sessions/2026-10-20/lesson</a:t>
            </a:r>
          </a:p>
          <a:p xmlns:a="http://schemas.openxmlformats.org/drawingml/2006/main">
            <a:r>
              <a:t>실습: https://zeusk302-png.github.io/kdigital-physical-ai/#/sessions/2026-10-20/activity-A18</a:t>
            </a:r>
          </a:p>
          <a:p xmlns:a="http://schemas.openxmlformats.org/drawingml/2006/main">
            <a:r>
              <a:t>공식 자료: https://docs.python.org/3/library/unittest.html</a:t>
            </a:r>
          </a:p>
          <a:p xmlns:a="http://schemas.openxmlformats.org/drawingml/2006/main">
            <a:r>
              <a:t/>
            </a:r>
          </a:p>
          <a:p xmlns:a="http://schemas.openxmlformats.org/drawingml/2006/main">
            <a:r>
              <a:t>코드와 개념 해설: 지금 화면에는 풀이를 표시하지 않습니다. 입력과 판단 조건부터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처음 시작 안내</a:t>
            </a:r>
          </a:p>
          <a:p xmlns:a="http://schemas.openxmlformats.org/drawingml/2006/main">
            <a:r>
              <a:t>https://zeusk302-png.github.io/kdigital-physical-ai/#/sessions/2026-10-20/start</a:t>
            </a:r>
          </a:p>
          <a:p xmlns:a="http://schemas.openxmlformats.org/drawingml/2006/main">
            <a:r>
              <a:t/>
            </a:r>
          </a:p>
          <a:p xmlns:a="http://schemas.openxmlformats.org/drawingml/2006/main">
            <a:r>
              <a:t>학생 교안</a:t>
            </a:r>
          </a:p>
          <a:p xmlns:a="http://schemas.openxmlformats.org/drawingml/2006/main">
            <a:r>
              <a:t>https://zeusk302-png.github.io/kdigital-physical-ai/#/sessions/2026-10-20/lesson</a:t>
            </a:r>
          </a:p>
          <a:p xmlns:a="http://schemas.openxmlformats.org/drawingml/2006/main">
            <a:r>
              <a:t/>
            </a:r>
          </a:p>
          <a:p xmlns:a="http://schemas.openxmlformats.org/drawingml/2006/main">
            <a:r>
              <a:t>실습 활동</a:t>
            </a:r>
          </a:p>
          <a:p xmlns:a="http://schemas.openxmlformats.org/drawingml/2006/main">
            <a:r>
              <a:t>https://zeusk302-png.github.io/kdigital-physical-ai/#/sessions/2026-10-20/workbook</a:t>
            </a:r>
          </a:p>
          <a:p xmlns:a="http://schemas.openxmlformats.org/drawingml/2006/main">
            <a:r>
              <a:t/>
            </a:r>
          </a:p>
          <a:p xmlns:a="http://schemas.openxmlformats.org/drawingml/2006/main">
            <a:r>
              <a:t>예제 코드와 데이터 ZIP</a:t>
            </a:r>
          </a:p>
          <a:p xmlns:a="http://schemas.openxmlformats.org/drawingml/2006/main">
            <a:r>
              <a:t>https://zeusk302-png.github.io/kdigital-physical-ai/downloads/2026-10-20/student-examples.zip</a:t>
            </a:r>
          </a:p>
          <a:p xmlns:a="http://schemas.openxmlformats.org/drawingml/2006/main">
            <a:r>
              <a:t/>
            </a:r>
          </a:p>
          <a:p xmlns:a="http://schemas.openxmlformats.org/drawingml/2006/main">
            <a:r>
              <a:t>날짜별 자료 다운로드</a:t>
            </a:r>
          </a:p>
          <a:p xmlns:a="http://schemas.openxmlformats.org/drawingml/2006/main">
            <a:r>
              <a:t>https://zeusk302-png.github.io/kdigital-physical-ai/#/sessions/2026-10-20/files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GitHub AI 에이전트 개념</a:t>
            </a:r>
          </a:p>
          <a:p xmlns:a="http://schemas.openxmlformats.org/drawingml/2006/main">
            <a:r>
              <a:t>https://docs.github.com/en/copilot/concepts/agents/cloud-agent/about-cloud-agent</a:t>
            </a:r>
          </a:p>
          <a:p xmlns:a="http://schemas.openxmlformats.org/drawingml/2006/main">
            <a:r>
              <a:t/>
            </a:r>
          </a:p>
          <a:p xmlns:a="http://schemas.openxmlformats.org/drawingml/2006/main">
            <a:r>
              <a:t>Python 입력 자료형 확인</a:t>
            </a:r>
          </a:p>
          <a:p xmlns:a="http://schemas.openxmlformats.org/drawingml/2006/main">
            <a:r>
              <a:t>https://docs.python.org/3/builtins/functions.html#type</a:t>
            </a:r>
          </a:p>
          <a:p xmlns:a="http://schemas.openxmlformats.org/drawingml/2006/main">
            <a:r>
              <a:t/>
            </a:r>
          </a:p>
          <a:p xmlns:a="http://schemas.openxmlformats.org/drawingml/2006/main">
            <a:r>
              <a:t>검사 사례와 기대 결과</a:t>
            </a:r>
          </a:p>
          <a:p xmlns:a="http://schemas.openxmlformats.org/drawingml/2006/main">
            <a:r>
              <a:t>https://docs.python.org/3/library/unittest.html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4801be5e0344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f661c775ab4b9c" /><Relationship Type="http://schemas.openxmlformats.org/officeDocument/2006/relationships/slideLayout" Target="/ppt/slideLayouts/slideLayout1.xml" Id="R0394c5d51d1048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94c5d51d1048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1.xml" Id="R84d05210dc29496c" /><ns0:Relationship Type="http://schemas.openxmlformats.org/officeDocument/2006/relationships/image" Target="/ppt/media/image.png" Id="R685b9318b2bc43b6" /><ns0:Relationship Type="http://schemas.openxmlformats.org/officeDocument/2006/relationships/notesSlide" Target="/ppt/notesSlides/notesSlide1.xml" Id="Ra3bb141f0a2849b3"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1" TargetMode="External" /><ns0:Relationship Id="rIdLink3" Type="http://schemas.openxmlformats.org/officeDocument/2006/relationships/hyperlink" Target="https://docs.python.org/3/library/unittest.html" TargetMode="External" /></ns0: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1.xml" Id="R4c812d0693fa4b1c" /><ns0:Relationship Type="http://schemas.openxmlformats.org/officeDocument/2006/relationships/notesSlide" Target="/ppt/notesSlides/notesSlide2.xml" Id="R29adf7f9b9ac4221"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1" TargetMode="External" /><ns0:Relationship Id="rIdLink3" Type="http://schemas.openxmlformats.org/officeDocument/2006/relationships/hyperlink" Target="https://docs.python.org/3/library/unittest.html" TargetMode="External"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1.xml" Id="R819939da4d1840c6" /><ns0:Relationship Type="http://schemas.openxmlformats.org/officeDocument/2006/relationships/notesSlide" Target="/ppt/notesSlides/notesSlide3.xml" Id="Rc63b2098c09b4dbd"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1" TargetMode="External" /><ns0:Relationship Id="rIdLink3" Type="http://schemas.openxmlformats.org/officeDocument/2006/relationships/hyperlink" Target="https://docs.python.org/3/library/unittest.html" TargetMode="External" /></ns0: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1.xml" Id="R2f5bdd65dfc84e9d" /><ns0:Relationship Type="http://schemas.openxmlformats.org/officeDocument/2006/relationships/notesSlide" Target="/ppt/notesSlides/notesSlide4.xml" Id="R02601ae947c64d63"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1" TargetMode="External" /><ns0:Relationship Id="rIdLink3" Type="http://schemas.openxmlformats.org/officeDocument/2006/relationships/hyperlink" Target="https://docs.python.org/3/library/unittest.html" TargetMode="External" /></ns0: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1.xml" Id="R6304ee241bf74e39" /><ns0:Relationship Type="http://schemas.openxmlformats.org/officeDocument/2006/relationships/notesSlide" Target="/ppt/notesSlides/notesSlide5.xml" Id="R9bb3f242092542dd"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1" TargetMode="External" /><ns0:Relationship Id="rIdLink3" Type="http://schemas.openxmlformats.org/officeDocument/2006/relationships/hyperlink" Target="https://docs.github.com/en/copilot/concepts/agents/cloud-agent/about-cloud-agent" TargetMode="External"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1.xml" Id="Rbc21a46caec74ca9" /><ns0:Relationship Type="http://schemas.openxmlformats.org/officeDocument/2006/relationships/notesSlide" Target="/ppt/notesSlides/notesSlide6.xml" Id="R85a5d54e95ac469b"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1" TargetMode="External" /><ns0:Relationship Id="rIdLink3" Type="http://schemas.openxmlformats.org/officeDocument/2006/relationships/hyperlink" Target="https://docs.github.com/en/copilot/concepts/agents/cloud-agent/about-cloud-agent" TargetMode="External"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821fb400a187401b" /><ns0:Relationship Type="http://schemas.openxmlformats.org/officeDocument/2006/relationships/notesSlide" Target="/ppt/notesSlides/notesSlide7.xml" Id="Rb296f22d5abf43b3"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1" TargetMode="External" /><ns0:Relationship Id="rIdLink3" Type="http://schemas.openxmlformats.org/officeDocument/2006/relationships/hyperlink" Target="https://docs.github.com/en/copilot/concepts/agents/cloud-agent/about-cloud-agent" TargetMode="External"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1.xml" Id="Rc46a2c259bf0447e" /><ns0:Relationship Type="http://schemas.openxmlformats.org/officeDocument/2006/relationships/notesSlide" Target="/ppt/notesSlides/notesSlide8.xml" Id="R956b73f2c5694f1e"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1" TargetMode="External" /><ns0:Relationship Id="rIdLink3" Type="http://schemas.openxmlformats.org/officeDocument/2006/relationships/hyperlink" Target="https://docs.github.com/en/copilot/concepts/agents/cloud-agent/about-cloud-agent" TargetMode="External"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1.xml" Id="Rb86543321f36468f" /><ns0:Relationship Type="http://schemas.openxmlformats.org/officeDocument/2006/relationships/notesSlide" Target="/ppt/notesSlides/notesSlide9.xml" Id="Rc1c3d6e45d1a4144"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1" TargetMode="External" /><ns0:Relationship Id="rIdLink3" Type="http://schemas.openxmlformats.org/officeDocument/2006/relationships/hyperlink" Target="https://docs.github.com/en/copilot/concepts/agents/cloud-agent/about-cloud-agent" TargetMode="External" /></ns0: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1.xml" Id="Ra1445961088e4705" /><ns0:Relationship Type="http://schemas.openxmlformats.org/officeDocument/2006/relationships/notesSlide" Target="/ppt/notesSlides/notesSlide10.xml" Id="Ra3e753315f6c4a8b"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1" TargetMode="External" /><ns0:Relationship Id="rIdLink3" Type="http://schemas.openxmlformats.org/officeDocument/2006/relationships/hyperlink" Target="https://docs.github.com/en/copilot/concepts/agents/cloud-agent/about-cloud-agent" TargetMode="External" /></ns0: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1.xml" Id="R3a56e409c5e84704" /><ns0:Relationship Type="http://schemas.openxmlformats.org/officeDocument/2006/relationships/notesSlide" Target="/ppt/notesSlides/notesSlide11.xml" Id="R93e0be5416814bb0"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2" TargetMode="External" /><ns0:Relationship Id="rIdLink3" Type="http://schemas.openxmlformats.org/officeDocument/2006/relationships/hyperlink" Target="https://docs.github.com/en/copilot/concepts/agents/cloud-agent/about-cloud-agent" TargetMode="External" /></ns0: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1.xml" Id="R94c2a2545ea841a7" /><ns0:Relationship Type="http://schemas.openxmlformats.org/officeDocument/2006/relationships/notesSlide" Target="/ppt/notesSlides/notesSlide12.xml" Id="R4960b6d0454140b7"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2" TargetMode="External" /><ns0:Relationship Id="rIdLink3" Type="http://schemas.openxmlformats.org/officeDocument/2006/relationships/hyperlink" Target="https://docs.github.com/en/copilot/concepts/agents/cloud-agent/about-cloud-agent" TargetMode="External" /></ns0:Relationships>
</file>

<file path=ppt/slides/_rels/slide13.xml.rels><?xml version='1.0' encoding='utf-8'?>
<ns0:Relationships xmlns:ns0="http://schemas.openxmlformats.org/package/2006/relationships"><ns0:Relationship Type="http://schemas.openxmlformats.org/officeDocument/2006/relationships/slideLayout" Target="/ppt/slideLayouts/slideLayout1.xml" Id="R9edda9d6bb5941a9" /><ns0:Relationship Type="http://schemas.openxmlformats.org/officeDocument/2006/relationships/notesSlide" Target="/ppt/notesSlides/notesSlide13.xml" Id="R6e57a0801c774be6"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2" TargetMode="External" /><ns0:Relationship Id="rIdLink3" Type="http://schemas.openxmlformats.org/officeDocument/2006/relationships/hyperlink" Target="https://docs.github.com/en/copilot/concepts/agents/cloud-agent/about-cloud-agent" TargetMode="External" /></ns0:Relationships>
</file>

<file path=ppt/slides/_rels/slide14.xml.rels><?xml version='1.0' encoding='utf-8'?>
<ns0:Relationships xmlns:ns0="http://schemas.openxmlformats.org/package/2006/relationships"><ns0:Relationship Type="http://schemas.openxmlformats.org/officeDocument/2006/relationships/slideLayout" Target="/ppt/slideLayouts/slideLayout1.xml" Id="Rc909e2d6e8414cd5" /><ns0:Relationship Type="http://schemas.openxmlformats.org/officeDocument/2006/relationships/notesSlide" Target="/ppt/notesSlides/notesSlide14.xml" Id="Rb7434f25ae294b21"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2" TargetMode="External" /><ns0:Relationship Id="rIdLink3" Type="http://schemas.openxmlformats.org/officeDocument/2006/relationships/hyperlink" Target="https://docs.github.com/en/copilot/concepts/agents/cloud-agent/about-cloud-agent" TargetMode="External" /></ns0:Relationships>
</file>

<file path=ppt/slides/_rels/slide15.xml.rels><?xml version='1.0' encoding='utf-8'?>
<ns0:Relationships xmlns:ns0="http://schemas.openxmlformats.org/package/2006/relationships"><ns0:Relationship Type="http://schemas.openxmlformats.org/officeDocument/2006/relationships/slideLayout" Target="/ppt/slideLayouts/slideLayout1.xml" Id="R14b148ea3ae543eb" /><ns0:Relationship Type="http://schemas.openxmlformats.org/officeDocument/2006/relationships/notesSlide" Target="/ppt/notesSlides/notesSlide15.xml" Id="R679e6463b886455e"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3" TargetMode="External" /><ns0:Relationship Id="rIdLink3" Type="http://schemas.openxmlformats.org/officeDocument/2006/relationships/hyperlink" Target="https://docs.github.com/en/copilot/concepts/agents/cloud-agent/about-cloud-agent" TargetMode="External" /></ns0:Relationships>
</file>

<file path=ppt/slides/_rels/slide16.xml.rels><?xml version='1.0' encoding='utf-8'?>
<ns0:Relationships xmlns:ns0="http://schemas.openxmlformats.org/package/2006/relationships"><ns0:Relationship Type="http://schemas.openxmlformats.org/officeDocument/2006/relationships/slideLayout" Target="/ppt/slideLayouts/slideLayout1.xml" Id="R2d9a1a01ae36411b" /><ns0:Relationship Type="http://schemas.openxmlformats.org/officeDocument/2006/relationships/notesSlide" Target="/ppt/notesSlides/notesSlide16.xml" Id="Rac4e485018854467"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3" TargetMode="External" /><ns0:Relationship Id="rIdLink3" Type="http://schemas.openxmlformats.org/officeDocument/2006/relationships/hyperlink" Target="https://docs.github.com/en/copilot/concepts/agents/cloud-agent/about-cloud-agent" TargetMode="External" /></ns0:Relationships>
</file>

<file path=ppt/slides/_rels/slide17.xml.rels><?xml version='1.0' encoding='utf-8'?>
<ns0:Relationships xmlns:ns0="http://schemas.openxmlformats.org/package/2006/relationships"><ns0:Relationship Type="http://schemas.openxmlformats.org/officeDocument/2006/relationships/slideLayout" Target="/ppt/slideLayouts/slideLayout1.xml" Id="Rd07a3ea85a3944dc" /><ns0:Relationship Type="http://schemas.openxmlformats.org/officeDocument/2006/relationships/notesSlide" Target="/ppt/notesSlides/notesSlide17.xml" Id="Re8463517a8d44bce"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3" TargetMode="External" /><ns0:Relationship Id="rIdLink3" Type="http://schemas.openxmlformats.org/officeDocument/2006/relationships/hyperlink" Target="https://docs.github.com/en/copilot/concepts/agents/cloud-agent/about-cloud-agent" TargetMode="External" /></ns0:Relationships>
</file>

<file path=ppt/slides/_rels/slide18.xml.rels><?xml version='1.0' encoding='utf-8'?>
<ns0:Relationships xmlns:ns0="http://schemas.openxmlformats.org/package/2006/relationships"><ns0:Relationship Type="http://schemas.openxmlformats.org/officeDocument/2006/relationships/slideLayout" Target="/ppt/slideLayouts/slideLayout1.xml" Id="R1374f4c12f904626" /><ns0:Relationship Type="http://schemas.openxmlformats.org/officeDocument/2006/relationships/notesSlide" Target="/ppt/notesSlides/notesSlide18.xml" Id="R727baf63afcc496a"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3" TargetMode="External" /><ns0:Relationship Id="rIdLink3" Type="http://schemas.openxmlformats.org/officeDocument/2006/relationships/hyperlink" Target="https://docs.github.com/en/copilot/concepts/agents/cloud-agent/about-cloud-agent" TargetMode="External" /></ns0:Relationships>
</file>

<file path=ppt/slides/_rels/slide19.xml.rels><?xml version='1.0' encoding='utf-8'?>
<ns0:Relationships xmlns:ns0="http://schemas.openxmlformats.org/package/2006/relationships"><ns0:Relationship Type="http://schemas.openxmlformats.org/officeDocument/2006/relationships/slideLayout" Target="/ppt/slideLayouts/slideLayout1.xml" Id="Rbed771d8bd01479a" /><ns0:Relationship Type="http://schemas.openxmlformats.org/officeDocument/2006/relationships/notesSlide" Target="/ppt/notesSlides/notesSlide19.xml" Id="R35f89a075bd54990"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4" TargetMode="External" /><ns0:Relationship Id="rIdLink3" Type="http://schemas.openxmlformats.org/officeDocument/2006/relationships/hyperlink" Target="https://docs.python.org/3/builtins/functions.html#type" TargetMode="External" /></ns0:Relationships>
</file>

<file path=ppt/slides/_rels/slide20.xml.rels><?xml version='1.0' encoding='utf-8'?>
<ns0:Relationships xmlns:ns0="http://schemas.openxmlformats.org/package/2006/relationships"><ns0:Relationship Type="http://schemas.openxmlformats.org/officeDocument/2006/relationships/slideLayout" Target="/ppt/slideLayouts/slideLayout1.xml" Id="Ra3dd46f1bda142c3" /><ns0:Relationship Type="http://schemas.openxmlformats.org/officeDocument/2006/relationships/notesSlide" Target="/ppt/notesSlides/notesSlide20.xml" Id="R2f1542d677484f7e"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4" TargetMode="External" /><ns0:Relationship Id="rIdLink3" Type="http://schemas.openxmlformats.org/officeDocument/2006/relationships/hyperlink" Target="https://docs.python.org/3/builtins/functions.html#type" TargetMode="External" /></ns0:Relationships>
</file>

<file path=ppt/slides/_rels/slide21.xml.rels><?xml version='1.0' encoding='utf-8'?>
<ns0:Relationships xmlns:ns0="http://schemas.openxmlformats.org/package/2006/relationships"><ns0:Relationship Type="http://schemas.openxmlformats.org/officeDocument/2006/relationships/slideLayout" Target="/ppt/slideLayouts/slideLayout1.xml" Id="R539faf2ace5d40c7" /><ns0:Relationship Type="http://schemas.openxmlformats.org/officeDocument/2006/relationships/notesSlide" Target="/ppt/notesSlides/notesSlide21.xml" Id="R0d7a1f9a62654404"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4" TargetMode="External" /><ns0:Relationship Id="rIdLink3" Type="http://schemas.openxmlformats.org/officeDocument/2006/relationships/hyperlink" Target="https://docs.python.org/3/builtins/functions.html#type" TargetMode="External" /></ns0:Relationships>
</file>

<file path=ppt/slides/_rels/slide22.xml.rels><?xml version='1.0' encoding='utf-8'?>
<ns0:Relationships xmlns:ns0="http://schemas.openxmlformats.org/package/2006/relationships"><ns0:Relationship Type="http://schemas.openxmlformats.org/officeDocument/2006/relationships/slideLayout" Target="/ppt/slideLayouts/slideLayout1.xml" Id="R51a51cf86b2547ae" /><ns0:Relationship Type="http://schemas.openxmlformats.org/officeDocument/2006/relationships/notesSlide" Target="/ppt/notesSlides/notesSlide22.xml" Id="R64f95a2f69c24bd0"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4" TargetMode="External" /><ns0:Relationship Id="rIdLink3" Type="http://schemas.openxmlformats.org/officeDocument/2006/relationships/hyperlink" Target="https://docs.python.org/3/builtins/functions.html#type" TargetMode="External" /></ns0:Relationships>
</file>

<file path=ppt/slides/_rels/slide23.xml.rels><?xml version='1.0' encoding='utf-8'?>
<ns0:Relationships xmlns:ns0="http://schemas.openxmlformats.org/package/2006/relationships"><ns0:Relationship Type="http://schemas.openxmlformats.org/officeDocument/2006/relationships/slideLayout" Target="/ppt/slideLayouts/slideLayout1.xml" Id="R49ebbd951b0443ce" /><ns0:Relationship Type="http://schemas.openxmlformats.org/officeDocument/2006/relationships/notesSlide" Target="/ppt/notesSlides/notesSlide23.xml" Id="Rc67d68ce682a461f"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4" TargetMode="External" /><ns0:Relationship Id="rIdLink3" Type="http://schemas.openxmlformats.org/officeDocument/2006/relationships/hyperlink" Target="https://docs.python.org/3/builtins/functions.html#type" TargetMode="External" /></ns0:Relationships>
</file>

<file path=ppt/slides/_rels/slide24.xml.rels><?xml version='1.0' encoding='utf-8'?>
<ns0:Relationships xmlns:ns0="http://schemas.openxmlformats.org/package/2006/relationships"><ns0:Relationship Type="http://schemas.openxmlformats.org/officeDocument/2006/relationships/slideLayout" Target="/ppt/slideLayouts/slideLayout1.xml" Id="Ree0dcf1cfef64bf3" /><ns0:Relationship Type="http://schemas.openxmlformats.org/officeDocument/2006/relationships/notesSlide" Target="/ppt/notesSlides/notesSlide24.xml" Id="R80aedb2eb7294ba9"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4" TargetMode="External" /><ns0:Relationship Id="rIdLink3" Type="http://schemas.openxmlformats.org/officeDocument/2006/relationships/hyperlink" Target="https://docs.python.org/3/builtins/functions.html#type" TargetMode="External" /></ns0:Relationships>
</file>

<file path=ppt/slides/_rels/slide25.xml.rels><?xml version='1.0' encoding='utf-8'?>
<ns0:Relationships xmlns:ns0="http://schemas.openxmlformats.org/package/2006/relationships"><ns0:Relationship Type="http://schemas.openxmlformats.org/officeDocument/2006/relationships/slideLayout" Target="/ppt/slideLayouts/slideLayout1.xml" Id="R94af976555c24825" /><ns0:Relationship Type="http://schemas.openxmlformats.org/officeDocument/2006/relationships/notesSlide" Target="/ppt/notesSlides/notesSlide25.xml" Id="R96ad1023f22f4a8e"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5" TargetMode="External" /><ns0:Relationship Id="rIdLink3" Type="http://schemas.openxmlformats.org/officeDocument/2006/relationships/hyperlink" Target="https://docs.python.org/3/builtins/functions.html#type" TargetMode="External" /></ns0:Relationships>
</file>

<file path=ppt/slides/_rels/slide26.xml.rels><?xml version='1.0' encoding='utf-8'?>
<ns0:Relationships xmlns:ns0="http://schemas.openxmlformats.org/package/2006/relationships"><ns0:Relationship Type="http://schemas.openxmlformats.org/officeDocument/2006/relationships/slideLayout" Target="/ppt/slideLayouts/slideLayout1.xml" Id="R9319833f027f4446" /><ns0:Relationship Type="http://schemas.openxmlformats.org/officeDocument/2006/relationships/notesSlide" Target="/ppt/notesSlides/notesSlide26.xml" Id="Re9d78b4f3c7b4721"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5" TargetMode="External" /><ns0:Relationship Id="rIdLink3" Type="http://schemas.openxmlformats.org/officeDocument/2006/relationships/hyperlink" Target="https://docs.python.org/3/builtins/functions.html#type" TargetMode="External" /></ns0:Relationships>
</file>

<file path=ppt/slides/_rels/slide27.xml.rels><?xml version='1.0' encoding='utf-8'?>
<ns0:Relationships xmlns:ns0="http://schemas.openxmlformats.org/package/2006/relationships"><ns0:Relationship Type="http://schemas.openxmlformats.org/officeDocument/2006/relationships/slideLayout" Target="/ppt/slideLayouts/slideLayout1.xml" Id="Rb4ee5bdff8c64ac0" /><ns0:Relationship Type="http://schemas.openxmlformats.org/officeDocument/2006/relationships/notesSlide" Target="/ppt/notesSlides/notesSlide27.xml" Id="Rff56c07bfd814368"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5" TargetMode="External" /><ns0:Relationship Id="rIdLink3" Type="http://schemas.openxmlformats.org/officeDocument/2006/relationships/hyperlink" Target="https://docs.python.org/3/builtins/functions.html#type" TargetMode="External" /></ns0:Relationships>
</file>

<file path=ppt/slides/_rels/slide28.xml.rels><?xml version='1.0' encoding='utf-8'?>
<ns0:Relationships xmlns:ns0="http://schemas.openxmlformats.org/package/2006/relationships"><ns0:Relationship Type="http://schemas.openxmlformats.org/officeDocument/2006/relationships/slideLayout" Target="/ppt/slideLayouts/slideLayout1.xml" Id="R0fc5cda5887146d1" /><ns0:Relationship Type="http://schemas.openxmlformats.org/officeDocument/2006/relationships/notesSlide" Target="/ppt/notesSlides/notesSlide28.xml" Id="Rc7141e756dc147a3"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5" TargetMode="External" /><ns0:Relationship Id="rIdLink3" Type="http://schemas.openxmlformats.org/officeDocument/2006/relationships/hyperlink" Target="https://docs.python.org/3/builtins/functions.html#type" TargetMode="External" /></ns0:Relationships>
</file>

<file path=ppt/slides/_rels/slide29.xml.rels><?xml version='1.0' encoding='utf-8'?>
<ns0:Relationships xmlns:ns0="http://schemas.openxmlformats.org/package/2006/relationships"><ns0:Relationship Type="http://schemas.openxmlformats.org/officeDocument/2006/relationships/slideLayout" Target="/ppt/slideLayouts/slideLayout1.xml" Id="R4858de58fd1d4393" /><ns0:Relationship Type="http://schemas.openxmlformats.org/officeDocument/2006/relationships/notesSlide" Target="/ppt/notesSlides/notesSlide29.xml" Id="R7a7276863a354d39"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6" TargetMode="External" /><ns0:Relationship Id="rIdLink3" Type="http://schemas.openxmlformats.org/officeDocument/2006/relationships/hyperlink" Target="https://docs.python.org/3/builtins/functions.html#type" TargetMode="External" /></ns0:Relationships>
</file>

<file path=ppt/slides/_rels/slide30.xml.rels><?xml version='1.0' encoding='utf-8'?>
<ns0:Relationships xmlns:ns0="http://schemas.openxmlformats.org/package/2006/relationships"><ns0:Relationship Type="http://schemas.openxmlformats.org/officeDocument/2006/relationships/slideLayout" Target="/ppt/slideLayouts/slideLayout1.xml" Id="R7ed46ce0d97d48fb" /><ns0:Relationship Type="http://schemas.openxmlformats.org/officeDocument/2006/relationships/notesSlide" Target="/ppt/notesSlides/notesSlide30.xml" Id="R8adbca7e61f14f44"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6" TargetMode="External" /><ns0:Relationship Id="rIdLink3" Type="http://schemas.openxmlformats.org/officeDocument/2006/relationships/hyperlink" Target="https://docs.python.org/3/builtins/functions.html#type" TargetMode="External" /></ns0:Relationships>
</file>

<file path=ppt/slides/_rels/slide31.xml.rels><?xml version='1.0' encoding='utf-8'?>
<ns0:Relationships xmlns:ns0="http://schemas.openxmlformats.org/package/2006/relationships"><ns0:Relationship Type="http://schemas.openxmlformats.org/officeDocument/2006/relationships/slideLayout" Target="/ppt/slideLayouts/slideLayout1.xml" Id="R6b59f6be8f394693" /><ns0:Relationship Type="http://schemas.openxmlformats.org/officeDocument/2006/relationships/notesSlide" Target="/ppt/notesSlides/notesSlide31.xml" Id="R6082e8c3eca743ce"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6" TargetMode="External" /><ns0:Relationship Id="rIdLink3" Type="http://schemas.openxmlformats.org/officeDocument/2006/relationships/hyperlink" Target="https://docs.python.org/3/builtins/functions.html#type" TargetMode="External" /></ns0:Relationships>
</file>

<file path=ppt/slides/_rels/slide32.xml.rels><?xml version='1.0' encoding='utf-8'?>
<ns0:Relationships xmlns:ns0="http://schemas.openxmlformats.org/package/2006/relationships"><ns0:Relationship Type="http://schemas.openxmlformats.org/officeDocument/2006/relationships/slideLayout" Target="/ppt/slideLayouts/slideLayout1.xml" Id="R4051a9bd62df4629" /><ns0:Relationship Type="http://schemas.openxmlformats.org/officeDocument/2006/relationships/notesSlide" Target="/ppt/notesSlides/notesSlide32.xml" Id="Rdaa4b4962a5847b3"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6" TargetMode="External" /><ns0:Relationship Id="rIdLink3" Type="http://schemas.openxmlformats.org/officeDocument/2006/relationships/hyperlink" Target="https://docs.python.org/3/builtins/functions.html#type" TargetMode="External" /></ns0:Relationships>
</file>

<file path=ppt/slides/_rels/slide33.xml.rels><?xml version='1.0' encoding='utf-8'?>
<ns0:Relationships xmlns:ns0="http://schemas.openxmlformats.org/package/2006/relationships"><ns0:Relationship Type="http://schemas.openxmlformats.org/officeDocument/2006/relationships/slideLayout" Target="/ppt/slideLayouts/slideLayout1.xml" Id="R9bb2895a3ecc499b" /><ns0:Relationship Type="http://schemas.openxmlformats.org/officeDocument/2006/relationships/notesSlide" Target="/ppt/notesSlides/notesSlide33.xml" Id="R8a1af7ed9fec4aee"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7" TargetMode="External" /><ns0:Relationship Id="rIdLink3" Type="http://schemas.openxmlformats.org/officeDocument/2006/relationships/hyperlink" Target="https://docs.python.org/3/library/unittest.html" TargetMode="External" /></ns0:Relationships>
</file>

<file path=ppt/slides/_rels/slide34.xml.rels><?xml version='1.0' encoding='utf-8'?>
<ns0:Relationships xmlns:ns0="http://schemas.openxmlformats.org/package/2006/relationships"><ns0:Relationship Type="http://schemas.openxmlformats.org/officeDocument/2006/relationships/slideLayout" Target="/ppt/slideLayouts/slideLayout1.xml" Id="R1194605913d94163" /><ns0:Relationship Type="http://schemas.openxmlformats.org/officeDocument/2006/relationships/notesSlide" Target="/ppt/notesSlides/notesSlide34.xml" Id="Refbd86abcc6d46e7"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7" TargetMode="External" /><ns0:Relationship Id="rIdLink3" Type="http://schemas.openxmlformats.org/officeDocument/2006/relationships/hyperlink" Target="https://docs.python.org/3/library/unittest.html" TargetMode="External" /></ns0:Relationships>
</file>

<file path=ppt/slides/_rels/slide35.xml.rels><?xml version='1.0' encoding='utf-8'?>
<ns0:Relationships xmlns:ns0="http://schemas.openxmlformats.org/package/2006/relationships"><ns0:Relationship Type="http://schemas.openxmlformats.org/officeDocument/2006/relationships/slideLayout" Target="/ppt/slideLayouts/slideLayout1.xml" Id="R35cc3c0765ff45bc" /><ns0:Relationship Type="http://schemas.openxmlformats.org/officeDocument/2006/relationships/notesSlide" Target="/ppt/notesSlides/notesSlide35.xml" Id="Rd44475e25806467f"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7" TargetMode="External" /><ns0:Relationship Id="rIdLink3" Type="http://schemas.openxmlformats.org/officeDocument/2006/relationships/hyperlink" Target="https://docs.python.org/3/library/unittest.html" TargetMode="External" /></ns0:Relationships>
</file>

<file path=ppt/slides/_rels/slide36.xml.rels><?xml version='1.0' encoding='utf-8'?>
<ns0:Relationships xmlns:ns0="http://schemas.openxmlformats.org/package/2006/relationships"><ns0:Relationship Type="http://schemas.openxmlformats.org/officeDocument/2006/relationships/slideLayout" Target="/ppt/slideLayouts/slideLayout1.xml" Id="R3cbc94968d7c4030" /><ns0:Relationship Type="http://schemas.openxmlformats.org/officeDocument/2006/relationships/notesSlide" Target="/ppt/notesSlides/notesSlide36.xml" Id="R33fd55ed621541c2"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7" TargetMode="External" /><ns0:Relationship Id="rIdLink3" Type="http://schemas.openxmlformats.org/officeDocument/2006/relationships/hyperlink" Target="https://docs.python.org/3/library/unittest.html" TargetMode="External" /></ns0:Relationships>
</file>

<file path=ppt/slides/_rels/slide37.xml.rels><?xml version='1.0' encoding='utf-8'?>
<ns0:Relationships xmlns:ns0="http://schemas.openxmlformats.org/package/2006/relationships"><ns0:Relationship Type="http://schemas.openxmlformats.org/officeDocument/2006/relationships/slideLayout" Target="/ppt/slideLayouts/slideLayout1.xml" Id="R6e585235d8ed4758" /><ns0:Relationship Type="http://schemas.openxmlformats.org/officeDocument/2006/relationships/notesSlide" Target="/ppt/notesSlides/notesSlide37.xml" Id="R1e451245db9347b7"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7" TargetMode="External" /><ns0:Relationship Id="rIdLink3" Type="http://schemas.openxmlformats.org/officeDocument/2006/relationships/hyperlink" Target="https://docs.python.org/3/library/unittest.html" TargetMode="External" /></ns0:Relationships>
</file>

<file path=ppt/slides/_rels/slide38.xml.rels><?xml version='1.0' encoding='utf-8'?>
<ns0:Relationships xmlns:ns0="http://schemas.openxmlformats.org/package/2006/relationships"><ns0:Relationship Type="http://schemas.openxmlformats.org/officeDocument/2006/relationships/slideLayout" Target="/ppt/slideLayouts/slideLayout1.xml" Id="R6e80cdb83a8b417c" /><ns0:Relationship Type="http://schemas.openxmlformats.org/officeDocument/2006/relationships/notesSlide" Target="/ppt/notesSlides/notesSlide38.xml" Id="Rbbf7eceec61742ee"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7" TargetMode="External" /><ns0:Relationship Id="rIdLink3" Type="http://schemas.openxmlformats.org/officeDocument/2006/relationships/hyperlink" Target="https://docs.python.org/3/library/unittest.html" TargetMode="External" /></ns0:Relationships>
</file>

<file path=ppt/slides/_rels/slide39.xml.rels><?xml version='1.0' encoding='utf-8'?>
<ns0:Relationships xmlns:ns0="http://schemas.openxmlformats.org/package/2006/relationships"><ns0:Relationship Type="http://schemas.openxmlformats.org/officeDocument/2006/relationships/slideLayout" Target="/ppt/slideLayouts/slideLayout1.xml" Id="R5cfc347831c342cd" /><ns0:Relationship Type="http://schemas.openxmlformats.org/officeDocument/2006/relationships/notesSlide" Target="/ppt/notesSlides/notesSlide39.xml" Id="Ref43b36e5539402f"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8" TargetMode="External" /><ns0:Relationship Id="rIdLink3" Type="http://schemas.openxmlformats.org/officeDocument/2006/relationships/hyperlink" Target="https://docs.python.org/3/library/unittest.html" TargetMode="External" /></ns0:Relationships>
</file>

<file path=ppt/slides/_rels/slide40.xml.rels><?xml version='1.0' encoding='utf-8'?>
<ns0:Relationships xmlns:ns0="http://schemas.openxmlformats.org/package/2006/relationships"><ns0:Relationship Type="http://schemas.openxmlformats.org/officeDocument/2006/relationships/slideLayout" Target="/ppt/slideLayouts/slideLayout1.xml" Id="R555d0a22ac864449" /><ns0:Relationship Type="http://schemas.openxmlformats.org/officeDocument/2006/relationships/notesSlide" Target="/ppt/notesSlides/notesSlide40.xml" Id="R57e0331854c847aa"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8" TargetMode="External" /><ns0:Relationship Id="rIdLink3" Type="http://schemas.openxmlformats.org/officeDocument/2006/relationships/hyperlink" Target="https://docs.python.org/3/library/unittest.html" TargetMode="External" /></ns0:Relationships>
</file>

<file path=ppt/slides/_rels/slide41.xml.rels><?xml version='1.0' encoding='utf-8'?>
<ns0:Relationships xmlns:ns0="http://schemas.openxmlformats.org/package/2006/relationships"><ns0:Relationship Type="http://schemas.openxmlformats.org/officeDocument/2006/relationships/slideLayout" Target="/ppt/slideLayouts/slideLayout1.xml" Id="Rff2d6be076814dde" /><ns0:Relationship Type="http://schemas.openxmlformats.org/officeDocument/2006/relationships/notesSlide" Target="/ppt/notesSlides/notesSlide41.xml" Id="Re5dc874aad1d4bb0"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8" TargetMode="External" /><ns0:Relationship Id="rIdLink3" Type="http://schemas.openxmlformats.org/officeDocument/2006/relationships/hyperlink" Target="https://docs.python.org/3/library/unittest.html" TargetMode="External" /></ns0:Relationships>
</file>

<file path=ppt/slides/_rels/slide42.xml.rels><?xml version='1.0' encoding='utf-8'?>
<ns0:Relationships xmlns:ns0="http://schemas.openxmlformats.org/package/2006/relationships"><ns0:Relationship Type="http://schemas.openxmlformats.org/officeDocument/2006/relationships/slideLayout" Target="/ppt/slideLayouts/slideLayout1.xml" Id="R75ade5f06e8b47bb" /><ns0:Relationship Type="http://schemas.openxmlformats.org/officeDocument/2006/relationships/notesSlide" Target="/ppt/notesSlides/notesSlide42.xml" Id="R44e881919e824bbd"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8" TargetMode="External" /><ns0:Relationship Id="rIdLink3" Type="http://schemas.openxmlformats.org/officeDocument/2006/relationships/hyperlink" Target="https://docs.python.org/3/library/unittest.html" TargetMode="External" /></ns0:Relationships>
</file>

<file path=ppt/slides/_rels/slide43.xml.rels><?xml version='1.0' encoding='utf-8'?>
<ns0:Relationships xmlns:ns0="http://schemas.openxmlformats.org/package/2006/relationships"><ns0:Relationship Type="http://schemas.openxmlformats.org/officeDocument/2006/relationships/slideLayout" Target="/ppt/slideLayouts/slideLayout1.xml" Id="Rbba754fc32e740b0" /><ns0:Relationship Type="http://schemas.openxmlformats.org/officeDocument/2006/relationships/notesSlide" Target="/ppt/notesSlides/notesSlide43.xml" Id="R9d4eca7a7ee04f74"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9" TargetMode="External" /><ns0:Relationship Id="rIdLink3" Type="http://schemas.openxmlformats.org/officeDocument/2006/relationships/hyperlink" Target="https://docs.python.org/3/library/unittest.html" TargetMode="External" /></ns0:Relationships>
</file>

<file path=ppt/slides/_rels/slide44.xml.rels><?xml version='1.0' encoding='utf-8'?>
<ns0:Relationships xmlns:ns0="http://schemas.openxmlformats.org/package/2006/relationships"><ns0:Relationship Type="http://schemas.openxmlformats.org/officeDocument/2006/relationships/slideLayout" Target="/ppt/slideLayouts/slideLayout1.xml" Id="R3b3dcaaccfb74772" /><ns0:Relationship Type="http://schemas.openxmlformats.org/officeDocument/2006/relationships/notesSlide" Target="/ppt/notesSlides/notesSlide44.xml" Id="R89ba3836d76c4bb1"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9" TargetMode="External" /><ns0:Relationship Id="rIdLink3" Type="http://schemas.openxmlformats.org/officeDocument/2006/relationships/hyperlink" Target="https://docs.python.org/3/library/unittest.html" TargetMode="External" /></ns0:Relationships>
</file>

<file path=ppt/slides/_rels/slide45.xml.rels><?xml version='1.0' encoding='utf-8'?>
<ns0:Relationships xmlns:ns0="http://schemas.openxmlformats.org/package/2006/relationships"><ns0:Relationship Type="http://schemas.openxmlformats.org/officeDocument/2006/relationships/slideLayout" Target="/ppt/slideLayouts/slideLayout1.xml" Id="Rd3851d8310b14416" /><ns0:Relationship Type="http://schemas.openxmlformats.org/officeDocument/2006/relationships/notesSlide" Target="/ppt/notesSlides/notesSlide45.xml" Id="Rb16def08267b466f"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9" TargetMode="External" /><ns0:Relationship Id="rIdLink3" Type="http://schemas.openxmlformats.org/officeDocument/2006/relationships/hyperlink" Target="https://docs.python.org/3/library/unittest.html" TargetMode="External" /></ns0:Relationships>
</file>

<file path=ppt/slides/_rels/slide46.xml.rels><?xml version='1.0' encoding='utf-8'?>
<ns0:Relationships xmlns:ns0="http://schemas.openxmlformats.org/package/2006/relationships"><ns0:Relationship Type="http://schemas.openxmlformats.org/officeDocument/2006/relationships/slideLayout" Target="/ppt/slideLayouts/slideLayout1.xml" Id="Rf73cb16258f94e31" /><ns0:Relationship Type="http://schemas.openxmlformats.org/officeDocument/2006/relationships/notesSlide" Target="/ppt/notesSlides/notesSlide46.xml" Id="R6e3324cdfe164f73"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09" TargetMode="External" /><ns0:Relationship Id="rIdLink3" Type="http://schemas.openxmlformats.org/officeDocument/2006/relationships/hyperlink" Target="https://docs.python.org/3/library/unittest.html" TargetMode="External" /></ns0:Relationships>
</file>

<file path=ppt/slides/_rels/slide47.xml.rels><?xml version='1.0' encoding='utf-8'?>
<ns0:Relationships xmlns:ns0="http://schemas.openxmlformats.org/package/2006/relationships"><ns0:Relationship Type="http://schemas.openxmlformats.org/officeDocument/2006/relationships/slideLayout" Target="/ppt/slideLayouts/slideLayout1.xml" Id="Rd7022ccdc9044f24" /><ns0:Relationship Type="http://schemas.openxmlformats.org/officeDocument/2006/relationships/notesSlide" Target="/ppt/notesSlides/notesSlide47.xml" Id="R5d514c18fb804d84"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0" TargetMode="External" /><ns0:Relationship Id="rIdLink3" Type="http://schemas.openxmlformats.org/officeDocument/2006/relationships/hyperlink" Target="https://docs.github.com/en/copilot/concepts/agents/cloud-agent/about-cloud-agent" TargetMode="External" /></ns0:Relationships>
</file>

<file path=ppt/slides/_rels/slide48.xml.rels><?xml version='1.0' encoding='utf-8'?>
<ns0:Relationships xmlns:ns0="http://schemas.openxmlformats.org/package/2006/relationships"><ns0:Relationship Type="http://schemas.openxmlformats.org/officeDocument/2006/relationships/slideLayout" Target="/ppt/slideLayouts/slideLayout1.xml" Id="Rcd44b8ac544d4ebf" /><ns0:Relationship Type="http://schemas.openxmlformats.org/officeDocument/2006/relationships/notesSlide" Target="/ppt/notesSlides/notesSlide48.xml" Id="R25eb9984ebbf4952"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0" TargetMode="External" /><ns0:Relationship Id="rIdLink3" Type="http://schemas.openxmlformats.org/officeDocument/2006/relationships/hyperlink" Target="https://docs.github.com/en/copilot/concepts/agents/cloud-agent/about-cloud-agent" TargetMode="External" /></ns0:Relationships>
</file>

<file path=ppt/slides/_rels/slide49.xml.rels><?xml version='1.0' encoding='utf-8'?>
<ns0:Relationships xmlns:ns0="http://schemas.openxmlformats.org/package/2006/relationships"><ns0:Relationship Type="http://schemas.openxmlformats.org/officeDocument/2006/relationships/slideLayout" Target="/ppt/slideLayouts/slideLayout1.xml" Id="Reae4c3cbeea74b88" /><ns0:Relationship Type="http://schemas.openxmlformats.org/officeDocument/2006/relationships/notesSlide" Target="/ppt/notesSlides/notesSlide49.xml" Id="R248aa146e7e34024"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0" TargetMode="External" /><ns0:Relationship Id="rIdLink3" Type="http://schemas.openxmlformats.org/officeDocument/2006/relationships/hyperlink" Target="https://docs.github.com/en/copilot/concepts/agents/cloud-agent/about-cloud-agent" TargetMode="External" /></ns0:Relationships>
</file>

<file path=ppt/slides/_rels/slide50.xml.rels><?xml version='1.0' encoding='utf-8'?>
<ns0:Relationships xmlns:ns0="http://schemas.openxmlformats.org/package/2006/relationships"><ns0:Relationship Type="http://schemas.openxmlformats.org/officeDocument/2006/relationships/slideLayout" Target="/ppt/slideLayouts/slideLayout1.xml" Id="Re84c771d7909495a" /><ns0:Relationship Type="http://schemas.openxmlformats.org/officeDocument/2006/relationships/notesSlide" Target="/ppt/notesSlides/notesSlide50.xml" Id="R9d0e9ab3f594473e"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0" TargetMode="External" /><ns0:Relationship Id="rIdLink3" Type="http://schemas.openxmlformats.org/officeDocument/2006/relationships/hyperlink" Target="https://docs.github.com/en/copilot/concepts/agents/cloud-agent/about-cloud-agent" TargetMode="External" /></ns0:Relationships>
</file>

<file path=ppt/slides/_rels/slide51.xml.rels><?xml version='1.0' encoding='utf-8'?>
<ns0:Relationships xmlns:ns0="http://schemas.openxmlformats.org/package/2006/relationships"><ns0:Relationship Type="http://schemas.openxmlformats.org/officeDocument/2006/relationships/slideLayout" Target="/ppt/slideLayouts/slideLayout1.xml" Id="R81b1039a37614a23" /><ns0:Relationship Type="http://schemas.openxmlformats.org/officeDocument/2006/relationships/notesSlide" Target="/ppt/notesSlides/notesSlide51.xml" Id="Ra90685b4075e40a9"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0" TargetMode="External" /><ns0:Relationship Id="rIdLink3" Type="http://schemas.openxmlformats.org/officeDocument/2006/relationships/hyperlink" Target="https://docs.github.com/en/copilot/concepts/agents/cloud-agent/about-cloud-agent" TargetMode="External" /></ns0:Relationships>
</file>

<file path=ppt/slides/_rels/slide52.xml.rels><?xml version='1.0' encoding='utf-8'?>
<ns0:Relationships xmlns:ns0="http://schemas.openxmlformats.org/package/2006/relationships"><ns0:Relationship Type="http://schemas.openxmlformats.org/officeDocument/2006/relationships/slideLayout" Target="/ppt/slideLayouts/slideLayout1.xml" Id="Radd17d011818430e" /><ns0:Relationship Type="http://schemas.openxmlformats.org/officeDocument/2006/relationships/notesSlide" Target="/ppt/notesSlides/notesSlide52.xml" Id="R99e5720dc46a4ece"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0" TargetMode="External" /><ns0:Relationship Id="rIdLink3" Type="http://schemas.openxmlformats.org/officeDocument/2006/relationships/hyperlink" Target="https://docs.github.com/en/copilot/concepts/agents/cloud-agent/about-cloud-agent" TargetMode="External" /></ns0:Relationships>
</file>

<file path=ppt/slides/_rels/slide53.xml.rels><?xml version='1.0' encoding='utf-8'?>
<ns0:Relationships xmlns:ns0="http://schemas.openxmlformats.org/package/2006/relationships"><ns0:Relationship Type="http://schemas.openxmlformats.org/officeDocument/2006/relationships/slideLayout" Target="/ppt/slideLayouts/slideLayout1.xml" Id="Rae657f785a674f6d" /><ns0:Relationship Type="http://schemas.openxmlformats.org/officeDocument/2006/relationships/notesSlide" Target="/ppt/notesSlides/notesSlide53.xml" Id="R6d41d3cf11194fee"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0" TargetMode="External" /><ns0:Relationship Id="rIdLink3" Type="http://schemas.openxmlformats.org/officeDocument/2006/relationships/hyperlink" Target="https://docs.github.com/en/copilot/concepts/agents/cloud-agent/about-cloud-agent" TargetMode="External" /></ns0:Relationships>
</file>

<file path=ppt/slides/_rels/slide54.xml.rels><?xml version='1.0' encoding='utf-8'?>
<ns0:Relationships xmlns:ns0="http://schemas.openxmlformats.org/package/2006/relationships"><ns0:Relationship Type="http://schemas.openxmlformats.org/officeDocument/2006/relationships/slideLayout" Target="/ppt/slideLayouts/slideLayout1.xml" Id="R9fd7ff7d8c39432d" /><ns0:Relationship Type="http://schemas.openxmlformats.org/officeDocument/2006/relationships/notesSlide" Target="/ppt/notesSlides/notesSlide54.xml" Id="R021f429b123c46fe"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1" TargetMode="External" /><ns0:Relationship Id="rIdLink3" Type="http://schemas.openxmlformats.org/officeDocument/2006/relationships/hyperlink" Target="https://docs.github.com/en/copilot/concepts/agents/cloud-agent/about-cloud-agent" TargetMode="External" /></ns0:Relationships>
</file>

<file path=ppt/slides/_rels/slide55.xml.rels><?xml version='1.0' encoding='utf-8'?>
<ns0:Relationships xmlns:ns0="http://schemas.openxmlformats.org/package/2006/relationships"><ns0:Relationship Type="http://schemas.openxmlformats.org/officeDocument/2006/relationships/slideLayout" Target="/ppt/slideLayouts/slideLayout1.xml" Id="R8a773daf9b9a415e" /><ns0:Relationship Type="http://schemas.openxmlformats.org/officeDocument/2006/relationships/notesSlide" Target="/ppt/notesSlides/notesSlide55.xml" Id="R8963827892904039"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1" TargetMode="External" /><ns0:Relationship Id="rIdLink3" Type="http://schemas.openxmlformats.org/officeDocument/2006/relationships/hyperlink" Target="https://docs.github.com/en/copilot/concepts/agents/cloud-agent/about-cloud-agent" TargetMode="External" /></ns0:Relationships>
</file>

<file path=ppt/slides/_rels/slide56.xml.rels><?xml version='1.0' encoding='utf-8'?>
<ns0:Relationships xmlns:ns0="http://schemas.openxmlformats.org/package/2006/relationships"><ns0:Relationship Type="http://schemas.openxmlformats.org/officeDocument/2006/relationships/slideLayout" Target="/ppt/slideLayouts/slideLayout1.xml" Id="R362e14cafd5e44a2" /><ns0:Relationship Type="http://schemas.openxmlformats.org/officeDocument/2006/relationships/notesSlide" Target="/ppt/notesSlides/notesSlide56.xml" Id="Rf995c91eb19d42cf"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1" TargetMode="External" /><ns0:Relationship Id="rIdLink3" Type="http://schemas.openxmlformats.org/officeDocument/2006/relationships/hyperlink" Target="https://docs.github.com/en/copilot/concepts/agents/cloud-agent/about-cloud-agent" TargetMode="External" /></ns0:Relationships>
</file>

<file path=ppt/slides/_rels/slide57.xml.rels><?xml version='1.0' encoding='utf-8'?>
<ns0:Relationships xmlns:ns0="http://schemas.openxmlformats.org/package/2006/relationships"><ns0:Relationship Type="http://schemas.openxmlformats.org/officeDocument/2006/relationships/slideLayout" Target="/ppt/slideLayouts/slideLayout1.xml" Id="R922f5a9efd9c4e25" /><ns0:Relationship Type="http://schemas.openxmlformats.org/officeDocument/2006/relationships/notesSlide" Target="/ppt/notesSlides/notesSlide57.xml" Id="R314c119be433478d"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1" TargetMode="External" /><ns0:Relationship Id="rIdLink3" Type="http://schemas.openxmlformats.org/officeDocument/2006/relationships/hyperlink" Target="https://docs.github.com/en/copilot/concepts/agents/cloud-agent/about-cloud-agent" TargetMode="External" /></ns0:Relationships>
</file>

<file path=ppt/slides/_rels/slide58.xml.rels><?xml version='1.0' encoding='utf-8'?>
<ns0:Relationships xmlns:ns0="http://schemas.openxmlformats.org/package/2006/relationships"><ns0:Relationship Type="http://schemas.openxmlformats.org/officeDocument/2006/relationships/slideLayout" Target="/ppt/slideLayouts/slideLayout1.xml" Id="R57b6e513739348e3" /><ns0:Relationship Type="http://schemas.openxmlformats.org/officeDocument/2006/relationships/notesSlide" Target="/ppt/notesSlides/notesSlide58.xml" Id="R26e17b64ea2d459e"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1" TargetMode="External" /><ns0:Relationship Id="rIdLink3" Type="http://schemas.openxmlformats.org/officeDocument/2006/relationships/hyperlink" Target="https://docs.github.com/en/copilot/concepts/agents/cloud-agent/about-cloud-agent" TargetMode="External" /></ns0:Relationships>
</file>

<file path=ppt/slides/_rels/slide59.xml.rels><?xml version='1.0' encoding='utf-8'?>
<ns0:Relationships xmlns:ns0="http://schemas.openxmlformats.org/package/2006/relationships"><ns0:Relationship Type="http://schemas.openxmlformats.org/officeDocument/2006/relationships/slideLayout" Target="/ppt/slideLayouts/slideLayout1.xml" Id="R1098d5aaf5a14519" /><ns0:Relationship Type="http://schemas.openxmlformats.org/officeDocument/2006/relationships/notesSlide" Target="/ppt/notesSlides/notesSlide59.xml" Id="Rd9975ea8301d4bff"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2" TargetMode="External" /><ns0:Relationship Id="rIdLink3" Type="http://schemas.openxmlformats.org/officeDocument/2006/relationships/hyperlink" Target="https://docs.github.com/en/copilot/concepts/agents/cloud-agent/about-cloud-agent" TargetMode="External" /></ns0:Relationships>
</file>

<file path=ppt/slides/_rels/slide60.xml.rels><?xml version='1.0' encoding='utf-8'?>
<ns0:Relationships xmlns:ns0="http://schemas.openxmlformats.org/package/2006/relationships"><ns0:Relationship Type="http://schemas.openxmlformats.org/officeDocument/2006/relationships/slideLayout" Target="/ppt/slideLayouts/slideLayout1.xml" Id="R77d3d64dd8914e44" /><ns0:Relationship Type="http://schemas.openxmlformats.org/officeDocument/2006/relationships/notesSlide" Target="/ppt/notesSlides/notesSlide60.xml" Id="R6e50883262094b0c"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2" TargetMode="External" /><ns0:Relationship Id="rIdLink3" Type="http://schemas.openxmlformats.org/officeDocument/2006/relationships/hyperlink" Target="https://docs.github.com/en/copilot/concepts/agents/cloud-agent/about-cloud-agent" TargetMode="External" /></ns0:Relationships>
</file>

<file path=ppt/slides/_rels/slide61.xml.rels><?xml version='1.0' encoding='utf-8'?>
<ns0:Relationships xmlns:ns0="http://schemas.openxmlformats.org/package/2006/relationships"><ns0:Relationship Type="http://schemas.openxmlformats.org/officeDocument/2006/relationships/slideLayout" Target="/ppt/slideLayouts/slideLayout1.xml" Id="R7276a05c2d4b4d31" /><ns0:Relationship Type="http://schemas.openxmlformats.org/officeDocument/2006/relationships/notesSlide" Target="/ppt/notesSlides/notesSlide61.xml" Id="R92794937e6a749d4"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2" TargetMode="External" /><ns0:Relationship Id="rIdLink3" Type="http://schemas.openxmlformats.org/officeDocument/2006/relationships/hyperlink" Target="https://docs.github.com/en/copilot/concepts/agents/cloud-agent/about-cloud-agent" TargetMode="External" /></ns0:Relationships>
</file>

<file path=ppt/slides/_rels/slide62.xml.rels><?xml version='1.0' encoding='utf-8'?>
<ns0:Relationships xmlns:ns0="http://schemas.openxmlformats.org/package/2006/relationships"><ns0:Relationship Type="http://schemas.openxmlformats.org/officeDocument/2006/relationships/slideLayout" Target="/ppt/slideLayouts/slideLayout1.xml" Id="R132a7e0e22a84076" /><ns0:Relationship Type="http://schemas.openxmlformats.org/officeDocument/2006/relationships/notesSlide" Target="/ppt/notesSlides/notesSlide62.xml" Id="Rf7217aca51314569"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2" TargetMode="External" /><ns0:Relationship Id="rIdLink3" Type="http://schemas.openxmlformats.org/officeDocument/2006/relationships/hyperlink" Target="https://docs.github.com/en/copilot/concepts/agents/cloud-agent/about-cloud-agent" TargetMode="External" /></ns0:Relationships>
</file>

<file path=ppt/slides/_rels/slide63.xml.rels><?xml version='1.0' encoding='utf-8'?>
<ns0:Relationships xmlns:ns0="http://schemas.openxmlformats.org/package/2006/relationships"><ns0:Relationship Type="http://schemas.openxmlformats.org/officeDocument/2006/relationships/slideLayout" Target="/ppt/slideLayouts/slideLayout1.xml" Id="Ra1403e5b7e4e422a" /><ns0:Relationship Type="http://schemas.openxmlformats.org/officeDocument/2006/relationships/notesSlide" Target="/ppt/notesSlides/notesSlide63.xml" Id="R3a78b169d9694eea"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2" TargetMode="External" /><ns0:Relationship Id="rIdLink3" Type="http://schemas.openxmlformats.org/officeDocument/2006/relationships/hyperlink" Target="https://docs.github.com/en/copilot/concepts/agents/cloud-agent/about-cloud-agent" TargetMode="External" /></ns0:Relationships>
</file>

<file path=ppt/slides/_rels/slide64.xml.rels><?xml version='1.0' encoding='utf-8'?>
<ns0:Relationships xmlns:ns0="http://schemas.openxmlformats.org/package/2006/relationships"><ns0:Relationship Type="http://schemas.openxmlformats.org/officeDocument/2006/relationships/slideLayout" Target="/ppt/slideLayouts/slideLayout1.xml" Id="Rc0c53011a3354c00" /><ns0:Relationship Type="http://schemas.openxmlformats.org/officeDocument/2006/relationships/notesSlide" Target="/ppt/notesSlides/notesSlide64.xml" Id="Red8126ff170e4d0c"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3" TargetMode="External" /><ns0:Relationship Id="rIdLink3" Type="http://schemas.openxmlformats.org/officeDocument/2006/relationships/hyperlink" Target="https://docs.python.org/3/builtins/functions.html#type" TargetMode="External" /></ns0:Relationships>
</file>

<file path=ppt/slides/_rels/slide65.xml.rels><?xml version='1.0' encoding='utf-8'?>
<ns0:Relationships xmlns:ns0="http://schemas.openxmlformats.org/package/2006/relationships"><ns0:Relationship Type="http://schemas.openxmlformats.org/officeDocument/2006/relationships/slideLayout" Target="/ppt/slideLayouts/slideLayout1.xml" Id="R7d4fccb1cc3d4c01" /><ns0:Relationship Type="http://schemas.openxmlformats.org/officeDocument/2006/relationships/notesSlide" Target="/ppt/notesSlides/notesSlide65.xml" Id="Ra3f1e6b000dc4c51"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3" TargetMode="External" /><ns0:Relationship Id="rIdLink3" Type="http://schemas.openxmlformats.org/officeDocument/2006/relationships/hyperlink" Target="https://docs.python.org/3/builtins/functions.html#type" TargetMode="External" /></ns0:Relationships>
</file>

<file path=ppt/slides/_rels/slide66.xml.rels><?xml version='1.0' encoding='utf-8'?>
<ns0:Relationships xmlns:ns0="http://schemas.openxmlformats.org/package/2006/relationships"><ns0:Relationship Type="http://schemas.openxmlformats.org/officeDocument/2006/relationships/slideLayout" Target="/ppt/slideLayouts/slideLayout1.xml" Id="R6f57a7a9673b4d20" /><ns0:Relationship Type="http://schemas.openxmlformats.org/officeDocument/2006/relationships/notesSlide" Target="/ppt/notesSlides/notesSlide66.xml" Id="R0f5461d14d9d4378"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3" TargetMode="External" /><ns0:Relationship Id="rIdLink3" Type="http://schemas.openxmlformats.org/officeDocument/2006/relationships/hyperlink" Target="https://docs.python.org/3/builtins/functions.html#type" TargetMode="External" /></ns0:Relationships>
</file>

<file path=ppt/slides/_rels/slide67.xml.rels><?xml version='1.0' encoding='utf-8'?>
<ns0:Relationships xmlns:ns0="http://schemas.openxmlformats.org/package/2006/relationships"><ns0:Relationship Type="http://schemas.openxmlformats.org/officeDocument/2006/relationships/slideLayout" Target="/ppt/slideLayouts/slideLayout1.xml" Id="R23d1d0b00e83497c" /><ns0:Relationship Type="http://schemas.openxmlformats.org/officeDocument/2006/relationships/notesSlide" Target="/ppt/notesSlides/notesSlide67.xml" Id="R9a9737e290a4418d"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3" TargetMode="External" /><ns0:Relationship Id="rIdLink3" Type="http://schemas.openxmlformats.org/officeDocument/2006/relationships/hyperlink" Target="https://docs.python.org/3/builtins/functions.html#type" TargetMode="External" /></ns0:Relationships>
</file>

<file path=ppt/slides/_rels/slide68.xml.rels><?xml version='1.0' encoding='utf-8'?>
<ns0:Relationships xmlns:ns0="http://schemas.openxmlformats.org/package/2006/relationships"><ns0:Relationship Type="http://schemas.openxmlformats.org/officeDocument/2006/relationships/slideLayout" Target="/ppt/slideLayouts/slideLayout1.xml" Id="R285d4f866cb544f5" /><ns0:Relationship Type="http://schemas.openxmlformats.org/officeDocument/2006/relationships/notesSlide" Target="/ppt/notesSlides/notesSlide68.xml" Id="R1db72ee2882c4b8e"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3" TargetMode="External" /><ns0:Relationship Id="rIdLink3" Type="http://schemas.openxmlformats.org/officeDocument/2006/relationships/hyperlink" Target="https://docs.python.org/3/builtins/functions.html#type" TargetMode="External" /></ns0:Relationships>
</file>

<file path=ppt/slides/_rels/slide69.xml.rels><?xml version='1.0' encoding='utf-8'?>
<ns0:Relationships xmlns:ns0="http://schemas.openxmlformats.org/package/2006/relationships"><ns0:Relationship Type="http://schemas.openxmlformats.org/officeDocument/2006/relationships/slideLayout" Target="/ppt/slideLayouts/slideLayout1.xml" Id="R048397d99d84413d" /><ns0:Relationship Type="http://schemas.openxmlformats.org/officeDocument/2006/relationships/notesSlide" Target="/ppt/notesSlides/notesSlide69.xml" Id="Rcf7a628ef7bd4147"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3" TargetMode="External" /><ns0:Relationship Id="rIdLink3" Type="http://schemas.openxmlformats.org/officeDocument/2006/relationships/hyperlink" Target="https://docs.python.org/3/builtins/functions.html#type" TargetMode="External" /></ns0:Relationships>
</file>

<file path=ppt/slides/_rels/slide70.xml.rels><?xml version='1.0' encoding='utf-8'?>
<ns0:Relationships xmlns:ns0="http://schemas.openxmlformats.org/package/2006/relationships"><ns0:Relationship Type="http://schemas.openxmlformats.org/officeDocument/2006/relationships/slideLayout" Target="/ppt/slideLayouts/slideLayout1.xml" Id="Ra369997ebf6f4f1b" /><ns0:Relationship Type="http://schemas.openxmlformats.org/officeDocument/2006/relationships/notesSlide" Target="/ppt/notesSlides/notesSlide70.xml" Id="R9db202d3ba364f0f"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4" TargetMode="External" /><ns0:Relationship Id="rIdLink3" Type="http://schemas.openxmlformats.org/officeDocument/2006/relationships/hyperlink" Target="https://docs.python.org/3/builtins/functions.html#type" TargetMode="External" /></ns0:Relationships>
</file>

<file path=ppt/slides/_rels/slide71.xml.rels><?xml version='1.0' encoding='utf-8'?>
<ns0:Relationships xmlns:ns0="http://schemas.openxmlformats.org/package/2006/relationships"><ns0:Relationship Type="http://schemas.openxmlformats.org/officeDocument/2006/relationships/slideLayout" Target="/ppt/slideLayouts/slideLayout1.xml" Id="R218c114e44e94687" /><ns0:Relationship Type="http://schemas.openxmlformats.org/officeDocument/2006/relationships/notesSlide" Target="/ppt/notesSlides/notesSlide71.xml" Id="R020d8f2f30c44fc9"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4" TargetMode="External" /><ns0:Relationship Id="rIdLink3" Type="http://schemas.openxmlformats.org/officeDocument/2006/relationships/hyperlink" Target="https://docs.python.org/3/builtins/functions.html#type" TargetMode="External" /></ns0:Relationships>
</file>

<file path=ppt/slides/_rels/slide72.xml.rels><?xml version='1.0' encoding='utf-8'?>
<ns0:Relationships xmlns:ns0="http://schemas.openxmlformats.org/package/2006/relationships"><ns0:Relationship Type="http://schemas.openxmlformats.org/officeDocument/2006/relationships/slideLayout" Target="/ppt/slideLayouts/slideLayout1.xml" Id="Re8763ce1556242cc" /><ns0:Relationship Type="http://schemas.openxmlformats.org/officeDocument/2006/relationships/notesSlide" Target="/ppt/notesSlides/notesSlide72.xml" Id="Rc1af0d8e850f4fe8"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4" TargetMode="External" /><ns0:Relationship Id="rIdLink3" Type="http://schemas.openxmlformats.org/officeDocument/2006/relationships/hyperlink" Target="https://docs.python.org/3/builtins/functions.html#type" TargetMode="External" /></ns0:Relationships>
</file>

<file path=ppt/slides/_rels/slide73.xml.rels><?xml version='1.0' encoding='utf-8'?>
<ns0:Relationships xmlns:ns0="http://schemas.openxmlformats.org/package/2006/relationships"><ns0:Relationship Type="http://schemas.openxmlformats.org/officeDocument/2006/relationships/slideLayout" Target="/ppt/slideLayouts/slideLayout1.xml" Id="Rb82925a8fd824fc5" /><ns0:Relationship Type="http://schemas.openxmlformats.org/officeDocument/2006/relationships/notesSlide" Target="/ppt/notesSlides/notesSlide73.xml" Id="Rc7c811ffded04fa0"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4" TargetMode="External" /><ns0:Relationship Id="rIdLink3" Type="http://schemas.openxmlformats.org/officeDocument/2006/relationships/hyperlink" Target="https://docs.python.org/3/builtins/functions.html#type" TargetMode="External" /></ns0:Relationships>
</file>

<file path=ppt/slides/_rels/slide74.xml.rels><?xml version='1.0' encoding='utf-8'?>
<ns0:Relationships xmlns:ns0="http://schemas.openxmlformats.org/package/2006/relationships"><ns0:Relationship Type="http://schemas.openxmlformats.org/officeDocument/2006/relationships/slideLayout" Target="/ppt/slideLayouts/slideLayout1.xml" Id="Ra8e8d80b62a44edb" /><ns0:Relationship Type="http://schemas.openxmlformats.org/officeDocument/2006/relationships/notesSlide" Target="/ppt/notesSlides/notesSlide74.xml" Id="R8c5bc9edf6e34989"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5" TargetMode="External" /><ns0:Relationship Id="rIdLink3" Type="http://schemas.openxmlformats.org/officeDocument/2006/relationships/hyperlink" Target="https://docs.python.org/3/builtins/functions.html#type" TargetMode="External" /></ns0:Relationships>
</file>

<file path=ppt/slides/_rels/slide75.xml.rels><?xml version='1.0' encoding='utf-8'?>
<ns0:Relationships xmlns:ns0="http://schemas.openxmlformats.org/package/2006/relationships"><ns0:Relationship Type="http://schemas.openxmlformats.org/officeDocument/2006/relationships/slideLayout" Target="/ppt/slideLayouts/slideLayout1.xml" Id="R72ed862639114776" /><ns0:Relationship Type="http://schemas.openxmlformats.org/officeDocument/2006/relationships/notesSlide" Target="/ppt/notesSlides/notesSlide75.xml" Id="R31b891e7afb94a33"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5" TargetMode="External" /><ns0:Relationship Id="rIdLink3" Type="http://schemas.openxmlformats.org/officeDocument/2006/relationships/hyperlink" Target="https://docs.python.org/3/builtins/functions.html#type" TargetMode="External" /></ns0:Relationships>
</file>

<file path=ppt/slides/_rels/slide76.xml.rels><?xml version='1.0' encoding='utf-8'?>
<ns0:Relationships xmlns:ns0="http://schemas.openxmlformats.org/package/2006/relationships"><ns0:Relationship Type="http://schemas.openxmlformats.org/officeDocument/2006/relationships/slideLayout" Target="/ppt/slideLayouts/slideLayout1.xml" Id="R0dbd6b149ee949a8" /><ns0:Relationship Type="http://schemas.openxmlformats.org/officeDocument/2006/relationships/notesSlide" Target="/ppt/notesSlides/notesSlide76.xml" Id="R55c03db359f44752"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5" TargetMode="External" /><ns0:Relationship Id="rIdLink3" Type="http://schemas.openxmlformats.org/officeDocument/2006/relationships/hyperlink" Target="https://docs.python.org/3/builtins/functions.html#type" TargetMode="External" /></ns0:Relationships>
</file>

<file path=ppt/slides/_rels/slide77.xml.rels><?xml version='1.0' encoding='utf-8'?>
<ns0:Relationships xmlns:ns0="http://schemas.openxmlformats.org/package/2006/relationships"><ns0:Relationship Type="http://schemas.openxmlformats.org/officeDocument/2006/relationships/slideLayout" Target="/ppt/slideLayouts/slideLayout1.xml" Id="Rea96b8493d7e4d51" /><ns0:Relationship Type="http://schemas.openxmlformats.org/officeDocument/2006/relationships/notesSlide" Target="/ppt/notesSlides/notesSlide77.xml" Id="Rd19f8748c70b42aa"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5" TargetMode="External" /><ns0:Relationship Id="rIdLink3" Type="http://schemas.openxmlformats.org/officeDocument/2006/relationships/hyperlink" Target="https://docs.python.org/3/builtins/functions.html#type" TargetMode="External" /></ns0:Relationships>
</file>

<file path=ppt/slides/_rels/slide78.xml.rels><?xml version='1.0' encoding='utf-8'?>
<ns0:Relationships xmlns:ns0="http://schemas.openxmlformats.org/package/2006/relationships"><ns0:Relationship Type="http://schemas.openxmlformats.org/officeDocument/2006/relationships/slideLayout" Target="/ppt/slideLayouts/slideLayout1.xml" Id="R18dd6778d4dd4269" /><ns0:Relationship Type="http://schemas.openxmlformats.org/officeDocument/2006/relationships/notesSlide" Target="/ppt/notesSlides/notesSlide78.xml" Id="R813c977dec234428"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5" TargetMode="External" /><ns0:Relationship Id="rIdLink3" Type="http://schemas.openxmlformats.org/officeDocument/2006/relationships/hyperlink" Target="https://docs.python.org/3/builtins/functions.html#type" TargetMode="External" /></ns0:Relationships>
</file>

<file path=ppt/slides/_rels/slide79.xml.rels><?xml version='1.0' encoding='utf-8'?>
<ns0:Relationships xmlns:ns0="http://schemas.openxmlformats.org/package/2006/relationships"><ns0:Relationship Type="http://schemas.openxmlformats.org/officeDocument/2006/relationships/slideLayout" Target="/ppt/slideLayouts/slideLayout1.xml" Id="Rde8ed2ecb98f4e03" /><ns0:Relationship Type="http://schemas.openxmlformats.org/officeDocument/2006/relationships/notesSlide" Target="/ppt/notesSlides/notesSlide79.xml" Id="R305c8cc4065a4920"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6" TargetMode="External" /><ns0:Relationship Id="rIdLink3" Type="http://schemas.openxmlformats.org/officeDocument/2006/relationships/hyperlink" Target="https://docs.python.org/3/library/unittest.html" TargetMode="External" /></ns0:Relationships>
</file>

<file path=ppt/slides/_rels/slide80.xml.rels><?xml version='1.0' encoding='utf-8'?>
<ns0:Relationships xmlns:ns0="http://schemas.openxmlformats.org/package/2006/relationships"><ns0:Relationship Type="http://schemas.openxmlformats.org/officeDocument/2006/relationships/slideLayout" Target="/ppt/slideLayouts/slideLayout1.xml" Id="R2eeb16a4b7294ec9" /><ns0:Relationship Type="http://schemas.openxmlformats.org/officeDocument/2006/relationships/notesSlide" Target="/ppt/notesSlides/notesSlide80.xml" Id="R61d327597d5c4746"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6" TargetMode="External" /><ns0:Relationship Id="rIdLink3" Type="http://schemas.openxmlformats.org/officeDocument/2006/relationships/hyperlink" Target="https://docs.python.org/3/library/unittest.html" TargetMode="External" /></ns0:Relationships>
</file>

<file path=ppt/slides/_rels/slide81.xml.rels><?xml version='1.0' encoding='utf-8'?>
<ns0:Relationships xmlns:ns0="http://schemas.openxmlformats.org/package/2006/relationships"><ns0:Relationship Type="http://schemas.openxmlformats.org/officeDocument/2006/relationships/slideLayout" Target="/ppt/slideLayouts/slideLayout1.xml" Id="R5e8dc7495a634f24" /><ns0:Relationship Type="http://schemas.openxmlformats.org/officeDocument/2006/relationships/notesSlide" Target="/ppt/notesSlides/notesSlide81.xml" Id="R88f683498e044c49"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6" TargetMode="External" /><ns0:Relationship Id="rIdLink3" Type="http://schemas.openxmlformats.org/officeDocument/2006/relationships/hyperlink" Target="https://docs.python.org/3/library/unittest.html" TargetMode="External" /></ns0:Relationships>
</file>

<file path=ppt/slides/_rels/slide82.xml.rels><?xml version='1.0' encoding='utf-8'?>
<ns0:Relationships xmlns:ns0="http://schemas.openxmlformats.org/package/2006/relationships"><ns0:Relationship Type="http://schemas.openxmlformats.org/officeDocument/2006/relationships/slideLayout" Target="/ppt/slideLayouts/slideLayout1.xml" Id="R771506b7536243d8" /><ns0:Relationship Type="http://schemas.openxmlformats.org/officeDocument/2006/relationships/notesSlide" Target="/ppt/notesSlides/notesSlide82.xml" Id="R08bd8f95e88a4fa6"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6" TargetMode="External" /><ns0:Relationship Id="rIdLink3" Type="http://schemas.openxmlformats.org/officeDocument/2006/relationships/hyperlink" Target="https://docs.python.org/3/library/unittest.html" TargetMode="External" /></ns0:Relationships>
</file>

<file path=ppt/slides/_rels/slide83.xml.rels><?xml version='1.0' encoding='utf-8'?>
<ns0:Relationships xmlns:ns0="http://schemas.openxmlformats.org/package/2006/relationships"><ns0:Relationship Type="http://schemas.openxmlformats.org/officeDocument/2006/relationships/slideLayout" Target="/ppt/slideLayouts/slideLayout1.xml" Id="R8732ee442a8d4cd2" /><ns0:Relationship Type="http://schemas.openxmlformats.org/officeDocument/2006/relationships/notesSlide" Target="/ppt/notesSlides/notesSlide83.xml" Id="Rd69488237e424822"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6" TargetMode="External" /><ns0:Relationship Id="rIdLink3" Type="http://schemas.openxmlformats.org/officeDocument/2006/relationships/hyperlink" Target="https://docs.python.org/3/library/unittest.html" TargetMode="External" /></ns0:Relationships>
</file>

<file path=ppt/slides/_rels/slide84.xml.rels><?xml version='1.0' encoding='utf-8'?>
<ns0:Relationships xmlns:ns0="http://schemas.openxmlformats.org/package/2006/relationships"><ns0:Relationship Type="http://schemas.openxmlformats.org/officeDocument/2006/relationships/slideLayout" Target="/ppt/slideLayouts/slideLayout1.xml" Id="R13f4e325224148e6" /><ns0:Relationship Type="http://schemas.openxmlformats.org/officeDocument/2006/relationships/notesSlide" Target="/ppt/notesSlides/notesSlide84.xml" Id="Rb1bdef770a7747fc"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6" TargetMode="External" /><ns0:Relationship Id="rIdLink3" Type="http://schemas.openxmlformats.org/officeDocument/2006/relationships/hyperlink" Target="https://docs.python.org/3/library/unittest.html" TargetMode="External" /></ns0:Relationships>
</file>

<file path=ppt/slides/_rels/slide85.xml.rels><?xml version='1.0' encoding='utf-8'?>
<ns0:Relationships xmlns:ns0="http://schemas.openxmlformats.org/package/2006/relationships"><ns0:Relationship Type="http://schemas.openxmlformats.org/officeDocument/2006/relationships/slideLayout" Target="/ppt/slideLayouts/slideLayout1.xml" Id="R6e60a138860d4a82" /><ns0:Relationship Type="http://schemas.openxmlformats.org/officeDocument/2006/relationships/notesSlide" Target="/ppt/notesSlides/notesSlide85.xml" Id="R4c16bdf6a389433f"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6" TargetMode="External" /><ns0:Relationship Id="rIdLink3" Type="http://schemas.openxmlformats.org/officeDocument/2006/relationships/hyperlink" Target="https://docs.python.org/3/library/unittest.html" TargetMode="External" /></ns0:Relationships>
</file>

<file path=ppt/slides/_rels/slide86.xml.rels><?xml version='1.0' encoding='utf-8'?>
<ns0:Relationships xmlns:ns0="http://schemas.openxmlformats.org/package/2006/relationships"><ns0:Relationship Type="http://schemas.openxmlformats.org/officeDocument/2006/relationships/slideLayout" Target="/ppt/slideLayouts/slideLayout1.xml" Id="R0421fc9a88904e92" /><ns0:Relationship Type="http://schemas.openxmlformats.org/officeDocument/2006/relationships/notesSlide" Target="/ppt/notesSlides/notesSlide86.xml" Id="R219a31f7bd364f30"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7" TargetMode="External" /><ns0:Relationship Id="rIdLink3" Type="http://schemas.openxmlformats.org/officeDocument/2006/relationships/hyperlink" Target="https://docs.python.org/3/library/unittest.html" TargetMode="External" /></ns0:Relationships>
</file>

<file path=ppt/slides/_rels/slide87.xml.rels><?xml version='1.0' encoding='utf-8'?>
<ns0:Relationships xmlns:ns0="http://schemas.openxmlformats.org/package/2006/relationships"><ns0:Relationship Type="http://schemas.openxmlformats.org/officeDocument/2006/relationships/slideLayout" Target="/ppt/slideLayouts/slideLayout1.xml" Id="R9b4b2ac19e5c4d19" /><ns0:Relationship Type="http://schemas.openxmlformats.org/officeDocument/2006/relationships/notesSlide" Target="/ppt/notesSlides/notesSlide87.xml" Id="R7b7cb74c545b4c92"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7" TargetMode="External" /><ns0:Relationship Id="rIdLink3" Type="http://schemas.openxmlformats.org/officeDocument/2006/relationships/hyperlink" Target="https://docs.python.org/3/library/unittest.html" TargetMode="External" /></ns0:Relationships>
</file>

<file path=ppt/slides/_rels/slide88.xml.rels><?xml version='1.0' encoding='utf-8'?>
<ns0:Relationships xmlns:ns0="http://schemas.openxmlformats.org/package/2006/relationships"><ns0:Relationship Type="http://schemas.openxmlformats.org/officeDocument/2006/relationships/slideLayout" Target="/ppt/slideLayouts/slideLayout1.xml" Id="R281516b3053143e5" /><ns0:Relationship Type="http://schemas.openxmlformats.org/officeDocument/2006/relationships/notesSlide" Target="/ppt/notesSlides/notesSlide88.xml" Id="Rd12c7e8e147a45ca"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7" TargetMode="External" /><ns0:Relationship Id="rIdLink3" Type="http://schemas.openxmlformats.org/officeDocument/2006/relationships/hyperlink" Target="https://docs.python.org/3/library/unittest.html" TargetMode="External" /></ns0:Relationships>
</file>

<file path=ppt/slides/_rels/slide89.xml.rels><?xml version='1.0' encoding='utf-8'?>
<ns0:Relationships xmlns:ns0="http://schemas.openxmlformats.org/package/2006/relationships"><ns0:Relationship Type="http://schemas.openxmlformats.org/officeDocument/2006/relationships/slideLayout" Target="/ppt/slideLayouts/slideLayout1.xml" Id="Rf5ac3c99445c4392" /><ns0:Relationship Type="http://schemas.openxmlformats.org/officeDocument/2006/relationships/notesSlide" Target="/ppt/notesSlides/notesSlide89.xml" Id="R96a22bc1623a4a4d"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7" TargetMode="External" /><ns0:Relationship Id="rIdLink3" Type="http://schemas.openxmlformats.org/officeDocument/2006/relationships/hyperlink" Target="https://docs.python.org/3/library/unittest.html" TargetMode="External" /></ns0:Relationships>
</file>

<file path=ppt/slides/_rels/slide90.xml.rels><?xml version='1.0' encoding='utf-8'?>
<ns0:Relationships xmlns:ns0="http://schemas.openxmlformats.org/package/2006/relationships"><ns0:Relationship Type="http://schemas.openxmlformats.org/officeDocument/2006/relationships/slideLayout" Target="/ppt/slideLayouts/slideLayout1.xml" Id="R58cb23a5c3394125" /><ns0:Relationship Type="http://schemas.openxmlformats.org/officeDocument/2006/relationships/notesSlide" Target="/ppt/notesSlides/notesSlide90.xml" Id="R187d73b9305946ef"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8" TargetMode="External" /><ns0:Relationship Id="rIdLink3" Type="http://schemas.openxmlformats.org/officeDocument/2006/relationships/hyperlink" Target="https://docs.python.org/3/library/unittest.html" TargetMode="External" /></ns0:Relationships>
</file>

<file path=ppt/slides/_rels/slide91.xml.rels><?xml version='1.0' encoding='utf-8'?>
<ns0:Relationships xmlns:ns0="http://schemas.openxmlformats.org/package/2006/relationships"><ns0:Relationship Type="http://schemas.openxmlformats.org/officeDocument/2006/relationships/slideLayout" Target="/ppt/slideLayouts/slideLayout1.xml" Id="Rf54042c810cb4769" /><ns0:Relationship Type="http://schemas.openxmlformats.org/officeDocument/2006/relationships/notesSlide" Target="/ppt/notesSlides/notesSlide91.xml" Id="R755c10a5930f4952"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8" TargetMode="External" /><ns0:Relationship Id="rIdLink3" Type="http://schemas.openxmlformats.org/officeDocument/2006/relationships/hyperlink" Target="https://docs.python.org/3/library/unittest.html" TargetMode="External" /></ns0:Relationships>
</file>

<file path=ppt/slides/_rels/slide92.xml.rels><?xml version='1.0' encoding='utf-8'?>
<ns0:Relationships xmlns:ns0="http://schemas.openxmlformats.org/package/2006/relationships"><ns0:Relationship Type="http://schemas.openxmlformats.org/officeDocument/2006/relationships/slideLayout" Target="/ppt/slideLayouts/slideLayout1.xml" Id="R3d1126d8be874499" /><ns0:Relationship Type="http://schemas.openxmlformats.org/officeDocument/2006/relationships/notesSlide" Target="/ppt/notesSlides/notesSlide92.xml" Id="R9ae38d3d68d04b41"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8" TargetMode="External" /><ns0:Relationship Id="rIdLink3" Type="http://schemas.openxmlformats.org/officeDocument/2006/relationships/hyperlink" Target="https://docs.python.org/3/library/unittest.html" TargetMode="External" /></ns0:Relationships>
</file>

<file path=ppt/slides/_rels/slide93.xml.rels><?xml version='1.0' encoding='utf-8'?>
<ns0:Relationships xmlns:ns0="http://schemas.openxmlformats.org/package/2006/relationships"><ns0:Relationship Type="http://schemas.openxmlformats.org/officeDocument/2006/relationships/slideLayout" Target="/ppt/slideLayouts/slideLayout1.xml" Id="R77056a2c010a4b6f" /><ns0:Relationship Type="http://schemas.openxmlformats.org/officeDocument/2006/relationships/notesSlide" Target="/ppt/notesSlides/notesSlide93.xml" Id="Rbd6828024151485d"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8" TargetMode="External" /><ns0:Relationship Id="rIdLink3" Type="http://schemas.openxmlformats.org/officeDocument/2006/relationships/hyperlink" Target="https://docs.python.org/3/library/unittest.html" TargetMode="External" /></ns0:Relationships>
</file>

<file path=ppt/slides/_rels/slide94.xml.rels><?xml version='1.0' encoding='utf-8'?>
<ns0:Relationships xmlns:ns0="http://schemas.openxmlformats.org/package/2006/relationships"><ns0:Relationship Type="http://schemas.openxmlformats.org/officeDocument/2006/relationships/slideLayout" Target="/ppt/slideLayouts/slideLayout1.xml" Id="R9ac27b301c8e4bb8" /><ns0:Relationship Type="http://schemas.openxmlformats.org/officeDocument/2006/relationships/notesSlide" Target="/ppt/notesSlides/notesSlide94.xml" Id="R28d21363374547ea"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8" TargetMode="External" /><ns0:Relationship Id="rIdLink3" Type="http://schemas.openxmlformats.org/officeDocument/2006/relationships/hyperlink" Target="https://docs.github.com/en/copilot/concepts/agents/cloud-agent/about-cloud-agent" TargetMode="External" /></ns0:Relationships>
</file>

<file path=ppt/slides/_rels/slide95.xml.rels><?xml version='1.0' encoding='utf-8'?>
<ns0:Relationships xmlns:ns0="http://schemas.openxmlformats.org/package/2006/relationships"><ns0:Relationship Type="http://schemas.openxmlformats.org/officeDocument/2006/relationships/slideLayout" Target="/ppt/slideLayouts/slideLayout1.xml" Id="R4c5104b189304d42" /><ns0:Relationship Type="http://schemas.openxmlformats.org/officeDocument/2006/relationships/notesSlide" Target="/ppt/notesSlides/notesSlide95.xml" Id="R77527da94c784a6e"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8" TargetMode="External" /><ns0:Relationship Id="rIdLink3" Type="http://schemas.openxmlformats.org/officeDocument/2006/relationships/hyperlink" Target="https://docs.python.org/3/builtins/functions.html#type" TargetMode="External" /></ns0:Relationships>
</file>

<file path=ppt/slides/_rels/slide96.xml.rels><?xml version='1.0' encoding='utf-8'?>
<ns0:Relationships xmlns:ns0="http://schemas.openxmlformats.org/package/2006/relationships"><ns0:Relationship Type="http://schemas.openxmlformats.org/officeDocument/2006/relationships/slideLayout" Target="/ppt/slideLayouts/slideLayout1.xml" Id="Rfbad436866d64a58" /><ns0:Relationship Type="http://schemas.openxmlformats.org/officeDocument/2006/relationships/notesSlide" Target="/ppt/notesSlides/notesSlide96.xml" Id="R3c317028c5a24a2e"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8" TargetMode="External" /><ns0:Relationship Id="rIdLink3" Type="http://schemas.openxmlformats.org/officeDocument/2006/relationships/hyperlink" Target="https://docs.python.org/3/library/unittest.html" TargetMode="External" /></ns0:Relationships>
</file>

<file path=ppt/slides/_rels/slide97.xml.rels><?xml version='1.0' encoding='utf-8'?>
<ns0:Relationships xmlns:ns0="http://schemas.openxmlformats.org/package/2006/relationships"><ns0:Relationship Type="http://schemas.openxmlformats.org/officeDocument/2006/relationships/slideLayout" Target="/ppt/slideLayouts/slideLayout1.xml" Id="Ra386110d09e041e3" /><ns0:Relationship Type="http://schemas.openxmlformats.org/officeDocument/2006/relationships/notesSlide" Target="/ppt/notesSlides/notesSlide97.xml" Id="R310e4890f3b440e0"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8" TargetMode="External" /><ns0:Relationship Id="rIdLink3" Type="http://schemas.openxmlformats.org/officeDocument/2006/relationships/hyperlink" Target="https://docs.github.com/en/copilot/concepts/agents/cloud-agent/about-cloud-agent" TargetMode="External" /></ns0:Relationships>
</file>

<file path=ppt/slides/_rels/slide98.xml.rels><?xml version='1.0' encoding='utf-8'?>
<ns0:Relationships xmlns:ns0="http://schemas.openxmlformats.org/package/2006/relationships"><ns0:Relationship Type="http://schemas.openxmlformats.org/officeDocument/2006/relationships/slideLayout" Target="/ppt/slideLayouts/slideLayout1.xml" Id="Rfb5c1afa0a8844ee" /><ns0:Relationship Type="http://schemas.openxmlformats.org/officeDocument/2006/relationships/notesSlide" Target="/ppt/notesSlides/notesSlide98.xml" Id="Rc2a7b45e26924251"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8" TargetMode="External" /><ns0:Relationship Id="rIdLink3" Type="http://schemas.openxmlformats.org/officeDocument/2006/relationships/hyperlink" Target="https://docs.python.org/3/builtins/functions.html#type" TargetMode="External" /></ns0:Relationships>
</file>

<file path=ppt/slides/_rels/slide99.xml.rels><?xml version='1.0' encoding='utf-8'?>
<ns0:Relationships xmlns:ns0="http://schemas.openxmlformats.org/package/2006/relationships"><ns0:Relationship Type="http://schemas.openxmlformats.org/officeDocument/2006/relationships/slideLayout" Target="/ppt/slideLayouts/slideLayout1.xml" Id="Rf13cdd9e649c46b1" /><ns0:Relationship Type="http://schemas.openxmlformats.org/officeDocument/2006/relationships/notesSlide" Target="/ppt/notesSlides/notesSlide99.xml" Id="R73734fe169e0427b"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8" TargetMode="External" /><ns0:Relationship Id="rIdLink3" Type="http://schemas.openxmlformats.org/officeDocument/2006/relationships/hyperlink" Target="https://docs.python.org/3/library/unittest.html" TargetMode="External" /></ns0:Relationships>
</file>

<file path=ppt/slides/_rels/slide100.xml.rels><?xml version='1.0' encoding='utf-8'?>
<ns0:Relationships xmlns:ns0="http://schemas.openxmlformats.org/package/2006/relationships"><ns0:Relationship Type="http://schemas.openxmlformats.org/officeDocument/2006/relationships/slideLayout" Target="/ppt/slideLayouts/slideLayout1.xml" Id="Re1bf238677d64a54" /><ns0:Relationship Type="http://schemas.openxmlformats.org/officeDocument/2006/relationships/notesSlide" Target="/ppt/notesSlides/notesSlide100.xml" Id="R5e70723fa4ac408e"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8" TargetMode="External" /><ns0:Relationship Id="rIdLink3" Type="http://schemas.openxmlformats.org/officeDocument/2006/relationships/hyperlink" Target="https://docs.python.org/3/library/unittest.html" TargetMode="External" /></ns0:Relationships>
</file>

<file path=ppt/slides/_rels/slide101.xml.rels><?xml version='1.0' encoding='utf-8'?>
<ns0:Relationships xmlns:ns0="http://schemas.openxmlformats.org/package/2006/relationships"><ns0:Relationship Type="http://schemas.openxmlformats.org/officeDocument/2006/relationships/slideLayout" Target="/ppt/slideLayouts/slideLayout1.xml" Id="Re8bb9a57ae61452c" /><ns0:Relationship Type="http://schemas.openxmlformats.org/officeDocument/2006/relationships/notesSlide" Target="/ppt/notesSlides/notesSlide101.xml" Id="Rf7024450c82f4012"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activity-A18" TargetMode="External" /><ns0:Relationship Id="rIdLink3" Type="http://schemas.openxmlformats.org/officeDocument/2006/relationships/hyperlink" Target="https://docs.python.org/3/library/unittest.html" TargetMode="External" /></ns0:Relationships>
</file>

<file path=ppt/slides/_rels/slide102.xml.rels><?xml version='1.0' encoding='utf-8'?>
<ns0:Relationships xmlns:ns0="http://schemas.openxmlformats.org/package/2006/relationships"><ns0:Relationship Type="http://schemas.openxmlformats.org/officeDocument/2006/relationships/slideLayout" Target="/ppt/slideLayouts/slideLayout1.xml" Id="R81586c2e59784dc6" /><ns0:Relationship Type="http://schemas.openxmlformats.org/officeDocument/2006/relationships/notesSlide" Target="/ppt/notesSlides/notesSlide102.xml" Id="R42da3c2c8e004b57"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practice" TargetMode="External" /><ns0:Relationship Id="rIdLink3" Type="http://schemas.openxmlformats.org/officeDocument/2006/relationships/hyperlink" Target="https://docs.github.com/en/copilot/concepts/agents/cloud-agent/about-cloud-agent" TargetMode="External" /><ns0:Relationship Id="rIdLink4" Type="http://schemas.openxmlformats.org/officeDocument/2006/relationships/hyperlink" Target="https://zeusk302-png.github.io/kdigital-physical-ai/#/sessions/2026-10-20/start" TargetMode="External" /><ns0:Relationship Id="rIdLink5" Type="http://schemas.openxmlformats.org/officeDocument/2006/relationships/hyperlink" Target="https://zeusk302-png.github.io/kdigital-physical-ai/#/sessions/2026-10-20/lesson" TargetMode="External" /><ns0:Relationship Id="rIdLink6" Type="http://schemas.openxmlformats.org/officeDocument/2006/relationships/hyperlink" Target="https://zeusk302-png.github.io/kdigital-physical-ai/#/sessions/2026-10-20/workbook" TargetMode="External" /><ns0:Relationship Id="rIdLink7" Type="http://schemas.openxmlformats.org/officeDocument/2006/relationships/hyperlink" Target="https://zeusk302-png.github.io/kdigital-physical-ai/downloads/2026-10-20/student-examples.zip" TargetMode="External" /><ns0:Relationship Id="rIdLink8" Type="http://schemas.openxmlformats.org/officeDocument/2006/relationships/hyperlink" Target="https://zeusk302-png.github.io/kdigital-physical-ai/#/sessions/2026-10-20/files" TargetMode="External" /></ns0:Relationships>
</file>

<file path=ppt/slides/_rels/slide103.xml.rels><?xml version='1.0' encoding='utf-8'?>
<ns0:Relationships xmlns:ns0="http://schemas.openxmlformats.org/package/2006/relationships"><ns0:Relationship Type="http://schemas.openxmlformats.org/officeDocument/2006/relationships/slideLayout" Target="/ppt/slideLayouts/slideLayout1.xml" Id="R003b7c0b60264d2b" /><ns0:Relationship Type="http://schemas.openxmlformats.org/officeDocument/2006/relationships/notesSlide" Target="/ppt/notesSlides/notesSlide103.xml" Id="R59a9eca97ec74776" /><ns0:Relationship Id="rIdLink1" Type="http://schemas.openxmlformats.org/officeDocument/2006/relationships/hyperlink" Target="https://zeusk302-png.github.io/kdigital-physical-ai/#/sessions/2026-10-20/lesson" TargetMode="External" /><ns0:Relationship Id="rIdLink2" Type="http://schemas.openxmlformats.org/officeDocument/2006/relationships/hyperlink" Target="https://zeusk302-png.github.io/kdigital-physical-ai/#/sessions/2026-10-20/practice" TargetMode="External" /><ns0:Relationship Id="rIdLink3" Type="http://schemas.openxmlformats.org/officeDocument/2006/relationships/hyperlink" Target="https://docs.github.com/en/copilot/concepts/agents/cloud-agent/about-cloud-agent" TargetMode="External" /><ns0:Relationship Id="rIdLink4" Type="http://schemas.openxmlformats.org/officeDocument/2006/relationships/hyperlink" Target="https://docs.github.com/en/copilot/concepts/agents/cloud-agent/about-cloud-agent" TargetMode="External" /><ns0:Relationship Id="rIdLink5" Type="http://schemas.openxmlformats.org/officeDocument/2006/relationships/hyperlink" Target="https://docs.python.org/3/builtins/functions.html#type" TargetMode="External" /><ns0:Relationship Id="rIdLink6" Type="http://schemas.openxmlformats.org/officeDocument/2006/relationships/hyperlink" Target="https://docs.python.org/3/library/unittest.html" TargetMode="External" /></ns0:Relationships>
</file>

<file path=ppt/slides/slide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pic>
        <p:nvPicPr>
          <p:cNvPr id="12" name=""/>
          <p:cNvPicPr>
            <a:picLocks noChangeAspect="1"/>
          </p:cNvPicPr>
          <p:nvPr/>
        </p:nvPicPr>
        <p:blipFill>
          <a:blip r:embed="R685b9318b2bc43b6"/>
          <a:srcRect l="0" t="27" r="0" b="27"/>
          <a:stretch>
            <a:fillRect l="0" t="0" r="0" b="0"/>
          </a:stretch>
        </p:blipFill>
        <p:spPr>
          <a:xfrm>
            <a:off x="0" y="0"/>
            <a:ext cx="12192000" cy="6858000"/>
          </a:xfrm>
          <a:prstGeom prst="rect">
            <a:avLst/>
          </a:prstGeom>
        </p:spPr>
      </p:pic>
      <p:sp>
        <p:nvSpPr>
          <p:cNvPr id="2" name="">
            <a:extLst>
              <a:ext uri="{FF2B5EF4-FFF2-40B4-BE49-F238E27FC236}">
                <ns3:creationId id="{4993B23C-7099-4649-B4D2-1C9ED404CAA2}"/>
              </a:ext>
            </a:extLst>
          </p:cNvPr>
          <p:cNvSpPr>
            <a:spLocks noGrp="1"/>
          </p:cNvSpPr>
          <p:nvPr/>
        </p:nvSpPr>
        <p:spPr>
          <a:xfrm>
            <a:off x="685800" y="733425"/>
            <a:ext cx="5715000" cy="428625"/>
          </a:xfrm>
          <a:prstGeom prst="rect">
            <a:avLst/>
          </a:prstGeom>
          <a:noFill/>
          <a:ln w="0">
            <a:noFill/>
          </a:ln>
        </p:spPr>
        <p:txBody>
          <a:bodyPr wrap="square" lIns="0" tIns="0" rIns="0" bIns="0">
            <a:noAutofit/>
          </a:bodyPr>
          <a:lstStyle/>
          <a:p>
            <a:pPr>
              <a:defRPr sz="1800" b="1">
                <a:solidFill>
                  <a:srgbClr val="08786F"/>
                </a:solidFill>
                <a:latin typeface="Noto Sans KR"/>
                <a:ea typeface="Noto Sans KR"/>
                <a:cs typeface="Noto Sans KR"/>
              </a:defRPr>
            </a:pPr>
            <a:r>
              <a:t>피지컬AI 직무훈련</a:t>
            </a:r>
          </a:p>
        </p:txBody>
      </p:sp>
      <p:sp>
        <p:nvSpPr>
          <p:cNvPr id="3" name="">
            <a:extLst>
              <a:ext uri="{FF2B5EF4-FFF2-40B4-BE49-F238E27FC236}">
                <ns3:creationId id="{475E7A64-F0AE-4B64-922F-6F35EEFC7F24}"/>
              </a:ext>
            </a:extLst>
          </p:cNvPr>
          <p:cNvSpPr>
            <a:spLocks noGrp="1"/>
          </p:cNvSpPr>
          <p:nvPr/>
        </p:nvSpPr>
        <p:spPr>
          <a:xfrm>
            <a:off x="685800" y="1562100"/>
            <a:ext cx="5667375" cy="2571750"/>
          </a:xfrm>
          <a:prstGeom prst="rect">
            <a:avLst/>
          </a:prstGeom>
          <a:noFill/>
          <a:ln w="0">
            <a:noFill/>
          </a:ln>
        </p:spPr>
        <p:txBody>
          <a:bodyPr wrap="square" lIns="0" tIns="0" rIns="0" bIns="0">
            <a:noAutofit/>
          </a:bodyPr>
          <a:lstStyle/>
          <a:p>
            <a:pPr>
              <a:defRPr sz="4650" b="1">
                <a:solidFill>
                  <a:srgbClr val="172F39"/>
                </a:solidFill>
                <a:latin typeface="Noto Sans KR"/>
                <a:ea typeface="Noto Sans KR"/>
                <a:cs typeface="Noto Sans KR"/>
              </a:defRPr>
            </a:pPr>
            <a:r>
              <a:t>AI 코드에이전트</a:t>
            </a:r>
          </a:p>
        </p:txBody>
      </p:sp>
      <p:sp>
        <p:nvSpPr>
          <p:cNvPr id="4" name="">
            <a:extLst>
              <a:ext uri="{FF2B5EF4-FFF2-40B4-BE49-F238E27FC236}">
                <ns3:creationId id="{9D5E9B39-4FDF-4EA5-857F-22D01FF27DD7}"/>
              </a:ext>
            </a:extLst>
          </p:cNvPr>
          <p:cNvSpPr>
            <a:spLocks noGrp="1"/>
          </p:cNvSpPr>
          <p:nvPr/>
        </p:nvSpPr>
        <p:spPr>
          <a:xfrm>
            <a:off x="685800" y="4267200"/>
            <a:ext cx="5619750" cy="395288"/>
          </a:xfrm>
          <a:prstGeom prst="rect">
            <a:avLst/>
          </a:prstGeom>
          <a:noFill/>
          <a:ln w="0">
            <a:noFill/>
          </a:ln>
        </p:spPr>
        <p:txBody>
          <a:bodyPr wrap="square" lIns="0" tIns="0" rIns="0" bIns="0">
            <a:noAutofit/>
          </a:bodyPr>
          <a:lstStyle/>
          <a:p>
            <a:pPr>
              <a:defRPr sz="1875" b="0">
                <a:solidFill>
                  <a:srgbClr val="52636B"/>
                </a:solidFill>
                <a:latin typeface="Noto Sans KR"/>
                <a:ea typeface="Noto Sans KR"/>
                <a:cs typeface="Noto Sans KR"/>
              </a:defRPr>
            </a:pPr>
            <a:r>
              <a:t>2026-10-20</a:t>
            </a:r>
          </a:p>
        </p:txBody>
      </p:sp>
      <p:sp>
        <p:nvSpPr>
          <p:cNvPr id="5" name="">
            <a:extLst>
              <a:ext uri="{FF2B5EF4-FFF2-40B4-BE49-F238E27FC236}">
                <ns3:creationId id="{0A63DF2E-6182-41DD-BE36-F41E0E928706}"/>
              </a:ext>
            </a:extLst>
          </p:cNvPr>
          <p:cNvSpPr>
            <a:spLocks noGrp="1"/>
          </p:cNvSpPr>
          <p:nvPr/>
        </p:nvSpPr>
        <p:spPr>
          <a:xfrm>
            <a:off x="685800" y="4710113"/>
            <a:ext cx="5619750" cy="395288"/>
          </a:xfrm>
          <a:prstGeom prst="rect">
            <a:avLst/>
          </a:prstGeom>
          <a:noFill/>
          <a:ln w="0">
            <a:noFill/>
          </a:ln>
        </p:spPr>
        <p:txBody>
          <a:bodyPr wrap="square" lIns="0" tIns="0" rIns="0" bIns="0">
            <a:noAutofit/>
          </a:bodyPr>
          <a:lstStyle/>
          <a:p>
            <a:pPr>
              <a:defRPr sz="1875" b="0">
                <a:solidFill>
                  <a:srgbClr val="52636B"/>
                </a:solidFill>
                <a:latin typeface="Noto Sans KR"/>
                <a:ea typeface="Noto Sans KR"/>
                <a:cs typeface="Noto Sans KR"/>
              </a:defRPr>
            </a:pPr>
            <a:r>
              <a:t>예제 파일을 고치고 결과를 확인합니다.</a:t>
            </a:r>
          </a:p>
        </p:txBody>
      </p:sp>
      <p:sp>
        <p:nvSpPr>
          <p:cNvPr id="6" name="">
            <a:extLst>
              <a:ext uri="{FF2B5EF4-FFF2-40B4-BE49-F238E27FC236}">
                <ns3:creationId id="{2E66DD09-03DC-4499-81AF-C7ADE396FF1E}"/>
              </a:ext>
            </a:extLst>
          </p:cNvPr>
          <p:cNvSpPr>
            <a:spLocks noGrp="1"/>
          </p:cNvSpPr>
          <p:nvPr/>
        </p:nvSpPr>
        <p:spPr>
          <a:xfrm>
            <a:off x="685800" y="5153025"/>
            <a:ext cx="5619750" cy="395288"/>
          </a:xfrm>
          <a:prstGeom prst="rect">
            <a:avLst/>
          </a:prstGeom>
          <a:noFill/>
          <a:ln w="0">
            <a:noFill/>
          </a:ln>
        </p:spPr>
        <p:txBody>
          <a:bodyPr wrap="square" lIns="0" tIns="0" rIns="0" bIns="0">
            <a:noAutofit/>
          </a:bodyPr>
          <a:lstStyle/>
          <a:p>
            <a:pPr>
              <a:defRPr sz="1875" b="0">
                <a:solidFill>
                  <a:srgbClr val="52636B"/>
                </a:solidFill>
                <a:latin typeface="Noto Sans KR"/>
                <a:ea typeface="Noto Sans KR"/>
                <a:cs typeface="Noto Sans KR"/>
              </a:defRPr>
            </a:pPr>
            <a:r>
              <a:t>50분 수업 6교시로 진행합니다.</a:t>
            </a:r>
          </a:p>
        </p:txBody>
      </p:sp>
      <p:sp>
        <p:nvSpPr>
          <p:cNvPr id="7" name="">
            <a:extLst>
              <a:ext uri="{FF2B5EF4-FFF2-40B4-BE49-F238E27FC236}">
                <ns3:creationId id="{CDE19D68-32F9-4878-BF2A-C6431A70D252}"/>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3:creationId id="{84A70D60-94E1-41CA-8A92-1AB70F76E75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3:creationId id="{13B98444-3CBC-42E2-9A55-748C3F03753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3:creationId id="{F78C1BB3-9C0B-49A8-9C30-2A34F446CF8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3:creationId id="{76D06848-C994-4E12-A499-72C33FB30D7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001</a:t>
            </a:r>
          </a:p>
        </p:txBody>
      </p:sp>
    </p:spTree>
    <p:extLst>
      <p:ext uri="{BB962C8B-B14F-4D97-AF65-F5344CB8AC3E}">
        <ns4:creationId val="1286807674"/>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5" name="">
            <a:extLst>
              <a:ext uri="{FF2B5EF4-FFF2-40B4-BE49-F238E27FC236}">
                <ns2:creationId id="{159FB760-EB39-4A61-B9EC-3AF8AB8E7AB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10/20 수업</a:t>
            </a:r>
          </a:p>
        </p:txBody>
      </p:sp>
      <p:sp>
        <p:nvSpPr>
          <p:cNvPr id="2" name="">
            <a:extLst>
              <a:ext uri="{FF2B5EF4-FFF2-40B4-BE49-F238E27FC236}">
                <ns2:creationId id="{E75DE1ED-FF68-4C4B-A78A-D7F3D0DCD88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실습 파일부터 열어 봅시다</a:t>
            </a:r>
          </a:p>
        </p:txBody>
      </p:sp>
      <p:sp>
        <p:nvSpPr>
          <p:cNvPr id="3" name="">
            <a:extLst>
              <a:ext uri="{FF2B5EF4-FFF2-40B4-BE49-F238E27FC236}">
                <ns2:creationId id="{8030B418-9E6B-4BE9-AA7C-AFBC32D7F975}"/>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A31E861E-E31C-458A-8D00-90BEF7A6313B}"/>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ZIP을 일반 폴더에 풉니다.</a:t>
            </a:r>
          </a:p>
        </p:txBody>
      </p:sp>
      <p:sp>
        <p:nvSpPr>
          <p:cNvPr id="5" name="">
            <a:extLst>
              <a:ext uri="{FF2B5EF4-FFF2-40B4-BE49-F238E27FC236}">
                <ns2:creationId id="{3197D51C-6FED-4EE2-8193-280EC9C8B5F6}"/>
              </a:ext>
            </a:extLst>
          </p:cNvPr>
          <p:cNvSpPr>
            <a:spLocks noGrp="1"/>
          </p:cNvSpPr>
          <p:nvPr/>
        </p:nvSpPr>
        <p:spPr>
          <a:xfrm>
            <a:off x="685800" y="286131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course의 code·data·work를 찾습니다.</a:t>
            </a:r>
          </a:p>
        </p:txBody>
      </p:sp>
      <p:sp>
        <p:nvSpPr>
          <p:cNvPr id="6" name="">
            <a:extLst>
              <a:ext uri="{FF2B5EF4-FFF2-40B4-BE49-F238E27FC236}">
                <ns2:creationId id="{8A6A633A-231E-4234-B660-9018D1B20127}"/>
              </a:ext>
            </a:extLst>
          </p:cNvPr>
          <p:cNvSpPr>
            <a:spLocks noGrp="1"/>
          </p:cNvSpPr>
          <p:nvPr/>
        </p:nvSpPr>
        <p:spPr>
          <a:xfrm>
            <a:off x="685800" y="369760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work만 수정하고 원본을 보존합니다.</a:t>
            </a:r>
          </a:p>
        </p:txBody>
      </p:sp>
      <p:sp>
        <p:nvSpPr>
          <p:cNvPr id="7" name="">
            <a:extLst>
              <a:ext uri="{FF2B5EF4-FFF2-40B4-BE49-F238E27FC236}">
                <ns2:creationId id="{75CB6B1C-A349-4934-A2A5-6FAD894A3185}"/>
              </a:ext>
            </a:extLst>
          </p:cNvPr>
          <p:cNvSpPr>
            <a:spLocks noGrp="1"/>
          </p:cNvSpPr>
          <p:nvPr/>
        </p:nvSpPr>
        <p:spPr>
          <a:xfrm>
            <a:off x="685800" y="419671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저장과 실행을 구별합니다.</a:t>
            </a:r>
          </a:p>
        </p:txBody>
      </p:sp>
      <p:sp>
        <p:nvSpPr>
          <p:cNvPr id="8" name="">
            <a:extLst>
              <a:ext uri="{FF2B5EF4-FFF2-40B4-BE49-F238E27FC236}">
                <ns2:creationId id="{6F5F95B4-3E8E-4FEA-B152-D17D0F6266B9}"/>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실제 파일을 고르는 위치</a:t>
            </a:r>
          </a:p>
        </p:txBody>
      </p:sp>
      <p:graphicFrame>
        <p:nvGraphicFramePr>
          <p:cNvPr id="23" name=""/>
          <p:cNvGraphicFramePr/>
          <p:nvPr/>
        </p:nvGraphicFramePr>
        <p:xfrm>
          <a:off x="6267450" y="2628900"/>
          <a:ext cx="5238750" cy="2057400"/>
        </p:xfrm>
        <a:graphic>
          <a:graphicData uri="http://schemas.openxmlformats.org/drawingml/2006/table">
            <a:tbl>
              <a:tblPr firstRow="1" bandRow="0"/>
              <a:tblGrid>
                <a:gridCol w="2036863"/>
                <a:gridCol w="3201887"/>
              </a:tblGrid>
              <a:tr h="514350">
                <a:tc>
                  <a:txBody>
                    <a:bodyPr wrap="square"/>
                    <a:lstStyle/>
                    <a:p>
                      <a:pPr>
                        <a:lnSpc>
                          <a:spcPct val="102000"/>
                        </a:lnSpc>
                        <a:buNone/>
                      </a:pPr>
                      <a:r>
                        <a:rPr sz="1875" b="1">
                          <a:solidFill>
                            <a:srgbClr val="172F39"/>
                          </a:solidFill>
                          <a:latin typeface="Noto Sans KR"/>
                          <a:ea typeface="Noto Sans KR"/>
                          <a:cs typeface="Noto Sans KR"/>
                        </a:rPr>
                        <a:t>폴더</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역할</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code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제공 원본</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data</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제공 입력</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work</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학생 수정본</a:t>
                      </a:r>
                    </a:p>
                  </a:txBody>
                  <a:tcPr marL="114300" marR="114300" marT="76200" marB="76200" anchor="ctr">
                    <a:solidFill>
                      <a:srgbClr val="FFFFFF"/>
                    </a:solidFill>
                  </a:tcPr>
                </a:tc>
              </a:tr>
            </a:tbl>
          </a:graphicData>
        </a:graphic>
      </p:graphicFrame>
      <p:sp>
        <p:nvSpPr>
          <p:cNvPr id="10" name="">
            <a:extLst>
              <a:ext uri="{FF2B5EF4-FFF2-40B4-BE49-F238E27FC236}">
                <ns2:creationId id="{76EBABF9-2470-4F30-BC14-55B31064B7C2}"/>
              </a:ext>
            </a:extLst>
          </p:cNvPr>
          <p:cNvSpPr>
            <a:spLocks noGrp="1"/>
          </p:cNvSpPr>
          <p:nvPr/>
        </p:nvSpPr>
        <p:spPr>
          <a:xfrm>
            <a:off x="685800" y="6172200"/>
            <a:ext cx="10820400" cy="9525"/>
          </a:xfrm>
          <a:prstGeom prst="rect">
            <a:avLst/>
          </a:prstGeom>
          <a:solidFill>
            <a:srgbClr val="D5DEDD"/>
          </a:solidFill>
          <a:ln w="0">
            <a:noFill/>
          </a:ln>
        </p:spPr>
      </p:sp>
      <p:sp>
        <p:nvSpPr>
          <p:cNvPr id="11" name="">
            <a:extLst>
              <a:ext uri="{FF2B5EF4-FFF2-40B4-BE49-F238E27FC236}">
                <ns2:creationId id="{98B9B0AA-588F-4708-978E-D02DCF3A403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2" name="">
            <a:extLst>
              <a:ext uri="{FF2B5EF4-FFF2-40B4-BE49-F238E27FC236}">
                <ns2:creationId id="{DED06537-6B48-41F4-94C4-CCCE6C111FE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3" name="">
            <a:extLst>
              <a:ext uri="{FF2B5EF4-FFF2-40B4-BE49-F238E27FC236}">
                <ns2:creationId id="{7584A762-2937-40FB-8D34-7337732C679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4" name="">
            <a:extLst>
              <a:ext uri="{FF2B5EF4-FFF2-40B4-BE49-F238E27FC236}">
                <ns2:creationId id="{EA5F619B-07F8-4217-9CCD-5CE3D807F81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002</a:t>
            </a:r>
          </a:p>
        </p:txBody>
      </p:sp>
    </p:spTree>
    <p:extLst>
      <p:ext uri="{BB962C8B-B14F-4D97-AF65-F5344CB8AC3E}">
        <ns4:creationId val="244104880"/>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6" name="">
            <a:extLst>
              <a:ext uri="{FF2B5EF4-FFF2-40B4-BE49-F238E27FC236}">
                <ns2:creationId id="{21143B47-B189-4F6F-8CF9-61E61A5827E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10/20 수업</a:t>
            </a:r>
          </a:p>
        </p:txBody>
      </p:sp>
      <p:sp>
        <p:nvSpPr>
          <p:cNvPr id="2" name="">
            <a:extLst>
              <a:ext uri="{FF2B5EF4-FFF2-40B4-BE49-F238E27FC236}">
                <ns2:creationId id="{E95E040D-8247-434B-8489-73BDCFC4029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결과를 어떻게 확인했나요?</a:t>
            </a:r>
          </a:p>
        </p:txBody>
      </p:sp>
      <p:sp>
        <p:nvSpPr>
          <p:cNvPr id="3" name="">
            <a:extLst>
              <a:ext uri="{FF2B5EF4-FFF2-40B4-BE49-F238E27FC236}">
                <ns2:creationId id="{24DF7B61-6B3A-4E26-BDED-E7883B01E002}"/>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F90BB6CD-4A9E-4457-B44E-61C18C5CECC3}"/>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직접 실행했는지, 시연을 봤는지 적습니다.</a:t>
            </a:r>
          </a:p>
        </p:txBody>
      </p:sp>
      <p:sp>
        <p:nvSpPr>
          <p:cNvPr id="5" name="">
            <a:extLst>
              <a:ext uri="{FF2B5EF4-FFF2-40B4-BE49-F238E27FC236}">
                <ns2:creationId id="{953D1C85-6131-4D1D-AE05-C5D0FE23B057}"/>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실행 전에 넣을 값과 나올 결과를 적습니다.</a:t>
            </a:r>
          </a:p>
        </p:txBody>
      </p:sp>
      <p:sp>
        <p:nvSpPr>
          <p:cNvPr id="6" name="">
            <a:extLst>
              <a:ext uri="{FF2B5EF4-FFF2-40B4-BE49-F238E27FC236}">
                <ns2:creationId id="{020060CB-5AF8-4417-BF17-E89EEC325CFF}"/>
              </a:ext>
            </a:extLst>
          </p:cNvPr>
          <p:cNvSpPr>
            <a:spLocks noGrp="1"/>
          </p:cNvSpPr>
          <p:nvPr/>
        </p:nvSpPr>
        <p:spPr>
          <a:xfrm>
            <a:off x="685800" y="403479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실제 결과를 적고, 예상과 다른 곳을 찾습니다.</a:t>
            </a:r>
          </a:p>
        </p:txBody>
      </p:sp>
      <p:sp>
        <p:nvSpPr>
          <p:cNvPr id="7" name="">
            <a:extLst>
              <a:ext uri="{FF2B5EF4-FFF2-40B4-BE49-F238E27FC236}">
                <ns2:creationId id="{B526A271-25C1-4D87-8617-E372D62231D4}"/>
              </a:ext>
            </a:extLst>
          </p:cNvPr>
          <p:cNvSpPr>
            <a:spLocks noGrp="1"/>
          </p:cNvSpPr>
          <p:nvPr/>
        </p:nvSpPr>
        <p:spPr>
          <a:xfrm>
            <a:off x="685800" y="48710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코드를 읽고 계산했다면 그 방법도 적습니다.</a:t>
            </a:r>
          </a:p>
        </p:txBody>
      </p:sp>
      <p:sp>
        <p:nvSpPr>
          <p:cNvPr id="8" name="">
            <a:extLst>
              <a:ext uri="{FF2B5EF4-FFF2-40B4-BE49-F238E27FC236}">
                <ns2:creationId id="{50AB894E-931D-4191-8AE9-431D05F2C382}"/>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이번 자료에서 확인하는 결과</a:t>
            </a:r>
          </a:p>
        </p:txBody>
      </p:sp>
      <p:sp>
        <p:nvSpPr>
          <p:cNvPr id="9" name="">
            <a:extLst>
              <a:ext uri="{FF2B5EF4-FFF2-40B4-BE49-F238E27FC236}">
                <ns2:creationId id="{69762862-E064-44EC-81EA-944B6F9C58E0}"/>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classify(28) → 주의</a:t>
            </a:r>
          </a:p>
        </p:txBody>
      </p:sp>
      <p:sp>
        <p:nvSpPr>
          <p:cNvPr id="10" name="">
            <a:extLst>
              <a:ext uri="{FF2B5EF4-FFF2-40B4-BE49-F238E27FC236}">
                <ns2:creationId id="{E02FD139-8C82-4B6F-A8AB-89354061C280}"/>
              </a:ext>
            </a:extLst>
          </p:cNvPr>
          <p:cNvSpPr>
            <a:spLocks noGrp="1"/>
          </p:cNvSpPr>
          <p:nvPr/>
        </p:nvSpPr>
        <p:spPr>
          <a:xfrm>
            <a:off x="6267450" y="3116771"/>
            <a:ext cx="5238750" cy="766191"/>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수행 방법: 직접 실행 / 시연 관찰 / 수동 추적</a:t>
            </a:r>
          </a:p>
        </p:txBody>
      </p:sp>
      <p:sp>
        <p:nvSpPr>
          <p:cNvPr id="11" name="">
            <a:extLst>
              <a:ext uri="{FF2B5EF4-FFF2-40B4-BE49-F238E27FC236}">
                <ns2:creationId id="{8C15833A-1D08-4A02-8B63-6EB08DADBF6E}"/>
              </a:ext>
            </a:extLst>
          </p:cNvPr>
          <p:cNvSpPr>
            <a:spLocks noGrp="1"/>
          </p:cNvSpPr>
          <p:nvPr/>
        </p:nvSpPr>
        <p:spPr>
          <a:xfrm>
            <a:off x="685800" y="6172200"/>
            <a:ext cx="10820400" cy="9525"/>
          </a:xfrm>
          <a:prstGeom prst="rect">
            <a:avLst/>
          </a:prstGeom>
          <a:solidFill>
            <a:srgbClr val="D5DEDD"/>
          </a:solidFill>
          <a:ln w="0">
            <a:noFill/>
          </a:ln>
        </p:spPr>
      </p:sp>
      <p:sp>
        <p:nvSpPr>
          <p:cNvPr id="12" name="">
            <a:extLst>
              <a:ext uri="{FF2B5EF4-FFF2-40B4-BE49-F238E27FC236}">
                <ns2:creationId id="{E1EB2F15-5DE9-429B-9A45-0070BDC3512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3" name="">
            <a:extLst>
              <a:ext uri="{FF2B5EF4-FFF2-40B4-BE49-F238E27FC236}">
                <ns2:creationId id="{2A01E0BA-FBCD-40B8-BE9C-7462323D7ED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4" name="">
            <a:extLst>
              <a:ext uri="{FF2B5EF4-FFF2-40B4-BE49-F238E27FC236}">
                <ns2:creationId id="{EBD56F73-D6EA-490B-8B75-67FA5A15416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5" name="">
            <a:extLst>
              <a:ext uri="{FF2B5EF4-FFF2-40B4-BE49-F238E27FC236}">
                <ns2:creationId id="{C42A8456-8B27-4E7F-AFAD-BFEC94E0C09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003</a:t>
            </a:r>
          </a:p>
        </p:txBody>
      </p:sp>
    </p:spTree>
    <p:extLst>
      <p:ext uri="{BB962C8B-B14F-4D97-AF65-F5344CB8AC3E}">
        <ns4:creationId val="1641953350"/>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6" name="">
            <a:extLst>
              <a:ext uri="{FF2B5EF4-FFF2-40B4-BE49-F238E27FC236}">
                <ns2:creationId id="{B3927C2B-4028-4BC9-A267-3994D2AF0D9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10/20 수업</a:t>
            </a:r>
          </a:p>
        </p:txBody>
      </p:sp>
      <p:sp>
        <p:nvSpPr>
          <p:cNvPr id="2" name="">
            <a:extLst>
              <a:ext uri="{FF2B5EF4-FFF2-40B4-BE49-F238E27FC236}">
                <ns2:creationId id="{C72F300A-0A14-424B-881B-54850D45538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오늘의 수업과 추가 복습</a:t>
            </a:r>
          </a:p>
        </p:txBody>
      </p:sp>
      <p:sp>
        <p:nvSpPr>
          <p:cNvPr id="3" name="">
            <a:extLst>
              <a:ext uri="{FF2B5EF4-FFF2-40B4-BE49-F238E27FC236}">
                <ns2:creationId id="{E686A12F-A929-4FE5-9F38-0763087A608E}"/>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5B0299E1-A506-480C-96DC-9579886356C1}"/>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10:00~17:00에 수업과 휴식을 진행합니다.</a:t>
            </a:r>
          </a:p>
        </p:txBody>
      </p:sp>
      <p:sp>
        <p:nvSpPr>
          <p:cNvPr id="5" name="">
            <a:extLst>
              <a:ext uri="{FF2B5EF4-FFF2-40B4-BE49-F238E27FC236}">
                <ns2:creationId id="{82C069FD-07F6-42CD-A10D-D4D7C55077A1}"/>
              </a:ext>
            </a:extLst>
          </p:cNvPr>
          <p:cNvSpPr>
            <a:spLocks noGrp="1"/>
          </p:cNvSpPr>
          <p:nvPr/>
        </p:nvSpPr>
        <p:spPr>
          <a:xfrm>
            <a:off x="685800" y="31984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중식은 11:50~13:00입니다.</a:t>
            </a:r>
          </a:p>
        </p:txBody>
      </p:sp>
      <p:sp>
        <p:nvSpPr>
          <p:cNvPr id="6" name="">
            <a:extLst>
              <a:ext uri="{FF2B5EF4-FFF2-40B4-BE49-F238E27FC236}">
                <ns2:creationId id="{31BFB83E-5F83-48D7-9640-1E3B8343A4D6}"/>
              </a:ext>
            </a:extLst>
          </p:cNvPr>
          <p:cNvSpPr>
            <a:spLocks noGrp="1"/>
          </p:cNvSpPr>
          <p:nvPr/>
        </p:nvSpPr>
        <p:spPr>
          <a:xfrm>
            <a:off x="685800" y="369760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수업 활동을 마치면 추가 문제를 풀어 봅니다.</a:t>
            </a:r>
          </a:p>
        </p:txBody>
      </p:sp>
      <p:sp>
        <p:nvSpPr>
          <p:cNvPr id="7" name="">
            <a:extLst>
              <a:ext uri="{FF2B5EF4-FFF2-40B4-BE49-F238E27FC236}">
                <ns2:creationId id="{9552AEA3-AF81-4CB9-A953-653C48731386}"/>
              </a:ext>
            </a:extLst>
          </p:cNvPr>
          <p:cNvSpPr>
            <a:spLocks noGrp="1"/>
          </p:cNvSpPr>
          <p:nvPr/>
        </p:nvSpPr>
        <p:spPr>
          <a:xfrm>
            <a:off x="685800" y="45339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추가 문제는 수업 뒤에도 이어서 풀 수 있습니다.</a:t>
            </a:r>
          </a:p>
        </p:txBody>
      </p:sp>
      <p:sp>
        <p:nvSpPr>
          <p:cNvPr id="8" name="">
            <a:extLst>
              <a:ext uri="{FF2B5EF4-FFF2-40B4-BE49-F238E27FC236}">
                <ns2:creationId id="{0EF9CFAB-6A4C-4C7D-93A9-12C425F7F3C9}"/>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오늘 다룰 실제 자료</a:t>
            </a:r>
          </a:p>
        </p:txBody>
      </p:sp>
      <p:sp>
        <p:nvSpPr>
          <p:cNvPr id="9" name="">
            <a:extLst>
              <a:ext uri="{FF2B5EF4-FFF2-40B4-BE49-F238E27FC236}">
                <ns2:creationId id="{2B160E6D-3DCB-44B3-A3C7-FF3A520286AC}"/>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50분 × 6교시</a:t>
            </a:r>
          </a:p>
        </p:txBody>
      </p:sp>
      <p:sp>
        <p:nvSpPr>
          <p:cNvPr id="10" name="">
            <a:extLst>
              <a:ext uri="{FF2B5EF4-FFF2-40B4-BE49-F238E27FC236}">
                <ns2:creationId id="{1F2570F8-A975-4B84-B5E7-8E0D087777BB}"/>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중식 11:50~13:00</a:t>
            </a:r>
          </a:p>
        </p:txBody>
      </p:sp>
      <p:sp>
        <p:nvSpPr>
          <p:cNvPr id="11" name="">
            <a:extLst>
              <a:ext uri="{FF2B5EF4-FFF2-40B4-BE49-F238E27FC236}">
                <ns2:creationId id="{D5CEAEB5-59DB-4EF7-9EBF-00FBEC91C216}"/>
              </a:ext>
            </a:extLst>
          </p:cNvPr>
          <p:cNvSpPr>
            <a:spLocks noGrp="1"/>
          </p:cNvSpPr>
          <p:nvPr/>
        </p:nvSpPr>
        <p:spPr>
          <a:xfrm>
            <a:off x="685800" y="6172200"/>
            <a:ext cx="10820400" cy="9525"/>
          </a:xfrm>
          <a:prstGeom prst="rect">
            <a:avLst/>
          </a:prstGeom>
          <a:solidFill>
            <a:srgbClr val="D5DEDD"/>
          </a:solidFill>
          <a:ln w="0">
            <a:noFill/>
          </a:ln>
        </p:spPr>
      </p:sp>
      <p:sp>
        <p:nvSpPr>
          <p:cNvPr id="12" name="">
            <a:extLst>
              <a:ext uri="{FF2B5EF4-FFF2-40B4-BE49-F238E27FC236}">
                <ns2:creationId id="{F1951922-B390-421A-9810-4F35DC54823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3" name="">
            <a:extLst>
              <a:ext uri="{FF2B5EF4-FFF2-40B4-BE49-F238E27FC236}">
                <ns2:creationId id="{B540589D-5215-440A-9BC3-69EEE2634FC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4" name="">
            <a:extLst>
              <a:ext uri="{FF2B5EF4-FFF2-40B4-BE49-F238E27FC236}">
                <ns2:creationId id="{02E4C67A-B4CA-42EB-9CD7-02AF3882115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5" name="">
            <a:extLst>
              <a:ext uri="{FF2B5EF4-FFF2-40B4-BE49-F238E27FC236}">
                <ns2:creationId id="{15AC1E68-7575-4314-B2DA-DB1A401AC4A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004</a:t>
            </a:r>
          </a:p>
        </p:txBody>
      </p:sp>
    </p:spTree>
    <p:extLst>
      <p:ext uri="{BB962C8B-B14F-4D97-AF65-F5344CB8AC3E}">
        <ns4:creationId val="561442204"/>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9F80E1E4-8077-4571-8722-CA1306ABD9AF}"/>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1교시</a:t>
            </a:r>
          </a:p>
        </p:txBody>
      </p:sp>
      <p:sp>
        <p:nvSpPr>
          <p:cNvPr id="2" name="">
            <a:extLst>
              <a:ext uri="{FF2B5EF4-FFF2-40B4-BE49-F238E27FC236}">
                <ns2:creationId id="{4571298C-F51A-4037-B0AF-C07B21886AED}"/>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작업을 맡기는 방법</a:t>
            </a:r>
          </a:p>
        </p:txBody>
      </p:sp>
      <p:sp>
        <p:nvSpPr>
          <p:cNvPr id="3" name="">
            <a:extLst>
              <a:ext uri="{FF2B5EF4-FFF2-40B4-BE49-F238E27FC236}">
                <ns2:creationId id="{6996C5AA-8A60-4FD3-B951-0A9C535319B4}"/>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50분 수업입니다.</a:t>
            </a:r>
          </a:p>
        </p:txBody>
      </p:sp>
      <p:sp>
        <p:nvSpPr>
          <p:cNvPr id="4" name="">
            <a:extLst>
              <a:ext uri="{FF2B5EF4-FFF2-40B4-BE49-F238E27FC236}">
                <ns2:creationId id="{58A4113A-EFE0-4CC6-9335-228140903328}"/>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예제를 함께 보고 따라 해 봅니다.</a:t>
            </a:r>
          </a:p>
        </p:txBody>
      </p:sp>
      <p:sp>
        <p:nvSpPr>
          <p:cNvPr id="5" name="">
            <a:extLst>
              <a:ext uri="{FF2B5EF4-FFF2-40B4-BE49-F238E27FC236}">
                <ns2:creationId id="{46E45389-8D0B-4E80-A98C-797A3A9A914D}"/>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결과가 예상과 같은지 확인해 봅니다.</a:t>
            </a:r>
          </a:p>
        </p:txBody>
      </p:sp>
      <p:sp>
        <p:nvSpPr>
          <p:cNvPr id="6" name="">
            <a:extLst>
              <a:ext uri="{FF2B5EF4-FFF2-40B4-BE49-F238E27FC236}">
                <ns2:creationId id="{8929D2DC-237E-4073-8428-C251FA8BDDC3}"/>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69E87F1B-D900-41CA-8F68-DA68B8AAFA0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5393FC61-E481-4E05-BF05-36ED032907A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AE6D8C1C-D026-4C4A-AFB1-03BAD99A1FE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448BD943-EA8E-415E-9DEF-28A9D86CC4C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005</a:t>
            </a:r>
          </a:p>
        </p:txBody>
      </p:sp>
    </p:spTree>
    <p:extLst>
      <p:ext uri="{BB962C8B-B14F-4D97-AF65-F5344CB8AC3E}">
        <ns4:creationId val="169808533"/>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759A8485-1DA0-415E-B1AC-263D2EBFEAD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0D972222-7B4F-4327-88C8-0C99C1FE236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AI가 할 수 있는 일과 맡길 일</a:t>
            </a:r>
          </a:p>
        </p:txBody>
      </p:sp>
      <p:sp>
        <p:nvSpPr>
          <p:cNvPr id="3" name="">
            <a:extLst>
              <a:ext uri="{FF2B5EF4-FFF2-40B4-BE49-F238E27FC236}">
                <ns2:creationId id="{30C35BA0-6B0D-4022-B95A-4D3B5D0FD0E3}"/>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실행할 수 있는 행동</a:t>
            </a:r>
          </a:p>
        </p:txBody>
      </p:sp>
      <p:sp>
        <p:nvSpPr>
          <p:cNvPr id="4" name="">
            <a:extLst>
              <a:ext uri="{FF2B5EF4-FFF2-40B4-BE49-F238E27FC236}">
                <ns2:creationId id="{2AF46BFF-107F-4232-9E17-C934AA14BF2F}"/>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도구가 실행할 수 있어도 모두 허용하지 않습니다.</a:t>
            </a:r>
          </a:p>
        </p:txBody>
      </p:sp>
      <p:sp>
        <p:nvSpPr>
          <p:cNvPr id="5" name="">
            <a:extLst>
              <a:ext uri="{FF2B5EF4-FFF2-40B4-BE49-F238E27FC236}">
                <ns2:creationId id="{8EF397A0-E993-4AB1-BA6B-BC0390F2062C}"/>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이 작업에 필요한 가상 자료만 건넵니다.</a:t>
            </a:r>
          </a:p>
        </p:txBody>
      </p:sp>
      <p:sp>
        <p:nvSpPr>
          <p:cNvPr id="6" name="">
            <a:extLst>
              <a:ext uri="{FF2B5EF4-FFF2-40B4-BE49-F238E27FC236}">
                <ns2:creationId id="{C5F3DC08-098C-49F5-BCC2-63626C6FDC19}"/>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이번 수업의 역할</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1730102"/>
                <a:gridCol w="3508648"/>
              </a:tblGrid>
              <a:tr h="514350">
                <a:tc>
                  <a:txBody>
                    <a:bodyPr wrap="square"/>
                    <a:lstStyle/>
                    <a:p>
                      <a:pPr>
                        <a:lnSpc>
                          <a:spcPct val="102000"/>
                        </a:lnSpc>
                        <a:buNone/>
                      </a:pPr>
                      <a:r>
                        <a:rPr sz="1875" b="1">
                          <a:solidFill>
                            <a:srgbClr val="172F39"/>
                          </a:solidFill>
                          <a:latin typeface="Noto Sans KR"/>
                          <a:ea typeface="Noto Sans KR"/>
                          <a:cs typeface="Noto Sans KR"/>
                        </a:rPr>
                        <a:t>역할</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맡는 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AI</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읽기·수정·실행</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사람</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요구·권한·검토</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오늘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제공 응답 비교</a:t>
                      </a:r>
                    </a:p>
                  </a:txBody>
                  <a:tcPr marL="114300" marR="114300" marT="76200" marB="76200" anchor="ctr">
                    <a:solidFill>
                      <a:srgbClr val="FFFFFF"/>
                    </a:solidFill>
                  </a:tcPr>
                </a:tc>
              </a:tr>
            </a:tbl>
          </a:graphicData>
        </a:graphic>
      </p:graphicFrame>
      <p:sp>
        <p:nvSpPr>
          <p:cNvPr id="8" name="">
            <a:extLst>
              <a:ext uri="{FF2B5EF4-FFF2-40B4-BE49-F238E27FC236}">
                <ns2:creationId id="{2E243548-71DE-4D60-B246-CAD7413129AD}"/>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E955E70F-2461-4241-8F93-468D1BF28EF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82F855EC-B0E9-4B22-8BF8-8816803759E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B9230E74-B8B8-4446-8602-9616D0CAA51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02A37ABD-FEEF-4CFB-ADE2-7C9472B202C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006</a:t>
            </a:r>
          </a:p>
        </p:txBody>
      </p:sp>
    </p:spTree>
    <p:extLst>
      <p:ext uri="{BB962C8B-B14F-4D97-AF65-F5344CB8AC3E}">
        <ns4:creationId val="1396260079"/>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3BD45502-8AC1-4B69-908D-0201ABF7F5A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A6E864F5-F44B-4A35-BACB-3464515BA34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A01  AI와 사람의 역할</a:t>
            </a:r>
          </a:p>
        </p:txBody>
      </p:sp>
      <p:sp>
        <p:nvSpPr>
          <p:cNvPr id="3" name="">
            <a:extLst>
              <a:ext uri="{FF2B5EF4-FFF2-40B4-BE49-F238E27FC236}">
                <ns2:creationId id="{0747AE84-2E4E-4FE4-82AD-50B01CA8D7E1}"/>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AI가 수행할 일</a:t>
            </a:r>
          </a:p>
        </p:txBody>
      </p:sp>
      <p:sp>
        <p:nvSpPr>
          <p:cNvPr id="4" name="">
            <a:extLst>
              <a:ext uri="{FF2B5EF4-FFF2-40B4-BE49-F238E27FC236}">
                <ns2:creationId id="{7C1AE50E-2812-481E-8BF3-115025147832}"/>
              </a:ext>
            </a:extLst>
          </p:cNvPr>
          <p:cNvSpPr>
            <a:spLocks noGrp="1"/>
          </p:cNvSpPr>
          <p:nvPr/>
        </p:nvSpPr>
        <p:spPr>
          <a:xfrm>
            <a:off x="685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AI 도구는 허용된 파일과 명령을 사용합니다.</a:t>
            </a:r>
          </a:p>
        </p:txBody>
      </p:sp>
      <p:sp>
        <p:nvSpPr>
          <p:cNvPr id="5" name="">
            <a:extLst>
              <a:ext uri="{FF2B5EF4-FFF2-40B4-BE49-F238E27FC236}">
                <ns2:creationId id="{28ED2444-59BF-4F84-9BE1-52A63B08DCDC}"/>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사람이 결정할 일</a:t>
            </a:r>
          </a:p>
        </p:txBody>
      </p:sp>
      <p:sp>
        <p:nvSpPr>
          <p:cNvPr id="6" name="">
            <a:extLst>
              <a:ext uri="{FF2B5EF4-FFF2-40B4-BE49-F238E27FC236}">
                <ns2:creationId id="{491002A4-C646-407A-973D-9A3B493900A7}"/>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사람은 업무 규칙과 확인 범위를 결정합니다.</a:t>
            </a:r>
          </a:p>
        </p:txBody>
      </p:sp>
      <p:sp>
        <p:nvSpPr>
          <p:cNvPr id="7" name="">
            <a:extLst>
              <a:ext uri="{FF2B5EF4-FFF2-40B4-BE49-F238E27FC236}">
                <ns2:creationId id="{29EEB5C0-A716-4A8C-AD80-81C8EBD24DFD}"/>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87A49676-BB64-4E80-B19B-7E287845388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5932BDB3-E6A2-495E-9CDF-37D50D76AEA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14F3AEB6-9E98-4225-AC6F-366129DE97E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E2A6903C-CFE1-4F20-8CC5-BA0CA6DD28A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007</a:t>
            </a:r>
          </a:p>
        </p:txBody>
      </p:sp>
    </p:spTree>
    <p:extLst>
      <p:ext uri="{BB962C8B-B14F-4D97-AF65-F5344CB8AC3E}">
        <ns4:creationId val="161254561"/>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012C00C6-D0EB-46C1-931D-DACBCC60DB8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5F0E188D-21A6-4B8C-93D0-893B4387715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AI와 사람의 역할의 예</a:t>
            </a:r>
          </a:p>
        </p:txBody>
      </p:sp>
      <p:graphicFrame>
        <p:nvGraphicFramePr>
          <p:cNvPr id="12" name=""/>
          <p:cNvGraphicFramePr/>
          <p:nvPr/>
        </p:nvGraphicFramePr>
        <p:xfrm>
          <a:off x="685800" y="1809750"/>
          <a:ext cx="10820400" cy="2145792"/>
        </p:xfrm>
        <a:graphic>
          <a:graphicData uri="http://schemas.openxmlformats.org/drawingml/2006/table">
            <a:tbl>
              <a:tblPr firstRow="1" bandRow="0"/>
              <a:tblGrid>
                <a:gridCol w="3573448"/>
                <a:gridCol w="7246952"/>
              </a:tblGrid>
              <a:tr h="536448">
                <a:tc>
                  <a:txBody>
                    <a:bodyPr wrap="square"/>
                    <a:lstStyle/>
                    <a:p>
                      <a:pPr>
                        <a:lnSpc>
                          <a:spcPct val="102000"/>
                        </a:lnSpc>
                        <a:buNone/>
                      </a:pPr>
                      <a:r>
                        <a:rPr sz="2025" b="1">
                          <a:solidFill>
                            <a:srgbClr val="172F39"/>
                          </a:solidFill>
                          <a:latin typeface="Noto Sans KR"/>
                          <a:ea typeface="Noto Sans KR"/>
                          <a:cs typeface="Noto Sans KR"/>
                        </a:rPr>
                        <a:t>역할</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맡는 일</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AI</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읽기·수정·실행</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사람</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요구·권한·검토</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오늘</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제공 응답 비교</a:t>
                      </a:r>
                    </a:p>
                  </a:txBody>
                  <a:tcPr marL="114300" marR="114300" marT="76200" marB="76200" anchor="ctr">
                    <a:solidFill>
                      <a:srgbClr val="FFFFFF"/>
                    </a:solidFill>
                  </a:tcPr>
                </a:tc>
              </a:tr>
            </a:tbl>
          </a:graphicData>
        </a:graphic>
      </p:graphicFrame>
      <p:sp>
        <p:nvSpPr>
          <p:cNvPr id="4" name="">
            <a:extLst>
              <a:ext uri="{FF2B5EF4-FFF2-40B4-BE49-F238E27FC236}">
                <ns2:creationId id="{0F538A91-3AAA-4E75-A09E-9B3B1E1EACD0}"/>
              </a:ext>
            </a:extLst>
          </p:cNvPr>
          <p:cNvSpPr>
            <a:spLocks noGrp="1"/>
          </p:cNvSpPr>
          <p:nvPr/>
        </p:nvSpPr>
        <p:spPr>
          <a:xfrm>
            <a:off x="685800" y="4184142"/>
            <a:ext cx="10820400" cy="395288"/>
          </a:xfrm>
          <a:prstGeom prst="rect">
            <a:avLst/>
          </a:prstGeom>
          <a:noFill/>
          <a:ln w="0">
            <a:noFill/>
          </a:ln>
        </p:spPr>
        <p:txBody>
          <a:bodyPr wrap="square" lIns="0" tIns="0" rIns="0" bIns="0">
            <a:noAutofit/>
          </a:bodyPr>
          <a:lstStyle/>
          <a:p>
            <a:pPr>
              <a:defRPr sz="1875" b="1">
                <a:solidFill>
                  <a:srgbClr val="08786F"/>
                </a:solidFill>
                <a:latin typeface="Noto Sans KR"/>
                <a:ea typeface="Noto Sans KR"/>
                <a:cs typeface="Noto Sans KR"/>
              </a:defRPr>
            </a:pPr>
            <a:r>
              <a:t>실제 모델·유료 API 호출은 없습니다.</a:t>
            </a:r>
          </a:p>
        </p:txBody>
      </p:sp>
      <p:sp>
        <p:nvSpPr>
          <p:cNvPr id="5" name="">
            <a:extLst>
              <a:ext uri="{FF2B5EF4-FFF2-40B4-BE49-F238E27FC236}">
                <ns2:creationId id="{F35ED8B9-B069-4B46-AE4A-16F7DE119C74}"/>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3BDA76FB-1EC2-4823-A3A7-19968343A90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EA019306-A19C-4BF3-9416-D39862F5F46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E4D40A89-DE42-41E2-848A-D5EAEDDAB0B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D015A5B1-F129-4A96-B055-6EEAB8DC050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008</a:t>
            </a:r>
          </a:p>
        </p:txBody>
      </p:sp>
    </p:spTree>
    <p:extLst>
      <p:ext uri="{BB962C8B-B14F-4D97-AF65-F5344CB8AC3E}">
        <ns4:creationId val="971912390"/>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74DB88AB-0D88-4718-8B34-54E89306E9E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1B305D24-82B6-47E7-B435-96561434040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실행과 완료</a:t>
            </a:r>
          </a:p>
        </p:txBody>
      </p:sp>
      <p:sp>
        <p:nvSpPr>
          <p:cNvPr id="3" name="">
            <a:extLst>
              <a:ext uri="{FF2B5EF4-FFF2-40B4-BE49-F238E27FC236}">
                <ns2:creationId id="{A895E888-9221-478D-8CB2-87288924FCB3}"/>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명령·입력</a:t>
            </a:r>
          </a:p>
        </p:txBody>
      </p:sp>
      <p:sp>
        <p:nvSpPr>
          <p:cNvPr id="4" name="">
            <a:extLst>
              <a:ext uri="{FF2B5EF4-FFF2-40B4-BE49-F238E27FC236}">
                <ns2:creationId id="{53F89166-3B0C-4025-BF1B-7BAD4F38C7C8}"/>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코드 생성과 실제 실행은 서로 다릅니다.</a:t>
            </a:r>
          </a:p>
        </p:txBody>
      </p:sp>
      <p:sp>
        <p:nvSpPr>
          <p:cNvPr id="5" name="">
            <a:extLst>
              <a:ext uri="{FF2B5EF4-FFF2-40B4-BE49-F238E27FC236}">
                <ns2:creationId id="{AB63F982-BA96-4B81-AD81-DD8782BC7C7F}"/>
              </a:ext>
            </a:extLst>
          </p:cNvPr>
          <p:cNvSpPr>
            <a:spLocks noGrp="1"/>
          </p:cNvSpPr>
          <p:nvPr/>
        </p:nvSpPr>
        <p:spPr>
          <a:xfrm>
            <a:off x="685800" y="31984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실행 성공 뒤에도 요구를 확인합니다.</a:t>
            </a:r>
          </a:p>
        </p:txBody>
      </p:sp>
      <p:sp>
        <p:nvSpPr>
          <p:cNvPr id="6" name="">
            <a:extLst>
              <a:ext uri="{FF2B5EF4-FFF2-40B4-BE49-F238E27FC236}">
                <ns2:creationId id="{4D9030CF-D085-42CB-8009-5987AAD343CE}"/>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이번 수업의 역할</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1730102"/>
                <a:gridCol w="3508648"/>
              </a:tblGrid>
              <a:tr h="514350">
                <a:tc>
                  <a:txBody>
                    <a:bodyPr wrap="square"/>
                    <a:lstStyle/>
                    <a:p>
                      <a:pPr>
                        <a:lnSpc>
                          <a:spcPct val="102000"/>
                        </a:lnSpc>
                        <a:buNone/>
                      </a:pPr>
                      <a:r>
                        <a:rPr sz="1875" b="1">
                          <a:solidFill>
                            <a:srgbClr val="172F39"/>
                          </a:solidFill>
                          <a:latin typeface="Noto Sans KR"/>
                          <a:ea typeface="Noto Sans KR"/>
                          <a:cs typeface="Noto Sans KR"/>
                        </a:rPr>
                        <a:t>역할</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맡는 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AI</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읽기·수정·실행</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사람</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요구·권한·검토</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오늘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제공 응답 비교</a:t>
                      </a:r>
                    </a:p>
                  </a:txBody>
                  <a:tcPr marL="114300" marR="114300" marT="76200" marB="76200" anchor="ctr">
                    <a:solidFill>
                      <a:srgbClr val="FFFFFF"/>
                    </a:solidFill>
                  </a:tcPr>
                </a:tc>
              </a:tr>
            </a:tbl>
          </a:graphicData>
        </a:graphic>
      </p:graphicFrame>
      <p:sp>
        <p:nvSpPr>
          <p:cNvPr id="8" name="">
            <a:extLst>
              <a:ext uri="{FF2B5EF4-FFF2-40B4-BE49-F238E27FC236}">
                <ns2:creationId id="{E573739E-0A80-4998-9D9C-06ED41F3DA7E}"/>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9E0139C3-B501-4453-82F7-E5B3C4155F3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74607D72-E3A5-4F1F-A511-7E437B72174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1D54946C-2D76-4C34-8B9E-3A9859AD62F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AE3D60FD-0F41-4992-8DD0-6A7693F43AA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009</a:t>
            </a:r>
          </a:p>
        </p:txBody>
      </p:sp>
    </p:spTree>
    <p:extLst>
      <p:ext uri="{BB962C8B-B14F-4D97-AF65-F5344CB8AC3E}">
        <ns4:creationId val="252540286"/>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FCFEC67E-3D87-40BF-B097-3F57618C388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30098F46-FCF7-4244-A089-BEB9DA00418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맡길 범위</a:t>
            </a:r>
          </a:p>
        </p:txBody>
      </p:sp>
      <p:sp>
        <p:nvSpPr>
          <p:cNvPr id="3" name="">
            <a:extLst>
              <a:ext uri="{FF2B5EF4-FFF2-40B4-BE49-F238E27FC236}">
                <ns2:creationId id="{35AFDECF-FA6F-418C-BF90-5FFED33F72C8}"/>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1">
                <a:solidFill>
                  <a:srgbClr val="172F39"/>
                </a:solidFill>
                <a:latin typeface="Noto Sans KR"/>
                <a:ea typeface="Noto Sans KR"/>
                <a:cs typeface="Noto Sans KR"/>
              </a:defRPr>
            </a:pPr>
            <a:r>
              <a:t>한 함수 수정에 허용할 행동을 적어 보세요.</a:t>
            </a:r>
          </a:p>
        </p:txBody>
      </p:sp>
      <p:sp>
        <p:nvSpPr>
          <p:cNvPr id="4" name="">
            <a:extLst>
              <a:ext uri="{FF2B5EF4-FFF2-40B4-BE49-F238E27FC236}">
                <ns2:creationId id="{D05672FD-F76B-4A2C-9426-FBBF026BA968}"/>
              </a:ext>
            </a:extLst>
          </p:cNvPr>
          <p:cNvSpPr>
            <a:spLocks noGrp="1"/>
          </p:cNvSpPr>
          <p:nvPr/>
        </p:nvSpPr>
        <p:spPr>
          <a:xfrm>
            <a:off x="685800" y="2728722"/>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5" name="">
            <a:extLst>
              <a:ext uri="{FF2B5EF4-FFF2-40B4-BE49-F238E27FC236}">
                <ns2:creationId id="{F174B3A7-3617-4894-ACB4-56A228470B2F}"/>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B600DA4E-8226-45FA-89B6-B960BF1557C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516932F7-BE2D-42FA-888F-F85C981934C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63A06125-1360-4A55-BDA5-225E93F13AE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11884E4E-1028-4D2F-B5B5-ADE2033E577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010</a:t>
            </a:r>
          </a:p>
        </p:txBody>
      </p:sp>
    </p:spTree>
    <p:extLst>
      <p:ext uri="{BB962C8B-B14F-4D97-AF65-F5344CB8AC3E}">
        <ns4:creationId val="809105933"/>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660FC8F4-384E-4778-802E-75DFE198D41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D5EE623E-1555-4044-8EAF-0EA9EE70F95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A02  작은 작업의 범위</a:t>
            </a:r>
          </a:p>
        </p:txBody>
      </p:sp>
      <p:sp>
        <p:nvSpPr>
          <p:cNvPr id="3" name="">
            <a:extLst>
              <a:ext uri="{FF2B5EF4-FFF2-40B4-BE49-F238E27FC236}">
                <ns2:creationId id="{C616A44D-C268-4530-8560-77B81B088FAD}"/>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D9B00E3D-E18E-4D78-8E0D-C65D7FE4AB50}"/>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work/classifier.py의 classify를 고칩니다.</a:t>
            </a:r>
          </a:p>
        </p:txBody>
      </p:sp>
      <p:sp>
        <p:nvSpPr>
          <p:cNvPr id="5" name="">
            <a:extLst>
              <a:ext uri="{FF2B5EF4-FFF2-40B4-BE49-F238E27FC236}">
                <ns2:creationId id="{58C1A160-E9AB-4E91-8552-D8C1AE724FE6}"/>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함수 이름과 기본 기준 28을 유지합니다.</a:t>
            </a:r>
          </a:p>
        </p:txBody>
      </p:sp>
      <p:sp>
        <p:nvSpPr>
          <p:cNvPr id="6" name="">
            <a:extLst>
              <a:ext uri="{FF2B5EF4-FFF2-40B4-BE49-F238E27FC236}">
                <ns2:creationId id="{F940F3AE-57F0-40C3-B2BF-CD050303D3CB}"/>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고칠 것과 유지할 것</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384219"/>
                <a:gridCol w="2854531"/>
              </a:tblGrid>
              <a:tr h="514350">
                <a:tc>
                  <a:txBody>
                    <a:bodyPr wrap="square"/>
                    <a:lstStyle/>
                    <a:p>
                      <a:pPr>
                        <a:lnSpc>
                          <a:spcPct val="102000"/>
                        </a:lnSpc>
                        <a:buNone/>
                      </a:pPr>
                      <a:r>
                        <a:rPr sz="1875" b="1">
                          <a:solidFill>
                            <a:srgbClr val="172F39"/>
                          </a:solidFill>
                          <a:latin typeface="Noto Sans KR"/>
                          <a:ea typeface="Noto Sans KR"/>
                          <a:cs typeface="Noto Sans KR"/>
                        </a:rPr>
                        <a:t>고칠 것</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유지할 것</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경계 비교</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기본 기준 28</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누락 처리</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함수 이름</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입력 검사</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반환 문자열</a:t>
                      </a:r>
                    </a:p>
                  </a:txBody>
                  <a:tcPr marL="114300" marR="114300" marT="76200" marB="76200" anchor="ctr">
                    <a:solidFill>
                      <a:srgbClr val="FFFFFF"/>
                    </a:solidFill>
                  </a:tcPr>
                </a:tc>
              </a:tr>
            </a:tbl>
          </a:graphicData>
        </a:graphic>
      </p:graphicFrame>
      <p:sp>
        <p:nvSpPr>
          <p:cNvPr id="8" name="">
            <a:extLst>
              <a:ext uri="{FF2B5EF4-FFF2-40B4-BE49-F238E27FC236}">
                <ns2:creationId id="{C009AB56-C28E-49EE-BF7F-4C3BB8792B63}"/>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AD74F05D-904F-4D4D-843C-94286F29F5E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2F263262-12E7-4A62-A903-C99B64100EC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C910D7B1-25C2-43E8-B522-8D3D2B3765C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5727FB37-67C5-4DD4-A00B-70A436CFF5D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011</a:t>
            </a:r>
          </a:p>
        </p:txBody>
      </p:sp>
    </p:spTree>
    <p:extLst>
      <p:ext uri="{BB962C8B-B14F-4D97-AF65-F5344CB8AC3E}">
        <ns4:creationId val="943170317"/>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4672B02F-07B1-453D-AD48-363B58B6E8A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38E6C559-7B48-4202-A5EF-CCEB61C2009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작은 작업의 범위의 예</a:t>
            </a:r>
          </a:p>
        </p:txBody>
      </p:sp>
      <p:graphicFrame>
        <p:nvGraphicFramePr>
          <p:cNvPr id="12" name=""/>
          <p:cNvGraphicFramePr/>
          <p:nvPr/>
        </p:nvGraphicFramePr>
        <p:xfrm>
          <a:off x="685800" y="1809750"/>
          <a:ext cx="10820400" cy="2145792"/>
        </p:xfrm>
        <a:graphic>
          <a:graphicData uri="http://schemas.openxmlformats.org/drawingml/2006/table">
            <a:tbl>
              <a:tblPr firstRow="1" bandRow="0"/>
              <a:tblGrid>
                <a:gridCol w="4924496"/>
                <a:gridCol w="5895904"/>
              </a:tblGrid>
              <a:tr h="536448">
                <a:tc>
                  <a:txBody>
                    <a:bodyPr wrap="square"/>
                    <a:lstStyle/>
                    <a:p>
                      <a:pPr>
                        <a:lnSpc>
                          <a:spcPct val="102000"/>
                        </a:lnSpc>
                        <a:buNone/>
                      </a:pPr>
                      <a:r>
                        <a:rPr sz="2025" b="1">
                          <a:solidFill>
                            <a:srgbClr val="172F39"/>
                          </a:solidFill>
                          <a:latin typeface="Noto Sans KR"/>
                          <a:ea typeface="Noto Sans KR"/>
                          <a:cs typeface="Noto Sans KR"/>
                        </a:rPr>
                        <a:t>바꿀 것</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유지할 것</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경계 비교</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함수 이름</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누락 처리</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기본 기준 28</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입력 검사</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반환 문자열</a:t>
                      </a:r>
                    </a:p>
                  </a:txBody>
                  <a:tcPr marL="114300" marR="114300" marT="76200" marB="76200" anchor="ctr">
                    <a:solidFill>
                      <a:srgbClr val="FFFFFF"/>
                    </a:solidFill>
                  </a:tcPr>
                </a:tc>
              </a:tr>
            </a:tbl>
          </a:graphicData>
        </a:graphic>
      </p:graphicFrame>
      <p:sp>
        <p:nvSpPr>
          <p:cNvPr id="4" name="">
            <a:extLst>
              <a:ext uri="{FF2B5EF4-FFF2-40B4-BE49-F238E27FC236}">
                <ns2:creationId id="{417CD45A-0F66-4EDD-AC9B-815C3978C340}"/>
              </a:ext>
            </a:extLst>
          </p:cNvPr>
          <p:cNvSpPr>
            <a:spLocks noGrp="1"/>
          </p:cNvSpPr>
          <p:nvPr/>
        </p:nvSpPr>
        <p:spPr>
          <a:xfrm>
            <a:off x="685800" y="4184142"/>
            <a:ext cx="10820400" cy="395288"/>
          </a:xfrm>
          <a:prstGeom prst="rect">
            <a:avLst/>
          </a:prstGeom>
          <a:noFill/>
          <a:ln w="0">
            <a:noFill/>
          </a:ln>
        </p:spPr>
        <p:txBody>
          <a:bodyPr wrap="square" lIns="0" tIns="0" rIns="0" bIns="0">
            <a:noAutofit/>
          </a:bodyPr>
          <a:lstStyle/>
          <a:p>
            <a:pPr>
              <a:defRPr sz="1875" b="1">
                <a:solidFill>
                  <a:srgbClr val="08786F"/>
                </a:solidFill>
                <a:latin typeface="Noto Sans KR"/>
                <a:ea typeface="Noto Sans KR"/>
                <a:cs typeface="Noto Sans KR"/>
              </a:defRPr>
            </a:pPr>
            <a:r>
              <a:t>검사 기대를 후보에 맞춰 바꾸지 않습니다.</a:t>
            </a:r>
          </a:p>
        </p:txBody>
      </p:sp>
      <p:sp>
        <p:nvSpPr>
          <p:cNvPr id="5" name="">
            <a:extLst>
              <a:ext uri="{FF2B5EF4-FFF2-40B4-BE49-F238E27FC236}">
                <ns2:creationId id="{44E3FC18-AF65-41F2-A40F-83ADE164BD4B}"/>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DEF7D27C-19FD-401F-8E02-E1DA07F0195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4D6E1D15-1DB3-4E2C-9687-36019B306E4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23AD771A-77C3-4436-9666-45BC8C90000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3A998BEC-DF79-4F57-8B6B-59AD541EFE4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012</a:t>
            </a:r>
          </a:p>
        </p:txBody>
      </p:sp>
    </p:spTree>
    <p:extLst>
      <p:ext uri="{BB962C8B-B14F-4D97-AF65-F5344CB8AC3E}">
        <ns4:creationId val="2046032099"/>
      </p:ext>
    </p:extLst>
  </p:cSld>
</p:sld>
</file>

<file path=ppt/slides/slide1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AD358963-CFF8-4C37-BB66-3362492B00F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7EAB21C6-E872-4FBA-8DF3-FB02D33D107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요청한 곳만 고쳤나요?</a:t>
            </a:r>
          </a:p>
        </p:txBody>
      </p:sp>
      <p:sp>
        <p:nvSpPr>
          <p:cNvPr id="3" name="">
            <a:extLst>
              <a:ext uri="{FF2B5EF4-FFF2-40B4-BE49-F238E27FC236}">
                <ns2:creationId id="{72C25286-16E5-4AE0-9C97-C450DF67141A}"/>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명령·입력</a:t>
            </a:r>
          </a:p>
        </p:txBody>
      </p:sp>
      <p:sp>
        <p:nvSpPr>
          <p:cNvPr id="4" name="">
            <a:extLst>
              <a:ext uri="{FF2B5EF4-FFF2-40B4-BE49-F238E27FC236}">
                <ns2:creationId id="{E0933161-860A-4B67-B522-D5BCBCA46A28}"/>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어느 파일의 어느 줄을 왜 고쳤는지 적습니다.</a:t>
            </a:r>
          </a:p>
        </p:txBody>
      </p:sp>
      <p:sp>
        <p:nvSpPr>
          <p:cNvPr id="5" name="">
            <a:extLst>
              <a:ext uri="{FF2B5EF4-FFF2-40B4-BE49-F238E27FC236}">
                <ns2:creationId id="{51388C15-57D0-4452-AD90-7A0311EA859B}"/>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요청하지 않은 곳도 바뀌었는지 확인합니다.</a:t>
            </a:r>
          </a:p>
        </p:txBody>
      </p:sp>
      <p:sp>
        <p:nvSpPr>
          <p:cNvPr id="6" name="">
            <a:extLst>
              <a:ext uri="{FF2B5EF4-FFF2-40B4-BE49-F238E27FC236}">
                <ns2:creationId id="{65063C39-C0A8-447D-A778-E5D6CFA50965}"/>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고칠 것과 유지할 것</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384219"/>
                <a:gridCol w="2854531"/>
              </a:tblGrid>
              <a:tr h="514350">
                <a:tc>
                  <a:txBody>
                    <a:bodyPr wrap="square"/>
                    <a:lstStyle/>
                    <a:p>
                      <a:pPr>
                        <a:lnSpc>
                          <a:spcPct val="102000"/>
                        </a:lnSpc>
                        <a:buNone/>
                      </a:pPr>
                      <a:r>
                        <a:rPr sz="1875" b="1">
                          <a:solidFill>
                            <a:srgbClr val="172F39"/>
                          </a:solidFill>
                          <a:latin typeface="Noto Sans KR"/>
                          <a:ea typeface="Noto Sans KR"/>
                          <a:cs typeface="Noto Sans KR"/>
                        </a:rPr>
                        <a:t>고칠 것</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유지할 것</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경계 비교</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기본 기준 28</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누락 처리</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함수 이름</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입력 검사</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반환 문자열</a:t>
                      </a:r>
                    </a:p>
                  </a:txBody>
                  <a:tcPr marL="114300" marR="114300" marT="76200" marB="76200" anchor="ctr">
                    <a:solidFill>
                      <a:srgbClr val="FFFFFF"/>
                    </a:solidFill>
                  </a:tcPr>
                </a:tc>
              </a:tr>
            </a:tbl>
          </a:graphicData>
        </a:graphic>
      </p:graphicFrame>
      <p:sp>
        <p:nvSpPr>
          <p:cNvPr id="8" name="">
            <a:extLst>
              <a:ext uri="{FF2B5EF4-FFF2-40B4-BE49-F238E27FC236}">
                <ns2:creationId id="{32E9D42F-E65D-4145-B011-05BE6AACFC35}"/>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E83DD3E7-D85C-4CA1-9A2C-5C69AD3F962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96829A7F-26D5-4139-AC13-20490858CC3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D7901BA7-0C91-4896-94B8-031A7E3C99D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EE55D3A5-9C1B-4DED-BC79-FF123C3BDEA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013</a:t>
            </a:r>
          </a:p>
        </p:txBody>
      </p:sp>
    </p:spTree>
    <p:extLst>
      <p:ext uri="{BB962C8B-B14F-4D97-AF65-F5344CB8AC3E}">
        <ns4:creationId val="1906210399"/>
      </p:ext>
    </p:extLst>
  </p:cSld>
</p:sld>
</file>

<file path=ppt/slides/slide1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B370DAF5-51E8-4997-83F5-639DB053494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80393567-5DD9-4DC2-8002-C701FAF45BE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검사를 바꾸는 제안</a:t>
            </a:r>
          </a:p>
        </p:txBody>
      </p:sp>
      <p:sp>
        <p:nvSpPr>
          <p:cNvPr id="3" name="">
            <a:extLst>
              <a:ext uri="{FF2B5EF4-FFF2-40B4-BE49-F238E27FC236}">
                <ns2:creationId id="{38A2A894-7C98-47E4-9E5A-D32562AFB17B}"/>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AI가 기대 결과를 고쳐 통과시키자고 합니다.</a:t>
            </a:r>
          </a:p>
        </p:txBody>
      </p:sp>
      <p:sp>
        <p:nvSpPr>
          <p:cNvPr id="4" name="">
            <a:extLst>
              <a:ext uri="{FF2B5EF4-FFF2-40B4-BE49-F238E27FC236}">
                <ns2:creationId id="{9AB934C6-F75F-4953-A9B5-0486A2F41981}"/>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이 제안을 어떻게 검토하나요?</a:t>
            </a:r>
          </a:p>
        </p:txBody>
      </p:sp>
      <p:sp>
        <p:nvSpPr>
          <p:cNvPr id="5" name="">
            <a:extLst>
              <a:ext uri="{FF2B5EF4-FFF2-40B4-BE49-F238E27FC236}">
                <ns2:creationId id="{C5CC0EA7-CFF4-4976-8C3A-7B9BCF43FA64}"/>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6" name="">
            <a:extLst>
              <a:ext uri="{FF2B5EF4-FFF2-40B4-BE49-F238E27FC236}">
                <ns2:creationId id="{D76646B8-9907-4ED3-8B04-5399B7837896}"/>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4919D171-FC95-482C-9F13-3D663EFBAA4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44E9CE30-6B98-4CA6-BB51-59E88BAE2FC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AB035EFA-F917-4B46-8D3C-588EB97EDB1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879FF60C-5BCF-43D3-BE35-BF70E9B6DE8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014</a:t>
            </a:r>
          </a:p>
        </p:txBody>
      </p:sp>
    </p:spTree>
    <p:extLst>
      <p:ext uri="{BB962C8B-B14F-4D97-AF65-F5344CB8AC3E}">
        <ns4:creationId val="1259513478"/>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231BC2A0-094B-496C-8807-1833108B1C8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C8FB4CE6-03E1-40E2-B071-56BF76125C1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A03  필요한 자료 선택</a:t>
            </a:r>
          </a:p>
        </p:txBody>
      </p:sp>
      <p:sp>
        <p:nvSpPr>
          <p:cNvPr id="3" name="">
            <a:extLst>
              <a:ext uri="{FF2B5EF4-FFF2-40B4-BE49-F238E27FC236}">
                <ns2:creationId id="{F6E6C3AE-F3E8-4909-9D30-6FA28DE91A37}"/>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DD4B8C2C-D8DD-45DA-A34D-1F684869AD11}"/>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현재 함수와 실패 입력을 제공합니다.</a:t>
            </a:r>
          </a:p>
        </p:txBody>
      </p:sp>
      <p:sp>
        <p:nvSpPr>
          <p:cNvPr id="5" name="">
            <a:extLst>
              <a:ext uri="{FF2B5EF4-FFF2-40B4-BE49-F238E27FC236}">
                <ns2:creationId id="{D6F79D9E-3E91-47EF-B635-992D23149ECE}"/>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비밀 대신 가상 자료를 사용합니다.</a:t>
            </a:r>
          </a:p>
        </p:txBody>
      </p:sp>
      <p:sp>
        <p:nvSpPr>
          <p:cNvPr id="6" name="">
            <a:extLst>
              <a:ext uri="{FF2B5EF4-FFF2-40B4-BE49-F238E27FC236}">
                <ns2:creationId id="{0E46229C-8FD2-4D4F-A96F-FE5995AF9A71}"/>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요청에 넣을 자료</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660952"/>
                <a:gridCol w="2577798"/>
              </a:tblGrid>
              <a:tr h="514350">
                <a:tc>
                  <a:txBody>
                    <a:bodyPr wrap="square"/>
                    <a:lstStyle/>
                    <a:p>
                      <a:pPr>
                        <a:lnSpc>
                          <a:spcPct val="102000"/>
                        </a:lnSpc>
                        <a:buNone/>
                      </a:pPr>
                      <a:r>
                        <a:rPr sz="1875" b="1">
                          <a:solidFill>
                            <a:srgbClr val="172F39"/>
                          </a:solidFill>
                          <a:latin typeface="Noto Sans KR"/>
                          <a:ea typeface="Noto Sans KR"/>
                          <a:cs typeface="Noto Sans KR"/>
                        </a:rPr>
                        <a:t>자료</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공유 여부</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현재 함수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필요</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가상 실패 로그</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필요</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실제 API 키</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공유하지 않음</a:t>
                      </a:r>
                    </a:p>
                  </a:txBody>
                  <a:tcPr marL="114300" marR="114300" marT="76200" marB="76200" anchor="ctr">
                    <a:solidFill>
                      <a:srgbClr val="FFFFFF"/>
                    </a:solidFill>
                  </a:tcPr>
                </a:tc>
              </a:tr>
            </a:tbl>
          </a:graphicData>
        </a:graphic>
      </p:graphicFrame>
      <p:sp>
        <p:nvSpPr>
          <p:cNvPr id="8" name="">
            <a:extLst>
              <a:ext uri="{FF2B5EF4-FFF2-40B4-BE49-F238E27FC236}">
                <ns2:creationId id="{A355BE21-97D4-4A1D-85F4-5F2B44316E2E}"/>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7E6D3DB4-3342-4E69-AA95-02B7F0F200B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03801093-A242-409D-911B-011AD564966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DDA4DF56-6656-4742-85E0-3DDDEC66E5D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BA1EE702-2CA0-455F-93D6-277EFE9BD70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015</a:t>
            </a:r>
          </a:p>
        </p:txBody>
      </p:sp>
    </p:spTree>
    <p:extLst>
      <p:ext uri="{BB962C8B-B14F-4D97-AF65-F5344CB8AC3E}">
        <ns4:creationId val="2040312965"/>
      </p:ext>
    </p:extLst>
  </p:cSld>
</p:sld>
</file>

<file path=ppt/slides/slide1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4E7C7B90-6112-47B1-92F4-DE94458943A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6DF0B65A-EB6A-4B1F-BC06-6C4A30B7FF4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필요한 자료 선택의 예</a:t>
            </a:r>
          </a:p>
        </p:txBody>
      </p:sp>
      <p:graphicFrame>
        <p:nvGraphicFramePr>
          <p:cNvPr id="12" name=""/>
          <p:cNvGraphicFramePr/>
          <p:nvPr/>
        </p:nvGraphicFramePr>
        <p:xfrm>
          <a:off x="685800" y="1809750"/>
          <a:ext cx="10820400" cy="2682240"/>
        </p:xfrm>
        <a:graphic>
          <a:graphicData uri="http://schemas.openxmlformats.org/drawingml/2006/table">
            <a:tbl>
              <a:tblPr firstRow="1" bandRow="0"/>
              <a:tblGrid>
                <a:gridCol w="5001244"/>
                <a:gridCol w="5819156"/>
              </a:tblGrid>
              <a:tr h="536448">
                <a:tc>
                  <a:txBody>
                    <a:bodyPr wrap="square"/>
                    <a:lstStyle/>
                    <a:p>
                      <a:pPr>
                        <a:lnSpc>
                          <a:spcPct val="102000"/>
                        </a:lnSpc>
                        <a:buNone/>
                      </a:pPr>
                      <a:r>
                        <a:rPr sz="2025" b="1">
                          <a:solidFill>
                            <a:srgbClr val="172F39"/>
                          </a:solidFill>
                          <a:latin typeface="Noto Sans KR"/>
                          <a:ea typeface="Noto Sans KR"/>
                          <a:cs typeface="Noto Sans KR"/>
                        </a:rPr>
                        <a:t>자료</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이번 작업에 필요?</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현재 함수</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필요</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가상 실패 로그</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필요</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고객 명단</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불필요</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실제 API 키</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공유하지 않음</a:t>
                      </a:r>
                    </a:p>
                  </a:txBody>
                  <a:tcPr marL="114300" marR="114300" marT="76200" marB="76200" anchor="ctr">
                    <a:solidFill>
                      <a:srgbClr val="FFFFFF"/>
                    </a:solidFill>
                  </a:tcPr>
                </a:tc>
              </a:tr>
            </a:tbl>
          </a:graphicData>
        </a:graphic>
      </p:graphicFrame>
      <p:sp>
        <p:nvSpPr>
          <p:cNvPr id="4" name="">
            <a:extLst>
              <a:ext uri="{FF2B5EF4-FFF2-40B4-BE49-F238E27FC236}">
                <ns2:creationId id="{C8659C03-FA8A-4B0F-8525-881C9B52366F}"/>
              </a:ext>
            </a:extLst>
          </p:cNvPr>
          <p:cNvSpPr>
            <a:spLocks noGrp="1"/>
          </p:cNvSpPr>
          <p:nvPr/>
        </p:nvSpPr>
        <p:spPr>
          <a:xfrm>
            <a:off x="685800" y="4720590"/>
            <a:ext cx="10820400" cy="395288"/>
          </a:xfrm>
          <a:prstGeom prst="rect">
            <a:avLst/>
          </a:prstGeom>
          <a:noFill/>
          <a:ln w="0">
            <a:noFill/>
          </a:ln>
        </p:spPr>
        <p:txBody>
          <a:bodyPr wrap="square" lIns="0" tIns="0" rIns="0" bIns="0">
            <a:noAutofit/>
          </a:bodyPr>
          <a:lstStyle/>
          <a:p>
            <a:pPr>
              <a:defRPr sz="1875" b="1">
                <a:solidFill>
                  <a:srgbClr val="08786F"/>
                </a:solidFill>
                <a:latin typeface="Noto Sans KR"/>
                <a:ea typeface="Noto Sans KR"/>
                <a:cs typeface="Noto Sans KR"/>
              </a:defRPr>
            </a:pPr>
            <a:r>
              <a:t>현재 함수와 실패한 입력을 함께 보여 줍니다.</a:t>
            </a:r>
          </a:p>
        </p:txBody>
      </p:sp>
      <p:sp>
        <p:nvSpPr>
          <p:cNvPr id="5" name="">
            <a:extLst>
              <a:ext uri="{FF2B5EF4-FFF2-40B4-BE49-F238E27FC236}">
                <ns2:creationId id="{51EE7D7B-C7DB-4BDC-9010-7A7AB0800AA9}"/>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27E02C95-C2CC-4099-8410-F52D66957D5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F1A5D731-1EC6-4B4A-BA13-F6778A049F9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18D15267-F400-4029-B213-441ED5598CD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8B907043-1DC9-4C70-ACB6-7D87E884C12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016</a:t>
            </a:r>
          </a:p>
        </p:txBody>
      </p:sp>
    </p:spTree>
    <p:extLst>
      <p:ext uri="{BB962C8B-B14F-4D97-AF65-F5344CB8AC3E}">
        <ns4:creationId val="1318713220"/>
      </p:ext>
    </p:extLst>
  </p:cSld>
</p:sld>
</file>

<file path=ppt/slides/slide1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08C7E39E-63D8-4674-A3F3-790A095DB05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A3B84C8A-EA1B-4949-84B7-E8209CC6532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요청에 빠진 정보 찾기</a:t>
            </a:r>
          </a:p>
        </p:txBody>
      </p:sp>
      <p:sp>
        <p:nvSpPr>
          <p:cNvPr id="3" name="">
            <a:extLst>
              <a:ext uri="{FF2B5EF4-FFF2-40B4-BE49-F238E27FC236}">
                <ns2:creationId id="{27A8356D-55B4-4FCB-8703-98D618B6D705}"/>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명령·입력</a:t>
            </a:r>
          </a:p>
        </p:txBody>
      </p:sp>
      <p:sp>
        <p:nvSpPr>
          <p:cNvPr id="4" name="">
            <a:extLst>
              <a:ext uri="{FF2B5EF4-FFF2-40B4-BE49-F238E27FC236}">
                <ns2:creationId id="{81CE1FC9-9C24-495A-81F4-D5821FA6DBDC}"/>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기준값과 예상 출력이 적혀 있는지 확인합니다.</a:t>
            </a:r>
          </a:p>
        </p:txBody>
      </p:sp>
      <p:sp>
        <p:nvSpPr>
          <p:cNvPr id="5" name="">
            <a:extLst>
              <a:ext uri="{FF2B5EF4-FFF2-40B4-BE49-F238E27FC236}">
                <ns2:creationId id="{EF32AE54-61FC-49E0-B336-F1C5A5FAE5AE}"/>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자료를 어디에서 얻었는지도 적습니다.</a:t>
            </a:r>
          </a:p>
        </p:txBody>
      </p:sp>
      <p:sp>
        <p:nvSpPr>
          <p:cNvPr id="6" name="">
            <a:extLst>
              <a:ext uri="{FF2B5EF4-FFF2-40B4-BE49-F238E27FC236}">
                <ns2:creationId id="{21CE12FA-6FDC-4D46-AAA3-390DD3A66AE8}"/>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요청에 넣을 자료</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660952"/>
                <a:gridCol w="2577798"/>
              </a:tblGrid>
              <a:tr h="514350">
                <a:tc>
                  <a:txBody>
                    <a:bodyPr wrap="square"/>
                    <a:lstStyle/>
                    <a:p>
                      <a:pPr>
                        <a:lnSpc>
                          <a:spcPct val="102000"/>
                        </a:lnSpc>
                        <a:buNone/>
                      </a:pPr>
                      <a:r>
                        <a:rPr sz="1875" b="1">
                          <a:solidFill>
                            <a:srgbClr val="172F39"/>
                          </a:solidFill>
                          <a:latin typeface="Noto Sans KR"/>
                          <a:ea typeface="Noto Sans KR"/>
                          <a:cs typeface="Noto Sans KR"/>
                        </a:rPr>
                        <a:t>자료</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공유 여부</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현재 함수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필요</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가상 실패 로그</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필요</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실제 API 키</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공유하지 않음</a:t>
                      </a:r>
                    </a:p>
                  </a:txBody>
                  <a:tcPr marL="114300" marR="114300" marT="76200" marB="76200" anchor="ctr">
                    <a:solidFill>
                      <a:srgbClr val="FFFFFF"/>
                    </a:solidFill>
                  </a:tcPr>
                </a:tc>
              </a:tr>
            </a:tbl>
          </a:graphicData>
        </a:graphic>
      </p:graphicFrame>
      <p:sp>
        <p:nvSpPr>
          <p:cNvPr id="8" name="">
            <a:extLst>
              <a:ext uri="{FF2B5EF4-FFF2-40B4-BE49-F238E27FC236}">
                <ns2:creationId id="{4027BE3C-4534-47D9-91C2-4078C03314B8}"/>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E9384857-8623-4636-8C17-E88820E945B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0A0C4F95-803A-4F69-A8DF-9B725AAD346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D4BAB761-451E-4D75-9432-015CEA8C4A1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6A589B75-A583-41B8-A89F-3FB833E1C51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017</a:t>
            </a:r>
          </a:p>
        </p:txBody>
      </p:sp>
    </p:spTree>
    <p:extLst>
      <p:ext uri="{BB962C8B-B14F-4D97-AF65-F5344CB8AC3E}">
        <ns4:creationId val="912368204"/>
      </p:ext>
    </p:extLst>
  </p:cSld>
</p:sld>
</file>

<file path=ppt/slides/slide1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B2A0EFF5-590A-4CED-B783-AD3C4079F15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41BE3D26-7A3B-424E-B724-77D98B7EE87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요청에 넣을 자료</a:t>
            </a:r>
          </a:p>
        </p:txBody>
      </p:sp>
      <p:sp>
        <p:nvSpPr>
          <p:cNvPr id="3" name="">
            <a:extLst>
              <a:ext uri="{FF2B5EF4-FFF2-40B4-BE49-F238E27FC236}">
                <ns2:creationId id="{E8E0CC14-B8F9-46B1-A8F2-FF4C1B318856}"/>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1">
                <a:solidFill>
                  <a:srgbClr val="172F39"/>
                </a:solidFill>
                <a:latin typeface="Noto Sans KR"/>
                <a:ea typeface="Noto Sans KR"/>
                <a:cs typeface="Noto Sans KR"/>
              </a:defRPr>
            </a:pPr>
            <a:r>
              <a:t>28 경계 수정에 자료 세 개를 고르세요.</a:t>
            </a:r>
          </a:p>
        </p:txBody>
      </p:sp>
      <p:sp>
        <p:nvSpPr>
          <p:cNvPr id="4" name="">
            <a:extLst>
              <a:ext uri="{FF2B5EF4-FFF2-40B4-BE49-F238E27FC236}">
                <ns2:creationId id="{072DA53F-9C5C-4B44-A647-8EF2B4F5E94D}"/>
              </a:ext>
            </a:extLst>
          </p:cNvPr>
          <p:cNvSpPr>
            <a:spLocks noGrp="1"/>
          </p:cNvSpPr>
          <p:nvPr/>
        </p:nvSpPr>
        <p:spPr>
          <a:xfrm>
            <a:off x="685800" y="2728722"/>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5" name="">
            <a:extLst>
              <a:ext uri="{FF2B5EF4-FFF2-40B4-BE49-F238E27FC236}">
                <ns2:creationId id="{C885A4D0-0A27-434C-9A98-D1EE6ADA8F57}"/>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C73C23C7-17E1-4406-91D7-39D2915518D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A598E6BD-3E49-44B8-AD20-84E22631EA4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CD6CA70D-D893-4626-B291-841A7C62DFC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97FCAB06-97F7-4B34-B4F8-8A84BFEAE8E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018</a:t>
            </a:r>
          </a:p>
        </p:txBody>
      </p:sp>
    </p:spTree>
    <p:extLst>
      <p:ext uri="{BB962C8B-B14F-4D97-AF65-F5344CB8AC3E}">
        <ns4:creationId val="1414086744"/>
      </p:ext>
    </p:extLst>
  </p:cSld>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73C59617-967C-4971-B071-50EE3FEAC95A}"/>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2교시</a:t>
            </a:r>
          </a:p>
        </p:txBody>
      </p:sp>
      <p:sp>
        <p:nvSpPr>
          <p:cNvPr id="2" name="">
            <a:extLst>
              <a:ext uri="{FF2B5EF4-FFF2-40B4-BE49-F238E27FC236}">
                <ns2:creationId id="{7ABD2A24-4727-44D7-A897-54B70E6724F4}"/>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검사할 조건을 적은 요청서</a:t>
            </a:r>
          </a:p>
        </p:txBody>
      </p:sp>
      <p:sp>
        <p:nvSpPr>
          <p:cNvPr id="3" name="">
            <a:extLst>
              <a:ext uri="{FF2B5EF4-FFF2-40B4-BE49-F238E27FC236}">
                <ns2:creationId id="{6FCD7C5F-4C31-4785-AB38-9633EF628A95}"/>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50분 수업입니다.</a:t>
            </a:r>
          </a:p>
        </p:txBody>
      </p:sp>
      <p:sp>
        <p:nvSpPr>
          <p:cNvPr id="4" name="">
            <a:extLst>
              <a:ext uri="{FF2B5EF4-FFF2-40B4-BE49-F238E27FC236}">
                <ns2:creationId id="{EACB7E84-47A5-47DC-BAFE-537486A0CCD0}"/>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예제를 함께 보고 따라 해 봅니다.</a:t>
            </a:r>
          </a:p>
        </p:txBody>
      </p:sp>
      <p:sp>
        <p:nvSpPr>
          <p:cNvPr id="5" name="">
            <a:extLst>
              <a:ext uri="{FF2B5EF4-FFF2-40B4-BE49-F238E27FC236}">
                <ns2:creationId id="{0BA2A7A8-428A-402D-902F-894B6BD1C69F}"/>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결과가 예상과 같은지 확인해 봅니다.</a:t>
            </a:r>
          </a:p>
        </p:txBody>
      </p:sp>
      <p:sp>
        <p:nvSpPr>
          <p:cNvPr id="6" name="">
            <a:extLst>
              <a:ext uri="{FF2B5EF4-FFF2-40B4-BE49-F238E27FC236}">
                <ns2:creationId id="{40B4FE00-DFC0-407F-AD79-8C0A1B885500}"/>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43B52779-9677-48E3-A051-61AA284351F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CC8B8241-B24A-4B41-B6FE-7873CFE6DEB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F1F3F75A-9CAE-4C51-8E93-48EC62B4E72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12671A0C-3D45-4814-8F14-3721FE5283A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019</a:t>
            </a:r>
          </a:p>
        </p:txBody>
      </p:sp>
    </p:spTree>
    <p:extLst>
      <p:ext uri="{BB962C8B-B14F-4D97-AF65-F5344CB8AC3E}">
        <ns4:creationId val="144174293"/>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A6EE8A1B-7195-404C-AE02-B47FB12045F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1B59F91F-E327-4F04-A7A4-51E754C94A3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규칙에 맞는 검사 정하기</a:t>
            </a:r>
          </a:p>
        </p:txBody>
      </p:sp>
      <p:sp>
        <p:nvSpPr>
          <p:cNvPr id="3" name="">
            <a:extLst>
              <a:ext uri="{FF2B5EF4-FFF2-40B4-BE49-F238E27FC236}">
                <ns2:creationId id="{89202610-4EAE-4014-B21D-923837C77296}"/>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입력별 기대 결과</a:t>
            </a:r>
          </a:p>
        </p:txBody>
      </p:sp>
      <p:sp>
        <p:nvSpPr>
          <p:cNvPr id="4" name="">
            <a:extLst>
              <a:ext uri="{FF2B5EF4-FFF2-40B4-BE49-F238E27FC236}">
                <ns2:creationId id="{E4EA5252-D8B5-463D-BD5E-1B8A96F2ED82}"/>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정상·경계·누락·오류의 기대 결과를 정합니다.</a:t>
            </a:r>
          </a:p>
        </p:txBody>
      </p:sp>
      <p:sp>
        <p:nvSpPr>
          <p:cNvPr id="5" name="">
            <a:extLst>
              <a:ext uri="{FF2B5EF4-FFF2-40B4-BE49-F238E27FC236}">
                <ns2:creationId id="{0BA98795-7150-4B2E-BEBA-5EC90EB97F96}"/>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함수 이름과 반환값도 그대로 지켜야 합니다.</a:t>
            </a:r>
          </a:p>
        </p:txBody>
      </p:sp>
      <p:sp>
        <p:nvSpPr>
          <p:cNvPr id="6" name="">
            <a:extLst>
              <a:ext uri="{FF2B5EF4-FFF2-40B4-BE49-F238E27FC236}">
                <ns2:creationId id="{92554290-5671-4662-A50E-C2BD4ABE419C}"/>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입력에 따른 분류</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198776"/>
                <a:gridCol w="3039974"/>
              </a:tblGrid>
              <a:tr h="514350">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기대 결과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27.9</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28</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주의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None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미측정</a:t>
                      </a:r>
                    </a:p>
                  </a:txBody>
                  <a:tcPr marL="114300" marR="114300" marT="76200" marB="76200" anchor="ctr">
                    <a:solidFill>
                      <a:srgbClr val="FFFFFF"/>
                    </a:solidFill>
                  </a:tcPr>
                </a:tc>
              </a:tr>
            </a:tbl>
          </a:graphicData>
        </a:graphic>
      </p:graphicFrame>
      <p:sp>
        <p:nvSpPr>
          <p:cNvPr id="8" name="">
            <a:extLst>
              <a:ext uri="{FF2B5EF4-FFF2-40B4-BE49-F238E27FC236}">
                <ns2:creationId id="{2EDD2B41-AB44-4255-BB25-DBAF3D15D2FB}"/>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DAE72DC7-F153-40EA-A813-FFFC1023D78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48A9A2AE-43E2-4BB9-ACF2-53C0E098ED3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D986D0E3-A84E-44C9-B551-59443DBC138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EA77B9DC-C477-4A14-9163-9819B177919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020</a:t>
            </a:r>
          </a:p>
        </p:txBody>
      </p:sp>
    </p:spTree>
    <p:extLst>
      <p:ext uri="{BB962C8B-B14F-4D97-AF65-F5344CB8AC3E}">
        <ns4:creationId val="1580691717"/>
      </p:ext>
    </p:extLst>
  </p:cSld>
</p:sld>
</file>

<file path=ppt/slides/slide2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340DC934-78B4-4D37-871F-6D5B0FCBE9C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CF6E8757-56A6-4DA4-8803-4D2AAFD513D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A04  입력과 출력의 약속</a:t>
            </a:r>
          </a:p>
        </p:txBody>
      </p:sp>
      <p:sp>
        <p:nvSpPr>
          <p:cNvPr id="3" name="">
            <a:extLst>
              <a:ext uri="{FF2B5EF4-FFF2-40B4-BE49-F238E27FC236}">
                <ns2:creationId id="{D214702C-7640-470C-81B8-8331E773B982}"/>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입력 범위 0~50</a:t>
            </a:r>
          </a:p>
        </p:txBody>
      </p:sp>
      <p:sp>
        <p:nvSpPr>
          <p:cNvPr id="4" name="">
            <a:extLst>
              <a:ext uri="{FF2B5EF4-FFF2-40B4-BE49-F238E27FC236}">
                <ns2:creationId id="{4F04232D-549B-4905-8497-F8D855BD121F}"/>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0~50의 숫자 온도를 받습니다.</a:t>
            </a:r>
          </a:p>
        </p:txBody>
      </p:sp>
      <p:sp>
        <p:nvSpPr>
          <p:cNvPr id="5" name="">
            <a:extLst>
              <a:ext uri="{FF2B5EF4-FFF2-40B4-BE49-F238E27FC236}">
                <ns2:creationId id="{6E116F0C-93BE-489E-95B4-46CE54EDDEF7}"/>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28에서 나뉘는 상태</a:t>
            </a:r>
          </a:p>
        </p:txBody>
      </p:sp>
      <p:sp>
        <p:nvSpPr>
          <p:cNvPr id="6" name="">
            <a:extLst>
              <a:ext uri="{FF2B5EF4-FFF2-40B4-BE49-F238E27FC236}">
                <ns2:creationId id="{22AB5669-F527-48AE-868F-E4387A10273A}"/>
              </a:ext>
            </a:extLst>
          </p:cNvPr>
          <p:cNvSpPr>
            <a:spLocks noGrp="1"/>
          </p:cNvSpPr>
          <p:nvPr/>
        </p:nvSpPr>
        <p:spPr>
          <a:xfrm>
            <a:off x="6400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28 이상은 주의, 미만은 정상입니다.</a:t>
            </a:r>
          </a:p>
        </p:txBody>
      </p:sp>
      <p:sp>
        <p:nvSpPr>
          <p:cNvPr id="7" name="">
            <a:extLst>
              <a:ext uri="{FF2B5EF4-FFF2-40B4-BE49-F238E27FC236}">
                <ns2:creationId id="{ECD6AF57-370E-4E93-98D8-4FC68F31EAB1}"/>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AF8BEB86-C2EA-40C5-80FA-A5036269B09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EBCECC7D-16F5-414C-8847-A00DA64F2BE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5ABA65CB-A6D8-4C84-A0AD-0068285F546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4EBD3491-A266-484F-AE1F-A38104649B0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021</a:t>
            </a:r>
          </a:p>
        </p:txBody>
      </p:sp>
    </p:spTree>
    <p:extLst>
      <p:ext uri="{BB962C8B-B14F-4D97-AF65-F5344CB8AC3E}">
        <ns4:creationId val="1890455883"/>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15882570-B5F4-4B18-A872-FE2EC6F680C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662C601A-7A9A-4A6C-A6E7-24498B16798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입력과 출력의 약속의 예</a:t>
            </a:r>
          </a:p>
        </p:txBody>
      </p:sp>
      <p:graphicFrame>
        <p:nvGraphicFramePr>
          <p:cNvPr id="12" name=""/>
          <p:cNvGraphicFramePr/>
          <p:nvPr/>
        </p:nvGraphicFramePr>
        <p:xfrm>
          <a:off x="685800" y="1809750"/>
          <a:ext cx="10820400" cy="2682240"/>
        </p:xfrm>
        <a:graphic>
          <a:graphicData uri="http://schemas.openxmlformats.org/drawingml/2006/table">
            <a:tbl>
              <a:tblPr firstRow="1" bandRow="0"/>
              <a:tblGrid>
                <a:gridCol w="5935495"/>
                <a:gridCol w="4884905"/>
              </a:tblGrid>
              <a:tr h="536448">
                <a:tc>
                  <a:txBody>
                    <a:bodyPr wrap="square"/>
                    <a:lstStyle/>
                    <a:p>
                      <a:pPr>
                        <a:lnSpc>
                          <a:spcPct val="102000"/>
                        </a:lnSpc>
                        <a:buNone/>
                      </a:pPr>
                      <a:r>
                        <a:rPr sz="202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출력</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27.9</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정상</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28</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주의</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None</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미측정</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문자·범위 밖</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입력 오류</a:t>
                      </a:r>
                    </a:p>
                  </a:txBody>
                  <a:tcPr marL="114300" marR="114300" marT="76200" marB="76200" anchor="ctr">
                    <a:solidFill>
                      <a:srgbClr val="FFFFFF"/>
                    </a:solidFill>
                  </a:tcPr>
                </a:tc>
              </a:tr>
            </a:tbl>
          </a:graphicData>
        </a:graphic>
      </p:graphicFrame>
      <p:sp>
        <p:nvSpPr>
          <p:cNvPr id="4" name="">
            <a:extLst>
              <a:ext uri="{FF2B5EF4-FFF2-40B4-BE49-F238E27FC236}">
                <ns2:creationId id="{D13E305B-09B3-48A4-B291-BC614245C9E1}"/>
              </a:ext>
            </a:extLst>
          </p:cNvPr>
          <p:cNvSpPr>
            <a:spLocks noGrp="1"/>
          </p:cNvSpPr>
          <p:nvPr/>
        </p:nvSpPr>
        <p:spPr>
          <a:xfrm>
            <a:off x="685800" y="4720590"/>
            <a:ext cx="10820400" cy="395288"/>
          </a:xfrm>
          <a:prstGeom prst="rect">
            <a:avLst/>
          </a:prstGeom>
          <a:noFill/>
          <a:ln w="0">
            <a:noFill/>
          </a:ln>
        </p:spPr>
        <p:txBody>
          <a:bodyPr wrap="square" lIns="0" tIns="0" rIns="0" bIns="0">
            <a:noAutofit/>
          </a:bodyPr>
          <a:lstStyle/>
          <a:p>
            <a:pPr>
              <a:defRPr sz="1875" b="1">
                <a:solidFill>
                  <a:srgbClr val="08786F"/>
                </a:solidFill>
                <a:latin typeface="Noto Sans KR"/>
                <a:ea typeface="Noto Sans KR"/>
                <a:cs typeface="Noto Sans KR"/>
              </a:defRPr>
            </a:pPr>
            <a:r>
              <a:t>문자 숫자와 실제 숫자를 구별합니다.</a:t>
            </a:r>
          </a:p>
        </p:txBody>
      </p:sp>
      <p:sp>
        <p:nvSpPr>
          <p:cNvPr id="5" name="">
            <a:extLst>
              <a:ext uri="{FF2B5EF4-FFF2-40B4-BE49-F238E27FC236}">
                <ns2:creationId id="{744E8168-1AAA-447C-9D77-C16E3F3313C2}"/>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A5B7F777-1F7F-41EF-9BFA-74FCEDB108F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00D49F6C-80A9-4111-95EE-D540500A8C6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C366798A-A5D5-4098-BF72-4941C66AF87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ABE27300-BC38-41A7-A756-9D0DB2FB110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022</a:t>
            </a:r>
          </a:p>
        </p:txBody>
      </p:sp>
    </p:spTree>
    <p:extLst>
      <p:ext uri="{BB962C8B-B14F-4D97-AF65-F5344CB8AC3E}">
        <ns4:creationId val="46491480"/>
      </p:ext>
    </p:extLst>
  </p:cSld>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97DCDE51-6AB3-4F86-AA3A-70CD2D091B2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2208442D-FED8-4BF1-BDE8-C667187B694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함수의 입력·출력 약속 지키기</a:t>
            </a:r>
          </a:p>
        </p:txBody>
      </p:sp>
      <p:sp>
        <p:nvSpPr>
          <p:cNvPr id="3" name="">
            <a:extLst>
              <a:ext uri="{FF2B5EF4-FFF2-40B4-BE49-F238E27FC236}">
                <ns2:creationId id="{D14750C8-E932-4F82-8C9B-3FDA4B40DACF}"/>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명령·입력</a:t>
            </a:r>
          </a:p>
        </p:txBody>
      </p:sp>
      <p:sp>
        <p:nvSpPr>
          <p:cNvPr id="4" name="">
            <a:extLst>
              <a:ext uri="{FF2B5EF4-FFF2-40B4-BE49-F238E27FC236}">
                <ns2:creationId id="{7832DB43-6319-4FBC-978A-559AA0E86EC3}"/>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함수 이름과 반환 문자열을 유지합니다.</a:t>
            </a:r>
          </a:p>
        </p:txBody>
      </p:sp>
      <p:sp>
        <p:nvSpPr>
          <p:cNvPr id="5" name="">
            <a:extLst>
              <a:ext uri="{FF2B5EF4-FFF2-40B4-BE49-F238E27FC236}">
                <ns2:creationId id="{67C9F12C-9709-4102-9C40-6C3A00B9109E}"/>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값이 없을 때 임의로 정상 값을 넣지 않습니다.</a:t>
            </a:r>
          </a:p>
        </p:txBody>
      </p:sp>
      <p:sp>
        <p:nvSpPr>
          <p:cNvPr id="6" name="">
            <a:extLst>
              <a:ext uri="{FF2B5EF4-FFF2-40B4-BE49-F238E27FC236}">
                <ns2:creationId id="{4D8BC0A6-9F44-496C-9620-51BBD75A96DD}"/>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입력에 따른 분류</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198776"/>
                <a:gridCol w="3039974"/>
              </a:tblGrid>
              <a:tr h="514350">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기대 결과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27.9</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28</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주의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None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미측정</a:t>
                      </a:r>
                    </a:p>
                  </a:txBody>
                  <a:tcPr marL="114300" marR="114300" marT="76200" marB="76200" anchor="ctr">
                    <a:solidFill>
                      <a:srgbClr val="FFFFFF"/>
                    </a:solidFill>
                  </a:tcPr>
                </a:tc>
              </a:tr>
            </a:tbl>
          </a:graphicData>
        </a:graphic>
      </p:graphicFrame>
      <p:sp>
        <p:nvSpPr>
          <p:cNvPr id="8" name="">
            <a:extLst>
              <a:ext uri="{FF2B5EF4-FFF2-40B4-BE49-F238E27FC236}">
                <ns2:creationId id="{E1E46592-3971-4A29-AF63-76A7698F33BF}"/>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BE0F295F-E962-4BA6-8BE7-ABAC9043D08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F8FA2436-C9FA-4259-8531-78EAFB111CE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CE19D930-808E-4EF0-8ABA-780CCA613FD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E782A966-121F-47A8-BCB8-7622FA1E1F8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023</a:t>
            </a:r>
          </a:p>
        </p:txBody>
      </p:sp>
    </p:spTree>
    <p:extLst>
      <p:ext uri="{BB962C8B-B14F-4D97-AF65-F5344CB8AC3E}">
        <ns4:creationId val="1812839483"/>
      </p:ext>
    </p:extLst>
  </p:cSld>
</p:sld>
</file>

<file path=ppt/slides/slide2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2783B8DE-8ABB-406D-B8C5-6EA53552EB5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4EE8DF52-FC96-4D1A-AB10-B4F6731667A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0과 값 없음</a:t>
            </a:r>
          </a:p>
        </p:txBody>
      </p:sp>
      <p:sp>
        <p:nvSpPr>
          <p:cNvPr id="3" name="">
            <a:extLst>
              <a:ext uri="{FF2B5EF4-FFF2-40B4-BE49-F238E27FC236}">
                <ns2:creationId id="{539B0781-3D63-427E-986D-859F78522452}"/>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1">
                <a:solidFill>
                  <a:srgbClr val="172F39"/>
                </a:solidFill>
                <a:latin typeface="Noto Sans KR"/>
                <a:ea typeface="Noto Sans KR"/>
                <a:cs typeface="Noto Sans KR"/>
              </a:defRPr>
            </a:pPr>
            <a:r>
              <a:t>0과 None은 같은 결과를 뜻하나요?</a:t>
            </a:r>
          </a:p>
        </p:txBody>
      </p:sp>
      <p:sp>
        <p:nvSpPr>
          <p:cNvPr id="4" name="">
            <a:extLst>
              <a:ext uri="{FF2B5EF4-FFF2-40B4-BE49-F238E27FC236}">
                <ns2:creationId id="{DF62B969-02E4-4933-8B75-7F6F8B1DCB1D}"/>
              </a:ext>
            </a:extLst>
          </p:cNvPr>
          <p:cNvSpPr>
            <a:spLocks noGrp="1"/>
          </p:cNvSpPr>
          <p:nvPr/>
        </p:nvSpPr>
        <p:spPr>
          <a:xfrm>
            <a:off x="685800" y="2728722"/>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5" name="">
            <a:extLst>
              <a:ext uri="{FF2B5EF4-FFF2-40B4-BE49-F238E27FC236}">
                <ns2:creationId id="{BA4D5ADD-C18A-4E16-83ED-1E95E522C5DB}"/>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E9FB0879-2870-42E0-B954-9B67729132C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79951735-1EE0-4F6D-B7EC-4551727BECA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D4958F0F-5D98-4A4D-AD5F-F7C4849FC28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3A402B59-310F-463E-BCB9-262F68E83A6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024</a:t>
            </a:r>
          </a:p>
        </p:txBody>
      </p:sp>
    </p:spTree>
    <p:extLst>
      <p:ext uri="{BB962C8B-B14F-4D97-AF65-F5344CB8AC3E}">
        <ns4:creationId val="1859952127"/>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1EB46CF9-7D24-4398-A348-A0728122CC5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DB0F1B14-9CCC-4E69-A91D-1F1AC6C6C78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A05  경계 검사</a:t>
            </a:r>
          </a:p>
        </p:txBody>
      </p:sp>
      <p:sp>
        <p:nvSpPr>
          <p:cNvPr id="3" name="">
            <a:extLst>
              <a:ext uri="{FF2B5EF4-FFF2-40B4-BE49-F238E27FC236}">
                <ns2:creationId id="{4AD6D57D-CBA7-4BD0-A3EF-0E4DB7788B95}"/>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A95BCD4F-51A9-4882-B438-EE639BD2CA8E}"/>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규칙이 바뀌는 바로 앞·같은 값·뒤를 봅니다.</a:t>
            </a:r>
          </a:p>
        </p:txBody>
      </p:sp>
      <p:sp>
        <p:nvSpPr>
          <p:cNvPr id="5" name="">
            <a:extLst>
              <a:ext uri="{FF2B5EF4-FFF2-40B4-BE49-F238E27FC236}">
                <ns2:creationId id="{26A82E14-8288-4A7F-8254-F25AC422DC8F}"/>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평범한 입력 한 개로는 경계를 알 수 없습니다.</a:t>
            </a:r>
          </a:p>
        </p:txBody>
      </p:sp>
      <p:sp>
        <p:nvSpPr>
          <p:cNvPr id="6" name="">
            <a:extLst>
              <a:ext uri="{FF2B5EF4-FFF2-40B4-BE49-F238E27FC236}">
                <ns2:creationId id="{5CB5E770-D42C-4D33-87DE-8D3192DC46EC}"/>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기준 바로 앞·같음·뒤</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132099"/>
                <a:gridCol w="3106651"/>
              </a:tblGrid>
              <a:tr h="514350">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기대 결과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27.9</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28.0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주의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28.1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주의</a:t>
                      </a:r>
                    </a:p>
                  </a:txBody>
                  <a:tcPr marL="114300" marR="114300" marT="76200" marB="76200" anchor="ctr">
                    <a:solidFill>
                      <a:srgbClr val="FFFFFF"/>
                    </a:solidFill>
                  </a:tcPr>
                </a:tc>
              </a:tr>
            </a:tbl>
          </a:graphicData>
        </a:graphic>
      </p:graphicFrame>
      <p:sp>
        <p:nvSpPr>
          <p:cNvPr id="8" name="">
            <a:extLst>
              <a:ext uri="{FF2B5EF4-FFF2-40B4-BE49-F238E27FC236}">
                <ns2:creationId id="{36DAE915-7344-46A5-A0EC-551E90558201}"/>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8118FF22-B67F-4BE2-95C9-1A159043421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5E78BDA1-CB99-436A-B959-8BA6E58AB3C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C8660CCD-5D4C-4C1A-8746-6B382525132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7A709B07-2103-41DF-9EB2-11E3D877F33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025</a:t>
            </a:r>
          </a:p>
        </p:txBody>
      </p:sp>
    </p:spTree>
    <p:extLst>
      <p:ext uri="{BB962C8B-B14F-4D97-AF65-F5344CB8AC3E}">
        <ns4:creationId val="1047077496"/>
      </p:ext>
    </p:extLst>
  </p:cSld>
</p:sld>
</file>

<file path=ppt/slides/slide2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62167AA7-BF79-4062-86F7-5226B5F6895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CCEBB480-EEC0-413F-B38B-7B5ACA689A7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경계 검사의 예</a:t>
            </a:r>
          </a:p>
        </p:txBody>
      </p:sp>
      <p:graphicFrame>
        <p:nvGraphicFramePr>
          <p:cNvPr id="12" name=""/>
          <p:cNvGraphicFramePr/>
          <p:nvPr/>
        </p:nvGraphicFramePr>
        <p:xfrm>
          <a:off x="685800" y="1809750"/>
          <a:ext cx="10820400" cy="2145792"/>
        </p:xfrm>
        <a:graphic>
          <a:graphicData uri="http://schemas.openxmlformats.org/drawingml/2006/table">
            <a:tbl>
              <a:tblPr firstRow="1" bandRow="0"/>
              <a:tblGrid>
                <a:gridCol w="5415605"/>
                <a:gridCol w="5404795"/>
              </a:tblGrid>
              <a:tr h="536448">
                <a:tc>
                  <a:txBody>
                    <a:bodyPr wrap="square"/>
                    <a:lstStyle/>
                    <a:p>
                      <a:pPr>
                        <a:lnSpc>
                          <a:spcPct val="102000"/>
                        </a:lnSpc>
                        <a:buNone/>
                      </a:pPr>
                      <a:r>
                        <a:rPr sz="202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기대</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27.9</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정상</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28.0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주의</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28.1</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주의</a:t>
                      </a:r>
                    </a:p>
                  </a:txBody>
                  <a:tcPr marL="114300" marR="114300" marT="76200" marB="76200" anchor="ctr">
                    <a:solidFill>
                      <a:srgbClr val="FFFFFF"/>
                    </a:solidFill>
                  </a:tcPr>
                </a:tc>
              </a:tr>
            </a:tbl>
          </a:graphicData>
        </a:graphic>
      </p:graphicFrame>
      <p:sp>
        <p:nvSpPr>
          <p:cNvPr id="4" name="">
            <a:extLst>
              <a:ext uri="{FF2B5EF4-FFF2-40B4-BE49-F238E27FC236}">
                <ns2:creationId id="{08F73A99-AE64-4B13-9FCC-6E24627FEA12}"/>
              </a:ext>
            </a:extLst>
          </p:cNvPr>
          <p:cNvSpPr>
            <a:spLocks noGrp="1"/>
          </p:cNvSpPr>
          <p:nvPr/>
        </p:nvSpPr>
        <p:spPr>
          <a:xfrm>
            <a:off x="685800" y="4184142"/>
            <a:ext cx="10820400" cy="395288"/>
          </a:xfrm>
          <a:prstGeom prst="rect">
            <a:avLst/>
          </a:prstGeom>
          <a:noFill/>
          <a:ln w="0">
            <a:noFill/>
          </a:ln>
        </p:spPr>
        <p:txBody>
          <a:bodyPr wrap="square" lIns="0" tIns="0" rIns="0" bIns="0">
            <a:noAutofit/>
          </a:bodyPr>
          <a:lstStyle/>
          <a:p>
            <a:pPr>
              <a:defRPr sz="1875" b="1">
                <a:solidFill>
                  <a:srgbClr val="08786F"/>
                </a:solidFill>
                <a:latin typeface="Noto Sans KR"/>
                <a:ea typeface="Noto Sans KR"/>
                <a:cs typeface="Noto Sans KR"/>
              </a:defRPr>
            </a:pPr>
            <a:r>
              <a:t>“이상”은 기준값도 포함하므로 &gt;=를 씁니다.</a:t>
            </a:r>
          </a:p>
        </p:txBody>
      </p:sp>
      <p:sp>
        <p:nvSpPr>
          <p:cNvPr id="5" name="">
            <a:extLst>
              <a:ext uri="{FF2B5EF4-FFF2-40B4-BE49-F238E27FC236}">
                <ns2:creationId id="{540B9476-16CD-4A54-A0F7-8B9C0829B9F0}"/>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B2DEBD53-A629-4C05-88F0-5A6CEEB2F72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8FAE017F-916B-46BD-806E-A4D8A716B03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CD5DFCE0-1BB1-488D-93A2-673204C5427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C26C3AA8-57FE-46DD-BDA4-00C51A7687F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026</a:t>
            </a:r>
          </a:p>
        </p:txBody>
      </p:sp>
    </p:spTree>
    <p:extLst>
      <p:ext uri="{BB962C8B-B14F-4D97-AF65-F5344CB8AC3E}">
        <ns4:creationId val="1996236875"/>
      </p:ext>
    </p:extLst>
  </p:cSld>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4D5F2A21-0E0E-4215-BC24-F21267E9192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DC9C2AAB-8950-4C35-95B0-2907BD2926A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기준 변경의 영향</a:t>
            </a:r>
          </a:p>
        </p:txBody>
      </p:sp>
      <p:sp>
        <p:nvSpPr>
          <p:cNvPr id="3" name="">
            <a:extLst>
              <a:ext uri="{FF2B5EF4-FFF2-40B4-BE49-F238E27FC236}">
                <ns2:creationId id="{FE826EFC-6B20-4EA6-A2FA-DD503EC4054E}"/>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명령·입력</a:t>
            </a:r>
          </a:p>
        </p:txBody>
      </p:sp>
      <p:sp>
        <p:nvSpPr>
          <p:cNvPr id="4" name="">
            <a:extLst>
              <a:ext uri="{FF2B5EF4-FFF2-40B4-BE49-F238E27FC236}">
                <ns2:creationId id="{9CDA6F11-D0BE-46E5-B596-774CEA8110AB}"/>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기준을 27로 낮추면 27.9도 주의가 됩니다.</a:t>
            </a:r>
          </a:p>
        </p:txBody>
      </p:sp>
      <p:sp>
        <p:nvSpPr>
          <p:cNvPr id="5" name="">
            <a:extLst>
              <a:ext uri="{FF2B5EF4-FFF2-40B4-BE49-F238E27FC236}">
                <ns2:creationId id="{09B593A1-5B97-4DAA-BE13-4CC67903C4A9}"/>
              </a:ext>
            </a:extLst>
          </p:cNvPr>
          <p:cNvSpPr>
            <a:spLocks noGrp="1"/>
          </p:cNvSpPr>
          <p:nvPr/>
        </p:nvSpPr>
        <p:spPr>
          <a:xfrm>
            <a:off x="685800" y="31984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기호 수정과 기준 수정은 다릅니다.</a:t>
            </a:r>
          </a:p>
        </p:txBody>
      </p:sp>
      <p:sp>
        <p:nvSpPr>
          <p:cNvPr id="6" name="">
            <a:extLst>
              <a:ext uri="{FF2B5EF4-FFF2-40B4-BE49-F238E27FC236}">
                <ns2:creationId id="{92371EAE-E483-4D2B-95D1-CDD47F293E0E}"/>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기준 바로 앞·같음·뒤</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132099"/>
                <a:gridCol w="3106651"/>
              </a:tblGrid>
              <a:tr h="514350">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기대 결과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27.9</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28.0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주의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28.1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주의</a:t>
                      </a:r>
                    </a:p>
                  </a:txBody>
                  <a:tcPr marL="114300" marR="114300" marT="76200" marB="76200" anchor="ctr">
                    <a:solidFill>
                      <a:srgbClr val="FFFFFF"/>
                    </a:solidFill>
                  </a:tcPr>
                </a:tc>
              </a:tr>
            </a:tbl>
          </a:graphicData>
        </a:graphic>
      </p:graphicFrame>
      <p:sp>
        <p:nvSpPr>
          <p:cNvPr id="8" name="">
            <a:extLst>
              <a:ext uri="{FF2B5EF4-FFF2-40B4-BE49-F238E27FC236}">
                <ns2:creationId id="{74857B00-05E1-4853-94EB-DDBC68A67942}"/>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ADF150D2-7DE9-41CB-8B81-524F414BB1F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7711B4FC-DAC1-4128-8622-3F0D3622DFA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67072100-7D0B-4429-9613-20580272ACC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69BFAE73-0EA6-498B-B5BB-4E24BF8FD2B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027</a:t>
            </a:r>
          </a:p>
        </p:txBody>
      </p:sp>
    </p:spTree>
    <p:extLst>
      <p:ext uri="{BB962C8B-B14F-4D97-AF65-F5344CB8AC3E}">
        <ns4:creationId val="256224911"/>
      </p:ext>
    </p:extLst>
  </p:cSld>
</p:sld>
</file>

<file path=ppt/slides/slide2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D31663BA-F202-40A2-8860-F24387245DE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475652F1-70C4-46DC-B1B7-8EA73929EC2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다른 경계 적용</a:t>
            </a:r>
          </a:p>
        </p:txBody>
      </p:sp>
      <p:sp>
        <p:nvSpPr>
          <p:cNvPr id="3" name="">
            <a:extLst>
              <a:ext uri="{FF2B5EF4-FFF2-40B4-BE49-F238E27FC236}">
                <ns2:creationId id="{FAA87307-9B80-4B6B-A165-02D90EF8590C}"/>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새 규칙은 5 초과 점검입니다.</a:t>
            </a:r>
          </a:p>
        </p:txBody>
      </p:sp>
      <p:sp>
        <p:nvSpPr>
          <p:cNvPr id="4" name="">
            <a:extLst>
              <a:ext uri="{FF2B5EF4-FFF2-40B4-BE49-F238E27FC236}">
                <ns2:creationId id="{E7E124BD-E655-46A5-9C26-2B162491A2DD}"/>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4.9·5·5.1의 결과는 무엇인가요?</a:t>
            </a:r>
          </a:p>
        </p:txBody>
      </p:sp>
      <p:sp>
        <p:nvSpPr>
          <p:cNvPr id="5" name="">
            <a:extLst>
              <a:ext uri="{FF2B5EF4-FFF2-40B4-BE49-F238E27FC236}">
                <ns2:creationId id="{7F9D593A-6B5C-4A9A-B090-8716F80B8F87}"/>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6" name="">
            <a:extLst>
              <a:ext uri="{FF2B5EF4-FFF2-40B4-BE49-F238E27FC236}">
                <ns2:creationId id="{5A63D758-4B04-45F1-AAC4-EB9E59E8DB36}"/>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CA34F87D-195B-4C1E-A2E1-93AE3F0CFBC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F440350B-D163-46C9-90E7-F92DE50F970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BC4D262A-24EC-4AEA-9002-3A59858CDE6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E2F3DFDE-170C-4214-BF62-C09C322CA4B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028</a:t>
            </a:r>
          </a:p>
        </p:txBody>
      </p:sp>
    </p:spTree>
    <p:extLst>
      <p:ext uri="{BB962C8B-B14F-4D97-AF65-F5344CB8AC3E}">
        <ns4:creationId val="1583871054"/>
      </p:ext>
    </p:extLst>
  </p:cSld>
</p:sld>
</file>

<file path=ppt/slides/slide2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4EE19E14-6709-42C9-B744-7B9536074ED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823C4454-1592-490B-A25E-41B330A61AF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A06  확인할 조건까지 요청하기</a:t>
            </a:r>
          </a:p>
        </p:txBody>
      </p:sp>
      <p:sp>
        <p:nvSpPr>
          <p:cNvPr id="3" name="">
            <a:extLst>
              <a:ext uri="{FF2B5EF4-FFF2-40B4-BE49-F238E27FC236}">
                <ns2:creationId id="{49EDBF0A-B8B7-4F6F-A614-75440FF8D154}"/>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E18887BE-EE77-4AAE-9353-1FB097088A41}"/>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목적, 고칠 파일, 그대로 둘 조건을 적습니다.</a:t>
            </a:r>
          </a:p>
        </p:txBody>
      </p:sp>
      <p:sp>
        <p:nvSpPr>
          <p:cNvPr id="5" name="">
            <a:extLst>
              <a:ext uri="{FF2B5EF4-FFF2-40B4-BE49-F238E27FC236}">
                <ns2:creationId id="{D715FF29-04CC-4616-A659-14CE2FDF0C72}"/>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어떤 입력으로 무슨 결과를 볼지 정합니다.</a:t>
            </a:r>
          </a:p>
        </p:txBody>
      </p:sp>
      <p:sp>
        <p:nvSpPr>
          <p:cNvPr id="6" name="">
            <a:extLst>
              <a:ext uri="{FF2B5EF4-FFF2-40B4-BE49-F238E27FC236}">
                <ns2:creationId id="{0BA76F4B-812C-489A-A030-EB1BD43C066A}"/>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수정 요청의 내용</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1730102"/>
                <a:gridCol w="3508648"/>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적을 내용</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목적</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28 경계 수정</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대상</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classify 함수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유지</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기준·이름·출력</a:t>
                      </a:r>
                    </a:p>
                  </a:txBody>
                  <a:tcPr marL="114300" marR="114300" marT="76200" marB="76200" anchor="ctr">
                    <a:solidFill>
                      <a:srgbClr val="FFFFFF"/>
                    </a:solidFill>
                  </a:tcPr>
                </a:tc>
              </a:tr>
            </a:tbl>
          </a:graphicData>
        </a:graphic>
      </p:graphicFrame>
      <p:sp>
        <p:nvSpPr>
          <p:cNvPr id="8" name="">
            <a:extLst>
              <a:ext uri="{FF2B5EF4-FFF2-40B4-BE49-F238E27FC236}">
                <ns2:creationId id="{07E7CDB4-B570-4578-A306-D21B5643561A}"/>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23A51311-6993-4756-A437-D33AA0EA5F8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10C9974F-AB6F-4CB0-80F0-2CAD348094D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3D4862BD-0644-4379-9735-2B928873EB8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51BD069A-3ECF-4E4B-AF70-8247523091C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029</a:t>
            </a:r>
          </a:p>
        </p:txBody>
      </p:sp>
    </p:spTree>
    <p:extLst>
      <p:ext uri="{BB962C8B-B14F-4D97-AF65-F5344CB8AC3E}">
        <ns4:creationId val="1046156254"/>
      </p:ext>
    </p:extLst>
  </p:cSld>
</p:sld>
</file>

<file path=ppt/slides/slide3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A6AC066A-9C47-4FDB-BBA0-0B4044F0F02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E6D200B0-99AB-4057-9013-E730B94EAA2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검사 가능한 요청의 예</a:t>
            </a:r>
          </a:p>
        </p:txBody>
      </p:sp>
      <p:graphicFrame>
        <p:nvGraphicFramePr>
          <p:cNvPr id="12" name=""/>
          <p:cNvGraphicFramePr/>
          <p:nvPr/>
        </p:nvGraphicFramePr>
        <p:xfrm>
          <a:off x="685800" y="1809750"/>
          <a:ext cx="10820400" cy="2682240"/>
        </p:xfrm>
        <a:graphic>
          <a:graphicData uri="http://schemas.openxmlformats.org/drawingml/2006/table">
            <a:tbl>
              <a:tblPr firstRow="1" bandRow="0"/>
              <a:tblGrid>
                <a:gridCol w="4529181"/>
                <a:gridCol w="6291219"/>
              </a:tblGrid>
              <a:tr h="536448">
                <a:tc>
                  <a:txBody>
                    <a:bodyPr wrap="square"/>
                    <a:lstStyle/>
                    <a:p>
                      <a:pPr>
                        <a:lnSpc>
                          <a:spcPct val="102000"/>
                        </a:lnSpc>
                        <a:buNone/>
                      </a:pPr>
                      <a:r>
                        <a:rPr sz="2025" b="1">
                          <a:solidFill>
                            <a:srgbClr val="172F39"/>
                          </a:solidFill>
                          <a:latin typeface="Noto Sans KR"/>
                          <a:ea typeface="Noto Sans KR"/>
                          <a:cs typeface="Noto Sans KR"/>
                        </a:rPr>
                        <a:t>요청의 줄</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적을 내용</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목적</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28 경계 수정</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대상</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classify 함수</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유지</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기준·이름·출력</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검사</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정상·경계·오류</a:t>
                      </a:r>
                    </a:p>
                  </a:txBody>
                  <a:tcPr marL="114300" marR="114300" marT="76200" marB="76200" anchor="ctr">
                    <a:solidFill>
                      <a:srgbClr val="FFFFFF"/>
                    </a:solidFill>
                  </a:tcPr>
                </a:tc>
              </a:tr>
            </a:tbl>
          </a:graphicData>
        </a:graphic>
      </p:graphicFrame>
      <p:sp>
        <p:nvSpPr>
          <p:cNvPr id="4" name="">
            <a:extLst>
              <a:ext uri="{FF2B5EF4-FFF2-40B4-BE49-F238E27FC236}">
                <ns2:creationId id="{FF5D598B-9509-4934-9997-ABE422ED69A7}"/>
              </a:ext>
            </a:extLst>
          </p:cNvPr>
          <p:cNvSpPr>
            <a:spLocks noGrp="1"/>
          </p:cNvSpPr>
          <p:nvPr/>
        </p:nvSpPr>
        <p:spPr>
          <a:xfrm>
            <a:off x="685800" y="4720590"/>
            <a:ext cx="10820400" cy="395288"/>
          </a:xfrm>
          <a:prstGeom prst="rect">
            <a:avLst/>
          </a:prstGeom>
          <a:noFill/>
          <a:ln w="0">
            <a:noFill/>
          </a:ln>
        </p:spPr>
        <p:txBody>
          <a:bodyPr wrap="square" lIns="0" tIns="0" rIns="0" bIns="0">
            <a:noAutofit/>
          </a:bodyPr>
          <a:lstStyle/>
          <a:p>
            <a:pPr>
              <a:defRPr sz="1875" b="1">
                <a:solidFill>
                  <a:srgbClr val="08786F"/>
                </a:solidFill>
                <a:latin typeface="Noto Sans KR"/>
                <a:ea typeface="Noto Sans KR"/>
                <a:cs typeface="Noto Sans KR"/>
              </a:defRPr>
            </a:pPr>
            <a:r>
              <a:t>“알아서 좋게”보다 확인할 조건을 씁니다.</a:t>
            </a:r>
          </a:p>
        </p:txBody>
      </p:sp>
      <p:sp>
        <p:nvSpPr>
          <p:cNvPr id="5" name="">
            <a:extLst>
              <a:ext uri="{FF2B5EF4-FFF2-40B4-BE49-F238E27FC236}">
                <ns2:creationId id="{E4968AF7-3FC1-4C3B-B4AA-2F2CD0FBEAE2}"/>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64CC592C-E07B-4CB8-A3AB-81F83AC715A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631AD0B4-9CBA-4D2A-9F17-E9DD792E502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45277EF6-67CF-41AA-9AD7-278ACC24993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BF5C32E2-8E3D-426C-9D07-C14AF2AF063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030</a:t>
            </a:r>
          </a:p>
        </p:txBody>
      </p:sp>
    </p:spTree>
    <p:extLst>
      <p:ext uri="{BB962C8B-B14F-4D97-AF65-F5344CB8AC3E}">
        <ns4:creationId val="1846000155"/>
      </p:ext>
    </p:extLst>
  </p:cSld>
</p:sld>
</file>

<file path=ppt/slides/slide3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C1921468-6016-4063-9E69-6B7D1B353A7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6017A3F5-A39D-4C2F-B71C-186E28E7E34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요청서 확인</a:t>
            </a:r>
          </a:p>
        </p:txBody>
      </p:sp>
      <p:sp>
        <p:nvSpPr>
          <p:cNvPr id="3" name="">
            <a:extLst>
              <a:ext uri="{FF2B5EF4-FFF2-40B4-BE49-F238E27FC236}">
                <ns2:creationId id="{6BD60175-9D27-44C1-934B-63D38D5105D3}"/>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명령·입력</a:t>
            </a:r>
          </a:p>
        </p:txBody>
      </p:sp>
      <p:sp>
        <p:nvSpPr>
          <p:cNvPr id="4" name="">
            <a:extLst>
              <a:ext uri="{FF2B5EF4-FFF2-40B4-BE49-F238E27FC236}">
                <ns2:creationId id="{8297CB1D-AB03-48F6-AEEE-19D4C36BC3FC}"/>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동료가 같은 검사를 할 수 있는지 읽습니다.</a:t>
            </a:r>
          </a:p>
        </p:txBody>
      </p:sp>
      <p:sp>
        <p:nvSpPr>
          <p:cNvPr id="5" name="">
            <a:extLst>
              <a:ext uri="{FF2B5EF4-FFF2-40B4-BE49-F238E27FC236}">
                <ns2:creationId id="{596A8308-F222-49E2-B461-965D92262500}"/>
              </a:ext>
            </a:extLst>
          </p:cNvPr>
          <p:cNvSpPr>
            <a:spLocks noGrp="1"/>
          </p:cNvSpPr>
          <p:nvPr/>
        </p:nvSpPr>
        <p:spPr>
          <a:xfrm>
            <a:off x="685800" y="31984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허용할 파일과 행동도 명시합니다.</a:t>
            </a:r>
          </a:p>
        </p:txBody>
      </p:sp>
      <p:sp>
        <p:nvSpPr>
          <p:cNvPr id="6" name="">
            <a:extLst>
              <a:ext uri="{FF2B5EF4-FFF2-40B4-BE49-F238E27FC236}">
                <ns2:creationId id="{591CAA53-6C6D-46AD-8952-FA876C48FB0C}"/>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수정 요청의 내용</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1730102"/>
                <a:gridCol w="3508648"/>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적을 내용</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목적</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28 경계 수정</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대상</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classify 함수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유지</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기준·이름·출력</a:t>
                      </a:r>
                    </a:p>
                  </a:txBody>
                  <a:tcPr marL="114300" marR="114300" marT="76200" marB="76200" anchor="ctr">
                    <a:solidFill>
                      <a:srgbClr val="FFFFFF"/>
                    </a:solidFill>
                  </a:tcPr>
                </a:tc>
              </a:tr>
            </a:tbl>
          </a:graphicData>
        </a:graphic>
      </p:graphicFrame>
      <p:sp>
        <p:nvSpPr>
          <p:cNvPr id="8" name="">
            <a:extLst>
              <a:ext uri="{FF2B5EF4-FFF2-40B4-BE49-F238E27FC236}">
                <ns2:creationId id="{CDB71AA0-A4D9-499A-A34D-EE6D0A79C02D}"/>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2930B4AD-70CF-4E9B-BC7E-99B9953AE6F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0FEEDF28-0EE8-4366-8705-4F44A096597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82698115-B99E-4AF6-840A-E8ED9D0EE51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ADDF3CC5-06E1-4B88-9D31-675CA267D54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031</a:t>
            </a:r>
          </a:p>
        </p:txBody>
      </p:sp>
    </p:spTree>
    <p:extLst>
      <p:ext uri="{BB962C8B-B14F-4D97-AF65-F5344CB8AC3E}">
        <ns4:creationId val="1625147232"/>
      </p:ext>
    </p:extLst>
  </p:cSld>
</p:sld>
</file>

<file path=ppt/slides/slide3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E52DFD30-D0DD-491A-B88B-0BDF353F6F8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0EF4D3A9-EA2B-4FBD-BB6A-D5596231981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다섯 줄 요청서</a:t>
            </a:r>
          </a:p>
        </p:txBody>
      </p:sp>
      <p:sp>
        <p:nvSpPr>
          <p:cNvPr id="3" name="">
            <a:extLst>
              <a:ext uri="{FF2B5EF4-FFF2-40B4-BE49-F238E27FC236}">
                <ns2:creationId id="{143C4016-898B-4793-8AFD-6EADCD847334}"/>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1">
                <a:solidFill>
                  <a:srgbClr val="172F39"/>
                </a:solidFill>
                <a:latin typeface="Noto Sans KR"/>
                <a:ea typeface="Noto Sans KR"/>
                <a:cs typeface="Noto Sans KR"/>
              </a:defRPr>
            </a:pPr>
            <a:r>
              <a:t>목적·대상·유지·권한·검사를 작성하세요.</a:t>
            </a:r>
          </a:p>
        </p:txBody>
      </p:sp>
      <p:sp>
        <p:nvSpPr>
          <p:cNvPr id="4" name="">
            <a:extLst>
              <a:ext uri="{FF2B5EF4-FFF2-40B4-BE49-F238E27FC236}">
                <ns2:creationId id="{68B58117-6429-4383-A160-29B4A9F3E9AD}"/>
              </a:ext>
            </a:extLst>
          </p:cNvPr>
          <p:cNvSpPr>
            <a:spLocks noGrp="1"/>
          </p:cNvSpPr>
          <p:nvPr/>
        </p:nvSpPr>
        <p:spPr>
          <a:xfrm>
            <a:off x="685800" y="2728722"/>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5" name="">
            <a:extLst>
              <a:ext uri="{FF2B5EF4-FFF2-40B4-BE49-F238E27FC236}">
                <ns2:creationId id="{7B1A599F-FF32-42B8-BE32-66ECE7D0A010}"/>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AB1F9E27-1006-4B32-B6D6-D8AF5B50C3F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DB017467-FD93-4BD7-82C2-3A1ED5E7527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509C40EF-A6D2-4828-B232-52B4A8D7101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F143C9F8-68C5-45B7-9F10-D5213B77292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032</a:t>
            </a:r>
          </a:p>
        </p:txBody>
      </p:sp>
    </p:spTree>
    <p:extLst>
      <p:ext uri="{BB962C8B-B14F-4D97-AF65-F5344CB8AC3E}">
        <ns4:creationId val="1987062768"/>
      </p:ext>
    </p:extLst>
  </p:cSld>
</p:sld>
</file>

<file path=ppt/slides/slide3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EAFB424A-55A4-49C9-B22B-92FFDF540F63}"/>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3교시</a:t>
            </a:r>
          </a:p>
        </p:txBody>
      </p:sp>
      <p:sp>
        <p:nvSpPr>
          <p:cNvPr id="2" name="">
            <a:extLst>
              <a:ext uri="{FF2B5EF4-FFF2-40B4-BE49-F238E27FC236}">
                <ns2:creationId id="{ACBF0944-5A87-40AE-94AA-F62F3040612B}"/>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변경된 코드 읽기</a:t>
            </a:r>
          </a:p>
        </p:txBody>
      </p:sp>
      <p:sp>
        <p:nvSpPr>
          <p:cNvPr id="3" name="">
            <a:extLst>
              <a:ext uri="{FF2B5EF4-FFF2-40B4-BE49-F238E27FC236}">
                <ns2:creationId id="{0C2D6687-391A-4956-A8B6-9231B65B33AC}"/>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50분 수업입니다.</a:t>
            </a:r>
          </a:p>
        </p:txBody>
      </p:sp>
      <p:sp>
        <p:nvSpPr>
          <p:cNvPr id="4" name="">
            <a:extLst>
              <a:ext uri="{FF2B5EF4-FFF2-40B4-BE49-F238E27FC236}">
                <ns2:creationId id="{D90BC200-27FC-4E7A-B23E-FED88B0D5300}"/>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예제를 함께 보고 따라 해 봅니다.</a:t>
            </a:r>
          </a:p>
        </p:txBody>
      </p:sp>
      <p:sp>
        <p:nvSpPr>
          <p:cNvPr id="5" name="">
            <a:extLst>
              <a:ext uri="{FF2B5EF4-FFF2-40B4-BE49-F238E27FC236}">
                <ns2:creationId id="{1C07A20C-E7FB-431D-BFCA-2381B652725B}"/>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결과가 예상과 같은지 확인해 봅니다.</a:t>
            </a:r>
          </a:p>
        </p:txBody>
      </p:sp>
      <p:sp>
        <p:nvSpPr>
          <p:cNvPr id="6" name="">
            <a:extLst>
              <a:ext uri="{FF2B5EF4-FFF2-40B4-BE49-F238E27FC236}">
                <ns2:creationId id="{D996AE09-64FA-486B-BA15-108D9642FD2D}"/>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8CA80581-0A4E-4432-B4DC-6BDD5CA597E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1FA0292B-3A6B-41AA-8068-9E585F0D62B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2E6921FF-435C-4D9C-9777-533ADD357AE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103DB9B5-AC44-47B7-8561-F5FD72591D0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033</a:t>
            </a:r>
          </a:p>
        </p:txBody>
      </p:sp>
    </p:spTree>
    <p:extLst>
      <p:ext uri="{BB962C8B-B14F-4D97-AF65-F5344CB8AC3E}">
        <ns4:creationId val="346809091"/>
      </p:ext>
    </p:extLst>
  </p:cSld>
</p:sld>
</file>

<file path=ppt/slides/slide3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98722CA3-6960-44C6-A05C-602CEF1C7C5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01432E15-740D-4248-8889-0378A2DE617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설명과 실제 코드를 대조하기</a:t>
            </a:r>
          </a:p>
        </p:txBody>
      </p:sp>
      <p:sp>
        <p:nvSpPr>
          <p:cNvPr id="3" name="">
            <a:extLst>
              <a:ext uri="{FF2B5EF4-FFF2-40B4-BE49-F238E27FC236}">
                <ns2:creationId id="{95653E01-A2FA-40D5-8F15-F6563C9AEDBD}"/>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바뀐 코드 줄</a:t>
            </a:r>
          </a:p>
        </p:txBody>
      </p:sp>
      <p:sp>
        <p:nvSpPr>
          <p:cNvPr id="4" name="">
            <a:extLst>
              <a:ext uri="{FF2B5EF4-FFF2-40B4-BE49-F238E27FC236}">
                <ns2:creationId id="{84D5A4F1-62B4-408D-B2BA-544E6D4F0B0D}"/>
              </a:ext>
            </a:extLst>
          </p:cNvPr>
          <p:cNvSpPr>
            <a:spLocks noGrp="1"/>
          </p:cNvSpPr>
          <p:nvPr/>
        </p:nvSpPr>
        <p:spPr>
          <a:xfrm>
            <a:off x="685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코드 비교에서 어느 줄을 고쳤는지 봅니다.</a:t>
            </a:r>
          </a:p>
        </p:txBody>
      </p:sp>
      <p:sp>
        <p:nvSpPr>
          <p:cNvPr id="5" name="">
            <a:extLst>
              <a:ext uri="{FF2B5EF4-FFF2-40B4-BE49-F238E27FC236}">
                <ns2:creationId id="{0BB0887C-7B5A-4FBA-AD0A-4D0EE9C2AD86}"/>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실행 입력·출력</a:t>
            </a:r>
          </a:p>
        </p:txBody>
      </p:sp>
      <p:sp>
        <p:nvSpPr>
          <p:cNvPr id="6" name="">
            <a:extLst>
              <a:ext uri="{FF2B5EF4-FFF2-40B4-BE49-F238E27FC236}">
                <ns2:creationId id="{42479C3A-1E20-4E54-8715-62212FE956C7}"/>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실행 명령과 넣은 값, 나온 결과를 확인합니다.</a:t>
            </a:r>
          </a:p>
        </p:txBody>
      </p:sp>
      <p:sp>
        <p:nvSpPr>
          <p:cNvPr id="7" name="">
            <a:extLst>
              <a:ext uri="{FF2B5EF4-FFF2-40B4-BE49-F238E27FC236}">
                <ns2:creationId id="{4923A1A7-0042-4E70-A8BF-ECE952644AE8}"/>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7F201FC0-E25A-48F6-AF32-D7572EFC6C7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850738DE-CE12-4583-8B41-3DB997D4698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B19C623B-A3E5-4CE7-8A89-96D1F5D3EEC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950ED2BD-3C34-4464-9115-F749A6B1082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034</a:t>
            </a:r>
          </a:p>
        </p:txBody>
      </p:sp>
    </p:spTree>
    <p:extLst>
      <p:ext uri="{BB962C8B-B14F-4D97-AF65-F5344CB8AC3E}">
        <ns4:creationId val="1048598456"/>
      </p:ext>
    </p:extLst>
  </p:cSld>
</p:sld>
</file>

<file path=ppt/slides/slide3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23E3DE41-095D-46A1-BB07-EB9E00AC1FF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EFCA1FCB-3C9B-4CDD-94B4-CF8FBA7542E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A07  변경 비교 읽기</a:t>
            </a:r>
          </a:p>
        </p:txBody>
      </p:sp>
      <p:sp>
        <p:nvSpPr>
          <p:cNvPr id="3" name="">
            <a:extLst>
              <a:ext uri="{FF2B5EF4-FFF2-40B4-BE49-F238E27FC236}">
                <ns2:creationId id="{C6F49183-1A13-44EF-B0E4-7686E984F408}"/>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E48CA1DE-4355-48D0-A784-5C527F6BDD33}"/>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-는 이전 줄, +는 새 줄의 표시입니다.</a:t>
            </a:r>
          </a:p>
        </p:txBody>
      </p:sp>
      <p:sp>
        <p:nvSpPr>
          <p:cNvPr id="5" name="">
            <a:extLst>
              <a:ext uri="{FF2B5EF4-FFF2-40B4-BE49-F238E27FC236}">
                <ns2:creationId id="{992EB601-F55B-49D7-A1B9-1E60476D98C7}"/>
              </a:ext>
            </a:extLst>
          </p:cNvPr>
          <p:cNvSpPr>
            <a:spLocks noGrp="1"/>
          </p:cNvSpPr>
          <p:nvPr/>
        </p:nvSpPr>
        <p:spPr>
          <a:xfrm>
            <a:off x="685800" y="286131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최종 파일에 비교 기호를 넣지 않습니다.</a:t>
            </a:r>
          </a:p>
        </p:txBody>
      </p:sp>
      <p:sp>
        <p:nvSpPr>
          <p:cNvPr id="6" name="">
            <a:extLst>
              <a:ext uri="{FF2B5EF4-FFF2-40B4-BE49-F238E27FC236}">
                <ns2:creationId id="{55871BE2-CEFF-4577-ACAF-B6562B4665E8}"/>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제안 A의 변경</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1524000"/>
                <a:gridCol w="1443182"/>
                <a:gridCol w="2271568"/>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이전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제안 A</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기준</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28</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27</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None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0으로 치환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비교</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&gt;</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&gt;=</a:t>
                      </a:r>
                    </a:p>
                  </a:txBody>
                  <a:tcPr marL="114300" marR="114300" marT="76200" marB="76200" anchor="ctr">
                    <a:solidFill>
                      <a:srgbClr val="FFFFFF"/>
                    </a:solidFill>
                  </a:tcPr>
                </a:tc>
              </a:tr>
            </a:tbl>
          </a:graphicData>
        </a:graphic>
      </p:graphicFrame>
      <p:sp>
        <p:nvSpPr>
          <p:cNvPr id="8" name="">
            <a:extLst>
              <a:ext uri="{FF2B5EF4-FFF2-40B4-BE49-F238E27FC236}">
                <ns2:creationId id="{5CA4934D-EF7C-4132-8C4C-88E53B547427}"/>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8260F837-1300-45A9-A46B-E173A091BCA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5B99B30C-E722-4B37-9653-79C595AB6EA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2EA5952D-86AF-43DD-B607-98DB6C377C4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D2995262-8928-46DF-97C0-A8695A272C5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035</a:t>
            </a:r>
          </a:p>
        </p:txBody>
      </p:sp>
    </p:spTree>
    <p:extLst>
      <p:ext uri="{BB962C8B-B14F-4D97-AF65-F5344CB8AC3E}">
        <ns4:creationId val="649160728"/>
      </p:ext>
    </p:extLst>
  </p:cSld>
</p:sld>
</file>

<file path=ppt/slides/slide3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819FC176-507A-4ADD-A0D8-8A6CFA95C14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D3CEE423-CBB3-484B-B1D2-350B4DA3A5B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변경 비교 읽기의 예</a:t>
            </a:r>
          </a:p>
        </p:txBody>
      </p:sp>
      <p:graphicFrame>
        <p:nvGraphicFramePr>
          <p:cNvPr id="12" name=""/>
          <p:cNvGraphicFramePr/>
          <p:nvPr/>
        </p:nvGraphicFramePr>
        <p:xfrm>
          <a:off x="685800" y="1809750"/>
          <a:ext cx="10820400" cy="2145792"/>
        </p:xfrm>
        <a:graphic>
          <a:graphicData uri="http://schemas.openxmlformats.org/drawingml/2006/table">
            <a:tbl>
              <a:tblPr firstRow="1" bandRow="0"/>
              <a:tblGrid>
                <a:gridCol w="3147753"/>
                <a:gridCol w="2980826"/>
                <a:gridCol w="4691821"/>
              </a:tblGrid>
              <a:tr h="536448">
                <a:tc>
                  <a:txBody>
                    <a:bodyPr wrap="square"/>
                    <a:lstStyle/>
                    <a:p>
                      <a:pPr>
                        <a:lnSpc>
                          <a:spcPct val="102000"/>
                        </a:lnSpc>
                        <a:buNone/>
                      </a:pPr>
                      <a:r>
                        <a:rPr sz="202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이전</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제안 A</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기준</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28</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27</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None</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정상</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0으로 치환</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비교</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&gt;</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&gt;=</a:t>
                      </a:r>
                    </a:p>
                  </a:txBody>
                  <a:tcPr marL="114300" marR="114300" marT="76200" marB="76200" anchor="ctr">
                    <a:solidFill>
                      <a:srgbClr val="FFFFFF"/>
                    </a:solidFill>
                  </a:tcPr>
                </a:tc>
              </a:tr>
            </a:tbl>
          </a:graphicData>
        </a:graphic>
      </p:graphicFrame>
      <p:sp>
        <p:nvSpPr>
          <p:cNvPr id="4" name="">
            <a:extLst>
              <a:ext uri="{FF2B5EF4-FFF2-40B4-BE49-F238E27FC236}">
                <ns2:creationId id="{281AE6A9-1DD4-44D8-9ED8-FB8701609C2C}"/>
              </a:ext>
            </a:extLst>
          </p:cNvPr>
          <p:cNvSpPr>
            <a:spLocks noGrp="1"/>
          </p:cNvSpPr>
          <p:nvPr/>
        </p:nvSpPr>
        <p:spPr>
          <a:xfrm>
            <a:off x="685800" y="4184142"/>
            <a:ext cx="10820400" cy="395288"/>
          </a:xfrm>
          <a:prstGeom prst="rect">
            <a:avLst/>
          </a:prstGeom>
          <a:noFill/>
          <a:ln w="0">
            <a:noFill/>
          </a:ln>
        </p:spPr>
        <p:txBody>
          <a:bodyPr wrap="square" lIns="0" tIns="0" rIns="0" bIns="0">
            <a:noAutofit/>
          </a:bodyPr>
          <a:lstStyle/>
          <a:p>
            <a:pPr>
              <a:defRPr sz="1875" b="1">
                <a:solidFill>
                  <a:srgbClr val="08786F"/>
                </a:solidFill>
                <a:latin typeface="Noto Sans KR"/>
                <a:ea typeface="Noto Sans KR"/>
                <a:cs typeface="Noto Sans KR"/>
              </a:defRPr>
            </a:pPr>
            <a:r>
              <a:t>바뀐 줄이 요청한 조건을 지키는지 봅니다.</a:t>
            </a:r>
          </a:p>
        </p:txBody>
      </p:sp>
      <p:sp>
        <p:nvSpPr>
          <p:cNvPr id="5" name="">
            <a:extLst>
              <a:ext uri="{FF2B5EF4-FFF2-40B4-BE49-F238E27FC236}">
                <ns2:creationId id="{5745C8DF-25E6-44AC-B4E7-B62B43E22989}"/>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E0784FFD-AA81-4A9F-9A87-280E045759A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8A045936-6C3C-4F6E-9553-8988E01E403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65B1D443-5255-4638-BF53-A22C103AC64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7FB5120A-F180-49AA-8577-8ADC675AB5B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036</a:t>
            </a:r>
          </a:p>
        </p:txBody>
      </p:sp>
    </p:spTree>
    <p:extLst>
      <p:ext uri="{BB962C8B-B14F-4D97-AF65-F5344CB8AC3E}">
        <ns4:creationId val="443782404"/>
      </p:ext>
    </p:extLst>
  </p:cSld>
</p:sld>
</file>

<file path=ppt/slides/slide3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BEE6D51F-E65E-42D1-9C47-46E7D45EB24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96FABB91-0037-47A8-AE12-D6348FE3559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문구보다 변경</a:t>
            </a:r>
          </a:p>
        </p:txBody>
      </p:sp>
      <p:sp>
        <p:nvSpPr>
          <p:cNvPr id="3" name="">
            <a:extLst>
              <a:ext uri="{FF2B5EF4-FFF2-40B4-BE49-F238E27FC236}">
                <ns2:creationId id="{41EBFCC6-68C6-45AE-B9DC-110591BB48CD}"/>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지키기로 한 조건</a:t>
            </a:r>
          </a:p>
        </p:txBody>
      </p:sp>
      <p:sp>
        <p:nvSpPr>
          <p:cNvPr id="4" name="">
            <a:extLst>
              <a:ext uri="{FF2B5EF4-FFF2-40B4-BE49-F238E27FC236}">
                <ns2:creationId id="{BCB6A20D-79CB-49EA-BFB3-CE714A2FF9FB}"/>
              </a:ext>
            </a:extLst>
          </p:cNvPr>
          <p:cNvSpPr>
            <a:spLocks noGrp="1"/>
          </p:cNvSpPr>
          <p:nvPr/>
        </p:nvSpPr>
        <p:spPr>
          <a:xfrm>
            <a:off x="685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threshold=27은 유지 조건을 어겼습니다.</a:t>
            </a:r>
          </a:p>
        </p:txBody>
      </p:sp>
      <p:sp>
        <p:nvSpPr>
          <p:cNvPr id="5" name="">
            <a:extLst>
              <a:ext uri="{FF2B5EF4-FFF2-40B4-BE49-F238E27FC236}">
                <ns2:creationId id="{E221F9E1-771C-4F78-B327-519E79152A33}"/>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제안 A의 변경</a:t>
            </a:r>
          </a:p>
        </p:txBody>
      </p:sp>
      <p:sp>
        <p:nvSpPr>
          <p:cNvPr id="6" name="">
            <a:extLst>
              <a:ext uri="{FF2B5EF4-FFF2-40B4-BE49-F238E27FC236}">
                <ns2:creationId id="{30932008-A8E9-4862-ACFE-45E6402C4675}"/>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None을 0으로 바꾸면 누락이 사라집니다.</a:t>
            </a:r>
          </a:p>
        </p:txBody>
      </p:sp>
      <p:sp>
        <p:nvSpPr>
          <p:cNvPr id="7" name="">
            <a:extLst>
              <a:ext uri="{FF2B5EF4-FFF2-40B4-BE49-F238E27FC236}">
                <ns2:creationId id="{B335CE5D-6D44-4E1B-9AAD-AED830180936}"/>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9A099F59-28D2-4BBC-9855-D919BA2EB9D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63AF908E-6068-48A3-97C5-E3A53AF866D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59EEB6DA-C3BA-4A8F-A734-A96897DF110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712C7BB0-0E40-4AED-9E29-8FE32EB0C2D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037</a:t>
            </a:r>
          </a:p>
        </p:txBody>
      </p:sp>
    </p:spTree>
    <p:extLst>
      <p:ext uri="{BB962C8B-B14F-4D97-AF65-F5344CB8AC3E}">
        <ns4:creationId val="535994438"/>
      </p:ext>
    </p:extLst>
  </p:cSld>
</p:sld>
</file>

<file path=ppt/slides/slide3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DEF77A71-5EA2-42EC-AC74-B4D3581881A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C8FD2F53-B5B9-44E3-A23A-AF11C75A5ED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설명과 코드가 다르다면</a:t>
            </a:r>
          </a:p>
        </p:txBody>
      </p:sp>
      <p:sp>
        <p:nvSpPr>
          <p:cNvPr id="3" name="">
            <a:extLst>
              <a:ext uri="{FF2B5EF4-FFF2-40B4-BE49-F238E27FC236}">
                <ns2:creationId id="{B3BD5D1C-4B8C-4576-BE78-86FD1D30C454}"/>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AI의 설명과 실제 코드가 다릅니다.</a:t>
            </a:r>
          </a:p>
        </p:txBody>
      </p:sp>
      <p:sp>
        <p:nvSpPr>
          <p:cNvPr id="4" name="">
            <a:extLst>
              <a:ext uri="{FF2B5EF4-FFF2-40B4-BE49-F238E27FC236}">
                <ns2:creationId id="{FAA189DA-5817-4CF2-848E-6B935A8C98C3}"/>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어떤 줄과 실행 결과를 확인해야 할까요?</a:t>
            </a:r>
          </a:p>
        </p:txBody>
      </p:sp>
      <p:sp>
        <p:nvSpPr>
          <p:cNvPr id="5" name="">
            <a:extLst>
              <a:ext uri="{FF2B5EF4-FFF2-40B4-BE49-F238E27FC236}">
                <ns2:creationId id="{3670E2F2-154F-4451-B461-869FEAB39010}"/>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6" name="">
            <a:extLst>
              <a:ext uri="{FF2B5EF4-FFF2-40B4-BE49-F238E27FC236}">
                <ns2:creationId id="{B9D5238B-292A-4790-9CD1-BB277328E732}"/>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735F58C2-16A4-4FC4-8C7B-098E0C0B24F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03A4D092-BAB2-4202-AF24-C1D2188630C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343A1E65-BFA4-48DC-A0CF-41CA54C2F78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0064DDD3-0360-42B9-9012-91921FC4836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038</a:t>
            </a:r>
          </a:p>
        </p:txBody>
      </p:sp>
    </p:spTree>
    <p:extLst>
      <p:ext uri="{BB962C8B-B14F-4D97-AF65-F5344CB8AC3E}">
        <ns4:creationId val="930465637"/>
      </p:ext>
    </p:extLst>
  </p:cSld>
</p:sld>
</file>

<file path=ppt/slides/slide3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3EB5C637-C7FC-4EEE-9759-78426C7ACDF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B6097B43-2858-4938-B3CD-29134855276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A08  AI의 설명을 확인하기</a:t>
            </a:r>
          </a:p>
        </p:txBody>
      </p:sp>
      <p:sp>
        <p:nvSpPr>
          <p:cNvPr id="3" name="">
            <a:extLst>
              <a:ext uri="{FF2B5EF4-FFF2-40B4-BE49-F238E27FC236}">
                <ns2:creationId id="{15578CCE-66A6-4946-85C0-28A328D8D462}"/>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CE2F247C-E6AB-43B9-BEC6-7409BE67A9B5}"/>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수정·검사·운영을 완료했는지 따로 묻습니다.</a:t>
            </a:r>
          </a:p>
        </p:txBody>
      </p:sp>
      <p:sp>
        <p:nvSpPr>
          <p:cNvPr id="5" name="">
            <a:extLst>
              <a:ext uri="{FF2B5EF4-FFF2-40B4-BE49-F238E27FC236}">
                <ns2:creationId id="{78B4E4EF-85AA-481A-B624-DB4FCF41BA07}"/>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각각의 바뀐 파일과 실행 결과를 확인합니다.</a:t>
            </a:r>
          </a:p>
        </p:txBody>
      </p:sp>
      <p:sp>
        <p:nvSpPr>
          <p:cNvPr id="6" name="">
            <a:extLst>
              <a:ext uri="{FF2B5EF4-FFF2-40B4-BE49-F238E27FC236}">
                <ns2:creationId id="{F38202B4-8877-45B5-956B-70365E33DA3B}"/>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설명과 확인할 자료</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192825"/>
                <a:gridCol w="3045925"/>
              </a:tblGrid>
              <a:tr h="514350">
                <a:tc>
                  <a:txBody>
                    <a:bodyPr wrap="square"/>
                    <a:lstStyle/>
                    <a:p>
                      <a:pPr>
                        <a:lnSpc>
                          <a:spcPct val="102000"/>
                        </a:lnSpc>
                        <a:buNone/>
                      </a:pPr>
                      <a:r>
                        <a:rPr sz="1875" b="1">
                          <a:solidFill>
                            <a:srgbClr val="172F39"/>
                          </a:solidFill>
                          <a:latin typeface="Noto Sans KR"/>
                          <a:ea typeface="Noto Sans KR"/>
                          <a:cs typeface="Noto Sans KR"/>
                        </a:rPr>
                        <a:t>주장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확인할 자료</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수정</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파일 차이</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검사</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명령·입력·출력</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실제 운영</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현장 관찰</a:t>
                      </a:r>
                    </a:p>
                  </a:txBody>
                  <a:tcPr marL="114300" marR="114300" marT="76200" marB="76200" anchor="ctr">
                    <a:solidFill>
                      <a:srgbClr val="FFFFFF"/>
                    </a:solidFill>
                  </a:tcPr>
                </a:tc>
              </a:tr>
            </a:tbl>
          </a:graphicData>
        </a:graphic>
      </p:graphicFrame>
      <p:sp>
        <p:nvSpPr>
          <p:cNvPr id="8" name="">
            <a:extLst>
              <a:ext uri="{FF2B5EF4-FFF2-40B4-BE49-F238E27FC236}">
                <ns2:creationId id="{02E7AC08-E43E-4D88-8D1B-905ECE23A5E2}"/>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9306F8BF-8A32-44BA-899F-D28876EF383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96805BD8-2E84-4C9E-BDE1-FC21BF18591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9FE39C41-5571-43AF-A4AA-D612201396E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42D5AB5A-8FA1-4F03-B6F4-55BBB547A33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039</a:t>
            </a:r>
          </a:p>
        </p:txBody>
      </p:sp>
    </p:spTree>
    <p:extLst>
      <p:ext uri="{BB962C8B-B14F-4D97-AF65-F5344CB8AC3E}">
        <ns4:creationId val="1001390885"/>
      </p:ext>
    </p:extLst>
  </p:cSld>
</p:sld>
</file>

<file path=ppt/slides/slide4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D6FC5376-9E5E-472C-82E8-FB5AB248D57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6D1E5EDC-6A34-4AF9-946A-754A5A64FC9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AI 주장과 근거의 예</a:t>
            </a:r>
          </a:p>
        </p:txBody>
      </p:sp>
      <p:graphicFrame>
        <p:nvGraphicFramePr>
          <p:cNvPr id="12" name=""/>
          <p:cNvGraphicFramePr/>
          <p:nvPr/>
        </p:nvGraphicFramePr>
        <p:xfrm>
          <a:off x="685800" y="1809750"/>
          <a:ext cx="10820400" cy="2145792"/>
        </p:xfrm>
        <a:graphic>
          <a:graphicData uri="http://schemas.openxmlformats.org/drawingml/2006/table">
            <a:tbl>
              <a:tblPr firstRow="1" bandRow="0"/>
              <a:tblGrid>
                <a:gridCol w="4412789"/>
                <a:gridCol w="6407611"/>
              </a:tblGrid>
              <a:tr h="536448">
                <a:tc>
                  <a:txBody>
                    <a:bodyPr wrap="square"/>
                    <a:lstStyle/>
                    <a:p>
                      <a:pPr>
                        <a:lnSpc>
                          <a:spcPct val="102000"/>
                        </a:lnSpc>
                        <a:buNone/>
                      </a:pPr>
                      <a:r>
                        <a:rPr sz="2025" b="1">
                          <a:solidFill>
                            <a:srgbClr val="172F39"/>
                          </a:solidFill>
                          <a:latin typeface="Noto Sans KR"/>
                          <a:ea typeface="Noto Sans KR"/>
                          <a:cs typeface="Noto Sans KR"/>
                        </a:rPr>
                        <a:t>주장</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필요한 근거</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수정</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파일 차이</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검사</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명령·입력·출력</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실제 운영</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현장 조건의 관찰</a:t>
                      </a:r>
                    </a:p>
                  </a:txBody>
                  <a:tcPr marL="114300" marR="114300" marT="76200" marB="76200" anchor="ctr">
                    <a:solidFill>
                      <a:srgbClr val="FFFFFF"/>
                    </a:solidFill>
                  </a:tcPr>
                </a:tc>
              </a:tr>
            </a:tbl>
          </a:graphicData>
        </a:graphic>
      </p:graphicFrame>
      <p:sp>
        <p:nvSpPr>
          <p:cNvPr id="4" name="">
            <a:extLst>
              <a:ext uri="{FF2B5EF4-FFF2-40B4-BE49-F238E27FC236}">
                <ns2:creationId id="{F84BBCA3-5C77-4D82-A4E2-2D6C7EAF7708}"/>
              </a:ext>
            </a:extLst>
          </p:cNvPr>
          <p:cNvSpPr>
            <a:spLocks noGrp="1"/>
          </p:cNvSpPr>
          <p:nvPr/>
        </p:nvSpPr>
        <p:spPr>
          <a:xfrm>
            <a:off x="685800" y="4184142"/>
            <a:ext cx="10820400" cy="395288"/>
          </a:xfrm>
          <a:prstGeom prst="rect">
            <a:avLst/>
          </a:prstGeom>
          <a:noFill/>
          <a:ln w="0">
            <a:noFill/>
          </a:ln>
        </p:spPr>
        <p:txBody>
          <a:bodyPr wrap="square" lIns="0" tIns="0" rIns="0" bIns="0">
            <a:noAutofit/>
          </a:bodyPr>
          <a:lstStyle/>
          <a:p>
            <a:pPr>
              <a:defRPr sz="1875" b="1">
                <a:solidFill>
                  <a:srgbClr val="08786F"/>
                </a:solidFill>
                <a:latin typeface="Noto Sans KR"/>
                <a:ea typeface="Noto Sans KR"/>
                <a:cs typeface="Noto Sans KR"/>
              </a:defRPr>
            </a:pPr>
            <a:r>
              <a:t>확인할 결과가 없다면 미확인으로 적습니다.</a:t>
            </a:r>
          </a:p>
        </p:txBody>
      </p:sp>
      <p:sp>
        <p:nvSpPr>
          <p:cNvPr id="5" name="">
            <a:extLst>
              <a:ext uri="{FF2B5EF4-FFF2-40B4-BE49-F238E27FC236}">
                <ns2:creationId id="{371A34C6-251C-4699-97A9-FA85E84CF532}"/>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CD8D45F2-EC7D-4B3A-BE70-007C0DCC30F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D080773D-8B06-41C6-AB4B-09085082A29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0E576B50-C7CD-45E7-B097-50E1D255268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AFFB14C3-9FD1-4875-BA64-D317DC66D5C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040</a:t>
            </a:r>
          </a:p>
        </p:txBody>
      </p:sp>
    </p:spTree>
    <p:extLst>
      <p:ext uri="{BB962C8B-B14F-4D97-AF65-F5344CB8AC3E}">
        <ns4:creationId val="231794946"/>
      </p:ext>
    </p:extLst>
  </p:cSld>
</p:sld>
</file>

<file path=ppt/slides/slide4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40E5AFE9-F6C0-4A13-8EEC-FDA5D3A7454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78D80D8A-ACBB-48B1-9BAE-07B973A6FA3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가상 검사로 확인한 것만 쓰기</a:t>
            </a:r>
          </a:p>
        </p:txBody>
      </p:sp>
      <p:sp>
        <p:nvSpPr>
          <p:cNvPr id="3" name="">
            <a:extLst>
              <a:ext uri="{FF2B5EF4-FFF2-40B4-BE49-F238E27FC236}">
                <ns2:creationId id="{20CD9A90-0773-4E33-BABE-8927D333E731}"/>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가상 입력에서 확인</a:t>
            </a:r>
          </a:p>
        </p:txBody>
      </p:sp>
      <p:sp>
        <p:nvSpPr>
          <p:cNvPr id="4" name="">
            <a:extLst>
              <a:ext uri="{FF2B5EF4-FFF2-40B4-BE49-F238E27FC236}">
                <ns2:creationId id="{0D87F007-36D0-43BE-9D8B-842631A1CC3F}"/>
              </a:ext>
            </a:extLst>
          </p:cNvPr>
          <p:cNvSpPr>
            <a:spLocks noGrp="1"/>
          </p:cNvSpPr>
          <p:nvPr/>
        </p:nvSpPr>
        <p:spPr>
          <a:xfrm>
            <a:off x="685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가상 입력으로 검사한 결과까지만 보고합니다.</a:t>
            </a:r>
          </a:p>
        </p:txBody>
      </p:sp>
      <p:sp>
        <p:nvSpPr>
          <p:cNvPr id="5" name="">
            <a:extLst>
              <a:ext uri="{FF2B5EF4-FFF2-40B4-BE49-F238E27FC236}">
                <ns2:creationId id="{60A0BA7A-B145-437F-8F18-A4115764FF24}"/>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실제 장비에서 미확인</a:t>
            </a:r>
          </a:p>
        </p:txBody>
      </p:sp>
      <p:sp>
        <p:nvSpPr>
          <p:cNvPr id="6" name="">
            <a:extLst>
              <a:ext uri="{FF2B5EF4-FFF2-40B4-BE49-F238E27FC236}">
                <ns2:creationId id="{6F6FC9A3-1946-4F42-A231-9A3A872D57C4}"/>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실제 장비에서 잘 되는지는 따로 시험해야 합니다.</a:t>
            </a:r>
          </a:p>
        </p:txBody>
      </p:sp>
      <p:sp>
        <p:nvSpPr>
          <p:cNvPr id="7" name="">
            <a:extLst>
              <a:ext uri="{FF2B5EF4-FFF2-40B4-BE49-F238E27FC236}">
                <ns2:creationId id="{2A81EA46-C991-47E3-9EB6-62FC284D4B5C}"/>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D026C63A-2999-4635-8D73-3114EFF900D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80984223-1C1E-4192-AF9E-9473F06CD73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78280DBA-C3FE-4E2E-821F-C6D733BC620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E17A01FD-0AFB-42B1-807B-B6757BA0B9D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041</a:t>
            </a:r>
          </a:p>
        </p:txBody>
      </p:sp>
    </p:spTree>
    <p:extLst>
      <p:ext uri="{BB962C8B-B14F-4D97-AF65-F5344CB8AC3E}">
        <ns4:creationId val="2012689026"/>
      </p:ext>
    </p:extLst>
  </p:cSld>
</p:sld>
</file>

<file path=ppt/slides/slide4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BBC859BA-5957-4FB6-B3D6-83DF39B3D91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8C5310B4-B55B-4662-9F3F-68B3006061F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완료 문장 검토</a:t>
            </a:r>
          </a:p>
        </p:txBody>
      </p:sp>
      <p:sp>
        <p:nvSpPr>
          <p:cNvPr id="3" name="">
            <a:extLst>
              <a:ext uri="{FF2B5EF4-FFF2-40B4-BE49-F238E27FC236}">
                <ns2:creationId id="{2EABF730-BDFD-4FD7-A170-661871A6B179}"/>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“실제 장비도 안정적”이라고 적었습니다.</a:t>
            </a:r>
          </a:p>
        </p:txBody>
      </p:sp>
      <p:sp>
        <p:nvSpPr>
          <p:cNvPr id="4" name="">
            <a:extLst>
              <a:ext uri="{FF2B5EF4-FFF2-40B4-BE49-F238E27FC236}">
                <ns2:creationId id="{5D7746C2-114A-4689-ABB3-DD60A79DC248}"/>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현재 자료로 확인할 수 있나요?</a:t>
            </a:r>
          </a:p>
        </p:txBody>
      </p:sp>
      <p:sp>
        <p:nvSpPr>
          <p:cNvPr id="5" name="">
            <a:extLst>
              <a:ext uri="{FF2B5EF4-FFF2-40B4-BE49-F238E27FC236}">
                <ns2:creationId id="{ABBC4723-2918-4F6B-B6C1-47EB4A2D3C8A}"/>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6" name="">
            <a:extLst>
              <a:ext uri="{FF2B5EF4-FFF2-40B4-BE49-F238E27FC236}">
                <ns2:creationId id="{53259981-6EF8-483A-AD91-C935D43B54BD}"/>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E69A996D-CD1B-42BF-B97C-EABB1F71E5F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31BBB49B-53E7-4A8A-86D0-8AF05B148FE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05E564C6-E588-48C2-824A-B8F1F60ECBF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51EF36CF-DDA6-4BF4-B75F-8BAB33B9BE7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042</a:t>
            </a:r>
          </a:p>
        </p:txBody>
      </p:sp>
    </p:spTree>
    <p:extLst>
      <p:ext uri="{BB962C8B-B14F-4D97-AF65-F5344CB8AC3E}">
        <ns4:creationId val="672664484"/>
      </p:ext>
    </p:extLst>
  </p:cSld>
</p:sld>
</file>

<file path=ppt/slides/slide4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493816B0-6171-4981-9B8E-D1324325009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D3C26130-01AB-4D7C-8B0E-A35272FD890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A09  고친 파일을 실행하기</a:t>
            </a:r>
          </a:p>
        </p:txBody>
      </p:sp>
      <p:sp>
        <p:nvSpPr>
          <p:cNvPr id="3" name="">
            <a:extLst>
              <a:ext uri="{FF2B5EF4-FFF2-40B4-BE49-F238E27FC236}">
                <ns2:creationId id="{08B5E1D4-9DBA-4103-AF80-CD6ECDF957BC}"/>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9954D400-9602-4BB0-9D3C-5D724256B96B}"/>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code는 원본, work는 수정할 복사본입니다.</a:t>
            </a:r>
          </a:p>
        </p:txBody>
      </p:sp>
      <p:sp>
        <p:nvSpPr>
          <p:cNvPr id="5" name="">
            <a:extLst>
              <a:ext uri="{FF2B5EF4-FFF2-40B4-BE49-F238E27FC236}">
                <ns2:creationId id="{657F2E7E-91F6-4CFA-A220-B512EB4D2B36}"/>
              </a:ext>
            </a:extLst>
          </p:cNvPr>
          <p:cNvSpPr>
            <a:spLocks noGrp="1"/>
          </p:cNvSpPr>
          <p:nvPr/>
        </p:nvSpPr>
        <p:spPr>
          <a:xfrm>
            <a:off x="685800" y="31984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work에서 고친 파일을 실행합니다.</a:t>
            </a:r>
          </a:p>
        </p:txBody>
      </p:sp>
      <p:sp>
        <p:nvSpPr>
          <p:cNvPr id="6" name="">
            <a:extLst>
              <a:ext uri="{FF2B5EF4-FFF2-40B4-BE49-F238E27FC236}">
                <ns2:creationId id="{BF119CA4-1AFC-467A-8881-D62C198C355E}"/>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수정할 파일과 검사 기준</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3275563"/>
                <a:gridCol w="1963187"/>
              </a:tblGrid>
              <a:tr h="514350">
                <a:tc>
                  <a:txBody>
                    <a:bodyPr wrap="square"/>
                    <a:lstStyle/>
                    <a:p>
                      <a:pPr>
                        <a:lnSpc>
                          <a:spcPct val="102000"/>
                        </a:lnSpc>
                        <a:buNone/>
                      </a:pPr>
                      <a:r>
                        <a:rPr sz="1875" b="1">
                          <a:solidFill>
                            <a:srgbClr val="172F39"/>
                          </a:solidFill>
                          <a:latin typeface="Noto Sans KR"/>
                          <a:ea typeface="Noto Sans KR"/>
                          <a:cs typeface="Noto Sans KR"/>
                        </a:rPr>
                        <a:t>경로</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역할</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code/baseline.py</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원본</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work/classifier.py</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학생 수정</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data/cases.json</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검사 기준</a:t>
                      </a:r>
                    </a:p>
                  </a:txBody>
                  <a:tcPr marL="114300" marR="114300" marT="76200" marB="76200" anchor="ctr">
                    <a:solidFill>
                      <a:srgbClr val="FFFFFF"/>
                    </a:solidFill>
                  </a:tcPr>
                </a:tc>
              </a:tr>
            </a:tbl>
          </a:graphicData>
        </a:graphic>
      </p:graphicFrame>
      <p:sp>
        <p:nvSpPr>
          <p:cNvPr id="8" name="">
            <a:extLst>
              <a:ext uri="{FF2B5EF4-FFF2-40B4-BE49-F238E27FC236}">
                <ns2:creationId id="{11009825-FE0B-4533-AEC7-ED5DF7810EB4}"/>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7CC54B84-CA31-4F92-86B0-FAF25BBA4D5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24325A78-1BD4-4FC8-8CEF-7674EC0524F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543CB81E-BD1E-43E4-9795-E4120B0B8B9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AF47B545-780B-41A1-9323-A7E1D25914F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043</a:t>
            </a:r>
          </a:p>
        </p:txBody>
      </p:sp>
    </p:spTree>
    <p:extLst>
      <p:ext uri="{BB962C8B-B14F-4D97-AF65-F5344CB8AC3E}">
        <ns4:creationId val="216641445"/>
      </p:ext>
    </p:extLst>
  </p:cSld>
</p:sld>
</file>

<file path=ppt/slides/slide4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9840D4F7-C621-4841-BF50-78F3EB3ED1C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7C57CBAE-E716-4413-9B18-223FA0B8BD5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작업본과 실행 파일의 예</a:t>
            </a:r>
          </a:p>
        </p:txBody>
      </p:sp>
      <p:graphicFrame>
        <p:nvGraphicFramePr>
          <p:cNvPr id="12" name=""/>
          <p:cNvGraphicFramePr/>
          <p:nvPr/>
        </p:nvGraphicFramePr>
        <p:xfrm>
          <a:off x="685800" y="1809750"/>
          <a:ext cx="10820400" cy="2145792"/>
        </p:xfrm>
        <a:graphic>
          <a:graphicData uri="http://schemas.openxmlformats.org/drawingml/2006/table">
            <a:tbl>
              <a:tblPr firstRow="1" bandRow="0"/>
              <a:tblGrid>
                <a:gridCol w="6765527"/>
                <a:gridCol w="4054873"/>
              </a:tblGrid>
              <a:tr h="536448">
                <a:tc>
                  <a:txBody>
                    <a:bodyPr wrap="square"/>
                    <a:lstStyle/>
                    <a:p>
                      <a:pPr>
                        <a:lnSpc>
                          <a:spcPct val="102000"/>
                        </a:lnSpc>
                        <a:buNone/>
                      </a:pPr>
                      <a:r>
                        <a:rPr sz="2025" b="1">
                          <a:solidFill>
                            <a:srgbClr val="172F39"/>
                          </a:solidFill>
                          <a:latin typeface="Noto Sans KR"/>
                          <a:ea typeface="Noto Sans KR"/>
                          <a:cs typeface="Noto Sans KR"/>
                        </a:rPr>
                        <a:t>경로</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역할</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code/baseline.py</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원본</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work/classifier.py</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학생 수정</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data/cases.json</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검사 기준</a:t>
                      </a:r>
                    </a:p>
                  </a:txBody>
                  <a:tcPr marL="114300" marR="114300" marT="76200" marB="76200" anchor="ctr">
                    <a:solidFill>
                      <a:srgbClr val="FFFFFF"/>
                    </a:solidFill>
                  </a:tcPr>
                </a:tc>
              </a:tr>
            </a:tbl>
          </a:graphicData>
        </a:graphic>
      </p:graphicFrame>
      <p:sp>
        <p:nvSpPr>
          <p:cNvPr id="4" name="">
            <a:extLst>
              <a:ext uri="{FF2B5EF4-FFF2-40B4-BE49-F238E27FC236}">
                <ns2:creationId id="{6ECE3A30-6C16-4655-8121-5A30A7865F04}"/>
              </a:ext>
            </a:extLst>
          </p:cNvPr>
          <p:cNvSpPr>
            <a:spLocks noGrp="1"/>
          </p:cNvSpPr>
          <p:nvPr/>
        </p:nvSpPr>
        <p:spPr>
          <a:xfrm>
            <a:off x="685800" y="4184142"/>
            <a:ext cx="10820400" cy="395288"/>
          </a:xfrm>
          <a:prstGeom prst="rect">
            <a:avLst/>
          </a:prstGeom>
          <a:noFill/>
          <a:ln w="0">
            <a:noFill/>
          </a:ln>
        </p:spPr>
        <p:txBody>
          <a:bodyPr wrap="square" lIns="0" tIns="0" rIns="0" bIns="0">
            <a:noAutofit/>
          </a:bodyPr>
          <a:lstStyle/>
          <a:p>
            <a:pPr>
              <a:defRPr sz="1875" b="1">
                <a:solidFill>
                  <a:srgbClr val="08786F"/>
                </a:solidFill>
                <a:latin typeface="Noto Sans KR"/>
                <a:ea typeface="Noto Sans KR"/>
                <a:cs typeface="Noto Sans KR"/>
              </a:defRPr>
            </a:pPr>
            <a:r>
              <a:t>ZIP을 풀고 실제 폴더에서 작업합니다.</a:t>
            </a:r>
          </a:p>
        </p:txBody>
      </p:sp>
      <p:sp>
        <p:nvSpPr>
          <p:cNvPr id="5" name="">
            <a:extLst>
              <a:ext uri="{FF2B5EF4-FFF2-40B4-BE49-F238E27FC236}">
                <ns2:creationId id="{1A12D7D9-E108-444F-A26F-3F5E4FD51BA0}"/>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5B3E936B-3272-4477-B455-F545F7AA68A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E10A8DA6-BA0C-4657-B0F3-9A2F7B53E0A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BBA48134-81C6-4927-A4CA-B05BB4D48E3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242AD0DD-B7E7-4B88-824C-2280C577A75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044</a:t>
            </a:r>
          </a:p>
        </p:txBody>
      </p:sp>
    </p:spTree>
    <p:extLst>
      <p:ext uri="{BB962C8B-B14F-4D97-AF65-F5344CB8AC3E}">
        <ns4:creationId val="2079656381"/>
      </p:ext>
    </p:extLst>
  </p:cSld>
</p:sld>
</file>

<file path=ppt/slides/slide4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CB0360A8-590E-4A28-B886-B97CB3159FA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EF456F34-175F-4097-943B-525949125A7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수정이 안 보이는 이유</a:t>
            </a:r>
          </a:p>
        </p:txBody>
      </p:sp>
      <p:sp>
        <p:nvSpPr>
          <p:cNvPr id="3" name="">
            <a:extLst>
              <a:ext uri="{FF2B5EF4-FFF2-40B4-BE49-F238E27FC236}">
                <ns2:creationId id="{51764157-0542-4F53-81C9-ADFFA547CCD8}"/>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명령·입력</a:t>
            </a:r>
          </a:p>
        </p:txBody>
      </p:sp>
      <p:sp>
        <p:nvSpPr>
          <p:cNvPr id="4" name="">
            <a:extLst>
              <a:ext uri="{FF2B5EF4-FFF2-40B4-BE49-F238E27FC236}">
                <ns2:creationId id="{AB4DB093-2224-46E5-B7AC-0ACBF77F9770}"/>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저장한 경로와 실행한 경로를 비교합니다.</a:t>
            </a:r>
          </a:p>
        </p:txBody>
      </p:sp>
      <p:sp>
        <p:nvSpPr>
          <p:cNvPr id="5" name="">
            <a:extLst>
              <a:ext uri="{FF2B5EF4-FFF2-40B4-BE49-F238E27FC236}">
                <ns2:creationId id="{708299F5-B470-4115-94EB-BA8EFAFA71EF}"/>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원본까지 고치면 처음 코드로 되돌리기 어렵습니다.</a:t>
            </a:r>
          </a:p>
        </p:txBody>
      </p:sp>
      <p:sp>
        <p:nvSpPr>
          <p:cNvPr id="6" name="">
            <a:extLst>
              <a:ext uri="{FF2B5EF4-FFF2-40B4-BE49-F238E27FC236}">
                <ns2:creationId id="{6C5B782A-50B9-48AF-B2D9-D71E3BE1719D}"/>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수정할 파일과 검사 기준</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3275563"/>
                <a:gridCol w="1963187"/>
              </a:tblGrid>
              <a:tr h="514350">
                <a:tc>
                  <a:txBody>
                    <a:bodyPr wrap="square"/>
                    <a:lstStyle/>
                    <a:p>
                      <a:pPr>
                        <a:lnSpc>
                          <a:spcPct val="102000"/>
                        </a:lnSpc>
                        <a:buNone/>
                      </a:pPr>
                      <a:r>
                        <a:rPr sz="1875" b="1">
                          <a:solidFill>
                            <a:srgbClr val="172F39"/>
                          </a:solidFill>
                          <a:latin typeface="Noto Sans KR"/>
                          <a:ea typeface="Noto Sans KR"/>
                          <a:cs typeface="Noto Sans KR"/>
                        </a:rPr>
                        <a:t>경로</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역할</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code/baseline.py</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원본</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work/classifier.py</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학생 수정</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data/cases.json</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검사 기준</a:t>
                      </a:r>
                    </a:p>
                  </a:txBody>
                  <a:tcPr marL="114300" marR="114300" marT="76200" marB="76200" anchor="ctr">
                    <a:solidFill>
                      <a:srgbClr val="FFFFFF"/>
                    </a:solidFill>
                  </a:tcPr>
                </a:tc>
              </a:tr>
            </a:tbl>
          </a:graphicData>
        </a:graphic>
      </p:graphicFrame>
      <p:sp>
        <p:nvSpPr>
          <p:cNvPr id="8" name="">
            <a:extLst>
              <a:ext uri="{FF2B5EF4-FFF2-40B4-BE49-F238E27FC236}">
                <ns2:creationId id="{60850661-D6D8-417F-8009-3022ED140372}"/>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35C90868-AB2E-41A5-B2B7-85324F3997D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F5CB565F-36B6-4059-A97F-ABFDE034803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3E6B9A05-8EFC-4927-8B8F-06B52027B0C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C3DDE72A-84E9-4C2D-ACA2-BBBFA74DEEE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045</a:t>
            </a:r>
          </a:p>
        </p:txBody>
      </p:sp>
    </p:spTree>
    <p:extLst>
      <p:ext uri="{BB962C8B-B14F-4D97-AF65-F5344CB8AC3E}">
        <ns4:creationId val="1676924969"/>
      </p:ext>
    </p:extLst>
  </p:cSld>
</p:sld>
</file>

<file path=ppt/slides/slide4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85F8D232-993D-4D4C-89D7-83F0004B7B5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C19BA569-8669-4D4A-AEE9-3AC528C5684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같은 이름의 파일</a:t>
            </a:r>
          </a:p>
        </p:txBody>
      </p:sp>
      <p:sp>
        <p:nvSpPr>
          <p:cNvPr id="3" name="">
            <a:extLst>
              <a:ext uri="{FF2B5EF4-FFF2-40B4-BE49-F238E27FC236}">
                <ns2:creationId id="{60BFFF88-CDF0-4340-AF56-60D19641056E}"/>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work를 고쳤는데 baseline을 실행했습니다.</a:t>
            </a:r>
          </a:p>
        </p:txBody>
      </p:sp>
      <p:sp>
        <p:nvSpPr>
          <p:cNvPr id="4" name="">
            <a:extLst>
              <a:ext uri="{FF2B5EF4-FFF2-40B4-BE49-F238E27FC236}">
                <ns2:creationId id="{839A1B10-8510-4DE9-BB14-B41192CB711D}"/>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고친 코드도 시험했다고 말할 수 있나요?</a:t>
            </a:r>
          </a:p>
        </p:txBody>
      </p:sp>
      <p:sp>
        <p:nvSpPr>
          <p:cNvPr id="5" name="">
            <a:extLst>
              <a:ext uri="{FF2B5EF4-FFF2-40B4-BE49-F238E27FC236}">
                <ns2:creationId id="{4F407B9C-1DA3-4964-AFAC-1D7B8F7AC569}"/>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6" name="">
            <a:extLst>
              <a:ext uri="{FF2B5EF4-FFF2-40B4-BE49-F238E27FC236}">
                <ns2:creationId id="{199F9C58-B90C-4089-8A74-79F0A052C5EA}"/>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7CBFA895-35B6-4B82-9DFA-F52AE6DB104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5E3ABA69-79C2-4061-B4F8-B184D3345E6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3EC133F1-F0AA-4B60-9C20-EC3F5930A31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B472C1E2-05AC-4EEE-B944-01938A447CC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046</a:t>
            </a:r>
          </a:p>
        </p:txBody>
      </p:sp>
    </p:spTree>
    <p:extLst>
      <p:ext uri="{BB962C8B-B14F-4D97-AF65-F5344CB8AC3E}">
        <ns4:creationId val="1735958526"/>
      </p:ext>
    </p:extLst>
  </p:cSld>
</p:sld>
</file>

<file path=ppt/slides/slide4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64BD758F-A101-4A9B-85A0-B52569CABB57}"/>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4교시</a:t>
            </a:r>
          </a:p>
        </p:txBody>
      </p:sp>
      <p:sp>
        <p:nvSpPr>
          <p:cNvPr id="2" name="">
            <a:extLst>
              <a:ext uri="{FF2B5EF4-FFF2-40B4-BE49-F238E27FC236}">
                <ns2:creationId id="{110EB654-6650-4A0F-84CA-4DA1F30C405B}"/>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예상과 실제 결과</a:t>
            </a:r>
          </a:p>
        </p:txBody>
      </p:sp>
      <p:sp>
        <p:nvSpPr>
          <p:cNvPr id="3" name="">
            <a:extLst>
              <a:ext uri="{FF2B5EF4-FFF2-40B4-BE49-F238E27FC236}">
                <ns2:creationId id="{67137F71-F2AD-4627-BB30-0878162AF812}"/>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50분 수업입니다.</a:t>
            </a:r>
          </a:p>
        </p:txBody>
      </p:sp>
      <p:sp>
        <p:nvSpPr>
          <p:cNvPr id="4" name="">
            <a:extLst>
              <a:ext uri="{FF2B5EF4-FFF2-40B4-BE49-F238E27FC236}">
                <ns2:creationId id="{FBD57B0C-C167-483C-A073-CAF190BC2FE6}"/>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예제를 함께 보고 따라 해 봅니다.</a:t>
            </a:r>
          </a:p>
        </p:txBody>
      </p:sp>
      <p:sp>
        <p:nvSpPr>
          <p:cNvPr id="5" name="">
            <a:extLst>
              <a:ext uri="{FF2B5EF4-FFF2-40B4-BE49-F238E27FC236}">
                <ns2:creationId id="{2046DCE9-C2B6-4DAB-A36D-CB9A61A0036B}"/>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결과가 예상과 같은지 확인해 봅니다.</a:t>
            </a:r>
          </a:p>
        </p:txBody>
      </p:sp>
      <p:sp>
        <p:nvSpPr>
          <p:cNvPr id="6" name="">
            <a:extLst>
              <a:ext uri="{FF2B5EF4-FFF2-40B4-BE49-F238E27FC236}">
                <ns2:creationId id="{312E7B88-FF1E-4287-8CDA-F378DFE2BFC8}"/>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452C9C80-9A8A-4331-ABFF-CFED8FE56C9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FFE6732B-0899-4D23-958B-F6C77A90396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6EA9B878-1F86-42A3-9DB3-0AFFBBEC425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EE12B072-6FC1-425F-9A75-03782A18B50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047</a:t>
            </a:r>
          </a:p>
        </p:txBody>
      </p:sp>
    </p:spTree>
    <p:extLst>
      <p:ext uri="{BB962C8B-B14F-4D97-AF65-F5344CB8AC3E}">
        <ns4:creationId val="1023308656"/>
      </p:ext>
    </p:extLst>
  </p:cSld>
</p:sld>
</file>

<file path=ppt/slides/slide4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5C761CA4-C882-4D59-B370-1A7F5C56354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E2C7ED58-3FCC-4010-B362-F364B802701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실패를 읽는 순서</a:t>
            </a:r>
          </a:p>
        </p:txBody>
      </p:sp>
      <p:sp>
        <p:nvSpPr>
          <p:cNvPr id="3" name="">
            <a:extLst>
              <a:ext uri="{FF2B5EF4-FFF2-40B4-BE49-F238E27FC236}">
                <ns2:creationId id="{425FDF16-F442-48A6-A3DB-694A74DA5A62}"/>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54CB191A-F5F1-4042-9C08-1D9B55C0B8D8}"/>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어느 파일을 실행했는지 봅니다.</a:t>
            </a:r>
          </a:p>
        </p:txBody>
      </p:sp>
      <p:sp>
        <p:nvSpPr>
          <p:cNvPr id="5" name="">
            <a:extLst>
              <a:ext uri="{FF2B5EF4-FFF2-40B4-BE49-F238E27FC236}">
                <ns2:creationId id="{D9667B4D-652E-4F9E-AE1E-D90E0D540B88}"/>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기대와 실제가 다른 행을 찾습니다.</a:t>
            </a:r>
          </a:p>
        </p:txBody>
      </p:sp>
      <p:sp>
        <p:nvSpPr>
          <p:cNvPr id="6" name="">
            <a:extLst>
              <a:ext uri="{FF2B5EF4-FFF2-40B4-BE49-F238E27FC236}">
                <ns2:creationId id="{D79365A7-E824-41E0-BC0F-FC59E9ABC901}"/>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기준 코드의 실패</a:t>
            </a:r>
          </a:p>
        </p:txBody>
      </p:sp>
      <p:graphicFrame>
        <p:nvGraphicFramePr>
          <p:cNvPr id="19" name=""/>
          <p:cNvGraphicFramePr/>
          <p:nvPr/>
        </p:nvGraphicFramePr>
        <p:xfrm>
          <a:off x="6267450" y="2628900"/>
          <a:ext cx="5238750" cy="1543050"/>
        </p:xfrm>
        <a:graphic>
          <a:graphicData uri="http://schemas.openxmlformats.org/drawingml/2006/table">
            <a:tbl>
              <a:tblPr firstRow="1" bandRow="0"/>
              <a:tblGrid>
                <a:gridCol w="1511508"/>
                <a:gridCol w="1717623"/>
                <a:gridCol w="2009619"/>
              </a:tblGrid>
              <a:tr h="514350">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기대</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baseline</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28</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주의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None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미측정</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a:t>
                      </a:r>
                    </a:p>
                  </a:txBody>
                  <a:tcPr marL="114300" marR="114300" marT="76200" marB="76200" anchor="ctr">
                    <a:solidFill>
                      <a:srgbClr val="FFFFFF"/>
                    </a:solidFill>
                  </a:tcPr>
                </a:tc>
              </a:tr>
            </a:tbl>
          </a:graphicData>
        </a:graphic>
      </p:graphicFrame>
      <p:sp>
        <p:nvSpPr>
          <p:cNvPr id="8" name="">
            <a:extLst>
              <a:ext uri="{FF2B5EF4-FFF2-40B4-BE49-F238E27FC236}">
                <ns2:creationId id="{6E8D5E5C-5564-4183-9734-E50FD11B21AD}"/>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3EC710A9-C1F2-4B22-91BC-CC68DA15204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E9008C02-E0FA-419A-8B60-DC3572C6A84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8D8D1ED0-2AA1-409C-AF96-06EF9779AD2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D81E6251-8117-42C3-BCEF-1EEA2F24BF5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048</a:t>
            </a:r>
          </a:p>
        </p:txBody>
      </p:sp>
    </p:spTree>
    <p:extLst>
      <p:ext uri="{BB962C8B-B14F-4D97-AF65-F5344CB8AC3E}">
        <ns4:creationId val="1074850614"/>
      </p:ext>
    </p:extLst>
  </p:cSld>
</p:sld>
</file>

<file path=ppt/slides/slide4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638BD8B5-D04E-4428-8DFC-B34FAA9DF0A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B838BF63-BD80-4A70-8D3C-EDBB585E7BB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A10  실패한 입력부터 확인하기</a:t>
            </a:r>
          </a:p>
        </p:txBody>
      </p:sp>
      <p:sp>
        <p:nvSpPr>
          <p:cNvPr id="3" name="">
            <a:extLst>
              <a:ext uri="{FF2B5EF4-FFF2-40B4-BE49-F238E27FC236}">
                <ns2:creationId id="{5FF551B6-3A51-4789-AD7E-C61DC5C80FCF}"/>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04189401-11AE-4986-B556-A4048AB92533}"/>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수정 전에 같은 입력으로 실패를 다시 봅니다.</a:t>
            </a:r>
          </a:p>
        </p:txBody>
      </p:sp>
      <p:sp>
        <p:nvSpPr>
          <p:cNvPr id="5" name="">
            <a:extLst>
              <a:ext uri="{FF2B5EF4-FFF2-40B4-BE49-F238E27FC236}">
                <ns2:creationId id="{3C0D44CE-2448-4BE0-9677-11FA8883B1E2}"/>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예상과 다른 결과를 보고 고칠 곳을 찾습니다.</a:t>
            </a:r>
          </a:p>
        </p:txBody>
      </p:sp>
      <p:sp>
        <p:nvSpPr>
          <p:cNvPr id="6" name="">
            <a:extLst>
              <a:ext uri="{FF2B5EF4-FFF2-40B4-BE49-F238E27FC236}">
                <ns2:creationId id="{D8A7D6CC-5077-4549-A5AE-EA77F5F3E909}"/>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기준 코드의 실패</a:t>
            </a:r>
          </a:p>
        </p:txBody>
      </p:sp>
      <p:graphicFrame>
        <p:nvGraphicFramePr>
          <p:cNvPr id="19" name=""/>
          <p:cNvGraphicFramePr/>
          <p:nvPr/>
        </p:nvGraphicFramePr>
        <p:xfrm>
          <a:off x="6267450" y="2628900"/>
          <a:ext cx="5238750" cy="1543050"/>
        </p:xfrm>
        <a:graphic>
          <a:graphicData uri="http://schemas.openxmlformats.org/drawingml/2006/table">
            <a:tbl>
              <a:tblPr firstRow="1" bandRow="0"/>
              <a:tblGrid>
                <a:gridCol w="1511508"/>
                <a:gridCol w="1717623"/>
                <a:gridCol w="2009619"/>
              </a:tblGrid>
              <a:tr h="514350">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기대</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baseline</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28</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주의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None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미측정</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a:t>
                      </a:r>
                    </a:p>
                  </a:txBody>
                  <a:tcPr marL="114300" marR="114300" marT="76200" marB="76200" anchor="ctr">
                    <a:solidFill>
                      <a:srgbClr val="FFFFFF"/>
                    </a:solidFill>
                  </a:tcPr>
                </a:tc>
              </a:tr>
            </a:tbl>
          </a:graphicData>
        </a:graphic>
      </p:graphicFrame>
      <p:sp>
        <p:nvSpPr>
          <p:cNvPr id="8" name="">
            <a:extLst>
              <a:ext uri="{FF2B5EF4-FFF2-40B4-BE49-F238E27FC236}">
                <ns2:creationId id="{16921378-4BC4-474F-88C3-CA7C8ED65D17}"/>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461B725E-D473-4E8E-8FFD-B165209988A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747FE604-5165-40E5-9330-D091121B080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44EE4D11-DC37-4F73-B638-157FFAFE2C3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F336D54C-837C-41F5-A8EC-1730C06D38F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049</a:t>
            </a:r>
          </a:p>
        </p:txBody>
      </p:sp>
    </p:spTree>
    <p:extLst>
      <p:ext uri="{BB962C8B-B14F-4D97-AF65-F5344CB8AC3E}">
        <ns4:creationId val="178130924"/>
      </p:ext>
    </p:extLst>
  </p:cSld>
</p:sld>
</file>

<file path=ppt/slides/slide5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37BB717F-0D4A-442D-B762-E09AC90AB61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698A7509-EE3B-4301-B9AF-B7C0050B4FF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실패도 검사 결과의 예</a:t>
            </a:r>
          </a:p>
        </p:txBody>
      </p:sp>
      <p:sp>
        <p:nvSpPr>
          <p:cNvPr id="3" name="">
            <a:extLst>
              <a:ext uri="{FF2B5EF4-FFF2-40B4-BE49-F238E27FC236}">
                <ns2:creationId id="{9C45226B-9A6C-4EA5-96C6-74662AF17F05}"/>
              </a:ext>
            </a:extLst>
          </p:cNvPr>
          <p:cNvSpPr>
            <a:spLocks noGrp="1"/>
          </p:cNvSpPr>
          <p:nvPr/>
        </p:nvSpPr>
        <p:spPr>
          <a:xfrm>
            <a:off x="685800" y="1704975"/>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실행 위치: 압축을 푼 course</a:t>
            </a:r>
          </a:p>
        </p:txBody>
      </p:sp>
      <p:sp>
        <p:nvSpPr>
          <p:cNvPr id="4" name="">
            <a:extLst>
              <a:ext uri="{FF2B5EF4-FFF2-40B4-BE49-F238E27FC236}">
                <ns2:creationId id="{11297C42-BEB0-4348-8A82-B3A6761E5159}"/>
              </a:ext>
            </a:extLst>
          </p:cNvPr>
          <p:cNvSpPr>
            <a:spLocks noGrp="1"/>
          </p:cNvSpPr>
          <p:nvPr/>
        </p:nvSpPr>
        <p:spPr>
          <a:xfrm>
            <a:off x="685800" y="2262188"/>
            <a:ext cx="10820400" cy="640842"/>
          </a:xfrm>
          <a:prstGeom prst="rect">
            <a:avLst/>
          </a:prstGeom>
          <a:solidFill>
            <a:srgbClr val="F1F6F5"/>
          </a:solidFill>
          <a:ln w="0">
            <a:noFill/>
          </a:ln>
        </p:spPr>
      </p:sp>
      <p:sp>
        <p:nvSpPr>
          <p:cNvPr id="5" name="">
            <a:extLst>
              <a:ext uri="{FF2B5EF4-FFF2-40B4-BE49-F238E27FC236}">
                <ns2:creationId id="{830EFBF4-458D-4C8A-ACCC-C73932790247}"/>
              </a:ext>
            </a:extLst>
          </p:cNvPr>
          <p:cNvSpPr>
            <a:spLocks noGrp="1"/>
          </p:cNvSpPr>
          <p:nvPr/>
        </p:nvSpPr>
        <p:spPr>
          <a:xfrm>
            <a:off x="828675" y="242411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6" name="">
            <a:extLst>
              <a:ext uri="{FF2B5EF4-FFF2-40B4-BE49-F238E27FC236}">
                <ns2:creationId id="{DB396A3E-8B74-4DF3-AE29-C0AB06D6F5B3}"/>
              </a:ext>
            </a:extLst>
          </p:cNvPr>
          <p:cNvSpPr>
            <a:spLocks noGrp="1"/>
          </p:cNvSpPr>
          <p:nvPr/>
        </p:nvSpPr>
        <p:spPr>
          <a:xfrm>
            <a:off x="1276350" y="238601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python -X utf8 code/check_cases.py code/baseline.py</a:t>
            </a:r>
          </a:p>
        </p:txBody>
      </p:sp>
      <p:sp>
        <p:nvSpPr>
          <p:cNvPr id="7" name="">
            <a:extLst>
              <a:ext uri="{FF2B5EF4-FFF2-40B4-BE49-F238E27FC236}">
                <ns2:creationId id="{81E5251D-8F0A-4C6A-9DB8-F0CC78817983}"/>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235312B3-998B-425C-B87D-E27B343901F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D9D86CD4-683F-4E10-ADC2-3FA7D1DBE95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9578B955-91B1-4DC7-9872-1840D6DCA4A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679EE13E-EF84-4EFB-9F43-17DBAF5C351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050</a:t>
            </a:r>
          </a:p>
        </p:txBody>
      </p:sp>
    </p:spTree>
    <p:extLst>
      <p:ext uri="{BB962C8B-B14F-4D97-AF65-F5344CB8AC3E}">
        <ns4:creationId val="1720083543"/>
      </p:ext>
    </p:extLst>
  </p:cSld>
</p:sld>
</file>

<file path=ppt/slides/slide5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7BEAE0C0-5ECE-42D4-8BA2-2B23E6FC377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08E53418-9972-473F-AE50-945CD4BEB15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검사 명령을 읽어 봅시다</a:t>
            </a:r>
          </a:p>
        </p:txBody>
      </p:sp>
      <p:sp>
        <p:nvSpPr>
          <p:cNvPr id="3" name="">
            <a:extLst>
              <a:ext uri="{FF2B5EF4-FFF2-40B4-BE49-F238E27FC236}">
                <ns2:creationId id="{41F6E82E-2ADD-4A80-97B7-5765D8574411}"/>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D673B269-0DD7-47B5-B847-5DBC04408DB9}"/>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검사할 파일이 baseline.py인지 확인합니다.</a:t>
            </a:r>
          </a:p>
        </p:txBody>
      </p:sp>
      <p:sp>
        <p:nvSpPr>
          <p:cNvPr id="5" name="">
            <a:extLst>
              <a:ext uri="{FF2B5EF4-FFF2-40B4-BE49-F238E27FC236}">
                <ns2:creationId id="{3F8A3D5B-EB75-44A0-AC55-6A7C8553784B}"/>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명령의 인수가 어느 파일을 고르는지 봅니다.</a:t>
            </a:r>
          </a:p>
        </p:txBody>
      </p:sp>
      <p:sp>
        <p:nvSpPr>
          <p:cNvPr id="6" name="">
            <a:extLst>
              <a:ext uri="{FF2B5EF4-FFF2-40B4-BE49-F238E27FC236}">
                <ns2:creationId id="{0A2536C7-6B2F-4988-BAD0-35CF05CBF62E}"/>
              </a:ext>
            </a:extLst>
          </p:cNvPr>
          <p:cNvSpPr>
            <a:spLocks noGrp="1"/>
          </p:cNvSpPr>
          <p:nvPr/>
        </p:nvSpPr>
        <p:spPr>
          <a:xfrm>
            <a:off x="685800" y="403479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출력에서 예상과 다른 사례를 찾습니다.</a:t>
            </a:r>
          </a:p>
        </p:txBody>
      </p:sp>
      <p:sp>
        <p:nvSpPr>
          <p:cNvPr id="7" name="">
            <a:extLst>
              <a:ext uri="{FF2B5EF4-FFF2-40B4-BE49-F238E27FC236}">
                <ns2:creationId id="{16CC6689-8113-4DF4-B2B3-9172E0243E12}"/>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검사 명령의 두 파일</a:t>
            </a:r>
          </a:p>
        </p:txBody>
      </p:sp>
      <p:graphicFrame>
        <p:nvGraphicFramePr>
          <p:cNvPr id="21" name=""/>
          <p:cNvGraphicFramePr/>
          <p:nvPr/>
        </p:nvGraphicFramePr>
        <p:xfrm>
          <a:off x="6267450" y="2628900"/>
          <a:ext cx="5238750" cy="2057400"/>
        </p:xfrm>
        <a:graphic>
          <a:graphicData uri="http://schemas.openxmlformats.org/drawingml/2006/table">
            <a:tbl>
              <a:tblPr firstRow="1" bandRow="0"/>
              <a:tblGrid>
                <a:gridCol w="2131250"/>
                <a:gridCol w="3107500"/>
              </a:tblGrid>
              <a:tr h="514350">
                <a:tc>
                  <a:txBody>
                    <a:bodyPr wrap="square"/>
                    <a:lstStyle/>
                    <a:p>
                      <a:pPr>
                        <a:lnSpc>
                          <a:spcPct val="102000"/>
                        </a:lnSpc>
                        <a:buNone/>
                      </a:pPr>
                      <a:r>
                        <a:rPr sz="1875" b="1">
                          <a:solidFill>
                            <a:srgbClr val="172F39"/>
                          </a:solidFill>
                          <a:latin typeface="Noto Sans KR"/>
                          <a:ea typeface="Noto Sans KR"/>
                          <a:cs typeface="Noto Sans KR"/>
                        </a:rPr>
                        <a:t>부분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값</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검사 프로그램</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code/check_cases.py</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검사할 후보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code/baseline.py</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실패 입력</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28 / None</a:t>
                      </a:r>
                    </a:p>
                  </a:txBody>
                  <a:tcPr marL="114300" marR="114300" marT="76200" marB="76200" anchor="ctr">
                    <a:solidFill>
                      <a:srgbClr val="FFFFFF"/>
                    </a:solidFill>
                  </a:tcPr>
                </a:tc>
              </a:tr>
            </a:tbl>
          </a:graphicData>
        </a:graphic>
      </p:graphicFrame>
      <p:sp>
        <p:nvSpPr>
          <p:cNvPr id="9" name="">
            <a:extLst>
              <a:ext uri="{FF2B5EF4-FFF2-40B4-BE49-F238E27FC236}">
                <ns2:creationId id="{E800D680-30F6-4CDE-9542-BD5D3FCE73C8}"/>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29F3831B-F71B-44BB-AC52-4734B8D3D3C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42C58135-CD30-4FC5-9524-1C5C5FABF01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022016BA-ACF3-43B6-94CF-6BD08A27D93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408BAD7F-1BCB-4C46-82E4-6C42DE60519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051</a:t>
            </a:r>
          </a:p>
        </p:txBody>
      </p:sp>
    </p:spTree>
    <p:extLst>
      <p:ext uri="{BB962C8B-B14F-4D97-AF65-F5344CB8AC3E}">
        <ns4:creationId val="1408857471"/>
      </p:ext>
    </p:extLst>
  </p:cSld>
</p:sld>
</file>

<file path=ppt/slides/slide5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1B4DD30C-0C97-4A12-9E0C-4C9040B015E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76205555-7EE7-4255-A334-B583B191A11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예상된 FAIL</a:t>
            </a:r>
          </a:p>
        </p:txBody>
      </p:sp>
      <p:sp>
        <p:nvSpPr>
          <p:cNvPr id="3" name="">
            <a:extLst>
              <a:ext uri="{FF2B5EF4-FFF2-40B4-BE49-F238E27FC236}">
                <ns2:creationId id="{8318D6A5-214C-44BC-81FD-18639BC89B9C}"/>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명령·입력</a:t>
            </a:r>
          </a:p>
        </p:txBody>
      </p:sp>
      <p:sp>
        <p:nvSpPr>
          <p:cNvPr id="4" name="">
            <a:extLst>
              <a:ext uri="{FF2B5EF4-FFF2-40B4-BE49-F238E27FC236}">
                <ns2:creationId id="{60B83762-EF8F-4B2A-946C-3948BAE1E263}"/>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28과 None에서 계약과 다른 결과가 나옵니다.</a:t>
            </a:r>
          </a:p>
        </p:txBody>
      </p:sp>
      <p:sp>
        <p:nvSpPr>
          <p:cNvPr id="5" name="">
            <a:extLst>
              <a:ext uri="{FF2B5EF4-FFF2-40B4-BE49-F238E27FC236}">
                <ns2:creationId id="{D3888B80-1C58-4014-B137-8F7654092FC6}"/>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이 검사기의 종료 코드 1은 실패 사례입니다.</a:t>
            </a:r>
          </a:p>
        </p:txBody>
      </p:sp>
      <p:sp>
        <p:nvSpPr>
          <p:cNvPr id="6" name="">
            <a:extLst>
              <a:ext uri="{FF2B5EF4-FFF2-40B4-BE49-F238E27FC236}">
                <ns2:creationId id="{7C4EBC95-C14E-4217-AC5C-B02780E7FC2F}"/>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검사 명령의 두 파일</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131250"/>
                <a:gridCol w="3107500"/>
              </a:tblGrid>
              <a:tr h="514350">
                <a:tc>
                  <a:txBody>
                    <a:bodyPr wrap="square"/>
                    <a:lstStyle/>
                    <a:p>
                      <a:pPr>
                        <a:lnSpc>
                          <a:spcPct val="102000"/>
                        </a:lnSpc>
                        <a:buNone/>
                      </a:pPr>
                      <a:r>
                        <a:rPr sz="1875" b="1">
                          <a:solidFill>
                            <a:srgbClr val="172F39"/>
                          </a:solidFill>
                          <a:latin typeface="Noto Sans KR"/>
                          <a:ea typeface="Noto Sans KR"/>
                          <a:cs typeface="Noto Sans KR"/>
                        </a:rPr>
                        <a:t>부분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값</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검사 프로그램</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code/check_cases.py</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검사할 후보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code/baseline.py</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실패 입력</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28 / None</a:t>
                      </a:r>
                    </a:p>
                  </a:txBody>
                  <a:tcPr marL="114300" marR="114300" marT="76200" marB="76200" anchor="ctr">
                    <a:solidFill>
                      <a:srgbClr val="FFFFFF"/>
                    </a:solidFill>
                  </a:tcPr>
                </a:tc>
              </a:tr>
            </a:tbl>
          </a:graphicData>
        </a:graphic>
      </p:graphicFrame>
      <p:sp>
        <p:nvSpPr>
          <p:cNvPr id="8" name="">
            <a:extLst>
              <a:ext uri="{FF2B5EF4-FFF2-40B4-BE49-F238E27FC236}">
                <ns2:creationId id="{BE2ED254-4640-4948-943E-86CD6B7F0FF7}"/>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3028F003-F701-45ED-BC99-BA0569DECC2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5C237420-2C3D-4277-B4CC-4A79AEB1916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5B3CDE53-BF9C-4C5C-B089-05444C3960B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0DC16305-C8D7-4668-8D42-1751A3BC783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052</a:t>
            </a:r>
          </a:p>
        </p:txBody>
      </p:sp>
    </p:spTree>
    <p:extLst>
      <p:ext uri="{BB962C8B-B14F-4D97-AF65-F5344CB8AC3E}">
        <ns4:creationId val="1033128721"/>
      </p:ext>
    </p:extLst>
  </p:cSld>
</p:sld>
</file>

<file path=ppt/slides/slide5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1AC52121-873A-4D93-9279-AA8DC1AD831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0ABE22DA-1BAF-43EE-8DA7-7AFE6FDE2A7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실패와 설치 오류</a:t>
            </a:r>
          </a:p>
        </p:txBody>
      </p:sp>
      <p:sp>
        <p:nvSpPr>
          <p:cNvPr id="3" name="">
            <a:extLst>
              <a:ext uri="{FF2B5EF4-FFF2-40B4-BE49-F238E27FC236}">
                <ns2:creationId id="{8E529184-CE50-425B-9517-D0A9E1FD47CE}"/>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1">
                <a:solidFill>
                  <a:srgbClr val="172F39"/>
                </a:solidFill>
                <a:latin typeface="Noto Sans KR"/>
                <a:ea typeface="Noto Sans KR"/>
                <a:cs typeface="Noto Sans KR"/>
              </a:defRPr>
            </a:pPr>
            <a:r>
              <a:t>FAIL이 보이면 재설치부터 해야 하나요?</a:t>
            </a:r>
          </a:p>
        </p:txBody>
      </p:sp>
      <p:sp>
        <p:nvSpPr>
          <p:cNvPr id="4" name="">
            <a:extLst>
              <a:ext uri="{FF2B5EF4-FFF2-40B4-BE49-F238E27FC236}">
                <ns2:creationId id="{31FA9B82-D5C4-45EB-8935-A962F8A9655C}"/>
              </a:ext>
            </a:extLst>
          </p:cNvPr>
          <p:cNvSpPr>
            <a:spLocks noGrp="1"/>
          </p:cNvSpPr>
          <p:nvPr/>
        </p:nvSpPr>
        <p:spPr>
          <a:xfrm>
            <a:off x="685800" y="2728722"/>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5" name="">
            <a:extLst>
              <a:ext uri="{FF2B5EF4-FFF2-40B4-BE49-F238E27FC236}">
                <ns2:creationId id="{4F3E4D77-72C5-4AF0-8371-9C6EF8C583F5}"/>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8FFD19F5-A53C-41F9-8433-CBB7E275B81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693C9902-FC33-439A-979A-32307C9F522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76697187-C148-48CC-B6EB-72F3536EBE0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A6466012-5866-443A-B1FA-41BEF7290FD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053</a:t>
            </a:r>
          </a:p>
        </p:txBody>
      </p:sp>
    </p:spTree>
    <p:extLst>
      <p:ext uri="{BB962C8B-B14F-4D97-AF65-F5344CB8AC3E}">
        <ns4:creationId val="734428554"/>
      </p:ext>
    </p:extLst>
  </p:cSld>
</p:sld>
</file>

<file path=ppt/slides/slide5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1E651674-7E81-4D80-AAB1-F4088A278B2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44DD20A1-EF2E-455C-90FF-CB0DFE8C0E7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A11  같은 값의 포함 여부</a:t>
            </a:r>
          </a:p>
        </p:txBody>
      </p:sp>
      <p:sp>
        <p:nvSpPr>
          <p:cNvPr id="3" name="">
            <a:extLst>
              <a:ext uri="{FF2B5EF4-FFF2-40B4-BE49-F238E27FC236}">
                <ns2:creationId id="{D067042B-0188-485C-A67A-A5A425AB8F1A}"/>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기준보다 큼 &gt;</a:t>
            </a:r>
          </a:p>
        </p:txBody>
      </p:sp>
      <p:sp>
        <p:nvSpPr>
          <p:cNvPr id="4" name="">
            <a:extLst>
              <a:ext uri="{FF2B5EF4-FFF2-40B4-BE49-F238E27FC236}">
                <ns2:creationId id="{F6491533-64E5-4668-A94A-CBAC4CD721A4}"/>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&gt;는 기준보다 큰 값입니다.</a:t>
            </a:r>
          </a:p>
        </p:txBody>
      </p:sp>
      <p:sp>
        <p:nvSpPr>
          <p:cNvPr id="5" name="">
            <a:extLst>
              <a:ext uri="{FF2B5EF4-FFF2-40B4-BE49-F238E27FC236}">
                <ns2:creationId id="{4A81E66E-97C5-42E8-BF13-BAC18AA9ECE6}"/>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기준도 포함 &gt;=</a:t>
            </a:r>
          </a:p>
        </p:txBody>
      </p:sp>
      <p:sp>
        <p:nvSpPr>
          <p:cNvPr id="6" name="">
            <a:extLst>
              <a:ext uri="{FF2B5EF4-FFF2-40B4-BE49-F238E27FC236}">
                <ns2:creationId id="{1C52E17F-8B65-4968-83C5-738D75AF3731}"/>
              </a:ext>
            </a:extLst>
          </p:cNvPr>
          <p:cNvSpPr>
            <a:spLocks noGrp="1"/>
          </p:cNvSpPr>
          <p:nvPr/>
        </p:nvSpPr>
        <p:spPr>
          <a:xfrm>
            <a:off x="6400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&gt;=는 기준과 같은 값도 포함합니다.</a:t>
            </a:r>
          </a:p>
        </p:txBody>
      </p:sp>
      <p:sp>
        <p:nvSpPr>
          <p:cNvPr id="7" name="">
            <a:extLst>
              <a:ext uri="{FF2B5EF4-FFF2-40B4-BE49-F238E27FC236}">
                <ns2:creationId id="{E492DAC1-CCC6-4EAA-BE07-04A4903C19AD}"/>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F39898FD-2E14-4867-AB76-31B82916748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8C0C8790-C410-40A7-B840-DAFF05F761D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CC99679B-30C3-4625-87F4-6F0C8280611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47ED597F-06D4-46AD-89B9-2B92C5ACEFC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054</a:t>
            </a:r>
          </a:p>
        </p:txBody>
      </p:sp>
    </p:spTree>
    <p:extLst>
      <p:ext uri="{BB962C8B-B14F-4D97-AF65-F5344CB8AC3E}">
        <ns4:creationId val="526084113"/>
      </p:ext>
    </p:extLst>
  </p:cSld>
</p:sld>
</file>

<file path=ppt/slides/slide5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1" name="">
            <a:extLst>
              <a:ext uri="{FF2B5EF4-FFF2-40B4-BE49-F238E27FC236}">
                <ns2:creationId id="{98712BE6-DCCF-4961-B3CC-F8ED9E37800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48619A1B-AF53-4A7E-9AD6-301BA526EA8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같은 값의 포함 여부의 예</a:t>
            </a:r>
          </a:p>
        </p:txBody>
      </p:sp>
      <p:sp>
        <p:nvSpPr>
          <p:cNvPr id="3" name="">
            <a:extLst>
              <a:ext uri="{FF2B5EF4-FFF2-40B4-BE49-F238E27FC236}">
                <ns2:creationId id="{1A797F55-1F38-4643-B844-FF8A00D4590B}"/>
              </a:ext>
            </a:extLst>
          </p:cNvPr>
          <p:cNvSpPr>
            <a:spLocks noGrp="1"/>
          </p:cNvSpPr>
          <p:nvPr/>
        </p:nvSpPr>
        <p:spPr>
          <a:xfrm>
            <a:off x="685800" y="1704975"/>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경계 비교만 떼어 낸 짧은 완성 예입니다.</a:t>
            </a:r>
          </a:p>
        </p:txBody>
      </p:sp>
      <p:sp>
        <p:nvSpPr>
          <p:cNvPr id="4" name="">
            <a:extLst>
              <a:ext uri="{FF2B5EF4-FFF2-40B4-BE49-F238E27FC236}">
                <ns2:creationId id="{6132F63E-5E47-48E4-9EA5-ADFCEAB8C755}"/>
              </a:ext>
            </a:extLst>
          </p:cNvPr>
          <p:cNvSpPr>
            <a:spLocks noGrp="1"/>
          </p:cNvSpPr>
          <p:nvPr/>
        </p:nvSpPr>
        <p:spPr>
          <a:xfrm>
            <a:off x="685800" y="2262188"/>
            <a:ext cx="6953250" cy="1591818"/>
          </a:xfrm>
          <a:prstGeom prst="rect">
            <a:avLst/>
          </a:prstGeom>
          <a:solidFill>
            <a:srgbClr val="F1F6F5"/>
          </a:solidFill>
          <a:ln w="0">
            <a:noFill/>
          </a:ln>
        </p:spPr>
      </p:sp>
      <p:sp>
        <p:nvSpPr>
          <p:cNvPr id="5" name="">
            <a:extLst>
              <a:ext uri="{FF2B5EF4-FFF2-40B4-BE49-F238E27FC236}">
                <ns2:creationId id="{5424CE7F-E4CD-46DE-A45E-9F9CDBD15090}"/>
              </a:ext>
            </a:extLst>
          </p:cNvPr>
          <p:cNvSpPr>
            <a:spLocks noGrp="1"/>
          </p:cNvSpPr>
          <p:nvPr/>
        </p:nvSpPr>
        <p:spPr>
          <a:xfrm>
            <a:off x="828675" y="242411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6" name="">
            <a:extLst>
              <a:ext uri="{FF2B5EF4-FFF2-40B4-BE49-F238E27FC236}">
                <ns2:creationId id="{C0D2E5FD-B892-48BE-9E0E-FED67586975D}"/>
              </a:ext>
            </a:extLst>
          </p:cNvPr>
          <p:cNvSpPr>
            <a:spLocks noGrp="1"/>
          </p:cNvSpPr>
          <p:nvPr/>
        </p:nvSpPr>
        <p:spPr>
          <a:xfrm>
            <a:off x="1276350" y="2386013"/>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def classify(value, threshold=28):</a:t>
            </a:r>
          </a:p>
        </p:txBody>
      </p:sp>
      <p:sp>
        <p:nvSpPr>
          <p:cNvPr id="7" name="">
            <a:extLst>
              <a:ext uri="{FF2B5EF4-FFF2-40B4-BE49-F238E27FC236}">
                <ns2:creationId id="{EE34E037-5D7B-4EFC-BE6F-21D9CC3D3ACC}"/>
              </a:ext>
            </a:extLst>
          </p:cNvPr>
          <p:cNvSpPr>
            <a:spLocks noGrp="1"/>
          </p:cNvSpPr>
          <p:nvPr/>
        </p:nvSpPr>
        <p:spPr>
          <a:xfrm>
            <a:off x="828675" y="2741104"/>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8" name="">
            <a:extLst>
              <a:ext uri="{FF2B5EF4-FFF2-40B4-BE49-F238E27FC236}">
                <ns2:creationId id="{5A40808C-1979-4C08-9588-9D3A860ECB52}"/>
              </a:ext>
            </a:extLst>
          </p:cNvPr>
          <p:cNvSpPr>
            <a:spLocks noGrp="1"/>
          </p:cNvSpPr>
          <p:nvPr/>
        </p:nvSpPr>
        <p:spPr>
          <a:xfrm>
            <a:off x="1276350" y="2703004"/>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if value &gt; threshold:</a:t>
            </a:r>
          </a:p>
        </p:txBody>
      </p:sp>
      <p:sp>
        <p:nvSpPr>
          <p:cNvPr id="9" name="">
            <a:extLst>
              <a:ext uri="{FF2B5EF4-FFF2-40B4-BE49-F238E27FC236}">
                <ns2:creationId id="{C8F7E177-1157-4800-B51E-BDC94F8E3DFF}"/>
              </a:ext>
            </a:extLst>
          </p:cNvPr>
          <p:cNvSpPr>
            <a:spLocks noGrp="1"/>
          </p:cNvSpPr>
          <p:nvPr/>
        </p:nvSpPr>
        <p:spPr>
          <a:xfrm>
            <a:off x="828675" y="305809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0" name="">
            <a:extLst>
              <a:ext uri="{FF2B5EF4-FFF2-40B4-BE49-F238E27FC236}">
                <ns2:creationId id="{20417DD2-7F52-4043-9C16-4D6D56159AE8}"/>
              </a:ext>
            </a:extLst>
          </p:cNvPr>
          <p:cNvSpPr>
            <a:spLocks noGrp="1"/>
          </p:cNvSpPr>
          <p:nvPr/>
        </p:nvSpPr>
        <p:spPr>
          <a:xfrm>
            <a:off x="1276350" y="3019997"/>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return "주의"</a:t>
            </a:r>
          </a:p>
        </p:txBody>
      </p:sp>
      <p:sp>
        <p:nvSpPr>
          <p:cNvPr id="11" name="">
            <a:extLst>
              <a:ext uri="{FF2B5EF4-FFF2-40B4-BE49-F238E27FC236}">
                <ns2:creationId id="{0D9A7FDC-5DAB-4E9A-9A9D-20D50F81ABD0}"/>
              </a:ext>
            </a:extLst>
          </p:cNvPr>
          <p:cNvSpPr>
            <a:spLocks noGrp="1"/>
          </p:cNvSpPr>
          <p:nvPr/>
        </p:nvSpPr>
        <p:spPr>
          <a:xfrm>
            <a:off x="828675" y="337508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2" name="">
            <a:extLst>
              <a:ext uri="{FF2B5EF4-FFF2-40B4-BE49-F238E27FC236}">
                <ns2:creationId id="{25FBED21-88F5-45D7-B978-915002BE4A62}"/>
              </a:ext>
            </a:extLst>
          </p:cNvPr>
          <p:cNvSpPr>
            <a:spLocks noGrp="1"/>
          </p:cNvSpPr>
          <p:nvPr/>
        </p:nvSpPr>
        <p:spPr>
          <a:xfrm>
            <a:off x="1276350" y="3336989"/>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return "정상"</a:t>
            </a:r>
          </a:p>
        </p:txBody>
      </p:sp>
      <p:sp>
        <p:nvSpPr>
          <p:cNvPr id="13" name="">
            <a:extLst>
              <a:ext uri="{FF2B5EF4-FFF2-40B4-BE49-F238E27FC236}">
                <ns2:creationId id="{211214D4-9F7B-456B-8256-695CD2612EC1}"/>
              </a:ext>
            </a:extLst>
          </p:cNvPr>
          <p:cNvSpPr>
            <a:spLocks noGrp="1"/>
          </p:cNvSpPr>
          <p:nvPr/>
        </p:nvSpPr>
        <p:spPr>
          <a:xfrm>
            <a:off x="8143875" y="2281238"/>
            <a:ext cx="3333750" cy="4095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실행 결과</a:t>
            </a:r>
          </a:p>
        </p:txBody>
      </p:sp>
      <p:sp>
        <p:nvSpPr>
          <p:cNvPr id="14" name="">
            <a:extLst>
              <a:ext uri="{FF2B5EF4-FFF2-40B4-BE49-F238E27FC236}">
                <ns2:creationId id="{13070307-8274-4513-986C-EF6660CD0500}"/>
              </a:ext>
            </a:extLst>
          </p:cNvPr>
          <p:cNvSpPr>
            <a:spLocks noGrp="1"/>
          </p:cNvSpPr>
          <p:nvPr/>
        </p:nvSpPr>
        <p:spPr>
          <a:xfrm>
            <a:off x="8143875" y="2862263"/>
            <a:ext cx="3333750" cy="721233"/>
          </a:xfrm>
          <a:prstGeom prst="rect">
            <a:avLst/>
          </a:prstGeom>
          <a:noFill/>
          <a:ln w="0">
            <a:noFill/>
          </a:ln>
        </p:spPr>
        <p:txBody>
          <a:bodyPr wrap="square" lIns="0" tIns="0" rIns="0" bIns="0">
            <a:noAutofit/>
          </a:bodyPr>
          <a:lstStyle/>
          <a:p>
            <a:pPr>
              <a:defRPr sz="2025" b="0">
                <a:solidFill>
                  <a:srgbClr val="172F39"/>
                </a:solidFill>
                <a:latin typeface="Noto Sans KR"/>
                <a:ea typeface="Noto Sans KR"/>
                <a:cs typeface="Noto Sans KR"/>
              </a:defRPr>
            </a:pPr>
            <a:r>
              <a:t>&gt;를 &gt;=로 바꾸면 28이 주의가 됩니다.</a:t>
            </a:r>
          </a:p>
        </p:txBody>
      </p:sp>
      <p:sp>
        <p:nvSpPr>
          <p:cNvPr id="15" name="">
            <a:extLst>
              <a:ext uri="{FF2B5EF4-FFF2-40B4-BE49-F238E27FC236}">
                <ns2:creationId id="{48C983CE-CC9C-4E23-A5D2-78479FA90925}"/>
              </a:ext>
            </a:extLst>
          </p:cNvPr>
          <p:cNvSpPr>
            <a:spLocks noGrp="1"/>
          </p:cNvSpPr>
          <p:nvPr/>
        </p:nvSpPr>
        <p:spPr>
          <a:xfrm>
            <a:off x="8143875" y="3631121"/>
            <a:ext cx="3333750" cy="721233"/>
          </a:xfrm>
          <a:prstGeom prst="rect">
            <a:avLst/>
          </a:prstGeom>
          <a:noFill/>
          <a:ln w="0">
            <a:noFill/>
          </a:ln>
        </p:spPr>
        <p:txBody>
          <a:bodyPr wrap="square" lIns="0" tIns="0" rIns="0" bIns="0">
            <a:noAutofit/>
          </a:bodyPr>
          <a:lstStyle/>
          <a:p>
            <a:pPr>
              <a:defRPr sz="2025" b="0">
                <a:solidFill>
                  <a:srgbClr val="172F39"/>
                </a:solidFill>
                <a:latin typeface="Noto Sans KR"/>
                <a:ea typeface="Noto Sans KR"/>
                <a:cs typeface="Noto Sans KR"/>
              </a:defRPr>
            </a:pPr>
            <a:r>
              <a:t>27.9와 28.1도 다시 확인합니다.</a:t>
            </a:r>
          </a:p>
        </p:txBody>
      </p:sp>
      <p:sp>
        <p:nvSpPr>
          <p:cNvPr id="16" name="">
            <a:extLst>
              <a:ext uri="{FF2B5EF4-FFF2-40B4-BE49-F238E27FC236}">
                <ns2:creationId id="{1C278EB8-1237-43E5-A67E-930B15510D14}"/>
              </a:ext>
            </a:extLst>
          </p:cNvPr>
          <p:cNvSpPr>
            <a:spLocks noGrp="1"/>
          </p:cNvSpPr>
          <p:nvPr/>
        </p:nvSpPr>
        <p:spPr>
          <a:xfrm>
            <a:off x="685800" y="6172200"/>
            <a:ext cx="10820400" cy="9525"/>
          </a:xfrm>
          <a:prstGeom prst="rect">
            <a:avLst/>
          </a:prstGeom>
          <a:solidFill>
            <a:srgbClr val="D5DEDD"/>
          </a:solidFill>
          <a:ln w="0">
            <a:noFill/>
          </a:ln>
        </p:spPr>
      </p:sp>
      <p:sp>
        <p:nvSpPr>
          <p:cNvPr id="17" name="">
            <a:extLst>
              <a:ext uri="{FF2B5EF4-FFF2-40B4-BE49-F238E27FC236}">
                <ns2:creationId id="{0ABA94CD-AE49-4364-81AA-34E8CEB5C2A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8" name="">
            <a:extLst>
              <a:ext uri="{FF2B5EF4-FFF2-40B4-BE49-F238E27FC236}">
                <ns2:creationId id="{DE4D73FA-D59C-484D-AF1A-BD165D1B648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9" name="">
            <a:extLst>
              <a:ext uri="{FF2B5EF4-FFF2-40B4-BE49-F238E27FC236}">
                <ns2:creationId id="{283038E5-B442-4C1E-9AC5-1330C767490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0" name="">
            <a:extLst>
              <a:ext uri="{FF2B5EF4-FFF2-40B4-BE49-F238E27FC236}">
                <ns2:creationId id="{052E9EAF-DB04-4DD7-9F14-20322E1F66C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055</a:t>
            </a:r>
          </a:p>
        </p:txBody>
      </p:sp>
    </p:spTree>
    <p:extLst>
      <p:ext uri="{BB962C8B-B14F-4D97-AF65-F5344CB8AC3E}">
        <ns4:creationId val="1693947808"/>
      </p:ext>
    </p:extLst>
  </p:cSld>
</p:sld>
</file>

<file path=ppt/slides/slide5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2" name="">
            <a:extLst>
              <a:ext uri="{FF2B5EF4-FFF2-40B4-BE49-F238E27FC236}">
                <ns2:creationId id="{6FC221A8-A716-4AD9-9439-0B40A0244A8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083E5287-4676-4C4E-B216-5EA20A417F8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비교 기호를 읽어 봅시다</a:t>
            </a:r>
          </a:p>
        </p:txBody>
      </p:sp>
      <p:sp>
        <p:nvSpPr>
          <p:cNvPr id="3" name="">
            <a:extLst>
              <a:ext uri="{FF2B5EF4-FFF2-40B4-BE49-F238E27FC236}">
                <ns2:creationId id="{C5889649-B139-43F1-920D-68C768EB3220}"/>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5306AB3A-A36C-4467-A8D8-43C8CED02675}"/>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왼쪽 온도와 오른쪽 기준값을 비교합니다.</a:t>
            </a:r>
          </a:p>
        </p:txBody>
      </p:sp>
      <p:sp>
        <p:nvSpPr>
          <p:cNvPr id="5" name="">
            <a:extLst>
              <a:ext uri="{FF2B5EF4-FFF2-40B4-BE49-F238E27FC236}">
                <ns2:creationId id="{76206E61-5B7E-404A-84EB-1D055D0CD2AB}"/>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&gt;와 &gt;=가 28에서 어떻게 다른지 봅니다.</a:t>
            </a:r>
          </a:p>
        </p:txBody>
      </p:sp>
      <p:sp>
        <p:nvSpPr>
          <p:cNvPr id="6" name="">
            <a:extLst>
              <a:ext uri="{FF2B5EF4-FFF2-40B4-BE49-F238E27FC236}">
                <ns2:creationId id="{FE6F10E9-8DF8-4EF8-B4FC-918F45DA5E40}"/>
              </a:ext>
            </a:extLst>
          </p:cNvPr>
          <p:cNvSpPr>
            <a:spLocks noGrp="1"/>
          </p:cNvSpPr>
          <p:nvPr/>
        </p:nvSpPr>
        <p:spPr>
          <a:xfrm>
            <a:off x="685800" y="403479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각 결과가 어느 문자열을 고르는지 읽습니다.</a:t>
            </a:r>
          </a:p>
        </p:txBody>
      </p:sp>
      <p:sp>
        <p:nvSpPr>
          <p:cNvPr id="7" name="">
            <a:extLst>
              <a:ext uri="{FF2B5EF4-FFF2-40B4-BE49-F238E27FC236}">
                <ns2:creationId id="{A9D09EFC-2AFB-42CC-A2E5-F0CB2297F082}"/>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55장의 실제 예제 다시 읽기</a:t>
            </a:r>
          </a:p>
        </p:txBody>
      </p:sp>
      <p:sp>
        <p:nvSpPr>
          <p:cNvPr id="8" name="">
            <a:extLst>
              <a:ext uri="{FF2B5EF4-FFF2-40B4-BE49-F238E27FC236}">
                <ns2:creationId id="{C5F030B6-F28E-4BF3-A546-92F1DE9103D1}"/>
              </a:ext>
            </a:extLst>
          </p:cNvPr>
          <p:cNvSpPr>
            <a:spLocks noGrp="1"/>
          </p:cNvSpPr>
          <p:nvPr/>
        </p:nvSpPr>
        <p:spPr>
          <a:xfrm>
            <a:off x="6267450" y="2628900"/>
            <a:ext cx="5238750" cy="1494282"/>
          </a:xfrm>
          <a:prstGeom prst="rect">
            <a:avLst/>
          </a:prstGeom>
          <a:solidFill>
            <a:srgbClr val="F1F6F5"/>
          </a:solidFill>
          <a:ln w="0">
            <a:noFill/>
          </a:ln>
        </p:spPr>
      </p:sp>
      <p:sp>
        <p:nvSpPr>
          <p:cNvPr id="9" name="">
            <a:extLst>
              <a:ext uri="{FF2B5EF4-FFF2-40B4-BE49-F238E27FC236}">
                <ns2:creationId id="{B66538CE-5315-45AB-A200-CA53C35D406B}"/>
              </a:ext>
            </a:extLst>
          </p:cNvPr>
          <p:cNvSpPr>
            <a:spLocks noGrp="1"/>
          </p:cNvSpPr>
          <p:nvPr/>
        </p:nvSpPr>
        <p:spPr>
          <a:xfrm>
            <a:off x="6410325" y="279082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10" name="">
            <a:extLst>
              <a:ext uri="{FF2B5EF4-FFF2-40B4-BE49-F238E27FC236}">
                <ns2:creationId id="{DC7415F7-FE2C-4CB7-B336-F3C4882A1FFA}"/>
              </a:ext>
            </a:extLst>
          </p:cNvPr>
          <p:cNvSpPr>
            <a:spLocks noGrp="1"/>
          </p:cNvSpPr>
          <p:nvPr/>
        </p:nvSpPr>
        <p:spPr>
          <a:xfrm>
            <a:off x="6858000" y="275272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def classify(value, threshold=28):</a:t>
            </a:r>
          </a:p>
        </p:txBody>
      </p:sp>
      <p:sp>
        <p:nvSpPr>
          <p:cNvPr id="11" name="">
            <a:extLst>
              <a:ext uri="{FF2B5EF4-FFF2-40B4-BE49-F238E27FC236}">
                <ns2:creationId id="{553B02F2-484A-46EA-A369-2745CD6B3736}"/>
              </a:ext>
            </a:extLst>
          </p:cNvPr>
          <p:cNvSpPr>
            <a:spLocks noGrp="1"/>
          </p:cNvSpPr>
          <p:nvPr/>
        </p:nvSpPr>
        <p:spPr>
          <a:xfrm>
            <a:off x="6410325" y="308343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12" name="">
            <a:extLst>
              <a:ext uri="{FF2B5EF4-FFF2-40B4-BE49-F238E27FC236}">
                <ns2:creationId id="{661A33C9-5612-4BBE-9CA2-1E86CCC68666}"/>
              </a:ext>
            </a:extLst>
          </p:cNvPr>
          <p:cNvSpPr>
            <a:spLocks noGrp="1"/>
          </p:cNvSpPr>
          <p:nvPr/>
        </p:nvSpPr>
        <p:spPr>
          <a:xfrm>
            <a:off x="6858000" y="304533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if value &gt; threshold:</a:t>
            </a:r>
          </a:p>
        </p:txBody>
      </p:sp>
      <p:sp>
        <p:nvSpPr>
          <p:cNvPr id="13" name="">
            <a:extLst>
              <a:ext uri="{FF2B5EF4-FFF2-40B4-BE49-F238E27FC236}">
                <ns2:creationId id="{F1C7CD96-E88A-48FF-8FAC-2F2D3E5BC5B9}"/>
              </a:ext>
            </a:extLst>
          </p:cNvPr>
          <p:cNvSpPr>
            <a:spLocks noGrp="1"/>
          </p:cNvSpPr>
          <p:nvPr/>
        </p:nvSpPr>
        <p:spPr>
          <a:xfrm>
            <a:off x="6410325" y="3376041"/>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4" name="">
            <a:extLst>
              <a:ext uri="{FF2B5EF4-FFF2-40B4-BE49-F238E27FC236}">
                <ns2:creationId id="{D722BDF3-634C-4AD4-A42A-572AAACC49C3}"/>
              </a:ext>
            </a:extLst>
          </p:cNvPr>
          <p:cNvSpPr>
            <a:spLocks noGrp="1"/>
          </p:cNvSpPr>
          <p:nvPr/>
        </p:nvSpPr>
        <p:spPr>
          <a:xfrm>
            <a:off x="6858000" y="3337941"/>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return "주의"</a:t>
            </a:r>
          </a:p>
        </p:txBody>
      </p:sp>
      <p:sp>
        <p:nvSpPr>
          <p:cNvPr id="15" name="">
            <a:extLst>
              <a:ext uri="{FF2B5EF4-FFF2-40B4-BE49-F238E27FC236}">
                <ns2:creationId id="{A6549CAC-310B-425E-BBBD-2F24AD1CF620}"/>
              </a:ext>
            </a:extLst>
          </p:cNvPr>
          <p:cNvSpPr>
            <a:spLocks noGrp="1"/>
          </p:cNvSpPr>
          <p:nvPr/>
        </p:nvSpPr>
        <p:spPr>
          <a:xfrm>
            <a:off x="6410325" y="3668649"/>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6" name="">
            <a:extLst>
              <a:ext uri="{FF2B5EF4-FFF2-40B4-BE49-F238E27FC236}">
                <ns2:creationId id="{41DD25B6-CBBF-40DB-8513-7018780BA073}"/>
              </a:ext>
            </a:extLst>
          </p:cNvPr>
          <p:cNvSpPr>
            <a:spLocks noGrp="1"/>
          </p:cNvSpPr>
          <p:nvPr/>
        </p:nvSpPr>
        <p:spPr>
          <a:xfrm>
            <a:off x="6858000" y="3630549"/>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return "정상"</a:t>
            </a:r>
          </a:p>
        </p:txBody>
      </p:sp>
      <p:sp>
        <p:nvSpPr>
          <p:cNvPr id="17" name="">
            <a:extLst>
              <a:ext uri="{FF2B5EF4-FFF2-40B4-BE49-F238E27FC236}">
                <ns2:creationId id="{AC5BF5EF-B27F-4E29-91AD-C85472878A4E}"/>
              </a:ext>
            </a:extLst>
          </p:cNvPr>
          <p:cNvSpPr>
            <a:spLocks noGrp="1"/>
          </p:cNvSpPr>
          <p:nvPr/>
        </p:nvSpPr>
        <p:spPr>
          <a:xfrm>
            <a:off x="685800" y="6172200"/>
            <a:ext cx="10820400" cy="9525"/>
          </a:xfrm>
          <a:prstGeom prst="rect">
            <a:avLst/>
          </a:prstGeom>
          <a:solidFill>
            <a:srgbClr val="D5DEDD"/>
          </a:solidFill>
          <a:ln w="0">
            <a:noFill/>
          </a:ln>
        </p:spPr>
      </p:sp>
      <p:sp>
        <p:nvSpPr>
          <p:cNvPr id="18" name="">
            <a:extLst>
              <a:ext uri="{FF2B5EF4-FFF2-40B4-BE49-F238E27FC236}">
                <ns2:creationId id="{694DFBA6-36AB-4D72-9E4B-4FF7A425BB9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9" name="">
            <a:extLst>
              <a:ext uri="{FF2B5EF4-FFF2-40B4-BE49-F238E27FC236}">
                <ns2:creationId id="{BCEE0417-CA8E-431D-87AF-6178D05E996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0" name="">
            <a:extLst>
              <a:ext uri="{FF2B5EF4-FFF2-40B4-BE49-F238E27FC236}">
                <ns2:creationId id="{44EFD6F3-76F5-46D3-868F-F702245F03B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1" name="">
            <a:extLst>
              <a:ext uri="{FF2B5EF4-FFF2-40B4-BE49-F238E27FC236}">
                <ns2:creationId id="{09E05419-0AC8-45E0-B702-3BDD3BB3F12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056</a:t>
            </a:r>
          </a:p>
        </p:txBody>
      </p:sp>
    </p:spTree>
    <p:extLst>
      <p:ext uri="{BB962C8B-B14F-4D97-AF65-F5344CB8AC3E}">
        <ns4:creationId val="1641726516"/>
      </p:ext>
    </p:extLst>
  </p:cSld>
</p:sld>
</file>

<file path=ppt/slides/slide5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1" name="">
            <a:extLst>
              <a:ext uri="{FF2B5EF4-FFF2-40B4-BE49-F238E27FC236}">
                <ns2:creationId id="{DF9AD8B9-E8A8-426B-B603-F71E18412E6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489B450E-070A-43AC-8E56-189DAE6639A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한 기호 수정</a:t>
            </a:r>
          </a:p>
        </p:txBody>
      </p:sp>
      <p:sp>
        <p:nvSpPr>
          <p:cNvPr id="3" name="">
            <a:extLst>
              <a:ext uri="{FF2B5EF4-FFF2-40B4-BE49-F238E27FC236}">
                <ns2:creationId id="{C620FADA-8E97-4BCC-B2AB-D650EF3729C9}"/>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명령·입력</a:t>
            </a:r>
          </a:p>
        </p:txBody>
      </p:sp>
      <p:sp>
        <p:nvSpPr>
          <p:cNvPr id="4" name="">
            <a:extLst>
              <a:ext uri="{FF2B5EF4-FFF2-40B4-BE49-F238E27FC236}">
                <ns2:creationId id="{FBF044C5-4E7C-4649-858A-19D7FB9876D3}"/>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&gt;를 &gt;=로 바꾸면 28이 주의가 됩니다.</a:t>
            </a:r>
          </a:p>
        </p:txBody>
      </p:sp>
      <p:sp>
        <p:nvSpPr>
          <p:cNvPr id="5" name="">
            <a:extLst>
              <a:ext uri="{FF2B5EF4-FFF2-40B4-BE49-F238E27FC236}">
                <ns2:creationId id="{0AF84153-991D-40B8-95F0-F6FFB664F058}"/>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27.9와 28.1도 다시 확인합니다.</a:t>
            </a:r>
          </a:p>
        </p:txBody>
      </p:sp>
      <p:sp>
        <p:nvSpPr>
          <p:cNvPr id="6" name="">
            <a:extLst>
              <a:ext uri="{FF2B5EF4-FFF2-40B4-BE49-F238E27FC236}">
                <ns2:creationId id="{D221FFE8-F4DB-4D51-A866-306E56EF1293}"/>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55장의 실제 예제 다시 읽기</a:t>
            </a:r>
          </a:p>
        </p:txBody>
      </p:sp>
      <p:sp>
        <p:nvSpPr>
          <p:cNvPr id="7" name="">
            <a:extLst>
              <a:ext uri="{FF2B5EF4-FFF2-40B4-BE49-F238E27FC236}">
                <ns2:creationId id="{8C81441B-B613-406F-B822-4EAC5273B345}"/>
              </a:ext>
            </a:extLst>
          </p:cNvPr>
          <p:cNvSpPr>
            <a:spLocks noGrp="1"/>
          </p:cNvSpPr>
          <p:nvPr/>
        </p:nvSpPr>
        <p:spPr>
          <a:xfrm>
            <a:off x="6267450" y="2628900"/>
            <a:ext cx="5238750" cy="1494282"/>
          </a:xfrm>
          <a:prstGeom prst="rect">
            <a:avLst/>
          </a:prstGeom>
          <a:solidFill>
            <a:srgbClr val="F1F6F5"/>
          </a:solidFill>
          <a:ln w="0">
            <a:noFill/>
          </a:ln>
        </p:spPr>
      </p:sp>
      <p:sp>
        <p:nvSpPr>
          <p:cNvPr id="8" name="">
            <a:extLst>
              <a:ext uri="{FF2B5EF4-FFF2-40B4-BE49-F238E27FC236}">
                <ns2:creationId id="{0222900F-B3B0-4077-80AE-E16842523497}"/>
              </a:ext>
            </a:extLst>
          </p:cNvPr>
          <p:cNvSpPr>
            <a:spLocks noGrp="1"/>
          </p:cNvSpPr>
          <p:nvPr/>
        </p:nvSpPr>
        <p:spPr>
          <a:xfrm>
            <a:off x="6410325" y="279082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9" name="">
            <a:extLst>
              <a:ext uri="{FF2B5EF4-FFF2-40B4-BE49-F238E27FC236}">
                <ns2:creationId id="{8B51D27C-90AE-406D-8B9D-F555A081ADD5}"/>
              </a:ext>
            </a:extLst>
          </p:cNvPr>
          <p:cNvSpPr>
            <a:spLocks noGrp="1"/>
          </p:cNvSpPr>
          <p:nvPr/>
        </p:nvSpPr>
        <p:spPr>
          <a:xfrm>
            <a:off x="6858000" y="275272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def classify(value, threshold=28):</a:t>
            </a:r>
          </a:p>
        </p:txBody>
      </p:sp>
      <p:sp>
        <p:nvSpPr>
          <p:cNvPr id="10" name="">
            <a:extLst>
              <a:ext uri="{FF2B5EF4-FFF2-40B4-BE49-F238E27FC236}">
                <ns2:creationId id="{9881E506-EA8C-4218-90C7-8E3C8614C03A}"/>
              </a:ext>
            </a:extLst>
          </p:cNvPr>
          <p:cNvSpPr>
            <a:spLocks noGrp="1"/>
          </p:cNvSpPr>
          <p:nvPr/>
        </p:nvSpPr>
        <p:spPr>
          <a:xfrm>
            <a:off x="6410325" y="308343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11" name="">
            <a:extLst>
              <a:ext uri="{FF2B5EF4-FFF2-40B4-BE49-F238E27FC236}">
                <ns2:creationId id="{3DB549BD-3B3F-4A5B-A027-6CF75473E0C3}"/>
              </a:ext>
            </a:extLst>
          </p:cNvPr>
          <p:cNvSpPr>
            <a:spLocks noGrp="1"/>
          </p:cNvSpPr>
          <p:nvPr/>
        </p:nvSpPr>
        <p:spPr>
          <a:xfrm>
            <a:off x="6858000" y="304533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if value &gt; threshold:</a:t>
            </a:r>
          </a:p>
        </p:txBody>
      </p:sp>
      <p:sp>
        <p:nvSpPr>
          <p:cNvPr id="12" name="">
            <a:extLst>
              <a:ext uri="{FF2B5EF4-FFF2-40B4-BE49-F238E27FC236}">
                <ns2:creationId id="{6FC5836D-C15F-408A-813F-F3F0D557F2AF}"/>
              </a:ext>
            </a:extLst>
          </p:cNvPr>
          <p:cNvSpPr>
            <a:spLocks noGrp="1"/>
          </p:cNvSpPr>
          <p:nvPr/>
        </p:nvSpPr>
        <p:spPr>
          <a:xfrm>
            <a:off x="6410325" y="3376041"/>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3" name="">
            <a:extLst>
              <a:ext uri="{FF2B5EF4-FFF2-40B4-BE49-F238E27FC236}">
                <ns2:creationId id="{1F688B0F-28EC-434F-BFEC-0CD48A601600}"/>
              </a:ext>
            </a:extLst>
          </p:cNvPr>
          <p:cNvSpPr>
            <a:spLocks noGrp="1"/>
          </p:cNvSpPr>
          <p:nvPr/>
        </p:nvSpPr>
        <p:spPr>
          <a:xfrm>
            <a:off x="6858000" y="3337941"/>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return "주의"</a:t>
            </a:r>
          </a:p>
        </p:txBody>
      </p:sp>
      <p:sp>
        <p:nvSpPr>
          <p:cNvPr id="14" name="">
            <a:extLst>
              <a:ext uri="{FF2B5EF4-FFF2-40B4-BE49-F238E27FC236}">
                <ns2:creationId id="{6CCF0EE2-9DC1-4BB4-9BBB-F7335B94A800}"/>
              </a:ext>
            </a:extLst>
          </p:cNvPr>
          <p:cNvSpPr>
            <a:spLocks noGrp="1"/>
          </p:cNvSpPr>
          <p:nvPr/>
        </p:nvSpPr>
        <p:spPr>
          <a:xfrm>
            <a:off x="6410325" y="3668649"/>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5" name="">
            <a:extLst>
              <a:ext uri="{FF2B5EF4-FFF2-40B4-BE49-F238E27FC236}">
                <ns2:creationId id="{2DB043DD-33A6-43A4-9915-619C94EA6D4D}"/>
              </a:ext>
            </a:extLst>
          </p:cNvPr>
          <p:cNvSpPr>
            <a:spLocks noGrp="1"/>
          </p:cNvSpPr>
          <p:nvPr/>
        </p:nvSpPr>
        <p:spPr>
          <a:xfrm>
            <a:off x="6858000" y="3630549"/>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return "정상"</a:t>
            </a:r>
          </a:p>
        </p:txBody>
      </p:sp>
      <p:sp>
        <p:nvSpPr>
          <p:cNvPr id="16" name="">
            <a:extLst>
              <a:ext uri="{FF2B5EF4-FFF2-40B4-BE49-F238E27FC236}">
                <ns2:creationId id="{061B7A35-E5EF-41CE-941B-710E278B7BCB}"/>
              </a:ext>
            </a:extLst>
          </p:cNvPr>
          <p:cNvSpPr>
            <a:spLocks noGrp="1"/>
          </p:cNvSpPr>
          <p:nvPr/>
        </p:nvSpPr>
        <p:spPr>
          <a:xfrm>
            <a:off x="685800" y="6172200"/>
            <a:ext cx="10820400" cy="9525"/>
          </a:xfrm>
          <a:prstGeom prst="rect">
            <a:avLst/>
          </a:prstGeom>
          <a:solidFill>
            <a:srgbClr val="D5DEDD"/>
          </a:solidFill>
          <a:ln w="0">
            <a:noFill/>
          </a:ln>
        </p:spPr>
      </p:sp>
      <p:sp>
        <p:nvSpPr>
          <p:cNvPr id="17" name="">
            <a:extLst>
              <a:ext uri="{FF2B5EF4-FFF2-40B4-BE49-F238E27FC236}">
                <ns2:creationId id="{8F407DB3-D801-4E4C-A2E7-4347C80588C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8" name="">
            <a:extLst>
              <a:ext uri="{FF2B5EF4-FFF2-40B4-BE49-F238E27FC236}">
                <ns2:creationId id="{E578E14E-2626-4891-BFBD-F31215B8A84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9" name="">
            <a:extLst>
              <a:ext uri="{FF2B5EF4-FFF2-40B4-BE49-F238E27FC236}">
                <ns2:creationId id="{23C04037-FD99-40E4-846E-1C367A2FA4A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0" name="">
            <a:extLst>
              <a:ext uri="{FF2B5EF4-FFF2-40B4-BE49-F238E27FC236}">
                <ns2:creationId id="{1D13AE07-68DD-49A1-B17A-809F361D1FA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057</a:t>
            </a:r>
          </a:p>
        </p:txBody>
      </p:sp>
    </p:spTree>
    <p:extLst>
      <p:ext uri="{BB962C8B-B14F-4D97-AF65-F5344CB8AC3E}">
        <ns4:creationId val="1800122843"/>
      </p:ext>
    </p:extLst>
  </p:cSld>
</p:sld>
</file>

<file path=ppt/slides/slide5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B71F3176-3329-4E90-8E14-577E20FBAA2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CA4FABF4-2E8A-4006-B70B-AE1EC7357E1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기준과 기호</a:t>
            </a:r>
          </a:p>
        </p:txBody>
      </p:sp>
      <p:sp>
        <p:nvSpPr>
          <p:cNvPr id="3" name="">
            <a:extLst>
              <a:ext uri="{FF2B5EF4-FFF2-40B4-BE49-F238E27FC236}">
                <ns2:creationId id="{952E961A-ADF8-4EB8-B7A2-B7F519B709FE}"/>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1">
                <a:solidFill>
                  <a:srgbClr val="172F39"/>
                </a:solidFill>
                <a:latin typeface="Noto Sans KR"/>
                <a:ea typeface="Noto Sans KR"/>
                <a:cs typeface="Noto Sans KR"/>
              </a:defRPr>
            </a:pPr>
            <a:r>
              <a:t>기준을 27로 낮추는 것과 같은가요?</a:t>
            </a:r>
          </a:p>
        </p:txBody>
      </p:sp>
      <p:sp>
        <p:nvSpPr>
          <p:cNvPr id="4" name="">
            <a:extLst>
              <a:ext uri="{FF2B5EF4-FFF2-40B4-BE49-F238E27FC236}">
                <ns2:creationId id="{EFD0FB2C-29BC-4EA7-A8EE-0C362DB6470B}"/>
              </a:ext>
            </a:extLst>
          </p:cNvPr>
          <p:cNvSpPr>
            <a:spLocks noGrp="1"/>
          </p:cNvSpPr>
          <p:nvPr/>
        </p:nvSpPr>
        <p:spPr>
          <a:xfrm>
            <a:off x="685800" y="2728722"/>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5" name="">
            <a:extLst>
              <a:ext uri="{FF2B5EF4-FFF2-40B4-BE49-F238E27FC236}">
                <ns2:creationId id="{7E59920B-45E4-4786-AD06-F59D10D79EEA}"/>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419C78CF-6779-45F9-9F3B-350C71C2DBA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A01F353E-2904-4476-B146-DB0492EDCEB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98B0B17D-D0F9-40AF-AC3D-D32F5F9E98A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7CF0289B-9F3F-4F7F-8CAB-34CC5482F76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058</a:t>
            </a:r>
          </a:p>
        </p:txBody>
      </p:sp>
    </p:spTree>
    <p:extLst>
      <p:ext uri="{BB962C8B-B14F-4D97-AF65-F5344CB8AC3E}">
        <ns4:creationId val="1155090588"/>
      </p:ext>
    </p:extLst>
  </p:cSld>
</p:sld>
</file>

<file path=ppt/slides/slide5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FC3A5BAC-C480-447C-966A-3043D02FA73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55176FA4-3062-40BD-BB5B-9DC55C4322B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A12  누락·종류·범위 검사</a:t>
            </a:r>
          </a:p>
        </p:txBody>
      </p:sp>
      <p:sp>
        <p:nvSpPr>
          <p:cNvPr id="3" name="">
            <a:extLst>
              <a:ext uri="{FF2B5EF4-FFF2-40B4-BE49-F238E27FC236}">
                <ns2:creationId id="{0337CA52-0A2E-4936-8C91-5D6D138547BB}"/>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비교 전 입력 검사</a:t>
            </a:r>
          </a:p>
        </p:txBody>
      </p:sp>
      <p:sp>
        <p:nvSpPr>
          <p:cNvPr id="4" name="">
            <a:extLst>
              <a:ext uri="{FF2B5EF4-FFF2-40B4-BE49-F238E27FC236}">
                <ns2:creationId id="{2906D7C2-9CD4-436B-ADC2-B7572DD5BC47}"/>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None은 미측정으로 먼저 돌려줍니다.</a:t>
            </a:r>
          </a:p>
        </p:txBody>
      </p:sp>
      <p:sp>
        <p:nvSpPr>
          <p:cNvPr id="5" name="">
            <a:extLst>
              <a:ext uri="{FF2B5EF4-FFF2-40B4-BE49-F238E27FC236}">
                <ns2:creationId id="{ED6A9A22-EB84-4BA1-9C92-5B979C170FCF}"/>
              </a:ext>
            </a:extLst>
          </p:cNvPr>
          <p:cNvSpPr>
            <a:spLocks noGrp="1"/>
          </p:cNvSpPr>
          <p:nvPr/>
        </p:nvSpPr>
        <p:spPr>
          <a:xfrm>
            <a:off x="685800" y="286131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숫자 종류와 범위를 비교 전에 확인합니다.</a:t>
            </a:r>
          </a:p>
        </p:txBody>
      </p:sp>
      <p:sp>
        <p:nvSpPr>
          <p:cNvPr id="6" name="">
            <a:extLst>
              <a:ext uri="{FF2B5EF4-FFF2-40B4-BE49-F238E27FC236}">
                <ns2:creationId id="{DBE8FF8B-57CE-44BD-AAD9-B54C1945A115}"/>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누락·종류·범위</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640232"/>
                <a:gridCol w="2598518"/>
              </a:tblGrid>
              <a:tr h="514350">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reviewed의 결과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None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미측정</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True / 문자 / 51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입력 오류</a:t>
                      </a:r>
                    </a:p>
                  </a:txBody>
                  <a:tcPr marL="114300" marR="114300" marT="76200" marB="76200" anchor="ctr">
                    <a:solidFill>
                      <a:srgbClr val="FFFFFF"/>
                    </a:solidFill>
                  </a:tcPr>
                </a:tc>
              </a:tr>
            </a:tbl>
          </a:graphicData>
        </a:graphic>
      </p:graphicFrame>
      <p:sp>
        <p:nvSpPr>
          <p:cNvPr id="8" name="">
            <a:extLst>
              <a:ext uri="{FF2B5EF4-FFF2-40B4-BE49-F238E27FC236}">
                <ns2:creationId id="{1C41137C-7D80-483B-8876-69AEEE6A4DC3}"/>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A2E40A5F-E2F0-45F9-A66F-5BDD7F1CE91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1739A179-2922-40B4-88EA-38F45C8B0C3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7D11F5FB-F767-4890-AFCE-48E4C22BE06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4F58A03F-F9A2-4F2A-881A-6CE13816EAA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059</a:t>
            </a:r>
          </a:p>
        </p:txBody>
      </p:sp>
    </p:spTree>
    <p:extLst>
      <p:ext uri="{BB962C8B-B14F-4D97-AF65-F5344CB8AC3E}">
        <ns4:creationId val="431536492"/>
      </p:ext>
    </p:extLst>
  </p:cSld>
</p:sld>
</file>

<file path=ppt/slides/slide6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5" name="">
            <a:extLst>
              <a:ext uri="{FF2B5EF4-FFF2-40B4-BE49-F238E27FC236}">
                <ns2:creationId id="{0EBAA108-F2FC-42E3-9C26-BFBCD4C25CF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9616F24A-0B55-40A5-BC9D-D9DEC8A907A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누락·종류·범위 검사의 예</a:t>
            </a:r>
          </a:p>
        </p:txBody>
      </p:sp>
      <p:sp>
        <p:nvSpPr>
          <p:cNvPr id="3" name="">
            <a:extLst>
              <a:ext uri="{FF2B5EF4-FFF2-40B4-BE49-F238E27FC236}">
                <ns2:creationId id="{5B9AD90B-ABDC-44D4-B460-8E95864470EF}"/>
              </a:ext>
            </a:extLst>
          </p:cNvPr>
          <p:cNvSpPr>
            <a:spLocks noGrp="1"/>
          </p:cNvSpPr>
          <p:nvPr/>
        </p:nvSpPr>
        <p:spPr>
          <a:xfrm>
            <a:off x="685800" y="1704975"/>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발췌: code/reviewed.py의 함수 내부</a:t>
            </a:r>
          </a:p>
        </p:txBody>
      </p:sp>
      <p:sp>
        <p:nvSpPr>
          <p:cNvPr id="4" name="">
            <a:extLst>
              <a:ext uri="{FF2B5EF4-FFF2-40B4-BE49-F238E27FC236}">
                <ns2:creationId id="{C99A1303-A22C-4548-8689-BBCCFB3A7F23}"/>
              </a:ext>
            </a:extLst>
          </p:cNvPr>
          <p:cNvSpPr>
            <a:spLocks noGrp="1"/>
          </p:cNvSpPr>
          <p:nvPr/>
        </p:nvSpPr>
        <p:spPr>
          <a:xfrm>
            <a:off x="685800" y="2262188"/>
            <a:ext cx="6953250" cy="2225802"/>
          </a:xfrm>
          <a:prstGeom prst="rect">
            <a:avLst/>
          </a:prstGeom>
          <a:solidFill>
            <a:srgbClr val="F1F6F5"/>
          </a:solidFill>
          <a:ln w="0">
            <a:noFill/>
          </a:ln>
        </p:spPr>
      </p:sp>
      <p:sp>
        <p:nvSpPr>
          <p:cNvPr id="5" name="">
            <a:extLst>
              <a:ext uri="{FF2B5EF4-FFF2-40B4-BE49-F238E27FC236}">
                <ns2:creationId id="{08B7B210-F9AB-4924-B7C2-E545BF2AA358}"/>
              </a:ext>
            </a:extLst>
          </p:cNvPr>
          <p:cNvSpPr>
            <a:spLocks noGrp="1"/>
          </p:cNvSpPr>
          <p:nvPr/>
        </p:nvSpPr>
        <p:spPr>
          <a:xfrm>
            <a:off x="828675" y="242411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6" name="">
            <a:extLst>
              <a:ext uri="{FF2B5EF4-FFF2-40B4-BE49-F238E27FC236}">
                <ns2:creationId id="{ED443763-6C1D-40C4-8E1D-8235DE691E24}"/>
              </a:ext>
            </a:extLst>
          </p:cNvPr>
          <p:cNvSpPr>
            <a:spLocks noGrp="1"/>
          </p:cNvSpPr>
          <p:nvPr/>
        </p:nvSpPr>
        <p:spPr>
          <a:xfrm>
            <a:off x="1276350" y="2386013"/>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if value is None:</a:t>
            </a:r>
          </a:p>
        </p:txBody>
      </p:sp>
      <p:sp>
        <p:nvSpPr>
          <p:cNvPr id="7" name="">
            <a:extLst>
              <a:ext uri="{FF2B5EF4-FFF2-40B4-BE49-F238E27FC236}">
                <ns2:creationId id="{06CA0B45-574E-4E21-A080-E329B72D4120}"/>
              </a:ext>
            </a:extLst>
          </p:cNvPr>
          <p:cNvSpPr>
            <a:spLocks noGrp="1"/>
          </p:cNvSpPr>
          <p:nvPr/>
        </p:nvSpPr>
        <p:spPr>
          <a:xfrm>
            <a:off x="828675" y="2741104"/>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8" name="">
            <a:extLst>
              <a:ext uri="{FF2B5EF4-FFF2-40B4-BE49-F238E27FC236}">
                <ns2:creationId id="{234ED7D2-CC39-418D-88D8-E46E14A3EC10}"/>
              </a:ext>
            </a:extLst>
          </p:cNvPr>
          <p:cNvSpPr>
            <a:spLocks noGrp="1"/>
          </p:cNvSpPr>
          <p:nvPr/>
        </p:nvSpPr>
        <p:spPr>
          <a:xfrm>
            <a:off x="1276350" y="2703004"/>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return "미측정"</a:t>
            </a:r>
          </a:p>
        </p:txBody>
      </p:sp>
      <p:sp>
        <p:nvSpPr>
          <p:cNvPr id="9" name="">
            <a:extLst>
              <a:ext uri="{FF2B5EF4-FFF2-40B4-BE49-F238E27FC236}">
                <ns2:creationId id="{D61083C6-7283-4A57-87E5-B01F2E2E9FE8}"/>
              </a:ext>
            </a:extLst>
          </p:cNvPr>
          <p:cNvSpPr>
            <a:spLocks noGrp="1"/>
          </p:cNvSpPr>
          <p:nvPr/>
        </p:nvSpPr>
        <p:spPr>
          <a:xfrm>
            <a:off x="828675" y="305809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0" name="">
            <a:extLst>
              <a:ext uri="{FF2B5EF4-FFF2-40B4-BE49-F238E27FC236}">
                <ns2:creationId id="{4E609734-818F-4055-AC99-4AA521CF85B6}"/>
              </a:ext>
            </a:extLst>
          </p:cNvPr>
          <p:cNvSpPr>
            <a:spLocks noGrp="1"/>
          </p:cNvSpPr>
          <p:nvPr/>
        </p:nvSpPr>
        <p:spPr>
          <a:xfrm>
            <a:off x="1276350" y="3019997"/>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if type(value) not in (int, float):</a:t>
            </a:r>
          </a:p>
        </p:txBody>
      </p:sp>
      <p:sp>
        <p:nvSpPr>
          <p:cNvPr id="11" name="">
            <a:extLst>
              <a:ext uri="{FF2B5EF4-FFF2-40B4-BE49-F238E27FC236}">
                <ns2:creationId id="{CBC35411-2372-4E04-AC79-23DEBBD1F303}"/>
              </a:ext>
            </a:extLst>
          </p:cNvPr>
          <p:cNvSpPr>
            <a:spLocks noGrp="1"/>
          </p:cNvSpPr>
          <p:nvPr/>
        </p:nvSpPr>
        <p:spPr>
          <a:xfrm>
            <a:off x="828675" y="337508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2" name="">
            <a:extLst>
              <a:ext uri="{FF2B5EF4-FFF2-40B4-BE49-F238E27FC236}">
                <ns2:creationId id="{B7DD2ABE-5C16-443D-9D71-6D09210DAD22}"/>
              </a:ext>
            </a:extLst>
          </p:cNvPr>
          <p:cNvSpPr>
            <a:spLocks noGrp="1"/>
          </p:cNvSpPr>
          <p:nvPr/>
        </p:nvSpPr>
        <p:spPr>
          <a:xfrm>
            <a:off x="1276350" y="3336989"/>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return "입력 오류"</a:t>
            </a:r>
          </a:p>
        </p:txBody>
      </p:sp>
      <p:sp>
        <p:nvSpPr>
          <p:cNvPr id="13" name="">
            <a:extLst>
              <a:ext uri="{FF2B5EF4-FFF2-40B4-BE49-F238E27FC236}">
                <ns2:creationId id="{5CDE750B-FF45-4026-BEE2-27BB3636822B}"/>
              </a:ext>
            </a:extLst>
          </p:cNvPr>
          <p:cNvSpPr>
            <a:spLocks noGrp="1"/>
          </p:cNvSpPr>
          <p:nvPr/>
        </p:nvSpPr>
        <p:spPr>
          <a:xfrm>
            <a:off x="828675" y="369208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4" name="">
            <a:extLst>
              <a:ext uri="{FF2B5EF4-FFF2-40B4-BE49-F238E27FC236}">
                <ns2:creationId id="{083197E0-091F-4F16-ABD5-C92A59FC870D}"/>
              </a:ext>
            </a:extLst>
          </p:cNvPr>
          <p:cNvSpPr>
            <a:spLocks noGrp="1"/>
          </p:cNvSpPr>
          <p:nvPr/>
        </p:nvSpPr>
        <p:spPr>
          <a:xfrm>
            <a:off x="1276350" y="3653981"/>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if not 0 &lt;= value &lt;= 50:</a:t>
            </a:r>
          </a:p>
        </p:txBody>
      </p:sp>
      <p:sp>
        <p:nvSpPr>
          <p:cNvPr id="15" name="">
            <a:extLst>
              <a:ext uri="{FF2B5EF4-FFF2-40B4-BE49-F238E27FC236}">
                <ns2:creationId id="{1D099EF8-F8FD-4F7A-BA6E-7696F5C67F48}"/>
              </a:ext>
            </a:extLst>
          </p:cNvPr>
          <p:cNvSpPr>
            <a:spLocks noGrp="1"/>
          </p:cNvSpPr>
          <p:nvPr/>
        </p:nvSpPr>
        <p:spPr>
          <a:xfrm>
            <a:off x="828675" y="400907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6" name="">
            <a:extLst>
              <a:ext uri="{FF2B5EF4-FFF2-40B4-BE49-F238E27FC236}">
                <ns2:creationId id="{48C270DE-1753-4211-B5F0-7EC5FF1FB4A2}"/>
              </a:ext>
            </a:extLst>
          </p:cNvPr>
          <p:cNvSpPr>
            <a:spLocks noGrp="1"/>
          </p:cNvSpPr>
          <p:nvPr/>
        </p:nvSpPr>
        <p:spPr>
          <a:xfrm>
            <a:off x="1276350" y="3970973"/>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return "입력 오류"</a:t>
            </a:r>
          </a:p>
        </p:txBody>
      </p:sp>
      <p:sp>
        <p:nvSpPr>
          <p:cNvPr id="17" name="">
            <a:extLst>
              <a:ext uri="{FF2B5EF4-FFF2-40B4-BE49-F238E27FC236}">
                <ns2:creationId id="{E0E473D6-B0E7-46AC-88FA-9DF690975236}"/>
              </a:ext>
            </a:extLst>
          </p:cNvPr>
          <p:cNvSpPr>
            <a:spLocks noGrp="1"/>
          </p:cNvSpPr>
          <p:nvPr/>
        </p:nvSpPr>
        <p:spPr>
          <a:xfrm>
            <a:off x="8143875" y="2281238"/>
            <a:ext cx="3333750" cy="4095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실행 결과</a:t>
            </a:r>
          </a:p>
        </p:txBody>
      </p:sp>
      <p:sp>
        <p:nvSpPr>
          <p:cNvPr id="18" name="">
            <a:extLst>
              <a:ext uri="{FF2B5EF4-FFF2-40B4-BE49-F238E27FC236}">
                <ns2:creationId id="{EFC74323-7890-4AB3-988F-1BFB8A04BF2C}"/>
              </a:ext>
            </a:extLst>
          </p:cNvPr>
          <p:cNvSpPr>
            <a:spLocks noGrp="1"/>
          </p:cNvSpPr>
          <p:nvPr/>
        </p:nvSpPr>
        <p:spPr>
          <a:xfrm>
            <a:off x="8143875" y="2862263"/>
            <a:ext cx="3333750" cy="721233"/>
          </a:xfrm>
          <a:prstGeom prst="rect">
            <a:avLst/>
          </a:prstGeom>
          <a:noFill/>
          <a:ln w="0">
            <a:noFill/>
          </a:ln>
        </p:spPr>
        <p:txBody>
          <a:bodyPr wrap="square" lIns="0" tIns="0" rIns="0" bIns="0">
            <a:noAutofit/>
          </a:bodyPr>
          <a:lstStyle/>
          <a:p>
            <a:pPr>
              <a:defRPr sz="2025" b="0">
                <a:solidFill>
                  <a:srgbClr val="172F39"/>
                </a:solidFill>
                <a:latin typeface="Noto Sans KR"/>
                <a:ea typeface="Noto Sans KR"/>
                <a:cs typeface="Noto Sans KR"/>
              </a:defRPr>
            </a:pPr>
            <a:r>
              <a:t>0은 정상, None은 미측정입니다.</a:t>
            </a:r>
          </a:p>
        </p:txBody>
      </p:sp>
      <p:sp>
        <p:nvSpPr>
          <p:cNvPr id="19" name="">
            <a:extLst>
              <a:ext uri="{FF2B5EF4-FFF2-40B4-BE49-F238E27FC236}">
                <ns2:creationId id="{0582118F-D9F4-4513-990A-DDC8782F51F0}"/>
              </a:ext>
            </a:extLst>
          </p:cNvPr>
          <p:cNvSpPr>
            <a:spLocks noGrp="1"/>
          </p:cNvSpPr>
          <p:nvPr/>
        </p:nvSpPr>
        <p:spPr>
          <a:xfrm>
            <a:off x="8143875" y="3631121"/>
            <a:ext cx="3333750" cy="721233"/>
          </a:xfrm>
          <a:prstGeom prst="rect">
            <a:avLst/>
          </a:prstGeom>
          <a:noFill/>
          <a:ln w="0">
            <a:noFill/>
          </a:ln>
        </p:spPr>
        <p:txBody>
          <a:bodyPr wrap="square" lIns="0" tIns="0" rIns="0" bIns="0">
            <a:noAutofit/>
          </a:bodyPr>
          <a:lstStyle/>
          <a:p>
            <a:pPr>
              <a:defRPr sz="2025" b="0">
                <a:solidFill>
                  <a:srgbClr val="172F39"/>
                </a:solidFill>
                <a:latin typeface="Noto Sans KR"/>
                <a:ea typeface="Noto Sans KR"/>
                <a:cs typeface="Noto Sans KR"/>
              </a:defRPr>
            </a:pPr>
            <a:r>
              <a:t>True와 "28"과 51은 입력 오류입니다.</a:t>
            </a:r>
          </a:p>
        </p:txBody>
      </p:sp>
      <p:sp>
        <p:nvSpPr>
          <p:cNvPr id="20" name="">
            <a:extLst>
              <a:ext uri="{FF2B5EF4-FFF2-40B4-BE49-F238E27FC236}">
                <ns2:creationId id="{338ACAF6-05AD-4496-9D9B-D47C6D1FC64D}"/>
              </a:ext>
            </a:extLst>
          </p:cNvPr>
          <p:cNvSpPr>
            <a:spLocks noGrp="1"/>
          </p:cNvSpPr>
          <p:nvPr/>
        </p:nvSpPr>
        <p:spPr>
          <a:xfrm>
            <a:off x="685800" y="6172200"/>
            <a:ext cx="10820400" cy="9525"/>
          </a:xfrm>
          <a:prstGeom prst="rect">
            <a:avLst/>
          </a:prstGeom>
          <a:solidFill>
            <a:srgbClr val="D5DEDD"/>
          </a:solidFill>
          <a:ln w="0">
            <a:noFill/>
          </a:ln>
        </p:spPr>
      </p:sp>
      <p:sp>
        <p:nvSpPr>
          <p:cNvPr id="21" name="">
            <a:extLst>
              <a:ext uri="{FF2B5EF4-FFF2-40B4-BE49-F238E27FC236}">
                <ns2:creationId id="{915821B2-F771-4147-87BD-923879F5774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2" name="">
            <a:extLst>
              <a:ext uri="{FF2B5EF4-FFF2-40B4-BE49-F238E27FC236}">
                <ns2:creationId id="{5C881CC8-364B-48E9-AD91-3884210D521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3" name="">
            <a:extLst>
              <a:ext uri="{FF2B5EF4-FFF2-40B4-BE49-F238E27FC236}">
                <ns2:creationId id="{67D444EF-5479-4595-A62E-1A024038799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4" name="">
            <a:extLst>
              <a:ext uri="{FF2B5EF4-FFF2-40B4-BE49-F238E27FC236}">
                <ns2:creationId id="{53FB89C8-C287-410C-B260-B557E59AC8C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060</a:t>
            </a:r>
          </a:p>
        </p:txBody>
      </p:sp>
    </p:spTree>
    <p:extLst>
      <p:ext uri="{BB962C8B-B14F-4D97-AF65-F5344CB8AC3E}">
        <ns4:creationId val="1231417383"/>
      </p:ext>
    </p:extLst>
  </p:cSld>
</p:sld>
</file>

<file path=ppt/slides/slide6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6" name="">
            <a:extLst>
              <a:ext uri="{FF2B5EF4-FFF2-40B4-BE49-F238E27FC236}">
                <ns2:creationId id="{D038E430-E154-4725-98CF-9678A61FE8B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509FC0C3-0F4F-4B16-9738-9B3AA878652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입력을 검사하는 순서</a:t>
            </a:r>
          </a:p>
        </p:txBody>
      </p:sp>
      <p:sp>
        <p:nvSpPr>
          <p:cNvPr id="3" name="">
            <a:extLst>
              <a:ext uri="{FF2B5EF4-FFF2-40B4-BE49-F238E27FC236}">
                <ns2:creationId id="{F3B2176B-16A0-486E-9916-05A670CE2BAC}"/>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E8C2ADE0-7AAC-4758-AF2A-608068B113E1}"/>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먼저 None인지 확인합니다.</a:t>
            </a:r>
          </a:p>
        </p:txBody>
      </p:sp>
      <p:sp>
        <p:nvSpPr>
          <p:cNvPr id="5" name="">
            <a:extLst>
              <a:ext uri="{FF2B5EF4-FFF2-40B4-BE49-F238E27FC236}">
                <ns2:creationId id="{09A2313C-7E8F-4CAE-9510-E9C1651E7F3A}"/>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숫자의 종류와 범위를 확인합니다.</a:t>
            </a:r>
          </a:p>
        </p:txBody>
      </p:sp>
      <p:sp>
        <p:nvSpPr>
          <p:cNvPr id="6" name="">
            <a:extLst>
              <a:ext uri="{FF2B5EF4-FFF2-40B4-BE49-F238E27FC236}">
                <ns2:creationId id="{D9FE3FE9-4287-4686-8EB3-0900F7711ABA}"/>
              </a:ext>
            </a:extLst>
          </p:cNvPr>
          <p:cNvSpPr>
            <a:spLocks noGrp="1"/>
          </p:cNvSpPr>
          <p:nvPr/>
        </p:nvSpPr>
        <p:spPr>
          <a:xfrm>
            <a:off x="685800" y="336042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올바른 숫자만 온도 기준과 비교합니다.</a:t>
            </a:r>
          </a:p>
        </p:txBody>
      </p:sp>
      <p:sp>
        <p:nvSpPr>
          <p:cNvPr id="7" name="">
            <a:extLst>
              <a:ext uri="{FF2B5EF4-FFF2-40B4-BE49-F238E27FC236}">
                <ns2:creationId id="{9A49450F-03E5-4B4F-B481-A2989B71F304}"/>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60장의 실제 예제 다시 읽기</a:t>
            </a:r>
          </a:p>
        </p:txBody>
      </p:sp>
      <p:sp>
        <p:nvSpPr>
          <p:cNvPr id="8" name="">
            <a:extLst>
              <a:ext uri="{FF2B5EF4-FFF2-40B4-BE49-F238E27FC236}">
                <ns2:creationId id="{ACF33A34-929B-47C8-A394-9F46417CEB0B}"/>
              </a:ext>
            </a:extLst>
          </p:cNvPr>
          <p:cNvSpPr>
            <a:spLocks noGrp="1"/>
          </p:cNvSpPr>
          <p:nvPr/>
        </p:nvSpPr>
        <p:spPr>
          <a:xfrm>
            <a:off x="6267450" y="2628900"/>
            <a:ext cx="5238750" cy="2079498"/>
          </a:xfrm>
          <a:prstGeom prst="rect">
            <a:avLst/>
          </a:prstGeom>
          <a:solidFill>
            <a:srgbClr val="F1F6F5"/>
          </a:solidFill>
          <a:ln w="0">
            <a:noFill/>
          </a:ln>
        </p:spPr>
      </p:sp>
      <p:sp>
        <p:nvSpPr>
          <p:cNvPr id="9" name="">
            <a:extLst>
              <a:ext uri="{FF2B5EF4-FFF2-40B4-BE49-F238E27FC236}">
                <ns2:creationId id="{7A1A3E4B-8D66-40A4-9B38-F546469231C3}"/>
              </a:ext>
            </a:extLst>
          </p:cNvPr>
          <p:cNvSpPr>
            <a:spLocks noGrp="1"/>
          </p:cNvSpPr>
          <p:nvPr/>
        </p:nvSpPr>
        <p:spPr>
          <a:xfrm>
            <a:off x="6410325" y="279082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10" name="">
            <a:extLst>
              <a:ext uri="{FF2B5EF4-FFF2-40B4-BE49-F238E27FC236}">
                <ns2:creationId id="{8B618DFB-FB6F-4E82-B7EA-48D0559FFEDE}"/>
              </a:ext>
            </a:extLst>
          </p:cNvPr>
          <p:cNvSpPr>
            <a:spLocks noGrp="1"/>
          </p:cNvSpPr>
          <p:nvPr/>
        </p:nvSpPr>
        <p:spPr>
          <a:xfrm>
            <a:off x="6858000" y="275272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if value is None:</a:t>
            </a:r>
          </a:p>
        </p:txBody>
      </p:sp>
      <p:sp>
        <p:nvSpPr>
          <p:cNvPr id="11" name="">
            <a:extLst>
              <a:ext uri="{FF2B5EF4-FFF2-40B4-BE49-F238E27FC236}">
                <ns2:creationId id="{3658976D-7730-4A0C-B740-245DAD796C02}"/>
              </a:ext>
            </a:extLst>
          </p:cNvPr>
          <p:cNvSpPr>
            <a:spLocks noGrp="1"/>
          </p:cNvSpPr>
          <p:nvPr/>
        </p:nvSpPr>
        <p:spPr>
          <a:xfrm>
            <a:off x="6410325" y="308343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12" name="">
            <a:extLst>
              <a:ext uri="{FF2B5EF4-FFF2-40B4-BE49-F238E27FC236}">
                <ns2:creationId id="{6AE16F7F-C5E3-497E-9389-475509E182AF}"/>
              </a:ext>
            </a:extLst>
          </p:cNvPr>
          <p:cNvSpPr>
            <a:spLocks noGrp="1"/>
          </p:cNvSpPr>
          <p:nvPr/>
        </p:nvSpPr>
        <p:spPr>
          <a:xfrm>
            <a:off x="6858000" y="304533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return "미측정"</a:t>
            </a:r>
          </a:p>
        </p:txBody>
      </p:sp>
      <p:sp>
        <p:nvSpPr>
          <p:cNvPr id="13" name="">
            <a:extLst>
              <a:ext uri="{FF2B5EF4-FFF2-40B4-BE49-F238E27FC236}">
                <ns2:creationId id="{985B4D54-CAE2-40E9-A9D8-0E8239630F5B}"/>
              </a:ext>
            </a:extLst>
          </p:cNvPr>
          <p:cNvSpPr>
            <a:spLocks noGrp="1"/>
          </p:cNvSpPr>
          <p:nvPr/>
        </p:nvSpPr>
        <p:spPr>
          <a:xfrm>
            <a:off x="6410325" y="3376041"/>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4" name="">
            <a:extLst>
              <a:ext uri="{FF2B5EF4-FFF2-40B4-BE49-F238E27FC236}">
                <ns2:creationId id="{A13E0295-F4AF-4BF4-80CF-364E053674EC}"/>
              </a:ext>
            </a:extLst>
          </p:cNvPr>
          <p:cNvSpPr>
            <a:spLocks noGrp="1"/>
          </p:cNvSpPr>
          <p:nvPr/>
        </p:nvSpPr>
        <p:spPr>
          <a:xfrm>
            <a:off x="6858000" y="3337941"/>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if type(value) not in (int, float):</a:t>
            </a:r>
          </a:p>
        </p:txBody>
      </p:sp>
      <p:sp>
        <p:nvSpPr>
          <p:cNvPr id="15" name="">
            <a:extLst>
              <a:ext uri="{FF2B5EF4-FFF2-40B4-BE49-F238E27FC236}">
                <ns2:creationId id="{95659420-ACEC-4DF3-A573-13244B3D67D3}"/>
              </a:ext>
            </a:extLst>
          </p:cNvPr>
          <p:cNvSpPr>
            <a:spLocks noGrp="1"/>
          </p:cNvSpPr>
          <p:nvPr/>
        </p:nvSpPr>
        <p:spPr>
          <a:xfrm>
            <a:off x="6410325" y="3668649"/>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6" name="">
            <a:extLst>
              <a:ext uri="{FF2B5EF4-FFF2-40B4-BE49-F238E27FC236}">
                <ns2:creationId id="{F9387E68-41D8-4BA1-BF5E-815A937FB29A}"/>
              </a:ext>
            </a:extLst>
          </p:cNvPr>
          <p:cNvSpPr>
            <a:spLocks noGrp="1"/>
          </p:cNvSpPr>
          <p:nvPr/>
        </p:nvSpPr>
        <p:spPr>
          <a:xfrm>
            <a:off x="6858000" y="3630549"/>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return "입력 오류"</a:t>
            </a:r>
          </a:p>
        </p:txBody>
      </p:sp>
      <p:sp>
        <p:nvSpPr>
          <p:cNvPr id="17" name="">
            <a:extLst>
              <a:ext uri="{FF2B5EF4-FFF2-40B4-BE49-F238E27FC236}">
                <ns2:creationId id="{0F74EE00-64BF-4B2B-A4B9-B1415A21ED10}"/>
              </a:ext>
            </a:extLst>
          </p:cNvPr>
          <p:cNvSpPr>
            <a:spLocks noGrp="1"/>
          </p:cNvSpPr>
          <p:nvPr/>
        </p:nvSpPr>
        <p:spPr>
          <a:xfrm>
            <a:off x="6410325" y="3961257"/>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8" name="">
            <a:extLst>
              <a:ext uri="{FF2B5EF4-FFF2-40B4-BE49-F238E27FC236}">
                <ns2:creationId id="{BA6B62A6-3EE3-4D86-AE27-9D3C06DCCA4C}"/>
              </a:ext>
            </a:extLst>
          </p:cNvPr>
          <p:cNvSpPr>
            <a:spLocks noGrp="1"/>
          </p:cNvSpPr>
          <p:nvPr/>
        </p:nvSpPr>
        <p:spPr>
          <a:xfrm>
            <a:off x="6858000" y="3923157"/>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if not 0 &lt;= value &lt;= 50:</a:t>
            </a:r>
          </a:p>
        </p:txBody>
      </p:sp>
      <p:sp>
        <p:nvSpPr>
          <p:cNvPr id="19" name="">
            <a:extLst>
              <a:ext uri="{FF2B5EF4-FFF2-40B4-BE49-F238E27FC236}">
                <ns2:creationId id="{211BED9A-DDE6-49F8-A29E-888923B60C07}"/>
              </a:ext>
            </a:extLst>
          </p:cNvPr>
          <p:cNvSpPr>
            <a:spLocks noGrp="1"/>
          </p:cNvSpPr>
          <p:nvPr/>
        </p:nvSpPr>
        <p:spPr>
          <a:xfrm>
            <a:off x="6410325" y="425386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20" name="">
            <a:extLst>
              <a:ext uri="{FF2B5EF4-FFF2-40B4-BE49-F238E27FC236}">
                <ns2:creationId id="{D1CFE9AA-8EFB-4605-B20C-2C043114CF03}"/>
              </a:ext>
            </a:extLst>
          </p:cNvPr>
          <p:cNvSpPr>
            <a:spLocks noGrp="1"/>
          </p:cNvSpPr>
          <p:nvPr/>
        </p:nvSpPr>
        <p:spPr>
          <a:xfrm>
            <a:off x="6858000" y="421576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return "입력 오류"</a:t>
            </a:r>
          </a:p>
        </p:txBody>
      </p:sp>
      <p:sp>
        <p:nvSpPr>
          <p:cNvPr id="21" name="">
            <a:extLst>
              <a:ext uri="{FF2B5EF4-FFF2-40B4-BE49-F238E27FC236}">
                <ns2:creationId id="{C732EC9F-EF68-4D29-AA89-7BA30E482612}"/>
              </a:ext>
            </a:extLst>
          </p:cNvPr>
          <p:cNvSpPr>
            <a:spLocks noGrp="1"/>
          </p:cNvSpPr>
          <p:nvPr/>
        </p:nvSpPr>
        <p:spPr>
          <a:xfrm>
            <a:off x="685800" y="6172200"/>
            <a:ext cx="10820400" cy="9525"/>
          </a:xfrm>
          <a:prstGeom prst="rect">
            <a:avLst/>
          </a:prstGeom>
          <a:solidFill>
            <a:srgbClr val="D5DEDD"/>
          </a:solidFill>
          <a:ln w="0">
            <a:noFill/>
          </a:ln>
        </p:spPr>
      </p:sp>
      <p:sp>
        <p:nvSpPr>
          <p:cNvPr id="22" name="">
            <a:extLst>
              <a:ext uri="{FF2B5EF4-FFF2-40B4-BE49-F238E27FC236}">
                <ns2:creationId id="{E09D3EA9-0F02-4CE6-A59A-B9A2179C1F9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3" name="">
            <a:extLst>
              <a:ext uri="{FF2B5EF4-FFF2-40B4-BE49-F238E27FC236}">
                <ns2:creationId id="{545095F1-F95E-454E-A5BE-93EEF527BF3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4" name="">
            <a:extLst>
              <a:ext uri="{FF2B5EF4-FFF2-40B4-BE49-F238E27FC236}">
                <ns2:creationId id="{4A86AA32-91AD-4FB1-A0D4-7BD9025DF52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5" name="">
            <a:extLst>
              <a:ext uri="{FF2B5EF4-FFF2-40B4-BE49-F238E27FC236}">
                <ns2:creationId id="{30A34572-0F38-4BC5-A969-544C406D89B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061</a:t>
            </a:r>
          </a:p>
        </p:txBody>
      </p:sp>
    </p:spTree>
    <p:extLst>
      <p:ext uri="{BB962C8B-B14F-4D97-AF65-F5344CB8AC3E}">
        <ns4:creationId val="363317642"/>
      </p:ext>
    </p:extLst>
  </p:cSld>
</p:sld>
</file>

<file path=ppt/slides/slide6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0345CF9E-7BCF-4BEA-A82F-4076CFD1AF2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144A2E00-D5EA-40EC-BB94-BC5D30B7E6D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입력별 결과</a:t>
            </a:r>
          </a:p>
        </p:txBody>
      </p:sp>
      <p:sp>
        <p:nvSpPr>
          <p:cNvPr id="3" name="">
            <a:extLst>
              <a:ext uri="{FF2B5EF4-FFF2-40B4-BE49-F238E27FC236}">
                <ns2:creationId id="{8B305544-DEEC-4429-8C13-94A6C99C141F}"/>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확인할 자료</a:t>
            </a:r>
          </a:p>
        </p:txBody>
      </p:sp>
      <p:sp>
        <p:nvSpPr>
          <p:cNvPr id="4" name="">
            <a:extLst>
              <a:ext uri="{FF2B5EF4-FFF2-40B4-BE49-F238E27FC236}">
                <ns2:creationId id="{E9D33498-8B9C-4B6A-BF45-C89D2C82AE10}"/>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0은 정상, None은 미측정입니다.</a:t>
            </a:r>
          </a:p>
        </p:txBody>
      </p:sp>
      <p:sp>
        <p:nvSpPr>
          <p:cNvPr id="5" name="">
            <a:extLst>
              <a:ext uri="{FF2B5EF4-FFF2-40B4-BE49-F238E27FC236}">
                <ns2:creationId id="{5C4DFE18-0D70-4937-A1DA-17597672AC9C}"/>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이 자료에서 볼 것</a:t>
            </a:r>
          </a:p>
        </p:txBody>
      </p:sp>
      <p:sp>
        <p:nvSpPr>
          <p:cNvPr id="6" name="">
            <a:extLst>
              <a:ext uri="{FF2B5EF4-FFF2-40B4-BE49-F238E27FC236}">
                <ns2:creationId id="{EE5D6102-7FAC-4B2E-886E-19931D517776}"/>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True와 "28"과 51은 입력 오류입니다.</a:t>
            </a:r>
          </a:p>
        </p:txBody>
      </p:sp>
      <p:sp>
        <p:nvSpPr>
          <p:cNvPr id="7" name="">
            <a:extLst>
              <a:ext uri="{FF2B5EF4-FFF2-40B4-BE49-F238E27FC236}">
                <ns2:creationId id="{07B94F73-2E69-4344-9EF1-A19DA9BDB144}"/>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27911E1D-A768-45B2-A034-F7CFB57EEFE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FCDD90B1-43E3-4D4B-A211-783A011F067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515296AD-4590-4AC0-96BF-E17331FB42C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24E824D6-B9B2-40F7-8607-A665801D830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062</a:t>
            </a:r>
          </a:p>
        </p:txBody>
      </p:sp>
    </p:spTree>
    <p:extLst>
      <p:ext uri="{BB962C8B-B14F-4D97-AF65-F5344CB8AC3E}">
        <ns4:creationId val="449296523"/>
      </p:ext>
    </p:extLst>
  </p:cSld>
</p:sld>
</file>

<file path=ppt/slides/slide6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C9477E7D-BC6A-4052-BD9D-9E4B52BED56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5A359699-8459-4450-B845-5201116C034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조건 순서</a:t>
            </a:r>
          </a:p>
        </p:txBody>
      </p:sp>
      <p:sp>
        <p:nvSpPr>
          <p:cNvPr id="3" name="">
            <a:extLst>
              <a:ext uri="{FF2B5EF4-FFF2-40B4-BE49-F238E27FC236}">
                <ns2:creationId id="{CC56A444-A54B-4D70-9BE2-480AB3E3E323}"/>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문자에 온도 비교를 먼저 하면?</a:t>
            </a:r>
          </a:p>
        </p:txBody>
      </p:sp>
      <p:sp>
        <p:nvSpPr>
          <p:cNvPr id="4" name="">
            <a:extLst>
              <a:ext uri="{FF2B5EF4-FFF2-40B4-BE49-F238E27FC236}">
                <ns2:creationId id="{535FEB3C-AD1B-421A-A547-4998E5B0764C}"/>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어떤 문제가 생길 수 있나요?</a:t>
            </a:r>
          </a:p>
        </p:txBody>
      </p:sp>
      <p:sp>
        <p:nvSpPr>
          <p:cNvPr id="5" name="">
            <a:extLst>
              <a:ext uri="{FF2B5EF4-FFF2-40B4-BE49-F238E27FC236}">
                <ns2:creationId id="{81A8AC60-8448-45C4-A5D0-190DA3176622}"/>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6" name="">
            <a:extLst>
              <a:ext uri="{FF2B5EF4-FFF2-40B4-BE49-F238E27FC236}">
                <ns2:creationId id="{2C14B14D-06D6-4BBD-9E97-714E066790F6}"/>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A74342CA-6150-489D-BBD6-EE50B9F76B1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8FDE20B1-FEC1-4F6C-86F1-35E43049307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FDFD6152-F19E-4C83-A109-9FB049477CD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14692419-0A30-430A-8773-2C15F73F447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063</a:t>
            </a:r>
          </a:p>
        </p:txBody>
      </p:sp>
    </p:spTree>
    <p:extLst>
      <p:ext uri="{BB962C8B-B14F-4D97-AF65-F5344CB8AC3E}">
        <ns4:creationId val="761768515"/>
      </p:ext>
    </p:extLst>
  </p:cSld>
</p:sld>
</file>

<file path=ppt/slides/slide6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4BE56AEA-8880-46CC-8B2D-3048390B809D}"/>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5교시</a:t>
            </a:r>
          </a:p>
        </p:txBody>
      </p:sp>
      <p:sp>
        <p:nvSpPr>
          <p:cNvPr id="2" name="">
            <a:extLst>
              <a:ext uri="{FF2B5EF4-FFF2-40B4-BE49-F238E27FC236}">
                <ns2:creationId id="{25C55FA0-2108-4156-823F-891341CD77A9}"/>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오류 재현과 수정</a:t>
            </a:r>
          </a:p>
        </p:txBody>
      </p:sp>
      <p:sp>
        <p:nvSpPr>
          <p:cNvPr id="3" name="">
            <a:extLst>
              <a:ext uri="{FF2B5EF4-FFF2-40B4-BE49-F238E27FC236}">
                <ns2:creationId id="{7CA080A6-80B6-4558-BEFF-FB443EC676E6}"/>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50분 수업입니다.</a:t>
            </a:r>
          </a:p>
        </p:txBody>
      </p:sp>
      <p:sp>
        <p:nvSpPr>
          <p:cNvPr id="4" name="">
            <a:extLst>
              <a:ext uri="{FF2B5EF4-FFF2-40B4-BE49-F238E27FC236}">
                <ns2:creationId id="{46C4EA6C-5E06-4819-97AA-FA46FA3BC6CC}"/>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예제를 함께 보고 따라 해 봅니다.</a:t>
            </a:r>
          </a:p>
        </p:txBody>
      </p:sp>
      <p:sp>
        <p:nvSpPr>
          <p:cNvPr id="5" name="">
            <a:extLst>
              <a:ext uri="{FF2B5EF4-FFF2-40B4-BE49-F238E27FC236}">
                <ns2:creationId id="{14B2E06B-DB87-42DB-A6EE-8702F4F0869D}"/>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결과가 예상과 같은지 확인해 봅니다.</a:t>
            </a:r>
          </a:p>
        </p:txBody>
      </p:sp>
      <p:sp>
        <p:nvSpPr>
          <p:cNvPr id="6" name="">
            <a:extLst>
              <a:ext uri="{FF2B5EF4-FFF2-40B4-BE49-F238E27FC236}">
                <ns2:creationId id="{13B6C924-8296-4EFF-BCF5-6953008F1FA9}"/>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C8A59259-75E0-4D92-8455-C1C6AAD2D6F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437C6C77-EEDF-4EB0-9D25-43AF68A7C8C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5278AEEF-A1CF-485E-8EC0-E1524E57975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472E7F6D-B805-49CF-BB73-18A34869C7A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064</a:t>
            </a:r>
          </a:p>
        </p:txBody>
      </p:sp>
    </p:spTree>
    <p:extLst>
      <p:ext uri="{BB962C8B-B14F-4D97-AF65-F5344CB8AC3E}">
        <ns4:creationId val="772475698"/>
      </p:ext>
    </p:extLst>
  </p:cSld>
</p:sld>
</file>

<file path=ppt/slides/slide6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191393E6-3A44-46C9-AC6B-AC6F523CAF4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9578255C-31C0-402C-AAD0-3FEAAC39AB4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고친 입력과 예전 입력 다시 보기</a:t>
            </a:r>
          </a:p>
        </p:txBody>
      </p:sp>
      <p:sp>
        <p:nvSpPr>
          <p:cNvPr id="3" name="">
            <a:extLst>
              <a:ext uri="{FF2B5EF4-FFF2-40B4-BE49-F238E27FC236}">
                <ns2:creationId id="{1A1C38DC-F139-4125-BE8B-F1453FB8F56F}"/>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이번에 고친 입력</a:t>
            </a:r>
          </a:p>
        </p:txBody>
      </p:sp>
      <p:sp>
        <p:nvSpPr>
          <p:cNvPr id="4" name="">
            <a:extLst>
              <a:ext uri="{FF2B5EF4-FFF2-40B4-BE49-F238E27FC236}">
                <ns2:creationId id="{A3DCC67C-3CAE-4F6B-AFC5-91571EE870F3}"/>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실패했던 입력과 기존 입력을 모두 시험합니다.</a:t>
            </a:r>
          </a:p>
        </p:txBody>
      </p:sp>
      <p:sp>
        <p:nvSpPr>
          <p:cNvPr id="5" name="">
            <a:extLst>
              <a:ext uri="{FF2B5EF4-FFF2-40B4-BE49-F238E27FC236}">
                <ns2:creationId id="{729DCF70-BF4D-45EC-8FE5-7B1EE4C76B45}"/>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실제 오류와 추측한 원인을 따로 적습니다.</a:t>
            </a:r>
          </a:p>
        </p:txBody>
      </p:sp>
      <p:sp>
        <p:nvSpPr>
          <p:cNvPr id="6" name="">
            <a:extLst>
              <a:ext uri="{FF2B5EF4-FFF2-40B4-BE49-F238E27FC236}">
                <ns2:creationId id="{B750E92B-0A9E-4C6D-9019-C4BB88968D6F}"/>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같은 오류를 다시 보기</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372538"/>
                <a:gridCol w="2866212"/>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예</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대상</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proposal_a.py</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입력</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27.9</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기대 / 실제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 / 주의</a:t>
                      </a:r>
                    </a:p>
                  </a:txBody>
                  <a:tcPr marL="114300" marR="114300" marT="76200" marB="76200" anchor="ctr">
                    <a:solidFill>
                      <a:srgbClr val="FFFFFF"/>
                    </a:solidFill>
                  </a:tcPr>
                </a:tc>
              </a:tr>
            </a:tbl>
          </a:graphicData>
        </a:graphic>
      </p:graphicFrame>
      <p:sp>
        <p:nvSpPr>
          <p:cNvPr id="8" name="">
            <a:extLst>
              <a:ext uri="{FF2B5EF4-FFF2-40B4-BE49-F238E27FC236}">
                <ns2:creationId id="{FB4885C9-0967-4E36-96FB-F247FC517549}"/>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08B21E21-C842-4ED4-A390-A5D7110A001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EE0743CB-BF35-433E-96D4-44658A4FF79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D778988A-C802-4233-A165-A4429272AEC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D32138D0-BBCF-459F-B9D5-6539F2514B9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065</a:t>
            </a:r>
          </a:p>
        </p:txBody>
      </p:sp>
    </p:spTree>
    <p:extLst>
      <p:ext uri="{BB962C8B-B14F-4D97-AF65-F5344CB8AC3E}">
        <ns4:creationId val="1850035673"/>
      </p:ext>
    </p:extLst>
  </p:cSld>
</p:sld>
</file>

<file path=ppt/slides/slide6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2930AFF3-A270-40F5-B494-0647B7DE883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73A7F4D8-B1DF-4509-85EC-CE3DE5975B8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A13  오류를 다시 볼 수 있게 적기</a:t>
            </a:r>
          </a:p>
        </p:txBody>
      </p:sp>
      <p:sp>
        <p:nvSpPr>
          <p:cNvPr id="3" name="">
            <a:extLst>
              <a:ext uri="{FF2B5EF4-FFF2-40B4-BE49-F238E27FC236}">
                <ns2:creationId id="{B3FD6483-E56B-4C04-A0F2-620BD86A6134}"/>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F32E42CE-5564-4CAC-88EC-8AD1E920FEC6}"/>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파일·명령·입력·기대·실제 결과를 적습니다.</a:t>
            </a:r>
          </a:p>
        </p:txBody>
      </p:sp>
      <p:sp>
        <p:nvSpPr>
          <p:cNvPr id="5" name="">
            <a:extLst>
              <a:ext uri="{FF2B5EF4-FFF2-40B4-BE49-F238E27FC236}">
                <ns2:creationId id="{1754769B-5FA3-4C4F-BCBB-19A343A280FD}"/>
              </a:ext>
            </a:extLst>
          </p:cNvPr>
          <p:cNvSpPr>
            <a:spLocks noGrp="1"/>
          </p:cNvSpPr>
          <p:nvPr/>
        </p:nvSpPr>
        <p:spPr>
          <a:xfrm>
            <a:off x="685800" y="31984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본 오류와 추측한 원인을 구분합니다.</a:t>
            </a:r>
          </a:p>
        </p:txBody>
      </p:sp>
      <p:sp>
        <p:nvSpPr>
          <p:cNvPr id="6" name="">
            <a:extLst>
              <a:ext uri="{FF2B5EF4-FFF2-40B4-BE49-F238E27FC236}">
                <ns2:creationId id="{CA33C1D6-0895-440A-AFD6-19BC9258A579}"/>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같은 오류를 다시 보기</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372538"/>
                <a:gridCol w="2866212"/>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예</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대상</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proposal_a.py</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입력</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27.9</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기대 / 실제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 / 주의</a:t>
                      </a:r>
                    </a:p>
                  </a:txBody>
                  <a:tcPr marL="114300" marR="114300" marT="76200" marB="76200" anchor="ctr">
                    <a:solidFill>
                      <a:srgbClr val="FFFFFF"/>
                    </a:solidFill>
                  </a:tcPr>
                </a:tc>
              </a:tr>
            </a:tbl>
          </a:graphicData>
        </a:graphic>
      </p:graphicFrame>
      <p:sp>
        <p:nvSpPr>
          <p:cNvPr id="8" name="">
            <a:extLst>
              <a:ext uri="{FF2B5EF4-FFF2-40B4-BE49-F238E27FC236}">
                <ns2:creationId id="{09AA0D9D-DC16-4948-A4A4-A59C2E8C82C9}"/>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D14C6CA3-9B57-4CA7-902C-A480498EF0D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10B50432-E4FD-4D36-872E-7E2F39F211E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A6AB613F-3CEF-41F4-93E8-04F6B912786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3CC3DAE6-F9E8-4C26-9008-22BB74FD2DB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066</a:t>
            </a:r>
          </a:p>
        </p:txBody>
      </p:sp>
    </p:spTree>
    <p:extLst>
      <p:ext uri="{BB962C8B-B14F-4D97-AF65-F5344CB8AC3E}">
        <ns4:creationId val="1538258231"/>
      </p:ext>
    </p:extLst>
  </p:cSld>
</p:sld>
</file>

<file path=ppt/slides/slide6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9587C1B1-9D15-4171-8268-0E41CA1E6D7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B470D254-22D7-4D94-94C1-698F2DAED4A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재현 가능한 오류 보고의 예</a:t>
            </a:r>
          </a:p>
        </p:txBody>
      </p:sp>
      <p:graphicFrame>
        <p:nvGraphicFramePr>
          <p:cNvPr id="12" name=""/>
          <p:cNvGraphicFramePr/>
          <p:nvPr/>
        </p:nvGraphicFramePr>
        <p:xfrm>
          <a:off x="685800" y="1809750"/>
          <a:ext cx="10820400" cy="2682240"/>
        </p:xfrm>
        <a:graphic>
          <a:graphicData uri="http://schemas.openxmlformats.org/drawingml/2006/table">
            <a:tbl>
              <a:tblPr firstRow="1" bandRow="0"/>
              <a:tblGrid>
                <a:gridCol w="3638332"/>
                <a:gridCol w="7182068"/>
              </a:tblGrid>
              <a:tr h="536448">
                <a:tc>
                  <a:txBody>
                    <a:bodyPr wrap="square"/>
                    <a:lstStyle/>
                    <a:p>
                      <a:pPr>
                        <a:lnSpc>
                          <a:spcPct val="102000"/>
                        </a:lnSpc>
                        <a:buNone/>
                      </a:pPr>
                      <a:r>
                        <a:rPr sz="202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예</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대상</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proposal_a.py</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입력</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27.9</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기대</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정상</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실제</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주의</a:t>
                      </a:r>
                    </a:p>
                  </a:txBody>
                  <a:tcPr marL="114300" marR="114300" marT="76200" marB="76200" anchor="ctr">
                    <a:solidFill>
                      <a:srgbClr val="FFFFFF"/>
                    </a:solidFill>
                  </a:tcPr>
                </a:tc>
              </a:tr>
            </a:tbl>
          </a:graphicData>
        </a:graphic>
      </p:graphicFrame>
      <p:sp>
        <p:nvSpPr>
          <p:cNvPr id="4" name="">
            <a:extLst>
              <a:ext uri="{FF2B5EF4-FFF2-40B4-BE49-F238E27FC236}">
                <ns2:creationId id="{2C16DB6D-1E5D-4DC3-9D62-C588328B924B}"/>
              </a:ext>
            </a:extLst>
          </p:cNvPr>
          <p:cNvSpPr>
            <a:spLocks noGrp="1"/>
          </p:cNvSpPr>
          <p:nvPr/>
        </p:nvSpPr>
        <p:spPr>
          <a:xfrm>
            <a:off x="685800" y="4720590"/>
            <a:ext cx="10820400" cy="395288"/>
          </a:xfrm>
          <a:prstGeom prst="rect">
            <a:avLst/>
          </a:prstGeom>
          <a:noFill/>
          <a:ln w="0">
            <a:noFill/>
          </a:ln>
        </p:spPr>
        <p:txBody>
          <a:bodyPr wrap="square" lIns="0" tIns="0" rIns="0" bIns="0">
            <a:noAutofit/>
          </a:bodyPr>
          <a:lstStyle/>
          <a:p>
            <a:pPr>
              <a:defRPr sz="1875" b="1">
                <a:solidFill>
                  <a:srgbClr val="08786F"/>
                </a:solidFill>
                <a:latin typeface="Noto Sans KR"/>
                <a:ea typeface="Noto Sans KR"/>
                <a:cs typeface="Noto Sans KR"/>
              </a:defRPr>
            </a:pPr>
            <a:r>
              <a:t>현재 위치와 관찰 방식도 적습니다.</a:t>
            </a:r>
          </a:p>
        </p:txBody>
      </p:sp>
      <p:sp>
        <p:nvSpPr>
          <p:cNvPr id="5" name="">
            <a:extLst>
              <a:ext uri="{FF2B5EF4-FFF2-40B4-BE49-F238E27FC236}">
                <ns2:creationId id="{458BC694-8758-41E2-AECF-CE85053CF56B}"/>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BEF1D226-6DAE-43AB-9B00-0F5F9BE40F3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2131D945-ADB8-4E80-9D21-A59A2D2FBB1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4479A976-02A7-46D7-A19C-DFB08F80885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E2D0B639-E5AC-4483-AC4A-9CD5A324AF9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067</a:t>
            </a:r>
          </a:p>
        </p:txBody>
      </p:sp>
    </p:spTree>
    <p:extLst>
      <p:ext uri="{BB962C8B-B14F-4D97-AF65-F5344CB8AC3E}">
        <ns4:creationId val="1570595280"/>
      </p:ext>
    </p:extLst>
  </p:cSld>
</p:sld>
</file>

<file path=ppt/slides/slide6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64F8463D-EC8C-4924-AF02-BD3C5815007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479C064C-FB58-4565-A8A0-E4D32BD6100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다시 요청할 때 넣을 정보</a:t>
            </a:r>
          </a:p>
        </p:txBody>
      </p:sp>
      <p:sp>
        <p:nvSpPr>
          <p:cNvPr id="3" name="">
            <a:extLst>
              <a:ext uri="{FF2B5EF4-FFF2-40B4-BE49-F238E27FC236}">
                <ns2:creationId id="{55F8F4A7-9CA7-405E-95FE-FF51C5E74756}"/>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명령·입력</a:t>
            </a:r>
          </a:p>
        </p:txBody>
      </p:sp>
      <p:sp>
        <p:nvSpPr>
          <p:cNvPr id="4" name="">
            <a:extLst>
              <a:ext uri="{FF2B5EF4-FFF2-40B4-BE49-F238E27FC236}">
                <ns2:creationId id="{B5AF093E-CF46-459A-B4AB-A78F03C993B3}"/>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기준 28과 함수 이름은 유지한다고 씁니다.</a:t>
            </a:r>
          </a:p>
        </p:txBody>
      </p:sp>
      <p:sp>
        <p:nvSpPr>
          <p:cNvPr id="5" name="">
            <a:extLst>
              <a:ext uri="{FF2B5EF4-FFF2-40B4-BE49-F238E27FC236}">
                <ns2:creationId id="{B3D36B87-7901-49AB-BE65-B1B462B02E7A}"/>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어떤 입력에서 실패했는지도 함께 적습니다.</a:t>
            </a:r>
          </a:p>
        </p:txBody>
      </p:sp>
      <p:sp>
        <p:nvSpPr>
          <p:cNvPr id="6" name="">
            <a:extLst>
              <a:ext uri="{FF2B5EF4-FFF2-40B4-BE49-F238E27FC236}">
                <ns2:creationId id="{44AFF8D7-0FA3-44EC-9A66-B7885ABC500E}"/>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같은 오류를 다시 보기</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372538"/>
                <a:gridCol w="2866212"/>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예</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대상</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proposal_a.py</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입력</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27.9</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기대 / 실제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 / 주의</a:t>
                      </a:r>
                    </a:p>
                  </a:txBody>
                  <a:tcPr marL="114300" marR="114300" marT="76200" marB="76200" anchor="ctr">
                    <a:solidFill>
                      <a:srgbClr val="FFFFFF"/>
                    </a:solidFill>
                  </a:tcPr>
                </a:tc>
              </a:tr>
            </a:tbl>
          </a:graphicData>
        </a:graphic>
      </p:graphicFrame>
      <p:sp>
        <p:nvSpPr>
          <p:cNvPr id="8" name="">
            <a:extLst>
              <a:ext uri="{FF2B5EF4-FFF2-40B4-BE49-F238E27FC236}">
                <ns2:creationId id="{A59A93A3-3C92-4AEF-BC40-84F08144B1E3}"/>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D6AE8A15-BD83-4A54-9463-F2755371000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EF9BB20B-1531-4B0C-A354-A865DB25E8E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D11B0570-084D-4D16-A2A7-9A7E49BF991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683271CF-68F3-463A-BA3E-6BFD4ECD9A8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068</a:t>
            </a:r>
          </a:p>
        </p:txBody>
      </p:sp>
    </p:spTree>
    <p:extLst>
      <p:ext uri="{BB962C8B-B14F-4D97-AF65-F5344CB8AC3E}">
        <ns4:creationId val="1374507439"/>
      </p:ext>
    </p:extLst>
  </p:cSld>
</p:sld>
</file>

<file path=ppt/slides/slide6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F59037F9-F004-4D47-B069-4186AC8F318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0E47455D-4341-408F-9411-4A417EA8683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문자 오류 보고</a:t>
            </a:r>
          </a:p>
        </p:txBody>
      </p:sp>
      <p:sp>
        <p:nvSpPr>
          <p:cNvPr id="3" name="">
            <a:extLst>
              <a:ext uri="{FF2B5EF4-FFF2-40B4-BE49-F238E27FC236}">
                <ns2:creationId id="{A07B4269-E14F-47DE-9BE4-CC002924825A}"/>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"뜨거움" 입력에서 TypeError가 나왔습니다.</a:t>
            </a:r>
          </a:p>
        </p:txBody>
      </p:sp>
      <p:sp>
        <p:nvSpPr>
          <p:cNvPr id="4" name="">
            <a:extLst>
              <a:ext uri="{FF2B5EF4-FFF2-40B4-BE49-F238E27FC236}">
                <ns2:creationId id="{4548A260-6BAE-43EA-A7C6-C7FCDC13BF43}"/>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재현 보고 다섯 줄을 작성하세요.</a:t>
            </a:r>
          </a:p>
        </p:txBody>
      </p:sp>
      <p:sp>
        <p:nvSpPr>
          <p:cNvPr id="5" name="">
            <a:extLst>
              <a:ext uri="{FF2B5EF4-FFF2-40B4-BE49-F238E27FC236}">
                <ns2:creationId id="{08ED520B-C47C-438D-A1D9-3CC7D8B3B2D8}"/>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6" name="">
            <a:extLst>
              <a:ext uri="{FF2B5EF4-FFF2-40B4-BE49-F238E27FC236}">
                <ns2:creationId id="{546830DB-1487-46EF-858F-453059582BD8}"/>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F4C3827A-88B2-4FAD-BC72-9BD7AE4ECEB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16A14002-ADF6-4340-BF2C-87E5165B6D0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0C9E20B6-2DAD-4ABC-8DFC-DD93CE2CC9B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D1C65B13-8152-4C7A-951E-5C5804C30FD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069</a:t>
            </a:r>
          </a:p>
        </p:txBody>
      </p:sp>
    </p:spTree>
    <p:extLst>
      <p:ext uri="{BB962C8B-B14F-4D97-AF65-F5344CB8AC3E}">
        <ns4:creationId val="354430258"/>
      </p:ext>
    </p:extLst>
  </p:cSld>
</p:sld>
</file>

<file path=ppt/slides/slide7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7742D265-719A-4FF6-BDE8-8C9677D7BEE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DE5B6B10-915A-4B29-97A4-A51EF9C6126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A14  실패한 부분을 다시 요청하기</a:t>
            </a:r>
          </a:p>
        </p:txBody>
      </p:sp>
      <p:sp>
        <p:nvSpPr>
          <p:cNvPr id="3" name="">
            <a:extLst>
              <a:ext uri="{FF2B5EF4-FFF2-40B4-BE49-F238E27FC236}">
                <ns2:creationId id="{4BF9998F-7329-411D-A959-FD8E40D358DC}"/>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978B172B-D7E5-4537-8D3D-A8058772492C}"/>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실패한 입력과 유지할 조건을 함께 씁니다.</a:t>
            </a:r>
          </a:p>
        </p:txBody>
      </p:sp>
      <p:sp>
        <p:nvSpPr>
          <p:cNvPr id="5" name="">
            <a:extLst>
              <a:ext uri="{FF2B5EF4-FFF2-40B4-BE49-F238E27FC236}">
                <ns2:creationId id="{22650C9F-D479-49A9-9CD8-6835C9511F8F}"/>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어디에서 결과가 달랐는지 알려 줍니다.</a:t>
            </a:r>
          </a:p>
        </p:txBody>
      </p:sp>
      <p:sp>
        <p:nvSpPr>
          <p:cNvPr id="6" name="">
            <a:extLst>
              <a:ext uri="{FF2B5EF4-FFF2-40B4-BE49-F238E27FC236}">
                <ns2:creationId id="{0B55D10E-0D56-4694-98A5-1D63120FA164}"/>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추가 수정 요청</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1605993"/>
                <a:gridCol w="3632757"/>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유지 또는 수정</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입력</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28</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기대</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주의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유지</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기준 28·함수 이름</a:t>
                      </a:r>
                    </a:p>
                  </a:txBody>
                  <a:tcPr marL="114300" marR="114300" marT="76200" marB="76200" anchor="ctr">
                    <a:solidFill>
                      <a:srgbClr val="FFFFFF"/>
                    </a:solidFill>
                  </a:tcPr>
                </a:tc>
              </a:tr>
            </a:tbl>
          </a:graphicData>
        </a:graphic>
      </p:graphicFrame>
      <p:sp>
        <p:nvSpPr>
          <p:cNvPr id="8" name="">
            <a:extLst>
              <a:ext uri="{FF2B5EF4-FFF2-40B4-BE49-F238E27FC236}">
                <ns2:creationId id="{F484017C-9A52-4B58-994A-FCB7A860B0E8}"/>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FF019D55-EE1B-45A5-B4D4-3B72F78EB43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E100BAC4-748E-49C1-BB00-4D91B115C77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C8E0552E-07FF-4FFB-BC3D-CA6EC30927F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3AF473A1-2B7E-44AC-87D4-B33E5BAD5C6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070</a:t>
            </a:r>
          </a:p>
        </p:txBody>
      </p:sp>
    </p:spTree>
    <p:extLst>
      <p:ext uri="{BB962C8B-B14F-4D97-AF65-F5344CB8AC3E}">
        <ns4:creationId val="605362625"/>
      </p:ext>
    </p:extLst>
  </p:cSld>
</p:sld>
</file>

<file path=ppt/slides/slide7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DCAFA22A-5C1D-4A9A-B299-799C84A20B5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FAE92C53-4CDA-4B2A-93E7-EEC4799E067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요청을 좁히기의 예</a:t>
            </a:r>
          </a:p>
        </p:txBody>
      </p:sp>
      <p:sp>
        <p:nvSpPr>
          <p:cNvPr id="3" name="">
            <a:extLst>
              <a:ext uri="{FF2B5EF4-FFF2-40B4-BE49-F238E27FC236}">
                <ns2:creationId id="{3F56CC34-A859-45A6-BC19-891A09669589}"/>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F461F8BA-7B48-4AF8-80C2-6E34EFBF845B}"/>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28의 기대는 주의인데 정상입니다.</a:t>
            </a:r>
          </a:p>
        </p:txBody>
      </p:sp>
      <p:sp>
        <p:nvSpPr>
          <p:cNvPr id="5" name="">
            <a:extLst>
              <a:ext uri="{FF2B5EF4-FFF2-40B4-BE49-F238E27FC236}">
                <ns2:creationId id="{3DF5A2FE-3F6A-4F9D-AD15-09399D362BC5}"/>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기준 28과 함수 이름을 유지합니다.</a:t>
            </a:r>
          </a:p>
        </p:txBody>
      </p:sp>
      <p:sp>
        <p:nvSpPr>
          <p:cNvPr id="6" name="">
            <a:extLst>
              <a:ext uri="{FF2B5EF4-FFF2-40B4-BE49-F238E27FC236}">
                <ns2:creationId id="{1509B354-A7D0-4FB0-A620-60E48AE8F57B}"/>
              </a:ext>
            </a:extLst>
          </p:cNvPr>
          <p:cNvSpPr>
            <a:spLocks noGrp="1"/>
          </p:cNvSpPr>
          <p:nvPr/>
        </p:nvSpPr>
        <p:spPr>
          <a:xfrm>
            <a:off x="685800" y="336042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경계 비교를 검토해 주세요.</a:t>
            </a:r>
          </a:p>
        </p:txBody>
      </p:sp>
      <p:sp>
        <p:nvSpPr>
          <p:cNvPr id="7" name="">
            <a:extLst>
              <a:ext uri="{FF2B5EF4-FFF2-40B4-BE49-F238E27FC236}">
                <ns2:creationId id="{E6FE0010-EA93-4D57-9365-A29510512C68}"/>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추가 수정 요청</a:t>
            </a:r>
          </a:p>
        </p:txBody>
      </p:sp>
      <p:graphicFrame>
        <p:nvGraphicFramePr>
          <p:cNvPr id="21" name=""/>
          <p:cNvGraphicFramePr/>
          <p:nvPr/>
        </p:nvGraphicFramePr>
        <p:xfrm>
          <a:off x="6267450" y="2628900"/>
          <a:ext cx="5238750" cy="2057400"/>
        </p:xfrm>
        <a:graphic>
          <a:graphicData uri="http://schemas.openxmlformats.org/drawingml/2006/table">
            <a:tbl>
              <a:tblPr firstRow="1" bandRow="0"/>
              <a:tblGrid>
                <a:gridCol w="1605993"/>
                <a:gridCol w="3632757"/>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유지 또는 수정</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입력</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28</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기대</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주의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유지</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기준 28·함수 이름</a:t>
                      </a:r>
                    </a:p>
                  </a:txBody>
                  <a:tcPr marL="114300" marR="114300" marT="76200" marB="76200" anchor="ctr">
                    <a:solidFill>
                      <a:srgbClr val="FFFFFF"/>
                    </a:solidFill>
                  </a:tcPr>
                </a:tc>
              </a:tr>
            </a:tbl>
          </a:graphicData>
        </a:graphic>
      </p:graphicFrame>
      <p:sp>
        <p:nvSpPr>
          <p:cNvPr id="9" name="">
            <a:extLst>
              <a:ext uri="{FF2B5EF4-FFF2-40B4-BE49-F238E27FC236}">
                <ns2:creationId id="{148CD93E-62BD-4EF7-97A3-FEA60D4A68B1}"/>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CD4021C1-D18B-40CF-BE2E-EB0B0595D48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06ACF7F7-414C-42C1-A7B3-B9538E48A39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40A78D95-AF76-4636-BD15-58DE85F402E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4D39FC77-1D03-46E2-8011-0154C86CF99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071</a:t>
            </a:r>
          </a:p>
        </p:txBody>
      </p:sp>
    </p:spTree>
    <p:extLst>
      <p:ext uri="{BB962C8B-B14F-4D97-AF65-F5344CB8AC3E}">
        <ns4:creationId val="578423590"/>
      </p:ext>
    </p:extLst>
  </p:cSld>
</p:sld>
</file>

<file path=ppt/slides/slide7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B2D6B0DE-4295-4AB9-BBC4-FAD0322DDCC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86B9181F-ADE0-44C4-B1A8-DAE8F24EACD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응답 뒤 재검사</a:t>
            </a:r>
          </a:p>
        </p:txBody>
      </p:sp>
      <p:sp>
        <p:nvSpPr>
          <p:cNvPr id="3" name="">
            <a:extLst>
              <a:ext uri="{FF2B5EF4-FFF2-40B4-BE49-F238E27FC236}">
                <ns2:creationId id="{D5D2F2AA-29EE-4D02-8A18-9C7FB125C9D9}"/>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명령·입력</a:t>
            </a:r>
          </a:p>
        </p:txBody>
      </p:sp>
      <p:sp>
        <p:nvSpPr>
          <p:cNvPr id="4" name="">
            <a:extLst>
              <a:ext uri="{FF2B5EF4-FFF2-40B4-BE49-F238E27FC236}">
                <ns2:creationId id="{FA8AFD96-8247-4118-9E14-B0322F9B2C7B}"/>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설명만 읽고 검사가 끝났다고 쓰지 않습니다.</a:t>
            </a:r>
          </a:p>
        </p:txBody>
      </p:sp>
      <p:sp>
        <p:nvSpPr>
          <p:cNvPr id="5" name="">
            <a:extLst>
              <a:ext uri="{FF2B5EF4-FFF2-40B4-BE49-F238E27FC236}">
                <ns2:creationId id="{E5427B8D-2E4B-4A38-978C-DF3C7433AFC1}"/>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수정한 파일에 같은 입력을 적용합니다.</a:t>
            </a:r>
          </a:p>
        </p:txBody>
      </p:sp>
      <p:sp>
        <p:nvSpPr>
          <p:cNvPr id="6" name="">
            <a:extLst>
              <a:ext uri="{FF2B5EF4-FFF2-40B4-BE49-F238E27FC236}">
                <ns2:creationId id="{F74125BF-B72F-43BE-A8FF-BF0659E5CC97}"/>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추가 수정 요청</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1605993"/>
                <a:gridCol w="3632757"/>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유지 또는 수정</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입력</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28</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기대</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주의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유지</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기준 28·함수 이름</a:t>
                      </a:r>
                    </a:p>
                  </a:txBody>
                  <a:tcPr marL="114300" marR="114300" marT="76200" marB="76200" anchor="ctr">
                    <a:solidFill>
                      <a:srgbClr val="FFFFFF"/>
                    </a:solidFill>
                  </a:tcPr>
                </a:tc>
              </a:tr>
            </a:tbl>
          </a:graphicData>
        </a:graphic>
      </p:graphicFrame>
      <p:sp>
        <p:nvSpPr>
          <p:cNvPr id="8" name="">
            <a:extLst>
              <a:ext uri="{FF2B5EF4-FFF2-40B4-BE49-F238E27FC236}">
                <ns2:creationId id="{AD6998C8-463F-482A-81FC-4E250CF72878}"/>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89A2344C-26E8-4569-9A15-6929E1C6D97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CD46F7A2-C12B-4848-A32A-E32E0E7247C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97EC99EF-9605-449A-B799-75491ACBE9A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3ED65387-23FA-4F91-9F5A-45D780B05B7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072</a:t>
            </a:r>
          </a:p>
        </p:txBody>
      </p:sp>
    </p:spTree>
    <p:extLst>
      <p:ext uri="{BB962C8B-B14F-4D97-AF65-F5344CB8AC3E}">
        <ns4:creationId val="1671792330"/>
      </p:ext>
    </p:extLst>
  </p:cSld>
</p:sld>
</file>

<file path=ppt/slides/slide7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C6AD852E-99F0-40B5-973B-CB3D5E930CD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5B0CCC96-D9C2-4018-BE36-745BA00814A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유지할 조건</a:t>
            </a:r>
          </a:p>
        </p:txBody>
      </p:sp>
      <p:sp>
        <p:nvSpPr>
          <p:cNvPr id="3" name="">
            <a:extLst>
              <a:ext uri="{FF2B5EF4-FFF2-40B4-BE49-F238E27FC236}">
                <ns2:creationId id="{3604FC92-0637-481E-975F-45B3F5B2AC05}"/>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1">
                <a:solidFill>
                  <a:srgbClr val="172F39"/>
                </a:solidFill>
                <a:latin typeface="Noto Sans KR"/>
                <a:ea typeface="Noto Sans KR"/>
                <a:cs typeface="Noto Sans KR"/>
              </a:defRPr>
            </a:pPr>
            <a:r>
              <a:t>추가 요청에 유지 조건을 다시 쓰는 이유는?</a:t>
            </a:r>
          </a:p>
        </p:txBody>
      </p:sp>
      <p:sp>
        <p:nvSpPr>
          <p:cNvPr id="4" name="">
            <a:extLst>
              <a:ext uri="{FF2B5EF4-FFF2-40B4-BE49-F238E27FC236}">
                <ns2:creationId id="{3F09762E-7FBD-4D53-984E-1010FA749C9F}"/>
              </a:ext>
            </a:extLst>
          </p:cNvPr>
          <p:cNvSpPr>
            <a:spLocks noGrp="1"/>
          </p:cNvSpPr>
          <p:nvPr/>
        </p:nvSpPr>
        <p:spPr>
          <a:xfrm>
            <a:off x="685800" y="2728722"/>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5" name="">
            <a:extLst>
              <a:ext uri="{FF2B5EF4-FFF2-40B4-BE49-F238E27FC236}">
                <ns2:creationId id="{330E3268-AEA8-44F2-A957-38298585784A}"/>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489A2ADD-FEA0-4577-9EC8-4A0251050B5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7F076C5F-956E-41B6-ACD1-7E130B72066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86E8B3D4-2532-4818-A687-D07566F5793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C3BA78AF-0B8B-42CE-893F-C9BD9379341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073</a:t>
            </a:r>
          </a:p>
        </p:txBody>
      </p:sp>
    </p:spTree>
    <p:extLst>
      <p:ext uri="{BB962C8B-B14F-4D97-AF65-F5344CB8AC3E}">
        <ns4:creationId val="1278552859"/>
      </p:ext>
    </p:extLst>
  </p:cSld>
</p:sld>
</file>

<file path=ppt/slides/slide7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A41E7BB0-3FF5-40FF-9404-B053BACBCCA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A3AEA783-356C-4DEB-A01A-1FB89572641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A15  회귀 확인</a:t>
            </a:r>
          </a:p>
        </p:txBody>
      </p:sp>
      <p:sp>
        <p:nvSpPr>
          <p:cNvPr id="3" name="">
            <a:extLst>
              <a:ext uri="{FF2B5EF4-FFF2-40B4-BE49-F238E27FC236}">
                <ns2:creationId id="{9B914B7B-76DC-48E6-B7E5-CA91D73F2C92}"/>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475C075C-A5B4-4D9C-B9BC-1074D43B4B97}"/>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고친 뒤 예전 동작도 다시 확인합니다.</a:t>
            </a:r>
          </a:p>
        </p:txBody>
      </p:sp>
      <p:sp>
        <p:nvSpPr>
          <p:cNvPr id="5" name="">
            <a:extLst>
              <a:ext uri="{FF2B5EF4-FFF2-40B4-BE49-F238E27FC236}">
                <ns2:creationId id="{7871EEA9-D963-4B8A-9CD2-8D2D03307CA0}"/>
              </a:ext>
            </a:extLst>
          </p:cNvPr>
          <p:cNvSpPr>
            <a:spLocks noGrp="1"/>
          </p:cNvSpPr>
          <p:nvPr/>
        </p:nvSpPr>
        <p:spPr>
          <a:xfrm>
            <a:off x="685800" y="286131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세 후보에 같은 검사 기준을 적용합니다.</a:t>
            </a:r>
          </a:p>
        </p:txBody>
      </p:sp>
      <p:sp>
        <p:nvSpPr>
          <p:cNvPr id="6" name="">
            <a:extLst>
              <a:ext uri="{FF2B5EF4-FFF2-40B4-BE49-F238E27FC236}">
                <ns2:creationId id="{E67A87AC-78C6-4FC4-8B84-DA15DA59BED9}"/>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같은 사례로 재검사</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619375"/>
                <a:gridCol w="2619375"/>
              </a:tblGrid>
              <a:tr h="514350">
                <a:tc>
                  <a:txBody>
                    <a:bodyPr wrap="square"/>
                    <a:lstStyle/>
                    <a:p>
                      <a:pPr>
                        <a:lnSpc>
                          <a:spcPct val="102000"/>
                        </a:lnSpc>
                        <a:buNone/>
                      </a:pPr>
                      <a:r>
                        <a:rPr sz="1875" b="1">
                          <a:solidFill>
                            <a:srgbClr val="172F39"/>
                          </a:solidFill>
                          <a:latin typeface="Noto Sans KR"/>
                          <a:ea typeface="Noto Sans KR"/>
                          <a:cs typeface="Noto Sans KR"/>
                        </a:rPr>
                        <a:t>파일</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확인할 것</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baseline.py</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처음 실패</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proposal_a.py</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기준·누락 변경</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reviewed.py</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제공 사례 9/9</a:t>
                      </a:r>
                    </a:p>
                  </a:txBody>
                  <a:tcPr marL="114300" marR="114300" marT="76200" marB="76200" anchor="ctr">
                    <a:solidFill>
                      <a:srgbClr val="FFFFFF"/>
                    </a:solidFill>
                  </a:tcPr>
                </a:tc>
              </a:tr>
            </a:tbl>
          </a:graphicData>
        </a:graphic>
      </p:graphicFrame>
      <p:sp>
        <p:nvSpPr>
          <p:cNvPr id="8" name="">
            <a:extLst>
              <a:ext uri="{FF2B5EF4-FFF2-40B4-BE49-F238E27FC236}">
                <ns2:creationId id="{4D270C59-8EF6-42E4-B12C-53C0FDFA3920}"/>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B183CAA5-B725-4FED-A52B-8F74EACE43C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1D8240D2-1DB1-44A9-8FDE-53BA34CAE3D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467034D9-7FEC-40A5-B2BA-1A5291E2CFC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B74F93D9-70FC-4BC3-9C19-3B494A938F3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074</a:t>
            </a:r>
          </a:p>
        </p:txBody>
      </p:sp>
    </p:spTree>
    <p:extLst>
      <p:ext uri="{BB962C8B-B14F-4D97-AF65-F5344CB8AC3E}">
        <ns4:creationId val="1888382141"/>
      </p:ext>
    </p:extLst>
  </p:cSld>
</p:sld>
</file>

<file path=ppt/slides/slide7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9" name="">
            <a:extLst>
              <a:ext uri="{FF2B5EF4-FFF2-40B4-BE49-F238E27FC236}">
                <ns2:creationId id="{4A191054-77FC-43D1-9D9F-FD15F741098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09A1DCF2-1835-45E0-AC7E-68EED94F62A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회귀 확인의 예</a:t>
            </a:r>
          </a:p>
        </p:txBody>
      </p:sp>
      <p:sp>
        <p:nvSpPr>
          <p:cNvPr id="3" name="">
            <a:extLst>
              <a:ext uri="{FF2B5EF4-FFF2-40B4-BE49-F238E27FC236}">
                <ns2:creationId id="{035BF3BC-3BDC-4E6F-A831-8FB79741059E}"/>
              </a:ext>
            </a:extLst>
          </p:cNvPr>
          <p:cNvSpPr>
            <a:spLocks noGrp="1"/>
          </p:cNvSpPr>
          <p:nvPr/>
        </p:nvSpPr>
        <p:spPr>
          <a:xfrm>
            <a:off x="685800" y="1704975"/>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실행 위치: course. 기준은 동일합니다.</a:t>
            </a:r>
          </a:p>
        </p:txBody>
      </p:sp>
      <p:sp>
        <p:nvSpPr>
          <p:cNvPr id="4" name="">
            <a:extLst>
              <a:ext uri="{FF2B5EF4-FFF2-40B4-BE49-F238E27FC236}">
                <ns2:creationId id="{2AFFE030-497F-4488-B84C-017E19ECC847}"/>
              </a:ext>
            </a:extLst>
          </p:cNvPr>
          <p:cNvSpPr>
            <a:spLocks noGrp="1"/>
          </p:cNvSpPr>
          <p:nvPr/>
        </p:nvSpPr>
        <p:spPr>
          <a:xfrm>
            <a:off x="685800" y="2262188"/>
            <a:ext cx="6953250" cy="1274826"/>
          </a:xfrm>
          <a:prstGeom prst="rect">
            <a:avLst/>
          </a:prstGeom>
          <a:solidFill>
            <a:srgbClr val="F1F6F5"/>
          </a:solidFill>
          <a:ln w="0">
            <a:noFill/>
          </a:ln>
        </p:spPr>
      </p:sp>
      <p:sp>
        <p:nvSpPr>
          <p:cNvPr id="5" name="">
            <a:extLst>
              <a:ext uri="{FF2B5EF4-FFF2-40B4-BE49-F238E27FC236}">
                <ns2:creationId id="{6E5C0EDC-A90A-4CDD-A66E-F7FF55FFB734}"/>
              </a:ext>
            </a:extLst>
          </p:cNvPr>
          <p:cNvSpPr>
            <a:spLocks noGrp="1"/>
          </p:cNvSpPr>
          <p:nvPr/>
        </p:nvSpPr>
        <p:spPr>
          <a:xfrm>
            <a:off x="828675" y="242411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6" name="">
            <a:extLst>
              <a:ext uri="{FF2B5EF4-FFF2-40B4-BE49-F238E27FC236}">
                <ns2:creationId id="{5F726DE6-D4BC-4940-B4DD-B264B8307864}"/>
              </a:ext>
            </a:extLst>
          </p:cNvPr>
          <p:cNvSpPr>
            <a:spLocks noGrp="1"/>
          </p:cNvSpPr>
          <p:nvPr/>
        </p:nvSpPr>
        <p:spPr>
          <a:xfrm>
            <a:off x="1276350" y="2386013"/>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python code/check_cases.py code/baseline.py</a:t>
            </a:r>
          </a:p>
        </p:txBody>
      </p:sp>
      <p:sp>
        <p:nvSpPr>
          <p:cNvPr id="7" name="">
            <a:extLst>
              <a:ext uri="{FF2B5EF4-FFF2-40B4-BE49-F238E27FC236}">
                <ns2:creationId id="{D6EC3574-413F-47DF-8D48-316111F0DF31}"/>
              </a:ext>
            </a:extLst>
          </p:cNvPr>
          <p:cNvSpPr>
            <a:spLocks noGrp="1"/>
          </p:cNvSpPr>
          <p:nvPr/>
        </p:nvSpPr>
        <p:spPr>
          <a:xfrm>
            <a:off x="828675" y="2741104"/>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8" name="">
            <a:extLst>
              <a:ext uri="{FF2B5EF4-FFF2-40B4-BE49-F238E27FC236}">
                <ns2:creationId id="{114AF36B-9FD4-48FA-A36F-E49B7E1E7914}"/>
              </a:ext>
            </a:extLst>
          </p:cNvPr>
          <p:cNvSpPr>
            <a:spLocks noGrp="1"/>
          </p:cNvSpPr>
          <p:nvPr/>
        </p:nvSpPr>
        <p:spPr>
          <a:xfrm>
            <a:off x="1276350" y="2703004"/>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python code/check_cases.py code/proposal_a.py</a:t>
            </a:r>
          </a:p>
        </p:txBody>
      </p:sp>
      <p:sp>
        <p:nvSpPr>
          <p:cNvPr id="9" name="">
            <a:extLst>
              <a:ext uri="{FF2B5EF4-FFF2-40B4-BE49-F238E27FC236}">
                <ns2:creationId id="{BBB10EF3-C0B3-40EB-B614-EE6B4F39EDB9}"/>
              </a:ext>
            </a:extLst>
          </p:cNvPr>
          <p:cNvSpPr>
            <a:spLocks noGrp="1"/>
          </p:cNvSpPr>
          <p:nvPr/>
        </p:nvSpPr>
        <p:spPr>
          <a:xfrm>
            <a:off x="828675" y="305809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0" name="">
            <a:extLst>
              <a:ext uri="{FF2B5EF4-FFF2-40B4-BE49-F238E27FC236}">
                <ns2:creationId id="{D05EC041-0A26-4306-8722-524B1CE4547C}"/>
              </a:ext>
            </a:extLst>
          </p:cNvPr>
          <p:cNvSpPr>
            <a:spLocks noGrp="1"/>
          </p:cNvSpPr>
          <p:nvPr/>
        </p:nvSpPr>
        <p:spPr>
          <a:xfrm>
            <a:off x="1276350" y="3019997"/>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python code/check_cases.py code/reviewed.py</a:t>
            </a:r>
          </a:p>
        </p:txBody>
      </p:sp>
      <p:sp>
        <p:nvSpPr>
          <p:cNvPr id="11" name="">
            <a:extLst>
              <a:ext uri="{FF2B5EF4-FFF2-40B4-BE49-F238E27FC236}">
                <ns2:creationId id="{65043A4A-962F-422C-A1B6-C046824450D9}"/>
              </a:ext>
            </a:extLst>
          </p:cNvPr>
          <p:cNvSpPr>
            <a:spLocks noGrp="1"/>
          </p:cNvSpPr>
          <p:nvPr/>
        </p:nvSpPr>
        <p:spPr>
          <a:xfrm>
            <a:off x="8143875" y="2281238"/>
            <a:ext cx="3333750" cy="4095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실행 결과</a:t>
            </a:r>
          </a:p>
        </p:txBody>
      </p:sp>
      <p:sp>
        <p:nvSpPr>
          <p:cNvPr id="12" name="">
            <a:extLst>
              <a:ext uri="{FF2B5EF4-FFF2-40B4-BE49-F238E27FC236}">
                <ns2:creationId id="{C3169F8C-26DF-4E22-8C12-8F65E0C4368D}"/>
              </a:ext>
            </a:extLst>
          </p:cNvPr>
          <p:cNvSpPr>
            <a:spLocks noGrp="1"/>
          </p:cNvSpPr>
          <p:nvPr/>
        </p:nvSpPr>
        <p:spPr>
          <a:xfrm>
            <a:off x="8143875" y="2862263"/>
            <a:ext cx="3333750" cy="721233"/>
          </a:xfrm>
          <a:prstGeom prst="rect">
            <a:avLst/>
          </a:prstGeom>
          <a:noFill/>
          <a:ln w="0">
            <a:noFill/>
          </a:ln>
        </p:spPr>
        <p:txBody>
          <a:bodyPr wrap="square" lIns="0" tIns="0" rIns="0" bIns="0">
            <a:noAutofit/>
          </a:bodyPr>
          <a:lstStyle/>
          <a:p>
            <a:pPr>
              <a:defRPr sz="2025" b="0">
                <a:solidFill>
                  <a:srgbClr val="172F39"/>
                </a:solidFill>
                <a:latin typeface="Noto Sans KR"/>
                <a:ea typeface="Noto Sans KR"/>
                <a:cs typeface="Noto Sans KR"/>
              </a:defRPr>
            </a:pPr>
            <a:r>
              <a:t>reviewed는 제공 아홉 사례에서 9/9입니다.</a:t>
            </a:r>
          </a:p>
        </p:txBody>
      </p:sp>
      <p:sp>
        <p:nvSpPr>
          <p:cNvPr id="13" name="">
            <a:extLst>
              <a:ext uri="{FF2B5EF4-FFF2-40B4-BE49-F238E27FC236}">
                <ns2:creationId id="{2C668239-4421-4481-B5C2-45D503E30DB5}"/>
              </a:ext>
            </a:extLst>
          </p:cNvPr>
          <p:cNvSpPr>
            <a:spLocks noGrp="1"/>
          </p:cNvSpPr>
          <p:nvPr/>
        </p:nvSpPr>
        <p:spPr>
          <a:xfrm>
            <a:off x="8143875" y="3631121"/>
            <a:ext cx="3333750" cy="721233"/>
          </a:xfrm>
          <a:prstGeom prst="rect">
            <a:avLst/>
          </a:prstGeom>
          <a:noFill/>
          <a:ln w="0">
            <a:noFill/>
          </a:ln>
        </p:spPr>
        <p:txBody>
          <a:bodyPr wrap="square" lIns="0" tIns="0" rIns="0" bIns="0">
            <a:noAutofit/>
          </a:bodyPr>
          <a:lstStyle/>
          <a:p>
            <a:pPr>
              <a:defRPr sz="2025" b="0">
                <a:solidFill>
                  <a:srgbClr val="172F39"/>
                </a:solidFill>
                <a:latin typeface="Noto Sans KR"/>
                <a:ea typeface="Noto Sans KR"/>
                <a:cs typeface="Noto Sans KR"/>
              </a:defRPr>
            </a:pPr>
            <a:r>
              <a:t>모든 실제 센서 조건의 보장은 아닙니다.</a:t>
            </a:r>
          </a:p>
        </p:txBody>
      </p:sp>
      <p:sp>
        <p:nvSpPr>
          <p:cNvPr id="14" name="">
            <a:extLst>
              <a:ext uri="{FF2B5EF4-FFF2-40B4-BE49-F238E27FC236}">
                <ns2:creationId id="{899F7BBB-6805-457C-9CC5-8759C77BC779}"/>
              </a:ext>
            </a:extLst>
          </p:cNvPr>
          <p:cNvSpPr>
            <a:spLocks noGrp="1"/>
          </p:cNvSpPr>
          <p:nvPr/>
        </p:nvSpPr>
        <p:spPr>
          <a:xfrm>
            <a:off x="685800" y="6172200"/>
            <a:ext cx="10820400" cy="9525"/>
          </a:xfrm>
          <a:prstGeom prst="rect">
            <a:avLst/>
          </a:prstGeom>
          <a:solidFill>
            <a:srgbClr val="D5DEDD"/>
          </a:solidFill>
          <a:ln w="0">
            <a:noFill/>
          </a:ln>
        </p:spPr>
      </p:sp>
      <p:sp>
        <p:nvSpPr>
          <p:cNvPr id="15" name="">
            <a:extLst>
              <a:ext uri="{FF2B5EF4-FFF2-40B4-BE49-F238E27FC236}">
                <ns2:creationId id="{E0679F2C-F16A-4275-BEBE-5BF3AF4EDD3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6" name="">
            <a:extLst>
              <a:ext uri="{FF2B5EF4-FFF2-40B4-BE49-F238E27FC236}">
                <ns2:creationId id="{A4EC0956-810B-4D05-9D1A-F13EA6B85C6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7" name="">
            <a:extLst>
              <a:ext uri="{FF2B5EF4-FFF2-40B4-BE49-F238E27FC236}">
                <ns2:creationId id="{BD1FC5B7-B017-4A8A-9656-B8BE3FF8E92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8" name="">
            <a:extLst>
              <a:ext uri="{FF2B5EF4-FFF2-40B4-BE49-F238E27FC236}">
                <ns2:creationId id="{4F8E9E53-2396-45A2-9E24-0DB2E17104E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075</a:t>
            </a:r>
          </a:p>
        </p:txBody>
      </p:sp>
    </p:spTree>
    <p:extLst>
      <p:ext uri="{BB962C8B-B14F-4D97-AF65-F5344CB8AC3E}">
        <ns4:creationId val="1408523741"/>
      </p:ext>
    </p:extLst>
  </p:cSld>
</p:sld>
</file>

<file path=ppt/slides/slide7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5996CE8C-797B-402F-80F6-EFCD131A598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0166C7CD-2594-4378-A0B6-E77222ADADB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세 후보를 검사하는 명령</a:t>
            </a:r>
          </a:p>
        </p:txBody>
      </p:sp>
      <p:sp>
        <p:nvSpPr>
          <p:cNvPr id="3" name="">
            <a:extLst>
              <a:ext uri="{FF2B5EF4-FFF2-40B4-BE49-F238E27FC236}">
                <ns2:creationId id="{5050A154-16B8-4FC7-AB6E-1D25FA662665}"/>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47727992-B6EA-41EA-A31E-6F05438334EF}"/>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명령마다 검사할 후보 파일을 확인합니다.</a:t>
            </a:r>
          </a:p>
        </p:txBody>
      </p:sp>
      <p:sp>
        <p:nvSpPr>
          <p:cNvPr id="5" name="">
            <a:extLst>
              <a:ext uri="{FF2B5EF4-FFF2-40B4-BE49-F238E27FC236}">
                <ns2:creationId id="{C457D332-74AD-482E-B152-2550685F397F}"/>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세 파일에 같은 입력이 쓰이는지 봅니다.</a:t>
            </a:r>
          </a:p>
        </p:txBody>
      </p:sp>
      <p:sp>
        <p:nvSpPr>
          <p:cNvPr id="6" name="">
            <a:extLst>
              <a:ext uri="{FF2B5EF4-FFF2-40B4-BE49-F238E27FC236}">
                <ns2:creationId id="{26658DAC-35E9-4574-968C-0476F64B6B56}"/>
              </a:ext>
            </a:extLst>
          </p:cNvPr>
          <p:cNvSpPr>
            <a:spLocks noGrp="1"/>
          </p:cNvSpPr>
          <p:nvPr/>
        </p:nvSpPr>
        <p:spPr>
          <a:xfrm>
            <a:off x="685800" y="403479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출력에서 실패한 사례를 비교합니다.</a:t>
            </a:r>
          </a:p>
        </p:txBody>
      </p:sp>
      <p:sp>
        <p:nvSpPr>
          <p:cNvPr id="7" name="">
            <a:extLst>
              <a:ext uri="{FF2B5EF4-FFF2-40B4-BE49-F238E27FC236}">
                <ns2:creationId id="{437469A4-255C-4955-AA92-C9800F9F129A}"/>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같은 사례로 세 파일 검사</a:t>
            </a:r>
          </a:p>
        </p:txBody>
      </p:sp>
      <p:graphicFrame>
        <p:nvGraphicFramePr>
          <p:cNvPr id="21" name=""/>
          <p:cNvGraphicFramePr/>
          <p:nvPr/>
        </p:nvGraphicFramePr>
        <p:xfrm>
          <a:off x="6267450" y="2628900"/>
          <a:ext cx="5238750" cy="2057400"/>
        </p:xfrm>
        <a:graphic>
          <a:graphicData uri="http://schemas.openxmlformats.org/drawingml/2006/table">
            <a:tbl>
              <a:tblPr firstRow="1" bandRow="0"/>
              <a:tblGrid>
                <a:gridCol w="2444750"/>
                <a:gridCol w="2794000"/>
              </a:tblGrid>
              <a:tr h="514350">
                <a:tc>
                  <a:txBody>
                    <a:bodyPr wrap="square"/>
                    <a:lstStyle/>
                    <a:p>
                      <a:pPr>
                        <a:lnSpc>
                          <a:spcPct val="102000"/>
                        </a:lnSpc>
                        <a:buNone/>
                      </a:pPr>
                      <a:r>
                        <a:rPr sz="1875" b="1">
                          <a:solidFill>
                            <a:srgbClr val="172F39"/>
                          </a:solidFill>
                          <a:latin typeface="Noto Sans KR"/>
                          <a:ea typeface="Noto Sans KR"/>
                          <a:cs typeface="Noto Sans KR"/>
                        </a:rPr>
                        <a:t>후보 파일</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검사 기준</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baseline.py</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data/cases.json</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proposal_a.py</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같은 cases.json</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reviewed.py</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같은 cases.json</a:t>
                      </a:r>
                    </a:p>
                  </a:txBody>
                  <a:tcPr marL="114300" marR="114300" marT="76200" marB="76200" anchor="ctr">
                    <a:solidFill>
                      <a:srgbClr val="FFFFFF"/>
                    </a:solidFill>
                  </a:tcPr>
                </a:tc>
              </a:tr>
            </a:tbl>
          </a:graphicData>
        </a:graphic>
      </p:graphicFrame>
      <p:sp>
        <p:nvSpPr>
          <p:cNvPr id="9" name="">
            <a:extLst>
              <a:ext uri="{FF2B5EF4-FFF2-40B4-BE49-F238E27FC236}">
                <ns2:creationId id="{0370C49D-2B95-4FA5-925F-D095B7B23EBA}"/>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4B31CD6D-48D8-4430-BD85-BD15F822CCF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5EE48C19-1BE9-4D9B-8B97-B84AA2FF0DD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4C7D4A20-74EA-4247-8BFF-68775A2CD9A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C0590AE1-03DF-4BD8-B239-CC73363599C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076</a:t>
            </a:r>
          </a:p>
        </p:txBody>
      </p:sp>
    </p:spTree>
    <p:extLst>
      <p:ext uri="{BB962C8B-B14F-4D97-AF65-F5344CB8AC3E}">
        <ns4:creationId val="1946446766"/>
      </p:ext>
    </p:extLst>
  </p:cSld>
</p:sld>
</file>

<file path=ppt/slides/slide7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3C5260B1-4760-4356-85B1-A832A6C150A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993EB964-0DEB-4983-BDCB-0B92DFDC12F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검사 범위</a:t>
            </a:r>
          </a:p>
        </p:txBody>
      </p:sp>
      <p:sp>
        <p:nvSpPr>
          <p:cNvPr id="3" name="">
            <a:extLst>
              <a:ext uri="{FF2B5EF4-FFF2-40B4-BE49-F238E27FC236}">
                <ns2:creationId id="{041A7BD7-99A6-4C10-B124-271F51C34FCC}"/>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확인할 자료</a:t>
            </a:r>
          </a:p>
        </p:txBody>
      </p:sp>
      <p:sp>
        <p:nvSpPr>
          <p:cNvPr id="4" name="">
            <a:extLst>
              <a:ext uri="{FF2B5EF4-FFF2-40B4-BE49-F238E27FC236}">
                <ns2:creationId id="{53C522F4-D5C3-4053-8D1C-F11AC6F50713}"/>
              </a:ext>
            </a:extLst>
          </p:cNvPr>
          <p:cNvSpPr>
            <a:spLocks noGrp="1"/>
          </p:cNvSpPr>
          <p:nvPr/>
        </p:nvSpPr>
        <p:spPr>
          <a:xfrm>
            <a:off x="685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reviewed는 제공 아홉 사례에서 9/9입니다.</a:t>
            </a:r>
          </a:p>
        </p:txBody>
      </p:sp>
      <p:sp>
        <p:nvSpPr>
          <p:cNvPr id="5" name="">
            <a:extLst>
              <a:ext uri="{FF2B5EF4-FFF2-40B4-BE49-F238E27FC236}">
                <ns2:creationId id="{D643866D-838A-4106-AA2C-05EB131C6445}"/>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이 자료에서 볼 것</a:t>
            </a:r>
          </a:p>
        </p:txBody>
      </p:sp>
      <p:sp>
        <p:nvSpPr>
          <p:cNvPr id="6" name="">
            <a:extLst>
              <a:ext uri="{FF2B5EF4-FFF2-40B4-BE49-F238E27FC236}">
                <ns2:creationId id="{B77E531A-AC1E-4B99-BE7A-CAC614E1D9EA}"/>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모든 실제 센서 조건의 보장은 아닙니다.</a:t>
            </a:r>
          </a:p>
        </p:txBody>
      </p:sp>
      <p:sp>
        <p:nvSpPr>
          <p:cNvPr id="7" name="">
            <a:extLst>
              <a:ext uri="{FF2B5EF4-FFF2-40B4-BE49-F238E27FC236}">
                <ns2:creationId id="{512C812C-578B-4C78-9DEE-7C19105A21D3}"/>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3CAE6407-4DD9-41A1-AA3B-E1C4560C41D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CB42F2C5-09F7-46C9-B1EC-231D080571D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75599F0A-7F88-4E6A-9EA0-C74049E38A9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F8345605-7226-439F-856F-5F5F84FF64B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077</a:t>
            </a:r>
          </a:p>
        </p:txBody>
      </p:sp>
    </p:spTree>
    <p:extLst>
      <p:ext uri="{BB962C8B-B14F-4D97-AF65-F5344CB8AC3E}">
        <ns4:creationId val="1462452961"/>
      </p:ext>
    </p:extLst>
  </p:cSld>
</p:sld>
</file>

<file path=ppt/slides/slide7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1887B09D-42D2-456B-801C-68E543B92DE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68E5DBD2-25CE-4441-A067-357ED6B7BB2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같은 통과 수</a:t>
            </a:r>
          </a:p>
        </p:txBody>
      </p:sp>
      <p:sp>
        <p:nvSpPr>
          <p:cNvPr id="3" name="">
            <a:extLst>
              <a:ext uri="{FF2B5EF4-FFF2-40B4-BE49-F238E27FC236}">
                <ns2:creationId id="{E417C439-B98E-4DC9-A440-4CA2BF5CB068}"/>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두 코드의 통과 수가 같습니다.</a:t>
            </a:r>
          </a:p>
        </p:txBody>
      </p:sp>
      <p:sp>
        <p:nvSpPr>
          <p:cNvPr id="4" name="">
            <a:extLst>
              <a:ext uri="{FF2B5EF4-FFF2-40B4-BE49-F238E27FC236}">
                <ns2:creationId id="{FB47B020-2E47-4384-A657-70D7594922B0}"/>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같은 품질이라고 판단할 수 있나요?</a:t>
            </a:r>
          </a:p>
        </p:txBody>
      </p:sp>
      <p:sp>
        <p:nvSpPr>
          <p:cNvPr id="5" name="">
            <a:extLst>
              <a:ext uri="{FF2B5EF4-FFF2-40B4-BE49-F238E27FC236}">
                <ns2:creationId id="{4880FEF7-66C2-45FD-87DE-AAE7FEA1ABB8}"/>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6" name="">
            <a:extLst>
              <a:ext uri="{FF2B5EF4-FFF2-40B4-BE49-F238E27FC236}">
                <ns2:creationId id="{B06E8200-92C6-4C79-8589-B794F824D756}"/>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11DF640C-1F60-45D2-B828-297CCA63F19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FCDFA37C-C8BC-4EA3-9DB7-28137DA1A01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FFB91FB1-FC0F-4758-89A4-C364FC21818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D2B3F109-2864-4968-A14C-9058F92F3AC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078</a:t>
            </a:r>
          </a:p>
        </p:txBody>
      </p:sp>
    </p:spTree>
    <p:extLst>
      <p:ext uri="{BB962C8B-B14F-4D97-AF65-F5344CB8AC3E}">
        <ns4:creationId val="1100812228"/>
      </p:ext>
    </p:extLst>
  </p:cSld>
</p:sld>
</file>

<file path=ppt/slides/slide7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98C8D17F-3CC1-4786-BCD8-B4D7838FDA50}"/>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6교시</a:t>
            </a:r>
          </a:p>
        </p:txBody>
      </p:sp>
      <p:sp>
        <p:nvSpPr>
          <p:cNvPr id="2" name="">
            <a:extLst>
              <a:ext uri="{FF2B5EF4-FFF2-40B4-BE49-F238E27FC236}">
                <ns2:creationId id="{F7B89E47-084A-4EFB-8D93-F1B984704061}"/>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새 요청과 인수인계</a:t>
            </a:r>
          </a:p>
        </p:txBody>
      </p:sp>
      <p:sp>
        <p:nvSpPr>
          <p:cNvPr id="3" name="">
            <a:extLst>
              <a:ext uri="{FF2B5EF4-FFF2-40B4-BE49-F238E27FC236}">
                <ns2:creationId id="{23DF32C2-C4DC-4CC9-A0EC-1F4763E7EF22}"/>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50분 수업입니다.</a:t>
            </a:r>
          </a:p>
        </p:txBody>
      </p:sp>
      <p:sp>
        <p:nvSpPr>
          <p:cNvPr id="4" name="">
            <a:extLst>
              <a:ext uri="{FF2B5EF4-FFF2-40B4-BE49-F238E27FC236}">
                <ns2:creationId id="{C70B36A7-9E27-49A7-95CC-C9E18397D153}"/>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예제를 함께 보고 따라 해 봅니다.</a:t>
            </a:r>
          </a:p>
        </p:txBody>
      </p:sp>
      <p:sp>
        <p:nvSpPr>
          <p:cNvPr id="5" name="">
            <a:extLst>
              <a:ext uri="{FF2B5EF4-FFF2-40B4-BE49-F238E27FC236}">
                <ns2:creationId id="{38C35556-A7C2-4C4E-8EEE-2629A3374ED5}"/>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결과가 예상과 같은지 확인해 봅니다.</a:t>
            </a:r>
          </a:p>
        </p:txBody>
      </p:sp>
      <p:sp>
        <p:nvSpPr>
          <p:cNvPr id="6" name="">
            <a:extLst>
              <a:ext uri="{FF2B5EF4-FFF2-40B4-BE49-F238E27FC236}">
                <ns2:creationId id="{F64FE590-6BF8-4288-96A7-4722E455E50E}"/>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1726719D-AAE9-4721-A15F-20893D97551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29CDB8C0-12A7-4B49-A56E-14686EECD2E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9DA2BC0D-77B2-4A65-BA5C-0F63D3BD29C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5FA11F40-C39B-40CC-8E44-1AA394A7E5B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079</a:t>
            </a:r>
          </a:p>
        </p:txBody>
      </p:sp>
    </p:spTree>
    <p:extLst>
      <p:ext uri="{BB962C8B-B14F-4D97-AF65-F5344CB8AC3E}">
        <ns4:creationId val="296643598"/>
      </p:ext>
    </p:extLst>
  </p:cSld>
</p:sld>
</file>

<file path=ppt/slides/slide8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9721327C-4FB1-40E9-A14B-4B4D79B835E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DD0C2406-F08E-480F-9FF1-0B8D7769596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한 번의 호출과 기본값 변경</a:t>
            </a:r>
          </a:p>
        </p:txBody>
      </p:sp>
      <p:sp>
        <p:nvSpPr>
          <p:cNvPr id="3" name="">
            <a:extLst>
              <a:ext uri="{FF2B5EF4-FFF2-40B4-BE49-F238E27FC236}">
                <ns2:creationId id="{AE167004-15B8-4520-AEC8-58664CD0CB4A}"/>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이번 호출의 기준</a:t>
            </a:r>
          </a:p>
        </p:txBody>
      </p:sp>
      <p:sp>
        <p:nvSpPr>
          <p:cNvPr id="4" name="">
            <a:extLst>
              <a:ext uri="{FF2B5EF4-FFF2-40B4-BE49-F238E27FC236}">
                <ns2:creationId id="{F2301909-D5FF-4135-9181-69BB9475A5D9}"/>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이번 호출만 바꿀지, 기본값을 바꿀지 정합니다.</a:t>
            </a:r>
          </a:p>
        </p:txBody>
      </p:sp>
      <p:sp>
        <p:nvSpPr>
          <p:cNvPr id="5" name="">
            <a:extLst>
              <a:ext uri="{FF2B5EF4-FFF2-40B4-BE49-F238E27FC236}">
                <ns2:creationId id="{B997CBD2-7474-46E8-B389-ED76CC1F45C3}"/>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누가 요청했는지와 검사할 입력을 적습니다.</a:t>
            </a:r>
          </a:p>
        </p:txBody>
      </p:sp>
      <p:sp>
        <p:nvSpPr>
          <p:cNvPr id="6" name="">
            <a:extLst>
              <a:ext uri="{FF2B5EF4-FFF2-40B4-BE49-F238E27FC236}">
                <ns2:creationId id="{F9634607-0467-407B-96E6-B37D47DDB2E1}"/>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한 호출의 기준 변경</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3686685"/>
                <a:gridCol w="1552065"/>
              </a:tblGrid>
              <a:tr h="514350">
                <a:tc>
                  <a:txBody>
                    <a:bodyPr wrap="square"/>
                    <a:lstStyle/>
                    <a:p>
                      <a:pPr>
                        <a:lnSpc>
                          <a:spcPct val="102000"/>
                        </a:lnSpc>
                        <a:buNone/>
                      </a:pPr>
                      <a:r>
                        <a:rPr sz="1875" b="1">
                          <a:solidFill>
                            <a:srgbClr val="172F39"/>
                          </a:solidFill>
                          <a:latin typeface="Noto Sans KR"/>
                          <a:ea typeface="Noto Sans KR"/>
                          <a:cs typeface="Noto Sans KR"/>
                        </a:rPr>
                        <a:t>호출</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기대 결과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classify(28)</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주의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classify(29.9, threshold=30)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classify(30, threshold=30)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주의</a:t>
                      </a:r>
                    </a:p>
                  </a:txBody>
                  <a:tcPr marL="114300" marR="114300" marT="76200" marB="76200" anchor="ctr">
                    <a:solidFill>
                      <a:srgbClr val="FFFFFF"/>
                    </a:solidFill>
                  </a:tcPr>
                </a:tc>
              </a:tr>
            </a:tbl>
          </a:graphicData>
        </a:graphic>
      </p:graphicFrame>
      <p:sp>
        <p:nvSpPr>
          <p:cNvPr id="8" name="">
            <a:extLst>
              <a:ext uri="{FF2B5EF4-FFF2-40B4-BE49-F238E27FC236}">
                <ns2:creationId id="{D0F09DA7-3FAF-496E-8550-DFC6F1434B1B}"/>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ECE0724B-5468-4CB6-91CD-66AD3309F20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CE682AE4-1DBD-4069-BC3B-55082F908F8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E9D560EA-78A4-42A3-BD57-60F460E3BAD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35E775A6-47AC-461F-A6EA-95F86A8ACEE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080</a:t>
            </a:r>
          </a:p>
        </p:txBody>
      </p:sp>
    </p:spTree>
    <p:extLst>
      <p:ext uri="{BB962C8B-B14F-4D97-AF65-F5344CB8AC3E}">
        <ns4:creationId val="335336331"/>
      </p:ext>
    </p:extLst>
  </p:cSld>
</p:sld>
</file>

<file path=ppt/slides/slide8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98B9D290-550F-468D-A559-F1062543CA9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8078CEDD-2583-4A56-9D15-2E20BD03F5A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A16  새 기준의 영향</a:t>
            </a:r>
          </a:p>
        </p:txBody>
      </p:sp>
      <p:sp>
        <p:nvSpPr>
          <p:cNvPr id="3" name="">
            <a:extLst>
              <a:ext uri="{FF2B5EF4-FFF2-40B4-BE49-F238E27FC236}">
                <ns2:creationId id="{CAF0FDFC-5886-40BC-8DCC-1D688F9879F0}"/>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A2AE9F7E-0583-4C78-805E-171F1B49A429}"/>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특정 장소만 기준 30을 사용합니다.</a:t>
            </a:r>
          </a:p>
        </p:txBody>
      </p:sp>
      <p:sp>
        <p:nvSpPr>
          <p:cNvPr id="5" name="">
            <a:extLst>
              <a:ext uri="{FF2B5EF4-FFF2-40B4-BE49-F238E27FC236}">
                <ns2:creationId id="{91A0BEF6-E551-4F0B-9C9C-A6A684B54530}"/>
              </a:ext>
            </a:extLst>
          </p:cNvPr>
          <p:cNvSpPr>
            <a:spLocks noGrp="1"/>
          </p:cNvSpPr>
          <p:nvPr/>
        </p:nvSpPr>
        <p:spPr>
          <a:xfrm>
            <a:off x="685800" y="286131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기본값 28과 호출 인수를 구별합니다.</a:t>
            </a:r>
          </a:p>
        </p:txBody>
      </p:sp>
      <p:sp>
        <p:nvSpPr>
          <p:cNvPr id="6" name="">
            <a:extLst>
              <a:ext uri="{FF2B5EF4-FFF2-40B4-BE49-F238E27FC236}">
                <ns2:creationId id="{11627A07-4BF5-4465-9E4D-7650844210C2}"/>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한 호출의 기준 변경</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3686685"/>
                <a:gridCol w="1552065"/>
              </a:tblGrid>
              <a:tr h="514350">
                <a:tc>
                  <a:txBody>
                    <a:bodyPr wrap="square"/>
                    <a:lstStyle/>
                    <a:p>
                      <a:pPr>
                        <a:lnSpc>
                          <a:spcPct val="102000"/>
                        </a:lnSpc>
                        <a:buNone/>
                      </a:pPr>
                      <a:r>
                        <a:rPr sz="1875" b="1">
                          <a:solidFill>
                            <a:srgbClr val="172F39"/>
                          </a:solidFill>
                          <a:latin typeface="Noto Sans KR"/>
                          <a:ea typeface="Noto Sans KR"/>
                          <a:cs typeface="Noto Sans KR"/>
                        </a:rPr>
                        <a:t>호출</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기대 결과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classify(28)</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주의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classify(29.9, threshold=30)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classify(30, threshold=30)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주의</a:t>
                      </a:r>
                    </a:p>
                  </a:txBody>
                  <a:tcPr marL="114300" marR="114300" marT="76200" marB="76200" anchor="ctr">
                    <a:solidFill>
                      <a:srgbClr val="FFFFFF"/>
                    </a:solidFill>
                  </a:tcPr>
                </a:tc>
              </a:tr>
            </a:tbl>
          </a:graphicData>
        </a:graphic>
      </p:graphicFrame>
      <p:sp>
        <p:nvSpPr>
          <p:cNvPr id="8" name="">
            <a:extLst>
              <a:ext uri="{FF2B5EF4-FFF2-40B4-BE49-F238E27FC236}">
                <ns2:creationId id="{24AC5319-0AA6-4C5E-B03F-9D6C4D913CEF}"/>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A37981CB-E13A-4756-94C2-036143DF347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54154D0B-FC5D-4558-A74B-1C8A79DF67A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D100FF8F-0FCE-43B4-AFED-2BA064AD652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9BFF61A6-5695-4094-846B-218204A1530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081</a:t>
            </a:r>
          </a:p>
        </p:txBody>
      </p:sp>
    </p:spTree>
    <p:extLst>
      <p:ext uri="{BB962C8B-B14F-4D97-AF65-F5344CB8AC3E}">
        <ns4:creationId val="313964063"/>
      </p:ext>
    </p:extLst>
  </p:cSld>
</p:sld>
</file>

<file path=ppt/slides/slide8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9" name="">
            <a:extLst>
              <a:ext uri="{FF2B5EF4-FFF2-40B4-BE49-F238E27FC236}">
                <ns2:creationId id="{456010CA-85F0-4A36-BE62-3EC1DB8A8E2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887E94D0-E4DD-4196-9873-4437DFF83FF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새 기준의 영향의 예</a:t>
            </a:r>
          </a:p>
        </p:txBody>
      </p:sp>
      <p:sp>
        <p:nvSpPr>
          <p:cNvPr id="3" name="">
            <a:extLst>
              <a:ext uri="{FF2B5EF4-FFF2-40B4-BE49-F238E27FC236}">
                <ns2:creationId id="{6A4E1D35-6B77-45DB-8555-6A75B2CF024E}"/>
              </a:ext>
            </a:extLst>
          </p:cNvPr>
          <p:cNvSpPr>
            <a:spLocks noGrp="1"/>
          </p:cNvSpPr>
          <p:nvPr/>
        </p:nvSpPr>
        <p:spPr>
          <a:xfrm>
            <a:off x="685800" y="1704975"/>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호출 발췌: reviewed의 classify가 필요합니다.</a:t>
            </a:r>
          </a:p>
        </p:txBody>
      </p:sp>
      <p:sp>
        <p:nvSpPr>
          <p:cNvPr id="4" name="">
            <a:extLst>
              <a:ext uri="{FF2B5EF4-FFF2-40B4-BE49-F238E27FC236}">
                <ns2:creationId id="{FF5F31E3-C1F5-4ECA-A9B4-461F8099FEDF}"/>
              </a:ext>
            </a:extLst>
          </p:cNvPr>
          <p:cNvSpPr>
            <a:spLocks noGrp="1"/>
          </p:cNvSpPr>
          <p:nvPr/>
        </p:nvSpPr>
        <p:spPr>
          <a:xfrm>
            <a:off x="685800" y="2262188"/>
            <a:ext cx="6953250" cy="1274826"/>
          </a:xfrm>
          <a:prstGeom prst="rect">
            <a:avLst/>
          </a:prstGeom>
          <a:solidFill>
            <a:srgbClr val="F1F6F5"/>
          </a:solidFill>
          <a:ln w="0">
            <a:noFill/>
          </a:ln>
        </p:spPr>
      </p:sp>
      <p:sp>
        <p:nvSpPr>
          <p:cNvPr id="5" name="">
            <a:extLst>
              <a:ext uri="{FF2B5EF4-FFF2-40B4-BE49-F238E27FC236}">
                <ns2:creationId id="{63676F9D-3F9A-466E-9EFC-35C3F35A9F0C}"/>
              </a:ext>
            </a:extLst>
          </p:cNvPr>
          <p:cNvSpPr>
            <a:spLocks noGrp="1"/>
          </p:cNvSpPr>
          <p:nvPr/>
        </p:nvSpPr>
        <p:spPr>
          <a:xfrm>
            <a:off x="828675" y="242411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6" name="">
            <a:extLst>
              <a:ext uri="{FF2B5EF4-FFF2-40B4-BE49-F238E27FC236}">
                <ns2:creationId id="{3FE4A060-9848-43E9-A078-3B9D812A7457}"/>
              </a:ext>
            </a:extLst>
          </p:cNvPr>
          <p:cNvSpPr>
            <a:spLocks noGrp="1"/>
          </p:cNvSpPr>
          <p:nvPr/>
        </p:nvSpPr>
        <p:spPr>
          <a:xfrm>
            <a:off x="1276350" y="2386013"/>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classify(28)</a:t>
            </a:r>
          </a:p>
        </p:txBody>
      </p:sp>
      <p:sp>
        <p:nvSpPr>
          <p:cNvPr id="7" name="">
            <a:extLst>
              <a:ext uri="{FF2B5EF4-FFF2-40B4-BE49-F238E27FC236}">
                <ns2:creationId id="{BF673038-CD69-4DE5-8267-5F1893BB310A}"/>
              </a:ext>
            </a:extLst>
          </p:cNvPr>
          <p:cNvSpPr>
            <a:spLocks noGrp="1"/>
          </p:cNvSpPr>
          <p:nvPr/>
        </p:nvSpPr>
        <p:spPr>
          <a:xfrm>
            <a:off x="828675" y="2741104"/>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8" name="">
            <a:extLst>
              <a:ext uri="{FF2B5EF4-FFF2-40B4-BE49-F238E27FC236}">
                <ns2:creationId id="{04DACF6E-9763-41F5-BA44-46BD2FEAE12B}"/>
              </a:ext>
            </a:extLst>
          </p:cNvPr>
          <p:cNvSpPr>
            <a:spLocks noGrp="1"/>
          </p:cNvSpPr>
          <p:nvPr/>
        </p:nvSpPr>
        <p:spPr>
          <a:xfrm>
            <a:off x="1276350" y="2703004"/>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classify(29.9, threshold=30)</a:t>
            </a:r>
          </a:p>
        </p:txBody>
      </p:sp>
      <p:sp>
        <p:nvSpPr>
          <p:cNvPr id="9" name="">
            <a:extLst>
              <a:ext uri="{FF2B5EF4-FFF2-40B4-BE49-F238E27FC236}">
                <ns2:creationId id="{86A7DB3D-3A44-4DDE-B5BC-896744676BA0}"/>
              </a:ext>
            </a:extLst>
          </p:cNvPr>
          <p:cNvSpPr>
            <a:spLocks noGrp="1"/>
          </p:cNvSpPr>
          <p:nvPr/>
        </p:nvSpPr>
        <p:spPr>
          <a:xfrm>
            <a:off x="828675" y="305809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0" name="">
            <a:extLst>
              <a:ext uri="{FF2B5EF4-FFF2-40B4-BE49-F238E27FC236}">
                <ns2:creationId id="{F820E54E-0B83-4928-BF36-1B8ADAD41A54}"/>
              </a:ext>
            </a:extLst>
          </p:cNvPr>
          <p:cNvSpPr>
            <a:spLocks noGrp="1"/>
          </p:cNvSpPr>
          <p:nvPr/>
        </p:nvSpPr>
        <p:spPr>
          <a:xfrm>
            <a:off x="1276350" y="3019997"/>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classify(30, threshold=30)</a:t>
            </a:r>
          </a:p>
        </p:txBody>
      </p:sp>
      <p:sp>
        <p:nvSpPr>
          <p:cNvPr id="11" name="">
            <a:extLst>
              <a:ext uri="{FF2B5EF4-FFF2-40B4-BE49-F238E27FC236}">
                <ns2:creationId id="{863B1954-9895-4430-A98F-2DE3CFEAABA0}"/>
              </a:ext>
            </a:extLst>
          </p:cNvPr>
          <p:cNvSpPr>
            <a:spLocks noGrp="1"/>
          </p:cNvSpPr>
          <p:nvPr/>
        </p:nvSpPr>
        <p:spPr>
          <a:xfrm>
            <a:off x="8143875" y="2281238"/>
            <a:ext cx="3333750" cy="4095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실행 결과</a:t>
            </a:r>
          </a:p>
        </p:txBody>
      </p:sp>
      <p:sp>
        <p:nvSpPr>
          <p:cNvPr id="12" name="">
            <a:extLst>
              <a:ext uri="{FF2B5EF4-FFF2-40B4-BE49-F238E27FC236}">
                <ns2:creationId id="{ECD713C1-6D17-4158-8CF0-DDBB962CD894}"/>
              </a:ext>
            </a:extLst>
          </p:cNvPr>
          <p:cNvSpPr>
            <a:spLocks noGrp="1"/>
          </p:cNvSpPr>
          <p:nvPr/>
        </p:nvSpPr>
        <p:spPr>
          <a:xfrm>
            <a:off x="8143875" y="2862263"/>
            <a:ext cx="3333750" cy="417767"/>
          </a:xfrm>
          <a:prstGeom prst="rect">
            <a:avLst/>
          </a:prstGeom>
          <a:noFill/>
          <a:ln w="0">
            <a:noFill/>
          </a:ln>
        </p:spPr>
        <p:txBody>
          <a:bodyPr wrap="square" lIns="0" tIns="0" rIns="0" bIns="0">
            <a:noAutofit/>
          </a:bodyPr>
          <a:lstStyle/>
          <a:p>
            <a:pPr>
              <a:defRPr sz="2025" b="0">
                <a:solidFill>
                  <a:srgbClr val="172F39"/>
                </a:solidFill>
                <a:latin typeface="Noto Sans KR"/>
                <a:ea typeface="Noto Sans KR"/>
                <a:cs typeface="Noto Sans KR"/>
              </a:defRPr>
            </a:pPr>
            <a:r>
              <a:t>기본 28은 주의입니다.</a:t>
            </a:r>
          </a:p>
        </p:txBody>
      </p:sp>
      <p:sp>
        <p:nvSpPr>
          <p:cNvPr id="13" name="">
            <a:extLst>
              <a:ext uri="{FF2B5EF4-FFF2-40B4-BE49-F238E27FC236}">
                <ns2:creationId id="{5719742F-C7DC-4D1F-8026-B9B6FABDC3BE}"/>
              </a:ext>
            </a:extLst>
          </p:cNvPr>
          <p:cNvSpPr>
            <a:spLocks noGrp="1"/>
          </p:cNvSpPr>
          <p:nvPr/>
        </p:nvSpPr>
        <p:spPr>
          <a:xfrm>
            <a:off x="8143875" y="3327654"/>
            <a:ext cx="3333750" cy="721233"/>
          </a:xfrm>
          <a:prstGeom prst="rect">
            <a:avLst/>
          </a:prstGeom>
          <a:noFill/>
          <a:ln w="0">
            <a:noFill/>
          </a:ln>
        </p:spPr>
        <p:txBody>
          <a:bodyPr wrap="square" lIns="0" tIns="0" rIns="0" bIns="0">
            <a:noAutofit/>
          </a:bodyPr>
          <a:lstStyle/>
          <a:p>
            <a:pPr>
              <a:defRPr sz="2025" b="0">
                <a:solidFill>
                  <a:srgbClr val="172F39"/>
                </a:solidFill>
                <a:latin typeface="Noto Sans KR"/>
                <a:ea typeface="Noto Sans KR"/>
                <a:cs typeface="Noto Sans KR"/>
              </a:defRPr>
            </a:pPr>
            <a:r>
              <a:t>기준 30에서 29.9는 정상, 30은 주의입니다.</a:t>
            </a:r>
          </a:p>
        </p:txBody>
      </p:sp>
      <p:sp>
        <p:nvSpPr>
          <p:cNvPr id="14" name="">
            <a:extLst>
              <a:ext uri="{FF2B5EF4-FFF2-40B4-BE49-F238E27FC236}">
                <ns2:creationId id="{D87A5215-B22A-49AB-B86F-7C2C63850E5F}"/>
              </a:ext>
            </a:extLst>
          </p:cNvPr>
          <p:cNvSpPr>
            <a:spLocks noGrp="1"/>
          </p:cNvSpPr>
          <p:nvPr/>
        </p:nvSpPr>
        <p:spPr>
          <a:xfrm>
            <a:off x="685800" y="6172200"/>
            <a:ext cx="10820400" cy="9525"/>
          </a:xfrm>
          <a:prstGeom prst="rect">
            <a:avLst/>
          </a:prstGeom>
          <a:solidFill>
            <a:srgbClr val="D5DEDD"/>
          </a:solidFill>
          <a:ln w="0">
            <a:noFill/>
          </a:ln>
        </p:spPr>
      </p:sp>
      <p:sp>
        <p:nvSpPr>
          <p:cNvPr id="15" name="">
            <a:extLst>
              <a:ext uri="{FF2B5EF4-FFF2-40B4-BE49-F238E27FC236}">
                <ns2:creationId id="{59D68D96-2DC4-477E-9B87-9DCB2F5DB50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6" name="">
            <a:extLst>
              <a:ext uri="{FF2B5EF4-FFF2-40B4-BE49-F238E27FC236}">
                <ns2:creationId id="{6A48DEFE-8D42-43B1-A0A7-DE5F3F448BE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7" name="">
            <a:extLst>
              <a:ext uri="{FF2B5EF4-FFF2-40B4-BE49-F238E27FC236}">
                <ns2:creationId id="{A9182A9D-E621-49FD-AA4F-006900D6D41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8" name="">
            <a:extLst>
              <a:ext uri="{FF2B5EF4-FFF2-40B4-BE49-F238E27FC236}">
                <ns2:creationId id="{B01445B2-4D19-40FB-A022-F110DC6F400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082</a:t>
            </a:r>
          </a:p>
        </p:txBody>
      </p:sp>
    </p:spTree>
    <p:extLst>
      <p:ext uri="{BB962C8B-B14F-4D97-AF65-F5344CB8AC3E}">
        <ns4:creationId val="1440235176"/>
      </p:ext>
    </p:extLst>
  </p:cSld>
</p:sld>
</file>

<file path=ppt/slides/slide8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0" name="">
            <a:extLst>
              <a:ext uri="{FF2B5EF4-FFF2-40B4-BE49-F238E27FC236}">
                <ns2:creationId id="{CC15775E-861F-4BA6-8B07-65A7D5C1F01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AB135345-FBEF-4A9D-8584-32EEA7A77C6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호출할 때 기준을 바꾸기</a:t>
            </a:r>
          </a:p>
        </p:txBody>
      </p:sp>
      <p:sp>
        <p:nvSpPr>
          <p:cNvPr id="3" name="">
            <a:extLst>
              <a:ext uri="{FF2B5EF4-FFF2-40B4-BE49-F238E27FC236}">
                <ns2:creationId id="{0D7742B3-E759-4E43-B19A-2049DEF279C6}"/>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D2498562-1D56-4162-A866-E9302FE7B19C}"/>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첫 인수는 분류할 온도입니다.</a:t>
            </a:r>
          </a:p>
        </p:txBody>
      </p:sp>
      <p:sp>
        <p:nvSpPr>
          <p:cNvPr id="5" name="">
            <a:extLst>
              <a:ext uri="{FF2B5EF4-FFF2-40B4-BE49-F238E27FC236}">
                <ns2:creationId id="{BE22F9DD-1561-4E79-9B00-D45BACECF59D}"/>
              </a:ext>
            </a:extLst>
          </p:cNvPr>
          <p:cNvSpPr>
            <a:spLocks noGrp="1"/>
          </p:cNvSpPr>
          <p:nvPr/>
        </p:nvSpPr>
        <p:spPr>
          <a:xfrm>
            <a:off x="685800" y="286131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threshold=30은 이번 호출의 기준입니다.</a:t>
            </a:r>
          </a:p>
        </p:txBody>
      </p:sp>
      <p:sp>
        <p:nvSpPr>
          <p:cNvPr id="6" name="">
            <a:extLst>
              <a:ext uri="{FF2B5EF4-FFF2-40B4-BE49-F238E27FC236}">
                <ns2:creationId id="{68BBAECF-4FD2-49B2-89D9-7F40A032AD39}"/>
              </a:ext>
            </a:extLst>
          </p:cNvPr>
          <p:cNvSpPr>
            <a:spLocks noGrp="1"/>
          </p:cNvSpPr>
          <p:nvPr/>
        </p:nvSpPr>
        <p:spPr>
          <a:xfrm>
            <a:off x="685800" y="369760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인수를 생략하면 기본 기준 28을 씁니다.</a:t>
            </a:r>
          </a:p>
        </p:txBody>
      </p:sp>
      <p:sp>
        <p:nvSpPr>
          <p:cNvPr id="7" name="">
            <a:extLst>
              <a:ext uri="{FF2B5EF4-FFF2-40B4-BE49-F238E27FC236}">
                <ns2:creationId id="{2AF79C91-DCEF-495A-B940-70ED370A52ED}"/>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82장의 실제 예제 다시 읽기</a:t>
            </a:r>
          </a:p>
        </p:txBody>
      </p:sp>
      <p:sp>
        <p:nvSpPr>
          <p:cNvPr id="8" name="">
            <a:extLst>
              <a:ext uri="{FF2B5EF4-FFF2-40B4-BE49-F238E27FC236}">
                <ns2:creationId id="{425D0BA5-9448-4694-8934-E195C89DBFF9}"/>
              </a:ext>
            </a:extLst>
          </p:cNvPr>
          <p:cNvSpPr>
            <a:spLocks noGrp="1"/>
          </p:cNvSpPr>
          <p:nvPr/>
        </p:nvSpPr>
        <p:spPr>
          <a:xfrm>
            <a:off x="6267450" y="2628900"/>
            <a:ext cx="5238750" cy="1201674"/>
          </a:xfrm>
          <a:prstGeom prst="rect">
            <a:avLst/>
          </a:prstGeom>
          <a:solidFill>
            <a:srgbClr val="F1F6F5"/>
          </a:solidFill>
          <a:ln w="0">
            <a:noFill/>
          </a:ln>
        </p:spPr>
      </p:sp>
      <p:sp>
        <p:nvSpPr>
          <p:cNvPr id="9" name="">
            <a:extLst>
              <a:ext uri="{FF2B5EF4-FFF2-40B4-BE49-F238E27FC236}">
                <ns2:creationId id="{2EDA385B-8FC2-403B-8028-6BADCD86F484}"/>
              </a:ext>
            </a:extLst>
          </p:cNvPr>
          <p:cNvSpPr>
            <a:spLocks noGrp="1"/>
          </p:cNvSpPr>
          <p:nvPr/>
        </p:nvSpPr>
        <p:spPr>
          <a:xfrm>
            <a:off x="6410325" y="279082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10" name="">
            <a:extLst>
              <a:ext uri="{FF2B5EF4-FFF2-40B4-BE49-F238E27FC236}">
                <ns2:creationId id="{9238F60A-97D9-4127-98F2-9EFBC7620492}"/>
              </a:ext>
            </a:extLst>
          </p:cNvPr>
          <p:cNvSpPr>
            <a:spLocks noGrp="1"/>
          </p:cNvSpPr>
          <p:nvPr/>
        </p:nvSpPr>
        <p:spPr>
          <a:xfrm>
            <a:off x="6858000" y="275272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classify(28)</a:t>
            </a:r>
          </a:p>
        </p:txBody>
      </p:sp>
      <p:sp>
        <p:nvSpPr>
          <p:cNvPr id="11" name="">
            <a:extLst>
              <a:ext uri="{FF2B5EF4-FFF2-40B4-BE49-F238E27FC236}">
                <ns2:creationId id="{EF4DD233-E4DB-4CD9-8D14-64FABC3B3BC8}"/>
              </a:ext>
            </a:extLst>
          </p:cNvPr>
          <p:cNvSpPr>
            <a:spLocks noGrp="1"/>
          </p:cNvSpPr>
          <p:nvPr/>
        </p:nvSpPr>
        <p:spPr>
          <a:xfrm>
            <a:off x="6410325" y="308343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12" name="">
            <a:extLst>
              <a:ext uri="{FF2B5EF4-FFF2-40B4-BE49-F238E27FC236}">
                <ns2:creationId id="{43A65FB9-4CB7-442F-AC46-FBE2774DCAA5}"/>
              </a:ext>
            </a:extLst>
          </p:cNvPr>
          <p:cNvSpPr>
            <a:spLocks noGrp="1"/>
          </p:cNvSpPr>
          <p:nvPr/>
        </p:nvSpPr>
        <p:spPr>
          <a:xfrm>
            <a:off x="6858000" y="304533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classify(29.9, threshold=30)</a:t>
            </a:r>
          </a:p>
        </p:txBody>
      </p:sp>
      <p:sp>
        <p:nvSpPr>
          <p:cNvPr id="13" name="">
            <a:extLst>
              <a:ext uri="{FF2B5EF4-FFF2-40B4-BE49-F238E27FC236}">
                <ns2:creationId id="{37D7AAE5-1A16-484B-82D8-EF40D59E9F36}"/>
              </a:ext>
            </a:extLst>
          </p:cNvPr>
          <p:cNvSpPr>
            <a:spLocks noGrp="1"/>
          </p:cNvSpPr>
          <p:nvPr/>
        </p:nvSpPr>
        <p:spPr>
          <a:xfrm>
            <a:off x="6410325" y="3376041"/>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4" name="">
            <a:extLst>
              <a:ext uri="{FF2B5EF4-FFF2-40B4-BE49-F238E27FC236}">
                <ns2:creationId id="{91F10F5F-B9F4-43FD-9A0D-4CE22CABFFE7}"/>
              </a:ext>
            </a:extLst>
          </p:cNvPr>
          <p:cNvSpPr>
            <a:spLocks noGrp="1"/>
          </p:cNvSpPr>
          <p:nvPr/>
        </p:nvSpPr>
        <p:spPr>
          <a:xfrm>
            <a:off x="6858000" y="3337941"/>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classify(30, threshold=30)</a:t>
            </a:r>
          </a:p>
        </p:txBody>
      </p:sp>
      <p:sp>
        <p:nvSpPr>
          <p:cNvPr id="15" name="">
            <a:extLst>
              <a:ext uri="{FF2B5EF4-FFF2-40B4-BE49-F238E27FC236}">
                <ns2:creationId id="{9B5D9128-DE74-4AB2-BE8F-1B4FC2A354F3}"/>
              </a:ext>
            </a:extLst>
          </p:cNvPr>
          <p:cNvSpPr>
            <a:spLocks noGrp="1"/>
          </p:cNvSpPr>
          <p:nvPr/>
        </p:nvSpPr>
        <p:spPr>
          <a:xfrm>
            <a:off x="685800" y="6172200"/>
            <a:ext cx="10820400" cy="9525"/>
          </a:xfrm>
          <a:prstGeom prst="rect">
            <a:avLst/>
          </a:prstGeom>
          <a:solidFill>
            <a:srgbClr val="D5DEDD"/>
          </a:solidFill>
          <a:ln w="0">
            <a:noFill/>
          </a:ln>
        </p:spPr>
      </p:sp>
      <p:sp>
        <p:nvSpPr>
          <p:cNvPr id="16" name="">
            <a:extLst>
              <a:ext uri="{FF2B5EF4-FFF2-40B4-BE49-F238E27FC236}">
                <ns2:creationId id="{66E4334C-4B13-4C1B-AA46-B06DEFFDD77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7" name="">
            <a:extLst>
              <a:ext uri="{FF2B5EF4-FFF2-40B4-BE49-F238E27FC236}">
                <ns2:creationId id="{89A208BD-BA7A-4AA9-944C-01792B44718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8" name="">
            <a:extLst>
              <a:ext uri="{FF2B5EF4-FFF2-40B4-BE49-F238E27FC236}">
                <ns2:creationId id="{5D4F3090-CBCF-4C19-8DF6-E1DF217183D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9" name="">
            <a:extLst>
              <a:ext uri="{FF2B5EF4-FFF2-40B4-BE49-F238E27FC236}">
                <ns2:creationId id="{43D5DF1D-FE2E-4BEB-AE0C-E9168F15CFA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083</a:t>
            </a:r>
          </a:p>
        </p:txBody>
      </p:sp>
    </p:spTree>
    <p:extLst>
      <p:ext uri="{BB962C8B-B14F-4D97-AF65-F5344CB8AC3E}">
        <ns4:creationId val="334251944"/>
      </p:ext>
    </p:extLst>
  </p:cSld>
</p:sld>
</file>

<file path=ppt/slides/slide8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04228073-6336-40E7-8620-7F71F0C89A3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7B795B95-3BB4-4899-A94A-C593BAABA58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새 호출의 기대</a:t>
            </a:r>
          </a:p>
        </p:txBody>
      </p:sp>
      <p:sp>
        <p:nvSpPr>
          <p:cNvPr id="3" name="">
            <a:extLst>
              <a:ext uri="{FF2B5EF4-FFF2-40B4-BE49-F238E27FC236}">
                <ns2:creationId id="{0E576CEF-6655-463A-8975-A8F323B5CCBD}"/>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기본 기준 28</a:t>
            </a:r>
          </a:p>
        </p:txBody>
      </p:sp>
      <p:sp>
        <p:nvSpPr>
          <p:cNvPr id="4" name="">
            <a:extLst>
              <a:ext uri="{FF2B5EF4-FFF2-40B4-BE49-F238E27FC236}">
                <ns2:creationId id="{CA49C3D0-10C4-4119-8E80-46F81A82AD28}"/>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기본 28은 주의입니다.</a:t>
            </a:r>
          </a:p>
        </p:txBody>
      </p:sp>
      <p:sp>
        <p:nvSpPr>
          <p:cNvPr id="5" name="">
            <a:extLst>
              <a:ext uri="{FF2B5EF4-FFF2-40B4-BE49-F238E27FC236}">
                <ns2:creationId id="{BC546A7E-BC16-4E51-9FF0-09330BFA04C9}"/>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이번 기준 30</a:t>
            </a:r>
          </a:p>
        </p:txBody>
      </p:sp>
      <p:sp>
        <p:nvSpPr>
          <p:cNvPr id="6" name="">
            <a:extLst>
              <a:ext uri="{FF2B5EF4-FFF2-40B4-BE49-F238E27FC236}">
                <ns2:creationId id="{4ED7B1F6-E880-4CB3-81FE-55EEF74F9781}"/>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기준 30에서 29.9는 정상, 30은 주의입니다.</a:t>
            </a:r>
          </a:p>
        </p:txBody>
      </p:sp>
      <p:sp>
        <p:nvSpPr>
          <p:cNvPr id="7" name="">
            <a:extLst>
              <a:ext uri="{FF2B5EF4-FFF2-40B4-BE49-F238E27FC236}">
                <ns2:creationId id="{B3ABECAF-9C8B-4936-9E5F-54EC3DE61A90}"/>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24E06977-E0DB-4D7E-8D16-38F4F0B5276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ECC75250-DA2A-4040-84BF-1E6D1E716B6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D96ED549-D36D-4D7D-81AF-72B4B7C9DF7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48506B43-82F6-4D1E-8A44-EF552DBFEB6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084</a:t>
            </a:r>
          </a:p>
        </p:txBody>
      </p:sp>
    </p:spTree>
    <p:extLst>
      <p:ext uri="{BB962C8B-B14F-4D97-AF65-F5344CB8AC3E}">
        <ns4:creationId val="2121163375"/>
      </p:ext>
    </p:extLst>
  </p:cSld>
</p:sld>
</file>

<file path=ppt/slides/slide8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59B06855-730C-48DB-96C5-9C7354FE1DB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B5C3E99D-A526-4BE4-8C2B-B0E25D7DEC2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기본값과 인수</a:t>
            </a:r>
          </a:p>
        </p:txBody>
      </p:sp>
      <p:sp>
        <p:nvSpPr>
          <p:cNvPr id="3" name="">
            <a:extLst>
              <a:ext uri="{FF2B5EF4-FFF2-40B4-BE49-F238E27FC236}">
                <ns2:creationId id="{863FF1FF-AB67-4609-ACDB-AF93E10713C0}"/>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특정 장소만 바꾸는 요청과 전체 변경은?</a:t>
            </a:r>
          </a:p>
        </p:txBody>
      </p:sp>
      <p:sp>
        <p:nvSpPr>
          <p:cNvPr id="4" name="">
            <a:extLst>
              <a:ext uri="{FF2B5EF4-FFF2-40B4-BE49-F238E27FC236}">
                <ns2:creationId id="{E021E810-083E-4706-8211-A60855C21484}"/>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영향 받을 호출을 구별해 보세요.</a:t>
            </a:r>
          </a:p>
        </p:txBody>
      </p:sp>
      <p:sp>
        <p:nvSpPr>
          <p:cNvPr id="5" name="">
            <a:extLst>
              <a:ext uri="{FF2B5EF4-FFF2-40B4-BE49-F238E27FC236}">
                <ns2:creationId id="{FA3960C7-98AD-4898-8339-1DFA6D6A5838}"/>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6" name="">
            <a:extLst>
              <a:ext uri="{FF2B5EF4-FFF2-40B4-BE49-F238E27FC236}">
                <ns2:creationId id="{8C275EC1-B2EF-48F4-9987-CF597A7E5C22}"/>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0468048D-B485-4730-A53E-6E22CFA4AB0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FD618E3E-DE36-4E5A-953D-1D3DE50CB70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B84F917B-F571-4E87-AAE2-5DD4308C438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C4BC3971-AB84-4E43-98FC-3EA86B88B5F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085</a:t>
            </a:r>
          </a:p>
        </p:txBody>
      </p:sp>
    </p:spTree>
    <p:extLst>
      <p:ext uri="{BB962C8B-B14F-4D97-AF65-F5344CB8AC3E}">
        <ns4:creationId val="1154837074"/>
      </p:ext>
    </p:extLst>
  </p:cSld>
</p:sld>
</file>

<file path=ppt/slides/slide8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2EE6DCE3-895A-423B-98EB-38885B7BDDB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F13BC7B6-54FF-4AF7-8BED-C2CF74C1557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A17  동료에게 수정 내용을 설명하기</a:t>
            </a:r>
          </a:p>
        </p:txBody>
      </p:sp>
      <p:sp>
        <p:nvSpPr>
          <p:cNvPr id="3" name="">
            <a:extLst>
              <a:ext uri="{FF2B5EF4-FFF2-40B4-BE49-F238E27FC236}">
                <ns2:creationId id="{4056360B-1386-41DA-81A6-A65BDECEBA6D}"/>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16D335EF-4FB2-46EE-B0C1-13F8C2A2C6D8}"/>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요청을 지키려고 어느 줄을 고쳤는지 말합니다.</a:t>
            </a:r>
          </a:p>
        </p:txBody>
      </p:sp>
      <p:sp>
        <p:nvSpPr>
          <p:cNvPr id="5" name="">
            <a:extLst>
              <a:ext uri="{FF2B5EF4-FFF2-40B4-BE49-F238E27FC236}">
                <ns2:creationId id="{AFDF9878-A7B0-4BFA-B7B4-4026B52B26EE}"/>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동료가 같은 입력으로 다시 시험해 봅니다.</a:t>
            </a:r>
          </a:p>
        </p:txBody>
      </p:sp>
      <p:sp>
        <p:nvSpPr>
          <p:cNvPr id="6" name="">
            <a:extLst>
              <a:ext uri="{FF2B5EF4-FFF2-40B4-BE49-F238E27FC236}">
                <ns2:creationId id="{6545E3A1-C481-40D6-9301-BA746771940B}"/>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요구와 바꾼 줄</a:t>
            </a:r>
          </a:p>
        </p:txBody>
      </p:sp>
      <p:graphicFrame>
        <p:nvGraphicFramePr>
          <p:cNvPr id="19" name=""/>
          <p:cNvGraphicFramePr/>
          <p:nvPr/>
        </p:nvGraphicFramePr>
        <p:xfrm>
          <a:off x="6267450" y="2628900"/>
          <a:ext cx="5238750" cy="1543050"/>
        </p:xfrm>
        <a:graphic>
          <a:graphicData uri="http://schemas.openxmlformats.org/drawingml/2006/table">
            <a:tbl>
              <a:tblPr firstRow="1" bandRow="0"/>
              <a:tblGrid>
                <a:gridCol w="1704228"/>
                <a:gridCol w="1769596"/>
                <a:gridCol w="1764926"/>
              </a:tblGrid>
              <a:tr h="514350">
                <a:tc>
                  <a:txBody>
                    <a:bodyPr wrap="square"/>
                    <a:lstStyle/>
                    <a:p>
                      <a:pPr>
                        <a:lnSpc>
                          <a:spcPct val="102000"/>
                        </a:lnSpc>
                        <a:buNone/>
                      </a:pPr>
                      <a:r>
                        <a:rPr sz="1875" b="1">
                          <a:solidFill>
                            <a:srgbClr val="172F39"/>
                          </a:solidFill>
                          <a:latin typeface="Noto Sans KR"/>
                          <a:ea typeface="Noto Sans KR"/>
                          <a:cs typeface="Noto Sans KR"/>
                        </a:rPr>
                        <a:t>요구</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코드</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검사</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누락 구별</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None 처리</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missing</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28 이상</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&gt;= 조건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boundary</a:t>
                      </a:r>
                    </a:p>
                  </a:txBody>
                  <a:tcPr marL="114300" marR="114300" marT="76200" marB="76200" anchor="ctr">
                    <a:solidFill>
                      <a:srgbClr val="FFFFFF"/>
                    </a:solidFill>
                  </a:tcPr>
                </a:tc>
              </a:tr>
            </a:tbl>
          </a:graphicData>
        </a:graphic>
      </p:graphicFrame>
      <p:sp>
        <p:nvSpPr>
          <p:cNvPr id="8" name="">
            <a:extLst>
              <a:ext uri="{FF2B5EF4-FFF2-40B4-BE49-F238E27FC236}">
                <ns2:creationId id="{31478E7C-1F84-494A-9629-F64ED0CA7521}"/>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4842F1F3-A68C-4710-AC3A-93DDABA2A95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2B526E53-DF78-407B-A9DF-92A83690EB9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C8E1102F-BACF-4594-ABC0-0ADFF915B1F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95695302-E7CD-449F-8DC9-71B2237B244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086</a:t>
            </a:r>
          </a:p>
        </p:txBody>
      </p:sp>
    </p:spTree>
    <p:extLst>
      <p:ext uri="{BB962C8B-B14F-4D97-AF65-F5344CB8AC3E}">
        <ns4:creationId val="1636401845"/>
      </p:ext>
    </p:extLst>
  </p:cSld>
</p:sld>
</file>

<file path=ppt/slides/slide8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825FEB3E-A43E-4E18-8DE9-F975E8BA6E2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88C6EFB9-C54E-4122-904B-0E2555A9E88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동료에게 변경 설명의 예</a:t>
            </a:r>
          </a:p>
        </p:txBody>
      </p:sp>
      <p:graphicFrame>
        <p:nvGraphicFramePr>
          <p:cNvPr id="12" name=""/>
          <p:cNvGraphicFramePr/>
          <p:nvPr/>
        </p:nvGraphicFramePr>
        <p:xfrm>
          <a:off x="685800" y="1809750"/>
          <a:ext cx="10820400" cy="1609344"/>
        </p:xfrm>
        <a:graphic>
          <a:graphicData uri="http://schemas.openxmlformats.org/drawingml/2006/table">
            <a:tbl>
              <a:tblPr firstRow="1" bandRow="0"/>
              <a:tblGrid>
                <a:gridCol w="3192762"/>
                <a:gridCol w="3315224"/>
                <a:gridCol w="4312415"/>
              </a:tblGrid>
              <a:tr h="536448">
                <a:tc>
                  <a:txBody>
                    <a:bodyPr wrap="square"/>
                    <a:lstStyle/>
                    <a:p>
                      <a:pPr>
                        <a:lnSpc>
                          <a:spcPct val="102000"/>
                        </a:lnSpc>
                        <a:buNone/>
                      </a:pPr>
                      <a:r>
                        <a:rPr sz="2025" b="1">
                          <a:solidFill>
                            <a:srgbClr val="172F39"/>
                          </a:solidFill>
                          <a:latin typeface="Noto Sans KR"/>
                          <a:ea typeface="Noto Sans KR"/>
                          <a:cs typeface="Noto Sans KR"/>
                        </a:rPr>
                        <a:t>요구</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코드</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검사</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누락 구별</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None 처리</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missing 사례</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28 이상</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&gt;= 조건</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boundary 사례</a:t>
                      </a:r>
                    </a:p>
                  </a:txBody>
                  <a:tcPr marL="114300" marR="114300" marT="76200" marB="76200" anchor="ctr">
                    <a:solidFill>
                      <a:srgbClr val="FFFFFF"/>
                    </a:solidFill>
                  </a:tcPr>
                </a:tc>
              </a:tr>
            </a:tbl>
          </a:graphicData>
        </a:graphic>
      </p:graphicFrame>
      <p:sp>
        <p:nvSpPr>
          <p:cNvPr id="4" name="">
            <a:extLst>
              <a:ext uri="{FF2B5EF4-FFF2-40B4-BE49-F238E27FC236}">
                <ns2:creationId id="{E5C8AF90-4E64-4F0F-A353-629208C35842}"/>
              </a:ext>
            </a:extLst>
          </p:cNvPr>
          <p:cNvSpPr>
            <a:spLocks noGrp="1"/>
          </p:cNvSpPr>
          <p:nvPr/>
        </p:nvSpPr>
        <p:spPr>
          <a:xfrm>
            <a:off x="685800" y="3647694"/>
            <a:ext cx="10820400" cy="395288"/>
          </a:xfrm>
          <a:prstGeom prst="rect">
            <a:avLst/>
          </a:prstGeom>
          <a:noFill/>
          <a:ln w="0">
            <a:noFill/>
          </a:ln>
        </p:spPr>
        <p:txBody>
          <a:bodyPr wrap="square" lIns="0" tIns="0" rIns="0" bIns="0">
            <a:noAutofit/>
          </a:bodyPr>
          <a:lstStyle/>
          <a:p>
            <a:pPr>
              <a:defRPr sz="1875" b="1">
                <a:solidFill>
                  <a:srgbClr val="08786F"/>
                </a:solidFill>
                <a:latin typeface="Noto Sans KR"/>
                <a:ea typeface="Noto Sans KR"/>
                <a:cs typeface="Noto Sans KR"/>
              </a:defRPr>
            </a:pPr>
            <a:r>
              <a:t>동료 코드를 덮어쓰기 전에 바뀐 줄을 읽습니다.</a:t>
            </a:r>
          </a:p>
        </p:txBody>
      </p:sp>
      <p:sp>
        <p:nvSpPr>
          <p:cNvPr id="5" name="">
            <a:extLst>
              <a:ext uri="{FF2B5EF4-FFF2-40B4-BE49-F238E27FC236}">
                <ns2:creationId id="{673BCEB6-FDE7-4988-8B7D-DE38332B8DC2}"/>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0E25F5E2-CD87-4241-9292-95F2AD981C8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7E77B451-CF0F-4B9D-91A5-E7AACD07214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150A1C7B-0053-4CB6-8A80-36F35AC9363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30E78BC3-78AD-43DF-B318-2C7A4032803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087</a:t>
            </a:r>
          </a:p>
        </p:txBody>
      </p:sp>
    </p:spTree>
    <p:extLst>
      <p:ext uri="{BB962C8B-B14F-4D97-AF65-F5344CB8AC3E}">
        <ns4:creationId val="996470843"/>
      </p:ext>
    </p:extLst>
  </p:cSld>
</p:sld>
</file>

<file path=ppt/slides/slide8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57508BCB-EFF7-40DA-9819-441246693A6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072A3F9E-16B2-4F52-8EAB-C3131C6FF87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동료가 다시 실행하려면</a:t>
            </a:r>
          </a:p>
        </p:txBody>
      </p:sp>
      <p:sp>
        <p:nvSpPr>
          <p:cNvPr id="3" name="">
            <a:extLst>
              <a:ext uri="{FF2B5EF4-FFF2-40B4-BE49-F238E27FC236}">
                <ns2:creationId id="{694127BE-03E2-4DE3-99CE-BCDE2869AA7C}"/>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명령·입력</a:t>
            </a:r>
          </a:p>
        </p:txBody>
      </p:sp>
      <p:sp>
        <p:nvSpPr>
          <p:cNvPr id="4" name="">
            <a:extLst>
              <a:ext uri="{FF2B5EF4-FFF2-40B4-BE49-F238E27FC236}">
                <ns2:creationId id="{6EC516D9-11EF-42ED-914B-41217FE59F90}"/>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파일 위치와 실행할 명령을 적어 줍니다.</a:t>
            </a:r>
          </a:p>
        </p:txBody>
      </p:sp>
      <p:sp>
        <p:nvSpPr>
          <p:cNvPr id="5" name="">
            <a:extLst>
              <a:ext uri="{FF2B5EF4-FFF2-40B4-BE49-F238E27FC236}">
                <ns2:creationId id="{1C33B50E-10B4-4400-94ED-6AE7CCCA3F2E}"/>
              </a:ext>
            </a:extLst>
          </p:cNvPr>
          <p:cNvSpPr>
            <a:spLocks noGrp="1"/>
          </p:cNvSpPr>
          <p:nvPr/>
        </p:nvSpPr>
        <p:spPr>
          <a:xfrm>
            <a:off x="685800" y="31984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설명이 빠진 곳은 동료에게 물어봅니다.</a:t>
            </a:r>
          </a:p>
        </p:txBody>
      </p:sp>
      <p:sp>
        <p:nvSpPr>
          <p:cNvPr id="6" name="">
            <a:extLst>
              <a:ext uri="{FF2B5EF4-FFF2-40B4-BE49-F238E27FC236}">
                <ns2:creationId id="{56CB377A-CC88-41CE-BA7A-D666397C54EE}"/>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요구와 바꾼 줄</a:t>
            </a:r>
          </a:p>
        </p:txBody>
      </p:sp>
      <p:graphicFrame>
        <p:nvGraphicFramePr>
          <p:cNvPr id="19" name=""/>
          <p:cNvGraphicFramePr/>
          <p:nvPr/>
        </p:nvGraphicFramePr>
        <p:xfrm>
          <a:off x="6267450" y="2628900"/>
          <a:ext cx="5238750" cy="1543050"/>
        </p:xfrm>
        <a:graphic>
          <a:graphicData uri="http://schemas.openxmlformats.org/drawingml/2006/table">
            <a:tbl>
              <a:tblPr firstRow="1" bandRow="0"/>
              <a:tblGrid>
                <a:gridCol w="1704228"/>
                <a:gridCol w="1769596"/>
                <a:gridCol w="1764926"/>
              </a:tblGrid>
              <a:tr h="514350">
                <a:tc>
                  <a:txBody>
                    <a:bodyPr wrap="square"/>
                    <a:lstStyle/>
                    <a:p>
                      <a:pPr>
                        <a:lnSpc>
                          <a:spcPct val="102000"/>
                        </a:lnSpc>
                        <a:buNone/>
                      </a:pPr>
                      <a:r>
                        <a:rPr sz="1875" b="1">
                          <a:solidFill>
                            <a:srgbClr val="172F39"/>
                          </a:solidFill>
                          <a:latin typeface="Noto Sans KR"/>
                          <a:ea typeface="Noto Sans KR"/>
                          <a:cs typeface="Noto Sans KR"/>
                        </a:rPr>
                        <a:t>요구</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코드</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검사</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누락 구별</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None 처리</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missing</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28 이상</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&gt;= 조건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boundary</a:t>
                      </a:r>
                    </a:p>
                  </a:txBody>
                  <a:tcPr marL="114300" marR="114300" marT="76200" marB="76200" anchor="ctr">
                    <a:solidFill>
                      <a:srgbClr val="FFFFFF"/>
                    </a:solidFill>
                  </a:tcPr>
                </a:tc>
              </a:tr>
            </a:tbl>
          </a:graphicData>
        </a:graphic>
      </p:graphicFrame>
      <p:sp>
        <p:nvSpPr>
          <p:cNvPr id="8" name="">
            <a:extLst>
              <a:ext uri="{FF2B5EF4-FFF2-40B4-BE49-F238E27FC236}">
                <ns2:creationId id="{6EEF01B4-7E8B-4485-9B35-8B2C3B1FD641}"/>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DED49811-C606-4B25-86C9-E9446EFA3AC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BB17395B-A2C0-4300-979E-82A735F883E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512973EC-6F07-42B0-A945-1C76261B425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9F18F9C8-72B9-4988-AE1E-DF4EDBEB4B6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088</a:t>
            </a:r>
          </a:p>
        </p:txBody>
      </p:sp>
    </p:spTree>
    <p:extLst>
      <p:ext uri="{BB962C8B-B14F-4D97-AF65-F5344CB8AC3E}">
        <ns4:creationId val="928383195"/>
      </p:ext>
    </p:extLst>
  </p:cSld>
</p:sld>
</file>

<file path=ppt/slides/slide8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59205C62-0446-4FDF-BEE7-1171E1BCA3B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82382723-9FFB-4C64-B7C2-3E0BAA4B1D8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한 줄 인계 보완</a:t>
            </a:r>
          </a:p>
        </p:txBody>
      </p:sp>
      <p:sp>
        <p:nvSpPr>
          <p:cNvPr id="3" name="">
            <a:extLst>
              <a:ext uri="{FF2B5EF4-FFF2-40B4-BE49-F238E27FC236}">
                <ns2:creationId id="{8406DF33-F116-4CD3-AFE9-B995DB4985EB}"/>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1">
                <a:solidFill>
                  <a:srgbClr val="172F39"/>
                </a:solidFill>
                <a:latin typeface="Noto Sans KR"/>
                <a:ea typeface="Noto Sans KR"/>
                <a:cs typeface="Noto Sans KR"/>
              </a:defRPr>
            </a:pPr>
            <a:r>
              <a:t>“테스트됐음”만 적은 설명을 보완하세요.</a:t>
            </a:r>
          </a:p>
        </p:txBody>
      </p:sp>
      <p:sp>
        <p:nvSpPr>
          <p:cNvPr id="4" name="">
            <a:extLst>
              <a:ext uri="{FF2B5EF4-FFF2-40B4-BE49-F238E27FC236}">
                <ns2:creationId id="{C1E897B8-1677-4DBD-A15D-DDE3BCD5AE8D}"/>
              </a:ext>
            </a:extLst>
          </p:cNvPr>
          <p:cNvSpPr>
            <a:spLocks noGrp="1"/>
          </p:cNvSpPr>
          <p:nvPr/>
        </p:nvSpPr>
        <p:spPr>
          <a:xfrm>
            <a:off x="685800" y="2728722"/>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5" name="">
            <a:extLst>
              <a:ext uri="{FF2B5EF4-FFF2-40B4-BE49-F238E27FC236}">
                <ns2:creationId id="{9AA60196-21FA-4414-9857-2B1F742FB995}"/>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0DD68AFB-B8B9-4532-A39F-36E95E41C0A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7140B26B-765F-4C55-A6CB-11C2DA12641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6A0B3E11-6DE0-4437-9396-68FEF699F54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E46FAEF8-DB1F-44F4-B680-2130B05E739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089</a:t>
            </a:r>
          </a:p>
        </p:txBody>
      </p:sp>
    </p:spTree>
    <p:extLst>
      <p:ext uri="{BB962C8B-B14F-4D97-AF65-F5344CB8AC3E}">
        <ns4:creationId val="780353349"/>
      </p:ext>
    </p:extLst>
  </p:cSld>
</p:sld>
</file>

<file path=ppt/slides/slide9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053EBB4B-3BF4-44B2-953A-C13137331FD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77AF13AE-54B0-4B23-BB88-223E8D88EF8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A18  완료와 미확인</a:t>
            </a:r>
          </a:p>
        </p:txBody>
      </p:sp>
      <p:sp>
        <p:nvSpPr>
          <p:cNvPr id="3" name="">
            <a:extLst>
              <a:ext uri="{FF2B5EF4-FFF2-40B4-BE49-F238E27FC236}">
                <ns2:creationId id="{1EA45E82-1343-42F0-9B5E-A40DFEF6AEBA}"/>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E36F4442-2BC4-45F4-8182-2395417524F9}"/>
              </a:ext>
            </a:extLst>
          </p:cNvPr>
          <p:cNvSpPr>
            <a:spLocks noGrp="1"/>
          </p:cNvSpPr>
          <p:nvPr/>
        </p:nvSpPr>
        <p:spPr>
          <a:xfrm>
            <a:off x="685800" y="236220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바뀐 조건과 관찰한 결과를 보고합니다.</a:t>
            </a:r>
          </a:p>
        </p:txBody>
      </p:sp>
      <p:sp>
        <p:nvSpPr>
          <p:cNvPr id="5" name="">
            <a:extLst>
              <a:ext uri="{FF2B5EF4-FFF2-40B4-BE49-F238E27FC236}">
                <ns2:creationId id="{F2B6CEDB-1324-4B2F-BAD8-4DF044F0CA9B}"/>
              </a:ext>
            </a:extLst>
          </p:cNvPr>
          <p:cNvSpPr>
            <a:spLocks noGrp="1"/>
          </p:cNvSpPr>
          <p:nvPr/>
        </p:nvSpPr>
        <p:spPr>
          <a:xfrm>
            <a:off x="685800" y="31984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가상 검사와 실제 운영을 구별합니다.</a:t>
            </a:r>
          </a:p>
        </p:txBody>
      </p:sp>
      <p:sp>
        <p:nvSpPr>
          <p:cNvPr id="6" name="">
            <a:extLst>
              <a:ext uri="{FF2B5EF4-FFF2-40B4-BE49-F238E27FC236}">
                <ns2:creationId id="{34BC8AB2-AB64-435E-8E34-39AFBC7C3272}"/>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지금 확인한 범위</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496547"/>
                <a:gridCol w="2742203"/>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현재 상태</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분류 함수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가상 입력 검사</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실제 AI 호출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미수행</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실제 센서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미확인</a:t>
                      </a:r>
                    </a:p>
                  </a:txBody>
                  <a:tcPr marL="114300" marR="114300" marT="76200" marB="76200" anchor="ctr">
                    <a:solidFill>
                      <a:srgbClr val="FFFFFF"/>
                    </a:solidFill>
                  </a:tcPr>
                </a:tc>
              </a:tr>
            </a:tbl>
          </a:graphicData>
        </a:graphic>
      </p:graphicFrame>
      <p:sp>
        <p:nvSpPr>
          <p:cNvPr id="8" name="">
            <a:extLst>
              <a:ext uri="{FF2B5EF4-FFF2-40B4-BE49-F238E27FC236}">
                <ns2:creationId id="{4733D432-59F6-4635-9404-8506D84F28FE}"/>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01B003CF-4376-4AB0-8A29-FAED7AA2AD9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6ABBF1DB-92B1-4D24-B184-F28D8FD9635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8421CFAD-9AE6-437E-9880-6424F24AFCC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C6667F19-5F06-41CE-AF1D-4FAFBC24AD5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090</a:t>
            </a:r>
          </a:p>
        </p:txBody>
      </p:sp>
    </p:spTree>
    <p:extLst>
      <p:ext uri="{BB962C8B-B14F-4D97-AF65-F5344CB8AC3E}">
        <ns4:creationId val="2020728258"/>
      </p:ext>
    </p:extLst>
  </p:cSld>
</p:sld>
</file>

<file path=ppt/slides/slide9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C5CD2606-EB64-4816-B977-CD10A682285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93F01677-1AC7-4FB1-B800-DE46E361285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완료와 미확인의 예</a:t>
            </a:r>
          </a:p>
        </p:txBody>
      </p:sp>
      <p:graphicFrame>
        <p:nvGraphicFramePr>
          <p:cNvPr id="12" name=""/>
          <p:cNvGraphicFramePr/>
          <p:nvPr/>
        </p:nvGraphicFramePr>
        <p:xfrm>
          <a:off x="685800" y="1809750"/>
          <a:ext cx="10820400" cy="2145792"/>
        </p:xfrm>
        <a:graphic>
          <a:graphicData uri="http://schemas.openxmlformats.org/drawingml/2006/table">
            <a:tbl>
              <a:tblPr firstRow="1" bandRow="0"/>
              <a:tblGrid>
                <a:gridCol w="5114598"/>
                <a:gridCol w="5705802"/>
              </a:tblGrid>
              <a:tr h="536448">
                <a:tc>
                  <a:txBody>
                    <a:bodyPr wrap="square"/>
                    <a:lstStyle/>
                    <a:p>
                      <a:pPr>
                        <a:lnSpc>
                          <a:spcPct val="102000"/>
                        </a:lnSpc>
                        <a:buNone/>
                      </a:pPr>
                      <a:r>
                        <a:rPr sz="2025" b="1">
                          <a:solidFill>
                            <a:srgbClr val="172F39"/>
                          </a:solidFill>
                          <a:latin typeface="Noto Sans KR"/>
                          <a:ea typeface="Noto Sans KR"/>
                          <a:cs typeface="Noto Sans KR"/>
                        </a:rPr>
                        <a:t>범위</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현재 근거</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분류 계약</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가상 검사</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AI 서비스</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호출 미수행</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실제 센서</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운영 미확인</a:t>
                      </a:r>
                    </a:p>
                  </a:txBody>
                  <a:tcPr marL="114300" marR="114300" marT="76200" marB="76200" anchor="ctr">
                    <a:solidFill>
                      <a:srgbClr val="FFFFFF"/>
                    </a:solidFill>
                  </a:tcPr>
                </a:tc>
              </a:tr>
            </a:tbl>
          </a:graphicData>
        </a:graphic>
      </p:graphicFrame>
      <p:sp>
        <p:nvSpPr>
          <p:cNvPr id="4" name="">
            <a:extLst>
              <a:ext uri="{FF2B5EF4-FFF2-40B4-BE49-F238E27FC236}">
                <ns2:creationId id="{51B3CAFE-AAD6-407D-AED5-6DD808FF7A92}"/>
              </a:ext>
            </a:extLst>
          </p:cNvPr>
          <p:cNvSpPr>
            <a:spLocks noGrp="1"/>
          </p:cNvSpPr>
          <p:nvPr/>
        </p:nvSpPr>
        <p:spPr>
          <a:xfrm>
            <a:off x="685800" y="4184142"/>
            <a:ext cx="10820400" cy="395288"/>
          </a:xfrm>
          <a:prstGeom prst="rect">
            <a:avLst/>
          </a:prstGeom>
          <a:noFill/>
          <a:ln w="0">
            <a:noFill/>
          </a:ln>
        </p:spPr>
        <p:txBody>
          <a:bodyPr wrap="square" lIns="0" tIns="0" rIns="0" bIns="0">
            <a:noAutofit/>
          </a:bodyPr>
          <a:lstStyle/>
          <a:p>
            <a:pPr>
              <a:defRPr sz="1875" b="1">
                <a:solidFill>
                  <a:srgbClr val="08786F"/>
                </a:solidFill>
                <a:latin typeface="Noto Sans KR"/>
                <a:ea typeface="Noto Sans KR"/>
                <a:cs typeface="Noto Sans KR"/>
              </a:defRPr>
            </a:pPr>
            <a:r>
              <a:t>다음 확인 조건도 함께 전달합니다.</a:t>
            </a:r>
          </a:p>
        </p:txBody>
      </p:sp>
      <p:sp>
        <p:nvSpPr>
          <p:cNvPr id="5" name="">
            <a:extLst>
              <a:ext uri="{FF2B5EF4-FFF2-40B4-BE49-F238E27FC236}">
                <ns2:creationId id="{314F65BA-E983-4431-B13C-2786230CB55A}"/>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F1FCFEED-B9C9-4B6C-B9C6-71A686123BD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08D239BB-B119-476D-9AD5-7343779AA10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F123FA71-015F-4034-B905-5B4F3027103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E5639F0E-19EB-44CC-B634-01C5903D739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091</a:t>
            </a:r>
          </a:p>
        </p:txBody>
      </p:sp>
    </p:spTree>
    <p:extLst>
      <p:ext uri="{BB962C8B-B14F-4D97-AF65-F5344CB8AC3E}">
        <ns4:creationId val="1432431878"/>
      </p:ext>
    </p:extLst>
  </p:cSld>
</p:sld>
</file>

<file path=ppt/slides/slide9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662A5E29-32C1-4349-BCD1-C2CD88174CF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3AA97E07-7583-43FC-975C-04F0EC447EE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작업의 완료 범위</a:t>
            </a:r>
          </a:p>
        </p:txBody>
      </p:sp>
      <p:sp>
        <p:nvSpPr>
          <p:cNvPr id="3" name="">
            <a:extLst>
              <a:ext uri="{FF2B5EF4-FFF2-40B4-BE49-F238E27FC236}">
                <ns2:creationId id="{BC85E27D-5A2F-4AAE-BDB1-1E9407C09F38}"/>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제공 자료로 확인</a:t>
            </a:r>
          </a:p>
        </p:txBody>
      </p:sp>
      <p:sp>
        <p:nvSpPr>
          <p:cNvPr id="4" name="">
            <a:extLst>
              <a:ext uri="{FF2B5EF4-FFF2-40B4-BE49-F238E27FC236}">
                <ns2:creationId id="{AEEFC35D-AD7E-480A-9E25-EFB22E06F63D}"/>
              </a:ext>
            </a:extLst>
          </p:cNvPr>
          <p:cNvSpPr>
            <a:spLocks noGrp="1"/>
          </p:cNvSpPr>
          <p:nvPr/>
        </p:nvSpPr>
        <p:spPr>
          <a:xfrm>
            <a:off x="685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제공 응답 검토와 로컬 분류 검사를 남깁니다.</a:t>
            </a:r>
          </a:p>
        </p:txBody>
      </p:sp>
      <p:sp>
        <p:nvSpPr>
          <p:cNvPr id="5" name="">
            <a:extLst>
              <a:ext uri="{FF2B5EF4-FFF2-40B4-BE49-F238E27FC236}">
                <ns2:creationId id="{DAD90CBF-9824-4A6E-8FBB-46ED69E6D1F0}"/>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실제 AI 호출 여부</a:t>
            </a:r>
          </a:p>
        </p:txBody>
      </p:sp>
      <p:sp>
        <p:nvSpPr>
          <p:cNvPr id="6" name="">
            <a:extLst>
              <a:ext uri="{FF2B5EF4-FFF2-40B4-BE49-F238E27FC236}">
                <ns2:creationId id="{E4DADB59-C192-460D-97CF-C84DD767DA44}"/>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실제 AI가 작성했다고 추정하지 않습니다.</a:t>
            </a:r>
          </a:p>
        </p:txBody>
      </p:sp>
      <p:sp>
        <p:nvSpPr>
          <p:cNvPr id="7" name="">
            <a:extLst>
              <a:ext uri="{FF2B5EF4-FFF2-40B4-BE49-F238E27FC236}">
                <ns2:creationId id="{2CE22D44-5036-4563-9BAB-73C0F712E2C2}"/>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C3409E05-0D1F-4829-A1CA-82570D14B0B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B63F3E1A-A165-4D3C-9661-20340211F82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1CECEE56-D506-4C5B-A10F-DBE16161D22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A3DB082E-D791-4A6B-9F99-DC2223E484E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092</a:t>
            </a:r>
          </a:p>
        </p:txBody>
      </p:sp>
    </p:spTree>
    <p:extLst>
      <p:ext uri="{BB962C8B-B14F-4D97-AF65-F5344CB8AC3E}">
        <ns4:creationId val="1415978994"/>
      </p:ext>
    </p:extLst>
  </p:cSld>
</p:sld>
</file>

<file path=ppt/slides/slide9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E106094E-DFE7-4E82-9F97-A6E129DE477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DC2FCD4E-F7B0-456C-BE7F-F3B2DA39C7D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세 문장 인계</a:t>
            </a:r>
          </a:p>
        </p:txBody>
      </p:sp>
      <p:sp>
        <p:nvSpPr>
          <p:cNvPr id="3" name="">
            <a:extLst>
              <a:ext uri="{FF2B5EF4-FFF2-40B4-BE49-F238E27FC236}">
                <ns2:creationId id="{6C3649A5-AF10-421B-9848-80C67CCF9A37}"/>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1">
                <a:solidFill>
                  <a:srgbClr val="172F39"/>
                </a:solidFill>
                <a:latin typeface="Noto Sans KR"/>
                <a:ea typeface="Noto Sans KR"/>
                <a:cs typeface="Noto Sans KR"/>
              </a:defRPr>
            </a:pPr>
            <a:r>
              <a:t>고친 줄, 확인한 결과, 남은 질문을 한 문장씩 쓰세요.</a:t>
            </a:r>
          </a:p>
        </p:txBody>
      </p:sp>
      <p:sp>
        <p:nvSpPr>
          <p:cNvPr id="4" name="">
            <a:extLst>
              <a:ext uri="{FF2B5EF4-FFF2-40B4-BE49-F238E27FC236}">
                <ns2:creationId id="{A1AB5A6A-1A34-45FC-8026-A161DB013551}"/>
              </a:ext>
            </a:extLst>
          </p:cNvPr>
          <p:cNvSpPr>
            <a:spLocks noGrp="1"/>
          </p:cNvSpPr>
          <p:nvPr/>
        </p:nvSpPr>
        <p:spPr>
          <a:xfrm>
            <a:off x="685800" y="2728722"/>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5" name="">
            <a:extLst>
              <a:ext uri="{FF2B5EF4-FFF2-40B4-BE49-F238E27FC236}">
                <ns2:creationId id="{634BE462-97EE-43CE-8FA8-DDFC1793D5A9}"/>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2AD62306-2499-4083-AE7A-4979B118E40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BDA88DC0-B33A-43FB-B05F-385EDD30573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8FF7F0A7-13F7-4924-8308-295FE4D78A9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C4B9E3B9-AACE-4F24-869D-2F3AD5E4C95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093</a:t>
            </a:r>
          </a:p>
        </p:txBody>
      </p:sp>
    </p:spTree>
    <p:extLst>
      <p:ext uri="{BB962C8B-B14F-4D97-AF65-F5344CB8AC3E}">
        <ns4:creationId val="3404802"/>
      </p:ext>
    </p:extLst>
  </p:cSld>
</p:sld>
</file>

<file path=ppt/slides/slide9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420EE766-22CC-436A-809C-C9E65597DD6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8DD54434-548A-415F-899E-1EDD22C2987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복습 1  새 상황 적용</a:t>
            </a:r>
          </a:p>
        </p:txBody>
      </p:sp>
      <p:sp>
        <p:nvSpPr>
          <p:cNvPr id="3" name="">
            <a:extLst>
              <a:ext uri="{FF2B5EF4-FFF2-40B4-BE49-F238E27FC236}">
                <ns2:creationId id="{55AEA081-03B7-45B0-A2CF-00ED459CFB95}"/>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함수·실패 로그·고객 명단·암호가 있습니다.</a:t>
            </a:r>
          </a:p>
        </p:txBody>
      </p:sp>
      <p:sp>
        <p:nvSpPr>
          <p:cNvPr id="4" name="">
            <a:extLst>
              <a:ext uri="{FF2B5EF4-FFF2-40B4-BE49-F238E27FC236}">
                <ns2:creationId id="{DD4F2005-7A38-4FCF-B420-ED015B4D650A}"/>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경계 수정에 필요한 자료를 고르세요.</a:t>
            </a:r>
          </a:p>
        </p:txBody>
      </p:sp>
      <p:sp>
        <p:nvSpPr>
          <p:cNvPr id="5" name="">
            <a:extLst>
              <a:ext uri="{FF2B5EF4-FFF2-40B4-BE49-F238E27FC236}">
                <ns2:creationId id="{FEBC0C01-C00A-48F8-95FC-E18F814F7FB8}"/>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6" name="">
            <a:extLst>
              <a:ext uri="{FF2B5EF4-FFF2-40B4-BE49-F238E27FC236}">
                <ns2:creationId id="{70E7CBDA-8DF4-4516-BB38-249F8A013986}"/>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DF627BE3-5C93-4E0B-BC57-61C0C85FBD0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340B93E7-B5E9-43AF-B6A4-5BB1CA2767D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C87D15B8-9894-4F8E-A505-B4D0E1025FA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BE630A94-2A4B-437C-ADCA-0E811D36707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094</a:t>
            </a:r>
          </a:p>
        </p:txBody>
      </p:sp>
    </p:spTree>
    <p:extLst>
      <p:ext uri="{BB962C8B-B14F-4D97-AF65-F5344CB8AC3E}">
        <ns4:creationId val="1359959562"/>
      </p:ext>
    </p:extLst>
  </p:cSld>
</p:sld>
</file>

<file path=ppt/slides/slide9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1FF2DE49-A247-4CE2-8C74-F598C650977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F7DBCFBF-4798-4896-86A6-CCC9FBE2559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복습 2  새 상황 적용</a:t>
            </a:r>
          </a:p>
        </p:txBody>
      </p:sp>
      <p:sp>
        <p:nvSpPr>
          <p:cNvPr id="3" name="">
            <a:extLst>
              <a:ext uri="{FF2B5EF4-FFF2-40B4-BE49-F238E27FC236}">
                <ns2:creationId id="{71139475-DF0E-42F0-9F88-B43C50C52891}"/>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5 초과 점검의 4.9·5·5.1을 판단하세요.</a:t>
            </a:r>
          </a:p>
        </p:txBody>
      </p:sp>
      <p:sp>
        <p:nvSpPr>
          <p:cNvPr id="4" name="">
            <a:extLst>
              <a:ext uri="{FF2B5EF4-FFF2-40B4-BE49-F238E27FC236}">
                <ns2:creationId id="{6BA5BC10-DE13-4B88-A5AF-CB53B1F8040D}"/>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누락 처리도 별도로 설명하세요.</a:t>
            </a:r>
          </a:p>
        </p:txBody>
      </p:sp>
      <p:sp>
        <p:nvSpPr>
          <p:cNvPr id="5" name="">
            <a:extLst>
              <a:ext uri="{FF2B5EF4-FFF2-40B4-BE49-F238E27FC236}">
                <ns2:creationId id="{A3286AC5-873B-4F21-A48B-2040A97FFAD6}"/>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6" name="">
            <a:extLst>
              <a:ext uri="{FF2B5EF4-FFF2-40B4-BE49-F238E27FC236}">
                <ns2:creationId id="{C67C3ACA-67B7-46EF-8EEF-4723059A4B13}"/>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10C6D109-2199-418C-BCC6-4B53795C9E3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3DDA5678-C736-414E-8B8C-4B30BE23962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6200AD04-C427-473B-BAF3-3CC92046D82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6091AD8B-5FD1-41AC-A60D-D59F34CF124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095</a:t>
            </a:r>
          </a:p>
        </p:txBody>
      </p:sp>
    </p:spTree>
    <p:extLst>
      <p:ext uri="{BB962C8B-B14F-4D97-AF65-F5344CB8AC3E}">
        <ns4:creationId val="1933775172"/>
      </p:ext>
    </p:extLst>
  </p:cSld>
</p:sld>
</file>

<file path=ppt/slides/slide9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47501001-AA4B-4944-AEBB-E33A6F7805D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71CF0E59-7C4F-458A-A94A-7EC7F12CB74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복습 3  새 상황 적용</a:t>
            </a:r>
          </a:p>
        </p:txBody>
      </p:sp>
      <p:sp>
        <p:nvSpPr>
          <p:cNvPr id="3" name="">
            <a:extLst>
              <a:ext uri="{FF2B5EF4-FFF2-40B4-BE49-F238E27FC236}">
                <ns2:creationId id="{338A210A-806D-4E34-98F7-B4FAAD8BBD25}"/>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코드 차이와 가상 검사 출력만 있습니다.</a:t>
            </a:r>
          </a:p>
        </p:txBody>
      </p:sp>
      <p:sp>
        <p:nvSpPr>
          <p:cNvPr id="4" name="">
            <a:extLst>
              <a:ext uri="{FF2B5EF4-FFF2-40B4-BE49-F238E27FC236}">
                <ns2:creationId id="{C0F089D7-9425-4930-9DE2-13A8AB245EEB}"/>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완료라고 보고할 범위를 쓰세요.</a:t>
            </a:r>
          </a:p>
        </p:txBody>
      </p:sp>
      <p:sp>
        <p:nvSpPr>
          <p:cNvPr id="5" name="">
            <a:extLst>
              <a:ext uri="{FF2B5EF4-FFF2-40B4-BE49-F238E27FC236}">
                <ns2:creationId id="{64211CF8-ED63-4793-87C7-29ED54A39652}"/>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6" name="">
            <a:extLst>
              <a:ext uri="{FF2B5EF4-FFF2-40B4-BE49-F238E27FC236}">
                <ns2:creationId id="{64761B75-E6DD-4EDB-9CE9-E072C4E6E8C6}"/>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3CCA1C5A-D1FD-468C-804D-F2E75370B94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134B7BD4-905C-4702-B975-75BD3DED241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DDF31035-FD42-4792-B013-2CDBB03273A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4A00FA12-528E-4552-AC6B-A7F548731BC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096</a:t>
            </a:r>
          </a:p>
        </p:txBody>
      </p:sp>
    </p:spTree>
    <p:extLst>
      <p:ext uri="{BB962C8B-B14F-4D97-AF65-F5344CB8AC3E}">
        <ns4:creationId val="287024486"/>
      </p:ext>
    </p:extLst>
  </p:cSld>
</p:sld>
</file>

<file path=ppt/slides/slide9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E033BB8E-3B99-4A31-9A83-C2582C7DA70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E1A3DD2B-D17C-42EC-8458-A7302220127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복습 4  새 상황 적용</a:t>
            </a:r>
          </a:p>
        </p:txBody>
      </p:sp>
      <p:sp>
        <p:nvSpPr>
          <p:cNvPr id="3" name="">
            <a:extLst>
              <a:ext uri="{FF2B5EF4-FFF2-40B4-BE49-F238E27FC236}">
                <ns2:creationId id="{F38FBE9F-20F7-4F19-B88F-4365BA08ECD2}"/>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0·None·True·"28"·50·51을 판단하세요.</a:t>
            </a:r>
          </a:p>
        </p:txBody>
      </p:sp>
      <p:sp>
        <p:nvSpPr>
          <p:cNvPr id="4" name="">
            <a:extLst>
              <a:ext uri="{FF2B5EF4-FFF2-40B4-BE49-F238E27FC236}">
                <ns2:creationId id="{411A1F70-3704-4FBD-AD46-60A546AA72E7}"/>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조건 순서가 필요한 이유를 설명하세요.</a:t>
            </a:r>
          </a:p>
        </p:txBody>
      </p:sp>
      <p:sp>
        <p:nvSpPr>
          <p:cNvPr id="5" name="">
            <a:extLst>
              <a:ext uri="{FF2B5EF4-FFF2-40B4-BE49-F238E27FC236}">
                <ns2:creationId id="{04AB589A-830C-4E6C-8BC9-FB9BA47E1303}"/>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6" name="">
            <a:extLst>
              <a:ext uri="{FF2B5EF4-FFF2-40B4-BE49-F238E27FC236}">
                <ns2:creationId id="{3FCDA37E-B051-4C3C-9760-FBB2F0641ACC}"/>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EC3630E4-4FFF-4EF6-8B7C-E982392CA57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E09B9C7E-63CD-4D10-ADFC-489E9795FCB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E33B99E1-A25D-42F0-8B23-8F4597519D8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2FA3D0AE-A789-4147-8CB2-9B06EF813BF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097</a:t>
            </a:r>
          </a:p>
        </p:txBody>
      </p:sp>
    </p:spTree>
    <p:extLst>
      <p:ext uri="{BB962C8B-B14F-4D97-AF65-F5344CB8AC3E}">
        <ns4:creationId val="294788071"/>
      </p:ext>
    </p:extLst>
  </p:cSld>
</p:sld>
</file>

<file path=ppt/slides/slide9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B85E9A21-8F34-428F-9AA0-E4E647B1E5F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6D944936-2118-47D5-8867-06EFE656D7C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복습 5  새 상황 적용</a:t>
            </a:r>
          </a:p>
        </p:txBody>
      </p:sp>
      <p:sp>
        <p:nvSpPr>
          <p:cNvPr id="3" name="">
            <a:extLst>
              <a:ext uri="{FF2B5EF4-FFF2-40B4-BE49-F238E27FC236}">
                <ns2:creationId id="{03DBEB3D-7BCB-4909-9BB2-3EA7753D95DA}"/>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문자 입력에서 TypeError가 나왔습니다.</a:t>
            </a:r>
          </a:p>
        </p:txBody>
      </p:sp>
      <p:sp>
        <p:nvSpPr>
          <p:cNvPr id="4" name="">
            <a:extLst>
              <a:ext uri="{FF2B5EF4-FFF2-40B4-BE49-F238E27FC236}">
                <ns2:creationId id="{92261129-7D95-4C69-9270-BF5AE0057526}"/>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재현 정보와 회귀 입력을 작성하세요.</a:t>
            </a:r>
          </a:p>
        </p:txBody>
      </p:sp>
      <p:sp>
        <p:nvSpPr>
          <p:cNvPr id="5" name="">
            <a:extLst>
              <a:ext uri="{FF2B5EF4-FFF2-40B4-BE49-F238E27FC236}">
                <ns2:creationId id="{0494CEE5-F8BD-4F22-A335-9514797AD06B}"/>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6" name="">
            <a:extLst>
              <a:ext uri="{FF2B5EF4-FFF2-40B4-BE49-F238E27FC236}">
                <ns2:creationId id="{74599215-1577-4057-9A1A-BCB33A1712B4}"/>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7B6C8A86-BCFB-448E-8DF9-19EDCC86EBF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EA974C43-7A8E-4DDC-B90A-C0A224A4363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15E8C815-9DAD-4824-A191-40F2AC6DE76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EB825A68-B0B8-4D9E-A080-E9CF0B8FBB0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098</a:t>
            </a:r>
          </a:p>
        </p:txBody>
      </p:sp>
    </p:spTree>
    <p:extLst>
      <p:ext uri="{BB962C8B-B14F-4D97-AF65-F5344CB8AC3E}">
        <ns4:creationId val="301465634"/>
      </p:ext>
    </p:extLst>
  </p:cSld>
</p:sld>
</file>

<file path=ppt/slides/slide9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1BDE0045-5807-4CE7-9124-0FA1326798F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27819EE2-8BDD-47A4-BEBC-86FD22A98DE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복습 6  새 상황 적용</a:t>
            </a:r>
          </a:p>
        </p:txBody>
      </p:sp>
      <p:sp>
        <p:nvSpPr>
          <p:cNvPr id="3" name="">
            <a:extLst>
              <a:ext uri="{FF2B5EF4-FFF2-40B4-BE49-F238E27FC236}">
                <ns2:creationId id="{5313A4D8-825B-495C-87B5-D13924D7FC05}"/>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특정 장소만 기준 30으로 바꿉니다.</a:t>
            </a:r>
          </a:p>
        </p:txBody>
      </p:sp>
      <p:sp>
        <p:nvSpPr>
          <p:cNvPr id="4" name="">
            <a:extLst>
              <a:ext uri="{FF2B5EF4-FFF2-40B4-BE49-F238E27FC236}">
                <ns2:creationId id="{52A452EC-5BE9-4FA2-95EA-5D1480B889C8}"/>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기본 호출과 인수 호출을 비교하세요.</a:t>
            </a:r>
          </a:p>
        </p:txBody>
      </p:sp>
      <p:sp>
        <p:nvSpPr>
          <p:cNvPr id="5" name="">
            <a:extLst>
              <a:ext uri="{FF2B5EF4-FFF2-40B4-BE49-F238E27FC236}">
                <ns2:creationId id="{AD489E98-9825-4188-8EE3-3AD3F49673AA}"/>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6" name="">
            <a:extLst>
              <a:ext uri="{FF2B5EF4-FFF2-40B4-BE49-F238E27FC236}">
                <ns2:creationId id="{0089DEC5-4B7E-4661-BF66-A48411BDFF36}"/>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72BE7E68-D9B9-4E0C-8086-6F9FB49DD8C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56D1AE2B-1CE4-4DA6-A30E-7ACB98BEB61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E4086A53-E7E5-462F-BF2A-5E09CDBF7E8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774CDFCA-DF7E-4B34-84E8-A046BB3A286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099</a:t>
            </a:r>
          </a:p>
        </p:txBody>
      </p:sp>
    </p:spTree>
    <p:extLst>
      <p:ext uri="{BB962C8B-B14F-4D97-AF65-F5344CB8AC3E}">
        <ns4:creationId val="2141210366"/>
      </p:ext>
    </p:extLst>
  </p:cSld>
</p:sld>
</file>

<file path=ppt/slides/slide10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004A25D5-6074-4007-8FEA-3CC4FE5BB4C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8594C85B-B68E-43FA-A3F1-BF9B2D334AD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오늘 바꾼 파일과 확인한 결과</a:t>
            </a:r>
          </a:p>
        </p:txBody>
      </p:sp>
      <p:sp>
        <p:nvSpPr>
          <p:cNvPr id="3" name="">
            <a:extLst>
              <a:ext uri="{FF2B5EF4-FFF2-40B4-BE49-F238E27FC236}">
                <ns2:creationId id="{4E4D59DE-24ED-4260-ADBD-7193D8AE3C74}"/>
              </a:ext>
            </a:extLst>
          </p:cNvPr>
          <p:cNvSpPr>
            <a:spLocks noGrp="1"/>
          </p:cNvSpPr>
          <p:nvPr/>
        </p:nvSpPr>
        <p:spPr>
          <a:xfrm>
            <a:off x="685800" y="1819275"/>
            <a:ext cx="4800600" cy="4476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확인할 자료</a:t>
            </a:r>
          </a:p>
        </p:txBody>
      </p:sp>
      <p:sp>
        <p:nvSpPr>
          <p:cNvPr id="4" name="">
            <a:extLst>
              <a:ext uri="{FF2B5EF4-FFF2-40B4-BE49-F238E27FC236}">
                <ns2:creationId id="{1146C004-826E-40D4-8742-461036B7337F}"/>
              </a:ext>
            </a:extLst>
          </p:cNvPr>
          <p:cNvSpPr>
            <a:spLocks noGrp="1"/>
          </p:cNvSpPr>
          <p:nvPr/>
        </p:nvSpPr>
        <p:spPr>
          <a:xfrm>
            <a:off x="685800" y="236220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변경한 파일과 목적을 적습니다.</a:t>
            </a:r>
          </a:p>
        </p:txBody>
      </p:sp>
      <p:sp>
        <p:nvSpPr>
          <p:cNvPr id="5" name="">
            <a:extLst>
              <a:ext uri="{FF2B5EF4-FFF2-40B4-BE49-F238E27FC236}">
                <ns2:creationId id="{F4C16A5C-CE45-4C69-90A8-512D0836F04F}"/>
              </a:ext>
            </a:extLst>
          </p:cNvPr>
          <p:cNvSpPr>
            <a:spLocks noGrp="1"/>
          </p:cNvSpPr>
          <p:nvPr/>
        </p:nvSpPr>
        <p:spPr>
          <a:xfrm>
            <a:off x="685800" y="286131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넣은 값과 예상한 결과, 실제 결과를 적습니다.</a:t>
            </a:r>
          </a:p>
        </p:txBody>
      </p:sp>
      <p:sp>
        <p:nvSpPr>
          <p:cNvPr id="6" name="">
            <a:extLst>
              <a:ext uri="{FF2B5EF4-FFF2-40B4-BE49-F238E27FC236}">
                <ns2:creationId id="{1BDABE51-B532-499C-A19D-FFAF8A4BED1C}"/>
              </a:ext>
            </a:extLst>
          </p:cNvPr>
          <p:cNvSpPr>
            <a:spLocks noGrp="1"/>
          </p:cNvSpPr>
          <p:nvPr/>
        </p:nvSpPr>
        <p:spPr>
          <a:xfrm>
            <a:off x="685800" y="369760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직접 실행한 것과 시연에서 본 것을 구분합니다.</a:t>
            </a:r>
          </a:p>
        </p:txBody>
      </p:sp>
      <p:sp>
        <p:nvSpPr>
          <p:cNvPr id="7" name="">
            <a:extLst>
              <a:ext uri="{FF2B5EF4-FFF2-40B4-BE49-F238E27FC236}">
                <ns2:creationId id="{3BC2030D-92F5-435A-90A9-6AF1104A0607}"/>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지금 확인한 범위</a:t>
            </a:r>
          </a:p>
        </p:txBody>
      </p:sp>
      <p:graphicFrame>
        <p:nvGraphicFramePr>
          <p:cNvPr id="21" name=""/>
          <p:cNvGraphicFramePr/>
          <p:nvPr/>
        </p:nvGraphicFramePr>
        <p:xfrm>
          <a:off x="6267450" y="2628900"/>
          <a:ext cx="5238750" cy="2057400"/>
        </p:xfrm>
        <a:graphic>
          <a:graphicData uri="http://schemas.openxmlformats.org/drawingml/2006/table">
            <a:tbl>
              <a:tblPr firstRow="1" bandRow="0"/>
              <a:tblGrid>
                <a:gridCol w="2496547"/>
                <a:gridCol w="2742203"/>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현재 상태</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분류 함수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가상 입력 검사</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실제 AI 호출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미수행</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실제 센서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미확인</a:t>
                      </a:r>
                    </a:p>
                  </a:txBody>
                  <a:tcPr marL="114300" marR="114300" marT="76200" marB="76200" anchor="ctr">
                    <a:solidFill>
                      <a:srgbClr val="FFFFFF"/>
                    </a:solidFill>
                  </a:tcPr>
                </a:tc>
              </a:tr>
            </a:tbl>
          </a:graphicData>
        </a:graphic>
      </p:graphicFrame>
      <p:sp>
        <p:nvSpPr>
          <p:cNvPr id="9" name="">
            <a:extLst>
              <a:ext uri="{FF2B5EF4-FFF2-40B4-BE49-F238E27FC236}">
                <ns2:creationId id="{43E33816-06AC-43ED-A5E6-A1362A8F3170}"/>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C9B1BB82-75BF-494E-8122-BA9416148A3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78307B34-3495-43FD-9581-8A6BCC595D8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02C87014-BB76-4EC4-8BB7-E87F29B6303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D96CF544-312D-454B-A2FE-799F9B5727E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100</a:t>
            </a:r>
          </a:p>
        </p:txBody>
      </p:sp>
    </p:spTree>
    <p:extLst>
      <p:ext uri="{BB962C8B-B14F-4D97-AF65-F5344CB8AC3E}">
        <ns4:creationId val="1450123631"/>
      </p:ext>
    </p:extLst>
  </p:cSld>
</p:sld>
</file>

<file path=ppt/slides/slide10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C4407E50-1BB9-4879-9F19-1B53B937C5F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004559CC-5929-4838-8CC3-39DCCF6F6C0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다음에 확인할 것은 무엇인가요?</a:t>
            </a:r>
          </a:p>
        </p:txBody>
      </p:sp>
      <p:sp>
        <p:nvSpPr>
          <p:cNvPr id="3" name="">
            <a:extLst>
              <a:ext uri="{FF2B5EF4-FFF2-40B4-BE49-F238E27FC236}">
                <ns2:creationId id="{F0AB750D-7479-44FB-B031-C766806A85DE}"/>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아직 시험해 보지 못한 조건을 두 개 쓰세요.</a:t>
            </a:r>
          </a:p>
        </p:txBody>
      </p:sp>
      <p:sp>
        <p:nvSpPr>
          <p:cNvPr id="4" name="">
            <a:extLst>
              <a:ext uri="{FF2B5EF4-FFF2-40B4-BE49-F238E27FC236}">
                <ns2:creationId id="{9DFDF900-04CC-4D97-89BB-70A463DA2AB6}"/>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동료가 다시 실행할 순서를 적어 보세요.</a:t>
            </a:r>
          </a:p>
        </p:txBody>
      </p:sp>
      <p:sp>
        <p:nvSpPr>
          <p:cNvPr id="5" name="">
            <a:extLst>
              <a:ext uri="{FF2B5EF4-FFF2-40B4-BE49-F238E27FC236}">
                <ns2:creationId id="{50FE599B-9EC6-4471-81DD-9459722236C2}"/>
              </a:ext>
            </a:extLst>
          </p:cNvPr>
          <p:cNvSpPr>
            <a:spLocks noGrp="1"/>
          </p:cNvSpPr>
          <p:nvPr/>
        </p:nvSpPr>
        <p:spPr>
          <a:xfrm>
            <a:off x="685800" y="3295269"/>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지금 화면에는 풀이를 표시하지 않습니다. 입력과 판단 조건부터 읽습니다.</a:t>
            </a:r>
          </a:p>
        </p:txBody>
      </p:sp>
      <p:sp>
        <p:nvSpPr>
          <p:cNvPr id="6" name="">
            <a:extLst>
              <a:ext uri="{FF2B5EF4-FFF2-40B4-BE49-F238E27FC236}">
                <ns2:creationId id="{D6912396-3F8A-4406-AD74-2202CEA00BAA}"/>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CEF15FC0-E14C-4593-950B-12BA1CA962E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EA5614CE-03DB-4AFD-9D51-A34E8C4B395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0FDC6FAB-D7E0-43DC-B25B-756615C2EA9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916ED11A-79E7-40D6-AC29-4B1141C8902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101</a:t>
            </a:r>
          </a:p>
        </p:txBody>
      </p:sp>
    </p:spTree>
    <p:extLst>
      <p:ext uri="{BB962C8B-B14F-4D97-AF65-F5344CB8AC3E}">
        <ns4:creationId val="1904493999"/>
      </p:ext>
    </p:extLst>
  </p:cSld>
</p:sld>
</file>

<file path=ppt/slides/slide10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8" name="">
            <a:extLst>
              <a:ext uri="{FF2B5EF4-FFF2-40B4-BE49-F238E27FC236}">
                <ns2:creationId id="{97F6BEA8-636E-4B0A-AD8C-AF4B83F2540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10/20 수업</a:t>
            </a:r>
          </a:p>
        </p:txBody>
      </p:sp>
      <p:sp>
        <p:nvSpPr>
          <p:cNvPr id="2" name="">
            <a:extLst>
              <a:ext uri="{FF2B5EF4-FFF2-40B4-BE49-F238E27FC236}">
                <ns2:creationId id="{3AC13725-4185-431A-AEF8-A0BFB169010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오늘의 수업 자료</a:t>
            </a:r>
          </a:p>
        </p:txBody>
      </p:sp>
      <p:sp>
        <p:nvSpPr>
          <p:cNvPr id="3" name="">
            <a:extLst>
              <a:ext uri="{FF2B5EF4-FFF2-40B4-BE49-F238E27FC236}">
                <ns2:creationId id="{7E85C863-B9B4-4690-A568-98090E23F748}"/>
              </a:ext>
            </a:extLst>
          </p:cNvPr>
          <p:cNvSpPr>
            <a:spLocks noGrp="1"/>
          </p:cNvSpPr>
          <p:nvPr/>
        </p:nvSpPr>
        <p:spPr>
          <a:xfrm>
            <a:off x="685800" y="1885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4"/>
              </a:rPr>
              <a:t>처음 시작 안내 ↗</a:t>
            </a:r>
          </a:p>
        </p:txBody>
      </p:sp>
      <p:sp>
        <p:nvSpPr>
          <p:cNvPr id="4" name="">
            <a:extLst>
              <a:ext uri="{FF2B5EF4-FFF2-40B4-BE49-F238E27FC236}">
                <ns2:creationId id="{2CD81068-E867-41D8-B3B3-7AAB522E0EFC}"/>
              </a:ext>
            </a:extLst>
          </p:cNvPr>
          <p:cNvSpPr>
            <a:spLocks noGrp="1"/>
          </p:cNvSpPr>
          <p:nvPr/>
        </p:nvSpPr>
        <p:spPr>
          <a:xfrm>
            <a:off x="685800" y="2343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5" name="">
            <a:extLst>
              <a:ext uri="{FF2B5EF4-FFF2-40B4-BE49-F238E27FC236}">
                <ns2:creationId id="{17FB06ED-7176-43D0-8A22-1FF278D69103}"/>
              </a:ext>
            </a:extLst>
          </p:cNvPr>
          <p:cNvSpPr>
            <a:spLocks noGrp="1"/>
          </p:cNvSpPr>
          <p:nvPr/>
        </p:nvSpPr>
        <p:spPr>
          <a:xfrm>
            <a:off x="685800" y="2647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5"/>
              </a:rPr>
              <a:t>학생 교안 ↗</a:t>
            </a:r>
          </a:p>
        </p:txBody>
      </p:sp>
      <p:sp>
        <p:nvSpPr>
          <p:cNvPr id="6" name="">
            <a:extLst>
              <a:ext uri="{FF2B5EF4-FFF2-40B4-BE49-F238E27FC236}">
                <ns2:creationId id="{C73DA3EA-84AA-4EC2-A3D2-10708E0F6810}"/>
              </a:ext>
            </a:extLst>
          </p:cNvPr>
          <p:cNvSpPr>
            <a:spLocks noGrp="1"/>
          </p:cNvSpPr>
          <p:nvPr/>
        </p:nvSpPr>
        <p:spPr>
          <a:xfrm>
            <a:off x="685800" y="3105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7" name="">
            <a:extLst>
              <a:ext uri="{FF2B5EF4-FFF2-40B4-BE49-F238E27FC236}">
                <ns2:creationId id="{D0F4C2C8-2FF2-486B-A4FA-E45733D7A9C2}"/>
              </a:ext>
            </a:extLst>
          </p:cNvPr>
          <p:cNvSpPr>
            <a:spLocks noGrp="1"/>
          </p:cNvSpPr>
          <p:nvPr/>
        </p:nvSpPr>
        <p:spPr>
          <a:xfrm>
            <a:off x="685800" y="3409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6"/>
              </a:rPr>
              <a:t>실습 활동 ↗</a:t>
            </a:r>
          </a:p>
        </p:txBody>
      </p:sp>
      <p:sp>
        <p:nvSpPr>
          <p:cNvPr id="8" name="">
            <a:extLst>
              <a:ext uri="{FF2B5EF4-FFF2-40B4-BE49-F238E27FC236}">
                <ns2:creationId id="{470FC747-C1CA-4C82-807F-6733A8084141}"/>
              </a:ext>
            </a:extLst>
          </p:cNvPr>
          <p:cNvSpPr>
            <a:spLocks noGrp="1"/>
          </p:cNvSpPr>
          <p:nvPr/>
        </p:nvSpPr>
        <p:spPr>
          <a:xfrm>
            <a:off x="685800" y="3867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9" name="">
            <a:extLst>
              <a:ext uri="{FF2B5EF4-FFF2-40B4-BE49-F238E27FC236}">
                <ns2:creationId id="{D0FFEA3F-AFF6-4944-BFBB-7435E4E33F10}"/>
              </a:ext>
            </a:extLst>
          </p:cNvPr>
          <p:cNvSpPr>
            <a:spLocks noGrp="1"/>
          </p:cNvSpPr>
          <p:nvPr/>
        </p:nvSpPr>
        <p:spPr>
          <a:xfrm>
            <a:off x="685800" y="4171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7"/>
              </a:rPr>
              <a:t>예제 코드와 데이터 ZIP ↗</a:t>
            </a:r>
          </a:p>
        </p:txBody>
      </p:sp>
      <p:sp>
        <p:nvSpPr>
          <p:cNvPr id="10" name="">
            <a:extLst>
              <a:ext uri="{FF2B5EF4-FFF2-40B4-BE49-F238E27FC236}">
                <ns2:creationId id="{55EDB79C-5F34-4E1F-BE9F-93C208265578}"/>
              </a:ext>
            </a:extLst>
          </p:cNvPr>
          <p:cNvSpPr>
            <a:spLocks noGrp="1"/>
          </p:cNvSpPr>
          <p:nvPr/>
        </p:nvSpPr>
        <p:spPr>
          <a:xfrm>
            <a:off x="685800" y="4629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11" name="">
            <a:extLst>
              <a:ext uri="{FF2B5EF4-FFF2-40B4-BE49-F238E27FC236}">
                <ns2:creationId id="{73029607-E94B-4776-A003-A53182EC504A}"/>
              </a:ext>
            </a:extLst>
          </p:cNvPr>
          <p:cNvSpPr>
            <a:spLocks noGrp="1"/>
          </p:cNvSpPr>
          <p:nvPr/>
        </p:nvSpPr>
        <p:spPr>
          <a:xfrm>
            <a:off x="685800" y="4933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8"/>
              </a:rPr>
              <a:t>날짜별 자료 다운로드 ↗</a:t>
            </a:r>
          </a:p>
        </p:txBody>
      </p:sp>
      <p:sp>
        <p:nvSpPr>
          <p:cNvPr id="12" name="">
            <a:extLst>
              <a:ext uri="{FF2B5EF4-FFF2-40B4-BE49-F238E27FC236}">
                <ns2:creationId id="{9AEF0180-2B9B-442C-8616-685D22B643DA}"/>
              </a:ext>
            </a:extLst>
          </p:cNvPr>
          <p:cNvSpPr>
            <a:spLocks noGrp="1"/>
          </p:cNvSpPr>
          <p:nvPr/>
        </p:nvSpPr>
        <p:spPr>
          <a:xfrm>
            <a:off x="685800" y="5391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13" name="">
            <a:extLst>
              <a:ext uri="{FF2B5EF4-FFF2-40B4-BE49-F238E27FC236}">
                <ns2:creationId id="{F802BE13-95F3-4507-9205-0BEF25A59CE2}"/>
              </a:ext>
            </a:extLst>
          </p:cNvPr>
          <p:cNvSpPr>
            <a:spLocks noGrp="1"/>
          </p:cNvSpPr>
          <p:nvPr/>
        </p:nvSpPr>
        <p:spPr>
          <a:xfrm>
            <a:off x="685800" y="6172200"/>
            <a:ext cx="10820400" cy="9525"/>
          </a:xfrm>
          <a:prstGeom prst="rect">
            <a:avLst/>
          </a:prstGeom>
          <a:solidFill>
            <a:srgbClr val="D5DEDD"/>
          </a:solidFill>
          <a:ln w="0">
            <a:noFill/>
          </a:ln>
        </p:spPr>
      </p:sp>
      <p:sp>
        <p:nvSpPr>
          <p:cNvPr id="14" name="">
            <a:extLst>
              <a:ext uri="{FF2B5EF4-FFF2-40B4-BE49-F238E27FC236}">
                <ns2:creationId id="{4266194D-BE72-440D-89D1-765F1859481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5" name="">
            <a:extLst>
              <a:ext uri="{FF2B5EF4-FFF2-40B4-BE49-F238E27FC236}">
                <ns2:creationId id="{37E26FC6-2A2E-4110-8990-91D99CFD064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6" name="">
            <a:extLst>
              <a:ext uri="{FF2B5EF4-FFF2-40B4-BE49-F238E27FC236}">
                <ns2:creationId id="{999F16E8-9CF3-4AB5-9F7E-2CEB2556EFC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7" name="">
            <a:extLst>
              <a:ext uri="{FF2B5EF4-FFF2-40B4-BE49-F238E27FC236}">
                <ns2:creationId id="{D37B35C5-255E-4981-A78B-DC80652D2B6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102</a:t>
            </a:r>
          </a:p>
        </p:txBody>
      </p:sp>
    </p:spTree>
    <p:extLst>
      <p:ext uri="{BB962C8B-B14F-4D97-AF65-F5344CB8AC3E}">
        <ns4:creationId val="1710871427"/>
      </p:ext>
    </p:extLst>
  </p:cSld>
</p:sld>
</file>

<file path=ppt/slides/slide10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A67D3509-E758-4013-A211-8A7D98CFE8D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10/20 수업</a:t>
            </a:r>
          </a:p>
        </p:txBody>
      </p:sp>
      <p:sp>
        <p:nvSpPr>
          <p:cNvPr id="2" name="">
            <a:extLst>
              <a:ext uri="{FF2B5EF4-FFF2-40B4-BE49-F238E27FC236}">
                <ns2:creationId id="{75413B36-8C6B-4530-BBC3-FB1C0EA8A32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공식 문서와 참고 자료</a:t>
            </a:r>
          </a:p>
        </p:txBody>
      </p:sp>
      <p:sp>
        <p:nvSpPr>
          <p:cNvPr id="3" name="">
            <a:extLst>
              <a:ext uri="{FF2B5EF4-FFF2-40B4-BE49-F238E27FC236}">
                <ns2:creationId id="{C739CBB9-B183-4AE1-A9CA-436DC1FFA1CC}"/>
              </a:ext>
            </a:extLst>
          </p:cNvPr>
          <p:cNvSpPr>
            <a:spLocks noGrp="1"/>
          </p:cNvSpPr>
          <p:nvPr/>
        </p:nvSpPr>
        <p:spPr>
          <a:xfrm>
            <a:off x="685800" y="1885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4"/>
              </a:rPr>
              <a:t>GitHub AI 에이전트 개념 ↗</a:t>
            </a:r>
          </a:p>
        </p:txBody>
      </p:sp>
      <p:sp>
        <p:nvSpPr>
          <p:cNvPr id="4" name="">
            <a:extLst>
              <a:ext uri="{FF2B5EF4-FFF2-40B4-BE49-F238E27FC236}">
                <ns2:creationId id="{7A2B5BD2-AF29-4443-B434-06291A94E9FA}"/>
              </a:ext>
            </a:extLst>
          </p:cNvPr>
          <p:cNvSpPr>
            <a:spLocks noGrp="1"/>
          </p:cNvSpPr>
          <p:nvPr/>
        </p:nvSpPr>
        <p:spPr>
          <a:xfrm>
            <a:off x="685800" y="2343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docs.github.com</a:t>
            </a:r>
          </a:p>
        </p:txBody>
      </p:sp>
      <p:sp>
        <p:nvSpPr>
          <p:cNvPr id="5" name="">
            <a:extLst>
              <a:ext uri="{FF2B5EF4-FFF2-40B4-BE49-F238E27FC236}">
                <ns2:creationId id="{98843FE6-EA75-40B9-A83B-4D907408A4E7}"/>
              </a:ext>
            </a:extLst>
          </p:cNvPr>
          <p:cNvSpPr>
            <a:spLocks noGrp="1"/>
          </p:cNvSpPr>
          <p:nvPr/>
        </p:nvSpPr>
        <p:spPr>
          <a:xfrm>
            <a:off x="685800" y="2647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5"/>
              </a:rPr>
              <a:t>Python 입력 자료형 확인 ↗</a:t>
            </a:r>
          </a:p>
        </p:txBody>
      </p:sp>
      <p:sp>
        <p:nvSpPr>
          <p:cNvPr id="6" name="">
            <a:extLst>
              <a:ext uri="{FF2B5EF4-FFF2-40B4-BE49-F238E27FC236}">
                <ns2:creationId id="{6C6CBEBA-0E44-4B8C-B585-07DD9B50F51C}"/>
              </a:ext>
            </a:extLst>
          </p:cNvPr>
          <p:cNvSpPr>
            <a:spLocks noGrp="1"/>
          </p:cNvSpPr>
          <p:nvPr/>
        </p:nvSpPr>
        <p:spPr>
          <a:xfrm>
            <a:off x="685800" y="3105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docs.python.org</a:t>
            </a:r>
          </a:p>
        </p:txBody>
      </p:sp>
      <p:sp>
        <p:nvSpPr>
          <p:cNvPr id="7" name="">
            <a:extLst>
              <a:ext uri="{FF2B5EF4-FFF2-40B4-BE49-F238E27FC236}">
                <ns2:creationId id="{289697EB-4E69-48A6-826C-F07C6CE9A4EB}"/>
              </a:ext>
            </a:extLst>
          </p:cNvPr>
          <p:cNvSpPr>
            <a:spLocks noGrp="1"/>
          </p:cNvSpPr>
          <p:nvPr/>
        </p:nvSpPr>
        <p:spPr>
          <a:xfrm>
            <a:off x="685800" y="3409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6"/>
              </a:rPr>
              <a:t>검사 사례와 기대 결과 ↗</a:t>
            </a:r>
          </a:p>
        </p:txBody>
      </p:sp>
      <p:sp>
        <p:nvSpPr>
          <p:cNvPr id="8" name="">
            <a:extLst>
              <a:ext uri="{FF2B5EF4-FFF2-40B4-BE49-F238E27FC236}">
                <ns2:creationId id="{E5FC7484-3E1D-416A-BF03-F165C6CF32B4}"/>
              </a:ext>
            </a:extLst>
          </p:cNvPr>
          <p:cNvSpPr>
            <a:spLocks noGrp="1"/>
          </p:cNvSpPr>
          <p:nvPr/>
        </p:nvSpPr>
        <p:spPr>
          <a:xfrm>
            <a:off x="685800" y="3867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docs.python.org</a:t>
            </a:r>
          </a:p>
        </p:txBody>
      </p:sp>
      <p:sp>
        <p:nvSpPr>
          <p:cNvPr id="9" name="">
            <a:extLst>
              <a:ext uri="{FF2B5EF4-FFF2-40B4-BE49-F238E27FC236}">
                <ns2:creationId id="{5F061A8D-F7CE-4AF7-BF8B-A92CBDDE6738}"/>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D3BD208B-A5F0-4D6B-AC32-6621D73339B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03012BF5-066E-400D-BD61-769776A3706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D64990C5-06C3-415B-9DE4-B55658F4C7E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07E5EBBD-5CA3-4583-AF2B-90468407002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10/20   103</a:t>
            </a:r>
          </a:p>
        </p:txBody>
      </p:sp>
    </p:spTree>
    <p:extLst>
      <p:ext uri="{BB962C8B-B14F-4D97-AF65-F5344CB8AC3E}">
        <ns4:creationId val="19787818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2026-10-05T04:43:03.8500000Z</dcterms:created>
  <dcterms:modified xsi:type="dcterms:W3CDTF">2026-10-05T04:43:03.8500000Z</dcterms:modified>
</coreProperties>
</file>